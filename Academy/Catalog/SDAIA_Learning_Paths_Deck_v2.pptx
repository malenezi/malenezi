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SDAIA ACADEMY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28600" y="14173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Stackable Learning Paths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مسارات التعلم المعيارية القابلة للتكديس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 &amp; Data Scientist Professional Pathways  ·  Catalog v2  · 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356616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283A7A"/>
          </a:solidFill>
          <a:ln w="9525">
            <a:solidFill>
              <a:srgbClr val="3D4F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657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Stackable modules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356616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283A7A"/>
          </a:solidFill>
          <a:ln w="9525">
            <a:solidFill>
              <a:srgbClr val="3D4F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3657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788920" y="4160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levels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356616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283A7A"/>
          </a:solidFill>
          <a:ln w="9525">
            <a:solidFill>
              <a:srgbClr val="3D4F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657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63440" y="4160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hours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37960" y="356616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283A7A"/>
          </a:solidFill>
          <a:ln w="9525">
            <a:solidFill>
              <a:srgbClr val="3D4F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657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537960" y="4160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Redesign Approach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fixed programs to a competency-based, modular, stackable architecture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16002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3990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417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 Design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8745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Bloom-aligned outcomes drive content and assessment in every module.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651760" cy="16002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6432" y="13990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50208" y="1417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&amp; Stackable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56432" y="18745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module = 2–5 days × 5 hours; standalone value, stacks into certificates.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2651760" cy="16002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91072" y="13990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84848" y="1417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 Levels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91072" y="18745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 → Specialist → Expert, aligned with the SDAIA national classification.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651760" cy="16002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" y="31821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15568" y="3200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Project-Based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" y="3657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40%+ hands-on labs; both tracks conclude with panel-assessed capstones.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91840" y="3017520"/>
            <a:ext cx="2651760" cy="16002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56432" y="31821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3456432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950208" y="3200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Industry-Aligned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56432" y="3657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engineering, RAG, agentic AI, MLOps/LLMOps, Lakehouse, causal inference.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3017520"/>
            <a:ext cx="2651760" cy="16002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91072" y="31821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291072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84848" y="3200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&amp; Scalable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91072" y="3657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PDPL/NDMO compliance built-in; coding scheme absorbs future tracks.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National Levels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with the SDAIA Academy target-audience classification methodology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E8F1E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7556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 · ممارس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tier. Core technical and functional fluency for professionals and graduates.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3520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PROFILE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3749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Contributes to AI/data work under guidance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FF6E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8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17556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· متخصص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28600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tier. Intermediate skills applied to real delivery of models, pipelines, and GenAI apps.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20440" y="3520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58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PROFILE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20440" y="3749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Delivers production workloads independently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28016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DEBE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17556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· خبير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55080" y="228600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tier. Architects, secures, optimises, and operates national-scale systems; leads teams.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55080" y="3520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0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PROFILE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55080" y="3749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Panel-defended capstone and leadership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level closes with a stackable certificate; badges earned never expire and carry forward.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foundation feeding two role-based professional tracks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914400"/>
          </a:xfrm>
          <a:prstGeom prst="roundRect">
            <a:avLst>
              <a:gd name="adj" fmla="val 7000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618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Core — 5 modules · 17 days   </a:t>
            </a:r>
            <a:pPr indent="0" marL="0">
              <a:buNone/>
            </a:pPr>
            <a:r>
              <a:rPr lang="en-US" sz="1300" b="1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النواة التأسيسية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Data Literacy · GenAI &amp; Prompting · Python · Data Wrangling &amp; SQL · Responsible AI &amp; Governance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E8F3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24688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 Track · مهندس الذكاء الاصطناعي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7614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modules · 55 days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3063240"/>
            <a:ext cx="3611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 (3): Applied ML · Deep Learning · SW Engineering for AI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(6): NLP · Vision · LLM Apps · RAG · Fine-Tuning · MLOps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(6): Agentic AI · LLMOps · Security · Optimization · Architecture · Capstone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233172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EAF3E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10328" y="24688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Scientist Track · عالم البيانات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0328" y="27614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modules · 39 days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10328" y="3063240"/>
            <a:ext cx="3611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 (2): Statistics · Visualization &amp; Storytelling (+ Applied ML cross-listed)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(5): Advanced ML · Time Series · Experimentation &amp; Causal · Data Engineering · Spark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(4): Decision Science · GenAI Workflows · Streaming · Capstone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Cross-listing: Applied ML Foundations (SDA-AIE-111) counts toward both tracks — no duplicated teaching.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 Track — Module Portfolio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modules from applied ML to agentic AI systems — 55 training days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834640"/>
                <a:gridCol w="914400"/>
                <a:gridCol w="502920"/>
                <a:gridCol w="292608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86A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SDA-AIE-111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Applied Machine Learning Foundations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Practitioner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 problem framing and workflow design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86A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SDA-AIE-112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 Learning Essentials with PyTorch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Practitioner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Neural networks, activations, and backpropagation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86A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SDA-AIE-113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Engineering Practices for AI Systems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Practitioner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Structuring AI projects and clean architecture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86A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SDA-AIE-211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Natural Language Processing with Transformers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Specialist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 processing, tokenisation, and embeddings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86A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SDA-AIE-212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Computer Vision Systems Development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Specialist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 data, preprocessing, and augmentation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86A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SDA-AIE-213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Language Model Application Engineering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Specialist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application architecture patterns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86A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SDA-AIE-214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Building Retrieval-Augmented Generation Systems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Specialist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 architecture and when to use it versus fine-tuning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86A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SDA-AIE-215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Fine-Tuning and Adapting Foundation Models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Specialist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Adaptation strategy: prompt vs RAG vs fine-tune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86A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SDA-AIE-216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MLOps: Model Deployment and Automation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Specialist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MLOps maturity model and system architecture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86A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SDA-AIE-311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Agentic AI Systems Engineering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Agentic system architectures and components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86A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SDA-AIE-312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LLMOps and Production AI Observability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MLOps to LLMOps: what changes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86A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SDA-AIE-313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Security, Guardrails and Red Teaming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threat landscape and OWASP LLM Top-10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86A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SDA-AIE-314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Performance, Scalability and Cost Optimization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profiling of inference workloads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86A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SDA-AIE-315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 AI Solution Architecture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solution architecture lifecycle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86A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SDA-AIE-390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Engineering Capstone: Production GenAI System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scoping and requirements engineering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Scientist Track — Module Portfolio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modules from statistics to streaming analytics — 39 training days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834640"/>
                <a:gridCol w="914400"/>
                <a:gridCol w="502920"/>
                <a:gridCol w="292608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SDA-DSC-111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Statistical Foundations for Data Science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Practitioner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Probability and common distributions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SDA-DSC-112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Visualization and Storytelling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Practitioner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Perception science and visual encoding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SDA-DSC-211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Advanced Machine Learning Methods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Specialist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Gradient boosting deep dive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SDA-DSC-212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Series Analysis and Forecasting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Specialist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Time-series structure and decomposition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SDA-DSC-213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Experimentation, A/B Testing and Causal Inference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Specialist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Causal thinking and potential outcomes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SDA-DSC-214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 Data Engineering for AI Systems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Specialist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Evolution of data architecture: warehouse, lake, Lakehouse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SDA-DSC-215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 Data Analytics with Spark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Specialist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Distributed computing fundamentals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SDA-DSC-311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Science and Optimization Modeling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predictive to prescriptive analytics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SDA-DSC-312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GenAI-Augmented Data Science Workflows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AI-assisted coding and analysis patterns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SDA-DSC-313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and Streaming Data Analytics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Streaming architecture and event-driven design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SDA-DSC-390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Science Capstone: From Data to Decision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 framing and scoping workshop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Core &amp; Flagship Modules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entry for all professionals; two existing programmes absorbed as flagships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0233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468880"/>
                <a:gridCol w="502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C75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SDA-FND-101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and Data Literacy for Professionals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C75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SDA-FND-102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Generative AI and Prompt Engineering Essentials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C75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SDA-FND-103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Programming for Data and AI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C75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SDA-FND-104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Wrangling, SQL and Exploratory Analysis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C75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SDA-FND-105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Responsible AI and Data Governance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709160" y="1234440"/>
            <a:ext cx="3977640" cy="1645920"/>
          </a:xfrm>
          <a:prstGeom prst="roundRect">
            <a:avLst>
              <a:gd name="adj" fmla="val 4444"/>
            </a:avLst>
          </a:prstGeom>
          <a:solidFill>
            <a:srgbClr val="E8F3F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919472" y="13624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SDA-AIE-311 — Agentic AI Systems Engineering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919472" y="185623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existing "Advanced Agentic AI Systems" programme. 5 days, Expert. ReAct, Plan-and-Execute, Reflection, multi-agent orchestration, MCP integration, guardrails, red teaming, and a deployed enterprise capstone.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709160" y="3017520"/>
            <a:ext cx="3977640" cy="1645920"/>
          </a:xfrm>
          <a:prstGeom prst="roundRect">
            <a:avLst>
              <a:gd name="adj" fmla="val 4444"/>
            </a:avLst>
          </a:prstGeom>
          <a:solidFill>
            <a:srgbClr val="EAF3E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19472" y="31455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SDA-DSC-214 — Modern Data Engineering for AI Systems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19472" y="363931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existing "Modern Data Engineering" programme. 5 days, Specialist. Lakehouse architecture, Delta Lake &amp; ACID, ELT, streaming, data quality and governance, with a hands-on Mini-Lakehouse build.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Stackable Certification Pathways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Badges → level certificates → professional certificates → micro-specializations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810512" cy="1143000"/>
          </a:xfrm>
          <a:prstGeom prst="roundRect">
            <a:avLst>
              <a:gd name="adj" fmla="val 6400"/>
            </a:avLst>
          </a:prstGeom>
          <a:solidFill>
            <a:srgbClr val="EDEFF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85216" y="144475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Certificate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85216" y="20848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days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67712" y="1691640"/>
            <a:ext cx="338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606040" y="1325880"/>
            <a:ext cx="1810512" cy="1143000"/>
          </a:xfrm>
          <a:prstGeom prst="roundRect">
            <a:avLst>
              <a:gd name="adj" fmla="val 6400"/>
            </a:avLst>
          </a:prstGeom>
          <a:solidFill>
            <a:srgbClr val="E8F1E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34056" y="144475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 Certificate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34056" y="20848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days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16552" y="1691640"/>
            <a:ext cx="338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1810512" cy="1143000"/>
          </a:xfrm>
          <a:prstGeom prst="roundRect">
            <a:avLst>
              <a:gd name="adj" fmla="val 6400"/>
            </a:avLst>
          </a:prstGeom>
          <a:solidFill>
            <a:srgbClr val="FFF6E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82896" y="144475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Certificate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82896" y="20848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8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days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65392" y="1691640"/>
            <a:ext cx="338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903720" y="1325880"/>
            <a:ext cx="1810512" cy="1143000"/>
          </a:xfrm>
          <a:prstGeom prst="roundRect">
            <a:avLst>
              <a:gd name="adj" fmla="val 6400"/>
            </a:avLst>
          </a:prstGeom>
          <a:solidFill>
            <a:srgbClr val="FDEBE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31736" y="144475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Professional Certificate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31736" y="20848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59–65 days incl. capstone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Micro-Specializations (stack across levels)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2651760" cy="749808"/>
          </a:xfrm>
          <a:prstGeom prst="roundRect">
            <a:avLst>
              <a:gd name="adj" fmla="val 853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" y="3236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Engineering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" y="35021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Apps + RAG + Fine-Tuning + Agentic AI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91840" y="3154680"/>
            <a:ext cx="2651760" cy="749808"/>
          </a:xfrm>
          <a:prstGeom prst="roundRect">
            <a:avLst>
              <a:gd name="adj" fmla="val 853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38144" y="3236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 &amp; AI Reliability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38144" y="35021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 + LLMOps Observability + Optimization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26480" y="3154680"/>
            <a:ext cx="2651760" cy="749808"/>
          </a:xfrm>
          <a:prstGeom prst="roundRect">
            <a:avLst>
              <a:gd name="adj" fmla="val 853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72784" y="3236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Security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72784" y="35021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+ Security &amp; Red Teaming + Agentic AI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2651760" cy="749808"/>
          </a:xfrm>
          <a:prstGeom prst="roundRect">
            <a:avLst>
              <a:gd name="adj" fmla="val 853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03504" y="41056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Experimentation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3504" y="43708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Series + Causal Inference + Decision Science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91840" y="4023360"/>
            <a:ext cx="2651760" cy="749808"/>
          </a:xfrm>
          <a:prstGeom prst="roundRect">
            <a:avLst>
              <a:gd name="adj" fmla="val 853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438144" y="41056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 for AI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38144" y="43708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 + Spark + Streaming Analytics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 of prior learning: placement assessments allow direct entry at Specialist or Expert level.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from the Current Catalog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 outcomes built into the redesign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1097280"/>
          </a:xfrm>
          <a:prstGeom prst="roundRect">
            <a:avLst>
              <a:gd name="adj" fmla="val 5833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Standardised durations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7276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modules now 2–5 days × 5 hours — schedulable, stackable, budgetable. Multi-week programmes decomposed.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1097280"/>
          </a:xfrm>
          <a:prstGeom prst="roundRect">
            <a:avLst>
              <a:gd name="adj" fmla="val 5833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2801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closed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57276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prompt engineering, LLM app engineering, fine-tuning/PEFT, AI security &amp; red teaming, LLMOps, streaming analytics, decision science, solution architecture.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977640" cy="1097280"/>
          </a:xfrm>
          <a:prstGeom prst="roundRect">
            <a:avLst>
              <a:gd name="adj" fmla="val 5833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514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Redundancy removed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80720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shared Foundation Core; Applied ML cross-listed to both tracks instead of taught twice.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2423160"/>
            <a:ext cx="3977640" cy="1097280"/>
          </a:xfrm>
          <a:prstGeom prst="roundRect">
            <a:avLst>
              <a:gd name="adj" fmla="val 5833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514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Sequencing fixed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80720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prerequisites and unlock chains; governance and security precede production deployment.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3977640" cy="1097280"/>
          </a:xfrm>
          <a:prstGeom prst="roundRect">
            <a:avLst>
              <a:gd name="adj" fmla="val 5833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7490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Programmes absorbed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04164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Systems → SDA-AIE-311 (Expert flagship); Modern Data Engineering → SDA-DSC-214 (Specialist flagship), objectives rewritten as measurable Bloom outcomes.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3657600"/>
            <a:ext cx="3977640" cy="1097280"/>
          </a:xfrm>
          <a:prstGeom prst="roundRect">
            <a:avLst>
              <a:gd name="adj" fmla="val 5833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37490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upgraded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404164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module ends in an applied artefact; both tracks close with panel-defended capstones.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at a Glance &amp; Next Steps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283A7A"/>
          </a:solidFill>
          <a:ln w="9525">
            <a:solidFill>
              <a:srgbClr val="3D4F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43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6276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94560" y="105156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283A7A"/>
          </a:solidFill>
          <a:ln w="9525">
            <a:solidFill>
              <a:srgbClr val="3D4F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1143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194560" y="16276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days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86200" y="105156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283A7A"/>
          </a:solidFill>
          <a:ln w="9525">
            <a:solidFill>
              <a:srgbClr val="3D4F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143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886200" y="16276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hours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77840" y="105156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283A7A"/>
          </a:solidFill>
          <a:ln w="9525">
            <a:solidFill>
              <a:srgbClr val="3D4F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1143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577840" y="16276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69480" y="105156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283A7A"/>
          </a:solidFill>
          <a:ln w="9525">
            <a:solidFill>
              <a:srgbClr val="3D4F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1143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269480" y="16276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Specializations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24231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steps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278892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the catalog with employer advisory panels and NCAI role profiles.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the GenAI Engineering specialization and both flagship modules in Q3 2026.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the badge/credential platform and placement assessments for prior-learning entry.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Arabic-first instructional materials for Foundation Core modules.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future tracks (AI Product Manager, AI Solution Architect) on the same architecture.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SDAIA Academy Learning Paths v2</dc:title>
  <dc:subject>PptxGenJS Presentation</dc:subject>
  <dc:creator>SDAIA Academy</dc:creator>
  <cp:lastModifiedBy>SDAIA Academy</cp:lastModifiedBy>
  <cp:revision>1</cp:revision>
  <dcterms:created xsi:type="dcterms:W3CDTF">2026-07-02T18:14:43Z</dcterms:created>
  <dcterms:modified xsi:type="dcterms:W3CDTF">2026-07-02T18:14:43Z</dcterms:modified>
</cp:coreProperties>
</file>