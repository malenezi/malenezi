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notesMasterIdLst>
    <p:notesMasterId r:id="rId15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promise of the course: this is a craft module about turning correct analysis into decisions.
Point to the chips — three days, fifteen hours, practitioner level, tools they will actually use.
Set the tone that communication, not new analysis, is what gets graded across all three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the thesis of the whole course.
Ask participants for a time their analysis was right but ignored — most will have one.
Frame the three days as closing the gap between analytical work and organisational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align expectations before the first lecture.
Confirm everyone has cleared the SDA-FND-104 prerequisite so no one is lost on the tooling.
Flag early that assessment is a dashboard plus a storytelling presentation, not a written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word craft — this is skill practice, not a theory lecture.
The three bullets preview the arc: perception, honesty, then decision-ready delivery.
Reassure analysts that they already have the analytical skill; here they learn to make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choice of the course — one dataset carried through every lab.
Never introduce a throwaway example; always evolve the Tayseer artefact so the capstone stays achievable.
The SAR 40 million investment question is the exact deliverable shape their workplace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outcome quickly and tie it to the module that delivers it.
Note that LO1–LO2 land on Day 1, LO3 on Day 2, and LO4–LO6 across Day 3.
Return to these at the wrap-up so participants can self-assess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environment strategy up front so no one stalls on setup.
Primary path is local Jupyter with Plotly plus a BI tool; Colab and Tableau Public are the fallbacks.
Verify licences and both paths the week before delivery — do not discover a gap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each module hands its output to the next.
Emphasise that the analysis is done early; the later modules only sharpen the communication.
Point out that every module contains a critique exercise, not just the storytelling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theory-to-lab ratio shifts each day: 45/55, then 40/60, then 30/70.
By Day 3 almost all time is hands-on because the skill being built is delivery under pressure.
Each day produces a concrete artefact that feeds directly into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 sets culture: run the 'worst chart you've seen' discussion and establish critique norms.
Hours 2–3 are the perception core — use live demos so the encoding-accuracy ranking is felt, not told.
Hours 4–5 move from seeing to choosing; the first honest Tayseer chart is built in matplotlib or Plotly.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is the most lab-heavy — watch Lab 3 and Lab 4b, the two most overrun-prone sessions.
Publish starter notebooks and .pbix/.twbx files so stragglers fast-forward without losing the narrative.
By end of day each pair should have a working multi-view dashboard with filters and drill-down.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is deliberately presentation-heavy and low on new theory — protect the rehearsal time.
Collect dashboards and decks at the end of Hour 4 so you can pre-load them for live scoring in Hour 5.
Record the 7-minute presentations with consent; self-review is the strongest feedback in M6.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notes protect the flow of the whole course.
The golden thread is what makes the Day 3 capstone achievable — guard it against improvised examples.
Rotating pairs daily is deliberate: the exchange between 'can build it' and 'can see it' is the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Saudi executive audience will notice a mirrored Arabic axis immediately — teach RTL ordering explicitly in M3.
Respect the prayer and break rhythm; the buffer minutes keep the day from slipping.
Critique culture is a prerequisite, not a nicety — the next slide expands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two norms yourself in the first critique so participants copy the tone.
Insisting on a proposed fix keeps critique constructive and turns it into design practice.
A room that feels safe to be critiqued in is what makes the Day 3 peer review honest and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hands off from the front matter into the first teaching module.
Preview that Module 1 covers pre-attentive attributes, encoding channels, and their honesty.
It leads directly into Lab 1, the perception audit on the Tayseer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reframing charting away from aesthetics: the question is never 'is it pretty' but 'does the eye decode it correctly'. Set expectation that this module is the bedrock everything else stands on. The aha: no amount of colour or polish saves a chart that encodes the signal in a channel the eye reads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these participants build dashboards that ministers and deputy ministers act on. Emphasise the glance-not-work behaviour of executives — the design must survive a three-second read. This motivates why perception, not preference, drives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task, not a chart type: the task dictates the channel. Note the peripheral-vision case is where motion earns its place. These recur later, so plant them now as concrete anchors for the accuracy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exit criteria for the module — each maps directly to a lab task and a benchmark. Tell participants they will be timed and audited against these, so they are outcomes, not aspirations. Return to this slide at the module close for a quick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the spine of the module; every slide, code cell, and lab step serves one of them. Note 1.3 is the only one touching LO2 (design principles) and 1.5 the only one touching LO5 (governance/ethics). Point participants to which objective each upcoming section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'find the 3' demo here: a grid of grey 3s and 8s, then the same grid with the 3s in red. Time the room — the gasp when the red version resolves instantly is the lesson. The design consequence is the single most quoted line of the course: spend pre-attentive channels on the signal, not the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the salience list, not the accuracy list — a channel can grab attention yet be terrible for reading exact values (colour is the prime example). Have the room shout out which of these a typical dashboard wastes on gridlines. This grid doubles as a printable A4 reference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table in the course — tell them so and make them copy it. The operational rule matters more than the ranks: use position for precise ranking, saturation only when the gestalt 'hot vs cold' is the actual task. The error to forbid is a low-accuracy channel (bubble area) for a high-precision task (budget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inevitable defence 'but executives like pies': reframe it — they like understanding quickly, and a sorted bar wins that race. The dual-axis point is the subtlest: the crossing is an artefact of axis choice, not data. Make participants articulate the perceptual failure, not just say the chart is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that the same dataset supports many charts — the question picks the encoding. Use the Tayseer example: a map shows where well but how-much poorly, because area and colour dominate, so it is the wrong primary view for a ranking task. This table is the Lab 1 and Module 2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bar-vs-line truncation distinction is the single point that confuses almost everyone — teach it explicitly and test it. Frame honesty as governance, not just ethics: in an audited decision pack a distorted chart is a finding. The lie factor is measurable, which you will demonstrate in code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this in five minutes: the committee argued whether branch usage was 'about a third or a quarter' because the 3D perspective made it ambiguous, then inferred a false cause-effect because the dual axis was scaled to make the lines cross. Same numbers, different encoding, opposite decision. This module is the reason the redesign worked — it is also the case study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Live-build this in under six minutes — the moment the sorted bar renders and the room can instantly rank the regions is the message. Point out the golden-thread rule: every chart in the notebook states the task it serves in a comment. Don't dwell on matplotlib syntax; the contrast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'distortion is bad' into a number participants can compute. Run it, then move the ylim baseline up and watch the lie factor climb while the data stays put — distortion is a design choice, and it is measurable. Contrast with a line chart, where truncation is legitimate because slope, not length, is the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aha is that the sorted bar — the least flashy chart — wins, because it matches channel accuracy to task. Walk the room and find someone who ranked the heatmap #1, then use them kindly to surface the salience-vs-accuracy confusion for everyone. Fast finishers add a single red-laggard highlight as a bridge to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cold-call or think-pair-share; the benchmark target is at least 4 of 5. Question 3 is the discriminator — expect it to catch people, so linger on the bar-vs-line reasoning. Pair with the chart-critique exercise on the 3D exploded pie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the failures before you reveal them. Key discussion: why does the indexed-line redesign remove the false-causality reading the dual axis created? Constraints matter too: ~15 minutes, static slides, Arabic and English versions, and the numbers may not change — only the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5-second ranking test and the computed lie factor are the two you should actually run in the room. Anything short of these means the encoding or honesty lesson did not land, so remediate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participants produce in the lab. The heatmap 'partial / supporting view' row is deliberate — it is not banned, it is scoped to pattern-only tasks. Use it to reinforce that verdicts follow task-match and decode accuracy, not personal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staircase diagram as the anchor image reused across the whole course — commission it first. The 'find the 3' pair is the opening-gasp asset, so it must be ready for the very start of the module. All labs depend on tayseer_services.csv and its data dictionary being distributed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as the bridge from Module 1's perception rules to a concrete decision procedure. The promise: choose the right chart in ten seconds, then make it readable with five principles. Tell participants this is where 'what looks nice?' is replaced by 'what does the comparison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reframing: the module replaces decoration with argument. The recurring aha is that the chart is chosen by the question, not by what is visually attractive. Preview that the two-step procedure plus five principles are the whole toolkit for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stakes in the room's reality: chart selection is a trust signal to a committee. Contrast the analyst who ships the right chart per question with the one who ships default pies. The business payoff is a pace of analysis that keeps up with the pace of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task that dictates the chart: trend needs a line, ranking needs a sorted dot plot, distribution needs a box. Stress the health case — an average bar hides the outliers that drive the decision. These three motivate the question-type table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exit criteria: six question types, five principles, zero anti-patterns, four honest builds. Each maps to a lab task and a benchmark, so they are outcomes, not aspirations. Return to this slide at the module close for a fast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the spine of the module; every slide and lab step serves one. Note 2.1 is the selection skill (LO1) while 2.2–2.4 are design (LO2), and 2.5 unites both in code. Point participants to which objective each upcoming section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Step 1 before anything: naming the question is what prevents re-styling the wrong chart. The subtle move is Step 3 — 'too many' (like Tayseer's 13 regional lines) is a signal to facet, not to draw a denser chart. Have the room name the six question types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reference for Lab 2 — have participants copy it. The columns encode the escalation: as categories or series grow, the answer is faceting or highlight-one, never a denser single chart. Note geospatial 'how-much' leads with a sorted bar and uses the map only as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non-negotiable for every chart the course produces. Principle 4 is the one that converts analysis into decision-support: a reference line makes 'above/below target' readable. Tell participants the lab audits each chart against all five as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workhorse: small multiples trade a little space for an enormous gain in comparability. The three rules — shared scales, consistent ordering, one highlight colour — are what make the grid readable. Preview the live demo where you convert the spaghetti chart in under seven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participants name the perceptual failure, not just dislike the chart. The stacked-bar point is subtle — only the bottom segment shares a baseline, so middle segments cannot be compared. Each of these six appears deliberately in a Lab 2 starter for them to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habits do the most work here: banking to 45° so the trend reads honestly, and titling with the takeaway rather than the topic. Flag RTL as a frequent, avoidable error in Saudi bilingual decks — the time axis and bar order must mirror for Arabic. The takeaway-title habit beats any styling for executive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the shared library, not the matplotlib: analysts call sorted_bar() instead of raw plotting so consistency is automatic. Walk the inline comments — each maps to one of the five principles. This is the visual analogue of a shared feature module and pays off exactly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 dual axis manufactures a crossing; indexing both series to a common base of 100 makes them honestly comparable on one axis. Note the direct labels at the last point — no legend. Contrast with the original satisfaction-vs-cost dual axis that invented a false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picks: Q1 sorted bar, Q2 line, Q3 box, Q4 scatter. The highest-value moment is Q3 — many default to a bar of averages and are surprised a box plot reveals a completely different story via the outliers. Let that surprise land: the chart choice changes the conclusion. Fast finishers facet the Q1 sorted bar by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the benchmark target is at least 4 of 5. Question 4 is the conceptual one — a reference line is what turns numbers into judgements. Pair with the chart-critique on the 6×13 clustered bar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propose fixes before you reveal the solution. The key insight is the shared region order across all four panels: it enables the 'good here, bad there' reading four independent charts destroy. Push the 'lower is better' handling for cost and completion time so all columns read consistently, and keep it colour-blind-safe.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&lt; 8 s laggard-finding test on the small multiples and the anti-pattern audit at zero. Anything short means selection or design did not land, so remediate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participants produce. The Q3 row is deliberately not 5/5 — a box plot without value labels is close but needs a revision pass. Verdicts follow principle-compliance and anti-pattern avoidance, not personal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 the decision tree first — it is the module's spine and reused throughout. The spaghetti-to-small-multiples split and the anti-pattern gallery are the two recognition-training anchors. All labs depend on tayseer_services.csv, lab2_questions.md, and the charts.py starter being distributed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as where a technically-correct chart becomes a persuasive one. Tell the room this is where the largest, cheapest gains in clarity live — decluttering and annotation beat any change of chart type. Set up that M2 chose the chart; M3 finishes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are the cheapest, highest-yield moves in the whole course — they cost minutes and beat re-picking a chart type. The aha: a persuasive chart is a correct chart plus meaning-bearing colour, one explicit annotation, and nothing else. Preview that colour is the most abused channel in enterprise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it in the room: red/green that excludes ~1 in 12 men is both a comprehension failure and, in a national-program context, a compliance one. The forwarding point matters — the annotated 'this is the point' is what lets a chart survive being emailed onward without you there to narrate it. Tie the abuse column to charts they have all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as a task the colour must serve: exception-spotting, public bilingual accessibility, and pre-attentive above/below. The scorecard case is the single accent + grey discipline they will apply all module. The dashboard case previews the target-centred diverging palette shown in code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module's exit criteria — each maps to a lab step and a benchmark. Note that palette choice and accessibility are the two most testable, and localisation is the one Saudi-specific competency examiners will look for. Return to this slide at close for a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five objectives serve LO2 (design principles); 3.3 also touches LO4 (storytelling) because annotation is where design and narrative meet. Point participants to which objective each upcoming section addresses. These are the spine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memorise the three-way mapping; this is the colour equivalent of M1's accuracy hierarchy. Stress the diverging rule: the neutral colour must sit at the meaningful midpoint (the target), not at the data mean, or the 'above/below' shifts. The two failure columns are the two colour lies expanded 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figure is the number that ends the argument — say it, then show that redundancy (a second channel) is the fix, not just a nicer palette. The brand trap is common: teams use the full five-colour brand palette as a categorical scheme and spend all salience on chrome. Reserve the accent for the one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failures worth naming aloud so participants catch them in the wild. The rainbow-on-ordered lie invents breaks; the sequential-on-centred lie hides the meaningful midpoint. Both map straight back to the three-family table — the fix is always to match the palette to the data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 junk first, then lighten, and never remove data ink. Give them the test: remove an element; if the chart still answers its question, the element was junk. Warn that decluttering is not minimalism for its own sake; the goal is attention on the data, not a bare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to enforce: annotate the point you are making, not everything. Highlight the callout as the workhorse — a short text plus a leader line at the specific evidence. Executives are the exception on value labels: they want both the exact number and the shape, so direct labels earn their 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Saudi-audience slide — a left-to-right time axis reads backwards to an Arabic-first reader, so the whole axis must mirror, not just the labels. Note the house-style split: government analytics often use Western Arabic numerals but Arabic-Indic in formal text. The rendering trap (broken glyphs) catches almost everyone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Okabe–Ito is a published colour-blind-safe categorical palette, so accessibility is a default, not a per-chart decision. The theme bakes in the decluttering ladder — spines off, faint grid, left-aligned bold title. highlight_palette is the M1 pop expressed in colour: one accent, grey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line that matters is vcenter=TARGET — set it to the data mean and the whole above/below reading shifts, which is the most common diverging mistake. Below target is blue (good), above is red, so the five over-target regions pop pre-attentively. The takeaway title states the conclusion, not the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signature exercise and the highest-satisfaction moment of the course — participants routinely photograph their before/after. Enforce the one-callout rule strictly; the instinct is to annotate everything, which recreates the clutter. Budget floater support for the Arabic-rendering step — it catches almost everyone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Question 1 is the discriminator — 'centred on the target' is the part people forget. Pair with the palette-match card game if time allows: mismatches like rainbow-on-sequential are the teaching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the fixes before you reveal them. The sharpest discussion question: why must the entire time axis mirror, not just the translated labels? Constraints matter: matched Arabic and English editions, provably identical message, brand palette, house-style numerals, and it must render in the PDF and web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colour-blind simulator pass and the before/after element count. Annotations target is 1–2, deliberately not 0 and not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the lab produces. The time-to-takeaway drop from 14s to 4s is the number participants feel — a peer reads the redesigned chart in a quarter of the time. Every figure here is measurable, which is the point: accessibility and clarity are testable, not matters of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cluttered_m3.png before/after pair as the anchor assets — the whole lab and the highest-satisfaction moment depend on them being ready. The Arabic font bundle is easy to forget and blocks the RTL step, so distribute it in advance. The palette decision chart doubles as a printable reference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Modules 1–3 composed single honest static views; this module composes a whole system. A dashboard is not a slide with more charts on it — it is a small piece of software with a job, an audience, and a known failure mode. Set the golden thread: everything here builds one Tayseer executive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reframing: a dashboard is not more charts on a slide, it is a small piece of software with a job. Name the golden-thread question early so the whole module has a target. The 'argument with controls' line is the module's thesis —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these participants build dashboards ministries act on weekly. Stress the failure economics — shelfware in a fortnight is the default outcome, not the exception. The punchline: in a room full of Vision 2030 dashboards, design is the only differentiator, because everyone has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job with an audience and a cadence, not a chart type. The first card is the whole module in one sentence — one number, one trend, three laggards, above the fold. The third card previews RLS and mobile, which decide whether a government dashboard can be shared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exit criteria, not aspirations — each is timed or audited in the lab. The last one, the usability test, is the module's real proof: a dashboard the builder can read is not the goal; one a non-analyst can read is. Return here at module close for a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slide and lab step serves one. Note 4.3 is the only one touching LO2 (design) and 4.6 the only one touching LO5 (evaluation/iteration). Point participants to which objective each upcoming section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room write the one-sentence brief before any chart — audience, decision, cadence. The wall of gauges fails for the Module 1 reason: no hierarchy, no entry point. Land the inverse: a dashboard is an argument with controls, not a data dump with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to memorise: the top answers the question, the bottom explains it. A user who reads only the top band should already know whether to worry. Tie the Z/F eye-path and RTL mirror back to Module 3 — the same discipline scales from a single axis to a whole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self-service bug is not a broken chart — it is a user misreading a filtered view as the whole. So the design discipline is legibility: every active filter shown as text, every drill level a breadcrumb, every selection obviously selected. Have the room match five real tasks to these four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stance: the design principles are identical across tools; only the mechanics differ. A star schema and a DAX measure is the same idea as a tidy dataframe and an aggregation. Participants build once in Plotly to own the logic, then reproduce in a BI tool to meet the organisation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single most common BI defect: a hard-coded national average that does not re-compute under a filter. The additivity point is the highest-value idea in the module — percentages are non-additive and must be recomputed from unique_users. The lab makes them print both numbers to feel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theme: the dashboard must answer its question before any click — interaction refines an answer, it is not required to get one. RLS is a sharing gate in government, not a nicety. Note the common mistakes list closes the loop with Modules 1–2: donuts and gauges are still wrong inside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Live-build this in under six minutes; the message is the moment the KPI, trend and laggard bar resolve into one screen. Point at national_adoption(): the percentage is recomputed from unique_users because it is non-additive. Stress every measure is computed at query time so filters stay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cross-filter callback is the aha: one click re-scopes every view, and the selected region is echoed into the title so state is legible. Protect this in the lab — it is the most overrun-prone task. Note the toggle only shows the 65% target line on the adoption measure, or the meaning would change without relabelling.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to this straight after the Plotly build to show the identical logic as a BI measure — same non-additive recompute, tool-agnostic then tool-specific. The RLS role is the government-sharing gate: a region director resolves to their own region via USERPRINCIPALNAME. Emphasise the measure re-computes under every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averages-of-averages task is the highest-value moment — most participants have shipped that bug in production; make them print both numbers. The second aha is watching a naive peer answer 'which two regions need intervention?' The cross-filter task overruns — protect it. Fast finishers add a mobile-stacked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benchmark target is at least 4 of 5. Question 3 is the discriminator — linger on why percentages are non-additive. Pair with the interaction-pattern match exercise: five tasks, label each filter/cross-filter/drill/toggle.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why the sorted laggard bar belongs above the fold but the 18-metric detail does not. Key discussion: how do you prevent a filtered view being misread as national? (surface state). The deepest question: moving from monthly PDF to weekly dashboard changes who makes the intervention decision — surface whether that is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15-second naive-user test and the non-additive correctness check. Anything short means the hierarchy or non-additivity lesson did not land; remediate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the lab produces. The 61.2% vs 63.8% row is the averages-of-averages bug made concrete — the naive mean and the recomputed value genuinely diverge. Drive home that every improvement here is design, not data: identical numbers, opposite usability.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inverted-pyramid diagram as the module's spine — commission it first, with the Arabic RTL mirror. The averages-of-averages demonstrator notebook is the highest-value simulation; it must be ready for the lab. All lab tasks depend on tayseer_services.csv and the BI starter model being distributed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module by naming the through-line: Modules 1–4 built the visual and interactive craft, and this module supplies the missing structure. Preview the arc of the module — framing, the Big Idea, arcs, scenes, BLUF, and the seven-slide storyboard. The Tayseer dashboard now becomes a seven-slide case for where to invest the next SAR 40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storytelling away from decoration: it is the deliberate sequencing of evidence, not charts made pretty. Draw the exploration-vs-story contrast — open and analyst-driven versus linear and author-controlled. The aha is that the story exists to make the recommendation feel inevitable by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committees and decision memos reward a clear Big Idea and punish a data dump. The line to land is that the difference between making charts and being in the decision is narrative structure. Frame storytelling here not as a soft skill but as the mechanism that turns analysis into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decision the narrative must serve, not a chart type. The memo case foreshadows BLUF; the wait-times case foreshadows sequencing the 'so what' first. These three recur through the module as concrete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module's exit criteria — each maps to a lab task and a benchmark. Flag self-editing as the one participants resist most: subtraction is the storytelling. Return to this slide at the module close for a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slide and lab step serves one. Note 5.4 reaches back to LO2 (annotation) and 5.5 forward to LO6 (executive communication). Point participants to which objective each section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foundational distinction of the module: open and non-linear for finding, closed and linear for receiving. Name the failure explicitly — dumping the exploratory dashboard on the committee and narrating every filter. The move is to explore privately, then throw almost all of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framing is the highest-leverage step in the whole module — a technically perfect deck aimed at the wrong belief or decision fails completely. Use the Tayseer options concretely: three named uses of the SAR 40 million. The fourth question plants the anticipated objection ('aren't those regions just small?') so its rebuttal can be seated in the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sentence aloud, then read a topic version back to back ('here is our Q3 adoption data') — the difference is the lesson. Have the room point to the point of view, the stakes, and the implied action inside it. This one sentence becomes the BLUF and the presentation's opening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three-part test explicitly: point of view, what's at stake, implied action. The operational rule is the peer-restatement test — if a neighbour cannot restate the recommendation from the sentence alone, it is a topic, not an idea. Every slide in the deck lives or dies by whether it builds toward this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arc as the skeleton and the charts as the flesh hung on it. The default for an executive investment decision is SCR because it matches how committees actually decide: shared context, one clear complication, resolution to the ask. Map each to Tayseer — SCR for the recommendation, What-is/could-be to contrast 63.8% versus 65%+, chronological for how the March outage created the Najran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a scene from an exhibit: a scene makes one point and carries a takeaway title. The progressive-reveal idea is the aha — build the chart in layers so the audience thinks one thought at a time rather than decoding a dense chart cold. Close on 'sequence is argument': the order of scenes is itself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BLUF inverts the analyst's instinct (methodology → results → conclusion) into the decision-maker's need (conclusion → evidence → method-on-request). Walk the seven scenes as a reusable course template, noting the appendix holds the dashboard for Q&amp;A. Land the ruthless-editing test: if a slide does not advance the decision, it goes to the appendix — a seven-slide deck beats a thirty-slide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this in under eight minutes — the point is that the same regional bar becomes three scenes by changing only the highlight and the takeaway title. Show the situation, complication, and evidence versions back to back so the room sees sequence as argument. This is Modules 1 and 3 (highlight/mute, callouts) applied at the deck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here is that structure is checkable, not vibes: the audit asserts BLUF leads, the deck is at most seven scenes, and every scene advances the decision. Run it against a weak storyboard live so the room sees it fail. Each Scene declares the one sentence the audience should think — that message is the slide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peer-restatement test on the Big Idea (task 2) is make-or-break — do not let pairs proceed until a neighbour can restate the recommendation from the sentence alone. The second high-value moment is the appendix cut (task 6); technical participants resist cutting good analysis and must feel that subtraction is the storytelling. Fast finishers build the What-is/could-be version and compare which arc lands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cold-call or think-pair-share. Question 2 (POV / stakes / action) and question 5 (the advance-the-decision test) are the two that anchor the whole module — linger on them. Pair with the Big-Idea slam: participants read their sentence and the room votes idea or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explain why exporting the dashboard fails even though every chart is individually good (no Big Idea, no sequence, no BLUF). The key discussion is where the 'those regions are just small' objection belongs and that a per-capita evidence scene retires it. Close on how BLUF changes the committee's experience of the same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before/after participants produce in the lab: 22 slides with the recommendation buried on slide 22 versus 7 slides with BLUF first. The row that matters most is peer time to grasp the ask — from 'did not finish' to 70 seconds from the BLUF alone. Tie each row back to a benchmark: peer-restatement, slide count, and the storyboard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exploration-to-explanation funnel as the anchor image — it carries the module's core distinction with 'throw most of it away' at the neck. The before/after deck (22 vs 7 slides) is the whole module in one image, so commission it early. All lab work depends on tayseer_services.csv, the M4 findings, and the story/ starter being distributed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everything so far was design; this module is delivery, and it is a lab, not a lecture. Executive delivery improves only through reps and recorded feedback — never through slides about delivery. Tell the room they will be recorded, critiqued, and asked to iterate across two rounds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reframe: the craft here is different from everything before — it is delivery, not design. Stress the scarcity of the moment: three minutes of partial attention is all you get. The aha they will feel today is that watching their own recording teaches more than any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these participants brief ministers and deputy ministers who act on their charts. Make the contrast vivid — same analysis, opposite outcome, decided purely on delivery. The trusted advisor is the one invited back; that is the prize.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delivery situation, not a chart. The middle case shows the discipline scales down — a corridor top-line is still recommendation-first. The third previews the Q&amp;A technique that anchors the module: separate the number from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exit criteria: each maps to a lab task and a benchmark today. The last one is the module's engine — measurable improvement across two recorded rounds, where the delta is the grade. Return to this slide at close for a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section serves one. Note 6.3 reaches back to LO4 (chart craft) and 6.6 to LO5 (the storytelling arc being delivered). All map to LO6, executive communication — this is where the course's outcome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Module 5's BLUF, now a delivery behaviour. Hammer the second point: front-loading is insurance against the interruption you cannot control. The common misconception is that depth persuades — it survives scrutiny, but the top-line is what actually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clock aloud so the room feels how little time each beat gets. The say-the-ask-twice rule is the single most portable takeaway — write it on the board. Everything in the middle exists only to earn permission for the second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'orient before assert' live with a Tayseer bar chart — say the axes, pause, then the point. The most common failure is reading the chart aloud, treating the title as a script. The title is the takeaway; the presenter supplies the why and the so-what.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hostile row is the one to drill: separating the challenged number from the recommendation is the move that keeps composure. Stress that a prepared Q&amp;A appendix — the cut slides from Module 5 — is what makes calm answers possible. Never bluff a number; one unravelled figure sinks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decision culture to the self-contained annotated scenes of Modules 3 and 5 — your recommendation must survive being discussed without you in the room. Reframe the BLUF as courtesy, not just technique: brevity respects senior time. Read the real decision flow, which may run through aides.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common mistakes: burying the ask, reading slides, defending a challenged number to the death, running over, apologising for a busy slide. The reliable aha is the Round-1 to Round-2 delta — seeing improvement on video converts skeptics. Obtain recording consent up front and reassure the room the videos are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so the room sees the ask printed at both 0:00 and the close. The assert is the point: if the total exceeds seven minutes it forces a cut, not a rush. Tie it back to the say-the-ask-twice rule and the 'cut to the ask' move for a halved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is the lesson: every entry ends in a bridge, so no answer leaves the recommendation behind. Insist on at least one hostile and one 'your data is wrong' question, each reconciled honestly to the appendix. Preparing this matrix is what turns a frozen presenter into a calm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recording is non-negotiable and is the module's engine — get consent up front and reassure the room the videos are theirs. The reliable aha is the delta: almost everyone jumps 20–40 points by leading with the ask and holding time. Play the tough committee member yourself for one pair to model the hostile-question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Question 3 is the discriminator — expect it to catch people who default to defending the number rather than separating it. Pair with the bridge drill: fire off-topic and hostile questions rapid-fire, one bridge per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diagnose why three minutes of accurate history still loses the room before revealing it. Key discussion: how the challenged adoption number, reconciled honestly, strengthens rather than derails the briefing. Constraints matter: bilingual, protocol-sensitive, static slides with a Q&amp;A appendix, slot may be halved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improvement row is the one that matters most: at least +15 points between rounds, computed by the rubric scorer. Anything short means the BLUF or time lesson did not land; remediate before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 the before/after is the grade, not the absolute Round 2 score. Point out the biggest mover is almost always the opening: leading with the ask lifts the whole briefing. The 50% to 87% jump is what converts skeptics when they see it on their own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attention-decay curve as the module's anchor image — it justifies front-loading in one glance. The hostile-committee bot and halved-slot drill are the two simulations that make Q&amp;A prepared rather than improvised. All assets depend on the M5 storyboard and recording-consent forms being ready before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hands off from Module 6 into the graded capstone and the course close.
Preview the shape of Day 3: assemble the artefact, rehearse it, then present live for a rubric score.
Remind the room the analysis is already done — only the communication is being assembled and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capstone as the convergence point: perception, chart choice, colour, dashboard, and narrative all feed this one briefing.
Stress that the SAR 40 million allocation is the exact deliverable shape the workplace expects, not an academic exercise.
The golden thread makes this achievable — the analysis was carried through every lab, so today is communication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concrete artefact the participant leaves the room owning.
Note the dashboard and the presentation are the two graded pieces — the storyboard is the plan that produces the presentation.
Collect the files at the end of Hour 4 so you can pre-load them and score live during the final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recaps Module 5's arc as the Module 6 delivery template: three supporting beats sit between two statements of the ask.
The single most important rule is 'say the ask twice' — once as the BLUF, once to close; everything between earns the second ask.
Point out the time boxes sum to seven minutes, so cutting is a design choice under pressure, not rushing.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the course is graded on two artefacts, not a written exam — a dashboard and a delivered story.
The logistics matter: collect files at the end of Hour 4 so the final hour is all presentations and live scoring.
Record the presentations with consent — reviewing one's own delivery is the single most effective feedback in M6.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fixed rubric applied to two recorded rounds — the reliable aha is the Round-1 to Round-2 delta.
Almost everyone jumps 20–40 points simply by leading with the ask and holding time; seeing it on the rubric converts skeptics.
Keep critique specific and kind — critique the delivery, not the person, and pair one fix with every criticism.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span the course from encoding accuracy through to delivery — tie each back to the module that owns it.
The 5-second ranking test, the computed lie factor, and the 30-second ask are the ones to actually run live.
Anything short of these means the lesson did not land — remediate before moving on rather than papering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notes protect the flow of Day 3, the most presentation-heavy and time-pressured day.
A Saudi executive audience notices a mirrored Arabic axis immediately, so the RTL discipline is not optional.
Verify both environment paths and licences the week before — do not discover a gap live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clear default so no one stalls on setup: Jupyter + Plotly plus a BI tool.
Power BI is the Windows path; Tableau Public is the cross-platform fallback for the BI labs.
The week-before verification of both paths and licences is the instructor's job, not the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stackability: this course is a required step toward the Practitioner certificate.
Name the communication badge as a concrete credential earned by completing the course.
Point participants to SDA-DSC-211 as the next course so the path forward is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single spine: encoding accuracy, chart choice, declutter, dashboard, narrative, delivery.
Each module handed its output to the next — the same Tayseer artefact, sharpened at every stage.
The point of the whole course is the last mile: a correct analysis either changes a decision or dies in a slide nobody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the one line participants carry out of the room.
It reframes the whole course: their analytical skill is not in question — making it land is the craft they practised.
In a Vision 2030 delivery unit, this is the difference between analytics that informs decisions and analytics that decorates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and point them to the path forward: the badge, the Practitioner certificate, and SDA-DSC-211.
Remind them the recordings are theirs — reviewing their own delivery is the most durable feedback they leave with.
Close on the thesis: they now close the last mile between analysis and the decisions it should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051560"/>
          </a:xfrm>
          <a:prstGeom prst="rect">
            <a:avLst/>
          </a:prstGeom>
          <a:solidFill>
            <a:srgbClr val="1D2A5C"/>
          </a:solidFill>
          <a:ln/>
        </p:spPr>
      </p:sp>
      <p:sp>
        <p:nvSpPr>
          <p:cNvPr id="4" name="Shape 2"/>
          <p:cNvSpPr/>
          <p:nvPr/>
        </p:nvSpPr>
        <p:spPr>
          <a:xfrm>
            <a:off x="0" y="6355080"/>
            <a:ext cx="12191695" cy="502920"/>
          </a:xfrm>
          <a:prstGeom prst="rect">
            <a:avLst/>
          </a:prstGeom>
          <a:solidFill>
            <a:srgbClr val="1D2A5C"/>
          </a:solidFill>
          <a:ln/>
        </p:spPr>
      </p:sp>
      <p:sp>
        <p:nvSpPr>
          <p:cNvPr id="5" name="Shape 3"/>
          <p:cNvSpPr/>
          <p:nvPr/>
        </p:nvSpPr>
        <p:spPr>
          <a:xfrm>
            <a:off x="0" y="1051560"/>
            <a:ext cx="12191695" cy="82296"/>
          </a:xfrm>
          <a:prstGeom prst="rect">
            <a:avLst/>
          </a:prstGeom>
          <a:solidFill>
            <a:srgbClr val="00A79D"/>
          </a:solidFill>
          <a:ln/>
        </p:spPr>
      </p:sp>
      <p:pic>
        <p:nvPicPr>
          <p:cNvPr id="6" name="Image 0" descr="/sessions/loving-funny-ritchie/mnt/outputs/deckbuild/assets/logo.png">    </p:cNvPr>
          <p:cNvPicPr>
            <a:picLocks noChangeAspect="1"/>
          </p:cNvPicPr>
          <p:nvPr/>
        </p:nvPicPr>
        <p:blipFill>
          <a:blip r:embed="rId1"/>
          <a:stretch>
            <a:fillRect/>
          </a:stretch>
        </p:blipFill>
        <p:spPr>
          <a:xfrm>
            <a:off x="548640" y="310896"/>
            <a:ext cx="1965960" cy="480060"/>
          </a:xfrm>
          <a:prstGeom prst="rect">
            <a:avLst/>
          </a:prstGeom>
        </p:spPr>
      </p:pic>
      <p:sp>
        <p:nvSpPr>
          <p:cNvPr id="7" name="Text 4"/>
          <p:cNvSpPr/>
          <p:nvPr/>
        </p:nvSpPr>
        <p:spPr>
          <a:xfrm>
            <a:off x="7985455" y="420624"/>
            <a:ext cx="3657600" cy="274320"/>
          </a:xfrm>
          <a:prstGeom prst="rect">
            <a:avLst/>
          </a:prstGeom>
          <a:noFill/>
          <a:ln/>
        </p:spPr>
        <p:txBody>
          <a:bodyPr wrap="square" rtlCol="0" anchor="ctr"/>
          <a:lstStyle/>
          <a:p>
            <a:pPr algn="r" indent="0" marL="0">
              <a:buNone/>
            </a:pPr>
            <a:r>
              <a:rPr lang="en-US" sz="1100" b="1" spc="200" kern="0" dirty="0">
                <a:solidFill>
                  <a:srgbClr val="BFD8D6"/>
                </a:solidFill>
                <a:latin typeface="Arial" pitchFamily="34" charset="0"/>
                <a:ea typeface="Arial" pitchFamily="34" charset="-122"/>
                <a:cs typeface="Arial" pitchFamily="34" charset="-120"/>
              </a:rPr>
              <a:t>INSTRUCTOR-LED TRAINING</a:t>
            </a:r>
            <a:endParaRPr lang="en-US" sz="1100" dirty="0"/>
          </a:p>
        </p:txBody>
      </p:sp>
      <p:sp>
        <p:nvSpPr>
          <p:cNvPr id="8" name="Shape 5"/>
          <p:cNvSpPr/>
          <p:nvPr/>
        </p:nvSpPr>
        <p:spPr>
          <a:xfrm>
            <a:off x="548640" y="1874520"/>
            <a:ext cx="457200" cy="777240"/>
          </a:xfrm>
          <a:prstGeom prst="triangle">
            <a:avLst/>
          </a:prstGeom>
          <a:solidFill>
            <a:srgbClr val="2E5AAC"/>
          </a:solidFill>
          <a:ln/>
        </p:spPr>
      </p:sp>
      <p:sp>
        <p:nvSpPr>
          <p:cNvPr id="9" name="Shape 6"/>
          <p:cNvSpPr/>
          <p:nvPr/>
        </p:nvSpPr>
        <p:spPr>
          <a:xfrm rot="10800000">
            <a:off x="932688" y="1874520"/>
            <a:ext cx="457200" cy="777240"/>
          </a:xfrm>
          <a:prstGeom prst="triangle">
            <a:avLst/>
          </a:prstGeom>
          <a:solidFill>
            <a:srgbClr val="00A79D"/>
          </a:solidFill>
          <a:ln/>
        </p:spPr>
      </p:sp>
      <p:sp>
        <p:nvSpPr>
          <p:cNvPr id="10" name="Shape 7"/>
          <p:cNvSpPr/>
          <p:nvPr/>
        </p:nvSpPr>
        <p:spPr>
          <a:xfrm>
            <a:off x="1316736" y="1874520"/>
            <a:ext cx="457200" cy="777240"/>
          </a:xfrm>
          <a:prstGeom prst="triangle">
            <a:avLst/>
          </a:prstGeom>
          <a:solidFill>
            <a:srgbClr val="E8833A"/>
          </a:solidFill>
          <a:ln/>
        </p:spPr>
      </p:sp>
      <p:sp>
        <p:nvSpPr>
          <p:cNvPr id="11" name="Shape 8"/>
          <p:cNvSpPr/>
          <p:nvPr/>
        </p:nvSpPr>
        <p:spPr>
          <a:xfrm rot="10800000">
            <a:off x="1700784" y="1874520"/>
            <a:ext cx="457200" cy="777240"/>
          </a:xfrm>
          <a:prstGeom prst="triangle">
            <a:avLst/>
          </a:prstGeom>
          <a:solidFill>
            <a:srgbClr val="6C4FA1"/>
          </a:solidFill>
          <a:ln/>
        </p:spPr>
      </p:sp>
      <p:sp>
        <p:nvSpPr>
          <p:cNvPr id="12" name="Shape 9"/>
          <p:cNvSpPr/>
          <p:nvPr/>
        </p:nvSpPr>
        <p:spPr>
          <a:xfrm>
            <a:off x="2084832" y="1874520"/>
            <a:ext cx="457200" cy="777240"/>
          </a:xfrm>
          <a:prstGeom prst="triangle">
            <a:avLst/>
          </a:prstGeom>
          <a:solidFill>
            <a:srgbClr val="3FAE5A"/>
          </a:solidFill>
          <a:ln/>
        </p:spPr>
      </p:sp>
      <p:sp>
        <p:nvSpPr>
          <p:cNvPr id="13" name="Shape 10"/>
          <p:cNvSpPr/>
          <p:nvPr/>
        </p:nvSpPr>
        <p:spPr>
          <a:xfrm rot="10800000">
            <a:off x="2468880" y="1874520"/>
            <a:ext cx="457200" cy="777240"/>
          </a:xfrm>
          <a:prstGeom prst="triangle">
            <a:avLst/>
          </a:prstGeom>
          <a:solidFill>
            <a:srgbClr val="29ABE2"/>
          </a:solidFill>
          <a:ln/>
        </p:spPr>
      </p:sp>
      <p:sp>
        <p:nvSpPr>
          <p:cNvPr id="14" name="Text 11"/>
          <p:cNvSpPr/>
          <p:nvPr/>
        </p:nvSpPr>
        <p:spPr>
          <a:xfrm>
            <a:off x="548640" y="2788920"/>
            <a:ext cx="10424160" cy="1371600"/>
          </a:xfrm>
          <a:prstGeom prst="rect">
            <a:avLst/>
          </a:prstGeom>
          <a:noFill/>
          <a:ln/>
        </p:spPr>
        <p:txBody>
          <a:bodyPr wrap="square" rtlCol="0" anchor="t"/>
          <a:lstStyle/>
          <a:p>
            <a:pPr algn="l" indent="0" marL="0">
              <a:buNone/>
            </a:pPr>
            <a:r>
              <a:rPr lang="en-US" sz="4400" b="1" dirty="0">
                <a:solidFill>
                  <a:srgbClr val="1D2A5C"/>
                </a:solidFill>
                <a:latin typeface="Arial" pitchFamily="34" charset="0"/>
                <a:ea typeface="Arial" pitchFamily="34" charset="-122"/>
                <a:cs typeface="Arial" pitchFamily="34" charset="-120"/>
              </a:rPr>
              <a:t>Data Visualization and Storytelling</a:t>
            </a:r>
            <a:endParaRPr lang="en-US" sz="4400" dirty="0"/>
          </a:p>
        </p:txBody>
      </p:sp>
      <p:sp>
        <p:nvSpPr>
          <p:cNvPr id="15" name="Text 12"/>
          <p:cNvSpPr/>
          <p:nvPr/>
        </p:nvSpPr>
        <p:spPr>
          <a:xfrm>
            <a:off x="548640" y="4160520"/>
            <a:ext cx="10424160" cy="548640"/>
          </a:xfrm>
          <a:prstGeom prst="rect">
            <a:avLst/>
          </a:prstGeom>
          <a:noFill/>
          <a:ln/>
        </p:spPr>
        <p:txBody>
          <a:bodyPr wrap="square" rtlCol="0" anchor="ctr"/>
          <a:lstStyle/>
          <a:p>
            <a:pPr algn="l" indent="0" marL="0">
              <a:buNone/>
            </a:pPr>
            <a:r>
              <a:rPr lang="en-US" sz="2200" dirty="0">
                <a:solidFill>
                  <a:srgbClr val="00A79D"/>
                </a:solidFill>
                <a:latin typeface="Arial" pitchFamily="34" charset="0"/>
                <a:ea typeface="Arial" pitchFamily="34" charset="-122"/>
                <a:cs typeface="Arial" pitchFamily="34" charset="-120"/>
              </a:rPr>
              <a:t>تصور البيانات وسرد القصص</a:t>
            </a:r>
            <a:endParaRPr lang="en-US" sz="2200" dirty="0"/>
          </a:p>
        </p:txBody>
      </p:sp>
      <p:sp>
        <p:nvSpPr>
          <p:cNvPr id="16" name="Text 13"/>
          <p:cNvSpPr/>
          <p:nvPr/>
        </p:nvSpPr>
        <p:spPr>
          <a:xfrm>
            <a:off x="548640" y="4800600"/>
            <a:ext cx="10607040" cy="457200"/>
          </a:xfrm>
          <a:prstGeom prst="rect">
            <a:avLst/>
          </a:prstGeom>
          <a:noFill/>
          <a:ln/>
        </p:spPr>
        <p:txBody>
          <a:bodyPr wrap="square" rtlCol="0" anchor="ctr"/>
          <a:lstStyle/>
          <a:p>
            <a:pPr algn="l" indent="0" marL="0">
              <a:buNone/>
            </a:pPr>
            <a:r>
              <a:rPr lang="en-US" sz="1400" dirty="0">
                <a:solidFill>
                  <a:srgbClr val="6B7280"/>
                </a:solidFill>
                <a:latin typeface="Arial" pitchFamily="34" charset="0"/>
                <a:ea typeface="Arial" pitchFamily="34" charset="-122"/>
                <a:cs typeface="Arial" pitchFamily="34" charset="-120"/>
              </a:rPr>
              <a:t>Turning analysis into influence</a:t>
            </a:r>
            <a:endParaRPr lang="en-US" sz="1400" dirty="0"/>
          </a:p>
        </p:txBody>
      </p:sp>
      <p:sp>
        <p:nvSpPr>
          <p:cNvPr id="17" name="Shape 14"/>
          <p:cNvSpPr/>
          <p:nvPr/>
        </p:nvSpPr>
        <p:spPr>
          <a:xfrm>
            <a:off x="548640" y="5532120"/>
            <a:ext cx="1907438" cy="402336"/>
          </a:xfrm>
          <a:prstGeom prst="roundRect">
            <a:avLst>
              <a:gd name="adj" fmla="val 18182"/>
            </a:avLst>
          </a:prstGeom>
          <a:solidFill>
            <a:srgbClr val="EAF0FA"/>
          </a:solidFill>
          <a:ln w="12700">
            <a:solidFill>
              <a:srgbClr val="2E5AAC"/>
            </a:solidFill>
            <a:prstDash val="solid"/>
          </a:ln>
        </p:spPr>
      </p:sp>
      <p:sp>
        <p:nvSpPr>
          <p:cNvPr id="18" name="Text 15"/>
          <p:cNvSpPr/>
          <p:nvPr/>
        </p:nvSpPr>
        <p:spPr>
          <a:xfrm>
            <a:off x="548640" y="5532120"/>
            <a:ext cx="1907438" cy="402336"/>
          </a:xfrm>
          <a:prstGeom prst="rect">
            <a:avLst/>
          </a:prstGeom>
          <a:noFill/>
          <a:ln/>
        </p:spPr>
        <p:txBody>
          <a:bodyPr wrap="square" rtlCol="0" anchor="ctr"/>
          <a:lstStyle/>
          <a:p>
            <a:pPr algn="ctr" indent="0" marL="0">
              <a:buNone/>
            </a:pPr>
            <a:r>
              <a:rPr lang="en-US" sz="1050" b="1" dirty="0">
                <a:solidFill>
                  <a:srgbClr val="1D2A5C"/>
                </a:solidFill>
                <a:latin typeface="Arial" pitchFamily="34" charset="0"/>
                <a:ea typeface="Arial" pitchFamily="34" charset="-122"/>
                <a:cs typeface="Arial" pitchFamily="34" charset="-120"/>
              </a:rPr>
              <a:t>3 days · 15 hours</a:t>
            </a:r>
            <a:endParaRPr lang="en-US" sz="1050" dirty="0"/>
          </a:p>
        </p:txBody>
      </p:sp>
      <p:sp>
        <p:nvSpPr>
          <p:cNvPr id="19" name="Shape 16"/>
          <p:cNvSpPr/>
          <p:nvPr/>
        </p:nvSpPr>
        <p:spPr>
          <a:xfrm>
            <a:off x="2602382" y="5532120"/>
            <a:ext cx="1459382" cy="402336"/>
          </a:xfrm>
          <a:prstGeom prst="roundRect">
            <a:avLst>
              <a:gd name="adj" fmla="val 18182"/>
            </a:avLst>
          </a:prstGeom>
          <a:solidFill>
            <a:srgbClr val="E6F5F4"/>
          </a:solidFill>
          <a:ln w="12700">
            <a:solidFill>
              <a:srgbClr val="00A79D"/>
            </a:solidFill>
            <a:prstDash val="solid"/>
          </a:ln>
        </p:spPr>
      </p:sp>
      <p:sp>
        <p:nvSpPr>
          <p:cNvPr id="20" name="Text 17"/>
          <p:cNvSpPr/>
          <p:nvPr/>
        </p:nvSpPr>
        <p:spPr>
          <a:xfrm>
            <a:off x="2602382" y="5532120"/>
            <a:ext cx="1459382" cy="402336"/>
          </a:xfrm>
          <a:prstGeom prst="rect">
            <a:avLst/>
          </a:prstGeom>
          <a:noFill/>
          <a:ln/>
        </p:spPr>
        <p:txBody>
          <a:bodyPr wrap="square" rtlCol="0" anchor="ctr"/>
          <a:lstStyle/>
          <a:p>
            <a:pPr algn="ctr" indent="0" marL="0">
              <a:buNone/>
            </a:pPr>
            <a:r>
              <a:rPr lang="en-US" sz="1050" b="1" dirty="0">
                <a:solidFill>
                  <a:srgbClr val="1D2A5C"/>
                </a:solidFill>
                <a:latin typeface="Arial" pitchFamily="34" charset="0"/>
                <a:ea typeface="Arial" pitchFamily="34" charset="-122"/>
                <a:cs typeface="Arial" pitchFamily="34" charset="-120"/>
              </a:rPr>
              <a:t>Practitioner</a:t>
            </a:r>
            <a:endParaRPr lang="en-US" sz="1050" dirty="0"/>
          </a:p>
        </p:txBody>
      </p:sp>
      <p:sp>
        <p:nvSpPr>
          <p:cNvPr id="21" name="Shape 18"/>
          <p:cNvSpPr/>
          <p:nvPr/>
        </p:nvSpPr>
        <p:spPr>
          <a:xfrm>
            <a:off x="4208069" y="5532120"/>
            <a:ext cx="2176272" cy="402336"/>
          </a:xfrm>
          <a:prstGeom prst="roundRect">
            <a:avLst>
              <a:gd name="adj" fmla="val 18182"/>
            </a:avLst>
          </a:prstGeom>
          <a:solidFill>
            <a:srgbClr val="FCF0E6"/>
          </a:solidFill>
          <a:ln w="12700">
            <a:solidFill>
              <a:srgbClr val="E8833A"/>
            </a:solidFill>
            <a:prstDash val="solid"/>
          </a:ln>
        </p:spPr>
      </p:sp>
      <p:sp>
        <p:nvSpPr>
          <p:cNvPr id="22" name="Text 19"/>
          <p:cNvSpPr/>
          <p:nvPr/>
        </p:nvSpPr>
        <p:spPr>
          <a:xfrm>
            <a:off x="4208069" y="5532120"/>
            <a:ext cx="2176272" cy="402336"/>
          </a:xfrm>
          <a:prstGeom prst="rect">
            <a:avLst/>
          </a:prstGeom>
          <a:noFill/>
          <a:ln/>
        </p:spPr>
        <p:txBody>
          <a:bodyPr wrap="square" rtlCol="0" anchor="ctr"/>
          <a:lstStyle/>
          <a:p>
            <a:pPr algn="ctr" indent="0" marL="0">
              <a:buNone/>
            </a:pPr>
            <a:r>
              <a:rPr lang="en-US" sz="1050" b="1" dirty="0">
                <a:solidFill>
                  <a:srgbClr val="1D2A5C"/>
                </a:solidFill>
                <a:latin typeface="Arial" pitchFamily="34" charset="0"/>
                <a:ea typeface="Arial" pitchFamily="34" charset="-122"/>
                <a:cs typeface="Arial" pitchFamily="34" charset="-120"/>
              </a:rPr>
              <a:t>Data Scientist Track</a:t>
            </a:r>
            <a:endParaRPr lang="en-US" sz="1050" dirty="0"/>
          </a:p>
        </p:txBody>
      </p:sp>
      <p:sp>
        <p:nvSpPr>
          <p:cNvPr id="23" name="Shape 20"/>
          <p:cNvSpPr/>
          <p:nvPr/>
        </p:nvSpPr>
        <p:spPr>
          <a:xfrm>
            <a:off x="6530645" y="5532120"/>
            <a:ext cx="1907438" cy="402336"/>
          </a:xfrm>
          <a:prstGeom prst="roundRect">
            <a:avLst>
              <a:gd name="adj" fmla="val 18182"/>
            </a:avLst>
          </a:prstGeom>
          <a:solidFill>
            <a:srgbClr val="EFEBF6"/>
          </a:solidFill>
          <a:ln w="12700">
            <a:solidFill>
              <a:srgbClr val="6C4FA1"/>
            </a:solidFill>
            <a:prstDash val="solid"/>
          </a:ln>
        </p:spPr>
      </p:sp>
      <p:sp>
        <p:nvSpPr>
          <p:cNvPr id="24" name="Text 21"/>
          <p:cNvSpPr/>
          <p:nvPr/>
        </p:nvSpPr>
        <p:spPr>
          <a:xfrm>
            <a:off x="6530645" y="5532120"/>
            <a:ext cx="1907438" cy="402336"/>
          </a:xfrm>
          <a:prstGeom prst="rect">
            <a:avLst/>
          </a:prstGeom>
          <a:noFill/>
          <a:ln/>
        </p:spPr>
        <p:txBody>
          <a:bodyPr wrap="square" rtlCol="0" anchor="ctr"/>
          <a:lstStyle/>
          <a:p>
            <a:pPr algn="ctr" indent="0" marL="0">
              <a:buNone/>
            </a:pPr>
            <a:r>
              <a:rPr lang="en-US" sz="1050" b="1" dirty="0">
                <a:solidFill>
                  <a:srgbClr val="1D2A5C"/>
                </a:solidFill>
                <a:latin typeface="Arial" pitchFamily="34" charset="0"/>
                <a:ea typeface="Arial" pitchFamily="34" charset="-122"/>
                <a:cs typeface="Arial" pitchFamily="34" charset="-120"/>
              </a:rPr>
              <a:t>Plotly · Power BI</a:t>
            </a:r>
            <a:endParaRPr lang="en-US" sz="1050" dirty="0"/>
          </a:p>
        </p:txBody>
      </p:sp>
      <p:sp>
        <p:nvSpPr>
          <p:cNvPr id="25" name="Text 22"/>
          <p:cNvSpPr/>
          <p:nvPr/>
        </p:nvSpPr>
        <p:spPr>
          <a:xfrm>
            <a:off x="548640" y="6400800"/>
            <a:ext cx="8229600" cy="365760"/>
          </a:xfrm>
          <a:prstGeom prst="rect">
            <a:avLst/>
          </a:prstGeom>
          <a:noFill/>
          <a:ln/>
        </p:spPr>
        <p:txBody>
          <a:bodyPr wrap="square"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SDAIA Academy  ·  SDA-DSC-112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algn="l" indent="0" marL="0">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algn="ctr" indent="0" marL="0">
              <a:lnSpc>
                <a:spcPct val="110000"/>
              </a:lnSpc>
              <a:buNone/>
            </a:pPr>
            <a:r>
              <a:rPr lang="en-US" sz="2600" b="1" dirty="0">
                <a:solidFill>
                  <a:srgbClr val="1D2A5C"/>
                </a:solidFill>
                <a:latin typeface="Arial" pitchFamily="34" charset="0"/>
                <a:ea typeface="Arial" pitchFamily="34" charset="-122"/>
                <a:cs typeface="Arial" pitchFamily="34" charset="-120"/>
              </a:rPr>
              <a:t>A correct analysis either changes a decision or dies in a slide nobody understood. This course closes that last mile.</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algn="ctr" indent="0" marL="0">
              <a:buNone/>
            </a:pPr>
            <a:r>
              <a:rPr lang="en-US" sz="1400" dirty="0">
                <a:solidFill>
                  <a:srgbClr val="6B7280"/>
                </a:solidFill>
                <a:latin typeface="Arial" pitchFamily="34" charset="0"/>
                <a:ea typeface="Arial" pitchFamily="34" charset="-122"/>
                <a:cs typeface="Arial" pitchFamily="34" charset="-120"/>
              </a:rPr>
              <a:t>— Course Description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AT A GLANCE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Course facts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291840"/>
                <a:gridCol w="77724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Field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Details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Course Title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Data Visualization and Storytelling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Course Code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SDA-DSC-112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Track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Data Scientist (عالم البيانات)</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Level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Practitioner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Duration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 days × 5 hours = 15 hours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Audience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Data scientists, analysts, BI professionals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Prerequisites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SDA-FND-104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43484">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Assessment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Dashboard project; storytelling presentation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COURSE DESCRIPTION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Turning analysis into influence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A craft-focused module on turning analysis into influence. Participants apply perception science to design honest, compelling visualisations, build interactive dashboards, and structure data narratives for executive audiences.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The last mile: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Closes the gap between a correct analysis and the organisational decision it should change.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Perception first: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Design honest, compelling visualisations grounded in how people actually see.</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Decision-ready: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Build interactive dashboards and narratives aimed at executive audiences.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GOLDEN THREAD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Tayseer dataset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The course is built around one evolving artefact: the Tayseer (تيسير) National Digital Services Program, a Vision 2030 initiative moving government service delivery from branches to digital channels.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One dataset: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tayseer_services.csv — monthly service metrics across the 13 administrative regions of Saudi Arabia.</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Carried through: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M1 audits perception, M2 chooses charts, M3 declutters, M4 dashboards, M5 narrates, M6 delivers.</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SAR 40M decision: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Each participant ends with a decision-ready dashboard and a 7-minute story on the next SAR 40M.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OUTCOMES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you will be able to do</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Apply visual-perception principles to select effective chart types</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Perception</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Design clear, honest visualisations that avoid distortion and clutter</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Honesty</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Develop interactive dashboards for self-service exploration</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Dashboards</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Construct data narratives structured around audience and decision</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Narrative</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Evaluate visualisations through critique and iterative refinement</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Critique</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Present analytical findings persuasively to executive stakeholders</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Delivery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TOOLS &amp; PLATFORMS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each tool is for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Text 13"/>
          <p:cNvSpPr/>
          <p:nvPr/>
        </p:nvSpPr>
        <p:spPr>
          <a:xfrm>
            <a:off x="731520"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Plotly</a:t>
            </a:r>
            <a:endParaRPr lang="en-US" sz="1300" dirty="0"/>
          </a:p>
        </p:txBody>
      </p:sp>
      <p:sp>
        <p:nvSpPr>
          <p:cNvPr id="17" name="Text 14"/>
          <p:cNvSpPr/>
          <p:nvPr/>
        </p:nvSpPr>
        <p:spPr>
          <a:xfrm>
            <a:off x="731520" y="2615184"/>
            <a:ext cx="3149498" cy="1353312"/>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Python interactive charting and the primary lab tool for building the Tayseer dashboard views.</a:t>
            </a:r>
            <a:endParaRPr lang="en-US" sz="1050" dirty="0"/>
          </a:p>
        </p:txBody>
      </p:sp>
      <p:sp>
        <p:nvSpPr>
          <p:cNvPr id="18" name="Shape 15"/>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19" name="Shape 16"/>
          <p:cNvSpPr/>
          <p:nvPr/>
        </p:nvSpPr>
        <p:spPr>
          <a:xfrm>
            <a:off x="4338218" y="2066544"/>
            <a:ext cx="3515258" cy="82296"/>
          </a:xfrm>
          <a:prstGeom prst="rect">
            <a:avLst/>
          </a:prstGeom>
          <a:solidFill>
            <a:srgbClr val="00A79D"/>
          </a:solidFill>
          <a:ln/>
        </p:spPr>
      </p:sp>
      <p:sp>
        <p:nvSpPr>
          <p:cNvPr id="20" name="Text 17"/>
          <p:cNvSpPr/>
          <p:nvPr/>
        </p:nvSpPr>
        <p:spPr>
          <a:xfrm>
            <a:off x="4521098"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Power BI / Tableau</a:t>
            </a:r>
            <a:endParaRPr lang="en-US" sz="1300" dirty="0"/>
          </a:p>
        </p:txBody>
      </p:sp>
      <p:sp>
        <p:nvSpPr>
          <p:cNvPr id="21" name="Text 18"/>
          <p:cNvSpPr/>
          <p:nvPr/>
        </p:nvSpPr>
        <p:spPr>
          <a:xfrm>
            <a:off x="4521098" y="2615184"/>
            <a:ext cx="3149498" cy="1353312"/>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BI platforms for self-service dashboards — Power BI on Windows, Tableau Public cross-platform.</a:t>
            </a:r>
            <a:endParaRPr lang="en-US" sz="1050" dirty="0"/>
          </a:p>
        </p:txBody>
      </p:sp>
      <p:sp>
        <p:nvSpPr>
          <p:cNvPr id="22" name="Shape 19"/>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3" name="Shape 20"/>
          <p:cNvSpPr/>
          <p:nvPr/>
        </p:nvSpPr>
        <p:spPr>
          <a:xfrm>
            <a:off x="8127797" y="2066544"/>
            <a:ext cx="3515258" cy="82296"/>
          </a:xfrm>
          <a:prstGeom prst="rect">
            <a:avLst/>
          </a:prstGeom>
          <a:solidFill>
            <a:srgbClr val="E8833A"/>
          </a:solidFill>
          <a:ln/>
        </p:spPr>
      </p:sp>
      <p:sp>
        <p:nvSpPr>
          <p:cNvPr id="24" name="Text 21"/>
          <p:cNvSpPr/>
          <p:nvPr/>
        </p:nvSpPr>
        <p:spPr>
          <a:xfrm>
            <a:off x="8310677"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Matplotlib / Seaborn</a:t>
            </a:r>
            <a:endParaRPr lang="en-US" sz="1300" dirty="0"/>
          </a:p>
        </p:txBody>
      </p:sp>
      <p:sp>
        <p:nvSpPr>
          <p:cNvPr id="25" name="Text 22"/>
          <p:cNvSpPr/>
          <p:nvPr/>
        </p:nvSpPr>
        <p:spPr>
          <a:xfrm>
            <a:off x="8310677" y="2615184"/>
            <a:ext cx="3149498" cy="1353312"/>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Static Python plotting for the first honest charts and the before/after redesign work.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THE MODULE JOURNEY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Six craft skills, six modules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a:t>
            </a:r>
            <a:endParaRPr lang="en-US" sz="800" dirty="0"/>
          </a:p>
        </p:txBody>
      </p:sp>
      <p:sp>
        <p:nvSpPr>
          <p:cNvPr id="14" name="Shape 11"/>
          <p:cNvSpPr/>
          <p:nvPr/>
        </p:nvSpPr>
        <p:spPr>
          <a:xfrm>
            <a:off x="548640" y="2295144"/>
            <a:ext cx="1589989" cy="2926080"/>
          </a:xfrm>
          <a:prstGeom prst="roundRect">
            <a:avLst>
              <a:gd name="adj" fmla="val 5751"/>
            </a:avLst>
          </a:prstGeom>
          <a:solidFill>
            <a:srgbClr val="EAF0FA"/>
          </a:solidFill>
          <a:ln w="15875">
            <a:solidFill>
              <a:srgbClr val="2E5AAC"/>
            </a:solidFill>
            <a:prstDash val="solid"/>
          </a:ln>
        </p:spPr>
      </p:sp>
      <p:sp>
        <p:nvSpPr>
          <p:cNvPr id="15" name="Shape 12"/>
          <p:cNvSpPr/>
          <p:nvPr/>
        </p:nvSpPr>
        <p:spPr>
          <a:xfrm>
            <a:off x="1087603" y="2496312"/>
            <a:ext cx="512064" cy="512064"/>
          </a:xfrm>
          <a:prstGeom prst="ellipse">
            <a:avLst/>
          </a:prstGeom>
          <a:solidFill>
            <a:srgbClr val="2E5AAC"/>
          </a:solidFill>
          <a:ln/>
        </p:spPr>
      </p:sp>
      <p:sp>
        <p:nvSpPr>
          <p:cNvPr id="16" name="Text 13"/>
          <p:cNvSpPr/>
          <p:nvPr/>
        </p:nvSpPr>
        <p:spPr>
          <a:xfrm>
            <a:off x="1087603"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7" name="Text 14"/>
          <p:cNvSpPr/>
          <p:nvPr/>
        </p:nvSpPr>
        <p:spPr>
          <a:xfrm>
            <a:off x="658368"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M1 · Perception</a:t>
            </a:r>
            <a:endParaRPr lang="en-US" sz="1300" dirty="0"/>
          </a:p>
        </p:txBody>
      </p:sp>
      <p:sp>
        <p:nvSpPr>
          <p:cNvPr id="18" name="Text 15"/>
          <p:cNvSpPr/>
          <p:nvPr/>
        </p:nvSpPr>
        <p:spPr>
          <a:xfrm>
            <a:off x="676656"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Read visual encoding: pre-attentive attributes and the encoding-accuracy ranking.</a:t>
            </a:r>
            <a:endParaRPr lang="en-US" sz="1050" dirty="0"/>
          </a:p>
        </p:txBody>
      </p:sp>
      <p:sp>
        <p:nvSpPr>
          <p:cNvPr id="19" name="Text 16"/>
          <p:cNvSpPr/>
          <p:nvPr/>
        </p:nvSpPr>
        <p:spPr>
          <a:xfrm>
            <a:off x="2156917"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0" name="Shape 17"/>
          <p:cNvSpPr/>
          <p:nvPr/>
        </p:nvSpPr>
        <p:spPr>
          <a:xfrm>
            <a:off x="2449525" y="2295144"/>
            <a:ext cx="1589989" cy="2926080"/>
          </a:xfrm>
          <a:prstGeom prst="roundRect">
            <a:avLst>
              <a:gd name="adj" fmla="val 5751"/>
            </a:avLst>
          </a:prstGeom>
          <a:solidFill>
            <a:srgbClr val="E6F5F4"/>
          </a:solidFill>
          <a:ln w="15875">
            <a:solidFill>
              <a:srgbClr val="00A79D"/>
            </a:solidFill>
            <a:prstDash val="solid"/>
          </a:ln>
        </p:spPr>
      </p:sp>
      <p:sp>
        <p:nvSpPr>
          <p:cNvPr id="21" name="Shape 18"/>
          <p:cNvSpPr/>
          <p:nvPr/>
        </p:nvSpPr>
        <p:spPr>
          <a:xfrm>
            <a:off x="2988488" y="2496312"/>
            <a:ext cx="512064" cy="512064"/>
          </a:xfrm>
          <a:prstGeom prst="ellipse">
            <a:avLst/>
          </a:prstGeom>
          <a:solidFill>
            <a:srgbClr val="00A79D"/>
          </a:solidFill>
          <a:ln/>
        </p:spPr>
      </p:sp>
      <p:sp>
        <p:nvSpPr>
          <p:cNvPr id="22" name="Text 19"/>
          <p:cNvSpPr/>
          <p:nvPr/>
        </p:nvSpPr>
        <p:spPr>
          <a:xfrm>
            <a:off x="2988488"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3" name="Text 20"/>
          <p:cNvSpPr/>
          <p:nvPr/>
        </p:nvSpPr>
        <p:spPr>
          <a:xfrm>
            <a:off x="2559253"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M2 · Chart choice</a:t>
            </a:r>
            <a:endParaRPr lang="en-US" sz="1300" dirty="0"/>
          </a:p>
        </p:txBody>
      </p:sp>
      <p:sp>
        <p:nvSpPr>
          <p:cNvPr id="24" name="Text 21"/>
          <p:cNvSpPr/>
          <p:nvPr/>
        </p:nvSpPr>
        <p:spPr>
          <a:xfrm>
            <a:off x="2577541"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Match question-type to an honest chart; apply the design-principles checklist.</a:t>
            </a:r>
            <a:endParaRPr lang="en-US" sz="1050" dirty="0"/>
          </a:p>
        </p:txBody>
      </p:sp>
      <p:sp>
        <p:nvSpPr>
          <p:cNvPr id="25" name="Text 22"/>
          <p:cNvSpPr/>
          <p:nvPr/>
        </p:nvSpPr>
        <p:spPr>
          <a:xfrm>
            <a:off x="4057802"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6" name="Shape 23"/>
          <p:cNvSpPr/>
          <p:nvPr/>
        </p:nvSpPr>
        <p:spPr>
          <a:xfrm>
            <a:off x="4350410" y="2295144"/>
            <a:ext cx="1589989" cy="2926080"/>
          </a:xfrm>
          <a:prstGeom prst="roundRect">
            <a:avLst>
              <a:gd name="adj" fmla="val 5751"/>
            </a:avLst>
          </a:prstGeom>
          <a:solidFill>
            <a:srgbClr val="FCF0E6"/>
          </a:solidFill>
          <a:ln w="15875">
            <a:solidFill>
              <a:srgbClr val="E8833A"/>
            </a:solidFill>
            <a:prstDash val="solid"/>
          </a:ln>
        </p:spPr>
      </p:sp>
      <p:sp>
        <p:nvSpPr>
          <p:cNvPr id="27" name="Shape 24"/>
          <p:cNvSpPr/>
          <p:nvPr/>
        </p:nvSpPr>
        <p:spPr>
          <a:xfrm>
            <a:off x="4889373" y="2496312"/>
            <a:ext cx="512064" cy="512064"/>
          </a:xfrm>
          <a:prstGeom prst="ellipse">
            <a:avLst/>
          </a:prstGeom>
          <a:solidFill>
            <a:srgbClr val="E8833A"/>
          </a:solidFill>
          <a:ln/>
        </p:spPr>
      </p:sp>
      <p:sp>
        <p:nvSpPr>
          <p:cNvPr id="28" name="Text 25"/>
          <p:cNvSpPr/>
          <p:nvPr/>
        </p:nvSpPr>
        <p:spPr>
          <a:xfrm>
            <a:off x="4889373"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9" name="Text 26"/>
          <p:cNvSpPr/>
          <p:nvPr/>
        </p:nvSpPr>
        <p:spPr>
          <a:xfrm>
            <a:off x="4460138"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M3 · Declutter</a:t>
            </a:r>
            <a:endParaRPr lang="en-US" sz="1300" dirty="0"/>
          </a:p>
        </p:txBody>
      </p:sp>
      <p:sp>
        <p:nvSpPr>
          <p:cNvPr id="30" name="Text 27"/>
          <p:cNvSpPr/>
          <p:nvPr/>
        </p:nvSpPr>
        <p:spPr>
          <a:xfrm>
            <a:off x="4478426"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Colour semantics, the data-ink ratio, and annotation as the argument.</a:t>
            </a:r>
            <a:endParaRPr lang="en-US" sz="1050" dirty="0"/>
          </a:p>
        </p:txBody>
      </p:sp>
      <p:sp>
        <p:nvSpPr>
          <p:cNvPr id="31" name="Text 28"/>
          <p:cNvSpPr/>
          <p:nvPr/>
        </p:nvSpPr>
        <p:spPr>
          <a:xfrm>
            <a:off x="5958688"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2" name="Shape 29"/>
          <p:cNvSpPr/>
          <p:nvPr/>
        </p:nvSpPr>
        <p:spPr>
          <a:xfrm>
            <a:off x="6251296" y="2295144"/>
            <a:ext cx="1589989" cy="2926080"/>
          </a:xfrm>
          <a:prstGeom prst="roundRect">
            <a:avLst>
              <a:gd name="adj" fmla="val 5751"/>
            </a:avLst>
          </a:prstGeom>
          <a:solidFill>
            <a:srgbClr val="EFEBF6"/>
          </a:solidFill>
          <a:ln w="15875">
            <a:solidFill>
              <a:srgbClr val="6C4FA1"/>
            </a:solidFill>
            <a:prstDash val="solid"/>
          </a:ln>
        </p:spPr>
      </p:sp>
      <p:sp>
        <p:nvSpPr>
          <p:cNvPr id="33" name="Shape 30"/>
          <p:cNvSpPr/>
          <p:nvPr/>
        </p:nvSpPr>
        <p:spPr>
          <a:xfrm>
            <a:off x="6790258" y="2496312"/>
            <a:ext cx="512064" cy="512064"/>
          </a:xfrm>
          <a:prstGeom prst="ellipse">
            <a:avLst/>
          </a:prstGeom>
          <a:solidFill>
            <a:srgbClr val="6C4FA1"/>
          </a:solidFill>
          <a:ln/>
        </p:spPr>
      </p:sp>
      <p:sp>
        <p:nvSpPr>
          <p:cNvPr id="34" name="Text 31"/>
          <p:cNvSpPr/>
          <p:nvPr/>
        </p:nvSpPr>
        <p:spPr>
          <a:xfrm>
            <a:off x="6790258"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5" name="Text 32"/>
          <p:cNvSpPr/>
          <p:nvPr/>
        </p:nvSpPr>
        <p:spPr>
          <a:xfrm>
            <a:off x="6361024"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M4 · Dashboard</a:t>
            </a:r>
            <a:endParaRPr lang="en-US" sz="1300" dirty="0"/>
          </a:p>
        </p:txBody>
      </p:sp>
      <p:sp>
        <p:nvSpPr>
          <p:cNvPr id="36" name="Text 33"/>
          <p:cNvSpPr/>
          <p:nvPr/>
        </p:nvSpPr>
        <p:spPr>
          <a:xfrm>
            <a:off x="6379312"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Compose an interactive multi-view dashboard with filters and drill-down.</a:t>
            </a:r>
            <a:endParaRPr lang="en-US" sz="1050" dirty="0"/>
          </a:p>
        </p:txBody>
      </p:sp>
      <p:sp>
        <p:nvSpPr>
          <p:cNvPr id="37" name="Text 34"/>
          <p:cNvSpPr/>
          <p:nvPr/>
        </p:nvSpPr>
        <p:spPr>
          <a:xfrm>
            <a:off x="7859573"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8" name="Shape 35"/>
          <p:cNvSpPr/>
          <p:nvPr/>
        </p:nvSpPr>
        <p:spPr>
          <a:xfrm>
            <a:off x="8152181" y="2295144"/>
            <a:ext cx="1589989" cy="2926080"/>
          </a:xfrm>
          <a:prstGeom prst="roundRect">
            <a:avLst>
              <a:gd name="adj" fmla="val 5751"/>
            </a:avLst>
          </a:prstGeom>
          <a:solidFill>
            <a:srgbClr val="E9F5EC"/>
          </a:solidFill>
          <a:ln w="15875">
            <a:solidFill>
              <a:srgbClr val="3FAE5A"/>
            </a:solidFill>
            <a:prstDash val="solid"/>
          </a:ln>
        </p:spPr>
      </p:sp>
      <p:sp>
        <p:nvSpPr>
          <p:cNvPr id="39" name="Shape 36"/>
          <p:cNvSpPr/>
          <p:nvPr/>
        </p:nvSpPr>
        <p:spPr>
          <a:xfrm>
            <a:off x="8691143" y="2496312"/>
            <a:ext cx="512064" cy="512064"/>
          </a:xfrm>
          <a:prstGeom prst="ellipse">
            <a:avLst/>
          </a:prstGeom>
          <a:solidFill>
            <a:srgbClr val="3FAE5A"/>
          </a:solidFill>
          <a:ln/>
        </p:spPr>
      </p:sp>
      <p:sp>
        <p:nvSpPr>
          <p:cNvPr id="40" name="Text 37"/>
          <p:cNvSpPr/>
          <p:nvPr/>
        </p:nvSpPr>
        <p:spPr>
          <a:xfrm>
            <a:off x="8691143"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41" name="Text 38"/>
          <p:cNvSpPr/>
          <p:nvPr/>
        </p:nvSpPr>
        <p:spPr>
          <a:xfrm>
            <a:off x="8261909"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M5 · Narrative</a:t>
            </a:r>
            <a:endParaRPr lang="en-US" sz="1300" dirty="0"/>
          </a:p>
        </p:txBody>
      </p:sp>
      <p:sp>
        <p:nvSpPr>
          <p:cNvPr id="42" name="Text 39"/>
          <p:cNvSpPr/>
          <p:nvPr/>
        </p:nvSpPr>
        <p:spPr>
          <a:xfrm>
            <a:off x="8280197"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Wrap findings in a story: audience-decision framing and one Big Idea.</a:t>
            </a:r>
            <a:endParaRPr lang="en-US" sz="1050" dirty="0"/>
          </a:p>
        </p:txBody>
      </p:sp>
      <p:sp>
        <p:nvSpPr>
          <p:cNvPr id="43" name="Text 40"/>
          <p:cNvSpPr/>
          <p:nvPr/>
        </p:nvSpPr>
        <p:spPr>
          <a:xfrm>
            <a:off x="9760458"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44" name="Shape 41"/>
          <p:cNvSpPr/>
          <p:nvPr/>
        </p:nvSpPr>
        <p:spPr>
          <a:xfrm>
            <a:off x="10053066" y="2295144"/>
            <a:ext cx="1589989" cy="2926080"/>
          </a:xfrm>
          <a:prstGeom prst="roundRect">
            <a:avLst>
              <a:gd name="adj" fmla="val 5751"/>
            </a:avLst>
          </a:prstGeom>
          <a:solidFill>
            <a:srgbClr val="E7F5FC"/>
          </a:solidFill>
          <a:ln w="15875">
            <a:solidFill>
              <a:srgbClr val="29ABE2"/>
            </a:solidFill>
            <a:prstDash val="solid"/>
          </a:ln>
        </p:spPr>
      </p:sp>
      <p:sp>
        <p:nvSpPr>
          <p:cNvPr id="45" name="Shape 42"/>
          <p:cNvSpPr/>
          <p:nvPr/>
        </p:nvSpPr>
        <p:spPr>
          <a:xfrm>
            <a:off x="10592029" y="2496312"/>
            <a:ext cx="512064" cy="512064"/>
          </a:xfrm>
          <a:prstGeom prst="ellipse">
            <a:avLst/>
          </a:prstGeom>
          <a:solidFill>
            <a:srgbClr val="29ABE2"/>
          </a:solidFill>
          <a:ln/>
        </p:spPr>
      </p:sp>
      <p:sp>
        <p:nvSpPr>
          <p:cNvPr id="46" name="Text 43"/>
          <p:cNvSpPr/>
          <p:nvPr/>
        </p:nvSpPr>
        <p:spPr>
          <a:xfrm>
            <a:off x="10592029"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47" name="Text 44"/>
          <p:cNvSpPr/>
          <p:nvPr/>
        </p:nvSpPr>
        <p:spPr>
          <a:xfrm>
            <a:off x="10162794" y="3136392"/>
            <a:ext cx="1370533"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M6 · Delivery</a:t>
            </a:r>
            <a:endParaRPr lang="en-US" sz="1300" dirty="0"/>
          </a:p>
        </p:txBody>
      </p:sp>
      <p:sp>
        <p:nvSpPr>
          <p:cNvPr id="48" name="Text 45"/>
          <p:cNvSpPr/>
          <p:nvPr/>
        </p:nvSpPr>
        <p:spPr>
          <a:xfrm>
            <a:off x="10181082" y="3666744"/>
            <a:ext cx="1333957"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Deliver to a simulated Steering Committee: BLUF, slide craft, and Q&amp;A.</a:t>
            </a:r>
            <a:endParaRPr lang="en-US" sz="1050" dirty="0"/>
          </a:p>
        </p:txBody>
      </p:sp>
      <p:sp>
        <p:nvSpPr>
          <p:cNvPr id="49" name="Text 46"/>
          <p:cNvSpPr/>
          <p:nvPr/>
        </p:nvSpPr>
        <p:spPr>
          <a:xfrm>
            <a:off x="548640" y="533095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Each step evolves the same Tayseer artefact.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DELIVERY PLAN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Day-by-day schedule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1463040"/>
                <a:gridCol w="3108960"/>
                <a:gridCol w="649224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Day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Theme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Deliverable at end of day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Day 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Seeing clearly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perception audit + a defensible, honestly-drawn chart-choice set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Day 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Craft &amp; interactivity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before/after redesign pair + a working interactive Tayseer dashboard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Day 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Narrative &amp; the room</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storyboarded narrative + a rehearsed 7-minute presentation + capstone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Day 1 — Seeing clearly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Why most dashboards fail + kickoff + Tayseer dataset tour</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algn="ctr" indent="0" marL="0">
              <a:buNone/>
            </a:pPr>
            <a:r>
              <a:rPr lang="en-US" sz="950" b="1" dirty="0">
                <a:solidFill>
                  <a:srgbClr val="2E5AAC"/>
                </a:solidFill>
                <a:latin typeface="Arial" pitchFamily="34" charset="0"/>
                <a:ea typeface="Arial" pitchFamily="34" charset="-122"/>
                <a:cs typeface="Arial" pitchFamily="34" charset="-120"/>
              </a:rPr>
              <a:t>80/20</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Perception science and visual encoding (M1)</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70/30</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1 — Perception audit &amp; five encodings</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algn="ctr" indent="0" marL="0">
              <a:buNone/>
            </a:pPr>
            <a:r>
              <a:rPr lang="en-US" sz="950" b="1" dirty="0">
                <a:solidFill>
                  <a:srgbClr val="E8833A"/>
                </a:solidFill>
                <a:latin typeface="Arial" pitchFamily="34" charset="0"/>
                <a:ea typeface="Arial" pitchFamily="34" charset="-122"/>
                <a:cs typeface="Arial" pitchFamily="34" charset="-120"/>
              </a:rPr>
              <a:t>15/85</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Chart selection and design principles (M2)</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algn="ctr" indent="0" marL="0">
              <a:buNone/>
            </a:pPr>
            <a:r>
              <a:rPr lang="en-US" sz="950" b="1" dirty="0">
                <a:solidFill>
                  <a:srgbClr val="6C4FA1"/>
                </a:solidFill>
                <a:latin typeface="Arial" pitchFamily="34" charset="0"/>
                <a:ea typeface="Arial" pitchFamily="34" charset="-122"/>
                <a:cs typeface="Arial" pitchFamily="34" charset="-120"/>
              </a:rPr>
              <a:t>70/30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2 — Chart chooser + first honest chart</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algn="ctr" indent="0" marL="0">
              <a:buNone/>
            </a:pPr>
            <a:r>
              <a:rPr lang="en-US" sz="950" b="1" dirty="0">
                <a:solidFill>
                  <a:srgbClr val="3FAE5A"/>
                </a:solidFill>
                <a:latin typeface="Arial" pitchFamily="34" charset="0"/>
                <a:ea typeface="Arial" pitchFamily="34" charset="-122"/>
                <a:cs typeface="Arial" pitchFamily="34" charset="-120"/>
              </a:rPr>
              <a:t>10/90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Day 2 — Craft and interactivity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Colour, annotation, and decluttering (M3)</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algn="ctr" indent="0" marL="0">
              <a:buNone/>
            </a:pPr>
            <a:r>
              <a:rPr lang="en-US" sz="950" b="1" dirty="0">
                <a:solidFill>
                  <a:srgbClr val="2E5AAC"/>
                </a:solidFill>
                <a:latin typeface="Arial" pitchFamily="34" charset="0"/>
                <a:ea typeface="Arial" pitchFamily="34" charset="-122"/>
                <a:cs typeface="Arial" pitchFamily="34" charset="-120"/>
              </a:rPr>
              <a:t>65/35</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3 — Before/after redesign</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10/90</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Interactive dashboards and BI tools (M4)</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algn="ctr" indent="0" marL="0">
              <a:buNone/>
            </a:pPr>
            <a:r>
              <a:rPr lang="en-US" sz="950" b="1" dirty="0">
                <a:solidFill>
                  <a:srgbClr val="E8833A"/>
                </a:solidFill>
                <a:latin typeface="Arial" pitchFamily="34" charset="0"/>
                <a:ea typeface="Arial" pitchFamily="34" charset="-122"/>
                <a:cs typeface="Arial" pitchFamily="34" charset="-120"/>
              </a:rPr>
              <a:t>60/40</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4a — Build the Tayseer dashboard</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algn="ctr" indent="0" marL="0">
              <a:buNone/>
            </a:pPr>
            <a:r>
              <a:rPr lang="en-US" sz="950" b="1" dirty="0">
                <a:solidFill>
                  <a:srgbClr val="6C4FA1"/>
                </a:solidFill>
                <a:latin typeface="Arial" pitchFamily="34" charset="0"/>
                <a:ea typeface="Arial" pitchFamily="34" charset="-122"/>
                <a:cs typeface="Arial" pitchFamily="34" charset="-120"/>
              </a:rPr>
              <a:t>10/90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4b — Interactivity &amp; drill-down</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algn="ctr" indent="0" marL="0">
              <a:buNone/>
            </a:pPr>
            <a:r>
              <a:rPr lang="en-US" sz="950" b="1" dirty="0">
                <a:solidFill>
                  <a:srgbClr val="3FAE5A"/>
                </a:solidFill>
                <a:latin typeface="Arial" pitchFamily="34" charset="0"/>
                <a:ea typeface="Arial" pitchFamily="34" charset="-122"/>
                <a:cs typeface="Arial" pitchFamily="34" charset="-120"/>
              </a:rPr>
              <a:t>10/90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Day 3 — Narrative and the room</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Data storytelling structure and flow (M5)</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algn="ctr" indent="0" marL="0">
              <a:buNone/>
            </a:pPr>
            <a:r>
              <a:rPr lang="en-US" sz="950" b="1" dirty="0">
                <a:solidFill>
                  <a:srgbClr val="2E5AAC"/>
                </a:solidFill>
                <a:latin typeface="Arial" pitchFamily="34" charset="0"/>
                <a:ea typeface="Arial" pitchFamily="34" charset="-122"/>
                <a:cs typeface="Arial" pitchFamily="34" charset="-120"/>
              </a:rPr>
              <a:t>60/40</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Lab 5 — Storyboard the Tayseer narrative</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15/85</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Executive communication (M6)</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algn="ctr" indent="0" marL="0">
              <a:buNone/>
            </a:pPr>
            <a:r>
              <a:rPr lang="en-US" sz="950" b="1" dirty="0">
                <a:solidFill>
                  <a:srgbClr val="E8833A"/>
                </a:solidFill>
                <a:latin typeface="Arial" pitchFamily="34" charset="0"/>
                <a:ea typeface="Arial" pitchFamily="34" charset="-122"/>
                <a:cs typeface="Arial" pitchFamily="34" charset="-120"/>
              </a:rPr>
              <a:t>50/50</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Capstone assembly — integrate, rehearse, critique</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algn="ctr" indent="0" marL="0">
              <a:buNone/>
            </a:pPr>
            <a:r>
              <a:rPr lang="en-US" sz="950" b="1" dirty="0">
                <a:solidFill>
                  <a:srgbClr val="6C4FA1"/>
                </a:solidFill>
                <a:latin typeface="Arial" pitchFamily="34" charset="0"/>
                <a:ea typeface="Arial" pitchFamily="34" charset="-122"/>
                <a:cs typeface="Arial" pitchFamily="34" charset="-120"/>
              </a:rPr>
              <a:t>0/100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indent="0" marL="0">
              <a:lnSpc>
                <a:spcPct val="95000"/>
              </a:lnSpc>
              <a:buNone/>
            </a:pPr>
            <a:r>
              <a:rPr lang="en-US" sz="1250" b="1" dirty="0">
                <a:solidFill>
                  <a:srgbClr val="1D2A5C"/>
                </a:solidFill>
                <a:latin typeface="Arial" pitchFamily="34" charset="0"/>
                <a:ea typeface="Arial" pitchFamily="34" charset="-122"/>
                <a:cs typeface="Arial" pitchFamily="34" charset="-120"/>
              </a:rPr>
              <a:t>Capstone presentations + assessment + wrap-up</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algn="ctr" indent="0" marL="0">
              <a:buNone/>
            </a:pPr>
            <a:r>
              <a:rPr lang="en-US" sz="950" b="1" dirty="0">
                <a:solidFill>
                  <a:srgbClr val="3FAE5A"/>
                </a:solidFill>
                <a:latin typeface="Arial" pitchFamily="34" charset="0"/>
                <a:ea typeface="Arial" pitchFamily="34" charset="-122"/>
                <a:cs typeface="Arial" pitchFamily="34" charset="-120"/>
              </a:rPr>
              <a:t>20/80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INSTRUCTOR GUIDANCE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Running the course (1 of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Golden thread</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Every module evolves the same Tayseer artefact — never a throwaway dataset. Only the communication is graded.</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Pace control</a:t>
            </a:r>
            <a:endParaRPr lang="en-US" sz="1300" dirty="0"/>
          </a:p>
        </p:txBody>
      </p:sp>
      <p:sp>
        <p:nvSpPr>
          <p:cNvPr id="21" name="Text 18"/>
          <p:cNvSpPr/>
          <p:nvPr/>
        </p:nvSpPr>
        <p:spPr>
          <a:xfrm>
            <a:off x="6415888"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Lab 3 and Lab 4b overrun most. Publish checkpoint notebooks and .pbix/.twbx starters so stragglers catch up.</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Pairing</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Rotate pairs each day. Pair a strong coder with a strong design sense — that skill transfer is the point.</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Environment</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Primary: local Jupyter + Plotly + a BI tool. Fallback: Colab and Tableau Public. Verify both paths beforehand.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INSTRUCTOR GUIDANCE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Running the course (2 of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Language &amp; RTL</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Deliver in English or Arabic; keep code and column names in English. Teach right-to-left axis ordering for Arabic charts (M3).</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Prayer &amp; breaks</a:t>
            </a:r>
            <a:endParaRPr lang="en-US" sz="1300" dirty="0"/>
          </a:p>
        </p:txBody>
      </p:sp>
      <p:sp>
        <p:nvSpPr>
          <p:cNvPr id="21" name="Text 18"/>
          <p:cNvSpPr/>
          <p:nvPr/>
        </p:nvSpPr>
        <p:spPr>
          <a:xfrm>
            <a:off x="6415888"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Each hour is 50 min instruction + 10 min buffer; schedule the long break around Dhuhr. Day 3 afternoon is presentation-heavy.</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Assessment logistics</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Collect dashboards and decks at end of Day 3 Hour 4 to pre-load; score live in Hour 5. Record presentations with consent.</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Critique culture</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Set norms in Day 1 Hour 1: critique the chart, not the person; propose a fix with every criticism.</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HOW TO USE THIS PACKAGE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Critique culture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15</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A safe critique culture is a prerequisite, not a nicety. Establish the norms in Day 1 Hour 1 and carry them through every module — each one contains a critique exercise.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Critique the chart: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Direct feedback at the artefact, never at the person who made it.</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Fix with every note: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Pair every criticism with a concrete, proposed improvement.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Critique every module: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habit compounds: each module repeats the exercise on Tayseer.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01</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1</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Perception Science and Visual Encoding</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علم الإدراك والترميز البصري</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How the eye decodes data — pre-attentive attributes and the encoding-accuracy ranking that make a chart honest.</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 visualisation is a machine for cognition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الإدراك البصري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17</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Whether a chart works is not a matter of taste — it is a matter of how human perception decodes marks on a screen.</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Offload cognition: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chart hands thinking to the visual system; its job is to be read, not admired.</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Channel accuracy: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Some channels the eye reads precisely, some approximately, some barely at all.</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Foundation: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Every later design decision — colour, layout, story — rests on this perceptual base.</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Get it right: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Honest, effective design becomes almost mechanical once encoding is understood.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cost of a misperceived chart is a bad decision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18</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Under Vision 2030, Saudi organisations push analytics into executive and ministerial decisions — busy executives glance at charts, they do not work at them.</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Three-second read: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Teams who understand encoding ship dashboards read correctly at a glance.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Decoration is ignored: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Teams who do not ship polish that gets skipped or, worse, misread.</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Wrong channel = risk: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Encoding the key comparison as a pie angle or colour forces the reader to work.</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Governance: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In audited decision packs, a misleading chart is a public-money issue, not cosmetics.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encoding accuracy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19</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National program office</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Deputy Minister must grasp at a glance that three regions lag on digital adoption — a position/length comparison, not colour.</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Bank</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Risk dashboard outlier</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An analyst must spot the one branch of 400 that is an outlier — only a good position encoding or a pre-attentive colour pop enables it.</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Hospital operations screen</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Nurses must read 'wait times are rising' in peripheral vision — motion and position, never a data table.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1</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20</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Name attributes: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List the pre-attentive visual attributes and use them to direct attention.</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Rank channels: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Order the common encoding channels by decoding accuracy (Cleveland–McGill).</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Predict the chart: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Say which chart a given comparison task demands, from the task alone.</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Explain failures: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Articulate why pie, 3D, and dual-axis charts systematically mislead.</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Audit honesty: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Inspect an existing chart for perceptual accuracy and honesty.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21</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Identify pre-attentive visual attributes and use them to direct attention</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Rank encoding channels by decoding accuracy and choose accordingly</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Explain why pie, 3D, and dual-axis charts systematically mislead</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 LO2</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Match a comparison task to the visual channel that supports it</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Audit an existing visualisation for perceptual accuracy and honesty</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LO5</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HOW THE EYE READS A CHART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Two stages of perception — design exploits both</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Encode the thing you want noticed in a pre-attentive channel; encode everything else quietly.</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Pre-attentive processing</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Parallel &amp; instant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Massively parallel, sub-250-millisecond stage before you consciously look.</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Registers channels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Hue, orientation, size, motion and a few others, across the whole field at once.</a:t>
            </a:r>
            <a:endParaRPr lang="en-US" sz="1100" dirty="0"/>
          </a:p>
        </p:txBody>
      </p:sp>
      <p:sp>
        <p:nvSpPr>
          <p:cNvPr id="21" name="Text 18"/>
          <p:cNvSpPr/>
          <p:nvPr/>
        </p:nvSpPr>
        <p:spPr>
          <a:xfrm>
            <a:off x="749808" y="4654296"/>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Pop-out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One red dot among grey dots pops with zero effort.</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Attentive processing</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Slow &amp; serial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Effortful stage: reading text, comparing exact values, following a legend.</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Serial search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Finding the digit 5 among other digits requires slow serial hunting.</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Common failure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Dashboards spend bright colour and 3D on chrome, leaving the signal to be searched for.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PRE-ATTENTIVE ATTRIBUTES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channels the eye reads in parallel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Worth naming in class — salience here is a different question from accuracy, ranked next.</a:t>
            </a:r>
            <a:endParaRPr lang="en-US" sz="1250" dirty="0"/>
          </a:p>
        </p:txBody>
      </p:sp>
      <p:sp>
        <p:nvSpPr>
          <p:cNvPr id="15" name="Shape 12"/>
          <p:cNvSpPr/>
          <p:nvPr/>
        </p:nvSpPr>
        <p:spPr>
          <a:xfrm>
            <a:off x="548640" y="2569464"/>
            <a:ext cx="3515258" cy="996696"/>
          </a:xfrm>
          <a:prstGeom prst="roundRect">
            <a:avLst>
              <a:gd name="adj" fmla="val 7339"/>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Hue</a:t>
            </a:r>
            <a:endParaRPr lang="en-US" sz="1300" dirty="0"/>
          </a:p>
        </p:txBody>
      </p:sp>
      <p:sp>
        <p:nvSpPr>
          <p:cNvPr id="18" name="Text 15"/>
          <p:cNvSpPr/>
          <p:nvPr/>
        </p:nvSpPr>
        <p:spPr>
          <a:xfrm>
            <a:off x="731520" y="311810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Colour category — the classic red-among-grey pop-out.</a:t>
            </a:r>
            <a:endParaRPr lang="en-US" sz="1050" dirty="0"/>
          </a:p>
        </p:txBody>
      </p:sp>
      <p:sp>
        <p:nvSpPr>
          <p:cNvPr id="19" name="Shape 16"/>
          <p:cNvSpPr/>
          <p:nvPr/>
        </p:nvSpPr>
        <p:spPr>
          <a:xfrm>
            <a:off x="4338218" y="2569464"/>
            <a:ext cx="3515258" cy="996696"/>
          </a:xfrm>
          <a:prstGeom prst="roundRect">
            <a:avLst>
              <a:gd name="adj" fmla="val 7339"/>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Intensity / saturation</a:t>
            </a:r>
            <a:endParaRPr lang="en-US" sz="1300" dirty="0"/>
          </a:p>
        </p:txBody>
      </p:sp>
      <p:sp>
        <p:nvSpPr>
          <p:cNvPr id="22" name="Text 19"/>
          <p:cNvSpPr/>
          <p:nvPr/>
        </p:nvSpPr>
        <p:spPr>
          <a:xfrm>
            <a:off x="4521098" y="311810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Colour strength; good for pattern, weak for exact values.</a:t>
            </a:r>
            <a:endParaRPr lang="en-US" sz="1050" dirty="0"/>
          </a:p>
        </p:txBody>
      </p:sp>
      <p:sp>
        <p:nvSpPr>
          <p:cNvPr id="23" name="Shape 20"/>
          <p:cNvSpPr/>
          <p:nvPr/>
        </p:nvSpPr>
        <p:spPr>
          <a:xfrm>
            <a:off x="8127797" y="2569464"/>
            <a:ext cx="3515258" cy="996696"/>
          </a:xfrm>
          <a:prstGeom prst="roundRect">
            <a:avLst>
              <a:gd name="adj" fmla="val 7339"/>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Size</a:t>
            </a:r>
            <a:endParaRPr lang="en-US" sz="1300" dirty="0"/>
          </a:p>
        </p:txBody>
      </p:sp>
      <p:sp>
        <p:nvSpPr>
          <p:cNvPr id="26" name="Text 23"/>
          <p:cNvSpPr/>
          <p:nvPr/>
        </p:nvSpPr>
        <p:spPr>
          <a:xfrm>
            <a:off x="8310677" y="311810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Overall mark size, read approximately.</a:t>
            </a:r>
            <a:endParaRPr lang="en-US" sz="1050" dirty="0"/>
          </a:p>
        </p:txBody>
      </p:sp>
      <p:sp>
        <p:nvSpPr>
          <p:cNvPr id="27" name="Shape 24"/>
          <p:cNvSpPr/>
          <p:nvPr/>
        </p:nvSpPr>
        <p:spPr>
          <a:xfrm>
            <a:off x="548640" y="3803904"/>
            <a:ext cx="3515258" cy="996696"/>
          </a:xfrm>
          <a:prstGeom prst="roundRect">
            <a:avLst>
              <a:gd name="adj" fmla="val 7339"/>
            </a:avLst>
          </a:prstGeom>
          <a:solidFill>
            <a:srgbClr val="FFFFFF"/>
          </a:solidFill>
          <a:ln w="12700">
            <a:solidFill>
              <a:srgbClr val="D9DEE8"/>
            </a:solidFill>
            <a:prstDash val="solid"/>
          </a:ln>
        </p:spPr>
      </p:sp>
      <p:sp>
        <p:nvSpPr>
          <p:cNvPr id="28" name="Shape 25"/>
          <p:cNvSpPr/>
          <p:nvPr/>
        </p:nvSpPr>
        <p:spPr>
          <a:xfrm>
            <a:off x="548640" y="3803904"/>
            <a:ext cx="3515258" cy="82296"/>
          </a:xfrm>
          <a:prstGeom prst="rect">
            <a:avLst/>
          </a:prstGeom>
          <a:solidFill>
            <a:srgbClr val="6C4FA1"/>
          </a:solidFill>
          <a:ln/>
        </p:spPr>
      </p:sp>
      <p:sp>
        <p:nvSpPr>
          <p:cNvPr id="29" name="Text 26"/>
          <p:cNvSpPr/>
          <p:nvPr/>
        </p:nvSpPr>
        <p:spPr>
          <a:xfrm>
            <a:off x="731520" y="398678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Orientation / angle</a:t>
            </a:r>
            <a:endParaRPr lang="en-US" sz="1300" dirty="0"/>
          </a:p>
        </p:txBody>
      </p:sp>
      <p:sp>
        <p:nvSpPr>
          <p:cNvPr id="30" name="Text 27"/>
          <p:cNvSpPr/>
          <p:nvPr/>
        </p:nvSpPr>
        <p:spPr>
          <a:xfrm>
            <a:off x="731520" y="435254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Tilt or slope of a mark.</a:t>
            </a:r>
            <a:endParaRPr lang="en-US" sz="1050" dirty="0"/>
          </a:p>
        </p:txBody>
      </p:sp>
      <p:sp>
        <p:nvSpPr>
          <p:cNvPr id="31" name="Shape 28"/>
          <p:cNvSpPr/>
          <p:nvPr/>
        </p:nvSpPr>
        <p:spPr>
          <a:xfrm>
            <a:off x="4338218" y="3803904"/>
            <a:ext cx="3515258" cy="996696"/>
          </a:xfrm>
          <a:prstGeom prst="roundRect">
            <a:avLst>
              <a:gd name="adj" fmla="val 7339"/>
            </a:avLst>
          </a:prstGeom>
          <a:solidFill>
            <a:srgbClr val="FFFFFF"/>
          </a:solidFill>
          <a:ln w="12700">
            <a:solidFill>
              <a:srgbClr val="D9DEE8"/>
            </a:solidFill>
            <a:prstDash val="solid"/>
          </a:ln>
        </p:spPr>
      </p:sp>
      <p:sp>
        <p:nvSpPr>
          <p:cNvPr id="32" name="Shape 29"/>
          <p:cNvSpPr/>
          <p:nvPr/>
        </p:nvSpPr>
        <p:spPr>
          <a:xfrm>
            <a:off x="4338218" y="3803904"/>
            <a:ext cx="3515258" cy="82296"/>
          </a:xfrm>
          <a:prstGeom prst="rect">
            <a:avLst/>
          </a:prstGeom>
          <a:solidFill>
            <a:srgbClr val="3FAE5A"/>
          </a:solidFill>
          <a:ln/>
        </p:spPr>
      </p:sp>
      <p:sp>
        <p:nvSpPr>
          <p:cNvPr id="33" name="Text 30"/>
          <p:cNvSpPr/>
          <p:nvPr/>
        </p:nvSpPr>
        <p:spPr>
          <a:xfrm>
            <a:off x="4521098" y="398678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Length</a:t>
            </a:r>
            <a:endParaRPr lang="en-US" sz="1300" dirty="0"/>
          </a:p>
        </p:txBody>
      </p:sp>
      <p:sp>
        <p:nvSpPr>
          <p:cNvPr id="34" name="Text 31"/>
          <p:cNvSpPr/>
          <p:nvPr/>
        </p:nvSpPr>
        <p:spPr>
          <a:xfrm>
            <a:off x="4521098" y="435254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Extent of a bar or line.</a:t>
            </a:r>
            <a:endParaRPr lang="en-US" sz="1050" dirty="0"/>
          </a:p>
        </p:txBody>
      </p:sp>
      <p:sp>
        <p:nvSpPr>
          <p:cNvPr id="35" name="Shape 32"/>
          <p:cNvSpPr/>
          <p:nvPr/>
        </p:nvSpPr>
        <p:spPr>
          <a:xfrm>
            <a:off x="8127797" y="3803904"/>
            <a:ext cx="3515258" cy="996696"/>
          </a:xfrm>
          <a:prstGeom prst="roundRect">
            <a:avLst>
              <a:gd name="adj" fmla="val 7339"/>
            </a:avLst>
          </a:prstGeom>
          <a:solidFill>
            <a:srgbClr val="FFFFFF"/>
          </a:solidFill>
          <a:ln w="12700">
            <a:solidFill>
              <a:srgbClr val="D9DEE8"/>
            </a:solidFill>
            <a:prstDash val="solid"/>
          </a:ln>
        </p:spPr>
      </p:sp>
      <p:sp>
        <p:nvSpPr>
          <p:cNvPr id="36" name="Shape 33"/>
          <p:cNvSpPr/>
          <p:nvPr/>
        </p:nvSpPr>
        <p:spPr>
          <a:xfrm>
            <a:off x="8127797" y="3803904"/>
            <a:ext cx="3515258" cy="82296"/>
          </a:xfrm>
          <a:prstGeom prst="rect">
            <a:avLst/>
          </a:prstGeom>
          <a:solidFill>
            <a:srgbClr val="29ABE2"/>
          </a:solidFill>
          <a:ln/>
        </p:spPr>
      </p:sp>
      <p:sp>
        <p:nvSpPr>
          <p:cNvPr id="37" name="Text 34"/>
          <p:cNvSpPr/>
          <p:nvPr/>
        </p:nvSpPr>
        <p:spPr>
          <a:xfrm>
            <a:off x="8310677" y="398678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Position (2D)</a:t>
            </a:r>
            <a:endParaRPr lang="en-US" sz="1300" dirty="0"/>
          </a:p>
        </p:txBody>
      </p:sp>
      <p:sp>
        <p:nvSpPr>
          <p:cNvPr id="38" name="Text 35"/>
          <p:cNvSpPr/>
          <p:nvPr/>
        </p:nvSpPr>
        <p:spPr>
          <a:xfrm>
            <a:off x="8310677" y="435254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Location in the plane — the most accurate of all.</a:t>
            </a:r>
            <a:endParaRPr lang="en-US" sz="1050" dirty="0"/>
          </a:p>
        </p:txBody>
      </p:sp>
      <p:sp>
        <p:nvSpPr>
          <p:cNvPr id="39" name="Shape 36"/>
          <p:cNvSpPr/>
          <p:nvPr/>
        </p:nvSpPr>
        <p:spPr>
          <a:xfrm>
            <a:off x="548640" y="5038344"/>
            <a:ext cx="3515258" cy="996696"/>
          </a:xfrm>
          <a:prstGeom prst="roundRect">
            <a:avLst>
              <a:gd name="adj" fmla="val 7339"/>
            </a:avLst>
          </a:prstGeom>
          <a:solidFill>
            <a:srgbClr val="FFFFFF"/>
          </a:solidFill>
          <a:ln w="12700">
            <a:solidFill>
              <a:srgbClr val="D9DEE8"/>
            </a:solidFill>
            <a:prstDash val="solid"/>
          </a:ln>
        </p:spPr>
      </p:sp>
      <p:sp>
        <p:nvSpPr>
          <p:cNvPr id="40" name="Shape 37"/>
          <p:cNvSpPr/>
          <p:nvPr/>
        </p:nvSpPr>
        <p:spPr>
          <a:xfrm>
            <a:off x="548640" y="5038344"/>
            <a:ext cx="3515258" cy="82296"/>
          </a:xfrm>
          <a:prstGeom prst="rect">
            <a:avLst/>
          </a:prstGeom>
          <a:solidFill>
            <a:srgbClr val="D9534F"/>
          </a:solidFill>
          <a:ln/>
        </p:spPr>
      </p:sp>
      <p:sp>
        <p:nvSpPr>
          <p:cNvPr id="41" name="Text 38"/>
          <p:cNvSpPr/>
          <p:nvPr/>
        </p:nvSpPr>
        <p:spPr>
          <a:xfrm>
            <a:off x="731520" y="52212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Shape</a:t>
            </a:r>
            <a:endParaRPr lang="en-US" sz="1300" dirty="0"/>
          </a:p>
        </p:txBody>
      </p:sp>
      <p:sp>
        <p:nvSpPr>
          <p:cNvPr id="42" name="Text 39"/>
          <p:cNvSpPr/>
          <p:nvPr/>
        </p:nvSpPr>
        <p:spPr>
          <a:xfrm>
            <a:off x="731520" y="558698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Glyph form; categorical, not quantitative.</a:t>
            </a:r>
            <a:endParaRPr lang="en-US" sz="1050" dirty="0"/>
          </a:p>
        </p:txBody>
      </p:sp>
      <p:sp>
        <p:nvSpPr>
          <p:cNvPr id="43" name="Shape 40"/>
          <p:cNvSpPr/>
          <p:nvPr/>
        </p:nvSpPr>
        <p:spPr>
          <a:xfrm>
            <a:off x="4338218" y="5038344"/>
            <a:ext cx="3515258" cy="996696"/>
          </a:xfrm>
          <a:prstGeom prst="roundRect">
            <a:avLst>
              <a:gd name="adj" fmla="val 7339"/>
            </a:avLst>
          </a:prstGeom>
          <a:solidFill>
            <a:srgbClr val="FFFFFF"/>
          </a:solidFill>
          <a:ln w="12700">
            <a:solidFill>
              <a:srgbClr val="D9DEE8"/>
            </a:solidFill>
            <a:prstDash val="solid"/>
          </a:ln>
        </p:spPr>
      </p:sp>
      <p:sp>
        <p:nvSpPr>
          <p:cNvPr id="44" name="Shape 41"/>
          <p:cNvSpPr/>
          <p:nvPr/>
        </p:nvSpPr>
        <p:spPr>
          <a:xfrm>
            <a:off x="4338218" y="5038344"/>
            <a:ext cx="3515258" cy="82296"/>
          </a:xfrm>
          <a:prstGeom prst="rect">
            <a:avLst/>
          </a:prstGeom>
          <a:solidFill>
            <a:srgbClr val="E6B325"/>
          </a:solidFill>
          <a:ln/>
        </p:spPr>
      </p:sp>
      <p:sp>
        <p:nvSpPr>
          <p:cNvPr id="45" name="Text 42"/>
          <p:cNvSpPr/>
          <p:nvPr/>
        </p:nvSpPr>
        <p:spPr>
          <a:xfrm>
            <a:off x="4521098" y="52212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Enclosure</a:t>
            </a:r>
            <a:endParaRPr lang="en-US" sz="1300" dirty="0"/>
          </a:p>
        </p:txBody>
      </p:sp>
      <p:sp>
        <p:nvSpPr>
          <p:cNvPr id="46" name="Text 43"/>
          <p:cNvSpPr/>
          <p:nvPr/>
        </p:nvSpPr>
        <p:spPr>
          <a:xfrm>
            <a:off x="4521098" y="558698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Boxing or grouping marks to bind them.</a:t>
            </a:r>
            <a:endParaRPr lang="en-US" sz="1050" dirty="0"/>
          </a:p>
        </p:txBody>
      </p:sp>
      <p:sp>
        <p:nvSpPr>
          <p:cNvPr id="47" name="Shape 44"/>
          <p:cNvSpPr/>
          <p:nvPr/>
        </p:nvSpPr>
        <p:spPr>
          <a:xfrm>
            <a:off x="8127797" y="5038344"/>
            <a:ext cx="3515258" cy="996696"/>
          </a:xfrm>
          <a:prstGeom prst="roundRect">
            <a:avLst>
              <a:gd name="adj" fmla="val 7339"/>
            </a:avLst>
          </a:prstGeom>
          <a:solidFill>
            <a:srgbClr val="FFFFFF"/>
          </a:solidFill>
          <a:ln w="12700">
            <a:solidFill>
              <a:srgbClr val="D9DEE8"/>
            </a:solidFill>
            <a:prstDash val="solid"/>
          </a:ln>
        </p:spPr>
      </p:sp>
      <p:sp>
        <p:nvSpPr>
          <p:cNvPr id="48" name="Shape 45"/>
          <p:cNvSpPr/>
          <p:nvPr/>
        </p:nvSpPr>
        <p:spPr>
          <a:xfrm>
            <a:off x="8127797" y="5038344"/>
            <a:ext cx="3515258" cy="82296"/>
          </a:xfrm>
          <a:prstGeom prst="rect">
            <a:avLst/>
          </a:prstGeom>
          <a:solidFill>
            <a:srgbClr val="2E5AAC"/>
          </a:solidFill>
          <a:ln/>
        </p:spPr>
      </p:sp>
      <p:sp>
        <p:nvSpPr>
          <p:cNvPr id="49" name="Text 46"/>
          <p:cNvSpPr/>
          <p:nvPr/>
        </p:nvSpPr>
        <p:spPr>
          <a:xfrm>
            <a:off x="8310677" y="52212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Added marks &amp; motion</a:t>
            </a:r>
            <a:endParaRPr lang="en-US" sz="1300" dirty="0"/>
          </a:p>
        </p:txBody>
      </p:sp>
      <p:sp>
        <p:nvSpPr>
          <p:cNvPr id="50" name="Text 47"/>
          <p:cNvSpPr/>
          <p:nvPr/>
        </p:nvSpPr>
        <p:spPr>
          <a:xfrm>
            <a:off x="8310677" y="5586984"/>
            <a:ext cx="314949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Extra marks, and movement — powerful in peripheral vision.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ENCODING-ACCURACY HIERARCHY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Cleveland–McGill: the key table of the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24</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Measured in 1984 — how accurately people decode quantitative values from each channel, most to least accurate.</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1920240"/>
                <a:gridCol w="4572000"/>
                <a:gridCol w="45720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Rank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Channel</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Decoding accuracy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on a common scale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Best — use for your key comparison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on non-aligned scales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Very good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Length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Good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Angle / slope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Moderate — routinely misjudged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Area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Poor — perceived as ~0.7 power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Volume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Worse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Colour saturation / intensity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Worst for exact values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6126480"/>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Rule: match the channel's accuracy to the precision the task requires.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CHARTS THAT MISLEAD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Why pie, 3D, and dual-axis fail — perceptually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Each fails for a reason participants must be able to name, not just dislike.</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Pie</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Angle/area for part-to-whole</a:t>
            </a:r>
            <a:endParaRPr lang="en-US" sz="1300" dirty="0"/>
          </a:p>
        </p:txBody>
      </p:sp>
      <p:sp>
        <p:nvSpPr>
          <p:cNvPr id="20" name="Text 17"/>
          <p:cNvSpPr/>
          <p:nvPr/>
        </p:nvSpPr>
        <p:spPr>
          <a:xfrm>
            <a:off x="731520" y="3703320"/>
            <a:ext cx="3149498" cy="768096"/>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Forces rank 4–5 decoding for what a sorted bar (rank 1) serves. Unreadable past ~5 slices; hopeless to compare two side by side.</a:t>
            </a:r>
            <a:endParaRPr lang="en-US" sz="1050" dirty="0"/>
          </a:p>
        </p:txBody>
      </p:sp>
      <p:sp>
        <p:nvSpPr>
          <p:cNvPr id="21" name="Shape 18"/>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3D</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Volume &amp; perspective distortion</a:t>
            </a:r>
            <a:endParaRPr lang="en-US" sz="1300" dirty="0"/>
          </a:p>
        </p:txBody>
      </p:sp>
      <p:sp>
        <p:nvSpPr>
          <p:cNvPr id="26" name="Text 23"/>
          <p:cNvSpPr/>
          <p:nvPr/>
        </p:nvSpPr>
        <p:spPr>
          <a:xfrm>
            <a:off x="4521098" y="3703320"/>
            <a:ext cx="3149498" cy="768096"/>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Apparent values change with viewing angle; back bars foreshorten, occlusion hides data, depth encodes nothing. No honest use — ban them.</a:t>
            </a:r>
            <a:endParaRPr lang="en-US" sz="1050" dirty="0"/>
          </a:p>
        </p:txBody>
      </p:sp>
      <p:sp>
        <p:nvSpPr>
          <p:cNvPr id="27" name="Shape 24"/>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Dual</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Manufactured correlation</a:t>
            </a:r>
            <a:endParaRPr lang="en-US" sz="1300" dirty="0"/>
          </a:p>
        </p:txBody>
      </p:sp>
      <p:sp>
        <p:nvSpPr>
          <p:cNvPr id="32" name="Text 29"/>
          <p:cNvSpPr/>
          <p:nvPr/>
        </p:nvSpPr>
        <p:spPr>
          <a:xfrm>
            <a:off x="8310677" y="350215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Two Y-axes let the designer scale a crossing into existence. Prefer indexed lines (both to base = 100) or two small multiples.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TASK → CHANNEL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Encoding is chosen by the question, not the data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26</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5029200"/>
                <a:gridCol w="3017520"/>
                <a:gridCol w="301752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Analytical question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Best encoding</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Typical 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How do these categories rank?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common scale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Sorted bar / dot plot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How has this changed over time?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on X + 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Line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How is this distributed?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 density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Histogram /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How do two variables relate?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(X, 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Where is this, geographically?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Position on a 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Choropleth (carefully)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What is the part-to-whole split?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Length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Stacked / 100%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What is the pattern in a matrix?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Colour saturation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Heatmap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5907024"/>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Tayseer's 'which regions lag?' is a ranking question → sorted bar, never a choropleth as primary.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PERCEPTUAL HONESTY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lie factor and sources of distortion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A chart is honest when the ratio of visual effect to data effect is 1. Lie factor = effect shown ÷ effect in data.</a:t>
            </a:r>
            <a:endParaRPr lang="en-US" sz="1250" dirty="0"/>
          </a:p>
        </p:txBody>
      </p:sp>
      <p:sp>
        <p:nvSpPr>
          <p:cNvPr id="15" name="Shape 12"/>
          <p:cNvSpPr/>
          <p:nvPr/>
        </p:nvSpPr>
        <p:spPr>
          <a:xfrm>
            <a:off x="548640" y="2615184"/>
            <a:ext cx="1970166" cy="2926080"/>
          </a:xfrm>
          <a:prstGeom prst="roundRect">
            <a:avLst>
              <a:gd name="adj" fmla="val 4641"/>
            </a:avLst>
          </a:prstGeom>
          <a:solidFill>
            <a:srgbClr val="EAF0FA"/>
          </a:solidFill>
          <a:ln w="15875">
            <a:solidFill>
              <a:srgbClr val="2E5AAC"/>
            </a:solidFill>
            <a:prstDash val="solid"/>
          </a:ln>
        </p:spPr>
      </p:sp>
      <p:sp>
        <p:nvSpPr>
          <p:cNvPr id="16" name="Shape 13"/>
          <p:cNvSpPr/>
          <p:nvPr/>
        </p:nvSpPr>
        <p:spPr>
          <a:xfrm>
            <a:off x="1277691" y="2816352"/>
            <a:ext cx="512064" cy="512064"/>
          </a:xfrm>
          <a:prstGeom prst="ellipse">
            <a:avLst/>
          </a:prstGeom>
          <a:solidFill>
            <a:srgbClr val="2E5AAC"/>
          </a:solidFill>
          <a:ln/>
        </p:spPr>
      </p:sp>
      <p:sp>
        <p:nvSpPr>
          <p:cNvPr id="17" name="Text 14"/>
          <p:cNvSpPr/>
          <p:nvPr/>
        </p:nvSpPr>
        <p:spPr>
          <a:xfrm>
            <a:off x="1277691"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1750710"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Truncated bar axes</a:t>
            </a:r>
            <a:endParaRPr lang="en-US" sz="1300" dirty="0"/>
          </a:p>
        </p:txBody>
      </p:sp>
      <p:sp>
        <p:nvSpPr>
          <p:cNvPr id="19" name="Text 16"/>
          <p:cNvSpPr/>
          <p:nvPr/>
        </p:nvSpPr>
        <p:spPr>
          <a:xfrm>
            <a:off x="676656" y="3986784"/>
            <a:ext cx="1714134"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Bars encode length from zero; starting at 60 multiplies the apparent difference. Forbid it.</a:t>
            </a:r>
            <a:endParaRPr lang="en-US" sz="1050" dirty="0"/>
          </a:p>
        </p:txBody>
      </p:sp>
      <p:sp>
        <p:nvSpPr>
          <p:cNvPr id="20" name="Text 17"/>
          <p:cNvSpPr/>
          <p:nvPr/>
        </p:nvSpPr>
        <p:spPr>
          <a:xfrm>
            <a:off x="2537094"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2829702" y="2615184"/>
            <a:ext cx="1970166" cy="2926080"/>
          </a:xfrm>
          <a:prstGeom prst="roundRect">
            <a:avLst>
              <a:gd name="adj" fmla="val 4641"/>
            </a:avLst>
          </a:prstGeom>
          <a:solidFill>
            <a:srgbClr val="E6F5F4"/>
          </a:solidFill>
          <a:ln w="15875">
            <a:solidFill>
              <a:srgbClr val="00A79D"/>
            </a:solidFill>
            <a:prstDash val="solid"/>
          </a:ln>
        </p:spPr>
      </p:sp>
      <p:sp>
        <p:nvSpPr>
          <p:cNvPr id="22" name="Shape 19"/>
          <p:cNvSpPr/>
          <p:nvPr/>
        </p:nvSpPr>
        <p:spPr>
          <a:xfrm>
            <a:off x="3558753" y="2816352"/>
            <a:ext cx="512064" cy="512064"/>
          </a:xfrm>
          <a:prstGeom prst="ellipse">
            <a:avLst/>
          </a:prstGeom>
          <a:solidFill>
            <a:srgbClr val="00A79D"/>
          </a:solidFill>
          <a:ln/>
        </p:spPr>
      </p:sp>
      <p:sp>
        <p:nvSpPr>
          <p:cNvPr id="23" name="Text 20"/>
          <p:cNvSpPr/>
          <p:nvPr/>
        </p:nvSpPr>
        <p:spPr>
          <a:xfrm>
            <a:off x="3558753"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2939430" y="3456432"/>
            <a:ext cx="1750710"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Lines may truncate</a:t>
            </a:r>
            <a:endParaRPr lang="en-US" sz="1300" dirty="0"/>
          </a:p>
        </p:txBody>
      </p:sp>
      <p:sp>
        <p:nvSpPr>
          <p:cNvPr id="25" name="Text 22"/>
          <p:cNvSpPr/>
          <p:nvPr/>
        </p:nvSpPr>
        <p:spPr>
          <a:xfrm>
            <a:off x="2957718" y="3986784"/>
            <a:ext cx="1714134"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Lines encode slope/position, so the baseline is not part of the encoding — this trips up almost everyone.</a:t>
            </a:r>
            <a:endParaRPr lang="en-US" sz="1050" dirty="0"/>
          </a:p>
        </p:txBody>
      </p:sp>
      <p:sp>
        <p:nvSpPr>
          <p:cNvPr id="26" name="Text 23"/>
          <p:cNvSpPr/>
          <p:nvPr/>
        </p:nvSpPr>
        <p:spPr>
          <a:xfrm>
            <a:off x="4818156"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5110764" y="2615184"/>
            <a:ext cx="1970166" cy="2926080"/>
          </a:xfrm>
          <a:prstGeom prst="roundRect">
            <a:avLst>
              <a:gd name="adj" fmla="val 4641"/>
            </a:avLst>
          </a:prstGeom>
          <a:solidFill>
            <a:srgbClr val="FCF0E6"/>
          </a:solidFill>
          <a:ln w="15875">
            <a:solidFill>
              <a:srgbClr val="E8833A"/>
            </a:solidFill>
            <a:prstDash val="solid"/>
          </a:ln>
        </p:spPr>
      </p:sp>
      <p:sp>
        <p:nvSpPr>
          <p:cNvPr id="28" name="Shape 25"/>
          <p:cNvSpPr/>
          <p:nvPr/>
        </p:nvSpPr>
        <p:spPr>
          <a:xfrm>
            <a:off x="5839816" y="2816352"/>
            <a:ext cx="512064" cy="512064"/>
          </a:xfrm>
          <a:prstGeom prst="ellipse">
            <a:avLst/>
          </a:prstGeom>
          <a:solidFill>
            <a:srgbClr val="E8833A"/>
          </a:solidFill>
          <a:ln/>
        </p:spPr>
      </p:sp>
      <p:sp>
        <p:nvSpPr>
          <p:cNvPr id="29" name="Text 26"/>
          <p:cNvSpPr/>
          <p:nvPr/>
        </p:nvSpPr>
        <p:spPr>
          <a:xfrm>
            <a:off x="5839816"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5220492" y="3456432"/>
            <a:ext cx="1750710"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Reversed / dual scales</a:t>
            </a:r>
            <a:endParaRPr lang="en-US" sz="1300" dirty="0"/>
          </a:p>
        </p:txBody>
      </p:sp>
      <p:sp>
        <p:nvSpPr>
          <p:cNvPr id="31" name="Text 28"/>
          <p:cNvSpPr/>
          <p:nvPr/>
        </p:nvSpPr>
        <p:spPr>
          <a:xfrm>
            <a:off x="5238780" y="3986784"/>
            <a:ext cx="1714134"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Inconsistent, reversed, or dual axes, and cumulative-vs-rate switches mid-chart.</a:t>
            </a:r>
            <a:endParaRPr lang="en-US" sz="1050" dirty="0"/>
          </a:p>
        </p:txBody>
      </p:sp>
      <p:sp>
        <p:nvSpPr>
          <p:cNvPr id="32" name="Text 29"/>
          <p:cNvSpPr/>
          <p:nvPr/>
        </p:nvSpPr>
        <p:spPr>
          <a:xfrm>
            <a:off x="7099219"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7391827" y="2615184"/>
            <a:ext cx="1970166" cy="2926080"/>
          </a:xfrm>
          <a:prstGeom prst="roundRect">
            <a:avLst>
              <a:gd name="adj" fmla="val 4641"/>
            </a:avLst>
          </a:prstGeom>
          <a:solidFill>
            <a:srgbClr val="EFEBF6"/>
          </a:solidFill>
          <a:ln w="15875">
            <a:solidFill>
              <a:srgbClr val="6C4FA1"/>
            </a:solidFill>
            <a:prstDash val="solid"/>
          </a:ln>
        </p:spPr>
      </p:sp>
      <p:sp>
        <p:nvSpPr>
          <p:cNvPr id="34" name="Shape 31"/>
          <p:cNvSpPr/>
          <p:nvPr/>
        </p:nvSpPr>
        <p:spPr>
          <a:xfrm>
            <a:off x="8120878" y="2816352"/>
            <a:ext cx="512064" cy="512064"/>
          </a:xfrm>
          <a:prstGeom prst="ellipse">
            <a:avLst/>
          </a:prstGeom>
          <a:solidFill>
            <a:srgbClr val="6C4FA1"/>
          </a:solidFill>
          <a:ln/>
        </p:spPr>
      </p:sp>
      <p:sp>
        <p:nvSpPr>
          <p:cNvPr id="35" name="Text 32"/>
          <p:cNvSpPr/>
          <p:nvPr/>
        </p:nvSpPr>
        <p:spPr>
          <a:xfrm>
            <a:off x="8120878"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7501555" y="3456432"/>
            <a:ext cx="1750710"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Radius-scaled area</a:t>
            </a:r>
            <a:endParaRPr lang="en-US" sz="1300" dirty="0"/>
          </a:p>
        </p:txBody>
      </p:sp>
      <p:sp>
        <p:nvSpPr>
          <p:cNvPr id="37" name="Text 34"/>
          <p:cNvSpPr/>
          <p:nvPr/>
        </p:nvSpPr>
        <p:spPr>
          <a:xfrm>
            <a:off x="7519843" y="3986784"/>
            <a:ext cx="1714134"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Scaling radius by value quadruples the area when the value doubles — distort area, not radius.</a:t>
            </a:r>
            <a:endParaRPr lang="en-US" sz="1050" dirty="0"/>
          </a:p>
        </p:txBody>
      </p:sp>
      <p:sp>
        <p:nvSpPr>
          <p:cNvPr id="38" name="Text 35"/>
          <p:cNvSpPr/>
          <p:nvPr/>
        </p:nvSpPr>
        <p:spPr>
          <a:xfrm>
            <a:off x="9380281"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9" name="Shape 36"/>
          <p:cNvSpPr/>
          <p:nvPr/>
        </p:nvSpPr>
        <p:spPr>
          <a:xfrm>
            <a:off x="9672889" y="2615184"/>
            <a:ext cx="1970166" cy="2926080"/>
          </a:xfrm>
          <a:prstGeom prst="roundRect">
            <a:avLst>
              <a:gd name="adj" fmla="val 4641"/>
            </a:avLst>
          </a:prstGeom>
          <a:solidFill>
            <a:srgbClr val="E9F5EC"/>
          </a:solidFill>
          <a:ln w="15875">
            <a:solidFill>
              <a:srgbClr val="3FAE5A"/>
            </a:solidFill>
            <a:prstDash val="solid"/>
          </a:ln>
        </p:spPr>
      </p:sp>
      <p:sp>
        <p:nvSpPr>
          <p:cNvPr id="40" name="Shape 37"/>
          <p:cNvSpPr/>
          <p:nvPr/>
        </p:nvSpPr>
        <p:spPr>
          <a:xfrm>
            <a:off x="10401940" y="2816352"/>
            <a:ext cx="512064" cy="512064"/>
          </a:xfrm>
          <a:prstGeom prst="ellipse">
            <a:avLst/>
          </a:prstGeom>
          <a:solidFill>
            <a:srgbClr val="3FAE5A"/>
          </a:solidFill>
          <a:ln/>
        </p:spPr>
      </p:sp>
      <p:sp>
        <p:nvSpPr>
          <p:cNvPr id="41" name="Text 38"/>
          <p:cNvSpPr/>
          <p:nvPr/>
        </p:nvSpPr>
        <p:spPr>
          <a:xfrm>
            <a:off x="10401940"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42" name="Text 39"/>
          <p:cNvSpPr/>
          <p:nvPr/>
        </p:nvSpPr>
        <p:spPr>
          <a:xfrm>
            <a:off x="9782617" y="3456432"/>
            <a:ext cx="1750710"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Cherry-picked windows</a:t>
            </a:r>
            <a:endParaRPr lang="en-US" sz="1300" dirty="0"/>
          </a:p>
        </p:txBody>
      </p:sp>
      <p:sp>
        <p:nvSpPr>
          <p:cNvPr id="43" name="Text 40"/>
          <p:cNvSpPr/>
          <p:nvPr/>
        </p:nvSpPr>
        <p:spPr>
          <a:xfrm>
            <a:off x="9800905" y="3986784"/>
            <a:ext cx="1714134"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Time windows chosen to hide the trend before the start point.</a:t>
            </a:r>
            <a:endParaRPr lang="en-US" sz="1050" dirty="0"/>
          </a:p>
        </p:txBody>
      </p:sp>
      <p:sp>
        <p:nvSpPr>
          <p:cNvPr id="44" name="Text 41"/>
          <p:cNvSpPr/>
          <p:nvPr/>
        </p:nvSpPr>
        <p:spPr>
          <a:xfrm>
            <a:off x="548640" y="565099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In a SAMA- or government-audited context, a distorted chart is a governance finding.</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28</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algn="l" indent="0" marL="0">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algn="ctr" indent="0" marL="0">
              <a:lnSpc>
                <a:spcPct val="110000"/>
              </a:lnSpc>
              <a:buNone/>
            </a:pPr>
            <a:r>
              <a:rPr lang="en-US" sz="2600" b="1" dirty="0">
                <a:solidFill>
                  <a:srgbClr val="1D2A5C"/>
                </a:solidFill>
                <a:latin typeface="Arial" pitchFamily="34" charset="0"/>
                <a:ea typeface="Arial" pitchFamily="34" charset="-122"/>
                <a:cs typeface="Arial" pitchFamily="34" charset="-120"/>
              </a:rPr>
              <a:t>A 3D pie and a dual-axis line derailed Tayseer's quarterly review for eight minutes; the redesign — one sorted bar and two indexed lines — settled it in ninety seconds and reversed the conclusion.</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algn="ctr" indent="0" marL="0">
              <a:buNone/>
            </a:pPr>
            <a:r>
              <a:rPr lang="en-US" sz="1400" dirty="0">
                <a:solidFill>
                  <a:srgbClr val="6B7280"/>
                </a:solidFill>
                <a:latin typeface="Arial" pitchFamily="34" charset="0"/>
                <a:ea typeface="Arial" pitchFamily="34" charset="-122"/>
                <a:cs typeface="Arial" pitchFamily="34" charset="-120"/>
              </a:rPr>
              <a:t>— Module 1 real-world walkthrough — same data, different perception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PRE-ATTENTIVE DEMO</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Same ranking: colour (hard) vs position (easy)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29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notebooks/m1_perception.ipynb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latest = (df[df.month == df.month.max()]</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.groupby("region", as_index=False)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["digital_adoption_pct"].mean())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fig, axes = plt.subplots(1, 2, figsize=(12, 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LEFT — colour saturation (rank 7): ranking is slow.</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axes[0].scatter(range(len(latest)), np.ones(len(latest)),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c=latest["digital_adoption_pct"], cmap="Blues", s=600)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axes[0].set_title("Encoded as colour - rank the regions")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axes[0].axis("off")</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RIGHT — position on common scale (rank 1): instant.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 = latest.sort_values("digital_adoption_pct")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axes[1].barh(s["region"], s["digital_adoption_pct"])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axes[1].set_title("Encoded as position - ranking easy")</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axes[1].set_xlabel("Digital adoption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plt.tight_layout()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plt.savefig("out/m1_encoding_contrast.png", dpi=150)</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The right panel lets the room rank all regions pre-attentively.</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LIE FACTOR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Measure the distortion of a truncated axis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notebooks/m1_perception.ipynb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two = s[s["region"].isin(</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[worst, s.iloc[-1]["region"]])].reset_index(drop=True)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 b = two["digital_adoption_pct"]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data_ratio = b / a          # true ratio in the data</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plt.subplots(1, 2, figsize=(10, 4))</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ax[0].bar(two["region"], two["digital_adoption_pct"])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ax[0].set_ylim(0, 100)</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ax[0].set_title("Honest: baseline at 0")</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ax[1].bar(two["region"], two["digital_adoption_pct"])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ax[1].set_ylim(55, 75)</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ax[1].set_title("Distorted: truncated baseline")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7F9CC4"/>
                </a:solidFill>
                <a:latin typeface="Courier New" pitchFamily="34" charset="0"/>
                <a:ea typeface="Courier New" pitchFamily="34" charset="-122"/>
                <a:cs typeface="Courier New" pitchFamily="34" charset="-120"/>
              </a:rPr>
              <a:t># Visual ratio above the clipped baseline: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vis_ratio = (b - 55) / (a - 55)</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print(f"data={data_ratio:.2f} "</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f"lie factor={vis_ratio / data_ratio:.1f}x")</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The truncated panel balloons the gap while the data is unchanged.</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1 — Perception Audit and Five Encodings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تدقيق الإدراك</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31</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Encode one Tayseer metric five ways, rank the encodings by decoding accuracy for a stated task, and audit a supplied 'bad' dashboard.</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Python 3.12, Jupyter, pandas/matplotlib/seaborn; tayseer_services.csv and bad_dashboard_m1.png provided; open lab1_start.ipynb.</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Load the CSV; compute latest-month digital_adoption_pct by region. State the task in one sentence.</a:t>
            </a:r>
            <a:endParaRPr lang="en-US" sz="1100" dirty="0"/>
          </a:p>
        </p:txBody>
      </p:sp>
      <p:sp>
        <p:nvSpPr>
          <p:cNvPr id="23" name="Shape 20"/>
          <p:cNvSpPr/>
          <p:nvPr/>
        </p:nvSpPr>
        <p:spPr>
          <a:xfrm>
            <a:off x="548640" y="4415028"/>
            <a:ext cx="292608" cy="292608"/>
          </a:xfrm>
          <a:prstGeom prst="ellipse">
            <a:avLst/>
          </a:prstGeom>
          <a:solidFill>
            <a:srgbClr val="00A79D"/>
          </a:solidFill>
          <a:ln/>
        </p:spPr>
      </p:sp>
      <p:sp>
        <p:nvSpPr>
          <p:cNvPr id="24" name="Text 21"/>
          <p:cNvSpPr/>
          <p:nvPr/>
        </p:nvSpPr>
        <p:spPr>
          <a:xfrm>
            <a:off x="548640" y="441502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9674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Encode the series five ways: sorted bar, unsorted bar, pie, bubble/area, single-row heatmap. Save all five.</a:t>
            </a:r>
            <a:endParaRPr lang="en-US" sz="1100" dirty="0"/>
          </a:p>
        </p:txBody>
      </p:sp>
      <p:sp>
        <p:nvSpPr>
          <p:cNvPr id="26" name="Shape 23"/>
          <p:cNvSpPr/>
          <p:nvPr/>
        </p:nvSpPr>
        <p:spPr>
          <a:xfrm>
            <a:off x="548640" y="4742688"/>
            <a:ext cx="292608" cy="292608"/>
          </a:xfrm>
          <a:prstGeom prst="ellipse">
            <a:avLst/>
          </a:prstGeom>
          <a:solidFill>
            <a:srgbClr val="E8833A"/>
          </a:solidFill>
          <a:ln/>
        </p:spPr>
      </p:sp>
      <p:sp>
        <p:nvSpPr>
          <p:cNvPr id="27" name="Text 24"/>
          <p:cNvSpPr/>
          <p:nvPr/>
        </p:nvSpPr>
        <p:spPr>
          <a:xfrm>
            <a:off x="548640" y="474268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72440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Rank your five charts best-to-worst for the task; justify each with the Cleveland–McGill hierarchy.</a:t>
            </a:r>
            <a:endParaRPr lang="en-US" sz="1100" dirty="0"/>
          </a:p>
        </p:txBody>
      </p:sp>
      <p:sp>
        <p:nvSpPr>
          <p:cNvPr id="29" name="Shape 26"/>
          <p:cNvSpPr/>
          <p:nvPr/>
        </p:nvSpPr>
        <p:spPr>
          <a:xfrm>
            <a:off x="548640" y="5070348"/>
            <a:ext cx="292608" cy="292608"/>
          </a:xfrm>
          <a:prstGeom prst="ellipse">
            <a:avLst/>
          </a:prstGeom>
          <a:solidFill>
            <a:srgbClr val="6C4FA1"/>
          </a:solidFill>
          <a:ln/>
        </p:spPr>
      </p:sp>
      <p:sp>
        <p:nvSpPr>
          <p:cNvPr id="30" name="Text 27"/>
          <p:cNvSpPr/>
          <p:nvPr/>
        </p:nvSpPr>
        <p:spPr>
          <a:xfrm>
            <a:off x="548640" y="507034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505206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Audit bad_dashboard_m1.png: list every wasted pre-attentive channel and every under-encoded signal.</a:t>
            </a:r>
            <a:endParaRPr lang="en-US" sz="1100" dirty="0"/>
          </a:p>
        </p:txBody>
      </p:sp>
      <p:sp>
        <p:nvSpPr>
          <p:cNvPr id="32" name="Shape 29"/>
          <p:cNvSpPr/>
          <p:nvPr/>
        </p:nvSpPr>
        <p:spPr>
          <a:xfrm>
            <a:off x="548640" y="5398008"/>
            <a:ext cx="292608" cy="292608"/>
          </a:xfrm>
          <a:prstGeom prst="ellipse">
            <a:avLst/>
          </a:prstGeom>
          <a:solidFill>
            <a:srgbClr val="3FAE5A"/>
          </a:solidFill>
          <a:ln/>
        </p:spPr>
      </p:sp>
      <p:sp>
        <p:nvSpPr>
          <p:cNvPr id="33" name="Text 30"/>
          <p:cNvSpPr/>
          <p:nvPr/>
        </p:nvSpPr>
        <p:spPr>
          <a:xfrm>
            <a:off x="548640" y="539800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37972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Produce one corrected chart that spends exactly one pre-attentive pop on the real message.</a:t>
            </a:r>
            <a:endParaRPr lang="en-US" sz="1100" dirty="0"/>
          </a:p>
        </p:txBody>
      </p:sp>
      <p:sp>
        <p:nvSpPr>
          <p:cNvPr id="35" name="Shape 32"/>
          <p:cNvSpPr/>
          <p:nvPr/>
        </p:nvSpPr>
        <p:spPr>
          <a:xfrm>
            <a:off x="548640" y="5725668"/>
            <a:ext cx="292608" cy="292608"/>
          </a:xfrm>
          <a:prstGeom prst="ellipse">
            <a:avLst/>
          </a:prstGeom>
          <a:solidFill>
            <a:srgbClr val="29ABE2"/>
          </a:solidFill>
          <a:ln/>
        </p:spPr>
      </p:sp>
      <p:sp>
        <p:nvSpPr>
          <p:cNvPr id="36" name="Text 33"/>
          <p:cNvSpPr/>
          <p:nvPr/>
        </p:nvSpPr>
        <p:spPr>
          <a:xfrm>
            <a:off x="548640" y="57256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70738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Commit / save the notebook as lab1_solution.ipynb.</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32</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Rank by decoding accuracy for exact values: area, position, angle, length.</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Position &gt; length &gt; angle &gt; area.</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Which processing stage finds one red dot among grey instantly?</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Pre-attentive processing.</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May a line chart truncate its Y axis? A bar chart?</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Line yes (encodes slope/position); bar no (encodes length from zero).</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Why is a 3D bar chart never acceptable in analytics?</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Perspective/volume distortion changes apparent value with angle; depth encodes nothing.</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A task needs only 'hot vs cold across a 13×6 matrix.' Is a heatmap legitimate?</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Yes — exact decoding is not the task; saturation conveys pattern.</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Case Study — The Misread Quarterly Review</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مراجعة ربع سنوية مضللة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33</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Tayseer office presents quarterly to a Deputy-Minister-chaired committee. A 3D exploded pie and a dual-axis satisfaction-vs-cost line led it to misjudge branch usage and infer a false cost→satisfaction link, nearly approving a budget rise for the wrong reason.</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A Vision 2030 flagship whose budget re-allocations move tens of millions of riyals and are audited. A chart that misleads the committee is a governance and public-money issue, not a cosmetic one.</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Diagnose why each chart misled — perceptually, not stylistically — and specify honest replacements a non-technical committee reads correctly in seconds.</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Name each perceptual failure via the accuracy hierarchy; replace the pie with a sorted bar and the dual axis with two indexed lines (base = 100); move the message into the title; verify with a 5-second comprehension test.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to reach after Module 1</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34</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4937760"/>
                <a:gridCol w="2743200"/>
                <a:gridCol w="338328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Rank top-3 laggard regions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&lt; 5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Stopwatch peer test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Encoding-accuracy quiz score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 4/5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Quiz</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Wasted pre-attentive channels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Instructor audit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Lie factor of final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 (±0.05)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Computed in notebook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Axis-truncation rule applied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Example benchmark table filled during the lab</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35</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291840"/>
                <a:gridCol w="2194560"/>
                <a:gridCol w="1463040"/>
                <a:gridCol w="1920240"/>
                <a:gridCol w="219456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Task-match</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Rank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5-sec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3D exploded pie (original)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poor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fail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reject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Sorted horizontal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excellent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Single-row heatmap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pattern-only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support 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4005072"/>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Same data, three encodings — task-match and decode rank decide the verdict.</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36</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Encoding-accuracy staircase (course anchor)</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Pre-attentive attributes grid (A4 poster)</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Lie-factor before/after split panel</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Task-to-channel decision strip</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'Find the 3' demo — plain vs highlighted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m1_encoding_contrast.png output</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bad_dashboard_m1.png (audit target)</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m1_attention_pop.png (single honest pop)</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(~28k rows × 12 cols)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bad_dashboard_m1.png (over-decorated)</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data_dictionary.md (columns &amp; seasonality)</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02</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2</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Chart Selection and Design Principles</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اختيار الرسوم ومبادئ التصميم</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Turn perception into a repeatable decision: pick the chart the question requires, then let data carry the meaning.</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From decoration to argument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من الزخرفة إلى الحجة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38</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Module 1 established how the eye decodes marks; this module turns that into a repeatable decision procedure — from 'what chart looks nice?' to 'what chart does this comparison require?'.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Question, not taste: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Chart choice is a function of the analytical question, moderated by the data shape.</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Decision over gallery: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Teach a two-step lookup, not a gallery of pretty chart pictures to browse.</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Not decoration: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shift is from styling a chart to making the data carry the argument.</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Principles help: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Five design principles make any chart readable once the type is chosen.</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right chart in ten seconds is a trust signal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39</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Analysts waste enormous time re-styling the wrong chart. Choosing right fast keeps analysis at the pace of decisions — and in a national program it is a trust signal.</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Ship at pace: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Choose the right chart in ten seconds and keep up with the decisions it feeds.</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Trust signal: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committee that sees the right chart per question learns to trust the analyst.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Default pies erode it: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wall of default Excel pies teaches the committee to discount the analysis.</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Less re-styling: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Knowing the type up front removes hours lost re-styling the wrong chart.</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the right chart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40</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Plan</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Demand planning</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Forecast vs actual over 24 months reads as a line chart with a clear reference band — never clustered bars.</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Retail</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Conversion across 40 stores</a:t>
            </a:r>
            <a:endParaRPr lang="en-US" sz="1300" dirty="0"/>
          </a:p>
        </p:txBody>
      </p:sp>
      <p:sp>
        <p:nvSpPr>
          <p:cNvPr id="25" name="Text 22"/>
          <p:cNvSpPr/>
          <p:nvPr/>
        </p:nvSpPr>
        <p:spPr>
          <a:xfrm>
            <a:off x="4521098" y="3200400"/>
            <a:ext cx="3149498" cy="768096"/>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sorted dot plot ranks 40 stores at a glance; a 40-slice pie or rainbow bar hides the ranking.</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Clinic wait-time spread</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box or strip plot reveals spread and outliers; a single average bar hides the very thing that matters.</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41</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algn="ctr" indent="0" marL="0">
              <a:buNone/>
            </a:pPr>
            <a:r>
              <a:rPr lang="en-US" sz="4400" b="1" dirty="0">
                <a:solidFill>
                  <a:srgbClr val="2E5AAC"/>
                </a:solidFill>
                <a:latin typeface="Arial" pitchFamily="34" charset="0"/>
                <a:ea typeface="Arial" pitchFamily="34" charset="-122"/>
                <a:cs typeface="Arial" pitchFamily="34" charset="-120"/>
              </a:rPr>
              <a:t>6</a:t>
            </a:r>
            <a:endParaRPr lang="en-US" sz="4400" dirty="0"/>
          </a:p>
        </p:txBody>
      </p:sp>
      <p:sp>
        <p:nvSpPr>
          <p:cNvPr id="16" name="Text 13"/>
          <p:cNvSpPr/>
          <p:nvPr/>
        </p:nvSpPr>
        <p:spPr>
          <a:xfrm>
            <a:off x="658368"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Question types</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Map any analytical question to its correct chart family</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algn="ctr" indent="0" marL="0">
              <a:buNone/>
            </a:pPr>
            <a:r>
              <a:rPr lang="en-US" sz="4400" b="1" dirty="0">
                <a:solidFill>
                  <a:srgbClr val="00A79D"/>
                </a:solidFill>
                <a:latin typeface="Arial" pitchFamily="34" charset="0"/>
                <a:ea typeface="Arial" pitchFamily="34" charset="-122"/>
                <a:cs typeface="Arial" pitchFamily="34" charset="-120"/>
              </a:rPr>
              <a:t>5</a:t>
            </a:r>
            <a:endParaRPr lang="en-US" sz="4400" dirty="0"/>
          </a:p>
        </p:txBody>
      </p:sp>
      <p:sp>
        <p:nvSpPr>
          <p:cNvPr id="20" name="Text 17"/>
          <p:cNvSpPr/>
          <p:nvPr/>
        </p:nvSpPr>
        <p:spPr>
          <a:xfrm>
            <a:off x="3500552"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Design principles</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Baseline, sort, direct label, reference, small multiples</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algn="ctr" indent="0" marL="0">
              <a:buNone/>
            </a:pPr>
            <a:r>
              <a:rPr lang="en-US" sz="4400" b="1" dirty="0">
                <a:solidFill>
                  <a:srgbClr val="E8833A"/>
                </a:solidFill>
                <a:latin typeface="Arial" pitchFamily="34" charset="0"/>
                <a:ea typeface="Arial" pitchFamily="34" charset="-122"/>
                <a:cs typeface="Arial" pitchFamily="34" charset="-120"/>
              </a:rPr>
              <a:t>0</a:t>
            </a:r>
            <a:endParaRPr lang="en-US" sz="4400" dirty="0"/>
          </a:p>
        </p:txBody>
      </p:sp>
      <p:sp>
        <p:nvSpPr>
          <p:cNvPr id="24" name="Text 21"/>
          <p:cNvSpPr/>
          <p:nvPr/>
        </p:nvSpPr>
        <p:spPr>
          <a:xfrm>
            <a:off x="6342736"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Anti-patterns</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Recognise and avoid the classic chart-selection traps</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algn="ctr" indent="0" marL="0">
              <a:buNone/>
            </a:pPr>
            <a:r>
              <a:rPr lang="en-US" sz="4400" b="1" dirty="0">
                <a:solidFill>
                  <a:srgbClr val="6C4FA1"/>
                </a:solidFill>
                <a:latin typeface="Arial" pitchFamily="34" charset="0"/>
                <a:ea typeface="Arial" pitchFamily="34" charset="-122"/>
                <a:cs typeface="Arial" pitchFamily="34" charset="-120"/>
              </a:rPr>
              <a:t>4/4</a:t>
            </a:r>
            <a:endParaRPr lang="en-US" sz="4400" dirty="0"/>
          </a:p>
        </p:txBody>
      </p:sp>
      <p:sp>
        <p:nvSpPr>
          <p:cNvPr id="28" name="Text 25"/>
          <p:cNvSpPr/>
          <p:nvPr/>
        </p:nvSpPr>
        <p:spPr>
          <a:xfrm>
            <a:off x="9184919"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Built honestly</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Construct the chosen chart correctly in matplotlib/Plotly</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These are the module's measurable exit criteria — tie each back at the close.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42</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Map an analytical question to the correct chart family</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Apply the five core design principles to any chart</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Use small multiples to compare across a dimension without clutter</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Avoid anti-patterns: clustered bars, spaghetti lines, dual axes</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Build the selected chart correctly and honestly in code</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LO1, LO2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SELECTION PROCEDURE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Chart choice is a two-step lookup, not a gallery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Chart choice is a function of the question, moderated by the data shape. Teach it as a two-step lookup.</a:t>
            </a:r>
            <a:endParaRPr lang="en-US" sz="1250" dirty="0"/>
          </a:p>
        </p:txBody>
      </p:sp>
      <p:sp>
        <p:nvSpPr>
          <p:cNvPr id="15" name="Shape 12"/>
          <p:cNvSpPr/>
          <p:nvPr/>
        </p:nvSpPr>
        <p:spPr>
          <a:xfrm>
            <a:off x="548640" y="2615184"/>
            <a:ext cx="3490874" cy="2926080"/>
          </a:xfrm>
          <a:prstGeom prst="roundRect">
            <a:avLst>
              <a:gd name="adj" fmla="val 3125"/>
            </a:avLst>
          </a:prstGeom>
          <a:solidFill>
            <a:srgbClr val="EAF0FA"/>
          </a:solidFill>
          <a:ln w="15875">
            <a:solidFill>
              <a:srgbClr val="2E5AAC"/>
            </a:solidFill>
            <a:prstDash val="solid"/>
          </a:ln>
        </p:spPr>
      </p:sp>
      <p:sp>
        <p:nvSpPr>
          <p:cNvPr id="16" name="Shape 13"/>
          <p:cNvSpPr/>
          <p:nvPr/>
        </p:nvSpPr>
        <p:spPr>
          <a:xfrm>
            <a:off x="2038045" y="2816352"/>
            <a:ext cx="512064" cy="512064"/>
          </a:xfrm>
          <a:prstGeom prst="ellipse">
            <a:avLst/>
          </a:prstGeom>
          <a:solidFill>
            <a:srgbClr val="2E5AAC"/>
          </a:solidFill>
          <a:ln/>
        </p:spPr>
      </p:sp>
      <p:sp>
        <p:nvSpPr>
          <p:cNvPr id="17" name="Text 14"/>
          <p:cNvSpPr/>
          <p:nvPr/>
        </p:nvSpPr>
        <p:spPr>
          <a:xfrm>
            <a:off x="2038045"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Name the question</a:t>
            </a:r>
            <a:endParaRPr lang="en-US" sz="1300" dirty="0"/>
          </a:p>
        </p:txBody>
      </p:sp>
      <p:sp>
        <p:nvSpPr>
          <p:cNvPr id="19" name="Text 16"/>
          <p:cNvSpPr/>
          <p:nvPr/>
        </p:nvSpPr>
        <p:spPr>
          <a:xfrm>
            <a:off x="676656" y="398678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Comparison, trend over time, distribution, relationship, part-to-whole, or geospatial.</a:t>
            </a:r>
            <a:endParaRPr lang="en-US" sz="1050" dirty="0"/>
          </a:p>
        </p:txBody>
      </p:sp>
      <p:sp>
        <p:nvSpPr>
          <p:cNvPr id="20" name="Text 17"/>
          <p:cNvSpPr/>
          <p:nvPr/>
        </p:nvSpPr>
        <p:spPr>
          <a:xfrm>
            <a:off x="4057802"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4350410" y="2615184"/>
            <a:ext cx="3490874" cy="2926080"/>
          </a:xfrm>
          <a:prstGeom prst="roundRect">
            <a:avLst>
              <a:gd name="adj" fmla="val 3125"/>
            </a:avLst>
          </a:prstGeom>
          <a:solidFill>
            <a:srgbClr val="E6F5F4"/>
          </a:solidFill>
          <a:ln w="15875">
            <a:solidFill>
              <a:srgbClr val="00A79D"/>
            </a:solidFill>
            <a:prstDash val="solid"/>
          </a:ln>
        </p:spPr>
      </p:sp>
      <p:sp>
        <p:nvSpPr>
          <p:cNvPr id="22" name="Shape 19"/>
          <p:cNvSpPr/>
          <p:nvPr/>
        </p:nvSpPr>
        <p:spPr>
          <a:xfrm>
            <a:off x="5839816" y="2816352"/>
            <a:ext cx="512064" cy="512064"/>
          </a:xfrm>
          <a:prstGeom prst="ellipse">
            <a:avLst/>
          </a:prstGeom>
          <a:solidFill>
            <a:srgbClr val="00A79D"/>
          </a:solidFill>
          <a:ln/>
        </p:spPr>
      </p:sp>
      <p:sp>
        <p:nvSpPr>
          <p:cNvPr id="23" name="Text 20"/>
          <p:cNvSpPr/>
          <p:nvPr/>
        </p:nvSpPr>
        <p:spPr>
          <a:xfrm>
            <a:off x="5839816"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4460138" y="345643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Apply the data shape</a:t>
            </a:r>
            <a:endParaRPr lang="en-US" sz="1300" dirty="0"/>
          </a:p>
        </p:txBody>
      </p:sp>
      <p:sp>
        <p:nvSpPr>
          <p:cNvPr id="25" name="Text 22"/>
          <p:cNvSpPr/>
          <p:nvPr/>
        </p:nvSpPr>
        <p:spPr>
          <a:xfrm>
            <a:off x="4478426" y="398678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How many categories, series, and points? This picks the chart within the family.</a:t>
            </a:r>
            <a:endParaRPr lang="en-US" sz="1050" dirty="0"/>
          </a:p>
        </p:txBody>
      </p:sp>
      <p:sp>
        <p:nvSpPr>
          <p:cNvPr id="26" name="Text 23"/>
          <p:cNvSpPr/>
          <p:nvPr/>
        </p:nvSpPr>
        <p:spPr>
          <a:xfrm>
            <a:off x="7859573"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8152181" y="2615184"/>
            <a:ext cx="3490874" cy="2926080"/>
          </a:xfrm>
          <a:prstGeom prst="roundRect">
            <a:avLst>
              <a:gd name="adj" fmla="val 3125"/>
            </a:avLst>
          </a:prstGeom>
          <a:solidFill>
            <a:srgbClr val="FCF0E6"/>
          </a:solidFill>
          <a:ln w="15875">
            <a:solidFill>
              <a:srgbClr val="E8833A"/>
            </a:solidFill>
            <a:prstDash val="solid"/>
          </a:ln>
        </p:spPr>
      </p:sp>
      <p:sp>
        <p:nvSpPr>
          <p:cNvPr id="28" name="Shape 25"/>
          <p:cNvSpPr/>
          <p:nvPr/>
        </p:nvSpPr>
        <p:spPr>
          <a:xfrm>
            <a:off x="9641586" y="2816352"/>
            <a:ext cx="512064" cy="512064"/>
          </a:xfrm>
          <a:prstGeom prst="ellipse">
            <a:avLst/>
          </a:prstGeom>
          <a:solidFill>
            <a:srgbClr val="E8833A"/>
          </a:solidFill>
          <a:ln/>
        </p:spPr>
      </p:sp>
      <p:sp>
        <p:nvSpPr>
          <p:cNvPr id="29" name="Text 26"/>
          <p:cNvSpPr/>
          <p:nvPr/>
        </p:nvSpPr>
        <p:spPr>
          <a:xfrm>
            <a:off x="9641586"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8261909" y="345643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'Too many' is a signal</a:t>
            </a:r>
            <a:endParaRPr lang="en-US" sz="1300" dirty="0"/>
          </a:p>
        </p:txBody>
      </p:sp>
      <p:sp>
        <p:nvSpPr>
          <p:cNvPr id="31" name="Text 28"/>
          <p:cNvSpPr/>
          <p:nvPr/>
        </p:nvSpPr>
        <p:spPr>
          <a:xfrm>
            <a:off x="8280197" y="398678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40 categories or 13 series is a design signal — small multiples or highlight-one, never a denser chart.</a:t>
            </a:r>
            <a:endParaRPr lang="en-US" sz="1050" dirty="0"/>
          </a:p>
        </p:txBody>
      </p:sp>
      <p:sp>
        <p:nvSpPr>
          <p:cNvPr id="32" name="Text 29"/>
          <p:cNvSpPr/>
          <p:nvPr/>
        </p:nvSpPr>
        <p:spPr>
          <a:xfrm>
            <a:off x="548640" y="565099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"Too many" is a design signal, not a licence to cram more into one chart.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QUESTION -&gt; CHART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Question type picks the chart; data shape refines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44</a:t>
            </a:r>
            <a:endParaRPr lang="en-US" sz="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017520"/>
                <a:gridCol w="2743200"/>
                <a:gridCol w="2743200"/>
                <a:gridCol w="256032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Question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Default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If many categories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If many series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Comparison (ranking)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Sorted bar / dot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Dot plot (compact)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Small multiples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Trend over time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Line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Small multiples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Highlight one, grey rest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Distribution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Histogram /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Violin / strip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Ridgeline / faceted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Relationship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Scatter +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Faceted 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Part-to-whole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 stacked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Treemap (careful)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Small-multiple stacks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Geospatial how-much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Sorted bar first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Bar + supporting 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
        <p:nvSpPr>
          <p:cNvPr id="15" name="Text 11"/>
          <p:cNvSpPr/>
          <p:nvPr/>
        </p:nvSpPr>
        <p:spPr>
          <a:xfrm>
            <a:off x="548640" y="5431536"/>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Tayseer's 13 overlapping regional lines resolve to small multiples or highlight-one.</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DESIGN PRINCIPLES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five core design principles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Every chart in this course obeys five principles — the design equivalent of Module 1's encoding rules.</a:t>
            </a:r>
            <a:endParaRPr lang="en-US" sz="1250" dirty="0"/>
          </a:p>
        </p:txBody>
      </p:sp>
      <p:sp>
        <p:nvSpPr>
          <p:cNvPr id="15" name="Shape 12"/>
          <p:cNvSpPr/>
          <p:nvPr/>
        </p:nvSpPr>
        <p:spPr>
          <a:xfrm>
            <a:off x="548640" y="2542032"/>
            <a:ext cx="11094415" cy="596189"/>
          </a:xfrm>
          <a:prstGeom prst="roundRect">
            <a:avLst>
              <a:gd name="adj" fmla="val 10736"/>
            </a:avLst>
          </a:prstGeom>
          <a:solidFill>
            <a:srgbClr val="EAF0FA"/>
          </a:solidFill>
          <a:ln w="15240">
            <a:solidFill>
              <a:srgbClr val="2E5AAC"/>
            </a:solidFill>
            <a:prstDash val="solid"/>
          </a:ln>
        </p:spPr>
      </p:sp>
      <p:sp>
        <p:nvSpPr>
          <p:cNvPr id="16" name="Shape 13"/>
          <p:cNvSpPr/>
          <p:nvPr/>
        </p:nvSpPr>
        <p:spPr>
          <a:xfrm>
            <a:off x="694944" y="2657246"/>
            <a:ext cx="365760" cy="365760"/>
          </a:xfrm>
          <a:prstGeom prst="ellipse">
            <a:avLst/>
          </a:prstGeom>
          <a:solidFill>
            <a:srgbClr val="2E5AAC"/>
          </a:solidFill>
          <a:ln/>
        </p:spPr>
      </p:sp>
      <p:sp>
        <p:nvSpPr>
          <p:cNvPr id="17" name="Text 14"/>
          <p:cNvSpPr/>
          <p:nvPr/>
        </p:nvSpPr>
        <p:spPr>
          <a:xfrm>
            <a:off x="694944" y="265724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596189"/>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Honest baseline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Bars start at zero; to show small gaps use a dot plot or line, never truncate a bar.</a:t>
            </a:r>
            <a:endParaRPr lang="en-US" sz="1300" dirty="0"/>
          </a:p>
        </p:txBody>
      </p:sp>
      <p:sp>
        <p:nvSpPr>
          <p:cNvPr id="19" name="Shape 16"/>
          <p:cNvSpPr/>
          <p:nvPr/>
        </p:nvSpPr>
        <p:spPr>
          <a:xfrm>
            <a:off x="548640" y="3266237"/>
            <a:ext cx="11094415" cy="596189"/>
          </a:xfrm>
          <a:prstGeom prst="roundRect">
            <a:avLst>
              <a:gd name="adj" fmla="val 10736"/>
            </a:avLst>
          </a:prstGeom>
          <a:solidFill>
            <a:srgbClr val="E6F5F4"/>
          </a:solidFill>
          <a:ln w="15240">
            <a:solidFill>
              <a:srgbClr val="00A79D"/>
            </a:solidFill>
            <a:prstDash val="solid"/>
          </a:ln>
        </p:spPr>
      </p:sp>
      <p:sp>
        <p:nvSpPr>
          <p:cNvPr id="20" name="Shape 17"/>
          <p:cNvSpPr/>
          <p:nvPr/>
        </p:nvSpPr>
        <p:spPr>
          <a:xfrm>
            <a:off x="694944" y="3381451"/>
            <a:ext cx="365760" cy="365760"/>
          </a:xfrm>
          <a:prstGeom prst="ellipse">
            <a:avLst/>
          </a:prstGeom>
          <a:solidFill>
            <a:srgbClr val="00A79D"/>
          </a:solidFill>
          <a:ln/>
        </p:spPr>
      </p:sp>
      <p:sp>
        <p:nvSpPr>
          <p:cNvPr id="21" name="Text 18"/>
          <p:cNvSpPr/>
          <p:nvPr/>
        </p:nvSpPr>
        <p:spPr>
          <a:xfrm>
            <a:off x="694944" y="3381451"/>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266237"/>
            <a:ext cx="10271455" cy="596189"/>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Sort by value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A sorted bar makes ranking free; sort unless the category has an inherent order.</a:t>
            </a:r>
            <a:endParaRPr lang="en-US" sz="1300" dirty="0"/>
          </a:p>
        </p:txBody>
      </p:sp>
      <p:sp>
        <p:nvSpPr>
          <p:cNvPr id="23" name="Shape 20"/>
          <p:cNvSpPr/>
          <p:nvPr/>
        </p:nvSpPr>
        <p:spPr>
          <a:xfrm>
            <a:off x="548640" y="3990442"/>
            <a:ext cx="11094415" cy="596189"/>
          </a:xfrm>
          <a:prstGeom prst="roundRect">
            <a:avLst>
              <a:gd name="adj" fmla="val 10736"/>
            </a:avLst>
          </a:prstGeom>
          <a:solidFill>
            <a:srgbClr val="FCF0E6"/>
          </a:solidFill>
          <a:ln w="15240">
            <a:solidFill>
              <a:srgbClr val="E8833A"/>
            </a:solidFill>
            <a:prstDash val="solid"/>
          </a:ln>
        </p:spPr>
      </p:sp>
      <p:sp>
        <p:nvSpPr>
          <p:cNvPr id="24" name="Shape 21"/>
          <p:cNvSpPr/>
          <p:nvPr/>
        </p:nvSpPr>
        <p:spPr>
          <a:xfrm>
            <a:off x="694944" y="4105656"/>
            <a:ext cx="365760" cy="365760"/>
          </a:xfrm>
          <a:prstGeom prst="ellipse">
            <a:avLst/>
          </a:prstGeom>
          <a:solidFill>
            <a:srgbClr val="E8833A"/>
          </a:solidFill>
          <a:ln/>
        </p:spPr>
      </p:sp>
      <p:sp>
        <p:nvSpPr>
          <p:cNvPr id="25" name="Text 22"/>
          <p:cNvSpPr/>
          <p:nvPr/>
        </p:nvSpPr>
        <p:spPr>
          <a:xfrm>
            <a:off x="694944" y="410565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990442"/>
            <a:ext cx="10271455" cy="596189"/>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Direct labelling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Put the series name at the end of its line and kill the legend's round trip.</a:t>
            </a:r>
            <a:endParaRPr lang="en-US" sz="1300" dirty="0"/>
          </a:p>
        </p:txBody>
      </p:sp>
      <p:sp>
        <p:nvSpPr>
          <p:cNvPr id="27" name="Shape 24"/>
          <p:cNvSpPr/>
          <p:nvPr/>
        </p:nvSpPr>
        <p:spPr>
          <a:xfrm>
            <a:off x="548640" y="4714646"/>
            <a:ext cx="11094415" cy="596189"/>
          </a:xfrm>
          <a:prstGeom prst="roundRect">
            <a:avLst>
              <a:gd name="adj" fmla="val 10736"/>
            </a:avLst>
          </a:prstGeom>
          <a:solidFill>
            <a:srgbClr val="EFEBF6"/>
          </a:solidFill>
          <a:ln w="15240">
            <a:solidFill>
              <a:srgbClr val="6C4FA1"/>
            </a:solidFill>
            <a:prstDash val="solid"/>
          </a:ln>
        </p:spPr>
      </p:sp>
      <p:sp>
        <p:nvSpPr>
          <p:cNvPr id="28" name="Shape 25"/>
          <p:cNvSpPr/>
          <p:nvPr/>
        </p:nvSpPr>
        <p:spPr>
          <a:xfrm>
            <a:off x="694944" y="4829861"/>
            <a:ext cx="365760" cy="365760"/>
          </a:xfrm>
          <a:prstGeom prst="ellipse">
            <a:avLst/>
          </a:prstGeom>
          <a:solidFill>
            <a:srgbClr val="6C4FA1"/>
          </a:solidFill>
          <a:ln/>
        </p:spPr>
      </p:sp>
      <p:sp>
        <p:nvSpPr>
          <p:cNvPr id="29" name="Text 26"/>
          <p:cNvSpPr/>
          <p:nvPr/>
        </p:nvSpPr>
        <p:spPr>
          <a:xfrm>
            <a:off x="694944" y="4829861"/>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714646"/>
            <a:ext cx="10271455" cy="596189"/>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Reference lines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A target or national mean turns a chart of numbers into a chart of judgements.</a:t>
            </a:r>
            <a:endParaRPr lang="en-US" sz="1300" dirty="0"/>
          </a:p>
        </p:txBody>
      </p:sp>
      <p:sp>
        <p:nvSpPr>
          <p:cNvPr id="31" name="Shape 28"/>
          <p:cNvSpPr/>
          <p:nvPr/>
        </p:nvSpPr>
        <p:spPr>
          <a:xfrm>
            <a:off x="548640" y="5438851"/>
            <a:ext cx="11094415" cy="596189"/>
          </a:xfrm>
          <a:prstGeom prst="roundRect">
            <a:avLst>
              <a:gd name="adj" fmla="val 10736"/>
            </a:avLst>
          </a:prstGeom>
          <a:solidFill>
            <a:srgbClr val="E9F5EC"/>
          </a:solidFill>
          <a:ln w="15240">
            <a:solidFill>
              <a:srgbClr val="3FAE5A"/>
            </a:solidFill>
            <a:prstDash val="solid"/>
          </a:ln>
        </p:spPr>
      </p:sp>
      <p:sp>
        <p:nvSpPr>
          <p:cNvPr id="32" name="Shape 29"/>
          <p:cNvSpPr/>
          <p:nvPr/>
        </p:nvSpPr>
        <p:spPr>
          <a:xfrm>
            <a:off x="694944" y="5554066"/>
            <a:ext cx="365760" cy="365760"/>
          </a:xfrm>
          <a:prstGeom prst="ellipse">
            <a:avLst/>
          </a:prstGeom>
          <a:solidFill>
            <a:srgbClr val="3FAE5A"/>
          </a:solidFill>
          <a:ln/>
        </p:spPr>
      </p:sp>
      <p:sp>
        <p:nvSpPr>
          <p:cNvPr id="33" name="Text 30"/>
          <p:cNvSpPr/>
          <p:nvPr/>
        </p:nvSpPr>
        <p:spPr>
          <a:xfrm>
            <a:off x="694944" y="555406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5438851"/>
            <a:ext cx="10271455" cy="596189"/>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Small multiples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Repeat a small chart across one dimension; the eye compares shapes on a grid.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SMALL MULTIPLES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Spaghetti lines vs small multiples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Same data, thirteen regions: one chart with all lines overlaid is unreadable; a grid of identical panels is instantly legible.</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13 overlapping lines (spaghetti)</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indent="0" marL="0">
              <a:lnSpc>
                <a:spcPct val="100000"/>
              </a:lnSpc>
              <a:buNone/>
            </a:pPr>
            <a:r>
              <a:rPr lang="en-US" sz="1100" b="1" dirty="0">
                <a:solidFill>
                  <a:srgbClr val="D9534F"/>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Tangled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Thirteen regional lines cross and occlude; no single line is followable.</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indent="0" marL="0">
              <a:lnSpc>
                <a:spcPct val="100000"/>
              </a:lnSpc>
              <a:buNone/>
            </a:pPr>
            <a:r>
              <a:rPr lang="en-US" sz="1100" b="1" dirty="0">
                <a:solidFill>
                  <a:srgbClr val="D9534F"/>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No ranking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The eye cannot rank regions or find the laggard.</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indent="0" marL="0">
              <a:lnSpc>
                <a:spcPct val="100000"/>
              </a:lnSpc>
              <a:buNone/>
            </a:pPr>
            <a:r>
              <a:rPr lang="en-US" sz="1100" b="1" dirty="0">
                <a:solidFill>
                  <a:srgbClr val="D9534F"/>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Colour overload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Thirteen hues exhaust the legend and the reader.</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13-panel small multiples</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Shared scales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One shared Y-axis makes every panel directly comparable.</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Sorted panels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Order panels by latest value so the grid itself encodes ranking.</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One highlight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A single reference colour — national mean or target — if one is needed.</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ANTI-PATTERNS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Anti-patterns to name and forbid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Name and forbid each explicitly; every one appears in a Lab 2 starter chart deliberately.</a:t>
            </a:r>
            <a:endParaRPr lang="en-US" sz="1250" dirty="0"/>
          </a:p>
        </p:txBody>
      </p:sp>
      <p:sp>
        <p:nvSpPr>
          <p:cNvPr id="15" name="Shape 12"/>
          <p:cNvSpPr/>
          <p:nvPr/>
        </p:nvSpPr>
        <p:spPr>
          <a:xfrm>
            <a:off x="548640" y="2569464"/>
            <a:ext cx="351525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Bars</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Clustered bars &gt; 2–3 series</a:t>
            </a:r>
            <a:endParaRPr lang="en-US" sz="1300" dirty="0"/>
          </a:p>
        </p:txBody>
      </p:sp>
      <p:sp>
        <p:nvSpPr>
          <p:cNvPr id="20" name="Text 17"/>
          <p:cNvSpPr/>
          <p:nvPr/>
        </p:nvSpPr>
        <p:spPr>
          <a:xfrm>
            <a:off x="731520" y="3703320"/>
            <a:ext cx="3149498" cy="370332"/>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eye cannot track a category across clusters. Use small multiples or a slope chart.</a:t>
            </a:r>
            <a:endParaRPr lang="en-US" sz="1050" dirty="0"/>
          </a:p>
        </p:txBody>
      </p:sp>
      <p:sp>
        <p:nvSpPr>
          <p:cNvPr id="21" name="Shape 18"/>
          <p:cNvSpPr/>
          <p:nvPr/>
        </p:nvSpPr>
        <p:spPr>
          <a:xfrm>
            <a:off x="4338218" y="2569464"/>
            <a:ext cx="3515258" cy="1613916"/>
          </a:xfrm>
          <a:prstGeom prst="roundRect">
            <a:avLst>
              <a:gd name="adj" fmla="val 4533"/>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Lines</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Spaghetti line charts</a:t>
            </a:r>
            <a:endParaRPr lang="en-US" sz="1300" dirty="0"/>
          </a:p>
        </p:txBody>
      </p:sp>
      <p:sp>
        <p:nvSpPr>
          <p:cNvPr id="26" name="Text 23"/>
          <p:cNvSpPr/>
          <p:nvPr/>
        </p:nvSpPr>
        <p:spPr>
          <a:xfrm>
            <a:off x="4521098" y="3502152"/>
            <a:ext cx="314949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More than five overlapping lines. Highlight one and grey the rest, or facet.</a:t>
            </a:r>
            <a:endParaRPr lang="en-US" sz="1050" dirty="0"/>
          </a:p>
        </p:txBody>
      </p:sp>
      <p:sp>
        <p:nvSpPr>
          <p:cNvPr id="27" name="Shape 24"/>
          <p:cNvSpPr/>
          <p:nvPr/>
        </p:nvSpPr>
        <p:spPr>
          <a:xfrm>
            <a:off x="8127797" y="2569464"/>
            <a:ext cx="351525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Axes</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Dual-axis charts</a:t>
            </a:r>
            <a:endParaRPr lang="en-US" sz="1300" dirty="0"/>
          </a:p>
        </p:txBody>
      </p:sp>
      <p:sp>
        <p:nvSpPr>
          <p:cNvPr id="32" name="Text 29"/>
          <p:cNvSpPr/>
          <p:nvPr/>
        </p:nvSpPr>
        <p:spPr>
          <a:xfrm>
            <a:off x="8310677" y="3502152"/>
            <a:ext cx="314949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Two Y-axes manufacture a crossing. Index both series to a common base of 100.</a:t>
            </a:r>
            <a:endParaRPr lang="en-US" sz="1050" dirty="0"/>
          </a:p>
        </p:txBody>
      </p:sp>
      <p:sp>
        <p:nvSpPr>
          <p:cNvPr id="33" name="Shape 30"/>
          <p:cNvSpPr/>
          <p:nvPr/>
        </p:nvSpPr>
        <p:spPr>
          <a:xfrm>
            <a:off x="548640" y="4421124"/>
            <a:ext cx="3515258" cy="1613916"/>
          </a:xfrm>
          <a:prstGeom prst="roundRect">
            <a:avLst>
              <a:gd name="adj" fmla="val 4533"/>
            </a:avLst>
          </a:prstGeom>
          <a:solidFill>
            <a:srgbClr val="FFFFFF"/>
          </a:solidFill>
          <a:ln w="12700">
            <a:solidFill>
              <a:srgbClr val="D9DEE8"/>
            </a:solidFill>
            <a:prstDash val="solid"/>
          </a:ln>
        </p:spPr>
      </p:sp>
      <p:sp>
        <p:nvSpPr>
          <p:cNvPr id="34" name="Shape 31"/>
          <p:cNvSpPr/>
          <p:nvPr/>
        </p:nvSpPr>
        <p:spPr>
          <a:xfrm>
            <a:off x="548640" y="4421124"/>
            <a:ext cx="3515258" cy="82296"/>
          </a:xfrm>
          <a:prstGeom prst="rect">
            <a:avLst/>
          </a:prstGeom>
          <a:solidFill>
            <a:srgbClr val="6C4FA1"/>
          </a:solidFill>
          <a:ln/>
        </p:spPr>
      </p:sp>
      <p:sp>
        <p:nvSpPr>
          <p:cNvPr id="35" name="Shape 32"/>
          <p:cNvSpPr/>
          <p:nvPr/>
        </p:nvSpPr>
        <p:spPr>
          <a:xfrm>
            <a:off x="731520" y="4604004"/>
            <a:ext cx="822960" cy="292608"/>
          </a:xfrm>
          <a:prstGeom prst="roundRect">
            <a:avLst>
              <a:gd name="adj" fmla="val 18750"/>
            </a:avLst>
          </a:prstGeom>
          <a:solidFill>
            <a:srgbClr val="EFEBF6"/>
          </a:solidFill>
          <a:ln/>
        </p:spPr>
      </p:sp>
      <p:sp>
        <p:nvSpPr>
          <p:cNvPr id="36" name="Text 33"/>
          <p:cNvSpPr/>
          <p:nvPr/>
        </p:nvSpPr>
        <p:spPr>
          <a:xfrm>
            <a:off x="731520" y="4604004"/>
            <a:ext cx="822960" cy="292608"/>
          </a:xfrm>
          <a:prstGeom prst="rect">
            <a:avLst/>
          </a:prstGeom>
          <a:noFill/>
          <a:ln/>
        </p:spPr>
        <p:txBody>
          <a:bodyPr wrap="square" rtlCol="0" anchor="ctr"/>
          <a:lstStyle/>
          <a:p>
            <a:pPr algn="ctr" indent="0" marL="0">
              <a:buNone/>
            </a:pPr>
            <a:r>
              <a:rPr lang="en-US" sz="1000" b="1" dirty="0">
                <a:solidFill>
                  <a:srgbClr val="6C4FA1"/>
                </a:solidFill>
                <a:latin typeface="Arial" pitchFamily="34" charset="0"/>
                <a:ea typeface="Arial" pitchFamily="34" charset="-122"/>
                <a:cs typeface="Arial" pitchFamily="34" charset="-120"/>
              </a:rPr>
              <a:t>Stack</a:t>
            </a:r>
            <a:endParaRPr lang="en-US" sz="1000" dirty="0"/>
          </a:p>
        </p:txBody>
      </p:sp>
      <p:sp>
        <p:nvSpPr>
          <p:cNvPr id="37" name="Text 34"/>
          <p:cNvSpPr/>
          <p:nvPr/>
        </p:nvSpPr>
        <p:spPr>
          <a:xfrm>
            <a:off x="731520" y="498805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Stacked bars to compare</a:t>
            </a:r>
            <a:endParaRPr lang="en-US" sz="1300" dirty="0"/>
          </a:p>
        </p:txBody>
      </p:sp>
      <p:sp>
        <p:nvSpPr>
          <p:cNvPr id="38" name="Text 35"/>
          <p:cNvSpPr/>
          <p:nvPr/>
        </p:nvSpPr>
        <p:spPr>
          <a:xfrm>
            <a:off x="731520" y="5353812"/>
            <a:ext cx="314949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Only the bottom segment sits on a baseline; middle segments float and cannot be compared.</a:t>
            </a:r>
            <a:endParaRPr lang="en-US" sz="1050" dirty="0"/>
          </a:p>
        </p:txBody>
      </p:sp>
      <p:sp>
        <p:nvSpPr>
          <p:cNvPr id="39" name="Shape 36"/>
          <p:cNvSpPr/>
          <p:nvPr/>
        </p:nvSpPr>
        <p:spPr>
          <a:xfrm>
            <a:off x="4338218" y="4421124"/>
            <a:ext cx="3515258" cy="1613916"/>
          </a:xfrm>
          <a:prstGeom prst="roundRect">
            <a:avLst>
              <a:gd name="adj" fmla="val 4533"/>
            </a:avLst>
          </a:prstGeom>
          <a:solidFill>
            <a:srgbClr val="FFFFFF"/>
          </a:solidFill>
          <a:ln w="12700">
            <a:solidFill>
              <a:srgbClr val="D9DEE8"/>
            </a:solidFill>
            <a:prstDash val="solid"/>
          </a:ln>
        </p:spPr>
      </p:sp>
      <p:sp>
        <p:nvSpPr>
          <p:cNvPr id="40" name="Shape 37"/>
          <p:cNvSpPr/>
          <p:nvPr/>
        </p:nvSpPr>
        <p:spPr>
          <a:xfrm>
            <a:off x="4338218" y="4421124"/>
            <a:ext cx="3515258" cy="82296"/>
          </a:xfrm>
          <a:prstGeom prst="rect">
            <a:avLst/>
          </a:prstGeom>
          <a:solidFill>
            <a:srgbClr val="3FAE5A"/>
          </a:solidFill>
          <a:ln/>
        </p:spPr>
      </p:sp>
      <p:sp>
        <p:nvSpPr>
          <p:cNvPr id="41" name="Shape 38"/>
          <p:cNvSpPr/>
          <p:nvPr/>
        </p:nvSpPr>
        <p:spPr>
          <a:xfrm>
            <a:off x="4521098" y="4604004"/>
            <a:ext cx="822960" cy="292608"/>
          </a:xfrm>
          <a:prstGeom prst="roundRect">
            <a:avLst>
              <a:gd name="adj" fmla="val 18750"/>
            </a:avLst>
          </a:prstGeom>
          <a:solidFill>
            <a:srgbClr val="E9F5EC"/>
          </a:solidFill>
          <a:ln/>
        </p:spPr>
      </p:sp>
      <p:sp>
        <p:nvSpPr>
          <p:cNvPr id="42" name="Text 39"/>
          <p:cNvSpPr/>
          <p:nvPr/>
        </p:nvSpPr>
        <p:spPr>
          <a:xfrm>
            <a:off x="4521098" y="4604004"/>
            <a:ext cx="822960" cy="292608"/>
          </a:xfrm>
          <a:prstGeom prst="rect">
            <a:avLst/>
          </a:prstGeom>
          <a:noFill/>
          <a:ln/>
        </p:spPr>
        <p:txBody>
          <a:bodyPr wrap="square" rtlCol="0" anchor="ctr"/>
          <a:lstStyle/>
          <a:p>
            <a:pPr algn="ctr" indent="0" marL="0">
              <a:buNone/>
            </a:pPr>
            <a:r>
              <a:rPr lang="en-US" sz="1000" b="1" dirty="0">
                <a:solidFill>
                  <a:srgbClr val="3FAE5A"/>
                </a:solidFill>
                <a:latin typeface="Arial" pitchFamily="34" charset="0"/>
                <a:ea typeface="Arial" pitchFamily="34" charset="-122"/>
                <a:cs typeface="Arial" pitchFamily="34" charset="-120"/>
              </a:rPr>
              <a:t>Pie</a:t>
            </a:r>
            <a:endParaRPr lang="en-US" sz="1000" dirty="0"/>
          </a:p>
        </p:txBody>
      </p:sp>
      <p:sp>
        <p:nvSpPr>
          <p:cNvPr id="43" name="Text 40"/>
          <p:cNvSpPr/>
          <p:nvPr/>
        </p:nvSpPr>
        <p:spPr>
          <a:xfrm>
            <a:off x="4521098" y="498805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Pie beyond half-vs-rest</a:t>
            </a:r>
            <a:endParaRPr lang="en-US" sz="1300" dirty="0"/>
          </a:p>
        </p:txBody>
      </p:sp>
      <p:sp>
        <p:nvSpPr>
          <p:cNvPr id="44" name="Text 41"/>
          <p:cNvSpPr/>
          <p:nvPr/>
        </p:nvSpPr>
        <p:spPr>
          <a:xfrm>
            <a:off x="4521098" y="5353812"/>
            <a:ext cx="314949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Fine only for a single half-versus-rest split; anything more needs a sorted bar.</a:t>
            </a:r>
            <a:endParaRPr lang="en-US" sz="1050" dirty="0"/>
          </a:p>
        </p:txBody>
      </p:sp>
      <p:sp>
        <p:nvSpPr>
          <p:cNvPr id="45" name="Shape 42"/>
          <p:cNvSpPr/>
          <p:nvPr/>
        </p:nvSpPr>
        <p:spPr>
          <a:xfrm>
            <a:off x="8127797" y="4421124"/>
            <a:ext cx="3515258" cy="1613916"/>
          </a:xfrm>
          <a:prstGeom prst="roundRect">
            <a:avLst>
              <a:gd name="adj" fmla="val 4533"/>
            </a:avLst>
          </a:prstGeom>
          <a:solidFill>
            <a:srgbClr val="FFFFFF"/>
          </a:solidFill>
          <a:ln w="12700">
            <a:solidFill>
              <a:srgbClr val="D9DEE8"/>
            </a:solidFill>
            <a:prstDash val="solid"/>
          </a:ln>
        </p:spPr>
      </p:sp>
      <p:sp>
        <p:nvSpPr>
          <p:cNvPr id="46" name="Shape 43"/>
          <p:cNvSpPr/>
          <p:nvPr/>
        </p:nvSpPr>
        <p:spPr>
          <a:xfrm>
            <a:off x="8127797" y="4421124"/>
            <a:ext cx="3515258" cy="82296"/>
          </a:xfrm>
          <a:prstGeom prst="rect">
            <a:avLst/>
          </a:prstGeom>
          <a:solidFill>
            <a:srgbClr val="29ABE2"/>
          </a:solidFill>
          <a:ln/>
        </p:spPr>
      </p:sp>
      <p:sp>
        <p:nvSpPr>
          <p:cNvPr id="47" name="Shape 44"/>
          <p:cNvSpPr/>
          <p:nvPr/>
        </p:nvSpPr>
        <p:spPr>
          <a:xfrm>
            <a:off x="8310677" y="4604004"/>
            <a:ext cx="822960" cy="292608"/>
          </a:xfrm>
          <a:prstGeom prst="roundRect">
            <a:avLst>
              <a:gd name="adj" fmla="val 18750"/>
            </a:avLst>
          </a:prstGeom>
          <a:solidFill>
            <a:srgbClr val="E7F5FC"/>
          </a:solidFill>
          <a:ln/>
        </p:spPr>
      </p:sp>
      <p:sp>
        <p:nvSpPr>
          <p:cNvPr id="48" name="Text 45"/>
          <p:cNvSpPr/>
          <p:nvPr/>
        </p:nvSpPr>
        <p:spPr>
          <a:xfrm>
            <a:off x="8310677" y="4604004"/>
            <a:ext cx="822960" cy="292608"/>
          </a:xfrm>
          <a:prstGeom prst="rect">
            <a:avLst/>
          </a:prstGeom>
          <a:noFill/>
          <a:ln/>
        </p:spPr>
        <p:txBody>
          <a:bodyPr wrap="square" rtlCol="0" anchor="ctr"/>
          <a:lstStyle/>
          <a:p>
            <a:pPr algn="ctr" indent="0" marL="0">
              <a:buNone/>
            </a:pPr>
            <a:r>
              <a:rPr lang="en-US" sz="1000" b="1" dirty="0">
                <a:solidFill>
                  <a:srgbClr val="29ABE2"/>
                </a:solidFill>
                <a:latin typeface="Arial" pitchFamily="34" charset="0"/>
                <a:ea typeface="Arial" pitchFamily="34" charset="-122"/>
                <a:cs typeface="Arial" pitchFamily="34" charset="-120"/>
              </a:rPr>
              <a:t>Map</a:t>
            </a:r>
            <a:endParaRPr lang="en-US" sz="1000" dirty="0"/>
          </a:p>
        </p:txBody>
      </p:sp>
      <p:sp>
        <p:nvSpPr>
          <p:cNvPr id="49" name="Text 46"/>
          <p:cNvSpPr/>
          <p:nvPr/>
        </p:nvSpPr>
        <p:spPr>
          <a:xfrm>
            <a:off x="8310677" y="498805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Choropleth as primary how-much</a:t>
            </a:r>
            <a:endParaRPr lang="en-US" sz="1300" dirty="0"/>
          </a:p>
        </p:txBody>
      </p:sp>
      <p:sp>
        <p:nvSpPr>
          <p:cNvPr id="50" name="Text 47"/>
          <p:cNvSpPr/>
          <p:nvPr/>
        </p:nvSpPr>
        <p:spPr>
          <a:xfrm>
            <a:off x="8310677" y="5554980"/>
            <a:ext cx="3149498" cy="370332"/>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Area and colour let big empty regions shout. Lead with a sorted bar; use the map to locate.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COMPOSITION &amp; RTL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Composition, reading path, and RTL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Beyond the single chart, composition guides the eye — and in bilingual decks, direction matters.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Aspect ratio — bank to 45°</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Line trends read truest when the average slope is near 45°; too flat or too tall hides or exaggerates the trend.</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Single reading direction</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Left-to-right, top-to-bottom for LTR decks; right-to-left for Arabic — including bar order and the time axis.</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RTL is a frequent error</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left-to-right time axis reads backwards in an Arabic slide; mirror it for bilingual Saudi decks.</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Title as the takeaway</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State the conclusion ('adoption crossed 65%, three regions stalled'), not the topic ('adoption by region').</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CHART LIBRARY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 reusable, principle-compliant sorted bar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49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src/viz/charts.py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def sorted_bar(data, cat, val, *, highlight=None,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title="", reference=None, ax=None):</a:t>
            </a:r>
            <a:endParaRPr lang="en-US" sz="950" dirty="0"/>
          </a:p>
          <a:p>
            <a:pPr indent="0" marL="0">
              <a:lnSpc>
                <a:spcPct val="102000"/>
              </a:lnSpc>
              <a:buNone/>
            </a:pPr>
            <a:r>
              <a:rPr lang="en-US" sz="950" dirty="0">
                <a:solidFill>
                  <a:srgbClr val="7F9CC4"/>
                </a:solidFill>
                <a:latin typeface="Courier New" pitchFamily="34" charset="0"/>
                <a:ea typeface="Courier New" pitchFamily="34" charset="-122"/>
                <a:cs typeface="Courier New" pitchFamily="34" charset="-120"/>
              </a:rPr>
              <a:t>    """Sorted bar: honest baseline, direct labels,</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optional highlight and reference line."""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d = data.sort_values(val)</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 = ax or plt.subplots(figsize=(8, 5))[1]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ax.barh(d[cat], d[val])              # principle 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ax.set_xlim(0, max(d[val]) * 1.15)   # baseline 0</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for y, v in enumerate(d[val]):       # principle 3</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ax.text(v, y, f"{v:.0f}", va="center")</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if reference is not None:            # principle 4</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ax.axvline(reference, ls="--", lw=1)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ax.text(reference, len(d) - .3, "nat. mean")</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ax.set_title(title, loc="left", weight="bold")</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ax.spines[["top", "right"]].set_visible(False)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return ax</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One function bakes in baseline, sorting, labels and a reference line.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DUAL-AXIS FIX</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Killing a dual axis with indexed lines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notebooks/m2_chart_selection.ipynb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nat = df.groupby("month")[["csat",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"cost_per_txn_sar"]].mean()</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idx = nat / nat.iloc[0] * 100      # common base 100</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plt.subplots(figsize=(9, 5))</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ax.plot(idx.index, idx["csat"], lw=2)</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ax.plot(idx.index, idx["cost_per_txn_sar"], lw=2)</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ax.text(idx.index[-1], idx["csat"].iloc[-1],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 Satisfaction", weight="bold")</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ax.text(idx.index[-1],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idx["cost_per_txn_sar"].iloc[-1],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 Cost/txn", weight="bold")</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ax.axhline(100, lw=0.8)            # shared baseline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ax.set_title("Satisfaction +12%, cost/txn -34%",</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loc="left", weight="bold")</a:t>
            </a:r>
            <a:endParaRPr lang="en-US" sz="950" dirty="0"/>
          </a:p>
          <a:p>
            <a:pPr indent="0" marL="0">
              <a:lnSpc>
                <a:spcPct val="102000"/>
              </a:lnSpc>
              <a:buNone/>
            </a:pPr>
            <a:r>
              <a:rPr lang="en-US" sz="950" dirty="0">
                <a:solidFill>
                  <a:srgbClr val="7F9CC4"/>
                </a:solidFill>
                <a:latin typeface="Courier New" pitchFamily="34" charset="0"/>
                <a:ea typeface="Courier New" pitchFamily="34" charset="-122"/>
                <a:cs typeface="Courier New" pitchFamily="34" charset="-120"/>
              </a:rPr>
              <a:t># Indexing makes both series honest on ONE axis.</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Index both series to 100 instead of forcing two Y-axes to cross.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2 — Chart Chooser and First Honest Charts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اختيار الرسم البياني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51</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For four real Tayseer questions, select the correct chart via the decision procedure and build each honestly using the course chart library.</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pip install pandas matplotlib seaborn plotly; src/viz/charts.py starter provided; git checkout lab2_start.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Read the four questions: regions lagging, national trend, completion time by category, satisfaction vs cost.</a:t>
            </a:r>
            <a:endParaRPr lang="en-US" sz="1100" dirty="0"/>
          </a:p>
        </p:txBody>
      </p:sp>
      <p:sp>
        <p:nvSpPr>
          <p:cNvPr id="23" name="Shape 20"/>
          <p:cNvSpPr/>
          <p:nvPr/>
        </p:nvSpPr>
        <p:spPr>
          <a:xfrm>
            <a:off x="548640" y="4415028"/>
            <a:ext cx="292608" cy="292608"/>
          </a:xfrm>
          <a:prstGeom prst="ellipse">
            <a:avLst/>
          </a:prstGeom>
          <a:solidFill>
            <a:srgbClr val="00A79D"/>
          </a:solidFill>
          <a:ln/>
        </p:spPr>
      </p:sp>
      <p:sp>
        <p:nvSpPr>
          <p:cNvPr id="24" name="Text 21"/>
          <p:cNvSpPr/>
          <p:nvPr/>
        </p:nvSpPr>
        <p:spPr>
          <a:xfrm>
            <a:off x="548640" y="441502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9674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For each, name the question type and chosen chart, justified by the decision table.</a:t>
            </a:r>
            <a:endParaRPr lang="en-US" sz="1100" dirty="0"/>
          </a:p>
        </p:txBody>
      </p:sp>
      <p:sp>
        <p:nvSpPr>
          <p:cNvPr id="26" name="Shape 23"/>
          <p:cNvSpPr/>
          <p:nvPr/>
        </p:nvSpPr>
        <p:spPr>
          <a:xfrm>
            <a:off x="548640" y="4742688"/>
            <a:ext cx="292608" cy="292608"/>
          </a:xfrm>
          <a:prstGeom prst="ellipse">
            <a:avLst/>
          </a:prstGeom>
          <a:solidFill>
            <a:srgbClr val="E8833A"/>
          </a:solidFill>
          <a:ln/>
        </p:spPr>
      </p:sp>
      <p:sp>
        <p:nvSpPr>
          <p:cNvPr id="27" name="Text 24"/>
          <p:cNvSpPr/>
          <p:nvPr/>
        </p:nvSpPr>
        <p:spPr>
          <a:xfrm>
            <a:off x="548640" y="474268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72440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(20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Build all four using charts.py; apply the five design principles; give each a takeaway title.</a:t>
            </a:r>
            <a:endParaRPr lang="en-US" sz="1100" dirty="0"/>
          </a:p>
        </p:txBody>
      </p:sp>
      <p:sp>
        <p:nvSpPr>
          <p:cNvPr id="29" name="Shape 26"/>
          <p:cNvSpPr/>
          <p:nvPr/>
        </p:nvSpPr>
        <p:spPr>
          <a:xfrm>
            <a:off x="548640" y="5070348"/>
            <a:ext cx="292608" cy="292608"/>
          </a:xfrm>
          <a:prstGeom prst="ellipse">
            <a:avLst/>
          </a:prstGeom>
          <a:solidFill>
            <a:srgbClr val="6C4FA1"/>
          </a:solidFill>
          <a:ln/>
        </p:spPr>
      </p:sp>
      <p:sp>
        <p:nvSpPr>
          <p:cNvPr id="30" name="Text 27"/>
          <p:cNvSpPr/>
          <p:nvPr/>
        </p:nvSpPr>
        <p:spPr>
          <a:xfrm>
            <a:off x="548640" y="507034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505206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Add a reference line to Q1 (national mean) and Q2 (target of 65%).</a:t>
            </a:r>
            <a:endParaRPr lang="en-US" sz="1100" dirty="0"/>
          </a:p>
        </p:txBody>
      </p:sp>
      <p:sp>
        <p:nvSpPr>
          <p:cNvPr id="32" name="Shape 29"/>
          <p:cNvSpPr/>
          <p:nvPr/>
        </p:nvSpPr>
        <p:spPr>
          <a:xfrm>
            <a:off x="548640" y="5398008"/>
            <a:ext cx="292608" cy="292608"/>
          </a:xfrm>
          <a:prstGeom prst="ellipse">
            <a:avLst/>
          </a:prstGeom>
          <a:solidFill>
            <a:srgbClr val="3FAE5A"/>
          </a:solidFill>
          <a:ln/>
        </p:spPr>
      </p:sp>
      <p:sp>
        <p:nvSpPr>
          <p:cNvPr id="33" name="Text 30"/>
          <p:cNvSpPr/>
          <p:nvPr/>
        </p:nvSpPr>
        <p:spPr>
          <a:xfrm>
            <a:off x="548640" y="539800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37972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Convert Q2 to an interactive Plotly line as a preview of Module 4; hover shows the value.</a:t>
            </a:r>
            <a:endParaRPr lang="en-US" sz="1100" dirty="0"/>
          </a:p>
        </p:txBody>
      </p:sp>
      <p:sp>
        <p:nvSpPr>
          <p:cNvPr id="35" name="Shape 32"/>
          <p:cNvSpPr/>
          <p:nvPr/>
        </p:nvSpPr>
        <p:spPr>
          <a:xfrm>
            <a:off x="548640" y="5725668"/>
            <a:ext cx="292608" cy="292608"/>
          </a:xfrm>
          <a:prstGeom prst="ellipse">
            <a:avLst/>
          </a:prstGeom>
          <a:solidFill>
            <a:srgbClr val="29ABE2"/>
          </a:solidFill>
          <a:ln/>
        </p:spPr>
      </p:sp>
      <p:sp>
        <p:nvSpPr>
          <p:cNvPr id="36" name="Text 33"/>
          <p:cNvSpPr/>
          <p:nvPr/>
        </p:nvSpPr>
        <p:spPr>
          <a:xfrm>
            <a:off x="548640" y="57256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707380"/>
            <a:ext cx="10637215" cy="327660"/>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Save as lab2_solution.ipynb and export the four charts to out/.</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52</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Compare 40 store conversion rates — which chart?</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A sorted dot plot (compact ranking), not a pie or a clustered bar.</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When are clustered bars acceptable?</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Two to three series at most; beyond that use small multiples or slope charts.</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Why direct-label instead of using a legend?</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It removes the eye's round trip between the legend and the data.</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What does a reference line convert a chart into?</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A chart of judgements — above or below target — i.e. decision-support.</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Thirteen overlapping regional lines — the fix?</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Small multiples (shared scale, sorted panels) or highlight-one.</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Case Study — Regional Performance Review</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مراجعة أداء المناطق</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53</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Tayseer team must produce a one-page regional review comparing all 13 regions across four metrics (adoption, satisfaction, completion time, cost). The first draft is four clustered bar charts — visually loud, analytically unreadable.</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operations directorate uses this page monthly to decide where to send improvement teams. If it is unreadable, the decision defaults to 'wherever complained loudest', not to where the data points.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Show four metrics across 13 regions on one page so a reader can rank regions on any metric and spot a region good on one metric but bad on another — all in under a minute.</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One page for print and screen; works in Arabic and English; no interactivity; colour-blind-safe; the four metrics differ in unit and direction (lower cost is good, higher satisfaction is good).</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indent="0" marL="0">
              <a:buNone/>
            </a:pPr>
            <a:r>
              <a:rPr lang="en-US" sz="1100" b="1" spc="100" kern="0" dirty="0">
                <a:solidFill>
                  <a:srgbClr val="3FAE5A"/>
                </a:solidFill>
                <a:latin typeface="Arial" pitchFamily="34" charset="0"/>
                <a:ea typeface="Arial" pitchFamily="34" charset="-122"/>
                <a:cs typeface="Arial" pitchFamily="34" charset="-120"/>
              </a:rPr>
              <a:t>SOLUTION</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Replace the four clustered bars with four small-multiple columns of sorted dot plots on a shared region order; add a national-mean line to each; encode good/bad direction; one takeaway title per column.</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indent="0" marL="0">
              <a:buNone/>
            </a:pPr>
            <a:r>
              <a:rPr lang="en-US" sz="1100" b="1" spc="100" kern="0" dirty="0">
                <a:solidFill>
                  <a:srgbClr val="29ABE2"/>
                </a:solidFill>
                <a:latin typeface="Arial" pitchFamily="34" charset="0"/>
                <a:ea typeface="Arial" pitchFamily="34" charset="-122"/>
                <a:cs typeface="Arial" pitchFamily="34" charset="-120"/>
              </a:rPr>
              <a:t>PAYOFF</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shared row order lets the eye scan a region's four dots to read its whole profile — the 'good here, bad there' reading that four independent charts destroy.</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to reach after Module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54</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931920"/>
                <a:gridCol w="2286000"/>
                <a:gridCol w="2103120"/>
                <a:gridCol w="27432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Category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Correct chart family for 4 questions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Selection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Design principles applied per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Design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Checklist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Time to find laggard region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Comprehension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&lt; 8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Peer stopwatch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Charts with a takeaway title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Communication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Anti-patterns present in final charts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Design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Audit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Example benchmark table filled in the lab</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55</a:t>
            </a:r>
            <a:endParaRPr lang="en-US" sz="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2377440"/>
                <a:gridCol w="2560320"/>
                <a:gridCol w="1828800"/>
                <a:gridCol w="2651760"/>
                <a:gridCol w="164592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Chosen 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Principles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Anti-pattern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Q1 ranking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Sorted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not a pie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Q2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Line + target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not clustered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Q3 distribution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Box plot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not a mean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revise labels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Q4 relationship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Scatter +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not dual-axis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
        <p:nvSpPr>
          <p:cNvPr id="15" name="Text 11"/>
          <p:cNvSpPr/>
          <p:nvPr/>
        </p:nvSpPr>
        <p:spPr>
          <a:xfrm>
            <a:off x="548640" y="4480560"/>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The Q3 '4/5, revise labels' row shows a real verdict — add the missing labels, then ship.</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56</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Chart-selection decision tree (module spine)</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Five design principles poster (A4)</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Spaghetti -&gt; small multiples split panel</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Anti-pattern rogues' gallery (grid of six)</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m2_small_multiples.png — 13-panel grid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m2_indexed_lines.png — dual-axis fix</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critique_m2.png — 6x13 clustered bar</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Four-panel regional review (solution)</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lab2_questions.md (four questions)</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src/viz/charts.py (chart library)</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03</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3</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Colour, Annotation, and Decluttering</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اللون والتعليق وإزالة الفوضى</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Finishing craft: colour as meaning, annotation that states the point, and stripping every non-data mark.</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From a correct chart to a persuasive one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من الصحيح إلى المقنع</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58</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With the right chart chosen in M2, this module is finishing craft — and the largest, cheapest gains in clarity live here.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Colour as meaning: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Use colour to carry information, never as decoration.</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Explicit argument: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Annotation puts 'this is the point' on the chart itself.</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Strip the rest: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Remove everything that does not carry information.</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Biggest wins: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Decluttering and annotation raise comprehension more than any chart-type change.</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most abused channel — now a compliance issue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59</a:t>
            </a:r>
            <a:endParaRPr lang="en-US" sz="800" dirty="0"/>
          </a:p>
        </p:txBody>
      </p:sp>
      <p:sp>
        <p:nvSpPr>
          <p:cNvPr id="14" name="Text 11"/>
          <p:cNvSpPr/>
          <p:nvPr/>
        </p:nvSpPr>
        <p:spPr>
          <a:xfrm>
            <a:off x="548640" y="1975104"/>
            <a:ext cx="11094415" cy="50292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Colour is the most abused channel in enterprise reporting; in Saudi government or banking a colour or accessibility failure is now compliance, not cosmetics.</a:t>
            </a:r>
            <a:endParaRPr lang="en-US" sz="1250" dirty="0"/>
          </a:p>
        </p:txBody>
      </p:sp>
      <p:sp>
        <p:nvSpPr>
          <p:cNvPr id="15" name="Shape 12"/>
          <p:cNvSpPr/>
          <p:nvPr/>
        </p:nvSpPr>
        <p:spPr>
          <a:xfrm>
            <a:off x="548640" y="2542032"/>
            <a:ext cx="5364328" cy="3538728"/>
          </a:xfrm>
          <a:prstGeom prst="roundRect">
            <a:avLst>
              <a:gd name="adj" fmla="val 2326"/>
            </a:avLst>
          </a:prstGeom>
          <a:solidFill>
            <a:srgbClr val="EAF0FA"/>
          </a:solidFill>
          <a:ln w="12700">
            <a:solidFill>
              <a:srgbClr val="2E5AAC"/>
            </a:solidFill>
            <a:prstDash val="solid"/>
          </a:ln>
        </p:spPr>
      </p:sp>
      <p:sp>
        <p:nvSpPr>
          <p:cNvPr id="16" name="Text 13"/>
          <p:cNvSpPr/>
          <p:nvPr/>
        </p:nvSpPr>
        <p:spPr>
          <a:xfrm>
            <a:off x="777240" y="2706624"/>
            <a:ext cx="4907128" cy="365760"/>
          </a:xfrm>
          <a:prstGeom prst="rect">
            <a:avLst/>
          </a:prstGeom>
          <a:noFill/>
          <a:ln/>
        </p:spPr>
        <p:txBody>
          <a:bodyPr wrap="square" rtlCol="0" anchor="ctr"/>
          <a:lstStyle/>
          <a:p>
            <a:pPr indent="0" marL="0">
              <a:buNone/>
            </a:pPr>
            <a:r>
              <a:rPr lang="en-US" sz="1300" b="1" spc="100" kern="0" dirty="0">
                <a:solidFill>
                  <a:srgbClr val="2E5AAC"/>
                </a:solidFill>
                <a:latin typeface="Arial" pitchFamily="34" charset="0"/>
                <a:ea typeface="Arial" pitchFamily="34" charset="-122"/>
                <a:cs typeface="Arial" pitchFamily="34" charset="-120"/>
              </a:rPr>
              <a:t>THE ABUSE</a:t>
            </a:r>
            <a:endParaRPr lang="en-US" sz="1300" dirty="0"/>
          </a:p>
        </p:txBody>
      </p:sp>
      <p:sp>
        <p:nvSpPr>
          <p:cNvPr id="17" name="Text 14"/>
          <p:cNvSpPr/>
          <p:nvPr/>
        </p:nvSpPr>
        <p:spPr>
          <a:xfrm>
            <a:off x="777240" y="3182112"/>
            <a:ext cx="4907128" cy="640080"/>
          </a:xfrm>
          <a:prstGeom prst="rect">
            <a:avLst/>
          </a:prstGeom>
          <a:noFill/>
          <a:ln/>
        </p:spPr>
        <p:txBody>
          <a:bodyPr wrap="square" rtlCol="0" anchor="t"/>
          <a:lstStyle/>
          <a:p>
            <a:pPr indent="0" marL="0">
              <a:lnSpc>
                <a:spcPct val="100000"/>
              </a:lnSpc>
              <a:buNone/>
            </a:pPr>
            <a:r>
              <a:rPr lang="en-US" sz="11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Rainbow palettes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Categorical rainbows thrown at ordered data.</a:t>
            </a:r>
            <a:endParaRPr lang="en-US" sz="1150" dirty="0"/>
          </a:p>
        </p:txBody>
      </p:sp>
      <p:sp>
        <p:nvSpPr>
          <p:cNvPr id="18" name="Text 15"/>
          <p:cNvSpPr/>
          <p:nvPr/>
        </p:nvSpPr>
        <p:spPr>
          <a:xfrm>
            <a:off x="777240" y="3694176"/>
            <a:ext cx="4907128" cy="640080"/>
          </a:xfrm>
          <a:prstGeom prst="rect">
            <a:avLst/>
          </a:prstGeom>
          <a:noFill/>
          <a:ln/>
        </p:spPr>
        <p:txBody>
          <a:bodyPr wrap="square" rtlCol="0" anchor="t"/>
          <a:lstStyle/>
          <a:p>
            <a:pPr indent="0" marL="0">
              <a:lnSpc>
                <a:spcPct val="100000"/>
              </a:lnSpc>
              <a:buNone/>
            </a:pPr>
            <a:r>
              <a:rPr lang="en-US" sz="11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Red/green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Excludes roughly 1 in 12 men who are colour-blind.</a:t>
            </a:r>
            <a:endParaRPr lang="en-US" sz="1150" dirty="0"/>
          </a:p>
        </p:txBody>
      </p:sp>
      <p:sp>
        <p:nvSpPr>
          <p:cNvPr id="19" name="Text 16"/>
          <p:cNvSpPr/>
          <p:nvPr/>
        </p:nvSpPr>
        <p:spPr>
          <a:xfrm>
            <a:off x="777240" y="4206240"/>
            <a:ext cx="4907128" cy="640080"/>
          </a:xfrm>
          <a:prstGeom prst="rect">
            <a:avLst/>
          </a:prstGeom>
          <a:noFill/>
          <a:ln/>
        </p:spPr>
        <p:txBody>
          <a:bodyPr wrap="square" rtlCol="0" anchor="t"/>
          <a:lstStyle/>
          <a:p>
            <a:pPr indent="0" marL="0">
              <a:lnSpc>
                <a:spcPct val="100000"/>
              </a:lnSpc>
              <a:buNone/>
            </a:pPr>
            <a:r>
              <a:rPr lang="en-US" sz="11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Decorative saturation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Colour strength spent on chrome, not signal.</a:t>
            </a:r>
            <a:endParaRPr lang="en-US" sz="1150" dirty="0"/>
          </a:p>
        </p:txBody>
      </p:sp>
      <p:sp>
        <p:nvSpPr>
          <p:cNvPr id="20" name="Shape 17"/>
          <p:cNvSpPr/>
          <p:nvPr/>
        </p:nvSpPr>
        <p:spPr>
          <a:xfrm>
            <a:off x="6278728" y="2542032"/>
            <a:ext cx="5364328" cy="3538728"/>
          </a:xfrm>
          <a:prstGeom prst="roundRect">
            <a:avLst>
              <a:gd name="adj" fmla="val 2326"/>
            </a:avLst>
          </a:prstGeom>
          <a:solidFill>
            <a:srgbClr val="E6F5F4"/>
          </a:solidFill>
          <a:ln w="12700">
            <a:solidFill>
              <a:srgbClr val="00A79D"/>
            </a:solidFill>
            <a:prstDash val="solid"/>
          </a:ln>
        </p:spPr>
      </p:sp>
      <p:sp>
        <p:nvSpPr>
          <p:cNvPr id="21" name="Text 18"/>
          <p:cNvSpPr/>
          <p:nvPr/>
        </p:nvSpPr>
        <p:spPr>
          <a:xfrm>
            <a:off x="6507328" y="2706624"/>
            <a:ext cx="4907128" cy="365760"/>
          </a:xfrm>
          <a:prstGeom prst="rect">
            <a:avLst/>
          </a:prstGeom>
          <a:noFill/>
          <a:ln/>
        </p:spPr>
        <p:txBody>
          <a:bodyPr wrap="square" rtlCol="0" anchor="ctr"/>
          <a:lstStyle/>
          <a:p>
            <a:pPr indent="0" marL="0">
              <a:buNone/>
            </a:pPr>
            <a:r>
              <a:rPr lang="en-US" sz="1300" b="1" spc="100" kern="0" dirty="0">
                <a:solidFill>
                  <a:srgbClr val="00A79D"/>
                </a:solidFill>
                <a:latin typeface="Arial" pitchFamily="34" charset="0"/>
                <a:ea typeface="Arial" pitchFamily="34" charset="-122"/>
                <a:cs typeface="Arial" pitchFamily="34" charset="-120"/>
              </a:rPr>
              <a:t>THE STAKES</a:t>
            </a:r>
            <a:endParaRPr lang="en-US" sz="1300" dirty="0"/>
          </a:p>
        </p:txBody>
      </p:sp>
      <p:sp>
        <p:nvSpPr>
          <p:cNvPr id="22" name="Text 19"/>
          <p:cNvSpPr/>
          <p:nvPr/>
        </p:nvSpPr>
        <p:spPr>
          <a:xfrm>
            <a:off x="6507328" y="3182112"/>
            <a:ext cx="4907128" cy="640080"/>
          </a:xfrm>
          <a:prstGeom prst="rect">
            <a:avLst/>
          </a:prstGeom>
          <a:noFill/>
          <a:ln/>
        </p:spPr>
        <p:txBody>
          <a:bodyPr wrap="square" rtlCol="0" anchor="t"/>
          <a:lstStyle/>
          <a:p>
            <a:pPr indent="0" marL="0">
              <a:lnSpc>
                <a:spcPct val="100000"/>
              </a:lnSpc>
              <a:buNone/>
            </a:pPr>
            <a:r>
              <a:rPr lang="en-US" sz="11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Comprehension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A mis-signalling chart is first a comprehension failure.</a:t>
            </a:r>
            <a:endParaRPr lang="en-US" sz="1150" dirty="0"/>
          </a:p>
        </p:txBody>
      </p:sp>
      <p:sp>
        <p:nvSpPr>
          <p:cNvPr id="23" name="Text 20"/>
          <p:cNvSpPr/>
          <p:nvPr/>
        </p:nvSpPr>
        <p:spPr>
          <a:xfrm>
            <a:off x="6507328" y="3694176"/>
            <a:ext cx="4907128" cy="640080"/>
          </a:xfrm>
          <a:prstGeom prst="rect">
            <a:avLst/>
          </a:prstGeom>
          <a:noFill/>
          <a:ln/>
        </p:spPr>
        <p:txBody>
          <a:bodyPr wrap="square" rtlCol="0" anchor="t"/>
          <a:lstStyle/>
          <a:p>
            <a:pPr indent="0" marL="0">
              <a:lnSpc>
                <a:spcPct val="100000"/>
              </a:lnSpc>
              <a:buNone/>
            </a:pPr>
            <a:r>
              <a:rPr lang="en-US" sz="11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Compliance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In gov and banking it is increasingly a compliance failure too.</a:t>
            </a:r>
            <a:endParaRPr lang="en-US" sz="1150" dirty="0"/>
          </a:p>
        </p:txBody>
      </p:sp>
      <p:sp>
        <p:nvSpPr>
          <p:cNvPr id="24" name="Text 21"/>
          <p:cNvSpPr/>
          <p:nvPr/>
        </p:nvSpPr>
        <p:spPr>
          <a:xfrm>
            <a:off x="6507328" y="4407408"/>
            <a:ext cx="4907128" cy="640080"/>
          </a:xfrm>
          <a:prstGeom prst="rect">
            <a:avLst/>
          </a:prstGeom>
          <a:noFill/>
          <a:ln/>
        </p:spPr>
        <p:txBody>
          <a:bodyPr wrap="square" rtlCol="0" anchor="t"/>
          <a:lstStyle/>
          <a:p>
            <a:pPr indent="0" marL="0">
              <a:lnSpc>
                <a:spcPct val="100000"/>
              </a:lnSpc>
              <a:buNone/>
            </a:pPr>
            <a:r>
              <a:rPr lang="en-US" sz="11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50" b="1" dirty="0">
                <a:solidFill>
                  <a:srgbClr val="1D2A5C"/>
                </a:solidFill>
                <a:latin typeface="Arial" pitchFamily="34" charset="0"/>
                <a:ea typeface="Arial" pitchFamily="34" charset="-122"/>
                <a:cs typeface="Arial" pitchFamily="34" charset="-120"/>
              </a:rPr>
              <a:t>Survives forwarding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Annotation lets a chart travel without its presenter.</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colour and annotation decide the read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60</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Exec</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Executive scorecard</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One accent colour for 'needs attention', grey for everything else, so the eye lands on the exception.</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Gov</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Vision 2030 progress chart</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Public-facing, must be colour-blind-safe and readable in both Arabic and English.</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Ops</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Monitoring dashboard</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diverging palette centred on the SLA target makes 'above/below' pre-attentive.</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3</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61</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Choose palette: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Pick categorical, sequential, or diverging by the data type.</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Build safe palettes: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Make colour-blind-safe, accessible, brand-aligned palettes.</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State the takeaway: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Apply annotation to put the conclusion on the chart.</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Raise data-ink: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Compute and improve the data-ink ratio.</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Localise: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Handle Arabic/RTL and numeral conventions correctly.</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62</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Choose the correct palette type (categorical/sequential/diverging) for the data</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Build colour-blind-safe, accessible, brand-aligned palettes</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Use annotation to make a chart's argument explicit</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 LO4</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Increase the data-ink ratio by removing non-data ink</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Apply Arabic/RTL layout and numeral conventions correctly</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COLOUR AS MEANING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Three palette families — choose by data type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Colour must be chosen by the data type, not by aesthetics. There are exactly three families, and the wrong one lies to the reader.</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2926080"/>
                <a:gridCol w="3474720"/>
                <a:gridCol w="466344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Data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Palette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Failure if wrong</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Categorical (regions)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Distinct hues, ≤ 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sequential palette implies false order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Sequential (0 → high)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One hue, light → dark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rainbow invents false category breaks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Diverging (below ↔ above)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Two hues from neutral centre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 sequential palette hides the midpoint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4480560"/>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Centre a diverging palette on the meaningful value — for Tayseer cost, the neutral sits at the target, not the mean.</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ACCESSIBILITY &amp; BRAND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Colour must be accessible and disciplined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64</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~8%</a:t>
            </a:r>
            <a:endParaRPr lang="en-US" sz="1000" dirty="0"/>
          </a:p>
        </p:txBody>
      </p:sp>
      <p:sp>
        <p:nvSpPr>
          <p:cNvPr id="18" name="Text 15"/>
          <p:cNvSpPr/>
          <p:nvPr/>
        </p:nvSpPr>
        <p:spPr>
          <a:xfrm>
            <a:off x="731520" y="2633472"/>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Colour-blind safety</a:t>
            </a:r>
            <a:endParaRPr lang="en-US" sz="1300" dirty="0"/>
          </a:p>
        </p:txBody>
      </p:sp>
      <p:sp>
        <p:nvSpPr>
          <p:cNvPr id="19" name="Text 16"/>
          <p:cNvSpPr/>
          <p:nvPr/>
        </p:nvSpPr>
        <p:spPr>
          <a:xfrm>
            <a:off x="731520" y="2999232"/>
            <a:ext cx="5044288" cy="82296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~8% of men have red-green deficiency. Never encode by red-vs-green alone; add position, shape, or label, or use Okabe–Ito or viridis. Test with a simulator.</a:t>
            </a:r>
            <a:endParaRPr lang="en-US" sz="1050" dirty="0"/>
          </a:p>
        </p:txBody>
      </p:sp>
      <p:sp>
        <p:nvSpPr>
          <p:cNvPr id="20" name="Shape 17"/>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21" name="Shape 18"/>
          <p:cNvSpPr/>
          <p:nvPr/>
        </p:nvSpPr>
        <p:spPr>
          <a:xfrm>
            <a:off x="6233008" y="2066544"/>
            <a:ext cx="5410048" cy="82296"/>
          </a:xfrm>
          <a:prstGeom prst="rect">
            <a:avLst/>
          </a:prstGeom>
          <a:solidFill>
            <a:srgbClr val="00A79D"/>
          </a:solidFill>
          <a:ln/>
        </p:spPr>
      </p:sp>
      <p:sp>
        <p:nvSpPr>
          <p:cNvPr id="22" name="Text 19"/>
          <p:cNvSpPr/>
          <p:nvPr/>
        </p:nvSpPr>
        <p:spPr>
          <a:xfrm>
            <a:off x="6415888"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Never colour alone</a:t>
            </a:r>
            <a:endParaRPr lang="en-US" sz="1300" dirty="0"/>
          </a:p>
        </p:txBody>
      </p:sp>
      <p:sp>
        <p:nvSpPr>
          <p:cNvPr id="23" name="Text 20"/>
          <p:cNvSpPr/>
          <p:nvPr/>
        </p:nvSpPr>
        <p:spPr>
          <a:xfrm>
            <a:off x="6415888"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Colour must be redundant with another cue for any critical distinction — the WCAG principle applied to charts.</a:t>
            </a:r>
            <a:endParaRPr lang="en-US" sz="1050" dirty="0"/>
          </a:p>
        </p:txBody>
      </p:sp>
      <p:sp>
        <p:nvSpPr>
          <p:cNvPr id="24" name="Shape 21"/>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5" name="Shape 22"/>
          <p:cNvSpPr/>
          <p:nvPr/>
        </p:nvSpPr>
        <p:spPr>
          <a:xfrm>
            <a:off x="548640" y="4169664"/>
            <a:ext cx="5410048" cy="82296"/>
          </a:xfrm>
          <a:prstGeom prst="rect">
            <a:avLst/>
          </a:prstGeom>
          <a:solidFill>
            <a:srgbClr val="E8833A"/>
          </a:solidFill>
          <a:ln/>
        </p:spPr>
      </p:sp>
      <p:sp>
        <p:nvSpPr>
          <p:cNvPr id="26" name="Text 23"/>
          <p:cNvSpPr/>
          <p:nvPr/>
        </p:nvSpPr>
        <p:spPr>
          <a:xfrm>
            <a:off x="731520"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Sufficient contrast</a:t>
            </a:r>
            <a:endParaRPr lang="en-US" sz="1300" dirty="0"/>
          </a:p>
        </p:txBody>
      </p:sp>
      <p:sp>
        <p:nvSpPr>
          <p:cNvPr id="27" name="Text 24"/>
          <p:cNvSpPr/>
          <p:nvPr/>
        </p:nvSpPr>
        <p:spPr>
          <a:xfrm>
            <a:off x="731520"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Text and key marks need enough contrast against the background.</a:t>
            </a:r>
            <a:endParaRPr lang="en-US" sz="1050" dirty="0"/>
          </a:p>
        </p:txBody>
      </p:sp>
      <p:sp>
        <p:nvSpPr>
          <p:cNvPr id="28" name="Shape 25"/>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9" name="Shape 26"/>
          <p:cNvSpPr/>
          <p:nvPr/>
        </p:nvSpPr>
        <p:spPr>
          <a:xfrm>
            <a:off x="6233008" y="4169664"/>
            <a:ext cx="5410048" cy="82296"/>
          </a:xfrm>
          <a:prstGeom prst="rect">
            <a:avLst/>
          </a:prstGeom>
          <a:solidFill>
            <a:srgbClr val="6C4FA1"/>
          </a:solidFill>
          <a:ln/>
        </p:spPr>
      </p:sp>
      <p:sp>
        <p:nvSpPr>
          <p:cNvPr id="30" name="Text 27"/>
          <p:cNvSpPr/>
          <p:nvPr/>
        </p:nvSpPr>
        <p:spPr>
          <a:xfrm>
            <a:off x="6415888"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Brand ≠ override</a:t>
            </a:r>
            <a:endParaRPr lang="en-US" sz="1300" dirty="0"/>
          </a:p>
        </p:txBody>
      </p:sp>
      <p:sp>
        <p:nvSpPr>
          <p:cNvPr id="31" name="Text 28"/>
          <p:cNvSpPr/>
          <p:nvPr/>
        </p:nvSpPr>
        <p:spPr>
          <a:xfrm>
            <a:off x="6415888"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Reserve the brand accent for the signal; use greys for context. Don't spend all five brand colours as categories.</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TWO COLOUR LIES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two most common colour lies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Both invent structure the data does not have — and both are everywhere in enterprise reporting.</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Rainbow on ordered data</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What happens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A categorical rainbow is used on sequential data.</a:t>
            </a:r>
            <a:endParaRPr lang="en-US" sz="1100" dirty="0"/>
          </a:p>
        </p:txBody>
      </p:sp>
      <p:sp>
        <p:nvSpPr>
          <p:cNvPr id="20" name="Text 17"/>
          <p:cNvSpPr/>
          <p:nvPr/>
        </p:nvSpPr>
        <p:spPr>
          <a:xfrm>
            <a:off x="749808" y="3776472"/>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The lie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It invents category boundaries the data does not have.</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Fix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Use one hue, light → dark.</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Sequential on centred data</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What happens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A sequential palette is used on variance-from-target.</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The lie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It hides the above/below that is the entire point.</a:t>
            </a:r>
            <a:endParaRPr lang="en-US" sz="1100" dirty="0"/>
          </a:p>
        </p:txBody>
      </p:sp>
      <p:sp>
        <p:nvSpPr>
          <p:cNvPr id="28" name="Text 25"/>
          <p:cNvSpPr/>
          <p:nvPr/>
        </p:nvSpPr>
        <p:spPr>
          <a:xfrm>
            <a:off x="6452464" y="4453128"/>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Fix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Use a diverging palette centred on the target.</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DECLUTTERING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decluttering ladder — erase non-data ink in order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Data-ink ratio = data-ink ÷ total ink. Maximise it by working top to bottom; every erased element frees attention for the data.</a:t>
            </a:r>
            <a:endParaRPr lang="en-US" sz="1250" dirty="0"/>
          </a:p>
        </p:txBody>
      </p:sp>
      <p:sp>
        <p:nvSpPr>
          <p:cNvPr id="15" name="Shape 12"/>
          <p:cNvSpPr/>
          <p:nvPr/>
        </p:nvSpPr>
        <p:spPr>
          <a:xfrm>
            <a:off x="548640" y="2542032"/>
            <a:ext cx="11094415" cy="475488"/>
          </a:xfrm>
          <a:prstGeom prst="roundRect">
            <a:avLst>
              <a:gd name="adj" fmla="val 13462"/>
            </a:avLst>
          </a:prstGeom>
          <a:solidFill>
            <a:srgbClr val="EAF0FA"/>
          </a:solidFill>
          <a:ln w="15240">
            <a:solidFill>
              <a:srgbClr val="2E5AAC"/>
            </a:solidFill>
            <a:prstDash val="solid"/>
          </a:ln>
        </p:spPr>
      </p:sp>
      <p:sp>
        <p:nvSpPr>
          <p:cNvPr id="16" name="Shape 13"/>
          <p:cNvSpPr/>
          <p:nvPr/>
        </p:nvSpPr>
        <p:spPr>
          <a:xfrm>
            <a:off x="694944" y="2596896"/>
            <a:ext cx="365760" cy="365760"/>
          </a:xfrm>
          <a:prstGeom prst="ellipse">
            <a:avLst/>
          </a:prstGeom>
          <a:solidFill>
            <a:srgbClr val="2E5AAC"/>
          </a:solidFill>
          <a:ln/>
        </p:spPr>
      </p:sp>
      <p:sp>
        <p:nvSpPr>
          <p:cNvPr id="17" name="Text 14"/>
          <p:cNvSpPr/>
          <p:nvPr/>
        </p:nvSpPr>
        <p:spPr>
          <a:xfrm>
            <a:off x="694944" y="259689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Remove chart junk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3D, gradients, drop shadows, background images.</a:t>
            </a:r>
            <a:endParaRPr lang="en-US" sz="1300" dirty="0"/>
          </a:p>
        </p:txBody>
      </p:sp>
      <p:sp>
        <p:nvSpPr>
          <p:cNvPr id="19" name="Shape 16"/>
          <p:cNvSpPr/>
          <p:nvPr/>
        </p:nvSpPr>
        <p:spPr>
          <a:xfrm>
            <a:off x="548640" y="3145536"/>
            <a:ext cx="11094415" cy="475488"/>
          </a:xfrm>
          <a:prstGeom prst="roundRect">
            <a:avLst>
              <a:gd name="adj" fmla="val 13462"/>
            </a:avLst>
          </a:prstGeom>
          <a:solidFill>
            <a:srgbClr val="E6F5F4"/>
          </a:solidFill>
          <a:ln w="15240">
            <a:solidFill>
              <a:srgbClr val="00A79D"/>
            </a:solidFill>
            <a:prstDash val="solid"/>
          </a:ln>
        </p:spPr>
      </p:sp>
      <p:sp>
        <p:nvSpPr>
          <p:cNvPr id="20" name="Shape 17"/>
          <p:cNvSpPr/>
          <p:nvPr/>
        </p:nvSpPr>
        <p:spPr>
          <a:xfrm>
            <a:off x="694944" y="3200400"/>
            <a:ext cx="365760" cy="365760"/>
          </a:xfrm>
          <a:prstGeom prst="ellipse">
            <a:avLst/>
          </a:prstGeom>
          <a:solidFill>
            <a:srgbClr val="00A79D"/>
          </a:solidFill>
          <a:ln/>
        </p:spPr>
      </p:sp>
      <p:sp>
        <p:nvSpPr>
          <p:cNvPr id="21" name="Text 18"/>
          <p:cNvSpPr/>
          <p:nvPr/>
        </p:nvSpPr>
        <p:spPr>
          <a:xfrm>
            <a:off x="694944" y="320040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145536"/>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Lighten gridlines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Remove or lighten; keep at most faint horizontal guides.</a:t>
            </a:r>
            <a:endParaRPr lang="en-US" sz="1300" dirty="0"/>
          </a:p>
        </p:txBody>
      </p:sp>
      <p:sp>
        <p:nvSpPr>
          <p:cNvPr id="23" name="Shape 20"/>
          <p:cNvSpPr/>
          <p:nvPr/>
        </p:nvSpPr>
        <p:spPr>
          <a:xfrm>
            <a:off x="548640" y="3749040"/>
            <a:ext cx="11094415" cy="475488"/>
          </a:xfrm>
          <a:prstGeom prst="roundRect">
            <a:avLst>
              <a:gd name="adj" fmla="val 13462"/>
            </a:avLst>
          </a:prstGeom>
          <a:solidFill>
            <a:srgbClr val="FCF0E6"/>
          </a:solidFill>
          <a:ln w="15240">
            <a:solidFill>
              <a:srgbClr val="E8833A"/>
            </a:solidFill>
            <a:prstDash val="solid"/>
          </a:ln>
        </p:spPr>
      </p:sp>
      <p:sp>
        <p:nvSpPr>
          <p:cNvPr id="24" name="Shape 21"/>
          <p:cNvSpPr/>
          <p:nvPr/>
        </p:nvSpPr>
        <p:spPr>
          <a:xfrm>
            <a:off x="694944" y="3803904"/>
            <a:ext cx="365760" cy="365760"/>
          </a:xfrm>
          <a:prstGeom prst="ellipse">
            <a:avLst/>
          </a:prstGeom>
          <a:solidFill>
            <a:srgbClr val="E8833A"/>
          </a:solidFill>
          <a:ln/>
        </p:spPr>
      </p:sp>
      <p:sp>
        <p:nvSpPr>
          <p:cNvPr id="25" name="Text 22"/>
          <p:cNvSpPr/>
          <p:nvPr/>
        </p:nvSpPr>
        <p:spPr>
          <a:xfrm>
            <a:off x="694944" y="3803904"/>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749040"/>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Drop the plot border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Remove the box; drop the top and right spines.</a:t>
            </a:r>
            <a:endParaRPr lang="en-US" sz="1300" dirty="0"/>
          </a:p>
        </p:txBody>
      </p:sp>
      <p:sp>
        <p:nvSpPr>
          <p:cNvPr id="27" name="Shape 24"/>
          <p:cNvSpPr/>
          <p:nvPr/>
        </p:nvSpPr>
        <p:spPr>
          <a:xfrm>
            <a:off x="548640" y="4352544"/>
            <a:ext cx="11094415" cy="475488"/>
          </a:xfrm>
          <a:prstGeom prst="roundRect">
            <a:avLst>
              <a:gd name="adj" fmla="val 13462"/>
            </a:avLst>
          </a:prstGeom>
          <a:solidFill>
            <a:srgbClr val="EFEBF6"/>
          </a:solidFill>
          <a:ln w="15240">
            <a:solidFill>
              <a:srgbClr val="6C4FA1"/>
            </a:solidFill>
            <a:prstDash val="solid"/>
          </a:ln>
        </p:spPr>
      </p:sp>
      <p:sp>
        <p:nvSpPr>
          <p:cNvPr id="28" name="Shape 25"/>
          <p:cNvSpPr/>
          <p:nvPr/>
        </p:nvSpPr>
        <p:spPr>
          <a:xfrm>
            <a:off x="694944" y="4407408"/>
            <a:ext cx="365760" cy="365760"/>
          </a:xfrm>
          <a:prstGeom prst="ellipse">
            <a:avLst/>
          </a:prstGeom>
          <a:solidFill>
            <a:srgbClr val="6C4FA1"/>
          </a:solidFill>
          <a:ln/>
        </p:spPr>
      </p:sp>
      <p:sp>
        <p:nvSpPr>
          <p:cNvPr id="29" name="Text 26"/>
          <p:cNvSpPr/>
          <p:nvPr/>
        </p:nvSpPr>
        <p:spPr>
          <a:xfrm>
            <a:off x="694944" y="4407408"/>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352544"/>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Cut redundant axes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Remove duplicate axes and tick marks; label directly.</a:t>
            </a:r>
            <a:endParaRPr lang="en-US" sz="1300" dirty="0"/>
          </a:p>
        </p:txBody>
      </p:sp>
      <p:sp>
        <p:nvSpPr>
          <p:cNvPr id="31" name="Shape 28"/>
          <p:cNvSpPr/>
          <p:nvPr/>
        </p:nvSpPr>
        <p:spPr>
          <a:xfrm>
            <a:off x="548640" y="4956048"/>
            <a:ext cx="11094415" cy="475488"/>
          </a:xfrm>
          <a:prstGeom prst="roundRect">
            <a:avLst>
              <a:gd name="adj" fmla="val 13462"/>
            </a:avLst>
          </a:prstGeom>
          <a:solidFill>
            <a:srgbClr val="E9F5EC"/>
          </a:solidFill>
          <a:ln w="15240">
            <a:solidFill>
              <a:srgbClr val="3FAE5A"/>
            </a:solidFill>
            <a:prstDash val="solid"/>
          </a:ln>
        </p:spPr>
      </p:sp>
      <p:sp>
        <p:nvSpPr>
          <p:cNvPr id="32" name="Shape 29"/>
          <p:cNvSpPr/>
          <p:nvPr/>
        </p:nvSpPr>
        <p:spPr>
          <a:xfrm>
            <a:off x="694944" y="5010912"/>
            <a:ext cx="365760" cy="365760"/>
          </a:xfrm>
          <a:prstGeom prst="ellipse">
            <a:avLst/>
          </a:prstGeom>
          <a:solidFill>
            <a:srgbClr val="3FAE5A"/>
          </a:solidFill>
          <a:ln/>
        </p:spPr>
      </p:sp>
      <p:sp>
        <p:nvSpPr>
          <p:cNvPr id="33" name="Text 30"/>
          <p:cNvSpPr/>
          <p:nvPr/>
        </p:nvSpPr>
        <p:spPr>
          <a:xfrm>
            <a:off x="694944" y="5010912"/>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956048"/>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Remove the legend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Direct-label the series instead.</a:t>
            </a:r>
            <a:endParaRPr lang="en-US" sz="1300" dirty="0"/>
          </a:p>
        </p:txBody>
      </p:sp>
      <p:sp>
        <p:nvSpPr>
          <p:cNvPr id="35" name="Shape 32"/>
          <p:cNvSpPr/>
          <p:nvPr/>
        </p:nvSpPr>
        <p:spPr>
          <a:xfrm>
            <a:off x="548640" y="5559552"/>
            <a:ext cx="11094415" cy="475488"/>
          </a:xfrm>
          <a:prstGeom prst="roundRect">
            <a:avLst>
              <a:gd name="adj" fmla="val 13462"/>
            </a:avLst>
          </a:prstGeom>
          <a:solidFill>
            <a:srgbClr val="E7F5FC"/>
          </a:solidFill>
          <a:ln w="15240">
            <a:solidFill>
              <a:srgbClr val="29ABE2"/>
            </a:solidFill>
            <a:prstDash val="solid"/>
          </a:ln>
        </p:spPr>
      </p:sp>
      <p:sp>
        <p:nvSpPr>
          <p:cNvPr id="36" name="Shape 33"/>
          <p:cNvSpPr/>
          <p:nvPr/>
        </p:nvSpPr>
        <p:spPr>
          <a:xfrm>
            <a:off x="694944" y="5614416"/>
            <a:ext cx="365760" cy="365760"/>
          </a:xfrm>
          <a:prstGeom prst="ellipse">
            <a:avLst/>
          </a:prstGeom>
          <a:solidFill>
            <a:srgbClr val="29ABE2"/>
          </a:solidFill>
          <a:ln/>
        </p:spPr>
      </p:sp>
      <p:sp>
        <p:nvSpPr>
          <p:cNvPr id="37" name="Text 34"/>
          <p:cNvSpPr/>
          <p:nvPr/>
        </p:nvSpPr>
        <p:spPr>
          <a:xfrm>
            <a:off x="694944" y="561441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559552"/>
            <a:ext cx="10271455" cy="475488"/>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Mute context to grey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Grey everything that is context; reserve saturation for the signal.</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ANNOTATION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Annotation: making the argument explicit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An unannotated chart says 'here is some data'; an annotated chart says 'here is what it means.'</a:t>
            </a:r>
            <a:endParaRPr lang="en-US" sz="1250" dirty="0"/>
          </a:p>
        </p:txBody>
      </p:sp>
      <p:sp>
        <p:nvSpPr>
          <p:cNvPr id="15" name="Shape 12"/>
          <p:cNvSpPr/>
          <p:nvPr/>
        </p:nvSpPr>
        <p:spPr>
          <a:xfrm>
            <a:off x="548640" y="2569464"/>
            <a:ext cx="351525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Takeaway title</a:t>
            </a:r>
            <a:endParaRPr lang="en-US" sz="1300" dirty="0"/>
          </a:p>
        </p:txBody>
      </p:sp>
      <p:sp>
        <p:nvSpPr>
          <p:cNvPr id="18" name="Text 15"/>
          <p:cNvSpPr/>
          <p:nvPr/>
        </p:nvSpPr>
        <p:spPr>
          <a:xfrm>
            <a:off x="731520" y="3118104"/>
            <a:ext cx="314949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conclusion, top-left, bold — carried over from M2.</a:t>
            </a:r>
            <a:endParaRPr lang="en-US" sz="1050" dirty="0"/>
          </a:p>
        </p:txBody>
      </p:sp>
      <p:sp>
        <p:nvSpPr>
          <p:cNvPr id="19" name="Shape 16"/>
          <p:cNvSpPr/>
          <p:nvPr/>
        </p:nvSpPr>
        <p:spPr>
          <a:xfrm>
            <a:off x="4338218" y="2569464"/>
            <a:ext cx="351525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Callout + leader</a:t>
            </a:r>
            <a:endParaRPr lang="en-US" sz="1300" dirty="0"/>
          </a:p>
        </p:txBody>
      </p:sp>
      <p:sp>
        <p:nvSpPr>
          <p:cNvPr id="22" name="Text 19"/>
          <p:cNvSpPr/>
          <p:nvPr/>
        </p:nvSpPr>
        <p:spPr>
          <a:xfrm>
            <a:off x="4521098" y="3118104"/>
            <a:ext cx="314949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Short text and a leader line at the point that carries the argument: 'Najran plateaued after the March outage'.</a:t>
            </a:r>
            <a:endParaRPr lang="en-US" sz="1050" dirty="0"/>
          </a:p>
        </p:txBody>
      </p:sp>
      <p:sp>
        <p:nvSpPr>
          <p:cNvPr id="23" name="Shape 20"/>
          <p:cNvSpPr/>
          <p:nvPr/>
        </p:nvSpPr>
        <p:spPr>
          <a:xfrm>
            <a:off x="8127797" y="2569464"/>
            <a:ext cx="351525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Reference lines/bands</a:t>
            </a:r>
            <a:endParaRPr lang="en-US" sz="1300" dirty="0"/>
          </a:p>
        </p:txBody>
      </p:sp>
      <p:sp>
        <p:nvSpPr>
          <p:cNvPr id="26" name="Text 23"/>
          <p:cNvSpPr/>
          <p:nvPr/>
        </p:nvSpPr>
        <p:spPr>
          <a:xfrm>
            <a:off x="8310677" y="3118104"/>
            <a:ext cx="314949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Target, average, or an acceptable range.</a:t>
            </a:r>
            <a:endParaRPr lang="en-US" sz="1050" dirty="0"/>
          </a:p>
        </p:txBody>
      </p:sp>
      <p:sp>
        <p:nvSpPr>
          <p:cNvPr id="27" name="Shape 24"/>
          <p:cNvSpPr/>
          <p:nvPr/>
        </p:nvSpPr>
        <p:spPr>
          <a:xfrm>
            <a:off x="548640" y="4421124"/>
            <a:ext cx="351525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548640" y="4421124"/>
            <a:ext cx="3515258" cy="82296"/>
          </a:xfrm>
          <a:prstGeom prst="rect">
            <a:avLst/>
          </a:prstGeom>
          <a:solidFill>
            <a:srgbClr val="6C4FA1"/>
          </a:solidFill>
          <a:ln/>
        </p:spPr>
      </p:sp>
      <p:sp>
        <p:nvSpPr>
          <p:cNvPr id="29" name="Text 26"/>
          <p:cNvSpPr/>
          <p:nvPr/>
        </p:nvSpPr>
        <p:spPr>
          <a:xfrm>
            <a:off x="731520" y="460400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Highlight + mute</a:t>
            </a:r>
            <a:endParaRPr lang="en-US" sz="1300" dirty="0"/>
          </a:p>
        </p:txBody>
      </p:sp>
      <p:sp>
        <p:nvSpPr>
          <p:cNvPr id="30" name="Text 27"/>
          <p:cNvSpPr/>
          <p:nvPr/>
        </p:nvSpPr>
        <p:spPr>
          <a:xfrm>
            <a:off x="731520" y="4969764"/>
            <a:ext cx="314949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One series in colour, the rest grey, plus a label — the pre-attentive pop from M1.</a:t>
            </a:r>
            <a:endParaRPr lang="en-US" sz="1050" dirty="0"/>
          </a:p>
        </p:txBody>
      </p:sp>
      <p:sp>
        <p:nvSpPr>
          <p:cNvPr id="31" name="Shape 28"/>
          <p:cNvSpPr/>
          <p:nvPr/>
        </p:nvSpPr>
        <p:spPr>
          <a:xfrm>
            <a:off x="4338218" y="4421124"/>
            <a:ext cx="3515258" cy="1613916"/>
          </a:xfrm>
          <a:prstGeom prst="roundRect">
            <a:avLst>
              <a:gd name="adj" fmla="val 4533"/>
            </a:avLst>
          </a:prstGeom>
          <a:solidFill>
            <a:srgbClr val="FFFFFF"/>
          </a:solidFill>
          <a:ln w="12700">
            <a:solidFill>
              <a:srgbClr val="D9DEE8"/>
            </a:solidFill>
            <a:prstDash val="solid"/>
          </a:ln>
        </p:spPr>
      </p:sp>
      <p:sp>
        <p:nvSpPr>
          <p:cNvPr id="32" name="Shape 29"/>
          <p:cNvSpPr/>
          <p:nvPr/>
        </p:nvSpPr>
        <p:spPr>
          <a:xfrm>
            <a:off x="4338218" y="4421124"/>
            <a:ext cx="3515258" cy="82296"/>
          </a:xfrm>
          <a:prstGeom prst="rect">
            <a:avLst/>
          </a:prstGeom>
          <a:solidFill>
            <a:srgbClr val="3FAE5A"/>
          </a:solidFill>
          <a:ln/>
        </p:spPr>
      </p:sp>
      <p:sp>
        <p:nvSpPr>
          <p:cNvPr id="33" name="Text 30"/>
          <p:cNvSpPr/>
          <p:nvPr/>
        </p:nvSpPr>
        <p:spPr>
          <a:xfrm>
            <a:off x="4521098" y="460400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Direct value labels</a:t>
            </a:r>
            <a:endParaRPr lang="en-US" sz="1300" dirty="0"/>
          </a:p>
        </p:txBody>
      </p:sp>
      <p:sp>
        <p:nvSpPr>
          <p:cNvPr id="34" name="Text 31"/>
          <p:cNvSpPr/>
          <p:nvPr/>
        </p:nvSpPr>
        <p:spPr>
          <a:xfrm>
            <a:off x="4521098" y="4969764"/>
            <a:ext cx="314949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Exact numbers where they matter; executives want the number and the shape.</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ARABIC &amp; RTL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Arabic, RTL, and numeral conventions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For a Saudi executive audience this is not optional polish — mixing directions is the tell of a rushed job.</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Right-to-left order</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natural scan is right-to-left; put 'first/best' on the right and run the time axis right-to-left (earliest on the right).</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Bilingual labelling</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Pick one convention — Arabic primary with English secondary, or matched pairs — and apply it consistently.</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Numerals</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Choose Arabic-Indic (٠١٢٣) or Western Arabic (0123) deliberately; confirm the house style.</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Fonts &amp; rendering</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matplotlib needs an Arabic-capable font plus a reshaper/bidi step; broken glyphs are worse than English-only.</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ACCESSIBLE THEME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 colour-blind-safe theme and palette helpers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69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src/viz/theme.py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CATEGORICAL = ["#0072B2", "#E69F00", "#009E73",  # Okabe-Ito</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"#CC79A7", "#56B4E9", "#D55E00", "#F0E442"]</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GREY = "#B8B8B8"      # context colour</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ACCENT = "#D55E00"    # reserve for the ONE signal</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SEQUENTIAL = "Blues"  # single-hue, light -&gt; dark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DIVERGING = "RdBu_r"  # two-hue, centre on midpoint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apply_theme():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plt.rcParams.update({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"axes.spines.top": False,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"axes.spines.right": False,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"axes.grid": True, "grid.color": "#EEEEEE",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"axes.titlelocation": "left",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"axes.titleweight": "bold", "font.size": 11,</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highlight_palette(categories, signal):</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"""One accent for the signal, grey for context."""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[ACCENT if c == signal else GREY</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for c in categories]</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Set once; every chart inherits brand + accessibility defaults.</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DIVERGING PALETTE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Diverging palette centred on the target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notebooks/m3_colour_declutter.ipynb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TARGET = 18.0    # SAR per transaction, program target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s = latest.sort_values("cost_per_txn_sar")</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7F9CC4"/>
                </a:solidFill>
                <a:latin typeface="Courier New" pitchFamily="34" charset="0"/>
                <a:ea typeface="Courier New" pitchFamily="34" charset="-122"/>
                <a:cs typeface="Courier New" pitchFamily="34" charset="-120"/>
              </a:rPr>
              <a:t># Diverging colour CENTRED on target, not the mean.</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norm = mcolors.TwoSlopeNorm(</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vmin=s.cost_per_txn_sar.min(),</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vcenter=TARGET,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vmax=s.cost_per_txn_sar.max())</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cmap = plt.get_cmap(DIVERGING)</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colors = [cmap(norm(v)) for v in s.cost_per_txn_sar]</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plt.subplots(figsize=(8, 5))</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ax.barh(s.region, s.cost_per_txn_sar, color=colors)</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ax.axvline(TARGET, color="#333", ls="--", lw=1)</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ax.text(TARGET, len(s) - 0.4, " target 18 SAR")</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ax.set_title(</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    "Five regions still exceed the 18 SAR target")</a:t>
            </a:r>
            <a:endParaRPr lang="en-US" sz="950" dirty="0"/>
          </a:p>
          <a:p>
            <a:pPr indent="0" marL="0">
              <a:lnSpc>
                <a:spcPct val="102000"/>
              </a:lnSpc>
              <a:buNone/>
            </a:pPr>
            <a:r>
              <a:rPr lang="en-US" sz="950" dirty="0">
                <a:solidFill>
                  <a:srgbClr val="E8ECF5"/>
                </a:solidFill>
                <a:latin typeface="Courier New" pitchFamily="34" charset="0"/>
                <a:ea typeface="Courier New" pitchFamily="34" charset="-122"/>
                <a:cs typeface="Courier New" pitchFamily="34" charset="-120"/>
              </a:rPr>
              <a:t>fig.savefig("out/m3_diverging_cost.png", dpi=150)</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TwoSlopeNorm(vcenter=TARGET) puts the neutral colour on the target.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3 — Before/After Redesign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إعادة تصميم: قبل وبعد</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71</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Take a cluttered, mis-coloured Tayseer chart and redesign it — correct palette, decluttered, annotated with the takeaway — then measure the gain.</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apply_theme() from src/viz/theme.py; cluttered_m3.png and its source data provided; git checkout lab3_start.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Study cluttered_m3.png; list every violation (3D, rainbow, red/green, legend overlap, no title).</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Rebuild honestly: choose the correct palette type; fix sequential or diverging data.</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Apply the decluttering ladder: junk, gridlines, spines, legend via direct labels.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Add annotation: a takeaway title and exactly one callout at the argument.</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Run a colour-blind simulation (cvd_sim.py); fix any red/green-only distinction.</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Produce an Arabic version with RTL axis order and a correctly-rendered title.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Count data-ink vs total-ink before/after; note the time-to-takeaway change.</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72</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Data is 'variance from target.' Which palette?</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Diverging, centred on the target.</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Why is red/green-only encoding a defect?</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Excludes ~8% of men (colour-blindness); violates redundancy.</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How do you raise the data-ink ratio?</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Remove non-data ink (junk, gridlines, borders, legend) without touching data ink.</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How many callout annotations should carry the argument?</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One, maybe two — state the point, don't restate the axis.</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In an Arabic chart, which way does the time axis run?</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Right-to-left (earliest on the right).</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Case Study — Accessible, Bilingual Progress Chart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مخطط التقدم الوطني: متاح وثنائي اللغة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73</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Tayseer's flagship national digital-adoption chart appears in a public Vision 2030 update, in Arabic and English. It uses a red-to-green gradient and a left-to-right time axis in the Arabic edition — flagged by an accessibility review and an Arabic-first stakeholder.</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A public-facing artefact tied to a national program's credibility. An inaccessible or awkwardly-localised chart in a Vision 2030 communication is a reputational issue, not just a design nit.</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Redesign it to be colour-blind-safe, correctly localised for Arabic (RTL, numerals, glyphs), and still on-brand — without changing the underlying message.</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Replace red-green with a colour-blind-safe palette plus a redundant cue; build a true RTL Arabic version (mirror the axis, reshape/bidi); reserve the brand accent for the national trend and grey the context; annotate crossing 65%; verify both editions on the simulator.</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to reach after Module 3</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74</a:t>
            </a:r>
            <a:endParaRPr lang="en-US" sz="8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4389120"/>
                <a:gridCol w="2926080"/>
                <a:gridCol w="374904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Correct palette type for data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Colour-blind simulator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cvd_sim.py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Data-ink improvement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 2× fewer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Element count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Argument-carrying annotations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Arabic RTL + glyph correctness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Correct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Native-reader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Before / After — the worked redesign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75</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algn="ctr" indent="0" marL="0">
              <a:buNone/>
            </a:pPr>
            <a:r>
              <a:rPr lang="en-US" sz="3400" b="1" dirty="0">
                <a:solidFill>
                  <a:srgbClr val="2E5AAC"/>
                </a:solidFill>
                <a:latin typeface="Arial" pitchFamily="34" charset="0"/>
                <a:ea typeface="Arial" pitchFamily="34" charset="-122"/>
                <a:cs typeface="Arial" pitchFamily="34" charset="-120"/>
              </a:rPr>
              <a:t>16 → 3</a:t>
            </a:r>
            <a:endParaRPr lang="en-US" sz="3400" dirty="0"/>
          </a:p>
        </p:txBody>
      </p:sp>
      <p:sp>
        <p:nvSpPr>
          <p:cNvPr id="16" name="Text 13"/>
          <p:cNvSpPr/>
          <p:nvPr/>
        </p:nvSpPr>
        <p:spPr>
          <a:xfrm>
            <a:off x="658368"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Non-data ink</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Non-data ink elements cut over 5×.</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algn="ctr" indent="0" marL="0">
              <a:buNone/>
            </a:pPr>
            <a:r>
              <a:rPr lang="en-US" sz="4400" b="1" dirty="0">
                <a:solidFill>
                  <a:srgbClr val="00A79D"/>
                </a:solidFill>
                <a:latin typeface="Arial" pitchFamily="34" charset="0"/>
                <a:ea typeface="Arial" pitchFamily="34" charset="-122"/>
                <a:cs typeface="Arial" pitchFamily="34" charset="-120"/>
              </a:rPr>
              <a:t>0 → 1</a:t>
            </a:r>
            <a:endParaRPr lang="en-US" sz="4400" dirty="0"/>
          </a:p>
        </p:txBody>
      </p:sp>
      <p:sp>
        <p:nvSpPr>
          <p:cNvPr id="20" name="Text 17"/>
          <p:cNvSpPr/>
          <p:nvPr/>
        </p:nvSpPr>
        <p:spPr>
          <a:xfrm>
            <a:off x="3500552"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Annotations</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From none to one callout plus a takeaway title.</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algn="ctr" indent="0" marL="0">
              <a:buNone/>
            </a:pPr>
            <a:r>
              <a:rPr lang="en-US" sz="2700" b="1" dirty="0">
                <a:solidFill>
                  <a:srgbClr val="E8833A"/>
                </a:solidFill>
                <a:latin typeface="Arial" pitchFamily="34" charset="0"/>
                <a:ea typeface="Arial" pitchFamily="34" charset="-122"/>
                <a:cs typeface="Arial" pitchFamily="34" charset="-120"/>
              </a:rPr>
              <a:t>14 → 4 s</a:t>
            </a:r>
            <a:endParaRPr lang="en-US" sz="2700" dirty="0"/>
          </a:p>
        </p:txBody>
      </p:sp>
      <p:sp>
        <p:nvSpPr>
          <p:cNvPr id="24" name="Text 21"/>
          <p:cNvSpPr/>
          <p:nvPr/>
        </p:nvSpPr>
        <p:spPr>
          <a:xfrm>
            <a:off x="6342736"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Time-to-takeaway</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Peer time to read the takeaway.</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algn="ctr" indent="0" marL="0">
              <a:buNone/>
            </a:pPr>
            <a:r>
              <a:rPr lang="en-US" sz="2700" b="1" dirty="0">
                <a:solidFill>
                  <a:srgbClr val="6C4FA1"/>
                </a:solidFill>
                <a:latin typeface="Arial" pitchFamily="34" charset="0"/>
                <a:ea typeface="Arial" pitchFamily="34" charset="-122"/>
                <a:cs typeface="Arial" pitchFamily="34" charset="-120"/>
              </a:rPr>
              <a:t>no → yes</a:t>
            </a:r>
            <a:endParaRPr lang="en-US" sz="2700" dirty="0"/>
          </a:p>
        </p:txBody>
      </p:sp>
      <p:sp>
        <p:nvSpPr>
          <p:cNvPr id="28" name="Text 25"/>
          <p:cNvSpPr/>
          <p:nvPr/>
        </p:nvSpPr>
        <p:spPr>
          <a:xfrm>
            <a:off x="9184919"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Colour-blind safe</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Now passes the deuteranopia simulator.</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Palette: rainbow on ordered data → sequential Blues.</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76</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Palette decision chart (Arabic + English)</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Decluttering ladder poster (six rungs)</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Annotation anatomy exemplar</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RTL/Arabic layout guide (LTR vs RTL)</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m3_diverging_cost.png (target-centred)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cluttered_m3.png (the 'before')</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m3_after_annotated.png (the 'after')</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Colour-blind simulator output</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cluttered_m3.png + source (redesign target)</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brand_palette.json (mock national brand)</a:t>
            </a:r>
            <a:endParaRPr lang="en-US" sz="1050" dirty="0"/>
          </a:p>
        </p:txBody>
      </p:sp>
      <p:sp>
        <p:nvSpPr>
          <p:cNvPr id="38" name="Text 35"/>
          <p:cNvSpPr/>
          <p:nvPr/>
        </p:nvSpPr>
        <p:spPr>
          <a:xfrm>
            <a:off x="8292389" y="4233672"/>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Arabic-capable font bundle (TTF)</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04</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4</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Interactive Dashboards and BI Tools</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لوحات المعلومات التفاعلية</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Turn a set of honest charts into a system — a dashboard with a job, an audience, and a failure mode.</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 dashboard is an argument with controls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الغرض</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78</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The craft shifts from 'compose one view' to 'compose a layout, choose interaction patterns, and design for self-service'.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From view to system: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set of charts becomes software that lets a user explore Tayseer with no analyst in the room.</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It has a job: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One audience, one recurring decision, one cadence — everything else is clutter with a refresh button.</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Two homes: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Plotly for programmatic control; a BI tool for the self-service reality of most Saudi organisations.</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Not a data dump: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wall of gauges answers no question; a good dashboard is an argument with controls.</a:t>
            </a:r>
            <a:endParaRPr lang="en-US" sz="12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 live dashboard, not a monthly PDF</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79</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Executives and operations directorates increasingly expect a live view they can query themselves at 8am — that is the value of business intelligence.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Self-service: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Ops answers 'which region needs an intervention this week?' without waiting for the analytics team.</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Shelfware risk: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bad dashboard shows twenty KPIs, answers none, and is opened once in a fortnight.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Vision 2030: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Every ministry is standing up performance dashboards; the difference is design, not data.</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Weekly decisions: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gap between a dashboard that drives decisions and one that is ignored is almost all design.</a:t>
            </a:r>
            <a:endParaRPr lang="en-US" sz="12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a dashboard earns its keep</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80</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Deputy Minister's morning screen</a:t>
            </a:r>
            <a:endParaRPr lang="en-US" sz="1300" dirty="0"/>
          </a:p>
        </p:txBody>
      </p:sp>
      <p:sp>
        <p:nvSpPr>
          <p:cNvPr id="19" name="Text 16"/>
          <p:cNvSpPr/>
          <p:nvPr/>
        </p:nvSpPr>
        <p:spPr>
          <a:xfrm>
            <a:off x="731520" y="3200400"/>
            <a:ext cx="3149498" cy="768096"/>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One headline KPI, the trend, and the three regions needing attention — nothing else above the fold.</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Ops</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Self-service exploration</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Filter the same view by service category and channel, drill national → region → service, with no code.</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Portal</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Embedded leadership view</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Mobile-legible, published to a portal with row-level security so each region director sees their own region.</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4</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81</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algn="ctr" indent="0" marL="0">
              <a:buNone/>
            </a:pPr>
            <a:r>
              <a:rPr lang="en-US" sz="3400" b="1" dirty="0">
                <a:solidFill>
                  <a:srgbClr val="2E5AAC"/>
                </a:solidFill>
                <a:latin typeface="Arial" pitchFamily="34" charset="0"/>
                <a:ea typeface="Arial" pitchFamily="34" charset="-122"/>
                <a:cs typeface="Arial" pitchFamily="34" charset="-120"/>
              </a:rPr>
              <a:t>Layout</a:t>
            </a:r>
            <a:endParaRPr lang="en-US" sz="3400" dirty="0"/>
          </a:p>
        </p:txBody>
      </p:sp>
      <p:sp>
        <p:nvSpPr>
          <p:cNvPr id="16" name="Text 13"/>
          <p:cNvSpPr/>
          <p:nvPr/>
        </p:nvSpPr>
        <p:spPr>
          <a:xfrm>
            <a:off x="658368"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Design for a question</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Inverted-pyramid hierarchy built on the primary question.</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algn="ctr" indent="0" marL="0">
              <a:buNone/>
            </a:pPr>
            <a:r>
              <a:rPr lang="en-US" sz="3400" b="1" dirty="0">
                <a:solidFill>
                  <a:srgbClr val="00A79D"/>
                </a:solidFill>
                <a:latin typeface="Arial" pitchFamily="34" charset="0"/>
                <a:ea typeface="Arial" pitchFamily="34" charset="-122"/>
                <a:cs typeface="Arial" pitchFamily="34" charset="-120"/>
              </a:rPr>
              <a:t>Pattern</a:t>
            </a:r>
            <a:endParaRPr lang="en-US" sz="3400" dirty="0"/>
          </a:p>
        </p:txBody>
      </p:sp>
      <p:sp>
        <p:nvSpPr>
          <p:cNvPr id="20" name="Text 17"/>
          <p:cNvSpPr/>
          <p:nvPr/>
        </p:nvSpPr>
        <p:spPr>
          <a:xfrm>
            <a:off x="3500552"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Pick the interaction</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Filter, cross-filter, drill or toggle — chosen by task.</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algn="ctr" indent="0" marL="0">
              <a:buNone/>
            </a:pPr>
            <a:r>
              <a:rPr lang="en-US" sz="4400" b="1" dirty="0">
                <a:solidFill>
                  <a:srgbClr val="E8833A"/>
                </a:solidFill>
                <a:latin typeface="Arial" pitchFamily="34" charset="0"/>
                <a:ea typeface="Arial" pitchFamily="34" charset="-122"/>
                <a:cs typeface="Arial" pitchFamily="34" charset="-120"/>
              </a:rPr>
              <a:t>Build</a:t>
            </a:r>
            <a:endParaRPr lang="en-US" sz="4400" dirty="0"/>
          </a:p>
        </p:txBody>
      </p:sp>
      <p:sp>
        <p:nvSpPr>
          <p:cNvPr id="24" name="Text 21"/>
          <p:cNvSpPr/>
          <p:nvPr/>
        </p:nvSpPr>
        <p:spPr>
          <a:xfrm>
            <a:off x="6342736"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Plotly + BI</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Multi-view Plotly dashboard, reproduced in a BI tool.</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algn="ctr" indent="0" marL="0">
              <a:buNone/>
            </a:pPr>
            <a:r>
              <a:rPr lang="en-US" sz="4400" b="1" dirty="0">
                <a:solidFill>
                  <a:srgbClr val="6C4FA1"/>
                </a:solidFill>
                <a:latin typeface="Arial" pitchFamily="34" charset="0"/>
                <a:ea typeface="Arial" pitchFamily="34" charset="-122"/>
                <a:cs typeface="Arial" pitchFamily="34" charset="-120"/>
              </a:rPr>
              <a:t>Prove</a:t>
            </a:r>
            <a:endParaRPr lang="en-US" sz="4400" dirty="0"/>
          </a:p>
        </p:txBody>
      </p:sp>
      <p:sp>
        <p:nvSpPr>
          <p:cNvPr id="28" name="Text 25"/>
          <p:cNvSpPr/>
          <p:nvPr/>
        </p:nvSpPr>
        <p:spPr>
          <a:xfrm>
            <a:off x="9184919" y="3502152"/>
            <a:ext cx="2348408"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Usability-test</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A non-analyst answers the target question unaided.</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Each competency maps to a lab task and a benchmark measured in the room.</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82</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Design a dashboard layout around a primary question and information hierarchy</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Select the correct interaction pattern (filter, cross-filter, drill, toggle) for a task</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Build a multi-view interactive dashboard in Plotly with linked views</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 LO2</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Reproduce a dashboard in a BI tool using a measures / calculated-field layer</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Apply self-service and accessibility principles (RLS, mobile, performance)</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Usability-test a dashboard against a target question and iterate</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LO3, LO5</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THE JOB OF A DASHBOARD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One job — and the wall-of-gauges failure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83</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A dashboard's only job is to let its audience answer a recurring question fast enough to act. Name who opens it, what decision it feeds, and how often.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One sentence: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Tayseer answers 'is the program on track, and where is it not?' for a Deputy Minister, weekly.</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It dictates all: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One headline number (adoption vs 65%), one trend, one 'where' ranking, and a filter set.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Wall of gauges: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Twenty speedometers because twenty metrics exist, none prioritised — the classic failure.</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Why it fails: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No pre-attentive hierarchy (Module 1), so the eye has no entry point; interaction is never learnt.</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LAYOUT &amp; HIERARCHY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inverted pyramid: top answers, bottom explains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84</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Dashboards are read in a Z/F pattern — top-left first for LTR, top-right for Arabic RTL; the Module 3 mirroring discipline applies to whole layouts.</a:t>
            </a:r>
            <a:endParaRPr lang="en-US" sz="1250" dirty="0"/>
          </a:p>
        </p:txBody>
      </p:sp>
      <p:sp>
        <p:nvSpPr>
          <p:cNvPr id="15" name="Shape 12"/>
          <p:cNvSpPr/>
          <p:nvPr/>
        </p:nvSpPr>
        <p:spPr>
          <a:xfrm>
            <a:off x="2628843" y="2542032"/>
            <a:ext cx="6934010" cy="777240"/>
          </a:xfrm>
          <a:prstGeom prst="roundRect">
            <a:avLst>
              <a:gd name="adj" fmla="val 8235"/>
            </a:avLst>
          </a:prstGeom>
          <a:solidFill>
            <a:srgbClr val="EAF0FA"/>
          </a:solidFill>
          <a:ln w="15240">
            <a:solidFill>
              <a:srgbClr val="2E5AAC"/>
            </a:solidFill>
            <a:prstDash val="solid"/>
          </a:ln>
        </p:spPr>
      </p:sp>
      <p:sp>
        <p:nvSpPr>
          <p:cNvPr id="16" name="Shape 13"/>
          <p:cNvSpPr/>
          <p:nvPr/>
        </p:nvSpPr>
        <p:spPr>
          <a:xfrm>
            <a:off x="2775147" y="2747772"/>
            <a:ext cx="365760" cy="365760"/>
          </a:xfrm>
          <a:prstGeom prst="ellipse">
            <a:avLst/>
          </a:prstGeom>
          <a:solidFill>
            <a:srgbClr val="2E5AAC"/>
          </a:solidFill>
          <a:ln/>
        </p:spPr>
      </p:sp>
      <p:sp>
        <p:nvSpPr>
          <p:cNvPr id="17" name="Text 14"/>
          <p:cNvSpPr/>
          <p:nvPr/>
        </p:nvSpPr>
        <p:spPr>
          <a:xfrm>
            <a:off x="2775147" y="2747772"/>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3268923" y="2542032"/>
            <a:ext cx="6111050" cy="777240"/>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Headline band (top)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One to four big-number KPIs with a target/delta and a sparkline — 'am I on track?' in a glance.</a:t>
            </a:r>
            <a:endParaRPr lang="en-US" sz="1300" dirty="0"/>
          </a:p>
        </p:txBody>
      </p:sp>
      <p:sp>
        <p:nvSpPr>
          <p:cNvPr id="19" name="Shape 16"/>
          <p:cNvSpPr/>
          <p:nvPr/>
        </p:nvSpPr>
        <p:spPr>
          <a:xfrm>
            <a:off x="1935442" y="3447288"/>
            <a:ext cx="8320811" cy="777240"/>
          </a:xfrm>
          <a:prstGeom prst="roundRect">
            <a:avLst>
              <a:gd name="adj" fmla="val 8235"/>
            </a:avLst>
          </a:prstGeom>
          <a:solidFill>
            <a:srgbClr val="E6F5F4"/>
          </a:solidFill>
          <a:ln w="15240">
            <a:solidFill>
              <a:srgbClr val="00A79D"/>
            </a:solidFill>
            <a:prstDash val="solid"/>
          </a:ln>
        </p:spPr>
      </p:sp>
      <p:sp>
        <p:nvSpPr>
          <p:cNvPr id="20" name="Shape 17"/>
          <p:cNvSpPr/>
          <p:nvPr/>
        </p:nvSpPr>
        <p:spPr>
          <a:xfrm>
            <a:off x="2081746" y="3653028"/>
            <a:ext cx="365760" cy="365760"/>
          </a:xfrm>
          <a:prstGeom prst="ellipse">
            <a:avLst/>
          </a:prstGeom>
          <a:solidFill>
            <a:srgbClr val="00A79D"/>
          </a:solidFill>
          <a:ln/>
        </p:spPr>
      </p:sp>
      <p:sp>
        <p:nvSpPr>
          <p:cNvPr id="21" name="Text 18"/>
          <p:cNvSpPr/>
          <p:nvPr/>
        </p:nvSpPr>
        <p:spPr>
          <a:xfrm>
            <a:off x="2081746" y="3653028"/>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2575522" y="3447288"/>
            <a:ext cx="7497851" cy="777240"/>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Primary view (centre)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single most important chart: national adoption trend against the 65% target line.</a:t>
            </a:r>
            <a:endParaRPr lang="en-US" sz="1300" dirty="0"/>
          </a:p>
        </p:txBody>
      </p:sp>
      <p:sp>
        <p:nvSpPr>
          <p:cNvPr id="23" name="Shape 20"/>
          <p:cNvSpPr/>
          <p:nvPr/>
        </p:nvSpPr>
        <p:spPr>
          <a:xfrm>
            <a:off x="1242041" y="4352544"/>
            <a:ext cx="9707613" cy="777240"/>
          </a:xfrm>
          <a:prstGeom prst="roundRect">
            <a:avLst>
              <a:gd name="adj" fmla="val 8235"/>
            </a:avLst>
          </a:prstGeom>
          <a:solidFill>
            <a:srgbClr val="FCF0E6"/>
          </a:solidFill>
          <a:ln w="15240">
            <a:solidFill>
              <a:srgbClr val="E8833A"/>
            </a:solidFill>
            <a:prstDash val="solid"/>
          </a:ln>
        </p:spPr>
      </p:sp>
      <p:sp>
        <p:nvSpPr>
          <p:cNvPr id="24" name="Shape 21"/>
          <p:cNvSpPr/>
          <p:nvPr/>
        </p:nvSpPr>
        <p:spPr>
          <a:xfrm>
            <a:off x="1388345" y="4558284"/>
            <a:ext cx="365760" cy="365760"/>
          </a:xfrm>
          <a:prstGeom prst="ellipse">
            <a:avLst/>
          </a:prstGeom>
          <a:solidFill>
            <a:srgbClr val="E8833A"/>
          </a:solidFill>
          <a:ln/>
        </p:spPr>
      </p:sp>
      <p:sp>
        <p:nvSpPr>
          <p:cNvPr id="25" name="Text 22"/>
          <p:cNvSpPr/>
          <p:nvPr/>
        </p:nvSpPr>
        <p:spPr>
          <a:xfrm>
            <a:off x="1388345" y="4558284"/>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882121" y="4352544"/>
            <a:ext cx="8884653" cy="777240"/>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Breakdown band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'where?' — a sorted regional bar or dot plot, the operative comparison from Module 2.</a:t>
            </a:r>
            <a:endParaRPr lang="en-US" sz="1300" dirty="0"/>
          </a:p>
        </p:txBody>
      </p:sp>
      <p:sp>
        <p:nvSpPr>
          <p:cNvPr id="27" name="Shape 24"/>
          <p:cNvSpPr/>
          <p:nvPr/>
        </p:nvSpPr>
        <p:spPr>
          <a:xfrm>
            <a:off x="548640" y="5257800"/>
            <a:ext cx="11094415" cy="777240"/>
          </a:xfrm>
          <a:prstGeom prst="roundRect">
            <a:avLst>
              <a:gd name="adj" fmla="val 8235"/>
            </a:avLst>
          </a:prstGeom>
          <a:solidFill>
            <a:srgbClr val="EFEBF6"/>
          </a:solidFill>
          <a:ln w="15240">
            <a:solidFill>
              <a:srgbClr val="6C4FA1"/>
            </a:solidFill>
            <a:prstDash val="solid"/>
          </a:ln>
        </p:spPr>
      </p:sp>
      <p:sp>
        <p:nvSpPr>
          <p:cNvPr id="28" name="Shape 25"/>
          <p:cNvSpPr/>
          <p:nvPr/>
        </p:nvSpPr>
        <p:spPr>
          <a:xfrm>
            <a:off x="694944" y="5463540"/>
            <a:ext cx="365760" cy="365760"/>
          </a:xfrm>
          <a:prstGeom prst="ellipse">
            <a:avLst/>
          </a:prstGeom>
          <a:solidFill>
            <a:srgbClr val="6C4FA1"/>
          </a:solidFill>
          <a:ln/>
        </p:spPr>
      </p:sp>
      <p:sp>
        <p:nvSpPr>
          <p:cNvPr id="29" name="Text 26"/>
          <p:cNvSpPr/>
          <p:nvPr/>
        </p:nvSpPr>
        <p:spPr>
          <a:xfrm>
            <a:off x="694944" y="546354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5257800"/>
            <a:ext cx="10271455" cy="777240"/>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Detail / drill (bottom)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Service-category and channel splits, revealed on interaction, not shown by default.</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INTERACTION PATTERNS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Four patterns — chosen by task, like encoding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Interaction is chosen by the user's task, exactly like an encoding channel. Name each pattern and its right use.</a:t>
            </a:r>
            <a:endParaRPr lang="en-US" sz="12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2377440"/>
                <a:gridCol w="2743200"/>
                <a:gridCol w="3200400"/>
                <a:gridCol w="27432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Pattern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User task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Tayseer example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Watch-out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Filter / slicer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Show only this subset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One service category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Silent exclusion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Cross-filter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Click here, update all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Region bar → trend re-scopes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Loops; unclear state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Drill-down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Summary to detail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National → region → service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 breadcrumb / no way back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Toggle / parameter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Switch the measure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Adoption ↔ cost ↔ CSAT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Meaning changes, no relabel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
        <p:nvSpPr>
          <p:cNvPr id="16" name="Text 12"/>
          <p:cNvSpPr/>
          <p:nvPr/>
        </p:nvSpPr>
        <p:spPr>
          <a:xfrm>
            <a:off x="548640" y="4956048"/>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Discipline: make the current state legible — active filter, drill level, and selection all visible.</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CHOOSING THE TOOL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Plotly vs Power BI vs Tableau</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Both code and BI live in the course because both live in the workplace; the design principles are identical, only the mechanics differ.</a:t>
            </a:r>
            <a:endParaRPr lang="en-US" sz="1250" dirty="0"/>
          </a:p>
        </p:txBody>
      </p:sp>
      <p:sp>
        <p:nvSpPr>
          <p:cNvPr id="15" name="Shape 12"/>
          <p:cNvSpPr/>
          <p:nvPr/>
        </p:nvSpPr>
        <p:spPr>
          <a:xfrm>
            <a:off x="548640" y="2569464"/>
            <a:ext cx="3490874"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3490874" cy="566928"/>
          </a:xfrm>
          <a:prstGeom prst="roundRect">
            <a:avLst>
              <a:gd name="adj" fmla="val 16129"/>
            </a:avLst>
          </a:prstGeom>
          <a:solidFill>
            <a:srgbClr val="2E5AAC"/>
          </a:solidFill>
          <a:ln/>
        </p:spPr>
      </p:sp>
      <p:sp>
        <p:nvSpPr>
          <p:cNvPr id="17" name="Shape 14"/>
          <p:cNvSpPr/>
          <p:nvPr/>
        </p:nvSpPr>
        <p:spPr>
          <a:xfrm>
            <a:off x="548640" y="2852928"/>
            <a:ext cx="3490874" cy="283464"/>
          </a:xfrm>
          <a:prstGeom prst="rect">
            <a:avLst/>
          </a:prstGeom>
          <a:solidFill>
            <a:srgbClr val="2E5AAC"/>
          </a:solidFill>
          <a:ln/>
        </p:spPr>
      </p:sp>
      <p:sp>
        <p:nvSpPr>
          <p:cNvPr id="18" name="Text 15"/>
          <p:cNvSpPr/>
          <p:nvPr/>
        </p:nvSpPr>
        <p:spPr>
          <a:xfrm>
            <a:off x="640080"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Plotly (+ Dash)</a:t>
            </a:r>
            <a:endParaRPr lang="en-US" sz="1400" dirty="0"/>
          </a:p>
        </p:txBody>
      </p:sp>
      <p:sp>
        <p:nvSpPr>
          <p:cNvPr id="19" name="Text 16"/>
          <p:cNvSpPr/>
          <p:nvPr/>
        </p:nvSpPr>
        <p:spPr>
          <a:xfrm>
            <a:off x="749808" y="3300984"/>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Programmatic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Version-controlled, reproducible, embeddable in Python apps.</a:t>
            </a:r>
            <a:endParaRPr lang="en-US" sz="1100" dirty="0"/>
          </a:p>
        </p:txBody>
      </p:sp>
      <p:sp>
        <p:nvSpPr>
          <p:cNvPr id="20" name="Text 17"/>
          <p:cNvSpPr/>
          <p:nvPr/>
        </p:nvSpPr>
        <p:spPr>
          <a:xfrm>
            <a:off x="749808" y="3977640"/>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Use when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The dashboard is part of a data product or needs custom logic.</a:t>
            </a:r>
            <a:endParaRPr lang="en-US" sz="1100" dirty="0"/>
          </a:p>
        </p:txBody>
      </p:sp>
      <p:sp>
        <p:nvSpPr>
          <p:cNvPr id="21" name="Text 18"/>
          <p:cNvSpPr/>
          <p:nvPr/>
        </p:nvSpPr>
        <p:spPr>
          <a:xfrm>
            <a:off x="749808" y="4654296"/>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Cost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You write and host the code yourself.</a:t>
            </a:r>
            <a:endParaRPr lang="en-US" sz="1100" dirty="0"/>
          </a:p>
        </p:txBody>
      </p:sp>
      <p:sp>
        <p:nvSpPr>
          <p:cNvPr id="22" name="Shape 19"/>
          <p:cNvSpPr/>
          <p:nvPr/>
        </p:nvSpPr>
        <p:spPr>
          <a:xfrm>
            <a:off x="4350410" y="2569464"/>
            <a:ext cx="3490874"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4350410" y="2569464"/>
            <a:ext cx="3490874" cy="566928"/>
          </a:xfrm>
          <a:prstGeom prst="roundRect">
            <a:avLst>
              <a:gd name="adj" fmla="val 16129"/>
            </a:avLst>
          </a:prstGeom>
          <a:solidFill>
            <a:srgbClr val="00A79D"/>
          </a:solidFill>
          <a:ln/>
        </p:spPr>
      </p:sp>
      <p:sp>
        <p:nvSpPr>
          <p:cNvPr id="24" name="Shape 21"/>
          <p:cNvSpPr/>
          <p:nvPr/>
        </p:nvSpPr>
        <p:spPr>
          <a:xfrm>
            <a:off x="4350410" y="2852928"/>
            <a:ext cx="3490874" cy="283464"/>
          </a:xfrm>
          <a:prstGeom prst="rect">
            <a:avLst/>
          </a:prstGeom>
          <a:solidFill>
            <a:srgbClr val="00A79D"/>
          </a:solidFill>
          <a:ln/>
        </p:spPr>
      </p:sp>
      <p:sp>
        <p:nvSpPr>
          <p:cNvPr id="25" name="Text 22"/>
          <p:cNvSpPr/>
          <p:nvPr/>
        </p:nvSpPr>
        <p:spPr>
          <a:xfrm>
            <a:off x="4441850"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Power BI</a:t>
            </a:r>
            <a:endParaRPr lang="en-US" sz="1400" dirty="0"/>
          </a:p>
        </p:txBody>
      </p:sp>
      <p:sp>
        <p:nvSpPr>
          <p:cNvPr id="26" name="Text 23"/>
          <p:cNvSpPr/>
          <p:nvPr/>
        </p:nvSpPr>
        <p:spPr>
          <a:xfrm>
            <a:off x="4551578" y="3300984"/>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Enterprise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Dominant in Microsoft-centric Saudi government and enterprise.</a:t>
            </a:r>
            <a:endParaRPr lang="en-US" sz="1100" dirty="0"/>
          </a:p>
        </p:txBody>
      </p:sp>
      <p:sp>
        <p:nvSpPr>
          <p:cNvPr id="27" name="Text 24"/>
          <p:cNvSpPr/>
          <p:nvPr/>
        </p:nvSpPr>
        <p:spPr>
          <a:xfrm>
            <a:off x="4551578" y="3977640"/>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Strengths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Star schema + DAX, row-level security, self-service authoring.</a:t>
            </a:r>
            <a:endParaRPr lang="en-US" sz="1100" dirty="0"/>
          </a:p>
        </p:txBody>
      </p:sp>
      <p:sp>
        <p:nvSpPr>
          <p:cNvPr id="28" name="Text 25"/>
          <p:cNvSpPr/>
          <p:nvPr/>
        </p:nvSpPr>
        <p:spPr>
          <a:xfrm>
            <a:off x="4551578" y="4654296"/>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Cost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Licensing; Windows-centric authoring.</a:t>
            </a:r>
            <a:endParaRPr lang="en-US" sz="1100" dirty="0"/>
          </a:p>
        </p:txBody>
      </p:sp>
      <p:sp>
        <p:nvSpPr>
          <p:cNvPr id="29" name="Shape 26"/>
          <p:cNvSpPr/>
          <p:nvPr/>
        </p:nvSpPr>
        <p:spPr>
          <a:xfrm>
            <a:off x="8152181" y="2569464"/>
            <a:ext cx="3490874" cy="3465576"/>
          </a:xfrm>
          <a:prstGeom prst="roundRect">
            <a:avLst>
              <a:gd name="adj" fmla="val 2639"/>
            </a:avLst>
          </a:prstGeom>
          <a:solidFill>
            <a:srgbClr val="FFFFFF"/>
          </a:solidFill>
          <a:ln w="17780">
            <a:solidFill>
              <a:srgbClr val="E8833A"/>
            </a:solidFill>
            <a:prstDash val="solid"/>
          </a:ln>
        </p:spPr>
      </p:sp>
      <p:sp>
        <p:nvSpPr>
          <p:cNvPr id="30" name="Shape 27"/>
          <p:cNvSpPr/>
          <p:nvPr/>
        </p:nvSpPr>
        <p:spPr>
          <a:xfrm>
            <a:off x="8152181" y="2569464"/>
            <a:ext cx="3490874" cy="566928"/>
          </a:xfrm>
          <a:prstGeom prst="roundRect">
            <a:avLst>
              <a:gd name="adj" fmla="val 16129"/>
            </a:avLst>
          </a:prstGeom>
          <a:solidFill>
            <a:srgbClr val="E8833A"/>
          </a:solidFill>
          <a:ln/>
        </p:spPr>
      </p:sp>
      <p:sp>
        <p:nvSpPr>
          <p:cNvPr id="31" name="Shape 28"/>
          <p:cNvSpPr/>
          <p:nvPr/>
        </p:nvSpPr>
        <p:spPr>
          <a:xfrm>
            <a:off x="8152181" y="2852928"/>
            <a:ext cx="3490874" cy="283464"/>
          </a:xfrm>
          <a:prstGeom prst="rect">
            <a:avLst/>
          </a:prstGeom>
          <a:solidFill>
            <a:srgbClr val="E8833A"/>
          </a:solidFill>
          <a:ln/>
        </p:spPr>
      </p:sp>
      <p:sp>
        <p:nvSpPr>
          <p:cNvPr id="32" name="Text 29"/>
          <p:cNvSpPr/>
          <p:nvPr/>
        </p:nvSpPr>
        <p:spPr>
          <a:xfrm>
            <a:off x="8243621"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Tableau</a:t>
            </a:r>
            <a:endParaRPr lang="en-US" sz="1400" dirty="0"/>
          </a:p>
        </p:txBody>
      </p:sp>
      <p:sp>
        <p:nvSpPr>
          <p:cNvPr id="33" name="Text 30"/>
          <p:cNvSpPr/>
          <p:nvPr/>
        </p:nvSpPr>
        <p:spPr>
          <a:xfrm>
            <a:off x="8353349" y="3300984"/>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Exploratory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Best-in-class exploratory authoring and visual polish.</a:t>
            </a:r>
            <a:endParaRPr lang="en-US" sz="1100" dirty="0"/>
          </a:p>
        </p:txBody>
      </p:sp>
      <p:sp>
        <p:nvSpPr>
          <p:cNvPr id="34" name="Text 31"/>
          <p:cNvSpPr/>
          <p:nvPr/>
        </p:nvSpPr>
        <p:spPr>
          <a:xfrm>
            <a:off x="8353349" y="3977640"/>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Free tier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Tableau Public is a cross-platform, licence-free teaching fallback.</a:t>
            </a:r>
            <a:endParaRPr lang="en-US" sz="1100" dirty="0"/>
          </a:p>
        </p:txBody>
      </p:sp>
      <p:sp>
        <p:nvSpPr>
          <p:cNvPr id="35" name="Text 32"/>
          <p:cNvSpPr/>
          <p:nvPr/>
        </p:nvSpPr>
        <p:spPr>
          <a:xfrm>
            <a:off x="8353349" y="4654296"/>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Cost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Licensing for server / governed features.</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DATA MODELLING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semantic layer: model, not chart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Interactive dashboards break when the data model is wrong, not when the chart is wrong. Teach the minimum modelling discipline.</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Shape</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Tidy / star schema</a:t>
            </a:r>
            <a:endParaRPr lang="en-US" sz="1300" dirty="0"/>
          </a:p>
        </p:txBody>
      </p:sp>
      <p:sp>
        <p:nvSpPr>
          <p:cNvPr id="20" name="Text 17"/>
          <p:cNvSpPr/>
          <p:nvPr/>
        </p:nvSpPr>
        <p:spPr>
          <a:xfrm>
            <a:off x="731520" y="350215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Fact table tayseer_services at month × region × category × channel, plus small dimension tables — what makes slicers and drill-downs cheap.</a:t>
            </a:r>
            <a:endParaRPr lang="en-US" sz="1050" dirty="0"/>
          </a:p>
        </p:txBody>
      </p:sp>
      <p:sp>
        <p:nvSpPr>
          <p:cNvPr id="21" name="Shape 18"/>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Value</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Measures, not baked numbers</a:t>
            </a:r>
            <a:endParaRPr lang="en-US" sz="1300" dirty="0"/>
          </a:p>
        </p:txBody>
      </p:sp>
      <p:sp>
        <p:nvSpPr>
          <p:cNvPr id="26" name="Text 23"/>
          <p:cNvSpPr/>
          <p:nvPr/>
        </p:nvSpPr>
        <p:spPr>
          <a:xfrm>
            <a:off x="4521098" y="3703320"/>
            <a:ext cx="3149498" cy="768096"/>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Define Digital Adoption %, Cost per Txn, Δ vs target at query time so they respond correctly to every filter.</a:t>
            </a:r>
            <a:endParaRPr lang="en-US" sz="1050" dirty="0"/>
          </a:p>
        </p:txBody>
      </p:sp>
      <p:sp>
        <p:nvSpPr>
          <p:cNvPr id="27" name="Shape 24"/>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Rule</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Know what is additive</a:t>
            </a:r>
            <a:endParaRPr lang="en-US" sz="1300" dirty="0"/>
          </a:p>
        </p:txBody>
      </p:sp>
      <p:sp>
        <p:nvSpPr>
          <p:cNvPr id="32" name="Text 29"/>
          <p:cNvSpPr/>
          <p:nvPr/>
        </p:nvSpPr>
        <p:spPr>
          <a:xfrm>
            <a:off x="8310677" y="350215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Transactions add; percentages and ratios do not — re-aggregate from components, never average-of-averages.</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PRODUCTION REALITIES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Performance, security, mobile, common mistakes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Production considerations decide whether a dashboard is used. It must answer its question in the default, unfiltered state — interaction only refines.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Speed</a:t>
            </a:r>
            <a:endParaRPr lang="en-US" sz="1000" dirty="0"/>
          </a:p>
        </p:txBody>
      </p:sp>
      <p:sp>
        <p:nvSpPr>
          <p:cNvPr id="19" name="Text 16"/>
          <p:cNvSpPr/>
          <p:nvPr/>
        </p:nvSpPr>
        <p:spPr>
          <a:xfrm>
            <a:off x="731520" y="3136392"/>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Performance</a:t>
            </a:r>
            <a:endParaRPr lang="en-US" sz="1300" dirty="0"/>
          </a:p>
        </p:txBody>
      </p:sp>
      <p:sp>
        <p:nvSpPr>
          <p:cNvPr id="20" name="Text 17"/>
          <p:cNvSpPr/>
          <p:nvPr/>
        </p:nvSpPr>
        <p:spPr>
          <a:xfrm>
            <a:off x="731520" y="3502152"/>
            <a:ext cx="504428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Eight seconds per click and it is abandoned. Pre-aggregate and cache monthly rollups; do not scan 28,000 rows per interaction.</a:t>
            </a:r>
            <a:endParaRPr lang="en-US" sz="1050" dirty="0"/>
          </a:p>
        </p:txBody>
      </p:sp>
      <p:sp>
        <p:nvSpPr>
          <p:cNvPr id="21" name="Shape 18"/>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2" name="Shape 19"/>
          <p:cNvSpPr/>
          <p:nvPr/>
        </p:nvSpPr>
        <p:spPr>
          <a:xfrm>
            <a:off x="6233008" y="2569464"/>
            <a:ext cx="5410048" cy="82296"/>
          </a:xfrm>
          <a:prstGeom prst="rect">
            <a:avLst/>
          </a:prstGeom>
          <a:solidFill>
            <a:srgbClr val="00A79D"/>
          </a:solidFill>
          <a:ln/>
        </p:spPr>
      </p:sp>
      <p:sp>
        <p:nvSpPr>
          <p:cNvPr id="23" name="Shape 20"/>
          <p:cNvSpPr/>
          <p:nvPr/>
        </p:nvSpPr>
        <p:spPr>
          <a:xfrm>
            <a:off x="6415888" y="2752344"/>
            <a:ext cx="822960" cy="292608"/>
          </a:xfrm>
          <a:prstGeom prst="roundRect">
            <a:avLst>
              <a:gd name="adj" fmla="val 18750"/>
            </a:avLst>
          </a:prstGeom>
          <a:solidFill>
            <a:srgbClr val="E6F5F4"/>
          </a:solidFill>
          <a:ln/>
        </p:spPr>
      </p:sp>
      <p:sp>
        <p:nvSpPr>
          <p:cNvPr id="24" name="Text 21"/>
          <p:cNvSpPr/>
          <p:nvPr/>
        </p:nvSpPr>
        <p:spPr>
          <a:xfrm>
            <a:off x="6415888" y="275234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RLS</a:t>
            </a:r>
            <a:endParaRPr lang="en-US" sz="1000" dirty="0"/>
          </a:p>
        </p:txBody>
      </p:sp>
      <p:sp>
        <p:nvSpPr>
          <p:cNvPr id="25" name="Text 22"/>
          <p:cNvSpPr/>
          <p:nvPr/>
        </p:nvSpPr>
        <p:spPr>
          <a:xfrm>
            <a:off x="6415888" y="3136392"/>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Row-level security</a:t>
            </a:r>
            <a:endParaRPr lang="en-US" sz="1300" dirty="0"/>
          </a:p>
        </p:txBody>
      </p:sp>
      <p:sp>
        <p:nvSpPr>
          <p:cNvPr id="26" name="Text 23"/>
          <p:cNvSpPr/>
          <p:nvPr/>
        </p:nvSpPr>
        <p:spPr>
          <a:xfrm>
            <a:off x="6415888" y="3502152"/>
            <a:ext cx="504428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Each director sees their region by default (RLS in Power BI, user filters in Tableau). Without it, the view often cannot be shared in government.</a:t>
            </a:r>
            <a:endParaRPr lang="en-US" sz="1050" dirty="0"/>
          </a:p>
        </p:txBody>
      </p:sp>
      <p:sp>
        <p:nvSpPr>
          <p:cNvPr id="27" name="Shape 24"/>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548640" y="4421124"/>
            <a:ext cx="5410048" cy="82296"/>
          </a:xfrm>
          <a:prstGeom prst="rect">
            <a:avLst/>
          </a:prstGeom>
          <a:solidFill>
            <a:srgbClr val="E8833A"/>
          </a:solidFill>
          <a:ln/>
        </p:spPr>
      </p:sp>
      <p:sp>
        <p:nvSpPr>
          <p:cNvPr id="29" name="Shape 26"/>
          <p:cNvSpPr/>
          <p:nvPr/>
        </p:nvSpPr>
        <p:spPr>
          <a:xfrm>
            <a:off x="731520" y="4604004"/>
            <a:ext cx="822960" cy="292608"/>
          </a:xfrm>
          <a:prstGeom prst="roundRect">
            <a:avLst>
              <a:gd name="adj" fmla="val 18750"/>
            </a:avLst>
          </a:prstGeom>
          <a:solidFill>
            <a:srgbClr val="FCF0E6"/>
          </a:solidFill>
          <a:ln/>
        </p:spPr>
      </p:sp>
      <p:sp>
        <p:nvSpPr>
          <p:cNvPr id="30" name="Text 27"/>
          <p:cNvSpPr/>
          <p:nvPr/>
        </p:nvSpPr>
        <p:spPr>
          <a:xfrm>
            <a:off x="731520" y="460400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Mobile</a:t>
            </a:r>
            <a:endParaRPr lang="en-US" sz="1000" dirty="0"/>
          </a:p>
        </p:txBody>
      </p:sp>
      <p:sp>
        <p:nvSpPr>
          <p:cNvPr id="31" name="Text 28"/>
          <p:cNvSpPr/>
          <p:nvPr/>
        </p:nvSpPr>
        <p:spPr>
          <a:xfrm>
            <a:off x="731520" y="4988052"/>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Mobile &amp; accessibility</a:t>
            </a:r>
            <a:endParaRPr lang="en-US" sz="1300" dirty="0"/>
          </a:p>
        </p:txBody>
      </p:sp>
      <p:sp>
        <p:nvSpPr>
          <p:cNvPr id="32" name="Text 29"/>
          <p:cNvSpPr/>
          <p:nvPr/>
        </p:nvSpPr>
        <p:spPr>
          <a:xfrm>
            <a:off x="731520" y="5353812"/>
            <a:ext cx="504428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Executives open dashboards on phones — design a stacked, headline-first layout and keep the Module 3 rules (colour-blind-safe, redundant cues, RTL).</a:t>
            </a:r>
            <a:endParaRPr lang="en-US" sz="1050" dirty="0"/>
          </a:p>
        </p:txBody>
      </p:sp>
      <p:sp>
        <p:nvSpPr>
          <p:cNvPr id="33" name="Shape 30"/>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34" name="Shape 31"/>
          <p:cNvSpPr/>
          <p:nvPr/>
        </p:nvSpPr>
        <p:spPr>
          <a:xfrm>
            <a:off x="6233008" y="4421124"/>
            <a:ext cx="5410048" cy="82296"/>
          </a:xfrm>
          <a:prstGeom prst="rect">
            <a:avLst/>
          </a:prstGeom>
          <a:solidFill>
            <a:srgbClr val="6C4FA1"/>
          </a:solidFill>
          <a:ln/>
        </p:spPr>
      </p:sp>
      <p:sp>
        <p:nvSpPr>
          <p:cNvPr id="35" name="Shape 32"/>
          <p:cNvSpPr/>
          <p:nvPr/>
        </p:nvSpPr>
        <p:spPr>
          <a:xfrm>
            <a:off x="6415888" y="4604004"/>
            <a:ext cx="822960" cy="292608"/>
          </a:xfrm>
          <a:prstGeom prst="roundRect">
            <a:avLst>
              <a:gd name="adj" fmla="val 18750"/>
            </a:avLst>
          </a:prstGeom>
          <a:solidFill>
            <a:srgbClr val="EFEBF6"/>
          </a:solidFill>
          <a:ln/>
        </p:spPr>
      </p:sp>
      <p:sp>
        <p:nvSpPr>
          <p:cNvPr id="36" name="Text 33"/>
          <p:cNvSpPr/>
          <p:nvPr/>
        </p:nvSpPr>
        <p:spPr>
          <a:xfrm>
            <a:off x="6415888" y="4604004"/>
            <a:ext cx="822960" cy="292608"/>
          </a:xfrm>
          <a:prstGeom prst="rect">
            <a:avLst/>
          </a:prstGeom>
          <a:noFill/>
          <a:ln/>
        </p:spPr>
        <p:txBody>
          <a:bodyPr wrap="square" rtlCol="0" anchor="ctr"/>
          <a:lstStyle/>
          <a:p>
            <a:pPr algn="ctr" indent="0" marL="0">
              <a:buNone/>
            </a:pPr>
            <a:r>
              <a:rPr lang="en-US" sz="1000" b="1" dirty="0">
                <a:solidFill>
                  <a:srgbClr val="6C4FA1"/>
                </a:solidFill>
                <a:latin typeface="Arial" pitchFamily="34" charset="0"/>
                <a:ea typeface="Arial" pitchFamily="34" charset="-122"/>
                <a:cs typeface="Arial" pitchFamily="34" charset="-120"/>
              </a:rPr>
              <a:t>Traps</a:t>
            </a:r>
            <a:endParaRPr lang="en-US" sz="1000" dirty="0"/>
          </a:p>
        </p:txBody>
      </p:sp>
      <p:sp>
        <p:nvSpPr>
          <p:cNvPr id="37" name="Text 34"/>
          <p:cNvSpPr/>
          <p:nvPr/>
        </p:nvSpPr>
        <p:spPr>
          <a:xfrm>
            <a:off x="6415888" y="4988052"/>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Common mistakes</a:t>
            </a:r>
            <a:endParaRPr lang="en-US" sz="1300" dirty="0"/>
          </a:p>
        </p:txBody>
      </p:sp>
      <p:sp>
        <p:nvSpPr>
          <p:cNvPr id="38" name="Text 35"/>
          <p:cNvSpPr/>
          <p:nvPr/>
        </p:nvSpPr>
        <p:spPr>
          <a:xfrm>
            <a:off x="6415888" y="5353812"/>
            <a:ext cx="5044288" cy="57150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Gauge wall; averages-of-averages; invisible filters; drill with no breadcrumb; 3D/donut tiles; no default state that answers the question.</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PLOTLY DASHBOARD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Linked KPI + trend + regional bar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89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notebooks/m4_dashboard.ipynb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df = pd.read_csv("data/tayseer_services.csv",</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parse_dates=["month"])</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TARGET = 65.0   # national digital-adoption target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national_adoption(frame):</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Percentages are NON-additive: recompute</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from unique_users, never average regions.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frame.groupby('month').apply(lambda x:</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100 * (x.digital_adoption_pct/100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 x.unique_users).sum() / x.unique_users.sum())</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nat = national_adoption(df)</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delta = nat.iloc[-1] - TARGET   # am I on track?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fig = make_subplots(rows=2, cols=2,</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row_heights=[0.45, 0.55],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specs=[[{'type':'indicator'}, {'type':'xy'}],</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[{'type':'xy','colspan':2}, None]])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fig.add_trace(go.Indicator(mode='number+delta',</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value=round(nat.iloc[-1], 1),</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delta={'reference':TARGET}), row=1, col=1)</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fig.write_html("out/m4_dashboard.html")  # share</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The default state answers the question with zero clicks — the inverted pyramid in code.</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DASH INTERACTIVITY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Cross-filter on click + a measure toggle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app/dashboard.py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MEASURES = {'digital_adoption_pct': 'Adoption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'cost_per_txn_sar': 'Cost per txn',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'csat': 'CSAT (1-5)'}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app = dash.Dash(__name__)</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app.layout = html.Div([</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dcc.Dropdown(id='measure',   # toggle pattern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value='digital_adoption_pct',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options=[{'label':v,'value':k}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for k,v in MEASURES.items()]),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html.Div(id='filter-state'),  # state, shown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dcc.Graph(id='region-bar'),   # click to filter</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dcc.Graph(id='trend')])</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@app.callback(Output('trend','figure'),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Input('region-bar','clickData'),</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Input('measure','value'))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trend(click, measure):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frame = df if not click else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df[df.region == click['points'][0]['y']]</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m = frame.groupby('month')[measure].mean()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px.line(m.reset_index(), x='month',</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y=measure)  # scope made legible in title</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Cross-filter re-scopes every view; the active measure and region are always echoed as state.</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BI MEASURES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same logic as DAX and Tableau fields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91</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bi/tayseer_measures.md</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Grain: month x region x category x channel.</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Power BI (DAX)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Non-additive %: recompute, never AVERAGE.</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Digital Adoption %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DIVIDE(</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SUMX(tayseer,</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tayseer[digital_adoption_pct]/100</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tayseer[unique_users]),</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SUM(tayseer[unique_users])) * 100</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Delta vs Target := [Digital Adoption %] - 65</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Regions Below Target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CALCULATE(DISTINCTCOUNT(tayseer[region]),</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FILTER(VALUES(tayseer[region]),</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[Digital Adoption %] &lt; 65))</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RLS 'RegionDirector': [region]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LOOKUPVALUE(UserRegion[region],</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UserRegion[email], USERPRINCIPALNAME())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Tableau (calculated fields)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Adoption %: SUM([digital_adoption_pct]/100</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 [unique_users]) / SUM([unique_users]) *100</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A star schema and a DAX measure is the same idea as a tidy dataframe and an aggregation.</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4 — Build the Interactive Tayseer Dashboard</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بناء لوحة تفاعلية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92</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Compose a multi-view Tayseer dashboard in Plotly/Dash, add cross-filter, drill and a measure toggle, reproduce its core in a BI tool, and usability-test it.</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100 minutes (Lab 4a build + Lab 4b interactivity)</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pip install pandas plotly dash; Power BI Desktop or Tableau Public; data/tayseer_services.csv; git checkout lab4_start.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4a — Write the one-sentence brief: audience, decision, cadence. Confirm the primary question.</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4a — Build the inverted-pyramid layout in make_subplots: KPI, trend vs 65%, sorted regional bar.</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4a — Implement national_adoption() from unique_users; prove it differs from a naive mean().</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4a — Add target reference lines and a takeaway title; export a self-contained m4_dashboard.html.</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4b — Convert to Dash: measure toggle + click-to-cross-filter bar → trend; make state legible.</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4b — Add a drill path (national → region → service) with a breadcrumb and a reset affordance.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4b — Reproduce KPI + bar in Power BI/Tableau with RLS; usability-test with a naive peer.</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93</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A dashboard shows 20 gauges. Name the core failure and the fix.</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No hierarchy / no primary question; restructure as an inverted pyramid around one question.</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Which interaction pattern for 'click a region, update every view'?</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Cross-filter (linked views).</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Why can you not AVERAGE digital_adoption_pct across regions?</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It is non-additive; recompute from the unique_users components.</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What must a dashboard answer with zero clicks?</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Its primary question, in the default state; interaction only refines the answer.</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What does RLS give a national dashboard?</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Each viewer sees only permitted rows (e.g. a region director sees their region), enabling safe sharing.</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Case Study — From Monthly PDF to Weekly Self-Service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من تقرير شهري إلى لوحة أسبوعية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94</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Tayseer ops directorate gets a 30-page monthly PDF built by two analysts over three days; decisions lag the data by up to five weeks. Leadership wants a live weekly view — but the vendor's first prototype is a wall of 18 gauges.</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directorate dispatches improvement teams to regions. A five-week lag means teams are sent on last month's problems, sometimes already resolved. A weekly self-service view shortens the loop — real money, real service outcomes.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Replace the static PDF and the failed gauge-wall with a dashboard that answers 'which regions need intervention this week?' in its default state, lets a non-analyst filter and drill, and is fast and secure enough to share.</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Non-analyst users; weekly cadence; the ministry's Power BI estate with RLS; mobile-legible for field managers; bilingual Arabic RTL; no per-click wait over ~2 seconds.</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indent="0" marL="0">
              <a:buNone/>
            </a:pPr>
            <a:r>
              <a:rPr lang="en-US" sz="1100" b="1" spc="100" kern="0" dirty="0">
                <a:solidFill>
                  <a:srgbClr val="3FAE5A"/>
                </a:solidFill>
                <a:latin typeface="Arial" pitchFamily="34" charset="0"/>
                <a:ea typeface="Arial" pitchFamily="34" charset="-122"/>
                <a:cs typeface="Arial" pitchFamily="34" charset="-120"/>
              </a:rPr>
              <a:t>APPROACH</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Write the one-sentence brief and kill the gauge wall. Inverted-pyramid layout with a sorted 'regions below target' bar as the operative view. Visible slicers, drill, correct non-additive measures, pre-aggregated model.</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indent="0" marL="0">
              <a:buNone/>
            </a:pPr>
            <a:r>
              <a:rPr lang="en-US" sz="1100" b="1" spc="100" kern="0" dirty="0">
                <a:solidFill>
                  <a:srgbClr val="29ABE2"/>
                </a:solidFill>
                <a:latin typeface="Arial" pitchFamily="34" charset="0"/>
                <a:ea typeface="Arial" pitchFamily="34" charset="-122"/>
                <a:cs typeface="Arial" pitchFamily="34" charset="-120"/>
              </a:rPr>
              <a:t>SELF-SERVICE TEST</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RLS so each director defaults to their region; usability-test with a real field manager and iterate the top band. The default state must answer the question before any filter is touched.</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to reach after Module 4</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95</a:t>
            </a:r>
            <a:endParaRPr lang="en-US" sz="8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4937760"/>
                <a:gridCol w="2743200"/>
                <a:gridCol w="338328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Default state answers the question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 (0 clicks)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Naive-user time to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&lt; 15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Peer stopwatch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Non-additive measures correct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Compare vs naive mean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Filter / drill state legibility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Always visible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Heuristic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Per-interaction latency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&lt; 2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Timed clicks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Accessibility + RTL retained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Simulator + native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Gauge-wall prototype vs redesigned dashboard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96</a:t>
            </a:r>
            <a:endParaRPr lang="en-US" sz="8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931920"/>
                <a:gridCol w="3566160"/>
                <a:gridCol w="356616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Aspect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Gauge-wall prototype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Redesigned dashboard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Primary question in default state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 (KPI + laggard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Interaction patterns used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none meaningful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cross-filter + drill + toggle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National % correctness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avg-of-avgs (61.2%)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recomputed (63.8%)</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Naive-user time to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&gt; 60 s (gave up)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9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Shareable with RLS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4956048"/>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Same data, two designs — the redesign wins on every row without new data.</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97</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Inverted-pyramid layout (spine + RTL mirror)</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Four interaction patterns matrix (2×2)</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Semantic layer / star schema diagram</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Tool decision strip: Plotly vs Power BI vs Tableau</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 &amp; Screens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m4_dashboard.html output (Lab 4a reference)</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Dash cross-filter in action (region re-scoped)</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Power BI reproduction with RLS role</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critique_m4.png — 18-donut anti-example</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(~28k rows × 12 cols)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tayseer_model.pbix / .twbx starter</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region_directors.csv (13-row RLS lookup)</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05</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5</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Data Storytelling Structure and Flow</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بنية السرد القصصي</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A dashboard lets someone explore; a story makes someone decide. Sequence evidence around one Big Idea toward one ask.</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From 'here is a chart' to 'therefore we act'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من العرض إلى القرار</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99</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Modules 1–4 built the visual craft and the interactive system; this module supplies the missing structure — the narrative that carries a specific audience to one decision.</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Author-driven: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Exploration is open and analyst-driven; a story is linear, author-controlled, and aimed at one decision.</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Not decoration: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Storytelling is deliberate sequencing of evidence around a single Big Idea, not polish bolted onto charts.</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Inevitable ask: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By the last slide the recommendation feels inevitable; the Tayseer dashboard becomes a seven-slide case.</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The stake: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Where Tayseer should invest its next SAR 40 million.</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Narrative is how analysis becomes policy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100</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In a Saudi executive context, analytical work is judged not by its rigour but by the decision it changes; Vision 2030 governance runs on steering committees and decision memos.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In the room: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gap between 'the person who makes the charts' and one in the room is almost entirely narrative structure.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Story moves budget: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 correct analysis with no narrative dies in a slide nobody follows; a well-structured story moves budget.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Punishes dumps: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These venues reward a clear Big Idea and punish a data dump.</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Not a soft skill: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Storytelling is the mechanism by which analysis becomes policy.</a:t>
            </a:r>
            <a:endParaRPr lang="en-US" sz="12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narrative structure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101</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Budget reallocation case</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program office turns a quarter of dashboard data into a seven-minute case to reallocate budget to three lagging regions — one Big Idea, one ask.</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Gov</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One-page decision memo</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An analytics team writes a BLUF-first one-page memo a Deputy Minister reads in ninety seconds and acts on without the deck.</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Rising wait-times story</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public-health team sequences the story so the 'so what' and the recommended intervention land before any methodology.</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5</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102</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Frame: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Frame a narrative around a specific audience and decision.</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Distil: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Distil an analysis into a single Big Idea sentence.</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Sequence: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Choose a narrative arc and sequence charts as annotated 'scenes'.</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Lead with it: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Write a BLUF/top-line that states the recommendation first.</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Storyboard: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Storyboard a seven-slide executive arc.</a:t>
            </a:r>
            <a:endParaRPr lang="en-US" sz="1250" dirty="0"/>
          </a:p>
        </p:txBody>
      </p:sp>
      <p:sp>
        <p:nvSpPr>
          <p:cNvPr id="24" name="Shape 21"/>
          <p:cNvSpPr/>
          <p:nvPr/>
        </p:nvSpPr>
        <p:spPr>
          <a:xfrm>
            <a:off x="548640" y="4956048"/>
            <a:ext cx="100584" cy="420624"/>
          </a:xfrm>
          <a:prstGeom prst="rect">
            <a:avLst/>
          </a:prstGeom>
          <a:solidFill>
            <a:srgbClr val="29ABE2"/>
          </a:solidFill>
          <a:ln/>
        </p:spPr>
      </p:sp>
      <p:sp>
        <p:nvSpPr>
          <p:cNvPr id="25" name="Text 22"/>
          <p:cNvSpPr/>
          <p:nvPr/>
        </p:nvSpPr>
        <p:spPr>
          <a:xfrm>
            <a:off x="804672" y="49011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Self-edit: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Edit ruthlessly against 'does this slide advance the decision?'</a:t>
            </a:r>
            <a:endParaRPr lang="en-US" sz="12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103</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Frame a data narrative around a specific audience and decision</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Distil an analysis into a single Big Idea sentence</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Select and apply a narrative arc to sequence evidence</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Convert charts into annotation-led narrative scenes</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 LO2</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Write a BLUF/top-line that states the recommendation first</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 LO6</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Storyboard a seven-slide executive arc and self-edit against the decision</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LO4, LO5</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TWO DIFFERENT JOBS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Exploration vs explanation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104</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The commonest failure of technical people is presenting the exploratory artefact as the explanation — dumping the dashboard and narrating every filter.</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Exploratory (Module 4)</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For finding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Built for the analyst to find the story and a user to interrogate it.</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Open &amp; non-linear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Interactive, open-ended, and user-driven.</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The dashboard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The Module 4 deliverable itself.</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Explanatory (this module)</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For receiving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Built for a decision-maker to receive a specific conclusion.</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Closed &amp; linear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Author-controlled; the two or three findings that matter.</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Throw most away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Explore privately, then discard almost all of it; if shown, it must advance the decision.</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FRAMING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Four pre-narrative questions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Answer these before a single slide. Framing is the highest-leverage step; a perfect deck aimed at the wrong belief or decision fails completely.</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Who &amp; belief?</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Who is the audience, and what do they already believe? On-track versus failing needs a different opening.</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What decision?</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What decision does this feed, and the options? For Tayseer: regions, channel infrastructure, or high-volume services.</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One thing?</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What is the one thing they must remember? That is the Big Idea.</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What says no?</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What will make them say no, and what evidence pre-empts it? Seat the rebuttal in the arc.</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Time spent framing here saves ten slides later.</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106</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algn="l" indent="0" marL="0">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algn="ctr" indent="0" marL="0">
              <a:lnSpc>
                <a:spcPct val="110000"/>
              </a:lnSpc>
              <a:buNone/>
            </a:pPr>
            <a:r>
              <a:rPr lang="en-US" sz="2600" b="1" dirty="0">
                <a:solidFill>
                  <a:srgbClr val="1D2A5C"/>
                </a:solidFill>
                <a:latin typeface="Arial" pitchFamily="34" charset="0"/>
                <a:ea typeface="Arial" pitchFamily="34" charset="-122"/>
                <a:cs typeface="Arial" pitchFamily="34" charset="-120"/>
              </a:rPr>
              <a:t>Three regions are dragging national adoption below the 65% target; directing the next SAR 40M there — not to channel infrastructure — is the fastest way to close the gap.</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algn="ctr" indent="0" marL="0">
              <a:buNone/>
            </a:pPr>
            <a:r>
              <a:rPr lang="en-US" sz="1400" dirty="0">
                <a:solidFill>
                  <a:srgbClr val="6B7280"/>
                </a:solidFill>
                <a:latin typeface="Arial" pitchFamily="34" charset="0"/>
                <a:ea typeface="Arial" pitchFamily="34" charset="-122"/>
                <a:cs typeface="Arial" pitchFamily="34" charset="-120"/>
              </a:rPr>
              <a:t>— The Big Idea — point of view + what's at stake + implied action</a:t>
            </a:r>
            <a:endParaRPr lang="en-US" sz="1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THE BIG IDEA</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One sentence: POV + stakes + action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107</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Borrowed from Nancy Duarte and Cole Nussbaumer Knaflic, the Big Idea states your unique point of view, what is at stake, and implies the action.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Idea, not topic: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Not 'here is our Q3 adoption data' (topic) but a sentence carrying idea, stakes, and action.</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Earns its place: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Every slide must be defensible as 'this builds toward that sentence' — if not, it is cut.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One sentence: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answer to 'if they remember only one sentence, what is it?'.</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Becomes the BLUF: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It becomes the BLUF and the presentation's opening line.</a:t>
            </a:r>
            <a:endParaRPr lang="en-US" sz="12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NARRATIVE ARCS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Three arcs that carry evidence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Stories have shape. Teach three arcs and when each fits; the default for an executive investment decision is SCR.</a:t>
            </a:r>
            <a:endParaRPr lang="en-US" sz="12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3200400"/>
                <a:gridCol w="3017520"/>
                <a:gridCol w="484632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Arc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Shape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Best when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SCR (Minto)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context → tension →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Recommending an action to a committee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What is / could be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current ↔ better future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Motivating change or investment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Chronological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beginning → middle → now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Explaining how a situation arose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4480560"/>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SCR front-loads shared context, one complication, and resolves to the ask — matching how committees decide.</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CHARTS AS SCENES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Annotation-led sequencing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109</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In a story a chart is a scene making one point, not a reference exhibit — this reuses Module 3's annotation discipline at the deck level.</a:t>
            </a:r>
            <a:endParaRPr lang="en-US" sz="1250" dirty="0"/>
          </a:p>
        </p:txBody>
      </p:sp>
      <p:sp>
        <p:nvSpPr>
          <p:cNvPr id="15" name="Shape 12"/>
          <p:cNvSpPr/>
          <p:nvPr/>
        </p:nvSpPr>
        <p:spPr>
          <a:xfrm>
            <a:off x="548640" y="2569464"/>
            <a:ext cx="5410048" cy="996696"/>
          </a:xfrm>
          <a:prstGeom prst="roundRect">
            <a:avLst>
              <a:gd name="adj" fmla="val 7339"/>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One chart, one message</a:t>
            </a:r>
            <a:endParaRPr lang="en-US" sz="1300" dirty="0"/>
          </a:p>
        </p:txBody>
      </p:sp>
      <p:sp>
        <p:nvSpPr>
          <p:cNvPr id="18" name="Text 15"/>
          <p:cNvSpPr/>
          <p:nvPr/>
        </p:nvSpPr>
        <p:spPr>
          <a:xfrm>
            <a:off x="731520" y="3118104"/>
            <a:ext cx="504428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takeaway title is the sentence the audience should think; the chart is the evidence.</a:t>
            </a:r>
            <a:endParaRPr lang="en-US" sz="1050" dirty="0"/>
          </a:p>
        </p:txBody>
      </p:sp>
      <p:sp>
        <p:nvSpPr>
          <p:cNvPr id="19" name="Shape 16"/>
          <p:cNvSpPr/>
          <p:nvPr/>
        </p:nvSpPr>
        <p:spPr>
          <a:xfrm>
            <a:off x="6233008" y="2569464"/>
            <a:ext cx="5410048" cy="996696"/>
          </a:xfrm>
          <a:prstGeom prst="roundRect">
            <a:avLst>
              <a:gd name="adj" fmla="val 7339"/>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Progressive reveal / build</a:t>
            </a:r>
            <a:endParaRPr lang="en-US" sz="1300" dirty="0"/>
          </a:p>
        </p:txBody>
      </p:sp>
      <p:sp>
        <p:nvSpPr>
          <p:cNvPr id="22" name="Text 19"/>
          <p:cNvSpPr/>
          <p:nvPr/>
        </p:nvSpPr>
        <p:spPr>
          <a:xfrm>
            <a:off x="6415888" y="3118104"/>
            <a:ext cx="504428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Introduce a complex chart in layers — trend, then the target line, then the laggards — one thought at a time.</a:t>
            </a:r>
            <a:endParaRPr lang="en-US" sz="1050" dirty="0"/>
          </a:p>
        </p:txBody>
      </p:sp>
      <p:sp>
        <p:nvSpPr>
          <p:cNvPr id="23" name="Shape 20"/>
          <p:cNvSpPr/>
          <p:nvPr/>
        </p:nvSpPr>
        <p:spPr>
          <a:xfrm>
            <a:off x="548640" y="3803904"/>
            <a:ext cx="5410048" cy="996696"/>
          </a:xfrm>
          <a:prstGeom prst="roundRect">
            <a:avLst>
              <a:gd name="adj" fmla="val 7339"/>
            </a:avLst>
          </a:prstGeom>
          <a:solidFill>
            <a:srgbClr val="FFFFFF"/>
          </a:solidFill>
          <a:ln w="12700">
            <a:solidFill>
              <a:srgbClr val="D9DEE8"/>
            </a:solidFill>
            <a:prstDash val="solid"/>
          </a:ln>
        </p:spPr>
      </p:sp>
      <p:sp>
        <p:nvSpPr>
          <p:cNvPr id="24" name="Shape 21"/>
          <p:cNvSpPr/>
          <p:nvPr/>
        </p:nvSpPr>
        <p:spPr>
          <a:xfrm>
            <a:off x="548640" y="3803904"/>
            <a:ext cx="5410048" cy="82296"/>
          </a:xfrm>
          <a:prstGeom prst="rect">
            <a:avLst/>
          </a:prstGeom>
          <a:solidFill>
            <a:srgbClr val="E8833A"/>
          </a:solidFill>
          <a:ln/>
        </p:spPr>
      </p:sp>
      <p:sp>
        <p:nvSpPr>
          <p:cNvPr id="25" name="Text 22"/>
          <p:cNvSpPr/>
          <p:nvPr/>
        </p:nvSpPr>
        <p:spPr>
          <a:xfrm>
            <a:off x="731520" y="398678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Highlight and mute</a:t>
            </a:r>
            <a:endParaRPr lang="en-US" sz="1300" dirty="0"/>
          </a:p>
        </p:txBody>
      </p:sp>
      <p:sp>
        <p:nvSpPr>
          <p:cNvPr id="26" name="Text 23"/>
          <p:cNvSpPr/>
          <p:nvPr/>
        </p:nvSpPr>
        <p:spPr>
          <a:xfrm>
            <a:off x="731520" y="4352544"/>
            <a:ext cx="504428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same regional bar becomes a new scene each time by highlighting a different region.</a:t>
            </a:r>
            <a:endParaRPr lang="en-US" sz="1050" dirty="0"/>
          </a:p>
        </p:txBody>
      </p:sp>
      <p:sp>
        <p:nvSpPr>
          <p:cNvPr id="27" name="Shape 24"/>
          <p:cNvSpPr/>
          <p:nvPr/>
        </p:nvSpPr>
        <p:spPr>
          <a:xfrm>
            <a:off x="6233008" y="3803904"/>
            <a:ext cx="5410048" cy="996696"/>
          </a:xfrm>
          <a:prstGeom prst="roundRect">
            <a:avLst>
              <a:gd name="adj" fmla="val 7339"/>
            </a:avLst>
          </a:prstGeom>
          <a:solidFill>
            <a:srgbClr val="FFFFFF"/>
          </a:solidFill>
          <a:ln w="12700">
            <a:solidFill>
              <a:srgbClr val="D9DEE8"/>
            </a:solidFill>
            <a:prstDash val="solid"/>
          </a:ln>
        </p:spPr>
      </p:sp>
      <p:sp>
        <p:nvSpPr>
          <p:cNvPr id="28" name="Shape 25"/>
          <p:cNvSpPr/>
          <p:nvPr/>
        </p:nvSpPr>
        <p:spPr>
          <a:xfrm>
            <a:off x="6233008" y="3803904"/>
            <a:ext cx="5410048" cy="82296"/>
          </a:xfrm>
          <a:prstGeom prst="rect">
            <a:avLst/>
          </a:prstGeom>
          <a:solidFill>
            <a:srgbClr val="6C4FA1"/>
          </a:solidFill>
          <a:ln/>
        </p:spPr>
      </p:sp>
      <p:sp>
        <p:nvSpPr>
          <p:cNvPr id="29" name="Text 26"/>
          <p:cNvSpPr/>
          <p:nvPr/>
        </p:nvSpPr>
        <p:spPr>
          <a:xfrm>
            <a:off x="6415888" y="398678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Callouts carry the argument</a:t>
            </a:r>
            <a:endParaRPr lang="en-US" sz="1300" dirty="0"/>
          </a:p>
        </p:txBody>
      </p:sp>
      <p:sp>
        <p:nvSpPr>
          <p:cNvPr id="30" name="Text 27"/>
          <p:cNvSpPr/>
          <p:nvPr/>
        </p:nvSpPr>
        <p:spPr>
          <a:xfrm>
            <a:off x="6415888" y="4553712"/>
            <a:ext cx="5044288" cy="13716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'Najran plateaued after the March outage' annotated on the point, so the slide survives being forwarded.</a:t>
            </a:r>
            <a:endParaRPr lang="en-US" sz="1050" dirty="0"/>
          </a:p>
        </p:txBody>
      </p:sp>
      <p:sp>
        <p:nvSpPr>
          <p:cNvPr id="31" name="Shape 28"/>
          <p:cNvSpPr/>
          <p:nvPr/>
        </p:nvSpPr>
        <p:spPr>
          <a:xfrm>
            <a:off x="548640" y="5038344"/>
            <a:ext cx="5410048" cy="996696"/>
          </a:xfrm>
          <a:prstGeom prst="roundRect">
            <a:avLst>
              <a:gd name="adj" fmla="val 7339"/>
            </a:avLst>
          </a:prstGeom>
          <a:solidFill>
            <a:srgbClr val="FFFFFF"/>
          </a:solidFill>
          <a:ln w="12700">
            <a:solidFill>
              <a:srgbClr val="D9DEE8"/>
            </a:solidFill>
            <a:prstDash val="solid"/>
          </a:ln>
        </p:spPr>
      </p:sp>
      <p:sp>
        <p:nvSpPr>
          <p:cNvPr id="32" name="Shape 29"/>
          <p:cNvSpPr/>
          <p:nvPr/>
        </p:nvSpPr>
        <p:spPr>
          <a:xfrm>
            <a:off x="548640" y="5038344"/>
            <a:ext cx="5410048" cy="82296"/>
          </a:xfrm>
          <a:prstGeom prst="rect">
            <a:avLst/>
          </a:prstGeom>
          <a:solidFill>
            <a:srgbClr val="3FAE5A"/>
          </a:solidFill>
          <a:ln/>
        </p:spPr>
      </p:sp>
      <p:sp>
        <p:nvSpPr>
          <p:cNvPr id="33" name="Text 30"/>
          <p:cNvSpPr/>
          <p:nvPr/>
        </p:nvSpPr>
        <p:spPr>
          <a:xfrm>
            <a:off x="731520" y="52212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Sequence is argument</a:t>
            </a:r>
            <a:endParaRPr lang="en-US" sz="1300" dirty="0"/>
          </a:p>
        </p:txBody>
      </p:sp>
      <p:sp>
        <p:nvSpPr>
          <p:cNvPr id="34" name="Text 31"/>
          <p:cNvSpPr/>
          <p:nvPr/>
        </p:nvSpPr>
        <p:spPr>
          <a:xfrm>
            <a:off x="731520" y="5586984"/>
            <a:ext cx="5044288" cy="33832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Each scene sets up the next: the trend creates the question the breakdown answers, which creates the recommendation.</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BLUF &amp; THE ARC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seven-slide executive arc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110</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BLUF — executives may not reach slide seven, so put the recommendation first, then support it. The single test: does this advance the decision?</a:t>
            </a:r>
            <a:endParaRPr lang="en-US" sz="1250" dirty="0"/>
          </a:p>
        </p:txBody>
      </p:sp>
      <p:sp>
        <p:nvSpPr>
          <p:cNvPr id="15" name="Shape 12"/>
          <p:cNvSpPr/>
          <p:nvPr/>
        </p:nvSpPr>
        <p:spPr>
          <a:xfrm>
            <a:off x="548640" y="2542032"/>
            <a:ext cx="11094415" cy="389273"/>
          </a:xfrm>
          <a:prstGeom prst="roundRect">
            <a:avLst>
              <a:gd name="adj" fmla="val 16443"/>
            </a:avLst>
          </a:prstGeom>
          <a:solidFill>
            <a:srgbClr val="EAF0FA"/>
          </a:solidFill>
          <a:ln w="15240">
            <a:solidFill>
              <a:srgbClr val="2E5AAC"/>
            </a:solidFill>
            <a:prstDash val="solid"/>
          </a:ln>
        </p:spPr>
      </p:sp>
      <p:sp>
        <p:nvSpPr>
          <p:cNvPr id="16" name="Shape 13"/>
          <p:cNvSpPr/>
          <p:nvPr/>
        </p:nvSpPr>
        <p:spPr>
          <a:xfrm>
            <a:off x="694944" y="2553789"/>
            <a:ext cx="365760" cy="365760"/>
          </a:xfrm>
          <a:prstGeom prst="ellipse">
            <a:avLst/>
          </a:prstGeom>
          <a:solidFill>
            <a:srgbClr val="2E5AAC"/>
          </a:solidFill>
          <a:ln/>
        </p:spPr>
      </p:sp>
      <p:sp>
        <p:nvSpPr>
          <p:cNvPr id="17" name="Text 14"/>
          <p:cNvSpPr/>
          <p:nvPr/>
        </p:nvSpPr>
        <p:spPr>
          <a:xfrm>
            <a:off x="694944" y="2553789"/>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BLUF / the ask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recommendation stated up front.</a:t>
            </a:r>
            <a:endParaRPr lang="en-US" sz="1300" dirty="0"/>
          </a:p>
        </p:txBody>
      </p:sp>
      <p:sp>
        <p:nvSpPr>
          <p:cNvPr id="19" name="Shape 16"/>
          <p:cNvSpPr/>
          <p:nvPr/>
        </p:nvSpPr>
        <p:spPr>
          <a:xfrm>
            <a:off x="548640" y="3059321"/>
            <a:ext cx="11094415" cy="389273"/>
          </a:xfrm>
          <a:prstGeom prst="roundRect">
            <a:avLst>
              <a:gd name="adj" fmla="val 16443"/>
            </a:avLst>
          </a:prstGeom>
          <a:solidFill>
            <a:srgbClr val="E6F5F4"/>
          </a:solidFill>
          <a:ln w="15240">
            <a:solidFill>
              <a:srgbClr val="00A79D"/>
            </a:solidFill>
            <a:prstDash val="solid"/>
          </a:ln>
        </p:spPr>
      </p:sp>
      <p:sp>
        <p:nvSpPr>
          <p:cNvPr id="20" name="Shape 17"/>
          <p:cNvSpPr/>
          <p:nvPr/>
        </p:nvSpPr>
        <p:spPr>
          <a:xfrm>
            <a:off x="694944" y="3071078"/>
            <a:ext cx="365760" cy="365760"/>
          </a:xfrm>
          <a:prstGeom prst="ellipse">
            <a:avLst/>
          </a:prstGeom>
          <a:solidFill>
            <a:srgbClr val="00A79D"/>
          </a:solidFill>
          <a:ln/>
        </p:spPr>
      </p:sp>
      <p:sp>
        <p:nvSpPr>
          <p:cNvPr id="21" name="Text 18"/>
          <p:cNvSpPr/>
          <p:nvPr/>
        </p:nvSpPr>
        <p:spPr>
          <a:xfrm>
            <a:off x="694944" y="3071078"/>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059321"/>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Situation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Where the program stands.</a:t>
            </a:r>
            <a:endParaRPr lang="en-US" sz="1300" dirty="0"/>
          </a:p>
        </p:txBody>
      </p:sp>
      <p:sp>
        <p:nvSpPr>
          <p:cNvPr id="23" name="Shape 20"/>
          <p:cNvSpPr/>
          <p:nvPr/>
        </p:nvSpPr>
        <p:spPr>
          <a:xfrm>
            <a:off x="548640" y="3576610"/>
            <a:ext cx="11094415" cy="389273"/>
          </a:xfrm>
          <a:prstGeom prst="roundRect">
            <a:avLst>
              <a:gd name="adj" fmla="val 16443"/>
            </a:avLst>
          </a:prstGeom>
          <a:solidFill>
            <a:srgbClr val="FCF0E6"/>
          </a:solidFill>
          <a:ln w="15240">
            <a:solidFill>
              <a:srgbClr val="E8833A"/>
            </a:solidFill>
            <a:prstDash val="solid"/>
          </a:ln>
        </p:spPr>
      </p:sp>
      <p:sp>
        <p:nvSpPr>
          <p:cNvPr id="24" name="Shape 21"/>
          <p:cNvSpPr/>
          <p:nvPr/>
        </p:nvSpPr>
        <p:spPr>
          <a:xfrm>
            <a:off x="694944" y="3588367"/>
            <a:ext cx="365760" cy="365760"/>
          </a:xfrm>
          <a:prstGeom prst="ellipse">
            <a:avLst/>
          </a:prstGeom>
          <a:solidFill>
            <a:srgbClr val="E8833A"/>
          </a:solidFill>
          <a:ln/>
        </p:spPr>
      </p:sp>
      <p:sp>
        <p:nvSpPr>
          <p:cNvPr id="25" name="Text 22"/>
          <p:cNvSpPr/>
          <p:nvPr/>
        </p:nvSpPr>
        <p:spPr>
          <a:xfrm>
            <a:off x="694944" y="3588367"/>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576610"/>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Complication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three lagging regions.</a:t>
            </a:r>
            <a:endParaRPr lang="en-US" sz="1300" dirty="0"/>
          </a:p>
        </p:txBody>
      </p:sp>
      <p:sp>
        <p:nvSpPr>
          <p:cNvPr id="27" name="Shape 24"/>
          <p:cNvSpPr/>
          <p:nvPr/>
        </p:nvSpPr>
        <p:spPr>
          <a:xfrm>
            <a:off x="548640" y="4093899"/>
            <a:ext cx="11094415" cy="389273"/>
          </a:xfrm>
          <a:prstGeom prst="roundRect">
            <a:avLst>
              <a:gd name="adj" fmla="val 16443"/>
            </a:avLst>
          </a:prstGeom>
          <a:solidFill>
            <a:srgbClr val="EFEBF6"/>
          </a:solidFill>
          <a:ln w="15240">
            <a:solidFill>
              <a:srgbClr val="6C4FA1"/>
            </a:solidFill>
            <a:prstDash val="solid"/>
          </a:ln>
        </p:spPr>
      </p:sp>
      <p:sp>
        <p:nvSpPr>
          <p:cNvPr id="28" name="Shape 25"/>
          <p:cNvSpPr/>
          <p:nvPr/>
        </p:nvSpPr>
        <p:spPr>
          <a:xfrm>
            <a:off x="694944" y="4105656"/>
            <a:ext cx="365760" cy="365760"/>
          </a:xfrm>
          <a:prstGeom prst="ellipse">
            <a:avLst/>
          </a:prstGeom>
          <a:solidFill>
            <a:srgbClr val="6C4FA1"/>
          </a:solidFill>
          <a:ln/>
        </p:spPr>
      </p:sp>
      <p:sp>
        <p:nvSpPr>
          <p:cNvPr id="29" name="Text 26"/>
          <p:cNvSpPr/>
          <p:nvPr/>
        </p:nvSpPr>
        <p:spPr>
          <a:xfrm>
            <a:off x="694944" y="410565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093899"/>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Evidence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Why they lag — the outage, the channel gap.</a:t>
            </a:r>
            <a:endParaRPr lang="en-US" sz="1300" dirty="0"/>
          </a:p>
        </p:txBody>
      </p:sp>
      <p:sp>
        <p:nvSpPr>
          <p:cNvPr id="31" name="Shape 28"/>
          <p:cNvSpPr/>
          <p:nvPr/>
        </p:nvSpPr>
        <p:spPr>
          <a:xfrm>
            <a:off x="548640" y="4611189"/>
            <a:ext cx="11094415" cy="389273"/>
          </a:xfrm>
          <a:prstGeom prst="roundRect">
            <a:avLst>
              <a:gd name="adj" fmla="val 16443"/>
            </a:avLst>
          </a:prstGeom>
          <a:solidFill>
            <a:srgbClr val="E9F5EC"/>
          </a:solidFill>
          <a:ln w="15240">
            <a:solidFill>
              <a:srgbClr val="3FAE5A"/>
            </a:solidFill>
            <a:prstDash val="solid"/>
          </a:ln>
        </p:spPr>
      </p:sp>
      <p:sp>
        <p:nvSpPr>
          <p:cNvPr id="32" name="Shape 29"/>
          <p:cNvSpPr/>
          <p:nvPr/>
        </p:nvSpPr>
        <p:spPr>
          <a:xfrm>
            <a:off x="694944" y="4622945"/>
            <a:ext cx="365760" cy="365760"/>
          </a:xfrm>
          <a:prstGeom prst="ellipse">
            <a:avLst/>
          </a:prstGeom>
          <a:solidFill>
            <a:srgbClr val="3FAE5A"/>
          </a:solidFill>
          <a:ln/>
        </p:spPr>
      </p:sp>
      <p:sp>
        <p:nvSpPr>
          <p:cNvPr id="33" name="Text 30"/>
          <p:cNvSpPr/>
          <p:nvPr/>
        </p:nvSpPr>
        <p:spPr>
          <a:xfrm>
            <a:off x="694944" y="4622945"/>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611189"/>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Options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three uses of SAR 40M, compared.</a:t>
            </a:r>
            <a:endParaRPr lang="en-US" sz="1300" dirty="0"/>
          </a:p>
        </p:txBody>
      </p:sp>
      <p:sp>
        <p:nvSpPr>
          <p:cNvPr id="35" name="Shape 32"/>
          <p:cNvSpPr/>
          <p:nvPr/>
        </p:nvSpPr>
        <p:spPr>
          <a:xfrm>
            <a:off x="548640" y="5128478"/>
            <a:ext cx="11094415" cy="389273"/>
          </a:xfrm>
          <a:prstGeom prst="roundRect">
            <a:avLst>
              <a:gd name="adj" fmla="val 16443"/>
            </a:avLst>
          </a:prstGeom>
          <a:solidFill>
            <a:srgbClr val="E7F5FC"/>
          </a:solidFill>
          <a:ln w="15240">
            <a:solidFill>
              <a:srgbClr val="29ABE2"/>
            </a:solidFill>
            <a:prstDash val="solid"/>
          </a:ln>
        </p:spPr>
      </p:sp>
      <p:sp>
        <p:nvSpPr>
          <p:cNvPr id="36" name="Shape 33"/>
          <p:cNvSpPr/>
          <p:nvPr/>
        </p:nvSpPr>
        <p:spPr>
          <a:xfrm>
            <a:off x="694944" y="5140234"/>
            <a:ext cx="365760" cy="365760"/>
          </a:xfrm>
          <a:prstGeom prst="ellipse">
            <a:avLst/>
          </a:prstGeom>
          <a:solidFill>
            <a:srgbClr val="29ABE2"/>
          </a:solidFill>
          <a:ln/>
        </p:spPr>
      </p:sp>
      <p:sp>
        <p:nvSpPr>
          <p:cNvPr id="37" name="Text 34"/>
          <p:cNvSpPr/>
          <p:nvPr/>
        </p:nvSpPr>
        <p:spPr>
          <a:xfrm>
            <a:off x="694944" y="5140234"/>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128478"/>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Recommendation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chosen option and its expected effect.</a:t>
            </a:r>
            <a:endParaRPr lang="en-US" sz="1300" dirty="0"/>
          </a:p>
        </p:txBody>
      </p:sp>
      <p:sp>
        <p:nvSpPr>
          <p:cNvPr id="39" name="Shape 36"/>
          <p:cNvSpPr/>
          <p:nvPr/>
        </p:nvSpPr>
        <p:spPr>
          <a:xfrm>
            <a:off x="548640" y="5645767"/>
            <a:ext cx="11094415" cy="389273"/>
          </a:xfrm>
          <a:prstGeom prst="roundRect">
            <a:avLst>
              <a:gd name="adj" fmla="val 16443"/>
            </a:avLst>
          </a:prstGeom>
          <a:solidFill>
            <a:srgbClr val="FBECEC"/>
          </a:solidFill>
          <a:ln w="15240">
            <a:solidFill>
              <a:srgbClr val="D9534F"/>
            </a:solidFill>
            <a:prstDash val="solid"/>
          </a:ln>
        </p:spPr>
      </p:sp>
      <p:sp>
        <p:nvSpPr>
          <p:cNvPr id="40" name="Shape 37"/>
          <p:cNvSpPr/>
          <p:nvPr/>
        </p:nvSpPr>
        <p:spPr>
          <a:xfrm>
            <a:off x="694944" y="5657523"/>
            <a:ext cx="365760" cy="365760"/>
          </a:xfrm>
          <a:prstGeom prst="ellipse">
            <a:avLst/>
          </a:prstGeom>
          <a:solidFill>
            <a:srgbClr val="D9534F"/>
          </a:solidFill>
          <a:ln/>
        </p:spPr>
      </p:sp>
      <p:sp>
        <p:nvSpPr>
          <p:cNvPr id="41" name="Text 38"/>
          <p:cNvSpPr/>
          <p:nvPr/>
        </p:nvSpPr>
        <p:spPr>
          <a:xfrm>
            <a:off x="694944" y="5657523"/>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2" name="Text 39"/>
          <p:cNvSpPr/>
          <p:nvPr/>
        </p:nvSpPr>
        <p:spPr>
          <a:xfrm>
            <a:off x="1188720" y="5645767"/>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The ask + next step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Appendix holds dashboard and methodology for Q&amp;A.</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NARRATIVE SCENES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Turn one chart into a sequence of scenes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111</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notebooks/m5_story_scenes.ipynb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TARGET = 65.0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reg = latest_adoption_by_region(df)   # sorted, one/region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laggards = reg[reg.adoption &lt; TARGET]["region"].tolist()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scene(highlight, title, fname):</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"""Highlight this point's regions, grey the rest."""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colors = [ACCENT if r in highlight else GREY</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for r in reg["region"]]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fig, ax = plt.subplots(figsize=(8, 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ax.barh(reg["region"], reg["adoption"], color=colors)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ax.axvline(TARGET, color="#333", ls="--", lw=1)</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ax.set_title(title, fontsize=13)  # takeaway=thought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fig.savefig(f"out/{fname}", dpi=150)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2 (situation): nothing highlighted.</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scene([], "Most regions clear the 65% target",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"m5_scene_situation.png")</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3 (complication): highlight the laggards.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scene(laggards, "But three regions sit below target",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"m5_scene_complication.png")</a:t>
            </a:r>
            <a:endParaRPr lang="en-US" sz="900" dirty="0"/>
          </a:p>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4 (evidence): highlight just Najran.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scene(["Najran"], "Najran plateaued after the outage",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"m5_scene_evidence.png")</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One builder, three scenes: same chart, different highlight and title.</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STORYBOARD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seven-slide arc as a checkable spec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112</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story/tayseer_storyboard.py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from dataclasses import dataclass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@dataclass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class Scene: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n: int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arc_role: str          # SCR role or 'BLUF'/'ask'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message: str           # the ONE sentence = the title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advances_decision: bool</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STORYBOARD =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Scene(1, "BLUF", "Invest SAR 40M in 3 regions",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Scene(2, "situation", "Most clear 65%",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Scene(3, "complication", "Three below target",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Scene(4, "evidence", "Najran: March outage",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Scene(5, "options", "SAR 40M: three uses",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Scene(6, "resolution", "Regions close gap fastest",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Scene(7, "ask", "Approve; review in 90 days", True),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audit(sb):</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sb[0].arc_role == "BLUF", "Recommendation leads."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weak = [s.n for s in sb if not s.advances_decision]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not weak, f"Not advancing -&gt; appendix: {weak}"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len(sb) &lt;= 7, "Arc is 7 scenes; rest appendix."</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audit() fails if the recommendation isn't first or a slide doesn't advance.</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5 — Storyboard the Tayseer Narrative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لوحة السرد</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113</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Turn Module 4 findings into a storyboarded seven-slide executive arc on one Big Idea — each chart an annotation-led scene, plus a BLUF memo.</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tayseer_services.csv, the Module 4 dashboard/findings, src/viz/theme.py and story/ starter; git checkout lab5_start.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Answer the four framing questions in framing.md: audience, decision, Big Idea, and the anticipated objection.</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Write your Big Idea as one sentence (POV + stakes + action); peer-check a neighbour can restate the recommendation.</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Choose an arc (default SCR), fill the seven-scene storyboard, and run audit() until it passes.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Render three scenes — situation, complication, evidence — each with a takeaway title and one highlight.</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Write the BLUF memo with bluf.py; confirm a peer can act on it in 90 seconds without the deck.</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Self-edit: move every non-advancing slide to an appendix list, justifying each cut in one line.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Save the storyboard, rendered scenes, and BLUF as lab5_solution.</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114</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Exploratory vs explanatory — which is linear and author-controlled?</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Explanatory; exploration is open and user-driven.</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Name the three parts of a Big Idea.</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Point of view, what's at stake, and the implied action.</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Which arc best fits recommending an investment to a committee?</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Situation–Complication–Resolution (SCR).</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What does BLUF invert, and why?</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Methodology-first to conclusion-first; execs may not reach the last slide.</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The single test for keeping a slide?</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Does it advance the decision? If not, appendix.</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Case Study — A Quarter of Data into a SAR 40M Case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قضية بأربعين مليوناً</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115</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Tayseer team has a rich Module 4 dashboard and a Steering Committee slot to recommend how to spend the next SAR 40 million. The first draft is the dashboard exported to 22 slides, one per view, ending with 'questions?'.</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SAR 40M goes to one of three uses; the decision is effectively made by whoever frames it most clearly. The team's credibility — and its seat in future decisions — rides on whether this lands.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Compress a quarter of exploratory analysis into a seven-slide, BLUF-first arc that makes one recommendation feel inevitable, survives a three-minute attention span, and pre-empts the 'those regions are just small' objection.</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Fifteen-minute slot (assume three); bilingual deck; static slides — the live dashboard is the appendix; a numerate, impatient chair; the recommendation must be defensible to an auditor.</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indent="0" marL="0">
              <a:buNone/>
            </a:pPr>
            <a:r>
              <a:rPr lang="en-US" sz="1100" b="1" spc="100" kern="0" dirty="0">
                <a:solidFill>
                  <a:srgbClr val="3FAE5A"/>
                </a:solidFill>
                <a:latin typeface="Arial" pitchFamily="34" charset="0"/>
                <a:ea typeface="Arial" pitchFamily="34" charset="-122"/>
                <a:cs typeface="Arial" pitchFamily="34" charset="-120"/>
              </a:rPr>
              <a:t>APPROACH</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Framing, then SCR arc with BLUF on slide one; each of seven slides a single annotated scene with a takeaway title; seat the 'just small' rebuttal as a per-capita evidence scene; options compared on gap-closed-per-riyal.</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indent="0" marL="0">
              <a:buNone/>
            </a:pPr>
            <a:r>
              <a:rPr lang="en-US" sz="1100" b="1" spc="100" kern="0" dirty="0">
                <a:solidFill>
                  <a:srgbClr val="29ABE2"/>
                </a:solidFill>
                <a:latin typeface="Arial" pitchFamily="34" charset="0"/>
                <a:ea typeface="Arial" pitchFamily="34" charset="-122"/>
                <a:cs typeface="Arial" pitchFamily="34" charset="-120"/>
              </a:rPr>
              <a:t>APPENDIX &amp; DRY-RUN</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appendix holds the dashboard and methodology for Q&amp;A; dry-run the deck against the three-minute attention test.</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First draft vs storyboarded arc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116</a:t>
            </a:r>
            <a:endParaRPr lang="en-US" sz="8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749040"/>
                <a:gridCol w="3200400"/>
                <a:gridCol w="41148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Aspect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First draft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Storyboarded arc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Slides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22 (dashboard export)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7 + appendix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Recommendation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slide 22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slide 1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Big Idea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absent (topic deck)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one sentence, peer-restated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Objection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per-capita rebuttal seated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Peer time to grasp ask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did not finish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70 s from BLUF alone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4956048"/>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Targets after M5: Big Idea passes peer-restatement, deck ≤ 7 scenes, 100% of slides advance the decision.</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117</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Exploration → explanation funnel</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Big Idea anatomy (POV / stakes / action)</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Three narrative arcs, side by side</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The seven-slide executive arc strip</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Three rendered scenes (m5_scene_*.png)</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Progressive-reveal build in three layers</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BLUF memo output (90-second top-line)</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Before/after deck: 22 vs 7 slides</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(~28,000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dashboard_findings.md (1 page, from M4)</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story/ starter: storyboard.py, bluf.py</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06</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MODULE 6</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Executive Communication &amp; Presentation</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التواصل التنفيذي والعرض</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The final mile: delivering the storyboard live to a Steering Committee — open with the ask, hold attention, survive Q&amp;A.</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storyboard is a plan; this is delivery</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من التخطيط إلى الأداء</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119</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The moment a data scientist stands before a Steering Committee, has three minutes of attention, and either changes a decision or does not.</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Delivery, not design: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Open with the ask, control a slide's reveal while speaking, field a hostile question without losing the thread.</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Senior-audience craft: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Handle the specific dynamics of a senior Saudi government audience — protocol, hierarchy, bilingual delivery.</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A lab, not a lecture: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Participants rehearse, are recorded, receive critique, and iterate — improvement comes only from reps and feedback.</a:t>
            </a:r>
            <a:endParaRPr lang="en-US" sz="12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whole value chain converges on one event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120</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Perception, chart choice, colour, dashboards, narrative — all of it converges on the executive briefing. A brilliant analysis delivered badly produces the same outcome as no analysis.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Delivered nervously: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Buried in setup, or derailed by the first tough question — the analysis may as well not exist.</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Delivered well: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Open with the recommendation, hold the committee, answer a Deputy Minister calmly — you become the trusted advisor.</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Vision 2030: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In delivery units this skill separates analytics that informs decisions from analytics that decorates them.</a:t>
            </a:r>
            <a:endParaRPr lang="en-US" sz="12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delivery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121</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algn="ctr" indent="0" marL="0">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The SAR 40m recommendation</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data scientist presents to a Deputy Minister-chaired committee, opens with the ask, and defends it under challenge in a 15-minute slot.</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algn="ctr" indent="0" marL="0">
              <a:buNone/>
            </a:pPr>
            <a:r>
              <a:rPr lang="en-US" sz="1000" b="1" dirty="0">
                <a:solidFill>
                  <a:srgbClr val="00A79D"/>
                </a:solidFill>
                <a:latin typeface="Arial" pitchFamily="34" charset="0"/>
                <a:ea typeface="Arial" pitchFamily="34" charset="-122"/>
                <a:cs typeface="Arial" pitchFamily="34" charset="-120"/>
              </a:rPr>
              <a:t>Lead</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The two-minute stand-up</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An analytics lead delivers a top-line to a program director between meetings — recommendation, one reason, one number.</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algn="ctr" indent="0" marL="0">
              <a:buNone/>
            </a:pPr>
            <a:r>
              <a:rPr lang="en-US" sz="1000" b="1" dirty="0">
                <a:solidFill>
                  <a:srgbClr val="E8833A"/>
                </a:solidFill>
                <a:latin typeface="Arial" pitchFamily="34" charset="0"/>
                <a:ea typeface="Arial" pitchFamily="34" charset="-122"/>
                <a:cs typeface="Arial" pitchFamily="34" charset="-120"/>
              </a:rPr>
              <a:t>Review</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'Your numbers are wrong'</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team fields the objection by separating the challenged number from the recommendation and routing detail to the appendix.</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a participant can do after Module 6</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122</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Open with the BLUF: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Begin a briefing with the recommendation and a clear, decidable ask.</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Manage attention: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Control executive pacing and time discipline within a fixed slot.</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Deliver a chart: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Present a chart while controlling its reveal and narration.</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Handle Q&amp;A: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Field hostile, off-topic, and 'your data is wrong' questions without losing the thread.</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Navigate the room: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Work senior Saudi government dynamics — protocol, bilingual delivery, hierarchy.</a:t>
            </a:r>
            <a:endParaRPr lang="en-US" sz="1250" dirty="0"/>
          </a:p>
        </p:txBody>
      </p:sp>
      <p:sp>
        <p:nvSpPr>
          <p:cNvPr id="24" name="Shape 21"/>
          <p:cNvSpPr/>
          <p:nvPr/>
        </p:nvSpPr>
        <p:spPr>
          <a:xfrm>
            <a:off x="548640" y="4956048"/>
            <a:ext cx="100584" cy="420624"/>
          </a:xfrm>
          <a:prstGeom prst="rect">
            <a:avLst/>
          </a:prstGeom>
          <a:solidFill>
            <a:srgbClr val="29ABE2"/>
          </a:solidFill>
          <a:ln/>
        </p:spPr>
      </p:sp>
      <p:sp>
        <p:nvSpPr>
          <p:cNvPr id="25" name="Text 22"/>
          <p:cNvSpPr/>
          <p:nvPr/>
        </p:nvSpPr>
        <p:spPr>
          <a:xfrm>
            <a:off x="804672" y="49011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Improve measurably: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Iterate delivery across recorded rehearsal rounds.</a:t>
            </a:r>
            <a:endParaRPr lang="en-US" sz="12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123</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Open a briefing with a BLUF and a clear ask</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Manage executive attention, pacing, and time discipline</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Deliver a chart while controlling its reveal and narration</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 LO4</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Handle Q&amp;A, including hostile, off-topic, and 'data is wrong' questions</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Navigate senior-audience dynamics and bilingual delivery appropriately</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indent="0" marL="0">
              <a:lnSpc>
                <a:spcPct val="100000"/>
              </a:lnSpc>
              <a:buNone/>
            </a:pPr>
            <a:r>
              <a:rPr lang="en-US" sz="1200" dirty="0">
                <a:solidFill>
                  <a:srgbClr val="343A4E"/>
                </a:solidFill>
                <a:latin typeface="Arial" pitchFamily="34" charset="0"/>
                <a:ea typeface="Arial" pitchFamily="34" charset="-122"/>
                <a:cs typeface="Arial" pitchFamily="34" charset="-120"/>
              </a:rPr>
              <a:t>Iterate delivery measurably using recorded self-review and critique</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algn="ctr" indent="0" marL="0">
              <a:buNone/>
            </a:pPr>
            <a:r>
              <a:rPr lang="en-US" sz="950" b="1" dirty="0">
                <a:solidFill>
                  <a:srgbClr val="00A79D"/>
                </a:solidFill>
                <a:latin typeface="Arial" pitchFamily="34" charset="0"/>
                <a:ea typeface="Arial" pitchFamily="34" charset="-122"/>
                <a:cs typeface="Arial" pitchFamily="34" charset="-120"/>
              </a:rPr>
              <a:t>LO6, LO5</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Executive attention economics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124</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An executive audience is not hostile but it is scarce: senior decision-makers arrive with partial attention, competing priorities, and a habit of deciding early.</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First 30 seconds decide the frame</a:t>
            </a:r>
            <a:endParaRPr lang="en-US" sz="1300" dirty="0"/>
          </a:p>
        </p:txBody>
      </p:sp>
      <p:sp>
        <p:nvSpPr>
          <p:cNvPr id="18" name="Text 15"/>
          <p:cNvSpPr/>
          <p:nvPr/>
        </p:nvSpPr>
        <p:spPr>
          <a:xfrm>
            <a:off x="731520" y="3319272"/>
            <a:ext cx="3149498" cy="115214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Open with the recommendation and the ask (BLUF), not 'thank you, let me give some background.' Background before the ask is attention spent before the point.</a:t>
            </a:r>
            <a:endParaRPr lang="en-US" sz="1050" dirty="0"/>
          </a:p>
        </p:txBody>
      </p:sp>
      <p:sp>
        <p:nvSpPr>
          <p:cNvPr id="19" name="Shape 16"/>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Attention decays — front-load</a:t>
            </a:r>
            <a:endParaRPr lang="en-US" sz="1300" dirty="0"/>
          </a:p>
        </p:txBody>
      </p:sp>
      <p:sp>
        <p:nvSpPr>
          <p:cNvPr id="22" name="Text 19"/>
          <p:cNvSpPr/>
          <p:nvPr/>
        </p:nvSpPr>
        <p:spPr>
          <a:xfrm>
            <a:off x="4521098" y="3319272"/>
            <a:ext cx="3149498" cy="115214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Put the most decision-relevant slide first, not last. Assume they may be called away at minute three — the recommendation must already have landed.</a:t>
            </a:r>
            <a:endParaRPr lang="en-US" sz="1050" dirty="0"/>
          </a:p>
        </p:txBody>
      </p:sp>
      <p:sp>
        <p:nvSpPr>
          <p:cNvPr id="23" name="Shape 20"/>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They decide with less than you gave</a:t>
            </a:r>
            <a:endParaRPr lang="en-US" sz="1300" dirty="0"/>
          </a:p>
        </p:txBody>
      </p:sp>
      <p:sp>
        <p:nvSpPr>
          <p:cNvPr id="26" name="Text 23"/>
          <p:cNvSpPr/>
          <p:nvPr/>
        </p:nvSpPr>
        <p:spPr>
          <a:xfrm>
            <a:off x="8310677" y="3319272"/>
            <a:ext cx="3149498" cy="1152144"/>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Design for the executive who acts on the top-line alone; the deck's depth exists to survive scrutiny, not to be fully traversed.</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Structuring the spoken briefing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The spoken briefing has its own structure, time-boxed and layered on the seven-slide arc.</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Top-line (0:00–0:30)</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'I'm recommending we direct the next SAR 40m to three lagging regions to hit 65% by December. Here's why in three points.'</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Three beats (0:30–5:00)</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Situation, complication, evidence — one chart each, one message each, narrated as scenes.</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Options &amp; recommendation (5:00–6:30)</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The three uses compared, the choice, and the expected effect.</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The ask &amp; next step (6:30–7:00)</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'I'm asking the committee to approve the reallocation, with a checkpoint in 90 days.'</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The rule: say the ask twice — once at the top (BLUF), once at the close. Everything between earns the second ask.</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Delivering a chart out loud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A chart on a screen is not self-explanatory when you are talking over it — presenting a chart is a distinct skill.</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Orient before you assert</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One sentence on the axes first — 'each bar is a region, longer is higher adoption' — then the takeaway. People still decoding axes do not hear the conclusion.</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Control the reveal</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Use progressive build so the audience looks where you are speaking; a fully-rendered dense chart invites them to read ahead and stop listening.</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Point at the evidence</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Name and gesture to the specific mark that carries the argument — the annotated laggard — consistent with the slide's one callout.</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Never read the chart aloud</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title states the takeaway; you add the why and the so-what. You do not narrate every bar.</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Handling Q&amp;A — five question types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Q&amp;A is where credibility is won or lost, and it is coachable.</a:t>
            </a:r>
            <a:endParaRPr lang="en-US" sz="12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2468880"/>
                <a:gridCol w="3749040"/>
                <a:gridCol w="484632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Question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Technique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Tayseer example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Clarifying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Answer briefly, return to the arc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 latest month is June.'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Hostile / data-wrong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Separate number from recommendation; route to appendix; hold the thread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'Source is in the appendix — the recommendation holds even at the lower estimate.'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Off-topic / rabbit hole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Acknowledge, park, redirect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'Let's take channel costs offline and stay on the allocation.'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The un-known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Say so, commit to follow up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 don't have that to hand; I'll send it Thursday.'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The leading question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Answer the question, not the trap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Restate assumptions before agreeing.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5431536"/>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Two master rules: bridge back to the Big Idea after every answer, and never bluff a number — a fabricated figure that unravels destroys the whole briefing.</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Senior Saudi government-audience dynamics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Delivering to a Deputy Minister-chaired committee has specific, teachable norms.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Protocol and hierarchy</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Address the chair; be aware of seniority order; senior figures may question through aides — read the room's actual decision flow.</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Bilingual delivery</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Be ready to deliver or answer in Arabic or English; keep the deck's RTL discipline; do not code-switch mid-sentence unless the room does.</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Formality and brevity</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Senior audiences reward concision and respect for their time; over-familiarity or padding reads poorly. The BLUF is also a courtesy.</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Decision culture</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The visible decision may be deferred to private consultation; make the recommendation unambiguous enough to survive a conversation you are not in.</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Rehearsal, recording, and iteration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129</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Delivery is improved by reps, not advice. This is the lab method.</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Record every rehearsal</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Watching your own delivery is the most effective feedback in the course — filler, pace, and eye contact are undeniable on video.</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Time discipline</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Rehearse to the slot with a visible timer; overrunning a Deputy Minister's slot is itself a failure. Practise the 'cut to the ask' move.</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Structured critique</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Use a fixed rubric (BLUF, one message per slide, chart delivery, Q&amp;A, time, presence) so feedback is specific and kind.</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Iterate across rounds</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Two recorded rounds with critique between produce visible improvement; the benchmark is the delta, not the first attempt.</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Critique the delivery, not the person — the Day 1 norm. The delta is the grade.</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TIMED SPEAKER NOTES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Generate timed notes and the twice-stated ask</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story/speaker_notes.py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story/speaker_notes.py — timed notes + the ask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from story.tayseer_storyboard import STORYBOARD, BIG_IDEA</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TIME_BOX = {"BLUF": 30, "situation": 45,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"complication": 60, "evidence": 75,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"options": 90, "resolution": 60,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"ask": 30}   # seconds, sums to 7 min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build_notes(storyboard):</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total = 0</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print(f"OPEN (say the ask): {BIG_IDEA}\n")</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for s in storyboard:</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secs = TIME_BOX.get(s.arc_role, 45)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total += secs</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print(f"[{total//60}:{total%60:02d}] {s.arc_role}")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Orient axes, then: {s.message}")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   Point at one mark; do NOT read it.")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total &lt;= 7*60, f"Over by {total-420}s — cut."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print("CLOSE (ask AGAIN): approve; 90-day check.")</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build_notes(STORYBOARD)</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Delivery is a plan too: every scene gets a time box and a one-line narration cue.</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CODE — Q&amp;A PREP MATRIX</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Pre-build answers that bridge to the Big Idea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131</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algn="l" indent="0" marL="0">
              <a:buNone/>
            </a:pPr>
            <a:r>
              <a:rPr lang="en-US" sz="950" dirty="0">
                <a:solidFill>
                  <a:srgbClr val="8FA0BF"/>
                </a:solidFill>
                <a:latin typeface="Courier New" pitchFamily="34" charset="0"/>
                <a:ea typeface="Courier New" pitchFamily="34" charset="-122"/>
                <a:cs typeface="Courier New" pitchFamily="34" charset="-120"/>
              </a:rPr>
              <a:t>story/qa_prep.py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indent="0" marL="0">
              <a:lnSpc>
                <a:spcPct val="102000"/>
              </a:lnSpc>
              <a:buNone/>
            </a:pPr>
            <a:r>
              <a:rPr lang="en-US" sz="900" dirty="0">
                <a:solidFill>
                  <a:srgbClr val="7F9CC4"/>
                </a:solidFill>
                <a:latin typeface="Courier New" pitchFamily="34" charset="0"/>
                <a:ea typeface="Courier New" pitchFamily="34" charset="-122"/>
                <a:cs typeface="Courier New" pitchFamily="34" charset="-120"/>
              </a:rPr>
              <a:t># story/qa_prep.py — acknowledge -&gt; answer -&gt; BRIDGE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QA =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{"q": "Aren't those regions just small? (hostile)",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"Per-capita, not absolute (appx A2).",</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"so targeted spend closes the real gap."},</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{"q": "Adoption looks high vs finance (data-wrong)",</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"Unique users, not a column avg (A5).",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"it holds at finance's lower figure."},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{"q": "Why not spend it on the app? (off-topic)",</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"Channel infra is option 2; slower.",</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"region-targeting is fastest to 65%."},</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def drill(qa):</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for i, item in enumerate(qa, 1):</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print(f"Q{i}: {item['q']}")</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A: {item['answer']}")</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-&gt;bridge: ...{item['bridge']}")</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indent="0" marL="0">
              <a:lnSpc>
                <a:spcPct val="102000"/>
              </a:lnSpc>
              <a:buNone/>
            </a:pPr>
            <a:r>
              <a:rPr lang="en-US" sz="900" dirty="0">
                <a:solidFill>
                  <a:srgbClr val="E8ECF5"/>
                </a:solidFill>
                <a:latin typeface="Courier New" pitchFamily="34" charset="0"/>
                <a:ea typeface="Courier New" pitchFamily="34" charset="-122"/>
                <a:cs typeface="Courier New" pitchFamily="34" charset="-120"/>
              </a:rPr>
              <a:t>drill(QA)</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indent="0" marL="0">
              <a:buNone/>
            </a:pPr>
            <a:r>
              <a:rPr lang="en-US" sz="1100" i="1" dirty="0">
                <a:solidFill>
                  <a:srgbClr val="6B7280"/>
                </a:solidFill>
                <a:latin typeface="Arial" pitchFamily="34" charset="0"/>
                <a:ea typeface="Arial" pitchFamily="34" charset="-122"/>
                <a:cs typeface="Arial" pitchFamily="34" charset="-120"/>
              </a:rPr>
              <a:t>Each answer: acknowledge, respond briefly, then bridge back to the Big Idea.</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Lab 6 — The Executive Delivery Clinic</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عيادة العرض التنفيذي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132</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OBJECTIVE  </a:t>
            </a:r>
            <a:pPr indent="0" marL="0">
              <a:lnSpc>
                <a:spcPct val="98000"/>
              </a:lnSpc>
              <a:buNone/>
            </a:pPr>
            <a:r>
              <a:rPr lang="en-US" sz="1100" dirty="0">
                <a:solidFill>
                  <a:srgbClr val="343A4E"/>
                </a:solidFill>
                <a:latin typeface="Arial" pitchFamily="34" charset="0"/>
                <a:ea typeface="Arial" pitchFamily="34" charset="-122"/>
                <a:cs typeface="Arial" pitchFamily="34" charset="-120"/>
              </a:rPr>
              <a:t>Deliver the Module 5 seven-slide narrative to a simulated Steering Committee in a 7-minute slot, handle a Q&amp;A round, and improve measurably across two recorded rounds.</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DURATION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indent="0" marL="0">
              <a:lnSpc>
                <a:spcPct val="98000"/>
              </a:lnSpc>
              <a:buNone/>
            </a:pPr>
            <a:r>
              <a:rPr lang="en-US" sz="1100" b="1" dirty="0">
                <a:solidFill>
                  <a:srgbClr val="2E5AAC"/>
                </a:solidFill>
                <a:latin typeface="Arial" pitchFamily="34" charset="0"/>
                <a:ea typeface="Arial" pitchFamily="34" charset="-122"/>
                <a:cs typeface="Arial" pitchFamily="34" charset="-120"/>
              </a:rPr>
              <a:t>SETUP  </a:t>
            </a:r>
            <a:pPr indent="0" marL="0">
              <a:lnSpc>
                <a:spcPct val="98000"/>
              </a:lnSpc>
              <a:buNone/>
            </a:pPr>
            <a:r>
              <a:rPr lang="en-US" sz="1100" dirty="0">
                <a:solidFill>
                  <a:srgbClr val="343A4E"/>
                </a:solidFill>
                <a:latin typeface="Arial" pitchFamily="34" charset="0"/>
                <a:ea typeface="Arial" pitchFamily="34" charset="-122"/>
                <a:cs typeface="Arial" pitchFamily="34" charset="-120"/>
              </a:rPr>
              <a:t>M5 storyboard + scenes; speaker_notes.py, qa_prep.py, rehearsal_score.py; a recording device per pair; a visible timer; recording-consent forms.</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indent="0" marL="0">
              <a:buNone/>
            </a:pPr>
            <a:r>
              <a:rPr lang="en-US" sz="1200" b="1" spc="100" kern="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Generate timed speaker notes; confirm the ask is stated at open and close and total is ≤ 7:00.</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Build the Q&amp;A matrix: 4+ questions incl. one hostile and one 'data is wrong', each with an answer and a bridge.</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Round 1: deliver the 7-minute briefing to your pair (the committee), recorded; they ask two prepared questions.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Self-review the recording against the rubric; note the two highest-leverage fixes (usually ask and time).</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Structured peer critique: committee scores the same rubric; critique the delivery, not the person.</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(10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Round 2: re-deliver with fixes, recorded; committee asks one new, unprepared question to test bridging.</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indent="0" marL="0">
              <a:lnSpc>
                <a:spcPct val="98000"/>
              </a:lnSpc>
              <a:buNone/>
            </a:pPr>
            <a:r>
              <a:rPr lang="en-US" sz="1100" b="1" dirty="0">
                <a:solidFill>
                  <a:srgbClr val="00A79D"/>
                </a:solidFill>
                <a:latin typeface="Arial" pitchFamily="34" charset="0"/>
                <a:ea typeface="Arial" pitchFamily="34" charset="-122"/>
                <a:cs typeface="Arial" pitchFamily="34" charset="-120"/>
              </a:rPr>
              <a:t>(5 min) </a:t>
            </a:r>
            <a:pPr indent="0" marL="0">
              <a:lnSpc>
                <a:spcPct val="98000"/>
              </a:lnSpc>
              <a:buNone/>
            </a:pPr>
            <a:r>
              <a:rPr lang="en-US" sz="1100" dirty="0">
                <a:solidFill>
                  <a:srgbClr val="343A4E"/>
                </a:solidFill>
                <a:latin typeface="Arial" pitchFamily="34" charset="0"/>
                <a:ea typeface="Arial" pitchFamily="34" charset="-122"/>
                <a:cs typeface="Arial" pitchFamily="34" charset="-120"/>
              </a:rPr>
              <a:t>Score Round 2; compute the delta; save both recordings + scores as lab6_solution.</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133</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indent="0" marL="0">
              <a:lnSpc>
                <a:spcPct val="98000"/>
              </a:lnSpc>
              <a:buNone/>
            </a:pPr>
            <a:r>
              <a:rPr lang="en-US" sz="1150" b="1" dirty="0">
                <a:solidFill>
                  <a:srgbClr val="2E5AAC"/>
                </a:solidFill>
                <a:latin typeface="Arial" pitchFamily="34" charset="0"/>
                <a:ea typeface="Arial" pitchFamily="34" charset="-122"/>
                <a:cs typeface="Arial" pitchFamily="34" charset="-120"/>
              </a:rPr>
              <a:t>Q1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When must the ask be stated?</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In the first 30 seconds (BLUF) and again at the close.</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indent="0" marL="0">
              <a:lnSpc>
                <a:spcPct val="98000"/>
              </a:lnSpc>
              <a:buNone/>
            </a:pPr>
            <a:r>
              <a:rPr lang="en-US" sz="1150" b="1" dirty="0">
                <a:solidFill>
                  <a:srgbClr val="00A79D"/>
                </a:solidFill>
                <a:latin typeface="Arial" pitchFamily="34" charset="0"/>
                <a:ea typeface="Arial" pitchFamily="34" charset="-122"/>
                <a:cs typeface="Arial" pitchFamily="34" charset="-120"/>
              </a:rPr>
              <a:t>Q2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Before asserting a chart's point, what must you do?</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Orient the audience to the axes in one sentence.</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indent="0" marL="0">
              <a:lnSpc>
                <a:spcPct val="98000"/>
              </a:lnSpc>
              <a:buNone/>
            </a:pPr>
            <a:r>
              <a:rPr lang="en-US" sz="1150" b="1" dirty="0">
                <a:solidFill>
                  <a:srgbClr val="E8833A"/>
                </a:solidFill>
                <a:latin typeface="Arial" pitchFamily="34" charset="0"/>
                <a:ea typeface="Arial" pitchFamily="34" charset="-122"/>
                <a:cs typeface="Arial" pitchFamily="34" charset="-120"/>
              </a:rPr>
              <a:t>Q3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A committee member says 'your data is wrong.' First move?</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Separate the number from the recommendation; route to appendix; show the recommendation holds.</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indent="0" marL="0">
              <a:lnSpc>
                <a:spcPct val="98000"/>
              </a:lnSpc>
              <a:buNone/>
            </a:pPr>
            <a:r>
              <a:rPr lang="en-US" sz="1150" b="1" dirty="0">
                <a:solidFill>
                  <a:srgbClr val="6C4FA1"/>
                </a:solidFill>
                <a:latin typeface="Arial" pitchFamily="34" charset="0"/>
                <a:ea typeface="Arial" pitchFamily="34" charset="-122"/>
                <a:cs typeface="Arial" pitchFamily="34" charset="-120"/>
              </a:rPr>
              <a:t>Q4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After any Q&amp;A answer, where do you return?</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The Big Idea — bridge back.</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indent="0" marL="0">
              <a:lnSpc>
                <a:spcPct val="98000"/>
              </a:lnSpc>
              <a:buNone/>
            </a:pPr>
            <a:r>
              <a:rPr lang="en-US" sz="1150" b="1" dirty="0">
                <a:solidFill>
                  <a:srgbClr val="3FAE5A"/>
                </a:solidFill>
                <a:latin typeface="Arial" pitchFamily="34" charset="0"/>
                <a:ea typeface="Arial" pitchFamily="34" charset="-122"/>
                <a:cs typeface="Arial" pitchFamily="34" charset="-120"/>
              </a:rPr>
              <a:t>Q5  </a:t>
            </a:r>
            <a:pPr indent="0" marL="0">
              <a:lnSpc>
                <a:spcPct val="98000"/>
              </a:lnSpc>
              <a:buNone/>
            </a:pPr>
            <a:r>
              <a:rPr lang="en-US" sz="1150" b="1" dirty="0">
                <a:solidFill>
                  <a:srgbClr val="1D2A5C"/>
                </a:solidFill>
                <a:latin typeface="Arial" pitchFamily="34" charset="0"/>
                <a:ea typeface="Arial" pitchFamily="34" charset="-122"/>
                <a:cs typeface="Arial" pitchFamily="34" charset="-120"/>
              </a:rPr>
              <a:t>Why record rehearsals?</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indent="0" marL="0">
              <a:lnSpc>
                <a:spcPct val="98000"/>
              </a:lnSpc>
              <a:buNone/>
            </a:pPr>
            <a:r>
              <a:rPr lang="en-US" sz="1100" b="1" dirty="0">
                <a:solidFill>
                  <a:srgbClr val="3FAE5A"/>
                </a:solidFill>
                <a:latin typeface="Arial" pitchFamily="34" charset="0"/>
                <a:ea typeface="Arial" pitchFamily="34" charset="-122"/>
                <a:cs typeface="Arial" pitchFamily="34" charset="-120"/>
              </a:rPr>
              <a:t>✓  </a:t>
            </a:r>
            <a:pPr indent="0" marL="0">
              <a:lnSpc>
                <a:spcPct val="98000"/>
              </a:lnSpc>
              <a:buNone/>
            </a:pPr>
            <a:r>
              <a:rPr lang="en-US" sz="1100" i="1" dirty="0">
                <a:solidFill>
                  <a:srgbClr val="343A4E"/>
                </a:solidFill>
                <a:latin typeface="Arial" pitchFamily="34" charset="0"/>
                <a:ea typeface="Arial" pitchFamily="34" charset="-122"/>
                <a:cs typeface="Arial" pitchFamily="34" charset="-120"/>
              </a:rPr>
              <a:t>Self-review of delivery is the most effective feedback; the round-to-round delta is the learning signal.</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Briefing That Won the Reallocation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الإحاطة التي كسبت إعادة التخصيص</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134</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indent="0" marL="0">
              <a:buNone/>
            </a:pPr>
            <a:r>
              <a:rPr lang="en-US" sz="1100" b="1" spc="100" kern="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Tayseer lead has one 7-minute slot before a Deputy Minister-chaired committee to secure SAR 40m. In rehearsal: opened with three minutes of history, put the recommendation on the last slide, and burned two minutes defending a challenged figure.</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indent="0" marL="0">
              <a:buNone/>
            </a:pPr>
            <a:r>
              <a:rPr lang="en-US" sz="1100" b="1" spc="100" kern="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The culminating decision the whole course exists to influence. Lose the room and a quarter of work and the team's credibility are wasted; win it and three regions are funded and analytics becomes a decision partner.</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indent="0" marL="0">
              <a:buNone/>
            </a:pPr>
            <a:r>
              <a:rPr lang="en-US" sz="1100" b="1" spc="100" kern="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Rebuild the delivery — not the deck — so the ask lands in 30 seconds, the seven scenes fit the slot, and the 'your number is wrong' and 'aren't those regions just small' challenges are handled without losing the thread.</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indent="0" marL="0">
              <a:buNone/>
            </a:pPr>
            <a:r>
              <a:rPr lang="en-US" sz="1100" b="1" spc="100" kern="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indent="0" marL="0">
              <a:lnSpc>
                <a:spcPct val="100000"/>
              </a:lnSpc>
              <a:buNone/>
            </a:pPr>
            <a:r>
              <a:rPr lang="en-US" sz="1100" dirty="0">
                <a:solidFill>
                  <a:srgbClr val="343A4E"/>
                </a:solidFill>
                <a:latin typeface="Arial" pitchFamily="34" charset="0"/>
                <a:ea typeface="Arial" pitchFamily="34" charset="-122"/>
                <a:cs typeface="Arial" pitchFamily="34" charset="-120"/>
              </a:rPr>
              <a:t>Re-open with the BLUF; move history to one situation slide. Time-box the scenes; rehearse the halved-slot cut. Pre-build the Q&amp;A matrix; separate figure from recommendation and reconcile honestly. Rehearse recorded, twice, scoring the delta. Respect protocol; close by restating the ask.</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to reach after Module 6</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135</a:t>
            </a:r>
            <a:endParaRPr lang="en-US" sz="8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5120640"/>
                <a:gridCol w="2286000"/>
                <a:gridCol w="36576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Ask stated in first 30 seconds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Recording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Delivery within the slot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 7:00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Timer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Q&amp;A answers bridged to the Big Idea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Rubric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Charts oriented before asserted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Rubric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Round-1 → Round-2 improvement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 +15 pts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rehearsal_score.py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Hostile/off-topic handled cleanly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Committee note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
        <p:nvSpPr>
          <p:cNvPr id="15" name="Text 11"/>
          <p:cNvSpPr/>
          <p:nvPr/>
        </p:nvSpPr>
        <p:spPr>
          <a:xfrm>
            <a:off x="548640" y="5431536"/>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The single non-negotiable: the ask lands in the first 30 seconds, on a recording anyone can check.</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Rubric filled during the lab — Round 1 vs Round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136</a:t>
            </a:r>
            <a:endParaRPr lang="en-US" sz="8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5577840"/>
                <a:gridCol w="2743200"/>
                <a:gridCol w="27432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Criterion (0–5)</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Round 1</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Round 2</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Opening /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One message per slide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Chart delivery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Q&amp;A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Time discipline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Presence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Total (%)</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5907024"/>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Delta +37 points. Biggest mover: opening with the BLUF (2 → 5) — led with the ask, on time, bridged an unprepared question.</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algn="l" indent="0" marL="0">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137</a:t>
            </a:r>
            <a:endParaRPr lang="en-US" sz="800" dirty="0"/>
          </a:p>
        </p:txBody>
      </p:sp>
      <p:sp>
        <p:nvSpPr>
          <p:cNvPr id="15" name="Shape 12"/>
          <p:cNvSpPr/>
          <p:nvPr/>
        </p:nvSpPr>
        <p:spPr>
          <a:xfrm>
            <a:off x="548640" y="2377440"/>
            <a:ext cx="2567864" cy="3657600"/>
          </a:xfrm>
          <a:prstGeom prst="roundRect">
            <a:avLst>
              <a:gd name="adj" fmla="val 3205"/>
            </a:avLst>
          </a:prstGeom>
          <a:solidFill>
            <a:srgbClr val="FFFFFF"/>
          </a:solidFill>
          <a:ln w="12700">
            <a:solidFill>
              <a:srgbClr val="D9DEE8"/>
            </a:solidFill>
            <a:prstDash val="solid"/>
          </a:ln>
        </p:spPr>
      </p:sp>
      <p:sp>
        <p:nvSpPr>
          <p:cNvPr id="16" name="Shape 13"/>
          <p:cNvSpPr/>
          <p:nvPr/>
        </p:nvSpPr>
        <p:spPr>
          <a:xfrm>
            <a:off x="548640" y="2377440"/>
            <a:ext cx="2567864" cy="457200"/>
          </a:xfrm>
          <a:prstGeom prst="roundRect">
            <a:avLst>
              <a:gd name="adj" fmla="val 18000"/>
            </a:avLst>
          </a:prstGeom>
          <a:solidFill>
            <a:srgbClr val="2E5AAC"/>
          </a:solidFill>
          <a:ln/>
        </p:spPr>
      </p:sp>
      <p:sp>
        <p:nvSpPr>
          <p:cNvPr id="17" name="Shape 14"/>
          <p:cNvSpPr/>
          <p:nvPr/>
        </p:nvSpPr>
        <p:spPr>
          <a:xfrm>
            <a:off x="548640" y="2606040"/>
            <a:ext cx="2567864" cy="228600"/>
          </a:xfrm>
          <a:prstGeom prst="rect">
            <a:avLst/>
          </a:prstGeom>
          <a:solidFill>
            <a:srgbClr val="2E5AAC"/>
          </a:solidFill>
          <a:ln/>
        </p:spPr>
      </p:sp>
      <p:sp>
        <p:nvSpPr>
          <p:cNvPr id="18" name="Text 15"/>
          <p:cNvSpPr/>
          <p:nvPr/>
        </p:nvSpPr>
        <p:spPr>
          <a:xfrm>
            <a:off x="640080" y="2377440"/>
            <a:ext cx="2384984"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2256968"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Attention-decay curve (BLUF at 0:30)</a:t>
            </a:r>
            <a:endParaRPr lang="en-US" sz="1050" dirty="0"/>
          </a:p>
        </p:txBody>
      </p:sp>
      <p:sp>
        <p:nvSpPr>
          <p:cNvPr id="20" name="Text 17"/>
          <p:cNvSpPr/>
          <p:nvPr/>
        </p:nvSpPr>
        <p:spPr>
          <a:xfrm>
            <a:off x="713232" y="3392424"/>
            <a:ext cx="2256968"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Spoken-briefing structure timeline strip</a:t>
            </a:r>
            <a:endParaRPr lang="en-US" sz="1050" dirty="0"/>
          </a:p>
        </p:txBody>
      </p:sp>
      <p:sp>
        <p:nvSpPr>
          <p:cNvPr id="21" name="Text 18"/>
          <p:cNvSpPr/>
          <p:nvPr/>
        </p:nvSpPr>
        <p:spPr>
          <a:xfrm>
            <a:off x="713232" y="3813048"/>
            <a:ext cx="2256968"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Q&amp;A handling matrix poster</a:t>
            </a:r>
            <a:endParaRPr lang="en-US" sz="1050" dirty="0"/>
          </a:p>
        </p:txBody>
      </p:sp>
      <p:sp>
        <p:nvSpPr>
          <p:cNvPr id="22" name="Text 19"/>
          <p:cNvSpPr/>
          <p:nvPr/>
        </p:nvSpPr>
        <p:spPr>
          <a:xfrm>
            <a:off x="713232" y="4105656"/>
            <a:ext cx="2256968" cy="640080"/>
          </a:xfrm>
          <a:prstGeom prst="rect">
            <a:avLst/>
          </a:prstGeom>
          <a:noFill/>
          <a:ln/>
        </p:spPr>
        <p:txBody>
          <a:bodyPr wrap="square" rtlCol="0" anchor="t"/>
          <a:lstStyle/>
          <a:p>
            <a:pPr indent="0" marL="0">
              <a:lnSpc>
                <a:spcPct val="100000"/>
              </a:lnSpc>
              <a:buNone/>
            </a:pPr>
            <a:r>
              <a:rPr lang="en-US" sz="105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Rehearsal feedback-loop diagram</a:t>
            </a:r>
            <a:endParaRPr lang="en-US" sz="1050" dirty="0"/>
          </a:p>
        </p:txBody>
      </p:sp>
      <p:sp>
        <p:nvSpPr>
          <p:cNvPr id="23" name="Shape 20"/>
          <p:cNvSpPr/>
          <p:nvPr/>
        </p:nvSpPr>
        <p:spPr>
          <a:xfrm>
            <a:off x="3390824" y="2377440"/>
            <a:ext cx="2567864" cy="3657600"/>
          </a:xfrm>
          <a:prstGeom prst="roundRect">
            <a:avLst>
              <a:gd name="adj" fmla="val 3205"/>
            </a:avLst>
          </a:prstGeom>
          <a:solidFill>
            <a:srgbClr val="FFFFFF"/>
          </a:solidFill>
          <a:ln w="12700">
            <a:solidFill>
              <a:srgbClr val="D9DEE8"/>
            </a:solidFill>
            <a:prstDash val="solid"/>
          </a:ln>
        </p:spPr>
      </p:sp>
      <p:sp>
        <p:nvSpPr>
          <p:cNvPr id="24" name="Shape 21"/>
          <p:cNvSpPr/>
          <p:nvPr/>
        </p:nvSpPr>
        <p:spPr>
          <a:xfrm>
            <a:off x="3390824" y="2377440"/>
            <a:ext cx="2567864" cy="457200"/>
          </a:xfrm>
          <a:prstGeom prst="roundRect">
            <a:avLst>
              <a:gd name="adj" fmla="val 18000"/>
            </a:avLst>
          </a:prstGeom>
          <a:solidFill>
            <a:srgbClr val="00A79D"/>
          </a:solidFill>
          <a:ln/>
        </p:spPr>
      </p:sp>
      <p:sp>
        <p:nvSpPr>
          <p:cNvPr id="25" name="Shape 22"/>
          <p:cNvSpPr/>
          <p:nvPr/>
        </p:nvSpPr>
        <p:spPr>
          <a:xfrm>
            <a:off x="3390824" y="2606040"/>
            <a:ext cx="2567864" cy="228600"/>
          </a:xfrm>
          <a:prstGeom prst="rect">
            <a:avLst/>
          </a:prstGeom>
          <a:solidFill>
            <a:srgbClr val="00A79D"/>
          </a:solidFill>
          <a:ln/>
        </p:spPr>
      </p:sp>
      <p:sp>
        <p:nvSpPr>
          <p:cNvPr id="26" name="Text 23"/>
          <p:cNvSpPr/>
          <p:nvPr/>
        </p:nvSpPr>
        <p:spPr>
          <a:xfrm>
            <a:off x="3482264" y="2377440"/>
            <a:ext cx="2384984"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3555416" y="2971800"/>
            <a:ext cx="2256968"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Speaker-notes output (ask at open + close)</a:t>
            </a:r>
            <a:endParaRPr lang="en-US" sz="1050" dirty="0"/>
          </a:p>
        </p:txBody>
      </p:sp>
      <p:sp>
        <p:nvSpPr>
          <p:cNvPr id="28" name="Text 25"/>
          <p:cNvSpPr/>
          <p:nvPr/>
        </p:nvSpPr>
        <p:spPr>
          <a:xfrm>
            <a:off x="3555416" y="3392424"/>
            <a:ext cx="2256968"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Q&amp;A matrix output (4 bridged answers)</a:t>
            </a:r>
            <a:endParaRPr lang="en-US" sz="1050" dirty="0"/>
          </a:p>
        </p:txBody>
      </p:sp>
      <p:sp>
        <p:nvSpPr>
          <p:cNvPr id="29" name="Text 26"/>
          <p:cNvSpPr/>
          <p:nvPr/>
        </p:nvSpPr>
        <p:spPr>
          <a:xfrm>
            <a:off x="3555416" y="3813048"/>
            <a:ext cx="2256968"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Rubric score card (Round 1 vs 2)</a:t>
            </a:r>
            <a:endParaRPr lang="en-US" sz="1050" dirty="0"/>
          </a:p>
        </p:txBody>
      </p:sp>
      <p:sp>
        <p:nvSpPr>
          <p:cNvPr id="30" name="Text 27"/>
          <p:cNvSpPr/>
          <p:nvPr/>
        </p:nvSpPr>
        <p:spPr>
          <a:xfrm>
            <a:off x="3555416" y="4233672"/>
            <a:ext cx="2256968" cy="640080"/>
          </a:xfrm>
          <a:prstGeom prst="rect">
            <a:avLst/>
          </a:prstGeom>
          <a:noFill/>
          <a:ln/>
        </p:spPr>
        <p:txBody>
          <a:bodyPr wrap="square" rtlCol="0" anchor="t"/>
          <a:lstStyle/>
          <a:p>
            <a:pPr indent="0" marL="0">
              <a:lnSpc>
                <a:spcPct val="100000"/>
              </a:lnSpc>
              <a:buNone/>
            </a:pPr>
            <a:r>
              <a:rPr lang="en-US" sz="105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Simulated committee-room setup</a:t>
            </a:r>
            <a:endParaRPr lang="en-US" sz="1050" dirty="0"/>
          </a:p>
        </p:txBody>
      </p:sp>
      <p:sp>
        <p:nvSpPr>
          <p:cNvPr id="31" name="Shape 28"/>
          <p:cNvSpPr/>
          <p:nvPr/>
        </p:nvSpPr>
        <p:spPr>
          <a:xfrm>
            <a:off x="6233008" y="2377440"/>
            <a:ext cx="2567864" cy="3657600"/>
          </a:xfrm>
          <a:prstGeom prst="roundRect">
            <a:avLst>
              <a:gd name="adj" fmla="val 3205"/>
            </a:avLst>
          </a:prstGeom>
          <a:solidFill>
            <a:srgbClr val="FFFFFF"/>
          </a:solidFill>
          <a:ln w="12700">
            <a:solidFill>
              <a:srgbClr val="D9DEE8"/>
            </a:solidFill>
            <a:prstDash val="solid"/>
          </a:ln>
        </p:spPr>
      </p:sp>
      <p:sp>
        <p:nvSpPr>
          <p:cNvPr id="32" name="Shape 29"/>
          <p:cNvSpPr/>
          <p:nvPr/>
        </p:nvSpPr>
        <p:spPr>
          <a:xfrm>
            <a:off x="6233008" y="2377440"/>
            <a:ext cx="2567864" cy="457200"/>
          </a:xfrm>
          <a:prstGeom prst="roundRect">
            <a:avLst>
              <a:gd name="adj" fmla="val 18000"/>
            </a:avLst>
          </a:prstGeom>
          <a:solidFill>
            <a:srgbClr val="E8833A"/>
          </a:solidFill>
          <a:ln/>
        </p:spPr>
      </p:sp>
      <p:sp>
        <p:nvSpPr>
          <p:cNvPr id="33" name="Shape 30"/>
          <p:cNvSpPr/>
          <p:nvPr/>
        </p:nvSpPr>
        <p:spPr>
          <a:xfrm>
            <a:off x="6233008" y="2606040"/>
            <a:ext cx="2567864" cy="228600"/>
          </a:xfrm>
          <a:prstGeom prst="rect">
            <a:avLst/>
          </a:prstGeom>
          <a:solidFill>
            <a:srgbClr val="E8833A"/>
          </a:solidFill>
          <a:ln/>
        </p:spPr>
      </p:sp>
      <p:sp>
        <p:nvSpPr>
          <p:cNvPr id="34" name="Text 31"/>
          <p:cNvSpPr/>
          <p:nvPr/>
        </p:nvSpPr>
        <p:spPr>
          <a:xfrm>
            <a:off x="6324448" y="2377440"/>
            <a:ext cx="2384984"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Simulations</a:t>
            </a:r>
            <a:endParaRPr lang="en-US" sz="1250" dirty="0"/>
          </a:p>
        </p:txBody>
      </p:sp>
      <p:sp>
        <p:nvSpPr>
          <p:cNvPr id="35" name="Text 32"/>
          <p:cNvSpPr/>
          <p:nvPr/>
        </p:nvSpPr>
        <p:spPr>
          <a:xfrm>
            <a:off x="6397600" y="2971800"/>
            <a:ext cx="2256968"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Hostile-committee bot (challenge questions)</a:t>
            </a:r>
            <a:endParaRPr lang="en-US" sz="1050" dirty="0"/>
          </a:p>
        </p:txBody>
      </p:sp>
      <p:sp>
        <p:nvSpPr>
          <p:cNvPr id="36" name="Text 33"/>
          <p:cNvSpPr/>
          <p:nvPr/>
        </p:nvSpPr>
        <p:spPr>
          <a:xfrm>
            <a:off x="6397600" y="3392424"/>
            <a:ext cx="2256968"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The halved-slot drill (timer cut to 3 min)</a:t>
            </a:r>
            <a:endParaRPr lang="en-US" sz="1050" dirty="0"/>
          </a:p>
        </p:txBody>
      </p:sp>
      <p:sp>
        <p:nvSpPr>
          <p:cNvPr id="37" name="Text 34"/>
          <p:cNvSpPr/>
          <p:nvPr/>
        </p:nvSpPr>
        <p:spPr>
          <a:xfrm>
            <a:off x="6397600" y="3813048"/>
            <a:ext cx="2256968"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Cold-open round (30-second BLUF)</a:t>
            </a:r>
            <a:endParaRPr lang="en-US" sz="1050" dirty="0"/>
          </a:p>
        </p:txBody>
      </p:sp>
      <p:sp>
        <p:nvSpPr>
          <p:cNvPr id="38" name="Text 35"/>
          <p:cNvSpPr/>
          <p:nvPr/>
        </p:nvSpPr>
        <p:spPr>
          <a:xfrm>
            <a:off x="6397600" y="4233672"/>
            <a:ext cx="2256968" cy="640080"/>
          </a:xfrm>
          <a:prstGeom prst="rect">
            <a:avLst/>
          </a:prstGeom>
          <a:noFill/>
          <a:ln/>
        </p:spPr>
        <p:txBody>
          <a:bodyPr wrap="square" rtlCol="0" anchor="t"/>
          <a:lstStyle/>
          <a:p>
            <a:pPr indent="0" marL="0">
              <a:lnSpc>
                <a:spcPct val="100000"/>
              </a:lnSpc>
              <a:buNone/>
            </a:pPr>
            <a:r>
              <a:rPr lang="en-US" sz="105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Bridge relay (rapid-fire questions)</a:t>
            </a:r>
            <a:endParaRPr lang="en-US" sz="1050" dirty="0"/>
          </a:p>
        </p:txBody>
      </p:sp>
      <p:sp>
        <p:nvSpPr>
          <p:cNvPr id="39" name="Shape 36"/>
          <p:cNvSpPr/>
          <p:nvPr/>
        </p:nvSpPr>
        <p:spPr>
          <a:xfrm>
            <a:off x="9075191" y="2377440"/>
            <a:ext cx="2567864" cy="3657600"/>
          </a:xfrm>
          <a:prstGeom prst="roundRect">
            <a:avLst>
              <a:gd name="adj" fmla="val 3205"/>
            </a:avLst>
          </a:prstGeom>
          <a:solidFill>
            <a:srgbClr val="FFFFFF"/>
          </a:solidFill>
          <a:ln w="12700">
            <a:solidFill>
              <a:srgbClr val="D9DEE8"/>
            </a:solidFill>
            <a:prstDash val="solid"/>
          </a:ln>
        </p:spPr>
      </p:sp>
      <p:sp>
        <p:nvSpPr>
          <p:cNvPr id="40" name="Shape 37"/>
          <p:cNvSpPr/>
          <p:nvPr/>
        </p:nvSpPr>
        <p:spPr>
          <a:xfrm>
            <a:off x="9075191" y="2377440"/>
            <a:ext cx="2567864" cy="457200"/>
          </a:xfrm>
          <a:prstGeom prst="roundRect">
            <a:avLst>
              <a:gd name="adj" fmla="val 18000"/>
            </a:avLst>
          </a:prstGeom>
          <a:solidFill>
            <a:srgbClr val="6C4FA1"/>
          </a:solidFill>
          <a:ln/>
        </p:spPr>
      </p:sp>
      <p:sp>
        <p:nvSpPr>
          <p:cNvPr id="41" name="Shape 38"/>
          <p:cNvSpPr/>
          <p:nvPr/>
        </p:nvSpPr>
        <p:spPr>
          <a:xfrm>
            <a:off x="9075191" y="2606040"/>
            <a:ext cx="2567864" cy="228600"/>
          </a:xfrm>
          <a:prstGeom prst="rect">
            <a:avLst/>
          </a:prstGeom>
          <a:solidFill>
            <a:srgbClr val="6C4FA1"/>
          </a:solidFill>
          <a:ln/>
        </p:spPr>
      </p:sp>
      <p:sp>
        <p:nvSpPr>
          <p:cNvPr id="42" name="Text 39"/>
          <p:cNvSpPr/>
          <p:nvPr/>
        </p:nvSpPr>
        <p:spPr>
          <a:xfrm>
            <a:off x="9166631" y="2377440"/>
            <a:ext cx="2384984" cy="45720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43" name="Text 40"/>
          <p:cNvSpPr/>
          <p:nvPr/>
        </p:nvSpPr>
        <p:spPr>
          <a:xfrm>
            <a:off x="9239783" y="2971800"/>
            <a:ext cx="2256968" cy="640080"/>
          </a:xfrm>
          <a:prstGeom prst="rect">
            <a:avLst/>
          </a:prstGeom>
          <a:noFill/>
          <a:ln/>
        </p:spPr>
        <p:txBody>
          <a:bodyPr wrap="square" rtlCol="0" anchor="t"/>
          <a:lstStyle/>
          <a:p>
            <a:pPr indent="0" marL="0">
              <a:lnSpc>
                <a:spcPct val="100000"/>
              </a:lnSpc>
              <a:buNone/>
            </a:pPr>
            <a:r>
              <a:rPr lang="en-US" sz="1050" b="1" dirty="0">
                <a:solidFill>
                  <a:srgbClr val="6C4FA1"/>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44" name="Text 41"/>
          <p:cNvSpPr/>
          <p:nvPr/>
        </p:nvSpPr>
        <p:spPr>
          <a:xfrm>
            <a:off x="9239783" y="3392424"/>
            <a:ext cx="2256968" cy="640080"/>
          </a:xfrm>
          <a:prstGeom prst="rect">
            <a:avLst/>
          </a:prstGeom>
          <a:noFill/>
          <a:ln/>
        </p:spPr>
        <p:txBody>
          <a:bodyPr wrap="square" rtlCol="0" anchor="t"/>
          <a:lstStyle/>
          <a:p>
            <a:pPr indent="0" marL="0">
              <a:lnSpc>
                <a:spcPct val="100000"/>
              </a:lnSpc>
              <a:buNone/>
            </a:pPr>
            <a:r>
              <a:rPr lang="en-US" sz="1050" b="1" dirty="0">
                <a:solidFill>
                  <a:srgbClr val="6C4FA1"/>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M5 storyboard + scenes (py + png)</a:t>
            </a:r>
            <a:endParaRPr lang="en-US" sz="1050" dirty="0"/>
          </a:p>
        </p:txBody>
      </p:sp>
      <p:sp>
        <p:nvSpPr>
          <p:cNvPr id="45" name="Text 42"/>
          <p:cNvSpPr/>
          <p:nvPr/>
        </p:nvSpPr>
        <p:spPr>
          <a:xfrm>
            <a:off x="9239783" y="3813048"/>
            <a:ext cx="2256968" cy="640080"/>
          </a:xfrm>
          <a:prstGeom prst="rect">
            <a:avLst/>
          </a:prstGeom>
          <a:noFill/>
          <a:ln/>
        </p:spPr>
        <p:txBody>
          <a:bodyPr wrap="square" rtlCol="0" anchor="t"/>
          <a:lstStyle/>
          <a:p>
            <a:pPr indent="0" marL="0">
              <a:lnSpc>
                <a:spcPct val="100000"/>
              </a:lnSpc>
              <a:buNone/>
            </a:pPr>
            <a:r>
              <a:rPr lang="en-US" sz="1050" b="1" dirty="0">
                <a:solidFill>
                  <a:srgbClr val="6C4FA1"/>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qa_bank.md (committee questions)</a:t>
            </a:r>
            <a:endParaRPr lang="en-US" sz="1050" dirty="0"/>
          </a:p>
        </p:txBody>
      </p:sp>
      <p:sp>
        <p:nvSpPr>
          <p:cNvPr id="46" name="Text 43"/>
          <p:cNvSpPr/>
          <p:nvPr/>
        </p:nvSpPr>
        <p:spPr>
          <a:xfrm>
            <a:off x="9239783" y="4233672"/>
            <a:ext cx="2256968" cy="640080"/>
          </a:xfrm>
          <a:prstGeom prst="rect">
            <a:avLst/>
          </a:prstGeom>
          <a:noFill/>
          <a:ln/>
        </p:spPr>
        <p:txBody>
          <a:bodyPr wrap="square" rtlCol="0" anchor="t"/>
          <a:lstStyle/>
          <a:p>
            <a:pPr indent="0" marL="0">
              <a:lnSpc>
                <a:spcPct val="100000"/>
              </a:lnSpc>
              <a:buNone/>
            </a:pPr>
            <a:r>
              <a:rPr lang="en-US" sz="1050" b="1" dirty="0">
                <a:solidFill>
                  <a:srgbClr val="6C4FA1"/>
                </a:solidFill>
                <a:latin typeface="Arial" pitchFamily="34" charset="0"/>
                <a:ea typeface="Arial" pitchFamily="34" charset="-122"/>
                <a:cs typeface="Arial" pitchFamily="34" charset="-120"/>
              </a:rPr>
              <a:t>•  </a:t>
            </a:r>
            <a:pPr indent="0" marL="0">
              <a:lnSpc>
                <a:spcPct val="100000"/>
              </a:lnSpc>
              <a:buNone/>
            </a:pPr>
            <a:r>
              <a:rPr lang="en-US" sz="1050" dirty="0">
                <a:solidFill>
                  <a:srgbClr val="343A4E"/>
                </a:solidFill>
                <a:latin typeface="Arial" pitchFamily="34" charset="0"/>
                <a:ea typeface="Arial" pitchFamily="34" charset="-122"/>
                <a:cs typeface="Arial" pitchFamily="34" charset="-120"/>
              </a:rPr>
              <a:t>Recording-consent form (PDF)</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algn="l" indent="0" marL="0">
              <a:buNone/>
            </a:pPr>
            <a:r>
              <a:rPr lang="en-US" sz="15000" b="1" dirty="0">
                <a:solidFill>
                  <a:srgbClr val="27345F"/>
                </a:solidFill>
                <a:latin typeface="Arial" pitchFamily="34" charset="0"/>
                <a:ea typeface="Arial" pitchFamily="34" charset="-122"/>
                <a:cs typeface="Arial" pitchFamily="34" charset="-120"/>
              </a:rPr>
              <a:t>07</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indent="0" marL="0">
              <a:buNone/>
            </a:pPr>
            <a:r>
              <a:rPr lang="en-US" sz="1400" b="1" spc="300" kern="0" dirty="0">
                <a:solidFill>
                  <a:srgbClr val="00A79D"/>
                </a:solidFill>
                <a:latin typeface="Arial" pitchFamily="34" charset="0"/>
                <a:ea typeface="Arial" pitchFamily="34" charset="-122"/>
                <a:cs typeface="Arial" pitchFamily="34" charset="-120"/>
              </a:rPr>
              <a:t>CAPSTONE &amp; CLOSE</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indent="0" marL="0">
              <a:buNone/>
            </a:pPr>
            <a:r>
              <a:rPr lang="en-US" sz="3400" b="1" dirty="0">
                <a:solidFill>
                  <a:srgbClr val="FFFFFF"/>
                </a:solidFill>
                <a:latin typeface="Arial" pitchFamily="34" charset="0"/>
                <a:ea typeface="Arial" pitchFamily="34" charset="-122"/>
                <a:cs typeface="Arial" pitchFamily="34" charset="-120"/>
              </a:rPr>
              <a:t>Capstone, Assessment &amp; Delivery</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indent="0" marL="0">
              <a:buNone/>
            </a:pPr>
            <a:r>
              <a:rPr lang="en-US" sz="1800" dirty="0">
                <a:solidFill>
                  <a:srgbClr val="C9D3EA"/>
                </a:solidFill>
                <a:latin typeface="Arial" pitchFamily="34" charset="0"/>
                <a:ea typeface="Arial" pitchFamily="34" charset="-122"/>
                <a:cs typeface="Arial" pitchFamily="34" charset="-120"/>
              </a:rPr>
              <a:t>المشروع الختامي والتقييم</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indent="0" marL="0">
              <a:buNone/>
            </a:pPr>
            <a:r>
              <a:rPr lang="en-US" sz="1250" dirty="0">
                <a:solidFill>
                  <a:srgbClr val="AEB8D0"/>
                </a:solidFill>
                <a:latin typeface="Arial" pitchFamily="34" charset="0"/>
                <a:ea typeface="Arial" pitchFamily="34" charset="-122"/>
                <a:cs typeface="Arial" pitchFamily="34" charset="-120"/>
              </a:rPr>
              <a:t>Integrate the dashboard and story, then deliver the seven-minute Tayseer briefing to a simulated Steering Committee.</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CAPSTONE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Integrate the dashboard and the executive story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139</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By the end of Day 3 each participant owns a decision-ready executive dashboard and a seven-minute data story recommending where the Tayseer program should invest its next SAR 40 million.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Analysis is done: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The Tayseer work is complete across five modules — only the communication is assembled and graded here.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One artefact: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Integrate the Module 4 dashboard with the Module 5 storyboard into a single decision-ready package.</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The ask: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Recommend where to direct the next SAR 40 million to lift the lagging regions to 65% adoption by December.</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Rehearse it: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Assemble, rehearse the 7-minute briefing, and run a peer-critique round before the live session.</a:t>
            </a:r>
            <a:endParaRPr lang="en-US" sz="12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CAPSTONE DELIVERABLES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What each participant submits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140</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Decision-ready dashboard</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An interactive Tayseer dashboard with KPI headline, trend, and regional breakdown, ready for executive use.</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Rehearsed 7-minute presentation</a:t>
            </a:r>
            <a:endParaRPr lang="en-US" sz="1300" dirty="0"/>
          </a:p>
        </p:txBody>
      </p:sp>
      <p:sp>
        <p:nvSpPr>
          <p:cNvPr id="21" name="Text 18"/>
          <p:cNvSpPr/>
          <p:nvPr/>
        </p:nvSpPr>
        <p:spPr>
          <a:xfrm>
            <a:off x="6415888" y="2816352"/>
            <a:ext cx="5044288" cy="1005840"/>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An executive briefing delivered to a simulated Steering Committee within the seven-minute slot.</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Storyboarded narrative</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A seven-slide arc built on one Big Idea, wrapping the dashboard findings into a story.</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Capstone submission</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Dashboard files and slide deck collected at end of Day 3 Hour 4 for live rubric scoring in Hour 5.</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THE EXECUTIVE ARC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Seven scenes, one Big Idea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141</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The spoken briefing is layered on the seven-slide arc — say the ask twice, once at the top and once at the close.</a:t>
            </a:r>
            <a:endParaRPr lang="en-US" sz="1250" dirty="0"/>
          </a:p>
        </p:txBody>
      </p:sp>
      <p:sp>
        <p:nvSpPr>
          <p:cNvPr id="15" name="Shape 12"/>
          <p:cNvSpPr/>
          <p:nvPr/>
        </p:nvSpPr>
        <p:spPr>
          <a:xfrm>
            <a:off x="548640" y="2542032"/>
            <a:ext cx="11094415" cy="389273"/>
          </a:xfrm>
          <a:prstGeom prst="roundRect">
            <a:avLst>
              <a:gd name="adj" fmla="val 16443"/>
            </a:avLst>
          </a:prstGeom>
          <a:solidFill>
            <a:srgbClr val="EAF0FA"/>
          </a:solidFill>
          <a:ln w="15240">
            <a:solidFill>
              <a:srgbClr val="2E5AAC"/>
            </a:solidFill>
            <a:prstDash val="solid"/>
          </a:ln>
        </p:spPr>
      </p:sp>
      <p:sp>
        <p:nvSpPr>
          <p:cNvPr id="16" name="Shape 13"/>
          <p:cNvSpPr/>
          <p:nvPr/>
        </p:nvSpPr>
        <p:spPr>
          <a:xfrm>
            <a:off x="694944" y="2553789"/>
            <a:ext cx="365760" cy="365760"/>
          </a:xfrm>
          <a:prstGeom prst="ellipse">
            <a:avLst/>
          </a:prstGeom>
          <a:solidFill>
            <a:srgbClr val="2E5AAC"/>
          </a:solidFill>
          <a:ln/>
        </p:spPr>
      </p:sp>
      <p:sp>
        <p:nvSpPr>
          <p:cNvPr id="17" name="Text 14"/>
          <p:cNvSpPr/>
          <p:nvPr/>
        </p:nvSpPr>
        <p:spPr>
          <a:xfrm>
            <a:off x="694944" y="2553789"/>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BLUF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Open with the recommendation and the ask in the first thirty seconds.</a:t>
            </a:r>
            <a:endParaRPr lang="en-US" sz="1300" dirty="0"/>
          </a:p>
        </p:txBody>
      </p:sp>
      <p:sp>
        <p:nvSpPr>
          <p:cNvPr id="19" name="Shape 16"/>
          <p:cNvSpPr/>
          <p:nvPr/>
        </p:nvSpPr>
        <p:spPr>
          <a:xfrm>
            <a:off x="548640" y="3059321"/>
            <a:ext cx="11094415" cy="389273"/>
          </a:xfrm>
          <a:prstGeom prst="roundRect">
            <a:avLst>
              <a:gd name="adj" fmla="val 16443"/>
            </a:avLst>
          </a:prstGeom>
          <a:solidFill>
            <a:srgbClr val="E6F5F4"/>
          </a:solidFill>
          <a:ln w="15240">
            <a:solidFill>
              <a:srgbClr val="00A79D"/>
            </a:solidFill>
            <a:prstDash val="solid"/>
          </a:ln>
        </p:spPr>
      </p:sp>
      <p:sp>
        <p:nvSpPr>
          <p:cNvPr id="20" name="Shape 17"/>
          <p:cNvSpPr/>
          <p:nvPr/>
        </p:nvSpPr>
        <p:spPr>
          <a:xfrm>
            <a:off x="694944" y="3071078"/>
            <a:ext cx="365760" cy="365760"/>
          </a:xfrm>
          <a:prstGeom prst="ellipse">
            <a:avLst/>
          </a:prstGeom>
          <a:solidFill>
            <a:srgbClr val="00A79D"/>
          </a:solidFill>
          <a:ln/>
        </p:spPr>
      </p:sp>
      <p:sp>
        <p:nvSpPr>
          <p:cNvPr id="21" name="Text 18"/>
          <p:cNvSpPr/>
          <p:nvPr/>
        </p:nvSpPr>
        <p:spPr>
          <a:xfrm>
            <a:off x="694944" y="3071078"/>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059321"/>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Situation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Set the frame: where Tayseer stands on digital adoption today.</a:t>
            </a:r>
            <a:endParaRPr lang="en-US" sz="1300" dirty="0"/>
          </a:p>
        </p:txBody>
      </p:sp>
      <p:sp>
        <p:nvSpPr>
          <p:cNvPr id="23" name="Shape 20"/>
          <p:cNvSpPr/>
          <p:nvPr/>
        </p:nvSpPr>
        <p:spPr>
          <a:xfrm>
            <a:off x="548640" y="3576610"/>
            <a:ext cx="11094415" cy="389273"/>
          </a:xfrm>
          <a:prstGeom prst="roundRect">
            <a:avLst>
              <a:gd name="adj" fmla="val 16443"/>
            </a:avLst>
          </a:prstGeom>
          <a:solidFill>
            <a:srgbClr val="FCF0E6"/>
          </a:solidFill>
          <a:ln w="15240">
            <a:solidFill>
              <a:srgbClr val="E8833A"/>
            </a:solidFill>
            <a:prstDash val="solid"/>
          </a:ln>
        </p:spPr>
      </p:sp>
      <p:sp>
        <p:nvSpPr>
          <p:cNvPr id="24" name="Shape 21"/>
          <p:cNvSpPr/>
          <p:nvPr/>
        </p:nvSpPr>
        <p:spPr>
          <a:xfrm>
            <a:off x="694944" y="3588367"/>
            <a:ext cx="365760" cy="365760"/>
          </a:xfrm>
          <a:prstGeom prst="ellipse">
            <a:avLst/>
          </a:prstGeom>
          <a:solidFill>
            <a:srgbClr val="E8833A"/>
          </a:solidFill>
          <a:ln/>
        </p:spPr>
      </p:sp>
      <p:sp>
        <p:nvSpPr>
          <p:cNvPr id="25" name="Text 22"/>
          <p:cNvSpPr/>
          <p:nvPr/>
        </p:nvSpPr>
        <p:spPr>
          <a:xfrm>
            <a:off x="694944" y="3588367"/>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576610"/>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Complication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Name the problem: three regions lag and threaten the December target.</a:t>
            </a:r>
            <a:endParaRPr lang="en-US" sz="1300" dirty="0"/>
          </a:p>
        </p:txBody>
      </p:sp>
      <p:sp>
        <p:nvSpPr>
          <p:cNvPr id="27" name="Shape 24"/>
          <p:cNvSpPr/>
          <p:nvPr/>
        </p:nvSpPr>
        <p:spPr>
          <a:xfrm>
            <a:off x="548640" y="4093899"/>
            <a:ext cx="11094415" cy="389273"/>
          </a:xfrm>
          <a:prstGeom prst="roundRect">
            <a:avLst>
              <a:gd name="adj" fmla="val 16443"/>
            </a:avLst>
          </a:prstGeom>
          <a:solidFill>
            <a:srgbClr val="EFEBF6"/>
          </a:solidFill>
          <a:ln w="15240">
            <a:solidFill>
              <a:srgbClr val="6C4FA1"/>
            </a:solidFill>
            <a:prstDash val="solid"/>
          </a:ln>
        </p:spPr>
      </p:sp>
      <p:sp>
        <p:nvSpPr>
          <p:cNvPr id="28" name="Shape 25"/>
          <p:cNvSpPr/>
          <p:nvPr/>
        </p:nvSpPr>
        <p:spPr>
          <a:xfrm>
            <a:off x="694944" y="4105656"/>
            <a:ext cx="365760" cy="365760"/>
          </a:xfrm>
          <a:prstGeom prst="ellipse">
            <a:avLst/>
          </a:prstGeom>
          <a:solidFill>
            <a:srgbClr val="6C4FA1"/>
          </a:solidFill>
          <a:ln/>
        </p:spPr>
      </p:sp>
      <p:sp>
        <p:nvSpPr>
          <p:cNvPr id="29" name="Text 26"/>
          <p:cNvSpPr/>
          <p:nvPr/>
        </p:nvSpPr>
        <p:spPr>
          <a:xfrm>
            <a:off x="694944" y="4105656"/>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093899"/>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Evidence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One chart, one message — the annotated laggard carries the argument.</a:t>
            </a:r>
            <a:endParaRPr lang="en-US" sz="1300" dirty="0"/>
          </a:p>
        </p:txBody>
      </p:sp>
      <p:sp>
        <p:nvSpPr>
          <p:cNvPr id="31" name="Shape 28"/>
          <p:cNvSpPr/>
          <p:nvPr/>
        </p:nvSpPr>
        <p:spPr>
          <a:xfrm>
            <a:off x="548640" y="4611189"/>
            <a:ext cx="11094415" cy="389273"/>
          </a:xfrm>
          <a:prstGeom prst="roundRect">
            <a:avLst>
              <a:gd name="adj" fmla="val 16443"/>
            </a:avLst>
          </a:prstGeom>
          <a:solidFill>
            <a:srgbClr val="E9F5EC"/>
          </a:solidFill>
          <a:ln w="15240">
            <a:solidFill>
              <a:srgbClr val="3FAE5A"/>
            </a:solidFill>
            <a:prstDash val="solid"/>
          </a:ln>
        </p:spPr>
      </p:sp>
      <p:sp>
        <p:nvSpPr>
          <p:cNvPr id="32" name="Shape 29"/>
          <p:cNvSpPr/>
          <p:nvPr/>
        </p:nvSpPr>
        <p:spPr>
          <a:xfrm>
            <a:off x="694944" y="4622945"/>
            <a:ext cx="365760" cy="365760"/>
          </a:xfrm>
          <a:prstGeom prst="ellipse">
            <a:avLst/>
          </a:prstGeom>
          <a:solidFill>
            <a:srgbClr val="3FAE5A"/>
          </a:solidFill>
          <a:ln/>
        </p:spPr>
      </p:sp>
      <p:sp>
        <p:nvSpPr>
          <p:cNvPr id="33" name="Text 30"/>
          <p:cNvSpPr/>
          <p:nvPr/>
        </p:nvSpPr>
        <p:spPr>
          <a:xfrm>
            <a:off x="694944" y="4622945"/>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611189"/>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Options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Compare the three uses of the SAR 40 million on gap-close per riyal.</a:t>
            </a:r>
            <a:endParaRPr lang="en-US" sz="1300" dirty="0"/>
          </a:p>
        </p:txBody>
      </p:sp>
      <p:sp>
        <p:nvSpPr>
          <p:cNvPr id="35" name="Shape 32"/>
          <p:cNvSpPr/>
          <p:nvPr/>
        </p:nvSpPr>
        <p:spPr>
          <a:xfrm>
            <a:off x="548640" y="5128478"/>
            <a:ext cx="11094415" cy="389273"/>
          </a:xfrm>
          <a:prstGeom prst="roundRect">
            <a:avLst>
              <a:gd name="adj" fmla="val 16443"/>
            </a:avLst>
          </a:prstGeom>
          <a:solidFill>
            <a:srgbClr val="E7F5FC"/>
          </a:solidFill>
          <a:ln w="15240">
            <a:solidFill>
              <a:srgbClr val="29ABE2"/>
            </a:solidFill>
            <a:prstDash val="solid"/>
          </a:ln>
        </p:spPr>
      </p:sp>
      <p:sp>
        <p:nvSpPr>
          <p:cNvPr id="36" name="Shape 33"/>
          <p:cNvSpPr/>
          <p:nvPr/>
        </p:nvSpPr>
        <p:spPr>
          <a:xfrm>
            <a:off x="694944" y="5140234"/>
            <a:ext cx="365760" cy="365760"/>
          </a:xfrm>
          <a:prstGeom prst="ellipse">
            <a:avLst/>
          </a:prstGeom>
          <a:solidFill>
            <a:srgbClr val="29ABE2"/>
          </a:solidFill>
          <a:ln/>
        </p:spPr>
      </p:sp>
      <p:sp>
        <p:nvSpPr>
          <p:cNvPr id="37" name="Text 34"/>
          <p:cNvSpPr/>
          <p:nvPr/>
        </p:nvSpPr>
        <p:spPr>
          <a:xfrm>
            <a:off x="694944" y="5140234"/>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128478"/>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Recommendation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The choice: direct the spend to the three lagging regions.</a:t>
            </a:r>
            <a:endParaRPr lang="en-US" sz="1300" dirty="0"/>
          </a:p>
        </p:txBody>
      </p:sp>
      <p:sp>
        <p:nvSpPr>
          <p:cNvPr id="39" name="Shape 36"/>
          <p:cNvSpPr/>
          <p:nvPr/>
        </p:nvSpPr>
        <p:spPr>
          <a:xfrm>
            <a:off x="548640" y="5645767"/>
            <a:ext cx="11094415" cy="389273"/>
          </a:xfrm>
          <a:prstGeom prst="roundRect">
            <a:avLst>
              <a:gd name="adj" fmla="val 16443"/>
            </a:avLst>
          </a:prstGeom>
          <a:solidFill>
            <a:srgbClr val="FBECEC"/>
          </a:solidFill>
          <a:ln w="15240">
            <a:solidFill>
              <a:srgbClr val="D9534F"/>
            </a:solidFill>
            <a:prstDash val="solid"/>
          </a:ln>
        </p:spPr>
      </p:sp>
      <p:sp>
        <p:nvSpPr>
          <p:cNvPr id="40" name="Shape 37"/>
          <p:cNvSpPr/>
          <p:nvPr/>
        </p:nvSpPr>
        <p:spPr>
          <a:xfrm>
            <a:off x="694944" y="5657523"/>
            <a:ext cx="365760" cy="365760"/>
          </a:xfrm>
          <a:prstGeom prst="ellipse">
            <a:avLst/>
          </a:prstGeom>
          <a:solidFill>
            <a:srgbClr val="D9534F"/>
          </a:solidFill>
          <a:ln/>
        </p:spPr>
      </p:sp>
      <p:sp>
        <p:nvSpPr>
          <p:cNvPr id="41" name="Text 38"/>
          <p:cNvSpPr/>
          <p:nvPr/>
        </p:nvSpPr>
        <p:spPr>
          <a:xfrm>
            <a:off x="694944" y="5657523"/>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2" name="Text 39"/>
          <p:cNvSpPr/>
          <p:nvPr/>
        </p:nvSpPr>
        <p:spPr>
          <a:xfrm>
            <a:off x="1188720" y="5645767"/>
            <a:ext cx="10271455" cy="389273"/>
          </a:xfrm>
          <a:prstGeom prst="rect">
            <a:avLst/>
          </a:prstGeom>
          <a:noFill/>
          <a:ln/>
        </p:spPr>
        <p:txBody>
          <a:bodyPr wrap="square" rtlCol="0" anchor="ctr"/>
          <a:lstStyle/>
          <a:p>
            <a:pPr indent="0" marL="0">
              <a:lnSpc>
                <a:spcPct val="100000"/>
              </a:lnSpc>
              <a:buNone/>
            </a:pPr>
            <a:r>
              <a:rPr lang="en-US" sz="1300" b="1" dirty="0">
                <a:solidFill>
                  <a:srgbClr val="1D2A5C"/>
                </a:solidFill>
                <a:latin typeface="Arial" pitchFamily="34" charset="0"/>
                <a:ea typeface="Arial" pitchFamily="34" charset="-122"/>
                <a:cs typeface="Arial" pitchFamily="34" charset="-120"/>
              </a:rPr>
              <a:t>Ask  </a:t>
            </a:r>
            <a:pPr indent="0" marL="0">
              <a:lnSpc>
                <a:spcPct val="100000"/>
              </a:lnSpc>
              <a:buNone/>
            </a:pPr>
            <a:r>
              <a:rPr lang="en-US" sz="1150" dirty="0">
                <a:solidFill>
                  <a:srgbClr val="343A4E"/>
                </a:solidFill>
                <a:latin typeface="Arial" pitchFamily="34" charset="0"/>
                <a:ea typeface="Arial" pitchFamily="34" charset="-122"/>
                <a:cs typeface="Arial" pitchFamily="34" charset="-120"/>
              </a:rPr>
              <a:t>Say the ask again — approve the reallocation, with a 90-day checkpoint.</a:t>
            </a:r>
            <a:endParaRPr lang="en-US" sz="13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ASSESSMENT PACKAGE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two graded artefacts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142</a:t>
            </a:r>
            <a:endParaRPr lang="en-US" sz="8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914400"/>
        </p:xfrm>
        <a:graphic>
          <a:graphicData uri="http://schemas.openxmlformats.org/drawingml/2006/table">
            <a:tbl>
              <a:tblPr/>
              <a:tblGrid>
                <a:gridCol w="3291840"/>
                <a:gridCol w="4572000"/>
                <a:gridCol w="32004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Graded artefact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What it assesses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When collected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Dashboard project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Interactive, self-service exploration of the Tayseer data (LO3)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End of Day 3, Hour 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75488">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Storytelling presentation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Narrative and persuasive executive delivery (LO4, LO6)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Live, Day 3 Hour 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bl>
          </a:graphicData>
        </a:graphic>
      </p:graphicFrame>
      <p:sp>
        <p:nvSpPr>
          <p:cNvPr id="15" name="Text 11"/>
          <p:cNvSpPr/>
          <p:nvPr/>
        </p:nvSpPr>
        <p:spPr>
          <a:xfrm>
            <a:off x="548640" y="3529584"/>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Collected at end of Hour 4 so the instructor can pre-load; rubric scoring happens live in Hour 5.</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PRESENTATION RUBRIC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Six criteria, scored each round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00" dirty="0">
                <a:solidFill>
                  <a:srgbClr val="343A4E"/>
                </a:solidFill>
                <a:latin typeface="Arial" pitchFamily="34" charset="0"/>
                <a:ea typeface="Arial" pitchFamily="34" charset="-122"/>
                <a:cs typeface="Arial" pitchFamily="34" charset="-120"/>
              </a:rPr>
              <a:t>Score delivery the same way each round so the delta is the learning signal — each criterion is scored 0–5.</a:t>
            </a:r>
            <a:endParaRPr lang="en-US" sz="12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914400"/>
        </p:xfrm>
        <a:graphic>
          <a:graphicData uri="http://schemas.openxmlformats.org/drawingml/2006/table">
            <a:tbl>
              <a:tblPr/>
              <a:tblGrid>
                <a:gridCol w="5577840"/>
                <a:gridCol w="2743200"/>
                <a:gridCol w="2743200"/>
              </a:tblGrid>
              <a:tr h="420624">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Criterion (0–5)</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Round 1</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Round 2</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Opening /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One message per slide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Chart delivery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Q&amp;A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Time discipline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Presence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r>
              <a:tr h="438912">
                <a:tc>
                  <a:txBody>
                    <a:bodyPr/>
                    <a:lstStyle/>
                    <a:p>
                      <a:pPr algn="l" indent="0" marL="0">
                        <a:buNone/>
                      </a:pPr>
                      <a:r>
                        <a:rPr lang="en-US" sz="1050" b="1" dirty="0">
                          <a:solidFill>
                            <a:srgbClr val="1D2A5C"/>
                          </a:solidFill>
                          <a:latin typeface="Arial" pitchFamily="34" charset="0"/>
                          <a:ea typeface="Arial" pitchFamily="34" charset="-122"/>
                          <a:cs typeface="Arial" pitchFamily="34" charset="-120"/>
                        </a:rPr>
                        <a:t>Total (%)</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43A4E"/>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6126480"/>
            <a:ext cx="11094415" cy="365760"/>
          </a:xfrm>
          <a:prstGeom prst="rect">
            <a:avLst/>
          </a:prstGeom>
          <a:noFill/>
          <a:ln/>
        </p:spPr>
        <p:txBody>
          <a:bodyPr wrap="square" rtlCol="0" anchor="t"/>
          <a:lstStyle/>
          <a:p>
            <a:pPr indent="0" marL="0">
              <a:buNone/>
            </a:pPr>
            <a:r>
              <a:rPr lang="en-US" sz="1050" i="1" dirty="0">
                <a:solidFill>
                  <a:srgbClr val="6B7280"/>
                </a:solidFill>
                <a:latin typeface="Arial" pitchFamily="34" charset="0"/>
                <a:ea typeface="Arial" pitchFamily="34" charset="-122"/>
                <a:cs typeface="Arial" pitchFamily="34" charset="-120"/>
              </a:rPr>
              <a:t>The delta is the grade — here +37 points, driven mostly by leading with the ask (2 → 5).</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COURSE BENCHMARKS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Targets across the whole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144</a:t>
            </a:r>
            <a:endParaRPr lang="en-US" sz="800" dirty="0"/>
          </a:p>
        </p:txBody>
      </p:sp>
      <p:sp>
        <p:nvSpPr>
          <p:cNvPr id="14" name="Shape 11"/>
          <p:cNvSpPr/>
          <p:nvPr/>
        </p:nvSpPr>
        <p:spPr>
          <a:xfrm>
            <a:off x="548640" y="2295144"/>
            <a:ext cx="1999427" cy="2286000"/>
          </a:xfrm>
          <a:prstGeom prst="roundRect">
            <a:avLst>
              <a:gd name="adj" fmla="val 4573"/>
            </a:avLst>
          </a:prstGeom>
          <a:solidFill>
            <a:srgbClr val="EAF0FA"/>
          </a:solidFill>
          <a:ln w="15240">
            <a:solidFill>
              <a:srgbClr val="2E5AAC"/>
            </a:solidFill>
            <a:prstDash val="solid"/>
          </a:ln>
        </p:spPr>
      </p:sp>
      <p:sp>
        <p:nvSpPr>
          <p:cNvPr id="15" name="Text 12"/>
          <p:cNvSpPr/>
          <p:nvPr/>
        </p:nvSpPr>
        <p:spPr>
          <a:xfrm>
            <a:off x="640080" y="2569464"/>
            <a:ext cx="1816547" cy="914400"/>
          </a:xfrm>
          <a:prstGeom prst="rect">
            <a:avLst/>
          </a:prstGeom>
          <a:noFill/>
          <a:ln/>
        </p:spPr>
        <p:txBody>
          <a:bodyPr wrap="square" rtlCol="0" anchor="ctr"/>
          <a:lstStyle/>
          <a:p>
            <a:pPr algn="ctr" indent="0" marL="0">
              <a:buNone/>
            </a:pPr>
            <a:r>
              <a:rPr lang="en-US" sz="4400" b="1" dirty="0">
                <a:solidFill>
                  <a:srgbClr val="2E5AAC"/>
                </a:solidFill>
                <a:latin typeface="Arial" pitchFamily="34" charset="0"/>
                <a:ea typeface="Arial" pitchFamily="34" charset="-122"/>
                <a:cs typeface="Arial" pitchFamily="34" charset="-120"/>
              </a:rPr>
              <a:t>&lt; 5 s</a:t>
            </a:r>
            <a:endParaRPr lang="en-US" sz="4400" dirty="0"/>
          </a:p>
        </p:txBody>
      </p:sp>
      <p:sp>
        <p:nvSpPr>
          <p:cNvPr id="16" name="Text 13"/>
          <p:cNvSpPr/>
          <p:nvPr/>
        </p:nvSpPr>
        <p:spPr>
          <a:xfrm>
            <a:off x="658368" y="3502152"/>
            <a:ext cx="1779971"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Rank laggard regions</a:t>
            </a:r>
            <a:endParaRPr lang="en-US" sz="1250" dirty="0"/>
          </a:p>
        </p:txBody>
      </p:sp>
      <p:sp>
        <p:nvSpPr>
          <p:cNvPr id="17" name="Text 14"/>
          <p:cNvSpPr/>
          <p:nvPr/>
        </p:nvSpPr>
        <p:spPr>
          <a:xfrm>
            <a:off x="676656" y="3867912"/>
            <a:ext cx="1743395"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Peer stopwatch test on the sorted-bar view (M1).</a:t>
            </a:r>
            <a:endParaRPr lang="en-US" sz="1000" dirty="0"/>
          </a:p>
        </p:txBody>
      </p:sp>
      <p:sp>
        <p:nvSpPr>
          <p:cNvPr id="18" name="Shape 15"/>
          <p:cNvSpPr/>
          <p:nvPr/>
        </p:nvSpPr>
        <p:spPr>
          <a:xfrm>
            <a:off x="2822387" y="2295144"/>
            <a:ext cx="1999427" cy="2286000"/>
          </a:xfrm>
          <a:prstGeom prst="roundRect">
            <a:avLst>
              <a:gd name="adj" fmla="val 4573"/>
            </a:avLst>
          </a:prstGeom>
          <a:solidFill>
            <a:srgbClr val="E6F5F4"/>
          </a:solidFill>
          <a:ln w="15240">
            <a:solidFill>
              <a:srgbClr val="00A79D"/>
            </a:solidFill>
            <a:prstDash val="solid"/>
          </a:ln>
        </p:spPr>
      </p:sp>
      <p:sp>
        <p:nvSpPr>
          <p:cNvPr id="19" name="Text 16"/>
          <p:cNvSpPr/>
          <p:nvPr/>
        </p:nvSpPr>
        <p:spPr>
          <a:xfrm>
            <a:off x="2913827" y="2569464"/>
            <a:ext cx="1816547" cy="914400"/>
          </a:xfrm>
          <a:prstGeom prst="rect">
            <a:avLst/>
          </a:prstGeom>
          <a:noFill/>
          <a:ln/>
        </p:spPr>
        <p:txBody>
          <a:bodyPr wrap="square" rtlCol="0" anchor="ctr"/>
          <a:lstStyle/>
          <a:p>
            <a:pPr algn="ctr" indent="0" marL="0">
              <a:buNone/>
            </a:pPr>
            <a:r>
              <a:rPr lang="en-US" sz="4400" b="1" dirty="0">
                <a:solidFill>
                  <a:srgbClr val="00A79D"/>
                </a:solidFill>
                <a:latin typeface="Arial" pitchFamily="34" charset="0"/>
                <a:ea typeface="Arial" pitchFamily="34" charset="-122"/>
                <a:cs typeface="Arial" pitchFamily="34" charset="-120"/>
              </a:rPr>
              <a:t>1.0</a:t>
            </a:r>
            <a:endParaRPr lang="en-US" sz="4400" dirty="0"/>
          </a:p>
        </p:txBody>
      </p:sp>
      <p:sp>
        <p:nvSpPr>
          <p:cNvPr id="20" name="Text 17"/>
          <p:cNvSpPr/>
          <p:nvPr/>
        </p:nvSpPr>
        <p:spPr>
          <a:xfrm>
            <a:off x="2932115" y="3502152"/>
            <a:ext cx="1779971"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Lie factor</a:t>
            </a:r>
            <a:endParaRPr lang="en-US" sz="1250" dirty="0"/>
          </a:p>
        </p:txBody>
      </p:sp>
      <p:sp>
        <p:nvSpPr>
          <p:cNvPr id="21" name="Text 18"/>
          <p:cNvSpPr/>
          <p:nvPr/>
        </p:nvSpPr>
        <p:spPr>
          <a:xfrm>
            <a:off x="2950403" y="3867912"/>
            <a:ext cx="1743395"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Visual effect equals data effect — no distortion (M1).</a:t>
            </a:r>
            <a:endParaRPr lang="en-US" sz="1000" dirty="0"/>
          </a:p>
        </p:txBody>
      </p:sp>
      <p:sp>
        <p:nvSpPr>
          <p:cNvPr id="22" name="Shape 19"/>
          <p:cNvSpPr/>
          <p:nvPr/>
        </p:nvSpPr>
        <p:spPr>
          <a:xfrm>
            <a:off x="5096134" y="2295144"/>
            <a:ext cx="1999427" cy="2286000"/>
          </a:xfrm>
          <a:prstGeom prst="roundRect">
            <a:avLst>
              <a:gd name="adj" fmla="val 4573"/>
            </a:avLst>
          </a:prstGeom>
          <a:solidFill>
            <a:srgbClr val="FCF0E6"/>
          </a:solidFill>
          <a:ln w="15240">
            <a:solidFill>
              <a:srgbClr val="E8833A"/>
            </a:solidFill>
            <a:prstDash val="solid"/>
          </a:ln>
        </p:spPr>
      </p:sp>
      <p:sp>
        <p:nvSpPr>
          <p:cNvPr id="23" name="Text 20"/>
          <p:cNvSpPr/>
          <p:nvPr/>
        </p:nvSpPr>
        <p:spPr>
          <a:xfrm>
            <a:off x="5187574" y="2569464"/>
            <a:ext cx="1816547" cy="914400"/>
          </a:xfrm>
          <a:prstGeom prst="rect">
            <a:avLst/>
          </a:prstGeom>
          <a:noFill/>
          <a:ln/>
        </p:spPr>
        <p:txBody>
          <a:bodyPr wrap="square" rtlCol="0" anchor="ctr"/>
          <a:lstStyle/>
          <a:p>
            <a:pPr algn="ctr" indent="0" marL="0">
              <a:buNone/>
            </a:pPr>
            <a:r>
              <a:rPr lang="en-US" sz="4400" b="1" dirty="0">
                <a:solidFill>
                  <a:srgbClr val="E8833A"/>
                </a:solidFill>
                <a:latin typeface="Arial" pitchFamily="34" charset="0"/>
                <a:ea typeface="Arial" pitchFamily="34" charset="-122"/>
                <a:cs typeface="Arial" pitchFamily="34" charset="-120"/>
              </a:rPr>
              <a:t>0</a:t>
            </a:r>
            <a:endParaRPr lang="en-US" sz="4400" dirty="0"/>
          </a:p>
        </p:txBody>
      </p:sp>
      <p:sp>
        <p:nvSpPr>
          <p:cNvPr id="24" name="Text 21"/>
          <p:cNvSpPr/>
          <p:nvPr/>
        </p:nvSpPr>
        <p:spPr>
          <a:xfrm>
            <a:off x="5205862" y="3502152"/>
            <a:ext cx="1779971"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Wasted channels</a:t>
            </a:r>
            <a:endParaRPr lang="en-US" sz="1250" dirty="0"/>
          </a:p>
        </p:txBody>
      </p:sp>
      <p:sp>
        <p:nvSpPr>
          <p:cNvPr id="25" name="Text 22"/>
          <p:cNvSpPr/>
          <p:nvPr/>
        </p:nvSpPr>
        <p:spPr>
          <a:xfrm>
            <a:off x="5224150" y="3867912"/>
            <a:ext cx="1743395"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No pre-attentive channel spent on chrome (M1/M3).</a:t>
            </a:r>
            <a:endParaRPr lang="en-US" sz="1000" dirty="0"/>
          </a:p>
        </p:txBody>
      </p:sp>
      <p:sp>
        <p:nvSpPr>
          <p:cNvPr id="26" name="Shape 23"/>
          <p:cNvSpPr/>
          <p:nvPr/>
        </p:nvSpPr>
        <p:spPr>
          <a:xfrm>
            <a:off x="7369881" y="2295144"/>
            <a:ext cx="1999427" cy="2286000"/>
          </a:xfrm>
          <a:prstGeom prst="roundRect">
            <a:avLst>
              <a:gd name="adj" fmla="val 4573"/>
            </a:avLst>
          </a:prstGeom>
          <a:solidFill>
            <a:srgbClr val="EFEBF6"/>
          </a:solidFill>
          <a:ln w="15240">
            <a:solidFill>
              <a:srgbClr val="6C4FA1"/>
            </a:solidFill>
            <a:prstDash val="solid"/>
          </a:ln>
        </p:spPr>
      </p:sp>
      <p:sp>
        <p:nvSpPr>
          <p:cNvPr id="27" name="Text 24"/>
          <p:cNvSpPr/>
          <p:nvPr/>
        </p:nvSpPr>
        <p:spPr>
          <a:xfrm>
            <a:off x="7461321" y="2569464"/>
            <a:ext cx="1816547" cy="914400"/>
          </a:xfrm>
          <a:prstGeom prst="rect">
            <a:avLst/>
          </a:prstGeom>
          <a:noFill/>
          <a:ln/>
        </p:spPr>
        <p:txBody>
          <a:bodyPr wrap="square" rtlCol="0" anchor="ctr"/>
          <a:lstStyle/>
          <a:p>
            <a:pPr algn="ctr" indent="0" marL="0">
              <a:buNone/>
            </a:pPr>
            <a:r>
              <a:rPr lang="en-US" sz="4400" b="1" dirty="0">
                <a:solidFill>
                  <a:srgbClr val="6C4FA1"/>
                </a:solidFill>
                <a:latin typeface="Arial" pitchFamily="34" charset="0"/>
                <a:ea typeface="Arial" pitchFamily="34" charset="-122"/>
                <a:cs typeface="Arial" pitchFamily="34" charset="-120"/>
              </a:rPr>
              <a:t>≤ 7</a:t>
            </a:r>
            <a:endParaRPr lang="en-US" sz="4400" dirty="0"/>
          </a:p>
        </p:txBody>
      </p:sp>
      <p:sp>
        <p:nvSpPr>
          <p:cNvPr id="28" name="Text 25"/>
          <p:cNvSpPr/>
          <p:nvPr/>
        </p:nvSpPr>
        <p:spPr>
          <a:xfrm>
            <a:off x="7479609" y="3502152"/>
            <a:ext cx="1779971"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Slides in the arc</a:t>
            </a:r>
            <a:endParaRPr lang="en-US" sz="1250" dirty="0"/>
          </a:p>
        </p:txBody>
      </p:sp>
      <p:sp>
        <p:nvSpPr>
          <p:cNvPr id="29" name="Text 26"/>
          <p:cNvSpPr/>
          <p:nvPr/>
        </p:nvSpPr>
        <p:spPr>
          <a:xfrm>
            <a:off x="7497897" y="3867912"/>
            <a:ext cx="1743395"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One Big Idea told in a seven-scene narrative (M5).</a:t>
            </a:r>
            <a:endParaRPr lang="en-US" sz="1000" dirty="0"/>
          </a:p>
        </p:txBody>
      </p:sp>
      <p:sp>
        <p:nvSpPr>
          <p:cNvPr id="30" name="Shape 27"/>
          <p:cNvSpPr/>
          <p:nvPr/>
        </p:nvSpPr>
        <p:spPr>
          <a:xfrm>
            <a:off x="9643628" y="2295144"/>
            <a:ext cx="1999427" cy="2286000"/>
          </a:xfrm>
          <a:prstGeom prst="roundRect">
            <a:avLst>
              <a:gd name="adj" fmla="val 4573"/>
            </a:avLst>
          </a:prstGeom>
          <a:solidFill>
            <a:srgbClr val="E9F5EC"/>
          </a:solidFill>
          <a:ln w="15240">
            <a:solidFill>
              <a:srgbClr val="3FAE5A"/>
            </a:solidFill>
            <a:prstDash val="solid"/>
          </a:ln>
        </p:spPr>
      </p:sp>
      <p:sp>
        <p:nvSpPr>
          <p:cNvPr id="31" name="Text 28"/>
          <p:cNvSpPr/>
          <p:nvPr/>
        </p:nvSpPr>
        <p:spPr>
          <a:xfrm>
            <a:off x="9735068" y="2569464"/>
            <a:ext cx="1816547" cy="914400"/>
          </a:xfrm>
          <a:prstGeom prst="rect">
            <a:avLst/>
          </a:prstGeom>
          <a:noFill/>
          <a:ln/>
        </p:spPr>
        <p:txBody>
          <a:bodyPr wrap="square" rtlCol="0" anchor="ctr"/>
          <a:lstStyle/>
          <a:p>
            <a:pPr algn="ctr" indent="0" marL="0">
              <a:buNone/>
            </a:pPr>
            <a:r>
              <a:rPr lang="en-US" sz="4400" b="1" dirty="0">
                <a:solidFill>
                  <a:srgbClr val="3FAE5A"/>
                </a:solidFill>
                <a:latin typeface="Arial" pitchFamily="34" charset="0"/>
                <a:ea typeface="Arial" pitchFamily="34" charset="-122"/>
                <a:cs typeface="Arial" pitchFamily="34" charset="-120"/>
              </a:rPr>
              <a:t>0:30</a:t>
            </a:r>
            <a:endParaRPr lang="en-US" sz="4400" dirty="0"/>
          </a:p>
        </p:txBody>
      </p:sp>
      <p:sp>
        <p:nvSpPr>
          <p:cNvPr id="32" name="Text 29"/>
          <p:cNvSpPr/>
          <p:nvPr/>
        </p:nvSpPr>
        <p:spPr>
          <a:xfrm>
            <a:off x="9753356" y="3502152"/>
            <a:ext cx="1779971" cy="365760"/>
          </a:xfrm>
          <a:prstGeom prst="rect">
            <a:avLst/>
          </a:prstGeom>
          <a:noFill/>
          <a:ln/>
        </p:spPr>
        <p:txBody>
          <a:bodyPr wrap="square" rtlCol="0" anchor="t"/>
          <a:lstStyle/>
          <a:p>
            <a:pPr algn="ctr" indent="0" marL="0">
              <a:buNone/>
            </a:pPr>
            <a:r>
              <a:rPr lang="en-US" sz="1250" b="1" dirty="0">
                <a:solidFill>
                  <a:srgbClr val="1D2A5C"/>
                </a:solidFill>
                <a:latin typeface="Arial" pitchFamily="34" charset="0"/>
                <a:ea typeface="Arial" pitchFamily="34" charset="-122"/>
                <a:cs typeface="Arial" pitchFamily="34" charset="-120"/>
              </a:rPr>
              <a:t>Ask lands by</a:t>
            </a:r>
            <a:endParaRPr lang="en-US" sz="1250" dirty="0"/>
          </a:p>
        </p:txBody>
      </p:sp>
      <p:sp>
        <p:nvSpPr>
          <p:cNvPr id="33" name="Text 30"/>
          <p:cNvSpPr/>
          <p:nvPr/>
        </p:nvSpPr>
        <p:spPr>
          <a:xfrm>
            <a:off x="9771644" y="3867912"/>
            <a:ext cx="1743395" cy="640080"/>
          </a:xfrm>
          <a:prstGeom prst="rect">
            <a:avLst/>
          </a:prstGeom>
          <a:noFill/>
          <a:ln/>
        </p:spPr>
        <p:txBody>
          <a:bodyPr wrap="square" rtlCol="0" anchor="t"/>
          <a:lstStyle/>
          <a:p>
            <a:pPr algn="ctr" indent="0" marL="0">
              <a:lnSpc>
                <a:spcPct val="98000"/>
              </a:lnSpc>
              <a:buNone/>
            </a:pPr>
            <a:r>
              <a:rPr lang="en-US" sz="1000" dirty="0">
                <a:solidFill>
                  <a:srgbClr val="6B7280"/>
                </a:solidFill>
                <a:latin typeface="Arial" pitchFamily="34" charset="0"/>
                <a:ea typeface="Arial" pitchFamily="34" charset="-122"/>
                <a:cs typeface="Arial" pitchFamily="34" charset="-120"/>
              </a:rPr>
              <a:t>Recommendation stated in the first thirty seconds (M6).</a:t>
            </a:r>
            <a:endParaRPr lang="en-US" sz="1000" dirty="0"/>
          </a:p>
        </p:txBody>
      </p:sp>
      <p:sp>
        <p:nvSpPr>
          <p:cNvPr id="34" name="Text 31"/>
          <p:cNvSpPr/>
          <p:nvPr/>
        </p:nvSpPr>
        <p:spPr>
          <a:xfrm>
            <a:off x="548640" y="4709160"/>
            <a:ext cx="11094415" cy="365760"/>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Each benchmark is measurable — run the stopwatch and the timer in the room, do not just assert them.</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INSTRUCTOR DELIVERY GUIDE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Running Day 3 and the labs well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145</a:t>
            </a:r>
            <a:endParaRPr lang="en-US" sz="800" dirty="0"/>
          </a:p>
        </p:txBody>
      </p:sp>
      <p:sp>
        <p:nvSpPr>
          <p:cNvPr id="14" name="Shape 11"/>
          <p:cNvSpPr/>
          <p:nvPr/>
        </p:nvSpPr>
        <p:spPr>
          <a:xfrm>
            <a:off x="548640" y="2066544"/>
            <a:ext cx="351525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Text 13"/>
          <p:cNvSpPr/>
          <p:nvPr/>
        </p:nvSpPr>
        <p:spPr>
          <a:xfrm>
            <a:off x="731520"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Pace control</a:t>
            </a:r>
            <a:endParaRPr lang="en-US" sz="1300" dirty="0"/>
          </a:p>
        </p:txBody>
      </p:sp>
      <p:sp>
        <p:nvSpPr>
          <p:cNvPr id="17" name="Text 14"/>
          <p:cNvSpPr/>
          <p:nvPr/>
        </p:nvSpPr>
        <p:spPr>
          <a:xfrm>
            <a:off x="731520" y="261518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Lab 3 and Lab 4b overrun most — publish starter notebooks and .pbix/.twbx files so stragglers catch up.</a:t>
            </a:r>
            <a:endParaRPr lang="en-US" sz="1050" dirty="0"/>
          </a:p>
        </p:txBody>
      </p:sp>
      <p:sp>
        <p:nvSpPr>
          <p:cNvPr id="18" name="Shape 15"/>
          <p:cNvSpPr/>
          <p:nvPr/>
        </p:nvSpPr>
        <p:spPr>
          <a:xfrm>
            <a:off x="4338218" y="2066544"/>
            <a:ext cx="351525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4338218" y="2066544"/>
            <a:ext cx="3515258" cy="82296"/>
          </a:xfrm>
          <a:prstGeom prst="rect">
            <a:avLst/>
          </a:prstGeom>
          <a:solidFill>
            <a:srgbClr val="00A79D"/>
          </a:solidFill>
          <a:ln/>
        </p:spPr>
      </p:sp>
      <p:sp>
        <p:nvSpPr>
          <p:cNvPr id="20" name="Text 17"/>
          <p:cNvSpPr/>
          <p:nvPr/>
        </p:nvSpPr>
        <p:spPr>
          <a:xfrm>
            <a:off x="4521098"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Rotate pairs</a:t>
            </a:r>
            <a:endParaRPr lang="en-US" sz="1300" dirty="0"/>
          </a:p>
        </p:txBody>
      </p:sp>
      <p:sp>
        <p:nvSpPr>
          <p:cNvPr id="21" name="Text 18"/>
          <p:cNvSpPr/>
          <p:nvPr/>
        </p:nvSpPr>
        <p:spPr>
          <a:xfrm>
            <a:off x="4521098" y="261518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Re-pair each day; put a strong coder with a strong design sense so the craft transfers both ways.</a:t>
            </a:r>
            <a:endParaRPr lang="en-US" sz="1050" dirty="0"/>
          </a:p>
        </p:txBody>
      </p:sp>
      <p:sp>
        <p:nvSpPr>
          <p:cNvPr id="22" name="Shape 19"/>
          <p:cNvSpPr/>
          <p:nvPr/>
        </p:nvSpPr>
        <p:spPr>
          <a:xfrm>
            <a:off x="8127797" y="2066544"/>
            <a:ext cx="351525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8127797" y="2066544"/>
            <a:ext cx="3515258" cy="82296"/>
          </a:xfrm>
          <a:prstGeom prst="rect">
            <a:avLst/>
          </a:prstGeom>
          <a:solidFill>
            <a:srgbClr val="E8833A"/>
          </a:solidFill>
          <a:ln/>
        </p:spPr>
      </p:sp>
      <p:sp>
        <p:nvSpPr>
          <p:cNvPr id="24" name="Text 21"/>
          <p:cNvSpPr/>
          <p:nvPr/>
        </p:nvSpPr>
        <p:spPr>
          <a:xfrm>
            <a:off x="8310677" y="224942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Environment</a:t>
            </a:r>
            <a:endParaRPr lang="en-US" sz="1300" dirty="0"/>
          </a:p>
        </p:txBody>
      </p:sp>
      <p:sp>
        <p:nvSpPr>
          <p:cNvPr id="25" name="Text 22"/>
          <p:cNvSpPr/>
          <p:nvPr/>
        </p:nvSpPr>
        <p:spPr>
          <a:xfrm>
            <a:off x="8310677" y="261518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Primary: local Jupyter + Plotly + a BI tool. Fallback: Colab and Tableau Public. Verify both beforehand.</a:t>
            </a:r>
            <a:endParaRPr lang="en-US" sz="1050" dirty="0"/>
          </a:p>
        </p:txBody>
      </p:sp>
      <p:sp>
        <p:nvSpPr>
          <p:cNvPr id="26" name="Shape 23"/>
          <p:cNvSpPr/>
          <p:nvPr/>
        </p:nvSpPr>
        <p:spPr>
          <a:xfrm>
            <a:off x="548640" y="4169664"/>
            <a:ext cx="351525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548640" y="4169664"/>
            <a:ext cx="3515258" cy="82296"/>
          </a:xfrm>
          <a:prstGeom prst="rect">
            <a:avLst/>
          </a:prstGeom>
          <a:solidFill>
            <a:srgbClr val="6C4FA1"/>
          </a:solidFill>
          <a:ln/>
        </p:spPr>
      </p:sp>
      <p:sp>
        <p:nvSpPr>
          <p:cNvPr id="28" name="Text 25"/>
          <p:cNvSpPr/>
          <p:nvPr/>
        </p:nvSpPr>
        <p:spPr>
          <a:xfrm>
            <a:off x="731520" y="43525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Language &amp; RTL</a:t>
            </a:r>
            <a:endParaRPr lang="en-US" sz="1300" dirty="0"/>
          </a:p>
        </p:txBody>
      </p:sp>
      <p:sp>
        <p:nvSpPr>
          <p:cNvPr id="29" name="Text 26"/>
          <p:cNvSpPr/>
          <p:nvPr/>
        </p:nvSpPr>
        <p:spPr>
          <a:xfrm>
            <a:off x="731520" y="471830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Deliver in English or Arabic; keep code in English; teach right-to-left axis ordering for Arabic charts.</a:t>
            </a:r>
            <a:endParaRPr lang="en-US" sz="1050" dirty="0"/>
          </a:p>
        </p:txBody>
      </p:sp>
      <p:sp>
        <p:nvSpPr>
          <p:cNvPr id="30" name="Shape 27"/>
          <p:cNvSpPr/>
          <p:nvPr/>
        </p:nvSpPr>
        <p:spPr>
          <a:xfrm>
            <a:off x="4338218" y="4169664"/>
            <a:ext cx="3515258" cy="1865376"/>
          </a:xfrm>
          <a:prstGeom prst="roundRect">
            <a:avLst>
              <a:gd name="adj" fmla="val 3922"/>
            </a:avLst>
          </a:prstGeom>
          <a:solidFill>
            <a:srgbClr val="FFFFFF"/>
          </a:solidFill>
          <a:ln w="12700">
            <a:solidFill>
              <a:srgbClr val="D9DEE8"/>
            </a:solidFill>
            <a:prstDash val="solid"/>
          </a:ln>
        </p:spPr>
      </p:sp>
      <p:sp>
        <p:nvSpPr>
          <p:cNvPr id="31" name="Shape 28"/>
          <p:cNvSpPr/>
          <p:nvPr/>
        </p:nvSpPr>
        <p:spPr>
          <a:xfrm>
            <a:off x="4338218" y="4169664"/>
            <a:ext cx="3515258" cy="82296"/>
          </a:xfrm>
          <a:prstGeom prst="rect">
            <a:avLst/>
          </a:prstGeom>
          <a:solidFill>
            <a:srgbClr val="3FAE5A"/>
          </a:solidFill>
          <a:ln/>
        </p:spPr>
      </p:sp>
      <p:sp>
        <p:nvSpPr>
          <p:cNvPr id="32" name="Text 29"/>
          <p:cNvSpPr/>
          <p:nvPr/>
        </p:nvSpPr>
        <p:spPr>
          <a:xfrm>
            <a:off x="4521098" y="43525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Prayer &amp; breaks</a:t>
            </a:r>
            <a:endParaRPr lang="en-US" sz="1300" dirty="0"/>
          </a:p>
        </p:txBody>
      </p:sp>
      <p:sp>
        <p:nvSpPr>
          <p:cNvPr id="33" name="Text 30"/>
          <p:cNvSpPr/>
          <p:nvPr/>
        </p:nvSpPr>
        <p:spPr>
          <a:xfrm>
            <a:off x="4521098" y="471830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Each hour is 50 min instruction + 10 min buffer; schedule the long break around Dhuhr.</a:t>
            </a:r>
            <a:endParaRPr lang="en-US" sz="1050" dirty="0"/>
          </a:p>
        </p:txBody>
      </p:sp>
      <p:sp>
        <p:nvSpPr>
          <p:cNvPr id="34" name="Shape 31"/>
          <p:cNvSpPr/>
          <p:nvPr/>
        </p:nvSpPr>
        <p:spPr>
          <a:xfrm>
            <a:off x="8127797" y="4169664"/>
            <a:ext cx="3515258" cy="1865376"/>
          </a:xfrm>
          <a:prstGeom prst="roundRect">
            <a:avLst>
              <a:gd name="adj" fmla="val 3922"/>
            </a:avLst>
          </a:prstGeom>
          <a:solidFill>
            <a:srgbClr val="FFFFFF"/>
          </a:solidFill>
          <a:ln w="12700">
            <a:solidFill>
              <a:srgbClr val="D9DEE8"/>
            </a:solidFill>
            <a:prstDash val="solid"/>
          </a:ln>
        </p:spPr>
      </p:sp>
      <p:sp>
        <p:nvSpPr>
          <p:cNvPr id="35" name="Shape 32"/>
          <p:cNvSpPr/>
          <p:nvPr/>
        </p:nvSpPr>
        <p:spPr>
          <a:xfrm>
            <a:off x="8127797" y="4169664"/>
            <a:ext cx="3515258" cy="82296"/>
          </a:xfrm>
          <a:prstGeom prst="rect">
            <a:avLst/>
          </a:prstGeom>
          <a:solidFill>
            <a:srgbClr val="29ABE2"/>
          </a:solidFill>
          <a:ln/>
        </p:spPr>
      </p:sp>
      <p:sp>
        <p:nvSpPr>
          <p:cNvPr id="36" name="Text 33"/>
          <p:cNvSpPr/>
          <p:nvPr/>
        </p:nvSpPr>
        <p:spPr>
          <a:xfrm>
            <a:off x="8310677" y="4352544"/>
            <a:ext cx="3149498" cy="365760"/>
          </a:xfrm>
          <a:prstGeom prst="rect">
            <a:avLst/>
          </a:prstGeom>
          <a:noFill/>
          <a:ln/>
        </p:spPr>
        <p:txBody>
          <a:bodyPr wrap="square" rtlCol="0" anchor="t"/>
          <a:lstStyle/>
          <a:p>
            <a:pPr indent="0" marL="0">
              <a:buNone/>
            </a:pPr>
            <a:r>
              <a:rPr lang="en-US" sz="1300" b="1" dirty="0">
                <a:solidFill>
                  <a:srgbClr val="1D2A5C"/>
                </a:solidFill>
                <a:latin typeface="Arial" pitchFamily="34" charset="0"/>
                <a:ea typeface="Arial" pitchFamily="34" charset="-122"/>
                <a:cs typeface="Arial" pitchFamily="34" charset="-120"/>
              </a:rPr>
              <a:t>Assessment logistics</a:t>
            </a:r>
            <a:endParaRPr lang="en-US" sz="1300" dirty="0"/>
          </a:p>
        </p:txBody>
      </p:sp>
      <p:sp>
        <p:nvSpPr>
          <p:cNvPr id="37" name="Text 34"/>
          <p:cNvSpPr/>
          <p:nvPr/>
        </p:nvSpPr>
        <p:spPr>
          <a:xfrm>
            <a:off x="8310677" y="4718304"/>
            <a:ext cx="3149498" cy="1207008"/>
          </a:xfrm>
          <a:prstGeom prst="rect">
            <a:avLst/>
          </a:prstGeom>
          <a:noFill/>
          <a:ln/>
        </p:spPr>
        <p:txBody>
          <a:bodyPr wrap="square" rtlCol="0" anchor="t"/>
          <a:lstStyle/>
          <a:p>
            <a:pPr indent="0" marL="0">
              <a:lnSpc>
                <a:spcPct val="100000"/>
              </a:lnSpc>
              <a:buNone/>
            </a:pPr>
            <a:r>
              <a:rPr lang="en-US" sz="1050" dirty="0">
                <a:solidFill>
                  <a:srgbClr val="343A4E"/>
                </a:solidFill>
                <a:latin typeface="Arial" pitchFamily="34" charset="0"/>
                <a:ea typeface="Arial" pitchFamily="34" charset="-122"/>
                <a:cs typeface="Arial" pitchFamily="34" charset="-120"/>
              </a:rPr>
              <a:t>Collect dashboards and decks at end of Hour 4 to pre-load; score live in Hour 5; record with consent.</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ENVIRONMENT &amp; TOOLING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Three paths, and when to use each</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indent="0" marL="0">
              <a:buNone/>
            </a:pPr>
            <a:r>
              <a:rPr lang="en-US" sz="1250" dirty="0">
                <a:solidFill>
                  <a:srgbClr val="343A4E"/>
                </a:solidFill>
                <a:latin typeface="Arial" pitchFamily="34" charset="0"/>
                <a:ea typeface="Arial" pitchFamily="34" charset="-122"/>
                <a:cs typeface="Arial" pitchFamily="34" charset="-120"/>
              </a:rPr>
              <a:t>Verify licences and both the primary and fallback paths the week before delivery.</a:t>
            </a:r>
            <a:endParaRPr lang="en-US" sz="1250" dirty="0"/>
          </a:p>
        </p:txBody>
      </p:sp>
      <p:sp>
        <p:nvSpPr>
          <p:cNvPr id="15" name="Shape 12"/>
          <p:cNvSpPr/>
          <p:nvPr/>
        </p:nvSpPr>
        <p:spPr>
          <a:xfrm>
            <a:off x="548640" y="2569464"/>
            <a:ext cx="3490874"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3490874" cy="566928"/>
          </a:xfrm>
          <a:prstGeom prst="roundRect">
            <a:avLst>
              <a:gd name="adj" fmla="val 16129"/>
            </a:avLst>
          </a:prstGeom>
          <a:solidFill>
            <a:srgbClr val="2E5AAC"/>
          </a:solidFill>
          <a:ln/>
        </p:spPr>
      </p:sp>
      <p:sp>
        <p:nvSpPr>
          <p:cNvPr id="17" name="Shape 14"/>
          <p:cNvSpPr/>
          <p:nvPr/>
        </p:nvSpPr>
        <p:spPr>
          <a:xfrm>
            <a:off x="548640" y="2852928"/>
            <a:ext cx="3490874" cy="283464"/>
          </a:xfrm>
          <a:prstGeom prst="rect">
            <a:avLst/>
          </a:prstGeom>
          <a:solidFill>
            <a:srgbClr val="2E5AAC"/>
          </a:solidFill>
          <a:ln/>
        </p:spPr>
      </p:sp>
      <p:sp>
        <p:nvSpPr>
          <p:cNvPr id="18" name="Text 15"/>
          <p:cNvSpPr/>
          <p:nvPr/>
        </p:nvSpPr>
        <p:spPr>
          <a:xfrm>
            <a:off x="640080"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Plotly + Jupyter</a:t>
            </a:r>
            <a:endParaRPr lang="en-US" sz="1400" dirty="0"/>
          </a:p>
        </p:txBody>
      </p:sp>
      <p:sp>
        <p:nvSpPr>
          <p:cNvPr id="19" name="Text 16"/>
          <p:cNvSpPr/>
          <p:nvPr/>
        </p:nvSpPr>
        <p:spPr>
          <a:xfrm>
            <a:off x="749808" y="3300984"/>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Strength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Python interactive charting; the primary lab tool across every module.</a:t>
            </a:r>
            <a:endParaRPr lang="en-US" sz="1100" dirty="0"/>
          </a:p>
        </p:txBody>
      </p:sp>
      <p:sp>
        <p:nvSpPr>
          <p:cNvPr id="20" name="Text 17"/>
          <p:cNvSpPr/>
          <p:nvPr/>
        </p:nvSpPr>
        <p:spPr>
          <a:xfrm>
            <a:off x="749808" y="3977640"/>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Use when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Building and iterating the Tayseer views in code.</a:t>
            </a:r>
            <a:endParaRPr lang="en-US" sz="1100" dirty="0"/>
          </a:p>
        </p:txBody>
      </p:sp>
      <p:sp>
        <p:nvSpPr>
          <p:cNvPr id="21" name="Text 18"/>
          <p:cNvSpPr/>
          <p:nvPr/>
        </p:nvSpPr>
        <p:spPr>
          <a:xfrm>
            <a:off x="749808" y="4453128"/>
            <a:ext cx="3106826" cy="640080"/>
          </a:xfrm>
          <a:prstGeom prst="rect">
            <a:avLst/>
          </a:prstGeom>
          <a:noFill/>
          <a:ln/>
        </p:spPr>
        <p:txBody>
          <a:bodyPr wrap="square" rtlCol="0" anchor="t"/>
          <a:lstStyle/>
          <a:p>
            <a:pPr indent="0" marL="0">
              <a:lnSpc>
                <a:spcPct val="100000"/>
              </a:lnSpc>
              <a:buNone/>
            </a:pPr>
            <a:r>
              <a:rPr lang="en-US" sz="1100" b="1" dirty="0">
                <a:solidFill>
                  <a:srgbClr val="2E5AAC"/>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Fallback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Google Colab runs the same notebooks in the browser.</a:t>
            </a:r>
            <a:endParaRPr lang="en-US" sz="1100" dirty="0"/>
          </a:p>
        </p:txBody>
      </p:sp>
      <p:sp>
        <p:nvSpPr>
          <p:cNvPr id="22" name="Shape 19"/>
          <p:cNvSpPr/>
          <p:nvPr/>
        </p:nvSpPr>
        <p:spPr>
          <a:xfrm>
            <a:off x="4350410" y="2569464"/>
            <a:ext cx="3490874"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4350410" y="2569464"/>
            <a:ext cx="3490874" cy="566928"/>
          </a:xfrm>
          <a:prstGeom prst="roundRect">
            <a:avLst>
              <a:gd name="adj" fmla="val 16129"/>
            </a:avLst>
          </a:prstGeom>
          <a:solidFill>
            <a:srgbClr val="00A79D"/>
          </a:solidFill>
          <a:ln/>
        </p:spPr>
      </p:sp>
      <p:sp>
        <p:nvSpPr>
          <p:cNvPr id="24" name="Shape 21"/>
          <p:cNvSpPr/>
          <p:nvPr/>
        </p:nvSpPr>
        <p:spPr>
          <a:xfrm>
            <a:off x="4350410" y="2852928"/>
            <a:ext cx="3490874" cy="283464"/>
          </a:xfrm>
          <a:prstGeom prst="rect">
            <a:avLst/>
          </a:prstGeom>
          <a:solidFill>
            <a:srgbClr val="00A79D"/>
          </a:solidFill>
          <a:ln/>
        </p:spPr>
      </p:sp>
      <p:sp>
        <p:nvSpPr>
          <p:cNvPr id="25" name="Text 22"/>
          <p:cNvSpPr/>
          <p:nvPr/>
        </p:nvSpPr>
        <p:spPr>
          <a:xfrm>
            <a:off x="4441850"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Power BI</a:t>
            </a:r>
            <a:endParaRPr lang="en-US" sz="1400" dirty="0"/>
          </a:p>
        </p:txBody>
      </p:sp>
      <p:sp>
        <p:nvSpPr>
          <p:cNvPr id="26" name="Text 23"/>
          <p:cNvSpPr/>
          <p:nvPr/>
        </p:nvSpPr>
        <p:spPr>
          <a:xfrm>
            <a:off x="4551578" y="3300984"/>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Strength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Self-service BI dashboards with drill-down and cross-filtering.</a:t>
            </a:r>
            <a:endParaRPr lang="en-US" sz="1100" dirty="0"/>
          </a:p>
        </p:txBody>
      </p:sp>
      <p:sp>
        <p:nvSpPr>
          <p:cNvPr id="27" name="Text 24"/>
          <p:cNvSpPr/>
          <p:nvPr/>
        </p:nvSpPr>
        <p:spPr>
          <a:xfrm>
            <a:off x="4551578" y="3977640"/>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Use when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On Windows, for the interactive dashboard labs (M4).</a:t>
            </a:r>
            <a:endParaRPr lang="en-US" sz="1100" dirty="0"/>
          </a:p>
        </p:txBody>
      </p:sp>
      <p:sp>
        <p:nvSpPr>
          <p:cNvPr id="28" name="Text 25"/>
          <p:cNvSpPr/>
          <p:nvPr/>
        </p:nvSpPr>
        <p:spPr>
          <a:xfrm>
            <a:off x="4551578" y="4453128"/>
            <a:ext cx="3106826" cy="640080"/>
          </a:xfrm>
          <a:prstGeom prst="rect">
            <a:avLst/>
          </a:prstGeom>
          <a:noFill/>
          <a:ln/>
        </p:spPr>
        <p:txBody>
          <a:bodyPr wrap="square" rtlCol="0" anchor="t"/>
          <a:lstStyle/>
          <a:p>
            <a:pPr indent="0" marL="0">
              <a:lnSpc>
                <a:spcPct val="100000"/>
              </a:lnSpc>
              <a:buNone/>
            </a:pPr>
            <a:r>
              <a:rPr lang="en-US" sz="1100" b="1" dirty="0">
                <a:solidFill>
                  <a:srgbClr val="00A79D"/>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Note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Verify licences the week before delivery.</a:t>
            </a:r>
            <a:endParaRPr lang="en-US" sz="1100" dirty="0"/>
          </a:p>
        </p:txBody>
      </p:sp>
      <p:sp>
        <p:nvSpPr>
          <p:cNvPr id="29" name="Shape 26"/>
          <p:cNvSpPr/>
          <p:nvPr/>
        </p:nvSpPr>
        <p:spPr>
          <a:xfrm>
            <a:off x="8152181" y="2569464"/>
            <a:ext cx="3490874" cy="3465576"/>
          </a:xfrm>
          <a:prstGeom prst="roundRect">
            <a:avLst>
              <a:gd name="adj" fmla="val 2639"/>
            </a:avLst>
          </a:prstGeom>
          <a:solidFill>
            <a:srgbClr val="FFFFFF"/>
          </a:solidFill>
          <a:ln w="17780">
            <a:solidFill>
              <a:srgbClr val="E8833A"/>
            </a:solidFill>
            <a:prstDash val="solid"/>
          </a:ln>
        </p:spPr>
      </p:sp>
      <p:sp>
        <p:nvSpPr>
          <p:cNvPr id="30" name="Shape 27"/>
          <p:cNvSpPr/>
          <p:nvPr/>
        </p:nvSpPr>
        <p:spPr>
          <a:xfrm>
            <a:off x="8152181" y="2569464"/>
            <a:ext cx="3490874" cy="566928"/>
          </a:xfrm>
          <a:prstGeom prst="roundRect">
            <a:avLst>
              <a:gd name="adj" fmla="val 16129"/>
            </a:avLst>
          </a:prstGeom>
          <a:solidFill>
            <a:srgbClr val="E8833A"/>
          </a:solidFill>
          <a:ln/>
        </p:spPr>
      </p:sp>
      <p:sp>
        <p:nvSpPr>
          <p:cNvPr id="31" name="Shape 28"/>
          <p:cNvSpPr/>
          <p:nvPr/>
        </p:nvSpPr>
        <p:spPr>
          <a:xfrm>
            <a:off x="8152181" y="2852928"/>
            <a:ext cx="3490874" cy="283464"/>
          </a:xfrm>
          <a:prstGeom prst="rect">
            <a:avLst/>
          </a:prstGeom>
          <a:solidFill>
            <a:srgbClr val="E8833A"/>
          </a:solidFill>
          <a:ln/>
        </p:spPr>
      </p:sp>
      <p:sp>
        <p:nvSpPr>
          <p:cNvPr id="32" name="Text 29"/>
          <p:cNvSpPr/>
          <p:nvPr/>
        </p:nvSpPr>
        <p:spPr>
          <a:xfrm>
            <a:off x="8243621" y="2569464"/>
            <a:ext cx="3307994" cy="56692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Tableau Public</a:t>
            </a:r>
            <a:endParaRPr lang="en-US" sz="1400" dirty="0"/>
          </a:p>
        </p:txBody>
      </p:sp>
      <p:sp>
        <p:nvSpPr>
          <p:cNvPr id="33" name="Text 30"/>
          <p:cNvSpPr/>
          <p:nvPr/>
        </p:nvSpPr>
        <p:spPr>
          <a:xfrm>
            <a:off x="8353349" y="3300984"/>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Strength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Cross-platform, browser-based BI with no licence needed.</a:t>
            </a:r>
            <a:endParaRPr lang="en-US" sz="1100" dirty="0"/>
          </a:p>
        </p:txBody>
      </p:sp>
      <p:sp>
        <p:nvSpPr>
          <p:cNvPr id="34" name="Text 31"/>
          <p:cNvSpPr/>
          <p:nvPr/>
        </p:nvSpPr>
        <p:spPr>
          <a:xfrm>
            <a:off x="8353349" y="3977640"/>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Use when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The fallback path for the BI labs on any OS.</a:t>
            </a:r>
            <a:endParaRPr lang="en-US" sz="1100" dirty="0"/>
          </a:p>
        </p:txBody>
      </p:sp>
      <p:sp>
        <p:nvSpPr>
          <p:cNvPr id="35" name="Text 32"/>
          <p:cNvSpPr/>
          <p:nvPr/>
        </p:nvSpPr>
        <p:spPr>
          <a:xfrm>
            <a:off x="8353349" y="4453128"/>
            <a:ext cx="3106826" cy="640080"/>
          </a:xfrm>
          <a:prstGeom prst="rect">
            <a:avLst/>
          </a:prstGeom>
          <a:noFill/>
          <a:ln/>
        </p:spPr>
        <p:txBody>
          <a:bodyPr wrap="square" rtlCol="0" anchor="t"/>
          <a:lstStyle/>
          <a:p>
            <a:pPr indent="0" marL="0">
              <a:lnSpc>
                <a:spcPct val="100000"/>
              </a:lnSpc>
              <a:buNone/>
            </a:pPr>
            <a:r>
              <a:rPr lang="en-US" sz="1100" b="1" dirty="0">
                <a:solidFill>
                  <a:srgbClr val="E8833A"/>
                </a:solidFill>
                <a:latin typeface="Arial" pitchFamily="34" charset="0"/>
                <a:ea typeface="Arial" pitchFamily="34" charset="-122"/>
                <a:cs typeface="Arial" pitchFamily="34" charset="-120"/>
              </a:rPr>
              <a:t>▸  </a:t>
            </a:r>
            <a:pPr indent="0" marL="0">
              <a:lnSpc>
                <a:spcPct val="100000"/>
              </a:lnSpc>
              <a:buNone/>
            </a:pPr>
            <a:r>
              <a:rPr lang="en-US" sz="1100" b="1" dirty="0">
                <a:solidFill>
                  <a:srgbClr val="1D2A5C"/>
                </a:solidFill>
                <a:latin typeface="Arial" pitchFamily="34" charset="0"/>
                <a:ea typeface="Arial" pitchFamily="34" charset="-122"/>
                <a:cs typeface="Arial" pitchFamily="34" charset="-120"/>
              </a:rPr>
              <a:t>Note </a:t>
            </a:r>
            <a:pPr indent="0" marL="0">
              <a:lnSpc>
                <a:spcPct val="100000"/>
              </a:lnSpc>
              <a:buNone/>
            </a:pPr>
            <a:r>
              <a:rPr lang="en-US" sz="1100" dirty="0">
                <a:solidFill>
                  <a:srgbClr val="343A4E"/>
                </a:solidFill>
                <a:latin typeface="Arial" pitchFamily="34" charset="0"/>
                <a:ea typeface="Arial" pitchFamily="34" charset="-122"/>
                <a:cs typeface="Arial" pitchFamily="34" charset="-120"/>
              </a:rPr>
              <a:t>Public saves publicly — mind data sensitivity.</a:t>
            </a:r>
            <a:endParaRPr lang="en-US" sz="11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PATH FORWARD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Where this course leads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147</a:t>
            </a:r>
            <a:endParaRPr lang="en-US" sz="800" dirty="0"/>
          </a:p>
        </p:txBody>
      </p:sp>
      <p:sp>
        <p:nvSpPr>
          <p:cNvPr id="14" name="Shape 11"/>
          <p:cNvSpPr/>
          <p:nvPr/>
        </p:nvSpPr>
        <p:spPr>
          <a:xfrm>
            <a:off x="548640" y="2295144"/>
            <a:ext cx="3490874" cy="2926080"/>
          </a:xfrm>
          <a:prstGeom prst="roundRect">
            <a:avLst>
              <a:gd name="adj" fmla="val 3125"/>
            </a:avLst>
          </a:prstGeom>
          <a:solidFill>
            <a:srgbClr val="EAF0FA"/>
          </a:solidFill>
          <a:ln w="15875">
            <a:solidFill>
              <a:srgbClr val="2E5AAC"/>
            </a:solidFill>
            <a:prstDash val="solid"/>
          </a:ln>
        </p:spPr>
      </p:sp>
      <p:sp>
        <p:nvSpPr>
          <p:cNvPr id="15" name="Shape 12"/>
          <p:cNvSpPr/>
          <p:nvPr/>
        </p:nvSpPr>
        <p:spPr>
          <a:xfrm>
            <a:off x="2038045" y="2496312"/>
            <a:ext cx="512064" cy="512064"/>
          </a:xfrm>
          <a:prstGeom prst="ellipse">
            <a:avLst/>
          </a:prstGeom>
          <a:solidFill>
            <a:srgbClr val="2E5AAC"/>
          </a:solidFill>
          <a:ln/>
        </p:spPr>
      </p:sp>
      <p:sp>
        <p:nvSpPr>
          <p:cNvPr id="16" name="Text 13"/>
          <p:cNvSpPr/>
          <p:nvPr/>
        </p:nvSpPr>
        <p:spPr>
          <a:xfrm>
            <a:off x="2038045"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7" name="Text 14"/>
          <p:cNvSpPr/>
          <p:nvPr/>
        </p:nvSpPr>
        <p:spPr>
          <a:xfrm>
            <a:off x="658368" y="313639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Communication badge</a:t>
            </a:r>
            <a:endParaRPr lang="en-US" sz="1300" dirty="0"/>
          </a:p>
        </p:txBody>
      </p:sp>
      <p:sp>
        <p:nvSpPr>
          <p:cNvPr id="18" name="Text 15"/>
          <p:cNvSpPr/>
          <p:nvPr/>
        </p:nvSpPr>
        <p:spPr>
          <a:xfrm>
            <a:off x="676656" y="366674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Completing SDA-DSC-112 earns the communication badge for the track.</a:t>
            </a:r>
            <a:endParaRPr lang="en-US" sz="1050" dirty="0"/>
          </a:p>
        </p:txBody>
      </p:sp>
      <p:sp>
        <p:nvSpPr>
          <p:cNvPr id="19" name="Text 16"/>
          <p:cNvSpPr/>
          <p:nvPr/>
        </p:nvSpPr>
        <p:spPr>
          <a:xfrm>
            <a:off x="4057802"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0" name="Shape 17"/>
          <p:cNvSpPr/>
          <p:nvPr/>
        </p:nvSpPr>
        <p:spPr>
          <a:xfrm>
            <a:off x="4350410" y="2295144"/>
            <a:ext cx="3490874" cy="2926080"/>
          </a:xfrm>
          <a:prstGeom prst="roundRect">
            <a:avLst>
              <a:gd name="adj" fmla="val 3125"/>
            </a:avLst>
          </a:prstGeom>
          <a:solidFill>
            <a:srgbClr val="E6F5F4"/>
          </a:solidFill>
          <a:ln w="15875">
            <a:solidFill>
              <a:srgbClr val="00A79D"/>
            </a:solidFill>
            <a:prstDash val="solid"/>
          </a:ln>
        </p:spPr>
      </p:sp>
      <p:sp>
        <p:nvSpPr>
          <p:cNvPr id="21" name="Shape 18"/>
          <p:cNvSpPr/>
          <p:nvPr/>
        </p:nvSpPr>
        <p:spPr>
          <a:xfrm>
            <a:off x="5839816" y="2496312"/>
            <a:ext cx="512064" cy="512064"/>
          </a:xfrm>
          <a:prstGeom prst="ellipse">
            <a:avLst/>
          </a:prstGeom>
          <a:solidFill>
            <a:srgbClr val="00A79D"/>
          </a:solidFill>
          <a:ln/>
        </p:spPr>
      </p:sp>
      <p:sp>
        <p:nvSpPr>
          <p:cNvPr id="22" name="Text 19"/>
          <p:cNvSpPr/>
          <p:nvPr/>
        </p:nvSpPr>
        <p:spPr>
          <a:xfrm>
            <a:off x="5839816"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3" name="Text 20"/>
          <p:cNvSpPr/>
          <p:nvPr/>
        </p:nvSpPr>
        <p:spPr>
          <a:xfrm>
            <a:off x="4460138" y="313639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Practitioner certificate</a:t>
            </a:r>
            <a:endParaRPr lang="en-US" sz="1300" dirty="0"/>
          </a:p>
        </p:txBody>
      </p:sp>
      <p:sp>
        <p:nvSpPr>
          <p:cNvPr id="24" name="Text 21"/>
          <p:cNvSpPr/>
          <p:nvPr/>
        </p:nvSpPr>
        <p:spPr>
          <a:xfrm>
            <a:off x="4478426" y="366674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This course is required for the Data Scientist Practitioner certificate.</a:t>
            </a:r>
            <a:endParaRPr lang="en-US" sz="1050" dirty="0"/>
          </a:p>
        </p:txBody>
      </p:sp>
      <p:sp>
        <p:nvSpPr>
          <p:cNvPr id="25" name="Text 22"/>
          <p:cNvSpPr/>
          <p:nvPr/>
        </p:nvSpPr>
        <p:spPr>
          <a:xfrm>
            <a:off x="7859573" y="3438144"/>
            <a:ext cx="310896" cy="640080"/>
          </a:xfrm>
          <a:prstGeom prst="rect">
            <a:avLst/>
          </a:prstGeom>
          <a:noFill/>
          <a:ln/>
        </p:spPr>
        <p:txBody>
          <a:bodyPr wrap="square" rtlCol="0" anchor="ctr"/>
          <a:lstStyle/>
          <a:p>
            <a:pPr algn="ctr" indent="0" marL="0">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6" name="Shape 23"/>
          <p:cNvSpPr/>
          <p:nvPr/>
        </p:nvSpPr>
        <p:spPr>
          <a:xfrm>
            <a:off x="8152181" y="2295144"/>
            <a:ext cx="3490874" cy="2926080"/>
          </a:xfrm>
          <a:prstGeom prst="roundRect">
            <a:avLst>
              <a:gd name="adj" fmla="val 3125"/>
            </a:avLst>
          </a:prstGeom>
          <a:solidFill>
            <a:srgbClr val="FCF0E6"/>
          </a:solidFill>
          <a:ln w="15875">
            <a:solidFill>
              <a:srgbClr val="E8833A"/>
            </a:solidFill>
            <a:prstDash val="solid"/>
          </a:ln>
        </p:spPr>
      </p:sp>
      <p:sp>
        <p:nvSpPr>
          <p:cNvPr id="27" name="Shape 24"/>
          <p:cNvSpPr/>
          <p:nvPr/>
        </p:nvSpPr>
        <p:spPr>
          <a:xfrm>
            <a:off x="9641586" y="2496312"/>
            <a:ext cx="512064" cy="512064"/>
          </a:xfrm>
          <a:prstGeom prst="ellipse">
            <a:avLst/>
          </a:prstGeom>
          <a:solidFill>
            <a:srgbClr val="E8833A"/>
          </a:solidFill>
          <a:ln/>
        </p:spPr>
      </p:sp>
      <p:sp>
        <p:nvSpPr>
          <p:cNvPr id="28" name="Text 25"/>
          <p:cNvSpPr/>
          <p:nvPr/>
        </p:nvSpPr>
        <p:spPr>
          <a:xfrm>
            <a:off x="9641586" y="2496312"/>
            <a:ext cx="512064"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9" name="Text 26"/>
          <p:cNvSpPr/>
          <p:nvPr/>
        </p:nvSpPr>
        <p:spPr>
          <a:xfrm>
            <a:off x="8261909" y="3136392"/>
            <a:ext cx="3271418" cy="548640"/>
          </a:xfrm>
          <a:prstGeom prst="rect">
            <a:avLst/>
          </a:prstGeom>
          <a:noFill/>
          <a:ln/>
        </p:spPr>
        <p:txBody>
          <a:bodyPr wrap="square" rtlCol="0" anchor="t"/>
          <a:lstStyle/>
          <a:p>
            <a:pPr algn="ctr" indent="0" marL="0">
              <a:buNone/>
            </a:pPr>
            <a:r>
              <a:rPr lang="en-US" sz="1300" b="1" dirty="0">
                <a:solidFill>
                  <a:srgbClr val="1D2A5C"/>
                </a:solidFill>
                <a:latin typeface="Arial" pitchFamily="34" charset="0"/>
                <a:ea typeface="Arial" pitchFamily="34" charset="-122"/>
                <a:cs typeface="Arial" pitchFamily="34" charset="-120"/>
              </a:rPr>
              <a:t>Next: SDA-DSC-211</a:t>
            </a:r>
            <a:endParaRPr lang="en-US" sz="1300" dirty="0"/>
          </a:p>
        </p:txBody>
      </p:sp>
      <p:sp>
        <p:nvSpPr>
          <p:cNvPr id="30" name="Text 27"/>
          <p:cNvSpPr/>
          <p:nvPr/>
        </p:nvSpPr>
        <p:spPr>
          <a:xfrm>
            <a:off x="8280197" y="3666744"/>
            <a:ext cx="3234842" cy="1463040"/>
          </a:xfrm>
          <a:prstGeom prst="rect">
            <a:avLst/>
          </a:prstGeom>
          <a:noFill/>
          <a:ln/>
        </p:spPr>
        <p:txBody>
          <a:bodyPr wrap="square" rtlCol="0" anchor="t"/>
          <a:lstStyle/>
          <a:p>
            <a:pPr algn="ctr" indent="0" marL="0">
              <a:lnSpc>
                <a:spcPct val="100000"/>
              </a:lnSpc>
              <a:buNone/>
            </a:pPr>
            <a:r>
              <a:rPr lang="en-US" sz="1050" dirty="0">
                <a:solidFill>
                  <a:srgbClr val="343A4E"/>
                </a:solidFill>
                <a:latin typeface="Arial" pitchFamily="34" charset="0"/>
                <a:ea typeface="Arial" pitchFamily="34" charset="-122"/>
                <a:cs typeface="Arial" pitchFamily="34" charset="-120"/>
              </a:rPr>
              <a:t>Continue to the next course in the Data Scientist track.</a:t>
            </a:r>
            <a:endParaRPr lang="en-US" sz="1050" dirty="0"/>
          </a:p>
        </p:txBody>
      </p:sp>
      <p:sp>
        <p:nvSpPr>
          <p:cNvPr id="31" name="Text 28"/>
          <p:cNvSpPr/>
          <p:nvPr/>
        </p:nvSpPr>
        <p:spPr>
          <a:xfrm>
            <a:off x="548640" y="5330952"/>
            <a:ext cx="11094415" cy="365760"/>
          </a:xfrm>
          <a:prstGeom prst="rect">
            <a:avLst/>
          </a:prstGeom>
          <a:noFill/>
          <a:ln/>
        </p:spPr>
        <p:txBody>
          <a:bodyPr wrap="square" rtlCol="0" anchor="t"/>
          <a:lstStyle/>
          <a:p>
            <a:pPr algn="l" indent="0" marL="0">
              <a:buNone/>
            </a:pPr>
            <a:r>
              <a:rPr lang="en-US" sz="1100" i="1" dirty="0">
                <a:solidFill>
                  <a:srgbClr val="6B7280"/>
                </a:solidFill>
                <a:latin typeface="Arial" pitchFamily="34" charset="0"/>
                <a:ea typeface="Arial" pitchFamily="34" charset="-122"/>
                <a:cs typeface="Arial" pitchFamily="34" charset="-120"/>
              </a:rPr>
              <a:t>The skills built here — perception to delivery — carry directly into the next course.</a:t>
            </a:r>
            <a:endParaRPr lang="en-US" sz="11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algn="l" indent="0" marL="0">
              <a:buNone/>
            </a:pPr>
            <a:r>
              <a:rPr lang="en-US" sz="1100" b="1" spc="200" kern="0" dirty="0">
                <a:solidFill>
                  <a:srgbClr val="00A79D"/>
                </a:solidFill>
                <a:latin typeface="Arial" pitchFamily="34" charset="0"/>
                <a:ea typeface="Arial" pitchFamily="34" charset="-122"/>
                <a:cs typeface="Arial" pitchFamily="34" charset="-120"/>
              </a:rPr>
              <a:t>KEY TAKEAWAYS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algn="l" indent="0" marL="0">
              <a:buNone/>
            </a:pPr>
            <a:r>
              <a:rPr lang="en-US" sz="2500" b="1" dirty="0">
                <a:solidFill>
                  <a:srgbClr val="1D2A5C"/>
                </a:solidFill>
                <a:latin typeface="Arial" pitchFamily="34" charset="0"/>
                <a:ea typeface="Arial" pitchFamily="34" charset="-122"/>
                <a:cs typeface="Arial" pitchFamily="34" charset="-120"/>
              </a:rPr>
              <a:t>The through-line of the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148</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indent="0" marL="0">
              <a:lnSpc>
                <a:spcPct val="105000"/>
              </a:lnSpc>
              <a:buNone/>
            </a:pPr>
            <a:r>
              <a:rPr lang="en-US" sz="1300" dirty="0">
                <a:solidFill>
                  <a:srgbClr val="343A4E"/>
                </a:solidFill>
                <a:latin typeface="Arial" pitchFamily="34" charset="0"/>
                <a:ea typeface="Arial" pitchFamily="34" charset="-122"/>
                <a:cs typeface="Arial" pitchFamily="34" charset="-120"/>
              </a:rPr>
              <a:t>Six modules, one moving idea: close the last mile between a correct analysis and the decision it should change.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Encoding accuracy: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Match the visual channel to how precisely the eye must read the value (M1).</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Honest chart choice: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Let the question pick the chart; avoid distortion and clutter (M2–M3).</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Declutter &amp; annotate: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Spend ink on the signal and make the annotation the argument (M3).</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Dashboard &amp; narrative: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Turn views into a self-service dashboard, then wrap them in a story (M4–M5).</a:t>
            </a:r>
            <a:endParaRPr lang="en-US" sz="1250" dirty="0"/>
          </a:p>
        </p:txBody>
      </p:sp>
      <p:sp>
        <p:nvSpPr>
          <p:cNvPr id="23" name="Shape 20"/>
          <p:cNvSpPr/>
          <p:nvPr/>
        </p:nvSpPr>
        <p:spPr>
          <a:xfrm>
            <a:off x="548640" y="5166360"/>
            <a:ext cx="100584" cy="420624"/>
          </a:xfrm>
          <a:prstGeom prst="rect">
            <a:avLst/>
          </a:prstGeom>
          <a:solidFill>
            <a:srgbClr val="3FAE5A"/>
          </a:solidFill>
          <a:ln/>
        </p:spPr>
      </p:sp>
      <p:sp>
        <p:nvSpPr>
          <p:cNvPr id="24" name="Text 21"/>
          <p:cNvSpPr/>
          <p:nvPr/>
        </p:nvSpPr>
        <p:spPr>
          <a:xfrm>
            <a:off x="804672" y="5111496"/>
            <a:ext cx="10820095" cy="566928"/>
          </a:xfrm>
          <a:prstGeom prst="rect">
            <a:avLst/>
          </a:prstGeom>
          <a:noFill/>
          <a:ln/>
        </p:spPr>
        <p:txBody>
          <a:bodyPr wrap="square" rtlCol="0" anchor="ctr"/>
          <a:lstStyle/>
          <a:p>
            <a:pPr indent="0" marL="0">
              <a:lnSpc>
                <a:spcPct val="102000"/>
              </a:lnSpc>
              <a:buNone/>
            </a:pPr>
            <a:r>
              <a:rPr lang="en-US" sz="1250" b="1" dirty="0">
                <a:solidFill>
                  <a:srgbClr val="1D2A5C"/>
                </a:solidFill>
                <a:latin typeface="Arial" pitchFamily="34" charset="0"/>
                <a:ea typeface="Arial" pitchFamily="34" charset="-122"/>
                <a:cs typeface="Arial" pitchFamily="34" charset="-120"/>
              </a:rPr>
              <a:t>Delivery:  </a:t>
            </a:r>
            <a:pPr indent="0" marL="0">
              <a:lnSpc>
                <a:spcPct val="102000"/>
              </a:lnSpc>
              <a:buNone/>
            </a:pPr>
            <a:r>
              <a:rPr lang="en-US" sz="1250" dirty="0">
                <a:solidFill>
                  <a:srgbClr val="343A4E"/>
                </a:solidFill>
                <a:latin typeface="Arial" pitchFamily="34" charset="0"/>
                <a:ea typeface="Arial" pitchFamily="34" charset="-122"/>
                <a:cs typeface="Arial" pitchFamily="34" charset="-120"/>
              </a:rPr>
              <a:t>Open with the ask and hold the room so the decision actually changes (M6).</a:t>
            </a:r>
            <a:endParaRPr lang="en-US" sz="12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algn="l" indent="0" marL="0">
              <a:buNone/>
            </a:pPr>
            <a:r>
              <a:rPr lang="en-US" sz="800" b="1" dirty="0">
                <a:solidFill>
                  <a:srgbClr val="1D2A5C"/>
                </a:solidFill>
                <a:latin typeface="Arial" pitchFamily="34" charset="0"/>
                <a:ea typeface="Arial" pitchFamily="34" charset="-122"/>
                <a:cs typeface="Arial" pitchFamily="34" charset="-120"/>
              </a:rPr>
              <a:t>SDAIA Academy</a:t>
            </a:r>
            <a:pPr algn="l" indent="0" marL="0">
              <a:buNone/>
            </a:pP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algn="r" indent="0" marL="0">
              <a:buNone/>
            </a:pPr>
            <a:r>
              <a:rPr lang="en-US" sz="800" dirty="0">
                <a:solidFill>
                  <a:srgbClr val="9AA3B2"/>
                </a:solidFill>
                <a:latin typeface="Arial" pitchFamily="34" charset="0"/>
                <a:ea typeface="Arial" pitchFamily="34" charset="-122"/>
                <a:cs typeface="Arial" pitchFamily="34" charset="-120"/>
              </a:rPr>
              <a:t>149</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algn="l" indent="0" marL="0">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algn="ctr" indent="0" marL="0">
              <a:lnSpc>
                <a:spcPct val="110000"/>
              </a:lnSpc>
              <a:buNone/>
            </a:pPr>
            <a:r>
              <a:rPr lang="en-US" sz="2600" b="1" dirty="0">
                <a:solidFill>
                  <a:srgbClr val="1D2A5C"/>
                </a:solidFill>
                <a:latin typeface="Arial" pitchFamily="34" charset="0"/>
                <a:ea typeface="Arial" pitchFamily="34" charset="-122"/>
                <a:cs typeface="Arial" pitchFamily="34" charset="-120"/>
              </a:rPr>
              <a:t>Turning analysis into influence is the last mile: a correct analysis either changes a decision or dies in a slide nobody understood.</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algn="ctr" indent="0" marL="0">
              <a:buNone/>
            </a:pPr>
            <a:r>
              <a:rPr lang="en-US" sz="1400" dirty="0">
                <a:solidFill>
                  <a:srgbClr val="6B7280"/>
                </a:solidFill>
                <a:latin typeface="Arial" pitchFamily="34" charset="0"/>
                <a:ea typeface="Arial" pitchFamily="34" charset="-122"/>
                <a:cs typeface="Arial" pitchFamily="34" charset="-120"/>
              </a:rPr>
              <a:t>— The course thesis</a:t>
            </a:r>
            <a:endParaRPr lang="en-US" sz="1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r>
          <p:cNvPicPr>
            <a:picLocks noChangeAspect="1"/>
          </p:cNvPicPr>
          <p:nvPr/>
        </p:nvPicPr>
        <p:blipFill>
          <a:blip r:embed="rId1"/>
          <a:stretch>
            <a:fillRect/>
          </a:stretch>
        </p:blipFill>
        <p:spPr>
          <a:xfrm>
            <a:off x="4861408" y="777240"/>
            <a:ext cx="2468880" cy="603504"/>
          </a:xfrm>
          <a:prstGeom prst="rect">
            <a:avLst/>
          </a:prstGeom>
        </p:spPr>
      </p:pic>
      <p:sp>
        <p:nvSpPr>
          <p:cNvPr id="5" name="Text 2"/>
          <p:cNvSpPr/>
          <p:nvPr/>
        </p:nvSpPr>
        <p:spPr>
          <a:xfrm>
            <a:off x="914400" y="2011680"/>
            <a:ext cx="10362895" cy="9144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6" name="Text 3"/>
          <p:cNvSpPr/>
          <p:nvPr/>
        </p:nvSpPr>
        <p:spPr>
          <a:xfrm>
            <a:off x="914400" y="2926080"/>
            <a:ext cx="10362895" cy="548640"/>
          </a:xfrm>
          <a:prstGeom prst="rect">
            <a:avLst/>
          </a:prstGeom>
          <a:noFill/>
          <a:ln/>
        </p:spPr>
        <p:txBody>
          <a:bodyPr wrap="square" rtlCol="0" anchor="ctr"/>
          <a:lstStyle/>
          <a:p>
            <a:pPr algn="ctr" indent="0" marL="0">
              <a:buNone/>
            </a:pPr>
            <a:r>
              <a:rPr lang="en-US" sz="2200" dirty="0">
                <a:solidFill>
                  <a:srgbClr val="00A79D"/>
                </a:solidFill>
                <a:latin typeface="Arial" pitchFamily="34" charset="0"/>
                <a:ea typeface="Arial" pitchFamily="34" charset="-122"/>
                <a:cs typeface="Arial" pitchFamily="34" charset="-120"/>
              </a:rPr>
              <a:t>شكراً لكم</a:t>
            </a:r>
            <a:endParaRPr lang="en-US" sz="2200" dirty="0"/>
          </a:p>
        </p:txBody>
      </p:sp>
      <p:sp>
        <p:nvSpPr>
          <p:cNvPr id="7" name="Text 4"/>
          <p:cNvSpPr/>
          <p:nvPr/>
        </p:nvSpPr>
        <p:spPr>
          <a:xfrm>
            <a:off x="1371600" y="3657600"/>
            <a:ext cx="9448495" cy="914400"/>
          </a:xfrm>
          <a:prstGeom prst="rect">
            <a:avLst/>
          </a:prstGeom>
          <a:noFill/>
          <a:ln/>
        </p:spPr>
        <p:txBody>
          <a:bodyPr wrap="square" rtlCol="0" anchor="t"/>
          <a:lstStyle/>
          <a:p>
            <a:pPr algn="ctr" indent="0" marL="0">
              <a:lnSpc>
                <a:spcPct val="110000"/>
              </a:lnSpc>
              <a:buNone/>
            </a:pPr>
            <a:r>
              <a:rPr lang="en-US" sz="1400" dirty="0">
                <a:solidFill>
                  <a:srgbClr val="C9D3EA"/>
                </a:solidFill>
                <a:latin typeface="Arial" pitchFamily="34" charset="0"/>
                <a:ea typeface="Arial" pitchFamily="34" charset="-122"/>
                <a:cs typeface="Arial" pitchFamily="34" charset="-120"/>
              </a:rPr>
              <a:t>Data Visualization and Storytelling · SDAIA Academy</a:t>
            </a:r>
            <a:endParaRPr lang="en-US" sz="1400" dirty="0"/>
          </a:p>
        </p:txBody>
      </p:sp>
      <p:sp>
        <p:nvSpPr>
          <p:cNvPr id="8" name="Shape 5"/>
          <p:cNvSpPr/>
          <p:nvPr/>
        </p:nvSpPr>
        <p:spPr>
          <a:xfrm>
            <a:off x="4943704" y="5029200"/>
            <a:ext cx="402336" cy="640080"/>
          </a:xfrm>
          <a:prstGeom prst="triangle">
            <a:avLst/>
          </a:prstGeom>
          <a:solidFill>
            <a:srgbClr val="2E5AAC"/>
          </a:solidFill>
          <a:ln/>
        </p:spPr>
      </p:sp>
      <p:sp>
        <p:nvSpPr>
          <p:cNvPr id="9" name="Shape 6"/>
          <p:cNvSpPr/>
          <p:nvPr/>
        </p:nvSpPr>
        <p:spPr>
          <a:xfrm rot="10800000">
            <a:off x="5327752" y="5029200"/>
            <a:ext cx="402336" cy="640080"/>
          </a:xfrm>
          <a:prstGeom prst="triangle">
            <a:avLst/>
          </a:prstGeom>
          <a:solidFill>
            <a:srgbClr val="00A79D"/>
          </a:solidFill>
          <a:ln/>
        </p:spPr>
      </p:sp>
      <p:sp>
        <p:nvSpPr>
          <p:cNvPr id="10" name="Shape 7"/>
          <p:cNvSpPr/>
          <p:nvPr/>
        </p:nvSpPr>
        <p:spPr>
          <a:xfrm>
            <a:off x="5711800" y="5029200"/>
            <a:ext cx="402336" cy="640080"/>
          </a:xfrm>
          <a:prstGeom prst="triangle">
            <a:avLst/>
          </a:prstGeom>
          <a:solidFill>
            <a:srgbClr val="E8833A"/>
          </a:solidFill>
          <a:ln/>
        </p:spPr>
      </p:sp>
      <p:sp>
        <p:nvSpPr>
          <p:cNvPr id="11" name="Shape 8"/>
          <p:cNvSpPr/>
          <p:nvPr/>
        </p:nvSpPr>
        <p:spPr>
          <a:xfrm rot="10800000">
            <a:off x="6095848" y="5029200"/>
            <a:ext cx="402336" cy="640080"/>
          </a:xfrm>
          <a:prstGeom prst="triangle">
            <a:avLst/>
          </a:prstGeom>
          <a:solidFill>
            <a:srgbClr val="6C4FA1"/>
          </a:solidFill>
          <a:ln/>
        </p:spPr>
      </p:sp>
      <p:sp>
        <p:nvSpPr>
          <p:cNvPr id="12" name="Shape 9"/>
          <p:cNvSpPr/>
          <p:nvPr/>
        </p:nvSpPr>
        <p:spPr>
          <a:xfrm>
            <a:off x="6479896" y="5029200"/>
            <a:ext cx="402336" cy="640080"/>
          </a:xfrm>
          <a:prstGeom prst="triangle">
            <a:avLst/>
          </a:prstGeom>
          <a:solidFill>
            <a:srgbClr val="3FAE5A"/>
          </a:solidFill>
          <a:ln/>
        </p:spPr>
      </p:sp>
      <p:sp>
        <p:nvSpPr>
          <p:cNvPr id="13" name="Shape 10"/>
          <p:cNvSpPr/>
          <p:nvPr/>
        </p:nvSpPr>
        <p:spPr>
          <a:xfrm rot="10800000">
            <a:off x="6863944" y="5029200"/>
            <a:ext cx="402336" cy="640080"/>
          </a:xfrm>
          <a:prstGeom prst="triangle">
            <a:avLst/>
          </a:prstGeom>
          <a:solidFill>
            <a:srgbClr val="29ABE2"/>
          </a:solidFill>
          <a:ln/>
        </p:spPr>
      </p:sp>
      <p:sp>
        <p:nvSpPr>
          <p:cNvPr id="14" name="Text 11"/>
          <p:cNvSpPr/>
          <p:nvPr/>
        </p:nvSpPr>
        <p:spPr>
          <a:xfrm>
            <a:off x="914400" y="6217920"/>
            <a:ext cx="10362895" cy="365760"/>
          </a:xfrm>
          <a:prstGeom prst="rect">
            <a:avLst/>
          </a:prstGeom>
          <a:noFill/>
          <a:ln/>
        </p:spPr>
        <p:txBody>
          <a:bodyPr wrap="square" rtlCol="0" anchor="ctr"/>
          <a:lstStyle/>
          <a:p>
            <a:pPr algn="ctr" indent="0" marL="0">
              <a:buNone/>
            </a:pPr>
            <a:r>
              <a:rPr lang="en-US" sz="1100" b="1" dirty="0">
                <a:solidFill>
                  <a:srgbClr val="8091B5"/>
                </a:solidFill>
                <a:latin typeface="Arial" pitchFamily="34" charset="0"/>
                <a:ea typeface="Arial" pitchFamily="34" charset="-122"/>
                <a:cs typeface="Arial" pitchFamily="34" charset="-120"/>
              </a:rPr>
              <a:t>SDAIA Academy  ·  SDA-DSC-112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vector>
  </TitlesOfParts>
  <Company>SDAIA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and Storytelling</dc:title>
  <dc:subject>PptxGenJS Presentation</dc:subject>
  <dc:creator>SDAIA Academy</dc:creator>
  <cp:lastModifiedBy>SDAIA Academy</cp:lastModifiedBy>
  <cp:revision>1</cp:revision>
  <dcterms:created xsi:type="dcterms:W3CDTF">2026-07-15T16:02:02Z</dcterms:created>
  <dcterms:modified xsi:type="dcterms:W3CDTF">2026-07-15T16:02:02Z</dcterms:modified>
</cp:coreProperties>
</file>