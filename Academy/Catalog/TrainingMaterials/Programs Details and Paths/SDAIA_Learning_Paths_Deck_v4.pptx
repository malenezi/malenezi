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285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937760" cy="4937760"/>
          </a:xfrm>
          <a:prstGeom prst="roundRect">
            <a:avLst>
              <a:gd name="adj" fmla="val 11111"/>
            </a:avLst>
          </a:prstGeom>
          <a:solidFill>
            <a:srgbClr val="1C355E"/>
          </a:solidFill>
          <a:ln w="15875">
            <a:solidFill>
              <a:srgbClr val="2E4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822960"/>
            <a:ext cx="4023360" cy="4023360"/>
          </a:xfrm>
          <a:prstGeom prst="roundRect">
            <a:avLst>
              <a:gd name="adj" fmla="val 11364"/>
            </a:avLst>
          </a:prstGeom>
          <a:solidFill>
            <a:srgbClr val="1C355E"/>
          </a:solidFill>
          <a:ln w="15875">
            <a:solidFill>
              <a:srgbClr val="3D55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365760"/>
            <a:ext cx="3108960" cy="3108960"/>
          </a:xfrm>
          <a:prstGeom prst="roundRect">
            <a:avLst>
              <a:gd name="adj" fmla="val 11765"/>
            </a:avLst>
          </a:prstGeom>
          <a:solidFill>
            <a:srgbClr val="1C355E"/>
          </a:solidFill>
          <a:ln w="15875">
            <a:solidFill>
              <a:srgbClr val="4C66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Modular Stackable Learning Paths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مسارات التعلم المعيارية القابلة للتكديس</a:t>
            </a:r>
            <a:endParaRPr lang="en-US" sz="3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One architecture — from workforce literacy to expert engineering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346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AI Engineer &amp; Data Scientist Professional Pathways  +  Beginner Modules for the Non-Technical Workforce   ·   Catalog v2 · 2026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10515600" cy="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526280"/>
            <a:ext cx="2628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41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22960" y="53675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Stackable modules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51860" y="4526280"/>
            <a:ext cx="2628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3+1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451860" y="53675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National levels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51860" y="4690872"/>
            <a:ext cx="0" cy="86868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4526280"/>
            <a:ext cx="2628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710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080760" y="53675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Learning hours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80760" y="4690872"/>
            <a:ext cx="0" cy="86868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09660" y="4526280"/>
            <a:ext cx="2628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12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8709660" y="53675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Credentials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709660" y="4690872"/>
            <a:ext cx="0" cy="86868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5D091FA-D96A-66AE-DDDF-F2617ADD2064}"/>
              </a:ext>
            </a:extLst>
          </p:cNvPr>
          <p:cNvSpPr/>
          <p:nvPr/>
        </p:nvSpPr>
        <p:spPr>
          <a:xfrm>
            <a:off x="228601" y="88053"/>
            <a:ext cx="2560320" cy="7755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rkazi Text" pitchFamily="2" charset="-78"/>
              <a:cs typeface="Markazi Text" pitchFamily="2" charset="-78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7170525-43CA-716C-7CEF-8F3B38A0F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13" y="169335"/>
            <a:ext cx="2401147" cy="587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One Architecture, Every Audience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 single competency ladder — from everyday AI literacy to national-scale expertise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2139696" cy="1600200"/>
          </a:xfrm>
          <a:prstGeom prst="roundRect">
            <a:avLst>
              <a:gd name="adj" fmla="val 3429"/>
            </a:avLst>
          </a:prstGeom>
          <a:solidFill>
            <a:srgbClr val="F4F7FB"/>
          </a:solidFill>
          <a:ln w="12700">
            <a:solidFill>
              <a:srgbClr val="C9D5E6"/>
            </a:solidFill>
            <a:prstDash val="solid"/>
          </a:ln>
          <a:effectLst>
            <a:outerShdw blurRad="76200" dist="25400" dir="5400000" algn="bl" rotWithShape="0">
              <a:srgbClr val="1C355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443484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L01 · General Workforce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0976" y="487375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491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الثقافة والإتقان العام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521208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10 standalone modules · no technical background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17520" y="3776472"/>
            <a:ext cx="2139696" cy="2167128"/>
          </a:xfrm>
          <a:prstGeom prst="roundRect">
            <a:avLst>
              <a:gd name="adj" fmla="val 2564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  <a:effectLst>
            <a:outerShdw blurRad="76200" dist="25400" dir="5400000" algn="bl" rotWithShape="0">
              <a:srgbClr val="1C355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45536" y="386791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Foundation Core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45536" y="43068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491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النواة التأسيسية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45536" y="464515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5 modules · 17 days · open entry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12080" y="3209544"/>
            <a:ext cx="2139696" cy="2734056"/>
          </a:xfrm>
          <a:prstGeom prst="roundRect">
            <a:avLst>
              <a:gd name="adj" fmla="val 2564"/>
            </a:avLst>
          </a:prstGeom>
          <a:solidFill>
            <a:srgbClr val="CBD9EC"/>
          </a:solidFill>
          <a:ln w="12700">
            <a:solidFill>
              <a:srgbClr val="CBD9EC"/>
            </a:solidFill>
            <a:prstDash val="solid"/>
          </a:ln>
          <a:effectLst>
            <a:outerShdw blurRad="76200" dist="25400" dir="5400000" algn="bl" rotWithShape="0">
              <a:srgbClr val="1C355E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40096" y="3300984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Practitioner · ممارس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0096" y="373989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491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Level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0096" y="4078224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Contributes under guidance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2642616"/>
            <a:ext cx="2139696" cy="3300984"/>
          </a:xfrm>
          <a:prstGeom prst="roundRect">
            <a:avLst>
              <a:gd name="adj" fmla="val 2564"/>
            </a:avLst>
          </a:prstGeom>
          <a:solidFill>
            <a:srgbClr val="8AA3C8"/>
          </a:solidFill>
          <a:ln w="12700">
            <a:solidFill>
              <a:srgbClr val="8AA3C8"/>
            </a:solidFill>
            <a:prstDash val="solid"/>
          </a:ln>
          <a:effectLst>
            <a:outerShdw blurRad="76200" dist="25400" dir="5400000" algn="bl" rotWithShape="0">
              <a:srgbClr val="1C355E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34656" y="2734056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Specialist · متخصص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34656" y="317296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EC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Level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34656" y="3511296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EBF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Delivers production workloads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0" y="2075688"/>
            <a:ext cx="2139696" cy="3867912"/>
          </a:xfrm>
          <a:prstGeom prst="roundRect">
            <a:avLst>
              <a:gd name="adj" fmla="val 2564"/>
            </a:avLst>
          </a:prstGeom>
          <a:solidFill>
            <a:srgbClr val="1C355E"/>
          </a:solidFill>
          <a:ln w="12700">
            <a:solidFill>
              <a:srgbClr val="1C355E"/>
            </a:solidFill>
            <a:prstDash val="solid"/>
          </a:ln>
          <a:effectLst>
            <a:outerShdw blurRad="76200" dist="25400" dir="5400000" algn="bl" rotWithShape="0">
              <a:srgbClr val="1C355E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29216" y="216712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Expert · خبير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29216" y="260604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EC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Level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29216" y="294436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EBF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Architects &amp; leads · panel capstone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Everyday users</a:t>
            </a:r>
            <a:r>
              <a:rPr lang="en-US" sz="1600" b="1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   →   </a:t>
            </a:r>
            <a:r>
              <a:rPr lang="en-US" sz="16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Technical professionals</a:t>
            </a:r>
            <a:r>
              <a:rPr lang="en-US" sz="1600" b="1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   →   </a:t>
            </a:r>
            <a:r>
              <a:rPr lang="en-US" sz="16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National-scale experts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2148840"/>
            <a:ext cx="4517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Badges never expire and carry forward —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every step stacks toward the next credential.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DESIGN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Redesign Approach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From fixed programs to a competency-based, modular, stackable architecture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06654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64992" y="1892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01</a:t>
            </a:r>
            <a:endParaRPr lang="en-US" sz="2600" dirty="0">
              <a:solidFill>
                <a:srgbClr val="1C355E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262432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Backward Design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3026664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Measurable Bloom-aligned outcomes drive content and assessment in every module.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25112" y="169164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53712" y="1920240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06654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41464" y="1892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02</a:t>
            </a:r>
            <a:endParaRPr lang="en-US" sz="2600" dirty="0">
              <a:solidFill>
                <a:srgbClr val="1C355E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4553712" y="262432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Modular &amp; Stackable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553712" y="3026664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Every module = 2–5 days × 5 hours; standalone value, stacks into certificates.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101584" y="169164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30184" y="1920240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206654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17936" y="1892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03</a:t>
            </a:r>
            <a:endParaRPr lang="en-US" sz="2600" dirty="0">
              <a:solidFill>
                <a:srgbClr val="1C355E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8330184" y="262432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Competency Levels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330184" y="3026664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Practitioner → Specialist → Expert, aligned with the SDAIA national classification.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48640" y="406908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7240" y="4297680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44398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364992" y="4270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04</a:t>
            </a:r>
            <a:endParaRPr lang="en-US" sz="2600" dirty="0">
              <a:solidFill>
                <a:srgbClr val="1C355E"/>
              </a:solidFill>
            </a:endParaRPr>
          </a:p>
        </p:txBody>
      </p:sp>
      <p:sp>
        <p:nvSpPr>
          <p:cNvPr id="27" name="Text 21"/>
          <p:cNvSpPr/>
          <p:nvPr/>
        </p:nvSpPr>
        <p:spPr>
          <a:xfrm>
            <a:off x="777240" y="500176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Project-Based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777240" y="5404104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40%+ hands-on labs; both tracks conclude with panel-assessed capstones.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4325112" y="406908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53712" y="4297680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4443984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41464" y="4270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05</a:t>
            </a:r>
            <a:endParaRPr lang="en-US" sz="2600" dirty="0">
              <a:solidFill>
                <a:srgbClr val="1C355E"/>
              </a:solidFill>
            </a:endParaRPr>
          </a:p>
        </p:txBody>
      </p:sp>
      <p:sp>
        <p:nvSpPr>
          <p:cNvPr id="33" name="Text 26"/>
          <p:cNvSpPr/>
          <p:nvPr/>
        </p:nvSpPr>
        <p:spPr>
          <a:xfrm>
            <a:off x="4553712" y="500176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Industry-Aligned</a:t>
            </a:r>
            <a:endParaRPr lang="en-US" sz="2200" dirty="0"/>
          </a:p>
        </p:txBody>
      </p:sp>
      <p:sp>
        <p:nvSpPr>
          <p:cNvPr id="34" name="Text 27"/>
          <p:cNvSpPr/>
          <p:nvPr/>
        </p:nvSpPr>
        <p:spPr>
          <a:xfrm>
            <a:off x="4553712" y="5404104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GenAI engineering, RAG, agentic AI, MLOps/LLMOps, Lakehouse, causal inference.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8101584" y="406908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330184" y="4297680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4443984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917936" y="4270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06</a:t>
            </a:r>
            <a:endParaRPr lang="en-US" sz="2600" dirty="0">
              <a:solidFill>
                <a:srgbClr val="1C355E"/>
              </a:solidFill>
            </a:endParaRPr>
          </a:p>
        </p:txBody>
      </p:sp>
      <p:sp>
        <p:nvSpPr>
          <p:cNvPr id="39" name="Text 31"/>
          <p:cNvSpPr/>
          <p:nvPr/>
        </p:nvSpPr>
        <p:spPr>
          <a:xfrm>
            <a:off x="8330184" y="500176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Governed &amp; Scalable</a:t>
            </a:r>
            <a:endParaRPr lang="en-US" sz="2200" dirty="0"/>
          </a:p>
        </p:txBody>
      </p:sp>
      <p:sp>
        <p:nvSpPr>
          <p:cNvPr id="40" name="Text 32"/>
          <p:cNvSpPr/>
          <p:nvPr/>
        </p:nvSpPr>
        <p:spPr>
          <a:xfrm>
            <a:off x="8330184" y="5404104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PDPL/NDMO compliance built-in; coding scheme absorbs future tracks.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COMPETENCY LADDER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Three National Levels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Aligned with the SDAIA Academy target-audience classification methodology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E5EDF7"/>
          </a:solidFill>
          <a:ln/>
          <a:effectLst>
            <a:outerShdw blurRad="101600" dist="25400" dir="5400000" algn="bl" rotWithShape="0">
              <a:srgbClr val="1C355E">
                <a:alpha val="14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4825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48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LEVEL 1</a:t>
            </a:r>
            <a:endParaRPr lang="en-US" sz="1400" dirty="0">
              <a:solidFill>
                <a:srgbClr val="1C355E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46304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Practitioner · ممارس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41248" y="2971800"/>
            <a:ext cx="2935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Entry tier. Core technical and functional fluency for professionals and graduates.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41248" y="4343400"/>
            <a:ext cx="2935224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448056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EXIT PROFILE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1248" y="4736592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Contributes to AI/data work under guidance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087368" y="33375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4389120" y="17373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B9CBE4"/>
          </a:solidFill>
          <a:ln/>
          <a:effectLst>
            <a:outerShdw blurRad="101600" dist="25400" dir="5400000" algn="bl" rotWithShape="0">
              <a:srgbClr val="1C355E">
                <a:alpha val="14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048256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2048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LEVEL 2</a:t>
            </a:r>
            <a:endParaRPr lang="en-US" sz="1400" dirty="0">
              <a:solidFill>
                <a:srgbClr val="1C355E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530352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Specialist · متخصص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4681728" y="2971800"/>
            <a:ext cx="2935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Mid tier. Intermediate skills applied to real delivery of models, pipelines, and GenAI apps.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4681728" y="4343400"/>
            <a:ext cx="2935224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81728" y="448056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EXIT PROFILE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681728" y="4736592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Delivers production workloads independently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927848" y="33375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8229600" y="17373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1C355E"/>
          </a:solidFill>
          <a:ln/>
          <a:effectLst>
            <a:outerShdw blurRad="101600" dist="25400" dir="5400000" algn="bl" rotWithShape="0">
              <a:srgbClr val="1C355E">
                <a:alpha val="14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048256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44000" y="2048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LEVEL 3</a:t>
            </a:r>
            <a:endParaRPr lang="en-US" sz="1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6" name="Text 21"/>
          <p:cNvSpPr/>
          <p:nvPr/>
        </p:nvSpPr>
        <p:spPr>
          <a:xfrm>
            <a:off x="914400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Expert · خبير</a:t>
            </a:r>
            <a:endParaRPr lang="en-US" sz="2300" dirty="0"/>
          </a:p>
        </p:txBody>
      </p:sp>
      <p:sp>
        <p:nvSpPr>
          <p:cNvPr id="27" name="Text 22"/>
          <p:cNvSpPr/>
          <p:nvPr/>
        </p:nvSpPr>
        <p:spPr>
          <a:xfrm>
            <a:off x="8522208" y="2971800"/>
            <a:ext cx="2935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3EBF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Top tier. Architects, secures, optimises, and operates national-scale systems; leads teams.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8522208" y="4343400"/>
            <a:ext cx="2935224" cy="0"/>
          </a:xfrm>
          <a:prstGeom prst="line">
            <a:avLst/>
          </a:prstGeom>
          <a:noFill/>
          <a:ln w="15875">
            <a:solidFill>
              <a:srgbClr val="3D558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522208" y="448056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EXIT PROFILE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8522208" y="4736592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Panel-defended capstone and leadership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i="1" dirty="0">
                <a:solidFill>
                  <a:srgbClr val="4A6491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Each level closes with a stackable certificate; badges earned never expire and carry forward.</a:t>
            </a:r>
            <a:endParaRPr lang="en-US" sz="1650" dirty="0"/>
          </a:p>
        </p:txBody>
      </p:sp>
      <p:sp>
        <p:nvSpPr>
          <p:cNvPr id="32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Learning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One shared foundation feeding two role-based professional tracks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C355E"/>
          </a:solidFill>
          <a:ln/>
          <a:effectLst>
            <a:outerShdw blurRad="76200" dist="25400" dir="5400000" algn="bl" rotWithShape="0">
              <a:srgbClr val="1C355E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Foundation Core</a:t>
            </a:r>
            <a:r>
              <a:rPr lang="en-US" sz="1700" dirty="0">
                <a:solidFill>
                  <a:srgbClr val="AFC3E3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   ·   5 modules · 17 days   ·   النواة التأسيسية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1762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E6F3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AI &amp; Data Literacy  ·  GenAI &amp; Prompting  ·  Python  ·  Data Wrangling &amp; SQL  ·  Responsible AI &amp; Governance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91840" y="2697480"/>
            <a:ext cx="0" cy="32004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869680" y="2697480"/>
            <a:ext cx="0" cy="32004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06324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EDF2F9"/>
          </a:solidFill>
          <a:ln/>
          <a:effectLst>
            <a:outerShdw blurRad="76200" dist="25400" dir="5400000" algn="bl" rotWithShape="0">
              <a:srgbClr val="1C355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32095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AI Engineer Track</a:t>
            </a:r>
            <a:r>
              <a:rPr lang="en-US" sz="1700" dirty="0">
                <a:solidFill>
                  <a:srgbClr val="4A6491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  ·  مهندس الذكاء الاصطناعي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343400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15 modules · 55 days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4672" y="3749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Practitioner (3)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31720" y="37490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Applied ML · Deep Learning · SW Engineering for AI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4672" y="4370832"/>
            <a:ext cx="4974336" cy="0"/>
          </a:xfrm>
          <a:prstGeom prst="line">
            <a:avLst/>
          </a:prstGeom>
          <a:noFill/>
          <a:ln w="9525">
            <a:solidFill>
              <a:srgbClr val="C9D5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44398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Specialist (6)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331720" y="444398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NLP · Vision · LLM Apps · RAG · Fine-Tuning · MLOps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672" y="5065776"/>
            <a:ext cx="4974336" cy="0"/>
          </a:xfrm>
          <a:prstGeom prst="line">
            <a:avLst/>
          </a:prstGeom>
          <a:noFill/>
          <a:ln w="9525">
            <a:solidFill>
              <a:srgbClr val="C9D5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1389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Expert (6)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331720" y="51389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Agentic AI · LLMOps · Security · Optimization · Architecture · Capstone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53912" y="306324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EDF2F9"/>
          </a:solidFill>
          <a:ln/>
          <a:effectLst>
            <a:outerShdw blurRad="76200" dist="25400" dir="5400000" algn="bl" rotWithShape="0">
              <a:srgbClr val="1C355E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9944" y="32095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Data Scientist Track</a:t>
            </a:r>
            <a:r>
              <a:rPr lang="en-US" sz="1700" dirty="0">
                <a:solidFill>
                  <a:srgbClr val="4A6491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  ·  عالم البيانات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948672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11 modules · 39 days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9944" y="3749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Practitioner (2)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36992" y="37490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Statistics · Visualization &amp; Storytelling (+ Applied ML cross-listed)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9944" y="4370832"/>
            <a:ext cx="4974336" cy="0"/>
          </a:xfrm>
          <a:prstGeom prst="line">
            <a:avLst/>
          </a:prstGeom>
          <a:noFill/>
          <a:ln w="9525">
            <a:solidFill>
              <a:srgbClr val="C9D5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9944" y="444398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Specialist (5)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36992" y="444398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Advanced ML · Time Series · Experimentation &amp; Causal · Data Engineering · Spark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09944" y="5065776"/>
            <a:ext cx="4974336" cy="0"/>
          </a:xfrm>
          <a:prstGeom prst="line">
            <a:avLst/>
          </a:prstGeom>
          <a:noFill/>
          <a:ln w="9525">
            <a:solidFill>
              <a:srgbClr val="C9D5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51389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Expert (4)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36992" y="51389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Decision Science · GenAI Workflows · Streaming · Capstone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8640" y="59618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Cross-listing:  </a:t>
            </a:r>
            <a:r>
              <a:rPr lang="en-US" sz="1600" i="1" dirty="0">
                <a:solidFill>
                  <a:srgbClr val="4A6491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Applied ML Foundations (SDA-AIE-111) counts toward both tracks — no duplicated teaching.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TRACK 1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AI Engineer Track — Module Portfolio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15 modules from applied ML to agentic AI systems — 55 training days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91672" cy="47548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CODE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MODULE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LEVEL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DAYS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FOCUS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SDA-AIE-111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Applied Machine Learning Foundations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Practitioner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5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ML problem framing and workflow design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SDA-AIE-112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Deep Learning Essentials with PyTorch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Practitioner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4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Neural networks, activations, and backpropagation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SDA-AIE-113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Software Engineering Practices for AI Systems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Practitioner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Structuring AI projects and clean architecture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SDA-AIE-211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Natural Language Processing with Transformers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Specialist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4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Text processing, tokenisation, and embeddings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SDA-AIE-212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Computer Vision Systems Development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Specialist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4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Image data, preprocessing, and augmentation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SDA-AIE-213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Large Language Model Application Engineering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Specialist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4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LLM application architecture patterns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SDA-AIE-214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Building Retrieval-Augmented Generation Systems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Specialist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4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RAG architecture vs fine-tuning: when to use each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SDA-AIE-215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Fine-Tuning and Adapting Foundation Models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Specialist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Adaptation strategy: prompt vs RAG vs fine-tune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SDA-AIE-216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MLOps: Model Deployment and Automation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Specialist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5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MLOps maturity model and system architecture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SDA-AIE-311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Agentic AI Systems Engineering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Expert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5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Agentic system architectures and components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SDA-AIE-312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LLMOps and Production AI Observability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Expert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4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From MLOps to LLMOps: what changes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SDA-AIE-313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AI Security, Guardrails and Red Teaming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Expert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AI threat landscape and OWASP LLM Top-10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SDA-AIE-314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AI Performance, Scalability and Cost Optimization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Expert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Performance profiling of inference workloads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SDA-AIE-315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Enterprise AI Solution Architecture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Expert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AI solution architecture lifecycle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SDA-AIE-390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AI Engineering Capstone: Production GenAI System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Expert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5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Project scoping and requirements engineering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</a:t>
            </a:r>
            <a:endParaRPr lang="en-US" sz="1100" dirty="0"/>
          </a:p>
        </p:txBody>
      </p:sp>
      <p:sp>
        <p:nvSpPr>
          <p:cNvPr id="5" name="Text 4"/>
          <p:cNvSpPr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TRACK 2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Data Scientist Track — Module Portfolio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11 modules from statistics to streaming analytics — 39 training days</a:t>
            </a:r>
            <a:endParaRPr lang="en-US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69392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CODE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MODULE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LEVEL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DAYS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FOCUS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SDA-DSC-111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Statistical Foundations for Data Science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Practitioner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4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Probability and common distributions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SDA-DSC-112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Data Visualization and Storytelling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Practitioner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Perception science and visual encoding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SDA-DSC-211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Advanced Machine Learning Methods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Specialist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4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Gradient boosting deep dive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SDA-DSC-212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Time Series Analysis and Forecasting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Specialist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Time-series structure and decomposition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SDA-DSC-213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Experimentation, A/B Testing and Causal Inference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Specialist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4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Causal thinking and potential outcomes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SDA-DSC-214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Modern Data Engineering for AI Systems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Specialist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5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Warehouse, lake, Lakehouse: evolution of data architecture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SDA-DSC-215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Big Data Analytics with Spark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C355E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Specialist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Distributed computing fundamentals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SDA-DSC-311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Decision Science and Optimization Modeling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Expert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From predictive to prescriptive analytics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SDA-DSC-312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GenAI-Augmented Data Science Workflows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Expert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AI-assisted coding and analysis patterns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SDA-DSC-313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Real-Time and Streaming Data Analytics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Expert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Streaming architecture and event-driven design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SDA-DSC-390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Data Science Capstone: From Data to Decision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Expert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5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8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Problem framing and scoping workshop</a:t>
                      </a:r>
                      <a:endParaRPr lang="en-US" sz="13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ENTRY &amp; ANCHORS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Foundation Core &amp; Flagship Modules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Open entry for all professionals; two existing programmes absorbed as flagships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FOUNDATION CORE — 17 DAYS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669280" cy="2852928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CODE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MODULE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DAYS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SDA-FND-101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AI and Data Literacy for Professionals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2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SDA-FND-102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Generative AI and Prompt Engineering Essentials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2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SDA-FND-103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Python Programming for Data and AI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5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SDA-FND-104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Data Wrangling, SQL and Exploratory Analysis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5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SDA-FND-105</a:t>
                      </a:r>
                      <a:endParaRPr lang="en-US" sz="13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Responsible AI and Data Governance</a:t>
                      </a:r>
                      <a:endParaRPr lang="en-US" sz="14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691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FLAGSHIP MODULES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37960" y="2011680"/>
            <a:ext cx="5102352" cy="1965960"/>
          </a:xfrm>
          <a:prstGeom prst="roundRect">
            <a:avLst>
              <a:gd name="adj" fmla="val 3721"/>
            </a:avLst>
          </a:prstGeom>
          <a:solidFill>
            <a:srgbClr val="1C355E"/>
          </a:solidFill>
          <a:ln/>
          <a:effectLst>
            <a:outerShdw blurRad="76200" dist="25400" dir="5400000" algn="bl" rotWithShape="0">
              <a:srgbClr val="1C355E">
                <a:alpha val="13000"/>
              </a:srgbClr>
            </a:outerShdw>
          </a:effectLst>
        </p:spPr>
      </p:sp>
      <p:sp>
        <p:nvSpPr>
          <p:cNvPr id="6" name="Text 6"/>
          <p:cNvSpPr/>
          <p:nvPr/>
        </p:nvSpPr>
        <p:spPr>
          <a:xfrm>
            <a:off x="6784848" y="213969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SDA-AIE-311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84848" y="23957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Agentic AI Systems Engineering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784848" y="277977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3E3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5 days · Expert · from “Advanced Agentic AI Systems”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84848" y="309067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3EBF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ReAct, Plan-and-Execute, Reflection, multi-agent orchestration, MCP integration, guardrails, red teaming — closing with a deployed enterprise capstone.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37960" y="4160520"/>
            <a:ext cx="5102352" cy="1965960"/>
          </a:xfrm>
          <a:prstGeom prst="roundRect">
            <a:avLst>
              <a:gd name="adj" fmla="val 3721"/>
            </a:avLst>
          </a:prstGeom>
          <a:solidFill>
            <a:srgbClr val="EDF2F9"/>
          </a:solidFill>
          <a:ln/>
          <a:effectLst>
            <a:outerShdw blurRad="76200" dist="25400" dir="5400000" algn="bl" rotWithShape="0">
              <a:srgbClr val="1C355E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84848" y="42885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SDA-DSC-214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784848" y="454456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Modern Data Engineering for AI Systems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784848" y="492861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491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5 days · Specialist · from “Modern Data Engineering”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84848" y="523951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Lakehouse architecture, Delta Lake &amp; ACID, ELT, streaming, data quality and governance — with a hands-on Mini-Lakehouse build.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48640" y="51206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4A6491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Foundation modules are open to all professionals — no prerequisites; completing the core unlocks both professional tracks.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CREDENTIALS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Stackable Certification Pathways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Badges → level certificates → professional certificates → micro-specializations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60320" cy="1554480"/>
          </a:xfrm>
          <a:prstGeom prst="roundRect">
            <a:avLst>
              <a:gd name="adj" fmla="val 5294"/>
            </a:avLst>
          </a:prstGeom>
          <a:solidFill>
            <a:srgbClr val="E5EDF7"/>
          </a:solidFill>
          <a:ln/>
          <a:effectLst>
            <a:outerShdw blurRad="76200" dist="25400" dir="5400000" algn="bl" rotWithShape="0">
              <a:srgbClr val="1C355E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4767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Foundations Certificate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3232" y="280720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6491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17 days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90672" y="22860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92424" y="1783080"/>
            <a:ext cx="2560320" cy="1554480"/>
          </a:xfrm>
          <a:prstGeom prst="roundRect">
            <a:avLst>
              <a:gd name="adj" fmla="val 5294"/>
            </a:avLst>
          </a:prstGeom>
          <a:solidFill>
            <a:srgbClr val="CBD9EC"/>
          </a:solidFill>
          <a:ln/>
          <a:effectLst>
            <a:outerShdw blurRad="76200" dist="25400" dir="5400000" algn="bl" rotWithShape="0">
              <a:srgbClr val="1C355E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57016" y="194767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Practitioner Certificate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57016" y="280720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6491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29 days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34456" y="22860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36208" y="1783080"/>
            <a:ext cx="2560320" cy="1554480"/>
          </a:xfrm>
          <a:prstGeom prst="roundRect">
            <a:avLst>
              <a:gd name="adj" fmla="val 5294"/>
            </a:avLst>
          </a:prstGeom>
          <a:solidFill>
            <a:srgbClr val="8AA3C8"/>
          </a:solidFill>
          <a:ln/>
          <a:effectLst>
            <a:outerShdw blurRad="76200" dist="25400" dir="5400000" algn="bl" rotWithShape="0">
              <a:srgbClr val="1C355E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94767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Specialist Certificate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0" y="280720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6EC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45 days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0" y="22860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079992" y="1783080"/>
            <a:ext cx="2560320" cy="1554480"/>
          </a:xfrm>
          <a:prstGeom prst="roundRect">
            <a:avLst>
              <a:gd name="adj" fmla="val 5294"/>
            </a:avLst>
          </a:prstGeom>
          <a:solidFill>
            <a:srgbClr val="1C355E"/>
          </a:solidFill>
          <a:ln/>
          <a:effectLst>
            <a:outerShdw blurRad="76200" dist="25400" dir="5400000" algn="bl" rotWithShape="0">
              <a:srgbClr val="1C355E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44584" y="194767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Expert Professional Certificate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244584" y="280720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6EC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59–65 days incl. capstone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MICRO-SPECIALIZATIONS — STACK ACROSS LEVELS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EDF2F9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0624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31520" y="46451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GenAI Engineering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731520" y="50840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LLM Apps + RAG + Fine-Tuning + Agentic AI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784348" y="402336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EDF2F9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28" y="4206240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967228" y="46451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MLOps &amp; AI Reliability</a:t>
            </a:r>
            <a:endParaRPr lang="en-US" sz="1650" dirty="0"/>
          </a:p>
        </p:txBody>
      </p:sp>
      <p:sp>
        <p:nvSpPr>
          <p:cNvPr id="28" name="Text 24"/>
          <p:cNvSpPr/>
          <p:nvPr/>
        </p:nvSpPr>
        <p:spPr>
          <a:xfrm>
            <a:off x="2967228" y="50840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MLOps + LLMOps Observability + Optimization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5020056" y="402336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EDF2F9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2936" y="4206240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02936" y="46451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AI Security</a:t>
            </a:r>
            <a:endParaRPr lang="en-US" sz="1650" dirty="0"/>
          </a:p>
        </p:txBody>
      </p:sp>
      <p:sp>
        <p:nvSpPr>
          <p:cNvPr id="32" name="Text 27"/>
          <p:cNvSpPr/>
          <p:nvPr/>
        </p:nvSpPr>
        <p:spPr>
          <a:xfrm>
            <a:off x="5202936" y="50840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Governance + Security &amp; Red Teaming + Agentic AI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7255764" y="402336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EDF2F9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8644" y="4206240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438644" y="46451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Analytics &amp; Experimentation</a:t>
            </a:r>
            <a:endParaRPr lang="en-US" sz="1650" dirty="0"/>
          </a:p>
        </p:txBody>
      </p:sp>
      <p:sp>
        <p:nvSpPr>
          <p:cNvPr id="36" name="Text 30"/>
          <p:cNvSpPr/>
          <p:nvPr/>
        </p:nvSpPr>
        <p:spPr>
          <a:xfrm>
            <a:off x="7438644" y="50840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Time Series + Causal Inference + Decision Science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9491472" y="402336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EDF2F9"/>
          </a:solidFill>
          <a:ln/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4352" y="4206240"/>
            <a:ext cx="365760" cy="36576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674352" y="46451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Data Engineering for AI</a:t>
            </a:r>
            <a:endParaRPr lang="en-US" sz="1650" dirty="0"/>
          </a:p>
        </p:txBody>
      </p:sp>
      <p:sp>
        <p:nvSpPr>
          <p:cNvPr id="40" name="Text 33"/>
          <p:cNvSpPr/>
          <p:nvPr/>
        </p:nvSpPr>
        <p:spPr>
          <a:xfrm>
            <a:off x="9674352" y="50840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Lakehouse + Spark + Streaming Analytics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548640" y="592531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Recognition of prior learning:  </a:t>
            </a:r>
            <a:r>
              <a:rPr lang="en-US" sz="1600" i="1" dirty="0">
                <a:solidFill>
                  <a:srgbClr val="4A6491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placement assessments allow direct entry at Specialist or Expert level.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BEFORE → AFTER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What Changed from the Current Catalog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Gap analysis outcomes built into the redesign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92808"/>
            <a:ext cx="512064" cy="512064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0208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92938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Standardised durations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532888"/>
            <a:ext cx="31363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All modules now 2–5 days × 5 hours — schedulable, stackable, budgetable. Multi-week programmes decomposed.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25112" y="169164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/>
        </p:spPr>
      </p:sp>
      <p:sp>
        <p:nvSpPr>
          <p:cNvPr id="11" name="Shape 8"/>
          <p:cNvSpPr/>
          <p:nvPr/>
        </p:nvSpPr>
        <p:spPr>
          <a:xfrm>
            <a:off x="4553712" y="1892808"/>
            <a:ext cx="512064" cy="512064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02082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21224" y="192938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Gaps closed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553712" y="2532888"/>
            <a:ext cx="31363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Added prompt engineering, LLM app engineering, fine-tuning/PEFT, AI security &amp; red teaming, LLMOps, streaming, decision science, solution architecture.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01584" y="169164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/>
        </p:spPr>
      </p:sp>
      <p:sp>
        <p:nvSpPr>
          <p:cNvPr id="16" name="Shape 12"/>
          <p:cNvSpPr/>
          <p:nvPr/>
        </p:nvSpPr>
        <p:spPr>
          <a:xfrm>
            <a:off x="8330184" y="1892808"/>
            <a:ext cx="512064" cy="512064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02082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97696" y="192938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Redundancy removed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330184" y="2532888"/>
            <a:ext cx="31363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Single shared Foundation Core; Applied ML cross-listed to both tracks instead of taught twice.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270248"/>
            <a:ext cx="512064" cy="512064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39826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44752" y="430682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Sequencing fixed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777240" y="4910328"/>
            <a:ext cx="31363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Explicit prerequisites and unlock chains; governance and security precede production deployment.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325112" y="406908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/>
        </p:spPr>
      </p:sp>
      <p:sp>
        <p:nvSpPr>
          <p:cNvPr id="26" name="Shape 20"/>
          <p:cNvSpPr/>
          <p:nvPr/>
        </p:nvSpPr>
        <p:spPr>
          <a:xfrm>
            <a:off x="4553712" y="4270248"/>
            <a:ext cx="512064" cy="512064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439826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21224" y="430682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Programmes absorbed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4553712" y="4910328"/>
            <a:ext cx="31363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Agentic AI Systems → SDA-AIE-311 (Expert flagship); Modern Data Engineering → SDA-DSC-214 (Specialist flagship) — objectives rewritten as measurable Bloom outcomes.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8101584" y="406908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/>
        </p:spPr>
      </p:sp>
      <p:sp>
        <p:nvSpPr>
          <p:cNvPr id="31" name="Shape 24"/>
          <p:cNvSpPr/>
          <p:nvPr/>
        </p:nvSpPr>
        <p:spPr>
          <a:xfrm>
            <a:off x="8330184" y="4270248"/>
            <a:ext cx="512064" cy="512064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439826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97696" y="430682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Assessment upgraded</a:t>
            </a:r>
            <a:endParaRPr lang="en-US" sz="2200" dirty="0"/>
          </a:p>
        </p:txBody>
      </p:sp>
      <p:sp>
        <p:nvSpPr>
          <p:cNvPr id="34" name="Text 26"/>
          <p:cNvSpPr/>
          <p:nvPr/>
        </p:nvSpPr>
        <p:spPr>
          <a:xfrm>
            <a:off x="8330184" y="4910328"/>
            <a:ext cx="31363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Every module ends in an applied artefact; both tracks close with panel-defended capstones.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3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937760" cy="4937760"/>
          </a:xfrm>
          <a:prstGeom prst="roundRect">
            <a:avLst>
              <a:gd name="adj" fmla="val 11111"/>
            </a:avLst>
          </a:prstGeom>
          <a:solidFill>
            <a:srgbClr val="1C355E"/>
          </a:solidFill>
          <a:ln w="15875">
            <a:solidFill>
              <a:srgbClr val="2E4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029200"/>
            <a:ext cx="4023360" cy="4023360"/>
          </a:xfrm>
          <a:prstGeom prst="roundRect">
            <a:avLst>
              <a:gd name="adj" fmla="val 11364"/>
            </a:avLst>
          </a:prstGeom>
          <a:solidFill>
            <a:srgbClr val="1C355E"/>
          </a:solidFill>
          <a:ln w="15875">
            <a:solidFill>
              <a:srgbClr val="3D55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EXTENDING THE ARCHITECTURE DOWN THE LADDER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298448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Beginner-Level Modules for the Non-Technical Workforce</a:t>
            </a:r>
            <a:endParaRPr lang="en-US" sz="47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الثقافة والإتقان العام — المستوى المبتدئ (L01)</a:t>
            </a:r>
            <a:endParaRPr lang="en-US" sz="28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CE6F3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Awareness · literacy · productivity · safe and responsible everyday use of AI and data — no programming, statistics, or IT background required.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10515600" cy="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09160"/>
            <a:ext cx="2628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22960" y="555040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Standalone modules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451860" y="4709160"/>
            <a:ext cx="2628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451860" y="555040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Tracks: AI + Data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51860" y="4873752"/>
            <a:ext cx="0" cy="86868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4709160"/>
            <a:ext cx="2628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130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080760" y="555040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Learning hours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0" y="4873752"/>
            <a:ext cx="0" cy="86868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09660" y="4709160"/>
            <a:ext cx="2628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26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709660" y="555040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Training days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709660" y="4873752"/>
            <a:ext cx="0" cy="86868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L01 · NON-TECHNICAL WORKFORCE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Design Rationale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منهجية التصميم — four commitments behind the beginner tier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9824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7510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214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29784" y="1938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01</a:t>
            </a:r>
            <a:endParaRPr lang="en-US" sz="2600" dirty="0">
              <a:solidFill>
                <a:srgbClr val="1C355E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536192" y="2029968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Audience-First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04672" y="26974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Zero technical background assumed — and it stays that way. Hands-on work uses everyday workplace tools; success is measured in workplace behavior, not technical skill.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181344" y="1737360"/>
            <a:ext cx="5449824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/>
        </p:spPr>
      </p:sp>
      <p:sp>
        <p:nvSpPr>
          <p:cNvPr id="12" name="Shape 9"/>
          <p:cNvSpPr/>
          <p:nvPr/>
        </p:nvSpPr>
        <p:spPr>
          <a:xfrm>
            <a:off x="6437376" y="197510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214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62488" y="1938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02</a:t>
            </a:r>
            <a:endParaRPr lang="en-US" sz="2600" dirty="0">
              <a:solidFill>
                <a:srgbClr val="1C355E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7168896" y="2029968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Standalone Containers, Not a Ladder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437376" y="26974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No module is a prerequisite for another. Employees take any module by job need, or several in any order, with light recommended pairings only.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548640" y="4114800"/>
            <a:ext cx="5449824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/>
        </p:spPr>
      </p:sp>
      <p:sp>
        <p:nvSpPr>
          <p:cNvPr id="18" name="Shape 14"/>
          <p:cNvSpPr/>
          <p:nvPr/>
        </p:nvSpPr>
        <p:spPr>
          <a:xfrm>
            <a:off x="804672" y="435254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49884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29784" y="4315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03</a:t>
            </a:r>
            <a:endParaRPr lang="en-US" sz="2600" dirty="0">
              <a:solidFill>
                <a:srgbClr val="1C355E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1536192" y="4407408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Container Flexibility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04672" y="50749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Outcomes are written at the competency level; named tools live at topic level — so tools, examples, and duration (±1 day) can be refreshed without re-approval.</a:t>
            </a: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6181344" y="4114800"/>
            <a:ext cx="5449824" cy="2148840"/>
          </a:xfrm>
          <a:prstGeom prst="roundRect">
            <a:avLst>
              <a:gd name="adj" fmla="val 3404"/>
            </a:avLst>
          </a:prstGeom>
          <a:solidFill>
            <a:srgbClr val="EDF2F9"/>
          </a:solidFill>
          <a:ln/>
        </p:spPr>
      </p:sp>
      <p:sp>
        <p:nvSpPr>
          <p:cNvPr id="24" name="Shape 19"/>
          <p:cNvSpPr/>
          <p:nvPr/>
        </p:nvSpPr>
        <p:spPr>
          <a:xfrm>
            <a:off x="6437376" y="4352544"/>
            <a:ext cx="566928" cy="566928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49884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762488" y="4315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04</a:t>
            </a:r>
            <a:endParaRPr lang="en-US" sz="2600" dirty="0">
              <a:solidFill>
                <a:srgbClr val="1C355E"/>
              </a:solidFill>
            </a:endParaRPr>
          </a:p>
        </p:txBody>
      </p:sp>
      <p:sp>
        <p:nvSpPr>
          <p:cNvPr id="27" name="Text 21"/>
          <p:cNvSpPr/>
          <p:nvPr/>
        </p:nvSpPr>
        <p:spPr>
          <a:xfrm>
            <a:off x="7168896" y="4407408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Catalog Fit — Tier 4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437376" y="50749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0182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The ten containers provide structure and depth to general mastery, integrating today's five short standalone courses into stable and enduring competency domains.</a:t>
            </a: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L01 · TRACK 1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AI Track — Five Modules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الذكاء الاصطناعي لعموم القوى العاملة</a:t>
            </a:r>
            <a:endParaRPr lang="en-US" sz="1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340156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3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CODE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MODULE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العنوان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DAYS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HRS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FAE</a:t>
                      </a:r>
                      <a:endParaRPr lang="en-US" sz="15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AI Essentials for the Workplace</a:t>
                      </a:r>
                      <a:endParaRPr lang="en-US" sz="16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أساسيات الذكاء الاصطناعي لبيئة العمل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2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10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FGP</a:t>
                      </a:r>
                      <a:endParaRPr lang="en-US" sz="15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Generative AI for Workplace Productivity</a:t>
                      </a:r>
                      <a:endParaRPr lang="en-US" sz="16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الذكاء الاصطناعي التوليدي لرفع الإنتاجية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15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FPE</a:t>
                      </a:r>
                      <a:endParaRPr lang="en-US" sz="15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Practical Prompt Engineering for Professionals</a:t>
                      </a:r>
                      <a:endParaRPr lang="en-US" sz="16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هندسة الأوامر العملية للمهنيين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2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10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FNA</a:t>
                      </a:r>
                      <a:endParaRPr lang="en-US" sz="15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No-Code AI: Automating Everyday Work</a:t>
                      </a:r>
                      <a:endParaRPr lang="en-US" sz="16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الأتمتة الذكية بدون برمجة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15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FRA</a:t>
                      </a:r>
                      <a:endParaRPr lang="en-US" sz="15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Safe &amp; Responsible AI Use in the Workplace</a:t>
                      </a:r>
                      <a:endParaRPr lang="en-US" sz="16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الاستخدام الآمن والمسؤول للذكاء الاصطناعي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2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10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91272" y="544068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1C355E"/>
          </a:solidFill>
          <a:ln/>
        </p:spPr>
      </p:sp>
      <p:sp>
        <p:nvSpPr>
          <p:cNvPr id="7" name="Text 4"/>
          <p:cNvSpPr/>
          <p:nvPr/>
        </p:nvSpPr>
        <p:spPr>
          <a:xfrm>
            <a:off x="7891272" y="54406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Track total:  12 days · 60 hours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L01 · TRACK 2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55E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Data Track — Five Modules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البيانات لعموم القوى العاملة</a:t>
            </a:r>
            <a:endParaRPr lang="en-US" sz="1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340156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3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CODE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MODULE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العنوان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DAYS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kern="0" spc="150" dirty="0">
                          <a:solidFill>
                            <a:srgbClr val="FFFFFF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HRS</a:t>
                      </a:r>
                      <a:endParaRPr lang="en-US" sz="14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FDL</a:t>
                      </a:r>
                      <a:endParaRPr lang="en-US" sz="15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Data Literacy Essentials</a:t>
                      </a:r>
                      <a:endParaRPr lang="en-US" sz="16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أساسيات الثقافة البيانية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2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10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FDS</a:t>
                      </a:r>
                      <a:endParaRPr lang="en-US" sz="15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Everyday Data Skills with Spreadsheets</a:t>
                      </a:r>
                      <a:endParaRPr lang="en-US" sz="16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مهارات البيانات اليومية بالجداول الإلكترونية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4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20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FDD</a:t>
                      </a:r>
                      <a:endParaRPr lang="en-US" sz="15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Data-Driven Decision Making</a:t>
                      </a:r>
                      <a:endParaRPr lang="en-US" sz="16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اتخاذ القرار المبني على البيانات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15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FDV</a:t>
                      </a:r>
                      <a:endParaRPr lang="en-US" sz="15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Dashboards &amp; Data Storytelling</a:t>
                      </a:r>
                      <a:endParaRPr lang="en-US" sz="16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لوحات المعلومات وسرد القصص البيانية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3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15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FDP</a:t>
                      </a:r>
                      <a:endParaRPr lang="en-US" sz="150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Data Protection &amp; Privacy (PDPL)</a:t>
                      </a:r>
                      <a:endParaRPr lang="en-US" sz="16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50" dirty="0">
                          <a:solidFill>
                            <a:srgbClr val="4A6491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حماية البيانات والخصوصية في بيئة العمل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2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01820"/>
                          </a:solidFill>
                          <a:latin typeface="Markazi Text" pitchFamily="34" charset="0"/>
                          <a:ea typeface="Markazi Text" pitchFamily="34" charset="-122"/>
                          <a:cs typeface="Markazi Text" pitchFamily="34" charset="-120"/>
                        </a:rPr>
                        <a:t>10</a:t>
                      </a:r>
                      <a:endParaRPr lang="en-US" sz="1550" dirty="0">
                        <a:latin typeface="Markazi Text" charset="0"/>
                        <a:ea typeface="Markazi Text" charset="0"/>
                        <a:cs typeface="Markazi Tex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91272" y="544068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1C355E"/>
          </a:solidFill>
          <a:ln/>
        </p:spPr>
      </p:sp>
      <p:sp>
        <p:nvSpPr>
          <p:cNvPr id="7" name="Text 4"/>
          <p:cNvSpPr/>
          <p:nvPr/>
        </p:nvSpPr>
        <p:spPr>
          <a:xfrm>
            <a:off x="7891272" y="54406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Track total:  14 days · 70 hours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B80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3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023360"/>
            <a:ext cx="4937760" cy="4937760"/>
          </a:xfrm>
          <a:prstGeom prst="roundRect">
            <a:avLst>
              <a:gd name="adj" fmla="val 11111"/>
            </a:avLst>
          </a:prstGeom>
          <a:solidFill>
            <a:srgbClr val="1C355E"/>
          </a:solidFill>
          <a:ln w="15875">
            <a:solidFill>
              <a:srgbClr val="2E4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572000"/>
            <a:ext cx="4023360" cy="4023360"/>
          </a:xfrm>
          <a:prstGeom prst="roundRect">
            <a:avLst>
              <a:gd name="adj" fmla="val 11364"/>
            </a:avLst>
          </a:prstGeom>
          <a:solidFill>
            <a:srgbClr val="1C355E"/>
          </a:solidFill>
          <a:ln w="15875">
            <a:solidFill>
              <a:srgbClr val="3D55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FULL PORTFOLIO AT A GLANCE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Portfolio at a Glance &amp; Next Steps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41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Modules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9260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142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926080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Training days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26080" y="2039112"/>
            <a:ext cx="0" cy="86868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710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5029200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Learning hours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0" y="2039112"/>
            <a:ext cx="0" cy="86868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7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7132320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Certificates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132320" y="2039112"/>
            <a:ext cx="0" cy="86868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5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9235440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Specializations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5440" y="2039112"/>
            <a:ext cx="0" cy="86868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337560"/>
            <a:ext cx="10515600" cy="0"/>
          </a:xfrm>
          <a:prstGeom prst="line">
            <a:avLst/>
          </a:prstGeom>
          <a:noFill/>
          <a:ln w="12700">
            <a:solidFill>
              <a:srgbClr val="3D55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5661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RECOMMENDED NEXT STEPS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977640"/>
            <a:ext cx="347472" cy="347472"/>
          </a:xfrm>
          <a:prstGeom prst="ellipse">
            <a:avLst/>
          </a:prstGeom>
          <a:solidFill>
            <a:srgbClr val="2E4A78"/>
          </a:solidFill>
          <a:ln w="12700">
            <a:solidFill>
              <a:srgbClr val="4C66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3931920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3EBF7"/>
                </a:solidFill>
                <a:latin typeface="Markazi Text" pitchFamily="34" charset="0"/>
                <a:cs typeface="Markazi Text" pitchFamily="34" charset="-120"/>
              </a:rPr>
              <a:t>Investigate converting beginner-level modules for non-technicals into self-paced online learning.</a:t>
            </a:r>
          </a:p>
        </p:txBody>
      </p:sp>
      <p:sp>
        <p:nvSpPr>
          <p:cNvPr id="25" name="Shape 23"/>
          <p:cNvSpPr/>
          <p:nvPr/>
        </p:nvSpPr>
        <p:spPr>
          <a:xfrm>
            <a:off x="822960" y="4668819"/>
            <a:ext cx="347472" cy="347472"/>
          </a:xfrm>
          <a:prstGeom prst="ellipse">
            <a:avLst/>
          </a:prstGeom>
          <a:solidFill>
            <a:srgbClr val="2E4A78"/>
          </a:solidFill>
          <a:ln w="12700">
            <a:solidFill>
              <a:srgbClr val="4C66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66881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4623099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EBF7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Add future tracks (AI Product Manager, AI Solution Architect) on the same architecture.</a:t>
            </a:r>
          </a:p>
        </p:txBody>
      </p:sp>
      <p:sp>
        <p:nvSpPr>
          <p:cNvPr id="37" name="Text 35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5C9"/>
                </a:solidFill>
                <a:latin typeface="Markazi Text" pitchFamily="34" charset="0"/>
                <a:ea typeface="Markazi Text" pitchFamily="34" charset="-122"/>
                <a:cs typeface="Markazi Text" pitchFamily="34" charset="-120"/>
              </a:rPr>
              <a:t>SDAIA Academy · Capacity Building Sector · Catalog v2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1951</Words>
  <Application>Microsoft Office PowerPoint</Application>
  <PresentationFormat>Widescreen</PresentationFormat>
  <Paragraphs>468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Markazi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Modular Stackable Learning Paths — Catalog v2</dc:title>
  <dc:subject>PptxGenJS Presentation</dc:subject>
  <dc:creator>SDAIA Academy — Capacity Building Sector</dc:creator>
  <cp:lastModifiedBy>Mamdouh Alenezi</cp:lastModifiedBy>
  <cp:revision>4</cp:revision>
  <dcterms:created xsi:type="dcterms:W3CDTF">2026-07-03T07:25:51Z</dcterms:created>
  <dcterms:modified xsi:type="dcterms:W3CDTF">2026-07-03T07:36:57Z</dcterms:modified>
</cp:coreProperties>
</file>