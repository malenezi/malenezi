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Lst>
  <p:notesMasterIdLst>
    <p:notesMasterId r:id="rId16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notesMaster" Target="notesMasters/notesMaster1.xml"/><Relationship Id="rId161" Type="http://schemas.openxmlformats.org/officeDocument/2006/relationships/presProps" Target="presProps.xml"/><Relationship Id="rId162" Type="http://schemas.openxmlformats.org/officeDocument/2006/relationships/viewProps" Target="viewProps.xml"/><Relationship Id="rId163" Type="http://schemas.openxmlformats.org/officeDocument/2006/relationships/theme" Target="theme/theme1.xml"/><Relationship Id="rId1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This is a specialist module in the AI Engineer Track. Introduce yourself, your production CV background, and set the tone: this course builds one real system over four days, not a tour of slides. Confirm everyone completed SDA-AIE-112 (Deep Learning Essentials with PyTorch). Housekeeping: GPU workstation allocation, repo access, and the dates-qc dataset bundle download before Hour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facts quickly — two minutes maximum. Emphasise the assessment split: 60% comes from the labs, which are cumulative, so missing a lab hurts twice (marks and the capstone depends on it). Point out stackability: this module earns the vision specialisation badge and feeds directly into SDA-AIE-216 (MLOps), where the system built here gets monitored and operated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course's most important design decision: there is no throwaway dataset, ever. Every module works on the same Tamr Vision inspection system and the same dates-qc dataset. Tell the story: a packing line in Al-Qassim needs dates graded into four classes, defects found, and surface damage measured — all on an edge box over the conveyor. The stack on the right is the four-day build order, bottom-up. This is what makes the Day 4 capstone achievable in two hours of assembly.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each owned by specific modules — the tags show the mapping. Every module's objectives slide maps back to these. When participants ask why a topic is covered, point back here. LO3 spans two modules deliberately: augmentation (M1) and curation (M5) are the two halves of 'data is the system', which is the Day 3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arc: Day 1 makes the machine see (data + classifier), Day 2 makes it locate and delineate (detection + segmentation), Day 3 is the differentiator — most courses skip curation and evaluation, but they are where production systems live or die — and Day 4 ships it. Theory share falls from 45% to 25% across the days while lab share rises to 75%. Each day ends with a concrete, verifiable deliverable shown in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is deliberately weighted toward doing. The 60% lab component is collected continuously — repository commits plus the BENCHMARKS.md each pair fills during every lab. The 40% capstone is scored live during Day 4 Hour 5 demos with a rubric covering functionality, measured performance, code quality, and the demo itself. Collect repository URLs and BENCHMARKS.md at the end of Day 4 Hour 4, before demos begin, so harness results can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you as much as for the room. Verify the GPU path AND the CPU fallback path a week before delivery — run Lab 3 end-to-end on both. The 15-minute training cap is pedagogical: the learning is in the decisions, not the waiting. If a pair's run exceeds the cap, they resume from the published checkpoint. Announce the checkpoint policy on Day 1 so nobody feels penalised for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Delivery-plan guidance from the instructor package. The pairing rule matters: rotate pairs each day so knowledge spreads and no pair calcifies into driver/passenger roles. On language: mixed-language label taxonomies break tooling and downstream regex-based reporting, so labels stay English even in Arabic delivery. Day 3 Hour 2 (annotation lab) and the Day 4 afternoon are deliberately flexible for regional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bridge into Day 1. Ask the room: who has seen a model that aced its test set and embarrassed itself in production? Collect one or two stories — they become reference points all week. Then preview the Day 1 arc: images as tensors, the preprocessing contract, augmentation as encoded domain knowledge, and a fine-tuned classifier by end of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course golden thread: every module works on the same Tamr Vision inspection system and the same dates-qc dataset — no throwaway datasets, the artefact evolves until it becomes the Day 4 capstone. Day 1 is 45% theory, 55% lab. Hour 1 is failure stories: set the tone that benchmark accuracy and line performance are different worlds. Announce pairing now (strong-PyTorch with strong-domain-intuition) and the training-time rule: every lab caps training at 15 minutes wall-clock — the learning is in the decisions, not the waiting. Each hour is 50 min instruction + 10 min buffer; place the long break around Dhuhr.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schedule quickly and point at the two labs — participants should feel that most of today is hands-on. Hour 3 delivers the pipeline that Hour 5 trains on, so nobody can skip Lab 1 and still do Lab 2. Lab 2 continues into Day 2 Hour 1 (Part B: hardening + ViT comparison), so an unfinished Part A is recoverable. Environment check happens in Hour 1: primary path is classroom GPUs (8 GB+ VRAM) or the cloud-notebook pool; fallback is CPU at 320 px with provided checkpoints. Verify pairs have the repo cloned and the dates-qc bundle extracted before Hour 2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in one sentence: vision models are only as good as the tensors they see. Everything downstream — detection, segmentation, deployment — depends on the discipline built in this hour. Emphasise the three pillars: images as data (colour spaces, bit depth, memory), a preprocessing contract identical at train and inference time, and augmentation policies that encode domain knowledge instead of copying ImageNet defaults. Mention PDPL early: images of people are personal data, and the data layer is where that exposure starts. Participants leave with a working pipeline for dates-qc, not just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three canonical input failures from the source: a camera firmware update shifts white balance, a resize interpolation differs between training script and edge runtime, and the BGR/RGB mix-up that silently costs points of accuracy. Stress the word silently — none of these crash. In food processing, manufacturing QC and infrastructure inspection here, dust, heat shimmer and mixed lighting make augmentation the cheapest robustness investment available. Close on PDPL: if workers appear in frame, you are processing personal data. Ask the room: who has debugged a model for days when the bug was in the data loading? Expect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a minute per card. The date-packing case is literally this course's scenario — harvests change colour season to season, and the classifier trained on one season quietly drifts. The hospital case previews the module case study: nothing about the model changed, only the scanner's preprocessing defaults — that is a contract violation, not a model failure. The traffic case makes the point that augmentation policy is regional: a sandstorm-aware policy has no analogue in ImageNet defaults. Ask participants which of these is closest to their employer's domain and hold their answers for the augmentation-courtroom activity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as capabilities, not topics: after this hour a participant can load and manipulate images correctly with OpenCV and torchvision, implement a custom PyTorch Dataset with transforms v2, compute dataset statistics for normalisation, design and visually verify an augmentation policy, and measure input-pipeline throughput. Point out that 1.2 and 1.4 are directly exercised in Lab 1 this afternoon, 1.3 is tested in the augmentation-courtroom discussion, and 1.5 returns in Module 5 when the cohort audits its own labels. Keep this slide under two minutes — the objectives land through the lab, not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and name the two red exits explicitly. OpenCV loads BGR; torchvision, PIL and every pre-trained model expect RGB — the swap does not crash, it quietly degrades a fine-tuned model by 5-10 points. Rule: convert at the I/O boundary and never think about it again. Second exit: feeding [0,255] floats to a model trained on [0,1]. Also mention resolution as a system decision — a batch of 32 at 640 px is ~157 MB before activations — and bit depth: industrial line-scan and medical sources produce 10-16-bit images; naive uint8 conversion destroys the defect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anchor idea: everything between the raw image and the model tensor is a versioned contract shared by training, evaluation and deployment. The course keeps preprocess() in tamr_vision/data/transforms.py and all three consumers import it. Stress resize semantics: bilinear vs nearest vs bicubic, letterbox vs stretch — each produces different tensors from the same image; pin the choice and record it in the model card. Normalisation stats: fine-tuning from ImageNet weights means ImageNet mean/std; training from scratch means computing your own (Lab 1 does both). Augmentation is train-only — that is why train_tf and eval_tf are split from the first line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validity test is domain, not fashion: dates on a conveyor arrive in any orientation, so full rotation is valid; a chest X-ray does not arrive mirrored — horizontal flip moves the heart. Run the augmentation courtroom here or after the lab (15 min): project one transform at a time for the dates domain, pairs vote valid/invalid and must defend with a line-condition argument. Mention detection-aware transforms briefly: geometric transforms must move boxes and masks with the pixels — transforms v2 and Ultralytics handle this natively; hand-rolled NumPy augmentation is where misalignment bugs breed (M3 continues). Close on the visual-audit habit: a rotation that hides the mould spot changed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throughput to money: a starved GPU is rented silicon doing nothing. Course rule-of-thumb targets: at least 400 img/s at 224 px and 150 img/s at 640 px on classroom hardware. Teach the mitigation order for slow decode: resize-on-disk to training resolution as a dataset-preparation step, then more workers, and only then exotic solutions. The pipeline speed hunt activity (10 min) fits here if time allows: pairs get a deliberately slow config — workers=0, no pin_memory, full-resolution decode — and race to triple throughput, documenting each change's contribution. Preview that Lab 1 task 4 measures exactly this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previews half the course: M5 measures our own label-error rate, M6 formalises per-class metrics, and the M2 lab stretch uses Grad-CAM as a leakage probe. Emphasise the asymmetry of label noise — a mislabelled premium costs little; a mislabelled reject teaches the model that mould is acceptable. On leakage, tell the simulation story: branch sim-leaky-split re-splits the manifest by frame and val accuracy jumps about 4 points with no model change; a pHash audit exposes the near-duplicates. The defence is structural, not statistical: split by session identity in the manifest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production incident someone paid for. Row 1 is planted in Lab 1 so everyone experiences it cheaply today. Row 2 is the debugging exercise (sim-interp-skew): PIL bicubic in training vs OpenCV nearest in serving cost 3.1 accuracy points. Row 6 surprises people: phones store rotation as metadata; PIL respects it, raw decoders may not. Add the production considerations: preprocessing runs at inference too, so its latency is part of the M7 budget; camera calibration and white-balance locking beat software correction; and log a per-batch input-statistics fingerprint (mean/std/histogram) so input drift is detectable in monitoring — SDA-AIE-216 builds the alerting.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file top to bottom. The docstring is policy, not decoration: never duplicate resize or normalisation logic anywhere else. Point at the ColorJitter parameters and name the physical cause — lamp ageing plus exposure drift; RandomRotation 180 exists because fruit lands in any pose; RandomErasing models partial occlusion by neighbouring fruit. The elided flips and blur follow the same rule. Ask: why ImageNet mean/std here? Because Lab 2 fine-tunes from ImageNet weights — match the pre-training contract. Lab 1 task 3 has participants re-implement this with a one-line justification comment per transform; enforce the no-comment-no-transform rule in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lines carry the module. First, cvtColor at the I/O boundary — in Lab 1 the starter code ships with this line missing (the planted BGR bug); let pairs find it via the blue-orange audit grid rather than telling them. Second, the None check: cv2.imread does not raise on a missing file, it returns None, and downstream code happily trains on black images. Point at GRADES: the order is frozen because Module 2 bakes it into the checkpoint — reordering silently remaps every label. Also note permute(2,0,1): HWC uint8 to CHW, the layout PyTorch expects. Note __len__ is elided on the slide for space; the repo version has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BGR bug is planted so everyone experiences the most expensive silent bug in applied CV on Day 1 Hour 3, where it costs 5 minutes instead of a production incident — do not spoil it; the blue-orange audit grid is the reveal. During the aug-audit debrief, ask each pair for one transform they REJECTED and why — the rejections show whether the domain-invariance idea landed. Fast finishers: compute stats at 640 px and compare throughput, a preview of detection-input cost in M3. Run the instructor demo first: live BGR/RGB comparison on the projector, then the worker-count throughput ladder measured live. Every pair commits before Hour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table or keep it on a side screen during the lab — it covers 90% of hands that go up. Row 1 is the planted bug; when a pair reports blue fruit, ask them what colour channel order cv2 uses rather than giving the fix. Row 2 hits Windows users hardest: multiprocessing workers need the if __name__ == '__main__' guard or the script deadlocks. Row 3 is an ordering bug — Normalize expects float input, so ToDtype must come first. Row 4 will not bite until Module 2's determinism check, which is exactly why it is worth naming now: augmented validation makes metrics noisy AND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rapid whole-class check, about one minute per question, before or right after the lab. Questions 1 and 2 are pure recall — everyone should nail them after the planted bug and the contract discussion; if not, revisit before Module 2. Question 3 tests whether the leakage idea landed structurally, not just as trivia. Question 5 is the one worth pausing on: several participants will answer True because rotation feels safe — use the chest X-ray flip example (it moves the heart) to reinforce that augmentation validity comes from the domain, never from the transform category. Answers appear in the speaker notes of the rendered deck.
ANSWERS:
1. BGR; RGB. Convert at the I/O boundary and never think about it again.
2. Augmentation is train-only regularisation; eval and serving need the deterministic contract path.
3. Near-duplicate frames of the same fruit leak across splits.
4. ImageNet mean/std — match the pre-training contract.
5. False — validity is a domain question, not a category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homework, fast-finisher work, or Day 1 wrap-up discussion. For sim-interp-skew, the teaching point is that the contract must include resize semantics, not just size — the tensor diff localises the divergence in minutes. The code-review PR contains three real anti-patterns; require the production consequence, not just the finding. For the lighting discussion, steer to: hardware fixes beat software compensation — a weaker policy converges faster and the input distribution tightens. For PDPL: hands are personal data — minimise capture, mask or crop, restrict annotation-vendor exposure, and set a retention policy. Both discussions preview M5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Root cause: the new scanner exports 12-bit DICOM with a different rescale slope; ingestion assumed 8-bit and crushed the intensity range — a contract violation, exactly the hospital use case from the opening. Guide groups toward: explicit windowing in a versioned preprocessing contract applied identically in training and inference; per-site input-statistics fingerprints (mean/std/histogram distance) with alerts; fine-tune on a small post-upgrade sample rather than full retrain; scanner-model metadata on every prediction log for slice-level monitoring (M6 tie-in). Q1 answer is slice-level evaluation; Q2 answer is radiologists sign off, not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targets gate progression: a pair whose loader runs at 120 img/s will starve the GPU in Lab 2 and blow the 15-minute training cap, so fix throughput now. Note that half the table is code-quality and reliability, not speed — transform separation, split integrity and justified augmentation are review targets, enforced by checklist and audit scripts rather than benchmarks. The GPU-utilisation row is measured during Lab 2, deliberately: it connects this module's pipeline work to the next module's training economics. Have each pair record their throughput ladder in BENCHMARKS.md before leaving the lab — the file grows all week and feeds the capstone self-audit.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as engineering choices with measurable consequences, not architecture trivia. The centrepiece skill is transfer learning: taking ImageNet-pre-trained backbones and fine-tuning them into domain specialists with hundreds, not millions, of labelled images. Participants leave able to explain convolutional and attention-based inductive biases, select a torchvision backbone against accuracy/latency/data-size constraints, implement head replacement and staged fine-tuning with discriminative learning rates, run a disciplined loop with early stopping, and diagnose over/underfitting from curves. Everything is exercised on dates-qc in Lab 2, which spans Day 1 Hour 5 and Day 2 Hour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economics: the field pre-trains once and fine-tunes everywhere. An engineer who can choose the right backbone, freeze the right layers, and set the right learning-rate schedule delivers a production-grade classifier in an afternoon on a few thousand images. Contrast the Tamr Vision numbers: fine-tuned ResNet-50 reaches macro-F1 0.91 in 12 minutes of training; from-scratch training on the same 9,000 images plateaus at 0.72. Choosing wrongly wastes GPU budget and, worse, ships a model too heavy for the deployment target — Module 7 makes that concrete. The 60 ms mobile budget that vetoed a ViT-L previews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per card. The Tamr Vision case is this course's golden thread — the exact numbers reappear in Lab 2 expectations. The land-registry card previews the module case study, where the same agency must choose between a contractor ViT-L and an in-house EfficientNet-B3; note the interpretability angle, attention maps as evidence for disputed classifications. The insurer card is the selection heuristic in the wild: the deployment target, not the leaderboard, decided. Ask who in the room has a latency or edge constraint at work — hold those answers for the backbone-auction activity and the M7 deployment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capabilities: 2.1 is tested in the quiz and the CNN-vs-ViT discussion; 2.2 comes alive in the backbone-auction activity and the case study; 2.3 and 2.4 are implemented verbatim in Lab 2 this afternoon; 2.5 is drilled in the curve clinic, where pairs diagnose six anonymised training-curve sets from past cohorts using the pathology table. Keep the slide brief — under two minutes — and point forward: every objective is exercised hands-on, none stays theoretical. Note the LO6 tag on 2.2: backbone selection is a communication skill too, since someone must defend the choice to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assumptions a convolution encodes about images: locality, translation equivariance, hierarchy. These are why CNNs learn from small datasets. Then the landmarks participants must recognise on sight. ResNet: skip connections make 50-150-layer networks trainable by letting gradients bypass blocks; ResNet-50 remains the default fine-tuning workhorse — boring, robust, everywhere. EfficientNet: compound scaling of depth, width and resolution; B0-B7 trade accuracy against compute smoothly, the family for tight deployment budgets. ConvNeXt: a CNN modernised with transformer-era training recipes, competitive with ViTs while keeping CNN deployment simplicity — the best-of-both teaching point. Expected question: why is ResNet still default in 2026? Answer: robustness and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module's anchor. ViT slices the image into 16x16 patches, embeds each as a token, and runs a standard transformer encoder — global receptive field immediately, so long-range relations like two distant defects are natural, not built up through depth. The price is weak inductive bias: fine-tuned from strong pre-training ViTs excel, but trained from scratch on 10k images they lose to ResNet decisively — Lab 2b demonstrates exactly this trade. Attention cost is quadratic in tokens, so 640-squared inputs are expensive; Swin's shifted-window attention restores locality and hierarchy and is the common backbone inside detection frameworks. Edge targets: check ONNX/quantisation support first — a model you cannot ship is a model you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recipe slowly — it is the module's core deliverable. Head-only first is cheap and stable: it gets the new head into the right region before backbone weights move. Stage 2 uses discriminative LRs because early layers hold generic edges and textures (keep them) while later layers hold ImageNet-specific semantics (adapt them). Stop by validation macro-F1, not loss or accuracy — imbalance! When does full fine-tuning beat head-only? Large domain gap (conveyor dates are far from ImageNet photos) plus sufficient data, thousands not dozens. Under 500 images, freeze more; with heavy imbalance, weight the loss or oversample — both shown in the lab. The red exit is the catastrophic-forgetting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reproducibility discipline carried from SDA-AIE-113 into vision: a training run is an engineering artefact, not a script you babysit. Emphasise the hub diagram: a checkpoint containing only state_dict cannot be served correctly — class order and the preprocessing-contract reference must be baked into the file, because whoever loads it later has neither your notebook nor your memory. Mixed precision is on by default in the course loop; nobody should turn it off to 'simplify'. Per-class logging from day one is the honesty rule: the reject class is 2-4% of the data but carries most of the business value, and aggregate accuracy hides it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diagnosis drill, not a lecture: cover the right two columns and ask the room to name cause and fix for each symptom. The curve clinic activity (10 min) projects six anonymised training-curve sets from past cohorts; pairs diagnose each using this table before the reveal. Stress row four — noisy validation is usually an eval-path bug, not a model property, and it links back to Module 1 determinism rules. Row five is the bridge to Module 6: when validation looks great but the production line disagrees, the answer is slice evaluation and a split audit, not more training. Participants will meet rows one and three personally in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one is the module's money demo — participants will trigger catastrophic forgetting deliberately in Lab 2 Part A task 4 and watch macro-F1 collapse below the head-only baseline. Row two returns as the sim-eval-mode debugging exercise. Row three: with a 94% majority class, accuracy is marketing, not measurement. Row five surprises people: batch-norm statistics go bad quietly when fine-tuning batches drop below eight. Close on production considerations: a fine-tuned model inherits pre-training biases, so probe with slice evaluation before regulated deployment, and version checkpoints alongside dataset versions (M5).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implement these three functions in Lab 2 Part A task 1, so walk the mechanics carefully. build_model swaps only the final layer; every other weight keeps its ImageNet value. freeze_backbone shows that freezing in PyTorch is nothing more than requires_grad flags keyed on parameter names — demystify it. param_groups is how one optimizer carries two learning rates: pass a list of dicts to AdamW and each group gets its own lr. The class order comment matters: NUM_CLASSES = 4 with a frozen order is the same order that later travels inside the checkpoint. ViT variant differs only in the head attribute name — model.heads.head.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loop lives in the course repo; this excerpt is the decision skeleton. Point at the class-weights tensor: inverse frequency gives reject roughly 18x — the business class gets the gradient it deserves. Stage 1 optimises only trainable params; Stage 2 re-enables everything, then param_groups splits backbone at 5e-5 from head at 1e-3, with cosine decay and warmup in the full script. Early stopping watches val macro-F1 with patience 3 and saves a checkpoint that embeds GRADES order and the contract reference — the anti-pattern from the mistakes table, defended in code. ViT delta: lower backbone LR (2e-5, ViTs are LR-fragile) and possibly halved batch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the staged run live at the start and narrate the first curves; then trigger the uniform-LR run and let both race on the projector. The uniform-LR collapse (task A4) is the module's money demo — every pair must see forgetting on their own curves, not on a slide. Stage 2 training runs about 8 minutes, inside the course's 15-minute cap. In the Part B debrief, build the class-wide ResNet-vs-ViT table (F1, time, VRAM, params) on the shared board; it becomes the evidence base for the M7 deployment discussion. Fast finishers: Grad-CAM on five misclassified rejects — do heatmaps point at defects or the conveyor belt?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this table where pairs can see it during the lab and resist debugging for them — ask which row matches their symptom first. OOM in Stage 2 is expected on smaller GPUs: gradients now exist for every layer, so memory roughly doubles versus Stage 1; halving batch size while keeping AMP is the standard move, and ViT-B/16 may need batch 16. The reject-recall-zero row is nearly always the class-weights tensor missing or ordered wrongly. Nondeterministic eval means someone skipped model.eval() or left augmentation in the val loader — Module 1 rules apply. CPU-fallback pairs should use the provided stage-1 checkpoint and 320px inputs to stay inside the time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rapid pair quiz, five minutes, then cold-call for answers. Question 1 should be automatic by now; if not, revisit the inductive-bias slide before the lab. Question 3 is the recipe participants just implemented — ask a pair to justify each stage from their own curves. Question 4 invites the do-nothing-classifier trap: a model predicting the majority class scores 0.94 accuracy while being useless. Question 5 connects to the checkpoint hub diagram and to Module 7, where a checkpoint without its contract reference simply cannot be exported and served correctly. Expect discussion on question 2; the Lab 2b ViT numbers settle it empirically.
ANSWERS:
1. Locality, translation equivariance (weight sharing), hierarchical features.
2. Weak inductive bias - image structure must be learned from data, not assumed by the architecture.
3. Head-only first (stabilise the new head), then unfreeze with discriminative LRs (protect generic early features).
4. 94%-majority imbalance means accuracy hides the reject class; macro-F1 weighs every class equally.
5. Class order + preprocessing-contract reference (plus metrics and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debugging exercise plants a missing model.eval() so dropout stays live during evaluation; the teaching point is determinism as a debugging axis — once seed and data are fixed and results still vary, the model call is the only stochastic suspect left. The code-review PR bundles three mistakes from the mistakes table; require each finding to name the concrete downstream failure: catastrophic forgetting, a hidden reject class, and an unservable checkpoint. For the discussion, steer toward the economics slide: from-scratch needs orders of magnitude more data and compute, and pre-trained weights carry both useful features and licence terms that must be checked before commercial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toward a decision matrix over throughput, sensitive-class recall, VRAM, and explainability-artefact quality. Likely resolution: EfficientNet-B3 for the bulk back-fill, with a ViT fine-tuned specifically on the two sensitive classes as a second-stage referee on flagged tiles only — a cascade that buys ViT quality where it matters at 4% of the compute. Class imbalance is handled via weighted loss plus targeted augmentation; the disputed-tile evidence pack standardises on heatmap plus top-k similar training tiles. For question 1, push past accuracy to per-class recall on the sensitive classes, or throughput. Question 4 answers itself: spend labels on the 3,100-tile sensitive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table the class-built comparison board should converge on. Read it as a story: head-only gets you to 0.78 cheaply; the staged recipe adds 12 points; uniform lr=1e-3 destroys the pre-trained features and lands below head-only with reject recall at 0.42 — the worst possible failure for the business class. ViT-B/16 edges ResNet by one point of macro-F1 at 1.8x the epoch time, 2x the VRAM, and 3.4x the parameters — the M7 deployment discussion decides if that point is worth it. Also on the checklist: epoch time &lt;= 30 s at 224/bs=64, wall-clock &lt;= 15 min, and checkpoint completeness verified by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yesterday answered 'what grade is this frame?'; today the line needs 'where is the defect, on which fruit, with what confidence?' — and then 'exactly which pixels?'. Day 2 is 40% theory, 60% lab. Warn early that Lab 3 is one of the two most overrun-prone labs in the course: publish the lab3-start and lab3-best.pt checkpoints so stragglers can fast-forward. Verify the GPU plan before Hour 2 — a CV course with no working GPU plan collapses on Day 2. Rotate pairs from Day 1. Every hour is 50 minutes of instruction plus a 10-minute buffer; place the long break around Dhuhr.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plan in one minute per row. Hour 1 closes out Module 2: discriminative learning rates, early stopping, and the ViT-B/16 comparison. Hours 2-3 are Module 3: detection lecture with a live training demo, then Lab 3 on the 5-class defect set. Hours 4-5 are Module 4: segmentation lecture with a mask visualisation demo, then Lab 4 computing defect-area percentage per fruit. Emphasise training-time discipline: every lab caps training at 15 minutes wall-clock by design — if a run exceeds it, resume from the checkpoint; the learning is in the decisions, not the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module: classification answers 'what grade is this frame?'; the line needs where, on which fruit, with what confidence. We move from whole-image labels to localised predictions — the problem formulation, the anatomy of modern single-stage anchor-free detectors, the Ultralytics workflow, and the part most courses skip: post-processing and threshold engineering that turns raw detections into line decisions. Preview the outcome: by end of Hour 3 every pair owns a trained detector above 0.85 mAP@0.5 and a documented operating point in BENCHMARKS.md. Everything continues on the same dates-qc golden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two minutes on the business frame before any architecture. The key sentence: the deliverable is not mAP — it is a thresholded decision with an agreed miss rate and false-alarm rate. Ask the class what happens if the threshold is too low (conveyor stops forty times an hour) versus too high (mould ships). Flag the licensing point now and promise to return to it in the discussion exercise: Ultralytics compresses detector development from weeks to hours, but AGPL-3.0 versus a commercial licence is a legal and procurement decision, not an engineering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per card. Tamr Vision: the detector replaces a whole-frame classifier that could not say which fruit to eject — 62 FPS on the line's GPU. Jubail: note how the safety officer expressed the requirement — 'no more than 1 missed violation in 20' — a recall constraint, not accuracy. Al-Kharj poultry: the operating point lives at extreme recall because a single escape triggers a retailer audit; false alarms are budgeted per shift. Land the fourth card hard: in every real deployment the conversation is recall and false-alarm budgets. This framing pays off in the Lab 3 operating-point task and the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quickly and connect them to the day's arc: 3.1 and 3.2 are covered in this lecture hour; 3.3 and 3.4 are exercised in Lab 3 tasks 1-3; 3.5 is the lab's capstone task and the module's thesis. Emphasise the verbs — formulate, explain, prepare, apply, tune. By the end of the module a participant can read a per-class PR curve well enough to know which threshold conversation to have with the business. That last competency is what separates engineers who ship working line systems from those who ship impressive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three later modules, so signpost the forward references. Sets-not-vectors is why detection evaluation is harder than classification — matching predictions to ground truth is the primitive under mAP, built by hand in M6. The two-ways-to-be-wrong point becomes M6's error taxonomy. Contrast a bad label — 'poor overall appearance' is a classification label — with 'skin_split with visible extent', which is boxable. Close with the course rule, and repeat it: choose the cheapest task formulation that answers the business question. Students will re-apply it in M4's triage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must be able to sketch this three-part anatomy. Backbone: everything from M2 transfers — pre-trained, fine-tunable, swap-able. Neck: FPN top-down plus PAN bottom-up, so a 14-pixel mould spot at 640 squared gets both context and localisation. Head: anchor-free and decoupled — cells predict box coordinates directly via distribution focal loss, removing the anchor-mismatch bugs that plagued YOLOv5-era deployments. Losses: CIoU aligns boxes, BCE scores classes, DFL sharpens edges. Nobody implements these, but everyone must read them in logs — the warning flag on this slide is the diagnostic: plateauing box_loss with falling cls_loss means localisation, not recognition, is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two-stage detectors as vocabulary, not as a live option here: a region-proposal stage followed by per-region classification, trading speed for slightly better small-object and crowded-scene performance. Students will meet Faster R-CNN in papers, academic baselines and some medical tooling, so they must be able to hold the trade-off conversation. But make the decision procedure explicit: the requirement is 62 FPS on the line's GPU, so single-stage wins without debate. Common question: 'is two-stage more accurate?' — answer: at the margins, on small objects and crowds, and M3's small-object story is handled by the FPN/PAN neck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these three artefacts deliberately, not by copy-paste. Labels: the most common corruption is pixel coordinates written un-normalised — some versions silently clip values above 1; Lab 3's converter validates every line. YAML: the class-order rule from M2 with more teeth — reordering names after training silently relabels every prediction. Training: mosaic and copy-paste are why small datasets work at all; mosaic auto-disables for the final ~10 epochs (close_mosaic) because it distorts global-layout statistics, and copy-paste must respect physics — a foreign_object pasted mid-air teaches hallucination. Transfer learning: from scratch reaches mAP ~0.58 where COCO-initialised reaches ~0.87 in the same 40 epochs.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module's capstone skill. Walk the translation procedure on the board: (1) sweep conf on the validation split; (2) plot per-class recall and false-positives-per-image against conf; (3) find the threshold band satisfying both constraints — or prove no single threshold does, forcing per-class thresholds (Ultralytics accepts a dict) or a data conversation: 'mould recall saturates at 0.93; we need 400 more hard mould examples' (M5's active learning). NMS on crowded conveyors is the hard case: dates touch, and the iou choice changes per-frame counts by ~9%. Close with the thesis: 'mAP 0.87' and 'the line meets its escape budget' are different claims, connected only by this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rapid-fire diagnosis: read each mistake and ask the class for the consequence before revealing it. Rows one and three are the module's recurring themes — the deployed operating point is the only one that matters, and resolution is part of the contract from M1; the mAP drop at 320 is class-dependent (mould only loses 0.02, insect_damage loses 0.11). Row four: the M1 leakage rule applies identically to detection; the manifest's session split carries over. Row six: the alternative to Ultralytics is weeks of raw PyTorch work — so the licence decision belongs to legal and procurement, flagged early and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this live before explaining it — the run takes ~11 minutes, exactly the length of the walkthrough. Go argument by argument: imgsz is the latency/accuracy lever revisited in M7; patience gives early stopping on val mAP@0.5:0.95; degrees=180 with both flips is the M1 policy — a conveyor has no orientation. copy_paste=0.1 is safe here because date instances are physically pasteable onto conveyor backgrounds. While it trains, project the mosaic batch renders from runs/detect/defect_y11s/train_batch*.jpg and have the class spot a physically impossible composite — the same exercise they repeat in Lab 3 task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after the training demo and end on the module's designed insight: insect_damage has no feasible threshold at any conf value — that discovery forces the per-class-threshold plus data-request conversation students will have themselves in Lab 3 task 5. Point at REQ: requirements are code, versioned next to the sweep. In production the inference wrapper takes per-class thresholds from config, never hard-coded, and every raw score is logged even below the acting threshold — threshold retuning without re-running inference needs those scores. Common question: 'why not just lower conf to zero?' — trace the FP/image column as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planted conversion failures (one unknown class, two un-normalised boxes) are the module's first checkpoint — pairs that silence the assertions instead of fixing the data must be caught at task 2's rendering step, where their boxes will be visibly wrong. Task 5 is where the thesis lands: insect_damage, by design, cannot meet the spec at any threshold, forcing the per-class-threshold and data-request conversation. Collect each pair's 'residual gap' sentence — they become the motivation for M5. Fast finishers: sweep imgsz over 320/512/640 on the val split and start the latency/accuracy table that M7 completes. Cap training at 15 minutes; stragglers resume from lab3-best.pt.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projected during the lab so pairs self-serve before raising a hand. Row two is the classic: a pair loads yolo11s.yaml instead of yolo11s.pt and trains from scratch — their mAP plateaus near 0.55 and no amount of epochs rescues it in classroom time; restart from the checkpoint. Row three connects to the lecture: touching dates on the conveyor are exactly the case where NMS iou matters. Row five usually means the pair edited YAML paths and is validating a different split. Watch for the silent failure the table cannot catch: assertions commented out in the converter — that is what task 2's visual render exists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five-minute closer before the break: show each question, take a show of hands or a shouted answer, then reveal. Question 1 checks the anchor image — anyone who cannot name backbone/neck/head needs the anatomy slide again. Question 2 is the NMS trap most relevant to this dataset. Question 3 catches a real design habit: teams often discard empty frames as 'useless'. Question 4 is the log-reading diagnostic and a bridge to M5's annotation-quality work. Question 5 is the module thesis stated as true/false — anyone answering 'false' should be pointed at the sim-conf-mismatch branch, where the line simulator's escape rate is ~5x the reported one.
ANSWERS:
1. Backbone extracts features (strides 8/16/32); neck (FPN/PAN) fuses multi-scale features; head predicts per-cell class + box, anchor-free.
2. Suppresses overlapping same-class boxes, keeping the most confident; too low, it merges two real adjacent fruit into one detection.
3. Otherwise the model learns 'always find something'; background frames calibrate the confidence.
4. Localisation bottleneck — usually annotation quality (sloppy boxes), not recognition.
5. True — otherwise the reported numbers describe a different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homework or fast-finisher material. The class-shift simulation is the strongest: foreign_object shows AP 0.91 on a class with only 40 instances — an absurdity that renders catch instantly while aggregate metrics stay plausible; the lesson is that class order is part of the contract and renders beat metrics. For the code review, the expected findings: a hard-coded threshold makes the operating point unversionable; train-split evaluation inflates every number; YAML reordering silently relabels predictions. The zero-escapes discussion pairs well with the threshold negotiation role-play: management and engineering must sign a one-line operating agreement with actual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Separate the failure modes: harness misses are a small-object plus data-scarcity problem — only 210 harness instances in training, 18-30 px in crane wide shots — so most of the 6,000-box budget goes there via model-uncertainty sampling (M5 preview), evaluated at zone level. Hard-hat floods are an operating-point problem: shift-change crowds raise candidate counts, so per-camera thresholds plus a temporal filter (violation persists N frames) cut alarms ~8x at negligible recall cost. Redefine acceptance per class: harness recall at least 0.95 in crane zones; hard-hat alerts at most 50/day fleet-wide. Q3 answer: brief events — falls, intrusion. Q4: retention limits, access control, purpose limitation, worker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on the numbers each pair must own in BENCHMARKS.md. The reference run gives mAP@0.5 of 0.872 with per-class spread from insect_damage 0.798 to mould 0.921 — use that spread to normalise expectations: a weak class is a finding, not a failure. Point at the example benchmark rows: insect_damage records 'data request filed (M5)' and foreign_object is flagged high-severity. The last row matters most for assessment — an operating point without a rationale does not pass review. Every pair enters Hour 4 with a trained detector at 0.85-plus mAP@0.5 and a documented operating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module: boxes answer 'where'; masks answer 'exactly which pixels'. The applied payoff is turning masks into calibrated business measurements — for Tamr Vision, defect-area percentage per fruit, the number the grading standard actually references. Reassure the class on workflow: training an instance segmenter uses the Ultralytics mechanics they mastered an hour ago; segmentation adds masks to the head, not complexity to their day. Flag the cost message early: segmentation costs 5-10x more per annotation than boxes, so the decision to use it must be earned by the business question. Both M3 and M4 models get checkpointed for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number is an argument. The 8% rule is the grading standard Tamr Vision must apply — a box around a crescent-shaped defect includes mostly healthy skin, which is why box area overstates defects 2-4x; that red stat is the money argument for the module's existence. The 35-90 seconds per polygon versus 7 per box is the cost gradient behind every formulation decision — though model-assisted tools (SAM-based, M5) have cut the gap substantially. And m² as invoice unit: in the Riyadh road-crack case, masks are literally the evidence a contractor is paid on. Where pilots quietly fail: pixel-to-real-world calibration, covered at the end of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per card, and keep hammering the measurement frame. Tamr Vision: the M3 detector finds defects but its boxes overstate crescent-shaped ones, so the 8% rule needs masks. Riyadh: repair contractors are paid per verified square metre — the mask is the invoice evidence, which is why the case study later makes both parties audit the measurement pipeline. Sakaka: soiling fraction turns drone imagery into a cleaning-schedule optimiser. A fourth example from the source worth mentioning aloud: palm-canopy pest stress driving treatment dosage. Pattern card: area is the deliverable; calibration engineering is where most segmentation pilots quietly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objectives to the hour: 4.1 is the task-family slide and the triage activity; 4.2 covers both architecture slides; 4.3 and 4.4 happen in Lab 4; 4.5 is the measurement flow and the lab's attribution task. Objective 4.5 is the differentiator — most segmentation courses stop at mask mAP, but here participants must convert masks into calibrated measurements with documented assumptions, because that conversion is what businesses actually consume. By module end a participant can also say what mIoU and mask mAP each hide — boundary quality and per-image variance — and why measurement-level tests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wrongly wastes annotation money, so drill the decision. Semantic: two overlapping mould patches become one 'mould' region — fine when only total area per class matters, useless when defects must be attributed to fruit. Instance: detection with pixel-accurate extents — Tamr Vision needs defect area per fruit, so defects must be attributed to instances; this is the course's choice. Panoptic: taught as vocabulary only. Quick oral check: 'the municipality pays per m² of crack — which formulation?' (semantic). 'The plant rejects individual fruit — which?' (instance). Note that SAM-based model-assisted polygon tools in M5 have narrowed, not erased, the cost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defining trick is the skip connection (U-Net, 2015): shallow, high-resolution encoder features are concatenated into the decoder so boundaries stay sharp — use the 'melted wax' image and, if drawing on the board, sketch the no-skip ghost output next to the real one. DeepLab's contribution is atrous (dilated) convolution plus multi-scale ASPP pooling. Tell the class why U-Net variants persist in medical and industrial semantic work: they train well on small datasets. This is the semantic-segmentation architecture family; the next slide covers the instance side, which is what the lab actually trains. Timebox to four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Mask R-CNN (2017) extends the two-stage detector: for each detected region a small FCN predicts a per-instance binary mask; RoIAlign — bilinear sampling instead of quantised pooling — is the detail that made pixel-accurate masks possible and a favourite interview question, so make them say it back. YOLO-seg predicts a set of prototype masks for the whole image plus per-instance coefficients that linearly combine them (the YOLACT idea): near-detector speed, slightly softer boundaries. Course positioning: YOLO11s-seg for speed and one workflow; Mask R-CNN as the reference they must be able to discuss. Give transformers one honest paragraph: Mask2Former wins benchmarks but is heavier than the task needs; SAM changed annotation economics forever and returns in M5.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compact points, one minute each. Polygon conversion inherits every M3 pitfall plus holes and self-intersection — the ring-shaped-defect rule is an explicit, documented simplification students must find in the spec during Lab 4 task 1. Dice loss: run the 98%-by-predicting-nothing trap as a question before revealing. Resolution: the minimum-feature-width number constrains M7's optimisation choices later. The mIoU point sets up the sim-fat-mask debugging exercise, where mask mAP barely moves but area MAE triples. Also mention augmentation: geometric transforms must warp masks with pixels — Ultralytics handles it; hand-rolled augmentation warnings from M1 go double for polygons, and copy-paste is stronger for segmentation.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applied payoff. Attribution: intersect defect masks with fruit masks — every defect pixel assigned to exactly one fruit by largest overlap, ties logged. Then the key distinction: the area ratio is scale-free, no calibration needed — exactly why Tamr Vision negotiated the grading rule as a percentage. Absolute measurements (the road-crack m² case) need pixel-to-mm calibration via known geometry or a reference object, with the assumption, its error bound, and the revalidation trigger documented — any camera move. The visible-surface caveat is the teaching moment: a camera sees one hemisphere, so '8% of surface' operationalises as '8% of visible surface, single view' — an approximation the plant explicitly signed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Rapid-fire again: mistake first, class supplies the consequence. Rows one and two restate the module's two founding arguments. Row three: check minimum-feature-width survival at the training resolution before blaming the model — the sim-res-320 simulation shows skin_split mask AP dropping ~0.19 at 320 while mould barely moves. Row four previews M5: 'where does the sugaring end?' answered differently per annotator yields noise no model learns through. Production notes worth saying aloud: store run-length encodings rather than PNGs in logs; log the mask with every area measurement so disputes are auditable; per-class area-error control charts complement M3's count charts in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continuity: this is the M3 training call with -seg appended and two deliberate changes. Batch drops to 12 because prototype masks cost VRAM — on an 8 GB card, reduce batch before sacrificing imgsz, since resolution is what thin defects depend on. copy_paste rises to 0.3 because masked instances composite cleanly, making the augmentation stronger for segmentation. The final point is the lab's most common bug: a pair reports identical box and mask mAP because they read m.box twice — the print statements here model the correct habit of always reporting both. Launch live at the start of the walkthrough; it fits the 15-minute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attribution logic slowly — students implement exactly this in Lab 4 task 4. The majority-overlap rule: a defect mask is assigned to the fruit containing at least half its pixels, and its overlap contributes to that fruit's area ratio; ties are logged rather than silently resolved. Note the defensive lines: a degenerate zero-pixel fruit mask is skipped and logged upstream, and max(...,1) guards division. The final comment is a code-review checkpoint — the 8% grading threshold is applied downstream from config, because it is a versioned business decision. Connect to the measurement-level evaluation: predicted versus ground-truth area percentage is the metric the plant consumes, reported alongside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5 is the module's money moment — the frame where box-area would reject a fruit that mask-area passes (or vice versa) is the whole business case for segmentation, found by each pair in their own output. Collect two or three of these frames for the debrief and ask: 'what does this disagreement cost per day at 40,000 fruit?' Task 2's hand-computed IoU is deliberately placed so M6's matching lecture lands on prepared ground. Task 3's expected answer: skin_split has the biggest box-vs-mask gap — thin structure, boundary-dominated. Fast finishers: set retina_masks=True, re-run the area evaluation, quantify the boundary-quality dividend.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projected during the lab. Row two is the most frequent: reading the wrong metric object makes mask numbers identical to box numbers, which should be impossible on this data. Row three repeats the VRAM discipline — reduce batch before imgsz, because thin defects depend on resolution. Row four is the interesting one pedagogically: a huge area MAE almost always means the attribution logic assigns defects to the wrong fruit; the fix is to render the failing frames, not to stare at the code — the M1 visual-audit habit, now applied to masks. Row five matters for task 5's overlays: blocky masks at overlay time are a rendering-resolution artefact, not a model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same format as M3. Question 1 verifies the formulation decision that opened the module — anyone answering 'semantic' has missed why attribution needs instance identity. Question 2 should trigger the 'melted wax' image. Question 3 is the imbalance trap; if the class hesitates, replay the 98%-accuracy-by-predicting-nothing argument. Question 4 distinguishes the two quality axes and connects to the production point that low-quality masks on confident detections are auditable failures. Question 5 is the one most get wrong under time pressure: ratios are scale-free, absolute areas are not — the distinction the whole measurement flow was built around. Follow with the extra exercises if time allows.
ANSWERS:
1. Instance: attribution needs object identity; semantic masks merge instances.
2. High-resolution spatial detail; sharp boundaries.
3. BCE is dominated by the easy negative pixels; Dice optimises overlap directly.
4. Yes — confidence scores the detection; mask quality is a separate, auditable axis.
5. False — ratios are scale-free; absolute areas (m²) need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sim-fat-mask is the module's evaluation lesson made concrete: morphological dilation from an annotator's script leaked into the pipeline; the headline metric was insensitive because mask mAP@0.5 tolerates a uniformly fat boundary, while the measurement-level metrics — area MAE and the grading-disagreement rate — caught it immediately. Choose metrics at the measurement level, not just the benchmark level. Code-review expected findings: frame-area ratio is meaningless per fruit; pixel accuracy is the imbalance trap; hard-coded thresholds make the business rule unversionable. The hemisphere discussion has no single right answer — push pairs to attach costs. Foreign_object is the natural box-only candidate: presence alone triggers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Semantic formulation — total area per class is the deliverable; per-crack payment would flip it to instance. Calibration: per-frame ground sampling distance from camera geometry plus IMU-corrected height, validated weekly against painted reference plates; the error budget propagates to a documented ±6% on the m² figure. Thin-crack limit made explicit: under 3 mm is contractually 'detected but not billable' — an honest capability statement. Glare and shadow false positives: targeted augmentation plus a hard-negative mining round (M5). Every billed segment stores frame + mask + calibration record — the dispute-resolution evidence pack; low-confidence regions route to human review, budgeted at 4% of frames. Q4: measurement instruments need neutral custody — joint annotation spec, third-party eval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Day 2 on the numbers. Note the deliberate structure: one model-quality metric (mask mAP at least 0.80), then two measurement-quality metrics (MAE at most 1.5 percentage points, grading disagreement at most 3%) — the module's argument encoded as targets. The reference run: mask mAP 0.823, MAE 1.12 pp, disagreement 2.1%. Point at the per-class example table: skin_split's box-to-mask gap of 0.118 is the largest — thin, boundary-dominated structure — and its area MAE of 2.1 pp shows why. End-of-day check: every pair leaves with both models checkpointed for the capstone, BENCHMARKS.md updated, and tomorrow's theme trailed — data is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for two days participants trained models on data they were handed; today they own the data problem itself — the system component with the highest leverage and the least engineering discipline. Day 3 is 40% theory, 60% lab. Rotate pairs: error analysis benefits most from mixing a strong-PyTorch participant with a strong-domain-intuition one. Lab 5 is one of the two most overrun-prone labs (annotation time) — have the dates-qc-v2-reference snapshot published so stragglers can fast-forward. Hour 2 is deliberately flexible for prayer scheduling; place the long break around Dhuhr.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per row. Hour 1 covers annotation specs, agreement, error hunting, active learning and versioning, with a live annotation-tool walkthrough. Hour 2's lab audits v1 and cuts the versioned v2 release. Hour 3 derives IoU, precision-recall and mAP on the whiteboard; Hour 4 builds the evaluation harness. Hour 5 is the emotional payoff: retrain on v2, quantify the data-quality dividend against v1, then the capstone briefing and milestone M-A check. Remind pairs to record v1 baseline numbers during Lab 5 — the Hour 5 comparison depends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module: in production vision the dataset is not an input — it is THE system component with the highest leverage and the least discipline applied to it. Participants will write specs that survive contact with real annotators, measure label quality with inter-annotator agreement, hunt label errors using the models they already trained, decide what to label next with active-learning economics, and version datasets with the rigour SDA-AIE-113 taught for code. Preview: this module closes M3's 'insect_damage cannot meet spec' gap — with data, not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numbers left to right. Label budgets are typically 40-70% of total build cost and are routinely wasted: ambiguous specs produce noisy labels no architecture can rescue; random sampling labels thousands of easy frames while the hard 2% stays unlabelled; unversioned datasets make every metric claim unreproducible. Saudi organisations increasingly outsource annotation — the spec becomes a contract, and PDPL turns annotation access into a data-protection question whenever people appear in frame. Land the punchline: the engineers who control these levers ship better models for less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shapes of the same lesson. Tamr Vision is the course thread: the v2 dataset built today delivers more improvement than any architecture change tried in M2-M4 — say that sentence explicitly. The Al-Ahsa palm survey previews the case study: an honest vendor plus an under-specified taxonomy equals systematic label swaps and a 60,000-riyal relabelling round. The retail example shows active-learning economics at scale: 300 frames from 2 million captured. Ask the class which failure they think is most common in practice — it is the ambiguous spec,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as a workflow, not a list: write the spec (5.1), measure whether annotators can follow it (5.2), hunt the errors already in the data (5.3), decide what to label next (5.4), and ship the result as a versioned release (5.5). All five map to LO3, with 5.2 and 5.3 also feeding LO5 because label quality sets the ceiling on every evaluation number in Module 6. Every objective is exercised in Lab 5 this afternoon — nothing here is theory-only.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layers top to bottom. Names alone are not a taxonomy — the sugaring/mould co-occurrence rule that v1 lacked caused a third of its label errors. Boundary rules fix what M4's boundary court showed: three honest annotators, three boundaries, one rule. The gallery is the highest-ROI page: annotators learn from examples, not prose. Missing negative definitions produce over-labelling drift. QA closes the loop: ambiguous items go to a queue the domain expert clears weekly, and those become spec updates. Emphasise spec versioning: the manifest carries spec_version per annotation — v1 and v2 labels never mix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CVAT and Label Studio both support this loop; the walkthrough shows pre-labelling live. The economics are the flywheel: 2 seconds correcting versus 7 drawing. Then spend real time on the red exit — annotators anchor on drafts and under-correct, so systematic model errors get confirmed into the dataset and the next model learns its own mistakes harder. Three defences, all course defaults: confidence floors on drafts, 15% of frames annotated from scratch, and per-annotator correction-rate monitoring — a 0% correction rate is a red flag, not a compliment. Note the PDPL gate on the capture edge: masking and access control before vendor export. Small batches (200-400 frames) with per-batch QA; feedback goes privately.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Kappa corrects agreement for chance — with imbalanced classes raw percent agreement flatters. Below 0.75, stop labelling and fix the spec; labelling into a broken spec burns budget. High class agreement with low localisation agreement means boundary rules, not taxonomy, need work — that distinction routes the fix. Gold tasks catch what pairwise agreement cannot: two annotators sharing the same misunderstanding agree perfectly and are both wrong. The honest baseline matters most: measure agreement before training anything ambitious — a model asked to beat kappa 0.7 labels is being asked to out-agree its own teachers. That number belongs next to mAP in the model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cleanlab idea taught mechanically: cross-validated predictions beat in-sample where feasible, but even in-sample loss ranking finds the concentrated mass — 70% of planted-and-real errors in the top 300. Enforce triage discipline: label error, model error, or genuinely ambiguous; auditor bias is real, so fixes go through the same QA as new annotation. The stats panel is the experiment every stakeholder deck should contain: 800 actively-selected frames lift insect_damage AP by 0.09 while the matched random control lifts it by 0.03. Targeted acquisition — M3's '400 more hard mould examples' — is active learning driven by slice-level evaluation. Negatives are labelled data too: M4's glare and shadow false positives are acquired by hard-negative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budget story. The gallery row: one day of spec work versus a full relabelling round. The kappa 0.72 row is the most common in practice — teams train ever-bigger models against noisy labels and blame the architecture. The uncertainty-only row: the batch collapses onto motion-blurred frames while other failure modes starve. The test-split row previews M6: the moment a 'unfair' item is removed, cross-version comparisons are dead. Close with production reality: the release process runs continuously after deployment — annotation is an operating cost, not a project phase, and dataset lineage is an audit requirement in regulated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before the lab: run the audit and open the number-one ranked item on the projector — it is a planted, obvious label error, and the gasp is the point. Walk the mechanics: eval mode, no grad, per-item cross-entropy with reduction none, then sort descending by loss. A confident prediction disagreeing with its label is the signature of a label error. Common question: why audit the training set the model already saw? Because memorised-but-wrong items still show elevated loss, and cross-validated prediction — the full cleanlab recipe — is the upgrade path when it matters. Top 300 go to the three-way triage sheet in Lab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implementing this by hand: understand the mechanism before adopting DVC or similar tools. Each manifest row carries the file's SHA-256; the release hash covers the manifest, so verification is cheap and silent mutation impossible. Hammer the split freeze: the test split is frozen at v1 and only ever gains items — new sessions assign to splits by hash of session_id, deterministic and argument-free. The changelog separates cleaning from new data so when v2 lifts mAP by 0.04 you can say how much came from each — the discipline that pays off in every retrospective. Governance closes the loop: vendor contracts name the spec version, QA thresholds and rework terms; access to releases is logged for PDPL.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triage discipline is the assessable behaviour: pairs that mark everything 'label error' and mass-fix without the QA step have missed the auditor-bias point — ask them who audits the auditor. Expect roughly 60% label errors in the top 40: the set contains 25 planted errors plus v1's real ones. Task 3's confusion matrix is engineered to point at the sugaring/skin_split cell so the spec-fix loop closes visibly. Make each pair predict their v2 delta before Hour 5 and confront the prediction after. Offline fallback: the triage CSV workflow. Fast finishers compute per-annotator kappa against gold tasks and draft the private feedback note for the weakest performer.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table before the lab starts, not during. The underfit-checkpoint row is the most frequent: if the top-40 looks like all model errors, the pair loaded an early checkpoint — have them verify val F1 first. Kappa exactly 1.0 always means a join bug where an annotator is compared against themselves. The release-hash row teaches a portability lesson worth thirty seconds: hash bytes, not text, because line endings mutate across machines. The split-freeze failure means the v2 manifest re-assigned a shared session — restore the split column from v1. Keep the reference dataset snapshot ready for pairs who fall badly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rapid whole-class check, one minute per question. Question 2 is the one that catches people: agreement is consistency, not correctness — gold tasks exist precisely because two annotators can share the same misunderstanding. On question 3, insist on the destination: ambiguous items are not noise, they are the raw material of the next spec version. Question 5 links back to the anchor-bias warning on the flywheel slide; if the class hesitates, replay the argument — drafts get under-corrected, and the next model learns its own mistakes harder. Answers appear in the speaker notes of the rendered deck.
ANSWERS:
1. It corrects for chance agreement; imbalanced classes make raw agreement flattering.
2. Shared misunderstanding of the spec — agreement measures consistency, not correctness.
3. Label error / model error / genuinely ambiguous — the ambiguous pile feeds the spec's edge-case gallery.
4. Cross-version metric comparisons become meaningless. Freeze the split; additions only, flagged in the changelog.
5. False — without correction-rate monitoring it launders model errors into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differentiation. The sim-anchor-bias branch is the strongest: every model guess was shown as a draft, so the val split was relabelled with anchored drafts while the frozen test stayed honest — val rises, test falls; defences are the confidence floor and the from-scratch fraction. The code-review PR contains all three cardinal sins from the mistakes table; expect participants to spot the test-split edit first and the missing changelog last. The vendor discussion forces a real calculation: the discount evaporates once rework at low kappa is priced. The PDPL discussion has no single right answer — push for named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Instrument before blaming: an internal 2,000-canopy double-annotation gives kappa 0.58 on pest-vs-drought and near-perfect on healthy/dead — the taxonomy is under-specified, not the vendor lazy. Field-verifying 600 canopies stratified by model confidence shows 24% of pest labels wrong: the model faithfully learned a confused spec, which answers question 1 (val shared the labels' confusion — the ceiling argument). Fix: spec v2 with an agronomist-shot reference gallery, an 'uncertain — needs field check' class, gold tasks per batch. Budget: 8,000 relabels by model disagreement, 2,000 gold tasks, 45,000 new canopies by uncertainty sampling stratified across regions. Contract v2 names kappa &gt;= 0.8 on the pest/drought pair with rework at vendor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pass bars for the module, all machine- or key-checkable except triage accuracy. Point at the last row: the v2 retrain delta is measured in Hour 5 on the frozen test split — insect_damage AP must improve by at least 0.05 over v1. The reference numbers from the course run: classifier macro-F1 0.90 to 0.92 from 447 relabels; detector mAP@0.5 0.872 to 0.903 from cleaning plus 800 AL frames; insect_damage AP 0.798 to 0.887 with the random control managing only +0.031; kappa 0.792 to 0.861 from the spec v2 boundary rules. Every claim is attributable because cleaning and additions were measured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module: every module so far consumed metrics; this one makes participants produce them from first principles and — more importantly — distrust them intelligently. They implement IoU matching and mAP by hand once, so the numbers stop being framework magic, then build the course's evaluation harness: frozen splits, deterministic runs, per-class and per-slice reporting, a detection error taxonomy, and operating-point analysis. The harness is itself a deliverable — it referees the capstone and becomes the regression gate SDA-AIE-216 will automate. The written error-analysis report from Lab 6 plus Hour 5 is a graded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contract framing: an engineer who can only say 'mAP is 0.87' cannot answer the questions that decide renewals — what is the escape rate on the defect class that triggers retailer audits, does the system degrade at night or shift change, on the smallest fruit? Recall the M1 hospital case by name; participants have seen it and it is the canonical shape of aggregate blindness. The acceptance-testing point lands hardest with anyone who has been near procurement: handing over a harness plus frozen split beats handing over a PDF of numbers, because reproducibility is the trust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scales of the same discipline. The Tamr harness is what participants build today — stress that it is what made this morning's v2 claim defensible: without a frozen split and per-slice reporting, +0.089 on insect_damage could be test-set drift. The Riyadh traffic example previews the case study; hold the details. The bank example introduces the idea of evaluation as a witnessed, contractual event: both parties run the same harness on the same frozen documents, and when they disagree they look at frames, not tables. Ask who in the room has seen an acceptance test done by vendor demo — most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implement the primitive (6.1), interpret what it produces (6.2), then distrust it in the three productive ways — slice it (6.3), classify the errors behind it (6.4), and make it reproducible enough to bet a contract on (6.5). Note the cross-mappings: 6.3 feeds LO3 because slice findings drive data acquisition back in Module 5's loop, and 6.5 feeds LO6 because the harness becomes CI/CD infrastructure in SDA-AIE-216. Lab 6 exercises all five; the error-analysis report is the day's written deliverable and the best predictor of capstone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on the whiteboard with a drawn frame of four ground truths and six predictions — this is the module's anchor image. Then dwell on the two red exits. Greedy matching in confidence order means a confident sloppy box can steal the GT from a later, more precise one — this is the usual culprit when hand-computed AP disagrees with the framework. The same-class constraint means a perfect box with the wrong class is a false positive and leaves a false negative: double punishment, correctly. Close with the framing sentence: the IoU threshold is a definition of correct, not a tuning knob. Mask IoU substitutes pixel overlap and everything else carries over from M4's hand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PR curve first: sweep confidence high to low; each prediction either extends recall or drops precision; AP is the interpolated area, and mAP averages over classes. That innocuous averaging is where dashboards go to lie — a 310-instance foreign_object class weighs exactly as much as an 1,860-instance mould class. Then the variants: mAP@0.5 asks whether things are found and roughly localised; the COCO variant additionally rewards tight boxes. Tamr Vision cares because eject-gate targeting uses box centres; M4's road-crack case cares because area is money. End on the bridge: AP summarises all operating points, but the line runs at exactly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thesis slide — the iceberg. The stats panel shows exactly what participants will discover in Lab 6: a healthy 0.872 aggregate hiding a 0.71-recall evening-session slice they would have shipped. Walk the slice families: class is standard; session catches camera drift (the M2 planted-leakage probe); size follows COCO's small/medium/large because small objects fail first and matter most on wide shots; release separates v1-original from v2-added items. Insist on the two rules of honesty: slices declared before the run, and every number travels with its n. Restate the M1 hospital case: the model that is fine on average and broken at one site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dropped 3 points' is not actionable; where the error mass sits is. This is TIDE-style analysis simplified to five buckets the class can hold in mind. Walk one row at a time and draw the arrows to owning modules on the board: misses route to data acquisition and the M7 resolution trade-off; misclassification routes straight back to this morning's spec fix — on dates-qc v1 the sugaring/skin_split confusion carried 41% of error mass, which is why M5, not a bigger model, was the right spend. The payoff is a ranked remediation plan: error mass, root cause, fix, cost — participants write theirs in Lab 6 and it is the written deliverable of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to top. Frozen inputs: the split is pinned by the M5 release hash, predictions cached to parquet so re-analysis never re-runs inference, and the eval config — thresholds, slices, IoU definitions — is versioned alongside. Determinism is enforced, not hoped for. Regression mode compares two checkpoints and flags any slice that degraded two points or more even when the aggregate improved — it runs in Hour 5 for v1-vs-v2 and referees the capstone. Galleries settle arguments that tables start. The honest-deltas rule of thumb matters on a 1,400-instance split: below 0.01 is noise; the bootstrap CI script exists for when a delta is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one is the debugging exercise made explicit: frameworks sweep from conf 0.001 for AP, the product runs at 0.35, and the two views can differ by 0.31 in precision — always report the deployed operating point alongside AP. 'Frozen splits or silence' is worth writing on the board. The class-imbalance row: macro-mAP treats the 310-instance audit-triggering foreign_object class equal to 1,860-instance mould; the business-weighted summary is a separate, documented row, never a silent substitution. The last row recalls M4: a vision system is graded on its output numbers — area-MAE and grading-disagreement rate live in the same harness as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Lab 6 task 1 and 2 in one screen; walk it slowly. The argsort in confidence order is where correctness lives — skip it and AP drifts 0.02-0.05 from the framework value. The candidate mask enforces same-class-and-unconsumed; a prediction with no candidate simply falls through as a false positive. Note the return re-sorting tp back to input order. For AP: cumulate TPs and FPs down the confidence sweep, build precision and recall, then 101-point interpolation per the COCO convention. Common question: why max over precision at recall &gt;= r? That is the interpolation envelope smoothing the sawtooth. The 12 unit tests include the steal case, the wrong-class perfect box, and the empty-GT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at the end of the lecture: run the harness, let the green aggregate scroll past, then stop at the red s09 row in silence and ask the room what they would have shipped. The split argument is release-pinned syntax — test at dates-qc-v1 — so the exam is named in every report. The error-mass dictionary is the input to the remediation plan: 41% misclassification routes back to M5's spec fix, draw that arrow. Regression mode is the Hour 5 tool: it emits per-slice deltas with n, flags anything degraded two points or more, and renders the gallery of frames whose verdicts flipped between v1 and v2. Slices under n=50 render greyed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3's planted s09 slice is the module's thesis in one row: every pair sees a healthy aggregate hiding a 0.71-recall evening slice they would have shipped. Ask each pair to say aloud what dashboard would have caught it in production — per-session control charts, the SDA-AIE-216 hook. The remediation plan from task 4 is the best predictor of capstone quality; grade it formatively now. In task 5, running with --seed 999 legitimately changes nothing — inference is cached, and that is the point. No GPU needed anywhere. Fast finishers implement mAP@0.5:0.95 by looping the matcher over thresholds and reconcile with the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before the lab. Row one is by far the most common: hand-rolled AP disagreeing with the framework almost always means predictions were not sorted by confidence before matching, or a matched ground truth was not consumed. The empty-GT row is subtle — an image with no ground truth still contributes false positives, and forgetting it inflates AP. The determinism row is usually a timestamp baked into the report template. The bootstrap row teaches a statistics point worth saying aloud: instances within an image are correlated, so resampling must happen at the image level or the interval is fiction.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 whole-class check before the case study. Question 1 tests whether the matching lecture stuck — listen for 'double punishment' and push for why it is correct, not harsh. Question 2 connects metrics to money: the eject gate actuates on box centres. Question 4 is the day's golden thread in one line: the error taxonomy routes the fix to Module 5's spec work, not to architecture — if the class answers 'bigger model', replay the 41% error-mass story. Question 5 sets up Hour 5, where regression mode must confirm no powered slice degraded even as the aggregate improves. Answers land in the rendered speaker notes.
ANSWERS:
1. A false positive that also leaves a false negative — double punishment, by design.
2. 0.5:0.95 — box centres drive actuation, so tight localisation is what the use case pays for.
3. Post-hoc slicing is multiple-comparison fishing; the slice taxonomy is reviewed like code.
4. Annotation spec and boundary rules plus targeted relabels (M5) — not a bigger model.
5. False — regression mode exists precisely because this happens routinely.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threshold-report branch reproduces field complaints in miniature: metrics computed at the framework's conf=0.001 sweep while deployment runs at 0.35 — participants add the deployed operating point as a first-class report row. In the code review, each finding corrupts a decision: the re-shuffled split kills every historical comparison, macro-only reporting hides foreign_object, and +0.008 with no CI is noise sold as progress. For the plant manager: worst powered slice recall with its n, or a documented business-weighted summary — never a bare mean. Best acceptance-clause rewrite uses slices, floors, n requirements, split custody, and regression mode; adopt it as the class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toward the case pack's numbers. The independent harness over the city's archive, sliced class x time-bucket x intersection type, finds motorcycles-at-night recall of 0.62 (n=1,340) against fleet mAP 0.91 — arithmetically true, operationally meaningless. The vendor's test set could never have seen it: 41 night motorcycles is under-powered and greyed out by any honest report. Misses dominate (small, low-light, headlight bloom), so the fix is data — 6,000 night-motorcycle frames mined from the archive plus hard-negative bloom examples — not architecture. Contract v2: motorcycle night recall &gt;= 0.85 with n &gt;= 500, the city's frozen split as referee, harness handover with byte-identical reproducibility, quarterly regression with a no-degraded-slice clause. The renewal deck leads with eight gallery frames of missed motorcycles. On question 4: aggregate floors do not bind slices, and 0.95 pays for over-performance on cars-at-noon nobody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bar except the remediation plan is machine-checkable, which is deliberate — evaluation infrastructure should evaluate itself. The reference benchmark view from the course run: aggregate mAP@0.5 of 0.872 over 1,412 instances is green and insufficient; the worst powered slice, session s09, sits at 0.71 recall with n=142 and is the real headline; the deployed operating point for mould reads recall 0.993 at 0.041 FP per image, meeting line spec; the v2 insect_damage delta of +0.089 carries CI [+0.061, +0.114] — a real improvement; and the error-mass leader, misclassification at 41%, routes to M5's spec fix. The last row is completed in Hour 5 and pasted into the graded error-analysis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hour is the emotional payoff of the whole day — protect it from overruns. Before any run, collect each pair's predicted v2 delta; the confrontation between prediction and result is where the lesson lands. Retrain on v2, then regression mode v1-vs-v2 on the frozen split: confirm the insect_damage gain beats the +0.05 target, verify no powered slice degraded two points or more, and run the bootstrap CI on the headline delta. The regression summary is pasted into the error-analysis report — a graded deliverable. Then the capstone briefing: Day 4 Hours 3-4 assemble the full inspection system; the harness referees the demos, and repository URLs plus BENCHMARKS.md are collected at end of Day 4 Hour 4. Close with the milestone M-A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arc: three days of building, one day of shipping. Day 4 is 25% theory, 75% lab — the most build-heavy day. Set two logistics rules up front: repository URLs and BENCHMARKS.md are collected at the end of Hour 4 so harness results can be verified before demos, and rubric scoring happens live during Hour 5. Remind pairs they enter capstone hours with the deployment leg already done if Lab 7 lands. The afternoon is deliberately flexible for prayer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in one minute, then anchor expectations: Hour 1 is the only lecture of the day; from Hour 2 onward participants build. Emphasise the hard rule from the instructor guide: capstone assembly (Hour 3) starts on time — cut discussion, not build time. Each hour is 50 minutes of instruction plus 10 minutes buffer; schedule the long break around Dhuhr. If a strong cohort is ahead, pull the sustained-load benchmark and the threshold auto-tuner extensions into main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with its purpose line: a model that lives in a notebook inspects nothing. M7 carries the Tamr Vision models across the last mile — export with verified numerical parity, optimise for the target, benchmark honestly, and assemble the edge loop that runs over the conveyor. Stress that the M1 preprocessing contract completes its journey here: the same transforms.py semantics, reimplemented and tested for equivalence in the deployment wrapper. Pairs leave with the deployment leg of the capstone already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Cloud-versus-edge is an economics and sovereignty decision before a technical one. Walk the numbers: streaming 30 FPS of 1280×1024 video costs more in bandwidth than the edge box costs in capex; regional RTT breaks the 380 ms actuation deadline; and many Saudi deployments — government sites, industrial plants, data-residency expectations — cannot ship frames off-premises. Land the punchline: an INT8 model at 416² on a 900-riyal edge board frequently replaces a cloud GPU subscription, if someone does the trade-off work. The red stat is the regional pilot-killer this module prevents.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deployments plus the failure they avoid. Tamr Vision's own edge box is the course north star: decision-to-actuation inside the 380 ms gate budget. The ANPR gate returns as this module's case study — plant that seed now. The retail example lands the economics: a bandwidth bill cut 40× and a PDPL posture the DPO signed without a meeting. Ask the room which of their own projects currently assumes the demo GPU is the production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all converging on LO6. Read 7.4 aloud — benchmark honestly — because it carries the module's ethic: warm-up, percentiles, end-to-end measurement. Point out that 7.5 loops back to LO1: the preprocessing contract from Module 1 is deployed and equivalence-tested here. Expected competency at the end: export with parity tests, quantify the accuracy cost of INT8 with a calibration set, choose a configuration against a written latency budget, and assemble a monitored edge loop with the fallback behaviours a production line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is a table, not a preference. Walk each row and let Tamr Vision's numbers decide: the eject gate is 1.9 m downstream at 0.3 m/s belt speed — 380 ms total for capture through actuation — and regional cloud RTT alone eats a third of it with no jitter allowance. Edge wins; the cloud's role becomes fleet telemetry, retraining, and the M5 data flywheel. The hybrid pattern (edge inference + cloud learning loop) is the default architecture and exactly the seam where SDA-AIE-216 picks up. Also flag the edge row's cost: fleet update mechanism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ONNX freezes the model as a dataflow graph with a pinned opset, decoupling training framework from serving runtime (ONNX Runtime, TensorRT, OpenVINO). The two rules prevent 90% of incidents. Parity failures localise to three causes: unsupported ops silently decomposed, training-mode layers exported — model.eval() before export, M2's lesson again — or preprocessing drift. The M1 interpolation-skew simulation was rehearsal for precisely this moment. Ultralytics wraps export in one call; the course exports without NMS so the operating point stays in config, where M3 established it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ladder top to bottom by effort-to-payoff. Rung 1 is nearly free: latency scales roughly quadratically with edge length — but insist on per-class checks; the −0.06 on insect_damage is the M4 resolution lesson. Rung 2: dynamic quantisation is one safe line; static needs 200–500 representative calibration images — season, lighting and defect mix matter, or you quantise away the evening tail s09 taught us to watch. Measured costs: classifier −0.4 F1 points, detector −0.011 mAP@0.5. FP16 is near-free on GPUs. Rung 4 is taught as a map, not a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Amdahl slide. The budget is consumed by the pipeline, and inference is often under half of it; after INT8, preprocessing rivals inference — make pairs say the fraction out loud during the lab. Contrast the red cloud path: 60–150 ms regional RTT plus jitter blows the budget before the model even runs. The course benchmark harness times each stage separately. Keep this waterfall visible during capstone assembly — every integration decision gets tested against it, and the eject gate fires 380 ms after the camera sees the fruit.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disciplines of honest measurement. Warm-up: TensorRT graph compilation can take minutes; discard at least 20 runs. Percentiles over at least 500 timed runs, measured under realistic co-load on shared boxes. End-to-end: the classic surprise is preprocessing rivalling inference after INT8 — Amdahl's law, live. Throughput versus latency: same model, opposite configurations, both belong in the table. Close with the course legend: the benchmark that passes in the air-conditioned lab and fails above the conveyor in August — that is why the thermal soak is acceptance, not decoration.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deployed artefact is a service — SDA-AIE-113 practices, on a box. Walk the log fields: frame id, raw per-class scores, decision, stage latencies, model + dataset + config versions — that JSON line is what makes field debugging possible. The fallback ladder is the slide's teeth: line-keeps-moving versus line-stops is a food-safety judgement, not an engineering one; the engineer's job is to force the conversation and implement the answer. The input-fingerprint watchdog is the M1 drift hook, now armed. SDA-AIE-216 turns the update mechanism into a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real incident pattern. Row 1 costs two mAP points and three days of confusion; parity is a unit test run in CI on every export. Row 2 is why the wrapper is equivalence-tested against eval_tf() on 50 real images with max pixel-path divergence under 1e-3. Rows 3 and 6 are the regional specials: daytime calibration and Gulf-summer throttling. Production hygiene from the source: fleet telemetry carries stage latencies and input fingerprints per box, the previous bundle stays on-box for instant rollback, and the harness report ships inside the model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ritual line by line. model.eval() is deliberately missing in lab7-start — participants will hit random-pattern decision flips and must diagnose from the pattern. Underline the parity loop: real validation images through both runtimes, two assertions — tensor tolerance and zero decision flips. Decision-level parity is the stronger, cheaper test. Fixed shapes on a single-camera line enable more aggressive runtime optimisation. Expected output: max diff around 3.1e-05, zero flips. The detector export follows with nms=False and imgsz=416, decision parity verified via the M6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on the classroom machine and stage the Amdahl reveal: show preprocessing's share of the pipeline before and after INT8. The warm-up loop is non-negotiable — first runs pay provider graph compilation and can be 10× slower. Percentiles come from 500 runs over 50 real captured frames, cycled. NMS runs in code, not in the graph, so op_config stays tunable. Expected result for INT8 at 416 on the classroom CPU with OpenVINO: pre p99 9.4 ms, infer 16.8 ms, post 3.7 ms, total p99 28.9 ms against the 380 ms end-to-end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1's planted train-mode export is the module's rite of passage — the random flip pattern versus the systematic preprocessing-drift signature teaches the two diagnostics side by side. Task 4 is the Amdahl moment: make pairs say the preprocessing fraction out loud before and after mitigation (resize before normalise; measure again). Task 5's selection must cite a slice cost — pairs that write '−0.011 mAP, acceptable' get the s09 question. Fast finishers: the 10-minute sustained-load run with latency plot, or export FP16 and add the row. Runs on CPU by design — the edge box is a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table on screen through the lab. The first two rows are the diagnostic pair: random flips mean train mode, systematic diff means wrapper drift — knowing the signatures halves debug time. Row 3 connects to sim-calib-day: an INT8 collapse confined to one slice almost always means the calibration set missed it; re-stratify by session and time bucket. Row 4 is why the bench script discards 20 runs. Row 5 is common on classroom installs: fall back to CPUExecutionProvider and record the EP honestly in the trade-off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five-minute cold-call before capstone assembly. Q1 and Q4 verify the export discipline stuck; Q2 checks calibration understanding ahead of the debugging exercise. Q5 is the one most get wrong — the reflex is to multiply the pipeline by the model speed-up; use it to replay the waterfall slide. Answers are in the speaker notes. If the room hesitates on Q3, re-show the bench.py output and ask which number the eject gate actually cares about.
ANSWERS:
1. Tensor parity within tolerance on real images + zero decision flips at the operating point.
2. Pre-computed activation ranges — so it needs a representative calibration set.
3. The gate misses on tail latency; means hide the misses.
4. The operating point stays tunable in config (M3); no re-export needed to retune a threshold.
5. False — Amdahl: capture/preprocess/post don't shrink; measure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debugging exercise (branch sim-calib-day) chains M5, M6 and M7 in one loop: the aggregate barely moves while s09 recall drops 0.11 — participants must find it through the slice report, not the aggregate, because the calibration set was sampled from daytime sessions only. The code-review findings map to incidents: normalisation drift, benchmark fiction, a frozen operating point. In the cloud-pitch discussion, push until they name the two workloads that DO belong in the cloud: retraining and fleet analytics. The crash discussion must end with a named owner for the fallback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Build the referee first: a 12,000-frame frozen split from the operator's own archives, sliced by gate, time, plate format and weather, double-annotated (M5 discipline) — it scores both the incumbent API and every candidate. Edge candidate: YOLO-family detector at 416², INT8, OpenVINO EP, parity-tested; calibration stratified across the declared slices — the night slice is where naive calibration fails, exactly as in sim-calib-day. Acceptance is 30 minutes at 46 °C ambient, p99 under thermal soak. Fleet: versioned bundles, a week of shadow mode per gate, gate-by-gate cutover, instant rollback; frames never leave the site. Evidence pack: per-slice parity table, shadow-mode disagreement gallery, p99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module's central artefact and the M-D gate. The source's full version also tracks s09 recall (0.84 / 0.82 / 0.83 / 0.81 across the four configs) and infer p99 — pairs must fill all columns in BENCHMARKS.md, and the selection sentence must cite the slice cost being accepted, not just the aggregate. Remaining targets: classifier parity max diff below 1e-4 with zero decision flips per 100; detector decision parity identical over 200 frames; trade-off table completeness is itself a graded metric — 4 configs × stages × per-class deltas.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participants are the vision engineer for Tamr Vision (رؤية تمر), the quality-inspection system of a date-packing plant in Al-Qassim. Over four days they built every component — input pipeline, grade classifier, defect detector, segmenter, curated v2 dataset, evaluation harness, and exported edge artefacts. The capstone is integration plus engineering judgement: one system that watches the conveyor, grades every fruit against the plant's rules, and proves its own quality with a harness report. It is the vision-system project named in the assessment, worth 40% of the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mandatory requirements, each mapping to the module that taught it — put that symmetry on the board. Details worth calling out: the classifier checkpoint must embed class order, contract reference and metrics; the detector needs a feasibility analysis for any class that cannot meet its operating point; segmentation reports the grading-disagreement rate against the 8% rule; deployment includes the assembled decision pipeline (classifier + detector + segmenter + grading rules) running on sample footage with structured decision logs, justified against the 380 ms budget. Evaluating on anything but the frozen split is an anti-pattern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target state — most of it already exists from the labs; the capstone wires it together. Trace the two loops: the inner loop (training world, harness, export gate) and the outer flywheel (edge decision logs feeding the M5 audit and active-learning loop toward a future v3). The frozen test split sits beside the releases and referees everything. Grading rules — the 8% area rule and per-class operating points — are versioned config, not code. Assembly hours 3–4 focus on the edge-box layer and the decision logic; the rest should be re-use, not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through M-C should already be green from Days 2–3; if any pair is behind, they fast-forward from the reference checkpoints rather than burning assembly time. M-D closes with Lab 7: the trade-off table complete. Hour 3 starts assembly on time — the hard rule; cut discussion, not build time. M-E's gate is the capstone checklist plus the peer-review round in Hour 4. M-F is the demo plus live rubric scoring in Hour 5. Spot-check M-E honestly: a checklist declared green with a missing equivalence test will surface during the live number verification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artefacts plus the demo itself. BENCHMARKS.md is the backbone — every course benchmark table filled from the pair's own runs; the shared leaderboard rows (classifier F1, detector mAP, area MAE, pipeline p99) come from it. DECISIONS.md is where judgement shows: reward participants who rejected something defensible — a config, an augmentation, an extension — with reasons. Collect repository URLs and BENCHMARKS.md at the end of Hour 4, before demos, so harness numbers can be verified while participants prepare their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from the repository and harness report first, demo second — reproducible evidence is the course's thesis; a slick demo with an untouched frozen split beats nothing. Verify one number live per participant: re-run their harness on the frozen split against BENCHMARKS.md; any mismatch triggers a full check. Anti-pattern flags that cap a criterion at 70%: metrics at undeployed thresholds, test-split modifications, INT8 adopted without a slice check, parity tested on random tensors only, regression deltas without n or CI. Where targets are narrowly missed, grade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demos to five minutes, hard. Scoring is live — peer plus instructor — during Hour 5. The four demo elements mirror the course thesis: run the system, show the worst slice, defend a trade-off, name the next fix. Bonus tasks for distinction seekers: a TensorRT or OpenVINO-native engine row against ONNX Runtime, the sim-drift watchdog reproduction with a 10-line runbook entry, ByteTrack multi-object counting versus the frame-level baseline, or the one-page acceptance-test document for a fictional buyer. Extensions earn up to +5 only when mandatory scope is at 80% or better — say this before anyone gold-plates.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capstone is 40% and labs are 35% — three quarters of the grade is built evidence, not exams. Lab completion is verified through checkpoint commits, expected outputs and BENCHMARKS.md entries. The quiz uses 10 of the 20-question bank per cohort, 15 minutes, closed book. Badge issuance (the Vision specialisation badge) requires at least 70 overall AND capstone at least 70 AND zero academic-integrity flags — identical harness reports or benchmark tables across repositories are checked. Announce the integrity check early; it prevents rather than catches.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PA-1 hands participants a deliberately broken detection project — BGR feed into the wrapper, class-shifted dataset YAML, metrics reported at conf=0.001 — and scores diagnosis notes 40%, fixes 40%, verification evidence 20%. PA-2 is a governance review of a dataset PR scored against the model review: 50% triage correctness, 30% review actionability, 20% governance reasoning. The M7 quiz answers to have ready: export needs tensor parity plus zero decision flips; an evening-slice INT8 failure means a daytime-only calibration set; p99 because actuation deadlines are missed in the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overrun-prone pair is Labs 3 and 5 — protect them at full length and compress M4 theory instead; mask mechanics land through the lab. Day 3 Hour 5 is the course's emotional payoff — never sacrifice it. Every lab caps training at 15 minutes wall-clock by design; if a run exceeds it, resume from the checkpoint — the learning is in the decisions, not the waiting. Rotate pairs daily, matching strong-PyTorch with strong-domain-intuition participants. Each hour is 50 minutes plus 10 buffer; the Day 4 afternoon is deliberately flexible for prayer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T-minus-one-week checklist, the Day 4 critical items: sim branches sim-calib-day and sim-wrapper-drift pushed, lab7-start tagged, reference checkpoints regenerated within ±0.005, onnxruntime installed (OpenVINO variant where possible), and the optimisation-ladder and cloud-vs-edge A4 posters printed. For the wrap-up, use discussion prompt five: which DECISIONS.md entry would you defend in front of a food-safety auditor? SDA-AIE-216 operates exactly what was built today — versioned bundles, harness-as-regression-gate, input fingerprints, fleet telemetry. Specialist certificate = Practitioner + AIE-216 + any three of AIE-211–215.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stackability: participants leave with the vision specialisation badge, an elective credit toward the AI Engineer Specialist certificate, and a working system that becomes their starting artefact in SDA-AIE-216, where they add CI/CD, monitoring, and drift alerting. Encourage immediate enrolment while the capstone code is fresh — the MLOps course assumes the Tamr Vision system as a known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by capability, not by module title — read each card as 'you can now…'. Invite each pair to name the single technique they will apply at work within a month, and write the answers on the board; this commitment moment measurably improves transfer. Remind them the course repo, checkpoints, and BENCHMARKS.md templates remain available, and point them to the feedback form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acknowledge the pairs that presented strong capstones, and confirm the logistics on screen: rubric scores within five working days, repo access persists, and the badge is issued through the Academy platform. End with the forward pointer to SDA-AIE-216 and a final photo of the class with their benchmark wall if culture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essions/blissful-determined-ritchie/build/assets/sdaia_logo.png">    </p:cNvPr>
          <p:cNvPicPr>
            <a:picLocks noChangeAspect="1"/>
          </p:cNvPicPr>
          <p:nvPr/>
        </p:nvPicPr>
        <p:blipFill>
          <a:blip r:embed="rId1"/>
          <a:stretch>
            <a:fillRect/>
          </a:stretch>
        </p:blipFill>
        <p:spPr>
          <a:xfrm>
            <a:off x="640080" y="502920"/>
            <a:ext cx="2286000" cy="559558"/>
          </a:xfrm>
          <a:prstGeom prst="rect">
            <a:avLst/>
          </a:prstGeom>
        </p:spPr>
      </p:pic>
      <p:sp>
        <p:nvSpPr>
          <p:cNvPr id="3" name="Shape 0"/>
          <p:cNvSpPr/>
          <p:nvPr/>
        </p:nvSpPr>
        <p:spPr>
          <a:xfrm>
            <a:off x="8595360" y="1444752"/>
            <a:ext cx="438912" cy="380390"/>
          </a:xfrm>
          <a:prstGeom prst="triangle">
            <a:avLst/>
          </a:prstGeom>
          <a:solidFill>
            <a:srgbClr val="00A79D"/>
          </a:solidFill>
          <a:ln/>
        </p:spPr>
      </p:sp>
      <p:sp>
        <p:nvSpPr>
          <p:cNvPr id="4" name="Shape 1"/>
          <p:cNvSpPr/>
          <p:nvPr/>
        </p:nvSpPr>
        <p:spPr>
          <a:xfrm rot="10800000">
            <a:off x="9063533" y="1078992"/>
            <a:ext cx="438912" cy="380390"/>
          </a:xfrm>
          <a:prstGeom prst="triangle">
            <a:avLst/>
          </a:prstGeom>
          <a:solidFill>
            <a:srgbClr val="29ABE2"/>
          </a:solidFill>
          <a:ln/>
        </p:spPr>
      </p:sp>
      <p:sp>
        <p:nvSpPr>
          <p:cNvPr id="5" name="Shape 2"/>
          <p:cNvSpPr/>
          <p:nvPr/>
        </p:nvSpPr>
        <p:spPr>
          <a:xfrm rot="10800000">
            <a:off x="9063533" y="1810512"/>
            <a:ext cx="438912" cy="380390"/>
          </a:xfrm>
          <a:prstGeom prst="triangle">
            <a:avLst/>
          </a:prstGeom>
          <a:solidFill>
            <a:srgbClr val="F58220"/>
          </a:solidFill>
          <a:ln/>
        </p:spPr>
      </p:sp>
      <p:sp>
        <p:nvSpPr>
          <p:cNvPr id="6" name="Shape 3"/>
          <p:cNvSpPr/>
          <p:nvPr/>
        </p:nvSpPr>
        <p:spPr>
          <a:xfrm>
            <a:off x="9531706" y="1444752"/>
            <a:ext cx="438912" cy="380390"/>
          </a:xfrm>
          <a:prstGeom prst="triangle">
            <a:avLst/>
          </a:prstGeom>
          <a:solidFill>
            <a:srgbClr val="8DC63F"/>
          </a:solidFill>
          <a:ln/>
        </p:spPr>
      </p:sp>
      <p:sp>
        <p:nvSpPr>
          <p:cNvPr id="7" name="Shape 4"/>
          <p:cNvSpPr/>
          <p:nvPr/>
        </p:nvSpPr>
        <p:spPr>
          <a:xfrm>
            <a:off x="9531706" y="713232"/>
            <a:ext cx="438912" cy="380390"/>
          </a:xfrm>
          <a:prstGeom prst="triangle">
            <a:avLst/>
          </a:prstGeom>
          <a:solidFill>
            <a:srgbClr val="1D2A5C"/>
          </a:solidFill>
          <a:ln/>
        </p:spPr>
      </p:sp>
      <p:sp>
        <p:nvSpPr>
          <p:cNvPr id="8" name="Shape 5"/>
          <p:cNvSpPr/>
          <p:nvPr/>
        </p:nvSpPr>
        <p:spPr>
          <a:xfrm rot="10800000">
            <a:off x="9999878" y="1078992"/>
            <a:ext cx="438912" cy="380390"/>
          </a:xfrm>
          <a:prstGeom prst="triangle">
            <a:avLst/>
          </a:prstGeom>
          <a:solidFill>
            <a:srgbClr val="29ABE2"/>
          </a:solidFill>
          <a:ln/>
        </p:spPr>
      </p:sp>
      <p:sp>
        <p:nvSpPr>
          <p:cNvPr id="9" name="Shape 6"/>
          <p:cNvSpPr/>
          <p:nvPr/>
        </p:nvSpPr>
        <p:spPr>
          <a:xfrm>
            <a:off x="9999878" y="1810512"/>
            <a:ext cx="438912" cy="380390"/>
          </a:xfrm>
          <a:prstGeom prst="triangle">
            <a:avLst/>
          </a:prstGeom>
          <a:solidFill>
            <a:srgbClr val="00A79D"/>
          </a:solidFill>
          <a:ln/>
        </p:spPr>
      </p:sp>
      <p:sp>
        <p:nvSpPr>
          <p:cNvPr id="10" name="Shape 7"/>
          <p:cNvSpPr/>
          <p:nvPr/>
        </p:nvSpPr>
        <p:spPr>
          <a:xfrm rot="10800000">
            <a:off x="10468051" y="1444752"/>
            <a:ext cx="438912" cy="380390"/>
          </a:xfrm>
          <a:prstGeom prst="triangle">
            <a:avLst/>
          </a:prstGeom>
          <a:solidFill>
            <a:srgbClr val="F58220"/>
          </a:solidFill>
          <a:ln/>
        </p:spPr>
      </p:sp>
      <p:sp>
        <p:nvSpPr>
          <p:cNvPr id="11" name="Shape 8"/>
          <p:cNvSpPr/>
          <p:nvPr/>
        </p:nvSpPr>
        <p:spPr>
          <a:xfrm>
            <a:off x="9692640" y="5673852"/>
            <a:ext cx="301752" cy="261518"/>
          </a:xfrm>
          <a:prstGeom prst="triangle">
            <a:avLst/>
          </a:prstGeom>
          <a:solidFill>
            <a:srgbClr val="00A79D">
              <a:alpha val="18000"/>
            </a:srgbClr>
          </a:solidFill>
          <a:ln/>
        </p:spPr>
      </p:sp>
      <p:sp>
        <p:nvSpPr>
          <p:cNvPr id="12" name="Shape 9"/>
          <p:cNvSpPr/>
          <p:nvPr/>
        </p:nvSpPr>
        <p:spPr>
          <a:xfrm rot="10800000">
            <a:off x="10014509" y="5422392"/>
            <a:ext cx="301752" cy="261518"/>
          </a:xfrm>
          <a:prstGeom prst="triangle">
            <a:avLst/>
          </a:prstGeom>
          <a:solidFill>
            <a:srgbClr val="29ABE2">
              <a:alpha val="18000"/>
            </a:srgbClr>
          </a:solidFill>
          <a:ln/>
        </p:spPr>
      </p:sp>
      <p:sp>
        <p:nvSpPr>
          <p:cNvPr id="13" name="Shape 10"/>
          <p:cNvSpPr/>
          <p:nvPr/>
        </p:nvSpPr>
        <p:spPr>
          <a:xfrm rot="10800000">
            <a:off x="10014509" y="5925312"/>
            <a:ext cx="301752" cy="261518"/>
          </a:xfrm>
          <a:prstGeom prst="triangle">
            <a:avLst/>
          </a:prstGeom>
          <a:solidFill>
            <a:srgbClr val="F58220">
              <a:alpha val="18000"/>
            </a:srgbClr>
          </a:solidFill>
          <a:ln/>
        </p:spPr>
      </p:sp>
      <p:sp>
        <p:nvSpPr>
          <p:cNvPr id="14" name="Shape 11"/>
          <p:cNvSpPr/>
          <p:nvPr/>
        </p:nvSpPr>
        <p:spPr>
          <a:xfrm>
            <a:off x="10336378" y="5673852"/>
            <a:ext cx="301752" cy="261518"/>
          </a:xfrm>
          <a:prstGeom prst="triangle">
            <a:avLst/>
          </a:prstGeom>
          <a:solidFill>
            <a:srgbClr val="8DC63F">
              <a:alpha val="18000"/>
            </a:srgbClr>
          </a:solidFill>
          <a:ln/>
        </p:spPr>
      </p:sp>
      <p:sp>
        <p:nvSpPr>
          <p:cNvPr id="15" name="Shape 12"/>
          <p:cNvSpPr/>
          <p:nvPr/>
        </p:nvSpPr>
        <p:spPr>
          <a:xfrm>
            <a:off x="10336378" y="5170932"/>
            <a:ext cx="301752" cy="261518"/>
          </a:xfrm>
          <a:prstGeom prst="triangle">
            <a:avLst/>
          </a:prstGeom>
          <a:solidFill>
            <a:srgbClr val="1D2A5C">
              <a:alpha val="18000"/>
            </a:srgbClr>
          </a:solidFill>
          <a:ln/>
        </p:spPr>
      </p:sp>
      <p:sp>
        <p:nvSpPr>
          <p:cNvPr id="16" name="Shape 13"/>
          <p:cNvSpPr/>
          <p:nvPr/>
        </p:nvSpPr>
        <p:spPr>
          <a:xfrm rot="10800000">
            <a:off x="10658246" y="5422392"/>
            <a:ext cx="301752" cy="261518"/>
          </a:xfrm>
          <a:prstGeom prst="triangle">
            <a:avLst/>
          </a:prstGeom>
          <a:solidFill>
            <a:srgbClr val="29ABE2">
              <a:alpha val="18000"/>
            </a:srgbClr>
          </a:solidFill>
          <a:ln/>
        </p:spPr>
      </p:sp>
      <p:sp>
        <p:nvSpPr>
          <p:cNvPr id="17" name="Shape 14"/>
          <p:cNvSpPr/>
          <p:nvPr/>
        </p:nvSpPr>
        <p:spPr>
          <a:xfrm>
            <a:off x="10658246" y="5925312"/>
            <a:ext cx="301752" cy="261518"/>
          </a:xfrm>
          <a:prstGeom prst="triangle">
            <a:avLst/>
          </a:prstGeom>
          <a:solidFill>
            <a:srgbClr val="00A79D">
              <a:alpha val="18000"/>
            </a:srgbClr>
          </a:solidFill>
          <a:ln/>
        </p:spPr>
      </p:sp>
      <p:sp>
        <p:nvSpPr>
          <p:cNvPr id="18" name="Shape 15"/>
          <p:cNvSpPr/>
          <p:nvPr/>
        </p:nvSpPr>
        <p:spPr>
          <a:xfrm rot="10800000">
            <a:off x="10980115" y="5673852"/>
            <a:ext cx="301752" cy="261518"/>
          </a:xfrm>
          <a:prstGeom prst="triangle">
            <a:avLst/>
          </a:prstGeom>
          <a:solidFill>
            <a:srgbClr val="F58220">
              <a:alpha val="18000"/>
            </a:srgbClr>
          </a:solidFill>
          <a:ln/>
        </p:spPr>
      </p:sp>
      <p:sp>
        <p:nvSpPr>
          <p:cNvPr id="19" name="Text 16"/>
          <p:cNvSpPr/>
          <p:nvPr/>
        </p:nvSpPr>
        <p:spPr>
          <a:xfrm>
            <a:off x="685800" y="2331720"/>
            <a:ext cx="10058400" cy="32004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SDAIA ACADEMY · AI ENGINEER TRACK</a:t>
            </a:r>
            <a:endParaRPr lang="en-US" sz="1300" dirty="0"/>
          </a:p>
        </p:txBody>
      </p:sp>
      <p:sp>
        <p:nvSpPr>
          <p:cNvPr id="20" name="Text 17"/>
          <p:cNvSpPr/>
          <p:nvPr/>
        </p:nvSpPr>
        <p:spPr>
          <a:xfrm>
            <a:off x="658368" y="2697480"/>
            <a:ext cx="10881360" cy="960120"/>
          </a:xfrm>
          <a:prstGeom prst="rect">
            <a:avLst/>
          </a:prstGeom>
          <a:noFill/>
          <a:ln/>
        </p:spPr>
        <p:txBody>
          <a:bodyPr wrap="square" lIns="0" tIns="0" rIns="0" bIns="0" rtlCol="0" anchor="ctr"/>
          <a:lstStyle/>
          <a:p>
            <a:pPr indent="0" marL="0">
              <a:buNone/>
            </a:pPr>
            <a:r>
              <a:rPr lang="en-US" sz="4400" b="1" dirty="0">
                <a:solidFill>
                  <a:srgbClr val="1D2A5C"/>
                </a:solidFill>
                <a:latin typeface="Calibri" pitchFamily="34" charset="0"/>
                <a:ea typeface="Calibri" pitchFamily="34" charset="-122"/>
                <a:cs typeface="Calibri" pitchFamily="34" charset="-120"/>
              </a:rPr>
              <a:t>Computer Vision Systems Development</a:t>
            </a:r>
            <a:endParaRPr lang="en-US" sz="4400" dirty="0"/>
          </a:p>
        </p:txBody>
      </p:sp>
      <p:sp>
        <p:nvSpPr>
          <p:cNvPr id="21" name="Text 18"/>
          <p:cNvSpPr/>
          <p:nvPr/>
        </p:nvSpPr>
        <p:spPr>
          <a:xfrm>
            <a:off x="685800" y="3657600"/>
            <a:ext cx="10881360" cy="566928"/>
          </a:xfrm>
          <a:prstGeom prst="rect">
            <a:avLst/>
          </a:prstGeom>
          <a:noFill/>
          <a:ln/>
        </p:spPr>
        <p:txBody>
          <a:bodyPr wrap="square" lIns="0" tIns="0" rIns="0" bIns="0" rtlCol="0" anchor="ctr"/>
          <a:lstStyle/>
          <a:p>
            <a:pPr indent="0" marL="0">
              <a:buNone/>
            </a:pPr>
            <a:r>
              <a:rPr lang="en-US" sz="2600" dirty="0">
                <a:solidFill>
                  <a:srgbClr val="5F6B7A"/>
                </a:solidFill>
                <a:latin typeface="Arial" pitchFamily="34" charset="0"/>
                <a:ea typeface="Arial" pitchFamily="34" charset="-122"/>
                <a:cs typeface="Arial" pitchFamily="34" charset="-120"/>
              </a:rPr>
              <a:t>تطوير أنظمة الرؤية الحاسوبية</a:t>
            </a:r>
            <a:endParaRPr lang="en-US" sz="2600" dirty="0"/>
          </a:p>
        </p:txBody>
      </p:sp>
      <p:sp>
        <p:nvSpPr>
          <p:cNvPr id="22" name="Text 19"/>
          <p:cNvSpPr/>
          <p:nvPr/>
        </p:nvSpPr>
        <p:spPr>
          <a:xfrm>
            <a:off x="685800" y="4343400"/>
            <a:ext cx="10058400" cy="365760"/>
          </a:xfrm>
          <a:prstGeom prst="rect">
            <a:avLst/>
          </a:prstGeom>
          <a:noFill/>
          <a:ln/>
        </p:spPr>
        <p:txBody>
          <a:bodyPr wrap="square" lIns="0" tIns="0" rIns="0" bIns="0" rtlCol="0" anchor="ctr"/>
          <a:lstStyle/>
          <a:p>
            <a:pPr indent="0" marL="0">
              <a:buNone/>
            </a:pPr>
            <a:r>
              <a:rPr lang="en-US" sz="1600" i="1" dirty="0">
                <a:solidFill>
                  <a:srgbClr val="5F6B7A"/>
                </a:solidFill>
                <a:latin typeface="Calibri" pitchFamily="34" charset="0"/>
                <a:ea typeface="Calibri" pitchFamily="34" charset="-122"/>
                <a:cs typeface="Calibri" pitchFamily="34" charset="-120"/>
              </a:rPr>
              <a:t>Instructor-Ready Training Deck</a:t>
            </a:r>
            <a:endParaRPr lang="en-US" sz="1600" dirty="0"/>
          </a:p>
        </p:txBody>
      </p:sp>
      <p:sp>
        <p:nvSpPr>
          <p:cNvPr id="23" name="Shape 20"/>
          <p:cNvSpPr/>
          <p:nvPr/>
        </p:nvSpPr>
        <p:spPr>
          <a:xfrm>
            <a:off x="685800" y="4983480"/>
            <a:ext cx="1392631" cy="420624"/>
          </a:xfrm>
          <a:prstGeom prst="roundRect">
            <a:avLst>
              <a:gd name="adj" fmla="val 50000"/>
            </a:avLst>
          </a:prstGeom>
          <a:solidFill>
            <a:srgbClr val="E9F6F5"/>
          </a:solidFill>
          <a:ln w="12700">
            <a:solidFill>
              <a:srgbClr val="00A79D"/>
            </a:solidFill>
            <a:prstDash val="solid"/>
          </a:ln>
        </p:spPr>
      </p:sp>
      <p:sp>
        <p:nvSpPr>
          <p:cNvPr id="24" name="Text 21"/>
          <p:cNvSpPr/>
          <p:nvPr/>
        </p:nvSpPr>
        <p:spPr>
          <a:xfrm>
            <a:off x="685800" y="4983480"/>
            <a:ext cx="1392631" cy="420624"/>
          </a:xfrm>
          <a:prstGeom prst="rect">
            <a:avLst/>
          </a:prstGeom>
          <a:noFill/>
          <a:ln/>
        </p:spPr>
        <p:txBody>
          <a:bodyPr wrap="square" lIns="0" tIns="0" rIns="0" bIns="0" rtlCol="0" anchor="ctr"/>
          <a:lstStyle/>
          <a:p>
            <a:pPr algn="ctr" indent="0" marL="0">
              <a:buNone/>
            </a:pPr>
            <a:r>
              <a:rPr lang="en-US" sz="1150" b="1" dirty="0">
                <a:solidFill>
                  <a:srgbClr val="056A63"/>
                </a:solidFill>
                <a:latin typeface="Calibri" pitchFamily="34" charset="0"/>
                <a:ea typeface="Calibri" pitchFamily="34" charset="-122"/>
                <a:cs typeface="Calibri" pitchFamily="34" charset="-120"/>
              </a:rPr>
              <a:t>SDA-AIE-212</a:t>
            </a:r>
            <a:endParaRPr lang="en-US" sz="1150" dirty="0"/>
          </a:p>
        </p:txBody>
      </p:sp>
      <p:sp>
        <p:nvSpPr>
          <p:cNvPr id="25" name="Shape 22"/>
          <p:cNvSpPr/>
          <p:nvPr/>
        </p:nvSpPr>
        <p:spPr>
          <a:xfrm>
            <a:off x="2307031" y="4983480"/>
            <a:ext cx="1817827" cy="420624"/>
          </a:xfrm>
          <a:prstGeom prst="roundRect">
            <a:avLst>
              <a:gd name="adj" fmla="val 50000"/>
            </a:avLst>
          </a:prstGeom>
          <a:solidFill>
            <a:srgbClr val="E9F6F5"/>
          </a:solidFill>
          <a:ln w="12700">
            <a:solidFill>
              <a:srgbClr val="00A79D"/>
            </a:solidFill>
            <a:prstDash val="solid"/>
          </a:ln>
        </p:spPr>
      </p:sp>
      <p:sp>
        <p:nvSpPr>
          <p:cNvPr id="26" name="Text 23"/>
          <p:cNvSpPr/>
          <p:nvPr/>
        </p:nvSpPr>
        <p:spPr>
          <a:xfrm>
            <a:off x="2307031" y="4983480"/>
            <a:ext cx="1817827" cy="420624"/>
          </a:xfrm>
          <a:prstGeom prst="rect">
            <a:avLst/>
          </a:prstGeom>
          <a:noFill/>
          <a:ln/>
        </p:spPr>
        <p:txBody>
          <a:bodyPr wrap="square" lIns="0" tIns="0" rIns="0" bIns="0" rtlCol="0" anchor="ctr"/>
          <a:lstStyle/>
          <a:p>
            <a:pPr algn="ctr" indent="0" marL="0">
              <a:buNone/>
            </a:pPr>
            <a:r>
              <a:rPr lang="en-US" sz="1150" b="1" dirty="0">
                <a:solidFill>
                  <a:srgbClr val="056A63"/>
                </a:solidFill>
                <a:latin typeface="Calibri" pitchFamily="34" charset="0"/>
                <a:ea typeface="Calibri" pitchFamily="34" charset="-122"/>
                <a:cs typeface="Calibri" pitchFamily="34" charset="-120"/>
              </a:rPr>
              <a:t>Specialist Level</a:t>
            </a:r>
            <a:endParaRPr lang="en-US" sz="1150" dirty="0"/>
          </a:p>
        </p:txBody>
      </p:sp>
      <p:sp>
        <p:nvSpPr>
          <p:cNvPr id="27" name="Shape 24"/>
          <p:cNvSpPr/>
          <p:nvPr/>
        </p:nvSpPr>
        <p:spPr>
          <a:xfrm>
            <a:off x="4353458" y="4983480"/>
            <a:ext cx="1817827" cy="420624"/>
          </a:xfrm>
          <a:prstGeom prst="roundRect">
            <a:avLst>
              <a:gd name="adj" fmla="val 50000"/>
            </a:avLst>
          </a:prstGeom>
          <a:solidFill>
            <a:srgbClr val="E9F6F5"/>
          </a:solidFill>
          <a:ln w="12700">
            <a:solidFill>
              <a:srgbClr val="00A79D"/>
            </a:solidFill>
            <a:prstDash val="solid"/>
          </a:ln>
        </p:spPr>
      </p:sp>
      <p:sp>
        <p:nvSpPr>
          <p:cNvPr id="28" name="Text 25"/>
          <p:cNvSpPr/>
          <p:nvPr/>
        </p:nvSpPr>
        <p:spPr>
          <a:xfrm>
            <a:off x="4353458" y="4983480"/>
            <a:ext cx="1817827" cy="420624"/>
          </a:xfrm>
          <a:prstGeom prst="rect">
            <a:avLst/>
          </a:prstGeom>
          <a:noFill/>
          <a:ln/>
        </p:spPr>
        <p:txBody>
          <a:bodyPr wrap="square" lIns="0" tIns="0" rIns="0" bIns="0" rtlCol="0" anchor="ctr"/>
          <a:lstStyle/>
          <a:p>
            <a:pPr algn="ctr" indent="0" marL="0">
              <a:buNone/>
            </a:pPr>
            <a:r>
              <a:rPr lang="en-US" sz="1150" b="1" dirty="0">
                <a:solidFill>
                  <a:srgbClr val="056A63"/>
                </a:solidFill>
                <a:latin typeface="Calibri" pitchFamily="34" charset="0"/>
                <a:ea typeface="Calibri" pitchFamily="34" charset="-122"/>
                <a:cs typeface="Calibri" pitchFamily="34" charset="-120"/>
              </a:rPr>
              <a:t>4 days × 5 hours</a:t>
            </a:r>
            <a:endParaRPr lang="en-US" sz="1150" dirty="0"/>
          </a:p>
        </p:txBody>
      </p:sp>
      <p:sp>
        <p:nvSpPr>
          <p:cNvPr id="29" name="Shape 26"/>
          <p:cNvSpPr/>
          <p:nvPr/>
        </p:nvSpPr>
        <p:spPr>
          <a:xfrm>
            <a:off x="6399886" y="4983480"/>
            <a:ext cx="3008376" cy="420624"/>
          </a:xfrm>
          <a:prstGeom prst="roundRect">
            <a:avLst>
              <a:gd name="adj" fmla="val 50000"/>
            </a:avLst>
          </a:prstGeom>
          <a:solidFill>
            <a:srgbClr val="E9F6F5"/>
          </a:solidFill>
          <a:ln w="12700">
            <a:solidFill>
              <a:srgbClr val="00A79D"/>
            </a:solidFill>
            <a:prstDash val="solid"/>
          </a:ln>
        </p:spPr>
      </p:sp>
      <p:sp>
        <p:nvSpPr>
          <p:cNvPr id="30" name="Text 27"/>
          <p:cNvSpPr/>
          <p:nvPr/>
        </p:nvSpPr>
        <p:spPr>
          <a:xfrm>
            <a:off x="6399886" y="4983480"/>
            <a:ext cx="3008376" cy="420624"/>
          </a:xfrm>
          <a:prstGeom prst="rect">
            <a:avLst/>
          </a:prstGeom>
          <a:noFill/>
          <a:ln/>
        </p:spPr>
        <p:txBody>
          <a:bodyPr wrap="square" lIns="0" tIns="0" rIns="0" bIns="0" rtlCol="0" anchor="ctr"/>
          <a:lstStyle/>
          <a:p>
            <a:pPr algn="ctr" indent="0" marL="0">
              <a:buNone/>
            </a:pPr>
            <a:r>
              <a:rPr lang="en-US" sz="1150" b="1" dirty="0">
                <a:solidFill>
                  <a:srgbClr val="056A63"/>
                </a:solidFill>
                <a:latin typeface="Calibri" pitchFamily="34" charset="0"/>
                <a:ea typeface="Calibri" pitchFamily="34" charset="-122"/>
                <a:cs typeface="Calibri" pitchFamily="34" charset="-120"/>
              </a:rPr>
              <a:t>PyTorch · YOLO · OpenCV · ONNX</a:t>
            </a:r>
            <a:endParaRPr lang="en-US" sz="1150" dirty="0"/>
          </a:p>
        </p:txBody>
      </p:sp>
      <p:sp>
        <p:nvSpPr>
          <p:cNvPr id="31" name="Text 28"/>
          <p:cNvSpPr/>
          <p:nvPr/>
        </p:nvSpPr>
        <p:spPr>
          <a:xfrm>
            <a:off x="685800" y="6172200"/>
            <a:ext cx="10789920" cy="274320"/>
          </a:xfrm>
          <a:prstGeom prst="rect">
            <a:avLst/>
          </a:prstGeom>
          <a:noFill/>
          <a:ln/>
        </p:spPr>
        <p:txBody>
          <a:bodyPr wrap="square" lIns="0" tIns="0" rIns="0" bIns="0" rtlCol="0" anchor="ctr"/>
          <a:lstStyle/>
          <a:p>
            <a:pPr indent="0" marL="0">
              <a:buNone/>
            </a:pPr>
            <a:r>
              <a:rPr lang="en-US" sz="1050" dirty="0">
                <a:solidFill>
                  <a:srgbClr val="8A96A6"/>
                </a:solidFill>
                <a:latin typeface="Calibri" pitchFamily="34" charset="0"/>
                <a:ea typeface="Calibri" pitchFamily="34" charset="-122"/>
                <a:cs typeface="Calibri" pitchFamily="34" charset="-120"/>
              </a:rPr>
              <a:t>Instructor Edition — includes speaker notes, labs, quizzes, and assessment materials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Course facts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حقائق البرنامج التدريبي</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OVERVIEW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905973"/>
                <a:gridCol w="7279883"/>
              </a:tblGrid>
              <a:tr h="54152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Details</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541528">
                <a:tc>
                  <a:txBody>
                    <a:bodyPr/>
                    <a:lstStyle/>
                    <a:p>
                      <a:pPr indent="0" marL="0">
                        <a:buNone/>
                      </a:pPr>
                      <a:r>
                        <a:rPr lang="en-US" sz="950" b="1" dirty="0">
                          <a:solidFill>
                            <a:srgbClr val="1D2A5C"/>
                          </a:solidFill>
                          <a:latin typeface="Calibri" pitchFamily="34" charset="0"/>
                          <a:ea typeface="Calibri" pitchFamily="34" charset="-122"/>
                          <a:cs typeface="Calibri" pitchFamily="34" charset="-120"/>
                        </a:rPr>
                        <a:t>Course title</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950" dirty="0">
                          <a:solidFill>
                            <a:srgbClr val="23293B"/>
                          </a:solidFill>
                          <a:latin typeface="Calibri" pitchFamily="34" charset="0"/>
                          <a:ea typeface="Calibri" pitchFamily="34" charset="-122"/>
                          <a:cs typeface="Calibri" pitchFamily="34" charset="-120"/>
                        </a:rPr>
                        <a:t>Computer Vision Systems Development — تطوير أنظمة الرؤية الحاسوبية</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541528">
                <a:tc>
                  <a:txBody>
                    <a:bodyPr/>
                    <a:lstStyle/>
                    <a:p>
                      <a:pPr indent="0" marL="0">
                        <a:buNone/>
                      </a:pPr>
                      <a:r>
                        <a:rPr lang="en-US" sz="950" b="1" dirty="0">
                          <a:solidFill>
                            <a:srgbClr val="1D2A5C"/>
                          </a:solidFill>
                          <a:latin typeface="Calibri" pitchFamily="34" charset="0"/>
                          <a:ea typeface="Calibri" pitchFamily="34" charset="-122"/>
                          <a:cs typeface="Calibri" pitchFamily="34" charset="-120"/>
                        </a:rPr>
                        <a:t>Module code · Level</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950" dirty="0">
                          <a:solidFill>
                            <a:srgbClr val="23293B"/>
                          </a:solidFill>
                          <a:latin typeface="Calibri" pitchFamily="34" charset="0"/>
                          <a:ea typeface="Calibri" pitchFamily="34" charset="-122"/>
                          <a:cs typeface="Calibri" pitchFamily="34" charset="-120"/>
                        </a:rPr>
                        <a:t>SDA-AIE-212 · Specialist</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541528">
                <a:tc>
                  <a:txBody>
                    <a:bodyPr/>
                    <a:lstStyle/>
                    <a:p>
                      <a:pPr indent="0" marL="0">
                        <a:buNone/>
                      </a:pPr>
                      <a:r>
                        <a:rPr lang="en-US" sz="950" b="1" dirty="0">
                          <a:solidFill>
                            <a:srgbClr val="1D2A5C"/>
                          </a:solidFill>
                          <a:latin typeface="Calibri" pitchFamily="34" charset="0"/>
                          <a:ea typeface="Calibri" pitchFamily="34" charset="-122"/>
                          <a:cs typeface="Calibri" pitchFamily="34" charset="-120"/>
                        </a:rPr>
                        <a:t>Duration</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950" dirty="0">
                          <a:solidFill>
                            <a:srgbClr val="23293B"/>
                          </a:solidFill>
                          <a:latin typeface="Calibri" pitchFamily="34" charset="0"/>
                          <a:ea typeface="Calibri" pitchFamily="34" charset="-122"/>
                          <a:cs typeface="Calibri" pitchFamily="34" charset="-120"/>
                        </a:rPr>
                        <a:t>4 days × 5 learning hours = 20 hours</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541528">
                <a:tc>
                  <a:txBody>
                    <a:bodyPr/>
                    <a:lstStyle/>
                    <a:p>
                      <a:pPr indent="0" marL="0">
                        <a:buNone/>
                      </a:pPr>
                      <a:r>
                        <a:rPr lang="en-US" sz="950" b="1" dirty="0">
                          <a:solidFill>
                            <a:srgbClr val="1D2A5C"/>
                          </a:solidFill>
                          <a:latin typeface="Calibri" pitchFamily="34" charset="0"/>
                          <a:ea typeface="Calibri" pitchFamily="34" charset="-122"/>
                          <a:cs typeface="Calibri" pitchFamily="34" charset="-120"/>
                        </a:rPr>
                        <a:t>Audience</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950" dirty="0">
                          <a:solidFill>
                            <a:srgbClr val="23293B"/>
                          </a:solidFill>
                          <a:latin typeface="Calibri" pitchFamily="34" charset="0"/>
                          <a:ea typeface="Calibri" pitchFamily="34" charset="-122"/>
                          <a:cs typeface="Calibri" pitchFamily="34" charset="-120"/>
                        </a:rPr>
                        <a:t>AI engineers specialising in vision applications</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541528">
                <a:tc>
                  <a:txBody>
                    <a:bodyPr/>
                    <a:lstStyle/>
                    <a:p>
                      <a:pPr indent="0" marL="0">
                        <a:buNone/>
                      </a:pPr>
                      <a:r>
                        <a:rPr lang="en-US" sz="950" b="1" dirty="0">
                          <a:solidFill>
                            <a:srgbClr val="1D2A5C"/>
                          </a:solidFill>
                          <a:latin typeface="Calibri" pitchFamily="34" charset="0"/>
                          <a:ea typeface="Calibri" pitchFamily="34" charset="-122"/>
                          <a:cs typeface="Calibri" pitchFamily="34" charset="-120"/>
                        </a:rPr>
                        <a:t>Prerequisites</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950" dirty="0">
                          <a:solidFill>
                            <a:srgbClr val="23293B"/>
                          </a:solidFill>
                          <a:latin typeface="Calibri" pitchFamily="34" charset="0"/>
                          <a:ea typeface="Calibri" pitchFamily="34" charset="-122"/>
                          <a:cs typeface="Calibri" pitchFamily="34" charset="-120"/>
                        </a:rPr>
                        <a:t>SDA-AIE-112 (Deep Learning Essentials with PyTorch)</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541528">
                <a:tc>
                  <a:txBody>
                    <a:bodyPr/>
                    <a:lstStyle/>
                    <a:p>
                      <a:pPr indent="0" marL="0">
                        <a:buNone/>
                      </a:pPr>
                      <a:r>
                        <a:rPr lang="en-US" sz="950" b="1" dirty="0">
                          <a:solidFill>
                            <a:srgbClr val="1D2A5C"/>
                          </a:solidFill>
                          <a:latin typeface="Calibri" pitchFamily="34" charset="0"/>
                          <a:ea typeface="Calibri" pitchFamily="34" charset="-122"/>
                          <a:cs typeface="Calibri" pitchFamily="34" charset="-120"/>
                        </a:rPr>
                        <a:t>Assessment</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950" dirty="0">
                          <a:solidFill>
                            <a:srgbClr val="23293B"/>
                          </a:solidFill>
                          <a:latin typeface="Calibri" pitchFamily="34" charset="0"/>
                          <a:ea typeface="Calibri" pitchFamily="34" charset="-122"/>
                          <a:cs typeface="Calibri" pitchFamily="34" charset="-120"/>
                        </a:rPr>
                        <a:t>Labs (60%) + vision-system project (40%)</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541528">
                <a:tc>
                  <a:txBody>
                    <a:bodyPr/>
                    <a:lstStyle/>
                    <a:p>
                      <a:pPr indent="0" marL="0">
                        <a:buNone/>
                      </a:pPr>
                      <a:r>
                        <a:rPr lang="en-US" sz="950" b="1" dirty="0">
                          <a:solidFill>
                            <a:srgbClr val="1D2A5C"/>
                          </a:solidFill>
                          <a:latin typeface="Calibri" pitchFamily="34" charset="0"/>
                          <a:ea typeface="Calibri" pitchFamily="34" charset="-122"/>
                          <a:cs typeface="Calibri" pitchFamily="34" charset="-120"/>
                        </a:rPr>
                        <a:t>Stackability</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950" dirty="0">
                          <a:solidFill>
                            <a:srgbClr val="23293B"/>
                          </a:solidFill>
                          <a:latin typeface="Calibri" pitchFamily="34" charset="0"/>
                          <a:ea typeface="Calibri" pitchFamily="34" charset="-122"/>
                          <a:cs typeface="Calibri" pitchFamily="34" charset="-120"/>
                        </a:rPr>
                        <a:t>Vision badge · AI Engineer Specialist elective · Next: SDA-AIE-216</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541528">
                <a:tc>
                  <a:txBody>
                    <a:bodyPr/>
                    <a:lstStyle/>
                    <a:p>
                      <a:pPr indent="0" marL="0">
                        <a:buNone/>
                      </a:pPr>
                      <a:r>
                        <a:rPr lang="en-US" sz="950" b="1" dirty="0">
                          <a:solidFill>
                            <a:srgbClr val="1D2A5C"/>
                          </a:solidFill>
                          <a:latin typeface="Calibri" pitchFamily="34" charset="0"/>
                          <a:ea typeface="Calibri" pitchFamily="34" charset="-122"/>
                          <a:cs typeface="Calibri" pitchFamily="34" charset="-120"/>
                        </a:rPr>
                        <a:t>Tools</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950" dirty="0">
                          <a:solidFill>
                            <a:srgbClr val="23293B"/>
                          </a:solidFill>
                          <a:latin typeface="Calibri" pitchFamily="34" charset="0"/>
                          <a:ea typeface="Calibri" pitchFamily="34" charset="-122"/>
                          <a:cs typeface="Calibri" pitchFamily="34" charset="-120"/>
                        </a:rPr>
                        <a:t>PyTorch · torchvision · YOLO/Ultralytics · OpenCV · ONNX</a:t>
                      </a:r>
                      <a:endParaRPr lang="en-US" sz="9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One course, one evolving system: Tamr Vision</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نظام واحد يتطور: تمر فيجن</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OVERVIEW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02920" y="2153412"/>
            <a:ext cx="329184" cy="329184"/>
          </a:xfrm>
          <a:prstGeom prst="ellipse">
            <a:avLst/>
          </a:prstGeom>
          <a:solidFill>
            <a:srgbClr val="00A79D"/>
          </a:solidFill>
          <a:ln/>
        </p:spPr>
      </p:sp>
      <p:sp>
        <p:nvSpPr>
          <p:cNvPr id="8" name="Text 5"/>
          <p:cNvSpPr/>
          <p:nvPr/>
        </p:nvSpPr>
        <p:spPr>
          <a:xfrm>
            <a:off x="502920" y="21534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208940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A real industrial scenario</a:t>
            </a:r>
            <a:endParaRPr lang="en-US" sz="1400" dirty="0"/>
          </a:p>
        </p:txBody>
      </p:sp>
      <p:sp>
        <p:nvSpPr>
          <p:cNvPr id="10" name="Text 7"/>
          <p:cNvSpPr/>
          <p:nvPr/>
        </p:nvSpPr>
        <p:spPr>
          <a:xfrm>
            <a:off x="1005840" y="239115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Quality inspection for a date-packing plant in Al-Qassim — grade classification, defect detection, surface-defect segmentation.</a:t>
            </a:r>
            <a:endParaRPr lang="en-US" sz="1150" dirty="0"/>
          </a:p>
        </p:txBody>
      </p:sp>
      <p:sp>
        <p:nvSpPr>
          <p:cNvPr id="11" name="Shape 8"/>
          <p:cNvSpPr/>
          <p:nvPr/>
        </p:nvSpPr>
        <p:spPr>
          <a:xfrm>
            <a:off x="502920" y="3342132"/>
            <a:ext cx="329184" cy="329184"/>
          </a:xfrm>
          <a:prstGeom prst="ellipse">
            <a:avLst/>
          </a:prstGeom>
          <a:solidFill>
            <a:srgbClr val="29ABE2"/>
          </a:solidFill>
          <a:ln/>
        </p:spPr>
      </p:sp>
      <p:sp>
        <p:nvSpPr>
          <p:cNvPr id="12" name="Text 9"/>
          <p:cNvSpPr/>
          <p:nvPr/>
        </p:nvSpPr>
        <p:spPr>
          <a:xfrm>
            <a:off x="502920" y="33421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327812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Every lab builds a component</a:t>
            </a:r>
            <a:endParaRPr lang="en-US" sz="1400" dirty="0"/>
          </a:p>
        </p:txBody>
      </p:sp>
      <p:sp>
        <p:nvSpPr>
          <p:cNvPr id="14" name="Text 11"/>
          <p:cNvSpPr/>
          <p:nvPr/>
        </p:nvSpPr>
        <p:spPr>
          <a:xfrm>
            <a:off x="1005840" y="357987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Input pipeline, fine-tuned classifier, detector, segmenter, curated dataset, evaluation harness, edge deployment.</a:t>
            </a:r>
            <a:endParaRPr lang="en-US" sz="1150" dirty="0"/>
          </a:p>
        </p:txBody>
      </p:sp>
      <p:sp>
        <p:nvSpPr>
          <p:cNvPr id="15" name="Shape 12"/>
          <p:cNvSpPr/>
          <p:nvPr/>
        </p:nvSpPr>
        <p:spPr>
          <a:xfrm>
            <a:off x="502920" y="4530852"/>
            <a:ext cx="329184" cy="329184"/>
          </a:xfrm>
          <a:prstGeom prst="ellipse">
            <a:avLst/>
          </a:prstGeom>
          <a:solidFill>
            <a:srgbClr val="F58220"/>
          </a:solidFill>
          <a:ln/>
        </p:spPr>
      </p:sp>
      <p:sp>
        <p:nvSpPr>
          <p:cNvPr id="16" name="Text 13"/>
          <p:cNvSpPr/>
          <p:nvPr/>
        </p:nvSpPr>
        <p:spPr>
          <a:xfrm>
            <a:off x="502920" y="45308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446684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By Day 4 you own the whole thing</a:t>
            </a:r>
            <a:endParaRPr lang="en-US" sz="1400" dirty="0"/>
          </a:p>
        </p:txBody>
      </p:sp>
      <p:sp>
        <p:nvSpPr>
          <p:cNvPr id="18" name="Text 15"/>
          <p:cNvSpPr/>
          <p:nvPr/>
        </p:nvSpPr>
        <p:spPr>
          <a:xfrm>
            <a:off x="1005840" y="476859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complete, measured, deployable vision inspection system — the same shape of system you will operate in SDA-AIE-216.</a:t>
            </a:r>
            <a:endParaRPr lang="en-US" sz="1150" dirty="0"/>
          </a:p>
        </p:txBody>
      </p:sp>
      <p:sp>
        <p:nvSpPr>
          <p:cNvPr id="19" name="Shape 16"/>
          <p:cNvSpPr/>
          <p:nvPr/>
        </p:nvSpPr>
        <p:spPr>
          <a:xfrm>
            <a:off x="6355080" y="1444752"/>
            <a:ext cx="5330952" cy="868680"/>
          </a:xfrm>
          <a:prstGeom prst="roundRect">
            <a:avLst>
              <a:gd name="adj" fmla="val 6316"/>
            </a:avLst>
          </a:prstGeom>
          <a:solidFill>
            <a:srgbClr val="1D2A5C"/>
          </a:solidFill>
          <a:ln/>
        </p:spPr>
      </p:sp>
      <p:sp>
        <p:nvSpPr>
          <p:cNvPr id="20" name="Text 17"/>
          <p:cNvSpPr/>
          <p:nvPr/>
        </p:nvSpPr>
        <p:spPr>
          <a:xfrm>
            <a:off x="6537960" y="1444752"/>
            <a:ext cx="223900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Edge deployment</a:t>
            </a:r>
            <a:endParaRPr lang="en-US" sz="1300" dirty="0"/>
          </a:p>
        </p:txBody>
      </p:sp>
      <p:sp>
        <p:nvSpPr>
          <p:cNvPr id="21" name="Text 18"/>
          <p:cNvSpPr/>
          <p:nvPr/>
        </p:nvSpPr>
        <p:spPr>
          <a:xfrm>
            <a:off x="8700699" y="1444752"/>
            <a:ext cx="2825405"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ONNX + INT8 on the line — Day 4</a:t>
            </a:r>
            <a:endParaRPr lang="en-US" sz="1050" dirty="0"/>
          </a:p>
        </p:txBody>
      </p:sp>
      <p:sp>
        <p:nvSpPr>
          <p:cNvPr id="22" name="Shape 19"/>
          <p:cNvSpPr/>
          <p:nvPr/>
        </p:nvSpPr>
        <p:spPr>
          <a:xfrm>
            <a:off x="6611112" y="2441448"/>
            <a:ext cx="4818888" cy="868680"/>
          </a:xfrm>
          <a:prstGeom prst="roundRect">
            <a:avLst>
              <a:gd name="adj" fmla="val 6316"/>
            </a:avLst>
          </a:prstGeom>
          <a:solidFill>
            <a:srgbClr val="24437E"/>
          </a:solidFill>
          <a:ln/>
        </p:spPr>
      </p:sp>
      <p:sp>
        <p:nvSpPr>
          <p:cNvPr id="23" name="Text 20"/>
          <p:cNvSpPr/>
          <p:nvPr/>
        </p:nvSpPr>
        <p:spPr>
          <a:xfrm>
            <a:off x="6793992" y="2441448"/>
            <a:ext cx="2023933"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Eval harness + dataset v2</a:t>
            </a:r>
            <a:endParaRPr lang="en-US" sz="1300" dirty="0"/>
          </a:p>
        </p:txBody>
      </p:sp>
      <p:sp>
        <p:nvSpPr>
          <p:cNvPr id="24" name="Text 21"/>
          <p:cNvSpPr/>
          <p:nvPr/>
        </p:nvSpPr>
        <p:spPr>
          <a:xfrm>
            <a:off x="8731423" y="2441448"/>
            <a:ext cx="2554011"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curation, metrics, error analysis — Day 3</a:t>
            </a:r>
            <a:endParaRPr lang="en-US" sz="1050" dirty="0"/>
          </a:p>
        </p:txBody>
      </p:sp>
      <p:sp>
        <p:nvSpPr>
          <p:cNvPr id="25" name="Shape 22"/>
          <p:cNvSpPr/>
          <p:nvPr/>
        </p:nvSpPr>
        <p:spPr>
          <a:xfrm>
            <a:off x="6867144" y="3438144"/>
            <a:ext cx="4306824" cy="868680"/>
          </a:xfrm>
          <a:prstGeom prst="roundRect">
            <a:avLst>
              <a:gd name="adj" fmla="val 6316"/>
            </a:avLst>
          </a:prstGeom>
          <a:solidFill>
            <a:srgbClr val="2A5CA0"/>
          </a:solidFill>
          <a:ln/>
        </p:spPr>
      </p:sp>
      <p:sp>
        <p:nvSpPr>
          <p:cNvPr id="26" name="Text 23"/>
          <p:cNvSpPr/>
          <p:nvPr/>
        </p:nvSpPr>
        <p:spPr>
          <a:xfrm>
            <a:off x="7050024" y="3438144"/>
            <a:ext cx="1808866"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Detector + segmenter</a:t>
            </a:r>
            <a:endParaRPr lang="en-US" sz="1300" dirty="0"/>
          </a:p>
        </p:txBody>
      </p:sp>
      <p:sp>
        <p:nvSpPr>
          <p:cNvPr id="27" name="Text 24"/>
          <p:cNvSpPr/>
          <p:nvPr/>
        </p:nvSpPr>
        <p:spPr>
          <a:xfrm>
            <a:off x="8762147" y="3438144"/>
            <a:ext cx="2282617"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defects located and delineated — Day 2</a:t>
            </a:r>
            <a:endParaRPr lang="en-US" sz="1050" dirty="0"/>
          </a:p>
        </p:txBody>
      </p:sp>
      <p:sp>
        <p:nvSpPr>
          <p:cNvPr id="28" name="Shape 25"/>
          <p:cNvSpPr/>
          <p:nvPr/>
        </p:nvSpPr>
        <p:spPr>
          <a:xfrm>
            <a:off x="7123176" y="4434840"/>
            <a:ext cx="3794760" cy="868680"/>
          </a:xfrm>
          <a:prstGeom prst="roundRect">
            <a:avLst>
              <a:gd name="adj" fmla="val 6316"/>
            </a:avLst>
          </a:prstGeom>
          <a:solidFill>
            <a:srgbClr val="1F7FB8"/>
          </a:solidFill>
          <a:ln/>
        </p:spPr>
      </p:sp>
      <p:sp>
        <p:nvSpPr>
          <p:cNvPr id="29" name="Text 26"/>
          <p:cNvSpPr/>
          <p:nvPr/>
        </p:nvSpPr>
        <p:spPr>
          <a:xfrm>
            <a:off x="7306056" y="4434840"/>
            <a:ext cx="1593799"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Classifier</a:t>
            </a:r>
            <a:endParaRPr lang="en-US" sz="1300" dirty="0"/>
          </a:p>
        </p:txBody>
      </p:sp>
      <p:sp>
        <p:nvSpPr>
          <p:cNvPr id="30" name="Text 27"/>
          <p:cNvSpPr/>
          <p:nvPr/>
        </p:nvSpPr>
        <p:spPr>
          <a:xfrm>
            <a:off x="8792870" y="4434840"/>
            <a:ext cx="2011223"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fine-tuned grade model — Day 1</a:t>
            </a:r>
            <a:endParaRPr lang="en-US" sz="1050" dirty="0"/>
          </a:p>
        </p:txBody>
      </p:sp>
      <p:sp>
        <p:nvSpPr>
          <p:cNvPr id="31" name="Shape 28"/>
          <p:cNvSpPr/>
          <p:nvPr/>
        </p:nvSpPr>
        <p:spPr>
          <a:xfrm>
            <a:off x="7379208" y="5431536"/>
            <a:ext cx="3282696" cy="868680"/>
          </a:xfrm>
          <a:prstGeom prst="roundRect">
            <a:avLst>
              <a:gd name="adj" fmla="val 6316"/>
            </a:avLst>
          </a:prstGeom>
          <a:solidFill>
            <a:srgbClr val="29ABE2"/>
          </a:solidFill>
          <a:ln/>
        </p:spPr>
      </p:sp>
      <p:sp>
        <p:nvSpPr>
          <p:cNvPr id="32" name="Text 29"/>
          <p:cNvSpPr/>
          <p:nvPr/>
        </p:nvSpPr>
        <p:spPr>
          <a:xfrm>
            <a:off x="7562088" y="5431536"/>
            <a:ext cx="1378732"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Input pipeline</a:t>
            </a:r>
            <a:endParaRPr lang="en-US" sz="1300" dirty="0"/>
          </a:p>
        </p:txBody>
      </p:sp>
      <p:sp>
        <p:nvSpPr>
          <p:cNvPr id="33" name="Text 30"/>
          <p:cNvSpPr/>
          <p:nvPr/>
        </p:nvSpPr>
        <p:spPr>
          <a:xfrm>
            <a:off x="8823594" y="5431536"/>
            <a:ext cx="1739829"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the preprocessing contract — Day 1</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Learning outcomes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مخرجات التعلم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OVERVIEW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502920" y="1417320"/>
            <a:ext cx="11183112" cy="699516"/>
          </a:xfrm>
          <a:prstGeom prst="roundRect">
            <a:avLst>
              <a:gd name="adj" fmla="val 9150"/>
            </a:avLst>
          </a:prstGeom>
          <a:solidFill>
            <a:srgbClr val="FAFCFE"/>
          </a:solidFill>
          <a:ln w="9525">
            <a:solidFill>
              <a:srgbClr val="D9E2EA"/>
            </a:solidFill>
            <a:prstDash val="solid"/>
          </a:ln>
        </p:spPr>
      </p:sp>
      <p:sp>
        <p:nvSpPr>
          <p:cNvPr id="8" name="Shape 5"/>
          <p:cNvSpPr/>
          <p:nvPr/>
        </p:nvSpPr>
        <p:spPr>
          <a:xfrm>
            <a:off x="649224" y="1602486"/>
            <a:ext cx="329184" cy="329184"/>
          </a:xfrm>
          <a:prstGeom prst="ellipse">
            <a:avLst/>
          </a:prstGeom>
          <a:solidFill>
            <a:srgbClr val="00A79D"/>
          </a:solidFill>
          <a:ln/>
        </p:spPr>
      </p:sp>
      <p:sp>
        <p:nvSpPr>
          <p:cNvPr id="9" name="Text 6"/>
          <p:cNvSpPr/>
          <p:nvPr/>
        </p:nvSpPr>
        <p:spPr>
          <a:xfrm>
            <a:off x="649224" y="160248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LO1</a:t>
            </a:r>
            <a:endParaRPr lang="en-US" sz="1150" dirty="0"/>
          </a:p>
        </p:txBody>
      </p:sp>
      <p:sp>
        <p:nvSpPr>
          <p:cNvPr id="10" name="Text 7"/>
          <p:cNvSpPr/>
          <p:nvPr/>
        </p:nvSpPr>
        <p:spPr>
          <a:xfrm>
            <a:off x="1143000" y="1417320"/>
            <a:ext cx="8321040" cy="699516"/>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Implement image classification pipelines using CNNs and vision transformers</a:t>
            </a:r>
            <a:endParaRPr lang="en-US" sz="1250" dirty="0"/>
          </a:p>
        </p:txBody>
      </p:sp>
      <p:sp>
        <p:nvSpPr>
          <p:cNvPr id="11" name="Shape 8"/>
          <p:cNvSpPr/>
          <p:nvPr/>
        </p:nvSpPr>
        <p:spPr>
          <a:xfrm>
            <a:off x="9646920" y="1593342"/>
            <a:ext cx="658368" cy="310896"/>
          </a:xfrm>
          <a:prstGeom prst="roundRect">
            <a:avLst>
              <a:gd name="adj" fmla="val 50000"/>
            </a:avLst>
          </a:prstGeom>
          <a:solidFill>
            <a:srgbClr val="E9F6F5"/>
          </a:solidFill>
          <a:ln w="9525">
            <a:solidFill>
              <a:srgbClr val="00A79D"/>
            </a:solidFill>
            <a:prstDash val="solid"/>
          </a:ln>
        </p:spPr>
      </p:sp>
      <p:sp>
        <p:nvSpPr>
          <p:cNvPr id="12" name="Text 9"/>
          <p:cNvSpPr/>
          <p:nvPr/>
        </p:nvSpPr>
        <p:spPr>
          <a:xfrm>
            <a:off x="9646920" y="159334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M1</a:t>
            </a:r>
            <a:endParaRPr lang="en-US" sz="950" dirty="0"/>
          </a:p>
        </p:txBody>
      </p:sp>
      <p:sp>
        <p:nvSpPr>
          <p:cNvPr id="13" name="Shape 10"/>
          <p:cNvSpPr/>
          <p:nvPr/>
        </p:nvSpPr>
        <p:spPr>
          <a:xfrm>
            <a:off x="10360152" y="1593342"/>
            <a:ext cx="658368" cy="310896"/>
          </a:xfrm>
          <a:prstGeom prst="roundRect">
            <a:avLst>
              <a:gd name="adj" fmla="val 50000"/>
            </a:avLst>
          </a:prstGeom>
          <a:solidFill>
            <a:srgbClr val="E9F6F5"/>
          </a:solidFill>
          <a:ln w="9525">
            <a:solidFill>
              <a:srgbClr val="00A79D"/>
            </a:solidFill>
            <a:prstDash val="solid"/>
          </a:ln>
        </p:spPr>
      </p:sp>
      <p:sp>
        <p:nvSpPr>
          <p:cNvPr id="14" name="Text 11"/>
          <p:cNvSpPr/>
          <p:nvPr/>
        </p:nvSpPr>
        <p:spPr>
          <a:xfrm>
            <a:off x="10360152" y="159334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M2</a:t>
            </a:r>
            <a:endParaRPr lang="en-US" sz="950" dirty="0"/>
          </a:p>
        </p:txBody>
      </p:sp>
      <p:sp>
        <p:nvSpPr>
          <p:cNvPr id="15" name="Shape 12"/>
          <p:cNvSpPr/>
          <p:nvPr/>
        </p:nvSpPr>
        <p:spPr>
          <a:xfrm>
            <a:off x="502920" y="2244852"/>
            <a:ext cx="11183112" cy="699516"/>
          </a:xfrm>
          <a:prstGeom prst="roundRect">
            <a:avLst>
              <a:gd name="adj" fmla="val 9150"/>
            </a:avLst>
          </a:prstGeom>
          <a:solidFill>
            <a:srgbClr val="F2F6F9"/>
          </a:solidFill>
          <a:ln w="9525">
            <a:solidFill>
              <a:srgbClr val="D9E2EA"/>
            </a:solidFill>
            <a:prstDash val="solid"/>
          </a:ln>
        </p:spPr>
      </p:sp>
      <p:sp>
        <p:nvSpPr>
          <p:cNvPr id="16" name="Shape 13"/>
          <p:cNvSpPr/>
          <p:nvPr/>
        </p:nvSpPr>
        <p:spPr>
          <a:xfrm>
            <a:off x="649224" y="2430018"/>
            <a:ext cx="329184" cy="329184"/>
          </a:xfrm>
          <a:prstGeom prst="ellipse">
            <a:avLst/>
          </a:prstGeom>
          <a:solidFill>
            <a:srgbClr val="00A79D"/>
          </a:solidFill>
          <a:ln/>
        </p:spPr>
      </p:sp>
      <p:sp>
        <p:nvSpPr>
          <p:cNvPr id="17" name="Text 14"/>
          <p:cNvSpPr/>
          <p:nvPr/>
        </p:nvSpPr>
        <p:spPr>
          <a:xfrm>
            <a:off x="649224" y="2430018"/>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LO2</a:t>
            </a:r>
            <a:endParaRPr lang="en-US" sz="1150" dirty="0"/>
          </a:p>
        </p:txBody>
      </p:sp>
      <p:sp>
        <p:nvSpPr>
          <p:cNvPr id="18" name="Text 15"/>
          <p:cNvSpPr/>
          <p:nvPr/>
        </p:nvSpPr>
        <p:spPr>
          <a:xfrm>
            <a:off x="1143000" y="2244852"/>
            <a:ext cx="8321040" cy="699516"/>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Develop object-detection and segmentation solutions with modern frameworks</a:t>
            </a:r>
            <a:endParaRPr lang="en-US" sz="1250" dirty="0"/>
          </a:p>
        </p:txBody>
      </p:sp>
      <p:sp>
        <p:nvSpPr>
          <p:cNvPr id="19" name="Shape 16"/>
          <p:cNvSpPr/>
          <p:nvPr/>
        </p:nvSpPr>
        <p:spPr>
          <a:xfrm>
            <a:off x="9646920" y="2420874"/>
            <a:ext cx="658368" cy="310896"/>
          </a:xfrm>
          <a:prstGeom prst="roundRect">
            <a:avLst>
              <a:gd name="adj" fmla="val 50000"/>
            </a:avLst>
          </a:prstGeom>
          <a:solidFill>
            <a:srgbClr val="E9F6F5"/>
          </a:solidFill>
          <a:ln w="9525">
            <a:solidFill>
              <a:srgbClr val="00A79D"/>
            </a:solidFill>
            <a:prstDash val="solid"/>
          </a:ln>
        </p:spPr>
      </p:sp>
      <p:sp>
        <p:nvSpPr>
          <p:cNvPr id="20" name="Text 17"/>
          <p:cNvSpPr/>
          <p:nvPr/>
        </p:nvSpPr>
        <p:spPr>
          <a:xfrm>
            <a:off x="9646920" y="2420874"/>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M3</a:t>
            </a:r>
            <a:endParaRPr lang="en-US" sz="950" dirty="0"/>
          </a:p>
        </p:txBody>
      </p:sp>
      <p:sp>
        <p:nvSpPr>
          <p:cNvPr id="21" name="Shape 18"/>
          <p:cNvSpPr/>
          <p:nvPr/>
        </p:nvSpPr>
        <p:spPr>
          <a:xfrm>
            <a:off x="10360152" y="2420874"/>
            <a:ext cx="658368" cy="310896"/>
          </a:xfrm>
          <a:prstGeom prst="roundRect">
            <a:avLst>
              <a:gd name="adj" fmla="val 50000"/>
            </a:avLst>
          </a:prstGeom>
          <a:solidFill>
            <a:srgbClr val="E9F6F5"/>
          </a:solidFill>
          <a:ln w="9525">
            <a:solidFill>
              <a:srgbClr val="00A79D"/>
            </a:solidFill>
            <a:prstDash val="solid"/>
          </a:ln>
        </p:spPr>
      </p:sp>
      <p:sp>
        <p:nvSpPr>
          <p:cNvPr id="22" name="Text 19"/>
          <p:cNvSpPr/>
          <p:nvPr/>
        </p:nvSpPr>
        <p:spPr>
          <a:xfrm>
            <a:off x="10360152" y="2420874"/>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M4</a:t>
            </a:r>
            <a:endParaRPr lang="en-US" sz="950" dirty="0"/>
          </a:p>
        </p:txBody>
      </p:sp>
      <p:sp>
        <p:nvSpPr>
          <p:cNvPr id="23" name="Shape 20"/>
          <p:cNvSpPr/>
          <p:nvPr/>
        </p:nvSpPr>
        <p:spPr>
          <a:xfrm>
            <a:off x="502920" y="3072384"/>
            <a:ext cx="11183112" cy="699516"/>
          </a:xfrm>
          <a:prstGeom prst="roundRect">
            <a:avLst>
              <a:gd name="adj" fmla="val 9150"/>
            </a:avLst>
          </a:prstGeom>
          <a:solidFill>
            <a:srgbClr val="FAFCFE"/>
          </a:solidFill>
          <a:ln w="9525">
            <a:solidFill>
              <a:srgbClr val="D9E2EA"/>
            </a:solidFill>
            <a:prstDash val="solid"/>
          </a:ln>
        </p:spPr>
      </p:sp>
      <p:sp>
        <p:nvSpPr>
          <p:cNvPr id="24" name="Shape 21"/>
          <p:cNvSpPr/>
          <p:nvPr/>
        </p:nvSpPr>
        <p:spPr>
          <a:xfrm>
            <a:off x="649224" y="3257550"/>
            <a:ext cx="329184" cy="329184"/>
          </a:xfrm>
          <a:prstGeom prst="ellipse">
            <a:avLst/>
          </a:prstGeom>
          <a:solidFill>
            <a:srgbClr val="00A79D"/>
          </a:solidFill>
          <a:ln/>
        </p:spPr>
      </p:sp>
      <p:sp>
        <p:nvSpPr>
          <p:cNvPr id="25" name="Text 22"/>
          <p:cNvSpPr/>
          <p:nvPr/>
        </p:nvSpPr>
        <p:spPr>
          <a:xfrm>
            <a:off x="649224" y="325755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LO3</a:t>
            </a:r>
            <a:endParaRPr lang="en-US" sz="1150" dirty="0"/>
          </a:p>
        </p:txBody>
      </p:sp>
      <p:sp>
        <p:nvSpPr>
          <p:cNvPr id="26" name="Text 23"/>
          <p:cNvSpPr/>
          <p:nvPr/>
        </p:nvSpPr>
        <p:spPr>
          <a:xfrm>
            <a:off x="1143000" y="3072384"/>
            <a:ext cx="8321040" cy="699516"/>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Design dataset curation, labelling, and augmentation strategies</a:t>
            </a:r>
            <a:endParaRPr lang="en-US" sz="1250" dirty="0"/>
          </a:p>
        </p:txBody>
      </p:sp>
      <p:sp>
        <p:nvSpPr>
          <p:cNvPr id="27" name="Shape 24"/>
          <p:cNvSpPr/>
          <p:nvPr/>
        </p:nvSpPr>
        <p:spPr>
          <a:xfrm>
            <a:off x="9646920" y="3248406"/>
            <a:ext cx="658368" cy="310896"/>
          </a:xfrm>
          <a:prstGeom prst="roundRect">
            <a:avLst>
              <a:gd name="adj" fmla="val 50000"/>
            </a:avLst>
          </a:prstGeom>
          <a:solidFill>
            <a:srgbClr val="E9F6F5"/>
          </a:solidFill>
          <a:ln w="9525">
            <a:solidFill>
              <a:srgbClr val="00A79D"/>
            </a:solidFill>
            <a:prstDash val="solid"/>
          </a:ln>
        </p:spPr>
      </p:sp>
      <p:sp>
        <p:nvSpPr>
          <p:cNvPr id="28" name="Text 25"/>
          <p:cNvSpPr/>
          <p:nvPr/>
        </p:nvSpPr>
        <p:spPr>
          <a:xfrm>
            <a:off x="9646920" y="3248406"/>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M1</a:t>
            </a:r>
            <a:endParaRPr lang="en-US" sz="950" dirty="0"/>
          </a:p>
        </p:txBody>
      </p:sp>
      <p:sp>
        <p:nvSpPr>
          <p:cNvPr id="29" name="Shape 26"/>
          <p:cNvSpPr/>
          <p:nvPr/>
        </p:nvSpPr>
        <p:spPr>
          <a:xfrm>
            <a:off x="10360152" y="3248406"/>
            <a:ext cx="658368" cy="310896"/>
          </a:xfrm>
          <a:prstGeom prst="roundRect">
            <a:avLst>
              <a:gd name="adj" fmla="val 50000"/>
            </a:avLst>
          </a:prstGeom>
          <a:solidFill>
            <a:srgbClr val="E9F6F5"/>
          </a:solidFill>
          <a:ln w="9525">
            <a:solidFill>
              <a:srgbClr val="00A79D"/>
            </a:solidFill>
            <a:prstDash val="solid"/>
          </a:ln>
        </p:spPr>
      </p:sp>
      <p:sp>
        <p:nvSpPr>
          <p:cNvPr id="30" name="Text 27"/>
          <p:cNvSpPr/>
          <p:nvPr/>
        </p:nvSpPr>
        <p:spPr>
          <a:xfrm>
            <a:off x="10360152" y="3248406"/>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M5</a:t>
            </a:r>
            <a:endParaRPr lang="en-US" sz="950" dirty="0"/>
          </a:p>
        </p:txBody>
      </p:sp>
      <p:sp>
        <p:nvSpPr>
          <p:cNvPr id="31" name="Shape 28"/>
          <p:cNvSpPr/>
          <p:nvPr/>
        </p:nvSpPr>
        <p:spPr>
          <a:xfrm>
            <a:off x="502920" y="3899916"/>
            <a:ext cx="11183112" cy="699516"/>
          </a:xfrm>
          <a:prstGeom prst="roundRect">
            <a:avLst>
              <a:gd name="adj" fmla="val 9150"/>
            </a:avLst>
          </a:prstGeom>
          <a:solidFill>
            <a:srgbClr val="F2F6F9"/>
          </a:solidFill>
          <a:ln w="9525">
            <a:solidFill>
              <a:srgbClr val="D9E2EA"/>
            </a:solidFill>
            <a:prstDash val="solid"/>
          </a:ln>
        </p:spPr>
      </p:sp>
      <p:sp>
        <p:nvSpPr>
          <p:cNvPr id="32" name="Shape 29"/>
          <p:cNvSpPr/>
          <p:nvPr/>
        </p:nvSpPr>
        <p:spPr>
          <a:xfrm>
            <a:off x="649224" y="4085082"/>
            <a:ext cx="329184" cy="329184"/>
          </a:xfrm>
          <a:prstGeom prst="ellipse">
            <a:avLst/>
          </a:prstGeom>
          <a:solidFill>
            <a:srgbClr val="00A79D"/>
          </a:solidFill>
          <a:ln/>
        </p:spPr>
      </p:sp>
      <p:sp>
        <p:nvSpPr>
          <p:cNvPr id="33" name="Text 30"/>
          <p:cNvSpPr/>
          <p:nvPr/>
        </p:nvSpPr>
        <p:spPr>
          <a:xfrm>
            <a:off x="649224" y="408508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LO4</a:t>
            </a:r>
            <a:endParaRPr lang="en-US" sz="1150" dirty="0"/>
          </a:p>
        </p:txBody>
      </p:sp>
      <p:sp>
        <p:nvSpPr>
          <p:cNvPr id="34" name="Text 31"/>
          <p:cNvSpPr/>
          <p:nvPr/>
        </p:nvSpPr>
        <p:spPr>
          <a:xfrm>
            <a:off x="1143000" y="3899916"/>
            <a:ext cx="8321040" cy="699516"/>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Apply transfer learning and fine-tuning to domain-specific vision tasks</a:t>
            </a:r>
            <a:endParaRPr lang="en-US" sz="1250" dirty="0"/>
          </a:p>
        </p:txBody>
      </p:sp>
      <p:sp>
        <p:nvSpPr>
          <p:cNvPr id="35" name="Shape 32"/>
          <p:cNvSpPr/>
          <p:nvPr/>
        </p:nvSpPr>
        <p:spPr>
          <a:xfrm>
            <a:off x="9646920" y="4075938"/>
            <a:ext cx="658368" cy="310896"/>
          </a:xfrm>
          <a:prstGeom prst="roundRect">
            <a:avLst>
              <a:gd name="adj" fmla="val 50000"/>
            </a:avLst>
          </a:prstGeom>
          <a:solidFill>
            <a:srgbClr val="E9F6F5"/>
          </a:solidFill>
          <a:ln w="9525">
            <a:solidFill>
              <a:srgbClr val="00A79D"/>
            </a:solidFill>
            <a:prstDash val="solid"/>
          </a:ln>
        </p:spPr>
      </p:sp>
      <p:sp>
        <p:nvSpPr>
          <p:cNvPr id="36" name="Text 33"/>
          <p:cNvSpPr/>
          <p:nvPr/>
        </p:nvSpPr>
        <p:spPr>
          <a:xfrm>
            <a:off x="9646920" y="4075938"/>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M2</a:t>
            </a:r>
            <a:endParaRPr lang="en-US" sz="950" dirty="0"/>
          </a:p>
        </p:txBody>
      </p:sp>
      <p:sp>
        <p:nvSpPr>
          <p:cNvPr id="37" name="Shape 34"/>
          <p:cNvSpPr/>
          <p:nvPr/>
        </p:nvSpPr>
        <p:spPr>
          <a:xfrm>
            <a:off x="502920" y="4727448"/>
            <a:ext cx="11183112" cy="699516"/>
          </a:xfrm>
          <a:prstGeom prst="roundRect">
            <a:avLst>
              <a:gd name="adj" fmla="val 9150"/>
            </a:avLst>
          </a:prstGeom>
          <a:solidFill>
            <a:srgbClr val="FAFCFE"/>
          </a:solidFill>
          <a:ln w="9525">
            <a:solidFill>
              <a:srgbClr val="D9E2EA"/>
            </a:solidFill>
            <a:prstDash val="solid"/>
          </a:ln>
        </p:spPr>
      </p:sp>
      <p:sp>
        <p:nvSpPr>
          <p:cNvPr id="38" name="Shape 35"/>
          <p:cNvSpPr/>
          <p:nvPr/>
        </p:nvSpPr>
        <p:spPr>
          <a:xfrm>
            <a:off x="649224" y="4912614"/>
            <a:ext cx="329184" cy="329184"/>
          </a:xfrm>
          <a:prstGeom prst="ellipse">
            <a:avLst/>
          </a:prstGeom>
          <a:solidFill>
            <a:srgbClr val="00A79D"/>
          </a:solidFill>
          <a:ln/>
        </p:spPr>
      </p:sp>
      <p:sp>
        <p:nvSpPr>
          <p:cNvPr id="39" name="Text 36"/>
          <p:cNvSpPr/>
          <p:nvPr/>
        </p:nvSpPr>
        <p:spPr>
          <a:xfrm>
            <a:off x="649224" y="4912614"/>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LO5</a:t>
            </a:r>
            <a:endParaRPr lang="en-US" sz="1150" dirty="0"/>
          </a:p>
        </p:txBody>
      </p:sp>
      <p:sp>
        <p:nvSpPr>
          <p:cNvPr id="40" name="Text 37"/>
          <p:cNvSpPr/>
          <p:nvPr/>
        </p:nvSpPr>
        <p:spPr>
          <a:xfrm>
            <a:off x="1143000" y="4727448"/>
            <a:ext cx="8321040" cy="699516"/>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Evaluate vision models using appropriate metrics such as mAP and IoU</a:t>
            </a:r>
            <a:endParaRPr lang="en-US" sz="1250" dirty="0"/>
          </a:p>
        </p:txBody>
      </p:sp>
      <p:sp>
        <p:nvSpPr>
          <p:cNvPr id="41" name="Shape 38"/>
          <p:cNvSpPr/>
          <p:nvPr/>
        </p:nvSpPr>
        <p:spPr>
          <a:xfrm>
            <a:off x="9646920" y="4903470"/>
            <a:ext cx="658368" cy="310896"/>
          </a:xfrm>
          <a:prstGeom prst="roundRect">
            <a:avLst>
              <a:gd name="adj" fmla="val 50000"/>
            </a:avLst>
          </a:prstGeom>
          <a:solidFill>
            <a:srgbClr val="E9F6F5"/>
          </a:solidFill>
          <a:ln w="9525">
            <a:solidFill>
              <a:srgbClr val="00A79D"/>
            </a:solidFill>
            <a:prstDash val="solid"/>
          </a:ln>
        </p:spPr>
      </p:sp>
      <p:sp>
        <p:nvSpPr>
          <p:cNvPr id="42" name="Text 39"/>
          <p:cNvSpPr/>
          <p:nvPr/>
        </p:nvSpPr>
        <p:spPr>
          <a:xfrm>
            <a:off x="9646920" y="4903470"/>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M6</a:t>
            </a:r>
            <a:endParaRPr lang="en-US" sz="950" dirty="0"/>
          </a:p>
        </p:txBody>
      </p:sp>
      <p:sp>
        <p:nvSpPr>
          <p:cNvPr id="43" name="Shape 40"/>
          <p:cNvSpPr/>
          <p:nvPr/>
        </p:nvSpPr>
        <p:spPr>
          <a:xfrm>
            <a:off x="502920" y="5554980"/>
            <a:ext cx="11183112" cy="699516"/>
          </a:xfrm>
          <a:prstGeom prst="roundRect">
            <a:avLst>
              <a:gd name="adj" fmla="val 9150"/>
            </a:avLst>
          </a:prstGeom>
          <a:solidFill>
            <a:srgbClr val="F2F6F9"/>
          </a:solidFill>
          <a:ln w="9525">
            <a:solidFill>
              <a:srgbClr val="D9E2EA"/>
            </a:solidFill>
            <a:prstDash val="solid"/>
          </a:ln>
        </p:spPr>
      </p:sp>
      <p:sp>
        <p:nvSpPr>
          <p:cNvPr id="44" name="Shape 41"/>
          <p:cNvSpPr/>
          <p:nvPr/>
        </p:nvSpPr>
        <p:spPr>
          <a:xfrm>
            <a:off x="649224" y="5740146"/>
            <a:ext cx="329184" cy="329184"/>
          </a:xfrm>
          <a:prstGeom prst="ellipse">
            <a:avLst/>
          </a:prstGeom>
          <a:solidFill>
            <a:srgbClr val="00A79D"/>
          </a:solidFill>
          <a:ln/>
        </p:spPr>
      </p:sp>
      <p:sp>
        <p:nvSpPr>
          <p:cNvPr id="45" name="Text 42"/>
          <p:cNvSpPr/>
          <p:nvPr/>
        </p:nvSpPr>
        <p:spPr>
          <a:xfrm>
            <a:off x="649224" y="574014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LO6</a:t>
            </a:r>
            <a:endParaRPr lang="en-US" sz="1150" dirty="0"/>
          </a:p>
        </p:txBody>
      </p:sp>
      <p:sp>
        <p:nvSpPr>
          <p:cNvPr id="46" name="Text 43"/>
          <p:cNvSpPr/>
          <p:nvPr/>
        </p:nvSpPr>
        <p:spPr>
          <a:xfrm>
            <a:off x="1143000" y="5554980"/>
            <a:ext cx="8321040" cy="699516"/>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Deploy optimised vision models to cloud and edge targets</a:t>
            </a:r>
            <a:endParaRPr lang="en-US" sz="1250" dirty="0"/>
          </a:p>
        </p:txBody>
      </p:sp>
      <p:sp>
        <p:nvSpPr>
          <p:cNvPr id="47" name="Shape 44"/>
          <p:cNvSpPr/>
          <p:nvPr/>
        </p:nvSpPr>
        <p:spPr>
          <a:xfrm>
            <a:off x="9646920" y="5731002"/>
            <a:ext cx="658368" cy="310896"/>
          </a:xfrm>
          <a:prstGeom prst="roundRect">
            <a:avLst>
              <a:gd name="adj" fmla="val 50000"/>
            </a:avLst>
          </a:prstGeom>
          <a:solidFill>
            <a:srgbClr val="E9F6F5"/>
          </a:solidFill>
          <a:ln w="9525">
            <a:solidFill>
              <a:srgbClr val="00A79D"/>
            </a:solidFill>
            <a:prstDash val="solid"/>
          </a:ln>
        </p:spPr>
      </p:sp>
      <p:sp>
        <p:nvSpPr>
          <p:cNvPr id="48" name="Text 45"/>
          <p:cNvSpPr/>
          <p:nvPr/>
        </p:nvSpPr>
        <p:spPr>
          <a:xfrm>
            <a:off x="9646920" y="573100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Four days, one build order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أربعة أيام، مسار بناء واحد</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02920" y="1389888"/>
            <a:ext cx="2590038" cy="4965192"/>
          </a:xfrm>
          <a:prstGeom prst="roundRect">
            <a:avLst>
              <a:gd name="adj" fmla="val 3177"/>
            </a:avLst>
          </a:prstGeom>
          <a:solidFill>
            <a:srgbClr val="F2F6F9"/>
          </a:solidFill>
          <a:ln w="12700">
            <a:solidFill>
              <a:srgbClr val="D9E2EA"/>
            </a:solidFill>
            <a:prstDash val="solid"/>
          </a:ln>
        </p:spPr>
      </p:sp>
      <p:sp>
        <p:nvSpPr>
          <p:cNvPr id="8" name="Shape 5"/>
          <p:cNvSpPr/>
          <p:nvPr/>
        </p:nvSpPr>
        <p:spPr>
          <a:xfrm>
            <a:off x="630936" y="1517904"/>
            <a:ext cx="2334006" cy="457200"/>
          </a:xfrm>
          <a:prstGeom prst="roundRect">
            <a:avLst>
              <a:gd name="adj" fmla="val 14000"/>
            </a:avLst>
          </a:prstGeom>
          <a:solidFill>
            <a:srgbClr val="00A79D"/>
          </a:solidFill>
          <a:ln/>
        </p:spPr>
      </p:sp>
      <p:sp>
        <p:nvSpPr>
          <p:cNvPr id="9" name="Text 6"/>
          <p:cNvSpPr/>
          <p:nvPr/>
        </p:nvSpPr>
        <p:spPr>
          <a:xfrm>
            <a:off x="630936" y="1517904"/>
            <a:ext cx="2334006" cy="457200"/>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DAY 1</a:t>
            </a:r>
            <a:endParaRPr lang="en-US" sz="1500" dirty="0"/>
          </a:p>
        </p:txBody>
      </p:sp>
      <p:sp>
        <p:nvSpPr>
          <p:cNvPr id="10" name="Text 7"/>
          <p:cNvSpPr/>
          <p:nvPr/>
        </p:nvSpPr>
        <p:spPr>
          <a:xfrm>
            <a:off x="649224" y="2066544"/>
            <a:ext cx="2297430" cy="566928"/>
          </a:xfrm>
          <a:prstGeom prst="rect">
            <a:avLst/>
          </a:prstGeom>
          <a:noFill/>
          <a:ln/>
        </p:spPr>
        <p:txBody>
          <a:bodyPr wrap="square" lIns="0" tIns="0" rIns="0" bIns="0" rtlCol="0" anchor="ctr"/>
          <a:lstStyle/>
          <a:p>
            <a:pPr algn="ctr" indent="0" marL="0">
              <a:buNone/>
            </a:pPr>
            <a:r>
              <a:rPr lang="en-US" sz="1300" b="1" dirty="0">
                <a:solidFill>
                  <a:srgbClr val="1D2A5C"/>
                </a:solidFill>
                <a:latin typeface="Calibri" pitchFamily="34" charset="0"/>
                <a:ea typeface="Calibri" pitchFamily="34" charset="-122"/>
                <a:cs typeface="Calibri" pitchFamily="34" charset="-120"/>
              </a:rPr>
              <a:t>Seeing like a machine</a:t>
            </a:r>
            <a:endParaRPr lang="en-US" sz="1300" dirty="0"/>
          </a:p>
        </p:txBody>
      </p:sp>
      <p:sp>
        <p:nvSpPr>
          <p:cNvPr id="11" name="Text 8"/>
          <p:cNvSpPr/>
          <p:nvPr/>
        </p:nvSpPr>
        <p:spPr>
          <a:xfrm>
            <a:off x="685800" y="2688336"/>
            <a:ext cx="2242566" cy="23317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3293B"/>
                </a:solidFill>
                <a:latin typeface="Calibri" pitchFamily="34" charset="0"/>
                <a:ea typeface="Calibri" pitchFamily="34" charset="-122"/>
                <a:cs typeface="Calibri" pitchFamily="34" charset="-120"/>
              </a:rPr>
              <a:t>M1 Image data, preprocessing &amp; augmentation</a:t>
            </a:r>
            <a:endParaRPr lang="en-US" sz="1050" dirty="0"/>
          </a:p>
          <a:p>
            <a:pPr marL="127000" indent="-127000">
              <a:spcAft>
                <a:spcPts val="600"/>
              </a:spcAft>
              <a:buSzPct val="100000"/>
              <a:buChar char="▪"/>
            </a:pPr>
            <a:r>
              <a:rPr lang="en-US" sz="1050" dirty="0">
                <a:solidFill>
                  <a:srgbClr val="23293B"/>
                </a:solidFill>
                <a:latin typeface="Calibri" pitchFamily="34" charset="0"/>
                <a:ea typeface="Calibri" pitchFamily="34" charset="-122"/>
                <a:cs typeface="Calibri" pitchFamily="34" charset="-120"/>
              </a:rPr>
              <a:t>M2 CNN architectures &amp; vision transformers</a:t>
            </a:r>
            <a:endParaRPr lang="en-US" sz="1050" dirty="0"/>
          </a:p>
        </p:txBody>
      </p:sp>
      <p:sp>
        <p:nvSpPr>
          <p:cNvPr id="12" name="Shape 9"/>
          <p:cNvSpPr/>
          <p:nvPr/>
        </p:nvSpPr>
        <p:spPr>
          <a:xfrm>
            <a:off x="667512" y="5056632"/>
            <a:ext cx="2260854" cy="0"/>
          </a:xfrm>
          <a:prstGeom prst="line">
            <a:avLst/>
          </a:prstGeom>
          <a:noFill/>
          <a:ln w="9525">
            <a:solidFill>
              <a:srgbClr val="D9E2EA"/>
            </a:solidFill>
            <a:prstDash val="solid"/>
          </a:ln>
        </p:spPr>
      </p:sp>
      <p:sp>
        <p:nvSpPr>
          <p:cNvPr id="13" name="Text 10"/>
          <p:cNvSpPr/>
          <p:nvPr/>
        </p:nvSpPr>
        <p:spPr>
          <a:xfrm>
            <a:off x="667512" y="5148072"/>
            <a:ext cx="2260854" cy="201168"/>
          </a:xfrm>
          <a:prstGeom prst="rect">
            <a:avLst/>
          </a:prstGeom>
          <a:noFill/>
          <a:ln/>
        </p:spPr>
        <p:txBody>
          <a:bodyPr wrap="square" lIns="0" tIns="0" rIns="0" bIns="0" rtlCol="0" anchor="ctr"/>
          <a:lstStyle/>
          <a:p>
            <a:pPr indent="0" marL="0">
              <a:buNone/>
            </a:pPr>
            <a:r>
              <a:rPr lang="en-US" sz="850" b="1" spc="150" kern="0" dirty="0">
                <a:solidFill>
                  <a:srgbClr val="00A79D"/>
                </a:solidFill>
                <a:latin typeface="Calibri" pitchFamily="34" charset="0"/>
                <a:ea typeface="Calibri" pitchFamily="34" charset="-122"/>
                <a:cs typeface="Calibri" pitchFamily="34" charset="-120"/>
              </a:rPr>
              <a:t>DELIVERABLE</a:t>
            </a:r>
            <a:endParaRPr lang="en-US" sz="850" dirty="0"/>
          </a:p>
        </p:txBody>
      </p:sp>
      <p:sp>
        <p:nvSpPr>
          <p:cNvPr id="14" name="Text 11"/>
          <p:cNvSpPr/>
          <p:nvPr/>
        </p:nvSpPr>
        <p:spPr>
          <a:xfrm>
            <a:off x="667512" y="5367528"/>
            <a:ext cx="2260854" cy="896112"/>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Working dates-qc input pipeline + fine-tuned grade classifier beating the frozen baseline</a:t>
            </a:r>
            <a:endParaRPr lang="en-US" sz="1000" dirty="0"/>
          </a:p>
        </p:txBody>
      </p:sp>
      <p:sp>
        <p:nvSpPr>
          <p:cNvPr id="15" name="Shape 12"/>
          <p:cNvSpPr/>
          <p:nvPr/>
        </p:nvSpPr>
        <p:spPr>
          <a:xfrm>
            <a:off x="3367278" y="1389888"/>
            <a:ext cx="2590038" cy="4965192"/>
          </a:xfrm>
          <a:prstGeom prst="roundRect">
            <a:avLst>
              <a:gd name="adj" fmla="val 3177"/>
            </a:avLst>
          </a:prstGeom>
          <a:solidFill>
            <a:srgbClr val="F2F6F9"/>
          </a:solidFill>
          <a:ln w="12700">
            <a:solidFill>
              <a:srgbClr val="D9E2EA"/>
            </a:solidFill>
            <a:prstDash val="solid"/>
          </a:ln>
        </p:spPr>
      </p:sp>
      <p:sp>
        <p:nvSpPr>
          <p:cNvPr id="16" name="Shape 13"/>
          <p:cNvSpPr/>
          <p:nvPr/>
        </p:nvSpPr>
        <p:spPr>
          <a:xfrm>
            <a:off x="3495294" y="1517904"/>
            <a:ext cx="2334006" cy="457200"/>
          </a:xfrm>
          <a:prstGeom prst="roundRect">
            <a:avLst>
              <a:gd name="adj" fmla="val 14000"/>
            </a:avLst>
          </a:prstGeom>
          <a:solidFill>
            <a:srgbClr val="29ABE2"/>
          </a:solidFill>
          <a:ln/>
        </p:spPr>
      </p:sp>
      <p:sp>
        <p:nvSpPr>
          <p:cNvPr id="17" name="Text 14"/>
          <p:cNvSpPr/>
          <p:nvPr/>
        </p:nvSpPr>
        <p:spPr>
          <a:xfrm>
            <a:off x="3495294" y="1517904"/>
            <a:ext cx="2334006" cy="457200"/>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DAY 2</a:t>
            </a:r>
            <a:endParaRPr lang="en-US" sz="1500" dirty="0"/>
          </a:p>
        </p:txBody>
      </p:sp>
      <p:sp>
        <p:nvSpPr>
          <p:cNvPr id="18" name="Text 15"/>
          <p:cNvSpPr/>
          <p:nvPr/>
        </p:nvSpPr>
        <p:spPr>
          <a:xfrm>
            <a:off x="3513582" y="2066544"/>
            <a:ext cx="2297430" cy="566928"/>
          </a:xfrm>
          <a:prstGeom prst="rect">
            <a:avLst/>
          </a:prstGeom>
          <a:noFill/>
          <a:ln/>
        </p:spPr>
        <p:txBody>
          <a:bodyPr wrap="square" lIns="0" tIns="0" rIns="0" bIns="0" rtlCol="0" anchor="ctr"/>
          <a:lstStyle/>
          <a:p>
            <a:pPr algn="ctr" indent="0" marL="0">
              <a:buNone/>
            </a:pPr>
            <a:r>
              <a:rPr lang="en-US" sz="1300" b="1" dirty="0">
                <a:solidFill>
                  <a:srgbClr val="1D2A5C"/>
                </a:solidFill>
                <a:latin typeface="Calibri" pitchFamily="34" charset="0"/>
                <a:ea typeface="Calibri" pitchFamily="34" charset="-122"/>
                <a:cs typeface="Calibri" pitchFamily="34" charset="-120"/>
              </a:rPr>
              <a:t>Locate and delineate</a:t>
            </a:r>
            <a:endParaRPr lang="en-US" sz="1300" dirty="0"/>
          </a:p>
        </p:txBody>
      </p:sp>
      <p:sp>
        <p:nvSpPr>
          <p:cNvPr id="19" name="Text 16"/>
          <p:cNvSpPr/>
          <p:nvPr/>
        </p:nvSpPr>
        <p:spPr>
          <a:xfrm>
            <a:off x="3550158" y="2688336"/>
            <a:ext cx="2242566" cy="23317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3293B"/>
                </a:solidFill>
                <a:latin typeface="Calibri" pitchFamily="34" charset="0"/>
                <a:ea typeface="Calibri" pitchFamily="34" charset="-122"/>
                <a:cs typeface="Calibri" pitchFamily="34" charset="-120"/>
              </a:rPr>
              <a:t>M3 Object detection with YOLO-family models</a:t>
            </a:r>
            <a:endParaRPr lang="en-US" sz="1050" dirty="0"/>
          </a:p>
          <a:p>
            <a:pPr marL="127000" indent="-127000">
              <a:spcAft>
                <a:spcPts val="600"/>
              </a:spcAft>
              <a:buSzPct val="100000"/>
              <a:buChar char="▪"/>
            </a:pPr>
            <a:r>
              <a:rPr lang="en-US" sz="1050" dirty="0">
                <a:solidFill>
                  <a:srgbClr val="23293B"/>
                </a:solidFill>
                <a:latin typeface="Calibri" pitchFamily="34" charset="0"/>
                <a:ea typeface="Calibri" pitchFamily="34" charset="-122"/>
                <a:cs typeface="Calibri" pitchFamily="34" charset="-120"/>
              </a:rPr>
              <a:t>M4 Semantic &amp; instance segmentation</a:t>
            </a:r>
            <a:endParaRPr lang="en-US" sz="1050" dirty="0"/>
          </a:p>
        </p:txBody>
      </p:sp>
      <p:sp>
        <p:nvSpPr>
          <p:cNvPr id="20" name="Shape 17"/>
          <p:cNvSpPr/>
          <p:nvPr/>
        </p:nvSpPr>
        <p:spPr>
          <a:xfrm>
            <a:off x="3531870" y="5056632"/>
            <a:ext cx="2260854" cy="0"/>
          </a:xfrm>
          <a:prstGeom prst="line">
            <a:avLst/>
          </a:prstGeom>
          <a:noFill/>
          <a:ln w="9525">
            <a:solidFill>
              <a:srgbClr val="D9E2EA"/>
            </a:solidFill>
            <a:prstDash val="solid"/>
          </a:ln>
        </p:spPr>
      </p:sp>
      <p:sp>
        <p:nvSpPr>
          <p:cNvPr id="21" name="Text 18"/>
          <p:cNvSpPr/>
          <p:nvPr/>
        </p:nvSpPr>
        <p:spPr>
          <a:xfrm>
            <a:off x="3531870" y="5148072"/>
            <a:ext cx="2260854" cy="201168"/>
          </a:xfrm>
          <a:prstGeom prst="rect">
            <a:avLst/>
          </a:prstGeom>
          <a:noFill/>
          <a:ln/>
        </p:spPr>
        <p:txBody>
          <a:bodyPr wrap="square" lIns="0" tIns="0" rIns="0" bIns="0" rtlCol="0" anchor="ctr"/>
          <a:lstStyle/>
          <a:p>
            <a:pPr indent="0" marL="0">
              <a:buNone/>
            </a:pPr>
            <a:r>
              <a:rPr lang="en-US" sz="850" b="1" spc="150" kern="0" dirty="0">
                <a:solidFill>
                  <a:srgbClr val="00A79D"/>
                </a:solidFill>
                <a:latin typeface="Calibri" pitchFamily="34" charset="0"/>
                <a:ea typeface="Calibri" pitchFamily="34" charset="-122"/>
                <a:cs typeface="Calibri" pitchFamily="34" charset="-120"/>
              </a:rPr>
              <a:t>DELIVERABLE</a:t>
            </a:r>
            <a:endParaRPr lang="en-US" sz="850" dirty="0"/>
          </a:p>
        </p:txBody>
      </p:sp>
      <p:sp>
        <p:nvSpPr>
          <p:cNvPr id="22" name="Text 19"/>
          <p:cNvSpPr/>
          <p:nvPr/>
        </p:nvSpPr>
        <p:spPr>
          <a:xfrm>
            <a:off x="3531870" y="5367528"/>
            <a:ext cx="2260854" cy="896112"/>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Trained defect detector (mAP@0.5 ≥ 0.85) + surface-defect segmentation model</a:t>
            </a:r>
            <a:endParaRPr lang="en-US" sz="1000" dirty="0"/>
          </a:p>
        </p:txBody>
      </p:sp>
      <p:sp>
        <p:nvSpPr>
          <p:cNvPr id="23" name="Shape 20"/>
          <p:cNvSpPr/>
          <p:nvPr/>
        </p:nvSpPr>
        <p:spPr>
          <a:xfrm>
            <a:off x="6231636" y="1389888"/>
            <a:ext cx="2590038" cy="4965192"/>
          </a:xfrm>
          <a:prstGeom prst="roundRect">
            <a:avLst>
              <a:gd name="adj" fmla="val 3177"/>
            </a:avLst>
          </a:prstGeom>
          <a:solidFill>
            <a:srgbClr val="F2F6F9"/>
          </a:solidFill>
          <a:ln w="12700">
            <a:solidFill>
              <a:srgbClr val="D9E2EA"/>
            </a:solidFill>
            <a:prstDash val="solid"/>
          </a:ln>
        </p:spPr>
      </p:sp>
      <p:sp>
        <p:nvSpPr>
          <p:cNvPr id="24" name="Shape 21"/>
          <p:cNvSpPr/>
          <p:nvPr/>
        </p:nvSpPr>
        <p:spPr>
          <a:xfrm>
            <a:off x="6359652" y="1517904"/>
            <a:ext cx="2334006" cy="457200"/>
          </a:xfrm>
          <a:prstGeom prst="roundRect">
            <a:avLst>
              <a:gd name="adj" fmla="val 14000"/>
            </a:avLst>
          </a:prstGeom>
          <a:solidFill>
            <a:srgbClr val="F58220"/>
          </a:solidFill>
          <a:ln/>
        </p:spPr>
      </p:sp>
      <p:sp>
        <p:nvSpPr>
          <p:cNvPr id="25" name="Text 22"/>
          <p:cNvSpPr/>
          <p:nvPr/>
        </p:nvSpPr>
        <p:spPr>
          <a:xfrm>
            <a:off x="6359652" y="1517904"/>
            <a:ext cx="2334006" cy="457200"/>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DAY 3</a:t>
            </a:r>
            <a:endParaRPr lang="en-US" sz="1500" dirty="0"/>
          </a:p>
        </p:txBody>
      </p:sp>
      <p:sp>
        <p:nvSpPr>
          <p:cNvPr id="26" name="Text 23"/>
          <p:cNvSpPr/>
          <p:nvPr/>
        </p:nvSpPr>
        <p:spPr>
          <a:xfrm>
            <a:off x="6377940" y="2066544"/>
            <a:ext cx="2297430" cy="566928"/>
          </a:xfrm>
          <a:prstGeom prst="rect">
            <a:avLst/>
          </a:prstGeom>
          <a:noFill/>
          <a:ln/>
        </p:spPr>
        <p:txBody>
          <a:bodyPr wrap="square" lIns="0" tIns="0" rIns="0" bIns="0" rtlCol="0" anchor="ctr"/>
          <a:lstStyle/>
          <a:p>
            <a:pPr algn="ctr" indent="0" marL="0">
              <a:buNone/>
            </a:pPr>
            <a:r>
              <a:rPr lang="en-US" sz="1300" b="1" dirty="0">
                <a:solidFill>
                  <a:srgbClr val="1D2A5C"/>
                </a:solidFill>
                <a:latin typeface="Calibri" pitchFamily="34" charset="0"/>
                <a:ea typeface="Calibri" pitchFamily="34" charset="-122"/>
                <a:cs typeface="Calibri" pitchFamily="34" charset="-120"/>
              </a:rPr>
              <a:t>Data is the system</a:t>
            </a:r>
            <a:endParaRPr lang="en-US" sz="1300" dirty="0"/>
          </a:p>
        </p:txBody>
      </p:sp>
      <p:sp>
        <p:nvSpPr>
          <p:cNvPr id="27" name="Text 24"/>
          <p:cNvSpPr/>
          <p:nvPr/>
        </p:nvSpPr>
        <p:spPr>
          <a:xfrm>
            <a:off x="6414516" y="2688336"/>
            <a:ext cx="2242566" cy="23317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3293B"/>
                </a:solidFill>
                <a:latin typeface="Calibri" pitchFamily="34" charset="0"/>
                <a:ea typeface="Calibri" pitchFamily="34" charset="-122"/>
                <a:cs typeface="Calibri" pitchFamily="34" charset="-120"/>
              </a:rPr>
              <a:t>M5 Dataset curation &amp; annotation workflows</a:t>
            </a:r>
            <a:endParaRPr lang="en-US" sz="1050" dirty="0"/>
          </a:p>
          <a:p>
            <a:pPr marL="127000" indent="-127000">
              <a:spcAft>
                <a:spcPts val="600"/>
              </a:spcAft>
              <a:buSzPct val="100000"/>
              <a:buChar char="▪"/>
            </a:pPr>
            <a:r>
              <a:rPr lang="en-US" sz="1050" dirty="0">
                <a:solidFill>
                  <a:srgbClr val="23293B"/>
                </a:solidFill>
                <a:latin typeface="Calibri" pitchFamily="34" charset="0"/>
                <a:ea typeface="Calibri" pitchFamily="34" charset="-122"/>
                <a:cs typeface="Calibri" pitchFamily="34" charset="-120"/>
              </a:rPr>
              <a:t>M6 Model evaluation for vision tasks</a:t>
            </a:r>
            <a:endParaRPr lang="en-US" sz="1050" dirty="0"/>
          </a:p>
        </p:txBody>
      </p:sp>
      <p:sp>
        <p:nvSpPr>
          <p:cNvPr id="28" name="Shape 25"/>
          <p:cNvSpPr/>
          <p:nvPr/>
        </p:nvSpPr>
        <p:spPr>
          <a:xfrm>
            <a:off x="6396228" y="5056632"/>
            <a:ext cx="2260854" cy="0"/>
          </a:xfrm>
          <a:prstGeom prst="line">
            <a:avLst/>
          </a:prstGeom>
          <a:noFill/>
          <a:ln w="9525">
            <a:solidFill>
              <a:srgbClr val="D9E2EA"/>
            </a:solidFill>
            <a:prstDash val="solid"/>
          </a:ln>
        </p:spPr>
      </p:sp>
      <p:sp>
        <p:nvSpPr>
          <p:cNvPr id="29" name="Text 26"/>
          <p:cNvSpPr/>
          <p:nvPr/>
        </p:nvSpPr>
        <p:spPr>
          <a:xfrm>
            <a:off x="6396228" y="5148072"/>
            <a:ext cx="2260854" cy="201168"/>
          </a:xfrm>
          <a:prstGeom prst="rect">
            <a:avLst/>
          </a:prstGeom>
          <a:noFill/>
          <a:ln/>
        </p:spPr>
        <p:txBody>
          <a:bodyPr wrap="square" lIns="0" tIns="0" rIns="0" bIns="0" rtlCol="0" anchor="ctr"/>
          <a:lstStyle/>
          <a:p>
            <a:pPr indent="0" marL="0">
              <a:buNone/>
            </a:pPr>
            <a:r>
              <a:rPr lang="en-US" sz="850" b="1" spc="150" kern="0" dirty="0">
                <a:solidFill>
                  <a:srgbClr val="00A79D"/>
                </a:solidFill>
                <a:latin typeface="Calibri" pitchFamily="34" charset="0"/>
                <a:ea typeface="Calibri" pitchFamily="34" charset="-122"/>
                <a:cs typeface="Calibri" pitchFamily="34" charset="-120"/>
              </a:rPr>
              <a:t>DELIVERABLE</a:t>
            </a:r>
            <a:endParaRPr lang="en-US" sz="850" dirty="0"/>
          </a:p>
        </p:txBody>
      </p:sp>
      <p:sp>
        <p:nvSpPr>
          <p:cNvPr id="30" name="Text 27"/>
          <p:cNvSpPr/>
          <p:nvPr/>
        </p:nvSpPr>
        <p:spPr>
          <a:xfrm>
            <a:off x="6396228" y="5367528"/>
            <a:ext cx="2260854" cy="896112"/>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Curated dataset v2 + evaluation harness + written error-analysis report</a:t>
            </a:r>
            <a:endParaRPr lang="en-US" sz="1000" dirty="0"/>
          </a:p>
        </p:txBody>
      </p:sp>
      <p:sp>
        <p:nvSpPr>
          <p:cNvPr id="31" name="Shape 28"/>
          <p:cNvSpPr/>
          <p:nvPr/>
        </p:nvSpPr>
        <p:spPr>
          <a:xfrm>
            <a:off x="9095994" y="1389888"/>
            <a:ext cx="2590038" cy="4965192"/>
          </a:xfrm>
          <a:prstGeom prst="roundRect">
            <a:avLst>
              <a:gd name="adj" fmla="val 3177"/>
            </a:avLst>
          </a:prstGeom>
          <a:solidFill>
            <a:srgbClr val="F2F6F9"/>
          </a:solidFill>
          <a:ln w="12700">
            <a:solidFill>
              <a:srgbClr val="D9E2EA"/>
            </a:solidFill>
            <a:prstDash val="solid"/>
          </a:ln>
        </p:spPr>
      </p:sp>
      <p:sp>
        <p:nvSpPr>
          <p:cNvPr id="32" name="Shape 29"/>
          <p:cNvSpPr/>
          <p:nvPr/>
        </p:nvSpPr>
        <p:spPr>
          <a:xfrm>
            <a:off x="9224010" y="1517904"/>
            <a:ext cx="2334006" cy="457200"/>
          </a:xfrm>
          <a:prstGeom prst="roundRect">
            <a:avLst>
              <a:gd name="adj" fmla="val 14000"/>
            </a:avLst>
          </a:prstGeom>
          <a:solidFill>
            <a:srgbClr val="8DC63F"/>
          </a:solidFill>
          <a:ln/>
        </p:spPr>
      </p:sp>
      <p:sp>
        <p:nvSpPr>
          <p:cNvPr id="33" name="Text 30"/>
          <p:cNvSpPr/>
          <p:nvPr/>
        </p:nvSpPr>
        <p:spPr>
          <a:xfrm>
            <a:off x="9224010" y="1517904"/>
            <a:ext cx="2334006" cy="457200"/>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DAY 4</a:t>
            </a:r>
            <a:endParaRPr lang="en-US" sz="1500" dirty="0"/>
          </a:p>
        </p:txBody>
      </p:sp>
      <p:sp>
        <p:nvSpPr>
          <p:cNvPr id="34" name="Text 31"/>
          <p:cNvSpPr/>
          <p:nvPr/>
        </p:nvSpPr>
        <p:spPr>
          <a:xfrm>
            <a:off x="9242298" y="2066544"/>
            <a:ext cx="2297430" cy="566928"/>
          </a:xfrm>
          <a:prstGeom prst="rect">
            <a:avLst/>
          </a:prstGeom>
          <a:noFill/>
          <a:ln/>
        </p:spPr>
        <p:txBody>
          <a:bodyPr wrap="square" lIns="0" tIns="0" rIns="0" bIns="0" rtlCol="0" anchor="ctr"/>
          <a:lstStyle/>
          <a:p>
            <a:pPr algn="ctr" indent="0" marL="0">
              <a:buNone/>
            </a:pPr>
            <a:r>
              <a:rPr lang="en-US" sz="1300" b="1" dirty="0">
                <a:solidFill>
                  <a:srgbClr val="1D2A5C"/>
                </a:solidFill>
                <a:latin typeface="Calibri" pitchFamily="34" charset="0"/>
                <a:ea typeface="Calibri" pitchFamily="34" charset="-122"/>
                <a:cs typeface="Calibri" pitchFamily="34" charset="-120"/>
              </a:rPr>
              <a:t>Ship it to the line</a:t>
            </a:r>
            <a:endParaRPr lang="en-US" sz="1300" dirty="0"/>
          </a:p>
        </p:txBody>
      </p:sp>
      <p:sp>
        <p:nvSpPr>
          <p:cNvPr id="35" name="Text 32"/>
          <p:cNvSpPr/>
          <p:nvPr/>
        </p:nvSpPr>
        <p:spPr>
          <a:xfrm>
            <a:off x="9278874" y="2688336"/>
            <a:ext cx="2242566" cy="23317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3293B"/>
                </a:solidFill>
                <a:latin typeface="Calibri" pitchFamily="34" charset="0"/>
                <a:ea typeface="Calibri" pitchFamily="34" charset="-122"/>
                <a:cs typeface="Calibri" pitchFamily="34" charset="-120"/>
              </a:rPr>
              <a:t>M7 Deployment &amp; edge optimisation</a:t>
            </a:r>
            <a:endParaRPr lang="en-US" sz="1050" dirty="0"/>
          </a:p>
          <a:p>
            <a:pPr marL="127000" indent="-127000">
              <a:spcAft>
                <a:spcPts val="600"/>
              </a:spcAft>
              <a:buSzPct val="100000"/>
              <a:buChar char="▪"/>
            </a:pPr>
            <a:r>
              <a:rPr lang="en-US" sz="1050" dirty="0">
                <a:solidFill>
                  <a:srgbClr val="23293B"/>
                </a:solidFill>
                <a:latin typeface="Calibri" pitchFamily="34" charset="0"/>
                <a:ea typeface="Calibri" pitchFamily="34" charset="-122"/>
                <a:cs typeface="Calibri" pitchFamily="34" charset="-120"/>
              </a:rPr>
              <a:t>Final capstone</a:t>
            </a:r>
            <a:endParaRPr lang="en-US" sz="1050" dirty="0"/>
          </a:p>
        </p:txBody>
      </p:sp>
      <p:sp>
        <p:nvSpPr>
          <p:cNvPr id="36" name="Shape 33"/>
          <p:cNvSpPr/>
          <p:nvPr/>
        </p:nvSpPr>
        <p:spPr>
          <a:xfrm>
            <a:off x="9260586" y="5056632"/>
            <a:ext cx="2260854" cy="0"/>
          </a:xfrm>
          <a:prstGeom prst="line">
            <a:avLst/>
          </a:prstGeom>
          <a:noFill/>
          <a:ln w="9525">
            <a:solidFill>
              <a:srgbClr val="D9E2EA"/>
            </a:solidFill>
            <a:prstDash val="solid"/>
          </a:ln>
        </p:spPr>
      </p:sp>
      <p:sp>
        <p:nvSpPr>
          <p:cNvPr id="37" name="Text 34"/>
          <p:cNvSpPr/>
          <p:nvPr/>
        </p:nvSpPr>
        <p:spPr>
          <a:xfrm>
            <a:off x="9260586" y="5148072"/>
            <a:ext cx="2260854" cy="201168"/>
          </a:xfrm>
          <a:prstGeom prst="rect">
            <a:avLst/>
          </a:prstGeom>
          <a:noFill/>
          <a:ln/>
        </p:spPr>
        <p:txBody>
          <a:bodyPr wrap="square" lIns="0" tIns="0" rIns="0" bIns="0" rtlCol="0" anchor="ctr"/>
          <a:lstStyle/>
          <a:p>
            <a:pPr indent="0" marL="0">
              <a:buNone/>
            </a:pPr>
            <a:r>
              <a:rPr lang="en-US" sz="850" b="1" spc="150" kern="0" dirty="0">
                <a:solidFill>
                  <a:srgbClr val="00A79D"/>
                </a:solidFill>
                <a:latin typeface="Calibri" pitchFamily="34" charset="0"/>
                <a:ea typeface="Calibri" pitchFamily="34" charset="-122"/>
                <a:cs typeface="Calibri" pitchFamily="34" charset="-120"/>
              </a:rPr>
              <a:t>DELIVERABLE</a:t>
            </a:r>
            <a:endParaRPr lang="en-US" sz="850" dirty="0"/>
          </a:p>
        </p:txBody>
      </p:sp>
      <p:sp>
        <p:nvSpPr>
          <p:cNvPr id="38" name="Text 35"/>
          <p:cNvSpPr/>
          <p:nvPr/>
        </p:nvSpPr>
        <p:spPr>
          <a:xfrm>
            <a:off x="9260586" y="5367528"/>
            <a:ext cx="2260854" cy="896112"/>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ONNX-exported, benchmarked edge models + capstone demo of the full inspection system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How you are assessed</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كيف يتم التقييم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OVERVIEW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502920" y="2775204"/>
            <a:ext cx="3515258" cy="2194560"/>
          </a:xfrm>
          <a:prstGeom prst="roundRect">
            <a:avLst>
              <a:gd name="adj" fmla="val 3750"/>
            </a:avLst>
          </a:prstGeom>
          <a:solidFill>
            <a:srgbClr val="E9F6F5"/>
          </a:solidFill>
          <a:ln w="12700">
            <a:solidFill>
              <a:srgbClr val="D9E2EA"/>
            </a:solidFill>
            <a:prstDash val="solid"/>
          </a:ln>
        </p:spPr>
      </p:sp>
      <p:sp>
        <p:nvSpPr>
          <p:cNvPr id="8" name="Text 5"/>
          <p:cNvSpPr/>
          <p:nvPr/>
        </p:nvSpPr>
        <p:spPr>
          <a:xfrm>
            <a:off x="594360" y="2884932"/>
            <a:ext cx="3332378" cy="965606"/>
          </a:xfrm>
          <a:prstGeom prst="rect">
            <a:avLst/>
          </a:prstGeom>
          <a:noFill/>
          <a:ln/>
        </p:spPr>
        <p:txBody>
          <a:bodyPr wrap="square" lIns="0" tIns="0" rIns="0" bIns="0" rtlCol="0" anchor="ctr"/>
          <a:lstStyle/>
          <a:p>
            <a:pPr algn="ctr" indent="0" marL="0">
              <a:buNone/>
            </a:pPr>
            <a:r>
              <a:rPr lang="en-US" sz="3800" b="1" dirty="0">
                <a:solidFill>
                  <a:srgbClr val="00A79D"/>
                </a:solidFill>
                <a:latin typeface="Calibri" pitchFamily="34" charset="0"/>
                <a:ea typeface="Calibri" pitchFamily="34" charset="-122"/>
                <a:cs typeface="Calibri" pitchFamily="34" charset="-120"/>
              </a:rPr>
              <a:t>60%</a:t>
            </a:r>
            <a:endParaRPr lang="en-US" sz="3800" dirty="0"/>
          </a:p>
        </p:txBody>
      </p:sp>
      <p:sp>
        <p:nvSpPr>
          <p:cNvPr id="9" name="Text 6"/>
          <p:cNvSpPr/>
          <p:nvPr/>
        </p:nvSpPr>
        <p:spPr>
          <a:xfrm>
            <a:off x="640080" y="3916375"/>
            <a:ext cx="3240938"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Labs</a:t>
            </a:r>
            <a:endParaRPr lang="en-US" sz="1250" dirty="0"/>
          </a:p>
        </p:txBody>
      </p:sp>
      <p:sp>
        <p:nvSpPr>
          <p:cNvPr id="10" name="Text 7"/>
          <p:cNvSpPr/>
          <p:nvPr/>
        </p:nvSpPr>
        <p:spPr>
          <a:xfrm>
            <a:off x="640080" y="4263847"/>
            <a:ext cx="3240938"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7 cumulative labs — each builds a capstone component</a:t>
            </a:r>
            <a:endParaRPr lang="en-US" sz="1000" dirty="0"/>
          </a:p>
        </p:txBody>
      </p:sp>
      <p:sp>
        <p:nvSpPr>
          <p:cNvPr id="11" name="Shape 8"/>
          <p:cNvSpPr/>
          <p:nvPr/>
        </p:nvSpPr>
        <p:spPr>
          <a:xfrm>
            <a:off x="4338218" y="2775204"/>
            <a:ext cx="3515258" cy="2194560"/>
          </a:xfrm>
          <a:prstGeom prst="roundRect">
            <a:avLst>
              <a:gd name="adj" fmla="val 3750"/>
            </a:avLst>
          </a:prstGeom>
          <a:solidFill>
            <a:srgbClr val="F2F6F9"/>
          </a:solidFill>
          <a:ln w="12700">
            <a:solidFill>
              <a:srgbClr val="D9E2EA"/>
            </a:solidFill>
            <a:prstDash val="solid"/>
          </a:ln>
        </p:spPr>
      </p:sp>
      <p:sp>
        <p:nvSpPr>
          <p:cNvPr id="12" name="Text 9"/>
          <p:cNvSpPr/>
          <p:nvPr/>
        </p:nvSpPr>
        <p:spPr>
          <a:xfrm>
            <a:off x="4429658" y="2884932"/>
            <a:ext cx="3332378" cy="965606"/>
          </a:xfrm>
          <a:prstGeom prst="rect">
            <a:avLst/>
          </a:prstGeom>
          <a:noFill/>
          <a:ln/>
        </p:spPr>
        <p:txBody>
          <a:bodyPr wrap="square" lIns="0" tIns="0" rIns="0" bIns="0" rtlCol="0" anchor="ctr"/>
          <a:lstStyle/>
          <a:p>
            <a:pPr algn="ctr" indent="0" marL="0">
              <a:buNone/>
            </a:pPr>
            <a:r>
              <a:rPr lang="en-US" sz="3800" b="1" dirty="0">
                <a:solidFill>
                  <a:srgbClr val="29ABE2"/>
                </a:solidFill>
                <a:latin typeface="Calibri" pitchFamily="34" charset="0"/>
                <a:ea typeface="Calibri" pitchFamily="34" charset="-122"/>
                <a:cs typeface="Calibri" pitchFamily="34" charset="-120"/>
              </a:rPr>
              <a:t>40%</a:t>
            </a:r>
            <a:endParaRPr lang="en-US" sz="3800" dirty="0"/>
          </a:p>
        </p:txBody>
      </p:sp>
      <p:sp>
        <p:nvSpPr>
          <p:cNvPr id="13" name="Text 10"/>
          <p:cNvSpPr/>
          <p:nvPr/>
        </p:nvSpPr>
        <p:spPr>
          <a:xfrm>
            <a:off x="4475378" y="3916375"/>
            <a:ext cx="3240938"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Vision-system project</a:t>
            </a:r>
            <a:endParaRPr lang="en-US" sz="1250" dirty="0"/>
          </a:p>
        </p:txBody>
      </p:sp>
      <p:sp>
        <p:nvSpPr>
          <p:cNvPr id="14" name="Text 11"/>
          <p:cNvSpPr/>
          <p:nvPr/>
        </p:nvSpPr>
        <p:spPr>
          <a:xfrm>
            <a:off x="4475378" y="4263847"/>
            <a:ext cx="3240938"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Day 4 capstone: assembled inspection system + demo</a:t>
            </a:r>
            <a:endParaRPr lang="en-US" sz="1000" dirty="0"/>
          </a:p>
        </p:txBody>
      </p:sp>
      <p:sp>
        <p:nvSpPr>
          <p:cNvPr id="15" name="Shape 12"/>
          <p:cNvSpPr/>
          <p:nvPr/>
        </p:nvSpPr>
        <p:spPr>
          <a:xfrm>
            <a:off x="8173517" y="2775204"/>
            <a:ext cx="3515258" cy="2194560"/>
          </a:xfrm>
          <a:prstGeom prst="roundRect">
            <a:avLst>
              <a:gd name="adj" fmla="val 3750"/>
            </a:avLst>
          </a:prstGeom>
          <a:solidFill>
            <a:srgbClr val="F2F6F9"/>
          </a:solidFill>
          <a:ln w="12700">
            <a:solidFill>
              <a:srgbClr val="D9E2EA"/>
            </a:solidFill>
            <a:prstDash val="solid"/>
          </a:ln>
        </p:spPr>
      </p:sp>
      <p:sp>
        <p:nvSpPr>
          <p:cNvPr id="16" name="Text 13"/>
          <p:cNvSpPr/>
          <p:nvPr/>
        </p:nvSpPr>
        <p:spPr>
          <a:xfrm>
            <a:off x="8264957" y="2884932"/>
            <a:ext cx="3332378" cy="965606"/>
          </a:xfrm>
          <a:prstGeom prst="rect">
            <a:avLst/>
          </a:prstGeom>
          <a:noFill/>
          <a:ln/>
        </p:spPr>
        <p:txBody>
          <a:bodyPr wrap="square" lIns="0" tIns="0" rIns="0" bIns="0" rtlCol="0" anchor="ctr"/>
          <a:lstStyle/>
          <a:p>
            <a:pPr algn="ctr" indent="0" marL="0">
              <a:buNone/>
            </a:pPr>
            <a:r>
              <a:rPr lang="en-US" sz="3800" b="1" dirty="0">
                <a:solidFill>
                  <a:srgbClr val="1D2A5C"/>
                </a:solidFill>
                <a:latin typeface="Calibri" pitchFamily="34" charset="0"/>
                <a:ea typeface="Calibri" pitchFamily="34" charset="-122"/>
                <a:cs typeface="Calibri" pitchFamily="34" charset="-120"/>
              </a:rPr>
              <a:t>20 h</a:t>
            </a:r>
            <a:endParaRPr lang="en-US" sz="3800" dirty="0"/>
          </a:p>
        </p:txBody>
      </p:sp>
      <p:sp>
        <p:nvSpPr>
          <p:cNvPr id="17" name="Text 14"/>
          <p:cNvSpPr/>
          <p:nvPr/>
        </p:nvSpPr>
        <p:spPr>
          <a:xfrm>
            <a:off x="8310677" y="3916375"/>
            <a:ext cx="3240938"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Contact hours</a:t>
            </a:r>
            <a:endParaRPr lang="en-US" sz="1250" dirty="0"/>
          </a:p>
        </p:txBody>
      </p:sp>
      <p:sp>
        <p:nvSpPr>
          <p:cNvPr id="18" name="Text 15"/>
          <p:cNvSpPr/>
          <p:nvPr/>
        </p:nvSpPr>
        <p:spPr>
          <a:xfrm>
            <a:off x="8310677" y="4263847"/>
            <a:ext cx="3240938"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4 days × 5 hours · theory falls, lab share rises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Environment strategy — verify before Day 1</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استراتيجية بيئة التدريب</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OVERVIEW · INSTRUCTOR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502920" y="1453896"/>
            <a:ext cx="329184" cy="329184"/>
          </a:xfrm>
          <a:prstGeom prst="ellipse">
            <a:avLst/>
          </a:prstGeom>
          <a:solidFill>
            <a:srgbClr val="00A79D"/>
          </a:solidFill>
          <a:ln/>
        </p:spPr>
      </p:sp>
      <p:sp>
        <p:nvSpPr>
          <p:cNvPr id="8" name="Text 5"/>
          <p:cNvSpPr/>
          <p:nvPr/>
        </p:nvSpPr>
        <p:spPr>
          <a:xfrm>
            <a:off x="502920" y="1453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389888"/>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Primary: classroom GPUs</a:t>
            </a:r>
            <a:endParaRPr lang="en-US" sz="1400" dirty="0"/>
          </a:p>
        </p:txBody>
      </p:sp>
      <p:sp>
        <p:nvSpPr>
          <p:cNvPr id="10" name="Text 7"/>
          <p:cNvSpPr/>
          <p:nvPr/>
        </p:nvSpPr>
        <p:spPr>
          <a:xfrm>
            <a:off x="1005840" y="1691640"/>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NVIDIA GPUs with 8 GB+ VRAM per workstation, or a provided cloud-notebook pool.</a:t>
            </a:r>
            <a:endParaRPr lang="en-US" sz="1150" dirty="0"/>
          </a:p>
        </p:txBody>
      </p:sp>
      <p:sp>
        <p:nvSpPr>
          <p:cNvPr id="11" name="Shape 8"/>
          <p:cNvSpPr/>
          <p:nvPr/>
        </p:nvSpPr>
        <p:spPr>
          <a:xfrm>
            <a:off x="502920" y="2446934"/>
            <a:ext cx="329184" cy="329184"/>
          </a:xfrm>
          <a:prstGeom prst="ellipse">
            <a:avLst/>
          </a:prstGeom>
          <a:solidFill>
            <a:srgbClr val="29ABE2"/>
          </a:solidFill>
          <a:ln/>
        </p:spPr>
      </p:sp>
      <p:sp>
        <p:nvSpPr>
          <p:cNvPr id="12" name="Text 9"/>
          <p:cNvSpPr/>
          <p:nvPr/>
        </p:nvSpPr>
        <p:spPr>
          <a:xfrm>
            <a:off x="502920" y="244693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382926"/>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Fallback: CPU path</a:t>
            </a:r>
            <a:endParaRPr lang="en-US" sz="1400" dirty="0"/>
          </a:p>
        </p:txBody>
      </p:sp>
      <p:sp>
        <p:nvSpPr>
          <p:cNvPr id="14" name="Text 11"/>
          <p:cNvSpPr/>
          <p:nvPr/>
        </p:nvSpPr>
        <p:spPr>
          <a:xfrm>
            <a:off x="1005840" y="2684678"/>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Reduced image size (320), reduced epochs, and provided pre-trained checkpoints for every lab.</a:t>
            </a:r>
            <a:endParaRPr lang="en-US" sz="1150" dirty="0"/>
          </a:p>
        </p:txBody>
      </p:sp>
      <p:sp>
        <p:nvSpPr>
          <p:cNvPr id="15" name="Shape 12"/>
          <p:cNvSpPr/>
          <p:nvPr/>
        </p:nvSpPr>
        <p:spPr>
          <a:xfrm>
            <a:off x="502920" y="3439973"/>
            <a:ext cx="329184" cy="329184"/>
          </a:xfrm>
          <a:prstGeom prst="ellipse">
            <a:avLst/>
          </a:prstGeom>
          <a:solidFill>
            <a:srgbClr val="F58220"/>
          </a:solidFill>
          <a:ln/>
        </p:spPr>
      </p:sp>
      <p:sp>
        <p:nvSpPr>
          <p:cNvPr id="16" name="Text 13"/>
          <p:cNvSpPr/>
          <p:nvPr/>
        </p:nvSpPr>
        <p:spPr>
          <a:xfrm>
            <a:off x="502920" y="3439973"/>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375965"/>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Training-time discipline</a:t>
            </a:r>
            <a:endParaRPr lang="en-US" sz="1400" dirty="0"/>
          </a:p>
        </p:txBody>
      </p:sp>
      <p:sp>
        <p:nvSpPr>
          <p:cNvPr id="18" name="Text 15"/>
          <p:cNvSpPr/>
          <p:nvPr/>
        </p:nvSpPr>
        <p:spPr>
          <a:xfrm>
            <a:off x="1005840" y="3677717"/>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Every lab caps training at ≤ 15 minutes wall-clock by design — small models, subset epochs, starting weights.</a:t>
            </a:r>
            <a:endParaRPr lang="en-US" sz="1150" dirty="0"/>
          </a:p>
        </p:txBody>
      </p:sp>
      <p:sp>
        <p:nvSpPr>
          <p:cNvPr id="19" name="Shape 16"/>
          <p:cNvSpPr/>
          <p:nvPr/>
        </p:nvSpPr>
        <p:spPr>
          <a:xfrm>
            <a:off x="502920" y="4433011"/>
            <a:ext cx="329184" cy="329184"/>
          </a:xfrm>
          <a:prstGeom prst="ellipse">
            <a:avLst/>
          </a:prstGeom>
          <a:solidFill>
            <a:srgbClr val="8DC63F"/>
          </a:solidFill>
          <a:ln/>
        </p:spPr>
      </p:sp>
      <p:sp>
        <p:nvSpPr>
          <p:cNvPr id="20" name="Text 17"/>
          <p:cNvSpPr/>
          <p:nvPr/>
        </p:nvSpPr>
        <p:spPr>
          <a:xfrm>
            <a:off x="502920" y="4433011"/>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4369003"/>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Checkpoints for stragglers</a:t>
            </a:r>
            <a:endParaRPr lang="en-US" sz="1400" dirty="0"/>
          </a:p>
        </p:txBody>
      </p:sp>
      <p:sp>
        <p:nvSpPr>
          <p:cNvPr id="22" name="Text 19"/>
          <p:cNvSpPr/>
          <p:nvPr/>
        </p:nvSpPr>
        <p:spPr>
          <a:xfrm>
            <a:off x="1005840" y="4670755"/>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Publish lab3-start, lab3-best.pt, dates-qc-v2-reference … so nobody loses the thread waiting on a run.</a:t>
            </a:r>
            <a:endParaRPr lang="en-US" sz="1150" dirty="0"/>
          </a:p>
        </p:txBody>
      </p:sp>
      <p:sp>
        <p:nvSpPr>
          <p:cNvPr id="23" name="Shape 20"/>
          <p:cNvSpPr/>
          <p:nvPr/>
        </p:nvSpPr>
        <p:spPr>
          <a:xfrm>
            <a:off x="502920" y="5426050"/>
            <a:ext cx="329184" cy="329184"/>
          </a:xfrm>
          <a:prstGeom prst="ellipse">
            <a:avLst/>
          </a:prstGeom>
          <a:solidFill>
            <a:srgbClr val="1D2A5C"/>
          </a:solidFill>
          <a:ln/>
        </p:spPr>
      </p:sp>
      <p:sp>
        <p:nvSpPr>
          <p:cNvPr id="24" name="Text 21"/>
          <p:cNvSpPr/>
          <p:nvPr/>
        </p:nvSpPr>
        <p:spPr>
          <a:xfrm>
            <a:off x="502920" y="542605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p:nvPr/>
        </p:nvSpPr>
        <p:spPr>
          <a:xfrm>
            <a:off x="1005840" y="5362042"/>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Verify both paths the week before</a:t>
            </a:r>
            <a:endParaRPr lang="en-US" sz="1400" dirty="0"/>
          </a:p>
        </p:txBody>
      </p:sp>
      <p:sp>
        <p:nvSpPr>
          <p:cNvPr id="26" name="Text 23"/>
          <p:cNvSpPr/>
          <p:nvPr/>
        </p:nvSpPr>
        <p:spPr>
          <a:xfrm>
            <a:off x="1005840" y="5663794"/>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CV course with no working GPU plan collapses on Day 2.</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How this course is delivered</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طريقة تقديم البرنامج</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OVERVIEW · INSTRUCTOR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02920" y="1453896"/>
            <a:ext cx="329184" cy="329184"/>
          </a:xfrm>
          <a:prstGeom prst="ellipse">
            <a:avLst/>
          </a:prstGeom>
          <a:solidFill>
            <a:srgbClr val="00A79D"/>
          </a:solidFill>
          <a:ln/>
        </p:spPr>
      </p:sp>
      <p:sp>
        <p:nvSpPr>
          <p:cNvPr id="8" name="Text 5"/>
          <p:cNvSpPr/>
          <p:nvPr/>
        </p:nvSpPr>
        <p:spPr>
          <a:xfrm>
            <a:off x="502920" y="1453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389888"/>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Golden thread</a:t>
            </a:r>
            <a:endParaRPr lang="en-US" sz="1400" dirty="0"/>
          </a:p>
        </p:txBody>
      </p:sp>
      <p:sp>
        <p:nvSpPr>
          <p:cNvPr id="10" name="Text 7"/>
          <p:cNvSpPr/>
          <p:nvPr/>
        </p:nvSpPr>
        <p:spPr>
          <a:xfrm>
            <a:off x="1005840" y="1691640"/>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Never introduce a throwaway dataset — always evolve the course artefact. That rule makes the capstone possible.</a:t>
            </a:r>
            <a:endParaRPr lang="en-US" sz="1150" dirty="0"/>
          </a:p>
        </p:txBody>
      </p:sp>
      <p:sp>
        <p:nvSpPr>
          <p:cNvPr id="11" name="Shape 8"/>
          <p:cNvSpPr/>
          <p:nvPr/>
        </p:nvSpPr>
        <p:spPr>
          <a:xfrm>
            <a:off x="502920" y="2446934"/>
            <a:ext cx="329184" cy="329184"/>
          </a:xfrm>
          <a:prstGeom prst="ellipse">
            <a:avLst/>
          </a:prstGeom>
          <a:solidFill>
            <a:srgbClr val="29ABE2"/>
          </a:solidFill>
          <a:ln/>
        </p:spPr>
      </p:sp>
      <p:sp>
        <p:nvSpPr>
          <p:cNvPr id="12" name="Text 9"/>
          <p:cNvSpPr/>
          <p:nvPr/>
        </p:nvSpPr>
        <p:spPr>
          <a:xfrm>
            <a:off x="502920" y="244693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382926"/>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Pairs, rotated daily</a:t>
            </a:r>
            <a:endParaRPr lang="en-US" sz="1400" dirty="0"/>
          </a:p>
        </p:txBody>
      </p:sp>
      <p:sp>
        <p:nvSpPr>
          <p:cNvPr id="14" name="Text 11"/>
          <p:cNvSpPr/>
          <p:nvPr/>
        </p:nvSpPr>
        <p:spPr>
          <a:xfrm>
            <a:off x="1005840" y="2684678"/>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Pair strong-PyTorch with strong-domain-intuition participants; Day 3 error analysis benefits most from mixed pairs.</a:t>
            </a:r>
            <a:endParaRPr lang="en-US" sz="1150" dirty="0"/>
          </a:p>
        </p:txBody>
      </p:sp>
      <p:sp>
        <p:nvSpPr>
          <p:cNvPr id="15" name="Shape 12"/>
          <p:cNvSpPr/>
          <p:nvPr/>
        </p:nvSpPr>
        <p:spPr>
          <a:xfrm>
            <a:off x="502920" y="3439973"/>
            <a:ext cx="329184" cy="329184"/>
          </a:xfrm>
          <a:prstGeom prst="ellipse">
            <a:avLst/>
          </a:prstGeom>
          <a:solidFill>
            <a:srgbClr val="F58220"/>
          </a:solidFill>
          <a:ln/>
        </p:spPr>
      </p:sp>
      <p:sp>
        <p:nvSpPr>
          <p:cNvPr id="16" name="Text 13"/>
          <p:cNvSpPr/>
          <p:nvPr/>
        </p:nvSpPr>
        <p:spPr>
          <a:xfrm>
            <a:off x="502920" y="3439973"/>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375965"/>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Hour rhythm</a:t>
            </a:r>
            <a:endParaRPr lang="en-US" sz="1400" dirty="0"/>
          </a:p>
        </p:txBody>
      </p:sp>
      <p:sp>
        <p:nvSpPr>
          <p:cNvPr id="18" name="Text 15"/>
          <p:cNvSpPr/>
          <p:nvPr/>
        </p:nvSpPr>
        <p:spPr>
          <a:xfrm>
            <a:off x="1005840" y="3677717"/>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Each 'hour' is 50 minutes of instruction + 10 minutes buffer; schedule the long break around Dhuhr.</a:t>
            </a:r>
            <a:endParaRPr lang="en-US" sz="1150" dirty="0"/>
          </a:p>
        </p:txBody>
      </p:sp>
      <p:sp>
        <p:nvSpPr>
          <p:cNvPr id="19" name="Shape 16"/>
          <p:cNvSpPr/>
          <p:nvPr/>
        </p:nvSpPr>
        <p:spPr>
          <a:xfrm>
            <a:off x="502920" y="4433011"/>
            <a:ext cx="329184" cy="329184"/>
          </a:xfrm>
          <a:prstGeom prst="ellipse">
            <a:avLst/>
          </a:prstGeom>
          <a:solidFill>
            <a:srgbClr val="8DC63F"/>
          </a:solidFill>
          <a:ln/>
        </p:spPr>
      </p:sp>
      <p:sp>
        <p:nvSpPr>
          <p:cNvPr id="20" name="Text 17"/>
          <p:cNvSpPr/>
          <p:nvPr/>
        </p:nvSpPr>
        <p:spPr>
          <a:xfrm>
            <a:off x="502920" y="4433011"/>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4369003"/>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Language</a:t>
            </a:r>
            <a:endParaRPr lang="en-US" sz="1400" dirty="0"/>
          </a:p>
        </p:txBody>
      </p:sp>
      <p:sp>
        <p:nvSpPr>
          <p:cNvPr id="22" name="Text 19"/>
          <p:cNvSpPr/>
          <p:nvPr/>
        </p:nvSpPr>
        <p:spPr>
          <a:xfrm>
            <a:off x="1005840" y="4670755"/>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Deliver in English or Arabic — but keep all code, identifiers, class names, and annotation labels in English.</a:t>
            </a:r>
            <a:endParaRPr lang="en-US" sz="1150" dirty="0"/>
          </a:p>
        </p:txBody>
      </p:sp>
      <p:sp>
        <p:nvSpPr>
          <p:cNvPr id="23" name="Shape 20"/>
          <p:cNvSpPr/>
          <p:nvPr/>
        </p:nvSpPr>
        <p:spPr>
          <a:xfrm>
            <a:off x="502920" y="5426050"/>
            <a:ext cx="329184" cy="329184"/>
          </a:xfrm>
          <a:prstGeom prst="ellipse">
            <a:avLst/>
          </a:prstGeom>
          <a:solidFill>
            <a:srgbClr val="1D2A5C"/>
          </a:solidFill>
          <a:ln/>
        </p:spPr>
      </p:sp>
      <p:sp>
        <p:nvSpPr>
          <p:cNvPr id="24" name="Text 21"/>
          <p:cNvSpPr/>
          <p:nvPr/>
        </p:nvSpPr>
        <p:spPr>
          <a:xfrm>
            <a:off x="502920" y="542605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p:nvPr/>
        </p:nvSpPr>
        <p:spPr>
          <a:xfrm>
            <a:off x="1005840" y="5362042"/>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Overrun watch</a:t>
            </a:r>
            <a:endParaRPr lang="en-US" sz="1400" dirty="0"/>
          </a:p>
        </p:txBody>
      </p:sp>
      <p:sp>
        <p:nvSpPr>
          <p:cNvPr id="26" name="Text 23"/>
          <p:cNvSpPr/>
          <p:nvPr/>
        </p:nvSpPr>
        <p:spPr>
          <a:xfrm>
            <a:off x="1005840" y="5663794"/>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Labs 3 and 5 are the most overrun-prone (training time and annotation time) — use the checkpoint fast-forward.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3" name="Text 0"/>
          <p:cNvSpPr/>
          <p:nvPr/>
        </p:nvSpPr>
        <p:spPr>
          <a:xfrm>
            <a:off x="502920" y="6528816"/>
            <a:ext cx="8686800" cy="219456"/>
          </a:xfrm>
          <a:prstGeom prst="rect">
            <a:avLst/>
          </a:prstGeom>
          <a:noFill/>
          <a:ln/>
        </p:spPr>
        <p:txBody>
          <a:bodyPr wrap="square" lIns="0" tIns="0" rIns="0" bIns="0" rtlCol="0" anchor="ctr"/>
          <a:lstStyle/>
          <a:p>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4" name="Text 1"/>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a:t>
            </a:r>
            <a:endParaRPr lang="en-US" sz="900" dirty="0"/>
          </a:p>
        </p:txBody>
      </p:sp>
      <p:sp>
        <p:nvSpPr>
          <p:cNvPr id="5" name="Shape 2"/>
          <p:cNvSpPr/>
          <p:nvPr/>
        </p:nvSpPr>
        <p:spPr>
          <a:xfrm>
            <a:off x="640080" y="5664708"/>
            <a:ext cx="246888" cy="213970"/>
          </a:xfrm>
          <a:prstGeom prst="triangle">
            <a:avLst/>
          </a:prstGeom>
          <a:solidFill>
            <a:srgbClr val="00A79D">
              <a:alpha val="18000"/>
            </a:srgbClr>
          </a:solidFill>
          <a:ln/>
        </p:spPr>
      </p:sp>
      <p:sp>
        <p:nvSpPr>
          <p:cNvPr id="6" name="Shape 3"/>
          <p:cNvSpPr/>
          <p:nvPr/>
        </p:nvSpPr>
        <p:spPr>
          <a:xfrm rot="10800000">
            <a:off x="903427" y="5458968"/>
            <a:ext cx="246888" cy="213970"/>
          </a:xfrm>
          <a:prstGeom prst="triangle">
            <a:avLst/>
          </a:prstGeom>
          <a:solidFill>
            <a:srgbClr val="29ABE2">
              <a:alpha val="18000"/>
            </a:srgbClr>
          </a:solidFill>
          <a:ln/>
        </p:spPr>
      </p:sp>
      <p:sp>
        <p:nvSpPr>
          <p:cNvPr id="7" name="Shape 4"/>
          <p:cNvSpPr/>
          <p:nvPr/>
        </p:nvSpPr>
        <p:spPr>
          <a:xfrm rot="10800000">
            <a:off x="903427" y="5870448"/>
            <a:ext cx="246888" cy="213970"/>
          </a:xfrm>
          <a:prstGeom prst="triangle">
            <a:avLst/>
          </a:prstGeom>
          <a:solidFill>
            <a:srgbClr val="F58220">
              <a:alpha val="18000"/>
            </a:srgbClr>
          </a:solidFill>
          <a:ln/>
        </p:spPr>
      </p:sp>
      <p:sp>
        <p:nvSpPr>
          <p:cNvPr id="8" name="Shape 5"/>
          <p:cNvSpPr/>
          <p:nvPr/>
        </p:nvSpPr>
        <p:spPr>
          <a:xfrm>
            <a:off x="1166774" y="5664708"/>
            <a:ext cx="246888" cy="213970"/>
          </a:xfrm>
          <a:prstGeom prst="triangle">
            <a:avLst/>
          </a:prstGeom>
          <a:solidFill>
            <a:srgbClr val="8DC63F">
              <a:alpha val="18000"/>
            </a:srgbClr>
          </a:solidFill>
          <a:ln/>
        </p:spPr>
      </p:sp>
      <p:sp>
        <p:nvSpPr>
          <p:cNvPr id="9" name="Shape 6"/>
          <p:cNvSpPr/>
          <p:nvPr/>
        </p:nvSpPr>
        <p:spPr>
          <a:xfrm>
            <a:off x="1166774" y="5253228"/>
            <a:ext cx="246888" cy="213970"/>
          </a:xfrm>
          <a:prstGeom prst="triangle">
            <a:avLst/>
          </a:prstGeom>
          <a:solidFill>
            <a:srgbClr val="1D2A5C">
              <a:alpha val="18000"/>
            </a:srgbClr>
          </a:solidFill>
          <a:ln/>
        </p:spPr>
      </p:sp>
      <p:sp>
        <p:nvSpPr>
          <p:cNvPr id="10" name="Shape 7"/>
          <p:cNvSpPr/>
          <p:nvPr/>
        </p:nvSpPr>
        <p:spPr>
          <a:xfrm rot="10800000">
            <a:off x="1430122" y="5458968"/>
            <a:ext cx="246888" cy="213970"/>
          </a:xfrm>
          <a:prstGeom prst="triangle">
            <a:avLst/>
          </a:prstGeom>
          <a:solidFill>
            <a:srgbClr val="29ABE2">
              <a:alpha val="18000"/>
            </a:srgbClr>
          </a:solidFill>
          <a:ln/>
        </p:spPr>
      </p:sp>
      <p:sp>
        <p:nvSpPr>
          <p:cNvPr id="11" name="Shape 8"/>
          <p:cNvSpPr/>
          <p:nvPr/>
        </p:nvSpPr>
        <p:spPr>
          <a:xfrm>
            <a:off x="1430122" y="5870448"/>
            <a:ext cx="246888" cy="213970"/>
          </a:xfrm>
          <a:prstGeom prst="triangle">
            <a:avLst/>
          </a:prstGeom>
          <a:solidFill>
            <a:srgbClr val="00A79D">
              <a:alpha val="18000"/>
            </a:srgbClr>
          </a:solidFill>
          <a:ln/>
        </p:spPr>
      </p:sp>
      <p:sp>
        <p:nvSpPr>
          <p:cNvPr id="12" name="Shape 9"/>
          <p:cNvSpPr/>
          <p:nvPr/>
        </p:nvSpPr>
        <p:spPr>
          <a:xfrm rot="10800000">
            <a:off x="1693469" y="5664708"/>
            <a:ext cx="246888" cy="213970"/>
          </a:xfrm>
          <a:prstGeom prst="triangle">
            <a:avLst/>
          </a:prstGeom>
          <a:solidFill>
            <a:srgbClr val="F58220">
              <a:alpha val="18000"/>
            </a:srgbClr>
          </a:solidFill>
          <a:ln/>
        </p:spPr>
      </p:sp>
      <p:sp>
        <p:nvSpPr>
          <p:cNvPr id="13" name="Shape 10"/>
          <p:cNvSpPr/>
          <p:nvPr/>
        </p:nvSpPr>
        <p:spPr>
          <a:xfrm>
            <a:off x="10058400" y="2189988"/>
            <a:ext cx="246888" cy="213970"/>
          </a:xfrm>
          <a:prstGeom prst="triangle">
            <a:avLst/>
          </a:prstGeom>
          <a:solidFill>
            <a:srgbClr val="00A79D">
              <a:alpha val="18000"/>
            </a:srgbClr>
          </a:solidFill>
          <a:ln/>
        </p:spPr>
      </p:sp>
      <p:sp>
        <p:nvSpPr>
          <p:cNvPr id="14" name="Shape 11"/>
          <p:cNvSpPr/>
          <p:nvPr/>
        </p:nvSpPr>
        <p:spPr>
          <a:xfrm rot="10800000">
            <a:off x="10321747" y="1984248"/>
            <a:ext cx="246888" cy="213970"/>
          </a:xfrm>
          <a:prstGeom prst="triangle">
            <a:avLst/>
          </a:prstGeom>
          <a:solidFill>
            <a:srgbClr val="29ABE2">
              <a:alpha val="18000"/>
            </a:srgbClr>
          </a:solidFill>
          <a:ln/>
        </p:spPr>
      </p:sp>
      <p:sp>
        <p:nvSpPr>
          <p:cNvPr id="15" name="Shape 12"/>
          <p:cNvSpPr/>
          <p:nvPr/>
        </p:nvSpPr>
        <p:spPr>
          <a:xfrm rot="10800000">
            <a:off x="10321747" y="2395728"/>
            <a:ext cx="246888" cy="213970"/>
          </a:xfrm>
          <a:prstGeom prst="triangle">
            <a:avLst/>
          </a:prstGeom>
          <a:solidFill>
            <a:srgbClr val="F58220">
              <a:alpha val="18000"/>
            </a:srgbClr>
          </a:solidFill>
          <a:ln/>
        </p:spPr>
      </p:sp>
      <p:sp>
        <p:nvSpPr>
          <p:cNvPr id="16" name="Shape 13"/>
          <p:cNvSpPr/>
          <p:nvPr/>
        </p:nvSpPr>
        <p:spPr>
          <a:xfrm>
            <a:off x="10585094" y="2189988"/>
            <a:ext cx="246888" cy="213970"/>
          </a:xfrm>
          <a:prstGeom prst="triangle">
            <a:avLst/>
          </a:prstGeom>
          <a:solidFill>
            <a:srgbClr val="8DC63F">
              <a:alpha val="18000"/>
            </a:srgbClr>
          </a:solidFill>
          <a:ln/>
        </p:spPr>
      </p:sp>
      <p:sp>
        <p:nvSpPr>
          <p:cNvPr id="17" name="Shape 14"/>
          <p:cNvSpPr/>
          <p:nvPr/>
        </p:nvSpPr>
        <p:spPr>
          <a:xfrm>
            <a:off x="10585094" y="1778508"/>
            <a:ext cx="246888" cy="213970"/>
          </a:xfrm>
          <a:prstGeom prst="triangle">
            <a:avLst/>
          </a:prstGeom>
          <a:solidFill>
            <a:srgbClr val="1D2A5C">
              <a:alpha val="18000"/>
            </a:srgbClr>
          </a:solidFill>
          <a:ln/>
        </p:spPr>
      </p:sp>
      <p:sp>
        <p:nvSpPr>
          <p:cNvPr id="18" name="Shape 15"/>
          <p:cNvSpPr/>
          <p:nvPr/>
        </p:nvSpPr>
        <p:spPr>
          <a:xfrm rot="10800000">
            <a:off x="10848442" y="1984248"/>
            <a:ext cx="246888" cy="213970"/>
          </a:xfrm>
          <a:prstGeom prst="triangle">
            <a:avLst/>
          </a:prstGeom>
          <a:solidFill>
            <a:srgbClr val="29ABE2">
              <a:alpha val="18000"/>
            </a:srgbClr>
          </a:solidFill>
          <a:ln/>
        </p:spPr>
      </p:sp>
      <p:sp>
        <p:nvSpPr>
          <p:cNvPr id="19" name="Shape 16"/>
          <p:cNvSpPr/>
          <p:nvPr/>
        </p:nvSpPr>
        <p:spPr>
          <a:xfrm>
            <a:off x="10848442" y="2395728"/>
            <a:ext cx="246888" cy="213970"/>
          </a:xfrm>
          <a:prstGeom prst="triangle">
            <a:avLst/>
          </a:prstGeom>
          <a:solidFill>
            <a:srgbClr val="00A79D">
              <a:alpha val="18000"/>
            </a:srgbClr>
          </a:solidFill>
          <a:ln/>
        </p:spPr>
      </p:sp>
      <p:sp>
        <p:nvSpPr>
          <p:cNvPr id="20" name="Shape 17"/>
          <p:cNvSpPr/>
          <p:nvPr/>
        </p:nvSpPr>
        <p:spPr>
          <a:xfrm rot="10800000">
            <a:off x="11111789" y="2189988"/>
            <a:ext cx="246888" cy="213970"/>
          </a:xfrm>
          <a:prstGeom prst="triangle">
            <a:avLst/>
          </a:prstGeom>
          <a:solidFill>
            <a:srgbClr val="F58220">
              <a:alpha val="18000"/>
            </a:srgbClr>
          </a:solidFill>
          <a:ln/>
        </p:spPr>
      </p:sp>
      <p:sp>
        <p:nvSpPr>
          <p:cNvPr id="21" name="Text 18"/>
          <p:cNvSpPr/>
          <p:nvPr/>
        </p:nvSpPr>
        <p:spPr>
          <a:xfrm>
            <a:off x="1463040" y="2194560"/>
            <a:ext cx="9235440" cy="2194560"/>
          </a:xfrm>
          <a:prstGeom prst="rect">
            <a:avLst/>
          </a:prstGeom>
          <a:noFill/>
          <a:ln/>
        </p:spPr>
        <p:txBody>
          <a:bodyPr wrap="square" lIns="0" tIns="0" rIns="0" bIns="0"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"Most production vision failures are input failures."</a:t>
            </a:r>
            <a:endParaRPr lang="en-US" sz="3000" dirty="0"/>
          </a:p>
        </p:txBody>
      </p:sp>
      <p:sp>
        <p:nvSpPr>
          <p:cNvPr id="22" name="Text 19"/>
          <p:cNvSpPr/>
          <p:nvPr/>
        </p:nvSpPr>
        <p:spPr>
          <a:xfrm>
            <a:off x="2011680" y="4572000"/>
            <a:ext cx="8138160" cy="822960"/>
          </a:xfrm>
          <a:prstGeom prst="rect">
            <a:avLst/>
          </a:prstGeom>
          <a:noFill/>
          <a:ln/>
        </p:spPr>
        <p:txBody>
          <a:bodyPr wrap="square" lIns="0" tIns="0" rIns="0" bIns="0" rtlCol="0" anchor="t"/>
          <a:lstStyle/>
          <a:p>
            <a:pPr algn="ctr" indent="0" marL="0">
              <a:buNone/>
            </a:pPr>
            <a:r>
              <a:rPr lang="en-US" sz="1400" i="1" dirty="0">
                <a:solidFill>
                  <a:srgbClr val="5F6B7A"/>
                </a:solidFill>
                <a:latin typeface="Calibri" pitchFamily="34" charset="0"/>
                <a:ea typeface="Calibri" pitchFamily="34" charset="-122"/>
                <a:cs typeface="Calibri" pitchFamily="34" charset="-120"/>
              </a:rPr>
              <a:t>A camera firmware update, a resize mismatch, a silent BGR/RGB swap — Day 1 starts where the failures start: the data layer.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DAY 1</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Seeing Like a Machine</a:t>
            </a:r>
            <a:endParaRPr lang="en-US" sz="3600" dirty="0"/>
          </a:p>
        </p:txBody>
      </p:sp>
      <p:sp>
        <p:nvSpPr>
          <p:cNvPr id="22" name="Text 19"/>
          <p:cNvSpPr/>
          <p:nvPr/>
        </p:nvSpPr>
        <p:spPr>
          <a:xfrm>
            <a:off x="777240" y="285292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الرؤية كما تراها الآلة</a:t>
            </a:r>
            <a:endParaRPr lang="en-US" sz="1700" dirty="0"/>
          </a:p>
        </p:txBody>
      </p:sp>
      <p:sp>
        <p:nvSpPr>
          <p:cNvPr id="23" name="Text 20"/>
          <p:cNvSpPr/>
          <p:nvPr/>
        </p:nvSpPr>
        <p:spPr>
          <a:xfrm>
            <a:off x="804672" y="352044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H1 Why vision systems fail in production + kickoff</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H2 Image data, preprocessing &amp; augmentation (M1)</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H3 Lab 1 — build the dates-qc input pipeline</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H4 CNN architectures &amp; vision transformers (M2)</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H5 Lab 2a — fine-tune the grade classifier</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END-OF-DAY DELIVERABLE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Working dates-qc input pipeline + fine-tuned grade classifier beating the frozen baseline</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Day 1 hour by hour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اليوم الأول ساعة بساعة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DAY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1246110"/>
                <a:gridCol w="4179579"/>
                <a:gridCol w="3789894"/>
                <a:gridCol w="1970272"/>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Hour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Session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Delivery mode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Theory/Lab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Why vision systems fail + course kickoff</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Interactive lecture + failure stories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80/20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Image data, preprocessing &amp; augmentation (M1)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Lecture + live pipeline demo</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70/30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1 — build the dates-qc input pipeline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Guided lab (pairs)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10/90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CNN architectures &amp; vision transformers (M2)</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Lecture + architecture walkthrough</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70/30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2a — fine-tune the grade classifier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Guided lab (pairs)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10/90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MODULE 1</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Image Data, Preprocessing &amp; Augmentation</a:t>
            </a:r>
            <a:endParaRPr lang="en-US" sz="3600" dirty="0"/>
          </a:p>
        </p:txBody>
      </p:sp>
      <p:sp>
        <p:nvSpPr>
          <p:cNvPr id="22" name="Text 19"/>
          <p:cNvSpPr/>
          <p:nvPr/>
        </p:nvSpPr>
        <p:spPr>
          <a:xfrm>
            <a:off x="777240" y="312724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بيانات الصور والمعالجة المسبقة والتعزيز</a:t>
            </a:r>
            <a:endParaRPr lang="en-US" sz="1700" dirty="0"/>
          </a:p>
        </p:txBody>
      </p:sp>
      <p:sp>
        <p:nvSpPr>
          <p:cNvPr id="23" name="Text 20"/>
          <p:cNvSpPr/>
          <p:nvPr/>
        </p:nvSpPr>
        <p:spPr>
          <a:xfrm>
            <a:off x="804672" y="370332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Images as tensors &amp; the preprocessing contract</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Augmentation as encoded domain knowledge</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Input pipelines that keep the GPU fed</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Data quality: what augmentation cannot fix</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MODULE OUTCOME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measured, reproducible dates-qc input pipeline with an audited, justified augmentation policy</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Why the data layer matters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لماذا تهم طبقة البيانات</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Most production vision failures are input failures — and in Saudi deployments, imaging conditions are harsh and variable.</a:t>
            </a:r>
            <a:endParaRPr lang="en-US" sz="1250" dirty="0"/>
          </a:p>
        </p:txBody>
      </p:sp>
      <p:sp>
        <p:nvSpPr>
          <p:cNvPr id="8" name="Shape 5"/>
          <p:cNvSpPr/>
          <p:nvPr/>
        </p:nvSpPr>
        <p:spPr>
          <a:xfrm>
            <a:off x="502920" y="3026664"/>
            <a:ext cx="2556434" cy="2194560"/>
          </a:xfrm>
          <a:prstGeom prst="roundRect">
            <a:avLst>
              <a:gd name="adj" fmla="val 3750"/>
            </a:avLst>
          </a:prstGeom>
          <a:solidFill>
            <a:srgbClr val="E9F6F5"/>
          </a:solidFill>
          <a:ln w="12700">
            <a:solidFill>
              <a:srgbClr val="D9E2EA"/>
            </a:solidFill>
            <a:prstDash val="solid"/>
          </a:ln>
        </p:spPr>
      </p:sp>
      <p:sp>
        <p:nvSpPr>
          <p:cNvPr id="9" name="Text 6"/>
          <p:cNvSpPr/>
          <p:nvPr/>
        </p:nvSpPr>
        <p:spPr>
          <a:xfrm>
            <a:off x="594360" y="3136392"/>
            <a:ext cx="2373554" cy="965606"/>
          </a:xfrm>
          <a:prstGeom prst="rect">
            <a:avLst/>
          </a:prstGeom>
          <a:noFill/>
          <a:ln/>
        </p:spPr>
        <p:txBody>
          <a:bodyPr wrap="square" lIns="0" tIns="0" rIns="0" bIns="0" rtlCol="0" anchor="ctr"/>
          <a:lstStyle/>
          <a:p>
            <a:pPr algn="ctr" indent="0" marL="0">
              <a:buNone/>
            </a:pPr>
            <a:r>
              <a:rPr lang="en-US" sz="3800" b="1" dirty="0">
                <a:solidFill>
                  <a:srgbClr val="E8503A"/>
                </a:solidFill>
                <a:latin typeface="Calibri" pitchFamily="34" charset="0"/>
                <a:ea typeface="Calibri" pitchFamily="34" charset="-122"/>
                <a:cs typeface="Calibri" pitchFamily="34" charset="-120"/>
              </a:rPr>
              <a:t>5-10</a:t>
            </a:r>
            <a:endParaRPr lang="en-US" sz="3800" dirty="0"/>
          </a:p>
        </p:txBody>
      </p:sp>
      <p:sp>
        <p:nvSpPr>
          <p:cNvPr id="10" name="Text 7"/>
          <p:cNvSpPr/>
          <p:nvPr/>
        </p:nvSpPr>
        <p:spPr>
          <a:xfrm>
            <a:off x="640080"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points lost silently</a:t>
            </a:r>
            <a:endParaRPr lang="en-US" sz="1250" dirty="0"/>
          </a:p>
        </p:txBody>
      </p:sp>
      <p:sp>
        <p:nvSpPr>
          <p:cNvPr id="11" name="Text 8"/>
          <p:cNvSpPr/>
          <p:nvPr/>
        </p:nvSpPr>
        <p:spPr>
          <a:xfrm>
            <a:off x="640080"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a BGR/RGB swap degrades, never crashes</a:t>
            </a:r>
            <a:endParaRPr lang="en-US" sz="1000" dirty="0"/>
          </a:p>
        </p:txBody>
      </p:sp>
      <p:sp>
        <p:nvSpPr>
          <p:cNvPr id="12" name="Shape 9"/>
          <p:cNvSpPr/>
          <p:nvPr/>
        </p:nvSpPr>
        <p:spPr>
          <a:xfrm>
            <a:off x="3379394" y="3026664"/>
            <a:ext cx="2556434" cy="2194560"/>
          </a:xfrm>
          <a:prstGeom prst="roundRect">
            <a:avLst>
              <a:gd name="adj" fmla="val 3750"/>
            </a:avLst>
          </a:prstGeom>
          <a:solidFill>
            <a:srgbClr val="F2F6F9"/>
          </a:solidFill>
          <a:ln w="12700">
            <a:solidFill>
              <a:srgbClr val="D9E2EA"/>
            </a:solidFill>
            <a:prstDash val="solid"/>
          </a:ln>
        </p:spPr>
      </p:sp>
      <p:sp>
        <p:nvSpPr>
          <p:cNvPr id="13" name="Text 10"/>
          <p:cNvSpPr/>
          <p:nvPr/>
        </p:nvSpPr>
        <p:spPr>
          <a:xfrm>
            <a:off x="3470834" y="3136392"/>
            <a:ext cx="2373554" cy="965606"/>
          </a:xfrm>
          <a:prstGeom prst="rect">
            <a:avLst/>
          </a:prstGeom>
          <a:noFill/>
          <a:ln/>
        </p:spPr>
        <p:txBody>
          <a:bodyPr wrap="square" lIns="0" tIns="0" rIns="0" bIns="0" rtlCol="0" anchor="ctr"/>
          <a:lstStyle/>
          <a:p>
            <a:pPr algn="ctr" indent="0" marL="0">
              <a:buNone/>
            </a:pPr>
            <a:r>
              <a:rPr lang="en-US" sz="3800" b="1" dirty="0">
                <a:solidFill>
                  <a:srgbClr val="E8503A"/>
                </a:solidFill>
                <a:latin typeface="Calibri" pitchFamily="34" charset="0"/>
                <a:ea typeface="Calibri" pitchFamily="34" charset="-122"/>
                <a:cs typeface="Calibri" pitchFamily="34" charset="-120"/>
              </a:rPr>
              <a:t>3-8%</a:t>
            </a:r>
            <a:endParaRPr lang="en-US" sz="3800" dirty="0"/>
          </a:p>
        </p:txBody>
      </p:sp>
      <p:sp>
        <p:nvSpPr>
          <p:cNvPr id="14" name="Text 11"/>
          <p:cNvSpPr/>
          <p:nvPr/>
        </p:nvSpPr>
        <p:spPr>
          <a:xfrm>
            <a:off x="3516554"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label error, 1st pass</a:t>
            </a:r>
            <a:endParaRPr lang="en-US" sz="1250" dirty="0"/>
          </a:p>
        </p:txBody>
      </p:sp>
      <p:sp>
        <p:nvSpPr>
          <p:cNvPr id="15" name="Text 12"/>
          <p:cNvSpPr/>
          <p:nvPr/>
        </p:nvSpPr>
        <p:spPr>
          <a:xfrm>
            <a:off x="3516554"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typical in industrial QC annotation</a:t>
            </a:r>
            <a:endParaRPr lang="en-US" sz="1000" dirty="0"/>
          </a:p>
        </p:txBody>
      </p:sp>
      <p:sp>
        <p:nvSpPr>
          <p:cNvPr id="16" name="Shape 13"/>
          <p:cNvSpPr/>
          <p:nvPr/>
        </p:nvSpPr>
        <p:spPr>
          <a:xfrm>
            <a:off x="6255868" y="3026664"/>
            <a:ext cx="2556434" cy="2194560"/>
          </a:xfrm>
          <a:prstGeom prst="roundRect">
            <a:avLst>
              <a:gd name="adj" fmla="val 3750"/>
            </a:avLst>
          </a:prstGeom>
          <a:solidFill>
            <a:srgbClr val="F2F6F9"/>
          </a:solidFill>
          <a:ln w="12700">
            <a:solidFill>
              <a:srgbClr val="D9E2EA"/>
            </a:solidFill>
            <a:prstDash val="solid"/>
          </a:ln>
        </p:spPr>
      </p:sp>
      <p:sp>
        <p:nvSpPr>
          <p:cNvPr id="17" name="Text 14"/>
          <p:cNvSpPr/>
          <p:nvPr/>
        </p:nvSpPr>
        <p:spPr>
          <a:xfrm>
            <a:off x="6347308" y="3136392"/>
            <a:ext cx="2373554" cy="965606"/>
          </a:xfrm>
          <a:prstGeom prst="rect">
            <a:avLst/>
          </a:prstGeom>
          <a:noFill/>
          <a:ln/>
        </p:spPr>
        <p:txBody>
          <a:bodyPr wrap="square" lIns="0" tIns="0" rIns="0" bIns="0" rtlCol="0" anchor="ctr"/>
          <a:lstStyle/>
          <a:p>
            <a:pPr algn="ctr" indent="0" marL="0">
              <a:buNone/>
            </a:pPr>
            <a:r>
              <a:rPr lang="en-US" sz="3800" b="1" dirty="0">
                <a:solidFill>
                  <a:srgbClr val="F58220"/>
                </a:solidFill>
                <a:latin typeface="Calibri" pitchFamily="34" charset="0"/>
                <a:ea typeface="Calibri" pitchFamily="34" charset="-122"/>
                <a:cs typeface="Calibri" pitchFamily="34" charset="-120"/>
              </a:rPr>
              <a:t>400</a:t>
            </a:r>
            <a:endParaRPr lang="en-US" sz="3800" dirty="0"/>
          </a:p>
        </p:txBody>
      </p:sp>
      <p:sp>
        <p:nvSpPr>
          <p:cNvPr id="18" name="Text 15"/>
          <p:cNvSpPr/>
          <p:nvPr/>
        </p:nvSpPr>
        <p:spPr>
          <a:xfrm>
            <a:off x="6393028"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img/s loader target</a:t>
            </a:r>
            <a:endParaRPr lang="en-US" sz="1250" dirty="0"/>
          </a:p>
        </p:txBody>
      </p:sp>
      <p:sp>
        <p:nvSpPr>
          <p:cNvPr id="19" name="Text 16"/>
          <p:cNvSpPr/>
          <p:nvPr/>
        </p:nvSpPr>
        <p:spPr>
          <a:xfrm>
            <a:off x="6393028"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at 224 px so the GPU is never starved</a:t>
            </a:r>
            <a:endParaRPr lang="en-US" sz="1000" dirty="0"/>
          </a:p>
        </p:txBody>
      </p:sp>
      <p:sp>
        <p:nvSpPr>
          <p:cNvPr id="20" name="Shape 17"/>
          <p:cNvSpPr/>
          <p:nvPr/>
        </p:nvSpPr>
        <p:spPr>
          <a:xfrm>
            <a:off x="9132341" y="3026664"/>
            <a:ext cx="2556434" cy="2194560"/>
          </a:xfrm>
          <a:prstGeom prst="roundRect">
            <a:avLst>
              <a:gd name="adj" fmla="val 3750"/>
            </a:avLst>
          </a:prstGeom>
          <a:solidFill>
            <a:srgbClr val="F2F6F9"/>
          </a:solidFill>
          <a:ln w="12700">
            <a:solidFill>
              <a:srgbClr val="D9E2EA"/>
            </a:solidFill>
            <a:prstDash val="solid"/>
          </a:ln>
        </p:spPr>
      </p:sp>
      <p:sp>
        <p:nvSpPr>
          <p:cNvPr id="21" name="Text 18"/>
          <p:cNvSpPr/>
          <p:nvPr/>
        </p:nvSpPr>
        <p:spPr>
          <a:xfrm>
            <a:off x="9223781" y="3136392"/>
            <a:ext cx="2373554" cy="965606"/>
          </a:xfrm>
          <a:prstGeom prst="rect">
            <a:avLst/>
          </a:prstGeom>
          <a:noFill/>
          <a:ln/>
        </p:spPr>
        <p:txBody>
          <a:bodyPr wrap="square" lIns="0" tIns="0" rIns="0" bIns="0" rtlCol="0" anchor="ctr"/>
          <a:lstStyle/>
          <a:p>
            <a:pPr algn="ctr" indent="0" marL="0">
              <a:buNone/>
            </a:pPr>
            <a:r>
              <a:rPr lang="en-US" sz="3800" b="1" dirty="0">
                <a:solidFill>
                  <a:srgbClr val="8DC63F"/>
                </a:solidFill>
                <a:latin typeface="Calibri" pitchFamily="34" charset="0"/>
                <a:ea typeface="Calibri" pitchFamily="34" charset="-122"/>
                <a:cs typeface="Calibri" pitchFamily="34" charset="-120"/>
              </a:rPr>
              <a:t>12k</a:t>
            </a:r>
            <a:endParaRPr lang="en-US" sz="3800" dirty="0"/>
          </a:p>
        </p:txBody>
      </p:sp>
      <p:sp>
        <p:nvSpPr>
          <p:cNvPr id="22" name="Text 19"/>
          <p:cNvSpPr/>
          <p:nvPr/>
        </p:nvSpPr>
        <p:spPr>
          <a:xfrm>
            <a:off x="9269501"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dates-qc frames</a:t>
            </a:r>
            <a:endParaRPr lang="en-US" sz="1250" dirty="0"/>
          </a:p>
        </p:txBody>
      </p:sp>
      <p:sp>
        <p:nvSpPr>
          <p:cNvPr id="23" name="Text 20"/>
          <p:cNvSpPr/>
          <p:nvPr/>
        </p:nvSpPr>
        <p:spPr>
          <a:xfrm>
            <a:off x="9269501"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golden-thread dataset for all modules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Industry use cases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حالات استخدام صناعية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502920" y="1389888"/>
            <a:ext cx="5455768" cy="2354580"/>
          </a:xfrm>
          <a:prstGeom prst="roundRect">
            <a:avLst>
              <a:gd name="adj" fmla="val 3107"/>
            </a:avLst>
          </a:prstGeom>
          <a:solidFill>
            <a:srgbClr val="F2F6F9"/>
          </a:solidFill>
          <a:ln w="12700">
            <a:solidFill>
              <a:srgbClr val="D9E2EA"/>
            </a:solidFill>
            <a:prstDash val="solid"/>
          </a:ln>
        </p:spPr>
      </p:sp>
      <p:sp>
        <p:nvSpPr>
          <p:cNvPr id="8" name="Shape 5"/>
          <p:cNvSpPr/>
          <p:nvPr/>
        </p:nvSpPr>
        <p:spPr>
          <a:xfrm>
            <a:off x="667512" y="1536192"/>
            <a:ext cx="310896" cy="310896"/>
          </a:xfrm>
          <a:prstGeom prst="ellipse">
            <a:avLst/>
          </a:prstGeom>
          <a:solidFill>
            <a:srgbClr val="00A79D"/>
          </a:solidFill>
          <a:ln/>
        </p:spPr>
      </p:sp>
      <p:sp>
        <p:nvSpPr>
          <p:cNvPr id="9" name="Text 6"/>
          <p:cNvSpPr/>
          <p:nvPr/>
        </p:nvSpPr>
        <p:spPr>
          <a:xfrm>
            <a:off x="667512"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088136"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Date-packing line</a:t>
            </a:r>
            <a:endParaRPr lang="en-US" sz="1250" dirty="0"/>
          </a:p>
        </p:txBody>
      </p:sp>
      <p:sp>
        <p:nvSpPr>
          <p:cNvPr id="11" name="Text 8"/>
          <p:cNvSpPr/>
          <p:nvPr/>
        </p:nvSpPr>
        <p:spPr>
          <a:xfrm>
            <a:off x="685800"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Seasonal fruit-colour variation degrades a one-season classifier; fixed with photometric augmentation + normalisation audits.</a:t>
            </a:r>
            <a:endParaRPr lang="en-US" sz="1100" dirty="0"/>
          </a:p>
        </p:txBody>
      </p:sp>
      <p:sp>
        <p:nvSpPr>
          <p:cNvPr id="12" name="Shape 9"/>
          <p:cNvSpPr/>
          <p:nvPr/>
        </p:nvSpPr>
        <p:spPr>
          <a:xfrm>
            <a:off x="6233008" y="1389888"/>
            <a:ext cx="5455768" cy="2354580"/>
          </a:xfrm>
          <a:prstGeom prst="roundRect">
            <a:avLst>
              <a:gd name="adj" fmla="val 3107"/>
            </a:avLst>
          </a:prstGeom>
          <a:solidFill>
            <a:srgbClr val="F2F6F9"/>
          </a:solidFill>
          <a:ln w="12700">
            <a:solidFill>
              <a:srgbClr val="D9E2EA"/>
            </a:solidFill>
            <a:prstDash val="solid"/>
          </a:ln>
        </p:spPr>
      </p:sp>
      <p:sp>
        <p:nvSpPr>
          <p:cNvPr id="13" name="Shape 10"/>
          <p:cNvSpPr/>
          <p:nvPr/>
        </p:nvSpPr>
        <p:spPr>
          <a:xfrm>
            <a:off x="6397600" y="1536192"/>
            <a:ext cx="310896" cy="310896"/>
          </a:xfrm>
          <a:prstGeom prst="ellipse">
            <a:avLst/>
          </a:prstGeom>
          <a:solidFill>
            <a:srgbClr val="29ABE2"/>
          </a:solidFill>
          <a:ln/>
        </p:spPr>
      </p:sp>
      <p:sp>
        <p:nvSpPr>
          <p:cNvPr id="14" name="Text 11"/>
          <p:cNvSpPr/>
          <p:nvPr/>
        </p:nvSpPr>
        <p:spPr>
          <a:xfrm>
            <a:off x="639760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6818224"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Hospital imaging</a:t>
            </a:r>
            <a:endParaRPr lang="en-US" sz="1250" dirty="0"/>
          </a:p>
        </p:txBody>
      </p:sp>
      <p:sp>
        <p:nvSpPr>
          <p:cNvPr id="16" name="Text 13"/>
          <p:cNvSpPr/>
          <p:nvPr/>
        </p:nvSpPr>
        <p:spPr>
          <a:xfrm>
            <a:off x="6415888"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Chest X-ray model collapsed on a new scanner — root cause a DICOM windowing default: a preprocessing-contract violation.</a:t>
            </a:r>
            <a:endParaRPr lang="en-US" sz="1100" dirty="0"/>
          </a:p>
        </p:txBody>
      </p:sp>
      <p:sp>
        <p:nvSpPr>
          <p:cNvPr id="17" name="Shape 14"/>
          <p:cNvSpPr/>
          <p:nvPr/>
        </p:nvSpPr>
        <p:spPr>
          <a:xfrm>
            <a:off x="502920" y="4000500"/>
            <a:ext cx="5455768" cy="2354580"/>
          </a:xfrm>
          <a:prstGeom prst="roundRect">
            <a:avLst>
              <a:gd name="adj" fmla="val 3107"/>
            </a:avLst>
          </a:prstGeom>
          <a:solidFill>
            <a:srgbClr val="F2F6F9"/>
          </a:solidFill>
          <a:ln w="12700">
            <a:solidFill>
              <a:srgbClr val="D9E2EA"/>
            </a:solidFill>
            <a:prstDash val="solid"/>
          </a:ln>
        </p:spPr>
      </p:sp>
      <p:sp>
        <p:nvSpPr>
          <p:cNvPr id="18" name="Shape 15"/>
          <p:cNvSpPr/>
          <p:nvPr/>
        </p:nvSpPr>
        <p:spPr>
          <a:xfrm>
            <a:off x="667512" y="4146804"/>
            <a:ext cx="310896" cy="310896"/>
          </a:xfrm>
          <a:prstGeom prst="ellipse">
            <a:avLst/>
          </a:prstGeom>
          <a:solidFill>
            <a:srgbClr val="F58220"/>
          </a:solidFill>
          <a:ln/>
        </p:spPr>
      </p:sp>
      <p:sp>
        <p:nvSpPr>
          <p:cNvPr id="19" name="Text 16"/>
          <p:cNvSpPr/>
          <p:nvPr/>
        </p:nvSpPr>
        <p:spPr>
          <a:xfrm>
            <a:off x="667512"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1088136"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Smart-city traffic</a:t>
            </a:r>
            <a:endParaRPr lang="en-US" sz="1250" dirty="0"/>
          </a:p>
        </p:txBody>
      </p:sp>
      <p:sp>
        <p:nvSpPr>
          <p:cNvPr id="21" name="Text 18"/>
          <p:cNvSpPr/>
          <p:nvPr/>
        </p:nvSpPr>
        <p:spPr>
          <a:xfrm>
            <a:off x="685800"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Night/day and sandstorm conditions demand an augmentation policy tuned to Gulf conditions, not ImageNet defaults.</a:t>
            </a:r>
            <a:endParaRPr lang="en-US" sz="1100" dirty="0"/>
          </a:p>
        </p:txBody>
      </p:sp>
      <p:sp>
        <p:nvSpPr>
          <p:cNvPr id="22" name="Shape 19"/>
          <p:cNvSpPr/>
          <p:nvPr/>
        </p:nvSpPr>
        <p:spPr>
          <a:xfrm>
            <a:off x="6233008" y="4000500"/>
            <a:ext cx="5455768" cy="2354580"/>
          </a:xfrm>
          <a:prstGeom prst="roundRect">
            <a:avLst>
              <a:gd name="adj" fmla="val 3107"/>
            </a:avLst>
          </a:prstGeom>
          <a:solidFill>
            <a:srgbClr val="F2F6F9"/>
          </a:solidFill>
          <a:ln w="12700">
            <a:solidFill>
              <a:srgbClr val="D9E2EA"/>
            </a:solidFill>
            <a:prstDash val="solid"/>
          </a:ln>
        </p:spPr>
      </p:sp>
      <p:sp>
        <p:nvSpPr>
          <p:cNvPr id="23" name="Shape 20"/>
          <p:cNvSpPr/>
          <p:nvPr/>
        </p:nvSpPr>
        <p:spPr>
          <a:xfrm>
            <a:off x="6397600" y="4146804"/>
            <a:ext cx="310896" cy="310896"/>
          </a:xfrm>
          <a:prstGeom prst="ellipse">
            <a:avLst/>
          </a:prstGeom>
          <a:solidFill>
            <a:srgbClr val="8DC63F"/>
          </a:solidFill>
          <a:ln/>
        </p:spPr>
      </p:sp>
      <p:sp>
        <p:nvSpPr>
          <p:cNvPr id="24" name="Text 21"/>
          <p:cNvSpPr/>
          <p:nvPr/>
        </p:nvSpPr>
        <p:spPr>
          <a:xfrm>
            <a:off x="6397600"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p:nvPr/>
        </p:nvSpPr>
        <p:spPr>
          <a:xfrm>
            <a:off x="6818224"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Gulf line conditions</a:t>
            </a:r>
            <a:endParaRPr lang="en-US" sz="1250" dirty="0"/>
          </a:p>
        </p:txBody>
      </p:sp>
      <p:sp>
        <p:nvSpPr>
          <p:cNvPr id="26" name="Text 23"/>
          <p:cNvSpPr/>
          <p:nvPr/>
        </p:nvSpPr>
        <p:spPr>
          <a:xfrm>
            <a:off x="6415888"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Dust, heat shimmer and mixed lighting make augmentation the cheapest robustness investment available.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1 objectives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أهداف الوحدة الأولى</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02920" y="1499616"/>
            <a:ext cx="11183112" cy="832104"/>
          </a:xfrm>
          <a:prstGeom prst="roundRect">
            <a:avLst>
              <a:gd name="adj" fmla="val 7692"/>
            </a:avLst>
          </a:prstGeom>
          <a:solidFill>
            <a:srgbClr val="FAFCFE"/>
          </a:solidFill>
          <a:ln w="9525">
            <a:solidFill>
              <a:srgbClr val="D9E2EA"/>
            </a:solidFill>
            <a:prstDash val="solid"/>
          </a:ln>
        </p:spPr>
      </p:sp>
      <p:sp>
        <p:nvSpPr>
          <p:cNvPr id="8" name="Shape 5"/>
          <p:cNvSpPr/>
          <p:nvPr/>
        </p:nvSpPr>
        <p:spPr>
          <a:xfrm>
            <a:off x="649224" y="1751076"/>
            <a:ext cx="329184" cy="329184"/>
          </a:xfrm>
          <a:prstGeom prst="ellipse">
            <a:avLst/>
          </a:prstGeom>
          <a:solidFill>
            <a:srgbClr val="00A79D"/>
          </a:solidFill>
          <a:ln/>
        </p:spPr>
      </p:sp>
      <p:sp>
        <p:nvSpPr>
          <p:cNvPr id="9" name="Text 6"/>
          <p:cNvSpPr/>
          <p:nvPr/>
        </p:nvSpPr>
        <p:spPr>
          <a:xfrm>
            <a:off x="649224" y="175107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1.1</a:t>
            </a:r>
            <a:endParaRPr lang="en-US" sz="1150" dirty="0"/>
          </a:p>
        </p:txBody>
      </p:sp>
      <p:sp>
        <p:nvSpPr>
          <p:cNvPr id="10" name="Text 7"/>
          <p:cNvSpPr/>
          <p:nvPr/>
        </p:nvSpPr>
        <p:spPr>
          <a:xfrm>
            <a:off x="1143000" y="149961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Explain image representation: colour spaces, channel order, bit depth, tensor layout (NCHW)</a:t>
            </a:r>
            <a:endParaRPr lang="en-US" sz="1250" dirty="0"/>
          </a:p>
        </p:txBody>
      </p:sp>
      <p:sp>
        <p:nvSpPr>
          <p:cNvPr id="11" name="Shape 8"/>
          <p:cNvSpPr/>
          <p:nvPr/>
        </p:nvSpPr>
        <p:spPr>
          <a:xfrm>
            <a:off x="9646920" y="1741932"/>
            <a:ext cx="658368" cy="310896"/>
          </a:xfrm>
          <a:prstGeom prst="roundRect">
            <a:avLst>
              <a:gd name="adj" fmla="val 50000"/>
            </a:avLst>
          </a:prstGeom>
          <a:solidFill>
            <a:srgbClr val="E9F6F5"/>
          </a:solidFill>
          <a:ln w="9525">
            <a:solidFill>
              <a:srgbClr val="00A79D"/>
            </a:solidFill>
            <a:prstDash val="solid"/>
          </a:ln>
        </p:spPr>
      </p:sp>
      <p:sp>
        <p:nvSpPr>
          <p:cNvPr id="12" name="Text 9"/>
          <p:cNvSpPr/>
          <p:nvPr/>
        </p:nvSpPr>
        <p:spPr>
          <a:xfrm>
            <a:off x="9646920" y="174193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LO1</a:t>
            </a:r>
            <a:endParaRPr lang="en-US" sz="950" dirty="0"/>
          </a:p>
        </p:txBody>
      </p:sp>
      <p:sp>
        <p:nvSpPr>
          <p:cNvPr id="13" name="Shape 10"/>
          <p:cNvSpPr/>
          <p:nvPr/>
        </p:nvSpPr>
        <p:spPr>
          <a:xfrm>
            <a:off x="502920" y="2459736"/>
            <a:ext cx="11183112" cy="832104"/>
          </a:xfrm>
          <a:prstGeom prst="roundRect">
            <a:avLst>
              <a:gd name="adj" fmla="val 7692"/>
            </a:avLst>
          </a:prstGeom>
          <a:solidFill>
            <a:srgbClr val="F2F6F9"/>
          </a:solidFill>
          <a:ln w="9525">
            <a:solidFill>
              <a:srgbClr val="D9E2EA"/>
            </a:solidFill>
            <a:prstDash val="solid"/>
          </a:ln>
        </p:spPr>
      </p:sp>
      <p:sp>
        <p:nvSpPr>
          <p:cNvPr id="14" name="Shape 11"/>
          <p:cNvSpPr/>
          <p:nvPr/>
        </p:nvSpPr>
        <p:spPr>
          <a:xfrm>
            <a:off x="649224" y="2711196"/>
            <a:ext cx="329184" cy="329184"/>
          </a:xfrm>
          <a:prstGeom prst="ellipse">
            <a:avLst/>
          </a:prstGeom>
          <a:solidFill>
            <a:srgbClr val="00A79D"/>
          </a:solidFill>
          <a:ln/>
        </p:spPr>
      </p:sp>
      <p:sp>
        <p:nvSpPr>
          <p:cNvPr id="15" name="Text 12"/>
          <p:cNvSpPr/>
          <p:nvPr/>
        </p:nvSpPr>
        <p:spPr>
          <a:xfrm>
            <a:off x="649224" y="271119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1.2</a:t>
            </a:r>
            <a:endParaRPr lang="en-US" sz="1150" dirty="0"/>
          </a:p>
        </p:txBody>
      </p:sp>
      <p:sp>
        <p:nvSpPr>
          <p:cNvPr id="16" name="Text 13"/>
          <p:cNvSpPr/>
          <p:nvPr/>
        </p:nvSpPr>
        <p:spPr>
          <a:xfrm>
            <a:off x="1143000" y="245973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Implement a preprocessing contract shared by training and inference code</a:t>
            </a:r>
            <a:endParaRPr lang="en-US" sz="1250" dirty="0"/>
          </a:p>
        </p:txBody>
      </p:sp>
      <p:sp>
        <p:nvSpPr>
          <p:cNvPr id="17" name="Shape 14"/>
          <p:cNvSpPr/>
          <p:nvPr/>
        </p:nvSpPr>
        <p:spPr>
          <a:xfrm>
            <a:off x="9646920" y="2702052"/>
            <a:ext cx="658368" cy="310896"/>
          </a:xfrm>
          <a:prstGeom prst="roundRect">
            <a:avLst>
              <a:gd name="adj" fmla="val 50000"/>
            </a:avLst>
          </a:prstGeom>
          <a:solidFill>
            <a:srgbClr val="E9F6F5"/>
          </a:solidFill>
          <a:ln w="9525">
            <a:solidFill>
              <a:srgbClr val="00A79D"/>
            </a:solidFill>
            <a:prstDash val="solid"/>
          </a:ln>
        </p:spPr>
      </p:sp>
      <p:sp>
        <p:nvSpPr>
          <p:cNvPr id="18" name="Text 15"/>
          <p:cNvSpPr/>
          <p:nvPr/>
        </p:nvSpPr>
        <p:spPr>
          <a:xfrm>
            <a:off x="9646920"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LO1</a:t>
            </a:r>
            <a:endParaRPr lang="en-US" sz="950" dirty="0"/>
          </a:p>
        </p:txBody>
      </p:sp>
      <p:sp>
        <p:nvSpPr>
          <p:cNvPr id="19" name="Shape 16"/>
          <p:cNvSpPr/>
          <p:nvPr/>
        </p:nvSpPr>
        <p:spPr>
          <a:xfrm>
            <a:off x="10360152" y="2702052"/>
            <a:ext cx="658368" cy="310896"/>
          </a:xfrm>
          <a:prstGeom prst="roundRect">
            <a:avLst>
              <a:gd name="adj" fmla="val 50000"/>
            </a:avLst>
          </a:prstGeom>
          <a:solidFill>
            <a:srgbClr val="E9F6F5"/>
          </a:solidFill>
          <a:ln w="9525">
            <a:solidFill>
              <a:srgbClr val="00A79D"/>
            </a:solidFill>
            <a:prstDash val="solid"/>
          </a:ln>
        </p:spPr>
      </p:sp>
      <p:sp>
        <p:nvSpPr>
          <p:cNvPr id="20" name="Text 17"/>
          <p:cNvSpPr/>
          <p:nvPr/>
        </p:nvSpPr>
        <p:spPr>
          <a:xfrm>
            <a:off x="10360152"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LO4</a:t>
            </a:r>
            <a:endParaRPr lang="en-US" sz="950" dirty="0"/>
          </a:p>
        </p:txBody>
      </p:sp>
      <p:sp>
        <p:nvSpPr>
          <p:cNvPr id="21" name="Shape 18"/>
          <p:cNvSpPr/>
          <p:nvPr/>
        </p:nvSpPr>
        <p:spPr>
          <a:xfrm>
            <a:off x="502920" y="3419856"/>
            <a:ext cx="11183112" cy="832104"/>
          </a:xfrm>
          <a:prstGeom prst="roundRect">
            <a:avLst>
              <a:gd name="adj" fmla="val 7692"/>
            </a:avLst>
          </a:prstGeom>
          <a:solidFill>
            <a:srgbClr val="FAFCFE"/>
          </a:solidFill>
          <a:ln w="9525">
            <a:solidFill>
              <a:srgbClr val="D9E2EA"/>
            </a:solidFill>
            <a:prstDash val="solid"/>
          </a:ln>
        </p:spPr>
      </p:sp>
      <p:sp>
        <p:nvSpPr>
          <p:cNvPr id="22" name="Shape 19"/>
          <p:cNvSpPr/>
          <p:nvPr/>
        </p:nvSpPr>
        <p:spPr>
          <a:xfrm>
            <a:off x="649224" y="3671316"/>
            <a:ext cx="329184" cy="329184"/>
          </a:xfrm>
          <a:prstGeom prst="ellipse">
            <a:avLst/>
          </a:prstGeom>
          <a:solidFill>
            <a:srgbClr val="00A79D"/>
          </a:solidFill>
          <a:ln/>
        </p:spPr>
      </p:sp>
      <p:sp>
        <p:nvSpPr>
          <p:cNvPr id="23" name="Text 20"/>
          <p:cNvSpPr/>
          <p:nvPr/>
        </p:nvSpPr>
        <p:spPr>
          <a:xfrm>
            <a:off x="649224" y="367131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1.3</a:t>
            </a:r>
            <a:endParaRPr lang="en-US" sz="1150" dirty="0"/>
          </a:p>
        </p:txBody>
      </p:sp>
      <p:sp>
        <p:nvSpPr>
          <p:cNvPr id="24" name="Text 21"/>
          <p:cNvSpPr/>
          <p:nvPr/>
        </p:nvSpPr>
        <p:spPr>
          <a:xfrm>
            <a:off x="1143000" y="341985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Design an augmentation policy justified by domain invariances; rule out invalid ones</a:t>
            </a:r>
            <a:endParaRPr lang="en-US" sz="1250" dirty="0"/>
          </a:p>
        </p:txBody>
      </p:sp>
      <p:sp>
        <p:nvSpPr>
          <p:cNvPr id="25" name="Shape 22"/>
          <p:cNvSpPr/>
          <p:nvPr/>
        </p:nvSpPr>
        <p:spPr>
          <a:xfrm>
            <a:off x="9646920" y="3662172"/>
            <a:ext cx="658368" cy="310896"/>
          </a:xfrm>
          <a:prstGeom prst="roundRect">
            <a:avLst>
              <a:gd name="adj" fmla="val 50000"/>
            </a:avLst>
          </a:prstGeom>
          <a:solidFill>
            <a:srgbClr val="E9F6F5"/>
          </a:solidFill>
          <a:ln w="9525">
            <a:solidFill>
              <a:srgbClr val="00A79D"/>
            </a:solidFill>
            <a:prstDash val="solid"/>
          </a:ln>
        </p:spPr>
      </p:sp>
      <p:sp>
        <p:nvSpPr>
          <p:cNvPr id="26" name="Text 23"/>
          <p:cNvSpPr/>
          <p:nvPr/>
        </p:nvSpPr>
        <p:spPr>
          <a:xfrm>
            <a:off x="9646920"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
        <p:nvSpPr>
          <p:cNvPr id="27" name="Shape 24"/>
          <p:cNvSpPr/>
          <p:nvPr/>
        </p:nvSpPr>
        <p:spPr>
          <a:xfrm>
            <a:off x="502920" y="4379976"/>
            <a:ext cx="11183112" cy="832104"/>
          </a:xfrm>
          <a:prstGeom prst="roundRect">
            <a:avLst>
              <a:gd name="adj" fmla="val 7692"/>
            </a:avLst>
          </a:prstGeom>
          <a:solidFill>
            <a:srgbClr val="F2F6F9"/>
          </a:solidFill>
          <a:ln w="9525">
            <a:solidFill>
              <a:srgbClr val="D9E2EA"/>
            </a:solidFill>
            <a:prstDash val="solid"/>
          </a:ln>
        </p:spPr>
      </p:sp>
      <p:sp>
        <p:nvSpPr>
          <p:cNvPr id="28" name="Shape 25"/>
          <p:cNvSpPr/>
          <p:nvPr/>
        </p:nvSpPr>
        <p:spPr>
          <a:xfrm>
            <a:off x="649224" y="4631436"/>
            <a:ext cx="329184" cy="329184"/>
          </a:xfrm>
          <a:prstGeom prst="ellipse">
            <a:avLst/>
          </a:prstGeom>
          <a:solidFill>
            <a:srgbClr val="00A79D"/>
          </a:solidFill>
          <a:ln/>
        </p:spPr>
      </p:sp>
      <p:sp>
        <p:nvSpPr>
          <p:cNvPr id="29" name="Text 26"/>
          <p:cNvSpPr/>
          <p:nvPr/>
        </p:nvSpPr>
        <p:spPr>
          <a:xfrm>
            <a:off x="649224" y="463143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1.4</a:t>
            </a:r>
            <a:endParaRPr lang="en-US" sz="1150" dirty="0"/>
          </a:p>
        </p:txBody>
      </p:sp>
      <p:sp>
        <p:nvSpPr>
          <p:cNvPr id="30" name="Text 27"/>
          <p:cNvSpPr/>
          <p:nvPr/>
        </p:nvSpPr>
        <p:spPr>
          <a:xfrm>
            <a:off x="1143000" y="437997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Build a custom torchvision Dataset/DataLoader pipeline and measure its throughput</a:t>
            </a:r>
            <a:endParaRPr lang="en-US" sz="1250" dirty="0"/>
          </a:p>
        </p:txBody>
      </p:sp>
      <p:sp>
        <p:nvSpPr>
          <p:cNvPr id="31" name="Shape 28"/>
          <p:cNvSpPr/>
          <p:nvPr/>
        </p:nvSpPr>
        <p:spPr>
          <a:xfrm>
            <a:off x="9646920" y="4622292"/>
            <a:ext cx="658368" cy="310896"/>
          </a:xfrm>
          <a:prstGeom prst="roundRect">
            <a:avLst>
              <a:gd name="adj" fmla="val 50000"/>
            </a:avLst>
          </a:prstGeom>
          <a:solidFill>
            <a:srgbClr val="E9F6F5"/>
          </a:solidFill>
          <a:ln w="9525">
            <a:solidFill>
              <a:srgbClr val="00A79D"/>
            </a:solidFill>
            <a:prstDash val="solid"/>
          </a:ln>
        </p:spPr>
      </p:sp>
      <p:sp>
        <p:nvSpPr>
          <p:cNvPr id="32" name="Text 29"/>
          <p:cNvSpPr/>
          <p:nvPr/>
        </p:nvSpPr>
        <p:spPr>
          <a:xfrm>
            <a:off x="9646920"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LO1</a:t>
            </a:r>
            <a:endParaRPr lang="en-US" sz="950" dirty="0"/>
          </a:p>
        </p:txBody>
      </p:sp>
      <p:sp>
        <p:nvSpPr>
          <p:cNvPr id="33" name="Shape 30"/>
          <p:cNvSpPr/>
          <p:nvPr/>
        </p:nvSpPr>
        <p:spPr>
          <a:xfrm>
            <a:off x="502920" y="5340096"/>
            <a:ext cx="11183112" cy="832104"/>
          </a:xfrm>
          <a:prstGeom prst="roundRect">
            <a:avLst>
              <a:gd name="adj" fmla="val 7692"/>
            </a:avLst>
          </a:prstGeom>
          <a:solidFill>
            <a:srgbClr val="FAFCFE"/>
          </a:solidFill>
          <a:ln w="9525">
            <a:solidFill>
              <a:srgbClr val="D9E2EA"/>
            </a:solidFill>
            <a:prstDash val="solid"/>
          </a:ln>
        </p:spPr>
      </p:sp>
      <p:sp>
        <p:nvSpPr>
          <p:cNvPr id="34" name="Shape 31"/>
          <p:cNvSpPr/>
          <p:nvPr/>
        </p:nvSpPr>
        <p:spPr>
          <a:xfrm>
            <a:off x="649224" y="5591556"/>
            <a:ext cx="329184" cy="329184"/>
          </a:xfrm>
          <a:prstGeom prst="ellipse">
            <a:avLst/>
          </a:prstGeom>
          <a:solidFill>
            <a:srgbClr val="00A79D"/>
          </a:solidFill>
          <a:ln/>
        </p:spPr>
      </p:sp>
      <p:sp>
        <p:nvSpPr>
          <p:cNvPr id="35" name="Text 32"/>
          <p:cNvSpPr/>
          <p:nvPr/>
        </p:nvSpPr>
        <p:spPr>
          <a:xfrm>
            <a:off x="649224" y="559155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1.5</a:t>
            </a:r>
            <a:endParaRPr lang="en-US" sz="1150" dirty="0"/>
          </a:p>
        </p:txBody>
      </p:sp>
      <p:sp>
        <p:nvSpPr>
          <p:cNvPr id="36" name="Text 33"/>
          <p:cNvSpPr/>
          <p:nvPr/>
        </p:nvSpPr>
        <p:spPr>
          <a:xfrm>
            <a:off x="1143000" y="534009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Detect data-quality problems: label noise, duplicates, leakage, class imbalance</a:t>
            </a:r>
            <a:endParaRPr lang="en-US" sz="1250" dirty="0"/>
          </a:p>
        </p:txBody>
      </p:sp>
      <p:sp>
        <p:nvSpPr>
          <p:cNvPr id="37" name="Shape 34"/>
          <p:cNvSpPr/>
          <p:nvPr/>
        </p:nvSpPr>
        <p:spPr>
          <a:xfrm>
            <a:off x="9646920" y="5582412"/>
            <a:ext cx="658368" cy="310896"/>
          </a:xfrm>
          <a:prstGeom prst="roundRect">
            <a:avLst>
              <a:gd name="adj" fmla="val 50000"/>
            </a:avLst>
          </a:prstGeom>
          <a:solidFill>
            <a:srgbClr val="E9F6F5"/>
          </a:solidFill>
          <a:ln w="9525">
            <a:solidFill>
              <a:srgbClr val="00A79D"/>
            </a:solidFill>
            <a:prstDash val="solid"/>
          </a:ln>
        </p:spPr>
      </p:sp>
      <p:sp>
        <p:nvSpPr>
          <p:cNvPr id="38" name="Text 35"/>
          <p:cNvSpPr/>
          <p:nvPr/>
        </p:nvSpPr>
        <p:spPr>
          <a:xfrm>
            <a:off x="9646920"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From camera frame to model tensor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من إطار الكاميرا إلى الموتّر</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16</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An 8-bit RGB image is HxWx3 ints in [0,255]; PyTorch wants NxCxHxW floats, normalised. Every arrow is a potential bug.</a:t>
            </a:r>
            <a:endParaRPr lang="en-US" sz="1250" dirty="0"/>
          </a:p>
        </p:txBody>
      </p:sp>
      <p:sp>
        <p:nvSpPr>
          <p:cNvPr id="8" name="Shape 5"/>
          <p:cNvSpPr/>
          <p:nvPr/>
        </p:nvSpPr>
        <p:spPr>
          <a:xfrm>
            <a:off x="502920" y="2121408"/>
            <a:ext cx="3472586"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217627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Camera frame</a:t>
            </a:r>
            <a:endParaRPr lang="en-US" sz="1250" dirty="0"/>
          </a:p>
        </p:txBody>
      </p:sp>
      <p:sp>
        <p:nvSpPr>
          <p:cNvPr id="10" name="Text 7"/>
          <p:cNvSpPr/>
          <p:nvPr/>
        </p:nvSpPr>
        <p:spPr>
          <a:xfrm>
            <a:off x="576072" y="277977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1280x1024 JPEG</a:t>
            </a:r>
            <a:endParaRPr lang="en-US" sz="950" dirty="0"/>
          </a:p>
        </p:txBody>
      </p:sp>
      <p:sp>
        <p:nvSpPr>
          <p:cNvPr id="11" name="Shape 8"/>
          <p:cNvSpPr/>
          <p:nvPr/>
        </p:nvSpPr>
        <p:spPr>
          <a:xfrm>
            <a:off x="4030370" y="2807208"/>
            <a:ext cx="274320" cy="0"/>
          </a:xfrm>
          <a:prstGeom prst="line">
            <a:avLst/>
          </a:prstGeom>
          <a:noFill/>
          <a:ln w="19050">
            <a:solidFill>
              <a:srgbClr val="8A96A6"/>
            </a:solidFill>
            <a:prstDash val="solid"/>
            <a:headEnd type="none"/>
            <a:tailEnd type="triangle"/>
          </a:ln>
        </p:spPr>
      </p:sp>
      <p:sp>
        <p:nvSpPr>
          <p:cNvPr id="12" name="Shape 9"/>
          <p:cNvSpPr/>
          <p:nvPr/>
        </p:nvSpPr>
        <p:spPr>
          <a:xfrm>
            <a:off x="4359554" y="2121408"/>
            <a:ext cx="3472586" cy="1371600"/>
          </a:xfrm>
          <a:prstGeom prst="roundRect">
            <a:avLst>
              <a:gd name="adj" fmla="val 4667"/>
            </a:avLst>
          </a:prstGeom>
          <a:solidFill>
            <a:srgbClr val="F2F6F9"/>
          </a:solidFill>
          <a:ln w="15875">
            <a:solidFill>
              <a:srgbClr val="00A79D"/>
            </a:solidFill>
            <a:prstDash val="solid"/>
          </a:ln>
        </p:spPr>
      </p:sp>
      <p:sp>
        <p:nvSpPr>
          <p:cNvPr id="13" name="Text 10"/>
          <p:cNvSpPr/>
          <p:nvPr/>
        </p:nvSpPr>
        <p:spPr>
          <a:xfrm>
            <a:off x="4432706" y="217627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BGR array</a:t>
            </a:r>
            <a:endParaRPr lang="en-US" sz="1250" dirty="0"/>
          </a:p>
        </p:txBody>
      </p:sp>
      <p:sp>
        <p:nvSpPr>
          <p:cNvPr id="14" name="Text 11"/>
          <p:cNvSpPr/>
          <p:nvPr/>
        </p:nvSpPr>
        <p:spPr>
          <a:xfrm>
            <a:off x="4432706" y="277977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cv2.imread -&gt; HWC uint8</a:t>
            </a:r>
            <a:endParaRPr lang="en-US" sz="950" dirty="0"/>
          </a:p>
        </p:txBody>
      </p:sp>
      <p:sp>
        <p:nvSpPr>
          <p:cNvPr id="15" name="Shape 12"/>
          <p:cNvSpPr/>
          <p:nvPr/>
        </p:nvSpPr>
        <p:spPr>
          <a:xfrm>
            <a:off x="7887005" y="2807208"/>
            <a:ext cx="274320" cy="0"/>
          </a:xfrm>
          <a:prstGeom prst="line">
            <a:avLst/>
          </a:prstGeom>
          <a:noFill/>
          <a:ln w="19050">
            <a:solidFill>
              <a:srgbClr val="8A96A6"/>
            </a:solidFill>
            <a:prstDash val="solid"/>
            <a:headEnd type="none"/>
            <a:tailEnd type="triangle"/>
          </a:ln>
        </p:spPr>
      </p:sp>
      <p:sp>
        <p:nvSpPr>
          <p:cNvPr id="16" name="Shape 13"/>
          <p:cNvSpPr/>
          <p:nvPr/>
        </p:nvSpPr>
        <p:spPr>
          <a:xfrm>
            <a:off x="6095848" y="3493008"/>
            <a:ext cx="0" cy="274320"/>
          </a:xfrm>
          <a:prstGeom prst="line">
            <a:avLst/>
          </a:prstGeom>
          <a:noFill/>
          <a:ln w="15875">
            <a:solidFill>
              <a:srgbClr val="E8503A"/>
            </a:solidFill>
            <a:prstDash val="dash"/>
          </a:ln>
        </p:spPr>
      </p:sp>
      <p:sp>
        <p:nvSpPr>
          <p:cNvPr id="17" name="Shape 14"/>
          <p:cNvSpPr/>
          <p:nvPr/>
        </p:nvSpPr>
        <p:spPr>
          <a:xfrm>
            <a:off x="4313834" y="3767328"/>
            <a:ext cx="3564026" cy="475488"/>
          </a:xfrm>
          <a:prstGeom prst="roundRect">
            <a:avLst>
              <a:gd name="adj" fmla="val 11538"/>
            </a:avLst>
          </a:prstGeom>
          <a:solidFill>
            <a:srgbClr val="FDEDEA"/>
          </a:solidFill>
          <a:ln w="12700">
            <a:solidFill>
              <a:srgbClr val="E8503A"/>
            </a:solidFill>
            <a:prstDash val="solid"/>
          </a:ln>
        </p:spPr>
      </p:sp>
      <p:sp>
        <p:nvSpPr>
          <p:cNvPr id="18" name="Text 15"/>
          <p:cNvSpPr/>
          <p:nvPr/>
        </p:nvSpPr>
        <p:spPr>
          <a:xfrm>
            <a:off x="4359554" y="3767328"/>
            <a:ext cx="3472586"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BGR fed to RGB model: silent 5-10 pt loss</a:t>
            </a:r>
            <a:endParaRPr lang="en-US" sz="950" dirty="0"/>
          </a:p>
        </p:txBody>
      </p:sp>
      <p:sp>
        <p:nvSpPr>
          <p:cNvPr id="19" name="Shape 16"/>
          <p:cNvSpPr/>
          <p:nvPr/>
        </p:nvSpPr>
        <p:spPr>
          <a:xfrm>
            <a:off x="8216189" y="2121408"/>
            <a:ext cx="3472586" cy="1371600"/>
          </a:xfrm>
          <a:prstGeom prst="roundRect">
            <a:avLst>
              <a:gd name="adj" fmla="val 4667"/>
            </a:avLst>
          </a:prstGeom>
          <a:solidFill>
            <a:srgbClr val="F2F6F9"/>
          </a:solidFill>
          <a:ln w="15875">
            <a:solidFill>
              <a:srgbClr val="00A79D"/>
            </a:solidFill>
            <a:prstDash val="solid"/>
          </a:ln>
        </p:spPr>
      </p:sp>
      <p:sp>
        <p:nvSpPr>
          <p:cNvPr id="20" name="Text 17"/>
          <p:cNvSpPr/>
          <p:nvPr/>
        </p:nvSpPr>
        <p:spPr>
          <a:xfrm>
            <a:off x="8289341" y="217627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RGB</a:t>
            </a:r>
            <a:endParaRPr lang="en-US" sz="1250" dirty="0"/>
          </a:p>
        </p:txBody>
      </p:sp>
      <p:sp>
        <p:nvSpPr>
          <p:cNvPr id="21" name="Text 18"/>
          <p:cNvSpPr/>
          <p:nvPr/>
        </p:nvSpPr>
        <p:spPr>
          <a:xfrm>
            <a:off x="8289341" y="277977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cvtColor at I/O boundary</a:t>
            </a:r>
            <a:endParaRPr lang="en-US" sz="950" dirty="0"/>
          </a:p>
        </p:txBody>
      </p:sp>
      <p:sp>
        <p:nvSpPr>
          <p:cNvPr id="22" name="Shape 19"/>
          <p:cNvSpPr/>
          <p:nvPr/>
        </p:nvSpPr>
        <p:spPr>
          <a:xfrm>
            <a:off x="9952482" y="3493008"/>
            <a:ext cx="0" cy="777240"/>
          </a:xfrm>
          <a:prstGeom prst="line">
            <a:avLst/>
          </a:prstGeom>
          <a:noFill/>
          <a:ln w="19050">
            <a:solidFill>
              <a:srgbClr val="8A96A6"/>
            </a:solidFill>
            <a:prstDash val="solid"/>
            <a:tailEnd type="triangle"/>
          </a:ln>
        </p:spPr>
      </p:sp>
      <p:sp>
        <p:nvSpPr>
          <p:cNvPr id="23" name="Shape 20"/>
          <p:cNvSpPr/>
          <p:nvPr/>
        </p:nvSpPr>
        <p:spPr>
          <a:xfrm>
            <a:off x="8216189" y="4361688"/>
            <a:ext cx="3472586" cy="1371600"/>
          </a:xfrm>
          <a:prstGeom prst="roundRect">
            <a:avLst>
              <a:gd name="adj" fmla="val 4667"/>
            </a:avLst>
          </a:prstGeom>
          <a:solidFill>
            <a:srgbClr val="F2F6F9"/>
          </a:solidFill>
          <a:ln w="15875">
            <a:solidFill>
              <a:srgbClr val="00A79D"/>
            </a:solidFill>
            <a:prstDash val="solid"/>
          </a:ln>
        </p:spPr>
      </p:sp>
      <p:sp>
        <p:nvSpPr>
          <p:cNvPr id="24" name="Text 21"/>
          <p:cNvSpPr/>
          <p:nvPr/>
        </p:nvSpPr>
        <p:spPr>
          <a:xfrm>
            <a:off x="8289341" y="441655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CHW tensor</a:t>
            </a:r>
            <a:endParaRPr lang="en-US" sz="1250" dirty="0"/>
          </a:p>
        </p:txBody>
      </p:sp>
      <p:sp>
        <p:nvSpPr>
          <p:cNvPr id="25" name="Text 22"/>
          <p:cNvSpPr/>
          <p:nvPr/>
        </p:nvSpPr>
        <p:spPr>
          <a:xfrm>
            <a:off x="8289341" y="502005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permute(2, 0, 1)</a:t>
            </a:r>
            <a:endParaRPr lang="en-US" sz="950" dirty="0"/>
          </a:p>
        </p:txBody>
      </p:sp>
      <p:sp>
        <p:nvSpPr>
          <p:cNvPr id="26" name="Shape 23"/>
          <p:cNvSpPr/>
          <p:nvPr/>
        </p:nvSpPr>
        <p:spPr>
          <a:xfrm>
            <a:off x="7887005" y="5047488"/>
            <a:ext cx="274320" cy="0"/>
          </a:xfrm>
          <a:prstGeom prst="line">
            <a:avLst/>
          </a:prstGeom>
          <a:noFill/>
          <a:ln w="19050">
            <a:solidFill>
              <a:srgbClr val="8A96A6"/>
            </a:solidFill>
            <a:prstDash val="solid"/>
            <a:headEnd type="triangle"/>
            <a:tailEnd type="none"/>
          </a:ln>
        </p:spPr>
      </p:sp>
      <p:sp>
        <p:nvSpPr>
          <p:cNvPr id="27" name="Shape 24"/>
          <p:cNvSpPr/>
          <p:nvPr/>
        </p:nvSpPr>
        <p:spPr>
          <a:xfrm>
            <a:off x="4359554" y="4361688"/>
            <a:ext cx="3472586" cy="1371600"/>
          </a:xfrm>
          <a:prstGeom prst="roundRect">
            <a:avLst>
              <a:gd name="adj" fmla="val 4667"/>
            </a:avLst>
          </a:prstGeom>
          <a:solidFill>
            <a:srgbClr val="F2F6F9"/>
          </a:solidFill>
          <a:ln w="15875">
            <a:solidFill>
              <a:srgbClr val="00A79D"/>
            </a:solidFill>
            <a:prstDash val="solid"/>
          </a:ln>
        </p:spPr>
      </p:sp>
      <p:sp>
        <p:nvSpPr>
          <p:cNvPr id="28" name="Text 25"/>
          <p:cNvSpPr/>
          <p:nvPr/>
        </p:nvSpPr>
        <p:spPr>
          <a:xfrm>
            <a:off x="4432706" y="441655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float [0,1]</a:t>
            </a:r>
            <a:endParaRPr lang="en-US" sz="1250" dirty="0"/>
          </a:p>
        </p:txBody>
      </p:sp>
      <p:sp>
        <p:nvSpPr>
          <p:cNvPr id="29" name="Text 26"/>
          <p:cNvSpPr/>
          <p:nvPr/>
        </p:nvSpPr>
        <p:spPr>
          <a:xfrm>
            <a:off x="4432706" y="502005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ToDtype(scale=True)</a:t>
            </a:r>
            <a:endParaRPr lang="en-US" sz="950" dirty="0"/>
          </a:p>
        </p:txBody>
      </p:sp>
      <p:sp>
        <p:nvSpPr>
          <p:cNvPr id="30" name="Shape 27"/>
          <p:cNvSpPr/>
          <p:nvPr/>
        </p:nvSpPr>
        <p:spPr>
          <a:xfrm>
            <a:off x="4030370" y="5047488"/>
            <a:ext cx="274320" cy="0"/>
          </a:xfrm>
          <a:prstGeom prst="line">
            <a:avLst/>
          </a:prstGeom>
          <a:noFill/>
          <a:ln w="19050">
            <a:solidFill>
              <a:srgbClr val="8A96A6"/>
            </a:solidFill>
            <a:prstDash val="solid"/>
            <a:headEnd type="triangle"/>
            <a:tailEnd type="none"/>
          </a:ln>
        </p:spPr>
      </p:sp>
      <p:sp>
        <p:nvSpPr>
          <p:cNvPr id="31" name="Shape 28"/>
          <p:cNvSpPr/>
          <p:nvPr/>
        </p:nvSpPr>
        <p:spPr>
          <a:xfrm>
            <a:off x="6095848" y="5733288"/>
            <a:ext cx="0" cy="274320"/>
          </a:xfrm>
          <a:prstGeom prst="line">
            <a:avLst/>
          </a:prstGeom>
          <a:noFill/>
          <a:ln w="15875">
            <a:solidFill>
              <a:srgbClr val="E8503A"/>
            </a:solidFill>
            <a:prstDash val="dash"/>
          </a:ln>
        </p:spPr>
      </p:sp>
      <p:sp>
        <p:nvSpPr>
          <p:cNvPr id="32" name="Shape 29"/>
          <p:cNvSpPr/>
          <p:nvPr/>
        </p:nvSpPr>
        <p:spPr>
          <a:xfrm>
            <a:off x="4313834" y="6007608"/>
            <a:ext cx="3564026" cy="475488"/>
          </a:xfrm>
          <a:prstGeom prst="roundRect">
            <a:avLst>
              <a:gd name="adj" fmla="val 11538"/>
            </a:avLst>
          </a:prstGeom>
          <a:solidFill>
            <a:srgbClr val="FDEDEA"/>
          </a:solidFill>
          <a:ln w="12700">
            <a:solidFill>
              <a:srgbClr val="E8503A"/>
            </a:solidFill>
            <a:prstDash val="solid"/>
          </a:ln>
        </p:spPr>
      </p:sp>
      <p:sp>
        <p:nvSpPr>
          <p:cNvPr id="33" name="Text 30"/>
          <p:cNvSpPr/>
          <p:nvPr/>
        </p:nvSpPr>
        <p:spPr>
          <a:xfrm>
            <a:off x="4359554" y="6007608"/>
            <a:ext cx="3472586"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[0,255] floats: the 2nd most common silent bug</a:t>
            </a:r>
            <a:endParaRPr lang="en-US" sz="950" dirty="0"/>
          </a:p>
        </p:txBody>
      </p:sp>
      <p:sp>
        <p:nvSpPr>
          <p:cNvPr id="34" name="Shape 31"/>
          <p:cNvSpPr/>
          <p:nvPr/>
        </p:nvSpPr>
        <p:spPr>
          <a:xfrm>
            <a:off x="502920" y="4361688"/>
            <a:ext cx="3472586" cy="1371600"/>
          </a:xfrm>
          <a:prstGeom prst="roundRect">
            <a:avLst>
              <a:gd name="adj" fmla="val 4667"/>
            </a:avLst>
          </a:prstGeom>
          <a:solidFill>
            <a:srgbClr val="1D2A5C"/>
          </a:solidFill>
          <a:ln w="15875">
            <a:solidFill>
              <a:srgbClr val="00A79D"/>
            </a:solidFill>
            <a:prstDash val="solid"/>
          </a:ln>
        </p:spPr>
      </p:sp>
      <p:sp>
        <p:nvSpPr>
          <p:cNvPr id="35" name="Text 32"/>
          <p:cNvSpPr/>
          <p:nvPr/>
        </p:nvSpPr>
        <p:spPr>
          <a:xfrm>
            <a:off x="576072" y="4416552"/>
            <a:ext cx="3326282"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Normalised</a:t>
            </a:r>
            <a:endParaRPr lang="en-US" sz="1250" dirty="0"/>
          </a:p>
        </p:txBody>
      </p:sp>
      <p:sp>
        <p:nvSpPr>
          <p:cNvPr id="36" name="Text 33"/>
          <p:cNvSpPr/>
          <p:nvPr/>
        </p:nvSpPr>
        <p:spPr>
          <a:xfrm>
            <a:off x="576072" y="5020056"/>
            <a:ext cx="3326282"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contract mean/std</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preprocessing contract</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عقد المعالجة المسبقة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17</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One function, imported by all three. Duplicated resize/normalise code is the vision equivalent of training/serving skew.</a:t>
            </a:r>
            <a:endParaRPr lang="en-US" sz="1250" dirty="0"/>
          </a:p>
        </p:txBody>
      </p:sp>
      <p:sp>
        <p:nvSpPr>
          <p:cNvPr id="8" name="Shape 5"/>
          <p:cNvSpPr/>
          <p:nvPr/>
        </p:nvSpPr>
        <p:spPr>
          <a:xfrm>
            <a:off x="7284568" y="2946928"/>
            <a:ext cx="0" cy="823911"/>
          </a:xfrm>
          <a:prstGeom prst="line">
            <a:avLst/>
          </a:prstGeom>
          <a:noFill/>
          <a:ln w="15875">
            <a:solidFill>
              <a:srgbClr val="D9E2EA"/>
            </a:solidFill>
            <a:prstDash val="solid"/>
          </a:ln>
        </p:spPr>
      </p:sp>
      <p:sp>
        <p:nvSpPr>
          <p:cNvPr id="9" name="Shape 6"/>
          <p:cNvSpPr/>
          <p:nvPr/>
        </p:nvSpPr>
        <p:spPr>
          <a:xfrm>
            <a:off x="5021428" y="2160544"/>
            <a:ext cx="2148840" cy="786384"/>
          </a:xfrm>
          <a:prstGeom prst="roundRect">
            <a:avLst>
              <a:gd name="adj" fmla="val 8140"/>
            </a:avLst>
          </a:prstGeom>
          <a:solidFill>
            <a:srgbClr val="F2F6F9"/>
          </a:solidFill>
          <a:ln w="15875">
            <a:solidFill>
              <a:srgbClr val="00A79D"/>
            </a:solidFill>
            <a:prstDash val="solid"/>
          </a:ln>
        </p:spPr>
      </p:sp>
      <p:sp>
        <p:nvSpPr>
          <p:cNvPr id="10" name="Text 7"/>
          <p:cNvSpPr/>
          <p:nvPr/>
        </p:nvSpPr>
        <p:spPr>
          <a:xfrm>
            <a:off x="5085436" y="2197120"/>
            <a:ext cx="2020824" cy="393192"/>
          </a:xfrm>
          <a:prstGeom prst="rect">
            <a:avLst/>
          </a:prstGeom>
          <a:noFill/>
          <a:ln/>
        </p:spPr>
        <p:txBody>
          <a:bodyPr wrap="square" lIns="0" tIns="0" rIns="0" bIns="0"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Training loop</a:t>
            </a:r>
            <a:endParaRPr lang="en-US" sz="1150" dirty="0"/>
          </a:p>
        </p:txBody>
      </p:sp>
      <p:sp>
        <p:nvSpPr>
          <p:cNvPr id="11" name="Text 8"/>
          <p:cNvSpPr/>
          <p:nvPr/>
        </p:nvSpPr>
        <p:spPr>
          <a:xfrm>
            <a:off x="5085436" y="2553736"/>
            <a:ext cx="2020824" cy="353873"/>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train_tf + eval_tf</a:t>
            </a:r>
            <a:endParaRPr lang="en-US" sz="900" dirty="0"/>
          </a:p>
        </p:txBody>
      </p:sp>
      <p:sp>
        <p:nvSpPr>
          <p:cNvPr id="12" name="Shape 9"/>
          <p:cNvSpPr/>
          <p:nvPr/>
        </p:nvSpPr>
        <p:spPr>
          <a:xfrm flipV="1">
            <a:off x="2695926" y="4123944"/>
            <a:ext cx="2039953" cy="823911"/>
          </a:xfrm>
          <a:prstGeom prst="line">
            <a:avLst/>
          </a:prstGeom>
          <a:noFill/>
          <a:ln w="15875">
            <a:solidFill>
              <a:srgbClr val="D9E2EA"/>
            </a:solidFill>
            <a:prstDash val="solid"/>
          </a:ln>
        </p:spPr>
      </p:sp>
      <p:sp>
        <p:nvSpPr>
          <p:cNvPr id="13" name="Shape 10"/>
          <p:cNvSpPr/>
          <p:nvPr/>
        </p:nvSpPr>
        <p:spPr>
          <a:xfrm>
            <a:off x="1621506" y="5300960"/>
            <a:ext cx="2148840" cy="786384"/>
          </a:xfrm>
          <a:prstGeom prst="roundRect">
            <a:avLst>
              <a:gd name="adj" fmla="val 8140"/>
            </a:avLst>
          </a:prstGeom>
          <a:solidFill>
            <a:srgbClr val="F2F6F9"/>
          </a:solidFill>
          <a:ln w="15875">
            <a:solidFill>
              <a:srgbClr val="29ABE2"/>
            </a:solidFill>
            <a:prstDash val="solid"/>
          </a:ln>
        </p:spPr>
      </p:sp>
      <p:sp>
        <p:nvSpPr>
          <p:cNvPr id="14" name="Text 11"/>
          <p:cNvSpPr/>
          <p:nvPr/>
        </p:nvSpPr>
        <p:spPr>
          <a:xfrm>
            <a:off x="1685514" y="5337536"/>
            <a:ext cx="2020824" cy="393192"/>
          </a:xfrm>
          <a:prstGeom prst="rect">
            <a:avLst/>
          </a:prstGeom>
          <a:noFill/>
          <a:ln/>
        </p:spPr>
        <p:txBody>
          <a:bodyPr wrap="square" lIns="0" tIns="0" rIns="0" bIns="0"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Eval harness</a:t>
            </a:r>
            <a:endParaRPr lang="en-US" sz="1150" dirty="0"/>
          </a:p>
        </p:txBody>
      </p:sp>
      <p:sp>
        <p:nvSpPr>
          <p:cNvPr id="15" name="Text 12"/>
          <p:cNvSpPr/>
          <p:nvPr/>
        </p:nvSpPr>
        <p:spPr>
          <a:xfrm>
            <a:off x="1685514" y="5694152"/>
            <a:ext cx="2020824" cy="353873"/>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M6 — deterministic</a:t>
            </a:r>
            <a:endParaRPr lang="en-US" sz="900" dirty="0"/>
          </a:p>
        </p:txBody>
      </p:sp>
      <p:sp>
        <p:nvSpPr>
          <p:cNvPr id="16" name="Shape 13"/>
          <p:cNvSpPr/>
          <p:nvPr/>
        </p:nvSpPr>
        <p:spPr>
          <a:xfrm flipH="1" flipV="1">
            <a:off x="7284568" y="4123944"/>
            <a:ext cx="2039953" cy="823911"/>
          </a:xfrm>
          <a:prstGeom prst="line">
            <a:avLst/>
          </a:prstGeom>
          <a:noFill/>
          <a:ln w="15875">
            <a:solidFill>
              <a:srgbClr val="D9E2EA"/>
            </a:solidFill>
            <a:prstDash val="solid"/>
          </a:ln>
        </p:spPr>
      </p:sp>
      <p:sp>
        <p:nvSpPr>
          <p:cNvPr id="17" name="Shape 14"/>
          <p:cNvSpPr/>
          <p:nvPr/>
        </p:nvSpPr>
        <p:spPr>
          <a:xfrm>
            <a:off x="8421350" y="5300960"/>
            <a:ext cx="2148840" cy="786384"/>
          </a:xfrm>
          <a:prstGeom prst="roundRect">
            <a:avLst>
              <a:gd name="adj" fmla="val 8140"/>
            </a:avLst>
          </a:prstGeom>
          <a:solidFill>
            <a:srgbClr val="F2F6F9"/>
          </a:solidFill>
          <a:ln w="15875">
            <a:solidFill>
              <a:srgbClr val="F58220"/>
            </a:solidFill>
            <a:prstDash val="solid"/>
          </a:ln>
        </p:spPr>
      </p:sp>
      <p:sp>
        <p:nvSpPr>
          <p:cNvPr id="18" name="Text 15"/>
          <p:cNvSpPr/>
          <p:nvPr/>
        </p:nvSpPr>
        <p:spPr>
          <a:xfrm>
            <a:off x="8485358" y="5337536"/>
            <a:ext cx="2020824" cy="393192"/>
          </a:xfrm>
          <a:prstGeom prst="rect">
            <a:avLst/>
          </a:prstGeom>
          <a:noFill/>
          <a:ln/>
        </p:spPr>
        <p:txBody>
          <a:bodyPr wrap="square" lIns="0" tIns="0" rIns="0" bIns="0"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ONNX wrapper</a:t>
            </a:r>
            <a:endParaRPr lang="en-US" sz="1150" dirty="0"/>
          </a:p>
        </p:txBody>
      </p:sp>
      <p:sp>
        <p:nvSpPr>
          <p:cNvPr id="19" name="Text 16"/>
          <p:cNvSpPr/>
          <p:nvPr/>
        </p:nvSpPr>
        <p:spPr>
          <a:xfrm>
            <a:off x="8485358" y="5694152"/>
            <a:ext cx="2020824" cy="353873"/>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M7 — serving path</a:t>
            </a:r>
            <a:endParaRPr lang="en-US" sz="900" dirty="0"/>
          </a:p>
        </p:txBody>
      </p:sp>
      <p:sp>
        <p:nvSpPr>
          <p:cNvPr id="20" name="Shape 17"/>
          <p:cNvSpPr/>
          <p:nvPr/>
        </p:nvSpPr>
        <p:spPr>
          <a:xfrm>
            <a:off x="4907128" y="3666744"/>
            <a:ext cx="2377440" cy="914400"/>
          </a:xfrm>
          <a:prstGeom prst="roundRect">
            <a:avLst>
              <a:gd name="adj" fmla="val 9000"/>
            </a:avLst>
          </a:prstGeom>
          <a:solidFill>
            <a:srgbClr val="00A79D"/>
          </a:solidFill>
          <a:ln/>
        </p:spPr>
      </p:sp>
      <p:sp>
        <p:nvSpPr>
          <p:cNvPr id="21" name="Text 18"/>
          <p:cNvSpPr/>
          <p:nvPr/>
        </p:nvSpPr>
        <p:spPr>
          <a:xfrm>
            <a:off x="4971136" y="3703320"/>
            <a:ext cx="224942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transforms.py</a:t>
            </a:r>
            <a:endParaRPr lang="en-US" sz="1300" dirty="0"/>
          </a:p>
        </p:txBody>
      </p:sp>
      <p:sp>
        <p:nvSpPr>
          <p:cNvPr id="22" name="Text 19"/>
          <p:cNvSpPr/>
          <p:nvPr/>
        </p:nvSpPr>
        <p:spPr>
          <a:xfrm>
            <a:off x="4971136" y="4142232"/>
            <a:ext cx="2249424" cy="384048"/>
          </a:xfrm>
          <a:prstGeom prst="rect">
            <a:avLst/>
          </a:prstGeom>
          <a:noFill/>
          <a:ln/>
        </p:spPr>
        <p:txBody>
          <a:bodyPr wrap="square" lIns="0" tIns="0" rIns="0" bIns="0" rtlCol="0" anchor="t"/>
          <a:lstStyle/>
          <a:p>
            <a:pPr algn="ctr" indent="0" marL="0">
              <a:buNone/>
            </a:pPr>
            <a:r>
              <a:rPr lang="en-US" sz="900" dirty="0">
                <a:solidFill>
                  <a:srgbClr val="D4F1EE"/>
                </a:solidFill>
                <a:latin typeface="Calibri" pitchFamily="34" charset="0"/>
                <a:ea typeface="Calibri" pitchFamily="34" charset="-122"/>
                <a:cs typeface="Calibri" pitchFamily="34" charset="-120"/>
              </a:rPr>
              <a:t>the contract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Augmentation encodes domain knowledge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التعزيز يرمّز معرفة المجال</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18</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The design question for every transform: is this variation REAL on the line?</a:t>
            </a:r>
            <a:endParaRPr lang="en-US" sz="1250" dirty="0"/>
          </a:p>
        </p:txBody>
      </p:sp>
      <p:sp>
        <p:nvSpPr>
          <p:cNvPr id="8" name="Shape 5"/>
          <p:cNvSpPr/>
          <p:nvPr/>
        </p:nvSpPr>
        <p:spPr>
          <a:xfrm>
            <a:off x="502920" y="1892808"/>
            <a:ext cx="5455768" cy="2103120"/>
          </a:xfrm>
          <a:prstGeom prst="roundRect">
            <a:avLst>
              <a:gd name="adj" fmla="val 3478"/>
            </a:avLst>
          </a:prstGeom>
          <a:solidFill>
            <a:srgbClr val="F2F6F9"/>
          </a:solidFill>
          <a:ln w="12700">
            <a:solidFill>
              <a:srgbClr val="D9E2EA"/>
            </a:solidFill>
            <a:prstDash val="solid"/>
          </a:ln>
        </p:spPr>
      </p:sp>
      <p:sp>
        <p:nvSpPr>
          <p:cNvPr id="9" name="Shape 6"/>
          <p:cNvSpPr/>
          <p:nvPr/>
        </p:nvSpPr>
        <p:spPr>
          <a:xfrm>
            <a:off x="667512" y="2039112"/>
            <a:ext cx="310896" cy="310896"/>
          </a:xfrm>
          <a:prstGeom prst="ellipse">
            <a:avLst/>
          </a:prstGeom>
          <a:solidFill>
            <a:srgbClr val="00A79D"/>
          </a:solidFill>
          <a:ln/>
        </p:spPr>
      </p:sp>
      <p:sp>
        <p:nvSpPr>
          <p:cNvPr id="10" name="Text 7"/>
          <p:cNvSpPr/>
          <p:nvPr/>
        </p:nvSpPr>
        <p:spPr>
          <a:xfrm>
            <a:off x="667512" y="2039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1088136" y="200253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Geometric</a:t>
            </a:r>
            <a:endParaRPr lang="en-US" sz="1250" dirty="0"/>
          </a:p>
        </p:txBody>
      </p:sp>
      <p:sp>
        <p:nvSpPr>
          <p:cNvPr id="12" name="Text 9"/>
          <p:cNvSpPr/>
          <p:nvPr/>
        </p:nvSpPr>
        <p:spPr>
          <a:xfrm>
            <a:off x="685800" y="2423160"/>
            <a:ext cx="509000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Flips, rotation, scale jitter. Dates land in any pose — full rotation valid. X-rays are never mirrored — flip invalid.</a:t>
            </a:r>
            <a:endParaRPr lang="en-US" sz="1100" dirty="0"/>
          </a:p>
        </p:txBody>
      </p:sp>
      <p:sp>
        <p:nvSpPr>
          <p:cNvPr id="13" name="Shape 10"/>
          <p:cNvSpPr/>
          <p:nvPr/>
        </p:nvSpPr>
        <p:spPr>
          <a:xfrm>
            <a:off x="6233008" y="1892808"/>
            <a:ext cx="5455768" cy="2103120"/>
          </a:xfrm>
          <a:prstGeom prst="roundRect">
            <a:avLst>
              <a:gd name="adj" fmla="val 3478"/>
            </a:avLst>
          </a:prstGeom>
          <a:solidFill>
            <a:srgbClr val="F2F6F9"/>
          </a:solidFill>
          <a:ln w="12700">
            <a:solidFill>
              <a:srgbClr val="D9E2EA"/>
            </a:solidFill>
            <a:prstDash val="solid"/>
          </a:ln>
        </p:spPr>
      </p:sp>
      <p:sp>
        <p:nvSpPr>
          <p:cNvPr id="14" name="Shape 11"/>
          <p:cNvSpPr/>
          <p:nvPr/>
        </p:nvSpPr>
        <p:spPr>
          <a:xfrm>
            <a:off x="6397600" y="2039112"/>
            <a:ext cx="310896" cy="310896"/>
          </a:xfrm>
          <a:prstGeom prst="ellipse">
            <a:avLst/>
          </a:prstGeom>
          <a:solidFill>
            <a:srgbClr val="29ABE2"/>
          </a:solidFill>
          <a:ln/>
        </p:spPr>
      </p:sp>
      <p:sp>
        <p:nvSpPr>
          <p:cNvPr id="15" name="Text 12"/>
          <p:cNvSpPr/>
          <p:nvPr/>
        </p:nvSpPr>
        <p:spPr>
          <a:xfrm>
            <a:off x="6397600" y="2039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6818224" y="200253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Photometric</a:t>
            </a:r>
            <a:endParaRPr lang="en-US" sz="1250" dirty="0"/>
          </a:p>
        </p:txBody>
      </p:sp>
      <p:sp>
        <p:nvSpPr>
          <p:cNvPr id="17" name="Text 14"/>
          <p:cNvSpPr/>
          <p:nvPr/>
        </p:nvSpPr>
        <p:spPr>
          <a:xfrm>
            <a:off x="6415888" y="2423160"/>
            <a:ext cx="509000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Brightness/contrast/hue jitter, white-balance drift — the workhorse for cameras whose exposure drifts with lamp ageing.</a:t>
            </a:r>
            <a:endParaRPr lang="en-US" sz="1100" dirty="0"/>
          </a:p>
        </p:txBody>
      </p:sp>
      <p:sp>
        <p:nvSpPr>
          <p:cNvPr id="18" name="Shape 15"/>
          <p:cNvSpPr/>
          <p:nvPr/>
        </p:nvSpPr>
        <p:spPr>
          <a:xfrm>
            <a:off x="502920" y="4251960"/>
            <a:ext cx="5455768" cy="2103120"/>
          </a:xfrm>
          <a:prstGeom prst="roundRect">
            <a:avLst>
              <a:gd name="adj" fmla="val 3478"/>
            </a:avLst>
          </a:prstGeom>
          <a:solidFill>
            <a:srgbClr val="F2F6F9"/>
          </a:solidFill>
          <a:ln w="12700">
            <a:solidFill>
              <a:srgbClr val="D9E2EA"/>
            </a:solidFill>
            <a:prstDash val="solid"/>
          </a:ln>
        </p:spPr>
      </p:sp>
      <p:sp>
        <p:nvSpPr>
          <p:cNvPr id="19" name="Shape 16"/>
          <p:cNvSpPr/>
          <p:nvPr/>
        </p:nvSpPr>
        <p:spPr>
          <a:xfrm>
            <a:off x="667512" y="4398264"/>
            <a:ext cx="310896" cy="310896"/>
          </a:xfrm>
          <a:prstGeom prst="ellipse">
            <a:avLst/>
          </a:prstGeom>
          <a:solidFill>
            <a:srgbClr val="F58220"/>
          </a:solidFill>
          <a:ln/>
        </p:spPr>
      </p:sp>
      <p:sp>
        <p:nvSpPr>
          <p:cNvPr id="20" name="Text 17"/>
          <p:cNvSpPr/>
          <p:nvPr/>
        </p:nvSpPr>
        <p:spPr>
          <a:xfrm>
            <a:off x="667512" y="4398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p:nvPr/>
        </p:nvSpPr>
        <p:spPr>
          <a:xfrm>
            <a:off x="1088136" y="436168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Occlusion &amp; noise</a:t>
            </a:r>
            <a:endParaRPr lang="en-US" sz="1250" dirty="0"/>
          </a:p>
        </p:txBody>
      </p:sp>
      <p:sp>
        <p:nvSpPr>
          <p:cNvPr id="22" name="Text 19"/>
          <p:cNvSpPr/>
          <p:nvPr/>
        </p:nvSpPr>
        <p:spPr>
          <a:xfrm>
            <a:off x="685800" y="4782312"/>
            <a:ext cx="509000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Random erasing, ISO noise, motion blur (conveyor speed!), dust simulation — modelling Gulf-environment degradations.</a:t>
            </a:r>
            <a:endParaRPr lang="en-US" sz="1100" dirty="0"/>
          </a:p>
        </p:txBody>
      </p:sp>
      <p:sp>
        <p:nvSpPr>
          <p:cNvPr id="23" name="Shape 20"/>
          <p:cNvSpPr/>
          <p:nvPr/>
        </p:nvSpPr>
        <p:spPr>
          <a:xfrm>
            <a:off x="6233008" y="4251960"/>
            <a:ext cx="5455768" cy="2103120"/>
          </a:xfrm>
          <a:prstGeom prst="roundRect">
            <a:avLst>
              <a:gd name="adj" fmla="val 3478"/>
            </a:avLst>
          </a:prstGeom>
          <a:solidFill>
            <a:srgbClr val="F2F6F9"/>
          </a:solidFill>
          <a:ln w="12700">
            <a:solidFill>
              <a:srgbClr val="D9E2EA"/>
            </a:solidFill>
            <a:prstDash val="solid"/>
          </a:ln>
        </p:spPr>
      </p:sp>
      <p:sp>
        <p:nvSpPr>
          <p:cNvPr id="24" name="Shape 21"/>
          <p:cNvSpPr/>
          <p:nvPr/>
        </p:nvSpPr>
        <p:spPr>
          <a:xfrm>
            <a:off x="6397600" y="4398264"/>
            <a:ext cx="310896" cy="310896"/>
          </a:xfrm>
          <a:prstGeom prst="ellipse">
            <a:avLst/>
          </a:prstGeom>
          <a:solidFill>
            <a:srgbClr val="8DC63F"/>
          </a:solidFill>
          <a:ln/>
        </p:spPr>
      </p:sp>
      <p:sp>
        <p:nvSpPr>
          <p:cNvPr id="25" name="Text 22"/>
          <p:cNvSpPr/>
          <p:nvPr/>
        </p:nvSpPr>
        <p:spPr>
          <a:xfrm>
            <a:off x="6397600" y="4398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p:nvPr/>
        </p:nvSpPr>
        <p:spPr>
          <a:xfrm>
            <a:off x="6818224" y="436168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Policy strength</a:t>
            </a:r>
            <a:endParaRPr lang="en-US" sz="1250" dirty="0"/>
          </a:p>
        </p:txBody>
      </p:sp>
      <p:sp>
        <p:nvSpPr>
          <p:cNvPr id="27" name="Text 24"/>
          <p:cNvSpPr/>
          <p:nvPr/>
        </p:nvSpPr>
        <p:spPr>
          <a:xfrm>
            <a:off x="6415888" y="4782312"/>
            <a:ext cx="509000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Too weak underfits robustness; too strong destroys labels. Habit: render 32 augmented samples and LOOK before training.</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Input pipelines that keep the GPU fed</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خطوط إدخال تُبقي المعالج الرسومي مشغولاً</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19</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Parallelise the loader</a:t>
            </a:r>
            <a:endParaRPr lang="en-US" sz="1400" dirty="0"/>
          </a:p>
        </p:txBody>
      </p:sp>
      <p:sp>
        <p:nvSpPr>
          <p:cNvPr id="10" name="Text 7"/>
          <p:cNvSpPr/>
          <p:nvPr/>
        </p:nvSpPr>
        <p:spPr>
          <a:xfrm>
            <a:off x="1005840" y="179679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DataLoader runs __getitem__ across num_workers; pin_memory=True speeds host-to-GPU copies</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Measure, don't guess</a:t>
            </a:r>
            <a:endParaRPr lang="en-US" sz="1400" dirty="0"/>
          </a:p>
        </p:txBody>
      </p:sp>
      <p:sp>
        <p:nvSpPr>
          <p:cNvPr id="14" name="Text 11"/>
          <p:cNvSpPr/>
          <p:nvPr/>
        </p:nvSpPr>
        <p:spPr>
          <a:xfrm>
            <a:off x="1005840" y="298551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Sawtooth GPU utilisation means the pipeline is the bottleneck, not the model</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Decode cost dominates</a:t>
            </a:r>
            <a:endParaRPr lang="en-US" sz="1400" dirty="0"/>
          </a:p>
        </p:txBody>
      </p:sp>
      <p:sp>
        <p:nvSpPr>
          <p:cNvPr id="18" name="Text 15"/>
          <p:cNvSpPr/>
          <p:nvPr/>
        </p:nvSpPr>
        <p:spPr>
          <a:xfrm>
            <a:off x="1005840" y="417423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JPEG decode of a 1280x1024 frame is 8-12 ms on CPU; resize-on-disk first, then more workers</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Deterministic eval loading</a:t>
            </a:r>
            <a:endParaRPr lang="en-US" sz="1400" dirty="0"/>
          </a:p>
        </p:txBody>
      </p:sp>
      <p:sp>
        <p:nvSpPr>
          <p:cNvPr id="22" name="Text 19"/>
          <p:cNvSpPr/>
          <p:nvPr/>
        </p:nvSpPr>
        <p:spPr>
          <a:xfrm>
            <a:off x="1005840" y="536295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shuffle=False, fixed worker seeds, frozen file list — M6 must repeat exactly</a:t>
            </a:r>
            <a:endParaRPr lang="en-US" sz="1150" dirty="0"/>
          </a:p>
        </p:txBody>
      </p:sp>
      <p:sp>
        <p:nvSpPr>
          <p:cNvPr id="23" name="Shape 20"/>
          <p:cNvSpPr/>
          <p:nvPr/>
        </p:nvSpPr>
        <p:spPr>
          <a:xfrm>
            <a:off x="6355080" y="2775204"/>
            <a:ext cx="1563624" cy="2194560"/>
          </a:xfrm>
          <a:prstGeom prst="roundRect">
            <a:avLst>
              <a:gd name="adj" fmla="val 5263"/>
            </a:avLst>
          </a:prstGeom>
          <a:solidFill>
            <a:srgbClr val="E9F6F5"/>
          </a:solidFill>
          <a:ln w="12700">
            <a:solidFill>
              <a:srgbClr val="D9E2EA"/>
            </a:solidFill>
            <a:prstDash val="solid"/>
          </a:ln>
        </p:spPr>
      </p:sp>
      <p:sp>
        <p:nvSpPr>
          <p:cNvPr id="24" name="Text 21"/>
          <p:cNvSpPr/>
          <p:nvPr/>
        </p:nvSpPr>
        <p:spPr>
          <a:xfrm>
            <a:off x="6446520" y="2884932"/>
            <a:ext cx="1380744" cy="965606"/>
          </a:xfrm>
          <a:prstGeom prst="rect">
            <a:avLst/>
          </a:prstGeom>
          <a:noFill/>
          <a:ln/>
        </p:spPr>
        <p:txBody>
          <a:bodyPr wrap="square" lIns="0" tIns="0" rIns="0" bIns="0" rtlCol="0" anchor="ctr"/>
          <a:lstStyle/>
          <a:p>
            <a:pPr algn="ctr" indent="0" marL="0">
              <a:buNone/>
            </a:pPr>
            <a:r>
              <a:rPr lang="en-US" sz="3800" b="1" dirty="0">
                <a:solidFill>
                  <a:srgbClr val="00A79D"/>
                </a:solidFill>
                <a:latin typeface="Calibri" pitchFamily="34" charset="0"/>
                <a:ea typeface="Calibri" pitchFamily="34" charset="-122"/>
                <a:cs typeface="Calibri" pitchFamily="34" charset="-120"/>
              </a:rPr>
              <a:t>400+</a:t>
            </a:r>
            <a:endParaRPr lang="en-US" sz="3800" dirty="0"/>
          </a:p>
        </p:txBody>
      </p:sp>
      <p:sp>
        <p:nvSpPr>
          <p:cNvPr id="25" name="Text 22"/>
          <p:cNvSpPr/>
          <p:nvPr/>
        </p:nvSpPr>
        <p:spPr>
          <a:xfrm>
            <a:off x="6492240"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img/s target @224</a:t>
            </a:r>
            <a:endParaRPr lang="en-US" sz="1250" dirty="0"/>
          </a:p>
        </p:txBody>
      </p:sp>
      <p:sp>
        <p:nvSpPr>
          <p:cNvPr id="26" name="Text 23"/>
          <p:cNvSpPr/>
          <p:nvPr/>
        </p:nvSpPr>
        <p:spPr>
          <a:xfrm>
            <a:off x="6492240"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course rule of thumb</a:t>
            </a:r>
            <a:endParaRPr lang="en-US" sz="1000" dirty="0"/>
          </a:p>
        </p:txBody>
      </p:sp>
      <p:sp>
        <p:nvSpPr>
          <p:cNvPr id="27" name="Shape 24"/>
          <p:cNvSpPr/>
          <p:nvPr/>
        </p:nvSpPr>
        <p:spPr>
          <a:xfrm>
            <a:off x="8238744" y="2775204"/>
            <a:ext cx="1563624" cy="2194560"/>
          </a:xfrm>
          <a:prstGeom prst="roundRect">
            <a:avLst>
              <a:gd name="adj" fmla="val 5263"/>
            </a:avLst>
          </a:prstGeom>
          <a:solidFill>
            <a:srgbClr val="F2F6F9"/>
          </a:solidFill>
          <a:ln w="12700">
            <a:solidFill>
              <a:srgbClr val="D9E2EA"/>
            </a:solidFill>
            <a:prstDash val="solid"/>
          </a:ln>
        </p:spPr>
      </p:sp>
      <p:sp>
        <p:nvSpPr>
          <p:cNvPr id="28" name="Text 25"/>
          <p:cNvSpPr/>
          <p:nvPr/>
        </p:nvSpPr>
        <p:spPr>
          <a:xfrm>
            <a:off x="8330184" y="2884932"/>
            <a:ext cx="1380744" cy="965606"/>
          </a:xfrm>
          <a:prstGeom prst="rect">
            <a:avLst/>
          </a:prstGeom>
          <a:noFill/>
          <a:ln/>
        </p:spPr>
        <p:txBody>
          <a:bodyPr wrap="square" lIns="0" tIns="0" rIns="0" bIns="0" rtlCol="0" anchor="ctr"/>
          <a:lstStyle/>
          <a:p>
            <a:pPr algn="ctr" indent="0" marL="0">
              <a:buNone/>
            </a:pPr>
            <a:r>
              <a:rPr lang="en-US" sz="3800" b="1" dirty="0">
                <a:solidFill>
                  <a:srgbClr val="29ABE2"/>
                </a:solidFill>
                <a:latin typeface="Calibri" pitchFamily="34" charset="0"/>
                <a:ea typeface="Calibri" pitchFamily="34" charset="-122"/>
                <a:cs typeface="Calibri" pitchFamily="34" charset="-120"/>
              </a:rPr>
              <a:t>465</a:t>
            </a:r>
            <a:endParaRPr lang="en-US" sz="3800" dirty="0"/>
          </a:p>
        </p:txBody>
      </p:sp>
      <p:sp>
        <p:nvSpPr>
          <p:cNvPr id="29" name="Text 26"/>
          <p:cNvSpPr/>
          <p:nvPr/>
        </p:nvSpPr>
        <p:spPr>
          <a:xfrm>
            <a:off x="8375904"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img/s, workers=8</a:t>
            </a:r>
            <a:endParaRPr lang="en-US" sz="1250" dirty="0"/>
          </a:p>
        </p:txBody>
      </p:sp>
      <p:sp>
        <p:nvSpPr>
          <p:cNvPr id="30" name="Text 27"/>
          <p:cNvSpPr/>
          <p:nvPr/>
        </p:nvSpPr>
        <p:spPr>
          <a:xfrm>
            <a:off x="8375904"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vs 118 at workers=0</a:t>
            </a:r>
            <a:endParaRPr lang="en-US" sz="1000" dirty="0"/>
          </a:p>
        </p:txBody>
      </p:sp>
      <p:sp>
        <p:nvSpPr>
          <p:cNvPr id="31" name="Shape 28"/>
          <p:cNvSpPr/>
          <p:nvPr/>
        </p:nvSpPr>
        <p:spPr>
          <a:xfrm>
            <a:off x="10122408" y="2775204"/>
            <a:ext cx="1563624" cy="2194560"/>
          </a:xfrm>
          <a:prstGeom prst="roundRect">
            <a:avLst>
              <a:gd name="adj" fmla="val 5263"/>
            </a:avLst>
          </a:prstGeom>
          <a:solidFill>
            <a:srgbClr val="F2F6F9"/>
          </a:solidFill>
          <a:ln w="12700">
            <a:solidFill>
              <a:srgbClr val="D9E2EA"/>
            </a:solidFill>
            <a:prstDash val="solid"/>
          </a:ln>
        </p:spPr>
      </p:sp>
      <p:sp>
        <p:nvSpPr>
          <p:cNvPr id="32" name="Text 29"/>
          <p:cNvSpPr/>
          <p:nvPr/>
        </p:nvSpPr>
        <p:spPr>
          <a:xfrm>
            <a:off x="10213848" y="2884932"/>
            <a:ext cx="1380744" cy="965606"/>
          </a:xfrm>
          <a:prstGeom prst="rect">
            <a:avLst/>
          </a:prstGeom>
          <a:noFill/>
          <a:ln/>
        </p:spPr>
        <p:txBody>
          <a:bodyPr wrap="square" lIns="0" tIns="0" rIns="0" bIns="0" rtlCol="0" anchor="ctr"/>
          <a:lstStyle/>
          <a:p>
            <a:pPr algn="ctr" indent="0" marL="0">
              <a:buNone/>
            </a:pPr>
            <a:r>
              <a:rPr lang="en-US" sz="3800" b="1" dirty="0">
                <a:solidFill>
                  <a:srgbClr val="F58220"/>
                </a:solidFill>
                <a:latin typeface="Calibri" pitchFamily="34" charset="0"/>
                <a:ea typeface="Calibri" pitchFamily="34" charset="-122"/>
                <a:cs typeface="Calibri" pitchFamily="34" charset="-120"/>
              </a:rPr>
              <a:t>91%</a:t>
            </a:r>
            <a:endParaRPr lang="en-US" sz="3800" dirty="0"/>
          </a:p>
        </p:txBody>
      </p:sp>
      <p:sp>
        <p:nvSpPr>
          <p:cNvPr id="33" name="Text 30"/>
          <p:cNvSpPr/>
          <p:nvPr/>
        </p:nvSpPr>
        <p:spPr>
          <a:xfrm>
            <a:off x="10259568"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GPU util when fed</a:t>
            </a:r>
            <a:endParaRPr lang="en-US" sz="1250" dirty="0"/>
          </a:p>
        </p:txBody>
      </p:sp>
      <p:sp>
        <p:nvSpPr>
          <p:cNvPr id="34" name="Text 31"/>
          <p:cNvSpPr/>
          <p:nvPr/>
        </p:nvSpPr>
        <p:spPr>
          <a:xfrm>
            <a:off x="10259568"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vs 31% when starved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Data quality: what augmentation cannot fix</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جودة البيانات: ما لا يصلحه التعزيز</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Label noise</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3-8% label error is typical at first annotation pass; noise on the reject class is the expensive kind — it teaches the model that defects are acceptable</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Duplicates across splits</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Consecutive conveyor frames of the same fruit leaking across train/val inflates every metric — split by fruit/session identity, never by random frame</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Class imbalance</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Rejects are (thankfully) rare — 2-4% of frames. Tools: weighted sampling, loss weighting, honest per-class metrics — never accuracy alone</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Shortcut leakage</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Timestamps, camera-station watermarks, background artefacts correlated with the label — Grad-CAM inspection is the detection tool</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Common mistakes &amp; defences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الأخطاء الشائعة ودفاعاتها</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737346"/>
                <a:gridCol w="3411714"/>
                <a:gridCol w="4036795"/>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Mistake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Consequence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Defence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BGR fed to RGB-trained model</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Silent 5-10 pt degradation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Assert channel order at the I/O boundary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Interpolation differs train vs serve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 real 2-point mAP loss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Pin resize semantics; test it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Augmenting the validation set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Noisy, optimistic metrics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Train/eval transform split, non-negotiable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Random split over frame sequences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Near-duplicate leakage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Split by session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Mismatched normalisation stats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Contract broken at serve time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Stats travel with the checkpoint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Ignoring EXIF orientation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Images silently rotated 90 deg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Respect EXIF in the decode path</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transforms.py — single source of truth</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المصدر الوحيد للحقيقة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699309"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src/tamr_vision/data/transforms.py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THE preprocessing contract. Training, eval, and the ONNX</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wrapper all import from here -- never duplicate resize or</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normalisation logic anywhere else in the codebase.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torch</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torchvision.transforms import v2</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IMG_SIZE = 224        # classifier; detector uses 640 (M3)</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IMAGENET_MEAN = (0.485, 0.456, 0.406)</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IMAGENET_STD = (0.229, 0.224, 0.225)</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def eval_tf():</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"""Deterministic path: eval harness AND production."""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return v2.Compose([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v2.Resize((IMG_SIZE, IMG_SIZE)),        # bilinear</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v2.ToDtype(torch.float32, scale=True),  # -&gt;[0,1]</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v2.Normalize(IMAGENET_MEAN, IMAGENET_STD)])</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def train_tf():</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"""Every transform models a REAL line variation."""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return v2.Compose([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v2.Resize((IMG_SIZE, IMG_SIZE)),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v2.RandomRotation(180),  # fruit lands in any pose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v2.ColorJitter(brightness=0.25, contrast=0.2,</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saturation=0.2, hue=0.03),</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 ... flips, blur p=0.15, RandomErasing p=0.15</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v2.ToDtype(torch.float32, scale=True),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v2.Normalize(IMAGENET_MEAN, IMAGENET_STD)])</a:t>
            </a:r>
            <a:endParaRPr lang="en-US" sz="9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One module, three consumers</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training loop, eval harness (M6), ONNX wrapper (M7) all import this</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Dtype before Normalize</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uint8 [0,255] to float [0,1] via ToDtype(scale=True) — order matters</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Split from line one</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augmentation lives only in train_tf(); eval path stays deterministic</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Comment = justification</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each transform names the line variation it models — no comment, no transform</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Dataset with a correct I/O boundary</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مجموعة بيانات بحدود إدخال صحيحة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485339"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src/tamr_vision/data/dataset.py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dates-qc dataset. Split assigned by SESSION, not by</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frame -- the leakage defence lives in the manifest.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cv2</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pandas as pd</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torch</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torch.utils.data import Dataset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GRADES = ["premium", "standard",</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"substandard", "reject"]   # frozen order</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class DatesQCDataset(Dataset):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def __init__(self, root, split, transform=None):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m = pd.read_csv(root / "manifest_v1.csv")</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m = m[m["split"] == split]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self.rows = m.reset_index(drop=True)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self.root, self.transform = root, transform</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 __len__ omitted: len(self.rows)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def __getitem__(self, idx):</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row = self.rows.iloc[idx]</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p = str(self.root / "images" / row["file"])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img = cv2.imread(p)</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if img is None:   # fail loudly, not a black image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raise FileNotFoundError(row["file"])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img = cv2.cvtColor(img, cv2.COLOR_BGR2RGB)</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t = torch.from_numpy(img).permute(2, 0, 1)</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if self.transform:</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t = self.transform(t)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return t, GRADES.index(row["grade"])</a:t>
            </a:r>
            <a:endParaRPr lang="en-US" sz="9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BGR to RGB at the boundary</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cv2 loads BGR; convert once at I/O and never think about it again</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Fail loudly</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cv2.imread returns None on a bad path — raise, don't train on black frames</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Frozen class order</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GRADES order travels with the checkpoint in M2 — never reorder</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Session-based split</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manifest assigns split by session_id — the leakage defence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1 — Build the dates-qc input pipeline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المختبر 1: بناء خط إدخال البيانات</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502920" y="1389888"/>
            <a:ext cx="5806440" cy="932688"/>
          </a:xfrm>
          <a:prstGeom prst="roundRect">
            <a:avLst>
              <a:gd name="adj" fmla="val 7843"/>
            </a:avLst>
          </a:prstGeom>
          <a:solidFill>
            <a:srgbClr val="E9F6F5"/>
          </a:solidFill>
          <a:ln w="12700">
            <a:solidFill>
              <a:srgbClr val="00A79D"/>
            </a:solidFill>
            <a:prstDash val="solid"/>
          </a:ln>
        </p:spPr>
      </p:sp>
      <p:sp>
        <p:nvSpPr>
          <p:cNvPr id="8" name="Text 5"/>
          <p:cNvSpPr/>
          <p:nvPr/>
        </p:nvSpPr>
        <p:spPr>
          <a:xfrm>
            <a:off x="649224" y="1463040"/>
            <a:ext cx="553212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OBJECTIVE</a:t>
            </a:r>
            <a:endParaRPr lang="en-US" sz="900" dirty="0"/>
          </a:p>
        </p:txBody>
      </p:sp>
      <p:sp>
        <p:nvSpPr>
          <p:cNvPr id="9" name="Text 6"/>
          <p:cNvSpPr/>
          <p:nvPr/>
        </p:nvSpPr>
        <p:spPr>
          <a:xfrm>
            <a:off x="649224" y="1682496"/>
            <a:ext cx="553212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Implement the Dataset + transforms contract, compute dataset statistics, visually audit the augmentation policy, measure throughput</a:t>
            </a:r>
            <a:endParaRPr lang="en-US" sz="1050" dirty="0"/>
          </a:p>
        </p:txBody>
      </p:sp>
      <p:sp>
        <p:nvSpPr>
          <p:cNvPr id="10" name="Shape 7"/>
          <p:cNvSpPr/>
          <p:nvPr/>
        </p:nvSpPr>
        <p:spPr>
          <a:xfrm>
            <a:off x="6510528" y="1389888"/>
            <a:ext cx="1600200" cy="932688"/>
          </a:xfrm>
          <a:prstGeom prst="roundRect">
            <a:avLst>
              <a:gd name="adj" fmla="val 7843"/>
            </a:avLst>
          </a:prstGeom>
          <a:solidFill>
            <a:srgbClr val="F2F6F9"/>
          </a:solidFill>
          <a:ln w="12700">
            <a:solidFill>
              <a:srgbClr val="D9E2EA"/>
            </a:solidFill>
            <a:prstDash val="solid"/>
          </a:ln>
        </p:spPr>
      </p:sp>
      <p:sp>
        <p:nvSpPr>
          <p:cNvPr id="11" name="Text 8"/>
          <p:cNvSpPr/>
          <p:nvPr/>
        </p:nvSpPr>
        <p:spPr>
          <a:xfrm>
            <a:off x="6656832" y="1463040"/>
            <a:ext cx="132588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DURATION</a:t>
            </a:r>
            <a:endParaRPr lang="en-US" sz="900" dirty="0"/>
          </a:p>
        </p:txBody>
      </p:sp>
      <p:sp>
        <p:nvSpPr>
          <p:cNvPr id="12" name="Text 9"/>
          <p:cNvSpPr/>
          <p:nvPr/>
        </p:nvSpPr>
        <p:spPr>
          <a:xfrm>
            <a:off x="6656832" y="1682496"/>
            <a:ext cx="132588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50 minutes</a:t>
            </a:r>
            <a:endParaRPr lang="en-US" sz="1050" dirty="0"/>
          </a:p>
        </p:txBody>
      </p:sp>
      <p:sp>
        <p:nvSpPr>
          <p:cNvPr id="13" name="Shape 10"/>
          <p:cNvSpPr/>
          <p:nvPr/>
        </p:nvSpPr>
        <p:spPr>
          <a:xfrm>
            <a:off x="8311896" y="1389888"/>
            <a:ext cx="3383280" cy="932688"/>
          </a:xfrm>
          <a:prstGeom prst="roundRect">
            <a:avLst>
              <a:gd name="adj" fmla="val 7843"/>
            </a:avLst>
          </a:prstGeom>
          <a:solidFill>
            <a:srgbClr val="F2F6F9"/>
          </a:solidFill>
          <a:ln w="12700">
            <a:solidFill>
              <a:srgbClr val="D9E2EA"/>
            </a:solidFill>
            <a:prstDash val="solid"/>
          </a:ln>
        </p:spPr>
      </p:sp>
      <p:sp>
        <p:nvSpPr>
          <p:cNvPr id="14" name="Text 11"/>
          <p:cNvSpPr/>
          <p:nvPr/>
        </p:nvSpPr>
        <p:spPr>
          <a:xfrm>
            <a:off x="8458200" y="1463040"/>
            <a:ext cx="310896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SETUP</a:t>
            </a:r>
            <a:endParaRPr lang="en-US" sz="900" dirty="0"/>
          </a:p>
        </p:txBody>
      </p:sp>
      <p:sp>
        <p:nvSpPr>
          <p:cNvPr id="15" name="Text 12"/>
          <p:cNvSpPr/>
          <p:nvPr/>
        </p:nvSpPr>
        <p:spPr>
          <a:xfrm>
            <a:off x="8458200" y="1682496"/>
            <a:ext cx="310896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Python 3.12, PyTorch 2.4+, OpenCV; repo cloned; git checkout lab1-start</a:t>
            </a:r>
            <a:endParaRPr lang="en-US" sz="1050" dirty="0"/>
          </a:p>
        </p:txBody>
      </p:sp>
      <p:sp>
        <p:nvSpPr>
          <p:cNvPr id="16" name="Shape 13"/>
          <p:cNvSpPr/>
          <p:nvPr/>
        </p:nvSpPr>
        <p:spPr>
          <a:xfrm>
            <a:off x="502920" y="2661666"/>
            <a:ext cx="274320" cy="274320"/>
          </a:xfrm>
          <a:prstGeom prst="ellipse">
            <a:avLst/>
          </a:prstGeom>
          <a:solidFill>
            <a:srgbClr val="1D2A5C"/>
          </a:solidFill>
          <a:ln/>
        </p:spPr>
      </p:sp>
      <p:sp>
        <p:nvSpPr>
          <p:cNvPr id="17" name="Text 14"/>
          <p:cNvSpPr/>
          <p:nvPr/>
        </p:nvSpPr>
        <p:spPr>
          <a:xfrm>
            <a:off x="502920" y="26616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Shape 15"/>
          <p:cNvSpPr/>
          <p:nvPr/>
        </p:nvSpPr>
        <p:spPr>
          <a:xfrm>
            <a:off x="886968" y="2661666"/>
            <a:ext cx="658368" cy="274320"/>
          </a:xfrm>
          <a:prstGeom prst="roundRect">
            <a:avLst>
              <a:gd name="adj" fmla="val 50000"/>
            </a:avLst>
          </a:prstGeom>
          <a:solidFill>
            <a:srgbClr val="E9F6F5"/>
          </a:solidFill>
          <a:ln w="9525">
            <a:solidFill>
              <a:srgbClr val="00A79D"/>
            </a:solidFill>
            <a:prstDash val="solid"/>
          </a:ln>
        </p:spPr>
      </p:sp>
      <p:sp>
        <p:nvSpPr>
          <p:cNvPr id="19" name="Text 16"/>
          <p:cNvSpPr/>
          <p:nvPr/>
        </p:nvSpPr>
        <p:spPr>
          <a:xfrm>
            <a:off x="886968" y="266166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5 min</a:t>
            </a:r>
            <a:endParaRPr lang="en-US" sz="900" dirty="0"/>
          </a:p>
        </p:txBody>
      </p:sp>
      <p:sp>
        <p:nvSpPr>
          <p:cNvPr id="20" name="Text 17"/>
          <p:cNvSpPr/>
          <p:nvPr/>
        </p:nvSpPr>
        <p:spPr>
          <a:xfrm>
            <a:off x="1673352" y="252374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Explore the bundle: 12,000 frames + manifest; confirm split is by session_id</a:t>
            </a:r>
            <a:endParaRPr lang="en-US" sz="1150" dirty="0"/>
          </a:p>
        </p:txBody>
      </p:sp>
      <p:sp>
        <p:nvSpPr>
          <p:cNvPr id="21" name="Shape 18"/>
          <p:cNvSpPr/>
          <p:nvPr/>
        </p:nvSpPr>
        <p:spPr>
          <a:xfrm>
            <a:off x="502920" y="3303270"/>
            <a:ext cx="274320" cy="274320"/>
          </a:xfrm>
          <a:prstGeom prst="ellipse">
            <a:avLst/>
          </a:prstGeom>
          <a:solidFill>
            <a:srgbClr val="1D2A5C"/>
          </a:solidFill>
          <a:ln/>
        </p:spPr>
      </p:sp>
      <p:sp>
        <p:nvSpPr>
          <p:cNvPr id="22" name="Text 19"/>
          <p:cNvSpPr/>
          <p:nvPr/>
        </p:nvSpPr>
        <p:spPr>
          <a:xfrm>
            <a:off x="502920" y="33032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Shape 20"/>
          <p:cNvSpPr/>
          <p:nvPr/>
        </p:nvSpPr>
        <p:spPr>
          <a:xfrm>
            <a:off x="886968" y="3303270"/>
            <a:ext cx="658368" cy="274320"/>
          </a:xfrm>
          <a:prstGeom prst="roundRect">
            <a:avLst>
              <a:gd name="adj" fmla="val 50000"/>
            </a:avLst>
          </a:prstGeom>
          <a:solidFill>
            <a:srgbClr val="E9F6F5"/>
          </a:solidFill>
          <a:ln w="9525">
            <a:solidFill>
              <a:srgbClr val="00A79D"/>
            </a:solidFill>
            <a:prstDash val="solid"/>
          </a:ln>
        </p:spPr>
      </p:sp>
      <p:sp>
        <p:nvSpPr>
          <p:cNvPr id="24" name="Text 21"/>
          <p:cNvSpPr/>
          <p:nvPr/>
        </p:nvSpPr>
        <p:spPr>
          <a:xfrm>
            <a:off x="886968" y="3303270"/>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25" name="Text 22"/>
          <p:cNvSpPr/>
          <p:nvPr/>
        </p:nvSpPr>
        <p:spPr>
          <a:xfrm>
            <a:off x="1673352" y="3165348"/>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Implement DatesQCDataset; find and fix the planted colour bug; add R&gt;B assert</a:t>
            </a:r>
            <a:endParaRPr lang="en-US" sz="1150" dirty="0"/>
          </a:p>
        </p:txBody>
      </p:sp>
      <p:sp>
        <p:nvSpPr>
          <p:cNvPr id="26" name="Shape 23"/>
          <p:cNvSpPr/>
          <p:nvPr/>
        </p:nvSpPr>
        <p:spPr>
          <a:xfrm>
            <a:off x="502920" y="3944874"/>
            <a:ext cx="274320" cy="274320"/>
          </a:xfrm>
          <a:prstGeom prst="ellipse">
            <a:avLst/>
          </a:prstGeom>
          <a:solidFill>
            <a:srgbClr val="1D2A5C"/>
          </a:solidFill>
          <a:ln/>
        </p:spPr>
      </p:sp>
      <p:sp>
        <p:nvSpPr>
          <p:cNvPr id="27" name="Text 24"/>
          <p:cNvSpPr/>
          <p:nvPr/>
        </p:nvSpPr>
        <p:spPr>
          <a:xfrm>
            <a:off x="502920" y="39448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5"/>
          <p:cNvSpPr/>
          <p:nvPr/>
        </p:nvSpPr>
        <p:spPr>
          <a:xfrm>
            <a:off x="886968" y="3944874"/>
            <a:ext cx="658368" cy="274320"/>
          </a:xfrm>
          <a:prstGeom prst="roundRect">
            <a:avLst>
              <a:gd name="adj" fmla="val 50000"/>
            </a:avLst>
          </a:prstGeom>
          <a:solidFill>
            <a:srgbClr val="E9F6F5"/>
          </a:solidFill>
          <a:ln w="9525">
            <a:solidFill>
              <a:srgbClr val="00A79D"/>
            </a:solidFill>
            <a:prstDash val="solid"/>
          </a:ln>
        </p:spPr>
      </p:sp>
      <p:sp>
        <p:nvSpPr>
          <p:cNvPr id="29" name="Text 26"/>
          <p:cNvSpPr/>
          <p:nvPr/>
        </p:nvSpPr>
        <p:spPr>
          <a:xfrm>
            <a:off x="886968" y="3944874"/>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30" name="Text 27"/>
          <p:cNvSpPr/>
          <p:nvPr/>
        </p:nvSpPr>
        <p:spPr>
          <a:xfrm>
            <a:off x="1673352" y="3806952"/>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Implement train_tf()/eval_tf(); comment each transform with its line variation</a:t>
            </a:r>
            <a:endParaRPr lang="en-US" sz="1150" dirty="0"/>
          </a:p>
        </p:txBody>
      </p:sp>
      <p:sp>
        <p:nvSpPr>
          <p:cNvPr id="31" name="Shape 28"/>
          <p:cNvSpPr/>
          <p:nvPr/>
        </p:nvSpPr>
        <p:spPr>
          <a:xfrm>
            <a:off x="502920" y="4586478"/>
            <a:ext cx="274320" cy="274320"/>
          </a:xfrm>
          <a:prstGeom prst="ellipse">
            <a:avLst/>
          </a:prstGeom>
          <a:solidFill>
            <a:srgbClr val="1D2A5C"/>
          </a:solidFill>
          <a:ln/>
        </p:spPr>
      </p:sp>
      <p:sp>
        <p:nvSpPr>
          <p:cNvPr id="32" name="Text 29"/>
          <p:cNvSpPr/>
          <p:nvPr/>
        </p:nvSpPr>
        <p:spPr>
          <a:xfrm>
            <a:off x="502920" y="458647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Shape 30"/>
          <p:cNvSpPr/>
          <p:nvPr/>
        </p:nvSpPr>
        <p:spPr>
          <a:xfrm>
            <a:off x="886968" y="4586478"/>
            <a:ext cx="658368" cy="274320"/>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886968" y="4586478"/>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35" name="Text 32"/>
          <p:cNvSpPr/>
          <p:nvPr/>
        </p:nvSpPr>
        <p:spPr>
          <a:xfrm>
            <a:off x="1673352" y="4448556"/>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Run dataset_stats.py; record mean/std + throughput at workers 0/4/8</a:t>
            </a:r>
            <a:endParaRPr lang="en-US" sz="1150" dirty="0"/>
          </a:p>
        </p:txBody>
      </p:sp>
      <p:sp>
        <p:nvSpPr>
          <p:cNvPr id="36" name="Shape 33"/>
          <p:cNvSpPr/>
          <p:nvPr/>
        </p:nvSpPr>
        <p:spPr>
          <a:xfrm>
            <a:off x="502920" y="5228082"/>
            <a:ext cx="274320" cy="274320"/>
          </a:xfrm>
          <a:prstGeom prst="ellipse">
            <a:avLst/>
          </a:prstGeom>
          <a:solidFill>
            <a:srgbClr val="1D2A5C"/>
          </a:solidFill>
          <a:ln/>
        </p:spPr>
      </p:sp>
      <p:sp>
        <p:nvSpPr>
          <p:cNvPr id="37" name="Text 34"/>
          <p:cNvSpPr/>
          <p:nvPr/>
        </p:nvSpPr>
        <p:spPr>
          <a:xfrm>
            <a:off x="502920" y="52280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Shape 35"/>
          <p:cNvSpPr/>
          <p:nvPr/>
        </p:nvSpPr>
        <p:spPr>
          <a:xfrm>
            <a:off x="886968" y="5228082"/>
            <a:ext cx="658368" cy="274320"/>
          </a:xfrm>
          <a:prstGeom prst="roundRect">
            <a:avLst>
              <a:gd name="adj" fmla="val 50000"/>
            </a:avLst>
          </a:prstGeom>
          <a:solidFill>
            <a:srgbClr val="E9F6F5"/>
          </a:solidFill>
          <a:ln w="9525">
            <a:solidFill>
              <a:srgbClr val="00A79D"/>
            </a:solidFill>
            <a:prstDash val="solid"/>
          </a:ln>
        </p:spPr>
      </p:sp>
      <p:sp>
        <p:nvSpPr>
          <p:cNvPr id="39" name="Text 36"/>
          <p:cNvSpPr/>
          <p:nvPr/>
        </p:nvSpPr>
        <p:spPr>
          <a:xfrm>
            <a:off x="886968" y="5228082"/>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40" name="Text 37"/>
          <p:cNvSpPr/>
          <p:nvPr/>
        </p:nvSpPr>
        <p:spPr>
          <a:xfrm>
            <a:off x="1673352" y="5090160"/>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Run aug_audit.py; find one over-strong sample; adjust one parameter, justified</a:t>
            </a:r>
            <a:endParaRPr lang="en-US" sz="1150" dirty="0"/>
          </a:p>
        </p:txBody>
      </p:sp>
      <p:sp>
        <p:nvSpPr>
          <p:cNvPr id="41" name="Shape 38"/>
          <p:cNvSpPr/>
          <p:nvPr/>
        </p:nvSpPr>
        <p:spPr>
          <a:xfrm>
            <a:off x="502920" y="5869686"/>
            <a:ext cx="274320" cy="274320"/>
          </a:xfrm>
          <a:prstGeom prst="ellipse">
            <a:avLst/>
          </a:prstGeom>
          <a:solidFill>
            <a:srgbClr val="1D2A5C"/>
          </a:solidFill>
          <a:ln/>
        </p:spPr>
      </p:sp>
      <p:sp>
        <p:nvSpPr>
          <p:cNvPr id="42" name="Text 39"/>
          <p:cNvSpPr/>
          <p:nvPr/>
        </p:nvSpPr>
        <p:spPr>
          <a:xfrm>
            <a:off x="502920" y="58696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3" name="Shape 40"/>
          <p:cNvSpPr/>
          <p:nvPr/>
        </p:nvSpPr>
        <p:spPr>
          <a:xfrm>
            <a:off x="886968" y="5869686"/>
            <a:ext cx="658368" cy="274320"/>
          </a:xfrm>
          <a:prstGeom prst="roundRect">
            <a:avLst>
              <a:gd name="adj" fmla="val 50000"/>
            </a:avLst>
          </a:prstGeom>
          <a:solidFill>
            <a:srgbClr val="E9F6F5"/>
          </a:solidFill>
          <a:ln w="9525">
            <a:solidFill>
              <a:srgbClr val="00A79D"/>
            </a:solidFill>
            <a:prstDash val="solid"/>
          </a:ln>
        </p:spPr>
      </p:sp>
      <p:sp>
        <p:nvSpPr>
          <p:cNvPr id="44" name="Text 41"/>
          <p:cNvSpPr/>
          <p:nvPr/>
        </p:nvSpPr>
        <p:spPr>
          <a:xfrm>
            <a:off x="886968" y="586968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5 min</a:t>
            </a:r>
            <a:endParaRPr lang="en-US" sz="900" dirty="0"/>
          </a:p>
        </p:txBody>
      </p:sp>
      <p:sp>
        <p:nvSpPr>
          <p:cNvPr id="45" name="Text 42"/>
          <p:cNvSpPr/>
          <p:nvPr/>
        </p:nvSpPr>
        <p:spPr>
          <a:xfrm>
            <a:off x="1673352" y="573176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Commit: feat(data): dates-qc pipeline with audited augmentation policy</a:t>
            </a:r>
            <a:endParaRPr lang="en-US" sz="1150" dirty="0"/>
          </a:p>
        </p:txBody>
      </p:sp>
      <p:sp>
        <p:nvSpPr>
          <p:cNvPr id="46" name="Shape 43"/>
          <p:cNvSpPr/>
          <p:nvPr/>
        </p:nvSpPr>
        <p:spPr>
          <a:xfrm>
            <a:off x="7635240" y="2505456"/>
            <a:ext cx="4050792" cy="3849624"/>
          </a:xfrm>
          <a:prstGeom prst="roundRect">
            <a:avLst>
              <a:gd name="adj" fmla="val 2375"/>
            </a:avLst>
          </a:prstGeom>
          <a:solidFill>
            <a:srgbClr val="0F172A"/>
          </a:solidFill>
          <a:ln/>
        </p:spPr>
      </p:sp>
      <p:sp>
        <p:nvSpPr>
          <p:cNvPr id="47" name="Text 44"/>
          <p:cNvSpPr/>
          <p:nvPr/>
        </p:nvSpPr>
        <p:spPr>
          <a:xfrm>
            <a:off x="7818120" y="2615184"/>
            <a:ext cx="3685032" cy="237744"/>
          </a:xfrm>
          <a:prstGeom prst="rect">
            <a:avLst/>
          </a:prstGeom>
          <a:noFill/>
          <a:ln/>
        </p:spPr>
        <p:txBody>
          <a:bodyPr wrap="square" lIns="0" tIns="0" rIns="0" bIns="0" rtlCol="0" anchor="ctr"/>
          <a:lstStyle/>
          <a:p>
            <a:pPr indent="0" marL="0">
              <a:buNone/>
            </a:pPr>
            <a:r>
              <a:rPr lang="en-US" sz="900" b="1" spc="200" kern="0" dirty="0">
                <a:solidFill>
                  <a:srgbClr val="5EEAD4"/>
                </a:solidFill>
                <a:latin typeface="Calibri" pitchFamily="34" charset="0"/>
                <a:ea typeface="Calibri" pitchFamily="34" charset="-122"/>
                <a:cs typeface="Calibri" pitchFamily="34" charset="-120"/>
              </a:rPr>
              <a:t>EXPECTED OUTPUT</a:t>
            </a:r>
            <a:endParaRPr lang="en-US" sz="900" dirty="0"/>
          </a:p>
        </p:txBody>
      </p:sp>
      <p:sp>
        <p:nvSpPr>
          <p:cNvPr id="48" name="Text 45"/>
          <p:cNvSpPr/>
          <p:nvPr/>
        </p:nvSpPr>
        <p:spPr>
          <a:xfrm>
            <a:off x="7818120" y="2907792"/>
            <a:ext cx="3703320" cy="3300984"/>
          </a:xfrm>
          <a:prstGeom prst="rect">
            <a:avLst/>
          </a:prstGeom>
          <a:noFill/>
          <a:ln/>
        </p:spPr>
        <p:txBody>
          <a:bodyPr wrap="square" lIns="0" tIns="0" rIns="0" bIns="0" rtlCol="0" anchor="t"/>
          <a:lstStyle/>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scripts/dataset_stats.py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mean=[0.412, 0.331, 0.247]</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std=[0.201, 0.178, 0.154]</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throughput: 118 img/s (workers=0)</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-&gt; 465 img/s (workers=8)</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reports/aug_audit.png written</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(32 samples, labels legible)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1 troubleshooting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استكشاف أخطاء المختبر 1</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541429"/>
                <a:gridCol w="3425285"/>
                <a:gridCol w="4219141"/>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Grid images look blue/orange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BGR not converted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cvtColor(..., COLOR_BGR2RGB) at I/O boundary</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Throughput stuck at ~120 img/s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num_workers=0 (the default)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Raise workers; Windows: __main__ guard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Normalize error: expected float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ToDtype missing / order wrong</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Convert dtype before Normalize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Val metrics change run-to-run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Augmentation applied to val</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Use eval_tf() for val/test loaders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1 quiz</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اختبار الوحدة الأولى</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 QUIZ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26</a:t>
            </a:r>
            <a:endParaRPr lang="en-US" sz="900" dirty="0"/>
          </a:p>
        </p:txBody>
      </p:sp>
      <p:sp>
        <p:nvSpPr>
          <p:cNvPr id="7" name="Shape 4"/>
          <p:cNvSpPr/>
          <p:nvPr/>
        </p:nvSpPr>
        <p:spPr>
          <a:xfrm>
            <a:off x="502920" y="1417320"/>
            <a:ext cx="11183112" cy="801014"/>
          </a:xfrm>
          <a:prstGeom prst="roundRect">
            <a:avLst>
              <a:gd name="adj" fmla="val 9132"/>
            </a:avLst>
          </a:prstGeom>
          <a:solidFill>
            <a:srgbClr val="F2F6F9"/>
          </a:solidFill>
          <a:ln w="9525">
            <a:solidFill>
              <a:srgbClr val="D9E2EA"/>
            </a:solidFill>
            <a:prstDash val="solid"/>
          </a:ln>
        </p:spPr>
      </p:sp>
      <p:sp>
        <p:nvSpPr>
          <p:cNvPr id="8" name="Shape 5"/>
          <p:cNvSpPr/>
          <p:nvPr/>
        </p:nvSpPr>
        <p:spPr>
          <a:xfrm>
            <a:off x="649224" y="1644091"/>
            <a:ext cx="347472" cy="347472"/>
          </a:xfrm>
          <a:prstGeom prst="ellipse">
            <a:avLst/>
          </a:prstGeom>
          <a:solidFill>
            <a:srgbClr val="F58220"/>
          </a:solidFill>
          <a:ln/>
        </p:spPr>
      </p:sp>
      <p:sp>
        <p:nvSpPr>
          <p:cNvPr id="9" name="Text 6"/>
          <p:cNvSpPr/>
          <p:nvPr/>
        </p:nvSpPr>
        <p:spPr>
          <a:xfrm>
            <a:off x="649224" y="1644091"/>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p>
        </p:txBody>
      </p:sp>
      <p:sp>
        <p:nvSpPr>
          <p:cNvPr id="10" name="Text 7"/>
          <p:cNvSpPr/>
          <p:nvPr/>
        </p:nvSpPr>
        <p:spPr>
          <a:xfrm>
            <a:off x="1161288" y="141732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OpenCV loads channel order ___ ; torchvision models expect ___</a:t>
            </a:r>
            <a:endParaRPr lang="en-US" sz="1250" dirty="0"/>
          </a:p>
        </p:txBody>
      </p:sp>
      <p:sp>
        <p:nvSpPr>
          <p:cNvPr id="11" name="Shape 8"/>
          <p:cNvSpPr/>
          <p:nvPr/>
        </p:nvSpPr>
        <p:spPr>
          <a:xfrm>
            <a:off x="502920" y="2346350"/>
            <a:ext cx="11183112" cy="801014"/>
          </a:xfrm>
          <a:prstGeom prst="roundRect">
            <a:avLst>
              <a:gd name="adj" fmla="val 9132"/>
            </a:avLst>
          </a:prstGeom>
          <a:solidFill>
            <a:srgbClr val="F2F6F9"/>
          </a:solidFill>
          <a:ln w="9525">
            <a:solidFill>
              <a:srgbClr val="D9E2EA"/>
            </a:solidFill>
            <a:prstDash val="solid"/>
          </a:ln>
        </p:spPr>
      </p:sp>
      <p:sp>
        <p:nvSpPr>
          <p:cNvPr id="12" name="Shape 9"/>
          <p:cNvSpPr/>
          <p:nvPr/>
        </p:nvSpPr>
        <p:spPr>
          <a:xfrm>
            <a:off x="649224" y="2573122"/>
            <a:ext cx="347472" cy="347472"/>
          </a:xfrm>
          <a:prstGeom prst="ellipse">
            <a:avLst/>
          </a:prstGeom>
          <a:solidFill>
            <a:srgbClr val="F58220"/>
          </a:solidFill>
          <a:ln/>
        </p:spPr>
      </p:sp>
      <p:sp>
        <p:nvSpPr>
          <p:cNvPr id="13" name="Text 10"/>
          <p:cNvSpPr/>
          <p:nvPr/>
        </p:nvSpPr>
        <p:spPr>
          <a:xfrm>
            <a:off x="649224" y="257312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p>
        </p:txBody>
      </p:sp>
      <p:sp>
        <p:nvSpPr>
          <p:cNvPr id="14" name="Text 11"/>
          <p:cNvSpPr/>
          <p:nvPr/>
        </p:nvSpPr>
        <p:spPr>
          <a:xfrm>
            <a:off x="1161288" y="234635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must train and eval transforms be different objects?</a:t>
            </a:r>
            <a:endParaRPr lang="en-US" sz="1250" dirty="0"/>
          </a:p>
        </p:txBody>
      </p:sp>
      <p:sp>
        <p:nvSpPr>
          <p:cNvPr id="15" name="Shape 12"/>
          <p:cNvSpPr/>
          <p:nvPr/>
        </p:nvSpPr>
        <p:spPr>
          <a:xfrm>
            <a:off x="502920" y="3275381"/>
            <a:ext cx="11183112" cy="801014"/>
          </a:xfrm>
          <a:prstGeom prst="roundRect">
            <a:avLst>
              <a:gd name="adj" fmla="val 9132"/>
            </a:avLst>
          </a:prstGeom>
          <a:solidFill>
            <a:srgbClr val="F2F6F9"/>
          </a:solidFill>
          <a:ln w="9525">
            <a:solidFill>
              <a:srgbClr val="D9E2EA"/>
            </a:solidFill>
            <a:prstDash val="solid"/>
          </a:ln>
        </p:spPr>
      </p:sp>
      <p:sp>
        <p:nvSpPr>
          <p:cNvPr id="16" name="Shape 13"/>
          <p:cNvSpPr/>
          <p:nvPr/>
        </p:nvSpPr>
        <p:spPr>
          <a:xfrm>
            <a:off x="649224" y="3502152"/>
            <a:ext cx="347472" cy="347472"/>
          </a:xfrm>
          <a:prstGeom prst="ellipse">
            <a:avLst/>
          </a:prstGeom>
          <a:solidFill>
            <a:srgbClr val="F58220"/>
          </a:solidFill>
          <a:ln/>
        </p:spPr>
      </p:sp>
      <p:sp>
        <p:nvSpPr>
          <p:cNvPr id="17" name="Text 14"/>
          <p:cNvSpPr/>
          <p:nvPr/>
        </p:nvSpPr>
        <p:spPr>
          <a:xfrm>
            <a:off x="649224" y="350215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p>
        </p:txBody>
      </p:sp>
      <p:sp>
        <p:nvSpPr>
          <p:cNvPr id="18" name="Text 15"/>
          <p:cNvSpPr/>
          <p:nvPr/>
        </p:nvSpPr>
        <p:spPr>
          <a:xfrm>
            <a:off x="1161288" y="327538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Splitting conveyor frames randomly inflates metrics because ___</a:t>
            </a:r>
            <a:endParaRPr lang="en-US" sz="1250" dirty="0"/>
          </a:p>
        </p:txBody>
      </p:sp>
      <p:sp>
        <p:nvSpPr>
          <p:cNvPr id="19" name="Shape 16"/>
          <p:cNvSpPr/>
          <p:nvPr/>
        </p:nvSpPr>
        <p:spPr>
          <a:xfrm>
            <a:off x="502920" y="4204411"/>
            <a:ext cx="11183112" cy="801014"/>
          </a:xfrm>
          <a:prstGeom prst="roundRect">
            <a:avLst>
              <a:gd name="adj" fmla="val 9132"/>
            </a:avLst>
          </a:prstGeom>
          <a:solidFill>
            <a:srgbClr val="F2F6F9"/>
          </a:solidFill>
          <a:ln w="9525">
            <a:solidFill>
              <a:srgbClr val="D9E2EA"/>
            </a:solidFill>
            <a:prstDash val="solid"/>
          </a:ln>
        </p:spPr>
      </p:sp>
      <p:sp>
        <p:nvSpPr>
          <p:cNvPr id="20" name="Shape 17"/>
          <p:cNvSpPr/>
          <p:nvPr/>
        </p:nvSpPr>
        <p:spPr>
          <a:xfrm>
            <a:off x="649224" y="4431182"/>
            <a:ext cx="347472" cy="347472"/>
          </a:xfrm>
          <a:prstGeom prst="ellipse">
            <a:avLst/>
          </a:prstGeom>
          <a:solidFill>
            <a:srgbClr val="F58220"/>
          </a:solidFill>
          <a:ln/>
        </p:spPr>
      </p:sp>
      <p:sp>
        <p:nvSpPr>
          <p:cNvPr id="21" name="Text 18"/>
          <p:cNvSpPr/>
          <p:nvPr/>
        </p:nvSpPr>
        <p:spPr>
          <a:xfrm>
            <a:off x="649224" y="443118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p>
        </p:txBody>
      </p:sp>
      <p:sp>
        <p:nvSpPr>
          <p:cNvPr id="22" name="Text 19"/>
          <p:cNvSpPr/>
          <p:nvPr/>
        </p:nvSpPr>
        <p:spPr>
          <a:xfrm>
            <a:off x="1161288" y="420441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Which normalisation statistics when fine-tuning from ImageNet weights?</a:t>
            </a:r>
            <a:endParaRPr lang="en-US" sz="1250" dirty="0"/>
          </a:p>
        </p:txBody>
      </p:sp>
      <p:sp>
        <p:nvSpPr>
          <p:cNvPr id="23" name="Shape 20"/>
          <p:cNvSpPr/>
          <p:nvPr/>
        </p:nvSpPr>
        <p:spPr>
          <a:xfrm>
            <a:off x="502920" y="5133442"/>
            <a:ext cx="11183112" cy="801014"/>
          </a:xfrm>
          <a:prstGeom prst="roundRect">
            <a:avLst>
              <a:gd name="adj" fmla="val 9132"/>
            </a:avLst>
          </a:prstGeom>
          <a:solidFill>
            <a:srgbClr val="F2F6F9"/>
          </a:solidFill>
          <a:ln w="9525">
            <a:solidFill>
              <a:srgbClr val="D9E2EA"/>
            </a:solidFill>
            <a:prstDash val="solid"/>
          </a:ln>
        </p:spPr>
      </p:sp>
      <p:sp>
        <p:nvSpPr>
          <p:cNvPr id="24" name="Shape 21"/>
          <p:cNvSpPr/>
          <p:nvPr/>
        </p:nvSpPr>
        <p:spPr>
          <a:xfrm>
            <a:off x="649224" y="5360213"/>
            <a:ext cx="347472" cy="347472"/>
          </a:xfrm>
          <a:prstGeom prst="ellipse">
            <a:avLst/>
          </a:prstGeom>
          <a:solidFill>
            <a:srgbClr val="F58220"/>
          </a:solidFill>
          <a:ln/>
        </p:spPr>
      </p:sp>
      <p:sp>
        <p:nvSpPr>
          <p:cNvPr id="25" name="Text 22"/>
          <p:cNvSpPr/>
          <p:nvPr/>
        </p:nvSpPr>
        <p:spPr>
          <a:xfrm>
            <a:off x="649224" y="5360213"/>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Q5</a:t>
            </a:r>
            <a:endParaRPr lang="en-US" sz="1050" dirty="0"/>
          </a:p>
        </p:txBody>
      </p:sp>
      <p:sp>
        <p:nvSpPr>
          <p:cNvPr id="26" name="Text 23"/>
          <p:cNvSpPr/>
          <p:nvPr/>
        </p:nvSpPr>
        <p:spPr>
          <a:xfrm>
            <a:off x="1161288" y="5133442"/>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True/False: rotating a chest X-ray 180 deg is valid because rotation is geometric</a:t>
            </a:r>
            <a:endParaRPr lang="en-US" sz="1250" dirty="0"/>
          </a:p>
        </p:txBody>
      </p:sp>
      <p:sp>
        <p:nvSpPr>
          <p:cNvPr id="27" name="Text 24"/>
          <p:cNvSpPr/>
          <p:nvPr/>
        </p:nvSpPr>
        <p:spPr>
          <a:xfrm>
            <a:off x="502920" y="6099048"/>
            <a:ext cx="11183112" cy="274320"/>
          </a:xfrm>
          <a:prstGeom prst="rect">
            <a:avLst/>
          </a:prstGeom>
          <a:noFill/>
          <a:ln/>
        </p:spPr>
        <p:txBody>
          <a:bodyPr wrap="square" lIns="0" tIns="0" rIns="0" bIns="0" rtlCol="0" anchor="ctr"/>
          <a:lstStyle/>
          <a:p>
            <a:pPr algn="r" indent="0" marL="0">
              <a:buNone/>
            </a:pPr>
            <a:r>
              <a:rPr lang="en-US" sz="1000" i="1" dirty="0">
                <a:solidFill>
                  <a:srgbClr val="8A96A6"/>
                </a:solidFill>
                <a:latin typeface="Calibri" pitchFamily="34" charset="0"/>
                <a:ea typeface="Calibri" pitchFamily="34" charset="-122"/>
                <a:cs typeface="Calibri" pitchFamily="34" charset="-120"/>
              </a:rPr>
              <a:t>Answers and marking guidance: speaker notes below ▼</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Beyond the lab: exercises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تمارين إضافية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27</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Debugging: sim-interp-skew</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Training resized bicubic (PIL), deployment nearest (OpenCV): 3.1-pt accuracy gap. Diff tensors from both paths on one image; unify via the contract module</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Code review</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PR normalises inside __getitem__ with hard-coded stats, ColorJitters the val loader, random_splits by frame. Three findings + production consequence of each</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hardware vs software</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line manager offers diffuse lighting + locked exposure. Which augmentations can you remove, and why is removing them good?</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PDPL</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Workers' hands appear in frame. Implications for storage, annotation-vendor access, and augmentation of personal data?</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Case: chest X-rays at a Riyadh hospital group</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دراسة حالة: الأشعة السينية في الرياض</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 CASE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28</a:t>
            </a:r>
            <a:endParaRPr lang="en-US" sz="900" dirty="0"/>
          </a:p>
        </p:txBody>
      </p:sp>
      <p:sp>
        <p:nvSpPr>
          <p:cNvPr id="7" name="Text 4"/>
          <p:cNvSpPr/>
          <p:nvPr/>
        </p:nvSpPr>
        <p:spPr>
          <a:xfrm>
            <a:off x="502920" y="138988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SCENARIO</a:t>
            </a:r>
            <a:endParaRPr lang="en-US" sz="1000" dirty="0"/>
          </a:p>
        </p:txBody>
      </p:sp>
      <p:sp>
        <p:nvSpPr>
          <p:cNvPr id="8" name="Text 5"/>
          <p:cNvSpPr/>
          <p:nvPr/>
        </p:nvSpPr>
        <p:spPr>
          <a:xfrm>
            <a:off x="502920" y="1645920"/>
            <a:ext cx="6035040" cy="896112"/>
          </a:xfrm>
          <a:prstGeom prst="rect">
            <a:avLst/>
          </a:prstGeom>
          <a:noFill/>
          <a:ln/>
        </p:spPr>
        <p:txBody>
          <a:bodyPr wrap="square" lIns="0" tIns="0" rIns="0" bIns="0" rtlCol="0" anchor="t"/>
          <a:lstStyle/>
          <a:p>
            <a:pPr indent="0" marL="0">
              <a:buNone/>
            </a:pPr>
            <a:r>
              <a:rPr lang="en-US" sz="1150" dirty="0">
                <a:solidFill>
                  <a:srgbClr val="23293B"/>
                </a:solidFill>
                <a:latin typeface="Calibri" pitchFamily="34" charset="0"/>
                <a:ea typeface="Calibri" pitchFamily="34" charset="-122"/>
                <a:cs typeface="Calibri" pitchFamily="34" charset="-120"/>
              </a:rPr>
              <a:t>A three-hospital group deploys a pneumonia-triage classifier trained on public datasets plus local scans. After a scanner fleet upgrade at one site, sensitivity drops from 0.91 to 0.74 — only at that site — and nobody notices for five weeks because aggregate metrics stay acceptable.</a:t>
            </a:r>
            <a:endParaRPr lang="en-US" sz="1150" dirty="0"/>
          </a:p>
        </p:txBody>
      </p:sp>
      <p:sp>
        <p:nvSpPr>
          <p:cNvPr id="9" name="Text 6"/>
          <p:cNvSpPr/>
          <p:nvPr/>
        </p:nvSpPr>
        <p:spPr>
          <a:xfrm>
            <a:off x="502920" y="2706624"/>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BUSINESS CONTEXT</a:t>
            </a:r>
            <a:endParaRPr lang="en-US" sz="1000" dirty="0"/>
          </a:p>
        </p:txBody>
      </p:sp>
      <p:sp>
        <p:nvSpPr>
          <p:cNvPr id="10" name="Text 7"/>
          <p:cNvSpPr/>
          <p:nvPr/>
        </p:nvSpPr>
        <p:spPr>
          <a:xfrm>
            <a:off x="502920" y="2962656"/>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Radiology backlog is why the model exists; a silent per-site failure re-creates the backlog behind green dashboards. The health regulator's AI guidance requires documented input-processing controls and monitoring evidence.</a:t>
            </a:r>
            <a:endParaRPr lang="en-US" sz="1150" dirty="0"/>
          </a:p>
        </p:txBody>
      </p:sp>
      <p:sp>
        <p:nvSpPr>
          <p:cNvPr id="11" name="Text 8"/>
          <p:cNvSpPr/>
          <p:nvPr/>
        </p:nvSpPr>
        <p:spPr>
          <a:xfrm>
            <a:off x="502920" y="381304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TECHNICAL CHALLENGE</a:t>
            </a:r>
            <a:endParaRPr lang="en-US" sz="1000" dirty="0"/>
          </a:p>
        </p:txBody>
      </p:sp>
      <p:sp>
        <p:nvSpPr>
          <p:cNvPr id="12" name="Text 9"/>
          <p:cNvSpPr/>
          <p:nvPr/>
        </p:nvSpPr>
        <p:spPr>
          <a:xfrm>
            <a:off x="502920" y="4069080"/>
            <a:ext cx="6035040" cy="47548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Diagnose the site-specific degradation and design a preprocessing contract plus monitoring scheme that catches the next drift within a day, not five weeks.</a:t>
            </a:r>
            <a:endParaRPr lang="en-US" sz="1150" dirty="0"/>
          </a:p>
        </p:txBody>
      </p:sp>
      <p:sp>
        <p:nvSpPr>
          <p:cNvPr id="13" name="Shape 10"/>
          <p:cNvSpPr/>
          <p:nvPr/>
        </p:nvSpPr>
        <p:spPr>
          <a:xfrm>
            <a:off x="6858000" y="1389888"/>
            <a:ext cx="4828032" cy="2184684"/>
          </a:xfrm>
          <a:prstGeom prst="roundRect">
            <a:avLst>
              <a:gd name="adj" fmla="val 3767"/>
            </a:avLst>
          </a:prstGeom>
          <a:solidFill>
            <a:srgbClr val="F2F6F9"/>
          </a:solidFill>
          <a:ln w="12700">
            <a:solidFill>
              <a:srgbClr val="D9E2EA"/>
            </a:solidFill>
            <a:prstDash val="solid"/>
          </a:ln>
        </p:spPr>
      </p:sp>
      <p:sp>
        <p:nvSpPr>
          <p:cNvPr id="14" name="Text 11"/>
          <p:cNvSpPr/>
          <p:nvPr/>
        </p:nvSpPr>
        <p:spPr>
          <a:xfrm>
            <a:off x="7040880" y="1481328"/>
            <a:ext cx="4462272" cy="237744"/>
          </a:xfrm>
          <a:prstGeom prst="rect">
            <a:avLst/>
          </a:prstGeom>
          <a:noFill/>
          <a:ln/>
        </p:spPr>
        <p:txBody>
          <a:bodyPr wrap="square" lIns="0" tIns="0" rIns="0" bIns="0" rtlCol="0" anchor="ctr"/>
          <a:lstStyle/>
          <a:p>
            <a:pPr indent="0" marL="0">
              <a:buNone/>
            </a:pPr>
            <a:r>
              <a:rPr lang="en-US" sz="950" b="1" spc="200" kern="0" dirty="0">
                <a:solidFill>
                  <a:srgbClr val="F58220"/>
                </a:solidFill>
                <a:latin typeface="Calibri" pitchFamily="34" charset="0"/>
                <a:ea typeface="Calibri" pitchFamily="34" charset="-122"/>
                <a:cs typeface="Calibri" pitchFamily="34" charset="-120"/>
              </a:rPr>
              <a:t>CONSTRAINTS</a:t>
            </a:r>
            <a:endParaRPr lang="en-US" sz="950" dirty="0"/>
          </a:p>
        </p:txBody>
      </p:sp>
      <p:sp>
        <p:nvSpPr>
          <p:cNvPr id="15" name="Text 12"/>
          <p:cNvSpPr/>
          <p:nvPr/>
        </p:nvSpPr>
        <p:spPr>
          <a:xfrm>
            <a:off x="7095744" y="1755648"/>
            <a:ext cx="4370832" cy="1681764"/>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Three DICOM vendors, differing bit depths</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No patient images leave the premises</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Flip / strong intensity aug invalid</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Fix must not require full retraining</a:t>
            </a:r>
            <a:endParaRPr lang="en-US" sz="1050" dirty="0"/>
          </a:p>
        </p:txBody>
      </p:sp>
      <p:sp>
        <p:nvSpPr>
          <p:cNvPr id="16" name="Shape 13"/>
          <p:cNvSpPr/>
          <p:nvPr/>
        </p:nvSpPr>
        <p:spPr>
          <a:xfrm>
            <a:off x="6858000" y="3803172"/>
            <a:ext cx="4828032" cy="2551908"/>
          </a:xfrm>
          <a:prstGeom prst="roundRect">
            <a:avLst>
              <a:gd name="adj" fmla="val 3225"/>
            </a:avLst>
          </a:prstGeom>
          <a:solidFill>
            <a:srgbClr val="E9F6F5"/>
          </a:solidFill>
          <a:ln w="12700">
            <a:solidFill>
              <a:srgbClr val="00A79D"/>
            </a:solidFill>
            <a:prstDash val="solid"/>
          </a:ln>
        </p:spPr>
      </p:sp>
      <p:sp>
        <p:nvSpPr>
          <p:cNvPr id="17" name="Text 14"/>
          <p:cNvSpPr/>
          <p:nvPr/>
        </p:nvSpPr>
        <p:spPr>
          <a:xfrm>
            <a:off x="7040880" y="3894612"/>
            <a:ext cx="4462272" cy="237744"/>
          </a:xfrm>
          <a:prstGeom prst="rect">
            <a:avLst/>
          </a:prstGeom>
          <a:noFill/>
          <a:ln/>
        </p:spPr>
        <p:txBody>
          <a:bodyPr wrap="square" lIns="0" tIns="0" rIns="0" bIns="0" rtlCol="0" anchor="ctr"/>
          <a:lstStyle/>
          <a:p>
            <a:pPr indent="0" marL="0">
              <a:buNone/>
            </a:pPr>
            <a:r>
              <a:rPr lang="en-US" sz="950" b="1" spc="200" kern="0" dirty="0">
                <a:solidFill>
                  <a:srgbClr val="00A79D"/>
                </a:solidFill>
                <a:latin typeface="Calibri" pitchFamily="34" charset="0"/>
                <a:ea typeface="Calibri" pitchFamily="34" charset="-122"/>
                <a:cs typeface="Calibri" pitchFamily="34" charset="-120"/>
              </a:rPr>
              <a:t>DISCUSSION QUESTIONS</a:t>
            </a:r>
            <a:endParaRPr lang="en-US" sz="950" dirty="0"/>
          </a:p>
        </p:txBody>
      </p:sp>
      <p:sp>
        <p:nvSpPr>
          <p:cNvPr id="18" name="Text 15"/>
          <p:cNvSpPr/>
          <p:nvPr/>
        </p:nvSpPr>
        <p:spPr>
          <a:xfrm>
            <a:off x="7095744" y="4168932"/>
            <a:ext cx="4370832" cy="2048988"/>
          </a:xfrm>
          <a:prstGeom prst="rect">
            <a:avLst/>
          </a:prstGeom>
          <a:noFill/>
          <a:ln/>
        </p:spPr>
        <p:txBody>
          <a:bodyPr wrap="square" lIns="0" tIns="0" rIns="0" bIns="0" rtlCol="0" anchor="t"/>
          <a:lstStyle/>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1.  Why did aggregate metrics hide a 17-point per-site drop?</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2.  Which augmentations are valid for chest X-rays — who signs off?</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3.  Design the input-fingerprint alert: stats, baseline, threshold</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4.  Argue the on-prem position against a cloud preprocessing offer</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M1 benchmarks &amp; targets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معايير وأهداف الوحدة 1</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1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29</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Reference ladder: workers=0 -&gt; 118 img/s (31% GPU); workers=4 -&gt; 361; workers=8 + pin_memory -&gt; 465 img/s (91% GPU).</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4007083"/>
                <a:gridCol w="3487718"/>
                <a:gridCol w="3691054"/>
              </a:tblGrid>
              <a:tr h="628323">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Target after M1</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measured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Loader throughput (224 px, bs=64)</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&gt;= 400 img/s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dataset_stats.py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GPU utilisation, training epoch</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&gt;= 85% mean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nvidia-smi dmon during Lab 2</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Train/eval transform separation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Enforced: two functions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code review checklist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Session-based split integrity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0 sessions span splits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manifest audit script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Augmentation justification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100% transforms commented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Duplicate leakage across splits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0 pairs (pHash dist &lt; 8)</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provided audit script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MODULE 2</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CNN Architectures &amp; Vision Transformers</a:t>
            </a:r>
            <a:endParaRPr lang="en-US" sz="3600" dirty="0"/>
          </a:p>
        </p:txBody>
      </p:sp>
      <p:sp>
        <p:nvSpPr>
          <p:cNvPr id="22" name="Text 19"/>
          <p:cNvSpPr/>
          <p:nvPr/>
        </p:nvSpPr>
        <p:spPr>
          <a:xfrm>
            <a:off x="777240" y="312724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بنى الشبكات الالتفافية ومحوّلات الرؤية</a:t>
            </a:r>
            <a:endParaRPr lang="en-US" sz="1700" dirty="0"/>
          </a:p>
        </p:txBody>
      </p:sp>
      <p:sp>
        <p:nvSpPr>
          <p:cNvPr id="23" name="Text 20"/>
          <p:cNvSpPr/>
          <p:nvPr/>
        </p:nvSpPr>
        <p:spPr>
          <a:xfrm>
            <a:off x="804672" y="370332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Convolutional inductive bias &amp; landmark CNNs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Vision transformers: patches, attention, trade-offs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Transfer learning: the staged fine-tuning recipe</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Training loops &amp; reading the curves</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MODULE OUTCOME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staged fine-tuned ResNet-50 beating the frozen baseline (macro-F1 0.86) plus a measured ResNet-vs-ViT row in BENCHMARKS.md</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Why transfer learning pays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لماذا يجدي التعلم بالنقل</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31</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Pre-train once (someone else), fine-tune everywhere (you). Almost no Saudi enterprise trains vision models from scratch.</a:t>
            </a:r>
            <a:endParaRPr lang="en-US" sz="1250" dirty="0"/>
          </a:p>
        </p:txBody>
      </p:sp>
      <p:sp>
        <p:nvSpPr>
          <p:cNvPr id="8" name="Shape 5"/>
          <p:cNvSpPr/>
          <p:nvPr/>
        </p:nvSpPr>
        <p:spPr>
          <a:xfrm>
            <a:off x="502920" y="3026664"/>
            <a:ext cx="2556434" cy="2194560"/>
          </a:xfrm>
          <a:prstGeom prst="roundRect">
            <a:avLst>
              <a:gd name="adj" fmla="val 3750"/>
            </a:avLst>
          </a:prstGeom>
          <a:solidFill>
            <a:srgbClr val="E9F6F5"/>
          </a:solidFill>
          <a:ln w="12700">
            <a:solidFill>
              <a:srgbClr val="D9E2EA"/>
            </a:solidFill>
            <a:prstDash val="solid"/>
          </a:ln>
        </p:spPr>
      </p:sp>
      <p:sp>
        <p:nvSpPr>
          <p:cNvPr id="9" name="Text 6"/>
          <p:cNvSpPr/>
          <p:nvPr/>
        </p:nvSpPr>
        <p:spPr>
          <a:xfrm>
            <a:off x="594360" y="3136392"/>
            <a:ext cx="2373554" cy="965606"/>
          </a:xfrm>
          <a:prstGeom prst="rect">
            <a:avLst/>
          </a:prstGeom>
          <a:noFill/>
          <a:ln/>
        </p:spPr>
        <p:txBody>
          <a:bodyPr wrap="square" lIns="0" tIns="0" rIns="0" bIns="0" rtlCol="0" anchor="ctr"/>
          <a:lstStyle/>
          <a:p>
            <a:pPr algn="ctr" indent="0" marL="0">
              <a:buNone/>
            </a:pPr>
            <a:r>
              <a:rPr lang="en-US" sz="3800" b="1" dirty="0">
                <a:solidFill>
                  <a:srgbClr val="00A79D"/>
                </a:solidFill>
                <a:latin typeface="Calibri" pitchFamily="34" charset="0"/>
                <a:ea typeface="Calibri" pitchFamily="34" charset="-122"/>
                <a:cs typeface="Calibri" pitchFamily="34" charset="-120"/>
              </a:rPr>
              <a:t>0.91</a:t>
            </a:r>
            <a:endParaRPr lang="en-US" sz="3800" dirty="0"/>
          </a:p>
        </p:txBody>
      </p:sp>
      <p:sp>
        <p:nvSpPr>
          <p:cNvPr id="10" name="Text 7"/>
          <p:cNvSpPr/>
          <p:nvPr/>
        </p:nvSpPr>
        <p:spPr>
          <a:xfrm>
            <a:off x="640080"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macro-F1 fine-tuned</a:t>
            </a:r>
            <a:endParaRPr lang="en-US" sz="1250" dirty="0"/>
          </a:p>
        </p:txBody>
      </p:sp>
      <p:sp>
        <p:nvSpPr>
          <p:cNvPr id="11" name="Text 8"/>
          <p:cNvSpPr/>
          <p:nvPr/>
        </p:nvSpPr>
        <p:spPr>
          <a:xfrm>
            <a:off x="640080"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ResNet-50 on 9,000 dates, 12 min</a:t>
            </a:r>
            <a:endParaRPr lang="en-US" sz="1000" dirty="0"/>
          </a:p>
        </p:txBody>
      </p:sp>
      <p:sp>
        <p:nvSpPr>
          <p:cNvPr id="12" name="Shape 9"/>
          <p:cNvSpPr/>
          <p:nvPr/>
        </p:nvSpPr>
        <p:spPr>
          <a:xfrm>
            <a:off x="3379394" y="3026664"/>
            <a:ext cx="2556434" cy="2194560"/>
          </a:xfrm>
          <a:prstGeom prst="roundRect">
            <a:avLst>
              <a:gd name="adj" fmla="val 3750"/>
            </a:avLst>
          </a:prstGeom>
          <a:solidFill>
            <a:srgbClr val="F2F6F9"/>
          </a:solidFill>
          <a:ln w="12700">
            <a:solidFill>
              <a:srgbClr val="D9E2EA"/>
            </a:solidFill>
            <a:prstDash val="solid"/>
          </a:ln>
        </p:spPr>
      </p:sp>
      <p:sp>
        <p:nvSpPr>
          <p:cNvPr id="13" name="Text 10"/>
          <p:cNvSpPr/>
          <p:nvPr/>
        </p:nvSpPr>
        <p:spPr>
          <a:xfrm>
            <a:off x="3470834" y="3136392"/>
            <a:ext cx="2373554" cy="965606"/>
          </a:xfrm>
          <a:prstGeom prst="rect">
            <a:avLst/>
          </a:prstGeom>
          <a:noFill/>
          <a:ln/>
        </p:spPr>
        <p:txBody>
          <a:bodyPr wrap="square" lIns="0" tIns="0" rIns="0" bIns="0" rtlCol="0" anchor="ctr"/>
          <a:lstStyle/>
          <a:p>
            <a:pPr algn="ctr" indent="0" marL="0">
              <a:buNone/>
            </a:pPr>
            <a:r>
              <a:rPr lang="en-US" sz="3800" b="1" dirty="0">
                <a:solidFill>
                  <a:srgbClr val="E8503A"/>
                </a:solidFill>
                <a:latin typeface="Calibri" pitchFamily="34" charset="0"/>
                <a:ea typeface="Calibri" pitchFamily="34" charset="-122"/>
                <a:cs typeface="Calibri" pitchFamily="34" charset="-120"/>
              </a:rPr>
              <a:t>0.72</a:t>
            </a:r>
            <a:endParaRPr lang="en-US" sz="3800" dirty="0"/>
          </a:p>
        </p:txBody>
      </p:sp>
      <p:sp>
        <p:nvSpPr>
          <p:cNvPr id="14" name="Text 11"/>
          <p:cNvSpPr/>
          <p:nvPr/>
        </p:nvSpPr>
        <p:spPr>
          <a:xfrm>
            <a:off x="3516554"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from-scratch plateau</a:t>
            </a:r>
            <a:endParaRPr lang="en-US" sz="1250" dirty="0"/>
          </a:p>
        </p:txBody>
      </p:sp>
      <p:sp>
        <p:nvSpPr>
          <p:cNvPr id="15" name="Text 12"/>
          <p:cNvSpPr/>
          <p:nvPr/>
        </p:nvSpPr>
        <p:spPr>
          <a:xfrm>
            <a:off x="3516554"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same data - transfer wins decisively</a:t>
            </a:r>
            <a:endParaRPr lang="en-US" sz="1000" dirty="0"/>
          </a:p>
        </p:txBody>
      </p:sp>
      <p:sp>
        <p:nvSpPr>
          <p:cNvPr id="16" name="Shape 13"/>
          <p:cNvSpPr/>
          <p:nvPr/>
        </p:nvSpPr>
        <p:spPr>
          <a:xfrm>
            <a:off x="6255868" y="3026664"/>
            <a:ext cx="2556434" cy="2194560"/>
          </a:xfrm>
          <a:prstGeom prst="roundRect">
            <a:avLst>
              <a:gd name="adj" fmla="val 3750"/>
            </a:avLst>
          </a:prstGeom>
          <a:solidFill>
            <a:srgbClr val="F2F6F9"/>
          </a:solidFill>
          <a:ln w="12700">
            <a:solidFill>
              <a:srgbClr val="D9E2EA"/>
            </a:solidFill>
            <a:prstDash val="solid"/>
          </a:ln>
        </p:spPr>
      </p:sp>
      <p:sp>
        <p:nvSpPr>
          <p:cNvPr id="17" name="Text 14"/>
          <p:cNvSpPr/>
          <p:nvPr/>
        </p:nvSpPr>
        <p:spPr>
          <a:xfrm>
            <a:off x="6347308" y="3136392"/>
            <a:ext cx="2373554" cy="965606"/>
          </a:xfrm>
          <a:prstGeom prst="rect">
            <a:avLst/>
          </a:prstGeom>
          <a:noFill/>
          <a:ln/>
        </p:spPr>
        <p:txBody>
          <a:bodyPr wrap="square" lIns="0" tIns="0" rIns="0" bIns="0" rtlCol="0" anchor="ctr"/>
          <a:lstStyle/>
          <a:p>
            <a:pPr algn="ctr" indent="0" marL="0">
              <a:buNone/>
            </a:pPr>
            <a:r>
              <a:rPr lang="en-US" sz="3800" b="1" dirty="0">
                <a:solidFill>
                  <a:srgbClr val="F58220"/>
                </a:solidFill>
                <a:latin typeface="Calibri" pitchFamily="34" charset="0"/>
                <a:ea typeface="Calibri" pitchFamily="34" charset="-122"/>
                <a:cs typeface="Calibri" pitchFamily="34" charset="-120"/>
              </a:rPr>
              <a:t>15k</a:t>
            </a:r>
            <a:endParaRPr lang="en-US" sz="3800" dirty="0"/>
          </a:p>
        </p:txBody>
      </p:sp>
      <p:sp>
        <p:nvSpPr>
          <p:cNvPr id="18" name="Text 15"/>
          <p:cNvSpPr/>
          <p:nvPr/>
        </p:nvSpPr>
        <p:spPr>
          <a:xfrm>
            <a:off x="6393028"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tiles fine-tune a ViT</a:t>
            </a:r>
            <a:endParaRPr lang="en-US" sz="1250" dirty="0"/>
          </a:p>
        </p:txBody>
      </p:sp>
      <p:sp>
        <p:nvSpPr>
          <p:cNvPr id="19" name="Text 16"/>
          <p:cNvSpPr/>
          <p:nvPr/>
        </p:nvSpPr>
        <p:spPr>
          <a:xfrm>
            <a:off x="6393028"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attention maps double as audit trail</a:t>
            </a:r>
            <a:endParaRPr lang="en-US" sz="1000" dirty="0"/>
          </a:p>
        </p:txBody>
      </p:sp>
      <p:sp>
        <p:nvSpPr>
          <p:cNvPr id="20" name="Shape 17"/>
          <p:cNvSpPr/>
          <p:nvPr/>
        </p:nvSpPr>
        <p:spPr>
          <a:xfrm>
            <a:off x="9132341" y="3026664"/>
            <a:ext cx="2556434" cy="2194560"/>
          </a:xfrm>
          <a:prstGeom prst="roundRect">
            <a:avLst>
              <a:gd name="adj" fmla="val 3750"/>
            </a:avLst>
          </a:prstGeom>
          <a:solidFill>
            <a:srgbClr val="F2F6F9"/>
          </a:solidFill>
          <a:ln w="12700">
            <a:solidFill>
              <a:srgbClr val="D9E2EA"/>
            </a:solidFill>
            <a:prstDash val="solid"/>
          </a:ln>
        </p:spPr>
      </p:sp>
      <p:sp>
        <p:nvSpPr>
          <p:cNvPr id="21" name="Text 18"/>
          <p:cNvSpPr/>
          <p:nvPr/>
        </p:nvSpPr>
        <p:spPr>
          <a:xfrm>
            <a:off x="9223781" y="3136392"/>
            <a:ext cx="2373554" cy="965606"/>
          </a:xfrm>
          <a:prstGeom prst="rect">
            <a:avLst/>
          </a:prstGeom>
          <a:noFill/>
          <a:ln/>
        </p:spPr>
        <p:txBody>
          <a:bodyPr wrap="square" lIns="0" tIns="0" rIns="0" bIns="0" rtlCol="0" anchor="ctr"/>
          <a:lstStyle/>
          <a:p>
            <a:pPr algn="ctr" indent="0" marL="0">
              <a:buNone/>
            </a:pPr>
            <a:r>
              <a:rPr lang="en-US" sz="3800" b="1" dirty="0">
                <a:solidFill>
                  <a:srgbClr val="8DC63F"/>
                </a:solidFill>
                <a:latin typeface="Calibri" pitchFamily="34" charset="0"/>
                <a:ea typeface="Calibri" pitchFamily="34" charset="-122"/>
                <a:cs typeface="Calibri" pitchFamily="34" charset="-120"/>
              </a:rPr>
              <a:t>60 ms</a:t>
            </a:r>
            <a:endParaRPr lang="en-US" sz="3800" dirty="0"/>
          </a:p>
        </p:txBody>
      </p:sp>
      <p:sp>
        <p:nvSpPr>
          <p:cNvPr id="22" name="Text 19"/>
          <p:cNvSpPr/>
          <p:nvPr/>
        </p:nvSpPr>
        <p:spPr>
          <a:xfrm>
            <a:off x="9269501"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latency budget veto</a:t>
            </a:r>
            <a:endParaRPr lang="en-US" sz="1250" dirty="0"/>
          </a:p>
        </p:txBody>
      </p:sp>
      <p:sp>
        <p:nvSpPr>
          <p:cNvPr id="23" name="Text 20"/>
          <p:cNvSpPr/>
          <p:nvPr/>
        </p:nvSpPr>
        <p:spPr>
          <a:xfrm>
            <a:off x="9269501"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EfficientNet-B0 beat ViT-L on mobile</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Industry use cases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حالات استخدام صناعية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32</a:t>
            </a:r>
            <a:endParaRPr lang="en-US" sz="900" dirty="0"/>
          </a:p>
        </p:txBody>
      </p:sp>
      <p:sp>
        <p:nvSpPr>
          <p:cNvPr id="7" name="Shape 4"/>
          <p:cNvSpPr/>
          <p:nvPr/>
        </p:nvSpPr>
        <p:spPr>
          <a:xfrm>
            <a:off x="502920" y="1389888"/>
            <a:ext cx="5455768" cy="2354580"/>
          </a:xfrm>
          <a:prstGeom prst="roundRect">
            <a:avLst>
              <a:gd name="adj" fmla="val 3107"/>
            </a:avLst>
          </a:prstGeom>
          <a:solidFill>
            <a:srgbClr val="F2F6F9"/>
          </a:solidFill>
          <a:ln w="12700">
            <a:solidFill>
              <a:srgbClr val="D9E2EA"/>
            </a:solidFill>
            <a:prstDash val="solid"/>
          </a:ln>
        </p:spPr>
      </p:sp>
      <p:sp>
        <p:nvSpPr>
          <p:cNvPr id="8" name="Shape 5"/>
          <p:cNvSpPr/>
          <p:nvPr/>
        </p:nvSpPr>
        <p:spPr>
          <a:xfrm>
            <a:off x="667512" y="1536192"/>
            <a:ext cx="310896" cy="310896"/>
          </a:xfrm>
          <a:prstGeom prst="ellipse">
            <a:avLst/>
          </a:prstGeom>
          <a:solidFill>
            <a:srgbClr val="00A79D"/>
          </a:solidFill>
          <a:ln/>
        </p:spPr>
      </p:sp>
      <p:sp>
        <p:nvSpPr>
          <p:cNvPr id="9" name="Text 6"/>
          <p:cNvSpPr/>
          <p:nvPr/>
        </p:nvSpPr>
        <p:spPr>
          <a:xfrm>
            <a:off x="667512"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088136"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Tamr Vision grade classifier</a:t>
            </a:r>
            <a:endParaRPr lang="en-US" sz="1250" dirty="0"/>
          </a:p>
        </p:txBody>
      </p:sp>
      <p:sp>
        <p:nvSpPr>
          <p:cNvPr id="11" name="Text 8"/>
          <p:cNvSpPr/>
          <p:nvPr/>
        </p:nvSpPr>
        <p:spPr>
          <a:xfrm>
            <a:off x="685800"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ResNet-50 fine-tuned on 9,000 labelled dates reaches macro-F1 0.91 in 12 minutes; from-scratch plateaus at 0.72.</a:t>
            </a:r>
            <a:endParaRPr lang="en-US" sz="1100" dirty="0"/>
          </a:p>
        </p:txBody>
      </p:sp>
      <p:sp>
        <p:nvSpPr>
          <p:cNvPr id="12" name="Shape 9"/>
          <p:cNvSpPr/>
          <p:nvPr/>
        </p:nvSpPr>
        <p:spPr>
          <a:xfrm>
            <a:off x="6233008" y="1389888"/>
            <a:ext cx="5455768" cy="2354580"/>
          </a:xfrm>
          <a:prstGeom prst="roundRect">
            <a:avLst>
              <a:gd name="adj" fmla="val 3107"/>
            </a:avLst>
          </a:prstGeom>
          <a:solidFill>
            <a:srgbClr val="F2F6F9"/>
          </a:solidFill>
          <a:ln w="12700">
            <a:solidFill>
              <a:srgbClr val="D9E2EA"/>
            </a:solidFill>
            <a:prstDash val="solid"/>
          </a:ln>
        </p:spPr>
      </p:sp>
      <p:sp>
        <p:nvSpPr>
          <p:cNvPr id="13" name="Shape 10"/>
          <p:cNvSpPr/>
          <p:nvPr/>
        </p:nvSpPr>
        <p:spPr>
          <a:xfrm>
            <a:off x="6397600" y="1536192"/>
            <a:ext cx="310896" cy="310896"/>
          </a:xfrm>
          <a:prstGeom prst="ellipse">
            <a:avLst/>
          </a:prstGeom>
          <a:solidFill>
            <a:srgbClr val="29ABE2"/>
          </a:solidFill>
          <a:ln/>
        </p:spPr>
      </p:sp>
      <p:sp>
        <p:nvSpPr>
          <p:cNvPr id="14" name="Text 11"/>
          <p:cNvSpPr/>
          <p:nvPr/>
        </p:nvSpPr>
        <p:spPr>
          <a:xfrm>
            <a:off x="639760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6818224"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Land-registry satellite tiles</a:t>
            </a:r>
            <a:endParaRPr lang="en-US" sz="1250" dirty="0"/>
          </a:p>
        </p:txBody>
      </p:sp>
      <p:sp>
        <p:nvSpPr>
          <p:cNvPr id="16" name="Text 13"/>
          <p:cNvSpPr/>
          <p:nvPr/>
        </p:nvSpPr>
        <p:spPr>
          <a:xfrm>
            <a:off x="6415888"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ViT fine-tuned on 15k tiles labels built-up / agricultural / desert; attention maps double as audit evidence.</a:t>
            </a:r>
            <a:endParaRPr lang="en-US" sz="1100" dirty="0"/>
          </a:p>
        </p:txBody>
      </p:sp>
      <p:sp>
        <p:nvSpPr>
          <p:cNvPr id="17" name="Shape 14"/>
          <p:cNvSpPr/>
          <p:nvPr/>
        </p:nvSpPr>
        <p:spPr>
          <a:xfrm>
            <a:off x="502920" y="4000500"/>
            <a:ext cx="5455768" cy="2354580"/>
          </a:xfrm>
          <a:prstGeom prst="roundRect">
            <a:avLst>
              <a:gd name="adj" fmla="val 3107"/>
            </a:avLst>
          </a:prstGeom>
          <a:solidFill>
            <a:srgbClr val="F2F6F9"/>
          </a:solidFill>
          <a:ln w="12700">
            <a:solidFill>
              <a:srgbClr val="D9E2EA"/>
            </a:solidFill>
            <a:prstDash val="solid"/>
          </a:ln>
        </p:spPr>
      </p:sp>
      <p:sp>
        <p:nvSpPr>
          <p:cNvPr id="18" name="Shape 15"/>
          <p:cNvSpPr/>
          <p:nvPr/>
        </p:nvSpPr>
        <p:spPr>
          <a:xfrm>
            <a:off x="667512" y="4146804"/>
            <a:ext cx="310896" cy="310896"/>
          </a:xfrm>
          <a:prstGeom prst="ellipse">
            <a:avLst/>
          </a:prstGeom>
          <a:solidFill>
            <a:srgbClr val="F58220"/>
          </a:solidFill>
          <a:ln/>
        </p:spPr>
      </p:sp>
      <p:sp>
        <p:nvSpPr>
          <p:cNvPr id="19" name="Text 16"/>
          <p:cNvSpPr/>
          <p:nvPr/>
        </p:nvSpPr>
        <p:spPr>
          <a:xfrm>
            <a:off x="667512"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1088136"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Vehicle-damage triage</a:t>
            </a:r>
            <a:endParaRPr lang="en-US" sz="1250" dirty="0"/>
          </a:p>
        </p:txBody>
      </p:sp>
      <p:sp>
        <p:nvSpPr>
          <p:cNvPr id="21" name="Text 18"/>
          <p:cNvSpPr/>
          <p:nvPr/>
        </p:nvSpPr>
        <p:spPr>
          <a:xfrm>
            <a:off x="685800"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An insurer chose EfficientNet-B0 over ViT-L purely on the 60 ms mobile latency budget: deployment vetoes architecture.</a:t>
            </a:r>
            <a:endParaRPr lang="en-US" sz="1100" dirty="0"/>
          </a:p>
        </p:txBody>
      </p:sp>
      <p:sp>
        <p:nvSpPr>
          <p:cNvPr id="22" name="Shape 19"/>
          <p:cNvSpPr/>
          <p:nvPr/>
        </p:nvSpPr>
        <p:spPr>
          <a:xfrm>
            <a:off x="6233008" y="4000500"/>
            <a:ext cx="5455768" cy="2354580"/>
          </a:xfrm>
          <a:prstGeom prst="roundRect">
            <a:avLst>
              <a:gd name="adj" fmla="val 3107"/>
            </a:avLst>
          </a:prstGeom>
          <a:solidFill>
            <a:srgbClr val="F2F6F9"/>
          </a:solidFill>
          <a:ln w="12700">
            <a:solidFill>
              <a:srgbClr val="D9E2EA"/>
            </a:solidFill>
            <a:prstDash val="solid"/>
          </a:ln>
        </p:spPr>
      </p:sp>
      <p:sp>
        <p:nvSpPr>
          <p:cNvPr id="23" name="Shape 20"/>
          <p:cNvSpPr/>
          <p:nvPr/>
        </p:nvSpPr>
        <p:spPr>
          <a:xfrm>
            <a:off x="6397600" y="4146804"/>
            <a:ext cx="310896" cy="310896"/>
          </a:xfrm>
          <a:prstGeom prst="ellipse">
            <a:avLst/>
          </a:prstGeom>
          <a:solidFill>
            <a:srgbClr val="8DC63F"/>
          </a:solidFill>
          <a:ln/>
        </p:spPr>
      </p:sp>
      <p:sp>
        <p:nvSpPr>
          <p:cNvPr id="24" name="Text 21"/>
          <p:cNvSpPr/>
          <p:nvPr/>
        </p:nvSpPr>
        <p:spPr>
          <a:xfrm>
            <a:off x="6397600"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p:nvPr/>
        </p:nvSpPr>
        <p:spPr>
          <a:xfrm>
            <a:off x="6818224"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The afternoon classifier</a:t>
            </a:r>
            <a:endParaRPr lang="en-US" sz="1250" dirty="0"/>
          </a:p>
        </p:txBody>
      </p:sp>
      <p:sp>
        <p:nvSpPr>
          <p:cNvPr id="26" name="Text 23"/>
          <p:cNvSpPr/>
          <p:nvPr/>
        </p:nvSpPr>
        <p:spPr>
          <a:xfrm>
            <a:off x="6415888"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Right backbone + right freezing + right LR schedule = a production-grade classifier on a few thousand images.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2 objectives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أهداف الوحدة الثانية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33</a:t>
            </a:r>
            <a:endParaRPr lang="en-US" sz="900" dirty="0"/>
          </a:p>
        </p:txBody>
      </p:sp>
      <p:sp>
        <p:nvSpPr>
          <p:cNvPr id="7" name="Shape 4"/>
          <p:cNvSpPr/>
          <p:nvPr/>
        </p:nvSpPr>
        <p:spPr>
          <a:xfrm>
            <a:off x="502920" y="1499616"/>
            <a:ext cx="11183112" cy="832104"/>
          </a:xfrm>
          <a:prstGeom prst="roundRect">
            <a:avLst>
              <a:gd name="adj" fmla="val 7692"/>
            </a:avLst>
          </a:prstGeom>
          <a:solidFill>
            <a:srgbClr val="FAFCFE"/>
          </a:solidFill>
          <a:ln w="9525">
            <a:solidFill>
              <a:srgbClr val="D9E2EA"/>
            </a:solidFill>
            <a:prstDash val="solid"/>
          </a:ln>
        </p:spPr>
      </p:sp>
      <p:sp>
        <p:nvSpPr>
          <p:cNvPr id="8" name="Shape 5"/>
          <p:cNvSpPr/>
          <p:nvPr/>
        </p:nvSpPr>
        <p:spPr>
          <a:xfrm>
            <a:off x="649224" y="1751076"/>
            <a:ext cx="329184" cy="329184"/>
          </a:xfrm>
          <a:prstGeom prst="ellipse">
            <a:avLst/>
          </a:prstGeom>
          <a:solidFill>
            <a:srgbClr val="00A79D"/>
          </a:solidFill>
          <a:ln/>
        </p:spPr>
      </p:sp>
      <p:sp>
        <p:nvSpPr>
          <p:cNvPr id="9" name="Text 6"/>
          <p:cNvSpPr/>
          <p:nvPr/>
        </p:nvSpPr>
        <p:spPr>
          <a:xfrm>
            <a:off x="649224" y="175107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2.1</a:t>
            </a:r>
            <a:endParaRPr lang="en-US" sz="1150" dirty="0"/>
          </a:p>
        </p:txBody>
      </p:sp>
      <p:sp>
        <p:nvSpPr>
          <p:cNvPr id="10" name="Text 7"/>
          <p:cNvSpPr/>
          <p:nvPr/>
        </p:nvSpPr>
        <p:spPr>
          <a:xfrm>
            <a:off x="1143000" y="149961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Explain convolutional inductive bias (locality, weight sharing, hierarchy) and ViT global attention</a:t>
            </a:r>
            <a:endParaRPr lang="en-US" sz="1250" dirty="0"/>
          </a:p>
        </p:txBody>
      </p:sp>
      <p:sp>
        <p:nvSpPr>
          <p:cNvPr id="11" name="Shape 8"/>
          <p:cNvSpPr/>
          <p:nvPr/>
        </p:nvSpPr>
        <p:spPr>
          <a:xfrm>
            <a:off x="9646920" y="1741932"/>
            <a:ext cx="658368" cy="310896"/>
          </a:xfrm>
          <a:prstGeom prst="roundRect">
            <a:avLst>
              <a:gd name="adj" fmla="val 50000"/>
            </a:avLst>
          </a:prstGeom>
          <a:solidFill>
            <a:srgbClr val="E9F6F5"/>
          </a:solidFill>
          <a:ln w="9525">
            <a:solidFill>
              <a:srgbClr val="00A79D"/>
            </a:solidFill>
            <a:prstDash val="solid"/>
          </a:ln>
        </p:spPr>
      </p:sp>
      <p:sp>
        <p:nvSpPr>
          <p:cNvPr id="12" name="Text 9"/>
          <p:cNvSpPr/>
          <p:nvPr/>
        </p:nvSpPr>
        <p:spPr>
          <a:xfrm>
            <a:off x="9646920" y="174193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LO1</a:t>
            </a:r>
            <a:endParaRPr lang="en-US" sz="950" dirty="0"/>
          </a:p>
        </p:txBody>
      </p:sp>
      <p:sp>
        <p:nvSpPr>
          <p:cNvPr id="13" name="Shape 10"/>
          <p:cNvSpPr/>
          <p:nvPr/>
        </p:nvSpPr>
        <p:spPr>
          <a:xfrm>
            <a:off x="502920" y="2459736"/>
            <a:ext cx="11183112" cy="832104"/>
          </a:xfrm>
          <a:prstGeom prst="roundRect">
            <a:avLst>
              <a:gd name="adj" fmla="val 7692"/>
            </a:avLst>
          </a:prstGeom>
          <a:solidFill>
            <a:srgbClr val="F2F6F9"/>
          </a:solidFill>
          <a:ln w="9525">
            <a:solidFill>
              <a:srgbClr val="D9E2EA"/>
            </a:solidFill>
            <a:prstDash val="solid"/>
          </a:ln>
        </p:spPr>
      </p:sp>
      <p:sp>
        <p:nvSpPr>
          <p:cNvPr id="14" name="Shape 11"/>
          <p:cNvSpPr/>
          <p:nvPr/>
        </p:nvSpPr>
        <p:spPr>
          <a:xfrm>
            <a:off x="649224" y="2711196"/>
            <a:ext cx="329184" cy="329184"/>
          </a:xfrm>
          <a:prstGeom prst="ellipse">
            <a:avLst/>
          </a:prstGeom>
          <a:solidFill>
            <a:srgbClr val="00A79D"/>
          </a:solidFill>
          <a:ln/>
        </p:spPr>
      </p:sp>
      <p:sp>
        <p:nvSpPr>
          <p:cNvPr id="15" name="Text 12"/>
          <p:cNvSpPr/>
          <p:nvPr/>
        </p:nvSpPr>
        <p:spPr>
          <a:xfrm>
            <a:off x="649224" y="271119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2.2</a:t>
            </a:r>
            <a:endParaRPr lang="en-US" sz="1150" dirty="0"/>
          </a:p>
        </p:txBody>
      </p:sp>
      <p:sp>
        <p:nvSpPr>
          <p:cNvPr id="16" name="Text 13"/>
          <p:cNvSpPr/>
          <p:nvPr/>
        </p:nvSpPr>
        <p:spPr>
          <a:xfrm>
            <a:off x="1143000" y="245973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Select a backbone for a task using accuracy/params/latency trade-off data</a:t>
            </a:r>
            <a:endParaRPr lang="en-US" sz="1250" dirty="0"/>
          </a:p>
        </p:txBody>
      </p:sp>
      <p:sp>
        <p:nvSpPr>
          <p:cNvPr id="17" name="Shape 14"/>
          <p:cNvSpPr/>
          <p:nvPr/>
        </p:nvSpPr>
        <p:spPr>
          <a:xfrm>
            <a:off x="9646920" y="2702052"/>
            <a:ext cx="658368" cy="310896"/>
          </a:xfrm>
          <a:prstGeom prst="roundRect">
            <a:avLst>
              <a:gd name="adj" fmla="val 50000"/>
            </a:avLst>
          </a:prstGeom>
          <a:solidFill>
            <a:srgbClr val="E9F6F5"/>
          </a:solidFill>
          <a:ln w="9525">
            <a:solidFill>
              <a:srgbClr val="00A79D"/>
            </a:solidFill>
            <a:prstDash val="solid"/>
          </a:ln>
        </p:spPr>
      </p:sp>
      <p:sp>
        <p:nvSpPr>
          <p:cNvPr id="18" name="Text 15"/>
          <p:cNvSpPr/>
          <p:nvPr/>
        </p:nvSpPr>
        <p:spPr>
          <a:xfrm>
            <a:off x="9646920"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LO1</a:t>
            </a:r>
            <a:endParaRPr lang="en-US" sz="950" dirty="0"/>
          </a:p>
        </p:txBody>
      </p:sp>
      <p:sp>
        <p:nvSpPr>
          <p:cNvPr id="19" name="Shape 16"/>
          <p:cNvSpPr/>
          <p:nvPr/>
        </p:nvSpPr>
        <p:spPr>
          <a:xfrm>
            <a:off x="10360152" y="2702052"/>
            <a:ext cx="658368" cy="310896"/>
          </a:xfrm>
          <a:prstGeom prst="roundRect">
            <a:avLst>
              <a:gd name="adj" fmla="val 50000"/>
            </a:avLst>
          </a:prstGeom>
          <a:solidFill>
            <a:srgbClr val="E9F6F5"/>
          </a:solidFill>
          <a:ln w="9525">
            <a:solidFill>
              <a:srgbClr val="00A79D"/>
            </a:solidFill>
            <a:prstDash val="solid"/>
          </a:ln>
        </p:spPr>
      </p:sp>
      <p:sp>
        <p:nvSpPr>
          <p:cNvPr id="20" name="Text 17"/>
          <p:cNvSpPr/>
          <p:nvPr/>
        </p:nvSpPr>
        <p:spPr>
          <a:xfrm>
            <a:off x="10360152"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LO6</a:t>
            </a:r>
            <a:endParaRPr lang="en-US" sz="950" dirty="0"/>
          </a:p>
        </p:txBody>
      </p:sp>
      <p:sp>
        <p:nvSpPr>
          <p:cNvPr id="21" name="Shape 18"/>
          <p:cNvSpPr/>
          <p:nvPr/>
        </p:nvSpPr>
        <p:spPr>
          <a:xfrm>
            <a:off x="502920" y="3419856"/>
            <a:ext cx="11183112" cy="832104"/>
          </a:xfrm>
          <a:prstGeom prst="roundRect">
            <a:avLst>
              <a:gd name="adj" fmla="val 7692"/>
            </a:avLst>
          </a:prstGeom>
          <a:solidFill>
            <a:srgbClr val="FAFCFE"/>
          </a:solidFill>
          <a:ln w="9525">
            <a:solidFill>
              <a:srgbClr val="D9E2EA"/>
            </a:solidFill>
            <a:prstDash val="solid"/>
          </a:ln>
        </p:spPr>
      </p:sp>
      <p:sp>
        <p:nvSpPr>
          <p:cNvPr id="22" name="Shape 19"/>
          <p:cNvSpPr/>
          <p:nvPr/>
        </p:nvSpPr>
        <p:spPr>
          <a:xfrm>
            <a:off x="649224" y="3671316"/>
            <a:ext cx="329184" cy="329184"/>
          </a:xfrm>
          <a:prstGeom prst="ellipse">
            <a:avLst/>
          </a:prstGeom>
          <a:solidFill>
            <a:srgbClr val="00A79D"/>
          </a:solidFill>
          <a:ln/>
        </p:spPr>
      </p:sp>
      <p:sp>
        <p:nvSpPr>
          <p:cNvPr id="23" name="Text 20"/>
          <p:cNvSpPr/>
          <p:nvPr/>
        </p:nvSpPr>
        <p:spPr>
          <a:xfrm>
            <a:off x="649224" y="367131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2.3</a:t>
            </a:r>
            <a:endParaRPr lang="en-US" sz="1150" dirty="0"/>
          </a:p>
        </p:txBody>
      </p:sp>
      <p:sp>
        <p:nvSpPr>
          <p:cNvPr id="24" name="Text 21"/>
          <p:cNvSpPr/>
          <p:nvPr/>
        </p:nvSpPr>
        <p:spPr>
          <a:xfrm>
            <a:off x="1143000" y="341985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Implement transfer learning: head replacement, layer freezing, discriminative learning rates</a:t>
            </a:r>
            <a:endParaRPr lang="en-US" sz="1250" dirty="0"/>
          </a:p>
        </p:txBody>
      </p:sp>
      <p:sp>
        <p:nvSpPr>
          <p:cNvPr id="25" name="Shape 22"/>
          <p:cNvSpPr/>
          <p:nvPr/>
        </p:nvSpPr>
        <p:spPr>
          <a:xfrm>
            <a:off x="9646920" y="3662172"/>
            <a:ext cx="658368" cy="310896"/>
          </a:xfrm>
          <a:prstGeom prst="roundRect">
            <a:avLst>
              <a:gd name="adj" fmla="val 50000"/>
            </a:avLst>
          </a:prstGeom>
          <a:solidFill>
            <a:srgbClr val="E9F6F5"/>
          </a:solidFill>
          <a:ln w="9525">
            <a:solidFill>
              <a:srgbClr val="00A79D"/>
            </a:solidFill>
            <a:prstDash val="solid"/>
          </a:ln>
        </p:spPr>
      </p:sp>
      <p:sp>
        <p:nvSpPr>
          <p:cNvPr id="26" name="Text 23"/>
          <p:cNvSpPr/>
          <p:nvPr/>
        </p:nvSpPr>
        <p:spPr>
          <a:xfrm>
            <a:off x="9646920"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LO4</a:t>
            </a:r>
            <a:endParaRPr lang="en-US" sz="950" dirty="0"/>
          </a:p>
        </p:txBody>
      </p:sp>
      <p:sp>
        <p:nvSpPr>
          <p:cNvPr id="27" name="Shape 24"/>
          <p:cNvSpPr/>
          <p:nvPr/>
        </p:nvSpPr>
        <p:spPr>
          <a:xfrm>
            <a:off x="502920" y="4379976"/>
            <a:ext cx="11183112" cy="832104"/>
          </a:xfrm>
          <a:prstGeom prst="roundRect">
            <a:avLst>
              <a:gd name="adj" fmla="val 7692"/>
            </a:avLst>
          </a:prstGeom>
          <a:solidFill>
            <a:srgbClr val="F2F6F9"/>
          </a:solidFill>
          <a:ln w="9525">
            <a:solidFill>
              <a:srgbClr val="D9E2EA"/>
            </a:solidFill>
            <a:prstDash val="solid"/>
          </a:ln>
        </p:spPr>
      </p:sp>
      <p:sp>
        <p:nvSpPr>
          <p:cNvPr id="28" name="Shape 25"/>
          <p:cNvSpPr/>
          <p:nvPr/>
        </p:nvSpPr>
        <p:spPr>
          <a:xfrm>
            <a:off x="649224" y="4631436"/>
            <a:ext cx="329184" cy="329184"/>
          </a:xfrm>
          <a:prstGeom prst="ellipse">
            <a:avLst/>
          </a:prstGeom>
          <a:solidFill>
            <a:srgbClr val="00A79D"/>
          </a:solidFill>
          <a:ln/>
        </p:spPr>
      </p:sp>
      <p:sp>
        <p:nvSpPr>
          <p:cNvPr id="29" name="Text 26"/>
          <p:cNvSpPr/>
          <p:nvPr/>
        </p:nvSpPr>
        <p:spPr>
          <a:xfrm>
            <a:off x="649224" y="463143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2.4</a:t>
            </a:r>
            <a:endParaRPr lang="en-US" sz="1150" dirty="0"/>
          </a:p>
        </p:txBody>
      </p:sp>
      <p:sp>
        <p:nvSpPr>
          <p:cNvPr id="30" name="Text 27"/>
          <p:cNvSpPr/>
          <p:nvPr/>
        </p:nvSpPr>
        <p:spPr>
          <a:xfrm>
            <a:off x="1143000" y="437997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Run a reproducible training loop with checkpointing, early stopping, and metric logging</a:t>
            </a:r>
            <a:endParaRPr lang="en-US" sz="1250" dirty="0"/>
          </a:p>
        </p:txBody>
      </p:sp>
      <p:sp>
        <p:nvSpPr>
          <p:cNvPr id="31" name="Shape 28"/>
          <p:cNvSpPr/>
          <p:nvPr/>
        </p:nvSpPr>
        <p:spPr>
          <a:xfrm>
            <a:off x="9646920" y="4622292"/>
            <a:ext cx="658368" cy="310896"/>
          </a:xfrm>
          <a:prstGeom prst="roundRect">
            <a:avLst>
              <a:gd name="adj" fmla="val 50000"/>
            </a:avLst>
          </a:prstGeom>
          <a:solidFill>
            <a:srgbClr val="E9F6F5"/>
          </a:solidFill>
          <a:ln w="9525">
            <a:solidFill>
              <a:srgbClr val="00A79D"/>
            </a:solidFill>
            <a:prstDash val="solid"/>
          </a:ln>
        </p:spPr>
      </p:sp>
      <p:sp>
        <p:nvSpPr>
          <p:cNvPr id="32" name="Text 29"/>
          <p:cNvSpPr/>
          <p:nvPr/>
        </p:nvSpPr>
        <p:spPr>
          <a:xfrm>
            <a:off x="9646920"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LO1</a:t>
            </a:r>
            <a:endParaRPr lang="en-US" sz="950" dirty="0"/>
          </a:p>
        </p:txBody>
      </p:sp>
      <p:sp>
        <p:nvSpPr>
          <p:cNvPr id="33" name="Shape 30"/>
          <p:cNvSpPr/>
          <p:nvPr/>
        </p:nvSpPr>
        <p:spPr>
          <a:xfrm>
            <a:off x="10360152" y="4622292"/>
            <a:ext cx="658368" cy="310896"/>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10360152"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LO4</a:t>
            </a:r>
            <a:endParaRPr lang="en-US" sz="950" dirty="0"/>
          </a:p>
        </p:txBody>
      </p:sp>
      <p:sp>
        <p:nvSpPr>
          <p:cNvPr id="35" name="Shape 32"/>
          <p:cNvSpPr/>
          <p:nvPr/>
        </p:nvSpPr>
        <p:spPr>
          <a:xfrm>
            <a:off x="502920" y="5340096"/>
            <a:ext cx="11183112" cy="832104"/>
          </a:xfrm>
          <a:prstGeom prst="roundRect">
            <a:avLst>
              <a:gd name="adj" fmla="val 7692"/>
            </a:avLst>
          </a:prstGeom>
          <a:solidFill>
            <a:srgbClr val="FAFCFE"/>
          </a:solidFill>
          <a:ln w="9525">
            <a:solidFill>
              <a:srgbClr val="D9E2EA"/>
            </a:solidFill>
            <a:prstDash val="solid"/>
          </a:ln>
        </p:spPr>
      </p:sp>
      <p:sp>
        <p:nvSpPr>
          <p:cNvPr id="36" name="Shape 33"/>
          <p:cNvSpPr/>
          <p:nvPr/>
        </p:nvSpPr>
        <p:spPr>
          <a:xfrm>
            <a:off x="649224" y="5591556"/>
            <a:ext cx="329184" cy="329184"/>
          </a:xfrm>
          <a:prstGeom prst="ellipse">
            <a:avLst/>
          </a:prstGeom>
          <a:solidFill>
            <a:srgbClr val="00A79D"/>
          </a:solidFill>
          <a:ln/>
        </p:spPr>
      </p:sp>
      <p:sp>
        <p:nvSpPr>
          <p:cNvPr id="37" name="Text 34"/>
          <p:cNvSpPr/>
          <p:nvPr/>
        </p:nvSpPr>
        <p:spPr>
          <a:xfrm>
            <a:off x="649224" y="559155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2.5</a:t>
            </a:r>
            <a:endParaRPr lang="en-US" sz="1150" dirty="0"/>
          </a:p>
        </p:txBody>
      </p:sp>
      <p:sp>
        <p:nvSpPr>
          <p:cNvPr id="38" name="Text 35"/>
          <p:cNvSpPr/>
          <p:nvPr/>
        </p:nvSpPr>
        <p:spPr>
          <a:xfrm>
            <a:off x="1143000" y="534009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Diagnose training pathologies (overfitting, LR too high, frozen-too-much) from curves</a:t>
            </a:r>
            <a:endParaRPr lang="en-US" sz="1250" dirty="0"/>
          </a:p>
        </p:txBody>
      </p:sp>
      <p:sp>
        <p:nvSpPr>
          <p:cNvPr id="39" name="Shape 36"/>
          <p:cNvSpPr/>
          <p:nvPr/>
        </p:nvSpPr>
        <p:spPr>
          <a:xfrm>
            <a:off x="9646920" y="5582412"/>
            <a:ext cx="658368" cy="310896"/>
          </a:xfrm>
          <a:prstGeom prst="roundRect">
            <a:avLst>
              <a:gd name="adj" fmla="val 50000"/>
            </a:avLst>
          </a:prstGeom>
          <a:solidFill>
            <a:srgbClr val="E9F6F5"/>
          </a:solidFill>
          <a:ln w="9525">
            <a:solidFill>
              <a:srgbClr val="00A79D"/>
            </a:solidFill>
            <a:prstDash val="solid"/>
          </a:ln>
        </p:spPr>
      </p:sp>
      <p:sp>
        <p:nvSpPr>
          <p:cNvPr id="40" name="Text 37"/>
          <p:cNvSpPr/>
          <p:nvPr/>
        </p:nvSpPr>
        <p:spPr>
          <a:xfrm>
            <a:off x="9646920"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LO1</a:t>
            </a:r>
            <a:endParaRPr lang="en-US" sz="950" dirty="0"/>
          </a:p>
        </p:txBody>
      </p:sp>
      <p:sp>
        <p:nvSpPr>
          <p:cNvPr id="41" name="Shape 38"/>
          <p:cNvSpPr/>
          <p:nvPr/>
        </p:nvSpPr>
        <p:spPr>
          <a:xfrm>
            <a:off x="10360152" y="5582412"/>
            <a:ext cx="658368" cy="310896"/>
          </a:xfrm>
          <a:prstGeom prst="roundRect">
            <a:avLst>
              <a:gd name="adj" fmla="val 50000"/>
            </a:avLst>
          </a:prstGeom>
          <a:solidFill>
            <a:srgbClr val="E9F6F5"/>
          </a:solidFill>
          <a:ln w="9525">
            <a:solidFill>
              <a:srgbClr val="00A79D"/>
            </a:solidFill>
            <a:prstDash val="solid"/>
          </a:ln>
        </p:spPr>
      </p:sp>
      <p:sp>
        <p:nvSpPr>
          <p:cNvPr id="42" name="Text 39"/>
          <p:cNvSpPr/>
          <p:nvPr/>
        </p:nvSpPr>
        <p:spPr>
          <a:xfrm>
            <a:off x="10360152"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Convolutional inductive bias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الانحياز الاستقرائي الالتفافي</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34</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Locality</a:t>
            </a:r>
            <a:endParaRPr lang="en-US" sz="1400" dirty="0"/>
          </a:p>
        </p:txBody>
      </p:sp>
      <p:sp>
        <p:nvSpPr>
          <p:cNvPr id="10" name="Text 7"/>
          <p:cNvSpPr/>
          <p:nvPr/>
        </p:nvSpPr>
        <p:spPr>
          <a:xfrm>
            <a:off x="1005840" y="179679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Nearby pixels relate; a small kernel slides across the image reusing its weights everywhere.</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Translation equivariance</a:t>
            </a:r>
            <a:endParaRPr lang="en-US" sz="1400" dirty="0"/>
          </a:p>
        </p:txBody>
      </p:sp>
      <p:sp>
        <p:nvSpPr>
          <p:cNvPr id="14" name="Text 11"/>
          <p:cNvSpPr/>
          <p:nvPr/>
        </p:nvSpPr>
        <p:spPr>
          <a:xfrm>
            <a:off x="1005840" y="298551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defect is a defect anywhere in the frame - weight sharing encodes this for free.</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Hierarchy</a:t>
            </a:r>
            <a:endParaRPr lang="en-US" sz="1400" dirty="0"/>
          </a:p>
        </p:txBody>
      </p:sp>
      <p:sp>
        <p:nvSpPr>
          <p:cNvPr id="18" name="Text 15"/>
          <p:cNvSpPr/>
          <p:nvPr/>
        </p:nvSpPr>
        <p:spPr>
          <a:xfrm>
            <a:off x="1005840" y="417423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Edges to textures to parts to objects as depth grows; structure is built into the architecture.</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Why small datasets work</a:t>
            </a:r>
            <a:endParaRPr lang="en-US" sz="1400" dirty="0"/>
          </a:p>
        </p:txBody>
      </p:sp>
      <p:sp>
        <p:nvSpPr>
          <p:cNvPr id="22" name="Text 19"/>
          <p:cNvSpPr/>
          <p:nvPr/>
        </p:nvSpPr>
        <p:spPr>
          <a:xfrm>
            <a:off x="1005840" y="536295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CNN already knows image structure the way a transformer must learn it from data.</a:t>
            </a:r>
            <a:endParaRPr lang="en-US" sz="1150" dirty="0"/>
          </a:p>
        </p:txBody>
      </p:sp>
      <p:sp>
        <p:nvSpPr>
          <p:cNvPr id="23" name="Shape 20"/>
          <p:cNvSpPr/>
          <p:nvPr/>
        </p:nvSpPr>
        <p:spPr>
          <a:xfrm>
            <a:off x="6355080" y="2441448"/>
            <a:ext cx="5330952" cy="868680"/>
          </a:xfrm>
          <a:prstGeom prst="roundRect">
            <a:avLst>
              <a:gd name="adj" fmla="val 6316"/>
            </a:avLst>
          </a:prstGeom>
          <a:solidFill>
            <a:srgbClr val="1D2A5C"/>
          </a:solidFill>
          <a:ln/>
        </p:spPr>
      </p:sp>
      <p:sp>
        <p:nvSpPr>
          <p:cNvPr id="24" name="Text 21"/>
          <p:cNvSpPr/>
          <p:nvPr/>
        </p:nvSpPr>
        <p:spPr>
          <a:xfrm>
            <a:off x="6537960" y="2441448"/>
            <a:ext cx="223900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ConvNeXt (2022)</a:t>
            </a:r>
            <a:endParaRPr lang="en-US" sz="1300" dirty="0"/>
          </a:p>
        </p:txBody>
      </p:sp>
      <p:sp>
        <p:nvSpPr>
          <p:cNvPr id="25" name="Text 22"/>
          <p:cNvSpPr/>
          <p:nvPr/>
        </p:nvSpPr>
        <p:spPr>
          <a:xfrm>
            <a:off x="8700699" y="2441448"/>
            <a:ext cx="2825405"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CNN + transformer-era recipes</a:t>
            </a:r>
            <a:endParaRPr lang="en-US" sz="1050" dirty="0"/>
          </a:p>
        </p:txBody>
      </p:sp>
      <p:sp>
        <p:nvSpPr>
          <p:cNvPr id="26" name="Shape 23"/>
          <p:cNvSpPr/>
          <p:nvPr/>
        </p:nvSpPr>
        <p:spPr>
          <a:xfrm>
            <a:off x="6611112" y="3438144"/>
            <a:ext cx="4818888" cy="868680"/>
          </a:xfrm>
          <a:prstGeom prst="roundRect">
            <a:avLst>
              <a:gd name="adj" fmla="val 6316"/>
            </a:avLst>
          </a:prstGeom>
          <a:solidFill>
            <a:srgbClr val="24437E"/>
          </a:solidFill>
          <a:ln/>
        </p:spPr>
      </p:sp>
      <p:sp>
        <p:nvSpPr>
          <p:cNvPr id="27" name="Text 24"/>
          <p:cNvSpPr/>
          <p:nvPr/>
        </p:nvSpPr>
        <p:spPr>
          <a:xfrm>
            <a:off x="6793992" y="3438144"/>
            <a:ext cx="2023933"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EfficientNet (2019)</a:t>
            </a:r>
            <a:endParaRPr lang="en-US" sz="1300" dirty="0"/>
          </a:p>
        </p:txBody>
      </p:sp>
      <p:sp>
        <p:nvSpPr>
          <p:cNvPr id="28" name="Text 25"/>
          <p:cNvSpPr/>
          <p:nvPr/>
        </p:nvSpPr>
        <p:spPr>
          <a:xfrm>
            <a:off x="8731423" y="3438144"/>
            <a:ext cx="2554011"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compound scaling, B0-B7</a:t>
            </a:r>
            <a:endParaRPr lang="en-US" sz="1050" dirty="0"/>
          </a:p>
        </p:txBody>
      </p:sp>
      <p:sp>
        <p:nvSpPr>
          <p:cNvPr id="29" name="Shape 26"/>
          <p:cNvSpPr/>
          <p:nvPr/>
        </p:nvSpPr>
        <p:spPr>
          <a:xfrm>
            <a:off x="6867144" y="4434840"/>
            <a:ext cx="4306824" cy="868680"/>
          </a:xfrm>
          <a:prstGeom prst="roundRect">
            <a:avLst>
              <a:gd name="adj" fmla="val 6316"/>
            </a:avLst>
          </a:prstGeom>
          <a:solidFill>
            <a:srgbClr val="2A5CA0"/>
          </a:solidFill>
          <a:ln/>
        </p:spPr>
      </p:sp>
      <p:sp>
        <p:nvSpPr>
          <p:cNvPr id="30" name="Text 27"/>
          <p:cNvSpPr/>
          <p:nvPr/>
        </p:nvSpPr>
        <p:spPr>
          <a:xfrm>
            <a:off x="7050024" y="4434840"/>
            <a:ext cx="1808866"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ResNet (2015)</a:t>
            </a:r>
            <a:endParaRPr lang="en-US" sz="1300" dirty="0"/>
          </a:p>
        </p:txBody>
      </p:sp>
      <p:sp>
        <p:nvSpPr>
          <p:cNvPr id="31" name="Text 28"/>
          <p:cNvSpPr/>
          <p:nvPr/>
        </p:nvSpPr>
        <p:spPr>
          <a:xfrm>
            <a:off x="8762147" y="4434840"/>
            <a:ext cx="2282617"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skip connections; the workhorse</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CNN vs ViT: two ways to see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الالتفافية مقابل محولات الرؤية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35</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CNNs learn structure through depth; ViTs see everything from layer 1 and must learn structure from data.</a:t>
            </a:r>
            <a:endParaRPr lang="en-US" sz="1250" dirty="0"/>
          </a:p>
        </p:txBody>
      </p:sp>
      <p:sp>
        <p:nvSpPr>
          <p:cNvPr id="8" name="Shape 5"/>
          <p:cNvSpPr/>
          <p:nvPr/>
        </p:nvSpPr>
        <p:spPr>
          <a:xfrm>
            <a:off x="502920" y="1892808"/>
            <a:ext cx="5432908" cy="3611880"/>
          </a:xfrm>
          <a:prstGeom prst="roundRect">
            <a:avLst>
              <a:gd name="adj" fmla="val 2278"/>
            </a:avLst>
          </a:prstGeom>
          <a:solidFill>
            <a:srgbClr val="F2F6F9"/>
          </a:solidFill>
          <a:ln w="12700">
            <a:solidFill>
              <a:srgbClr val="D9E2EA"/>
            </a:solidFill>
            <a:prstDash val="solid"/>
          </a:ln>
        </p:spPr>
      </p:sp>
      <p:sp>
        <p:nvSpPr>
          <p:cNvPr id="9" name="Shape 6"/>
          <p:cNvSpPr/>
          <p:nvPr/>
        </p:nvSpPr>
        <p:spPr>
          <a:xfrm>
            <a:off x="704088" y="2084832"/>
            <a:ext cx="146304" cy="146304"/>
          </a:xfrm>
          <a:prstGeom prst="ellipse">
            <a:avLst/>
          </a:prstGeom>
          <a:solidFill>
            <a:srgbClr val="00A79D"/>
          </a:solidFill>
          <a:ln/>
        </p:spPr>
      </p:sp>
      <p:sp>
        <p:nvSpPr>
          <p:cNvPr id="10" name="Text 7"/>
          <p:cNvSpPr/>
          <p:nvPr/>
        </p:nvSpPr>
        <p:spPr>
          <a:xfrm>
            <a:off x="960120" y="198424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CNN (ResNet / EfficientNet)</a:t>
            </a:r>
            <a:endParaRPr lang="en-US" sz="1400" dirty="0"/>
          </a:p>
        </p:txBody>
      </p:sp>
      <p:sp>
        <p:nvSpPr>
          <p:cNvPr id="11" name="Text 8"/>
          <p:cNvSpPr/>
          <p:nvPr/>
        </p:nvSpPr>
        <p:spPr>
          <a:xfrm>
            <a:off x="758952" y="2423160"/>
            <a:ext cx="4975708" cy="2953512"/>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Strong inductive bias: locality, equivariance, hierarchy</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Learns from small datasets; receptive field grows with depth</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Cheaper at high resolution; simple deployment</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From scratch on 10k images: beats ViT decisively (Lab 2b)</a:t>
            </a:r>
            <a:endParaRPr lang="en-US" sz="1150" dirty="0"/>
          </a:p>
        </p:txBody>
      </p:sp>
      <p:sp>
        <p:nvSpPr>
          <p:cNvPr id="12" name="Shape 9"/>
          <p:cNvSpPr/>
          <p:nvPr/>
        </p:nvSpPr>
        <p:spPr>
          <a:xfrm>
            <a:off x="6255868" y="1892808"/>
            <a:ext cx="5432908" cy="3611880"/>
          </a:xfrm>
          <a:prstGeom prst="roundRect">
            <a:avLst>
              <a:gd name="adj" fmla="val 2278"/>
            </a:avLst>
          </a:prstGeom>
          <a:solidFill>
            <a:srgbClr val="F2F6F9"/>
          </a:solidFill>
          <a:ln w="12700">
            <a:solidFill>
              <a:srgbClr val="D9E2EA"/>
            </a:solidFill>
            <a:prstDash val="solid"/>
          </a:ln>
        </p:spPr>
      </p:sp>
      <p:sp>
        <p:nvSpPr>
          <p:cNvPr id="13" name="Shape 10"/>
          <p:cNvSpPr/>
          <p:nvPr/>
        </p:nvSpPr>
        <p:spPr>
          <a:xfrm>
            <a:off x="6457036" y="2084832"/>
            <a:ext cx="146304" cy="146304"/>
          </a:xfrm>
          <a:prstGeom prst="ellipse">
            <a:avLst/>
          </a:prstGeom>
          <a:solidFill>
            <a:srgbClr val="29ABE2"/>
          </a:solidFill>
          <a:ln/>
        </p:spPr>
      </p:sp>
      <p:sp>
        <p:nvSpPr>
          <p:cNvPr id="14" name="Text 11"/>
          <p:cNvSpPr/>
          <p:nvPr/>
        </p:nvSpPr>
        <p:spPr>
          <a:xfrm>
            <a:off x="6713068" y="198424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ViT (patches + attention)</a:t>
            </a:r>
            <a:endParaRPr lang="en-US" sz="1400" dirty="0"/>
          </a:p>
        </p:txBody>
      </p:sp>
      <p:sp>
        <p:nvSpPr>
          <p:cNvPr id="15" name="Text 12"/>
          <p:cNvSpPr/>
          <p:nvPr/>
        </p:nvSpPr>
        <p:spPr>
          <a:xfrm>
            <a:off x="6511900" y="2423160"/>
            <a:ext cx="4975708" cy="2953512"/>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16x16 patches as tokens; every patch attends to every patch</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Global receptive field from layer 1 - long-range relations</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Weak bias: needs large pre-training (ImageNet-21k, LAION)</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Quadratic cost in tokens; Swin windows restore hierarchy</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Attention maps double as audit evidence</a:t>
            </a:r>
            <a:endParaRPr lang="en-US" sz="1150" dirty="0"/>
          </a:p>
        </p:txBody>
      </p:sp>
      <p:sp>
        <p:nvSpPr>
          <p:cNvPr id="16" name="Shape 13"/>
          <p:cNvSpPr/>
          <p:nvPr/>
        </p:nvSpPr>
        <p:spPr>
          <a:xfrm>
            <a:off x="2639416" y="5669280"/>
            <a:ext cx="6912864" cy="457200"/>
          </a:xfrm>
          <a:prstGeom prst="roundRect">
            <a:avLst>
              <a:gd name="adj" fmla="val 50000"/>
            </a:avLst>
          </a:prstGeom>
          <a:solidFill>
            <a:srgbClr val="FEF3E7"/>
          </a:solidFill>
          <a:ln w="15875">
            <a:solidFill>
              <a:srgbClr val="F58220"/>
            </a:solidFill>
            <a:prstDash val="solid"/>
          </a:ln>
        </p:spPr>
      </p:sp>
      <p:sp>
        <p:nvSpPr>
          <p:cNvPr id="17" name="Text 14"/>
          <p:cNvSpPr/>
          <p:nvPr/>
        </p:nvSpPr>
        <p:spPr>
          <a:xfrm>
            <a:off x="2730856" y="5669280"/>
            <a:ext cx="6729984" cy="457200"/>
          </a:xfrm>
          <a:prstGeom prst="rect">
            <a:avLst/>
          </a:prstGeom>
          <a:noFill/>
          <a:ln/>
        </p:spPr>
        <p:txBody>
          <a:bodyPr wrap="square" lIns="0" tIns="0" rIns="0" bIns="0" rtlCol="0" anchor="ctr"/>
          <a:lstStyle/>
          <a:p>
            <a:pPr algn="ctr" indent="0" marL="0">
              <a:buNone/>
            </a:pPr>
            <a:r>
              <a:rPr lang="en-US" sz="1200" b="1" dirty="0">
                <a:solidFill>
                  <a:srgbClr val="B35A0F"/>
                </a:solidFill>
                <a:latin typeface="Calibri" pitchFamily="34" charset="0"/>
                <a:ea typeface="Calibri" pitchFamily="34" charset="-122"/>
                <a:cs typeface="Calibri" pitchFamily="34" charset="-120"/>
              </a:rPr>
              <a:t>&lt;10k images + tight latency: CNN. Global context or multimodal roadmap: ViT.</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staged fine-tuning recipe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وصفة الضبط الدقيق المرحلي</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36</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Lab 2 implements this verbatim. Cosine decay + 1-2 warmup epochs; early layers keep generic features, later layers adapt.</a:t>
            </a:r>
            <a:endParaRPr lang="en-US" sz="1250" dirty="0"/>
          </a:p>
        </p:txBody>
      </p:sp>
      <p:sp>
        <p:nvSpPr>
          <p:cNvPr id="8" name="Shape 5"/>
          <p:cNvSpPr/>
          <p:nvPr/>
        </p:nvSpPr>
        <p:spPr>
          <a:xfrm>
            <a:off x="502920" y="3118104"/>
            <a:ext cx="2508428"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Replace the head</a:t>
            </a:r>
            <a:endParaRPr lang="en-US" sz="1250" dirty="0"/>
          </a:p>
        </p:txBody>
      </p:sp>
      <p:sp>
        <p:nvSpPr>
          <p:cNvPr id="10" name="Text 7"/>
          <p:cNvSpPr/>
          <p:nvPr/>
        </p:nvSpPr>
        <p:spPr>
          <a:xfrm>
            <a:off x="576072"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Linear(2048, 4); keep pre-trained body</a:t>
            </a:r>
            <a:endParaRPr lang="en-US" sz="950" dirty="0"/>
          </a:p>
        </p:txBody>
      </p:sp>
      <p:sp>
        <p:nvSpPr>
          <p:cNvPr id="11" name="Shape 8"/>
          <p:cNvSpPr/>
          <p:nvPr/>
        </p:nvSpPr>
        <p:spPr>
          <a:xfrm>
            <a:off x="3066212" y="3803904"/>
            <a:ext cx="274320" cy="0"/>
          </a:xfrm>
          <a:prstGeom prst="line">
            <a:avLst/>
          </a:prstGeom>
          <a:noFill/>
          <a:ln w="19050">
            <a:solidFill>
              <a:srgbClr val="8A96A6"/>
            </a:solidFill>
            <a:prstDash val="solid"/>
            <a:headEnd type="none"/>
            <a:tailEnd type="triangle"/>
          </a:ln>
        </p:spPr>
      </p:sp>
      <p:sp>
        <p:nvSpPr>
          <p:cNvPr id="12" name="Shape 9"/>
          <p:cNvSpPr/>
          <p:nvPr/>
        </p:nvSpPr>
        <p:spPr>
          <a:xfrm>
            <a:off x="3395396" y="3118104"/>
            <a:ext cx="2508428" cy="1371600"/>
          </a:xfrm>
          <a:prstGeom prst="roundRect">
            <a:avLst>
              <a:gd name="adj" fmla="val 4667"/>
            </a:avLst>
          </a:prstGeom>
          <a:solidFill>
            <a:srgbClr val="F2F6F9"/>
          </a:solidFill>
          <a:ln w="15875">
            <a:solidFill>
              <a:srgbClr val="00A79D"/>
            </a:solidFill>
            <a:prstDash val="solid"/>
          </a:ln>
        </p:spPr>
      </p:sp>
      <p:sp>
        <p:nvSpPr>
          <p:cNvPr id="13" name="Text 10"/>
          <p:cNvSpPr/>
          <p:nvPr/>
        </p:nvSpPr>
        <p:spPr>
          <a:xfrm>
            <a:off x="3468548"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Stage 1: head-only</a:t>
            </a:r>
            <a:endParaRPr lang="en-US" sz="1250" dirty="0"/>
          </a:p>
        </p:txBody>
      </p:sp>
      <p:sp>
        <p:nvSpPr>
          <p:cNvPr id="14" name="Text 11"/>
          <p:cNvSpPr/>
          <p:nvPr/>
        </p:nvSpPr>
        <p:spPr>
          <a:xfrm>
            <a:off x="3468548"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freeze backbone; 2-3 epochs at lr=1e-3</a:t>
            </a:r>
            <a:endParaRPr lang="en-US" sz="950" dirty="0"/>
          </a:p>
        </p:txBody>
      </p:sp>
      <p:sp>
        <p:nvSpPr>
          <p:cNvPr id="15" name="Shape 12"/>
          <p:cNvSpPr/>
          <p:nvPr/>
        </p:nvSpPr>
        <p:spPr>
          <a:xfrm>
            <a:off x="5958688" y="3803904"/>
            <a:ext cx="274320" cy="0"/>
          </a:xfrm>
          <a:prstGeom prst="line">
            <a:avLst/>
          </a:prstGeom>
          <a:noFill/>
          <a:ln w="19050">
            <a:solidFill>
              <a:srgbClr val="8A96A6"/>
            </a:solidFill>
            <a:prstDash val="solid"/>
            <a:headEnd type="none"/>
            <a:tailEnd type="triangle"/>
          </a:ln>
        </p:spPr>
      </p:sp>
      <p:sp>
        <p:nvSpPr>
          <p:cNvPr id="16" name="Shape 13"/>
          <p:cNvSpPr/>
          <p:nvPr/>
        </p:nvSpPr>
        <p:spPr>
          <a:xfrm>
            <a:off x="6287872" y="3118104"/>
            <a:ext cx="2508428" cy="1371600"/>
          </a:xfrm>
          <a:prstGeom prst="roundRect">
            <a:avLst>
              <a:gd name="adj" fmla="val 4667"/>
            </a:avLst>
          </a:prstGeom>
          <a:solidFill>
            <a:srgbClr val="F2F6F9"/>
          </a:solidFill>
          <a:ln w="15875">
            <a:solidFill>
              <a:srgbClr val="00A79D"/>
            </a:solidFill>
            <a:prstDash val="solid"/>
          </a:ln>
        </p:spPr>
      </p:sp>
      <p:sp>
        <p:nvSpPr>
          <p:cNvPr id="17" name="Text 14"/>
          <p:cNvSpPr/>
          <p:nvPr/>
        </p:nvSpPr>
        <p:spPr>
          <a:xfrm>
            <a:off x="6361024"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Stage 2: unfreeze</a:t>
            </a:r>
            <a:endParaRPr lang="en-US" sz="1250" dirty="0"/>
          </a:p>
        </p:txBody>
      </p:sp>
      <p:sp>
        <p:nvSpPr>
          <p:cNvPr id="18" name="Text 15"/>
          <p:cNvSpPr/>
          <p:nvPr/>
        </p:nvSpPr>
        <p:spPr>
          <a:xfrm>
            <a:off x="6361024"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backbone 1e-5 to 1e-4, head 1e-3</a:t>
            </a:r>
            <a:endParaRPr lang="en-US" sz="950" dirty="0"/>
          </a:p>
        </p:txBody>
      </p:sp>
      <p:sp>
        <p:nvSpPr>
          <p:cNvPr id="19" name="Shape 16"/>
          <p:cNvSpPr/>
          <p:nvPr/>
        </p:nvSpPr>
        <p:spPr>
          <a:xfrm>
            <a:off x="8851163" y="3803904"/>
            <a:ext cx="274320" cy="0"/>
          </a:xfrm>
          <a:prstGeom prst="line">
            <a:avLst/>
          </a:prstGeom>
          <a:noFill/>
          <a:ln w="19050">
            <a:solidFill>
              <a:srgbClr val="8A96A6"/>
            </a:solidFill>
            <a:prstDash val="solid"/>
            <a:headEnd type="none"/>
            <a:tailEnd type="triangle"/>
          </a:ln>
        </p:spPr>
      </p:sp>
      <p:sp>
        <p:nvSpPr>
          <p:cNvPr id="20" name="Shape 17"/>
          <p:cNvSpPr/>
          <p:nvPr/>
        </p:nvSpPr>
        <p:spPr>
          <a:xfrm>
            <a:off x="7542086" y="4489704"/>
            <a:ext cx="0" cy="274320"/>
          </a:xfrm>
          <a:prstGeom prst="line">
            <a:avLst/>
          </a:prstGeom>
          <a:noFill/>
          <a:ln w="15875">
            <a:solidFill>
              <a:srgbClr val="E8503A"/>
            </a:solidFill>
            <a:prstDash val="dash"/>
          </a:ln>
        </p:spPr>
      </p:sp>
      <p:sp>
        <p:nvSpPr>
          <p:cNvPr id="21" name="Shape 18"/>
          <p:cNvSpPr/>
          <p:nvPr/>
        </p:nvSpPr>
        <p:spPr>
          <a:xfrm>
            <a:off x="6242152" y="4764024"/>
            <a:ext cx="2599868" cy="475488"/>
          </a:xfrm>
          <a:prstGeom prst="roundRect">
            <a:avLst>
              <a:gd name="adj" fmla="val 11538"/>
            </a:avLst>
          </a:prstGeom>
          <a:solidFill>
            <a:srgbClr val="FDEDEA"/>
          </a:solidFill>
          <a:ln w="12700">
            <a:solidFill>
              <a:srgbClr val="E8503A"/>
            </a:solidFill>
            <a:prstDash val="solid"/>
          </a:ln>
        </p:spPr>
      </p:sp>
      <p:sp>
        <p:nvSpPr>
          <p:cNvPr id="22" name="Text 19"/>
          <p:cNvSpPr/>
          <p:nvPr/>
        </p:nvSpPr>
        <p:spPr>
          <a:xfrm>
            <a:off x="6287872" y="4764024"/>
            <a:ext cx="2508428"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Uniform lr=1e-3 wipes pre-trained features in one epoch</a:t>
            </a:r>
            <a:endParaRPr lang="en-US" sz="950" dirty="0"/>
          </a:p>
        </p:txBody>
      </p:sp>
      <p:sp>
        <p:nvSpPr>
          <p:cNvPr id="23" name="Shape 20"/>
          <p:cNvSpPr/>
          <p:nvPr/>
        </p:nvSpPr>
        <p:spPr>
          <a:xfrm>
            <a:off x="9180347" y="3118104"/>
            <a:ext cx="2508428" cy="1371600"/>
          </a:xfrm>
          <a:prstGeom prst="roundRect">
            <a:avLst>
              <a:gd name="adj" fmla="val 4667"/>
            </a:avLst>
          </a:prstGeom>
          <a:solidFill>
            <a:srgbClr val="1D2A5C"/>
          </a:solidFill>
          <a:ln w="15875">
            <a:solidFill>
              <a:srgbClr val="00A79D"/>
            </a:solidFill>
            <a:prstDash val="solid"/>
          </a:ln>
        </p:spPr>
      </p:sp>
      <p:sp>
        <p:nvSpPr>
          <p:cNvPr id="24" name="Text 21"/>
          <p:cNvSpPr/>
          <p:nvPr/>
        </p:nvSpPr>
        <p:spPr>
          <a:xfrm>
            <a:off x="9253499" y="3172968"/>
            <a:ext cx="2362124"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Stop on macro-F1</a:t>
            </a:r>
            <a:endParaRPr lang="en-US" sz="1250" dirty="0"/>
          </a:p>
        </p:txBody>
      </p:sp>
      <p:sp>
        <p:nvSpPr>
          <p:cNvPr id="25" name="Text 22"/>
          <p:cNvSpPr/>
          <p:nvPr/>
        </p:nvSpPr>
        <p:spPr>
          <a:xfrm>
            <a:off x="9253499" y="3776472"/>
            <a:ext cx="2362124"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patience 3; restore best checkpoint</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training loop as an artefact</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حلقة التدريب كمنتج هندسي</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37</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Seed everything, log the seed</a:t>
            </a:r>
            <a:endParaRPr lang="en-US" sz="1400" dirty="0"/>
          </a:p>
        </p:txBody>
      </p:sp>
      <p:sp>
        <p:nvSpPr>
          <p:cNvPr id="10" name="Text 7"/>
          <p:cNvSpPr/>
          <p:nvPr/>
        </p:nvSpPr>
        <p:spPr>
          <a:xfrm>
            <a:off x="1005840" y="179679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torch.manual_seed, loader workers, cudnn determinism for eval - reruns must match.</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Every run writes artefacts</a:t>
            </a:r>
            <a:endParaRPr lang="en-US" sz="1400" dirty="0"/>
          </a:p>
        </p:txBody>
      </p:sp>
      <p:sp>
        <p:nvSpPr>
          <p:cNvPr id="14" name="Text 11"/>
          <p:cNvSpPr/>
          <p:nvPr/>
        </p:nvSpPr>
        <p:spPr>
          <a:xfrm>
            <a:off x="1005840" y="298551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Config snapshot, per-epoch metrics CSV, best checkpoint - runs/&lt;name&gt;/ is the record.</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Mixed precision by default</a:t>
            </a:r>
            <a:endParaRPr lang="en-US" sz="1400" dirty="0"/>
          </a:p>
        </p:txBody>
      </p:sp>
      <p:sp>
        <p:nvSpPr>
          <p:cNvPr id="18" name="Text 15"/>
          <p:cNvSpPr/>
          <p:nvPr/>
        </p:nvSpPr>
        <p:spPr>
          <a:xfrm>
            <a:off x="1005840" y="417423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autocast + GradScaler halves memory, speeds training ~1.7x on classroom GPUs.</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Per-class metrics, day one</a:t>
            </a:r>
            <a:endParaRPr lang="en-US" sz="1400" dirty="0"/>
          </a:p>
        </p:txBody>
      </p:sp>
      <p:sp>
        <p:nvSpPr>
          <p:cNvPr id="22" name="Text 19"/>
          <p:cNvSpPr/>
          <p:nvPr/>
        </p:nvSpPr>
        <p:spPr>
          <a:xfrm>
            <a:off x="1005840" y="536295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Aggregate accuracy hides the reject class: 2-4% of data, 90% of business value.</a:t>
            </a:r>
            <a:endParaRPr lang="en-US" sz="1150" dirty="0"/>
          </a:p>
        </p:txBody>
      </p:sp>
      <p:sp>
        <p:nvSpPr>
          <p:cNvPr id="23" name="Shape 20"/>
          <p:cNvSpPr/>
          <p:nvPr/>
        </p:nvSpPr>
        <p:spPr>
          <a:xfrm>
            <a:off x="7573975" y="2514417"/>
            <a:ext cx="867948" cy="950647"/>
          </a:xfrm>
          <a:prstGeom prst="line">
            <a:avLst/>
          </a:prstGeom>
          <a:noFill/>
          <a:ln w="15875">
            <a:solidFill>
              <a:srgbClr val="D9E2EA"/>
            </a:solidFill>
            <a:prstDash val="solid"/>
          </a:ln>
        </p:spPr>
      </p:sp>
      <p:sp>
        <p:nvSpPr>
          <p:cNvPr id="24" name="Shape 21"/>
          <p:cNvSpPr/>
          <p:nvPr/>
        </p:nvSpPr>
        <p:spPr>
          <a:xfrm>
            <a:off x="6888175" y="1728033"/>
            <a:ext cx="1371600" cy="786384"/>
          </a:xfrm>
          <a:prstGeom prst="roundRect">
            <a:avLst>
              <a:gd name="adj" fmla="val 8140"/>
            </a:avLst>
          </a:prstGeom>
          <a:solidFill>
            <a:srgbClr val="F2F6F9"/>
          </a:solidFill>
          <a:ln w="15875">
            <a:solidFill>
              <a:srgbClr val="00A79D"/>
            </a:solidFill>
            <a:prstDash val="solid"/>
          </a:ln>
        </p:spPr>
      </p:sp>
      <p:sp>
        <p:nvSpPr>
          <p:cNvPr id="25" name="Text 22"/>
          <p:cNvSpPr/>
          <p:nvPr/>
        </p:nvSpPr>
        <p:spPr>
          <a:xfrm>
            <a:off x="6952183" y="1764609"/>
            <a:ext cx="1243584" cy="393192"/>
          </a:xfrm>
          <a:prstGeom prst="rect">
            <a:avLst/>
          </a:prstGeom>
          <a:noFill/>
          <a:ln/>
        </p:spPr>
        <p:txBody>
          <a:bodyPr wrap="square" lIns="0" tIns="0" rIns="0" bIns="0"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state_dict</a:t>
            </a:r>
            <a:endParaRPr lang="en-US" sz="1150" dirty="0"/>
          </a:p>
        </p:txBody>
      </p:sp>
      <p:sp>
        <p:nvSpPr>
          <p:cNvPr id="26" name="Text 23"/>
          <p:cNvSpPr/>
          <p:nvPr/>
        </p:nvSpPr>
        <p:spPr>
          <a:xfrm>
            <a:off x="6952183" y="2121225"/>
            <a:ext cx="1243584" cy="353873"/>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weights</a:t>
            </a:r>
            <a:endParaRPr lang="en-US" sz="900" dirty="0"/>
          </a:p>
        </p:txBody>
      </p:sp>
      <p:sp>
        <p:nvSpPr>
          <p:cNvPr id="27" name="Shape 24"/>
          <p:cNvSpPr/>
          <p:nvPr/>
        </p:nvSpPr>
        <p:spPr>
          <a:xfrm flipH="1">
            <a:off x="9752076" y="2514417"/>
            <a:ext cx="867948" cy="950647"/>
          </a:xfrm>
          <a:prstGeom prst="line">
            <a:avLst/>
          </a:prstGeom>
          <a:noFill/>
          <a:ln w="15875">
            <a:solidFill>
              <a:srgbClr val="D9E2EA"/>
            </a:solidFill>
            <a:prstDash val="solid"/>
          </a:ln>
        </p:spPr>
      </p:sp>
      <p:sp>
        <p:nvSpPr>
          <p:cNvPr id="28" name="Shape 25"/>
          <p:cNvSpPr/>
          <p:nvPr/>
        </p:nvSpPr>
        <p:spPr>
          <a:xfrm>
            <a:off x="9781337" y="1728033"/>
            <a:ext cx="1371600" cy="786384"/>
          </a:xfrm>
          <a:prstGeom prst="roundRect">
            <a:avLst>
              <a:gd name="adj" fmla="val 8140"/>
            </a:avLst>
          </a:prstGeom>
          <a:solidFill>
            <a:srgbClr val="F2F6F9"/>
          </a:solidFill>
          <a:ln w="15875">
            <a:solidFill>
              <a:srgbClr val="29ABE2"/>
            </a:solidFill>
            <a:prstDash val="solid"/>
          </a:ln>
        </p:spPr>
      </p:sp>
      <p:sp>
        <p:nvSpPr>
          <p:cNvPr id="29" name="Text 26"/>
          <p:cNvSpPr/>
          <p:nvPr/>
        </p:nvSpPr>
        <p:spPr>
          <a:xfrm>
            <a:off x="9845345" y="1764609"/>
            <a:ext cx="1243584" cy="393192"/>
          </a:xfrm>
          <a:prstGeom prst="rect">
            <a:avLst/>
          </a:prstGeom>
          <a:noFill/>
          <a:ln/>
        </p:spPr>
        <p:txBody>
          <a:bodyPr wrap="square" lIns="0" tIns="0" rIns="0" bIns="0"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classes</a:t>
            </a:r>
            <a:endParaRPr lang="en-US" sz="1150" dirty="0"/>
          </a:p>
        </p:txBody>
      </p:sp>
      <p:sp>
        <p:nvSpPr>
          <p:cNvPr id="30" name="Text 27"/>
          <p:cNvSpPr/>
          <p:nvPr/>
        </p:nvSpPr>
        <p:spPr>
          <a:xfrm>
            <a:off x="9845345" y="2121225"/>
            <a:ext cx="1243584" cy="353873"/>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GRADES order</a:t>
            </a:r>
            <a:endParaRPr lang="en-US" sz="900" dirty="0"/>
          </a:p>
        </p:txBody>
      </p:sp>
      <p:sp>
        <p:nvSpPr>
          <p:cNvPr id="31" name="Shape 28"/>
          <p:cNvSpPr/>
          <p:nvPr/>
        </p:nvSpPr>
        <p:spPr>
          <a:xfrm flipV="1">
            <a:off x="7573975" y="3872484"/>
            <a:ext cx="867948" cy="950647"/>
          </a:xfrm>
          <a:prstGeom prst="line">
            <a:avLst/>
          </a:prstGeom>
          <a:noFill/>
          <a:ln w="15875">
            <a:solidFill>
              <a:srgbClr val="D9E2EA"/>
            </a:solidFill>
            <a:prstDash val="solid"/>
          </a:ln>
        </p:spPr>
      </p:sp>
      <p:sp>
        <p:nvSpPr>
          <p:cNvPr id="32" name="Shape 29"/>
          <p:cNvSpPr/>
          <p:nvPr/>
        </p:nvSpPr>
        <p:spPr>
          <a:xfrm>
            <a:off x="6888175" y="5230551"/>
            <a:ext cx="1371600" cy="786384"/>
          </a:xfrm>
          <a:prstGeom prst="roundRect">
            <a:avLst>
              <a:gd name="adj" fmla="val 8140"/>
            </a:avLst>
          </a:prstGeom>
          <a:solidFill>
            <a:srgbClr val="F2F6F9"/>
          </a:solidFill>
          <a:ln w="15875">
            <a:solidFill>
              <a:srgbClr val="F58220"/>
            </a:solidFill>
            <a:prstDash val="solid"/>
          </a:ln>
        </p:spPr>
      </p:sp>
      <p:sp>
        <p:nvSpPr>
          <p:cNvPr id="33" name="Text 30"/>
          <p:cNvSpPr/>
          <p:nvPr/>
        </p:nvSpPr>
        <p:spPr>
          <a:xfrm>
            <a:off x="6952183" y="5267127"/>
            <a:ext cx="1243584" cy="393192"/>
          </a:xfrm>
          <a:prstGeom prst="rect">
            <a:avLst/>
          </a:prstGeom>
          <a:noFill/>
          <a:ln/>
        </p:spPr>
        <p:txBody>
          <a:bodyPr wrap="square" lIns="0" tIns="0" rIns="0" bIns="0"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contract</a:t>
            </a:r>
            <a:endParaRPr lang="en-US" sz="1150" dirty="0"/>
          </a:p>
        </p:txBody>
      </p:sp>
      <p:sp>
        <p:nvSpPr>
          <p:cNvPr id="34" name="Text 31"/>
          <p:cNvSpPr/>
          <p:nvPr/>
        </p:nvSpPr>
        <p:spPr>
          <a:xfrm>
            <a:off x="6952183" y="5623743"/>
            <a:ext cx="1243584" cy="353873"/>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transforms.py@v1</a:t>
            </a:r>
            <a:endParaRPr lang="en-US" sz="900" dirty="0"/>
          </a:p>
        </p:txBody>
      </p:sp>
      <p:sp>
        <p:nvSpPr>
          <p:cNvPr id="35" name="Shape 32"/>
          <p:cNvSpPr/>
          <p:nvPr/>
        </p:nvSpPr>
        <p:spPr>
          <a:xfrm flipH="1" flipV="1">
            <a:off x="9752076" y="3872484"/>
            <a:ext cx="867948" cy="950647"/>
          </a:xfrm>
          <a:prstGeom prst="line">
            <a:avLst/>
          </a:prstGeom>
          <a:noFill/>
          <a:ln w="15875">
            <a:solidFill>
              <a:srgbClr val="D9E2EA"/>
            </a:solidFill>
            <a:prstDash val="solid"/>
          </a:ln>
        </p:spPr>
      </p:sp>
      <p:sp>
        <p:nvSpPr>
          <p:cNvPr id="36" name="Shape 33"/>
          <p:cNvSpPr/>
          <p:nvPr/>
        </p:nvSpPr>
        <p:spPr>
          <a:xfrm>
            <a:off x="9781337" y="5230551"/>
            <a:ext cx="1371600" cy="786384"/>
          </a:xfrm>
          <a:prstGeom prst="roundRect">
            <a:avLst>
              <a:gd name="adj" fmla="val 8140"/>
            </a:avLst>
          </a:prstGeom>
          <a:solidFill>
            <a:srgbClr val="F2F6F9"/>
          </a:solidFill>
          <a:ln w="15875">
            <a:solidFill>
              <a:srgbClr val="8DC63F"/>
            </a:solidFill>
            <a:prstDash val="solid"/>
          </a:ln>
        </p:spPr>
      </p:sp>
      <p:sp>
        <p:nvSpPr>
          <p:cNvPr id="37" name="Text 34"/>
          <p:cNvSpPr/>
          <p:nvPr/>
        </p:nvSpPr>
        <p:spPr>
          <a:xfrm>
            <a:off x="9845345" y="5267127"/>
            <a:ext cx="1243584" cy="393192"/>
          </a:xfrm>
          <a:prstGeom prst="rect">
            <a:avLst/>
          </a:prstGeom>
          <a:noFill/>
          <a:ln/>
        </p:spPr>
        <p:txBody>
          <a:bodyPr wrap="square" lIns="0" tIns="0" rIns="0" bIns="0"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val_metrics</a:t>
            </a:r>
            <a:endParaRPr lang="en-US" sz="1150" dirty="0"/>
          </a:p>
        </p:txBody>
      </p:sp>
      <p:sp>
        <p:nvSpPr>
          <p:cNvPr id="38" name="Text 35"/>
          <p:cNvSpPr/>
          <p:nvPr/>
        </p:nvSpPr>
        <p:spPr>
          <a:xfrm>
            <a:off x="9845345" y="5623743"/>
            <a:ext cx="1243584" cy="353873"/>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per-class</a:t>
            </a:r>
            <a:endParaRPr lang="en-US" sz="900" dirty="0"/>
          </a:p>
        </p:txBody>
      </p:sp>
      <p:sp>
        <p:nvSpPr>
          <p:cNvPr id="39" name="Shape 36"/>
          <p:cNvSpPr/>
          <p:nvPr/>
        </p:nvSpPr>
        <p:spPr>
          <a:xfrm>
            <a:off x="8289036" y="3415284"/>
            <a:ext cx="1463040" cy="914400"/>
          </a:xfrm>
          <a:prstGeom prst="roundRect">
            <a:avLst>
              <a:gd name="adj" fmla="val 9000"/>
            </a:avLst>
          </a:prstGeom>
          <a:solidFill>
            <a:srgbClr val="00A79D"/>
          </a:solidFill>
          <a:ln/>
        </p:spPr>
      </p:sp>
      <p:sp>
        <p:nvSpPr>
          <p:cNvPr id="40" name="Text 37"/>
          <p:cNvSpPr/>
          <p:nvPr/>
        </p:nvSpPr>
        <p:spPr>
          <a:xfrm>
            <a:off x="8353044" y="3451860"/>
            <a:ext cx="133502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best.pt</a:t>
            </a:r>
            <a:endParaRPr lang="en-US" sz="1300" dirty="0"/>
          </a:p>
        </p:txBody>
      </p:sp>
      <p:sp>
        <p:nvSpPr>
          <p:cNvPr id="41" name="Text 38"/>
          <p:cNvSpPr/>
          <p:nvPr/>
        </p:nvSpPr>
        <p:spPr>
          <a:xfrm>
            <a:off x="8353044" y="3890772"/>
            <a:ext cx="1335024" cy="384048"/>
          </a:xfrm>
          <a:prstGeom prst="rect">
            <a:avLst/>
          </a:prstGeom>
          <a:noFill/>
          <a:ln/>
        </p:spPr>
        <p:txBody>
          <a:bodyPr wrap="square" lIns="0" tIns="0" rIns="0" bIns="0" rtlCol="0" anchor="t"/>
          <a:lstStyle/>
          <a:p>
            <a:pPr algn="ctr" indent="0" marL="0">
              <a:buNone/>
            </a:pPr>
            <a:r>
              <a:rPr lang="en-US" sz="900" dirty="0">
                <a:solidFill>
                  <a:srgbClr val="D4F1EE"/>
                </a:solidFill>
                <a:latin typeface="Calibri" pitchFamily="34" charset="0"/>
                <a:ea typeface="Calibri" pitchFamily="34" charset="-122"/>
                <a:cs typeface="Calibri" pitchFamily="34" charset="-120"/>
              </a:rPr>
              <a:t>servable ckpt</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Reading training curves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قراءة منحنيات التدريب</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38</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The diagnostic table participants memorise - used live in the curve clinic and the Lab 2 debrief.</a:t>
            </a:r>
            <a:endParaRPr lang="en-US" sz="12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3686194"/>
                <a:gridCol w="3595163"/>
                <a:gridCol w="3904498"/>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Likely cause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First fix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Train loss falls, val F1 falls at epoch k</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Overfitting</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More augmentation, earlier stop, more freezing</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Both losses plateau high</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Underfitting / LR too low / over-frozen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Unfreeze stage 2, raise head LR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Loss spikes to NaN or oscillates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LR too high (esp. unfrozen backbone)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10x lower backbone LR, add warmup</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Val F1 noisy run-to-run &gt; 2 pts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Tiny val set / augmented val / unseeded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Fix eval determinism (M1 rules)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Great val, poor line performance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Distribution shift or leakage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Slice evaluation (M6), audit splits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Common mistakes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أخطاء شائعة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39</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Production habit: keep a model card per checkpoint - data version, contract version, per-class metrics, operating point.</a:t>
            </a:r>
            <a:endParaRPr lang="en-US" sz="12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3547031"/>
                <a:gridCol w="3988960"/>
                <a:gridCol w="3649864"/>
              </a:tblGrid>
              <a:tr h="628323">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Mistake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Consequence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Defence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Fine-tune everything at lr=1e-3</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Pre-trained features destroyed in one epoch</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Staged recipe, discriminative LRs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model.eval() forgotten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Dropout/BN corrupt every downstream number</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Deterministic eval path, audited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Accuracy on 94%-majority data</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Do-nothing classifier scores 0.94</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Macro-F1 / per-class recall headline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Leaderboard pick, no latency check</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Deployment target vetoes the model (M7)</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Measure latency on target first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Tiny batches (&lt;8) with batch norm</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BN statistics corrupted while fine-tuning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Freeze BN layers or enlarge batches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state_dict saved alone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Checkpoint cannot be served correctly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Embed class order + contract ref</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Building the transfer model</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بناء نموذج التعلم بالنقل</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40</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841955"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src/tamr_vision/models/classifier.py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torch</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torch import nn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torchvision.models import ResNet50_Weights, resnet50</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NUM_CLASSES = 4  # premium/standard/substandard/reject - frozen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def build_model(pretrained: bool = True) -&gt; nn.Module: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w = ResNet50_Weights.IMAGENET1K_V2 if pretrained else None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model = resnet50(weights=w)</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model.fc = nn.Linear(model.fc.in_features, NUM_CLASSES)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return model</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def freeze_backbone(model: nn.Module) -&gt; None:</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"""Stage 1: only the new head trains."""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for name, p in model.named_parameters():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p.requires_grad = name.startswith("fc.")</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def param_groups(model, lr_backbone, lr_head):</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"""Stage 2: discriminative learning rates."""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backbone = [p for n, p in model.named_parameters()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if not n.startswith("fc.") and p.requires_grad]</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head = [p for n, p in model.named_parameters()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if n.startswith("fc.")]</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return [{"params": backbone, "lr": lr_backbone},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{"params": head, "lr": lr_head}]</a:t>
            </a:r>
            <a:endParaRPr lang="en-US" sz="900" dirty="0"/>
          </a:p>
        </p:txBody>
      </p:sp>
      <p:sp>
        <p:nvSpPr>
          <p:cNvPr id="11" name="Shape 8"/>
          <p:cNvSpPr/>
          <p:nvPr/>
        </p:nvSpPr>
        <p:spPr>
          <a:xfrm>
            <a:off x="7973568" y="1389888"/>
            <a:ext cx="3712464" cy="1463040"/>
          </a:xfrm>
          <a:prstGeom prst="roundRect">
            <a:avLst>
              <a:gd name="adj" fmla="val 4375"/>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New head, pre-trained body</a:t>
            </a:r>
            <a:endParaRPr lang="en-US" sz="1150" dirty="0"/>
          </a:p>
        </p:txBody>
      </p:sp>
      <p:sp>
        <p:nvSpPr>
          <p:cNvPr id="15" name="Text 12"/>
          <p:cNvSpPr/>
          <p:nvPr/>
        </p:nvSpPr>
        <p:spPr>
          <a:xfrm>
            <a:off x="8430768" y="1719072"/>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Swap the 1000-class ImageNet classifier for a fresh Linear(2048, 4); keep the rest.</a:t>
            </a:r>
            <a:endParaRPr lang="en-US" sz="1000" dirty="0"/>
          </a:p>
        </p:txBody>
      </p:sp>
      <p:sp>
        <p:nvSpPr>
          <p:cNvPr id="16" name="Shape 13"/>
          <p:cNvSpPr/>
          <p:nvPr/>
        </p:nvSpPr>
        <p:spPr>
          <a:xfrm>
            <a:off x="7973568" y="3054096"/>
            <a:ext cx="3712464" cy="1463040"/>
          </a:xfrm>
          <a:prstGeom prst="roundRect">
            <a:avLst>
              <a:gd name="adj" fmla="val 4375"/>
            </a:avLst>
          </a:prstGeom>
          <a:solidFill>
            <a:srgbClr val="F2F6F9"/>
          </a:solidFill>
          <a:ln w="12700">
            <a:solidFill>
              <a:srgbClr val="D9E2EA"/>
            </a:solidFill>
            <a:prstDash val="solid"/>
          </a:ln>
        </p:spPr>
      </p:sp>
      <p:sp>
        <p:nvSpPr>
          <p:cNvPr id="17" name="Shape 14"/>
          <p:cNvSpPr/>
          <p:nvPr/>
        </p:nvSpPr>
        <p:spPr>
          <a:xfrm>
            <a:off x="8101584" y="3172968"/>
            <a:ext cx="237744" cy="237744"/>
          </a:xfrm>
          <a:prstGeom prst="ellipse">
            <a:avLst/>
          </a:prstGeom>
          <a:solidFill>
            <a:srgbClr val="29ABE2"/>
          </a:solidFill>
          <a:ln/>
        </p:spPr>
      </p:sp>
      <p:sp>
        <p:nvSpPr>
          <p:cNvPr id="18" name="Text 15"/>
          <p:cNvSpPr/>
          <p:nvPr/>
        </p:nvSpPr>
        <p:spPr>
          <a:xfrm>
            <a:off x="8101584" y="31729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3108960"/>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requires_grad is the freeze</a:t>
            </a:r>
            <a:endParaRPr lang="en-US" sz="1150" dirty="0"/>
          </a:p>
        </p:txBody>
      </p:sp>
      <p:sp>
        <p:nvSpPr>
          <p:cNvPr id="20" name="Text 17"/>
          <p:cNvSpPr/>
          <p:nvPr/>
        </p:nvSpPr>
        <p:spPr>
          <a:xfrm>
            <a:off x="8430768" y="3383280"/>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Stage 1 trains only parameters named fc.*; the backbone stays exactly as downloaded.</a:t>
            </a:r>
            <a:endParaRPr lang="en-US" sz="1000" dirty="0"/>
          </a:p>
        </p:txBody>
      </p:sp>
      <p:sp>
        <p:nvSpPr>
          <p:cNvPr id="21" name="Shape 18"/>
          <p:cNvSpPr/>
          <p:nvPr/>
        </p:nvSpPr>
        <p:spPr>
          <a:xfrm>
            <a:off x="7973568" y="4718304"/>
            <a:ext cx="3712464" cy="1463040"/>
          </a:xfrm>
          <a:prstGeom prst="roundRect">
            <a:avLst>
              <a:gd name="adj" fmla="val 4375"/>
            </a:avLst>
          </a:prstGeom>
          <a:solidFill>
            <a:srgbClr val="F2F6F9"/>
          </a:solidFill>
          <a:ln w="12700">
            <a:solidFill>
              <a:srgbClr val="D9E2EA"/>
            </a:solidFill>
            <a:prstDash val="solid"/>
          </a:ln>
        </p:spPr>
      </p:sp>
      <p:sp>
        <p:nvSpPr>
          <p:cNvPr id="22" name="Shape 19"/>
          <p:cNvSpPr/>
          <p:nvPr/>
        </p:nvSpPr>
        <p:spPr>
          <a:xfrm>
            <a:off x="8101584" y="4837176"/>
            <a:ext cx="237744" cy="237744"/>
          </a:xfrm>
          <a:prstGeom prst="ellipse">
            <a:avLst/>
          </a:prstGeom>
          <a:solidFill>
            <a:srgbClr val="F58220"/>
          </a:solidFill>
          <a:ln/>
        </p:spPr>
      </p:sp>
      <p:sp>
        <p:nvSpPr>
          <p:cNvPr id="23" name="Text 20"/>
          <p:cNvSpPr/>
          <p:nvPr/>
        </p:nvSpPr>
        <p:spPr>
          <a:xfrm>
            <a:off x="8101584" y="48371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773168"/>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Two param groups, two LRs</a:t>
            </a:r>
            <a:endParaRPr lang="en-US" sz="1150" dirty="0"/>
          </a:p>
        </p:txBody>
      </p:sp>
      <p:sp>
        <p:nvSpPr>
          <p:cNvPr id="25" name="Text 22"/>
          <p:cNvSpPr/>
          <p:nvPr/>
        </p:nvSpPr>
        <p:spPr>
          <a:xfrm>
            <a:off x="8430768" y="5047488"/>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Early layers hold generic edges/textures - protect them with a far smaller LR.</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Staged fine-tuning driver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مشغل الضبط المرحلي</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41</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200046"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scripts/train_classifier.py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torch.manual_seed(212)</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model = build_model().to(device)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weights = torch.tensor([0.6, 0.8, 2.4, 18.1])  # reject ~18x</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 Stage 1: head only, 2 epochs, lr=1e-3 ----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freeze_backbone(model)</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opt = torch.optim.AdamW(</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[p for p in model.parameters() if p.requires_grad], lr=1e-3)</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for _ in range(2):</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train_epoch(model, train_dl, opt, scaler, device, weights)</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 Stage 2: discriminative LRs, early stopping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for p in model.parameters():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p.requires_grad = True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opt = torch.optim.AdamW(param_groups(model, 5e-5, 1e-3))</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best_f1, patience = 0.0, 0</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for epoch in range(10):</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train_epoch(model, train_dl, opt, scaler, device, weights)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m = evaluate(model, val_dl, device)  # model.eval() inside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if m["macro_f1"] &gt; best_f1:</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best_f1, patience = m["macro_f1"], 0</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torch.save({"state_dict": model.state_dict(),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"classes": GRADES,  # order travels with weights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"contract": "transforms.py@v1",</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"val_metrics": m}, "runs/grade_resnet50/best.pt")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elif (patience := patience + 1) &gt;= 3:</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break</a:t>
            </a:r>
            <a:endParaRPr lang="en-US" sz="900" dirty="0"/>
          </a:p>
        </p:txBody>
      </p:sp>
      <p:sp>
        <p:nvSpPr>
          <p:cNvPr id="11" name="Shape 8"/>
          <p:cNvSpPr/>
          <p:nvPr/>
        </p:nvSpPr>
        <p:spPr>
          <a:xfrm>
            <a:off x="7973568" y="1389888"/>
            <a:ext cx="3712464" cy="1463040"/>
          </a:xfrm>
          <a:prstGeom prst="roundRect">
            <a:avLst>
              <a:gd name="adj" fmla="val 4375"/>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Seeds + AMP by default</a:t>
            </a:r>
            <a:endParaRPr lang="en-US" sz="1150" dirty="0"/>
          </a:p>
        </p:txBody>
      </p:sp>
      <p:sp>
        <p:nvSpPr>
          <p:cNvPr id="15" name="Text 12"/>
          <p:cNvSpPr/>
          <p:nvPr/>
        </p:nvSpPr>
        <p:spPr>
          <a:xfrm>
            <a:off x="8430768" y="1719072"/>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manual_seed logged; train_epoch runs autocast + GradScaler - ~1.7x faster, half memory.</a:t>
            </a:r>
            <a:endParaRPr lang="en-US" sz="1000" dirty="0"/>
          </a:p>
        </p:txBody>
      </p:sp>
      <p:sp>
        <p:nvSpPr>
          <p:cNvPr id="16" name="Shape 13"/>
          <p:cNvSpPr/>
          <p:nvPr/>
        </p:nvSpPr>
        <p:spPr>
          <a:xfrm>
            <a:off x="7973568" y="3054096"/>
            <a:ext cx="3712464" cy="1463040"/>
          </a:xfrm>
          <a:prstGeom prst="roundRect">
            <a:avLst>
              <a:gd name="adj" fmla="val 4375"/>
            </a:avLst>
          </a:prstGeom>
          <a:solidFill>
            <a:srgbClr val="F2F6F9"/>
          </a:solidFill>
          <a:ln w="12700">
            <a:solidFill>
              <a:srgbClr val="D9E2EA"/>
            </a:solidFill>
            <a:prstDash val="solid"/>
          </a:ln>
        </p:spPr>
      </p:sp>
      <p:sp>
        <p:nvSpPr>
          <p:cNvPr id="17" name="Shape 14"/>
          <p:cNvSpPr/>
          <p:nvPr/>
        </p:nvSpPr>
        <p:spPr>
          <a:xfrm>
            <a:off x="8101584" y="3172968"/>
            <a:ext cx="237744" cy="237744"/>
          </a:xfrm>
          <a:prstGeom prst="ellipse">
            <a:avLst/>
          </a:prstGeom>
          <a:solidFill>
            <a:srgbClr val="29ABE2"/>
          </a:solidFill>
          <a:ln/>
        </p:spPr>
      </p:sp>
      <p:sp>
        <p:nvSpPr>
          <p:cNvPr id="18" name="Text 15"/>
          <p:cNvSpPr/>
          <p:nvPr/>
        </p:nvSpPr>
        <p:spPr>
          <a:xfrm>
            <a:off x="8101584" y="31729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3108960"/>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Stop on macro-F1, not loss</a:t>
            </a:r>
            <a:endParaRPr lang="en-US" sz="1150" dirty="0"/>
          </a:p>
        </p:txBody>
      </p:sp>
      <p:sp>
        <p:nvSpPr>
          <p:cNvPr id="20" name="Text 17"/>
          <p:cNvSpPr/>
          <p:nvPr/>
        </p:nvSpPr>
        <p:spPr>
          <a:xfrm>
            <a:off x="8430768" y="3383280"/>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94%-majority imbalance; patience 3 keeps the best checkpoint by the honest metric.</a:t>
            </a:r>
            <a:endParaRPr lang="en-US" sz="1000" dirty="0"/>
          </a:p>
        </p:txBody>
      </p:sp>
      <p:sp>
        <p:nvSpPr>
          <p:cNvPr id="21" name="Shape 18"/>
          <p:cNvSpPr/>
          <p:nvPr/>
        </p:nvSpPr>
        <p:spPr>
          <a:xfrm>
            <a:off x="7973568" y="4718304"/>
            <a:ext cx="3712464" cy="1463040"/>
          </a:xfrm>
          <a:prstGeom prst="roundRect">
            <a:avLst>
              <a:gd name="adj" fmla="val 4375"/>
            </a:avLst>
          </a:prstGeom>
          <a:solidFill>
            <a:srgbClr val="F2F6F9"/>
          </a:solidFill>
          <a:ln w="12700">
            <a:solidFill>
              <a:srgbClr val="D9E2EA"/>
            </a:solidFill>
            <a:prstDash val="solid"/>
          </a:ln>
        </p:spPr>
      </p:sp>
      <p:sp>
        <p:nvSpPr>
          <p:cNvPr id="22" name="Shape 19"/>
          <p:cNvSpPr/>
          <p:nvPr/>
        </p:nvSpPr>
        <p:spPr>
          <a:xfrm>
            <a:off x="8101584" y="4837176"/>
            <a:ext cx="237744" cy="237744"/>
          </a:xfrm>
          <a:prstGeom prst="ellipse">
            <a:avLst/>
          </a:prstGeom>
          <a:solidFill>
            <a:srgbClr val="F58220"/>
          </a:solidFill>
          <a:ln/>
        </p:spPr>
      </p:sp>
      <p:sp>
        <p:nvSpPr>
          <p:cNvPr id="23" name="Text 20"/>
          <p:cNvSpPr/>
          <p:nvPr/>
        </p:nvSpPr>
        <p:spPr>
          <a:xfrm>
            <a:off x="8101584" y="48371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773168"/>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The servable checkpoint</a:t>
            </a:r>
            <a:endParaRPr lang="en-US" sz="1150" dirty="0"/>
          </a:p>
        </p:txBody>
      </p:sp>
      <p:sp>
        <p:nvSpPr>
          <p:cNvPr id="25" name="Text 22"/>
          <p:cNvSpPr/>
          <p:nvPr/>
        </p:nvSpPr>
        <p:spPr>
          <a:xfrm>
            <a:off x="8430768" y="5047488"/>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Class order and preprocessing-contract reference travel inside best.pt with the metrics.</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2 - fine-tune &amp; harden the grade classifier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المختبر الثاني: الضبط الدقيق</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42</a:t>
            </a:r>
            <a:endParaRPr lang="en-US" sz="900" dirty="0"/>
          </a:p>
        </p:txBody>
      </p:sp>
      <p:sp>
        <p:nvSpPr>
          <p:cNvPr id="7" name="Shape 4"/>
          <p:cNvSpPr/>
          <p:nvPr/>
        </p:nvSpPr>
        <p:spPr>
          <a:xfrm>
            <a:off x="502920" y="1389888"/>
            <a:ext cx="5806440" cy="932688"/>
          </a:xfrm>
          <a:prstGeom prst="roundRect">
            <a:avLst>
              <a:gd name="adj" fmla="val 7843"/>
            </a:avLst>
          </a:prstGeom>
          <a:solidFill>
            <a:srgbClr val="E9F6F5"/>
          </a:solidFill>
          <a:ln w="12700">
            <a:solidFill>
              <a:srgbClr val="00A79D"/>
            </a:solidFill>
            <a:prstDash val="solid"/>
          </a:ln>
        </p:spPr>
      </p:sp>
      <p:sp>
        <p:nvSpPr>
          <p:cNvPr id="8" name="Text 5"/>
          <p:cNvSpPr/>
          <p:nvPr/>
        </p:nvSpPr>
        <p:spPr>
          <a:xfrm>
            <a:off x="649224" y="1463040"/>
            <a:ext cx="553212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OBJECTIVE</a:t>
            </a:r>
            <a:endParaRPr lang="en-US" sz="900" dirty="0"/>
          </a:p>
        </p:txBody>
      </p:sp>
      <p:sp>
        <p:nvSpPr>
          <p:cNvPr id="9" name="Text 6"/>
          <p:cNvSpPr/>
          <p:nvPr/>
        </p:nvSpPr>
        <p:spPr>
          <a:xfrm>
            <a:off x="649224" y="1682496"/>
            <a:ext cx="553212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Fine-tune ResNet-50 on dates-qc with the staged recipe, beat the frozen baseline (macro-F1 0.86), then compare ViT-B/16.</a:t>
            </a:r>
            <a:endParaRPr lang="en-US" sz="1050" dirty="0"/>
          </a:p>
        </p:txBody>
      </p:sp>
      <p:sp>
        <p:nvSpPr>
          <p:cNvPr id="10" name="Shape 7"/>
          <p:cNvSpPr/>
          <p:nvPr/>
        </p:nvSpPr>
        <p:spPr>
          <a:xfrm>
            <a:off x="6510528" y="1389888"/>
            <a:ext cx="1600200" cy="932688"/>
          </a:xfrm>
          <a:prstGeom prst="roundRect">
            <a:avLst>
              <a:gd name="adj" fmla="val 7843"/>
            </a:avLst>
          </a:prstGeom>
          <a:solidFill>
            <a:srgbClr val="F2F6F9"/>
          </a:solidFill>
          <a:ln w="12700">
            <a:solidFill>
              <a:srgbClr val="D9E2EA"/>
            </a:solidFill>
            <a:prstDash val="solid"/>
          </a:ln>
        </p:spPr>
      </p:sp>
      <p:sp>
        <p:nvSpPr>
          <p:cNvPr id="11" name="Text 8"/>
          <p:cNvSpPr/>
          <p:nvPr/>
        </p:nvSpPr>
        <p:spPr>
          <a:xfrm>
            <a:off x="6656832" y="1463040"/>
            <a:ext cx="132588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DURATION</a:t>
            </a:r>
            <a:endParaRPr lang="en-US" sz="900" dirty="0"/>
          </a:p>
        </p:txBody>
      </p:sp>
      <p:sp>
        <p:nvSpPr>
          <p:cNvPr id="12" name="Text 9"/>
          <p:cNvSpPr/>
          <p:nvPr/>
        </p:nvSpPr>
        <p:spPr>
          <a:xfrm>
            <a:off x="6656832" y="1682496"/>
            <a:ext cx="132588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2 x 50 min (Day 1 H5 + Day 2 H1)</a:t>
            </a:r>
            <a:endParaRPr lang="en-US" sz="1050" dirty="0"/>
          </a:p>
        </p:txBody>
      </p:sp>
      <p:sp>
        <p:nvSpPr>
          <p:cNvPr id="13" name="Shape 10"/>
          <p:cNvSpPr/>
          <p:nvPr/>
        </p:nvSpPr>
        <p:spPr>
          <a:xfrm>
            <a:off x="8311896" y="1389888"/>
            <a:ext cx="3383280" cy="932688"/>
          </a:xfrm>
          <a:prstGeom prst="roundRect">
            <a:avLst>
              <a:gd name="adj" fmla="val 7843"/>
            </a:avLst>
          </a:prstGeom>
          <a:solidFill>
            <a:srgbClr val="F2F6F9"/>
          </a:solidFill>
          <a:ln w="12700">
            <a:solidFill>
              <a:srgbClr val="D9E2EA"/>
            </a:solidFill>
            <a:prstDash val="solid"/>
          </a:ln>
        </p:spPr>
      </p:sp>
      <p:sp>
        <p:nvSpPr>
          <p:cNvPr id="14" name="Text 11"/>
          <p:cNvSpPr/>
          <p:nvPr/>
        </p:nvSpPr>
        <p:spPr>
          <a:xfrm>
            <a:off x="8458200" y="1463040"/>
            <a:ext cx="310896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SETUP</a:t>
            </a:r>
            <a:endParaRPr lang="en-US" sz="900" dirty="0"/>
          </a:p>
        </p:txBody>
      </p:sp>
      <p:sp>
        <p:nvSpPr>
          <p:cNvPr id="15" name="Text 12"/>
          <p:cNvSpPr/>
          <p:nvPr/>
        </p:nvSpPr>
        <p:spPr>
          <a:xfrm>
            <a:off x="8458200" y="1682496"/>
            <a:ext cx="310896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Lab 1 pipeline; GPU (CPU fallback: 320px + stage-1 ckpt); lab2-start</a:t>
            </a:r>
            <a:endParaRPr lang="en-US" sz="1050" dirty="0"/>
          </a:p>
        </p:txBody>
      </p:sp>
      <p:sp>
        <p:nvSpPr>
          <p:cNvPr id="16" name="Shape 13"/>
          <p:cNvSpPr/>
          <p:nvPr/>
        </p:nvSpPr>
        <p:spPr>
          <a:xfrm>
            <a:off x="502920" y="2615837"/>
            <a:ext cx="274320" cy="274320"/>
          </a:xfrm>
          <a:prstGeom prst="ellipse">
            <a:avLst/>
          </a:prstGeom>
          <a:solidFill>
            <a:srgbClr val="1D2A5C"/>
          </a:solidFill>
          <a:ln/>
        </p:spPr>
      </p:sp>
      <p:sp>
        <p:nvSpPr>
          <p:cNvPr id="17" name="Text 14"/>
          <p:cNvSpPr/>
          <p:nvPr/>
        </p:nvSpPr>
        <p:spPr>
          <a:xfrm>
            <a:off x="502920" y="26158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Shape 15"/>
          <p:cNvSpPr/>
          <p:nvPr/>
        </p:nvSpPr>
        <p:spPr>
          <a:xfrm>
            <a:off x="886968" y="2615837"/>
            <a:ext cx="658368" cy="274320"/>
          </a:xfrm>
          <a:prstGeom prst="roundRect">
            <a:avLst>
              <a:gd name="adj" fmla="val 50000"/>
            </a:avLst>
          </a:prstGeom>
          <a:solidFill>
            <a:srgbClr val="E9F6F5"/>
          </a:solidFill>
          <a:ln w="9525">
            <a:solidFill>
              <a:srgbClr val="00A79D"/>
            </a:solidFill>
            <a:prstDash val="solid"/>
          </a:ln>
        </p:spPr>
      </p:sp>
      <p:sp>
        <p:nvSpPr>
          <p:cNvPr id="19" name="Text 16"/>
          <p:cNvSpPr/>
          <p:nvPr/>
        </p:nvSpPr>
        <p:spPr>
          <a:xfrm>
            <a:off x="886968" y="2615837"/>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20" name="Text 17"/>
          <p:cNvSpPr/>
          <p:nvPr/>
        </p:nvSpPr>
        <p:spPr>
          <a:xfrm>
            <a:off x="1673352" y="2523744"/>
            <a:ext cx="5733288" cy="495082"/>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A1 Implement build_model, freeze_backbone, param_groups</a:t>
            </a:r>
            <a:endParaRPr lang="en-US" sz="1150" dirty="0"/>
          </a:p>
        </p:txBody>
      </p:sp>
      <p:sp>
        <p:nvSpPr>
          <p:cNvPr id="21" name="Shape 18"/>
          <p:cNvSpPr/>
          <p:nvPr/>
        </p:nvSpPr>
        <p:spPr>
          <a:xfrm>
            <a:off x="502920" y="3165783"/>
            <a:ext cx="274320" cy="274320"/>
          </a:xfrm>
          <a:prstGeom prst="ellipse">
            <a:avLst/>
          </a:prstGeom>
          <a:solidFill>
            <a:srgbClr val="1D2A5C"/>
          </a:solidFill>
          <a:ln/>
        </p:spPr>
      </p:sp>
      <p:sp>
        <p:nvSpPr>
          <p:cNvPr id="22" name="Text 19"/>
          <p:cNvSpPr/>
          <p:nvPr/>
        </p:nvSpPr>
        <p:spPr>
          <a:xfrm>
            <a:off x="502920" y="316578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Shape 20"/>
          <p:cNvSpPr/>
          <p:nvPr/>
        </p:nvSpPr>
        <p:spPr>
          <a:xfrm>
            <a:off x="886968" y="3165783"/>
            <a:ext cx="658368" cy="274320"/>
          </a:xfrm>
          <a:prstGeom prst="roundRect">
            <a:avLst>
              <a:gd name="adj" fmla="val 50000"/>
            </a:avLst>
          </a:prstGeom>
          <a:solidFill>
            <a:srgbClr val="E9F6F5"/>
          </a:solidFill>
          <a:ln w="9525">
            <a:solidFill>
              <a:srgbClr val="00A79D"/>
            </a:solidFill>
            <a:prstDash val="solid"/>
          </a:ln>
        </p:spPr>
      </p:sp>
      <p:sp>
        <p:nvSpPr>
          <p:cNvPr id="24" name="Text 21"/>
          <p:cNvSpPr/>
          <p:nvPr/>
        </p:nvSpPr>
        <p:spPr>
          <a:xfrm>
            <a:off x="886968" y="3165783"/>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25" name="Text 22"/>
          <p:cNvSpPr/>
          <p:nvPr/>
        </p:nvSpPr>
        <p:spPr>
          <a:xfrm>
            <a:off x="1673352" y="3073690"/>
            <a:ext cx="5733288" cy="495082"/>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A2 Run Stage 1 (head-only, 2 epochs); record val macro-F1 - expect ~0.78</a:t>
            </a:r>
            <a:endParaRPr lang="en-US" sz="1150" dirty="0"/>
          </a:p>
        </p:txBody>
      </p:sp>
      <p:sp>
        <p:nvSpPr>
          <p:cNvPr id="26" name="Shape 23"/>
          <p:cNvSpPr/>
          <p:nvPr/>
        </p:nvSpPr>
        <p:spPr>
          <a:xfrm>
            <a:off x="502920" y="3715730"/>
            <a:ext cx="274320" cy="274320"/>
          </a:xfrm>
          <a:prstGeom prst="ellipse">
            <a:avLst/>
          </a:prstGeom>
          <a:solidFill>
            <a:srgbClr val="1D2A5C"/>
          </a:solidFill>
          <a:ln/>
        </p:spPr>
      </p:sp>
      <p:sp>
        <p:nvSpPr>
          <p:cNvPr id="27" name="Text 24"/>
          <p:cNvSpPr/>
          <p:nvPr/>
        </p:nvSpPr>
        <p:spPr>
          <a:xfrm>
            <a:off x="502920" y="371573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5"/>
          <p:cNvSpPr/>
          <p:nvPr/>
        </p:nvSpPr>
        <p:spPr>
          <a:xfrm>
            <a:off x="886968" y="3715730"/>
            <a:ext cx="658368" cy="274320"/>
          </a:xfrm>
          <a:prstGeom prst="roundRect">
            <a:avLst>
              <a:gd name="adj" fmla="val 50000"/>
            </a:avLst>
          </a:prstGeom>
          <a:solidFill>
            <a:srgbClr val="E9F6F5"/>
          </a:solidFill>
          <a:ln w="9525">
            <a:solidFill>
              <a:srgbClr val="00A79D"/>
            </a:solidFill>
            <a:prstDash val="solid"/>
          </a:ln>
        </p:spPr>
      </p:sp>
      <p:sp>
        <p:nvSpPr>
          <p:cNvPr id="29" name="Text 26"/>
          <p:cNvSpPr/>
          <p:nvPr/>
        </p:nvSpPr>
        <p:spPr>
          <a:xfrm>
            <a:off x="886968" y="3715730"/>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20 min</a:t>
            </a:r>
            <a:endParaRPr lang="en-US" sz="900" dirty="0"/>
          </a:p>
        </p:txBody>
      </p:sp>
      <p:sp>
        <p:nvSpPr>
          <p:cNvPr id="30" name="Text 27"/>
          <p:cNvSpPr/>
          <p:nvPr/>
        </p:nvSpPr>
        <p:spPr>
          <a:xfrm>
            <a:off x="1673352" y="3623637"/>
            <a:ext cx="5733288" cy="495082"/>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A3 Stage 2, discriminative LRs; target macro-F1 &gt;= 0.88, reject recall &gt;= 0.95</a:t>
            </a:r>
            <a:endParaRPr lang="en-US" sz="1150" dirty="0"/>
          </a:p>
        </p:txBody>
      </p:sp>
      <p:sp>
        <p:nvSpPr>
          <p:cNvPr id="31" name="Shape 28"/>
          <p:cNvSpPr/>
          <p:nvPr/>
        </p:nvSpPr>
        <p:spPr>
          <a:xfrm>
            <a:off x="502920" y="4265676"/>
            <a:ext cx="274320" cy="274320"/>
          </a:xfrm>
          <a:prstGeom prst="ellipse">
            <a:avLst/>
          </a:prstGeom>
          <a:solidFill>
            <a:srgbClr val="1D2A5C"/>
          </a:solidFill>
          <a:ln/>
        </p:spPr>
      </p:sp>
      <p:sp>
        <p:nvSpPr>
          <p:cNvPr id="32" name="Text 29"/>
          <p:cNvSpPr/>
          <p:nvPr/>
        </p:nvSpPr>
        <p:spPr>
          <a:xfrm>
            <a:off x="502920" y="42656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Shape 30"/>
          <p:cNvSpPr/>
          <p:nvPr/>
        </p:nvSpPr>
        <p:spPr>
          <a:xfrm>
            <a:off x="886968" y="4265676"/>
            <a:ext cx="658368" cy="274320"/>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886968" y="426567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35" name="Text 32"/>
          <p:cNvSpPr/>
          <p:nvPr/>
        </p:nvSpPr>
        <p:spPr>
          <a:xfrm>
            <a:off x="1673352" y="4173583"/>
            <a:ext cx="5733288" cy="495082"/>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A4 Re-run Stage 2 at uniform lr=1e-3; watch macro-F1 collapse; keep both curves</a:t>
            </a:r>
            <a:endParaRPr lang="en-US" sz="1150" dirty="0"/>
          </a:p>
        </p:txBody>
      </p:sp>
      <p:sp>
        <p:nvSpPr>
          <p:cNvPr id="36" name="Shape 33"/>
          <p:cNvSpPr/>
          <p:nvPr/>
        </p:nvSpPr>
        <p:spPr>
          <a:xfrm>
            <a:off x="502920" y="4815622"/>
            <a:ext cx="274320" cy="274320"/>
          </a:xfrm>
          <a:prstGeom prst="ellipse">
            <a:avLst/>
          </a:prstGeom>
          <a:solidFill>
            <a:srgbClr val="1D2A5C"/>
          </a:solidFill>
          <a:ln/>
        </p:spPr>
      </p:sp>
      <p:sp>
        <p:nvSpPr>
          <p:cNvPr id="37" name="Text 34"/>
          <p:cNvSpPr/>
          <p:nvPr/>
        </p:nvSpPr>
        <p:spPr>
          <a:xfrm>
            <a:off x="502920" y="481562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Shape 35"/>
          <p:cNvSpPr/>
          <p:nvPr/>
        </p:nvSpPr>
        <p:spPr>
          <a:xfrm>
            <a:off x="886968" y="4815622"/>
            <a:ext cx="658368" cy="274320"/>
          </a:xfrm>
          <a:prstGeom prst="roundRect">
            <a:avLst>
              <a:gd name="adj" fmla="val 50000"/>
            </a:avLst>
          </a:prstGeom>
          <a:solidFill>
            <a:srgbClr val="E9F6F5"/>
          </a:solidFill>
          <a:ln w="9525">
            <a:solidFill>
              <a:srgbClr val="00A79D"/>
            </a:solidFill>
            <a:prstDash val="solid"/>
          </a:ln>
        </p:spPr>
      </p:sp>
      <p:sp>
        <p:nvSpPr>
          <p:cNvPr id="39" name="Text 36"/>
          <p:cNvSpPr/>
          <p:nvPr/>
        </p:nvSpPr>
        <p:spPr>
          <a:xfrm>
            <a:off x="886968" y="4815622"/>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40" name="Text 37"/>
          <p:cNvSpPr/>
          <p:nvPr/>
        </p:nvSpPr>
        <p:spPr>
          <a:xfrm>
            <a:off x="1673352" y="4723529"/>
            <a:ext cx="5733288" cy="495082"/>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B1 Plot per-epoch curves for both runs; annotate where forgetting happens</a:t>
            </a:r>
            <a:endParaRPr lang="en-US" sz="1150" dirty="0"/>
          </a:p>
        </p:txBody>
      </p:sp>
      <p:sp>
        <p:nvSpPr>
          <p:cNvPr id="41" name="Shape 38"/>
          <p:cNvSpPr/>
          <p:nvPr/>
        </p:nvSpPr>
        <p:spPr>
          <a:xfrm>
            <a:off x="502920" y="5365569"/>
            <a:ext cx="274320" cy="274320"/>
          </a:xfrm>
          <a:prstGeom prst="ellipse">
            <a:avLst/>
          </a:prstGeom>
          <a:solidFill>
            <a:srgbClr val="1D2A5C"/>
          </a:solidFill>
          <a:ln/>
        </p:spPr>
      </p:sp>
      <p:sp>
        <p:nvSpPr>
          <p:cNvPr id="42" name="Text 39"/>
          <p:cNvSpPr/>
          <p:nvPr/>
        </p:nvSpPr>
        <p:spPr>
          <a:xfrm>
            <a:off x="502920" y="53655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3" name="Shape 40"/>
          <p:cNvSpPr/>
          <p:nvPr/>
        </p:nvSpPr>
        <p:spPr>
          <a:xfrm>
            <a:off x="886968" y="5365569"/>
            <a:ext cx="658368" cy="274320"/>
          </a:xfrm>
          <a:prstGeom prst="roundRect">
            <a:avLst>
              <a:gd name="adj" fmla="val 50000"/>
            </a:avLst>
          </a:prstGeom>
          <a:solidFill>
            <a:srgbClr val="E9F6F5"/>
          </a:solidFill>
          <a:ln w="9525">
            <a:solidFill>
              <a:srgbClr val="00A79D"/>
            </a:solidFill>
            <a:prstDash val="solid"/>
          </a:ln>
        </p:spPr>
      </p:sp>
      <p:sp>
        <p:nvSpPr>
          <p:cNvPr id="44" name="Text 41"/>
          <p:cNvSpPr/>
          <p:nvPr/>
        </p:nvSpPr>
        <p:spPr>
          <a:xfrm>
            <a:off x="886968" y="5365569"/>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20 min</a:t>
            </a:r>
            <a:endParaRPr lang="en-US" sz="900" dirty="0"/>
          </a:p>
        </p:txBody>
      </p:sp>
      <p:sp>
        <p:nvSpPr>
          <p:cNvPr id="45" name="Text 42"/>
          <p:cNvSpPr/>
          <p:nvPr/>
        </p:nvSpPr>
        <p:spPr>
          <a:xfrm>
            <a:off x="1673352" y="5273475"/>
            <a:ext cx="5733288" cy="495082"/>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B2 Swap in ViT-B/16, same recipe; log F1, time, params, VRAM in BENCHMARKS.md</a:t>
            </a:r>
            <a:endParaRPr lang="en-US" sz="1150" dirty="0"/>
          </a:p>
        </p:txBody>
      </p:sp>
      <p:sp>
        <p:nvSpPr>
          <p:cNvPr id="46" name="Shape 43"/>
          <p:cNvSpPr/>
          <p:nvPr/>
        </p:nvSpPr>
        <p:spPr>
          <a:xfrm>
            <a:off x="502920" y="5915515"/>
            <a:ext cx="274320" cy="274320"/>
          </a:xfrm>
          <a:prstGeom prst="ellipse">
            <a:avLst/>
          </a:prstGeom>
          <a:solidFill>
            <a:srgbClr val="1D2A5C"/>
          </a:solidFill>
          <a:ln/>
        </p:spPr>
      </p:sp>
      <p:sp>
        <p:nvSpPr>
          <p:cNvPr id="47" name="Text 44"/>
          <p:cNvSpPr/>
          <p:nvPr/>
        </p:nvSpPr>
        <p:spPr>
          <a:xfrm>
            <a:off x="502920" y="591551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8" name="Shape 45"/>
          <p:cNvSpPr/>
          <p:nvPr/>
        </p:nvSpPr>
        <p:spPr>
          <a:xfrm>
            <a:off x="886968" y="5915515"/>
            <a:ext cx="658368" cy="274320"/>
          </a:xfrm>
          <a:prstGeom prst="roundRect">
            <a:avLst>
              <a:gd name="adj" fmla="val 50000"/>
            </a:avLst>
          </a:prstGeom>
          <a:solidFill>
            <a:srgbClr val="E9F6F5"/>
          </a:solidFill>
          <a:ln w="9525">
            <a:solidFill>
              <a:srgbClr val="00A79D"/>
            </a:solidFill>
            <a:prstDash val="solid"/>
          </a:ln>
        </p:spPr>
      </p:sp>
      <p:sp>
        <p:nvSpPr>
          <p:cNvPr id="49" name="Text 46"/>
          <p:cNvSpPr/>
          <p:nvPr/>
        </p:nvSpPr>
        <p:spPr>
          <a:xfrm>
            <a:off x="886968" y="5915515"/>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20 min</a:t>
            </a:r>
            <a:endParaRPr lang="en-US" sz="900" dirty="0"/>
          </a:p>
        </p:txBody>
      </p:sp>
      <p:sp>
        <p:nvSpPr>
          <p:cNvPr id="50" name="Text 47"/>
          <p:cNvSpPr/>
          <p:nvPr/>
        </p:nvSpPr>
        <p:spPr>
          <a:xfrm>
            <a:off x="1673352" y="5823422"/>
            <a:ext cx="5733288" cy="495082"/>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B3 Evaluate both on frozen test split; confirm determinism; commit feat(model)</a:t>
            </a:r>
            <a:endParaRPr lang="en-US" sz="1150" dirty="0"/>
          </a:p>
        </p:txBody>
      </p:sp>
      <p:sp>
        <p:nvSpPr>
          <p:cNvPr id="51" name="Shape 48"/>
          <p:cNvSpPr/>
          <p:nvPr/>
        </p:nvSpPr>
        <p:spPr>
          <a:xfrm>
            <a:off x="7635240" y="2505456"/>
            <a:ext cx="4050792" cy="3849624"/>
          </a:xfrm>
          <a:prstGeom prst="roundRect">
            <a:avLst>
              <a:gd name="adj" fmla="val 2375"/>
            </a:avLst>
          </a:prstGeom>
          <a:solidFill>
            <a:srgbClr val="0F172A"/>
          </a:solidFill>
          <a:ln/>
        </p:spPr>
      </p:sp>
      <p:sp>
        <p:nvSpPr>
          <p:cNvPr id="52" name="Text 49"/>
          <p:cNvSpPr/>
          <p:nvPr/>
        </p:nvSpPr>
        <p:spPr>
          <a:xfrm>
            <a:off x="7818120" y="2615184"/>
            <a:ext cx="3685032" cy="237744"/>
          </a:xfrm>
          <a:prstGeom prst="rect">
            <a:avLst/>
          </a:prstGeom>
          <a:noFill/>
          <a:ln/>
        </p:spPr>
        <p:txBody>
          <a:bodyPr wrap="square" lIns="0" tIns="0" rIns="0" bIns="0" rtlCol="0" anchor="ctr"/>
          <a:lstStyle/>
          <a:p>
            <a:pPr indent="0" marL="0">
              <a:buNone/>
            </a:pPr>
            <a:r>
              <a:rPr lang="en-US" sz="900" b="1" spc="200" kern="0" dirty="0">
                <a:solidFill>
                  <a:srgbClr val="5EEAD4"/>
                </a:solidFill>
                <a:latin typeface="Calibri" pitchFamily="34" charset="0"/>
                <a:ea typeface="Calibri" pitchFamily="34" charset="-122"/>
                <a:cs typeface="Calibri" pitchFamily="34" charset="-120"/>
              </a:rPr>
              <a:t>EXPECTED OUTPUT</a:t>
            </a:r>
            <a:endParaRPr lang="en-US" sz="900" dirty="0"/>
          </a:p>
        </p:txBody>
      </p:sp>
      <p:sp>
        <p:nvSpPr>
          <p:cNvPr id="53" name="Text 50"/>
          <p:cNvSpPr/>
          <p:nvPr/>
        </p:nvSpPr>
        <p:spPr>
          <a:xfrm>
            <a:off x="7818120" y="2907792"/>
            <a:ext cx="3703320" cy="3300984"/>
          </a:xfrm>
          <a:prstGeom prst="rect">
            <a:avLst/>
          </a:prstGeom>
          <a:noFill/>
          <a:ln/>
        </p:spPr>
        <p:txBody>
          <a:bodyPr wrap="square" lIns="0" tIns="0" rIns="0" bIns="0" rtlCol="0" anchor="t"/>
          <a:lstStyle/>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Stage 1 (head-only):      macro_f1 ~ 0.78</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Stage 2 (discriminative): macro_f1 ~ 0.90</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reject recall ~ 0.96 (epoch 5-7)</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Stage 2 (uniform 1e-3):   macro_f1 ~ 0.61</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-&gt; catastrophic forgetting</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ViT-B/16:                 macro_f1 ~ 0.91</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epoch time ~1.8x ResNet, VRAM ~2x</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2 troubleshooting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استكشاف أخطاء المختبر الثاني</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43</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347653"/>
                <a:gridCol w="3988283"/>
                <a:gridCol w="3849919"/>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CUDA OOM in Stage 2</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Batch 64 too large with gradients everywhere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Halve batch, keep AMP; ViT may need bs=16</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Val F1 = 0 on reject class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Weights tensor omitted or wrong order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Pass class_weights; verify GRADES order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Identical eval runs differ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model.eval() missing or augmented val loader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Audit the eval path against M1 rules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Loss NaN in first Stage-2 epoch</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Backbone LR too high with AMP</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Backbone 5e-5, add 1 warmup epoch</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CPU fallback exceeds time box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Full resolution + 10 epochs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Use 320px, 3 epochs, provided checkpoint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2 quiz</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اختبار الوحدة الثانية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 QUIZ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44</a:t>
            </a:r>
            <a:endParaRPr lang="en-US" sz="900" dirty="0"/>
          </a:p>
        </p:txBody>
      </p:sp>
      <p:sp>
        <p:nvSpPr>
          <p:cNvPr id="7" name="Shape 4"/>
          <p:cNvSpPr/>
          <p:nvPr/>
        </p:nvSpPr>
        <p:spPr>
          <a:xfrm>
            <a:off x="502920" y="1417320"/>
            <a:ext cx="11183112" cy="801014"/>
          </a:xfrm>
          <a:prstGeom prst="roundRect">
            <a:avLst>
              <a:gd name="adj" fmla="val 9132"/>
            </a:avLst>
          </a:prstGeom>
          <a:solidFill>
            <a:srgbClr val="F2F6F9"/>
          </a:solidFill>
          <a:ln w="9525">
            <a:solidFill>
              <a:srgbClr val="D9E2EA"/>
            </a:solidFill>
            <a:prstDash val="solid"/>
          </a:ln>
        </p:spPr>
      </p:sp>
      <p:sp>
        <p:nvSpPr>
          <p:cNvPr id="8" name="Shape 5"/>
          <p:cNvSpPr/>
          <p:nvPr/>
        </p:nvSpPr>
        <p:spPr>
          <a:xfrm>
            <a:off x="649224" y="1644091"/>
            <a:ext cx="347472" cy="347472"/>
          </a:xfrm>
          <a:prstGeom prst="ellipse">
            <a:avLst/>
          </a:prstGeom>
          <a:solidFill>
            <a:srgbClr val="F58220"/>
          </a:solidFill>
          <a:ln/>
        </p:spPr>
      </p:sp>
      <p:sp>
        <p:nvSpPr>
          <p:cNvPr id="9" name="Text 6"/>
          <p:cNvSpPr/>
          <p:nvPr/>
        </p:nvSpPr>
        <p:spPr>
          <a:xfrm>
            <a:off x="649224" y="1644091"/>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p>
        </p:txBody>
      </p:sp>
      <p:sp>
        <p:nvSpPr>
          <p:cNvPr id="10" name="Text 7"/>
          <p:cNvSpPr/>
          <p:nvPr/>
        </p:nvSpPr>
        <p:spPr>
          <a:xfrm>
            <a:off x="1161288" y="141732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Name the three convolutional inductive biases.</a:t>
            </a:r>
            <a:endParaRPr lang="en-US" sz="1250" dirty="0"/>
          </a:p>
        </p:txBody>
      </p:sp>
      <p:sp>
        <p:nvSpPr>
          <p:cNvPr id="11" name="Shape 8"/>
          <p:cNvSpPr/>
          <p:nvPr/>
        </p:nvSpPr>
        <p:spPr>
          <a:xfrm>
            <a:off x="502920" y="2346350"/>
            <a:ext cx="11183112" cy="801014"/>
          </a:xfrm>
          <a:prstGeom prst="roundRect">
            <a:avLst>
              <a:gd name="adj" fmla="val 9132"/>
            </a:avLst>
          </a:prstGeom>
          <a:solidFill>
            <a:srgbClr val="F2F6F9"/>
          </a:solidFill>
          <a:ln w="9525">
            <a:solidFill>
              <a:srgbClr val="D9E2EA"/>
            </a:solidFill>
            <a:prstDash val="solid"/>
          </a:ln>
        </p:spPr>
      </p:sp>
      <p:sp>
        <p:nvSpPr>
          <p:cNvPr id="12" name="Shape 9"/>
          <p:cNvSpPr/>
          <p:nvPr/>
        </p:nvSpPr>
        <p:spPr>
          <a:xfrm>
            <a:off x="649224" y="2573122"/>
            <a:ext cx="347472" cy="347472"/>
          </a:xfrm>
          <a:prstGeom prst="ellipse">
            <a:avLst/>
          </a:prstGeom>
          <a:solidFill>
            <a:srgbClr val="F58220"/>
          </a:solidFill>
          <a:ln/>
        </p:spPr>
      </p:sp>
      <p:sp>
        <p:nvSpPr>
          <p:cNvPr id="13" name="Text 10"/>
          <p:cNvSpPr/>
          <p:nvPr/>
        </p:nvSpPr>
        <p:spPr>
          <a:xfrm>
            <a:off x="649224" y="257312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p>
        </p:txBody>
      </p:sp>
      <p:sp>
        <p:nvSpPr>
          <p:cNvPr id="14" name="Text 11"/>
          <p:cNvSpPr/>
          <p:nvPr/>
        </p:nvSpPr>
        <p:spPr>
          <a:xfrm>
            <a:off x="1161288" y="234635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do ViTs need more pre-training data than CNNs?</a:t>
            </a:r>
            <a:endParaRPr lang="en-US" sz="1250" dirty="0"/>
          </a:p>
        </p:txBody>
      </p:sp>
      <p:sp>
        <p:nvSpPr>
          <p:cNvPr id="15" name="Shape 12"/>
          <p:cNvSpPr/>
          <p:nvPr/>
        </p:nvSpPr>
        <p:spPr>
          <a:xfrm>
            <a:off x="502920" y="3275381"/>
            <a:ext cx="11183112" cy="801014"/>
          </a:xfrm>
          <a:prstGeom prst="roundRect">
            <a:avLst>
              <a:gd name="adj" fmla="val 9132"/>
            </a:avLst>
          </a:prstGeom>
          <a:solidFill>
            <a:srgbClr val="F2F6F9"/>
          </a:solidFill>
          <a:ln w="9525">
            <a:solidFill>
              <a:srgbClr val="D9E2EA"/>
            </a:solidFill>
            <a:prstDash val="solid"/>
          </a:ln>
        </p:spPr>
      </p:sp>
      <p:sp>
        <p:nvSpPr>
          <p:cNvPr id="16" name="Shape 13"/>
          <p:cNvSpPr/>
          <p:nvPr/>
        </p:nvSpPr>
        <p:spPr>
          <a:xfrm>
            <a:off x="649224" y="3502152"/>
            <a:ext cx="347472" cy="347472"/>
          </a:xfrm>
          <a:prstGeom prst="ellipse">
            <a:avLst/>
          </a:prstGeom>
          <a:solidFill>
            <a:srgbClr val="F58220"/>
          </a:solidFill>
          <a:ln/>
        </p:spPr>
      </p:sp>
      <p:sp>
        <p:nvSpPr>
          <p:cNvPr id="17" name="Text 14"/>
          <p:cNvSpPr/>
          <p:nvPr/>
        </p:nvSpPr>
        <p:spPr>
          <a:xfrm>
            <a:off x="649224" y="350215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p>
        </p:txBody>
      </p:sp>
      <p:sp>
        <p:nvSpPr>
          <p:cNvPr id="18" name="Text 15"/>
          <p:cNvSpPr/>
          <p:nvPr/>
        </p:nvSpPr>
        <p:spPr>
          <a:xfrm>
            <a:off x="1161288" y="327538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What is the order of staged fine-tuning, and why?</a:t>
            </a:r>
            <a:endParaRPr lang="en-US" sz="1250" dirty="0"/>
          </a:p>
        </p:txBody>
      </p:sp>
      <p:sp>
        <p:nvSpPr>
          <p:cNvPr id="19" name="Shape 16"/>
          <p:cNvSpPr/>
          <p:nvPr/>
        </p:nvSpPr>
        <p:spPr>
          <a:xfrm>
            <a:off x="502920" y="4204411"/>
            <a:ext cx="11183112" cy="801014"/>
          </a:xfrm>
          <a:prstGeom prst="roundRect">
            <a:avLst>
              <a:gd name="adj" fmla="val 9132"/>
            </a:avLst>
          </a:prstGeom>
          <a:solidFill>
            <a:srgbClr val="F2F6F9"/>
          </a:solidFill>
          <a:ln w="9525">
            <a:solidFill>
              <a:srgbClr val="D9E2EA"/>
            </a:solidFill>
            <a:prstDash val="solid"/>
          </a:ln>
        </p:spPr>
      </p:sp>
      <p:sp>
        <p:nvSpPr>
          <p:cNvPr id="20" name="Shape 17"/>
          <p:cNvSpPr/>
          <p:nvPr/>
        </p:nvSpPr>
        <p:spPr>
          <a:xfrm>
            <a:off x="649224" y="4431182"/>
            <a:ext cx="347472" cy="347472"/>
          </a:xfrm>
          <a:prstGeom prst="ellipse">
            <a:avLst/>
          </a:prstGeom>
          <a:solidFill>
            <a:srgbClr val="F58220"/>
          </a:solidFill>
          <a:ln/>
        </p:spPr>
      </p:sp>
      <p:sp>
        <p:nvSpPr>
          <p:cNvPr id="21" name="Text 18"/>
          <p:cNvSpPr/>
          <p:nvPr/>
        </p:nvSpPr>
        <p:spPr>
          <a:xfrm>
            <a:off x="649224" y="443118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p>
        </p:txBody>
      </p:sp>
      <p:sp>
        <p:nvSpPr>
          <p:cNvPr id="22" name="Text 19"/>
          <p:cNvSpPr/>
          <p:nvPr/>
        </p:nvSpPr>
        <p:spPr>
          <a:xfrm>
            <a:off x="1161288" y="420441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is macro-F1 the headline metric here rather than accuracy?</a:t>
            </a:r>
            <a:endParaRPr lang="en-US" sz="1250" dirty="0"/>
          </a:p>
        </p:txBody>
      </p:sp>
      <p:sp>
        <p:nvSpPr>
          <p:cNvPr id="23" name="Shape 20"/>
          <p:cNvSpPr/>
          <p:nvPr/>
        </p:nvSpPr>
        <p:spPr>
          <a:xfrm>
            <a:off x="502920" y="5133442"/>
            <a:ext cx="11183112" cy="801014"/>
          </a:xfrm>
          <a:prstGeom prst="roundRect">
            <a:avLst>
              <a:gd name="adj" fmla="val 9132"/>
            </a:avLst>
          </a:prstGeom>
          <a:solidFill>
            <a:srgbClr val="F2F6F9"/>
          </a:solidFill>
          <a:ln w="9525">
            <a:solidFill>
              <a:srgbClr val="D9E2EA"/>
            </a:solidFill>
            <a:prstDash val="solid"/>
          </a:ln>
        </p:spPr>
      </p:sp>
      <p:sp>
        <p:nvSpPr>
          <p:cNvPr id="24" name="Shape 21"/>
          <p:cNvSpPr/>
          <p:nvPr/>
        </p:nvSpPr>
        <p:spPr>
          <a:xfrm>
            <a:off x="649224" y="5360213"/>
            <a:ext cx="347472" cy="347472"/>
          </a:xfrm>
          <a:prstGeom prst="ellipse">
            <a:avLst/>
          </a:prstGeom>
          <a:solidFill>
            <a:srgbClr val="F58220"/>
          </a:solidFill>
          <a:ln/>
        </p:spPr>
      </p:sp>
      <p:sp>
        <p:nvSpPr>
          <p:cNvPr id="25" name="Text 22"/>
          <p:cNvSpPr/>
          <p:nvPr/>
        </p:nvSpPr>
        <p:spPr>
          <a:xfrm>
            <a:off x="649224" y="5360213"/>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Q5</a:t>
            </a:r>
            <a:endParaRPr lang="en-US" sz="1050" dirty="0"/>
          </a:p>
        </p:txBody>
      </p:sp>
      <p:sp>
        <p:nvSpPr>
          <p:cNvPr id="26" name="Text 23"/>
          <p:cNvSpPr/>
          <p:nvPr/>
        </p:nvSpPr>
        <p:spPr>
          <a:xfrm>
            <a:off x="1161288" y="5133442"/>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What must be saved with a checkpoint for it to be servable?</a:t>
            </a:r>
            <a:endParaRPr lang="en-US" sz="1250" dirty="0"/>
          </a:p>
        </p:txBody>
      </p:sp>
      <p:sp>
        <p:nvSpPr>
          <p:cNvPr id="27" name="Text 24"/>
          <p:cNvSpPr/>
          <p:nvPr/>
        </p:nvSpPr>
        <p:spPr>
          <a:xfrm>
            <a:off x="502920" y="6099048"/>
            <a:ext cx="11183112" cy="274320"/>
          </a:xfrm>
          <a:prstGeom prst="rect">
            <a:avLst/>
          </a:prstGeom>
          <a:noFill/>
          <a:ln/>
        </p:spPr>
        <p:txBody>
          <a:bodyPr wrap="square" lIns="0" tIns="0" rIns="0" bIns="0" rtlCol="0" anchor="ctr"/>
          <a:lstStyle/>
          <a:p>
            <a:pPr algn="r" indent="0" marL="0">
              <a:buNone/>
            </a:pPr>
            <a:r>
              <a:rPr lang="en-US" sz="1000" i="1" dirty="0">
                <a:solidFill>
                  <a:srgbClr val="8A96A6"/>
                </a:solidFill>
                <a:latin typeface="Calibri" pitchFamily="34" charset="0"/>
                <a:ea typeface="Calibri" pitchFamily="34" charset="-122"/>
                <a:cs typeface="Calibri" pitchFamily="34" charset="-120"/>
              </a:rPr>
              <a:t>Answers and marking guidance: speaker notes below ▼</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Practice: debug, review, discuss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تمارين: تصحيح ومراجعة ونقاش</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45</a:t>
            </a:r>
            <a:endParaRPr lang="en-US" sz="900" dirty="0"/>
          </a:p>
        </p:txBody>
      </p:sp>
      <p:sp>
        <p:nvSpPr>
          <p:cNvPr id="7" name="Shape 4"/>
          <p:cNvSpPr/>
          <p:nvPr/>
        </p:nvSpPr>
        <p:spPr>
          <a:xfrm>
            <a:off x="502920" y="2153412"/>
            <a:ext cx="329184" cy="329184"/>
          </a:xfrm>
          <a:prstGeom prst="ellipse">
            <a:avLst/>
          </a:prstGeom>
          <a:solidFill>
            <a:srgbClr val="00A79D"/>
          </a:solidFill>
          <a:ln/>
        </p:spPr>
      </p:sp>
      <p:sp>
        <p:nvSpPr>
          <p:cNvPr id="8" name="Text 5"/>
          <p:cNvSpPr/>
          <p:nvPr/>
        </p:nvSpPr>
        <p:spPr>
          <a:xfrm>
            <a:off x="502920" y="21534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20894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Debugging: branch sim-eval-mode</a:t>
            </a:r>
            <a:endParaRPr lang="en-US" sz="1400" dirty="0"/>
          </a:p>
        </p:txBody>
      </p:sp>
      <p:sp>
        <p:nvSpPr>
          <p:cNvPr id="10" name="Text 7"/>
          <p:cNvSpPr/>
          <p:nvPr/>
        </p:nvSpPr>
        <p:spPr>
          <a:xfrm>
            <a:off x="1005840" y="23911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Val numbers oscillate +/-4 points between identical runs. Bisect determinism: fixed seed, fixed data, still varies - the model call is stochastic. Why?</a:t>
            </a:r>
            <a:endParaRPr lang="en-US" sz="1150" dirty="0"/>
          </a:p>
        </p:txBody>
      </p:sp>
      <p:sp>
        <p:nvSpPr>
          <p:cNvPr id="11" name="Shape 8"/>
          <p:cNvSpPr/>
          <p:nvPr/>
        </p:nvSpPr>
        <p:spPr>
          <a:xfrm>
            <a:off x="502920" y="3342132"/>
            <a:ext cx="329184" cy="329184"/>
          </a:xfrm>
          <a:prstGeom prst="ellipse">
            <a:avLst/>
          </a:prstGeom>
          <a:solidFill>
            <a:srgbClr val="29ABE2"/>
          </a:solidFill>
          <a:ln/>
        </p:spPr>
      </p:sp>
      <p:sp>
        <p:nvSpPr>
          <p:cNvPr id="12" name="Text 9"/>
          <p:cNvSpPr/>
          <p:nvPr/>
        </p:nvSpPr>
        <p:spPr>
          <a:xfrm>
            <a:off x="502920" y="33421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327812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Code review: a three-fault PR</a:t>
            </a:r>
            <a:endParaRPr lang="en-US" sz="1400" dirty="0"/>
          </a:p>
        </p:txBody>
      </p:sp>
      <p:sp>
        <p:nvSpPr>
          <p:cNvPr id="14" name="Text 11"/>
          <p:cNvSpPr/>
          <p:nvPr/>
        </p:nvSpPr>
        <p:spPr>
          <a:xfrm>
            <a:off x="1005840" y="357987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Fine-tunes everything at lr=1e-2, reports overall accuracy only, saves best.pt with just state_dict. Three findings, each with its downstream failure.</a:t>
            </a:r>
            <a:endParaRPr lang="en-US" sz="1150" dirty="0"/>
          </a:p>
        </p:txBody>
      </p:sp>
      <p:sp>
        <p:nvSpPr>
          <p:cNvPr id="15" name="Shape 12"/>
          <p:cNvSpPr/>
          <p:nvPr/>
        </p:nvSpPr>
        <p:spPr>
          <a:xfrm>
            <a:off x="502920" y="4530852"/>
            <a:ext cx="329184" cy="329184"/>
          </a:xfrm>
          <a:prstGeom prst="ellipse">
            <a:avLst/>
          </a:prstGeom>
          <a:solidFill>
            <a:srgbClr val="F58220"/>
          </a:solidFill>
          <a:ln/>
        </p:spPr>
      </p:sp>
      <p:sp>
        <p:nvSpPr>
          <p:cNvPr id="16" name="Text 13"/>
          <p:cNvSpPr/>
          <p:nvPr/>
        </p:nvSpPr>
        <p:spPr>
          <a:xfrm>
            <a:off x="502920" y="45308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44668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why not train from scratch?</a:t>
            </a:r>
            <a:endParaRPr lang="en-US" sz="1400" dirty="0"/>
          </a:p>
        </p:txBody>
      </p:sp>
      <p:sp>
        <p:nvSpPr>
          <p:cNvPr id="18" name="Text 15"/>
          <p:cNvSpPr/>
          <p:nvPr/>
        </p:nvSpPr>
        <p:spPr>
          <a:xfrm>
            <a:off x="1005840" y="47685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plant argues an own-data model is 'more ours'. Cover data needs, cost, what pre-trained weights contain - and the licensing check.</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Case study - satellite land-use classification</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دراسة حالة: تصنيف استخدام الأراضي</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 CASE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46</a:t>
            </a:r>
            <a:endParaRPr lang="en-US" sz="900" dirty="0"/>
          </a:p>
        </p:txBody>
      </p:sp>
      <p:sp>
        <p:nvSpPr>
          <p:cNvPr id="7" name="Text 4"/>
          <p:cNvSpPr/>
          <p:nvPr/>
        </p:nvSpPr>
        <p:spPr>
          <a:xfrm>
            <a:off x="502920" y="138988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SCENARIO</a:t>
            </a:r>
            <a:endParaRPr lang="en-US" sz="1000" dirty="0"/>
          </a:p>
        </p:txBody>
      </p:sp>
      <p:sp>
        <p:nvSpPr>
          <p:cNvPr id="8" name="Text 5"/>
          <p:cNvSpPr/>
          <p:nvPr/>
        </p:nvSpPr>
        <p:spPr>
          <a:xfrm>
            <a:off x="502920" y="1645920"/>
            <a:ext cx="6035040" cy="685800"/>
          </a:xfrm>
          <a:prstGeom prst="rect">
            <a:avLst/>
          </a:prstGeom>
          <a:noFill/>
          <a:ln/>
        </p:spPr>
        <p:txBody>
          <a:bodyPr wrap="square" lIns="0" tIns="0" rIns="0" bIns="0" rtlCol="0" anchor="t"/>
          <a:lstStyle/>
          <a:p>
            <a:pPr indent="0" marL="0">
              <a:buNone/>
            </a:pPr>
            <a:r>
              <a:rPr lang="en-US" sz="1150" dirty="0">
                <a:solidFill>
                  <a:srgbClr val="23293B"/>
                </a:solidFill>
                <a:latin typeface="Calibri" pitchFamily="34" charset="0"/>
                <a:ea typeface="Calibri" pitchFamily="34" charset="-122"/>
                <a:cs typeface="Calibri" pitchFamily="34" charset="-120"/>
              </a:rPr>
              <a:t>A national geospatial agency classifies 512x512 satellite tiles into seven land-use classes to detect unlicensed development. A contractor delivers a ViT-L/16 at 94.1% accuracy; the agency's own team counters with EfficientNet-B3 at 92.8%. Procurement must choose.</a:t>
            </a:r>
            <a:endParaRPr lang="en-US" sz="1150" dirty="0"/>
          </a:p>
        </p:txBody>
      </p:sp>
      <p:sp>
        <p:nvSpPr>
          <p:cNvPr id="9" name="Text 6"/>
          <p:cNvSpPr/>
          <p:nvPr/>
        </p:nvSpPr>
        <p:spPr>
          <a:xfrm>
            <a:off x="502920" y="2496312"/>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BUSINESS CONTEXT</a:t>
            </a:r>
            <a:endParaRPr lang="en-US" sz="1000" dirty="0"/>
          </a:p>
        </p:txBody>
      </p:sp>
      <p:sp>
        <p:nvSpPr>
          <p:cNvPr id="10" name="Text 7"/>
          <p:cNvSpPr/>
          <p:nvPr/>
        </p:nvSpPr>
        <p:spPr>
          <a:xfrm>
            <a:off x="502920" y="2752344"/>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model back-fills 11 years of imagery - 2.1 billion tiles - on a fixed on-prem GPU cluster, then runs monthly deltas. Disputed classifications feed legal enforcement and must be explainable to a review board.</a:t>
            </a:r>
            <a:endParaRPr lang="en-US" sz="1150" dirty="0"/>
          </a:p>
        </p:txBody>
      </p:sp>
      <p:sp>
        <p:nvSpPr>
          <p:cNvPr id="11" name="Text 8"/>
          <p:cNvSpPr/>
          <p:nvPr/>
        </p:nvSpPr>
        <p:spPr>
          <a:xfrm>
            <a:off x="502920" y="3602736"/>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TECHNICAL CHALLENGE</a:t>
            </a:r>
            <a:endParaRPr lang="en-US" sz="1000" dirty="0"/>
          </a:p>
        </p:txBody>
      </p:sp>
      <p:sp>
        <p:nvSpPr>
          <p:cNvPr id="12" name="Text 9"/>
          <p:cNvSpPr/>
          <p:nvPr/>
        </p:nvSpPr>
        <p:spPr>
          <a:xfrm>
            <a:off x="502920" y="3858768"/>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Not 94.1 vs 92.8: ViT-L is 5.3x slower - 14 months vs 2.6 months of cluster time - plus per-class recall on two legally sensitive classes and evidence quality (attention rollout vs Grad-CAM) for the board.</a:t>
            </a:r>
            <a:endParaRPr lang="en-US" sz="1150" dirty="0"/>
          </a:p>
        </p:txBody>
      </p:sp>
      <p:sp>
        <p:nvSpPr>
          <p:cNvPr id="13" name="Shape 10"/>
          <p:cNvSpPr/>
          <p:nvPr/>
        </p:nvSpPr>
        <p:spPr>
          <a:xfrm>
            <a:off x="6858000" y="1389888"/>
            <a:ext cx="4828032" cy="2184684"/>
          </a:xfrm>
          <a:prstGeom prst="roundRect">
            <a:avLst>
              <a:gd name="adj" fmla="val 3767"/>
            </a:avLst>
          </a:prstGeom>
          <a:solidFill>
            <a:srgbClr val="F2F6F9"/>
          </a:solidFill>
          <a:ln w="12700">
            <a:solidFill>
              <a:srgbClr val="D9E2EA"/>
            </a:solidFill>
            <a:prstDash val="solid"/>
          </a:ln>
        </p:spPr>
      </p:sp>
      <p:sp>
        <p:nvSpPr>
          <p:cNvPr id="14" name="Text 11"/>
          <p:cNvSpPr/>
          <p:nvPr/>
        </p:nvSpPr>
        <p:spPr>
          <a:xfrm>
            <a:off x="7040880" y="1481328"/>
            <a:ext cx="4462272" cy="237744"/>
          </a:xfrm>
          <a:prstGeom prst="rect">
            <a:avLst/>
          </a:prstGeom>
          <a:noFill/>
          <a:ln/>
        </p:spPr>
        <p:txBody>
          <a:bodyPr wrap="square" lIns="0" tIns="0" rIns="0" bIns="0" rtlCol="0" anchor="ctr"/>
          <a:lstStyle/>
          <a:p>
            <a:pPr indent="0" marL="0">
              <a:buNone/>
            </a:pPr>
            <a:r>
              <a:rPr lang="en-US" sz="950" b="1" spc="200" kern="0" dirty="0">
                <a:solidFill>
                  <a:srgbClr val="F58220"/>
                </a:solidFill>
                <a:latin typeface="Calibri" pitchFamily="34" charset="0"/>
                <a:ea typeface="Calibri" pitchFamily="34" charset="-122"/>
                <a:cs typeface="Calibri" pitchFamily="34" charset="-120"/>
              </a:rPr>
              <a:t>CONSTRAINTS</a:t>
            </a:r>
            <a:endParaRPr lang="en-US" sz="950" dirty="0"/>
          </a:p>
        </p:txBody>
      </p:sp>
      <p:sp>
        <p:nvSpPr>
          <p:cNvPr id="15" name="Text 12"/>
          <p:cNvSpPr/>
          <p:nvPr/>
        </p:nvSpPr>
        <p:spPr>
          <a:xfrm>
            <a:off x="7095744" y="1755648"/>
            <a:ext cx="4370832" cy="1681764"/>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Cluster capacity fixed; budget cycle closed</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Only 3,100 labelled tiles for sensitive classes</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Desert glare + seasonal agriculture confusions</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Classified imagery - no cloud processing</a:t>
            </a:r>
            <a:endParaRPr lang="en-US" sz="1050" dirty="0"/>
          </a:p>
        </p:txBody>
      </p:sp>
      <p:sp>
        <p:nvSpPr>
          <p:cNvPr id="16" name="Shape 13"/>
          <p:cNvSpPr/>
          <p:nvPr/>
        </p:nvSpPr>
        <p:spPr>
          <a:xfrm>
            <a:off x="6858000" y="3803172"/>
            <a:ext cx="4828032" cy="2551908"/>
          </a:xfrm>
          <a:prstGeom prst="roundRect">
            <a:avLst>
              <a:gd name="adj" fmla="val 3225"/>
            </a:avLst>
          </a:prstGeom>
          <a:solidFill>
            <a:srgbClr val="E9F6F5"/>
          </a:solidFill>
          <a:ln w="12700">
            <a:solidFill>
              <a:srgbClr val="00A79D"/>
            </a:solidFill>
            <a:prstDash val="solid"/>
          </a:ln>
        </p:spPr>
      </p:sp>
      <p:sp>
        <p:nvSpPr>
          <p:cNvPr id="17" name="Text 14"/>
          <p:cNvSpPr/>
          <p:nvPr/>
        </p:nvSpPr>
        <p:spPr>
          <a:xfrm>
            <a:off x="7040880" y="3894612"/>
            <a:ext cx="4462272" cy="237744"/>
          </a:xfrm>
          <a:prstGeom prst="rect">
            <a:avLst/>
          </a:prstGeom>
          <a:noFill/>
          <a:ln/>
        </p:spPr>
        <p:txBody>
          <a:bodyPr wrap="square" lIns="0" tIns="0" rIns="0" bIns="0" rtlCol="0" anchor="ctr"/>
          <a:lstStyle/>
          <a:p>
            <a:pPr indent="0" marL="0">
              <a:buNone/>
            </a:pPr>
            <a:r>
              <a:rPr lang="en-US" sz="950" b="1" spc="200" kern="0" dirty="0">
                <a:solidFill>
                  <a:srgbClr val="00A79D"/>
                </a:solidFill>
                <a:latin typeface="Calibri" pitchFamily="34" charset="0"/>
                <a:ea typeface="Calibri" pitchFamily="34" charset="-122"/>
                <a:cs typeface="Calibri" pitchFamily="34" charset="-120"/>
              </a:rPr>
              <a:t>DISCUSSION QUESTIONS</a:t>
            </a:r>
            <a:endParaRPr lang="en-US" sz="950" dirty="0"/>
          </a:p>
        </p:txBody>
      </p:sp>
      <p:sp>
        <p:nvSpPr>
          <p:cNvPr id="18" name="Text 15"/>
          <p:cNvSpPr/>
          <p:nvPr/>
        </p:nvSpPr>
        <p:spPr>
          <a:xfrm>
            <a:off x="7095744" y="4168932"/>
            <a:ext cx="4370832" cy="2048988"/>
          </a:xfrm>
          <a:prstGeom prst="rect">
            <a:avLst/>
          </a:prstGeom>
          <a:noFill/>
          <a:ln/>
        </p:spPr>
        <p:txBody>
          <a:bodyPr wrap="square" lIns="0" tIns="0" rIns="0" bIns="0" rtlCol="0" anchor="t"/>
          <a:lstStyle/>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1.  What single number should procurement have asked for instead of accuracy?</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2.  Design the cascade routing rule - which tiles go to the referee model?</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3.  Attention rollout vs Grad-CAM as legal evidence for 'why built-up?'</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4.  How would you spend a budget of 5,000 new labels?</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Benchmarks &amp; targets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المعايير والأهداف</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47</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Targets: macro-F1 &gt;= 0.88, reject recall &gt;= 0.95, training &lt;= 15 min, eval determinism delta = 0.0000. Params: 25.6M vs 86.6M.</a:t>
            </a:r>
            <a:endParaRPr lang="en-US" sz="12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3384546"/>
                <a:gridCol w="2499653"/>
                <a:gridCol w="2601722"/>
                <a:gridCol w="2699934"/>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 macro-F1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Reject recall</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Epoch / VRAM</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ResNet-50 head-only</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0.78</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0.88</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18 s / 3.1 GB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ResNet-50 staged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0.90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0.96</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27 s / 5.4 GB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ResNet-50 uniform 1e-3</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0.61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0.42</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27 s / 5.4 GB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ViT-B/16 staged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0.91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0.96</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49 s / 10.8 GB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DAY 2</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Locate and Delineate</a:t>
            </a:r>
            <a:endParaRPr lang="en-US" sz="3600" dirty="0"/>
          </a:p>
        </p:txBody>
      </p:sp>
      <p:sp>
        <p:nvSpPr>
          <p:cNvPr id="22" name="Text 19"/>
          <p:cNvSpPr/>
          <p:nvPr/>
        </p:nvSpPr>
        <p:spPr>
          <a:xfrm>
            <a:off x="777240" y="285292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حدد الموقع وارسم الحدود</a:t>
            </a:r>
            <a:endParaRPr lang="en-US" sz="1700" dirty="0"/>
          </a:p>
        </p:txBody>
      </p:sp>
      <p:sp>
        <p:nvSpPr>
          <p:cNvPr id="23" name="Text 20"/>
          <p:cNvSpPr/>
          <p:nvPr/>
        </p:nvSpPr>
        <p:spPr>
          <a:xfrm>
            <a:off x="804672" y="352044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H1 — Lab 2b: classifier hardening + ViT comparison</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H2 — Object detection with YOLO-family models (M3)</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H3 — Lab 3: train the defect detector</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H4 — Semantic and instance segmentation (M4)</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H5 — Lab 4: segment surface defects</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END-OF-DAY DELIVERABLE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Trained defect detector (mAP@0.5 ≥ 0.85) + surface-defect segmentation model</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Day 2 Hour by Hour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اليوم الثاني ساعة بساعة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DAY 2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49</a:t>
            </a:r>
            <a:endParaRPr lang="en-US" sz="9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1264712"/>
                <a:gridCol w="4288848"/>
                <a:gridCol w="3632609"/>
                <a:gridCol w="1999686"/>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Hour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Session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Delivery mode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Theory/Lab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2b — classifier hardening + ViT comparison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 micro-lecture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20/80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Object detection with YOLO-family models (M3)</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Lecture + live training demo</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70/30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3 — train the defect detector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Guided lab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10/90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Semantic &amp; instance segmentation (M4)</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Lecture + mask visualisation demo</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70/30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4 — segment surface defects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Guided lab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10/90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MODULE 3</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Object Detection with YOLO-Family Models</a:t>
            </a:r>
            <a:endParaRPr lang="en-US" sz="3600" dirty="0"/>
          </a:p>
        </p:txBody>
      </p:sp>
      <p:sp>
        <p:nvSpPr>
          <p:cNvPr id="22" name="Text 19"/>
          <p:cNvSpPr/>
          <p:nvPr/>
        </p:nvSpPr>
        <p:spPr>
          <a:xfrm>
            <a:off x="777240" y="312724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اكتشاف الكائنات بنماذج عائلة YOLO</a:t>
            </a:r>
            <a:endParaRPr lang="en-US" sz="1700" dirty="0"/>
          </a:p>
        </p:txBody>
      </p:sp>
      <p:sp>
        <p:nvSpPr>
          <p:cNvPr id="23" name="Text 20"/>
          <p:cNvSpPr/>
          <p:nvPr/>
        </p:nvSpPr>
        <p:spPr>
          <a:xfrm>
            <a:off x="804672" y="370332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The detection problem: boxes, classes, confidence</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Anatomy of a single-stage anchor-free detector</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The Ultralytics training workflow</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Post-processing: thresholds as business decisions</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MODULE OUTCOME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trained YOLO11s defect detector at mAP@0.5 ≥ 0.85 with a defensible, documented operating point derived from line requirements</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Why Detection Matters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لماذا يهم اكتشاف الكائنات</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51</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From 'what grade' to 'where, which fruit, what confidence'</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Classification labels whole frames; the line must know which fruit to eject. Detection localises five defect types per fruit.</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The deliverable is a thresholded decision, not mAP</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Every deployment ships an agreed miss rate and false-alarm rate. Engineers who cannot defend a threshold either stop the conveyor forty times an hour or wave mould through.</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Ultralytics compresses weeks to hours</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industry's fastest path from labelled boxes to a working model — but AGPL-3.0 vs commercial licensing is a procurement question you must be able to answer.</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The workhorse task of applied vision in the Kingdom</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PPE compliance on megaprojects, licence plates at industrial-city gates, foreign objects on food lines, palm-pest spotting from drones.</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Industry Use Cases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حالات استخدام صناعية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52</a:t>
            </a:r>
            <a:endParaRPr lang="en-US" sz="900" dirty="0"/>
          </a:p>
        </p:txBody>
      </p:sp>
      <p:sp>
        <p:nvSpPr>
          <p:cNvPr id="7" name="Shape 4"/>
          <p:cNvSpPr/>
          <p:nvPr/>
        </p:nvSpPr>
        <p:spPr>
          <a:xfrm>
            <a:off x="502920" y="1389888"/>
            <a:ext cx="5455768" cy="2354580"/>
          </a:xfrm>
          <a:prstGeom prst="roundRect">
            <a:avLst>
              <a:gd name="adj" fmla="val 3107"/>
            </a:avLst>
          </a:prstGeom>
          <a:solidFill>
            <a:srgbClr val="F2F6F9"/>
          </a:solidFill>
          <a:ln w="12700">
            <a:solidFill>
              <a:srgbClr val="D9E2EA"/>
            </a:solidFill>
            <a:prstDash val="solid"/>
          </a:ln>
        </p:spPr>
      </p:sp>
      <p:sp>
        <p:nvSpPr>
          <p:cNvPr id="8" name="Shape 5"/>
          <p:cNvSpPr/>
          <p:nvPr/>
        </p:nvSpPr>
        <p:spPr>
          <a:xfrm>
            <a:off x="667512" y="1536192"/>
            <a:ext cx="310896" cy="310896"/>
          </a:xfrm>
          <a:prstGeom prst="ellipse">
            <a:avLst/>
          </a:prstGeom>
          <a:solidFill>
            <a:srgbClr val="00A79D"/>
          </a:solidFill>
          <a:ln/>
        </p:spPr>
      </p:sp>
      <p:sp>
        <p:nvSpPr>
          <p:cNvPr id="9" name="Text 6"/>
          <p:cNvSpPr/>
          <p:nvPr/>
        </p:nvSpPr>
        <p:spPr>
          <a:xfrm>
            <a:off x="667512"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088136"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Tamr Vision defect detector</a:t>
            </a:r>
            <a:endParaRPr lang="en-US" sz="1250" dirty="0"/>
          </a:p>
        </p:txBody>
      </p:sp>
      <p:sp>
        <p:nvSpPr>
          <p:cNvPr id="11" name="Text 8"/>
          <p:cNvSpPr/>
          <p:nvPr/>
        </p:nvSpPr>
        <p:spPr>
          <a:xfrm>
            <a:off x="685800"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YOLO11s on 4,200 box-annotated frames finds 5 defect types per fruit at 62 FPS, replacing a whole-frame classifier.</a:t>
            </a:r>
            <a:endParaRPr lang="en-US" sz="1100" dirty="0"/>
          </a:p>
        </p:txBody>
      </p:sp>
      <p:sp>
        <p:nvSpPr>
          <p:cNvPr id="12" name="Shape 9"/>
          <p:cNvSpPr/>
          <p:nvPr/>
        </p:nvSpPr>
        <p:spPr>
          <a:xfrm>
            <a:off x="6233008" y="1389888"/>
            <a:ext cx="5455768" cy="2354580"/>
          </a:xfrm>
          <a:prstGeom prst="roundRect">
            <a:avLst>
              <a:gd name="adj" fmla="val 3107"/>
            </a:avLst>
          </a:prstGeom>
          <a:solidFill>
            <a:srgbClr val="F2F6F9"/>
          </a:solidFill>
          <a:ln w="12700">
            <a:solidFill>
              <a:srgbClr val="D9E2EA"/>
            </a:solidFill>
            <a:prstDash val="solid"/>
          </a:ln>
        </p:spPr>
      </p:sp>
      <p:sp>
        <p:nvSpPr>
          <p:cNvPr id="13" name="Shape 10"/>
          <p:cNvSpPr/>
          <p:nvPr/>
        </p:nvSpPr>
        <p:spPr>
          <a:xfrm>
            <a:off x="6397600" y="1536192"/>
            <a:ext cx="310896" cy="310896"/>
          </a:xfrm>
          <a:prstGeom prst="ellipse">
            <a:avLst/>
          </a:prstGeom>
          <a:solidFill>
            <a:srgbClr val="29ABE2"/>
          </a:solidFill>
          <a:ln/>
        </p:spPr>
      </p:sp>
      <p:sp>
        <p:nvSpPr>
          <p:cNvPr id="14" name="Text 11"/>
          <p:cNvSpPr/>
          <p:nvPr/>
        </p:nvSpPr>
        <p:spPr>
          <a:xfrm>
            <a:off x="639760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6818224"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PPE compliance — Jubail</a:t>
            </a:r>
            <a:endParaRPr lang="en-US" sz="1250" dirty="0"/>
          </a:p>
        </p:txBody>
      </p:sp>
      <p:sp>
        <p:nvSpPr>
          <p:cNvPr id="16" name="Text 13"/>
          <p:cNvSpPr/>
          <p:nvPr/>
        </p:nvSpPr>
        <p:spPr>
          <a:xfrm>
            <a:off x="6415888"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Hard-hat and harness violations across 46 site cameras; the spec: no more than 1 missed violation in 20 — a recall constraint.</a:t>
            </a:r>
            <a:endParaRPr lang="en-US" sz="1100" dirty="0"/>
          </a:p>
        </p:txBody>
      </p:sp>
      <p:sp>
        <p:nvSpPr>
          <p:cNvPr id="17" name="Shape 14"/>
          <p:cNvSpPr/>
          <p:nvPr/>
        </p:nvSpPr>
        <p:spPr>
          <a:xfrm>
            <a:off x="502920" y="4000500"/>
            <a:ext cx="5455768" cy="2354580"/>
          </a:xfrm>
          <a:prstGeom prst="roundRect">
            <a:avLst>
              <a:gd name="adj" fmla="val 3107"/>
            </a:avLst>
          </a:prstGeom>
          <a:solidFill>
            <a:srgbClr val="F2F6F9"/>
          </a:solidFill>
          <a:ln w="12700">
            <a:solidFill>
              <a:srgbClr val="D9E2EA"/>
            </a:solidFill>
            <a:prstDash val="solid"/>
          </a:ln>
        </p:spPr>
      </p:sp>
      <p:sp>
        <p:nvSpPr>
          <p:cNvPr id="18" name="Shape 15"/>
          <p:cNvSpPr/>
          <p:nvPr/>
        </p:nvSpPr>
        <p:spPr>
          <a:xfrm>
            <a:off x="667512" y="4146804"/>
            <a:ext cx="310896" cy="310896"/>
          </a:xfrm>
          <a:prstGeom prst="ellipse">
            <a:avLst/>
          </a:prstGeom>
          <a:solidFill>
            <a:srgbClr val="F58220"/>
          </a:solidFill>
          <a:ln/>
        </p:spPr>
      </p:sp>
      <p:sp>
        <p:nvSpPr>
          <p:cNvPr id="19" name="Text 16"/>
          <p:cNvSpPr/>
          <p:nvPr/>
        </p:nvSpPr>
        <p:spPr>
          <a:xfrm>
            <a:off x="667512"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1088136"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Foreign objects — Al-Kharj</a:t>
            </a:r>
            <a:endParaRPr lang="en-US" sz="1250" dirty="0"/>
          </a:p>
        </p:txBody>
      </p:sp>
      <p:sp>
        <p:nvSpPr>
          <p:cNvPr id="21" name="Text 18"/>
          <p:cNvSpPr/>
          <p:nvPr/>
        </p:nvSpPr>
        <p:spPr>
          <a:xfrm>
            <a:off x="685800"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Poultry line detects glove fragments and plastic; one escape triggers a retailer audit — extreme recall, budgeted false alarms.</a:t>
            </a:r>
            <a:endParaRPr lang="en-US" sz="1100" dirty="0"/>
          </a:p>
        </p:txBody>
      </p:sp>
      <p:sp>
        <p:nvSpPr>
          <p:cNvPr id="22" name="Shape 19"/>
          <p:cNvSpPr/>
          <p:nvPr/>
        </p:nvSpPr>
        <p:spPr>
          <a:xfrm>
            <a:off x="6233008" y="4000500"/>
            <a:ext cx="5455768" cy="2354580"/>
          </a:xfrm>
          <a:prstGeom prst="roundRect">
            <a:avLst>
              <a:gd name="adj" fmla="val 3107"/>
            </a:avLst>
          </a:prstGeom>
          <a:solidFill>
            <a:srgbClr val="F2F6F9"/>
          </a:solidFill>
          <a:ln w="12700">
            <a:solidFill>
              <a:srgbClr val="D9E2EA"/>
            </a:solidFill>
            <a:prstDash val="solid"/>
          </a:ln>
        </p:spPr>
      </p:sp>
      <p:sp>
        <p:nvSpPr>
          <p:cNvPr id="23" name="Shape 20"/>
          <p:cNvSpPr/>
          <p:nvPr/>
        </p:nvSpPr>
        <p:spPr>
          <a:xfrm>
            <a:off x="6397600" y="4146804"/>
            <a:ext cx="310896" cy="310896"/>
          </a:xfrm>
          <a:prstGeom prst="ellipse">
            <a:avLst/>
          </a:prstGeom>
          <a:solidFill>
            <a:srgbClr val="8DC63F"/>
          </a:solidFill>
          <a:ln/>
        </p:spPr>
      </p:sp>
      <p:sp>
        <p:nvSpPr>
          <p:cNvPr id="24" name="Text 21"/>
          <p:cNvSpPr/>
          <p:nvPr/>
        </p:nvSpPr>
        <p:spPr>
          <a:xfrm>
            <a:off x="6397600"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p:nvPr/>
        </p:nvSpPr>
        <p:spPr>
          <a:xfrm>
            <a:off x="6818224"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The common pattern</a:t>
            </a:r>
            <a:endParaRPr lang="en-US" sz="1250" dirty="0"/>
          </a:p>
        </p:txBody>
      </p:sp>
      <p:sp>
        <p:nvSpPr>
          <p:cNvPr id="26" name="Text 23"/>
          <p:cNvSpPr/>
          <p:nvPr/>
        </p:nvSpPr>
        <p:spPr>
          <a:xfrm>
            <a:off x="6415888"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The deliverable is never an accuracy number: it is a thresholded decision with a miss rate and a false-alarm budget.</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3 Learning Objectives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أهداف التعلم للوحدة الثالثة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53</a:t>
            </a:r>
            <a:endParaRPr lang="en-US" sz="900" dirty="0"/>
          </a:p>
        </p:txBody>
      </p:sp>
      <p:sp>
        <p:nvSpPr>
          <p:cNvPr id="7" name="Shape 4"/>
          <p:cNvSpPr/>
          <p:nvPr/>
        </p:nvSpPr>
        <p:spPr>
          <a:xfrm>
            <a:off x="502920" y="1499616"/>
            <a:ext cx="11183112" cy="832104"/>
          </a:xfrm>
          <a:prstGeom prst="roundRect">
            <a:avLst>
              <a:gd name="adj" fmla="val 7692"/>
            </a:avLst>
          </a:prstGeom>
          <a:solidFill>
            <a:srgbClr val="FAFCFE"/>
          </a:solidFill>
          <a:ln w="9525">
            <a:solidFill>
              <a:srgbClr val="D9E2EA"/>
            </a:solidFill>
            <a:prstDash val="solid"/>
          </a:ln>
        </p:spPr>
      </p:sp>
      <p:sp>
        <p:nvSpPr>
          <p:cNvPr id="8" name="Shape 5"/>
          <p:cNvSpPr/>
          <p:nvPr/>
        </p:nvSpPr>
        <p:spPr>
          <a:xfrm>
            <a:off x="649224" y="1751076"/>
            <a:ext cx="329184" cy="329184"/>
          </a:xfrm>
          <a:prstGeom prst="ellipse">
            <a:avLst/>
          </a:prstGeom>
          <a:solidFill>
            <a:srgbClr val="00A79D"/>
          </a:solidFill>
          <a:ln/>
        </p:spPr>
      </p:sp>
      <p:sp>
        <p:nvSpPr>
          <p:cNvPr id="9" name="Text 6"/>
          <p:cNvSpPr/>
          <p:nvPr/>
        </p:nvSpPr>
        <p:spPr>
          <a:xfrm>
            <a:off x="649224" y="175107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3.1</a:t>
            </a:r>
            <a:endParaRPr lang="en-US" sz="1150" dirty="0"/>
          </a:p>
        </p:txBody>
      </p:sp>
      <p:sp>
        <p:nvSpPr>
          <p:cNvPr id="10" name="Text 7"/>
          <p:cNvSpPr/>
          <p:nvPr/>
        </p:nvSpPr>
        <p:spPr>
          <a:xfrm>
            <a:off x="1143000" y="149961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Formulate detection: boxes, classes, confidence; choose it over classification or segmentation deliberately</a:t>
            </a:r>
            <a:endParaRPr lang="en-US" sz="1250" dirty="0"/>
          </a:p>
        </p:txBody>
      </p:sp>
      <p:sp>
        <p:nvSpPr>
          <p:cNvPr id="11" name="Shape 8"/>
          <p:cNvSpPr/>
          <p:nvPr/>
        </p:nvSpPr>
        <p:spPr>
          <a:xfrm>
            <a:off x="9646920" y="1741932"/>
            <a:ext cx="658368" cy="310896"/>
          </a:xfrm>
          <a:prstGeom prst="roundRect">
            <a:avLst>
              <a:gd name="adj" fmla="val 50000"/>
            </a:avLst>
          </a:prstGeom>
          <a:solidFill>
            <a:srgbClr val="E9F6F5"/>
          </a:solidFill>
          <a:ln w="9525">
            <a:solidFill>
              <a:srgbClr val="00A79D"/>
            </a:solidFill>
            <a:prstDash val="solid"/>
          </a:ln>
        </p:spPr>
      </p:sp>
      <p:sp>
        <p:nvSpPr>
          <p:cNvPr id="12" name="Text 9"/>
          <p:cNvSpPr/>
          <p:nvPr/>
        </p:nvSpPr>
        <p:spPr>
          <a:xfrm>
            <a:off x="9646920" y="174193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13" name="Shape 10"/>
          <p:cNvSpPr/>
          <p:nvPr/>
        </p:nvSpPr>
        <p:spPr>
          <a:xfrm>
            <a:off x="502920" y="2459736"/>
            <a:ext cx="11183112" cy="832104"/>
          </a:xfrm>
          <a:prstGeom prst="roundRect">
            <a:avLst>
              <a:gd name="adj" fmla="val 7692"/>
            </a:avLst>
          </a:prstGeom>
          <a:solidFill>
            <a:srgbClr val="F2F6F9"/>
          </a:solidFill>
          <a:ln w="9525">
            <a:solidFill>
              <a:srgbClr val="D9E2EA"/>
            </a:solidFill>
            <a:prstDash val="solid"/>
          </a:ln>
        </p:spPr>
      </p:sp>
      <p:sp>
        <p:nvSpPr>
          <p:cNvPr id="14" name="Shape 11"/>
          <p:cNvSpPr/>
          <p:nvPr/>
        </p:nvSpPr>
        <p:spPr>
          <a:xfrm>
            <a:off x="649224" y="2711196"/>
            <a:ext cx="329184" cy="329184"/>
          </a:xfrm>
          <a:prstGeom prst="ellipse">
            <a:avLst/>
          </a:prstGeom>
          <a:solidFill>
            <a:srgbClr val="00A79D"/>
          </a:solidFill>
          <a:ln/>
        </p:spPr>
      </p:sp>
      <p:sp>
        <p:nvSpPr>
          <p:cNvPr id="15" name="Text 12"/>
          <p:cNvSpPr/>
          <p:nvPr/>
        </p:nvSpPr>
        <p:spPr>
          <a:xfrm>
            <a:off x="649224" y="271119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3.2</a:t>
            </a:r>
            <a:endParaRPr lang="en-US" sz="1150" dirty="0"/>
          </a:p>
        </p:txBody>
      </p:sp>
      <p:sp>
        <p:nvSpPr>
          <p:cNvPr id="16" name="Text 13"/>
          <p:cNvSpPr/>
          <p:nvPr/>
        </p:nvSpPr>
        <p:spPr>
          <a:xfrm>
            <a:off x="1143000" y="245973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Explain single-stage anchor-free anatomy: backbone, neck (FPN/PAN), decoupled head, loss components</a:t>
            </a:r>
            <a:endParaRPr lang="en-US" sz="1250" dirty="0"/>
          </a:p>
        </p:txBody>
      </p:sp>
      <p:sp>
        <p:nvSpPr>
          <p:cNvPr id="17" name="Shape 14"/>
          <p:cNvSpPr/>
          <p:nvPr/>
        </p:nvSpPr>
        <p:spPr>
          <a:xfrm>
            <a:off x="9646920" y="2702052"/>
            <a:ext cx="658368" cy="310896"/>
          </a:xfrm>
          <a:prstGeom prst="roundRect">
            <a:avLst>
              <a:gd name="adj" fmla="val 50000"/>
            </a:avLst>
          </a:prstGeom>
          <a:solidFill>
            <a:srgbClr val="E9F6F5"/>
          </a:solidFill>
          <a:ln w="9525">
            <a:solidFill>
              <a:srgbClr val="00A79D"/>
            </a:solidFill>
            <a:prstDash val="solid"/>
          </a:ln>
        </p:spPr>
      </p:sp>
      <p:sp>
        <p:nvSpPr>
          <p:cNvPr id="18" name="Text 15"/>
          <p:cNvSpPr/>
          <p:nvPr/>
        </p:nvSpPr>
        <p:spPr>
          <a:xfrm>
            <a:off x="9646920"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19" name="Shape 16"/>
          <p:cNvSpPr/>
          <p:nvPr/>
        </p:nvSpPr>
        <p:spPr>
          <a:xfrm>
            <a:off x="502920" y="3419856"/>
            <a:ext cx="11183112" cy="832104"/>
          </a:xfrm>
          <a:prstGeom prst="roundRect">
            <a:avLst>
              <a:gd name="adj" fmla="val 7692"/>
            </a:avLst>
          </a:prstGeom>
          <a:solidFill>
            <a:srgbClr val="FAFCFE"/>
          </a:solidFill>
          <a:ln w="9525">
            <a:solidFill>
              <a:srgbClr val="D9E2EA"/>
            </a:solidFill>
            <a:prstDash val="solid"/>
          </a:ln>
        </p:spPr>
      </p:sp>
      <p:sp>
        <p:nvSpPr>
          <p:cNvPr id="20" name="Shape 17"/>
          <p:cNvSpPr/>
          <p:nvPr/>
        </p:nvSpPr>
        <p:spPr>
          <a:xfrm>
            <a:off x="649224" y="3671316"/>
            <a:ext cx="329184" cy="329184"/>
          </a:xfrm>
          <a:prstGeom prst="ellipse">
            <a:avLst/>
          </a:prstGeom>
          <a:solidFill>
            <a:srgbClr val="00A79D"/>
          </a:solidFill>
          <a:ln/>
        </p:spPr>
      </p:sp>
      <p:sp>
        <p:nvSpPr>
          <p:cNvPr id="21" name="Text 18"/>
          <p:cNvSpPr/>
          <p:nvPr/>
        </p:nvSpPr>
        <p:spPr>
          <a:xfrm>
            <a:off x="649224" y="367131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3.3</a:t>
            </a:r>
            <a:endParaRPr lang="en-US" sz="1150" dirty="0"/>
          </a:p>
        </p:txBody>
      </p:sp>
      <p:sp>
        <p:nvSpPr>
          <p:cNvPr id="22" name="Text 19"/>
          <p:cNvSpPr/>
          <p:nvPr/>
        </p:nvSpPr>
        <p:spPr>
          <a:xfrm>
            <a:off x="1143000" y="341985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Prepare datasets in YOLO format and train with Ultralytics using justified hyperparameters</a:t>
            </a:r>
            <a:endParaRPr lang="en-US" sz="1250" dirty="0"/>
          </a:p>
        </p:txBody>
      </p:sp>
      <p:sp>
        <p:nvSpPr>
          <p:cNvPr id="23" name="Shape 20"/>
          <p:cNvSpPr/>
          <p:nvPr/>
        </p:nvSpPr>
        <p:spPr>
          <a:xfrm>
            <a:off x="9646920" y="3662172"/>
            <a:ext cx="658368" cy="310896"/>
          </a:xfrm>
          <a:prstGeom prst="roundRect">
            <a:avLst>
              <a:gd name="adj" fmla="val 50000"/>
            </a:avLst>
          </a:prstGeom>
          <a:solidFill>
            <a:srgbClr val="E9F6F5"/>
          </a:solidFill>
          <a:ln w="9525">
            <a:solidFill>
              <a:srgbClr val="00A79D"/>
            </a:solidFill>
            <a:prstDash val="solid"/>
          </a:ln>
        </p:spPr>
      </p:sp>
      <p:sp>
        <p:nvSpPr>
          <p:cNvPr id="24" name="Text 21"/>
          <p:cNvSpPr/>
          <p:nvPr/>
        </p:nvSpPr>
        <p:spPr>
          <a:xfrm>
            <a:off x="9646920"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25" name="Shape 22"/>
          <p:cNvSpPr/>
          <p:nvPr/>
        </p:nvSpPr>
        <p:spPr>
          <a:xfrm>
            <a:off x="10360152" y="3662172"/>
            <a:ext cx="658368" cy="310896"/>
          </a:xfrm>
          <a:prstGeom prst="roundRect">
            <a:avLst>
              <a:gd name="adj" fmla="val 50000"/>
            </a:avLst>
          </a:prstGeom>
          <a:solidFill>
            <a:srgbClr val="E9F6F5"/>
          </a:solidFill>
          <a:ln w="9525">
            <a:solidFill>
              <a:srgbClr val="00A79D"/>
            </a:solidFill>
            <a:prstDash val="solid"/>
          </a:ln>
        </p:spPr>
      </p:sp>
      <p:sp>
        <p:nvSpPr>
          <p:cNvPr id="26" name="Text 23"/>
          <p:cNvSpPr/>
          <p:nvPr/>
        </p:nvSpPr>
        <p:spPr>
          <a:xfrm>
            <a:off x="10360152"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LO4</a:t>
            </a:r>
            <a:endParaRPr lang="en-US" sz="950" dirty="0"/>
          </a:p>
        </p:txBody>
      </p:sp>
      <p:sp>
        <p:nvSpPr>
          <p:cNvPr id="27" name="Shape 24"/>
          <p:cNvSpPr/>
          <p:nvPr/>
        </p:nvSpPr>
        <p:spPr>
          <a:xfrm>
            <a:off x="502920" y="4379976"/>
            <a:ext cx="11183112" cy="832104"/>
          </a:xfrm>
          <a:prstGeom prst="roundRect">
            <a:avLst>
              <a:gd name="adj" fmla="val 7692"/>
            </a:avLst>
          </a:prstGeom>
          <a:solidFill>
            <a:srgbClr val="F2F6F9"/>
          </a:solidFill>
          <a:ln w="9525">
            <a:solidFill>
              <a:srgbClr val="D9E2EA"/>
            </a:solidFill>
            <a:prstDash val="solid"/>
          </a:ln>
        </p:spPr>
      </p:sp>
      <p:sp>
        <p:nvSpPr>
          <p:cNvPr id="28" name="Shape 25"/>
          <p:cNvSpPr/>
          <p:nvPr/>
        </p:nvSpPr>
        <p:spPr>
          <a:xfrm>
            <a:off x="649224" y="4631436"/>
            <a:ext cx="329184" cy="329184"/>
          </a:xfrm>
          <a:prstGeom prst="ellipse">
            <a:avLst/>
          </a:prstGeom>
          <a:solidFill>
            <a:srgbClr val="00A79D"/>
          </a:solidFill>
          <a:ln/>
        </p:spPr>
      </p:sp>
      <p:sp>
        <p:nvSpPr>
          <p:cNvPr id="29" name="Text 26"/>
          <p:cNvSpPr/>
          <p:nvPr/>
        </p:nvSpPr>
        <p:spPr>
          <a:xfrm>
            <a:off x="649224" y="463143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3.4</a:t>
            </a:r>
            <a:endParaRPr lang="en-US" sz="1150" dirty="0"/>
          </a:p>
        </p:txBody>
      </p:sp>
      <p:sp>
        <p:nvSpPr>
          <p:cNvPr id="30" name="Text 27"/>
          <p:cNvSpPr/>
          <p:nvPr/>
        </p:nvSpPr>
        <p:spPr>
          <a:xfrm>
            <a:off x="1143000" y="437997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Apply detection-specific augmentation (mosaic, copy-paste) and know when to disable it</a:t>
            </a:r>
            <a:endParaRPr lang="en-US" sz="1250" dirty="0"/>
          </a:p>
        </p:txBody>
      </p:sp>
      <p:sp>
        <p:nvSpPr>
          <p:cNvPr id="31" name="Shape 28"/>
          <p:cNvSpPr/>
          <p:nvPr/>
        </p:nvSpPr>
        <p:spPr>
          <a:xfrm>
            <a:off x="9646920" y="4622292"/>
            <a:ext cx="658368" cy="310896"/>
          </a:xfrm>
          <a:prstGeom prst="roundRect">
            <a:avLst>
              <a:gd name="adj" fmla="val 50000"/>
            </a:avLst>
          </a:prstGeom>
          <a:solidFill>
            <a:srgbClr val="E9F6F5"/>
          </a:solidFill>
          <a:ln w="9525">
            <a:solidFill>
              <a:srgbClr val="00A79D"/>
            </a:solidFill>
            <a:prstDash val="solid"/>
          </a:ln>
        </p:spPr>
      </p:sp>
      <p:sp>
        <p:nvSpPr>
          <p:cNvPr id="32" name="Text 29"/>
          <p:cNvSpPr/>
          <p:nvPr/>
        </p:nvSpPr>
        <p:spPr>
          <a:xfrm>
            <a:off x="9646920"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
        <p:nvSpPr>
          <p:cNvPr id="33" name="Shape 30"/>
          <p:cNvSpPr/>
          <p:nvPr/>
        </p:nvSpPr>
        <p:spPr>
          <a:xfrm>
            <a:off x="10360152" y="4622292"/>
            <a:ext cx="658368" cy="310896"/>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10360152"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LO4</a:t>
            </a:r>
            <a:endParaRPr lang="en-US" sz="950" dirty="0"/>
          </a:p>
        </p:txBody>
      </p:sp>
      <p:sp>
        <p:nvSpPr>
          <p:cNvPr id="35" name="Shape 32"/>
          <p:cNvSpPr/>
          <p:nvPr/>
        </p:nvSpPr>
        <p:spPr>
          <a:xfrm>
            <a:off x="502920" y="5340096"/>
            <a:ext cx="11183112" cy="832104"/>
          </a:xfrm>
          <a:prstGeom prst="roundRect">
            <a:avLst>
              <a:gd name="adj" fmla="val 7692"/>
            </a:avLst>
          </a:prstGeom>
          <a:solidFill>
            <a:srgbClr val="FAFCFE"/>
          </a:solidFill>
          <a:ln w="9525">
            <a:solidFill>
              <a:srgbClr val="D9E2EA"/>
            </a:solidFill>
            <a:prstDash val="solid"/>
          </a:ln>
        </p:spPr>
      </p:sp>
      <p:sp>
        <p:nvSpPr>
          <p:cNvPr id="36" name="Shape 33"/>
          <p:cNvSpPr/>
          <p:nvPr/>
        </p:nvSpPr>
        <p:spPr>
          <a:xfrm>
            <a:off x="649224" y="5591556"/>
            <a:ext cx="329184" cy="329184"/>
          </a:xfrm>
          <a:prstGeom prst="ellipse">
            <a:avLst/>
          </a:prstGeom>
          <a:solidFill>
            <a:srgbClr val="00A79D"/>
          </a:solidFill>
          <a:ln/>
        </p:spPr>
      </p:sp>
      <p:sp>
        <p:nvSpPr>
          <p:cNvPr id="37" name="Text 34"/>
          <p:cNvSpPr/>
          <p:nvPr/>
        </p:nvSpPr>
        <p:spPr>
          <a:xfrm>
            <a:off x="649224" y="559155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3.5</a:t>
            </a:r>
            <a:endParaRPr lang="en-US" sz="1150" dirty="0"/>
          </a:p>
        </p:txBody>
      </p:sp>
      <p:sp>
        <p:nvSpPr>
          <p:cNvPr id="38" name="Text 35"/>
          <p:cNvSpPr/>
          <p:nvPr/>
        </p:nvSpPr>
        <p:spPr>
          <a:xfrm>
            <a:off x="1143000" y="534009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Tune confidence and NMS thresholds against explicit recall and false-alarm requirements</a:t>
            </a:r>
            <a:endParaRPr lang="en-US" sz="1250" dirty="0"/>
          </a:p>
        </p:txBody>
      </p:sp>
      <p:sp>
        <p:nvSpPr>
          <p:cNvPr id="39" name="Shape 36"/>
          <p:cNvSpPr/>
          <p:nvPr/>
        </p:nvSpPr>
        <p:spPr>
          <a:xfrm>
            <a:off x="9646920" y="5582412"/>
            <a:ext cx="658368" cy="310896"/>
          </a:xfrm>
          <a:prstGeom prst="roundRect">
            <a:avLst>
              <a:gd name="adj" fmla="val 50000"/>
            </a:avLst>
          </a:prstGeom>
          <a:solidFill>
            <a:srgbClr val="E9F6F5"/>
          </a:solidFill>
          <a:ln w="9525">
            <a:solidFill>
              <a:srgbClr val="00A79D"/>
            </a:solidFill>
            <a:prstDash val="solid"/>
          </a:ln>
        </p:spPr>
      </p:sp>
      <p:sp>
        <p:nvSpPr>
          <p:cNvPr id="40" name="Text 37"/>
          <p:cNvSpPr/>
          <p:nvPr/>
        </p:nvSpPr>
        <p:spPr>
          <a:xfrm>
            <a:off x="9646920"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41" name="Shape 38"/>
          <p:cNvSpPr/>
          <p:nvPr/>
        </p:nvSpPr>
        <p:spPr>
          <a:xfrm>
            <a:off x="10360152" y="5582412"/>
            <a:ext cx="658368" cy="310896"/>
          </a:xfrm>
          <a:prstGeom prst="roundRect">
            <a:avLst>
              <a:gd name="adj" fmla="val 50000"/>
            </a:avLst>
          </a:prstGeom>
          <a:solidFill>
            <a:srgbClr val="E9F6F5"/>
          </a:solidFill>
          <a:ln w="9525">
            <a:solidFill>
              <a:srgbClr val="00A79D"/>
            </a:solidFill>
            <a:prstDash val="solid"/>
          </a:ln>
        </p:spPr>
      </p:sp>
      <p:sp>
        <p:nvSpPr>
          <p:cNvPr id="42" name="Text 39"/>
          <p:cNvSpPr/>
          <p:nvPr/>
        </p:nvSpPr>
        <p:spPr>
          <a:xfrm>
            <a:off x="10360152"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Detection Problem, Formulated Honestly</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صياغة مشكلة الاكتشاف بأمانة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54</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Output is a set, not a vector</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count varies per image, so evaluation needs IoU-based matching between predictions and ground truth — the primitive under mAP (M6 builds it by hand).</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Two ways to be wrong</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detector can find the fruit and mislabel the defect, or label correctly with a sloppy box. Error analysis must separate these (M6's error taxonomy).</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Class definitions must be boxable</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5-class taxonomy — mould, skin_split, insect_damage, sugaring, foreign_object — was designed so every class has locatable extent. An annotation-spec decision (M5).</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Choose the cheapest formulation that answers the question</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Frame-level question ('is this station dirty?') — classifier. Area question ('what fraction is mouldy?') — segmentation (M4).</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Anatomy of a Single-Stage Detector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تشريح كاشف أحادي المرحلة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55</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Modern YOLOs (2016 → YOLO11) detect in one forward pass; anchor-free heads removed a whole class of anchor-tuning bugs.</a:t>
            </a:r>
            <a:endParaRPr lang="en-US" sz="1250" dirty="0"/>
          </a:p>
        </p:txBody>
      </p:sp>
      <p:sp>
        <p:nvSpPr>
          <p:cNvPr id="8" name="Shape 5"/>
          <p:cNvSpPr/>
          <p:nvPr/>
        </p:nvSpPr>
        <p:spPr>
          <a:xfrm>
            <a:off x="502920" y="3118104"/>
            <a:ext cx="2508428"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Backbone</a:t>
            </a:r>
            <a:endParaRPr lang="en-US" sz="1250" dirty="0"/>
          </a:p>
        </p:txBody>
      </p:sp>
      <p:sp>
        <p:nvSpPr>
          <p:cNvPr id="10" name="Text 7"/>
          <p:cNvSpPr/>
          <p:nvPr/>
        </p:nvSpPr>
        <p:spPr>
          <a:xfrm>
            <a:off x="576072"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CSP CNN — features at strides 8/16/32</a:t>
            </a:r>
            <a:endParaRPr lang="en-US" sz="950" dirty="0"/>
          </a:p>
        </p:txBody>
      </p:sp>
      <p:sp>
        <p:nvSpPr>
          <p:cNvPr id="11" name="Shape 8"/>
          <p:cNvSpPr/>
          <p:nvPr/>
        </p:nvSpPr>
        <p:spPr>
          <a:xfrm>
            <a:off x="3066212" y="3803904"/>
            <a:ext cx="274320" cy="0"/>
          </a:xfrm>
          <a:prstGeom prst="line">
            <a:avLst/>
          </a:prstGeom>
          <a:noFill/>
          <a:ln w="19050">
            <a:solidFill>
              <a:srgbClr val="8A96A6"/>
            </a:solidFill>
            <a:prstDash val="solid"/>
            <a:headEnd type="none"/>
            <a:tailEnd type="triangle"/>
          </a:ln>
        </p:spPr>
      </p:sp>
      <p:sp>
        <p:nvSpPr>
          <p:cNvPr id="12" name="Shape 9"/>
          <p:cNvSpPr/>
          <p:nvPr/>
        </p:nvSpPr>
        <p:spPr>
          <a:xfrm>
            <a:off x="3395396" y="3118104"/>
            <a:ext cx="2508428" cy="1371600"/>
          </a:xfrm>
          <a:prstGeom prst="roundRect">
            <a:avLst>
              <a:gd name="adj" fmla="val 4667"/>
            </a:avLst>
          </a:prstGeom>
          <a:solidFill>
            <a:srgbClr val="F2F6F9"/>
          </a:solidFill>
          <a:ln w="15875">
            <a:solidFill>
              <a:srgbClr val="00A79D"/>
            </a:solidFill>
            <a:prstDash val="solid"/>
          </a:ln>
        </p:spPr>
      </p:sp>
      <p:sp>
        <p:nvSpPr>
          <p:cNvPr id="13" name="Text 10"/>
          <p:cNvSpPr/>
          <p:nvPr/>
        </p:nvSpPr>
        <p:spPr>
          <a:xfrm>
            <a:off x="3468548"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Neck: FPN + PAN</a:t>
            </a:r>
            <a:endParaRPr lang="en-US" sz="1250" dirty="0"/>
          </a:p>
        </p:txBody>
      </p:sp>
      <p:sp>
        <p:nvSpPr>
          <p:cNvPr id="14" name="Text 11"/>
          <p:cNvSpPr/>
          <p:nvPr/>
        </p:nvSpPr>
        <p:spPr>
          <a:xfrm>
            <a:off x="3468548"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deep context fused with shallow precision</a:t>
            </a:r>
            <a:endParaRPr lang="en-US" sz="950" dirty="0"/>
          </a:p>
        </p:txBody>
      </p:sp>
      <p:sp>
        <p:nvSpPr>
          <p:cNvPr id="15" name="Shape 12"/>
          <p:cNvSpPr/>
          <p:nvPr/>
        </p:nvSpPr>
        <p:spPr>
          <a:xfrm>
            <a:off x="5958688" y="3803904"/>
            <a:ext cx="274320" cy="0"/>
          </a:xfrm>
          <a:prstGeom prst="line">
            <a:avLst/>
          </a:prstGeom>
          <a:noFill/>
          <a:ln w="19050">
            <a:solidFill>
              <a:srgbClr val="8A96A6"/>
            </a:solidFill>
            <a:prstDash val="solid"/>
            <a:headEnd type="none"/>
            <a:tailEnd type="triangle"/>
          </a:ln>
        </p:spPr>
      </p:sp>
      <p:sp>
        <p:nvSpPr>
          <p:cNvPr id="16" name="Shape 13"/>
          <p:cNvSpPr/>
          <p:nvPr/>
        </p:nvSpPr>
        <p:spPr>
          <a:xfrm>
            <a:off x="6287872" y="3118104"/>
            <a:ext cx="2508428" cy="1371600"/>
          </a:xfrm>
          <a:prstGeom prst="roundRect">
            <a:avLst>
              <a:gd name="adj" fmla="val 4667"/>
            </a:avLst>
          </a:prstGeom>
          <a:solidFill>
            <a:srgbClr val="F2F6F9"/>
          </a:solidFill>
          <a:ln w="15875">
            <a:solidFill>
              <a:srgbClr val="00A79D"/>
            </a:solidFill>
            <a:prstDash val="solid"/>
          </a:ln>
        </p:spPr>
      </p:sp>
      <p:sp>
        <p:nvSpPr>
          <p:cNvPr id="17" name="Text 14"/>
          <p:cNvSpPr/>
          <p:nvPr/>
        </p:nvSpPr>
        <p:spPr>
          <a:xfrm>
            <a:off x="6361024"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Decoupled head</a:t>
            </a:r>
            <a:endParaRPr lang="en-US" sz="1250" dirty="0"/>
          </a:p>
        </p:txBody>
      </p:sp>
      <p:sp>
        <p:nvSpPr>
          <p:cNvPr id="18" name="Text 15"/>
          <p:cNvSpPr/>
          <p:nvPr/>
        </p:nvSpPr>
        <p:spPr>
          <a:xfrm>
            <a:off x="6361024"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per-cell class + box, anchor-free</a:t>
            </a:r>
            <a:endParaRPr lang="en-US" sz="950" dirty="0"/>
          </a:p>
        </p:txBody>
      </p:sp>
      <p:sp>
        <p:nvSpPr>
          <p:cNvPr id="19" name="Shape 16"/>
          <p:cNvSpPr/>
          <p:nvPr/>
        </p:nvSpPr>
        <p:spPr>
          <a:xfrm>
            <a:off x="8851163" y="3803904"/>
            <a:ext cx="274320" cy="0"/>
          </a:xfrm>
          <a:prstGeom prst="line">
            <a:avLst/>
          </a:prstGeom>
          <a:noFill/>
          <a:ln w="19050">
            <a:solidFill>
              <a:srgbClr val="8A96A6"/>
            </a:solidFill>
            <a:prstDash val="solid"/>
            <a:headEnd type="none"/>
            <a:tailEnd type="triangle"/>
          </a:ln>
        </p:spPr>
      </p:sp>
      <p:sp>
        <p:nvSpPr>
          <p:cNvPr id="20" name="Shape 17"/>
          <p:cNvSpPr/>
          <p:nvPr/>
        </p:nvSpPr>
        <p:spPr>
          <a:xfrm>
            <a:off x="9180347" y="3118104"/>
            <a:ext cx="2508428" cy="1371600"/>
          </a:xfrm>
          <a:prstGeom prst="roundRect">
            <a:avLst>
              <a:gd name="adj" fmla="val 4667"/>
            </a:avLst>
          </a:prstGeom>
          <a:solidFill>
            <a:srgbClr val="1D2A5C"/>
          </a:solidFill>
          <a:ln w="15875">
            <a:solidFill>
              <a:srgbClr val="00A79D"/>
            </a:solidFill>
            <a:prstDash val="solid"/>
          </a:ln>
        </p:spPr>
      </p:sp>
      <p:sp>
        <p:nvSpPr>
          <p:cNvPr id="21" name="Text 18"/>
          <p:cNvSpPr/>
          <p:nvPr/>
        </p:nvSpPr>
        <p:spPr>
          <a:xfrm>
            <a:off x="9253499" y="3172968"/>
            <a:ext cx="2362124"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(box, class, conf)</a:t>
            </a:r>
            <a:endParaRPr lang="en-US" sz="1250" dirty="0"/>
          </a:p>
        </p:txBody>
      </p:sp>
      <p:sp>
        <p:nvSpPr>
          <p:cNvPr id="22" name="Text 19"/>
          <p:cNvSpPr/>
          <p:nvPr/>
        </p:nvSpPr>
        <p:spPr>
          <a:xfrm>
            <a:off x="9253499" y="3776472"/>
            <a:ext cx="2362124"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loss: CIoU + BCE + DFL</a:t>
            </a:r>
            <a:endParaRPr lang="en-US" sz="950" dirty="0"/>
          </a:p>
        </p:txBody>
      </p:sp>
      <p:sp>
        <p:nvSpPr>
          <p:cNvPr id="23" name="Shape 20"/>
          <p:cNvSpPr/>
          <p:nvPr/>
        </p:nvSpPr>
        <p:spPr>
          <a:xfrm>
            <a:off x="10434561" y="4489704"/>
            <a:ext cx="0" cy="274320"/>
          </a:xfrm>
          <a:prstGeom prst="line">
            <a:avLst/>
          </a:prstGeom>
          <a:noFill/>
          <a:ln w="15875">
            <a:solidFill>
              <a:srgbClr val="E8503A"/>
            </a:solidFill>
            <a:prstDash val="dash"/>
          </a:ln>
        </p:spPr>
      </p:sp>
      <p:sp>
        <p:nvSpPr>
          <p:cNvPr id="24" name="Shape 21"/>
          <p:cNvSpPr/>
          <p:nvPr/>
        </p:nvSpPr>
        <p:spPr>
          <a:xfrm>
            <a:off x="9134627" y="4764024"/>
            <a:ext cx="2599868" cy="475488"/>
          </a:xfrm>
          <a:prstGeom prst="roundRect">
            <a:avLst>
              <a:gd name="adj" fmla="val 11538"/>
            </a:avLst>
          </a:prstGeom>
          <a:solidFill>
            <a:srgbClr val="FDEDEA"/>
          </a:solidFill>
          <a:ln w="12700">
            <a:solidFill>
              <a:srgbClr val="E8503A"/>
            </a:solidFill>
            <a:prstDash val="solid"/>
          </a:ln>
        </p:spPr>
      </p:sp>
      <p:sp>
        <p:nvSpPr>
          <p:cNvPr id="25" name="Text 22"/>
          <p:cNvSpPr/>
          <p:nvPr/>
        </p:nvSpPr>
        <p:spPr>
          <a:xfrm>
            <a:off x="9180347" y="4764024"/>
            <a:ext cx="2508428"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box_loss plateaus, cls_loss falls = annotation quality</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One-Stage vs Two-Stage Detectors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أحادي المرحلة مقابل ثنائي المرحلة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56</a:t>
            </a:r>
            <a:endParaRPr lang="en-US" sz="900" dirty="0"/>
          </a:p>
        </p:txBody>
      </p:sp>
      <p:sp>
        <p:nvSpPr>
          <p:cNvPr id="7" name="Shape 4"/>
          <p:cNvSpPr/>
          <p:nvPr/>
        </p:nvSpPr>
        <p:spPr>
          <a:xfrm>
            <a:off x="502920" y="1389888"/>
            <a:ext cx="5432908" cy="2459736"/>
          </a:xfrm>
          <a:prstGeom prst="roundRect">
            <a:avLst>
              <a:gd name="adj" fmla="val 3346"/>
            </a:avLst>
          </a:prstGeom>
          <a:solidFill>
            <a:srgbClr val="F2F6F9"/>
          </a:solidFill>
          <a:ln w="12700">
            <a:solidFill>
              <a:srgbClr val="D9E2EA"/>
            </a:solidFill>
            <a:prstDash val="solid"/>
          </a:ln>
        </p:spPr>
      </p:sp>
      <p:sp>
        <p:nvSpPr>
          <p:cNvPr id="8" name="Shape 5"/>
          <p:cNvSpPr/>
          <p:nvPr/>
        </p:nvSpPr>
        <p:spPr>
          <a:xfrm>
            <a:off x="704088" y="1581912"/>
            <a:ext cx="146304" cy="146304"/>
          </a:xfrm>
          <a:prstGeom prst="ellipse">
            <a:avLst/>
          </a:prstGeom>
          <a:solidFill>
            <a:srgbClr val="00A79D"/>
          </a:solidFill>
          <a:ln/>
        </p:spPr>
      </p:sp>
      <p:sp>
        <p:nvSpPr>
          <p:cNvPr id="9" name="Text 6"/>
          <p:cNvSpPr/>
          <p:nvPr/>
        </p:nvSpPr>
        <p:spPr>
          <a:xfrm>
            <a:off x="960120" y="148132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Single-stage (YOLO family)</a:t>
            </a:r>
            <a:endParaRPr lang="en-US" sz="1400" dirty="0"/>
          </a:p>
        </p:txBody>
      </p:sp>
      <p:sp>
        <p:nvSpPr>
          <p:cNvPr id="10" name="Text 7"/>
          <p:cNvSpPr/>
          <p:nvPr/>
        </p:nvSpPr>
        <p:spPr>
          <a:xfrm>
            <a:off x="758952" y="1920240"/>
            <a:ext cx="4975708" cy="1801368"/>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Detection in one forward pass — 62 FPS</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Anchor-free head: fewer tuning bugs</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Fastest path from boxes to working model</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Course choice for the golden thread</a:t>
            </a:r>
            <a:endParaRPr lang="en-US" sz="1150" dirty="0"/>
          </a:p>
        </p:txBody>
      </p:sp>
      <p:sp>
        <p:nvSpPr>
          <p:cNvPr id="11" name="Shape 8"/>
          <p:cNvSpPr/>
          <p:nvPr/>
        </p:nvSpPr>
        <p:spPr>
          <a:xfrm>
            <a:off x="6255868" y="1389888"/>
            <a:ext cx="5432908" cy="2459736"/>
          </a:xfrm>
          <a:prstGeom prst="roundRect">
            <a:avLst>
              <a:gd name="adj" fmla="val 3346"/>
            </a:avLst>
          </a:prstGeom>
          <a:solidFill>
            <a:srgbClr val="F2F6F9"/>
          </a:solidFill>
          <a:ln w="12700">
            <a:solidFill>
              <a:srgbClr val="D9E2EA"/>
            </a:solidFill>
            <a:prstDash val="solid"/>
          </a:ln>
        </p:spPr>
      </p:sp>
      <p:sp>
        <p:nvSpPr>
          <p:cNvPr id="12" name="Shape 9"/>
          <p:cNvSpPr/>
          <p:nvPr/>
        </p:nvSpPr>
        <p:spPr>
          <a:xfrm>
            <a:off x="6457036" y="1581912"/>
            <a:ext cx="146304" cy="146304"/>
          </a:xfrm>
          <a:prstGeom prst="ellipse">
            <a:avLst/>
          </a:prstGeom>
          <a:solidFill>
            <a:srgbClr val="29ABE2"/>
          </a:solidFill>
          <a:ln/>
        </p:spPr>
      </p:sp>
      <p:sp>
        <p:nvSpPr>
          <p:cNvPr id="13" name="Text 10"/>
          <p:cNvSpPr/>
          <p:nvPr/>
        </p:nvSpPr>
        <p:spPr>
          <a:xfrm>
            <a:off x="6713068" y="148132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Two-stage (Faster R-CNN)</a:t>
            </a:r>
            <a:endParaRPr lang="en-US" sz="1400" dirty="0"/>
          </a:p>
        </p:txBody>
      </p:sp>
      <p:sp>
        <p:nvSpPr>
          <p:cNvPr id="14" name="Text 11"/>
          <p:cNvSpPr/>
          <p:nvPr/>
        </p:nvSpPr>
        <p:spPr>
          <a:xfrm>
            <a:off x="6511900" y="1920240"/>
            <a:ext cx="4975708" cy="1801368"/>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Region proposals, then per-region classification</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Slightly better small-object / crowded scenes</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Trades speed for accuracy margins</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Common in academic baselines, medical tooling</a:t>
            </a:r>
            <a:endParaRPr lang="en-US" sz="1150" dirty="0"/>
          </a:p>
        </p:txBody>
      </p:sp>
      <p:sp>
        <p:nvSpPr>
          <p:cNvPr id="15" name="Shape 12"/>
          <p:cNvSpPr/>
          <p:nvPr/>
        </p:nvSpPr>
        <p:spPr>
          <a:xfrm>
            <a:off x="2717140" y="4014216"/>
            <a:ext cx="6757416" cy="457200"/>
          </a:xfrm>
          <a:prstGeom prst="roundRect">
            <a:avLst>
              <a:gd name="adj" fmla="val 50000"/>
            </a:avLst>
          </a:prstGeom>
          <a:solidFill>
            <a:srgbClr val="FEF3E7"/>
          </a:solidFill>
          <a:ln w="15875">
            <a:solidFill>
              <a:srgbClr val="F58220"/>
            </a:solidFill>
            <a:prstDash val="solid"/>
          </a:ln>
        </p:spPr>
      </p:sp>
      <p:sp>
        <p:nvSpPr>
          <p:cNvPr id="16" name="Text 13"/>
          <p:cNvSpPr/>
          <p:nvPr/>
        </p:nvSpPr>
        <p:spPr>
          <a:xfrm>
            <a:off x="2808580" y="4014216"/>
            <a:ext cx="6574536" cy="457200"/>
          </a:xfrm>
          <a:prstGeom prst="rect">
            <a:avLst/>
          </a:prstGeom>
          <a:noFill/>
          <a:ln/>
        </p:spPr>
        <p:txBody>
          <a:bodyPr wrap="square" lIns="0" tIns="0" rIns="0" bIns="0" rtlCol="0" anchor="ctr"/>
          <a:lstStyle/>
          <a:p>
            <a:pPr algn="ctr" indent="0" marL="0">
              <a:buNone/>
            </a:pPr>
            <a:r>
              <a:rPr lang="en-US" sz="1200" b="1" dirty="0">
                <a:solidFill>
                  <a:srgbClr val="B35A0F"/>
                </a:solidFill>
                <a:latin typeface="Calibri" pitchFamily="34" charset="0"/>
                <a:ea typeface="Calibri" pitchFamily="34" charset="-122"/>
                <a:cs typeface="Calibri" pitchFamily="34" charset="-120"/>
              </a:rPr>
              <a:t>At Tamr Vision's 62 FPS requirement the choice makes itself: single-stage.</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Ultralytics Workflow: Three Artefacts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سير عمل Ultralytics: ثلاث قطع</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57</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Defaults are strong — which is why you must control the five that matter: imgsz, batch, lr0/optimizer, patience, augmentation.</a:t>
            </a:r>
            <a:endParaRPr lang="en-US" sz="1250" dirty="0"/>
          </a:p>
        </p:txBody>
      </p:sp>
      <p:sp>
        <p:nvSpPr>
          <p:cNvPr id="8" name="Shape 5"/>
          <p:cNvSpPr/>
          <p:nvPr/>
        </p:nvSpPr>
        <p:spPr>
          <a:xfrm>
            <a:off x="502920" y="3118104"/>
            <a:ext cx="2508428"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YOLO labels</a:t>
            </a:r>
            <a:endParaRPr lang="en-US" sz="1250" dirty="0"/>
          </a:p>
        </p:txBody>
      </p:sp>
      <p:sp>
        <p:nvSpPr>
          <p:cNvPr id="10" name="Text 7"/>
          <p:cNvSpPr/>
          <p:nvPr/>
        </p:nvSpPr>
        <p:spPr>
          <a:xfrm>
            <a:off x="576072"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one .txt per image, normalised cx cy w h</a:t>
            </a:r>
            <a:endParaRPr lang="en-US" sz="950" dirty="0"/>
          </a:p>
        </p:txBody>
      </p:sp>
      <p:sp>
        <p:nvSpPr>
          <p:cNvPr id="11" name="Shape 8"/>
          <p:cNvSpPr/>
          <p:nvPr/>
        </p:nvSpPr>
        <p:spPr>
          <a:xfrm>
            <a:off x="3066212" y="3803904"/>
            <a:ext cx="274320" cy="0"/>
          </a:xfrm>
          <a:prstGeom prst="line">
            <a:avLst/>
          </a:prstGeom>
          <a:noFill/>
          <a:ln w="19050">
            <a:solidFill>
              <a:srgbClr val="8A96A6"/>
            </a:solidFill>
            <a:prstDash val="solid"/>
            <a:headEnd type="none"/>
            <a:tailEnd type="triangle"/>
          </a:ln>
        </p:spPr>
      </p:sp>
      <p:sp>
        <p:nvSpPr>
          <p:cNvPr id="12" name="Shape 9"/>
          <p:cNvSpPr/>
          <p:nvPr/>
        </p:nvSpPr>
        <p:spPr>
          <a:xfrm>
            <a:off x="1757134" y="4489704"/>
            <a:ext cx="0" cy="274320"/>
          </a:xfrm>
          <a:prstGeom prst="line">
            <a:avLst/>
          </a:prstGeom>
          <a:noFill/>
          <a:ln w="15875">
            <a:solidFill>
              <a:srgbClr val="E8503A"/>
            </a:solidFill>
            <a:prstDash val="dash"/>
          </a:ln>
        </p:spPr>
      </p:sp>
      <p:sp>
        <p:nvSpPr>
          <p:cNvPr id="13" name="Shape 10"/>
          <p:cNvSpPr/>
          <p:nvPr/>
        </p:nvSpPr>
        <p:spPr>
          <a:xfrm>
            <a:off x="457200" y="4764024"/>
            <a:ext cx="2599868" cy="475488"/>
          </a:xfrm>
          <a:prstGeom prst="roundRect">
            <a:avLst>
              <a:gd name="adj" fmla="val 11538"/>
            </a:avLst>
          </a:prstGeom>
          <a:solidFill>
            <a:srgbClr val="FDEDEA"/>
          </a:solidFill>
          <a:ln w="12700">
            <a:solidFill>
              <a:srgbClr val="E8503A"/>
            </a:solidFill>
            <a:prstDash val="solid"/>
          </a:ln>
        </p:spPr>
      </p:sp>
      <p:sp>
        <p:nvSpPr>
          <p:cNvPr id="14" name="Text 11"/>
          <p:cNvSpPr/>
          <p:nvPr/>
        </p:nvSpPr>
        <p:spPr>
          <a:xfrm>
            <a:off x="502920" y="4764024"/>
            <a:ext cx="2508428"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un-normalised pixel coords: values &gt; 1 silently clipped</a:t>
            </a:r>
            <a:endParaRPr lang="en-US" sz="950" dirty="0"/>
          </a:p>
        </p:txBody>
      </p:sp>
      <p:sp>
        <p:nvSpPr>
          <p:cNvPr id="15" name="Shape 12"/>
          <p:cNvSpPr/>
          <p:nvPr/>
        </p:nvSpPr>
        <p:spPr>
          <a:xfrm>
            <a:off x="3395396" y="3118104"/>
            <a:ext cx="2508428" cy="1371600"/>
          </a:xfrm>
          <a:prstGeom prst="roundRect">
            <a:avLst>
              <a:gd name="adj" fmla="val 4667"/>
            </a:avLst>
          </a:prstGeom>
          <a:solidFill>
            <a:srgbClr val="F2F6F9"/>
          </a:solidFill>
          <a:ln w="15875">
            <a:solidFill>
              <a:srgbClr val="00A79D"/>
            </a:solidFill>
            <a:prstDash val="solid"/>
          </a:ln>
        </p:spPr>
      </p:sp>
      <p:sp>
        <p:nvSpPr>
          <p:cNvPr id="16" name="Text 13"/>
          <p:cNvSpPr/>
          <p:nvPr/>
        </p:nvSpPr>
        <p:spPr>
          <a:xfrm>
            <a:off x="3468548"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Dataset YAML</a:t>
            </a:r>
            <a:endParaRPr lang="en-US" sz="1250" dirty="0"/>
          </a:p>
        </p:txBody>
      </p:sp>
      <p:sp>
        <p:nvSpPr>
          <p:cNvPr id="17" name="Text 14"/>
          <p:cNvSpPr/>
          <p:nvPr/>
        </p:nvSpPr>
        <p:spPr>
          <a:xfrm>
            <a:off x="3468548"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paths + class names in frozen order</a:t>
            </a:r>
            <a:endParaRPr lang="en-US" sz="950" dirty="0"/>
          </a:p>
        </p:txBody>
      </p:sp>
      <p:sp>
        <p:nvSpPr>
          <p:cNvPr id="18" name="Shape 15"/>
          <p:cNvSpPr/>
          <p:nvPr/>
        </p:nvSpPr>
        <p:spPr>
          <a:xfrm>
            <a:off x="5958688" y="3803904"/>
            <a:ext cx="274320" cy="0"/>
          </a:xfrm>
          <a:prstGeom prst="line">
            <a:avLst/>
          </a:prstGeom>
          <a:noFill/>
          <a:ln w="19050">
            <a:solidFill>
              <a:srgbClr val="8A96A6"/>
            </a:solidFill>
            <a:prstDash val="solid"/>
            <a:headEnd type="none"/>
            <a:tailEnd type="triangle"/>
          </a:ln>
        </p:spPr>
      </p:sp>
      <p:sp>
        <p:nvSpPr>
          <p:cNvPr id="19" name="Shape 16"/>
          <p:cNvSpPr/>
          <p:nvPr/>
        </p:nvSpPr>
        <p:spPr>
          <a:xfrm>
            <a:off x="4649610" y="4489704"/>
            <a:ext cx="0" cy="274320"/>
          </a:xfrm>
          <a:prstGeom prst="line">
            <a:avLst/>
          </a:prstGeom>
          <a:noFill/>
          <a:ln w="15875">
            <a:solidFill>
              <a:srgbClr val="E8503A"/>
            </a:solidFill>
            <a:prstDash val="dash"/>
          </a:ln>
        </p:spPr>
      </p:sp>
      <p:sp>
        <p:nvSpPr>
          <p:cNvPr id="20" name="Shape 17"/>
          <p:cNvSpPr/>
          <p:nvPr/>
        </p:nvSpPr>
        <p:spPr>
          <a:xfrm>
            <a:off x="3349676" y="4764024"/>
            <a:ext cx="2599868" cy="475488"/>
          </a:xfrm>
          <a:prstGeom prst="roundRect">
            <a:avLst>
              <a:gd name="adj" fmla="val 11538"/>
            </a:avLst>
          </a:prstGeom>
          <a:solidFill>
            <a:srgbClr val="FDEDEA"/>
          </a:solidFill>
          <a:ln w="12700">
            <a:solidFill>
              <a:srgbClr val="E8503A"/>
            </a:solidFill>
            <a:prstDash val="solid"/>
          </a:ln>
        </p:spPr>
      </p:sp>
      <p:sp>
        <p:nvSpPr>
          <p:cNvPr id="21" name="Text 18"/>
          <p:cNvSpPr/>
          <p:nvPr/>
        </p:nvSpPr>
        <p:spPr>
          <a:xfrm>
            <a:off x="3395396" y="4764024"/>
            <a:ext cx="2508428"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reordering YAML names relabels every prediction</a:t>
            </a:r>
            <a:endParaRPr lang="en-US" sz="950" dirty="0"/>
          </a:p>
        </p:txBody>
      </p:sp>
      <p:sp>
        <p:nvSpPr>
          <p:cNvPr id="22" name="Shape 19"/>
          <p:cNvSpPr/>
          <p:nvPr/>
        </p:nvSpPr>
        <p:spPr>
          <a:xfrm>
            <a:off x="6287872" y="3118104"/>
            <a:ext cx="2508428" cy="1371600"/>
          </a:xfrm>
          <a:prstGeom prst="roundRect">
            <a:avLst>
              <a:gd name="adj" fmla="val 4667"/>
            </a:avLst>
          </a:prstGeom>
          <a:solidFill>
            <a:srgbClr val="F2F6F9"/>
          </a:solidFill>
          <a:ln w="15875">
            <a:solidFill>
              <a:srgbClr val="00A79D"/>
            </a:solidFill>
            <a:prstDash val="solid"/>
          </a:ln>
        </p:spPr>
      </p:sp>
      <p:sp>
        <p:nvSpPr>
          <p:cNvPr id="23" name="Text 20"/>
          <p:cNvSpPr/>
          <p:nvPr/>
        </p:nvSpPr>
        <p:spPr>
          <a:xfrm>
            <a:off x="6361024"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model.train()</a:t>
            </a:r>
            <a:endParaRPr lang="en-US" sz="1250" dirty="0"/>
          </a:p>
        </p:txBody>
      </p:sp>
      <p:sp>
        <p:nvSpPr>
          <p:cNvPr id="24" name="Text 21"/>
          <p:cNvSpPr/>
          <p:nvPr/>
        </p:nvSpPr>
        <p:spPr>
          <a:xfrm>
            <a:off x="6361024"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COCO weights; mosaic + copy-paste on</a:t>
            </a:r>
            <a:endParaRPr lang="en-US" sz="950" dirty="0"/>
          </a:p>
        </p:txBody>
      </p:sp>
      <p:sp>
        <p:nvSpPr>
          <p:cNvPr id="25" name="Shape 22"/>
          <p:cNvSpPr/>
          <p:nvPr/>
        </p:nvSpPr>
        <p:spPr>
          <a:xfrm>
            <a:off x="8851163" y="3803904"/>
            <a:ext cx="274320" cy="0"/>
          </a:xfrm>
          <a:prstGeom prst="line">
            <a:avLst/>
          </a:prstGeom>
          <a:noFill/>
          <a:ln w="19050">
            <a:solidFill>
              <a:srgbClr val="8A96A6"/>
            </a:solidFill>
            <a:prstDash val="solid"/>
            <a:headEnd type="none"/>
            <a:tailEnd type="triangle"/>
          </a:ln>
        </p:spPr>
      </p:sp>
      <p:sp>
        <p:nvSpPr>
          <p:cNvPr id="26" name="Shape 23"/>
          <p:cNvSpPr/>
          <p:nvPr/>
        </p:nvSpPr>
        <p:spPr>
          <a:xfrm>
            <a:off x="9180347" y="3118104"/>
            <a:ext cx="2508428" cy="1371600"/>
          </a:xfrm>
          <a:prstGeom prst="roundRect">
            <a:avLst>
              <a:gd name="adj" fmla="val 4667"/>
            </a:avLst>
          </a:prstGeom>
          <a:solidFill>
            <a:srgbClr val="1D2A5C"/>
          </a:solidFill>
          <a:ln w="15875">
            <a:solidFill>
              <a:srgbClr val="00A79D"/>
            </a:solidFill>
            <a:prstDash val="solid"/>
          </a:ln>
        </p:spPr>
      </p:sp>
      <p:sp>
        <p:nvSpPr>
          <p:cNvPr id="27" name="Text 24"/>
          <p:cNvSpPr/>
          <p:nvPr/>
        </p:nvSpPr>
        <p:spPr>
          <a:xfrm>
            <a:off x="9253499" y="3172968"/>
            <a:ext cx="2362124"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Validate</a:t>
            </a:r>
            <a:endParaRPr lang="en-US" sz="1250" dirty="0"/>
          </a:p>
        </p:txBody>
      </p:sp>
      <p:sp>
        <p:nvSpPr>
          <p:cNvPr id="28" name="Text 25"/>
          <p:cNvSpPr/>
          <p:nvPr/>
        </p:nvSpPr>
        <p:spPr>
          <a:xfrm>
            <a:off x="9253499" y="3776472"/>
            <a:ext cx="2362124"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frozen test split, once</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From 8,400 Candidates to a Line Decision</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من 8,400 مرشح إلى قرار الخط</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58</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Both filters are tunable business decisions. Line spec: mould escapes ≤ 1%, ≤ 3 false ejections per 1,000 fruit.</a:t>
            </a:r>
            <a:endParaRPr lang="en-US" sz="1250" dirty="0"/>
          </a:p>
        </p:txBody>
      </p:sp>
      <p:sp>
        <p:nvSpPr>
          <p:cNvPr id="8" name="Shape 5"/>
          <p:cNvSpPr/>
          <p:nvPr/>
        </p:nvSpPr>
        <p:spPr>
          <a:xfrm>
            <a:off x="502920" y="3118104"/>
            <a:ext cx="2508428"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~8,400 candidates</a:t>
            </a:r>
            <a:endParaRPr lang="en-US" sz="1250" dirty="0"/>
          </a:p>
        </p:txBody>
      </p:sp>
      <p:sp>
        <p:nvSpPr>
          <p:cNvPr id="10" name="Text 7"/>
          <p:cNvSpPr/>
          <p:nvPr/>
        </p:nvSpPr>
        <p:spPr>
          <a:xfrm>
            <a:off x="576072"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raw head output at 640²</a:t>
            </a:r>
            <a:endParaRPr lang="en-US" sz="950" dirty="0"/>
          </a:p>
        </p:txBody>
      </p:sp>
      <p:sp>
        <p:nvSpPr>
          <p:cNvPr id="11" name="Shape 8"/>
          <p:cNvSpPr/>
          <p:nvPr/>
        </p:nvSpPr>
        <p:spPr>
          <a:xfrm>
            <a:off x="3066212" y="3803904"/>
            <a:ext cx="274320" cy="0"/>
          </a:xfrm>
          <a:prstGeom prst="line">
            <a:avLst/>
          </a:prstGeom>
          <a:noFill/>
          <a:ln w="19050">
            <a:solidFill>
              <a:srgbClr val="8A96A6"/>
            </a:solidFill>
            <a:prstDash val="solid"/>
            <a:headEnd type="none"/>
            <a:tailEnd type="triangle"/>
          </a:ln>
        </p:spPr>
      </p:sp>
      <p:sp>
        <p:nvSpPr>
          <p:cNvPr id="12" name="Shape 9"/>
          <p:cNvSpPr/>
          <p:nvPr/>
        </p:nvSpPr>
        <p:spPr>
          <a:xfrm>
            <a:off x="3395396" y="3118104"/>
            <a:ext cx="2508428" cy="1371600"/>
          </a:xfrm>
          <a:prstGeom prst="roundRect">
            <a:avLst>
              <a:gd name="adj" fmla="val 4667"/>
            </a:avLst>
          </a:prstGeom>
          <a:solidFill>
            <a:srgbClr val="F2F6F9"/>
          </a:solidFill>
          <a:ln w="15875">
            <a:solidFill>
              <a:srgbClr val="00A79D"/>
            </a:solidFill>
            <a:prstDash val="solid"/>
          </a:ln>
        </p:spPr>
      </p:sp>
      <p:sp>
        <p:nvSpPr>
          <p:cNvPr id="13" name="Text 10"/>
          <p:cNvSpPr/>
          <p:nvPr/>
        </p:nvSpPr>
        <p:spPr>
          <a:xfrm>
            <a:off x="3468548"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Confidence filter</a:t>
            </a:r>
            <a:endParaRPr lang="en-US" sz="1250" dirty="0"/>
          </a:p>
        </p:txBody>
      </p:sp>
      <p:sp>
        <p:nvSpPr>
          <p:cNvPr id="14" name="Text 11"/>
          <p:cNvSpPr/>
          <p:nvPr/>
        </p:nvSpPr>
        <p:spPr>
          <a:xfrm>
            <a:off x="3468548"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lower conf = more recall + false alarms</a:t>
            </a:r>
            <a:endParaRPr lang="en-US" sz="950" dirty="0"/>
          </a:p>
        </p:txBody>
      </p:sp>
      <p:sp>
        <p:nvSpPr>
          <p:cNvPr id="15" name="Shape 12"/>
          <p:cNvSpPr/>
          <p:nvPr/>
        </p:nvSpPr>
        <p:spPr>
          <a:xfrm>
            <a:off x="5958688" y="3803904"/>
            <a:ext cx="274320" cy="0"/>
          </a:xfrm>
          <a:prstGeom prst="line">
            <a:avLst/>
          </a:prstGeom>
          <a:noFill/>
          <a:ln w="19050">
            <a:solidFill>
              <a:srgbClr val="8A96A6"/>
            </a:solidFill>
            <a:prstDash val="solid"/>
            <a:headEnd type="none"/>
            <a:tailEnd type="triangle"/>
          </a:ln>
        </p:spPr>
      </p:sp>
      <p:sp>
        <p:nvSpPr>
          <p:cNvPr id="16" name="Shape 13"/>
          <p:cNvSpPr/>
          <p:nvPr/>
        </p:nvSpPr>
        <p:spPr>
          <a:xfrm>
            <a:off x="4649610" y="4489704"/>
            <a:ext cx="0" cy="274320"/>
          </a:xfrm>
          <a:prstGeom prst="line">
            <a:avLst/>
          </a:prstGeom>
          <a:noFill/>
          <a:ln w="15875">
            <a:solidFill>
              <a:srgbClr val="E8503A"/>
            </a:solidFill>
            <a:prstDash val="dash"/>
          </a:ln>
        </p:spPr>
      </p:sp>
      <p:sp>
        <p:nvSpPr>
          <p:cNvPr id="17" name="Shape 14"/>
          <p:cNvSpPr/>
          <p:nvPr/>
        </p:nvSpPr>
        <p:spPr>
          <a:xfrm>
            <a:off x="3349676" y="4764024"/>
            <a:ext cx="2599868" cy="475488"/>
          </a:xfrm>
          <a:prstGeom prst="roundRect">
            <a:avLst>
              <a:gd name="adj" fmla="val 11538"/>
            </a:avLst>
          </a:prstGeom>
          <a:solidFill>
            <a:srgbClr val="FDEDEA"/>
          </a:solidFill>
          <a:ln w="12700">
            <a:solidFill>
              <a:srgbClr val="E8503A"/>
            </a:solidFill>
            <a:prstDash val="solid"/>
          </a:ln>
        </p:spPr>
      </p:sp>
      <p:sp>
        <p:nvSpPr>
          <p:cNvPr id="18" name="Text 15"/>
          <p:cNvSpPr/>
          <p:nvPr/>
        </p:nvSpPr>
        <p:spPr>
          <a:xfrm>
            <a:off x="3395396" y="4764024"/>
            <a:ext cx="2508428"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default conf=0.25 is a demo setting, not production</a:t>
            </a:r>
            <a:endParaRPr lang="en-US" sz="950" dirty="0"/>
          </a:p>
        </p:txBody>
      </p:sp>
      <p:sp>
        <p:nvSpPr>
          <p:cNvPr id="19" name="Shape 16"/>
          <p:cNvSpPr/>
          <p:nvPr/>
        </p:nvSpPr>
        <p:spPr>
          <a:xfrm>
            <a:off x="6287872" y="3118104"/>
            <a:ext cx="2508428" cy="1371600"/>
          </a:xfrm>
          <a:prstGeom prst="roundRect">
            <a:avLst>
              <a:gd name="adj" fmla="val 4667"/>
            </a:avLst>
          </a:prstGeom>
          <a:solidFill>
            <a:srgbClr val="F2F6F9"/>
          </a:solidFill>
          <a:ln w="15875">
            <a:solidFill>
              <a:srgbClr val="00A79D"/>
            </a:solidFill>
            <a:prstDash val="solid"/>
          </a:ln>
        </p:spPr>
      </p:sp>
      <p:sp>
        <p:nvSpPr>
          <p:cNvPr id="20" name="Text 17"/>
          <p:cNvSpPr/>
          <p:nvPr/>
        </p:nvSpPr>
        <p:spPr>
          <a:xfrm>
            <a:off x="6361024"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NMS</a:t>
            </a:r>
            <a:endParaRPr lang="en-US" sz="1250" dirty="0"/>
          </a:p>
        </p:txBody>
      </p:sp>
      <p:sp>
        <p:nvSpPr>
          <p:cNvPr id="21" name="Text 18"/>
          <p:cNvSpPr/>
          <p:nvPr/>
        </p:nvSpPr>
        <p:spPr>
          <a:xfrm>
            <a:off x="6361024"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keep most confident overlapping box</a:t>
            </a:r>
            <a:endParaRPr lang="en-US" sz="950" dirty="0"/>
          </a:p>
        </p:txBody>
      </p:sp>
      <p:sp>
        <p:nvSpPr>
          <p:cNvPr id="22" name="Shape 19"/>
          <p:cNvSpPr/>
          <p:nvPr/>
        </p:nvSpPr>
        <p:spPr>
          <a:xfrm>
            <a:off x="8851163" y="3803904"/>
            <a:ext cx="274320" cy="0"/>
          </a:xfrm>
          <a:prstGeom prst="line">
            <a:avLst/>
          </a:prstGeom>
          <a:noFill/>
          <a:ln w="19050">
            <a:solidFill>
              <a:srgbClr val="8A96A6"/>
            </a:solidFill>
            <a:prstDash val="solid"/>
            <a:headEnd type="none"/>
            <a:tailEnd type="triangle"/>
          </a:ln>
        </p:spPr>
      </p:sp>
      <p:sp>
        <p:nvSpPr>
          <p:cNvPr id="23" name="Shape 20"/>
          <p:cNvSpPr/>
          <p:nvPr/>
        </p:nvSpPr>
        <p:spPr>
          <a:xfrm>
            <a:off x="7542086" y="4489704"/>
            <a:ext cx="0" cy="274320"/>
          </a:xfrm>
          <a:prstGeom prst="line">
            <a:avLst/>
          </a:prstGeom>
          <a:noFill/>
          <a:ln w="15875">
            <a:solidFill>
              <a:srgbClr val="E8503A"/>
            </a:solidFill>
            <a:prstDash val="dash"/>
          </a:ln>
        </p:spPr>
      </p:sp>
      <p:sp>
        <p:nvSpPr>
          <p:cNvPr id="24" name="Shape 21"/>
          <p:cNvSpPr/>
          <p:nvPr/>
        </p:nvSpPr>
        <p:spPr>
          <a:xfrm>
            <a:off x="6242152" y="4764024"/>
            <a:ext cx="2599868" cy="475488"/>
          </a:xfrm>
          <a:prstGeom prst="roundRect">
            <a:avLst>
              <a:gd name="adj" fmla="val 11538"/>
            </a:avLst>
          </a:prstGeom>
          <a:solidFill>
            <a:srgbClr val="FDEDEA"/>
          </a:solidFill>
          <a:ln w="12700">
            <a:solidFill>
              <a:srgbClr val="E8503A"/>
            </a:solidFill>
            <a:prstDash val="solid"/>
          </a:ln>
        </p:spPr>
      </p:sp>
      <p:sp>
        <p:nvSpPr>
          <p:cNvPr id="25" name="Text 22"/>
          <p:cNvSpPr/>
          <p:nvPr/>
        </p:nvSpPr>
        <p:spPr>
          <a:xfrm>
            <a:off x="6287872" y="4764024"/>
            <a:ext cx="2508428"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NMS iou 0.45 vs 0.7 shifts per-frame counts ~9%</a:t>
            </a:r>
            <a:endParaRPr lang="en-US" sz="950" dirty="0"/>
          </a:p>
        </p:txBody>
      </p:sp>
      <p:sp>
        <p:nvSpPr>
          <p:cNvPr id="26" name="Shape 23"/>
          <p:cNvSpPr/>
          <p:nvPr/>
        </p:nvSpPr>
        <p:spPr>
          <a:xfrm>
            <a:off x="9180347" y="3118104"/>
            <a:ext cx="2508428" cy="1371600"/>
          </a:xfrm>
          <a:prstGeom prst="roundRect">
            <a:avLst>
              <a:gd name="adj" fmla="val 4667"/>
            </a:avLst>
          </a:prstGeom>
          <a:solidFill>
            <a:srgbClr val="1D2A5C"/>
          </a:solidFill>
          <a:ln w="15875">
            <a:solidFill>
              <a:srgbClr val="00A79D"/>
            </a:solidFill>
            <a:prstDash val="solid"/>
          </a:ln>
        </p:spPr>
      </p:sp>
      <p:sp>
        <p:nvSpPr>
          <p:cNvPr id="27" name="Text 24"/>
          <p:cNvSpPr/>
          <p:nvPr/>
        </p:nvSpPr>
        <p:spPr>
          <a:xfrm>
            <a:off x="9253499" y="3172968"/>
            <a:ext cx="2362124"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Operating point</a:t>
            </a:r>
            <a:endParaRPr lang="en-US" sz="1250" dirty="0"/>
          </a:p>
        </p:txBody>
      </p:sp>
      <p:sp>
        <p:nvSpPr>
          <p:cNvPr id="28" name="Text 25"/>
          <p:cNvSpPr/>
          <p:nvPr/>
        </p:nvSpPr>
        <p:spPr>
          <a:xfrm>
            <a:off x="9253499" y="3776472"/>
            <a:ext cx="2362124"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per-class conf band vs line spec</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Common Mistakes and Their Defences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الأخطاء الشائعة ودفاعاتها</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59</a:t>
            </a:r>
            <a:endParaRPr lang="en-US" sz="9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535051"/>
                <a:gridCol w="3846894"/>
                <a:gridCol w="3803910"/>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Mistake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Consequence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Defence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Evaluating at the demo threshold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Reported metrics describe a different system</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Deployed operating point in the model card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Un-normalised / class-shifted labels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Silent clipping; predictions relabelled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Converter validation + render 20 frames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Train at 640, deploy at 320</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Small defects vanish; insect_damage −0.11 mAP</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Resolution is contract; re-measure per class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Random split over conveyor sessions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Leakage inflates every metric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Session-level split from the manifest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No defect-free frames in training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Model learns 'always find something'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Keep ~10% empty frames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Treating AGPL licensing as a non-issue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Legal obligations surprise procurement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Flag it early, in writing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Training the Defect Detector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تدريب كاشف العيوب</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60</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057400"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scripts/train_detector.py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from ultralytics import YOLO</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model = YOLO("yolo11s.pt")     # COCO-pre-trained — never scratch</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results = model.train(</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data="data/dates-det/dates-det.yaml",</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epochs=40,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imgsz=640,                 # the latency/accuracy lever (M7)</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batch=16,</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patience=10,               # early stop on val mAP@0.5:0.95</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close_mosaic=10,           # last 10 epochs see real layouts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copy_paste=0.1,            # instances physically pasteable</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degrees=180, flipud=0.5, fliplr=0.5,   # M1 rotation policy</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project="runs/detect", name="defect_y11s",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seed=212, deterministic=True,</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metrics = model.val(split="test")   # frozen test split, once</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print(f"mAP@0.5={metrics.box.map50:.3f}")</a:t>
            </a:r>
            <a:endParaRPr lang="en-US" sz="10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Never train from scratch</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COCO weights reach ~0.87 mAP@0.5 in 40 epochs; from scratch stalls at ~0.58</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close_mosaic=10</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Mosaic distorts global layout; the final 10 epochs see real frame statistics</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Deterministic runs</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seed=212 + deterministic=True — val numbers must be reproducible</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Classroom budget</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40 epochs in ~11 min on an 8 GB GPU; CPU fallback: imgsz=320, 12 epochs</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Operating-Point Sweep vs the Line Spec</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مسح نقطة التشغيل مقابل مواصفات الخط</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61</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485339"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scripts/tune_operating_point.py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import numpy as np</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from ultralytics import YOLO</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REQ = {"mould_recall": 0.99, "fp_per_image": 0.05}</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model = YOLO("runs/detect/defect_y11s/weights/best.pt")</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rows =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for conf in np.arange(0.10, 0.91, 0.05):</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m = model.val(split="val", conf=float(conf), iou=0.5,</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verbose=False)</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mould_recall = m.box.r[0]   # class 0 = mould (frozen order)</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rows.append((conf, mould_recall, m.box.mp, m.box.mr))</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print(f"conf={conf:.2f}  mould_recall={mould_recall:.3f}")</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feasible = [r for r in rows if r[1] &gt;= REQ["mould_recall"]]</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print("feasible band:",</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[f"{r[0]:.2f}" for r in feasible] or</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"NONE - escalate: per-class thresholds or more data")</a:t>
            </a:r>
            <a:endParaRPr lang="en-US" sz="10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Requirements first</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The line spec (mould recall ≥ 0.99, FP/image ≤ 0.05) drives the sweep</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Frozen class order</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m.box.r[0] is mould only because the YAML order is frozen — M2's rule with teeth</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'NONE' is a finding</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No feasible band forces per-class thresholds or a data request (M5)</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mAP is not compliance</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'mAP 0.87' and 'the line meets its escape budget' are different claims</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3 — Train the Defect Detector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المختبر 3 — تدريب كاشف العيوب</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62</a:t>
            </a:r>
            <a:endParaRPr lang="en-US" sz="900" dirty="0"/>
          </a:p>
        </p:txBody>
      </p:sp>
      <p:sp>
        <p:nvSpPr>
          <p:cNvPr id="7" name="Shape 4"/>
          <p:cNvSpPr/>
          <p:nvPr/>
        </p:nvSpPr>
        <p:spPr>
          <a:xfrm>
            <a:off x="502920" y="1389888"/>
            <a:ext cx="5806440" cy="932688"/>
          </a:xfrm>
          <a:prstGeom prst="roundRect">
            <a:avLst>
              <a:gd name="adj" fmla="val 7843"/>
            </a:avLst>
          </a:prstGeom>
          <a:solidFill>
            <a:srgbClr val="E9F6F5"/>
          </a:solidFill>
          <a:ln w="12700">
            <a:solidFill>
              <a:srgbClr val="00A79D"/>
            </a:solidFill>
            <a:prstDash val="solid"/>
          </a:ln>
        </p:spPr>
      </p:sp>
      <p:sp>
        <p:nvSpPr>
          <p:cNvPr id="8" name="Text 5"/>
          <p:cNvSpPr/>
          <p:nvPr/>
        </p:nvSpPr>
        <p:spPr>
          <a:xfrm>
            <a:off x="649224" y="1463040"/>
            <a:ext cx="553212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OBJECTIVE</a:t>
            </a:r>
            <a:endParaRPr lang="en-US" sz="900" dirty="0"/>
          </a:p>
        </p:txBody>
      </p:sp>
      <p:sp>
        <p:nvSpPr>
          <p:cNvPr id="9" name="Text 6"/>
          <p:cNvSpPr/>
          <p:nvPr/>
        </p:nvSpPr>
        <p:spPr>
          <a:xfrm>
            <a:off x="649224" y="1682496"/>
            <a:ext cx="553212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Convert the box manifest to YOLO format, fine-tune YOLO11s to mAP@0.5 ≥ 0.85, and derive a defensible operating point</a:t>
            </a:r>
            <a:endParaRPr lang="en-US" sz="1050" dirty="0"/>
          </a:p>
        </p:txBody>
      </p:sp>
      <p:sp>
        <p:nvSpPr>
          <p:cNvPr id="10" name="Shape 7"/>
          <p:cNvSpPr/>
          <p:nvPr/>
        </p:nvSpPr>
        <p:spPr>
          <a:xfrm>
            <a:off x="6510528" y="1389888"/>
            <a:ext cx="1600200" cy="932688"/>
          </a:xfrm>
          <a:prstGeom prst="roundRect">
            <a:avLst>
              <a:gd name="adj" fmla="val 7843"/>
            </a:avLst>
          </a:prstGeom>
          <a:solidFill>
            <a:srgbClr val="F2F6F9"/>
          </a:solidFill>
          <a:ln w="12700">
            <a:solidFill>
              <a:srgbClr val="D9E2EA"/>
            </a:solidFill>
            <a:prstDash val="solid"/>
          </a:ln>
        </p:spPr>
      </p:sp>
      <p:sp>
        <p:nvSpPr>
          <p:cNvPr id="11" name="Text 8"/>
          <p:cNvSpPr/>
          <p:nvPr/>
        </p:nvSpPr>
        <p:spPr>
          <a:xfrm>
            <a:off x="6656832" y="1463040"/>
            <a:ext cx="132588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DURATION</a:t>
            </a:r>
            <a:endParaRPr lang="en-US" sz="900" dirty="0"/>
          </a:p>
        </p:txBody>
      </p:sp>
      <p:sp>
        <p:nvSpPr>
          <p:cNvPr id="12" name="Text 9"/>
          <p:cNvSpPr/>
          <p:nvPr/>
        </p:nvSpPr>
        <p:spPr>
          <a:xfrm>
            <a:off x="6656832" y="1682496"/>
            <a:ext cx="132588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50 minutes</a:t>
            </a:r>
            <a:endParaRPr lang="en-US" sz="1050" dirty="0"/>
          </a:p>
        </p:txBody>
      </p:sp>
      <p:sp>
        <p:nvSpPr>
          <p:cNvPr id="13" name="Shape 10"/>
          <p:cNvSpPr/>
          <p:nvPr/>
        </p:nvSpPr>
        <p:spPr>
          <a:xfrm>
            <a:off x="8311896" y="1389888"/>
            <a:ext cx="3383280" cy="932688"/>
          </a:xfrm>
          <a:prstGeom prst="roundRect">
            <a:avLst>
              <a:gd name="adj" fmla="val 7843"/>
            </a:avLst>
          </a:prstGeom>
          <a:solidFill>
            <a:srgbClr val="F2F6F9"/>
          </a:solidFill>
          <a:ln w="12700">
            <a:solidFill>
              <a:srgbClr val="D9E2EA"/>
            </a:solidFill>
            <a:prstDash val="solid"/>
          </a:ln>
        </p:spPr>
      </p:sp>
      <p:sp>
        <p:nvSpPr>
          <p:cNvPr id="14" name="Text 11"/>
          <p:cNvSpPr/>
          <p:nvPr/>
        </p:nvSpPr>
        <p:spPr>
          <a:xfrm>
            <a:off x="8458200" y="1463040"/>
            <a:ext cx="310896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SETUP</a:t>
            </a:r>
            <a:endParaRPr lang="en-US" sz="900" dirty="0"/>
          </a:p>
        </p:txBody>
      </p:sp>
      <p:sp>
        <p:nvSpPr>
          <p:cNvPr id="15" name="Text 12"/>
          <p:cNvSpPr/>
          <p:nvPr/>
        </p:nvSpPr>
        <p:spPr>
          <a:xfrm>
            <a:off x="8458200" y="1682496"/>
            <a:ext cx="310896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Ultralytics ≥ 8.3; git checkout lab3-start; GPU (CPU: imgsz=320, 12 epochs)</a:t>
            </a:r>
            <a:endParaRPr lang="en-US" sz="1050" dirty="0"/>
          </a:p>
        </p:txBody>
      </p:sp>
      <p:sp>
        <p:nvSpPr>
          <p:cNvPr id="16" name="Shape 13"/>
          <p:cNvSpPr/>
          <p:nvPr/>
        </p:nvSpPr>
        <p:spPr>
          <a:xfrm>
            <a:off x="502920" y="2661666"/>
            <a:ext cx="274320" cy="274320"/>
          </a:xfrm>
          <a:prstGeom prst="ellipse">
            <a:avLst/>
          </a:prstGeom>
          <a:solidFill>
            <a:srgbClr val="1D2A5C"/>
          </a:solidFill>
          <a:ln/>
        </p:spPr>
      </p:sp>
      <p:sp>
        <p:nvSpPr>
          <p:cNvPr id="17" name="Text 14"/>
          <p:cNvSpPr/>
          <p:nvPr/>
        </p:nvSpPr>
        <p:spPr>
          <a:xfrm>
            <a:off x="502920" y="26616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Shape 15"/>
          <p:cNvSpPr/>
          <p:nvPr/>
        </p:nvSpPr>
        <p:spPr>
          <a:xfrm>
            <a:off x="886968" y="2661666"/>
            <a:ext cx="658368" cy="274320"/>
          </a:xfrm>
          <a:prstGeom prst="roundRect">
            <a:avLst>
              <a:gd name="adj" fmla="val 50000"/>
            </a:avLst>
          </a:prstGeom>
          <a:solidFill>
            <a:srgbClr val="E9F6F5"/>
          </a:solidFill>
          <a:ln w="9525">
            <a:solidFill>
              <a:srgbClr val="00A79D"/>
            </a:solidFill>
            <a:prstDash val="solid"/>
          </a:ln>
        </p:spPr>
      </p:sp>
      <p:sp>
        <p:nvSpPr>
          <p:cNvPr id="19" name="Text 16"/>
          <p:cNvSpPr/>
          <p:nvPr/>
        </p:nvSpPr>
        <p:spPr>
          <a:xfrm>
            <a:off x="886968" y="266166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20" name="Text 17"/>
          <p:cNvSpPr/>
          <p:nvPr/>
        </p:nvSpPr>
        <p:spPr>
          <a:xfrm>
            <a:off x="1673352" y="252374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Run manifest_to_yolo.py; fix the 3 planted bad rows — the data, not the assertions</a:t>
            </a:r>
            <a:endParaRPr lang="en-US" sz="1150" dirty="0"/>
          </a:p>
        </p:txBody>
      </p:sp>
      <p:sp>
        <p:nvSpPr>
          <p:cNvPr id="21" name="Shape 18"/>
          <p:cNvSpPr/>
          <p:nvPr/>
        </p:nvSpPr>
        <p:spPr>
          <a:xfrm>
            <a:off x="502920" y="3303270"/>
            <a:ext cx="274320" cy="274320"/>
          </a:xfrm>
          <a:prstGeom prst="ellipse">
            <a:avLst/>
          </a:prstGeom>
          <a:solidFill>
            <a:srgbClr val="1D2A5C"/>
          </a:solidFill>
          <a:ln/>
        </p:spPr>
      </p:sp>
      <p:sp>
        <p:nvSpPr>
          <p:cNvPr id="22" name="Text 19"/>
          <p:cNvSpPr/>
          <p:nvPr/>
        </p:nvSpPr>
        <p:spPr>
          <a:xfrm>
            <a:off x="502920" y="33032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Shape 20"/>
          <p:cNvSpPr/>
          <p:nvPr/>
        </p:nvSpPr>
        <p:spPr>
          <a:xfrm>
            <a:off x="886968" y="3303270"/>
            <a:ext cx="658368" cy="274320"/>
          </a:xfrm>
          <a:prstGeom prst="roundRect">
            <a:avLst>
              <a:gd name="adj" fmla="val 50000"/>
            </a:avLst>
          </a:prstGeom>
          <a:solidFill>
            <a:srgbClr val="E9F6F5"/>
          </a:solidFill>
          <a:ln w="9525">
            <a:solidFill>
              <a:srgbClr val="00A79D"/>
            </a:solidFill>
            <a:prstDash val="solid"/>
          </a:ln>
        </p:spPr>
      </p:sp>
      <p:sp>
        <p:nvSpPr>
          <p:cNvPr id="24" name="Text 21"/>
          <p:cNvSpPr/>
          <p:nvPr/>
        </p:nvSpPr>
        <p:spPr>
          <a:xfrm>
            <a:off x="886968" y="3303270"/>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5 min</a:t>
            </a:r>
            <a:endParaRPr lang="en-US" sz="900" dirty="0"/>
          </a:p>
        </p:txBody>
      </p:sp>
      <p:sp>
        <p:nvSpPr>
          <p:cNvPr id="25" name="Text 22"/>
          <p:cNvSpPr/>
          <p:nvPr/>
        </p:nvSpPr>
        <p:spPr>
          <a:xfrm>
            <a:off x="1673352" y="3165348"/>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Render 20 training frames with boxes drawn; confirm alignment with your pair</a:t>
            </a:r>
            <a:endParaRPr lang="en-US" sz="1150" dirty="0"/>
          </a:p>
        </p:txBody>
      </p:sp>
      <p:sp>
        <p:nvSpPr>
          <p:cNvPr id="26" name="Shape 23"/>
          <p:cNvSpPr/>
          <p:nvPr/>
        </p:nvSpPr>
        <p:spPr>
          <a:xfrm>
            <a:off x="502920" y="3944874"/>
            <a:ext cx="274320" cy="274320"/>
          </a:xfrm>
          <a:prstGeom prst="ellipse">
            <a:avLst/>
          </a:prstGeom>
          <a:solidFill>
            <a:srgbClr val="1D2A5C"/>
          </a:solidFill>
          <a:ln/>
        </p:spPr>
      </p:sp>
      <p:sp>
        <p:nvSpPr>
          <p:cNvPr id="27" name="Text 24"/>
          <p:cNvSpPr/>
          <p:nvPr/>
        </p:nvSpPr>
        <p:spPr>
          <a:xfrm>
            <a:off x="502920" y="39448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5"/>
          <p:cNvSpPr/>
          <p:nvPr/>
        </p:nvSpPr>
        <p:spPr>
          <a:xfrm>
            <a:off x="886968" y="3944874"/>
            <a:ext cx="658368" cy="274320"/>
          </a:xfrm>
          <a:prstGeom prst="roundRect">
            <a:avLst>
              <a:gd name="adj" fmla="val 50000"/>
            </a:avLst>
          </a:prstGeom>
          <a:solidFill>
            <a:srgbClr val="E9F6F5"/>
          </a:solidFill>
          <a:ln w="9525">
            <a:solidFill>
              <a:srgbClr val="00A79D"/>
            </a:solidFill>
            <a:prstDash val="solid"/>
          </a:ln>
        </p:spPr>
      </p:sp>
      <p:sp>
        <p:nvSpPr>
          <p:cNvPr id="29" name="Text 26"/>
          <p:cNvSpPr/>
          <p:nvPr/>
        </p:nvSpPr>
        <p:spPr>
          <a:xfrm>
            <a:off x="886968" y="3944874"/>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15 min</a:t>
            </a:r>
            <a:endParaRPr lang="en-US" sz="900" dirty="0"/>
          </a:p>
        </p:txBody>
      </p:sp>
      <p:sp>
        <p:nvSpPr>
          <p:cNvPr id="30" name="Text 27"/>
          <p:cNvSpPr/>
          <p:nvPr/>
        </p:nvSpPr>
        <p:spPr>
          <a:xfrm>
            <a:off x="1673352" y="3806952"/>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Train per train_detector.py; inspect mosaic batches, spot one impossible paste</a:t>
            </a:r>
            <a:endParaRPr lang="en-US" sz="1150" dirty="0"/>
          </a:p>
        </p:txBody>
      </p:sp>
      <p:sp>
        <p:nvSpPr>
          <p:cNvPr id="31" name="Shape 28"/>
          <p:cNvSpPr/>
          <p:nvPr/>
        </p:nvSpPr>
        <p:spPr>
          <a:xfrm>
            <a:off x="502920" y="4586478"/>
            <a:ext cx="274320" cy="274320"/>
          </a:xfrm>
          <a:prstGeom prst="ellipse">
            <a:avLst/>
          </a:prstGeom>
          <a:solidFill>
            <a:srgbClr val="1D2A5C"/>
          </a:solidFill>
          <a:ln/>
        </p:spPr>
      </p:sp>
      <p:sp>
        <p:nvSpPr>
          <p:cNvPr id="32" name="Text 29"/>
          <p:cNvSpPr/>
          <p:nvPr/>
        </p:nvSpPr>
        <p:spPr>
          <a:xfrm>
            <a:off x="502920" y="458647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Shape 30"/>
          <p:cNvSpPr/>
          <p:nvPr/>
        </p:nvSpPr>
        <p:spPr>
          <a:xfrm>
            <a:off x="886968" y="4586478"/>
            <a:ext cx="658368" cy="274320"/>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886968" y="4586478"/>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35" name="Text 32"/>
          <p:cNvSpPr/>
          <p:nvPr/>
        </p:nvSpPr>
        <p:spPr>
          <a:xfrm>
            <a:off x="1673352" y="4448556"/>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Validate on frozen test split; record per-class mAP@0.5; diagnose weakest class</a:t>
            </a:r>
            <a:endParaRPr lang="en-US" sz="1150" dirty="0"/>
          </a:p>
        </p:txBody>
      </p:sp>
      <p:sp>
        <p:nvSpPr>
          <p:cNvPr id="36" name="Shape 33"/>
          <p:cNvSpPr/>
          <p:nvPr/>
        </p:nvSpPr>
        <p:spPr>
          <a:xfrm>
            <a:off x="502920" y="5228082"/>
            <a:ext cx="274320" cy="274320"/>
          </a:xfrm>
          <a:prstGeom prst="ellipse">
            <a:avLst/>
          </a:prstGeom>
          <a:solidFill>
            <a:srgbClr val="1D2A5C"/>
          </a:solidFill>
          <a:ln/>
        </p:spPr>
      </p:sp>
      <p:sp>
        <p:nvSpPr>
          <p:cNvPr id="37" name="Text 34"/>
          <p:cNvSpPr/>
          <p:nvPr/>
        </p:nvSpPr>
        <p:spPr>
          <a:xfrm>
            <a:off x="502920" y="52280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Shape 35"/>
          <p:cNvSpPr/>
          <p:nvPr/>
        </p:nvSpPr>
        <p:spPr>
          <a:xfrm>
            <a:off x="886968" y="5228082"/>
            <a:ext cx="658368" cy="274320"/>
          </a:xfrm>
          <a:prstGeom prst="roundRect">
            <a:avLst>
              <a:gd name="adj" fmla="val 50000"/>
            </a:avLst>
          </a:prstGeom>
          <a:solidFill>
            <a:srgbClr val="E9F6F5"/>
          </a:solidFill>
          <a:ln w="9525">
            <a:solidFill>
              <a:srgbClr val="00A79D"/>
            </a:solidFill>
            <a:prstDash val="solid"/>
          </a:ln>
        </p:spPr>
      </p:sp>
      <p:sp>
        <p:nvSpPr>
          <p:cNvPr id="39" name="Text 36"/>
          <p:cNvSpPr/>
          <p:nvPr/>
        </p:nvSpPr>
        <p:spPr>
          <a:xfrm>
            <a:off x="886968" y="5228082"/>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40" name="Text 37"/>
          <p:cNvSpPr/>
          <p:nvPr/>
        </p:nvSpPr>
        <p:spPr>
          <a:xfrm>
            <a:off x="1673352" y="5090160"/>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Sweep the operating point vs line spec; per-class thresholds if no single band</a:t>
            </a:r>
            <a:endParaRPr lang="en-US" sz="1150" dirty="0"/>
          </a:p>
        </p:txBody>
      </p:sp>
      <p:sp>
        <p:nvSpPr>
          <p:cNvPr id="41" name="Shape 38"/>
          <p:cNvSpPr/>
          <p:nvPr/>
        </p:nvSpPr>
        <p:spPr>
          <a:xfrm>
            <a:off x="502920" y="5869686"/>
            <a:ext cx="274320" cy="274320"/>
          </a:xfrm>
          <a:prstGeom prst="ellipse">
            <a:avLst/>
          </a:prstGeom>
          <a:solidFill>
            <a:srgbClr val="1D2A5C"/>
          </a:solidFill>
          <a:ln/>
        </p:spPr>
      </p:sp>
      <p:sp>
        <p:nvSpPr>
          <p:cNvPr id="42" name="Text 39"/>
          <p:cNvSpPr/>
          <p:nvPr/>
        </p:nvSpPr>
        <p:spPr>
          <a:xfrm>
            <a:off x="502920" y="58696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3" name="Shape 40"/>
          <p:cNvSpPr/>
          <p:nvPr/>
        </p:nvSpPr>
        <p:spPr>
          <a:xfrm>
            <a:off x="886968" y="5869686"/>
            <a:ext cx="658368" cy="274320"/>
          </a:xfrm>
          <a:prstGeom prst="roundRect">
            <a:avLst>
              <a:gd name="adj" fmla="val 50000"/>
            </a:avLst>
          </a:prstGeom>
          <a:solidFill>
            <a:srgbClr val="E9F6F5"/>
          </a:solidFill>
          <a:ln w="9525">
            <a:solidFill>
              <a:srgbClr val="00A79D"/>
            </a:solidFill>
            <a:prstDash val="solid"/>
          </a:ln>
        </p:spPr>
      </p:sp>
      <p:sp>
        <p:nvSpPr>
          <p:cNvPr id="44" name="Text 41"/>
          <p:cNvSpPr/>
          <p:nvPr/>
        </p:nvSpPr>
        <p:spPr>
          <a:xfrm>
            <a:off x="886968" y="586968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2 min</a:t>
            </a:r>
            <a:endParaRPr lang="en-US" sz="900" dirty="0"/>
          </a:p>
        </p:txBody>
      </p:sp>
      <p:sp>
        <p:nvSpPr>
          <p:cNvPr id="45" name="Text 42"/>
          <p:cNvSpPr/>
          <p:nvPr/>
        </p:nvSpPr>
        <p:spPr>
          <a:xfrm>
            <a:off x="1673352" y="573176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Commit: feat(detect): YOLO11s defect detector + operating point v1</a:t>
            </a:r>
            <a:endParaRPr lang="en-US" sz="1150" dirty="0"/>
          </a:p>
        </p:txBody>
      </p:sp>
      <p:sp>
        <p:nvSpPr>
          <p:cNvPr id="46" name="Shape 43"/>
          <p:cNvSpPr/>
          <p:nvPr/>
        </p:nvSpPr>
        <p:spPr>
          <a:xfrm>
            <a:off x="7635240" y="2505456"/>
            <a:ext cx="4050792" cy="3849624"/>
          </a:xfrm>
          <a:prstGeom prst="roundRect">
            <a:avLst>
              <a:gd name="adj" fmla="val 2375"/>
            </a:avLst>
          </a:prstGeom>
          <a:solidFill>
            <a:srgbClr val="0F172A"/>
          </a:solidFill>
          <a:ln/>
        </p:spPr>
      </p:sp>
      <p:sp>
        <p:nvSpPr>
          <p:cNvPr id="47" name="Text 44"/>
          <p:cNvSpPr/>
          <p:nvPr/>
        </p:nvSpPr>
        <p:spPr>
          <a:xfrm>
            <a:off x="7818120" y="2615184"/>
            <a:ext cx="3685032" cy="237744"/>
          </a:xfrm>
          <a:prstGeom prst="rect">
            <a:avLst/>
          </a:prstGeom>
          <a:noFill/>
          <a:ln/>
        </p:spPr>
        <p:txBody>
          <a:bodyPr wrap="square" lIns="0" tIns="0" rIns="0" bIns="0" rtlCol="0" anchor="ctr"/>
          <a:lstStyle/>
          <a:p>
            <a:pPr indent="0" marL="0">
              <a:buNone/>
            </a:pPr>
            <a:r>
              <a:rPr lang="en-US" sz="900" b="1" spc="200" kern="0" dirty="0">
                <a:solidFill>
                  <a:srgbClr val="5EEAD4"/>
                </a:solidFill>
                <a:latin typeface="Calibri" pitchFamily="34" charset="0"/>
                <a:ea typeface="Calibri" pitchFamily="34" charset="-122"/>
                <a:cs typeface="Calibri" pitchFamily="34" charset="-120"/>
              </a:rPr>
              <a:t>EXPECTED OUTPUT</a:t>
            </a:r>
            <a:endParaRPr lang="en-US" sz="900" dirty="0"/>
          </a:p>
        </p:txBody>
      </p:sp>
      <p:sp>
        <p:nvSpPr>
          <p:cNvPr id="48" name="Text 45"/>
          <p:cNvSpPr/>
          <p:nvPr/>
        </p:nvSpPr>
        <p:spPr>
          <a:xfrm>
            <a:off x="7818120" y="2907792"/>
            <a:ext cx="3703320" cy="3300984"/>
          </a:xfrm>
          <a:prstGeom prst="rect">
            <a:avLst/>
          </a:prstGeom>
          <a:noFill/>
          <a:ln/>
        </p:spPr>
        <p:txBody>
          <a:bodyPr wrap="square" lIns="0" tIns="0" rIns="0" bIns="0" rtlCol="0" anchor="t"/>
          <a:lstStyle/>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scripts/train_detector.py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40 epochs completed in 0.19 hours.</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mAP@0.5=0.872  mAP@0.5:0.95=0.641</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mould 0.921        skin_split 0.884</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insect_damage 0.798  sugaring 0.861</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foreign_object 0.897</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scripts/tune_operating_point.py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conf=0.30  mould_recall=0.993  ...</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feasible band: ['0.20', '0.25', '0.30']</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3 Troubleshooting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استكشاف أخطاء المختبر 3</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63</a:t>
            </a:r>
            <a:endParaRPr lang="en-US" sz="9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390284"/>
                <a:gridCol w="3802661"/>
                <a:gridCol w="3992910"/>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'corrupt image/label' warning</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Un-normalised boxes survived conversion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Re-run converter; assert range before write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mAP@0.5 stuck ≈ 0.55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Trained from scratch (.yaml not .pt)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Load COCO weights; restart from lab3-start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Every fruit detected twice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NMS iou too high for touching fruit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Lower to 0.45–0.5; re-sweep counts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GPU OOM at batch 16</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8 GB card + other notebooks open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batch=8 or imgsz=512; close notebooks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Val numbers change between runs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Non-deterministic val or wrong split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seed=212, deterministic=True; check YAML</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3 Quiz</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اختبار الوحدة الثالثة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 QUIZ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64</a:t>
            </a:r>
            <a:endParaRPr lang="en-US" sz="900" dirty="0"/>
          </a:p>
        </p:txBody>
      </p:sp>
      <p:sp>
        <p:nvSpPr>
          <p:cNvPr id="7" name="Shape 4"/>
          <p:cNvSpPr/>
          <p:nvPr/>
        </p:nvSpPr>
        <p:spPr>
          <a:xfrm>
            <a:off x="502920" y="1417320"/>
            <a:ext cx="11183112" cy="801014"/>
          </a:xfrm>
          <a:prstGeom prst="roundRect">
            <a:avLst>
              <a:gd name="adj" fmla="val 9132"/>
            </a:avLst>
          </a:prstGeom>
          <a:solidFill>
            <a:srgbClr val="F2F6F9"/>
          </a:solidFill>
          <a:ln w="9525">
            <a:solidFill>
              <a:srgbClr val="D9E2EA"/>
            </a:solidFill>
            <a:prstDash val="solid"/>
          </a:ln>
        </p:spPr>
      </p:sp>
      <p:sp>
        <p:nvSpPr>
          <p:cNvPr id="8" name="Shape 5"/>
          <p:cNvSpPr/>
          <p:nvPr/>
        </p:nvSpPr>
        <p:spPr>
          <a:xfrm>
            <a:off x="649224" y="1644091"/>
            <a:ext cx="347472" cy="347472"/>
          </a:xfrm>
          <a:prstGeom prst="ellipse">
            <a:avLst/>
          </a:prstGeom>
          <a:solidFill>
            <a:srgbClr val="F58220"/>
          </a:solidFill>
          <a:ln/>
        </p:spPr>
      </p:sp>
      <p:sp>
        <p:nvSpPr>
          <p:cNvPr id="9" name="Text 6"/>
          <p:cNvSpPr/>
          <p:nvPr/>
        </p:nvSpPr>
        <p:spPr>
          <a:xfrm>
            <a:off x="649224" y="1644091"/>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p>
        </p:txBody>
      </p:sp>
      <p:sp>
        <p:nvSpPr>
          <p:cNvPr id="10" name="Text 7"/>
          <p:cNvSpPr/>
          <p:nvPr/>
        </p:nvSpPr>
        <p:spPr>
          <a:xfrm>
            <a:off x="1161288" y="141732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Name the three structural parts of a modern YOLO and one job of each.</a:t>
            </a:r>
            <a:endParaRPr lang="en-US" sz="1250" dirty="0"/>
          </a:p>
        </p:txBody>
      </p:sp>
      <p:sp>
        <p:nvSpPr>
          <p:cNvPr id="11" name="Shape 8"/>
          <p:cNvSpPr/>
          <p:nvPr/>
        </p:nvSpPr>
        <p:spPr>
          <a:xfrm>
            <a:off x="502920" y="2346350"/>
            <a:ext cx="11183112" cy="801014"/>
          </a:xfrm>
          <a:prstGeom prst="roundRect">
            <a:avLst>
              <a:gd name="adj" fmla="val 9132"/>
            </a:avLst>
          </a:prstGeom>
          <a:solidFill>
            <a:srgbClr val="F2F6F9"/>
          </a:solidFill>
          <a:ln w="9525">
            <a:solidFill>
              <a:srgbClr val="D9E2EA"/>
            </a:solidFill>
            <a:prstDash val="solid"/>
          </a:ln>
        </p:spPr>
      </p:sp>
      <p:sp>
        <p:nvSpPr>
          <p:cNvPr id="12" name="Shape 9"/>
          <p:cNvSpPr/>
          <p:nvPr/>
        </p:nvSpPr>
        <p:spPr>
          <a:xfrm>
            <a:off x="649224" y="2573122"/>
            <a:ext cx="347472" cy="347472"/>
          </a:xfrm>
          <a:prstGeom prst="ellipse">
            <a:avLst/>
          </a:prstGeom>
          <a:solidFill>
            <a:srgbClr val="F58220"/>
          </a:solidFill>
          <a:ln/>
        </p:spPr>
      </p:sp>
      <p:sp>
        <p:nvSpPr>
          <p:cNvPr id="13" name="Text 10"/>
          <p:cNvSpPr/>
          <p:nvPr/>
        </p:nvSpPr>
        <p:spPr>
          <a:xfrm>
            <a:off x="649224" y="257312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p>
        </p:txBody>
      </p:sp>
      <p:sp>
        <p:nvSpPr>
          <p:cNvPr id="14" name="Text 11"/>
          <p:cNvSpPr/>
          <p:nvPr/>
        </p:nvSpPr>
        <p:spPr>
          <a:xfrm>
            <a:off x="1161288" y="234635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What does NMS do, and what goes wrong on touching fruit if its IoU threshold is too low?</a:t>
            </a:r>
            <a:endParaRPr lang="en-US" sz="1250" dirty="0"/>
          </a:p>
        </p:txBody>
      </p:sp>
      <p:sp>
        <p:nvSpPr>
          <p:cNvPr id="15" name="Shape 12"/>
          <p:cNvSpPr/>
          <p:nvPr/>
        </p:nvSpPr>
        <p:spPr>
          <a:xfrm>
            <a:off x="502920" y="3275381"/>
            <a:ext cx="11183112" cy="801014"/>
          </a:xfrm>
          <a:prstGeom prst="roundRect">
            <a:avLst>
              <a:gd name="adj" fmla="val 9132"/>
            </a:avLst>
          </a:prstGeom>
          <a:solidFill>
            <a:srgbClr val="F2F6F9"/>
          </a:solidFill>
          <a:ln w="9525">
            <a:solidFill>
              <a:srgbClr val="D9E2EA"/>
            </a:solidFill>
            <a:prstDash val="solid"/>
          </a:ln>
        </p:spPr>
      </p:sp>
      <p:sp>
        <p:nvSpPr>
          <p:cNvPr id="16" name="Shape 13"/>
          <p:cNvSpPr/>
          <p:nvPr/>
        </p:nvSpPr>
        <p:spPr>
          <a:xfrm>
            <a:off x="649224" y="3502152"/>
            <a:ext cx="347472" cy="347472"/>
          </a:xfrm>
          <a:prstGeom prst="ellipse">
            <a:avLst/>
          </a:prstGeom>
          <a:solidFill>
            <a:srgbClr val="F58220"/>
          </a:solidFill>
          <a:ln/>
        </p:spPr>
      </p:sp>
      <p:sp>
        <p:nvSpPr>
          <p:cNvPr id="17" name="Text 14"/>
          <p:cNvSpPr/>
          <p:nvPr/>
        </p:nvSpPr>
        <p:spPr>
          <a:xfrm>
            <a:off x="649224" y="350215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p>
        </p:txBody>
      </p:sp>
      <p:sp>
        <p:nvSpPr>
          <p:cNvPr id="18" name="Text 15"/>
          <p:cNvSpPr/>
          <p:nvPr/>
        </p:nvSpPr>
        <p:spPr>
          <a:xfrm>
            <a:off x="1161288" y="327538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keep ~10% defect-free frames in the training set?</a:t>
            </a:r>
            <a:endParaRPr lang="en-US" sz="1250" dirty="0"/>
          </a:p>
        </p:txBody>
      </p:sp>
      <p:sp>
        <p:nvSpPr>
          <p:cNvPr id="19" name="Shape 16"/>
          <p:cNvSpPr/>
          <p:nvPr/>
        </p:nvSpPr>
        <p:spPr>
          <a:xfrm>
            <a:off x="502920" y="4204411"/>
            <a:ext cx="11183112" cy="801014"/>
          </a:xfrm>
          <a:prstGeom prst="roundRect">
            <a:avLst>
              <a:gd name="adj" fmla="val 9132"/>
            </a:avLst>
          </a:prstGeom>
          <a:solidFill>
            <a:srgbClr val="F2F6F9"/>
          </a:solidFill>
          <a:ln w="9525">
            <a:solidFill>
              <a:srgbClr val="D9E2EA"/>
            </a:solidFill>
            <a:prstDash val="solid"/>
          </a:ln>
        </p:spPr>
      </p:sp>
      <p:sp>
        <p:nvSpPr>
          <p:cNvPr id="20" name="Shape 17"/>
          <p:cNvSpPr/>
          <p:nvPr/>
        </p:nvSpPr>
        <p:spPr>
          <a:xfrm>
            <a:off x="649224" y="4431182"/>
            <a:ext cx="347472" cy="347472"/>
          </a:xfrm>
          <a:prstGeom prst="ellipse">
            <a:avLst/>
          </a:prstGeom>
          <a:solidFill>
            <a:srgbClr val="F58220"/>
          </a:solidFill>
          <a:ln/>
        </p:spPr>
      </p:sp>
      <p:sp>
        <p:nvSpPr>
          <p:cNvPr id="21" name="Text 18"/>
          <p:cNvSpPr/>
          <p:nvPr/>
        </p:nvSpPr>
        <p:spPr>
          <a:xfrm>
            <a:off x="649224" y="443118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p>
        </p:txBody>
      </p:sp>
      <p:sp>
        <p:nvSpPr>
          <p:cNvPr id="22" name="Text 19"/>
          <p:cNvSpPr/>
          <p:nvPr/>
        </p:nvSpPr>
        <p:spPr>
          <a:xfrm>
            <a:off x="1161288" y="420441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box_loss plateaus while cls_loss falls. Diagnosis?</a:t>
            </a:r>
            <a:endParaRPr lang="en-US" sz="1250" dirty="0"/>
          </a:p>
        </p:txBody>
      </p:sp>
      <p:sp>
        <p:nvSpPr>
          <p:cNvPr id="23" name="Shape 20"/>
          <p:cNvSpPr/>
          <p:nvPr/>
        </p:nvSpPr>
        <p:spPr>
          <a:xfrm>
            <a:off x="502920" y="5133442"/>
            <a:ext cx="11183112" cy="801014"/>
          </a:xfrm>
          <a:prstGeom prst="roundRect">
            <a:avLst>
              <a:gd name="adj" fmla="val 9132"/>
            </a:avLst>
          </a:prstGeom>
          <a:solidFill>
            <a:srgbClr val="F2F6F9"/>
          </a:solidFill>
          <a:ln w="9525">
            <a:solidFill>
              <a:srgbClr val="D9E2EA"/>
            </a:solidFill>
            <a:prstDash val="solid"/>
          </a:ln>
        </p:spPr>
      </p:sp>
      <p:sp>
        <p:nvSpPr>
          <p:cNvPr id="24" name="Shape 21"/>
          <p:cNvSpPr/>
          <p:nvPr/>
        </p:nvSpPr>
        <p:spPr>
          <a:xfrm>
            <a:off x="649224" y="5360213"/>
            <a:ext cx="347472" cy="347472"/>
          </a:xfrm>
          <a:prstGeom prst="ellipse">
            <a:avLst/>
          </a:prstGeom>
          <a:solidFill>
            <a:srgbClr val="F58220"/>
          </a:solidFill>
          <a:ln/>
        </p:spPr>
      </p:sp>
      <p:sp>
        <p:nvSpPr>
          <p:cNvPr id="25" name="Text 22"/>
          <p:cNvSpPr/>
          <p:nvPr/>
        </p:nvSpPr>
        <p:spPr>
          <a:xfrm>
            <a:off x="649224" y="5360213"/>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Q5</a:t>
            </a:r>
            <a:endParaRPr lang="en-US" sz="1050" dirty="0"/>
          </a:p>
        </p:txBody>
      </p:sp>
      <p:sp>
        <p:nvSpPr>
          <p:cNvPr id="26" name="Text 23"/>
          <p:cNvSpPr/>
          <p:nvPr/>
        </p:nvSpPr>
        <p:spPr>
          <a:xfrm>
            <a:off x="1161288" y="5133442"/>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True/False: the deployment confidence threshold must equal the one metrics were reported at.</a:t>
            </a:r>
            <a:endParaRPr lang="en-US" sz="1250" dirty="0"/>
          </a:p>
        </p:txBody>
      </p:sp>
      <p:sp>
        <p:nvSpPr>
          <p:cNvPr id="27" name="Text 24"/>
          <p:cNvSpPr/>
          <p:nvPr/>
        </p:nvSpPr>
        <p:spPr>
          <a:xfrm>
            <a:off x="502920" y="6099048"/>
            <a:ext cx="11183112" cy="274320"/>
          </a:xfrm>
          <a:prstGeom prst="rect">
            <a:avLst/>
          </a:prstGeom>
          <a:noFill/>
          <a:ln/>
        </p:spPr>
        <p:txBody>
          <a:bodyPr wrap="square" lIns="0" tIns="0" rIns="0" bIns="0" rtlCol="0" anchor="ctr"/>
          <a:lstStyle/>
          <a:p>
            <a:pPr algn="r" indent="0" marL="0">
              <a:buNone/>
            </a:pPr>
            <a:r>
              <a:rPr lang="en-US" sz="1000" i="1" dirty="0">
                <a:solidFill>
                  <a:srgbClr val="8A96A6"/>
                </a:solidFill>
                <a:latin typeface="Calibri" pitchFamily="34" charset="0"/>
                <a:ea typeface="Calibri" pitchFamily="34" charset="-122"/>
                <a:cs typeface="Calibri" pitchFamily="34" charset="-120"/>
              </a:rPr>
              <a:t>Answers and marking guidance: speaker notes below ▼</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Extra Exercises and Discussion</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تمارين إضافية ونقاش</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65</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Debugging: sim-class-shift</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YAML lists classes alphabetically; labels were written in taxonomy order. mAP looks plausible (~0.71) but the per-class table is absurd. Catch it by rendering predictions vs GT.</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Code review</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PR hard-codes conf=0.25 in the wrapper, evaluates on the training split, and reorders YAML names cosmetically. Three findings, each with its production consequence.</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'zero mould escapes'</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Use the PR curve to show 'zero' is a request for a different system — 100% ejection or a human inspection tier. Negotiate a number.</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AGPL-3.0 licensing</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plant's software stays closed. Options: commercial licence, AGPL compliance, or rebuild on a permissive stack — legal decides, engineering costs the options.</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Case Study — PPE Detection at Jubail</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دراسة حالة — كشف معدات الحماية في الجبيل</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 CASE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66</a:t>
            </a:r>
            <a:endParaRPr lang="en-US" sz="900" dirty="0"/>
          </a:p>
        </p:txBody>
      </p:sp>
      <p:sp>
        <p:nvSpPr>
          <p:cNvPr id="7" name="Text 4"/>
          <p:cNvSpPr/>
          <p:nvPr/>
        </p:nvSpPr>
        <p:spPr>
          <a:xfrm>
            <a:off x="502920" y="138988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SCENARIO</a:t>
            </a:r>
            <a:endParaRPr lang="en-US" sz="1000" dirty="0"/>
          </a:p>
        </p:txBody>
      </p:sp>
      <p:sp>
        <p:nvSpPr>
          <p:cNvPr id="8" name="Text 5"/>
          <p:cNvSpPr/>
          <p:nvPr/>
        </p:nvSpPr>
        <p:spPr>
          <a:xfrm>
            <a:off x="502920" y="1645920"/>
            <a:ext cx="6035040" cy="896112"/>
          </a:xfrm>
          <a:prstGeom prst="rect">
            <a:avLst/>
          </a:prstGeom>
          <a:noFill/>
          <a:ln/>
        </p:spPr>
        <p:txBody>
          <a:bodyPr wrap="square" lIns="0" tIns="0" rIns="0" bIns="0" rtlCol="0" anchor="t"/>
          <a:lstStyle/>
          <a:p>
            <a:pPr indent="0" marL="0">
              <a:buNone/>
            </a:pPr>
            <a:r>
              <a:rPr lang="en-US" sz="1150" dirty="0">
                <a:solidFill>
                  <a:srgbClr val="23293B"/>
                </a:solidFill>
                <a:latin typeface="Calibri" pitchFamily="34" charset="0"/>
                <a:ea typeface="Calibri" pitchFamily="34" charset="-122"/>
                <a:cs typeface="Calibri" pitchFamily="34" charset="-120"/>
              </a:rPr>
              <a:t>A contractor deploys hard-hat, hi-vis and harness detection across 46 fixed cameras on a Jubail petrochemical construction megaproject. The pilot's headline mAP@0.5 of 0.88 impressed management — but in month one the safety office logs 31 missed harness violations at height, while gate cameras raise ~400 false hard-hat alarms per day at shift change.</a:t>
            </a:r>
            <a:endParaRPr lang="en-US" sz="1150" dirty="0"/>
          </a:p>
        </p:txBody>
      </p:sp>
      <p:sp>
        <p:nvSpPr>
          <p:cNvPr id="9" name="Text 6"/>
          <p:cNvSpPr/>
          <p:nvPr/>
        </p:nvSpPr>
        <p:spPr>
          <a:xfrm>
            <a:off x="502920" y="2706624"/>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BUSINESS CONTEXT</a:t>
            </a:r>
            <a:endParaRPr lang="en-US" sz="1000" dirty="0"/>
          </a:p>
        </p:txBody>
      </p:sp>
      <p:sp>
        <p:nvSpPr>
          <p:cNvPr id="10" name="Text 7"/>
          <p:cNvSpPr/>
          <p:nvPr/>
        </p:nvSpPr>
        <p:spPr>
          <a:xfrm>
            <a:off x="502920" y="2962656"/>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Safety-violation statistics feed the client's incentive scheme; missed harness events at height are contractually reportable. Alarm fatigue is real: after two weeks the control room stopped acknowledging hard-hat alerts entirely.</a:t>
            </a:r>
            <a:endParaRPr lang="en-US" sz="1150" dirty="0"/>
          </a:p>
        </p:txBody>
      </p:sp>
      <p:sp>
        <p:nvSpPr>
          <p:cNvPr id="11" name="Text 8"/>
          <p:cNvSpPr/>
          <p:nvPr/>
        </p:nvSpPr>
        <p:spPr>
          <a:xfrm>
            <a:off x="502920" y="381304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TECHNICAL CHALLENGE</a:t>
            </a:r>
            <a:endParaRPr lang="en-US" sz="1000" dirty="0"/>
          </a:p>
        </p:txBody>
      </p:sp>
      <p:sp>
        <p:nvSpPr>
          <p:cNvPr id="12" name="Text 9"/>
          <p:cNvSpPr/>
          <p:nvPr/>
        </p:nvSpPr>
        <p:spPr>
          <a:xfrm>
            <a:off x="502920" y="4069080"/>
            <a:ext cx="6035040" cy="47548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Diagnose why one deployment produces both misses and floods, and re-engineer the operating points per class and per camera zone.</a:t>
            </a:r>
            <a:endParaRPr lang="en-US" sz="1150" dirty="0"/>
          </a:p>
        </p:txBody>
      </p:sp>
      <p:sp>
        <p:nvSpPr>
          <p:cNvPr id="13" name="Shape 10"/>
          <p:cNvSpPr/>
          <p:nvPr/>
        </p:nvSpPr>
        <p:spPr>
          <a:xfrm>
            <a:off x="6858000" y="1389888"/>
            <a:ext cx="4828032" cy="2184684"/>
          </a:xfrm>
          <a:prstGeom prst="roundRect">
            <a:avLst>
              <a:gd name="adj" fmla="val 3767"/>
            </a:avLst>
          </a:prstGeom>
          <a:solidFill>
            <a:srgbClr val="F2F6F9"/>
          </a:solidFill>
          <a:ln w="12700">
            <a:solidFill>
              <a:srgbClr val="D9E2EA"/>
            </a:solidFill>
            <a:prstDash val="solid"/>
          </a:ln>
        </p:spPr>
      </p:sp>
      <p:sp>
        <p:nvSpPr>
          <p:cNvPr id="14" name="Text 11"/>
          <p:cNvSpPr/>
          <p:nvPr/>
        </p:nvSpPr>
        <p:spPr>
          <a:xfrm>
            <a:off x="7040880" y="1481328"/>
            <a:ext cx="4462272" cy="237744"/>
          </a:xfrm>
          <a:prstGeom prst="rect">
            <a:avLst/>
          </a:prstGeom>
          <a:noFill/>
          <a:ln/>
        </p:spPr>
        <p:txBody>
          <a:bodyPr wrap="square" lIns="0" tIns="0" rIns="0" bIns="0" rtlCol="0" anchor="ctr"/>
          <a:lstStyle/>
          <a:p>
            <a:pPr indent="0" marL="0">
              <a:buNone/>
            </a:pPr>
            <a:r>
              <a:rPr lang="en-US" sz="950" b="1" spc="200" kern="0" dirty="0">
                <a:solidFill>
                  <a:srgbClr val="F58220"/>
                </a:solidFill>
                <a:latin typeface="Calibri" pitchFamily="34" charset="0"/>
                <a:ea typeface="Calibri" pitchFamily="34" charset="-122"/>
                <a:cs typeface="Calibri" pitchFamily="34" charset="-120"/>
              </a:rPr>
              <a:t>CONSTRAINTS</a:t>
            </a:r>
            <a:endParaRPr lang="en-US" sz="950" dirty="0"/>
          </a:p>
        </p:txBody>
      </p:sp>
      <p:sp>
        <p:nvSpPr>
          <p:cNvPr id="15" name="Text 12"/>
          <p:cNvSpPr/>
          <p:nvPr/>
        </p:nvSpPr>
        <p:spPr>
          <a:xfrm>
            <a:off x="7095744" y="1755648"/>
            <a:ext cx="4370832" cy="1681764"/>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Heterogeneous cameras: harness at 18–30 px</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No new cameras this budget year</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Labelling budget: 6,000 boxes</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Control room can act on ~50 alerts/day</a:t>
            </a:r>
            <a:endParaRPr lang="en-US" sz="1050" dirty="0"/>
          </a:p>
        </p:txBody>
      </p:sp>
      <p:sp>
        <p:nvSpPr>
          <p:cNvPr id="16" name="Shape 13"/>
          <p:cNvSpPr/>
          <p:nvPr/>
        </p:nvSpPr>
        <p:spPr>
          <a:xfrm>
            <a:off x="6858000" y="3803172"/>
            <a:ext cx="4828032" cy="2551908"/>
          </a:xfrm>
          <a:prstGeom prst="roundRect">
            <a:avLst>
              <a:gd name="adj" fmla="val 3225"/>
            </a:avLst>
          </a:prstGeom>
          <a:solidFill>
            <a:srgbClr val="E9F6F5"/>
          </a:solidFill>
          <a:ln w="12700">
            <a:solidFill>
              <a:srgbClr val="00A79D"/>
            </a:solidFill>
            <a:prstDash val="solid"/>
          </a:ln>
        </p:spPr>
      </p:sp>
      <p:sp>
        <p:nvSpPr>
          <p:cNvPr id="17" name="Text 14"/>
          <p:cNvSpPr/>
          <p:nvPr/>
        </p:nvSpPr>
        <p:spPr>
          <a:xfrm>
            <a:off x="7040880" y="3894612"/>
            <a:ext cx="4462272" cy="237744"/>
          </a:xfrm>
          <a:prstGeom prst="rect">
            <a:avLst/>
          </a:prstGeom>
          <a:noFill/>
          <a:ln/>
        </p:spPr>
        <p:txBody>
          <a:bodyPr wrap="square" lIns="0" tIns="0" rIns="0" bIns="0" rtlCol="0" anchor="ctr"/>
          <a:lstStyle/>
          <a:p>
            <a:pPr indent="0" marL="0">
              <a:buNone/>
            </a:pPr>
            <a:r>
              <a:rPr lang="en-US" sz="950" b="1" spc="200" kern="0" dirty="0">
                <a:solidFill>
                  <a:srgbClr val="00A79D"/>
                </a:solidFill>
                <a:latin typeface="Calibri" pitchFamily="34" charset="0"/>
                <a:ea typeface="Calibri" pitchFamily="34" charset="-122"/>
                <a:cs typeface="Calibri" pitchFamily="34" charset="-120"/>
              </a:rPr>
              <a:t>DISCUSSION QUESTIONS</a:t>
            </a:r>
            <a:endParaRPr lang="en-US" sz="950" dirty="0"/>
          </a:p>
        </p:txBody>
      </p:sp>
      <p:sp>
        <p:nvSpPr>
          <p:cNvPr id="18" name="Text 15"/>
          <p:cNvSpPr/>
          <p:nvPr/>
        </p:nvSpPr>
        <p:spPr>
          <a:xfrm>
            <a:off x="7095744" y="4168932"/>
            <a:ext cx="4370832" cy="2048988"/>
          </a:xfrm>
          <a:prstGeom prst="rect">
            <a:avLst/>
          </a:prstGeom>
          <a:noFill/>
          <a:ln/>
        </p:spPr>
        <p:txBody>
          <a:bodyPr wrap="square" lIns="0" tIns="0" rIns="0" bIns="0" rtlCol="0" anchor="t"/>
          <a:lstStyle/>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1.  Why did one fleet-wide mAP number predict neither problem?</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2.  Split the 6,000-box labelling budget across the three classes.</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3.  Where would a temporal persistence filter be wrong to apply?</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4.  What does PDPL imply for footage of identifiable workers?</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3 Benchmarks and Targets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معايير وأهداف الوحدة الثالثة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67</a:t>
            </a:r>
            <a:endParaRPr lang="en-US" sz="9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887544"/>
                <a:gridCol w="3949749"/>
                <a:gridCol w="3348562"/>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Target after M3</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measured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mAP@0.5 (test split)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 0.85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model.val(split='test')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mAP@0.5:0.95 (test split)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 0.60</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same call</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Mould recall at deployed point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 0.99</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operating-point sweep</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Training wall-clock (40 epochs)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 15 min on GPU</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run logs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Label-format validation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0 corrupt labels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Ultralytics scan output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Operating point documented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per-class conf + iou + rationale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model-card review</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MODULE 4</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Semantic and Instance Segmentation</a:t>
            </a:r>
            <a:endParaRPr lang="en-US" sz="3600" dirty="0"/>
          </a:p>
        </p:txBody>
      </p:sp>
      <p:sp>
        <p:nvSpPr>
          <p:cNvPr id="22" name="Text 19"/>
          <p:cNvSpPr/>
          <p:nvPr/>
        </p:nvSpPr>
        <p:spPr>
          <a:xfrm>
            <a:off x="777240" y="312724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التجزئة الدلالية وتجزئة المثيلات</a:t>
            </a:r>
            <a:endParaRPr lang="en-US" sz="1700" dirty="0"/>
          </a:p>
        </p:txBody>
      </p:sp>
      <p:sp>
        <p:nvSpPr>
          <p:cNvPr id="23" name="Text 20"/>
          <p:cNvSpPr/>
          <p:nvPr/>
        </p:nvSpPr>
        <p:spPr>
          <a:xfrm>
            <a:off x="804672" y="370332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Three segmentation tasks — and how to choose</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Encoder-decoder and mask-head architectures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Training YOLO11s-seg on polygon annotations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Masks into calibrated business measurements</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MODULE OUTCOME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surface-defect segmenter (mask mAP@0.5 ≥ 0.80) producing a per-fruit defect-area report with quantified measurement error</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Why Segmentation: Measurement, Not Recognition</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لماذا التجزئة: قياس لا تعرف</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69</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A surprising amount of vision value is measurement — area thresholds, invoiced m², dosage. Boxes cannot produce these numbers.</a:t>
            </a:r>
            <a:endParaRPr lang="en-US" sz="1250" dirty="0"/>
          </a:p>
        </p:txBody>
      </p:sp>
      <p:sp>
        <p:nvSpPr>
          <p:cNvPr id="8" name="Shape 5"/>
          <p:cNvSpPr/>
          <p:nvPr/>
        </p:nvSpPr>
        <p:spPr>
          <a:xfrm>
            <a:off x="502920" y="3026664"/>
            <a:ext cx="2556434" cy="2194560"/>
          </a:xfrm>
          <a:prstGeom prst="roundRect">
            <a:avLst>
              <a:gd name="adj" fmla="val 3750"/>
            </a:avLst>
          </a:prstGeom>
          <a:solidFill>
            <a:srgbClr val="E9F6F5"/>
          </a:solidFill>
          <a:ln w="12700">
            <a:solidFill>
              <a:srgbClr val="D9E2EA"/>
            </a:solidFill>
            <a:prstDash val="solid"/>
          </a:ln>
        </p:spPr>
      </p:sp>
      <p:sp>
        <p:nvSpPr>
          <p:cNvPr id="9" name="Text 6"/>
          <p:cNvSpPr/>
          <p:nvPr/>
        </p:nvSpPr>
        <p:spPr>
          <a:xfrm>
            <a:off x="594360" y="3136392"/>
            <a:ext cx="2373554" cy="965606"/>
          </a:xfrm>
          <a:prstGeom prst="rect">
            <a:avLst/>
          </a:prstGeom>
          <a:noFill/>
          <a:ln/>
        </p:spPr>
        <p:txBody>
          <a:bodyPr wrap="square" lIns="0" tIns="0" rIns="0" bIns="0" rtlCol="0" anchor="ctr"/>
          <a:lstStyle/>
          <a:p>
            <a:pPr algn="ctr" indent="0" marL="0">
              <a:buNone/>
            </a:pPr>
            <a:r>
              <a:rPr lang="en-US" sz="3800" b="1" dirty="0">
                <a:solidFill>
                  <a:srgbClr val="00A79D"/>
                </a:solidFill>
                <a:latin typeface="Calibri" pitchFamily="34" charset="0"/>
                <a:ea typeface="Calibri" pitchFamily="34" charset="-122"/>
                <a:cs typeface="Calibri" pitchFamily="34" charset="-120"/>
              </a:rPr>
              <a:t>8%</a:t>
            </a:r>
            <a:endParaRPr lang="en-US" sz="3800" dirty="0"/>
          </a:p>
        </p:txBody>
      </p:sp>
      <p:sp>
        <p:nvSpPr>
          <p:cNvPr id="10" name="Text 7"/>
          <p:cNvSpPr/>
          <p:nvPr/>
        </p:nvSpPr>
        <p:spPr>
          <a:xfrm>
            <a:off x="640080"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grading area rule</a:t>
            </a:r>
            <a:endParaRPr lang="en-US" sz="1250" dirty="0"/>
          </a:p>
        </p:txBody>
      </p:sp>
      <p:sp>
        <p:nvSpPr>
          <p:cNvPr id="11" name="Text 8"/>
          <p:cNvSpPr/>
          <p:nvPr/>
        </p:nvSpPr>
        <p:spPr>
          <a:xfrm>
            <a:off x="640080"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reject if defect area &gt; 8% of visible surface</a:t>
            </a:r>
            <a:endParaRPr lang="en-US" sz="1000" dirty="0"/>
          </a:p>
        </p:txBody>
      </p:sp>
      <p:sp>
        <p:nvSpPr>
          <p:cNvPr id="12" name="Shape 9"/>
          <p:cNvSpPr/>
          <p:nvPr/>
        </p:nvSpPr>
        <p:spPr>
          <a:xfrm>
            <a:off x="3379394" y="3026664"/>
            <a:ext cx="2556434" cy="2194560"/>
          </a:xfrm>
          <a:prstGeom prst="roundRect">
            <a:avLst>
              <a:gd name="adj" fmla="val 3750"/>
            </a:avLst>
          </a:prstGeom>
          <a:solidFill>
            <a:srgbClr val="F2F6F9"/>
          </a:solidFill>
          <a:ln w="12700">
            <a:solidFill>
              <a:srgbClr val="D9E2EA"/>
            </a:solidFill>
            <a:prstDash val="solid"/>
          </a:ln>
        </p:spPr>
      </p:sp>
      <p:sp>
        <p:nvSpPr>
          <p:cNvPr id="13" name="Text 10"/>
          <p:cNvSpPr/>
          <p:nvPr/>
        </p:nvSpPr>
        <p:spPr>
          <a:xfrm>
            <a:off x="3470834" y="3136392"/>
            <a:ext cx="2373554" cy="965606"/>
          </a:xfrm>
          <a:prstGeom prst="rect">
            <a:avLst/>
          </a:prstGeom>
          <a:noFill/>
          <a:ln/>
        </p:spPr>
        <p:txBody>
          <a:bodyPr wrap="square" lIns="0" tIns="0" rIns="0" bIns="0" rtlCol="0" anchor="ctr"/>
          <a:lstStyle/>
          <a:p>
            <a:pPr algn="ctr" indent="0" marL="0">
              <a:buNone/>
            </a:pPr>
            <a:r>
              <a:rPr lang="en-US" sz="3800" b="1" dirty="0">
                <a:solidFill>
                  <a:srgbClr val="E8503A"/>
                </a:solidFill>
                <a:latin typeface="Calibri" pitchFamily="34" charset="0"/>
                <a:ea typeface="Calibri" pitchFamily="34" charset="-122"/>
                <a:cs typeface="Calibri" pitchFamily="34" charset="-120"/>
              </a:rPr>
              <a:t>2–4×</a:t>
            </a:r>
            <a:endParaRPr lang="en-US" sz="3800" dirty="0"/>
          </a:p>
        </p:txBody>
      </p:sp>
      <p:sp>
        <p:nvSpPr>
          <p:cNvPr id="14" name="Text 11"/>
          <p:cNvSpPr/>
          <p:nvPr/>
        </p:nvSpPr>
        <p:spPr>
          <a:xfrm>
            <a:off x="3516554"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box-area overestimate</a:t>
            </a:r>
            <a:endParaRPr lang="en-US" sz="1250" dirty="0"/>
          </a:p>
        </p:txBody>
      </p:sp>
      <p:sp>
        <p:nvSpPr>
          <p:cNvPr id="15" name="Text 12"/>
          <p:cNvSpPr/>
          <p:nvPr/>
        </p:nvSpPr>
        <p:spPr>
          <a:xfrm>
            <a:off x="3516554"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boxes overstate crescent-shaped defects</a:t>
            </a:r>
            <a:endParaRPr lang="en-US" sz="1000" dirty="0"/>
          </a:p>
        </p:txBody>
      </p:sp>
      <p:sp>
        <p:nvSpPr>
          <p:cNvPr id="16" name="Shape 13"/>
          <p:cNvSpPr/>
          <p:nvPr/>
        </p:nvSpPr>
        <p:spPr>
          <a:xfrm>
            <a:off x="6255868" y="3026664"/>
            <a:ext cx="2556434" cy="2194560"/>
          </a:xfrm>
          <a:prstGeom prst="roundRect">
            <a:avLst>
              <a:gd name="adj" fmla="val 3750"/>
            </a:avLst>
          </a:prstGeom>
          <a:solidFill>
            <a:srgbClr val="F2F6F9"/>
          </a:solidFill>
          <a:ln w="12700">
            <a:solidFill>
              <a:srgbClr val="D9E2EA"/>
            </a:solidFill>
            <a:prstDash val="solid"/>
          </a:ln>
        </p:spPr>
      </p:sp>
      <p:sp>
        <p:nvSpPr>
          <p:cNvPr id="17" name="Text 14"/>
          <p:cNvSpPr/>
          <p:nvPr/>
        </p:nvSpPr>
        <p:spPr>
          <a:xfrm>
            <a:off x="6347308" y="3136392"/>
            <a:ext cx="2373554" cy="965606"/>
          </a:xfrm>
          <a:prstGeom prst="rect">
            <a:avLst/>
          </a:prstGeom>
          <a:noFill/>
          <a:ln/>
        </p:spPr>
        <p:txBody>
          <a:bodyPr wrap="square" lIns="0" tIns="0" rIns="0" bIns="0" rtlCol="0" anchor="ctr"/>
          <a:lstStyle/>
          <a:p>
            <a:pPr algn="ctr" indent="0" marL="0">
              <a:buNone/>
            </a:pPr>
            <a:r>
              <a:rPr lang="en-US" sz="3800" b="1" dirty="0">
                <a:solidFill>
                  <a:srgbClr val="F58220"/>
                </a:solidFill>
                <a:latin typeface="Calibri" pitchFamily="34" charset="0"/>
                <a:ea typeface="Calibri" pitchFamily="34" charset="-122"/>
                <a:cs typeface="Calibri" pitchFamily="34" charset="-120"/>
              </a:rPr>
              <a:t>35–90 s</a:t>
            </a:r>
            <a:endParaRPr lang="en-US" sz="3800" dirty="0"/>
          </a:p>
        </p:txBody>
      </p:sp>
      <p:sp>
        <p:nvSpPr>
          <p:cNvPr id="18" name="Text 15"/>
          <p:cNvSpPr/>
          <p:nvPr/>
        </p:nvSpPr>
        <p:spPr>
          <a:xfrm>
            <a:off x="6393028"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per polygon</a:t>
            </a:r>
            <a:endParaRPr lang="en-US" sz="1250" dirty="0"/>
          </a:p>
        </p:txBody>
      </p:sp>
      <p:sp>
        <p:nvSpPr>
          <p:cNvPr id="19" name="Text 16"/>
          <p:cNvSpPr/>
          <p:nvPr/>
        </p:nvSpPr>
        <p:spPr>
          <a:xfrm>
            <a:off x="6393028"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vs ~7 s per box — segmentation must be earned</a:t>
            </a:r>
            <a:endParaRPr lang="en-US" sz="1000" dirty="0"/>
          </a:p>
        </p:txBody>
      </p:sp>
      <p:sp>
        <p:nvSpPr>
          <p:cNvPr id="20" name="Shape 17"/>
          <p:cNvSpPr/>
          <p:nvPr/>
        </p:nvSpPr>
        <p:spPr>
          <a:xfrm>
            <a:off x="9132341" y="3026664"/>
            <a:ext cx="2556434" cy="2194560"/>
          </a:xfrm>
          <a:prstGeom prst="roundRect">
            <a:avLst>
              <a:gd name="adj" fmla="val 3750"/>
            </a:avLst>
          </a:prstGeom>
          <a:solidFill>
            <a:srgbClr val="F2F6F9"/>
          </a:solidFill>
          <a:ln w="12700">
            <a:solidFill>
              <a:srgbClr val="D9E2EA"/>
            </a:solidFill>
            <a:prstDash val="solid"/>
          </a:ln>
        </p:spPr>
      </p:sp>
      <p:sp>
        <p:nvSpPr>
          <p:cNvPr id="21" name="Text 18"/>
          <p:cNvSpPr/>
          <p:nvPr/>
        </p:nvSpPr>
        <p:spPr>
          <a:xfrm>
            <a:off x="9223781" y="3136392"/>
            <a:ext cx="2373554" cy="965606"/>
          </a:xfrm>
          <a:prstGeom prst="rect">
            <a:avLst/>
          </a:prstGeom>
          <a:noFill/>
          <a:ln/>
        </p:spPr>
        <p:txBody>
          <a:bodyPr wrap="square" lIns="0" tIns="0" rIns="0" bIns="0" rtlCol="0" anchor="ctr"/>
          <a:lstStyle/>
          <a:p>
            <a:pPr algn="ctr" indent="0" marL="0">
              <a:buNone/>
            </a:pPr>
            <a:r>
              <a:rPr lang="en-US" sz="3800" b="1" dirty="0">
                <a:solidFill>
                  <a:srgbClr val="8DC63F"/>
                </a:solidFill>
                <a:latin typeface="Calibri" pitchFamily="34" charset="0"/>
                <a:ea typeface="Calibri" pitchFamily="34" charset="-122"/>
                <a:cs typeface="Calibri" pitchFamily="34" charset="-120"/>
              </a:rPr>
              <a:t>m²</a:t>
            </a:r>
            <a:endParaRPr lang="en-US" sz="3800" dirty="0"/>
          </a:p>
        </p:txBody>
      </p:sp>
      <p:sp>
        <p:nvSpPr>
          <p:cNvPr id="22" name="Text 19"/>
          <p:cNvSpPr/>
          <p:nvPr/>
        </p:nvSpPr>
        <p:spPr>
          <a:xfrm>
            <a:off x="9269501"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the invoice unit</a:t>
            </a:r>
            <a:endParaRPr lang="en-US" sz="1250" dirty="0"/>
          </a:p>
        </p:txBody>
      </p:sp>
      <p:sp>
        <p:nvSpPr>
          <p:cNvPr id="23" name="Text 20"/>
          <p:cNvSpPr/>
          <p:nvPr/>
        </p:nvSpPr>
        <p:spPr>
          <a:xfrm>
            <a:off x="9269501"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road-crack repair is priced per verified m²</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Industry Use Cases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حالات استخدام صناعية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70</a:t>
            </a:r>
            <a:endParaRPr lang="en-US" sz="900" dirty="0"/>
          </a:p>
        </p:txBody>
      </p:sp>
      <p:sp>
        <p:nvSpPr>
          <p:cNvPr id="7" name="Shape 4"/>
          <p:cNvSpPr/>
          <p:nvPr/>
        </p:nvSpPr>
        <p:spPr>
          <a:xfrm>
            <a:off x="502920" y="1389888"/>
            <a:ext cx="5455768" cy="2354580"/>
          </a:xfrm>
          <a:prstGeom prst="roundRect">
            <a:avLst>
              <a:gd name="adj" fmla="val 3107"/>
            </a:avLst>
          </a:prstGeom>
          <a:solidFill>
            <a:srgbClr val="F2F6F9"/>
          </a:solidFill>
          <a:ln w="12700">
            <a:solidFill>
              <a:srgbClr val="D9E2EA"/>
            </a:solidFill>
            <a:prstDash val="solid"/>
          </a:ln>
        </p:spPr>
      </p:sp>
      <p:sp>
        <p:nvSpPr>
          <p:cNvPr id="8" name="Shape 5"/>
          <p:cNvSpPr/>
          <p:nvPr/>
        </p:nvSpPr>
        <p:spPr>
          <a:xfrm>
            <a:off x="667512" y="1536192"/>
            <a:ext cx="310896" cy="310896"/>
          </a:xfrm>
          <a:prstGeom prst="ellipse">
            <a:avLst/>
          </a:prstGeom>
          <a:solidFill>
            <a:srgbClr val="00A79D"/>
          </a:solidFill>
          <a:ln/>
        </p:spPr>
      </p:sp>
      <p:sp>
        <p:nvSpPr>
          <p:cNvPr id="9" name="Text 6"/>
          <p:cNvSpPr/>
          <p:nvPr/>
        </p:nvSpPr>
        <p:spPr>
          <a:xfrm>
            <a:off x="667512"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088136"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Tamr Vision segmenter</a:t>
            </a:r>
            <a:endParaRPr lang="en-US" sz="1250" dirty="0"/>
          </a:p>
        </p:txBody>
      </p:sp>
      <p:sp>
        <p:nvSpPr>
          <p:cNvPr id="11" name="Text 8"/>
          <p:cNvSpPr/>
          <p:nvPr/>
        </p:nvSpPr>
        <p:spPr>
          <a:xfrm>
            <a:off x="685800"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YOLO11s-seg masks sugaring and mould regions to apply the 8%-of-visible-surface reject rule that boxes systematically overstate.</a:t>
            </a:r>
            <a:endParaRPr lang="en-US" sz="1100" dirty="0"/>
          </a:p>
        </p:txBody>
      </p:sp>
      <p:sp>
        <p:nvSpPr>
          <p:cNvPr id="12" name="Shape 9"/>
          <p:cNvSpPr/>
          <p:nvPr/>
        </p:nvSpPr>
        <p:spPr>
          <a:xfrm>
            <a:off x="6233008" y="1389888"/>
            <a:ext cx="5455768" cy="2354580"/>
          </a:xfrm>
          <a:prstGeom prst="roundRect">
            <a:avLst>
              <a:gd name="adj" fmla="val 3107"/>
            </a:avLst>
          </a:prstGeom>
          <a:solidFill>
            <a:srgbClr val="F2F6F9"/>
          </a:solidFill>
          <a:ln w="12700">
            <a:solidFill>
              <a:srgbClr val="D9E2EA"/>
            </a:solidFill>
            <a:prstDash val="solid"/>
          </a:ln>
        </p:spPr>
      </p:sp>
      <p:sp>
        <p:nvSpPr>
          <p:cNvPr id="13" name="Shape 10"/>
          <p:cNvSpPr/>
          <p:nvPr/>
        </p:nvSpPr>
        <p:spPr>
          <a:xfrm>
            <a:off x="6397600" y="1536192"/>
            <a:ext cx="310896" cy="310896"/>
          </a:xfrm>
          <a:prstGeom prst="ellipse">
            <a:avLst/>
          </a:prstGeom>
          <a:solidFill>
            <a:srgbClr val="29ABE2"/>
          </a:solidFill>
          <a:ln/>
        </p:spPr>
      </p:sp>
      <p:sp>
        <p:nvSpPr>
          <p:cNvPr id="14" name="Text 11"/>
          <p:cNvSpPr/>
          <p:nvPr/>
        </p:nvSpPr>
        <p:spPr>
          <a:xfrm>
            <a:off x="639760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6818224"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Road cracks — Riyadh</a:t>
            </a:r>
            <a:endParaRPr lang="en-US" sz="1250" dirty="0"/>
          </a:p>
        </p:txBody>
      </p:sp>
      <p:sp>
        <p:nvSpPr>
          <p:cNvPr id="16" name="Text 13"/>
          <p:cNvSpPr/>
          <p:nvPr/>
        </p:nvSpPr>
        <p:spPr>
          <a:xfrm>
            <a:off x="6415888"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Crack area from vehicle-mounted cameras; the contractor is paid per verified m² — masks are the invoice evidence.</a:t>
            </a:r>
            <a:endParaRPr lang="en-US" sz="1100" dirty="0"/>
          </a:p>
        </p:txBody>
      </p:sp>
      <p:sp>
        <p:nvSpPr>
          <p:cNvPr id="17" name="Shape 14"/>
          <p:cNvSpPr/>
          <p:nvPr/>
        </p:nvSpPr>
        <p:spPr>
          <a:xfrm>
            <a:off x="502920" y="4000500"/>
            <a:ext cx="5455768" cy="2354580"/>
          </a:xfrm>
          <a:prstGeom prst="roundRect">
            <a:avLst>
              <a:gd name="adj" fmla="val 3107"/>
            </a:avLst>
          </a:prstGeom>
          <a:solidFill>
            <a:srgbClr val="F2F6F9"/>
          </a:solidFill>
          <a:ln w="12700">
            <a:solidFill>
              <a:srgbClr val="D9E2EA"/>
            </a:solidFill>
            <a:prstDash val="solid"/>
          </a:ln>
        </p:spPr>
      </p:sp>
      <p:sp>
        <p:nvSpPr>
          <p:cNvPr id="18" name="Shape 15"/>
          <p:cNvSpPr/>
          <p:nvPr/>
        </p:nvSpPr>
        <p:spPr>
          <a:xfrm>
            <a:off x="667512" y="4146804"/>
            <a:ext cx="310896" cy="310896"/>
          </a:xfrm>
          <a:prstGeom prst="ellipse">
            <a:avLst/>
          </a:prstGeom>
          <a:solidFill>
            <a:srgbClr val="F58220"/>
          </a:solidFill>
          <a:ln/>
        </p:spPr>
      </p:sp>
      <p:sp>
        <p:nvSpPr>
          <p:cNvPr id="19" name="Text 16"/>
          <p:cNvSpPr/>
          <p:nvPr/>
        </p:nvSpPr>
        <p:spPr>
          <a:xfrm>
            <a:off x="667512"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1088136"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Solar soiling — Sakaka</a:t>
            </a:r>
            <a:endParaRPr lang="en-US" sz="1250" dirty="0"/>
          </a:p>
        </p:txBody>
      </p:sp>
      <p:sp>
        <p:nvSpPr>
          <p:cNvPr id="21" name="Text 18"/>
          <p:cNvSpPr/>
          <p:nvPr/>
        </p:nvSpPr>
        <p:spPr>
          <a:xfrm>
            <a:off x="685800"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Per-panel soiling fraction from drone sweeps triggers cleaning only where economically justified.</a:t>
            </a:r>
            <a:endParaRPr lang="en-US" sz="1100" dirty="0"/>
          </a:p>
        </p:txBody>
      </p:sp>
      <p:sp>
        <p:nvSpPr>
          <p:cNvPr id="22" name="Shape 19"/>
          <p:cNvSpPr/>
          <p:nvPr/>
        </p:nvSpPr>
        <p:spPr>
          <a:xfrm>
            <a:off x="6233008" y="4000500"/>
            <a:ext cx="5455768" cy="2354580"/>
          </a:xfrm>
          <a:prstGeom prst="roundRect">
            <a:avLst>
              <a:gd name="adj" fmla="val 3107"/>
            </a:avLst>
          </a:prstGeom>
          <a:solidFill>
            <a:srgbClr val="F2F6F9"/>
          </a:solidFill>
          <a:ln w="12700">
            <a:solidFill>
              <a:srgbClr val="D9E2EA"/>
            </a:solidFill>
            <a:prstDash val="solid"/>
          </a:ln>
        </p:spPr>
      </p:sp>
      <p:sp>
        <p:nvSpPr>
          <p:cNvPr id="23" name="Shape 20"/>
          <p:cNvSpPr/>
          <p:nvPr/>
        </p:nvSpPr>
        <p:spPr>
          <a:xfrm>
            <a:off x="6397600" y="4146804"/>
            <a:ext cx="310896" cy="310896"/>
          </a:xfrm>
          <a:prstGeom prst="ellipse">
            <a:avLst/>
          </a:prstGeom>
          <a:solidFill>
            <a:srgbClr val="8DC63F"/>
          </a:solidFill>
          <a:ln/>
        </p:spPr>
      </p:sp>
      <p:sp>
        <p:nvSpPr>
          <p:cNvPr id="24" name="Text 21"/>
          <p:cNvSpPr/>
          <p:nvPr/>
        </p:nvSpPr>
        <p:spPr>
          <a:xfrm>
            <a:off x="6397600"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p:nvPr/>
        </p:nvSpPr>
        <p:spPr>
          <a:xfrm>
            <a:off x="6818224"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The common pattern</a:t>
            </a:r>
            <a:endParaRPr lang="en-US" sz="1250" dirty="0"/>
          </a:p>
        </p:txBody>
      </p:sp>
      <p:sp>
        <p:nvSpPr>
          <p:cNvPr id="26" name="Text 23"/>
          <p:cNvSpPr/>
          <p:nvPr/>
        </p:nvSpPr>
        <p:spPr>
          <a:xfrm>
            <a:off x="6415888"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Grading standards, invoices and dosage all reference area. Only masks produce area — if the calibration is engineered.</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4 Learning Objectives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أهداف التعلم للوحدة الرابعة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71</a:t>
            </a:r>
            <a:endParaRPr lang="en-US" sz="900" dirty="0"/>
          </a:p>
        </p:txBody>
      </p:sp>
      <p:sp>
        <p:nvSpPr>
          <p:cNvPr id="7" name="Shape 4"/>
          <p:cNvSpPr/>
          <p:nvPr/>
        </p:nvSpPr>
        <p:spPr>
          <a:xfrm>
            <a:off x="502920" y="1499616"/>
            <a:ext cx="11183112" cy="832104"/>
          </a:xfrm>
          <a:prstGeom prst="roundRect">
            <a:avLst>
              <a:gd name="adj" fmla="val 7692"/>
            </a:avLst>
          </a:prstGeom>
          <a:solidFill>
            <a:srgbClr val="FAFCFE"/>
          </a:solidFill>
          <a:ln w="9525">
            <a:solidFill>
              <a:srgbClr val="D9E2EA"/>
            </a:solidFill>
            <a:prstDash val="solid"/>
          </a:ln>
        </p:spPr>
      </p:sp>
      <p:sp>
        <p:nvSpPr>
          <p:cNvPr id="8" name="Shape 5"/>
          <p:cNvSpPr/>
          <p:nvPr/>
        </p:nvSpPr>
        <p:spPr>
          <a:xfrm>
            <a:off x="649224" y="1751076"/>
            <a:ext cx="329184" cy="329184"/>
          </a:xfrm>
          <a:prstGeom prst="ellipse">
            <a:avLst/>
          </a:prstGeom>
          <a:solidFill>
            <a:srgbClr val="00A79D"/>
          </a:solidFill>
          <a:ln/>
        </p:spPr>
      </p:sp>
      <p:sp>
        <p:nvSpPr>
          <p:cNvPr id="9" name="Text 6"/>
          <p:cNvSpPr/>
          <p:nvPr/>
        </p:nvSpPr>
        <p:spPr>
          <a:xfrm>
            <a:off x="649224" y="175107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4.1</a:t>
            </a:r>
            <a:endParaRPr lang="en-US" sz="1150" dirty="0"/>
          </a:p>
        </p:txBody>
      </p:sp>
      <p:sp>
        <p:nvSpPr>
          <p:cNvPr id="10" name="Text 7"/>
          <p:cNvSpPr/>
          <p:nvPr/>
        </p:nvSpPr>
        <p:spPr>
          <a:xfrm>
            <a:off x="1143000" y="149961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Select semantic vs instance vs panoptic from the business question and annotation budget</a:t>
            </a:r>
            <a:endParaRPr lang="en-US" sz="1250" dirty="0"/>
          </a:p>
        </p:txBody>
      </p:sp>
      <p:sp>
        <p:nvSpPr>
          <p:cNvPr id="11" name="Shape 8"/>
          <p:cNvSpPr/>
          <p:nvPr/>
        </p:nvSpPr>
        <p:spPr>
          <a:xfrm>
            <a:off x="9646920" y="1741932"/>
            <a:ext cx="658368" cy="310896"/>
          </a:xfrm>
          <a:prstGeom prst="roundRect">
            <a:avLst>
              <a:gd name="adj" fmla="val 50000"/>
            </a:avLst>
          </a:prstGeom>
          <a:solidFill>
            <a:srgbClr val="E9F6F5"/>
          </a:solidFill>
          <a:ln w="9525">
            <a:solidFill>
              <a:srgbClr val="00A79D"/>
            </a:solidFill>
            <a:prstDash val="solid"/>
          </a:ln>
        </p:spPr>
      </p:sp>
      <p:sp>
        <p:nvSpPr>
          <p:cNvPr id="12" name="Text 9"/>
          <p:cNvSpPr/>
          <p:nvPr/>
        </p:nvSpPr>
        <p:spPr>
          <a:xfrm>
            <a:off x="9646920" y="174193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13" name="Shape 10"/>
          <p:cNvSpPr/>
          <p:nvPr/>
        </p:nvSpPr>
        <p:spPr>
          <a:xfrm>
            <a:off x="10360152" y="1741932"/>
            <a:ext cx="658368" cy="310896"/>
          </a:xfrm>
          <a:prstGeom prst="roundRect">
            <a:avLst>
              <a:gd name="adj" fmla="val 50000"/>
            </a:avLst>
          </a:prstGeom>
          <a:solidFill>
            <a:srgbClr val="E9F6F5"/>
          </a:solidFill>
          <a:ln w="9525">
            <a:solidFill>
              <a:srgbClr val="00A79D"/>
            </a:solidFill>
            <a:prstDash val="solid"/>
          </a:ln>
        </p:spPr>
      </p:sp>
      <p:sp>
        <p:nvSpPr>
          <p:cNvPr id="14" name="Text 11"/>
          <p:cNvSpPr/>
          <p:nvPr/>
        </p:nvSpPr>
        <p:spPr>
          <a:xfrm>
            <a:off x="10360152" y="174193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
        <p:nvSpPr>
          <p:cNvPr id="15" name="Shape 12"/>
          <p:cNvSpPr/>
          <p:nvPr/>
        </p:nvSpPr>
        <p:spPr>
          <a:xfrm>
            <a:off x="502920" y="2459736"/>
            <a:ext cx="11183112" cy="832104"/>
          </a:xfrm>
          <a:prstGeom prst="roundRect">
            <a:avLst>
              <a:gd name="adj" fmla="val 7692"/>
            </a:avLst>
          </a:prstGeom>
          <a:solidFill>
            <a:srgbClr val="F2F6F9"/>
          </a:solidFill>
          <a:ln w="9525">
            <a:solidFill>
              <a:srgbClr val="D9E2EA"/>
            </a:solidFill>
            <a:prstDash val="solid"/>
          </a:ln>
        </p:spPr>
      </p:sp>
      <p:sp>
        <p:nvSpPr>
          <p:cNvPr id="16" name="Shape 13"/>
          <p:cNvSpPr/>
          <p:nvPr/>
        </p:nvSpPr>
        <p:spPr>
          <a:xfrm>
            <a:off x="649224" y="2711196"/>
            <a:ext cx="329184" cy="329184"/>
          </a:xfrm>
          <a:prstGeom prst="ellipse">
            <a:avLst/>
          </a:prstGeom>
          <a:solidFill>
            <a:srgbClr val="00A79D"/>
          </a:solidFill>
          <a:ln/>
        </p:spPr>
      </p:sp>
      <p:sp>
        <p:nvSpPr>
          <p:cNvPr id="17" name="Text 14"/>
          <p:cNvSpPr/>
          <p:nvPr/>
        </p:nvSpPr>
        <p:spPr>
          <a:xfrm>
            <a:off x="649224" y="271119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4.2</a:t>
            </a:r>
            <a:endParaRPr lang="en-US" sz="1150" dirty="0"/>
          </a:p>
        </p:txBody>
      </p:sp>
      <p:sp>
        <p:nvSpPr>
          <p:cNvPr id="18" name="Text 15"/>
          <p:cNvSpPr/>
          <p:nvPr/>
        </p:nvSpPr>
        <p:spPr>
          <a:xfrm>
            <a:off x="1143000" y="245973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Explain encoder-decoder and mask-head architectures and their speed/quality trade-offs</a:t>
            </a:r>
            <a:endParaRPr lang="en-US" sz="1250" dirty="0"/>
          </a:p>
        </p:txBody>
      </p:sp>
      <p:sp>
        <p:nvSpPr>
          <p:cNvPr id="19" name="Shape 16"/>
          <p:cNvSpPr/>
          <p:nvPr/>
        </p:nvSpPr>
        <p:spPr>
          <a:xfrm>
            <a:off x="9646920" y="2702052"/>
            <a:ext cx="658368" cy="310896"/>
          </a:xfrm>
          <a:prstGeom prst="roundRect">
            <a:avLst>
              <a:gd name="adj" fmla="val 50000"/>
            </a:avLst>
          </a:prstGeom>
          <a:solidFill>
            <a:srgbClr val="E9F6F5"/>
          </a:solidFill>
          <a:ln w="9525">
            <a:solidFill>
              <a:srgbClr val="00A79D"/>
            </a:solidFill>
            <a:prstDash val="solid"/>
          </a:ln>
        </p:spPr>
      </p:sp>
      <p:sp>
        <p:nvSpPr>
          <p:cNvPr id="20" name="Text 17"/>
          <p:cNvSpPr/>
          <p:nvPr/>
        </p:nvSpPr>
        <p:spPr>
          <a:xfrm>
            <a:off x="9646920"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21" name="Shape 18"/>
          <p:cNvSpPr/>
          <p:nvPr/>
        </p:nvSpPr>
        <p:spPr>
          <a:xfrm>
            <a:off x="502920" y="3419856"/>
            <a:ext cx="11183112" cy="832104"/>
          </a:xfrm>
          <a:prstGeom prst="roundRect">
            <a:avLst>
              <a:gd name="adj" fmla="val 7692"/>
            </a:avLst>
          </a:prstGeom>
          <a:solidFill>
            <a:srgbClr val="FAFCFE"/>
          </a:solidFill>
          <a:ln w="9525">
            <a:solidFill>
              <a:srgbClr val="D9E2EA"/>
            </a:solidFill>
            <a:prstDash val="solid"/>
          </a:ln>
        </p:spPr>
      </p:sp>
      <p:sp>
        <p:nvSpPr>
          <p:cNvPr id="22" name="Shape 19"/>
          <p:cNvSpPr/>
          <p:nvPr/>
        </p:nvSpPr>
        <p:spPr>
          <a:xfrm>
            <a:off x="649224" y="3671316"/>
            <a:ext cx="329184" cy="329184"/>
          </a:xfrm>
          <a:prstGeom prst="ellipse">
            <a:avLst/>
          </a:prstGeom>
          <a:solidFill>
            <a:srgbClr val="00A79D"/>
          </a:solidFill>
          <a:ln/>
        </p:spPr>
      </p:sp>
      <p:sp>
        <p:nvSpPr>
          <p:cNvPr id="23" name="Text 20"/>
          <p:cNvSpPr/>
          <p:nvPr/>
        </p:nvSpPr>
        <p:spPr>
          <a:xfrm>
            <a:off x="649224" y="367131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4.3</a:t>
            </a:r>
            <a:endParaRPr lang="en-US" sz="1150" dirty="0"/>
          </a:p>
        </p:txBody>
      </p:sp>
      <p:sp>
        <p:nvSpPr>
          <p:cNvPr id="24" name="Text 21"/>
          <p:cNvSpPr/>
          <p:nvPr/>
        </p:nvSpPr>
        <p:spPr>
          <a:xfrm>
            <a:off x="1143000" y="341985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Train an instance segmentation model (YOLO11s-seg) on custom polygon annotations</a:t>
            </a:r>
            <a:endParaRPr lang="en-US" sz="1250" dirty="0"/>
          </a:p>
        </p:txBody>
      </p:sp>
      <p:sp>
        <p:nvSpPr>
          <p:cNvPr id="25" name="Shape 22"/>
          <p:cNvSpPr/>
          <p:nvPr/>
        </p:nvSpPr>
        <p:spPr>
          <a:xfrm>
            <a:off x="9646920" y="3662172"/>
            <a:ext cx="658368" cy="310896"/>
          </a:xfrm>
          <a:prstGeom prst="roundRect">
            <a:avLst>
              <a:gd name="adj" fmla="val 50000"/>
            </a:avLst>
          </a:prstGeom>
          <a:solidFill>
            <a:srgbClr val="E9F6F5"/>
          </a:solidFill>
          <a:ln w="9525">
            <a:solidFill>
              <a:srgbClr val="00A79D"/>
            </a:solidFill>
            <a:prstDash val="solid"/>
          </a:ln>
        </p:spPr>
      </p:sp>
      <p:sp>
        <p:nvSpPr>
          <p:cNvPr id="26" name="Text 23"/>
          <p:cNvSpPr/>
          <p:nvPr/>
        </p:nvSpPr>
        <p:spPr>
          <a:xfrm>
            <a:off x="9646920"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27" name="Shape 24"/>
          <p:cNvSpPr/>
          <p:nvPr/>
        </p:nvSpPr>
        <p:spPr>
          <a:xfrm>
            <a:off x="10360152" y="3662172"/>
            <a:ext cx="658368" cy="310896"/>
          </a:xfrm>
          <a:prstGeom prst="roundRect">
            <a:avLst>
              <a:gd name="adj" fmla="val 50000"/>
            </a:avLst>
          </a:prstGeom>
          <a:solidFill>
            <a:srgbClr val="E9F6F5"/>
          </a:solidFill>
          <a:ln w="9525">
            <a:solidFill>
              <a:srgbClr val="00A79D"/>
            </a:solidFill>
            <a:prstDash val="solid"/>
          </a:ln>
        </p:spPr>
      </p:sp>
      <p:sp>
        <p:nvSpPr>
          <p:cNvPr id="28" name="Text 25"/>
          <p:cNvSpPr/>
          <p:nvPr/>
        </p:nvSpPr>
        <p:spPr>
          <a:xfrm>
            <a:off x="10360152"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LO4</a:t>
            </a:r>
            <a:endParaRPr lang="en-US" sz="950" dirty="0"/>
          </a:p>
        </p:txBody>
      </p:sp>
      <p:sp>
        <p:nvSpPr>
          <p:cNvPr id="29" name="Shape 26"/>
          <p:cNvSpPr/>
          <p:nvPr/>
        </p:nvSpPr>
        <p:spPr>
          <a:xfrm>
            <a:off x="502920" y="4379976"/>
            <a:ext cx="11183112" cy="832104"/>
          </a:xfrm>
          <a:prstGeom prst="roundRect">
            <a:avLst>
              <a:gd name="adj" fmla="val 7692"/>
            </a:avLst>
          </a:prstGeom>
          <a:solidFill>
            <a:srgbClr val="F2F6F9"/>
          </a:solidFill>
          <a:ln w="9525">
            <a:solidFill>
              <a:srgbClr val="D9E2EA"/>
            </a:solidFill>
            <a:prstDash val="solid"/>
          </a:ln>
        </p:spPr>
      </p:sp>
      <p:sp>
        <p:nvSpPr>
          <p:cNvPr id="30" name="Shape 27"/>
          <p:cNvSpPr/>
          <p:nvPr/>
        </p:nvSpPr>
        <p:spPr>
          <a:xfrm>
            <a:off x="649224" y="4631436"/>
            <a:ext cx="329184" cy="329184"/>
          </a:xfrm>
          <a:prstGeom prst="ellipse">
            <a:avLst/>
          </a:prstGeom>
          <a:solidFill>
            <a:srgbClr val="00A79D"/>
          </a:solidFill>
          <a:ln/>
        </p:spPr>
      </p:sp>
      <p:sp>
        <p:nvSpPr>
          <p:cNvPr id="31" name="Text 28"/>
          <p:cNvSpPr/>
          <p:nvPr/>
        </p:nvSpPr>
        <p:spPr>
          <a:xfrm>
            <a:off x="649224" y="463143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4.4</a:t>
            </a:r>
            <a:endParaRPr lang="en-US" sz="1150" dirty="0"/>
          </a:p>
        </p:txBody>
      </p:sp>
      <p:sp>
        <p:nvSpPr>
          <p:cNvPr id="32" name="Text 29"/>
          <p:cNvSpPr/>
          <p:nvPr/>
        </p:nvSpPr>
        <p:spPr>
          <a:xfrm>
            <a:off x="1143000" y="437997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Evaluate masks with mIoU and mask mAP; diagnose boundary vs region errors</a:t>
            </a:r>
            <a:endParaRPr lang="en-US" sz="1250" dirty="0"/>
          </a:p>
        </p:txBody>
      </p:sp>
      <p:sp>
        <p:nvSpPr>
          <p:cNvPr id="33" name="Shape 30"/>
          <p:cNvSpPr/>
          <p:nvPr/>
        </p:nvSpPr>
        <p:spPr>
          <a:xfrm>
            <a:off x="9646920" y="4622292"/>
            <a:ext cx="658368" cy="310896"/>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9646920"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35" name="Shape 32"/>
          <p:cNvSpPr/>
          <p:nvPr/>
        </p:nvSpPr>
        <p:spPr>
          <a:xfrm>
            <a:off x="502920" y="5340096"/>
            <a:ext cx="11183112" cy="832104"/>
          </a:xfrm>
          <a:prstGeom prst="roundRect">
            <a:avLst>
              <a:gd name="adj" fmla="val 7692"/>
            </a:avLst>
          </a:prstGeom>
          <a:solidFill>
            <a:srgbClr val="FAFCFE"/>
          </a:solidFill>
          <a:ln w="9525">
            <a:solidFill>
              <a:srgbClr val="D9E2EA"/>
            </a:solidFill>
            <a:prstDash val="solid"/>
          </a:ln>
        </p:spPr>
      </p:sp>
      <p:sp>
        <p:nvSpPr>
          <p:cNvPr id="36" name="Shape 33"/>
          <p:cNvSpPr/>
          <p:nvPr/>
        </p:nvSpPr>
        <p:spPr>
          <a:xfrm>
            <a:off x="649224" y="5591556"/>
            <a:ext cx="329184" cy="329184"/>
          </a:xfrm>
          <a:prstGeom prst="ellipse">
            <a:avLst/>
          </a:prstGeom>
          <a:solidFill>
            <a:srgbClr val="00A79D"/>
          </a:solidFill>
          <a:ln/>
        </p:spPr>
      </p:sp>
      <p:sp>
        <p:nvSpPr>
          <p:cNvPr id="37" name="Text 34"/>
          <p:cNvSpPr/>
          <p:nvPr/>
        </p:nvSpPr>
        <p:spPr>
          <a:xfrm>
            <a:off x="649224" y="559155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4.5</a:t>
            </a:r>
            <a:endParaRPr lang="en-US" sz="1150" dirty="0"/>
          </a:p>
        </p:txBody>
      </p:sp>
      <p:sp>
        <p:nvSpPr>
          <p:cNvPr id="38" name="Text 35"/>
          <p:cNvSpPr/>
          <p:nvPr/>
        </p:nvSpPr>
        <p:spPr>
          <a:xfrm>
            <a:off x="1143000" y="534009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Convert masks into calibrated real-world measurements with documented assumptions</a:t>
            </a:r>
            <a:endParaRPr lang="en-US" sz="1250" dirty="0"/>
          </a:p>
        </p:txBody>
      </p:sp>
      <p:sp>
        <p:nvSpPr>
          <p:cNvPr id="39" name="Shape 36"/>
          <p:cNvSpPr/>
          <p:nvPr/>
        </p:nvSpPr>
        <p:spPr>
          <a:xfrm>
            <a:off x="9646920" y="5582412"/>
            <a:ext cx="658368" cy="310896"/>
          </a:xfrm>
          <a:prstGeom prst="roundRect">
            <a:avLst>
              <a:gd name="adj" fmla="val 50000"/>
            </a:avLst>
          </a:prstGeom>
          <a:solidFill>
            <a:srgbClr val="E9F6F5"/>
          </a:solidFill>
          <a:ln w="9525">
            <a:solidFill>
              <a:srgbClr val="00A79D"/>
            </a:solidFill>
            <a:prstDash val="solid"/>
          </a:ln>
        </p:spPr>
      </p:sp>
      <p:sp>
        <p:nvSpPr>
          <p:cNvPr id="40" name="Text 37"/>
          <p:cNvSpPr/>
          <p:nvPr/>
        </p:nvSpPr>
        <p:spPr>
          <a:xfrm>
            <a:off x="9646920"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41" name="Shape 38"/>
          <p:cNvSpPr/>
          <p:nvPr/>
        </p:nvSpPr>
        <p:spPr>
          <a:xfrm>
            <a:off x="10360152" y="5582412"/>
            <a:ext cx="658368" cy="310896"/>
          </a:xfrm>
          <a:prstGeom prst="roundRect">
            <a:avLst>
              <a:gd name="adj" fmla="val 50000"/>
            </a:avLst>
          </a:prstGeom>
          <a:solidFill>
            <a:srgbClr val="E9F6F5"/>
          </a:solidFill>
          <a:ln w="9525">
            <a:solidFill>
              <a:srgbClr val="00A79D"/>
            </a:solidFill>
            <a:prstDash val="solid"/>
          </a:ln>
        </p:spPr>
      </p:sp>
      <p:sp>
        <p:nvSpPr>
          <p:cNvPr id="42" name="Text 39"/>
          <p:cNvSpPr/>
          <p:nvPr/>
        </p:nvSpPr>
        <p:spPr>
          <a:xfrm>
            <a:off x="10360152"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LO6</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Three Tasks, One Word</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ثلاث مهام بكلمة واحدة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72</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16" i="1" dirty="0">
                <a:solidFill>
                  <a:srgbClr val="5F6B7A"/>
                </a:solidFill>
                <a:latin typeface="Calibri" pitchFamily="34" charset="0"/>
                <a:ea typeface="Calibri" pitchFamily="34" charset="-122"/>
                <a:cs typeface="Calibri" pitchFamily="34" charset="-120"/>
              </a:rPr>
              <a:t>The cost gradient is real: a box takes ~7 s to annotate, a decent polygon 35–90 s. Choose the cheapest formulation that produces the required number.</a:t>
            </a:r>
            <a:endParaRPr lang="en-US" sz="1216"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2312582"/>
                <a:gridCol w="4354448"/>
                <a:gridCol w="4518825"/>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Formulation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Output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Right when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Semantic</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Every pixel classed; instances merged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Total area per class: crack m², soiling</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Instance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Per-object mask + class + confidence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Per-object measures: defect area per fruit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Panoptic</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All pixels + countable things instanced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Rich, expensive, rarely the applied answer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Encoder-Decoder: U-Net and DeepLab</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المشفر وفك التشفير: U-Net و DeepLab</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73</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Without skip connections, masks look like melted wax. U-Net variants still dominate medical and industrial semantic tasks.</a:t>
            </a:r>
            <a:endParaRPr lang="en-US" sz="1250" dirty="0"/>
          </a:p>
        </p:txBody>
      </p:sp>
      <p:sp>
        <p:nvSpPr>
          <p:cNvPr id="8" name="Shape 5"/>
          <p:cNvSpPr/>
          <p:nvPr/>
        </p:nvSpPr>
        <p:spPr>
          <a:xfrm>
            <a:off x="502920" y="2194560"/>
            <a:ext cx="11185855" cy="868680"/>
          </a:xfrm>
          <a:prstGeom prst="roundRect">
            <a:avLst>
              <a:gd name="adj" fmla="val 6316"/>
            </a:avLst>
          </a:prstGeom>
          <a:solidFill>
            <a:srgbClr val="1D2A5C"/>
          </a:solidFill>
          <a:ln/>
        </p:spPr>
      </p:sp>
      <p:sp>
        <p:nvSpPr>
          <p:cNvPr id="9" name="Text 6"/>
          <p:cNvSpPr/>
          <p:nvPr/>
        </p:nvSpPr>
        <p:spPr>
          <a:xfrm>
            <a:off x="685800" y="2194560"/>
            <a:ext cx="4698059"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Encoder</a:t>
            </a:r>
            <a:endParaRPr lang="en-US" sz="1300" dirty="0"/>
          </a:p>
        </p:txBody>
      </p:sp>
      <p:sp>
        <p:nvSpPr>
          <p:cNvPr id="10" name="Text 7"/>
          <p:cNvSpPr/>
          <p:nvPr/>
        </p:nvSpPr>
        <p:spPr>
          <a:xfrm>
            <a:off x="5424696" y="2194560"/>
            <a:ext cx="5928503"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familiar backbone downsampling to rich, low-resolution features</a:t>
            </a:r>
            <a:endParaRPr lang="en-US" sz="1050" dirty="0"/>
          </a:p>
        </p:txBody>
      </p:sp>
      <p:sp>
        <p:nvSpPr>
          <p:cNvPr id="11" name="Shape 8"/>
          <p:cNvSpPr/>
          <p:nvPr/>
        </p:nvSpPr>
        <p:spPr>
          <a:xfrm>
            <a:off x="758952" y="3191256"/>
            <a:ext cx="10673791" cy="868680"/>
          </a:xfrm>
          <a:prstGeom prst="roundRect">
            <a:avLst>
              <a:gd name="adj" fmla="val 6316"/>
            </a:avLst>
          </a:prstGeom>
          <a:solidFill>
            <a:srgbClr val="24437E"/>
          </a:solidFill>
          <a:ln/>
        </p:spPr>
      </p:sp>
      <p:sp>
        <p:nvSpPr>
          <p:cNvPr id="12" name="Text 9"/>
          <p:cNvSpPr/>
          <p:nvPr/>
        </p:nvSpPr>
        <p:spPr>
          <a:xfrm>
            <a:off x="941832" y="3191256"/>
            <a:ext cx="4482992"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Skip connections</a:t>
            </a:r>
            <a:endParaRPr lang="en-US" sz="1300" dirty="0"/>
          </a:p>
        </p:txBody>
      </p:sp>
      <p:sp>
        <p:nvSpPr>
          <p:cNvPr id="13" name="Text 10"/>
          <p:cNvSpPr/>
          <p:nvPr/>
        </p:nvSpPr>
        <p:spPr>
          <a:xfrm>
            <a:off x="5455420" y="3191256"/>
            <a:ext cx="5657109"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shallow high-res features concatenated in — boundaries stay sharp</a:t>
            </a:r>
            <a:endParaRPr lang="en-US" sz="1050" dirty="0"/>
          </a:p>
        </p:txBody>
      </p:sp>
      <p:sp>
        <p:nvSpPr>
          <p:cNvPr id="14" name="Shape 11"/>
          <p:cNvSpPr/>
          <p:nvPr/>
        </p:nvSpPr>
        <p:spPr>
          <a:xfrm>
            <a:off x="1014984" y="4187952"/>
            <a:ext cx="10161727" cy="868680"/>
          </a:xfrm>
          <a:prstGeom prst="roundRect">
            <a:avLst>
              <a:gd name="adj" fmla="val 6316"/>
            </a:avLst>
          </a:prstGeom>
          <a:solidFill>
            <a:srgbClr val="2A5CA0"/>
          </a:solidFill>
          <a:ln/>
        </p:spPr>
      </p:sp>
      <p:sp>
        <p:nvSpPr>
          <p:cNvPr id="15" name="Text 12"/>
          <p:cNvSpPr/>
          <p:nvPr/>
        </p:nvSpPr>
        <p:spPr>
          <a:xfrm>
            <a:off x="1197864" y="4187952"/>
            <a:ext cx="4267925"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Decoder</a:t>
            </a:r>
            <a:endParaRPr lang="en-US" sz="1300" dirty="0"/>
          </a:p>
        </p:txBody>
      </p:sp>
      <p:sp>
        <p:nvSpPr>
          <p:cNvPr id="16" name="Text 13"/>
          <p:cNvSpPr/>
          <p:nvPr/>
        </p:nvSpPr>
        <p:spPr>
          <a:xfrm>
            <a:off x="5486144" y="4187952"/>
            <a:ext cx="5385715"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upsamples back to full resolution for per-pixel prediction</a:t>
            </a:r>
            <a:endParaRPr lang="en-US" sz="1050" dirty="0"/>
          </a:p>
        </p:txBody>
      </p:sp>
      <p:sp>
        <p:nvSpPr>
          <p:cNvPr id="17" name="Shape 14"/>
          <p:cNvSpPr/>
          <p:nvPr/>
        </p:nvSpPr>
        <p:spPr>
          <a:xfrm>
            <a:off x="1271016" y="5184648"/>
            <a:ext cx="9649663" cy="868680"/>
          </a:xfrm>
          <a:prstGeom prst="roundRect">
            <a:avLst>
              <a:gd name="adj" fmla="val 6316"/>
            </a:avLst>
          </a:prstGeom>
          <a:solidFill>
            <a:srgbClr val="1F7FB8"/>
          </a:solidFill>
          <a:ln/>
        </p:spPr>
      </p:sp>
      <p:sp>
        <p:nvSpPr>
          <p:cNvPr id="18" name="Text 15"/>
          <p:cNvSpPr/>
          <p:nvPr/>
        </p:nvSpPr>
        <p:spPr>
          <a:xfrm>
            <a:off x="1453896" y="5184648"/>
            <a:ext cx="4052859"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DeepLab: atrous + ASPP</a:t>
            </a:r>
            <a:endParaRPr lang="en-US" sz="1300" dirty="0"/>
          </a:p>
        </p:txBody>
      </p:sp>
      <p:sp>
        <p:nvSpPr>
          <p:cNvPr id="19" name="Text 16"/>
          <p:cNvSpPr/>
          <p:nvPr/>
        </p:nvSpPr>
        <p:spPr>
          <a:xfrm>
            <a:off x="5516868" y="5184648"/>
            <a:ext cx="5114321"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dilated convs enlarge receptive fields without losing resolution</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Mask Heads on Detectors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رؤوس الأقنعة على الكواشف</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74</a:t>
            </a:r>
            <a:endParaRPr lang="en-US" sz="900" dirty="0"/>
          </a:p>
        </p:txBody>
      </p:sp>
      <p:sp>
        <p:nvSpPr>
          <p:cNvPr id="7" name="Shape 4"/>
          <p:cNvSpPr/>
          <p:nvPr/>
        </p:nvSpPr>
        <p:spPr>
          <a:xfrm>
            <a:off x="502920" y="1389888"/>
            <a:ext cx="5432908" cy="2459736"/>
          </a:xfrm>
          <a:prstGeom prst="roundRect">
            <a:avLst>
              <a:gd name="adj" fmla="val 3346"/>
            </a:avLst>
          </a:prstGeom>
          <a:solidFill>
            <a:srgbClr val="F2F6F9"/>
          </a:solidFill>
          <a:ln w="12700">
            <a:solidFill>
              <a:srgbClr val="D9E2EA"/>
            </a:solidFill>
            <a:prstDash val="solid"/>
          </a:ln>
        </p:spPr>
      </p:sp>
      <p:sp>
        <p:nvSpPr>
          <p:cNvPr id="8" name="Shape 5"/>
          <p:cNvSpPr/>
          <p:nvPr/>
        </p:nvSpPr>
        <p:spPr>
          <a:xfrm>
            <a:off x="704088" y="1581912"/>
            <a:ext cx="146304" cy="146304"/>
          </a:xfrm>
          <a:prstGeom prst="ellipse">
            <a:avLst/>
          </a:prstGeom>
          <a:solidFill>
            <a:srgbClr val="00A79D"/>
          </a:solidFill>
          <a:ln/>
        </p:spPr>
      </p:sp>
      <p:sp>
        <p:nvSpPr>
          <p:cNvPr id="9" name="Text 6"/>
          <p:cNvSpPr/>
          <p:nvPr/>
        </p:nvSpPr>
        <p:spPr>
          <a:xfrm>
            <a:off x="960120" y="148132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Mask R-CNN (two-stage)</a:t>
            </a:r>
            <a:endParaRPr lang="en-US" sz="1400" dirty="0"/>
          </a:p>
        </p:txBody>
      </p:sp>
      <p:sp>
        <p:nvSpPr>
          <p:cNvPr id="10" name="Text 7"/>
          <p:cNvSpPr/>
          <p:nvPr/>
        </p:nvSpPr>
        <p:spPr>
          <a:xfrm>
            <a:off x="758952" y="1920240"/>
            <a:ext cx="4975708" cy="1801368"/>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Per-region FCN predicts a binary mask</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RoIAlign made pixel-accurate masks possible</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A favourite interview question</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The two-stage reference you must discuss</a:t>
            </a:r>
            <a:endParaRPr lang="en-US" sz="1150" dirty="0"/>
          </a:p>
        </p:txBody>
      </p:sp>
      <p:sp>
        <p:nvSpPr>
          <p:cNvPr id="11" name="Shape 8"/>
          <p:cNvSpPr/>
          <p:nvPr/>
        </p:nvSpPr>
        <p:spPr>
          <a:xfrm>
            <a:off x="6255868" y="1389888"/>
            <a:ext cx="5432908" cy="2459736"/>
          </a:xfrm>
          <a:prstGeom prst="roundRect">
            <a:avLst>
              <a:gd name="adj" fmla="val 3346"/>
            </a:avLst>
          </a:prstGeom>
          <a:solidFill>
            <a:srgbClr val="F2F6F9"/>
          </a:solidFill>
          <a:ln w="12700">
            <a:solidFill>
              <a:srgbClr val="D9E2EA"/>
            </a:solidFill>
            <a:prstDash val="solid"/>
          </a:ln>
        </p:spPr>
      </p:sp>
      <p:sp>
        <p:nvSpPr>
          <p:cNvPr id="12" name="Shape 9"/>
          <p:cNvSpPr/>
          <p:nvPr/>
        </p:nvSpPr>
        <p:spPr>
          <a:xfrm>
            <a:off x="6457036" y="1581912"/>
            <a:ext cx="146304" cy="146304"/>
          </a:xfrm>
          <a:prstGeom prst="ellipse">
            <a:avLst/>
          </a:prstGeom>
          <a:solidFill>
            <a:srgbClr val="29ABE2"/>
          </a:solidFill>
          <a:ln/>
        </p:spPr>
      </p:sp>
      <p:sp>
        <p:nvSpPr>
          <p:cNvPr id="13" name="Text 10"/>
          <p:cNvSpPr/>
          <p:nvPr/>
        </p:nvSpPr>
        <p:spPr>
          <a:xfrm>
            <a:off x="6713068" y="148132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YOLO11s-seg (single-stage)</a:t>
            </a:r>
            <a:endParaRPr lang="en-US" sz="1400" dirty="0"/>
          </a:p>
        </p:txBody>
      </p:sp>
      <p:sp>
        <p:nvSpPr>
          <p:cNvPr id="14" name="Text 11"/>
          <p:cNvSpPr/>
          <p:nvPr/>
        </p:nvSpPr>
        <p:spPr>
          <a:xfrm>
            <a:off x="6511900" y="1920240"/>
            <a:ext cx="4975708" cy="1801368"/>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Prototype masks + per-instance coefficients</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The YOLACT idea: linear combination</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Near-detector speed, softer boundaries</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Course choice: one workflow, golden thread</a:t>
            </a:r>
            <a:endParaRPr lang="en-US" sz="1150" dirty="0"/>
          </a:p>
        </p:txBody>
      </p:sp>
      <p:sp>
        <p:nvSpPr>
          <p:cNvPr id="15" name="Shape 12"/>
          <p:cNvSpPr/>
          <p:nvPr/>
        </p:nvSpPr>
        <p:spPr>
          <a:xfrm>
            <a:off x="2522830" y="4014216"/>
            <a:ext cx="7146036" cy="457200"/>
          </a:xfrm>
          <a:prstGeom prst="roundRect">
            <a:avLst>
              <a:gd name="adj" fmla="val 50000"/>
            </a:avLst>
          </a:prstGeom>
          <a:solidFill>
            <a:srgbClr val="FEF3E7"/>
          </a:solidFill>
          <a:ln w="15875">
            <a:solidFill>
              <a:srgbClr val="F58220"/>
            </a:solidFill>
            <a:prstDash val="solid"/>
          </a:ln>
        </p:spPr>
      </p:sp>
      <p:sp>
        <p:nvSpPr>
          <p:cNvPr id="16" name="Text 13"/>
          <p:cNvSpPr/>
          <p:nvPr/>
        </p:nvSpPr>
        <p:spPr>
          <a:xfrm>
            <a:off x="2614270" y="4014216"/>
            <a:ext cx="6963156" cy="457200"/>
          </a:xfrm>
          <a:prstGeom prst="rect">
            <a:avLst/>
          </a:prstGeom>
          <a:noFill/>
          <a:ln/>
        </p:spPr>
        <p:txBody>
          <a:bodyPr wrap="square" lIns="0" tIns="0" rIns="0" bIns="0" rtlCol="0" anchor="ctr"/>
          <a:lstStyle/>
          <a:p>
            <a:pPr algn="ctr" indent="0" marL="0">
              <a:buNone/>
            </a:pPr>
            <a:r>
              <a:rPr lang="en-US" sz="1185" b="1" dirty="0">
                <a:solidFill>
                  <a:srgbClr val="B35A0F"/>
                </a:solidFill>
                <a:latin typeface="Calibri" pitchFamily="34" charset="0"/>
                <a:ea typeface="Calibri" pitchFamily="34" charset="-122"/>
                <a:cs typeface="Calibri" pitchFamily="34" charset="-120"/>
              </a:rPr>
              <a:t>Transformers: SAM matters for annotation economics (M5), not as the line model.</a:t>
            </a:r>
            <a:endParaRPr lang="en-US" sz="118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Training Mechanics, Losses, and What Metrics Hide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آليات التدريب والخسائر وما تخفيه المقاييس</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75</a:t>
            </a:r>
            <a:endParaRPr lang="en-US" sz="900" dirty="0"/>
          </a:p>
        </p:txBody>
      </p:sp>
      <p:sp>
        <p:nvSpPr>
          <p:cNvPr id="7" name="Shape 4"/>
          <p:cNvSpPr/>
          <p:nvPr/>
        </p:nvSpPr>
        <p:spPr>
          <a:xfrm>
            <a:off x="502920" y="1453896"/>
            <a:ext cx="329184" cy="329184"/>
          </a:xfrm>
          <a:prstGeom prst="ellipse">
            <a:avLst/>
          </a:prstGeom>
          <a:solidFill>
            <a:srgbClr val="00A79D"/>
          </a:solidFill>
          <a:ln/>
        </p:spPr>
      </p:sp>
      <p:sp>
        <p:nvSpPr>
          <p:cNvPr id="8" name="Text 5"/>
          <p:cNvSpPr/>
          <p:nvPr/>
        </p:nvSpPr>
        <p:spPr>
          <a:xfrm>
            <a:off x="502920" y="1453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389888"/>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Polygon labels, new pitfalls</a:t>
            </a:r>
            <a:endParaRPr lang="en-US" sz="1400" dirty="0"/>
          </a:p>
        </p:txBody>
      </p:sp>
      <p:sp>
        <p:nvSpPr>
          <p:cNvPr id="10" name="Text 7"/>
          <p:cNvSpPr/>
          <p:nvPr/>
        </p:nvSpPr>
        <p:spPr>
          <a:xfrm>
            <a:off x="1005840" y="1691640"/>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class x1 y1 x2 y2 ... normalised, one instance per line. New failure modes: self-intersecting polygons and holes — the spec says 'annotate outer boundary; holes ignored'.</a:t>
            </a:r>
            <a:endParaRPr lang="en-US" sz="1150" dirty="0"/>
          </a:p>
        </p:txBody>
      </p:sp>
      <p:sp>
        <p:nvSpPr>
          <p:cNvPr id="11" name="Shape 8"/>
          <p:cNvSpPr/>
          <p:nvPr/>
        </p:nvSpPr>
        <p:spPr>
          <a:xfrm>
            <a:off x="502920" y="2446934"/>
            <a:ext cx="329184" cy="329184"/>
          </a:xfrm>
          <a:prstGeom prst="ellipse">
            <a:avLst/>
          </a:prstGeom>
          <a:solidFill>
            <a:srgbClr val="29ABE2"/>
          </a:solidFill>
          <a:ln/>
        </p:spPr>
      </p:sp>
      <p:sp>
        <p:nvSpPr>
          <p:cNvPr id="12" name="Text 9"/>
          <p:cNvSpPr/>
          <p:nvPr/>
        </p:nvSpPr>
        <p:spPr>
          <a:xfrm>
            <a:off x="502920" y="244693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382926"/>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Dice loss beats BCE at 2% pixels</a:t>
            </a:r>
            <a:endParaRPr lang="en-US" sz="1400" dirty="0"/>
          </a:p>
        </p:txBody>
      </p:sp>
      <p:sp>
        <p:nvSpPr>
          <p:cNvPr id="14" name="Text 11"/>
          <p:cNvSpPr/>
          <p:nvPr/>
        </p:nvSpPr>
        <p:spPr>
          <a:xfrm>
            <a:off x="1005840" y="2684678"/>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Plain BCE reaches 98% pixel accuracy by predicting 'no defect' everywhere; Dice optimises overlap directly, usually summed with BCE.</a:t>
            </a:r>
            <a:endParaRPr lang="en-US" sz="1150" dirty="0"/>
          </a:p>
        </p:txBody>
      </p:sp>
      <p:sp>
        <p:nvSpPr>
          <p:cNvPr id="15" name="Shape 12"/>
          <p:cNvSpPr/>
          <p:nvPr/>
        </p:nvSpPr>
        <p:spPr>
          <a:xfrm>
            <a:off x="502920" y="3439973"/>
            <a:ext cx="329184" cy="329184"/>
          </a:xfrm>
          <a:prstGeom prst="ellipse">
            <a:avLst/>
          </a:prstGeom>
          <a:solidFill>
            <a:srgbClr val="F58220"/>
          </a:solidFill>
          <a:ln/>
        </p:spPr>
      </p:sp>
      <p:sp>
        <p:nvSpPr>
          <p:cNvPr id="16" name="Text 13"/>
          <p:cNvSpPr/>
          <p:nvPr/>
        </p:nvSpPr>
        <p:spPr>
          <a:xfrm>
            <a:off x="502920" y="3439973"/>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375965"/>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Resolution discipline</a:t>
            </a:r>
            <a:endParaRPr lang="en-US" sz="1400" dirty="0"/>
          </a:p>
        </p:txBody>
      </p:sp>
      <p:sp>
        <p:nvSpPr>
          <p:cNvPr id="18" name="Text 15"/>
          <p:cNvSpPr/>
          <p:nvPr/>
        </p:nvSpPr>
        <p:spPr>
          <a:xfrm>
            <a:off x="1005840" y="3677717"/>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3-px skin split at 1280² becomes sub-pixel noise at 320². Train at 640; document the minimum defect width (~6 px) in the model card.</a:t>
            </a:r>
            <a:endParaRPr lang="en-US" sz="1150" dirty="0"/>
          </a:p>
        </p:txBody>
      </p:sp>
      <p:sp>
        <p:nvSpPr>
          <p:cNvPr id="19" name="Shape 16"/>
          <p:cNvSpPr/>
          <p:nvPr/>
        </p:nvSpPr>
        <p:spPr>
          <a:xfrm>
            <a:off x="502920" y="4433011"/>
            <a:ext cx="329184" cy="329184"/>
          </a:xfrm>
          <a:prstGeom prst="ellipse">
            <a:avLst/>
          </a:prstGeom>
          <a:solidFill>
            <a:srgbClr val="8DC63F"/>
          </a:solidFill>
          <a:ln/>
        </p:spPr>
      </p:sp>
      <p:sp>
        <p:nvSpPr>
          <p:cNvPr id="20" name="Text 17"/>
          <p:cNvSpPr/>
          <p:nvPr/>
        </p:nvSpPr>
        <p:spPr>
          <a:xfrm>
            <a:off x="502920" y="4433011"/>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4369003"/>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What mIoU hides</a:t>
            </a:r>
            <a:endParaRPr lang="en-US" sz="1400" dirty="0"/>
          </a:p>
        </p:txBody>
      </p:sp>
      <p:sp>
        <p:nvSpPr>
          <p:cNvPr id="22" name="Text 19"/>
          <p:cNvSpPr/>
          <p:nvPr/>
        </p:nvSpPr>
        <p:spPr>
          <a:xfrm>
            <a:off x="1005840" y="4670755"/>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mask 3 px too fat everywhere scores well yet breaks area measurement by 15% on small defects — add measurement-level tests.</a:t>
            </a:r>
            <a:endParaRPr lang="en-US" sz="1150" dirty="0"/>
          </a:p>
        </p:txBody>
      </p:sp>
      <p:sp>
        <p:nvSpPr>
          <p:cNvPr id="23" name="Shape 20"/>
          <p:cNvSpPr/>
          <p:nvPr/>
        </p:nvSpPr>
        <p:spPr>
          <a:xfrm>
            <a:off x="502920" y="5426050"/>
            <a:ext cx="329184" cy="329184"/>
          </a:xfrm>
          <a:prstGeom prst="ellipse">
            <a:avLst/>
          </a:prstGeom>
          <a:solidFill>
            <a:srgbClr val="1D2A5C"/>
          </a:solidFill>
          <a:ln/>
        </p:spPr>
      </p:sp>
      <p:sp>
        <p:nvSpPr>
          <p:cNvPr id="24" name="Text 21"/>
          <p:cNvSpPr/>
          <p:nvPr/>
        </p:nvSpPr>
        <p:spPr>
          <a:xfrm>
            <a:off x="502920" y="542605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p:nvPr/>
        </p:nvSpPr>
        <p:spPr>
          <a:xfrm>
            <a:off x="1005840" y="5362042"/>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Confidence describes the detection, not the mask</a:t>
            </a:r>
            <a:endParaRPr lang="en-US" sz="1400" dirty="0"/>
          </a:p>
        </p:txBody>
      </p:sp>
      <p:sp>
        <p:nvSpPr>
          <p:cNvPr id="26" name="Text 23"/>
          <p:cNvSpPr/>
          <p:nvPr/>
        </p:nvSpPr>
        <p:spPr>
          <a:xfrm>
            <a:off x="1005840" y="5663794"/>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Low-quality masks on confident detections are a distinct, auditable failure mode.</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From Masks to Measurements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من الأقنعة إلى القياسات</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76</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Where segmentation pilots quietly fail. Every vision measurement embeds an approximation — write it down or it becomes a dispute.</a:t>
            </a:r>
            <a:endParaRPr lang="en-US" sz="1250" dirty="0"/>
          </a:p>
        </p:txBody>
      </p:sp>
      <p:sp>
        <p:nvSpPr>
          <p:cNvPr id="8" name="Shape 5"/>
          <p:cNvSpPr/>
          <p:nvPr/>
        </p:nvSpPr>
        <p:spPr>
          <a:xfrm>
            <a:off x="502920" y="3118104"/>
            <a:ext cx="2508428"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Attribution</a:t>
            </a:r>
            <a:endParaRPr lang="en-US" sz="1250" dirty="0"/>
          </a:p>
        </p:txBody>
      </p:sp>
      <p:sp>
        <p:nvSpPr>
          <p:cNvPr id="10" name="Text 7"/>
          <p:cNvSpPr/>
          <p:nvPr/>
        </p:nvSpPr>
        <p:spPr>
          <a:xfrm>
            <a:off x="576072"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defect ∩ fruit, majority-overlap rule</a:t>
            </a:r>
            <a:endParaRPr lang="en-US" sz="950" dirty="0"/>
          </a:p>
        </p:txBody>
      </p:sp>
      <p:sp>
        <p:nvSpPr>
          <p:cNvPr id="11" name="Shape 8"/>
          <p:cNvSpPr/>
          <p:nvPr/>
        </p:nvSpPr>
        <p:spPr>
          <a:xfrm>
            <a:off x="3066212" y="3803904"/>
            <a:ext cx="274320" cy="0"/>
          </a:xfrm>
          <a:prstGeom prst="line">
            <a:avLst/>
          </a:prstGeom>
          <a:noFill/>
          <a:ln w="19050">
            <a:solidFill>
              <a:srgbClr val="8A96A6"/>
            </a:solidFill>
            <a:prstDash val="solid"/>
            <a:headEnd type="none"/>
            <a:tailEnd type="triangle"/>
          </a:ln>
        </p:spPr>
      </p:sp>
      <p:sp>
        <p:nvSpPr>
          <p:cNvPr id="12" name="Shape 9"/>
          <p:cNvSpPr/>
          <p:nvPr/>
        </p:nvSpPr>
        <p:spPr>
          <a:xfrm>
            <a:off x="3395396" y="3118104"/>
            <a:ext cx="2508428" cy="1371600"/>
          </a:xfrm>
          <a:prstGeom prst="roundRect">
            <a:avLst>
              <a:gd name="adj" fmla="val 4667"/>
            </a:avLst>
          </a:prstGeom>
          <a:solidFill>
            <a:srgbClr val="F2F6F9"/>
          </a:solidFill>
          <a:ln w="15875">
            <a:solidFill>
              <a:srgbClr val="00A79D"/>
            </a:solidFill>
            <a:prstDash val="solid"/>
          </a:ln>
        </p:spPr>
      </p:sp>
      <p:sp>
        <p:nvSpPr>
          <p:cNvPr id="13" name="Text 10"/>
          <p:cNvSpPr/>
          <p:nvPr/>
        </p:nvSpPr>
        <p:spPr>
          <a:xfrm>
            <a:off x="3468548"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Area ratio %</a:t>
            </a:r>
            <a:endParaRPr lang="en-US" sz="1250" dirty="0"/>
          </a:p>
        </p:txBody>
      </p:sp>
      <p:sp>
        <p:nvSpPr>
          <p:cNvPr id="14" name="Text 11"/>
          <p:cNvSpPr/>
          <p:nvPr/>
        </p:nvSpPr>
        <p:spPr>
          <a:xfrm>
            <a:off x="3468548"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scale-free — no calibration needed</a:t>
            </a:r>
            <a:endParaRPr lang="en-US" sz="950" dirty="0"/>
          </a:p>
        </p:txBody>
      </p:sp>
      <p:sp>
        <p:nvSpPr>
          <p:cNvPr id="15" name="Shape 12"/>
          <p:cNvSpPr/>
          <p:nvPr/>
        </p:nvSpPr>
        <p:spPr>
          <a:xfrm>
            <a:off x="5958688" y="3803904"/>
            <a:ext cx="274320" cy="0"/>
          </a:xfrm>
          <a:prstGeom prst="line">
            <a:avLst/>
          </a:prstGeom>
          <a:noFill/>
          <a:ln w="19050">
            <a:solidFill>
              <a:srgbClr val="8A96A6"/>
            </a:solidFill>
            <a:prstDash val="solid"/>
            <a:headEnd type="none"/>
            <a:tailEnd type="triangle"/>
          </a:ln>
        </p:spPr>
      </p:sp>
      <p:sp>
        <p:nvSpPr>
          <p:cNvPr id="16" name="Shape 13"/>
          <p:cNvSpPr/>
          <p:nvPr/>
        </p:nvSpPr>
        <p:spPr>
          <a:xfrm>
            <a:off x="6287872" y="3118104"/>
            <a:ext cx="2508428" cy="1371600"/>
          </a:xfrm>
          <a:prstGeom prst="roundRect">
            <a:avLst>
              <a:gd name="adj" fmla="val 4667"/>
            </a:avLst>
          </a:prstGeom>
          <a:solidFill>
            <a:srgbClr val="F2F6F9"/>
          </a:solidFill>
          <a:ln w="15875">
            <a:solidFill>
              <a:srgbClr val="00A79D"/>
            </a:solidFill>
            <a:prstDash val="solid"/>
          </a:ln>
        </p:spPr>
      </p:sp>
      <p:sp>
        <p:nvSpPr>
          <p:cNvPr id="17" name="Text 14"/>
          <p:cNvSpPr/>
          <p:nvPr/>
        </p:nvSpPr>
        <p:spPr>
          <a:xfrm>
            <a:off x="6361024"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Absolute m²</a:t>
            </a:r>
            <a:endParaRPr lang="en-US" sz="1250" dirty="0"/>
          </a:p>
        </p:txBody>
      </p:sp>
      <p:sp>
        <p:nvSpPr>
          <p:cNvPr id="18" name="Text 15"/>
          <p:cNvSpPr/>
          <p:nvPr/>
        </p:nvSpPr>
        <p:spPr>
          <a:xfrm>
            <a:off x="6361024"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needs pixel→mm calibration + error bound</a:t>
            </a:r>
            <a:endParaRPr lang="en-US" sz="950" dirty="0"/>
          </a:p>
        </p:txBody>
      </p:sp>
      <p:sp>
        <p:nvSpPr>
          <p:cNvPr id="19" name="Shape 16"/>
          <p:cNvSpPr/>
          <p:nvPr/>
        </p:nvSpPr>
        <p:spPr>
          <a:xfrm>
            <a:off x="8851163" y="3803904"/>
            <a:ext cx="274320" cy="0"/>
          </a:xfrm>
          <a:prstGeom prst="line">
            <a:avLst/>
          </a:prstGeom>
          <a:noFill/>
          <a:ln w="19050">
            <a:solidFill>
              <a:srgbClr val="8A96A6"/>
            </a:solidFill>
            <a:prstDash val="solid"/>
            <a:headEnd type="none"/>
            <a:tailEnd type="triangle"/>
          </a:ln>
        </p:spPr>
      </p:sp>
      <p:sp>
        <p:nvSpPr>
          <p:cNvPr id="20" name="Shape 17"/>
          <p:cNvSpPr/>
          <p:nvPr/>
        </p:nvSpPr>
        <p:spPr>
          <a:xfrm>
            <a:off x="7542086" y="4489704"/>
            <a:ext cx="0" cy="274320"/>
          </a:xfrm>
          <a:prstGeom prst="line">
            <a:avLst/>
          </a:prstGeom>
          <a:noFill/>
          <a:ln w="15875">
            <a:solidFill>
              <a:srgbClr val="E8503A"/>
            </a:solidFill>
            <a:prstDash val="dash"/>
          </a:ln>
        </p:spPr>
      </p:sp>
      <p:sp>
        <p:nvSpPr>
          <p:cNvPr id="21" name="Shape 18"/>
          <p:cNvSpPr/>
          <p:nvPr/>
        </p:nvSpPr>
        <p:spPr>
          <a:xfrm>
            <a:off x="6242152" y="4764024"/>
            <a:ext cx="2599868" cy="475488"/>
          </a:xfrm>
          <a:prstGeom prst="roundRect">
            <a:avLst>
              <a:gd name="adj" fmla="val 11538"/>
            </a:avLst>
          </a:prstGeom>
          <a:solidFill>
            <a:srgbClr val="FDEDEA"/>
          </a:solidFill>
          <a:ln w="12700">
            <a:solidFill>
              <a:srgbClr val="E8503A"/>
            </a:solidFill>
            <a:prstDash val="solid"/>
          </a:ln>
        </p:spPr>
      </p:sp>
      <p:sp>
        <p:nvSpPr>
          <p:cNvPr id="22" name="Text 19"/>
          <p:cNvSpPr/>
          <p:nvPr/>
        </p:nvSpPr>
        <p:spPr>
          <a:xfrm>
            <a:off x="6287872" y="4764024"/>
            <a:ext cx="2508428"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any camera move triggers recalibration</a:t>
            </a:r>
            <a:endParaRPr lang="en-US" sz="950" dirty="0"/>
          </a:p>
        </p:txBody>
      </p:sp>
      <p:sp>
        <p:nvSpPr>
          <p:cNvPr id="23" name="Shape 20"/>
          <p:cNvSpPr/>
          <p:nvPr/>
        </p:nvSpPr>
        <p:spPr>
          <a:xfrm>
            <a:off x="9180347" y="3118104"/>
            <a:ext cx="2508428" cy="1371600"/>
          </a:xfrm>
          <a:prstGeom prst="roundRect">
            <a:avLst>
              <a:gd name="adj" fmla="val 4667"/>
            </a:avLst>
          </a:prstGeom>
          <a:solidFill>
            <a:srgbClr val="1D2A5C"/>
          </a:solidFill>
          <a:ln w="15875">
            <a:solidFill>
              <a:srgbClr val="00A79D"/>
            </a:solidFill>
            <a:prstDash val="solid"/>
          </a:ln>
        </p:spPr>
      </p:sp>
      <p:sp>
        <p:nvSpPr>
          <p:cNvPr id="24" name="Text 21"/>
          <p:cNvSpPr/>
          <p:nvPr/>
        </p:nvSpPr>
        <p:spPr>
          <a:xfrm>
            <a:off x="9253499" y="3172968"/>
            <a:ext cx="2362124"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Grading decision</a:t>
            </a:r>
            <a:endParaRPr lang="en-US" sz="1250" dirty="0"/>
          </a:p>
        </p:txBody>
      </p:sp>
      <p:sp>
        <p:nvSpPr>
          <p:cNvPr id="25" name="Text 22"/>
          <p:cNvSpPr/>
          <p:nvPr/>
        </p:nvSpPr>
        <p:spPr>
          <a:xfrm>
            <a:off x="9253499" y="3776472"/>
            <a:ext cx="2362124"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reject if total defect &gt; 8% visible</a:t>
            </a:r>
            <a:endParaRPr lang="en-US" sz="950" dirty="0"/>
          </a:p>
        </p:txBody>
      </p:sp>
      <p:sp>
        <p:nvSpPr>
          <p:cNvPr id="26" name="Shape 23"/>
          <p:cNvSpPr/>
          <p:nvPr/>
        </p:nvSpPr>
        <p:spPr>
          <a:xfrm>
            <a:off x="10434561" y="4489704"/>
            <a:ext cx="0" cy="274320"/>
          </a:xfrm>
          <a:prstGeom prst="line">
            <a:avLst/>
          </a:prstGeom>
          <a:noFill/>
          <a:ln w="15875">
            <a:solidFill>
              <a:srgbClr val="E8503A"/>
            </a:solidFill>
            <a:prstDash val="dash"/>
          </a:ln>
        </p:spPr>
      </p:sp>
      <p:sp>
        <p:nvSpPr>
          <p:cNvPr id="27" name="Shape 24"/>
          <p:cNvSpPr/>
          <p:nvPr/>
        </p:nvSpPr>
        <p:spPr>
          <a:xfrm>
            <a:off x="9134627" y="4764024"/>
            <a:ext cx="2599868" cy="475488"/>
          </a:xfrm>
          <a:prstGeom prst="roundRect">
            <a:avLst>
              <a:gd name="adj" fmla="val 11538"/>
            </a:avLst>
          </a:prstGeom>
          <a:solidFill>
            <a:srgbClr val="FDEDEA"/>
          </a:solidFill>
          <a:ln w="12700">
            <a:solidFill>
              <a:srgbClr val="E8503A"/>
            </a:solidFill>
            <a:prstDash val="solid"/>
          </a:ln>
        </p:spPr>
      </p:sp>
      <p:sp>
        <p:nvSpPr>
          <p:cNvPr id="28" name="Text 25"/>
          <p:cNvSpPr/>
          <p:nvPr/>
        </p:nvSpPr>
        <p:spPr>
          <a:xfrm>
            <a:off x="9180347" y="4764024"/>
            <a:ext cx="2508428" cy="475488"/>
          </a:xfrm>
          <a:prstGeom prst="rect">
            <a:avLst/>
          </a:prstGeom>
          <a:noFill/>
          <a:ln/>
        </p:spPr>
        <p:txBody>
          <a:bodyPr wrap="square" lIns="0" tIns="0" rIns="0" bIns="0" rtlCol="0" anchor="ctr"/>
          <a:lstStyle/>
          <a:p>
            <a:pPr algn="ctr" indent="0" marL="0">
              <a:buNone/>
            </a:pPr>
            <a:r>
              <a:rPr lang="en-US" sz="857" b="1" dirty="0">
                <a:solidFill>
                  <a:srgbClr val="E8503A"/>
                </a:solidFill>
                <a:latin typeface="Calibri" pitchFamily="34" charset="0"/>
                <a:ea typeface="Calibri" pitchFamily="34" charset="-122"/>
                <a:cs typeface="Calibri" pitchFamily="34" charset="-120"/>
              </a:rPr>
              <a:t>'8% of visible surface, single view' — a signed approximation</a:t>
            </a:r>
            <a:endParaRPr lang="en-US" sz="857"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Common Mistakes and Their Defences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الأخطاء الشائعة ودفاعاتها</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77</a:t>
            </a:r>
            <a:endParaRPr lang="en-US" sz="9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668227"/>
                <a:gridCol w="3758814"/>
                <a:gridCol w="3758814"/>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Mistake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Consequence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Defence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Pixel accuracy on imbalanced masks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98% by predicting nothing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mIoU or Dice, always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Box area as a proxy for defect area</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Overstates crescent defects 2–4×</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Masks — the module's money argument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Downsampling until thin defects vanish</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Model blamed for a resolution decision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Check minimum-feature-width survival first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No boundary rules in the annotation spec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Boundary noise no model can learn through</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Write the rule; measure annotator IoU (M5)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Holes / multi-part instances undecided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Converter behaviour undefined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Decide, document, enforce in the converter</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No calibration governance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 camera bumped 5 cm changes every invoice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Calibration checks in the runbook (M7)</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Training the Surface-Defect Segmenter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تدريب مجزئ عيوب السطح</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78</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128723"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scripts/train_segmenter.py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ultralytics import YOLO</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model = YOLO("yolo11s-seg.pt")           # COCO-seg pre-trained</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model.train(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data="data/dates-seg/dates-seg.yaml",  # fruit + 5 defects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epochs=40, imgsz=640, batch=12,       # masks cost VRAM: 12 not 16</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patience=10, close_mosaic=10, copy_paste=0.3,</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degrees=180, flipud=0.5, fliplr=0.5,</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project="runs/seg", name="defect_y11s_seg",</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seed=212, deterministic=True,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m = model.val(split="test")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print(f"box mAP@0.5={m.box.map50:.3f}")</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print(f"MASK mAP@0.5={m.seg.map50:.3f}")</a:t>
            </a:r>
            <a:endParaRPr lang="en-US" sz="9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Same workflow as M3</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Segmentation adds masks to the head, not complexity to your day</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batch=12, not 16</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Prototype masks cost VRAM; on 8 GB drop batch before sacrificing imgsz</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copy_paste=0.3</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Stronger for segmentation — masked instances composite cleanly</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Read m.seg, not m.box</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Mask mAP equal to box mAP exactly means you evaluated boxes twice</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Business Number: Defect Area per Fruit</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الرقم التجاري: مساحة العيب لكل ثمرة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79</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414016"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src/tamr_vision/seg/measure.py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DEFECT_CLASSES = {"mould", "skin_split",</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"insect_damage", "sugaring"}</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def defect_area_report(result) -&gt; list[dict]:</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names = result.names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masks = result.masks.data.cpu().numpy().astype(bool)</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classes = [names[int(c)] for c in result.boxes.cls]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fruit = [i for i, c in enumerate(classes) if c == "fruit"]</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defects = [i for i, c in enumerate(classes)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if c in DEFECT_CLASSES]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report =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for fi in fruit:</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fruit_px = masks[fi].sum()</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if fruit_px == 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continue          # degenerate mask: log upstream</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areas = {c: 0.0 for c in DEFECT_CLASSES}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for di in defects: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overlap = (masks[di] &amp; masks[fi]).sum()</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if overlap / max(masks[di].sum(), 1) &gt;= 0.5:</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areas[classes[di]] += overlap / fruit_px</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report.append({"fruit_id": fi, "total_defect_pct":</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round(100 * sum(areas.values()), 2)})</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return report   # downstream rule: reject if total &gt; 8.0</a:t>
            </a:r>
            <a:endParaRPr lang="en-US" sz="10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The business number</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Defect-area % per fruit is what the grading standard references — not mAP</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Majority-overlap rule</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A defect belongs to the fruit holding ≥ 50% of its pixels; ties logged</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Ratios are scale-free</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No pixel-to-mm calibration — why the rule was negotiated as a percentage</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Threshold lives in config</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The 8% rule is applied downstream, never hard-coded in measure.py</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4 — Segment Surface Defects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المختبر 4 — تجزئة عيوب السطح</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80</a:t>
            </a:r>
            <a:endParaRPr lang="en-US" sz="900" dirty="0"/>
          </a:p>
        </p:txBody>
      </p:sp>
      <p:sp>
        <p:nvSpPr>
          <p:cNvPr id="7" name="Shape 4"/>
          <p:cNvSpPr/>
          <p:nvPr/>
        </p:nvSpPr>
        <p:spPr>
          <a:xfrm>
            <a:off x="502920" y="1389888"/>
            <a:ext cx="5806440" cy="932688"/>
          </a:xfrm>
          <a:prstGeom prst="roundRect">
            <a:avLst>
              <a:gd name="adj" fmla="val 7843"/>
            </a:avLst>
          </a:prstGeom>
          <a:solidFill>
            <a:srgbClr val="E9F6F5"/>
          </a:solidFill>
          <a:ln w="12700">
            <a:solidFill>
              <a:srgbClr val="00A79D"/>
            </a:solidFill>
            <a:prstDash val="solid"/>
          </a:ln>
        </p:spPr>
      </p:sp>
      <p:sp>
        <p:nvSpPr>
          <p:cNvPr id="8" name="Text 5"/>
          <p:cNvSpPr/>
          <p:nvPr/>
        </p:nvSpPr>
        <p:spPr>
          <a:xfrm>
            <a:off x="649224" y="1463040"/>
            <a:ext cx="553212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OBJECTIVE</a:t>
            </a:r>
            <a:endParaRPr lang="en-US" sz="900" dirty="0"/>
          </a:p>
        </p:txBody>
      </p:sp>
      <p:sp>
        <p:nvSpPr>
          <p:cNvPr id="9" name="Text 6"/>
          <p:cNvSpPr/>
          <p:nvPr/>
        </p:nvSpPr>
        <p:spPr>
          <a:xfrm>
            <a:off x="649224" y="1682496"/>
            <a:ext cx="553212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Train YOLO11s-seg on the polygon set, reach mask mAP@0.5 ≥ 0.80, and produce a per-fruit area report with quantified error</a:t>
            </a:r>
            <a:endParaRPr lang="en-US" sz="1050" dirty="0"/>
          </a:p>
        </p:txBody>
      </p:sp>
      <p:sp>
        <p:nvSpPr>
          <p:cNvPr id="10" name="Shape 7"/>
          <p:cNvSpPr/>
          <p:nvPr/>
        </p:nvSpPr>
        <p:spPr>
          <a:xfrm>
            <a:off x="6510528" y="1389888"/>
            <a:ext cx="1600200" cy="932688"/>
          </a:xfrm>
          <a:prstGeom prst="roundRect">
            <a:avLst>
              <a:gd name="adj" fmla="val 7843"/>
            </a:avLst>
          </a:prstGeom>
          <a:solidFill>
            <a:srgbClr val="F2F6F9"/>
          </a:solidFill>
          <a:ln w="12700">
            <a:solidFill>
              <a:srgbClr val="D9E2EA"/>
            </a:solidFill>
            <a:prstDash val="solid"/>
          </a:ln>
        </p:spPr>
      </p:sp>
      <p:sp>
        <p:nvSpPr>
          <p:cNvPr id="11" name="Text 8"/>
          <p:cNvSpPr/>
          <p:nvPr/>
        </p:nvSpPr>
        <p:spPr>
          <a:xfrm>
            <a:off x="6656832" y="1463040"/>
            <a:ext cx="132588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DURATION</a:t>
            </a:r>
            <a:endParaRPr lang="en-US" sz="900" dirty="0"/>
          </a:p>
        </p:txBody>
      </p:sp>
      <p:sp>
        <p:nvSpPr>
          <p:cNvPr id="12" name="Text 9"/>
          <p:cNvSpPr/>
          <p:nvPr/>
        </p:nvSpPr>
        <p:spPr>
          <a:xfrm>
            <a:off x="6656832" y="1682496"/>
            <a:ext cx="132588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50 minutes</a:t>
            </a:r>
            <a:endParaRPr lang="en-US" sz="1050" dirty="0"/>
          </a:p>
        </p:txBody>
      </p:sp>
      <p:sp>
        <p:nvSpPr>
          <p:cNvPr id="13" name="Shape 10"/>
          <p:cNvSpPr/>
          <p:nvPr/>
        </p:nvSpPr>
        <p:spPr>
          <a:xfrm>
            <a:off x="8311896" y="1389888"/>
            <a:ext cx="3383280" cy="932688"/>
          </a:xfrm>
          <a:prstGeom prst="roundRect">
            <a:avLst>
              <a:gd name="adj" fmla="val 7843"/>
            </a:avLst>
          </a:prstGeom>
          <a:solidFill>
            <a:srgbClr val="F2F6F9"/>
          </a:solidFill>
          <a:ln w="12700">
            <a:solidFill>
              <a:srgbClr val="D9E2EA"/>
            </a:solidFill>
            <a:prstDash val="solid"/>
          </a:ln>
        </p:spPr>
      </p:sp>
      <p:sp>
        <p:nvSpPr>
          <p:cNvPr id="14" name="Text 11"/>
          <p:cNvSpPr/>
          <p:nvPr/>
        </p:nvSpPr>
        <p:spPr>
          <a:xfrm>
            <a:off x="8458200" y="1463040"/>
            <a:ext cx="310896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SETUP</a:t>
            </a:r>
            <a:endParaRPr lang="en-US" sz="900" dirty="0"/>
          </a:p>
        </p:txBody>
      </p:sp>
      <p:sp>
        <p:nvSpPr>
          <p:cNvPr id="15" name="Text 12"/>
          <p:cNvSpPr/>
          <p:nvPr/>
        </p:nvSpPr>
        <p:spPr>
          <a:xfrm>
            <a:off x="8458200" y="1682496"/>
            <a:ext cx="310896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git checkout lab4-start; dates-seg extracted; GPU (CPU: lab4-best.pt)</a:t>
            </a:r>
            <a:endParaRPr lang="en-US" sz="1050" dirty="0"/>
          </a:p>
        </p:txBody>
      </p:sp>
      <p:sp>
        <p:nvSpPr>
          <p:cNvPr id="16" name="Shape 13"/>
          <p:cNvSpPr/>
          <p:nvPr/>
        </p:nvSpPr>
        <p:spPr>
          <a:xfrm>
            <a:off x="502920" y="2661666"/>
            <a:ext cx="274320" cy="274320"/>
          </a:xfrm>
          <a:prstGeom prst="ellipse">
            <a:avLst/>
          </a:prstGeom>
          <a:solidFill>
            <a:srgbClr val="1D2A5C"/>
          </a:solidFill>
          <a:ln/>
        </p:spPr>
      </p:sp>
      <p:sp>
        <p:nvSpPr>
          <p:cNvPr id="17" name="Text 14"/>
          <p:cNvSpPr/>
          <p:nvPr/>
        </p:nvSpPr>
        <p:spPr>
          <a:xfrm>
            <a:off x="502920" y="26616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Shape 15"/>
          <p:cNvSpPr/>
          <p:nvPr/>
        </p:nvSpPr>
        <p:spPr>
          <a:xfrm>
            <a:off x="886968" y="2661666"/>
            <a:ext cx="658368" cy="274320"/>
          </a:xfrm>
          <a:prstGeom prst="roundRect">
            <a:avLst>
              <a:gd name="adj" fmla="val 50000"/>
            </a:avLst>
          </a:prstGeom>
          <a:solidFill>
            <a:srgbClr val="E9F6F5"/>
          </a:solidFill>
          <a:ln w="9525">
            <a:solidFill>
              <a:srgbClr val="00A79D"/>
            </a:solidFill>
            <a:prstDash val="solid"/>
          </a:ln>
        </p:spPr>
      </p:sp>
      <p:sp>
        <p:nvSpPr>
          <p:cNvPr id="19" name="Text 16"/>
          <p:cNvSpPr/>
          <p:nvPr/>
        </p:nvSpPr>
        <p:spPr>
          <a:xfrm>
            <a:off x="886968" y="266166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5 min</a:t>
            </a:r>
            <a:endParaRPr lang="en-US" sz="900" dirty="0"/>
          </a:p>
        </p:txBody>
      </p:sp>
      <p:sp>
        <p:nvSpPr>
          <p:cNvPr id="20" name="Text 17"/>
          <p:cNvSpPr/>
          <p:nvPr/>
        </p:nvSpPr>
        <p:spPr>
          <a:xfrm>
            <a:off x="1673352" y="252374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Inspect 3 annotated frames; find the mask-holes rule in ANNOTATION_SPEC.md §4</a:t>
            </a:r>
            <a:endParaRPr lang="en-US" sz="1150" dirty="0"/>
          </a:p>
        </p:txBody>
      </p:sp>
      <p:sp>
        <p:nvSpPr>
          <p:cNvPr id="21" name="Shape 18"/>
          <p:cNvSpPr/>
          <p:nvPr/>
        </p:nvSpPr>
        <p:spPr>
          <a:xfrm>
            <a:off x="502920" y="3303270"/>
            <a:ext cx="274320" cy="274320"/>
          </a:xfrm>
          <a:prstGeom prst="ellipse">
            <a:avLst/>
          </a:prstGeom>
          <a:solidFill>
            <a:srgbClr val="1D2A5C"/>
          </a:solidFill>
          <a:ln/>
        </p:spPr>
      </p:sp>
      <p:sp>
        <p:nvSpPr>
          <p:cNvPr id="22" name="Text 19"/>
          <p:cNvSpPr/>
          <p:nvPr/>
        </p:nvSpPr>
        <p:spPr>
          <a:xfrm>
            <a:off x="502920" y="33032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Shape 20"/>
          <p:cNvSpPr/>
          <p:nvPr/>
        </p:nvSpPr>
        <p:spPr>
          <a:xfrm>
            <a:off x="886968" y="3303270"/>
            <a:ext cx="658368" cy="274320"/>
          </a:xfrm>
          <a:prstGeom prst="roundRect">
            <a:avLst>
              <a:gd name="adj" fmla="val 50000"/>
            </a:avLst>
          </a:prstGeom>
          <a:solidFill>
            <a:srgbClr val="E9F6F5"/>
          </a:solidFill>
          <a:ln w="9525">
            <a:solidFill>
              <a:srgbClr val="00A79D"/>
            </a:solidFill>
            <a:prstDash val="solid"/>
          </a:ln>
        </p:spPr>
      </p:sp>
      <p:sp>
        <p:nvSpPr>
          <p:cNvPr id="24" name="Text 21"/>
          <p:cNvSpPr/>
          <p:nvPr/>
        </p:nvSpPr>
        <p:spPr>
          <a:xfrm>
            <a:off x="886968" y="3303270"/>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15 min</a:t>
            </a:r>
            <a:endParaRPr lang="en-US" sz="900" dirty="0"/>
          </a:p>
        </p:txBody>
      </p:sp>
      <p:sp>
        <p:nvSpPr>
          <p:cNvPr id="25" name="Text 22"/>
          <p:cNvSpPr/>
          <p:nvPr/>
        </p:nvSpPr>
        <p:spPr>
          <a:xfrm>
            <a:off x="1673352" y="3165348"/>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Train per train_segmenter.py; hand-compute IoU on the 8×8 toy masks meanwhile</a:t>
            </a:r>
            <a:endParaRPr lang="en-US" sz="1150" dirty="0"/>
          </a:p>
        </p:txBody>
      </p:sp>
      <p:sp>
        <p:nvSpPr>
          <p:cNvPr id="26" name="Shape 23"/>
          <p:cNvSpPr/>
          <p:nvPr/>
        </p:nvSpPr>
        <p:spPr>
          <a:xfrm>
            <a:off x="502920" y="3944874"/>
            <a:ext cx="274320" cy="274320"/>
          </a:xfrm>
          <a:prstGeom prst="ellipse">
            <a:avLst/>
          </a:prstGeom>
          <a:solidFill>
            <a:srgbClr val="1D2A5C"/>
          </a:solidFill>
          <a:ln/>
        </p:spPr>
      </p:sp>
      <p:sp>
        <p:nvSpPr>
          <p:cNvPr id="27" name="Text 24"/>
          <p:cNvSpPr/>
          <p:nvPr/>
        </p:nvSpPr>
        <p:spPr>
          <a:xfrm>
            <a:off x="502920" y="39448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5"/>
          <p:cNvSpPr/>
          <p:nvPr/>
        </p:nvSpPr>
        <p:spPr>
          <a:xfrm>
            <a:off x="886968" y="3944874"/>
            <a:ext cx="658368" cy="274320"/>
          </a:xfrm>
          <a:prstGeom prst="roundRect">
            <a:avLst>
              <a:gd name="adj" fmla="val 50000"/>
            </a:avLst>
          </a:prstGeom>
          <a:solidFill>
            <a:srgbClr val="E9F6F5"/>
          </a:solidFill>
          <a:ln w="9525">
            <a:solidFill>
              <a:srgbClr val="00A79D"/>
            </a:solidFill>
            <a:prstDash val="solid"/>
          </a:ln>
        </p:spPr>
      </p:sp>
      <p:sp>
        <p:nvSpPr>
          <p:cNvPr id="29" name="Text 26"/>
          <p:cNvSpPr/>
          <p:nvPr/>
        </p:nvSpPr>
        <p:spPr>
          <a:xfrm>
            <a:off x="886968" y="3944874"/>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30" name="Text 27"/>
          <p:cNvSpPr/>
          <p:nvPr/>
        </p:nvSpPr>
        <p:spPr>
          <a:xfrm>
            <a:off x="1673352" y="3806952"/>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Validate: record box AND mask mAP@0.5 per class; explain the biggest gap</a:t>
            </a:r>
            <a:endParaRPr lang="en-US" sz="1150" dirty="0"/>
          </a:p>
        </p:txBody>
      </p:sp>
      <p:sp>
        <p:nvSpPr>
          <p:cNvPr id="31" name="Shape 28"/>
          <p:cNvSpPr/>
          <p:nvPr/>
        </p:nvSpPr>
        <p:spPr>
          <a:xfrm>
            <a:off x="502920" y="4586478"/>
            <a:ext cx="274320" cy="274320"/>
          </a:xfrm>
          <a:prstGeom prst="ellipse">
            <a:avLst/>
          </a:prstGeom>
          <a:solidFill>
            <a:srgbClr val="1D2A5C"/>
          </a:solidFill>
          <a:ln/>
        </p:spPr>
      </p:sp>
      <p:sp>
        <p:nvSpPr>
          <p:cNvPr id="32" name="Text 29"/>
          <p:cNvSpPr/>
          <p:nvPr/>
        </p:nvSpPr>
        <p:spPr>
          <a:xfrm>
            <a:off x="502920" y="458647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Shape 30"/>
          <p:cNvSpPr/>
          <p:nvPr/>
        </p:nvSpPr>
        <p:spPr>
          <a:xfrm>
            <a:off x="886968" y="4586478"/>
            <a:ext cx="658368" cy="274320"/>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886968" y="4586478"/>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12 min</a:t>
            </a:r>
            <a:endParaRPr lang="en-US" sz="900" dirty="0"/>
          </a:p>
        </p:txBody>
      </p:sp>
      <p:sp>
        <p:nvSpPr>
          <p:cNvPr id="35" name="Text 32"/>
          <p:cNvSpPr/>
          <p:nvPr/>
        </p:nvSpPr>
        <p:spPr>
          <a:xfrm>
            <a:off x="1673352" y="4448556"/>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Implement majority-overlap in measure.py; record MAE + grading-disagreement rate</a:t>
            </a:r>
            <a:endParaRPr lang="en-US" sz="1150" dirty="0"/>
          </a:p>
        </p:txBody>
      </p:sp>
      <p:sp>
        <p:nvSpPr>
          <p:cNvPr id="36" name="Shape 33"/>
          <p:cNvSpPr/>
          <p:nvPr/>
        </p:nvSpPr>
        <p:spPr>
          <a:xfrm>
            <a:off x="502920" y="5228082"/>
            <a:ext cx="274320" cy="274320"/>
          </a:xfrm>
          <a:prstGeom prst="ellipse">
            <a:avLst/>
          </a:prstGeom>
          <a:solidFill>
            <a:srgbClr val="1D2A5C"/>
          </a:solidFill>
          <a:ln/>
        </p:spPr>
      </p:sp>
      <p:sp>
        <p:nvSpPr>
          <p:cNvPr id="37" name="Text 34"/>
          <p:cNvSpPr/>
          <p:nvPr/>
        </p:nvSpPr>
        <p:spPr>
          <a:xfrm>
            <a:off x="502920" y="52280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Shape 35"/>
          <p:cNvSpPr/>
          <p:nvPr/>
        </p:nvSpPr>
        <p:spPr>
          <a:xfrm>
            <a:off x="886968" y="5228082"/>
            <a:ext cx="658368" cy="274320"/>
          </a:xfrm>
          <a:prstGeom prst="roundRect">
            <a:avLst>
              <a:gd name="adj" fmla="val 50000"/>
            </a:avLst>
          </a:prstGeom>
          <a:solidFill>
            <a:srgbClr val="E9F6F5"/>
          </a:solidFill>
          <a:ln w="9525">
            <a:solidFill>
              <a:srgbClr val="00A79D"/>
            </a:solidFill>
            <a:prstDash val="solid"/>
          </a:ln>
        </p:spPr>
      </p:sp>
      <p:sp>
        <p:nvSpPr>
          <p:cNvPr id="39" name="Text 36"/>
          <p:cNvSpPr/>
          <p:nvPr/>
        </p:nvSpPr>
        <p:spPr>
          <a:xfrm>
            <a:off x="886968" y="5228082"/>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40" name="Text 37"/>
          <p:cNvSpPr/>
          <p:nvPr/>
        </p:nvSpPr>
        <p:spPr>
          <a:xfrm>
            <a:off x="1673352" y="5090160"/>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Render 12 overlays; find a fruit where box flips the grading decision, mask does not</a:t>
            </a:r>
            <a:endParaRPr lang="en-US" sz="1150" dirty="0"/>
          </a:p>
        </p:txBody>
      </p:sp>
      <p:sp>
        <p:nvSpPr>
          <p:cNvPr id="41" name="Shape 38"/>
          <p:cNvSpPr/>
          <p:nvPr/>
        </p:nvSpPr>
        <p:spPr>
          <a:xfrm>
            <a:off x="502920" y="5869686"/>
            <a:ext cx="274320" cy="274320"/>
          </a:xfrm>
          <a:prstGeom prst="ellipse">
            <a:avLst/>
          </a:prstGeom>
          <a:solidFill>
            <a:srgbClr val="1D2A5C"/>
          </a:solidFill>
          <a:ln/>
        </p:spPr>
      </p:sp>
      <p:sp>
        <p:nvSpPr>
          <p:cNvPr id="42" name="Text 39"/>
          <p:cNvSpPr/>
          <p:nvPr/>
        </p:nvSpPr>
        <p:spPr>
          <a:xfrm>
            <a:off x="502920" y="58696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3" name="Shape 40"/>
          <p:cNvSpPr/>
          <p:nvPr/>
        </p:nvSpPr>
        <p:spPr>
          <a:xfrm>
            <a:off x="886968" y="5869686"/>
            <a:ext cx="658368" cy="274320"/>
          </a:xfrm>
          <a:prstGeom prst="roundRect">
            <a:avLst>
              <a:gd name="adj" fmla="val 50000"/>
            </a:avLst>
          </a:prstGeom>
          <a:solidFill>
            <a:srgbClr val="E9F6F5"/>
          </a:solidFill>
          <a:ln w="9525">
            <a:solidFill>
              <a:srgbClr val="00A79D"/>
            </a:solidFill>
            <a:prstDash val="solid"/>
          </a:ln>
        </p:spPr>
      </p:sp>
      <p:sp>
        <p:nvSpPr>
          <p:cNvPr id="44" name="Text 41"/>
          <p:cNvSpPr/>
          <p:nvPr/>
        </p:nvSpPr>
        <p:spPr>
          <a:xfrm>
            <a:off x="886968" y="586968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2 min</a:t>
            </a:r>
            <a:endParaRPr lang="en-US" sz="900" dirty="0"/>
          </a:p>
        </p:txBody>
      </p:sp>
      <p:sp>
        <p:nvSpPr>
          <p:cNvPr id="45" name="Text 42"/>
          <p:cNvSpPr/>
          <p:nvPr/>
        </p:nvSpPr>
        <p:spPr>
          <a:xfrm>
            <a:off x="1673352" y="573176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Commit: feat(seg): surface-defect segmenter + area measurement v1</a:t>
            </a:r>
            <a:endParaRPr lang="en-US" sz="1150" dirty="0"/>
          </a:p>
        </p:txBody>
      </p:sp>
      <p:sp>
        <p:nvSpPr>
          <p:cNvPr id="46" name="Shape 43"/>
          <p:cNvSpPr/>
          <p:nvPr/>
        </p:nvSpPr>
        <p:spPr>
          <a:xfrm>
            <a:off x="7635240" y="2505456"/>
            <a:ext cx="4050792" cy="3849624"/>
          </a:xfrm>
          <a:prstGeom prst="roundRect">
            <a:avLst>
              <a:gd name="adj" fmla="val 2375"/>
            </a:avLst>
          </a:prstGeom>
          <a:solidFill>
            <a:srgbClr val="0F172A"/>
          </a:solidFill>
          <a:ln/>
        </p:spPr>
      </p:sp>
      <p:sp>
        <p:nvSpPr>
          <p:cNvPr id="47" name="Text 44"/>
          <p:cNvSpPr/>
          <p:nvPr/>
        </p:nvSpPr>
        <p:spPr>
          <a:xfrm>
            <a:off x="7818120" y="2615184"/>
            <a:ext cx="3685032" cy="237744"/>
          </a:xfrm>
          <a:prstGeom prst="rect">
            <a:avLst/>
          </a:prstGeom>
          <a:noFill/>
          <a:ln/>
        </p:spPr>
        <p:txBody>
          <a:bodyPr wrap="square" lIns="0" tIns="0" rIns="0" bIns="0" rtlCol="0" anchor="ctr"/>
          <a:lstStyle/>
          <a:p>
            <a:pPr indent="0" marL="0">
              <a:buNone/>
            </a:pPr>
            <a:r>
              <a:rPr lang="en-US" sz="900" b="1" spc="200" kern="0" dirty="0">
                <a:solidFill>
                  <a:srgbClr val="5EEAD4"/>
                </a:solidFill>
                <a:latin typeface="Calibri" pitchFamily="34" charset="0"/>
                <a:ea typeface="Calibri" pitchFamily="34" charset="-122"/>
                <a:cs typeface="Calibri" pitchFamily="34" charset="-120"/>
              </a:rPr>
              <a:t>EXPECTED OUTPUT</a:t>
            </a:r>
            <a:endParaRPr lang="en-US" sz="900" dirty="0"/>
          </a:p>
        </p:txBody>
      </p:sp>
      <p:sp>
        <p:nvSpPr>
          <p:cNvPr id="48" name="Text 45"/>
          <p:cNvSpPr/>
          <p:nvPr/>
        </p:nvSpPr>
        <p:spPr>
          <a:xfrm>
            <a:off x="7818120" y="2907792"/>
            <a:ext cx="3703320" cy="3300984"/>
          </a:xfrm>
          <a:prstGeom prst="rect">
            <a:avLst/>
          </a:prstGeom>
          <a:noFill/>
          <a:ln/>
        </p:spPr>
        <p:txBody>
          <a:bodyPr wrap="square" lIns="0" tIns="0" rIns="0" bIns="0" rtlCol="0" anchor="t"/>
          <a:lstStyle/>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scripts/train_segmenter.py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box mAP@0.5=0.858   MASK mAP@0.5=0.823</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scripts/eval_area_error.py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area error: mean=+0.31 pp  MAE=1.12 pp</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p95=3.40 pp</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grading disagreement rate (8% rule): 2.1%</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4 Troubleshooting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استكشاف أخطاء المختبر 4</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81</a:t>
            </a:r>
            <a:endParaRPr lang="en-US" sz="9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353778"/>
                <a:gridCol w="3724556"/>
                <a:gridCol w="4107522"/>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'segment &lt; 3 points' warning</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Degenerate polygons from conversion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Filter &lt; 3-vertex polygons; re-run converter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Mask mAP = box mAP exactly</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Evaluating boxes twice (wrong object)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Read m.seg.*, not m.box.*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CUDA OOM at batch 12</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Prototype masks + 8 GB card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batch=8; keep imgsz=640 first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Area MAE huge (&gt; 10 pp)</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Defects attributed to wrong fruit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Check majority-overlap; render failing frames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Masks look blocky / staircased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Rendered at low res, then upsampled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Overlay at native res; retina_masks=True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4 Quiz</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اختبار الوحدة الرابعة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 QUIZ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82</a:t>
            </a:r>
            <a:endParaRPr lang="en-US" sz="900" dirty="0"/>
          </a:p>
        </p:txBody>
      </p:sp>
      <p:sp>
        <p:nvSpPr>
          <p:cNvPr id="7" name="Shape 4"/>
          <p:cNvSpPr/>
          <p:nvPr/>
        </p:nvSpPr>
        <p:spPr>
          <a:xfrm>
            <a:off x="502920" y="1417320"/>
            <a:ext cx="11183112" cy="801014"/>
          </a:xfrm>
          <a:prstGeom prst="roundRect">
            <a:avLst>
              <a:gd name="adj" fmla="val 9132"/>
            </a:avLst>
          </a:prstGeom>
          <a:solidFill>
            <a:srgbClr val="F2F6F9"/>
          </a:solidFill>
          <a:ln w="9525">
            <a:solidFill>
              <a:srgbClr val="D9E2EA"/>
            </a:solidFill>
            <a:prstDash val="solid"/>
          </a:ln>
        </p:spPr>
      </p:sp>
      <p:sp>
        <p:nvSpPr>
          <p:cNvPr id="8" name="Shape 5"/>
          <p:cNvSpPr/>
          <p:nvPr/>
        </p:nvSpPr>
        <p:spPr>
          <a:xfrm>
            <a:off x="649224" y="1644091"/>
            <a:ext cx="347472" cy="347472"/>
          </a:xfrm>
          <a:prstGeom prst="ellipse">
            <a:avLst/>
          </a:prstGeom>
          <a:solidFill>
            <a:srgbClr val="F58220"/>
          </a:solidFill>
          <a:ln/>
        </p:spPr>
      </p:sp>
      <p:sp>
        <p:nvSpPr>
          <p:cNvPr id="9" name="Text 6"/>
          <p:cNvSpPr/>
          <p:nvPr/>
        </p:nvSpPr>
        <p:spPr>
          <a:xfrm>
            <a:off x="649224" y="1644091"/>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p>
        </p:txBody>
      </p:sp>
      <p:sp>
        <p:nvSpPr>
          <p:cNvPr id="10" name="Text 7"/>
          <p:cNvSpPr/>
          <p:nvPr/>
        </p:nvSpPr>
        <p:spPr>
          <a:xfrm>
            <a:off x="1161288" y="141732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Semantic vs instance segmentation — which can produce 'defect area per fruit', and why?</a:t>
            </a:r>
            <a:endParaRPr lang="en-US" sz="1250" dirty="0"/>
          </a:p>
        </p:txBody>
      </p:sp>
      <p:sp>
        <p:nvSpPr>
          <p:cNvPr id="11" name="Shape 8"/>
          <p:cNvSpPr/>
          <p:nvPr/>
        </p:nvSpPr>
        <p:spPr>
          <a:xfrm>
            <a:off x="502920" y="2346350"/>
            <a:ext cx="11183112" cy="801014"/>
          </a:xfrm>
          <a:prstGeom prst="roundRect">
            <a:avLst>
              <a:gd name="adj" fmla="val 9132"/>
            </a:avLst>
          </a:prstGeom>
          <a:solidFill>
            <a:srgbClr val="F2F6F9"/>
          </a:solidFill>
          <a:ln w="9525">
            <a:solidFill>
              <a:srgbClr val="D9E2EA"/>
            </a:solidFill>
            <a:prstDash val="solid"/>
          </a:ln>
        </p:spPr>
      </p:sp>
      <p:sp>
        <p:nvSpPr>
          <p:cNvPr id="12" name="Shape 9"/>
          <p:cNvSpPr/>
          <p:nvPr/>
        </p:nvSpPr>
        <p:spPr>
          <a:xfrm>
            <a:off x="649224" y="2573122"/>
            <a:ext cx="347472" cy="347472"/>
          </a:xfrm>
          <a:prstGeom prst="ellipse">
            <a:avLst/>
          </a:prstGeom>
          <a:solidFill>
            <a:srgbClr val="F58220"/>
          </a:solidFill>
          <a:ln/>
        </p:spPr>
      </p:sp>
      <p:sp>
        <p:nvSpPr>
          <p:cNvPr id="13" name="Text 10"/>
          <p:cNvSpPr/>
          <p:nvPr/>
        </p:nvSpPr>
        <p:spPr>
          <a:xfrm>
            <a:off x="649224" y="257312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p>
        </p:txBody>
      </p:sp>
      <p:sp>
        <p:nvSpPr>
          <p:cNvPr id="14" name="Text 11"/>
          <p:cNvSpPr/>
          <p:nvPr/>
        </p:nvSpPr>
        <p:spPr>
          <a:xfrm>
            <a:off x="1161288" y="234635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What do U-Net skip connections preserve that a plain encoder-decoder loses?</a:t>
            </a:r>
            <a:endParaRPr lang="en-US" sz="1250" dirty="0"/>
          </a:p>
        </p:txBody>
      </p:sp>
      <p:sp>
        <p:nvSpPr>
          <p:cNvPr id="15" name="Shape 12"/>
          <p:cNvSpPr/>
          <p:nvPr/>
        </p:nvSpPr>
        <p:spPr>
          <a:xfrm>
            <a:off x="502920" y="3275381"/>
            <a:ext cx="11183112" cy="801014"/>
          </a:xfrm>
          <a:prstGeom prst="roundRect">
            <a:avLst>
              <a:gd name="adj" fmla="val 9132"/>
            </a:avLst>
          </a:prstGeom>
          <a:solidFill>
            <a:srgbClr val="F2F6F9"/>
          </a:solidFill>
          <a:ln w="9525">
            <a:solidFill>
              <a:srgbClr val="D9E2EA"/>
            </a:solidFill>
            <a:prstDash val="solid"/>
          </a:ln>
        </p:spPr>
      </p:sp>
      <p:sp>
        <p:nvSpPr>
          <p:cNvPr id="16" name="Shape 13"/>
          <p:cNvSpPr/>
          <p:nvPr/>
        </p:nvSpPr>
        <p:spPr>
          <a:xfrm>
            <a:off x="649224" y="3502152"/>
            <a:ext cx="347472" cy="347472"/>
          </a:xfrm>
          <a:prstGeom prst="ellipse">
            <a:avLst/>
          </a:prstGeom>
          <a:solidFill>
            <a:srgbClr val="F58220"/>
          </a:solidFill>
          <a:ln/>
        </p:spPr>
      </p:sp>
      <p:sp>
        <p:nvSpPr>
          <p:cNvPr id="17" name="Text 14"/>
          <p:cNvSpPr/>
          <p:nvPr/>
        </p:nvSpPr>
        <p:spPr>
          <a:xfrm>
            <a:off x="649224" y="350215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p>
        </p:txBody>
      </p:sp>
      <p:sp>
        <p:nvSpPr>
          <p:cNvPr id="18" name="Text 15"/>
          <p:cNvSpPr/>
          <p:nvPr/>
        </p:nvSpPr>
        <p:spPr>
          <a:xfrm>
            <a:off x="1161288" y="327538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does Dice loss beat plain BCE on a 2%-of-pixels defect class?</a:t>
            </a:r>
            <a:endParaRPr lang="en-US" sz="1250" dirty="0"/>
          </a:p>
        </p:txBody>
      </p:sp>
      <p:sp>
        <p:nvSpPr>
          <p:cNvPr id="19" name="Shape 16"/>
          <p:cNvSpPr/>
          <p:nvPr/>
        </p:nvSpPr>
        <p:spPr>
          <a:xfrm>
            <a:off x="502920" y="4204411"/>
            <a:ext cx="11183112" cy="801014"/>
          </a:xfrm>
          <a:prstGeom prst="roundRect">
            <a:avLst>
              <a:gd name="adj" fmla="val 9132"/>
            </a:avLst>
          </a:prstGeom>
          <a:solidFill>
            <a:srgbClr val="F2F6F9"/>
          </a:solidFill>
          <a:ln w="9525">
            <a:solidFill>
              <a:srgbClr val="D9E2EA"/>
            </a:solidFill>
            <a:prstDash val="solid"/>
          </a:ln>
        </p:spPr>
      </p:sp>
      <p:sp>
        <p:nvSpPr>
          <p:cNvPr id="20" name="Shape 17"/>
          <p:cNvSpPr/>
          <p:nvPr/>
        </p:nvSpPr>
        <p:spPr>
          <a:xfrm>
            <a:off x="649224" y="4431182"/>
            <a:ext cx="347472" cy="347472"/>
          </a:xfrm>
          <a:prstGeom prst="ellipse">
            <a:avLst/>
          </a:prstGeom>
          <a:solidFill>
            <a:srgbClr val="F58220"/>
          </a:solidFill>
          <a:ln/>
        </p:spPr>
      </p:sp>
      <p:sp>
        <p:nvSpPr>
          <p:cNvPr id="21" name="Text 18"/>
          <p:cNvSpPr/>
          <p:nvPr/>
        </p:nvSpPr>
        <p:spPr>
          <a:xfrm>
            <a:off x="649224" y="443118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p>
        </p:txBody>
      </p:sp>
      <p:sp>
        <p:nvSpPr>
          <p:cNvPr id="22" name="Text 19"/>
          <p:cNvSpPr/>
          <p:nvPr/>
        </p:nvSpPr>
        <p:spPr>
          <a:xfrm>
            <a:off x="1161288" y="420441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A detection's confidence is high; can the mask still be poor?</a:t>
            </a:r>
            <a:endParaRPr lang="en-US" sz="1250" dirty="0"/>
          </a:p>
        </p:txBody>
      </p:sp>
      <p:sp>
        <p:nvSpPr>
          <p:cNvPr id="23" name="Shape 20"/>
          <p:cNvSpPr/>
          <p:nvPr/>
        </p:nvSpPr>
        <p:spPr>
          <a:xfrm>
            <a:off x="502920" y="5133442"/>
            <a:ext cx="11183112" cy="801014"/>
          </a:xfrm>
          <a:prstGeom prst="roundRect">
            <a:avLst>
              <a:gd name="adj" fmla="val 9132"/>
            </a:avLst>
          </a:prstGeom>
          <a:solidFill>
            <a:srgbClr val="F2F6F9"/>
          </a:solidFill>
          <a:ln w="9525">
            <a:solidFill>
              <a:srgbClr val="D9E2EA"/>
            </a:solidFill>
            <a:prstDash val="solid"/>
          </a:ln>
        </p:spPr>
      </p:sp>
      <p:sp>
        <p:nvSpPr>
          <p:cNvPr id="24" name="Shape 21"/>
          <p:cNvSpPr/>
          <p:nvPr/>
        </p:nvSpPr>
        <p:spPr>
          <a:xfrm>
            <a:off x="649224" y="5360213"/>
            <a:ext cx="347472" cy="347472"/>
          </a:xfrm>
          <a:prstGeom prst="ellipse">
            <a:avLst/>
          </a:prstGeom>
          <a:solidFill>
            <a:srgbClr val="F58220"/>
          </a:solidFill>
          <a:ln/>
        </p:spPr>
      </p:sp>
      <p:sp>
        <p:nvSpPr>
          <p:cNvPr id="25" name="Text 22"/>
          <p:cNvSpPr/>
          <p:nvPr/>
        </p:nvSpPr>
        <p:spPr>
          <a:xfrm>
            <a:off x="649224" y="5360213"/>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Q5</a:t>
            </a:r>
            <a:endParaRPr lang="en-US" sz="1050" dirty="0"/>
          </a:p>
        </p:txBody>
      </p:sp>
      <p:sp>
        <p:nvSpPr>
          <p:cNvPr id="26" name="Text 23"/>
          <p:cNvSpPr/>
          <p:nvPr/>
        </p:nvSpPr>
        <p:spPr>
          <a:xfrm>
            <a:off x="1161288" y="5133442"/>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True/False: converting defect masks to a percentage of fruit area requires pixel-to-mm calibration.</a:t>
            </a:r>
            <a:endParaRPr lang="en-US" sz="1250" dirty="0"/>
          </a:p>
        </p:txBody>
      </p:sp>
      <p:sp>
        <p:nvSpPr>
          <p:cNvPr id="27" name="Text 24"/>
          <p:cNvSpPr/>
          <p:nvPr/>
        </p:nvSpPr>
        <p:spPr>
          <a:xfrm>
            <a:off x="502920" y="6099048"/>
            <a:ext cx="11183112" cy="274320"/>
          </a:xfrm>
          <a:prstGeom prst="rect">
            <a:avLst/>
          </a:prstGeom>
          <a:noFill/>
          <a:ln/>
        </p:spPr>
        <p:txBody>
          <a:bodyPr wrap="square" lIns="0" tIns="0" rIns="0" bIns="0" rtlCol="0" anchor="ctr"/>
          <a:lstStyle/>
          <a:p>
            <a:pPr algn="r" indent="0" marL="0">
              <a:buNone/>
            </a:pPr>
            <a:r>
              <a:rPr lang="en-US" sz="1000" i="1" dirty="0">
                <a:solidFill>
                  <a:srgbClr val="8A96A6"/>
                </a:solidFill>
                <a:latin typeface="Calibri" pitchFamily="34" charset="0"/>
                <a:ea typeface="Calibri" pitchFamily="34" charset="-122"/>
                <a:cs typeface="Calibri" pitchFamily="34" charset="-120"/>
              </a:rPr>
              <a:t>Answers and marking guidance: speaker notes below ▼</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Extra Exercises and Discussion</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تمارين إضافية ونقاش</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83</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Debugging: sim-fat-mask</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leaked script dilated all training masks. Mask mAP moves only −0.015, but area MAE triples and grading disagreement hits 9%. Which metric caught it — and why was the headline blind?</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Code review</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PR computes defect ratio against the frame area, reports pixel accuracy as the headline, and hard-codes the 8% threshold in measure.py. Three findings with consequences.</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grading the hidden hemisphere</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Options: second camera + mirror rig, rollers between two stations, or a documented single-view bias factor — an engineering-economics conversation.</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polygons cost 6× boxes</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For which defect classes would you keep box-only annotation? Classes never used in area rules — pure presence/absence classes.</a:t>
            </a:r>
            <a:endParaRPr lang="en-US"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Case Study — Road-Crack Quantification, Riyadh</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دراسة حالة — قياس شقوق الطرق في الرياض</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 CASE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84</a:t>
            </a:r>
            <a:endParaRPr lang="en-US" sz="900" dirty="0"/>
          </a:p>
        </p:txBody>
      </p:sp>
      <p:sp>
        <p:nvSpPr>
          <p:cNvPr id="7" name="Text 4"/>
          <p:cNvSpPr/>
          <p:nvPr/>
        </p:nvSpPr>
        <p:spPr>
          <a:xfrm>
            <a:off x="502920" y="138988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SCENARIO</a:t>
            </a:r>
            <a:endParaRPr lang="en-US" sz="1000" dirty="0"/>
          </a:p>
        </p:txBody>
      </p:sp>
      <p:sp>
        <p:nvSpPr>
          <p:cNvPr id="8" name="Text 5"/>
          <p:cNvSpPr/>
          <p:nvPr/>
        </p:nvSpPr>
        <p:spPr>
          <a:xfrm>
            <a:off x="502920" y="1645920"/>
            <a:ext cx="6035040" cy="1106424"/>
          </a:xfrm>
          <a:prstGeom prst="rect">
            <a:avLst/>
          </a:prstGeom>
          <a:noFill/>
          <a:ln/>
        </p:spPr>
        <p:txBody>
          <a:bodyPr wrap="square" lIns="0" tIns="0" rIns="0" bIns="0" rtlCol="0" anchor="t"/>
          <a:lstStyle/>
          <a:p>
            <a:pPr indent="0" marL="0">
              <a:buNone/>
            </a:pPr>
            <a:r>
              <a:rPr lang="en-US" sz="1150" dirty="0">
                <a:solidFill>
                  <a:srgbClr val="23293B"/>
                </a:solidFill>
                <a:latin typeface="Calibri" pitchFamily="34" charset="0"/>
                <a:ea typeface="Calibri" pitchFamily="34" charset="-122"/>
                <a:cs typeface="Calibri" pitchFamily="34" charset="-120"/>
              </a:rPr>
              <a:t>A municipality contracts vehicle-mounted camera surveys of 4,100 km of roads. The maintenance contractor is paid per m² of verified crack repair, and the previous manual survey process was slow and disputed — contractor and municipal inspectors disagreed on measured areas by up to 40%. A semantic segmentation model (crack / patch / joint / background) is proposed as the neutral measurement instrument.</a:t>
            </a:r>
            <a:endParaRPr lang="en-US" sz="1150" dirty="0"/>
          </a:p>
        </p:txBody>
      </p:sp>
      <p:sp>
        <p:nvSpPr>
          <p:cNvPr id="9" name="Text 6"/>
          <p:cNvSpPr/>
          <p:nvPr/>
        </p:nvSpPr>
        <p:spPr>
          <a:xfrm>
            <a:off x="502920" y="2916936"/>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BUSINESS CONTEXT</a:t>
            </a:r>
            <a:endParaRPr lang="en-US" sz="1000" dirty="0"/>
          </a:p>
        </p:txBody>
      </p:sp>
      <p:sp>
        <p:nvSpPr>
          <p:cNvPr id="10" name="Text 7"/>
          <p:cNvSpPr/>
          <p:nvPr/>
        </p:nvSpPr>
        <p:spPr>
          <a:xfrm>
            <a:off x="502920" y="3172968"/>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Annual road-maintenance budgets run to hundreds of millions of riyals; a 10% systematic measurement bias is real money in one direction or the other. Both parties must trust the number, so the measurement pipeline — not just the model — will be audited.</a:t>
            </a:r>
            <a:endParaRPr lang="en-US" sz="1150" dirty="0"/>
          </a:p>
        </p:txBody>
      </p:sp>
      <p:sp>
        <p:nvSpPr>
          <p:cNvPr id="11" name="Text 8"/>
          <p:cNvSpPr/>
          <p:nvPr/>
        </p:nvSpPr>
        <p:spPr>
          <a:xfrm>
            <a:off x="502920" y="4023360"/>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TECHNICAL CHALLENGE</a:t>
            </a:r>
            <a:endParaRPr lang="en-US" sz="1000" dirty="0"/>
          </a:p>
        </p:txBody>
      </p:sp>
      <p:sp>
        <p:nvSpPr>
          <p:cNvPr id="12" name="Text 9"/>
          <p:cNvSpPr/>
          <p:nvPr/>
        </p:nvSpPr>
        <p:spPr>
          <a:xfrm>
            <a:off x="502920" y="4279392"/>
            <a:ext cx="6035040" cy="47548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Design the segmentation and calibration pipeline so reported m² carries a defensible error bound, and decide what happens when model confidence is low.</a:t>
            </a:r>
            <a:endParaRPr lang="en-US" sz="1150" dirty="0"/>
          </a:p>
        </p:txBody>
      </p:sp>
      <p:sp>
        <p:nvSpPr>
          <p:cNvPr id="13" name="Shape 10"/>
          <p:cNvSpPr/>
          <p:nvPr/>
        </p:nvSpPr>
        <p:spPr>
          <a:xfrm>
            <a:off x="6858000" y="1389888"/>
            <a:ext cx="4828032" cy="2184684"/>
          </a:xfrm>
          <a:prstGeom prst="roundRect">
            <a:avLst>
              <a:gd name="adj" fmla="val 3767"/>
            </a:avLst>
          </a:prstGeom>
          <a:solidFill>
            <a:srgbClr val="F2F6F9"/>
          </a:solidFill>
          <a:ln w="12700">
            <a:solidFill>
              <a:srgbClr val="D9E2EA"/>
            </a:solidFill>
            <a:prstDash val="solid"/>
          </a:ln>
        </p:spPr>
      </p:sp>
      <p:sp>
        <p:nvSpPr>
          <p:cNvPr id="14" name="Text 11"/>
          <p:cNvSpPr/>
          <p:nvPr/>
        </p:nvSpPr>
        <p:spPr>
          <a:xfrm>
            <a:off x="7040880" y="1481328"/>
            <a:ext cx="4462272" cy="237744"/>
          </a:xfrm>
          <a:prstGeom prst="rect">
            <a:avLst/>
          </a:prstGeom>
          <a:noFill/>
          <a:ln/>
        </p:spPr>
        <p:txBody>
          <a:bodyPr wrap="square" lIns="0" tIns="0" rIns="0" bIns="0" rtlCol="0" anchor="ctr"/>
          <a:lstStyle/>
          <a:p>
            <a:pPr indent="0" marL="0">
              <a:buNone/>
            </a:pPr>
            <a:r>
              <a:rPr lang="en-US" sz="950" b="1" spc="200" kern="0" dirty="0">
                <a:solidFill>
                  <a:srgbClr val="F58220"/>
                </a:solidFill>
                <a:latin typeface="Calibri" pitchFamily="34" charset="0"/>
                <a:ea typeface="Calibri" pitchFamily="34" charset="-122"/>
                <a:cs typeface="Calibri" pitchFamily="34" charset="-120"/>
              </a:rPr>
              <a:t>CONSTRAINTS</a:t>
            </a:r>
            <a:endParaRPr lang="en-US" sz="950" dirty="0"/>
          </a:p>
        </p:txBody>
      </p:sp>
      <p:sp>
        <p:nvSpPr>
          <p:cNvPr id="15" name="Text 12"/>
          <p:cNvSpPr/>
          <p:nvPr/>
        </p:nvSpPr>
        <p:spPr>
          <a:xfrm>
            <a:off x="7095744" y="1755648"/>
            <a:ext cx="4370832" cy="1681764"/>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Camera height varies ±4 cm with vehicle load</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Surveys run at 50 km/h — motion blur</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Thin cracks &lt; 3 mm at the resolution limit</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Disputes resolved from stored evidence</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Summer glare + shadow edges: false positives</a:t>
            </a:r>
            <a:endParaRPr lang="en-US" sz="1050" dirty="0"/>
          </a:p>
        </p:txBody>
      </p:sp>
      <p:sp>
        <p:nvSpPr>
          <p:cNvPr id="16" name="Shape 13"/>
          <p:cNvSpPr/>
          <p:nvPr/>
        </p:nvSpPr>
        <p:spPr>
          <a:xfrm>
            <a:off x="6858000" y="3803172"/>
            <a:ext cx="4828032" cy="2551908"/>
          </a:xfrm>
          <a:prstGeom prst="roundRect">
            <a:avLst>
              <a:gd name="adj" fmla="val 3225"/>
            </a:avLst>
          </a:prstGeom>
          <a:solidFill>
            <a:srgbClr val="E9F6F5"/>
          </a:solidFill>
          <a:ln w="12700">
            <a:solidFill>
              <a:srgbClr val="00A79D"/>
            </a:solidFill>
            <a:prstDash val="solid"/>
          </a:ln>
        </p:spPr>
      </p:sp>
      <p:sp>
        <p:nvSpPr>
          <p:cNvPr id="17" name="Text 14"/>
          <p:cNvSpPr/>
          <p:nvPr/>
        </p:nvSpPr>
        <p:spPr>
          <a:xfrm>
            <a:off x="7040880" y="3894612"/>
            <a:ext cx="4462272" cy="237744"/>
          </a:xfrm>
          <a:prstGeom prst="rect">
            <a:avLst/>
          </a:prstGeom>
          <a:noFill/>
          <a:ln/>
        </p:spPr>
        <p:txBody>
          <a:bodyPr wrap="square" lIns="0" tIns="0" rIns="0" bIns="0" rtlCol="0" anchor="ctr"/>
          <a:lstStyle/>
          <a:p>
            <a:pPr indent="0" marL="0">
              <a:buNone/>
            </a:pPr>
            <a:r>
              <a:rPr lang="en-US" sz="950" b="1" spc="200" kern="0" dirty="0">
                <a:solidFill>
                  <a:srgbClr val="00A79D"/>
                </a:solidFill>
                <a:latin typeface="Calibri" pitchFamily="34" charset="0"/>
                <a:ea typeface="Calibri" pitchFamily="34" charset="-122"/>
                <a:cs typeface="Calibri" pitchFamily="34" charset="-120"/>
              </a:rPr>
              <a:t>DISCUSSION QUESTIONS</a:t>
            </a:r>
            <a:endParaRPr lang="en-US" sz="950" dirty="0"/>
          </a:p>
        </p:txBody>
      </p:sp>
      <p:sp>
        <p:nvSpPr>
          <p:cNvPr id="18" name="Text 15"/>
          <p:cNvSpPr/>
          <p:nvPr/>
        </p:nvSpPr>
        <p:spPr>
          <a:xfrm>
            <a:off x="7095744" y="4168932"/>
            <a:ext cx="4370832" cy="2048988"/>
          </a:xfrm>
          <a:prstGeom prst="rect">
            <a:avLst/>
          </a:prstGeom>
          <a:noFill/>
          <a:ln/>
        </p:spPr>
        <p:txBody>
          <a:bodyPr wrap="square" lIns="0" tIns="0" rIns="0" bIns="0" rtlCol="0" anchor="t"/>
          <a:lstStyle/>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1.  Semantic or instance — and what if paid per crack, not per m²?</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2.  Which error term dominates: boundary, calibration, or sampling?</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3.  What artefacts constitute the audit pack?</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4.  The contractor offers to fine-tune the model. Governance response?</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4 Benchmarks and Targets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معايير وأهداف الوحدة الرابعة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85</a:t>
            </a:r>
            <a:endParaRPr lang="en-US" sz="9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4119640"/>
                <a:gridCol w="3633181"/>
                <a:gridCol w="3433034"/>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Target after M4</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measured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Mask mAP@0.5 (test split)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 0.80</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model.val() seg metrics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Defect-area MAE per fruit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 1.5 pp</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eval_area_error.py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Grading-disagreement rate (8% rule)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 3%</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same script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Training wall-clock</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 15 min classroom GPU</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run logs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Degenerate polygons after conversion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converter validation pass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Attribution rule documented + tested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majority-overlap + unit test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DAY 3</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Data Is the System</a:t>
            </a:r>
            <a:endParaRPr lang="en-US" sz="3600" dirty="0"/>
          </a:p>
        </p:txBody>
      </p:sp>
      <p:sp>
        <p:nvSpPr>
          <p:cNvPr id="22" name="Text 19"/>
          <p:cNvSpPr/>
          <p:nvPr/>
        </p:nvSpPr>
        <p:spPr>
          <a:xfrm>
            <a:off x="777240" y="285292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البيانات هي النظام</a:t>
            </a:r>
            <a:endParaRPr lang="en-US" sz="1700" dirty="0"/>
          </a:p>
        </p:txBody>
      </p:sp>
      <p:sp>
        <p:nvSpPr>
          <p:cNvPr id="23" name="Text 20"/>
          <p:cNvSpPr/>
          <p:nvPr/>
        </p:nvSpPr>
        <p:spPr>
          <a:xfrm>
            <a:off x="804672" y="352044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H1 — Dataset curation and annotation workflows (M5)</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H2 — Lab 5: audit and curate dataset v2</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H3 — Model evaluation for vision tasks (M6)</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H4 — Lab 6: build the evaluation harness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H5 — Retrain on v2 + capstone kickoff + milestone M-A</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END-OF-DAY DELIVERABLE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Curated dataset v2 + evaluation harness + written error-analysis report</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Day 3 Hour by Hour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اليوم الثالث ساعة بساعة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DAY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87</a:t>
            </a:r>
            <a:endParaRPr lang="en-US" sz="9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1229306"/>
                <a:gridCol w="4077147"/>
                <a:gridCol w="3935699"/>
                <a:gridCol w="1943703"/>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Hour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Session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Delivery mode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Theory/Lab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Dataset curation &amp; annotation workflows (M5)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Lecture + annotation-tool walkthrough</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60/40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5 — audit and curate dataset v2</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Guided lab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10/90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Model evaluation for vision tasks (M6)</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Lecture + metric derivation on whiteboard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70/30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6 — build the evaluation harness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Guided lab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10/90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Retrain on v2 + capstone kickoff</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 briefing</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20/80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MODULE 5</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Dataset Curation and Annotation Workflows</a:t>
            </a:r>
            <a:endParaRPr lang="en-US" sz="3600" dirty="0"/>
          </a:p>
        </p:txBody>
      </p:sp>
      <p:sp>
        <p:nvSpPr>
          <p:cNvPr id="22" name="Text 19"/>
          <p:cNvSpPr/>
          <p:nvPr/>
        </p:nvSpPr>
        <p:spPr>
          <a:xfrm>
            <a:off x="777240" y="312724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تنظيم مجموعات البيانات وسير عمل التوصيف</a:t>
            </a:r>
            <a:endParaRPr lang="en-US" sz="1700" dirty="0"/>
          </a:p>
        </p:txBody>
      </p:sp>
      <p:sp>
        <p:nvSpPr>
          <p:cNvPr id="23" name="Text 20"/>
          <p:cNvSpPr/>
          <p:nvPr/>
        </p:nvSpPr>
        <p:spPr>
          <a:xfrm>
            <a:off x="804672" y="370332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The annotation spec is the real model architecture</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Tooling and the pre-labelling loop</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Measuring label quality; hunting label errors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Active learning, dataset versioning and governance</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MODULE OUTCOME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triaged label audit, a merged spec fix, and the versioned dates-qc-v2 release with manifest, hashes, spec version and changelog</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Why This Matters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لماذا هذا مهم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89</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The dataset is the highest-leverage system component — and the one with the least engineering discipline applied to it.</a:t>
            </a:r>
            <a:endParaRPr lang="en-US" sz="1250" dirty="0"/>
          </a:p>
        </p:txBody>
      </p:sp>
      <p:sp>
        <p:nvSpPr>
          <p:cNvPr id="8" name="Shape 5"/>
          <p:cNvSpPr/>
          <p:nvPr/>
        </p:nvSpPr>
        <p:spPr>
          <a:xfrm>
            <a:off x="502920" y="3026664"/>
            <a:ext cx="2556434" cy="2194560"/>
          </a:xfrm>
          <a:prstGeom prst="roundRect">
            <a:avLst>
              <a:gd name="adj" fmla="val 3750"/>
            </a:avLst>
          </a:prstGeom>
          <a:solidFill>
            <a:srgbClr val="E9F6F5"/>
          </a:solidFill>
          <a:ln w="12700">
            <a:solidFill>
              <a:srgbClr val="D9E2EA"/>
            </a:solidFill>
            <a:prstDash val="solid"/>
          </a:ln>
        </p:spPr>
      </p:sp>
      <p:sp>
        <p:nvSpPr>
          <p:cNvPr id="9" name="Text 6"/>
          <p:cNvSpPr/>
          <p:nvPr/>
        </p:nvSpPr>
        <p:spPr>
          <a:xfrm>
            <a:off x="594360" y="3136392"/>
            <a:ext cx="2373554" cy="965606"/>
          </a:xfrm>
          <a:prstGeom prst="rect">
            <a:avLst/>
          </a:prstGeom>
          <a:noFill/>
          <a:ln/>
        </p:spPr>
        <p:txBody>
          <a:bodyPr wrap="square" lIns="0" tIns="0" rIns="0" bIns="0" rtlCol="0" anchor="ctr"/>
          <a:lstStyle/>
          <a:p>
            <a:pPr algn="ctr" indent="0" marL="0">
              <a:buNone/>
            </a:pPr>
            <a:r>
              <a:rPr lang="en-US" sz="3800" b="1" dirty="0">
                <a:solidFill>
                  <a:srgbClr val="00A79D"/>
                </a:solidFill>
                <a:latin typeface="Calibri" pitchFamily="34" charset="0"/>
                <a:ea typeface="Calibri" pitchFamily="34" charset="-122"/>
                <a:cs typeface="Calibri" pitchFamily="34" charset="-120"/>
              </a:rPr>
              <a:t>40-70%</a:t>
            </a:r>
            <a:endParaRPr lang="en-US" sz="3800" dirty="0"/>
          </a:p>
        </p:txBody>
      </p:sp>
      <p:sp>
        <p:nvSpPr>
          <p:cNvPr id="10" name="Text 7"/>
          <p:cNvSpPr/>
          <p:nvPr/>
        </p:nvSpPr>
        <p:spPr>
          <a:xfrm>
            <a:off x="640080"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of build cost</a:t>
            </a:r>
            <a:endParaRPr lang="en-US" sz="1250" dirty="0"/>
          </a:p>
        </p:txBody>
      </p:sp>
      <p:sp>
        <p:nvSpPr>
          <p:cNvPr id="11" name="Text 8"/>
          <p:cNvSpPr/>
          <p:nvPr/>
        </p:nvSpPr>
        <p:spPr>
          <a:xfrm>
            <a:off x="640080"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label budgets dominate most vision projects</a:t>
            </a:r>
            <a:endParaRPr lang="en-US" sz="1000" dirty="0"/>
          </a:p>
        </p:txBody>
      </p:sp>
      <p:sp>
        <p:nvSpPr>
          <p:cNvPr id="12" name="Shape 9"/>
          <p:cNvSpPr/>
          <p:nvPr/>
        </p:nvSpPr>
        <p:spPr>
          <a:xfrm>
            <a:off x="3379394" y="3026664"/>
            <a:ext cx="2556434" cy="2194560"/>
          </a:xfrm>
          <a:prstGeom prst="roundRect">
            <a:avLst>
              <a:gd name="adj" fmla="val 3750"/>
            </a:avLst>
          </a:prstGeom>
          <a:solidFill>
            <a:srgbClr val="F2F6F9"/>
          </a:solidFill>
          <a:ln w="12700">
            <a:solidFill>
              <a:srgbClr val="D9E2EA"/>
            </a:solidFill>
            <a:prstDash val="solid"/>
          </a:ln>
        </p:spPr>
      </p:sp>
      <p:sp>
        <p:nvSpPr>
          <p:cNvPr id="13" name="Text 10"/>
          <p:cNvSpPr/>
          <p:nvPr/>
        </p:nvSpPr>
        <p:spPr>
          <a:xfrm>
            <a:off x="3470834" y="3136392"/>
            <a:ext cx="2373554" cy="965606"/>
          </a:xfrm>
          <a:prstGeom prst="rect">
            <a:avLst/>
          </a:prstGeom>
          <a:noFill/>
          <a:ln/>
        </p:spPr>
        <p:txBody>
          <a:bodyPr wrap="square" lIns="0" tIns="0" rIns="0" bIns="0" rtlCol="0" anchor="ctr"/>
          <a:lstStyle/>
          <a:p>
            <a:pPr algn="ctr" indent="0" marL="0">
              <a:buNone/>
            </a:pPr>
            <a:r>
              <a:rPr lang="en-US" sz="3800" b="1" dirty="0">
                <a:solidFill>
                  <a:srgbClr val="E8503A"/>
                </a:solidFill>
                <a:latin typeface="Calibri" pitchFamily="34" charset="0"/>
                <a:ea typeface="Calibri" pitchFamily="34" charset="-122"/>
                <a:cs typeface="Calibri" pitchFamily="34" charset="-120"/>
              </a:rPr>
              <a:t>~4%</a:t>
            </a:r>
            <a:endParaRPr lang="en-US" sz="3800" dirty="0"/>
          </a:p>
        </p:txBody>
      </p:sp>
      <p:sp>
        <p:nvSpPr>
          <p:cNvPr id="14" name="Text 11"/>
          <p:cNvSpPr/>
          <p:nvPr/>
        </p:nvSpPr>
        <p:spPr>
          <a:xfrm>
            <a:off x="3516554"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label errors in v1</a:t>
            </a:r>
            <a:endParaRPr lang="en-US" sz="1250" dirty="0"/>
          </a:p>
        </p:txBody>
      </p:sp>
      <p:sp>
        <p:nvSpPr>
          <p:cNvPr id="15" name="Text 12"/>
          <p:cNvSpPr/>
          <p:nvPr/>
        </p:nvSpPr>
        <p:spPr>
          <a:xfrm>
            <a:off x="3516554"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concentrated at the sugaring/skin_split boundary</a:t>
            </a:r>
            <a:endParaRPr lang="en-US" sz="1000" dirty="0"/>
          </a:p>
        </p:txBody>
      </p:sp>
      <p:sp>
        <p:nvSpPr>
          <p:cNvPr id="16" name="Shape 13"/>
          <p:cNvSpPr/>
          <p:nvPr/>
        </p:nvSpPr>
        <p:spPr>
          <a:xfrm>
            <a:off x="6255868" y="3026664"/>
            <a:ext cx="2556434" cy="2194560"/>
          </a:xfrm>
          <a:prstGeom prst="roundRect">
            <a:avLst>
              <a:gd name="adj" fmla="val 3750"/>
            </a:avLst>
          </a:prstGeom>
          <a:solidFill>
            <a:srgbClr val="F2F6F9"/>
          </a:solidFill>
          <a:ln w="12700">
            <a:solidFill>
              <a:srgbClr val="D9E2EA"/>
            </a:solidFill>
            <a:prstDash val="solid"/>
          </a:ln>
        </p:spPr>
      </p:sp>
      <p:sp>
        <p:nvSpPr>
          <p:cNvPr id="17" name="Text 14"/>
          <p:cNvSpPr/>
          <p:nvPr/>
        </p:nvSpPr>
        <p:spPr>
          <a:xfrm>
            <a:off x="6347308" y="3136392"/>
            <a:ext cx="2373554" cy="965606"/>
          </a:xfrm>
          <a:prstGeom prst="rect">
            <a:avLst/>
          </a:prstGeom>
          <a:noFill/>
          <a:ln/>
        </p:spPr>
        <p:txBody>
          <a:bodyPr wrap="square" lIns="0" tIns="0" rIns="0" bIns="0" rtlCol="0" anchor="ctr"/>
          <a:lstStyle/>
          <a:p>
            <a:pPr algn="ctr" indent="0" marL="0">
              <a:buNone/>
            </a:pPr>
            <a:r>
              <a:rPr lang="en-US" sz="3800" b="1" dirty="0">
                <a:solidFill>
                  <a:srgbClr val="F58220"/>
                </a:solidFill>
                <a:latin typeface="Calibri" pitchFamily="34" charset="0"/>
                <a:ea typeface="Calibri" pitchFamily="34" charset="-122"/>
                <a:cs typeface="Calibri" pitchFamily="34" charset="-120"/>
              </a:rPr>
              <a:t>+0.09</a:t>
            </a:r>
            <a:endParaRPr lang="en-US" sz="3800" dirty="0"/>
          </a:p>
        </p:txBody>
      </p:sp>
      <p:sp>
        <p:nvSpPr>
          <p:cNvPr id="18" name="Text 15"/>
          <p:cNvSpPr/>
          <p:nvPr/>
        </p:nvSpPr>
        <p:spPr>
          <a:xfrm>
            <a:off x="6393028"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insect_damage AP</a:t>
            </a:r>
            <a:endParaRPr lang="en-US" sz="1250" dirty="0"/>
          </a:p>
        </p:txBody>
      </p:sp>
      <p:sp>
        <p:nvSpPr>
          <p:cNvPr id="19" name="Text 16"/>
          <p:cNvSpPr/>
          <p:nvPr/>
        </p:nvSpPr>
        <p:spPr>
          <a:xfrm>
            <a:off x="6393028"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from 800 AL frames — beats any architecture change</a:t>
            </a:r>
            <a:endParaRPr lang="en-US" sz="1000" dirty="0"/>
          </a:p>
        </p:txBody>
      </p:sp>
      <p:sp>
        <p:nvSpPr>
          <p:cNvPr id="20" name="Shape 17"/>
          <p:cNvSpPr/>
          <p:nvPr/>
        </p:nvSpPr>
        <p:spPr>
          <a:xfrm>
            <a:off x="9132341" y="3026664"/>
            <a:ext cx="2556434" cy="2194560"/>
          </a:xfrm>
          <a:prstGeom prst="roundRect">
            <a:avLst>
              <a:gd name="adj" fmla="val 3750"/>
            </a:avLst>
          </a:prstGeom>
          <a:solidFill>
            <a:srgbClr val="F2F6F9"/>
          </a:solidFill>
          <a:ln w="12700">
            <a:solidFill>
              <a:srgbClr val="D9E2EA"/>
            </a:solidFill>
            <a:prstDash val="solid"/>
          </a:ln>
        </p:spPr>
      </p:sp>
      <p:sp>
        <p:nvSpPr>
          <p:cNvPr id="21" name="Text 18"/>
          <p:cNvSpPr/>
          <p:nvPr/>
        </p:nvSpPr>
        <p:spPr>
          <a:xfrm>
            <a:off x="9223781" y="3136392"/>
            <a:ext cx="2373554" cy="965606"/>
          </a:xfrm>
          <a:prstGeom prst="rect">
            <a:avLst/>
          </a:prstGeom>
          <a:noFill/>
          <a:ln/>
        </p:spPr>
        <p:txBody>
          <a:bodyPr wrap="square" lIns="0" tIns="0" rIns="0" bIns="0" rtlCol="0" anchor="ctr"/>
          <a:lstStyle/>
          <a:p>
            <a:pPr algn="ctr" indent="0" marL="0">
              <a:buNone/>
            </a:pPr>
            <a:r>
              <a:rPr lang="en-US" sz="3800" b="1" dirty="0">
                <a:solidFill>
                  <a:srgbClr val="E8503A"/>
                </a:solidFill>
                <a:latin typeface="Calibri" pitchFamily="34" charset="0"/>
                <a:ea typeface="Calibri" pitchFamily="34" charset="-122"/>
                <a:cs typeface="Calibri" pitchFamily="34" charset="-120"/>
              </a:rPr>
              <a:t>60k SAR</a:t>
            </a:r>
            <a:endParaRPr lang="en-US" sz="3800" dirty="0"/>
          </a:p>
        </p:txBody>
      </p:sp>
      <p:sp>
        <p:nvSpPr>
          <p:cNvPr id="22" name="Text 19"/>
          <p:cNvSpPr/>
          <p:nvPr/>
        </p:nvSpPr>
        <p:spPr>
          <a:xfrm>
            <a:off x="9269501"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relabelling lesson</a:t>
            </a:r>
            <a:endParaRPr lang="en-US" sz="1250" dirty="0"/>
          </a:p>
        </p:txBody>
      </p:sp>
      <p:sp>
        <p:nvSpPr>
          <p:cNvPr id="23" name="Text 20"/>
          <p:cNvSpPr/>
          <p:nvPr/>
        </p:nvSpPr>
        <p:spPr>
          <a:xfrm>
            <a:off x="9269501"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a vendor spec shipped with no reference images</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Industry Use Cases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حالات استخدام صناعية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90</a:t>
            </a:r>
            <a:endParaRPr lang="en-US" sz="900" dirty="0"/>
          </a:p>
        </p:txBody>
      </p:sp>
      <p:sp>
        <p:nvSpPr>
          <p:cNvPr id="7" name="Shape 4"/>
          <p:cNvSpPr/>
          <p:nvPr/>
        </p:nvSpPr>
        <p:spPr>
          <a:xfrm>
            <a:off x="502920" y="1389888"/>
            <a:ext cx="5455768" cy="2354580"/>
          </a:xfrm>
          <a:prstGeom prst="roundRect">
            <a:avLst>
              <a:gd name="adj" fmla="val 3107"/>
            </a:avLst>
          </a:prstGeom>
          <a:solidFill>
            <a:srgbClr val="F2F6F9"/>
          </a:solidFill>
          <a:ln w="12700">
            <a:solidFill>
              <a:srgbClr val="D9E2EA"/>
            </a:solidFill>
            <a:prstDash val="solid"/>
          </a:ln>
        </p:spPr>
      </p:sp>
      <p:sp>
        <p:nvSpPr>
          <p:cNvPr id="8" name="Shape 5"/>
          <p:cNvSpPr/>
          <p:nvPr/>
        </p:nvSpPr>
        <p:spPr>
          <a:xfrm>
            <a:off x="667512" y="1536192"/>
            <a:ext cx="310896" cy="310896"/>
          </a:xfrm>
          <a:prstGeom prst="ellipse">
            <a:avLst/>
          </a:prstGeom>
          <a:solidFill>
            <a:srgbClr val="00A79D"/>
          </a:solidFill>
          <a:ln/>
        </p:spPr>
      </p:sp>
      <p:sp>
        <p:nvSpPr>
          <p:cNvPr id="9" name="Text 6"/>
          <p:cNvSpPr/>
          <p:nvPr/>
        </p:nvSpPr>
        <p:spPr>
          <a:xfrm>
            <a:off x="667512"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088136"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Tamr Vision v2 dataset</a:t>
            </a:r>
            <a:endParaRPr lang="en-US" sz="1250" dirty="0"/>
          </a:p>
        </p:txBody>
      </p:sp>
      <p:sp>
        <p:nvSpPr>
          <p:cNvPr id="11" name="Text 8"/>
          <p:cNvSpPr/>
          <p:nvPr/>
        </p:nvSpPr>
        <p:spPr>
          <a:xfrm>
            <a:off x="685800"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Model-assisted auditing finds ~4% label errors in v1; the spec gains three boundary rules; 800 actively-selected frames lift insect_damage AP by 0.09.</a:t>
            </a:r>
            <a:endParaRPr lang="en-US" sz="1100" dirty="0"/>
          </a:p>
        </p:txBody>
      </p:sp>
      <p:sp>
        <p:nvSpPr>
          <p:cNvPr id="12" name="Shape 9"/>
          <p:cNvSpPr/>
          <p:nvPr/>
        </p:nvSpPr>
        <p:spPr>
          <a:xfrm>
            <a:off x="6233008" y="1389888"/>
            <a:ext cx="5455768" cy="2354580"/>
          </a:xfrm>
          <a:prstGeom prst="roundRect">
            <a:avLst>
              <a:gd name="adj" fmla="val 3107"/>
            </a:avLst>
          </a:prstGeom>
          <a:solidFill>
            <a:srgbClr val="F2F6F9"/>
          </a:solidFill>
          <a:ln w="12700">
            <a:solidFill>
              <a:srgbClr val="D9E2EA"/>
            </a:solidFill>
            <a:prstDash val="solid"/>
          </a:ln>
        </p:spPr>
      </p:sp>
      <p:sp>
        <p:nvSpPr>
          <p:cNvPr id="13" name="Shape 10"/>
          <p:cNvSpPr/>
          <p:nvPr/>
        </p:nvSpPr>
        <p:spPr>
          <a:xfrm>
            <a:off x="6397600" y="1536192"/>
            <a:ext cx="310896" cy="310896"/>
          </a:xfrm>
          <a:prstGeom prst="ellipse">
            <a:avLst/>
          </a:prstGeom>
          <a:solidFill>
            <a:srgbClr val="29ABE2"/>
          </a:solidFill>
          <a:ln/>
        </p:spPr>
      </p:sp>
      <p:sp>
        <p:nvSpPr>
          <p:cNvPr id="14" name="Text 11"/>
          <p:cNvSpPr/>
          <p:nvPr/>
        </p:nvSpPr>
        <p:spPr>
          <a:xfrm>
            <a:off x="639760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6818224"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Palm survey — Al-Ahsa</a:t>
            </a:r>
            <a:endParaRPr lang="en-US" sz="1250" dirty="0"/>
          </a:p>
        </p:txBody>
      </p:sp>
      <p:sp>
        <p:nvSpPr>
          <p:cNvPr id="16" name="Text 13"/>
          <p:cNvSpPr/>
          <p:nvPr/>
        </p:nvSpPr>
        <p:spPr>
          <a:xfrm>
            <a:off x="6415888"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Drone imagery annotated offshore: 'pest stress' and 'drought stress' systematically swapped because the spec had no reference images — a 60,000-riyal lesson.</a:t>
            </a:r>
            <a:endParaRPr lang="en-US" sz="1100" dirty="0"/>
          </a:p>
        </p:txBody>
      </p:sp>
      <p:sp>
        <p:nvSpPr>
          <p:cNvPr id="17" name="Shape 14"/>
          <p:cNvSpPr/>
          <p:nvPr/>
        </p:nvSpPr>
        <p:spPr>
          <a:xfrm>
            <a:off x="502920" y="4000500"/>
            <a:ext cx="5455768" cy="2354580"/>
          </a:xfrm>
          <a:prstGeom prst="roundRect">
            <a:avLst>
              <a:gd name="adj" fmla="val 3107"/>
            </a:avLst>
          </a:prstGeom>
          <a:solidFill>
            <a:srgbClr val="F2F6F9"/>
          </a:solidFill>
          <a:ln w="12700">
            <a:solidFill>
              <a:srgbClr val="D9E2EA"/>
            </a:solidFill>
            <a:prstDash val="solid"/>
          </a:ln>
        </p:spPr>
      </p:sp>
      <p:sp>
        <p:nvSpPr>
          <p:cNvPr id="18" name="Shape 15"/>
          <p:cNvSpPr/>
          <p:nvPr/>
        </p:nvSpPr>
        <p:spPr>
          <a:xfrm>
            <a:off x="667512" y="4146804"/>
            <a:ext cx="310896" cy="310896"/>
          </a:xfrm>
          <a:prstGeom prst="ellipse">
            <a:avLst/>
          </a:prstGeom>
          <a:solidFill>
            <a:srgbClr val="F58220"/>
          </a:solidFill>
          <a:ln/>
        </p:spPr>
      </p:sp>
      <p:sp>
        <p:nvSpPr>
          <p:cNvPr id="19" name="Text 16"/>
          <p:cNvSpPr/>
          <p:nvPr/>
        </p:nvSpPr>
        <p:spPr>
          <a:xfrm>
            <a:off x="667512"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1088136"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Retail-shelf monitoring</a:t>
            </a:r>
            <a:endParaRPr lang="en-US" sz="1250" dirty="0"/>
          </a:p>
        </p:txBody>
      </p:sp>
      <p:sp>
        <p:nvSpPr>
          <p:cNvPr id="21" name="Text 18"/>
          <p:cNvSpPr/>
          <p:nvPr/>
        </p:nvSpPr>
        <p:spPr>
          <a:xfrm>
            <a:off x="685800"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A weekly active-learning loop labels only the 300 most-informative frames from 2M captured, keeping annotation spend flat as the SKU catalogue grows.</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Learning Objectives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أهداف التعلم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91</a:t>
            </a:r>
            <a:endParaRPr lang="en-US" sz="900" dirty="0"/>
          </a:p>
        </p:txBody>
      </p:sp>
      <p:sp>
        <p:nvSpPr>
          <p:cNvPr id="7" name="Shape 4"/>
          <p:cNvSpPr/>
          <p:nvPr/>
        </p:nvSpPr>
        <p:spPr>
          <a:xfrm>
            <a:off x="502920" y="1499616"/>
            <a:ext cx="11183112" cy="832104"/>
          </a:xfrm>
          <a:prstGeom prst="roundRect">
            <a:avLst>
              <a:gd name="adj" fmla="val 7692"/>
            </a:avLst>
          </a:prstGeom>
          <a:solidFill>
            <a:srgbClr val="FAFCFE"/>
          </a:solidFill>
          <a:ln w="9525">
            <a:solidFill>
              <a:srgbClr val="D9E2EA"/>
            </a:solidFill>
            <a:prstDash val="solid"/>
          </a:ln>
        </p:spPr>
      </p:sp>
      <p:sp>
        <p:nvSpPr>
          <p:cNvPr id="8" name="Shape 5"/>
          <p:cNvSpPr/>
          <p:nvPr/>
        </p:nvSpPr>
        <p:spPr>
          <a:xfrm>
            <a:off x="649224" y="1751076"/>
            <a:ext cx="329184" cy="329184"/>
          </a:xfrm>
          <a:prstGeom prst="ellipse">
            <a:avLst/>
          </a:prstGeom>
          <a:solidFill>
            <a:srgbClr val="00A79D"/>
          </a:solidFill>
          <a:ln/>
        </p:spPr>
      </p:sp>
      <p:sp>
        <p:nvSpPr>
          <p:cNvPr id="9" name="Text 6"/>
          <p:cNvSpPr/>
          <p:nvPr/>
        </p:nvSpPr>
        <p:spPr>
          <a:xfrm>
            <a:off x="649224" y="175107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5.1</a:t>
            </a:r>
            <a:endParaRPr lang="en-US" sz="1150" dirty="0"/>
          </a:p>
        </p:txBody>
      </p:sp>
      <p:sp>
        <p:nvSpPr>
          <p:cNvPr id="10" name="Text 7"/>
          <p:cNvSpPr/>
          <p:nvPr/>
        </p:nvSpPr>
        <p:spPr>
          <a:xfrm>
            <a:off x="1143000" y="149961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Write an annotation spec: taxonomy, boundary rules, edge-case gallery, QA procedure</a:t>
            </a:r>
            <a:endParaRPr lang="en-US" sz="1250" dirty="0"/>
          </a:p>
        </p:txBody>
      </p:sp>
      <p:sp>
        <p:nvSpPr>
          <p:cNvPr id="11" name="Shape 8"/>
          <p:cNvSpPr/>
          <p:nvPr/>
        </p:nvSpPr>
        <p:spPr>
          <a:xfrm>
            <a:off x="9646920" y="1741932"/>
            <a:ext cx="658368" cy="310896"/>
          </a:xfrm>
          <a:prstGeom prst="roundRect">
            <a:avLst>
              <a:gd name="adj" fmla="val 50000"/>
            </a:avLst>
          </a:prstGeom>
          <a:solidFill>
            <a:srgbClr val="E9F6F5"/>
          </a:solidFill>
          <a:ln w="9525">
            <a:solidFill>
              <a:srgbClr val="00A79D"/>
            </a:solidFill>
            <a:prstDash val="solid"/>
          </a:ln>
        </p:spPr>
      </p:sp>
      <p:sp>
        <p:nvSpPr>
          <p:cNvPr id="12" name="Text 9"/>
          <p:cNvSpPr/>
          <p:nvPr/>
        </p:nvSpPr>
        <p:spPr>
          <a:xfrm>
            <a:off x="9646920" y="174193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
        <p:nvSpPr>
          <p:cNvPr id="13" name="Shape 10"/>
          <p:cNvSpPr/>
          <p:nvPr/>
        </p:nvSpPr>
        <p:spPr>
          <a:xfrm>
            <a:off x="502920" y="2459736"/>
            <a:ext cx="11183112" cy="832104"/>
          </a:xfrm>
          <a:prstGeom prst="roundRect">
            <a:avLst>
              <a:gd name="adj" fmla="val 7692"/>
            </a:avLst>
          </a:prstGeom>
          <a:solidFill>
            <a:srgbClr val="F2F6F9"/>
          </a:solidFill>
          <a:ln w="9525">
            <a:solidFill>
              <a:srgbClr val="D9E2EA"/>
            </a:solidFill>
            <a:prstDash val="solid"/>
          </a:ln>
        </p:spPr>
      </p:sp>
      <p:sp>
        <p:nvSpPr>
          <p:cNvPr id="14" name="Shape 11"/>
          <p:cNvSpPr/>
          <p:nvPr/>
        </p:nvSpPr>
        <p:spPr>
          <a:xfrm>
            <a:off x="649224" y="2711196"/>
            <a:ext cx="329184" cy="329184"/>
          </a:xfrm>
          <a:prstGeom prst="ellipse">
            <a:avLst/>
          </a:prstGeom>
          <a:solidFill>
            <a:srgbClr val="00A79D"/>
          </a:solidFill>
          <a:ln/>
        </p:spPr>
      </p:sp>
      <p:sp>
        <p:nvSpPr>
          <p:cNvPr id="15" name="Text 12"/>
          <p:cNvSpPr/>
          <p:nvPr/>
        </p:nvSpPr>
        <p:spPr>
          <a:xfrm>
            <a:off x="649224" y="271119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5.2</a:t>
            </a:r>
            <a:endParaRPr lang="en-US" sz="1150" dirty="0"/>
          </a:p>
        </p:txBody>
      </p:sp>
      <p:sp>
        <p:nvSpPr>
          <p:cNvPr id="16" name="Text 13"/>
          <p:cNvSpPr/>
          <p:nvPr/>
        </p:nvSpPr>
        <p:spPr>
          <a:xfrm>
            <a:off x="1143000" y="245973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Measure label quality with inter-annotator agreement (class kappa, box/mask IoU)</a:t>
            </a:r>
            <a:endParaRPr lang="en-US" sz="1250" dirty="0"/>
          </a:p>
        </p:txBody>
      </p:sp>
      <p:sp>
        <p:nvSpPr>
          <p:cNvPr id="17" name="Shape 14"/>
          <p:cNvSpPr/>
          <p:nvPr/>
        </p:nvSpPr>
        <p:spPr>
          <a:xfrm>
            <a:off x="9646920" y="2702052"/>
            <a:ext cx="658368" cy="310896"/>
          </a:xfrm>
          <a:prstGeom prst="roundRect">
            <a:avLst>
              <a:gd name="adj" fmla="val 50000"/>
            </a:avLst>
          </a:prstGeom>
          <a:solidFill>
            <a:srgbClr val="E9F6F5"/>
          </a:solidFill>
          <a:ln w="9525">
            <a:solidFill>
              <a:srgbClr val="00A79D"/>
            </a:solidFill>
            <a:prstDash val="solid"/>
          </a:ln>
        </p:spPr>
      </p:sp>
      <p:sp>
        <p:nvSpPr>
          <p:cNvPr id="18" name="Text 15"/>
          <p:cNvSpPr/>
          <p:nvPr/>
        </p:nvSpPr>
        <p:spPr>
          <a:xfrm>
            <a:off x="9646920"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
        <p:nvSpPr>
          <p:cNvPr id="19" name="Shape 16"/>
          <p:cNvSpPr/>
          <p:nvPr/>
        </p:nvSpPr>
        <p:spPr>
          <a:xfrm>
            <a:off x="10360152" y="2702052"/>
            <a:ext cx="658368" cy="310896"/>
          </a:xfrm>
          <a:prstGeom prst="roundRect">
            <a:avLst>
              <a:gd name="adj" fmla="val 50000"/>
            </a:avLst>
          </a:prstGeom>
          <a:solidFill>
            <a:srgbClr val="E9F6F5"/>
          </a:solidFill>
          <a:ln w="9525">
            <a:solidFill>
              <a:srgbClr val="00A79D"/>
            </a:solidFill>
            <a:prstDash val="solid"/>
          </a:ln>
        </p:spPr>
      </p:sp>
      <p:sp>
        <p:nvSpPr>
          <p:cNvPr id="20" name="Text 17"/>
          <p:cNvSpPr/>
          <p:nvPr/>
        </p:nvSpPr>
        <p:spPr>
          <a:xfrm>
            <a:off x="10360152"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21" name="Shape 18"/>
          <p:cNvSpPr/>
          <p:nvPr/>
        </p:nvSpPr>
        <p:spPr>
          <a:xfrm>
            <a:off x="502920" y="3419856"/>
            <a:ext cx="11183112" cy="832104"/>
          </a:xfrm>
          <a:prstGeom prst="roundRect">
            <a:avLst>
              <a:gd name="adj" fmla="val 7692"/>
            </a:avLst>
          </a:prstGeom>
          <a:solidFill>
            <a:srgbClr val="FAFCFE"/>
          </a:solidFill>
          <a:ln w="9525">
            <a:solidFill>
              <a:srgbClr val="D9E2EA"/>
            </a:solidFill>
            <a:prstDash val="solid"/>
          </a:ln>
        </p:spPr>
      </p:sp>
      <p:sp>
        <p:nvSpPr>
          <p:cNvPr id="22" name="Shape 19"/>
          <p:cNvSpPr/>
          <p:nvPr/>
        </p:nvSpPr>
        <p:spPr>
          <a:xfrm>
            <a:off x="649224" y="3671316"/>
            <a:ext cx="329184" cy="329184"/>
          </a:xfrm>
          <a:prstGeom prst="ellipse">
            <a:avLst/>
          </a:prstGeom>
          <a:solidFill>
            <a:srgbClr val="00A79D"/>
          </a:solidFill>
          <a:ln/>
        </p:spPr>
      </p:sp>
      <p:sp>
        <p:nvSpPr>
          <p:cNvPr id="23" name="Text 20"/>
          <p:cNvSpPr/>
          <p:nvPr/>
        </p:nvSpPr>
        <p:spPr>
          <a:xfrm>
            <a:off x="649224" y="367131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5.3</a:t>
            </a:r>
            <a:endParaRPr lang="en-US" sz="1150" dirty="0"/>
          </a:p>
        </p:txBody>
      </p:sp>
      <p:sp>
        <p:nvSpPr>
          <p:cNvPr id="24" name="Text 21"/>
          <p:cNvSpPr/>
          <p:nvPr/>
        </p:nvSpPr>
        <p:spPr>
          <a:xfrm>
            <a:off x="1143000" y="341985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Detect label errors at scale with model-assisted auditing</a:t>
            </a:r>
            <a:endParaRPr lang="en-US" sz="1250" dirty="0"/>
          </a:p>
        </p:txBody>
      </p:sp>
      <p:sp>
        <p:nvSpPr>
          <p:cNvPr id="25" name="Shape 22"/>
          <p:cNvSpPr/>
          <p:nvPr/>
        </p:nvSpPr>
        <p:spPr>
          <a:xfrm>
            <a:off x="9646920" y="3662172"/>
            <a:ext cx="658368" cy="310896"/>
          </a:xfrm>
          <a:prstGeom prst="roundRect">
            <a:avLst>
              <a:gd name="adj" fmla="val 50000"/>
            </a:avLst>
          </a:prstGeom>
          <a:solidFill>
            <a:srgbClr val="E9F6F5"/>
          </a:solidFill>
          <a:ln w="9525">
            <a:solidFill>
              <a:srgbClr val="00A79D"/>
            </a:solidFill>
            <a:prstDash val="solid"/>
          </a:ln>
        </p:spPr>
      </p:sp>
      <p:sp>
        <p:nvSpPr>
          <p:cNvPr id="26" name="Text 23"/>
          <p:cNvSpPr/>
          <p:nvPr/>
        </p:nvSpPr>
        <p:spPr>
          <a:xfrm>
            <a:off x="9646920"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
        <p:nvSpPr>
          <p:cNvPr id="27" name="Shape 24"/>
          <p:cNvSpPr/>
          <p:nvPr/>
        </p:nvSpPr>
        <p:spPr>
          <a:xfrm>
            <a:off x="10360152" y="3662172"/>
            <a:ext cx="658368" cy="310896"/>
          </a:xfrm>
          <a:prstGeom prst="roundRect">
            <a:avLst>
              <a:gd name="adj" fmla="val 50000"/>
            </a:avLst>
          </a:prstGeom>
          <a:solidFill>
            <a:srgbClr val="E9F6F5"/>
          </a:solidFill>
          <a:ln w="9525">
            <a:solidFill>
              <a:srgbClr val="00A79D"/>
            </a:solidFill>
            <a:prstDash val="solid"/>
          </a:ln>
        </p:spPr>
      </p:sp>
      <p:sp>
        <p:nvSpPr>
          <p:cNvPr id="28" name="Text 25"/>
          <p:cNvSpPr/>
          <p:nvPr/>
        </p:nvSpPr>
        <p:spPr>
          <a:xfrm>
            <a:off x="10360152"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29" name="Shape 26"/>
          <p:cNvSpPr/>
          <p:nvPr/>
        </p:nvSpPr>
        <p:spPr>
          <a:xfrm>
            <a:off x="502920" y="4379976"/>
            <a:ext cx="11183112" cy="832104"/>
          </a:xfrm>
          <a:prstGeom prst="roundRect">
            <a:avLst>
              <a:gd name="adj" fmla="val 7692"/>
            </a:avLst>
          </a:prstGeom>
          <a:solidFill>
            <a:srgbClr val="F2F6F9"/>
          </a:solidFill>
          <a:ln w="9525">
            <a:solidFill>
              <a:srgbClr val="D9E2EA"/>
            </a:solidFill>
            <a:prstDash val="solid"/>
          </a:ln>
        </p:spPr>
      </p:sp>
      <p:sp>
        <p:nvSpPr>
          <p:cNvPr id="30" name="Shape 27"/>
          <p:cNvSpPr/>
          <p:nvPr/>
        </p:nvSpPr>
        <p:spPr>
          <a:xfrm>
            <a:off x="649224" y="4631436"/>
            <a:ext cx="329184" cy="329184"/>
          </a:xfrm>
          <a:prstGeom prst="ellipse">
            <a:avLst/>
          </a:prstGeom>
          <a:solidFill>
            <a:srgbClr val="00A79D"/>
          </a:solidFill>
          <a:ln/>
        </p:spPr>
      </p:sp>
      <p:sp>
        <p:nvSpPr>
          <p:cNvPr id="31" name="Text 28"/>
          <p:cNvSpPr/>
          <p:nvPr/>
        </p:nvSpPr>
        <p:spPr>
          <a:xfrm>
            <a:off x="649224" y="463143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5.4</a:t>
            </a:r>
            <a:endParaRPr lang="en-US" sz="1150" dirty="0"/>
          </a:p>
        </p:txBody>
      </p:sp>
      <p:sp>
        <p:nvSpPr>
          <p:cNvPr id="32" name="Text 29"/>
          <p:cNvSpPr/>
          <p:nvPr/>
        </p:nvSpPr>
        <p:spPr>
          <a:xfrm>
            <a:off x="1143000" y="437997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Design active-learning rounds: uncertainty + diversity sampling against a budget</a:t>
            </a:r>
            <a:endParaRPr lang="en-US" sz="1250" dirty="0"/>
          </a:p>
        </p:txBody>
      </p:sp>
      <p:sp>
        <p:nvSpPr>
          <p:cNvPr id="33" name="Shape 30"/>
          <p:cNvSpPr/>
          <p:nvPr/>
        </p:nvSpPr>
        <p:spPr>
          <a:xfrm>
            <a:off x="9646920" y="4622292"/>
            <a:ext cx="658368" cy="310896"/>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9646920"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
        <p:nvSpPr>
          <p:cNvPr id="35" name="Shape 32"/>
          <p:cNvSpPr/>
          <p:nvPr/>
        </p:nvSpPr>
        <p:spPr>
          <a:xfrm>
            <a:off x="502920" y="5340096"/>
            <a:ext cx="11183112" cy="832104"/>
          </a:xfrm>
          <a:prstGeom prst="roundRect">
            <a:avLst>
              <a:gd name="adj" fmla="val 7692"/>
            </a:avLst>
          </a:prstGeom>
          <a:solidFill>
            <a:srgbClr val="FAFCFE"/>
          </a:solidFill>
          <a:ln w="9525">
            <a:solidFill>
              <a:srgbClr val="D9E2EA"/>
            </a:solidFill>
            <a:prstDash val="solid"/>
          </a:ln>
        </p:spPr>
      </p:sp>
      <p:sp>
        <p:nvSpPr>
          <p:cNvPr id="36" name="Shape 33"/>
          <p:cNvSpPr/>
          <p:nvPr/>
        </p:nvSpPr>
        <p:spPr>
          <a:xfrm>
            <a:off x="649224" y="5591556"/>
            <a:ext cx="329184" cy="329184"/>
          </a:xfrm>
          <a:prstGeom prst="ellipse">
            <a:avLst/>
          </a:prstGeom>
          <a:solidFill>
            <a:srgbClr val="00A79D"/>
          </a:solidFill>
          <a:ln/>
        </p:spPr>
      </p:sp>
      <p:sp>
        <p:nvSpPr>
          <p:cNvPr id="37" name="Text 34"/>
          <p:cNvSpPr/>
          <p:nvPr/>
        </p:nvSpPr>
        <p:spPr>
          <a:xfrm>
            <a:off x="649224" y="559155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5.5</a:t>
            </a:r>
            <a:endParaRPr lang="en-US" sz="1150" dirty="0"/>
          </a:p>
        </p:txBody>
      </p:sp>
      <p:sp>
        <p:nvSpPr>
          <p:cNvPr id="38" name="Text 35"/>
          <p:cNvSpPr/>
          <p:nvPr/>
        </p:nvSpPr>
        <p:spPr>
          <a:xfrm>
            <a:off x="1143000" y="534009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Version datasets: immutable releases, manifests, hashes, changelogs, split freezes</a:t>
            </a:r>
            <a:endParaRPr lang="en-US" sz="1250" dirty="0"/>
          </a:p>
        </p:txBody>
      </p:sp>
      <p:sp>
        <p:nvSpPr>
          <p:cNvPr id="39" name="Shape 36"/>
          <p:cNvSpPr/>
          <p:nvPr/>
        </p:nvSpPr>
        <p:spPr>
          <a:xfrm>
            <a:off x="9646920" y="5582412"/>
            <a:ext cx="658368" cy="310896"/>
          </a:xfrm>
          <a:prstGeom prst="roundRect">
            <a:avLst>
              <a:gd name="adj" fmla="val 50000"/>
            </a:avLst>
          </a:prstGeom>
          <a:solidFill>
            <a:srgbClr val="E9F6F5"/>
          </a:solidFill>
          <a:ln w="9525">
            <a:solidFill>
              <a:srgbClr val="00A79D"/>
            </a:solidFill>
            <a:prstDash val="solid"/>
          </a:ln>
        </p:spPr>
      </p:sp>
      <p:sp>
        <p:nvSpPr>
          <p:cNvPr id="40" name="Text 37"/>
          <p:cNvSpPr/>
          <p:nvPr/>
        </p:nvSpPr>
        <p:spPr>
          <a:xfrm>
            <a:off x="9646920"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Annotation Spec Is the Real Architecture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مواصفة التوصيف هي البنية الحقيقية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92</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A model can never be more consistent than its labels; the spec is where consistency is manufactured.</a:t>
            </a:r>
            <a:endParaRPr lang="en-US" sz="1250" dirty="0"/>
          </a:p>
        </p:txBody>
      </p:sp>
      <p:sp>
        <p:nvSpPr>
          <p:cNvPr id="8" name="Shape 5"/>
          <p:cNvSpPr/>
          <p:nvPr/>
        </p:nvSpPr>
        <p:spPr>
          <a:xfrm>
            <a:off x="502920" y="1892808"/>
            <a:ext cx="11185855" cy="790042"/>
          </a:xfrm>
          <a:prstGeom prst="roundRect">
            <a:avLst>
              <a:gd name="adj" fmla="val 6944"/>
            </a:avLst>
          </a:prstGeom>
          <a:solidFill>
            <a:srgbClr val="1D2A5C"/>
          </a:solidFill>
          <a:ln/>
        </p:spPr>
      </p:sp>
      <p:sp>
        <p:nvSpPr>
          <p:cNvPr id="9" name="Text 6"/>
          <p:cNvSpPr/>
          <p:nvPr/>
        </p:nvSpPr>
        <p:spPr>
          <a:xfrm>
            <a:off x="685800" y="1892808"/>
            <a:ext cx="4698059"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Taxonomy + decision rules</a:t>
            </a:r>
            <a:endParaRPr lang="en-US" sz="1300" dirty="0"/>
          </a:p>
        </p:txBody>
      </p:sp>
      <p:sp>
        <p:nvSpPr>
          <p:cNvPr id="10" name="Text 7"/>
          <p:cNvSpPr/>
          <p:nvPr/>
        </p:nvSpPr>
        <p:spPr>
          <a:xfrm>
            <a:off x="5424696" y="1892808"/>
            <a:ext cx="5928503"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sugaring AND mould labelled as separate instances when they co-occur</a:t>
            </a:r>
            <a:endParaRPr lang="en-US" sz="1050" dirty="0"/>
          </a:p>
        </p:txBody>
      </p:sp>
      <p:sp>
        <p:nvSpPr>
          <p:cNvPr id="11" name="Shape 8"/>
          <p:cNvSpPr/>
          <p:nvPr/>
        </p:nvSpPr>
        <p:spPr>
          <a:xfrm>
            <a:off x="758952" y="2810866"/>
            <a:ext cx="10673791" cy="790042"/>
          </a:xfrm>
          <a:prstGeom prst="roundRect">
            <a:avLst>
              <a:gd name="adj" fmla="val 6944"/>
            </a:avLst>
          </a:prstGeom>
          <a:solidFill>
            <a:srgbClr val="24437E"/>
          </a:solidFill>
          <a:ln/>
        </p:spPr>
      </p:sp>
      <p:sp>
        <p:nvSpPr>
          <p:cNvPr id="12" name="Text 9"/>
          <p:cNvSpPr/>
          <p:nvPr/>
        </p:nvSpPr>
        <p:spPr>
          <a:xfrm>
            <a:off x="941832" y="2810866"/>
            <a:ext cx="4482992"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Boundary rules</a:t>
            </a:r>
            <a:endParaRPr lang="en-US" sz="1300" dirty="0"/>
          </a:p>
        </p:txBody>
      </p:sp>
      <p:sp>
        <p:nvSpPr>
          <p:cNvPr id="13" name="Text 10"/>
          <p:cNvSpPr/>
          <p:nvPr/>
        </p:nvSpPr>
        <p:spPr>
          <a:xfrm>
            <a:off x="5455420" y="2810866"/>
            <a:ext cx="5657109"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v2: boundary at last clearly abnormal pixel; do not include the halo</a:t>
            </a:r>
            <a:endParaRPr lang="en-US" sz="1050" dirty="0"/>
          </a:p>
        </p:txBody>
      </p:sp>
      <p:sp>
        <p:nvSpPr>
          <p:cNvPr id="14" name="Shape 11"/>
          <p:cNvSpPr/>
          <p:nvPr/>
        </p:nvSpPr>
        <p:spPr>
          <a:xfrm>
            <a:off x="1014984" y="3728923"/>
            <a:ext cx="10161727" cy="790042"/>
          </a:xfrm>
          <a:prstGeom prst="roundRect">
            <a:avLst>
              <a:gd name="adj" fmla="val 6944"/>
            </a:avLst>
          </a:prstGeom>
          <a:solidFill>
            <a:srgbClr val="2A5CA0"/>
          </a:solidFill>
          <a:ln/>
        </p:spPr>
      </p:sp>
      <p:sp>
        <p:nvSpPr>
          <p:cNvPr id="15" name="Text 12"/>
          <p:cNvSpPr/>
          <p:nvPr/>
        </p:nvSpPr>
        <p:spPr>
          <a:xfrm>
            <a:off x="1197864" y="3728923"/>
            <a:ext cx="4267925"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Edge-case gallery</a:t>
            </a:r>
            <a:endParaRPr lang="en-US" sz="1300" dirty="0"/>
          </a:p>
        </p:txBody>
      </p:sp>
      <p:sp>
        <p:nvSpPr>
          <p:cNvPr id="16" name="Text 13"/>
          <p:cNvSpPr/>
          <p:nvPr/>
        </p:nvSpPr>
        <p:spPr>
          <a:xfrm>
            <a:off x="5486144" y="3728923"/>
            <a:ext cx="5385715"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20-40 worked examples with reasoning — the highest-ROI page</a:t>
            </a:r>
            <a:endParaRPr lang="en-US" sz="1050" dirty="0"/>
          </a:p>
        </p:txBody>
      </p:sp>
      <p:sp>
        <p:nvSpPr>
          <p:cNvPr id="17" name="Shape 14"/>
          <p:cNvSpPr/>
          <p:nvPr/>
        </p:nvSpPr>
        <p:spPr>
          <a:xfrm>
            <a:off x="1271016" y="4646981"/>
            <a:ext cx="9649663" cy="790042"/>
          </a:xfrm>
          <a:prstGeom prst="roundRect">
            <a:avLst>
              <a:gd name="adj" fmla="val 6944"/>
            </a:avLst>
          </a:prstGeom>
          <a:solidFill>
            <a:srgbClr val="1F7FB8"/>
          </a:solidFill>
          <a:ln/>
        </p:spPr>
      </p:sp>
      <p:sp>
        <p:nvSpPr>
          <p:cNvPr id="18" name="Text 15"/>
          <p:cNvSpPr/>
          <p:nvPr/>
        </p:nvSpPr>
        <p:spPr>
          <a:xfrm>
            <a:off x="1453896" y="4646981"/>
            <a:ext cx="4052859"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Negative definitions</a:t>
            </a:r>
            <a:endParaRPr lang="en-US" sz="1300" dirty="0"/>
          </a:p>
        </p:txBody>
      </p:sp>
      <p:sp>
        <p:nvSpPr>
          <p:cNvPr id="19" name="Text 16"/>
          <p:cNvSpPr/>
          <p:nvPr/>
        </p:nvSpPr>
        <p:spPr>
          <a:xfrm>
            <a:off x="5516868" y="4646981"/>
            <a:ext cx="5114321"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what is NOT a defect: natural wrinkling, harmless bloom</a:t>
            </a:r>
            <a:endParaRPr lang="en-US" sz="1050" dirty="0"/>
          </a:p>
        </p:txBody>
      </p:sp>
      <p:sp>
        <p:nvSpPr>
          <p:cNvPr id="20" name="Shape 17"/>
          <p:cNvSpPr/>
          <p:nvPr/>
        </p:nvSpPr>
        <p:spPr>
          <a:xfrm>
            <a:off x="1527048" y="5565038"/>
            <a:ext cx="9137599" cy="790042"/>
          </a:xfrm>
          <a:prstGeom prst="roundRect">
            <a:avLst>
              <a:gd name="adj" fmla="val 6944"/>
            </a:avLst>
          </a:prstGeom>
          <a:solidFill>
            <a:srgbClr val="29ABE2"/>
          </a:solidFill>
          <a:ln/>
        </p:spPr>
      </p:sp>
      <p:sp>
        <p:nvSpPr>
          <p:cNvPr id="21" name="Text 18"/>
          <p:cNvSpPr/>
          <p:nvPr/>
        </p:nvSpPr>
        <p:spPr>
          <a:xfrm>
            <a:off x="1709928" y="5565038"/>
            <a:ext cx="3837792"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QA procedure</a:t>
            </a:r>
            <a:endParaRPr lang="en-US" sz="1300" dirty="0"/>
          </a:p>
        </p:txBody>
      </p:sp>
      <p:sp>
        <p:nvSpPr>
          <p:cNvPr id="22" name="Text 19"/>
          <p:cNvSpPr/>
          <p:nvPr/>
        </p:nvSpPr>
        <p:spPr>
          <a:xfrm>
            <a:off x="5547592" y="5565038"/>
            <a:ext cx="4842928"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10% double-annotated; kappa &lt; 0.75 triggers annotator retraining</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Data Flywheel and Pre-Labelling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دولاب البيانات والتوصيف المسبق</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93</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Correcting a draft box takes ~2 s vs ~7 s drawing; SAM-assisted polygons cut cost 3-5x. Every model version becomes an annotation upgrade.</a:t>
            </a:r>
            <a:endParaRPr lang="en-US" sz="1250" dirty="0"/>
          </a:p>
        </p:txBody>
      </p:sp>
      <p:sp>
        <p:nvSpPr>
          <p:cNvPr id="8" name="Shape 5"/>
          <p:cNvSpPr/>
          <p:nvPr/>
        </p:nvSpPr>
        <p:spPr>
          <a:xfrm>
            <a:off x="502920" y="2121408"/>
            <a:ext cx="3472586"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217627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Deploy + capture</a:t>
            </a:r>
            <a:endParaRPr lang="en-US" sz="1250" dirty="0"/>
          </a:p>
        </p:txBody>
      </p:sp>
      <p:sp>
        <p:nvSpPr>
          <p:cNvPr id="10" name="Text 7"/>
          <p:cNvSpPr/>
          <p:nvPr/>
        </p:nvSpPr>
        <p:spPr>
          <a:xfrm>
            <a:off x="576072" y="277977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production frames flow back (PDPL gate)</a:t>
            </a:r>
            <a:endParaRPr lang="en-US" sz="950" dirty="0"/>
          </a:p>
        </p:txBody>
      </p:sp>
      <p:sp>
        <p:nvSpPr>
          <p:cNvPr id="11" name="Shape 8"/>
          <p:cNvSpPr/>
          <p:nvPr/>
        </p:nvSpPr>
        <p:spPr>
          <a:xfrm>
            <a:off x="4030370" y="2807208"/>
            <a:ext cx="274320" cy="0"/>
          </a:xfrm>
          <a:prstGeom prst="line">
            <a:avLst/>
          </a:prstGeom>
          <a:noFill/>
          <a:ln w="19050">
            <a:solidFill>
              <a:srgbClr val="8A96A6"/>
            </a:solidFill>
            <a:prstDash val="solid"/>
            <a:headEnd type="none"/>
            <a:tailEnd type="triangle"/>
          </a:ln>
        </p:spPr>
      </p:sp>
      <p:sp>
        <p:nvSpPr>
          <p:cNvPr id="12" name="Shape 9"/>
          <p:cNvSpPr/>
          <p:nvPr/>
        </p:nvSpPr>
        <p:spPr>
          <a:xfrm>
            <a:off x="4359554" y="2121408"/>
            <a:ext cx="3472586" cy="1371600"/>
          </a:xfrm>
          <a:prstGeom prst="roundRect">
            <a:avLst>
              <a:gd name="adj" fmla="val 4667"/>
            </a:avLst>
          </a:prstGeom>
          <a:solidFill>
            <a:srgbClr val="F2F6F9"/>
          </a:solidFill>
          <a:ln w="15875">
            <a:solidFill>
              <a:srgbClr val="00A79D"/>
            </a:solidFill>
            <a:prstDash val="solid"/>
          </a:ln>
        </p:spPr>
      </p:sp>
      <p:sp>
        <p:nvSpPr>
          <p:cNvPr id="13" name="Text 10"/>
          <p:cNvSpPr/>
          <p:nvPr/>
        </p:nvSpPr>
        <p:spPr>
          <a:xfrm>
            <a:off x="4432706" y="217627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Uncertainty triage</a:t>
            </a:r>
            <a:endParaRPr lang="en-US" sz="1250" dirty="0"/>
          </a:p>
        </p:txBody>
      </p:sp>
      <p:sp>
        <p:nvSpPr>
          <p:cNvPr id="14" name="Text 11"/>
          <p:cNvSpPr/>
          <p:nvPr/>
        </p:nvSpPr>
        <p:spPr>
          <a:xfrm>
            <a:off x="4432706" y="277977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rank what deserves labelling</a:t>
            </a:r>
            <a:endParaRPr lang="en-US" sz="950" dirty="0"/>
          </a:p>
        </p:txBody>
      </p:sp>
      <p:sp>
        <p:nvSpPr>
          <p:cNvPr id="15" name="Shape 12"/>
          <p:cNvSpPr/>
          <p:nvPr/>
        </p:nvSpPr>
        <p:spPr>
          <a:xfrm>
            <a:off x="7887005" y="2807208"/>
            <a:ext cx="274320" cy="0"/>
          </a:xfrm>
          <a:prstGeom prst="line">
            <a:avLst/>
          </a:prstGeom>
          <a:noFill/>
          <a:ln w="19050">
            <a:solidFill>
              <a:srgbClr val="8A96A6"/>
            </a:solidFill>
            <a:prstDash val="solid"/>
            <a:headEnd type="none"/>
            <a:tailEnd type="triangle"/>
          </a:ln>
        </p:spPr>
      </p:sp>
      <p:sp>
        <p:nvSpPr>
          <p:cNvPr id="16" name="Shape 13"/>
          <p:cNvSpPr/>
          <p:nvPr/>
        </p:nvSpPr>
        <p:spPr>
          <a:xfrm>
            <a:off x="8216189" y="2121408"/>
            <a:ext cx="3472586" cy="1371600"/>
          </a:xfrm>
          <a:prstGeom prst="roundRect">
            <a:avLst>
              <a:gd name="adj" fmla="val 4667"/>
            </a:avLst>
          </a:prstGeom>
          <a:solidFill>
            <a:srgbClr val="F2F6F9"/>
          </a:solidFill>
          <a:ln w="15875">
            <a:solidFill>
              <a:srgbClr val="00A79D"/>
            </a:solidFill>
            <a:prstDash val="solid"/>
          </a:ln>
        </p:spPr>
      </p:sp>
      <p:sp>
        <p:nvSpPr>
          <p:cNvPr id="17" name="Text 14"/>
          <p:cNvSpPr/>
          <p:nvPr/>
        </p:nvSpPr>
        <p:spPr>
          <a:xfrm>
            <a:off x="8289341" y="217627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Annotate pre-labelled</a:t>
            </a:r>
            <a:endParaRPr lang="en-US" sz="1250" dirty="0"/>
          </a:p>
        </p:txBody>
      </p:sp>
      <p:sp>
        <p:nvSpPr>
          <p:cNvPr id="18" name="Text 15"/>
          <p:cNvSpPr/>
          <p:nvPr/>
        </p:nvSpPr>
        <p:spPr>
          <a:xfrm>
            <a:off x="8289341" y="277977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humans correct drafts, not create</a:t>
            </a:r>
            <a:endParaRPr lang="en-US" sz="950" dirty="0"/>
          </a:p>
        </p:txBody>
      </p:sp>
      <p:sp>
        <p:nvSpPr>
          <p:cNvPr id="19" name="Shape 16"/>
          <p:cNvSpPr/>
          <p:nvPr/>
        </p:nvSpPr>
        <p:spPr>
          <a:xfrm>
            <a:off x="9952482" y="3493008"/>
            <a:ext cx="0" cy="777240"/>
          </a:xfrm>
          <a:prstGeom prst="line">
            <a:avLst/>
          </a:prstGeom>
          <a:noFill/>
          <a:ln w="19050">
            <a:solidFill>
              <a:srgbClr val="8A96A6"/>
            </a:solidFill>
            <a:prstDash val="solid"/>
            <a:tailEnd type="triangle"/>
          </a:ln>
        </p:spPr>
      </p:sp>
      <p:sp>
        <p:nvSpPr>
          <p:cNvPr id="20" name="Shape 17"/>
          <p:cNvSpPr/>
          <p:nvPr/>
        </p:nvSpPr>
        <p:spPr>
          <a:xfrm>
            <a:off x="9952482" y="3493008"/>
            <a:ext cx="0" cy="274320"/>
          </a:xfrm>
          <a:prstGeom prst="line">
            <a:avLst/>
          </a:prstGeom>
          <a:noFill/>
          <a:ln w="15875">
            <a:solidFill>
              <a:srgbClr val="E8503A"/>
            </a:solidFill>
            <a:prstDash val="dash"/>
          </a:ln>
        </p:spPr>
      </p:sp>
      <p:sp>
        <p:nvSpPr>
          <p:cNvPr id="21" name="Shape 18"/>
          <p:cNvSpPr/>
          <p:nvPr/>
        </p:nvSpPr>
        <p:spPr>
          <a:xfrm>
            <a:off x="8170469" y="3767328"/>
            <a:ext cx="3564026" cy="475488"/>
          </a:xfrm>
          <a:prstGeom prst="roundRect">
            <a:avLst>
              <a:gd name="adj" fmla="val 11538"/>
            </a:avLst>
          </a:prstGeom>
          <a:solidFill>
            <a:srgbClr val="FDEDEA"/>
          </a:solidFill>
          <a:ln w="12700">
            <a:solidFill>
              <a:srgbClr val="E8503A"/>
            </a:solidFill>
            <a:prstDash val="solid"/>
          </a:ln>
        </p:spPr>
      </p:sp>
      <p:sp>
        <p:nvSpPr>
          <p:cNvPr id="22" name="Text 19"/>
          <p:cNvSpPr/>
          <p:nvPr/>
        </p:nvSpPr>
        <p:spPr>
          <a:xfrm>
            <a:off x="8216189" y="3767328"/>
            <a:ext cx="3472586"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anchor bias: model errors confirmed into ground truth</a:t>
            </a:r>
            <a:endParaRPr lang="en-US" sz="950" dirty="0"/>
          </a:p>
        </p:txBody>
      </p:sp>
      <p:sp>
        <p:nvSpPr>
          <p:cNvPr id="23" name="Shape 20"/>
          <p:cNvSpPr/>
          <p:nvPr/>
        </p:nvSpPr>
        <p:spPr>
          <a:xfrm>
            <a:off x="8216189" y="4361688"/>
            <a:ext cx="3472586" cy="1371600"/>
          </a:xfrm>
          <a:prstGeom prst="roundRect">
            <a:avLst>
              <a:gd name="adj" fmla="val 4667"/>
            </a:avLst>
          </a:prstGeom>
          <a:solidFill>
            <a:srgbClr val="F2F6F9"/>
          </a:solidFill>
          <a:ln w="15875">
            <a:solidFill>
              <a:srgbClr val="00A79D"/>
            </a:solidFill>
            <a:prstDash val="solid"/>
          </a:ln>
        </p:spPr>
      </p:sp>
      <p:sp>
        <p:nvSpPr>
          <p:cNvPr id="24" name="Text 21"/>
          <p:cNvSpPr/>
          <p:nvPr/>
        </p:nvSpPr>
        <p:spPr>
          <a:xfrm>
            <a:off x="8289341" y="441655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QA / agreement</a:t>
            </a:r>
            <a:endParaRPr lang="en-US" sz="1250" dirty="0"/>
          </a:p>
        </p:txBody>
      </p:sp>
      <p:sp>
        <p:nvSpPr>
          <p:cNvPr id="25" name="Text 22"/>
          <p:cNvSpPr/>
          <p:nvPr/>
        </p:nvSpPr>
        <p:spPr>
          <a:xfrm>
            <a:off x="8289341" y="502005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kappa + IoU on double-annotated sample</a:t>
            </a:r>
            <a:endParaRPr lang="en-US" sz="950" dirty="0"/>
          </a:p>
        </p:txBody>
      </p:sp>
      <p:sp>
        <p:nvSpPr>
          <p:cNvPr id="26" name="Shape 23"/>
          <p:cNvSpPr/>
          <p:nvPr/>
        </p:nvSpPr>
        <p:spPr>
          <a:xfrm>
            <a:off x="7887005" y="5047488"/>
            <a:ext cx="274320" cy="0"/>
          </a:xfrm>
          <a:prstGeom prst="line">
            <a:avLst/>
          </a:prstGeom>
          <a:noFill/>
          <a:ln w="19050">
            <a:solidFill>
              <a:srgbClr val="8A96A6"/>
            </a:solidFill>
            <a:prstDash val="solid"/>
            <a:headEnd type="triangle"/>
            <a:tailEnd type="none"/>
          </a:ln>
        </p:spPr>
      </p:sp>
      <p:sp>
        <p:nvSpPr>
          <p:cNvPr id="27" name="Shape 24"/>
          <p:cNvSpPr/>
          <p:nvPr/>
        </p:nvSpPr>
        <p:spPr>
          <a:xfrm>
            <a:off x="4359554" y="4361688"/>
            <a:ext cx="3472586" cy="1371600"/>
          </a:xfrm>
          <a:prstGeom prst="roundRect">
            <a:avLst>
              <a:gd name="adj" fmla="val 4667"/>
            </a:avLst>
          </a:prstGeom>
          <a:solidFill>
            <a:srgbClr val="1D2A5C"/>
          </a:solidFill>
          <a:ln w="15875">
            <a:solidFill>
              <a:srgbClr val="00A79D"/>
            </a:solidFill>
            <a:prstDash val="solid"/>
          </a:ln>
        </p:spPr>
      </p:sp>
      <p:sp>
        <p:nvSpPr>
          <p:cNvPr id="28" name="Text 25"/>
          <p:cNvSpPr/>
          <p:nvPr/>
        </p:nvSpPr>
        <p:spPr>
          <a:xfrm>
            <a:off x="4432706" y="4416552"/>
            <a:ext cx="3326282"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Versioned release</a:t>
            </a:r>
            <a:endParaRPr lang="en-US" sz="1250" dirty="0"/>
          </a:p>
        </p:txBody>
      </p:sp>
      <p:sp>
        <p:nvSpPr>
          <p:cNvPr id="29" name="Text 26"/>
          <p:cNvSpPr/>
          <p:nvPr/>
        </p:nvSpPr>
        <p:spPr>
          <a:xfrm>
            <a:off x="4432706" y="5020056"/>
            <a:ext cx="3326282"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retrain and redeploy</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Is the Label Good? Answer with Numbers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هل التوصيف جيد؟ أجب بالأرقام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94</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Per-class-pair annotator confusion localises WHICH rule is ambiguous — v1's sugaring/skin_split cell was the tell.</a:t>
            </a:r>
            <a:endParaRPr lang="en-US" sz="125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3456687"/>
                <a:gridCol w="3120251"/>
                <a:gridCol w="4608917"/>
              </a:tblGrid>
              <a:tr h="628323">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Course bar</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Low value means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Cohen's kappa (classes)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&gt;= 0.85; &lt; 0.75 = stop</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taxonomy rules ambiguous — fix the spec first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Kappa 0.75-0.85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clarify the spec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specific rules need work, not the whole taxonomy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Median box IoU (annotators)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&gt;= 0.85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boundary rules need work, not taxonomy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Median polygon IoU</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&gt;= 0.75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mask boundary definition unclear</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Gold-task accuracy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vs expert key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shared misunderstanding — agreement is not truth</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Agreement before training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in the model card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label noise caps every M6 metric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Your Model Is the Best Label Auditor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نموذجك هو أفضل مدقق للتوصيفات</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95</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Loss-ranked auditing concentrates errors</a:t>
            </a:r>
            <a:endParaRPr lang="en-US" sz="1400" dirty="0"/>
          </a:p>
        </p:txBody>
      </p:sp>
      <p:sp>
        <p:nvSpPr>
          <p:cNvPr id="10" name="Text 7"/>
          <p:cNvSpPr/>
          <p:nvPr/>
        </p:nvSpPr>
        <p:spPr>
          <a:xfrm>
            <a:off x="1005840" y="179679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Run the model on its own training set; rank items by loss. Label errors concentrate violently at the top.</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Triage: label error / model error / ambiguous</a:t>
            </a:r>
            <a:endParaRPr lang="en-US" sz="1400" dirty="0"/>
          </a:p>
        </p:txBody>
      </p:sp>
      <p:sp>
        <p:nvSpPr>
          <p:cNvPr id="14" name="Text 11"/>
          <p:cNvSpPr/>
          <p:nvPr/>
        </p:nvSpPr>
        <p:spPr>
          <a:xfrm>
            <a:off x="1005840" y="298551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Ambiguous items feed the spec's edge-case gallery; all changes go through QA — auditor bias is real.</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Uncertainty + diversity beats random</a:t>
            </a:r>
            <a:endParaRPr lang="en-US" sz="1400" dirty="0"/>
          </a:p>
        </p:txBody>
      </p:sp>
      <p:sp>
        <p:nvSpPr>
          <p:cNvPr id="18" name="Text 15"/>
          <p:cNvSpPr/>
          <p:nvPr/>
        </p:nvSpPr>
        <p:spPr>
          <a:xfrm>
            <a:off x="1005840" y="417423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Uncertainty sampling targets the decision boundary; cluster caps stop collapse onto one failure mode.</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Stopping rule</a:t>
            </a:r>
            <a:endParaRPr lang="en-US" sz="1400" dirty="0"/>
          </a:p>
        </p:txBody>
      </p:sp>
      <p:sp>
        <p:nvSpPr>
          <p:cNvPr id="22" name="Text 19"/>
          <p:cNvSpPr/>
          <p:nvPr/>
        </p:nvSpPr>
        <p:spPr>
          <a:xfrm>
            <a:off x="1005840" y="536295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Continue while marginal AP per 100 labels beats the floor; below it, move to hard-negative mining.</a:t>
            </a:r>
            <a:endParaRPr lang="en-US" sz="1150" dirty="0"/>
          </a:p>
        </p:txBody>
      </p:sp>
      <p:sp>
        <p:nvSpPr>
          <p:cNvPr id="23" name="Shape 20"/>
          <p:cNvSpPr/>
          <p:nvPr/>
        </p:nvSpPr>
        <p:spPr>
          <a:xfrm>
            <a:off x="6355080" y="2775204"/>
            <a:ext cx="1563624" cy="2194560"/>
          </a:xfrm>
          <a:prstGeom prst="roundRect">
            <a:avLst>
              <a:gd name="adj" fmla="val 5263"/>
            </a:avLst>
          </a:prstGeom>
          <a:solidFill>
            <a:srgbClr val="E9F6F5"/>
          </a:solidFill>
          <a:ln w="12700">
            <a:solidFill>
              <a:srgbClr val="D9E2EA"/>
            </a:solidFill>
            <a:prstDash val="solid"/>
          </a:ln>
        </p:spPr>
      </p:sp>
      <p:sp>
        <p:nvSpPr>
          <p:cNvPr id="24" name="Text 21"/>
          <p:cNvSpPr/>
          <p:nvPr/>
        </p:nvSpPr>
        <p:spPr>
          <a:xfrm>
            <a:off x="6446520" y="2884932"/>
            <a:ext cx="1380744" cy="965606"/>
          </a:xfrm>
          <a:prstGeom prst="rect">
            <a:avLst/>
          </a:prstGeom>
          <a:noFill/>
          <a:ln/>
        </p:spPr>
        <p:txBody>
          <a:bodyPr wrap="square" lIns="0" tIns="0" rIns="0" bIns="0" rtlCol="0" anchor="ctr"/>
          <a:lstStyle/>
          <a:p>
            <a:pPr algn="ctr" indent="0" marL="0">
              <a:buNone/>
            </a:pPr>
            <a:r>
              <a:rPr lang="en-US" sz="3800" b="1" dirty="0">
                <a:solidFill>
                  <a:srgbClr val="00A79D"/>
                </a:solidFill>
                <a:latin typeface="Calibri" pitchFamily="34" charset="0"/>
                <a:ea typeface="Calibri" pitchFamily="34" charset="-122"/>
                <a:cs typeface="Calibri" pitchFamily="34" charset="-120"/>
              </a:rPr>
              <a:t>70%</a:t>
            </a:r>
            <a:endParaRPr lang="en-US" sz="3800" dirty="0"/>
          </a:p>
        </p:txBody>
      </p:sp>
      <p:sp>
        <p:nvSpPr>
          <p:cNvPr id="25" name="Text 22"/>
          <p:cNvSpPr/>
          <p:nvPr/>
        </p:nvSpPr>
        <p:spPr>
          <a:xfrm>
            <a:off x="6492240"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of label errors</a:t>
            </a:r>
            <a:endParaRPr lang="en-US" sz="1250" dirty="0"/>
          </a:p>
        </p:txBody>
      </p:sp>
      <p:sp>
        <p:nvSpPr>
          <p:cNvPr id="26" name="Text 23"/>
          <p:cNvSpPr/>
          <p:nvPr/>
        </p:nvSpPr>
        <p:spPr>
          <a:xfrm>
            <a:off x="6492240"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in top 300 loss-ranked</a:t>
            </a:r>
            <a:endParaRPr lang="en-US" sz="1000" dirty="0"/>
          </a:p>
        </p:txBody>
      </p:sp>
      <p:sp>
        <p:nvSpPr>
          <p:cNvPr id="27" name="Shape 24"/>
          <p:cNvSpPr/>
          <p:nvPr/>
        </p:nvSpPr>
        <p:spPr>
          <a:xfrm>
            <a:off x="8238744" y="2775204"/>
            <a:ext cx="1563624" cy="2194560"/>
          </a:xfrm>
          <a:prstGeom prst="roundRect">
            <a:avLst>
              <a:gd name="adj" fmla="val 5263"/>
            </a:avLst>
          </a:prstGeom>
          <a:solidFill>
            <a:srgbClr val="F2F6F9"/>
          </a:solidFill>
          <a:ln w="12700">
            <a:solidFill>
              <a:srgbClr val="D9E2EA"/>
            </a:solidFill>
            <a:prstDash val="solid"/>
          </a:ln>
        </p:spPr>
      </p:sp>
      <p:sp>
        <p:nvSpPr>
          <p:cNvPr id="28" name="Text 25"/>
          <p:cNvSpPr/>
          <p:nvPr/>
        </p:nvSpPr>
        <p:spPr>
          <a:xfrm>
            <a:off x="8330184" y="2884932"/>
            <a:ext cx="1380744" cy="965606"/>
          </a:xfrm>
          <a:prstGeom prst="rect">
            <a:avLst/>
          </a:prstGeom>
          <a:noFill/>
          <a:ln/>
        </p:spPr>
        <p:txBody>
          <a:bodyPr wrap="square" lIns="0" tIns="0" rIns="0" bIns="0" rtlCol="0" anchor="ctr"/>
          <a:lstStyle/>
          <a:p>
            <a:pPr algn="ctr" indent="0" marL="0">
              <a:buNone/>
            </a:pPr>
            <a:r>
              <a:rPr lang="en-US" sz="3800" b="1" dirty="0">
                <a:solidFill>
                  <a:srgbClr val="29ABE2"/>
                </a:solidFill>
                <a:latin typeface="Calibri" pitchFamily="34" charset="0"/>
                <a:ea typeface="Calibri" pitchFamily="34" charset="-122"/>
                <a:cs typeface="Calibri" pitchFamily="34" charset="-120"/>
              </a:rPr>
              <a:t>+0.09</a:t>
            </a:r>
            <a:endParaRPr lang="en-US" sz="3800" dirty="0"/>
          </a:p>
        </p:txBody>
      </p:sp>
      <p:sp>
        <p:nvSpPr>
          <p:cNvPr id="29" name="Text 26"/>
          <p:cNvSpPr/>
          <p:nvPr/>
        </p:nvSpPr>
        <p:spPr>
          <a:xfrm>
            <a:off x="8375904"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insect_damage AP</a:t>
            </a:r>
            <a:endParaRPr lang="en-US" sz="1250" dirty="0"/>
          </a:p>
        </p:txBody>
      </p:sp>
      <p:sp>
        <p:nvSpPr>
          <p:cNvPr id="30" name="Text 27"/>
          <p:cNvSpPr/>
          <p:nvPr/>
        </p:nvSpPr>
        <p:spPr>
          <a:xfrm>
            <a:off x="8375904"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800 AL-selected frames</a:t>
            </a:r>
            <a:endParaRPr lang="en-US" sz="1000" dirty="0"/>
          </a:p>
        </p:txBody>
      </p:sp>
      <p:sp>
        <p:nvSpPr>
          <p:cNvPr id="31" name="Shape 28"/>
          <p:cNvSpPr/>
          <p:nvPr/>
        </p:nvSpPr>
        <p:spPr>
          <a:xfrm>
            <a:off x="10122408" y="2775204"/>
            <a:ext cx="1563624" cy="2194560"/>
          </a:xfrm>
          <a:prstGeom prst="roundRect">
            <a:avLst>
              <a:gd name="adj" fmla="val 5263"/>
            </a:avLst>
          </a:prstGeom>
          <a:solidFill>
            <a:srgbClr val="F2F6F9"/>
          </a:solidFill>
          <a:ln w="12700">
            <a:solidFill>
              <a:srgbClr val="D9E2EA"/>
            </a:solidFill>
            <a:prstDash val="solid"/>
          </a:ln>
        </p:spPr>
      </p:sp>
      <p:sp>
        <p:nvSpPr>
          <p:cNvPr id="32" name="Text 29"/>
          <p:cNvSpPr/>
          <p:nvPr/>
        </p:nvSpPr>
        <p:spPr>
          <a:xfrm>
            <a:off x="10213848" y="2884932"/>
            <a:ext cx="1380744" cy="965606"/>
          </a:xfrm>
          <a:prstGeom prst="rect">
            <a:avLst/>
          </a:prstGeom>
          <a:noFill/>
          <a:ln/>
        </p:spPr>
        <p:txBody>
          <a:bodyPr wrap="square" lIns="0" tIns="0" rIns="0" bIns="0" rtlCol="0" anchor="ctr"/>
          <a:lstStyle/>
          <a:p>
            <a:pPr algn="ctr" indent="0" marL="0">
              <a:buNone/>
            </a:pPr>
            <a:r>
              <a:rPr lang="en-US" sz="3800" b="1" dirty="0">
                <a:solidFill>
                  <a:srgbClr val="F58220"/>
                </a:solidFill>
                <a:latin typeface="Calibri" pitchFamily="34" charset="0"/>
                <a:ea typeface="Calibri" pitchFamily="34" charset="-122"/>
                <a:cs typeface="Calibri" pitchFamily="34" charset="-120"/>
              </a:rPr>
              <a:t>+0.03</a:t>
            </a:r>
            <a:endParaRPr lang="en-US" sz="3800" dirty="0"/>
          </a:p>
        </p:txBody>
      </p:sp>
      <p:sp>
        <p:nvSpPr>
          <p:cNvPr id="33" name="Text 30"/>
          <p:cNvSpPr/>
          <p:nvPr/>
        </p:nvSpPr>
        <p:spPr>
          <a:xfrm>
            <a:off x="10259568"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random control</a:t>
            </a:r>
            <a:endParaRPr lang="en-US" sz="1250" dirty="0"/>
          </a:p>
        </p:txBody>
      </p:sp>
      <p:sp>
        <p:nvSpPr>
          <p:cNvPr id="34" name="Text 31"/>
          <p:cNvSpPr/>
          <p:nvPr/>
        </p:nvSpPr>
        <p:spPr>
          <a:xfrm>
            <a:off x="10259568"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same 800-frame budget</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Common Mistakes and How to Defend</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أخطاء شائعة وكيفية الدفاع</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96</a:t>
            </a:r>
            <a:endParaRPr lang="en-US" sz="9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746485"/>
                <a:gridCol w="3595557"/>
                <a:gridCol w="3843813"/>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Mistake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Consequence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Defence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Labelling before the gallery exists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every ambiguous item is a coin flip</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the gallery costs a day, saves a round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Never measuring label quality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model blamed for beating kappa 0.72</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agreement analysis before ambition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Pre-labelling unmonitored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model errors laundered into truth</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correction-rate monitoring per annotator</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Active learning on uncertainty alone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batch collapses onto one cluster</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add diversity constraints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'Fixing' the frozen test split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every historical comparison dies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additions only, flagged in changelog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Per-label vendor pricing, no QA clause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speed at kappa 0.7, costly rework</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agreement targets in the contract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Model-Assisted Label Audit</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تدقيق التوصيفات بمساعدة النموذج</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 CODE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97</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1914754"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scripts/audit_labels.py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"""Rank training items by loss under the current model.</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Label errors concentrate at the top; triage top-N by hand."""</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torch</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torch import nn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torch.utils.data import DataLoader</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tamr_vision.data.dataset import GRADES, DatesQCDataset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tamr_vision.models.classifier import build_model</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model = build_model()</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ckpt = torch.load("runs/grade_resnet50/best.pt")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model.load_state_dict(ckpt["state_dict"]); model.eval().cuda()</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ds = DatesQCDataset(root="data/dates-qc", split="train",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transform=eval_tf())</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criterion = nn.CrossEntropyLoss(reduction="none")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records =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with torch.no_grad():</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for imgs, labels in DataLoader(ds, batch_size=64):</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logits = model(imgs.cuda())</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losses = criterion(logits, labels.cuda())</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confs, preds = logits.softmax(1).max(1)</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 ... collect file, label, pred, conf, loss per item</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records.sort(key=lambda r: -r["loss"])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pd.DataFrame(records[:300]).to_csv("reports/audit_top300.csv")</a:t>
            </a:r>
            <a:endParaRPr lang="en-US" sz="9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Audit the training split</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Run the model on its own training data; loss ranks likely label errors first.</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reduction="none"</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Per-item losses are the ranking key — not the batch mean.</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Top 300 to the triage sheet</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Contains ~70% of planted-and-real label errors in the course set.</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Cross-validation is better</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The cleanlab idea; even in-sample ranking finds the concentrated mass.</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Cutting an Immutable Dataset Release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إصدار نسخة بيانات غير قابلة للتغيير</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 CODE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98</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128723"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scripts/release_dataset.py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"""Manifest + SHA-256 + changelog: the 30-line version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of what DVC productionises."""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hashlib, json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pathlib import Path</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pandas as pd</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VERSION = "dates-qc-v2"</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manifest = pd.read_csv("data/dates-qc/manifest_v2.csv")</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def sha256(path: Path) -&gt; str:</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return hashlib.sha256(path.read_bytes()).hexdigest()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manifest["sha256"] = [sha256(Path("data/dates-qc/images") / f)</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for f in manifest["file"]]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manifest.to_csv(f"releases/{VERSION}/manifest.csv", index=False)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release_hash = sha256(Path(f"releases/{VERSION}/manifest.csv"))</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json.dump({</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"version": VERSION,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"spec_version": "annotation-spec-v2",</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"release_hash": release_hash,</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"changelog": {"relabelled": 447, "added": 800,</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"removed_duplicates": 61},</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open(f"releases/{VERSION}/RELEASE.json", "w"), indent=2)</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print(f"{VERSION} released (test split UNCHANGED from v1)")</a:t>
            </a:r>
            <a:endParaRPr lang="en-US" sz="9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Immutable by construction</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Tag over image hashes, manifest, spec version, changelog; v3 supersedes, never edits.</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Metrics need a version</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Metrics without a dataset version attached are anecdotes.</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Test split frozen at v1</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Additions only, never re-shuffled; assignment by hash of session_id.</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Changelog answers 'why'</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v2's gain is split into cleaning vs new data — measured separately.</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5 — Audit and Curate Dataset v2</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المختبر 5 — تدقيق وتنظيم النسخة الثانية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99</a:t>
            </a:r>
            <a:endParaRPr lang="en-US" sz="900" dirty="0"/>
          </a:p>
        </p:txBody>
      </p:sp>
      <p:sp>
        <p:nvSpPr>
          <p:cNvPr id="7" name="Shape 4"/>
          <p:cNvSpPr/>
          <p:nvPr/>
        </p:nvSpPr>
        <p:spPr>
          <a:xfrm>
            <a:off x="502920" y="1389888"/>
            <a:ext cx="5806440" cy="932688"/>
          </a:xfrm>
          <a:prstGeom prst="roundRect">
            <a:avLst>
              <a:gd name="adj" fmla="val 7843"/>
            </a:avLst>
          </a:prstGeom>
          <a:solidFill>
            <a:srgbClr val="E9F6F5"/>
          </a:solidFill>
          <a:ln w="12700">
            <a:solidFill>
              <a:srgbClr val="00A79D"/>
            </a:solidFill>
            <a:prstDash val="solid"/>
          </a:ln>
        </p:spPr>
      </p:sp>
      <p:sp>
        <p:nvSpPr>
          <p:cNvPr id="8" name="Text 5"/>
          <p:cNvSpPr/>
          <p:nvPr/>
        </p:nvSpPr>
        <p:spPr>
          <a:xfrm>
            <a:off x="649224" y="1463040"/>
            <a:ext cx="553212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OBJECTIVE</a:t>
            </a:r>
            <a:endParaRPr lang="en-US" sz="900" dirty="0"/>
          </a:p>
        </p:txBody>
      </p:sp>
      <p:sp>
        <p:nvSpPr>
          <p:cNvPr id="9" name="Text 6"/>
          <p:cNvSpPr/>
          <p:nvPr/>
        </p:nvSpPr>
        <p:spPr>
          <a:xfrm>
            <a:off x="649224" y="1682496"/>
            <a:ext cx="5532120" cy="585216"/>
          </a:xfrm>
          <a:prstGeom prst="rect">
            <a:avLst/>
          </a:prstGeom>
          <a:noFill/>
          <a:ln/>
        </p:spPr>
        <p:txBody>
          <a:bodyPr wrap="square" lIns="0" tIns="0" rIns="0" bIns="0" rtlCol="0" anchor="t"/>
          <a:lstStyle/>
          <a:p>
            <a:pPr indent="0" marL="0">
              <a:buNone/>
            </a:pPr>
            <a:r>
              <a:rPr lang="en-US" sz="940" dirty="0">
                <a:solidFill>
                  <a:srgbClr val="23293B"/>
                </a:solidFill>
                <a:latin typeface="Calibri" pitchFamily="34" charset="0"/>
                <a:ea typeface="Calibri" pitchFamily="34" charset="-122"/>
                <a:cs typeface="Calibri" pitchFamily="34" charset="-120"/>
              </a:rPr>
              <a:t>Find and triage label errors with model-assisted auditing, fix the annotation spec, run agreement analysis, and cut the versioned dates-qc-v2 release</a:t>
            </a:r>
            <a:endParaRPr lang="en-US" sz="940" dirty="0"/>
          </a:p>
        </p:txBody>
      </p:sp>
      <p:sp>
        <p:nvSpPr>
          <p:cNvPr id="10" name="Shape 7"/>
          <p:cNvSpPr/>
          <p:nvPr/>
        </p:nvSpPr>
        <p:spPr>
          <a:xfrm>
            <a:off x="6510528" y="1389888"/>
            <a:ext cx="1600200" cy="932688"/>
          </a:xfrm>
          <a:prstGeom prst="roundRect">
            <a:avLst>
              <a:gd name="adj" fmla="val 7843"/>
            </a:avLst>
          </a:prstGeom>
          <a:solidFill>
            <a:srgbClr val="F2F6F9"/>
          </a:solidFill>
          <a:ln w="12700">
            <a:solidFill>
              <a:srgbClr val="D9E2EA"/>
            </a:solidFill>
            <a:prstDash val="solid"/>
          </a:ln>
        </p:spPr>
      </p:sp>
      <p:sp>
        <p:nvSpPr>
          <p:cNvPr id="11" name="Text 8"/>
          <p:cNvSpPr/>
          <p:nvPr/>
        </p:nvSpPr>
        <p:spPr>
          <a:xfrm>
            <a:off x="6656832" y="1463040"/>
            <a:ext cx="132588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DURATION</a:t>
            </a:r>
            <a:endParaRPr lang="en-US" sz="900" dirty="0"/>
          </a:p>
        </p:txBody>
      </p:sp>
      <p:sp>
        <p:nvSpPr>
          <p:cNvPr id="12" name="Text 9"/>
          <p:cNvSpPr/>
          <p:nvPr/>
        </p:nvSpPr>
        <p:spPr>
          <a:xfrm>
            <a:off x="6656832" y="1682496"/>
            <a:ext cx="132588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50 minutes</a:t>
            </a:r>
            <a:endParaRPr lang="en-US" sz="1050" dirty="0"/>
          </a:p>
        </p:txBody>
      </p:sp>
      <p:sp>
        <p:nvSpPr>
          <p:cNvPr id="13" name="Shape 10"/>
          <p:cNvSpPr/>
          <p:nvPr/>
        </p:nvSpPr>
        <p:spPr>
          <a:xfrm>
            <a:off x="8311896" y="1389888"/>
            <a:ext cx="3383280" cy="932688"/>
          </a:xfrm>
          <a:prstGeom prst="roundRect">
            <a:avLst>
              <a:gd name="adj" fmla="val 7843"/>
            </a:avLst>
          </a:prstGeom>
          <a:solidFill>
            <a:srgbClr val="F2F6F9"/>
          </a:solidFill>
          <a:ln w="12700">
            <a:solidFill>
              <a:srgbClr val="D9E2EA"/>
            </a:solidFill>
            <a:prstDash val="solid"/>
          </a:ln>
        </p:spPr>
      </p:sp>
      <p:sp>
        <p:nvSpPr>
          <p:cNvPr id="14" name="Text 11"/>
          <p:cNvSpPr/>
          <p:nvPr/>
        </p:nvSpPr>
        <p:spPr>
          <a:xfrm>
            <a:off x="8458200" y="1463040"/>
            <a:ext cx="310896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SETUP</a:t>
            </a:r>
            <a:endParaRPr lang="en-US" sz="900" dirty="0"/>
          </a:p>
        </p:txBody>
      </p:sp>
      <p:sp>
        <p:nvSpPr>
          <p:cNvPr id="15" name="Text 12"/>
          <p:cNvSpPr/>
          <p:nvPr/>
        </p:nvSpPr>
        <p:spPr>
          <a:xfrm>
            <a:off x="8458200" y="1682496"/>
            <a:ext cx="310896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M2 + M3 checkpoints; git checkout lab5-start; CVAT/Label Studio reachable</a:t>
            </a:r>
            <a:endParaRPr lang="en-US" sz="1050" dirty="0"/>
          </a:p>
        </p:txBody>
      </p:sp>
      <p:sp>
        <p:nvSpPr>
          <p:cNvPr id="16" name="Shape 13"/>
          <p:cNvSpPr/>
          <p:nvPr/>
        </p:nvSpPr>
        <p:spPr>
          <a:xfrm>
            <a:off x="502920" y="2661666"/>
            <a:ext cx="274320" cy="274320"/>
          </a:xfrm>
          <a:prstGeom prst="ellipse">
            <a:avLst/>
          </a:prstGeom>
          <a:solidFill>
            <a:srgbClr val="1D2A5C"/>
          </a:solidFill>
          <a:ln/>
        </p:spPr>
      </p:sp>
      <p:sp>
        <p:nvSpPr>
          <p:cNvPr id="17" name="Text 14"/>
          <p:cNvSpPr/>
          <p:nvPr/>
        </p:nvSpPr>
        <p:spPr>
          <a:xfrm>
            <a:off x="502920" y="26616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Shape 15"/>
          <p:cNvSpPr/>
          <p:nvPr/>
        </p:nvSpPr>
        <p:spPr>
          <a:xfrm>
            <a:off x="886968" y="2661666"/>
            <a:ext cx="658368" cy="274320"/>
          </a:xfrm>
          <a:prstGeom prst="roundRect">
            <a:avLst>
              <a:gd name="adj" fmla="val 50000"/>
            </a:avLst>
          </a:prstGeom>
          <a:solidFill>
            <a:srgbClr val="E9F6F5"/>
          </a:solidFill>
          <a:ln w="9525">
            <a:solidFill>
              <a:srgbClr val="00A79D"/>
            </a:solidFill>
            <a:prstDash val="solid"/>
          </a:ln>
        </p:spPr>
      </p:sp>
      <p:sp>
        <p:nvSpPr>
          <p:cNvPr id="19" name="Text 16"/>
          <p:cNvSpPr/>
          <p:nvPr/>
        </p:nvSpPr>
        <p:spPr>
          <a:xfrm>
            <a:off x="886968" y="266166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20" name="Text 17"/>
          <p:cNvSpPr/>
          <p:nvPr/>
        </p:nvSpPr>
        <p:spPr>
          <a:xfrm>
            <a:off x="1673352" y="252374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Run audit_labels.py; triage the top 40: label error / model error / ambiguous</a:t>
            </a:r>
            <a:endParaRPr lang="en-US" sz="1150" dirty="0"/>
          </a:p>
        </p:txBody>
      </p:sp>
      <p:sp>
        <p:nvSpPr>
          <p:cNvPr id="21" name="Shape 18"/>
          <p:cNvSpPr/>
          <p:nvPr/>
        </p:nvSpPr>
        <p:spPr>
          <a:xfrm>
            <a:off x="502920" y="3303270"/>
            <a:ext cx="274320" cy="274320"/>
          </a:xfrm>
          <a:prstGeom prst="ellipse">
            <a:avLst/>
          </a:prstGeom>
          <a:solidFill>
            <a:srgbClr val="1D2A5C"/>
          </a:solidFill>
          <a:ln/>
        </p:spPr>
      </p:sp>
      <p:sp>
        <p:nvSpPr>
          <p:cNvPr id="22" name="Text 19"/>
          <p:cNvSpPr/>
          <p:nvPr/>
        </p:nvSpPr>
        <p:spPr>
          <a:xfrm>
            <a:off x="502920" y="33032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Shape 20"/>
          <p:cNvSpPr/>
          <p:nvPr/>
        </p:nvSpPr>
        <p:spPr>
          <a:xfrm>
            <a:off x="886968" y="3303270"/>
            <a:ext cx="658368" cy="274320"/>
          </a:xfrm>
          <a:prstGeom prst="roundRect">
            <a:avLst>
              <a:gd name="adj" fmla="val 50000"/>
            </a:avLst>
          </a:prstGeom>
          <a:solidFill>
            <a:srgbClr val="E9F6F5"/>
          </a:solidFill>
          <a:ln w="9525">
            <a:solidFill>
              <a:srgbClr val="00A79D"/>
            </a:solidFill>
            <a:prstDash val="solid"/>
          </a:ln>
        </p:spPr>
      </p:sp>
      <p:sp>
        <p:nvSpPr>
          <p:cNvPr id="24" name="Text 21"/>
          <p:cNvSpPr/>
          <p:nvPr/>
        </p:nvSpPr>
        <p:spPr>
          <a:xfrm>
            <a:off x="886968" y="3303270"/>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25" name="Text 22"/>
          <p:cNvSpPr/>
          <p:nvPr/>
        </p:nvSpPr>
        <p:spPr>
          <a:xfrm>
            <a:off x="1673352" y="3165348"/>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Draft one boundary rule + one gallery entry; PR against ANNOTATION_SPEC.md</a:t>
            </a:r>
            <a:endParaRPr lang="en-US" sz="1150" dirty="0"/>
          </a:p>
        </p:txBody>
      </p:sp>
      <p:sp>
        <p:nvSpPr>
          <p:cNvPr id="26" name="Shape 23"/>
          <p:cNvSpPr/>
          <p:nvPr/>
        </p:nvSpPr>
        <p:spPr>
          <a:xfrm>
            <a:off x="502920" y="3944874"/>
            <a:ext cx="274320" cy="274320"/>
          </a:xfrm>
          <a:prstGeom prst="ellipse">
            <a:avLst/>
          </a:prstGeom>
          <a:solidFill>
            <a:srgbClr val="1D2A5C"/>
          </a:solidFill>
          <a:ln/>
        </p:spPr>
      </p:sp>
      <p:sp>
        <p:nvSpPr>
          <p:cNvPr id="27" name="Text 24"/>
          <p:cNvSpPr/>
          <p:nvPr/>
        </p:nvSpPr>
        <p:spPr>
          <a:xfrm>
            <a:off x="502920" y="39448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5"/>
          <p:cNvSpPr/>
          <p:nvPr/>
        </p:nvSpPr>
        <p:spPr>
          <a:xfrm>
            <a:off x="886968" y="3944874"/>
            <a:ext cx="658368" cy="274320"/>
          </a:xfrm>
          <a:prstGeom prst="roundRect">
            <a:avLst>
              <a:gd name="adj" fmla="val 50000"/>
            </a:avLst>
          </a:prstGeom>
          <a:solidFill>
            <a:srgbClr val="E9F6F5"/>
          </a:solidFill>
          <a:ln w="9525">
            <a:solidFill>
              <a:srgbClr val="00A79D"/>
            </a:solidFill>
            <a:prstDash val="solid"/>
          </a:ln>
        </p:spPr>
      </p:sp>
      <p:sp>
        <p:nvSpPr>
          <p:cNvPr id="29" name="Text 26"/>
          <p:cNvSpPr/>
          <p:nvPr/>
        </p:nvSpPr>
        <p:spPr>
          <a:xfrm>
            <a:off x="886968" y="3944874"/>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30" name="Text 27"/>
          <p:cNvSpPr/>
          <p:nvPr/>
        </p:nvSpPr>
        <p:spPr>
          <a:xfrm>
            <a:off x="1673352" y="3806952"/>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Run agreement.py; find the class pair driving annotator disagreement</a:t>
            </a:r>
            <a:endParaRPr lang="en-US" sz="1150" dirty="0"/>
          </a:p>
        </p:txBody>
      </p:sp>
      <p:sp>
        <p:nvSpPr>
          <p:cNvPr id="31" name="Shape 28"/>
          <p:cNvSpPr/>
          <p:nvPr/>
        </p:nvSpPr>
        <p:spPr>
          <a:xfrm>
            <a:off x="502920" y="4586478"/>
            <a:ext cx="274320" cy="274320"/>
          </a:xfrm>
          <a:prstGeom prst="ellipse">
            <a:avLst/>
          </a:prstGeom>
          <a:solidFill>
            <a:srgbClr val="1D2A5C"/>
          </a:solidFill>
          <a:ln/>
        </p:spPr>
      </p:sp>
      <p:sp>
        <p:nvSpPr>
          <p:cNvPr id="32" name="Text 29"/>
          <p:cNvSpPr/>
          <p:nvPr/>
        </p:nvSpPr>
        <p:spPr>
          <a:xfrm>
            <a:off x="502920" y="458647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Shape 30"/>
          <p:cNvSpPr/>
          <p:nvPr/>
        </p:nvSpPr>
        <p:spPr>
          <a:xfrm>
            <a:off x="886968" y="4586478"/>
            <a:ext cx="658368" cy="274320"/>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886968" y="4586478"/>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12 min</a:t>
            </a:r>
            <a:endParaRPr lang="en-US" sz="900" dirty="0"/>
          </a:p>
        </p:txBody>
      </p:sp>
      <p:sp>
        <p:nvSpPr>
          <p:cNvPr id="35" name="Text 32"/>
          <p:cNvSpPr/>
          <p:nvPr/>
        </p:nvSpPr>
        <p:spPr>
          <a:xfrm>
            <a:off x="1673352" y="4448556"/>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Relabel triaged errors (pre-labelling ON); note your own correction rate</a:t>
            </a:r>
            <a:endParaRPr lang="en-US" sz="1150" dirty="0"/>
          </a:p>
        </p:txBody>
      </p:sp>
      <p:sp>
        <p:nvSpPr>
          <p:cNvPr id="36" name="Shape 33"/>
          <p:cNvSpPr/>
          <p:nvPr/>
        </p:nvSpPr>
        <p:spPr>
          <a:xfrm>
            <a:off x="502920" y="5228082"/>
            <a:ext cx="274320" cy="274320"/>
          </a:xfrm>
          <a:prstGeom prst="ellipse">
            <a:avLst/>
          </a:prstGeom>
          <a:solidFill>
            <a:srgbClr val="1D2A5C"/>
          </a:solidFill>
          <a:ln/>
        </p:spPr>
      </p:sp>
      <p:sp>
        <p:nvSpPr>
          <p:cNvPr id="37" name="Text 34"/>
          <p:cNvSpPr/>
          <p:nvPr/>
        </p:nvSpPr>
        <p:spPr>
          <a:xfrm>
            <a:off x="502920" y="52280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Shape 35"/>
          <p:cNvSpPr/>
          <p:nvPr/>
        </p:nvSpPr>
        <p:spPr>
          <a:xfrm>
            <a:off x="886968" y="5228082"/>
            <a:ext cx="658368" cy="274320"/>
          </a:xfrm>
          <a:prstGeom prst="roundRect">
            <a:avLst>
              <a:gd name="adj" fmla="val 50000"/>
            </a:avLst>
          </a:prstGeom>
          <a:solidFill>
            <a:srgbClr val="E9F6F5"/>
          </a:solidFill>
          <a:ln w="9525">
            <a:solidFill>
              <a:srgbClr val="00A79D"/>
            </a:solidFill>
            <a:prstDash val="solid"/>
          </a:ln>
        </p:spPr>
      </p:sp>
      <p:sp>
        <p:nvSpPr>
          <p:cNvPr id="39" name="Text 36"/>
          <p:cNvSpPr/>
          <p:nvPr/>
        </p:nvSpPr>
        <p:spPr>
          <a:xfrm>
            <a:off x="886968" y="5228082"/>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40" name="Text 37"/>
          <p:cNvSpPr/>
          <p:nvPr/>
        </p:nvSpPr>
        <p:spPr>
          <a:xfrm>
            <a:off x="1673352" y="5090160"/>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Select round-2 batch + random control; cut the release; verify split freeze</a:t>
            </a:r>
            <a:endParaRPr lang="en-US" sz="1150" dirty="0"/>
          </a:p>
        </p:txBody>
      </p:sp>
      <p:sp>
        <p:nvSpPr>
          <p:cNvPr id="41" name="Shape 38"/>
          <p:cNvSpPr/>
          <p:nvPr/>
        </p:nvSpPr>
        <p:spPr>
          <a:xfrm>
            <a:off x="502920" y="5869686"/>
            <a:ext cx="274320" cy="274320"/>
          </a:xfrm>
          <a:prstGeom prst="ellipse">
            <a:avLst/>
          </a:prstGeom>
          <a:solidFill>
            <a:srgbClr val="1D2A5C"/>
          </a:solidFill>
          <a:ln/>
        </p:spPr>
      </p:sp>
      <p:sp>
        <p:nvSpPr>
          <p:cNvPr id="42" name="Text 39"/>
          <p:cNvSpPr/>
          <p:nvPr/>
        </p:nvSpPr>
        <p:spPr>
          <a:xfrm>
            <a:off x="502920" y="58696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3" name="Shape 40"/>
          <p:cNvSpPr/>
          <p:nvPr/>
        </p:nvSpPr>
        <p:spPr>
          <a:xfrm>
            <a:off x="886968" y="5869686"/>
            <a:ext cx="658368" cy="274320"/>
          </a:xfrm>
          <a:prstGeom prst="roundRect">
            <a:avLst>
              <a:gd name="adj" fmla="val 50000"/>
            </a:avLst>
          </a:prstGeom>
          <a:solidFill>
            <a:srgbClr val="E9F6F5"/>
          </a:solidFill>
          <a:ln w="9525">
            <a:solidFill>
              <a:srgbClr val="00A79D"/>
            </a:solidFill>
            <a:prstDash val="solid"/>
          </a:ln>
        </p:spPr>
      </p:sp>
      <p:sp>
        <p:nvSpPr>
          <p:cNvPr id="44" name="Text 41"/>
          <p:cNvSpPr/>
          <p:nvPr/>
        </p:nvSpPr>
        <p:spPr>
          <a:xfrm>
            <a:off x="886968" y="586968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4 min</a:t>
            </a:r>
            <a:endParaRPr lang="en-US" sz="900" dirty="0"/>
          </a:p>
        </p:txBody>
      </p:sp>
      <p:sp>
        <p:nvSpPr>
          <p:cNvPr id="45" name="Text 42"/>
          <p:cNvSpPr/>
          <p:nvPr/>
        </p:nvSpPr>
        <p:spPr>
          <a:xfrm>
            <a:off x="1673352" y="573176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Commit; record v1 baseline numbers for the Hour-5 retrain comparison</a:t>
            </a:r>
            <a:endParaRPr lang="en-US" sz="1150" dirty="0"/>
          </a:p>
        </p:txBody>
      </p:sp>
      <p:sp>
        <p:nvSpPr>
          <p:cNvPr id="46" name="Shape 43"/>
          <p:cNvSpPr/>
          <p:nvPr/>
        </p:nvSpPr>
        <p:spPr>
          <a:xfrm>
            <a:off x="7635240" y="2505456"/>
            <a:ext cx="4050792" cy="3849624"/>
          </a:xfrm>
          <a:prstGeom prst="roundRect">
            <a:avLst>
              <a:gd name="adj" fmla="val 2375"/>
            </a:avLst>
          </a:prstGeom>
          <a:solidFill>
            <a:srgbClr val="0F172A"/>
          </a:solidFill>
          <a:ln/>
        </p:spPr>
      </p:sp>
      <p:sp>
        <p:nvSpPr>
          <p:cNvPr id="47" name="Text 44"/>
          <p:cNvSpPr/>
          <p:nvPr/>
        </p:nvSpPr>
        <p:spPr>
          <a:xfrm>
            <a:off x="7818120" y="2615184"/>
            <a:ext cx="3685032" cy="237744"/>
          </a:xfrm>
          <a:prstGeom prst="rect">
            <a:avLst/>
          </a:prstGeom>
          <a:noFill/>
          <a:ln/>
        </p:spPr>
        <p:txBody>
          <a:bodyPr wrap="square" lIns="0" tIns="0" rIns="0" bIns="0" rtlCol="0" anchor="ctr"/>
          <a:lstStyle/>
          <a:p>
            <a:pPr indent="0" marL="0">
              <a:buNone/>
            </a:pPr>
            <a:r>
              <a:rPr lang="en-US" sz="900" b="1" spc="200" kern="0" dirty="0">
                <a:solidFill>
                  <a:srgbClr val="5EEAD4"/>
                </a:solidFill>
                <a:latin typeface="Calibri" pitchFamily="34" charset="0"/>
                <a:ea typeface="Calibri" pitchFamily="34" charset="-122"/>
                <a:cs typeface="Calibri" pitchFamily="34" charset="-120"/>
              </a:rPr>
              <a:t>EXPECTED OUTPUT</a:t>
            </a:r>
            <a:endParaRPr lang="en-US" sz="900" dirty="0"/>
          </a:p>
        </p:txBody>
      </p:sp>
      <p:sp>
        <p:nvSpPr>
          <p:cNvPr id="48" name="Text 45"/>
          <p:cNvSpPr/>
          <p:nvPr/>
        </p:nvSpPr>
        <p:spPr>
          <a:xfrm>
            <a:off x="7818120" y="2907792"/>
            <a:ext cx="3703320" cy="3300984"/>
          </a:xfrm>
          <a:prstGeom prst="rect">
            <a:avLst/>
          </a:prstGeom>
          <a:noFill/>
          <a:ln/>
        </p:spPr>
        <p:txBody>
          <a:bodyPr wrap="square" lIns="0" tIns="0" rIns="0" bIns="0" rtlCol="0" anchor="t"/>
          <a:lstStyle/>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scripts/audit_labels.py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top item: s041_f0187.jpg</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label=standard pred=reject (0.97)</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scripts/agreement.py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class kappa: 0.792  (bar: &gt;= 0.85)</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localisation: median IoU=0.872</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scripts/release_dataset.py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dates-qc-v2 released: 9e4f21c07ab3...</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(test split UNCHANGED from v1)</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5 Troubleshooting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استكشاف أخطاء المختبر 5</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100</a:t>
            </a:r>
            <a:endParaRPr lang="en-US" sz="9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518382"/>
                <a:gridCol w="3783284"/>
                <a:gridCol w="3884189"/>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Audit top-40 all model errors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wrong (underfit) checkpoint loaded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load best.pt; verify val F1 first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Kappa suspiciously = 1.0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annotator compared against themselves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check annotator IDs in the QA join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CVAT tasks empty</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export path/format mismatch</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re-export as YOLO 1.1; check assignment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Release hash differs per machine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line-ending mutation in manifest CSV</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write newline=""; hash bytes, not text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Split-freeze verify fails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v2 manifest re-assigned a session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restore split column from v1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5 Quiz</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اختبار الوحدة الخامسة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101</a:t>
            </a:r>
            <a:endParaRPr lang="en-US" sz="900" dirty="0"/>
          </a:p>
        </p:txBody>
      </p:sp>
      <p:sp>
        <p:nvSpPr>
          <p:cNvPr id="7" name="Shape 4"/>
          <p:cNvSpPr/>
          <p:nvPr/>
        </p:nvSpPr>
        <p:spPr>
          <a:xfrm>
            <a:off x="502920" y="1417320"/>
            <a:ext cx="11183112" cy="801014"/>
          </a:xfrm>
          <a:prstGeom prst="roundRect">
            <a:avLst>
              <a:gd name="adj" fmla="val 9132"/>
            </a:avLst>
          </a:prstGeom>
          <a:solidFill>
            <a:srgbClr val="F2F6F9"/>
          </a:solidFill>
          <a:ln w="9525">
            <a:solidFill>
              <a:srgbClr val="D9E2EA"/>
            </a:solidFill>
            <a:prstDash val="solid"/>
          </a:ln>
        </p:spPr>
      </p:sp>
      <p:sp>
        <p:nvSpPr>
          <p:cNvPr id="8" name="Shape 5"/>
          <p:cNvSpPr/>
          <p:nvPr/>
        </p:nvSpPr>
        <p:spPr>
          <a:xfrm>
            <a:off x="649224" y="1644091"/>
            <a:ext cx="347472" cy="347472"/>
          </a:xfrm>
          <a:prstGeom prst="ellipse">
            <a:avLst/>
          </a:prstGeom>
          <a:solidFill>
            <a:srgbClr val="F58220"/>
          </a:solidFill>
          <a:ln/>
        </p:spPr>
      </p:sp>
      <p:sp>
        <p:nvSpPr>
          <p:cNvPr id="9" name="Text 6"/>
          <p:cNvSpPr/>
          <p:nvPr/>
        </p:nvSpPr>
        <p:spPr>
          <a:xfrm>
            <a:off x="649224" y="1644091"/>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p>
        </p:txBody>
      </p:sp>
      <p:sp>
        <p:nvSpPr>
          <p:cNvPr id="10" name="Text 7"/>
          <p:cNvSpPr/>
          <p:nvPr/>
        </p:nvSpPr>
        <p:spPr>
          <a:xfrm>
            <a:off x="1161288" y="141732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does Cohen's kappa beat raw percent agreement?</a:t>
            </a:r>
            <a:endParaRPr lang="en-US" sz="1250" dirty="0"/>
          </a:p>
        </p:txBody>
      </p:sp>
      <p:sp>
        <p:nvSpPr>
          <p:cNvPr id="11" name="Shape 8"/>
          <p:cNvSpPr/>
          <p:nvPr/>
        </p:nvSpPr>
        <p:spPr>
          <a:xfrm>
            <a:off x="502920" y="2346350"/>
            <a:ext cx="11183112" cy="801014"/>
          </a:xfrm>
          <a:prstGeom prst="roundRect">
            <a:avLst>
              <a:gd name="adj" fmla="val 9132"/>
            </a:avLst>
          </a:prstGeom>
          <a:solidFill>
            <a:srgbClr val="F2F6F9"/>
          </a:solidFill>
          <a:ln w="9525">
            <a:solidFill>
              <a:srgbClr val="D9E2EA"/>
            </a:solidFill>
            <a:prstDash val="solid"/>
          </a:ln>
        </p:spPr>
      </p:sp>
      <p:sp>
        <p:nvSpPr>
          <p:cNvPr id="12" name="Shape 9"/>
          <p:cNvSpPr/>
          <p:nvPr/>
        </p:nvSpPr>
        <p:spPr>
          <a:xfrm>
            <a:off x="649224" y="2573122"/>
            <a:ext cx="347472" cy="347472"/>
          </a:xfrm>
          <a:prstGeom prst="ellipse">
            <a:avLst/>
          </a:prstGeom>
          <a:solidFill>
            <a:srgbClr val="F58220"/>
          </a:solidFill>
          <a:ln/>
        </p:spPr>
      </p:sp>
      <p:sp>
        <p:nvSpPr>
          <p:cNvPr id="13" name="Text 10"/>
          <p:cNvSpPr/>
          <p:nvPr/>
        </p:nvSpPr>
        <p:spPr>
          <a:xfrm>
            <a:off x="649224" y="257312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p>
        </p:txBody>
      </p:sp>
      <p:sp>
        <p:nvSpPr>
          <p:cNvPr id="14" name="Text 11"/>
          <p:cNvSpPr/>
          <p:nvPr/>
        </p:nvSpPr>
        <p:spPr>
          <a:xfrm>
            <a:off x="1161288" y="234635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Two annotators agree perfectly with each other but both fail gold tasks. Diagnosis?</a:t>
            </a:r>
            <a:endParaRPr lang="en-US" sz="1250" dirty="0"/>
          </a:p>
        </p:txBody>
      </p:sp>
      <p:sp>
        <p:nvSpPr>
          <p:cNvPr id="15" name="Shape 12"/>
          <p:cNvSpPr/>
          <p:nvPr/>
        </p:nvSpPr>
        <p:spPr>
          <a:xfrm>
            <a:off x="502920" y="3275381"/>
            <a:ext cx="11183112" cy="801014"/>
          </a:xfrm>
          <a:prstGeom prst="roundRect">
            <a:avLst>
              <a:gd name="adj" fmla="val 9132"/>
            </a:avLst>
          </a:prstGeom>
          <a:solidFill>
            <a:srgbClr val="F2F6F9"/>
          </a:solidFill>
          <a:ln w="9525">
            <a:solidFill>
              <a:srgbClr val="D9E2EA"/>
            </a:solidFill>
            <a:prstDash val="solid"/>
          </a:ln>
        </p:spPr>
      </p:sp>
      <p:sp>
        <p:nvSpPr>
          <p:cNvPr id="16" name="Shape 13"/>
          <p:cNvSpPr/>
          <p:nvPr/>
        </p:nvSpPr>
        <p:spPr>
          <a:xfrm>
            <a:off x="649224" y="3502152"/>
            <a:ext cx="347472" cy="347472"/>
          </a:xfrm>
          <a:prstGeom prst="ellipse">
            <a:avLst/>
          </a:prstGeom>
          <a:solidFill>
            <a:srgbClr val="F58220"/>
          </a:solidFill>
          <a:ln/>
        </p:spPr>
      </p:sp>
      <p:sp>
        <p:nvSpPr>
          <p:cNvPr id="17" name="Text 14"/>
          <p:cNvSpPr/>
          <p:nvPr/>
        </p:nvSpPr>
        <p:spPr>
          <a:xfrm>
            <a:off x="649224" y="350215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p>
        </p:txBody>
      </p:sp>
      <p:sp>
        <p:nvSpPr>
          <p:cNvPr id="18" name="Text 15"/>
          <p:cNvSpPr/>
          <p:nvPr/>
        </p:nvSpPr>
        <p:spPr>
          <a:xfrm>
            <a:off x="1161288" y="327538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Name the three triage categories for a loss-ranked audit item, and where the third goes.</a:t>
            </a:r>
            <a:endParaRPr lang="en-US" sz="1250" dirty="0"/>
          </a:p>
        </p:txBody>
      </p:sp>
      <p:sp>
        <p:nvSpPr>
          <p:cNvPr id="19" name="Shape 16"/>
          <p:cNvSpPr/>
          <p:nvPr/>
        </p:nvSpPr>
        <p:spPr>
          <a:xfrm>
            <a:off x="502920" y="4204411"/>
            <a:ext cx="11183112" cy="801014"/>
          </a:xfrm>
          <a:prstGeom prst="roundRect">
            <a:avLst>
              <a:gd name="adj" fmla="val 9132"/>
            </a:avLst>
          </a:prstGeom>
          <a:solidFill>
            <a:srgbClr val="F2F6F9"/>
          </a:solidFill>
          <a:ln w="9525">
            <a:solidFill>
              <a:srgbClr val="D9E2EA"/>
            </a:solidFill>
            <a:prstDash val="solid"/>
          </a:ln>
        </p:spPr>
      </p:sp>
      <p:sp>
        <p:nvSpPr>
          <p:cNvPr id="20" name="Shape 17"/>
          <p:cNvSpPr/>
          <p:nvPr/>
        </p:nvSpPr>
        <p:spPr>
          <a:xfrm>
            <a:off x="649224" y="4431182"/>
            <a:ext cx="347472" cy="347472"/>
          </a:xfrm>
          <a:prstGeom prst="ellipse">
            <a:avLst/>
          </a:prstGeom>
          <a:solidFill>
            <a:srgbClr val="F58220"/>
          </a:solidFill>
          <a:ln/>
        </p:spPr>
      </p:sp>
      <p:sp>
        <p:nvSpPr>
          <p:cNvPr id="21" name="Text 18"/>
          <p:cNvSpPr/>
          <p:nvPr/>
        </p:nvSpPr>
        <p:spPr>
          <a:xfrm>
            <a:off x="649224" y="443118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p>
        </p:txBody>
      </p:sp>
      <p:sp>
        <p:nvSpPr>
          <p:cNvPr id="22" name="Text 19"/>
          <p:cNvSpPr/>
          <p:nvPr/>
        </p:nvSpPr>
        <p:spPr>
          <a:xfrm>
            <a:off x="1161288" y="420441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must the test split never be re-shuffled between releases?</a:t>
            </a:r>
            <a:endParaRPr lang="en-US" sz="1250" dirty="0"/>
          </a:p>
        </p:txBody>
      </p:sp>
      <p:sp>
        <p:nvSpPr>
          <p:cNvPr id="23" name="Shape 20"/>
          <p:cNvSpPr/>
          <p:nvPr/>
        </p:nvSpPr>
        <p:spPr>
          <a:xfrm>
            <a:off x="502920" y="5133442"/>
            <a:ext cx="11183112" cy="801014"/>
          </a:xfrm>
          <a:prstGeom prst="roundRect">
            <a:avLst>
              <a:gd name="adj" fmla="val 9132"/>
            </a:avLst>
          </a:prstGeom>
          <a:solidFill>
            <a:srgbClr val="F2F6F9"/>
          </a:solidFill>
          <a:ln w="9525">
            <a:solidFill>
              <a:srgbClr val="D9E2EA"/>
            </a:solidFill>
            <a:prstDash val="solid"/>
          </a:ln>
        </p:spPr>
      </p:sp>
      <p:sp>
        <p:nvSpPr>
          <p:cNvPr id="24" name="Shape 21"/>
          <p:cNvSpPr/>
          <p:nvPr/>
        </p:nvSpPr>
        <p:spPr>
          <a:xfrm>
            <a:off x="649224" y="5360213"/>
            <a:ext cx="347472" cy="347472"/>
          </a:xfrm>
          <a:prstGeom prst="ellipse">
            <a:avLst/>
          </a:prstGeom>
          <a:solidFill>
            <a:srgbClr val="F58220"/>
          </a:solidFill>
          <a:ln/>
        </p:spPr>
      </p:sp>
      <p:sp>
        <p:nvSpPr>
          <p:cNvPr id="25" name="Text 22"/>
          <p:cNvSpPr/>
          <p:nvPr/>
        </p:nvSpPr>
        <p:spPr>
          <a:xfrm>
            <a:off x="649224" y="5360213"/>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Q5</a:t>
            </a:r>
            <a:endParaRPr lang="en-US" sz="1050" dirty="0"/>
          </a:p>
        </p:txBody>
      </p:sp>
      <p:sp>
        <p:nvSpPr>
          <p:cNvPr id="26" name="Text 23"/>
          <p:cNvSpPr/>
          <p:nvPr/>
        </p:nvSpPr>
        <p:spPr>
          <a:xfrm>
            <a:off x="1161288" y="5133442"/>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True or false: pre-labelling always improves dataset quality because it speeds annotation.</a:t>
            </a:r>
            <a:endParaRPr lang="en-US" sz="1250" dirty="0"/>
          </a:p>
        </p:txBody>
      </p:sp>
      <p:sp>
        <p:nvSpPr>
          <p:cNvPr id="27" name="Text 24"/>
          <p:cNvSpPr/>
          <p:nvPr/>
        </p:nvSpPr>
        <p:spPr>
          <a:xfrm>
            <a:off x="502920" y="6099048"/>
            <a:ext cx="11183112" cy="274320"/>
          </a:xfrm>
          <a:prstGeom prst="rect">
            <a:avLst/>
          </a:prstGeom>
          <a:noFill/>
          <a:ln/>
        </p:spPr>
        <p:txBody>
          <a:bodyPr wrap="square" lIns="0" tIns="0" rIns="0" bIns="0" rtlCol="0" anchor="ctr"/>
          <a:lstStyle/>
          <a:p>
            <a:pPr algn="r" indent="0" marL="0">
              <a:buNone/>
            </a:pPr>
            <a:r>
              <a:rPr lang="en-US" sz="1000" i="1" dirty="0">
                <a:solidFill>
                  <a:srgbClr val="8A96A6"/>
                </a:solidFill>
                <a:latin typeface="Calibri" pitchFamily="34" charset="0"/>
                <a:ea typeface="Calibri" pitchFamily="34" charset="-122"/>
                <a:cs typeface="Calibri" pitchFamily="34" charset="-120"/>
              </a:rPr>
              <a:t>Answers and marking guidance: speaker notes below ▼</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Extra Exercises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تمارين إضافية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102</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Debugging: branch sim-anchor-bias</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v2b was pre-labelled at conf=0.05; val mAP rises, frozen-test mAP falls. Explain the divergence and name the two defences.</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Code review: a dangerous dataset PR</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It edits three 'unfair' test-split labels, bumps the spec without re-annotation, and has no changelog. Three findings with downstream cost.</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the vendor's QA discount</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-30% per box if QA sampling drops from 10% to 2%. Price the offer using rework at kappa &lt; 0.75 and relabelling-round cost.</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PDPL flow-back pipeline</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Production frames contain workers' hands. Design masking before vendor export, purpose limitation, retention, access log — and who signs off.</a:t>
            </a:r>
            <a:endParaRPr lang="en-US" sz="11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Drone-Based Palm Health Survey in Al-Ahsa</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مسح صحة النخيل بالطائرات المسيرة في الأحساء</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 CASE STUDY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103</a:t>
            </a:r>
            <a:endParaRPr lang="en-US" sz="900" dirty="0"/>
          </a:p>
        </p:txBody>
      </p:sp>
      <p:sp>
        <p:nvSpPr>
          <p:cNvPr id="7" name="Text 4"/>
          <p:cNvSpPr/>
          <p:nvPr/>
        </p:nvSpPr>
        <p:spPr>
          <a:xfrm>
            <a:off x="502920" y="138988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SCENARIO</a:t>
            </a:r>
            <a:endParaRPr lang="en-US" sz="1000" dirty="0"/>
          </a:p>
        </p:txBody>
      </p:sp>
      <p:sp>
        <p:nvSpPr>
          <p:cNvPr id="8" name="Text 5"/>
          <p:cNvSpPr/>
          <p:nvPr/>
        </p:nvSpPr>
        <p:spPr>
          <a:xfrm>
            <a:off x="502920" y="1645920"/>
            <a:ext cx="6035040" cy="896112"/>
          </a:xfrm>
          <a:prstGeom prst="rect">
            <a:avLst/>
          </a:prstGeom>
          <a:noFill/>
          <a:ln/>
        </p:spPr>
        <p:txBody>
          <a:bodyPr wrap="square" lIns="0" tIns="0" rIns="0" bIns="0" rtlCol="0" anchor="t"/>
          <a:lstStyle/>
          <a:p>
            <a:pPr indent="0" marL="0">
              <a:buNone/>
            </a:pPr>
            <a:r>
              <a:rPr lang="en-US" sz="1150" dirty="0">
                <a:solidFill>
                  <a:srgbClr val="23293B"/>
                </a:solidFill>
                <a:latin typeface="Calibri" pitchFamily="34" charset="0"/>
                <a:ea typeface="Calibri" pitchFamily="34" charset="-122"/>
                <a:cs typeface="Calibri" pitchFamily="34" charset="-120"/>
              </a:rPr>
              <a:t>An agricultural services company surveys 2.4M date palms yearly by drone for a government sustainability programme, classifying canopies as healthy / pest-stressed / drought-stressed / dead. The first 40,000-canopy vendor round arrives on time and on budget — but agronomists reject 31% of the model's pest-stress flags in the field.</a:t>
            </a:r>
            <a:endParaRPr lang="en-US" sz="1150" dirty="0"/>
          </a:p>
        </p:txBody>
      </p:sp>
      <p:sp>
        <p:nvSpPr>
          <p:cNvPr id="9" name="Text 6"/>
          <p:cNvSpPr/>
          <p:nvPr/>
        </p:nvSpPr>
        <p:spPr>
          <a:xfrm>
            <a:off x="502920" y="2706624"/>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BUSINESS CONTEXT</a:t>
            </a:r>
            <a:endParaRPr lang="en-US" sz="1000" dirty="0"/>
          </a:p>
        </p:txBody>
      </p:sp>
      <p:sp>
        <p:nvSpPr>
          <p:cNvPr id="10" name="Text 7"/>
          <p:cNvSpPr/>
          <p:nvPr/>
        </p:nvSpPr>
        <p:spPr>
          <a:xfrm>
            <a:off x="502920" y="2962656"/>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Pest flags trigger physical inspections at ~180 SAR each; false flags burn the inspection budget, and missed weevil infestations spread to neighbouring farms. The ministry requires evidence of survey quality before renewing the mandate.</a:t>
            </a:r>
            <a:endParaRPr lang="en-US" sz="1150" dirty="0"/>
          </a:p>
        </p:txBody>
      </p:sp>
      <p:sp>
        <p:nvSpPr>
          <p:cNvPr id="11" name="Text 8"/>
          <p:cNvSpPr/>
          <p:nvPr/>
        </p:nvSpPr>
        <p:spPr>
          <a:xfrm>
            <a:off x="502920" y="381304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TECHNICAL CHALLENGE</a:t>
            </a:r>
            <a:endParaRPr lang="en-US" sz="1000" dirty="0"/>
          </a:p>
        </p:txBody>
      </p:sp>
      <p:sp>
        <p:nvSpPr>
          <p:cNvPr id="12" name="Text 9"/>
          <p:cNvSpPr/>
          <p:nvPr/>
        </p:nvSpPr>
        <p:spPr>
          <a:xfrm>
            <a:off x="502920" y="4069080"/>
            <a:ext cx="6035040" cy="47548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Diagnose whether the failure is model, labels, or spec — with numbers — and design the second annotation round to fix it within a 55,000-canopy budget.</a:t>
            </a:r>
            <a:endParaRPr lang="en-US" sz="1150" dirty="0"/>
          </a:p>
        </p:txBody>
      </p:sp>
      <p:sp>
        <p:nvSpPr>
          <p:cNvPr id="13" name="Shape 10"/>
          <p:cNvSpPr/>
          <p:nvPr/>
        </p:nvSpPr>
        <p:spPr>
          <a:xfrm>
            <a:off x="6858000" y="1389888"/>
            <a:ext cx="4828032" cy="2184684"/>
          </a:xfrm>
          <a:prstGeom prst="roundRect">
            <a:avLst>
              <a:gd name="adj" fmla="val 3767"/>
            </a:avLst>
          </a:prstGeom>
          <a:solidFill>
            <a:srgbClr val="F2F6F9"/>
          </a:solidFill>
          <a:ln w="12700">
            <a:solidFill>
              <a:srgbClr val="D9E2EA"/>
            </a:solidFill>
            <a:prstDash val="solid"/>
          </a:ln>
        </p:spPr>
      </p:sp>
      <p:sp>
        <p:nvSpPr>
          <p:cNvPr id="14" name="Text 11"/>
          <p:cNvSpPr/>
          <p:nvPr/>
        </p:nvSpPr>
        <p:spPr>
          <a:xfrm>
            <a:off x="7040880" y="1481328"/>
            <a:ext cx="4462272" cy="237744"/>
          </a:xfrm>
          <a:prstGeom prst="rect">
            <a:avLst/>
          </a:prstGeom>
          <a:noFill/>
          <a:ln/>
        </p:spPr>
        <p:txBody>
          <a:bodyPr wrap="square" lIns="0" tIns="0" rIns="0" bIns="0" rtlCol="0" anchor="ctr"/>
          <a:lstStyle/>
          <a:p>
            <a:pPr indent="0" marL="0">
              <a:buNone/>
            </a:pPr>
            <a:r>
              <a:rPr lang="en-US" sz="950" b="1" spc="200" kern="0" dirty="0">
                <a:solidFill>
                  <a:srgbClr val="F58220"/>
                </a:solidFill>
                <a:latin typeface="Calibri" pitchFamily="34" charset="0"/>
                <a:ea typeface="Calibri" pitchFamily="34" charset="-122"/>
                <a:cs typeface="Calibri" pitchFamily="34" charset="-120"/>
              </a:rPr>
              <a:t>CONSTRAINTS</a:t>
            </a:r>
            <a:endParaRPr lang="en-US" sz="950" dirty="0"/>
          </a:p>
        </p:txBody>
      </p:sp>
      <p:sp>
        <p:nvSpPr>
          <p:cNvPr id="15" name="Text 12"/>
          <p:cNvSpPr/>
          <p:nvPr/>
        </p:nvSpPr>
        <p:spPr>
          <a:xfrm>
            <a:off x="7095744" y="1755648"/>
            <a:ext cx="4370832" cy="1681764"/>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Only 600 canopies field-verifiable per round</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Pest vs drought stress look similar in RGB</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No agreement metrics in the vendor contract</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Private-farm imagery access restrictions</a:t>
            </a:r>
            <a:endParaRPr lang="en-US" sz="1050" dirty="0"/>
          </a:p>
        </p:txBody>
      </p:sp>
      <p:sp>
        <p:nvSpPr>
          <p:cNvPr id="16" name="Shape 13"/>
          <p:cNvSpPr/>
          <p:nvPr/>
        </p:nvSpPr>
        <p:spPr>
          <a:xfrm>
            <a:off x="6858000" y="3803172"/>
            <a:ext cx="4828032" cy="2551908"/>
          </a:xfrm>
          <a:prstGeom prst="roundRect">
            <a:avLst>
              <a:gd name="adj" fmla="val 3225"/>
            </a:avLst>
          </a:prstGeom>
          <a:solidFill>
            <a:srgbClr val="E9F6F5"/>
          </a:solidFill>
          <a:ln w="12700">
            <a:solidFill>
              <a:srgbClr val="00A79D"/>
            </a:solidFill>
            <a:prstDash val="solid"/>
          </a:ln>
        </p:spPr>
      </p:sp>
      <p:sp>
        <p:nvSpPr>
          <p:cNvPr id="17" name="Text 14"/>
          <p:cNvSpPr/>
          <p:nvPr/>
        </p:nvSpPr>
        <p:spPr>
          <a:xfrm>
            <a:off x="7040880" y="3894612"/>
            <a:ext cx="4462272" cy="237744"/>
          </a:xfrm>
          <a:prstGeom prst="rect">
            <a:avLst/>
          </a:prstGeom>
          <a:noFill/>
          <a:ln/>
        </p:spPr>
        <p:txBody>
          <a:bodyPr wrap="square" lIns="0" tIns="0" rIns="0" bIns="0" rtlCol="0" anchor="ctr"/>
          <a:lstStyle/>
          <a:p>
            <a:pPr indent="0" marL="0">
              <a:buNone/>
            </a:pPr>
            <a:r>
              <a:rPr lang="en-US" sz="950" b="1" spc="200" kern="0" dirty="0">
                <a:solidFill>
                  <a:srgbClr val="00A79D"/>
                </a:solidFill>
                <a:latin typeface="Calibri" pitchFamily="34" charset="0"/>
                <a:ea typeface="Calibri" pitchFamily="34" charset="-122"/>
                <a:cs typeface="Calibri" pitchFamily="34" charset="-120"/>
              </a:rPr>
              <a:t>DISCUSSION QUESTIONS</a:t>
            </a:r>
            <a:endParaRPr lang="en-US" sz="950" dirty="0"/>
          </a:p>
        </p:txBody>
      </p:sp>
      <p:sp>
        <p:nvSpPr>
          <p:cNvPr id="18" name="Text 15"/>
          <p:cNvSpPr/>
          <p:nvPr/>
        </p:nvSpPr>
        <p:spPr>
          <a:xfrm>
            <a:off x="7095744" y="4168932"/>
            <a:ext cx="4370832" cy="2048988"/>
          </a:xfrm>
          <a:prstGeom prst="rect">
            <a:avLst/>
          </a:prstGeom>
          <a:noFill/>
          <a:ln/>
        </p:spPr>
        <p:txBody>
          <a:bodyPr wrap="square" lIns="0" tIns="0" rIns="0" bIns="0" rtlCol="0" anchor="t"/>
          <a:lstStyle/>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1.  Why were excellent validation metrics compatible with 31% field rejection?</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2.  Was adding an 'uncertain' class an admission of failure? Argue both sides.</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3.  Which 600 canopies get field verification? Design the stratification.</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4.  Vendor wants full-res imagery to 'improve tooling' — your response?</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5 Benchmarks and Targets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معايير وأهداف الوحدة الخامسة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5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104</a:t>
            </a:r>
            <a:endParaRPr lang="en-US" sz="9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960061"/>
                <a:gridCol w="3906180"/>
                <a:gridCol w="3319615"/>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Target after M5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measured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Label errors found in top-300 ranking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&gt;= 70% of planted errors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triage sheet vs answer key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Triage accuracy (top 40)</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&gt;= 80% match to reference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instructor key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Class kappa post-spec-fix</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&gt;= 0.85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agreement.py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Test-split freeze v1 to v2</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byte-identical</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verify_split_freeze.py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Release completeness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manifest + hashes + spec + changelog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release checklist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v2 retrain delta (Day 3 H5)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insect_damage AP +0.05 or better</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frozen-test comparison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MODULE 6</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Model Evaluation for Vision Tasks</a:t>
            </a:r>
            <a:endParaRPr lang="en-US" sz="3600" dirty="0"/>
          </a:p>
        </p:txBody>
      </p:sp>
      <p:sp>
        <p:nvSpPr>
          <p:cNvPr id="22" name="Text 19"/>
          <p:cNvSpPr/>
          <p:nvPr/>
        </p:nvSpPr>
        <p:spPr>
          <a:xfrm>
            <a:off x="777240" y="312724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تقييم النماذج لمهام الرؤية الحاسوبية</a:t>
            </a:r>
            <a:endParaRPr lang="en-US" sz="1700" dirty="0"/>
          </a:p>
        </p:txBody>
      </p:sp>
      <p:sp>
        <p:nvSpPr>
          <p:cNvPr id="23" name="Text 20"/>
          <p:cNvSpPr/>
          <p:nvPr/>
        </p:nvSpPr>
        <p:spPr>
          <a:xfrm>
            <a:off x="804672" y="370332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IoU and the matching problem</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Precision, recall, AP and the mAP variants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Slices: the aggregate is always hiding something</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Error taxonomy + the harness as an engineering artefact</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MODULE OUTCOME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deterministic, versioned evaluation harness with per-class and per-slice reporting — the capstone's referee and regression gate</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Why This Matters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لماذا هذا مهم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106</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Vision systems are bought, renewed and litigated on numbers</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'mAP is 0.87' cannot answer what decides contracts: escape rates, night degradation, whether a retrain made the model better or just different.</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Aggregates hide minority-slice failures</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M1 hospital case — five weeks of green dashboards over a 17-point per-site drop — is the canonical shape. Slice-level evaluation is the only defence.</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The harness is a contractual artefact</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In regional procurement a rigorous, reproducible harness is increasingly what 'acceptance testing' means for a vision system.</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Numbers stop being framework magic</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Implement IoU matching and mAP by hand once; then build the harness that referees the capstone and the SDA-AIE-216 regression gate.</a:t>
            </a:r>
            <a:endParaRPr lang="en-US" sz="11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Industry Use Cases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حالات استخدام صناعية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107</a:t>
            </a:r>
            <a:endParaRPr lang="en-US" sz="900" dirty="0"/>
          </a:p>
        </p:txBody>
      </p:sp>
      <p:sp>
        <p:nvSpPr>
          <p:cNvPr id="7" name="Shape 4"/>
          <p:cNvSpPr/>
          <p:nvPr/>
        </p:nvSpPr>
        <p:spPr>
          <a:xfrm>
            <a:off x="502920" y="1389888"/>
            <a:ext cx="5455768" cy="2354580"/>
          </a:xfrm>
          <a:prstGeom prst="roundRect">
            <a:avLst>
              <a:gd name="adj" fmla="val 3107"/>
            </a:avLst>
          </a:prstGeom>
          <a:solidFill>
            <a:srgbClr val="F2F6F9"/>
          </a:solidFill>
          <a:ln w="12700">
            <a:solidFill>
              <a:srgbClr val="D9E2EA"/>
            </a:solidFill>
            <a:prstDash val="solid"/>
          </a:ln>
        </p:spPr>
      </p:sp>
      <p:sp>
        <p:nvSpPr>
          <p:cNvPr id="8" name="Shape 5"/>
          <p:cNvSpPr/>
          <p:nvPr/>
        </p:nvSpPr>
        <p:spPr>
          <a:xfrm>
            <a:off x="667512" y="1536192"/>
            <a:ext cx="310896" cy="310896"/>
          </a:xfrm>
          <a:prstGeom prst="ellipse">
            <a:avLst/>
          </a:prstGeom>
          <a:solidFill>
            <a:srgbClr val="00A79D"/>
          </a:solidFill>
          <a:ln/>
        </p:spPr>
      </p:sp>
      <p:sp>
        <p:nvSpPr>
          <p:cNvPr id="9" name="Text 6"/>
          <p:cNvSpPr/>
          <p:nvPr/>
        </p:nvSpPr>
        <p:spPr>
          <a:xfrm>
            <a:off x="667512"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088136"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Tamr Vision harness</a:t>
            </a:r>
            <a:endParaRPr lang="en-US" sz="1250" dirty="0"/>
          </a:p>
        </p:txBody>
      </p:sp>
      <p:sp>
        <p:nvSpPr>
          <p:cNvPr id="11" name="Text 8"/>
          <p:cNvSpPr/>
          <p:nvPr/>
        </p:nvSpPr>
        <p:spPr>
          <a:xfrm>
            <a:off x="685800"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Per-class, per-session, per-fruit-size slices over the frozen v1 test split; proved v2's insect_damage +0.089 was real, not test-set drift.</a:t>
            </a:r>
            <a:endParaRPr lang="en-US" sz="1100" dirty="0"/>
          </a:p>
        </p:txBody>
      </p:sp>
      <p:sp>
        <p:nvSpPr>
          <p:cNvPr id="12" name="Shape 9"/>
          <p:cNvSpPr/>
          <p:nvPr/>
        </p:nvSpPr>
        <p:spPr>
          <a:xfrm>
            <a:off x="6233008" y="1389888"/>
            <a:ext cx="5455768" cy="2354580"/>
          </a:xfrm>
          <a:prstGeom prst="roundRect">
            <a:avLst>
              <a:gd name="adj" fmla="val 3107"/>
            </a:avLst>
          </a:prstGeom>
          <a:solidFill>
            <a:srgbClr val="F2F6F9"/>
          </a:solidFill>
          <a:ln w="12700">
            <a:solidFill>
              <a:srgbClr val="D9E2EA"/>
            </a:solidFill>
            <a:prstDash val="solid"/>
          </a:ln>
        </p:spPr>
      </p:sp>
      <p:sp>
        <p:nvSpPr>
          <p:cNvPr id="13" name="Shape 10"/>
          <p:cNvSpPr/>
          <p:nvPr/>
        </p:nvSpPr>
        <p:spPr>
          <a:xfrm>
            <a:off x="6397600" y="1536192"/>
            <a:ext cx="310896" cy="310896"/>
          </a:xfrm>
          <a:prstGeom prst="ellipse">
            <a:avLst/>
          </a:prstGeom>
          <a:solidFill>
            <a:srgbClr val="29ABE2"/>
          </a:solidFill>
          <a:ln/>
        </p:spPr>
      </p:sp>
      <p:sp>
        <p:nvSpPr>
          <p:cNvPr id="14" name="Text 11"/>
          <p:cNvSpPr/>
          <p:nvPr/>
        </p:nvSpPr>
        <p:spPr>
          <a:xfrm>
            <a:off x="639760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6818224"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Riyadh smart traffic</a:t>
            </a:r>
            <a:endParaRPr lang="en-US" sz="1250" dirty="0"/>
          </a:p>
        </p:txBody>
      </p:sp>
      <p:sp>
        <p:nvSpPr>
          <p:cNvPr id="16" name="Text 13"/>
          <p:cNvSpPr/>
          <p:nvPr/>
        </p:nvSpPr>
        <p:spPr>
          <a:xfrm>
            <a:off x="6415888"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Fleet vehicle-detection mAP of 0.91 concealed 0.62 recall on motorcycles at night — found by class x time-of-day slicing after two misses.</a:t>
            </a:r>
            <a:endParaRPr lang="en-US" sz="1100" dirty="0"/>
          </a:p>
        </p:txBody>
      </p:sp>
      <p:sp>
        <p:nvSpPr>
          <p:cNvPr id="17" name="Shape 14"/>
          <p:cNvSpPr/>
          <p:nvPr/>
        </p:nvSpPr>
        <p:spPr>
          <a:xfrm>
            <a:off x="502920" y="4000500"/>
            <a:ext cx="5455768" cy="2354580"/>
          </a:xfrm>
          <a:prstGeom prst="roundRect">
            <a:avLst>
              <a:gd name="adj" fmla="val 3107"/>
            </a:avLst>
          </a:prstGeom>
          <a:solidFill>
            <a:srgbClr val="F2F6F9"/>
          </a:solidFill>
          <a:ln w="12700">
            <a:solidFill>
              <a:srgbClr val="D9E2EA"/>
            </a:solidFill>
            <a:prstDash val="solid"/>
          </a:ln>
        </p:spPr>
      </p:sp>
      <p:sp>
        <p:nvSpPr>
          <p:cNvPr id="18" name="Shape 15"/>
          <p:cNvSpPr/>
          <p:nvPr/>
        </p:nvSpPr>
        <p:spPr>
          <a:xfrm>
            <a:off x="667512" y="4146804"/>
            <a:ext cx="310896" cy="310896"/>
          </a:xfrm>
          <a:prstGeom prst="ellipse">
            <a:avLst/>
          </a:prstGeom>
          <a:solidFill>
            <a:srgbClr val="F58220"/>
          </a:solidFill>
          <a:ln/>
        </p:spPr>
      </p:sp>
      <p:sp>
        <p:nvSpPr>
          <p:cNvPr id="19" name="Text 16"/>
          <p:cNvSpPr/>
          <p:nvPr/>
        </p:nvSpPr>
        <p:spPr>
          <a:xfrm>
            <a:off x="667512"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1088136"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Regional bank documents</a:t>
            </a:r>
            <a:endParaRPr lang="en-US" sz="1250" dirty="0"/>
          </a:p>
        </p:txBody>
      </p:sp>
      <p:sp>
        <p:nvSpPr>
          <p:cNvPr id="21" name="Text 18"/>
          <p:cNvSpPr/>
          <p:nvPr/>
        </p:nvSpPr>
        <p:spPr>
          <a:xfrm>
            <a:off x="685800"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Acceptance is a frozen 5,000-document harness run witnessed by vendor and bank; disagreements resolved by the error gallery, not argument.</a:t>
            </a:r>
            <a:endParaRPr lang="en-US" sz="11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Learning Objectives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أهداف التعلم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108</a:t>
            </a:r>
            <a:endParaRPr lang="en-US" sz="900" dirty="0"/>
          </a:p>
        </p:txBody>
      </p:sp>
      <p:sp>
        <p:nvSpPr>
          <p:cNvPr id="7" name="Shape 4"/>
          <p:cNvSpPr/>
          <p:nvPr/>
        </p:nvSpPr>
        <p:spPr>
          <a:xfrm>
            <a:off x="502920" y="1499616"/>
            <a:ext cx="11183112" cy="832104"/>
          </a:xfrm>
          <a:prstGeom prst="roundRect">
            <a:avLst>
              <a:gd name="adj" fmla="val 7692"/>
            </a:avLst>
          </a:prstGeom>
          <a:solidFill>
            <a:srgbClr val="FAFCFE"/>
          </a:solidFill>
          <a:ln w="9525">
            <a:solidFill>
              <a:srgbClr val="D9E2EA"/>
            </a:solidFill>
            <a:prstDash val="solid"/>
          </a:ln>
        </p:spPr>
      </p:sp>
      <p:sp>
        <p:nvSpPr>
          <p:cNvPr id="8" name="Shape 5"/>
          <p:cNvSpPr/>
          <p:nvPr/>
        </p:nvSpPr>
        <p:spPr>
          <a:xfrm>
            <a:off x="649224" y="1751076"/>
            <a:ext cx="329184" cy="329184"/>
          </a:xfrm>
          <a:prstGeom prst="ellipse">
            <a:avLst/>
          </a:prstGeom>
          <a:solidFill>
            <a:srgbClr val="00A79D"/>
          </a:solidFill>
          <a:ln/>
        </p:spPr>
      </p:sp>
      <p:sp>
        <p:nvSpPr>
          <p:cNvPr id="9" name="Text 6"/>
          <p:cNvSpPr/>
          <p:nvPr/>
        </p:nvSpPr>
        <p:spPr>
          <a:xfrm>
            <a:off x="649224" y="175107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6.1</a:t>
            </a:r>
            <a:endParaRPr lang="en-US" sz="1150" dirty="0"/>
          </a:p>
        </p:txBody>
      </p:sp>
      <p:sp>
        <p:nvSpPr>
          <p:cNvPr id="10" name="Text 7"/>
          <p:cNvSpPr/>
          <p:nvPr/>
        </p:nvSpPr>
        <p:spPr>
          <a:xfrm>
            <a:off x="1143000" y="149961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Implement IoU matching and AP/mAP computation from raw predictions</a:t>
            </a:r>
            <a:endParaRPr lang="en-US" sz="1250" dirty="0"/>
          </a:p>
        </p:txBody>
      </p:sp>
      <p:sp>
        <p:nvSpPr>
          <p:cNvPr id="11" name="Shape 8"/>
          <p:cNvSpPr/>
          <p:nvPr/>
        </p:nvSpPr>
        <p:spPr>
          <a:xfrm>
            <a:off x="9646920" y="1741932"/>
            <a:ext cx="658368" cy="310896"/>
          </a:xfrm>
          <a:prstGeom prst="roundRect">
            <a:avLst>
              <a:gd name="adj" fmla="val 50000"/>
            </a:avLst>
          </a:prstGeom>
          <a:solidFill>
            <a:srgbClr val="E9F6F5"/>
          </a:solidFill>
          <a:ln w="9525">
            <a:solidFill>
              <a:srgbClr val="00A79D"/>
            </a:solidFill>
            <a:prstDash val="solid"/>
          </a:ln>
        </p:spPr>
      </p:sp>
      <p:sp>
        <p:nvSpPr>
          <p:cNvPr id="12" name="Text 9"/>
          <p:cNvSpPr/>
          <p:nvPr/>
        </p:nvSpPr>
        <p:spPr>
          <a:xfrm>
            <a:off x="9646920" y="174193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13" name="Shape 10"/>
          <p:cNvSpPr/>
          <p:nvPr/>
        </p:nvSpPr>
        <p:spPr>
          <a:xfrm>
            <a:off x="502920" y="2459736"/>
            <a:ext cx="11183112" cy="832104"/>
          </a:xfrm>
          <a:prstGeom prst="roundRect">
            <a:avLst>
              <a:gd name="adj" fmla="val 7692"/>
            </a:avLst>
          </a:prstGeom>
          <a:solidFill>
            <a:srgbClr val="F2F6F9"/>
          </a:solidFill>
          <a:ln w="9525">
            <a:solidFill>
              <a:srgbClr val="D9E2EA"/>
            </a:solidFill>
            <a:prstDash val="solid"/>
          </a:ln>
        </p:spPr>
      </p:sp>
      <p:sp>
        <p:nvSpPr>
          <p:cNvPr id="14" name="Shape 11"/>
          <p:cNvSpPr/>
          <p:nvPr/>
        </p:nvSpPr>
        <p:spPr>
          <a:xfrm>
            <a:off x="649224" y="2711196"/>
            <a:ext cx="329184" cy="329184"/>
          </a:xfrm>
          <a:prstGeom prst="ellipse">
            <a:avLst/>
          </a:prstGeom>
          <a:solidFill>
            <a:srgbClr val="00A79D"/>
          </a:solidFill>
          <a:ln/>
        </p:spPr>
      </p:sp>
      <p:sp>
        <p:nvSpPr>
          <p:cNvPr id="15" name="Text 12"/>
          <p:cNvSpPr/>
          <p:nvPr/>
        </p:nvSpPr>
        <p:spPr>
          <a:xfrm>
            <a:off x="649224" y="271119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6.2</a:t>
            </a:r>
            <a:endParaRPr lang="en-US" sz="1150" dirty="0"/>
          </a:p>
        </p:txBody>
      </p:sp>
      <p:sp>
        <p:nvSpPr>
          <p:cNvPr id="16" name="Text 13"/>
          <p:cNvSpPr/>
          <p:nvPr/>
        </p:nvSpPr>
        <p:spPr>
          <a:xfrm>
            <a:off x="1143000" y="245973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Interpret mAP variants, per-class AP, PR curves; choose operating points vs constraints</a:t>
            </a:r>
            <a:endParaRPr lang="en-US" sz="1250" dirty="0"/>
          </a:p>
        </p:txBody>
      </p:sp>
      <p:sp>
        <p:nvSpPr>
          <p:cNvPr id="17" name="Shape 14"/>
          <p:cNvSpPr/>
          <p:nvPr/>
        </p:nvSpPr>
        <p:spPr>
          <a:xfrm>
            <a:off x="9646920" y="2702052"/>
            <a:ext cx="658368" cy="310896"/>
          </a:xfrm>
          <a:prstGeom prst="roundRect">
            <a:avLst>
              <a:gd name="adj" fmla="val 50000"/>
            </a:avLst>
          </a:prstGeom>
          <a:solidFill>
            <a:srgbClr val="E9F6F5"/>
          </a:solidFill>
          <a:ln w="9525">
            <a:solidFill>
              <a:srgbClr val="00A79D"/>
            </a:solidFill>
            <a:prstDash val="solid"/>
          </a:ln>
        </p:spPr>
      </p:sp>
      <p:sp>
        <p:nvSpPr>
          <p:cNvPr id="18" name="Text 15"/>
          <p:cNvSpPr/>
          <p:nvPr/>
        </p:nvSpPr>
        <p:spPr>
          <a:xfrm>
            <a:off x="9646920"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19" name="Shape 16"/>
          <p:cNvSpPr/>
          <p:nvPr/>
        </p:nvSpPr>
        <p:spPr>
          <a:xfrm>
            <a:off x="10360152" y="2702052"/>
            <a:ext cx="658368" cy="310896"/>
          </a:xfrm>
          <a:prstGeom prst="roundRect">
            <a:avLst>
              <a:gd name="adj" fmla="val 50000"/>
            </a:avLst>
          </a:prstGeom>
          <a:solidFill>
            <a:srgbClr val="E9F6F5"/>
          </a:solidFill>
          <a:ln w="9525">
            <a:solidFill>
              <a:srgbClr val="00A79D"/>
            </a:solidFill>
            <a:prstDash val="solid"/>
          </a:ln>
        </p:spPr>
      </p:sp>
      <p:sp>
        <p:nvSpPr>
          <p:cNvPr id="20" name="Text 17"/>
          <p:cNvSpPr/>
          <p:nvPr/>
        </p:nvSpPr>
        <p:spPr>
          <a:xfrm>
            <a:off x="10360152"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21" name="Shape 18"/>
          <p:cNvSpPr/>
          <p:nvPr/>
        </p:nvSpPr>
        <p:spPr>
          <a:xfrm>
            <a:off x="502920" y="3419856"/>
            <a:ext cx="11183112" cy="832104"/>
          </a:xfrm>
          <a:prstGeom prst="roundRect">
            <a:avLst>
              <a:gd name="adj" fmla="val 7692"/>
            </a:avLst>
          </a:prstGeom>
          <a:solidFill>
            <a:srgbClr val="FAFCFE"/>
          </a:solidFill>
          <a:ln w="9525">
            <a:solidFill>
              <a:srgbClr val="D9E2EA"/>
            </a:solidFill>
            <a:prstDash val="solid"/>
          </a:ln>
        </p:spPr>
      </p:sp>
      <p:sp>
        <p:nvSpPr>
          <p:cNvPr id="22" name="Shape 19"/>
          <p:cNvSpPr/>
          <p:nvPr/>
        </p:nvSpPr>
        <p:spPr>
          <a:xfrm>
            <a:off x="649224" y="3671316"/>
            <a:ext cx="329184" cy="329184"/>
          </a:xfrm>
          <a:prstGeom prst="ellipse">
            <a:avLst/>
          </a:prstGeom>
          <a:solidFill>
            <a:srgbClr val="00A79D"/>
          </a:solidFill>
          <a:ln/>
        </p:spPr>
      </p:sp>
      <p:sp>
        <p:nvSpPr>
          <p:cNvPr id="23" name="Text 20"/>
          <p:cNvSpPr/>
          <p:nvPr/>
        </p:nvSpPr>
        <p:spPr>
          <a:xfrm>
            <a:off x="649224" y="367131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6.3</a:t>
            </a:r>
            <a:endParaRPr lang="en-US" sz="1150" dirty="0"/>
          </a:p>
        </p:txBody>
      </p:sp>
      <p:sp>
        <p:nvSpPr>
          <p:cNvPr id="24" name="Text 21"/>
          <p:cNvSpPr/>
          <p:nvPr/>
        </p:nvSpPr>
        <p:spPr>
          <a:xfrm>
            <a:off x="1143000" y="341985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Design slice-based evaluation; detect minority-slice failures hidden by aggregates</a:t>
            </a:r>
            <a:endParaRPr lang="en-US" sz="1250" dirty="0"/>
          </a:p>
        </p:txBody>
      </p:sp>
      <p:sp>
        <p:nvSpPr>
          <p:cNvPr id="25" name="Shape 22"/>
          <p:cNvSpPr/>
          <p:nvPr/>
        </p:nvSpPr>
        <p:spPr>
          <a:xfrm>
            <a:off x="9646920" y="3662172"/>
            <a:ext cx="658368" cy="310896"/>
          </a:xfrm>
          <a:prstGeom prst="roundRect">
            <a:avLst>
              <a:gd name="adj" fmla="val 50000"/>
            </a:avLst>
          </a:prstGeom>
          <a:solidFill>
            <a:srgbClr val="E9F6F5"/>
          </a:solidFill>
          <a:ln w="9525">
            <a:solidFill>
              <a:srgbClr val="00A79D"/>
            </a:solidFill>
            <a:prstDash val="solid"/>
          </a:ln>
        </p:spPr>
      </p:sp>
      <p:sp>
        <p:nvSpPr>
          <p:cNvPr id="26" name="Text 23"/>
          <p:cNvSpPr/>
          <p:nvPr/>
        </p:nvSpPr>
        <p:spPr>
          <a:xfrm>
            <a:off x="9646920"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27" name="Shape 24"/>
          <p:cNvSpPr/>
          <p:nvPr/>
        </p:nvSpPr>
        <p:spPr>
          <a:xfrm>
            <a:off x="10360152" y="3662172"/>
            <a:ext cx="658368" cy="310896"/>
          </a:xfrm>
          <a:prstGeom prst="roundRect">
            <a:avLst>
              <a:gd name="adj" fmla="val 50000"/>
            </a:avLst>
          </a:prstGeom>
          <a:solidFill>
            <a:srgbClr val="E9F6F5"/>
          </a:solidFill>
          <a:ln w="9525">
            <a:solidFill>
              <a:srgbClr val="00A79D"/>
            </a:solidFill>
            <a:prstDash val="solid"/>
          </a:ln>
        </p:spPr>
      </p:sp>
      <p:sp>
        <p:nvSpPr>
          <p:cNvPr id="28" name="Text 25"/>
          <p:cNvSpPr/>
          <p:nvPr/>
        </p:nvSpPr>
        <p:spPr>
          <a:xfrm>
            <a:off x="10360152"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LO3</a:t>
            </a:r>
            <a:endParaRPr lang="en-US" sz="950" dirty="0"/>
          </a:p>
        </p:txBody>
      </p:sp>
      <p:sp>
        <p:nvSpPr>
          <p:cNvPr id="29" name="Shape 26"/>
          <p:cNvSpPr/>
          <p:nvPr/>
        </p:nvSpPr>
        <p:spPr>
          <a:xfrm>
            <a:off x="502920" y="4379976"/>
            <a:ext cx="11183112" cy="832104"/>
          </a:xfrm>
          <a:prstGeom prst="roundRect">
            <a:avLst>
              <a:gd name="adj" fmla="val 7692"/>
            </a:avLst>
          </a:prstGeom>
          <a:solidFill>
            <a:srgbClr val="F2F6F9"/>
          </a:solidFill>
          <a:ln w="9525">
            <a:solidFill>
              <a:srgbClr val="D9E2EA"/>
            </a:solidFill>
            <a:prstDash val="solid"/>
          </a:ln>
        </p:spPr>
      </p:sp>
      <p:sp>
        <p:nvSpPr>
          <p:cNvPr id="30" name="Shape 27"/>
          <p:cNvSpPr/>
          <p:nvPr/>
        </p:nvSpPr>
        <p:spPr>
          <a:xfrm>
            <a:off x="649224" y="4631436"/>
            <a:ext cx="329184" cy="329184"/>
          </a:xfrm>
          <a:prstGeom prst="ellipse">
            <a:avLst/>
          </a:prstGeom>
          <a:solidFill>
            <a:srgbClr val="00A79D"/>
          </a:solidFill>
          <a:ln/>
        </p:spPr>
      </p:sp>
      <p:sp>
        <p:nvSpPr>
          <p:cNvPr id="31" name="Text 28"/>
          <p:cNvSpPr/>
          <p:nvPr/>
        </p:nvSpPr>
        <p:spPr>
          <a:xfrm>
            <a:off x="649224" y="463143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6.4</a:t>
            </a:r>
            <a:endParaRPr lang="en-US" sz="1150" dirty="0"/>
          </a:p>
        </p:txBody>
      </p:sp>
      <p:sp>
        <p:nvSpPr>
          <p:cNvPr id="32" name="Text 29"/>
          <p:cNvSpPr/>
          <p:nvPr/>
        </p:nvSpPr>
        <p:spPr>
          <a:xfrm>
            <a:off x="1143000" y="437997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Classify detection errors into a taxonomy; prioritise remediation by error mass</a:t>
            </a:r>
            <a:endParaRPr lang="en-US" sz="1250" dirty="0"/>
          </a:p>
        </p:txBody>
      </p:sp>
      <p:sp>
        <p:nvSpPr>
          <p:cNvPr id="33" name="Shape 30"/>
          <p:cNvSpPr/>
          <p:nvPr/>
        </p:nvSpPr>
        <p:spPr>
          <a:xfrm>
            <a:off x="9646920" y="4622292"/>
            <a:ext cx="658368" cy="310896"/>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9646920"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35" name="Shape 32"/>
          <p:cNvSpPr/>
          <p:nvPr/>
        </p:nvSpPr>
        <p:spPr>
          <a:xfrm>
            <a:off x="502920" y="5340096"/>
            <a:ext cx="11183112" cy="832104"/>
          </a:xfrm>
          <a:prstGeom prst="roundRect">
            <a:avLst>
              <a:gd name="adj" fmla="val 7692"/>
            </a:avLst>
          </a:prstGeom>
          <a:solidFill>
            <a:srgbClr val="FAFCFE"/>
          </a:solidFill>
          <a:ln w="9525">
            <a:solidFill>
              <a:srgbClr val="D9E2EA"/>
            </a:solidFill>
            <a:prstDash val="solid"/>
          </a:ln>
        </p:spPr>
      </p:sp>
      <p:sp>
        <p:nvSpPr>
          <p:cNvPr id="36" name="Shape 33"/>
          <p:cNvSpPr/>
          <p:nvPr/>
        </p:nvSpPr>
        <p:spPr>
          <a:xfrm>
            <a:off x="649224" y="5591556"/>
            <a:ext cx="329184" cy="329184"/>
          </a:xfrm>
          <a:prstGeom prst="ellipse">
            <a:avLst/>
          </a:prstGeom>
          <a:solidFill>
            <a:srgbClr val="00A79D"/>
          </a:solidFill>
          <a:ln/>
        </p:spPr>
      </p:sp>
      <p:sp>
        <p:nvSpPr>
          <p:cNvPr id="37" name="Text 34"/>
          <p:cNvSpPr/>
          <p:nvPr/>
        </p:nvSpPr>
        <p:spPr>
          <a:xfrm>
            <a:off x="649224" y="559155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6.5</a:t>
            </a:r>
            <a:endParaRPr lang="en-US" sz="1150" dirty="0"/>
          </a:p>
        </p:txBody>
      </p:sp>
      <p:sp>
        <p:nvSpPr>
          <p:cNvPr id="38" name="Text 35"/>
          <p:cNvSpPr/>
          <p:nvPr/>
        </p:nvSpPr>
        <p:spPr>
          <a:xfrm>
            <a:off x="1143000" y="534009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Build a deterministic, versioned evaluation harness usable as a regression gate</a:t>
            </a:r>
            <a:endParaRPr lang="en-US" sz="1250" dirty="0"/>
          </a:p>
        </p:txBody>
      </p:sp>
      <p:sp>
        <p:nvSpPr>
          <p:cNvPr id="39" name="Shape 36"/>
          <p:cNvSpPr/>
          <p:nvPr/>
        </p:nvSpPr>
        <p:spPr>
          <a:xfrm>
            <a:off x="9646920" y="5582412"/>
            <a:ext cx="658368" cy="310896"/>
          </a:xfrm>
          <a:prstGeom prst="roundRect">
            <a:avLst>
              <a:gd name="adj" fmla="val 50000"/>
            </a:avLst>
          </a:prstGeom>
          <a:solidFill>
            <a:srgbClr val="E9F6F5"/>
          </a:solidFill>
          <a:ln w="9525">
            <a:solidFill>
              <a:srgbClr val="00A79D"/>
            </a:solidFill>
            <a:prstDash val="solid"/>
          </a:ln>
        </p:spPr>
      </p:sp>
      <p:sp>
        <p:nvSpPr>
          <p:cNvPr id="40" name="Text 37"/>
          <p:cNvSpPr/>
          <p:nvPr/>
        </p:nvSpPr>
        <p:spPr>
          <a:xfrm>
            <a:off x="9646920"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41" name="Shape 38"/>
          <p:cNvSpPr/>
          <p:nvPr/>
        </p:nvSpPr>
        <p:spPr>
          <a:xfrm>
            <a:off x="10360152" y="5582412"/>
            <a:ext cx="658368" cy="310896"/>
          </a:xfrm>
          <a:prstGeom prst="roundRect">
            <a:avLst>
              <a:gd name="adj" fmla="val 50000"/>
            </a:avLst>
          </a:prstGeom>
          <a:solidFill>
            <a:srgbClr val="E9F6F5"/>
          </a:solidFill>
          <a:ln w="9525">
            <a:solidFill>
              <a:srgbClr val="00A79D"/>
            </a:solidFill>
            <a:prstDash val="solid"/>
          </a:ln>
        </p:spPr>
      </p:sp>
      <p:sp>
        <p:nvSpPr>
          <p:cNvPr id="42" name="Text 39"/>
          <p:cNvSpPr/>
          <p:nvPr/>
        </p:nvSpPr>
        <p:spPr>
          <a:xfrm>
            <a:off x="10360152"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LO6</a:t>
            </a:r>
            <a:endParaRPr lang="en-US" sz="9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Matching Procedure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إجراء المطابقة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109</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Which prediction corresponds to which ground truth? Every subtlety that trips practitioners lives here.</a:t>
            </a:r>
            <a:endParaRPr lang="en-US" sz="1250" dirty="0"/>
          </a:p>
        </p:txBody>
      </p:sp>
      <p:sp>
        <p:nvSpPr>
          <p:cNvPr id="8" name="Shape 5"/>
          <p:cNvSpPr/>
          <p:nvPr/>
        </p:nvSpPr>
        <p:spPr>
          <a:xfrm>
            <a:off x="502920" y="3118104"/>
            <a:ext cx="2508428"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Sort by confidence</a:t>
            </a:r>
            <a:endParaRPr lang="en-US" sz="1250" dirty="0"/>
          </a:p>
        </p:txBody>
      </p:sp>
      <p:sp>
        <p:nvSpPr>
          <p:cNvPr id="10" name="Text 7"/>
          <p:cNvSpPr/>
          <p:nvPr/>
        </p:nvSpPr>
        <p:spPr>
          <a:xfrm>
            <a:off x="576072"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descending; greedy order matters</a:t>
            </a:r>
            <a:endParaRPr lang="en-US" sz="950" dirty="0"/>
          </a:p>
        </p:txBody>
      </p:sp>
      <p:sp>
        <p:nvSpPr>
          <p:cNvPr id="11" name="Shape 8"/>
          <p:cNvSpPr/>
          <p:nvPr/>
        </p:nvSpPr>
        <p:spPr>
          <a:xfrm>
            <a:off x="3066212" y="3803904"/>
            <a:ext cx="274320" cy="0"/>
          </a:xfrm>
          <a:prstGeom prst="line">
            <a:avLst/>
          </a:prstGeom>
          <a:noFill/>
          <a:ln w="19050">
            <a:solidFill>
              <a:srgbClr val="8A96A6"/>
            </a:solidFill>
            <a:prstDash val="solid"/>
            <a:headEnd type="none"/>
            <a:tailEnd type="triangle"/>
          </a:ln>
        </p:spPr>
      </p:sp>
      <p:sp>
        <p:nvSpPr>
          <p:cNvPr id="12" name="Shape 9"/>
          <p:cNvSpPr/>
          <p:nvPr/>
        </p:nvSpPr>
        <p:spPr>
          <a:xfrm>
            <a:off x="3395396" y="3118104"/>
            <a:ext cx="2508428" cy="1371600"/>
          </a:xfrm>
          <a:prstGeom prst="roundRect">
            <a:avLst>
              <a:gd name="adj" fmla="val 4667"/>
            </a:avLst>
          </a:prstGeom>
          <a:solidFill>
            <a:srgbClr val="F2F6F9"/>
          </a:solidFill>
          <a:ln w="15875">
            <a:solidFill>
              <a:srgbClr val="00A79D"/>
            </a:solidFill>
            <a:prstDash val="solid"/>
          </a:ln>
        </p:spPr>
      </p:sp>
      <p:sp>
        <p:nvSpPr>
          <p:cNvPr id="13" name="Text 10"/>
          <p:cNvSpPr/>
          <p:nvPr/>
        </p:nvSpPr>
        <p:spPr>
          <a:xfrm>
            <a:off x="3468548"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IoU vs unmatched GT</a:t>
            </a:r>
            <a:endParaRPr lang="en-US" sz="1250" dirty="0"/>
          </a:p>
        </p:txBody>
      </p:sp>
      <p:sp>
        <p:nvSpPr>
          <p:cNvPr id="14" name="Text 11"/>
          <p:cNvSpPr/>
          <p:nvPr/>
        </p:nvSpPr>
        <p:spPr>
          <a:xfrm>
            <a:off x="3468548"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same class, same image only</a:t>
            </a:r>
            <a:endParaRPr lang="en-US" sz="950" dirty="0"/>
          </a:p>
        </p:txBody>
      </p:sp>
      <p:sp>
        <p:nvSpPr>
          <p:cNvPr id="15" name="Shape 12"/>
          <p:cNvSpPr/>
          <p:nvPr/>
        </p:nvSpPr>
        <p:spPr>
          <a:xfrm>
            <a:off x="5958688" y="3803904"/>
            <a:ext cx="274320" cy="0"/>
          </a:xfrm>
          <a:prstGeom prst="line">
            <a:avLst/>
          </a:prstGeom>
          <a:noFill/>
          <a:ln w="19050">
            <a:solidFill>
              <a:srgbClr val="8A96A6"/>
            </a:solidFill>
            <a:prstDash val="solid"/>
            <a:headEnd type="none"/>
            <a:tailEnd type="triangle"/>
          </a:ln>
        </p:spPr>
      </p:sp>
      <p:sp>
        <p:nvSpPr>
          <p:cNvPr id="16" name="Shape 13"/>
          <p:cNvSpPr/>
          <p:nvPr/>
        </p:nvSpPr>
        <p:spPr>
          <a:xfrm>
            <a:off x="4649610" y="4489704"/>
            <a:ext cx="0" cy="274320"/>
          </a:xfrm>
          <a:prstGeom prst="line">
            <a:avLst/>
          </a:prstGeom>
          <a:noFill/>
          <a:ln w="15875">
            <a:solidFill>
              <a:srgbClr val="E8503A"/>
            </a:solidFill>
            <a:prstDash val="dash"/>
          </a:ln>
        </p:spPr>
      </p:sp>
      <p:sp>
        <p:nvSpPr>
          <p:cNvPr id="17" name="Shape 14"/>
          <p:cNvSpPr/>
          <p:nvPr/>
        </p:nvSpPr>
        <p:spPr>
          <a:xfrm>
            <a:off x="3349676" y="4764024"/>
            <a:ext cx="2599868" cy="475488"/>
          </a:xfrm>
          <a:prstGeom prst="roundRect">
            <a:avLst>
              <a:gd name="adj" fmla="val 11538"/>
            </a:avLst>
          </a:prstGeom>
          <a:solidFill>
            <a:srgbClr val="FDEDEA"/>
          </a:solidFill>
          <a:ln w="12700">
            <a:solidFill>
              <a:srgbClr val="E8503A"/>
            </a:solidFill>
            <a:prstDash val="solid"/>
          </a:ln>
        </p:spPr>
      </p:sp>
      <p:sp>
        <p:nvSpPr>
          <p:cNvPr id="18" name="Text 15"/>
          <p:cNvSpPr/>
          <p:nvPr/>
        </p:nvSpPr>
        <p:spPr>
          <a:xfrm>
            <a:off x="3395396" y="4764024"/>
            <a:ext cx="2508428"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a confident sloppy box steals the GT from a precise one</a:t>
            </a:r>
            <a:endParaRPr lang="en-US" sz="950" dirty="0"/>
          </a:p>
        </p:txBody>
      </p:sp>
      <p:sp>
        <p:nvSpPr>
          <p:cNvPr id="19" name="Shape 16"/>
          <p:cNvSpPr/>
          <p:nvPr/>
        </p:nvSpPr>
        <p:spPr>
          <a:xfrm>
            <a:off x="6287872" y="3118104"/>
            <a:ext cx="2508428" cy="1371600"/>
          </a:xfrm>
          <a:prstGeom prst="roundRect">
            <a:avLst>
              <a:gd name="adj" fmla="val 4667"/>
            </a:avLst>
          </a:prstGeom>
          <a:solidFill>
            <a:srgbClr val="F2F6F9"/>
          </a:solidFill>
          <a:ln w="15875">
            <a:solidFill>
              <a:srgbClr val="00A79D"/>
            </a:solidFill>
            <a:prstDash val="solid"/>
          </a:ln>
        </p:spPr>
      </p:sp>
      <p:sp>
        <p:nvSpPr>
          <p:cNvPr id="20" name="Text 17"/>
          <p:cNvSpPr/>
          <p:nvPr/>
        </p:nvSpPr>
        <p:spPr>
          <a:xfrm>
            <a:off x="6361024" y="3172968"/>
            <a:ext cx="2362124"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IoU &gt;= 0.5: TP</a:t>
            </a:r>
            <a:endParaRPr lang="en-US" sz="1250" dirty="0"/>
          </a:p>
        </p:txBody>
      </p:sp>
      <p:sp>
        <p:nvSpPr>
          <p:cNvPr id="21" name="Text 18"/>
          <p:cNvSpPr/>
          <p:nvPr/>
        </p:nvSpPr>
        <p:spPr>
          <a:xfrm>
            <a:off x="6361024" y="3776472"/>
            <a:ext cx="2362124"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GT consumed; else prediction is FP</a:t>
            </a:r>
            <a:endParaRPr lang="en-US" sz="950" dirty="0"/>
          </a:p>
        </p:txBody>
      </p:sp>
      <p:sp>
        <p:nvSpPr>
          <p:cNvPr id="22" name="Shape 19"/>
          <p:cNvSpPr/>
          <p:nvPr/>
        </p:nvSpPr>
        <p:spPr>
          <a:xfrm>
            <a:off x="8851163" y="3803904"/>
            <a:ext cx="274320" cy="0"/>
          </a:xfrm>
          <a:prstGeom prst="line">
            <a:avLst/>
          </a:prstGeom>
          <a:noFill/>
          <a:ln w="19050">
            <a:solidFill>
              <a:srgbClr val="8A96A6"/>
            </a:solidFill>
            <a:prstDash val="solid"/>
            <a:headEnd type="none"/>
            <a:tailEnd type="triangle"/>
          </a:ln>
        </p:spPr>
      </p:sp>
      <p:sp>
        <p:nvSpPr>
          <p:cNvPr id="23" name="Shape 20"/>
          <p:cNvSpPr/>
          <p:nvPr/>
        </p:nvSpPr>
        <p:spPr>
          <a:xfrm>
            <a:off x="7542086" y="4489704"/>
            <a:ext cx="0" cy="274320"/>
          </a:xfrm>
          <a:prstGeom prst="line">
            <a:avLst/>
          </a:prstGeom>
          <a:noFill/>
          <a:ln w="15875">
            <a:solidFill>
              <a:srgbClr val="E8503A"/>
            </a:solidFill>
            <a:prstDash val="dash"/>
          </a:ln>
        </p:spPr>
      </p:sp>
      <p:sp>
        <p:nvSpPr>
          <p:cNvPr id="24" name="Shape 21"/>
          <p:cNvSpPr/>
          <p:nvPr/>
        </p:nvSpPr>
        <p:spPr>
          <a:xfrm>
            <a:off x="6242152" y="4764024"/>
            <a:ext cx="2599868" cy="475488"/>
          </a:xfrm>
          <a:prstGeom prst="roundRect">
            <a:avLst>
              <a:gd name="adj" fmla="val 11538"/>
            </a:avLst>
          </a:prstGeom>
          <a:solidFill>
            <a:srgbClr val="FDEDEA"/>
          </a:solidFill>
          <a:ln w="12700">
            <a:solidFill>
              <a:srgbClr val="E8503A"/>
            </a:solidFill>
            <a:prstDash val="solid"/>
          </a:ln>
        </p:spPr>
      </p:sp>
      <p:sp>
        <p:nvSpPr>
          <p:cNvPr id="25" name="Text 22"/>
          <p:cNvSpPr/>
          <p:nvPr/>
        </p:nvSpPr>
        <p:spPr>
          <a:xfrm>
            <a:off x="6287872" y="4764024"/>
            <a:ext cx="2508428"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wrong class: FP AND leaves an FN — double punishment</a:t>
            </a:r>
            <a:endParaRPr lang="en-US" sz="950" dirty="0"/>
          </a:p>
        </p:txBody>
      </p:sp>
      <p:sp>
        <p:nvSpPr>
          <p:cNvPr id="26" name="Shape 23"/>
          <p:cNvSpPr/>
          <p:nvPr/>
        </p:nvSpPr>
        <p:spPr>
          <a:xfrm>
            <a:off x="9180347" y="3118104"/>
            <a:ext cx="2508428" cy="1371600"/>
          </a:xfrm>
          <a:prstGeom prst="roundRect">
            <a:avLst>
              <a:gd name="adj" fmla="val 4667"/>
            </a:avLst>
          </a:prstGeom>
          <a:solidFill>
            <a:srgbClr val="1D2A5C"/>
          </a:solidFill>
          <a:ln w="15875">
            <a:solidFill>
              <a:srgbClr val="00A79D"/>
            </a:solidFill>
            <a:prstDash val="solid"/>
          </a:ln>
        </p:spPr>
      </p:sp>
      <p:sp>
        <p:nvSpPr>
          <p:cNvPr id="27" name="Text 24"/>
          <p:cNvSpPr/>
          <p:nvPr/>
        </p:nvSpPr>
        <p:spPr>
          <a:xfrm>
            <a:off x="9253499" y="3172968"/>
            <a:ext cx="2362124"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Leftover GT = FN</a:t>
            </a:r>
            <a:endParaRPr lang="en-US" sz="1250" dirty="0"/>
          </a:p>
        </p:txBody>
      </p:sp>
      <p:sp>
        <p:nvSpPr>
          <p:cNvPr id="28" name="Text 25"/>
          <p:cNvSpPr/>
          <p:nvPr/>
        </p:nvSpPr>
        <p:spPr>
          <a:xfrm>
            <a:off x="9253499" y="3776472"/>
            <a:ext cx="2362124"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misses, at any confidence</a:t>
            </a:r>
            <a:endParaRPr lang="en-US" sz="9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mAP@0.5 vs mAP@0.5:0.95</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مقارنة متغيرات mAP</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110</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AP is threshold-free; deployment is not — the M3 confidence sweep belongs in the harness, not in a notebook.</a:t>
            </a:r>
            <a:endParaRPr lang="en-US" sz="1250" dirty="0"/>
          </a:p>
        </p:txBody>
      </p:sp>
      <p:sp>
        <p:nvSpPr>
          <p:cNvPr id="8" name="Shape 5"/>
          <p:cNvSpPr/>
          <p:nvPr/>
        </p:nvSpPr>
        <p:spPr>
          <a:xfrm>
            <a:off x="502920" y="1892808"/>
            <a:ext cx="5432908" cy="2478024"/>
          </a:xfrm>
          <a:prstGeom prst="roundRect">
            <a:avLst>
              <a:gd name="adj" fmla="val 3321"/>
            </a:avLst>
          </a:prstGeom>
          <a:solidFill>
            <a:srgbClr val="F2F6F9"/>
          </a:solidFill>
          <a:ln w="12700">
            <a:solidFill>
              <a:srgbClr val="D9E2EA"/>
            </a:solidFill>
            <a:prstDash val="solid"/>
          </a:ln>
        </p:spPr>
      </p:sp>
      <p:sp>
        <p:nvSpPr>
          <p:cNvPr id="9" name="Shape 6"/>
          <p:cNvSpPr/>
          <p:nvPr/>
        </p:nvSpPr>
        <p:spPr>
          <a:xfrm>
            <a:off x="704088" y="2084832"/>
            <a:ext cx="146304" cy="146304"/>
          </a:xfrm>
          <a:prstGeom prst="ellipse">
            <a:avLst/>
          </a:prstGeom>
          <a:solidFill>
            <a:srgbClr val="00A79D"/>
          </a:solidFill>
          <a:ln/>
        </p:spPr>
      </p:sp>
      <p:sp>
        <p:nvSpPr>
          <p:cNvPr id="10" name="Text 7"/>
          <p:cNvSpPr/>
          <p:nvPr/>
        </p:nvSpPr>
        <p:spPr>
          <a:xfrm>
            <a:off x="960120" y="198424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mAP@0.5</a:t>
            </a:r>
            <a:endParaRPr lang="en-US" sz="1400" dirty="0"/>
          </a:p>
        </p:txBody>
      </p:sp>
      <p:sp>
        <p:nvSpPr>
          <p:cNvPr id="11" name="Text 8"/>
          <p:cNvSpPr/>
          <p:nvPr/>
        </p:nvSpPr>
        <p:spPr>
          <a:xfrm>
            <a:off x="758952" y="2423160"/>
            <a:ext cx="4975708" cy="1819656"/>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Does the detector find and roughly localise things?</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The applied headline where presence matters most</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IoU 0.5 as the definition of a correct detection</a:t>
            </a:r>
            <a:endParaRPr lang="en-US" sz="1150" dirty="0"/>
          </a:p>
        </p:txBody>
      </p:sp>
      <p:sp>
        <p:nvSpPr>
          <p:cNvPr id="12" name="Shape 9"/>
          <p:cNvSpPr/>
          <p:nvPr/>
        </p:nvSpPr>
        <p:spPr>
          <a:xfrm>
            <a:off x="6255868" y="1892808"/>
            <a:ext cx="5432908" cy="2478024"/>
          </a:xfrm>
          <a:prstGeom prst="roundRect">
            <a:avLst>
              <a:gd name="adj" fmla="val 3321"/>
            </a:avLst>
          </a:prstGeom>
          <a:solidFill>
            <a:srgbClr val="F2F6F9"/>
          </a:solidFill>
          <a:ln w="12700">
            <a:solidFill>
              <a:srgbClr val="D9E2EA"/>
            </a:solidFill>
            <a:prstDash val="solid"/>
          </a:ln>
        </p:spPr>
      </p:sp>
      <p:sp>
        <p:nvSpPr>
          <p:cNvPr id="13" name="Shape 10"/>
          <p:cNvSpPr/>
          <p:nvPr/>
        </p:nvSpPr>
        <p:spPr>
          <a:xfrm>
            <a:off x="6457036" y="2084832"/>
            <a:ext cx="146304" cy="146304"/>
          </a:xfrm>
          <a:prstGeom prst="ellipse">
            <a:avLst/>
          </a:prstGeom>
          <a:solidFill>
            <a:srgbClr val="29ABE2"/>
          </a:solidFill>
          <a:ln/>
        </p:spPr>
      </p:sp>
      <p:sp>
        <p:nvSpPr>
          <p:cNvPr id="14" name="Text 11"/>
          <p:cNvSpPr/>
          <p:nvPr/>
        </p:nvSpPr>
        <p:spPr>
          <a:xfrm>
            <a:off x="6713068" y="198424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mAP@0.5:0.95 (COCO)</a:t>
            </a:r>
            <a:endParaRPr lang="en-US" sz="1400" dirty="0"/>
          </a:p>
        </p:txBody>
      </p:sp>
      <p:sp>
        <p:nvSpPr>
          <p:cNvPr id="15" name="Text 12"/>
          <p:cNvSpPr/>
          <p:nvPr/>
        </p:nvSpPr>
        <p:spPr>
          <a:xfrm>
            <a:off x="6511900" y="2423160"/>
            <a:ext cx="4975708" cy="1819656"/>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Averaged over IoU thresholds 0.5 to 0.95</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Additionally rewards tight localisation</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Eject-gate targeting pays for it: box centres drive actuation</a:t>
            </a:r>
            <a:endParaRPr lang="en-US" sz="1150" dirty="0"/>
          </a:p>
        </p:txBody>
      </p:sp>
      <p:sp>
        <p:nvSpPr>
          <p:cNvPr id="16" name="Shape 13"/>
          <p:cNvSpPr/>
          <p:nvPr/>
        </p:nvSpPr>
        <p:spPr>
          <a:xfrm>
            <a:off x="3455518" y="4535424"/>
            <a:ext cx="5280660" cy="457200"/>
          </a:xfrm>
          <a:prstGeom prst="roundRect">
            <a:avLst>
              <a:gd name="adj" fmla="val 50000"/>
            </a:avLst>
          </a:prstGeom>
          <a:solidFill>
            <a:srgbClr val="FEF3E7"/>
          </a:solidFill>
          <a:ln w="15875">
            <a:solidFill>
              <a:srgbClr val="F58220"/>
            </a:solidFill>
            <a:prstDash val="solid"/>
          </a:ln>
        </p:spPr>
      </p:sp>
      <p:sp>
        <p:nvSpPr>
          <p:cNvPr id="17" name="Text 14"/>
          <p:cNvSpPr/>
          <p:nvPr/>
        </p:nvSpPr>
        <p:spPr>
          <a:xfrm>
            <a:off x="3546958" y="4535424"/>
            <a:ext cx="5097780" cy="457200"/>
          </a:xfrm>
          <a:prstGeom prst="rect">
            <a:avLst/>
          </a:prstGeom>
          <a:noFill/>
          <a:ln/>
        </p:spPr>
        <p:txBody>
          <a:bodyPr wrap="square" lIns="0" tIns="0" rIns="0" bIns="0" rtlCol="0" anchor="ctr"/>
          <a:lstStyle/>
          <a:p>
            <a:pPr algn="ctr" indent="0" marL="0">
              <a:buNone/>
            </a:pPr>
            <a:r>
              <a:rPr lang="en-US" sz="1200" b="1" dirty="0">
                <a:solidFill>
                  <a:srgbClr val="B35A0F"/>
                </a:solidFill>
                <a:latin typeface="Calibri" pitchFamily="34" charset="0"/>
                <a:ea typeface="Calibri" pitchFamily="34" charset="-122"/>
                <a:cs typeface="Calibri" pitchFamily="34" charset="-120"/>
              </a:rPr>
              <a:t>Report both — and know which one the use case pays for.</a:t>
            </a:r>
            <a:endParaRPr lang="en-US" sz="1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Aggregate Is Always Hiding Something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الرقم الإجمالي يخفي شيئًا دائمًا</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111</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A slice is any subset with a reason to differ</a:t>
            </a:r>
            <a:endParaRPr lang="en-US" sz="1400" dirty="0"/>
          </a:p>
        </p:txBody>
      </p:sp>
      <p:sp>
        <p:nvSpPr>
          <p:cNvPr id="10" name="Text 7"/>
          <p:cNvSpPr/>
          <p:nvPr/>
        </p:nvSpPr>
        <p:spPr>
          <a:xfrm>
            <a:off x="1005840" y="179679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Class, session/station, object size, lighting bucket, dataset release, capture date.</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Slices are declared in config, not improvised</a:t>
            </a:r>
            <a:endParaRPr lang="en-US" sz="1400" dirty="0"/>
          </a:p>
        </p:txBody>
      </p:sp>
      <p:sp>
        <p:nvSpPr>
          <p:cNvPr id="14" name="Text 11"/>
          <p:cNvSpPr/>
          <p:nvPr/>
        </p:nvSpPr>
        <p:spPr>
          <a:xfrm>
            <a:off x="1005840" y="298551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Post-hoc slicing after seeing results is p-hacking with extra steps; the taxonomy is reviewed like code.</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Every slice report carries n</a:t>
            </a:r>
            <a:endParaRPr lang="en-US" sz="1400" dirty="0"/>
          </a:p>
        </p:txBody>
      </p:sp>
      <p:sp>
        <p:nvSpPr>
          <p:cNvPr id="18" name="Text 15"/>
          <p:cNvSpPr/>
          <p:nvPr/>
        </p:nvSpPr>
        <p:spPr>
          <a:xfrm>
            <a:off x="1005840" y="417423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0.71 recall on a 14-item slice is a hypothesis, not a finding; slices under 50 instances render greyed out.</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The headline is the worst slice, not the mean</a:t>
            </a:r>
            <a:endParaRPr lang="en-US" sz="1400" dirty="0"/>
          </a:p>
        </p:txBody>
      </p:sp>
      <p:sp>
        <p:nvSpPr>
          <p:cNvPr id="22" name="Text 19"/>
          <p:cNvSpPr/>
          <p:nvPr/>
        </p:nvSpPr>
        <p:spPr>
          <a:xfrm>
            <a:off x="1005840" y="536295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Min recall across sessions catches what the mean launders. Fine on average, broken at one site = broken.</a:t>
            </a:r>
            <a:endParaRPr lang="en-US" sz="1150" dirty="0"/>
          </a:p>
        </p:txBody>
      </p:sp>
      <p:sp>
        <p:nvSpPr>
          <p:cNvPr id="23" name="Shape 20"/>
          <p:cNvSpPr/>
          <p:nvPr/>
        </p:nvSpPr>
        <p:spPr>
          <a:xfrm>
            <a:off x="6355080" y="2775204"/>
            <a:ext cx="1563624" cy="2194560"/>
          </a:xfrm>
          <a:prstGeom prst="roundRect">
            <a:avLst>
              <a:gd name="adj" fmla="val 5263"/>
            </a:avLst>
          </a:prstGeom>
          <a:solidFill>
            <a:srgbClr val="E9F6F5"/>
          </a:solidFill>
          <a:ln w="12700">
            <a:solidFill>
              <a:srgbClr val="D9E2EA"/>
            </a:solidFill>
            <a:prstDash val="solid"/>
          </a:ln>
        </p:spPr>
      </p:sp>
      <p:sp>
        <p:nvSpPr>
          <p:cNvPr id="24" name="Text 21"/>
          <p:cNvSpPr/>
          <p:nvPr/>
        </p:nvSpPr>
        <p:spPr>
          <a:xfrm>
            <a:off x="6446520" y="2884932"/>
            <a:ext cx="1380744" cy="965606"/>
          </a:xfrm>
          <a:prstGeom prst="rect">
            <a:avLst/>
          </a:prstGeom>
          <a:noFill/>
          <a:ln/>
        </p:spPr>
        <p:txBody>
          <a:bodyPr wrap="square" lIns="0" tIns="0" rIns="0" bIns="0" rtlCol="0" anchor="ctr"/>
          <a:lstStyle/>
          <a:p>
            <a:pPr algn="ctr" indent="0" marL="0">
              <a:buNone/>
            </a:pPr>
            <a:r>
              <a:rPr lang="en-US" sz="3800" b="1" dirty="0">
                <a:solidFill>
                  <a:srgbClr val="00A79D"/>
                </a:solidFill>
                <a:latin typeface="Calibri" pitchFamily="34" charset="0"/>
                <a:ea typeface="Calibri" pitchFamily="34" charset="-122"/>
                <a:cs typeface="Calibri" pitchFamily="34" charset="-120"/>
              </a:rPr>
              <a:t>0.872</a:t>
            </a:r>
            <a:endParaRPr lang="en-US" sz="3800" dirty="0"/>
          </a:p>
        </p:txBody>
      </p:sp>
      <p:sp>
        <p:nvSpPr>
          <p:cNvPr id="25" name="Text 22"/>
          <p:cNvSpPr/>
          <p:nvPr/>
        </p:nvSpPr>
        <p:spPr>
          <a:xfrm>
            <a:off x="6492240"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aggregate mAP@0.5</a:t>
            </a:r>
            <a:endParaRPr lang="en-US" sz="1250" dirty="0"/>
          </a:p>
        </p:txBody>
      </p:sp>
      <p:sp>
        <p:nvSpPr>
          <p:cNvPr id="26" name="Text 23"/>
          <p:cNvSpPr/>
          <p:nvPr/>
        </p:nvSpPr>
        <p:spPr>
          <a:xfrm>
            <a:off x="6492240"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green — and insufficient</a:t>
            </a:r>
            <a:endParaRPr lang="en-US" sz="1000" dirty="0"/>
          </a:p>
        </p:txBody>
      </p:sp>
      <p:sp>
        <p:nvSpPr>
          <p:cNvPr id="27" name="Shape 24"/>
          <p:cNvSpPr/>
          <p:nvPr/>
        </p:nvSpPr>
        <p:spPr>
          <a:xfrm>
            <a:off x="8238744" y="2775204"/>
            <a:ext cx="1563624" cy="2194560"/>
          </a:xfrm>
          <a:prstGeom prst="roundRect">
            <a:avLst>
              <a:gd name="adj" fmla="val 5263"/>
            </a:avLst>
          </a:prstGeom>
          <a:solidFill>
            <a:srgbClr val="F2F6F9"/>
          </a:solidFill>
          <a:ln w="12700">
            <a:solidFill>
              <a:srgbClr val="D9E2EA"/>
            </a:solidFill>
            <a:prstDash val="solid"/>
          </a:ln>
        </p:spPr>
      </p:sp>
      <p:sp>
        <p:nvSpPr>
          <p:cNvPr id="28" name="Text 25"/>
          <p:cNvSpPr/>
          <p:nvPr/>
        </p:nvSpPr>
        <p:spPr>
          <a:xfrm>
            <a:off x="8330184" y="2884932"/>
            <a:ext cx="1380744" cy="965606"/>
          </a:xfrm>
          <a:prstGeom prst="rect">
            <a:avLst/>
          </a:prstGeom>
          <a:noFill/>
          <a:ln/>
        </p:spPr>
        <p:txBody>
          <a:bodyPr wrap="square" lIns="0" tIns="0" rIns="0" bIns="0" rtlCol="0" anchor="ctr"/>
          <a:lstStyle/>
          <a:p>
            <a:pPr algn="ctr" indent="0" marL="0">
              <a:buNone/>
            </a:pPr>
            <a:r>
              <a:rPr lang="en-US" sz="3800" b="1" dirty="0">
                <a:solidFill>
                  <a:srgbClr val="E8503A"/>
                </a:solidFill>
                <a:latin typeface="Calibri" pitchFamily="34" charset="0"/>
                <a:ea typeface="Calibri" pitchFamily="34" charset="-122"/>
                <a:cs typeface="Calibri" pitchFamily="34" charset="-120"/>
              </a:rPr>
              <a:t>0.71</a:t>
            </a:r>
            <a:endParaRPr lang="en-US" sz="3800" dirty="0"/>
          </a:p>
        </p:txBody>
      </p:sp>
      <p:sp>
        <p:nvSpPr>
          <p:cNvPr id="29" name="Text 26"/>
          <p:cNvSpPr/>
          <p:nvPr/>
        </p:nvSpPr>
        <p:spPr>
          <a:xfrm>
            <a:off x="8375904"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session s09 recall</a:t>
            </a:r>
            <a:endParaRPr lang="en-US" sz="1250" dirty="0"/>
          </a:p>
        </p:txBody>
      </p:sp>
      <p:sp>
        <p:nvSpPr>
          <p:cNvPr id="30" name="Text 27"/>
          <p:cNvSpPr/>
          <p:nvPr/>
        </p:nvSpPr>
        <p:spPr>
          <a:xfrm>
            <a:off x="8375904"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evening captures, n=142</a:t>
            </a:r>
            <a:endParaRPr lang="en-US" sz="1000" dirty="0"/>
          </a:p>
        </p:txBody>
      </p:sp>
      <p:sp>
        <p:nvSpPr>
          <p:cNvPr id="31" name="Shape 28"/>
          <p:cNvSpPr/>
          <p:nvPr/>
        </p:nvSpPr>
        <p:spPr>
          <a:xfrm>
            <a:off x="10122408" y="2775204"/>
            <a:ext cx="1563624" cy="2194560"/>
          </a:xfrm>
          <a:prstGeom prst="roundRect">
            <a:avLst>
              <a:gd name="adj" fmla="val 5263"/>
            </a:avLst>
          </a:prstGeom>
          <a:solidFill>
            <a:srgbClr val="F2F6F9"/>
          </a:solidFill>
          <a:ln w="12700">
            <a:solidFill>
              <a:srgbClr val="D9E2EA"/>
            </a:solidFill>
            <a:prstDash val="solid"/>
          </a:ln>
        </p:spPr>
      </p:sp>
      <p:sp>
        <p:nvSpPr>
          <p:cNvPr id="32" name="Text 29"/>
          <p:cNvSpPr/>
          <p:nvPr/>
        </p:nvSpPr>
        <p:spPr>
          <a:xfrm>
            <a:off x="10213848" y="2884932"/>
            <a:ext cx="1380744" cy="965606"/>
          </a:xfrm>
          <a:prstGeom prst="rect">
            <a:avLst/>
          </a:prstGeom>
          <a:noFill/>
          <a:ln/>
        </p:spPr>
        <p:txBody>
          <a:bodyPr wrap="square" lIns="0" tIns="0" rIns="0" bIns="0" rtlCol="0" anchor="ctr"/>
          <a:lstStyle/>
          <a:p>
            <a:pPr algn="ctr" indent="0" marL="0">
              <a:buNone/>
            </a:pPr>
            <a:r>
              <a:rPr lang="en-US" sz="3800" b="1" dirty="0">
                <a:solidFill>
                  <a:srgbClr val="F58220"/>
                </a:solidFill>
                <a:latin typeface="Calibri" pitchFamily="34" charset="0"/>
                <a:ea typeface="Calibri" pitchFamily="34" charset="-122"/>
                <a:cs typeface="Calibri" pitchFamily="34" charset="-120"/>
              </a:rPr>
              <a:t>50</a:t>
            </a:r>
            <a:endParaRPr lang="en-US" sz="3800" dirty="0"/>
          </a:p>
        </p:txBody>
      </p:sp>
      <p:sp>
        <p:nvSpPr>
          <p:cNvPr id="33" name="Text 30"/>
          <p:cNvSpPr/>
          <p:nvPr/>
        </p:nvSpPr>
        <p:spPr>
          <a:xfrm>
            <a:off x="10259568"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min n per slice</a:t>
            </a:r>
            <a:endParaRPr lang="en-US" sz="1250" dirty="0"/>
          </a:p>
        </p:txBody>
      </p:sp>
      <p:sp>
        <p:nvSpPr>
          <p:cNvPr id="34" name="Text 31"/>
          <p:cNvSpPr/>
          <p:nvPr/>
        </p:nvSpPr>
        <p:spPr>
          <a:xfrm>
            <a:off x="10259568"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under-powered = greyed</a:t>
            </a:r>
            <a:endParaRPr lang="en-US" sz="1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Detection Error Taxonomy</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تصنيف أخطاء الاكتشاف</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112</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On dates-qc v1, misclassification carried 41% of error mass — M5's spec fix, not a bigger model, was the right spend.</a:t>
            </a:r>
            <a:endParaRPr lang="en-US" sz="125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2061684"/>
                <a:gridCol w="3041575"/>
                <a:gridCol w="3000192"/>
                <a:gridCol w="3082404"/>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Error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Root cause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Miss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GT with no prediction at any conf</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small objects, rare class, occlusion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data acquisition (M5), resolution (M7)</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Misclassification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right place (IoU &gt;= 0.5), wrong class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confusable classes, label noise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spec rules + targeted relabels (M5)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Localisation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right class, 0.1 &lt;= IoU &lt; 0.5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sloppy annotation, elongated objects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annotation QA; DFL at extreme ratios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Duplicate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second+ match to a consumed GT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NMS threshold vs touching objects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NMS tuning (M3), crowd-aware postproc</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Background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FP with no GT overlap (IoU &lt; 0.1)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hard negatives: glare, belt marks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hard-negative mining (M5)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Harness as an Engineering Artefact</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منصة التقييم كمنتج هندسي</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113</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tamr_vision/eval/ — SDA-AIE-113's code disciplines applied to evaluation, now enforced by CI-style checks.</a:t>
            </a:r>
            <a:endParaRPr lang="en-US" sz="1250" dirty="0"/>
          </a:p>
        </p:txBody>
      </p:sp>
      <p:sp>
        <p:nvSpPr>
          <p:cNvPr id="8" name="Shape 5"/>
          <p:cNvSpPr/>
          <p:nvPr/>
        </p:nvSpPr>
        <p:spPr>
          <a:xfrm>
            <a:off x="502920" y="1892808"/>
            <a:ext cx="11185855" cy="790042"/>
          </a:xfrm>
          <a:prstGeom prst="roundRect">
            <a:avLst>
              <a:gd name="adj" fmla="val 6944"/>
            </a:avLst>
          </a:prstGeom>
          <a:solidFill>
            <a:srgbClr val="1D2A5C"/>
          </a:solidFill>
          <a:ln/>
        </p:spPr>
      </p:sp>
      <p:sp>
        <p:nvSpPr>
          <p:cNvPr id="9" name="Text 6"/>
          <p:cNvSpPr/>
          <p:nvPr/>
        </p:nvSpPr>
        <p:spPr>
          <a:xfrm>
            <a:off x="685800" y="1892808"/>
            <a:ext cx="4698059"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Frozen inputs</a:t>
            </a:r>
            <a:endParaRPr lang="en-US" sz="1300" dirty="0"/>
          </a:p>
        </p:txBody>
      </p:sp>
      <p:sp>
        <p:nvSpPr>
          <p:cNvPr id="10" name="Text 7"/>
          <p:cNvSpPr/>
          <p:nvPr/>
        </p:nvSpPr>
        <p:spPr>
          <a:xfrm>
            <a:off x="5424696" y="1892808"/>
            <a:ext cx="5928503"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test split pinned by release hash; predictions cached to parquet</a:t>
            </a:r>
            <a:endParaRPr lang="en-US" sz="1050" dirty="0"/>
          </a:p>
        </p:txBody>
      </p:sp>
      <p:sp>
        <p:nvSpPr>
          <p:cNvPr id="11" name="Shape 8"/>
          <p:cNvSpPr/>
          <p:nvPr/>
        </p:nvSpPr>
        <p:spPr>
          <a:xfrm>
            <a:off x="758952" y="2810866"/>
            <a:ext cx="10673791" cy="790042"/>
          </a:xfrm>
          <a:prstGeom prst="roundRect">
            <a:avLst>
              <a:gd name="adj" fmla="val 6944"/>
            </a:avLst>
          </a:prstGeom>
          <a:solidFill>
            <a:srgbClr val="24437E"/>
          </a:solidFill>
          <a:ln/>
        </p:spPr>
      </p:sp>
      <p:sp>
        <p:nvSpPr>
          <p:cNvPr id="12" name="Text 9"/>
          <p:cNvSpPr/>
          <p:nvPr/>
        </p:nvSpPr>
        <p:spPr>
          <a:xfrm>
            <a:off x="941832" y="2810866"/>
            <a:ext cx="4482992"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Determinism</a:t>
            </a:r>
            <a:endParaRPr lang="en-US" sz="1300" dirty="0"/>
          </a:p>
        </p:txBody>
      </p:sp>
      <p:sp>
        <p:nvSpPr>
          <p:cNvPr id="13" name="Text 10"/>
          <p:cNvSpPr/>
          <p:nvPr/>
        </p:nvSpPr>
        <p:spPr>
          <a:xfrm>
            <a:off x="5455420" y="2810866"/>
            <a:ext cx="5657109"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same (model, split, config) = byte-identical reports</a:t>
            </a:r>
            <a:endParaRPr lang="en-US" sz="1050" dirty="0"/>
          </a:p>
        </p:txBody>
      </p:sp>
      <p:sp>
        <p:nvSpPr>
          <p:cNvPr id="14" name="Shape 11"/>
          <p:cNvSpPr/>
          <p:nvPr/>
        </p:nvSpPr>
        <p:spPr>
          <a:xfrm>
            <a:off x="1014984" y="3728923"/>
            <a:ext cx="10161727" cy="790042"/>
          </a:xfrm>
          <a:prstGeom prst="roundRect">
            <a:avLst>
              <a:gd name="adj" fmla="val 6944"/>
            </a:avLst>
          </a:prstGeom>
          <a:solidFill>
            <a:srgbClr val="2A5CA0"/>
          </a:solidFill>
          <a:ln/>
        </p:spPr>
      </p:sp>
      <p:sp>
        <p:nvSpPr>
          <p:cNvPr id="15" name="Text 12"/>
          <p:cNvSpPr/>
          <p:nvPr/>
        </p:nvSpPr>
        <p:spPr>
          <a:xfrm>
            <a:off x="1197864" y="3728923"/>
            <a:ext cx="4267925"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Regression mode</a:t>
            </a:r>
            <a:endParaRPr lang="en-US" sz="1300" dirty="0"/>
          </a:p>
        </p:txBody>
      </p:sp>
      <p:sp>
        <p:nvSpPr>
          <p:cNvPr id="16" name="Text 13"/>
          <p:cNvSpPr/>
          <p:nvPr/>
        </p:nvSpPr>
        <p:spPr>
          <a:xfrm>
            <a:off x="5486144" y="3728923"/>
            <a:ext cx="5385715"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per-slice deltas with n; flags any slice degraded &gt;= 2 points</a:t>
            </a:r>
            <a:endParaRPr lang="en-US" sz="1050" dirty="0"/>
          </a:p>
        </p:txBody>
      </p:sp>
      <p:sp>
        <p:nvSpPr>
          <p:cNvPr id="17" name="Shape 14"/>
          <p:cNvSpPr/>
          <p:nvPr/>
        </p:nvSpPr>
        <p:spPr>
          <a:xfrm>
            <a:off x="1271016" y="4646981"/>
            <a:ext cx="9649663" cy="790042"/>
          </a:xfrm>
          <a:prstGeom prst="roundRect">
            <a:avLst>
              <a:gd name="adj" fmla="val 6944"/>
            </a:avLst>
          </a:prstGeom>
          <a:solidFill>
            <a:srgbClr val="1F7FB8"/>
          </a:solidFill>
          <a:ln/>
        </p:spPr>
      </p:sp>
      <p:sp>
        <p:nvSpPr>
          <p:cNvPr id="18" name="Text 15"/>
          <p:cNvSpPr/>
          <p:nvPr/>
        </p:nvSpPr>
        <p:spPr>
          <a:xfrm>
            <a:off x="1453896" y="4646981"/>
            <a:ext cx="4052859"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Error gallery</a:t>
            </a:r>
            <a:endParaRPr lang="en-US" sz="1300" dirty="0"/>
          </a:p>
        </p:txBody>
      </p:sp>
      <p:sp>
        <p:nvSpPr>
          <p:cNvPr id="19" name="Text 16"/>
          <p:cNvSpPr/>
          <p:nvPr/>
        </p:nvSpPr>
        <p:spPr>
          <a:xfrm>
            <a:off x="5516868" y="4646981"/>
            <a:ext cx="5114321"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k worst frames per bucket — what stakeholders actually read</a:t>
            </a:r>
            <a:endParaRPr lang="en-US" sz="1050" dirty="0"/>
          </a:p>
        </p:txBody>
      </p:sp>
      <p:sp>
        <p:nvSpPr>
          <p:cNvPr id="20" name="Shape 17"/>
          <p:cNvSpPr/>
          <p:nvPr/>
        </p:nvSpPr>
        <p:spPr>
          <a:xfrm>
            <a:off x="1527048" y="5565038"/>
            <a:ext cx="9137599" cy="790042"/>
          </a:xfrm>
          <a:prstGeom prst="roundRect">
            <a:avLst>
              <a:gd name="adj" fmla="val 6944"/>
            </a:avLst>
          </a:prstGeom>
          <a:solidFill>
            <a:srgbClr val="29ABE2"/>
          </a:solidFill>
          <a:ln/>
        </p:spPr>
      </p:sp>
      <p:sp>
        <p:nvSpPr>
          <p:cNvPr id="21" name="Text 18"/>
          <p:cNvSpPr/>
          <p:nvPr/>
        </p:nvSpPr>
        <p:spPr>
          <a:xfrm>
            <a:off x="1709928" y="5565038"/>
            <a:ext cx="3837792" cy="79004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Honest deltas</a:t>
            </a:r>
            <a:endParaRPr lang="en-US" sz="1300" dirty="0"/>
          </a:p>
        </p:txBody>
      </p:sp>
      <p:sp>
        <p:nvSpPr>
          <p:cNvPr id="22" name="Text 19"/>
          <p:cNvSpPr/>
          <p:nvPr/>
        </p:nvSpPr>
        <p:spPr>
          <a:xfrm>
            <a:off x="5547592" y="5565038"/>
            <a:ext cx="4842928" cy="79004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|dAP| &lt; 0.01 noise; 0.01-0.03 check gallery; &gt; 0.03 real</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Common Mistakes and How to Defend</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أخطاء شائعة وكيفية الدفاع</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114</a:t>
            </a:r>
            <a:endParaRPr lang="en-US" sz="9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509037"/>
                <a:gridCol w="3765501"/>
                <a:gridCol w="3911316"/>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Mistake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Consequence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Defence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Reporting mAP at conf=0.001</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field precision disappoints at 0.35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report the deployed operating point too</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Comparing across different splits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number moved because the exam changed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frozen splits or silence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Slicing after peeking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false discoveries 'explain' the result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declare the taxonomy before the run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Ignoring n on slices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small-slice panic drives bad retrains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grey out under-powered slices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Averaging away class imbalance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foreign_object weighs same as mould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per-class always; weighted row documented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Evaluating only the model</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system outputs never graded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area-MAE + disagreement in same harness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Matching and AP from First Principles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المطابقة وحساب AP من المبادئ الأولى</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 CODE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115</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2556662"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src/tamr_vision/eval/matching.py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"""Implemented once, by hand, so mAP stops being magic."""</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numpy as np</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def match_image(preds, gts, iou_thr=0.5):</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order = np.argsort(-preds["conf"])       # greedy by conf</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tp = np.zeros(len(order), bool)</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consumed = np.zeros(len(gts["boxes"]), bool)</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iou = iou_matrix(preds["boxes"], gts["boxes"])  # (P,G)</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for rank, p in enumerate(order):</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cand = np.where((gts["cls"] == preds["cls"][p])</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&amp; ~consumed)[0]</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if len(cand) == 0:</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continue                          # false positive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best = cand[np.argmax(iou[p, cand])]</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if iou[p, best] &gt;= iou_thr:</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tp[rank], consumed[best] = True, True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return tp[np.argsort(order)], np.where(~consumed)[0]</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def average_precision(tp, conf, n_gt):        # 101-pt COCO</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order = np.argsort(-conf)</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ctp, cfp = np.cumsum(tp[order]), np.cumsum(~tp[order])</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recall = ctp / max(n_gt, 1)</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prec = ctp / np.clip(ctp + cfp, 1, None)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return np.mean([prec[recall &gt;= r].max() if (recall &gt;= r).any()</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else 0.0 for r in np.linspace(0, 1, 101)])</a:t>
            </a:r>
            <a:endParaRPr lang="en-US" sz="9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Greedy in confidence order</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A confident sloppy box can steal the GT from a later precise one.</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Same-class constraint</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A perfect box with the wrong class is FP and leaves FN — double punishment.</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Unconsumed GT = misses</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False negatives fall out of matching, not from a separate pass.</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Validate vs Ultralytics</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Lab bar: per-class AP within ±0.005; the usual gap is matching order.</a:t>
            </a:r>
            <a:endParaRPr lang="en-US" sz="10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Harness Run and Regression Mode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تشغيل المنصة ووضع الانحدار</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 CODE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116</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1843430"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scripts/eval_report.py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"""Full harness run: metrics + slices + error taxonomy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gallery. Regression mode compares two checkpoints."""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import argparse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from tamr_vision.eval import harness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parser = argparse.ArgumentParser()</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parser.add_argument("--model", required=True)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parser.add_argument("--baseline")            # regression mode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parser.add_argument("--split", default="test@dates-qc-v1")</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args = parser.parse_args()</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run = harness.evaluate(args.model, split=args.split,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config="configs/eval_v1.yaml")</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run.save("reports/eval")     # parquet cache + HTML report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print(f"mAP@0.5={run.map50:.3f}")</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print("error mass:", run.error_taxonomy())</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{'miss': 0.23, 'misclassification': 0.41,</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'localisation': 0.14, 'duplicate': 0.07,</a:t>
            </a:r>
            <a:endParaRPr lang="en-US" sz="900" dirty="0"/>
          </a:p>
          <a:p>
            <a:pPr indent="0" marL="0">
              <a:lnSpc>
                <a:spcPts val="1152"/>
              </a:lnSpc>
              <a:buNone/>
            </a:pPr>
            <a:r>
              <a:rPr lang="en-US" sz="900" dirty="0">
                <a:solidFill>
                  <a:srgbClr val="8FBF71"/>
                </a:solidFill>
                <a:latin typeface="Courier New" pitchFamily="34" charset="0"/>
                <a:ea typeface="Courier New" pitchFamily="34" charset="-122"/>
                <a:cs typeface="Courier New" pitchFamily="34" charset="-120"/>
              </a:rPr>
              <a:t>#  'background': 0.15}</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if args.baseline:</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diff = harness.compare(args.baseline, args.model,</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split=args.split)</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for name, delta, n in diff.degraded(threshold=0.02):</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print(f"REGRESSION  {name}: {delta:+.3f} (n={n})")</a:t>
            </a:r>
            <a:endParaRPr lang="en-US" sz="900" dirty="0"/>
          </a:p>
          <a:p>
            <a:pPr indent="0" marL="0">
              <a:lnSpc>
                <a:spcPts val="1152"/>
              </a:lnSpc>
              <a:buNone/>
            </a:pPr>
            <a:r>
              <a:rPr lang="en-US" sz="900" dirty="0">
                <a:solidFill>
                  <a:srgbClr val="DCE6F5"/>
                </a:solidFill>
                <a:latin typeface="Courier New" pitchFamily="34" charset="0"/>
                <a:ea typeface="Courier New" pitchFamily="34" charset="-122"/>
                <a:cs typeface="Courier New" pitchFamily="34" charset="-120"/>
              </a:rPr>
              <a:t>    diff.render_gallery("reports/eval/verdict_changes/")</a:t>
            </a:r>
            <a:endParaRPr lang="en-US" sz="900" dirty="0"/>
          </a:p>
        </p:txBody>
      </p:sp>
      <p:sp>
        <p:nvSpPr>
          <p:cNvPr id="11" name="Shape 8"/>
          <p:cNvSpPr/>
          <p:nvPr/>
        </p:nvSpPr>
        <p:spPr>
          <a:xfrm>
            <a:off x="7973568" y="1389888"/>
            <a:ext cx="3712464" cy="1090422"/>
          </a:xfrm>
          <a:prstGeom prst="roundRect">
            <a:avLst>
              <a:gd name="adj" fmla="val 5870"/>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Split is release-pinned</a:t>
            </a:r>
            <a:endParaRPr lang="en-US" sz="1150" dirty="0"/>
          </a:p>
        </p:txBody>
      </p:sp>
      <p:sp>
        <p:nvSpPr>
          <p:cNvPr id="15" name="Text 12"/>
          <p:cNvSpPr/>
          <p:nvPr/>
        </p:nvSpPr>
        <p:spPr>
          <a:xfrm>
            <a:off x="8430768" y="171907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test@dates-qc-v1 — the number is meaningless without it.</a:t>
            </a:r>
            <a:endParaRPr lang="en-US" sz="1000" dirty="0"/>
          </a:p>
        </p:txBody>
      </p:sp>
      <p:sp>
        <p:nvSpPr>
          <p:cNvPr id="16" name="Shape 13"/>
          <p:cNvSpPr/>
          <p:nvPr/>
        </p:nvSpPr>
        <p:spPr>
          <a:xfrm>
            <a:off x="7973568" y="2681478"/>
            <a:ext cx="3712464" cy="1090422"/>
          </a:xfrm>
          <a:prstGeom prst="roundRect">
            <a:avLst>
              <a:gd name="adj" fmla="val 5870"/>
            </a:avLst>
          </a:prstGeom>
          <a:solidFill>
            <a:srgbClr val="F2F6F9"/>
          </a:solidFill>
          <a:ln w="12700">
            <a:solidFill>
              <a:srgbClr val="D9E2EA"/>
            </a:solidFill>
            <a:prstDash val="solid"/>
          </a:ln>
        </p:spPr>
      </p:sp>
      <p:sp>
        <p:nvSpPr>
          <p:cNvPr id="17" name="Shape 14"/>
          <p:cNvSpPr/>
          <p:nvPr/>
        </p:nvSpPr>
        <p:spPr>
          <a:xfrm>
            <a:off x="8101584" y="2800350"/>
            <a:ext cx="237744" cy="237744"/>
          </a:xfrm>
          <a:prstGeom prst="ellipse">
            <a:avLst/>
          </a:prstGeom>
          <a:solidFill>
            <a:srgbClr val="29ABE2"/>
          </a:solidFill>
          <a:ln/>
        </p:spPr>
      </p:sp>
      <p:sp>
        <p:nvSpPr>
          <p:cNvPr id="18" name="Text 15"/>
          <p:cNvSpPr/>
          <p:nvPr/>
        </p:nvSpPr>
        <p:spPr>
          <a:xfrm>
            <a:off x="8101584" y="280035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273634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Config carries the taxonomy</a:t>
            </a:r>
            <a:endParaRPr lang="en-US" sz="1150" dirty="0"/>
          </a:p>
        </p:txBody>
      </p:sp>
      <p:sp>
        <p:nvSpPr>
          <p:cNvPr id="20" name="Text 17"/>
          <p:cNvSpPr/>
          <p:nvPr/>
        </p:nvSpPr>
        <p:spPr>
          <a:xfrm>
            <a:off x="8430768" y="301066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Thresholds, slices, IoU definitions versioned alongside the code.</a:t>
            </a:r>
            <a:endParaRPr lang="en-US" sz="1000" dirty="0"/>
          </a:p>
        </p:txBody>
      </p:sp>
      <p:sp>
        <p:nvSpPr>
          <p:cNvPr id="21" name="Shape 18"/>
          <p:cNvSpPr/>
          <p:nvPr/>
        </p:nvSpPr>
        <p:spPr>
          <a:xfrm>
            <a:off x="7973568" y="3973068"/>
            <a:ext cx="3712464" cy="1090422"/>
          </a:xfrm>
          <a:prstGeom prst="roundRect">
            <a:avLst>
              <a:gd name="adj" fmla="val 5870"/>
            </a:avLst>
          </a:prstGeom>
          <a:solidFill>
            <a:srgbClr val="F2F6F9"/>
          </a:solidFill>
          <a:ln w="12700">
            <a:solidFill>
              <a:srgbClr val="D9E2EA"/>
            </a:solidFill>
            <a:prstDash val="solid"/>
          </a:ln>
        </p:spPr>
      </p:sp>
      <p:sp>
        <p:nvSpPr>
          <p:cNvPr id="22" name="Shape 19"/>
          <p:cNvSpPr/>
          <p:nvPr/>
        </p:nvSpPr>
        <p:spPr>
          <a:xfrm>
            <a:off x="8101584" y="4091940"/>
            <a:ext cx="237744" cy="237744"/>
          </a:xfrm>
          <a:prstGeom prst="ellipse">
            <a:avLst/>
          </a:prstGeom>
          <a:solidFill>
            <a:srgbClr val="F58220"/>
          </a:solidFill>
          <a:ln/>
        </p:spPr>
      </p:sp>
      <p:sp>
        <p:nvSpPr>
          <p:cNvPr id="23" name="Text 20"/>
          <p:cNvSpPr/>
          <p:nvPr/>
        </p:nvSpPr>
        <p:spPr>
          <a:xfrm>
            <a:off x="8101584" y="40919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02793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Regression flags slices</a:t>
            </a:r>
            <a:endParaRPr lang="en-US" sz="1150" dirty="0"/>
          </a:p>
        </p:txBody>
      </p:sp>
      <p:sp>
        <p:nvSpPr>
          <p:cNvPr id="25" name="Text 22"/>
          <p:cNvSpPr/>
          <p:nvPr/>
        </p:nvSpPr>
        <p:spPr>
          <a:xfrm>
            <a:off x="8430768" y="430225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Any slice degraded &gt;= 2 points is flagged, even if the aggregate improved.</a:t>
            </a:r>
            <a:endParaRPr lang="en-US" sz="1000" dirty="0"/>
          </a:p>
        </p:txBody>
      </p:sp>
      <p:sp>
        <p:nvSpPr>
          <p:cNvPr id="26" name="Shape 23"/>
          <p:cNvSpPr/>
          <p:nvPr/>
        </p:nvSpPr>
        <p:spPr>
          <a:xfrm>
            <a:off x="7973568" y="5264658"/>
            <a:ext cx="3712464" cy="1090422"/>
          </a:xfrm>
          <a:prstGeom prst="roundRect">
            <a:avLst>
              <a:gd name="adj" fmla="val 5870"/>
            </a:avLst>
          </a:prstGeom>
          <a:solidFill>
            <a:srgbClr val="F2F6F9"/>
          </a:solidFill>
          <a:ln w="12700">
            <a:solidFill>
              <a:srgbClr val="D9E2EA"/>
            </a:solidFill>
            <a:prstDash val="solid"/>
          </a:ln>
        </p:spPr>
      </p:sp>
      <p:sp>
        <p:nvSpPr>
          <p:cNvPr id="27" name="Shape 24"/>
          <p:cNvSpPr/>
          <p:nvPr/>
        </p:nvSpPr>
        <p:spPr>
          <a:xfrm>
            <a:off x="8101584" y="5383530"/>
            <a:ext cx="237744" cy="237744"/>
          </a:xfrm>
          <a:prstGeom prst="ellipse">
            <a:avLst/>
          </a:prstGeom>
          <a:solidFill>
            <a:srgbClr val="8DC63F"/>
          </a:solidFill>
          <a:ln/>
        </p:spPr>
      </p:sp>
      <p:sp>
        <p:nvSpPr>
          <p:cNvPr id="28" name="Text 25"/>
          <p:cNvSpPr/>
          <p:nvPr/>
        </p:nvSpPr>
        <p:spPr>
          <a:xfrm>
            <a:off x="8101584" y="538353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p:nvPr/>
        </p:nvSpPr>
        <p:spPr>
          <a:xfrm>
            <a:off x="8430768" y="531952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Gallery of flipped verdicts</a:t>
            </a:r>
            <a:endParaRPr lang="en-US" sz="1150" dirty="0"/>
          </a:p>
        </p:txBody>
      </p:sp>
      <p:sp>
        <p:nvSpPr>
          <p:cNvPr id="30" name="Text 27"/>
          <p:cNvSpPr/>
          <p:nvPr/>
        </p:nvSpPr>
        <p:spPr>
          <a:xfrm>
            <a:off x="8430768" y="5593842"/>
            <a:ext cx="3145536" cy="688086"/>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Frames where the two models disagree settle arguments tables start.</a:t>
            </a:r>
            <a:endParaRPr lang="en-US" sz="1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6 — Build the Evaluation Harness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المختبر 6 — بناء منصة التقييم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117</a:t>
            </a:r>
            <a:endParaRPr lang="en-US" sz="900" dirty="0"/>
          </a:p>
        </p:txBody>
      </p:sp>
      <p:sp>
        <p:nvSpPr>
          <p:cNvPr id="7" name="Shape 4"/>
          <p:cNvSpPr/>
          <p:nvPr/>
        </p:nvSpPr>
        <p:spPr>
          <a:xfrm>
            <a:off x="502920" y="1389888"/>
            <a:ext cx="5806440" cy="932688"/>
          </a:xfrm>
          <a:prstGeom prst="roundRect">
            <a:avLst>
              <a:gd name="adj" fmla="val 7843"/>
            </a:avLst>
          </a:prstGeom>
          <a:solidFill>
            <a:srgbClr val="E9F6F5"/>
          </a:solidFill>
          <a:ln w="12700">
            <a:solidFill>
              <a:srgbClr val="00A79D"/>
            </a:solidFill>
            <a:prstDash val="solid"/>
          </a:ln>
        </p:spPr>
      </p:sp>
      <p:sp>
        <p:nvSpPr>
          <p:cNvPr id="8" name="Text 5"/>
          <p:cNvSpPr/>
          <p:nvPr/>
        </p:nvSpPr>
        <p:spPr>
          <a:xfrm>
            <a:off x="649224" y="1463040"/>
            <a:ext cx="553212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OBJECTIVE</a:t>
            </a:r>
            <a:endParaRPr lang="en-US" sz="900" dirty="0"/>
          </a:p>
        </p:txBody>
      </p:sp>
      <p:sp>
        <p:nvSpPr>
          <p:cNvPr id="9" name="Text 6"/>
          <p:cNvSpPr/>
          <p:nvPr/>
        </p:nvSpPr>
        <p:spPr>
          <a:xfrm>
            <a:off x="649224" y="1682496"/>
            <a:ext cx="5532120" cy="585216"/>
          </a:xfrm>
          <a:prstGeom prst="rect">
            <a:avLst/>
          </a:prstGeom>
          <a:noFill/>
          <a:ln/>
        </p:spPr>
        <p:txBody>
          <a:bodyPr wrap="square" lIns="0" tIns="0" rIns="0" bIns="0" rtlCol="0" anchor="t"/>
          <a:lstStyle/>
          <a:p>
            <a:pPr indent="0" marL="0">
              <a:buNone/>
            </a:pPr>
            <a:r>
              <a:rPr lang="en-US" sz="993" dirty="0">
                <a:solidFill>
                  <a:srgbClr val="23293B"/>
                </a:solidFill>
                <a:latin typeface="Calibri" pitchFamily="34" charset="0"/>
                <a:ea typeface="Calibri" pitchFamily="34" charset="-122"/>
                <a:cs typeface="Calibri" pitchFamily="34" charset="-120"/>
              </a:rPr>
              <a:t>Implement matching + AP by hand, validate against Ultralytics, produce the slice report and error taxonomy, write the ranked remediation plan</a:t>
            </a:r>
            <a:endParaRPr lang="en-US" sz="993" dirty="0"/>
          </a:p>
        </p:txBody>
      </p:sp>
      <p:sp>
        <p:nvSpPr>
          <p:cNvPr id="10" name="Shape 7"/>
          <p:cNvSpPr/>
          <p:nvPr/>
        </p:nvSpPr>
        <p:spPr>
          <a:xfrm>
            <a:off x="6510528" y="1389888"/>
            <a:ext cx="1600200" cy="932688"/>
          </a:xfrm>
          <a:prstGeom prst="roundRect">
            <a:avLst>
              <a:gd name="adj" fmla="val 7843"/>
            </a:avLst>
          </a:prstGeom>
          <a:solidFill>
            <a:srgbClr val="F2F6F9"/>
          </a:solidFill>
          <a:ln w="12700">
            <a:solidFill>
              <a:srgbClr val="D9E2EA"/>
            </a:solidFill>
            <a:prstDash val="solid"/>
          </a:ln>
        </p:spPr>
      </p:sp>
      <p:sp>
        <p:nvSpPr>
          <p:cNvPr id="11" name="Text 8"/>
          <p:cNvSpPr/>
          <p:nvPr/>
        </p:nvSpPr>
        <p:spPr>
          <a:xfrm>
            <a:off x="6656832" y="1463040"/>
            <a:ext cx="132588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DURATION</a:t>
            </a:r>
            <a:endParaRPr lang="en-US" sz="900" dirty="0"/>
          </a:p>
        </p:txBody>
      </p:sp>
      <p:sp>
        <p:nvSpPr>
          <p:cNvPr id="12" name="Text 9"/>
          <p:cNvSpPr/>
          <p:nvPr/>
        </p:nvSpPr>
        <p:spPr>
          <a:xfrm>
            <a:off x="6656832" y="1682496"/>
            <a:ext cx="132588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50 min + Hour-5 regression run</a:t>
            </a:r>
            <a:endParaRPr lang="en-US" sz="1050" dirty="0"/>
          </a:p>
        </p:txBody>
      </p:sp>
      <p:sp>
        <p:nvSpPr>
          <p:cNvPr id="13" name="Shape 10"/>
          <p:cNvSpPr/>
          <p:nvPr/>
        </p:nvSpPr>
        <p:spPr>
          <a:xfrm>
            <a:off x="8311896" y="1389888"/>
            <a:ext cx="3383280" cy="932688"/>
          </a:xfrm>
          <a:prstGeom prst="roundRect">
            <a:avLst>
              <a:gd name="adj" fmla="val 7843"/>
            </a:avLst>
          </a:prstGeom>
          <a:solidFill>
            <a:srgbClr val="F2F6F9"/>
          </a:solidFill>
          <a:ln w="12700">
            <a:solidFill>
              <a:srgbClr val="D9E2EA"/>
            </a:solidFill>
            <a:prstDash val="solid"/>
          </a:ln>
        </p:spPr>
      </p:sp>
      <p:sp>
        <p:nvSpPr>
          <p:cNvPr id="14" name="Text 11"/>
          <p:cNvSpPr/>
          <p:nvPr/>
        </p:nvSpPr>
        <p:spPr>
          <a:xfrm>
            <a:off x="8458200" y="1463040"/>
            <a:ext cx="310896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SETUP</a:t>
            </a:r>
            <a:endParaRPr lang="en-US" sz="900" dirty="0"/>
          </a:p>
        </p:txBody>
      </p:sp>
      <p:sp>
        <p:nvSpPr>
          <p:cNvPr id="15" name="Text 12"/>
          <p:cNvSpPr/>
          <p:nvPr/>
        </p:nvSpPr>
        <p:spPr>
          <a:xfrm>
            <a:off x="8458200" y="1682496"/>
            <a:ext cx="310896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Checkpoints + cached parquet predictions; git checkout lab6-start; no GPU</a:t>
            </a:r>
            <a:endParaRPr lang="en-US" sz="1050" dirty="0"/>
          </a:p>
        </p:txBody>
      </p:sp>
      <p:sp>
        <p:nvSpPr>
          <p:cNvPr id="16" name="Shape 13"/>
          <p:cNvSpPr/>
          <p:nvPr/>
        </p:nvSpPr>
        <p:spPr>
          <a:xfrm>
            <a:off x="502920" y="2661666"/>
            <a:ext cx="274320" cy="274320"/>
          </a:xfrm>
          <a:prstGeom prst="ellipse">
            <a:avLst/>
          </a:prstGeom>
          <a:solidFill>
            <a:srgbClr val="1D2A5C"/>
          </a:solidFill>
          <a:ln/>
        </p:spPr>
      </p:sp>
      <p:sp>
        <p:nvSpPr>
          <p:cNvPr id="17" name="Text 14"/>
          <p:cNvSpPr/>
          <p:nvPr/>
        </p:nvSpPr>
        <p:spPr>
          <a:xfrm>
            <a:off x="502920" y="26616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Shape 15"/>
          <p:cNvSpPr/>
          <p:nvPr/>
        </p:nvSpPr>
        <p:spPr>
          <a:xfrm>
            <a:off x="886968" y="2661666"/>
            <a:ext cx="658368" cy="274320"/>
          </a:xfrm>
          <a:prstGeom prst="roundRect">
            <a:avLst>
              <a:gd name="adj" fmla="val 50000"/>
            </a:avLst>
          </a:prstGeom>
          <a:solidFill>
            <a:srgbClr val="E9F6F5"/>
          </a:solidFill>
          <a:ln w="9525">
            <a:solidFill>
              <a:srgbClr val="00A79D"/>
            </a:solidFill>
            <a:prstDash val="solid"/>
          </a:ln>
        </p:spPr>
      </p:sp>
      <p:sp>
        <p:nvSpPr>
          <p:cNvPr id="19" name="Text 16"/>
          <p:cNvSpPr/>
          <p:nvPr/>
        </p:nvSpPr>
        <p:spPr>
          <a:xfrm>
            <a:off x="886968" y="266166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12 min</a:t>
            </a:r>
            <a:endParaRPr lang="en-US" sz="900" dirty="0"/>
          </a:p>
        </p:txBody>
      </p:sp>
      <p:sp>
        <p:nvSpPr>
          <p:cNvPr id="20" name="Text 17"/>
          <p:cNvSpPr/>
          <p:nvPr/>
        </p:nvSpPr>
        <p:spPr>
          <a:xfrm>
            <a:off x="1673352" y="252374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Implement iou_matrix + match_image; pass the 12 provided unit tests</a:t>
            </a:r>
            <a:endParaRPr lang="en-US" sz="1150" dirty="0"/>
          </a:p>
        </p:txBody>
      </p:sp>
      <p:sp>
        <p:nvSpPr>
          <p:cNvPr id="21" name="Shape 18"/>
          <p:cNvSpPr/>
          <p:nvPr/>
        </p:nvSpPr>
        <p:spPr>
          <a:xfrm>
            <a:off x="502920" y="3303270"/>
            <a:ext cx="274320" cy="274320"/>
          </a:xfrm>
          <a:prstGeom prst="ellipse">
            <a:avLst/>
          </a:prstGeom>
          <a:solidFill>
            <a:srgbClr val="1D2A5C"/>
          </a:solidFill>
          <a:ln/>
        </p:spPr>
      </p:sp>
      <p:sp>
        <p:nvSpPr>
          <p:cNvPr id="22" name="Text 19"/>
          <p:cNvSpPr/>
          <p:nvPr/>
        </p:nvSpPr>
        <p:spPr>
          <a:xfrm>
            <a:off x="502920" y="33032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Shape 20"/>
          <p:cNvSpPr/>
          <p:nvPr/>
        </p:nvSpPr>
        <p:spPr>
          <a:xfrm>
            <a:off x="886968" y="3303270"/>
            <a:ext cx="658368" cy="274320"/>
          </a:xfrm>
          <a:prstGeom prst="roundRect">
            <a:avLst>
              <a:gd name="adj" fmla="val 50000"/>
            </a:avLst>
          </a:prstGeom>
          <a:solidFill>
            <a:srgbClr val="E9F6F5"/>
          </a:solidFill>
          <a:ln w="9525">
            <a:solidFill>
              <a:srgbClr val="00A79D"/>
            </a:solidFill>
            <a:prstDash val="solid"/>
          </a:ln>
        </p:spPr>
      </p:sp>
      <p:sp>
        <p:nvSpPr>
          <p:cNvPr id="24" name="Text 21"/>
          <p:cNvSpPr/>
          <p:nvPr/>
        </p:nvSpPr>
        <p:spPr>
          <a:xfrm>
            <a:off x="886968" y="3303270"/>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25" name="Text 22"/>
          <p:cNvSpPr/>
          <p:nvPr/>
        </p:nvSpPr>
        <p:spPr>
          <a:xfrm>
            <a:off x="1673352" y="3165348"/>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Implement average_precision; match Ultralytics per-class AP within ±0.005</a:t>
            </a:r>
            <a:endParaRPr lang="en-US" sz="1150" dirty="0"/>
          </a:p>
        </p:txBody>
      </p:sp>
      <p:sp>
        <p:nvSpPr>
          <p:cNvPr id="26" name="Shape 23"/>
          <p:cNvSpPr/>
          <p:nvPr/>
        </p:nvSpPr>
        <p:spPr>
          <a:xfrm>
            <a:off x="502920" y="3944874"/>
            <a:ext cx="274320" cy="274320"/>
          </a:xfrm>
          <a:prstGeom prst="ellipse">
            <a:avLst/>
          </a:prstGeom>
          <a:solidFill>
            <a:srgbClr val="1D2A5C"/>
          </a:solidFill>
          <a:ln/>
        </p:spPr>
      </p:sp>
      <p:sp>
        <p:nvSpPr>
          <p:cNvPr id="27" name="Text 24"/>
          <p:cNvSpPr/>
          <p:nvPr/>
        </p:nvSpPr>
        <p:spPr>
          <a:xfrm>
            <a:off x="502920" y="39448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5"/>
          <p:cNvSpPr/>
          <p:nvPr/>
        </p:nvSpPr>
        <p:spPr>
          <a:xfrm>
            <a:off x="886968" y="3944874"/>
            <a:ext cx="658368" cy="274320"/>
          </a:xfrm>
          <a:prstGeom prst="roundRect">
            <a:avLst>
              <a:gd name="adj" fmla="val 50000"/>
            </a:avLst>
          </a:prstGeom>
          <a:solidFill>
            <a:srgbClr val="E9F6F5"/>
          </a:solidFill>
          <a:ln w="9525">
            <a:solidFill>
              <a:srgbClr val="00A79D"/>
            </a:solidFill>
            <a:prstDash val="solid"/>
          </a:ln>
        </p:spPr>
      </p:sp>
      <p:sp>
        <p:nvSpPr>
          <p:cNvPr id="29" name="Text 26"/>
          <p:cNvSpPr/>
          <p:nvPr/>
        </p:nvSpPr>
        <p:spPr>
          <a:xfrm>
            <a:off x="886968" y="3944874"/>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30" name="Text 27"/>
          <p:cNvSpPr/>
          <p:nvPr/>
        </p:nvSpPr>
        <p:spPr>
          <a:xfrm>
            <a:off x="1673352" y="3806952"/>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Run the slice report; record the worst powered slice in BENCHMARKS.md</a:t>
            </a:r>
            <a:endParaRPr lang="en-US" sz="1150" dirty="0"/>
          </a:p>
        </p:txBody>
      </p:sp>
      <p:sp>
        <p:nvSpPr>
          <p:cNvPr id="31" name="Shape 28"/>
          <p:cNvSpPr/>
          <p:nvPr/>
        </p:nvSpPr>
        <p:spPr>
          <a:xfrm>
            <a:off x="502920" y="4586478"/>
            <a:ext cx="274320" cy="274320"/>
          </a:xfrm>
          <a:prstGeom prst="ellipse">
            <a:avLst/>
          </a:prstGeom>
          <a:solidFill>
            <a:srgbClr val="1D2A5C"/>
          </a:solidFill>
          <a:ln/>
        </p:spPr>
      </p:sp>
      <p:sp>
        <p:nvSpPr>
          <p:cNvPr id="32" name="Text 29"/>
          <p:cNvSpPr/>
          <p:nvPr/>
        </p:nvSpPr>
        <p:spPr>
          <a:xfrm>
            <a:off x="502920" y="458647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Shape 30"/>
          <p:cNvSpPr/>
          <p:nvPr/>
        </p:nvSpPr>
        <p:spPr>
          <a:xfrm>
            <a:off x="886968" y="4586478"/>
            <a:ext cx="658368" cy="274320"/>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886968" y="4586478"/>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35" name="Text 32"/>
          <p:cNvSpPr/>
          <p:nvPr/>
        </p:nvSpPr>
        <p:spPr>
          <a:xfrm>
            <a:off x="1673352" y="4448556"/>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Run the error taxonomy; write the five-line ranked remediation plan</a:t>
            </a:r>
            <a:endParaRPr lang="en-US" sz="1150" dirty="0"/>
          </a:p>
        </p:txBody>
      </p:sp>
      <p:sp>
        <p:nvSpPr>
          <p:cNvPr id="36" name="Shape 33"/>
          <p:cNvSpPr/>
          <p:nvPr/>
        </p:nvSpPr>
        <p:spPr>
          <a:xfrm>
            <a:off x="502920" y="5228082"/>
            <a:ext cx="274320" cy="274320"/>
          </a:xfrm>
          <a:prstGeom prst="ellipse">
            <a:avLst/>
          </a:prstGeom>
          <a:solidFill>
            <a:srgbClr val="1D2A5C"/>
          </a:solidFill>
          <a:ln/>
        </p:spPr>
      </p:sp>
      <p:sp>
        <p:nvSpPr>
          <p:cNvPr id="37" name="Text 34"/>
          <p:cNvSpPr/>
          <p:nvPr/>
        </p:nvSpPr>
        <p:spPr>
          <a:xfrm>
            <a:off x="502920" y="52280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Shape 35"/>
          <p:cNvSpPr/>
          <p:nvPr/>
        </p:nvSpPr>
        <p:spPr>
          <a:xfrm>
            <a:off x="886968" y="5228082"/>
            <a:ext cx="658368" cy="274320"/>
          </a:xfrm>
          <a:prstGeom prst="roundRect">
            <a:avLst>
              <a:gd name="adj" fmla="val 50000"/>
            </a:avLst>
          </a:prstGeom>
          <a:solidFill>
            <a:srgbClr val="E9F6F5"/>
          </a:solidFill>
          <a:ln w="9525">
            <a:solidFill>
              <a:srgbClr val="00A79D"/>
            </a:solidFill>
            <a:prstDash val="solid"/>
          </a:ln>
        </p:spPr>
      </p:sp>
      <p:sp>
        <p:nvSpPr>
          <p:cNvPr id="39" name="Text 36"/>
          <p:cNvSpPr/>
          <p:nvPr/>
        </p:nvSpPr>
        <p:spPr>
          <a:xfrm>
            <a:off x="886968" y="5228082"/>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40" name="Text 37"/>
          <p:cNvSpPr/>
          <p:nvPr/>
        </p:nvSpPr>
        <p:spPr>
          <a:xfrm>
            <a:off x="1673352" y="5090160"/>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Determinism check: run twice, diff reports — must be byte-identical</a:t>
            </a:r>
            <a:endParaRPr lang="en-US" sz="1150" dirty="0"/>
          </a:p>
        </p:txBody>
      </p:sp>
      <p:sp>
        <p:nvSpPr>
          <p:cNvPr id="41" name="Shape 38"/>
          <p:cNvSpPr/>
          <p:nvPr/>
        </p:nvSpPr>
        <p:spPr>
          <a:xfrm>
            <a:off x="502920" y="5869686"/>
            <a:ext cx="274320" cy="274320"/>
          </a:xfrm>
          <a:prstGeom prst="ellipse">
            <a:avLst/>
          </a:prstGeom>
          <a:solidFill>
            <a:srgbClr val="1D2A5C"/>
          </a:solidFill>
          <a:ln/>
        </p:spPr>
      </p:sp>
      <p:sp>
        <p:nvSpPr>
          <p:cNvPr id="42" name="Text 39"/>
          <p:cNvSpPr/>
          <p:nvPr/>
        </p:nvSpPr>
        <p:spPr>
          <a:xfrm>
            <a:off x="502920" y="58696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3" name="Shape 40"/>
          <p:cNvSpPr/>
          <p:nvPr/>
        </p:nvSpPr>
        <p:spPr>
          <a:xfrm>
            <a:off x="886968" y="5869686"/>
            <a:ext cx="658368" cy="274320"/>
          </a:xfrm>
          <a:prstGeom prst="roundRect">
            <a:avLst>
              <a:gd name="adj" fmla="val 50000"/>
            </a:avLst>
          </a:prstGeom>
          <a:solidFill>
            <a:srgbClr val="E9F6F5"/>
          </a:solidFill>
          <a:ln w="9525">
            <a:solidFill>
              <a:srgbClr val="00A79D"/>
            </a:solidFill>
            <a:prstDash val="solid"/>
          </a:ln>
        </p:spPr>
      </p:sp>
      <p:sp>
        <p:nvSpPr>
          <p:cNvPr id="44" name="Text 41"/>
          <p:cNvSpPr/>
          <p:nvPr/>
        </p:nvSpPr>
        <p:spPr>
          <a:xfrm>
            <a:off x="886968" y="586968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2 min</a:t>
            </a:r>
            <a:endParaRPr lang="en-US" sz="900" dirty="0"/>
          </a:p>
        </p:txBody>
      </p:sp>
      <p:sp>
        <p:nvSpPr>
          <p:cNvPr id="45" name="Text 42"/>
          <p:cNvSpPr/>
          <p:nvPr/>
        </p:nvSpPr>
        <p:spPr>
          <a:xfrm>
            <a:off x="1673352" y="573176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Commit: feat(eval): harness v1 + error analysis report</a:t>
            </a:r>
            <a:endParaRPr lang="en-US" sz="1150" dirty="0"/>
          </a:p>
        </p:txBody>
      </p:sp>
      <p:sp>
        <p:nvSpPr>
          <p:cNvPr id="46" name="Shape 43"/>
          <p:cNvSpPr/>
          <p:nvPr/>
        </p:nvSpPr>
        <p:spPr>
          <a:xfrm>
            <a:off x="7635240" y="2505456"/>
            <a:ext cx="4050792" cy="3849624"/>
          </a:xfrm>
          <a:prstGeom prst="roundRect">
            <a:avLst>
              <a:gd name="adj" fmla="val 2375"/>
            </a:avLst>
          </a:prstGeom>
          <a:solidFill>
            <a:srgbClr val="0F172A"/>
          </a:solidFill>
          <a:ln/>
        </p:spPr>
      </p:sp>
      <p:sp>
        <p:nvSpPr>
          <p:cNvPr id="47" name="Text 44"/>
          <p:cNvSpPr/>
          <p:nvPr/>
        </p:nvSpPr>
        <p:spPr>
          <a:xfrm>
            <a:off x="7818120" y="2615184"/>
            <a:ext cx="3685032" cy="237744"/>
          </a:xfrm>
          <a:prstGeom prst="rect">
            <a:avLst/>
          </a:prstGeom>
          <a:noFill/>
          <a:ln/>
        </p:spPr>
        <p:txBody>
          <a:bodyPr wrap="square" lIns="0" tIns="0" rIns="0" bIns="0" rtlCol="0" anchor="ctr"/>
          <a:lstStyle/>
          <a:p>
            <a:pPr indent="0" marL="0">
              <a:buNone/>
            </a:pPr>
            <a:r>
              <a:rPr lang="en-US" sz="900" b="1" spc="200" kern="0" dirty="0">
                <a:solidFill>
                  <a:srgbClr val="5EEAD4"/>
                </a:solidFill>
                <a:latin typeface="Calibri" pitchFamily="34" charset="0"/>
                <a:ea typeface="Calibri" pitchFamily="34" charset="-122"/>
                <a:cs typeface="Calibri" pitchFamily="34" charset="-120"/>
              </a:rPr>
              <a:t>EXPECTED OUTPUT</a:t>
            </a:r>
            <a:endParaRPr lang="en-US" sz="900" dirty="0"/>
          </a:p>
        </p:txBody>
      </p:sp>
      <p:sp>
        <p:nvSpPr>
          <p:cNvPr id="48" name="Text 45"/>
          <p:cNvSpPr/>
          <p:nvPr/>
        </p:nvSpPr>
        <p:spPr>
          <a:xfrm>
            <a:off x="7818120" y="2907792"/>
            <a:ext cx="3703320" cy="3300984"/>
          </a:xfrm>
          <a:prstGeom prst="rect">
            <a:avLst/>
          </a:prstGeom>
          <a:noFill/>
          <a:ln/>
        </p:spPr>
        <p:txBody>
          <a:bodyPr wrap="square" lIns="0" tIns="0" rIns="0" bIns="0" rtlCol="0" anchor="t"/>
          <a:lstStyle/>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pytest tests/eval/ -q</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12 passed in 1.84s</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scripts/eval_report.py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--model runs/.../best.pt</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mAP@0.5=0.872  mAP@0.5:0.95=0.641</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error mass: miss 0.23, misclass 0.41,</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loc 0.14, dup 0.07, background 0.15</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worst powered slice:</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session=s09 recall=0.71 (n=142)</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 invisible in the aggregate</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6 Troubleshooting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استكشاف أخطاء المختبر 6</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118</a:t>
            </a:r>
            <a:endParaRPr lang="en-US" sz="900" dirty="0"/>
          </a:p>
        </p:txBody>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434961"/>
                <a:gridCol w="3752683"/>
                <a:gridCol w="3998211"/>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AP off 0.02-0.05 vs Ultralytics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matching not in conf order / GT reuse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sort predictions first; consume matched GT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AP too high on empty-GT images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FPs on empty images not counted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empty-GT images still contribute FPs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'Identical' runs differ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timestamp inside the report file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exclude generated-at fields from the diff</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Slice report all greyed out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slice keys too fine (per-frame)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check key functions against the manifest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Bootstrap CI absurdly wide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resampling instances, not images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resample at the image level</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6 Quiz</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اختبار الوحدة السادسة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119</a:t>
            </a:r>
            <a:endParaRPr lang="en-US" sz="900" dirty="0"/>
          </a:p>
        </p:txBody>
      </p:sp>
      <p:sp>
        <p:nvSpPr>
          <p:cNvPr id="7" name="Shape 4"/>
          <p:cNvSpPr/>
          <p:nvPr/>
        </p:nvSpPr>
        <p:spPr>
          <a:xfrm>
            <a:off x="502920" y="1417320"/>
            <a:ext cx="11183112" cy="801014"/>
          </a:xfrm>
          <a:prstGeom prst="roundRect">
            <a:avLst>
              <a:gd name="adj" fmla="val 9132"/>
            </a:avLst>
          </a:prstGeom>
          <a:solidFill>
            <a:srgbClr val="F2F6F9"/>
          </a:solidFill>
          <a:ln w="9525">
            <a:solidFill>
              <a:srgbClr val="D9E2EA"/>
            </a:solidFill>
            <a:prstDash val="solid"/>
          </a:ln>
        </p:spPr>
      </p:sp>
      <p:sp>
        <p:nvSpPr>
          <p:cNvPr id="8" name="Shape 5"/>
          <p:cNvSpPr/>
          <p:nvPr/>
        </p:nvSpPr>
        <p:spPr>
          <a:xfrm>
            <a:off x="649224" y="1644091"/>
            <a:ext cx="347472" cy="347472"/>
          </a:xfrm>
          <a:prstGeom prst="ellipse">
            <a:avLst/>
          </a:prstGeom>
          <a:solidFill>
            <a:srgbClr val="F58220"/>
          </a:solidFill>
          <a:ln/>
        </p:spPr>
      </p:sp>
      <p:sp>
        <p:nvSpPr>
          <p:cNvPr id="9" name="Text 6"/>
          <p:cNvSpPr/>
          <p:nvPr/>
        </p:nvSpPr>
        <p:spPr>
          <a:xfrm>
            <a:off x="649224" y="1644091"/>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p>
        </p:txBody>
      </p:sp>
      <p:sp>
        <p:nvSpPr>
          <p:cNvPr id="10" name="Text 7"/>
          <p:cNvSpPr/>
          <p:nvPr/>
        </p:nvSpPr>
        <p:spPr>
          <a:xfrm>
            <a:off x="1161288" y="141732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A perfect box with the wrong class counts as what in matching?</a:t>
            </a:r>
            <a:endParaRPr lang="en-US" sz="1250" dirty="0"/>
          </a:p>
        </p:txBody>
      </p:sp>
      <p:sp>
        <p:nvSpPr>
          <p:cNvPr id="11" name="Shape 8"/>
          <p:cNvSpPr/>
          <p:nvPr/>
        </p:nvSpPr>
        <p:spPr>
          <a:xfrm>
            <a:off x="502920" y="2346350"/>
            <a:ext cx="11183112" cy="801014"/>
          </a:xfrm>
          <a:prstGeom prst="roundRect">
            <a:avLst>
              <a:gd name="adj" fmla="val 9132"/>
            </a:avLst>
          </a:prstGeom>
          <a:solidFill>
            <a:srgbClr val="F2F6F9"/>
          </a:solidFill>
          <a:ln w="9525">
            <a:solidFill>
              <a:srgbClr val="D9E2EA"/>
            </a:solidFill>
            <a:prstDash val="solid"/>
          </a:ln>
        </p:spPr>
      </p:sp>
      <p:sp>
        <p:nvSpPr>
          <p:cNvPr id="12" name="Shape 9"/>
          <p:cNvSpPr/>
          <p:nvPr/>
        </p:nvSpPr>
        <p:spPr>
          <a:xfrm>
            <a:off x="649224" y="2573122"/>
            <a:ext cx="347472" cy="347472"/>
          </a:xfrm>
          <a:prstGeom prst="ellipse">
            <a:avLst/>
          </a:prstGeom>
          <a:solidFill>
            <a:srgbClr val="F58220"/>
          </a:solidFill>
          <a:ln/>
        </p:spPr>
      </p:sp>
      <p:sp>
        <p:nvSpPr>
          <p:cNvPr id="13" name="Text 10"/>
          <p:cNvSpPr/>
          <p:nvPr/>
        </p:nvSpPr>
        <p:spPr>
          <a:xfrm>
            <a:off x="649224" y="257312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p>
        </p:txBody>
      </p:sp>
      <p:sp>
        <p:nvSpPr>
          <p:cNvPr id="14" name="Text 11"/>
          <p:cNvSpPr/>
          <p:nvPr/>
        </p:nvSpPr>
        <p:spPr>
          <a:xfrm>
            <a:off x="1161288" y="234635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mAP@0.5 vs mAP@0.5:0.95 — which does eject-gate targeting care about, and why?</a:t>
            </a:r>
            <a:endParaRPr lang="en-US" sz="1250" dirty="0"/>
          </a:p>
        </p:txBody>
      </p:sp>
      <p:sp>
        <p:nvSpPr>
          <p:cNvPr id="15" name="Shape 12"/>
          <p:cNvSpPr/>
          <p:nvPr/>
        </p:nvSpPr>
        <p:spPr>
          <a:xfrm>
            <a:off x="502920" y="3275381"/>
            <a:ext cx="11183112" cy="801014"/>
          </a:xfrm>
          <a:prstGeom prst="roundRect">
            <a:avLst>
              <a:gd name="adj" fmla="val 9132"/>
            </a:avLst>
          </a:prstGeom>
          <a:solidFill>
            <a:srgbClr val="F2F6F9"/>
          </a:solidFill>
          <a:ln w="9525">
            <a:solidFill>
              <a:srgbClr val="D9E2EA"/>
            </a:solidFill>
            <a:prstDash val="solid"/>
          </a:ln>
        </p:spPr>
      </p:sp>
      <p:sp>
        <p:nvSpPr>
          <p:cNvPr id="16" name="Shape 13"/>
          <p:cNvSpPr/>
          <p:nvPr/>
        </p:nvSpPr>
        <p:spPr>
          <a:xfrm>
            <a:off x="649224" y="3502152"/>
            <a:ext cx="347472" cy="347472"/>
          </a:xfrm>
          <a:prstGeom prst="ellipse">
            <a:avLst/>
          </a:prstGeom>
          <a:solidFill>
            <a:srgbClr val="F58220"/>
          </a:solidFill>
          <a:ln/>
        </p:spPr>
      </p:sp>
      <p:sp>
        <p:nvSpPr>
          <p:cNvPr id="17" name="Text 14"/>
          <p:cNvSpPr/>
          <p:nvPr/>
        </p:nvSpPr>
        <p:spPr>
          <a:xfrm>
            <a:off x="649224" y="350215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p>
        </p:txBody>
      </p:sp>
      <p:sp>
        <p:nvSpPr>
          <p:cNvPr id="18" name="Text 15"/>
          <p:cNvSpPr/>
          <p:nvPr/>
        </p:nvSpPr>
        <p:spPr>
          <a:xfrm>
            <a:off x="1161288" y="327538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must slices be declared before the run?</a:t>
            </a:r>
            <a:endParaRPr lang="en-US" sz="1250" dirty="0"/>
          </a:p>
        </p:txBody>
      </p:sp>
      <p:sp>
        <p:nvSpPr>
          <p:cNvPr id="19" name="Shape 16"/>
          <p:cNvSpPr/>
          <p:nvPr/>
        </p:nvSpPr>
        <p:spPr>
          <a:xfrm>
            <a:off x="502920" y="4204411"/>
            <a:ext cx="11183112" cy="801014"/>
          </a:xfrm>
          <a:prstGeom prst="roundRect">
            <a:avLst>
              <a:gd name="adj" fmla="val 9132"/>
            </a:avLst>
          </a:prstGeom>
          <a:solidFill>
            <a:srgbClr val="F2F6F9"/>
          </a:solidFill>
          <a:ln w="9525">
            <a:solidFill>
              <a:srgbClr val="D9E2EA"/>
            </a:solidFill>
            <a:prstDash val="solid"/>
          </a:ln>
        </p:spPr>
      </p:sp>
      <p:sp>
        <p:nvSpPr>
          <p:cNvPr id="20" name="Shape 17"/>
          <p:cNvSpPr/>
          <p:nvPr/>
        </p:nvSpPr>
        <p:spPr>
          <a:xfrm>
            <a:off x="649224" y="4431182"/>
            <a:ext cx="347472" cy="347472"/>
          </a:xfrm>
          <a:prstGeom prst="ellipse">
            <a:avLst/>
          </a:prstGeom>
          <a:solidFill>
            <a:srgbClr val="F58220"/>
          </a:solidFill>
          <a:ln/>
        </p:spPr>
      </p:sp>
      <p:sp>
        <p:nvSpPr>
          <p:cNvPr id="21" name="Text 18"/>
          <p:cNvSpPr/>
          <p:nvPr/>
        </p:nvSpPr>
        <p:spPr>
          <a:xfrm>
            <a:off x="649224" y="443118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p>
        </p:txBody>
      </p:sp>
      <p:sp>
        <p:nvSpPr>
          <p:cNvPr id="22" name="Text 19"/>
          <p:cNvSpPr/>
          <p:nvPr/>
        </p:nvSpPr>
        <p:spPr>
          <a:xfrm>
            <a:off x="1161288" y="420441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Error mass is 41% misclassification between two specific classes. First fix?</a:t>
            </a:r>
            <a:endParaRPr lang="en-US" sz="1250" dirty="0"/>
          </a:p>
        </p:txBody>
      </p:sp>
      <p:sp>
        <p:nvSpPr>
          <p:cNvPr id="23" name="Shape 20"/>
          <p:cNvSpPr/>
          <p:nvPr/>
        </p:nvSpPr>
        <p:spPr>
          <a:xfrm>
            <a:off x="502920" y="5133442"/>
            <a:ext cx="11183112" cy="801014"/>
          </a:xfrm>
          <a:prstGeom prst="roundRect">
            <a:avLst>
              <a:gd name="adj" fmla="val 9132"/>
            </a:avLst>
          </a:prstGeom>
          <a:solidFill>
            <a:srgbClr val="F2F6F9"/>
          </a:solidFill>
          <a:ln w="9525">
            <a:solidFill>
              <a:srgbClr val="D9E2EA"/>
            </a:solidFill>
            <a:prstDash val="solid"/>
          </a:ln>
        </p:spPr>
      </p:sp>
      <p:sp>
        <p:nvSpPr>
          <p:cNvPr id="24" name="Shape 21"/>
          <p:cNvSpPr/>
          <p:nvPr/>
        </p:nvSpPr>
        <p:spPr>
          <a:xfrm>
            <a:off x="649224" y="5360213"/>
            <a:ext cx="347472" cy="347472"/>
          </a:xfrm>
          <a:prstGeom prst="ellipse">
            <a:avLst/>
          </a:prstGeom>
          <a:solidFill>
            <a:srgbClr val="F58220"/>
          </a:solidFill>
          <a:ln/>
        </p:spPr>
      </p:sp>
      <p:sp>
        <p:nvSpPr>
          <p:cNvPr id="25" name="Text 22"/>
          <p:cNvSpPr/>
          <p:nvPr/>
        </p:nvSpPr>
        <p:spPr>
          <a:xfrm>
            <a:off x="649224" y="5360213"/>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Q5</a:t>
            </a:r>
            <a:endParaRPr lang="en-US" sz="1050" dirty="0"/>
          </a:p>
        </p:txBody>
      </p:sp>
      <p:sp>
        <p:nvSpPr>
          <p:cNvPr id="26" name="Text 23"/>
          <p:cNvSpPr/>
          <p:nvPr/>
        </p:nvSpPr>
        <p:spPr>
          <a:xfrm>
            <a:off x="1161288" y="5133442"/>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True or false: if aggregate mAP improved, no slice can have regressed.</a:t>
            </a:r>
            <a:endParaRPr lang="en-US" sz="1250" dirty="0"/>
          </a:p>
        </p:txBody>
      </p:sp>
      <p:sp>
        <p:nvSpPr>
          <p:cNvPr id="27" name="Text 24"/>
          <p:cNvSpPr/>
          <p:nvPr/>
        </p:nvSpPr>
        <p:spPr>
          <a:xfrm>
            <a:off x="502920" y="6099048"/>
            <a:ext cx="11183112" cy="274320"/>
          </a:xfrm>
          <a:prstGeom prst="rect">
            <a:avLst/>
          </a:prstGeom>
          <a:noFill/>
          <a:ln/>
        </p:spPr>
        <p:txBody>
          <a:bodyPr wrap="square" lIns="0" tIns="0" rIns="0" bIns="0" rtlCol="0" anchor="ctr"/>
          <a:lstStyle/>
          <a:p>
            <a:pPr algn="r" indent="0" marL="0">
              <a:buNone/>
            </a:pPr>
            <a:r>
              <a:rPr lang="en-US" sz="1000" i="1" dirty="0">
                <a:solidFill>
                  <a:srgbClr val="8A96A6"/>
                </a:solidFill>
                <a:latin typeface="Calibri" pitchFamily="34" charset="0"/>
                <a:ea typeface="Calibri" pitchFamily="34" charset="-122"/>
                <a:cs typeface="Calibri" pitchFamily="34" charset="-120"/>
              </a:rPr>
              <a:t>Answers and marking guidance: speaker notes below ▼</a:t>
            </a:r>
            <a:endParaRPr lang="en-US" sz="1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Extra Exercises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تمارين إضافية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120</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Debugging: branch sim-threshold-report</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Harness reports at conf=0.001; the model card claims 0.35. Find the mismatch, add the operating-point row, explain the 0.31 precision gap.</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Code review: an evaluation PR</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It re-shuffles the test split 'for freshness', reports only macro-mAP, and claims v3 &gt; v2 from +0.008 with no CI. Three findings.</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one number for the plant manager</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weekly report wants one number. Which do you give — and what second number must always travel with it?</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rewrite the acceptance clause</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 vendor's acceptance test is a live demo on frames they chose. Rewrite the clause using this module's vocabulary.</a:t>
            </a:r>
            <a:endParaRPr lang="en-US" sz="11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Night-Slice Failure in Riyadh Traffic Vision</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فشل شريحة ليلية في رؤية مرور الرياض</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 CASE STUDY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121</a:t>
            </a:r>
            <a:endParaRPr lang="en-US" sz="900" dirty="0"/>
          </a:p>
        </p:txBody>
      </p:sp>
      <p:sp>
        <p:nvSpPr>
          <p:cNvPr id="7" name="Text 4"/>
          <p:cNvSpPr/>
          <p:nvPr/>
        </p:nvSpPr>
        <p:spPr>
          <a:xfrm>
            <a:off x="502920" y="138988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SCENARIO</a:t>
            </a:r>
            <a:endParaRPr lang="en-US" sz="1000" dirty="0"/>
          </a:p>
        </p:txBody>
      </p:sp>
      <p:sp>
        <p:nvSpPr>
          <p:cNvPr id="8" name="Text 5"/>
          <p:cNvSpPr/>
          <p:nvPr/>
        </p:nvSpPr>
        <p:spPr>
          <a:xfrm>
            <a:off x="502920" y="1645920"/>
            <a:ext cx="6035040" cy="896112"/>
          </a:xfrm>
          <a:prstGeom prst="rect">
            <a:avLst/>
          </a:prstGeom>
          <a:noFill/>
          <a:ln/>
        </p:spPr>
        <p:txBody>
          <a:bodyPr wrap="square" lIns="0" tIns="0" rIns="0" bIns="0" rtlCol="0" anchor="t"/>
          <a:lstStyle/>
          <a:p>
            <a:pPr indent="0" marL="0">
              <a:buNone/>
            </a:pPr>
            <a:r>
              <a:rPr lang="en-US" sz="1150" dirty="0">
                <a:solidFill>
                  <a:srgbClr val="23293B"/>
                </a:solidFill>
                <a:latin typeface="Calibri" pitchFamily="34" charset="0"/>
                <a:ea typeface="Calibri" pitchFamily="34" charset="-122"/>
                <a:cs typeface="Calibri" pitchFamily="34" charset="-120"/>
              </a:rPr>
              <a:t>A city-scale traffic programme runs vehicle detection on 900 intersections for signal optimisation and incident alerts. The vendor's quarterly report shows fleet mAP@0.5 of 0.91, stable for a year. Then two incident-detection misses in one month — both motorcycles, both between 22:00 and 03:00 — trigger an engineering review.</a:t>
            </a:r>
            <a:endParaRPr lang="en-US" sz="1150" dirty="0"/>
          </a:p>
        </p:txBody>
      </p:sp>
      <p:sp>
        <p:nvSpPr>
          <p:cNvPr id="9" name="Text 6"/>
          <p:cNvSpPr/>
          <p:nvPr/>
        </p:nvSpPr>
        <p:spPr>
          <a:xfrm>
            <a:off x="502920" y="2706624"/>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BUSINESS CONTEXT</a:t>
            </a:r>
            <a:endParaRPr lang="en-US" sz="1000" dirty="0"/>
          </a:p>
        </p:txBody>
      </p:sp>
      <p:sp>
        <p:nvSpPr>
          <p:cNvPr id="10" name="Text 7"/>
          <p:cNvSpPr/>
          <p:nvPr/>
        </p:nvSpPr>
        <p:spPr>
          <a:xfrm>
            <a:off x="502920" y="2962656"/>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Renewal is before the budget committee; the contract specifies 'mAP &gt;= 0.88 quarterly' and nothing else. Motorcycles are 4% of vehicles and 28% of fatalities in the corridor under review.</a:t>
            </a:r>
            <a:endParaRPr lang="en-US" sz="1150" dirty="0"/>
          </a:p>
        </p:txBody>
      </p:sp>
      <p:sp>
        <p:nvSpPr>
          <p:cNvPr id="11" name="Text 8"/>
          <p:cNvSpPr/>
          <p:nvPr/>
        </p:nvSpPr>
        <p:spPr>
          <a:xfrm>
            <a:off x="502920" y="381304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TECHNICAL CHALLENGE</a:t>
            </a:r>
            <a:endParaRPr lang="en-US" sz="1000" dirty="0"/>
          </a:p>
        </p:txBody>
      </p:sp>
      <p:sp>
        <p:nvSpPr>
          <p:cNvPr id="12" name="Text 9"/>
          <p:cNvSpPr/>
          <p:nvPr/>
        </p:nvSpPr>
        <p:spPr>
          <a:xfrm>
            <a:off x="502920" y="4069080"/>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Reconstruct how a contractually green system missed the failures, quantify real slice-level performance, and rewrite the acceptance criteria to measure what the safety KPI cares about.</a:t>
            </a:r>
            <a:endParaRPr lang="en-US" sz="1150" dirty="0"/>
          </a:p>
        </p:txBody>
      </p:sp>
      <p:sp>
        <p:nvSpPr>
          <p:cNvPr id="13" name="Shape 10"/>
          <p:cNvSpPr/>
          <p:nvPr/>
        </p:nvSpPr>
        <p:spPr>
          <a:xfrm>
            <a:off x="6858000" y="1389888"/>
            <a:ext cx="4828032" cy="2184684"/>
          </a:xfrm>
          <a:prstGeom prst="roundRect">
            <a:avLst>
              <a:gd name="adj" fmla="val 3767"/>
            </a:avLst>
          </a:prstGeom>
          <a:solidFill>
            <a:srgbClr val="F2F6F9"/>
          </a:solidFill>
          <a:ln w="12700">
            <a:solidFill>
              <a:srgbClr val="D9E2EA"/>
            </a:solidFill>
            <a:prstDash val="solid"/>
          </a:ln>
        </p:spPr>
      </p:sp>
      <p:sp>
        <p:nvSpPr>
          <p:cNvPr id="14" name="Text 11"/>
          <p:cNvSpPr/>
          <p:nvPr/>
        </p:nvSpPr>
        <p:spPr>
          <a:xfrm>
            <a:off x="7040880" y="1481328"/>
            <a:ext cx="4462272" cy="237744"/>
          </a:xfrm>
          <a:prstGeom prst="rect">
            <a:avLst/>
          </a:prstGeom>
          <a:noFill/>
          <a:ln/>
        </p:spPr>
        <p:txBody>
          <a:bodyPr wrap="square" lIns="0" tIns="0" rIns="0" bIns="0" rtlCol="0" anchor="ctr"/>
          <a:lstStyle/>
          <a:p>
            <a:pPr indent="0" marL="0">
              <a:buNone/>
            </a:pPr>
            <a:r>
              <a:rPr lang="en-US" sz="950" b="1" spc="200" kern="0" dirty="0">
                <a:solidFill>
                  <a:srgbClr val="F58220"/>
                </a:solidFill>
                <a:latin typeface="Calibri" pitchFamily="34" charset="0"/>
                <a:ea typeface="Calibri" pitchFamily="34" charset="-122"/>
                <a:cs typeface="Calibri" pitchFamily="34" charset="-120"/>
              </a:rPr>
              <a:t>CONSTRAINTS</a:t>
            </a:r>
            <a:endParaRPr lang="en-US" sz="950" dirty="0"/>
          </a:p>
        </p:txBody>
      </p:sp>
      <p:sp>
        <p:nvSpPr>
          <p:cNvPr id="15" name="Text 12"/>
          <p:cNvSpPr/>
          <p:nvPr/>
        </p:nvSpPr>
        <p:spPr>
          <a:xfrm>
            <a:off x="7095744" y="1755648"/>
            <a:ext cx="4370832" cy="1681764"/>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Vendor controls the model; city, the cameras</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City holds a 20,000-frame labelled archive</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Night: 18% of traffic, 6% of vendor test set</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Night motorcycles in vendor test set: n=41</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Both parties want renewal, not a dispute</a:t>
            </a:r>
            <a:endParaRPr lang="en-US" sz="1050" dirty="0"/>
          </a:p>
        </p:txBody>
      </p:sp>
      <p:sp>
        <p:nvSpPr>
          <p:cNvPr id="16" name="Shape 13"/>
          <p:cNvSpPr/>
          <p:nvPr/>
        </p:nvSpPr>
        <p:spPr>
          <a:xfrm>
            <a:off x="6858000" y="3803172"/>
            <a:ext cx="4828032" cy="2551908"/>
          </a:xfrm>
          <a:prstGeom prst="roundRect">
            <a:avLst>
              <a:gd name="adj" fmla="val 3225"/>
            </a:avLst>
          </a:prstGeom>
          <a:solidFill>
            <a:srgbClr val="E9F6F5"/>
          </a:solidFill>
          <a:ln w="12700">
            <a:solidFill>
              <a:srgbClr val="00A79D"/>
            </a:solidFill>
            <a:prstDash val="solid"/>
          </a:ln>
        </p:spPr>
      </p:sp>
      <p:sp>
        <p:nvSpPr>
          <p:cNvPr id="17" name="Text 14"/>
          <p:cNvSpPr/>
          <p:nvPr/>
        </p:nvSpPr>
        <p:spPr>
          <a:xfrm>
            <a:off x="7040880" y="3894612"/>
            <a:ext cx="4462272" cy="237744"/>
          </a:xfrm>
          <a:prstGeom prst="rect">
            <a:avLst/>
          </a:prstGeom>
          <a:noFill/>
          <a:ln/>
        </p:spPr>
        <p:txBody>
          <a:bodyPr wrap="square" lIns="0" tIns="0" rIns="0" bIns="0" rtlCol="0" anchor="ctr"/>
          <a:lstStyle/>
          <a:p>
            <a:pPr indent="0" marL="0">
              <a:buNone/>
            </a:pPr>
            <a:r>
              <a:rPr lang="en-US" sz="950" b="1" spc="200" kern="0" dirty="0">
                <a:solidFill>
                  <a:srgbClr val="00A79D"/>
                </a:solidFill>
                <a:latin typeface="Calibri" pitchFamily="34" charset="0"/>
                <a:ea typeface="Calibri" pitchFamily="34" charset="-122"/>
                <a:cs typeface="Calibri" pitchFamily="34" charset="-120"/>
              </a:rPr>
              <a:t>DISCUSSION QUESTIONS</a:t>
            </a:r>
            <a:endParaRPr lang="en-US" sz="950" dirty="0"/>
          </a:p>
        </p:txBody>
      </p:sp>
      <p:sp>
        <p:nvSpPr>
          <p:cNvPr id="18" name="Text 15"/>
          <p:cNvSpPr/>
          <p:nvPr/>
        </p:nvSpPr>
        <p:spPr>
          <a:xfrm>
            <a:off x="7095744" y="4168932"/>
            <a:ext cx="4370832" cy="2048988"/>
          </a:xfrm>
          <a:prstGeom prst="rect">
            <a:avLst/>
          </a:prstGeom>
          <a:noFill/>
          <a:ln/>
        </p:spPr>
        <p:txBody>
          <a:bodyPr wrap="square" lIns="0" tIns="0" rIns="0" bIns="0" rtlCol="0" anchor="t"/>
          <a:lstStyle/>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1.  The 0.91 was honest arithmetic — which choices still made it misleading?</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2.  Design the slice taxonomy: which slices, and what n requirements?</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3.  Who owns the frozen split in a buyer/vendor relationship?</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4.  Why is demanding mAP &gt;= 0.95 the wrong fix?</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6 Benchmarks and Targets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معايير وأهداف الوحدة السادسة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6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122</a:t>
            </a:r>
            <a:endParaRPr lang="en-US" sz="900" dirty="0"/>
          </a:p>
        </p:txBody>
      </p:sp>
      <p:graphicFrame>
        <p:nvGraphicFramePr>
          <p:cNvPr id="123"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4187572"/>
                <a:gridCol w="3992693"/>
                <a:gridCol w="3005590"/>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Target after M6</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measured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Matching + AP unit tests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12/12 passing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pytest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AP agreement vs framework</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within ±0.005 per class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validation script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Harness determinism</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byte-identical repeat reports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diff</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Worst-slice detection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s09 found and reported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BENCHMARKS.md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Error taxonomy + remediation plan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5-line ranked plan, costed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instructor review</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v1-vs-v2 regression summary (H5)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delta + CI + no-degraded-slice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report review</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Hour 5 — The Data-Quality Dividend</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الساعة الخامسة — عائد جودة البيانات</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DAY 3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123</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Retrain on v2; run regression mode</a:t>
            </a:r>
            <a:endParaRPr lang="en-US" sz="1400" dirty="0"/>
          </a:p>
        </p:txBody>
      </p:sp>
      <p:sp>
        <p:nvSpPr>
          <p:cNvPr id="10" name="Text 7"/>
          <p:cNvSpPr/>
          <p:nvPr/>
        </p:nvSpPr>
        <p:spPr>
          <a:xfrm>
            <a:off x="1005840" y="179679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Confirm the insect_damage gain, check no powered slice degraded &gt;= 2 points, bootstrap the headline CI.</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Predict before you run</a:t>
            </a:r>
            <a:endParaRPr lang="en-US" sz="1400" dirty="0"/>
          </a:p>
        </p:txBody>
      </p:sp>
      <p:sp>
        <p:nvSpPr>
          <p:cNvPr id="14" name="Text 11"/>
          <p:cNvSpPr/>
          <p:nvPr/>
        </p:nvSpPr>
        <p:spPr>
          <a:xfrm>
            <a:off x="1005840" y="298551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Each pair states its expected v2 delta before the run, then confronts the prediction — the day's payoff.</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Capstone kickoff briefing</a:t>
            </a:r>
            <a:endParaRPr lang="en-US" sz="1400" dirty="0"/>
          </a:p>
        </p:txBody>
      </p:sp>
      <p:sp>
        <p:nvSpPr>
          <p:cNvPr id="18" name="Text 15"/>
          <p:cNvSpPr/>
          <p:nvPr/>
        </p:nvSpPr>
        <p:spPr>
          <a:xfrm>
            <a:off x="1005840" y="417423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Day 4 H3-4 integrates classifier, detector and segmenter; the harness referees; BENCHMARKS.md from own runs.</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Milestone M-A check</a:t>
            </a:r>
            <a:endParaRPr lang="en-US" sz="1400" dirty="0"/>
          </a:p>
        </p:txBody>
      </p:sp>
      <p:sp>
        <p:nvSpPr>
          <p:cNvPr id="22" name="Text 19"/>
          <p:cNvSpPr/>
          <p:nvPr/>
        </p:nvSpPr>
        <p:spPr>
          <a:xfrm>
            <a:off x="1005840" y="536295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Triaged audit, merged spec PR, v2 release cut, harness validated, regression summary in the report.</a:t>
            </a:r>
            <a:endParaRPr lang="en-US" sz="1150" dirty="0"/>
          </a:p>
        </p:txBody>
      </p:sp>
      <p:sp>
        <p:nvSpPr>
          <p:cNvPr id="23" name="Shape 20"/>
          <p:cNvSpPr/>
          <p:nvPr/>
        </p:nvSpPr>
        <p:spPr>
          <a:xfrm>
            <a:off x="6355080" y="2775204"/>
            <a:ext cx="1563624" cy="2194560"/>
          </a:xfrm>
          <a:prstGeom prst="roundRect">
            <a:avLst>
              <a:gd name="adj" fmla="val 5263"/>
            </a:avLst>
          </a:prstGeom>
          <a:solidFill>
            <a:srgbClr val="E9F6F5"/>
          </a:solidFill>
          <a:ln w="12700">
            <a:solidFill>
              <a:srgbClr val="D9E2EA"/>
            </a:solidFill>
            <a:prstDash val="solid"/>
          </a:ln>
        </p:spPr>
      </p:sp>
      <p:sp>
        <p:nvSpPr>
          <p:cNvPr id="24" name="Text 21"/>
          <p:cNvSpPr/>
          <p:nvPr/>
        </p:nvSpPr>
        <p:spPr>
          <a:xfrm>
            <a:off x="6446520" y="2884932"/>
            <a:ext cx="1380744" cy="965606"/>
          </a:xfrm>
          <a:prstGeom prst="rect">
            <a:avLst/>
          </a:prstGeom>
          <a:noFill/>
          <a:ln/>
        </p:spPr>
        <p:txBody>
          <a:bodyPr wrap="square" lIns="0" tIns="0" rIns="0" bIns="0" rtlCol="0" anchor="ctr"/>
          <a:lstStyle/>
          <a:p>
            <a:pPr algn="ctr" indent="0" marL="0">
              <a:buNone/>
            </a:pPr>
            <a:r>
              <a:rPr lang="en-US" sz="3800" b="1" dirty="0">
                <a:solidFill>
                  <a:srgbClr val="00A79D"/>
                </a:solidFill>
                <a:latin typeface="Calibri" pitchFamily="34" charset="0"/>
                <a:ea typeface="Calibri" pitchFamily="34" charset="-122"/>
                <a:cs typeface="Calibri" pitchFamily="34" charset="-120"/>
              </a:rPr>
              <a:t>+0.089</a:t>
            </a:r>
            <a:endParaRPr lang="en-US" sz="3800" dirty="0"/>
          </a:p>
        </p:txBody>
      </p:sp>
      <p:sp>
        <p:nvSpPr>
          <p:cNvPr id="25" name="Text 22"/>
          <p:cNvSpPr/>
          <p:nvPr/>
        </p:nvSpPr>
        <p:spPr>
          <a:xfrm>
            <a:off x="6492240"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insect_damage AP</a:t>
            </a:r>
            <a:endParaRPr lang="en-US" sz="1250" dirty="0"/>
          </a:p>
        </p:txBody>
      </p:sp>
      <p:sp>
        <p:nvSpPr>
          <p:cNvPr id="26" name="Text 23"/>
          <p:cNvSpPr/>
          <p:nvPr/>
        </p:nvSpPr>
        <p:spPr>
          <a:xfrm>
            <a:off x="6492240"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CI [+0.061, +0.114]</a:t>
            </a:r>
            <a:endParaRPr lang="en-US" sz="1000" dirty="0"/>
          </a:p>
        </p:txBody>
      </p:sp>
      <p:sp>
        <p:nvSpPr>
          <p:cNvPr id="27" name="Shape 24"/>
          <p:cNvSpPr/>
          <p:nvPr/>
        </p:nvSpPr>
        <p:spPr>
          <a:xfrm>
            <a:off x="8238744" y="2775204"/>
            <a:ext cx="1563624" cy="2194560"/>
          </a:xfrm>
          <a:prstGeom prst="roundRect">
            <a:avLst>
              <a:gd name="adj" fmla="val 5263"/>
            </a:avLst>
          </a:prstGeom>
          <a:solidFill>
            <a:srgbClr val="F2F6F9"/>
          </a:solidFill>
          <a:ln w="12700">
            <a:solidFill>
              <a:srgbClr val="D9E2EA"/>
            </a:solidFill>
            <a:prstDash val="solid"/>
          </a:ln>
        </p:spPr>
      </p:sp>
      <p:sp>
        <p:nvSpPr>
          <p:cNvPr id="28" name="Text 25"/>
          <p:cNvSpPr/>
          <p:nvPr/>
        </p:nvSpPr>
        <p:spPr>
          <a:xfrm>
            <a:off x="8330184" y="2884932"/>
            <a:ext cx="1380744" cy="965606"/>
          </a:xfrm>
          <a:prstGeom prst="rect">
            <a:avLst/>
          </a:prstGeom>
          <a:noFill/>
          <a:ln/>
        </p:spPr>
        <p:txBody>
          <a:bodyPr wrap="square" lIns="0" tIns="0" rIns="0" bIns="0" rtlCol="0" anchor="ctr"/>
          <a:lstStyle/>
          <a:p>
            <a:pPr algn="ctr" indent="0" marL="0">
              <a:buNone/>
            </a:pPr>
            <a:r>
              <a:rPr lang="en-US" sz="3800" b="1" dirty="0">
                <a:solidFill>
                  <a:srgbClr val="29ABE2"/>
                </a:solidFill>
                <a:latin typeface="Calibri" pitchFamily="34" charset="0"/>
                <a:ea typeface="Calibri" pitchFamily="34" charset="-122"/>
                <a:cs typeface="Calibri" pitchFamily="34" charset="-120"/>
              </a:rPr>
              <a:t>+0.031</a:t>
            </a:r>
            <a:endParaRPr lang="en-US" sz="3800" dirty="0"/>
          </a:p>
        </p:txBody>
      </p:sp>
      <p:sp>
        <p:nvSpPr>
          <p:cNvPr id="29" name="Text 26"/>
          <p:cNvSpPr/>
          <p:nvPr/>
        </p:nvSpPr>
        <p:spPr>
          <a:xfrm>
            <a:off x="8375904"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detector mAP@0.5</a:t>
            </a:r>
            <a:endParaRPr lang="en-US" sz="1250" dirty="0"/>
          </a:p>
        </p:txBody>
      </p:sp>
      <p:sp>
        <p:nvSpPr>
          <p:cNvPr id="30" name="Text 27"/>
          <p:cNvSpPr/>
          <p:nvPr/>
        </p:nvSpPr>
        <p:spPr>
          <a:xfrm>
            <a:off x="8375904"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cleaning + 800 AL frames</a:t>
            </a:r>
            <a:endParaRPr lang="en-US" sz="1000" dirty="0"/>
          </a:p>
        </p:txBody>
      </p:sp>
      <p:sp>
        <p:nvSpPr>
          <p:cNvPr id="31" name="Shape 28"/>
          <p:cNvSpPr/>
          <p:nvPr/>
        </p:nvSpPr>
        <p:spPr>
          <a:xfrm>
            <a:off x="10122408" y="2775204"/>
            <a:ext cx="1563624" cy="2194560"/>
          </a:xfrm>
          <a:prstGeom prst="roundRect">
            <a:avLst>
              <a:gd name="adj" fmla="val 5263"/>
            </a:avLst>
          </a:prstGeom>
          <a:solidFill>
            <a:srgbClr val="F2F6F9"/>
          </a:solidFill>
          <a:ln w="12700">
            <a:solidFill>
              <a:srgbClr val="D9E2EA"/>
            </a:solidFill>
            <a:prstDash val="solid"/>
          </a:ln>
        </p:spPr>
      </p:sp>
      <p:sp>
        <p:nvSpPr>
          <p:cNvPr id="32" name="Text 29"/>
          <p:cNvSpPr/>
          <p:nvPr/>
        </p:nvSpPr>
        <p:spPr>
          <a:xfrm>
            <a:off x="10213848" y="2884932"/>
            <a:ext cx="1380744" cy="965606"/>
          </a:xfrm>
          <a:prstGeom prst="rect">
            <a:avLst/>
          </a:prstGeom>
          <a:noFill/>
          <a:ln/>
        </p:spPr>
        <p:txBody>
          <a:bodyPr wrap="square" lIns="0" tIns="0" rIns="0" bIns="0" rtlCol="0" anchor="ctr"/>
          <a:lstStyle/>
          <a:p>
            <a:pPr algn="ctr" indent="0" marL="0">
              <a:buNone/>
            </a:pPr>
            <a:r>
              <a:rPr lang="en-US" sz="3800" b="1" dirty="0">
                <a:solidFill>
                  <a:srgbClr val="F58220"/>
                </a:solidFill>
                <a:latin typeface="Calibri" pitchFamily="34" charset="0"/>
                <a:ea typeface="Calibri" pitchFamily="34" charset="-122"/>
                <a:cs typeface="Calibri" pitchFamily="34" charset="-120"/>
              </a:rPr>
              <a:t>+0.02</a:t>
            </a:r>
            <a:endParaRPr lang="en-US" sz="3800" dirty="0"/>
          </a:p>
        </p:txBody>
      </p:sp>
      <p:sp>
        <p:nvSpPr>
          <p:cNvPr id="33" name="Text 30"/>
          <p:cNvSpPr/>
          <p:nvPr/>
        </p:nvSpPr>
        <p:spPr>
          <a:xfrm>
            <a:off x="10259568" y="3916375"/>
            <a:ext cx="128930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classifier macro-F1</a:t>
            </a:r>
            <a:endParaRPr lang="en-US" sz="1250" dirty="0"/>
          </a:p>
        </p:txBody>
      </p:sp>
      <p:sp>
        <p:nvSpPr>
          <p:cNvPr id="34" name="Text 31"/>
          <p:cNvSpPr/>
          <p:nvPr/>
        </p:nvSpPr>
        <p:spPr>
          <a:xfrm>
            <a:off x="10259568" y="4263847"/>
            <a:ext cx="128930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from 447 relabels</a:t>
            </a:r>
            <a:endParaRPr lang="en-US" sz="1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DAY 4</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Ship It to the Line</a:t>
            </a:r>
            <a:endParaRPr lang="en-US" sz="3600" dirty="0"/>
          </a:p>
        </p:txBody>
      </p:sp>
      <p:sp>
        <p:nvSpPr>
          <p:cNvPr id="22" name="Text 19"/>
          <p:cNvSpPr/>
          <p:nvPr/>
        </p:nvSpPr>
        <p:spPr>
          <a:xfrm>
            <a:off x="777240" y="285292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أوصلها إلى خط الإنتاج</a:t>
            </a:r>
            <a:endParaRPr lang="en-US" sz="1700" dirty="0"/>
          </a:p>
        </p:txBody>
      </p:sp>
      <p:sp>
        <p:nvSpPr>
          <p:cNvPr id="23" name="Text 20"/>
          <p:cNvSpPr/>
          <p:nvPr/>
        </p:nvSpPr>
        <p:spPr>
          <a:xfrm>
            <a:off x="804672" y="352044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H1: Deployment &amp; edge optimisation (M7)</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H2: Lab 7 — Export, optimise, benchmark</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H3: Capstone assembly I — integrate the pipeline</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H4: Capstone assembly II + self-audit + peer review</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H5: Capstone demos + assessment + wrap-up</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END-OF-DAY DELIVERABLE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ONNX-exported, benchmarked edge models + capstone demo of the full inspection system</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124</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Day 4 hour by hour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اليوم الرابع ساعة بساعة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DAY 4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125</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25% theory / 75% lab — the most build-heavy day. Each hour = 50 min instruction + 10 min buffer.</a:t>
            </a:r>
            <a:endParaRPr lang="en-US" sz="125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1413461"/>
                <a:gridCol w="4298872"/>
                <a:gridCol w="3238645"/>
                <a:gridCol w="2234877"/>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Hour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Session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Delivery mode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Theory/Lab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Deployment &amp; edge optimisation (M7)</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Lecture + export demo</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60/40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Lab 7 — Export, optimise, benchmark</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Guided lab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10/90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Capstone assembly I</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Project work</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0/100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Capstone assembly II + self-audit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Project work</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0/100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Capstone demos + assessment + wrap-up</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Presentations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20/80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MODULE 7</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Deployment and Edge Optimisation</a:t>
            </a:r>
            <a:endParaRPr lang="en-US" sz="3600" dirty="0"/>
          </a:p>
        </p:txBody>
      </p:sp>
      <p:sp>
        <p:nvSpPr>
          <p:cNvPr id="22" name="Text 19"/>
          <p:cNvSpPr/>
          <p:nvPr/>
        </p:nvSpPr>
        <p:spPr>
          <a:xfrm>
            <a:off x="777240" y="285292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النشر والتحسين للحوسبة الطرفية</a:t>
            </a:r>
            <a:endParaRPr lang="en-US" sz="1700" dirty="0"/>
          </a:p>
        </p:txBody>
      </p:sp>
      <p:sp>
        <p:nvSpPr>
          <p:cNvPr id="23" name="Text 20"/>
          <p:cNvSpPr/>
          <p:nvPr/>
        </p:nvSpPr>
        <p:spPr>
          <a:xfrm>
            <a:off x="804672" y="352044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Choosing the target: cloud, edge, or both</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ONNX export and the parity discipline</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The optimisation ladder: size, INT8, providers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Honest benchmarking + the edge inference loop</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MODULE OUTCOME</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Parity-tested ONNX artefacts, INT8 quantisation with slice-checked accuracy cost, and a benchmarked, budget-justified line configuration</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126</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last mile is where pilots die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لماذا يهم الميل الأخير</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127</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Cloud-vs-edge is an economics and sovereignty decision before it is a technical one.</a:t>
            </a:r>
            <a:endParaRPr lang="en-US" sz="1250" dirty="0"/>
          </a:p>
        </p:txBody>
      </p:sp>
      <p:sp>
        <p:nvSpPr>
          <p:cNvPr id="8" name="Shape 5"/>
          <p:cNvSpPr/>
          <p:nvPr/>
        </p:nvSpPr>
        <p:spPr>
          <a:xfrm>
            <a:off x="502920" y="3026664"/>
            <a:ext cx="2556434" cy="2194560"/>
          </a:xfrm>
          <a:prstGeom prst="roundRect">
            <a:avLst>
              <a:gd name="adj" fmla="val 3750"/>
            </a:avLst>
          </a:prstGeom>
          <a:solidFill>
            <a:srgbClr val="E9F6F5"/>
          </a:solidFill>
          <a:ln w="12700">
            <a:solidFill>
              <a:srgbClr val="D9E2EA"/>
            </a:solidFill>
            <a:prstDash val="solid"/>
          </a:ln>
        </p:spPr>
      </p:sp>
      <p:sp>
        <p:nvSpPr>
          <p:cNvPr id="9" name="Text 6"/>
          <p:cNvSpPr/>
          <p:nvPr/>
        </p:nvSpPr>
        <p:spPr>
          <a:xfrm>
            <a:off x="594360" y="3136392"/>
            <a:ext cx="2373554" cy="965606"/>
          </a:xfrm>
          <a:prstGeom prst="rect">
            <a:avLst/>
          </a:prstGeom>
          <a:noFill/>
          <a:ln/>
        </p:spPr>
        <p:txBody>
          <a:bodyPr wrap="square" lIns="0" tIns="0" rIns="0" bIns="0" rtlCol="0" anchor="ctr"/>
          <a:lstStyle/>
          <a:p>
            <a:pPr algn="ctr" indent="0" marL="0">
              <a:buNone/>
            </a:pPr>
            <a:r>
              <a:rPr lang="en-US" sz="3800" b="1" dirty="0">
                <a:solidFill>
                  <a:srgbClr val="00A79D"/>
                </a:solidFill>
                <a:latin typeface="Calibri" pitchFamily="34" charset="0"/>
                <a:ea typeface="Calibri" pitchFamily="34" charset="-122"/>
                <a:cs typeface="Calibri" pitchFamily="34" charset="-120"/>
              </a:rPr>
              <a:t>380 ms</a:t>
            </a:r>
            <a:endParaRPr lang="en-US" sz="3800" dirty="0"/>
          </a:p>
        </p:txBody>
      </p:sp>
      <p:sp>
        <p:nvSpPr>
          <p:cNvPr id="10" name="Text 7"/>
          <p:cNvSpPr/>
          <p:nvPr/>
        </p:nvSpPr>
        <p:spPr>
          <a:xfrm>
            <a:off x="640080"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eject-gate budget</a:t>
            </a:r>
            <a:endParaRPr lang="en-US" sz="1250" dirty="0"/>
          </a:p>
        </p:txBody>
      </p:sp>
      <p:sp>
        <p:nvSpPr>
          <p:cNvPr id="11" name="Text 8"/>
          <p:cNvSpPr/>
          <p:nvPr/>
        </p:nvSpPr>
        <p:spPr>
          <a:xfrm>
            <a:off x="640080"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camera to actuation — gate 1.9 m downstream</a:t>
            </a:r>
            <a:endParaRPr lang="en-US" sz="1000" dirty="0"/>
          </a:p>
        </p:txBody>
      </p:sp>
      <p:sp>
        <p:nvSpPr>
          <p:cNvPr id="12" name="Shape 9"/>
          <p:cNvSpPr/>
          <p:nvPr/>
        </p:nvSpPr>
        <p:spPr>
          <a:xfrm>
            <a:off x="3379394" y="3026664"/>
            <a:ext cx="2556434" cy="2194560"/>
          </a:xfrm>
          <a:prstGeom prst="roundRect">
            <a:avLst>
              <a:gd name="adj" fmla="val 3750"/>
            </a:avLst>
          </a:prstGeom>
          <a:solidFill>
            <a:srgbClr val="F2F6F9"/>
          </a:solidFill>
          <a:ln w="12700">
            <a:solidFill>
              <a:srgbClr val="D9E2EA"/>
            </a:solidFill>
            <a:prstDash val="solid"/>
          </a:ln>
        </p:spPr>
      </p:sp>
      <p:sp>
        <p:nvSpPr>
          <p:cNvPr id="13" name="Text 10"/>
          <p:cNvSpPr/>
          <p:nvPr/>
        </p:nvSpPr>
        <p:spPr>
          <a:xfrm>
            <a:off x="3470834" y="3136392"/>
            <a:ext cx="2373554" cy="965606"/>
          </a:xfrm>
          <a:prstGeom prst="rect">
            <a:avLst/>
          </a:prstGeom>
          <a:noFill/>
          <a:ln/>
        </p:spPr>
        <p:txBody>
          <a:bodyPr wrap="square" lIns="0" tIns="0" rIns="0" bIns="0" rtlCol="0" anchor="ctr"/>
          <a:lstStyle/>
          <a:p>
            <a:pPr algn="ctr" indent="0" marL="0">
              <a:buNone/>
            </a:pPr>
            <a:r>
              <a:rPr lang="en-US" sz="3800" b="1" dirty="0">
                <a:solidFill>
                  <a:srgbClr val="29ABE2"/>
                </a:solidFill>
                <a:latin typeface="Calibri" pitchFamily="34" charset="0"/>
                <a:ea typeface="Calibri" pitchFamily="34" charset="-122"/>
                <a:cs typeface="Calibri" pitchFamily="34" charset="-120"/>
              </a:rPr>
              <a:t>62 FPS</a:t>
            </a:r>
            <a:endParaRPr lang="en-US" sz="3800" dirty="0"/>
          </a:p>
        </p:txBody>
      </p:sp>
      <p:sp>
        <p:nvSpPr>
          <p:cNvPr id="14" name="Text 11"/>
          <p:cNvSpPr/>
          <p:nvPr/>
        </p:nvSpPr>
        <p:spPr>
          <a:xfrm>
            <a:off x="3516554"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edge detection</a:t>
            </a:r>
            <a:endParaRPr lang="en-US" sz="1250" dirty="0"/>
          </a:p>
        </p:txBody>
      </p:sp>
      <p:sp>
        <p:nvSpPr>
          <p:cNvPr id="15" name="Text 12"/>
          <p:cNvSpPr/>
          <p:nvPr/>
        </p:nvSpPr>
        <p:spPr>
          <a:xfrm>
            <a:off x="3516554"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INT8 at 416² on the industrial PC</a:t>
            </a:r>
            <a:endParaRPr lang="en-US" sz="1000" dirty="0"/>
          </a:p>
        </p:txBody>
      </p:sp>
      <p:sp>
        <p:nvSpPr>
          <p:cNvPr id="16" name="Shape 13"/>
          <p:cNvSpPr/>
          <p:nvPr/>
        </p:nvSpPr>
        <p:spPr>
          <a:xfrm>
            <a:off x="6255868" y="3026664"/>
            <a:ext cx="2556434" cy="2194560"/>
          </a:xfrm>
          <a:prstGeom prst="roundRect">
            <a:avLst>
              <a:gd name="adj" fmla="val 3750"/>
            </a:avLst>
          </a:prstGeom>
          <a:solidFill>
            <a:srgbClr val="F2F6F9"/>
          </a:solidFill>
          <a:ln w="12700">
            <a:solidFill>
              <a:srgbClr val="D9E2EA"/>
            </a:solidFill>
            <a:prstDash val="solid"/>
          </a:ln>
        </p:spPr>
      </p:sp>
      <p:sp>
        <p:nvSpPr>
          <p:cNvPr id="17" name="Text 14"/>
          <p:cNvSpPr/>
          <p:nvPr/>
        </p:nvSpPr>
        <p:spPr>
          <a:xfrm>
            <a:off x="6347308" y="3136392"/>
            <a:ext cx="2373554" cy="965606"/>
          </a:xfrm>
          <a:prstGeom prst="rect">
            <a:avLst/>
          </a:prstGeom>
          <a:noFill/>
          <a:ln/>
        </p:spPr>
        <p:txBody>
          <a:bodyPr wrap="square" lIns="0" tIns="0" rIns="0" bIns="0" rtlCol="0" anchor="ctr"/>
          <a:lstStyle/>
          <a:p>
            <a:pPr algn="ctr" indent="0" marL="0">
              <a:buNone/>
            </a:pPr>
            <a:r>
              <a:rPr lang="en-US" sz="3800" b="1" dirty="0">
                <a:solidFill>
                  <a:srgbClr val="F58220"/>
                </a:solidFill>
                <a:latin typeface="Calibri" pitchFamily="34" charset="0"/>
                <a:ea typeface="Calibri" pitchFamily="34" charset="-122"/>
                <a:cs typeface="Calibri" pitchFamily="34" charset="-120"/>
              </a:rPr>
              <a:t>40×</a:t>
            </a:r>
            <a:endParaRPr lang="en-US" sz="3800" dirty="0"/>
          </a:p>
        </p:txBody>
      </p:sp>
      <p:sp>
        <p:nvSpPr>
          <p:cNvPr id="18" name="Text 15"/>
          <p:cNvSpPr/>
          <p:nvPr/>
        </p:nvSpPr>
        <p:spPr>
          <a:xfrm>
            <a:off x="6393028"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bandwidth bill cut</a:t>
            </a:r>
            <a:endParaRPr lang="en-US" sz="1250" dirty="0"/>
          </a:p>
        </p:txBody>
      </p:sp>
      <p:sp>
        <p:nvSpPr>
          <p:cNvPr id="19" name="Text 16"/>
          <p:cNvSpPr/>
          <p:nvPr/>
        </p:nvSpPr>
        <p:spPr>
          <a:xfrm>
            <a:off x="6393028"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edge boxes sync detections, not video</a:t>
            </a:r>
            <a:endParaRPr lang="en-US" sz="1000" dirty="0"/>
          </a:p>
        </p:txBody>
      </p:sp>
      <p:sp>
        <p:nvSpPr>
          <p:cNvPr id="20" name="Shape 17"/>
          <p:cNvSpPr/>
          <p:nvPr/>
        </p:nvSpPr>
        <p:spPr>
          <a:xfrm>
            <a:off x="9132341" y="3026664"/>
            <a:ext cx="2556434" cy="2194560"/>
          </a:xfrm>
          <a:prstGeom prst="roundRect">
            <a:avLst>
              <a:gd name="adj" fmla="val 3750"/>
            </a:avLst>
          </a:prstGeom>
          <a:solidFill>
            <a:srgbClr val="F2F6F9"/>
          </a:solidFill>
          <a:ln w="12700">
            <a:solidFill>
              <a:srgbClr val="D9E2EA"/>
            </a:solidFill>
            <a:prstDash val="solid"/>
          </a:ln>
        </p:spPr>
      </p:sp>
      <p:sp>
        <p:nvSpPr>
          <p:cNvPr id="21" name="Text 18"/>
          <p:cNvSpPr/>
          <p:nvPr/>
        </p:nvSpPr>
        <p:spPr>
          <a:xfrm>
            <a:off x="9223781" y="3136392"/>
            <a:ext cx="2373554" cy="965606"/>
          </a:xfrm>
          <a:prstGeom prst="rect">
            <a:avLst/>
          </a:prstGeom>
          <a:noFill/>
          <a:ln/>
        </p:spPr>
        <p:txBody>
          <a:bodyPr wrap="square" lIns="0" tIns="0" rIns="0" bIns="0" rtlCol="0" anchor="ctr"/>
          <a:lstStyle/>
          <a:p>
            <a:pPr algn="ctr" indent="0" marL="0">
              <a:buNone/>
            </a:pPr>
            <a:r>
              <a:rPr lang="en-US" sz="3800" b="1" dirty="0">
                <a:solidFill>
                  <a:srgbClr val="E8503A"/>
                </a:solidFill>
                <a:latin typeface="Calibri" pitchFamily="34" charset="0"/>
                <a:ea typeface="Calibri" pitchFamily="34" charset="-122"/>
                <a:cs typeface="Calibri" pitchFamily="34" charset="-120"/>
              </a:rPr>
              <a:t>4 FPS</a:t>
            </a:r>
            <a:endParaRPr lang="en-US" sz="3800" dirty="0"/>
          </a:p>
        </p:txBody>
      </p:sp>
      <p:sp>
        <p:nvSpPr>
          <p:cNvPr id="22" name="Text 19"/>
          <p:cNvSpPr/>
          <p:nvPr/>
        </p:nvSpPr>
        <p:spPr>
          <a:xfrm>
            <a:off x="9269501" y="4167835"/>
            <a:ext cx="2282114" cy="32004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on plant hardware</a:t>
            </a:r>
            <a:endParaRPr lang="en-US" sz="1250" dirty="0"/>
          </a:p>
        </p:txBody>
      </p:sp>
      <p:sp>
        <p:nvSpPr>
          <p:cNvPr id="23" name="Text 20"/>
          <p:cNvSpPr/>
          <p:nvPr/>
        </p:nvSpPr>
        <p:spPr>
          <a:xfrm>
            <a:off x="9269501" y="4515307"/>
            <a:ext cx="2282114" cy="658368"/>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vs 31 FPS on the data scientist's RTX</a:t>
            </a:r>
            <a:endParaRPr lang="en-US" sz="10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Where edge deployment earns its keep</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حالات استخدام صناعية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128</a:t>
            </a:r>
            <a:endParaRPr lang="en-US" sz="900" dirty="0"/>
          </a:p>
        </p:txBody>
      </p:sp>
      <p:sp>
        <p:nvSpPr>
          <p:cNvPr id="7" name="Shape 4"/>
          <p:cNvSpPr/>
          <p:nvPr/>
        </p:nvSpPr>
        <p:spPr>
          <a:xfrm>
            <a:off x="502920" y="1389888"/>
            <a:ext cx="5455768" cy="2354580"/>
          </a:xfrm>
          <a:prstGeom prst="roundRect">
            <a:avLst>
              <a:gd name="adj" fmla="val 3107"/>
            </a:avLst>
          </a:prstGeom>
          <a:solidFill>
            <a:srgbClr val="F2F6F9"/>
          </a:solidFill>
          <a:ln w="12700">
            <a:solidFill>
              <a:srgbClr val="D9E2EA"/>
            </a:solidFill>
            <a:prstDash val="solid"/>
          </a:ln>
        </p:spPr>
      </p:sp>
      <p:sp>
        <p:nvSpPr>
          <p:cNvPr id="8" name="Shape 5"/>
          <p:cNvSpPr/>
          <p:nvPr/>
        </p:nvSpPr>
        <p:spPr>
          <a:xfrm>
            <a:off x="667512" y="1536192"/>
            <a:ext cx="310896" cy="310896"/>
          </a:xfrm>
          <a:prstGeom prst="ellipse">
            <a:avLst/>
          </a:prstGeom>
          <a:solidFill>
            <a:srgbClr val="00A79D"/>
          </a:solidFill>
          <a:ln/>
        </p:spPr>
      </p:sp>
      <p:sp>
        <p:nvSpPr>
          <p:cNvPr id="9" name="Text 6"/>
          <p:cNvSpPr/>
          <p:nvPr/>
        </p:nvSpPr>
        <p:spPr>
          <a:xfrm>
            <a:off x="667512"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088136"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Tamr Vision edge box</a:t>
            </a:r>
            <a:endParaRPr lang="en-US" sz="1250" dirty="0"/>
          </a:p>
        </p:txBody>
      </p:sp>
      <p:sp>
        <p:nvSpPr>
          <p:cNvPr id="11" name="Text 8"/>
          <p:cNvSpPr/>
          <p:nvPr/>
        </p:nvSpPr>
        <p:spPr>
          <a:xfrm>
            <a:off x="685800"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Classifier + detector as ONNX, INT8, under ONNX Runtime on an industrial PC — 62 FPS at 416², no frame ever leaves the plant.</a:t>
            </a:r>
            <a:endParaRPr lang="en-US" sz="1100" dirty="0"/>
          </a:p>
        </p:txBody>
      </p:sp>
      <p:sp>
        <p:nvSpPr>
          <p:cNvPr id="12" name="Shape 9"/>
          <p:cNvSpPr/>
          <p:nvPr/>
        </p:nvSpPr>
        <p:spPr>
          <a:xfrm>
            <a:off x="6233008" y="1389888"/>
            <a:ext cx="5455768" cy="2354580"/>
          </a:xfrm>
          <a:prstGeom prst="roundRect">
            <a:avLst>
              <a:gd name="adj" fmla="val 3107"/>
            </a:avLst>
          </a:prstGeom>
          <a:solidFill>
            <a:srgbClr val="F2F6F9"/>
          </a:solidFill>
          <a:ln w="12700">
            <a:solidFill>
              <a:srgbClr val="D9E2EA"/>
            </a:solidFill>
            <a:prstDash val="solid"/>
          </a:ln>
        </p:spPr>
      </p:sp>
      <p:sp>
        <p:nvSpPr>
          <p:cNvPr id="13" name="Shape 10"/>
          <p:cNvSpPr/>
          <p:nvPr/>
        </p:nvSpPr>
        <p:spPr>
          <a:xfrm>
            <a:off x="6397600" y="1536192"/>
            <a:ext cx="310896" cy="310896"/>
          </a:xfrm>
          <a:prstGeom prst="ellipse">
            <a:avLst/>
          </a:prstGeom>
          <a:solidFill>
            <a:srgbClr val="29ABE2"/>
          </a:solidFill>
          <a:ln/>
        </p:spPr>
      </p:sp>
      <p:sp>
        <p:nvSpPr>
          <p:cNvPr id="14" name="Text 11"/>
          <p:cNvSpPr/>
          <p:nvPr/>
        </p:nvSpPr>
        <p:spPr>
          <a:xfrm>
            <a:off x="639760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6818224" y="1499616"/>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Industrial-gate ANPR</a:t>
            </a:r>
            <a:endParaRPr lang="en-US" sz="1250" dirty="0"/>
          </a:p>
        </p:txBody>
      </p:sp>
      <p:sp>
        <p:nvSpPr>
          <p:cNvPr id="16" name="Text 13"/>
          <p:cNvSpPr/>
          <p:nvPr/>
        </p:nvSpPr>
        <p:spPr>
          <a:xfrm>
            <a:off x="6415888" y="1920240"/>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200 ms barrier-open budget forced edge inference; the cloud does only the plate-number lookup, not the vision.</a:t>
            </a:r>
            <a:endParaRPr lang="en-US" sz="1100" dirty="0"/>
          </a:p>
        </p:txBody>
      </p:sp>
      <p:sp>
        <p:nvSpPr>
          <p:cNvPr id="17" name="Shape 14"/>
          <p:cNvSpPr/>
          <p:nvPr/>
        </p:nvSpPr>
        <p:spPr>
          <a:xfrm>
            <a:off x="502920" y="4000500"/>
            <a:ext cx="5455768" cy="2354580"/>
          </a:xfrm>
          <a:prstGeom prst="roundRect">
            <a:avLst>
              <a:gd name="adj" fmla="val 3107"/>
            </a:avLst>
          </a:prstGeom>
          <a:solidFill>
            <a:srgbClr val="F2F6F9"/>
          </a:solidFill>
          <a:ln w="12700">
            <a:solidFill>
              <a:srgbClr val="D9E2EA"/>
            </a:solidFill>
            <a:prstDash val="solid"/>
          </a:ln>
        </p:spPr>
      </p:sp>
      <p:sp>
        <p:nvSpPr>
          <p:cNvPr id="18" name="Shape 15"/>
          <p:cNvSpPr/>
          <p:nvPr/>
        </p:nvSpPr>
        <p:spPr>
          <a:xfrm>
            <a:off x="667512" y="4146804"/>
            <a:ext cx="310896" cy="310896"/>
          </a:xfrm>
          <a:prstGeom prst="ellipse">
            <a:avLst/>
          </a:prstGeom>
          <a:solidFill>
            <a:srgbClr val="F58220"/>
          </a:solidFill>
          <a:ln/>
        </p:spPr>
      </p:sp>
      <p:sp>
        <p:nvSpPr>
          <p:cNvPr id="19" name="Text 16"/>
          <p:cNvSpPr/>
          <p:nvPr/>
        </p:nvSpPr>
        <p:spPr>
          <a:xfrm>
            <a:off x="667512"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1088136"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Retail shelf monitoring</a:t>
            </a:r>
            <a:endParaRPr lang="en-US" sz="1250" dirty="0"/>
          </a:p>
        </p:txBody>
      </p:sp>
      <p:sp>
        <p:nvSpPr>
          <p:cNvPr id="21" name="Text 18"/>
          <p:cNvSpPr/>
          <p:nvPr/>
        </p:nvSpPr>
        <p:spPr>
          <a:xfrm>
            <a:off x="685800"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Quantised detectors on in-store boxes sync structured detections, not video — bandwidth cut 40×, PDPL posture signed off.</a:t>
            </a:r>
            <a:endParaRPr lang="en-US" sz="1100" dirty="0"/>
          </a:p>
        </p:txBody>
      </p:sp>
      <p:sp>
        <p:nvSpPr>
          <p:cNvPr id="22" name="Shape 19"/>
          <p:cNvSpPr/>
          <p:nvPr/>
        </p:nvSpPr>
        <p:spPr>
          <a:xfrm>
            <a:off x="6233008" y="4000500"/>
            <a:ext cx="5455768" cy="2354580"/>
          </a:xfrm>
          <a:prstGeom prst="roundRect">
            <a:avLst>
              <a:gd name="adj" fmla="val 3107"/>
            </a:avLst>
          </a:prstGeom>
          <a:solidFill>
            <a:srgbClr val="F2F6F9"/>
          </a:solidFill>
          <a:ln w="12700">
            <a:solidFill>
              <a:srgbClr val="D9E2EA"/>
            </a:solidFill>
            <a:prstDash val="solid"/>
          </a:ln>
        </p:spPr>
      </p:sp>
      <p:sp>
        <p:nvSpPr>
          <p:cNvPr id="23" name="Shape 20"/>
          <p:cNvSpPr/>
          <p:nvPr/>
        </p:nvSpPr>
        <p:spPr>
          <a:xfrm>
            <a:off x="6397600" y="4146804"/>
            <a:ext cx="310896" cy="310896"/>
          </a:xfrm>
          <a:prstGeom prst="ellipse">
            <a:avLst/>
          </a:prstGeom>
          <a:solidFill>
            <a:srgbClr val="8DC63F"/>
          </a:solidFill>
          <a:ln/>
        </p:spPr>
      </p:sp>
      <p:sp>
        <p:nvSpPr>
          <p:cNvPr id="24" name="Text 21"/>
          <p:cNvSpPr/>
          <p:nvPr/>
        </p:nvSpPr>
        <p:spPr>
          <a:xfrm>
            <a:off x="6397600"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p:nvPr/>
        </p:nvSpPr>
        <p:spPr>
          <a:xfrm>
            <a:off x="6818224" y="4110228"/>
            <a:ext cx="472424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The pilot-killer, prevented</a:t>
            </a:r>
            <a:endParaRPr lang="en-US" sz="1250" dirty="0"/>
          </a:p>
        </p:txBody>
      </p:sp>
      <p:sp>
        <p:nvSpPr>
          <p:cNvPr id="26" name="Text 23"/>
          <p:cNvSpPr/>
          <p:nvPr/>
        </p:nvSpPr>
        <p:spPr>
          <a:xfrm>
            <a:off x="6415888" y="4530852"/>
            <a:ext cx="509000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A model that demos at 31 FPS on an RTX card and delivers 4 FPS on the plant's hardware — the most common regional failure.</a:t>
            </a:r>
            <a:endParaRPr lang="en-US" sz="11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7 — Learning objectives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أهداف التعلم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129</a:t>
            </a:r>
            <a:endParaRPr lang="en-US" sz="900" dirty="0"/>
          </a:p>
        </p:txBody>
      </p:sp>
      <p:sp>
        <p:nvSpPr>
          <p:cNvPr id="7" name="Shape 4"/>
          <p:cNvSpPr/>
          <p:nvPr/>
        </p:nvSpPr>
        <p:spPr>
          <a:xfrm>
            <a:off x="502920" y="1499616"/>
            <a:ext cx="11183112" cy="832104"/>
          </a:xfrm>
          <a:prstGeom prst="roundRect">
            <a:avLst>
              <a:gd name="adj" fmla="val 7692"/>
            </a:avLst>
          </a:prstGeom>
          <a:solidFill>
            <a:srgbClr val="FAFCFE"/>
          </a:solidFill>
          <a:ln w="9525">
            <a:solidFill>
              <a:srgbClr val="D9E2EA"/>
            </a:solidFill>
            <a:prstDash val="solid"/>
          </a:ln>
        </p:spPr>
      </p:sp>
      <p:sp>
        <p:nvSpPr>
          <p:cNvPr id="8" name="Shape 5"/>
          <p:cNvSpPr/>
          <p:nvPr/>
        </p:nvSpPr>
        <p:spPr>
          <a:xfrm>
            <a:off x="649224" y="1751076"/>
            <a:ext cx="329184" cy="329184"/>
          </a:xfrm>
          <a:prstGeom prst="ellipse">
            <a:avLst/>
          </a:prstGeom>
          <a:solidFill>
            <a:srgbClr val="00A79D"/>
          </a:solidFill>
          <a:ln/>
        </p:spPr>
      </p:sp>
      <p:sp>
        <p:nvSpPr>
          <p:cNvPr id="9" name="Text 6"/>
          <p:cNvSpPr/>
          <p:nvPr/>
        </p:nvSpPr>
        <p:spPr>
          <a:xfrm>
            <a:off x="649224" y="175107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7.1</a:t>
            </a:r>
            <a:endParaRPr lang="en-US" sz="1150" dirty="0"/>
          </a:p>
        </p:txBody>
      </p:sp>
      <p:sp>
        <p:nvSpPr>
          <p:cNvPr id="10" name="Text 7"/>
          <p:cNvSpPr/>
          <p:nvPr/>
        </p:nvSpPr>
        <p:spPr>
          <a:xfrm>
            <a:off x="1143000" y="149961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Export PyTorch and Ultralytics models to ONNX and verify numerical parity</a:t>
            </a:r>
            <a:endParaRPr lang="en-US" sz="1250" dirty="0"/>
          </a:p>
        </p:txBody>
      </p:sp>
      <p:sp>
        <p:nvSpPr>
          <p:cNvPr id="11" name="Shape 8"/>
          <p:cNvSpPr/>
          <p:nvPr/>
        </p:nvSpPr>
        <p:spPr>
          <a:xfrm>
            <a:off x="9646920" y="1741932"/>
            <a:ext cx="658368" cy="310896"/>
          </a:xfrm>
          <a:prstGeom prst="roundRect">
            <a:avLst>
              <a:gd name="adj" fmla="val 50000"/>
            </a:avLst>
          </a:prstGeom>
          <a:solidFill>
            <a:srgbClr val="E9F6F5"/>
          </a:solidFill>
          <a:ln w="9525">
            <a:solidFill>
              <a:srgbClr val="00A79D"/>
            </a:solidFill>
            <a:prstDash val="solid"/>
          </a:ln>
        </p:spPr>
      </p:sp>
      <p:sp>
        <p:nvSpPr>
          <p:cNvPr id="12" name="Text 9"/>
          <p:cNvSpPr/>
          <p:nvPr/>
        </p:nvSpPr>
        <p:spPr>
          <a:xfrm>
            <a:off x="9646920" y="174193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LO6</a:t>
            </a:r>
            <a:endParaRPr lang="en-US" sz="950" dirty="0"/>
          </a:p>
        </p:txBody>
      </p:sp>
      <p:sp>
        <p:nvSpPr>
          <p:cNvPr id="13" name="Shape 10"/>
          <p:cNvSpPr/>
          <p:nvPr/>
        </p:nvSpPr>
        <p:spPr>
          <a:xfrm>
            <a:off x="502920" y="2459736"/>
            <a:ext cx="11183112" cy="832104"/>
          </a:xfrm>
          <a:prstGeom prst="roundRect">
            <a:avLst>
              <a:gd name="adj" fmla="val 7692"/>
            </a:avLst>
          </a:prstGeom>
          <a:solidFill>
            <a:srgbClr val="F2F6F9"/>
          </a:solidFill>
          <a:ln w="9525">
            <a:solidFill>
              <a:srgbClr val="D9E2EA"/>
            </a:solidFill>
            <a:prstDash val="solid"/>
          </a:ln>
        </p:spPr>
      </p:sp>
      <p:sp>
        <p:nvSpPr>
          <p:cNvPr id="14" name="Shape 11"/>
          <p:cNvSpPr/>
          <p:nvPr/>
        </p:nvSpPr>
        <p:spPr>
          <a:xfrm>
            <a:off x="649224" y="2711196"/>
            <a:ext cx="329184" cy="329184"/>
          </a:xfrm>
          <a:prstGeom prst="ellipse">
            <a:avLst/>
          </a:prstGeom>
          <a:solidFill>
            <a:srgbClr val="00A79D"/>
          </a:solidFill>
          <a:ln/>
        </p:spPr>
      </p:sp>
      <p:sp>
        <p:nvSpPr>
          <p:cNvPr id="15" name="Text 12"/>
          <p:cNvSpPr/>
          <p:nvPr/>
        </p:nvSpPr>
        <p:spPr>
          <a:xfrm>
            <a:off x="649224" y="271119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7.2</a:t>
            </a:r>
            <a:endParaRPr lang="en-US" sz="1150" dirty="0"/>
          </a:p>
        </p:txBody>
      </p:sp>
      <p:sp>
        <p:nvSpPr>
          <p:cNvPr id="16" name="Text 13"/>
          <p:cNvSpPr/>
          <p:nvPr/>
        </p:nvSpPr>
        <p:spPr>
          <a:xfrm>
            <a:off x="1143000" y="245973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Apply post-training quantisation (dynamic, static INT8) and measure the accuracy/latency trade</a:t>
            </a:r>
            <a:endParaRPr lang="en-US" sz="1250" dirty="0"/>
          </a:p>
        </p:txBody>
      </p:sp>
      <p:sp>
        <p:nvSpPr>
          <p:cNvPr id="17" name="Shape 14"/>
          <p:cNvSpPr/>
          <p:nvPr/>
        </p:nvSpPr>
        <p:spPr>
          <a:xfrm>
            <a:off x="9646920" y="2702052"/>
            <a:ext cx="658368" cy="310896"/>
          </a:xfrm>
          <a:prstGeom prst="roundRect">
            <a:avLst>
              <a:gd name="adj" fmla="val 50000"/>
            </a:avLst>
          </a:prstGeom>
          <a:solidFill>
            <a:srgbClr val="E9F6F5"/>
          </a:solidFill>
          <a:ln w="9525">
            <a:solidFill>
              <a:srgbClr val="00A79D"/>
            </a:solidFill>
            <a:prstDash val="solid"/>
          </a:ln>
        </p:spPr>
      </p:sp>
      <p:sp>
        <p:nvSpPr>
          <p:cNvPr id="18" name="Text 15"/>
          <p:cNvSpPr/>
          <p:nvPr/>
        </p:nvSpPr>
        <p:spPr>
          <a:xfrm>
            <a:off x="9646920"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LO6</a:t>
            </a:r>
            <a:endParaRPr lang="en-US" sz="950" dirty="0"/>
          </a:p>
        </p:txBody>
      </p:sp>
      <p:sp>
        <p:nvSpPr>
          <p:cNvPr id="19" name="Shape 16"/>
          <p:cNvSpPr/>
          <p:nvPr/>
        </p:nvSpPr>
        <p:spPr>
          <a:xfrm>
            <a:off x="10360152" y="2702052"/>
            <a:ext cx="658368" cy="310896"/>
          </a:xfrm>
          <a:prstGeom prst="roundRect">
            <a:avLst>
              <a:gd name="adj" fmla="val 50000"/>
            </a:avLst>
          </a:prstGeom>
          <a:solidFill>
            <a:srgbClr val="E9F6F5"/>
          </a:solidFill>
          <a:ln w="9525">
            <a:solidFill>
              <a:srgbClr val="00A79D"/>
            </a:solidFill>
            <a:prstDash val="solid"/>
          </a:ln>
        </p:spPr>
      </p:sp>
      <p:sp>
        <p:nvSpPr>
          <p:cNvPr id="20" name="Text 17"/>
          <p:cNvSpPr/>
          <p:nvPr/>
        </p:nvSpPr>
        <p:spPr>
          <a:xfrm>
            <a:off x="10360152" y="270205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21" name="Shape 18"/>
          <p:cNvSpPr/>
          <p:nvPr/>
        </p:nvSpPr>
        <p:spPr>
          <a:xfrm>
            <a:off x="502920" y="3419856"/>
            <a:ext cx="11183112" cy="832104"/>
          </a:xfrm>
          <a:prstGeom prst="roundRect">
            <a:avLst>
              <a:gd name="adj" fmla="val 7692"/>
            </a:avLst>
          </a:prstGeom>
          <a:solidFill>
            <a:srgbClr val="FAFCFE"/>
          </a:solidFill>
          <a:ln w="9525">
            <a:solidFill>
              <a:srgbClr val="D9E2EA"/>
            </a:solidFill>
            <a:prstDash val="solid"/>
          </a:ln>
        </p:spPr>
      </p:sp>
      <p:sp>
        <p:nvSpPr>
          <p:cNvPr id="22" name="Shape 19"/>
          <p:cNvSpPr/>
          <p:nvPr/>
        </p:nvSpPr>
        <p:spPr>
          <a:xfrm>
            <a:off x="649224" y="3671316"/>
            <a:ext cx="329184" cy="329184"/>
          </a:xfrm>
          <a:prstGeom prst="ellipse">
            <a:avLst/>
          </a:prstGeom>
          <a:solidFill>
            <a:srgbClr val="00A79D"/>
          </a:solidFill>
          <a:ln/>
        </p:spPr>
      </p:sp>
      <p:sp>
        <p:nvSpPr>
          <p:cNvPr id="23" name="Text 20"/>
          <p:cNvSpPr/>
          <p:nvPr/>
        </p:nvSpPr>
        <p:spPr>
          <a:xfrm>
            <a:off x="649224" y="367131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7.3</a:t>
            </a:r>
            <a:endParaRPr lang="en-US" sz="1150" dirty="0"/>
          </a:p>
        </p:txBody>
      </p:sp>
      <p:sp>
        <p:nvSpPr>
          <p:cNvPr id="24" name="Text 21"/>
          <p:cNvSpPr/>
          <p:nvPr/>
        </p:nvSpPr>
        <p:spPr>
          <a:xfrm>
            <a:off x="1143000" y="341985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Engineer input size and execution-provider choices against a written latency budget</a:t>
            </a:r>
            <a:endParaRPr lang="en-US" sz="1250" dirty="0"/>
          </a:p>
        </p:txBody>
      </p:sp>
      <p:sp>
        <p:nvSpPr>
          <p:cNvPr id="25" name="Shape 22"/>
          <p:cNvSpPr/>
          <p:nvPr/>
        </p:nvSpPr>
        <p:spPr>
          <a:xfrm>
            <a:off x="9646920" y="3662172"/>
            <a:ext cx="658368" cy="310896"/>
          </a:xfrm>
          <a:prstGeom prst="roundRect">
            <a:avLst>
              <a:gd name="adj" fmla="val 50000"/>
            </a:avLst>
          </a:prstGeom>
          <a:solidFill>
            <a:srgbClr val="E9F6F5"/>
          </a:solidFill>
          <a:ln w="9525">
            <a:solidFill>
              <a:srgbClr val="00A79D"/>
            </a:solidFill>
            <a:prstDash val="solid"/>
          </a:ln>
        </p:spPr>
      </p:sp>
      <p:sp>
        <p:nvSpPr>
          <p:cNvPr id="26" name="Text 23"/>
          <p:cNvSpPr/>
          <p:nvPr/>
        </p:nvSpPr>
        <p:spPr>
          <a:xfrm>
            <a:off x="9646920"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LO6</a:t>
            </a:r>
            <a:endParaRPr lang="en-US" sz="950" dirty="0"/>
          </a:p>
        </p:txBody>
      </p:sp>
      <p:sp>
        <p:nvSpPr>
          <p:cNvPr id="27" name="Shape 24"/>
          <p:cNvSpPr/>
          <p:nvPr/>
        </p:nvSpPr>
        <p:spPr>
          <a:xfrm>
            <a:off x="10360152" y="3662172"/>
            <a:ext cx="658368" cy="310896"/>
          </a:xfrm>
          <a:prstGeom prst="roundRect">
            <a:avLst>
              <a:gd name="adj" fmla="val 50000"/>
            </a:avLst>
          </a:prstGeom>
          <a:solidFill>
            <a:srgbClr val="E9F6F5"/>
          </a:solidFill>
          <a:ln w="9525">
            <a:solidFill>
              <a:srgbClr val="00A79D"/>
            </a:solidFill>
            <a:prstDash val="solid"/>
          </a:ln>
        </p:spPr>
      </p:sp>
      <p:sp>
        <p:nvSpPr>
          <p:cNvPr id="28" name="Text 25"/>
          <p:cNvSpPr/>
          <p:nvPr/>
        </p:nvSpPr>
        <p:spPr>
          <a:xfrm>
            <a:off x="10360152" y="366217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LO2</a:t>
            </a:r>
            <a:endParaRPr lang="en-US" sz="950" dirty="0"/>
          </a:p>
        </p:txBody>
      </p:sp>
      <p:sp>
        <p:nvSpPr>
          <p:cNvPr id="29" name="Shape 26"/>
          <p:cNvSpPr/>
          <p:nvPr/>
        </p:nvSpPr>
        <p:spPr>
          <a:xfrm>
            <a:off x="502920" y="4379976"/>
            <a:ext cx="11183112" cy="832104"/>
          </a:xfrm>
          <a:prstGeom prst="roundRect">
            <a:avLst>
              <a:gd name="adj" fmla="val 7692"/>
            </a:avLst>
          </a:prstGeom>
          <a:solidFill>
            <a:srgbClr val="F2F6F9"/>
          </a:solidFill>
          <a:ln w="9525">
            <a:solidFill>
              <a:srgbClr val="D9E2EA"/>
            </a:solidFill>
            <a:prstDash val="solid"/>
          </a:ln>
        </p:spPr>
      </p:sp>
      <p:sp>
        <p:nvSpPr>
          <p:cNvPr id="30" name="Shape 27"/>
          <p:cNvSpPr/>
          <p:nvPr/>
        </p:nvSpPr>
        <p:spPr>
          <a:xfrm>
            <a:off x="649224" y="4631436"/>
            <a:ext cx="329184" cy="329184"/>
          </a:xfrm>
          <a:prstGeom prst="ellipse">
            <a:avLst/>
          </a:prstGeom>
          <a:solidFill>
            <a:srgbClr val="00A79D"/>
          </a:solidFill>
          <a:ln/>
        </p:spPr>
      </p:sp>
      <p:sp>
        <p:nvSpPr>
          <p:cNvPr id="31" name="Text 28"/>
          <p:cNvSpPr/>
          <p:nvPr/>
        </p:nvSpPr>
        <p:spPr>
          <a:xfrm>
            <a:off x="649224" y="463143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7.4</a:t>
            </a:r>
            <a:endParaRPr lang="en-US" sz="1150" dirty="0"/>
          </a:p>
        </p:txBody>
      </p:sp>
      <p:sp>
        <p:nvSpPr>
          <p:cNvPr id="32" name="Text 29"/>
          <p:cNvSpPr/>
          <p:nvPr/>
        </p:nvSpPr>
        <p:spPr>
          <a:xfrm>
            <a:off x="1143000" y="437997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Benchmark inference honestly: warm-up, percentiles, end-to-end pipeline measurement</a:t>
            </a:r>
            <a:endParaRPr lang="en-US" sz="1250" dirty="0"/>
          </a:p>
        </p:txBody>
      </p:sp>
      <p:sp>
        <p:nvSpPr>
          <p:cNvPr id="33" name="Shape 30"/>
          <p:cNvSpPr/>
          <p:nvPr/>
        </p:nvSpPr>
        <p:spPr>
          <a:xfrm>
            <a:off x="9646920" y="4622292"/>
            <a:ext cx="658368" cy="310896"/>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9646920"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LO6</a:t>
            </a:r>
            <a:endParaRPr lang="en-US" sz="950" dirty="0"/>
          </a:p>
        </p:txBody>
      </p:sp>
      <p:sp>
        <p:nvSpPr>
          <p:cNvPr id="35" name="Shape 32"/>
          <p:cNvSpPr/>
          <p:nvPr/>
        </p:nvSpPr>
        <p:spPr>
          <a:xfrm>
            <a:off x="10360152" y="4622292"/>
            <a:ext cx="658368" cy="310896"/>
          </a:xfrm>
          <a:prstGeom prst="roundRect">
            <a:avLst>
              <a:gd name="adj" fmla="val 50000"/>
            </a:avLst>
          </a:prstGeom>
          <a:solidFill>
            <a:srgbClr val="E9F6F5"/>
          </a:solidFill>
          <a:ln w="9525">
            <a:solidFill>
              <a:srgbClr val="00A79D"/>
            </a:solidFill>
            <a:prstDash val="solid"/>
          </a:ln>
        </p:spPr>
      </p:sp>
      <p:sp>
        <p:nvSpPr>
          <p:cNvPr id="36" name="Text 33"/>
          <p:cNvSpPr/>
          <p:nvPr/>
        </p:nvSpPr>
        <p:spPr>
          <a:xfrm>
            <a:off x="10360152" y="462229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LO5</a:t>
            </a:r>
            <a:endParaRPr lang="en-US" sz="950" dirty="0"/>
          </a:p>
        </p:txBody>
      </p:sp>
      <p:sp>
        <p:nvSpPr>
          <p:cNvPr id="37" name="Shape 34"/>
          <p:cNvSpPr/>
          <p:nvPr/>
        </p:nvSpPr>
        <p:spPr>
          <a:xfrm>
            <a:off x="502920" y="5340096"/>
            <a:ext cx="11183112" cy="832104"/>
          </a:xfrm>
          <a:prstGeom prst="roundRect">
            <a:avLst>
              <a:gd name="adj" fmla="val 7692"/>
            </a:avLst>
          </a:prstGeom>
          <a:solidFill>
            <a:srgbClr val="FAFCFE"/>
          </a:solidFill>
          <a:ln w="9525">
            <a:solidFill>
              <a:srgbClr val="D9E2EA"/>
            </a:solidFill>
            <a:prstDash val="solid"/>
          </a:ln>
        </p:spPr>
      </p:sp>
      <p:sp>
        <p:nvSpPr>
          <p:cNvPr id="38" name="Shape 35"/>
          <p:cNvSpPr/>
          <p:nvPr/>
        </p:nvSpPr>
        <p:spPr>
          <a:xfrm>
            <a:off x="649224" y="5591556"/>
            <a:ext cx="329184" cy="329184"/>
          </a:xfrm>
          <a:prstGeom prst="ellipse">
            <a:avLst/>
          </a:prstGeom>
          <a:solidFill>
            <a:srgbClr val="00A79D"/>
          </a:solidFill>
          <a:ln/>
        </p:spPr>
      </p:sp>
      <p:sp>
        <p:nvSpPr>
          <p:cNvPr id="39" name="Text 36"/>
          <p:cNvSpPr/>
          <p:nvPr/>
        </p:nvSpPr>
        <p:spPr>
          <a:xfrm>
            <a:off x="649224" y="559155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7.5</a:t>
            </a:r>
            <a:endParaRPr lang="en-US" sz="1150" dirty="0"/>
          </a:p>
        </p:txBody>
      </p:sp>
      <p:sp>
        <p:nvSpPr>
          <p:cNvPr id="40" name="Text 37"/>
          <p:cNvSpPr/>
          <p:nvPr/>
        </p:nvSpPr>
        <p:spPr>
          <a:xfrm>
            <a:off x="1143000" y="5340096"/>
            <a:ext cx="8321040" cy="83210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Design the edge inference loop: preprocessing parity, fallbacks, monitoring hooks</a:t>
            </a:r>
            <a:endParaRPr lang="en-US" sz="1250" dirty="0"/>
          </a:p>
        </p:txBody>
      </p:sp>
      <p:sp>
        <p:nvSpPr>
          <p:cNvPr id="41" name="Shape 38"/>
          <p:cNvSpPr/>
          <p:nvPr/>
        </p:nvSpPr>
        <p:spPr>
          <a:xfrm>
            <a:off x="9646920" y="5582412"/>
            <a:ext cx="658368" cy="310896"/>
          </a:xfrm>
          <a:prstGeom prst="roundRect">
            <a:avLst>
              <a:gd name="adj" fmla="val 50000"/>
            </a:avLst>
          </a:prstGeom>
          <a:solidFill>
            <a:srgbClr val="E9F6F5"/>
          </a:solidFill>
          <a:ln w="9525">
            <a:solidFill>
              <a:srgbClr val="00A79D"/>
            </a:solidFill>
            <a:prstDash val="solid"/>
          </a:ln>
        </p:spPr>
      </p:sp>
      <p:sp>
        <p:nvSpPr>
          <p:cNvPr id="42" name="Text 39"/>
          <p:cNvSpPr/>
          <p:nvPr/>
        </p:nvSpPr>
        <p:spPr>
          <a:xfrm>
            <a:off x="9646920"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LO6</a:t>
            </a:r>
            <a:endParaRPr lang="en-US" sz="950" dirty="0"/>
          </a:p>
        </p:txBody>
      </p:sp>
      <p:sp>
        <p:nvSpPr>
          <p:cNvPr id="43" name="Shape 40"/>
          <p:cNvSpPr/>
          <p:nvPr/>
        </p:nvSpPr>
        <p:spPr>
          <a:xfrm>
            <a:off x="10360152" y="5582412"/>
            <a:ext cx="658368" cy="310896"/>
          </a:xfrm>
          <a:prstGeom prst="roundRect">
            <a:avLst>
              <a:gd name="adj" fmla="val 50000"/>
            </a:avLst>
          </a:prstGeom>
          <a:solidFill>
            <a:srgbClr val="E9F6F5"/>
          </a:solidFill>
          <a:ln w="9525">
            <a:solidFill>
              <a:srgbClr val="00A79D"/>
            </a:solidFill>
            <a:prstDash val="solid"/>
          </a:ln>
        </p:spPr>
      </p:sp>
      <p:sp>
        <p:nvSpPr>
          <p:cNvPr id="44" name="Text 41"/>
          <p:cNvSpPr/>
          <p:nvPr/>
        </p:nvSpPr>
        <p:spPr>
          <a:xfrm>
            <a:off x="10360152" y="5582412"/>
            <a:ext cx="658368" cy="310896"/>
          </a:xfrm>
          <a:prstGeom prst="rect">
            <a:avLst/>
          </a:prstGeom>
          <a:noFill/>
          <a:ln/>
        </p:spPr>
        <p:txBody>
          <a:bodyPr wrap="square" lIns="0" tIns="0" rIns="0" bIns="0"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LO1</a:t>
            </a:r>
            <a:endParaRPr lang="en-US" sz="9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Cloud or edge? A table, not a preference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سحابة أم حافة؟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130</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Regional cloud RTT alone eats a third of the 380 ms budget with no jitter allowance — hybrid is the default pattern.</a:t>
            </a:r>
            <a:endParaRPr lang="en-US" sz="1250" dirty="0"/>
          </a:p>
        </p:txBody>
      </p:sp>
      <p:sp>
        <p:nvSpPr>
          <p:cNvPr id="8" name="Shape 5"/>
          <p:cNvSpPr/>
          <p:nvPr/>
        </p:nvSpPr>
        <p:spPr>
          <a:xfrm>
            <a:off x="502920" y="1892808"/>
            <a:ext cx="5432908" cy="2880360"/>
          </a:xfrm>
          <a:prstGeom prst="roundRect">
            <a:avLst>
              <a:gd name="adj" fmla="val 2857"/>
            </a:avLst>
          </a:prstGeom>
          <a:solidFill>
            <a:srgbClr val="F2F6F9"/>
          </a:solidFill>
          <a:ln w="12700">
            <a:solidFill>
              <a:srgbClr val="D9E2EA"/>
            </a:solidFill>
            <a:prstDash val="solid"/>
          </a:ln>
        </p:spPr>
      </p:sp>
      <p:sp>
        <p:nvSpPr>
          <p:cNvPr id="9" name="Shape 6"/>
          <p:cNvSpPr/>
          <p:nvPr/>
        </p:nvSpPr>
        <p:spPr>
          <a:xfrm>
            <a:off x="704088" y="2084832"/>
            <a:ext cx="146304" cy="146304"/>
          </a:xfrm>
          <a:prstGeom prst="ellipse">
            <a:avLst/>
          </a:prstGeom>
          <a:solidFill>
            <a:srgbClr val="00A79D"/>
          </a:solidFill>
          <a:ln/>
        </p:spPr>
      </p:sp>
      <p:sp>
        <p:nvSpPr>
          <p:cNvPr id="10" name="Text 7"/>
          <p:cNvSpPr/>
          <p:nvPr/>
        </p:nvSpPr>
        <p:spPr>
          <a:xfrm>
            <a:off x="960120" y="198424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Cloud GPU endpoint</a:t>
            </a:r>
            <a:endParaRPr lang="en-US" sz="1400" dirty="0"/>
          </a:p>
        </p:txBody>
      </p:sp>
      <p:sp>
        <p:nvSpPr>
          <p:cNvPr id="11" name="Text 8"/>
          <p:cNvSpPr/>
          <p:nvPr/>
        </p:nvSpPr>
        <p:spPr>
          <a:xfrm>
            <a:off x="758952" y="2423160"/>
            <a:ext cx="4975708" cy="2221992"/>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Latency: network RTT 60–150 ms regional + queue</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Full video stream up — bandwidth is expensive</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Frames leave premises — PDPL review needed</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Elastic scaling, but per-request cost forever</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Model updates trivial — redeploy the endpoint</a:t>
            </a:r>
            <a:endParaRPr lang="en-US" sz="1150" dirty="0"/>
          </a:p>
        </p:txBody>
      </p:sp>
      <p:sp>
        <p:nvSpPr>
          <p:cNvPr id="12" name="Shape 9"/>
          <p:cNvSpPr/>
          <p:nvPr/>
        </p:nvSpPr>
        <p:spPr>
          <a:xfrm>
            <a:off x="6255868" y="1892808"/>
            <a:ext cx="5432908" cy="2880360"/>
          </a:xfrm>
          <a:prstGeom prst="roundRect">
            <a:avLst>
              <a:gd name="adj" fmla="val 2857"/>
            </a:avLst>
          </a:prstGeom>
          <a:solidFill>
            <a:srgbClr val="F2F6F9"/>
          </a:solidFill>
          <a:ln w="12700">
            <a:solidFill>
              <a:srgbClr val="D9E2EA"/>
            </a:solidFill>
            <a:prstDash val="solid"/>
          </a:ln>
        </p:spPr>
      </p:sp>
      <p:sp>
        <p:nvSpPr>
          <p:cNvPr id="13" name="Shape 10"/>
          <p:cNvSpPr/>
          <p:nvPr/>
        </p:nvSpPr>
        <p:spPr>
          <a:xfrm>
            <a:off x="6457036" y="2084832"/>
            <a:ext cx="146304" cy="146304"/>
          </a:xfrm>
          <a:prstGeom prst="ellipse">
            <a:avLst/>
          </a:prstGeom>
          <a:solidFill>
            <a:srgbClr val="29ABE2"/>
          </a:solidFill>
          <a:ln/>
        </p:spPr>
      </p:sp>
      <p:sp>
        <p:nvSpPr>
          <p:cNvPr id="14" name="Text 11"/>
          <p:cNvSpPr/>
          <p:nvPr/>
        </p:nvSpPr>
        <p:spPr>
          <a:xfrm>
            <a:off x="6713068" y="1984248"/>
            <a:ext cx="4838548" cy="365760"/>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Edge box on the line</a:t>
            </a:r>
            <a:endParaRPr lang="en-US" sz="1400" dirty="0"/>
          </a:p>
        </p:txBody>
      </p:sp>
      <p:sp>
        <p:nvSpPr>
          <p:cNvPr id="15" name="Text 12"/>
          <p:cNvSpPr/>
          <p:nvPr/>
        </p:nvSpPr>
        <p:spPr>
          <a:xfrm>
            <a:off x="6511900" y="2423160"/>
            <a:ext cx="4975708" cy="2221992"/>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Local, deterministic latency (&lt; 20 ms)</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Structured events only leave the box</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Frames stay on site — residency by design</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Capex once per line, fixed cost</a:t>
            </a:r>
            <a:endParaRPr lang="en-US" sz="1150" dirty="0"/>
          </a:p>
          <a:p>
            <a:pPr marL="152400" indent="-152400">
              <a:spcAft>
                <a:spcPts val="700"/>
              </a:spcAft>
              <a:buSzPct val="100000"/>
              <a:buChar char="•"/>
            </a:pPr>
            <a:r>
              <a:rPr lang="en-US" sz="1150" dirty="0">
                <a:solidFill>
                  <a:srgbClr val="23293B"/>
                </a:solidFill>
                <a:latin typeface="Calibri" pitchFamily="34" charset="0"/>
                <a:ea typeface="Calibri" pitchFamily="34" charset="-122"/>
                <a:cs typeface="Calibri" pitchFamily="34" charset="-120"/>
              </a:rPr>
              <a:t>Hardware is yours: thermal, dust, power, security</a:t>
            </a:r>
            <a:endParaRPr lang="en-US" sz="1150" dirty="0"/>
          </a:p>
        </p:txBody>
      </p:sp>
      <p:sp>
        <p:nvSpPr>
          <p:cNvPr id="16" name="Shape 13"/>
          <p:cNvSpPr/>
          <p:nvPr/>
        </p:nvSpPr>
        <p:spPr>
          <a:xfrm>
            <a:off x="2717140" y="4937760"/>
            <a:ext cx="6757416" cy="457200"/>
          </a:xfrm>
          <a:prstGeom prst="roundRect">
            <a:avLst>
              <a:gd name="adj" fmla="val 50000"/>
            </a:avLst>
          </a:prstGeom>
          <a:solidFill>
            <a:srgbClr val="FEF3E7"/>
          </a:solidFill>
          <a:ln w="15875">
            <a:solidFill>
              <a:srgbClr val="F58220"/>
            </a:solidFill>
            <a:prstDash val="solid"/>
          </a:ln>
        </p:spPr>
      </p:sp>
      <p:sp>
        <p:nvSpPr>
          <p:cNvPr id="17" name="Text 14"/>
          <p:cNvSpPr/>
          <p:nvPr/>
        </p:nvSpPr>
        <p:spPr>
          <a:xfrm>
            <a:off x="2808580" y="4937760"/>
            <a:ext cx="6574536" cy="457200"/>
          </a:xfrm>
          <a:prstGeom prst="rect">
            <a:avLst/>
          </a:prstGeom>
          <a:noFill/>
          <a:ln/>
        </p:spPr>
        <p:txBody>
          <a:bodyPr wrap="square" lIns="0" tIns="0" rIns="0" bIns="0" rtlCol="0" anchor="ctr"/>
          <a:lstStyle/>
          <a:p>
            <a:pPr algn="ctr" indent="0" marL="0">
              <a:buNone/>
            </a:pPr>
            <a:r>
              <a:rPr lang="en-US" sz="1200" b="1" dirty="0">
                <a:solidFill>
                  <a:srgbClr val="B35A0F"/>
                </a:solidFill>
                <a:latin typeface="Calibri" pitchFamily="34" charset="0"/>
                <a:ea typeface="Calibri" pitchFamily="34" charset="-122"/>
                <a:cs typeface="Calibri" pitchFamily="34" charset="-120"/>
              </a:rPr>
              <a:t>Edge wins the 380 ms gate; cloud keeps telemetry, retraining, the flywheel</a:t>
            </a:r>
            <a:endParaRPr lang="en-US" sz="12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ONNX export is a code change; parity is its test</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تصدير ONNX واختبار التطابق</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131</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Rule 1 — parity or it didn't happen</a:t>
            </a:r>
            <a:endParaRPr lang="en-US" sz="1400" dirty="0"/>
          </a:p>
        </p:txBody>
      </p:sp>
      <p:sp>
        <p:nvSpPr>
          <p:cNvPr id="10" name="Text 7"/>
          <p:cNvSpPr/>
          <p:nvPr/>
        </p:nvSpPr>
        <p:spPr>
          <a:xfrm>
            <a:off x="1005840" y="179679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N real val images through PyTorch and ORT: max diff &lt; 1e-4 AND zero decision flips.</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Rule 2 — the contract crosses too</a:t>
            </a:r>
            <a:endParaRPr lang="en-US" sz="1400" dirty="0"/>
          </a:p>
        </p:txBody>
      </p:sp>
      <p:sp>
        <p:nvSpPr>
          <p:cNvPr id="14" name="Text 11"/>
          <p:cNvSpPr/>
          <p:nvPr/>
        </p:nvSpPr>
        <p:spPr>
          <a:xfrm>
            <a:off x="1005840" y="298551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wrapper reimplements eval_tf() in OpenCV; equivalence-test it on real images.</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Keep NMS out of the graph</a:t>
            </a:r>
            <a:endParaRPr lang="en-US" sz="1400" dirty="0"/>
          </a:p>
        </p:txBody>
      </p:sp>
      <p:sp>
        <p:nvSpPr>
          <p:cNvPr id="18" name="Text 15"/>
          <p:cNvSpPr/>
          <p:nvPr/>
        </p:nvSpPr>
        <p:spPr>
          <a:xfrm>
            <a:off x="1005840" y="417423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Export nms=False — the operating point stays tunable in config (M3), not baked in.</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Fix shapes on a single-camera line</a:t>
            </a:r>
            <a:endParaRPr lang="en-US" sz="1400" dirty="0"/>
          </a:p>
        </p:txBody>
      </p:sp>
      <p:sp>
        <p:nvSpPr>
          <p:cNvPr id="22" name="Text 19"/>
          <p:cNvSpPr/>
          <p:nvPr/>
        </p:nvSpPr>
        <p:spPr>
          <a:xfrm>
            <a:off x="1005840" y="536295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Fixed shapes enable more aggressive runtime optimisation; pin the opset.</a:t>
            </a:r>
            <a:endParaRPr lang="en-US" sz="1150" dirty="0"/>
          </a:p>
        </p:txBody>
      </p:sp>
      <p:sp>
        <p:nvSpPr>
          <p:cNvPr id="23" name="Shape 20"/>
          <p:cNvSpPr/>
          <p:nvPr/>
        </p:nvSpPr>
        <p:spPr>
          <a:xfrm>
            <a:off x="6355080" y="2866644"/>
            <a:ext cx="1044702" cy="1371600"/>
          </a:xfrm>
          <a:prstGeom prst="roundRect">
            <a:avLst>
              <a:gd name="adj" fmla="val 6127"/>
            </a:avLst>
          </a:prstGeom>
          <a:solidFill>
            <a:srgbClr val="F2F6F9"/>
          </a:solidFill>
          <a:ln w="15875">
            <a:solidFill>
              <a:srgbClr val="00A79D"/>
            </a:solidFill>
            <a:prstDash val="solid"/>
          </a:ln>
        </p:spPr>
      </p:sp>
      <p:sp>
        <p:nvSpPr>
          <p:cNvPr id="24" name="Text 21"/>
          <p:cNvSpPr/>
          <p:nvPr/>
        </p:nvSpPr>
        <p:spPr>
          <a:xfrm>
            <a:off x="6428232" y="2921508"/>
            <a:ext cx="898398"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Training world</a:t>
            </a:r>
            <a:endParaRPr lang="en-US" sz="1250" dirty="0"/>
          </a:p>
        </p:txBody>
      </p:sp>
      <p:sp>
        <p:nvSpPr>
          <p:cNvPr id="25" name="Text 22"/>
          <p:cNvSpPr/>
          <p:nvPr/>
        </p:nvSpPr>
        <p:spPr>
          <a:xfrm>
            <a:off x="6428232" y="3525012"/>
            <a:ext cx="898398"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PyTorch · GPU</a:t>
            </a:r>
            <a:endParaRPr lang="en-US" sz="950" dirty="0"/>
          </a:p>
        </p:txBody>
      </p:sp>
      <p:sp>
        <p:nvSpPr>
          <p:cNvPr id="26" name="Shape 23"/>
          <p:cNvSpPr/>
          <p:nvPr/>
        </p:nvSpPr>
        <p:spPr>
          <a:xfrm>
            <a:off x="7454646" y="3552444"/>
            <a:ext cx="274320" cy="0"/>
          </a:xfrm>
          <a:prstGeom prst="line">
            <a:avLst/>
          </a:prstGeom>
          <a:noFill/>
          <a:ln w="19050">
            <a:solidFill>
              <a:srgbClr val="8A96A6"/>
            </a:solidFill>
            <a:prstDash val="solid"/>
            <a:headEnd type="none"/>
            <a:tailEnd type="triangle"/>
          </a:ln>
        </p:spPr>
      </p:sp>
      <p:sp>
        <p:nvSpPr>
          <p:cNvPr id="27" name="Shape 24"/>
          <p:cNvSpPr/>
          <p:nvPr/>
        </p:nvSpPr>
        <p:spPr>
          <a:xfrm>
            <a:off x="7783830" y="2866644"/>
            <a:ext cx="1044702" cy="1371600"/>
          </a:xfrm>
          <a:prstGeom prst="roundRect">
            <a:avLst>
              <a:gd name="adj" fmla="val 6127"/>
            </a:avLst>
          </a:prstGeom>
          <a:solidFill>
            <a:srgbClr val="F2F6F9"/>
          </a:solidFill>
          <a:ln w="15875">
            <a:solidFill>
              <a:srgbClr val="00A79D"/>
            </a:solidFill>
            <a:prstDash val="solid"/>
          </a:ln>
        </p:spPr>
      </p:sp>
      <p:sp>
        <p:nvSpPr>
          <p:cNvPr id="28" name="Text 25"/>
          <p:cNvSpPr/>
          <p:nvPr/>
        </p:nvSpPr>
        <p:spPr>
          <a:xfrm>
            <a:off x="7856982" y="2921508"/>
            <a:ext cx="898398"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Export gate</a:t>
            </a:r>
            <a:endParaRPr lang="en-US" sz="1250" dirty="0"/>
          </a:p>
        </p:txBody>
      </p:sp>
      <p:sp>
        <p:nvSpPr>
          <p:cNvPr id="29" name="Text 26"/>
          <p:cNvSpPr/>
          <p:nvPr/>
        </p:nvSpPr>
        <p:spPr>
          <a:xfrm>
            <a:off x="7856982" y="3525012"/>
            <a:ext cx="898398"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parity tests</a:t>
            </a:r>
            <a:endParaRPr lang="en-US" sz="950" dirty="0"/>
          </a:p>
        </p:txBody>
      </p:sp>
      <p:sp>
        <p:nvSpPr>
          <p:cNvPr id="30" name="Shape 27"/>
          <p:cNvSpPr/>
          <p:nvPr/>
        </p:nvSpPr>
        <p:spPr>
          <a:xfrm>
            <a:off x="8883396" y="3552444"/>
            <a:ext cx="274320" cy="0"/>
          </a:xfrm>
          <a:prstGeom prst="line">
            <a:avLst/>
          </a:prstGeom>
          <a:noFill/>
          <a:ln w="19050">
            <a:solidFill>
              <a:srgbClr val="8A96A6"/>
            </a:solidFill>
            <a:prstDash val="solid"/>
            <a:headEnd type="none"/>
            <a:tailEnd type="triangle"/>
          </a:ln>
        </p:spPr>
      </p:sp>
      <p:sp>
        <p:nvSpPr>
          <p:cNvPr id="31" name="Shape 28"/>
          <p:cNvSpPr/>
          <p:nvPr/>
        </p:nvSpPr>
        <p:spPr>
          <a:xfrm>
            <a:off x="8306181" y="4238244"/>
            <a:ext cx="0" cy="274320"/>
          </a:xfrm>
          <a:prstGeom prst="line">
            <a:avLst/>
          </a:prstGeom>
          <a:noFill/>
          <a:ln w="15875">
            <a:solidFill>
              <a:srgbClr val="E8503A"/>
            </a:solidFill>
            <a:prstDash val="dash"/>
          </a:ln>
        </p:spPr>
      </p:sp>
      <p:sp>
        <p:nvSpPr>
          <p:cNvPr id="32" name="Shape 29"/>
          <p:cNvSpPr/>
          <p:nvPr/>
        </p:nvSpPr>
        <p:spPr>
          <a:xfrm>
            <a:off x="7738110" y="4512564"/>
            <a:ext cx="1136142" cy="475488"/>
          </a:xfrm>
          <a:prstGeom prst="roundRect">
            <a:avLst>
              <a:gd name="adj" fmla="val 11538"/>
            </a:avLst>
          </a:prstGeom>
          <a:solidFill>
            <a:srgbClr val="FDEDEA"/>
          </a:solidFill>
          <a:ln w="12700">
            <a:solidFill>
              <a:srgbClr val="E8503A"/>
            </a:solidFill>
            <a:prstDash val="solid"/>
          </a:ln>
        </p:spPr>
      </p:sp>
      <p:sp>
        <p:nvSpPr>
          <p:cNvPr id="33" name="Text 30"/>
          <p:cNvSpPr/>
          <p:nvPr/>
        </p:nvSpPr>
        <p:spPr>
          <a:xfrm>
            <a:off x="7783830" y="4512564"/>
            <a:ext cx="1044702"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train-mode export: random decision flips</a:t>
            </a:r>
            <a:endParaRPr lang="en-US" sz="950" dirty="0"/>
          </a:p>
        </p:txBody>
      </p:sp>
      <p:sp>
        <p:nvSpPr>
          <p:cNvPr id="34" name="Shape 31"/>
          <p:cNvSpPr/>
          <p:nvPr/>
        </p:nvSpPr>
        <p:spPr>
          <a:xfrm>
            <a:off x="9212580" y="2866644"/>
            <a:ext cx="1044702" cy="1371600"/>
          </a:xfrm>
          <a:prstGeom prst="roundRect">
            <a:avLst>
              <a:gd name="adj" fmla="val 6127"/>
            </a:avLst>
          </a:prstGeom>
          <a:solidFill>
            <a:srgbClr val="F2F6F9"/>
          </a:solidFill>
          <a:ln w="15875">
            <a:solidFill>
              <a:srgbClr val="00A79D"/>
            </a:solidFill>
            <a:prstDash val="solid"/>
          </a:ln>
        </p:spPr>
      </p:sp>
      <p:sp>
        <p:nvSpPr>
          <p:cNvPr id="35" name="Text 32"/>
          <p:cNvSpPr/>
          <p:nvPr/>
        </p:nvSpPr>
        <p:spPr>
          <a:xfrm>
            <a:off x="9285732" y="2921508"/>
            <a:ext cx="898398"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Artefact bundle</a:t>
            </a:r>
            <a:endParaRPr lang="en-US" sz="1250" dirty="0"/>
          </a:p>
        </p:txBody>
      </p:sp>
      <p:sp>
        <p:nvSpPr>
          <p:cNvPr id="36" name="Text 33"/>
          <p:cNvSpPr/>
          <p:nvPr/>
        </p:nvSpPr>
        <p:spPr>
          <a:xfrm>
            <a:off x="9285732" y="3525012"/>
            <a:ext cx="898398"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ONNX · config · report</a:t>
            </a:r>
            <a:endParaRPr lang="en-US" sz="950" dirty="0"/>
          </a:p>
        </p:txBody>
      </p:sp>
      <p:sp>
        <p:nvSpPr>
          <p:cNvPr id="37" name="Shape 34"/>
          <p:cNvSpPr/>
          <p:nvPr/>
        </p:nvSpPr>
        <p:spPr>
          <a:xfrm>
            <a:off x="10312146" y="3552444"/>
            <a:ext cx="274320" cy="0"/>
          </a:xfrm>
          <a:prstGeom prst="line">
            <a:avLst/>
          </a:prstGeom>
          <a:noFill/>
          <a:ln w="19050">
            <a:solidFill>
              <a:srgbClr val="8A96A6"/>
            </a:solidFill>
            <a:prstDash val="solid"/>
            <a:headEnd type="none"/>
            <a:tailEnd type="triangle"/>
          </a:ln>
        </p:spPr>
      </p:sp>
      <p:sp>
        <p:nvSpPr>
          <p:cNvPr id="38" name="Shape 35"/>
          <p:cNvSpPr/>
          <p:nvPr/>
        </p:nvSpPr>
        <p:spPr>
          <a:xfrm>
            <a:off x="10641330" y="2866644"/>
            <a:ext cx="1044702" cy="1371600"/>
          </a:xfrm>
          <a:prstGeom prst="roundRect">
            <a:avLst>
              <a:gd name="adj" fmla="val 6127"/>
            </a:avLst>
          </a:prstGeom>
          <a:solidFill>
            <a:srgbClr val="1D2A5C"/>
          </a:solidFill>
          <a:ln w="15875">
            <a:solidFill>
              <a:srgbClr val="00A79D"/>
            </a:solidFill>
            <a:prstDash val="solid"/>
          </a:ln>
        </p:spPr>
      </p:sp>
      <p:sp>
        <p:nvSpPr>
          <p:cNvPr id="39" name="Text 36"/>
          <p:cNvSpPr/>
          <p:nvPr/>
        </p:nvSpPr>
        <p:spPr>
          <a:xfrm>
            <a:off x="10714482" y="2921508"/>
            <a:ext cx="898398"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Edge box</a:t>
            </a:r>
            <a:endParaRPr lang="en-US" sz="1250" dirty="0"/>
          </a:p>
        </p:txBody>
      </p:sp>
      <p:sp>
        <p:nvSpPr>
          <p:cNvPr id="40" name="Text 37"/>
          <p:cNvSpPr/>
          <p:nvPr/>
        </p:nvSpPr>
        <p:spPr>
          <a:xfrm>
            <a:off x="10714482" y="3525012"/>
            <a:ext cx="898398"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380 ms budget</a:t>
            </a:r>
            <a:endParaRPr lang="en-US" sz="9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optimisation ladder</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سلّم التحسين</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132</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Applied in order of effort-to-payoff. Every rung is re-evaluated with the M6 harness — unmeasured speed-ups are gambles.</a:t>
            </a:r>
            <a:endParaRPr lang="en-US" sz="1250" dirty="0"/>
          </a:p>
        </p:txBody>
      </p:sp>
      <p:sp>
        <p:nvSpPr>
          <p:cNvPr id="8" name="Shape 5"/>
          <p:cNvSpPr/>
          <p:nvPr/>
        </p:nvSpPr>
        <p:spPr>
          <a:xfrm>
            <a:off x="502920" y="2194560"/>
            <a:ext cx="11185855" cy="868680"/>
          </a:xfrm>
          <a:prstGeom prst="roundRect">
            <a:avLst>
              <a:gd name="adj" fmla="val 6316"/>
            </a:avLst>
          </a:prstGeom>
          <a:solidFill>
            <a:srgbClr val="1D2A5C"/>
          </a:solidFill>
          <a:ln/>
        </p:spPr>
      </p:sp>
      <p:sp>
        <p:nvSpPr>
          <p:cNvPr id="9" name="Text 6"/>
          <p:cNvSpPr/>
          <p:nvPr/>
        </p:nvSpPr>
        <p:spPr>
          <a:xfrm>
            <a:off x="685800" y="2194560"/>
            <a:ext cx="4698059"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 Input size</a:t>
            </a:r>
            <a:endParaRPr lang="en-US" sz="1300" dirty="0"/>
          </a:p>
        </p:txBody>
      </p:sp>
      <p:sp>
        <p:nvSpPr>
          <p:cNvPr id="10" name="Text 7"/>
          <p:cNvSpPr/>
          <p:nvPr/>
        </p:nvSpPr>
        <p:spPr>
          <a:xfrm>
            <a:off x="5424696" y="2194560"/>
            <a:ext cx="5928503"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640²→416²: 2.3× faster; −0.021 mAP, −0.06 insect_damage — check slices</a:t>
            </a:r>
            <a:endParaRPr lang="en-US" sz="1050" dirty="0"/>
          </a:p>
        </p:txBody>
      </p:sp>
      <p:sp>
        <p:nvSpPr>
          <p:cNvPr id="11" name="Shape 8"/>
          <p:cNvSpPr/>
          <p:nvPr/>
        </p:nvSpPr>
        <p:spPr>
          <a:xfrm>
            <a:off x="758952" y="3191256"/>
            <a:ext cx="10673791" cy="868680"/>
          </a:xfrm>
          <a:prstGeom prst="roundRect">
            <a:avLst>
              <a:gd name="adj" fmla="val 6316"/>
            </a:avLst>
          </a:prstGeom>
          <a:solidFill>
            <a:srgbClr val="24437E"/>
          </a:solidFill>
          <a:ln/>
        </p:spPr>
      </p:sp>
      <p:sp>
        <p:nvSpPr>
          <p:cNvPr id="12" name="Text 9"/>
          <p:cNvSpPr/>
          <p:nvPr/>
        </p:nvSpPr>
        <p:spPr>
          <a:xfrm>
            <a:off x="941832" y="3191256"/>
            <a:ext cx="4482992"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 Quantisation</a:t>
            </a:r>
            <a:endParaRPr lang="en-US" sz="1300" dirty="0"/>
          </a:p>
        </p:txBody>
      </p:sp>
      <p:sp>
        <p:nvSpPr>
          <p:cNvPr id="13" name="Text 10"/>
          <p:cNvSpPr/>
          <p:nvPr/>
        </p:nvSpPr>
        <p:spPr>
          <a:xfrm>
            <a:off x="5455420" y="3191256"/>
            <a:ext cx="5657109"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FP32→INT8: ~4× smaller, 2–3.5× faster on CPU; static needs calibration</a:t>
            </a:r>
            <a:endParaRPr lang="en-US" sz="1050" dirty="0"/>
          </a:p>
        </p:txBody>
      </p:sp>
      <p:sp>
        <p:nvSpPr>
          <p:cNvPr id="14" name="Shape 11"/>
          <p:cNvSpPr/>
          <p:nvPr/>
        </p:nvSpPr>
        <p:spPr>
          <a:xfrm>
            <a:off x="1014984" y="4187952"/>
            <a:ext cx="10161727" cy="868680"/>
          </a:xfrm>
          <a:prstGeom prst="roundRect">
            <a:avLst>
              <a:gd name="adj" fmla="val 6316"/>
            </a:avLst>
          </a:prstGeom>
          <a:solidFill>
            <a:srgbClr val="2A5CA0"/>
          </a:solidFill>
          <a:ln/>
        </p:spPr>
      </p:sp>
      <p:sp>
        <p:nvSpPr>
          <p:cNvPr id="15" name="Text 12"/>
          <p:cNvSpPr/>
          <p:nvPr/>
        </p:nvSpPr>
        <p:spPr>
          <a:xfrm>
            <a:off x="1197864" y="4187952"/>
            <a:ext cx="4267925"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 Execution providers</a:t>
            </a:r>
            <a:endParaRPr lang="en-US" sz="1300" dirty="0"/>
          </a:p>
        </p:txBody>
      </p:sp>
      <p:sp>
        <p:nvSpPr>
          <p:cNvPr id="16" name="Text 13"/>
          <p:cNvSpPr/>
          <p:nvPr/>
        </p:nvSpPr>
        <p:spPr>
          <a:xfrm>
            <a:off x="5486144" y="4187952"/>
            <a:ext cx="5385715"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One artefact — TensorRT, OpenVINO, CoreML or CPU, chosen per box</a:t>
            </a:r>
            <a:endParaRPr lang="en-US" sz="1050" dirty="0"/>
          </a:p>
        </p:txBody>
      </p:sp>
      <p:sp>
        <p:nvSpPr>
          <p:cNvPr id="17" name="Shape 14"/>
          <p:cNvSpPr/>
          <p:nvPr/>
        </p:nvSpPr>
        <p:spPr>
          <a:xfrm>
            <a:off x="1271016" y="5184648"/>
            <a:ext cx="9649663" cy="868680"/>
          </a:xfrm>
          <a:prstGeom prst="roundRect">
            <a:avLst>
              <a:gd name="adj" fmla="val 6316"/>
            </a:avLst>
          </a:prstGeom>
          <a:solidFill>
            <a:srgbClr val="1F7FB8"/>
          </a:solidFill>
          <a:ln/>
        </p:spPr>
      </p:sp>
      <p:sp>
        <p:nvSpPr>
          <p:cNvPr id="18" name="Text 15"/>
          <p:cNvSpPr/>
          <p:nvPr/>
        </p:nvSpPr>
        <p:spPr>
          <a:xfrm>
            <a:off x="1453896" y="5184648"/>
            <a:ext cx="4052859"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 · Structural surgery</a:t>
            </a:r>
            <a:endParaRPr lang="en-US" sz="1300" dirty="0"/>
          </a:p>
        </p:txBody>
      </p:sp>
      <p:sp>
        <p:nvSpPr>
          <p:cNvPr id="19" name="Text 16"/>
          <p:cNvSpPr/>
          <p:nvPr/>
        </p:nvSpPr>
        <p:spPr>
          <a:xfrm>
            <a:off x="5516868" y="5184648"/>
            <a:ext cx="5114321" cy="868680"/>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Pruning and distillation: further multiples, but retraining loops</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380 ms budget, stage by stage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ميزانية 380 مللي ثانية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133</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The budget is consumed by the pipeline — inference is often under half. Classic surprise: preprocessing rivals inference after INT8.</a:t>
            </a:r>
            <a:endParaRPr lang="en-US" sz="1250" dirty="0"/>
          </a:p>
        </p:txBody>
      </p:sp>
      <p:sp>
        <p:nvSpPr>
          <p:cNvPr id="8" name="Shape 5"/>
          <p:cNvSpPr/>
          <p:nvPr/>
        </p:nvSpPr>
        <p:spPr>
          <a:xfrm>
            <a:off x="502920" y="2121408"/>
            <a:ext cx="3472586"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217627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Capture</a:t>
            </a:r>
            <a:endParaRPr lang="en-US" sz="1250" dirty="0"/>
          </a:p>
        </p:txBody>
      </p:sp>
      <p:sp>
        <p:nvSpPr>
          <p:cNvPr id="10" name="Text 7"/>
          <p:cNvSpPr/>
          <p:nvPr/>
        </p:nvSpPr>
        <p:spPr>
          <a:xfrm>
            <a:off x="576072" y="277977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~12 ms</a:t>
            </a:r>
            <a:endParaRPr lang="en-US" sz="950" dirty="0"/>
          </a:p>
        </p:txBody>
      </p:sp>
      <p:sp>
        <p:nvSpPr>
          <p:cNvPr id="11" name="Shape 8"/>
          <p:cNvSpPr/>
          <p:nvPr/>
        </p:nvSpPr>
        <p:spPr>
          <a:xfrm>
            <a:off x="4030370" y="2807208"/>
            <a:ext cx="274320" cy="0"/>
          </a:xfrm>
          <a:prstGeom prst="line">
            <a:avLst/>
          </a:prstGeom>
          <a:noFill/>
          <a:ln w="19050">
            <a:solidFill>
              <a:srgbClr val="8A96A6"/>
            </a:solidFill>
            <a:prstDash val="solid"/>
            <a:headEnd type="none"/>
            <a:tailEnd type="triangle"/>
          </a:ln>
        </p:spPr>
      </p:sp>
      <p:sp>
        <p:nvSpPr>
          <p:cNvPr id="12" name="Shape 9"/>
          <p:cNvSpPr/>
          <p:nvPr/>
        </p:nvSpPr>
        <p:spPr>
          <a:xfrm>
            <a:off x="4359554" y="2121408"/>
            <a:ext cx="3472586" cy="1371600"/>
          </a:xfrm>
          <a:prstGeom prst="roundRect">
            <a:avLst>
              <a:gd name="adj" fmla="val 4667"/>
            </a:avLst>
          </a:prstGeom>
          <a:solidFill>
            <a:srgbClr val="F2F6F9"/>
          </a:solidFill>
          <a:ln w="15875">
            <a:solidFill>
              <a:srgbClr val="00A79D"/>
            </a:solidFill>
            <a:prstDash val="solid"/>
          </a:ln>
        </p:spPr>
      </p:sp>
      <p:sp>
        <p:nvSpPr>
          <p:cNvPr id="13" name="Text 10"/>
          <p:cNvSpPr/>
          <p:nvPr/>
        </p:nvSpPr>
        <p:spPr>
          <a:xfrm>
            <a:off x="4432706" y="217627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Preprocess</a:t>
            </a:r>
            <a:endParaRPr lang="en-US" sz="1250" dirty="0"/>
          </a:p>
        </p:txBody>
      </p:sp>
      <p:sp>
        <p:nvSpPr>
          <p:cNvPr id="14" name="Text 11"/>
          <p:cNvSpPr/>
          <p:nvPr/>
        </p:nvSpPr>
        <p:spPr>
          <a:xfrm>
            <a:off x="4432706" y="277977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~6 ms · OpenCV @ 416²</a:t>
            </a:r>
            <a:endParaRPr lang="en-US" sz="950" dirty="0"/>
          </a:p>
        </p:txBody>
      </p:sp>
      <p:sp>
        <p:nvSpPr>
          <p:cNvPr id="15" name="Shape 12"/>
          <p:cNvSpPr/>
          <p:nvPr/>
        </p:nvSpPr>
        <p:spPr>
          <a:xfrm>
            <a:off x="7887005" y="2807208"/>
            <a:ext cx="274320" cy="0"/>
          </a:xfrm>
          <a:prstGeom prst="line">
            <a:avLst/>
          </a:prstGeom>
          <a:noFill/>
          <a:ln w="19050">
            <a:solidFill>
              <a:srgbClr val="8A96A6"/>
            </a:solidFill>
            <a:prstDash val="solid"/>
            <a:headEnd type="none"/>
            <a:tailEnd type="triangle"/>
          </a:ln>
        </p:spPr>
      </p:sp>
      <p:sp>
        <p:nvSpPr>
          <p:cNvPr id="16" name="Shape 13"/>
          <p:cNvSpPr/>
          <p:nvPr/>
        </p:nvSpPr>
        <p:spPr>
          <a:xfrm>
            <a:off x="8216189" y="2121408"/>
            <a:ext cx="3472586" cy="1371600"/>
          </a:xfrm>
          <a:prstGeom prst="roundRect">
            <a:avLst>
              <a:gd name="adj" fmla="val 4667"/>
            </a:avLst>
          </a:prstGeom>
          <a:solidFill>
            <a:srgbClr val="F2F6F9"/>
          </a:solidFill>
          <a:ln w="15875">
            <a:solidFill>
              <a:srgbClr val="00A79D"/>
            </a:solidFill>
            <a:prstDash val="solid"/>
          </a:ln>
        </p:spPr>
      </p:sp>
      <p:sp>
        <p:nvSpPr>
          <p:cNvPr id="17" name="Text 14"/>
          <p:cNvSpPr/>
          <p:nvPr/>
        </p:nvSpPr>
        <p:spPr>
          <a:xfrm>
            <a:off x="8289341" y="217627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Infer</a:t>
            </a:r>
            <a:endParaRPr lang="en-US" sz="1250" dirty="0"/>
          </a:p>
        </p:txBody>
      </p:sp>
      <p:sp>
        <p:nvSpPr>
          <p:cNvPr id="18" name="Text 15"/>
          <p:cNvSpPr/>
          <p:nvPr/>
        </p:nvSpPr>
        <p:spPr>
          <a:xfrm>
            <a:off x="8289341" y="277977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~17 ms</a:t>
            </a:r>
            <a:endParaRPr lang="en-US" sz="950" dirty="0"/>
          </a:p>
        </p:txBody>
      </p:sp>
      <p:sp>
        <p:nvSpPr>
          <p:cNvPr id="19" name="Shape 16"/>
          <p:cNvSpPr/>
          <p:nvPr/>
        </p:nvSpPr>
        <p:spPr>
          <a:xfrm>
            <a:off x="9952482" y="3493008"/>
            <a:ext cx="0" cy="777240"/>
          </a:xfrm>
          <a:prstGeom prst="line">
            <a:avLst/>
          </a:prstGeom>
          <a:noFill/>
          <a:ln w="19050">
            <a:solidFill>
              <a:srgbClr val="8A96A6"/>
            </a:solidFill>
            <a:prstDash val="solid"/>
            <a:tailEnd type="triangle"/>
          </a:ln>
        </p:spPr>
      </p:sp>
      <p:sp>
        <p:nvSpPr>
          <p:cNvPr id="20" name="Shape 17"/>
          <p:cNvSpPr/>
          <p:nvPr/>
        </p:nvSpPr>
        <p:spPr>
          <a:xfrm>
            <a:off x="9952482" y="3493008"/>
            <a:ext cx="0" cy="274320"/>
          </a:xfrm>
          <a:prstGeom prst="line">
            <a:avLst/>
          </a:prstGeom>
          <a:noFill/>
          <a:ln w="15875">
            <a:solidFill>
              <a:srgbClr val="E8503A"/>
            </a:solidFill>
            <a:prstDash val="dash"/>
          </a:ln>
        </p:spPr>
      </p:sp>
      <p:sp>
        <p:nvSpPr>
          <p:cNvPr id="21" name="Shape 18"/>
          <p:cNvSpPr/>
          <p:nvPr/>
        </p:nvSpPr>
        <p:spPr>
          <a:xfrm>
            <a:off x="8170469" y="3767328"/>
            <a:ext cx="3564026" cy="475488"/>
          </a:xfrm>
          <a:prstGeom prst="roundRect">
            <a:avLst>
              <a:gd name="adj" fmla="val 11538"/>
            </a:avLst>
          </a:prstGeom>
          <a:solidFill>
            <a:srgbClr val="FDEDEA"/>
          </a:solidFill>
          <a:ln w="12700">
            <a:solidFill>
              <a:srgbClr val="E8503A"/>
            </a:solidFill>
            <a:prstDash val="solid"/>
          </a:ln>
        </p:spPr>
      </p:sp>
      <p:sp>
        <p:nvSpPr>
          <p:cNvPr id="22" name="Text 19"/>
          <p:cNvSpPr/>
          <p:nvPr/>
        </p:nvSpPr>
        <p:spPr>
          <a:xfrm>
            <a:off x="8216189" y="3767328"/>
            <a:ext cx="3472586"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cloud path: 60–150 ms RTT + jitter blows the budget</a:t>
            </a:r>
            <a:endParaRPr lang="en-US" sz="950" dirty="0"/>
          </a:p>
        </p:txBody>
      </p:sp>
      <p:sp>
        <p:nvSpPr>
          <p:cNvPr id="23" name="Shape 20"/>
          <p:cNvSpPr/>
          <p:nvPr/>
        </p:nvSpPr>
        <p:spPr>
          <a:xfrm>
            <a:off x="8216189" y="4361688"/>
            <a:ext cx="3472586" cy="1371600"/>
          </a:xfrm>
          <a:prstGeom prst="roundRect">
            <a:avLst>
              <a:gd name="adj" fmla="val 4667"/>
            </a:avLst>
          </a:prstGeom>
          <a:solidFill>
            <a:srgbClr val="F2F6F9"/>
          </a:solidFill>
          <a:ln w="15875">
            <a:solidFill>
              <a:srgbClr val="00A79D"/>
            </a:solidFill>
            <a:prstDash val="solid"/>
          </a:ln>
        </p:spPr>
      </p:sp>
      <p:sp>
        <p:nvSpPr>
          <p:cNvPr id="24" name="Text 21"/>
          <p:cNvSpPr/>
          <p:nvPr/>
        </p:nvSpPr>
        <p:spPr>
          <a:xfrm>
            <a:off x="8289341" y="441655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Post + NMS</a:t>
            </a:r>
            <a:endParaRPr lang="en-US" sz="1250" dirty="0"/>
          </a:p>
        </p:txBody>
      </p:sp>
      <p:sp>
        <p:nvSpPr>
          <p:cNvPr id="25" name="Text 22"/>
          <p:cNvSpPr/>
          <p:nvPr/>
        </p:nvSpPr>
        <p:spPr>
          <a:xfrm>
            <a:off x="8289341" y="502005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~4 ms</a:t>
            </a:r>
            <a:endParaRPr lang="en-US" sz="950" dirty="0"/>
          </a:p>
        </p:txBody>
      </p:sp>
      <p:sp>
        <p:nvSpPr>
          <p:cNvPr id="26" name="Shape 23"/>
          <p:cNvSpPr/>
          <p:nvPr/>
        </p:nvSpPr>
        <p:spPr>
          <a:xfrm>
            <a:off x="7887005" y="5047488"/>
            <a:ext cx="274320" cy="0"/>
          </a:xfrm>
          <a:prstGeom prst="line">
            <a:avLst/>
          </a:prstGeom>
          <a:noFill/>
          <a:ln w="19050">
            <a:solidFill>
              <a:srgbClr val="8A96A6"/>
            </a:solidFill>
            <a:prstDash val="solid"/>
            <a:headEnd type="triangle"/>
            <a:tailEnd type="none"/>
          </a:ln>
        </p:spPr>
      </p:sp>
      <p:sp>
        <p:nvSpPr>
          <p:cNvPr id="27" name="Shape 24"/>
          <p:cNvSpPr/>
          <p:nvPr/>
        </p:nvSpPr>
        <p:spPr>
          <a:xfrm>
            <a:off x="4359554" y="4361688"/>
            <a:ext cx="3472586" cy="1371600"/>
          </a:xfrm>
          <a:prstGeom prst="roundRect">
            <a:avLst>
              <a:gd name="adj" fmla="val 4667"/>
            </a:avLst>
          </a:prstGeom>
          <a:solidFill>
            <a:srgbClr val="F2F6F9"/>
          </a:solidFill>
          <a:ln w="15875">
            <a:solidFill>
              <a:srgbClr val="00A79D"/>
            </a:solidFill>
            <a:prstDash val="solid"/>
          </a:ln>
        </p:spPr>
      </p:sp>
      <p:sp>
        <p:nvSpPr>
          <p:cNvPr id="28" name="Text 25"/>
          <p:cNvSpPr/>
          <p:nvPr/>
        </p:nvSpPr>
        <p:spPr>
          <a:xfrm>
            <a:off x="4432706" y="4416552"/>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Decide</a:t>
            </a:r>
            <a:endParaRPr lang="en-US" sz="1250" dirty="0"/>
          </a:p>
        </p:txBody>
      </p:sp>
      <p:sp>
        <p:nvSpPr>
          <p:cNvPr id="29" name="Text 26"/>
          <p:cNvSpPr/>
          <p:nvPr/>
        </p:nvSpPr>
        <p:spPr>
          <a:xfrm>
            <a:off x="4432706" y="5020056"/>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~2 ms</a:t>
            </a:r>
            <a:endParaRPr lang="en-US" sz="950" dirty="0"/>
          </a:p>
        </p:txBody>
      </p:sp>
      <p:sp>
        <p:nvSpPr>
          <p:cNvPr id="30" name="Shape 27"/>
          <p:cNvSpPr/>
          <p:nvPr/>
        </p:nvSpPr>
        <p:spPr>
          <a:xfrm>
            <a:off x="4030370" y="5047488"/>
            <a:ext cx="274320" cy="0"/>
          </a:xfrm>
          <a:prstGeom prst="line">
            <a:avLst/>
          </a:prstGeom>
          <a:noFill/>
          <a:ln w="19050">
            <a:solidFill>
              <a:srgbClr val="8A96A6"/>
            </a:solidFill>
            <a:prstDash val="solid"/>
            <a:headEnd type="triangle"/>
            <a:tailEnd type="none"/>
          </a:ln>
        </p:spPr>
      </p:sp>
      <p:sp>
        <p:nvSpPr>
          <p:cNvPr id="31" name="Shape 28"/>
          <p:cNvSpPr/>
          <p:nvPr/>
        </p:nvSpPr>
        <p:spPr>
          <a:xfrm>
            <a:off x="502920" y="4361688"/>
            <a:ext cx="3472586" cy="1371600"/>
          </a:xfrm>
          <a:prstGeom prst="roundRect">
            <a:avLst>
              <a:gd name="adj" fmla="val 4667"/>
            </a:avLst>
          </a:prstGeom>
          <a:solidFill>
            <a:srgbClr val="1D2A5C"/>
          </a:solidFill>
          <a:ln w="15875">
            <a:solidFill>
              <a:srgbClr val="00A79D"/>
            </a:solidFill>
            <a:prstDash val="solid"/>
          </a:ln>
        </p:spPr>
      </p:sp>
      <p:sp>
        <p:nvSpPr>
          <p:cNvPr id="32" name="Text 29"/>
          <p:cNvSpPr/>
          <p:nvPr/>
        </p:nvSpPr>
        <p:spPr>
          <a:xfrm>
            <a:off x="576072" y="4416552"/>
            <a:ext cx="3326282"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Actuate</a:t>
            </a:r>
            <a:endParaRPr lang="en-US" sz="1250" dirty="0"/>
          </a:p>
        </p:txBody>
      </p:sp>
      <p:sp>
        <p:nvSpPr>
          <p:cNvPr id="33" name="Text 30"/>
          <p:cNvSpPr/>
          <p:nvPr/>
        </p:nvSpPr>
        <p:spPr>
          <a:xfrm>
            <a:off x="576072" y="5020056"/>
            <a:ext cx="3326282"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~45 ms + margin</a:t>
            </a:r>
            <a:endParaRPr lang="en-US" sz="9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Benchmarking without lying to yourself</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قياس أداء صادق</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134</a:t>
            </a:r>
            <a:endParaRPr lang="en-US" sz="900" dirty="0"/>
          </a:p>
        </p:txBody>
      </p:sp>
      <p:sp>
        <p:nvSpPr>
          <p:cNvPr id="7" name="Shape 4"/>
          <p:cNvSpPr/>
          <p:nvPr/>
        </p:nvSpPr>
        <p:spPr>
          <a:xfrm>
            <a:off x="502920" y="1453896"/>
            <a:ext cx="329184" cy="329184"/>
          </a:xfrm>
          <a:prstGeom prst="ellipse">
            <a:avLst/>
          </a:prstGeom>
          <a:solidFill>
            <a:srgbClr val="00A79D"/>
          </a:solidFill>
          <a:ln/>
        </p:spPr>
      </p:sp>
      <p:sp>
        <p:nvSpPr>
          <p:cNvPr id="8" name="Text 5"/>
          <p:cNvSpPr/>
          <p:nvPr/>
        </p:nvSpPr>
        <p:spPr>
          <a:xfrm>
            <a:off x="502920" y="1453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389888"/>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Warm-up first</a:t>
            </a:r>
            <a:endParaRPr lang="en-US" sz="1400" dirty="0"/>
          </a:p>
        </p:txBody>
      </p:sp>
      <p:sp>
        <p:nvSpPr>
          <p:cNvPr id="10" name="Text 7"/>
          <p:cNvSpPr/>
          <p:nvPr/>
        </p:nvSpPr>
        <p:spPr>
          <a:xfrm>
            <a:off x="1005840" y="1691640"/>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First runs pay allocation, JIT, provider graph compilation (TensorRT: minutes). Discard ≥ 20 warm-up runs before timing.</a:t>
            </a:r>
            <a:endParaRPr lang="en-US" sz="1150" dirty="0"/>
          </a:p>
        </p:txBody>
      </p:sp>
      <p:sp>
        <p:nvSpPr>
          <p:cNvPr id="11" name="Shape 8"/>
          <p:cNvSpPr/>
          <p:nvPr/>
        </p:nvSpPr>
        <p:spPr>
          <a:xfrm>
            <a:off x="502920" y="2446934"/>
            <a:ext cx="329184" cy="329184"/>
          </a:xfrm>
          <a:prstGeom prst="ellipse">
            <a:avLst/>
          </a:prstGeom>
          <a:solidFill>
            <a:srgbClr val="29ABE2"/>
          </a:solidFill>
          <a:ln/>
        </p:spPr>
      </p:sp>
      <p:sp>
        <p:nvSpPr>
          <p:cNvPr id="12" name="Text 9"/>
          <p:cNvSpPr/>
          <p:nvPr/>
        </p:nvSpPr>
        <p:spPr>
          <a:xfrm>
            <a:off x="502920" y="244693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382926"/>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Percentiles, not means</a:t>
            </a:r>
            <a:endParaRPr lang="en-US" sz="1400" dirty="0"/>
          </a:p>
        </p:txBody>
      </p:sp>
      <p:sp>
        <p:nvSpPr>
          <p:cNvPr id="14" name="Text 11"/>
          <p:cNvSpPr/>
          <p:nvPr/>
        </p:nvSpPr>
        <p:spPr>
          <a:xfrm>
            <a:off x="1005840" y="2684678"/>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eject gate misses on p99, not on average. Report p50/p95/p99 over ≥ 500 timed runs — under realistic co-load on a shared box.</a:t>
            </a:r>
            <a:endParaRPr lang="en-US" sz="1150" dirty="0"/>
          </a:p>
        </p:txBody>
      </p:sp>
      <p:sp>
        <p:nvSpPr>
          <p:cNvPr id="15" name="Shape 12"/>
          <p:cNvSpPr/>
          <p:nvPr/>
        </p:nvSpPr>
        <p:spPr>
          <a:xfrm>
            <a:off x="502920" y="3439973"/>
            <a:ext cx="329184" cy="329184"/>
          </a:xfrm>
          <a:prstGeom prst="ellipse">
            <a:avLst/>
          </a:prstGeom>
          <a:solidFill>
            <a:srgbClr val="F58220"/>
          </a:solidFill>
          <a:ln/>
        </p:spPr>
      </p:sp>
      <p:sp>
        <p:nvSpPr>
          <p:cNvPr id="16" name="Text 13"/>
          <p:cNvSpPr/>
          <p:nvPr/>
        </p:nvSpPr>
        <p:spPr>
          <a:xfrm>
            <a:off x="502920" y="3439973"/>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375965"/>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End-to-end or it didn't happen</a:t>
            </a:r>
            <a:endParaRPr lang="en-US" sz="1400" dirty="0"/>
          </a:p>
        </p:txBody>
      </p:sp>
      <p:sp>
        <p:nvSpPr>
          <p:cNvPr id="18" name="Text 15"/>
          <p:cNvSpPr/>
          <p:nvPr/>
        </p:nvSpPr>
        <p:spPr>
          <a:xfrm>
            <a:off x="1005840" y="3677717"/>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Time every stage: capture, decode, preprocess, infer, post, decide, actuate. Inference is often under half the budget.</a:t>
            </a:r>
            <a:endParaRPr lang="en-US" sz="1150" dirty="0"/>
          </a:p>
        </p:txBody>
      </p:sp>
      <p:sp>
        <p:nvSpPr>
          <p:cNvPr id="19" name="Shape 16"/>
          <p:cNvSpPr/>
          <p:nvPr/>
        </p:nvSpPr>
        <p:spPr>
          <a:xfrm>
            <a:off x="502920" y="4433011"/>
            <a:ext cx="329184" cy="329184"/>
          </a:xfrm>
          <a:prstGeom prst="ellipse">
            <a:avLst/>
          </a:prstGeom>
          <a:solidFill>
            <a:srgbClr val="8DC63F"/>
          </a:solidFill>
          <a:ln/>
        </p:spPr>
      </p:sp>
      <p:sp>
        <p:nvSpPr>
          <p:cNvPr id="20" name="Text 17"/>
          <p:cNvSpPr/>
          <p:nvPr/>
        </p:nvSpPr>
        <p:spPr>
          <a:xfrm>
            <a:off x="502920" y="4433011"/>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4369003"/>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Throughput ≠ latency</a:t>
            </a:r>
            <a:endParaRPr lang="en-US" sz="1400" dirty="0"/>
          </a:p>
        </p:txBody>
      </p:sp>
      <p:sp>
        <p:nvSpPr>
          <p:cNvPr id="22" name="Text 19"/>
          <p:cNvSpPr/>
          <p:nvPr/>
        </p:nvSpPr>
        <p:spPr>
          <a:xfrm>
            <a:off x="1005840" y="4670755"/>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Batching raises FPS and worsens per-frame latency. Real-time line: batch=1. Overnight archive job: max batch. Both rows in the table.</a:t>
            </a:r>
            <a:endParaRPr lang="en-US" sz="1150" dirty="0"/>
          </a:p>
        </p:txBody>
      </p:sp>
      <p:sp>
        <p:nvSpPr>
          <p:cNvPr id="23" name="Shape 20"/>
          <p:cNvSpPr/>
          <p:nvPr/>
        </p:nvSpPr>
        <p:spPr>
          <a:xfrm>
            <a:off x="502920" y="5426050"/>
            <a:ext cx="329184" cy="329184"/>
          </a:xfrm>
          <a:prstGeom prst="ellipse">
            <a:avLst/>
          </a:prstGeom>
          <a:solidFill>
            <a:srgbClr val="1D2A5C"/>
          </a:solidFill>
          <a:ln/>
        </p:spPr>
      </p:sp>
      <p:sp>
        <p:nvSpPr>
          <p:cNvPr id="24" name="Text 21"/>
          <p:cNvSpPr/>
          <p:nvPr/>
        </p:nvSpPr>
        <p:spPr>
          <a:xfrm>
            <a:off x="502920" y="542605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p:nvPr/>
        </p:nvSpPr>
        <p:spPr>
          <a:xfrm>
            <a:off x="1005840" y="5362042"/>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Thermals are part of acceptance</a:t>
            </a:r>
            <a:endParaRPr lang="en-US" sz="1400" dirty="0"/>
          </a:p>
        </p:txBody>
      </p:sp>
      <p:sp>
        <p:nvSpPr>
          <p:cNvPr id="26" name="Text 23"/>
          <p:cNvSpPr/>
          <p:nvPr/>
        </p:nvSpPr>
        <p:spPr>
          <a:xfrm>
            <a:off x="1005840" y="5663794"/>
            <a:ext cx="10682935" cy="645566"/>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Boxes in Gulf ambient temperatures throttle — a 10-minute sustained-load run belongs in acceptance testing.</a:t>
            </a:r>
            <a:endParaRPr lang="en-US" sz="11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edge loop is production software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حلقة الاستدلال الطرفية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135</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Drop-oldest ring buffer</a:t>
            </a:r>
            <a:endParaRPr lang="en-US" sz="1400" dirty="0"/>
          </a:p>
        </p:txBody>
      </p:sp>
      <p:sp>
        <p:nvSpPr>
          <p:cNvPr id="10" name="Text 7"/>
          <p:cNvSpPr/>
          <p:nvPr/>
        </p:nvSpPr>
        <p:spPr>
          <a:xfrm>
            <a:off x="1005840" y="179679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Stale frames are worthless on a moving belt; one structured JSON log per decision.</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Fallback ladder — agreed before go-live</a:t>
            </a:r>
            <a:endParaRPr lang="en-US" sz="1400" dirty="0"/>
          </a:p>
        </p:txBody>
      </p:sp>
      <p:sp>
        <p:nvSpPr>
          <p:cNvPr id="14" name="Text 11"/>
          <p:cNvSpPr/>
          <p:nvPr/>
        </p:nvSpPr>
        <p:spPr>
          <a:xfrm>
            <a:off x="1005840" y="298551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Model unhealthy: line moves + alert + spool, or line stops? A food-safety call, not engineering.</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Updates as versioned bundles</a:t>
            </a:r>
            <a:endParaRPr lang="en-US" sz="1400" dirty="0"/>
          </a:p>
        </p:txBody>
      </p:sp>
      <p:sp>
        <p:nvSpPr>
          <p:cNvPr id="18" name="Text 15"/>
          <p:cNvSpPr/>
          <p:nvPr/>
        </p:nvSpPr>
        <p:spPr>
          <a:xfrm>
            <a:off x="1005840" y="417423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ONNX + config + contract + harness report; shadow → one line → fleet; rollback = config flip.</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4937760"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Security and residency</a:t>
            </a:r>
            <a:endParaRPr lang="en-US" sz="1400" dirty="0"/>
          </a:p>
        </p:txBody>
      </p:sp>
      <p:sp>
        <p:nvSpPr>
          <p:cNvPr id="22" name="Text 19"/>
          <p:cNvSpPr/>
          <p:nvPr/>
        </p:nvSpPr>
        <p:spPr>
          <a:xfrm>
            <a:off x="1005840" y="5362956"/>
            <a:ext cx="4937760"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No raw-frame retention beyond a bounded incident buffer; telemetry is structured events.</a:t>
            </a:r>
            <a:endParaRPr lang="en-US" sz="1150" dirty="0"/>
          </a:p>
        </p:txBody>
      </p:sp>
      <p:sp>
        <p:nvSpPr>
          <p:cNvPr id="23" name="Shape 20"/>
          <p:cNvSpPr/>
          <p:nvPr/>
        </p:nvSpPr>
        <p:spPr>
          <a:xfrm>
            <a:off x="6355080" y="2866644"/>
            <a:ext cx="1044702" cy="1371600"/>
          </a:xfrm>
          <a:prstGeom prst="roundRect">
            <a:avLst>
              <a:gd name="adj" fmla="val 6127"/>
            </a:avLst>
          </a:prstGeom>
          <a:solidFill>
            <a:srgbClr val="F2F6F9"/>
          </a:solidFill>
          <a:ln w="15875">
            <a:solidFill>
              <a:srgbClr val="00A79D"/>
            </a:solidFill>
            <a:prstDash val="solid"/>
          </a:ln>
        </p:spPr>
      </p:sp>
      <p:sp>
        <p:nvSpPr>
          <p:cNvPr id="24" name="Text 21"/>
          <p:cNvSpPr/>
          <p:nvPr/>
        </p:nvSpPr>
        <p:spPr>
          <a:xfrm>
            <a:off x="6428232" y="2921508"/>
            <a:ext cx="898398"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Capture</a:t>
            </a:r>
            <a:endParaRPr lang="en-US" sz="1250" dirty="0"/>
          </a:p>
        </p:txBody>
      </p:sp>
      <p:sp>
        <p:nvSpPr>
          <p:cNvPr id="25" name="Text 22"/>
          <p:cNvSpPr/>
          <p:nvPr/>
        </p:nvSpPr>
        <p:spPr>
          <a:xfrm>
            <a:off x="6428232" y="3525012"/>
            <a:ext cx="898398"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ring buffer</a:t>
            </a:r>
            <a:endParaRPr lang="en-US" sz="950" dirty="0"/>
          </a:p>
        </p:txBody>
      </p:sp>
      <p:sp>
        <p:nvSpPr>
          <p:cNvPr id="26" name="Shape 23"/>
          <p:cNvSpPr/>
          <p:nvPr/>
        </p:nvSpPr>
        <p:spPr>
          <a:xfrm>
            <a:off x="7454646" y="3552444"/>
            <a:ext cx="274320" cy="0"/>
          </a:xfrm>
          <a:prstGeom prst="line">
            <a:avLst/>
          </a:prstGeom>
          <a:noFill/>
          <a:ln w="19050">
            <a:solidFill>
              <a:srgbClr val="8A96A6"/>
            </a:solidFill>
            <a:prstDash val="solid"/>
            <a:headEnd type="none"/>
            <a:tailEnd type="triangle"/>
          </a:ln>
        </p:spPr>
      </p:sp>
      <p:sp>
        <p:nvSpPr>
          <p:cNvPr id="27" name="Shape 24"/>
          <p:cNvSpPr/>
          <p:nvPr/>
        </p:nvSpPr>
        <p:spPr>
          <a:xfrm>
            <a:off x="7783830" y="2866644"/>
            <a:ext cx="1044702" cy="1371600"/>
          </a:xfrm>
          <a:prstGeom prst="roundRect">
            <a:avLst>
              <a:gd name="adj" fmla="val 6127"/>
            </a:avLst>
          </a:prstGeom>
          <a:solidFill>
            <a:srgbClr val="F2F6F9"/>
          </a:solidFill>
          <a:ln w="15875">
            <a:solidFill>
              <a:srgbClr val="00A79D"/>
            </a:solidFill>
            <a:prstDash val="solid"/>
          </a:ln>
        </p:spPr>
      </p:sp>
      <p:sp>
        <p:nvSpPr>
          <p:cNvPr id="28" name="Text 25"/>
          <p:cNvSpPr/>
          <p:nvPr/>
        </p:nvSpPr>
        <p:spPr>
          <a:xfrm>
            <a:off x="7856982" y="2921508"/>
            <a:ext cx="898398"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Preprocess</a:t>
            </a:r>
            <a:endParaRPr lang="en-US" sz="1250" dirty="0"/>
          </a:p>
        </p:txBody>
      </p:sp>
      <p:sp>
        <p:nvSpPr>
          <p:cNvPr id="29" name="Text 26"/>
          <p:cNvSpPr/>
          <p:nvPr/>
        </p:nvSpPr>
        <p:spPr>
          <a:xfrm>
            <a:off x="7856982" y="3525012"/>
            <a:ext cx="898398"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contract parity</a:t>
            </a:r>
            <a:endParaRPr lang="en-US" sz="950" dirty="0"/>
          </a:p>
        </p:txBody>
      </p:sp>
      <p:sp>
        <p:nvSpPr>
          <p:cNvPr id="30" name="Shape 27"/>
          <p:cNvSpPr/>
          <p:nvPr/>
        </p:nvSpPr>
        <p:spPr>
          <a:xfrm>
            <a:off x="8883396" y="3552444"/>
            <a:ext cx="274320" cy="0"/>
          </a:xfrm>
          <a:prstGeom prst="line">
            <a:avLst/>
          </a:prstGeom>
          <a:noFill/>
          <a:ln w="19050">
            <a:solidFill>
              <a:srgbClr val="8A96A6"/>
            </a:solidFill>
            <a:prstDash val="solid"/>
            <a:headEnd type="none"/>
            <a:tailEnd type="triangle"/>
          </a:ln>
        </p:spPr>
      </p:sp>
      <p:sp>
        <p:nvSpPr>
          <p:cNvPr id="31" name="Shape 28"/>
          <p:cNvSpPr/>
          <p:nvPr/>
        </p:nvSpPr>
        <p:spPr>
          <a:xfrm>
            <a:off x="9212580" y="2866644"/>
            <a:ext cx="1044702" cy="1371600"/>
          </a:xfrm>
          <a:prstGeom prst="roundRect">
            <a:avLst>
              <a:gd name="adj" fmla="val 6127"/>
            </a:avLst>
          </a:prstGeom>
          <a:solidFill>
            <a:srgbClr val="F2F6F9"/>
          </a:solidFill>
          <a:ln w="15875">
            <a:solidFill>
              <a:srgbClr val="00A79D"/>
            </a:solidFill>
            <a:prstDash val="solid"/>
          </a:ln>
        </p:spPr>
      </p:sp>
      <p:sp>
        <p:nvSpPr>
          <p:cNvPr id="32" name="Text 29"/>
          <p:cNvSpPr/>
          <p:nvPr/>
        </p:nvSpPr>
        <p:spPr>
          <a:xfrm>
            <a:off x="9285732" y="2921508"/>
            <a:ext cx="898398"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Infer + decide</a:t>
            </a:r>
            <a:endParaRPr lang="en-US" sz="1250" dirty="0"/>
          </a:p>
        </p:txBody>
      </p:sp>
      <p:sp>
        <p:nvSpPr>
          <p:cNvPr id="33" name="Text 30"/>
          <p:cNvSpPr/>
          <p:nvPr/>
        </p:nvSpPr>
        <p:spPr>
          <a:xfrm>
            <a:off x="9285732" y="3525012"/>
            <a:ext cx="898398"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grading rules</a:t>
            </a:r>
            <a:endParaRPr lang="en-US" sz="950" dirty="0"/>
          </a:p>
        </p:txBody>
      </p:sp>
      <p:sp>
        <p:nvSpPr>
          <p:cNvPr id="34" name="Shape 31"/>
          <p:cNvSpPr/>
          <p:nvPr/>
        </p:nvSpPr>
        <p:spPr>
          <a:xfrm>
            <a:off x="10312146" y="3552444"/>
            <a:ext cx="274320" cy="0"/>
          </a:xfrm>
          <a:prstGeom prst="line">
            <a:avLst/>
          </a:prstGeom>
          <a:noFill/>
          <a:ln w="19050">
            <a:solidFill>
              <a:srgbClr val="8A96A6"/>
            </a:solidFill>
            <a:prstDash val="solid"/>
            <a:headEnd type="none"/>
            <a:tailEnd type="triangle"/>
          </a:ln>
        </p:spPr>
      </p:sp>
      <p:sp>
        <p:nvSpPr>
          <p:cNvPr id="35" name="Shape 32"/>
          <p:cNvSpPr/>
          <p:nvPr/>
        </p:nvSpPr>
        <p:spPr>
          <a:xfrm>
            <a:off x="9734931" y="4238244"/>
            <a:ext cx="0" cy="274320"/>
          </a:xfrm>
          <a:prstGeom prst="line">
            <a:avLst/>
          </a:prstGeom>
          <a:noFill/>
          <a:ln w="15875">
            <a:solidFill>
              <a:srgbClr val="E8503A"/>
            </a:solidFill>
            <a:prstDash val="dash"/>
          </a:ln>
        </p:spPr>
      </p:sp>
      <p:sp>
        <p:nvSpPr>
          <p:cNvPr id="36" name="Shape 33"/>
          <p:cNvSpPr/>
          <p:nvPr/>
        </p:nvSpPr>
        <p:spPr>
          <a:xfrm>
            <a:off x="9166860" y="4512564"/>
            <a:ext cx="1136142" cy="475488"/>
          </a:xfrm>
          <a:prstGeom prst="roundRect">
            <a:avLst>
              <a:gd name="adj" fmla="val 11538"/>
            </a:avLst>
          </a:prstGeom>
          <a:solidFill>
            <a:srgbClr val="FDEDEA"/>
          </a:solidFill>
          <a:ln w="12700">
            <a:solidFill>
              <a:srgbClr val="E8503A"/>
            </a:solidFill>
            <a:prstDash val="solid"/>
          </a:ln>
        </p:spPr>
      </p:sp>
      <p:sp>
        <p:nvSpPr>
          <p:cNvPr id="37" name="Text 34"/>
          <p:cNvSpPr/>
          <p:nvPr/>
        </p:nvSpPr>
        <p:spPr>
          <a:xfrm>
            <a:off x="9212580" y="4512564"/>
            <a:ext cx="1044702" cy="475488"/>
          </a:xfrm>
          <a:prstGeom prst="rect">
            <a:avLst/>
          </a:prstGeom>
          <a:noFill/>
          <a:ln/>
        </p:spPr>
        <p:txBody>
          <a:bodyPr wrap="square" lIns="0" tIns="0" rIns="0" bIns="0" rtlCol="0" anchor="ctr"/>
          <a:lstStyle/>
          <a:p>
            <a:pPr algn="ctr" indent="0" marL="0">
              <a:buNone/>
            </a:pPr>
            <a:r>
              <a:rPr lang="en-US" sz="950" b="1" dirty="0">
                <a:solidFill>
                  <a:srgbClr val="E8503A"/>
                </a:solidFill>
                <a:latin typeface="Calibri" pitchFamily="34" charset="0"/>
                <a:ea typeface="Calibri" pitchFamily="34" charset="-122"/>
                <a:cs typeface="Calibri" pitchFamily="34" charset="-120"/>
              </a:rPr>
              <a:t>watchdog: latency + input-fingerprint drift</a:t>
            </a:r>
            <a:endParaRPr lang="en-US" sz="950" dirty="0"/>
          </a:p>
        </p:txBody>
      </p:sp>
      <p:sp>
        <p:nvSpPr>
          <p:cNvPr id="38" name="Shape 35"/>
          <p:cNvSpPr/>
          <p:nvPr/>
        </p:nvSpPr>
        <p:spPr>
          <a:xfrm>
            <a:off x="10641330" y="2866644"/>
            <a:ext cx="1044702" cy="1371600"/>
          </a:xfrm>
          <a:prstGeom prst="roundRect">
            <a:avLst>
              <a:gd name="adj" fmla="val 6127"/>
            </a:avLst>
          </a:prstGeom>
          <a:solidFill>
            <a:srgbClr val="1D2A5C"/>
          </a:solidFill>
          <a:ln w="15875">
            <a:solidFill>
              <a:srgbClr val="00A79D"/>
            </a:solidFill>
            <a:prstDash val="solid"/>
          </a:ln>
        </p:spPr>
      </p:sp>
      <p:sp>
        <p:nvSpPr>
          <p:cNvPr id="39" name="Text 36"/>
          <p:cNvSpPr/>
          <p:nvPr/>
        </p:nvSpPr>
        <p:spPr>
          <a:xfrm>
            <a:off x="10714482" y="2921508"/>
            <a:ext cx="898398"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Actuate</a:t>
            </a:r>
            <a:endParaRPr lang="en-US" sz="1250" dirty="0"/>
          </a:p>
        </p:txBody>
      </p:sp>
      <p:sp>
        <p:nvSpPr>
          <p:cNvPr id="40" name="Text 37"/>
          <p:cNvSpPr/>
          <p:nvPr/>
        </p:nvSpPr>
        <p:spPr>
          <a:xfrm>
            <a:off x="10714482" y="3525012"/>
            <a:ext cx="898398"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 JSON log</a:t>
            </a:r>
            <a:endParaRPr lang="en-US" sz="9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Common mistakes on the last mile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أخطاء شائعة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136</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Production hygiene: telemetry carries stage latencies + fingerprints per box; the previous bundle stays on-box for rollback.</a:t>
            </a:r>
            <a:endParaRPr lang="en-US" sz="1250" dirty="0"/>
          </a:p>
        </p:txBody>
      </p:sp>
      <p:graphicFrame>
        <p:nvGraphicFramePr>
          <p:cNvPr id="137"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3316053"/>
                <a:gridCol w="3829048"/>
                <a:gridCol w="4040755"/>
              </a:tblGrid>
              <a:tr h="628323">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Mistake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Consequence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Defence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Export without parity tests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Silently-decomposed op: −2 mAP, 3 days lost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Parity as a unit test, in CI on every export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Wrapper preprocessing from memory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Interpolation / normalisation drift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Equivalence-test vs eval_tf() on 50 real images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Unrepresentative calibration set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Daytime calibration, evening collapse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Sample calibration slice-aware, like the test set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Benchmarking model, not pipeline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9 ms inference inside a 70 ms pipeline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Time every stage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NMS baked into the graph</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Operating point un-tunable without re-export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Keep thresholds in config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No thermal soak test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Gulf-summer throttling found in production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Sustained-load run in acceptance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Export with parity verification</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التصدير مع التحقق من التطابق</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137</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1843430"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scripts/export_onnx.py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model.load_state_dict(ckpt["state_dict"])</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model.eval()                      # export in eval mode. Always.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dummy = torch.randn(1, 3, 224, 224)</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torch.onnx.export(model, dummy, "dist/grade_resnet50.onnx",</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opset_version=17,</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input_names=["image"], output_names=["logits"],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dynamic_axes=None)  # single camera: fix shapes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t>
            </a:r>
            <a:endParaRPr lang="en-US" sz="1000" dirty="0"/>
          </a:p>
          <a:p>
            <a:pPr indent="0" marL="0">
              <a:lnSpc>
                <a:spcPts val="1280"/>
              </a:lnSpc>
              <a:buNone/>
            </a:pPr>
            <a:r>
              <a:rPr lang="en-US" sz="1000" dirty="0">
                <a:solidFill>
                  <a:srgbClr val="8FBF71"/>
                </a:solidFill>
                <a:latin typeface="Courier New" pitchFamily="34" charset="0"/>
                <a:ea typeface="Courier New" pitchFamily="34" charset="-122"/>
                <a:cs typeface="Courier New" pitchFamily="34" charset="-120"/>
              </a:rPr>
              <a:t># parity test on REAL validation images, not random tensors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sess = ort.InferenceSession("dist/grade_resnet50.onnx",</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providers=["CPUExecutionProvider"])</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max_diff, flips = 0.0, 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for img, _ in parity_sample(n=100):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x = tf(img).unsqueeze(0)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with torch.no_grad():</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ref = model(x).numpy()</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out = sess.run(None, {"image": x.numpy()})[0]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max_diff = max(max_diff, float(np.abs(ref - out).max()))</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flips += int(ref.argmax() != out.argmax())</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assert max_diff &lt; 1e-4 and flips == 0, (max_diff, flips)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print(f"parity OK: max diff={max_diff:.2e}, flips={flips}/100")</a:t>
            </a:r>
            <a:endParaRPr lang="en-US" sz="1000" dirty="0"/>
          </a:p>
        </p:txBody>
      </p:sp>
      <p:sp>
        <p:nvSpPr>
          <p:cNvPr id="11" name="Shape 8"/>
          <p:cNvSpPr/>
          <p:nvPr/>
        </p:nvSpPr>
        <p:spPr>
          <a:xfrm>
            <a:off x="7973568" y="1389888"/>
            <a:ext cx="3712464" cy="1463040"/>
          </a:xfrm>
          <a:prstGeom prst="roundRect">
            <a:avLst>
              <a:gd name="adj" fmla="val 4375"/>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model.eval() — always</a:t>
            </a:r>
            <a:endParaRPr lang="en-US" sz="1150" dirty="0"/>
          </a:p>
        </p:txBody>
      </p:sp>
      <p:sp>
        <p:nvSpPr>
          <p:cNvPr id="15" name="Text 12"/>
          <p:cNvSpPr/>
          <p:nvPr/>
        </p:nvSpPr>
        <p:spPr>
          <a:xfrm>
            <a:off x="8430768" y="1719072"/>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The lab's planted bug: train-mode export gives random decision flips.</a:t>
            </a:r>
            <a:endParaRPr lang="en-US" sz="1000" dirty="0"/>
          </a:p>
        </p:txBody>
      </p:sp>
      <p:sp>
        <p:nvSpPr>
          <p:cNvPr id="16" name="Shape 13"/>
          <p:cNvSpPr/>
          <p:nvPr/>
        </p:nvSpPr>
        <p:spPr>
          <a:xfrm>
            <a:off x="7973568" y="3054096"/>
            <a:ext cx="3712464" cy="1463040"/>
          </a:xfrm>
          <a:prstGeom prst="roundRect">
            <a:avLst>
              <a:gd name="adj" fmla="val 4375"/>
            </a:avLst>
          </a:prstGeom>
          <a:solidFill>
            <a:srgbClr val="F2F6F9"/>
          </a:solidFill>
          <a:ln w="12700">
            <a:solidFill>
              <a:srgbClr val="D9E2EA"/>
            </a:solidFill>
            <a:prstDash val="solid"/>
          </a:ln>
        </p:spPr>
      </p:sp>
      <p:sp>
        <p:nvSpPr>
          <p:cNvPr id="17" name="Shape 14"/>
          <p:cNvSpPr/>
          <p:nvPr/>
        </p:nvSpPr>
        <p:spPr>
          <a:xfrm>
            <a:off x="8101584" y="3172968"/>
            <a:ext cx="237744" cy="237744"/>
          </a:xfrm>
          <a:prstGeom prst="ellipse">
            <a:avLst/>
          </a:prstGeom>
          <a:solidFill>
            <a:srgbClr val="29ABE2"/>
          </a:solidFill>
          <a:ln/>
        </p:spPr>
      </p:sp>
      <p:sp>
        <p:nvSpPr>
          <p:cNvPr id="18" name="Text 15"/>
          <p:cNvSpPr/>
          <p:nvPr/>
        </p:nvSpPr>
        <p:spPr>
          <a:xfrm>
            <a:off x="8101584" y="31729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3108960"/>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Real images, not tensors</a:t>
            </a:r>
            <a:endParaRPr lang="en-US" sz="1150" dirty="0"/>
          </a:p>
        </p:txBody>
      </p:sp>
      <p:sp>
        <p:nvSpPr>
          <p:cNvPr id="20" name="Text 17"/>
          <p:cNvSpPr/>
          <p:nvPr/>
        </p:nvSpPr>
        <p:spPr>
          <a:xfrm>
            <a:off x="8430768" y="3383280"/>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Random-tensor parity misses preprocessing drift entirely.</a:t>
            </a:r>
            <a:endParaRPr lang="en-US" sz="1000" dirty="0"/>
          </a:p>
        </p:txBody>
      </p:sp>
      <p:sp>
        <p:nvSpPr>
          <p:cNvPr id="21" name="Shape 18"/>
          <p:cNvSpPr/>
          <p:nvPr/>
        </p:nvSpPr>
        <p:spPr>
          <a:xfrm>
            <a:off x="7973568" y="4718304"/>
            <a:ext cx="3712464" cy="1463040"/>
          </a:xfrm>
          <a:prstGeom prst="roundRect">
            <a:avLst>
              <a:gd name="adj" fmla="val 4375"/>
            </a:avLst>
          </a:prstGeom>
          <a:solidFill>
            <a:srgbClr val="F2F6F9"/>
          </a:solidFill>
          <a:ln w="12700">
            <a:solidFill>
              <a:srgbClr val="D9E2EA"/>
            </a:solidFill>
            <a:prstDash val="solid"/>
          </a:ln>
        </p:spPr>
      </p:sp>
      <p:sp>
        <p:nvSpPr>
          <p:cNvPr id="22" name="Shape 19"/>
          <p:cNvSpPr/>
          <p:nvPr/>
        </p:nvSpPr>
        <p:spPr>
          <a:xfrm>
            <a:off x="8101584" y="4837176"/>
            <a:ext cx="237744" cy="237744"/>
          </a:xfrm>
          <a:prstGeom prst="ellipse">
            <a:avLst/>
          </a:prstGeom>
          <a:solidFill>
            <a:srgbClr val="F58220"/>
          </a:solidFill>
          <a:ln/>
        </p:spPr>
      </p:sp>
      <p:sp>
        <p:nvSpPr>
          <p:cNvPr id="23" name="Text 20"/>
          <p:cNvSpPr/>
          <p:nvPr/>
        </p:nvSpPr>
        <p:spPr>
          <a:xfrm>
            <a:off x="8101584" y="48371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773168"/>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Two assertions</a:t>
            </a:r>
            <a:endParaRPr lang="en-US" sz="1150" dirty="0"/>
          </a:p>
        </p:txBody>
      </p:sp>
      <p:sp>
        <p:nvSpPr>
          <p:cNvPr id="25" name="Text 22"/>
          <p:cNvSpPr/>
          <p:nvPr/>
        </p:nvSpPr>
        <p:spPr>
          <a:xfrm>
            <a:off x="8430768" y="5047488"/>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max diff &lt; 1e-4 AND zero decision flips — decisions are the stronger, cheaper test.</a:t>
            </a:r>
            <a:endParaRPr lang="en-US" sz="10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honest benchmark</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القياس الصادق</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138</a:t>
            </a:r>
            <a:endParaRPr lang="en-US" sz="900" dirty="0"/>
          </a:p>
        </p:txBody>
      </p:sp>
      <p:sp>
        <p:nvSpPr>
          <p:cNvPr id="7" name="Shape 4"/>
          <p:cNvSpPr/>
          <p:nvPr/>
        </p:nvSpPr>
        <p:spPr>
          <a:xfrm>
            <a:off x="502920" y="1389888"/>
            <a:ext cx="7178040" cy="4965192"/>
          </a:xfrm>
          <a:prstGeom prst="roundRect">
            <a:avLst>
              <a:gd name="adj" fmla="val 1842"/>
            </a:avLst>
          </a:prstGeom>
          <a:solidFill>
            <a:srgbClr val="0F172A"/>
          </a:solidFill>
          <a:ln/>
        </p:spPr>
      </p:sp>
      <p:sp>
        <p:nvSpPr>
          <p:cNvPr id="8" name="Shape 5"/>
          <p:cNvSpPr/>
          <p:nvPr/>
        </p:nvSpPr>
        <p:spPr>
          <a:xfrm>
            <a:off x="704088" y="1536192"/>
            <a:ext cx="1415491" cy="292608"/>
          </a:xfrm>
          <a:prstGeom prst="roundRect">
            <a:avLst>
              <a:gd name="adj" fmla="val 18750"/>
            </a:avLst>
          </a:prstGeom>
          <a:solidFill>
            <a:srgbClr val="1E293B"/>
          </a:solidFill>
          <a:ln/>
        </p:spPr>
      </p:sp>
      <p:sp>
        <p:nvSpPr>
          <p:cNvPr id="9" name="Text 6"/>
          <p:cNvSpPr/>
          <p:nvPr/>
        </p:nvSpPr>
        <p:spPr>
          <a:xfrm>
            <a:off x="795528" y="1536192"/>
            <a:ext cx="6629400" cy="292608"/>
          </a:xfrm>
          <a:prstGeom prst="rect">
            <a:avLst/>
          </a:prstGeom>
          <a:noFill/>
          <a:ln/>
        </p:spPr>
        <p:txBody>
          <a:bodyPr wrap="square" lIns="0" tIns="0" rIns="0" bIns="0" rtlCol="0" anchor="ctr"/>
          <a:lstStyle/>
          <a:p>
            <a:pPr indent="0" marL="0">
              <a:buNone/>
            </a:pPr>
            <a:r>
              <a:rPr lang="en-US" sz="950" dirty="0">
                <a:solidFill>
                  <a:srgbClr val="5EEAD4"/>
                </a:solidFill>
                <a:latin typeface="Courier New" pitchFamily="34" charset="0"/>
                <a:ea typeface="Courier New" pitchFamily="34" charset="-122"/>
                <a:cs typeface="Courier New" pitchFamily="34" charset="-120"/>
              </a:rPr>
              <a:t>scripts/bench.py</a:t>
            </a:r>
            <a:endParaRPr lang="en-US" sz="950" dirty="0"/>
          </a:p>
        </p:txBody>
      </p:sp>
      <p:sp>
        <p:nvSpPr>
          <p:cNvPr id="10" name="Text 7"/>
          <p:cNvSpPr/>
          <p:nvPr/>
        </p:nvSpPr>
        <p:spPr>
          <a:xfrm>
            <a:off x="758952" y="1920240"/>
            <a:ext cx="6720840" cy="4279392"/>
          </a:xfrm>
          <a:prstGeom prst="rect">
            <a:avLst/>
          </a:prstGeom>
          <a:noFill/>
          <a:ln/>
        </p:spPr>
        <p:txBody>
          <a:bodyPr wrap="square" lIns="0" tIns="0" rIns="0" bIns="0" rtlCol="0" anchor="t"/>
          <a:lstStyle/>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for _ in range(20):               # warm-up: JIT, allocs, provider</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sess.run(None, {"images": preprocess_cv2(frames[0])})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stages = {"pre": [], "infer": [], "post":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for i in range(500):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f = frames[i % len(frames)]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t0 = time.perf_counter()</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x = preprocess_cv2(f)         # equivalence-tested vs eval_tf</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t1 = time.perf_counter()</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raw = sess.run(None, {"images": x})</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t2 = time.perf_counter()</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dets = decode_and_nms(raw, op_config)  # NMS in code, not graph</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t3 = time.perf_counter()</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stages["pre"].append(t1 - t0)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stages["infer"].append(t2 - t1)</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stages["post"].append(t3 - t2)</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for k, v in stages.items():</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ms = np.array(v) * 1000</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print(f"{k:&gt;6}: p50={np.percentile(ms, 50):5.1f}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f"p95={np.percentile(ms, 95):5.1f}  "</a:t>
            </a:r>
            <a:endParaRPr lang="en-US" sz="1000" dirty="0"/>
          </a:p>
          <a:p>
            <a:pPr indent="0" marL="0">
              <a:lnSpc>
                <a:spcPts val="1280"/>
              </a:lnSpc>
              <a:buNone/>
            </a:pPr>
            <a:r>
              <a:rPr lang="en-US" sz="1000" dirty="0">
                <a:solidFill>
                  <a:srgbClr val="DCE6F5"/>
                </a:solidFill>
                <a:latin typeface="Courier New" pitchFamily="34" charset="0"/>
                <a:ea typeface="Courier New" pitchFamily="34" charset="-122"/>
                <a:cs typeface="Courier New" pitchFamily="34" charset="-120"/>
              </a:rPr>
              <a:t>          f"p99={np.percentile(ms, 99):5.1f} ms")</a:t>
            </a:r>
            <a:endParaRPr lang="en-US" sz="1000" dirty="0"/>
          </a:p>
        </p:txBody>
      </p:sp>
      <p:sp>
        <p:nvSpPr>
          <p:cNvPr id="11" name="Shape 8"/>
          <p:cNvSpPr/>
          <p:nvPr/>
        </p:nvSpPr>
        <p:spPr>
          <a:xfrm>
            <a:off x="7973568" y="1389888"/>
            <a:ext cx="3712464" cy="1463040"/>
          </a:xfrm>
          <a:prstGeom prst="roundRect">
            <a:avLst>
              <a:gd name="adj" fmla="val 4375"/>
            </a:avLst>
          </a:prstGeom>
          <a:solidFill>
            <a:srgbClr val="F2F6F9"/>
          </a:solidFill>
          <a:ln w="12700">
            <a:solidFill>
              <a:srgbClr val="D9E2EA"/>
            </a:solidFill>
            <a:prstDash val="solid"/>
          </a:ln>
        </p:spPr>
      </p:sp>
      <p:sp>
        <p:nvSpPr>
          <p:cNvPr id="12" name="Shape 9"/>
          <p:cNvSpPr/>
          <p:nvPr/>
        </p:nvSpPr>
        <p:spPr>
          <a:xfrm>
            <a:off x="8101584" y="1508760"/>
            <a:ext cx="237744" cy="237744"/>
          </a:xfrm>
          <a:prstGeom prst="ellipse">
            <a:avLst/>
          </a:prstGeom>
          <a:solidFill>
            <a:srgbClr val="00A79D"/>
          </a:solidFill>
          <a:ln/>
        </p:spPr>
      </p:sp>
      <p:sp>
        <p:nvSpPr>
          <p:cNvPr id="13" name="Text 10"/>
          <p:cNvSpPr/>
          <p:nvPr/>
        </p:nvSpPr>
        <p:spPr>
          <a:xfrm>
            <a:off x="8101584" y="15087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p:nvPr/>
        </p:nvSpPr>
        <p:spPr>
          <a:xfrm>
            <a:off x="8430768" y="1444752"/>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20 warm-up runs discarded</a:t>
            </a:r>
            <a:endParaRPr lang="en-US" sz="1150" dirty="0"/>
          </a:p>
        </p:txBody>
      </p:sp>
      <p:sp>
        <p:nvSpPr>
          <p:cNvPr id="15" name="Text 12"/>
          <p:cNvSpPr/>
          <p:nvPr/>
        </p:nvSpPr>
        <p:spPr>
          <a:xfrm>
            <a:off x="8430768" y="1719072"/>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First runs pay provider graph compilation — up to 10× slower.</a:t>
            </a:r>
            <a:endParaRPr lang="en-US" sz="1000" dirty="0"/>
          </a:p>
        </p:txBody>
      </p:sp>
      <p:sp>
        <p:nvSpPr>
          <p:cNvPr id="16" name="Shape 13"/>
          <p:cNvSpPr/>
          <p:nvPr/>
        </p:nvSpPr>
        <p:spPr>
          <a:xfrm>
            <a:off x="7973568" y="3054096"/>
            <a:ext cx="3712464" cy="1463040"/>
          </a:xfrm>
          <a:prstGeom prst="roundRect">
            <a:avLst>
              <a:gd name="adj" fmla="val 4375"/>
            </a:avLst>
          </a:prstGeom>
          <a:solidFill>
            <a:srgbClr val="F2F6F9"/>
          </a:solidFill>
          <a:ln w="12700">
            <a:solidFill>
              <a:srgbClr val="D9E2EA"/>
            </a:solidFill>
            <a:prstDash val="solid"/>
          </a:ln>
        </p:spPr>
      </p:sp>
      <p:sp>
        <p:nvSpPr>
          <p:cNvPr id="17" name="Shape 14"/>
          <p:cNvSpPr/>
          <p:nvPr/>
        </p:nvSpPr>
        <p:spPr>
          <a:xfrm>
            <a:off x="8101584" y="3172968"/>
            <a:ext cx="237744" cy="237744"/>
          </a:xfrm>
          <a:prstGeom prst="ellipse">
            <a:avLst/>
          </a:prstGeom>
          <a:solidFill>
            <a:srgbClr val="29ABE2"/>
          </a:solidFill>
          <a:ln/>
        </p:spPr>
      </p:sp>
      <p:sp>
        <p:nvSpPr>
          <p:cNvPr id="18" name="Text 15"/>
          <p:cNvSpPr/>
          <p:nvPr/>
        </p:nvSpPr>
        <p:spPr>
          <a:xfrm>
            <a:off x="8101584" y="31729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6"/>
          <p:cNvSpPr/>
          <p:nvPr/>
        </p:nvSpPr>
        <p:spPr>
          <a:xfrm>
            <a:off x="8430768" y="3108960"/>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Stage-by-stage timing</a:t>
            </a:r>
            <a:endParaRPr lang="en-US" sz="1150" dirty="0"/>
          </a:p>
        </p:txBody>
      </p:sp>
      <p:sp>
        <p:nvSpPr>
          <p:cNvPr id="20" name="Text 17"/>
          <p:cNvSpPr/>
          <p:nvPr/>
        </p:nvSpPr>
        <p:spPr>
          <a:xfrm>
            <a:off x="8430768" y="3383280"/>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The Amdahl reveal: preprocessing rivals inference after INT8.</a:t>
            </a:r>
            <a:endParaRPr lang="en-US" sz="1000" dirty="0"/>
          </a:p>
        </p:txBody>
      </p:sp>
      <p:sp>
        <p:nvSpPr>
          <p:cNvPr id="21" name="Shape 18"/>
          <p:cNvSpPr/>
          <p:nvPr/>
        </p:nvSpPr>
        <p:spPr>
          <a:xfrm>
            <a:off x="7973568" y="4718304"/>
            <a:ext cx="3712464" cy="1463040"/>
          </a:xfrm>
          <a:prstGeom prst="roundRect">
            <a:avLst>
              <a:gd name="adj" fmla="val 4375"/>
            </a:avLst>
          </a:prstGeom>
          <a:solidFill>
            <a:srgbClr val="F2F6F9"/>
          </a:solidFill>
          <a:ln w="12700">
            <a:solidFill>
              <a:srgbClr val="D9E2EA"/>
            </a:solidFill>
            <a:prstDash val="solid"/>
          </a:ln>
        </p:spPr>
      </p:sp>
      <p:sp>
        <p:nvSpPr>
          <p:cNvPr id="22" name="Shape 19"/>
          <p:cNvSpPr/>
          <p:nvPr/>
        </p:nvSpPr>
        <p:spPr>
          <a:xfrm>
            <a:off x="8101584" y="4837176"/>
            <a:ext cx="237744" cy="237744"/>
          </a:xfrm>
          <a:prstGeom prst="ellipse">
            <a:avLst/>
          </a:prstGeom>
          <a:solidFill>
            <a:srgbClr val="F58220"/>
          </a:solidFill>
          <a:ln/>
        </p:spPr>
      </p:sp>
      <p:sp>
        <p:nvSpPr>
          <p:cNvPr id="23" name="Text 20"/>
          <p:cNvSpPr/>
          <p:nvPr/>
        </p:nvSpPr>
        <p:spPr>
          <a:xfrm>
            <a:off x="8101584" y="48371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8430768" y="4773168"/>
            <a:ext cx="3145536" cy="274320"/>
          </a:xfrm>
          <a:prstGeom prst="rect">
            <a:avLst/>
          </a:prstGeom>
          <a:noFill/>
          <a:ln/>
        </p:spPr>
        <p:txBody>
          <a:bodyPr wrap="square" lIns="0" tIns="0" rIns="0" bIns="0" rtlCol="0" anchor="ctr"/>
          <a:lstStyle/>
          <a:p>
            <a:pPr indent="0" marL="0">
              <a:buNone/>
            </a:pPr>
            <a:r>
              <a:rPr lang="en-US" sz="1150" b="1" dirty="0">
                <a:solidFill>
                  <a:srgbClr val="1D2A5C"/>
                </a:solidFill>
                <a:latin typeface="Calibri" pitchFamily="34" charset="0"/>
                <a:ea typeface="Calibri" pitchFamily="34" charset="-122"/>
                <a:cs typeface="Calibri" pitchFamily="34" charset="-120"/>
              </a:rPr>
              <a:t>p50/p95/p99 over 500 runs</a:t>
            </a:r>
            <a:endParaRPr lang="en-US" sz="1150" dirty="0"/>
          </a:p>
        </p:txBody>
      </p:sp>
      <p:sp>
        <p:nvSpPr>
          <p:cNvPr id="25" name="Text 22"/>
          <p:cNvSpPr/>
          <p:nvPr/>
        </p:nvSpPr>
        <p:spPr>
          <a:xfrm>
            <a:off x="8430768" y="5047488"/>
            <a:ext cx="3145536" cy="1060704"/>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Means are for brochures; the eject gate misses on the tail.</a:t>
            </a:r>
            <a:endParaRPr lang="en-US" sz="10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7 — Export, optimise, benchmark</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المختبر السابع</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139</a:t>
            </a:r>
            <a:endParaRPr lang="en-US" sz="900" dirty="0"/>
          </a:p>
        </p:txBody>
      </p:sp>
      <p:sp>
        <p:nvSpPr>
          <p:cNvPr id="7" name="Shape 4"/>
          <p:cNvSpPr/>
          <p:nvPr/>
        </p:nvSpPr>
        <p:spPr>
          <a:xfrm>
            <a:off x="502920" y="1389888"/>
            <a:ext cx="5806440" cy="932688"/>
          </a:xfrm>
          <a:prstGeom prst="roundRect">
            <a:avLst>
              <a:gd name="adj" fmla="val 7843"/>
            </a:avLst>
          </a:prstGeom>
          <a:solidFill>
            <a:srgbClr val="E9F6F5"/>
          </a:solidFill>
          <a:ln w="12700">
            <a:solidFill>
              <a:srgbClr val="00A79D"/>
            </a:solidFill>
            <a:prstDash val="solid"/>
          </a:ln>
        </p:spPr>
      </p:sp>
      <p:sp>
        <p:nvSpPr>
          <p:cNvPr id="8" name="Text 5"/>
          <p:cNvSpPr/>
          <p:nvPr/>
        </p:nvSpPr>
        <p:spPr>
          <a:xfrm>
            <a:off x="649224" y="1463040"/>
            <a:ext cx="553212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OBJECTIVE</a:t>
            </a:r>
            <a:endParaRPr lang="en-US" sz="900" dirty="0"/>
          </a:p>
        </p:txBody>
      </p:sp>
      <p:sp>
        <p:nvSpPr>
          <p:cNvPr id="9" name="Text 6"/>
          <p:cNvSpPr/>
          <p:nvPr/>
        </p:nvSpPr>
        <p:spPr>
          <a:xfrm>
            <a:off x="649224" y="1682496"/>
            <a:ext cx="553212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Export both models to ONNX with passing parity tests, quantise to INT8, and build the trade-off table that selects the line config</a:t>
            </a:r>
            <a:endParaRPr lang="en-US" sz="1050" dirty="0"/>
          </a:p>
        </p:txBody>
      </p:sp>
      <p:sp>
        <p:nvSpPr>
          <p:cNvPr id="10" name="Shape 7"/>
          <p:cNvSpPr/>
          <p:nvPr/>
        </p:nvSpPr>
        <p:spPr>
          <a:xfrm>
            <a:off x="6510528" y="1389888"/>
            <a:ext cx="1600200" cy="932688"/>
          </a:xfrm>
          <a:prstGeom prst="roundRect">
            <a:avLst>
              <a:gd name="adj" fmla="val 7843"/>
            </a:avLst>
          </a:prstGeom>
          <a:solidFill>
            <a:srgbClr val="F2F6F9"/>
          </a:solidFill>
          <a:ln w="12700">
            <a:solidFill>
              <a:srgbClr val="D9E2EA"/>
            </a:solidFill>
            <a:prstDash val="solid"/>
          </a:ln>
        </p:spPr>
      </p:sp>
      <p:sp>
        <p:nvSpPr>
          <p:cNvPr id="11" name="Text 8"/>
          <p:cNvSpPr/>
          <p:nvPr/>
        </p:nvSpPr>
        <p:spPr>
          <a:xfrm>
            <a:off x="6656832" y="1463040"/>
            <a:ext cx="132588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DURATION</a:t>
            </a:r>
            <a:endParaRPr lang="en-US" sz="900" dirty="0"/>
          </a:p>
        </p:txBody>
      </p:sp>
      <p:sp>
        <p:nvSpPr>
          <p:cNvPr id="12" name="Text 9"/>
          <p:cNvSpPr/>
          <p:nvPr/>
        </p:nvSpPr>
        <p:spPr>
          <a:xfrm>
            <a:off x="6656832" y="1682496"/>
            <a:ext cx="132588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50 minutes</a:t>
            </a:r>
            <a:endParaRPr lang="en-US" sz="1050" dirty="0"/>
          </a:p>
        </p:txBody>
      </p:sp>
      <p:sp>
        <p:nvSpPr>
          <p:cNvPr id="13" name="Shape 10"/>
          <p:cNvSpPr/>
          <p:nvPr/>
        </p:nvSpPr>
        <p:spPr>
          <a:xfrm>
            <a:off x="8311896" y="1389888"/>
            <a:ext cx="3383280" cy="932688"/>
          </a:xfrm>
          <a:prstGeom prst="roundRect">
            <a:avLst>
              <a:gd name="adj" fmla="val 7843"/>
            </a:avLst>
          </a:prstGeom>
          <a:solidFill>
            <a:srgbClr val="F2F6F9"/>
          </a:solidFill>
          <a:ln w="12700">
            <a:solidFill>
              <a:srgbClr val="D9E2EA"/>
            </a:solidFill>
            <a:prstDash val="solid"/>
          </a:ln>
        </p:spPr>
      </p:sp>
      <p:sp>
        <p:nvSpPr>
          <p:cNvPr id="14" name="Text 11"/>
          <p:cNvSpPr/>
          <p:nvPr/>
        </p:nvSpPr>
        <p:spPr>
          <a:xfrm>
            <a:off x="8458200" y="1463040"/>
            <a:ext cx="3108960" cy="219456"/>
          </a:xfrm>
          <a:prstGeom prst="rect">
            <a:avLst/>
          </a:prstGeom>
          <a:noFill/>
          <a:ln/>
        </p:spPr>
        <p:txBody>
          <a:bodyPr wrap="square" lIns="0" tIns="0" rIns="0" bIns="0"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SETUP</a:t>
            </a:r>
            <a:endParaRPr lang="en-US" sz="900" dirty="0"/>
          </a:p>
        </p:txBody>
      </p:sp>
      <p:sp>
        <p:nvSpPr>
          <p:cNvPr id="15" name="Text 12"/>
          <p:cNvSpPr/>
          <p:nvPr/>
        </p:nvSpPr>
        <p:spPr>
          <a:xfrm>
            <a:off x="8458200" y="1682496"/>
            <a:ext cx="3108960" cy="585216"/>
          </a:xfrm>
          <a:prstGeom prst="rect">
            <a:avLst/>
          </a:prstGeom>
          <a:noFill/>
          <a:ln/>
        </p:spPr>
        <p:txBody>
          <a:bodyPr wrap="square" lIns="0" tIns="0" rIns="0" bIns="0" rtlCol="0" anchor="t"/>
          <a:lstStyle/>
          <a:p>
            <a:pPr indent="0" marL="0">
              <a:buNone/>
            </a:pPr>
            <a:r>
              <a:rPr lang="en-US" sz="1050" dirty="0">
                <a:solidFill>
                  <a:srgbClr val="23293B"/>
                </a:solidFill>
                <a:latin typeface="Calibri" pitchFamily="34" charset="0"/>
                <a:ea typeface="Calibri" pitchFamily="34" charset="-122"/>
                <a:cs typeface="Calibri" pitchFamily="34" charset="-120"/>
              </a:rPr>
              <a:t>git checkout lab7-start · onnxruntime + quant tools · CPU by design</a:t>
            </a:r>
            <a:endParaRPr lang="en-US" sz="1050" dirty="0"/>
          </a:p>
        </p:txBody>
      </p:sp>
      <p:sp>
        <p:nvSpPr>
          <p:cNvPr id="16" name="Shape 13"/>
          <p:cNvSpPr/>
          <p:nvPr/>
        </p:nvSpPr>
        <p:spPr>
          <a:xfrm>
            <a:off x="502920" y="2661666"/>
            <a:ext cx="274320" cy="274320"/>
          </a:xfrm>
          <a:prstGeom prst="ellipse">
            <a:avLst/>
          </a:prstGeom>
          <a:solidFill>
            <a:srgbClr val="1D2A5C"/>
          </a:solidFill>
          <a:ln/>
        </p:spPr>
      </p:sp>
      <p:sp>
        <p:nvSpPr>
          <p:cNvPr id="17" name="Text 14"/>
          <p:cNvSpPr/>
          <p:nvPr/>
        </p:nvSpPr>
        <p:spPr>
          <a:xfrm>
            <a:off x="502920" y="26616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Shape 15"/>
          <p:cNvSpPr/>
          <p:nvPr/>
        </p:nvSpPr>
        <p:spPr>
          <a:xfrm>
            <a:off x="886968" y="2661666"/>
            <a:ext cx="658368" cy="274320"/>
          </a:xfrm>
          <a:prstGeom prst="roundRect">
            <a:avLst>
              <a:gd name="adj" fmla="val 50000"/>
            </a:avLst>
          </a:prstGeom>
          <a:solidFill>
            <a:srgbClr val="E9F6F5"/>
          </a:solidFill>
          <a:ln w="9525">
            <a:solidFill>
              <a:srgbClr val="00A79D"/>
            </a:solidFill>
            <a:prstDash val="solid"/>
          </a:ln>
        </p:spPr>
      </p:sp>
      <p:sp>
        <p:nvSpPr>
          <p:cNvPr id="19" name="Text 16"/>
          <p:cNvSpPr/>
          <p:nvPr/>
        </p:nvSpPr>
        <p:spPr>
          <a:xfrm>
            <a:off x="886968" y="266166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20" name="Text 17"/>
          <p:cNvSpPr/>
          <p:nvPr/>
        </p:nvSpPr>
        <p:spPr>
          <a:xfrm>
            <a:off x="1673352" y="252374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Export classifier; parity fails — diagnose the planted train-mode bug, fix, record</a:t>
            </a:r>
            <a:endParaRPr lang="en-US" sz="1150" dirty="0"/>
          </a:p>
        </p:txBody>
      </p:sp>
      <p:sp>
        <p:nvSpPr>
          <p:cNvPr id="21" name="Shape 18"/>
          <p:cNvSpPr/>
          <p:nvPr/>
        </p:nvSpPr>
        <p:spPr>
          <a:xfrm>
            <a:off x="502920" y="3303270"/>
            <a:ext cx="274320" cy="274320"/>
          </a:xfrm>
          <a:prstGeom prst="ellipse">
            <a:avLst/>
          </a:prstGeom>
          <a:solidFill>
            <a:srgbClr val="1D2A5C"/>
          </a:solidFill>
          <a:ln/>
        </p:spPr>
      </p:sp>
      <p:sp>
        <p:nvSpPr>
          <p:cNvPr id="22" name="Text 19"/>
          <p:cNvSpPr/>
          <p:nvPr/>
        </p:nvSpPr>
        <p:spPr>
          <a:xfrm>
            <a:off x="502920" y="33032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Shape 20"/>
          <p:cNvSpPr/>
          <p:nvPr/>
        </p:nvSpPr>
        <p:spPr>
          <a:xfrm>
            <a:off x="886968" y="3303270"/>
            <a:ext cx="658368" cy="274320"/>
          </a:xfrm>
          <a:prstGeom prst="roundRect">
            <a:avLst>
              <a:gd name="adj" fmla="val 50000"/>
            </a:avLst>
          </a:prstGeom>
          <a:solidFill>
            <a:srgbClr val="E9F6F5"/>
          </a:solidFill>
          <a:ln w="9525">
            <a:solidFill>
              <a:srgbClr val="00A79D"/>
            </a:solidFill>
            <a:prstDash val="solid"/>
          </a:ln>
        </p:spPr>
      </p:sp>
      <p:sp>
        <p:nvSpPr>
          <p:cNvPr id="24" name="Text 21"/>
          <p:cNvSpPr/>
          <p:nvPr/>
        </p:nvSpPr>
        <p:spPr>
          <a:xfrm>
            <a:off x="886968" y="3303270"/>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25" name="Text 22"/>
          <p:cNvSpPr/>
          <p:nvPr/>
        </p:nvSpPr>
        <p:spPr>
          <a:xfrm>
            <a:off x="1673352" y="3165348"/>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Export detector at 416², no in-graph NMS; decision parity via the M6 harness</a:t>
            </a:r>
            <a:endParaRPr lang="en-US" sz="1150" dirty="0"/>
          </a:p>
        </p:txBody>
      </p:sp>
      <p:sp>
        <p:nvSpPr>
          <p:cNvPr id="26" name="Shape 23"/>
          <p:cNvSpPr/>
          <p:nvPr/>
        </p:nvSpPr>
        <p:spPr>
          <a:xfrm>
            <a:off x="502920" y="3944874"/>
            <a:ext cx="274320" cy="274320"/>
          </a:xfrm>
          <a:prstGeom prst="ellipse">
            <a:avLst/>
          </a:prstGeom>
          <a:solidFill>
            <a:srgbClr val="1D2A5C"/>
          </a:solidFill>
          <a:ln/>
        </p:spPr>
      </p:sp>
      <p:sp>
        <p:nvSpPr>
          <p:cNvPr id="27" name="Text 24"/>
          <p:cNvSpPr/>
          <p:nvPr/>
        </p:nvSpPr>
        <p:spPr>
          <a:xfrm>
            <a:off x="502920" y="39448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5"/>
          <p:cNvSpPr/>
          <p:nvPr/>
        </p:nvSpPr>
        <p:spPr>
          <a:xfrm>
            <a:off x="886968" y="3944874"/>
            <a:ext cx="658368" cy="274320"/>
          </a:xfrm>
          <a:prstGeom prst="roundRect">
            <a:avLst>
              <a:gd name="adj" fmla="val 50000"/>
            </a:avLst>
          </a:prstGeom>
          <a:solidFill>
            <a:srgbClr val="E9F6F5"/>
          </a:solidFill>
          <a:ln w="9525">
            <a:solidFill>
              <a:srgbClr val="00A79D"/>
            </a:solidFill>
            <a:prstDash val="solid"/>
          </a:ln>
        </p:spPr>
      </p:sp>
      <p:sp>
        <p:nvSpPr>
          <p:cNvPr id="29" name="Text 26"/>
          <p:cNvSpPr/>
          <p:nvPr/>
        </p:nvSpPr>
        <p:spPr>
          <a:xfrm>
            <a:off x="886968" y="3944874"/>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10 min</a:t>
            </a:r>
            <a:endParaRPr lang="en-US" sz="900" dirty="0"/>
          </a:p>
        </p:txBody>
      </p:sp>
      <p:sp>
        <p:nvSpPr>
          <p:cNvPr id="30" name="Text 27"/>
          <p:cNvSpPr/>
          <p:nvPr/>
        </p:nvSpPr>
        <p:spPr>
          <a:xfrm>
            <a:off x="1673352" y="3806952"/>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Quantise dynamic, then static INT8; re-run harness, record per-class deltas (s09!)</a:t>
            </a:r>
            <a:endParaRPr lang="en-US" sz="1150" dirty="0"/>
          </a:p>
        </p:txBody>
      </p:sp>
      <p:sp>
        <p:nvSpPr>
          <p:cNvPr id="31" name="Shape 28"/>
          <p:cNvSpPr/>
          <p:nvPr/>
        </p:nvSpPr>
        <p:spPr>
          <a:xfrm>
            <a:off x="502920" y="4586478"/>
            <a:ext cx="274320" cy="274320"/>
          </a:xfrm>
          <a:prstGeom prst="ellipse">
            <a:avLst/>
          </a:prstGeom>
          <a:solidFill>
            <a:srgbClr val="1D2A5C"/>
          </a:solidFill>
          <a:ln/>
        </p:spPr>
      </p:sp>
      <p:sp>
        <p:nvSpPr>
          <p:cNvPr id="32" name="Text 29"/>
          <p:cNvSpPr/>
          <p:nvPr/>
        </p:nvSpPr>
        <p:spPr>
          <a:xfrm>
            <a:off x="502920" y="458647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Shape 30"/>
          <p:cNvSpPr/>
          <p:nvPr/>
        </p:nvSpPr>
        <p:spPr>
          <a:xfrm>
            <a:off x="886968" y="4586478"/>
            <a:ext cx="658368" cy="274320"/>
          </a:xfrm>
          <a:prstGeom prst="roundRect">
            <a:avLst>
              <a:gd name="adj" fmla="val 50000"/>
            </a:avLst>
          </a:prstGeom>
          <a:solidFill>
            <a:srgbClr val="E9F6F5"/>
          </a:solidFill>
          <a:ln w="9525">
            <a:solidFill>
              <a:srgbClr val="00A79D"/>
            </a:solidFill>
            <a:prstDash val="solid"/>
          </a:ln>
        </p:spPr>
      </p:sp>
      <p:sp>
        <p:nvSpPr>
          <p:cNvPr id="34" name="Text 31"/>
          <p:cNvSpPr/>
          <p:nvPr/>
        </p:nvSpPr>
        <p:spPr>
          <a:xfrm>
            <a:off x="886968" y="4586478"/>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12 min</a:t>
            </a:r>
            <a:endParaRPr lang="en-US" sz="900" dirty="0"/>
          </a:p>
        </p:txBody>
      </p:sp>
      <p:sp>
        <p:nvSpPr>
          <p:cNvPr id="35" name="Text 32"/>
          <p:cNvSpPr/>
          <p:nvPr/>
        </p:nvSpPr>
        <p:spPr>
          <a:xfrm>
            <a:off x="1673352" y="4448556"/>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bench.py on 4 configs (FP32/INT8 × 640/416); find the dominant stage, mitigate once</a:t>
            </a:r>
            <a:endParaRPr lang="en-US" sz="1150" dirty="0"/>
          </a:p>
        </p:txBody>
      </p:sp>
      <p:sp>
        <p:nvSpPr>
          <p:cNvPr id="36" name="Shape 33"/>
          <p:cNvSpPr/>
          <p:nvPr/>
        </p:nvSpPr>
        <p:spPr>
          <a:xfrm>
            <a:off x="502920" y="5228082"/>
            <a:ext cx="274320" cy="274320"/>
          </a:xfrm>
          <a:prstGeom prst="ellipse">
            <a:avLst/>
          </a:prstGeom>
          <a:solidFill>
            <a:srgbClr val="1D2A5C"/>
          </a:solidFill>
          <a:ln/>
        </p:spPr>
      </p:sp>
      <p:sp>
        <p:nvSpPr>
          <p:cNvPr id="37" name="Text 34"/>
          <p:cNvSpPr/>
          <p:nvPr/>
        </p:nvSpPr>
        <p:spPr>
          <a:xfrm>
            <a:off x="502920" y="52280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Shape 35"/>
          <p:cNvSpPr/>
          <p:nvPr/>
        </p:nvSpPr>
        <p:spPr>
          <a:xfrm>
            <a:off x="886968" y="5228082"/>
            <a:ext cx="658368" cy="274320"/>
          </a:xfrm>
          <a:prstGeom prst="roundRect">
            <a:avLst>
              <a:gd name="adj" fmla="val 50000"/>
            </a:avLst>
          </a:prstGeom>
          <a:solidFill>
            <a:srgbClr val="E9F6F5"/>
          </a:solidFill>
          <a:ln w="9525">
            <a:solidFill>
              <a:srgbClr val="00A79D"/>
            </a:solidFill>
            <a:prstDash val="solid"/>
          </a:ln>
        </p:spPr>
      </p:sp>
      <p:sp>
        <p:nvSpPr>
          <p:cNvPr id="39" name="Text 36"/>
          <p:cNvSpPr/>
          <p:nvPr/>
        </p:nvSpPr>
        <p:spPr>
          <a:xfrm>
            <a:off x="886968" y="5228082"/>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8 min</a:t>
            </a:r>
            <a:endParaRPr lang="en-US" sz="900" dirty="0"/>
          </a:p>
        </p:txBody>
      </p:sp>
      <p:sp>
        <p:nvSpPr>
          <p:cNvPr id="40" name="Text 37"/>
          <p:cNvSpPr/>
          <p:nvPr/>
        </p:nvSpPr>
        <p:spPr>
          <a:xfrm>
            <a:off x="1673352" y="5090160"/>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Select the line config vs budget (p99 ≤ 90 ms); justify in BENCHMARKS.md + slice cost</a:t>
            </a:r>
            <a:endParaRPr lang="en-US" sz="1150" dirty="0"/>
          </a:p>
        </p:txBody>
      </p:sp>
      <p:sp>
        <p:nvSpPr>
          <p:cNvPr id="41" name="Shape 38"/>
          <p:cNvSpPr/>
          <p:nvPr/>
        </p:nvSpPr>
        <p:spPr>
          <a:xfrm>
            <a:off x="502920" y="5869686"/>
            <a:ext cx="274320" cy="274320"/>
          </a:xfrm>
          <a:prstGeom prst="ellipse">
            <a:avLst/>
          </a:prstGeom>
          <a:solidFill>
            <a:srgbClr val="1D2A5C"/>
          </a:solidFill>
          <a:ln/>
        </p:spPr>
      </p:sp>
      <p:sp>
        <p:nvSpPr>
          <p:cNvPr id="42" name="Text 39"/>
          <p:cNvSpPr/>
          <p:nvPr/>
        </p:nvSpPr>
        <p:spPr>
          <a:xfrm>
            <a:off x="502920" y="58696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3" name="Shape 40"/>
          <p:cNvSpPr/>
          <p:nvPr/>
        </p:nvSpPr>
        <p:spPr>
          <a:xfrm>
            <a:off x="886968" y="5869686"/>
            <a:ext cx="658368" cy="274320"/>
          </a:xfrm>
          <a:prstGeom prst="roundRect">
            <a:avLst>
              <a:gd name="adj" fmla="val 50000"/>
            </a:avLst>
          </a:prstGeom>
          <a:solidFill>
            <a:srgbClr val="E9F6F5"/>
          </a:solidFill>
          <a:ln w="9525">
            <a:solidFill>
              <a:srgbClr val="00A79D"/>
            </a:solidFill>
            <a:prstDash val="solid"/>
          </a:ln>
        </p:spPr>
      </p:sp>
      <p:sp>
        <p:nvSpPr>
          <p:cNvPr id="44" name="Text 41"/>
          <p:cNvSpPr/>
          <p:nvPr/>
        </p:nvSpPr>
        <p:spPr>
          <a:xfrm>
            <a:off x="886968" y="5869686"/>
            <a:ext cx="658368" cy="274320"/>
          </a:xfrm>
          <a:prstGeom prst="rect">
            <a:avLst/>
          </a:prstGeom>
          <a:noFill/>
          <a:ln/>
        </p:spPr>
        <p:txBody>
          <a:bodyPr wrap="square" lIns="0" tIns="0" rIns="0" bIns="0" rtlCol="0" anchor="ctr"/>
          <a:lstStyle/>
          <a:p>
            <a:pPr algn="ctr" indent="0" marL="0">
              <a:buNone/>
            </a:pPr>
            <a:r>
              <a:rPr lang="en-US" sz="900" b="1" dirty="0">
                <a:solidFill>
                  <a:srgbClr val="056A63"/>
                </a:solidFill>
                <a:latin typeface="Calibri" pitchFamily="34" charset="0"/>
                <a:ea typeface="Calibri" pitchFamily="34" charset="-122"/>
                <a:cs typeface="Calibri" pitchFamily="34" charset="-120"/>
              </a:rPr>
              <a:t>2 min</a:t>
            </a:r>
            <a:endParaRPr lang="en-US" sz="900" dirty="0"/>
          </a:p>
        </p:txBody>
      </p:sp>
      <p:sp>
        <p:nvSpPr>
          <p:cNvPr id="45" name="Text 42"/>
          <p:cNvSpPr/>
          <p:nvPr/>
        </p:nvSpPr>
        <p:spPr>
          <a:xfrm>
            <a:off x="1673352" y="5731764"/>
            <a:ext cx="5733288" cy="586740"/>
          </a:xfrm>
          <a:prstGeom prst="rect">
            <a:avLst/>
          </a:prstGeom>
          <a:noFill/>
          <a:ln/>
        </p:spPr>
        <p:txBody>
          <a:bodyPr wrap="square" lIns="0" tIns="0" rIns="0" bIns="0" rtlCol="0" anchor="ctr"/>
          <a:lstStyle/>
          <a:p>
            <a:pPr indent="0" marL="0">
              <a:buNone/>
            </a:pPr>
            <a:r>
              <a:rPr lang="en-US" sz="1150" dirty="0">
                <a:solidFill>
                  <a:srgbClr val="23293B"/>
                </a:solidFill>
                <a:latin typeface="Calibri" pitchFamily="34" charset="0"/>
                <a:ea typeface="Calibri" pitchFamily="34" charset="-122"/>
                <a:cs typeface="Calibri" pitchFamily="34" charset="-120"/>
              </a:rPr>
              <a:t>Commit: feat(deploy): ONNX + INT8 artefacts, benchmarked, line config selected</a:t>
            </a:r>
            <a:endParaRPr lang="en-US" sz="1150" dirty="0"/>
          </a:p>
        </p:txBody>
      </p:sp>
      <p:sp>
        <p:nvSpPr>
          <p:cNvPr id="46" name="Shape 43"/>
          <p:cNvSpPr/>
          <p:nvPr/>
        </p:nvSpPr>
        <p:spPr>
          <a:xfrm>
            <a:off x="7635240" y="2505456"/>
            <a:ext cx="4050792" cy="3849624"/>
          </a:xfrm>
          <a:prstGeom prst="roundRect">
            <a:avLst>
              <a:gd name="adj" fmla="val 2375"/>
            </a:avLst>
          </a:prstGeom>
          <a:solidFill>
            <a:srgbClr val="0F172A"/>
          </a:solidFill>
          <a:ln/>
        </p:spPr>
      </p:sp>
      <p:sp>
        <p:nvSpPr>
          <p:cNvPr id="47" name="Text 44"/>
          <p:cNvSpPr/>
          <p:nvPr/>
        </p:nvSpPr>
        <p:spPr>
          <a:xfrm>
            <a:off x="7818120" y="2615184"/>
            <a:ext cx="3685032" cy="237744"/>
          </a:xfrm>
          <a:prstGeom prst="rect">
            <a:avLst/>
          </a:prstGeom>
          <a:noFill/>
          <a:ln/>
        </p:spPr>
        <p:txBody>
          <a:bodyPr wrap="square" lIns="0" tIns="0" rIns="0" bIns="0" rtlCol="0" anchor="ctr"/>
          <a:lstStyle/>
          <a:p>
            <a:pPr indent="0" marL="0">
              <a:buNone/>
            </a:pPr>
            <a:r>
              <a:rPr lang="en-US" sz="900" b="1" spc="200" kern="0" dirty="0">
                <a:solidFill>
                  <a:srgbClr val="5EEAD4"/>
                </a:solidFill>
                <a:latin typeface="Calibri" pitchFamily="34" charset="0"/>
                <a:ea typeface="Calibri" pitchFamily="34" charset="-122"/>
                <a:cs typeface="Calibri" pitchFamily="34" charset="-120"/>
              </a:rPr>
              <a:t>EXPECTED OUTPUT</a:t>
            </a:r>
            <a:endParaRPr lang="en-US" sz="900" dirty="0"/>
          </a:p>
        </p:txBody>
      </p:sp>
      <p:sp>
        <p:nvSpPr>
          <p:cNvPr id="48" name="Text 45"/>
          <p:cNvSpPr/>
          <p:nvPr/>
        </p:nvSpPr>
        <p:spPr>
          <a:xfrm>
            <a:off x="7818120" y="2907792"/>
            <a:ext cx="3703320" cy="3300984"/>
          </a:xfrm>
          <a:prstGeom prst="rect">
            <a:avLst/>
          </a:prstGeom>
          <a:noFill/>
          <a:ln/>
        </p:spPr>
        <p:txBody>
          <a:bodyPr wrap="square" lIns="0" tIns="0" rIns="0" bIns="0" rtlCol="0" anchor="t"/>
          <a:lstStyle/>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scripts/export_onnx.py</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parity OK: max diff=3.1e-05, flips=0/100</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python scripts/bench.py    # INT8 @ 416</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pre: p50=  5.8  p95=  7.1  p99=  9.4 ms</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infer: p50= 11.2  p95= 13.0  p99= 16.8 ms</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post: p50=  2.1  p95=  2.9  p99=  3.7 ms</a:t>
            </a:r>
            <a:endParaRPr lang="en-US" sz="900" dirty="0"/>
          </a:p>
          <a:p>
            <a:pPr indent="0" marL="0">
              <a:lnSpc>
                <a:spcPts val="1170"/>
              </a:lnSpc>
              <a:buNone/>
            </a:pPr>
            <a:r>
              <a:rPr lang="en-US" sz="900" dirty="0">
                <a:solidFill>
                  <a:srgbClr val="DCE6F5"/>
                </a:solidFill>
                <a:latin typeface="Courier New" pitchFamily="34" charset="0"/>
                <a:ea typeface="Courier New" pitchFamily="34" charset="-122"/>
                <a:cs typeface="Courier New" pitchFamily="34" charset="-120"/>
              </a:rPr>
              <a:t> TOTAL: p99= 28.9 ms (budget 380 ms e2e)</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Lab 7 troubleshooting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استكشاف الأخطاء</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 LAB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140</a:t>
            </a:r>
            <a:endParaRPr lang="en-US" sz="900" dirty="0"/>
          </a:p>
        </p:txBody>
      </p:sp>
      <p:graphicFrame>
        <p:nvGraphicFramePr>
          <p:cNvPr id="141"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3479952"/>
                <a:gridCol w="3419426"/>
                <a:gridCol w="4286477"/>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Random-pattern decision flips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Exported in train mode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model.eval() before export (the planted bug)</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Parity diff ~1e-2, systematic</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Wrapper preprocessing drift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Equivalence-test preprocess_cv2 vs eval_tf()</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INT8 collapse on one slice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Unrepresentative calibration</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Re-stratify by session / time bucket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First bench run 10× slower</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No warm-up (graph compile)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Discard ≥ 20 warm-up runs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OpenVINO EP not found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Package variant without it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CPUExecutionProvider; note EP in the table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7 — Check your understanding</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اختبار قصير</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 QUIZ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141</a:t>
            </a:r>
            <a:endParaRPr lang="en-US" sz="900" dirty="0"/>
          </a:p>
        </p:txBody>
      </p:sp>
      <p:sp>
        <p:nvSpPr>
          <p:cNvPr id="7" name="Shape 4"/>
          <p:cNvSpPr/>
          <p:nvPr/>
        </p:nvSpPr>
        <p:spPr>
          <a:xfrm>
            <a:off x="502920" y="1417320"/>
            <a:ext cx="11183112" cy="801014"/>
          </a:xfrm>
          <a:prstGeom prst="roundRect">
            <a:avLst>
              <a:gd name="adj" fmla="val 9132"/>
            </a:avLst>
          </a:prstGeom>
          <a:solidFill>
            <a:srgbClr val="F2F6F9"/>
          </a:solidFill>
          <a:ln w="9525">
            <a:solidFill>
              <a:srgbClr val="D9E2EA"/>
            </a:solidFill>
            <a:prstDash val="solid"/>
          </a:ln>
        </p:spPr>
      </p:sp>
      <p:sp>
        <p:nvSpPr>
          <p:cNvPr id="8" name="Shape 5"/>
          <p:cNvSpPr/>
          <p:nvPr/>
        </p:nvSpPr>
        <p:spPr>
          <a:xfrm>
            <a:off x="649224" y="1644091"/>
            <a:ext cx="347472" cy="347472"/>
          </a:xfrm>
          <a:prstGeom prst="ellipse">
            <a:avLst/>
          </a:prstGeom>
          <a:solidFill>
            <a:srgbClr val="F58220"/>
          </a:solidFill>
          <a:ln/>
        </p:spPr>
      </p:sp>
      <p:sp>
        <p:nvSpPr>
          <p:cNvPr id="9" name="Text 6"/>
          <p:cNvSpPr/>
          <p:nvPr/>
        </p:nvSpPr>
        <p:spPr>
          <a:xfrm>
            <a:off x="649224" y="1644091"/>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p>
        </p:txBody>
      </p:sp>
      <p:sp>
        <p:nvSpPr>
          <p:cNvPr id="10" name="Text 7"/>
          <p:cNvSpPr/>
          <p:nvPr/>
        </p:nvSpPr>
        <p:spPr>
          <a:xfrm>
            <a:off x="1161288" y="141732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What two artefact-level tests must pass before an ONNX export is 'done'?</a:t>
            </a:r>
            <a:endParaRPr lang="en-US" sz="1250" dirty="0"/>
          </a:p>
        </p:txBody>
      </p:sp>
      <p:sp>
        <p:nvSpPr>
          <p:cNvPr id="11" name="Shape 8"/>
          <p:cNvSpPr/>
          <p:nvPr/>
        </p:nvSpPr>
        <p:spPr>
          <a:xfrm>
            <a:off x="502920" y="2346350"/>
            <a:ext cx="11183112" cy="801014"/>
          </a:xfrm>
          <a:prstGeom prst="roundRect">
            <a:avLst>
              <a:gd name="adj" fmla="val 9132"/>
            </a:avLst>
          </a:prstGeom>
          <a:solidFill>
            <a:srgbClr val="F2F6F9"/>
          </a:solidFill>
          <a:ln w="9525">
            <a:solidFill>
              <a:srgbClr val="D9E2EA"/>
            </a:solidFill>
            <a:prstDash val="solid"/>
          </a:ln>
        </p:spPr>
      </p:sp>
      <p:sp>
        <p:nvSpPr>
          <p:cNvPr id="12" name="Shape 9"/>
          <p:cNvSpPr/>
          <p:nvPr/>
        </p:nvSpPr>
        <p:spPr>
          <a:xfrm>
            <a:off x="649224" y="2573122"/>
            <a:ext cx="347472" cy="347472"/>
          </a:xfrm>
          <a:prstGeom prst="ellipse">
            <a:avLst/>
          </a:prstGeom>
          <a:solidFill>
            <a:srgbClr val="F58220"/>
          </a:solidFill>
          <a:ln/>
        </p:spPr>
      </p:sp>
      <p:sp>
        <p:nvSpPr>
          <p:cNvPr id="13" name="Text 10"/>
          <p:cNvSpPr/>
          <p:nvPr/>
        </p:nvSpPr>
        <p:spPr>
          <a:xfrm>
            <a:off x="649224" y="257312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p>
        </p:txBody>
      </p:sp>
      <p:sp>
        <p:nvSpPr>
          <p:cNvPr id="14" name="Text 11"/>
          <p:cNvSpPr/>
          <p:nvPr/>
        </p:nvSpPr>
        <p:spPr>
          <a:xfrm>
            <a:off x="1161288" y="2346350"/>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Static vs dynamic quantisation — what does static add, and what does it therefore need?</a:t>
            </a:r>
            <a:endParaRPr lang="en-US" sz="1250" dirty="0"/>
          </a:p>
        </p:txBody>
      </p:sp>
      <p:sp>
        <p:nvSpPr>
          <p:cNvPr id="15" name="Shape 12"/>
          <p:cNvSpPr/>
          <p:nvPr/>
        </p:nvSpPr>
        <p:spPr>
          <a:xfrm>
            <a:off x="502920" y="3275381"/>
            <a:ext cx="11183112" cy="801014"/>
          </a:xfrm>
          <a:prstGeom prst="roundRect">
            <a:avLst>
              <a:gd name="adj" fmla="val 9132"/>
            </a:avLst>
          </a:prstGeom>
          <a:solidFill>
            <a:srgbClr val="F2F6F9"/>
          </a:solidFill>
          <a:ln w="9525">
            <a:solidFill>
              <a:srgbClr val="D9E2EA"/>
            </a:solidFill>
            <a:prstDash val="solid"/>
          </a:ln>
        </p:spPr>
      </p:sp>
      <p:sp>
        <p:nvSpPr>
          <p:cNvPr id="16" name="Shape 13"/>
          <p:cNvSpPr/>
          <p:nvPr/>
        </p:nvSpPr>
        <p:spPr>
          <a:xfrm>
            <a:off x="649224" y="3502152"/>
            <a:ext cx="347472" cy="347472"/>
          </a:xfrm>
          <a:prstGeom prst="ellipse">
            <a:avLst/>
          </a:prstGeom>
          <a:solidFill>
            <a:srgbClr val="F58220"/>
          </a:solidFill>
          <a:ln/>
        </p:spPr>
      </p:sp>
      <p:sp>
        <p:nvSpPr>
          <p:cNvPr id="17" name="Text 14"/>
          <p:cNvSpPr/>
          <p:nvPr/>
        </p:nvSpPr>
        <p:spPr>
          <a:xfrm>
            <a:off x="649224" y="350215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p>
        </p:txBody>
      </p:sp>
      <p:sp>
        <p:nvSpPr>
          <p:cNvPr id="18" name="Text 15"/>
          <p:cNvSpPr/>
          <p:nvPr/>
        </p:nvSpPr>
        <p:spPr>
          <a:xfrm>
            <a:off x="1161288" y="327538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report p99 rather than mean latency for the eject gate?</a:t>
            </a:r>
            <a:endParaRPr lang="en-US" sz="1250" dirty="0"/>
          </a:p>
        </p:txBody>
      </p:sp>
      <p:sp>
        <p:nvSpPr>
          <p:cNvPr id="19" name="Shape 16"/>
          <p:cNvSpPr/>
          <p:nvPr/>
        </p:nvSpPr>
        <p:spPr>
          <a:xfrm>
            <a:off x="502920" y="4204411"/>
            <a:ext cx="11183112" cy="801014"/>
          </a:xfrm>
          <a:prstGeom prst="roundRect">
            <a:avLst>
              <a:gd name="adj" fmla="val 9132"/>
            </a:avLst>
          </a:prstGeom>
          <a:solidFill>
            <a:srgbClr val="F2F6F9"/>
          </a:solidFill>
          <a:ln w="9525">
            <a:solidFill>
              <a:srgbClr val="D9E2EA"/>
            </a:solidFill>
            <a:prstDash val="solid"/>
          </a:ln>
        </p:spPr>
      </p:sp>
      <p:sp>
        <p:nvSpPr>
          <p:cNvPr id="20" name="Shape 17"/>
          <p:cNvSpPr/>
          <p:nvPr/>
        </p:nvSpPr>
        <p:spPr>
          <a:xfrm>
            <a:off x="649224" y="4431182"/>
            <a:ext cx="347472" cy="347472"/>
          </a:xfrm>
          <a:prstGeom prst="ellipse">
            <a:avLst/>
          </a:prstGeom>
          <a:solidFill>
            <a:srgbClr val="F58220"/>
          </a:solidFill>
          <a:ln/>
        </p:spPr>
      </p:sp>
      <p:sp>
        <p:nvSpPr>
          <p:cNvPr id="21" name="Text 18"/>
          <p:cNvSpPr/>
          <p:nvPr/>
        </p:nvSpPr>
        <p:spPr>
          <a:xfrm>
            <a:off x="649224" y="443118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p>
        </p:txBody>
      </p:sp>
      <p:sp>
        <p:nvSpPr>
          <p:cNvPr id="22" name="Text 19"/>
          <p:cNvSpPr/>
          <p:nvPr/>
        </p:nvSpPr>
        <p:spPr>
          <a:xfrm>
            <a:off x="1161288" y="4204411"/>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Why did the course export the detector WITHOUT in-graph NMS?</a:t>
            </a:r>
            <a:endParaRPr lang="en-US" sz="1250" dirty="0"/>
          </a:p>
        </p:txBody>
      </p:sp>
      <p:sp>
        <p:nvSpPr>
          <p:cNvPr id="23" name="Shape 20"/>
          <p:cNvSpPr/>
          <p:nvPr/>
        </p:nvSpPr>
        <p:spPr>
          <a:xfrm>
            <a:off x="502920" y="5133442"/>
            <a:ext cx="11183112" cy="801014"/>
          </a:xfrm>
          <a:prstGeom prst="roundRect">
            <a:avLst>
              <a:gd name="adj" fmla="val 9132"/>
            </a:avLst>
          </a:prstGeom>
          <a:solidFill>
            <a:srgbClr val="F2F6F9"/>
          </a:solidFill>
          <a:ln w="9525">
            <a:solidFill>
              <a:srgbClr val="D9E2EA"/>
            </a:solidFill>
            <a:prstDash val="solid"/>
          </a:ln>
        </p:spPr>
      </p:sp>
      <p:sp>
        <p:nvSpPr>
          <p:cNvPr id="24" name="Shape 21"/>
          <p:cNvSpPr/>
          <p:nvPr/>
        </p:nvSpPr>
        <p:spPr>
          <a:xfrm>
            <a:off x="649224" y="5360213"/>
            <a:ext cx="347472" cy="347472"/>
          </a:xfrm>
          <a:prstGeom prst="ellipse">
            <a:avLst/>
          </a:prstGeom>
          <a:solidFill>
            <a:srgbClr val="F58220"/>
          </a:solidFill>
          <a:ln/>
        </p:spPr>
      </p:sp>
      <p:sp>
        <p:nvSpPr>
          <p:cNvPr id="25" name="Text 22"/>
          <p:cNvSpPr/>
          <p:nvPr/>
        </p:nvSpPr>
        <p:spPr>
          <a:xfrm>
            <a:off x="649224" y="5360213"/>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Q5</a:t>
            </a:r>
            <a:endParaRPr lang="en-US" sz="1050" dirty="0"/>
          </a:p>
        </p:txBody>
      </p:sp>
      <p:sp>
        <p:nvSpPr>
          <p:cNvPr id="26" name="Text 23"/>
          <p:cNvSpPr/>
          <p:nvPr/>
        </p:nvSpPr>
        <p:spPr>
          <a:xfrm>
            <a:off x="1161288" y="5133442"/>
            <a:ext cx="10332720" cy="801014"/>
          </a:xfrm>
          <a:prstGeom prst="rect">
            <a:avLst/>
          </a:prstGeom>
          <a:noFill/>
          <a:ln/>
        </p:spPr>
        <p:txBody>
          <a:bodyPr wrap="square" lIns="0" tIns="0" rIns="0" bIns="0" rtlCol="0" anchor="ctr"/>
          <a:lstStyle/>
          <a:p>
            <a:pPr indent="0" marL="0">
              <a:buNone/>
            </a:pPr>
            <a:r>
              <a:rPr lang="en-US" sz="1250" dirty="0">
                <a:solidFill>
                  <a:srgbClr val="23293B"/>
                </a:solidFill>
                <a:latin typeface="Calibri" pitchFamily="34" charset="0"/>
                <a:ea typeface="Calibri" pitchFamily="34" charset="-122"/>
                <a:cs typeface="Calibri" pitchFamily="34" charset="-120"/>
              </a:rPr>
              <a:t>True/False: a 2.3× inference speed-up (640→416) yields ~2.3× pipeline speed-up.</a:t>
            </a:r>
            <a:endParaRPr lang="en-US" sz="1250" dirty="0"/>
          </a:p>
        </p:txBody>
      </p:sp>
      <p:sp>
        <p:nvSpPr>
          <p:cNvPr id="27" name="Text 24"/>
          <p:cNvSpPr/>
          <p:nvPr/>
        </p:nvSpPr>
        <p:spPr>
          <a:xfrm>
            <a:off x="502920" y="6099048"/>
            <a:ext cx="11183112" cy="274320"/>
          </a:xfrm>
          <a:prstGeom prst="rect">
            <a:avLst/>
          </a:prstGeom>
          <a:noFill/>
          <a:ln/>
        </p:spPr>
        <p:txBody>
          <a:bodyPr wrap="square" lIns="0" tIns="0" rIns="0" bIns="0" rtlCol="0" anchor="ctr"/>
          <a:lstStyle/>
          <a:p>
            <a:pPr algn="r" indent="0" marL="0">
              <a:buNone/>
            </a:pPr>
            <a:r>
              <a:rPr lang="en-US" sz="1000" i="1" dirty="0">
                <a:solidFill>
                  <a:srgbClr val="8A96A6"/>
                </a:solidFill>
                <a:latin typeface="Calibri" pitchFamily="34" charset="0"/>
                <a:ea typeface="Calibri" pitchFamily="34" charset="-122"/>
                <a:cs typeface="Calibri" pitchFamily="34" charset="-120"/>
              </a:rPr>
              <a:t>Answers and marking guidance: speaker notes below ▼</a:t>
            </a:r>
            <a:endParaRPr lang="en-US" sz="10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Beyond the lab: debug, review, discuss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تمارين إضافية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142</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Debugging — sim-calib-day</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INT8 aggregate mAP drops only 0.013, but s09 recall falls 0.11. Find it via the slice report, re-stratify the calibration set, re-quantise, show the recovery.</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Code review — a deployment PR</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Normalisation at 0.5/0.5 'close enough'; a single timed run with no warm-up; conf=0.25 baked in via nms=True. Three findings, each with the incident it becomes.</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 the cloud pitch</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An integrator proposes streaming all frames to a Riyadh region 'for simplicity'. Build the rejection from the 380 ms budget and bandwidth arithmetic.</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Discussion — mid-shift crash</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Walk the fallback ladder. Which choice belongs to engineering, and which to food-safety?</a:t>
            </a:r>
            <a:endParaRPr lang="en-US" sz="11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Case study — ANPR at an industrial-city gate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دراسة حالة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 CASE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143</a:t>
            </a:r>
            <a:endParaRPr lang="en-US" sz="900" dirty="0"/>
          </a:p>
        </p:txBody>
      </p:sp>
      <p:sp>
        <p:nvSpPr>
          <p:cNvPr id="7" name="Text 4"/>
          <p:cNvSpPr/>
          <p:nvPr/>
        </p:nvSpPr>
        <p:spPr>
          <a:xfrm>
            <a:off x="502920" y="138988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SCENARIO</a:t>
            </a:r>
            <a:endParaRPr lang="en-US" sz="1000" dirty="0"/>
          </a:p>
        </p:txBody>
      </p:sp>
      <p:sp>
        <p:nvSpPr>
          <p:cNvPr id="8" name="Text 5"/>
          <p:cNvSpPr/>
          <p:nvPr/>
        </p:nvSpPr>
        <p:spPr>
          <a:xfrm>
            <a:off x="502920" y="1645920"/>
            <a:ext cx="6035040" cy="896112"/>
          </a:xfrm>
          <a:prstGeom prst="rect">
            <a:avLst/>
          </a:prstGeom>
          <a:noFill/>
          <a:ln/>
        </p:spPr>
        <p:txBody>
          <a:bodyPr wrap="square" lIns="0" tIns="0" rIns="0" bIns="0" rtlCol="0" anchor="t"/>
          <a:lstStyle/>
          <a:p>
            <a:pPr indent="0" marL="0">
              <a:buNone/>
            </a:pPr>
            <a:r>
              <a:rPr lang="en-US" sz="1150" dirty="0">
                <a:solidFill>
                  <a:srgbClr val="23293B"/>
                </a:solidFill>
                <a:latin typeface="Calibri" pitchFamily="34" charset="0"/>
                <a:ea typeface="Calibri" pitchFamily="34" charset="-122"/>
                <a:cs typeface="Calibri" pitchFamily="34" charset="-120"/>
              </a:rPr>
              <a:t>An industrial city runs 14 vehicle gates with ANPR feeding access control. The incumbent sends every gate-camera frame to a cloud API: monthly costs climb with traffic, and the 200 ms barrier-open budget is intermittently blown — queues form at shift change, and tailgating rises when guards override the slow barrier.</a:t>
            </a:r>
            <a:endParaRPr lang="en-US" sz="1150" dirty="0"/>
          </a:p>
        </p:txBody>
      </p:sp>
      <p:sp>
        <p:nvSpPr>
          <p:cNvPr id="9" name="Text 6"/>
          <p:cNvSpPr/>
          <p:nvPr/>
        </p:nvSpPr>
        <p:spPr>
          <a:xfrm>
            <a:off x="502920" y="2706624"/>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BUSINESS CONTEXT</a:t>
            </a:r>
            <a:endParaRPr lang="en-US" sz="1000" dirty="0"/>
          </a:p>
        </p:txBody>
      </p:sp>
      <p:sp>
        <p:nvSpPr>
          <p:cNvPr id="10" name="Text 7"/>
          <p:cNvSpPr/>
          <p:nvPr/>
        </p:nvSpPr>
        <p:spPr>
          <a:xfrm>
            <a:off x="502920" y="2962656"/>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operator wants cost predictability and a hard latency guarantee; security wants zero degradation in plate-read accuracy; the data-governance office flags that gate imagery — faces visible through windshields — is leaving the country.</a:t>
            </a:r>
            <a:endParaRPr lang="en-US" sz="1150" dirty="0"/>
          </a:p>
        </p:txBody>
      </p:sp>
      <p:sp>
        <p:nvSpPr>
          <p:cNvPr id="11" name="Text 8"/>
          <p:cNvSpPr/>
          <p:nvPr/>
        </p:nvSpPr>
        <p:spPr>
          <a:xfrm>
            <a:off x="502920" y="3813048"/>
            <a:ext cx="6035040" cy="237744"/>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TECHNICAL CHALLENGE</a:t>
            </a:r>
            <a:endParaRPr lang="en-US" sz="1000" dirty="0"/>
          </a:p>
        </p:txBody>
      </p:sp>
      <p:sp>
        <p:nvSpPr>
          <p:cNvPr id="12" name="Text 9"/>
          <p:cNvSpPr/>
          <p:nvPr/>
        </p:nvSpPr>
        <p:spPr>
          <a:xfrm>
            <a:off x="502920" y="4069080"/>
            <a:ext cx="6035040" cy="685800"/>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Migrate detection + plate reading to edge boxes at each gate inside 200 ms, at parity accuracy, with a fleet update mechanism for 14 sites — and an evidence pack that convinces security to switch.</a:t>
            </a:r>
            <a:endParaRPr lang="en-US" sz="1150" dirty="0"/>
          </a:p>
        </p:txBody>
      </p:sp>
      <p:sp>
        <p:nvSpPr>
          <p:cNvPr id="13" name="Shape 10"/>
          <p:cNvSpPr/>
          <p:nvPr/>
        </p:nvSpPr>
        <p:spPr>
          <a:xfrm>
            <a:off x="6858000" y="1389888"/>
            <a:ext cx="4828032" cy="2184684"/>
          </a:xfrm>
          <a:prstGeom prst="roundRect">
            <a:avLst>
              <a:gd name="adj" fmla="val 3767"/>
            </a:avLst>
          </a:prstGeom>
          <a:solidFill>
            <a:srgbClr val="F2F6F9"/>
          </a:solidFill>
          <a:ln w="12700">
            <a:solidFill>
              <a:srgbClr val="D9E2EA"/>
            </a:solidFill>
            <a:prstDash val="solid"/>
          </a:ln>
        </p:spPr>
      </p:sp>
      <p:sp>
        <p:nvSpPr>
          <p:cNvPr id="14" name="Text 11"/>
          <p:cNvSpPr/>
          <p:nvPr/>
        </p:nvSpPr>
        <p:spPr>
          <a:xfrm>
            <a:off x="7040880" y="1481328"/>
            <a:ext cx="4462272" cy="237744"/>
          </a:xfrm>
          <a:prstGeom prst="rect">
            <a:avLst/>
          </a:prstGeom>
          <a:noFill/>
          <a:ln/>
        </p:spPr>
        <p:txBody>
          <a:bodyPr wrap="square" lIns="0" tIns="0" rIns="0" bIns="0" rtlCol="0" anchor="ctr"/>
          <a:lstStyle/>
          <a:p>
            <a:pPr indent="0" marL="0">
              <a:buNone/>
            </a:pPr>
            <a:r>
              <a:rPr lang="en-US" sz="950" b="1" spc="200" kern="0" dirty="0">
                <a:solidFill>
                  <a:srgbClr val="F58220"/>
                </a:solidFill>
                <a:latin typeface="Calibri" pitchFamily="34" charset="0"/>
                <a:ea typeface="Calibri" pitchFamily="34" charset="-122"/>
                <a:cs typeface="Calibri" pitchFamily="34" charset="-120"/>
              </a:rPr>
              <a:t>CONSTRAINTS</a:t>
            </a:r>
            <a:endParaRPr lang="en-US" sz="950" dirty="0"/>
          </a:p>
        </p:txBody>
      </p:sp>
      <p:sp>
        <p:nvSpPr>
          <p:cNvPr id="15" name="Text 12"/>
          <p:cNvSpPr/>
          <p:nvPr/>
        </p:nvSpPr>
        <p:spPr>
          <a:xfrm>
            <a:off x="7095744" y="1755648"/>
            <a:ext cx="4370832" cy="1681764"/>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Fanless Intel PCs, no GPU — OpenVINO territory</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Summer ambient &gt; 45 °C: thermal soak mandatory</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Saudi + GCC plate formats — slice taxonomy</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Vendor shares no test set: build a frozen split</a:t>
            </a:r>
            <a:endParaRPr lang="en-US" sz="1050" dirty="0"/>
          </a:p>
          <a:p>
            <a:pPr marL="127000" indent="-127000">
              <a:spcAft>
                <a:spcPts val="500"/>
              </a:spcAft>
              <a:buSzPct val="100000"/>
              <a:buChar char="•"/>
            </a:pPr>
            <a:r>
              <a:rPr lang="en-US" sz="1050" dirty="0">
                <a:solidFill>
                  <a:srgbClr val="23293B"/>
                </a:solidFill>
                <a:latin typeface="Calibri" pitchFamily="34" charset="0"/>
                <a:ea typeface="Calibri" pitchFamily="34" charset="-122"/>
                <a:cs typeface="Calibri" pitchFamily="34" charset="-120"/>
              </a:rPr>
              <a:t>Night and sandstorm frames are the hard slices</a:t>
            </a:r>
            <a:endParaRPr lang="en-US" sz="1050" dirty="0"/>
          </a:p>
        </p:txBody>
      </p:sp>
      <p:sp>
        <p:nvSpPr>
          <p:cNvPr id="16" name="Shape 13"/>
          <p:cNvSpPr/>
          <p:nvPr/>
        </p:nvSpPr>
        <p:spPr>
          <a:xfrm>
            <a:off x="6858000" y="3803172"/>
            <a:ext cx="4828032" cy="2551908"/>
          </a:xfrm>
          <a:prstGeom prst="roundRect">
            <a:avLst>
              <a:gd name="adj" fmla="val 3225"/>
            </a:avLst>
          </a:prstGeom>
          <a:solidFill>
            <a:srgbClr val="E9F6F5"/>
          </a:solidFill>
          <a:ln w="12700">
            <a:solidFill>
              <a:srgbClr val="00A79D"/>
            </a:solidFill>
            <a:prstDash val="solid"/>
          </a:ln>
        </p:spPr>
      </p:sp>
      <p:sp>
        <p:nvSpPr>
          <p:cNvPr id="17" name="Text 14"/>
          <p:cNvSpPr/>
          <p:nvPr/>
        </p:nvSpPr>
        <p:spPr>
          <a:xfrm>
            <a:off x="7040880" y="3894612"/>
            <a:ext cx="4462272" cy="237744"/>
          </a:xfrm>
          <a:prstGeom prst="rect">
            <a:avLst/>
          </a:prstGeom>
          <a:noFill/>
          <a:ln/>
        </p:spPr>
        <p:txBody>
          <a:bodyPr wrap="square" lIns="0" tIns="0" rIns="0" bIns="0" rtlCol="0" anchor="ctr"/>
          <a:lstStyle/>
          <a:p>
            <a:pPr indent="0" marL="0">
              <a:buNone/>
            </a:pPr>
            <a:r>
              <a:rPr lang="en-US" sz="950" b="1" spc="200" kern="0" dirty="0">
                <a:solidFill>
                  <a:srgbClr val="00A79D"/>
                </a:solidFill>
                <a:latin typeface="Calibri" pitchFamily="34" charset="0"/>
                <a:ea typeface="Calibri" pitchFamily="34" charset="-122"/>
                <a:cs typeface="Calibri" pitchFamily="34" charset="-120"/>
              </a:rPr>
              <a:t>DISCUSSION QUESTIONS</a:t>
            </a:r>
            <a:endParaRPr lang="en-US" sz="950" dirty="0"/>
          </a:p>
        </p:txBody>
      </p:sp>
      <p:sp>
        <p:nvSpPr>
          <p:cNvPr id="18" name="Text 15"/>
          <p:cNvSpPr/>
          <p:nvPr/>
        </p:nvSpPr>
        <p:spPr>
          <a:xfrm>
            <a:off x="7095744" y="4168932"/>
            <a:ext cx="4370832" cy="2048988"/>
          </a:xfrm>
          <a:prstGeom prst="rect">
            <a:avLst/>
          </a:prstGeom>
          <a:noFill/>
          <a:ln/>
        </p:spPr>
        <p:txBody>
          <a:bodyPr wrap="square" lIns="0" tIns="0" rIns="0" bIns="0" rtlCol="0" anchor="t"/>
          <a:lstStyle/>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1.  Why must the operator's own frozen split referee the migration?</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2.  Design the calibration set — what breaks per missing slice?</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3.  Shadow mode doubles cost for a month — what can only it measure?</a:t>
            </a:r>
            <a:endParaRPr lang="en-US" sz="1050" dirty="0"/>
          </a:p>
          <a:p>
            <a:pPr indent="0" marL="0">
              <a:spcAft>
                <a:spcPts val="600"/>
              </a:spcAft>
              <a:buNone/>
            </a:pPr>
            <a:r>
              <a:rPr lang="en-US" sz="1050" dirty="0">
                <a:solidFill>
                  <a:srgbClr val="23293B"/>
                </a:solidFill>
                <a:latin typeface="Calibri" pitchFamily="34" charset="0"/>
                <a:ea typeface="Calibri" pitchFamily="34" charset="-122"/>
                <a:cs typeface="Calibri" pitchFamily="34" charset="-120"/>
              </a:rPr>
              <a:t>4.  Vendor offers a regional endpoint — which problems remain?</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Module 7 benchmarks: the trade-off table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جدول المفاضلة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MODULE 7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144</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Targets: parity &lt; 1e-4 with 0 flips · INT8 cost ≤ 0.02 mAP, no slice worse than 0.03 · pipeline p99 ≤ 90 ms · ≤ 12 MB INT8</a:t>
            </a:r>
            <a:endParaRPr lang="en-US" sz="1250" dirty="0"/>
          </a:p>
        </p:txBody>
      </p:sp>
      <p:graphicFrame>
        <p:nvGraphicFramePr>
          <p:cNvPr id="145"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3500975"/>
                <a:gridCol w="3330091"/>
                <a:gridCol w="2646488"/>
                <a:gridCol w="1708301"/>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Config</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mAP@0.5 / insect AP</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Pipeline p99</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FP32 @ 640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0.903 / 0.887</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96.1 ms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38 MB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FP32 @ 416</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0.882 / 0.829</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51.0 ms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38 MB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INT8 @ 640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0.895 / 0.879</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52.7 ms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 MB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INT8 @ 416 — selected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0.871 / 0.821</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28.9 ms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 MB</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CAPSTONE</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Tamr Vision — The Complete Edge Inspection System</a:t>
            </a:r>
            <a:endParaRPr lang="en-US" sz="3600" dirty="0"/>
          </a:p>
        </p:txBody>
      </p:sp>
      <p:sp>
        <p:nvSpPr>
          <p:cNvPr id="22" name="Text 19"/>
          <p:cNvSpPr/>
          <p:nvPr/>
        </p:nvSpPr>
        <p:spPr>
          <a:xfrm>
            <a:off x="777240" y="312724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رؤية تمر — نظام الفحص الطرفي المتكامل</a:t>
            </a:r>
            <a:endParaRPr lang="en-US" sz="1700" dirty="0"/>
          </a:p>
        </p:txBody>
      </p:sp>
      <p:sp>
        <p:nvSpPr>
          <p:cNvPr id="23" name="Text 20"/>
          <p:cNvSpPr/>
          <p:nvPr/>
        </p:nvSpPr>
        <p:spPr>
          <a:xfrm>
            <a:off x="804672" y="370332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One system: pipeline, classifier, detector, segmenter</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Refereed by your own harness on the frozen split</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Deployed as parity-tested, quantised edge artefacts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Plus one extension of your choice</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WHAT YOU DEMO</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5-minute run on sample footage with live decisions and logs, one harness insight, one defended trade-off, and your remediation plan's top line</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145</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Mandatory scope: seven requirements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المتطلبات الإلزامية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CAPSTONE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146</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Each requirement maps to the module that taught it — the capstone is integration plus your own engineering judgement.</a:t>
            </a:r>
            <a:endParaRPr lang="en-US" sz="1250" dirty="0"/>
          </a:p>
        </p:txBody>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3773042"/>
                <a:gridCol w="5072872"/>
                <a:gridCol w="2339941"/>
              </a:tblGrid>
              <a:tr h="549783">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Requirement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Bar (frozen v2 test split)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LOs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54978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Input pipeline + contract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Equivalence test passes; augmentation justified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LO1, LO3</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54978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Classification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macro-F1 ≥ 0.90; reject recall ≥ 0.95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LO1, LO4</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54978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Detection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mAP@0.5 ≥ 0.88; documented operating point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LO2, LO4-5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54978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Segmentation + measurement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mask mAP ≥ 0.80; area MAE ≤ 1.5 pp; 8% rule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LO2, LO5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54978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Dataset curation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v2 release artefacts + attributed v1→v2 delta</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LO3</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54978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Evaluation harness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Per-class/slice reports; taxonomy; CI on delta</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LO5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54978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Deployment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Parity + slice-checked INT8 + trade-off table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LO6</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system you assemble</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النظام الذي ستجمعه</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CAPSTONE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147</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The eject gate fires inside the 380 ms end-to-end budget; grading rules (8% area rule, operating points) live in config.</a:t>
            </a:r>
            <a:endParaRPr lang="en-US" sz="1250" dirty="0"/>
          </a:p>
        </p:txBody>
      </p:sp>
      <p:sp>
        <p:nvSpPr>
          <p:cNvPr id="8" name="Shape 5"/>
          <p:cNvSpPr/>
          <p:nvPr/>
        </p:nvSpPr>
        <p:spPr>
          <a:xfrm>
            <a:off x="502920" y="1892808"/>
            <a:ext cx="11185855" cy="637032"/>
          </a:xfrm>
          <a:prstGeom prst="roundRect">
            <a:avLst>
              <a:gd name="adj" fmla="val 8612"/>
            </a:avLst>
          </a:prstGeom>
          <a:solidFill>
            <a:srgbClr val="1D2A5C"/>
          </a:solidFill>
          <a:ln/>
        </p:spPr>
      </p:sp>
      <p:sp>
        <p:nvSpPr>
          <p:cNvPr id="9" name="Text 6"/>
          <p:cNvSpPr/>
          <p:nvPr/>
        </p:nvSpPr>
        <p:spPr>
          <a:xfrm>
            <a:off x="685800" y="1892808"/>
            <a:ext cx="4698059" cy="637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dates-qc releases</a:t>
            </a:r>
            <a:endParaRPr lang="en-US" sz="1300" dirty="0"/>
          </a:p>
        </p:txBody>
      </p:sp>
      <p:sp>
        <p:nvSpPr>
          <p:cNvPr id="10" name="Text 7"/>
          <p:cNvSpPr/>
          <p:nvPr/>
        </p:nvSpPr>
        <p:spPr>
          <a:xfrm>
            <a:off x="5424696" y="1892808"/>
            <a:ext cx="5928503" cy="63703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v1 → v2 (M5), with the frozen test split alongside</a:t>
            </a:r>
            <a:endParaRPr lang="en-US" sz="1050" dirty="0"/>
          </a:p>
        </p:txBody>
      </p:sp>
      <p:sp>
        <p:nvSpPr>
          <p:cNvPr id="11" name="Shape 8"/>
          <p:cNvSpPr/>
          <p:nvPr/>
        </p:nvSpPr>
        <p:spPr>
          <a:xfrm>
            <a:off x="758952" y="2657856"/>
            <a:ext cx="10673791" cy="637032"/>
          </a:xfrm>
          <a:prstGeom prst="roundRect">
            <a:avLst>
              <a:gd name="adj" fmla="val 8612"/>
            </a:avLst>
          </a:prstGeom>
          <a:solidFill>
            <a:srgbClr val="24437E"/>
          </a:solidFill>
          <a:ln/>
        </p:spPr>
      </p:sp>
      <p:sp>
        <p:nvSpPr>
          <p:cNvPr id="12" name="Text 9"/>
          <p:cNvSpPr/>
          <p:nvPr/>
        </p:nvSpPr>
        <p:spPr>
          <a:xfrm>
            <a:off x="941832" y="2657856"/>
            <a:ext cx="4482992" cy="637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Training world (GPU)</a:t>
            </a:r>
            <a:endParaRPr lang="en-US" sz="1300" dirty="0"/>
          </a:p>
        </p:txBody>
      </p:sp>
      <p:sp>
        <p:nvSpPr>
          <p:cNvPr id="13" name="Text 10"/>
          <p:cNvSpPr/>
          <p:nvPr/>
        </p:nvSpPr>
        <p:spPr>
          <a:xfrm>
            <a:off x="5455420" y="2657856"/>
            <a:ext cx="5657109" cy="63703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classifier (M2) · detector (M3) · segmenter (M4)</a:t>
            </a:r>
            <a:endParaRPr lang="en-US" sz="1050" dirty="0"/>
          </a:p>
        </p:txBody>
      </p:sp>
      <p:sp>
        <p:nvSpPr>
          <p:cNvPr id="14" name="Shape 11"/>
          <p:cNvSpPr/>
          <p:nvPr/>
        </p:nvSpPr>
        <p:spPr>
          <a:xfrm>
            <a:off x="1014984" y="3422904"/>
            <a:ext cx="10161727" cy="637032"/>
          </a:xfrm>
          <a:prstGeom prst="roundRect">
            <a:avLst>
              <a:gd name="adj" fmla="val 8612"/>
            </a:avLst>
          </a:prstGeom>
          <a:solidFill>
            <a:srgbClr val="2A5CA0"/>
          </a:solidFill>
          <a:ln/>
        </p:spPr>
      </p:sp>
      <p:sp>
        <p:nvSpPr>
          <p:cNvPr id="15" name="Text 12"/>
          <p:cNvSpPr/>
          <p:nvPr/>
        </p:nvSpPr>
        <p:spPr>
          <a:xfrm>
            <a:off x="1197864" y="3422904"/>
            <a:ext cx="4267925" cy="637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Evaluation harness (M6)</a:t>
            </a:r>
            <a:endParaRPr lang="en-US" sz="1300" dirty="0"/>
          </a:p>
        </p:txBody>
      </p:sp>
      <p:sp>
        <p:nvSpPr>
          <p:cNvPr id="16" name="Text 13"/>
          <p:cNvSpPr/>
          <p:nvPr/>
        </p:nvSpPr>
        <p:spPr>
          <a:xfrm>
            <a:off x="5486144" y="3422904"/>
            <a:ext cx="5385715" cy="63703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regression + slices — referees everything</a:t>
            </a:r>
            <a:endParaRPr lang="en-US" sz="1050" dirty="0"/>
          </a:p>
        </p:txBody>
      </p:sp>
      <p:sp>
        <p:nvSpPr>
          <p:cNvPr id="17" name="Shape 14"/>
          <p:cNvSpPr/>
          <p:nvPr/>
        </p:nvSpPr>
        <p:spPr>
          <a:xfrm>
            <a:off x="1271016" y="4187952"/>
            <a:ext cx="9649663" cy="637032"/>
          </a:xfrm>
          <a:prstGeom prst="roundRect">
            <a:avLst>
              <a:gd name="adj" fmla="val 8612"/>
            </a:avLst>
          </a:prstGeom>
          <a:solidFill>
            <a:srgbClr val="1F7FB8"/>
          </a:solidFill>
          <a:ln/>
        </p:spPr>
      </p:sp>
      <p:sp>
        <p:nvSpPr>
          <p:cNvPr id="18" name="Text 15"/>
          <p:cNvSpPr/>
          <p:nvPr/>
        </p:nvSpPr>
        <p:spPr>
          <a:xfrm>
            <a:off x="1453896" y="4187952"/>
            <a:ext cx="4052859" cy="637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Export gate (M7)</a:t>
            </a:r>
            <a:endParaRPr lang="en-US" sz="1300" dirty="0"/>
          </a:p>
        </p:txBody>
      </p:sp>
      <p:sp>
        <p:nvSpPr>
          <p:cNvPr id="19" name="Text 16"/>
          <p:cNvSpPr/>
          <p:nvPr/>
        </p:nvSpPr>
        <p:spPr>
          <a:xfrm>
            <a:off x="5516868" y="4187952"/>
            <a:ext cx="5114321" cy="63703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parity + INT8 → versioned bundle</a:t>
            </a:r>
            <a:endParaRPr lang="en-US" sz="1050" dirty="0"/>
          </a:p>
        </p:txBody>
      </p:sp>
      <p:sp>
        <p:nvSpPr>
          <p:cNvPr id="20" name="Shape 17"/>
          <p:cNvSpPr/>
          <p:nvPr/>
        </p:nvSpPr>
        <p:spPr>
          <a:xfrm>
            <a:off x="1527048" y="4953000"/>
            <a:ext cx="9137599" cy="637032"/>
          </a:xfrm>
          <a:prstGeom prst="roundRect">
            <a:avLst>
              <a:gd name="adj" fmla="val 8612"/>
            </a:avLst>
          </a:prstGeom>
          <a:solidFill>
            <a:srgbClr val="29ABE2"/>
          </a:solidFill>
          <a:ln/>
        </p:spPr>
      </p:sp>
      <p:sp>
        <p:nvSpPr>
          <p:cNvPr id="21" name="Text 18"/>
          <p:cNvSpPr/>
          <p:nvPr/>
        </p:nvSpPr>
        <p:spPr>
          <a:xfrm>
            <a:off x="1709928" y="4953000"/>
            <a:ext cx="3837792" cy="637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Edge box</a:t>
            </a:r>
            <a:endParaRPr lang="en-US" sz="1300" dirty="0"/>
          </a:p>
        </p:txBody>
      </p:sp>
      <p:sp>
        <p:nvSpPr>
          <p:cNvPr id="22" name="Text 19"/>
          <p:cNvSpPr/>
          <p:nvPr/>
        </p:nvSpPr>
        <p:spPr>
          <a:xfrm>
            <a:off x="5547592" y="4953000"/>
            <a:ext cx="4842928" cy="63703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capture → contract → detect/segment/classify → grading rules</a:t>
            </a:r>
            <a:endParaRPr lang="en-US" sz="1050" dirty="0"/>
          </a:p>
        </p:txBody>
      </p:sp>
      <p:sp>
        <p:nvSpPr>
          <p:cNvPr id="23" name="Shape 20"/>
          <p:cNvSpPr/>
          <p:nvPr/>
        </p:nvSpPr>
        <p:spPr>
          <a:xfrm>
            <a:off x="1783080" y="5718048"/>
            <a:ext cx="8625535" cy="637032"/>
          </a:xfrm>
          <a:prstGeom prst="roundRect">
            <a:avLst>
              <a:gd name="adj" fmla="val 8612"/>
            </a:avLst>
          </a:prstGeom>
          <a:solidFill>
            <a:srgbClr val="00A79D"/>
          </a:solidFill>
          <a:ln/>
        </p:spPr>
      </p:sp>
      <p:sp>
        <p:nvSpPr>
          <p:cNvPr id="24" name="Text 21"/>
          <p:cNvSpPr/>
          <p:nvPr/>
        </p:nvSpPr>
        <p:spPr>
          <a:xfrm>
            <a:off x="1965960" y="5718048"/>
            <a:ext cx="3622725" cy="637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Audit / AL flywheel</a:t>
            </a:r>
            <a:endParaRPr lang="en-US" sz="1300" dirty="0"/>
          </a:p>
        </p:txBody>
      </p:sp>
      <p:sp>
        <p:nvSpPr>
          <p:cNvPr id="25" name="Text 22"/>
          <p:cNvSpPr/>
          <p:nvPr/>
        </p:nvSpPr>
        <p:spPr>
          <a:xfrm>
            <a:off x="5578315" y="5718048"/>
            <a:ext cx="4571534" cy="637032"/>
          </a:xfrm>
          <a:prstGeom prst="rect">
            <a:avLst/>
          </a:prstGeom>
          <a:noFill/>
          <a:ln/>
        </p:spPr>
        <p:txBody>
          <a:bodyPr wrap="square" lIns="0" tIns="0" rIns="0" bIns="0" rtlCol="0" anchor="ctr"/>
          <a:lstStyle/>
          <a:p>
            <a:pPr indent="0" marL="0">
              <a:buNone/>
            </a:pPr>
            <a:r>
              <a:rPr lang="en-US" sz="1050" dirty="0">
                <a:solidFill>
                  <a:srgbClr val="D9E4F5"/>
                </a:solidFill>
                <a:latin typeface="Calibri" pitchFamily="34" charset="0"/>
                <a:ea typeface="Calibri" pitchFamily="34" charset="-122"/>
                <a:cs typeface="Calibri" pitchFamily="34" charset="-120"/>
              </a:rPr>
              <a:t>decision logs feed the M5 loop back toward v3</a:t>
            </a:r>
            <a:endParaRPr lang="en-US" sz="10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Six milestones, six gates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المعالم والبوابات</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CAPSTONE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148</a:t>
            </a:r>
            <a:endParaRPr lang="en-US" sz="900" dirty="0"/>
          </a:p>
        </p:txBody>
      </p:sp>
      <p:graphicFrame>
        <p:nvGraphicFramePr>
          <p:cNvPr id="149"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4817605"/>
                <a:gridCol w="2606333"/>
                <a:gridCol w="3761917"/>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Milestone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Due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Gate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M-A: pipeline + classifier + detector</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End Day 2 H3</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Instructor spot-check</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M-B: segmentation + measurement wired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End Day 2</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Area report on 20 frames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M-C: v2 release + retrain + regression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Day 3 H5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Regression summary posted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M-D: exported, quantised, benchmarked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Day 4 H2</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Trade-off table complete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M-E: assembled system + audit + extension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Day 4 H4</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Capstone checklist green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M-F: demo + submission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Day 4 H5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Rubric scoring</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What you submit</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ما الذي تسلّمه</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CAPSTONE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149</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Plus the 5-minute demo. Repos and BENCHMARKS.md are collected at the end of Hour 4, before demos begin.</a:t>
            </a:r>
            <a:endParaRPr lang="en-US" sz="1250" dirty="0"/>
          </a:p>
        </p:txBody>
      </p:sp>
      <p:sp>
        <p:nvSpPr>
          <p:cNvPr id="8" name="Shape 5"/>
          <p:cNvSpPr/>
          <p:nvPr/>
        </p:nvSpPr>
        <p:spPr>
          <a:xfrm>
            <a:off x="502920" y="1892808"/>
            <a:ext cx="3545738" cy="2103120"/>
          </a:xfrm>
          <a:prstGeom prst="roundRect">
            <a:avLst>
              <a:gd name="adj" fmla="val 3478"/>
            </a:avLst>
          </a:prstGeom>
          <a:solidFill>
            <a:srgbClr val="F2F6F9"/>
          </a:solidFill>
          <a:ln w="12700">
            <a:solidFill>
              <a:srgbClr val="D9E2EA"/>
            </a:solidFill>
            <a:prstDash val="solid"/>
          </a:ln>
        </p:spPr>
      </p:sp>
      <p:sp>
        <p:nvSpPr>
          <p:cNvPr id="9" name="Shape 6"/>
          <p:cNvSpPr/>
          <p:nvPr/>
        </p:nvSpPr>
        <p:spPr>
          <a:xfrm>
            <a:off x="667512" y="2039112"/>
            <a:ext cx="310896" cy="310896"/>
          </a:xfrm>
          <a:prstGeom prst="ellipse">
            <a:avLst/>
          </a:prstGeom>
          <a:solidFill>
            <a:srgbClr val="00A79D"/>
          </a:solidFill>
          <a:ln/>
        </p:spPr>
      </p:sp>
      <p:sp>
        <p:nvSpPr>
          <p:cNvPr id="10" name="Text 7"/>
          <p:cNvSpPr/>
          <p:nvPr/>
        </p:nvSpPr>
        <p:spPr>
          <a:xfrm>
            <a:off x="667512" y="2039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1088136" y="2002536"/>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Repository</a:t>
            </a:r>
            <a:endParaRPr lang="en-US" sz="1250" dirty="0"/>
          </a:p>
        </p:txBody>
      </p:sp>
      <p:sp>
        <p:nvSpPr>
          <p:cNvPr id="12" name="Text 9"/>
          <p:cNvSpPr/>
          <p:nvPr/>
        </p:nvSpPr>
        <p:spPr>
          <a:xfrm>
            <a:off x="685800" y="2423160"/>
            <a:ext cx="317997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Full history: the tamr_vision/ package, scripts, configs, tests.</a:t>
            </a:r>
            <a:endParaRPr lang="en-US" sz="1100" dirty="0"/>
          </a:p>
        </p:txBody>
      </p:sp>
      <p:sp>
        <p:nvSpPr>
          <p:cNvPr id="13" name="Shape 10"/>
          <p:cNvSpPr/>
          <p:nvPr/>
        </p:nvSpPr>
        <p:spPr>
          <a:xfrm>
            <a:off x="4322978" y="1892808"/>
            <a:ext cx="3545738" cy="2103120"/>
          </a:xfrm>
          <a:prstGeom prst="roundRect">
            <a:avLst>
              <a:gd name="adj" fmla="val 3478"/>
            </a:avLst>
          </a:prstGeom>
          <a:solidFill>
            <a:srgbClr val="F2F6F9"/>
          </a:solidFill>
          <a:ln w="12700">
            <a:solidFill>
              <a:srgbClr val="D9E2EA"/>
            </a:solidFill>
            <a:prstDash val="solid"/>
          </a:ln>
        </p:spPr>
      </p:sp>
      <p:sp>
        <p:nvSpPr>
          <p:cNvPr id="14" name="Shape 11"/>
          <p:cNvSpPr/>
          <p:nvPr/>
        </p:nvSpPr>
        <p:spPr>
          <a:xfrm>
            <a:off x="4487570" y="2039112"/>
            <a:ext cx="310896" cy="310896"/>
          </a:xfrm>
          <a:prstGeom prst="ellipse">
            <a:avLst/>
          </a:prstGeom>
          <a:solidFill>
            <a:srgbClr val="29ABE2"/>
          </a:solidFill>
          <a:ln/>
        </p:spPr>
      </p:sp>
      <p:sp>
        <p:nvSpPr>
          <p:cNvPr id="15" name="Text 12"/>
          <p:cNvSpPr/>
          <p:nvPr/>
        </p:nvSpPr>
        <p:spPr>
          <a:xfrm>
            <a:off x="4487570" y="2039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4908194" y="2002536"/>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BENCHMARKS.md</a:t>
            </a:r>
            <a:endParaRPr lang="en-US" sz="1250" dirty="0"/>
          </a:p>
        </p:txBody>
      </p:sp>
      <p:sp>
        <p:nvSpPr>
          <p:cNvPr id="17" name="Text 14"/>
          <p:cNvSpPr/>
          <p:nvPr/>
        </p:nvSpPr>
        <p:spPr>
          <a:xfrm>
            <a:off x="4505858" y="2423160"/>
            <a:ext cx="317997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Every course benchmark table filled from YOUR runs: throughput, model comparison, operating points, area MAE, deltas.</a:t>
            </a:r>
            <a:endParaRPr lang="en-US" sz="1100" dirty="0"/>
          </a:p>
        </p:txBody>
      </p:sp>
      <p:sp>
        <p:nvSpPr>
          <p:cNvPr id="18" name="Shape 15"/>
          <p:cNvSpPr/>
          <p:nvPr/>
        </p:nvSpPr>
        <p:spPr>
          <a:xfrm>
            <a:off x="8143037" y="1892808"/>
            <a:ext cx="3545738" cy="2103120"/>
          </a:xfrm>
          <a:prstGeom prst="roundRect">
            <a:avLst>
              <a:gd name="adj" fmla="val 3478"/>
            </a:avLst>
          </a:prstGeom>
          <a:solidFill>
            <a:srgbClr val="F2F6F9"/>
          </a:solidFill>
          <a:ln w="12700">
            <a:solidFill>
              <a:srgbClr val="D9E2EA"/>
            </a:solidFill>
            <a:prstDash val="solid"/>
          </a:ln>
        </p:spPr>
      </p:sp>
      <p:sp>
        <p:nvSpPr>
          <p:cNvPr id="19" name="Shape 16"/>
          <p:cNvSpPr/>
          <p:nvPr/>
        </p:nvSpPr>
        <p:spPr>
          <a:xfrm>
            <a:off x="8307629" y="2039112"/>
            <a:ext cx="310896" cy="310896"/>
          </a:xfrm>
          <a:prstGeom prst="ellipse">
            <a:avLst/>
          </a:prstGeom>
          <a:solidFill>
            <a:srgbClr val="F58220"/>
          </a:solidFill>
          <a:ln/>
        </p:spPr>
      </p:sp>
      <p:sp>
        <p:nvSpPr>
          <p:cNvPr id="20" name="Text 17"/>
          <p:cNvSpPr/>
          <p:nvPr/>
        </p:nvSpPr>
        <p:spPr>
          <a:xfrm>
            <a:off x="8307629" y="2039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p:nvPr/>
        </p:nvSpPr>
        <p:spPr>
          <a:xfrm>
            <a:off x="8728253" y="2002536"/>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Harness report pack</a:t>
            </a:r>
            <a:endParaRPr lang="en-US" sz="1250" dirty="0"/>
          </a:p>
        </p:txBody>
      </p:sp>
      <p:sp>
        <p:nvSpPr>
          <p:cNvPr id="22" name="Text 19"/>
          <p:cNvSpPr/>
          <p:nvPr/>
        </p:nvSpPr>
        <p:spPr>
          <a:xfrm>
            <a:off x="8325917" y="2423160"/>
            <a:ext cx="317997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HTML report, slice tables, error gallery, regression summary with CI.</a:t>
            </a:r>
            <a:endParaRPr lang="en-US" sz="1100" dirty="0"/>
          </a:p>
        </p:txBody>
      </p:sp>
      <p:sp>
        <p:nvSpPr>
          <p:cNvPr id="23" name="Shape 20"/>
          <p:cNvSpPr/>
          <p:nvPr/>
        </p:nvSpPr>
        <p:spPr>
          <a:xfrm>
            <a:off x="502920" y="4251960"/>
            <a:ext cx="3545738" cy="2103120"/>
          </a:xfrm>
          <a:prstGeom prst="roundRect">
            <a:avLst>
              <a:gd name="adj" fmla="val 3478"/>
            </a:avLst>
          </a:prstGeom>
          <a:solidFill>
            <a:srgbClr val="F2F6F9"/>
          </a:solidFill>
          <a:ln w="12700">
            <a:solidFill>
              <a:srgbClr val="D9E2EA"/>
            </a:solidFill>
            <a:prstDash val="solid"/>
          </a:ln>
        </p:spPr>
      </p:sp>
      <p:sp>
        <p:nvSpPr>
          <p:cNvPr id="24" name="Shape 21"/>
          <p:cNvSpPr/>
          <p:nvPr/>
        </p:nvSpPr>
        <p:spPr>
          <a:xfrm>
            <a:off x="667512" y="4398264"/>
            <a:ext cx="310896" cy="310896"/>
          </a:xfrm>
          <a:prstGeom prst="ellipse">
            <a:avLst/>
          </a:prstGeom>
          <a:solidFill>
            <a:srgbClr val="8DC63F"/>
          </a:solidFill>
          <a:ln/>
        </p:spPr>
      </p:sp>
      <p:sp>
        <p:nvSpPr>
          <p:cNvPr id="25" name="Text 22"/>
          <p:cNvSpPr/>
          <p:nvPr/>
        </p:nvSpPr>
        <p:spPr>
          <a:xfrm>
            <a:off x="667512" y="4398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p:nvPr/>
        </p:nvSpPr>
        <p:spPr>
          <a:xfrm>
            <a:off x="1088136" y="4361688"/>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v2 release folder</a:t>
            </a:r>
            <a:endParaRPr lang="en-US" sz="1250" dirty="0"/>
          </a:p>
        </p:txBody>
      </p:sp>
      <p:sp>
        <p:nvSpPr>
          <p:cNvPr id="27" name="Text 24"/>
          <p:cNvSpPr/>
          <p:nvPr/>
        </p:nvSpPr>
        <p:spPr>
          <a:xfrm>
            <a:off x="685800" y="4782312"/>
            <a:ext cx="317997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RELEASE.json, manifest with hashes, spec PR link, agreement numbers.</a:t>
            </a:r>
            <a:endParaRPr lang="en-US" sz="1100" dirty="0"/>
          </a:p>
        </p:txBody>
      </p:sp>
      <p:sp>
        <p:nvSpPr>
          <p:cNvPr id="28" name="Shape 25"/>
          <p:cNvSpPr/>
          <p:nvPr/>
        </p:nvSpPr>
        <p:spPr>
          <a:xfrm>
            <a:off x="4322978" y="4251960"/>
            <a:ext cx="3545738" cy="2103120"/>
          </a:xfrm>
          <a:prstGeom prst="roundRect">
            <a:avLst>
              <a:gd name="adj" fmla="val 3478"/>
            </a:avLst>
          </a:prstGeom>
          <a:solidFill>
            <a:srgbClr val="F2F6F9"/>
          </a:solidFill>
          <a:ln w="12700">
            <a:solidFill>
              <a:srgbClr val="D9E2EA"/>
            </a:solidFill>
            <a:prstDash val="solid"/>
          </a:ln>
        </p:spPr>
      </p:sp>
      <p:sp>
        <p:nvSpPr>
          <p:cNvPr id="29" name="Shape 26"/>
          <p:cNvSpPr/>
          <p:nvPr/>
        </p:nvSpPr>
        <p:spPr>
          <a:xfrm>
            <a:off x="4487570" y="4398264"/>
            <a:ext cx="310896" cy="310896"/>
          </a:xfrm>
          <a:prstGeom prst="ellipse">
            <a:avLst/>
          </a:prstGeom>
          <a:solidFill>
            <a:srgbClr val="1D2A5C"/>
          </a:solidFill>
          <a:ln/>
        </p:spPr>
      </p:sp>
      <p:sp>
        <p:nvSpPr>
          <p:cNvPr id="30" name="Text 27"/>
          <p:cNvSpPr/>
          <p:nvPr/>
        </p:nvSpPr>
        <p:spPr>
          <a:xfrm>
            <a:off x="4487570" y="4398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8"/>
          <p:cNvSpPr/>
          <p:nvPr/>
        </p:nvSpPr>
        <p:spPr>
          <a:xfrm>
            <a:off x="4908194" y="4361688"/>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Deployment bundle</a:t>
            </a:r>
            <a:endParaRPr lang="en-US" sz="1250" dirty="0"/>
          </a:p>
        </p:txBody>
      </p:sp>
      <p:sp>
        <p:nvSpPr>
          <p:cNvPr id="32" name="Text 29"/>
          <p:cNvSpPr/>
          <p:nvPr/>
        </p:nvSpPr>
        <p:spPr>
          <a:xfrm>
            <a:off x="4505858" y="4782312"/>
            <a:ext cx="317997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ONNX artefacts + config + parity evidence + selected line configuration.</a:t>
            </a:r>
            <a:endParaRPr lang="en-US" sz="1100" dirty="0"/>
          </a:p>
        </p:txBody>
      </p:sp>
      <p:sp>
        <p:nvSpPr>
          <p:cNvPr id="33" name="Shape 30"/>
          <p:cNvSpPr/>
          <p:nvPr/>
        </p:nvSpPr>
        <p:spPr>
          <a:xfrm>
            <a:off x="8143037" y="4251960"/>
            <a:ext cx="3545738" cy="2103120"/>
          </a:xfrm>
          <a:prstGeom prst="roundRect">
            <a:avLst>
              <a:gd name="adj" fmla="val 3478"/>
            </a:avLst>
          </a:prstGeom>
          <a:solidFill>
            <a:srgbClr val="F2F6F9"/>
          </a:solidFill>
          <a:ln w="12700">
            <a:solidFill>
              <a:srgbClr val="D9E2EA"/>
            </a:solidFill>
            <a:prstDash val="solid"/>
          </a:ln>
        </p:spPr>
      </p:sp>
      <p:sp>
        <p:nvSpPr>
          <p:cNvPr id="34" name="Shape 31"/>
          <p:cNvSpPr/>
          <p:nvPr/>
        </p:nvSpPr>
        <p:spPr>
          <a:xfrm>
            <a:off x="8307629" y="4398264"/>
            <a:ext cx="310896" cy="310896"/>
          </a:xfrm>
          <a:prstGeom prst="ellipse">
            <a:avLst/>
          </a:prstGeom>
          <a:solidFill>
            <a:srgbClr val="E8503A"/>
          </a:solidFill>
          <a:ln/>
        </p:spPr>
      </p:sp>
      <p:sp>
        <p:nvSpPr>
          <p:cNvPr id="35" name="Text 32"/>
          <p:cNvSpPr/>
          <p:nvPr/>
        </p:nvSpPr>
        <p:spPr>
          <a:xfrm>
            <a:off x="8307629" y="4398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3"/>
          <p:cNvSpPr/>
          <p:nvPr/>
        </p:nvSpPr>
        <p:spPr>
          <a:xfrm>
            <a:off x="8728253" y="4361688"/>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DECISIONS.md</a:t>
            </a:r>
            <a:endParaRPr lang="en-US" sz="1250" dirty="0"/>
          </a:p>
        </p:txBody>
      </p:sp>
      <p:sp>
        <p:nvSpPr>
          <p:cNvPr id="37" name="Text 34"/>
          <p:cNvSpPr/>
          <p:nvPr/>
        </p:nvSpPr>
        <p:spPr>
          <a:xfrm>
            <a:off x="8325917" y="4782312"/>
            <a:ext cx="3179978" cy="146304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Five one-paragraph engineering decisions with rationale — operating point, 416², calibration, fallback.</a:t>
            </a:r>
            <a:endParaRPr lang="en-US" sz="11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Grading rubric — 100 points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معايير التقييم</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CAPSTONE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150</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Pass ≥ 70 · Distinction ≥ 90 · Extensions add up to +5 bonus (capped at 100) only if mandatory scope is ≥ 80.</a:t>
            </a:r>
            <a:endParaRPr lang="en-US" sz="1250" dirty="0"/>
          </a:p>
        </p:txBody>
      </p:sp>
      <p:graphicFrame>
        <p:nvGraphicFramePr>
          <p:cNvPr id="151"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4278399"/>
                <a:gridCol w="1123563"/>
                <a:gridCol w="5783893"/>
              </a:tblGrid>
              <a:tr h="628323">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Criterion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Top band (90–100%) looks like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Model quality vs targets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All targets met on frozen split; honest, reproducible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Data curation &amp; v2 evidence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Audit triaged, spec fix merged, delta attributed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Evaluation harness &amp; analysis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Deterministic; slices; costed remediation plan; CI</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Deployment &amp; optimisation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Parity-tested; slice-checked INT8; budget-justified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Integration &amp; decision logic</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Full pipeline on footage; versioned rules; rich logs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28323">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Demo &amp; DECISIONS.md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Crisp demo; trade-off literacy across the stack</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Demo day: five minutes to prove it</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يوم العرض</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CAPSTONE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151</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The demo script</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Sample-footage run with decisions and logs; your worst slice (one harness insight); one defended trade-off (your selected config); your remediation plan's top line.</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Submission before demos</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Repository URLs + BENCHMARKS.md collected at end of Hour 4, so evaluation-harness results can be verified before demos begin.</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One number verified live</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The instructor re-runs your harness on the frozen split against BENCHMARKS.md; any mismatch triggers a full check.</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Extensions (choose at least one)</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Live webcam/video demo · active-learning round 3 · Grad-CAM error gallery · 10-min sustained-load benchmark + alert threshold · operating-point auto-tuner.</a:t>
            </a:r>
            <a:endParaRPr lang="en-US" sz="11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Course grade: components and weights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مكونات الدرجة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ASSESSMENT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152</a:t>
            </a:r>
            <a:endParaRPr lang="en-US" sz="900" dirty="0"/>
          </a:p>
        </p:txBody>
      </p:sp>
      <p:sp>
        <p:nvSpPr>
          <p:cNvPr id="7" name="Text 4"/>
          <p:cNvSpPr/>
          <p:nvPr/>
        </p:nvSpPr>
        <p:spPr>
          <a:xfrm>
            <a:off x="502920" y="1389888"/>
            <a:ext cx="11185855" cy="36576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Vision badge: ≥ 70 overall AND capstone ≥ 70 AND zero integrity flags (identical harness reports across repos are checked).</a:t>
            </a:r>
            <a:endParaRPr lang="en-US" sz="1250" dirty="0"/>
          </a:p>
        </p:txBody>
      </p:sp>
      <p:graphicFrame>
        <p:nvGraphicFramePr>
          <p:cNvPr id="153" name="Table 0"/>
          <p:cNvGraphicFramePr>
            <a:graphicFrameLocks noGrp="1"/>
          </p:cNvGraphicFramePr>
          <p:nvPr>
            <p:extLst>
              <p:ext uri="{D42A27DB-BD31-4B8C-83A1-F6EECF244321}">
                <p14:modId xmlns:p14="http://schemas.microsoft.com/office/powerpoint/2010/main" val="1579011935"/>
              </p:ext>
            </p:extLst>
          </p:nvPr>
        </p:nvGraphicFramePr>
        <p:xfrm>
          <a:off x="502920" y="1865376"/>
          <a:ext cx="11185855" cy="914400"/>
        </p:xfrm>
        <a:graphic>
          <a:graphicData uri="http://schemas.openxmlformats.org/drawingml/2006/table">
            <a:tbl>
              <a:tblPr/>
              <a:tblGrid>
                <a:gridCol w="4333752"/>
                <a:gridCol w="1847918"/>
                <a:gridCol w="5004185"/>
              </a:tblGrid>
              <a:tr h="7132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Weight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Lab completion (7 labs)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Checkpoint commits + outputs + BENCHMARKS.md</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PA-1 + PA-2 practicals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Artefacts + diagnosis notes</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Quiz (10 of the 20-question bank)</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15 min, closed book</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2A5C"/>
                          </a:solidFill>
                          <a:latin typeface="Calibri" pitchFamily="34" charset="0"/>
                          <a:ea typeface="Calibri" pitchFamily="34" charset="-122"/>
                          <a:cs typeface="Calibri" pitchFamily="34" charset="-120"/>
                        </a:rPr>
                        <a:t>Vision-system project (capstone)</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150" dirty="0">
                          <a:solidFill>
                            <a:srgbClr val="23293B"/>
                          </a:solidFill>
                          <a:latin typeface="Calibri" pitchFamily="34" charset="0"/>
                          <a:ea typeface="Calibri" pitchFamily="34" charset="-122"/>
                          <a:cs typeface="Calibri" pitchFamily="34" charset="-120"/>
                        </a:rPr>
                        <a:t>Rubric — repository-and-harness first</a:t>
                      </a:r>
                      <a:endParaRPr lang="en-US" sz="11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The two practical assessments</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التقييمات العملية</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ASSESSMENT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153</a:t>
            </a:r>
            <a:endParaRPr lang="en-US" sz="900" dirty="0"/>
          </a:p>
        </p:txBody>
      </p:sp>
      <p:sp>
        <p:nvSpPr>
          <p:cNvPr id="7" name="Shape 4"/>
          <p:cNvSpPr/>
          <p:nvPr/>
        </p:nvSpPr>
        <p:spPr>
          <a:xfrm>
            <a:off x="502920" y="2153412"/>
            <a:ext cx="329184" cy="329184"/>
          </a:xfrm>
          <a:prstGeom prst="ellipse">
            <a:avLst/>
          </a:prstGeom>
          <a:solidFill>
            <a:srgbClr val="00A79D"/>
          </a:solidFill>
          <a:ln/>
        </p:spPr>
      </p:sp>
      <p:sp>
        <p:nvSpPr>
          <p:cNvPr id="8" name="Text 5"/>
          <p:cNvSpPr/>
          <p:nvPr/>
        </p:nvSpPr>
        <p:spPr>
          <a:xfrm>
            <a:off x="502920" y="21534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20894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PA-1 (30 min, Day 2) — fix a broken project</a:t>
            </a:r>
            <a:endParaRPr lang="en-US" sz="1400" dirty="0"/>
          </a:p>
        </p:txBody>
      </p:sp>
      <p:sp>
        <p:nvSpPr>
          <p:cNvPr id="10" name="Text 7"/>
          <p:cNvSpPr/>
          <p:nvPr/>
        </p:nvSpPr>
        <p:spPr>
          <a:xfrm>
            <a:off x="1005840" y="23911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BGR feed in the wrapper, class-shifted dataset YAML, metrics at conf=0.001. Produce a correct evaluation at a defensible operating point. Scored 40/40/20: diagnosis, fixes, verification.</a:t>
            </a:r>
            <a:endParaRPr lang="en-US" sz="1150" dirty="0"/>
          </a:p>
        </p:txBody>
      </p:sp>
      <p:sp>
        <p:nvSpPr>
          <p:cNvPr id="11" name="Shape 8"/>
          <p:cNvSpPr/>
          <p:nvPr/>
        </p:nvSpPr>
        <p:spPr>
          <a:xfrm>
            <a:off x="502920" y="3342132"/>
            <a:ext cx="329184" cy="329184"/>
          </a:xfrm>
          <a:prstGeom prst="ellipse">
            <a:avLst/>
          </a:prstGeom>
          <a:solidFill>
            <a:srgbClr val="29ABE2"/>
          </a:solidFill>
          <a:ln/>
        </p:spPr>
      </p:sp>
      <p:sp>
        <p:nvSpPr>
          <p:cNvPr id="12" name="Text 9"/>
          <p:cNvSpPr/>
          <p:nvPr/>
        </p:nvSpPr>
        <p:spPr>
          <a:xfrm>
            <a:off x="502920" y="33421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327812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PA-2 (30 min, Day 3) — review a dataset PR</a:t>
            </a:r>
            <a:endParaRPr lang="en-US" sz="1400" dirty="0"/>
          </a:p>
        </p:txBody>
      </p:sp>
      <p:sp>
        <p:nvSpPr>
          <p:cNvPr id="14" name="Text 11"/>
          <p:cNvSpPr/>
          <p:nvPr/>
        </p:nvSpPr>
        <p:spPr>
          <a:xfrm>
            <a:off x="1005840" y="357987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Three test-split edits, a spec bump without re-annotation, no changelog. Write the review: what may merge, what must change, what the metric claims are worth.</a:t>
            </a:r>
            <a:endParaRPr lang="en-US" sz="1150" dirty="0"/>
          </a:p>
        </p:txBody>
      </p:sp>
      <p:sp>
        <p:nvSpPr>
          <p:cNvPr id="15" name="Shape 12"/>
          <p:cNvSpPr/>
          <p:nvPr/>
        </p:nvSpPr>
        <p:spPr>
          <a:xfrm>
            <a:off x="502920" y="4530852"/>
            <a:ext cx="329184" cy="329184"/>
          </a:xfrm>
          <a:prstGeom prst="ellipse">
            <a:avLst/>
          </a:prstGeom>
          <a:solidFill>
            <a:srgbClr val="F58220"/>
          </a:solidFill>
          <a:ln/>
        </p:spPr>
      </p:sp>
      <p:sp>
        <p:nvSpPr>
          <p:cNvPr id="16" name="Text 13"/>
          <p:cNvSpPr/>
          <p:nvPr/>
        </p:nvSpPr>
        <p:spPr>
          <a:xfrm>
            <a:off x="502920" y="45308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44668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Quiz bank (20 questions)</a:t>
            </a:r>
            <a:endParaRPr lang="en-US" sz="1400" dirty="0"/>
          </a:p>
        </p:txBody>
      </p:sp>
      <p:sp>
        <p:nvSpPr>
          <p:cNvPr id="18" name="Text 15"/>
          <p:cNvSpPr/>
          <p:nvPr/>
        </p:nvSpPr>
        <p:spPr>
          <a:xfrm>
            <a:off x="1005840" y="47685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Covers M1–M7, from BGR channel order to p99 reasoning; use 10 per cohort, 15 minutes, closed book. Q18–20 test this module's export, calibration and latency lessons.</a:t>
            </a:r>
            <a:endParaRPr lang="en-US" sz="11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Timing risks and contingency</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مخاطر التوقيت</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INSTRUCTOR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154</a:t>
            </a:r>
            <a:endParaRPr lang="en-US" sz="900" dirty="0"/>
          </a:p>
        </p:txBody>
      </p:sp>
      <p:graphicFrame>
        <p:nvGraphicFramePr>
          <p:cNvPr id="155" name="Table 0"/>
          <p:cNvGraphicFramePr>
            <a:graphicFrameLocks noGrp="1"/>
          </p:cNvGraphicFramePr>
          <p:nvPr>
            <p:extLst>
              <p:ext uri="{D42A27DB-BD31-4B8C-83A1-F6EECF244321}">
                <p14:modId xmlns:p14="http://schemas.microsoft.com/office/powerpoint/2010/main" val="1579011935"/>
              </p:ext>
            </p:extLst>
          </p:nvPr>
        </p:nvGraphicFramePr>
        <p:xfrm>
          <a:off x="502920" y="1389888"/>
          <a:ext cx="11185855" cy="914400"/>
        </p:xfrm>
        <a:graphic>
          <a:graphicData uri="http://schemas.openxmlformats.org/drawingml/2006/table">
            <a:tbl>
              <a:tblPr/>
              <a:tblGrid>
                <a:gridCol w="4882533"/>
                <a:gridCol w="6303323"/>
              </a:tblGrid>
              <a:tr h="6962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Situation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D2A5C"/>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Labs 3 and 5 (most overrun-prone)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Protect at full length; compress M4 theory instead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Any training run &gt; 15 min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Fast-forward from labN-best.pt — learning is decisions</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Cohort behind at Day 3 H5</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Pre-compute the v2 run; pairs run only the regression</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Strong cohort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Pull sustained-load bench + auto-tuner into Day 4 scope</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Weak cohort</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Guide Lab 6 tasks 1–2; NEVER drop the s09 discovery</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696250">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Day 4 Hour 3</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c>
                  <a:txBody>
                    <a:bodyPr/>
                    <a:lstStyle/>
                    <a:p>
                      <a:pPr indent="0" marL="0">
                        <a:buNone/>
                      </a:pPr>
                      <a:r>
                        <a:rPr lang="en-US" sz="1050" dirty="0">
                          <a:solidFill>
                            <a:srgbClr val="23293B"/>
                          </a:solidFill>
                          <a:latin typeface="Calibri" pitchFamily="34" charset="0"/>
                          <a:ea typeface="Calibri" pitchFamily="34" charset="-122"/>
                          <a:cs typeface="Calibri" pitchFamily="34" charset="-120"/>
                        </a:rPr>
                        <a:t>Hard rule: capstone starts on time; cut talk, not build</a:t>
                      </a:r>
                      <a:endParaRPr lang="en-US" sz="1050" dirty="0">
                        <a:latin typeface="Calibri" charset="0"/>
                        <a:ea typeface="Calibri" charset="0"/>
                        <a:cs typeface="Calibri" charset="0"/>
                      </a:endParaRPr>
                    </a:p>
                  </a:txBody>
                  <a:tcPr marL="64008" marR="64008" marT="64008" marB="6400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2F6F9"/>
                    </a:solidFill>
                  </a:tcPr>
                </a:tc>
              </a:tr>
            </a:tbl>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Before you teach Day 4</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قبل تدريس اليوم الرابع</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INSTRUCTOR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155</a:t>
            </a:r>
            <a:endParaRPr lang="en-US" sz="900" dirty="0"/>
          </a:p>
        </p:txBody>
      </p:sp>
      <p:sp>
        <p:nvSpPr>
          <p:cNvPr id="7" name="Shape 4"/>
          <p:cNvSpPr/>
          <p:nvPr/>
        </p:nvSpPr>
        <p:spPr>
          <a:xfrm>
            <a:off x="502920" y="1559052"/>
            <a:ext cx="329184" cy="329184"/>
          </a:xfrm>
          <a:prstGeom prst="ellipse">
            <a:avLst/>
          </a:prstGeom>
          <a:solidFill>
            <a:srgbClr val="00A79D"/>
          </a:solidFill>
          <a:ln/>
        </p:spPr>
      </p:sp>
      <p:sp>
        <p:nvSpPr>
          <p:cNvPr id="8" name="Text 5"/>
          <p:cNvSpPr/>
          <p:nvPr/>
        </p:nvSpPr>
        <p:spPr>
          <a:xfrm>
            <a:off x="502920" y="15590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504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Checkpoints and sim branches pushed</a:t>
            </a:r>
            <a:endParaRPr lang="en-US" sz="1400" dirty="0"/>
          </a:p>
        </p:txBody>
      </p:sp>
      <p:sp>
        <p:nvSpPr>
          <p:cNvPr id="10" name="Text 7"/>
          <p:cNvSpPr/>
          <p:nvPr/>
        </p:nvSpPr>
        <p:spPr>
          <a:xfrm>
            <a:off x="1005840" y="179679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lab7-start plus sim-calib-day and sim-wrapper-drift; reference checkpoints regenerated and confirmed within ±0.005 on the pinned versions.</a:t>
            </a:r>
            <a:endParaRPr lang="en-US" sz="1150" dirty="0"/>
          </a:p>
        </p:txBody>
      </p:sp>
      <p:sp>
        <p:nvSpPr>
          <p:cNvPr id="11" name="Shape 8"/>
          <p:cNvSpPr/>
          <p:nvPr/>
        </p:nvSpPr>
        <p:spPr>
          <a:xfrm>
            <a:off x="502920" y="2747772"/>
            <a:ext cx="329184" cy="329184"/>
          </a:xfrm>
          <a:prstGeom prst="ellipse">
            <a:avLst/>
          </a:prstGeom>
          <a:solidFill>
            <a:srgbClr val="29ABE2"/>
          </a:solidFill>
          <a:ln/>
        </p:spPr>
      </p:sp>
      <p:sp>
        <p:nvSpPr>
          <p:cNvPr id="12" name="Text 9"/>
          <p:cNvSpPr/>
          <p:nvPr/>
        </p:nvSpPr>
        <p:spPr>
          <a:xfrm>
            <a:off x="502920" y="27477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268376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CPU is the plan, not the fallback</a:t>
            </a:r>
            <a:endParaRPr lang="en-US" sz="1400" dirty="0"/>
          </a:p>
        </p:txBody>
      </p:sp>
      <p:sp>
        <p:nvSpPr>
          <p:cNvPr id="14" name="Text 11"/>
          <p:cNvSpPr/>
          <p:nvPr/>
        </p:nvSpPr>
        <p:spPr>
          <a:xfrm>
            <a:off x="1005840" y="298551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Lab 7 runs on CPU by design — the edge box is a CPU. If the OpenVINO EP is missing, fall back to CPUExecutionProvider and note it in the table.</a:t>
            </a:r>
            <a:endParaRPr lang="en-US" sz="1150" dirty="0"/>
          </a:p>
        </p:txBody>
      </p:sp>
      <p:sp>
        <p:nvSpPr>
          <p:cNvPr id="15" name="Shape 12"/>
          <p:cNvSpPr/>
          <p:nvPr/>
        </p:nvSpPr>
        <p:spPr>
          <a:xfrm>
            <a:off x="502920" y="3936492"/>
            <a:ext cx="329184" cy="329184"/>
          </a:xfrm>
          <a:prstGeom prst="ellipse">
            <a:avLst/>
          </a:prstGeom>
          <a:solidFill>
            <a:srgbClr val="F58220"/>
          </a:solidFill>
          <a:ln/>
        </p:spPr>
      </p:sp>
      <p:sp>
        <p:nvSpPr>
          <p:cNvPr id="16" name="Text 13"/>
          <p:cNvSpPr/>
          <p:nvPr/>
        </p:nvSpPr>
        <p:spPr>
          <a:xfrm>
            <a:off x="502920" y="39364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05840" y="387248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Wrap-up (last 15 minutes)</a:t>
            </a:r>
            <a:endParaRPr lang="en-US" sz="1400" dirty="0"/>
          </a:p>
        </p:txBody>
      </p:sp>
      <p:sp>
        <p:nvSpPr>
          <p:cNvPr id="18" name="Text 15"/>
          <p:cNvSpPr/>
          <p:nvPr/>
        </p:nvSpPr>
        <p:spPr>
          <a:xfrm>
            <a:off x="1005840" y="417423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One slide mapping the seven capstone requirements to the seven modules; forward pointer to SDA-AIE-216 (MLOps &amp; AI Reliability).</a:t>
            </a:r>
            <a:endParaRPr lang="en-US" sz="1150" dirty="0"/>
          </a:p>
        </p:txBody>
      </p:sp>
      <p:sp>
        <p:nvSpPr>
          <p:cNvPr id="19" name="Shape 16"/>
          <p:cNvSpPr/>
          <p:nvPr/>
        </p:nvSpPr>
        <p:spPr>
          <a:xfrm>
            <a:off x="502920" y="5125212"/>
            <a:ext cx="329184" cy="329184"/>
          </a:xfrm>
          <a:prstGeom prst="ellipse">
            <a:avLst/>
          </a:prstGeom>
          <a:solidFill>
            <a:srgbClr val="8DC63F"/>
          </a:solidFill>
          <a:ln/>
        </p:spPr>
      </p:sp>
      <p:sp>
        <p:nvSpPr>
          <p:cNvPr id="20" name="Text 17"/>
          <p:cNvSpPr/>
          <p:nvPr/>
        </p:nvSpPr>
        <p:spPr>
          <a:xfrm>
            <a:off x="502920" y="51252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1005840" y="5061204"/>
            <a:ext cx="10682935" cy="292608"/>
          </a:xfrm>
          <a:prstGeom prst="rect">
            <a:avLst/>
          </a:prstGeom>
          <a:noFill/>
          <a:ln/>
        </p:spPr>
        <p:txBody>
          <a:bodyPr wrap="square" lIns="0" tIns="0" rIns="0" bIns="0" rtlCol="0" anchor="ctr"/>
          <a:lstStyle/>
          <a:p>
            <a:pPr indent="0" marL="0">
              <a:buNone/>
            </a:pPr>
            <a:r>
              <a:rPr lang="en-US" sz="1400" b="1" dirty="0">
                <a:solidFill>
                  <a:srgbClr val="1D2A5C"/>
                </a:solidFill>
                <a:latin typeface="Calibri" pitchFamily="34" charset="0"/>
                <a:ea typeface="Calibri" pitchFamily="34" charset="-122"/>
                <a:cs typeface="Calibri" pitchFamily="34" charset="-120"/>
              </a:rPr>
              <a:t>Collect and close</a:t>
            </a:r>
            <a:endParaRPr lang="en-US" sz="1400" dirty="0"/>
          </a:p>
        </p:txBody>
      </p:sp>
      <p:sp>
        <p:nvSpPr>
          <p:cNvPr id="22" name="Text 19"/>
          <p:cNvSpPr/>
          <p:nvPr/>
        </p:nvSpPr>
        <p:spPr>
          <a:xfrm>
            <a:off x="1005840" y="5362956"/>
            <a:ext cx="10682935" cy="841248"/>
          </a:xfrm>
          <a:prstGeom prst="rect">
            <a:avLst/>
          </a:prstGeom>
          <a:noFill/>
          <a:ln/>
        </p:spPr>
        <p:txBody>
          <a:bodyPr wrap="square" lIns="0" tIns="0" rIns="0" bIns="0" rtlCol="0" anchor="t"/>
          <a:lstStyle/>
          <a:p>
            <a:pPr indent="0" marL="0">
              <a:buNone/>
            </a:pPr>
            <a:r>
              <a:rPr lang="en-US" sz="1150" dirty="0">
                <a:solidFill>
                  <a:srgbClr val="5F6B7A"/>
                </a:solidFill>
                <a:latin typeface="Calibri" pitchFamily="34" charset="0"/>
                <a:ea typeface="Calibri" pitchFamily="34" charset="-122"/>
                <a:cs typeface="Calibri" pitchFamily="34" charset="-120"/>
              </a:rPr>
              <a:t>Repository URLs, BENCHMARKS.md, DECISIONS.md, harness report packs; issue badge recommendations within 5 working days.</a:t>
            </a:r>
            <a:endParaRPr lang="en-US" sz="11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Where this course sits in your path</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موقع البرنامج في مسارك التدريبي</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CLOSING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156</a:t>
            </a:r>
            <a:endParaRPr lang="en-US" sz="900" dirty="0"/>
          </a:p>
        </p:txBody>
      </p:sp>
      <p:sp>
        <p:nvSpPr>
          <p:cNvPr id="7" name="Text 4"/>
          <p:cNvSpPr/>
          <p:nvPr/>
        </p:nvSpPr>
        <p:spPr>
          <a:xfrm>
            <a:off x="502920" y="1389888"/>
            <a:ext cx="11185855" cy="384048"/>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Computer Vision Systems Development is a specialisation step inside the AI Engineer Track.</a:t>
            </a:r>
            <a:endParaRPr lang="en-US" sz="1250" dirty="0"/>
          </a:p>
        </p:txBody>
      </p:sp>
      <p:sp>
        <p:nvSpPr>
          <p:cNvPr id="8" name="Shape 5"/>
          <p:cNvSpPr/>
          <p:nvPr/>
        </p:nvSpPr>
        <p:spPr>
          <a:xfrm>
            <a:off x="502920" y="3438144"/>
            <a:ext cx="3472586" cy="1371600"/>
          </a:xfrm>
          <a:prstGeom prst="roundRect">
            <a:avLst>
              <a:gd name="adj" fmla="val 4667"/>
            </a:avLst>
          </a:prstGeom>
          <a:solidFill>
            <a:srgbClr val="F2F6F9"/>
          </a:solidFill>
          <a:ln w="15875">
            <a:solidFill>
              <a:srgbClr val="00A79D"/>
            </a:solidFill>
            <a:prstDash val="solid"/>
          </a:ln>
        </p:spPr>
      </p:sp>
      <p:sp>
        <p:nvSpPr>
          <p:cNvPr id="9" name="Text 6"/>
          <p:cNvSpPr/>
          <p:nvPr/>
        </p:nvSpPr>
        <p:spPr>
          <a:xfrm>
            <a:off x="576072" y="3493008"/>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SDA-AIE-112</a:t>
            </a:r>
            <a:endParaRPr lang="en-US" sz="1250" dirty="0"/>
          </a:p>
        </p:txBody>
      </p:sp>
      <p:sp>
        <p:nvSpPr>
          <p:cNvPr id="10" name="Text 7"/>
          <p:cNvSpPr/>
          <p:nvPr/>
        </p:nvSpPr>
        <p:spPr>
          <a:xfrm>
            <a:off x="576072" y="4096512"/>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Deep Learning Essentials with PyTorch — prerequisite</a:t>
            </a:r>
            <a:endParaRPr lang="en-US" sz="950" dirty="0"/>
          </a:p>
        </p:txBody>
      </p:sp>
      <p:sp>
        <p:nvSpPr>
          <p:cNvPr id="11" name="Shape 8"/>
          <p:cNvSpPr/>
          <p:nvPr/>
        </p:nvSpPr>
        <p:spPr>
          <a:xfrm>
            <a:off x="4030370" y="4123944"/>
            <a:ext cx="274320" cy="0"/>
          </a:xfrm>
          <a:prstGeom prst="line">
            <a:avLst/>
          </a:prstGeom>
          <a:noFill/>
          <a:ln w="19050">
            <a:solidFill>
              <a:srgbClr val="8A96A6"/>
            </a:solidFill>
            <a:prstDash val="solid"/>
            <a:headEnd type="none"/>
            <a:tailEnd type="triangle"/>
          </a:ln>
        </p:spPr>
      </p:sp>
      <p:sp>
        <p:nvSpPr>
          <p:cNvPr id="12" name="Shape 9"/>
          <p:cNvSpPr/>
          <p:nvPr/>
        </p:nvSpPr>
        <p:spPr>
          <a:xfrm>
            <a:off x="4359554" y="3438144"/>
            <a:ext cx="3472586" cy="1371600"/>
          </a:xfrm>
          <a:prstGeom prst="roundRect">
            <a:avLst>
              <a:gd name="adj" fmla="val 4667"/>
            </a:avLst>
          </a:prstGeom>
          <a:solidFill>
            <a:srgbClr val="1D2A5C"/>
          </a:solidFill>
          <a:ln w="15875">
            <a:solidFill>
              <a:srgbClr val="00A79D"/>
            </a:solidFill>
            <a:prstDash val="solid"/>
          </a:ln>
        </p:spPr>
      </p:sp>
      <p:sp>
        <p:nvSpPr>
          <p:cNvPr id="13" name="Text 10"/>
          <p:cNvSpPr/>
          <p:nvPr/>
        </p:nvSpPr>
        <p:spPr>
          <a:xfrm>
            <a:off x="4432706" y="3493008"/>
            <a:ext cx="3326282" cy="6172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SDA-AIE-212</a:t>
            </a:r>
            <a:endParaRPr lang="en-US" sz="1250" dirty="0"/>
          </a:p>
        </p:txBody>
      </p:sp>
      <p:sp>
        <p:nvSpPr>
          <p:cNvPr id="14" name="Text 11"/>
          <p:cNvSpPr/>
          <p:nvPr/>
        </p:nvSpPr>
        <p:spPr>
          <a:xfrm>
            <a:off x="4432706" y="4096512"/>
            <a:ext cx="3326282" cy="658368"/>
          </a:xfrm>
          <a:prstGeom prst="rect">
            <a:avLst/>
          </a:prstGeom>
          <a:noFill/>
          <a:ln/>
        </p:spPr>
        <p:txBody>
          <a:bodyPr wrap="square" lIns="0" tIns="0" rIns="0" bIns="0" rtlCol="0" anchor="t"/>
          <a:lstStyle/>
          <a:p>
            <a:pPr algn="ctr" indent="0" marL="0">
              <a:buNone/>
            </a:pPr>
            <a:r>
              <a:rPr lang="en-US" sz="950" dirty="0">
                <a:solidFill>
                  <a:srgbClr val="B9C8E8"/>
                </a:solidFill>
                <a:latin typeface="Calibri" pitchFamily="34" charset="0"/>
                <a:ea typeface="Calibri" pitchFamily="34" charset="-122"/>
                <a:cs typeface="Calibri" pitchFamily="34" charset="-120"/>
              </a:rPr>
              <a:t>Computer Vision Systems Development — this course</a:t>
            </a:r>
            <a:endParaRPr lang="en-US" sz="950" dirty="0"/>
          </a:p>
        </p:txBody>
      </p:sp>
      <p:sp>
        <p:nvSpPr>
          <p:cNvPr id="15" name="Shape 12"/>
          <p:cNvSpPr/>
          <p:nvPr/>
        </p:nvSpPr>
        <p:spPr>
          <a:xfrm>
            <a:off x="7887005" y="4123944"/>
            <a:ext cx="274320" cy="0"/>
          </a:xfrm>
          <a:prstGeom prst="line">
            <a:avLst/>
          </a:prstGeom>
          <a:noFill/>
          <a:ln w="19050">
            <a:solidFill>
              <a:srgbClr val="8A96A6"/>
            </a:solidFill>
            <a:prstDash val="solid"/>
            <a:headEnd type="none"/>
            <a:tailEnd type="triangle"/>
          </a:ln>
        </p:spPr>
      </p:sp>
      <p:sp>
        <p:nvSpPr>
          <p:cNvPr id="16" name="Shape 13"/>
          <p:cNvSpPr/>
          <p:nvPr/>
        </p:nvSpPr>
        <p:spPr>
          <a:xfrm>
            <a:off x="8216189" y="3438144"/>
            <a:ext cx="3472586" cy="1371600"/>
          </a:xfrm>
          <a:prstGeom prst="roundRect">
            <a:avLst>
              <a:gd name="adj" fmla="val 4667"/>
            </a:avLst>
          </a:prstGeom>
          <a:solidFill>
            <a:srgbClr val="F2F6F9"/>
          </a:solidFill>
          <a:ln w="15875">
            <a:solidFill>
              <a:srgbClr val="00A79D"/>
            </a:solidFill>
            <a:prstDash val="solid"/>
          </a:ln>
        </p:spPr>
      </p:sp>
      <p:sp>
        <p:nvSpPr>
          <p:cNvPr id="17" name="Text 14"/>
          <p:cNvSpPr/>
          <p:nvPr/>
        </p:nvSpPr>
        <p:spPr>
          <a:xfrm>
            <a:off x="8289341" y="3493008"/>
            <a:ext cx="3326282" cy="617220"/>
          </a:xfrm>
          <a:prstGeom prst="rect">
            <a:avLst/>
          </a:prstGeom>
          <a:noFill/>
          <a:ln/>
        </p:spPr>
        <p:txBody>
          <a:bodyPr wrap="square" lIns="0" tIns="0" rIns="0" bIns="0" rtlCol="0" anchor="ctr"/>
          <a:lstStyle/>
          <a:p>
            <a:pPr algn="ctr" indent="0" marL="0">
              <a:buNone/>
            </a:pPr>
            <a:r>
              <a:rPr lang="en-US" sz="1250" b="1" dirty="0">
                <a:solidFill>
                  <a:srgbClr val="1D2A5C"/>
                </a:solidFill>
                <a:latin typeface="Calibri" pitchFamily="34" charset="0"/>
                <a:ea typeface="Calibri" pitchFamily="34" charset="-122"/>
                <a:cs typeface="Calibri" pitchFamily="34" charset="-120"/>
              </a:rPr>
              <a:t>SDA-AIE-216</a:t>
            </a:r>
            <a:endParaRPr lang="en-US" sz="1250" dirty="0"/>
          </a:p>
        </p:txBody>
      </p:sp>
      <p:sp>
        <p:nvSpPr>
          <p:cNvPr id="18" name="Text 15"/>
          <p:cNvSpPr/>
          <p:nvPr/>
        </p:nvSpPr>
        <p:spPr>
          <a:xfrm>
            <a:off x="8289341" y="4096512"/>
            <a:ext cx="3326282" cy="658368"/>
          </a:xfrm>
          <a:prstGeom prst="rect">
            <a:avLst/>
          </a:prstGeom>
          <a:noFill/>
          <a:ln/>
        </p:spPr>
        <p:txBody>
          <a:bodyPr wrap="square" lIns="0" tIns="0" rIns="0" bIns="0" rtlCol="0" anchor="t"/>
          <a:lstStyle/>
          <a:p>
            <a:pPr algn="ctr" indent="0" marL="0">
              <a:buNone/>
            </a:pPr>
            <a:r>
              <a:rPr lang="en-US" sz="950" dirty="0">
                <a:solidFill>
                  <a:srgbClr val="5F6B7A"/>
                </a:solidFill>
                <a:latin typeface="Calibri" pitchFamily="34" charset="0"/>
                <a:ea typeface="Calibri" pitchFamily="34" charset="-122"/>
                <a:cs typeface="Calibri" pitchFamily="34" charset="-120"/>
              </a:rPr>
              <a:t>MLOps — deploy, monitor &amp; automate the system you built</a:t>
            </a:r>
            <a:endParaRPr lang="en-US" sz="9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indent="0" marL="0">
              <a:buNone/>
            </a:pPr>
            <a:r>
              <a:rPr lang="en-US" sz="2700" b="1" dirty="0">
                <a:solidFill>
                  <a:srgbClr val="1D2A5C"/>
                </a:solidFill>
                <a:latin typeface="Calibri" pitchFamily="34" charset="0"/>
                <a:ea typeface="Calibri" pitchFamily="34" charset="-122"/>
                <a:cs typeface="Calibri" pitchFamily="34" charset="-120"/>
              </a:rPr>
              <a:t>What you can now do</a:t>
            </a:r>
            <a:endParaRPr lang="en-US" sz="27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indent="0" marL="0">
              <a:buNone/>
            </a:pPr>
            <a:r>
              <a:rPr lang="en-US" sz="1250" dirty="0">
                <a:solidFill>
                  <a:srgbClr val="5F6B7A"/>
                </a:solidFill>
                <a:latin typeface="Arial" pitchFamily="34" charset="0"/>
                <a:ea typeface="Arial" pitchFamily="34" charset="-122"/>
                <a:cs typeface="Arial" pitchFamily="34" charset="-120"/>
              </a:rPr>
              <a:t>ماذا تستطيع الآن أن تفعل</a:t>
            </a:r>
            <a:endParaRPr lang="en-US" sz="1250" dirty="0"/>
          </a:p>
        </p:txBody>
      </p:sp>
      <p:pic>
        <p:nvPicPr>
          <p:cNvPr id="4" name="Image 0" descr="/sessions/blissful-determined-ritchie/build/assets/sdaia_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Text 2"/>
          <p:cNvSpPr/>
          <p:nvPr/>
        </p:nvSpPr>
        <p:spPr>
          <a:xfrm>
            <a:off x="502920" y="6528816"/>
            <a:ext cx="8686800" cy="219456"/>
          </a:xfrm>
          <a:prstGeom prst="rect">
            <a:avLst/>
          </a:prstGeom>
          <a:noFill/>
          <a:ln/>
        </p:spPr>
        <p:txBody>
          <a:bodyPr wrap="square" lIns="0" tIns="0" rIns="0" bIns="0" rtlCol="0" anchor="ctr"/>
          <a:lstStyle/>
          <a:p>
            <a:pPr indent="0" marL="0">
              <a:buNone/>
            </a:pPr>
            <a:r>
              <a:rPr lang="en-US" sz="800" b="1" dirty="0">
                <a:solidFill>
                  <a:srgbClr val="00A79D"/>
                </a:solidFill>
                <a:latin typeface="Calibri" pitchFamily="34" charset="0"/>
                <a:ea typeface="Calibri" pitchFamily="34" charset="-122"/>
                <a:cs typeface="Calibri" pitchFamily="34" charset="-120"/>
              </a:rPr>
              <a:t>CLOSING   </a:t>
            </a:r>
            <a:pPr indent="0" marL="0">
              <a:buNone/>
            </a:pPr>
            <a:r>
              <a:rPr lang="en-US" sz="800" dirty="0">
                <a:solidFill>
                  <a:srgbClr val="8A96A6"/>
                </a:solidFill>
                <a:latin typeface="Calibri" pitchFamily="34" charset="0"/>
                <a:ea typeface="Calibri" pitchFamily="34" charset="-122"/>
                <a:cs typeface="Calibri" pitchFamily="34" charset="-120"/>
              </a:rPr>
              <a:t>SDA-AIE-212 · Computer Vision Systems Development</a:t>
            </a:r>
            <a:endParaRPr lang="en-US" sz="800" dirty="0"/>
          </a:p>
        </p:txBody>
      </p:sp>
      <p:sp>
        <p:nvSpPr>
          <p:cNvPr id="6" name="Text 3"/>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8A96A6"/>
                </a:solidFill>
                <a:latin typeface="Calibri" pitchFamily="34" charset="0"/>
                <a:ea typeface="Calibri" pitchFamily="34" charset="-122"/>
                <a:cs typeface="Calibri" pitchFamily="34" charset="-120"/>
              </a:rPr>
              <a:t>157</a:t>
            </a:r>
            <a:endParaRPr lang="en-US" sz="900" dirty="0"/>
          </a:p>
        </p:txBody>
      </p:sp>
      <p:sp>
        <p:nvSpPr>
          <p:cNvPr id="7" name="Shape 4"/>
          <p:cNvSpPr/>
          <p:nvPr/>
        </p:nvSpPr>
        <p:spPr>
          <a:xfrm>
            <a:off x="502920" y="1389888"/>
            <a:ext cx="3545738" cy="2354580"/>
          </a:xfrm>
          <a:prstGeom prst="roundRect">
            <a:avLst>
              <a:gd name="adj" fmla="val 3107"/>
            </a:avLst>
          </a:prstGeom>
          <a:solidFill>
            <a:srgbClr val="F2F6F9"/>
          </a:solidFill>
          <a:ln w="12700">
            <a:solidFill>
              <a:srgbClr val="D9E2EA"/>
            </a:solidFill>
            <a:prstDash val="solid"/>
          </a:ln>
        </p:spPr>
      </p:sp>
      <p:sp>
        <p:nvSpPr>
          <p:cNvPr id="8" name="Shape 5"/>
          <p:cNvSpPr/>
          <p:nvPr/>
        </p:nvSpPr>
        <p:spPr>
          <a:xfrm>
            <a:off x="667512" y="1536192"/>
            <a:ext cx="310896" cy="310896"/>
          </a:xfrm>
          <a:prstGeom prst="ellipse">
            <a:avLst/>
          </a:prstGeom>
          <a:solidFill>
            <a:srgbClr val="00A79D"/>
          </a:solidFill>
          <a:ln/>
        </p:spPr>
      </p:sp>
      <p:sp>
        <p:nvSpPr>
          <p:cNvPr id="9" name="Text 6"/>
          <p:cNvSpPr/>
          <p:nvPr/>
        </p:nvSpPr>
        <p:spPr>
          <a:xfrm>
            <a:off x="667512"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088136" y="1499616"/>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Build input pipelines</a:t>
            </a:r>
            <a:endParaRPr lang="en-US" sz="1250" dirty="0"/>
          </a:p>
        </p:txBody>
      </p:sp>
      <p:sp>
        <p:nvSpPr>
          <p:cNvPr id="11" name="Text 8"/>
          <p:cNvSpPr/>
          <p:nvPr/>
        </p:nvSpPr>
        <p:spPr>
          <a:xfrm>
            <a:off x="685800" y="1920240"/>
            <a:ext cx="317997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Preprocessing contracts, audited augmentation policies, measured loader throughput (M1).</a:t>
            </a:r>
            <a:endParaRPr lang="en-US" sz="1100" dirty="0"/>
          </a:p>
        </p:txBody>
      </p:sp>
      <p:sp>
        <p:nvSpPr>
          <p:cNvPr id="12" name="Shape 9"/>
          <p:cNvSpPr/>
          <p:nvPr/>
        </p:nvSpPr>
        <p:spPr>
          <a:xfrm>
            <a:off x="4322978" y="1389888"/>
            <a:ext cx="3545738" cy="2354580"/>
          </a:xfrm>
          <a:prstGeom prst="roundRect">
            <a:avLst>
              <a:gd name="adj" fmla="val 3107"/>
            </a:avLst>
          </a:prstGeom>
          <a:solidFill>
            <a:srgbClr val="F2F6F9"/>
          </a:solidFill>
          <a:ln w="12700">
            <a:solidFill>
              <a:srgbClr val="D9E2EA"/>
            </a:solidFill>
            <a:prstDash val="solid"/>
          </a:ln>
        </p:spPr>
      </p:sp>
      <p:sp>
        <p:nvSpPr>
          <p:cNvPr id="13" name="Shape 10"/>
          <p:cNvSpPr/>
          <p:nvPr/>
        </p:nvSpPr>
        <p:spPr>
          <a:xfrm>
            <a:off x="4487570" y="1536192"/>
            <a:ext cx="310896" cy="310896"/>
          </a:xfrm>
          <a:prstGeom prst="ellipse">
            <a:avLst/>
          </a:prstGeom>
          <a:solidFill>
            <a:srgbClr val="29ABE2"/>
          </a:solidFill>
          <a:ln/>
        </p:spPr>
      </p:sp>
      <p:sp>
        <p:nvSpPr>
          <p:cNvPr id="14" name="Text 11"/>
          <p:cNvSpPr/>
          <p:nvPr/>
        </p:nvSpPr>
        <p:spPr>
          <a:xfrm>
            <a:off x="448757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4908194" y="1499616"/>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Fine-tune backbones</a:t>
            </a:r>
            <a:endParaRPr lang="en-US" sz="1250" dirty="0"/>
          </a:p>
        </p:txBody>
      </p:sp>
      <p:sp>
        <p:nvSpPr>
          <p:cNvPr id="16" name="Text 13"/>
          <p:cNvSpPr/>
          <p:nvPr/>
        </p:nvSpPr>
        <p:spPr>
          <a:xfrm>
            <a:off x="4505858" y="1920240"/>
            <a:ext cx="317997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Staged transfer learning on CNNs and ViTs, with honest per-class metrics (M2).</a:t>
            </a:r>
            <a:endParaRPr lang="en-US" sz="1100" dirty="0"/>
          </a:p>
        </p:txBody>
      </p:sp>
      <p:sp>
        <p:nvSpPr>
          <p:cNvPr id="17" name="Shape 14"/>
          <p:cNvSpPr/>
          <p:nvPr/>
        </p:nvSpPr>
        <p:spPr>
          <a:xfrm>
            <a:off x="8143037" y="1389888"/>
            <a:ext cx="3545738" cy="2354580"/>
          </a:xfrm>
          <a:prstGeom prst="roundRect">
            <a:avLst>
              <a:gd name="adj" fmla="val 3107"/>
            </a:avLst>
          </a:prstGeom>
          <a:solidFill>
            <a:srgbClr val="F2F6F9"/>
          </a:solidFill>
          <a:ln w="12700">
            <a:solidFill>
              <a:srgbClr val="D9E2EA"/>
            </a:solidFill>
            <a:prstDash val="solid"/>
          </a:ln>
        </p:spPr>
      </p:sp>
      <p:sp>
        <p:nvSpPr>
          <p:cNvPr id="18" name="Shape 15"/>
          <p:cNvSpPr/>
          <p:nvPr/>
        </p:nvSpPr>
        <p:spPr>
          <a:xfrm>
            <a:off x="8307629" y="1536192"/>
            <a:ext cx="310896" cy="310896"/>
          </a:xfrm>
          <a:prstGeom prst="ellipse">
            <a:avLst/>
          </a:prstGeom>
          <a:solidFill>
            <a:srgbClr val="F58220"/>
          </a:solidFill>
          <a:ln/>
        </p:spPr>
      </p:sp>
      <p:sp>
        <p:nvSpPr>
          <p:cNvPr id="19" name="Text 16"/>
          <p:cNvSpPr/>
          <p:nvPr/>
        </p:nvSpPr>
        <p:spPr>
          <a:xfrm>
            <a:off x="8307629"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8728253" y="1499616"/>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Detect &amp; segment</a:t>
            </a:r>
            <a:endParaRPr lang="en-US" sz="1250" dirty="0"/>
          </a:p>
        </p:txBody>
      </p:sp>
      <p:sp>
        <p:nvSpPr>
          <p:cNvPr id="21" name="Text 18"/>
          <p:cNvSpPr/>
          <p:nvPr/>
        </p:nvSpPr>
        <p:spPr>
          <a:xfrm>
            <a:off x="8325917" y="1920240"/>
            <a:ext cx="317997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YOLO-family detectors and segmenters tuned to line requirements, not defaults (M3–M4).</a:t>
            </a:r>
            <a:endParaRPr lang="en-US" sz="1100" dirty="0"/>
          </a:p>
        </p:txBody>
      </p:sp>
      <p:sp>
        <p:nvSpPr>
          <p:cNvPr id="22" name="Shape 19"/>
          <p:cNvSpPr/>
          <p:nvPr/>
        </p:nvSpPr>
        <p:spPr>
          <a:xfrm>
            <a:off x="502920" y="4000500"/>
            <a:ext cx="3545738" cy="2354580"/>
          </a:xfrm>
          <a:prstGeom prst="roundRect">
            <a:avLst>
              <a:gd name="adj" fmla="val 3107"/>
            </a:avLst>
          </a:prstGeom>
          <a:solidFill>
            <a:srgbClr val="F2F6F9"/>
          </a:solidFill>
          <a:ln w="12700">
            <a:solidFill>
              <a:srgbClr val="D9E2EA"/>
            </a:solidFill>
            <a:prstDash val="solid"/>
          </a:ln>
        </p:spPr>
      </p:sp>
      <p:sp>
        <p:nvSpPr>
          <p:cNvPr id="23" name="Shape 20"/>
          <p:cNvSpPr/>
          <p:nvPr/>
        </p:nvSpPr>
        <p:spPr>
          <a:xfrm>
            <a:off x="667512" y="4146804"/>
            <a:ext cx="310896" cy="310896"/>
          </a:xfrm>
          <a:prstGeom prst="ellipse">
            <a:avLst/>
          </a:prstGeom>
          <a:solidFill>
            <a:srgbClr val="8DC63F"/>
          </a:solidFill>
          <a:ln/>
        </p:spPr>
      </p:sp>
      <p:sp>
        <p:nvSpPr>
          <p:cNvPr id="24" name="Text 21"/>
          <p:cNvSpPr/>
          <p:nvPr/>
        </p:nvSpPr>
        <p:spPr>
          <a:xfrm>
            <a:off x="667512"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p:nvPr/>
        </p:nvSpPr>
        <p:spPr>
          <a:xfrm>
            <a:off x="1088136" y="4110228"/>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Curate datasets</a:t>
            </a:r>
            <a:endParaRPr lang="en-US" sz="1250" dirty="0"/>
          </a:p>
        </p:txBody>
      </p:sp>
      <p:sp>
        <p:nvSpPr>
          <p:cNvPr id="26" name="Text 23"/>
          <p:cNvSpPr/>
          <p:nvPr/>
        </p:nvSpPr>
        <p:spPr>
          <a:xfrm>
            <a:off x="685800" y="4530852"/>
            <a:ext cx="317997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Model-assisted audits, annotation specs, agreement metrics, versioned releases (M5).</a:t>
            </a:r>
            <a:endParaRPr lang="en-US" sz="1100" dirty="0"/>
          </a:p>
        </p:txBody>
      </p:sp>
      <p:sp>
        <p:nvSpPr>
          <p:cNvPr id="27" name="Shape 24"/>
          <p:cNvSpPr/>
          <p:nvPr/>
        </p:nvSpPr>
        <p:spPr>
          <a:xfrm>
            <a:off x="4322978" y="4000500"/>
            <a:ext cx="3545738" cy="2354580"/>
          </a:xfrm>
          <a:prstGeom prst="roundRect">
            <a:avLst>
              <a:gd name="adj" fmla="val 3107"/>
            </a:avLst>
          </a:prstGeom>
          <a:solidFill>
            <a:srgbClr val="F2F6F9"/>
          </a:solidFill>
          <a:ln w="12700">
            <a:solidFill>
              <a:srgbClr val="D9E2EA"/>
            </a:solidFill>
            <a:prstDash val="solid"/>
          </a:ln>
        </p:spPr>
      </p:sp>
      <p:sp>
        <p:nvSpPr>
          <p:cNvPr id="28" name="Shape 25"/>
          <p:cNvSpPr/>
          <p:nvPr/>
        </p:nvSpPr>
        <p:spPr>
          <a:xfrm>
            <a:off x="4487570" y="4146804"/>
            <a:ext cx="310896" cy="310896"/>
          </a:xfrm>
          <a:prstGeom prst="ellipse">
            <a:avLst/>
          </a:prstGeom>
          <a:solidFill>
            <a:srgbClr val="1D2A5C"/>
          </a:solidFill>
          <a:ln/>
        </p:spPr>
      </p:sp>
      <p:sp>
        <p:nvSpPr>
          <p:cNvPr id="29" name="Text 26"/>
          <p:cNvSpPr/>
          <p:nvPr/>
        </p:nvSpPr>
        <p:spPr>
          <a:xfrm>
            <a:off x="4487570"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7"/>
          <p:cNvSpPr/>
          <p:nvPr/>
        </p:nvSpPr>
        <p:spPr>
          <a:xfrm>
            <a:off x="4908194" y="4110228"/>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Evaluate rigorously</a:t>
            </a:r>
            <a:endParaRPr lang="en-US" sz="1250" dirty="0"/>
          </a:p>
        </p:txBody>
      </p:sp>
      <p:sp>
        <p:nvSpPr>
          <p:cNvPr id="31" name="Text 28"/>
          <p:cNvSpPr/>
          <p:nvPr/>
        </p:nvSpPr>
        <p:spPr>
          <a:xfrm>
            <a:off x="4505858" y="4530852"/>
            <a:ext cx="317997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mAP/IoU, slice-level metrics, error taxonomies, operating-point selection (M6).</a:t>
            </a:r>
            <a:endParaRPr lang="en-US" sz="1100" dirty="0"/>
          </a:p>
        </p:txBody>
      </p:sp>
      <p:sp>
        <p:nvSpPr>
          <p:cNvPr id="32" name="Shape 29"/>
          <p:cNvSpPr/>
          <p:nvPr/>
        </p:nvSpPr>
        <p:spPr>
          <a:xfrm>
            <a:off x="8143037" y="4000500"/>
            <a:ext cx="3545738" cy="2354580"/>
          </a:xfrm>
          <a:prstGeom prst="roundRect">
            <a:avLst>
              <a:gd name="adj" fmla="val 3107"/>
            </a:avLst>
          </a:prstGeom>
          <a:solidFill>
            <a:srgbClr val="F2F6F9"/>
          </a:solidFill>
          <a:ln w="12700">
            <a:solidFill>
              <a:srgbClr val="D9E2EA"/>
            </a:solidFill>
            <a:prstDash val="solid"/>
          </a:ln>
        </p:spPr>
      </p:sp>
      <p:sp>
        <p:nvSpPr>
          <p:cNvPr id="33" name="Shape 30"/>
          <p:cNvSpPr/>
          <p:nvPr/>
        </p:nvSpPr>
        <p:spPr>
          <a:xfrm>
            <a:off x="8307629" y="4146804"/>
            <a:ext cx="310896" cy="310896"/>
          </a:xfrm>
          <a:prstGeom prst="ellipse">
            <a:avLst/>
          </a:prstGeom>
          <a:solidFill>
            <a:srgbClr val="E8503A"/>
          </a:solidFill>
          <a:ln/>
        </p:spPr>
      </p:sp>
      <p:sp>
        <p:nvSpPr>
          <p:cNvPr id="34" name="Text 31"/>
          <p:cNvSpPr/>
          <p:nvPr/>
        </p:nvSpPr>
        <p:spPr>
          <a:xfrm>
            <a:off x="8307629" y="41468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2"/>
          <p:cNvSpPr/>
          <p:nvPr/>
        </p:nvSpPr>
        <p:spPr>
          <a:xfrm>
            <a:off x="8728253" y="4110228"/>
            <a:ext cx="2814218" cy="384048"/>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Ship to the edge</a:t>
            </a:r>
            <a:endParaRPr lang="en-US" sz="1250" dirty="0"/>
          </a:p>
        </p:txBody>
      </p:sp>
      <p:sp>
        <p:nvSpPr>
          <p:cNvPr id="36" name="Text 33"/>
          <p:cNvSpPr/>
          <p:nvPr/>
        </p:nvSpPr>
        <p:spPr>
          <a:xfrm>
            <a:off x="8325917" y="4530852"/>
            <a:ext cx="3179978" cy="17145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ONNX export with parity tests, INT8 quantisation, measured latency budgets (M7).</a:t>
            </a:r>
            <a:endParaRPr lang="en-US" sz="11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141F49"/>
        </a:solidFill>
      </p:bgPr>
    </p:bg>
    <p:spTree>
      <p:nvGrpSpPr>
        <p:cNvPr id="1" name=""/>
        <p:cNvGrpSpPr/>
        <p:nvPr/>
      </p:nvGrpSpPr>
      <p:grpSpPr>
        <a:xfrm>
          <a:off x="0" y="0"/>
          <a:ext cx="0" cy="0"/>
          <a:chOff x="0" y="0"/>
          <a:chExt cx="0" cy="0"/>
        </a:xfrm>
      </p:grpSpPr>
      <p:sp>
        <p:nvSpPr>
          <p:cNvPr id="2" name="Shape 0"/>
          <p:cNvSpPr/>
          <p:nvPr/>
        </p:nvSpPr>
        <p:spPr>
          <a:xfrm>
            <a:off x="9418320" y="6149340"/>
            <a:ext cx="411480" cy="356616"/>
          </a:xfrm>
          <a:prstGeom prst="triangle">
            <a:avLst/>
          </a:prstGeom>
          <a:solidFill>
            <a:srgbClr val="00A79D">
              <a:alpha val="18000"/>
            </a:srgbClr>
          </a:solidFill>
          <a:ln/>
        </p:spPr>
      </p:sp>
      <p:sp>
        <p:nvSpPr>
          <p:cNvPr id="3" name="Shape 1"/>
          <p:cNvSpPr/>
          <p:nvPr/>
        </p:nvSpPr>
        <p:spPr>
          <a:xfrm rot="10800000">
            <a:off x="9857232" y="5806440"/>
            <a:ext cx="411480" cy="356616"/>
          </a:xfrm>
          <a:prstGeom prst="triangle">
            <a:avLst/>
          </a:prstGeom>
          <a:solidFill>
            <a:srgbClr val="29ABE2">
              <a:alpha val="18000"/>
            </a:srgbClr>
          </a:solidFill>
          <a:ln/>
        </p:spPr>
      </p:sp>
      <p:sp>
        <p:nvSpPr>
          <p:cNvPr id="4" name="Shape 2"/>
          <p:cNvSpPr/>
          <p:nvPr/>
        </p:nvSpPr>
        <p:spPr>
          <a:xfrm rot="10800000">
            <a:off x="9857232" y="6492240"/>
            <a:ext cx="411480" cy="356616"/>
          </a:xfrm>
          <a:prstGeom prst="triangle">
            <a:avLst/>
          </a:prstGeom>
          <a:solidFill>
            <a:srgbClr val="F58220">
              <a:alpha val="18000"/>
            </a:srgbClr>
          </a:solidFill>
          <a:ln/>
        </p:spPr>
      </p:sp>
      <p:sp>
        <p:nvSpPr>
          <p:cNvPr id="5" name="Shape 3"/>
          <p:cNvSpPr/>
          <p:nvPr/>
        </p:nvSpPr>
        <p:spPr>
          <a:xfrm>
            <a:off x="10296144" y="6149340"/>
            <a:ext cx="411480" cy="356616"/>
          </a:xfrm>
          <a:prstGeom prst="triangle">
            <a:avLst/>
          </a:prstGeom>
          <a:solidFill>
            <a:srgbClr val="8DC63F">
              <a:alpha val="18000"/>
            </a:srgbClr>
          </a:solidFill>
          <a:ln/>
        </p:spPr>
      </p:sp>
      <p:sp>
        <p:nvSpPr>
          <p:cNvPr id="6" name="Shape 4"/>
          <p:cNvSpPr/>
          <p:nvPr/>
        </p:nvSpPr>
        <p:spPr>
          <a:xfrm>
            <a:off x="10296144" y="5463540"/>
            <a:ext cx="411480" cy="356616"/>
          </a:xfrm>
          <a:prstGeom prst="triangle">
            <a:avLst/>
          </a:prstGeom>
          <a:solidFill>
            <a:srgbClr val="1D2A5C">
              <a:alpha val="18000"/>
            </a:srgbClr>
          </a:solidFill>
          <a:ln/>
        </p:spPr>
      </p:sp>
      <p:sp>
        <p:nvSpPr>
          <p:cNvPr id="7" name="Shape 5"/>
          <p:cNvSpPr/>
          <p:nvPr/>
        </p:nvSpPr>
        <p:spPr>
          <a:xfrm rot="10800000">
            <a:off x="10735056" y="5806440"/>
            <a:ext cx="411480" cy="356616"/>
          </a:xfrm>
          <a:prstGeom prst="triangle">
            <a:avLst/>
          </a:prstGeom>
          <a:solidFill>
            <a:srgbClr val="29ABE2">
              <a:alpha val="18000"/>
            </a:srgbClr>
          </a:solidFill>
          <a:ln/>
        </p:spPr>
      </p:sp>
      <p:sp>
        <p:nvSpPr>
          <p:cNvPr id="8" name="Shape 6"/>
          <p:cNvSpPr/>
          <p:nvPr/>
        </p:nvSpPr>
        <p:spPr>
          <a:xfrm>
            <a:off x="10735056" y="6492240"/>
            <a:ext cx="411480" cy="356616"/>
          </a:xfrm>
          <a:prstGeom prst="triangle">
            <a:avLst/>
          </a:prstGeom>
          <a:solidFill>
            <a:srgbClr val="00A79D">
              <a:alpha val="18000"/>
            </a:srgbClr>
          </a:solidFill>
          <a:ln/>
        </p:spPr>
      </p:sp>
      <p:sp>
        <p:nvSpPr>
          <p:cNvPr id="9" name="Shape 7"/>
          <p:cNvSpPr/>
          <p:nvPr/>
        </p:nvSpPr>
        <p:spPr>
          <a:xfrm rot="10800000">
            <a:off x="11173968" y="6149340"/>
            <a:ext cx="411480" cy="356616"/>
          </a:xfrm>
          <a:prstGeom prst="triangle">
            <a:avLst/>
          </a:prstGeom>
          <a:solidFill>
            <a:srgbClr val="F58220">
              <a:alpha val="18000"/>
            </a:srgbClr>
          </a:solidFill>
          <a:ln/>
        </p:spPr>
      </p:sp>
      <p:sp>
        <p:nvSpPr>
          <p:cNvPr id="10" name="Shape 8"/>
          <p:cNvSpPr/>
          <p:nvPr/>
        </p:nvSpPr>
        <p:spPr>
          <a:xfrm>
            <a:off x="365760" y="747522"/>
            <a:ext cx="233172" cy="202082"/>
          </a:xfrm>
          <a:prstGeom prst="triangle">
            <a:avLst/>
          </a:prstGeom>
          <a:solidFill>
            <a:srgbClr val="00A79D">
              <a:alpha val="18000"/>
            </a:srgbClr>
          </a:solidFill>
          <a:ln/>
        </p:spPr>
      </p:sp>
      <p:sp>
        <p:nvSpPr>
          <p:cNvPr id="11" name="Shape 9"/>
          <p:cNvSpPr/>
          <p:nvPr/>
        </p:nvSpPr>
        <p:spPr>
          <a:xfrm rot="10800000">
            <a:off x="614477" y="553212"/>
            <a:ext cx="233172" cy="202082"/>
          </a:xfrm>
          <a:prstGeom prst="triangle">
            <a:avLst/>
          </a:prstGeom>
          <a:solidFill>
            <a:srgbClr val="29ABE2">
              <a:alpha val="18000"/>
            </a:srgbClr>
          </a:solidFill>
          <a:ln/>
        </p:spPr>
      </p:sp>
      <p:sp>
        <p:nvSpPr>
          <p:cNvPr id="12" name="Shape 10"/>
          <p:cNvSpPr/>
          <p:nvPr/>
        </p:nvSpPr>
        <p:spPr>
          <a:xfrm rot="10800000">
            <a:off x="614477" y="941832"/>
            <a:ext cx="233172" cy="202082"/>
          </a:xfrm>
          <a:prstGeom prst="triangle">
            <a:avLst/>
          </a:prstGeom>
          <a:solidFill>
            <a:srgbClr val="F58220">
              <a:alpha val="18000"/>
            </a:srgbClr>
          </a:solidFill>
          <a:ln/>
        </p:spPr>
      </p:sp>
      <p:sp>
        <p:nvSpPr>
          <p:cNvPr id="13" name="Shape 11"/>
          <p:cNvSpPr/>
          <p:nvPr/>
        </p:nvSpPr>
        <p:spPr>
          <a:xfrm>
            <a:off x="863194" y="747522"/>
            <a:ext cx="233172" cy="202082"/>
          </a:xfrm>
          <a:prstGeom prst="triangle">
            <a:avLst/>
          </a:prstGeom>
          <a:solidFill>
            <a:srgbClr val="8DC63F">
              <a:alpha val="18000"/>
            </a:srgbClr>
          </a:solidFill>
          <a:ln/>
        </p:spPr>
      </p:sp>
      <p:sp>
        <p:nvSpPr>
          <p:cNvPr id="14" name="Shape 12"/>
          <p:cNvSpPr/>
          <p:nvPr/>
        </p:nvSpPr>
        <p:spPr>
          <a:xfrm>
            <a:off x="863194" y="358902"/>
            <a:ext cx="233172" cy="202082"/>
          </a:xfrm>
          <a:prstGeom prst="triangle">
            <a:avLst/>
          </a:prstGeom>
          <a:solidFill>
            <a:srgbClr val="1D2A5C">
              <a:alpha val="18000"/>
            </a:srgbClr>
          </a:solidFill>
          <a:ln/>
        </p:spPr>
      </p:sp>
      <p:sp>
        <p:nvSpPr>
          <p:cNvPr id="15" name="Shape 13"/>
          <p:cNvSpPr/>
          <p:nvPr/>
        </p:nvSpPr>
        <p:spPr>
          <a:xfrm rot="10800000">
            <a:off x="1111910" y="553212"/>
            <a:ext cx="233172" cy="202082"/>
          </a:xfrm>
          <a:prstGeom prst="triangle">
            <a:avLst/>
          </a:prstGeom>
          <a:solidFill>
            <a:srgbClr val="29ABE2">
              <a:alpha val="18000"/>
            </a:srgbClr>
          </a:solidFill>
          <a:ln/>
        </p:spPr>
      </p:sp>
      <p:sp>
        <p:nvSpPr>
          <p:cNvPr id="16" name="Shape 14"/>
          <p:cNvSpPr/>
          <p:nvPr/>
        </p:nvSpPr>
        <p:spPr>
          <a:xfrm>
            <a:off x="1111910" y="941832"/>
            <a:ext cx="233172" cy="202082"/>
          </a:xfrm>
          <a:prstGeom prst="triangle">
            <a:avLst/>
          </a:prstGeom>
          <a:solidFill>
            <a:srgbClr val="00A79D">
              <a:alpha val="18000"/>
            </a:srgbClr>
          </a:solidFill>
          <a:ln/>
        </p:spPr>
      </p:sp>
      <p:sp>
        <p:nvSpPr>
          <p:cNvPr id="17" name="Shape 15"/>
          <p:cNvSpPr/>
          <p:nvPr/>
        </p:nvSpPr>
        <p:spPr>
          <a:xfrm rot="10800000">
            <a:off x="1360627" y="747522"/>
            <a:ext cx="233172" cy="202082"/>
          </a:xfrm>
          <a:prstGeom prst="triangle">
            <a:avLst/>
          </a:prstGeom>
          <a:solidFill>
            <a:srgbClr val="F58220">
              <a:alpha val="18000"/>
            </a:srgbClr>
          </a:solidFill>
          <a:ln/>
        </p:spPr>
      </p:sp>
      <p:sp>
        <p:nvSpPr>
          <p:cNvPr id="18" name="Shape 16"/>
          <p:cNvSpPr/>
          <p:nvPr/>
        </p:nvSpPr>
        <p:spPr>
          <a:xfrm>
            <a:off x="10332720" y="347472"/>
            <a:ext cx="1481328" cy="566928"/>
          </a:xfrm>
          <a:prstGeom prst="roundRect">
            <a:avLst>
              <a:gd name="adj" fmla="val 14516"/>
            </a:avLst>
          </a:prstGeom>
          <a:solidFill>
            <a:srgbClr val="FFFFFF"/>
          </a:solidFill>
          <a:ln/>
        </p:spPr>
      </p:sp>
      <p:pic>
        <p:nvPicPr>
          <p:cNvPr id="19" name="Image 0" descr="/sessions/blissful-determined-ritchie/build/assets/sdaia_logo.png">    </p:cNvPr>
          <p:cNvPicPr>
            <a:picLocks noChangeAspect="1"/>
          </p:cNvPicPr>
          <p:nvPr/>
        </p:nvPicPr>
        <p:blipFill>
          <a:blip r:embed="rId1"/>
          <a:stretch>
            <a:fillRect/>
          </a:stretch>
        </p:blipFill>
        <p:spPr>
          <a:xfrm>
            <a:off x="10442448" y="438912"/>
            <a:ext cx="1261872" cy="308876"/>
          </a:xfrm>
          <a:prstGeom prst="rect">
            <a:avLst/>
          </a:prstGeom>
        </p:spPr>
      </p:pic>
      <p:sp>
        <p:nvSpPr>
          <p:cNvPr id="20" name="Text 17"/>
          <p:cNvSpPr/>
          <p:nvPr/>
        </p:nvSpPr>
        <p:spPr>
          <a:xfrm>
            <a:off x="777240" y="1325880"/>
            <a:ext cx="5486400" cy="457200"/>
          </a:xfrm>
          <a:prstGeom prst="rect">
            <a:avLst/>
          </a:prstGeom>
          <a:noFill/>
          <a:ln/>
        </p:spPr>
        <p:txBody>
          <a:bodyPr wrap="square" lIns="0" tIns="0" rIns="0" bIns="0" rtlCol="0" anchor="ctr"/>
          <a:lstStyle/>
          <a:p>
            <a:pPr indent="0" marL="0">
              <a:buNone/>
            </a:pPr>
            <a:r>
              <a:rPr lang="en-US" sz="2000" b="1" spc="300" kern="0" dirty="0">
                <a:solidFill>
                  <a:srgbClr val="00A79D"/>
                </a:solidFill>
                <a:latin typeface="Calibri" pitchFamily="34" charset="0"/>
                <a:ea typeface="Calibri" pitchFamily="34" charset="-122"/>
                <a:cs typeface="Calibri" pitchFamily="34" charset="-120"/>
              </a:rPr>
              <a:t>THANK YOU</a:t>
            </a:r>
            <a:endParaRPr lang="en-US" sz="2000" dirty="0"/>
          </a:p>
        </p:txBody>
      </p:sp>
      <p:sp>
        <p:nvSpPr>
          <p:cNvPr id="21" name="Text 18"/>
          <p:cNvSpPr/>
          <p:nvPr/>
        </p:nvSpPr>
        <p:spPr>
          <a:xfrm>
            <a:off x="749808" y="1828800"/>
            <a:ext cx="75895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Thank you — شكراً</a:t>
            </a:r>
            <a:endParaRPr lang="en-US" sz="3600" dirty="0"/>
          </a:p>
        </p:txBody>
      </p:sp>
      <p:sp>
        <p:nvSpPr>
          <p:cNvPr id="22" name="Text 19"/>
          <p:cNvSpPr/>
          <p:nvPr/>
        </p:nvSpPr>
        <p:spPr>
          <a:xfrm>
            <a:off x="777240" y="2852928"/>
            <a:ext cx="7589520" cy="457200"/>
          </a:xfrm>
          <a:prstGeom prst="rect">
            <a:avLst/>
          </a:prstGeom>
          <a:noFill/>
          <a:ln/>
        </p:spPr>
        <p:txBody>
          <a:bodyPr wrap="square" lIns="0" tIns="0" rIns="0" bIns="0" rtlCol="0" anchor="ctr"/>
          <a:lstStyle/>
          <a:p>
            <a:pPr indent="0" marL="0">
              <a:buNone/>
            </a:pPr>
            <a:r>
              <a:rPr lang="en-US" sz="1700" dirty="0">
                <a:solidFill>
                  <a:srgbClr val="B9C8E8"/>
                </a:solidFill>
                <a:latin typeface="Arial" pitchFamily="34" charset="0"/>
                <a:ea typeface="Arial" pitchFamily="34" charset="-122"/>
                <a:cs typeface="Arial" pitchFamily="34" charset="-120"/>
              </a:rPr>
              <a:t>أكاديمية سدايا — بناء القدرات الوطنية في الذكاء الاصطناعي</a:t>
            </a:r>
            <a:endParaRPr lang="en-US" sz="1700" dirty="0"/>
          </a:p>
        </p:txBody>
      </p:sp>
      <p:sp>
        <p:nvSpPr>
          <p:cNvPr id="23" name="Text 20"/>
          <p:cNvSpPr/>
          <p:nvPr/>
        </p:nvSpPr>
        <p:spPr>
          <a:xfrm>
            <a:off x="804672" y="3520440"/>
            <a:ext cx="6949440" cy="2560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Course repo, checkpoints &amp; dataset snapshots remain available</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Capstone rubric scores released within 5 working days</a:t>
            </a:r>
            <a:endParaRPr lang="en-US" sz="1300" dirty="0"/>
          </a:p>
          <a:p>
            <a:pPr marL="177800" indent="-177800">
              <a:spcAft>
                <a:spcPts val="800"/>
              </a:spcAft>
              <a:buSzPct val="100000"/>
              <a:buChar char="▪"/>
            </a:pPr>
            <a:r>
              <a:rPr lang="en-US" sz="1300" dirty="0">
                <a:solidFill>
                  <a:srgbClr val="DCE6F8"/>
                </a:solidFill>
                <a:latin typeface="Calibri" pitchFamily="34" charset="0"/>
                <a:ea typeface="Calibri" pitchFamily="34" charset="-122"/>
                <a:cs typeface="Calibri" pitchFamily="34" charset="-120"/>
              </a:rPr>
              <a:t>Next step: SDA-AIE-216 — MLOps: Model Deployment and Automation</a:t>
            </a:r>
            <a:endParaRPr lang="en-US" sz="1300" dirty="0"/>
          </a:p>
        </p:txBody>
      </p:sp>
      <p:sp>
        <p:nvSpPr>
          <p:cNvPr id="24" name="Shape 21"/>
          <p:cNvSpPr/>
          <p:nvPr/>
        </p:nvSpPr>
        <p:spPr>
          <a:xfrm>
            <a:off x="8366760" y="3520440"/>
            <a:ext cx="3383280" cy="2286000"/>
          </a:xfrm>
          <a:prstGeom prst="roundRect">
            <a:avLst>
              <a:gd name="adj" fmla="val 4000"/>
            </a:avLst>
          </a:prstGeom>
          <a:solidFill>
            <a:srgbClr val="1C2C63"/>
          </a:solidFill>
          <a:ln w="15875">
            <a:solidFill>
              <a:srgbClr val="00A79D"/>
            </a:solidFill>
            <a:prstDash val="solid"/>
          </a:ln>
        </p:spPr>
      </p:sp>
      <p:sp>
        <p:nvSpPr>
          <p:cNvPr id="25" name="Text 22"/>
          <p:cNvSpPr/>
          <p:nvPr/>
        </p:nvSpPr>
        <p:spPr>
          <a:xfrm>
            <a:off x="8595360" y="3703320"/>
            <a:ext cx="2926080" cy="274320"/>
          </a:xfrm>
          <a:prstGeom prst="rect">
            <a:avLst/>
          </a:prstGeom>
          <a:noFill/>
          <a:ln/>
        </p:spPr>
        <p:txBody>
          <a:bodyPr wrap="square" lIns="0" tIns="0" rIns="0" bIns="0" rtlCol="0" anchor="ctr"/>
          <a:lstStyle/>
          <a:p>
            <a:pPr indent="0" marL="0">
              <a:buNone/>
            </a:pPr>
            <a:r>
              <a:rPr lang="en-US" sz="1000" b="1" spc="200" kern="0" dirty="0">
                <a:solidFill>
                  <a:srgbClr val="00A79D"/>
                </a:solidFill>
                <a:latin typeface="Calibri" pitchFamily="34" charset="0"/>
                <a:ea typeface="Calibri" pitchFamily="34" charset="-122"/>
                <a:cs typeface="Calibri" pitchFamily="34" charset="-120"/>
              </a:rPr>
              <a:t>TAKE IT WITH YOU</a:t>
            </a:r>
            <a:endParaRPr lang="en-US" sz="1000" dirty="0"/>
          </a:p>
        </p:txBody>
      </p:sp>
      <p:sp>
        <p:nvSpPr>
          <p:cNvPr id="26" name="Text 23"/>
          <p:cNvSpPr/>
          <p:nvPr/>
        </p:nvSpPr>
        <p:spPr>
          <a:xfrm>
            <a:off x="8595360" y="4041648"/>
            <a:ext cx="2971800" cy="1600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Your Tamr Vision system travels with you — bring it to SDA-AIE-216.</a:t>
            </a:r>
            <a:endParaRPr lang="en-US" sz="1250" dirty="0"/>
          </a:p>
        </p:txBody>
      </p:sp>
      <p:sp>
        <p:nvSpPr>
          <p:cNvPr id="27" name="Text 2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900" dirty="0">
                <a:solidFill>
                  <a:srgbClr val="5A6A96"/>
                </a:solidFill>
                <a:latin typeface="Calibri" pitchFamily="34" charset="0"/>
                <a:ea typeface="Calibri" pitchFamily="34" charset="-122"/>
                <a:cs typeface="Calibri" pitchFamily="34" charset="-120"/>
              </a:rPr>
              <a:t>158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158</Slides>
  <Notes>158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158</vt:i4>
      </vt:variant>
    </vt:vector>
  </HeadingPairs>
  <TitlesOfParts>
    <vt:vector size="1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 Systems Development — Instructor Deck</dc:title>
  <dc:subject>PptxGenJS Presentation</dc:subject>
  <dc:creator>SDAIA Academy</dc:creator>
  <cp:lastModifiedBy>SDAIA Academy</cp:lastModifiedBy>
  <cp:revision>1</cp:revision>
  <dcterms:created xsi:type="dcterms:W3CDTF">2026-07-11T11:03:30Z</dcterms:created>
  <dcterms:modified xsi:type="dcterms:W3CDTF">2026-07-11T11:03:30Z</dcterms:modified>
</cp:coreProperties>
</file>