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Lst>
  <p:notesMasterIdLst>
    <p:notesMasterId r:id="rId15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notesMaster" Target="notesMasters/notesMaster1.xml"/><Relationship Id="rId156" Type="http://schemas.openxmlformats.org/officeDocument/2006/relationships/presProps" Target="presProps.xml"/><Relationship Id="rId157" Type="http://schemas.openxmlformats.org/officeDocument/2006/relationships/viewProps" Target="viewProps.xml"/><Relationship Id="rId158" Type="http://schemas.openxmlformats.org/officeDocument/2006/relationships/theme" Target="theme/theme1.xml"/><Relationship Id="rId1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this slide while participants settle. Introduce yourself and the course code (SDA-AIE-211, Specialist level, 4 days x 5 learning hours = 20 hours). Set the tone early: this is a specialist module for AI engineers specialising in language applications, with SDA-AIE-112 as the assumed prerequisite — if anyone has not done it, flag them for pairing support now. Mention the tool stack once (Hugging Face Transformers, spaCy, sentence-transformers, CAMeL Tools) and promise that every tool gets hands-on lab time, not a logo tour. Do not explain Bayan yet — the next slide does that. Timing: 2-3 minutes maximum; the real kickoff is Hour 1 of 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slide for the whole course. Say the arc out loud: classic NLP pipelines, then the pretrain/fine-tune revolution, then the LLM-centric stack — and stress that this module is the bridge between classic pipelines and today's LLM stack. Then introduce Bayan properly: participants will clean and tokenise the feedback corpus, fine-tune transformers for topic and sentiment, extract entities from complaints, build semantic search over historical cases, evaluate everything with sliced error analysis, and optimise for production latency budgets. Land the payoff: by Day 4 each participant owns a working, evaluated, optimised bilingual NLP application — the exact substrate that the LLM and RAG modules (SDA-AIE-213/214) later extend. Ask the room: who has shipped an NLP feature to production? Keep the answers — you will call back to them in the evaluation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briskly. Pause on two rows. Assessment: 60% comes from the seven labs and 40% from the Arabic/English NLP application project — which is not a separate deliverable but the assembled Bayan service, so lab work is never throwaway. Prerequisites: SDA-AIE-112 is assumed; probe gently for anyone who skipped it and plan your pairing accordingly. On tools, note that everything is open source and pre-listed in the participant install email — nobody should be pip-installing live in class. Mention the hour structure from the note: 50 minutes instruction + 10 minutes buffer per hour, long break around Dhuhr.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sells the course design. Trace the arrow left to right and make the dependency explicit: Day 1's preprocessing pipeline feeds Day 2's fine-tuned models, which Day 3 evaluates and extends with Arabic depth and search, which Day 4 optimises and assembles. Read the 'why' line aloud — it is the single most important instructor discipline in the package: every module touches the same Bayan citizen-feedback corpus and service. If you improvise an example mid-course, improvise it on a Bayan slice. Warn the room now that skipped or half-finished labs compound: checkpoint branches exist precisely so nobody arrives at Day 4 empty-handed. Transition: 'so what exactly will you be able to do by the end?' — next slide, the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LO once, but spend your breath on the mapsTo column: every outcome has a named module AND a named lab, so nothing is assessed that was not practised. Point out that M4 (Arabic NLP) does not carry its own LO card — Arabic-specific handling is baked into LO1 and threads through Labs 3, 4, and 6; it is a lens on the whole course, not a silo. LO2 is the only 'explain' verb in the list — tell participants that Lab 2 (anatomy of a transformer) is where explanation becomes counting parameters and tracing a forward pass, so it is still hands-on. Ask the room which LO feels furthest from their current job; remember the answers when forming pairs.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row a one-sentence story. Day 1 is foundations with unusually high lab share (55%) because tokenisation is learned by dissection, not description. Day 2 is the fine-tuning core — flag now that Lab 3a is the most overrun-prone hour of the week (first Trainer run). Day 3 stacks three modules; reassure the room that M4's lecture half already happened on Day 2 Hour 5. Day 4 is 70% lab and holds the hard rule: capstone assembly (Hour 3) starts on time even if Lab 7 is unfinished — fallback optimised artefacts exist precisely for this. Point at the deliverable column and repeat the thread: each row's deliverable is a capstone component, not homework. Timing: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incentive structure explicit: 60% of the grade accumulates through the week in labs, 40% lands on the capstone — and since the capstone is assembled FROM the lab components, a participant who keeps pace with labs has effectively banked most of the project too. Rubric scoring happens live during Day 4 Hour 5 demos (5 minutes each, instructor + peer scoring). Read the note aloud: repo URLs and evaluation reports are collected at the end of Hour 4, before demos, so you can spot-verify metric claims — announce this on Day 1 so nobody is surprised. Common question: 'can I use my own dataset for the project?' Answer: no — the golden thread is the point; extensions welcome, substitutions not. Timing: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instructor-operations slide; in a train-the-trainer session give it full weight, in a normal cohort kickoff compress to the three cells participants feel directly: compute, pairing, language policy. On compute, be concrete: primary is one T4-class GPU per pair; if you are on the CPU fallback, Lab 3 drops to DistilBERT-class models with reduced epochs — decide which path you are on BEFORE Day 2, not during it. On pairing, most cohorts have engineers who read Arabic natively but have never seen its NLP failure modes named — that pairing is deliberate skill transfer. On language, pre-empt the recurring debate: Arabic in the corpus and code-example strings is the subject matter; identifiers and commits stay English. Close on make doctor: it prints a visible pass/fail per check, including the Arabic-font test that matters more than participants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slide — climb the stack bottom to top. Bottom layer: SDA-AIE-112 is the prerequisite. This course earns the NLP specialisation badge, and badge recommendations go out within 5 working days of the demos. Then the forward pointers, verbatim from the wrap-up guidance: SDA-AIE-213 builds LLM applications on exactly this substrate (tokenisation, embeddings, evaluation discipline); the M5 retrieval component is AIE-214's RAG foundation; serving and monitoring mature in AIE-216. Top layer: the AI Engineer Specialist Certificate requires AIE-216 plus any 3 of AIE-211/212/213/214/215, and the badge also feeds the GenAI Engineering specialisation. Use discussion prompt 4 here if energy allows: 'when the LLM era reached your organisation, which of this course's disciplines became MORE important, not less?' Timing: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the left column as your own runbook and the right column as the email you send participants two days out. Three items deserve emphasis when briefing co-instructors. First, the dry-runs are non-negotiable: all 7 labs on a clean GPU-pool machine AND on the CPU fallback, because Lab 3 timing assumes a T4-class GPU per pair and you need to know your degradation plan. Second, the sim-* branches (sim-skew-preproc, sim-pad-leak, sim-align-bug and the rest) power planned debugging exercises later in the course — if they are not pushed, those sessions have nothing to break. Third, in restricted network environments, pre-pull everything to the local registry; confirm huggingface.co, pypi and github.com reachability or configure the mirror. The doctor script is your Day 1 opener: everyone runs it, everyone sees green checks, and the Arabic-font check catches the failure nobody anticipates. Also verify a native-Arabic-reading instructor or assistant is scheduled for Days 2-3 — dialect examples land differently read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row — point at the three High-frequency ones and say when each will bite. Wi-Fi stalls hit in the first ten minutes of any lab if the cache was not pre-populated. CUDA OOM strikes in Lab 3 the moment someone raises the batch size; teach the escalation order — fp16 first, then batch 16 with gradient accumulation, and only then the CPU fallback. The reversed-Arabic terminal issue looks harmless and quietly destroys debugging sessions — the rule is never debug Arabic by eyeballing a broken terminal. Note the one row that is not a bug: subword-level NER evaluation is a PLANNED teachable moment in Lab 3B, so let it happen, then name the seqeval discipline publicly. One row not on the slide: strong-Arabic participants bored in M1 and lost in M3 (or the inverse for strong-Python) — the daily pairing rotation is the fix. Keep this table handy all four days; it is your triage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front matter with the course's one-sentence thesis — you will return to this exact line in the final 15 minutes of Day 4, so say it with weight now. Then set up Day 1, 'From text to tensors': Hour 1 is the kickoff lecture tracing why NLP broke and got rebuilt, plus first contact with the Bayan corpus; Hour 2 goes deep on normalisation, subword algorithms (BPE/WordPiece/SentencePiece), tokenizer fertility, and static vs contextual embeddings; Hour 3 is Lab 1, where pairs build the bilingual preprocessing pipeline and measure Arabic vs English fertility. If you want a bridge question, use discussion prompt 1: 'what is the most expensive NLP failure you've seen that a fertility check or a slice table would have caught for five lines of code?' Then advance to the Day 1 divider. Timing: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1 with the arc: this morning is about what happens BEFORE the model (text to integers), this afternoon about what the model IS (attention and the transformer). Point at the two labs: everything built today is reused verbatim in Lab 3 and the capstone — nothing is throwaway. Set the working mode: pairs for both labs, shared board for the fertility numbers. Timing: keep this slide under 3 minutes; the kickoff hour carries the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left to right, stressing the rhythm: concept hour, then lab hour, twice. Tell the room the two 10/90 lab hours are where the day's grade lives — the lecture hours exist to make the labs fast. Flag hour 2's live tokenizer dissection and hour 4's whiteboard attention math as the two moments to put phones down. If the cohort runs slow, the buffer lives in hour 1's corpus exploration, never in the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module's thesis before any mechanics. Ask the room: who has ever debugged a model for days when the bug was in preprocessing? Collect one story. Then land the business frame from the package: a tokenizer with poor Arabic coverage fragments words into 3-4 pieces, halves the effective context window, raises inference cost per request, and degrades accuracy — all before any model weight is touched. For Saudi organisations processing citizen text at national scale, this is a direct GPU-bill line item. Transition: 'so let us look at what real text actually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defect safari here: open bayan_raw_sample.csv on the projector and let the class call out problems for 5 minutes BEFORE naming these four classes. Every cohort finds the tatweel elongation and the mixed-script rows unprompted; almost none find the NFC/NFD near-duplicates — that reveal lands hard, so save it for last. Also mention code-switching (mixed Arabic and English in one sentence) and HTML artefacts from the web form as further defects in the Bayan corpus. Timing: 10 minutes including the safari.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prior knowledge: participants rebuilt exactly this typed-stages mental model in SDA-AIE-113; here it becomes a spaCy pipeline with custom components. Emphasise the two survivors: sentence segmentation (chunking a document at arbitrary byte offsets destroys meaning) and linguistic annotation that wraps models in production. Ask the room: what happens if you chunk a 40-page document with split('.')? Common misconception to kill: 'spaCy is obsolete now' — no, it moved from replacing the model to serving it.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subwords as the compromise every modern model uses between word-level (OOV explosion on Arabic verb forms) and character-level (wasted capacity). Live-demo if time allows: the same Arabic sentence through a WordPiece and a SentencePiece tokenizer, pointing at ## versus ▁ markers. The side panel is the takeaway that must survive the week: tokenizer/model mismatch is silent corruption. Ask: 'what would you assert at service startup to catch this?' — seeds the canary-string idea used in Lab 1 fast-finisher work. 7-8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money-shot data — participants will reproduce these exact numbers in Lab 1. Walk the four values slowly. Reference points from the package: English on BERT-base is about 1.15; Arabic on an English-centric vocabulary is 3-4; Arabic on CAMeLBERT about 1.3. Ask the room to predict the operational consequences of 6.90 before revealing: effective context window collapses, inference cost per request multiplies, and an e-commerce team measured that an Arabic-aware tokenizer cut average sequence length 38% and embedding-service cost with it.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file top to bottom. The docstring's negative decisions are the teaching point: what a normaliser refuses to do is as important as what it does. Highlight the ordering in preprocess(): mask_pii runs first — in Lab 1, pairs whose masking rate comes out 0% ran normalize first and the repeated-char collapse broke the phone regex; a perfect ordering-matters lesson, let them hit it. Mention the golden tests: 25 input/output pairs pin this behaviour, and PREPROC_VERSION is asserted at startup. 6-7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to land: (1) custom components make spaCy a framework, not a black box — the Doc-in, Doc-out contract is the typed-stage pattern from AIE-113; (2) segmentation output is what later chunking strategies (M5 document search, the legal-tech case this afternoon) are built on. Known gotcha for Lab 1: the sentencizer splits 'د. أحمد' at the abbreviation dot — the fix is an exception or custom boundary rule; let pairs discover it on the flagged examples. Ask: why does split_sentences call preprocess first? Consistency with training — the anti-skew rule again.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عين example is the course's recurring word — eye, water spring, or notable person depending on context. Run the probe live if the GPU box is warm: two sentences ('his eye was injured at work' vs 'we drank from the cold water spring'), extract the target token's hidden state from CAMeLBERT, cosine comes out around 0.55. Misconception to address: 'contextual embeddings replaced static ones everywhere' — fastText still earns its keep for cheap similarity and initialisation. Also plant the M2 hook: HOW context gets in is attention, this afternoon's whole topic.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this before the lab: run it on the projector so the reference numbers appear in real time — the moment 6.90 prints is the hour's payoff. Emphasise that the audit also produces the p95 sequence-length histogram in the lab (CAMeLBERT AR p95 = 87 tokens, so the 512 limit is comfortable). The troubleshooting row to pre-empt: DistilBERT fertility near 1.0 means [UNK] counting — inspect the tokenize() output and see the wreckage. Transition to lab: 'you will run exactly this, then defend a decision record with the numbers.'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each mistake with its rule across the columns. Spend most time on skew — the debugging exercise (branch sim-skew-preproc) has serving keep tatweel with an older regex: offline eval looks fine, live traffic accuracy is 9 points lower, and the fix is diffing preprocess() outputs on 20 raw samples between the code paths. The startup canary is a three-line test that kills the mismatch class outright. Ask the room: where should preprocessing live — model artefact or service code — and what breaks in each choice when v2 ships? 6-7 minutes, then straight into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Python 3.12, pip install transformers spacy pandas, git checkout lab1-start, data/bayan_feedback.csv (12,000 rows). The fertility table is the module's money shot — have every pair post their DistilBERT-on-Arabic number to the shared board; the 6-7× figure makes 'model choice is a data decision' visceral. Watch for pairs with 0% masking rate (ordering bug) and for the sentencizer splitting 'د. أحمد' at the abbreviation dot. Fast finishers: measure [UNK] rates and add the startup canary assertion (tokenizer + one pinned string yields pinned ids). Close with two pairs presenting their DECISIONS.md record; the class challenges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every pair commits from Lab 1 — read it as a decision document, not trivia. Walk one row: DistilBERT's 348-token p95 versus CAMeLBERT's 87 on the same text is the context-window collapse made concrete, and 11.2% UNK means the model literally cannot see a tenth of Arabic tokens. Ask: 'the team wants ONE tokenizer for both languages to simplify ops — which row do you pick and what evidence decides?' (fertility per language, traffic mix, latency budget, maintenance cost — XLM-R is the balanced answer, CAMeLBERT wins Arabic-only).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give the scenario and constraints, then let table groups propose the audit before revealing the three findings. Discussion questions from the package: (1) why did the bug surface as undercounting during an outage specifically? (2) which fix needs a regression test and what goes in its golden file? (3) the vendor proposes 'just lowercase and strip everything' — argue the counter-case with signal-loss examples; (4) where must PII masking sit among the fixes and why is order non-negotiable under PDPL? The fertility evidence doubles as the procurement argument for the tokenizer replacement. 12-15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Fertility is average subword pieces per word, so 3.5 means every word fragments into roughly 3-4 pieces: the effective context window shrinks (512 tokens now hold ~150 words), inference cost per request rises, and downstream representations weaken — all before any weight is touched. Distractor C confuses fertility with UNK rate, a separate health metric; D invents a crash that never happens — high fertility fails silently, which is exactly why it is dangerous. Run this as a 60-second hands-up poll, then have one participant defend B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Token ids index rows of the embedding matrix; those rows were trained against one specific vocabulary and merge table. Swap tokenizers and id 5,041 now maps to a different string — the model still runs, outputs still look plausible, and everything is quietly wrong. That is why AutoTokenizer.from_pretrained on the same id as the model is a correctness requirement, not a convenience. Follow-up to the room: 'what is the three-line startup test that catches this?' — pin vocab_size plus one canary string's ids. Bridge to M2: 'now let us open the box those ids flow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module's promise from the package: participants arrive able to USE transformers; they leave able to REASON about them — enough to predict memory blow-ups, choose the right family, and debug attention-level failures. Motivate with the two business stories: the O(n²) cost explains why a document-processing quote doubled when contracts turned out to be 40 pages, and encoder-vs-decoder literacy explains why a team burned a quarter forcing a generative model to do classification a 110M encoder does better and 50× cheaper. Walk the five spokes as the hour's map.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on the whiteboard with a 4-token sentence — 'the bank was closed', or reuse the Arabic عين example from M1 for continuity. Spend real time on step 2: the √d_k scaling constant is the most-asked interview question in the room; make them own it (score variance stays ~1 so softmax stays in its gradient-friendly range). The one-line answer to 'why did transformers replace RNNs' is full parallelism across tokens — GPUs love it. Then plant the afternoon's theme: O(n²) is why the legal-tech case study OOMs. The whiteboard numbers reappear in the next slide's executable code — the 'math you can run' moment.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immediately after the whiteboard walkthrough — the same four steps falling out as five lines of tensor code is the payoff. Point at the shapes in the docstring and trace them: [b,h,n,d] through QKᵀ gives [b,h,n,n]. The two callouts are the two troubleshooting rows from Lab 2; naming them now halves the lab's rescue load, but in the lab itself resist rescuing pairs quickly — the struggle with tensor shapes is where the understanding forms. Keep a shape-annotated solution on a hidden slide for the 35-minute mark.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parameter accounting LIVE on the board — it is listed as a live exercise in the package and it lands better than any slide: embeddings 23.8M, per-block attention 2.36M + FFN 4.72M + LayerNorms ~3K, times 12 gives 85M, plus pooler 0.6M — total ~110M. Pause on the counter-intuitive fact: attention gets the fame, feed-forward gets the weights (two-thirds of each block). Ask: 'where does knowledge live?' — largely in the FFNs; attention routes it. Residuals connect back to ResNets from AIE-112. Lab 2 makes every number here auditable.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beat: the printed parameter count (2,362,368) matches the accounting table from the previous slide to the digit — say that out loud, it is the moment abstraction becomes auditable. Walk the split lambda carefully; the view/transpose choreography is where Lab 2 pairs lose the most time. In Lab 2's task 3, participants extend this with a causal mask so position i attends only to positions ≤ i, verify the weight matrix is lower-triangular, and name what they built: a decoder. Preview that here in one sentence. 5-6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to open with: 'why can't BERT read 600 tokens?' Let the room try; the answer is brutally concrete — the learned positional table has exactly 512 rows, position 513 does not exist. Connect back to M1's truncation-policy discussion (the complaint whose resolution request always comes last) and forward to this afternoon's legal-tech case, where the 512 ceiling plus O(n²) drives the whole redesign. The SOW point is the professional takeaway: architecture literacy is contract literacy in procurement-heavy environments.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reused table of the course. Explain WHY MLM makes encoders excel at understanding: predicting a masked token from both sides forces bidirectional context integration; [CLS]'s NSP/pooling heritage is why it serves as the sentence handle (M5 debates [CLS] vs mean-pooling). State the decision rule, then immediately complicate it with the LLM-era caveat: a big decoder with a good prompt zero-shots many understanding tasks at 10-100× serving cost with harder evaluation — the specialist's job is knowing when the small encoder wins; the trade-off study is a capstone bonus task. Run the family-selection speed round: complaint routing, khutbah summarisation, CV screening, AR-EN translation, code completion, FAQ retrieval. 8-10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mBERT first, then ask the room to PREDICT CAMeLBERT's embedding share before running it — most guess similar; the 46.4% vs 21.4% gap is the multilingual tax made visible, and it closes the loop with M1: big multilingual vocab buys lower fertility everywhere at the price of nearly half the parameters sitting in the lookup table. Lab 2 task 2 has pairs fill this comparison for both checkpoints and explain the difference in one sentence. Troubleshooting: an audit missing ~0.6M forgot the pooler in bucket rules.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bug-made-visible demo — do the pad-leak reveal on the projector: run with the mask (pad mass ~0.0002), then drop attention_mask and watch it jump to ~0.3 per row. Symptom first, as in branch sim-pad-leak: 'accuracy depends on batch composition' — let the room connect symptom to padding to mask before showing the code. The running theme to name out loud: silent numerical wrongness beats loud crashes — echo it in M3 (label misalignment) and M6 (leakage). Legitimate map uses: mask debugging, QA-head checks, teaching. Illegitimate: attention as faithful explanation. 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with the discussion question from the package: your stakeholder asks 'which words did the model look at?' for a rejected-claim explanation. What do you show (a heatmap as behaviour illustration, clearly labelled), what do you refuse to show (a heatmap presented as the causal reason), and what caveat goes in writing (attention is not attribution; accountable explanations come from perturbation-based methods in M6)? This lands hard with participants heading into public-sector deployments facing explainability requirements. Quick contrast with the previous slide: same tool, two epistemic registers.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rapid-fire six-card review before Lab 2 — each cell is a production incident in embryo. For MEMORY, do the mental math with the room: which grows when a contract doubles in pages, weights or activations? For FAMILY CHOICE, reference the code-review exercise: a design doc proposing a 7B decoder LLM for Bayan topic classification — required findings are cost per request, latency, evaluation difficulty, plus the one case the LLM IS right (long-tail labels with no training data, zero-shot — the AIE-213 bridge). Production rules to close: sequence length is the cost lever you control; halving length roughly quarters attention compute (M7 quantifies); prefer dynamic batching by similar lengths.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Lab 2 pairs fill into their benchmark table on the lab T4. Walk the quadratic: 4× the length (128 to 512) gives 16× the attention-matrix memory (9.4 to 150.9 MB). The OOM-cliff simulation sweeps sequence length 512 to 4096 at batch 8 — participants must PREDICT where it dies before running (expected: between 2048 and 4096); prediction-before-measurement is the engineering habit this module installs. The memory-prediction target from the benchmarks: within 2× of measured peak for n in {128, 512} via torch.cuda.max_memory_allocated. 5 minutes, then straight into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Lab 1 environment plus pip install torch matplotlib; git checkout lab2-start (skeleton notebooks with failing asserts). Task 1 is the conceptual heart of the course — resist the urge to rescue pairs quickly; the struggle with tensor shapes is where the understanding forms. Keep a shape-annotated solution on a hidden slide for the 35-minute mark. The pad-leak simulation sets up the running theme: silent numerical wrongness beats loud crashes — you will echo it in M3 (label misalignment) and M6 (leakage). Close with two student demos: one pair presents the causal-mask matrix and names the family (decoder); one pair presents the CAMeLBERT-vs-mBERT parameter explanation. The pad-mass regression test lands in the shared test folder for reuse in M7's serving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after Lab 2 so the n² intuition is fresh. Discussion questions from the package: (1) reconstruct the OOM from first principles — where exactly does n² bite: weights, activations, or attention matrices? (attention matrices and activations); (2) what does window overlap protect against and what does it cost — how would you pick 64 vs 128? (3) a vendor pitches a 100k-context LLM as 'the simple fix' — build the cost-and-evaluation counter-argument and name the one scenario where the vendor is right; (4) which module of this course produces the evidence for the repricing conversation? (the benchmark tables — M7's methodology, applied early). Note the constraint detail: annex tables are contractually exempt and go to a separate structured pipeline. 12-15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Dot products of d_k-dimensional vectors grow in magnitude with dimension; unscaled, the softmax saturates — one weight near 1, the rest near 0 — and gradients vanish, so training stalls. Dividing by √d_k keeps score variance around 1 and softmax in its responsive range. Distractor C describes the causal mask (a different mechanism, Lab 2 task 3); B and D are pure noise. Tie it to the Lab 2 pitfall: pairs who scale by √768 instead of the per-head √d_k=√64 fail the equivalence assert at ~1e-3 — same constant, practical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BERT uses learned absolute positional embeddings stored in a 512-row table; there is simply no embedding for position 513 — the limit is architectural, not a soft recommendation. Contrast with sinusoidal encodings (extrapolate in principle, poorly in practice) and relative/rotary schemes (encode offsets, extend better). Follow-up for the room: 'so what are your three options for a 600-token complaint?' — truncate (head/tail/head+tail, a modelling decision), chunk with the M1 segmenter, or switch to a long-context architecture like Longformer-style sparse attention and accept the approximation. Then close the loop with the legal-tech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what the room built, not what you covered: a versioned preprocessing module with golden tests, a committed fertility table and tokenizer decision record, a from-scratch attention implementation verified against PyTorch, a parameter audit of two checkpoints, and a pad-mass regression test now sitting in the shared test folder. Ask each pair for one number they will remember — expect 6.90, 110M, 46.4%, or 0.31. Bridge to Day 2: today's artefacts are inputs, not souvenirs — the tokenizer decision and preprocessing module feed straight into fine-tuning, where we put task heads on these encoders and meet M3's own silent bug, label misalignment. Send them off on time; Lab 2 fatigue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day's contract: Day 1 bought general language competence through pretraining; today we spend it on Bayan's tasks. Walk the five hours: two lecture blocks (M3 classification, then NER+QA), each followed by a 10/90 guided lab in pairs, closing with the Arabic NLP lecture (M4) that Day 3's labs build on. Stress the deliverable: by end of day every pair has three model artefacts in artifacts/ with configs and metrics committed — Labs 5, 6 and 7 all consume them. Ask the room: who has fine-tuned a transformer before? Calibrate lab pacing from the answer. Timing: 3 minutes, then straight into the hour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rhythm: lecture, lab, lecture, lab, lecture. H1 and H3 are 70/30 — keep the theory tight because the labs are where the module is actually learned. Flag now that Lab 3 is graded on the grouped split (Part A) and the alignment unit tests (Part B), so participants listen for those in the lectures. The H5 Arabic session is deliberately last: it reframes everything built in H1–H4 and sets up Day 3, where the Day-2 models get rebuilt Arabic-first. If the GPU pool is flaky, announce the Colab fallback before H2, not during it. Timing: 2 minutes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course's engineering core — say that out loud. Frame the module promise: by the end participants can prepare datasets with the datasets library, fine-tune with Trainer (mixed precision, early stopping, metric-driven checkpointing), implement correct subword label alignment for NER, post-process extractive QA, and beat classical baselines honestly. Emphasise the word honestly — half of this module is about the failure modes (leakage, misalignment, seed variance) that make dishonest numbers. Ask the room: what does your 95% accuracy claim actually rest on? Park the answers; the case study at the end of the module revisits them.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3.1 and 3.5 together: data discipline and pathology diagnosis bracket the glamorous middle. Tell the room that 3.2 is graded on the grouped split, 3.3 on the alignment unit tests — the two places where real projects fail silently. Map to industry: a telecom routing 80k tickets/day to 14 queues (3.2), a government platform extracting entities from complaints (3.3), a bank running extractive QA over policy documents with page-cited answers (3.4) — the pre-LLM RAG pattern that AIE-214 generalises. Timing: 2 minutes; do not read every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business case for the whole module. Walk it left to right: a small encoder plus a few thousand labels beats a giant model at a fraction of the cost — for FIXED-SCHEMA tasks. Ask the room where that argument breaks (open-ended generation, tasks with shifting schemas). The ±1–2 F1 seed-variance number is the one to land hard: any claimed improvement smaller than the spread is noise, and M6 formalises this with bootstrap confidence intervals. Common misconception to pre-empt: 'GPU time is the expensive part' — no, labelling is; the T4 run costs minutes.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most of the time on WHY, because participants will need to deviate knowingly. LR too high: loss drops, then validation collapses as the pretrained structure is destroyed — that is catastrophic forgetting, and simulation 2 in the lab reproduces it with LR 2e-3. Too many epochs on small data: memorisation; point at the validation curve. Mention that layer-wise learning-rate decay and gradual unfreezing exist but rarely beat this recipe at BERT-base scale. One-line preview of LoRA/PEFT here — the next slide compares. Ask: which knob would you touch first if validation F1 plateaus low? (Data quality, not hyperparameters.) Timing: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point is to inoculate against adapter hype at the 110M-parameter scale, not to teach LoRA mechanics (AIE-215 does that at scale). The honest framing: PEFT is a memory-and-multi-tenancy technology, not an accuracy technology — when your model is BERT-base and you have one task, full fine-tuning with the default recipe is simpler and at least as good. Ask the room for the crossover conditions: model too large to fit in GPU memory, or a platform team serving many tasks off one frozen base. Also slot in baseline discipline here: before ANY transformer run, fit TF-IDF + linear SVM — minutes on CPU, sets the floor, catches broken labels early. Skipping baselines is the most common senior-review finding in real projects.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anchor diagram — the trunk-and-branches picture. Make the heads visibly small relative to the trunk: 'you train a twig, you rent a tree.' Walk each task shape with a Bayan example: a complaint classified to outage/billing; the same complaint with LOCATION and REF_NUM tagged; a question answered by a span from a service document. Land the multi-task note: the reference solution's stretch branch puts topic and sentiment heads on one encoder, halving serving cost — a first taste of the shared-encoder pattern. Ask the room: which of the three shapes fits 'extract the reporting threshold from this policy PDF'? (Extractive QA.)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splits BEFORE anything else, and the test set frozen on day one — it is read-only until the final report. The grouped split is the graded part of Lab 3a, so preview it here: one citizen re-posting the same outage complaint three times must land entirely in one split. On imbalance, ask why accuracy is banned (a majority-class predictor scores high while minority classes vanish — macro-F1 makes every class count equally; M6 goes deeper). Dynamic padding is the free-throughput trick most tutorials skip. Misconception to kill: 'random 80/20 is fine because the data is shuffled' — shuffling is exactly how near-duplicates straddle splits. Timing: 4 minutes, then straight into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GroupShuffleSplit calls slowly: first carves 20% test by citizen group, the second carves 12.5% of the remainder as validation — roughly 70/10/20 overall, with no citizen appearing in two splits. Ask: why group BEFORE stratifying concerns? Because leakage inflates every downstream number, while mild stratification error just adds variance. Point at the preprocess import: this is M1's anti-skew lesson materialised in code — the model never sees text the preprocessing module did not produce. In Lab 3a task 2, participants complete this function and must pass the provided zero-overlap assertion. Timing: 4 minutes on the projector.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TrainingArguments line maps back to the recipe slide — make participants call the mapping out: 2e-5, warmup_ratio 0.1, batch 32, 4 epochs capped by early stopping. The checkpoint is CAMeLBERT-mix, carried forward from Lab 1's tokenizer decision — continuity matters, say it. Emphasise the shape of the file: a script with a main(seed) entry point, not notebook state; AIE-113 instincts apply verbatim. The run takes ~8 minutes on a T4, so start it before lecturing and return to the console when it finishes: loss curve, per-epoch eval, early-stopping trigger, best-checkpoint reload line — the expected-state reference for the lab. Timing: 5 minutes plus the background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lecture slide of the afternoon. Do the alignment walkthrough on the document camera with paper tokens: an Arabic sentence with a LOCATION entity — word row, subword row, tag row, aligned-label row with the -100s greyed out — then the red 'wrong way' panel where continuation labelling mints a fake entity. Both corruptions are silent: in one the loss improves while entity F1 drops; in the other the score inflates. Preview the debugging exercise: branch sim-align-bug trains with continuations labelled I-* — training loss looks BETTER, entity F1 is 14 points worse; participants must explain both facts. The clitic point is the bridge to Module 4: if the location is buried inside وبالرياض, word-level tags cannot even express the right answer. Timing: 6 minutes including the paper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example on screen: word_ids() returns None for [CLS]/[SEP], a word index for each subword; the prev comparison detects first-vs-continuation. Ask the room what breaks if you forget prev = wid (every subword looks like a first subword — the bug returns through the back door). In Lab 3b task 1 participants implement exactly this and must pass 8/8 tests including the Arabic clitic-splitting case. Do the 'alignment by hand' activity before they code: pairs align tags for one clitic-heavy Arabic sentence on paper, then compare against the function's output. Timing: 4 minutes lecture + 10 minutes paper activity if the schedule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itself is two linear heads — all the engineering is in this pipeline. Spend the time on NULL and OFFSETS, the two production killers. Null gate: without it the model always extracts SOMETHING, which is hallucination by construction; the smoke set in Lab 3b includes 3 unanswerable questions to force the behaviour. Offsets: this is M1's normalisation lesson returning with force — if offsets are computed on normalised text but displayed against raw text, the highlighted answer drifts. Ask the room: why is independent argmax of start and end wrong? (Nothing stops end &lt; start — the constrained search is the classic exam question, and the unit test covers it.) Timing: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guards in the inner loop: s or e at position 0 (the [CLS] slot), inverted spans, oversized spans, and None offsets (question tokens have no place in the context). Then the null gate at the end — the margin field is what the smoke-set output shows for the 3 unanswerable questions. Live-demo the smoke set if the checkpoint is warm: 12 questions over service documents, 9 answerable, 3 returning answer=None with margins. Ask the room how they would tune null_threshold (on a validation set with known unanswerables — never on the test set). Common mistake to name: iterating all n² pairs instead of top-k lists — correct but slow; top_k=20 keeps it tight.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GPU pool or Colab fallback; pip install transformers datasets scikit-learn seqeval; git checkout lab3-start; Lab 1 artefacts (preprocessing module, tokenizer decision) must be present. Run the prediction market in A3: pairs bet on which topic pairs will confuse (billing vs digital_services — both mention fees); write the odds on the board and revisit them in Lab 6 against the real confusion matrix. In Part B, at least one pair will report seqeval 0.95+ from subword-level evaluation — make it a public teachable moment: plausible numbers are the dangerous ones. Fast finishers: 3-seed variance study (spread lands around ±1.5 F1, feeds M6) or the two-headed topic+sentiment stretch branch. Closing commits: 'feat(models): topic classifier beats baseline by +11 macro-F1' and 'feat(models): NER + extractive QA with honest null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as a story, not a scoreboard. The baseline row is the hero: 40 seconds on CPU sets the floor at 0.71 and gives the improvement denominator for the business case — the transformer's +11 macro-F1 means something only against it. Note validation vs frozen-test columns: the small, consistent gap is what honesty looks like; a big gap screams leakage or tuning-on-test. Point at SERVICE 0.74 in the note — the weakest entity class primes the M6 error-analysis discussion and the labelling-budget question (the weakest class has ~90 training examples; data beats hyperparameter search there). Wall-clock targets from the module rubric: ≤12 min topic, ≤15 min NER on a T4.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code-review drill rather than a lecture: put up the exercise PR — test set evaluated every epoch and used for checkpoint selection, no seed set, notebook-only training, checkpoint named final_v3_best_REALLY.bin — and have the room find all four findings and the fix for each before you reveal the grid. Each cell maps to a simulation or exercise they can run: sim-align-bug for ALIGNMENT, the leaky-split branch for LEAKAGE (+5 macro-F1 offline, exposed by the overlap assertion), LR 2e-3 for forgetting. Production framing to close: fine-tuned checkpoints are release artefacts — versioned, evaluated against the frozen test set, with a model card (M6 provides the template), trained by a re-runnable script. Timing: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12–15 minutes as a guided discussion. Set the stakes first: the gap has cost the team its credibility with the operations VP. Then run the four discussion questions from the package: (1) Rank the three inflation sources — near-duplicate leakage, schema drift, label errors — by how common they are in the wild and by detection cost. (2) The labels were machine-generated by the system being replaced: what does that do to the ceiling, and how do you measure 'beats its own labels'? (the 600-ticket gold slice). (3) Design the weekly live-audit protocol: sample size, who labels, what triggers retraining. (4) The VP asks for 'one number' — what do you give, and what do you refuse to compress into it? Connect back to the lab: the grouped split they were graded on is inflation source #1, generated on demand. Drift monitoring itself is SDA-AIE-216's business; M6 covers the evaluation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The 100×-too-large learning rate destroys the pretrained representations — loss on the training batches still falls (the head can memorise), but the general language competence the task depended on is gone, so validation collapses to near-majority-class behaviour. Walk through why each distractor fails: imbalance (A) exists in Bayan but does not produce this collapse signature; leakage (C) inflates validation rather than collapsing it; more epochs (D) makes forgetting worse, not better. Ask a follow-up before revealing: what is the FIRST thing you check when loss sits flat at ln(8)? (LR, then Counter on the train labels — from the troubleshooting table.)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-100 is the ignore index: those positions contribute nothing to the loss and are masked out of evaluation, so continuation subwords and [CLS]/[SEP] never vote. B is the classic wrong mental model — O is a real class that IS trained and scored; -100 is absence, not a label. C and D describe mechanisms that do not exist. Chain a second question for the room: your seqeval F1 comes back 0.95+ and everything looks great — what do you check first? (Whether evaluation ran at subword level; easy continuation tokens dominate and inflate the score — evaluate entity-level on word-level predictions with the -100s masked.) Plausible numbers are the dangerous ones. Timing: 3 minutes, then transition to Module 4: Arabic raises the alignment 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the room's frame: Arabic NLP competence is a national capability, not a feature. Saudi organisations serve citizens who write Najdi and Hijazi dialect in chat, MSA in formal complaints, and Arabizi in social channels — often in the same thread. Teams that deploy English-centric or MSA-only models ship systems that quietly fail on exactly the users government services most need to hear. Give the procurement framing: 'does it actually work on Saudi dialect?' is the question this module teaches participants to answer with evidence. Today is the overview lecture (H5); Day 3's labs rebuild the Day-2 models Arabic-first and measurably improve them.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shape of 4.5: the win is measured ON THE DIALECT SLICE, not the aggregate — that phrase is the module's thesis and returns on the bake-off slide. Note the competency framing: after this module a participant can apply Arabic-specific normalisation correctly AND know when not to, use CAMeL Tools for analysis, disambiguation and clitic segmentation, run dialect identification, and choose checkpoints with corpus evidence rather than brand loyalty. Use-case hooks to mention: a ministry's MSA-trained sentiment model scoring angry Najdi feedback as neutral (the escalation queue misses the most upset citizens); a Hajj-season operations centre triaging Gulf, Egyptian, Levantine and Maghrebi feedback within minutes; a bank's KYC pipeline where location entities vanish inside clitic-attached tokens.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grid clockwise and tie each cell to something already seen. MORPHOLOGY explains M1's fertility table — subword tokenizers trained on English-heavy corpora fragment Arabic badly, and with morphology ignored every downstream dataset is effectively 3–5× smaller because surface forms don't share statistics. CLITICS is the NER bridge: if the location is buried inside وبالرياض, word-level tags cannot even express the right answer. DIACRITICS: a model trained on diacritised text sees out-of-distribution input at serving time. DIALECTS is the module thesis: degradation is silent because dialect text is still Arabic script — nothing crashes; only sliced evaluation reveals it. Ask the room for examples of dialect words from their own messages. Timing: 6 minutes — this is the conceptual heart of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running the dialect audit (next code slides) on the Bayan Arabic slice. Land the engineering consequence printed in the notebook itself: any model evaluated only on MSA is unevaluated on half the Arabic traffic. The 0.001 'Other' figure is a teaching point about tool honesty — the MADAR identifier offers 26 city-level classes plus MSA, but on short texts only the coarse regions are trustworthy; use confidence thresholds and fall back to -mix. Connect to uses: routing (send dialect traffic to the dialect-tuned model), sliced evaluation (per-dialect metric rows, M6 makes it mechanical), and data auditing (this slide IS the audit). Ask: what would this distribution look like for your organisation's traffic?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CAMeL Tools (CAMeL Lab, NYU Abu Dhabi) is the reference open-source suite for Arabic and the course's fourth pillar tool. Live-demo the layer stack top to bottom in a terminal: normalise a messy string, analyse كتب and show all readings, disambiguate in context, then segment وبالرياض and watch the location appear as its own token. Call out the most common misuse: running the analyzer WITHOUT the disambiguator — downstream code silently takes the first, arbitrary reading and poisons lemma features. The side panel is the AIE-113 discipline transplanted: models-as-artefacts, pinned versions, pre-baked container data. The d3tok layer is the direct link back to M3's NER: if training used d3tok segmentation, serving must segment identically. Timing: 6 minutes with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CAMeLBERT row carries the lesson: the variant system itself teaches that pretraining data should match traffic — -mix is the safe default, -DA wins on dialect-heavy tasks. Give the Bayan bake-off result now as the payoff: CAMeLBERT-DA beats Day-2's CAMeLBERT-mix by ~6 macro-F1 on the Saudi-dialect slice, and -mix itself beat XLM-R — the aggregate number alone would have hidden most of that. Then hand out the resource map so participants leave with more than model names: ANERcorp (Arabic NER), ArSAS and ASTD (sentiment), MADAR and NADI (dialect ID), Arabic-SQuAD and TyDi QA, and the Masader catalogue of Arabic datasets. Name the scarcity fact that shapes projects: labelled Saudi-dialect data is thin — which is why the capstone's labelling-budget answer is usually 'spend on data, not architecture'. Timing: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lessons in one file. First, per-model profiles: matching the checkpoint's normalisation recipe is part of the tokenizer-model contract from M1 — CAMeLBERT-family models were pretrained on alef/ya/ta-normalised, dediacritised text, so serving them anything else is skew; XLM-R was not, so over-normalising it is also skew. Second, the docstring: normalise the model-input copy ONLY. Normalising the display copy makes users see ه where they typed ة, and character offsets drift so QA answers highlight the wrong span. Mention what NOT to normalise: ta marbuta→ha folding merges some real word distinctions, and aggressive normalisation before display produces text that looks illiterate. Note ARABIC_PREPROC_VERSION extending M1's version discipline.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if the CAMeL data package is warm — it is the fastest high-impact demo of the day. The printed distribution is the previous stats slide, so the room sees where those numbers came from. Emphasise the decision procedure this enables: (1) measure the traffic's language and dialect mix — this script; (2) measure candidate fertility on your corpus — M1's five-line script; (3) fine-tune the two best candidates on a pilot slice and compare on the dialect slice, not just the aggregate — that is Day 3's bake-off, where CAMeLBERT-DA takes the Gulf slice by ~6 macro-F1 while the aggregate shows only +3. Slices tell the truth. Also flag the weekly production habit: log the live dialect-ID distribution — a shift means a new user population arrived, and that drift is invisible in loss curves.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Dialect text is valid Arabic script, so tokenization, inference and metrics all run without error — the model is simply wrong more often, typically by 10–20 points on sentiment, and the aggregate metric averages the damage away. Only sliced, per-dialect evaluation exposes it. B is wrong: dialect words tokenize fine (into subwords), no [UNK] flood — that failure mode belongs to Arabizi hitting an Arabic-script-only model. C and D describe loud failures; the whole point is that this one is quiet. Tie to the business stakes: the escalation queue misses precisely the citizens who are most upset — the ministry use case. Close the module by pointing at Day 3: the labs make this concrete with the CAMeLBERT-DA bake-off on the Gulf slice.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against the day's contract: topic classifier at 0.82 macro-F1 versus the 0.71 baseline, NER at 0.83 entity F1 with alignment done right, QA answering honestly — including saying 'not in this document'. Name the discipline wins as loudly as the metrics: grouped splits with zero citizen_id overlap, a frozen test set touched once, -100 masking, and a benchmark table filled with numbers that will survive contact with live traffic — unlike the telecom's 88. Preview Day 3: Module 4 goes hands-on — CAMeL Tools normalisation and segmentation feeding the NER pipeline, the dialect bake-off where CAMeLBERT-DA takes the Gulf slice, then embeddings and semantic search over the Bayan corpus, with sliced evaluation as the through-line. Ask each pair to confirm their three artefacts are committed before leaving — Labs 5, 6 and 7 all consume them. Timing: 3 minutes, end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day's arc: Day 2 produced numbers; Day 3 decides whether to believe them. Three threads: Arabic depth (Lab 4), semantic search (M5 + Lab 5), and evaluation discipline (M6 + Lab 6). Everything built today feeds the capstone: the dialect-aware classifier, the bilingual FAISS index, and the sliced evaluation report. Tell the room now that the '+3 or +6?' question from the Lab 4 bake-off will sit on the board all day and get answered with a confidence interval in Lab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left to right and point out the rhythm: lab, lecture, lab, lecture, lab — participants alternate between building and stepping back. Timing discipline matters today: Lab 4's bake-off needs its full 15 minutes, and Lab 6's error hand-reading must keep its protected 15 minutes. If a lecture hour runs long, cut stretch content, never lab time. Ask who ended Day 2 with a working NER model — Lab 4 re-evaluates exactly that model on segmented input, and the result surprises most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3 is the module's trap-and-reveal: most pairs evaluate the unsegmented-trained model on segmented input first and watch F1 drop — let it happen, then name it: segmentation is part of the model contract, third verse of the skew song. The bake-off's aggregate-vs-slice gap is the bridge to M6; write '+3 or +6?' on the board and leave it until Lab 6. Setup: Lab 3 environment + pip install camel-tools (CAMeL data pre-installed: camel_data -i defaults); git checkout lab4-start. If DialectIdentifier.pretrained() fails, the CAMeL data package is missing — check $CAMELTOOLS_DATA. Fast finishers: run the dialect identifier on the English rows (it should abstain — does it?), or add Arabizi detection via character-set heuristic and measure its volume (~0.8% of Bayan).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this on the projector: segment وبالرياض, watch the LOCATION become its own token, then feed the output straight into the M3 alignment function — two modules connecting in one cell. Warn about load cost: MLEDisambiguator.pretrained() loads once at module level, never per call. Expected gain when done right: NER LOCATION recall 0.84 → 0.89 with d3tok pre-segmentation. Then the skew warning: branch sim-seg-skew serves raw unsegmented text to a segmentation-trained model — live-replay entity F1 lands 19 points below the offline report and nothing crashes. The fix class is a startup canary asserting the segmentation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day's thesis in one chart. Ask the room: which model ships? Most argue from the aggregate first — then point at the Gulf column and remind them the dialect audit put Gulf at 54.8% of Arabic traffic, so the slice IS the traffic. Same data, same recipe, seed 42, only the checkpoint varies (notebooks/04_model_bakeoff.py reuses M3's run_experiment). Student demo: one pair presents their DECISIONS.md#arabic-model entry with the slice evidence; the class challenges whether +6 on Gulf justifies hosting a second model — it does here, but make them argue it. If a pair sees no slice difference at all, they are evaluating without the dialect filter: slice masks come from the audit's dialect_region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five-minute stand-up debrief. The dialect audit line deserves the dwell time: Gulf 54.8% vs MSA 45.1% means any model evaluated only on MSA is unevaluated on half the Arabic traffic — this is the simulated MSA-only evaluation trap, and it is exactly the dashboard-vs-reality gap in the upcoming case study. Ask one pair to read their one-sentence NOTES.md answer aloud. If golden tests failed only on diacritised pairs, the profile order was wrong: Unicode NFC first — combining diacritics must be composed before stripping.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module gate before starting M5: every row should be green in each pair's repo. The skew canary row matters beyond the lab — it is the fix class for sim-seg-skew, where serving unsegmented text to a segmentation-trained model cost 19 entity-F1 points in live replay while the offline report stayed green. Commit message convention for the lab: feat(arabic): normalisation profiles + dialect audit + DA model beats mix on Gulf slice. If short on time, skip reading every row aloud; ask which row each pair is least confident about and address only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run the post-mortem as a discussion. Put the sample crisis message on the projector: 'الباصات واقفة ساعتين والحر قاتلنا' — scored neutral by the MSA model, which had never seen its negation patterns or vocabulary. Discussion questions: (1) why did the failure concentrate in the messages that mattered most? — formal MSA is the calm register; (2) defend the 6,000/2,000 annotation split against 'label everything MSA, it's cheaper per label'; (3) the volume-anomaly fallback needs no NLP at all — what does its inclusion say about defence-in-depth for ML systems?; (4) which slice metrics go into next season's acceptance test, and what Gulf threshold would you set given the bake-off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The dialect audit put Gulf at 54.8% of Arabic traffic, so an aggregate dominated by MSA is unevaluated on half the real inputs — the exact dashboard failure in the Hajj case study. A is a good habit but the CI of the wrong number is still the wrong number; C repeats the trap; D is the Day-1 readiness gate, already passed. Poll the room before revealing; then ask a follow-up from the mini exercises: CAMeLBERT ships four variants (MSA/DA/CA/mix) — what question do they answer? Match pretraining data to your traffic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Module 5. Ask who has a keyword search box in production and how often it satisfies users. Business hooks from the module: a government service desk deflects 30% of new tickets by showing the three most similar resolved cases; a bank's fraud team searches two years of case notes by meaning — 'customer claims SMS never arrived' finds cases phrased twelve ways in two languages; a legal platform retrieves precedent across Arabic and English contracts from one index. Plant the RAG bridge early: every decision in this module — chunking, index choice, re-ranking, evaluation — reappears verbatim when SDA-AIE-214 bolts an LLM on top. Teams that learn retrieval quality here, where it is cheap to measure, do not debug it there, where every miss becomes a confident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misconceptions to kill here. First: 'we already have an encoder deployed' — Day-2's topic classifier produces vectors clustered by topic, terrible for within-topic similarity; embedding models are their own artefact class. Second: 'cosine scores are probabilities' — they are not; the min_score threshold gets tuned on the 20 no-answer queries in Lab 5. On chunking: indexing whole 40-sentence case notes averages them into one mud vector — chunk, then aggregate to documents with max or top-2 mean of chunk scores. Chunk size is a retrieval hyperparameter: too large dilutes the vector, too small starves it of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two shapes: siamese towers with a cosine bridge vs one tower consuming query [SEP] doc. The pre-compute badge belongs on the bi-encoder, the per-pair-cost badge on the CE. Emphasise the pattern's lineage: cheap-filter-then-expensive-judge appeared in M2's case study (a classifier gating extraction) and returns in AIE-214 as retrieve-then-generate. Common mistake to name now: re-ranking the full corpus with the cross-encoder 'for accuracy' — the two-stage pattern exists because arithmetic says so. Ask the room to compute it: 20k candidates × one forward pass each,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search is fine to about 100k vectors on CPU, then latency grows linearly — ANN indexes trade tiny recall losses for large speedups. The method beats the folklore: measure the ANN index's recall@k against the flat index on your own queries before adopting it — a one-cell experiment, and Lab 5's stretch task. Second discipline: an index is a build artefact derived from (model version × preprocessing version × corpus snapshot); rebuilding on model upgrade is mandatory — mixing vectors from two encoder versions in one index is the retrieval flavour of the tokenizer-mismatch bug, and nothing crashes. Lab 5 stretch verdict: at 20k, flat wins; HNSW is for the 2M-case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online lane left to right, then draw the offline lane underneath: corpus → chunks → embeddings → index, with the version manifest attached. Draw the offline/online boundary as a wall — the index is a build artefact, never mutated at query time. Production notes worth saying aloud: embed at write-time (new cases embedded on ingestion) or accept the staleness window explicitly; monitor the no-good-match rate (score-below-threshold fraction) as a drift signal; GPU is optional for serving bi-encoders but batch index builds want it; memory-map large indexes rather than loading per-worker.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normalisations that must match: normalize_arabic on Arabic texts (the M4 profile) and faiss.normalize_L2 on the embeddings. Both must be applied identically at index-build and at query time — Lab 5's planted bug sim-unnormalized builds this exact index without normalize_L2 and the results still LOOK fine. The manifest is the versioning discipline: model, dim, preproc, arabic_preproc, n_vectors. Lab 5 task 1's provided test checks the manifest pins model + preprocessing versions. Expected build: 20,000 vectors, dim=384, manifest pinned.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defensive lines worth narrating. The load canary catches the stale-index bug: in sim-stale-index the corpus grew 4k cases without a rebuild and 'recent cases never come up' — manifest n_vectors vs corpus rows reveals it; the fix class is write-time embedding or scheduled rebuild with a staleness SLO (Bayan chooses write-time; case volume is low). The multilingual reranker choice: if re-ranking makes results worse on Arabic, someone loaded a monolingual English CE. The honest empty: the service-desk question 'where does the no-results threshold come from, and who owns its false-negative cost' is a discussion prompt for the room. If evaluation drags past 5 minutes, batch the CE: reranker.predict(pairs, batch_size=64).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output from notebooks/05_retrieval_eval.py: rerank=False recall@10=0.83 MRR@10=0.61; rerank=True 0.85 and 0.74. Read the deltas aloud: recall moves +2, MRR moves +13 — the cross-encoder fixes the ORDER, mostly, which is exactly what a UI showing five results needs. Contrast with the keyword baseline from the benchmark table: BM25 recall@10 0.62, MRR@10 0.44 at 4 ms — semantic search nearly closes the miss rate before re-ranking even starts. Say the module's sentence explicitly: retrieval without a labelled query set is vibes — no labelled query set, no retrieval claims. The stage timings (18 ms, +45 ms) seed Day 4's latency-budget thinking; have pairs post theirs to the shared board and leave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instructor demo: live cross-lingual search on the projector — English query 'street light broken for two weeks' returning the Arabic case عمود الإنارة معطل في شارعنا منذ أسبوعين. Enjoy the moment, then immediately quantify it: the bilingual query slice puts cross-lingual recall@10 at 0.78 against 0.88 monolingual, and that gap gets recorded in BENCHMARKS.md during Lab 5 task 4. Discussion prompt from the mini exercises: one multilingual index vs two monolingual indexes with query-language routing — have the room argue both sides using the gap they just measured. If Arabic queries score far below English across the board, the query path is skipping normalize_arabic while the index 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cell live right after the concept slide — it is four lines and lands the module's most memorable moment. Then hand the scepticism back to the room: what would convince you this works beyond one cherry-picked query? The answer is Lab 5 task 4: slice the 150-query evaluation by query language, where EN query → AR document counts as cross-lingual, and record the gap. Note the ce_score in the output comes from the multilingual cross-encoder (mmarco-mMiniLMv2), so the two-stage pipeline is fully bilingual end to end. If a pair's probe returns English cases only, check that the index actually contains the Arabic rows and that normalize_arabic ran at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Raw [CLS] was trained for NSP-style objectives, so cosine distances in that space correlate poorly with human similarity judgements; mean-pooling raw BERT is only slightly better. The fix is contrastive fine-tuning on pairs/triplets with a siamese network — similar sentences pull together, dissimilar push apart. A is false (FAISS handles 768-d fine); C is false; D describes pooling, not the training-objective problem. Follow-up for the room: your teammate says 'just use the Day-2 topic classifier's encoder, it's already deployed' — why is that the same mistake? Clustered-by-topic vectors are terrible for within-topic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pip install sentence-transformers faiss-cpu; git checkout lab5-start; data/bayan_cases.csv (20k resolved cases) and data/bayan_queries.jsonl (150 judged queries, 40% Arabic, incl. 20 no-answer). Expected output: index built 20,000 vectors dim=384; stage 1 recall@10=0.83 MRR@10=0.61 at 18 ms/query; with re-rank 0.85 and 0.74 at +45 ms; cross-lingual slice 0.78 vs monolingual 0.88; no-answer 18/20 correctly empty at min_score=0.25. Task 5 is the module's teeth: the unnormalised index returns plausible results — long, keyword-rich cases — and eyeballing approves them; only the metric catches it. Say it explicitly: retrieval without a labelled query set is vibes. Commit: feat(search): two-stage bilingual case search, MRR@10 0.74. Fast finishers: HNSW comparison, embedding-similarity dedup (&gt;0.95 keep newest), or index resolutions separately and search both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with the four discussion questions. (1) Why was building the labelled query set in week 1 rather than week 5 the highest-leverage decision? Every later choice — chunking, model, threshold — was measured against it. (2) Prepending the article title to every chunk lifted recall 4 points: form a hypothesis and design the ablation. (3) The Arabizi slice still lags after transliteration (0.68): present better transliteration vs an Arabizi-inclusive embedder vs a UI language toggle, with cost and evidence for each. (4) The vendor claims their end-to-end suite 'makes retrieval quality irrelevant' — rebut in three sentences using what this module measured, then name what the suite WOULD add: generation and dialogue state, on top of retrieval, not instead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Inner product on unnormalised vectors mixes direction with magnitude, so long, information-dense sentences bubble up regardless of relevance — and the results look plausible enough that eyeballing approves them. Nothing errors (rules out A), latency is unchanged (rules out B), and normalisation must be applied to BOTH sides for inner product to equal cosine (rules out D). Connect to the lab: this is exactly the planted bug in task 5, where recall@10 drops from 0.83 to about 0.4. If pairs hit the symptom 'recall ~0.4, long documents dominate', ask them: did you just build sim-unnormalized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evaluation as engineering truth-telling, not paperwork. The gap between claimed and delivered accuracy is where NLP projects die — M3's telecom case put the pattern on the table (88 claimed, 79 delivered), and this module teaches the machinery that closes it. Regulatory angle for this audience: fairness across dialect groups, documented limitations and evidence-backed claims are what national AI-governance frameworks increasingly require of deployed systems — the engineer who can produce a defensible evaluation report is the one whose systems survive procurement review, audit and contact with live traffic. Tease the hour: several of the Bayan numbers from Labs 3–5 are about to change once we slice them and attach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has already used the right metrics; this slide makes the choices explicit and defensible. Spend the time on the caveats column — each row is a form of metric theatre someone in the room will meet in a vendor deck: subword-level NER scores, accuracy on imbalanced classes, recall@50 sold as user-facing quality. Each inflates by construction; name them in review. The meta-rule row is the one to say twice: the metric is a proxy for mis-routed tickets, missed escalations, deflected calls — write the mapping down. For NER add the relaxed/partial-match note: report it alongside strict when boundaries are genuinely fuzzy, e.g. dates, and per-entity-type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habit this module installs: sliced evaluation as the default, not the audit exception. Ask the room to recall the two planted moments — the Lab 4 bake-off where the aggregate said +3 and the Gulf slice said +6, and the Lab 5 cross-lingual gap. Both were invisible in the headline number. On minimum sizes: the point is not to hide small slices but to flag them — absence is information, and the report template flags any slice under n=50 rather than trusting it. Transition: the next slide shows what the generated report actually looks like on Bayan's topic classifier, and one row of it is the day's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output for the Bayan topic classifier, seed 42 — the expected state for Lab 6 task 2. Walk it top down: the aggregate 0.820 looks healthy; Arabic runs 5.5 points behind English; and the Gulf slice at 0.762 is the story — the model is weakest exactly where the dialect audit said the traffic is (Gulf = 54.8% of Arabic rows). The short-message bucket at 0.771 previews the error-analysis finding that dialect-gap errors cluster in short messages — a slice interaction the aggregate never shows. Lab 6 asks pairs to write the two-sentence headline a manager would read: the Gulf slice is the story; the aggregate is the summary. Note the CI column exists because of the next slide's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demo: run the paired bootstrap live on Lab 6's planted question — Lab 3's classifier (0.820) vs the stretch two-headed variant (0.828) — and let the room watch a '+0.8 improvement' dissolve into a coin flip: +0.008 with CI [-0.006, +0.021], not significant. Mechanics to narrate: resample the test set with replacement 1,000 times, recompute the metric, take the 2.5th/97.5th percentiles. M3 planted the seed-variance fact (±1.5 F1 across seeds); the bootstrap generalises it to test-set variance. Caveat for large n: a significant but tiny +0.3 is detectable — significance is not importance; report both the CI and the cost of switching. This single habit would have saved the M3 telecom team its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framing adapted to Bayan. Read one failure aloud in Arabic — a greeting prefix flipping sentiment lands harder than any slide. Three test families: invariance (location swap must hold topic, السلام عليكم prefix must hold sentiment — politeness is not positivity), directional (تم الحل → لم يتم الحل must not improve sentiment; 'and now it happened again' must not lower urgency), and minimum functionality (every service in the 41-name registry, standing alone in a template, must be extracted; failure budget &lt; 10%). Mechanics: templates × term lists generate hundreds of cases cheaply; failures are RATES per test type tracked across versions — a fine-tune that lifts F1 while doubling the negation-failure rate is a regression, caught before shipping. Reference rates: invariance 96%, negation-directional 88%, MFT 39/41. If everything passes suspiciously, the tests are hitting the mock serving stub — check the fixture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discipline that turns 'the model is wrong sometimes' into an engineering queue. Two rules to enforce: analysis runs on VALIDATION errors, never the frozen test set (touching test for tuning is leakage), and the reading is done by hand — notebooks/06_error_analysis.py materialises 120 sampled errors into reports/error_worksheet.csv with taxonomy_tag and fix_hypothesis columns filled BY HAND; that is the point. Taxonomy starter: label noise, truncation, dialect gap, negation, entity-boundary, class-confusion, preprocessing artefact, genuinely-hard. When pairs disagree on tags, good — merging or splitting categories as a class is the exercise. Each costed fix is an experiment with a predicted delta; the next fine-tune tests the hypotheses.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If the paired-difference CI straddles zero, the improvement is statistically indistinguishable from noise — a coin flip wearing a decimal point. A confuses the point estimate with evidence; C is p-hacking by another name (say the phrase out loud, some of the room has seen it done); D is how the M3 telecom gap happened. Nuance worth adding after the reveal: the converse trap exists too — with a very large test set, a significant +0.3 can be real but unimportant; significance is not importance, so report both the interval and the cost of switching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git checkout lab6-start; all Lab 3–5 artefacts and validation predictions pre-materialised; seqeval already installed. Task 4 is the module: protect the 15 minutes fiercely — the temptation to script the reading defeats the point, and pairs who read errors aloud find the label noise fastest. Expected output: paired diff +0.008 CI [-0.006, +0.021] NOT significant; sliced report 14 rows with Gulf 0.762 [0.729, 0.793] as the headline; behavioural invariance 96%, negation 88%, MFT 39/41; taxonomy over 120 errors: label-noise 23%, billing↔digital 19%, dialect-gap 17%, truncation 9%, negation 8%, boundary 7%, hard 17%; 3 model cards committed. Settle the Lab 3 prediction-market bets publicly against the confusion matrix — the room is usually right about billing↔digital_services and wrong about which direction dominates. Close by resurfacing the '+3 or +6?' board note — now answered with a CI. Fast finishers: sliced recall@10 for the M5 index by query language, or the null-threshold trade-off curve for 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for the whole day — give it a beat. The Lab 4 bake-off asked '+3 or +6?'; the paired bootstrap answers: +0.014 aggregate and +0.047 on the Gulf slice, both intervals excluding zero. Read the behavioural columns too: the DA model also wins behaviourally (negation 91% vs 84%) despite similar-looking aggregates — the kind of evidence a metrics table alone never carries, and exactly what goes on the model card next to the hand-written known limitations. Ask the room: with this table, would you host the second model? Then contrast with the earlier quiz — without the intervals, the same table is just competing anecdotes.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the four questions. (1) Why must the evaluation set never reach the vendors? The frozen-test discipline at procurement scale — any set a vendor sees becomes a tuning target; the sim-eval-leak branch shows the same failure in miniature. (2) Defend urgent-class recall over macro-F1 as the headline: misclassifying an urgent-symptom note as routine has clinical consequences — and name the sacrifice: precision on routine notes, more callbacks. (3) Vendor A protests 'our internal benchmarks show 91%' — draft the two-sentence reply a procurement officer could sign: your number is real on your distribution; the contract is for ours, measured as 84.2 [82.9, 85.5]. (4) Design the quarterly acceptance test: refreshed committee set, dialect/length/urgency slices, and a threshold that triggers contract review. Note why A collapsed: its training data was clean MSA physician notes; live notes are dialect-heavy transcriptions.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Error analysis produces fix hypotheses that drive the next fine-tune — that IS tuning, and every 'quick look' at the frozen test set leaks, making its number stop predicting live traffic. A, B and C are all factually wrong. Extend with the debugging exercise: on branch sim-eval-leak a helper 'cleaned' the test set by dropping rows the model got wrong in a previous run — aggregate F1 jumps 4 points from pure survivorship bias. The rule participants must write down: evaluation sets change only by versioned, documented curation — never conditioned on model output. Related trap for the same review: comparing models on differently preprocessed copies of the same set is a non-claim; pin the evaluation set version like a model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the day against its deliverable: Arabic-tuned models (Lab 4's dialect-aware checkpoint), the bilingual semantic search index (Lab 5's versioned FAISS artefact, MRR@10 0.74), and the sliced evaluation report with CIs, behavioural rates and model cards (Lab 6). Recap the through-line in one breath: the dialect audit said evaluate on the traffic you serve; the bake-off showed the aggregate hides the slice; the bootstrap turned the slice gap into a defensible claim. Bridge to Day 4: the stage timings pairs posted in Lab 5 (18 ms encode+search, +45 ms re-rank) become tomorrow's latency-budget starting point — Day 4 is optimisation and shipping: quantisation, export and serving. Send them off with the M6 meta-rule: the metric is a proxy; when the proxy and the business number diverge, the proxy 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day's shape: only two taught hours, then the room owns the time. Remind pairs the capstone is achievable in Hours 3-4 only because every lab already produced a component — nothing new gets built today, it gets assembled. Logistics up front: each hour is 50 min instruction + 10 min buffer, long break around Dhuhr, and repository URLs + evaluation reports are collected at the END of Hour 4 so metric claims can be spot-verified before demos. If any pair is missing a Lab 3/4 artefact, point them at the fallback checkpoints on the shared drive now, not at Hour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left to right and name the deliberate design: Day-4 afternoon is lighter on theory because the assessment IS the afternoon. Hour 1 is the only lecture; keep it to 50 minutes so Lab 7 gets its full slot — the lab's task 5 (HTTP load test) is the one that reliably overruns. Ask the room now which extension each pair intends to build (they chose during Day 3 ideally); pairs that have not chosen should default to the batch endpoint, which reuses Lab 7 machinery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Let the GPU-minutes vs GPU-years asymmetry land — inference is where NLP budgets live or die. Ask the room: what would a 3x latency reduction actually buy? Collect answers, then reframe: it is not an engineering vanity metric — it is two-thirds of the serving fleet returned to the budget, or the difference between a 200 ms citizen-facing experience and a 700 ms one that measurably drops completion rates. Transition: this module is a ladder of levers, climbed in cost order, with the accuracy tax measured at every rung using M6's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These three scenarios are the module's industry use cases and each returns later: the marketplace becomes the case study, the CPU-serving claim becomes Lab 7's target, the 70% cost cut is what the ladder delivers. Ask who has been on a team that rented GPUs for an encoder classification workload — the punchline of the case study ('renting GPUs to pay a padding bill') lands harder if someone admits it here. Common misconception to pre-empt: optimisation means quantisation. It doesn't — the first rungs of the ladder are free and model-untouched.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 this is the module anchor; everything else hangs off it. Walk the rungs with their unit-cost tags and make the economics explicit: distillation costs a training project, quantisation costs an afternoon — do the afternoon first. Drill the exit criterion until it is reflexive. Run the 'predict the rung' activity here: before anyone sees the reference numbers, every pair writes down predicted p50 for each rung of the Bayan classifier; revisit predictions on the next slide — closest pair explains their reasoning. Calibrated intuition is the goal, not the trivia.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Score the pairs' rung predictions from the previous slide first. Then narrate the two lessons hiding in the numbers: (1) more than half the total win (96.3 to 41.7) cost nothing — the padding bill was the biggest line item; (2) the INT8 tax is REAL — the CI excludes zero — but purchasable, and stating it that way is what separates engineering from hope. Flag the note: participants will reproduce the NER-vs-classifier sensitivity gap themselves in Lab 7 task 4 and must defend the resulting split decision. If asked why 128: Bayan's p95 is 87 tokens, so 128 covers p99 with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The intuition to give: smaller numeric types speed up CPUs even when FLOPs don't change, because inference is memory-traffic-bound — weights and activations moving through the memory hierarchy. Keep dynamic-vs-static crisp: dynamic is the encoder-serving default precisely because it needs no calibration data. The verdict line is an M5 callback — ask the room what breaks if you quantise the embedder and don't rebuild the index (query vectors and corpus vectors from different models: plausible and wrong). Warn about ISA coupling now; it returns as a Lab 7 troubleshooting row and the boot-canary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Anchor on AMORTISE: batching trades one request's latency for the fleet's throughput — say it twice, it is the exam-grade sentence. Connect PAD SMART backwards to M3 (the collator habit) and forwards to the sim-serving-gap exercise where padding=max_length creeps back via a config default. On PLACEMENT, refuse religion: the crossover is a calculation and Lab 7's numbers feed it. If time allows, run the 10-minute budget game here or park it for fast finishers: teams get a latency budget, a QPS, and price cards (CPU node, GPU node, engineer-day) and must build the cheapest compliant plan for the three Bayan models, defended against your traffic-spike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This slide is the discipline the whole module rests on: the harness comes first, because every later claim is a diff against it. Ask the room why the input mix matters before revealing — NLP latency is length-dependent, so a single-sentence benchmark measures a workload you don't serve. The M1 length audit becomes money here; the corpus p95 of 87 tokens is why max_length=128 is safe. Pre-empt the classic failure: pairs comparing ORT-INT8 numbers from their laptop against fp32 numbers from the GPU pool — environment-mismatched benchmarks are named mistake #6. Transition: now we build exactly this harness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Walk the code top to bottom and point at the two design decisions the callouts name. Emphasise predict_fn is a black box on purpose — the same harness benchmarks torch, ONNX and the HTTP path, which is what makes the ladder table comparable row to row. Ask: why perf_counter and not time.time? (monotonic, high resolution). Why seed the sampler? (reproducible mix — same inputs every rung). In Lab 7 task 1 pairs complete this harness and must produce the fp32@512 baseline row BEFORE touching optimum; pairs who jump straight to INT8 have no denominator and redo rung 0 — that redo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The point to land: rungs 2 and 3 are nine lines of real code — the barrier is discipline, not difficulty. The saved tokenizer travelling with the ONNX model is the skew-canary contract surviving export; if someone asks why we re-save the tokenizer, that's the answer. Live-demo the ISA trap if you have the avx2-only container prepared (the sim: VNNI qconfig artefact on an avx2 box — accuracy collapse caught by the boot canary; quantised artefacts are hardware-coupled and canaries are the seatbelt). Otherwise just point at the NOTE lines and promise the Lab 7 troubleshooting table has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Free wins (length control, dynamic padding, length-bucketed batching) cost nothing and typically deliver 2-4x on short text; ONNX export costs hours; dynamic INT8 an afternoon plus an accuracy check; a distilled checkpoint means re-fine-tuning plus a full M6 re-evaluation; hardware means procurement. A and D invert the cost order — distillation costs a training project while quantisation costs an afternoon, so you do the afternoon first. C is the anti-pattern the case study prices at SAR 190,000: renting hardware to pay a padding bill. Give the room 60 seconds, thumb-vote, cold-call one defender of B to recite the unit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Run this live if the environment is warm — collect rung predictions first if you skipped the activity earlier. Two teaching beats: (1) the RUNGS dict makes the ladder a config, not a rewrite — same harness, same texts, four artefacts; (2) the print line is only half the deliverable — the paired accuracy diff via M6's paired_bootstrap_diff fills the other column, and speed tables without accuracy columns are named mistake #3. Common failure when participants reproduce this: ONNX slower than PyTorch — cold benchmark or ORT and OMP both spawning threads; warm up 30 iters and set thread counts coherently.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The course's first diagram (text to tensor) and this endpoint rhyme on purpose — request, validation wall, versioned normalise, fast tokenizer, ORT INT8 session, response. Point at max_length=128 and truncation=True on the REQUEST path: this is where the free rungs live in production, and where they die of config drift — the sim-serving-gap branch reintroduces 512/pad-max/slow-tokenizer here and turns 21 ms offline into 180 ms served. Named mistake #4: quantising the model but not re-running the skew canaries. If asked why the label assert and not logits: exact-match tolerance on quantised outputs fails by design — ids and label exact, logits within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pip install optimum[onnxruntime] fastapi uvicorn; git checkout lab7-start; Lab 3/4 artefacts + data/bench_mix.npy; 4 CPU cores pinned via OMP_NUM_THREADS=4. Insist on baseline-first discipline — pairs who jump straight to INT8 have no denominator and must redo rung 0; that redo IS the lesson. Task 4's split decision (INT8 for topic, fp32-ONNX for NER at -0.009 entity-F1) is the module's judgement moment — the ladder table defends it in review. The HTTP-vs-notebook gap in task 5 reliably surprises the room; connect it forward: deployment, autoscaling, monitoring are SDA-AIE-216's territory and inherit exactly this benchmark discipline. Fast finishers: length-bucketed /v1/classify:batch endpoint, or quantise M5's embedder and measure the recall@10 tax plus the index-rebuild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This is the expected shape of every pair's BENCHMARKS.md by the end of Hour 2 — four rungs, latency AND accuracy columns, environment recorded. Two observations to draw out: artefact size only moves at INT8 (517 to 130 MB, the ~4x weight shrink), while latency moved at every rung — speed and size are different levers. And the F1 column is what makes this a benchmark rather than an anecdote. Warn the room the course reference numbers are seeded differently per cohort — tables copied from these slides instead of measured are detectable and cap the serving criterion at 70% in the capstone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 facilitate, don't lecture. Reveal context and challenge, then have pairs propose a redesign BEFORE showing the approach; ladder-literate rooms converge on it fast, which is the point. Discussion questions in order: (1) rank the wins by riyal saved vs engineering hours — the free rung has the best ratio, and that is the general pattern; (2) why did the embedder's decision differ from the classifiers'? — M5's versioning rule making a hardware decision; what changes after the freeze?; (3) translate the policy team's 1-point red line into a paired-bootstrap acceptance test gating the INT8 rollout; (4) queue depth vs CPU% — what was the old signal blind to? Batch-assembly latency on the GPUs, last year's actual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The CI excludes zero, so the tax is real — but real and small is exactly what 'purchasable' means: if the latency win funds it (here, roughly 2x from the INT8 rung alone) and the model card records it, shipping is the defensible engineering decision. A treats every real regression as a blocker, which would forbid quantisation categorically; B is the silent-regression channel — the tax is real, so 'seed noise' is false; D is p-hacking a benchmark. Follow-up for the room: why keep the fp32 artefact after INT8 ships? Accuracy reference for future paired evals plus instant rollback. Second follow-up: does rung 3 need the behavioural suite re-run? Yes — cheap insurance; quantisation can shift decision boundaries near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 the module close. Read the six mistakes as a checklist and note the room has now seen each one somewhere: the redo-rung-0 rule (1), bench_mix.npy (2), the F1 column (3), the boot asserts (4), sim-serving-gap (5), the same-box rule (6). Good homework framing: the debugging branch sim-serving-gap (offline 21 ms, production 180 ms — three stacked causes: max_length=512 via a config default, padding=max_length on the API path, slow tokenisation in the request loop) and the code-review exercise (a perf PR with an unwarmed 10-call mean, no accuracy column, fp32 deleted in-place, canaries removed 'because they failed'). Transition: everything is now a component — assembly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to open the capstone block. Walk the request path top to bottom and name where each lab's artefact plugs in: Lab 1 preprocessing, Labs 3/4 models, Lab 5 index, Lab 6 report, Lab 7 optimised serving — the capstone is integration plus one extension, not new construction. Emphasise the split the room just earned in Lab 7: topic on INT8, NER on fp32-ONNX. The offline loop matters as much as the request path: re-runnable training scripts (no notebook-state artefacts) and the frozen test set untouched until the final report are graded engineering hygiene. Pairs should sketch their gap list against this diagram in the first 10 minutes of Hour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This is the mandatory scope mapped to the grading rubric — have pairs self-assess each row red/amber/green right now, in Hour 3's first minutes, so the two assembly hours attack the reds. Most cohorts are green on R2/R3 (the labs produced them directly) and amber on R4's error taxonomy (100 hand-read errors takes real time — it cannot start in Hour 4). R5 is today's fresh work: the ladder table and the HTTP number come straight from Lab 7. Remind them extensions only add bonus (+5, capped at 100) if the mandatory scope scores at least 80 — an extension on top of a red R4 is points thrown away. QA no-answer target for R2: at least 17/20 on the no-answer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Three milestones are already behind the room — say so explicitly; it reframes the capstone from 'big final project' to 'two gates left'. M-D's gate is concrete and checkable: HTTP p99 in budget, canaries green at boot, extension working — pairs should verify all three with the Lab 7 load script before calling Hour 4 done, because you will spot-verify. Collect repository URLs and evaluation reports at the end of Hour 4, before demos. If a pair is behind on M-C (usually the evaluation report), triage: a thin-but-honest report with real CIs beats a complete report with copied numbers — the rubric's anti-pattern flags cap copied benchmarks at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Every extension must ship with evidence, not just code — the pattern is 'build it AND measure the claim': routing beats either model alone (sliced), shared trunk vs two models (paired verdict), before/after retrieval metrics, throughput curve, null-threshold curve. Steer pairs by their Day 1-3 strengths: strong-Arabic pairs to the dialect router, Lab 7 stars to the batch endpoint (lowest integration risk today), search enthusiasts to the retrieve upgrade. The BONUS cell is separate from the required extension: bonus tasks add up to +5 only when mandatory scope scores at least 80. Veto extension changes after Hour 3's midpoint — a working batch endpoint beats a half-built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Grade from repository evidence first, demo second — the course's thesis is that claims carry their evidence, so BENCHMARKS.md numbers get spot-checked against artefacts and frozen-test discipline is visible in git history on the eval-set path. Walk the anti-pattern flags slowly; they are the difference between a 90 and a 70 for otherwise-identical work. During scoring, spot-verify one claim per participant live: re-run their sliced report on one model, or fire the canary string at their running service. The two 20-point rows (models, evaluation) reward Days 2-3 work; today's 15 points for serving are the most mechanical to secure — Lab 7 output is most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delivered at the top of Hour 4 so pairs review with the demo in mind. Rehearse the demo shape with the room once: request in Arabic AND English, response shows topic, entities, similar cases; then one behavioural test walked through; then the challenge. Tell them the challenge question is coming — it is mandatory, one number per participant, and 'the notebook said so' is a failing answer while 'paired bootstrap, CI excludes zero, here is the row in BENCHMARKS.md' is a distinction answer. Peer reviewers in Hour 4 should run the cold-clone test early; 'cannot run own service cold' lands in the below-70% band of the decisions &amp; demo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Timebox ruthlessly: with 10-12 pairs at 5 minutes plus the challenge question, Hour 5 is full — start demos no later than minute 5. Peer scores use the same rubric sheet; collect them digitally as demos end, not after the session. The spot-verification is not optional theatre: benchmark tables copied from course reference numbers are detectable because reference numbers are seeded differently per cohort. Keep 5 minutes at the end for the wrap: name what the room can now do — preprocess, fine-tune, search, evaluate, optimise, serve bilingual NLP — and point at the zero-shot showdown bonus as the evidenced bridge to the LLM era in SDA-AIE-213.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after the last demo and scoring. Close the loop deliberately: Day 1 began with a pinned string and its token ids; Day 4 ended with that same canary asserting at service boot — the course's first and last artefacts rhyme. Congratulate the specific wins you saw in demos, by pair. Then set the two bridges: SDA-AIE-213 asks when the LLM-era approach beats today's fine-tuned encoders (the zero-shot showdown bonus is the evidenced head start), and SDA-AIE-216 takes the servable artefact through deployment, autoscaling and monitoring with exactly the p50/p99 discipline practised here. Collect course feedback before the room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the energy here: labs are over, this is the job. Say it plainly — Bayan (بيان) is the citizen-feedback intelligence capability of a Saudi digital-government platform, and for the next hours every participant is its NLP engineer. Stress the framing from the package: the demo is delivered in the roles they will actually play at work — the engineer defending the numbers. Nothing on the capstone is new material; it is Labs 1–7 integrated plus one chosen extension. Hard rule from the timing guide: capstone assembly (Day 4 H3) starts on time even if Lab 7 is unfinished — the fallback optimised artefacts exist precisely for this. Transition: first, the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mandate column as the product spec and the right column as the engineering reality. Ask the room: which Lab built each mandate item? (Labs 3a/4 for classification and sentiment, 3b for NER into case fields, 5 for retrieval, 6 for the report.) Emphasise the traffic mix — dialect chat, formal MSA, English web forms — because every grading criterion has an Arabic-handling edge. The phrase to repeat: the case-management team will build on this, so leadership must be able to trust the report. Point out that the demo format is deliberately realistic: live bilingual request, one behavioural test explained, one number defended. Transition: here is exactly what mandatory scope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twelve lines — instead, have participants self-audit: for each R, thumbs up if they already have the evidence from labs. Most will have R1–R3 largely done; R4 and R5 are where Day 4 hours go. Call out the numeric gates explicitly since they are graded: +8 macro-F1 over TF-IDF, entity-F1 ≥ 0.80 with clitic alignment tests green, 17/20 on the no-answer slice, recall@10 ≥ 0.80, MRR@10 ≥ 0.70, p99 ≤ 40 ms on lab CPU at 16 concurrent. For the extension, force a choice NOW and have each pair announce it — the classic failure is deferring the extension until nothing ships. If a cohort is strong, the timing guide says pull the dialect router into main scope. Common misconception: extensions substitute for weak mandatory work — they do not; bonus only counts if mandatory scope scores ≥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request path top to bottom: citizen text hits the validation wall, flows through the versioned preprocessor with per-model Arabic profiles, then fans out to three consumers — the INT8 topic+sentiment classifier, the fp32 d3tok NER, and the embedding + FAISS + cross-encoder re-rank retrieval. Ask the room why NER stays fp32 while the classifier ships INT8 — that is exactly the documented quantisation decision R5 demands. Point at the offline lane and stress the separation: training scripts produce artefacts; frozen eval sets produce the report; nothing in the serving path is hand-tuned against test data. The side panel is the exam: this diagram is what their demo must show live. If pairs are stuck sequencing work, tell them to build this picture left-to-right in the milestone order coming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reassuring message: by Day 4 morning, milestones M-A through M-C are already behind them — the capstone hours only owe M-D and M-E. Walk each gate and note that gates are binary and checkable: golden tests green, baseline beaten, MRR ≥ 0.70, p99 in budget, canaries green. Use the note strip to enumerate the six deliverables and remind them BENCHMARKS.md must be filled from their own runs — the reference numbers are cohort-seeded, so copies are detectable. Timing discipline: M-D is due Day 4 H4 sharp because M-E rubric scoring starts H5 regardless. Ask pairs to name their single riskiest gate right now and front-load it; the usual answer is the p99 budget, which is why the fallback optimised artefacts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weights, not the bands: modelling and evaluation carry 20 each, everything else 15 — a deliberate signal that a brilliant model with a shallow report scores worse than a decent model with honest slices and a real taxonomy. Give one &lt;70% example per criterion from the package so the floor is vivid: divergent train/serve preprocessing, an unbeaten baseline or subword-level NER scores, unnormalised vectors, aggregate-only claims, laptop-only latency numbers, or a team that cannot run its own service cold. Repeat the bonus rule in the note strip — extensions never rescue weak mandatory work. Tell participants to self-score against this table at Day 4 H3 and spend their remaining hours on the largest weight × largest gap cell, not their favourite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your own discipline as grader; say it out loud to the room anyway — transparency about how grading works is part of the lesson. Explain the anti-pattern detection concretely: git history on the eval-set path shows test-set contact; the benchmark reference numbers are seeded differently per cohort, so copied tables are detectable; each of those caps the criterion at 70%. Rehearse the challenge question with a volunteer now: pick a number from any lab, ask why should I believe this, and model a good answer (CI, seed spread, frozen split, matching artefact). Right column: bonus tasks are for early finishers and distinction seekers — distinct from the mandatory extension. If the cohort is strong, run the zero-shot showdown as a Day 4 plenary per the timing guide. Transition: quiz time — three sample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Without the √d_k division, dot-product scores grow with the key dimension, their variance blows up, softmax saturates into near one-hot distributions, and gradients through the soft weights vanish — training stalls. Scaling keeps score variance around 1 so the softmax stays in its responsive range. B is wrong: values are never normalised by this term, only the query-key scores are scaled. C is wrong: the quadratic cost in sequence length is untouched — the cheapest mitigation for that is controlling sequence length (truncate to measured need, chunk documents), which is a different quiz question. D confuses numerics of quantised inference with training dynamics. Run this closed-book, 90 seconds, hands up per option before revealing. The real quiz is 10 questions from the 20-question bank, 15 minutes, closed book, worth 10% of the course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Inner product equals cosine similarity only when BOTH sides are unit length. Normalise just the index and the query's magnitude mixes into every score, so longer or denser texts float to the top — results stay plausible-looking, which is exactly why this bug survives to production. A is wrong: dimensions are unchanged, nothing errors. C is too dramatic — retrieval degrades, it does not zero out, which is the trap: no exception, just quietly worse rankings only a labelled evaluation catches. D is the dangerous belief: FAISS does no automatic normalisation for IndexFlatIP. Connect to the sim-unnormalized branch they debugged in Lab 5 and to PA-1, where unnormalised query vectors are one of the three planted bugs. Moral for the capstone: the manifest pins the normalisation contract; the canary asserts it at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The ladder orders interventions by unit cost: length/padding/batching discipline is essentially free — no retraining, no new artefacts; ONNX export changes the runtime but not the weights; dynamic INT8 quantisation is cheap but starts charging an accuracy tax that must be paired-measured; a distilled checkpoint means training a new model; hardware is the most expensive lever and the last resort. A and D invert the cost order; B puts engineering-free wins after paid steps. Ask the room the follow-up from the bank: why keep the fp32 artefact after INT8 ships? — paired-eval accuracy reference and instant rollback path, which is exactly R5's rollback requirement. Remind them their capstone ladder table must come from their own runs on the lab CPU; laptop-only numbers land in the &lt;70% band. Transition: how all of this rolls into the course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60/40 split explicit: the labs component (labs 35 + practical assessments 15 + quiz 10) is already largely banked by Day 4, so nobody should panic-gamble the capstone. Recap the two practical assessments: PA-1 (30 min, Day 3 H5 tail or self-paced) is the broken-repo debug — skipped Arabic normalisation in serving, subword-level NER evaluation, unnormalised query vectors — scored 40% diagnosis, 40% fixes, 20% verification evidence. PA-2 (30 min, Day 4 H2 tail) is the rival-team report review — scored 50% triage correctness, 30% actionability, 20% statistical reasoning. Then the badge gate in the note strip: 70 overall AND 70 on the capstone AND zero academic-integrity flags. The NLP specialisation badge counts toward the AI Engineer Specialist Certificate (AIE-216 plus any 3 of AIE-211/212/213/214/215) and feeds the GenAI Engineering specialisation.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conversation, not a lecture. The lead IS discussion prompt 2 from the guide — let it breathe for two minutes; the honest answer (both numbers, sliced, with the decision owner named) is the course in miniature. If energy allows, add prompt 5: which Bayan component would you bet breaks first in production — and which of your tests would know before your users do? And prompt 4: when the LLM era reached your organisation, which of this course's disciplines became MORE important? (Evaluation, retrieval quality, preprocessing skew — all feed AIE-213/214.) Then execute the ritual: the one requirements-to-modules slide, collect the three documents plus repo URLs, promise badge recommendations within 5 working days. Close the right column with the forward path so nobody leaves without a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word, verbatim from the instructor guide: return the course's one-sentence thesis to the room and let it land — in NLP engineering, the model is the easy part; the tokenizer, the slices, and the milliseconds are where the profession lives. Deliver the Arabic farewell warmly: شكراً لكم وإلى اللقاء (thank you, and until we meet again). Practical closers before anyone stands up: confirm every pair has pushed their final commit, that you hold all repo URLs and the three documents, and that participants know badge recommendations arrive within 5 working days. Point once more at the doorway courses — AIE-213 for LLM applications, AIE-214 for RAG on their M5 retrieval work — then end on time; a crisp finish is part of the craft you just spent four days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essions/trusting-kind-pasteur/build/assets/logo.png">    </p:cNvPr>
          <p:cNvPicPr>
            <a:picLocks noChangeAspect="1"/>
          </p:cNvPicPr>
          <p:nvPr/>
        </p:nvPicPr>
        <p:blipFill>
          <a:blip r:embed="rId1"/>
          <a:stretch>
            <a:fillRect/>
          </a:stretch>
        </p:blipFill>
        <p:spPr>
          <a:xfrm>
            <a:off x="640080" y="502920"/>
            <a:ext cx="2286000" cy="559558"/>
          </a:xfrm>
          <a:prstGeom prst="rect">
            <a:avLst/>
          </a:prstGeom>
        </p:spPr>
      </p:pic>
      <p:sp>
        <p:nvSpPr>
          <p:cNvPr id="3" name="Shape 0"/>
          <p:cNvSpPr/>
          <p:nvPr/>
        </p:nvSpPr>
        <p:spPr>
          <a:xfrm>
            <a:off x="8595360" y="1097280"/>
            <a:ext cx="438912" cy="384048"/>
          </a:xfrm>
          <a:prstGeom prst="triangle">
            <a:avLst/>
          </a:prstGeom>
          <a:solidFill>
            <a:srgbClr val="00A79D"/>
          </a:solidFill>
          <a:ln/>
        </p:spPr>
      </p:sp>
      <p:sp>
        <p:nvSpPr>
          <p:cNvPr id="4" name="Shape 1"/>
          <p:cNvSpPr/>
          <p:nvPr/>
        </p:nvSpPr>
        <p:spPr>
          <a:xfrm>
            <a:off x="9061704" y="905256"/>
            <a:ext cx="438912" cy="384048"/>
          </a:xfrm>
          <a:prstGeom prst="triangle">
            <a:avLst/>
          </a:prstGeom>
          <a:solidFill>
            <a:srgbClr val="29ABE2"/>
          </a:solidFill>
          <a:ln/>
        </p:spPr>
      </p:sp>
      <p:sp>
        <p:nvSpPr>
          <p:cNvPr id="5" name="Shape 2"/>
          <p:cNvSpPr/>
          <p:nvPr/>
        </p:nvSpPr>
        <p:spPr>
          <a:xfrm>
            <a:off x="9061704" y="1289304"/>
            <a:ext cx="438912" cy="384048"/>
          </a:xfrm>
          <a:prstGeom prst="triangle">
            <a:avLst/>
          </a:prstGeom>
          <a:solidFill>
            <a:srgbClr val="F7941D"/>
          </a:solidFill>
          <a:ln/>
        </p:spPr>
      </p:sp>
      <p:sp>
        <p:nvSpPr>
          <p:cNvPr id="6" name="Shape 3"/>
          <p:cNvSpPr/>
          <p:nvPr/>
        </p:nvSpPr>
        <p:spPr>
          <a:xfrm>
            <a:off x="9528048" y="713232"/>
            <a:ext cx="438912" cy="384048"/>
          </a:xfrm>
          <a:prstGeom prst="triangle">
            <a:avLst/>
          </a:prstGeom>
          <a:solidFill>
            <a:srgbClr val="8CC63F"/>
          </a:solidFill>
          <a:ln/>
        </p:spPr>
      </p:sp>
      <p:sp>
        <p:nvSpPr>
          <p:cNvPr id="7" name="Shape 4"/>
          <p:cNvSpPr/>
          <p:nvPr/>
        </p:nvSpPr>
        <p:spPr>
          <a:xfrm>
            <a:off x="9528048" y="1097280"/>
            <a:ext cx="438912" cy="384048"/>
          </a:xfrm>
          <a:prstGeom prst="triangle">
            <a:avLst/>
          </a:prstGeom>
          <a:solidFill>
            <a:srgbClr val="1D2A5C"/>
          </a:solidFill>
          <a:ln/>
        </p:spPr>
      </p:sp>
      <p:sp>
        <p:nvSpPr>
          <p:cNvPr id="8" name="Shape 5"/>
          <p:cNvSpPr/>
          <p:nvPr/>
        </p:nvSpPr>
        <p:spPr>
          <a:xfrm>
            <a:off x="9994392" y="905256"/>
            <a:ext cx="438912" cy="384048"/>
          </a:xfrm>
          <a:prstGeom prst="triangle">
            <a:avLst/>
          </a:prstGeom>
          <a:solidFill>
            <a:srgbClr val="00A79D"/>
          </a:solidFill>
          <a:ln/>
        </p:spPr>
      </p:sp>
      <p:sp>
        <p:nvSpPr>
          <p:cNvPr id="9" name="Shape 6"/>
          <p:cNvSpPr/>
          <p:nvPr/>
        </p:nvSpPr>
        <p:spPr>
          <a:xfrm>
            <a:off x="9994392" y="1289304"/>
            <a:ext cx="438912" cy="384048"/>
          </a:xfrm>
          <a:prstGeom prst="triangle">
            <a:avLst/>
          </a:prstGeom>
          <a:solidFill>
            <a:srgbClr val="29ABE2"/>
          </a:solidFill>
          <a:ln/>
        </p:spPr>
      </p:sp>
      <p:sp>
        <p:nvSpPr>
          <p:cNvPr id="10" name="Shape 7"/>
          <p:cNvSpPr/>
          <p:nvPr/>
        </p:nvSpPr>
        <p:spPr>
          <a:xfrm>
            <a:off x="10460736" y="1097280"/>
            <a:ext cx="438912" cy="384048"/>
          </a:xfrm>
          <a:prstGeom prst="triangle">
            <a:avLst/>
          </a:prstGeom>
          <a:solidFill>
            <a:srgbClr val="F7941D"/>
          </a:solidFill>
          <a:ln/>
        </p:spPr>
      </p:sp>
      <p:sp>
        <p:nvSpPr>
          <p:cNvPr id="11" name="Shape 8"/>
          <p:cNvSpPr/>
          <p:nvPr/>
        </p:nvSpPr>
        <p:spPr>
          <a:xfrm>
            <a:off x="9692640" y="5440497"/>
            <a:ext cx="302849" cy="264993"/>
          </a:xfrm>
          <a:prstGeom prst="triangle">
            <a:avLst/>
          </a:prstGeom>
          <a:solidFill>
            <a:srgbClr val="29ABE2"/>
          </a:solidFill>
          <a:ln/>
        </p:spPr>
      </p:sp>
      <p:sp>
        <p:nvSpPr>
          <p:cNvPr id="12" name="Shape 9"/>
          <p:cNvSpPr/>
          <p:nvPr/>
        </p:nvSpPr>
        <p:spPr>
          <a:xfrm>
            <a:off x="10014417" y="5308001"/>
            <a:ext cx="302849" cy="264993"/>
          </a:xfrm>
          <a:prstGeom prst="triangle">
            <a:avLst/>
          </a:prstGeom>
          <a:solidFill>
            <a:srgbClr val="1D2A5C"/>
          </a:solidFill>
          <a:ln/>
        </p:spPr>
      </p:sp>
      <p:sp>
        <p:nvSpPr>
          <p:cNvPr id="13" name="Shape 10"/>
          <p:cNvSpPr/>
          <p:nvPr/>
        </p:nvSpPr>
        <p:spPr>
          <a:xfrm>
            <a:off x="10014417" y="5572994"/>
            <a:ext cx="302849" cy="264993"/>
          </a:xfrm>
          <a:prstGeom prst="triangle">
            <a:avLst/>
          </a:prstGeom>
          <a:solidFill>
            <a:srgbClr val="00A79D"/>
          </a:solidFill>
          <a:ln/>
        </p:spPr>
      </p:sp>
      <p:sp>
        <p:nvSpPr>
          <p:cNvPr id="14" name="Shape 11"/>
          <p:cNvSpPr/>
          <p:nvPr/>
        </p:nvSpPr>
        <p:spPr>
          <a:xfrm>
            <a:off x="10336195" y="5175504"/>
            <a:ext cx="302849" cy="264993"/>
          </a:xfrm>
          <a:prstGeom prst="triangle">
            <a:avLst/>
          </a:prstGeom>
          <a:solidFill>
            <a:srgbClr val="F7941D"/>
          </a:solidFill>
          <a:ln/>
        </p:spPr>
      </p:sp>
      <p:sp>
        <p:nvSpPr>
          <p:cNvPr id="15" name="Shape 12"/>
          <p:cNvSpPr/>
          <p:nvPr/>
        </p:nvSpPr>
        <p:spPr>
          <a:xfrm>
            <a:off x="10336195" y="5440497"/>
            <a:ext cx="302849" cy="264993"/>
          </a:xfrm>
          <a:prstGeom prst="triangle">
            <a:avLst/>
          </a:prstGeom>
          <a:solidFill>
            <a:srgbClr val="8CC63F"/>
          </a:solidFill>
          <a:ln/>
        </p:spPr>
      </p:sp>
      <p:sp>
        <p:nvSpPr>
          <p:cNvPr id="16" name="Shape 13"/>
          <p:cNvSpPr/>
          <p:nvPr/>
        </p:nvSpPr>
        <p:spPr>
          <a:xfrm>
            <a:off x="10657972" y="5308001"/>
            <a:ext cx="302849" cy="264993"/>
          </a:xfrm>
          <a:prstGeom prst="triangle">
            <a:avLst/>
          </a:prstGeom>
          <a:solidFill>
            <a:srgbClr val="29ABE2"/>
          </a:solidFill>
          <a:ln/>
        </p:spPr>
      </p:sp>
      <p:sp>
        <p:nvSpPr>
          <p:cNvPr id="17" name="Shape 14"/>
          <p:cNvSpPr/>
          <p:nvPr/>
        </p:nvSpPr>
        <p:spPr>
          <a:xfrm>
            <a:off x="10657972" y="5572994"/>
            <a:ext cx="302849" cy="264993"/>
          </a:xfrm>
          <a:prstGeom prst="triangle">
            <a:avLst/>
          </a:prstGeom>
          <a:solidFill>
            <a:srgbClr val="1D2A5C"/>
          </a:solidFill>
          <a:ln/>
        </p:spPr>
      </p:sp>
      <p:sp>
        <p:nvSpPr>
          <p:cNvPr id="18" name="Shape 15"/>
          <p:cNvSpPr/>
          <p:nvPr/>
        </p:nvSpPr>
        <p:spPr>
          <a:xfrm>
            <a:off x="10979749" y="5440497"/>
            <a:ext cx="302849" cy="264993"/>
          </a:xfrm>
          <a:prstGeom prst="triangle">
            <a:avLst/>
          </a:prstGeom>
          <a:solidFill>
            <a:srgbClr val="00A79D"/>
          </a:solidFill>
          <a:ln/>
        </p:spPr>
      </p:sp>
      <p:sp>
        <p:nvSpPr>
          <p:cNvPr id="19" name="Text 16"/>
          <p:cNvSpPr/>
          <p:nvPr/>
        </p:nvSpPr>
        <p:spPr>
          <a:xfrm>
            <a:off x="685800" y="2331720"/>
            <a:ext cx="10058400" cy="32004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SDAIA ACADEMY · AI ENGINEER TRACK</a:t>
            </a:r>
            <a:endParaRPr lang="en-US" sz="1300" dirty="0"/>
          </a:p>
        </p:txBody>
      </p:sp>
      <p:sp>
        <p:nvSpPr>
          <p:cNvPr id="20" name="Text 17"/>
          <p:cNvSpPr/>
          <p:nvPr/>
        </p:nvSpPr>
        <p:spPr>
          <a:xfrm>
            <a:off x="658368" y="2697480"/>
            <a:ext cx="10881360" cy="960120"/>
          </a:xfrm>
          <a:prstGeom prst="rect">
            <a:avLst/>
          </a:prstGeom>
          <a:noFill/>
          <a:ln/>
        </p:spPr>
        <p:txBody>
          <a:bodyPr wrap="square" lIns="0" tIns="0" rIns="0" bIns="0" rtlCol="0" anchor="ctr"/>
          <a:lstStyle/>
          <a:p>
            <a:pPr indent="0" marL="0">
              <a:buNone/>
            </a:pPr>
            <a:r>
              <a:rPr lang="en-US" sz="4000" b="1" dirty="0">
                <a:solidFill>
                  <a:srgbClr val="1D2A5C"/>
                </a:solidFill>
                <a:latin typeface="Calibri" pitchFamily="34" charset="0"/>
                <a:ea typeface="Calibri" pitchFamily="34" charset="-122"/>
                <a:cs typeface="Calibri" pitchFamily="34" charset="-120"/>
              </a:rPr>
              <a:t>Natural Language Processing with Transformers</a:t>
            </a:r>
            <a:endParaRPr lang="en-US" sz="4000" dirty="0"/>
          </a:p>
        </p:txBody>
      </p:sp>
      <p:sp>
        <p:nvSpPr>
          <p:cNvPr id="21" name="Text 18"/>
          <p:cNvSpPr/>
          <p:nvPr/>
        </p:nvSpPr>
        <p:spPr>
          <a:xfrm>
            <a:off x="685800" y="3657600"/>
            <a:ext cx="10881360" cy="566928"/>
          </a:xfrm>
          <a:prstGeom prst="rect">
            <a:avLst/>
          </a:prstGeom>
          <a:noFill/>
          <a:ln/>
        </p:spPr>
        <p:txBody>
          <a:bodyPr wrap="square" lIns="0" tIns="0" rIns="0" bIns="0" rtlCol="0" anchor="ctr"/>
          <a:lstStyle/>
          <a:p>
            <a:pPr indent="0" marL="0">
              <a:buNone/>
            </a:pPr>
            <a:r>
              <a:rPr lang="en-US" sz="2000" dirty="0">
                <a:solidFill>
                  <a:srgbClr val="00A79D"/>
                </a:solidFill>
                <a:latin typeface="Calibri" pitchFamily="34" charset="0"/>
                <a:ea typeface="Calibri" pitchFamily="34" charset="-122"/>
                <a:cs typeface="Calibri" pitchFamily="34" charset="-120"/>
              </a:rPr>
              <a:t>معالجة اللغة الطبيعية باستخدام المحولات</a:t>
            </a:r>
            <a:endParaRPr lang="en-US" sz="2000" dirty="0"/>
          </a:p>
        </p:txBody>
      </p:sp>
      <p:sp>
        <p:nvSpPr>
          <p:cNvPr id="22" name="Text 19"/>
          <p:cNvSpPr/>
          <p:nvPr/>
        </p:nvSpPr>
        <p:spPr>
          <a:xfrm>
            <a:off x="685800" y="4343400"/>
            <a:ext cx="10058400" cy="365760"/>
          </a:xfrm>
          <a:prstGeom prst="rect">
            <a:avLst/>
          </a:prstGeom>
          <a:noFill/>
          <a:ln/>
        </p:spPr>
        <p:txBody>
          <a:bodyPr wrap="square" lIns="0" tIns="0" rIns="0" bIns="0" rtlCol="0" anchor="ctr"/>
          <a:lstStyle/>
          <a:p>
            <a:pPr indent="0" marL="0">
              <a:buNone/>
            </a:pPr>
            <a:r>
              <a:rPr lang="en-US" sz="1500" dirty="0">
                <a:solidFill>
                  <a:srgbClr val="6E7B8A"/>
                </a:solidFill>
                <a:latin typeface="Calibri" pitchFamily="34" charset="0"/>
                <a:ea typeface="Calibri" pitchFamily="34" charset="-122"/>
                <a:cs typeface="Calibri" pitchFamily="34" charset="-120"/>
              </a:rPr>
              <a:t>Instructor-Ready Training Deck</a:t>
            </a:r>
            <a:endParaRPr lang="en-US" sz="1500" dirty="0"/>
          </a:p>
        </p:txBody>
      </p:sp>
      <p:sp>
        <p:nvSpPr>
          <p:cNvPr id="23" name="Shape 20"/>
          <p:cNvSpPr/>
          <p:nvPr/>
        </p:nvSpPr>
        <p:spPr>
          <a:xfrm>
            <a:off x="685800" y="4983480"/>
            <a:ext cx="1117397" cy="420624"/>
          </a:xfrm>
          <a:prstGeom prst="roundRect">
            <a:avLst>
              <a:gd name="adj" fmla="val 17391"/>
            </a:avLst>
          </a:prstGeom>
          <a:solidFill>
            <a:srgbClr val="1D2A5C"/>
          </a:solidFill>
          <a:ln/>
        </p:spPr>
      </p:sp>
      <p:sp>
        <p:nvSpPr>
          <p:cNvPr id="24" name="Text 21"/>
          <p:cNvSpPr/>
          <p:nvPr/>
        </p:nvSpPr>
        <p:spPr>
          <a:xfrm>
            <a:off x="685800" y="4983480"/>
            <a:ext cx="1117397"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SDA-AIE-211</a:t>
            </a:r>
            <a:endParaRPr lang="en-US" sz="1100" dirty="0"/>
          </a:p>
        </p:txBody>
      </p:sp>
      <p:sp>
        <p:nvSpPr>
          <p:cNvPr id="25" name="Shape 22"/>
          <p:cNvSpPr/>
          <p:nvPr/>
        </p:nvSpPr>
        <p:spPr>
          <a:xfrm>
            <a:off x="2031797" y="4983480"/>
            <a:ext cx="1492301" cy="420624"/>
          </a:xfrm>
          <a:prstGeom prst="roundRect">
            <a:avLst>
              <a:gd name="adj" fmla="val 17391"/>
            </a:avLst>
          </a:prstGeom>
          <a:solidFill>
            <a:srgbClr val="E6F5F4"/>
          </a:solidFill>
          <a:ln/>
        </p:spPr>
      </p:sp>
      <p:sp>
        <p:nvSpPr>
          <p:cNvPr id="26" name="Text 23"/>
          <p:cNvSpPr/>
          <p:nvPr/>
        </p:nvSpPr>
        <p:spPr>
          <a:xfrm>
            <a:off x="2031797" y="4983480"/>
            <a:ext cx="1492301" cy="420624"/>
          </a:xfrm>
          <a:prstGeom prst="rect">
            <a:avLst/>
          </a:prstGeom>
          <a:noFill/>
          <a:ln/>
        </p:spPr>
        <p:txBody>
          <a:bodyPr wrap="square" lIns="0" tIns="0" rIns="0" bIns="0"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Specialist Level</a:t>
            </a:r>
            <a:endParaRPr lang="en-US" sz="1100" dirty="0"/>
          </a:p>
        </p:txBody>
      </p:sp>
      <p:sp>
        <p:nvSpPr>
          <p:cNvPr id="27" name="Shape 24"/>
          <p:cNvSpPr/>
          <p:nvPr/>
        </p:nvSpPr>
        <p:spPr>
          <a:xfrm>
            <a:off x="3752698" y="4983480"/>
            <a:ext cx="1492301" cy="420624"/>
          </a:xfrm>
          <a:prstGeom prst="roundRect">
            <a:avLst>
              <a:gd name="adj" fmla="val 17391"/>
            </a:avLst>
          </a:prstGeom>
          <a:solidFill>
            <a:srgbClr val="E6F5F4"/>
          </a:solidFill>
          <a:ln/>
        </p:spPr>
      </p:sp>
      <p:sp>
        <p:nvSpPr>
          <p:cNvPr id="28" name="Text 25"/>
          <p:cNvSpPr/>
          <p:nvPr/>
        </p:nvSpPr>
        <p:spPr>
          <a:xfrm>
            <a:off x="3752698" y="4983480"/>
            <a:ext cx="1492301" cy="420624"/>
          </a:xfrm>
          <a:prstGeom prst="rect">
            <a:avLst/>
          </a:prstGeom>
          <a:noFill/>
          <a:ln/>
        </p:spPr>
        <p:txBody>
          <a:bodyPr wrap="square" lIns="0" tIns="0" rIns="0" bIns="0"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4 Days × 5 Hours</a:t>
            </a:r>
            <a:endParaRPr lang="en-US" sz="1100" dirty="0"/>
          </a:p>
        </p:txBody>
      </p:sp>
      <p:sp>
        <p:nvSpPr>
          <p:cNvPr id="29" name="Shape 26"/>
          <p:cNvSpPr/>
          <p:nvPr/>
        </p:nvSpPr>
        <p:spPr>
          <a:xfrm>
            <a:off x="5473598" y="4983480"/>
            <a:ext cx="3066898" cy="420624"/>
          </a:xfrm>
          <a:prstGeom prst="roundRect">
            <a:avLst>
              <a:gd name="adj" fmla="val 17391"/>
            </a:avLst>
          </a:prstGeom>
          <a:solidFill>
            <a:srgbClr val="E6F5F4"/>
          </a:solidFill>
          <a:ln/>
        </p:spPr>
      </p:sp>
      <p:sp>
        <p:nvSpPr>
          <p:cNvPr id="30" name="Text 27"/>
          <p:cNvSpPr/>
          <p:nvPr/>
        </p:nvSpPr>
        <p:spPr>
          <a:xfrm>
            <a:off x="5473598" y="4983480"/>
            <a:ext cx="3066898" cy="420624"/>
          </a:xfrm>
          <a:prstGeom prst="rect">
            <a:avLst/>
          </a:prstGeom>
          <a:noFill/>
          <a:ln/>
        </p:spPr>
        <p:txBody>
          <a:bodyPr wrap="square" lIns="0" tIns="0" rIns="0" bIns="0"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HF Transformers · spaCy · CAMeL Tools</a:t>
            </a:r>
            <a:endParaRPr lang="en-US" sz="1100" dirty="0"/>
          </a:p>
        </p:txBody>
      </p:sp>
      <p:sp>
        <p:nvSpPr>
          <p:cNvPr id="31" name="Text 28"/>
          <p:cNvSpPr/>
          <p:nvPr/>
        </p:nvSpPr>
        <p:spPr>
          <a:xfrm>
            <a:off x="685800" y="6172200"/>
            <a:ext cx="10789920" cy="274320"/>
          </a:xfrm>
          <a:prstGeom prst="rect">
            <a:avLst/>
          </a:prstGeom>
          <a:noFill/>
          <a:ln/>
        </p:spPr>
        <p:txBody>
          <a:bodyPr wrap="square" lIns="0" tIns="0" rIns="0" bIns="0" rtlCol="0" anchor="ctr"/>
          <a:lstStyle/>
          <a:p>
            <a:pPr indent="0" marL="0">
              <a:buNone/>
            </a:pPr>
            <a:r>
              <a:rPr lang="en-US" sz="1000" i="1" dirty="0">
                <a:solidFill>
                  <a:srgbClr val="6E7B8A"/>
                </a:solidFill>
                <a:latin typeface="Calibri" pitchFamily="34" charset="0"/>
                <a:ea typeface="Calibri" pitchFamily="34" charset="-122"/>
                <a:cs typeface="Calibri" pitchFamily="34" charset="-120"/>
              </a:rPr>
              <a:t>Instructor deck — from tokenizers to production latency budgets, built around the Bayan bilingual citizen-feedback capstone.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COURSE KICKOFF</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NLP broke and got rebuilt: pipelines gave way to pretrain-and-fine-tune, then to the LLM stack. This course bridges that shift — and ships Bayan along the way.</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Bayan: a bilingual Arabic/English citizen-feedback intelligence service for a Saudi digital-government platform. Every lab builds a piece of it.</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Course at a Glance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الدورة في لمحة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926080"/>
                <a:gridCol w="8257032"/>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Details</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Level</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Specialist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Duration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 days × 5 learning hours = 20 hours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Audience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AI engineers specialising in language applications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Prerequisites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SDA-AIE-112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Assessment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Labs (60%) + Arabic/English NLP application project (40%)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Tools &amp; platforms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Hugging Face Transformers · spaCy · sentence-transformers · CAMeL Tools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Each learning hour = 50 minutes of instruction + 10 minutes buffer; schedule the long break around Dhuhr.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Golden Thread: Bayan Across Four Days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الخيط الذهبي: بيان عبر أربعة أيام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a:t>
            </a:r>
            <a:endParaRPr lang="en-US" sz="800" dirty="0"/>
          </a:p>
        </p:txBody>
      </p:sp>
      <p:sp>
        <p:nvSpPr>
          <p:cNvPr id="8" name="Shape 5"/>
          <p:cNvSpPr/>
          <p:nvPr/>
        </p:nvSpPr>
        <p:spPr>
          <a:xfrm>
            <a:off x="502920" y="1965960"/>
            <a:ext cx="2507742" cy="2377440"/>
          </a:xfrm>
          <a:prstGeom prst="roundRect">
            <a:avLst>
              <a:gd name="adj" fmla="val 2308"/>
            </a:avLst>
          </a:prstGeom>
          <a:solidFill>
            <a:srgbClr val="F2F6F8"/>
          </a:solidFill>
          <a:ln/>
        </p:spPr>
      </p:sp>
      <p:sp>
        <p:nvSpPr>
          <p:cNvPr id="9" name="Shape 6"/>
          <p:cNvSpPr/>
          <p:nvPr/>
        </p:nvSpPr>
        <p:spPr>
          <a:xfrm>
            <a:off x="502920" y="1965960"/>
            <a:ext cx="2507742" cy="82296"/>
          </a:xfrm>
          <a:prstGeom prst="rect">
            <a:avLst/>
          </a:prstGeom>
          <a:solidFill>
            <a:srgbClr val="00A79D"/>
          </a:solidFill>
          <a:ln/>
        </p:spPr>
      </p:sp>
      <p:sp>
        <p:nvSpPr>
          <p:cNvPr id="10" name="Text 7"/>
          <p:cNvSpPr/>
          <p:nvPr/>
        </p:nvSpPr>
        <p:spPr>
          <a:xfrm>
            <a:off x="640080" y="2148840"/>
            <a:ext cx="2233422"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DAY 1</a:t>
            </a:r>
            <a:endParaRPr lang="en-US" sz="1000" dirty="0"/>
          </a:p>
        </p:txBody>
      </p:sp>
      <p:sp>
        <p:nvSpPr>
          <p:cNvPr id="11" name="Text 8"/>
          <p:cNvSpPr/>
          <p:nvPr/>
        </p:nvSpPr>
        <p:spPr>
          <a:xfrm>
            <a:off x="64008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Text to tensors</a:t>
            </a:r>
            <a:endParaRPr lang="en-US" sz="1500" dirty="0"/>
          </a:p>
        </p:txBody>
      </p:sp>
      <p:sp>
        <p:nvSpPr>
          <p:cNvPr id="12" name="Text 9"/>
          <p:cNvSpPr/>
          <p:nvPr/>
        </p:nvSpPr>
        <p:spPr>
          <a:xfrm>
            <a:off x="64008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Clean and tokenise the Bayan corpus; measure Arabic vs English fertility; trace attention inside a transformer.</a:t>
            </a:r>
            <a:endParaRPr lang="en-US" sz="1050" dirty="0"/>
          </a:p>
        </p:txBody>
      </p:sp>
      <p:sp>
        <p:nvSpPr>
          <p:cNvPr id="13" name="Shape 10"/>
          <p:cNvSpPr/>
          <p:nvPr/>
        </p:nvSpPr>
        <p:spPr>
          <a:xfrm>
            <a:off x="3065526" y="3026664"/>
            <a:ext cx="274320" cy="256032"/>
          </a:xfrm>
          <a:prstGeom prst="chevron">
            <a:avLst/>
          </a:prstGeom>
          <a:solidFill>
            <a:srgbClr val="00A79D"/>
          </a:solidFill>
          <a:ln/>
        </p:spPr>
      </p:sp>
      <p:sp>
        <p:nvSpPr>
          <p:cNvPr id="14" name="Shape 11"/>
          <p:cNvSpPr/>
          <p:nvPr/>
        </p:nvSpPr>
        <p:spPr>
          <a:xfrm>
            <a:off x="3394710" y="1965960"/>
            <a:ext cx="2507742" cy="2377440"/>
          </a:xfrm>
          <a:prstGeom prst="roundRect">
            <a:avLst>
              <a:gd name="adj" fmla="val 2308"/>
            </a:avLst>
          </a:prstGeom>
          <a:solidFill>
            <a:srgbClr val="F2F6F8"/>
          </a:solidFill>
          <a:ln/>
        </p:spPr>
      </p:sp>
      <p:sp>
        <p:nvSpPr>
          <p:cNvPr id="15" name="Shape 12"/>
          <p:cNvSpPr/>
          <p:nvPr/>
        </p:nvSpPr>
        <p:spPr>
          <a:xfrm>
            <a:off x="3394710" y="1965960"/>
            <a:ext cx="2507742" cy="82296"/>
          </a:xfrm>
          <a:prstGeom prst="rect">
            <a:avLst/>
          </a:prstGeom>
          <a:solidFill>
            <a:srgbClr val="29ABE2"/>
          </a:solidFill>
          <a:ln/>
        </p:spPr>
      </p:sp>
      <p:sp>
        <p:nvSpPr>
          <p:cNvPr id="16" name="Text 13"/>
          <p:cNvSpPr/>
          <p:nvPr/>
        </p:nvSpPr>
        <p:spPr>
          <a:xfrm>
            <a:off x="3531870" y="2148840"/>
            <a:ext cx="2233422" cy="237744"/>
          </a:xfrm>
          <a:prstGeom prst="rect">
            <a:avLst/>
          </a:prstGeom>
          <a:noFill/>
          <a:ln/>
        </p:spPr>
        <p:txBody>
          <a:bodyPr wrap="square" lIns="0" tIns="0" rIns="0" bIns="0" rtlCol="0" anchor="ctr"/>
          <a:lstStyle/>
          <a:p>
            <a:pPr indent="0" marL="0">
              <a:buNone/>
            </a:pPr>
            <a:r>
              <a:rPr lang="en-US" sz="1000" b="1" spc="150" kern="0" dirty="0">
                <a:solidFill>
                  <a:srgbClr val="29ABE2"/>
                </a:solidFill>
                <a:latin typeface="Calibri" pitchFamily="34" charset="0"/>
                <a:ea typeface="Calibri" pitchFamily="34" charset="-122"/>
                <a:cs typeface="Calibri" pitchFamily="34" charset="-120"/>
              </a:rPr>
              <a:t>DAY 2</a:t>
            </a:r>
            <a:endParaRPr lang="en-US" sz="1000" dirty="0"/>
          </a:p>
        </p:txBody>
      </p:sp>
      <p:sp>
        <p:nvSpPr>
          <p:cNvPr id="17" name="Text 14"/>
          <p:cNvSpPr/>
          <p:nvPr/>
        </p:nvSpPr>
        <p:spPr>
          <a:xfrm>
            <a:off x="353187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Make it yours</a:t>
            </a:r>
            <a:endParaRPr lang="en-US" sz="1500" dirty="0"/>
          </a:p>
        </p:txBody>
      </p:sp>
      <p:sp>
        <p:nvSpPr>
          <p:cNvPr id="18" name="Text 15"/>
          <p:cNvSpPr/>
          <p:nvPr/>
        </p:nvSpPr>
        <p:spPr>
          <a:xfrm>
            <a:off x="353187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Fine-tune BERT-family models: topic/sentiment classifier plus NER on the Bayan entity schema; meet Arabic NLP.</a:t>
            </a:r>
            <a:endParaRPr lang="en-US" sz="1050" dirty="0"/>
          </a:p>
        </p:txBody>
      </p:sp>
      <p:sp>
        <p:nvSpPr>
          <p:cNvPr id="19" name="Shape 16"/>
          <p:cNvSpPr/>
          <p:nvPr/>
        </p:nvSpPr>
        <p:spPr>
          <a:xfrm>
            <a:off x="5957316" y="3026664"/>
            <a:ext cx="274320" cy="256032"/>
          </a:xfrm>
          <a:prstGeom prst="chevron">
            <a:avLst/>
          </a:prstGeom>
          <a:solidFill>
            <a:srgbClr val="00A79D"/>
          </a:solidFill>
          <a:ln/>
        </p:spPr>
      </p:sp>
      <p:sp>
        <p:nvSpPr>
          <p:cNvPr id="20" name="Shape 17"/>
          <p:cNvSpPr/>
          <p:nvPr/>
        </p:nvSpPr>
        <p:spPr>
          <a:xfrm>
            <a:off x="6286500" y="1965960"/>
            <a:ext cx="2507742" cy="2377440"/>
          </a:xfrm>
          <a:prstGeom prst="roundRect">
            <a:avLst>
              <a:gd name="adj" fmla="val 2308"/>
            </a:avLst>
          </a:prstGeom>
          <a:solidFill>
            <a:srgbClr val="F2F6F8"/>
          </a:solidFill>
          <a:ln/>
        </p:spPr>
      </p:sp>
      <p:sp>
        <p:nvSpPr>
          <p:cNvPr id="21" name="Shape 18"/>
          <p:cNvSpPr/>
          <p:nvPr/>
        </p:nvSpPr>
        <p:spPr>
          <a:xfrm>
            <a:off x="6286500" y="1965960"/>
            <a:ext cx="2507742" cy="82296"/>
          </a:xfrm>
          <a:prstGeom prst="rect">
            <a:avLst/>
          </a:prstGeom>
          <a:solidFill>
            <a:srgbClr val="F7941D"/>
          </a:solidFill>
          <a:ln/>
        </p:spPr>
      </p:sp>
      <p:sp>
        <p:nvSpPr>
          <p:cNvPr id="22" name="Text 19"/>
          <p:cNvSpPr/>
          <p:nvPr/>
        </p:nvSpPr>
        <p:spPr>
          <a:xfrm>
            <a:off x="6423660" y="2148840"/>
            <a:ext cx="2233422" cy="237744"/>
          </a:xfrm>
          <a:prstGeom prst="rect">
            <a:avLst/>
          </a:prstGeom>
          <a:noFill/>
          <a:ln/>
        </p:spPr>
        <p:txBody>
          <a:bodyPr wrap="square" lIns="0" tIns="0" rIns="0" bIns="0" rtlCol="0" anchor="ctr"/>
          <a:lstStyle/>
          <a:p>
            <a:pPr indent="0" marL="0">
              <a:buNone/>
            </a:pPr>
            <a:r>
              <a:rPr lang="en-US" sz="1000" b="1" spc="150" kern="0" dirty="0">
                <a:solidFill>
                  <a:srgbClr val="F7941D"/>
                </a:solidFill>
                <a:latin typeface="Calibri" pitchFamily="34" charset="0"/>
                <a:ea typeface="Calibri" pitchFamily="34" charset="-122"/>
                <a:cs typeface="Calibri" pitchFamily="34" charset="-120"/>
              </a:rPr>
              <a:t>DAY 3</a:t>
            </a:r>
            <a:endParaRPr lang="en-US" sz="1000" dirty="0"/>
          </a:p>
        </p:txBody>
      </p:sp>
      <p:sp>
        <p:nvSpPr>
          <p:cNvPr id="23" name="Text 20"/>
          <p:cNvSpPr/>
          <p:nvPr/>
        </p:nvSpPr>
        <p:spPr>
          <a:xfrm>
            <a:off x="642366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Arabic, search, truth</a:t>
            </a:r>
            <a:endParaRPr lang="en-US" sz="1500" dirty="0"/>
          </a:p>
        </p:txBody>
      </p:sp>
      <p:sp>
        <p:nvSpPr>
          <p:cNvPr id="24" name="Text 21"/>
          <p:cNvSpPr/>
          <p:nvPr/>
        </p:nvSpPr>
        <p:spPr>
          <a:xfrm>
            <a:off x="642366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Dialect-aware Arabic fine-tuning, bilingual semantic search over historical cases, and a sliced evaluation report.</a:t>
            </a:r>
            <a:endParaRPr lang="en-US" sz="1050" dirty="0"/>
          </a:p>
        </p:txBody>
      </p:sp>
      <p:sp>
        <p:nvSpPr>
          <p:cNvPr id="25" name="Shape 22"/>
          <p:cNvSpPr/>
          <p:nvPr/>
        </p:nvSpPr>
        <p:spPr>
          <a:xfrm>
            <a:off x="8849106" y="3026664"/>
            <a:ext cx="274320" cy="256032"/>
          </a:xfrm>
          <a:prstGeom prst="chevron">
            <a:avLst/>
          </a:prstGeom>
          <a:solidFill>
            <a:srgbClr val="00A79D"/>
          </a:solidFill>
          <a:ln/>
        </p:spPr>
      </p:sp>
      <p:sp>
        <p:nvSpPr>
          <p:cNvPr id="26" name="Shape 23"/>
          <p:cNvSpPr/>
          <p:nvPr/>
        </p:nvSpPr>
        <p:spPr>
          <a:xfrm>
            <a:off x="9178290" y="1965960"/>
            <a:ext cx="2507742" cy="2377440"/>
          </a:xfrm>
          <a:prstGeom prst="roundRect">
            <a:avLst>
              <a:gd name="adj" fmla="val 2308"/>
            </a:avLst>
          </a:prstGeom>
          <a:solidFill>
            <a:srgbClr val="F2F6F8"/>
          </a:solidFill>
          <a:ln/>
        </p:spPr>
      </p:sp>
      <p:sp>
        <p:nvSpPr>
          <p:cNvPr id="27" name="Shape 24"/>
          <p:cNvSpPr/>
          <p:nvPr/>
        </p:nvSpPr>
        <p:spPr>
          <a:xfrm>
            <a:off x="9178290" y="1965960"/>
            <a:ext cx="2507742" cy="82296"/>
          </a:xfrm>
          <a:prstGeom prst="rect">
            <a:avLst/>
          </a:prstGeom>
          <a:solidFill>
            <a:srgbClr val="8CC63F"/>
          </a:solidFill>
          <a:ln/>
        </p:spPr>
      </p:sp>
      <p:sp>
        <p:nvSpPr>
          <p:cNvPr id="28" name="Text 25"/>
          <p:cNvSpPr/>
          <p:nvPr/>
        </p:nvSpPr>
        <p:spPr>
          <a:xfrm>
            <a:off x="9315450" y="2148840"/>
            <a:ext cx="2233422" cy="237744"/>
          </a:xfrm>
          <a:prstGeom prst="rect">
            <a:avLst/>
          </a:prstGeom>
          <a:noFill/>
          <a:ln/>
        </p:spPr>
        <p:txBody>
          <a:bodyPr wrap="square" lIns="0" tIns="0" rIns="0" bIns="0" rtlCol="0" anchor="ctr"/>
          <a:lstStyle/>
          <a:p>
            <a:pPr indent="0" marL="0">
              <a:buNone/>
            </a:pPr>
            <a:r>
              <a:rPr lang="en-US" sz="1000" b="1" spc="150" kern="0" dirty="0">
                <a:solidFill>
                  <a:srgbClr val="8CC63F"/>
                </a:solidFill>
                <a:latin typeface="Calibri" pitchFamily="34" charset="0"/>
                <a:ea typeface="Calibri" pitchFamily="34" charset="-122"/>
                <a:cs typeface="Calibri" pitchFamily="34" charset="-120"/>
              </a:rPr>
              <a:t>DAY 4</a:t>
            </a:r>
            <a:endParaRPr lang="en-US" sz="1000" dirty="0"/>
          </a:p>
        </p:txBody>
      </p:sp>
      <p:sp>
        <p:nvSpPr>
          <p:cNvPr id="29" name="Text 26"/>
          <p:cNvSpPr/>
          <p:nvPr/>
        </p:nvSpPr>
        <p:spPr>
          <a:xfrm>
            <a:off x="931545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Fast, cheap, shipped</a:t>
            </a:r>
            <a:endParaRPr lang="en-US" sz="1500" dirty="0"/>
          </a:p>
        </p:txBody>
      </p:sp>
      <p:sp>
        <p:nvSpPr>
          <p:cNvPr id="30" name="Text 27"/>
          <p:cNvSpPr/>
          <p:nvPr/>
        </p:nvSpPr>
        <p:spPr>
          <a:xfrm>
            <a:off x="931545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Quantise and export the models to hit the latency budget, assemble the capstone, demo, and assess.</a:t>
            </a:r>
            <a:endParaRPr lang="en-US" sz="1050" dirty="0"/>
          </a:p>
        </p:txBody>
      </p:sp>
      <p:sp>
        <p:nvSpPr>
          <p:cNvPr id="31" name="Shape 28"/>
          <p:cNvSpPr/>
          <p:nvPr/>
        </p:nvSpPr>
        <p:spPr>
          <a:xfrm>
            <a:off x="502920" y="4892040"/>
            <a:ext cx="11183112" cy="1051560"/>
          </a:xfrm>
          <a:prstGeom prst="roundRect">
            <a:avLst>
              <a:gd name="adj" fmla="val 6957"/>
            </a:avLst>
          </a:prstGeom>
          <a:solidFill>
            <a:srgbClr val="E6F5F4"/>
          </a:solidFill>
          <a:ln/>
        </p:spPr>
      </p:sp>
      <p:sp>
        <p:nvSpPr>
          <p:cNvPr id="32" name="Text 29"/>
          <p:cNvSpPr/>
          <p:nvPr/>
        </p:nvSpPr>
        <p:spPr>
          <a:xfrm>
            <a:off x="731520" y="4892040"/>
            <a:ext cx="10789920" cy="105156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200" dirty="0">
                <a:solidFill>
                  <a:srgbClr val="2B2B2B"/>
                </a:solidFill>
                <a:latin typeface="Calibri" pitchFamily="34" charset="0"/>
                <a:ea typeface="Calibri" pitchFamily="34" charset="-122"/>
                <a:cs typeface="Calibri" pitchFamily="34" charset="-120"/>
              </a:rPr>
              <a:t>Never introduce a throwaway dataset when a Bayan slice can carry the lesson — the capstone is achievable in Day 4 Hours 3-4 only because every lab already produced a component.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Learning Outcomes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مخرجات التعلم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a:t>
            </a:r>
            <a:endParaRPr lang="en-US" sz="800" dirty="0"/>
          </a:p>
        </p:txBody>
      </p:sp>
      <p:sp>
        <p:nvSpPr>
          <p:cNvPr id="8" name="Shape 5"/>
          <p:cNvSpPr/>
          <p:nvPr/>
        </p:nvSpPr>
        <p:spPr>
          <a:xfrm>
            <a:off x="502920" y="1481328"/>
            <a:ext cx="5449824" cy="1389888"/>
          </a:xfrm>
          <a:prstGeom prst="roundRect">
            <a:avLst>
              <a:gd name="adj" fmla="val 3947"/>
            </a:avLst>
          </a:prstGeom>
          <a:solidFill>
            <a:srgbClr val="F2F6F8"/>
          </a:solidFill>
          <a:ln/>
        </p:spPr>
      </p:sp>
      <p:sp>
        <p:nvSpPr>
          <p:cNvPr id="9" name="Shape 6"/>
          <p:cNvSpPr/>
          <p:nvPr/>
        </p:nvSpPr>
        <p:spPr>
          <a:xfrm>
            <a:off x="502920" y="1481328"/>
            <a:ext cx="64008" cy="1389888"/>
          </a:xfrm>
          <a:prstGeom prst="rect">
            <a:avLst/>
          </a:prstGeom>
          <a:solidFill>
            <a:srgbClr val="00A79D"/>
          </a:solidFill>
          <a:ln/>
        </p:spPr>
      </p:sp>
      <p:sp>
        <p:nvSpPr>
          <p:cNvPr id="10" name="Shape 7"/>
          <p:cNvSpPr/>
          <p:nvPr/>
        </p:nvSpPr>
        <p:spPr>
          <a:xfrm>
            <a:off x="685800" y="1609344"/>
            <a:ext cx="822960" cy="274320"/>
          </a:xfrm>
          <a:prstGeom prst="roundRect">
            <a:avLst>
              <a:gd name="adj" fmla="val 26667"/>
            </a:avLst>
          </a:prstGeom>
          <a:solidFill>
            <a:srgbClr val="1D2A5C"/>
          </a:solidFill>
          <a:ln/>
        </p:spPr>
      </p:sp>
      <p:sp>
        <p:nvSpPr>
          <p:cNvPr id="11" name="Text 8"/>
          <p:cNvSpPr/>
          <p:nvPr/>
        </p:nvSpPr>
        <p:spPr>
          <a:xfrm>
            <a:off x="685800" y="1609344"/>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LO1</a:t>
            </a:r>
            <a:endParaRPr lang="en-US" sz="1000" dirty="0"/>
          </a:p>
        </p:txBody>
      </p:sp>
      <p:sp>
        <p:nvSpPr>
          <p:cNvPr id="12" name="Text 9"/>
          <p:cNvSpPr/>
          <p:nvPr/>
        </p:nvSpPr>
        <p:spPr>
          <a:xfrm>
            <a:off x="4352544" y="1609344"/>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Lab 1 · M1</a:t>
            </a:r>
            <a:endParaRPr lang="en-US" sz="900" dirty="0"/>
          </a:p>
        </p:txBody>
      </p:sp>
      <p:sp>
        <p:nvSpPr>
          <p:cNvPr id="13" name="Text 10"/>
          <p:cNvSpPr/>
          <p:nvPr/>
        </p:nvSpPr>
        <p:spPr>
          <a:xfrm>
            <a:off x="685800" y="1938528"/>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Implement text-preprocessing and tokenisation pipelines including Arabic-specific handling</a:t>
            </a:r>
            <a:endParaRPr lang="en-US" sz="1200" dirty="0"/>
          </a:p>
        </p:txBody>
      </p:sp>
      <p:sp>
        <p:nvSpPr>
          <p:cNvPr id="14" name="Shape 11"/>
          <p:cNvSpPr/>
          <p:nvPr/>
        </p:nvSpPr>
        <p:spPr>
          <a:xfrm>
            <a:off x="6236208" y="1481328"/>
            <a:ext cx="5449824" cy="1389888"/>
          </a:xfrm>
          <a:prstGeom prst="roundRect">
            <a:avLst>
              <a:gd name="adj" fmla="val 3947"/>
            </a:avLst>
          </a:prstGeom>
          <a:solidFill>
            <a:srgbClr val="F2F6F8"/>
          </a:solidFill>
          <a:ln/>
        </p:spPr>
      </p:sp>
      <p:sp>
        <p:nvSpPr>
          <p:cNvPr id="15" name="Shape 12"/>
          <p:cNvSpPr/>
          <p:nvPr/>
        </p:nvSpPr>
        <p:spPr>
          <a:xfrm>
            <a:off x="6236208" y="1481328"/>
            <a:ext cx="64008" cy="1389888"/>
          </a:xfrm>
          <a:prstGeom prst="rect">
            <a:avLst/>
          </a:prstGeom>
          <a:solidFill>
            <a:srgbClr val="29ABE2"/>
          </a:solidFill>
          <a:ln/>
        </p:spPr>
      </p:sp>
      <p:sp>
        <p:nvSpPr>
          <p:cNvPr id="16" name="Shape 13"/>
          <p:cNvSpPr/>
          <p:nvPr/>
        </p:nvSpPr>
        <p:spPr>
          <a:xfrm>
            <a:off x="6419088" y="1609344"/>
            <a:ext cx="822960" cy="274320"/>
          </a:xfrm>
          <a:prstGeom prst="roundRect">
            <a:avLst>
              <a:gd name="adj" fmla="val 26667"/>
            </a:avLst>
          </a:prstGeom>
          <a:solidFill>
            <a:srgbClr val="1D2A5C"/>
          </a:solidFill>
          <a:ln/>
        </p:spPr>
      </p:sp>
      <p:sp>
        <p:nvSpPr>
          <p:cNvPr id="17" name="Text 14"/>
          <p:cNvSpPr/>
          <p:nvPr/>
        </p:nvSpPr>
        <p:spPr>
          <a:xfrm>
            <a:off x="6419088" y="1609344"/>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LO2</a:t>
            </a:r>
            <a:endParaRPr lang="en-US" sz="1000" dirty="0"/>
          </a:p>
        </p:txBody>
      </p:sp>
      <p:sp>
        <p:nvSpPr>
          <p:cNvPr id="18" name="Text 15"/>
          <p:cNvSpPr/>
          <p:nvPr/>
        </p:nvSpPr>
        <p:spPr>
          <a:xfrm>
            <a:off x="10085832" y="1609344"/>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Lab 2 · M2</a:t>
            </a:r>
            <a:endParaRPr lang="en-US" sz="900" dirty="0"/>
          </a:p>
        </p:txBody>
      </p:sp>
      <p:sp>
        <p:nvSpPr>
          <p:cNvPr id="19" name="Text 16"/>
          <p:cNvSpPr/>
          <p:nvPr/>
        </p:nvSpPr>
        <p:spPr>
          <a:xfrm>
            <a:off x="6419088" y="1938528"/>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Explain attention mechanisms and the transformer architecture</a:t>
            </a:r>
            <a:endParaRPr lang="en-US" sz="1200" dirty="0"/>
          </a:p>
        </p:txBody>
      </p:sp>
      <p:sp>
        <p:nvSpPr>
          <p:cNvPr id="20" name="Shape 17"/>
          <p:cNvSpPr/>
          <p:nvPr/>
        </p:nvSpPr>
        <p:spPr>
          <a:xfrm>
            <a:off x="502920" y="3072384"/>
            <a:ext cx="5449824" cy="1389888"/>
          </a:xfrm>
          <a:prstGeom prst="roundRect">
            <a:avLst>
              <a:gd name="adj" fmla="val 3947"/>
            </a:avLst>
          </a:prstGeom>
          <a:solidFill>
            <a:srgbClr val="F2F6F8"/>
          </a:solidFill>
          <a:ln/>
        </p:spPr>
      </p:sp>
      <p:sp>
        <p:nvSpPr>
          <p:cNvPr id="21" name="Shape 18"/>
          <p:cNvSpPr/>
          <p:nvPr/>
        </p:nvSpPr>
        <p:spPr>
          <a:xfrm>
            <a:off x="502920" y="3072384"/>
            <a:ext cx="64008" cy="1389888"/>
          </a:xfrm>
          <a:prstGeom prst="rect">
            <a:avLst/>
          </a:prstGeom>
          <a:solidFill>
            <a:srgbClr val="F7941D"/>
          </a:solidFill>
          <a:ln/>
        </p:spPr>
      </p:sp>
      <p:sp>
        <p:nvSpPr>
          <p:cNvPr id="22" name="Shape 19"/>
          <p:cNvSpPr/>
          <p:nvPr/>
        </p:nvSpPr>
        <p:spPr>
          <a:xfrm>
            <a:off x="685800" y="3200400"/>
            <a:ext cx="822960" cy="274320"/>
          </a:xfrm>
          <a:prstGeom prst="roundRect">
            <a:avLst>
              <a:gd name="adj" fmla="val 26667"/>
            </a:avLst>
          </a:prstGeom>
          <a:solidFill>
            <a:srgbClr val="1D2A5C"/>
          </a:solidFill>
          <a:ln/>
        </p:spPr>
      </p:sp>
      <p:sp>
        <p:nvSpPr>
          <p:cNvPr id="23" name="Text 20"/>
          <p:cNvSpPr/>
          <p:nvPr/>
        </p:nvSpPr>
        <p:spPr>
          <a:xfrm>
            <a:off x="685800" y="32004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LO3</a:t>
            </a:r>
            <a:endParaRPr lang="en-US" sz="1000" dirty="0"/>
          </a:p>
        </p:txBody>
      </p:sp>
      <p:sp>
        <p:nvSpPr>
          <p:cNvPr id="24" name="Text 21"/>
          <p:cNvSpPr/>
          <p:nvPr/>
        </p:nvSpPr>
        <p:spPr>
          <a:xfrm>
            <a:off x="4352544" y="3200400"/>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Lab 3 · M3</a:t>
            </a:r>
            <a:endParaRPr lang="en-US" sz="900" dirty="0"/>
          </a:p>
        </p:txBody>
      </p:sp>
      <p:sp>
        <p:nvSpPr>
          <p:cNvPr id="25" name="Text 22"/>
          <p:cNvSpPr/>
          <p:nvPr/>
        </p:nvSpPr>
        <p:spPr>
          <a:xfrm>
            <a:off x="685800" y="3529584"/>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Fine-tune pretrained transformer models for classification, NER, and QA tasks</a:t>
            </a:r>
            <a:endParaRPr lang="en-US" sz="1200" dirty="0"/>
          </a:p>
        </p:txBody>
      </p:sp>
      <p:sp>
        <p:nvSpPr>
          <p:cNvPr id="26" name="Shape 23"/>
          <p:cNvSpPr/>
          <p:nvPr/>
        </p:nvSpPr>
        <p:spPr>
          <a:xfrm>
            <a:off x="6236208" y="3072384"/>
            <a:ext cx="5449824" cy="1389888"/>
          </a:xfrm>
          <a:prstGeom prst="roundRect">
            <a:avLst>
              <a:gd name="adj" fmla="val 3947"/>
            </a:avLst>
          </a:prstGeom>
          <a:solidFill>
            <a:srgbClr val="F2F6F8"/>
          </a:solidFill>
          <a:ln/>
        </p:spPr>
      </p:sp>
      <p:sp>
        <p:nvSpPr>
          <p:cNvPr id="27" name="Shape 24"/>
          <p:cNvSpPr/>
          <p:nvPr/>
        </p:nvSpPr>
        <p:spPr>
          <a:xfrm>
            <a:off x="6236208" y="3072384"/>
            <a:ext cx="64008" cy="1389888"/>
          </a:xfrm>
          <a:prstGeom prst="rect">
            <a:avLst/>
          </a:prstGeom>
          <a:solidFill>
            <a:srgbClr val="8CC63F"/>
          </a:solidFill>
          <a:ln/>
        </p:spPr>
      </p:sp>
      <p:sp>
        <p:nvSpPr>
          <p:cNvPr id="28" name="Shape 25"/>
          <p:cNvSpPr/>
          <p:nvPr/>
        </p:nvSpPr>
        <p:spPr>
          <a:xfrm>
            <a:off x="6419088" y="3200400"/>
            <a:ext cx="822960" cy="274320"/>
          </a:xfrm>
          <a:prstGeom prst="roundRect">
            <a:avLst>
              <a:gd name="adj" fmla="val 26667"/>
            </a:avLst>
          </a:prstGeom>
          <a:solidFill>
            <a:srgbClr val="1D2A5C"/>
          </a:solidFill>
          <a:ln/>
        </p:spPr>
      </p:sp>
      <p:sp>
        <p:nvSpPr>
          <p:cNvPr id="29" name="Text 26"/>
          <p:cNvSpPr/>
          <p:nvPr/>
        </p:nvSpPr>
        <p:spPr>
          <a:xfrm>
            <a:off x="6419088" y="32004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LO4</a:t>
            </a:r>
            <a:endParaRPr lang="en-US" sz="1000" dirty="0"/>
          </a:p>
        </p:txBody>
      </p:sp>
      <p:sp>
        <p:nvSpPr>
          <p:cNvPr id="30" name="Text 27"/>
          <p:cNvSpPr/>
          <p:nvPr/>
        </p:nvSpPr>
        <p:spPr>
          <a:xfrm>
            <a:off x="10085832" y="3200400"/>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Lab 5 · M5</a:t>
            </a:r>
            <a:endParaRPr lang="en-US" sz="900" dirty="0"/>
          </a:p>
        </p:txBody>
      </p:sp>
      <p:sp>
        <p:nvSpPr>
          <p:cNvPr id="31" name="Text 28"/>
          <p:cNvSpPr/>
          <p:nvPr/>
        </p:nvSpPr>
        <p:spPr>
          <a:xfrm>
            <a:off x="6419088" y="3529584"/>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Develop embedding-based semantic search and similarity applications</a:t>
            </a:r>
            <a:endParaRPr lang="en-US" sz="1200" dirty="0"/>
          </a:p>
        </p:txBody>
      </p:sp>
      <p:sp>
        <p:nvSpPr>
          <p:cNvPr id="32" name="Shape 29"/>
          <p:cNvSpPr/>
          <p:nvPr/>
        </p:nvSpPr>
        <p:spPr>
          <a:xfrm>
            <a:off x="502920" y="4663440"/>
            <a:ext cx="5449824" cy="1389888"/>
          </a:xfrm>
          <a:prstGeom prst="roundRect">
            <a:avLst>
              <a:gd name="adj" fmla="val 3947"/>
            </a:avLst>
          </a:prstGeom>
          <a:solidFill>
            <a:srgbClr val="F2F6F8"/>
          </a:solidFill>
          <a:ln/>
        </p:spPr>
      </p:sp>
      <p:sp>
        <p:nvSpPr>
          <p:cNvPr id="33" name="Shape 30"/>
          <p:cNvSpPr/>
          <p:nvPr/>
        </p:nvSpPr>
        <p:spPr>
          <a:xfrm>
            <a:off x="502920" y="4663440"/>
            <a:ext cx="64008" cy="1389888"/>
          </a:xfrm>
          <a:prstGeom prst="rect">
            <a:avLst/>
          </a:prstGeom>
          <a:solidFill>
            <a:srgbClr val="00A79D"/>
          </a:solidFill>
          <a:ln/>
        </p:spPr>
      </p:sp>
      <p:sp>
        <p:nvSpPr>
          <p:cNvPr id="34" name="Shape 31"/>
          <p:cNvSpPr/>
          <p:nvPr/>
        </p:nvSpPr>
        <p:spPr>
          <a:xfrm>
            <a:off x="685800" y="4791456"/>
            <a:ext cx="822960" cy="274320"/>
          </a:xfrm>
          <a:prstGeom prst="roundRect">
            <a:avLst>
              <a:gd name="adj" fmla="val 26667"/>
            </a:avLst>
          </a:prstGeom>
          <a:solidFill>
            <a:srgbClr val="1D2A5C"/>
          </a:solidFill>
          <a:ln/>
        </p:spPr>
      </p:sp>
      <p:sp>
        <p:nvSpPr>
          <p:cNvPr id="35" name="Text 32"/>
          <p:cNvSpPr/>
          <p:nvPr/>
        </p:nvSpPr>
        <p:spPr>
          <a:xfrm>
            <a:off x="685800" y="4791456"/>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LO5</a:t>
            </a:r>
            <a:endParaRPr lang="en-US" sz="1000" dirty="0"/>
          </a:p>
        </p:txBody>
      </p:sp>
      <p:sp>
        <p:nvSpPr>
          <p:cNvPr id="36" name="Text 33"/>
          <p:cNvSpPr/>
          <p:nvPr/>
        </p:nvSpPr>
        <p:spPr>
          <a:xfrm>
            <a:off x="4352544" y="4791456"/>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Lab 6 · M6</a:t>
            </a:r>
            <a:endParaRPr lang="en-US" sz="900" dirty="0"/>
          </a:p>
        </p:txBody>
      </p:sp>
      <p:sp>
        <p:nvSpPr>
          <p:cNvPr id="37" name="Text 34"/>
          <p:cNvSpPr/>
          <p:nvPr/>
        </p:nvSpPr>
        <p:spPr>
          <a:xfrm>
            <a:off x="685800" y="5120640"/>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Evaluate NLP models with task-appropriate metrics and error analysis</a:t>
            </a:r>
            <a:endParaRPr lang="en-US" sz="1200" dirty="0"/>
          </a:p>
        </p:txBody>
      </p:sp>
      <p:sp>
        <p:nvSpPr>
          <p:cNvPr id="38" name="Shape 35"/>
          <p:cNvSpPr/>
          <p:nvPr/>
        </p:nvSpPr>
        <p:spPr>
          <a:xfrm>
            <a:off x="6236208" y="4663440"/>
            <a:ext cx="5449824" cy="1389888"/>
          </a:xfrm>
          <a:prstGeom prst="roundRect">
            <a:avLst>
              <a:gd name="adj" fmla="val 3947"/>
            </a:avLst>
          </a:prstGeom>
          <a:solidFill>
            <a:srgbClr val="F2F6F8"/>
          </a:solidFill>
          <a:ln/>
        </p:spPr>
      </p:sp>
      <p:sp>
        <p:nvSpPr>
          <p:cNvPr id="39" name="Shape 36"/>
          <p:cNvSpPr/>
          <p:nvPr/>
        </p:nvSpPr>
        <p:spPr>
          <a:xfrm>
            <a:off x="6236208" y="4663440"/>
            <a:ext cx="64008" cy="1389888"/>
          </a:xfrm>
          <a:prstGeom prst="rect">
            <a:avLst/>
          </a:prstGeom>
          <a:solidFill>
            <a:srgbClr val="29ABE2"/>
          </a:solidFill>
          <a:ln/>
        </p:spPr>
      </p:sp>
      <p:sp>
        <p:nvSpPr>
          <p:cNvPr id="40" name="Shape 37"/>
          <p:cNvSpPr/>
          <p:nvPr/>
        </p:nvSpPr>
        <p:spPr>
          <a:xfrm>
            <a:off x="6419088" y="4791456"/>
            <a:ext cx="822960" cy="274320"/>
          </a:xfrm>
          <a:prstGeom prst="roundRect">
            <a:avLst>
              <a:gd name="adj" fmla="val 26667"/>
            </a:avLst>
          </a:prstGeom>
          <a:solidFill>
            <a:srgbClr val="1D2A5C"/>
          </a:solidFill>
          <a:ln/>
        </p:spPr>
      </p:sp>
      <p:sp>
        <p:nvSpPr>
          <p:cNvPr id="41" name="Text 38"/>
          <p:cNvSpPr/>
          <p:nvPr/>
        </p:nvSpPr>
        <p:spPr>
          <a:xfrm>
            <a:off x="6419088" y="4791456"/>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LO6</a:t>
            </a:r>
            <a:endParaRPr lang="en-US" sz="1000" dirty="0"/>
          </a:p>
        </p:txBody>
      </p:sp>
      <p:sp>
        <p:nvSpPr>
          <p:cNvPr id="42" name="Text 39"/>
          <p:cNvSpPr/>
          <p:nvPr/>
        </p:nvSpPr>
        <p:spPr>
          <a:xfrm>
            <a:off x="10085832" y="4791456"/>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Lab 7 · M7</a:t>
            </a:r>
            <a:endParaRPr lang="en-US" sz="900" dirty="0"/>
          </a:p>
        </p:txBody>
      </p:sp>
      <p:sp>
        <p:nvSpPr>
          <p:cNvPr id="43" name="Text 40"/>
          <p:cNvSpPr/>
          <p:nvPr/>
        </p:nvSpPr>
        <p:spPr>
          <a:xfrm>
            <a:off x="6419088" y="5120640"/>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Optimize inference speed and memory for transformer deployment</a:t>
            </a:r>
            <a:endParaRPr lang="en-US" sz="1200" dirty="0"/>
          </a:p>
        </p:txBody>
      </p:sp>
      <p:sp>
        <p:nvSpPr>
          <p:cNvPr id="44" name="Text 41"/>
          <p:cNvSpPr/>
          <p:nvPr/>
        </p:nvSpPr>
        <p:spPr>
          <a:xfrm>
            <a:off x="502920" y="6126480"/>
            <a:ext cx="11155680"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Every LO is assessed twice: in its own lab (60% weight) and again inside the Bayan capstone (40%).</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Four-Day Delivery Plan</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خطة التنفيذ على أربعة أيام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097280"/>
                <a:gridCol w="2286000"/>
                <a:gridCol w="3291840"/>
                <a:gridCol w="1216152"/>
                <a:gridCol w="329184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Theme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Modules</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Theory/Lab</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Deliverable at End of Day</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Day 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From text to tensors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M1 Tokenisation &amp; Embeddings · M2 Attention &amp; Transformers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45/55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Bilingual preprocessing pipeline + annotated attention-map notebook</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Day 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Make the model yours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M3 Fine-tuning BERT-family (cls, NER, QA) · M4 intro Arabic NLP</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40/60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Fine-tuned topic/sentiment classifier + NER model on the Bayan corpus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Day 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Arabic depth, search, and truth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M4 Arabic NLP labs · M5 Semantic Search · M6 Evaluation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40/60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Arabic-tuned models + bilingual search index + sliced evaluation report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Day 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Fast, cheap, shipped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M7 Inference Optimisation &amp; Serving · Capstone assembly · Demos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30/70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Quantised/exported models meeting latency budget + capstone demo + assessment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Lab share rises from 55% to 70% across the week; Day 4 afternoon is deliberately light on theory so capstone assembly starts on time.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Assessment Split &amp; Course Shape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تقسيم التقييم وشكل الدورة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a:t>
            </a:r>
            <a:endParaRPr lang="en-US" sz="800" dirty="0"/>
          </a:p>
        </p:txBody>
      </p:sp>
      <p:sp>
        <p:nvSpPr>
          <p:cNvPr id="8" name="Shape 5"/>
          <p:cNvSpPr/>
          <p:nvPr/>
        </p:nvSpPr>
        <p:spPr>
          <a:xfrm>
            <a:off x="502920" y="1828800"/>
            <a:ext cx="2555748" cy="3017520"/>
          </a:xfrm>
          <a:prstGeom prst="roundRect">
            <a:avLst>
              <a:gd name="adj" fmla="val 2862"/>
            </a:avLst>
          </a:prstGeom>
          <a:solidFill>
            <a:srgbClr val="F2F6F8"/>
          </a:solidFill>
          <a:ln/>
        </p:spPr>
      </p:sp>
      <p:sp>
        <p:nvSpPr>
          <p:cNvPr id="9" name="Text 6"/>
          <p:cNvSpPr/>
          <p:nvPr/>
        </p:nvSpPr>
        <p:spPr>
          <a:xfrm>
            <a:off x="640080" y="2103120"/>
            <a:ext cx="2281428" cy="914400"/>
          </a:xfrm>
          <a:prstGeom prst="rect">
            <a:avLst/>
          </a:prstGeom>
          <a:noFill/>
          <a:ln/>
        </p:spPr>
        <p:txBody>
          <a:bodyPr wrap="square" lIns="0" tIns="0" rIns="0" bIns="0"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60%</a:t>
            </a:r>
            <a:endParaRPr lang="en-US" sz="4000" dirty="0"/>
          </a:p>
        </p:txBody>
      </p:sp>
      <p:sp>
        <p:nvSpPr>
          <p:cNvPr id="10" name="Text 7"/>
          <p:cNvSpPr/>
          <p:nvPr/>
        </p:nvSpPr>
        <p:spPr>
          <a:xfrm>
            <a:off x="640080"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Labs</a:t>
            </a:r>
            <a:endParaRPr lang="en-US" sz="1300" dirty="0"/>
          </a:p>
        </p:txBody>
      </p:sp>
      <p:sp>
        <p:nvSpPr>
          <p:cNvPr id="11" name="Text 8"/>
          <p:cNvSpPr/>
          <p:nvPr/>
        </p:nvSpPr>
        <p:spPr>
          <a:xfrm>
            <a:off x="667512"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Seven graded labs — each one builds and hands over a working component of the Bayan service.</a:t>
            </a:r>
            <a:endParaRPr lang="en-US" sz="1000" dirty="0"/>
          </a:p>
        </p:txBody>
      </p:sp>
      <p:sp>
        <p:nvSpPr>
          <p:cNvPr id="12" name="Shape 9"/>
          <p:cNvSpPr/>
          <p:nvPr/>
        </p:nvSpPr>
        <p:spPr>
          <a:xfrm>
            <a:off x="3378708" y="1828800"/>
            <a:ext cx="2555748" cy="3017520"/>
          </a:xfrm>
          <a:prstGeom prst="roundRect">
            <a:avLst>
              <a:gd name="adj" fmla="val 2862"/>
            </a:avLst>
          </a:prstGeom>
          <a:solidFill>
            <a:srgbClr val="F2F6F8"/>
          </a:solidFill>
          <a:ln/>
        </p:spPr>
      </p:sp>
      <p:sp>
        <p:nvSpPr>
          <p:cNvPr id="13" name="Text 10"/>
          <p:cNvSpPr/>
          <p:nvPr/>
        </p:nvSpPr>
        <p:spPr>
          <a:xfrm>
            <a:off x="3515868" y="2103120"/>
            <a:ext cx="2281428" cy="914400"/>
          </a:xfrm>
          <a:prstGeom prst="rect">
            <a:avLst/>
          </a:prstGeom>
          <a:noFill/>
          <a:ln/>
        </p:spPr>
        <p:txBody>
          <a:bodyPr wrap="square" lIns="0" tIns="0" rIns="0" bIns="0" rtlCol="0" anchor="ctr"/>
          <a:lstStyle/>
          <a:p>
            <a:pPr algn="ctr" indent="0" marL="0">
              <a:buNone/>
            </a:pPr>
            <a:r>
              <a:rPr lang="en-US" sz="4000" b="1" dirty="0">
                <a:solidFill>
                  <a:srgbClr val="29ABE2"/>
                </a:solidFill>
                <a:latin typeface="Calibri" pitchFamily="34" charset="0"/>
                <a:ea typeface="Calibri" pitchFamily="34" charset="-122"/>
                <a:cs typeface="Calibri" pitchFamily="34" charset="-120"/>
              </a:rPr>
              <a:t>40%</a:t>
            </a:r>
            <a:endParaRPr lang="en-US" sz="4000" dirty="0"/>
          </a:p>
        </p:txBody>
      </p:sp>
      <p:sp>
        <p:nvSpPr>
          <p:cNvPr id="14" name="Text 11"/>
          <p:cNvSpPr/>
          <p:nvPr/>
        </p:nvSpPr>
        <p:spPr>
          <a:xfrm>
            <a:off x="3515868"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Project</a:t>
            </a:r>
            <a:endParaRPr lang="en-US" sz="1300" dirty="0"/>
          </a:p>
        </p:txBody>
      </p:sp>
      <p:sp>
        <p:nvSpPr>
          <p:cNvPr id="15" name="Text 12"/>
          <p:cNvSpPr/>
          <p:nvPr/>
        </p:nvSpPr>
        <p:spPr>
          <a:xfrm>
            <a:off x="3543300"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Arabic/English NLP application project: the assembled Bayan capstone, scored live by rubric during Day 4 demos.</a:t>
            </a:r>
            <a:endParaRPr lang="en-US" sz="1000" dirty="0"/>
          </a:p>
        </p:txBody>
      </p:sp>
      <p:sp>
        <p:nvSpPr>
          <p:cNvPr id="16" name="Shape 13"/>
          <p:cNvSpPr/>
          <p:nvPr/>
        </p:nvSpPr>
        <p:spPr>
          <a:xfrm>
            <a:off x="6254496" y="1828800"/>
            <a:ext cx="2555748" cy="3017520"/>
          </a:xfrm>
          <a:prstGeom prst="roundRect">
            <a:avLst>
              <a:gd name="adj" fmla="val 2862"/>
            </a:avLst>
          </a:prstGeom>
          <a:solidFill>
            <a:srgbClr val="F2F6F8"/>
          </a:solidFill>
          <a:ln/>
        </p:spPr>
      </p:sp>
      <p:sp>
        <p:nvSpPr>
          <p:cNvPr id="17" name="Text 14"/>
          <p:cNvSpPr/>
          <p:nvPr/>
        </p:nvSpPr>
        <p:spPr>
          <a:xfrm>
            <a:off x="6391656" y="2103120"/>
            <a:ext cx="2281428" cy="914400"/>
          </a:xfrm>
          <a:prstGeom prst="rect">
            <a:avLst/>
          </a:prstGeom>
          <a:noFill/>
          <a:ln/>
        </p:spPr>
        <p:txBody>
          <a:bodyPr wrap="square" lIns="0" tIns="0" rIns="0" bIns="0" rtlCol="0" anchor="ctr"/>
          <a:lstStyle/>
          <a:p>
            <a:pPr algn="ctr" indent="0" marL="0">
              <a:buNone/>
            </a:pPr>
            <a:r>
              <a:rPr lang="en-US" sz="4000" b="1" dirty="0">
                <a:solidFill>
                  <a:srgbClr val="F7941D"/>
                </a:solidFill>
                <a:latin typeface="Calibri" pitchFamily="34" charset="0"/>
                <a:ea typeface="Calibri" pitchFamily="34" charset="-122"/>
                <a:cs typeface="Calibri" pitchFamily="34" charset="-120"/>
              </a:rPr>
              <a:t>20 h</a:t>
            </a:r>
            <a:endParaRPr lang="en-US" sz="4000" dirty="0"/>
          </a:p>
        </p:txBody>
      </p:sp>
      <p:sp>
        <p:nvSpPr>
          <p:cNvPr id="18" name="Text 15"/>
          <p:cNvSpPr/>
          <p:nvPr/>
        </p:nvSpPr>
        <p:spPr>
          <a:xfrm>
            <a:off x="6391656"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Learning hours</a:t>
            </a:r>
            <a:endParaRPr lang="en-US" sz="1300" dirty="0"/>
          </a:p>
        </p:txBody>
      </p:sp>
      <p:sp>
        <p:nvSpPr>
          <p:cNvPr id="19" name="Text 16"/>
          <p:cNvSpPr/>
          <p:nvPr/>
        </p:nvSpPr>
        <p:spPr>
          <a:xfrm>
            <a:off x="6419088"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4 days × 5 hours; each hour is 50 minutes of instruction plus a 10-minute buffer.</a:t>
            </a:r>
            <a:endParaRPr lang="en-US" sz="1000" dirty="0"/>
          </a:p>
        </p:txBody>
      </p:sp>
      <p:sp>
        <p:nvSpPr>
          <p:cNvPr id="20" name="Shape 17"/>
          <p:cNvSpPr/>
          <p:nvPr/>
        </p:nvSpPr>
        <p:spPr>
          <a:xfrm>
            <a:off x="9130284" y="1828800"/>
            <a:ext cx="2555748" cy="3017520"/>
          </a:xfrm>
          <a:prstGeom prst="roundRect">
            <a:avLst>
              <a:gd name="adj" fmla="val 2862"/>
            </a:avLst>
          </a:prstGeom>
          <a:solidFill>
            <a:srgbClr val="F2F6F8"/>
          </a:solidFill>
          <a:ln/>
        </p:spPr>
      </p:sp>
      <p:sp>
        <p:nvSpPr>
          <p:cNvPr id="21" name="Text 18"/>
          <p:cNvSpPr/>
          <p:nvPr/>
        </p:nvSpPr>
        <p:spPr>
          <a:xfrm>
            <a:off x="9267444" y="2103120"/>
            <a:ext cx="2281428" cy="914400"/>
          </a:xfrm>
          <a:prstGeom prst="rect">
            <a:avLst/>
          </a:prstGeom>
          <a:noFill/>
          <a:ln/>
        </p:spPr>
        <p:txBody>
          <a:bodyPr wrap="square" lIns="0" tIns="0" rIns="0" bIns="0" rtlCol="0" anchor="ctr"/>
          <a:lstStyle/>
          <a:p>
            <a:pPr algn="ctr" indent="0" marL="0">
              <a:buNone/>
            </a:pPr>
            <a:r>
              <a:rPr lang="en-US" sz="4000" b="1" dirty="0">
                <a:solidFill>
                  <a:srgbClr val="8CC63F"/>
                </a:solidFill>
                <a:latin typeface="Calibri" pitchFamily="34" charset="0"/>
                <a:ea typeface="Calibri" pitchFamily="34" charset="-122"/>
                <a:cs typeface="Calibri" pitchFamily="34" charset="-120"/>
              </a:rPr>
              <a:t>7</a:t>
            </a:r>
            <a:endParaRPr lang="en-US" sz="4000" dirty="0"/>
          </a:p>
        </p:txBody>
      </p:sp>
      <p:sp>
        <p:nvSpPr>
          <p:cNvPr id="22" name="Text 19"/>
          <p:cNvSpPr/>
          <p:nvPr/>
        </p:nvSpPr>
        <p:spPr>
          <a:xfrm>
            <a:off x="9267444"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Modules</a:t>
            </a:r>
            <a:endParaRPr lang="en-US" sz="1300" dirty="0"/>
          </a:p>
        </p:txBody>
      </p:sp>
      <p:sp>
        <p:nvSpPr>
          <p:cNvPr id="23" name="Text 20"/>
          <p:cNvSpPr/>
          <p:nvPr/>
        </p:nvSpPr>
        <p:spPr>
          <a:xfrm>
            <a:off x="9294876"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Tokenisation, transformers, fine-tuning, Arabic NLP, semantic search, evaluation, inference optimisation.</a:t>
            </a:r>
            <a:endParaRPr lang="en-US" sz="1000" dirty="0"/>
          </a:p>
        </p:txBody>
      </p:sp>
      <p:sp>
        <p:nvSpPr>
          <p:cNvPr id="24" name="Shape 21"/>
          <p:cNvSpPr/>
          <p:nvPr/>
        </p:nvSpPr>
        <p:spPr>
          <a:xfrm>
            <a:off x="502920" y="5212080"/>
            <a:ext cx="11183112" cy="868680"/>
          </a:xfrm>
          <a:prstGeom prst="roundRect">
            <a:avLst>
              <a:gd name="adj" fmla="val 8421"/>
            </a:avLst>
          </a:prstGeom>
          <a:solidFill>
            <a:srgbClr val="E6F5F4"/>
          </a:solidFill>
          <a:ln/>
        </p:spPr>
      </p:sp>
      <p:sp>
        <p:nvSpPr>
          <p:cNvPr id="25" name="Text 22"/>
          <p:cNvSpPr/>
          <p:nvPr/>
        </p:nvSpPr>
        <p:spPr>
          <a:xfrm>
            <a:off x="731520" y="5212080"/>
            <a:ext cx="10744200" cy="8686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READ THE NUMBERS   </a:t>
            </a:r>
            <a:pPr indent="0" marL="0">
              <a:buNone/>
            </a:pPr>
            <a:r>
              <a:rPr lang="en-US" sz="1150" dirty="0">
                <a:solidFill>
                  <a:srgbClr val="2B2B2B"/>
                </a:solidFill>
                <a:latin typeface="Calibri" pitchFamily="34" charset="0"/>
                <a:ea typeface="Calibri" pitchFamily="34" charset="-122"/>
                <a:cs typeface="Calibri" pitchFamily="34" charset="-120"/>
              </a:rPr>
              <a:t>Assessment logistics: collect repository URLs and evaluation reports at the end of Day 4 Hour 4 so metric claims can be spot-verified before demos begin.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Environment &amp; Tooling Strategy</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استراتيجية البيئة والأدوات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a:t>
            </a:r>
            <a:endParaRPr lang="en-US" sz="800" dirty="0"/>
          </a:p>
        </p:txBody>
      </p:sp>
      <p:sp>
        <p:nvSpPr>
          <p:cNvPr id="8" name="Shape 5"/>
          <p:cNvSpPr/>
          <p:nvPr/>
        </p:nvSpPr>
        <p:spPr>
          <a:xfrm>
            <a:off x="502920" y="1517904"/>
            <a:ext cx="3544824" cy="2286000"/>
          </a:xfrm>
          <a:prstGeom prst="roundRect">
            <a:avLst>
              <a:gd name="adj" fmla="val 2400"/>
            </a:avLst>
          </a:prstGeom>
          <a:solidFill>
            <a:srgbClr val="F2F6F8"/>
          </a:solidFill>
          <a:ln/>
        </p:spPr>
      </p:sp>
      <p:sp>
        <p:nvSpPr>
          <p:cNvPr id="9" name="Shape 6"/>
          <p:cNvSpPr/>
          <p:nvPr/>
        </p:nvSpPr>
        <p:spPr>
          <a:xfrm>
            <a:off x="502920" y="1517904"/>
            <a:ext cx="82296" cy="2286000"/>
          </a:xfrm>
          <a:prstGeom prst="rect">
            <a:avLst/>
          </a:prstGeom>
          <a:solidFill>
            <a:srgbClr val="00A79D"/>
          </a:solidFill>
          <a:ln/>
        </p:spPr>
      </p:sp>
      <p:sp>
        <p:nvSpPr>
          <p:cNvPr id="10" name="Text 7"/>
          <p:cNvSpPr/>
          <p:nvPr/>
        </p:nvSpPr>
        <p:spPr>
          <a:xfrm>
            <a:off x="722376" y="163677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PRIMARY COMPUTE</a:t>
            </a:r>
            <a:endParaRPr lang="en-US" sz="950" dirty="0"/>
          </a:p>
        </p:txBody>
      </p:sp>
      <p:sp>
        <p:nvSpPr>
          <p:cNvPr id="11" name="Text 8"/>
          <p:cNvSpPr/>
          <p:nvPr/>
        </p:nvSpPr>
        <p:spPr>
          <a:xfrm>
            <a:off x="722376"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GPU pool or Colab</a:t>
            </a:r>
            <a:endParaRPr lang="en-US" sz="1450" dirty="0"/>
          </a:p>
        </p:txBody>
      </p:sp>
      <p:sp>
        <p:nvSpPr>
          <p:cNvPr id="12" name="Text 9"/>
          <p:cNvSpPr/>
          <p:nvPr/>
        </p:nvSpPr>
        <p:spPr>
          <a:xfrm>
            <a:off x="722376"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One T4-class GPU per pair from the shared pool, or Colab-style hosted notebooks. Lab 3 timings assume GPU — verify the week before delivery.</a:t>
            </a:r>
            <a:endParaRPr lang="en-US" sz="1050" dirty="0"/>
          </a:p>
        </p:txBody>
      </p:sp>
      <p:sp>
        <p:nvSpPr>
          <p:cNvPr id="13" name="Shape 10"/>
          <p:cNvSpPr/>
          <p:nvPr/>
        </p:nvSpPr>
        <p:spPr>
          <a:xfrm>
            <a:off x="4322064" y="1517904"/>
            <a:ext cx="3544824" cy="2286000"/>
          </a:xfrm>
          <a:prstGeom prst="roundRect">
            <a:avLst>
              <a:gd name="adj" fmla="val 2400"/>
            </a:avLst>
          </a:prstGeom>
          <a:solidFill>
            <a:srgbClr val="F2F6F8"/>
          </a:solidFill>
          <a:ln/>
        </p:spPr>
      </p:sp>
      <p:sp>
        <p:nvSpPr>
          <p:cNvPr id="14" name="Shape 11"/>
          <p:cNvSpPr/>
          <p:nvPr/>
        </p:nvSpPr>
        <p:spPr>
          <a:xfrm>
            <a:off x="4322064" y="1517904"/>
            <a:ext cx="82296" cy="2286000"/>
          </a:xfrm>
          <a:prstGeom prst="rect">
            <a:avLst/>
          </a:prstGeom>
          <a:solidFill>
            <a:srgbClr val="29ABE2"/>
          </a:solidFill>
          <a:ln/>
        </p:spPr>
      </p:sp>
      <p:sp>
        <p:nvSpPr>
          <p:cNvPr id="15" name="Text 12"/>
          <p:cNvSpPr/>
          <p:nvPr/>
        </p:nvSpPr>
        <p:spPr>
          <a:xfrm>
            <a:off x="4541520" y="163677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FALLBACK</a:t>
            </a:r>
            <a:endParaRPr lang="en-US" sz="950" dirty="0"/>
          </a:p>
        </p:txBody>
      </p:sp>
      <p:sp>
        <p:nvSpPr>
          <p:cNvPr id="16" name="Text 13"/>
          <p:cNvSpPr/>
          <p:nvPr/>
        </p:nvSpPr>
        <p:spPr>
          <a:xfrm>
            <a:off x="4541520"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CPU path</a:t>
            </a:r>
            <a:endParaRPr lang="en-US" sz="1450" dirty="0"/>
          </a:p>
        </p:txBody>
      </p:sp>
      <p:sp>
        <p:nvSpPr>
          <p:cNvPr id="17" name="Text 14"/>
          <p:cNvSpPr/>
          <p:nvPr/>
        </p:nvSpPr>
        <p:spPr>
          <a:xfrm>
            <a:off x="4541520"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CPU with the provided small models (DistilBERT / MiniLM variants) and reduced epochs. Dry-run this path too, end to end, on a clean machine.</a:t>
            </a:r>
            <a:endParaRPr lang="en-US" sz="1050" dirty="0"/>
          </a:p>
        </p:txBody>
      </p:sp>
      <p:sp>
        <p:nvSpPr>
          <p:cNvPr id="18" name="Shape 15"/>
          <p:cNvSpPr/>
          <p:nvPr/>
        </p:nvSpPr>
        <p:spPr>
          <a:xfrm>
            <a:off x="8141208" y="1517904"/>
            <a:ext cx="3544824" cy="2286000"/>
          </a:xfrm>
          <a:prstGeom prst="roundRect">
            <a:avLst>
              <a:gd name="adj" fmla="val 2400"/>
            </a:avLst>
          </a:prstGeom>
          <a:solidFill>
            <a:srgbClr val="F2F6F8"/>
          </a:solidFill>
          <a:ln/>
        </p:spPr>
      </p:sp>
      <p:sp>
        <p:nvSpPr>
          <p:cNvPr id="19" name="Shape 16"/>
          <p:cNvSpPr/>
          <p:nvPr/>
        </p:nvSpPr>
        <p:spPr>
          <a:xfrm>
            <a:off x="8141208" y="1517904"/>
            <a:ext cx="82296" cy="2286000"/>
          </a:xfrm>
          <a:prstGeom prst="rect">
            <a:avLst/>
          </a:prstGeom>
          <a:solidFill>
            <a:srgbClr val="F7941D"/>
          </a:solidFill>
          <a:ln/>
        </p:spPr>
      </p:sp>
      <p:sp>
        <p:nvSpPr>
          <p:cNvPr id="20" name="Text 17"/>
          <p:cNvSpPr/>
          <p:nvPr/>
        </p:nvSpPr>
        <p:spPr>
          <a:xfrm>
            <a:off x="8360664" y="1636776"/>
            <a:ext cx="3133344"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CHECKPOINTS</a:t>
            </a:r>
            <a:endParaRPr lang="en-US" sz="950" dirty="0"/>
          </a:p>
        </p:txBody>
      </p:sp>
      <p:sp>
        <p:nvSpPr>
          <p:cNvPr id="21" name="Text 18"/>
          <p:cNvSpPr/>
          <p:nvPr/>
        </p:nvSpPr>
        <p:spPr>
          <a:xfrm>
            <a:off x="8360664"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Fast-forward branches</a:t>
            </a:r>
            <a:endParaRPr lang="en-US" sz="1450" dirty="0"/>
          </a:p>
        </p:txBody>
      </p:sp>
      <p:sp>
        <p:nvSpPr>
          <p:cNvPr id="22" name="Text 19"/>
          <p:cNvSpPr/>
          <p:nvPr/>
        </p:nvSpPr>
        <p:spPr>
          <a:xfrm>
            <a:off x="8360664"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Publish lab3-start, lab3-solution, lab4-start and friends, plus fallback checkpoints on the shared drive, so stragglers rejoin without losing the thread.</a:t>
            </a:r>
            <a:endParaRPr lang="en-US" sz="1050" dirty="0"/>
          </a:p>
        </p:txBody>
      </p:sp>
      <p:sp>
        <p:nvSpPr>
          <p:cNvPr id="23" name="Shape 20"/>
          <p:cNvSpPr/>
          <p:nvPr/>
        </p:nvSpPr>
        <p:spPr>
          <a:xfrm>
            <a:off x="502920" y="4078224"/>
            <a:ext cx="3544824" cy="2286000"/>
          </a:xfrm>
          <a:prstGeom prst="roundRect">
            <a:avLst>
              <a:gd name="adj" fmla="val 2400"/>
            </a:avLst>
          </a:prstGeom>
          <a:solidFill>
            <a:srgbClr val="F2F6F8"/>
          </a:solidFill>
          <a:ln/>
        </p:spPr>
      </p:sp>
      <p:sp>
        <p:nvSpPr>
          <p:cNvPr id="24" name="Shape 21"/>
          <p:cNvSpPr/>
          <p:nvPr/>
        </p:nvSpPr>
        <p:spPr>
          <a:xfrm>
            <a:off x="502920" y="4078224"/>
            <a:ext cx="82296" cy="2286000"/>
          </a:xfrm>
          <a:prstGeom prst="rect">
            <a:avLst/>
          </a:prstGeom>
          <a:solidFill>
            <a:srgbClr val="8CC63F"/>
          </a:solidFill>
          <a:ln/>
        </p:spPr>
      </p:sp>
      <p:sp>
        <p:nvSpPr>
          <p:cNvPr id="25" name="Text 22"/>
          <p:cNvSpPr/>
          <p:nvPr/>
        </p:nvSpPr>
        <p:spPr>
          <a:xfrm>
            <a:off x="722376" y="4197096"/>
            <a:ext cx="3133344" cy="237744"/>
          </a:xfrm>
          <a:prstGeom prst="rect">
            <a:avLst/>
          </a:prstGeom>
          <a:noFill/>
          <a:ln/>
        </p:spPr>
        <p:txBody>
          <a:bodyPr wrap="square" lIns="0" tIns="0" rIns="0" bIns="0" rtlCol="0" anchor="ctr"/>
          <a:lstStyle/>
          <a:p>
            <a:pPr indent="0" marL="0">
              <a:buNone/>
            </a:pPr>
            <a:r>
              <a:rPr lang="en-US" sz="950" b="1" spc="150" kern="0" dirty="0">
                <a:solidFill>
                  <a:srgbClr val="8CC63F"/>
                </a:solidFill>
                <a:latin typeface="Calibri" pitchFamily="34" charset="0"/>
                <a:ea typeface="Calibri" pitchFamily="34" charset="-122"/>
                <a:cs typeface="Calibri" pitchFamily="34" charset="-120"/>
              </a:rPr>
              <a:t>PAIRING</a:t>
            </a:r>
            <a:endParaRPr lang="en-US" sz="950" dirty="0"/>
          </a:p>
        </p:txBody>
      </p:sp>
      <p:sp>
        <p:nvSpPr>
          <p:cNvPr id="26" name="Text 23"/>
          <p:cNvSpPr/>
          <p:nvPr/>
        </p:nvSpPr>
        <p:spPr>
          <a:xfrm>
            <a:off x="722376"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Rotate daily</a:t>
            </a:r>
            <a:endParaRPr lang="en-US" sz="1450" dirty="0"/>
          </a:p>
        </p:txBody>
      </p:sp>
      <p:sp>
        <p:nvSpPr>
          <p:cNvPr id="27" name="Text 24"/>
          <p:cNvSpPr/>
          <p:nvPr/>
        </p:nvSpPr>
        <p:spPr>
          <a:xfrm>
            <a:off x="722376"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Pair a strong-Python participant with a strong-Arabic-linguistics one on Days 2-3. The skill transfer is the point — name that goal aloud.</a:t>
            </a:r>
            <a:endParaRPr lang="en-US" sz="1050" dirty="0"/>
          </a:p>
        </p:txBody>
      </p:sp>
      <p:sp>
        <p:nvSpPr>
          <p:cNvPr id="28" name="Shape 25"/>
          <p:cNvSpPr/>
          <p:nvPr/>
        </p:nvSpPr>
        <p:spPr>
          <a:xfrm>
            <a:off x="4322064" y="4078224"/>
            <a:ext cx="3544824" cy="2286000"/>
          </a:xfrm>
          <a:prstGeom prst="roundRect">
            <a:avLst>
              <a:gd name="adj" fmla="val 2400"/>
            </a:avLst>
          </a:prstGeom>
          <a:solidFill>
            <a:srgbClr val="F2F6F8"/>
          </a:solidFill>
          <a:ln/>
        </p:spPr>
      </p:sp>
      <p:sp>
        <p:nvSpPr>
          <p:cNvPr id="29" name="Shape 26"/>
          <p:cNvSpPr/>
          <p:nvPr/>
        </p:nvSpPr>
        <p:spPr>
          <a:xfrm>
            <a:off x="4322064" y="4078224"/>
            <a:ext cx="82296" cy="2286000"/>
          </a:xfrm>
          <a:prstGeom prst="rect">
            <a:avLst/>
          </a:prstGeom>
          <a:solidFill>
            <a:srgbClr val="00A79D"/>
          </a:solidFill>
          <a:ln/>
        </p:spPr>
      </p:sp>
      <p:sp>
        <p:nvSpPr>
          <p:cNvPr id="30" name="Text 27"/>
          <p:cNvSpPr/>
          <p:nvPr/>
        </p:nvSpPr>
        <p:spPr>
          <a:xfrm>
            <a:off x="4541520" y="419709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LANGUAGE POLICY</a:t>
            </a:r>
            <a:endParaRPr lang="en-US" sz="950" dirty="0"/>
          </a:p>
        </p:txBody>
      </p:sp>
      <p:sp>
        <p:nvSpPr>
          <p:cNvPr id="31" name="Text 28"/>
          <p:cNvSpPr/>
          <p:nvPr/>
        </p:nvSpPr>
        <p:spPr>
          <a:xfrm>
            <a:off x="4541520"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EN code · AR/EN delivery</a:t>
            </a:r>
            <a:endParaRPr lang="en-US" sz="1450" dirty="0"/>
          </a:p>
        </p:txBody>
      </p:sp>
      <p:sp>
        <p:nvSpPr>
          <p:cNvPr id="32" name="Text 29"/>
          <p:cNvSpPr/>
          <p:nvPr/>
        </p:nvSpPr>
        <p:spPr>
          <a:xfrm>
            <a:off x="4541520"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Deliver in English or Arabic; keep all code, identifiers, and commit messages in English. Arabic appears in data — subject matter, not language of instruction.</a:t>
            </a:r>
            <a:endParaRPr lang="en-US" sz="1050" dirty="0"/>
          </a:p>
        </p:txBody>
      </p:sp>
      <p:sp>
        <p:nvSpPr>
          <p:cNvPr id="33" name="Shape 30"/>
          <p:cNvSpPr/>
          <p:nvPr/>
        </p:nvSpPr>
        <p:spPr>
          <a:xfrm>
            <a:off x="8141208" y="4078224"/>
            <a:ext cx="3544824" cy="2286000"/>
          </a:xfrm>
          <a:prstGeom prst="roundRect">
            <a:avLst>
              <a:gd name="adj" fmla="val 2400"/>
            </a:avLst>
          </a:prstGeom>
          <a:solidFill>
            <a:srgbClr val="F2F6F8"/>
          </a:solidFill>
          <a:ln/>
        </p:spPr>
      </p:sp>
      <p:sp>
        <p:nvSpPr>
          <p:cNvPr id="34" name="Shape 31"/>
          <p:cNvSpPr/>
          <p:nvPr/>
        </p:nvSpPr>
        <p:spPr>
          <a:xfrm>
            <a:off x="8141208" y="4078224"/>
            <a:ext cx="82296" cy="2286000"/>
          </a:xfrm>
          <a:prstGeom prst="rect">
            <a:avLst/>
          </a:prstGeom>
          <a:solidFill>
            <a:srgbClr val="29ABE2"/>
          </a:solidFill>
          <a:ln/>
        </p:spPr>
      </p:sp>
      <p:sp>
        <p:nvSpPr>
          <p:cNvPr id="35" name="Text 32"/>
          <p:cNvSpPr/>
          <p:nvPr/>
        </p:nvSpPr>
        <p:spPr>
          <a:xfrm>
            <a:off x="8360664" y="419709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PREFLIGHT</a:t>
            </a:r>
            <a:endParaRPr lang="en-US" sz="950" dirty="0"/>
          </a:p>
        </p:txBody>
      </p:sp>
      <p:sp>
        <p:nvSpPr>
          <p:cNvPr id="36" name="Text 33"/>
          <p:cNvSpPr/>
          <p:nvPr/>
        </p:nvSpPr>
        <p:spPr>
          <a:xfrm>
            <a:off x="8360664"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make doctor</a:t>
            </a:r>
            <a:endParaRPr lang="en-US" sz="1450" dirty="0"/>
          </a:p>
        </p:txBody>
      </p:sp>
      <p:sp>
        <p:nvSpPr>
          <p:cNvPr id="37" name="Text 34"/>
          <p:cNvSpPr/>
          <p:nvPr/>
        </p:nvSpPr>
        <p:spPr>
          <a:xfrm>
            <a:off x="8360664"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Validates versions, CAMeL data, checkpoint cache, and Arabic terminal rendering. Pre-download all checkpoints — classroom Wi-Fi first-runs kill Lab 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Stackability &amp; Pathway</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التراكمية والمسار التعليمي</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a:t>
            </a:r>
            <a:endParaRPr lang="en-US" sz="800" dirty="0"/>
          </a:p>
        </p:txBody>
      </p:sp>
      <p:sp>
        <p:nvSpPr>
          <p:cNvPr id="8" name="Shape 5"/>
          <p:cNvSpPr/>
          <p:nvPr/>
        </p:nvSpPr>
        <p:spPr>
          <a:xfrm>
            <a:off x="502920" y="1554480"/>
            <a:ext cx="6949440" cy="1104138"/>
          </a:xfrm>
          <a:prstGeom prst="roundRect">
            <a:avLst>
              <a:gd name="adj" fmla="val 4969"/>
            </a:avLst>
          </a:prstGeom>
          <a:solidFill>
            <a:srgbClr val="E6F5F4"/>
          </a:solidFill>
          <a:ln w="9525">
            <a:solidFill>
              <a:srgbClr val="00A79D"/>
            </a:solidFill>
            <a:prstDash val="solid"/>
          </a:ln>
        </p:spPr>
      </p:sp>
      <p:sp>
        <p:nvSpPr>
          <p:cNvPr id="9" name="Text 6"/>
          <p:cNvSpPr/>
          <p:nvPr/>
        </p:nvSpPr>
        <p:spPr>
          <a:xfrm>
            <a:off x="731520" y="1627632"/>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Prerequisite: SDA-AIE-112</a:t>
            </a:r>
            <a:endParaRPr lang="en-US" sz="1350" dirty="0"/>
          </a:p>
        </p:txBody>
      </p:sp>
      <p:sp>
        <p:nvSpPr>
          <p:cNvPr id="10" name="Text 7"/>
          <p:cNvSpPr/>
          <p:nvPr/>
        </p:nvSpPr>
        <p:spPr>
          <a:xfrm>
            <a:off x="731520" y="1920240"/>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assumed entry point — participants arrive with the AI Engineer track foundations already in place.</a:t>
            </a:r>
            <a:endParaRPr lang="en-US" sz="1050" dirty="0"/>
          </a:p>
        </p:txBody>
      </p:sp>
      <p:sp>
        <p:nvSpPr>
          <p:cNvPr id="11" name="Shape 8"/>
          <p:cNvSpPr/>
          <p:nvPr/>
        </p:nvSpPr>
        <p:spPr>
          <a:xfrm>
            <a:off x="502920" y="2786634"/>
            <a:ext cx="6949440" cy="1104138"/>
          </a:xfrm>
          <a:prstGeom prst="roundRect">
            <a:avLst>
              <a:gd name="adj" fmla="val 4969"/>
            </a:avLst>
          </a:prstGeom>
          <a:solidFill>
            <a:srgbClr val="EAF6FC"/>
          </a:solidFill>
          <a:ln w="9525">
            <a:solidFill>
              <a:srgbClr val="29ABE2"/>
            </a:solidFill>
            <a:prstDash val="solid"/>
          </a:ln>
        </p:spPr>
      </p:sp>
      <p:sp>
        <p:nvSpPr>
          <p:cNvPr id="12" name="Text 9"/>
          <p:cNvSpPr/>
          <p:nvPr/>
        </p:nvSpPr>
        <p:spPr>
          <a:xfrm>
            <a:off x="731520" y="2859786"/>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This course: SDA-AIE-211 → NLP specialisation badge</a:t>
            </a:r>
            <a:endParaRPr lang="en-US" sz="1350" dirty="0"/>
          </a:p>
        </p:txBody>
      </p:sp>
      <p:sp>
        <p:nvSpPr>
          <p:cNvPr id="13" name="Text 10"/>
          <p:cNvSpPr/>
          <p:nvPr/>
        </p:nvSpPr>
        <p:spPr>
          <a:xfrm>
            <a:off x="731520" y="3152394"/>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Badge recommendations are issued within 5 working days of the Day 4 demos.</a:t>
            </a:r>
            <a:endParaRPr lang="en-US" sz="1050" dirty="0"/>
          </a:p>
        </p:txBody>
      </p:sp>
      <p:sp>
        <p:nvSpPr>
          <p:cNvPr id="14" name="Shape 11"/>
          <p:cNvSpPr/>
          <p:nvPr/>
        </p:nvSpPr>
        <p:spPr>
          <a:xfrm>
            <a:off x="502920" y="4018788"/>
            <a:ext cx="6949440" cy="1104138"/>
          </a:xfrm>
          <a:prstGeom prst="roundRect">
            <a:avLst>
              <a:gd name="adj" fmla="val 4969"/>
            </a:avLst>
          </a:prstGeom>
          <a:solidFill>
            <a:srgbClr val="FEF3E3"/>
          </a:solidFill>
          <a:ln w="9525">
            <a:solidFill>
              <a:srgbClr val="F7941D"/>
            </a:solidFill>
            <a:prstDash val="solid"/>
          </a:ln>
        </p:spPr>
      </p:sp>
      <p:sp>
        <p:nvSpPr>
          <p:cNvPr id="15" name="Text 12"/>
          <p:cNvSpPr/>
          <p:nvPr/>
        </p:nvSpPr>
        <p:spPr>
          <a:xfrm>
            <a:off x="731520" y="4091940"/>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Feeds forward: SDA-AIE-213 and SDA-AIE-214</a:t>
            </a:r>
            <a:endParaRPr lang="en-US" sz="1350" dirty="0"/>
          </a:p>
        </p:txBody>
      </p:sp>
      <p:sp>
        <p:nvSpPr>
          <p:cNvPr id="16" name="Text 13"/>
          <p:cNvSpPr/>
          <p:nvPr/>
        </p:nvSpPr>
        <p:spPr>
          <a:xfrm>
            <a:off x="731520" y="4384548"/>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AIE-213 builds LLM applications on exactly this substrate; the M5 retrieval component is AIE-214's RAG foundation. Serving matures in AIE-216.</a:t>
            </a:r>
            <a:endParaRPr lang="en-US" sz="1050" dirty="0"/>
          </a:p>
        </p:txBody>
      </p:sp>
      <p:sp>
        <p:nvSpPr>
          <p:cNvPr id="17" name="Shape 14"/>
          <p:cNvSpPr/>
          <p:nvPr/>
        </p:nvSpPr>
        <p:spPr>
          <a:xfrm>
            <a:off x="502920" y="5250942"/>
            <a:ext cx="6949440" cy="1104138"/>
          </a:xfrm>
          <a:prstGeom prst="roundRect">
            <a:avLst>
              <a:gd name="adj" fmla="val 4969"/>
            </a:avLst>
          </a:prstGeom>
          <a:solidFill>
            <a:srgbClr val="F1F8E6"/>
          </a:solidFill>
          <a:ln w="9525">
            <a:solidFill>
              <a:srgbClr val="8CC63F"/>
            </a:solidFill>
            <a:prstDash val="solid"/>
          </a:ln>
        </p:spPr>
      </p:sp>
      <p:sp>
        <p:nvSpPr>
          <p:cNvPr id="18" name="Text 15"/>
          <p:cNvSpPr/>
          <p:nvPr/>
        </p:nvSpPr>
        <p:spPr>
          <a:xfrm>
            <a:off x="731520" y="5324094"/>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AI Engineer Specialist Certificate</a:t>
            </a:r>
            <a:endParaRPr lang="en-US" sz="1350" dirty="0"/>
          </a:p>
        </p:txBody>
      </p:sp>
      <p:sp>
        <p:nvSpPr>
          <p:cNvPr id="19" name="Text 16"/>
          <p:cNvSpPr/>
          <p:nvPr/>
        </p:nvSpPr>
        <p:spPr>
          <a:xfrm>
            <a:off x="731520" y="5616702"/>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AIE-216 plus any 3 of AIE-211/212/213/214/215 — this course also feeds the GenAI Engineering specialisation.</a:t>
            </a:r>
            <a:endParaRPr lang="en-US" sz="1050" dirty="0"/>
          </a:p>
        </p:txBody>
      </p:sp>
      <p:sp>
        <p:nvSpPr>
          <p:cNvPr id="20" name="Shape 17"/>
          <p:cNvSpPr/>
          <p:nvPr/>
        </p:nvSpPr>
        <p:spPr>
          <a:xfrm>
            <a:off x="7726680" y="1554480"/>
            <a:ext cx="3959352" cy="4800600"/>
          </a:xfrm>
          <a:prstGeom prst="roundRect">
            <a:avLst>
              <a:gd name="adj" fmla="val 1848"/>
            </a:avLst>
          </a:prstGeom>
          <a:solidFill>
            <a:srgbClr val="1D2A5C"/>
          </a:solidFill>
          <a:ln/>
        </p:spPr>
      </p:sp>
      <p:sp>
        <p:nvSpPr>
          <p:cNvPr id="21" name="Text 18"/>
          <p:cNvSpPr/>
          <p:nvPr/>
        </p:nvSpPr>
        <p:spPr>
          <a:xfrm>
            <a:off x="7955280" y="1737360"/>
            <a:ext cx="3502152" cy="36576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Why finish strong</a:t>
            </a:r>
            <a:endParaRPr lang="en-US" sz="1400" dirty="0"/>
          </a:p>
        </p:txBody>
      </p:sp>
      <p:sp>
        <p:nvSpPr>
          <p:cNvPr id="22" name="Text 19"/>
          <p:cNvSpPr/>
          <p:nvPr/>
        </p:nvSpPr>
        <p:spPr>
          <a:xfrm>
            <a:off x="7955280" y="2194560"/>
            <a:ext cx="3502152" cy="3977640"/>
          </a:xfrm>
          <a:prstGeom prst="rect">
            <a:avLst/>
          </a:prstGeom>
          <a:noFill/>
          <a:ln/>
        </p:spPr>
        <p:txBody>
          <a:bodyPr wrap="square" lIns="0" tIns="0" rIns="0" bIns="0" rtlCol="0" anchor="t"/>
          <a:lstStyle/>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Every Bayan artefact is reused by the LLM and RAG modules</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Evaluation discipline and preprocessing skew matter MORE in the LLM era, not less</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Next recommended step after this course: SDA-AIE-213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Instructor Preparation Checklist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قائمة تحضير المدرب</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Two waves of preparation. The single highest-leverage item: pre-populate the shared checkpoint cache — first-run downloads over classroom Wi-Fi kill Lab 3.</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T-minus 1 week</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Push checkpoint tags lab1-start … lab7-start and all sim-* fault branches; regenerate the cohort-seeded Bayan corpus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Dry-run all 7 labs end-to-end on a clean GPU-pool machine AND the CPU fallback path</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Pre-download all checkpoints (CAMeLBERT, mBERT, XLM-R, MARBERT, MiniLM, DistilBERT) to the shared cache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Pre-install CAMeL Tools data; print the A4 posters; prepare the shared leaderboard and Lab 3 prediction board</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Confirm network allows huggingface.co, pypi, github.com; schedule a native-Arabic reader for Days 2-3</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T-minus 2 days — participant email</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Python 3.12 + git + a GitHub account with SSH or PAT auth</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pip install transformers, datasets, sentence-transformers, spacy, camel-tools, faiss-cpu, optimum[onnxruntime] …</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GPU-pool credentials tested (or Colab account as fallback); hey binary from the course bundle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Clone the course repo and run make doctor — versions, CAMeL data, checkpoint cache, Arabic rendering</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Editor/terminal font that renders Arabic script correctly — it matters more than participants expect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Student Issues &amp; Troubleshooting</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مشكلات شائعة لدى المتدربين وحلولها</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4480560"/>
                <a:gridCol w="1033272"/>
                <a:gridCol w="566928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Issue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Freq</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Resolution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Checkpoint downloads stall on classroom Wi-Fi</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Shared HF cache pre-populated; HF_HOME set by make doctor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CUDA OOM in Lab 3 (batch 32, fp32)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fp16=True first, then batch 16 + grad accumulation; CPU fallback = DistilBERT, 1 epoch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Arabic renders reversed/disjointed in terminals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Doctor-script font check; VS Code terminal handles RTL best; never debug Arabic by eyeball</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CAMeL data missing (DialectIdentifier fails)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camel_data -i defaults; check $CAMELTOOLS_DATA; pre-installed image as fallback</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Windows path/encoding errors on Arabic CSVs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encoding=utf-8 everywhere (repo helpers do this); WSL2 recommended in pre-course email</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NER evaluated at subword level — and celebrated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Planned teachable moment in Lab 3B: the seqeval discipline, publicly named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faiss-cpu install conflicts on Apple Silicon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conda-forge build documented in repo README; flat-index NumPy fallback provided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ONNX INT8 accuracy collapse on non-VNNI CPUs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avx2 qconfig fallback in lab repo; lscpu check in Lab 7 task 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Timing rules: protect Lab 3 (both parts) and Lab 6's hand-reading segment at full length. Hard rule: capstone assembly starts on time even if Lab 7 is unfinished — the fallback artefacts exist for this.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NEXT: DAY 1</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The model is the easy part — the tokenizer, the slices, and the milliseconds are where the profession lives. Day 1 starts with the tokenizer.</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Hour 1: trace the pipeline → pretrain/fine-tune → LLM shift, explore the Bayan corpus, and see the capstone shape before any theory lands.</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OVERVIEW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9052560" y="1024128"/>
            <a:ext cx="438912" cy="384048"/>
          </a:xfrm>
          <a:prstGeom prst="triangle">
            <a:avLst/>
          </a:prstGeom>
          <a:solidFill>
            <a:srgbClr val="00A79D"/>
          </a:solidFill>
          <a:ln/>
        </p:spPr>
      </p:sp>
      <p:sp>
        <p:nvSpPr>
          <p:cNvPr id="3" name="Shape 1"/>
          <p:cNvSpPr/>
          <p:nvPr/>
        </p:nvSpPr>
        <p:spPr>
          <a:xfrm>
            <a:off x="9518904" y="832104"/>
            <a:ext cx="438912" cy="384048"/>
          </a:xfrm>
          <a:prstGeom prst="triangle">
            <a:avLst/>
          </a:prstGeom>
          <a:solidFill>
            <a:srgbClr val="29ABE2"/>
          </a:solidFill>
          <a:ln/>
        </p:spPr>
      </p:sp>
      <p:sp>
        <p:nvSpPr>
          <p:cNvPr id="4" name="Shape 2"/>
          <p:cNvSpPr/>
          <p:nvPr/>
        </p:nvSpPr>
        <p:spPr>
          <a:xfrm>
            <a:off x="9518904" y="1216152"/>
            <a:ext cx="438912" cy="384048"/>
          </a:xfrm>
          <a:prstGeom prst="triangle">
            <a:avLst/>
          </a:prstGeom>
          <a:solidFill>
            <a:srgbClr val="F7941D"/>
          </a:solidFill>
          <a:ln/>
        </p:spPr>
      </p:sp>
      <p:sp>
        <p:nvSpPr>
          <p:cNvPr id="5" name="Shape 3"/>
          <p:cNvSpPr/>
          <p:nvPr/>
        </p:nvSpPr>
        <p:spPr>
          <a:xfrm>
            <a:off x="9985248" y="640080"/>
            <a:ext cx="438912" cy="384048"/>
          </a:xfrm>
          <a:prstGeom prst="triangle">
            <a:avLst/>
          </a:prstGeom>
          <a:solidFill>
            <a:srgbClr val="8CC63F"/>
          </a:solidFill>
          <a:ln/>
        </p:spPr>
      </p:sp>
      <p:sp>
        <p:nvSpPr>
          <p:cNvPr id="6" name="Shape 4"/>
          <p:cNvSpPr/>
          <p:nvPr/>
        </p:nvSpPr>
        <p:spPr>
          <a:xfrm>
            <a:off x="9985248" y="1024128"/>
            <a:ext cx="438912" cy="384048"/>
          </a:xfrm>
          <a:prstGeom prst="triangle">
            <a:avLst/>
          </a:prstGeom>
          <a:solidFill>
            <a:srgbClr val="00A79D"/>
          </a:solidFill>
          <a:ln/>
        </p:spPr>
      </p:sp>
      <p:sp>
        <p:nvSpPr>
          <p:cNvPr id="7" name="Shape 5"/>
          <p:cNvSpPr/>
          <p:nvPr/>
        </p:nvSpPr>
        <p:spPr>
          <a:xfrm>
            <a:off x="10451592" y="832104"/>
            <a:ext cx="438912" cy="384048"/>
          </a:xfrm>
          <a:prstGeom prst="triangle">
            <a:avLst/>
          </a:prstGeom>
          <a:solidFill>
            <a:srgbClr val="29ABE2"/>
          </a:solidFill>
          <a:ln/>
        </p:spPr>
      </p:sp>
      <p:sp>
        <p:nvSpPr>
          <p:cNvPr id="8" name="Shape 6"/>
          <p:cNvSpPr/>
          <p:nvPr/>
        </p:nvSpPr>
        <p:spPr>
          <a:xfrm>
            <a:off x="10451592" y="1216152"/>
            <a:ext cx="438912" cy="384048"/>
          </a:xfrm>
          <a:prstGeom prst="triangle">
            <a:avLst/>
          </a:prstGeom>
          <a:solidFill>
            <a:srgbClr val="F7941D"/>
          </a:solidFill>
          <a:ln/>
        </p:spPr>
      </p:sp>
      <p:sp>
        <p:nvSpPr>
          <p:cNvPr id="9" name="Shape 7"/>
          <p:cNvSpPr/>
          <p:nvPr/>
        </p:nvSpPr>
        <p:spPr>
          <a:xfrm>
            <a:off x="10917936" y="1024128"/>
            <a:ext cx="438912" cy="384048"/>
          </a:xfrm>
          <a:prstGeom prst="triangle">
            <a:avLst/>
          </a:prstGeom>
          <a:solidFill>
            <a:srgbClr val="8CC63F"/>
          </a:solidFill>
          <a:ln/>
        </p:spPr>
      </p:sp>
      <p:sp>
        <p:nvSpPr>
          <p:cNvPr id="10" name="Text 8"/>
          <p:cNvSpPr/>
          <p:nvPr/>
        </p:nvSpPr>
        <p:spPr>
          <a:xfrm>
            <a:off x="777240" y="777240"/>
            <a:ext cx="4572000" cy="914400"/>
          </a:xfrm>
          <a:prstGeom prst="rect">
            <a:avLst/>
          </a:prstGeom>
          <a:noFill/>
          <a:ln/>
        </p:spPr>
        <p:txBody>
          <a:bodyPr wrap="square" lIns="0" tIns="0" rIns="0" bIns="0" rtlCol="0" anchor="ctr"/>
          <a:lstStyle/>
          <a:p>
            <a:pPr indent="0" marL="0">
              <a:buNone/>
            </a:pPr>
            <a:r>
              <a:rPr lang="en-US" sz="4800" b="1" dirty="0">
                <a:solidFill>
                  <a:srgbClr val="F7941D"/>
                </a:solidFill>
                <a:latin typeface="Calibri" pitchFamily="34" charset="0"/>
                <a:ea typeface="Calibri" pitchFamily="34" charset="-122"/>
                <a:cs typeface="Calibri" pitchFamily="34" charset="-120"/>
              </a:rPr>
              <a:t>DAY 1</a:t>
            </a:r>
            <a:endParaRPr lang="en-US" sz="4800" dirty="0"/>
          </a:p>
        </p:txBody>
      </p:sp>
      <p:sp>
        <p:nvSpPr>
          <p:cNvPr id="11" name="Text 9"/>
          <p:cNvSpPr/>
          <p:nvPr/>
        </p:nvSpPr>
        <p:spPr>
          <a:xfrm>
            <a:off x="777240" y="1783080"/>
            <a:ext cx="777240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From Text to Tensors</a:t>
            </a:r>
            <a:endParaRPr lang="en-US" sz="3000" dirty="0"/>
          </a:p>
        </p:txBody>
      </p:sp>
      <p:sp>
        <p:nvSpPr>
          <p:cNvPr id="12" name="Text 10"/>
          <p:cNvSpPr/>
          <p:nvPr/>
        </p:nvSpPr>
        <p:spPr>
          <a:xfrm>
            <a:off x="777240" y="2468880"/>
            <a:ext cx="7772400" cy="411480"/>
          </a:xfrm>
          <a:prstGeom prst="rect">
            <a:avLst/>
          </a:prstGeom>
          <a:noFill/>
          <a:ln/>
        </p:spPr>
        <p:txBody>
          <a:bodyPr wrap="square" lIns="0" tIns="0" rIns="0" bIns="0" rtlCol="0" anchor="ctr"/>
          <a:lstStyle/>
          <a:p>
            <a:pPr indent="0" marL="0">
              <a:buNone/>
            </a:pPr>
            <a:r>
              <a:rPr lang="en-US" sz="1600" dirty="0">
                <a:solidFill>
                  <a:srgbClr val="00A79D"/>
                </a:solidFill>
                <a:latin typeface="Calibri" pitchFamily="34" charset="0"/>
                <a:ea typeface="Calibri" pitchFamily="34" charset="-122"/>
                <a:cs typeface="Calibri" pitchFamily="34" charset="-120"/>
              </a:rPr>
              <a:t>من النص إلى الموتّرات</a:t>
            </a:r>
            <a:endParaRPr lang="en-US" sz="1600" dirty="0"/>
          </a:p>
        </p:txBody>
      </p:sp>
      <p:sp>
        <p:nvSpPr>
          <p:cNvPr id="13" name="Shape 11"/>
          <p:cNvSpPr/>
          <p:nvPr/>
        </p:nvSpPr>
        <p:spPr>
          <a:xfrm>
            <a:off x="777240" y="3191256"/>
            <a:ext cx="960120" cy="393192"/>
          </a:xfrm>
          <a:prstGeom prst="roundRect">
            <a:avLst>
              <a:gd name="adj" fmla="val 13953"/>
            </a:avLst>
          </a:prstGeom>
          <a:solidFill>
            <a:srgbClr val="2A3A73"/>
          </a:solidFill>
          <a:ln/>
        </p:spPr>
      </p:sp>
      <p:sp>
        <p:nvSpPr>
          <p:cNvPr id="14" name="Text 12"/>
          <p:cNvSpPr/>
          <p:nvPr/>
        </p:nvSpPr>
        <p:spPr>
          <a:xfrm>
            <a:off x="777240" y="3191256"/>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H1</a:t>
            </a:r>
            <a:endParaRPr lang="en-US" sz="1050" dirty="0"/>
          </a:p>
        </p:txBody>
      </p:sp>
      <p:sp>
        <p:nvSpPr>
          <p:cNvPr id="15" name="Text 13"/>
          <p:cNvSpPr/>
          <p:nvPr/>
        </p:nvSpPr>
        <p:spPr>
          <a:xfrm>
            <a:off x="1920240" y="3191256"/>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NLP broke and got rebuilt  </a:t>
            </a:r>
            <a:pPr indent="0" marL="0">
              <a:buNone/>
            </a:pPr>
            <a:r>
              <a:rPr lang="en-US" sz="1200" dirty="0">
                <a:solidFill>
                  <a:srgbClr val="AAB6D8"/>
                </a:solidFill>
                <a:latin typeface="Calibri" pitchFamily="34" charset="0"/>
                <a:ea typeface="Calibri" pitchFamily="34" charset="-122"/>
                <a:cs typeface="Calibri" pitchFamily="34" charset="-120"/>
              </a:rPr>
              <a:t>Pipeline to pretrain/fine-tune to LLM shift; meet the Bayan corpus and the capstone shape</a:t>
            </a:r>
            <a:endParaRPr lang="en-US" sz="1200" dirty="0"/>
          </a:p>
        </p:txBody>
      </p:sp>
      <p:sp>
        <p:nvSpPr>
          <p:cNvPr id="16" name="Shape 14"/>
          <p:cNvSpPr/>
          <p:nvPr/>
        </p:nvSpPr>
        <p:spPr>
          <a:xfrm>
            <a:off x="777240" y="3712464"/>
            <a:ext cx="960120" cy="393192"/>
          </a:xfrm>
          <a:prstGeom prst="roundRect">
            <a:avLst>
              <a:gd name="adj" fmla="val 13953"/>
            </a:avLst>
          </a:prstGeom>
          <a:solidFill>
            <a:srgbClr val="2A3A73"/>
          </a:solidFill>
          <a:ln/>
        </p:spPr>
      </p:sp>
      <p:sp>
        <p:nvSpPr>
          <p:cNvPr id="17" name="Text 15"/>
          <p:cNvSpPr/>
          <p:nvPr/>
        </p:nvSpPr>
        <p:spPr>
          <a:xfrm>
            <a:off x="777240" y="3712464"/>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H2</a:t>
            </a:r>
            <a:endParaRPr lang="en-US" sz="1050" dirty="0"/>
          </a:p>
        </p:txBody>
      </p:sp>
      <p:sp>
        <p:nvSpPr>
          <p:cNvPr id="18" name="Text 16"/>
          <p:cNvSpPr/>
          <p:nvPr/>
        </p:nvSpPr>
        <p:spPr>
          <a:xfrm>
            <a:off x="1920240" y="3712464"/>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M1 — Text, tokenisation, embeddings  </a:t>
            </a:r>
            <a:pPr indent="0" marL="0">
              <a:buNone/>
            </a:pPr>
            <a:r>
              <a:rPr lang="en-US" sz="1200" dirty="0">
                <a:solidFill>
                  <a:srgbClr val="AAB6D8"/>
                </a:solidFill>
                <a:latin typeface="Calibri" pitchFamily="34" charset="0"/>
                <a:ea typeface="Calibri" pitchFamily="34" charset="-122"/>
                <a:cs typeface="Calibri" pitchFamily="34" charset="-120"/>
              </a:rPr>
              <a:t>Normalisation, subword algorithms, tokenizer fertility, static vs contextual embeddings</a:t>
            </a:r>
            <a:endParaRPr lang="en-US" sz="1200" dirty="0"/>
          </a:p>
        </p:txBody>
      </p:sp>
      <p:sp>
        <p:nvSpPr>
          <p:cNvPr id="19" name="Shape 17"/>
          <p:cNvSpPr/>
          <p:nvPr/>
        </p:nvSpPr>
        <p:spPr>
          <a:xfrm>
            <a:off x="777240" y="4233672"/>
            <a:ext cx="960120" cy="393192"/>
          </a:xfrm>
          <a:prstGeom prst="roundRect">
            <a:avLst>
              <a:gd name="adj" fmla="val 13953"/>
            </a:avLst>
          </a:prstGeom>
          <a:solidFill>
            <a:srgbClr val="2A3A73"/>
          </a:solidFill>
          <a:ln/>
        </p:spPr>
      </p:sp>
      <p:sp>
        <p:nvSpPr>
          <p:cNvPr id="20" name="Text 18"/>
          <p:cNvSpPr/>
          <p:nvPr/>
        </p:nvSpPr>
        <p:spPr>
          <a:xfrm>
            <a:off x="777240" y="4233672"/>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H3</a:t>
            </a:r>
            <a:endParaRPr lang="en-US" sz="1050" dirty="0"/>
          </a:p>
        </p:txBody>
      </p:sp>
      <p:sp>
        <p:nvSpPr>
          <p:cNvPr id="21" name="Text 19"/>
          <p:cNvSpPr/>
          <p:nvPr/>
        </p:nvSpPr>
        <p:spPr>
          <a:xfrm>
            <a:off x="1920240" y="4233672"/>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1 — Bilingual pipeline  </a:t>
            </a:r>
            <a:pPr indent="0" marL="0">
              <a:buNone/>
            </a:pPr>
            <a:r>
              <a:rPr lang="en-US" sz="1200" dirty="0">
                <a:solidFill>
                  <a:srgbClr val="AAB6D8"/>
                </a:solidFill>
                <a:latin typeface="Calibri" pitchFamily="34" charset="0"/>
                <a:ea typeface="Calibri" pitchFamily="34" charset="-122"/>
                <a:cs typeface="Calibri" pitchFamily="34" charset="-120"/>
              </a:rPr>
              <a:t>Build cleaning + tokenisation for the Bayan corpus; measure Arabic vs English fertility</a:t>
            </a:r>
            <a:endParaRPr lang="en-US" sz="1200" dirty="0"/>
          </a:p>
        </p:txBody>
      </p:sp>
      <p:sp>
        <p:nvSpPr>
          <p:cNvPr id="22" name="Shape 20"/>
          <p:cNvSpPr/>
          <p:nvPr/>
        </p:nvSpPr>
        <p:spPr>
          <a:xfrm>
            <a:off x="777240" y="4754880"/>
            <a:ext cx="960120" cy="393192"/>
          </a:xfrm>
          <a:prstGeom prst="roundRect">
            <a:avLst>
              <a:gd name="adj" fmla="val 13953"/>
            </a:avLst>
          </a:prstGeom>
          <a:solidFill>
            <a:srgbClr val="2A3A73"/>
          </a:solidFill>
          <a:ln/>
        </p:spPr>
      </p:sp>
      <p:sp>
        <p:nvSpPr>
          <p:cNvPr id="23" name="Text 21"/>
          <p:cNvSpPr/>
          <p:nvPr/>
        </p:nvSpPr>
        <p:spPr>
          <a:xfrm>
            <a:off x="777240" y="4754880"/>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H4</a:t>
            </a:r>
            <a:endParaRPr lang="en-US" sz="1050" dirty="0"/>
          </a:p>
        </p:txBody>
      </p:sp>
      <p:sp>
        <p:nvSpPr>
          <p:cNvPr id="24" name="Text 22"/>
          <p:cNvSpPr/>
          <p:nvPr/>
        </p:nvSpPr>
        <p:spPr>
          <a:xfrm>
            <a:off x="1920240" y="4754880"/>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M2 — Attention &amp; architecture  </a:t>
            </a:r>
            <a:pPr indent="0" marL="0">
              <a:buNone/>
            </a:pPr>
            <a:r>
              <a:rPr lang="en-US" sz="1200" dirty="0">
                <a:solidFill>
                  <a:srgbClr val="AAB6D8"/>
                </a:solidFill>
                <a:latin typeface="Calibri" pitchFamily="34" charset="0"/>
                <a:ea typeface="Calibri" pitchFamily="34" charset="-122"/>
                <a:cs typeface="Calibri" pitchFamily="34" charset="-120"/>
              </a:rPr>
              <a:t>Scaled dot-product attention, multi-head, positional encoding, encoder vs decoder families</a:t>
            </a:r>
            <a:endParaRPr lang="en-US" sz="1200" dirty="0"/>
          </a:p>
        </p:txBody>
      </p:sp>
      <p:sp>
        <p:nvSpPr>
          <p:cNvPr id="25" name="Shape 23"/>
          <p:cNvSpPr/>
          <p:nvPr/>
        </p:nvSpPr>
        <p:spPr>
          <a:xfrm>
            <a:off x="777240" y="5276088"/>
            <a:ext cx="960120" cy="393192"/>
          </a:xfrm>
          <a:prstGeom prst="roundRect">
            <a:avLst>
              <a:gd name="adj" fmla="val 13953"/>
            </a:avLst>
          </a:prstGeom>
          <a:solidFill>
            <a:srgbClr val="2A3A73"/>
          </a:solidFill>
          <a:ln/>
        </p:spPr>
      </p:sp>
      <p:sp>
        <p:nvSpPr>
          <p:cNvPr id="26" name="Text 24"/>
          <p:cNvSpPr/>
          <p:nvPr/>
        </p:nvSpPr>
        <p:spPr>
          <a:xfrm>
            <a:off x="777240" y="5276088"/>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H5</a:t>
            </a:r>
            <a:endParaRPr lang="en-US" sz="1050" dirty="0"/>
          </a:p>
        </p:txBody>
      </p:sp>
      <p:sp>
        <p:nvSpPr>
          <p:cNvPr id="27" name="Text 25"/>
          <p:cNvSpPr/>
          <p:nvPr/>
        </p:nvSpPr>
        <p:spPr>
          <a:xfrm>
            <a:off x="1920240" y="5276088"/>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2 — Anatomy of a transformer  </a:t>
            </a:r>
            <a:pPr indent="0" marL="0">
              <a:buNone/>
            </a:pPr>
            <a:r>
              <a:rPr lang="en-US" sz="1200" dirty="0">
                <a:solidFill>
                  <a:srgbClr val="AAB6D8"/>
                </a:solidFill>
                <a:latin typeface="Calibri" pitchFamily="34" charset="0"/>
                <a:ea typeface="Calibri" pitchFamily="34" charset="-122"/>
                <a:cs typeface="Calibri" pitchFamily="34" charset="-120"/>
              </a:rPr>
              <a:t>Count parameters, trace one forward pass, visualise attention heads on AR/EN sentences</a:t>
            </a:r>
            <a:endParaRPr lang="en-US" sz="1200" dirty="0"/>
          </a:p>
        </p:txBody>
      </p:sp>
      <p:sp>
        <p:nvSpPr>
          <p:cNvPr id="28" name="Shape 26"/>
          <p:cNvSpPr/>
          <p:nvPr/>
        </p:nvSpPr>
        <p:spPr>
          <a:xfrm>
            <a:off x="777240" y="5989320"/>
            <a:ext cx="10607040" cy="566928"/>
          </a:xfrm>
          <a:prstGeom prst="roundRect">
            <a:avLst>
              <a:gd name="adj" fmla="val 12903"/>
            </a:avLst>
          </a:prstGeom>
          <a:solidFill>
            <a:srgbClr val="00A79D"/>
          </a:solidFill>
          <a:ln/>
        </p:spPr>
      </p:sp>
      <p:sp>
        <p:nvSpPr>
          <p:cNvPr id="29" name="Text 27"/>
          <p:cNvSpPr/>
          <p:nvPr/>
        </p:nvSpPr>
        <p:spPr>
          <a:xfrm>
            <a:off x="1005840" y="5989320"/>
            <a:ext cx="10149840" cy="566928"/>
          </a:xfrm>
          <a:prstGeom prst="rect">
            <a:avLst/>
          </a:prstGeom>
          <a:noFill/>
          <a:ln/>
        </p:spPr>
        <p:txBody>
          <a:bodyPr wrap="square" lIns="0" tIns="0" rIns="0" bIns="0"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END-OF-DAY DELIVERABLE   </a:t>
            </a:r>
            <a:pPr indent="0" marL="0">
              <a:buNone/>
            </a:pPr>
            <a:r>
              <a:rPr lang="en-US" sz="1200" b="1" dirty="0">
                <a:solidFill>
                  <a:srgbClr val="FFFFFF"/>
                </a:solidFill>
                <a:latin typeface="Calibri" pitchFamily="34" charset="0"/>
                <a:ea typeface="Calibri" pitchFamily="34" charset="-122"/>
                <a:cs typeface="Calibri" pitchFamily="34" charset="-120"/>
              </a:rPr>
              <a:t>Bilingual preprocessing pipeline + annotated attention-map notebook</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1 — Hour by Hour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الأول — ساعة بساعة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a:t>
            </a:r>
            <a:endParaRPr lang="en-US" sz="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685800"/>
                <a:gridCol w="2834640"/>
                <a:gridCol w="5010912"/>
                <a:gridCol w="1737360"/>
                <a:gridCol w="91440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Hour</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Theory/Lab</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Why NLP broke and got rebuilt + kickoff</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Trace pipeline to pretrain/fine-tune to LLM shift; meet the Bayan corpus and capstone shape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Lecture + corpus tour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80/20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Text, tokenisation, embeddings (M1)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Normalisation, BPE/WordPiece/SentencePiece, fertility, static vs contextual embeddings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Lecture + live dissection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70/30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1 — Bilingual preprocessing pipeline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Build cleaning + tokenisation for the Bayan corpus; measure Arabic vs English fertility</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Guided lab (pairs)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10/90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Attention &amp; transformer architecture (M2)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Scaled dot-product attention, multi-head, positional encoding, encoder vs decoder families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Lecture + math walkthrough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75/25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2 — Anatomy of a transformer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Count parameters, trace one forward pass, visualise attention heads on Arabic and English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Guided lab (pairs)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10/90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5989320"/>
            <a:ext cx="11183112" cy="4114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INSTRUCTOR NOTE   </a:t>
            </a:r>
            <a:pPr indent="0" marL="0">
              <a:buNone/>
            </a:pPr>
            <a:r>
              <a:rPr lang="en-US" sz="1050" dirty="0">
                <a:solidFill>
                  <a:srgbClr val="6E7B8A"/>
                </a:solidFill>
                <a:latin typeface="Calibri" pitchFamily="34" charset="0"/>
                <a:ea typeface="Calibri" pitchFamily="34" charset="-122"/>
                <a:cs typeface="Calibri" pitchFamily="34" charset="-120"/>
              </a:rPr>
              <a:t>Theory/lab split flips at hours 3 and 5 — labs are 10/90. Both labs run in pairs; lab outputs are reused in Lab 3.</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MODULE 1 · WHY IT MATTERS</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Everything a transformer does begins with a decision the model never sees: how raw text became integers.</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Treat the tokenizer as a versioned model component with its own failure modes — not a preprocessing afterthought. Fertility is a line item in the GPU bill.</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Real Text Is Hostile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النص الحقيقي عدائي</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a:t>
            </a:r>
            <a:endParaRPr lang="en-US" sz="800" dirty="0"/>
          </a:p>
        </p:txBody>
      </p:sp>
      <p:sp>
        <p:nvSpPr>
          <p:cNvPr id="8" name="Shape 5"/>
          <p:cNvSpPr/>
          <p:nvPr/>
        </p:nvSpPr>
        <p:spPr>
          <a:xfrm>
            <a:off x="502920" y="1517904"/>
            <a:ext cx="5454396" cy="2286000"/>
          </a:xfrm>
          <a:prstGeom prst="roundRect">
            <a:avLst>
              <a:gd name="adj" fmla="val 2400"/>
            </a:avLst>
          </a:prstGeom>
          <a:solidFill>
            <a:srgbClr val="F2F6F8"/>
          </a:solidFill>
          <a:ln/>
        </p:spPr>
      </p:sp>
      <p:sp>
        <p:nvSpPr>
          <p:cNvPr id="9" name="Shape 6"/>
          <p:cNvSpPr/>
          <p:nvPr/>
        </p:nvSpPr>
        <p:spPr>
          <a:xfrm>
            <a:off x="502920" y="1517904"/>
            <a:ext cx="82296" cy="2286000"/>
          </a:xfrm>
          <a:prstGeom prst="rect">
            <a:avLst/>
          </a:prstGeom>
          <a:solidFill>
            <a:srgbClr val="00A79D"/>
          </a:solidFill>
          <a:ln/>
        </p:spPr>
      </p:sp>
      <p:sp>
        <p:nvSpPr>
          <p:cNvPr id="10" name="Text 7"/>
          <p:cNvSpPr/>
          <p:nvPr/>
        </p:nvSpPr>
        <p:spPr>
          <a:xfrm>
            <a:off x="722376" y="1636776"/>
            <a:ext cx="5042916"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UNICODE</a:t>
            </a:r>
            <a:endParaRPr lang="en-US" sz="950" dirty="0"/>
          </a:p>
        </p:txBody>
      </p:sp>
      <p:sp>
        <p:nvSpPr>
          <p:cNvPr id="11" name="Text 8"/>
          <p:cNvSpPr/>
          <p:nvPr/>
        </p:nvSpPr>
        <p:spPr>
          <a:xfrm>
            <a:off x="722376" y="188366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Same string, different codepoints</a:t>
            </a:r>
            <a:endParaRPr lang="en-US" sz="1450" dirty="0"/>
          </a:p>
        </p:txBody>
      </p:sp>
      <p:sp>
        <p:nvSpPr>
          <p:cNvPr id="12" name="Text 9"/>
          <p:cNvSpPr/>
          <p:nvPr/>
        </p:nvSpPr>
        <p:spPr>
          <a:xfrm>
            <a:off x="722376" y="240487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Without NFC/NFKC normalisation, 'identical' strings hash differently — deduplication fails and lookup tables silently miss. Nobody spots NFD near-duplicates by eye.</a:t>
            </a:r>
            <a:endParaRPr lang="en-US" sz="1050" dirty="0"/>
          </a:p>
        </p:txBody>
      </p:sp>
      <p:sp>
        <p:nvSpPr>
          <p:cNvPr id="13" name="Shape 10"/>
          <p:cNvSpPr/>
          <p:nvPr/>
        </p:nvSpPr>
        <p:spPr>
          <a:xfrm>
            <a:off x="6231636" y="1517904"/>
            <a:ext cx="5454396" cy="2286000"/>
          </a:xfrm>
          <a:prstGeom prst="roundRect">
            <a:avLst>
              <a:gd name="adj" fmla="val 2400"/>
            </a:avLst>
          </a:prstGeom>
          <a:solidFill>
            <a:srgbClr val="F2F6F8"/>
          </a:solidFill>
          <a:ln/>
        </p:spPr>
      </p:sp>
      <p:sp>
        <p:nvSpPr>
          <p:cNvPr id="14" name="Shape 11"/>
          <p:cNvSpPr/>
          <p:nvPr/>
        </p:nvSpPr>
        <p:spPr>
          <a:xfrm>
            <a:off x="6231636" y="1517904"/>
            <a:ext cx="82296" cy="2286000"/>
          </a:xfrm>
          <a:prstGeom prst="rect">
            <a:avLst/>
          </a:prstGeom>
          <a:solidFill>
            <a:srgbClr val="29ABE2"/>
          </a:solidFill>
          <a:ln/>
        </p:spPr>
      </p:sp>
      <p:sp>
        <p:nvSpPr>
          <p:cNvPr id="15" name="Text 12"/>
          <p:cNvSpPr/>
          <p:nvPr/>
        </p:nvSpPr>
        <p:spPr>
          <a:xfrm>
            <a:off x="6451092" y="1636776"/>
            <a:ext cx="5042916"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ORTHOGRAPHY</a:t>
            </a:r>
            <a:endParaRPr lang="en-US" sz="950" dirty="0"/>
          </a:p>
        </p:txBody>
      </p:sp>
      <p:sp>
        <p:nvSpPr>
          <p:cNvPr id="16" name="Text 13"/>
          <p:cNvSpPr/>
          <p:nvPr/>
        </p:nvSpPr>
        <p:spPr>
          <a:xfrm>
            <a:off x="6451092" y="188366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Arabic variance</a:t>
            </a:r>
            <a:endParaRPr lang="en-US" sz="1450" dirty="0"/>
          </a:p>
        </p:txBody>
      </p:sp>
      <p:sp>
        <p:nvSpPr>
          <p:cNvPr id="17" name="Text 14"/>
          <p:cNvSpPr/>
          <p:nvPr/>
        </p:nvSpPr>
        <p:spPr>
          <a:xfrm>
            <a:off x="6451092" y="240487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Alef variants (أ إ آ ا), ta marbuta vs ha (ة/ه), alef maqsura vs ya (ى/ي) — users interchange them freely; models treat them as different tokens unless normalised.</a:t>
            </a:r>
            <a:endParaRPr lang="en-US" sz="1050" dirty="0"/>
          </a:p>
        </p:txBody>
      </p:sp>
      <p:sp>
        <p:nvSpPr>
          <p:cNvPr id="18" name="Shape 15"/>
          <p:cNvSpPr/>
          <p:nvPr/>
        </p:nvSpPr>
        <p:spPr>
          <a:xfrm>
            <a:off x="502920" y="4078224"/>
            <a:ext cx="5454396" cy="2286000"/>
          </a:xfrm>
          <a:prstGeom prst="roundRect">
            <a:avLst>
              <a:gd name="adj" fmla="val 2400"/>
            </a:avLst>
          </a:prstGeom>
          <a:solidFill>
            <a:srgbClr val="F2F6F8"/>
          </a:solidFill>
          <a:ln/>
        </p:spPr>
      </p:sp>
      <p:sp>
        <p:nvSpPr>
          <p:cNvPr id="19" name="Shape 16"/>
          <p:cNvSpPr/>
          <p:nvPr/>
        </p:nvSpPr>
        <p:spPr>
          <a:xfrm>
            <a:off x="502920" y="4078224"/>
            <a:ext cx="82296" cy="2286000"/>
          </a:xfrm>
          <a:prstGeom prst="rect">
            <a:avLst/>
          </a:prstGeom>
          <a:solidFill>
            <a:srgbClr val="F7941D"/>
          </a:solidFill>
          <a:ln/>
        </p:spPr>
      </p:sp>
      <p:sp>
        <p:nvSpPr>
          <p:cNvPr id="20" name="Text 17"/>
          <p:cNvSpPr/>
          <p:nvPr/>
        </p:nvSpPr>
        <p:spPr>
          <a:xfrm>
            <a:off x="722376" y="4197096"/>
            <a:ext cx="5042916"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NOISE VS SIGNAL</a:t>
            </a:r>
            <a:endParaRPr lang="en-US" sz="950" dirty="0"/>
          </a:p>
        </p:txBody>
      </p:sp>
      <p:sp>
        <p:nvSpPr>
          <p:cNvPr id="21" name="Text 18"/>
          <p:cNvSpPr/>
          <p:nvPr/>
        </p:nvSpPr>
        <p:spPr>
          <a:xfrm>
            <a:off x="722376" y="444398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Cleaning is a modelling decision</a:t>
            </a:r>
            <a:endParaRPr lang="en-US" sz="1450" dirty="0"/>
          </a:p>
        </p:txBody>
      </p:sp>
      <p:sp>
        <p:nvSpPr>
          <p:cNvPr id="22" name="Text 19"/>
          <p:cNvSpPr/>
          <p:nvPr/>
        </p:nvSpPr>
        <p:spPr>
          <a:xfrm>
            <a:off x="722376" y="496519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Emoji and elongation (tatweel, repeated letters) ARE sentiment signal in feedback text; stripping them 'to clean the data' destroys label-relevant information.</a:t>
            </a:r>
            <a:endParaRPr lang="en-US" sz="1050" dirty="0"/>
          </a:p>
        </p:txBody>
      </p:sp>
      <p:sp>
        <p:nvSpPr>
          <p:cNvPr id="23" name="Shape 20"/>
          <p:cNvSpPr/>
          <p:nvPr/>
        </p:nvSpPr>
        <p:spPr>
          <a:xfrm>
            <a:off x="6231636" y="4078224"/>
            <a:ext cx="5454396" cy="2286000"/>
          </a:xfrm>
          <a:prstGeom prst="roundRect">
            <a:avLst>
              <a:gd name="adj" fmla="val 2400"/>
            </a:avLst>
          </a:prstGeom>
          <a:solidFill>
            <a:srgbClr val="F2F6F8"/>
          </a:solidFill>
          <a:ln/>
        </p:spPr>
      </p:sp>
      <p:sp>
        <p:nvSpPr>
          <p:cNvPr id="24" name="Shape 21"/>
          <p:cNvSpPr/>
          <p:nvPr/>
        </p:nvSpPr>
        <p:spPr>
          <a:xfrm>
            <a:off x="6231636" y="4078224"/>
            <a:ext cx="82296" cy="2286000"/>
          </a:xfrm>
          <a:prstGeom prst="rect">
            <a:avLst/>
          </a:prstGeom>
          <a:solidFill>
            <a:srgbClr val="8CC63F"/>
          </a:solidFill>
          <a:ln/>
        </p:spPr>
      </p:sp>
      <p:sp>
        <p:nvSpPr>
          <p:cNvPr id="25" name="Text 22"/>
          <p:cNvSpPr/>
          <p:nvPr/>
        </p:nvSpPr>
        <p:spPr>
          <a:xfrm>
            <a:off x="6451092" y="4197096"/>
            <a:ext cx="5042916" cy="237744"/>
          </a:xfrm>
          <a:prstGeom prst="rect">
            <a:avLst/>
          </a:prstGeom>
          <a:noFill/>
          <a:ln/>
        </p:spPr>
        <p:txBody>
          <a:bodyPr wrap="square" lIns="0" tIns="0" rIns="0" bIns="0" rtlCol="0" anchor="ctr"/>
          <a:lstStyle/>
          <a:p>
            <a:pPr indent="0" marL="0">
              <a:buNone/>
            </a:pPr>
            <a:r>
              <a:rPr lang="en-US" sz="950" b="1" spc="150" kern="0" dirty="0">
                <a:solidFill>
                  <a:srgbClr val="8CC63F"/>
                </a:solidFill>
                <a:latin typeface="Calibri" pitchFamily="34" charset="0"/>
                <a:ea typeface="Calibri" pitchFamily="34" charset="-122"/>
                <a:cs typeface="Calibri" pitchFamily="34" charset="-120"/>
              </a:rPr>
              <a:t>PII / PDPL</a:t>
            </a:r>
            <a:endParaRPr lang="en-US" sz="950" dirty="0"/>
          </a:p>
        </p:txBody>
      </p:sp>
      <p:sp>
        <p:nvSpPr>
          <p:cNvPr id="26" name="Text 23"/>
          <p:cNvSpPr/>
          <p:nvPr/>
        </p:nvSpPr>
        <p:spPr>
          <a:xfrm>
            <a:off x="6451092" y="444398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Mask before anything else</a:t>
            </a:r>
            <a:endParaRPr lang="en-US" sz="1450" dirty="0"/>
          </a:p>
        </p:txBody>
      </p:sp>
      <p:sp>
        <p:nvSpPr>
          <p:cNvPr id="27" name="Text 24"/>
          <p:cNvSpPr/>
          <p:nvPr/>
        </p:nvSpPr>
        <p:spPr>
          <a:xfrm>
            <a:off x="6451092" y="496519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National IDs, phone numbers and names must be masked BEFORE text enters any training set — under PDPL, a training corpus is personal-data processing.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Classic Pipeline — and Where It Still Lives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خط المعالجة الكلاسيكي وأين ما زال يعيش</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17</a:t>
            </a:r>
            <a:endParaRPr lang="en-US" sz="800" dirty="0"/>
          </a:p>
        </p:txBody>
      </p:sp>
      <p:sp>
        <p:nvSpPr>
          <p:cNvPr id="8" name="Shape 5"/>
          <p:cNvSpPr/>
          <p:nvPr/>
        </p:nvSpPr>
        <p:spPr>
          <a:xfrm>
            <a:off x="502920" y="1965960"/>
            <a:ext cx="1929384" cy="2377440"/>
          </a:xfrm>
          <a:prstGeom prst="roundRect">
            <a:avLst>
              <a:gd name="adj" fmla="val 2844"/>
            </a:avLst>
          </a:prstGeom>
          <a:solidFill>
            <a:srgbClr val="F2F6F8"/>
          </a:solidFill>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STAGE 1</a:t>
            </a:r>
            <a:endParaRPr lang="en-US" sz="1000" dirty="0"/>
          </a:p>
        </p:txBody>
      </p:sp>
      <p:sp>
        <p:nvSpPr>
          <p:cNvPr id="11" name="Text 8"/>
          <p:cNvSpPr/>
          <p:nvPr/>
        </p:nvSpPr>
        <p:spPr>
          <a:xfrm>
            <a:off x="640080"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Segmentation</a:t>
            </a:r>
            <a:endParaRPr lang="en-US" sz="1500" dirty="0"/>
          </a:p>
        </p:txBody>
      </p:sp>
      <p:sp>
        <p:nvSpPr>
          <p:cNvPr id="12" name="Text 9"/>
          <p:cNvSpPr/>
          <p:nvPr/>
        </p:nvSpPr>
        <p:spPr>
          <a:xfrm>
            <a:off x="640080"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Still matters: transformers have length limits. spaCy handles abbreviations naive split('.') butchers.</a:t>
            </a:r>
            <a:endParaRPr lang="en-US" sz="10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2844"/>
            </a:avLst>
          </a:prstGeom>
          <a:solidFill>
            <a:srgbClr val="F2F6F8"/>
          </a:solidFill>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lIns="0" tIns="0" rIns="0" bIns="0" rtlCol="0" anchor="ctr"/>
          <a:lstStyle/>
          <a:p>
            <a:pPr indent="0" marL="0">
              <a:buNone/>
            </a:pPr>
            <a:r>
              <a:rPr lang="en-US" sz="1000" b="1" spc="150" kern="0" dirty="0">
                <a:solidFill>
                  <a:srgbClr val="29ABE2"/>
                </a:solidFill>
                <a:latin typeface="Calibri" pitchFamily="34" charset="0"/>
                <a:ea typeface="Calibri" pitchFamily="34" charset="-122"/>
                <a:cs typeface="Calibri" pitchFamily="34" charset="-120"/>
              </a:rPr>
              <a:t>STAGE 2</a:t>
            </a:r>
            <a:endParaRPr lang="en-US" sz="1000" dirty="0"/>
          </a:p>
        </p:txBody>
      </p:sp>
      <p:sp>
        <p:nvSpPr>
          <p:cNvPr id="17" name="Text 14"/>
          <p:cNvSpPr/>
          <p:nvPr/>
        </p:nvSpPr>
        <p:spPr>
          <a:xfrm>
            <a:off x="2953512"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Tokenisation</a:t>
            </a:r>
            <a:endParaRPr lang="en-US" sz="1500" dirty="0"/>
          </a:p>
        </p:txBody>
      </p:sp>
      <p:sp>
        <p:nvSpPr>
          <p:cNvPr id="18" name="Text 15"/>
          <p:cNvSpPr/>
          <p:nvPr/>
        </p:nvSpPr>
        <p:spPr>
          <a:xfrm>
            <a:off x="2953512"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Words to units — today, subword ids. This is the model's real input.</a:t>
            </a:r>
            <a:endParaRPr lang="en-US" sz="10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2844"/>
            </a:avLst>
          </a:prstGeom>
          <a:solidFill>
            <a:srgbClr val="F2F6F8"/>
          </a:solidFill>
          <a:ln/>
        </p:spPr>
      </p:sp>
      <p:sp>
        <p:nvSpPr>
          <p:cNvPr id="21" name="Shape 18"/>
          <p:cNvSpPr/>
          <p:nvPr/>
        </p:nvSpPr>
        <p:spPr>
          <a:xfrm>
            <a:off x="5129784" y="1965960"/>
            <a:ext cx="1929384" cy="82296"/>
          </a:xfrm>
          <a:prstGeom prst="rect">
            <a:avLst/>
          </a:prstGeom>
          <a:solidFill>
            <a:srgbClr val="F7941D"/>
          </a:solidFill>
          <a:ln/>
        </p:spPr>
      </p:sp>
      <p:sp>
        <p:nvSpPr>
          <p:cNvPr id="22" name="Text 19"/>
          <p:cNvSpPr/>
          <p:nvPr/>
        </p:nvSpPr>
        <p:spPr>
          <a:xfrm>
            <a:off x="5266944" y="2148840"/>
            <a:ext cx="1655064" cy="237744"/>
          </a:xfrm>
          <a:prstGeom prst="rect">
            <a:avLst/>
          </a:prstGeom>
          <a:noFill/>
          <a:ln/>
        </p:spPr>
        <p:txBody>
          <a:bodyPr wrap="square" lIns="0" tIns="0" rIns="0" bIns="0" rtlCol="0" anchor="ctr"/>
          <a:lstStyle/>
          <a:p>
            <a:pPr indent="0" marL="0">
              <a:buNone/>
            </a:pPr>
            <a:r>
              <a:rPr lang="en-US" sz="1000" b="1" spc="150" kern="0" dirty="0">
                <a:solidFill>
                  <a:srgbClr val="F7941D"/>
                </a:solidFill>
                <a:latin typeface="Calibri" pitchFamily="34" charset="0"/>
                <a:ea typeface="Calibri" pitchFamily="34" charset="-122"/>
                <a:cs typeface="Calibri" pitchFamily="34" charset="-120"/>
              </a:rPr>
              <a:t>STAGE 3</a:t>
            </a:r>
            <a:endParaRPr lang="en-US" sz="1000" dirty="0"/>
          </a:p>
        </p:txBody>
      </p:sp>
      <p:sp>
        <p:nvSpPr>
          <p:cNvPr id="23" name="Text 20"/>
          <p:cNvSpPr/>
          <p:nvPr/>
        </p:nvSpPr>
        <p:spPr>
          <a:xfrm>
            <a:off x="5266944"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Lemma / stem</a:t>
            </a:r>
            <a:endParaRPr lang="en-US" sz="1500" dirty="0"/>
          </a:p>
        </p:txBody>
      </p:sp>
      <p:sp>
        <p:nvSpPr>
          <p:cNvPr id="24" name="Text 21"/>
          <p:cNvSpPr/>
          <p:nvPr/>
        </p:nvSpPr>
        <p:spPr>
          <a:xfrm>
            <a:off x="5266944"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Survives inside rule-based components and keyword fallbacks when the model is down.</a:t>
            </a:r>
            <a:endParaRPr lang="en-US" sz="10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2844"/>
            </a:avLst>
          </a:prstGeom>
          <a:solidFill>
            <a:srgbClr val="F2F6F8"/>
          </a:solidFill>
          <a:ln/>
        </p:spPr>
      </p:sp>
      <p:sp>
        <p:nvSpPr>
          <p:cNvPr id="27" name="Shape 24"/>
          <p:cNvSpPr/>
          <p:nvPr/>
        </p:nvSpPr>
        <p:spPr>
          <a:xfrm>
            <a:off x="7443216" y="1965960"/>
            <a:ext cx="1929384" cy="82296"/>
          </a:xfrm>
          <a:prstGeom prst="rect">
            <a:avLst/>
          </a:prstGeom>
          <a:solidFill>
            <a:srgbClr val="8CC63F"/>
          </a:solidFill>
          <a:ln/>
        </p:spPr>
      </p:sp>
      <p:sp>
        <p:nvSpPr>
          <p:cNvPr id="28" name="Text 25"/>
          <p:cNvSpPr/>
          <p:nvPr/>
        </p:nvSpPr>
        <p:spPr>
          <a:xfrm>
            <a:off x="7580376" y="2148840"/>
            <a:ext cx="1655064" cy="237744"/>
          </a:xfrm>
          <a:prstGeom prst="rect">
            <a:avLst/>
          </a:prstGeom>
          <a:noFill/>
          <a:ln/>
        </p:spPr>
        <p:txBody>
          <a:bodyPr wrap="square" lIns="0" tIns="0" rIns="0" bIns="0" rtlCol="0" anchor="ctr"/>
          <a:lstStyle/>
          <a:p>
            <a:pPr indent="0" marL="0">
              <a:buNone/>
            </a:pPr>
            <a:r>
              <a:rPr lang="en-US" sz="1000" b="1" spc="150" kern="0" dirty="0">
                <a:solidFill>
                  <a:srgbClr val="8CC63F"/>
                </a:solidFill>
                <a:latin typeface="Calibri" pitchFamily="34" charset="0"/>
                <a:ea typeface="Calibri" pitchFamily="34" charset="-122"/>
                <a:cs typeface="Calibri" pitchFamily="34" charset="-120"/>
              </a:rPr>
              <a:t>STAGE 4</a:t>
            </a:r>
            <a:endParaRPr lang="en-US" sz="1000" dirty="0"/>
          </a:p>
        </p:txBody>
      </p:sp>
      <p:sp>
        <p:nvSpPr>
          <p:cNvPr id="29" name="Text 26"/>
          <p:cNvSpPr/>
          <p:nvPr/>
        </p:nvSpPr>
        <p:spPr>
          <a:xfrm>
            <a:off x="7580376"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POS tagging</a:t>
            </a:r>
            <a:endParaRPr lang="en-US" sz="1500" dirty="0"/>
          </a:p>
        </p:txBody>
      </p:sp>
      <p:sp>
        <p:nvSpPr>
          <p:cNvPr id="30" name="Text 27"/>
          <p:cNvSpPr/>
          <p:nvPr/>
        </p:nvSpPr>
        <p:spPr>
          <a:xfrm>
            <a:off x="7580376"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Linguistic annotation powers candidate filtering before NER and template slots.</a:t>
            </a:r>
            <a:endParaRPr lang="en-US" sz="10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2844"/>
            </a:avLst>
          </a:prstGeom>
          <a:solidFill>
            <a:srgbClr val="F2F6F8"/>
          </a:solidFill>
          <a:ln/>
        </p:spPr>
      </p:sp>
      <p:sp>
        <p:nvSpPr>
          <p:cNvPr id="33" name="Shape 30"/>
          <p:cNvSpPr/>
          <p:nvPr/>
        </p:nvSpPr>
        <p:spPr>
          <a:xfrm>
            <a:off x="9756648" y="1965960"/>
            <a:ext cx="1929384" cy="82296"/>
          </a:xfrm>
          <a:prstGeom prst="rect">
            <a:avLst/>
          </a:prstGeom>
          <a:solidFill>
            <a:srgbClr val="00A79D"/>
          </a:solidFill>
          <a:ln/>
        </p:spPr>
      </p:sp>
      <p:sp>
        <p:nvSpPr>
          <p:cNvPr id="34" name="Text 31"/>
          <p:cNvSpPr/>
          <p:nvPr/>
        </p:nvSpPr>
        <p:spPr>
          <a:xfrm>
            <a:off x="9893808"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STAGE 5</a:t>
            </a:r>
            <a:endParaRPr lang="en-US" sz="1000" dirty="0"/>
          </a:p>
        </p:txBody>
      </p:sp>
      <p:sp>
        <p:nvSpPr>
          <p:cNvPr id="35" name="Text 32"/>
          <p:cNvSpPr/>
          <p:nvPr/>
        </p:nvSpPr>
        <p:spPr>
          <a:xfrm>
            <a:off x="9893808"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Features</a:t>
            </a:r>
            <a:endParaRPr lang="en-US" sz="1500" dirty="0"/>
          </a:p>
        </p:txBody>
      </p:sp>
      <p:sp>
        <p:nvSpPr>
          <p:cNvPr id="36" name="Text 33"/>
          <p:cNvSpPr/>
          <p:nvPr/>
        </p:nvSpPr>
        <p:spPr>
          <a:xfrm>
            <a:off x="9893808"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Did NOT survive as model input — transformers consume subword ids, not hand-engineered features.</a:t>
            </a:r>
            <a:endParaRPr lang="en-US" sz="1050" dirty="0"/>
          </a:p>
        </p:txBody>
      </p:sp>
      <p:sp>
        <p:nvSpPr>
          <p:cNvPr id="37" name="Shape 34"/>
          <p:cNvSpPr/>
          <p:nvPr/>
        </p:nvSpPr>
        <p:spPr>
          <a:xfrm>
            <a:off x="502920" y="4892040"/>
            <a:ext cx="11183112" cy="1051560"/>
          </a:xfrm>
          <a:prstGeom prst="roundRect">
            <a:avLst>
              <a:gd name="adj" fmla="val 6957"/>
            </a:avLst>
          </a:prstGeom>
          <a:solidFill>
            <a:srgbClr val="E6F5F4"/>
          </a:solidFill>
          <a:ln/>
        </p:spPr>
      </p:sp>
      <p:sp>
        <p:nvSpPr>
          <p:cNvPr id="38" name="Text 35"/>
          <p:cNvSpPr/>
          <p:nvPr/>
        </p:nvSpPr>
        <p:spPr>
          <a:xfrm>
            <a:off x="731520" y="4892040"/>
            <a:ext cx="10789920" cy="105156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200" dirty="0">
                <a:solidFill>
                  <a:srgbClr val="2B2B2B"/>
                </a:solidFill>
                <a:latin typeface="Calibri" pitchFamily="34" charset="0"/>
                <a:ea typeface="Calibri" pitchFamily="34" charset="-122"/>
                <a:cs typeface="Calibri" pitchFamily="34" charset="-120"/>
              </a:rPr>
              <a:t>The pipeline mental model — a sequence of typed, testable stages — becomes a Doc-in, Doc-out spaCy pipeline. The classic stack now serves the model rather than replacing it.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Subword Tokenisation: Three Algorithms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التقطيع الجزئي للكلمات: ثلاث خوارزميات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18</a:t>
            </a:r>
            <a:endParaRPr lang="en-US" sz="800" dirty="0"/>
          </a:p>
        </p:txBody>
      </p:sp>
      <p:sp>
        <p:nvSpPr>
          <p:cNvPr id="8" name="Shape 5"/>
          <p:cNvSpPr/>
          <p:nvPr/>
        </p:nvSpPr>
        <p:spPr>
          <a:xfrm>
            <a:off x="502920" y="1554480"/>
            <a:ext cx="6949440" cy="1514856"/>
          </a:xfrm>
          <a:prstGeom prst="roundRect">
            <a:avLst>
              <a:gd name="adj" fmla="val 3622"/>
            </a:avLst>
          </a:prstGeom>
          <a:solidFill>
            <a:srgbClr val="E6F5F4"/>
          </a:solidFill>
          <a:ln w="9525">
            <a:solidFill>
              <a:srgbClr val="00A79D"/>
            </a:solidFill>
            <a:prstDash val="solid"/>
          </a:ln>
        </p:spPr>
      </p:sp>
      <p:sp>
        <p:nvSpPr>
          <p:cNvPr id="9" name="Text 6"/>
          <p:cNvSpPr/>
          <p:nvPr/>
        </p:nvSpPr>
        <p:spPr>
          <a:xfrm>
            <a:off x="731520" y="1627632"/>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BPE — byte-pair encoding (GPT family)</a:t>
            </a:r>
            <a:endParaRPr lang="en-US" sz="1350" dirty="0"/>
          </a:p>
        </p:txBody>
      </p:sp>
      <p:sp>
        <p:nvSpPr>
          <p:cNvPr id="10" name="Text 7"/>
          <p:cNvSpPr/>
          <p:nvPr/>
        </p:nvSpPr>
        <p:spPr>
          <a:xfrm>
            <a:off x="731520" y="1920240"/>
            <a:ext cx="6492240" cy="1057656"/>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Start from characters or bytes, merging the most frequent adjacent pair. Byte-level BPE guarantees no unknown token ever. Vocab size is the stopping knob.</a:t>
            </a:r>
            <a:endParaRPr lang="en-US" sz="1050" dirty="0"/>
          </a:p>
        </p:txBody>
      </p:sp>
      <p:sp>
        <p:nvSpPr>
          <p:cNvPr id="11" name="Shape 8"/>
          <p:cNvSpPr/>
          <p:nvPr/>
        </p:nvSpPr>
        <p:spPr>
          <a:xfrm>
            <a:off x="502920" y="3197352"/>
            <a:ext cx="6949440" cy="1514856"/>
          </a:xfrm>
          <a:prstGeom prst="roundRect">
            <a:avLst>
              <a:gd name="adj" fmla="val 3622"/>
            </a:avLst>
          </a:prstGeom>
          <a:solidFill>
            <a:srgbClr val="EAF6FC"/>
          </a:solidFill>
          <a:ln w="9525">
            <a:solidFill>
              <a:srgbClr val="29ABE2"/>
            </a:solidFill>
            <a:prstDash val="solid"/>
          </a:ln>
        </p:spPr>
      </p:sp>
      <p:sp>
        <p:nvSpPr>
          <p:cNvPr id="12" name="Text 9"/>
          <p:cNvSpPr/>
          <p:nvPr/>
        </p:nvSpPr>
        <p:spPr>
          <a:xfrm>
            <a:off x="731520" y="3270504"/>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WordPiece (BERT family)</a:t>
            </a:r>
            <a:endParaRPr lang="en-US" sz="1350" dirty="0"/>
          </a:p>
        </p:txBody>
      </p:sp>
      <p:sp>
        <p:nvSpPr>
          <p:cNvPr id="13" name="Text 10"/>
          <p:cNvSpPr/>
          <p:nvPr/>
        </p:nvSpPr>
        <p:spPr>
          <a:xfrm>
            <a:off x="731520" y="3563112"/>
            <a:ext cx="6492240" cy="1057656"/>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Like BPE but merges the pair maximising corpus likelihood, not raw frequency; continuation pieces carry the ## prefix: playing becomes play ##ing.</a:t>
            </a:r>
            <a:endParaRPr lang="en-US" sz="1050" dirty="0"/>
          </a:p>
        </p:txBody>
      </p:sp>
      <p:sp>
        <p:nvSpPr>
          <p:cNvPr id="14" name="Shape 11"/>
          <p:cNvSpPr/>
          <p:nvPr/>
        </p:nvSpPr>
        <p:spPr>
          <a:xfrm>
            <a:off x="502920" y="4840224"/>
            <a:ext cx="6949440" cy="1514856"/>
          </a:xfrm>
          <a:prstGeom prst="roundRect">
            <a:avLst>
              <a:gd name="adj" fmla="val 3622"/>
            </a:avLst>
          </a:prstGeom>
          <a:solidFill>
            <a:srgbClr val="FEF3E3"/>
          </a:solidFill>
          <a:ln w="9525">
            <a:solidFill>
              <a:srgbClr val="F7941D"/>
            </a:solidFill>
            <a:prstDash val="solid"/>
          </a:ln>
        </p:spPr>
      </p:sp>
      <p:sp>
        <p:nvSpPr>
          <p:cNvPr id="15" name="Text 12"/>
          <p:cNvSpPr/>
          <p:nvPr/>
        </p:nvSpPr>
        <p:spPr>
          <a:xfrm>
            <a:off x="731520" y="4913376"/>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SentencePiece (XLM-R, T5, most multilingual)</a:t>
            </a:r>
            <a:endParaRPr lang="en-US" sz="1350" dirty="0"/>
          </a:p>
        </p:txBody>
      </p:sp>
      <p:sp>
        <p:nvSpPr>
          <p:cNvPr id="16" name="Text 13"/>
          <p:cNvSpPr/>
          <p:nvPr/>
        </p:nvSpPr>
        <p:spPr>
          <a:xfrm>
            <a:off x="731520" y="5205984"/>
            <a:ext cx="6492240" cy="1057656"/>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Treats input as a raw stream including whitespace (▁); needs no pre-tokenisation — critical for languages without whitespace and convenient for Arabic clitics.</a:t>
            </a:r>
            <a:endParaRPr lang="en-US" sz="1050" dirty="0"/>
          </a:p>
        </p:txBody>
      </p:sp>
      <p:sp>
        <p:nvSpPr>
          <p:cNvPr id="17" name="Shape 14"/>
          <p:cNvSpPr/>
          <p:nvPr/>
        </p:nvSpPr>
        <p:spPr>
          <a:xfrm>
            <a:off x="7726680" y="1554480"/>
            <a:ext cx="3959352" cy="4800600"/>
          </a:xfrm>
          <a:prstGeom prst="roundRect">
            <a:avLst>
              <a:gd name="adj" fmla="val 1848"/>
            </a:avLst>
          </a:prstGeom>
          <a:solidFill>
            <a:srgbClr val="1D2A5C"/>
          </a:solidFill>
          <a:ln/>
        </p:spPr>
      </p:sp>
      <p:sp>
        <p:nvSpPr>
          <p:cNvPr id="18" name="Text 15"/>
          <p:cNvSpPr/>
          <p:nvPr/>
        </p:nvSpPr>
        <p:spPr>
          <a:xfrm>
            <a:off x="7955280" y="1737360"/>
            <a:ext cx="3502152" cy="36576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Non-negotiables</a:t>
            </a:r>
            <a:endParaRPr lang="en-US" sz="1400" dirty="0"/>
          </a:p>
        </p:txBody>
      </p:sp>
      <p:sp>
        <p:nvSpPr>
          <p:cNvPr id="19" name="Text 16"/>
          <p:cNvSpPr/>
          <p:nvPr/>
        </p:nvSpPr>
        <p:spPr>
          <a:xfrm>
            <a:off x="7955280" y="2194560"/>
            <a:ext cx="3502152" cy="3977640"/>
          </a:xfrm>
          <a:prstGeom prst="rect">
            <a:avLst/>
          </a:prstGeom>
          <a:noFill/>
          <a:ln/>
        </p:spPr>
        <p:txBody>
          <a:bodyPr wrap="square" lIns="0" tIns="0" rIns="0" bIns="0" rtlCol="0" anchor="t"/>
          <a:lstStyle/>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Word-level vocabularies explode on Arabic morphology; character-level wastes capacity relearning composition.</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Tokenizers are trained artefacts, versioned with the model.</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Checkpoint A weights + checkpoint B tokenizer = silent corruption — ids map to different strings.</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AutoTokenizer.from_pretrained on the SAME id as the model is a correctness requirement, not convenience.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Fertility on the Bayan Corpus — Arabic Slice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الخصوبة على متن بيان — الشريحة العربية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19</a:t>
            </a:r>
            <a:endParaRPr lang="en-US" sz="800" dirty="0"/>
          </a:p>
        </p:txBody>
      </p:sp>
      <p:sp>
        <p:nvSpPr>
          <p:cNvPr id="8" name="Shape 5"/>
          <p:cNvSpPr/>
          <p:nvPr/>
        </p:nvSpPr>
        <p:spPr>
          <a:xfrm>
            <a:off x="502920" y="1828800"/>
            <a:ext cx="2555748" cy="3017520"/>
          </a:xfrm>
          <a:prstGeom prst="roundRect">
            <a:avLst>
              <a:gd name="adj" fmla="val 2862"/>
            </a:avLst>
          </a:prstGeom>
          <a:solidFill>
            <a:srgbClr val="F2F6F8"/>
          </a:solidFill>
          <a:ln/>
        </p:spPr>
      </p:sp>
      <p:sp>
        <p:nvSpPr>
          <p:cNvPr id="9" name="Text 6"/>
          <p:cNvSpPr/>
          <p:nvPr/>
        </p:nvSpPr>
        <p:spPr>
          <a:xfrm>
            <a:off x="640080" y="2103120"/>
            <a:ext cx="2281428" cy="914400"/>
          </a:xfrm>
          <a:prstGeom prst="rect">
            <a:avLst/>
          </a:prstGeom>
          <a:noFill/>
          <a:ln/>
        </p:spPr>
        <p:txBody>
          <a:bodyPr wrap="square" lIns="0" tIns="0" rIns="0" bIns="0"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2.71</a:t>
            </a:r>
            <a:endParaRPr lang="en-US" sz="4000" dirty="0"/>
          </a:p>
        </p:txBody>
      </p:sp>
      <p:sp>
        <p:nvSpPr>
          <p:cNvPr id="10" name="Text 7"/>
          <p:cNvSpPr/>
          <p:nvPr/>
        </p:nvSpPr>
        <p:spPr>
          <a:xfrm>
            <a:off x="640080"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mBERT (WordPiece)</a:t>
            </a:r>
            <a:endParaRPr lang="en-US" sz="1300" dirty="0"/>
          </a:p>
        </p:txBody>
      </p:sp>
      <p:sp>
        <p:nvSpPr>
          <p:cNvPr id="11" name="Text 8"/>
          <p:cNvSpPr/>
          <p:nvPr/>
        </p:nvSpPr>
        <p:spPr>
          <a:xfrm>
            <a:off x="667512"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104 languages; EN fertility 1.31. Arabic words fragment into nearly 3 pieces each.</a:t>
            </a:r>
            <a:endParaRPr lang="en-US" sz="1000" dirty="0"/>
          </a:p>
        </p:txBody>
      </p:sp>
      <p:sp>
        <p:nvSpPr>
          <p:cNvPr id="12" name="Shape 9"/>
          <p:cNvSpPr/>
          <p:nvPr/>
        </p:nvSpPr>
        <p:spPr>
          <a:xfrm>
            <a:off x="3378708" y="1828800"/>
            <a:ext cx="2555748" cy="3017520"/>
          </a:xfrm>
          <a:prstGeom prst="roundRect">
            <a:avLst>
              <a:gd name="adj" fmla="val 2862"/>
            </a:avLst>
          </a:prstGeom>
          <a:solidFill>
            <a:srgbClr val="F2F6F8"/>
          </a:solidFill>
          <a:ln/>
        </p:spPr>
      </p:sp>
      <p:sp>
        <p:nvSpPr>
          <p:cNvPr id="13" name="Text 10"/>
          <p:cNvSpPr/>
          <p:nvPr/>
        </p:nvSpPr>
        <p:spPr>
          <a:xfrm>
            <a:off x="3515868" y="2103120"/>
            <a:ext cx="2281428" cy="914400"/>
          </a:xfrm>
          <a:prstGeom prst="rect">
            <a:avLst/>
          </a:prstGeom>
          <a:noFill/>
          <a:ln/>
        </p:spPr>
        <p:txBody>
          <a:bodyPr wrap="square" lIns="0" tIns="0" rIns="0" bIns="0" rtlCol="0" anchor="ctr"/>
          <a:lstStyle/>
          <a:p>
            <a:pPr algn="ctr" indent="0" marL="0">
              <a:buNone/>
            </a:pPr>
            <a:r>
              <a:rPr lang="en-US" sz="4000" b="1" dirty="0">
                <a:solidFill>
                  <a:srgbClr val="29ABE2"/>
                </a:solidFill>
                <a:latin typeface="Calibri" pitchFamily="34" charset="0"/>
                <a:ea typeface="Calibri" pitchFamily="34" charset="-122"/>
                <a:cs typeface="Calibri" pitchFamily="34" charset="-120"/>
              </a:rPr>
              <a:t>1.94</a:t>
            </a:r>
            <a:endParaRPr lang="en-US" sz="4000" dirty="0"/>
          </a:p>
        </p:txBody>
      </p:sp>
      <p:sp>
        <p:nvSpPr>
          <p:cNvPr id="14" name="Text 11"/>
          <p:cNvSpPr/>
          <p:nvPr/>
        </p:nvSpPr>
        <p:spPr>
          <a:xfrm>
            <a:off x="3515868"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XLM-R (SentencePiece)</a:t>
            </a:r>
            <a:endParaRPr lang="en-US" sz="1300" dirty="0"/>
          </a:p>
        </p:txBody>
      </p:sp>
      <p:sp>
        <p:nvSpPr>
          <p:cNvPr id="15" name="Text 12"/>
          <p:cNvSpPr/>
          <p:nvPr/>
        </p:nvSpPr>
        <p:spPr>
          <a:xfrm>
            <a:off x="3543300"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100 languages; EN fertility 1.27. Better Arabic coverage, zero UNK by construction.</a:t>
            </a:r>
            <a:endParaRPr lang="en-US" sz="1000" dirty="0"/>
          </a:p>
        </p:txBody>
      </p:sp>
      <p:sp>
        <p:nvSpPr>
          <p:cNvPr id="16" name="Shape 13"/>
          <p:cNvSpPr/>
          <p:nvPr/>
        </p:nvSpPr>
        <p:spPr>
          <a:xfrm>
            <a:off x="6254496" y="1828800"/>
            <a:ext cx="2555748" cy="3017520"/>
          </a:xfrm>
          <a:prstGeom prst="roundRect">
            <a:avLst>
              <a:gd name="adj" fmla="val 2862"/>
            </a:avLst>
          </a:prstGeom>
          <a:solidFill>
            <a:srgbClr val="F2F6F8"/>
          </a:solidFill>
          <a:ln/>
        </p:spPr>
      </p:sp>
      <p:sp>
        <p:nvSpPr>
          <p:cNvPr id="17" name="Text 14"/>
          <p:cNvSpPr/>
          <p:nvPr/>
        </p:nvSpPr>
        <p:spPr>
          <a:xfrm>
            <a:off x="6391656" y="2103120"/>
            <a:ext cx="2281428" cy="914400"/>
          </a:xfrm>
          <a:prstGeom prst="rect">
            <a:avLst/>
          </a:prstGeom>
          <a:noFill/>
          <a:ln/>
        </p:spPr>
        <p:txBody>
          <a:bodyPr wrap="square" lIns="0" tIns="0" rIns="0" bIns="0" rtlCol="0" anchor="ctr"/>
          <a:lstStyle/>
          <a:p>
            <a:pPr algn="ctr" indent="0" marL="0">
              <a:buNone/>
            </a:pPr>
            <a:r>
              <a:rPr lang="en-US" sz="4000" b="1" dirty="0">
                <a:solidFill>
                  <a:srgbClr val="F7941D"/>
                </a:solidFill>
                <a:latin typeface="Calibri" pitchFamily="34" charset="0"/>
                <a:ea typeface="Calibri" pitchFamily="34" charset="-122"/>
                <a:cs typeface="Calibri" pitchFamily="34" charset="-120"/>
              </a:rPr>
              <a:t>1.34</a:t>
            </a:r>
            <a:endParaRPr lang="en-US" sz="4000" dirty="0"/>
          </a:p>
        </p:txBody>
      </p:sp>
      <p:sp>
        <p:nvSpPr>
          <p:cNvPr id="18" name="Text 15"/>
          <p:cNvSpPr/>
          <p:nvPr/>
        </p:nvSpPr>
        <p:spPr>
          <a:xfrm>
            <a:off x="6391656"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CAMeLBERT (Arabic-centric)</a:t>
            </a:r>
            <a:endParaRPr lang="en-US" sz="1300" dirty="0"/>
          </a:p>
        </p:txBody>
      </p:sp>
      <p:sp>
        <p:nvSpPr>
          <p:cNvPr id="19" name="Text 16"/>
          <p:cNvSpPr/>
          <p:nvPr/>
        </p:nvSpPr>
        <p:spPr>
          <a:xfrm>
            <a:off x="6419088"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The Arabic winner — but EN fertility 1.88; the trade cuts the other way in English.</a:t>
            </a:r>
            <a:endParaRPr lang="en-US" sz="1000" dirty="0"/>
          </a:p>
        </p:txBody>
      </p:sp>
      <p:sp>
        <p:nvSpPr>
          <p:cNvPr id="20" name="Shape 17"/>
          <p:cNvSpPr/>
          <p:nvPr/>
        </p:nvSpPr>
        <p:spPr>
          <a:xfrm>
            <a:off x="9130284" y="1828800"/>
            <a:ext cx="2555748" cy="3017520"/>
          </a:xfrm>
          <a:prstGeom prst="roundRect">
            <a:avLst>
              <a:gd name="adj" fmla="val 2862"/>
            </a:avLst>
          </a:prstGeom>
          <a:solidFill>
            <a:srgbClr val="F2F6F8"/>
          </a:solidFill>
          <a:ln/>
        </p:spPr>
      </p:sp>
      <p:sp>
        <p:nvSpPr>
          <p:cNvPr id="21" name="Text 18"/>
          <p:cNvSpPr/>
          <p:nvPr/>
        </p:nvSpPr>
        <p:spPr>
          <a:xfrm>
            <a:off x="9267444" y="2103120"/>
            <a:ext cx="2281428" cy="914400"/>
          </a:xfrm>
          <a:prstGeom prst="rect">
            <a:avLst/>
          </a:prstGeom>
          <a:noFill/>
          <a:ln/>
        </p:spPr>
        <p:txBody>
          <a:bodyPr wrap="square" lIns="0" tIns="0" rIns="0" bIns="0" rtlCol="0" anchor="ctr"/>
          <a:lstStyle/>
          <a:p>
            <a:pPr algn="ctr" indent="0" marL="0">
              <a:buNone/>
            </a:pPr>
            <a:r>
              <a:rPr lang="en-US" sz="4000" b="1" dirty="0">
                <a:solidFill>
                  <a:srgbClr val="8CC63F"/>
                </a:solidFill>
                <a:latin typeface="Calibri" pitchFamily="34" charset="0"/>
                <a:ea typeface="Calibri" pitchFamily="34" charset="-122"/>
                <a:cs typeface="Calibri" pitchFamily="34" charset="-120"/>
              </a:rPr>
              <a:t>6.90</a:t>
            </a:r>
            <a:endParaRPr lang="en-US" sz="4000" dirty="0"/>
          </a:p>
        </p:txBody>
      </p:sp>
      <p:sp>
        <p:nvSpPr>
          <p:cNvPr id="22" name="Text 19"/>
          <p:cNvSpPr/>
          <p:nvPr/>
        </p:nvSpPr>
        <p:spPr>
          <a:xfrm>
            <a:off x="9267444"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DistilBERT (English-only)</a:t>
            </a:r>
            <a:endParaRPr lang="en-US" sz="1300" dirty="0"/>
          </a:p>
        </p:txBody>
      </p:sp>
      <p:sp>
        <p:nvSpPr>
          <p:cNvPr id="23" name="Text 20"/>
          <p:cNvSpPr/>
          <p:nvPr/>
        </p:nvSpPr>
        <p:spPr>
          <a:xfrm>
            <a:off x="9294876"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The trap: ~7 pieces per Arabic word, 11.2% UNK rate, p95 sequence length 348.</a:t>
            </a:r>
            <a:endParaRPr lang="en-US" sz="1000" dirty="0"/>
          </a:p>
        </p:txBody>
      </p:sp>
      <p:sp>
        <p:nvSpPr>
          <p:cNvPr id="24" name="Shape 21"/>
          <p:cNvSpPr/>
          <p:nvPr/>
        </p:nvSpPr>
        <p:spPr>
          <a:xfrm>
            <a:off x="502920" y="5212080"/>
            <a:ext cx="11183112" cy="868680"/>
          </a:xfrm>
          <a:prstGeom prst="roundRect">
            <a:avLst>
              <a:gd name="adj" fmla="val 8421"/>
            </a:avLst>
          </a:prstGeom>
          <a:solidFill>
            <a:srgbClr val="E6F5F4"/>
          </a:solidFill>
          <a:ln/>
        </p:spPr>
      </p:sp>
      <p:sp>
        <p:nvSpPr>
          <p:cNvPr id="25" name="Text 22"/>
          <p:cNvSpPr/>
          <p:nvPr/>
        </p:nvSpPr>
        <p:spPr>
          <a:xfrm>
            <a:off x="731520" y="5212080"/>
            <a:ext cx="10744200" cy="8686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READ THE NUMBERS   </a:t>
            </a:r>
            <a:pPr indent="0" marL="0">
              <a:buNone/>
            </a:pPr>
            <a:r>
              <a:rPr lang="en-US" sz="1150" dirty="0">
                <a:solidFill>
                  <a:srgbClr val="2B2B2B"/>
                </a:solidFill>
                <a:latin typeface="Calibri" pitchFamily="34" charset="0"/>
                <a:ea typeface="Calibri" pitchFamily="34" charset="-122"/>
                <a:cs typeface="Calibri" pitchFamily="34" charset="-120"/>
              </a:rPr>
              <a:t>Fertility = average subword pieces per word. High fertility: shorter effective context, slower inference, weaker representations. Measure on YOUR corpus first — five lines prevent a five-week mistake.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Anti-Skew Preprocessing Module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وحدة المعالجة المسبقة المضادة للانحراف</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20</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Single source of preprocessing truth: training, evaluation, and the serving API all import THIS module. Bump PREPROC_VERSION on any behaviour change.</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src/bayan/preprocessing.py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import re, unicodedata</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PREPROC_VERSION = "1.2.0"</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_TATWEEL = "\u0640"</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_PHONE_RE = re.compile(r"(?:\+?966|0)5\d{8}")           # KSA mobile numbers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_NATIONAL_ID_RE = re.compile(r"\b[12]\d{9}\b")          # 10-digit, starts 1/2</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_REPEAT_RE = re.compile(r"(.)\1{2,}")                   # 3+ repeated chars</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normalize(text: str) -&gt; str: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"""Deliberately does NOT lowercase (cased models), strip emoji</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(sentiment signal), or remove diacritics (Module 4, model-dependent)."""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text = unicodedata.normalize("NFC", text)           # one codepoint form</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text = text.replace(_TATWEEL, "")                   # decorative elongation</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text = _REPEAT_RE.sub(r"\1\1", text)                # collapse repeats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re.sub(r"\s+", " ", text).strip()</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mask_pii(text: str) -&gt; str: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"""PDPL discipline: PII never enters a training set or a log."""</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text = _PHONE_RE.sub("&lt;PHONE&gt;", text)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_NATIONAL_ID_RE.sub("&lt;NATIONAL_ID&gt;", text)</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preprocess(text: str) -&gt; str: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normalize(mask_pii(text))</a:t>
            </a:r>
            <a:endParaRPr lang="en-US" sz="8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What it refuses to do</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No lowercasing, no emoji stripping, no dediacritisation — the docstring documents the negative decisions too.</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Order matters</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preprocess() masks BEFORE normalising: the repeated-char collapse would break the phone regex the other way round.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spaCy Pipeline with a Custom Component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خط spaCy مع مكوّن مخصص</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21</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Sentence segmentation + light annotation for chunking long complaints. spaCy handles structure; the transformer handles meaning.</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src/bayan/segmentation.py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import spacy</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spacy.language import Language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bayan.preprocessing import preprocess</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@Language.component("bayan_preclean")</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bayan_preclean(doc):</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 Components see the Doc AFTER tokenisation; this one only flags leftovers.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for token in doc:</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if token.like_num and len(token.text) == 10:</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token._.set("pii_suspect", True)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doc</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build_pipeline() -&gt; Language: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nlp = spacy.blank("xx")                    # multilingual base: AR + EN</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nlp.add_pipe("sentencizer")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from spacy.tokens import Token</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if not Token.has_extension("pii_suspect"):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Token.set_extension("pii_suspect", default=False)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nlp.add_pipe("bayan_preclean")</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nlp</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split_sentences(raw: str, nlp: Language) -&gt; list[str]: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doc = nlp(preprocess(raw))</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[s.text.strip() for s in doc.sents if s.text.strip()]</a:t>
            </a:r>
            <a:endParaRPr lang="en-US" sz="8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Defence in depth</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bayan_preclean flags 10-digit numeric tokens as pii_suspect — a second net behind mask_pii, not a replacement for it.</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spacy.blank('xx')</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The multilingual base handles Arabic and English in one pipeline; the sentencizer feeds the chunking every later module relies on.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Static vs Contextual Embeddings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التضمينات الثابتة مقابل السياقية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22</a:t>
            </a:r>
            <a:endParaRPr lang="en-US" sz="800" dirty="0"/>
          </a:p>
        </p:txBody>
      </p:sp>
      <p:sp>
        <p:nvSpPr>
          <p:cNvPr id="8" name="Shape 5"/>
          <p:cNvSpPr/>
          <p:nvPr/>
        </p:nvSpPr>
        <p:spPr>
          <a:xfrm>
            <a:off x="502920" y="1517904"/>
            <a:ext cx="5477256" cy="3977640"/>
          </a:xfrm>
          <a:prstGeom prst="roundRect">
            <a:avLst>
              <a:gd name="adj" fmla="val 1839"/>
            </a:avLst>
          </a:prstGeom>
          <a:solidFill>
            <a:srgbClr val="F2F6F8"/>
          </a:solidFill>
          <a:ln/>
        </p:spPr>
      </p:sp>
      <p:sp>
        <p:nvSpPr>
          <p:cNvPr id="9" name="Shape 6"/>
          <p:cNvSpPr/>
          <p:nvPr/>
        </p:nvSpPr>
        <p:spPr>
          <a:xfrm>
            <a:off x="502920" y="1517904"/>
            <a:ext cx="5477256" cy="502920"/>
          </a:xfrm>
          <a:prstGeom prst="roundRect">
            <a:avLst>
              <a:gd name="adj" fmla="val 14545"/>
            </a:avLst>
          </a:prstGeom>
          <a:solidFill>
            <a:srgbClr val="00A79D"/>
          </a:solidFill>
          <a:ln/>
        </p:spPr>
      </p:sp>
      <p:sp>
        <p:nvSpPr>
          <p:cNvPr id="10" name="Text 7"/>
          <p:cNvSpPr/>
          <p:nvPr/>
        </p:nvSpPr>
        <p:spPr>
          <a:xfrm>
            <a:off x="704088" y="1517904"/>
            <a:ext cx="507492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Static — word2vec, GloVe, fastText</a:t>
            </a:r>
            <a:endParaRPr lang="en-US" sz="1450" dirty="0"/>
          </a:p>
        </p:txBody>
      </p:sp>
      <p:sp>
        <p:nvSpPr>
          <p:cNvPr id="11" name="Text 8"/>
          <p:cNvSpPr/>
          <p:nvPr/>
        </p:nvSpPr>
        <p:spPr>
          <a:xfrm>
            <a:off x="731520" y="2176272"/>
            <a:ext cx="5020056" cy="3154680"/>
          </a:xfrm>
          <a:prstGeom prst="rect">
            <a:avLst/>
          </a:prstGeom>
          <a:noFill/>
          <a:ln/>
        </p:spPr>
        <p:txBody>
          <a:bodyPr wrap="square" lIns="0" tIns="0" rIns="0" bIns="0" rtlCol="0" anchor="t"/>
          <a:lstStyle/>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One vector per type: 'bank' in 'river bank' and 'bank account' is a single point.</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Still useful: lightweight similarity, initialisation, analogy-style probes.</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fastText's character n-grams handle Arabic morphology surprisingly well for a pre-transformer method.</a:t>
            </a:r>
            <a:endParaRPr lang="en-US" sz="1150" dirty="0"/>
          </a:p>
        </p:txBody>
      </p:sp>
      <p:sp>
        <p:nvSpPr>
          <p:cNvPr id="12" name="Shape 9"/>
          <p:cNvSpPr/>
          <p:nvPr/>
        </p:nvSpPr>
        <p:spPr>
          <a:xfrm>
            <a:off x="6208776" y="1517904"/>
            <a:ext cx="5477256" cy="3977640"/>
          </a:xfrm>
          <a:prstGeom prst="roundRect">
            <a:avLst>
              <a:gd name="adj" fmla="val 1839"/>
            </a:avLst>
          </a:prstGeom>
          <a:solidFill>
            <a:srgbClr val="F2F6F8"/>
          </a:solidFill>
          <a:ln/>
        </p:spPr>
      </p:sp>
      <p:sp>
        <p:nvSpPr>
          <p:cNvPr id="13" name="Shape 10"/>
          <p:cNvSpPr/>
          <p:nvPr/>
        </p:nvSpPr>
        <p:spPr>
          <a:xfrm>
            <a:off x="6208776" y="1517904"/>
            <a:ext cx="5477256" cy="502920"/>
          </a:xfrm>
          <a:prstGeom prst="roundRect">
            <a:avLst>
              <a:gd name="adj" fmla="val 14545"/>
            </a:avLst>
          </a:prstGeom>
          <a:solidFill>
            <a:srgbClr val="F7941D"/>
          </a:solidFill>
          <a:ln/>
        </p:spPr>
      </p:sp>
      <p:sp>
        <p:nvSpPr>
          <p:cNvPr id="14" name="Text 11"/>
          <p:cNvSpPr/>
          <p:nvPr/>
        </p:nvSpPr>
        <p:spPr>
          <a:xfrm>
            <a:off x="6409944" y="1517904"/>
            <a:ext cx="507492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Contextual — the transformer's output</a:t>
            </a:r>
            <a:endParaRPr lang="en-US" sz="1450" dirty="0"/>
          </a:p>
        </p:txBody>
      </p:sp>
      <p:sp>
        <p:nvSpPr>
          <p:cNvPr id="15" name="Text 12"/>
          <p:cNvSpPr/>
          <p:nvPr/>
        </p:nvSpPr>
        <p:spPr>
          <a:xfrm>
            <a:off x="6437376" y="2176272"/>
            <a:ext cx="5020056" cy="3154680"/>
          </a:xfrm>
          <a:prstGeom prst="rect">
            <a:avLst/>
          </a:prstGeom>
          <a:noFill/>
          <a:ln/>
        </p:spPr>
        <p:txBody>
          <a:bodyPr wrap="square" lIns="0" tIns="0" rIns="0" bIns="0" rtlCol="0" anchor="t"/>
          <a:lstStyle/>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Same word, different vector per context — computed by attention (Module 2).</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Classic demo: cosine similarity of 'عين' (eye/spring/notable) across contexts shows disambiguation in vector space.</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The embedding matrix is the lookup that starts it: 30,522 × 768 ≈ 23M params, about 21% of BERT-base.</a:t>
            </a:r>
            <a:endParaRPr lang="en-US" sz="1150" dirty="0"/>
          </a:p>
        </p:txBody>
      </p:sp>
      <p:sp>
        <p:nvSpPr>
          <p:cNvPr id="16" name="Shape 13"/>
          <p:cNvSpPr/>
          <p:nvPr/>
        </p:nvSpPr>
        <p:spPr>
          <a:xfrm>
            <a:off x="502920" y="5650992"/>
            <a:ext cx="11183112" cy="658368"/>
          </a:xfrm>
          <a:prstGeom prst="roundRect">
            <a:avLst>
              <a:gd name="adj" fmla="val 11111"/>
            </a:avLst>
          </a:prstGeom>
          <a:solidFill>
            <a:srgbClr val="E6F5F4"/>
          </a:solidFill>
          <a:ln/>
        </p:spPr>
      </p:sp>
      <p:sp>
        <p:nvSpPr>
          <p:cNvPr id="17" name="Text 14"/>
          <p:cNvSpPr/>
          <p:nvPr/>
        </p:nvSpPr>
        <p:spPr>
          <a:xfrm>
            <a:off x="731520" y="5650992"/>
            <a:ext cx="10744200" cy="65836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ENGINEERING CALL   </a:t>
            </a:r>
            <a:pPr indent="0" marL="0">
              <a:buNone/>
            </a:pPr>
            <a:r>
              <a:rPr lang="en-US" sz="1150" dirty="0">
                <a:solidFill>
                  <a:srgbClr val="2B2B2B"/>
                </a:solidFill>
                <a:latin typeface="Calibri" pitchFamily="34" charset="0"/>
                <a:ea typeface="Calibri" pitchFamily="34" charset="-122"/>
                <a:cs typeface="Calibri" pitchFamily="34" charset="-120"/>
              </a:rPr>
              <a:t>The disambiguation probe (notebooks/01_contextual_probe.py, CAMeLBERT) measures cosine ≈ 0.55 between the eye-sense and spring-sense of عين — not 1.0. Senses separate in vector space.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Tokenizer Audit — Five Lines That Decide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تدقيق المُقطِّعات — خمسة أسطر تحسم القرار</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23</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The five-line health check that prevents the five-week mistake: measure how each candidate tokenizer treats YOUR corpus.</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notebooks/01_tokenizer_audit.py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import pandas as pd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transformers import AutoTokenizer</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CANDIDATES = {</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"bert-base-multilingual-cased": "mBERT (WordPiece, 104 langs)",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"xlm-roberta-base": "XLM-R (SentencePiece, 100 langs)",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"CAMeL-Lab/bert-base-arabic-camelbert-mix": "CAMeLBERT (Arabic-centric)",</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"distilbert-base-uncased": "DistilBERT (English-only — the trap)",</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corpus = pd.read_csv("data/bayan_feedback.csv")</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fertility(tokenizer, texts: list[str]) -&gt; float: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words = pieces = 0</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for t in texts: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words += len(t.split())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pieces += len(tokenizer.tokenize(t))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pieces / max(words, 1)</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for name, desc in CANDIDATES.items():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tok = AutoTokenizer.from_pretrained(name)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ar = corpus[corpus.lang == "ar"].text.tolist()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print(f"{desc:38s} AR fertility={fertility(tok, ar):.2f}")</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Reference: mBERT 2.71 | XLM-R 1.94 | CAMeLBERT 1.34 | DistilBERT 6.90</a:t>
            </a:r>
            <a:endParaRPr lang="en-US" sz="8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Fertility = pieces / words</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Average subword pieces per whitespace word. The single cheapest model-selection signal you can compute.</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Watch the trap</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DistilBERT on Arabic: if fertility comes out near 1.0 you are counting [UNK] as one piece per word — the text became UNK sequences, which is worse.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and Production Rules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وقواعد الإنتاج</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24</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Preprocessing bugs are the NLP equivalent of feature skew — and just as silent. Every mistake on the left has a structural fix on the right.</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The six classic mistakes</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Tokenizer/model mismatch — ids silently mean different strings.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Preprocessing skew: training normalised one way, serving another (or not at all).</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Cleaning away the signal: stripping emoji, lowercasing before a cased model.</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Silent truncation at 512 — losing the resolution request that always comes last.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Padding every batch to max length: 3-5× wasted compute vs dynamic padding (M7).</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PII entering the corpus — masking must precede storage.</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Production rules</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One versioned preprocessing module imported by BOTH training and serving code.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Pin tokenizer versions; assert vocab_size + a canary string's ids at startup.</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Treat normalisation functions as public API with golden tests.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Record the preprocessing version in every training run's metadata.</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Measure the length distribution and choose truncation policy deliberately.</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Log the masking rate and audit samples before any fine-tune.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1 — Bilingual Preprocessing &amp; Tokenisation</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1 — معالجة وتقطيع ثنائيا اللغة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25</a:t>
            </a:r>
            <a:endParaRPr lang="en-US" sz="800" dirty="0"/>
          </a:p>
        </p:txBody>
      </p:sp>
      <p:sp>
        <p:nvSpPr>
          <p:cNvPr id="8" name="Shape 5"/>
          <p:cNvSpPr/>
          <p:nvPr/>
        </p:nvSpPr>
        <p:spPr>
          <a:xfrm>
            <a:off x="502920" y="1463040"/>
            <a:ext cx="11183112" cy="548640"/>
          </a:xfrm>
          <a:prstGeom prst="roundRect">
            <a:avLst>
              <a:gd name="adj" fmla="val 13333"/>
            </a:avLst>
          </a:prstGeom>
          <a:solidFill>
            <a:srgbClr val="1D2A5C"/>
          </a:solidFill>
          <a:ln/>
        </p:spPr>
      </p:sp>
      <p:sp>
        <p:nvSpPr>
          <p:cNvPr id="9" name="Text 6"/>
          <p:cNvSpPr/>
          <p:nvPr/>
        </p:nvSpPr>
        <p:spPr>
          <a:xfrm>
            <a:off x="685800" y="1463040"/>
            <a:ext cx="8961120" cy="548640"/>
          </a:xfrm>
          <a:prstGeom prst="rect">
            <a:avLst/>
          </a:prstGeom>
          <a:noFill/>
          <a:ln/>
        </p:spPr>
        <p:txBody>
          <a:bodyPr wrap="square" lIns="0" tIns="0" rIns="0" bIns="0" rtlCol="0" anchor="ctr"/>
          <a:lstStyle/>
          <a:p>
            <a:pPr indent="0" marL="0">
              <a:buNone/>
            </a:pPr>
            <a:r>
              <a:rPr lang="en-US" sz="1300" b="1" dirty="0">
                <a:solidFill>
                  <a:srgbClr val="F7941D"/>
                </a:solidFill>
                <a:latin typeface="Calibri" pitchFamily="34" charset="0"/>
                <a:ea typeface="Calibri" pitchFamily="34" charset="-122"/>
                <a:cs typeface="Calibri" pitchFamily="34" charset="-120"/>
              </a:rPr>
              <a:t>  HANDS-ON LAB 1   </a:t>
            </a:r>
            <a:pPr indent="0" marL="0">
              <a:buNone/>
            </a:pPr>
            <a:r>
              <a:rPr lang="en-US" sz="1400" b="1" dirty="0">
                <a:solidFill>
                  <a:srgbClr val="FFFFFF"/>
                </a:solidFill>
                <a:latin typeface="Calibri" pitchFamily="34" charset="0"/>
                <a:ea typeface="Calibri" pitchFamily="34" charset="-122"/>
                <a:cs typeface="Calibri" pitchFamily="34" charset="-120"/>
              </a:rPr>
              <a:t>Bilingual Preprocessing and Tokenisation Pipeline</a:t>
            </a:r>
            <a:endParaRPr lang="en-US" sz="1300" dirty="0"/>
          </a:p>
        </p:txBody>
      </p:sp>
      <p:sp>
        <p:nvSpPr>
          <p:cNvPr id="10" name="Text 7"/>
          <p:cNvSpPr/>
          <p:nvPr/>
        </p:nvSpPr>
        <p:spPr>
          <a:xfrm>
            <a:off x="9692640" y="1463040"/>
            <a:ext cx="1828800" cy="548640"/>
          </a:xfrm>
          <a:prstGeom prst="rect">
            <a:avLst/>
          </a:prstGeom>
          <a:noFill/>
          <a:ln/>
        </p:spPr>
        <p:txBody>
          <a:bodyPr wrap="square" lIns="0" tIns="0" rIns="0" bIns="0" rtlCol="0" anchor="ctr"/>
          <a:lstStyle/>
          <a:p>
            <a:pPr algn="r" indent="0" marL="0">
              <a:buNone/>
            </a:pPr>
            <a:r>
              <a:rPr lang="en-US" sz="1200" b="1" dirty="0">
                <a:solidFill>
                  <a:srgbClr val="00A79D"/>
                </a:solidFill>
                <a:latin typeface="Calibri" pitchFamily="34" charset="0"/>
                <a:ea typeface="Calibri" pitchFamily="34" charset="-122"/>
                <a:cs typeface="Calibri" pitchFamily="34" charset="-120"/>
              </a:rPr>
              <a:t>50 min</a:t>
            </a:r>
            <a:endParaRPr lang="en-US" sz="1200" dirty="0"/>
          </a:p>
        </p:txBody>
      </p:sp>
      <p:sp>
        <p:nvSpPr>
          <p:cNvPr id="11" name="Text 8"/>
          <p:cNvSpPr/>
          <p:nvPr/>
        </p:nvSpPr>
        <p:spPr>
          <a:xfrm>
            <a:off x="502920" y="2240280"/>
            <a:ext cx="6903720" cy="256032"/>
          </a:xfrm>
          <a:prstGeom prst="rect">
            <a:avLst/>
          </a:prstGeom>
          <a:noFill/>
          <a:ln/>
        </p:spPr>
        <p:txBody>
          <a:bodyPr wrap="square" lIns="0" tIns="0" rIns="0" bIns="0" rtlCol="0" anchor="ctr"/>
          <a:lstStyle/>
          <a:p>
            <a:pPr indent="0" marL="0">
              <a:buNone/>
            </a:pPr>
            <a:r>
              <a:rPr lang="en-US" sz="1050" b="1" spc="150" kern="0" dirty="0">
                <a:solidFill>
                  <a:srgbClr val="00A79D"/>
                </a:solidFill>
                <a:latin typeface="Calibri" pitchFamily="34" charset="0"/>
                <a:ea typeface="Calibri" pitchFamily="34" charset="-122"/>
                <a:cs typeface="Calibri" pitchFamily="34" charset="-120"/>
              </a:rPr>
              <a:t>TASKS</a:t>
            </a:r>
            <a:endParaRPr lang="en-US" sz="1050" dirty="0"/>
          </a:p>
        </p:txBody>
      </p:sp>
      <p:sp>
        <p:nvSpPr>
          <p:cNvPr id="12" name="Shape 9"/>
          <p:cNvSpPr/>
          <p:nvPr/>
        </p:nvSpPr>
        <p:spPr>
          <a:xfrm>
            <a:off x="502920" y="2578608"/>
            <a:ext cx="274320" cy="274320"/>
          </a:xfrm>
          <a:prstGeom prst="ellipse">
            <a:avLst/>
          </a:prstGeom>
          <a:solidFill>
            <a:srgbClr val="00A79D"/>
          </a:solidFill>
          <a:ln/>
        </p:spPr>
      </p:sp>
      <p:sp>
        <p:nvSpPr>
          <p:cNvPr id="13" name="Text 10"/>
          <p:cNvSpPr/>
          <p:nvPr/>
        </p:nvSpPr>
        <p:spPr>
          <a:xfrm>
            <a:off x="50292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p:nvPr/>
        </p:nvSpPr>
        <p:spPr>
          <a:xfrm>
            <a:off x="914400" y="2551176"/>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Explore bayan_raw_sample.csv; catalogue at least six defect classes in NOTES.md (10 min)</a:t>
            </a:r>
            <a:endParaRPr lang="en-US" sz="1100" dirty="0"/>
          </a:p>
        </p:txBody>
      </p:sp>
      <p:sp>
        <p:nvSpPr>
          <p:cNvPr id="15" name="Shape 12"/>
          <p:cNvSpPr/>
          <p:nvPr/>
        </p:nvSpPr>
        <p:spPr>
          <a:xfrm>
            <a:off x="502920" y="3236976"/>
            <a:ext cx="274320" cy="274320"/>
          </a:xfrm>
          <a:prstGeom prst="ellipse">
            <a:avLst/>
          </a:prstGeom>
          <a:solidFill>
            <a:srgbClr val="00A79D"/>
          </a:solidFill>
          <a:ln/>
        </p:spPr>
      </p:sp>
      <p:sp>
        <p:nvSpPr>
          <p:cNvPr id="16" name="Text 13"/>
          <p:cNvSpPr/>
          <p:nvPr/>
        </p:nvSpPr>
        <p:spPr>
          <a:xfrm>
            <a:off x="50292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4"/>
          <p:cNvSpPr/>
          <p:nvPr/>
        </p:nvSpPr>
        <p:spPr>
          <a:xfrm>
            <a:off x="914400" y="3209544"/>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Implement normalize() and mask_pii(); make the 25-pair golden test pass (10 min)</a:t>
            </a:r>
            <a:endParaRPr lang="en-US" sz="1100" dirty="0"/>
          </a:p>
        </p:txBody>
      </p:sp>
      <p:sp>
        <p:nvSpPr>
          <p:cNvPr id="18" name="Shape 15"/>
          <p:cNvSpPr/>
          <p:nvPr/>
        </p:nvSpPr>
        <p:spPr>
          <a:xfrm>
            <a:off x="502920" y="3895344"/>
            <a:ext cx="274320" cy="274320"/>
          </a:xfrm>
          <a:prstGeom prst="ellipse">
            <a:avLst/>
          </a:prstGeom>
          <a:solidFill>
            <a:srgbClr val="00A79D"/>
          </a:solidFill>
          <a:ln/>
        </p:spPr>
      </p:sp>
      <p:sp>
        <p:nvSpPr>
          <p:cNvPr id="19" name="Text 16"/>
          <p:cNvSpPr/>
          <p:nvPr/>
        </p:nvSpPr>
        <p:spPr>
          <a:xfrm>
            <a:off x="50292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914400" y="3867912"/>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Build the spaCy segmentation pipeline; spot-check the 5 flagged long complaints (10 min)</a:t>
            </a:r>
            <a:endParaRPr lang="en-US" sz="1100" dirty="0"/>
          </a:p>
        </p:txBody>
      </p:sp>
      <p:sp>
        <p:nvSpPr>
          <p:cNvPr id="21" name="Shape 18"/>
          <p:cNvSpPr/>
          <p:nvPr/>
        </p:nvSpPr>
        <p:spPr>
          <a:xfrm>
            <a:off x="502920" y="4553712"/>
            <a:ext cx="274320" cy="274320"/>
          </a:xfrm>
          <a:prstGeom prst="ellipse">
            <a:avLst/>
          </a:prstGeom>
          <a:solidFill>
            <a:srgbClr val="00A79D"/>
          </a:solidFill>
          <a:ln/>
        </p:spPr>
      </p:sp>
      <p:sp>
        <p:nvSpPr>
          <p:cNvPr id="22" name="Text 19"/>
          <p:cNvSpPr/>
          <p:nvPr/>
        </p:nvSpPr>
        <p:spPr>
          <a:xfrm>
            <a:off x="502920" y="45537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0"/>
          <p:cNvSpPr/>
          <p:nvPr/>
        </p:nvSpPr>
        <p:spPr>
          <a:xfrm>
            <a:off x="914400" y="4526280"/>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Run the tokenizer audit: fertility table + p95 sequence-length histogram per language (10 min)</a:t>
            </a:r>
            <a:endParaRPr lang="en-US" sz="1100" dirty="0"/>
          </a:p>
        </p:txBody>
      </p:sp>
      <p:sp>
        <p:nvSpPr>
          <p:cNvPr id="24" name="Shape 21"/>
          <p:cNvSpPr/>
          <p:nvPr/>
        </p:nvSpPr>
        <p:spPr>
          <a:xfrm>
            <a:off x="502920" y="5212080"/>
            <a:ext cx="274320" cy="274320"/>
          </a:xfrm>
          <a:prstGeom prst="ellipse">
            <a:avLst/>
          </a:prstGeom>
          <a:solidFill>
            <a:srgbClr val="00A79D"/>
          </a:solidFill>
          <a:ln/>
        </p:spPr>
      </p:sp>
      <p:sp>
        <p:nvSpPr>
          <p:cNvPr id="25" name="Text 22"/>
          <p:cNvSpPr/>
          <p:nvPr/>
        </p:nvSpPr>
        <p:spPr>
          <a:xfrm>
            <a:off x="502920" y="5212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p:nvPr/>
        </p:nvSpPr>
        <p:spPr>
          <a:xfrm>
            <a:off x="914400" y="5184648"/>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Write DECISIONS.md#tokenizer justified by fertility + length numbers; commit (10 min)</a:t>
            </a:r>
            <a:endParaRPr lang="en-US" sz="1100" dirty="0"/>
          </a:p>
        </p:txBody>
      </p:sp>
      <p:sp>
        <p:nvSpPr>
          <p:cNvPr id="27" name="Shape 24"/>
          <p:cNvSpPr/>
          <p:nvPr/>
        </p:nvSpPr>
        <p:spPr>
          <a:xfrm>
            <a:off x="7635240" y="2240280"/>
            <a:ext cx="4050792" cy="1264920"/>
          </a:xfrm>
          <a:prstGeom prst="roundRect">
            <a:avLst>
              <a:gd name="adj" fmla="val 4337"/>
            </a:avLst>
          </a:prstGeom>
          <a:solidFill>
            <a:srgbClr val="E6F5F4"/>
          </a:solidFill>
          <a:ln w="9525">
            <a:solidFill>
              <a:srgbClr val="00A79D"/>
            </a:solidFill>
            <a:prstDash val="solid"/>
          </a:ln>
        </p:spPr>
      </p:sp>
      <p:sp>
        <p:nvSpPr>
          <p:cNvPr id="28" name="Text 25"/>
          <p:cNvSpPr/>
          <p:nvPr/>
        </p:nvSpPr>
        <p:spPr>
          <a:xfrm>
            <a:off x="7799832" y="2322576"/>
            <a:ext cx="3721608"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OBJECTIVE</a:t>
            </a:r>
            <a:endParaRPr lang="en-US" sz="950" dirty="0"/>
          </a:p>
        </p:txBody>
      </p:sp>
      <p:sp>
        <p:nvSpPr>
          <p:cNvPr id="29" name="Text 26"/>
          <p:cNvSpPr/>
          <p:nvPr/>
        </p:nvSpPr>
        <p:spPr>
          <a:xfrm>
            <a:off x="7799832" y="25786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Build the versioned preprocessing module for the Bayan corpus, audit four candidate tokenizers, and commit a data-driven tokenizer/model choice with evidence.</a:t>
            </a:r>
            <a:endParaRPr lang="en-US" sz="1000" dirty="0"/>
          </a:p>
        </p:txBody>
      </p:sp>
      <p:sp>
        <p:nvSpPr>
          <p:cNvPr id="30" name="Shape 27"/>
          <p:cNvSpPr/>
          <p:nvPr/>
        </p:nvSpPr>
        <p:spPr>
          <a:xfrm>
            <a:off x="7635240" y="3688080"/>
            <a:ext cx="4050792" cy="1264920"/>
          </a:xfrm>
          <a:prstGeom prst="roundRect">
            <a:avLst>
              <a:gd name="adj" fmla="val 4337"/>
            </a:avLst>
          </a:prstGeom>
          <a:solidFill>
            <a:srgbClr val="FEF3E3"/>
          </a:solidFill>
          <a:ln w="9525">
            <a:solidFill>
              <a:srgbClr val="F7941D"/>
            </a:solidFill>
            <a:prstDash val="solid"/>
          </a:ln>
        </p:spPr>
      </p:sp>
      <p:sp>
        <p:nvSpPr>
          <p:cNvPr id="31" name="Text 28"/>
          <p:cNvSpPr/>
          <p:nvPr/>
        </p:nvSpPr>
        <p:spPr>
          <a:xfrm>
            <a:off x="7799832" y="3770376"/>
            <a:ext cx="3721608"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DELIVERABLE</a:t>
            </a:r>
            <a:endParaRPr lang="en-US" sz="950" dirty="0"/>
          </a:p>
        </p:txBody>
      </p:sp>
      <p:sp>
        <p:nvSpPr>
          <p:cNvPr id="32" name="Text 29"/>
          <p:cNvSpPr/>
          <p:nvPr/>
        </p:nvSpPr>
        <p:spPr>
          <a:xfrm>
            <a:off x="7799832" y="40264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Green golden tests (25/25), committed fertility table, DECISIONS.md#tokenizer — reused verbatim in Lab 3. Expected: PII masking rate 3.1%; CAMeLBERT AR p95 = 87 tokens.</a:t>
            </a:r>
            <a:endParaRPr lang="en-US" sz="1000" dirty="0"/>
          </a:p>
        </p:txBody>
      </p:sp>
      <p:sp>
        <p:nvSpPr>
          <p:cNvPr id="33" name="Shape 30"/>
          <p:cNvSpPr/>
          <p:nvPr/>
        </p:nvSpPr>
        <p:spPr>
          <a:xfrm>
            <a:off x="7635240" y="5135880"/>
            <a:ext cx="4050792" cy="1264920"/>
          </a:xfrm>
          <a:prstGeom prst="roundRect">
            <a:avLst>
              <a:gd name="adj" fmla="val 4337"/>
            </a:avLst>
          </a:prstGeom>
          <a:solidFill>
            <a:srgbClr val="EAF6FC"/>
          </a:solidFill>
          <a:ln w="9525">
            <a:solidFill>
              <a:srgbClr val="29ABE2"/>
            </a:solidFill>
            <a:prstDash val="solid"/>
          </a:ln>
        </p:spPr>
      </p:sp>
      <p:sp>
        <p:nvSpPr>
          <p:cNvPr id="34" name="Text 31"/>
          <p:cNvSpPr/>
          <p:nvPr/>
        </p:nvSpPr>
        <p:spPr>
          <a:xfrm>
            <a:off x="7799832" y="5218176"/>
            <a:ext cx="3721608"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WATCH FOR</a:t>
            </a:r>
            <a:endParaRPr lang="en-US" sz="950" dirty="0"/>
          </a:p>
        </p:txBody>
      </p:sp>
      <p:sp>
        <p:nvSpPr>
          <p:cNvPr id="35" name="Text 32"/>
          <p:cNvSpPr/>
          <p:nvPr/>
        </p:nvSpPr>
        <p:spPr>
          <a:xfrm>
            <a:off x="7799832" y="54742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NFKC instead of NFC fails 2 Arabic golden pairs — too aggressive · normalize() before mask_pii() breaks the phone regex — 0% masking · DistilBERT fertility near 1.0? You are counting [UNK] as one piece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1 Benchmarks — The Decision Artefact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الوحدة الأولى — وثيقة القرار</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26</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236622"/>
                <a:gridCol w="2236622"/>
                <a:gridCol w="2236622"/>
                <a:gridCol w="2236622"/>
                <a:gridCol w="2236622"/>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Tokenizer</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 fertility</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EN fertility</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 p95 length</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UNK rate (AR)</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mBERT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2.71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1.31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143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XLM-R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1.94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1.27</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CAMeLBERT-mix</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1.34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87</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DistilBERT (en)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6.90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1.18</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348</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Module targets: chosen AR tokenizer fertility ≤ 1.5 on the Bayan AR slice; PII masking recall 100% on the 60-case test set; preprocessing throughput ≥ 5,000 docs/s on CPU; skew canary asserted at startup.</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Contact-Centre Analytics — A National Utility</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تحليلات مركز الاتصال — مزوّد مرافق وطني</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27</a:t>
            </a:r>
            <a:endParaRPr lang="en-US" sz="800" dirty="0"/>
          </a:p>
        </p:txBody>
      </p:sp>
      <p:sp>
        <p:nvSpPr>
          <p:cNvPr id="8" name="Shape 5"/>
          <p:cNvSpPr/>
          <p:nvPr/>
        </p:nvSpPr>
        <p:spPr>
          <a:xfrm>
            <a:off x="502920" y="1444752"/>
            <a:ext cx="1042416" cy="329184"/>
          </a:xfrm>
          <a:prstGeom prst="roundRect">
            <a:avLst>
              <a:gd name="adj" fmla="val 22222"/>
            </a:avLst>
          </a:prstGeom>
          <a:solidFill>
            <a:srgbClr val="1D2A5C"/>
          </a:solidFill>
          <a:ln/>
        </p:spPr>
      </p:sp>
      <p:sp>
        <p:nvSpPr>
          <p:cNvPr id="9" name="Text 6"/>
          <p:cNvSpPr/>
          <p:nvPr/>
        </p:nvSpPr>
        <p:spPr>
          <a:xfrm>
            <a:off x="502920" y="1444752"/>
            <a:ext cx="104241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CASE STUDY</a:t>
            </a:r>
            <a:endParaRPr lang="en-US" sz="1050" dirty="0"/>
          </a:p>
        </p:txBody>
      </p:sp>
      <p:sp>
        <p:nvSpPr>
          <p:cNvPr id="10" name="Text 7"/>
          <p:cNvSpPr/>
          <p:nvPr/>
        </p:nvSpPr>
        <p:spPr>
          <a:xfrm>
            <a:off x="2148840" y="1444752"/>
            <a:ext cx="9509760" cy="329184"/>
          </a:xfrm>
          <a:prstGeom prst="rect">
            <a:avLst/>
          </a:prstGeom>
          <a:noFill/>
          <a:ln/>
        </p:spPr>
        <p:txBody>
          <a:bodyPr wrap="square" lIns="0" tIns="0" rIns="0" bIns="0"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National Utilities Provider — Contact-Centre Analytics</a:t>
            </a:r>
            <a:endParaRPr lang="en-US" sz="1300" dirty="0"/>
          </a:p>
        </p:txBody>
      </p:sp>
      <p:sp>
        <p:nvSpPr>
          <p:cNvPr id="11" name="Shape 8"/>
          <p:cNvSpPr/>
          <p:nvPr/>
        </p:nvSpPr>
        <p:spPr>
          <a:xfrm>
            <a:off x="502920" y="1965960"/>
            <a:ext cx="5477256" cy="1645920"/>
          </a:xfrm>
          <a:prstGeom prst="roundRect">
            <a:avLst>
              <a:gd name="adj" fmla="val 3333"/>
            </a:avLst>
          </a:prstGeom>
          <a:solidFill>
            <a:srgbClr val="F2F6F8"/>
          </a:solidFill>
          <a:ln/>
        </p:spPr>
      </p:sp>
      <p:sp>
        <p:nvSpPr>
          <p:cNvPr id="12" name="Text 9"/>
          <p:cNvSpPr/>
          <p:nvPr/>
        </p:nvSpPr>
        <p:spPr>
          <a:xfrm>
            <a:off x="713232" y="2057400"/>
            <a:ext cx="5056632" cy="237744"/>
          </a:xfrm>
          <a:prstGeom prst="rect">
            <a:avLst/>
          </a:prstGeom>
          <a:noFill/>
          <a:ln/>
        </p:spPr>
        <p:txBody>
          <a:bodyPr wrap="square" lIns="0" tIns="0" rIns="0" bIns="0" rtlCol="0" anchor="ctr"/>
          <a:lstStyle/>
          <a:p>
            <a:pPr indent="0" marL="0">
              <a:buNone/>
            </a:pPr>
            <a:r>
              <a:rPr lang="en-US" sz="950" b="1" spc="150" kern="0" dirty="0">
                <a:solidFill>
                  <a:srgbClr val="6E7B8A"/>
                </a:solidFill>
                <a:latin typeface="Calibri" pitchFamily="34" charset="0"/>
                <a:ea typeface="Calibri" pitchFamily="34" charset="-122"/>
                <a:cs typeface="Calibri" pitchFamily="34" charset="-120"/>
              </a:rPr>
              <a:t>SITUATION</a:t>
            </a:r>
            <a:endParaRPr lang="en-US" sz="950" dirty="0"/>
          </a:p>
        </p:txBody>
      </p:sp>
      <p:sp>
        <p:nvSpPr>
          <p:cNvPr id="13" name="Text 10"/>
          <p:cNvSpPr/>
          <p:nvPr/>
        </p:nvSpPr>
        <p:spPr>
          <a:xfrm>
            <a:off x="713232" y="233172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 Saudi utilities provider processes 40,000 interactions daily across IVR speech-to-text, WhatsApp, and a web portal, feeding one English-centric vendor model. Topic volumes drive staffing and escalation — and operations calls the dashboard 'obviously wrong': outage complaints undercounted during a real outage week.</a:t>
            </a:r>
            <a:endParaRPr lang="en-US" sz="1050" dirty="0"/>
          </a:p>
        </p:txBody>
      </p:sp>
      <p:sp>
        <p:nvSpPr>
          <p:cNvPr id="14" name="Shape 11"/>
          <p:cNvSpPr/>
          <p:nvPr/>
        </p:nvSpPr>
        <p:spPr>
          <a:xfrm>
            <a:off x="502920" y="3749040"/>
            <a:ext cx="5477256" cy="1645920"/>
          </a:xfrm>
          <a:prstGeom prst="roundRect">
            <a:avLst>
              <a:gd name="adj" fmla="val 3333"/>
            </a:avLst>
          </a:prstGeom>
          <a:solidFill>
            <a:srgbClr val="FEF3E3"/>
          </a:solidFill>
          <a:ln/>
        </p:spPr>
      </p:sp>
      <p:sp>
        <p:nvSpPr>
          <p:cNvPr id="15" name="Text 12"/>
          <p:cNvSpPr/>
          <p:nvPr/>
        </p:nvSpPr>
        <p:spPr>
          <a:xfrm>
            <a:off x="713232" y="3840480"/>
            <a:ext cx="5056632"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CHALLENGE</a:t>
            </a:r>
            <a:endParaRPr lang="en-US" sz="950" dirty="0"/>
          </a:p>
        </p:txBody>
      </p:sp>
      <p:sp>
        <p:nvSpPr>
          <p:cNvPr id="16" name="Text 13"/>
          <p:cNvSpPr/>
          <p:nvPr/>
        </p:nvSpPr>
        <p:spPr>
          <a:xfrm>
            <a:off x="713232" y="411480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undercount delayed a field-maintenance surge by two days during a heatwave; root cause is due in three weeks. Constraints: no vendor retrain this quarter; STT has no diacritics and phonetic dialect spellings; WhatsApp text heavy with elongation and emoji; PDPL requires masking at ingestion.</a:t>
            </a:r>
            <a:endParaRPr lang="en-US" sz="1050" dirty="0"/>
          </a:p>
        </p:txBody>
      </p:sp>
      <p:sp>
        <p:nvSpPr>
          <p:cNvPr id="17" name="Shape 14"/>
          <p:cNvSpPr/>
          <p:nvPr/>
        </p:nvSpPr>
        <p:spPr>
          <a:xfrm>
            <a:off x="6208776" y="1965960"/>
            <a:ext cx="5477256" cy="3429000"/>
          </a:xfrm>
          <a:prstGeom prst="roundRect">
            <a:avLst>
              <a:gd name="adj" fmla="val 1600"/>
            </a:avLst>
          </a:prstGeom>
          <a:solidFill>
            <a:srgbClr val="E6F5F4"/>
          </a:solidFill>
          <a:ln/>
        </p:spPr>
      </p:sp>
      <p:sp>
        <p:nvSpPr>
          <p:cNvPr id="18" name="Text 15"/>
          <p:cNvSpPr/>
          <p:nvPr/>
        </p:nvSpPr>
        <p:spPr>
          <a:xfrm>
            <a:off x="6409944" y="2066544"/>
            <a:ext cx="5074920"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APPROACH</a:t>
            </a:r>
            <a:endParaRPr lang="en-US" sz="950" dirty="0"/>
          </a:p>
        </p:txBody>
      </p:sp>
      <p:sp>
        <p:nvSpPr>
          <p:cNvPr id="19" name="Shape 16"/>
          <p:cNvSpPr/>
          <p:nvPr/>
        </p:nvSpPr>
        <p:spPr>
          <a:xfrm>
            <a:off x="6409944" y="2395728"/>
            <a:ext cx="237744" cy="237744"/>
          </a:xfrm>
          <a:prstGeom prst="ellipse">
            <a:avLst/>
          </a:prstGeom>
          <a:solidFill>
            <a:srgbClr val="00A79D"/>
          </a:solidFill>
          <a:ln/>
        </p:spPr>
      </p:sp>
      <p:sp>
        <p:nvSpPr>
          <p:cNvPr id="20" name="Text 17"/>
          <p:cNvSpPr/>
          <p:nvPr/>
        </p:nvSpPr>
        <p:spPr>
          <a:xfrm>
            <a:off x="6409944" y="23957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p:nvPr/>
        </p:nvSpPr>
        <p:spPr>
          <a:xfrm>
            <a:off x="6757416" y="237744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Audit finds the STT channel emits NFD-form Arabic while the portal emits NFC — dedup silently drops distinct outage reports as 'duplicates'.</a:t>
            </a:r>
            <a:endParaRPr lang="en-US" sz="1050" dirty="0"/>
          </a:p>
        </p:txBody>
      </p:sp>
      <p:sp>
        <p:nvSpPr>
          <p:cNvPr id="22" name="Shape 19"/>
          <p:cNvSpPr/>
          <p:nvPr/>
        </p:nvSpPr>
        <p:spPr>
          <a:xfrm>
            <a:off x="6409944" y="3127248"/>
            <a:ext cx="237744" cy="237744"/>
          </a:xfrm>
          <a:prstGeom prst="ellipse">
            <a:avLst/>
          </a:prstGeom>
          <a:solidFill>
            <a:srgbClr val="00A79D"/>
          </a:solidFill>
          <a:ln/>
        </p:spPr>
      </p:sp>
      <p:sp>
        <p:nvSpPr>
          <p:cNvPr id="23" name="Text 20"/>
          <p:cNvSpPr/>
          <p:nvPr/>
        </p:nvSpPr>
        <p:spPr>
          <a:xfrm>
            <a:off x="6409944" y="31272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6757416" y="310896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Fertility on the vendor tokenizer is 3.2 for Gulf-dialect words; truncation at 128 tokens cuts the outage location off long WhatsApp messages.</a:t>
            </a:r>
            <a:endParaRPr lang="en-US" sz="1050" dirty="0"/>
          </a:p>
        </p:txBody>
      </p:sp>
      <p:sp>
        <p:nvSpPr>
          <p:cNvPr id="25" name="Shape 22"/>
          <p:cNvSpPr/>
          <p:nvPr/>
        </p:nvSpPr>
        <p:spPr>
          <a:xfrm>
            <a:off x="6409944" y="3858768"/>
            <a:ext cx="237744" cy="237744"/>
          </a:xfrm>
          <a:prstGeom prst="ellipse">
            <a:avLst/>
          </a:prstGeom>
          <a:solidFill>
            <a:srgbClr val="00A79D"/>
          </a:solidFill>
          <a:ln/>
        </p:spPr>
      </p:sp>
      <p:sp>
        <p:nvSpPr>
          <p:cNvPr id="26" name="Text 23"/>
          <p:cNvSpPr/>
          <p:nvPr/>
        </p:nvSpPr>
        <p:spPr>
          <a:xfrm>
            <a:off x="6409944" y="3858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4"/>
          <p:cNvSpPr/>
          <p:nvPr/>
        </p:nvSpPr>
        <p:spPr>
          <a:xfrm>
            <a:off x="6757416" y="384048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Elongated words ('الكهرباااء') tokenize into garbage pieces the topic model has never seen.</a:t>
            </a:r>
            <a:endParaRPr lang="en-US" sz="1050" dirty="0"/>
          </a:p>
        </p:txBody>
      </p:sp>
      <p:sp>
        <p:nvSpPr>
          <p:cNvPr id="28" name="Shape 25"/>
          <p:cNvSpPr/>
          <p:nvPr/>
        </p:nvSpPr>
        <p:spPr>
          <a:xfrm>
            <a:off x="6409944" y="4590288"/>
            <a:ext cx="237744" cy="237744"/>
          </a:xfrm>
          <a:prstGeom prst="ellipse">
            <a:avLst/>
          </a:prstGeom>
          <a:solidFill>
            <a:srgbClr val="00A79D"/>
          </a:solidFill>
          <a:ln/>
        </p:spPr>
      </p:sp>
      <p:sp>
        <p:nvSpPr>
          <p:cNvPr id="29" name="Text 26"/>
          <p:cNvSpPr/>
          <p:nvPr/>
        </p:nvSpPr>
        <p:spPr>
          <a:xfrm>
            <a:off x="6409944" y="45902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0" name="Text 27"/>
          <p:cNvSpPr/>
          <p:nvPr/>
        </p:nvSpPr>
        <p:spPr>
          <a:xfrm>
            <a:off x="6757416" y="457200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Fixes by cost: unified NFC + elongation collapse at ingestion (days), head+tail truncation (days), tokenizer swap next quarter.</a:t>
            </a:r>
            <a:endParaRPr lang="en-US" sz="1050" dirty="0"/>
          </a:p>
        </p:txBody>
      </p:sp>
      <p:sp>
        <p:nvSpPr>
          <p:cNvPr id="31" name="Shape 28"/>
          <p:cNvSpPr/>
          <p:nvPr/>
        </p:nvSpPr>
        <p:spPr>
          <a:xfrm>
            <a:off x="502920" y="5577840"/>
            <a:ext cx="11183112" cy="731520"/>
          </a:xfrm>
          <a:prstGeom prst="roundRect">
            <a:avLst>
              <a:gd name="adj" fmla="val 10000"/>
            </a:avLst>
          </a:prstGeom>
          <a:solidFill>
            <a:srgbClr val="1D2A5C"/>
          </a:solidFill>
          <a:ln/>
        </p:spPr>
      </p:sp>
      <p:sp>
        <p:nvSpPr>
          <p:cNvPr id="32" name="Text 29"/>
          <p:cNvSpPr/>
          <p:nvPr/>
        </p:nvSpPr>
        <p:spPr>
          <a:xfrm>
            <a:off x="731520" y="5577840"/>
            <a:ext cx="10744200" cy="73152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LESSON   </a:t>
            </a:r>
            <a:pPr indent="0" marL="0">
              <a:buNone/>
            </a:pPr>
            <a:r>
              <a:rPr lang="en-US" sz="1150" dirty="0">
                <a:solidFill>
                  <a:srgbClr val="FFFFFF"/>
                </a:solidFill>
                <a:latin typeface="Calibri" pitchFamily="34" charset="0"/>
                <a:ea typeface="Calibri" pitchFamily="34" charset="-122"/>
                <a:cs typeface="Calibri" pitchFamily="34" charset="-120"/>
              </a:rPr>
              <a:t>The bug surfaced as undercounting during an outage because volume spikes bring longer, more elongated messages — more truncation and dedup loss exactly when accuracy matters most.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Fertility</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الخصوبة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28</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Q1</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Your tokenizer audit shows fertility 3.5 on the Arabic slice of your corpus. What does that mean operationally?</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Nothing — fertility only matters for English corpora</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About 3.5 pieces/word: shorter effective context, more compute, weaker accuracy</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corpus contains 3.5% out-of-vocabulary words</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model will crash on any sequence longer than 3.5× the limit</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Fertility is a direct line item in the GPU bill at national scale — the five-line audit script prevents a five-week mistake.</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Tokenizer &amp; Checkpoint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المُقطِّع ونقطة التحقق</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29</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Q2</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Why must the tokenizer be loaded from the SAME checkpoint as the model weights?</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Ids are meaningless without the exact vocab/merges that trained the embedding rows</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Different tokenizers run at very different speeds</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Hugging Face licensing requires matching artefacts</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It only matters for multilingual models, not monolingual ones</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Checkpoint A weights + checkpoint B tokenizer is silent corruption — assert vocab_size and a canary string's ids at service startup.</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2 — Reasoning About Transformers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الثانية — فهم بنية المحوِّلات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30</a:t>
            </a:r>
            <a:endParaRPr lang="en-US" sz="800" dirty="0"/>
          </a:p>
        </p:txBody>
      </p:sp>
      <p:sp>
        <p:nvSpPr>
          <p:cNvPr id="8" name="Shape 5"/>
          <p:cNvSpPr/>
          <p:nvPr/>
        </p:nvSpPr>
        <p:spPr>
          <a:xfrm>
            <a:off x="3639312" y="2308860"/>
            <a:ext cx="1129284" cy="1485900"/>
          </a:xfrm>
          <a:prstGeom prst="line">
            <a:avLst/>
          </a:prstGeom>
          <a:noFill/>
          <a:ln w="12700">
            <a:solidFill>
              <a:srgbClr val="D9E2E8"/>
            </a:solidFill>
            <a:prstDash val="solid"/>
          </a:ln>
        </p:spPr>
      </p:sp>
      <p:sp>
        <p:nvSpPr>
          <p:cNvPr id="9" name="Shape 6"/>
          <p:cNvSpPr/>
          <p:nvPr/>
        </p:nvSpPr>
        <p:spPr>
          <a:xfrm>
            <a:off x="7420356" y="2308860"/>
            <a:ext cx="1129284" cy="1485900"/>
          </a:xfrm>
          <a:prstGeom prst="line">
            <a:avLst/>
          </a:prstGeom>
          <a:noFill/>
          <a:ln w="12700">
            <a:solidFill>
              <a:srgbClr val="D9E2E8"/>
            </a:solidFill>
            <a:prstDash val="solid"/>
          </a:ln>
        </p:spPr>
      </p:sp>
      <p:sp>
        <p:nvSpPr>
          <p:cNvPr id="10" name="Shape 7"/>
          <p:cNvSpPr/>
          <p:nvPr/>
        </p:nvSpPr>
        <p:spPr>
          <a:xfrm>
            <a:off x="3639312" y="4000500"/>
            <a:ext cx="1129284" cy="-205740"/>
          </a:xfrm>
          <a:prstGeom prst="line">
            <a:avLst/>
          </a:prstGeom>
          <a:noFill/>
          <a:ln w="12700">
            <a:solidFill>
              <a:srgbClr val="D9E2E8"/>
            </a:solidFill>
            <a:prstDash val="solid"/>
          </a:ln>
        </p:spPr>
      </p:sp>
      <p:sp>
        <p:nvSpPr>
          <p:cNvPr id="11" name="Shape 8"/>
          <p:cNvSpPr/>
          <p:nvPr/>
        </p:nvSpPr>
        <p:spPr>
          <a:xfrm>
            <a:off x="7420356" y="4000500"/>
            <a:ext cx="1129284" cy="-205740"/>
          </a:xfrm>
          <a:prstGeom prst="line">
            <a:avLst/>
          </a:prstGeom>
          <a:noFill/>
          <a:ln w="12700">
            <a:solidFill>
              <a:srgbClr val="D9E2E8"/>
            </a:solidFill>
            <a:prstDash val="solid"/>
          </a:ln>
        </p:spPr>
      </p:sp>
      <p:sp>
        <p:nvSpPr>
          <p:cNvPr id="12" name="Shape 9"/>
          <p:cNvSpPr/>
          <p:nvPr/>
        </p:nvSpPr>
        <p:spPr>
          <a:xfrm>
            <a:off x="3639312" y="5692140"/>
            <a:ext cx="1129284" cy="-1897380"/>
          </a:xfrm>
          <a:prstGeom prst="line">
            <a:avLst/>
          </a:prstGeom>
          <a:noFill/>
          <a:ln w="12700">
            <a:solidFill>
              <a:srgbClr val="D9E2E8"/>
            </a:solidFill>
            <a:prstDash val="solid"/>
          </a:ln>
        </p:spPr>
      </p:sp>
      <p:sp>
        <p:nvSpPr>
          <p:cNvPr id="13" name="Shape 10"/>
          <p:cNvSpPr/>
          <p:nvPr/>
        </p:nvSpPr>
        <p:spPr>
          <a:xfrm>
            <a:off x="502920" y="1600200"/>
            <a:ext cx="3136392" cy="1417320"/>
          </a:xfrm>
          <a:prstGeom prst="roundRect">
            <a:avLst>
              <a:gd name="adj" fmla="val 3871"/>
            </a:avLst>
          </a:prstGeom>
          <a:solidFill>
            <a:srgbClr val="F2F6F8"/>
          </a:solidFill>
          <a:ln w="9525">
            <a:solidFill>
              <a:srgbClr val="00A79D"/>
            </a:solidFill>
            <a:prstDash val="solid"/>
          </a:ln>
        </p:spPr>
      </p:sp>
      <p:sp>
        <p:nvSpPr>
          <p:cNvPr id="14" name="Text 11"/>
          <p:cNvSpPr/>
          <p:nvPr/>
        </p:nvSpPr>
        <p:spPr>
          <a:xfrm>
            <a:off x="667512" y="1691640"/>
            <a:ext cx="2807208" cy="320040"/>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Self-attention</a:t>
            </a:r>
            <a:endParaRPr lang="en-US" sz="1250" dirty="0"/>
          </a:p>
        </p:txBody>
      </p:sp>
      <p:sp>
        <p:nvSpPr>
          <p:cNvPr id="15" name="Text 12"/>
          <p:cNvSpPr/>
          <p:nvPr/>
        </p:nvSpPr>
        <p:spPr>
          <a:xfrm>
            <a:off x="667512" y="2020824"/>
            <a:ext cx="2807208" cy="914400"/>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Every token asks every other token: how relevant are you to what I mean here? One matrix computation.</a:t>
            </a:r>
            <a:endParaRPr lang="en-US" sz="1000" dirty="0"/>
          </a:p>
        </p:txBody>
      </p:sp>
      <p:sp>
        <p:nvSpPr>
          <p:cNvPr id="16" name="Shape 13"/>
          <p:cNvSpPr/>
          <p:nvPr/>
        </p:nvSpPr>
        <p:spPr>
          <a:xfrm>
            <a:off x="8549640" y="1600200"/>
            <a:ext cx="3136392" cy="1417320"/>
          </a:xfrm>
          <a:prstGeom prst="roundRect">
            <a:avLst>
              <a:gd name="adj" fmla="val 3871"/>
            </a:avLst>
          </a:prstGeom>
          <a:solidFill>
            <a:srgbClr val="F2F6F8"/>
          </a:solidFill>
          <a:ln w="9525">
            <a:solidFill>
              <a:srgbClr val="29ABE2"/>
            </a:solidFill>
            <a:prstDash val="solid"/>
          </a:ln>
        </p:spPr>
      </p:sp>
      <p:sp>
        <p:nvSpPr>
          <p:cNvPr id="17" name="Text 14"/>
          <p:cNvSpPr/>
          <p:nvPr/>
        </p:nvSpPr>
        <p:spPr>
          <a:xfrm>
            <a:off x="8714232" y="1691640"/>
            <a:ext cx="2807208" cy="320040"/>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Multi-head</a:t>
            </a:r>
            <a:endParaRPr lang="en-US" sz="1250" dirty="0"/>
          </a:p>
        </p:txBody>
      </p:sp>
      <p:sp>
        <p:nvSpPr>
          <p:cNvPr id="18" name="Text 15"/>
          <p:cNvSpPr/>
          <p:nvPr/>
        </p:nvSpPr>
        <p:spPr>
          <a:xfrm>
            <a:off x="8714232" y="2020824"/>
            <a:ext cx="2807208" cy="914400"/>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BERT-base: 12 heads × 64 dims. Heads specialise — syntax-like relations, adjacency, [SEP] sinks.</a:t>
            </a:r>
            <a:endParaRPr lang="en-US" sz="1000" dirty="0"/>
          </a:p>
        </p:txBody>
      </p:sp>
      <p:sp>
        <p:nvSpPr>
          <p:cNvPr id="19" name="Shape 16"/>
          <p:cNvSpPr/>
          <p:nvPr/>
        </p:nvSpPr>
        <p:spPr>
          <a:xfrm>
            <a:off x="502920" y="3291840"/>
            <a:ext cx="3136392" cy="1417320"/>
          </a:xfrm>
          <a:prstGeom prst="roundRect">
            <a:avLst>
              <a:gd name="adj" fmla="val 3871"/>
            </a:avLst>
          </a:prstGeom>
          <a:solidFill>
            <a:srgbClr val="F2F6F8"/>
          </a:solidFill>
          <a:ln w="9525">
            <a:solidFill>
              <a:srgbClr val="F7941D"/>
            </a:solidFill>
            <a:prstDash val="solid"/>
          </a:ln>
        </p:spPr>
      </p:sp>
      <p:sp>
        <p:nvSpPr>
          <p:cNvPr id="20" name="Text 17"/>
          <p:cNvSpPr/>
          <p:nvPr/>
        </p:nvSpPr>
        <p:spPr>
          <a:xfrm>
            <a:off x="667512" y="3383280"/>
            <a:ext cx="2807208" cy="320040"/>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Positional encoding</a:t>
            </a:r>
            <a:endParaRPr lang="en-US" sz="1250" dirty="0"/>
          </a:p>
        </p:txBody>
      </p:sp>
      <p:sp>
        <p:nvSpPr>
          <p:cNvPr id="21" name="Text 18"/>
          <p:cNvSpPr/>
          <p:nvPr/>
        </p:nvSpPr>
        <p:spPr>
          <a:xfrm>
            <a:off x="667512" y="3712464"/>
            <a:ext cx="2807208" cy="914400"/>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Attention is order-blind; learned absolute positions give BERT its hard 512-token limit.</a:t>
            </a:r>
            <a:endParaRPr lang="en-US" sz="1000" dirty="0"/>
          </a:p>
        </p:txBody>
      </p:sp>
      <p:sp>
        <p:nvSpPr>
          <p:cNvPr id="22" name="Shape 19"/>
          <p:cNvSpPr/>
          <p:nvPr/>
        </p:nvSpPr>
        <p:spPr>
          <a:xfrm>
            <a:off x="8549640" y="3291840"/>
            <a:ext cx="3136392" cy="1417320"/>
          </a:xfrm>
          <a:prstGeom prst="roundRect">
            <a:avLst>
              <a:gd name="adj" fmla="val 3871"/>
            </a:avLst>
          </a:prstGeom>
          <a:solidFill>
            <a:srgbClr val="F2F6F8"/>
          </a:solidFill>
          <a:ln w="9525">
            <a:solidFill>
              <a:srgbClr val="8CC63F"/>
            </a:solidFill>
            <a:prstDash val="solid"/>
          </a:ln>
        </p:spPr>
      </p:sp>
      <p:sp>
        <p:nvSpPr>
          <p:cNvPr id="23" name="Text 20"/>
          <p:cNvSpPr/>
          <p:nvPr/>
        </p:nvSpPr>
        <p:spPr>
          <a:xfrm>
            <a:off x="8714232" y="3383280"/>
            <a:ext cx="2807208" cy="320040"/>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Three families</a:t>
            </a:r>
            <a:endParaRPr lang="en-US" sz="1250" dirty="0"/>
          </a:p>
        </p:txBody>
      </p:sp>
      <p:sp>
        <p:nvSpPr>
          <p:cNvPr id="24" name="Text 21"/>
          <p:cNvSpPr/>
          <p:nvPr/>
        </p:nvSpPr>
        <p:spPr>
          <a:xfrm>
            <a:off x="8714232" y="3712464"/>
            <a:ext cx="2807208" cy="914400"/>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Encoder, decoder, encoder-decoder — the pretraining objective shapes what each family is best at.</a:t>
            </a:r>
            <a:endParaRPr lang="en-US" sz="1000" dirty="0"/>
          </a:p>
        </p:txBody>
      </p:sp>
      <p:sp>
        <p:nvSpPr>
          <p:cNvPr id="25" name="Shape 22"/>
          <p:cNvSpPr/>
          <p:nvPr/>
        </p:nvSpPr>
        <p:spPr>
          <a:xfrm>
            <a:off x="502920" y="4983480"/>
            <a:ext cx="3136392" cy="1417320"/>
          </a:xfrm>
          <a:prstGeom prst="roundRect">
            <a:avLst>
              <a:gd name="adj" fmla="val 3871"/>
            </a:avLst>
          </a:prstGeom>
          <a:solidFill>
            <a:srgbClr val="F2F6F8"/>
          </a:solidFill>
          <a:ln w="9525">
            <a:solidFill>
              <a:srgbClr val="00A79D"/>
            </a:solidFill>
            <a:prstDash val="solid"/>
          </a:ln>
        </p:spPr>
      </p:sp>
      <p:sp>
        <p:nvSpPr>
          <p:cNvPr id="26" name="Text 23"/>
          <p:cNvSpPr/>
          <p:nvPr/>
        </p:nvSpPr>
        <p:spPr>
          <a:xfrm>
            <a:off x="667512" y="5074920"/>
            <a:ext cx="2807208" cy="320040"/>
          </a:xfrm>
          <a:prstGeom prst="rect">
            <a:avLst/>
          </a:prstGeom>
          <a:noFill/>
          <a:ln/>
        </p:spPr>
        <p:txBody>
          <a:bodyPr wrap="square" lIns="0" tIns="0" rIns="0" bIns="0"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Attention maps</a:t>
            </a:r>
            <a:endParaRPr lang="en-US" sz="1250" dirty="0"/>
          </a:p>
        </p:txBody>
      </p:sp>
      <p:sp>
        <p:nvSpPr>
          <p:cNvPr id="27" name="Text 24"/>
          <p:cNvSpPr/>
          <p:nvPr/>
        </p:nvSpPr>
        <p:spPr>
          <a:xfrm>
            <a:off x="667512" y="5404104"/>
            <a:ext cx="2807208" cy="914400"/>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A debugging and teaching tool — not a faithful explanation. Attention is not attribution.</a:t>
            </a:r>
            <a:endParaRPr lang="en-US" sz="1000" dirty="0"/>
          </a:p>
        </p:txBody>
      </p:sp>
      <p:sp>
        <p:nvSpPr>
          <p:cNvPr id="28" name="Shape 25"/>
          <p:cNvSpPr/>
          <p:nvPr/>
        </p:nvSpPr>
        <p:spPr>
          <a:xfrm>
            <a:off x="4768596" y="3177540"/>
            <a:ext cx="2651760" cy="1234440"/>
          </a:xfrm>
          <a:prstGeom prst="ellipse">
            <a:avLst/>
          </a:prstGeom>
          <a:solidFill>
            <a:srgbClr val="1D2A5C"/>
          </a:solidFill>
          <a:ln w="19050">
            <a:solidFill>
              <a:srgbClr val="00A79D"/>
            </a:solidFill>
            <a:prstDash val="solid"/>
          </a:ln>
        </p:spPr>
      </p:sp>
      <p:sp>
        <p:nvSpPr>
          <p:cNvPr id="29" name="Text 26"/>
          <p:cNvSpPr/>
          <p:nvPr/>
        </p:nvSpPr>
        <p:spPr>
          <a:xfrm>
            <a:off x="4860036" y="3177540"/>
            <a:ext cx="246888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Transformer</a:t>
            </a:r>
            <a:endParaRPr lang="en-US" sz="1400" dirty="0"/>
          </a:p>
        </p:txBody>
      </p:sp>
      <p:sp>
        <p:nvSpPr>
          <p:cNvPr id="30" name="Text 27"/>
          <p:cNvSpPr/>
          <p:nvPr/>
        </p:nvSpPr>
        <p:spPr>
          <a:xfrm>
            <a:off x="4082796" y="4485132"/>
            <a:ext cx="4023360" cy="274320"/>
          </a:xfrm>
          <a:prstGeom prst="rect">
            <a:avLst/>
          </a:prstGeom>
          <a:noFill/>
          <a:ln/>
        </p:spPr>
        <p:txBody>
          <a:bodyPr wrap="square" lIns="0" tIns="0" rIns="0" bIns="0" rtlCol="0" anchor="ctr"/>
          <a:lstStyle/>
          <a:p>
            <a:pPr algn="ctr" indent="0" marL="0">
              <a:buNone/>
            </a:pPr>
            <a:r>
              <a:rPr lang="en-US" sz="1000" dirty="0">
                <a:solidFill>
                  <a:srgbClr val="6E7B8A"/>
                </a:solidFill>
                <a:latin typeface="Calibri" pitchFamily="34" charset="0"/>
                <a:ea typeface="Calibri" pitchFamily="34" charset="-122"/>
                <a:cs typeface="Calibri" pitchFamily="34" charset="-120"/>
              </a:rPr>
              <a:t>From using models to reasoning about them</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Self-Attention in Four Steps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الانتباه الذاتي في أربع خطوات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31</a:t>
            </a:r>
            <a:endParaRPr lang="en-US" sz="800" dirty="0"/>
          </a:p>
        </p:txBody>
      </p:sp>
      <p:sp>
        <p:nvSpPr>
          <p:cNvPr id="8" name="Shape 5"/>
          <p:cNvSpPr/>
          <p:nvPr/>
        </p:nvSpPr>
        <p:spPr>
          <a:xfrm>
            <a:off x="502920" y="1965960"/>
            <a:ext cx="2507742" cy="2377440"/>
          </a:xfrm>
          <a:prstGeom prst="roundRect">
            <a:avLst>
              <a:gd name="adj" fmla="val 2308"/>
            </a:avLst>
          </a:prstGeom>
          <a:solidFill>
            <a:srgbClr val="F2F6F8"/>
          </a:solidFill>
          <a:ln/>
        </p:spPr>
      </p:sp>
      <p:sp>
        <p:nvSpPr>
          <p:cNvPr id="9" name="Shape 6"/>
          <p:cNvSpPr/>
          <p:nvPr/>
        </p:nvSpPr>
        <p:spPr>
          <a:xfrm>
            <a:off x="502920" y="1965960"/>
            <a:ext cx="2507742" cy="82296"/>
          </a:xfrm>
          <a:prstGeom prst="rect">
            <a:avLst/>
          </a:prstGeom>
          <a:solidFill>
            <a:srgbClr val="00A79D"/>
          </a:solidFill>
          <a:ln/>
        </p:spPr>
      </p:sp>
      <p:sp>
        <p:nvSpPr>
          <p:cNvPr id="10" name="Text 7"/>
          <p:cNvSpPr/>
          <p:nvPr/>
        </p:nvSpPr>
        <p:spPr>
          <a:xfrm>
            <a:off x="640080" y="2148840"/>
            <a:ext cx="2233422"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STEP 1</a:t>
            </a:r>
            <a:endParaRPr lang="en-US" sz="1000" dirty="0"/>
          </a:p>
        </p:txBody>
      </p:sp>
      <p:sp>
        <p:nvSpPr>
          <p:cNvPr id="11" name="Text 8"/>
          <p:cNvSpPr/>
          <p:nvPr/>
        </p:nvSpPr>
        <p:spPr>
          <a:xfrm>
            <a:off x="64008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Scores: QKᵀ</a:t>
            </a:r>
            <a:endParaRPr lang="en-US" sz="1500" dirty="0"/>
          </a:p>
        </p:txBody>
      </p:sp>
      <p:sp>
        <p:nvSpPr>
          <p:cNvPr id="12" name="Text 9"/>
          <p:cNvSpPr/>
          <p:nvPr/>
        </p:nvSpPr>
        <p:spPr>
          <a:xfrm>
            <a:off x="64008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Every query dotted with every key — an n×n relevance matrix. Q asks, K advertises, V contributes.</a:t>
            </a:r>
            <a:endParaRPr lang="en-US" sz="1050" dirty="0"/>
          </a:p>
        </p:txBody>
      </p:sp>
      <p:sp>
        <p:nvSpPr>
          <p:cNvPr id="13" name="Shape 10"/>
          <p:cNvSpPr/>
          <p:nvPr/>
        </p:nvSpPr>
        <p:spPr>
          <a:xfrm>
            <a:off x="3065526" y="3026664"/>
            <a:ext cx="274320" cy="256032"/>
          </a:xfrm>
          <a:prstGeom prst="chevron">
            <a:avLst/>
          </a:prstGeom>
          <a:solidFill>
            <a:srgbClr val="00A79D"/>
          </a:solidFill>
          <a:ln/>
        </p:spPr>
      </p:sp>
      <p:sp>
        <p:nvSpPr>
          <p:cNvPr id="14" name="Shape 11"/>
          <p:cNvSpPr/>
          <p:nvPr/>
        </p:nvSpPr>
        <p:spPr>
          <a:xfrm>
            <a:off x="3394710" y="1965960"/>
            <a:ext cx="2507742" cy="2377440"/>
          </a:xfrm>
          <a:prstGeom prst="roundRect">
            <a:avLst>
              <a:gd name="adj" fmla="val 2308"/>
            </a:avLst>
          </a:prstGeom>
          <a:solidFill>
            <a:srgbClr val="F2F6F8"/>
          </a:solidFill>
          <a:ln/>
        </p:spPr>
      </p:sp>
      <p:sp>
        <p:nvSpPr>
          <p:cNvPr id="15" name="Shape 12"/>
          <p:cNvSpPr/>
          <p:nvPr/>
        </p:nvSpPr>
        <p:spPr>
          <a:xfrm>
            <a:off x="3394710" y="1965960"/>
            <a:ext cx="2507742" cy="82296"/>
          </a:xfrm>
          <a:prstGeom prst="rect">
            <a:avLst/>
          </a:prstGeom>
          <a:solidFill>
            <a:srgbClr val="29ABE2"/>
          </a:solidFill>
          <a:ln/>
        </p:spPr>
      </p:sp>
      <p:sp>
        <p:nvSpPr>
          <p:cNvPr id="16" name="Text 13"/>
          <p:cNvSpPr/>
          <p:nvPr/>
        </p:nvSpPr>
        <p:spPr>
          <a:xfrm>
            <a:off x="3531870" y="2148840"/>
            <a:ext cx="2233422" cy="237744"/>
          </a:xfrm>
          <a:prstGeom prst="rect">
            <a:avLst/>
          </a:prstGeom>
          <a:noFill/>
          <a:ln/>
        </p:spPr>
        <p:txBody>
          <a:bodyPr wrap="square" lIns="0" tIns="0" rIns="0" bIns="0" rtlCol="0" anchor="ctr"/>
          <a:lstStyle/>
          <a:p>
            <a:pPr indent="0" marL="0">
              <a:buNone/>
            </a:pPr>
            <a:r>
              <a:rPr lang="en-US" sz="1000" b="1" spc="150" kern="0" dirty="0">
                <a:solidFill>
                  <a:srgbClr val="29ABE2"/>
                </a:solidFill>
                <a:latin typeface="Calibri" pitchFamily="34" charset="0"/>
                <a:ea typeface="Calibri" pitchFamily="34" charset="-122"/>
                <a:cs typeface="Calibri" pitchFamily="34" charset="-120"/>
              </a:rPr>
              <a:t>STEP 2</a:t>
            </a:r>
            <a:endParaRPr lang="en-US" sz="1000" dirty="0"/>
          </a:p>
        </p:txBody>
      </p:sp>
      <p:sp>
        <p:nvSpPr>
          <p:cNvPr id="17" name="Text 14"/>
          <p:cNvSpPr/>
          <p:nvPr/>
        </p:nvSpPr>
        <p:spPr>
          <a:xfrm>
            <a:off x="353187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Scale: ÷ √d_k</a:t>
            </a:r>
            <a:endParaRPr lang="en-US" sz="1500" dirty="0"/>
          </a:p>
        </p:txBody>
      </p:sp>
      <p:sp>
        <p:nvSpPr>
          <p:cNvPr id="18" name="Text 15"/>
          <p:cNvSpPr/>
          <p:nvPr/>
        </p:nvSpPr>
        <p:spPr>
          <a:xfrm>
            <a:off x="353187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Without it, dot products grow with dimension, softmax saturates, gradients vanish.</a:t>
            </a:r>
            <a:endParaRPr lang="en-US" sz="1050" dirty="0"/>
          </a:p>
        </p:txBody>
      </p:sp>
      <p:sp>
        <p:nvSpPr>
          <p:cNvPr id="19" name="Shape 16"/>
          <p:cNvSpPr/>
          <p:nvPr/>
        </p:nvSpPr>
        <p:spPr>
          <a:xfrm>
            <a:off x="5957316" y="3026664"/>
            <a:ext cx="274320" cy="256032"/>
          </a:xfrm>
          <a:prstGeom prst="chevron">
            <a:avLst/>
          </a:prstGeom>
          <a:solidFill>
            <a:srgbClr val="00A79D"/>
          </a:solidFill>
          <a:ln/>
        </p:spPr>
      </p:sp>
      <p:sp>
        <p:nvSpPr>
          <p:cNvPr id="20" name="Shape 17"/>
          <p:cNvSpPr/>
          <p:nvPr/>
        </p:nvSpPr>
        <p:spPr>
          <a:xfrm>
            <a:off x="6286500" y="1965960"/>
            <a:ext cx="2507742" cy="2377440"/>
          </a:xfrm>
          <a:prstGeom prst="roundRect">
            <a:avLst>
              <a:gd name="adj" fmla="val 2308"/>
            </a:avLst>
          </a:prstGeom>
          <a:solidFill>
            <a:srgbClr val="F2F6F8"/>
          </a:solidFill>
          <a:ln/>
        </p:spPr>
      </p:sp>
      <p:sp>
        <p:nvSpPr>
          <p:cNvPr id="21" name="Shape 18"/>
          <p:cNvSpPr/>
          <p:nvPr/>
        </p:nvSpPr>
        <p:spPr>
          <a:xfrm>
            <a:off x="6286500" y="1965960"/>
            <a:ext cx="2507742" cy="82296"/>
          </a:xfrm>
          <a:prstGeom prst="rect">
            <a:avLst/>
          </a:prstGeom>
          <a:solidFill>
            <a:srgbClr val="F7941D"/>
          </a:solidFill>
          <a:ln/>
        </p:spPr>
      </p:sp>
      <p:sp>
        <p:nvSpPr>
          <p:cNvPr id="22" name="Text 19"/>
          <p:cNvSpPr/>
          <p:nvPr/>
        </p:nvSpPr>
        <p:spPr>
          <a:xfrm>
            <a:off x="6423660" y="2148840"/>
            <a:ext cx="2233422" cy="237744"/>
          </a:xfrm>
          <a:prstGeom prst="rect">
            <a:avLst/>
          </a:prstGeom>
          <a:noFill/>
          <a:ln/>
        </p:spPr>
        <p:txBody>
          <a:bodyPr wrap="square" lIns="0" tIns="0" rIns="0" bIns="0" rtlCol="0" anchor="ctr"/>
          <a:lstStyle/>
          <a:p>
            <a:pPr indent="0" marL="0">
              <a:buNone/>
            </a:pPr>
            <a:r>
              <a:rPr lang="en-US" sz="1000" b="1" spc="150" kern="0" dirty="0">
                <a:solidFill>
                  <a:srgbClr val="F7941D"/>
                </a:solidFill>
                <a:latin typeface="Calibri" pitchFamily="34" charset="0"/>
                <a:ea typeface="Calibri" pitchFamily="34" charset="-122"/>
                <a:cs typeface="Calibri" pitchFamily="34" charset="-120"/>
              </a:rPr>
              <a:t>STEP 3</a:t>
            </a:r>
            <a:endParaRPr lang="en-US" sz="1000" dirty="0"/>
          </a:p>
        </p:txBody>
      </p:sp>
      <p:sp>
        <p:nvSpPr>
          <p:cNvPr id="23" name="Text 20"/>
          <p:cNvSpPr/>
          <p:nvPr/>
        </p:nvSpPr>
        <p:spPr>
          <a:xfrm>
            <a:off x="642366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Softmax by row</a:t>
            </a:r>
            <a:endParaRPr lang="en-US" sz="1500" dirty="0"/>
          </a:p>
        </p:txBody>
      </p:sp>
      <p:sp>
        <p:nvSpPr>
          <p:cNvPr id="24" name="Text 21"/>
          <p:cNvSpPr/>
          <p:nvPr/>
        </p:nvSpPr>
        <p:spPr>
          <a:xfrm>
            <a:off x="642366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Each token's attention over all tokens sums to 1 — a probability distribution per row.</a:t>
            </a:r>
            <a:endParaRPr lang="en-US" sz="1050" dirty="0"/>
          </a:p>
        </p:txBody>
      </p:sp>
      <p:sp>
        <p:nvSpPr>
          <p:cNvPr id="25" name="Shape 22"/>
          <p:cNvSpPr/>
          <p:nvPr/>
        </p:nvSpPr>
        <p:spPr>
          <a:xfrm>
            <a:off x="8849106" y="3026664"/>
            <a:ext cx="274320" cy="256032"/>
          </a:xfrm>
          <a:prstGeom prst="chevron">
            <a:avLst/>
          </a:prstGeom>
          <a:solidFill>
            <a:srgbClr val="00A79D"/>
          </a:solidFill>
          <a:ln/>
        </p:spPr>
      </p:sp>
      <p:sp>
        <p:nvSpPr>
          <p:cNvPr id="26" name="Shape 23"/>
          <p:cNvSpPr/>
          <p:nvPr/>
        </p:nvSpPr>
        <p:spPr>
          <a:xfrm>
            <a:off x="9178290" y="1965960"/>
            <a:ext cx="2507742" cy="2377440"/>
          </a:xfrm>
          <a:prstGeom prst="roundRect">
            <a:avLst>
              <a:gd name="adj" fmla="val 2308"/>
            </a:avLst>
          </a:prstGeom>
          <a:solidFill>
            <a:srgbClr val="F2F6F8"/>
          </a:solidFill>
          <a:ln/>
        </p:spPr>
      </p:sp>
      <p:sp>
        <p:nvSpPr>
          <p:cNvPr id="27" name="Shape 24"/>
          <p:cNvSpPr/>
          <p:nvPr/>
        </p:nvSpPr>
        <p:spPr>
          <a:xfrm>
            <a:off x="9178290" y="1965960"/>
            <a:ext cx="2507742" cy="82296"/>
          </a:xfrm>
          <a:prstGeom prst="rect">
            <a:avLst/>
          </a:prstGeom>
          <a:solidFill>
            <a:srgbClr val="8CC63F"/>
          </a:solidFill>
          <a:ln/>
        </p:spPr>
      </p:sp>
      <p:sp>
        <p:nvSpPr>
          <p:cNvPr id="28" name="Text 25"/>
          <p:cNvSpPr/>
          <p:nvPr/>
        </p:nvSpPr>
        <p:spPr>
          <a:xfrm>
            <a:off x="9315450" y="2148840"/>
            <a:ext cx="2233422" cy="237744"/>
          </a:xfrm>
          <a:prstGeom prst="rect">
            <a:avLst/>
          </a:prstGeom>
          <a:noFill/>
          <a:ln/>
        </p:spPr>
        <p:txBody>
          <a:bodyPr wrap="square" lIns="0" tIns="0" rIns="0" bIns="0" rtlCol="0" anchor="ctr"/>
          <a:lstStyle/>
          <a:p>
            <a:pPr indent="0" marL="0">
              <a:buNone/>
            </a:pPr>
            <a:r>
              <a:rPr lang="en-US" sz="1000" b="1" spc="150" kern="0" dirty="0">
                <a:solidFill>
                  <a:srgbClr val="8CC63F"/>
                </a:solidFill>
                <a:latin typeface="Calibri" pitchFamily="34" charset="0"/>
                <a:ea typeface="Calibri" pitchFamily="34" charset="-122"/>
                <a:cs typeface="Calibri" pitchFamily="34" charset="-120"/>
              </a:rPr>
              <a:t>STEP 4</a:t>
            </a:r>
            <a:endParaRPr lang="en-US" sz="1000" dirty="0"/>
          </a:p>
        </p:txBody>
      </p:sp>
      <p:sp>
        <p:nvSpPr>
          <p:cNvPr id="29" name="Text 26"/>
          <p:cNvSpPr/>
          <p:nvPr/>
        </p:nvSpPr>
        <p:spPr>
          <a:xfrm>
            <a:off x="931545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Mix: × V</a:t>
            </a:r>
            <a:endParaRPr lang="en-US" sz="1500" dirty="0"/>
          </a:p>
        </p:txBody>
      </p:sp>
      <p:sp>
        <p:nvSpPr>
          <p:cNvPr id="30" name="Text 27"/>
          <p:cNvSpPr/>
          <p:nvPr/>
        </p:nvSpPr>
        <p:spPr>
          <a:xfrm>
            <a:off x="931545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Each output is a relevance-weighted average of value vectors. 'Bank' now contains 'closed' — disambiguation as arithmetic.</a:t>
            </a:r>
            <a:endParaRPr lang="en-US" sz="1050" dirty="0"/>
          </a:p>
        </p:txBody>
      </p:sp>
      <p:sp>
        <p:nvSpPr>
          <p:cNvPr id="31" name="Shape 28"/>
          <p:cNvSpPr/>
          <p:nvPr/>
        </p:nvSpPr>
        <p:spPr>
          <a:xfrm>
            <a:off x="502920" y="4892040"/>
            <a:ext cx="11183112" cy="1051560"/>
          </a:xfrm>
          <a:prstGeom prst="roundRect">
            <a:avLst>
              <a:gd name="adj" fmla="val 6957"/>
            </a:avLst>
          </a:prstGeom>
          <a:solidFill>
            <a:srgbClr val="E6F5F4"/>
          </a:solidFill>
          <a:ln/>
        </p:spPr>
      </p:sp>
      <p:sp>
        <p:nvSpPr>
          <p:cNvPr id="32" name="Text 29"/>
          <p:cNvSpPr/>
          <p:nvPr/>
        </p:nvSpPr>
        <p:spPr>
          <a:xfrm>
            <a:off x="731520" y="4892040"/>
            <a:ext cx="10789920" cy="105156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200" dirty="0">
                <a:solidFill>
                  <a:srgbClr val="2B2B2B"/>
                </a:solidFill>
                <a:latin typeface="Calibri" pitchFamily="34" charset="0"/>
                <a:ea typeface="Calibri" pitchFamily="34" charset="-122"/>
                <a:cs typeface="Calibri" pitchFamily="34" charset="-120"/>
              </a:rPr>
              <a:t>Three consequences: permutation-equivariant (hence positional encodings), fully parallel across tokens (why transformers replaced RNNs), and O(n²) in sequence length (hence 512-token ceilings).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Attention from Scratch — The Whiteboard, Executable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الانتباه من الصفر — رياضيات قابلة للتشغيل</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32</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Attention in ~20 lines. Participants verify their implementation against F.scaled_dot_product_attention in Lab 2.</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notebooks/02_attention_from_scratch.py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import math, torch</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import torch.nn.functional as F</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attention(q, k, v, mask=None):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"""q,k,v: [batch, heads, seq, d_k]; mask: [batch, 1, 1, seq] (1=keep)."""</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scores = q @ k.transpose(-2, -1) / math.sqrt(q.size(-1))   # [b,h,n,n]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if mask is not None: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scores = scores.masked_fill(mask == 0, float("-inf"))  # pad never attended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weights = scores.softmax(dim=-1)                           # rows sum to 1</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return weights @ v, weights</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torch.manual_seed(0)</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b, h, n, d = 1, 1, 4, 8                       # 4-token toy sentence, one head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q = k = v = torch.randn(b, h, n, d)</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out, w = attention(q, k, v)</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ref = F.scaled_dot_product_attention(q, k, v)</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assert torch.allclose(out, ref, atol=1e-6)</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print("attention weights (rows sum to 1):\n", w[0, 0].round(decimals=2))</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Scale by √d_k, not √768</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The classic Lab 2 bug: scaling by d_model makes the equivalence assert fail at ~1e-3. Divide by the per-head dimension.</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Mask scores, then softmax</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Applying -inf after softmax yields NaN. The mask hits the score matrix so [PAD] is never attended.</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Encoder Block — and Where the Weights Live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كتلة المُرمِّز — وأين تسكن الأوزان</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33</a:t>
            </a:r>
            <a:endParaRPr lang="en-US" sz="800" dirty="0"/>
          </a:p>
        </p:txBody>
      </p:sp>
      <p:sp>
        <p:nvSpPr>
          <p:cNvPr id="8" name="Shape 5"/>
          <p:cNvSpPr/>
          <p:nvPr/>
        </p:nvSpPr>
        <p:spPr>
          <a:xfrm>
            <a:off x="502920" y="1554480"/>
            <a:ext cx="6949440" cy="1104138"/>
          </a:xfrm>
          <a:prstGeom prst="roundRect">
            <a:avLst>
              <a:gd name="adj" fmla="val 4969"/>
            </a:avLst>
          </a:prstGeom>
          <a:solidFill>
            <a:srgbClr val="E6F5F4"/>
          </a:solidFill>
          <a:ln w="9525">
            <a:solidFill>
              <a:srgbClr val="00A79D"/>
            </a:solidFill>
            <a:prstDash val="solid"/>
          </a:ln>
        </p:spPr>
      </p:sp>
      <p:sp>
        <p:nvSpPr>
          <p:cNvPr id="9" name="Text 6"/>
          <p:cNvSpPr/>
          <p:nvPr/>
        </p:nvSpPr>
        <p:spPr>
          <a:xfrm>
            <a:off x="731520" y="1627632"/>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Multi-head self-attention (12 × 64)</a:t>
            </a:r>
            <a:endParaRPr lang="en-US" sz="1350" dirty="0"/>
          </a:p>
        </p:txBody>
      </p:sp>
      <p:sp>
        <p:nvSpPr>
          <p:cNvPr id="10" name="Text 7"/>
          <p:cNvSpPr/>
          <p:nvPr/>
        </p:nvSpPr>
        <p:spPr>
          <a:xfrm>
            <a:off x="731520" y="1920240"/>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Splits 768 dims into 12 subspaces, attends independently, concatenates, projects. ≈ 2.36M parameters per block.</a:t>
            </a:r>
            <a:endParaRPr lang="en-US" sz="1050" dirty="0"/>
          </a:p>
        </p:txBody>
      </p:sp>
      <p:sp>
        <p:nvSpPr>
          <p:cNvPr id="11" name="Shape 8"/>
          <p:cNvSpPr/>
          <p:nvPr/>
        </p:nvSpPr>
        <p:spPr>
          <a:xfrm>
            <a:off x="502920" y="2786634"/>
            <a:ext cx="6949440" cy="1104138"/>
          </a:xfrm>
          <a:prstGeom prst="roundRect">
            <a:avLst>
              <a:gd name="adj" fmla="val 4969"/>
            </a:avLst>
          </a:prstGeom>
          <a:solidFill>
            <a:srgbClr val="EAF6FC"/>
          </a:solidFill>
          <a:ln w="9525">
            <a:solidFill>
              <a:srgbClr val="29ABE2"/>
            </a:solidFill>
            <a:prstDash val="solid"/>
          </a:ln>
        </p:spPr>
      </p:sp>
      <p:sp>
        <p:nvSpPr>
          <p:cNvPr id="12" name="Text 9"/>
          <p:cNvSpPr/>
          <p:nvPr/>
        </p:nvSpPr>
        <p:spPr>
          <a:xfrm>
            <a:off x="731520" y="2859786"/>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Residual add + LayerNorm</a:t>
            </a:r>
            <a:endParaRPr lang="en-US" sz="1350" dirty="0"/>
          </a:p>
        </p:txBody>
      </p:sp>
      <p:sp>
        <p:nvSpPr>
          <p:cNvPr id="13" name="Text 10"/>
          <p:cNvSpPr/>
          <p:nvPr/>
        </p:nvSpPr>
        <p:spPr>
          <a:xfrm>
            <a:off x="731520" y="3152394"/>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identity path is why 12+ layer stacks train at all — gradients flow through it (ResNets, AIE-112).</a:t>
            </a:r>
            <a:endParaRPr lang="en-US" sz="1050" dirty="0"/>
          </a:p>
        </p:txBody>
      </p:sp>
      <p:sp>
        <p:nvSpPr>
          <p:cNvPr id="14" name="Shape 11"/>
          <p:cNvSpPr/>
          <p:nvPr/>
        </p:nvSpPr>
        <p:spPr>
          <a:xfrm>
            <a:off x="502920" y="4018788"/>
            <a:ext cx="6949440" cy="1104138"/>
          </a:xfrm>
          <a:prstGeom prst="roundRect">
            <a:avLst>
              <a:gd name="adj" fmla="val 4969"/>
            </a:avLst>
          </a:prstGeom>
          <a:solidFill>
            <a:srgbClr val="FEF3E3"/>
          </a:solidFill>
          <a:ln w="9525">
            <a:solidFill>
              <a:srgbClr val="F7941D"/>
            </a:solidFill>
            <a:prstDash val="solid"/>
          </a:ln>
        </p:spPr>
      </p:sp>
      <p:sp>
        <p:nvSpPr>
          <p:cNvPr id="15" name="Text 12"/>
          <p:cNvSpPr/>
          <p:nvPr/>
        </p:nvSpPr>
        <p:spPr>
          <a:xfrm>
            <a:off x="731520" y="4091940"/>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Feed-forward: 768 → 3072 → 768, GELU</a:t>
            </a:r>
            <a:endParaRPr lang="en-US" sz="1350" dirty="0"/>
          </a:p>
        </p:txBody>
      </p:sp>
      <p:sp>
        <p:nvSpPr>
          <p:cNvPr id="16" name="Text 13"/>
          <p:cNvSpPr/>
          <p:nvPr/>
        </p:nvSpPr>
        <p:spPr>
          <a:xfrm>
            <a:off x="731520" y="4384548"/>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 4.72M parameters — the FFN holds two-thirds of block parameters. Attention routes knowledge; FFNs store it.</a:t>
            </a:r>
            <a:endParaRPr lang="en-US" sz="1050" dirty="0"/>
          </a:p>
        </p:txBody>
      </p:sp>
      <p:sp>
        <p:nvSpPr>
          <p:cNvPr id="17" name="Shape 14"/>
          <p:cNvSpPr/>
          <p:nvPr/>
        </p:nvSpPr>
        <p:spPr>
          <a:xfrm>
            <a:off x="502920" y="5250942"/>
            <a:ext cx="6949440" cy="1104138"/>
          </a:xfrm>
          <a:prstGeom prst="roundRect">
            <a:avLst>
              <a:gd name="adj" fmla="val 4969"/>
            </a:avLst>
          </a:prstGeom>
          <a:solidFill>
            <a:srgbClr val="F1F8E6"/>
          </a:solidFill>
          <a:ln w="9525">
            <a:solidFill>
              <a:srgbClr val="8CC63F"/>
            </a:solidFill>
            <a:prstDash val="solid"/>
          </a:ln>
        </p:spPr>
      </p:sp>
      <p:sp>
        <p:nvSpPr>
          <p:cNvPr id="18" name="Text 15"/>
          <p:cNvSpPr/>
          <p:nvPr/>
        </p:nvSpPr>
        <p:spPr>
          <a:xfrm>
            <a:off x="731520" y="5324094"/>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Residual add + LayerNorm — then × 12</a:t>
            </a:r>
            <a:endParaRPr lang="en-US" sz="1350" dirty="0"/>
          </a:p>
        </p:txBody>
      </p:sp>
      <p:sp>
        <p:nvSpPr>
          <p:cNvPr id="19" name="Text 16"/>
          <p:cNvSpPr/>
          <p:nvPr/>
        </p:nvSpPr>
        <p:spPr>
          <a:xfrm>
            <a:off x="731520" y="5616702"/>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Per block ≈ 7.1M; twelve blocks ≈ 85M. Add embeddings ≈ 23.8M and pooler ≈ 0.6M → BERT-base ≈ 110M.</a:t>
            </a:r>
            <a:endParaRPr lang="en-US" sz="1050" dirty="0"/>
          </a:p>
        </p:txBody>
      </p:sp>
      <p:sp>
        <p:nvSpPr>
          <p:cNvPr id="20" name="Shape 17"/>
          <p:cNvSpPr/>
          <p:nvPr/>
        </p:nvSpPr>
        <p:spPr>
          <a:xfrm>
            <a:off x="7726680" y="1554480"/>
            <a:ext cx="3959352" cy="4800600"/>
          </a:xfrm>
          <a:prstGeom prst="roundRect">
            <a:avLst>
              <a:gd name="adj" fmla="val 1848"/>
            </a:avLst>
          </a:prstGeom>
          <a:solidFill>
            <a:srgbClr val="1D2A5C"/>
          </a:solidFill>
          <a:ln/>
        </p:spPr>
      </p:sp>
      <p:sp>
        <p:nvSpPr>
          <p:cNvPr id="21" name="Text 18"/>
          <p:cNvSpPr/>
          <p:nvPr/>
        </p:nvSpPr>
        <p:spPr>
          <a:xfrm>
            <a:off x="7955280" y="1737360"/>
            <a:ext cx="3502152" cy="36576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Parameter accounting</a:t>
            </a:r>
            <a:endParaRPr lang="en-US" sz="1400" dirty="0"/>
          </a:p>
        </p:txBody>
      </p:sp>
      <p:sp>
        <p:nvSpPr>
          <p:cNvPr id="22" name="Text 19"/>
          <p:cNvSpPr/>
          <p:nvPr/>
        </p:nvSpPr>
        <p:spPr>
          <a:xfrm>
            <a:off x="7955280" y="2194560"/>
            <a:ext cx="3502152" cy="3977640"/>
          </a:xfrm>
          <a:prstGeom prst="rect">
            <a:avLst/>
          </a:prstGeom>
          <a:noFill/>
          <a:ln/>
        </p:spPr>
        <p:txBody>
          <a:bodyPr wrap="square" lIns="0" tIns="0" rIns="0" bIns="0" rtlCol="0" anchor="t"/>
          <a:lstStyle/>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Embeddings: 30,522 × 768 + positional 512 × 768 + token-type 2 × 768 ≈ 23.8M.</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Attention per block: 4 × (768 × 768 + 768) ≈ 2.36M.</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Heads specialise: syntax, adjacency, [SEP]/punctuation no-op sinks; many are redundant (distillation, M7).</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When participants produce this table themselves, model cards stop being marketing.</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Multi-Head Attention as a Module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الانتباه متعدد الرؤوس كوحدة برمجية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34</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Multi-head = split the hidden dim into subspaces, attend independently, re-mix. One head averages; several heads specialise.</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notebooks/02_multihead.py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import torch</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import torch.nn as nn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from attention_from_scratch import attention</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class MultiHeadAttention(nn.Module):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def __init__(self, d_model: int = 768, n_heads: int = 12):</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super().__init__()</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assert d_model % n_heads == 0</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self.h, self.d_k = n_heads, d_model // n_heads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self.wq, self.wk, self.wv = (nn.Linear(d_model, d_model) for _ in range(3))</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self.wo = nn.Linear(d_model, d_model)</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def forward(self, x, mask=None):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b, n, _ = x.shape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split = lambda t: t.view(b, n, self.h, self.d_k).transpose(1, 2)</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out, _ = attention(split(self.wq(x)), split(self.wk(x)),</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split(self.wv(x)), mask)</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return self.wo(out.transpose(1, 2).contiguous().view(b, n, -1))</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mha = MultiHeadAttention()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n_params = sum(p.numel() for p in mha.parameters())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print(f"MHA parameters: {n_params:,}")   # 2,362,368 — matches the accounting</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The split trick</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view + transpose reshapes [b, n, 768] into [b, 12, n, 64] — twelve independent attention computations in one tensor op.</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2,362,368</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The printed count matches the whiteboard accounting exactly — the module IS the maths from the previous slide.</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Positional Encoding and the Length Ceiling</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الترميز الموضعي وسقف الطول</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35</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Attention is order-blind — position must be injected. The scheme a model uses is an operational constraint, not an implementation detail.</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Three schemes</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Learned absolute (BERT): hard 512 limit — positions beyond are literally out of the table.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Sinusoidal (original transformer): extrapolates in principle, poorly in practice.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Relative / rotary (T5, modern LLMs): encode offsets, extend better.</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Operational consequences</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Truncation policy — head, tail, head+tail? — is a modelling decision with task-dependent answers.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Chunking strategy for documents (M5 search) is forced by architecture, not preference.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Escape hatch: Longformer-style sparse attention — at the cost of approximating full attention.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Know your model's positional scheme before promising long-document support in an SOW.</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Three Families, Three Pretraining Objectives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ثلاث عائلات وثلاثة أهداف تدريب مسبق</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36</a:t>
            </a:r>
            <a:endParaRPr lang="en-US" sz="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236622"/>
                <a:gridCol w="2236622"/>
                <a:gridCol w="2236622"/>
                <a:gridCol w="2236622"/>
                <a:gridCol w="2236622"/>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Attention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Pretraining</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Best at</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Encoder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Bidirectional</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Masked-language modelling</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Understanding: classification, NER, extractive QA, embeddings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BERT, CAMeLBERT, XLM-R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Decoder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Causal (left-to-right mask)</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Next-token prediction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Generation — sees only the past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GPT family (AIE-213)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Encoder-decoder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Bidirectional in, causal out + cross-attention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Span corruption / seq2seq</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Transformation: translation, summarisation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T5, mT5, MarianMT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Decision rule: fixed output space → encoder; free-form text → decoder; text-to-text → encoder-decoder. LLM caveat: a large decoder can zero-shot many understanding tasks at 10-100× the serving cost.</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Parameter Audit — Making '110M' Auditable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تدقيق المعاملات — جعل الأرقام قابلة للمراجعة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37</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Make the model card's headline number auditable, bucket by bucket — and expose the multilingual tax while you are at it.</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notebooks/02_param_audit.py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from collections import defaultdict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from transformers import AutoModel</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model = AutoModel.from_pretrained("bert-base-multilingual-cased")</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buckets = defaultdict(int)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for name, p in model.named_parameters():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if name.startswith("embeddings"):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buckets["embeddings"] += p.numel()</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elif "attention" in name: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buckets["attention (all layers)"] += p.numel()</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elif "intermediate" in name or ("output" in name and "attention" not in name):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buckets["feed-forward (all layers)"] += p.numel()</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else: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buckets["other (LayerNorm, pooler)"] += p.numel()</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total = sum(buckets.values())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for k, v in sorted(buckets.items(), key=lambda kv: -kv[1]):</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print(f"{k:28s} {v/1e6:7.1f}M  ({v/total:5.1%})")</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mBERT: embeddings ~46% because vocab=119,547 — a multilingual tax</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that CAMeLBERT does not pay (108.9M total, embeddings 21.4%)</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The multilingual tax</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mBERT: 177.9M total, embeddings 46.4% — vocab 119,547 rows. CAMeLBERT: 108.9M, embeddings 21.4%. Connect back to M1's fertility discussion.</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Lab 2 target</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Parameter accounting error ≤ 1% vs the numel() total. The pooler (~0.6M) lands in 'other' — the classic missed bucket.</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Attention Maps — and the Silent PAD Bug</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خرائط الانتباه وخطأ الحشو الصامت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38</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Look at what the model attends to on Bayan text — and use pad-mass as the diagnostic that makes a silent bug visible.</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notebooks/02_attention_maps.py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import torch</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transformers import AutoModel, AutoTokenizer</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name = "CAMeL-Lab/bert-base-arabic-camelbert-mix"</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tok = AutoTokenizer.from_pretrained(name)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model = AutoModel.from_pretrained(name, output_attentions=True).eval()</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text = "انقطعت الكهرباء في حي النرجس منذ ثلاث ساعات"  # outage complaint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enc = tok(text, return_tensors="pt", padding="max_length", max_length=24)</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with torch.inference_mode():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att = model(**enc).attentions        # tuple of 12 x [1, 12, 24, 24]</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layer, head = 8, 3</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weights = att[layer][0, head]            # [24, 24]</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tokens = tok.convert_ids_to_tokens(enc.input_ids[0])</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Diagnostic: how much attention mass lands on [PAD]? (~0 WITH the mask)</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pads = [i for i, t in enumerate(tokens) if t == "[PAD]"]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print(f"attention mass on PAD (mask on): {weights[:, pads].sum():.4f}")</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Drop attention_mask and re-run: pad mass jumps to ~0.3 per row —</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the silent bug, made visible.</a:t>
            </a:r>
            <a:endParaRPr lang="en-US" sz="8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0.0002 vs 0.31</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Pad mass with the mask vs without it. The regression test is one line: pad-mass &lt; 0.01. It lands in the shared test folder for M7's serving checks.</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Where to look</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Early layers look uniform and diffuse — inspect layers 6-10 for interpretable heads: adjacency trackers and [SEP] sinks.</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Reading Attention Maps — Without Over-Reading</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قراءة خرائط الانتباه دون مبالغة في التفسير</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39</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output_attentions=True returns per-layer, per-head n×n matrices. Use the tool — and respect its epistemic limits.</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Legitimate uses</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Debugging: is the model attending to [PAD]? That is a mask bug.</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Does the QA head attend from the question to the answer span?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Teaching intuition and communicating model behaviour to stakeholders.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Pattern-spotting: adjacency heads, [SEP]/punctuation sinks, content heads.</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Illegitimate use</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Presenting attention weights as faithful explanation — research is clear: attention ≠ attribution.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For accountable explanations use perturbation-based methods (M6, SHAP-style token attribution).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'We showed a heatmap' does not survive audit — Saudi public-sector explainability requirements are rising.</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at the Architecture Level</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على مستوى البنية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40</a:t>
            </a:r>
            <a:endParaRPr lang="en-US" sz="800" dirty="0"/>
          </a:p>
        </p:txBody>
      </p:sp>
      <p:sp>
        <p:nvSpPr>
          <p:cNvPr id="8" name="Shape 5"/>
          <p:cNvSpPr/>
          <p:nvPr/>
        </p:nvSpPr>
        <p:spPr>
          <a:xfrm>
            <a:off x="502920" y="1517904"/>
            <a:ext cx="3544824" cy="2286000"/>
          </a:xfrm>
          <a:prstGeom prst="roundRect">
            <a:avLst>
              <a:gd name="adj" fmla="val 2400"/>
            </a:avLst>
          </a:prstGeom>
          <a:solidFill>
            <a:srgbClr val="F2F6F8"/>
          </a:solidFill>
          <a:ln/>
        </p:spPr>
      </p:sp>
      <p:sp>
        <p:nvSpPr>
          <p:cNvPr id="9" name="Shape 6"/>
          <p:cNvSpPr/>
          <p:nvPr/>
        </p:nvSpPr>
        <p:spPr>
          <a:xfrm>
            <a:off x="502920" y="1517904"/>
            <a:ext cx="82296" cy="2286000"/>
          </a:xfrm>
          <a:prstGeom prst="rect">
            <a:avLst/>
          </a:prstGeom>
          <a:solidFill>
            <a:srgbClr val="00A79D"/>
          </a:solidFill>
          <a:ln/>
        </p:spPr>
      </p:sp>
      <p:sp>
        <p:nvSpPr>
          <p:cNvPr id="10" name="Text 7"/>
          <p:cNvSpPr/>
          <p:nvPr/>
        </p:nvSpPr>
        <p:spPr>
          <a:xfrm>
            <a:off x="722376" y="163677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MASKING</a:t>
            </a:r>
            <a:endParaRPr lang="en-US" sz="950" dirty="0"/>
          </a:p>
        </p:txBody>
      </p:sp>
      <p:sp>
        <p:nvSpPr>
          <p:cNvPr id="11" name="Text 8"/>
          <p:cNvSpPr/>
          <p:nvPr/>
        </p:nvSpPr>
        <p:spPr>
          <a:xfrm>
            <a:off x="722376"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Forgotten attention mask</a:t>
            </a:r>
            <a:endParaRPr lang="en-US" sz="1450" dirty="0"/>
          </a:p>
        </p:txBody>
      </p:sp>
      <p:sp>
        <p:nvSpPr>
          <p:cNvPr id="12" name="Text 9"/>
          <p:cNvSpPr/>
          <p:nvPr/>
        </p:nvSpPr>
        <p:spPr>
          <a:xfrm>
            <a:off x="722376"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[PAD] tokens leak into representations; accuracy drops mysteriously as batch composition changes. Regression test: pad mass &lt; 0.01.</a:t>
            </a:r>
            <a:endParaRPr lang="en-US" sz="1050" dirty="0"/>
          </a:p>
        </p:txBody>
      </p:sp>
      <p:sp>
        <p:nvSpPr>
          <p:cNvPr id="13" name="Shape 10"/>
          <p:cNvSpPr/>
          <p:nvPr/>
        </p:nvSpPr>
        <p:spPr>
          <a:xfrm>
            <a:off x="4322064" y="1517904"/>
            <a:ext cx="3544824" cy="2286000"/>
          </a:xfrm>
          <a:prstGeom prst="roundRect">
            <a:avLst>
              <a:gd name="adj" fmla="val 2400"/>
            </a:avLst>
          </a:prstGeom>
          <a:solidFill>
            <a:srgbClr val="F2F6F8"/>
          </a:solidFill>
          <a:ln/>
        </p:spPr>
      </p:sp>
      <p:sp>
        <p:nvSpPr>
          <p:cNvPr id="14" name="Shape 11"/>
          <p:cNvSpPr/>
          <p:nvPr/>
        </p:nvSpPr>
        <p:spPr>
          <a:xfrm>
            <a:off x="4322064" y="1517904"/>
            <a:ext cx="82296" cy="2286000"/>
          </a:xfrm>
          <a:prstGeom prst="rect">
            <a:avLst/>
          </a:prstGeom>
          <a:solidFill>
            <a:srgbClr val="29ABE2"/>
          </a:solidFill>
          <a:ln/>
        </p:spPr>
      </p:sp>
      <p:sp>
        <p:nvSpPr>
          <p:cNvPr id="15" name="Text 12"/>
          <p:cNvSpPr/>
          <p:nvPr/>
        </p:nvSpPr>
        <p:spPr>
          <a:xfrm>
            <a:off x="4541520" y="163677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MEMORY</a:t>
            </a:r>
            <a:endParaRPr lang="en-US" sz="950" dirty="0"/>
          </a:p>
        </p:txBody>
      </p:sp>
      <p:sp>
        <p:nvSpPr>
          <p:cNvPr id="16" name="Text 13"/>
          <p:cNvSpPr/>
          <p:nvPr/>
        </p:nvSpPr>
        <p:spPr>
          <a:xfrm>
            <a:off x="4541520"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Sized from parameters</a:t>
            </a:r>
            <a:endParaRPr lang="en-US" sz="1450" dirty="0"/>
          </a:p>
        </p:txBody>
      </p:sp>
      <p:sp>
        <p:nvSpPr>
          <p:cNvPr id="17" name="Text 14"/>
          <p:cNvSpPr/>
          <p:nvPr/>
        </p:nvSpPr>
        <p:spPr>
          <a:xfrm>
            <a:off x="4541520"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Activations scale with batch × length² — a 110M model OOMs on 4k-token inputs long before the weights matter.</a:t>
            </a:r>
            <a:endParaRPr lang="en-US" sz="1050" dirty="0"/>
          </a:p>
        </p:txBody>
      </p:sp>
      <p:sp>
        <p:nvSpPr>
          <p:cNvPr id="18" name="Shape 15"/>
          <p:cNvSpPr/>
          <p:nvPr/>
        </p:nvSpPr>
        <p:spPr>
          <a:xfrm>
            <a:off x="8141208" y="1517904"/>
            <a:ext cx="3544824" cy="2286000"/>
          </a:xfrm>
          <a:prstGeom prst="roundRect">
            <a:avLst>
              <a:gd name="adj" fmla="val 2400"/>
            </a:avLst>
          </a:prstGeom>
          <a:solidFill>
            <a:srgbClr val="F2F6F8"/>
          </a:solidFill>
          <a:ln/>
        </p:spPr>
      </p:sp>
      <p:sp>
        <p:nvSpPr>
          <p:cNvPr id="19" name="Shape 16"/>
          <p:cNvSpPr/>
          <p:nvPr/>
        </p:nvSpPr>
        <p:spPr>
          <a:xfrm>
            <a:off x="8141208" y="1517904"/>
            <a:ext cx="82296" cy="2286000"/>
          </a:xfrm>
          <a:prstGeom prst="rect">
            <a:avLst/>
          </a:prstGeom>
          <a:solidFill>
            <a:srgbClr val="F7941D"/>
          </a:solidFill>
          <a:ln/>
        </p:spPr>
      </p:sp>
      <p:sp>
        <p:nvSpPr>
          <p:cNvPr id="20" name="Text 17"/>
          <p:cNvSpPr/>
          <p:nvPr/>
        </p:nvSpPr>
        <p:spPr>
          <a:xfrm>
            <a:off x="8360664" y="1636776"/>
            <a:ext cx="3133344"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FAMILY CHOICE</a:t>
            </a:r>
            <a:endParaRPr lang="en-US" sz="950" dirty="0"/>
          </a:p>
        </p:txBody>
      </p:sp>
      <p:sp>
        <p:nvSpPr>
          <p:cNvPr id="21" name="Text 18"/>
          <p:cNvSpPr/>
          <p:nvPr/>
        </p:nvSpPr>
        <p:spPr>
          <a:xfrm>
            <a:off x="8360664"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Decoder LLM for 12 labels</a:t>
            </a:r>
            <a:endParaRPr lang="en-US" sz="1450" dirty="0"/>
          </a:p>
        </p:txBody>
      </p:sp>
      <p:sp>
        <p:nvSpPr>
          <p:cNvPr id="22" name="Text 19"/>
          <p:cNvSpPr/>
          <p:nvPr/>
        </p:nvSpPr>
        <p:spPr>
          <a:xfrm>
            <a:off x="8360664"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50× serving cost for worse-calibrated outputs — the small encoder wins fixed-label classification.</a:t>
            </a:r>
            <a:endParaRPr lang="en-US" sz="1050" dirty="0"/>
          </a:p>
        </p:txBody>
      </p:sp>
      <p:sp>
        <p:nvSpPr>
          <p:cNvPr id="23" name="Shape 20"/>
          <p:cNvSpPr/>
          <p:nvPr/>
        </p:nvSpPr>
        <p:spPr>
          <a:xfrm>
            <a:off x="502920" y="4078224"/>
            <a:ext cx="3544824" cy="2286000"/>
          </a:xfrm>
          <a:prstGeom prst="roundRect">
            <a:avLst>
              <a:gd name="adj" fmla="val 2400"/>
            </a:avLst>
          </a:prstGeom>
          <a:solidFill>
            <a:srgbClr val="F2F6F8"/>
          </a:solidFill>
          <a:ln/>
        </p:spPr>
      </p:sp>
      <p:sp>
        <p:nvSpPr>
          <p:cNvPr id="24" name="Shape 21"/>
          <p:cNvSpPr/>
          <p:nvPr/>
        </p:nvSpPr>
        <p:spPr>
          <a:xfrm>
            <a:off x="502920" y="4078224"/>
            <a:ext cx="82296" cy="2286000"/>
          </a:xfrm>
          <a:prstGeom prst="rect">
            <a:avLst/>
          </a:prstGeom>
          <a:solidFill>
            <a:srgbClr val="8CC63F"/>
          </a:solidFill>
          <a:ln/>
        </p:spPr>
      </p:sp>
      <p:sp>
        <p:nvSpPr>
          <p:cNvPr id="25" name="Text 22"/>
          <p:cNvSpPr/>
          <p:nvPr/>
        </p:nvSpPr>
        <p:spPr>
          <a:xfrm>
            <a:off x="722376" y="4197096"/>
            <a:ext cx="3133344" cy="237744"/>
          </a:xfrm>
          <a:prstGeom prst="rect">
            <a:avLst/>
          </a:prstGeom>
          <a:noFill/>
          <a:ln/>
        </p:spPr>
        <p:txBody>
          <a:bodyPr wrap="square" lIns="0" tIns="0" rIns="0" bIns="0" rtlCol="0" anchor="ctr"/>
          <a:lstStyle/>
          <a:p>
            <a:pPr indent="0" marL="0">
              <a:buNone/>
            </a:pPr>
            <a:r>
              <a:rPr lang="en-US" sz="950" b="1" spc="150" kern="0" dirty="0">
                <a:solidFill>
                  <a:srgbClr val="8CC63F"/>
                </a:solidFill>
                <a:latin typeface="Calibri" pitchFamily="34" charset="0"/>
                <a:ea typeface="Calibri" pitchFamily="34" charset="-122"/>
                <a:cs typeface="Calibri" pitchFamily="34" charset="-120"/>
              </a:rPr>
              <a:t>[CLS]</a:t>
            </a:r>
            <a:endParaRPr lang="en-US" sz="950" dirty="0"/>
          </a:p>
        </p:txBody>
      </p:sp>
      <p:sp>
        <p:nvSpPr>
          <p:cNvPr id="26" name="Text 23"/>
          <p:cNvSpPr/>
          <p:nvPr/>
        </p:nvSpPr>
        <p:spPr>
          <a:xfrm>
            <a:off x="722376"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Trusted without a head</a:t>
            </a:r>
            <a:endParaRPr lang="en-US" sz="1450" dirty="0"/>
          </a:p>
        </p:txBody>
      </p:sp>
      <p:sp>
        <p:nvSpPr>
          <p:cNvPr id="27" name="Text 24"/>
          <p:cNvSpPr/>
          <p:nvPr/>
        </p:nvSpPr>
        <p:spPr>
          <a:xfrm>
            <a:off x="722376"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Raw pretrained [CLS] is a poor sentence embedding — it needs a fine-tuned head or mean pooling (M5 shows the fix).</a:t>
            </a:r>
            <a:endParaRPr lang="en-US" sz="1050" dirty="0"/>
          </a:p>
        </p:txBody>
      </p:sp>
      <p:sp>
        <p:nvSpPr>
          <p:cNvPr id="28" name="Shape 25"/>
          <p:cNvSpPr/>
          <p:nvPr/>
        </p:nvSpPr>
        <p:spPr>
          <a:xfrm>
            <a:off x="4322064" y="4078224"/>
            <a:ext cx="3544824" cy="2286000"/>
          </a:xfrm>
          <a:prstGeom prst="roundRect">
            <a:avLst>
              <a:gd name="adj" fmla="val 2400"/>
            </a:avLst>
          </a:prstGeom>
          <a:solidFill>
            <a:srgbClr val="F2F6F8"/>
          </a:solidFill>
          <a:ln/>
        </p:spPr>
      </p:sp>
      <p:sp>
        <p:nvSpPr>
          <p:cNvPr id="29" name="Shape 26"/>
          <p:cNvSpPr/>
          <p:nvPr/>
        </p:nvSpPr>
        <p:spPr>
          <a:xfrm>
            <a:off x="4322064" y="4078224"/>
            <a:ext cx="82296" cy="2286000"/>
          </a:xfrm>
          <a:prstGeom prst="rect">
            <a:avLst/>
          </a:prstGeom>
          <a:solidFill>
            <a:srgbClr val="00A79D"/>
          </a:solidFill>
          <a:ln/>
        </p:spPr>
      </p:sp>
      <p:sp>
        <p:nvSpPr>
          <p:cNvPr id="30" name="Text 27"/>
          <p:cNvSpPr/>
          <p:nvPr/>
        </p:nvSpPr>
        <p:spPr>
          <a:xfrm>
            <a:off x="4541520" y="419709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COMPARISON</a:t>
            </a:r>
            <a:endParaRPr lang="en-US" sz="950" dirty="0"/>
          </a:p>
        </p:txBody>
      </p:sp>
      <p:sp>
        <p:nvSpPr>
          <p:cNvPr id="31" name="Text 28"/>
          <p:cNvSpPr/>
          <p:nvPr/>
        </p:nvSpPr>
        <p:spPr>
          <a:xfrm>
            <a:off x="4541520"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Params across families</a:t>
            </a:r>
            <a:endParaRPr lang="en-US" sz="1450" dirty="0"/>
          </a:p>
        </p:txBody>
      </p:sp>
      <p:sp>
        <p:nvSpPr>
          <p:cNvPr id="32" name="Text 29"/>
          <p:cNvSpPr/>
          <p:nvPr/>
        </p:nvSpPr>
        <p:spPr>
          <a:xfrm>
            <a:off x="4541520"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 110M encoder ≠ a 110M decoder in capability profile — parameter count is not a cross-family yardstick.</a:t>
            </a:r>
            <a:endParaRPr lang="en-US" sz="1050" dirty="0"/>
          </a:p>
        </p:txBody>
      </p:sp>
      <p:sp>
        <p:nvSpPr>
          <p:cNvPr id="33" name="Shape 30"/>
          <p:cNvSpPr/>
          <p:nvPr/>
        </p:nvSpPr>
        <p:spPr>
          <a:xfrm>
            <a:off x="8141208" y="4078224"/>
            <a:ext cx="3544824" cy="2286000"/>
          </a:xfrm>
          <a:prstGeom prst="roundRect">
            <a:avLst>
              <a:gd name="adj" fmla="val 2400"/>
            </a:avLst>
          </a:prstGeom>
          <a:solidFill>
            <a:srgbClr val="F2F6F8"/>
          </a:solidFill>
          <a:ln/>
        </p:spPr>
      </p:sp>
      <p:sp>
        <p:nvSpPr>
          <p:cNvPr id="34" name="Shape 31"/>
          <p:cNvSpPr/>
          <p:nvPr/>
        </p:nvSpPr>
        <p:spPr>
          <a:xfrm>
            <a:off x="8141208" y="4078224"/>
            <a:ext cx="82296" cy="2286000"/>
          </a:xfrm>
          <a:prstGeom prst="rect">
            <a:avLst/>
          </a:prstGeom>
          <a:solidFill>
            <a:srgbClr val="29ABE2"/>
          </a:solidFill>
          <a:ln/>
        </p:spPr>
      </p:sp>
      <p:sp>
        <p:nvSpPr>
          <p:cNvPr id="35" name="Text 32"/>
          <p:cNvSpPr/>
          <p:nvPr/>
        </p:nvSpPr>
        <p:spPr>
          <a:xfrm>
            <a:off x="8360664" y="419709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EXPLAINABILITY</a:t>
            </a:r>
            <a:endParaRPr lang="en-US" sz="950" dirty="0"/>
          </a:p>
        </p:txBody>
      </p:sp>
      <p:sp>
        <p:nvSpPr>
          <p:cNvPr id="36" name="Text 33"/>
          <p:cNvSpPr/>
          <p:nvPr/>
        </p:nvSpPr>
        <p:spPr>
          <a:xfrm>
            <a:off x="8360664"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Heatmaps as evidence</a:t>
            </a:r>
            <a:endParaRPr lang="en-US" sz="1450" dirty="0"/>
          </a:p>
        </p:txBody>
      </p:sp>
      <p:sp>
        <p:nvSpPr>
          <p:cNvPr id="37" name="Text 34"/>
          <p:cNvSpPr/>
          <p:nvPr/>
        </p:nvSpPr>
        <p:spPr>
          <a:xfrm>
            <a:off x="8360664"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Over-trusting attention heatmaps in compliance documents — attention is not attribution.</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n² Wall in Numbers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جدار التربيع بالأرقام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41</a:t>
            </a:r>
            <a:endParaRPr lang="en-US" sz="800" dirty="0"/>
          </a:p>
        </p:txBody>
      </p:sp>
      <p:sp>
        <p:nvSpPr>
          <p:cNvPr id="8" name="Shape 5"/>
          <p:cNvSpPr/>
          <p:nvPr/>
        </p:nvSpPr>
        <p:spPr>
          <a:xfrm>
            <a:off x="502920" y="1828800"/>
            <a:ext cx="2555748" cy="3017520"/>
          </a:xfrm>
          <a:prstGeom prst="roundRect">
            <a:avLst>
              <a:gd name="adj" fmla="val 2862"/>
            </a:avLst>
          </a:prstGeom>
          <a:solidFill>
            <a:srgbClr val="F2F6F8"/>
          </a:solidFill>
          <a:ln/>
        </p:spPr>
      </p:sp>
      <p:sp>
        <p:nvSpPr>
          <p:cNvPr id="9" name="Text 6"/>
          <p:cNvSpPr/>
          <p:nvPr/>
        </p:nvSpPr>
        <p:spPr>
          <a:xfrm>
            <a:off x="640080" y="2103120"/>
            <a:ext cx="2281428" cy="914400"/>
          </a:xfrm>
          <a:prstGeom prst="rect">
            <a:avLst/>
          </a:prstGeom>
          <a:noFill/>
          <a:ln/>
        </p:spPr>
        <p:txBody>
          <a:bodyPr wrap="square" lIns="0" tIns="0" rIns="0" bIns="0"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O(n²)</a:t>
            </a:r>
            <a:endParaRPr lang="en-US" sz="4000" dirty="0"/>
          </a:p>
        </p:txBody>
      </p:sp>
      <p:sp>
        <p:nvSpPr>
          <p:cNvPr id="10" name="Text 7"/>
          <p:cNvSpPr/>
          <p:nvPr/>
        </p:nvSpPr>
        <p:spPr>
          <a:xfrm>
            <a:off x="640080"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attention cost in length</a:t>
            </a:r>
            <a:endParaRPr lang="en-US" sz="1300" dirty="0"/>
          </a:p>
        </p:txBody>
      </p:sp>
      <p:sp>
        <p:nvSpPr>
          <p:cNvPr id="11" name="Text 8"/>
          <p:cNvSpPr/>
          <p:nvPr/>
        </p:nvSpPr>
        <p:spPr>
          <a:xfrm>
            <a:off x="667512"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Compute and memory scale quadratically — 512-token ceilings and chunking strategies follow directly.</a:t>
            </a:r>
            <a:endParaRPr lang="en-US" sz="1000" dirty="0"/>
          </a:p>
        </p:txBody>
      </p:sp>
      <p:sp>
        <p:nvSpPr>
          <p:cNvPr id="12" name="Shape 9"/>
          <p:cNvSpPr/>
          <p:nvPr/>
        </p:nvSpPr>
        <p:spPr>
          <a:xfrm>
            <a:off x="3378708" y="1828800"/>
            <a:ext cx="2555748" cy="3017520"/>
          </a:xfrm>
          <a:prstGeom prst="roundRect">
            <a:avLst>
              <a:gd name="adj" fmla="val 2862"/>
            </a:avLst>
          </a:prstGeom>
          <a:solidFill>
            <a:srgbClr val="F2F6F8"/>
          </a:solidFill>
          <a:ln/>
        </p:spPr>
      </p:sp>
      <p:sp>
        <p:nvSpPr>
          <p:cNvPr id="13" name="Text 10"/>
          <p:cNvSpPr/>
          <p:nvPr/>
        </p:nvSpPr>
        <p:spPr>
          <a:xfrm>
            <a:off x="3515868" y="2103120"/>
            <a:ext cx="2281428" cy="914400"/>
          </a:xfrm>
          <a:prstGeom prst="rect">
            <a:avLst/>
          </a:prstGeom>
          <a:noFill/>
          <a:ln/>
        </p:spPr>
        <p:txBody>
          <a:bodyPr wrap="square" lIns="0" tIns="0" rIns="0" bIns="0" rtlCol="0" anchor="ctr"/>
          <a:lstStyle/>
          <a:p>
            <a:pPr algn="ctr" indent="0" marL="0">
              <a:buNone/>
            </a:pPr>
            <a:r>
              <a:rPr lang="en-US" sz="4000" b="1" dirty="0">
                <a:solidFill>
                  <a:srgbClr val="29ABE2"/>
                </a:solidFill>
                <a:latin typeface="Calibri" pitchFamily="34" charset="0"/>
                <a:ea typeface="Calibri" pitchFamily="34" charset="-122"/>
                <a:cs typeface="Calibri" pitchFamily="34" charset="-120"/>
              </a:rPr>
              <a:t>150.9 MB</a:t>
            </a:r>
            <a:endParaRPr lang="en-US" sz="4000" dirty="0"/>
          </a:p>
        </p:txBody>
      </p:sp>
      <p:sp>
        <p:nvSpPr>
          <p:cNvPr id="14" name="Text 11"/>
          <p:cNvSpPr/>
          <p:nvPr/>
        </p:nvSpPr>
        <p:spPr>
          <a:xfrm>
            <a:off x="3515868"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attention matrices at n=512</a:t>
            </a:r>
            <a:endParaRPr lang="en-US" sz="1300" dirty="0"/>
          </a:p>
        </p:txBody>
      </p:sp>
      <p:sp>
        <p:nvSpPr>
          <p:cNvPr id="15" name="Text 12"/>
          <p:cNvSpPr/>
          <p:nvPr/>
        </p:nvSpPr>
        <p:spPr>
          <a:xfrm>
            <a:off x="3543300"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12 heads, fp32 — vs 9.4 MB at n=128. Measured peak 3.4 GB at batch 8: activations, not weights.</a:t>
            </a:r>
            <a:endParaRPr lang="en-US" sz="1000" dirty="0"/>
          </a:p>
        </p:txBody>
      </p:sp>
      <p:sp>
        <p:nvSpPr>
          <p:cNvPr id="16" name="Shape 13"/>
          <p:cNvSpPr/>
          <p:nvPr/>
        </p:nvSpPr>
        <p:spPr>
          <a:xfrm>
            <a:off x="6254496" y="1828800"/>
            <a:ext cx="2555748" cy="3017520"/>
          </a:xfrm>
          <a:prstGeom prst="roundRect">
            <a:avLst>
              <a:gd name="adj" fmla="val 2862"/>
            </a:avLst>
          </a:prstGeom>
          <a:solidFill>
            <a:srgbClr val="F2F6F8"/>
          </a:solidFill>
          <a:ln/>
        </p:spPr>
      </p:sp>
      <p:sp>
        <p:nvSpPr>
          <p:cNvPr id="17" name="Text 14"/>
          <p:cNvSpPr/>
          <p:nvPr/>
        </p:nvSpPr>
        <p:spPr>
          <a:xfrm>
            <a:off x="6391656" y="2103120"/>
            <a:ext cx="2281428" cy="914400"/>
          </a:xfrm>
          <a:prstGeom prst="rect">
            <a:avLst/>
          </a:prstGeom>
          <a:noFill/>
          <a:ln/>
        </p:spPr>
        <p:txBody>
          <a:bodyPr wrap="square" lIns="0" tIns="0" rIns="0" bIns="0" rtlCol="0" anchor="ctr"/>
          <a:lstStyle/>
          <a:p>
            <a:pPr algn="ctr" indent="0" marL="0">
              <a:buNone/>
            </a:pPr>
            <a:r>
              <a:rPr lang="en-US" sz="4000" b="1" dirty="0">
                <a:solidFill>
                  <a:srgbClr val="F7941D"/>
                </a:solidFill>
                <a:latin typeface="Calibri" pitchFamily="34" charset="0"/>
                <a:ea typeface="Calibri" pitchFamily="34" charset="-122"/>
                <a:cs typeface="Calibri" pitchFamily="34" charset="-120"/>
              </a:rPr>
              <a:t>46 ms</a:t>
            </a:r>
            <a:endParaRPr lang="en-US" sz="4000" dirty="0"/>
          </a:p>
        </p:txBody>
      </p:sp>
      <p:sp>
        <p:nvSpPr>
          <p:cNvPr id="18" name="Text 15"/>
          <p:cNvSpPr/>
          <p:nvPr/>
        </p:nvSpPr>
        <p:spPr>
          <a:xfrm>
            <a:off x="6391656"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p50 forward latency at n=512</a:t>
            </a:r>
            <a:endParaRPr lang="en-US" sz="1300" dirty="0"/>
          </a:p>
        </p:txBody>
      </p:sp>
      <p:sp>
        <p:nvSpPr>
          <p:cNvPr id="19" name="Text 16"/>
          <p:cNvSpPr/>
          <p:nvPr/>
        </p:nvSpPr>
        <p:spPr>
          <a:xfrm>
            <a:off x="6419088"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vs 11 ms at n=128 on a T4. Halving sequence length roughly quarters attention compute.</a:t>
            </a:r>
            <a:endParaRPr lang="en-US" sz="1000" dirty="0"/>
          </a:p>
        </p:txBody>
      </p:sp>
      <p:sp>
        <p:nvSpPr>
          <p:cNvPr id="20" name="Shape 17"/>
          <p:cNvSpPr/>
          <p:nvPr/>
        </p:nvSpPr>
        <p:spPr>
          <a:xfrm>
            <a:off x="9130284" y="1828800"/>
            <a:ext cx="2555748" cy="3017520"/>
          </a:xfrm>
          <a:prstGeom prst="roundRect">
            <a:avLst>
              <a:gd name="adj" fmla="val 2862"/>
            </a:avLst>
          </a:prstGeom>
          <a:solidFill>
            <a:srgbClr val="F2F6F8"/>
          </a:solidFill>
          <a:ln/>
        </p:spPr>
      </p:sp>
      <p:sp>
        <p:nvSpPr>
          <p:cNvPr id="21" name="Text 18"/>
          <p:cNvSpPr/>
          <p:nvPr/>
        </p:nvSpPr>
        <p:spPr>
          <a:xfrm>
            <a:off x="9267444" y="2103120"/>
            <a:ext cx="2281428" cy="914400"/>
          </a:xfrm>
          <a:prstGeom prst="rect">
            <a:avLst/>
          </a:prstGeom>
          <a:noFill/>
          <a:ln/>
        </p:spPr>
        <p:txBody>
          <a:bodyPr wrap="square" lIns="0" tIns="0" rIns="0" bIns="0" rtlCol="0" anchor="ctr"/>
          <a:lstStyle/>
          <a:p>
            <a:pPr algn="ctr" indent="0" marL="0">
              <a:buNone/>
            </a:pPr>
            <a:r>
              <a:rPr lang="en-US" sz="4000" b="1" dirty="0">
                <a:solidFill>
                  <a:srgbClr val="8CC63F"/>
                </a:solidFill>
                <a:latin typeface="Calibri" pitchFamily="34" charset="0"/>
                <a:ea typeface="Calibri" pitchFamily="34" charset="-122"/>
                <a:cs typeface="Calibri" pitchFamily="34" charset="-120"/>
              </a:rPr>
              <a:t>0.31</a:t>
            </a:r>
            <a:endParaRPr lang="en-US" sz="4000" dirty="0"/>
          </a:p>
        </p:txBody>
      </p:sp>
      <p:sp>
        <p:nvSpPr>
          <p:cNvPr id="22" name="Text 19"/>
          <p:cNvSpPr/>
          <p:nvPr/>
        </p:nvSpPr>
        <p:spPr>
          <a:xfrm>
            <a:off x="9267444"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PAD mass per row, no mask</a:t>
            </a:r>
            <a:endParaRPr lang="en-US" sz="1300" dirty="0"/>
          </a:p>
        </p:txBody>
      </p:sp>
      <p:sp>
        <p:nvSpPr>
          <p:cNvPr id="23" name="Text 20"/>
          <p:cNvSpPr/>
          <p:nvPr/>
        </p:nvSpPr>
        <p:spPr>
          <a:xfrm>
            <a:off x="9294876"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vs 0.0002 with the mask — Lab 2's pad-leak diagnostic, one line to test in CI.</a:t>
            </a:r>
            <a:endParaRPr lang="en-US" sz="1000" dirty="0"/>
          </a:p>
        </p:txBody>
      </p:sp>
      <p:sp>
        <p:nvSpPr>
          <p:cNvPr id="24" name="Shape 21"/>
          <p:cNvSpPr/>
          <p:nvPr/>
        </p:nvSpPr>
        <p:spPr>
          <a:xfrm>
            <a:off x="502920" y="5212080"/>
            <a:ext cx="11183112" cy="868680"/>
          </a:xfrm>
          <a:prstGeom prst="roundRect">
            <a:avLst>
              <a:gd name="adj" fmla="val 8421"/>
            </a:avLst>
          </a:prstGeom>
          <a:solidFill>
            <a:srgbClr val="E6F5F4"/>
          </a:solidFill>
          <a:ln/>
        </p:spPr>
      </p:sp>
      <p:sp>
        <p:nvSpPr>
          <p:cNvPr id="25" name="Text 22"/>
          <p:cNvSpPr/>
          <p:nvPr/>
        </p:nvSpPr>
        <p:spPr>
          <a:xfrm>
            <a:off x="731520" y="5212080"/>
            <a:ext cx="10744200" cy="8686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READ THE NUMBERS   </a:t>
            </a:r>
            <a:pPr indent="0" marL="0">
              <a:buNone/>
            </a:pPr>
            <a:r>
              <a:rPr lang="en-US" sz="1150" dirty="0">
                <a:solidFill>
                  <a:srgbClr val="2B2B2B"/>
                </a:solidFill>
                <a:latin typeface="Calibri" pitchFamily="34" charset="0"/>
                <a:ea typeface="Calibri" pitchFamily="34" charset="-122"/>
                <a:cs typeface="Calibri" pitchFamily="34" charset="-120"/>
              </a:rPr>
              <a:t>Lab benchmark table: n=128 → 9.4 MB / 1.1 GB peak / 11 ms; n=256 → 37.7 MB / 1.6 GB / 19 ms; n=512 → 150.9 MB / 3.4 GB / 46 ms. Predict the OOM cliff before running the sweep.</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2 — Anatomy of a Transformer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2 — تشريح المحوِّل</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42</a:t>
            </a:r>
            <a:endParaRPr lang="en-US" sz="800" dirty="0"/>
          </a:p>
        </p:txBody>
      </p:sp>
      <p:sp>
        <p:nvSpPr>
          <p:cNvPr id="8" name="Shape 5"/>
          <p:cNvSpPr/>
          <p:nvPr/>
        </p:nvSpPr>
        <p:spPr>
          <a:xfrm>
            <a:off x="502920" y="1463040"/>
            <a:ext cx="11183112" cy="548640"/>
          </a:xfrm>
          <a:prstGeom prst="roundRect">
            <a:avLst>
              <a:gd name="adj" fmla="val 13333"/>
            </a:avLst>
          </a:prstGeom>
          <a:solidFill>
            <a:srgbClr val="1D2A5C"/>
          </a:solidFill>
          <a:ln/>
        </p:spPr>
      </p:sp>
      <p:sp>
        <p:nvSpPr>
          <p:cNvPr id="9" name="Text 6"/>
          <p:cNvSpPr/>
          <p:nvPr/>
        </p:nvSpPr>
        <p:spPr>
          <a:xfrm>
            <a:off x="685800" y="1463040"/>
            <a:ext cx="8961120" cy="548640"/>
          </a:xfrm>
          <a:prstGeom prst="rect">
            <a:avLst/>
          </a:prstGeom>
          <a:noFill/>
          <a:ln/>
        </p:spPr>
        <p:txBody>
          <a:bodyPr wrap="square" lIns="0" tIns="0" rIns="0" bIns="0" rtlCol="0" anchor="ctr"/>
          <a:lstStyle/>
          <a:p>
            <a:pPr indent="0" marL="0">
              <a:buNone/>
            </a:pPr>
            <a:r>
              <a:rPr lang="en-US" sz="1300" b="1" dirty="0">
                <a:solidFill>
                  <a:srgbClr val="F7941D"/>
                </a:solidFill>
                <a:latin typeface="Calibri" pitchFamily="34" charset="0"/>
                <a:ea typeface="Calibri" pitchFamily="34" charset="-122"/>
                <a:cs typeface="Calibri" pitchFamily="34" charset="-120"/>
              </a:rPr>
              <a:t>  HANDS-ON LAB 2   </a:t>
            </a:r>
            <a:pPr indent="0" marL="0">
              <a:buNone/>
            </a:pPr>
            <a:r>
              <a:rPr lang="en-US" sz="1400" b="1" dirty="0">
                <a:solidFill>
                  <a:srgbClr val="FFFFFF"/>
                </a:solidFill>
                <a:latin typeface="Calibri" pitchFamily="34" charset="0"/>
                <a:ea typeface="Calibri" pitchFamily="34" charset="-122"/>
                <a:cs typeface="Calibri" pitchFamily="34" charset="-120"/>
              </a:rPr>
              <a:t>Anatomy of a Transformer</a:t>
            </a:r>
            <a:endParaRPr lang="en-US" sz="1300" dirty="0"/>
          </a:p>
        </p:txBody>
      </p:sp>
      <p:sp>
        <p:nvSpPr>
          <p:cNvPr id="10" name="Text 7"/>
          <p:cNvSpPr/>
          <p:nvPr/>
        </p:nvSpPr>
        <p:spPr>
          <a:xfrm>
            <a:off x="9692640" y="1463040"/>
            <a:ext cx="1828800" cy="548640"/>
          </a:xfrm>
          <a:prstGeom prst="rect">
            <a:avLst/>
          </a:prstGeom>
          <a:noFill/>
          <a:ln/>
        </p:spPr>
        <p:txBody>
          <a:bodyPr wrap="square" lIns="0" tIns="0" rIns="0" bIns="0" rtlCol="0" anchor="ctr"/>
          <a:lstStyle/>
          <a:p>
            <a:pPr algn="r" indent="0" marL="0">
              <a:buNone/>
            </a:pPr>
            <a:r>
              <a:rPr lang="en-US" sz="1200" b="1" dirty="0">
                <a:solidFill>
                  <a:srgbClr val="00A79D"/>
                </a:solidFill>
                <a:latin typeface="Calibri" pitchFamily="34" charset="0"/>
                <a:ea typeface="Calibri" pitchFamily="34" charset="-122"/>
                <a:cs typeface="Calibri" pitchFamily="34" charset="-120"/>
              </a:rPr>
              <a:t>50 min</a:t>
            </a:r>
            <a:endParaRPr lang="en-US" sz="1200" dirty="0"/>
          </a:p>
        </p:txBody>
      </p:sp>
      <p:sp>
        <p:nvSpPr>
          <p:cNvPr id="11" name="Text 8"/>
          <p:cNvSpPr/>
          <p:nvPr/>
        </p:nvSpPr>
        <p:spPr>
          <a:xfrm>
            <a:off x="502920" y="2240280"/>
            <a:ext cx="6903720" cy="256032"/>
          </a:xfrm>
          <a:prstGeom prst="rect">
            <a:avLst/>
          </a:prstGeom>
          <a:noFill/>
          <a:ln/>
        </p:spPr>
        <p:txBody>
          <a:bodyPr wrap="square" lIns="0" tIns="0" rIns="0" bIns="0" rtlCol="0" anchor="ctr"/>
          <a:lstStyle/>
          <a:p>
            <a:pPr indent="0" marL="0">
              <a:buNone/>
            </a:pPr>
            <a:r>
              <a:rPr lang="en-US" sz="1050" b="1" spc="150" kern="0" dirty="0">
                <a:solidFill>
                  <a:srgbClr val="00A79D"/>
                </a:solidFill>
                <a:latin typeface="Calibri" pitchFamily="34" charset="0"/>
                <a:ea typeface="Calibri" pitchFamily="34" charset="-122"/>
                <a:cs typeface="Calibri" pitchFamily="34" charset="-120"/>
              </a:rPr>
              <a:t>TASKS</a:t>
            </a:r>
            <a:endParaRPr lang="en-US" sz="1050" dirty="0"/>
          </a:p>
        </p:txBody>
      </p:sp>
      <p:sp>
        <p:nvSpPr>
          <p:cNvPr id="12" name="Shape 9"/>
          <p:cNvSpPr/>
          <p:nvPr/>
        </p:nvSpPr>
        <p:spPr>
          <a:xfrm>
            <a:off x="502920" y="2578608"/>
            <a:ext cx="274320" cy="274320"/>
          </a:xfrm>
          <a:prstGeom prst="ellipse">
            <a:avLst/>
          </a:prstGeom>
          <a:solidFill>
            <a:srgbClr val="00A79D"/>
          </a:solidFill>
          <a:ln/>
        </p:spPr>
      </p:sp>
      <p:sp>
        <p:nvSpPr>
          <p:cNvPr id="13" name="Text 10"/>
          <p:cNvSpPr/>
          <p:nvPr/>
        </p:nvSpPr>
        <p:spPr>
          <a:xfrm>
            <a:off x="50292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p:nvPr/>
        </p:nvSpPr>
        <p:spPr>
          <a:xfrm>
            <a:off x="914400" y="2551176"/>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Complete attention() and MultiHeadAttention until the equivalence asserts pass, atol 1e-6 (15 min)</a:t>
            </a:r>
            <a:endParaRPr lang="en-US" sz="1100" dirty="0"/>
          </a:p>
        </p:txBody>
      </p:sp>
      <p:sp>
        <p:nvSpPr>
          <p:cNvPr id="15" name="Shape 12"/>
          <p:cNvSpPr/>
          <p:nvPr/>
        </p:nvSpPr>
        <p:spPr>
          <a:xfrm>
            <a:off x="502920" y="3236976"/>
            <a:ext cx="274320" cy="274320"/>
          </a:xfrm>
          <a:prstGeom prst="ellipse">
            <a:avLst/>
          </a:prstGeom>
          <a:solidFill>
            <a:srgbClr val="00A79D"/>
          </a:solidFill>
          <a:ln/>
        </p:spPr>
      </p:sp>
      <p:sp>
        <p:nvSpPr>
          <p:cNvPr id="16" name="Text 13"/>
          <p:cNvSpPr/>
          <p:nvPr/>
        </p:nvSpPr>
        <p:spPr>
          <a:xfrm>
            <a:off x="50292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4"/>
          <p:cNvSpPr/>
          <p:nvPr/>
        </p:nvSpPr>
        <p:spPr>
          <a:xfrm>
            <a:off x="914400" y="3209544"/>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Parameter audit on mBERT and CAMeLBERT; explain the embedding-share gap in one sentence (10 min)</a:t>
            </a:r>
            <a:endParaRPr lang="en-US" sz="1100" dirty="0"/>
          </a:p>
        </p:txBody>
      </p:sp>
      <p:sp>
        <p:nvSpPr>
          <p:cNvPr id="18" name="Shape 15"/>
          <p:cNvSpPr/>
          <p:nvPr/>
        </p:nvSpPr>
        <p:spPr>
          <a:xfrm>
            <a:off x="502920" y="3895344"/>
            <a:ext cx="274320" cy="274320"/>
          </a:xfrm>
          <a:prstGeom prst="ellipse">
            <a:avLst/>
          </a:prstGeom>
          <a:solidFill>
            <a:srgbClr val="00A79D"/>
          </a:solidFill>
          <a:ln/>
        </p:spPr>
      </p:sp>
      <p:sp>
        <p:nvSpPr>
          <p:cNvPr id="19" name="Text 16"/>
          <p:cNvSpPr/>
          <p:nvPr/>
        </p:nvSpPr>
        <p:spPr>
          <a:xfrm>
            <a:off x="50292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914400" y="3867912"/>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Causal-mask extension: position i attends only to ≤ i; verify lower-triangular; name the family (10 min)</a:t>
            </a:r>
            <a:endParaRPr lang="en-US" sz="1100" dirty="0"/>
          </a:p>
        </p:txBody>
      </p:sp>
      <p:sp>
        <p:nvSpPr>
          <p:cNvPr id="21" name="Shape 18"/>
          <p:cNvSpPr/>
          <p:nvPr/>
        </p:nvSpPr>
        <p:spPr>
          <a:xfrm>
            <a:off x="502920" y="4553712"/>
            <a:ext cx="274320" cy="274320"/>
          </a:xfrm>
          <a:prstGeom prst="ellipse">
            <a:avLst/>
          </a:prstGeom>
          <a:solidFill>
            <a:srgbClr val="00A79D"/>
          </a:solidFill>
          <a:ln/>
        </p:spPr>
      </p:sp>
      <p:sp>
        <p:nvSpPr>
          <p:cNvPr id="22" name="Text 19"/>
          <p:cNvSpPr/>
          <p:nvPr/>
        </p:nvSpPr>
        <p:spPr>
          <a:xfrm>
            <a:off x="502920" y="45537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0"/>
          <p:cNvSpPr/>
          <p:nvPr/>
        </p:nvSpPr>
        <p:spPr>
          <a:xfrm>
            <a:off x="914400" y="4526280"/>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Attention-map diagnostics: find an adjacency head and a [SEP] sink; prove sim-pad-leak via pad mass (10 min)</a:t>
            </a:r>
            <a:endParaRPr lang="en-US" sz="1100" dirty="0"/>
          </a:p>
        </p:txBody>
      </p:sp>
      <p:sp>
        <p:nvSpPr>
          <p:cNvPr id="24" name="Shape 21"/>
          <p:cNvSpPr/>
          <p:nvPr/>
        </p:nvSpPr>
        <p:spPr>
          <a:xfrm>
            <a:off x="502920" y="5212080"/>
            <a:ext cx="274320" cy="274320"/>
          </a:xfrm>
          <a:prstGeom prst="ellipse">
            <a:avLst/>
          </a:prstGeom>
          <a:solidFill>
            <a:srgbClr val="00A79D"/>
          </a:solidFill>
          <a:ln/>
        </p:spPr>
      </p:sp>
      <p:sp>
        <p:nvSpPr>
          <p:cNvPr id="25" name="Text 22"/>
          <p:cNvSpPr/>
          <p:nvPr/>
        </p:nvSpPr>
        <p:spPr>
          <a:xfrm>
            <a:off x="502920" y="5212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p:nvPr/>
        </p:nvSpPr>
        <p:spPr>
          <a:xfrm>
            <a:off x="914400" y="5184648"/>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Commit: feat(notebooks): attention implementation + parameter audit + pad-leak diagnosis (5 min)</a:t>
            </a:r>
            <a:endParaRPr lang="en-US" sz="1100" dirty="0"/>
          </a:p>
        </p:txBody>
      </p:sp>
      <p:sp>
        <p:nvSpPr>
          <p:cNvPr id="27" name="Shape 24"/>
          <p:cNvSpPr/>
          <p:nvPr/>
        </p:nvSpPr>
        <p:spPr>
          <a:xfrm>
            <a:off x="7635240" y="2240280"/>
            <a:ext cx="4050792" cy="1264920"/>
          </a:xfrm>
          <a:prstGeom prst="roundRect">
            <a:avLst>
              <a:gd name="adj" fmla="val 4337"/>
            </a:avLst>
          </a:prstGeom>
          <a:solidFill>
            <a:srgbClr val="E6F5F4"/>
          </a:solidFill>
          <a:ln w="9525">
            <a:solidFill>
              <a:srgbClr val="00A79D"/>
            </a:solidFill>
            <a:prstDash val="solid"/>
          </a:ln>
        </p:spPr>
      </p:sp>
      <p:sp>
        <p:nvSpPr>
          <p:cNvPr id="28" name="Text 25"/>
          <p:cNvSpPr/>
          <p:nvPr/>
        </p:nvSpPr>
        <p:spPr>
          <a:xfrm>
            <a:off x="7799832" y="2322576"/>
            <a:ext cx="3721608"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OBJECTIVE</a:t>
            </a:r>
            <a:endParaRPr lang="en-US" sz="950" dirty="0"/>
          </a:p>
        </p:txBody>
      </p:sp>
      <p:sp>
        <p:nvSpPr>
          <p:cNvPr id="29" name="Text 26"/>
          <p:cNvSpPr/>
          <p:nvPr/>
        </p:nvSpPr>
        <p:spPr>
          <a:xfrm>
            <a:off x="7799832" y="25786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Implement attention from scratch and verify against PyTorch; produce the full parameter accounting for two checkpoints; use attention maps to find a planted masking bug.</a:t>
            </a:r>
            <a:endParaRPr lang="en-US" sz="1000" dirty="0"/>
          </a:p>
        </p:txBody>
      </p:sp>
      <p:sp>
        <p:nvSpPr>
          <p:cNvPr id="30" name="Shape 27"/>
          <p:cNvSpPr/>
          <p:nvPr/>
        </p:nvSpPr>
        <p:spPr>
          <a:xfrm>
            <a:off x="7635240" y="3688080"/>
            <a:ext cx="4050792" cy="1264920"/>
          </a:xfrm>
          <a:prstGeom prst="roundRect">
            <a:avLst>
              <a:gd name="adj" fmla="val 4337"/>
            </a:avLst>
          </a:prstGeom>
          <a:solidFill>
            <a:srgbClr val="FEF3E3"/>
          </a:solidFill>
          <a:ln w="9525">
            <a:solidFill>
              <a:srgbClr val="F7941D"/>
            </a:solidFill>
            <a:prstDash val="solid"/>
          </a:ln>
        </p:spPr>
      </p:sp>
      <p:sp>
        <p:nvSpPr>
          <p:cNvPr id="31" name="Text 28"/>
          <p:cNvSpPr/>
          <p:nvPr/>
        </p:nvSpPr>
        <p:spPr>
          <a:xfrm>
            <a:off x="7799832" y="3770376"/>
            <a:ext cx="3721608"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DELIVERABLE</a:t>
            </a:r>
            <a:endParaRPr lang="en-US" sz="950" dirty="0"/>
          </a:p>
        </p:txBody>
      </p:sp>
      <p:sp>
        <p:nvSpPr>
          <p:cNvPr id="32" name="Text 29"/>
          <p:cNvSpPr/>
          <p:nvPr/>
        </p:nvSpPr>
        <p:spPr>
          <a:xfrm>
            <a:off x="7799832" y="40264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Equivalence PASSED (atol=1e-6); MHA parameters 2,362,368; mBERT 177.9M (embeddings 46.4%) vs CAMeLBERT 108.9M (21.4%); pad mass 0.31/row without mask vs 0.0002 with.</a:t>
            </a:r>
            <a:endParaRPr lang="en-US" sz="1000" dirty="0"/>
          </a:p>
        </p:txBody>
      </p:sp>
      <p:sp>
        <p:nvSpPr>
          <p:cNvPr id="33" name="Shape 30"/>
          <p:cNvSpPr/>
          <p:nvPr/>
        </p:nvSpPr>
        <p:spPr>
          <a:xfrm>
            <a:off x="7635240" y="5135880"/>
            <a:ext cx="4050792" cy="1264920"/>
          </a:xfrm>
          <a:prstGeom prst="roundRect">
            <a:avLst>
              <a:gd name="adj" fmla="val 4337"/>
            </a:avLst>
          </a:prstGeom>
          <a:solidFill>
            <a:srgbClr val="EAF6FC"/>
          </a:solidFill>
          <a:ln w="9525">
            <a:solidFill>
              <a:srgbClr val="29ABE2"/>
            </a:solidFill>
            <a:prstDash val="solid"/>
          </a:ln>
        </p:spPr>
      </p:sp>
      <p:sp>
        <p:nvSpPr>
          <p:cNvPr id="34" name="Text 31"/>
          <p:cNvSpPr/>
          <p:nvPr/>
        </p:nvSpPr>
        <p:spPr>
          <a:xfrm>
            <a:off x="7799832" y="5218176"/>
            <a:ext cx="3721608"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WATCH FOR</a:t>
            </a:r>
            <a:endParaRPr lang="en-US" sz="950" dirty="0"/>
          </a:p>
        </p:txBody>
      </p:sp>
      <p:sp>
        <p:nvSpPr>
          <p:cNvPr id="35" name="Text 32"/>
          <p:cNvSpPr/>
          <p:nvPr/>
        </p:nvSpPr>
        <p:spPr>
          <a:xfrm>
            <a:off x="7799832" y="54742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Assert fails at ~1e-3? You scaled by √768, not per-head √d_k · NaN after softmax? Mask the scores BEFORE softmax, not after · Uniform maps? Layer 0 is diffuse — inspect layers 6-10</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Contract Intelligence — Sizing Gone Wrong</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ذكاء العقود — عندما يفشل التحجيم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43</a:t>
            </a:r>
            <a:endParaRPr lang="en-US" sz="800" dirty="0"/>
          </a:p>
        </p:txBody>
      </p:sp>
      <p:sp>
        <p:nvSpPr>
          <p:cNvPr id="8" name="Shape 5"/>
          <p:cNvSpPr/>
          <p:nvPr/>
        </p:nvSpPr>
        <p:spPr>
          <a:xfrm>
            <a:off x="502920" y="1444752"/>
            <a:ext cx="1042416" cy="329184"/>
          </a:xfrm>
          <a:prstGeom prst="roundRect">
            <a:avLst>
              <a:gd name="adj" fmla="val 22222"/>
            </a:avLst>
          </a:prstGeom>
          <a:solidFill>
            <a:srgbClr val="1D2A5C"/>
          </a:solidFill>
          <a:ln/>
        </p:spPr>
      </p:sp>
      <p:sp>
        <p:nvSpPr>
          <p:cNvPr id="9" name="Text 6"/>
          <p:cNvSpPr/>
          <p:nvPr/>
        </p:nvSpPr>
        <p:spPr>
          <a:xfrm>
            <a:off x="502920" y="1444752"/>
            <a:ext cx="104241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CASE STUDY</a:t>
            </a:r>
            <a:endParaRPr lang="en-US" sz="1050" dirty="0"/>
          </a:p>
        </p:txBody>
      </p:sp>
      <p:sp>
        <p:nvSpPr>
          <p:cNvPr id="10" name="Text 7"/>
          <p:cNvSpPr/>
          <p:nvPr/>
        </p:nvSpPr>
        <p:spPr>
          <a:xfrm>
            <a:off x="2148840" y="1444752"/>
            <a:ext cx="9509760" cy="329184"/>
          </a:xfrm>
          <a:prstGeom prst="rect">
            <a:avLst/>
          </a:prstGeom>
          <a:noFill/>
          <a:ln/>
        </p:spPr>
        <p:txBody>
          <a:bodyPr wrap="square" lIns="0" tIns="0" rIns="0" bIns="0"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Riyadh Legal-Tech Firm — Contract-Intelligence Sizing</a:t>
            </a:r>
            <a:endParaRPr lang="en-US" sz="1300" dirty="0"/>
          </a:p>
        </p:txBody>
      </p:sp>
      <p:sp>
        <p:nvSpPr>
          <p:cNvPr id="11" name="Shape 8"/>
          <p:cNvSpPr/>
          <p:nvPr/>
        </p:nvSpPr>
        <p:spPr>
          <a:xfrm>
            <a:off x="502920" y="1965960"/>
            <a:ext cx="5477256" cy="1645920"/>
          </a:xfrm>
          <a:prstGeom prst="roundRect">
            <a:avLst>
              <a:gd name="adj" fmla="val 3333"/>
            </a:avLst>
          </a:prstGeom>
          <a:solidFill>
            <a:srgbClr val="F2F6F8"/>
          </a:solidFill>
          <a:ln/>
        </p:spPr>
      </p:sp>
      <p:sp>
        <p:nvSpPr>
          <p:cNvPr id="12" name="Text 9"/>
          <p:cNvSpPr/>
          <p:nvPr/>
        </p:nvSpPr>
        <p:spPr>
          <a:xfrm>
            <a:off x="713232" y="2057400"/>
            <a:ext cx="5056632" cy="237744"/>
          </a:xfrm>
          <a:prstGeom prst="rect">
            <a:avLst/>
          </a:prstGeom>
          <a:noFill/>
          <a:ln/>
        </p:spPr>
        <p:txBody>
          <a:bodyPr wrap="square" lIns="0" tIns="0" rIns="0" bIns="0" rtlCol="0" anchor="ctr"/>
          <a:lstStyle/>
          <a:p>
            <a:pPr indent="0" marL="0">
              <a:buNone/>
            </a:pPr>
            <a:r>
              <a:rPr lang="en-US" sz="950" b="1" spc="150" kern="0" dirty="0">
                <a:solidFill>
                  <a:srgbClr val="6E7B8A"/>
                </a:solidFill>
                <a:latin typeface="Calibri" pitchFamily="34" charset="0"/>
                <a:ea typeface="Calibri" pitchFamily="34" charset="-122"/>
                <a:cs typeface="Calibri" pitchFamily="34" charset="-120"/>
              </a:rPr>
              <a:t>SITUATION</a:t>
            </a:r>
            <a:endParaRPr lang="en-US" sz="950" dirty="0"/>
          </a:p>
        </p:txBody>
      </p:sp>
      <p:sp>
        <p:nvSpPr>
          <p:cNvPr id="13" name="Text 10"/>
          <p:cNvSpPr/>
          <p:nvPr/>
        </p:nvSpPr>
        <p:spPr>
          <a:xfrm>
            <a:off x="713232" y="233172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 legal-tech startup quotes a contract-analysis service (clause classification + obligation extraction) priced on 2-page contracts. The pilot client's procurement contracts average 38 pages with 200-line annex tables. First production batch: GPU OOM crashes, then 11-minute per-document latency on a naive CPU fix.</a:t>
            </a:r>
            <a:endParaRPr lang="en-US" sz="1050" dirty="0"/>
          </a:p>
        </p:txBody>
      </p:sp>
      <p:sp>
        <p:nvSpPr>
          <p:cNvPr id="14" name="Shape 11"/>
          <p:cNvSpPr/>
          <p:nvPr/>
        </p:nvSpPr>
        <p:spPr>
          <a:xfrm>
            <a:off x="502920" y="3749040"/>
            <a:ext cx="5477256" cy="1645920"/>
          </a:xfrm>
          <a:prstGeom prst="roundRect">
            <a:avLst>
              <a:gd name="adj" fmla="val 3333"/>
            </a:avLst>
          </a:prstGeom>
          <a:solidFill>
            <a:srgbClr val="FEF3E3"/>
          </a:solidFill>
          <a:ln/>
        </p:spPr>
      </p:sp>
      <p:sp>
        <p:nvSpPr>
          <p:cNvPr id="15" name="Text 12"/>
          <p:cNvSpPr/>
          <p:nvPr/>
        </p:nvSpPr>
        <p:spPr>
          <a:xfrm>
            <a:off x="713232" y="3840480"/>
            <a:ext cx="5056632"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CHALLENGE</a:t>
            </a:r>
            <a:endParaRPr lang="en-US" sz="950" dirty="0"/>
          </a:p>
        </p:txBody>
      </p:sp>
      <p:sp>
        <p:nvSpPr>
          <p:cNvPr id="16" name="Text 13"/>
          <p:cNvSpPr/>
          <p:nvPr/>
        </p:nvSpPr>
        <p:spPr>
          <a:xfrm>
            <a:off x="713232" y="411480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Fixed-price contract; results due by Sunday board meetings; renegotiation only with a technically credible explanation. No larger GPUs this quarter; the validated classifier retrains only quarterly. Explain the failure from architecture first principles, then redesign within the existing 110M encoder.</a:t>
            </a:r>
            <a:endParaRPr lang="en-US" sz="1050" dirty="0"/>
          </a:p>
        </p:txBody>
      </p:sp>
      <p:sp>
        <p:nvSpPr>
          <p:cNvPr id="17" name="Shape 14"/>
          <p:cNvSpPr/>
          <p:nvPr/>
        </p:nvSpPr>
        <p:spPr>
          <a:xfrm>
            <a:off x="6208776" y="1965960"/>
            <a:ext cx="5477256" cy="3429000"/>
          </a:xfrm>
          <a:prstGeom prst="roundRect">
            <a:avLst>
              <a:gd name="adj" fmla="val 1600"/>
            </a:avLst>
          </a:prstGeom>
          <a:solidFill>
            <a:srgbClr val="E6F5F4"/>
          </a:solidFill>
          <a:ln/>
        </p:spPr>
      </p:sp>
      <p:sp>
        <p:nvSpPr>
          <p:cNvPr id="18" name="Text 15"/>
          <p:cNvSpPr/>
          <p:nvPr/>
        </p:nvSpPr>
        <p:spPr>
          <a:xfrm>
            <a:off x="6409944" y="2066544"/>
            <a:ext cx="5074920"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APPROACH</a:t>
            </a:r>
            <a:endParaRPr lang="en-US" sz="950" dirty="0"/>
          </a:p>
        </p:txBody>
      </p:sp>
      <p:sp>
        <p:nvSpPr>
          <p:cNvPr id="19" name="Shape 16"/>
          <p:cNvSpPr/>
          <p:nvPr/>
        </p:nvSpPr>
        <p:spPr>
          <a:xfrm>
            <a:off x="6409944" y="2395728"/>
            <a:ext cx="237744" cy="237744"/>
          </a:xfrm>
          <a:prstGeom prst="ellipse">
            <a:avLst/>
          </a:prstGeom>
          <a:solidFill>
            <a:srgbClr val="00A79D"/>
          </a:solidFill>
          <a:ln/>
        </p:spPr>
      </p:sp>
      <p:sp>
        <p:nvSpPr>
          <p:cNvPr id="20" name="Text 17"/>
          <p:cNvSpPr/>
          <p:nvPr/>
        </p:nvSpPr>
        <p:spPr>
          <a:xfrm>
            <a:off x="6409944" y="23957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p:nvPr/>
        </p:nvSpPr>
        <p:spPr>
          <a:xfrm>
            <a:off x="6757416" y="237744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sizing error is the quadratic term: 38 pages ≈ 12k tokens → ≈ (12k/512)² ≈ 550× the pilot's per-window attention cost — hence OOM.</a:t>
            </a:r>
            <a:endParaRPr lang="en-US" sz="1050" dirty="0"/>
          </a:p>
        </p:txBody>
      </p:sp>
      <p:sp>
        <p:nvSpPr>
          <p:cNvPr id="22" name="Shape 19"/>
          <p:cNvSpPr/>
          <p:nvPr/>
        </p:nvSpPr>
        <p:spPr>
          <a:xfrm>
            <a:off x="6409944" y="3127248"/>
            <a:ext cx="237744" cy="237744"/>
          </a:xfrm>
          <a:prstGeom prst="ellipse">
            <a:avLst/>
          </a:prstGeom>
          <a:solidFill>
            <a:srgbClr val="00A79D"/>
          </a:solidFill>
          <a:ln/>
        </p:spPr>
      </p:sp>
      <p:sp>
        <p:nvSpPr>
          <p:cNvPr id="23" name="Text 20"/>
          <p:cNvSpPr/>
          <p:nvPr/>
        </p:nvSpPr>
        <p:spPr>
          <a:xfrm>
            <a:off x="6409944" y="31272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6757416" y="310896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Sentence-window chunking (M1's segmenter) with 64-token overlap; per-window classification, document-level label aggregation.</a:t>
            </a:r>
            <a:endParaRPr lang="en-US" sz="1050" dirty="0"/>
          </a:p>
        </p:txBody>
      </p:sp>
      <p:sp>
        <p:nvSpPr>
          <p:cNvPr id="25" name="Shape 22"/>
          <p:cNvSpPr/>
          <p:nvPr/>
        </p:nvSpPr>
        <p:spPr>
          <a:xfrm>
            <a:off x="6409944" y="3858768"/>
            <a:ext cx="237744" cy="237744"/>
          </a:xfrm>
          <a:prstGeom prst="ellipse">
            <a:avLst/>
          </a:prstGeom>
          <a:solidFill>
            <a:srgbClr val="00A79D"/>
          </a:solidFill>
          <a:ln/>
        </p:spPr>
      </p:sp>
      <p:sp>
        <p:nvSpPr>
          <p:cNvPr id="26" name="Text 23"/>
          <p:cNvSpPr/>
          <p:nvPr/>
        </p:nvSpPr>
        <p:spPr>
          <a:xfrm>
            <a:off x="6409944" y="3858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4"/>
          <p:cNvSpPr/>
          <p:nvPr/>
        </p:nvSpPr>
        <p:spPr>
          <a:xfrm>
            <a:off x="6757416" y="384048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Obligation extraction only on windows the classifier flags — a cheap filter before the expensive extraction step.</a:t>
            </a:r>
            <a:endParaRPr lang="en-US" sz="1050" dirty="0"/>
          </a:p>
        </p:txBody>
      </p:sp>
      <p:sp>
        <p:nvSpPr>
          <p:cNvPr id="28" name="Shape 25"/>
          <p:cNvSpPr/>
          <p:nvPr/>
        </p:nvSpPr>
        <p:spPr>
          <a:xfrm>
            <a:off x="6409944" y="4590288"/>
            <a:ext cx="237744" cy="237744"/>
          </a:xfrm>
          <a:prstGeom prst="ellipse">
            <a:avLst/>
          </a:prstGeom>
          <a:solidFill>
            <a:srgbClr val="00A79D"/>
          </a:solidFill>
          <a:ln/>
        </p:spPr>
      </p:sp>
      <p:sp>
        <p:nvSpPr>
          <p:cNvPr id="29" name="Text 26"/>
          <p:cNvSpPr/>
          <p:nvPr/>
        </p:nvSpPr>
        <p:spPr>
          <a:xfrm>
            <a:off x="6409944" y="45902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0" name="Text 27"/>
          <p:cNvSpPr/>
          <p:nvPr/>
        </p:nvSpPr>
        <p:spPr>
          <a:xfrm>
            <a:off x="6757416" y="457200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Dynamic batching of similar-length windows: a 38-page document ≈ 90 windows ≈ 4 seconds on the existing GPU.</a:t>
            </a:r>
            <a:endParaRPr lang="en-US" sz="1050" dirty="0"/>
          </a:p>
        </p:txBody>
      </p:sp>
      <p:sp>
        <p:nvSpPr>
          <p:cNvPr id="31" name="Shape 28"/>
          <p:cNvSpPr/>
          <p:nvPr/>
        </p:nvSpPr>
        <p:spPr>
          <a:xfrm>
            <a:off x="502920" y="5577840"/>
            <a:ext cx="11183112" cy="731520"/>
          </a:xfrm>
          <a:prstGeom prst="roundRect">
            <a:avLst>
              <a:gd name="adj" fmla="val 10000"/>
            </a:avLst>
          </a:prstGeom>
          <a:solidFill>
            <a:srgbClr val="1D2A5C"/>
          </a:solidFill>
          <a:ln/>
        </p:spPr>
      </p:sp>
      <p:sp>
        <p:nvSpPr>
          <p:cNvPr id="32" name="Text 29"/>
          <p:cNvSpPr/>
          <p:nvPr/>
        </p:nvSpPr>
        <p:spPr>
          <a:xfrm>
            <a:off x="731520" y="5577840"/>
            <a:ext cx="10744200" cy="73152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LESSON   </a:t>
            </a:r>
            <a:pPr indent="0" marL="0">
              <a:buNone/>
            </a:pPr>
            <a:r>
              <a:rPr lang="en-US" sz="1150" dirty="0">
                <a:solidFill>
                  <a:srgbClr val="FFFFFF"/>
                </a:solidFill>
                <a:latin typeface="Calibri" pitchFamily="34" charset="0"/>
                <a:ea typeface="Calibri" pitchFamily="34" charset="-122"/>
                <a:cs typeface="Calibri" pitchFamily="34" charset="-120"/>
              </a:rPr>
              <a:t>The quote was repriced per-window, not per-document — the architecture lesson became the pricing model. Sequence length is the cost lever you control.</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The Scaling Factor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معامل القياس</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44</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Q3</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In Attention(Q, K, V) = softmax(QKᵀ / √d_k) · V — why divide the scores by √d_k?</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To keep score variance near 1 so softmax stays in its gradient-friendly range</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To make the attention computation run faster on GPUs</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To guarantee the weight matrix comes out lower-triangular</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To normalise for the size of the vocabulary</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The most-asked interview question in the room. Without scaling, dot products grow with dimension, softmax saturates, and gradients vanish.</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The 512 Ceiling</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سقف 512</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MODULE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45</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Q4</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Why can't BERT-base process a 600-token input?</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attention matrix would overflow fp32 precision</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Its learned absolute positional table has exactly 512 rows — position 513 does not exist</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WordPiece cannot tokenize sequences longer than 512 pieces</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[CLS] token loses its meaning past 512 positions</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Truncation policy and chunking strategy are forced by architecture, not preference — the 38-page contract case turns on exactly this.</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DAY 1 WRAP</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You can now take hostile bilingual text all the way to tensors — and reason about the architecture that consumes them.</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Pipeline, tokenizer audit, attention from scratch, parameter accounting, pad-leak diagnosis: all reused tomorrow, when we fine-tune on the Bayan corpus.</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46</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9052560" y="1024128"/>
            <a:ext cx="438912" cy="384048"/>
          </a:xfrm>
          <a:prstGeom prst="triangle">
            <a:avLst/>
          </a:prstGeom>
          <a:solidFill>
            <a:srgbClr val="00A79D"/>
          </a:solidFill>
          <a:ln/>
        </p:spPr>
      </p:sp>
      <p:sp>
        <p:nvSpPr>
          <p:cNvPr id="3" name="Shape 1"/>
          <p:cNvSpPr/>
          <p:nvPr/>
        </p:nvSpPr>
        <p:spPr>
          <a:xfrm>
            <a:off x="9518904" y="832104"/>
            <a:ext cx="438912" cy="384048"/>
          </a:xfrm>
          <a:prstGeom prst="triangle">
            <a:avLst/>
          </a:prstGeom>
          <a:solidFill>
            <a:srgbClr val="29ABE2"/>
          </a:solidFill>
          <a:ln/>
        </p:spPr>
      </p:sp>
      <p:sp>
        <p:nvSpPr>
          <p:cNvPr id="4" name="Shape 2"/>
          <p:cNvSpPr/>
          <p:nvPr/>
        </p:nvSpPr>
        <p:spPr>
          <a:xfrm>
            <a:off x="9518904" y="1216152"/>
            <a:ext cx="438912" cy="384048"/>
          </a:xfrm>
          <a:prstGeom prst="triangle">
            <a:avLst/>
          </a:prstGeom>
          <a:solidFill>
            <a:srgbClr val="F7941D"/>
          </a:solidFill>
          <a:ln/>
        </p:spPr>
      </p:sp>
      <p:sp>
        <p:nvSpPr>
          <p:cNvPr id="5" name="Shape 3"/>
          <p:cNvSpPr/>
          <p:nvPr/>
        </p:nvSpPr>
        <p:spPr>
          <a:xfrm>
            <a:off x="9985248" y="640080"/>
            <a:ext cx="438912" cy="384048"/>
          </a:xfrm>
          <a:prstGeom prst="triangle">
            <a:avLst/>
          </a:prstGeom>
          <a:solidFill>
            <a:srgbClr val="8CC63F"/>
          </a:solidFill>
          <a:ln/>
        </p:spPr>
      </p:sp>
      <p:sp>
        <p:nvSpPr>
          <p:cNvPr id="6" name="Shape 4"/>
          <p:cNvSpPr/>
          <p:nvPr/>
        </p:nvSpPr>
        <p:spPr>
          <a:xfrm>
            <a:off x="9985248" y="1024128"/>
            <a:ext cx="438912" cy="384048"/>
          </a:xfrm>
          <a:prstGeom prst="triangle">
            <a:avLst/>
          </a:prstGeom>
          <a:solidFill>
            <a:srgbClr val="00A79D"/>
          </a:solidFill>
          <a:ln/>
        </p:spPr>
      </p:sp>
      <p:sp>
        <p:nvSpPr>
          <p:cNvPr id="7" name="Shape 5"/>
          <p:cNvSpPr/>
          <p:nvPr/>
        </p:nvSpPr>
        <p:spPr>
          <a:xfrm>
            <a:off x="10451592" y="832104"/>
            <a:ext cx="438912" cy="384048"/>
          </a:xfrm>
          <a:prstGeom prst="triangle">
            <a:avLst/>
          </a:prstGeom>
          <a:solidFill>
            <a:srgbClr val="29ABE2"/>
          </a:solidFill>
          <a:ln/>
        </p:spPr>
      </p:sp>
      <p:sp>
        <p:nvSpPr>
          <p:cNvPr id="8" name="Shape 6"/>
          <p:cNvSpPr/>
          <p:nvPr/>
        </p:nvSpPr>
        <p:spPr>
          <a:xfrm>
            <a:off x="10451592" y="1216152"/>
            <a:ext cx="438912" cy="384048"/>
          </a:xfrm>
          <a:prstGeom prst="triangle">
            <a:avLst/>
          </a:prstGeom>
          <a:solidFill>
            <a:srgbClr val="F7941D"/>
          </a:solidFill>
          <a:ln/>
        </p:spPr>
      </p:sp>
      <p:sp>
        <p:nvSpPr>
          <p:cNvPr id="9" name="Shape 7"/>
          <p:cNvSpPr/>
          <p:nvPr/>
        </p:nvSpPr>
        <p:spPr>
          <a:xfrm>
            <a:off x="10917936" y="1024128"/>
            <a:ext cx="438912" cy="384048"/>
          </a:xfrm>
          <a:prstGeom prst="triangle">
            <a:avLst/>
          </a:prstGeom>
          <a:solidFill>
            <a:srgbClr val="8CC63F"/>
          </a:solidFill>
          <a:ln/>
        </p:spPr>
      </p:sp>
      <p:sp>
        <p:nvSpPr>
          <p:cNvPr id="10" name="Text 8"/>
          <p:cNvSpPr/>
          <p:nvPr/>
        </p:nvSpPr>
        <p:spPr>
          <a:xfrm>
            <a:off x="777240" y="777240"/>
            <a:ext cx="4572000" cy="914400"/>
          </a:xfrm>
          <a:prstGeom prst="rect">
            <a:avLst/>
          </a:prstGeom>
          <a:noFill/>
          <a:ln/>
        </p:spPr>
        <p:txBody>
          <a:bodyPr wrap="square" lIns="0" tIns="0" rIns="0" bIns="0" rtlCol="0" anchor="ctr"/>
          <a:lstStyle/>
          <a:p>
            <a:pPr indent="0" marL="0">
              <a:buNone/>
            </a:pPr>
            <a:r>
              <a:rPr lang="en-US" sz="4800" b="1" dirty="0">
                <a:solidFill>
                  <a:srgbClr val="F7941D"/>
                </a:solidFill>
                <a:latin typeface="Calibri" pitchFamily="34" charset="0"/>
                <a:ea typeface="Calibri" pitchFamily="34" charset="-122"/>
                <a:cs typeface="Calibri" pitchFamily="34" charset="-120"/>
              </a:rPr>
              <a:t>DAY 2</a:t>
            </a:r>
            <a:endParaRPr lang="en-US" sz="4800" dirty="0"/>
          </a:p>
        </p:txBody>
      </p:sp>
      <p:sp>
        <p:nvSpPr>
          <p:cNvPr id="11" name="Text 9"/>
          <p:cNvSpPr/>
          <p:nvPr/>
        </p:nvSpPr>
        <p:spPr>
          <a:xfrm>
            <a:off x="777240" y="1783080"/>
            <a:ext cx="777240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Make the Model Yours</a:t>
            </a:r>
            <a:endParaRPr lang="en-US" sz="3000" dirty="0"/>
          </a:p>
        </p:txBody>
      </p:sp>
      <p:sp>
        <p:nvSpPr>
          <p:cNvPr id="12" name="Text 10"/>
          <p:cNvSpPr/>
          <p:nvPr/>
        </p:nvSpPr>
        <p:spPr>
          <a:xfrm>
            <a:off x="777240" y="2468880"/>
            <a:ext cx="7772400" cy="411480"/>
          </a:xfrm>
          <a:prstGeom prst="rect">
            <a:avLst/>
          </a:prstGeom>
          <a:noFill/>
          <a:ln/>
        </p:spPr>
        <p:txBody>
          <a:bodyPr wrap="square" lIns="0" tIns="0" rIns="0" bIns="0" rtlCol="0" anchor="ctr"/>
          <a:lstStyle/>
          <a:p>
            <a:pPr indent="0" marL="0">
              <a:buNone/>
            </a:pPr>
            <a:r>
              <a:rPr lang="en-US" sz="1600" dirty="0">
                <a:solidFill>
                  <a:srgbClr val="00A79D"/>
                </a:solidFill>
                <a:latin typeface="Calibri" pitchFamily="34" charset="0"/>
                <a:ea typeface="Calibri" pitchFamily="34" charset="-122"/>
                <a:cs typeface="Calibri" pitchFamily="34" charset="-120"/>
              </a:rPr>
              <a:t>اجعل النموذج ملكاً لك</a:t>
            </a:r>
            <a:endParaRPr lang="en-US" sz="1600" dirty="0"/>
          </a:p>
        </p:txBody>
      </p:sp>
      <p:sp>
        <p:nvSpPr>
          <p:cNvPr id="13" name="Shape 11"/>
          <p:cNvSpPr/>
          <p:nvPr/>
        </p:nvSpPr>
        <p:spPr>
          <a:xfrm>
            <a:off x="777240" y="3191256"/>
            <a:ext cx="960120" cy="393192"/>
          </a:xfrm>
          <a:prstGeom prst="roundRect">
            <a:avLst>
              <a:gd name="adj" fmla="val 13953"/>
            </a:avLst>
          </a:prstGeom>
          <a:solidFill>
            <a:srgbClr val="2A3A73"/>
          </a:solidFill>
          <a:ln/>
        </p:spPr>
      </p:sp>
      <p:sp>
        <p:nvSpPr>
          <p:cNvPr id="14" name="Text 12"/>
          <p:cNvSpPr/>
          <p:nvPr/>
        </p:nvSpPr>
        <p:spPr>
          <a:xfrm>
            <a:off x="777240" y="3191256"/>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H1</a:t>
            </a:r>
            <a:endParaRPr lang="en-US" sz="1050" dirty="0"/>
          </a:p>
        </p:txBody>
      </p:sp>
      <p:sp>
        <p:nvSpPr>
          <p:cNvPr id="15" name="Text 13"/>
          <p:cNvSpPr/>
          <p:nvPr/>
        </p:nvSpPr>
        <p:spPr>
          <a:xfrm>
            <a:off x="1920240" y="3191256"/>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Fine-tuning I: classification (M3)  </a:t>
            </a:r>
            <a:pPr indent="0" marL="0">
              <a:buNone/>
            </a:pPr>
            <a:r>
              <a:rPr lang="en-US" sz="1200" dirty="0">
                <a:solidFill>
                  <a:srgbClr val="AAB6D8"/>
                </a:solidFill>
                <a:latin typeface="Calibri" pitchFamily="34" charset="0"/>
                <a:ea typeface="Calibri" pitchFamily="34" charset="-122"/>
                <a:cs typeface="Calibri" pitchFamily="34" charset="-120"/>
              </a:rPr>
              <a:t>Transfer learning economics, task heads, Trainer API, hyperparameters that actually matter</a:t>
            </a:r>
            <a:endParaRPr lang="en-US" sz="1200" dirty="0"/>
          </a:p>
        </p:txBody>
      </p:sp>
      <p:sp>
        <p:nvSpPr>
          <p:cNvPr id="16" name="Shape 14"/>
          <p:cNvSpPr/>
          <p:nvPr/>
        </p:nvSpPr>
        <p:spPr>
          <a:xfrm>
            <a:off x="777240" y="3712464"/>
            <a:ext cx="960120" cy="393192"/>
          </a:xfrm>
          <a:prstGeom prst="roundRect">
            <a:avLst>
              <a:gd name="adj" fmla="val 13953"/>
            </a:avLst>
          </a:prstGeom>
          <a:solidFill>
            <a:srgbClr val="2A3A73"/>
          </a:solidFill>
          <a:ln/>
        </p:spPr>
      </p:sp>
      <p:sp>
        <p:nvSpPr>
          <p:cNvPr id="17" name="Text 15"/>
          <p:cNvSpPr/>
          <p:nvPr/>
        </p:nvSpPr>
        <p:spPr>
          <a:xfrm>
            <a:off x="777240" y="3712464"/>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H2</a:t>
            </a:r>
            <a:endParaRPr lang="en-US" sz="1050" dirty="0"/>
          </a:p>
        </p:txBody>
      </p:sp>
      <p:sp>
        <p:nvSpPr>
          <p:cNvPr id="18" name="Text 16"/>
          <p:cNvSpPr/>
          <p:nvPr/>
        </p:nvSpPr>
        <p:spPr>
          <a:xfrm>
            <a:off x="1920240" y="3712464"/>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3a — Bayan topic classifier  </a:t>
            </a:r>
            <a:pPr indent="0" marL="0">
              <a:buNone/>
            </a:pPr>
            <a:r>
              <a:rPr lang="en-US" sz="1200" dirty="0">
                <a:solidFill>
                  <a:srgbClr val="AAB6D8"/>
                </a:solidFill>
                <a:latin typeface="Calibri" pitchFamily="34" charset="0"/>
                <a:ea typeface="Calibri" pitchFamily="34" charset="-122"/>
                <a:cs typeface="Calibri" pitchFamily="34" charset="-120"/>
              </a:rPr>
              <a:t>Fine-tune a BERT-family model, log metrics, beat the TF-IDF baseline</a:t>
            </a:r>
            <a:endParaRPr lang="en-US" sz="1200" dirty="0"/>
          </a:p>
        </p:txBody>
      </p:sp>
      <p:sp>
        <p:nvSpPr>
          <p:cNvPr id="19" name="Shape 17"/>
          <p:cNvSpPr/>
          <p:nvPr/>
        </p:nvSpPr>
        <p:spPr>
          <a:xfrm>
            <a:off x="777240" y="4233672"/>
            <a:ext cx="960120" cy="393192"/>
          </a:xfrm>
          <a:prstGeom prst="roundRect">
            <a:avLst>
              <a:gd name="adj" fmla="val 13953"/>
            </a:avLst>
          </a:prstGeom>
          <a:solidFill>
            <a:srgbClr val="2A3A73"/>
          </a:solidFill>
          <a:ln/>
        </p:spPr>
      </p:sp>
      <p:sp>
        <p:nvSpPr>
          <p:cNvPr id="20" name="Text 18"/>
          <p:cNvSpPr/>
          <p:nvPr/>
        </p:nvSpPr>
        <p:spPr>
          <a:xfrm>
            <a:off x="777240" y="4233672"/>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H3</a:t>
            </a:r>
            <a:endParaRPr lang="en-US" sz="1050" dirty="0"/>
          </a:p>
        </p:txBody>
      </p:sp>
      <p:sp>
        <p:nvSpPr>
          <p:cNvPr id="21" name="Text 19"/>
          <p:cNvSpPr/>
          <p:nvPr/>
        </p:nvSpPr>
        <p:spPr>
          <a:xfrm>
            <a:off x="1920240" y="4233672"/>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Fine-tuning II: NER + extractive QA  </a:t>
            </a:r>
            <a:pPr indent="0" marL="0">
              <a:buNone/>
            </a:pPr>
            <a:r>
              <a:rPr lang="en-US" sz="1200" dirty="0">
                <a:solidFill>
                  <a:srgbClr val="AAB6D8"/>
                </a:solidFill>
                <a:latin typeface="Calibri" pitchFamily="34" charset="0"/>
                <a:ea typeface="Calibri" pitchFamily="34" charset="-122"/>
                <a:cs typeface="Calibri" pitchFamily="34" charset="-120"/>
              </a:rPr>
              <a:t>Token classification, subword label alignment, span extraction, task-head trade-offs</a:t>
            </a:r>
            <a:endParaRPr lang="en-US" sz="1200" dirty="0"/>
          </a:p>
        </p:txBody>
      </p:sp>
      <p:sp>
        <p:nvSpPr>
          <p:cNvPr id="22" name="Shape 20"/>
          <p:cNvSpPr/>
          <p:nvPr/>
        </p:nvSpPr>
        <p:spPr>
          <a:xfrm>
            <a:off x="777240" y="4754880"/>
            <a:ext cx="960120" cy="393192"/>
          </a:xfrm>
          <a:prstGeom prst="roundRect">
            <a:avLst>
              <a:gd name="adj" fmla="val 13953"/>
            </a:avLst>
          </a:prstGeom>
          <a:solidFill>
            <a:srgbClr val="2A3A73"/>
          </a:solidFill>
          <a:ln/>
        </p:spPr>
      </p:sp>
      <p:sp>
        <p:nvSpPr>
          <p:cNvPr id="23" name="Text 21"/>
          <p:cNvSpPr/>
          <p:nvPr/>
        </p:nvSpPr>
        <p:spPr>
          <a:xfrm>
            <a:off x="777240" y="4754880"/>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H4</a:t>
            </a:r>
            <a:endParaRPr lang="en-US" sz="1050" dirty="0"/>
          </a:p>
        </p:txBody>
      </p:sp>
      <p:sp>
        <p:nvSpPr>
          <p:cNvPr id="24" name="Text 22"/>
          <p:cNvSpPr/>
          <p:nvPr/>
        </p:nvSpPr>
        <p:spPr>
          <a:xfrm>
            <a:off x="1920240" y="4754880"/>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3b — Entities and QA on complaints  </a:t>
            </a:r>
            <a:pPr indent="0" marL="0">
              <a:buNone/>
            </a:pPr>
            <a:r>
              <a:rPr lang="en-US" sz="1200" dirty="0">
                <a:solidFill>
                  <a:srgbClr val="AAB6D8"/>
                </a:solidFill>
                <a:latin typeface="Calibri" pitchFamily="34" charset="0"/>
                <a:ea typeface="Calibri" pitchFamily="34" charset="-122"/>
                <a:cs typeface="Calibri" pitchFamily="34" charset="-120"/>
              </a:rPr>
              <a:t>Fine-tune NER on the Bayan entity schema; extractive QA on service documents</a:t>
            </a:r>
            <a:endParaRPr lang="en-US" sz="1200" dirty="0"/>
          </a:p>
        </p:txBody>
      </p:sp>
      <p:sp>
        <p:nvSpPr>
          <p:cNvPr id="25" name="Shape 23"/>
          <p:cNvSpPr/>
          <p:nvPr/>
        </p:nvSpPr>
        <p:spPr>
          <a:xfrm>
            <a:off x="777240" y="5276088"/>
            <a:ext cx="960120" cy="393192"/>
          </a:xfrm>
          <a:prstGeom prst="roundRect">
            <a:avLst>
              <a:gd name="adj" fmla="val 13953"/>
            </a:avLst>
          </a:prstGeom>
          <a:solidFill>
            <a:srgbClr val="2A3A73"/>
          </a:solidFill>
          <a:ln/>
        </p:spPr>
      </p:sp>
      <p:sp>
        <p:nvSpPr>
          <p:cNvPr id="26" name="Text 24"/>
          <p:cNvSpPr/>
          <p:nvPr/>
        </p:nvSpPr>
        <p:spPr>
          <a:xfrm>
            <a:off x="777240" y="5276088"/>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H5</a:t>
            </a:r>
            <a:endParaRPr lang="en-US" sz="1050" dirty="0"/>
          </a:p>
        </p:txBody>
      </p:sp>
      <p:sp>
        <p:nvSpPr>
          <p:cNvPr id="27" name="Text 25"/>
          <p:cNvSpPr/>
          <p:nvPr/>
        </p:nvSpPr>
        <p:spPr>
          <a:xfrm>
            <a:off x="1920240" y="5276088"/>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Arabic NLP: challenges + models (M4)  </a:t>
            </a:r>
            <a:pPr indent="0" marL="0">
              <a:buNone/>
            </a:pPr>
            <a:r>
              <a:rPr lang="en-US" sz="1200" dirty="0">
                <a:solidFill>
                  <a:srgbClr val="AAB6D8"/>
                </a:solidFill>
                <a:latin typeface="Calibri" pitchFamily="34" charset="0"/>
                <a:ea typeface="Calibri" pitchFamily="34" charset="-122"/>
                <a:cs typeface="Calibri" pitchFamily="34" charset="-120"/>
              </a:rPr>
              <a:t>Morphology, dialects, normalisation, and the AraBERT / CAMeLBERT / MARBERT landscape</a:t>
            </a:r>
            <a:endParaRPr lang="en-US" sz="1200" dirty="0"/>
          </a:p>
        </p:txBody>
      </p:sp>
      <p:sp>
        <p:nvSpPr>
          <p:cNvPr id="28" name="Shape 26"/>
          <p:cNvSpPr/>
          <p:nvPr/>
        </p:nvSpPr>
        <p:spPr>
          <a:xfrm>
            <a:off x="777240" y="5989320"/>
            <a:ext cx="10607040" cy="566928"/>
          </a:xfrm>
          <a:prstGeom prst="roundRect">
            <a:avLst>
              <a:gd name="adj" fmla="val 12903"/>
            </a:avLst>
          </a:prstGeom>
          <a:solidFill>
            <a:srgbClr val="00A79D"/>
          </a:solidFill>
          <a:ln/>
        </p:spPr>
      </p:sp>
      <p:sp>
        <p:nvSpPr>
          <p:cNvPr id="29" name="Text 27"/>
          <p:cNvSpPr/>
          <p:nvPr/>
        </p:nvSpPr>
        <p:spPr>
          <a:xfrm>
            <a:off x="1005840" y="5989320"/>
            <a:ext cx="10149840" cy="566928"/>
          </a:xfrm>
          <a:prstGeom prst="rect">
            <a:avLst/>
          </a:prstGeom>
          <a:noFill/>
          <a:ln/>
        </p:spPr>
        <p:txBody>
          <a:bodyPr wrap="square" lIns="0" tIns="0" rIns="0" bIns="0"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END-OF-DAY DELIVERABLE   </a:t>
            </a:r>
            <a:pPr indent="0" marL="0">
              <a:buNone/>
            </a:pPr>
            <a:r>
              <a:rPr lang="en-US" sz="1200" b="1" dirty="0">
                <a:solidFill>
                  <a:srgbClr val="FFFFFF"/>
                </a:solidFill>
                <a:latin typeface="Calibri" pitchFamily="34" charset="0"/>
                <a:ea typeface="Calibri" pitchFamily="34" charset="-122"/>
                <a:cs typeface="Calibri" pitchFamily="34" charset="-120"/>
              </a:rPr>
              <a:t>Fine-tuned topic/sentiment classifier + NER model on the Bayan corpus — beating the TF-IDF baseline honestly</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2 Hour by Hour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الثاني ساعة بساعة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48</a:t>
            </a:r>
            <a:endParaRPr lang="en-US" sz="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685800"/>
                <a:gridCol w="2834640"/>
                <a:gridCol w="5010912"/>
                <a:gridCol w="1737360"/>
                <a:gridCol w="91440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Hour</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Theory/Lab</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Fine-tuning I: classification (M3)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Transfer learning economics, heads, Trainer API, hyperparameters that actually matter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Lecture + config walk</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70/30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3a — Bayan topic/sentiment classifier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Fine-tune a BERT-family model; log metrics; beat the TF-IDF baseline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Guided lab (pairs)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10/90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Fine-tuning II: NER and extractive QA (M3)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Token classification, subword label alignment, span extraction, task-head trade-offs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Lecture + align demo</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70/30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3b — Entity extraction and QA</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Fine-tune NER on the Bayan entity schema; run extractive QA on service documents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Guided lab (pairs)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10/90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Arabic NLP: challenges, models, resources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Morphology, dialects, orthographic normalisation, the Arabic model landscape (M4)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Lecture + CAMeL demo</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75/25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5989320"/>
            <a:ext cx="11183112" cy="4114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INSTRUCTOR NOTE   </a:t>
            </a:r>
            <a:pPr indent="0" marL="0">
              <a:buNone/>
            </a:pPr>
            <a:r>
              <a:rPr lang="en-US" sz="1050" dirty="0">
                <a:solidFill>
                  <a:srgbClr val="6E7B8A"/>
                </a:solidFill>
                <a:latin typeface="Calibri" pitchFamily="34" charset="0"/>
                <a:ea typeface="Calibri" pitchFamily="34" charset="-122"/>
                <a:cs typeface="Calibri" pitchFamily="34" charset="-120"/>
              </a:rPr>
              <a:t>Demo trick: launch the H2 fine-tune live at the start of H1 so the loss curve evolves on the projector during the lecture.</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MODULE 3 · FINE-TUNING</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Pretraining bought general language competence. Fine-tuning spends it on your task.</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Three workhorse task shapes — classification, NER, extractive QA — one encoder, one Trainer.</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3 Learning Objectives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الوحدة الثالثة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50</a:t>
            </a:r>
            <a:endParaRPr lang="en-US" sz="800" dirty="0"/>
          </a:p>
        </p:txBody>
      </p:sp>
      <p:sp>
        <p:nvSpPr>
          <p:cNvPr id="8" name="Shape 5"/>
          <p:cNvSpPr/>
          <p:nvPr/>
        </p:nvSpPr>
        <p:spPr>
          <a:xfrm>
            <a:off x="502920" y="1481328"/>
            <a:ext cx="5449824" cy="1389888"/>
          </a:xfrm>
          <a:prstGeom prst="roundRect">
            <a:avLst>
              <a:gd name="adj" fmla="val 3947"/>
            </a:avLst>
          </a:prstGeom>
          <a:solidFill>
            <a:srgbClr val="F2F6F8"/>
          </a:solidFill>
          <a:ln/>
        </p:spPr>
      </p:sp>
      <p:sp>
        <p:nvSpPr>
          <p:cNvPr id="9" name="Shape 6"/>
          <p:cNvSpPr/>
          <p:nvPr/>
        </p:nvSpPr>
        <p:spPr>
          <a:xfrm>
            <a:off x="502920" y="1481328"/>
            <a:ext cx="64008" cy="1389888"/>
          </a:xfrm>
          <a:prstGeom prst="rect">
            <a:avLst/>
          </a:prstGeom>
          <a:solidFill>
            <a:srgbClr val="00A79D"/>
          </a:solidFill>
          <a:ln/>
        </p:spPr>
      </p:sp>
      <p:sp>
        <p:nvSpPr>
          <p:cNvPr id="10" name="Shape 7"/>
          <p:cNvSpPr/>
          <p:nvPr/>
        </p:nvSpPr>
        <p:spPr>
          <a:xfrm>
            <a:off x="685800" y="1609344"/>
            <a:ext cx="822960" cy="274320"/>
          </a:xfrm>
          <a:prstGeom prst="roundRect">
            <a:avLst>
              <a:gd name="adj" fmla="val 26667"/>
            </a:avLst>
          </a:prstGeom>
          <a:solidFill>
            <a:srgbClr val="1D2A5C"/>
          </a:solidFill>
          <a:ln/>
        </p:spPr>
      </p:sp>
      <p:sp>
        <p:nvSpPr>
          <p:cNvPr id="11" name="Text 8"/>
          <p:cNvSpPr/>
          <p:nvPr/>
        </p:nvSpPr>
        <p:spPr>
          <a:xfrm>
            <a:off x="685800" y="1609344"/>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3.1</a:t>
            </a:r>
            <a:endParaRPr lang="en-US" sz="1000" dirty="0"/>
          </a:p>
        </p:txBody>
      </p:sp>
      <p:sp>
        <p:nvSpPr>
          <p:cNvPr id="12" name="Text 9"/>
          <p:cNvSpPr/>
          <p:nvPr/>
        </p:nvSpPr>
        <p:spPr>
          <a:xfrm>
            <a:off x="4352544" y="1609344"/>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LO3, LO5</a:t>
            </a:r>
            <a:endParaRPr lang="en-US" sz="900" dirty="0"/>
          </a:p>
        </p:txBody>
      </p:sp>
      <p:sp>
        <p:nvSpPr>
          <p:cNvPr id="13" name="Text 10"/>
          <p:cNvSpPr/>
          <p:nvPr/>
        </p:nvSpPr>
        <p:spPr>
          <a:xfrm>
            <a:off x="685800" y="1938528"/>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Prepare and version datasets for fine-tuning with honest, stratified splits</a:t>
            </a:r>
            <a:endParaRPr lang="en-US" sz="1200" dirty="0"/>
          </a:p>
        </p:txBody>
      </p:sp>
      <p:sp>
        <p:nvSpPr>
          <p:cNvPr id="14" name="Shape 11"/>
          <p:cNvSpPr/>
          <p:nvPr/>
        </p:nvSpPr>
        <p:spPr>
          <a:xfrm>
            <a:off x="6236208" y="1481328"/>
            <a:ext cx="5449824" cy="1389888"/>
          </a:xfrm>
          <a:prstGeom prst="roundRect">
            <a:avLst>
              <a:gd name="adj" fmla="val 3947"/>
            </a:avLst>
          </a:prstGeom>
          <a:solidFill>
            <a:srgbClr val="F2F6F8"/>
          </a:solidFill>
          <a:ln/>
        </p:spPr>
      </p:sp>
      <p:sp>
        <p:nvSpPr>
          <p:cNvPr id="15" name="Shape 12"/>
          <p:cNvSpPr/>
          <p:nvPr/>
        </p:nvSpPr>
        <p:spPr>
          <a:xfrm>
            <a:off x="6236208" y="1481328"/>
            <a:ext cx="64008" cy="1389888"/>
          </a:xfrm>
          <a:prstGeom prst="rect">
            <a:avLst/>
          </a:prstGeom>
          <a:solidFill>
            <a:srgbClr val="29ABE2"/>
          </a:solidFill>
          <a:ln/>
        </p:spPr>
      </p:sp>
      <p:sp>
        <p:nvSpPr>
          <p:cNvPr id="16" name="Shape 13"/>
          <p:cNvSpPr/>
          <p:nvPr/>
        </p:nvSpPr>
        <p:spPr>
          <a:xfrm>
            <a:off x="6419088" y="1609344"/>
            <a:ext cx="822960" cy="274320"/>
          </a:xfrm>
          <a:prstGeom prst="roundRect">
            <a:avLst>
              <a:gd name="adj" fmla="val 26667"/>
            </a:avLst>
          </a:prstGeom>
          <a:solidFill>
            <a:srgbClr val="1D2A5C"/>
          </a:solidFill>
          <a:ln/>
        </p:spPr>
      </p:sp>
      <p:sp>
        <p:nvSpPr>
          <p:cNvPr id="17" name="Text 14"/>
          <p:cNvSpPr/>
          <p:nvPr/>
        </p:nvSpPr>
        <p:spPr>
          <a:xfrm>
            <a:off x="6419088" y="1609344"/>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3.2</a:t>
            </a:r>
            <a:endParaRPr lang="en-US" sz="1000" dirty="0"/>
          </a:p>
        </p:txBody>
      </p:sp>
      <p:sp>
        <p:nvSpPr>
          <p:cNvPr id="18" name="Text 15"/>
          <p:cNvSpPr/>
          <p:nvPr/>
        </p:nvSpPr>
        <p:spPr>
          <a:xfrm>
            <a:off x="10085832" y="1609344"/>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LO3</a:t>
            </a:r>
            <a:endParaRPr lang="en-US" sz="900" dirty="0"/>
          </a:p>
        </p:txBody>
      </p:sp>
      <p:sp>
        <p:nvSpPr>
          <p:cNvPr id="19" name="Text 16"/>
          <p:cNvSpPr/>
          <p:nvPr/>
        </p:nvSpPr>
        <p:spPr>
          <a:xfrm>
            <a:off x="6419088" y="1938528"/>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Fine-tune an encoder for sequence classification and beat a TF-IDF baseline</a:t>
            </a:r>
            <a:endParaRPr lang="en-US" sz="1200" dirty="0"/>
          </a:p>
        </p:txBody>
      </p:sp>
      <p:sp>
        <p:nvSpPr>
          <p:cNvPr id="20" name="Shape 17"/>
          <p:cNvSpPr/>
          <p:nvPr/>
        </p:nvSpPr>
        <p:spPr>
          <a:xfrm>
            <a:off x="502920" y="3072384"/>
            <a:ext cx="5449824" cy="1389888"/>
          </a:xfrm>
          <a:prstGeom prst="roundRect">
            <a:avLst>
              <a:gd name="adj" fmla="val 3947"/>
            </a:avLst>
          </a:prstGeom>
          <a:solidFill>
            <a:srgbClr val="F2F6F8"/>
          </a:solidFill>
          <a:ln/>
        </p:spPr>
      </p:sp>
      <p:sp>
        <p:nvSpPr>
          <p:cNvPr id="21" name="Shape 18"/>
          <p:cNvSpPr/>
          <p:nvPr/>
        </p:nvSpPr>
        <p:spPr>
          <a:xfrm>
            <a:off x="502920" y="3072384"/>
            <a:ext cx="64008" cy="1389888"/>
          </a:xfrm>
          <a:prstGeom prst="rect">
            <a:avLst/>
          </a:prstGeom>
          <a:solidFill>
            <a:srgbClr val="F7941D"/>
          </a:solidFill>
          <a:ln/>
        </p:spPr>
      </p:sp>
      <p:sp>
        <p:nvSpPr>
          <p:cNvPr id="22" name="Shape 19"/>
          <p:cNvSpPr/>
          <p:nvPr/>
        </p:nvSpPr>
        <p:spPr>
          <a:xfrm>
            <a:off x="685800" y="3200400"/>
            <a:ext cx="822960" cy="274320"/>
          </a:xfrm>
          <a:prstGeom prst="roundRect">
            <a:avLst>
              <a:gd name="adj" fmla="val 26667"/>
            </a:avLst>
          </a:prstGeom>
          <a:solidFill>
            <a:srgbClr val="1D2A5C"/>
          </a:solidFill>
          <a:ln/>
        </p:spPr>
      </p:sp>
      <p:sp>
        <p:nvSpPr>
          <p:cNvPr id="23" name="Text 20"/>
          <p:cNvSpPr/>
          <p:nvPr/>
        </p:nvSpPr>
        <p:spPr>
          <a:xfrm>
            <a:off x="685800" y="32004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3.3</a:t>
            </a:r>
            <a:endParaRPr lang="en-US" sz="1000" dirty="0"/>
          </a:p>
        </p:txBody>
      </p:sp>
      <p:sp>
        <p:nvSpPr>
          <p:cNvPr id="24" name="Text 21"/>
          <p:cNvSpPr/>
          <p:nvPr/>
        </p:nvSpPr>
        <p:spPr>
          <a:xfrm>
            <a:off x="4352544" y="3200400"/>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LO3, LO1</a:t>
            </a:r>
            <a:endParaRPr lang="en-US" sz="900" dirty="0"/>
          </a:p>
        </p:txBody>
      </p:sp>
      <p:sp>
        <p:nvSpPr>
          <p:cNvPr id="25" name="Text 22"/>
          <p:cNvSpPr/>
          <p:nvPr/>
        </p:nvSpPr>
        <p:spPr>
          <a:xfrm>
            <a:off x="685800" y="3529584"/>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Implement subword label alignment and fine-tune token classification (NER)</a:t>
            </a:r>
            <a:endParaRPr lang="en-US" sz="1200" dirty="0"/>
          </a:p>
        </p:txBody>
      </p:sp>
      <p:sp>
        <p:nvSpPr>
          <p:cNvPr id="26" name="Shape 23"/>
          <p:cNvSpPr/>
          <p:nvPr/>
        </p:nvSpPr>
        <p:spPr>
          <a:xfrm>
            <a:off x="6236208" y="3072384"/>
            <a:ext cx="5449824" cy="1389888"/>
          </a:xfrm>
          <a:prstGeom prst="roundRect">
            <a:avLst>
              <a:gd name="adj" fmla="val 3947"/>
            </a:avLst>
          </a:prstGeom>
          <a:solidFill>
            <a:srgbClr val="F2F6F8"/>
          </a:solidFill>
          <a:ln/>
        </p:spPr>
      </p:sp>
      <p:sp>
        <p:nvSpPr>
          <p:cNvPr id="27" name="Shape 24"/>
          <p:cNvSpPr/>
          <p:nvPr/>
        </p:nvSpPr>
        <p:spPr>
          <a:xfrm>
            <a:off x="6236208" y="3072384"/>
            <a:ext cx="64008" cy="1389888"/>
          </a:xfrm>
          <a:prstGeom prst="rect">
            <a:avLst/>
          </a:prstGeom>
          <a:solidFill>
            <a:srgbClr val="8CC63F"/>
          </a:solidFill>
          <a:ln/>
        </p:spPr>
      </p:sp>
      <p:sp>
        <p:nvSpPr>
          <p:cNvPr id="28" name="Shape 25"/>
          <p:cNvSpPr/>
          <p:nvPr/>
        </p:nvSpPr>
        <p:spPr>
          <a:xfrm>
            <a:off x="6419088" y="3200400"/>
            <a:ext cx="822960" cy="274320"/>
          </a:xfrm>
          <a:prstGeom prst="roundRect">
            <a:avLst>
              <a:gd name="adj" fmla="val 26667"/>
            </a:avLst>
          </a:prstGeom>
          <a:solidFill>
            <a:srgbClr val="1D2A5C"/>
          </a:solidFill>
          <a:ln/>
        </p:spPr>
      </p:sp>
      <p:sp>
        <p:nvSpPr>
          <p:cNvPr id="29" name="Text 26"/>
          <p:cNvSpPr/>
          <p:nvPr/>
        </p:nvSpPr>
        <p:spPr>
          <a:xfrm>
            <a:off x="6419088" y="32004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3.4</a:t>
            </a:r>
            <a:endParaRPr lang="en-US" sz="1000" dirty="0"/>
          </a:p>
        </p:txBody>
      </p:sp>
      <p:sp>
        <p:nvSpPr>
          <p:cNvPr id="30" name="Text 27"/>
          <p:cNvSpPr/>
          <p:nvPr/>
        </p:nvSpPr>
        <p:spPr>
          <a:xfrm>
            <a:off x="10085832" y="3200400"/>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LO3</a:t>
            </a:r>
            <a:endParaRPr lang="en-US" sz="900" dirty="0"/>
          </a:p>
        </p:txBody>
      </p:sp>
      <p:sp>
        <p:nvSpPr>
          <p:cNvPr id="31" name="Text 28"/>
          <p:cNvSpPr/>
          <p:nvPr/>
        </p:nvSpPr>
        <p:spPr>
          <a:xfrm>
            <a:off x="6419088" y="3529584"/>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Fine-tune and post-process extractive QA with span scoring</a:t>
            </a:r>
            <a:endParaRPr lang="en-US" sz="1200" dirty="0"/>
          </a:p>
        </p:txBody>
      </p:sp>
      <p:sp>
        <p:nvSpPr>
          <p:cNvPr id="32" name="Shape 29"/>
          <p:cNvSpPr/>
          <p:nvPr/>
        </p:nvSpPr>
        <p:spPr>
          <a:xfrm>
            <a:off x="502920" y="4663440"/>
            <a:ext cx="5449824" cy="1389888"/>
          </a:xfrm>
          <a:prstGeom prst="roundRect">
            <a:avLst>
              <a:gd name="adj" fmla="val 3947"/>
            </a:avLst>
          </a:prstGeom>
          <a:solidFill>
            <a:srgbClr val="F2F6F8"/>
          </a:solidFill>
          <a:ln/>
        </p:spPr>
      </p:sp>
      <p:sp>
        <p:nvSpPr>
          <p:cNvPr id="33" name="Shape 30"/>
          <p:cNvSpPr/>
          <p:nvPr/>
        </p:nvSpPr>
        <p:spPr>
          <a:xfrm>
            <a:off x="502920" y="4663440"/>
            <a:ext cx="64008" cy="1389888"/>
          </a:xfrm>
          <a:prstGeom prst="rect">
            <a:avLst/>
          </a:prstGeom>
          <a:solidFill>
            <a:srgbClr val="00A79D"/>
          </a:solidFill>
          <a:ln/>
        </p:spPr>
      </p:sp>
      <p:sp>
        <p:nvSpPr>
          <p:cNvPr id="34" name="Shape 31"/>
          <p:cNvSpPr/>
          <p:nvPr/>
        </p:nvSpPr>
        <p:spPr>
          <a:xfrm>
            <a:off x="685800" y="4791456"/>
            <a:ext cx="822960" cy="274320"/>
          </a:xfrm>
          <a:prstGeom prst="roundRect">
            <a:avLst>
              <a:gd name="adj" fmla="val 26667"/>
            </a:avLst>
          </a:prstGeom>
          <a:solidFill>
            <a:srgbClr val="1D2A5C"/>
          </a:solidFill>
          <a:ln/>
        </p:spPr>
      </p:sp>
      <p:sp>
        <p:nvSpPr>
          <p:cNvPr id="35" name="Text 32"/>
          <p:cNvSpPr/>
          <p:nvPr/>
        </p:nvSpPr>
        <p:spPr>
          <a:xfrm>
            <a:off x="685800" y="4791456"/>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3.5</a:t>
            </a:r>
            <a:endParaRPr lang="en-US" sz="1000" dirty="0"/>
          </a:p>
        </p:txBody>
      </p:sp>
      <p:sp>
        <p:nvSpPr>
          <p:cNvPr id="36" name="Text 33"/>
          <p:cNvSpPr/>
          <p:nvPr/>
        </p:nvSpPr>
        <p:spPr>
          <a:xfrm>
            <a:off x="4352544" y="4791456"/>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LO3, LO5</a:t>
            </a:r>
            <a:endParaRPr lang="en-US" sz="900" dirty="0"/>
          </a:p>
        </p:txBody>
      </p:sp>
      <p:sp>
        <p:nvSpPr>
          <p:cNvPr id="37" name="Text 34"/>
          <p:cNvSpPr/>
          <p:nvPr/>
        </p:nvSpPr>
        <p:spPr>
          <a:xfrm>
            <a:off x="685800" y="5120640"/>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Diagnose fine-tuning pathologies: overfitting, collapse, leakage, seed variance</a:t>
            </a:r>
            <a:endParaRPr lang="en-US" sz="1200" dirty="0"/>
          </a:p>
        </p:txBody>
      </p:sp>
      <p:sp>
        <p:nvSpPr>
          <p:cNvPr id="38" name="Text 35"/>
          <p:cNvSpPr/>
          <p:nvPr/>
        </p:nvSpPr>
        <p:spPr>
          <a:xfrm>
            <a:off x="502920" y="6126480"/>
            <a:ext cx="11155680"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Labs 5 (search), 6 (evaluation) and 7 (optimisation) all consume today's artefacts.</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Transfer Learning Economics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اقتصاديات التعلّم بالنقل</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51</a:t>
            </a:r>
            <a:endParaRPr lang="en-US" sz="800" dirty="0"/>
          </a:p>
        </p:txBody>
      </p:sp>
      <p:sp>
        <p:nvSpPr>
          <p:cNvPr id="8" name="Shape 5"/>
          <p:cNvSpPr/>
          <p:nvPr/>
        </p:nvSpPr>
        <p:spPr>
          <a:xfrm>
            <a:off x="502920" y="1828800"/>
            <a:ext cx="2555748" cy="3017520"/>
          </a:xfrm>
          <a:prstGeom prst="roundRect">
            <a:avLst>
              <a:gd name="adj" fmla="val 2862"/>
            </a:avLst>
          </a:prstGeom>
          <a:solidFill>
            <a:srgbClr val="F2F6F8"/>
          </a:solidFill>
          <a:ln/>
        </p:spPr>
      </p:sp>
      <p:sp>
        <p:nvSpPr>
          <p:cNvPr id="9" name="Text 6"/>
          <p:cNvSpPr/>
          <p:nvPr/>
        </p:nvSpPr>
        <p:spPr>
          <a:xfrm>
            <a:off x="640080" y="2103120"/>
            <a:ext cx="2281428" cy="914400"/>
          </a:xfrm>
          <a:prstGeom prst="rect">
            <a:avLst/>
          </a:prstGeom>
          <a:noFill/>
          <a:ln/>
        </p:spPr>
        <p:txBody>
          <a:bodyPr wrap="square" lIns="0" tIns="0" rIns="0" bIns="0"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110M</a:t>
            </a:r>
            <a:endParaRPr lang="en-US" sz="4000" dirty="0"/>
          </a:p>
        </p:txBody>
      </p:sp>
      <p:sp>
        <p:nvSpPr>
          <p:cNvPr id="10" name="Text 7"/>
          <p:cNvSpPr/>
          <p:nvPr/>
        </p:nvSpPr>
        <p:spPr>
          <a:xfrm>
            <a:off x="640080"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parameters, BERT-base</a:t>
            </a:r>
            <a:endParaRPr lang="en-US" sz="1300" dirty="0"/>
          </a:p>
        </p:txBody>
      </p:sp>
      <p:sp>
        <p:nvSpPr>
          <p:cNvPr id="11" name="Text 8"/>
          <p:cNvSpPr/>
          <p:nvPr/>
        </p:nvSpPr>
        <p:spPr>
          <a:xfrm>
            <a:off x="667512"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Fine-tuned on 5k labelled examples, routinely beats zero-shot LLMs on domain classification</a:t>
            </a:r>
            <a:endParaRPr lang="en-US" sz="1000" dirty="0"/>
          </a:p>
        </p:txBody>
      </p:sp>
      <p:sp>
        <p:nvSpPr>
          <p:cNvPr id="12" name="Shape 9"/>
          <p:cNvSpPr/>
          <p:nvPr/>
        </p:nvSpPr>
        <p:spPr>
          <a:xfrm>
            <a:off x="3378708" y="1828800"/>
            <a:ext cx="2555748" cy="3017520"/>
          </a:xfrm>
          <a:prstGeom prst="roundRect">
            <a:avLst>
              <a:gd name="adj" fmla="val 2862"/>
            </a:avLst>
          </a:prstGeom>
          <a:solidFill>
            <a:srgbClr val="F2F6F8"/>
          </a:solidFill>
          <a:ln/>
        </p:spPr>
      </p:sp>
      <p:sp>
        <p:nvSpPr>
          <p:cNvPr id="13" name="Text 10"/>
          <p:cNvSpPr/>
          <p:nvPr/>
        </p:nvSpPr>
        <p:spPr>
          <a:xfrm>
            <a:off x="3515868" y="2103120"/>
            <a:ext cx="2281428" cy="914400"/>
          </a:xfrm>
          <a:prstGeom prst="rect">
            <a:avLst/>
          </a:prstGeom>
          <a:noFill/>
          <a:ln/>
        </p:spPr>
        <p:txBody>
          <a:bodyPr wrap="square" lIns="0" tIns="0" rIns="0" bIns="0" rtlCol="0" anchor="ctr"/>
          <a:lstStyle/>
          <a:p>
            <a:pPr algn="ctr" indent="0" marL="0">
              <a:buNone/>
            </a:pPr>
            <a:r>
              <a:rPr lang="en-US" sz="4000" b="1" dirty="0">
                <a:solidFill>
                  <a:srgbClr val="29ABE2"/>
                </a:solidFill>
                <a:latin typeface="Calibri" pitchFamily="34" charset="0"/>
                <a:ea typeface="Calibri" pitchFamily="34" charset="-122"/>
                <a:cs typeface="Calibri" pitchFamily="34" charset="-120"/>
              </a:rPr>
              <a:t>10–100×</a:t>
            </a:r>
            <a:endParaRPr lang="en-US" sz="4000" dirty="0"/>
          </a:p>
        </p:txBody>
      </p:sp>
      <p:sp>
        <p:nvSpPr>
          <p:cNvPr id="14" name="Text 11"/>
          <p:cNvSpPr/>
          <p:nvPr/>
        </p:nvSpPr>
        <p:spPr>
          <a:xfrm>
            <a:off x="3515868"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lower serving cost</a:t>
            </a:r>
            <a:endParaRPr lang="en-US" sz="1300" dirty="0"/>
          </a:p>
        </p:txBody>
      </p:sp>
      <p:sp>
        <p:nvSpPr>
          <p:cNvPr id="15" name="Text 12"/>
          <p:cNvSpPr/>
          <p:nvPr/>
        </p:nvSpPr>
        <p:spPr>
          <a:xfrm>
            <a:off x="3543300"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vs zero-shot LLM calls — the economics that make national-scale text services affordable</a:t>
            </a:r>
            <a:endParaRPr lang="en-US" sz="1000" dirty="0"/>
          </a:p>
        </p:txBody>
      </p:sp>
      <p:sp>
        <p:nvSpPr>
          <p:cNvPr id="16" name="Shape 13"/>
          <p:cNvSpPr/>
          <p:nvPr/>
        </p:nvSpPr>
        <p:spPr>
          <a:xfrm>
            <a:off x="6254496" y="1828800"/>
            <a:ext cx="2555748" cy="3017520"/>
          </a:xfrm>
          <a:prstGeom prst="roundRect">
            <a:avLst>
              <a:gd name="adj" fmla="val 2862"/>
            </a:avLst>
          </a:prstGeom>
          <a:solidFill>
            <a:srgbClr val="F2F6F8"/>
          </a:solidFill>
          <a:ln/>
        </p:spPr>
      </p:sp>
      <p:sp>
        <p:nvSpPr>
          <p:cNvPr id="17" name="Text 14"/>
          <p:cNvSpPr/>
          <p:nvPr/>
        </p:nvSpPr>
        <p:spPr>
          <a:xfrm>
            <a:off x="6391656" y="2103120"/>
            <a:ext cx="2281428" cy="914400"/>
          </a:xfrm>
          <a:prstGeom prst="rect">
            <a:avLst/>
          </a:prstGeom>
          <a:noFill/>
          <a:ln/>
        </p:spPr>
        <p:txBody>
          <a:bodyPr wrap="square" lIns="0" tIns="0" rIns="0" bIns="0" rtlCol="0" anchor="ctr"/>
          <a:lstStyle/>
          <a:p>
            <a:pPr algn="ctr" indent="0" marL="0">
              <a:buNone/>
            </a:pPr>
            <a:r>
              <a:rPr lang="en-US" sz="4000" b="1" dirty="0">
                <a:solidFill>
                  <a:srgbClr val="F7941D"/>
                </a:solidFill>
                <a:latin typeface="Calibri" pitchFamily="34" charset="0"/>
                <a:ea typeface="Calibri" pitchFamily="34" charset="-122"/>
                <a:cs typeface="Calibri" pitchFamily="34" charset="-120"/>
              </a:rPr>
              <a:t>~8 min</a:t>
            </a:r>
            <a:endParaRPr lang="en-US" sz="4000" dirty="0"/>
          </a:p>
        </p:txBody>
      </p:sp>
      <p:sp>
        <p:nvSpPr>
          <p:cNvPr id="18" name="Text 15"/>
          <p:cNvSpPr/>
          <p:nvPr/>
        </p:nvSpPr>
        <p:spPr>
          <a:xfrm>
            <a:off x="6391656"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fine-tune on a T4</a:t>
            </a:r>
            <a:endParaRPr lang="en-US" sz="1300" dirty="0"/>
          </a:p>
        </p:txBody>
      </p:sp>
      <p:sp>
        <p:nvSpPr>
          <p:cNvPr id="19" name="Text 16"/>
          <p:cNvSpPr/>
          <p:nvPr/>
        </p:nvSpPr>
        <p:spPr>
          <a:xfrm>
            <a:off x="6419088"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BERT-base on 5k examples. The expensive part is labelling, always.</a:t>
            </a:r>
            <a:endParaRPr lang="en-US" sz="1000" dirty="0"/>
          </a:p>
        </p:txBody>
      </p:sp>
      <p:sp>
        <p:nvSpPr>
          <p:cNvPr id="20" name="Shape 17"/>
          <p:cNvSpPr/>
          <p:nvPr/>
        </p:nvSpPr>
        <p:spPr>
          <a:xfrm>
            <a:off x="9130284" y="1828800"/>
            <a:ext cx="2555748" cy="3017520"/>
          </a:xfrm>
          <a:prstGeom prst="roundRect">
            <a:avLst>
              <a:gd name="adj" fmla="val 2862"/>
            </a:avLst>
          </a:prstGeom>
          <a:solidFill>
            <a:srgbClr val="F2F6F8"/>
          </a:solidFill>
          <a:ln/>
        </p:spPr>
      </p:sp>
      <p:sp>
        <p:nvSpPr>
          <p:cNvPr id="21" name="Text 18"/>
          <p:cNvSpPr/>
          <p:nvPr/>
        </p:nvSpPr>
        <p:spPr>
          <a:xfrm>
            <a:off x="9267444" y="2103120"/>
            <a:ext cx="2281428" cy="914400"/>
          </a:xfrm>
          <a:prstGeom prst="rect">
            <a:avLst/>
          </a:prstGeom>
          <a:noFill/>
          <a:ln/>
        </p:spPr>
        <p:txBody>
          <a:bodyPr wrap="square" lIns="0" tIns="0" rIns="0" bIns="0" rtlCol="0" anchor="ctr"/>
          <a:lstStyle/>
          <a:p>
            <a:pPr algn="ctr" indent="0" marL="0">
              <a:buNone/>
            </a:pPr>
            <a:r>
              <a:rPr lang="en-US" sz="4000" b="1" dirty="0">
                <a:solidFill>
                  <a:srgbClr val="8CC63F"/>
                </a:solidFill>
                <a:latin typeface="Calibri" pitchFamily="34" charset="0"/>
                <a:ea typeface="Calibri" pitchFamily="34" charset="-122"/>
                <a:cs typeface="Calibri" pitchFamily="34" charset="-120"/>
              </a:rPr>
              <a:t>±1–2</a:t>
            </a:r>
            <a:endParaRPr lang="en-US" sz="4000" dirty="0"/>
          </a:p>
        </p:txBody>
      </p:sp>
      <p:sp>
        <p:nvSpPr>
          <p:cNvPr id="22" name="Text 19"/>
          <p:cNvSpPr/>
          <p:nvPr/>
        </p:nvSpPr>
        <p:spPr>
          <a:xfrm>
            <a:off x="9267444"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F1 across seeds (3k rows)</a:t>
            </a:r>
            <a:endParaRPr lang="en-US" sz="1300" dirty="0"/>
          </a:p>
        </p:txBody>
      </p:sp>
      <p:sp>
        <p:nvSpPr>
          <p:cNvPr id="23" name="Text 20"/>
          <p:cNvSpPr/>
          <p:nvPr/>
        </p:nvSpPr>
        <p:spPr>
          <a:xfrm>
            <a:off x="9294876"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Any improvement smaller than the seed spread is noise — run 3 seeds before believing it</a:t>
            </a:r>
            <a:endParaRPr lang="en-US" sz="1000" dirty="0"/>
          </a:p>
        </p:txBody>
      </p:sp>
      <p:sp>
        <p:nvSpPr>
          <p:cNvPr id="24" name="Shape 21"/>
          <p:cNvSpPr/>
          <p:nvPr/>
        </p:nvSpPr>
        <p:spPr>
          <a:xfrm>
            <a:off x="502920" y="5212080"/>
            <a:ext cx="11183112" cy="868680"/>
          </a:xfrm>
          <a:prstGeom prst="roundRect">
            <a:avLst>
              <a:gd name="adj" fmla="val 8421"/>
            </a:avLst>
          </a:prstGeom>
          <a:solidFill>
            <a:srgbClr val="E6F5F4"/>
          </a:solidFill>
          <a:ln/>
        </p:spPr>
      </p:sp>
      <p:sp>
        <p:nvSpPr>
          <p:cNvPr id="25" name="Text 22"/>
          <p:cNvSpPr/>
          <p:nvPr/>
        </p:nvSpPr>
        <p:spPr>
          <a:xfrm>
            <a:off x="731520" y="5212080"/>
            <a:ext cx="10744200" cy="8686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READ THE NUMBERS   </a:t>
            </a:r>
            <a:pPr indent="0" marL="0">
              <a:buNone/>
            </a:pPr>
            <a:r>
              <a:rPr lang="en-US" sz="1150" dirty="0">
                <a:solidFill>
                  <a:srgbClr val="2B2B2B"/>
                </a:solidFill>
                <a:latin typeface="Calibri" pitchFamily="34" charset="0"/>
                <a:ea typeface="Calibri" pitchFamily="34" charset="-122"/>
                <a:cs typeface="Calibri" pitchFamily="34" charset="-120"/>
              </a:rPr>
              <a:t>Fine-tuned encoders remain the highest-accuracy-per-riyal option for fixed-schema enterprise NLP.</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Default Recipe That Works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الوصفة الافتراضية الناجحة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52</a:t>
            </a:r>
            <a:endParaRPr lang="en-US" sz="800" dirty="0"/>
          </a:p>
        </p:txBody>
      </p:sp>
      <p:sp>
        <p:nvSpPr>
          <p:cNvPr id="8" name="Shape 5"/>
          <p:cNvSpPr/>
          <p:nvPr/>
        </p:nvSpPr>
        <p:spPr>
          <a:xfrm>
            <a:off x="502920" y="1965960"/>
            <a:ext cx="1929384" cy="2377440"/>
          </a:xfrm>
          <a:prstGeom prst="roundRect">
            <a:avLst>
              <a:gd name="adj" fmla="val 2844"/>
            </a:avLst>
          </a:prstGeom>
          <a:solidFill>
            <a:srgbClr val="F2F6F8"/>
          </a:solidFill>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LR</a:t>
            </a:r>
            <a:endParaRPr lang="en-US" sz="1000" dirty="0"/>
          </a:p>
        </p:txBody>
      </p:sp>
      <p:sp>
        <p:nvSpPr>
          <p:cNvPr id="11" name="Text 8"/>
          <p:cNvSpPr/>
          <p:nvPr/>
        </p:nvSpPr>
        <p:spPr>
          <a:xfrm>
            <a:off x="640080"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2e-5 with AdamW</a:t>
            </a:r>
            <a:endParaRPr lang="en-US" sz="1500" dirty="0"/>
          </a:p>
        </p:txBody>
      </p:sp>
      <p:sp>
        <p:nvSpPr>
          <p:cNvPr id="12" name="Text 9"/>
          <p:cNvSpPr/>
          <p:nvPr/>
        </p:nvSpPr>
        <p:spPr>
          <a:xfrm>
            <a:off x="640080"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100× smaller than from-scratch. The pretrained weights are a good place — don't leave it fast.</a:t>
            </a:r>
            <a:endParaRPr lang="en-US" sz="10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2844"/>
            </a:avLst>
          </a:prstGeom>
          <a:solidFill>
            <a:srgbClr val="F2F6F8"/>
          </a:solidFill>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lIns="0" tIns="0" rIns="0" bIns="0" rtlCol="0" anchor="ctr"/>
          <a:lstStyle/>
          <a:p>
            <a:pPr indent="0" marL="0">
              <a:buNone/>
            </a:pPr>
            <a:r>
              <a:rPr lang="en-US" sz="1000" b="1" spc="150" kern="0" dirty="0">
                <a:solidFill>
                  <a:srgbClr val="29ABE2"/>
                </a:solidFill>
                <a:latin typeface="Calibri" pitchFamily="34" charset="0"/>
                <a:ea typeface="Calibri" pitchFamily="34" charset="-122"/>
                <a:cs typeface="Calibri" pitchFamily="34" charset="-120"/>
              </a:rPr>
              <a:t>WARMUP</a:t>
            </a:r>
            <a:endParaRPr lang="en-US" sz="1000" dirty="0"/>
          </a:p>
        </p:txBody>
      </p:sp>
      <p:sp>
        <p:nvSpPr>
          <p:cNvPr id="17" name="Text 14"/>
          <p:cNvSpPr/>
          <p:nvPr/>
        </p:nvSpPr>
        <p:spPr>
          <a:xfrm>
            <a:off x="2953512"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~10% of steps</a:t>
            </a:r>
            <a:endParaRPr lang="en-US" sz="1500" dirty="0"/>
          </a:p>
        </p:txBody>
      </p:sp>
      <p:sp>
        <p:nvSpPr>
          <p:cNvPr id="18" name="Text 15"/>
          <p:cNvSpPr/>
          <p:nvPr/>
        </p:nvSpPr>
        <p:spPr>
          <a:xfrm>
            <a:off x="2953512"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Linear warmup, then linear decay to zero.</a:t>
            </a:r>
            <a:endParaRPr lang="en-US" sz="10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2844"/>
            </a:avLst>
          </a:prstGeom>
          <a:solidFill>
            <a:srgbClr val="F2F6F8"/>
          </a:solidFill>
          <a:ln/>
        </p:spPr>
      </p:sp>
      <p:sp>
        <p:nvSpPr>
          <p:cNvPr id="21" name="Shape 18"/>
          <p:cNvSpPr/>
          <p:nvPr/>
        </p:nvSpPr>
        <p:spPr>
          <a:xfrm>
            <a:off x="5129784" y="1965960"/>
            <a:ext cx="1929384" cy="82296"/>
          </a:xfrm>
          <a:prstGeom prst="rect">
            <a:avLst/>
          </a:prstGeom>
          <a:solidFill>
            <a:srgbClr val="F7941D"/>
          </a:solidFill>
          <a:ln/>
        </p:spPr>
      </p:sp>
      <p:sp>
        <p:nvSpPr>
          <p:cNvPr id="22" name="Text 19"/>
          <p:cNvSpPr/>
          <p:nvPr/>
        </p:nvSpPr>
        <p:spPr>
          <a:xfrm>
            <a:off x="5266944" y="2148840"/>
            <a:ext cx="1655064" cy="237744"/>
          </a:xfrm>
          <a:prstGeom prst="rect">
            <a:avLst/>
          </a:prstGeom>
          <a:noFill/>
          <a:ln/>
        </p:spPr>
        <p:txBody>
          <a:bodyPr wrap="square" lIns="0" tIns="0" rIns="0" bIns="0" rtlCol="0" anchor="ctr"/>
          <a:lstStyle/>
          <a:p>
            <a:pPr indent="0" marL="0">
              <a:buNone/>
            </a:pPr>
            <a:r>
              <a:rPr lang="en-US" sz="1000" b="1" spc="150" kern="0" dirty="0">
                <a:solidFill>
                  <a:srgbClr val="F7941D"/>
                </a:solidFill>
                <a:latin typeface="Calibri" pitchFamily="34" charset="0"/>
                <a:ea typeface="Calibri" pitchFamily="34" charset="-122"/>
                <a:cs typeface="Calibri" pitchFamily="34" charset="-120"/>
              </a:rPr>
              <a:t>BATCH</a:t>
            </a:r>
            <a:endParaRPr lang="en-US" sz="1000" dirty="0"/>
          </a:p>
        </p:txBody>
      </p:sp>
      <p:sp>
        <p:nvSpPr>
          <p:cNvPr id="23" name="Text 20"/>
          <p:cNvSpPr/>
          <p:nvPr/>
        </p:nvSpPr>
        <p:spPr>
          <a:xfrm>
            <a:off x="5266944"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16–32, dynamic</a:t>
            </a:r>
            <a:endParaRPr lang="en-US" sz="1500" dirty="0"/>
          </a:p>
        </p:txBody>
      </p:sp>
      <p:sp>
        <p:nvSpPr>
          <p:cNvPr id="24" name="Text 21"/>
          <p:cNvSpPr/>
          <p:nvPr/>
        </p:nvSpPr>
        <p:spPr>
          <a:xfrm>
            <a:off x="5266944"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Pad per batch via DataCollatorWithPadding: 3–5× throughput on short-text corpora like Bayan.</a:t>
            </a:r>
            <a:endParaRPr lang="en-US" sz="10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2844"/>
            </a:avLst>
          </a:prstGeom>
          <a:solidFill>
            <a:srgbClr val="F2F6F8"/>
          </a:solidFill>
          <a:ln/>
        </p:spPr>
      </p:sp>
      <p:sp>
        <p:nvSpPr>
          <p:cNvPr id="27" name="Shape 24"/>
          <p:cNvSpPr/>
          <p:nvPr/>
        </p:nvSpPr>
        <p:spPr>
          <a:xfrm>
            <a:off x="7443216" y="1965960"/>
            <a:ext cx="1929384" cy="82296"/>
          </a:xfrm>
          <a:prstGeom prst="rect">
            <a:avLst/>
          </a:prstGeom>
          <a:solidFill>
            <a:srgbClr val="8CC63F"/>
          </a:solidFill>
          <a:ln/>
        </p:spPr>
      </p:sp>
      <p:sp>
        <p:nvSpPr>
          <p:cNvPr id="28" name="Text 25"/>
          <p:cNvSpPr/>
          <p:nvPr/>
        </p:nvSpPr>
        <p:spPr>
          <a:xfrm>
            <a:off x="7580376" y="2148840"/>
            <a:ext cx="1655064" cy="237744"/>
          </a:xfrm>
          <a:prstGeom prst="rect">
            <a:avLst/>
          </a:prstGeom>
          <a:noFill/>
          <a:ln/>
        </p:spPr>
        <p:txBody>
          <a:bodyPr wrap="square" lIns="0" tIns="0" rIns="0" bIns="0" rtlCol="0" anchor="ctr"/>
          <a:lstStyle/>
          <a:p>
            <a:pPr indent="0" marL="0">
              <a:buNone/>
            </a:pPr>
            <a:r>
              <a:rPr lang="en-US" sz="1000" b="1" spc="150" kern="0" dirty="0">
                <a:solidFill>
                  <a:srgbClr val="8CC63F"/>
                </a:solidFill>
                <a:latin typeface="Calibri" pitchFamily="34" charset="0"/>
                <a:ea typeface="Calibri" pitchFamily="34" charset="-122"/>
                <a:cs typeface="Calibri" pitchFamily="34" charset="-120"/>
              </a:rPr>
              <a:t>EPOCHS</a:t>
            </a:r>
            <a:endParaRPr lang="en-US" sz="1000" dirty="0"/>
          </a:p>
        </p:txBody>
      </p:sp>
      <p:sp>
        <p:nvSpPr>
          <p:cNvPr id="29" name="Text 26"/>
          <p:cNvSpPr/>
          <p:nvPr/>
        </p:nvSpPr>
        <p:spPr>
          <a:xfrm>
            <a:off x="7580376"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2–4, no more</a:t>
            </a:r>
            <a:endParaRPr lang="en-US" sz="1500" dirty="0"/>
          </a:p>
        </p:txBody>
      </p:sp>
      <p:sp>
        <p:nvSpPr>
          <p:cNvPr id="30" name="Text 27"/>
          <p:cNvSpPr/>
          <p:nvPr/>
        </p:nvSpPr>
        <p:spPr>
          <a:xfrm>
            <a:off x="7580376"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Small data memorises fast — the validation curve is the truth, not the training curve.</a:t>
            </a:r>
            <a:endParaRPr lang="en-US" sz="10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2844"/>
            </a:avLst>
          </a:prstGeom>
          <a:solidFill>
            <a:srgbClr val="F2F6F8"/>
          </a:solidFill>
          <a:ln/>
        </p:spPr>
      </p:sp>
      <p:sp>
        <p:nvSpPr>
          <p:cNvPr id="33" name="Shape 30"/>
          <p:cNvSpPr/>
          <p:nvPr/>
        </p:nvSpPr>
        <p:spPr>
          <a:xfrm>
            <a:off x="9756648" y="1965960"/>
            <a:ext cx="1929384" cy="82296"/>
          </a:xfrm>
          <a:prstGeom prst="rect">
            <a:avLst/>
          </a:prstGeom>
          <a:solidFill>
            <a:srgbClr val="00A79D"/>
          </a:solidFill>
          <a:ln/>
        </p:spPr>
      </p:sp>
      <p:sp>
        <p:nvSpPr>
          <p:cNvPr id="34" name="Text 31"/>
          <p:cNvSpPr/>
          <p:nvPr/>
        </p:nvSpPr>
        <p:spPr>
          <a:xfrm>
            <a:off x="9893808"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STOP</a:t>
            </a:r>
            <a:endParaRPr lang="en-US" sz="1000" dirty="0"/>
          </a:p>
        </p:txBody>
      </p:sp>
      <p:sp>
        <p:nvSpPr>
          <p:cNvPr id="35" name="Text 32"/>
          <p:cNvSpPr/>
          <p:nvPr/>
        </p:nvSpPr>
        <p:spPr>
          <a:xfrm>
            <a:off x="9893808"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Early stopping</a:t>
            </a:r>
            <a:endParaRPr lang="en-US" sz="1500" dirty="0"/>
          </a:p>
        </p:txBody>
      </p:sp>
      <p:sp>
        <p:nvSpPr>
          <p:cNvPr id="36" name="Text 33"/>
          <p:cNvSpPr/>
          <p:nvPr/>
        </p:nvSpPr>
        <p:spPr>
          <a:xfrm>
            <a:off x="9893808"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On the validation metric, with load_best_model_at_end — keep the best epoch, not the last.</a:t>
            </a:r>
            <a:endParaRPr lang="en-US" sz="1050" dirty="0"/>
          </a:p>
        </p:txBody>
      </p:sp>
      <p:sp>
        <p:nvSpPr>
          <p:cNvPr id="37" name="Shape 34"/>
          <p:cNvSpPr/>
          <p:nvPr/>
        </p:nvSpPr>
        <p:spPr>
          <a:xfrm>
            <a:off x="502920" y="4892040"/>
            <a:ext cx="11183112" cy="1051560"/>
          </a:xfrm>
          <a:prstGeom prst="roundRect">
            <a:avLst>
              <a:gd name="adj" fmla="val 6957"/>
            </a:avLst>
          </a:prstGeom>
          <a:solidFill>
            <a:srgbClr val="E6F5F4"/>
          </a:solidFill>
          <a:ln/>
        </p:spPr>
      </p:sp>
      <p:sp>
        <p:nvSpPr>
          <p:cNvPr id="38" name="Text 35"/>
          <p:cNvSpPr/>
          <p:nvPr/>
        </p:nvSpPr>
        <p:spPr>
          <a:xfrm>
            <a:off x="731520" y="4892040"/>
            <a:ext cx="10789920" cy="105156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200" dirty="0">
                <a:solidFill>
                  <a:srgbClr val="2B2B2B"/>
                </a:solidFill>
                <a:latin typeface="Calibri" pitchFamily="34" charset="0"/>
                <a:ea typeface="Calibri" pitchFamily="34" charset="-122"/>
                <a:cs typeface="Calibri" pitchFamily="34" charset="-120"/>
              </a:rPr>
              <a:t>Why each default exists: LR too high → catastrophic forgetting; too many epochs → memorisation. With ≥1k examples on BERT-base, this recipe is rarely beaten — spend effort on data quality instead.</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Full Fine-tuning vs LoRA / PEFT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الضبط الكامل مقابل LoRA / PEFT</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53</a:t>
            </a:r>
            <a:endParaRPr lang="en-US" sz="800" dirty="0"/>
          </a:p>
        </p:txBody>
      </p:sp>
      <p:sp>
        <p:nvSpPr>
          <p:cNvPr id="8" name="Shape 5"/>
          <p:cNvSpPr/>
          <p:nvPr/>
        </p:nvSpPr>
        <p:spPr>
          <a:xfrm>
            <a:off x="502920" y="1517904"/>
            <a:ext cx="5477256" cy="3977640"/>
          </a:xfrm>
          <a:prstGeom prst="roundRect">
            <a:avLst>
              <a:gd name="adj" fmla="val 1839"/>
            </a:avLst>
          </a:prstGeom>
          <a:solidFill>
            <a:srgbClr val="F2F6F8"/>
          </a:solidFill>
          <a:ln/>
        </p:spPr>
      </p:sp>
      <p:sp>
        <p:nvSpPr>
          <p:cNvPr id="9" name="Shape 6"/>
          <p:cNvSpPr/>
          <p:nvPr/>
        </p:nvSpPr>
        <p:spPr>
          <a:xfrm>
            <a:off x="502920" y="1517904"/>
            <a:ext cx="5477256" cy="502920"/>
          </a:xfrm>
          <a:prstGeom prst="roundRect">
            <a:avLst>
              <a:gd name="adj" fmla="val 14545"/>
            </a:avLst>
          </a:prstGeom>
          <a:solidFill>
            <a:srgbClr val="00A79D"/>
          </a:solidFill>
          <a:ln/>
        </p:spPr>
      </p:sp>
      <p:sp>
        <p:nvSpPr>
          <p:cNvPr id="10" name="Text 7"/>
          <p:cNvSpPr/>
          <p:nvPr/>
        </p:nvSpPr>
        <p:spPr>
          <a:xfrm>
            <a:off x="704088" y="1517904"/>
            <a:ext cx="507492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Full fine-tuning (today's default)</a:t>
            </a:r>
            <a:endParaRPr lang="en-US" sz="1450" dirty="0"/>
          </a:p>
        </p:txBody>
      </p:sp>
      <p:sp>
        <p:nvSpPr>
          <p:cNvPr id="11" name="Text 8"/>
          <p:cNvSpPr/>
          <p:nvPr/>
        </p:nvSpPr>
        <p:spPr>
          <a:xfrm>
            <a:off x="731520" y="2176272"/>
            <a:ext cx="5020056" cy="3154680"/>
          </a:xfrm>
          <a:prstGeom prst="rect">
            <a:avLst/>
          </a:prstGeom>
          <a:noFill/>
          <a:ln/>
        </p:spPr>
        <p:txBody>
          <a:bodyPr wrap="square" lIns="0" tIns="0" rIns="0" bIns="0" rtlCol="0" anchor="t"/>
          <a:lstStyle/>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Updates all weights plus a small task head</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Hundreds-to-thousands of labelled examples suffice</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On BERT-base with ≥1k examples: rarely beaten</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Risk: LR too high destroys pretrained structure</a:t>
            </a:r>
            <a:endParaRPr lang="en-US" sz="1150" dirty="0"/>
          </a:p>
        </p:txBody>
      </p:sp>
      <p:sp>
        <p:nvSpPr>
          <p:cNvPr id="12" name="Shape 9"/>
          <p:cNvSpPr/>
          <p:nvPr/>
        </p:nvSpPr>
        <p:spPr>
          <a:xfrm>
            <a:off x="6208776" y="1517904"/>
            <a:ext cx="5477256" cy="3977640"/>
          </a:xfrm>
          <a:prstGeom prst="roundRect">
            <a:avLst>
              <a:gd name="adj" fmla="val 1839"/>
            </a:avLst>
          </a:prstGeom>
          <a:solidFill>
            <a:srgbClr val="F2F6F8"/>
          </a:solidFill>
          <a:ln/>
        </p:spPr>
      </p:sp>
      <p:sp>
        <p:nvSpPr>
          <p:cNvPr id="13" name="Shape 10"/>
          <p:cNvSpPr/>
          <p:nvPr/>
        </p:nvSpPr>
        <p:spPr>
          <a:xfrm>
            <a:off x="6208776" y="1517904"/>
            <a:ext cx="5477256" cy="502920"/>
          </a:xfrm>
          <a:prstGeom prst="roundRect">
            <a:avLst>
              <a:gd name="adj" fmla="val 14545"/>
            </a:avLst>
          </a:prstGeom>
          <a:solidFill>
            <a:srgbClr val="F7941D"/>
          </a:solidFill>
          <a:ln/>
        </p:spPr>
      </p:sp>
      <p:sp>
        <p:nvSpPr>
          <p:cNvPr id="14" name="Text 11"/>
          <p:cNvSpPr/>
          <p:nvPr/>
        </p:nvSpPr>
        <p:spPr>
          <a:xfrm>
            <a:off x="6409944" y="1517904"/>
            <a:ext cx="507492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LoRA / PEFT adapters</a:t>
            </a:r>
            <a:endParaRPr lang="en-US" sz="1450" dirty="0"/>
          </a:p>
        </p:txBody>
      </p:sp>
      <p:sp>
        <p:nvSpPr>
          <p:cNvPr id="15" name="Text 12"/>
          <p:cNvSpPr/>
          <p:nvPr/>
        </p:nvSpPr>
        <p:spPr>
          <a:xfrm>
            <a:off x="6437376" y="2176272"/>
            <a:ext cx="5020056" cy="3154680"/>
          </a:xfrm>
          <a:prstGeom prst="rect">
            <a:avLst/>
          </a:prstGeom>
          <a:noFill/>
          <a:ln/>
        </p:spPr>
        <p:txBody>
          <a:bodyPr wrap="square" lIns="0" tIns="0" rIns="0" bIns="0" rtlCol="0" anchor="t"/>
          <a:lstStyle/>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Freeze the base, train low-rank deltas</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Matters when models are large</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Or when many tasks must share one base encoder</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Concept here — practised at scale in AIE-215</a:t>
            </a:r>
            <a:endParaRPr lang="en-US" sz="1150" dirty="0"/>
          </a:p>
        </p:txBody>
      </p:sp>
      <p:sp>
        <p:nvSpPr>
          <p:cNvPr id="16" name="Shape 13"/>
          <p:cNvSpPr/>
          <p:nvPr/>
        </p:nvSpPr>
        <p:spPr>
          <a:xfrm>
            <a:off x="502920" y="5650992"/>
            <a:ext cx="11183112" cy="658368"/>
          </a:xfrm>
          <a:prstGeom prst="roundRect">
            <a:avLst>
              <a:gd name="adj" fmla="val 11111"/>
            </a:avLst>
          </a:prstGeom>
          <a:solidFill>
            <a:srgbClr val="E6F5F4"/>
          </a:solidFill>
          <a:ln/>
        </p:spPr>
      </p:sp>
      <p:sp>
        <p:nvSpPr>
          <p:cNvPr id="17" name="Text 14"/>
          <p:cNvSpPr/>
          <p:nvPr/>
        </p:nvSpPr>
        <p:spPr>
          <a:xfrm>
            <a:off x="731520" y="5650992"/>
            <a:ext cx="10744200" cy="65836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ENGINEERING CALL   </a:t>
            </a:r>
            <a:pPr indent="0" marL="0">
              <a:buNone/>
            </a:pPr>
            <a:r>
              <a:rPr lang="en-US" sz="1150" dirty="0">
                <a:solidFill>
                  <a:srgbClr val="2B2B2B"/>
                </a:solidFill>
                <a:latin typeface="Calibri" pitchFamily="34" charset="0"/>
                <a:ea typeface="Calibri" pitchFamily="34" charset="-122"/>
                <a:cs typeface="Calibri" pitchFamily="34" charset="-120"/>
              </a:rPr>
              <a:t>At BERT-base scale the default full fine-tune wins — spend the saved effort on data quality instead.</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Three Task Heads, One Encoder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ثلاثة رؤوس مهام ومشفّر واحد</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54</a:t>
            </a:r>
            <a:endParaRPr lang="en-US" sz="800" dirty="0"/>
          </a:p>
        </p:txBody>
      </p:sp>
      <p:sp>
        <p:nvSpPr>
          <p:cNvPr id="8" name="Shape 5"/>
          <p:cNvSpPr/>
          <p:nvPr/>
        </p:nvSpPr>
        <p:spPr>
          <a:xfrm>
            <a:off x="502920" y="1554480"/>
            <a:ext cx="6949440" cy="1514856"/>
          </a:xfrm>
          <a:prstGeom prst="roundRect">
            <a:avLst>
              <a:gd name="adj" fmla="val 3622"/>
            </a:avLst>
          </a:prstGeom>
          <a:solidFill>
            <a:srgbClr val="E6F5F4"/>
          </a:solidFill>
          <a:ln w="9525">
            <a:solidFill>
              <a:srgbClr val="00A79D"/>
            </a:solidFill>
            <a:prstDash val="solid"/>
          </a:ln>
        </p:spPr>
      </p:sp>
      <p:sp>
        <p:nvSpPr>
          <p:cNvPr id="9" name="Text 6"/>
          <p:cNvSpPr/>
          <p:nvPr/>
        </p:nvSpPr>
        <p:spPr>
          <a:xfrm>
            <a:off x="731520" y="1627632"/>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Sequence classification — dropout + linear over [CLS]</a:t>
            </a:r>
            <a:endParaRPr lang="en-US" sz="1350" dirty="0"/>
          </a:p>
        </p:txBody>
      </p:sp>
      <p:sp>
        <p:nvSpPr>
          <p:cNvPr id="10" name="Text 7"/>
          <p:cNvSpPr/>
          <p:nvPr/>
        </p:nvSpPr>
        <p:spPr>
          <a:xfrm>
            <a:off x="731520" y="1920240"/>
            <a:ext cx="6492240" cy="1057656"/>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AutoModelForSequenceClassification; cross-entropy loss arrives free. Bayan topic + sentiment.</a:t>
            </a:r>
            <a:endParaRPr lang="en-US" sz="1050" dirty="0"/>
          </a:p>
        </p:txBody>
      </p:sp>
      <p:sp>
        <p:nvSpPr>
          <p:cNvPr id="11" name="Shape 8"/>
          <p:cNvSpPr/>
          <p:nvPr/>
        </p:nvSpPr>
        <p:spPr>
          <a:xfrm>
            <a:off x="502920" y="3197352"/>
            <a:ext cx="6949440" cy="1514856"/>
          </a:xfrm>
          <a:prstGeom prst="roundRect">
            <a:avLst>
              <a:gd name="adj" fmla="val 3622"/>
            </a:avLst>
          </a:prstGeom>
          <a:solidFill>
            <a:srgbClr val="EAF6FC"/>
          </a:solidFill>
          <a:ln w="9525">
            <a:solidFill>
              <a:srgbClr val="29ABE2"/>
            </a:solidFill>
            <a:prstDash val="solid"/>
          </a:ln>
        </p:spPr>
      </p:sp>
      <p:sp>
        <p:nvSpPr>
          <p:cNvPr id="12" name="Text 9"/>
          <p:cNvSpPr/>
          <p:nvPr/>
        </p:nvSpPr>
        <p:spPr>
          <a:xfrm>
            <a:off x="731520" y="3270504"/>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Token classification — one BIO tag per token</a:t>
            </a:r>
            <a:endParaRPr lang="en-US" sz="1350" dirty="0"/>
          </a:p>
        </p:txBody>
      </p:sp>
      <p:sp>
        <p:nvSpPr>
          <p:cNvPr id="13" name="Text 10"/>
          <p:cNvSpPr/>
          <p:nvPr/>
        </p:nvSpPr>
        <p:spPr>
          <a:xfrm>
            <a:off x="731520" y="3563112"/>
            <a:ext cx="6492240" cy="1057656"/>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Bayan entity schema, deliberately small and production-shaped: SERVICE, LOCATION, DATE, REF_NUM, ORG.</a:t>
            </a:r>
            <a:endParaRPr lang="en-US" sz="1050" dirty="0"/>
          </a:p>
        </p:txBody>
      </p:sp>
      <p:sp>
        <p:nvSpPr>
          <p:cNvPr id="14" name="Shape 11"/>
          <p:cNvSpPr/>
          <p:nvPr/>
        </p:nvSpPr>
        <p:spPr>
          <a:xfrm>
            <a:off x="502920" y="4840224"/>
            <a:ext cx="6949440" cy="1514856"/>
          </a:xfrm>
          <a:prstGeom prst="roundRect">
            <a:avLst>
              <a:gd name="adj" fmla="val 3622"/>
            </a:avLst>
          </a:prstGeom>
          <a:solidFill>
            <a:srgbClr val="FEF3E3"/>
          </a:solidFill>
          <a:ln w="9525">
            <a:solidFill>
              <a:srgbClr val="F7941D"/>
            </a:solidFill>
            <a:prstDash val="solid"/>
          </a:ln>
        </p:spPr>
      </p:sp>
      <p:sp>
        <p:nvSpPr>
          <p:cNvPr id="15" name="Text 12"/>
          <p:cNvSpPr/>
          <p:nvPr/>
        </p:nvSpPr>
        <p:spPr>
          <a:xfrm>
            <a:off x="731520" y="4913376"/>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Extractive QA — start/end span pointers</a:t>
            </a:r>
            <a:endParaRPr lang="en-US" sz="1350" dirty="0"/>
          </a:p>
        </p:txBody>
      </p:sp>
      <p:sp>
        <p:nvSpPr>
          <p:cNvPr id="16" name="Text 13"/>
          <p:cNvSpPr/>
          <p:nvPr/>
        </p:nvSpPr>
        <p:spPr>
          <a:xfrm>
            <a:off x="731520" y="5205984"/>
            <a:ext cx="6492240" cy="1057656"/>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Input [CLS] question [SEP] context [SEP]; two heads predict the answer span over context tokens.</a:t>
            </a:r>
            <a:endParaRPr lang="en-US" sz="1050" dirty="0"/>
          </a:p>
        </p:txBody>
      </p:sp>
      <p:sp>
        <p:nvSpPr>
          <p:cNvPr id="17" name="Shape 14"/>
          <p:cNvSpPr/>
          <p:nvPr/>
        </p:nvSpPr>
        <p:spPr>
          <a:xfrm>
            <a:off x="7726680" y="1554480"/>
            <a:ext cx="3959352" cy="4800600"/>
          </a:xfrm>
          <a:prstGeom prst="roundRect">
            <a:avLst>
              <a:gd name="adj" fmla="val 1848"/>
            </a:avLst>
          </a:prstGeom>
          <a:solidFill>
            <a:srgbClr val="1D2A5C"/>
          </a:solidFill>
          <a:ln/>
        </p:spPr>
      </p:sp>
      <p:sp>
        <p:nvSpPr>
          <p:cNvPr id="18" name="Text 15"/>
          <p:cNvSpPr/>
          <p:nvPr/>
        </p:nvSpPr>
        <p:spPr>
          <a:xfrm>
            <a:off x="7955280" y="1737360"/>
            <a:ext cx="3502152" cy="36576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Train a twig, rent a tree</a:t>
            </a:r>
            <a:endParaRPr lang="en-US" sz="1400" dirty="0"/>
          </a:p>
        </p:txBody>
      </p:sp>
      <p:sp>
        <p:nvSpPr>
          <p:cNvPr id="19" name="Text 16"/>
          <p:cNvSpPr/>
          <p:nvPr/>
        </p:nvSpPr>
        <p:spPr>
          <a:xfrm>
            <a:off x="7955280" y="2194560"/>
            <a:ext cx="3502152" cy="3977640"/>
          </a:xfrm>
          <a:prstGeom prst="rect">
            <a:avLst/>
          </a:prstGeom>
          <a:noFill/>
          <a:ln/>
        </p:spPr>
        <p:txBody>
          <a:bodyPr wrap="square" lIns="0" tIns="0" rIns="0" bIns="0" rtlCol="0" anchor="t"/>
          <a:lstStyle/>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One shared 12-layer trunk does the work</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Heads are tiny relative to the trunk</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Stretch branch: topic + sentiment as two heads on one encoder — halves serving cost</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Dataset and Split Discipline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انضباط البيانات والتقسيم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55</a:t>
            </a:r>
            <a:endParaRPr lang="en-US" sz="800" dirty="0"/>
          </a:p>
        </p:txBody>
      </p:sp>
      <p:sp>
        <p:nvSpPr>
          <p:cNvPr id="8" name="Shape 5"/>
          <p:cNvSpPr/>
          <p:nvPr/>
        </p:nvSpPr>
        <p:spPr>
          <a:xfrm>
            <a:off x="502920" y="1517904"/>
            <a:ext cx="5454396" cy="2286000"/>
          </a:xfrm>
          <a:prstGeom prst="roundRect">
            <a:avLst>
              <a:gd name="adj" fmla="val 2400"/>
            </a:avLst>
          </a:prstGeom>
          <a:solidFill>
            <a:srgbClr val="F2F6F8"/>
          </a:solidFill>
          <a:ln/>
        </p:spPr>
      </p:sp>
      <p:sp>
        <p:nvSpPr>
          <p:cNvPr id="9" name="Shape 6"/>
          <p:cNvSpPr/>
          <p:nvPr/>
        </p:nvSpPr>
        <p:spPr>
          <a:xfrm>
            <a:off x="502920" y="1517904"/>
            <a:ext cx="82296" cy="2286000"/>
          </a:xfrm>
          <a:prstGeom prst="rect">
            <a:avLst/>
          </a:prstGeom>
          <a:solidFill>
            <a:srgbClr val="00A79D"/>
          </a:solidFill>
          <a:ln/>
        </p:spPr>
      </p:sp>
      <p:sp>
        <p:nvSpPr>
          <p:cNvPr id="10" name="Text 7"/>
          <p:cNvSpPr/>
          <p:nvPr/>
        </p:nvSpPr>
        <p:spPr>
          <a:xfrm>
            <a:off x="722376" y="1636776"/>
            <a:ext cx="5042916"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SPLITS</a:t>
            </a:r>
            <a:endParaRPr lang="en-US" sz="950" dirty="0"/>
          </a:p>
        </p:txBody>
      </p:sp>
      <p:sp>
        <p:nvSpPr>
          <p:cNvPr id="11" name="Text 8"/>
          <p:cNvSpPr/>
          <p:nvPr/>
        </p:nvSpPr>
        <p:spPr>
          <a:xfrm>
            <a:off x="722376" y="188366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Grouped + stratified, first</a:t>
            </a:r>
            <a:endParaRPr lang="en-US" sz="1450" dirty="0"/>
          </a:p>
        </p:txBody>
      </p:sp>
      <p:sp>
        <p:nvSpPr>
          <p:cNvPr id="12" name="Text 9"/>
          <p:cNvSpPr/>
          <p:nvPr/>
        </p:nvSpPr>
        <p:spPr>
          <a:xfrm>
            <a:off x="722376" y="240487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Stratify by label AND group by citizen_id — near-duplicate complaints from one author must never straddle train/test. That is leakage.</a:t>
            </a:r>
            <a:endParaRPr lang="en-US" sz="1050" dirty="0"/>
          </a:p>
        </p:txBody>
      </p:sp>
      <p:sp>
        <p:nvSpPr>
          <p:cNvPr id="13" name="Shape 10"/>
          <p:cNvSpPr/>
          <p:nvPr/>
        </p:nvSpPr>
        <p:spPr>
          <a:xfrm>
            <a:off x="6231636" y="1517904"/>
            <a:ext cx="5454396" cy="2286000"/>
          </a:xfrm>
          <a:prstGeom prst="roundRect">
            <a:avLst>
              <a:gd name="adj" fmla="val 2400"/>
            </a:avLst>
          </a:prstGeom>
          <a:solidFill>
            <a:srgbClr val="F2F6F8"/>
          </a:solidFill>
          <a:ln/>
        </p:spPr>
      </p:sp>
      <p:sp>
        <p:nvSpPr>
          <p:cNvPr id="14" name="Shape 11"/>
          <p:cNvSpPr/>
          <p:nvPr/>
        </p:nvSpPr>
        <p:spPr>
          <a:xfrm>
            <a:off x="6231636" y="1517904"/>
            <a:ext cx="82296" cy="2286000"/>
          </a:xfrm>
          <a:prstGeom prst="rect">
            <a:avLst/>
          </a:prstGeom>
          <a:solidFill>
            <a:srgbClr val="29ABE2"/>
          </a:solidFill>
          <a:ln/>
        </p:spPr>
      </p:sp>
      <p:sp>
        <p:nvSpPr>
          <p:cNvPr id="15" name="Text 12"/>
          <p:cNvSpPr/>
          <p:nvPr/>
        </p:nvSpPr>
        <p:spPr>
          <a:xfrm>
            <a:off x="6451092" y="1636776"/>
            <a:ext cx="5042916"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FROZEN TEST</a:t>
            </a:r>
            <a:endParaRPr lang="en-US" sz="950" dirty="0"/>
          </a:p>
        </p:txBody>
      </p:sp>
      <p:sp>
        <p:nvSpPr>
          <p:cNvPr id="16" name="Text 13"/>
          <p:cNvSpPr/>
          <p:nvPr/>
        </p:nvSpPr>
        <p:spPr>
          <a:xfrm>
            <a:off x="6451092" y="188366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Read-only from day one</a:t>
            </a:r>
            <a:endParaRPr lang="en-US" sz="1450" dirty="0"/>
          </a:p>
        </p:txBody>
      </p:sp>
      <p:sp>
        <p:nvSpPr>
          <p:cNvPr id="17" name="Text 14"/>
          <p:cNvSpPr/>
          <p:nvPr/>
        </p:nvSpPr>
        <p:spPr>
          <a:xfrm>
            <a:off x="6451092" y="240487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Touched once, at the end, for the final report. 'Just one more look' is tuning-on-test — the inflation that dies on live traffic.</a:t>
            </a:r>
            <a:endParaRPr lang="en-US" sz="1050" dirty="0"/>
          </a:p>
        </p:txBody>
      </p:sp>
      <p:sp>
        <p:nvSpPr>
          <p:cNvPr id="18" name="Shape 15"/>
          <p:cNvSpPr/>
          <p:nvPr/>
        </p:nvSpPr>
        <p:spPr>
          <a:xfrm>
            <a:off x="502920" y="4078224"/>
            <a:ext cx="5454396" cy="2286000"/>
          </a:xfrm>
          <a:prstGeom prst="roundRect">
            <a:avLst>
              <a:gd name="adj" fmla="val 2400"/>
            </a:avLst>
          </a:prstGeom>
          <a:solidFill>
            <a:srgbClr val="F2F6F8"/>
          </a:solidFill>
          <a:ln/>
        </p:spPr>
      </p:sp>
      <p:sp>
        <p:nvSpPr>
          <p:cNvPr id="19" name="Shape 16"/>
          <p:cNvSpPr/>
          <p:nvPr/>
        </p:nvSpPr>
        <p:spPr>
          <a:xfrm>
            <a:off x="502920" y="4078224"/>
            <a:ext cx="82296" cy="2286000"/>
          </a:xfrm>
          <a:prstGeom prst="rect">
            <a:avLst/>
          </a:prstGeom>
          <a:solidFill>
            <a:srgbClr val="F7941D"/>
          </a:solidFill>
          <a:ln/>
        </p:spPr>
      </p:sp>
      <p:sp>
        <p:nvSpPr>
          <p:cNvPr id="20" name="Text 17"/>
          <p:cNvSpPr/>
          <p:nvPr/>
        </p:nvSpPr>
        <p:spPr>
          <a:xfrm>
            <a:off x="722376" y="4197096"/>
            <a:ext cx="5042916"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IMBALANCE</a:t>
            </a:r>
            <a:endParaRPr lang="en-US" sz="950" dirty="0"/>
          </a:p>
        </p:txBody>
      </p:sp>
      <p:sp>
        <p:nvSpPr>
          <p:cNvPr id="21" name="Text 18"/>
          <p:cNvSpPr/>
          <p:nvPr/>
        </p:nvSpPr>
        <p:spPr>
          <a:xfrm>
            <a:off x="722376" y="444398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Zipfian topics cannot hide</a:t>
            </a:r>
            <a:endParaRPr lang="en-US" sz="1450" dirty="0"/>
          </a:p>
        </p:txBody>
      </p:sp>
      <p:sp>
        <p:nvSpPr>
          <p:cNvPr id="22" name="Text 19"/>
          <p:cNvSpPr/>
          <p:nvPr/>
        </p:nvSpPr>
        <p:spPr>
          <a:xfrm>
            <a:off x="722376" y="496519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Outages dominate; other-digital-services is 2%. In order: more minority data, class weights, resampling — and report macro-F1, never accuracy.</a:t>
            </a:r>
            <a:endParaRPr lang="en-US" sz="1050" dirty="0"/>
          </a:p>
        </p:txBody>
      </p:sp>
      <p:sp>
        <p:nvSpPr>
          <p:cNvPr id="23" name="Shape 20"/>
          <p:cNvSpPr/>
          <p:nvPr/>
        </p:nvSpPr>
        <p:spPr>
          <a:xfrm>
            <a:off x="6231636" y="4078224"/>
            <a:ext cx="5454396" cy="2286000"/>
          </a:xfrm>
          <a:prstGeom prst="roundRect">
            <a:avLst>
              <a:gd name="adj" fmla="val 2400"/>
            </a:avLst>
          </a:prstGeom>
          <a:solidFill>
            <a:srgbClr val="F2F6F8"/>
          </a:solidFill>
          <a:ln/>
        </p:spPr>
      </p:sp>
      <p:sp>
        <p:nvSpPr>
          <p:cNvPr id="24" name="Shape 21"/>
          <p:cNvSpPr/>
          <p:nvPr/>
        </p:nvSpPr>
        <p:spPr>
          <a:xfrm>
            <a:off x="6231636" y="4078224"/>
            <a:ext cx="82296" cy="2286000"/>
          </a:xfrm>
          <a:prstGeom prst="rect">
            <a:avLst/>
          </a:prstGeom>
          <a:solidFill>
            <a:srgbClr val="8CC63F"/>
          </a:solidFill>
          <a:ln/>
        </p:spPr>
      </p:sp>
      <p:sp>
        <p:nvSpPr>
          <p:cNvPr id="25" name="Text 22"/>
          <p:cNvSpPr/>
          <p:nvPr/>
        </p:nvSpPr>
        <p:spPr>
          <a:xfrm>
            <a:off x="6451092" y="4197096"/>
            <a:ext cx="5042916" cy="237744"/>
          </a:xfrm>
          <a:prstGeom prst="rect">
            <a:avLst/>
          </a:prstGeom>
          <a:noFill/>
          <a:ln/>
        </p:spPr>
        <p:txBody>
          <a:bodyPr wrap="square" lIns="0" tIns="0" rIns="0" bIns="0" rtlCol="0" anchor="ctr"/>
          <a:lstStyle/>
          <a:p>
            <a:pPr indent="0" marL="0">
              <a:buNone/>
            </a:pPr>
            <a:r>
              <a:rPr lang="en-US" sz="950" b="1" spc="150" kern="0" dirty="0">
                <a:solidFill>
                  <a:srgbClr val="8CC63F"/>
                </a:solidFill>
                <a:latin typeface="Calibri" pitchFamily="34" charset="0"/>
                <a:ea typeface="Calibri" pitchFamily="34" charset="-122"/>
                <a:cs typeface="Calibri" pitchFamily="34" charset="-120"/>
              </a:rPr>
              <a:t>PADDING</a:t>
            </a:r>
            <a:endParaRPr lang="en-US" sz="950" dirty="0"/>
          </a:p>
        </p:txBody>
      </p:sp>
      <p:sp>
        <p:nvSpPr>
          <p:cNvPr id="26" name="Text 23"/>
          <p:cNvSpPr/>
          <p:nvPr/>
        </p:nvSpPr>
        <p:spPr>
          <a:xfrm>
            <a:off x="6451092" y="444398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Dynamic padding per batch</a:t>
            </a:r>
            <a:endParaRPr lang="en-US" sz="1450" dirty="0"/>
          </a:p>
        </p:txBody>
      </p:sp>
      <p:sp>
        <p:nvSpPr>
          <p:cNvPr id="27" name="Text 24"/>
          <p:cNvSpPr/>
          <p:nvPr/>
        </p:nvSpPr>
        <p:spPr>
          <a:xfrm>
            <a:off x="6451092" y="496519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DataCollatorWithPadding pads per batch, not to global max — 3–5× throughput on short-text corpora like Bayan. M7 quantifies.</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data.py — Honest, Grouped Splits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‏data.py — تقسيمات مجمّعة أمينة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56</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The graded part of Lab 3a: splits grouped by citizen_id so near-duplicates never straddle train/test — and preprocessing has exactly one home.</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src/bayan/data.py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datasets import Dataset, DatasetDict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import pandas as pd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sklearn.model_selection import GroupShuffleSplit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bayan.preprocessing import preprocess</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TOPICS = ["outage", "billing", "water", "roads", "permits",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"health_services", "digital_services", "other"]</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build_topic_dataset(csv_path: str, seed: int = 42) -&gt; DatasetDict: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df = pd.read_csv(csv_path)</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df["text"] = df["text"].map(preprocess)          # ONE preprocessing truth</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df["label"] = df["topic"].map(TOPICS.index)</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 Group by citizen_id: near-duplicates from one citizen must never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 straddle train/test. THE leakage defence.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gss = GroupShuffleSplit(n_splits=1, test_size=0.2, random_state=seed)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train_idx, test_idx = next(gss.split(df, groups=df["citizen_id"]))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train_df, test_df = df.iloc[train_idx], df.iloc[test_idx]</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gss2 = GroupShuffleSplit(n_splits=1, test_size=0.125, random_state=seed)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tr_idx, val_idx = next(gss2.split(train_df, groups=train_df["citizen_id"]))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DatasetDict(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train=Dataset.from_pandas(train_df.iloc[tr_idx], preserve_index=False),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validation=Dataset.from_pandas(train_df.iloc[val_idx],</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preserve_index=False),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test=Dataset.from_pandas(test_df, preserve_index=False))  # FROZEN</a:t>
            </a:r>
            <a:endParaRPr lang="en-US" sz="850" dirty="0"/>
          </a:p>
        </p:txBody>
      </p:sp>
      <p:sp>
        <p:nvSpPr>
          <p:cNvPr id="12" name="Shape 9"/>
          <p:cNvSpPr/>
          <p:nvPr/>
        </p:nvSpPr>
        <p:spPr>
          <a:xfrm>
            <a:off x="8321040" y="2057400"/>
            <a:ext cx="3364992" cy="1298448"/>
          </a:xfrm>
          <a:prstGeom prst="roundRect">
            <a:avLst>
              <a:gd name="adj" fmla="val 4225"/>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One preprocessing truth</a:t>
            </a:r>
            <a:endParaRPr lang="en-US" sz="1100" dirty="0"/>
          </a:p>
        </p:txBody>
      </p:sp>
      <p:sp>
        <p:nvSpPr>
          <p:cNvPr id="14" name="Text 11"/>
          <p:cNvSpPr/>
          <p:nvPr/>
        </p:nvSpPr>
        <p:spPr>
          <a:xfrm>
            <a:off x="8485632" y="2441448"/>
            <a:ext cx="3035808" cy="795528"/>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The dataset builder imports bayan.preprocessing by construction — M1's train/serve skew cannot happen.</a:t>
            </a:r>
            <a:endParaRPr lang="en-US" sz="950" dirty="0"/>
          </a:p>
        </p:txBody>
      </p:sp>
      <p:sp>
        <p:nvSpPr>
          <p:cNvPr id="15" name="Shape 12"/>
          <p:cNvSpPr/>
          <p:nvPr/>
        </p:nvSpPr>
        <p:spPr>
          <a:xfrm>
            <a:off x="8321040" y="3557016"/>
            <a:ext cx="3364992" cy="1298448"/>
          </a:xfrm>
          <a:prstGeom prst="roundRect">
            <a:avLst>
              <a:gd name="adj" fmla="val 4225"/>
            </a:avLst>
          </a:prstGeom>
          <a:solidFill>
            <a:srgbClr val="EAF6FC"/>
          </a:solidFill>
          <a:ln w="9525">
            <a:solidFill>
              <a:srgbClr val="29ABE2"/>
            </a:solidFill>
            <a:prstDash val="solid"/>
          </a:ln>
        </p:spPr>
      </p:sp>
      <p:sp>
        <p:nvSpPr>
          <p:cNvPr id="16" name="Text 13"/>
          <p:cNvSpPr/>
          <p:nvPr/>
        </p:nvSpPr>
        <p:spPr>
          <a:xfrm>
            <a:off x="8485632" y="3648456"/>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GroupShuffleSplit</a:t>
            </a:r>
            <a:endParaRPr lang="en-US" sz="1100" dirty="0"/>
          </a:p>
        </p:txBody>
      </p:sp>
      <p:sp>
        <p:nvSpPr>
          <p:cNvPr id="17" name="Text 14"/>
          <p:cNvSpPr/>
          <p:nvPr/>
        </p:nvSpPr>
        <p:spPr>
          <a:xfrm>
            <a:off x="8485632" y="3941064"/>
            <a:ext cx="3035808" cy="795528"/>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Grouping by citizen_id is THE leakage defence; the lab assertion proves zero overlap across splits.</a:t>
            </a:r>
            <a:endParaRPr lang="en-US" sz="950" dirty="0"/>
          </a:p>
        </p:txBody>
      </p:sp>
      <p:sp>
        <p:nvSpPr>
          <p:cNvPr id="18" name="Shape 15"/>
          <p:cNvSpPr/>
          <p:nvPr/>
        </p:nvSpPr>
        <p:spPr>
          <a:xfrm>
            <a:off x="8321040" y="5056632"/>
            <a:ext cx="3364992" cy="1298448"/>
          </a:xfrm>
          <a:prstGeom prst="roundRect">
            <a:avLst>
              <a:gd name="adj" fmla="val 4225"/>
            </a:avLst>
          </a:prstGeom>
          <a:solidFill>
            <a:srgbClr val="FEF3E3"/>
          </a:solidFill>
          <a:ln w="9525">
            <a:solidFill>
              <a:srgbClr val="F7941D"/>
            </a:solidFill>
            <a:prstDash val="solid"/>
          </a:ln>
        </p:spPr>
      </p:sp>
      <p:sp>
        <p:nvSpPr>
          <p:cNvPr id="19" name="Text 16"/>
          <p:cNvSpPr/>
          <p:nvPr/>
        </p:nvSpPr>
        <p:spPr>
          <a:xfrm>
            <a:off x="8485632" y="5148072"/>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Test = frozen</a:t>
            </a:r>
            <a:endParaRPr lang="en-US" sz="1100" dirty="0"/>
          </a:p>
        </p:txBody>
      </p:sp>
      <p:sp>
        <p:nvSpPr>
          <p:cNvPr id="20" name="Text 17"/>
          <p:cNvSpPr/>
          <p:nvPr/>
        </p:nvSpPr>
        <p:spPr>
          <a:xfrm>
            <a:off x="8485632" y="5440680"/>
            <a:ext cx="3035808" cy="795528"/>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Created once here; read-only until the final report on the frozen test set.</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train_classifier.py — the Trainer Recipe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‏train_classifier.py — وصفة التدريب</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57</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A re-runnable script, not notebook state: one command, one artefact. Launch it live at the start of the hour — the loss curve evolves on the projector while you lecture.</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src/bayan/train_classifier.py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CHECKPOINT = "CAMeL-Lab/bert-base-arabic-camelbert-mix"   # the Lab 1 decision</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compute_metrics(eval_pred):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logits, labels = eval_pred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{"macro_f1": f1_score(labels, logits.argmax(-1), average="macro")}</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main(seed: int = 42):</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set_seed(seed)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tok = AutoTokenizer.from_pretrained(CHECKPOINT)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ds = build_topic_dataset("data/bayan_feedback.csv", seed=seed)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model = AutoModelForSequenceClassification.from_pretrained(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CHECKPOINT, num_labels=len(TOPICS))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args = TrainingArguments(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output_dir=f"runs/topic-{seed}", learning_rate=2e-5,</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per_device_train_batch_size=32, num_train_epochs=4, warmup_ratio=0.1,</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weight_decay=0.01, fp16=True, eval_strategy="epoch",</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save_strategy="epoch", load_best_model_at_end=True,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metric_for_best_model="macro_f1", save_total_limit=2, seed=seed)</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trainer = Trainer(model=model, args=args, train_dataset=ds["train"],</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eval_dataset=ds["validation"], data_collator=DataCollatorWithPadding(tok),</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compute_metrics=compute_metrics,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callbacks=[EarlyStoppingCallback(early_stopping_patience=2)])</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trainer.train()</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print(trainer.evaluate(ds["test"], metric_key_prefix="test"))  # touched ONCE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trainer.save_model(f"artifacts/topic-classifier-{seed}")</a:t>
            </a:r>
            <a:endParaRPr lang="en-US" sz="850" dirty="0"/>
          </a:p>
        </p:txBody>
      </p:sp>
      <p:sp>
        <p:nvSpPr>
          <p:cNvPr id="12" name="Shape 9"/>
          <p:cNvSpPr/>
          <p:nvPr/>
        </p:nvSpPr>
        <p:spPr>
          <a:xfrm>
            <a:off x="8321040" y="2057400"/>
            <a:ext cx="3364992" cy="1298448"/>
          </a:xfrm>
          <a:prstGeom prst="roundRect">
            <a:avLst>
              <a:gd name="adj" fmla="val 4225"/>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fp16=True</a:t>
            </a:r>
            <a:endParaRPr lang="en-US" sz="1100" dirty="0"/>
          </a:p>
        </p:txBody>
      </p:sp>
      <p:sp>
        <p:nvSpPr>
          <p:cNvPr id="14" name="Text 11"/>
          <p:cNvSpPr/>
          <p:nvPr/>
        </p:nvSpPr>
        <p:spPr>
          <a:xfrm>
            <a:off x="8485632" y="2441448"/>
            <a:ext cx="3035808" cy="795528"/>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Mixed precision ≈ 2× throughput — and the fix for CUDA OOM at batch 32 with 256-token sequences.</a:t>
            </a:r>
            <a:endParaRPr lang="en-US" sz="950" dirty="0"/>
          </a:p>
        </p:txBody>
      </p:sp>
      <p:sp>
        <p:nvSpPr>
          <p:cNvPr id="15" name="Shape 12"/>
          <p:cNvSpPr/>
          <p:nvPr/>
        </p:nvSpPr>
        <p:spPr>
          <a:xfrm>
            <a:off x="8321040" y="3557016"/>
            <a:ext cx="3364992" cy="1298448"/>
          </a:xfrm>
          <a:prstGeom prst="roundRect">
            <a:avLst>
              <a:gd name="adj" fmla="val 4225"/>
            </a:avLst>
          </a:prstGeom>
          <a:solidFill>
            <a:srgbClr val="EAF6FC"/>
          </a:solidFill>
          <a:ln w="9525">
            <a:solidFill>
              <a:srgbClr val="29ABE2"/>
            </a:solidFill>
            <a:prstDash val="solid"/>
          </a:ln>
        </p:spPr>
      </p:sp>
      <p:sp>
        <p:nvSpPr>
          <p:cNvPr id="16" name="Text 13"/>
          <p:cNvSpPr/>
          <p:nvPr/>
        </p:nvSpPr>
        <p:spPr>
          <a:xfrm>
            <a:off x="8485632" y="3648456"/>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Best, not last</a:t>
            </a:r>
            <a:endParaRPr lang="en-US" sz="1100" dirty="0"/>
          </a:p>
        </p:txBody>
      </p:sp>
      <p:sp>
        <p:nvSpPr>
          <p:cNvPr id="17" name="Text 14"/>
          <p:cNvSpPr/>
          <p:nvPr/>
        </p:nvSpPr>
        <p:spPr>
          <a:xfrm>
            <a:off x="8485632" y="3941064"/>
            <a:ext cx="3035808" cy="795528"/>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load_best_model_at_end + metric_for_best_model='macro_f1', early-stopping patience 2 — best epoch wins.</a:t>
            </a:r>
            <a:endParaRPr lang="en-US" sz="950" dirty="0"/>
          </a:p>
        </p:txBody>
      </p:sp>
      <p:sp>
        <p:nvSpPr>
          <p:cNvPr id="18" name="Shape 15"/>
          <p:cNvSpPr/>
          <p:nvPr/>
        </p:nvSpPr>
        <p:spPr>
          <a:xfrm>
            <a:off x="8321040" y="5056632"/>
            <a:ext cx="3364992" cy="1298448"/>
          </a:xfrm>
          <a:prstGeom prst="roundRect">
            <a:avLst>
              <a:gd name="adj" fmla="val 4225"/>
            </a:avLst>
          </a:prstGeom>
          <a:solidFill>
            <a:srgbClr val="FEF3E3"/>
          </a:solidFill>
          <a:ln w="9525">
            <a:solidFill>
              <a:srgbClr val="F7941D"/>
            </a:solidFill>
            <a:prstDash val="solid"/>
          </a:ln>
        </p:spPr>
      </p:sp>
      <p:sp>
        <p:nvSpPr>
          <p:cNvPr id="19" name="Text 16"/>
          <p:cNvSpPr/>
          <p:nvPr/>
        </p:nvSpPr>
        <p:spPr>
          <a:xfrm>
            <a:off x="8485632" y="5148072"/>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Test touched once</a:t>
            </a:r>
            <a:endParaRPr lang="en-US" sz="1100" dirty="0"/>
          </a:p>
        </p:txBody>
      </p:sp>
      <p:sp>
        <p:nvSpPr>
          <p:cNvPr id="20" name="Text 17"/>
          <p:cNvSpPr/>
          <p:nvPr/>
        </p:nvSpPr>
        <p:spPr>
          <a:xfrm>
            <a:off x="8485632" y="5440680"/>
            <a:ext cx="3035808" cy="795528"/>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trainer.evaluate on the frozen test set runs exactly once, at the end, then the artefact is saved.</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NER and the Label-Alignment Trap</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فخّ محاذاة التسميات في NER</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58</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NER assigns BIO tags per word; the model consumes subwords. The alignment between them is where most NER bugs live — get it wrong and metrics are silently corrupted in either direction.</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The standard scheme</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tokenizer(words, is_split_into_words=True) + word_ids() maps subwords to words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First subword of each word carries the word's tag</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Continuations and [CLS]/[SEP] get -100 — ignored by loss AND evaluation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Arabic raises the stakes: fertility 1.3–2 means a third of words split</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Two silent corruptions</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Label every subword B-LOC and you mint extra entity beginnings — precision collapses, loss looks fine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Evaluate at subword level and easy continuation tokens inflate the score — use entity-level seqeval (M6)</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Clitics (و / ب / ال) contest the word boundary itself — CAMeL segmentation pre-splits them (M4)</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ner_alignment.py — the Trap, Defused</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‏ner_alignment.py — إبطال الفخّ</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59</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First subword carries the tag; continuations and special tokens get -100. The lab's 8 unit tests include an Arabic clitic case that fails naive implementations.</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src/bayan/ner_alignment.py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LABELS = ["O", "B-SERVICE", "I-SERVICE", "B-LOCATION", "I-LOCATION",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"B-DATE", "I-DATE", "B-REF_NUM", "I-REF_NUM", "B-ORG", "I-ORG"]</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align_labels(batch, tokenizer):</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enc = tokenizer(batch["tokens"], is_split_into_words=True,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truncation=True, max_length=256)</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all_labels = []</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for i, word_tags in enumerate(batch["ner_tags"]):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word_ids = enc.word_ids(batch_index=i)</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prev, labels = None, []</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for wid in word_ids: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if wid is None:                 # [CLS]/[SEP]/pad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labels.append(-100)</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elif wid != prev:               # first subword of a word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labels.append(word_tags[wid])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else:                           # continuation subword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labels.append(-100)         # ignored by loss AND eval</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prev = wid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all_labels.append(labels)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enc["labels"] = all_labels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return enc</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-100 = no vote</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Excluded from loss and evaluation — continuation subwords and special tokens never influence training or metrics.</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The wrong way</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Label continuations with real tags and loss looks BETTER while entity F1 drops 14 points (branch sim-align-bug).</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Extractive QA: the Work Is Pre/Post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‏QA الاستخراجي: العمل قبل النموذج وبعده</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60</a:t>
            </a:r>
            <a:endParaRPr lang="en-US" sz="800" dirty="0"/>
          </a:p>
        </p:txBody>
      </p:sp>
      <p:sp>
        <p:nvSpPr>
          <p:cNvPr id="8" name="Shape 5"/>
          <p:cNvSpPr/>
          <p:nvPr/>
        </p:nvSpPr>
        <p:spPr>
          <a:xfrm>
            <a:off x="502920" y="1965960"/>
            <a:ext cx="2507742" cy="2377440"/>
          </a:xfrm>
          <a:prstGeom prst="roundRect">
            <a:avLst>
              <a:gd name="adj" fmla="val 2308"/>
            </a:avLst>
          </a:prstGeom>
          <a:solidFill>
            <a:srgbClr val="F2F6F8"/>
          </a:solidFill>
          <a:ln/>
        </p:spPr>
      </p:sp>
      <p:sp>
        <p:nvSpPr>
          <p:cNvPr id="9" name="Shape 6"/>
          <p:cNvSpPr/>
          <p:nvPr/>
        </p:nvSpPr>
        <p:spPr>
          <a:xfrm>
            <a:off x="502920" y="1965960"/>
            <a:ext cx="2507742" cy="82296"/>
          </a:xfrm>
          <a:prstGeom prst="rect">
            <a:avLst/>
          </a:prstGeom>
          <a:solidFill>
            <a:srgbClr val="00A79D"/>
          </a:solidFill>
          <a:ln/>
        </p:spPr>
      </p:sp>
      <p:sp>
        <p:nvSpPr>
          <p:cNvPr id="10" name="Text 7"/>
          <p:cNvSpPr/>
          <p:nvPr/>
        </p:nvSpPr>
        <p:spPr>
          <a:xfrm>
            <a:off x="640080" y="2148840"/>
            <a:ext cx="2233422"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WINDOW</a:t>
            </a:r>
            <a:endParaRPr lang="en-US" sz="1000" dirty="0"/>
          </a:p>
        </p:txBody>
      </p:sp>
      <p:sp>
        <p:nvSpPr>
          <p:cNvPr id="11" name="Text 8"/>
          <p:cNvSpPr/>
          <p:nvPr/>
        </p:nvSpPr>
        <p:spPr>
          <a:xfrm>
            <a:off x="64008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Slide over long docs</a:t>
            </a:r>
            <a:endParaRPr lang="en-US" sz="1500" dirty="0"/>
          </a:p>
        </p:txBody>
      </p:sp>
      <p:sp>
        <p:nvSpPr>
          <p:cNvPr id="12" name="Text 9"/>
          <p:cNvSpPr/>
          <p:nvPr/>
        </p:nvSpPr>
        <p:spPr>
          <a:xfrm>
            <a:off x="64008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stride ≈ 128: one example becomes several features; answers are aggregated across windows at inference.</a:t>
            </a:r>
            <a:endParaRPr lang="en-US" sz="1050" dirty="0"/>
          </a:p>
        </p:txBody>
      </p:sp>
      <p:sp>
        <p:nvSpPr>
          <p:cNvPr id="13" name="Shape 10"/>
          <p:cNvSpPr/>
          <p:nvPr/>
        </p:nvSpPr>
        <p:spPr>
          <a:xfrm>
            <a:off x="3065526" y="3026664"/>
            <a:ext cx="274320" cy="256032"/>
          </a:xfrm>
          <a:prstGeom prst="chevron">
            <a:avLst/>
          </a:prstGeom>
          <a:solidFill>
            <a:srgbClr val="00A79D"/>
          </a:solidFill>
          <a:ln/>
        </p:spPr>
      </p:sp>
      <p:sp>
        <p:nvSpPr>
          <p:cNvPr id="14" name="Shape 11"/>
          <p:cNvSpPr/>
          <p:nvPr/>
        </p:nvSpPr>
        <p:spPr>
          <a:xfrm>
            <a:off x="3394710" y="1965960"/>
            <a:ext cx="2507742" cy="2377440"/>
          </a:xfrm>
          <a:prstGeom prst="roundRect">
            <a:avLst>
              <a:gd name="adj" fmla="val 2308"/>
            </a:avLst>
          </a:prstGeom>
          <a:solidFill>
            <a:srgbClr val="F2F6F8"/>
          </a:solidFill>
          <a:ln/>
        </p:spPr>
      </p:sp>
      <p:sp>
        <p:nvSpPr>
          <p:cNvPr id="15" name="Shape 12"/>
          <p:cNvSpPr/>
          <p:nvPr/>
        </p:nvSpPr>
        <p:spPr>
          <a:xfrm>
            <a:off x="3394710" y="1965960"/>
            <a:ext cx="2507742" cy="82296"/>
          </a:xfrm>
          <a:prstGeom prst="rect">
            <a:avLst/>
          </a:prstGeom>
          <a:solidFill>
            <a:srgbClr val="29ABE2"/>
          </a:solidFill>
          <a:ln/>
        </p:spPr>
      </p:sp>
      <p:sp>
        <p:nvSpPr>
          <p:cNvPr id="16" name="Text 13"/>
          <p:cNvSpPr/>
          <p:nvPr/>
        </p:nvSpPr>
        <p:spPr>
          <a:xfrm>
            <a:off x="3531870" y="2148840"/>
            <a:ext cx="2233422" cy="237744"/>
          </a:xfrm>
          <a:prstGeom prst="rect">
            <a:avLst/>
          </a:prstGeom>
          <a:noFill/>
          <a:ln/>
        </p:spPr>
        <p:txBody>
          <a:bodyPr wrap="square" lIns="0" tIns="0" rIns="0" bIns="0" rtlCol="0" anchor="ctr"/>
          <a:lstStyle/>
          <a:p>
            <a:pPr indent="0" marL="0">
              <a:buNone/>
            </a:pPr>
            <a:r>
              <a:rPr lang="en-US" sz="1000" b="1" spc="150" kern="0" dirty="0">
                <a:solidFill>
                  <a:srgbClr val="29ABE2"/>
                </a:solidFill>
                <a:latin typeface="Calibri" pitchFamily="34" charset="0"/>
                <a:ea typeface="Calibri" pitchFamily="34" charset="-122"/>
                <a:cs typeface="Calibri" pitchFamily="34" charset="-120"/>
              </a:rPr>
              <a:t>SEARCH</a:t>
            </a:r>
            <a:endParaRPr lang="en-US" sz="1000" dirty="0"/>
          </a:p>
        </p:txBody>
      </p:sp>
      <p:sp>
        <p:nvSpPr>
          <p:cNvPr id="17" name="Text 14"/>
          <p:cNvSpPr/>
          <p:nvPr/>
        </p:nvSpPr>
        <p:spPr>
          <a:xfrm>
            <a:off x="353187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Constrained span search</a:t>
            </a:r>
            <a:endParaRPr lang="en-US" sz="1500" dirty="0"/>
          </a:p>
        </p:txBody>
      </p:sp>
      <p:sp>
        <p:nvSpPr>
          <p:cNvPr id="18" name="Text 15"/>
          <p:cNvSpPr/>
          <p:nvPr/>
        </p:nvSpPr>
        <p:spPr>
          <a:xfrm>
            <a:off x="353187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Best start+end logit sum subject to start ≤ end and length ≤ max_answer_len — naive argmax yields inverted spans.</a:t>
            </a:r>
            <a:endParaRPr lang="en-US" sz="1050" dirty="0"/>
          </a:p>
        </p:txBody>
      </p:sp>
      <p:sp>
        <p:nvSpPr>
          <p:cNvPr id="19" name="Shape 16"/>
          <p:cNvSpPr/>
          <p:nvPr/>
        </p:nvSpPr>
        <p:spPr>
          <a:xfrm>
            <a:off x="5957316" y="3026664"/>
            <a:ext cx="274320" cy="256032"/>
          </a:xfrm>
          <a:prstGeom prst="chevron">
            <a:avLst/>
          </a:prstGeom>
          <a:solidFill>
            <a:srgbClr val="00A79D"/>
          </a:solidFill>
          <a:ln/>
        </p:spPr>
      </p:sp>
      <p:sp>
        <p:nvSpPr>
          <p:cNvPr id="20" name="Shape 17"/>
          <p:cNvSpPr/>
          <p:nvPr/>
        </p:nvSpPr>
        <p:spPr>
          <a:xfrm>
            <a:off x="6286500" y="1965960"/>
            <a:ext cx="2507742" cy="2377440"/>
          </a:xfrm>
          <a:prstGeom prst="roundRect">
            <a:avLst>
              <a:gd name="adj" fmla="val 2308"/>
            </a:avLst>
          </a:prstGeom>
          <a:solidFill>
            <a:srgbClr val="F2F6F8"/>
          </a:solidFill>
          <a:ln/>
        </p:spPr>
      </p:sp>
      <p:sp>
        <p:nvSpPr>
          <p:cNvPr id="21" name="Shape 18"/>
          <p:cNvSpPr/>
          <p:nvPr/>
        </p:nvSpPr>
        <p:spPr>
          <a:xfrm>
            <a:off x="6286500" y="1965960"/>
            <a:ext cx="2507742" cy="82296"/>
          </a:xfrm>
          <a:prstGeom prst="rect">
            <a:avLst/>
          </a:prstGeom>
          <a:solidFill>
            <a:srgbClr val="F7941D"/>
          </a:solidFill>
          <a:ln/>
        </p:spPr>
      </p:sp>
      <p:sp>
        <p:nvSpPr>
          <p:cNvPr id="22" name="Text 19"/>
          <p:cNvSpPr/>
          <p:nvPr/>
        </p:nvSpPr>
        <p:spPr>
          <a:xfrm>
            <a:off x="6423660" y="2148840"/>
            <a:ext cx="2233422" cy="237744"/>
          </a:xfrm>
          <a:prstGeom prst="rect">
            <a:avLst/>
          </a:prstGeom>
          <a:noFill/>
          <a:ln/>
        </p:spPr>
        <p:txBody>
          <a:bodyPr wrap="square" lIns="0" tIns="0" rIns="0" bIns="0" rtlCol="0" anchor="ctr"/>
          <a:lstStyle/>
          <a:p>
            <a:pPr indent="0" marL="0">
              <a:buNone/>
            </a:pPr>
            <a:r>
              <a:rPr lang="en-US" sz="1000" b="1" spc="150" kern="0" dirty="0">
                <a:solidFill>
                  <a:srgbClr val="F7941D"/>
                </a:solidFill>
                <a:latin typeface="Calibri" pitchFamily="34" charset="0"/>
                <a:ea typeface="Calibri" pitchFamily="34" charset="-122"/>
                <a:cs typeface="Calibri" pitchFamily="34" charset="-120"/>
              </a:rPr>
              <a:t>NULL</a:t>
            </a:r>
            <a:endParaRPr lang="en-US" sz="1000" dirty="0"/>
          </a:p>
        </p:txBody>
      </p:sp>
      <p:sp>
        <p:nvSpPr>
          <p:cNvPr id="23" name="Text 20"/>
          <p:cNvSpPr/>
          <p:nvPr/>
        </p:nvSpPr>
        <p:spPr>
          <a:xfrm>
            <a:off x="642366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Compare vs [CLS] null</a:t>
            </a:r>
            <a:endParaRPr lang="en-US" sz="1500" dirty="0"/>
          </a:p>
        </p:txBody>
      </p:sp>
      <p:sp>
        <p:nvSpPr>
          <p:cNvPr id="24" name="Text 21"/>
          <p:cNvSpPr/>
          <p:nvPr/>
        </p:nvSpPr>
        <p:spPr>
          <a:xfrm>
            <a:off x="642366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Best span score vs the null score with a tuned threshold — the model must be able to say 'not in this document'.</a:t>
            </a:r>
            <a:endParaRPr lang="en-US" sz="1050" dirty="0"/>
          </a:p>
        </p:txBody>
      </p:sp>
      <p:sp>
        <p:nvSpPr>
          <p:cNvPr id="25" name="Shape 22"/>
          <p:cNvSpPr/>
          <p:nvPr/>
        </p:nvSpPr>
        <p:spPr>
          <a:xfrm>
            <a:off x="8849106" y="3026664"/>
            <a:ext cx="274320" cy="256032"/>
          </a:xfrm>
          <a:prstGeom prst="chevron">
            <a:avLst/>
          </a:prstGeom>
          <a:solidFill>
            <a:srgbClr val="00A79D"/>
          </a:solidFill>
          <a:ln/>
        </p:spPr>
      </p:sp>
      <p:sp>
        <p:nvSpPr>
          <p:cNvPr id="26" name="Shape 23"/>
          <p:cNvSpPr/>
          <p:nvPr/>
        </p:nvSpPr>
        <p:spPr>
          <a:xfrm>
            <a:off x="9178290" y="1965960"/>
            <a:ext cx="2507742" cy="2377440"/>
          </a:xfrm>
          <a:prstGeom prst="roundRect">
            <a:avLst>
              <a:gd name="adj" fmla="val 2308"/>
            </a:avLst>
          </a:prstGeom>
          <a:solidFill>
            <a:srgbClr val="F2F6F8"/>
          </a:solidFill>
          <a:ln/>
        </p:spPr>
      </p:sp>
      <p:sp>
        <p:nvSpPr>
          <p:cNvPr id="27" name="Shape 24"/>
          <p:cNvSpPr/>
          <p:nvPr/>
        </p:nvSpPr>
        <p:spPr>
          <a:xfrm>
            <a:off x="9178290" y="1965960"/>
            <a:ext cx="2507742" cy="82296"/>
          </a:xfrm>
          <a:prstGeom prst="rect">
            <a:avLst/>
          </a:prstGeom>
          <a:solidFill>
            <a:srgbClr val="8CC63F"/>
          </a:solidFill>
          <a:ln/>
        </p:spPr>
      </p:sp>
      <p:sp>
        <p:nvSpPr>
          <p:cNvPr id="28" name="Text 25"/>
          <p:cNvSpPr/>
          <p:nvPr/>
        </p:nvSpPr>
        <p:spPr>
          <a:xfrm>
            <a:off x="9315450" y="2148840"/>
            <a:ext cx="2233422" cy="237744"/>
          </a:xfrm>
          <a:prstGeom prst="rect">
            <a:avLst/>
          </a:prstGeom>
          <a:noFill/>
          <a:ln/>
        </p:spPr>
        <p:txBody>
          <a:bodyPr wrap="square" lIns="0" tIns="0" rIns="0" bIns="0" rtlCol="0" anchor="ctr"/>
          <a:lstStyle/>
          <a:p>
            <a:pPr indent="0" marL="0">
              <a:buNone/>
            </a:pPr>
            <a:r>
              <a:rPr lang="en-US" sz="1000" b="1" spc="150" kern="0" dirty="0">
                <a:solidFill>
                  <a:srgbClr val="8CC63F"/>
                </a:solidFill>
                <a:latin typeface="Calibri" pitchFamily="34" charset="0"/>
                <a:ea typeface="Calibri" pitchFamily="34" charset="-122"/>
                <a:cs typeface="Calibri" pitchFamily="34" charset="-120"/>
              </a:rPr>
              <a:t>OFFSETS</a:t>
            </a:r>
            <a:endParaRPr lang="en-US" sz="1000" dirty="0"/>
          </a:p>
        </p:txBody>
      </p:sp>
      <p:sp>
        <p:nvSpPr>
          <p:cNvPr id="29" name="Text 26"/>
          <p:cNvSpPr/>
          <p:nvPr/>
        </p:nvSpPr>
        <p:spPr>
          <a:xfrm>
            <a:off x="9315450" y="2404872"/>
            <a:ext cx="2233422"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Back to raw characters</a:t>
            </a:r>
            <a:endParaRPr lang="en-US" sz="1500" dirty="0"/>
          </a:p>
        </p:txBody>
      </p:sp>
      <p:sp>
        <p:nvSpPr>
          <p:cNvPr id="30" name="Text 27"/>
          <p:cNvSpPr/>
          <p:nvPr/>
        </p:nvSpPr>
        <p:spPr>
          <a:xfrm>
            <a:off x="9315450" y="2971800"/>
            <a:ext cx="2233422"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return_offsets_mapping converts token spans to character spans — compute them on the text you display, or answers drift.</a:t>
            </a:r>
            <a:endParaRPr lang="en-US" sz="1050" dirty="0"/>
          </a:p>
        </p:txBody>
      </p:sp>
      <p:sp>
        <p:nvSpPr>
          <p:cNvPr id="31" name="Shape 28"/>
          <p:cNvSpPr/>
          <p:nvPr/>
        </p:nvSpPr>
        <p:spPr>
          <a:xfrm>
            <a:off x="502920" y="4892040"/>
            <a:ext cx="11183112" cy="1051560"/>
          </a:xfrm>
          <a:prstGeom prst="roundRect">
            <a:avLst>
              <a:gd name="adj" fmla="val 6957"/>
            </a:avLst>
          </a:prstGeom>
          <a:solidFill>
            <a:srgbClr val="E6F5F4"/>
          </a:solidFill>
          <a:ln/>
        </p:spPr>
      </p:sp>
      <p:sp>
        <p:nvSpPr>
          <p:cNvPr id="32" name="Text 29"/>
          <p:cNvSpPr/>
          <p:nvPr/>
        </p:nvSpPr>
        <p:spPr>
          <a:xfrm>
            <a:off x="731520" y="4892040"/>
            <a:ext cx="10789920" cy="105156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200" dirty="0">
                <a:solidFill>
                  <a:srgbClr val="2B2B2B"/>
                </a:solidFill>
                <a:latin typeface="Calibri" pitchFamily="34" charset="0"/>
                <a:ea typeface="Calibri" pitchFamily="34" charset="-122"/>
                <a:cs typeface="Calibri" pitchFamily="34" charset="-120"/>
              </a:rPr>
              <a:t>SQuAD-2-style unanswerable handling is the honest-QA lesson that carries straight into RAG (AIE-214): a QA system without a null gate hallucinates by construction.</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qa_postprocess.py — Honest Answers Only</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‏qa_postprocess.py — إجابات أمينة فقط</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61</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From logits to an answer string — or an honest 'not found'. The constrained search plus the null gate, in one function participants complete in Lab 3b.</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src/bayan/qa_postprocess.py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best_span(start_logits, end_logits, offsets, context,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null_threshold=0.0, max_answer_len=48, top_k=20):</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null_score = start_logits[0] + end_logits[0]      # [CLS] = "no answer"</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starts = np.argsort(start_logits)[-top_k:]</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ends = np.argsort(end_logits)[-top_k:]</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best = {"score": -1e9, "text": ""}</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for s in starts: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for e in ends: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if s == 0 or e == 0 or e &lt; s or e - s + 1 &gt; max_answer_len: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continue                              # inverted/oversized spans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if offsets[s] is None or offsets[e] is None: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continue                              # question tokens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score = start_logits[s] + end_logits[e]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if score &gt; best["score"]: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best = {"score": float(score),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"text": context[offsets[s][0]:offsets[e][1]]}</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if null_score - best["score"] &gt; null_threshold: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return {"answer": None, "reason": "no_answer_in_context",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"margin": float(null_score - best["score"])}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return {"answer": best["text"], "score": best["score"]}</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Null gate</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If null_score minus the best span score exceeds the threshold, return answer=None — production QA must refuse gracefully.</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Offsets slice raw text</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context[offsets[s][0]:offsets[e][1]] — offsets must belong to the displayed text or the highlight drifts (M1's skew).</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3 — Fine-tune the Bayan Models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٣ — اضبط نماذج بيان</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62</a:t>
            </a:r>
            <a:endParaRPr lang="en-US" sz="800" dirty="0"/>
          </a:p>
        </p:txBody>
      </p:sp>
      <p:sp>
        <p:nvSpPr>
          <p:cNvPr id="8" name="Shape 5"/>
          <p:cNvSpPr/>
          <p:nvPr/>
        </p:nvSpPr>
        <p:spPr>
          <a:xfrm>
            <a:off x="502920" y="1463040"/>
            <a:ext cx="11183112" cy="548640"/>
          </a:xfrm>
          <a:prstGeom prst="roundRect">
            <a:avLst>
              <a:gd name="adj" fmla="val 13333"/>
            </a:avLst>
          </a:prstGeom>
          <a:solidFill>
            <a:srgbClr val="1D2A5C"/>
          </a:solidFill>
          <a:ln/>
        </p:spPr>
      </p:sp>
      <p:sp>
        <p:nvSpPr>
          <p:cNvPr id="9" name="Text 6"/>
          <p:cNvSpPr/>
          <p:nvPr/>
        </p:nvSpPr>
        <p:spPr>
          <a:xfrm>
            <a:off x="685800" y="1463040"/>
            <a:ext cx="8961120" cy="548640"/>
          </a:xfrm>
          <a:prstGeom prst="rect">
            <a:avLst/>
          </a:prstGeom>
          <a:noFill/>
          <a:ln/>
        </p:spPr>
        <p:txBody>
          <a:bodyPr wrap="square" lIns="0" tIns="0" rIns="0" bIns="0" rtlCol="0" anchor="ctr"/>
          <a:lstStyle/>
          <a:p>
            <a:pPr indent="0" marL="0">
              <a:buNone/>
            </a:pPr>
            <a:r>
              <a:rPr lang="en-US" sz="1300" b="1" dirty="0">
                <a:solidFill>
                  <a:srgbClr val="F7941D"/>
                </a:solidFill>
                <a:latin typeface="Calibri" pitchFamily="34" charset="0"/>
                <a:ea typeface="Calibri" pitchFamily="34" charset="-122"/>
                <a:cs typeface="Calibri" pitchFamily="34" charset="-120"/>
              </a:rPr>
              <a:t>  HANDS-ON LAB 3   </a:t>
            </a:r>
            <a:pPr indent="0" marL="0">
              <a:buNone/>
            </a:pPr>
            <a:r>
              <a:rPr lang="en-US" sz="1400" b="1" dirty="0">
                <a:solidFill>
                  <a:srgbClr val="FFFFFF"/>
                </a:solidFill>
                <a:latin typeface="Calibri" pitchFamily="34" charset="0"/>
                <a:ea typeface="Calibri" pitchFamily="34" charset="-122"/>
                <a:cs typeface="Calibri" pitchFamily="34" charset="-120"/>
              </a:rPr>
              <a:t>Fine-tune the Bayan Models (Parts A and B)</a:t>
            </a:r>
            <a:endParaRPr lang="en-US" sz="1300" dirty="0"/>
          </a:p>
        </p:txBody>
      </p:sp>
      <p:sp>
        <p:nvSpPr>
          <p:cNvPr id="10" name="Text 7"/>
          <p:cNvSpPr/>
          <p:nvPr/>
        </p:nvSpPr>
        <p:spPr>
          <a:xfrm>
            <a:off x="9692640" y="1463040"/>
            <a:ext cx="1828800" cy="548640"/>
          </a:xfrm>
          <a:prstGeom prst="rect">
            <a:avLst/>
          </a:prstGeom>
          <a:noFill/>
          <a:ln/>
        </p:spPr>
        <p:txBody>
          <a:bodyPr wrap="square" lIns="0" tIns="0" rIns="0" bIns="0" rtlCol="0" anchor="ctr"/>
          <a:lstStyle/>
          <a:p>
            <a:pPr algn="r" indent="0" marL="0">
              <a:buNone/>
            </a:pPr>
            <a:r>
              <a:rPr lang="en-US" sz="1200" b="1" dirty="0">
                <a:solidFill>
                  <a:srgbClr val="00A79D"/>
                </a:solidFill>
                <a:latin typeface="Calibri" pitchFamily="34" charset="0"/>
                <a:ea typeface="Calibri" pitchFamily="34" charset="-122"/>
                <a:cs typeface="Calibri" pitchFamily="34" charset="-120"/>
              </a:rPr>
              <a:t>2×50 min</a:t>
            </a:r>
            <a:endParaRPr lang="en-US" sz="1200" dirty="0"/>
          </a:p>
        </p:txBody>
      </p:sp>
      <p:sp>
        <p:nvSpPr>
          <p:cNvPr id="11" name="Text 8"/>
          <p:cNvSpPr/>
          <p:nvPr/>
        </p:nvSpPr>
        <p:spPr>
          <a:xfrm>
            <a:off x="502920" y="2240280"/>
            <a:ext cx="6903720" cy="256032"/>
          </a:xfrm>
          <a:prstGeom prst="rect">
            <a:avLst/>
          </a:prstGeom>
          <a:noFill/>
          <a:ln/>
        </p:spPr>
        <p:txBody>
          <a:bodyPr wrap="square" lIns="0" tIns="0" rIns="0" bIns="0" rtlCol="0" anchor="ctr"/>
          <a:lstStyle/>
          <a:p>
            <a:pPr indent="0" marL="0">
              <a:buNone/>
            </a:pPr>
            <a:r>
              <a:rPr lang="en-US" sz="1050" b="1" spc="150" kern="0" dirty="0">
                <a:solidFill>
                  <a:srgbClr val="00A79D"/>
                </a:solidFill>
                <a:latin typeface="Calibri" pitchFamily="34" charset="0"/>
                <a:ea typeface="Calibri" pitchFamily="34" charset="-122"/>
                <a:cs typeface="Calibri" pitchFamily="34" charset="-120"/>
              </a:rPr>
              <a:t>TASKS</a:t>
            </a:r>
            <a:endParaRPr lang="en-US" sz="1050" dirty="0"/>
          </a:p>
        </p:txBody>
      </p:sp>
      <p:sp>
        <p:nvSpPr>
          <p:cNvPr id="12" name="Shape 9"/>
          <p:cNvSpPr/>
          <p:nvPr/>
        </p:nvSpPr>
        <p:spPr>
          <a:xfrm>
            <a:off x="502920" y="2578608"/>
            <a:ext cx="274320" cy="274320"/>
          </a:xfrm>
          <a:prstGeom prst="ellipse">
            <a:avLst/>
          </a:prstGeom>
          <a:solidFill>
            <a:srgbClr val="00A79D"/>
          </a:solidFill>
          <a:ln/>
        </p:spPr>
      </p:sp>
      <p:sp>
        <p:nvSpPr>
          <p:cNvPr id="13" name="Text 10"/>
          <p:cNvSpPr/>
          <p:nvPr/>
        </p:nvSpPr>
        <p:spPr>
          <a:xfrm>
            <a:off x="50292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p:nvPr/>
        </p:nvSpPr>
        <p:spPr>
          <a:xfrm>
            <a:off x="914400" y="255117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A1: run the TF-IDF + LinearSVC baseline; record macro-F1 in BENCHMARKS.md (reference: 0.71)</a:t>
            </a:r>
            <a:endParaRPr lang="en-US" sz="1100" dirty="0"/>
          </a:p>
        </p:txBody>
      </p:sp>
      <p:sp>
        <p:nvSpPr>
          <p:cNvPr id="15" name="Shape 12"/>
          <p:cNvSpPr/>
          <p:nvPr/>
        </p:nvSpPr>
        <p:spPr>
          <a:xfrm>
            <a:off x="502920" y="3211068"/>
            <a:ext cx="274320" cy="274320"/>
          </a:xfrm>
          <a:prstGeom prst="ellipse">
            <a:avLst/>
          </a:prstGeom>
          <a:solidFill>
            <a:srgbClr val="00A79D"/>
          </a:solidFill>
          <a:ln/>
        </p:spPr>
      </p:sp>
      <p:sp>
        <p:nvSpPr>
          <p:cNvPr id="16" name="Text 13"/>
          <p:cNvSpPr/>
          <p:nvPr/>
        </p:nvSpPr>
        <p:spPr>
          <a:xfrm>
            <a:off x="502920" y="32110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4"/>
          <p:cNvSpPr/>
          <p:nvPr/>
        </p:nvSpPr>
        <p:spPr>
          <a:xfrm>
            <a:off x="914400" y="318363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A2: complete build_topic_dataset — prove zero citizen_id overlap with the split assertion (graded)</a:t>
            </a:r>
            <a:endParaRPr lang="en-US" sz="1100" dirty="0"/>
          </a:p>
        </p:txBody>
      </p:sp>
      <p:sp>
        <p:nvSpPr>
          <p:cNvPr id="18" name="Shape 15"/>
          <p:cNvSpPr/>
          <p:nvPr/>
        </p:nvSpPr>
        <p:spPr>
          <a:xfrm>
            <a:off x="502920" y="3843528"/>
            <a:ext cx="274320" cy="274320"/>
          </a:xfrm>
          <a:prstGeom prst="ellipse">
            <a:avLst/>
          </a:prstGeom>
          <a:solidFill>
            <a:srgbClr val="00A79D"/>
          </a:solidFill>
          <a:ln/>
        </p:spPr>
      </p:sp>
      <p:sp>
        <p:nvSpPr>
          <p:cNvPr id="19" name="Text 16"/>
          <p:cNvSpPr/>
          <p:nvPr/>
        </p:nvSpPr>
        <p:spPr>
          <a:xfrm>
            <a:off x="502920" y="38435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914400" y="381609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A3: launch train_classifier.py (~8 min on T4); predict which topics will confuse while it runs</a:t>
            </a:r>
            <a:endParaRPr lang="en-US" sz="1100" dirty="0"/>
          </a:p>
        </p:txBody>
      </p:sp>
      <p:sp>
        <p:nvSpPr>
          <p:cNvPr id="21" name="Shape 18"/>
          <p:cNvSpPr/>
          <p:nvPr/>
        </p:nvSpPr>
        <p:spPr>
          <a:xfrm>
            <a:off x="502920" y="4475988"/>
            <a:ext cx="274320" cy="274320"/>
          </a:xfrm>
          <a:prstGeom prst="ellipse">
            <a:avLst/>
          </a:prstGeom>
          <a:solidFill>
            <a:srgbClr val="00A79D"/>
          </a:solidFill>
          <a:ln/>
        </p:spPr>
      </p:sp>
      <p:sp>
        <p:nvSpPr>
          <p:cNvPr id="22" name="Text 19"/>
          <p:cNvSpPr/>
          <p:nvPr/>
        </p:nvSpPr>
        <p:spPr>
          <a:xfrm>
            <a:off x="502920" y="44759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0"/>
          <p:cNvSpPr/>
          <p:nvPr/>
        </p:nvSpPr>
        <p:spPr>
          <a:xfrm>
            <a:off x="914400" y="444855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B1: implement align_labels; pass 8/8 unit tests including the Arabic clitic-splitting case</a:t>
            </a:r>
            <a:endParaRPr lang="en-US" sz="1100" dirty="0"/>
          </a:p>
        </p:txBody>
      </p:sp>
      <p:sp>
        <p:nvSpPr>
          <p:cNvPr id="24" name="Shape 21"/>
          <p:cNvSpPr/>
          <p:nvPr/>
        </p:nvSpPr>
        <p:spPr>
          <a:xfrm>
            <a:off x="502920" y="5108448"/>
            <a:ext cx="274320" cy="274320"/>
          </a:xfrm>
          <a:prstGeom prst="ellipse">
            <a:avLst/>
          </a:prstGeom>
          <a:solidFill>
            <a:srgbClr val="00A79D"/>
          </a:solidFill>
          <a:ln/>
        </p:spPr>
      </p:sp>
      <p:sp>
        <p:nvSpPr>
          <p:cNvPr id="25" name="Text 22"/>
          <p:cNvSpPr/>
          <p:nvPr/>
        </p:nvSpPr>
        <p:spPr>
          <a:xfrm>
            <a:off x="502920" y="51084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p:nvPr/>
        </p:nvSpPr>
        <p:spPr>
          <a:xfrm>
            <a:off x="914400" y="508101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B2: fine-tune token classification on the Bayan NER split; evaluate entity-level with seqeval</a:t>
            </a:r>
            <a:endParaRPr lang="en-US" sz="1100" dirty="0"/>
          </a:p>
        </p:txBody>
      </p:sp>
      <p:sp>
        <p:nvSpPr>
          <p:cNvPr id="27" name="Shape 24"/>
          <p:cNvSpPr/>
          <p:nvPr/>
        </p:nvSpPr>
        <p:spPr>
          <a:xfrm>
            <a:off x="502920" y="5740908"/>
            <a:ext cx="274320" cy="274320"/>
          </a:xfrm>
          <a:prstGeom prst="ellipse">
            <a:avLst/>
          </a:prstGeom>
          <a:solidFill>
            <a:srgbClr val="00A79D"/>
          </a:solidFill>
          <a:ln/>
        </p:spPr>
      </p:sp>
      <p:sp>
        <p:nvSpPr>
          <p:cNvPr id="28" name="Text 25"/>
          <p:cNvSpPr/>
          <p:nvPr/>
        </p:nvSpPr>
        <p:spPr>
          <a:xfrm>
            <a:off x="502920" y="57409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6"/>
          <p:cNvSpPr/>
          <p:nvPr/>
        </p:nvSpPr>
        <p:spPr>
          <a:xfrm>
            <a:off x="914400" y="571347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B3: implement best_span; run the 12-question smoke set — 3 questions are unanswerable</a:t>
            </a:r>
            <a:endParaRPr lang="en-US" sz="1100" dirty="0"/>
          </a:p>
        </p:txBody>
      </p:sp>
      <p:sp>
        <p:nvSpPr>
          <p:cNvPr id="30" name="Shape 27"/>
          <p:cNvSpPr/>
          <p:nvPr/>
        </p:nvSpPr>
        <p:spPr>
          <a:xfrm>
            <a:off x="7635240" y="2240280"/>
            <a:ext cx="4050792" cy="1264920"/>
          </a:xfrm>
          <a:prstGeom prst="roundRect">
            <a:avLst>
              <a:gd name="adj" fmla="val 4337"/>
            </a:avLst>
          </a:prstGeom>
          <a:solidFill>
            <a:srgbClr val="E6F5F4"/>
          </a:solidFill>
          <a:ln w="9525">
            <a:solidFill>
              <a:srgbClr val="00A79D"/>
            </a:solidFill>
            <a:prstDash val="solid"/>
          </a:ln>
        </p:spPr>
      </p:sp>
      <p:sp>
        <p:nvSpPr>
          <p:cNvPr id="31" name="Text 28"/>
          <p:cNvSpPr/>
          <p:nvPr/>
        </p:nvSpPr>
        <p:spPr>
          <a:xfrm>
            <a:off x="7799832" y="2322576"/>
            <a:ext cx="3721608"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OBJECTIVE</a:t>
            </a:r>
            <a:endParaRPr lang="en-US" sz="950" dirty="0"/>
          </a:p>
        </p:txBody>
      </p:sp>
      <p:sp>
        <p:nvSpPr>
          <p:cNvPr id="32" name="Text 29"/>
          <p:cNvSpPr/>
          <p:nvPr/>
        </p:nvSpPr>
        <p:spPr>
          <a:xfrm>
            <a:off x="7799832" y="25786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Part A: fine-tuned topic classifier beats the TF-IDF baseline by ≥8 macro-F1. Part B: NER with correct alignment (entity F1 ≥0.80) plus QA post-processing with honest nulls.</a:t>
            </a:r>
            <a:endParaRPr lang="en-US" sz="1000" dirty="0"/>
          </a:p>
        </p:txBody>
      </p:sp>
      <p:sp>
        <p:nvSpPr>
          <p:cNvPr id="33" name="Shape 30"/>
          <p:cNvSpPr/>
          <p:nvPr/>
        </p:nvSpPr>
        <p:spPr>
          <a:xfrm>
            <a:off x="7635240" y="3688080"/>
            <a:ext cx="4050792" cy="1264920"/>
          </a:xfrm>
          <a:prstGeom prst="roundRect">
            <a:avLst>
              <a:gd name="adj" fmla="val 4337"/>
            </a:avLst>
          </a:prstGeom>
          <a:solidFill>
            <a:srgbClr val="FEF3E3"/>
          </a:solidFill>
          <a:ln w="9525">
            <a:solidFill>
              <a:srgbClr val="F7941D"/>
            </a:solidFill>
            <a:prstDash val="solid"/>
          </a:ln>
        </p:spPr>
      </p:sp>
      <p:sp>
        <p:nvSpPr>
          <p:cNvPr id="34" name="Text 31"/>
          <p:cNvSpPr/>
          <p:nvPr/>
        </p:nvSpPr>
        <p:spPr>
          <a:xfrm>
            <a:off x="7799832" y="3770376"/>
            <a:ext cx="3721608"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DELIVERABLE</a:t>
            </a:r>
            <a:endParaRPr lang="en-US" sz="950" dirty="0"/>
          </a:p>
        </p:txBody>
      </p:sp>
      <p:sp>
        <p:nvSpPr>
          <p:cNvPr id="35" name="Text 32"/>
          <p:cNvSpPr/>
          <p:nvPr/>
        </p:nvSpPr>
        <p:spPr>
          <a:xfrm>
            <a:off x="7799832" y="40264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Three model artefacts in artifacts/ with configs and metrics committed; benchmark rows filled. Labs 5, 6 and 7 all consume them.</a:t>
            </a:r>
            <a:endParaRPr lang="en-US" sz="1000" dirty="0"/>
          </a:p>
        </p:txBody>
      </p:sp>
      <p:sp>
        <p:nvSpPr>
          <p:cNvPr id="36" name="Shape 33"/>
          <p:cNvSpPr/>
          <p:nvPr/>
        </p:nvSpPr>
        <p:spPr>
          <a:xfrm>
            <a:off x="7635240" y="5135880"/>
            <a:ext cx="4050792" cy="1264920"/>
          </a:xfrm>
          <a:prstGeom prst="roundRect">
            <a:avLst>
              <a:gd name="adj" fmla="val 4337"/>
            </a:avLst>
          </a:prstGeom>
          <a:solidFill>
            <a:srgbClr val="EAF6FC"/>
          </a:solidFill>
          <a:ln w="9525">
            <a:solidFill>
              <a:srgbClr val="29ABE2"/>
            </a:solidFill>
            <a:prstDash val="solid"/>
          </a:ln>
        </p:spPr>
      </p:sp>
      <p:sp>
        <p:nvSpPr>
          <p:cNvPr id="37" name="Text 34"/>
          <p:cNvSpPr/>
          <p:nvPr/>
        </p:nvSpPr>
        <p:spPr>
          <a:xfrm>
            <a:off x="7799832" y="5218176"/>
            <a:ext cx="3721608"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WATCH FOR</a:t>
            </a:r>
            <a:endParaRPr lang="en-US" sz="950" dirty="0"/>
          </a:p>
        </p:txBody>
      </p:sp>
      <p:sp>
        <p:nvSpPr>
          <p:cNvPr id="38" name="Text 35"/>
          <p:cNvSpPr/>
          <p:nvPr/>
        </p:nvSpPr>
        <p:spPr>
          <a:xfrm>
            <a:off x="7799832" y="54742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Loss flat at ln(8)? LR 2e-3 instead of 2e-5, or a broken label map · seqeval 0.95+? You are evaluating at subword level — mask the -100s · CUDA OOM at batch 32? Confirm fp16=True; else batch 16 + grad accum 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Benchmarks: What Good Looks Like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المعايير المرجعية: كيف يبدو النجاح</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63</a:t>
            </a:r>
            <a:endParaRPr lang="en-US" sz="8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236622"/>
                <a:gridCol w="2236622"/>
                <a:gridCol w="2236622"/>
                <a:gridCol w="2236622"/>
                <a:gridCol w="2236622"/>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Validation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Frozen test</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Train time (T4)</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TF-IDF + LinearSVC</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macro-F1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40 s (CPU)</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CAMeLBERT topic (seed 42)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macro-F1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8 m 10 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CAMeLBERT NER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entity F1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11 m 30 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QA (fine-tuned, provided)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EM / F1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0.68 / 0.81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0.66 / 0.79</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pre-trained for lab</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Targets: ≥ +8 macro-F1 over baseline; NER ≥ 0.80 entity-level; QA smoke 9/9 spans + 3/3 nulls. Per-entity: LOCATION 0.88, REF_NUM 0.91, SERVICE 0.74. Seed spread ≈ ±1.5 F1 — gains inside it are noise.</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Six Ways Fine-tuning Lies to You</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ست طرق يخدعك بها الضبط الدقيق</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64</a:t>
            </a:r>
            <a:endParaRPr lang="en-US" sz="800" dirty="0"/>
          </a:p>
        </p:txBody>
      </p:sp>
      <p:sp>
        <p:nvSpPr>
          <p:cNvPr id="8" name="Shape 5"/>
          <p:cNvSpPr/>
          <p:nvPr/>
        </p:nvSpPr>
        <p:spPr>
          <a:xfrm>
            <a:off x="502920" y="1517904"/>
            <a:ext cx="3544824" cy="2286000"/>
          </a:xfrm>
          <a:prstGeom prst="roundRect">
            <a:avLst>
              <a:gd name="adj" fmla="val 2400"/>
            </a:avLst>
          </a:prstGeom>
          <a:solidFill>
            <a:srgbClr val="F2F6F8"/>
          </a:solidFill>
          <a:ln/>
        </p:spPr>
      </p:sp>
      <p:sp>
        <p:nvSpPr>
          <p:cNvPr id="9" name="Shape 6"/>
          <p:cNvSpPr/>
          <p:nvPr/>
        </p:nvSpPr>
        <p:spPr>
          <a:xfrm>
            <a:off x="502920" y="1517904"/>
            <a:ext cx="82296" cy="2286000"/>
          </a:xfrm>
          <a:prstGeom prst="rect">
            <a:avLst/>
          </a:prstGeom>
          <a:solidFill>
            <a:srgbClr val="00A79D"/>
          </a:solidFill>
          <a:ln/>
        </p:spPr>
      </p:sp>
      <p:sp>
        <p:nvSpPr>
          <p:cNvPr id="10" name="Text 7"/>
          <p:cNvSpPr/>
          <p:nvPr/>
        </p:nvSpPr>
        <p:spPr>
          <a:xfrm>
            <a:off x="722376" y="163677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LEAKAGE</a:t>
            </a:r>
            <a:endParaRPr lang="en-US" sz="950" dirty="0"/>
          </a:p>
        </p:txBody>
      </p:sp>
      <p:sp>
        <p:nvSpPr>
          <p:cNvPr id="11" name="Text 8"/>
          <p:cNvSpPr/>
          <p:nvPr/>
        </p:nvSpPr>
        <p:spPr>
          <a:xfrm>
            <a:off x="722376"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Near-duplicate leaks</a:t>
            </a:r>
            <a:endParaRPr lang="en-US" sz="1450" dirty="0"/>
          </a:p>
        </p:txBody>
      </p:sp>
      <p:sp>
        <p:nvSpPr>
          <p:cNvPr id="12" name="Text 9"/>
          <p:cNvSpPr/>
          <p:nvPr/>
        </p:nvSpPr>
        <p:spPr>
          <a:xfrm>
            <a:off x="722376"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Random splits let one citizen's re-posted complaint straddle train/test; add 'one more look' tuning-on-test — inflation that dies live.</a:t>
            </a:r>
            <a:endParaRPr lang="en-US" sz="1050" dirty="0"/>
          </a:p>
        </p:txBody>
      </p:sp>
      <p:sp>
        <p:nvSpPr>
          <p:cNvPr id="13" name="Shape 10"/>
          <p:cNvSpPr/>
          <p:nvPr/>
        </p:nvSpPr>
        <p:spPr>
          <a:xfrm>
            <a:off x="4322064" y="1517904"/>
            <a:ext cx="3544824" cy="2286000"/>
          </a:xfrm>
          <a:prstGeom prst="roundRect">
            <a:avLst>
              <a:gd name="adj" fmla="val 2400"/>
            </a:avLst>
          </a:prstGeom>
          <a:solidFill>
            <a:srgbClr val="F2F6F8"/>
          </a:solidFill>
          <a:ln/>
        </p:spPr>
      </p:sp>
      <p:sp>
        <p:nvSpPr>
          <p:cNvPr id="14" name="Shape 11"/>
          <p:cNvSpPr/>
          <p:nvPr/>
        </p:nvSpPr>
        <p:spPr>
          <a:xfrm>
            <a:off x="4322064" y="1517904"/>
            <a:ext cx="82296" cy="2286000"/>
          </a:xfrm>
          <a:prstGeom prst="rect">
            <a:avLst/>
          </a:prstGeom>
          <a:solidFill>
            <a:srgbClr val="29ABE2"/>
          </a:solidFill>
          <a:ln/>
        </p:spPr>
      </p:sp>
      <p:sp>
        <p:nvSpPr>
          <p:cNvPr id="15" name="Text 12"/>
          <p:cNvSpPr/>
          <p:nvPr/>
        </p:nvSpPr>
        <p:spPr>
          <a:xfrm>
            <a:off x="4541520" y="163677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ALIGNMENT</a:t>
            </a:r>
            <a:endParaRPr lang="en-US" sz="950" dirty="0"/>
          </a:p>
        </p:txBody>
      </p:sp>
      <p:sp>
        <p:nvSpPr>
          <p:cNvPr id="16" name="Text 13"/>
          <p:cNvSpPr/>
          <p:nvPr/>
        </p:nvSpPr>
        <p:spPr>
          <a:xfrm>
            <a:off x="4541520"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Continuations labelled</a:t>
            </a:r>
            <a:endParaRPr lang="en-US" sz="1450" dirty="0"/>
          </a:p>
        </p:txBody>
      </p:sp>
      <p:sp>
        <p:nvSpPr>
          <p:cNvPr id="17" name="Text 14"/>
          <p:cNvSpPr/>
          <p:nvPr/>
        </p:nvSpPr>
        <p:spPr>
          <a:xfrm>
            <a:off x="4541520"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Subwords tagged instead of -100: loss looks better, entity F1 is 14 points worse (sim-align-bug). The loss is not the metric.</a:t>
            </a:r>
            <a:endParaRPr lang="en-US" sz="1050" dirty="0"/>
          </a:p>
        </p:txBody>
      </p:sp>
      <p:sp>
        <p:nvSpPr>
          <p:cNvPr id="18" name="Shape 15"/>
          <p:cNvSpPr/>
          <p:nvPr/>
        </p:nvSpPr>
        <p:spPr>
          <a:xfrm>
            <a:off x="8141208" y="1517904"/>
            <a:ext cx="3544824" cy="2286000"/>
          </a:xfrm>
          <a:prstGeom prst="roundRect">
            <a:avLst>
              <a:gd name="adj" fmla="val 2400"/>
            </a:avLst>
          </a:prstGeom>
          <a:solidFill>
            <a:srgbClr val="F2F6F8"/>
          </a:solidFill>
          <a:ln/>
        </p:spPr>
      </p:sp>
      <p:sp>
        <p:nvSpPr>
          <p:cNvPr id="19" name="Shape 16"/>
          <p:cNvSpPr/>
          <p:nvPr/>
        </p:nvSpPr>
        <p:spPr>
          <a:xfrm>
            <a:off x="8141208" y="1517904"/>
            <a:ext cx="82296" cy="2286000"/>
          </a:xfrm>
          <a:prstGeom prst="rect">
            <a:avLst/>
          </a:prstGeom>
          <a:solidFill>
            <a:srgbClr val="F7941D"/>
          </a:solidFill>
          <a:ln/>
        </p:spPr>
      </p:sp>
      <p:sp>
        <p:nvSpPr>
          <p:cNvPr id="20" name="Text 17"/>
          <p:cNvSpPr/>
          <p:nvPr/>
        </p:nvSpPr>
        <p:spPr>
          <a:xfrm>
            <a:off x="8360664" y="1636776"/>
            <a:ext cx="3133344"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ONE SEED</a:t>
            </a:r>
            <a:endParaRPr lang="en-US" sz="950" dirty="0"/>
          </a:p>
        </p:txBody>
      </p:sp>
      <p:sp>
        <p:nvSpPr>
          <p:cNvPr id="21" name="Text 18"/>
          <p:cNvSpPr/>
          <p:nvPr/>
        </p:nvSpPr>
        <p:spPr>
          <a:xfrm>
            <a:off x="8360664"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Trusting a single run</a:t>
            </a:r>
            <a:endParaRPr lang="en-US" sz="1450" dirty="0"/>
          </a:p>
        </p:txBody>
      </p:sp>
      <p:sp>
        <p:nvSpPr>
          <p:cNvPr id="22" name="Text 19"/>
          <p:cNvSpPr/>
          <p:nvPr/>
        </p:nvSpPr>
        <p:spPr>
          <a:xfrm>
            <a:off x="8360664"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±1–2 F1 seed variance on 3k examples — report mean ± spread over 3 seeds before claiming any improvement.</a:t>
            </a:r>
            <a:endParaRPr lang="en-US" sz="1050" dirty="0"/>
          </a:p>
        </p:txBody>
      </p:sp>
      <p:sp>
        <p:nvSpPr>
          <p:cNvPr id="23" name="Shape 20"/>
          <p:cNvSpPr/>
          <p:nvPr/>
        </p:nvSpPr>
        <p:spPr>
          <a:xfrm>
            <a:off x="502920" y="4078224"/>
            <a:ext cx="3544824" cy="2286000"/>
          </a:xfrm>
          <a:prstGeom prst="roundRect">
            <a:avLst>
              <a:gd name="adj" fmla="val 2400"/>
            </a:avLst>
          </a:prstGeom>
          <a:solidFill>
            <a:srgbClr val="F2F6F8"/>
          </a:solidFill>
          <a:ln/>
        </p:spPr>
      </p:sp>
      <p:sp>
        <p:nvSpPr>
          <p:cNvPr id="24" name="Shape 21"/>
          <p:cNvSpPr/>
          <p:nvPr/>
        </p:nvSpPr>
        <p:spPr>
          <a:xfrm>
            <a:off x="502920" y="4078224"/>
            <a:ext cx="82296" cy="2286000"/>
          </a:xfrm>
          <a:prstGeom prst="rect">
            <a:avLst/>
          </a:prstGeom>
          <a:solidFill>
            <a:srgbClr val="8CC63F"/>
          </a:solidFill>
          <a:ln/>
        </p:spPr>
      </p:sp>
      <p:sp>
        <p:nvSpPr>
          <p:cNvPr id="25" name="Text 22"/>
          <p:cNvSpPr/>
          <p:nvPr/>
        </p:nvSpPr>
        <p:spPr>
          <a:xfrm>
            <a:off x="722376" y="4197096"/>
            <a:ext cx="3133344" cy="237744"/>
          </a:xfrm>
          <a:prstGeom prst="rect">
            <a:avLst/>
          </a:prstGeom>
          <a:noFill/>
          <a:ln/>
        </p:spPr>
        <p:txBody>
          <a:bodyPr wrap="square" lIns="0" tIns="0" rIns="0" bIns="0" rtlCol="0" anchor="ctr"/>
          <a:lstStyle/>
          <a:p>
            <a:pPr indent="0" marL="0">
              <a:buNone/>
            </a:pPr>
            <a:r>
              <a:rPr lang="en-US" sz="950" b="1" spc="150" kern="0" dirty="0">
                <a:solidFill>
                  <a:srgbClr val="8CC63F"/>
                </a:solidFill>
                <a:latin typeface="Calibri" pitchFamily="34" charset="0"/>
                <a:ea typeface="Calibri" pitchFamily="34" charset="-122"/>
                <a:cs typeface="Calibri" pitchFamily="34" charset="-120"/>
              </a:rPr>
              <a:t>NO BASELINE</a:t>
            </a:r>
            <a:endParaRPr lang="en-US" sz="950" dirty="0"/>
          </a:p>
        </p:txBody>
      </p:sp>
      <p:sp>
        <p:nvSpPr>
          <p:cNvPr id="26" name="Text 23"/>
          <p:cNvSpPr/>
          <p:nvPr/>
        </p:nvSpPr>
        <p:spPr>
          <a:xfrm>
            <a:off x="722376"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Skipping TF-IDF + SVM</a:t>
            </a:r>
            <a:endParaRPr lang="en-US" sz="1450" dirty="0"/>
          </a:p>
        </p:txBody>
      </p:sp>
      <p:sp>
        <p:nvSpPr>
          <p:cNvPr id="27" name="Text 24"/>
          <p:cNvSpPr/>
          <p:nvPr/>
        </p:nvSpPr>
        <p:spPr>
          <a:xfrm>
            <a:off x="722376"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Minutes on CPU: sets the floor, catches broken labels early, gives the business-case denominator. Most common senior-review finding.</a:t>
            </a:r>
            <a:endParaRPr lang="en-US" sz="1050" dirty="0"/>
          </a:p>
        </p:txBody>
      </p:sp>
      <p:sp>
        <p:nvSpPr>
          <p:cNvPr id="28" name="Shape 25"/>
          <p:cNvSpPr/>
          <p:nvPr/>
        </p:nvSpPr>
        <p:spPr>
          <a:xfrm>
            <a:off x="4322064" y="4078224"/>
            <a:ext cx="3544824" cy="2286000"/>
          </a:xfrm>
          <a:prstGeom prst="roundRect">
            <a:avLst>
              <a:gd name="adj" fmla="val 2400"/>
            </a:avLst>
          </a:prstGeom>
          <a:solidFill>
            <a:srgbClr val="F2F6F8"/>
          </a:solidFill>
          <a:ln/>
        </p:spPr>
      </p:sp>
      <p:sp>
        <p:nvSpPr>
          <p:cNvPr id="29" name="Shape 26"/>
          <p:cNvSpPr/>
          <p:nvPr/>
        </p:nvSpPr>
        <p:spPr>
          <a:xfrm>
            <a:off x="4322064" y="4078224"/>
            <a:ext cx="82296" cy="2286000"/>
          </a:xfrm>
          <a:prstGeom prst="rect">
            <a:avLst/>
          </a:prstGeom>
          <a:solidFill>
            <a:srgbClr val="00A79D"/>
          </a:solidFill>
          <a:ln/>
        </p:spPr>
      </p:sp>
      <p:sp>
        <p:nvSpPr>
          <p:cNvPr id="30" name="Text 27"/>
          <p:cNvSpPr/>
          <p:nvPr/>
        </p:nvSpPr>
        <p:spPr>
          <a:xfrm>
            <a:off x="4541520" y="419709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SKEW</a:t>
            </a:r>
            <a:endParaRPr lang="en-US" sz="950" dirty="0"/>
          </a:p>
        </p:txBody>
      </p:sp>
      <p:sp>
        <p:nvSpPr>
          <p:cNvPr id="31" name="Text 28"/>
          <p:cNvSpPr/>
          <p:nvPr/>
        </p:nvSpPr>
        <p:spPr>
          <a:xfrm>
            <a:off x="4541520"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Train ≠ serve text</a:t>
            </a:r>
            <a:endParaRPr lang="en-US" sz="1450" dirty="0"/>
          </a:p>
        </p:txBody>
      </p:sp>
      <p:sp>
        <p:nvSpPr>
          <p:cNvPr id="32" name="Text 29"/>
          <p:cNvSpPr/>
          <p:nvPr/>
        </p:nvSpPr>
        <p:spPr>
          <a:xfrm>
            <a:off x="4541520"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Fine-tune on unnormalised text, serve normalised (or vice versa) — M1's skew, third appearance. Import the preprocessing module by construction.</a:t>
            </a:r>
            <a:endParaRPr lang="en-US" sz="1050" dirty="0"/>
          </a:p>
        </p:txBody>
      </p:sp>
      <p:sp>
        <p:nvSpPr>
          <p:cNvPr id="33" name="Shape 30"/>
          <p:cNvSpPr/>
          <p:nvPr/>
        </p:nvSpPr>
        <p:spPr>
          <a:xfrm>
            <a:off x="8141208" y="4078224"/>
            <a:ext cx="3544824" cy="2286000"/>
          </a:xfrm>
          <a:prstGeom prst="roundRect">
            <a:avLst>
              <a:gd name="adj" fmla="val 2400"/>
            </a:avLst>
          </a:prstGeom>
          <a:solidFill>
            <a:srgbClr val="F2F6F8"/>
          </a:solidFill>
          <a:ln/>
        </p:spPr>
      </p:sp>
      <p:sp>
        <p:nvSpPr>
          <p:cNvPr id="34" name="Shape 31"/>
          <p:cNvSpPr/>
          <p:nvPr/>
        </p:nvSpPr>
        <p:spPr>
          <a:xfrm>
            <a:off x="8141208" y="4078224"/>
            <a:ext cx="82296" cy="2286000"/>
          </a:xfrm>
          <a:prstGeom prst="rect">
            <a:avLst/>
          </a:prstGeom>
          <a:solidFill>
            <a:srgbClr val="29ABE2"/>
          </a:solidFill>
          <a:ln/>
        </p:spPr>
      </p:sp>
      <p:sp>
        <p:nvSpPr>
          <p:cNvPr id="35" name="Text 32"/>
          <p:cNvSpPr/>
          <p:nvPr/>
        </p:nvSpPr>
        <p:spPr>
          <a:xfrm>
            <a:off x="8360664" y="419709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SPRAWL</a:t>
            </a:r>
            <a:endParaRPr lang="en-US" sz="950" dirty="0"/>
          </a:p>
        </p:txBody>
      </p:sp>
      <p:sp>
        <p:nvSpPr>
          <p:cNvPr id="36" name="Text 33"/>
          <p:cNvSpPr/>
          <p:nvPr/>
        </p:nvSpPr>
        <p:spPr>
          <a:xfrm>
            <a:off x="8360664"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model_final_v2_REAL.bin</a:t>
            </a:r>
            <a:endParaRPr lang="en-US" sz="1450" dirty="0"/>
          </a:p>
        </p:txBody>
      </p:sp>
      <p:sp>
        <p:nvSpPr>
          <p:cNvPr id="37" name="Text 34"/>
          <p:cNvSpPr/>
          <p:nvPr/>
        </p:nvSpPr>
        <p:spPr>
          <a:xfrm>
            <a:off x="8360664"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No load_best_model_at_end means final epoch ≠ best epoch. Every kept checkpoint carries its config, data version, seed and metric.</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Study: the 88 → 79 Gap</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فجوة ٨٨ إلى ٧٩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65</a:t>
            </a:r>
            <a:endParaRPr lang="en-US" sz="800" dirty="0"/>
          </a:p>
        </p:txBody>
      </p:sp>
      <p:sp>
        <p:nvSpPr>
          <p:cNvPr id="8" name="Shape 5"/>
          <p:cNvSpPr/>
          <p:nvPr/>
        </p:nvSpPr>
        <p:spPr>
          <a:xfrm>
            <a:off x="502920" y="1444752"/>
            <a:ext cx="1042416" cy="329184"/>
          </a:xfrm>
          <a:prstGeom prst="roundRect">
            <a:avLst>
              <a:gd name="adj" fmla="val 22222"/>
            </a:avLst>
          </a:prstGeom>
          <a:solidFill>
            <a:srgbClr val="1D2A5C"/>
          </a:solidFill>
          <a:ln/>
        </p:spPr>
      </p:sp>
      <p:sp>
        <p:nvSpPr>
          <p:cNvPr id="9" name="Text 6"/>
          <p:cNvSpPr/>
          <p:nvPr/>
        </p:nvSpPr>
        <p:spPr>
          <a:xfrm>
            <a:off x="502920" y="1444752"/>
            <a:ext cx="104241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CASE STUDY</a:t>
            </a:r>
            <a:endParaRPr lang="en-US" sz="1050" dirty="0"/>
          </a:p>
        </p:txBody>
      </p:sp>
      <p:sp>
        <p:nvSpPr>
          <p:cNvPr id="10" name="Text 7"/>
          <p:cNvSpPr/>
          <p:nvPr/>
        </p:nvSpPr>
        <p:spPr>
          <a:xfrm>
            <a:off x="2148840" y="1444752"/>
            <a:ext cx="9509760" cy="329184"/>
          </a:xfrm>
          <a:prstGeom prst="rect">
            <a:avLst/>
          </a:prstGeom>
          <a:noFill/>
          <a:ln/>
        </p:spPr>
        <p:txBody>
          <a:bodyPr wrap="square" lIns="0" tIns="0" rIns="0" bIns="0"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Ticket Triage at a Saudi Telecom Operator</a:t>
            </a:r>
            <a:endParaRPr lang="en-US" sz="1300" dirty="0"/>
          </a:p>
        </p:txBody>
      </p:sp>
      <p:sp>
        <p:nvSpPr>
          <p:cNvPr id="11" name="Shape 8"/>
          <p:cNvSpPr/>
          <p:nvPr/>
        </p:nvSpPr>
        <p:spPr>
          <a:xfrm>
            <a:off x="502920" y="1965960"/>
            <a:ext cx="5477256" cy="1645920"/>
          </a:xfrm>
          <a:prstGeom prst="roundRect">
            <a:avLst>
              <a:gd name="adj" fmla="val 3333"/>
            </a:avLst>
          </a:prstGeom>
          <a:solidFill>
            <a:srgbClr val="F2F6F8"/>
          </a:solidFill>
          <a:ln/>
        </p:spPr>
      </p:sp>
      <p:sp>
        <p:nvSpPr>
          <p:cNvPr id="12" name="Text 9"/>
          <p:cNvSpPr/>
          <p:nvPr/>
        </p:nvSpPr>
        <p:spPr>
          <a:xfrm>
            <a:off x="713232" y="2057400"/>
            <a:ext cx="5056632" cy="237744"/>
          </a:xfrm>
          <a:prstGeom prst="rect">
            <a:avLst/>
          </a:prstGeom>
          <a:noFill/>
          <a:ln/>
        </p:spPr>
        <p:txBody>
          <a:bodyPr wrap="square" lIns="0" tIns="0" rIns="0" bIns="0" rtlCol="0" anchor="ctr"/>
          <a:lstStyle/>
          <a:p>
            <a:pPr indent="0" marL="0">
              <a:buNone/>
            </a:pPr>
            <a:r>
              <a:rPr lang="en-US" sz="950" b="1" spc="150" kern="0" dirty="0">
                <a:solidFill>
                  <a:srgbClr val="6E7B8A"/>
                </a:solidFill>
                <a:latin typeface="Calibri" pitchFamily="34" charset="0"/>
                <a:ea typeface="Calibri" pitchFamily="34" charset="-122"/>
                <a:cs typeface="Calibri" pitchFamily="34" charset="-120"/>
              </a:rPr>
              <a:t>SITUATION</a:t>
            </a:r>
            <a:endParaRPr lang="en-US" sz="950" dirty="0"/>
          </a:p>
        </p:txBody>
      </p:sp>
      <p:sp>
        <p:nvSpPr>
          <p:cNvPr id="13" name="Text 10"/>
          <p:cNvSpPr/>
          <p:nvPr/>
        </p:nvSpPr>
        <p:spPr>
          <a:xfrm>
            <a:off x="713232" y="233172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80,000 daily tickets routed to 14 resolution queues. The incumbent keyword router hits 61%; mis-routed tickets bounce 2.3 times on average, each bounce adding ~4 hours. The team fine-tuned an Arabic BERT to 88% validation accuracy — but the pilot showed 79% on live traffic, and the project is under review.</a:t>
            </a:r>
            <a:endParaRPr lang="en-US" sz="1050" dirty="0"/>
          </a:p>
        </p:txBody>
      </p:sp>
      <p:sp>
        <p:nvSpPr>
          <p:cNvPr id="14" name="Shape 11"/>
          <p:cNvSpPr/>
          <p:nvPr/>
        </p:nvSpPr>
        <p:spPr>
          <a:xfrm>
            <a:off x="502920" y="3749040"/>
            <a:ext cx="5477256" cy="1645920"/>
          </a:xfrm>
          <a:prstGeom prst="roundRect">
            <a:avLst>
              <a:gd name="adj" fmla="val 3333"/>
            </a:avLst>
          </a:prstGeom>
          <a:solidFill>
            <a:srgbClr val="FEF3E3"/>
          </a:solidFill>
          <a:ln/>
        </p:spPr>
      </p:sp>
      <p:sp>
        <p:nvSpPr>
          <p:cNvPr id="15" name="Text 12"/>
          <p:cNvSpPr/>
          <p:nvPr/>
        </p:nvSpPr>
        <p:spPr>
          <a:xfrm>
            <a:off x="713232" y="3840480"/>
            <a:ext cx="5056632"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CHALLENGE</a:t>
            </a:r>
            <a:endParaRPr lang="en-US" sz="950" dirty="0"/>
          </a:p>
        </p:txBody>
      </p:sp>
      <p:sp>
        <p:nvSpPr>
          <p:cNvPr id="16" name="Text 13"/>
          <p:cNvSpPr/>
          <p:nvPr/>
        </p:nvSpPr>
        <p:spPr>
          <a:xfrm>
            <a:off x="713232" y="411480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Explain the 88-vs-79 gap and produce a number the business can trust. Constraints: labels come from historical routing decisions — including the keyword router's own errors; the ticket mix shifts weekly; some queues merged last quarter (schema drift); PII rules forbid exporting raw tickets to external tools.</a:t>
            </a:r>
            <a:endParaRPr lang="en-US" sz="1050" dirty="0"/>
          </a:p>
        </p:txBody>
      </p:sp>
      <p:sp>
        <p:nvSpPr>
          <p:cNvPr id="17" name="Shape 14"/>
          <p:cNvSpPr/>
          <p:nvPr/>
        </p:nvSpPr>
        <p:spPr>
          <a:xfrm>
            <a:off x="6208776" y="1965960"/>
            <a:ext cx="5477256" cy="3429000"/>
          </a:xfrm>
          <a:prstGeom prst="roundRect">
            <a:avLst>
              <a:gd name="adj" fmla="val 1600"/>
            </a:avLst>
          </a:prstGeom>
          <a:solidFill>
            <a:srgbClr val="E6F5F4"/>
          </a:solidFill>
          <a:ln/>
        </p:spPr>
      </p:sp>
      <p:sp>
        <p:nvSpPr>
          <p:cNvPr id="18" name="Text 15"/>
          <p:cNvSpPr/>
          <p:nvPr/>
        </p:nvSpPr>
        <p:spPr>
          <a:xfrm>
            <a:off x="6409944" y="2066544"/>
            <a:ext cx="5074920"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APPROACH</a:t>
            </a:r>
            <a:endParaRPr lang="en-US" sz="950" dirty="0"/>
          </a:p>
        </p:txBody>
      </p:sp>
      <p:sp>
        <p:nvSpPr>
          <p:cNvPr id="19" name="Shape 16"/>
          <p:cNvSpPr/>
          <p:nvPr/>
        </p:nvSpPr>
        <p:spPr>
          <a:xfrm>
            <a:off x="6409944" y="2395728"/>
            <a:ext cx="237744" cy="237744"/>
          </a:xfrm>
          <a:prstGeom prst="ellipse">
            <a:avLst/>
          </a:prstGeom>
          <a:solidFill>
            <a:srgbClr val="00A79D"/>
          </a:solidFill>
          <a:ln/>
        </p:spPr>
      </p:sp>
      <p:sp>
        <p:nvSpPr>
          <p:cNvPr id="20" name="Text 17"/>
          <p:cNvSpPr/>
          <p:nvPr/>
        </p:nvSpPr>
        <p:spPr>
          <a:xfrm>
            <a:off x="6409944" y="23957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p:nvPr/>
        </p:nvSpPr>
        <p:spPr>
          <a:xfrm>
            <a:off x="6757416" y="237744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Grouped splitting kills near-duplicate leakage (same customer, same issue, re-opened): offline 88 → 83</a:t>
            </a:r>
            <a:endParaRPr lang="en-US" sz="1050" dirty="0"/>
          </a:p>
        </p:txBody>
      </p:sp>
      <p:sp>
        <p:nvSpPr>
          <p:cNvPr id="22" name="Shape 19"/>
          <p:cNvSpPr/>
          <p:nvPr/>
        </p:nvSpPr>
        <p:spPr>
          <a:xfrm>
            <a:off x="6409944" y="3127248"/>
            <a:ext cx="237744" cy="237744"/>
          </a:xfrm>
          <a:prstGeom prst="ellipse">
            <a:avLst/>
          </a:prstGeom>
          <a:solidFill>
            <a:srgbClr val="00A79D"/>
          </a:solidFill>
          <a:ln/>
        </p:spPr>
      </p:sp>
      <p:sp>
        <p:nvSpPr>
          <p:cNvPr id="23" name="Text 20"/>
          <p:cNvSpPr/>
          <p:nvPr/>
        </p:nvSpPr>
        <p:spPr>
          <a:xfrm>
            <a:off x="6409944" y="31272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6757416" y="310896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Re-evaluate on the current 12-queue schema, not the old 14 (two merged last quarter): 83 → 81</a:t>
            </a:r>
            <a:endParaRPr lang="en-US" sz="1050" dirty="0"/>
          </a:p>
        </p:txBody>
      </p:sp>
      <p:sp>
        <p:nvSpPr>
          <p:cNvPr id="25" name="Shape 22"/>
          <p:cNvSpPr/>
          <p:nvPr/>
        </p:nvSpPr>
        <p:spPr>
          <a:xfrm>
            <a:off x="6409944" y="3858768"/>
            <a:ext cx="237744" cy="237744"/>
          </a:xfrm>
          <a:prstGeom prst="ellipse">
            <a:avLst/>
          </a:prstGeom>
          <a:solidFill>
            <a:srgbClr val="00A79D"/>
          </a:solidFill>
          <a:ln/>
        </p:spPr>
      </p:sp>
      <p:sp>
        <p:nvSpPr>
          <p:cNvPr id="26" name="Text 23"/>
          <p:cNvSpPr/>
          <p:nvPr/>
        </p:nvSpPr>
        <p:spPr>
          <a:xfrm>
            <a:off x="6409944" y="3858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4"/>
          <p:cNvSpPr/>
          <p:nvPr/>
        </p:nvSpPr>
        <p:spPr>
          <a:xfrm>
            <a:off x="6757416" y="384048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600-ticket gold re-label of the two noisiest queues — the model actually beats its inherited labels there</a:t>
            </a:r>
            <a:endParaRPr lang="en-US" sz="1050" dirty="0"/>
          </a:p>
        </p:txBody>
      </p:sp>
      <p:sp>
        <p:nvSpPr>
          <p:cNvPr id="28" name="Shape 25"/>
          <p:cNvSpPr/>
          <p:nvPr/>
        </p:nvSpPr>
        <p:spPr>
          <a:xfrm>
            <a:off x="6409944" y="4590288"/>
            <a:ext cx="237744" cy="237744"/>
          </a:xfrm>
          <a:prstGeom prst="ellipse">
            <a:avLst/>
          </a:prstGeom>
          <a:solidFill>
            <a:srgbClr val="00A79D"/>
          </a:solidFill>
          <a:ln/>
        </p:spPr>
      </p:sp>
      <p:sp>
        <p:nvSpPr>
          <p:cNvPr id="29" name="Text 26"/>
          <p:cNvSpPr/>
          <p:nvPr/>
        </p:nvSpPr>
        <p:spPr>
          <a:xfrm>
            <a:off x="6409944" y="45902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0" name="Text 27"/>
          <p:cNvSpPr/>
          <p:nvPr/>
        </p:nvSpPr>
        <p:spPr>
          <a:xfrm>
            <a:off x="6757416" y="457200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Rebuilt eval + weekly live-sampled 200-ticket audit: offline 81 now tracks live 80 ± 1</a:t>
            </a:r>
            <a:endParaRPr lang="en-US" sz="1050" dirty="0"/>
          </a:p>
        </p:txBody>
      </p:sp>
      <p:sp>
        <p:nvSpPr>
          <p:cNvPr id="31" name="Shape 28"/>
          <p:cNvSpPr/>
          <p:nvPr/>
        </p:nvSpPr>
        <p:spPr>
          <a:xfrm>
            <a:off x="502920" y="5577840"/>
            <a:ext cx="11183112" cy="731520"/>
          </a:xfrm>
          <a:prstGeom prst="roundRect">
            <a:avLst>
              <a:gd name="adj" fmla="val 10000"/>
            </a:avLst>
          </a:prstGeom>
          <a:solidFill>
            <a:srgbClr val="1D2A5C"/>
          </a:solidFill>
          <a:ln/>
        </p:spPr>
      </p:sp>
      <p:sp>
        <p:nvSpPr>
          <p:cNvPr id="32" name="Text 29"/>
          <p:cNvSpPr/>
          <p:nvPr/>
        </p:nvSpPr>
        <p:spPr>
          <a:xfrm>
            <a:off x="731520" y="5577840"/>
            <a:ext cx="10744200" cy="73152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LESSON   </a:t>
            </a:r>
            <a:pPr indent="0" marL="0">
              <a:buNone/>
            </a:pPr>
            <a:r>
              <a:rPr lang="en-US" sz="1150" dirty="0">
                <a:solidFill>
                  <a:srgbClr val="FFFFFF"/>
                </a:solidFill>
                <a:latin typeface="Calibri" pitchFamily="34" charset="0"/>
                <a:ea typeface="Calibri" pitchFamily="34" charset="-122"/>
                <a:cs typeface="Calibri" pitchFamily="34" charset="-120"/>
              </a:rPr>
              <a:t>The VP gets 80 with a confidence band and a drift plan — not 88. Every accuracy point ≈ 800 correctly routed tickets/day; a number the business can trust beats a bigger one.</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Quick Check — Learning Rate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معدل التعلّم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66</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Q1</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A fine-tune runs at LR 2e-3 instead of 2e-5. Training loss drops, then validation collapses toward majority-class. What happened?</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Class imbalance — the minority classes need resampling</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Catastrophic forgetting — big steps destroyed the pretrained structure</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Test-set leakage inflating the early validation scores</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Underfitting — the model simply needs more epochs</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The pretrained weights are already a good optimum; 2e-5 exists to stay near it. Simulation 2 in the lab reproduces this exact collapse with a one-line config change.</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Quick Check — Label Alignment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محاذاة التسميات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67</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Q2</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In NER label alignment, what does assigning -100 to continuation subwords actually do?</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Excludes them from loss and evaluation — they don't vote</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Marks them as the O (outside) class</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Flags them for the data collator to drop from the batch</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Down-weights them by a factor of 100 in the loss</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Label continuations with real tags instead and you mint fake entity beginnings: training loss looks better while entity F1 drops 14 points (branch sim-align-bug).</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MODULE 4 · ARABIC NLP</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Every module so far treated Arabic as one language among two. This module treats it as the engineering problem it actually is.</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Morphology, dialects, orthography — and the tools and checkpoints that answer each stress.</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68</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4 Learning Objectives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الوحدة الرابعة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69</a:t>
            </a:r>
            <a:endParaRPr lang="en-US" sz="800" dirty="0"/>
          </a:p>
        </p:txBody>
      </p:sp>
      <p:sp>
        <p:nvSpPr>
          <p:cNvPr id="8" name="Shape 5"/>
          <p:cNvSpPr/>
          <p:nvPr/>
        </p:nvSpPr>
        <p:spPr>
          <a:xfrm>
            <a:off x="502920" y="1481328"/>
            <a:ext cx="5449824" cy="1389888"/>
          </a:xfrm>
          <a:prstGeom prst="roundRect">
            <a:avLst>
              <a:gd name="adj" fmla="val 3947"/>
            </a:avLst>
          </a:prstGeom>
          <a:solidFill>
            <a:srgbClr val="F2F6F8"/>
          </a:solidFill>
          <a:ln/>
        </p:spPr>
      </p:sp>
      <p:sp>
        <p:nvSpPr>
          <p:cNvPr id="9" name="Shape 6"/>
          <p:cNvSpPr/>
          <p:nvPr/>
        </p:nvSpPr>
        <p:spPr>
          <a:xfrm>
            <a:off x="502920" y="1481328"/>
            <a:ext cx="64008" cy="1389888"/>
          </a:xfrm>
          <a:prstGeom prst="rect">
            <a:avLst/>
          </a:prstGeom>
          <a:solidFill>
            <a:srgbClr val="00A79D"/>
          </a:solidFill>
          <a:ln/>
        </p:spPr>
      </p:sp>
      <p:sp>
        <p:nvSpPr>
          <p:cNvPr id="10" name="Shape 7"/>
          <p:cNvSpPr/>
          <p:nvPr/>
        </p:nvSpPr>
        <p:spPr>
          <a:xfrm>
            <a:off x="685800" y="1609344"/>
            <a:ext cx="822960" cy="274320"/>
          </a:xfrm>
          <a:prstGeom prst="roundRect">
            <a:avLst>
              <a:gd name="adj" fmla="val 26667"/>
            </a:avLst>
          </a:prstGeom>
          <a:solidFill>
            <a:srgbClr val="1D2A5C"/>
          </a:solidFill>
          <a:ln/>
        </p:spPr>
      </p:sp>
      <p:sp>
        <p:nvSpPr>
          <p:cNvPr id="11" name="Text 8"/>
          <p:cNvSpPr/>
          <p:nvPr/>
        </p:nvSpPr>
        <p:spPr>
          <a:xfrm>
            <a:off x="685800" y="1609344"/>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4.1</a:t>
            </a:r>
            <a:endParaRPr lang="en-US" sz="1000" dirty="0"/>
          </a:p>
        </p:txBody>
      </p:sp>
      <p:sp>
        <p:nvSpPr>
          <p:cNvPr id="12" name="Text 9"/>
          <p:cNvSpPr/>
          <p:nvPr/>
        </p:nvSpPr>
        <p:spPr>
          <a:xfrm>
            <a:off x="4352544" y="1609344"/>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LO1</a:t>
            </a:r>
            <a:endParaRPr lang="en-US" sz="900" dirty="0"/>
          </a:p>
        </p:txBody>
      </p:sp>
      <p:sp>
        <p:nvSpPr>
          <p:cNvPr id="13" name="Text 10"/>
          <p:cNvSpPr/>
          <p:nvPr/>
        </p:nvSpPr>
        <p:spPr>
          <a:xfrm>
            <a:off x="685800" y="1938528"/>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Explain Arabic morphology, orthographic variation and the dialect continuum as NLP defect sources</a:t>
            </a:r>
            <a:endParaRPr lang="en-US" sz="1200" dirty="0"/>
          </a:p>
        </p:txBody>
      </p:sp>
      <p:sp>
        <p:nvSpPr>
          <p:cNvPr id="14" name="Shape 11"/>
          <p:cNvSpPr/>
          <p:nvPr/>
        </p:nvSpPr>
        <p:spPr>
          <a:xfrm>
            <a:off x="6236208" y="1481328"/>
            <a:ext cx="5449824" cy="1389888"/>
          </a:xfrm>
          <a:prstGeom prst="roundRect">
            <a:avLst>
              <a:gd name="adj" fmla="val 3947"/>
            </a:avLst>
          </a:prstGeom>
          <a:solidFill>
            <a:srgbClr val="F2F6F8"/>
          </a:solidFill>
          <a:ln/>
        </p:spPr>
      </p:sp>
      <p:sp>
        <p:nvSpPr>
          <p:cNvPr id="15" name="Shape 12"/>
          <p:cNvSpPr/>
          <p:nvPr/>
        </p:nvSpPr>
        <p:spPr>
          <a:xfrm>
            <a:off x="6236208" y="1481328"/>
            <a:ext cx="64008" cy="1389888"/>
          </a:xfrm>
          <a:prstGeom prst="rect">
            <a:avLst/>
          </a:prstGeom>
          <a:solidFill>
            <a:srgbClr val="29ABE2"/>
          </a:solidFill>
          <a:ln/>
        </p:spPr>
      </p:sp>
      <p:sp>
        <p:nvSpPr>
          <p:cNvPr id="16" name="Shape 13"/>
          <p:cNvSpPr/>
          <p:nvPr/>
        </p:nvSpPr>
        <p:spPr>
          <a:xfrm>
            <a:off x="6419088" y="1609344"/>
            <a:ext cx="822960" cy="274320"/>
          </a:xfrm>
          <a:prstGeom prst="roundRect">
            <a:avLst>
              <a:gd name="adj" fmla="val 26667"/>
            </a:avLst>
          </a:prstGeom>
          <a:solidFill>
            <a:srgbClr val="1D2A5C"/>
          </a:solidFill>
          <a:ln/>
        </p:spPr>
      </p:sp>
      <p:sp>
        <p:nvSpPr>
          <p:cNvPr id="17" name="Text 14"/>
          <p:cNvSpPr/>
          <p:nvPr/>
        </p:nvSpPr>
        <p:spPr>
          <a:xfrm>
            <a:off x="6419088" y="1609344"/>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4.2</a:t>
            </a:r>
            <a:endParaRPr lang="en-US" sz="1000" dirty="0"/>
          </a:p>
        </p:txBody>
      </p:sp>
      <p:sp>
        <p:nvSpPr>
          <p:cNvPr id="18" name="Text 15"/>
          <p:cNvSpPr/>
          <p:nvPr/>
        </p:nvSpPr>
        <p:spPr>
          <a:xfrm>
            <a:off x="10085832" y="1609344"/>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LO1</a:t>
            </a:r>
            <a:endParaRPr lang="en-US" sz="900" dirty="0"/>
          </a:p>
        </p:txBody>
      </p:sp>
      <p:sp>
        <p:nvSpPr>
          <p:cNvPr id="19" name="Text 16"/>
          <p:cNvSpPr/>
          <p:nvPr/>
        </p:nvSpPr>
        <p:spPr>
          <a:xfrm>
            <a:off x="6419088" y="1938528"/>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Apply CAMeL Tools normalisation, dediacritisation and morphological segmentation correctly per model</a:t>
            </a:r>
            <a:endParaRPr lang="en-US" sz="1200" dirty="0"/>
          </a:p>
        </p:txBody>
      </p:sp>
      <p:sp>
        <p:nvSpPr>
          <p:cNvPr id="20" name="Shape 17"/>
          <p:cNvSpPr/>
          <p:nvPr/>
        </p:nvSpPr>
        <p:spPr>
          <a:xfrm>
            <a:off x="502920" y="3072384"/>
            <a:ext cx="5449824" cy="1389888"/>
          </a:xfrm>
          <a:prstGeom prst="roundRect">
            <a:avLst>
              <a:gd name="adj" fmla="val 3947"/>
            </a:avLst>
          </a:prstGeom>
          <a:solidFill>
            <a:srgbClr val="F2F6F8"/>
          </a:solidFill>
          <a:ln/>
        </p:spPr>
      </p:sp>
      <p:sp>
        <p:nvSpPr>
          <p:cNvPr id="21" name="Shape 18"/>
          <p:cNvSpPr/>
          <p:nvPr/>
        </p:nvSpPr>
        <p:spPr>
          <a:xfrm>
            <a:off x="502920" y="3072384"/>
            <a:ext cx="64008" cy="1389888"/>
          </a:xfrm>
          <a:prstGeom prst="rect">
            <a:avLst/>
          </a:prstGeom>
          <a:solidFill>
            <a:srgbClr val="F7941D"/>
          </a:solidFill>
          <a:ln/>
        </p:spPr>
      </p:sp>
      <p:sp>
        <p:nvSpPr>
          <p:cNvPr id="22" name="Shape 19"/>
          <p:cNvSpPr/>
          <p:nvPr/>
        </p:nvSpPr>
        <p:spPr>
          <a:xfrm>
            <a:off x="685800" y="3200400"/>
            <a:ext cx="822960" cy="274320"/>
          </a:xfrm>
          <a:prstGeom prst="roundRect">
            <a:avLst>
              <a:gd name="adj" fmla="val 26667"/>
            </a:avLst>
          </a:prstGeom>
          <a:solidFill>
            <a:srgbClr val="1D2A5C"/>
          </a:solidFill>
          <a:ln/>
        </p:spPr>
      </p:sp>
      <p:sp>
        <p:nvSpPr>
          <p:cNvPr id="23" name="Text 20"/>
          <p:cNvSpPr/>
          <p:nvPr/>
        </p:nvSpPr>
        <p:spPr>
          <a:xfrm>
            <a:off x="685800" y="32004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4.3</a:t>
            </a:r>
            <a:endParaRPr lang="en-US" sz="1000" dirty="0"/>
          </a:p>
        </p:txBody>
      </p:sp>
      <p:sp>
        <p:nvSpPr>
          <p:cNvPr id="24" name="Text 21"/>
          <p:cNvSpPr/>
          <p:nvPr/>
        </p:nvSpPr>
        <p:spPr>
          <a:xfrm>
            <a:off x="4352544" y="3200400"/>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LO1, LO5</a:t>
            </a:r>
            <a:endParaRPr lang="en-US" sz="900" dirty="0"/>
          </a:p>
        </p:txBody>
      </p:sp>
      <p:sp>
        <p:nvSpPr>
          <p:cNvPr id="25" name="Text 22"/>
          <p:cNvSpPr/>
          <p:nvPr/>
        </p:nvSpPr>
        <p:spPr>
          <a:xfrm>
            <a:off x="685800" y="3529584"/>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Run dialect identification and use it for routing and sliced evaluation</a:t>
            </a:r>
            <a:endParaRPr lang="en-US" sz="1200" dirty="0"/>
          </a:p>
        </p:txBody>
      </p:sp>
      <p:sp>
        <p:nvSpPr>
          <p:cNvPr id="26" name="Shape 23"/>
          <p:cNvSpPr/>
          <p:nvPr/>
        </p:nvSpPr>
        <p:spPr>
          <a:xfrm>
            <a:off x="6236208" y="3072384"/>
            <a:ext cx="5449824" cy="1389888"/>
          </a:xfrm>
          <a:prstGeom prst="roundRect">
            <a:avLst>
              <a:gd name="adj" fmla="val 3947"/>
            </a:avLst>
          </a:prstGeom>
          <a:solidFill>
            <a:srgbClr val="F2F6F8"/>
          </a:solidFill>
          <a:ln/>
        </p:spPr>
      </p:sp>
      <p:sp>
        <p:nvSpPr>
          <p:cNvPr id="27" name="Shape 24"/>
          <p:cNvSpPr/>
          <p:nvPr/>
        </p:nvSpPr>
        <p:spPr>
          <a:xfrm>
            <a:off x="6236208" y="3072384"/>
            <a:ext cx="64008" cy="1389888"/>
          </a:xfrm>
          <a:prstGeom prst="rect">
            <a:avLst/>
          </a:prstGeom>
          <a:solidFill>
            <a:srgbClr val="8CC63F"/>
          </a:solidFill>
          <a:ln/>
        </p:spPr>
      </p:sp>
      <p:sp>
        <p:nvSpPr>
          <p:cNvPr id="28" name="Shape 25"/>
          <p:cNvSpPr/>
          <p:nvPr/>
        </p:nvSpPr>
        <p:spPr>
          <a:xfrm>
            <a:off x="6419088" y="3200400"/>
            <a:ext cx="822960" cy="274320"/>
          </a:xfrm>
          <a:prstGeom prst="roundRect">
            <a:avLst>
              <a:gd name="adj" fmla="val 26667"/>
            </a:avLst>
          </a:prstGeom>
          <a:solidFill>
            <a:srgbClr val="1D2A5C"/>
          </a:solidFill>
          <a:ln/>
        </p:spPr>
      </p:sp>
      <p:sp>
        <p:nvSpPr>
          <p:cNvPr id="29" name="Text 26"/>
          <p:cNvSpPr/>
          <p:nvPr/>
        </p:nvSpPr>
        <p:spPr>
          <a:xfrm>
            <a:off x="6419088" y="32004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4.4</a:t>
            </a:r>
            <a:endParaRPr lang="en-US" sz="1000" dirty="0"/>
          </a:p>
        </p:txBody>
      </p:sp>
      <p:sp>
        <p:nvSpPr>
          <p:cNvPr id="30" name="Text 27"/>
          <p:cNvSpPr/>
          <p:nvPr/>
        </p:nvSpPr>
        <p:spPr>
          <a:xfrm>
            <a:off x="10085832" y="3200400"/>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LO3</a:t>
            </a:r>
            <a:endParaRPr lang="en-US" sz="900" dirty="0"/>
          </a:p>
        </p:txBody>
      </p:sp>
      <p:sp>
        <p:nvSpPr>
          <p:cNvPr id="31" name="Text 28"/>
          <p:cNvSpPr/>
          <p:nvPr/>
        </p:nvSpPr>
        <p:spPr>
          <a:xfrm>
            <a:off x="6419088" y="3529584"/>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Select among Arabic pretrained models (AraBERT, CAMeLBERT, MARBERT) with corpus evidence</a:t>
            </a:r>
            <a:endParaRPr lang="en-US" sz="1200" dirty="0"/>
          </a:p>
        </p:txBody>
      </p:sp>
      <p:sp>
        <p:nvSpPr>
          <p:cNvPr id="32" name="Shape 29"/>
          <p:cNvSpPr/>
          <p:nvPr/>
        </p:nvSpPr>
        <p:spPr>
          <a:xfrm>
            <a:off x="502920" y="4663440"/>
            <a:ext cx="5449824" cy="1389888"/>
          </a:xfrm>
          <a:prstGeom prst="roundRect">
            <a:avLst>
              <a:gd name="adj" fmla="val 3947"/>
            </a:avLst>
          </a:prstGeom>
          <a:solidFill>
            <a:srgbClr val="F2F6F8"/>
          </a:solidFill>
          <a:ln/>
        </p:spPr>
      </p:sp>
      <p:sp>
        <p:nvSpPr>
          <p:cNvPr id="33" name="Shape 30"/>
          <p:cNvSpPr/>
          <p:nvPr/>
        </p:nvSpPr>
        <p:spPr>
          <a:xfrm>
            <a:off x="502920" y="4663440"/>
            <a:ext cx="64008" cy="1389888"/>
          </a:xfrm>
          <a:prstGeom prst="rect">
            <a:avLst/>
          </a:prstGeom>
          <a:solidFill>
            <a:srgbClr val="00A79D"/>
          </a:solidFill>
          <a:ln/>
        </p:spPr>
      </p:sp>
      <p:sp>
        <p:nvSpPr>
          <p:cNvPr id="34" name="Shape 31"/>
          <p:cNvSpPr/>
          <p:nvPr/>
        </p:nvSpPr>
        <p:spPr>
          <a:xfrm>
            <a:off x="685800" y="4791456"/>
            <a:ext cx="822960" cy="274320"/>
          </a:xfrm>
          <a:prstGeom prst="roundRect">
            <a:avLst>
              <a:gd name="adj" fmla="val 26667"/>
            </a:avLst>
          </a:prstGeom>
          <a:solidFill>
            <a:srgbClr val="1D2A5C"/>
          </a:solidFill>
          <a:ln/>
        </p:spPr>
      </p:sp>
      <p:sp>
        <p:nvSpPr>
          <p:cNvPr id="35" name="Text 32"/>
          <p:cNvSpPr/>
          <p:nvPr/>
        </p:nvSpPr>
        <p:spPr>
          <a:xfrm>
            <a:off x="685800" y="4791456"/>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4.5</a:t>
            </a:r>
            <a:endParaRPr lang="en-US" sz="1000" dirty="0"/>
          </a:p>
        </p:txBody>
      </p:sp>
      <p:sp>
        <p:nvSpPr>
          <p:cNvPr id="36" name="Text 33"/>
          <p:cNvSpPr/>
          <p:nvPr/>
        </p:nvSpPr>
        <p:spPr>
          <a:xfrm>
            <a:off x="4352544" y="4791456"/>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LO3, LO5</a:t>
            </a:r>
            <a:endParaRPr lang="en-US" sz="900" dirty="0"/>
          </a:p>
        </p:txBody>
      </p:sp>
      <p:sp>
        <p:nvSpPr>
          <p:cNvPr id="37" name="Text 34"/>
          <p:cNvSpPr/>
          <p:nvPr/>
        </p:nvSpPr>
        <p:spPr>
          <a:xfrm>
            <a:off x="685800" y="5120640"/>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Fine-tune a dialect-aware model that beats the multilingual baseline on the dialect slice</a:t>
            </a:r>
            <a:endParaRPr lang="en-US" sz="1200" dirty="0"/>
          </a:p>
        </p:txBody>
      </p:sp>
      <p:sp>
        <p:nvSpPr>
          <p:cNvPr id="38" name="Text 35"/>
          <p:cNvSpPr/>
          <p:nvPr/>
        </p:nvSpPr>
        <p:spPr>
          <a:xfrm>
            <a:off x="502920" y="6126480"/>
            <a:ext cx="11155680"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Today: challenges + landscape (H5). Day 3 labs put CAMeL Tools and the bake-off into practice.</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Why Arabic Stresses the Stack</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لماذا تُجهد العربية كل مراحل المعالجة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70</a:t>
            </a:r>
            <a:endParaRPr lang="en-US" sz="800" dirty="0"/>
          </a:p>
        </p:txBody>
      </p:sp>
      <p:sp>
        <p:nvSpPr>
          <p:cNvPr id="8" name="Shape 5"/>
          <p:cNvSpPr/>
          <p:nvPr/>
        </p:nvSpPr>
        <p:spPr>
          <a:xfrm>
            <a:off x="502920" y="1517904"/>
            <a:ext cx="3544824" cy="2286000"/>
          </a:xfrm>
          <a:prstGeom prst="roundRect">
            <a:avLst>
              <a:gd name="adj" fmla="val 2400"/>
            </a:avLst>
          </a:prstGeom>
          <a:solidFill>
            <a:srgbClr val="F2F6F8"/>
          </a:solidFill>
          <a:ln/>
        </p:spPr>
      </p:sp>
      <p:sp>
        <p:nvSpPr>
          <p:cNvPr id="9" name="Shape 6"/>
          <p:cNvSpPr/>
          <p:nvPr/>
        </p:nvSpPr>
        <p:spPr>
          <a:xfrm>
            <a:off x="502920" y="1517904"/>
            <a:ext cx="82296" cy="2286000"/>
          </a:xfrm>
          <a:prstGeom prst="rect">
            <a:avLst/>
          </a:prstGeom>
          <a:solidFill>
            <a:srgbClr val="00A79D"/>
          </a:solidFill>
          <a:ln/>
        </p:spPr>
      </p:sp>
      <p:sp>
        <p:nvSpPr>
          <p:cNvPr id="10" name="Text 7"/>
          <p:cNvSpPr/>
          <p:nvPr/>
        </p:nvSpPr>
        <p:spPr>
          <a:xfrm>
            <a:off x="722376" y="163677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MORPHOLOGY</a:t>
            </a:r>
            <a:endParaRPr lang="en-US" sz="950" dirty="0"/>
          </a:p>
        </p:txBody>
      </p:sp>
      <p:sp>
        <p:nvSpPr>
          <p:cNvPr id="11" name="Text 8"/>
          <p:cNvSpPr/>
          <p:nvPr/>
        </p:nvSpPr>
        <p:spPr>
          <a:xfrm>
            <a:off x="722376"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Words are built, not listed</a:t>
            </a:r>
            <a:endParaRPr lang="en-US" sz="1450" dirty="0"/>
          </a:p>
        </p:txBody>
      </p:sp>
      <p:sp>
        <p:nvSpPr>
          <p:cNvPr id="12" name="Text 9"/>
          <p:cNvSpPr/>
          <p:nvPr/>
        </p:nvSpPr>
        <p:spPr>
          <a:xfrm>
            <a:off x="722376"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Root ك-ت-ب interlocks with patterns: كتب، كاتب، مكتوب، مكتبة. One root yields thousands of surface forms — word vocabularies are hopeless.</a:t>
            </a:r>
            <a:endParaRPr lang="en-US" sz="1050" dirty="0"/>
          </a:p>
        </p:txBody>
      </p:sp>
      <p:sp>
        <p:nvSpPr>
          <p:cNvPr id="13" name="Shape 10"/>
          <p:cNvSpPr/>
          <p:nvPr/>
        </p:nvSpPr>
        <p:spPr>
          <a:xfrm>
            <a:off x="4322064" y="1517904"/>
            <a:ext cx="3544824" cy="2286000"/>
          </a:xfrm>
          <a:prstGeom prst="roundRect">
            <a:avLst>
              <a:gd name="adj" fmla="val 2400"/>
            </a:avLst>
          </a:prstGeom>
          <a:solidFill>
            <a:srgbClr val="F2F6F8"/>
          </a:solidFill>
          <a:ln/>
        </p:spPr>
      </p:sp>
      <p:sp>
        <p:nvSpPr>
          <p:cNvPr id="14" name="Shape 11"/>
          <p:cNvSpPr/>
          <p:nvPr/>
        </p:nvSpPr>
        <p:spPr>
          <a:xfrm>
            <a:off x="4322064" y="1517904"/>
            <a:ext cx="82296" cy="2286000"/>
          </a:xfrm>
          <a:prstGeom prst="rect">
            <a:avLst/>
          </a:prstGeom>
          <a:solidFill>
            <a:srgbClr val="29ABE2"/>
          </a:solidFill>
          <a:ln/>
        </p:spPr>
      </p:sp>
      <p:sp>
        <p:nvSpPr>
          <p:cNvPr id="15" name="Text 12"/>
          <p:cNvSpPr/>
          <p:nvPr/>
        </p:nvSpPr>
        <p:spPr>
          <a:xfrm>
            <a:off x="4541520" y="163677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CLITICS</a:t>
            </a:r>
            <a:endParaRPr lang="en-US" sz="950" dirty="0"/>
          </a:p>
        </p:txBody>
      </p:sp>
      <p:sp>
        <p:nvSpPr>
          <p:cNvPr id="16" name="Text 13"/>
          <p:cNvSpPr/>
          <p:nvPr/>
        </p:nvSpPr>
        <p:spPr>
          <a:xfrm>
            <a:off x="4541520"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Five words in one token</a:t>
            </a:r>
            <a:endParaRPr lang="en-US" sz="1450" dirty="0"/>
          </a:p>
        </p:txBody>
      </p:sp>
      <p:sp>
        <p:nvSpPr>
          <p:cNvPr id="17" name="Text 14"/>
          <p:cNvSpPr/>
          <p:nvPr/>
        </p:nvSpPr>
        <p:spPr>
          <a:xfrm>
            <a:off x="4541520"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وسيكتبونها unpacks to 'and-will-they-write-it'. Conjunctions, prepositions, the article and pronouns all attach — the word boundary is contested.</a:t>
            </a:r>
            <a:endParaRPr lang="en-US" sz="1050" dirty="0"/>
          </a:p>
        </p:txBody>
      </p:sp>
      <p:sp>
        <p:nvSpPr>
          <p:cNvPr id="18" name="Shape 15"/>
          <p:cNvSpPr/>
          <p:nvPr/>
        </p:nvSpPr>
        <p:spPr>
          <a:xfrm>
            <a:off x="8141208" y="1517904"/>
            <a:ext cx="3544824" cy="2286000"/>
          </a:xfrm>
          <a:prstGeom prst="roundRect">
            <a:avLst>
              <a:gd name="adj" fmla="val 2400"/>
            </a:avLst>
          </a:prstGeom>
          <a:solidFill>
            <a:srgbClr val="F2F6F8"/>
          </a:solidFill>
          <a:ln/>
        </p:spPr>
      </p:sp>
      <p:sp>
        <p:nvSpPr>
          <p:cNvPr id="19" name="Shape 16"/>
          <p:cNvSpPr/>
          <p:nvPr/>
        </p:nvSpPr>
        <p:spPr>
          <a:xfrm>
            <a:off x="8141208" y="1517904"/>
            <a:ext cx="82296" cy="2286000"/>
          </a:xfrm>
          <a:prstGeom prst="rect">
            <a:avLst/>
          </a:prstGeom>
          <a:solidFill>
            <a:srgbClr val="F7941D"/>
          </a:solidFill>
          <a:ln/>
        </p:spPr>
      </p:sp>
      <p:sp>
        <p:nvSpPr>
          <p:cNvPr id="20" name="Text 17"/>
          <p:cNvSpPr/>
          <p:nvPr/>
        </p:nvSpPr>
        <p:spPr>
          <a:xfrm>
            <a:off x="8360664" y="1636776"/>
            <a:ext cx="3133344"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DIACRITICS</a:t>
            </a:r>
            <a:endParaRPr lang="en-US" sz="950" dirty="0"/>
          </a:p>
        </p:txBody>
      </p:sp>
      <p:sp>
        <p:nvSpPr>
          <p:cNvPr id="21" name="Text 18"/>
          <p:cNvSpPr/>
          <p:nvPr/>
        </p:nvSpPr>
        <p:spPr>
          <a:xfrm>
            <a:off x="8360664"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Usually omitted</a:t>
            </a:r>
            <a:endParaRPr lang="en-US" sz="1450" dirty="0"/>
          </a:p>
        </p:txBody>
      </p:sp>
      <p:sp>
        <p:nvSpPr>
          <p:cNvPr id="22" name="Text 19"/>
          <p:cNvSpPr/>
          <p:nvPr/>
        </p:nvSpPr>
        <p:spPr>
          <a:xfrm>
            <a:off x="8360664"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كتب without tashkeel: 'he wrote' / 'books' / 'it was written'. Real traffic is ~1–2% diacritised — models must disambiguate from context.</a:t>
            </a:r>
            <a:endParaRPr lang="en-US" sz="1050" dirty="0"/>
          </a:p>
        </p:txBody>
      </p:sp>
      <p:sp>
        <p:nvSpPr>
          <p:cNvPr id="23" name="Shape 20"/>
          <p:cNvSpPr/>
          <p:nvPr/>
        </p:nvSpPr>
        <p:spPr>
          <a:xfrm>
            <a:off x="502920" y="4078224"/>
            <a:ext cx="3544824" cy="2286000"/>
          </a:xfrm>
          <a:prstGeom prst="roundRect">
            <a:avLst>
              <a:gd name="adj" fmla="val 2400"/>
            </a:avLst>
          </a:prstGeom>
          <a:solidFill>
            <a:srgbClr val="F2F6F8"/>
          </a:solidFill>
          <a:ln/>
        </p:spPr>
      </p:sp>
      <p:sp>
        <p:nvSpPr>
          <p:cNvPr id="24" name="Shape 21"/>
          <p:cNvSpPr/>
          <p:nvPr/>
        </p:nvSpPr>
        <p:spPr>
          <a:xfrm>
            <a:off x="502920" y="4078224"/>
            <a:ext cx="82296" cy="2286000"/>
          </a:xfrm>
          <a:prstGeom prst="rect">
            <a:avLst/>
          </a:prstGeom>
          <a:solidFill>
            <a:srgbClr val="8CC63F"/>
          </a:solidFill>
          <a:ln/>
        </p:spPr>
      </p:sp>
      <p:sp>
        <p:nvSpPr>
          <p:cNvPr id="25" name="Text 22"/>
          <p:cNvSpPr/>
          <p:nvPr/>
        </p:nvSpPr>
        <p:spPr>
          <a:xfrm>
            <a:off x="722376" y="4197096"/>
            <a:ext cx="3133344" cy="237744"/>
          </a:xfrm>
          <a:prstGeom prst="rect">
            <a:avLst/>
          </a:prstGeom>
          <a:noFill/>
          <a:ln/>
        </p:spPr>
        <p:txBody>
          <a:bodyPr wrap="square" lIns="0" tIns="0" rIns="0" bIns="0" rtlCol="0" anchor="ctr"/>
          <a:lstStyle/>
          <a:p>
            <a:pPr indent="0" marL="0">
              <a:buNone/>
            </a:pPr>
            <a:r>
              <a:rPr lang="en-US" sz="950" b="1" spc="150" kern="0" dirty="0">
                <a:solidFill>
                  <a:srgbClr val="8CC63F"/>
                </a:solidFill>
                <a:latin typeface="Calibri" pitchFamily="34" charset="0"/>
                <a:ea typeface="Calibri" pitchFamily="34" charset="-122"/>
                <a:cs typeface="Calibri" pitchFamily="34" charset="-120"/>
              </a:rPr>
              <a:t>ORTHOGRAPHY</a:t>
            </a:r>
            <a:endParaRPr lang="en-US" sz="950" dirty="0"/>
          </a:p>
        </p:txBody>
      </p:sp>
      <p:sp>
        <p:nvSpPr>
          <p:cNvPr id="26" name="Text 23"/>
          <p:cNvSpPr/>
          <p:nvPr/>
        </p:nvSpPr>
        <p:spPr>
          <a:xfrm>
            <a:off x="722376"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Letter variants everywhere</a:t>
            </a:r>
            <a:endParaRPr lang="en-US" sz="1450" dirty="0"/>
          </a:p>
        </p:txBody>
      </p:sp>
      <p:sp>
        <p:nvSpPr>
          <p:cNvPr id="27" name="Text 24"/>
          <p:cNvSpPr/>
          <p:nvPr/>
        </p:nvSpPr>
        <p:spPr>
          <a:xfrm>
            <a:off x="722376"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Alef forms (أ إ آ → ا), ى/ي, ة/ه, hamza carriers — users type whichever is fastest; search misses and duplicate embeddings follow.</a:t>
            </a:r>
            <a:endParaRPr lang="en-US" sz="1050" dirty="0"/>
          </a:p>
        </p:txBody>
      </p:sp>
      <p:sp>
        <p:nvSpPr>
          <p:cNvPr id="28" name="Shape 25"/>
          <p:cNvSpPr/>
          <p:nvPr/>
        </p:nvSpPr>
        <p:spPr>
          <a:xfrm>
            <a:off x="4322064" y="4078224"/>
            <a:ext cx="3544824" cy="2286000"/>
          </a:xfrm>
          <a:prstGeom prst="roundRect">
            <a:avLst>
              <a:gd name="adj" fmla="val 2400"/>
            </a:avLst>
          </a:prstGeom>
          <a:solidFill>
            <a:srgbClr val="F2F6F8"/>
          </a:solidFill>
          <a:ln/>
        </p:spPr>
      </p:sp>
      <p:sp>
        <p:nvSpPr>
          <p:cNvPr id="29" name="Shape 26"/>
          <p:cNvSpPr/>
          <p:nvPr/>
        </p:nvSpPr>
        <p:spPr>
          <a:xfrm>
            <a:off x="4322064" y="4078224"/>
            <a:ext cx="82296" cy="2286000"/>
          </a:xfrm>
          <a:prstGeom prst="rect">
            <a:avLst/>
          </a:prstGeom>
          <a:solidFill>
            <a:srgbClr val="00A79D"/>
          </a:solidFill>
          <a:ln/>
        </p:spPr>
      </p:sp>
      <p:sp>
        <p:nvSpPr>
          <p:cNvPr id="30" name="Text 27"/>
          <p:cNvSpPr/>
          <p:nvPr/>
        </p:nvSpPr>
        <p:spPr>
          <a:xfrm>
            <a:off x="4541520" y="419709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DIALECTS</a:t>
            </a:r>
            <a:endParaRPr lang="en-US" sz="950" dirty="0"/>
          </a:p>
        </p:txBody>
      </p:sp>
      <p:sp>
        <p:nvSpPr>
          <p:cNvPr id="31" name="Text 28"/>
          <p:cNvSpPr/>
          <p:nvPr/>
        </p:nvSpPr>
        <p:spPr>
          <a:xfrm>
            <a:off x="4541520"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A continuum, no standard</a:t>
            </a:r>
            <a:endParaRPr lang="en-US" sz="1450" dirty="0"/>
          </a:p>
        </p:txBody>
      </p:sp>
      <p:sp>
        <p:nvSpPr>
          <p:cNvPr id="32" name="Text 29"/>
          <p:cNvSpPr/>
          <p:nvPr/>
        </p:nvSpPr>
        <p:spPr>
          <a:xfrm>
            <a:off x="4541520"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MSA in formal complaints; Najdi وش vs MSA ماذا in chat. MSA-trained models silently lose 10–20 points on dialect sentiment.</a:t>
            </a:r>
            <a:endParaRPr lang="en-US" sz="1050" dirty="0"/>
          </a:p>
        </p:txBody>
      </p:sp>
      <p:sp>
        <p:nvSpPr>
          <p:cNvPr id="33" name="Shape 30"/>
          <p:cNvSpPr/>
          <p:nvPr/>
        </p:nvSpPr>
        <p:spPr>
          <a:xfrm>
            <a:off x="8141208" y="4078224"/>
            <a:ext cx="3544824" cy="2286000"/>
          </a:xfrm>
          <a:prstGeom prst="roundRect">
            <a:avLst>
              <a:gd name="adj" fmla="val 2400"/>
            </a:avLst>
          </a:prstGeom>
          <a:solidFill>
            <a:srgbClr val="F2F6F8"/>
          </a:solidFill>
          <a:ln/>
        </p:spPr>
      </p:sp>
      <p:sp>
        <p:nvSpPr>
          <p:cNvPr id="34" name="Shape 31"/>
          <p:cNvSpPr/>
          <p:nvPr/>
        </p:nvSpPr>
        <p:spPr>
          <a:xfrm>
            <a:off x="8141208" y="4078224"/>
            <a:ext cx="82296" cy="2286000"/>
          </a:xfrm>
          <a:prstGeom prst="rect">
            <a:avLst/>
          </a:prstGeom>
          <a:solidFill>
            <a:srgbClr val="29ABE2"/>
          </a:solidFill>
          <a:ln/>
        </p:spPr>
      </p:sp>
      <p:sp>
        <p:nvSpPr>
          <p:cNvPr id="35" name="Text 32"/>
          <p:cNvSpPr/>
          <p:nvPr/>
        </p:nvSpPr>
        <p:spPr>
          <a:xfrm>
            <a:off x="8360664" y="419709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ARABIZI</a:t>
            </a:r>
            <a:endParaRPr lang="en-US" sz="950" dirty="0"/>
          </a:p>
        </p:txBody>
      </p:sp>
      <p:sp>
        <p:nvSpPr>
          <p:cNvPr id="36" name="Text 33"/>
          <p:cNvSpPr/>
          <p:nvPr/>
        </p:nvSpPr>
        <p:spPr>
          <a:xfrm>
            <a:off x="8360664"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Arabic in Latin script</a:t>
            </a:r>
            <a:endParaRPr lang="en-US" sz="1450" dirty="0"/>
          </a:p>
        </p:txBody>
      </p:sp>
      <p:sp>
        <p:nvSpPr>
          <p:cNvPr id="37" name="Text 34"/>
          <p:cNvSpPr/>
          <p:nvPr/>
        </p:nvSpPr>
        <p:spPr>
          <a:xfrm>
            <a:off x="8360664"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'mashkurin 3al khidmeh' in social channels — detect it, measure its volume, route it; never let it hit an Arabic-only model as [UNK] soup.</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What the Bayan Corpus Actually Contains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ماذا تحتوي مدوّنة بيان فعلاً</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71</a:t>
            </a:r>
            <a:endParaRPr lang="en-US" sz="800" dirty="0"/>
          </a:p>
        </p:txBody>
      </p:sp>
      <p:sp>
        <p:nvSpPr>
          <p:cNvPr id="8" name="Shape 5"/>
          <p:cNvSpPr/>
          <p:nvPr/>
        </p:nvSpPr>
        <p:spPr>
          <a:xfrm>
            <a:off x="502920" y="1828800"/>
            <a:ext cx="2555748" cy="3017520"/>
          </a:xfrm>
          <a:prstGeom prst="roundRect">
            <a:avLst>
              <a:gd name="adj" fmla="val 2862"/>
            </a:avLst>
          </a:prstGeom>
          <a:solidFill>
            <a:srgbClr val="F2F6F8"/>
          </a:solidFill>
          <a:ln/>
        </p:spPr>
      </p:sp>
      <p:sp>
        <p:nvSpPr>
          <p:cNvPr id="9" name="Text 6"/>
          <p:cNvSpPr/>
          <p:nvPr/>
        </p:nvSpPr>
        <p:spPr>
          <a:xfrm>
            <a:off x="640080" y="2103120"/>
            <a:ext cx="2281428" cy="914400"/>
          </a:xfrm>
          <a:prstGeom prst="rect">
            <a:avLst/>
          </a:prstGeom>
          <a:noFill/>
          <a:ln/>
        </p:spPr>
        <p:txBody>
          <a:bodyPr wrap="square" lIns="0" tIns="0" rIns="0" bIns="0"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0.548</a:t>
            </a:r>
            <a:endParaRPr lang="en-US" sz="4000" dirty="0"/>
          </a:p>
        </p:txBody>
      </p:sp>
      <p:sp>
        <p:nvSpPr>
          <p:cNvPr id="10" name="Text 7"/>
          <p:cNvSpPr/>
          <p:nvPr/>
        </p:nvSpPr>
        <p:spPr>
          <a:xfrm>
            <a:off x="640080"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Gulf — Bayan AR slice</a:t>
            </a:r>
            <a:endParaRPr lang="en-US" sz="1300" dirty="0"/>
          </a:p>
        </p:txBody>
      </p:sp>
      <p:sp>
        <p:nvSpPr>
          <p:cNvPr id="11" name="Text 8"/>
          <p:cNvSpPr/>
          <p:nvPr/>
        </p:nvSpPr>
        <p:spPr>
          <a:xfrm>
            <a:off x="667512"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Saudi-dialect feedback dominates the Arabic slice (region-level dialect ID, MADAR-trained)</a:t>
            </a:r>
            <a:endParaRPr lang="en-US" sz="1000" dirty="0"/>
          </a:p>
        </p:txBody>
      </p:sp>
      <p:sp>
        <p:nvSpPr>
          <p:cNvPr id="12" name="Shape 9"/>
          <p:cNvSpPr/>
          <p:nvPr/>
        </p:nvSpPr>
        <p:spPr>
          <a:xfrm>
            <a:off x="3378708" y="1828800"/>
            <a:ext cx="2555748" cy="3017520"/>
          </a:xfrm>
          <a:prstGeom prst="roundRect">
            <a:avLst>
              <a:gd name="adj" fmla="val 2862"/>
            </a:avLst>
          </a:prstGeom>
          <a:solidFill>
            <a:srgbClr val="F2F6F8"/>
          </a:solidFill>
          <a:ln/>
        </p:spPr>
      </p:sp>
      <p:sp>
        <p:nvSpPr>
          <p:cNvPr id="13" name="Text 10"/>
          <p:cNvSpPr/>
          <p:nvPr/>
        </p:nvSpPr>
        <p:spPr>
          <a:xfrm>
            <a:off x="3515868" y="2103120"/>
            <a:ext cx="2281428" cy="914400"/>
          </a:xfrm>
          <a:prstGeom prst="rect">
            <a:avLst/>
          </a:prstGeom>
          <a:noFill/>
          <a:ln/>
        </p:spPr>
        <p:txBody>
          <a:bodyPr wrap="square" lIns="0" tIns="0" rIns="0" bIns="0" rtlCol="0" anchor="ctr"/>
          <a:lstStyle/>
          <a:p>
            <a:pPr algn="ctr" indent="0" marL="0">
              <a:buNone/>
            </a:pPr>
            <a:r>
              <a:rPr lang="en-US" sz="4000" b="1" dirty="0">
                <a:solidFill>
                  <a:srgbClr val="29ABE2"/>
                </a:solidFill>
                <a:latin typeface="Calibri" pitchFamily="34" charset="0"/>
                <a:ea typeface="Calibri" pitchFamily="34" charset="-122"/>
                <a:cs typeface="Calibri" pitchFamily="34" charset="-120"/>
              </a:rPr>
              <a:t>0.451</a:t>
            </a:r>
            <a:endParaRPr lang="en-US" sz="4000" dirty="0"/>
          </a:p>
        </p:txBody>
      </p:sp>
      <p:sp>
        <p:nvSpPr>
          <p:cNvPr id="14" name="Text 11"/>
          <p:cNvSpPr/>
          <p:nvPr/>
        </p:nvSpPr>
        <p:spPr>
          <a:xfrm>
            <a:off x="3515868"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MSA — Bayan AR slice</a:t>
            </a:r>
            <a:endParaRPr lang="en-US" sz="1300" dirty="0"/>
          </a:p>
        </p:txBody>
      </p:sp>
      <p:sp>
        <p:nvSpPr>
          <p:cNvPr id="15" name="Text 12"/>
          <p:cNvSpPr/>
          <p:nvPr/>
        </p:nvSpPr>
        <p:spPr>
          <a:xfrm>
            <a:off x="3543300"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Formal complaints in the written standard — the slice most models were actually trained for</a:t>
            </a:r>
            <a:endParaRPr lang="en-US" sz="1000" dirty="0"/>
          </a:p>
        </p:txBody>
      </p:sp>
      <p:sp>
        <p:nvSpPr>
          <p:cNvPr id="16" name="Shape 13"/>
          <p:cNvSpPr/>
          <p:nvPr/>
        </p:nvSpPr>
        <p:spPr>
          <a:xfrm>
            <a:off x="6254496" y="1828800"/>
            <a:ext cx="2555748" cy="3017520"/>
          </a:xfrm>
          <a:prstGeom prst="roundRect">
            <a:avLst>
              <a:gd name="adj" fmla="val 2862"/>
            </a:avLst>
          </a:prstGeom>
          <a:solidFill>
            <a:srgbClr val="F2F6F8"/>
          </a:solidFill>
          <a:ln/>
        </p:spPr>
      </p:sp>
      <p:sp>
        <p:nvSpPr>
          <p:cNvPr id="17" name="Text 14"/>
          <p:cNvSpPr/>
          <p:nvPr/>
        </p:nvSpPr>
        <p:spPr>
          <a:xfrm>
            <a:off x="6391656" y="2103120"/>
            <a:ext cx="2281428" cy="914400"/>
          </a:xfrm>
          <a:prstGeom prst="rect">
            <a:avLst/>
          </a:prstGeom>
          <a:noFill/>
          <a:ln/>
        </p:spPr>
        <p:txBody>
          <a:bodyPr wrap="square" lIns="0" tIns="0" rIns="0" bIns="0" rtlCol="0" anchor="ctr"/>
          <a:lstStyle/>
          <a:p>
            <a:pPr algn="ctr" indent="0" marL="0">
              <a:buNone/>
            </a:pPr>
            <a:r>
              <a:rPr lang="en-US" sz="4000" b="1" dirty="0">
                <a:solidFill>
                  <a:srgbClr val="F7941D"/>
                </a:solidFill>
                <a:latin typeface="Calibri" pitchFamily="34" charset="0"/>
                <a:ea typeface="Calibri" pitchFamily="34" charset="-122"/>
                <a:cs typeface="Calibri" pitchFamily="34" charset="-120"/>
              </a:rPr>
              <a:t>0.001</a:t>
            </a:r>
            <a:endParaRPr lang="en-US" sz="4000" dirty="0"/>
          </a:p>
        </p:txBody>
      </p:sp>
      <p:sp>
        <p:nvSpPr>
          <p:cNvPr id="18" name="Text 15"/>
          <p:cNvSpPr/>
          <p:nvPr/>
        </p:nvSpPr>
        <p:spPr>
          <a:xfrm>
            <a:off x="6391656"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Other regions</a:t>
            </a:r>
            <a:endParaRPr lang="en-US" sz="1300" dirty="0"/>
          </a:p>
        </p:txBody>
      </p:sp>
      <p:sp>
        <p:nvSpPr>
          <p:cNvPr id="19" name="Text 16"/>
          <p:cNvSpPr/>
          <p:nvPr/>
        </p:nvSpPr>
        <p:spPr>
          <a:xfrm>
            <a:off x="6419088"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Coarse region routing is reliable; city-level ID is noisy on short texts — set expectations</a:t>
            </a:r>
            <a:endParaRPr lang="en-US" sz="1000" dirty="0"/>
          </a:p>
        </p:txBody>
      </p:sp>
      <p:sp>
        <p:nvSpPr>
          <p:cNvPr id="20" name="Shape 17"/>
          <p:cNvSpPr/>
          <p:nvPr/>
        </p:nvSpPr>
        <p:spPr>
          <a:xfrm>
            <a:off x="9130284" y="1828800"/>
            <a:ext cx="2555748" cy="3017520"/>
          </a:xfrm>
          <a:prstGeom prst="roundRect">
            <a:avLst>
              <a:gd name="adj" fmla="val 2862"/>
            </a:avLst>
          </a:prstGeom>
          <a:solidFill>
            <a:srgbClr val="F2F6F8"/>
          </a:solidFill>
          <a:ln/>
        </p:spPr>
      </p:sp>
      <p:sp>
        <p:nvSpPr>
          <p:cNvPr id="21" name="Text 18"/>
          <p:cNvSpPr/>
          <p:nvPr/>
        </p:nvSpPr>
        <p:spPr>
          <a:xfrm>
            <a:off x="9267444" y="2103120"/>
            <a:ext cx="2281428" cy="914400"/>
          </a:xfrm>
          <a:prstGeom prst="rect">
            <a:avLst/>
          </a:prstGeom>
          <a:noFill/>
          <a:ln/>
        </p:spPr>
        <p:txBody>
          <a:bodyPr wrap="square" lIns="0" tIns="0" rIns="0" bIns="0" rtlCol="0" anchor="ctr"/>
          <a:lstStyle/>
          <a:p>
            <a:pPr algn="ctr" indent="0" marL="0">
              <a:buNone/>
            </a:pPr>
            <a:r>
              <a:rPr lang="en-US" sz="4000" b="1" dirty="0">
                <a:solidFill>
                  <a:srgbClr val="8CC63F"/>
                </a:solidFill>
                <a:latin typeface="Calibri" pitchFamily="34" charset="0"/>
                <a:ea typeface="Calibri" pitchFamily="34" charset="-122"/>
                <a:cs typeface="Calibri" pitchFamily="34" charset="-120"/>
              </a:rPr>
              <a:t>10–20</a:t>
            </a:r>
            <a:endParaRPr lang="en-US" sz="4000" dirty="0"/>
          </a:p>
        </p:txBody>
      </p:sp>
      <p:sp>
        <p:nvSpPr>
          <p:cNvPr id="22" name="Text 19"/>
          <p:cNvSpPr/>
          <p:nvPr/>
        </p:nvSpPr>
        <p:spPr>
          <a:xfrm>
            <a:off x="9267444"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points lost on dialect</a:t>
            </a:r>
            <a:endParaRPr lang="en-US" sz="1300" dirty="0"/>
          </a:p>
        </p:txBody>
      </p:sp>
      <p:sp>
        <p:nvSpPr>
          <p:cNvPr id="23" name="Text 20"/>
          <p:cNvSpPr/>
          <p:nvPr/>
        </p:nvSpPr>
        <p:spPr>
          <a:xfrm>
            <a:off x="9294876"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Typical MSA-trained sentiment degradation — silent, because dialect is still Arabic script</a:t>
            </a:r>
            <a:endParaRPr lang="en-US" sz="1000" dirty="0"/>
          </a:p>
        </p:txBody>
      </p:sp>
      <p:sp>
        <p:nvSpPr>
          <p:cNvPr id="24" name="Shape 21"/>
          <p:cNvSpPr/>
          <p:nvPr/>
        </p:nvSpPr>
        <p:spPr>
          <a:xfrm>
            <a:off x="502920" y="5212080"/>
            <a:ext cx="11183112" cy="868680"/>
          </a:xfrm>
          <a:prstGeom prst="roundRect">
            <a:avLst>
              <a:gd name="adj" fmla="val 8421"/>
            </a:avLst>
          </a:prstGeom>
          <a:solidFill>
            <a:srgbClr val="E6F5F4"/>
          </a:solidFill>
          <a:ln/>
        </p:spPr>
      </p:sp>
      <p:sp>
        <p:nvSpPr>
          <p:cNvPr id="25" name="Text 22"/>
          <p:cNvSpPr/>
          <p:nvPr/>
        </p:nvSpPr>
        <p:spPr>
          <a:xfrm>
            <a:off x="731520" y="5212080"/>
            <a:ext cx="10744200" cy="8686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READ THE NUMBERS   </a:t>
            </a:r>
            <a:pPr indent="0" marL="0">
              <a:buNone/>
            </a:pPr>
            <a:r>
              <a:rPr lang="en-US" sz="1150" dirty="0">
                <a:solidFill>
                  <a:srgbClr val="2B2B2B"/>
                </a:solidFill>
                <a:latin typeface="Calibri" pitchFamily="34" charset="0"/>
                <a:ea typeface="Calibri" pitchFamily="34" charset="-122"/>
                <a:cs typeface="Calibri" pitchFamily="34" charset="-120"/>
              </a:rPr>
              <a:t>Corpus-wide: 46% Saudi dialect, 38% MSA, 16% English — a distribution that indicts any MSA-only model choice. 'dialect' is a first-class column in Bayan.</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CAMeL Tools: the Fourth Pillar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أدوات CAMeL: الركيزة الرابعة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72</a:t>
            </a:r>
            <a:endParaRPr lang="en-US" sz="800" dirty="0"/>
          </a:p>
        </p:txBody>
      </p:sp>
      <p:sp>
        <p:nvSpPr>
          <p:cNvPr id="8" name="Shape 5"/>
          <p:cNvSpPr/>
          <p:nvPr/>
        </p:nvSpPr>
        <p:spPr>
          <a:xfrm>
            <a:off x="502920" y="1554480"/>
            <a:ext cx="6949440" cy="1104138"/>
          </a:xfrm>
          <a:prstGeom prst="roundRect">
            <a:avLst>
              <a:gd name="adj" fmla="val 4969"/>
            </a:avLst>
          </a:prstGeom>
          <a:solidFill>
            <a:srgbClr val="E6F5F4"/>
          </a:solidFill>
          <a:ln w="9525">
            <a:solidFill>
              <a:srgbClr val="00A79D"/>
            </a:solidFill>
            <a:prstDash val="solid"/>
          </a:ln>
        </p:spPr>
      </p:sp>
      <p:sp>
        <p:nvSpPr>
          <p:cNvPr id="9" name="Text 6"/>
          <p:cNvSpPr/>
          <p:nvPr/>
        </p:nvSpPr>
        <p:spPr>
          <a:xfrm>
            <a:off x="731520" y="1627632"/>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Normalisation utilities</a:t>
            </a:r>
            <a:endParaRPr lang="en-US" sz="1350" dirty="0"/>
          </a:p>
        </p:txBody>
      </p:sp>
      <p:sp>
        <p:nvSpPr>
          <p:cNvPr id="10" name="Text 7"/>
          <p:cNvSpPr/>
          <p:nvPr/>
        </p:nvSpPr>
        <p:spPr>
          <a:xfrm>
            <a:off x="731520" y="1920240"/>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normalize_alef_ar, dediac_ar and friends — tested functions, not hand-rolled regexes; hamza seats and combining marks are exactly where regexes rot.</a:t>
            </a:r>
            <a:endParaRPr lang="en-US" sz="1050" dirty="0"/>
          </a:p>
        </p:txBody>
      </p:sp>
      <p:sp>
        <p:nvSpPr>
          <p:cNvPr id="11" name="Shape 8"/>
          <p:cNvSpPr/>
          <p:nvPr/>
        </p:nvSpPr>
        <p:spPr>
          <a:xfrm>
            <a:off x="502920" y="2786634"/>
            <a:ext cx="6949440" cy="1104138"/>
          </a:xfrm>
          <a:prstGeom prst="roundRect">
            <a:avLst>
              <a:gd name="adj" fmla="val 4969"/>
            </a:avLst>
          </a:prstGeom>
          <a:solidFill>
            <a:srgbClr val="EAF6FC"/>
          </a:solidFill>
          <a:ln w="9525">
            <a:solidFill>
              <a:srgbClr val="29ABE2"/>
            </a:solidFill>
            <a:prstDash val="solid"/>
          </a:ln>
        </p:spPr>
      </p:sp>
      <p:sp>
        <p:nvSpPr>
          <p:cNvPr id="12" name="Text 9"/>
          <p:cNvSpPr/>
          <p:nvPr/>
        </p:nvSpPr>
        <p:spPr>
          <a:xfrm>
            <a:off x="731520" y="2859786"/>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Morphological analyzer + MLE disambiguator</a:t>
            </a:r>
            <a:endParaRPr lang="en-US" sz="1350" dirty="0"/>
          </a:p>
        </p:txBody>
      </p:sp>
      <p:sp>
        <p:nvSpPr>
          <p:cNvPr id="13" name="Text 10"/>
          <p:cNvSpPr/>
          <p:nvPr/>
        </p:nvSpPr>
        <p:spPr>
          <a:xfrm>
            <a:off x="731520" y="3152394"/>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analyzer returns ALL readings (كتب: wrote / books / was written); the disambiguator picks the contextual best. Analysis alone = arbitrary readings.</a:t>
            </a:r>
            <a:endParaRPr lang="en-US" sz="1050" dirty="0"/>
          </a:p>
        </p:txBody>
      </p:sp>
      <p:sp>
        <p:nvSpPr>
          <p:cNvPr id="14" name="Shape 11"/>
          <p:cNvSpPr/>
          <p:nvPr/>
        </p:nvSpPr>
        <p:spPr>
          <a:xfrm>
            <a:off x="502920" y="4018788"/>
            <a:ext cx="6949440" cy="1104138"/>
          </a:xfrm>
          <a:prstGeom prst="roundRect">
            <a:avLst>
              <a:gd name="adj" fmla="val 4969"/>
            </a:avLst>
          </a:prstGeom>
          <a:solidFill>
            <a:srgbClr val="FEF3E3"/>
          </a:solidFill>
          <a:ln w="9525">
            <a:solidFill>
              <a:srgbClr val="F7941D"/>
            </a:solidFill>
            <a:prstDash val="solid"/>
          </a:ln>
        </p:spPr>
      </p:sp>
      <p:sp>
        <p:nvSpPr>
          <p:cNvPr id="15" name="Text 12"/>
          <p:cNvSpPr/>
          <p:nvPr/>
        </p:nvSpPr>
        <p:spPr>
          <a:xfrm>
            <a:off x="731520" y="4091940"/>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Morphological tokenizer (d3tok)</a:t>
            </a:r>
            <a:endParaRPr lang="en-US" sz="1350" dirty="0"/>
          </a:p>
        </p:txBody>
      </p:sp>
      <p:sp>
        <p:nvSpPr>
          <p:cNvPr id="16" name="Text 13"/>
          <p:cNvSpPr/>
          <p:nvPr/>
        </p:nvSpPr>
        <p:spPr>
          <a:xfrm>
            <a:off x="731520" y="4384548"/>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Splits clitics: وبالرياض → و+ ب+ ال+ رياض. Pre-segmentation lifts Bayan LOCATION recall ~5 points — the model finally sees the entity.</a:t>
            </a:r>
            <a:endParaRPr lang="en-US" sz="1050" dirty="0"/>
          </a:p>
        </p:txBody>
      </p:sp>
      <p:sp>
        <p:nvSpPr>
          <p:cNvPr id="17" name="Shape 14"/>
          <p:cNvSpPr/>
          <p:nvPr/>
        </p:nvSpPr>
        <p:spPr>
          <a:xfrm>
            <a:off x="502920" y="5250942"/>
            <a:ext cx="6949440" cy="1104138"/>
          </a:xfrm>
          <a:prstGeom prst="roundRect">
            <a:avLst>
              <a:gd name="adj" fmla="val 4969"/>
            </a:avLst>
          </a:prstGeom>
          <a:solidFill>
            <a:srgbClr val="F1F8E6"/>
          </a:solidFill>
          <a:ln w="9525">
            <a:solidFill>
              <a:srgbClr val="8CC63F"/>
            </a:solidFill>
            <a:prstDash val="solid"/>
          </a:ln>
        </p:spPr>
      </p:sp>
      <p:sp>
        <p:nvSpPr>
          <p:cNvPr id="18" name="Text 15"/>
          <p:cNvSpPr/>
          <p:nvPr/>
        </p:nvSpPr>
        <p:spPr>
          <a:xfrm>
            <a:off x="731520" y="5324094"/>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Dialect identifier (MADAR-26 + MSA)</a:t>
            </a:r>
            <a:endParaRPr lang="en-US" sz="1350" dirty="0"/>
          </a:p>
        </p:txBody>
      </p:sp>
      <p:sp>
        <p:nvSpPr>
          <p:cNvPr id="19" name="Text 16"/>
          <p:cNvSpPr/>
          <p:nvPr/>
        </p:nvSpPr>
        <p:spPr>
          <a:xfrm>
            <a:off x="731520" y="5616702"/>
            <a:ext cx="6492240" cy="64693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Coarse region routing is reliable; city-level is noisy on short texts. Uses: routing, sliced evaluation, corpus auditing.</a:t>
            </a:r>
            <a:endParaRPr lang="en-US" sz="1050" dirty="0"/>
          </a:p>
        </p:txBody>
      </p:sp>
      <p:sp>
        <p:nvSpPr>
          <p:cNvPr id="20" name="Shape 17"/>
          <p:cNvSpPr/>
          <p:nvPr/>
        </p:nvSpPr>
        <p:spPr>
          <a:xfrm>
            <a:off x="7726680" y="1554480"/>
            <a:ext cx="3959352" cy="4800600"/>
          </a:xfrm>
          <a:prstGeom prst="roundRect">
            <a:avLst>
              <a:gd name="adj" fmla="val 1848"/>
            </a:avLst>
          </a:prstGeom>
          <a:solidFill>
            <a:srgbClr val="1D2A5C"/>
          </a:solidFill>
          <a:ln/>
        </p:spPr>
      </p:sp>
      <p:sp>
        <p:nvSpPr>
          <p:cNvPr id="21" name="Text 18"/>
          <p:cNvSpPr/>
          <p:nvPr/>
        </p:nvSpPr>
        <p:spPr>
          <a:xfrm>
            <a:off x="7955280" y="1737360"/>
            <a:ext cx="3502152" cy="36576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Production notes</a:t>
            </a:r>
            <a:endParaRPr lang="en-US" sz="1400" dirty="0"/>
          </a:p>
        </p:txBody>
      </p:sp>
      <p:sp>
        <p:nvSpPr>
          <p:cNvPr id="22" name="Text 19"/>
          <p:cNvSpPr/>
          <p:nvPr/>
        </p:nvSpPr>
        <p:spPr>
          <a:xfrm>
            <a:off x="7955280" y="2194560"/>
            <a:ext cx="3502152" cy="3977640"/>
          </a:xfrm>
          <a:prstGeom prst="rect">
            <a:avLst/>
          </a:prstGeom>
          <a:noFill/>
          <a:ln/>
        </p:spPr>
        <p:txBody>
          <a:bodyPr wrap="square" lIns="0" tIns="0" rIns="0" bIns="0" rtlCol="0" anchor="t"/>
          <a:lstStyle/>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camel_data -i defaults: a build-time artefact, never a runtime download</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Pin camel-tools AND its data-package versions — the MLE models are artefacts</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The segmentation scheme joins PREPROC_VERSION in the skew canary</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Log the live dialect-ID distribution weekly — dialect drift is real drift</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Arabic Model Landscape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خريطة النماذج العربية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73</a:t>
            </a:r>
            <a:endParaRPr lang="en-US" sz="8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795778"/>
                <a:gridCol w="2795778"/>
                <a:gridCol w="2795778"/>
                <a:gridCol w="2795778"/>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Checkpoint</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Pretraining data</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Strengths</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Watch out</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AraBERT (AUB)</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Large MSA corpus (news, Wikipedia)</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Strong MSA baseline, widely benchmarked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Needs its own pre-segmentation variant; weaker on dialect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CAMeLBERT -MSA/-DA/-CA/-mix</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MSA / dialectal / classical / all three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Match variant to traffic; -mix safe default, -DA wins dialect-heavy tasks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Normalised pretraining text — match the recipe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MARBERT / ARBERT (UBC)</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1B dialectal tweets / MSA</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MARBERT: the dialect + social-media specialist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Tweet-domain flavour; 128-token pretraining length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XLM-R / mBERT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languages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One model for AR+EN traffic, code-switching tolerance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Multilingual tax; fertility 1.9+</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Decision procedure, not brand loyalty: audit your traffic mix → measure fertility on YOUR corpus → fine-tune the two best candidates and compare on the dialect slice, not just the aggregate.</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arabic.py — Per-Model Normalisation</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‏arabic.py — تطبيع لكل نموذج</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74</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The checkpoint's pretraining recipe decides the normalisation — one profile per model, layered over M1's shared preprocessing module.</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src/bayan/arabic.py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camel_tools.utils.dediac import dediac_ar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camel_tools.utils.normalize import (normalize_alef_ar,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normalize_alef_maksura_ar, normalize_teh_marbuta_ar, normalize_unicode)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from bayan.preprocessing import preprocess</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ARABIC_PREPROC_VERSION = "1.0.0"</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PROFILES = {</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 CAMeLBERT family: pretrained on alef/ya/ta-normalised, dediacritised text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"camelbert": ["unicode", "alef", "alef_maksura", "teh_marbuta", "dediac"],</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 XLM-R: raw text pretraining — only unicode + course-generic cleaning</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"xlmr": ["unicode"],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_STEPS = {"unicode": normalize_unicode, "alef": normalize_alef_ar,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"alef_maksura": normalize_alef_maksura_ar,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"teh_marbuta": normalize_teh_marbuta_ar, "dediac": dediac_ar}</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normalize_arabic(text: str, profile: str = "camelbert") -&gt; str: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"""Model-input copy ONLY. Raw text stays authoritative for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display and character offsets (QA lesson, M3)."""</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text = preprocess(text)              # shared bilingual layer first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for step in PROFILES[profile]: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text = _STEPS[step](text)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text</a:t>
            </a:r>
            <a:endParaRPr lang="en-US" sz="8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Profiles, not one recipe</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Dediacritise for CAMeLBERT (pretrained that way); leave XLM-R raw — the checkpoint's card defines the recipe.</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Shadow copy only</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Normalise the model's input copy; keep raw text authoritative for display and offsets — or QA highlights drift.</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dialect_audit.py — Audit Before You Choose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‏dialect_audit.py — دقّق قبل أن تختار</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75</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What does the Bayan corpus actually contain? Fifteen lines answer the question every model choice should start with.</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notebooks/04_dialect_audit.py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import pandas as pd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from camel_tools.dialectid import DialectIdentifier</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did = DialectIdentifier.pretrained()             # MADAR-26 + MSA</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df = pd.read_csv("data/bayan_feedback.csv")</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ar = df[df.lang == "ar"]</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preds = did.predict(ar.text.tolist(), "region")  # coarse region-level classes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ar = ar.assign(dialect_region=[p.top for p in preds])</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print(ar.dialect_region.value_counts(normalize=True).round(3))</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Reference output (Bayan AR slice):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Gulf    0.548   &lt;- Saudi-dialect feedback dominates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MSA     0.451   &lt;- formal complaints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Other   0.001</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Engineering consequence: any model evaluated only on MSA is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unevaluated on half the Arabic traffic.</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Region, not city</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predict(..., 'region') — coarse Gulf/MSA routing is reliable; the 26 city-level classes are noisy on short texts.</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The audit drives everything</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Routing, sliced evaluation, and checkpoint choice all start from this distribution — measure before you pick a model.</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Quick Check — Silent Dialect Failure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فشل اللهجات الصامت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76</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Q3</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An MSA-trained sentiment model scores angry Najdi-dialect feedback as neutral. Why is the failure silent, and what reveals it?</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Dialect is still Arabic script — nothing crashes; sliced evaluation reveals it</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tokenizer emits [UNK] for dialect words, crashing the pipeline</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Training loss spikes on dialect batches, revealing it during training</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Aggregate accuracy drops to zero, making the failure obvious</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10–20 points of silent degradation is typical for MSA-trained models on dialect — why 'dialect' is a first-class column in Bayan and per-dialect rows go in every evaluation report (M6).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DAY 2 WRAP</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You now own three model artefacts with honest numbers. Day 3 rebuilds them Arabic-first, puts them behind search, and stress-tests the evaluation.</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Day 3: CAMeL Tools and dialect labs, the model bake-off, embeddings + semantic search, sliced evaluation.</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77</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9052560" y="1024128"/>
            <a:ext cx="438912" cy="384048"/>
          </a:xfrm>
          <a:prstGeom prst="triangle">
            <a:avLst/>
          </a:prstGeom>
          <a:solidFill>
            <a:srgbClr val="00A79D"/>
          </a:solidFill>
          <a:ln/>
        </p:spPr>
      </p:sp>
      <p:sp>
        <p:nvSpPr>
          <p:cNvPr id="3" name="Shape 1"/>
          <p:cNvSpPr/>
          <p:nvPr/>
        </p:nvSpPr>
        <p:spPr>
          <a:xfrm>
            <a:off x="9518904" y="832104"/>
            <a:ext cx="438912" cy="384048"/>
          </a:xfrm>
          <a:prstGeom prst="triangle">
            <a:avLst/>
          </a:prstGeom>
          <a:solidFill>
            <a:srgbClr val="29ABE2"/>
          </a:solidFill>
          <a:ln/>
        </p:spPr>
      </p:sp>
      <p:sp>
        <p:nvSpPr>
          <p:cNvPr id="4" name="Shape 2"/>
          <p:cNvSpPr/>
          <p:nvPr/>
        </p:nvSpPr>
        <p:spPr>
          <a:xfrm>
            <a:off x="9518904" y="1216152"/>
            <a:ext cx="438912" cy="384048"/>
          </a:xfrm>
          <a:prstGeom prst="triangle">
            <a:avLst/>
          </a:prstGeom>
          <a:solidFill>
            <a:srgbClr val="F7941D"/>
          </a:solidFill>
          <a:ln/>
        </p:spPr>
      </p:sp>
      <p:sp>
        <p:nvSpPr>
          <p:cNvPr id="5" name="Shape 3"/>
          <p:cNvSpPr/>
          <p:nvPr/>
        </p:nvSpPr>
        <p:spPr>
          <a:xfrm>
            <a:off x="9985248" y="640080"/>
            <a:ext cx="438912" cy="384048"/>
          </a:xfrm>
          <a:prstGeom prst="triangle">
            <a:avLst/>
          </a:prstGeom>
          <a:solidFill>
            <a:srgbClr val="8CC63F"/>
          </a:solidFill>
          <a:ln/>
        </p:spPr>
      </p:sp>
      <p:sp>
        <p:nvSpPr>
          <p:cNvPr id="6" name="Shape 4"/>
          <p:cNvSpPr/>
          <p:nvPr/>
        </p:nvSpPr>
        <p:spPr>
          <a:xfrm>
            <a:off x="9985248" y="1024128"/>
            <a:ext cx="438912" cy="384048"/>
          </a:xfrm>
          <a:prstGeom prst="triangle">
            <a:avLst/>
          </a:prstGeom>
          <a:solidFill>
            <a:srgbClr val="00A79D"/>
          </a:solidFill>
          <a:ln/>
        </p:spPr>
      </p:sp>
      <p:sp>
        <p:nvSpPr>
          <p:cNvPr id="7" name="Shape 5"/>
          <p:cNvSpPr/>
          <p:nvPr/>
        </p:nvSpPr>
        <p:spPr>
          <a:xfrm>
            <a:off x="10451592" y="832104"/>
            <a:ext cx="438912" cy="384048"/>
          </a:xfrm>
          <a:prstGeom prst="triangle">
            <a:avLst/>
          </a:prstGeom>
          <a:solidFill>
            <a:srgbClr val="29ABE2"/>
          </a:solidFill>
          <a:ln/>
        </p:spPr>
      </p:sp>
      <p:sp>
        <p:nvSpPr>
          <p:cNvPr id="8" name="Shape 6"/>
          <p:cNvSpPr/>
          <p:nvPr/>
        </p:nvSpPr>
        <p:spPr>
          <a:xfrm>
            <a:off x="10451592" y="1216152"/>
            <a:ext cx="438912" cy="384048"/>
          </a:xfrm>
          <a:prstGeom prst="triangle">
            <a:avLst/>
          </a:prstGeom>
          <a:solidFill>
            <a:srgbClr val="F7941D"/>
          </a:solidFill>
          <a:ln/>
        </p:spPr>
      </p:sp>
      <p:sp>
        <p:nvSpPr>
          <p:cNvPr id="9" name="Shape 7"/>
          <p:cNvSpPr/>
          <p:nvPr/>
        </p:nvSpPr>
        <p:spPr>
          <a:xfrm>
            <a:off x="10917936" y="1024128"/>
            <a:ext cx="438912" cy="384048"/>
          </a:xfrm>
          <a:prstGeom prst="triangle">
            <a:avLst/>
          </a:prstGeom>
          <a:solidFill>
            <a:srgbClr val="8CC63F"/>
          </a:solidFill>
          <a:ln/>
        </p:spPr>
      </p:sp>
      <p:sp>
        <p:nvSpPr>
          <p:cNvPr id="10" name="Text 8"/>
          <p:cNvSpPr/>
          <p:nvPr/>
        </p:nvSpPr>
        <p:spPr>
          <a:xfrm>
            <a:off x="777240" y="777240"/>
            <a:ext cx="4572000" cy="914400"/>
          </a:xfrm>
          <a:prstGeom prst="rect">
            <a:avLst/>
          </a:prstGeom>
          <a:noFill/>
          <a:ln/>
        </p:spPr>
        <p:txBody>
          <a:bodyPr wrap="square" lIns="0" tIns="0" rIns="0" bIns="0" rtlCol="0" anchor="ctr"/>
          <a:lstStyle/>
          <a:p>
            <a:pPr indent="0" marL="0">
              <a:buNone/>
            </a:pPr>
            <a:r>
              <a:rPr lang="en-US" sz="4800" b="1" dirty="0">
                <a:solidFill>
                  <a:srgbClr val="F7941D"/>
                </a:solidFill>
                <a:latin typeface="Calibri" pitchFamily="34" charset="0"/>
                <a:ea typeface="Calibri" pitchFamily="34" charset="-122"/>
                <a:cs typeface="Calibri" pitchFamily="34" charset="-120"/>
              </a:rPr>
              <a:t>DAY 3</a:t>
            </a:r>
            <a:endParaRPr lang="en-US" sz="4800" dirty="0"/>
          </a:p>
        </p:txBody>
      </p:sp>
      <p:sp>
        <p:nvSpPr>
          <p:cNvPr id="11" name="Text 9"/>
          <p:cNvSpPr/>
          <p:nvPr/>
        </p:nvSpPr>
        <p:spPr>
          <a:xfrm>
            <a:off x="777240" y="1783080"/>
            <a:ext cx="777240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Arabic Depth, Search, and Truth</a:t>
            </a:r>
            <a:endParaRPr lang="en-US" sz="3000" dirty="0"/>
          </a:p>
        </p:txBody>
      </p:sp>
      <p:sp>
        <p:nvSpPr>
          <p:cNvPr id="12" name="Text 10"/>
          <p:cNvSpPr/>
          <p:nvPr/>
        </p:nvSpPr>
        <p:spPr>
          <a:xfrm>
            <a:off x="777240" y="2468880"/>
            <a:ext cx="7772400" cy="411480"/>
          </a:xfrm>
          <a:prstGeom prst="rect">
            <a:avLst/>
          </a:prstGeom>
          <a:noFill/>
          <a:ln/>
        </p:spPr>
        <p:txBody>
          <a:bodyPr wrap="square" lIns="0" tIns="0" rIns="0" bIns="0" rtlCol="0" anchor="ctr"/>
          <a:lstStyle/>
          <a:p>
            <a:pPr indent="0" marL="0">
              <a:buNone/>
            </a:pPr>
            <a:r>
              <a:rPr lang="en-US" sz="1600" dirty="0">
                <a:solidFill>
                  <a:srgbClr val="00A79D"/>
                </a:solidFill>
                <a:latin typeface="Calibri" pitchFamily="34" charset="0"/>
                <a:ea typeface="Calibri" pitchFamily="34" charset="-122"/>
                <a:cs typeface="Calibri" pitchFamily="34" charset="-120"/>
              </a:rPr>
              <a:t>العمق العربي والبحث والحقيقة</a:t>
            </a:r>
            <a:endParaRPr lang="en-US" sz="1600" dirty="0"/>
          </a:p>
        </p:txBody>
      </p:sp>
      <p:sp>
        <p:nvSpPr>
          <p:cNvPr id="13" name="Shape 11"/>
          <p:cNvSpPr/>
          <p:nvPr/>
        </p:nvSpPr>
        <p:spPr>
          <a:xfrm>
            <a:off x="777240" y="3191256"/>
            <a:ext cx="960120" cy="393192"/>
          </a:xfrm>
          <a:prstGeom prst="roundRect">
            <a:avLst>
              <a:gd name="adj" fmla="val 13953"/>
            </a:avLst>
          </a:prstGeom>
          <a:solidFill>
            <a:srgbClr val="2A3A73"/>
          </a:solidFill>
          <a:ln/>
        </p:spPr>
      </p:sp>
      <p:sp>
        <p:nvSpPr>
          <p:cNvPr id="14" name="Text 12"/>
          <p:cNvSpPr/>
          <p:nvPr/>
        </p:nvSpPr>
        <p:spPr>
          <a:xfrm>
            <a:off x="777240" y="3191256"/>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H1</a:t>
            </a:r>
            <a:endParaRPr lang="en-US" sz="1050" dirty="0"/>
          </a:p>
        </p:txBody>
      </p:sp>
      <p:sp>
        <p:nvSpPr>
          <p:cNvPr id="15" name="Text 13"/>
          <p:cNvSpPr/>
          <p:nvPr/>
        </p:nvSpPr>
        <p:spPr>
          <a:xfrm>
            <a:off x="1920240" y="3191256"/>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4 — Arabic dialect fine-tuning  </a:t>
            </a:r>
            <a:pPr indent="0" marL="0">
              <a:buNone/>
            </a:pPr>
            <a:r>
              <a:rPr lang="en-US" sz="1200" dirty="0">
                <a:solidFill>
                  <a:srgbClr val="AAB6D8"/>
                </a:solidFill>
                <a:latin typeface="Calibri" pitchFamily="34" charset="0"/>
                <a:ea typeface="Calibri" pitchFamily="34" charset="-122"/>
                <a:cs typeface="Calibri" pitchFamily="34" charset="-120"/>
              </a:rPr>
              <a:t>CAMeL Tools normalisation; fine-tune CAMeLBERT on Saudi-dialect feedback vs the Day-2 model</a:t>
            </a:r>
            <a:endParaRPr lang="en-US" sz="1200" dirty="0"/>
          </a:p>
        </p:txBody>
      </p:sp>
      <p:sp>
        <p:nvSpPr>
          <p:cNvPr id="16" name="Shape 14"/>
          <p:cNvSpPr/>
          <p:nvPr/>
        </p:nvSpPr>
        <p:spPr>
          <a:xfrm>
            <a:off x="777240" y="3712464"/>
            <a:ext cx="960120" cy="393192"/>
          </a:xfrm>
          <a:prstGeom prst="roundRect">
            <a:avLst>
              <a:gd name="adj" fmla="val 13953"/>
            </a:avLst>
          </a:prstGeom>
          <a:solidFill>
            <a:srgbClr val="2A3A73"/>
          </a:solidFill>
          <a:ln/>
        </p:spPr>
      </p:sp>
      <p:sp>
        <p:nvSpPr>
          <p:cNvPr id="17" name="Text 15"/>
          <p:cNvSpPr/>
          <p:nvPr/>
        </p:nvSpPr>
        <p:spPr>
          <a:xfrm>
            <a:off x="777240" y="3712464"/>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H2</a:t>
            </a:r>
            <a:endParaRPr lang="en-US" sz="1050" dirty="0"/>
          </a:p>
        </p:txBody>
      </p:sp>
      <p:sp>
        <p:nvSpPr>
          <p:cNvPr id="18" name="Text 16"/>
          <p:cNvSpPr/>
          <p:nvPr/>
        </p:nvSpPr>
        <p:spPr>
          <a:xfrm>
            <a:off x="1920240" y="3712464"/>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Semantic search with sentence embeddings  </a:t>
            </a:r>
            <a:pPr indent="0" marL="0">
              <a:buNone/>
            </a:pPr>
            <a:r>
              <a:rPr lang="en-US" sz="1200" dirty="0">
                <a:solidFill>
                  <a:srgbClr val="AAB6D8"/>
                </a:solidFill>
                <a:latin typeface="Calibri" pitchFamily="34" charset="0"/>
                <a:ea typeface="Calibri" pitchFamily="34" charset="-122"/>
                <a:cs typeface="Calibri" pitchFamily="34" charset="-120"/>
              </a:rPr>
              <a:t>Bi- vs cross-encoders, similarity metrics, ANN indexing, multilingual embedding spaces</a:t>
            </a:r>
            <a:endParaRPr lang="en-US" sz="1200" dirty="0"/>
          </a:p>
        </p:txBody>
      </p:sp>
      <p:sp>
        <p:nvSpPr>
          <p:cNvPr id="19" name="Shape 17"/>
          <p:cNvSpPr/>
          <p:nvPr/>
        </p:nvSpPr>
        <p:spPr>
          <a:xfrm>
            <a:off x="777240" y="4233672"/>
            <a:ext cx="960120" cy="393192"/>
          </a:xfrm>
          <a:prstGeom prst="roundRect">
            <a:avLst>
              <a:gd name="adj" fmla="val 13953"/>
            </a:avLst>
          </a:prstGeom>
          <a:solidFill>
            <a:srgbClr val="2A3A73"/>
          </a:solidFill>
          <a:ln/>
        </p:spPr>
      </p:sp>
      <p:sp>
        <p:nvSpPr>
          <p:cNvPr id="20" name="Text 18"/>
          <p:cNvSpPr/>
          <p:nvPr/>
        </p:nvSpPr>
        <p:spPr>
          <a:xfrm>
            <a:off x="777240" y="4233672"/>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H3</a:t>
            </a:r>
            <a:endParaRPr lang="en-US" sz="1050" dirty="0"/>
          </a:p>
        </p:txBody>
      </p:sp>
      <p:sp>
        <p:nvSpPr>
          <p:cNvPr id="21" name="Text 19"/>
          <p:cNvSpPr/>
          <p:nvPr/>
        </p:nvSpPr>
        <p:spPr>
          <a:xfrm>
            <a:off x="1920240" y="4233672"/>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5 — Bilingual semantic search  </a:t>
            </a:r>
            <a:pPr indent="0" marL="0">
              <a:buNone/>
            </a:pPr>
            <a:r>
              <a:rPr lang="en-US" sz="1200" dirty="0">
                <a:solidFill>
                  <a:srgbClr val="AAB6D8"/>
                </a:solidFill>
                <a:latin typeface="Calibri" pitchFamily="34" charset="0"/>
                <a:ea typeface="Calibri" pitchFamily="34" charset="-122"/>
                <a:cs typeface="Calibri" pitchFamily="34" charset="-120"/>
              </a:rPr>
              <a:t>FAISS index with sentence-transformers; cross-encoder re-ranking; measure recall@k</a:t>
            </a:r>
            <a:endParaRPr lang="en-US" sz="1200" dirty="0"/>
          </a:p>
        </p:txBody>
      </p:sp>
      <p:sp>
        <p:nvSpPr>
          <p:cNvPr id="22" name="Shape 20"/>
          <p:cNvSpPr/>
          <p:nvPr/>
        </p:nvSpPr>
        <p:spPr>
          <a:xfrm>
            <a:off x="777240" y="4754880"/>
            <a:ext cx="960120" cy="393192"/>
          </a:xfrm>
          <a:prstGeom prst="roundRect">
            <a:avLst>
              <a:gd name="adj" fmla="val 13953"/>
            </a:avLst>
          </a:prstGeom>
          <a:solidFill>
            <a:srgbClr val="2A3A73"/>
          </a:solidFill>
          <a:ln/>
        </p:spPr>
      </p:sp>
      <p:sp>
        <p:nvSpPr>
          <p:cNvPr id="23" name="Text 21"/>
          <p:cNvSpPr/>
          <p:nvPr/>
        </p:nvSpPr>
        <p:spPr>
          <a:xfrm>
            <a:off x="777240" y="4754880"/>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H4</a:t>
            </a:r>
            <a:endParaRPr lang="en-US" sz="1050" dirty="0"/>
          </a:p>
        </p:txBody>
      </p:sp>
      <p:sp>
        <p:nvSpPr>
          <p:cNvPr id="24" name="Text 22"/>
          <p:cNvSpPr/>
          <p:nvPr/>
        </p:nvSpPr>
        <p:spPr>
          <a:xfrm>
            <a:off x="1920240" y="4754880"/>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Evaluation and error analysis for NLP  </a:t>
            </a:r>
            <a:pPr indent="0" marL="0">
              <a:buNone/>
            </a:pPr>
            <a:r>
              <a:rPr lang="en-US" sz="1200" dirty="0">
                <a:solidFill>
                  <a:srgbClr val="AAB6D8"/>
                </a:solidFill>
                <a:latin typeface="Calibri" pitchFamily="34" charset="0"/>
                <a:ea typeface="Calibri" pitchFamily="34" charset="-122"/>
                <a:cs typeface="Calibri" pitchFamily="34" charset="-120"/>
              </a:rPr>
              <a:t>Task-appropriate metrics, sliced evaluation, bootstrap confidence, behavioural tests</a:t>
            </a:r>
            <a:endParaRPr lang="en-US" sz="1200" dirty="0"/>
          </a:p>
        </p:txBody>
      </p:sp>
      <p:sp>
        <p:nvSpPr>
          <p:cNvPr id="25" name="Shape 23"/>
          <p:cNvSpPr/>
          <p:nvPr/>
        </p:nvSpPr>
        <p:spPr>
          <a:xfrm>
            <a:off x="777240" y="5276088"/>
            <a:ext cx="960120" cy="393192"/>
          </a:xfrm>
          <a:prstGeom prst="roundRect">
            <a:avLst>
              <a:gd name="adj" fmla="val 13953"/>
            </a:avLst>
          </a:prstGeom>
          <a:solidFill>
            <a:srgbClr val="2A3A73"/>
          </a:solidFill>
          <a:ln/>
        </p:spPr>
      </p:sp>
      <p:sp>
        <p:nvSpPr>
          <p:cNvPr id="26" name="Text 24"/>
          <p:cNvSpPr/>
          <p:nvPr/>
        </p:nvSpPr>
        <p:spPr>
          <a:xfrm>
            <a:off x="777240" y="5276088"/>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H5</a:t>
            </a:r>
            <a:endParaRPr lang="en-US" sz="1050" dirty="0"/>
          </a:p>
        </p:txBody>
      </p:sp>
      <p:sp>
        <p:nvSpPr>
          <p:cNvPr id="27" name="Text 25"/>
          <p:cNvSpPr/>
          <p:nvPr/>
        </p:nvSpPr>
        <p:spPr>
          <a:xfrm>
            <a:off x="1920240" y="5276088"/>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6 — The evaluation report  </a:t>
            </a:r>
            <a:pPr indent="0" marL="0">
              <a:buNone/>
            </a:pPr>
            <a:r>
              <a:rPr lang="en-US" sz="1200" dirty="0">
                <a:solidFill>
                  <a:srgbClr val="AAB6D8"/>
                </a:solidFill>
                <a:latin typeface="Calibri" pitchFamily="34" charset="0"/>
                <a:ea typeface="Calibri" pitchFamily="34" charset="-122"/>
                <a:cs typeface="Calibri" pitchFamily="34" charset="-120"/>
              </a:rPr>
              <a:t>Slice every Bayan model by language, dialect and length; bootstrap CIs; write the report</a:t>
            </a:r>
            <a:endParaRPr lang="en-US" sz="1200" dirty="0"/>
          </a:p>
        </p:txBody>
      </p:sp>
      <p:sp>
        <p:nvSpPr>
          <p:cNvPr id="28" name="Shape 26"/>
          <p:cNvSpPr/>
          <p:nvPr/>
        </p:nvSpPr>
        <p:spPr>
          <a:xfrm>
            <a:off x="777240" y="5989320"/>
            <a:ext cx="10607040" cy="566928"/>
          </a:xfrm>
          <a:prstGeom prst="roundRect">
            <a:avLst>
              <a:gd name="adj" fmla="val 12903"/>
            </a:avLst>
          </a:prstGeom>
          <a:solidFill>
            <a:srgbClr val="00A79D"/>
          </a:solidFill>
          <a:ln/>
        </p:spPr>
      </p:sp>
      <p:sp>
        <p:nvSpPr>
          <p:cNvPr id="29" name="Text 27"/>
          <p:cNvSpPr/>
          <p:nvPr/>
        </p:nvSpPr>
        <p:spPr>
          <a:xfrm>
            <a:off x="1005840" y="5989320"/>
            <a:ext cx="10149840" cy="566928"/>
          </a:xfrm>
          <a:prstGeom prst="rect">
            <a:avLst/>
          </a:prstGeom>
          <a:noFill/>
          <a:ln/>
        </p:spPr>
        <p:txBody>
          <a:bodyPr wrap="square" lIns="0" tIns="0" rIns="0" bIns="0"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END-OF-DAY DELIVERABLE   </a:t>
            </a:r>
            <a:pPr indent="0" marL="0">
              <a:buNone/>
            </a:pPr>
            <a:r>
              <a:rPr lang="en-US" sz="1200" b="1" dirty="0">
                <a:solidFill>
                  <a:srgbClr val="FFFFFF"/>
                </a:solidFill>
                <a:latin typeface="Calibri" pitchFamily="34" charset="0"/>
                <a:ea typeface="Calibri" pitchFamily="34" charset="-122"/>
                <a:cs typeface="Calibri" pitchFamily="34" charset="-120"/>
              </a:rPr>
              <a:t>Arabic-tuned models + bilingual semantic search index + sliced evaluation report</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3 — hour by hour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الثالث — ساعة بساعة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79</a:t>
            </a:r>
            <a:endParaRPr lang="en-US" sz="8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685800"/>
                <a:gridCol w="2834640"/>
                <a:gridCol w="5010912"/>
                <a:gridCol w="1737360"/>
                <a:gridCol w="91440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Hour</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Theory/Lab</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4 — Arabic dialect fine-tuning</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CAMeL Tools normalisation; CAMeLBERT fine-tune on Saudi-dialect feedback; compare vs Day-2 model</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Guided lab (pairs)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10/90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Semantic search with embeddings (M5)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Bi- vs cross-encoders, similarity metrics, ANN indexing, multilingual embedding spaces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Lecture + space demo</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70/30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5 — Bilingual semantic search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Build the FAISS index with sentence-transformers; add cross-encoder re-ranking; measure recall@k</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Guided lab (pairs)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10/90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Evaluation and error analysis (M6)</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Task-appropriate metrics, sliced evaluation, bootstrap confidence, behavioural tests, taxonomies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Lecture + error gallery</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70/30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6 — The evaluation report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Slice every Bayan model by language/dialect/length; bootstrap CIs; write the error-analysis report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Guided lab (pairs)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10/90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5989320"/>
            <a:ext cx="11183112" cy="4114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INSTRUCTOR NOTE   </a:t>
            </a:r>
            <a:pPr indent="0" marL="0">
              <a:buNone/>
            </a:pPr>
            <a:r>
              <a:rPr lang="en-US" sz="1050" dirty="0">
                <a:solidFill>
                  <a:srgbClr val="6E7B8A"/>
                </a:solidFill>
                <a:latin typeface="Calibri" pitchFamily="34" charset="0"/>
                <a:ea typeface="Calibri" pitchFamily="34" charset="-122"/>
                <a:cs typeface="Calibri" pitchFamily="34" charset="-120"/>
              </a:rPr>
              <a:t>Lab-heavy day: three of five hours are 10/90 guided labs in pairs. The lecture hours carry the embedding-space demo (H2) and the error-gallery walkthrough (H4).</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4 — Arabic Pipeline and Dialect Fine-tuning</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4 — خط المعالجة العربي والضبط اللهجي</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80</a:t>
            </a:r>
            <a:endParaRPr lang="en-US" sz="800" dirty="0"/>
          </a:p>
        </p:txBody>
      </p:sp>
      <p:sp>
        <p:nvSpPr>
          <p:cNvPr id="8" name="Shape 5"/>
          <p:cNvSpPr/>
          <p:nvPr/>
        </p:nvSpPr>
        <p:spPr>
          <a:xfrm>
            <a:off x="502920" y="1463040"/>
            <a:ext cx="11183112" cy="548640"/>
          </a:xfrm>
          <a:prstGeom prst="roundRect">
            <a:avLst>
              <a:gd name="adj" fmla="val 13333"/>
            </a:avLst>
          </a:prstGeom>
          <a:solidFill>
            <a:srgbClr val="1D2A5C"/>
          </a:solidFill>
          <a:ln/>
        </p:spPr>
      </p:sp>
      <p:sp>
        <p:nvSpPr>
          <p:cNvPr id="9" name="Text 6"/>
          <p:cNvSpPr/>
          <p:nvPr/>
        </p:nvSpPr>
        <p:spPr>
          <a:xfrm>
            <a:off x="685800" y="1463040"/>
            <a:ext cx="8961120" cy="548640"/>
          </a:xfrm>
          <a:prstGeom prst="rect">
            <a:avLst/>
          </a:prstGeom>
          <a:noFill/>
          <a:ln/>
        </p:spPr>
        <p:txBody>
          <a:bodyPr wrap="square" lIns="0" tIns="0" rIns="0" bIns="0" rtlCol="0" anchor="ctr"/>
          <a:lstStyle/>
          <a:p>
            <a:pPr indent="0" marL="0">
              <a:buNone/>
            </a:pPr>
            <a:r>
              <a:rPr lang="en-US" sz="1300" b="1" dirty="0">
                <a:solidFill>
                  <a:srgbClr val="F7941D"/>
                </a:solidFill>
                <a:latin typeface="Calibri" pitchFamily="34" charset="0"/>
                <a:ea typeface="Calibri" pitchFamily="34" charset="-122"/>
                <a:cs typeface="Calibri" pitchFamily="34" charset="-120"/>
              </a:rPr>
              <a:t>  HANDS-ON LAB 4   </a:t>
            </a:r>
            <a:pPr indent="0" marL="0">
              <a:buNone/>
            </a:pPr>
            <a:r>
              <a:rPr lang="en-US" sz="1400" b="1" dirty="0">
                <a:solidFill>
                  <a:srgbClr val="FFFFFF"/>
                </a:solidFill>
                <a:latin typeface="Calibri" pitchFamily="34" charset="0"/>
                <a:ea typeface="Calibri" pitchFamily="34" charset="-122"/>
                <a:cs typeface="Calibri" pitchFamily="34" charset="-120"/>
              </a:rPr>
              <a:t>Arabic Pipeline and Dialect-Aware Fine-tuning</a:t>
            </a:r>
            <a:endParaRPr lang="en-US" sz="1300" dirty="0"/>
          </a:p>
        </p:txBody>
      </p:sp>
      <p:sp>
        <p:nvSpPr>
          <p:cNvPr id="10" name="Text 7"/>
          <p:cNvSpPr/>
          <p:nvPr/>
        </p:nvSpPr>
        <p:spPr>
          <a:xfrm>
            <a:off x="9692640" y="1463040"/>
            <a:ext cx="1828800" cy="548640"/>
          </a:xfrm>
          <a:prstGeom prst="rect">
            <a:avLst/>
          </a:prstGeom>
          <a:noFill/>
          <a:ln/>
        </p:spPr>
        <p:txBody>
          <a:bodyPr wrap="square" lIns="0" tIns="0" rIns="0" bIns="0" rtlCol="0" anchor="ctr"/>
          <a:lstStyle/>
          <a:p>
            <a:pPr algn="r" indent="0" marL="0">
              <a:buNone/>
            </a:pPr>
            <a:r>
              <a:rPr lang="en-US" sz="1200" b="1" dirty="0">
                <a:solidFill>
                  <a:srgbClr val="00A79D"/>
                </a:solidFill>
                <a:latin typeface="Calibri" pitchFamily="34" charset="0"/>
                <a:ea typeface="Calibri" pitchFamily="34" charset="-122"/>
                <a:cs typeface="Calibri" pitchFamily="34" charset="-120"/>
              </a:rPr>
              <a:t>50 min</a:t>
            </a:r>
            <a:endParaRPr lang="en-US" sz="1200" dirty="0"/>
          </a:p>
        </p:txBody>
      </p:sp>
      <p:sp>
        <p:nvSpPr>
          <p:cNvPr id="11" name="Text 8"/>
          <p:cNvSpPr/>
          <p:nvPr/>
        </p:nvSpPr>
        <p:spPr>
          <a:xfrm>
            <a:off x="502920" y="2240280"/>
            <a:ext cx="6903720" cy="256032"/>
          </a:xfrm>
          <a:prstGeom prst="rect">
            <a:avLst/>
          </a:prstGeom>
          <a:noFill/>
          <a:ln/>
        </p:spPr>
        <p:txBody>
          <a:bodyPr wrap="square" lIns="0" tIns="0" rIns="0" bIns="0" rtlCol="0" anchor="ctr"/>
          <a:lstStyle/>
          <a:p>
            <a:pPr indent="0" marL="0">
              <a:buNone/>
            </a:pPr>
            <a:r>
              <a:rPr lang="en-US" sz="1050" b="1" spc="150" kern="0" dirty="0">
                <a:solidFill>
                  <a:srgbClr val="00A79D"/>
                </a:solidFill>
                <a:latin typeface="Calibri" pitchFamily="34" charset="0"/>
                <a:ea typeface="Calibri" pitchFamily="34" charset="-122"/>
                <a:cs typeface="Calibri" pitchFamily="34" charset="-120"/>
              </a:rPr>
              <a:t>TASKS</a:t>
            </a:r>
            <a:endParaRPr lang="en-US" sz="1050" dirty="0"/>
          </a:p>
        </p:txBody>
      </p:sp>
      <p:sp>
        <p:nvSpPr>
          <p:cNvPr id="12" name="Shape 9"/>
          <p:cNvSpPr/>
          <p:nvPr/>
        </p:nvSpPr>
        <p:spPr>
          <a:xfrm>
            <a:off x="502920" y="2578608"/>
            <a:ext cx="274320" cy="274320"/>
          </a:xfrm>
          <a:prstGeom prst="ellipse">
            <a:avLst/>
          </a:prstGeom>
          <a:solidFill>
            <a:srgbClr val="00A79D"/>
          </a:solidFill>
          <a:ln/>
        </p:spPr>
      </p:sp>
      <p:sp>
        <p:nvSpPr>
          <p:cNvPr id="13" name="Text 10"/>
          <p:cNvSpPr/>
          <p:nvPr/>
        </p:nvSpPr>
        <p:spPr>
          <a:xfrm>
            <a:off x="50292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p:nvPr/>
        </p:nvSpPr>
        <p:spPr>
          <a:xfrm>
            <a:off x="914400" y="2551176"/>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Implement normalize_arabic with two profiles; pass the 30-pair golden tests (hamza-seat, combining marks)</a:t>
            </a:r>
            <a:endParaRPr lang="en-US" sz="1100" dirty="0"/>
          </a:p>
        </p:txBody>
      </p:sp>
      <p:sp>
        <p:nvSpPr>
          <p:cNvPr id="15" name="Shape 12"/>
          <p:cNvSpPr/>
          <p:nvPr/>
        </p:nvSpPr>
        <p:spPr>
          <a:xfrm>
            <a:off x="502920" y="3236976"/>
            <a:ext cx="274320" cy="274320"/>
          </a:xfrm>
          <a:prstGeom prst="ellipse">
            <a:avLst/>
          </a:prstGeom>
          <a:solidFill>
            <a:srgbClr val="00A79D"/>
          </a:solidFill>
          <a:ln/>
        </p:spPr>
      </p:sp>
      <p:sp>
        <p:nvSpPr>
          <p:cNvPr id="16" name="Text 13"/>
          <p:cNvSpPr/>
          <p:nvPr/>
        </p:nvSpPr>
        <p:spPr>
          <a:xfrm>
            <a:off x="50292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4"/>
          <p:cNvSpPr/>
          <p:nvPr/>
        </p:nvSpPr>
        <p:spPr>
          <a:xfrm>
            <a:off x="914400" y="3209544"/>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Run the dialect audit; record the region distribution and its implication for MSA-only evaluation</a:t>
            </a:r>
            <a:endParaRPr lang="en-US" sz="1100" dirty="0"/>
          </a:p>
        </p:txBody>
      </p:sp>
      <p:sp>
        <p:nvSpPr>
          <p:cNvPr id="18" name="Shape 15"/>
          <p:cNvSpPr/>
          <p:nvPr/>
        </p:nvSpPr>
        <p:spPr>
          <a:xfrm>
            <a:off x="502920" y="3895344"/>
            <a:ext cx="274320" cy="274320"/>
          </a:xfrm>
          <a:prstGeom prst="ellipse">
            <a:avLst/>
          </a:prstGeom>
          <a:solidFill>
            <a:srgbClr val="00A79D"/>
          </a:solidFill>
          <a:ln/>
        </p:spPr>
      </p:sp>
      <p:sp>
        <p:nvSpPr>
          <p:cNvPr id="19" name="Text 16"/>
          <p:cNvSpPr/>
          <p:nvPr/>
        </p:nvSpPr>
        <p:spPr>
          <a:xfrm>
            <a:off x="50292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914400" y="3867912"/>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Wire segment() into the NER pipeline (flag --presegment); record the LOCATION recall delta</a:t>
            </a:r>
            <a:endParaRPr lang="en-US" sz="1100" dirty="0"/>
          </a:p>
        </p:txBody>
      </p:sp>
      <p:sp>
        <p:nvSpPr>
          <p:cNvPr id="21" name="Shape 18"/>
          <p:cNvSpPr/>
          <p:nvPr/>
        </p:nvSpPr>
        <p:spPr>
          <a:xfrm>
            <a:off x="502920" y="4553712"/>
            <a:ext cx="274320" cy="274320"/>
          </a:xfrm>
          <a:prstGeom prst="ellipse">
            <a:avLst/>
          </a:prstGeom>
          <a:solidFill>
            <a:srgbClr val="00A79D"/>
          </a:solidFill>
          <a:ln/>
        </p:spPr>
      </p:sp>
      <p:sp>
        <p:nvSpPr>
          <p:cNvPr id="22" name="Text 19"/>
          <p:cNvSpPr/>
          <p:nvPr/>
        </p:nvSpPr>
        <p:spPr>
          <a:xfrm>
            <a:off x="502920" y="45537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0"/>
          <p:cNvSpPr/>
          <p:nvPr/>
        </p:nvSpPr>
        <p:spPr>
          <a:xfrm>
            <a:off x="914400" y="4526280"/>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Bake-off CAMeLBERT-mix vs CAMeLBERT-DA (MARBERT if time); fill the sliced table in BENCHMARKS.md</a:t>
            </a:r>
            <a:endParaRPr lang="en-US" sz="1100" dirty="0"/>
          </a:p>
        </p:txBody>
      </p:sp>
      <p:sp>
        <p:nvSpPr>
          <p:cNvPr id="24" name="Shape 21"/>
          <p:cNvSpPr/>
          <p:nvPr/>
        </p:nvSpPr>
        <p:spPr>
          <a:xfrm>
            <a:off x="502920" y="5212080"/>
            <a:ext cx="274320" cy="274320"/>
          </a:xfrm>
          <a:prstGeom prst="ellipse">
            <a:avLst/>
          </a:prstGeom>
          <a:solidFill>
            <a:srgbClr val="00A79D"/>
          </a:solidFill>
          <a:ln/>
        </p:spPr>
      </p:sp>
      <p:sp>
        <p:nvSpPr>
          <p:cNvPr id="25" name="Text 22"/>
          <p:cNvSpPr/>
          <p:nvPr/>
        </p:nvSpPr>
        <p:spPr>
          <a:xfrm>
            <a:off x="502920" y="5212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p:nvPr/>
        </p:nvSpPr>
        <p:spPr>
          <a:xfrm>
            <a:off x="914400" y="5184648"/>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Update DECISIONS.md#arabic-model with the winner and the slice evidence; commit</a:t>
            </a:r>
            <a:endParaRPr lang="en-US" sz="1100" dirty="0"/>
          </a:p>
        </p:txBody>
      </p:sp>
      <p:sp>
        <p:nvSpPr>
          <p:cNvPr id="27" name="Shape 24"/>
          <p:cNvSpPr/>
          <p:nvPr/>
        </p:nvSpPr>
        <p:spPr>
          <a:xfrm>
            <a:off x="7635240" y="2240280"/>
            <a:ext cx="4050792" cy="1264920"/>
          </a:xfrm>
          <a:prstGeom prst="roundRect">
            <a:avLst>
              <a:gd name="adj" fmla="val 4337"/>
            </a:avLst>
          </a:prstGeom>
          <a:solidFill>
            <a:srgbClr val="E6F5F4"/>
          </a:solidFill>
          <a:ln w="9525">
            <a:solidFill>
              <a:srgbClr val="00A79D"/>
            </a:solidFill>
            <a:prstDash val="solid"/>
          </a:ln>
        </p:spPr>
      </p:sp>
      <p:sp>
        <p:nvSpPr>
          <p:cNvPr id="28" name="Text 25"/>
          <p:cNvSpPr/>
          <p:nvPr/>
        </p:nvSpPr>
        <p:spPr>
          <a:xfrm>
            <a:off x="7799832" y="2322576"/>
            <a:ext cx="3721608"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OBJECTIVE</a:t>
            </a:r>
            <a:endParaRPr lang="en-US" sz="950" dirty="0"/>
          </a:p>
        </p:txBody>
      </p:sp>
      <p:sp>
        <p:nvSpPr>
          <p:cNvPr id="29" name="Text 26"/>
          <p:cNvSpPr/>
          <p:nvPr/>
        </p:nvSpPr>
        <p:spPr>
          <a:xfrm>
            <a:off x="7799832" y="25786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Normalisation profiles, dialect audit, clitic segmentation for NER, and a dialect-aware fine-tune that beats the Day-2 model by ≥ 4 macro-F1 on the Saudi-dialect slice</a:t>
            </a:r>
            <a:endParaRPr lang="en-US" sz="1000" dirty="0"/>
          </a:p>
        </p:txBody>
      </p:sp>
      <p:sp>
        <p:nvSpPr>
          <p:cNvPr id="30" name="Shape 27"/>
          <p:cNvSpPr/>
          <p:nvPr/>
        </p:nvSpPr>
        <p:spPr>
          <a:xfrm>
            <a:off x="7635240" y="3688080"/>
            <a:ext cx="4050792" cy="1264920"/>
          </a:xfrm>
          <a:prstGeom prst="roundRect">
            <a:avLst>
              <a:gd name="adj" fmla="val 4337"/>
            </a:avLst>
          </a:prstGeom>
          <a:solidFill>
            <a:srgbClr val="FEF3E3"/>
          </a:solidFill>
          <a:ln w="9525">
            <a:solidFill>
              <a:srgbClr val="F7941D"/>
            </a:solidFill>
            <a:prstDash val="solid"/>
          </a:ln>
        </p:spPr>
      </p:sp>
      <p:sp>
        <p:nvSpPr>
          <p:cNvPr id="31" name="Text 28"/>
          <p:cNvSpPr/>
          <p:nvPr/>
        </p:nvSpPr>
        <p:spPr>
          <a:xfrm>
            <a:off x="7799832" y="3770376"/>
            <a:ext cx="3721608"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DELIVERABLE</a:t>
            </a:r>
            <a:endParaRPr lang="en-US" sz="950" dirty="0"/>
          </a:p>
        </p:txBody>
      </p:sp>
      <p:sp>
        <p:nvSpPr>
          <p:cNvPr id="32" name="Text 29"/>
          <p:cNvSpPr/>
          <p:nvPr/>
        </p:nvSpPr>
        <p:spPr>
          <a:xfrm>
            <a:off x="7799832" y="40264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Dialect-aware classifier artefact + normalisation profiles — consumed by Lab 5 (bilingual search) and Lab 6 (sliced evaluation)</a:t>
            </a:r>
            <a:endParaRPr lang="en-US" sz="1000" dirty="0"/>
          </a:p>
        </p:txBody>
      </p:sp>
      <p:sp>
        <p:nvSpPr>
          <p:cNvPr id="33" name="Shape 30"/>
          <p:cNvSpPr/>
          <p:nvPr/>
        </p:nvSpPr>
        <p:spPr>
          <a:xfrm>
            <a:off x="7635240" y="5135880"/>
            <a:ext cx="4050792" cy="1264920"/>
          </a:xfrm>
          <a:prstGeom prst="roundRect">
            <a:avLst>
              <a:gd name="adj" fmla="val 4337"/>
            </a:avLst>
          </a:prstGeom>
          <a:solidFill>
            <a:srgbClr val="EAF6FC"/>
          </a:solidFill>
          <a:ln w="9525">
            <a:solidFill>
              <a:srgbClr val="29ABE2"/>
            </a:solidFill>
            <a:prstDash val="solid"/>
          </a:ln>
        </p:spPr>
      </p:sp>
      <p:sp>
        <p:nvSpPr>
          <p:cNvPr id="34" name="Text 31"/>
          <p:cNvSpPr/>
          <p:nvPr/>
        </p:nvSpPr>
        <p:spPr>
          <a:xfrm>
            <a:off x="7799832" y="5218176"/>
            <a:ext cx="3721608"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WATCH FOR</a:t>
            </a:r>
            <a:endParaRPr lang="en-US" sz="950" dirty="0"/>
          </a:p>
        </p:txBody>
      </p:sp>
      <p:sp>
        <p:nvSpPr>
          <p:cNvPr id="35" name="Text 32"/>
          <p:cNvSpPr/>
          <p:nvPr/>
        </p:nvSpPr>
        <p:spPr>
          <a:xfrm>
            <a:off x="7799832" y="54742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Unicode NFC before dediac — compose combining marks first · Segmentation is train-AND-serve or neither · MARBERT: cap max_length=128 (pretraining length)</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Clitic segmentation: making entities visible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التقطيع الصرفي: إظهار الكيانات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81</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وبالرياض → و+ ب+ ال+ رياض — the LOCATION becomes its own token, visible to word-level NER.</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src/bayan/segmentation_ar.py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from camel_tools.disambig.mle import MLEDisambiguator</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from camel_tools.tokenizers.morphological import MorphologicalTokenizer</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from camel_tools.tokenizers.word import simple_word_tokenize</a:t>
            </a:r>
            <a:endParaRPr lang="en-US" sz="1050" dirty="0"/>
          </a:p>
          <a:p>
            <a:pPr indent="0" marL="0">
              <a:lnSpc>
                <a:spcPct val="104000"/>
              </a:lnSpc>
              <a:buNone/>
            </a:pP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_disambig = MLEDisambiguator.pretrained()        # load once, module-level</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_seg = MorphologicalTokenizer(_disambig, scheme="d3tok", split=True)</a:t>
            </a:r>
            <a:endParaRPr lang="en-US" sz="1050" dirty="0"/>
          </a:p>
          <a:p>
            <a:pPr indent="0" marL="0">
              <a:lnSpc>
                <a:spcPct val="104000"/>
              </a:lnSpc>
              <a:buNone/>
            </a:pP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def segment(text: str) -&gt; list[str]:</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words = simple_word_tokenize(text)</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return _seg.tokenize(words)</a:t>
            </a:r>
            <a:endParaRPr lang="en-US" sz="1050" dirty="0"/>
          </a:p>
          <a:p>
            <a:pPr indent="0" marL="0">
              <a:lnSpc>
                <a:spcPct val="104000"/>
              </a:lnSpc>
              <a:buNone/>
            </a:pP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if __name__ == "__main__":</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sample = "انقطعت الكهرباء وبالرياض تأخرت الصيانة"</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print(segment(sample))</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 ['انقطعت', 'ال+', 'كهرباء', 'و+', 'ب+', 'ال+', 'رياض', 'تأخرت', 'ال+', 'صيانة']</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 NER label alignment (M3) now tags 'رياض' as B-LOCATION directly.</a:t>
            </a:r>
            <a:endParaRPr lang="en-US" sz="10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d3tok scheme</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The MLE disambiguator picks one reading; MorphologicalTokenizer splits clitics on that reading</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Train-and-serve</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If NER F1 drops after segmentation, the model was fine-tuned on unsegmented text — re-fine-tune with --presegment or don't segment at all</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bake-off: slices tell the truth</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المنافسة: الشرائح تقول الحقيقة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82</a:t>
            </a:r>
            <a:endParaRPr lang="en-US" sz="800" dirty="0"/>
          </a:p>
        </p:txBody>
      </p:sp>
      <p:sp>
        <p:nvSpPr>
          <p:cNvPr id="8" name="Shape 5"/>
          <p:cNvSpPr/>
          <p:nvPr/>
        </p:nvSpPr>
        <p:spPr>
          <a:xfrm>
            <a:off x="502920" y="1828800"/>
            <a:ext cx="3514344" cy="3017520"/>
          </a:xfrm>
          <a:prstGeom prst="roundRect">
            <a:avLst>
              <a:gd name="adj" fmla="val 2424"/>
            </a:avLst>
          </a:prstGeom>
          <a:solidFill>
            <a:srgbClr val="F2F6F8"/>
          </a:solidFill>
          <a:ln/>
        </p:spPr>
      </p:sp>
      <p:sp>
        <p:nvSpPr>
          <p:cNvPr id="9" name="Text 6"/>
          <p:cNvSpPr/>
          <p:nvPr/>
        </p:nvSpPr>
        <p:spPr>
          <a:xfrm>
            <a:off x="640080" y="2103120"/>
            <a:ext cx="3240024" cy="914400"/>
          </a:xfrm>
          <a:prstGeom prst="rect">
            <a:avLst/>
          </a:prstGeom>
          <a:noFill/>
          <a:ln/>
        </p:spPr>
        <p:txBody>
          <a:bodyPr wrap="square" lIns="0" tIns="0" rIns="0" bIns="0"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0.79</a:t>
            </a:r>
            <a:endParaRPr lang="en-US" sz="4000" dirty="0"/>
          </a:p>
        </p:txBody>
      </p:sp>
      <p:sp>
        <p:nvSpPr>
          <p:cNvPr id="10" name="Text 7"/>
          <p:cNvSpPr/>
          <p:nvPr/>
        </p:nvSpPr>
        <p:spPr>
          <a:xfrm>
            <a:off x="640080" y="3063240"/>
            <a:ext cx="3240024"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CAMeLBERT-mix (all)</a:t>
            </a:r>
            <a:endParaRPr lang="en-US" sz="1300" dirty="0"/>
          </a:p>
        </p:txBody>
      </p:sp>
      <p:sp>
        <p:nvSpPr>
          <p:cNvPr id="11" name="Text 8"/>
          <p:cNvSpPr/>
          <p:nvPr/>
        </p:nvSpPr>
        <p:spPr>
          <a:xfrm>
            <a:off x="667512" y="3611880"/>
            <a:ext cx="3185160"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Day-2 incumbent. Gulf slice 0.74, MSA 0.84 — strongest on formal text, weakest on real traffic</a:t>
            </a:r>
            <a:endParaRPr lang="en-US" sz="1000" dirty="0"/>
          </a:p>
        </p:txBody>
      </p:sp>
      <p:sp>
        <p:nvSpPr>
          <p:cNvPr id="12" name="Shape 9"/>
          <p:cNvSpPr/>
          <p:nvPr/>
        </p:nvSpPr>
        <p:spPr>
          <a:xfrm>
            <a:off x="4337304" y="1828800"/>
            <a:ext cx="3514344" cy="3017520"/>
          </a:xfrm>
          <a:prstGeom prst="roundRect">
            <a:avLst>
              <a:gd name="adj" fmla="val 2424"/>
            </a:avLst>
          </a:prstGeom>
          <a:solidFill>
            <a:srgbClr val="F2F6F8"/>
          </a:solidFill>
          <a:ln/>
        </p:spPr>
      </p:sp>
      <p:sp>
        <p:nvSpPr>
          <p:cNvPr id="13" name="Text 10"/>
          <p:cNvSpPr/>
          <p:nvPr/>
        </p:nvSpPr>
        <p:spPr>
          <a:xfrm>
            <a:off x="4474464" y="2103120"/>
            <a:ext cx="3240024" cy="914400"/>
          </a:xfrm>
          <a:prstGeom prst="rect">
            <a:avLst/>
          </a:prstGeom>
          <a:noFill/>
          <a:ln/>
        </p:spPr>
        <p:txBody>
          <a:bodyPr wrap="square" lIns="0" tIns="0" rIns="0" bIns="0" rtlCol="0" anchor="ctr"/>
          <a:lstStyle/>
          <a:p>
            <a:pPr algn="ctr" indent="0" marL="0">
              <a:buNone/>
            </a:pPr>
            <a:r>
              <a:rPr lang="en-US" sz="4000" b="1" dirty="0">
                <a:solidFill>
                  <a:srgbClr val="29ABE2"/>
                </a:solidFill>
                <a:latin typeface="Calibri" pitchFamily="34" charset="0"/>
                <a:ea typeface="Calibri" pitchFamily="34" charset="-122"/>
                <a:cs typeface="Calibri" pitchFamily="34" charset="-120"/>
              </a:rPr>
              <a:t>0.82</a:t>
            </a:r>
            <a:endParaRPr lang="en-US" sz="4000" dirty="0"/>
          </a:p>
        </p:txBody>
      </p:sp>
      <p:sp>
        <p:nvSpPr>
          <p:cNvPr id="14" name="Text 11"/>
          <p:cNvSpPr/>
          <p:nvPr/>
        </p:nvSpPr>
        <p:spPr>
          <a:xfrm>
            <a:off x="4474464" y="3063240"/>
            <a:ext cx="3240024"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CAMeLBERT-DA (all)</a:t>
            </a:r>
            <a:endParaRPr lang="en-US" sz="1300" dirty="0"/>
          </a:p>
        </p:txBody>
      </p:sp>
      <p:sp>
        <p:nvSpPr>
          <p:cNvPr id="15" name="Text 12"/>
          <p:cNvSpPr/>
          <p:nvPr/>
        </p:nvSpPr>
        <p:spPr>
          <a:xfrm>
            <a:off x="4501896" y="3611880"/>
            <a:ext cx="3185160"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Dialect-pretrained. Gulf 0.80, MSA 0.83 — +6 macro-F1 over mix on the Gulf slice</a:t>
            </a:r>
            <a:endParaRPr lang="en-US" sz="1000" dirty="0"/>
          </a:p>
        </p:txBody>
      </p:sp>
      <p:sp>
        <p:nvSpPr>
          <p:cNvPr id="16" name="Shape 13"/>
          <p:cNvSpPr/>
          <p:nvPr/>
        </p:nvSpPr>
        <p:spPr>
          <a:xfrm>
            <a:off x="8171688" y="1828800"/>
            <a:ext cx="3514344" cy="3017520"/>
          </a:xfrm>
          <a:prstGeom prst="roundRect">
            <a:avLst>
              <a:gd name="adj" fmla="val 2424"/>
            </a:avLst>
          </a:prstGeom>
          <a:solidFill>
            <a:srgbClr val="F2F6F8"/>
          </a:solidFill>
          <a:ln/>
        </p:spPr>
      </p:sp>
      <p:sp>
        <p:nvSpPr>
          <p:cNvPr id="17" name="Text 14"/>
          <p:cNvSpPr/>
          <p:nvPr/>
        </p:nvSpPr>
        <p:spPr>
          <a:xfrm>
            <a:off x="8308848" y="2103120"/>
            <a:ext cx="3240024" cy="914400"/>
          </a:xfrm>
          <a:prstGeom prst="rect">
            <a:avLst/>
          </a:prstGeom>
          <a:noFill/>
          <a:ln/>
        </p:spPr>
        <p:txBody>
          <a:bodyPr wrap="square" lIns="0" tIns="0" rIns="0" bIns="0" rtlCol="0" anchor="ctr"/>
          <a:lstStyle/>
          <a:p>
            <a:pPr algn="ctr" indent="0" marL="0">
              <a:buNone/>
            </a:pPr>
            <a:r>
              <a:rPr lang="en-US" sz="4000" b="1" dirty="0">
                <a:solidFill>
                  <a:srgbClr val="F7941D"/>
                </a:solidFill>
                <a:latin typeface="Calibri" pitchFamily="34" charset="0"/>
                <a:ea typeface="Calibri" pitchFamily="34" charset="-122"/>
                <a:cs typeface="Calibri" pitchFamily="34" charset="-120"/>
              </a:rPr>
              <a:t>0.81</a:t>
            </a:r>
            <a:endParaRPr lang="en-US" sz="4000" dirty="0"/>
          </a:p>
        </p:txBody>
      </p:sp>
      <p:sp>
        <p:nvSpPr>
          <p:cNvPr id="18" name="Text 15"/>
          <p:cNvSpPr/>
          <p:nvPr/>
        </p:nvSpPr>
        <p:spPr>
          <a:xfrm>
            <a:off x="8308848" y="3063240"/>
            <a:ext cx="3240024"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MARBERT (all)</a:t>
            </a:r>
            <a:endParaRPr lang="en-US" sz="1300" dirty="0"/>
          </a:p>
        </p:txBody>
      </p:sp>
      <p:sp>
        <p:nvSpPr>
          <p:cNvPr id="19" name="Text 16"/>
          <p:cNvSpPr/>
          <p:nvPr/>
        </p:nvSpPr>
        <p:spPr>
          <a:xfrm>
            <a:off x="8336280" y="3611880"/>
            <a:ext cx="3185160"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Dialectal-tweet specialist. Gulf 0.79, MSA 0.82 — cap max_length=128, its pretraining length</a:t>
            </a:r>
            <a:endParaRPr lang="en-US" sz="1000" dirty="0"/>
          </a:p>
        </p:txBody>
      </p:sp>
      <p:sp>
        <p:nvSpPr>
          <p:cNvPr id="20" name="Shape 17"/>
          <p:cNvSpPr/>
          <p:nvPr/>
        </p:nvSpPr>
        <p:spPr>
          <a:xfrm>
            <a:off x="502920" y="5212080"/>
            <a:ext cx="11183112" cy="868680"/>
          </a:xfrm>
          <a:prstGeom prst="roundRect">
            <a:avLst>
              <a:gd name="adj" fmla="val 8421"/>
            </a:avLst>
          </a:prstGeom>
          <a:solidFill>
            <a:srgbClr val="E6F5F4"/>
          </a:solidFill>
          <a:ln/>
        </p:spPr>
      </p:sp>
      <p:sp>
        <p:nvSpPr>
          <p:cNvPr id="21" name="Text 18"/>
          <p:cNvSpPr/>
          <p:nvPr/>
        </p:nvSpPr>
        <p:spPr>
          <a:xfrm>
            <a:off x="731520" y="5212080"/>
            <a:ext cx="10744200" cy="8686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READ THE NUMBERS   </a:t>
            </a:r>
            <a:pPr indent="0" marL="0">
              <a:buNone/>
            </a:pPr>
            <a:r>
              <a:rPr lang="en-US" sz="1150" dirty="0">
                <a:solidFill>
                  <a:srgbClr val="2B2B2B"/>
                </a:solidFill>
                <a:latin typeface="Calibri" pitchFamily="34" charset="0"/>
                <a:ea typeface="Calibri" pitchFamily="34" charset="-122"/>
                <a:cs typeface="Calibri" pitchFamily="34" charset="-120"/>
              </a:rPr>
              <a:t>The aggregate says '+3'; the Gulf slice says '+6' — and Gulf is 54.8% of Bayan's Arabic traffic. Write '+3 or +6?' on the board; Lab 6 answers it with a confidence interval.</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4 debrief — what the numbers say</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استخلاص المختبر 4 — ماذا تقول الأرقام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83</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Expected state after Lab 4 — post these on the shared board and compare pair by pair before moving to Module 5.</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Expected output</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pytest tests/test_arabic_normalize.py — 30/30 pass in 0.6 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Dialect audit: Gulf 54.8% | MSA 45.1% — half the Arabic traffic is dialect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NER LOCATION recall 0.84 → 0.89 with d3tok pre-segmentation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CAMeLBERT-DA beats mix by +6 macro-F1 on the Gulf slice</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The trap-and-reveal</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Most pairs first evaluate the unsegmented-trained model on segmented input — F1 drops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Let it happen, then name it: segmentation is part of the model contract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Third verse of the skew song: train-AND-serve or neither</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MSA-only evaluation trap: report says 0.84, dialect slice is 0.74 — evaluate on the traffic you serve</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4 benchmarks and evaluation</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الوحدة الرابعة وتقييمها</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84</a:t>
            </a:r>
            <a:endParaRPr lang="en-US" sz="8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795778"/>
                <a:gridCol w="2795778"/>
                <a:gridCol w="2795778"/>
                <a:gridCol w="2795778"/>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M4</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Arabic normalisation golden tests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Correctness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30/30 pass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pytest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Dialect audit of Bayan AR slice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Understanding</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distribution recorded + implication stated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notebook + NOTES.md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NER LOCATION recall with segmentation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+4 points vs unsegmented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seqeval on frozen test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Dialect-slice macro-F1 (DA vs mix)</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+4 macro-F1 on Gulf slice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sliced evaluation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Segmentation skew canary</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Reliability</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scheme asserted at startup</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startup test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Bake-off wall-clock (2 models, T4)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Performance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25 min total</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Trainer logs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AR fertility from the bake-off table: mix 1.34, DA 1.36, MARBERT 1.41 — all healthy; the hosting decision rides on the Gulf slice, not on fertility.</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Pilgrim feedback at a Hajj transport operator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ملاحظات الحجاج لدى مشغل نقل موسمي</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85</a:t>
            </a:r>
            <a:endParaRPr lang="en-US" sz="800" dirty="0"/>
          </a:p>
        </p:txBody>
      </p:sp>
      <p:sp>
        <p:nvSpPr>
          <p:cNvPr id="8" name="Shape 5"/>
          <p:cNvSpPr/>
          <p:nvPr/>
        </p:nvSpPr>
        <p:spPr>
          <a:xfrm>
            <a:off x="502920" y="1444752"/>
            <a:ext cx="1042416" cy="329184"/>
          </a:xfrm>
          <a:prstGeom prst="roundRect">
            <a:avLst>
              <a:gd name="adj" fmla="val 22222"/>
            </a:avLst>
          </a:prstGeom>
          <a:solidFill>
            <a:srgbClr val="1D2A5C"/>
          </a:solidFill>
          <a:ln/>
        </p:spPr>
      </p:sp>
      <p:sp>
        <p:nvSpPr>
          <p:cNvPr id="9" name="Text 6"/>
          <p:cNvSpPr/>
          <p:nvPr/>
        </p:nvSpPr>
        <p:spPr>
          <a:xfrm>
            <a:off x="502920" y="1444752"/>
            <a:ext cx="104241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CASE STUDY</a:t>
            </a:r>
            <a:endParaRPr lang="en-US" sz="1050" dirty="0"/>
          </a:p>
        </p:txBody>
      </p:sp>
      <p:sp>
        <p:nvSpPr>
          <p:cNvPr id="10" name="Text 7"/>
          <p:cNvSpPr/>
          <p:nvPr/>
        </p:nvSpPr>
        <p:spPr>
          <a:xfrm>
            <a:off x="2148840" y="1444752"/>
            <a:ext cx="9509760" cy="329184"/>
          </a:xfrm>
          <a:prstGeom prst="rect">
            <a:avLst/>
          </a:prstGeom>
          <a:noFill/>
          <a:ln/>
        </p:spPr>
        <p:txBody>
          <a:bodyPr wrap="square" lIns="0" tIns="0" rIns="0" bIns="0"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Hajj-Season Transport Operator — Multi-Dialect Pilgrim Feedback</a:t>
            </a:r>
            <a:endParaRPr lang="en-US" sz="1300" dirty="0"/>
          </a:p>
        </p:txBody>
      </p:sp>
      <p:sp>
        <p:nvSpPr>
          <p:cNvPr id="11" name="Shape 8"/>
          <p:cNvSpPr/>
          <p:nvPr/>
        </p:nvSpPr>
        <p:spPr>
          <a:xfrm>
            <a:off x="502920" y="1965960"/>
            <a:ext cx="5477256" cy="1645920"/>
          </a:xfrm>
          <a:prstGeom prst="roundRect">
            <a:avLst>
              <a:gd name="adj" fmla="val 3333"/>
            </a:avLst>
          </a:prstGeom>
          <a:solidFill>
            <a:srgbClr val="F2F6F8"/>
          </a:solidFill>
          <a:ln/>
        </p:spPr>
      </p:sp>
      <p:sp>
        <p:nvSpPr>
          <p:cNvPr id="12" name="Text 9"/>
          <p:cNvSpPr/>
          <p:nvPr/>
        </p:nvSpPr>
        <p:spPr>
          <a:xfrm>
            <a:off x="713232" y="2057400"/>
            <a:ext cx="5056632" cy="237744"/>
          </a:xfrm>
          <a:prstGeom prst="rect">
            <a:avLst/>
          </a:prstGeom>
          <a:noFill/>
          <a:ln/>
        </p:spPr>
        <p:txBody>
          <a:bodyPr wrap="square" lIns="0" tIns="0" rIns="0" bIns="0" rtlCol="0" anchor="ctr"/>
          <a:lstStyle/>
          <a:p>
            <a:pPr indent="0" marL="0">
              <a:buNone/>
            </a:pPr>
            <a:r>
              <a:rPr lang="en-US" sz="950" b="1" spc="150" kern="0" dirty="0">
                <a:solidFill>
                  <a:srgbClr val="6E7B8A"/>
                </a:solidFill>
                <a:latin typeface="Calibri" pitchFamily="34" charset="0"/>
                <a:ea typeface="Calibri" pitchFamily="34" charset="-122"/>
                <a:cs typeface="Calibri" pitchFamily="34" charset="-120"/>
              </a:rPr>
              <a:t>SITUATION</a:t>
            </a:r>
            <a:endParaRPr lang="en-US" sz="950" dirty="0"/>
          </a:p>
        </p:txBody>
      </p:sp>
      <p:sp>
        <p:nvSpPr>
          <p:cNvPr id="13" name="Text 10"/>
          <p:cNvSpPr/>
          <p:nvPr/>
        </p:nvSpPr>
        <p:spPr>
          <a:xfrm>
            <a:off x="713232" y="233172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About two million WhatsApp and QR-form messages across six weeks, in Gulf, Egyptian, Levantine and Maghrebi dialects, MSA, Arabizi and a dozen other languages. Last season's MSA-trained sentiment dashboard rated the season '89% neutral-or-positive' while operations logged three shuttle near-crises it never surfaced.</a:t>
            </a:r>
            <a:endParaRPr lang="en-US" sz="1050" dirty="0"/>
          </a:p>
        </p:txBody>
      </p:sp>
      <p:sp>
        <p:nvSpPr>
          <p:cNvPr id="14" name="Shape 11"/>
          <p:cNvSpPr/>
          <p:nvPr/>
        </p:nvSpPr>
        <p:spPr>
          <a:xfrm>
            <a:off x="502920" y="3749040"/>
            <a:ext cx="5477256" cy="1645920"/>
          </a:xfrm>
          <a:prstGeom prst="roundRect">
            <a:avLst>
              <a:gd name="adj" fmla="val 3333"/>
            </a:avLst>
          </a:prstGeom>
          <a:solidFill>
            <a:srgbClr val="FEF3E3"/>
          </a:solidFill>
          <a:ln/>
        </p:spPr>
      </p:sp>
      <p:sp>
        <p:nvSpPr>
          <p:cNvPr id="15" name="Text 12"/>
          <p:cNvSpPr/>
          <p:nvPr/>
        </p:nvSpPr>
        <p:spPr>
          <a:xfrm>
            <a:off x="713232" y="3840480"/>
            <a:ext cx="5056632"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CHALLENGE</a:t>
            </a:r>
            <a:endParaRPr lang="en-US" sz="950" dirty="0"/>
          </a:p>
        </p:txBody>
      </p:sp>
      <p:sp>
        <p:nvSpPr>
          <p:cNvPr id="16" name="Text 13"/>
          <p:cNvSpPr/>
          <p:nvPr/>
        </p:nvSpPr>
        <p:spPr>
          <a:xfrm>
            <a:off x="713232" y="411480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Feedback triage during Hajj is a safety function with a response budget of minutes. Diagnose why the dashboard missed the crises and redesign identification, routing, normalisation and dialect-aware modelling — with an 8,000-message annotation budget, 2 s latency, PDPL masking, and at most two hosted fine-tuned models.</a:t>
            </a:r>
            <a:endParaRPr lang="en-US" sz="1050" dirty="0"/>
          </a:p>
        </p:txBody>
      </p:sp>
      <p:sp>
        <p:nvSpPr>
          <p:cNvPr id="17" name="Shape 14"/>
          <p:cNvSpPr/>
          <p:nvPr/>
        </p:nvSpPr>
        <p:spPr>
          <a:xfrm>
            <a:off x="6208776" y="1965960"/>
            <a:ext cx="5477256" cy="3429000"/>
          </a:xfrm>
          <a:prstGeom prst="roundRect">
            <a:avLst>
              <a:gd name="adj" fmla="val 1600"/>
            </a:avLst>
          </a:prstGeom>
          <a:solidFill>
            <a:srgbClr val="E6F5F4"/>
          </a:solidFill>
          <a:ln/>
        </p:spPr>
      </p:sp>
      <p:sp>
        <p:nvSpPr>
          <p:cNvPr id="18" name="Text 15"/>
          <p:cNvSpPr/>
          <p:nvPr/>
        </p:nvSpPr>
        <p:spPr>
          <a:xfrm>
            <a:off x="6409944" y="2066544"/>
            <a:ext cx="5074920"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APPROACH</a:t>
            </a:r>
            <a:endParaRPr lang="en-US" sz="950" dirty="0"/>
          </a:p>
        </p:txBody>
      </p:sp>
      <p:sp>
        <p:nvSpPr>
          <p:cNvPr id="19" name="Shape 16"/>
          <p:cNvSpPr/>
          <p:nvPr/>
        </p:nvSpPr>
        <p:spPr>
          <a:xfrm>
            <a:off x="6409944" y="2395728"/>
            <a:ext cx="237744" cy="237744"/>
          </a:xfrm>
          <a:prstGeom prst="ellipse">
            <a:avLst/>
          </a:prstGeom>
          <a:solidFill>
            <a:srgbClr val="00A79D"/>
          </a:solidFill>
          <a:ln/>
        </p:spPr>
      </p:sp>
      <p:sp>
        <p:nvSpPr>
          <p:cNvPr id="20" name="Text 17"/>
          <p:cNvSpPr/>
          <p:nvPr/>
        </p:nvSpPr>
        <p:spPr>
          <a:xfrm>
            <a:off x="6409944" y="23957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p:nvPr/>
        </p:nvSpPr>
        <p:spPr>
          <a:xfrm>
            <a:off x="6757416" y="237744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Post-mortem: the MSA model scored dialectal anger as neutral; Arabizi (~7% in season) tokenised to [UNK] and defaulted to neutral</a:t>
            </a:r>
            <a:endParaRPr lang="en-US" sz="1050" dirty="0"/>
          </a:p>
        </p:txBody>
      </p:sp>
      <p:sp>
        <p:nvSpPr>
          <p:cNvPr id="22" name="Shape 19"/>
          <p:cNvSpPr/>
          <p:nvPr/>
        </p:nvSpPr>
        <p:spPr>
          <a:xfrm>
            <a:off x="6409944" y="3127248"/>
            <a:ext cx="237744" cy="237744"/>
          </a:xfrm>
          <a:prstGeom prst="ellipse">
            <a:avLst/>
          </a:prstGeom>
          <a:solidFill>
            <a:srgbClr val="00A79D"/>
          </a:solidFill>
          <a:ln/>
        </p:spPr>
      </p:sp>
      <p:sp>
        <p:nvSpPr>
          <p:cNvPr id="23" name="Text 20"/>
          <p:cNvSpPr/>
          <p:nvPr/>
        </p:nvSpPr>
        <p:spPr>
          <a:xfrm>
            <a:off x="6409944" y="31272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6757416" y="310896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Dialect + language ID at ingestion: coarse region classes plus Arabizi detection; shared Arabic normalisation profile</a:t>
            </a:r>
            <a:endParaRPr lang="en-US" sz="1050" dirty="0"/>
          </a:p>
        </p:txBody>
      </p:sp>
      <p:sp>
        <p:nvSpPr>
          <p:cNvPr id="25" name="Shape 22"/>
          <p:cNvSpPr/>
          <p:nvPr/>
        </p:nvSpPr>
        <p:spPr>
          <a:xfrm>
            <a:off x="6409944" y="3858768"/>
            <a:ext cx="237744" cy="237744"/>
          </a:xfrm>
          <a:prstGeom prst="ellipse">
            <a:avLst/>
          </a:prstGeom>
          <a:solidFill>
            <a:srgbClr val="00A79D"/>
          </a:solidFill>
          <a:ln/>
        </p:spPr>
      </p:sp>
      <p:sp>
        <p:nvSpPr>
          <p:cNvPr id="26" name="Text 23"/>
          <p:cNvSpPr/>
          <p:nvPr/>
        </p:nvSpPr>
        <p:spPr>
          <a:xfrm>
            <a:off x="6409944" y="3858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4"/>
          <p:cNvSpPr/>
          <p:nvPr/>
        </p:nvSpPr>
        <p:spPr>
          <a:xfrm>
            <a:off x="6757416" y="384048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Route Arabic to a CAMeLBERT-DA fine-tune (6,000 of the budget on dialect examples, stratified by the audit); the rest to XLM-R</a:t>
            </a:r>
            <a:endParaRPr lang="en-US" sz="1050" dirty="0"/>
          </a:p>
        </p:txBody>
      </p:sp>
      <p:sp>
        <p:nvSpPr>
          <p:cNvPr id="28" name="Shape 25"/>
          <p:cNvSpPr/>
          <p:nvPr/>
        </p:nvSpPr>
        <p:spPr>
          <a:xfrm>
            <a:off x="6409944" y="4590288"/>
            <a:ext cx="237744" cy="237744"/>
          </a:xfrm>
          <a:prstGeom prst="ellipse">
            <a:avLst/>
          </a:prstGeom>
          <a:solidFill>
            <a:srgbClr val="00A79D"/>
          </a:solidFill>
          <a:ln/>
        </p:spPr>
      </p:sp>
      <p:sp>
        <p:nvSpPr>
          <p:cNvPr id="29" name="Text 26"/>
          <p:cNvSpPr/>
          <p:nvPr/>
        </p:nvSpPr>
        <p:spPr>
          <a:xfrm>
            <a:off x="6409944" y="45902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0" name="Text 27"/>
          <p:cNvSpPr/>
          <p:nvPr/>
        </p:nvSpPr>
        <p:spPr>
          <a:xfrm>
            <a:off x="6757416" y="457200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Volume-anomaly fallback pages operations on message-rate spikes — the model is a filter, not the only tripwire</a:t>
            </a:r>
            <a:endParaRPr lang="en-US" sz="1050" dirty="0"/>
          </a:p>
        </p:txBody>
      </p:sp>
      <p:sp>
        <p:nvSpPr>
          <p:cNvPr id="31" name="Shape 28"/>
          <p:cNvSpPr/>
          <p:nvPr/>
        </p:nvSpPr>
        <p:spPr>
          <a:xfrm>
            <a:off x="502920" y="5577840"/>
            <a:ext cx="11183112" cy="731520"/>
          </a:xfrm>
          <a:prstGeom prst="roundRect">
            <a:avLst>
              <a:gd name="adj" fmla="val 10000"/>
            </a:avLst>
          </a:prstGeom>
          <a:solidFill>
            <a:srgbClr val="1D2A5C"/>
          </a:solidFill>
          <a:ln/>
        </p:spPr>
      </p:sp>
      <p:sp>
        <p:nvSpPr>
          <p:cNvPr id="32" name="Text 29"/>
          <p:cNvSpPr/>
          <p:nvPr/>
        </p:nvSpPr>
        <p:spPr>
          <a:xfrm>
            <a:off x="731520" y="5577840"/>
            <a:ext cx="10744200" cy="73152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LESSON   </a:t>
            </a:r>
            <a:pPr indent="0" marL="0">
              <a:buNone/>
            </a:pPr>
            <a:r>
              <a:rPr lang="en-US" sz="1150" dirty="0">
                <a:solidFill>
                  <a:srgbClr val="FFFFFF"/>
                </a:solidFill>
                <a:latin typeface="Calibri" pitchFamily="34" charset="0"/>
                <a:ea typeface="Calibri" pitchFamily="34" charset="-122"/>
                <a:cs typeface="Calibri" pitchFamily="34" charset="-120"/>
              </a:rPr>
              <a:t>Crisis text is emotional, therefore dialectal — failure concentrated in exactly the messages that mattered. Sliced evaluation per dialect region becomes the seasonal acceptance gate.</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dialect slices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شرائح اللهجات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86</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Q1</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Your sentiment model scores 0.84 overall and traffic is half Saudi dialect. What number do you demand before shipping?</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aggregate with a 95% confidence interval</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dialect-slice macro-F1</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Accuracy on the MSA subset — it is the cleanest data</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Tokenizer fertility on the Arabic corpus</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The MSA-only evaluation trap: the report says 0.84 while the dialect slice sits at 0.74 — evaluate on the traffic you serve.</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MODULE 5 · SEMANTIC SEARCH</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Classification answers 'which bucket?' Search answers 'what else is like this?' — half of enterprise NLP is the second question wearing the first's budget.</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No labels needed, ships in days, upgrades every keyword system it touches — and it is the retrieval half of RAG.</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87</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From token vectors to sentence vectors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من متجهات الرموز إلى متجهات الجمل</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88</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A transformer outputs one vector per token; search needs one per sentence. Raw [CLS] was never trained for similarity — cosine in that space correlates poorly with human judgements. Contrastive fine-tuning (SBERT) fixes it.</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The space you rent</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Siamese training pulls similar sentences together, pushes dissimilar apart — cosine starts to MEAN similarity</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Use purpose-built models: MiniLM distillates for speed, mpnet-base for quality, paraphrase-multilingual-* for cross-lingual</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'Similar' for paraphrase models ≠ 'relevant' for multi-qa-* — the wrong notion silently degrades retrieval</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Dimension (384 vs 768) is a live cost knob: index memory and search latency scale with it</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The normalisation trap</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Most models are trained for cosine: L2-normalise BEFORE indexing and BEFORE querying</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Forgetting one side is the classic silent bug — long, dense sentences bubble up on magnitude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A cosine of 0.71 is not '71% relevant' — tune no-match thresholds on a labelled set per model</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Chunk long documents (2–4 sentence chunks win for Bayan); aggregate chunk scores at result time</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Bi-encoder vs cross-encoder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المشفر الثنائي مقابل المشفر المتقاطع</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89</a:t>
            </a:r>
            <a:endParaRPr lang="en-US" sz="800" dirty="0"/>
          </a:p>
        </p:txBody>
      </p:sp>
      <p:sp>
        <p:nvSpPr>
          <p:cNvPr id="8" name="Shape 5"/>
          <p:cNvSpPr/>
          <p:nvPr/>
        </p:nvSpPr>
        <p:spPr>
          <a:xfrm>
            <a:off x="502920" y="1517904"/>
            <a:ext cx="5477256" cy="3977640"/>
          </a:xfrm>
          <a:prstGeom prst="roundRect">
            <a:avLst>
              <a:gd name="adj" fmla="val 1839"/>
            </a:avLst>
          </a:prstGeom>
          <a:solidFill>
            <a:srgbClr val="F2F6F8"/>
          </a:solidFill>
          <a:ln/>
        </p:spPr>
      </p:sp>
      <p:sp>
        <p:nvSpPr>
          <p:cNvPr id="9" name="Shape 6"/>
          <p:cNvSpPr/>
          <p:nvPr/>
        </p:nvSpPr>
        <p:spPr>
          <a:xfrm>
            <a:off x="502920" y="1517904"/>
            <a:ext cx="5477256" cy="502920"/>
          </a:xfrm>
          <a:prstGeom prst="roundRect">
            <a:avLst>
              <a:gd name="adj" fmla="val 14545"/>
            </a:avLst>
          </a:prstGeom>
          <a:solidFill>
            <a:srgbClr val="00A79D"/>
          </a:solidFill>
          <a:ln/>
        </p:spPr>
      </p:sp>
      <p:sp>
        <p:nvSpPr>
          <p:cNvPr id="10" name="Text 7"/>
          <p:cNvSpPr/>
          <p:nvPr/>
        </p:nvSpPr>
        <p:spPr>
          <a:xfrm>
            <a:off x="704088" y="1517904"/>
            <a:ext cx="507492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Bi-encoder</a:t>
            </a:r>
            <a:endParaRPr lang="en-US" sz="1450" dirty="0"/>
          </a:p>
        </p:txBody>
      </p:sp>
      <p:sp>
        <p:nvSpPr>
          <p:cNvPr id="11" name="Text 8"/>
          <p:cNvSpPr/>
          <p:nvPr/>
        </p:nvSpPr>
        <p:spPr>
          <a:xfrm>
            <a:off x="731520" y="2176272"/>
            <a:ext cx="5020056" cy="3154680"/>
          </a:xfrm>
          <a:prstGeom prst="rect">
            <a:avLst/>
          </a:prstGeom>
          <a:noFill/>
          <a:ln/>
        </p:spPr>
        <p:txBody>
          <a:bodyPr wrap="square" lIns="0" tIns="0" rIns="0" bIns="0" rtlCol="0" anchor="t"/>
          <a:lstStyle/>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Encodes query and documents independently</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Documents embedded once, offline; query cost = one encode + one index lookup</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Scales to millions of vectors</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Misses fine-grained interaction: 'payment failed after update' vs its reverse land close</a:t>
            </a:r>
            <a:endParaRPr lang="en-US" sz="1150" dirty="0"/>
          </a:p>
        </p:txBody>
      </p:sp>
      <p:sp>
        <p:nvSpPr>
          <p:cNvPr id="12" name="Shape 9"/>
          <p:cNvSpPr/>
          <p:nvPr/>
        </p:nvSpPr>
        <p:spPr>
          <a:xfrm>
            <a:off x="6208776" y="1517904"/>
            <a:ext cx="5477256" cy="3977640"/>
          </a:xfrm>
          <a:prstGeom prst="roundRect">
            <a:avLst>
              <a:gd name="adj" fmla="val 1839"/>
            </a:avLst>
          </a:prstGeom>
          <a:solidFill>
            <a:srgbClr val="F2F6F8"/>
          </a:solidFill>
          <a:ln/>
        </p:spPr>
      </p:sp>
      <p:sp>
        <p:nvSpPr>
          <p:cNvPr id="13" name="Shape 10"/>
          <p:cNvSpPr/>
          <p:nvPr/>
        </p:nvSpPr>
        <p:spPr>
          <a:xfrm>
            <a:off x="6208776" y="1517904"/>
            <a:ext cx="5477256" cy="502920"/>
          </a:xfrm>
          <a:prstGeom prst="roundRect">
            <a:avLst>
              <a:gd name="adj" fmla="val 14545"/>
            </a:avLst>
          </a:prstGeom>
          <a:solidFill>
            <a:srgbClr val="F7941D"/>
          </a:solidFill>
          <a:ln/>
        </p:spPr>
      </p:sp>
      <p:sp>
        <p:nvSpPr>
          <p:cNvPr id="14" name="Text 11"/>
          <p:cNvSpPr/>
          <p:nvPr/>
        </p:nvSpPr>
        <p:spPr>
          <a:xfrm>
            <a:off x="6409944" y="1517904"/>
            <a:ext cx="507492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Cross-encoder</a:t>
            </a:r>
            <a:endParaRPr lang="en-US" sz="1450" dirty="0"/>
          </a:p>
        </p:txBody>
      </p:sp>
      <p:sp>
        <p:nvSpPr>
          <p:cNvPr id="15" name="Text 12"/>
          <p:cNvSpPr/>
          <p:nvPr/>
        </p:nvSpPr>
        <p:spPr>
          <a:xfrm>
            <a:off x="6437376" y="2176272"/>
            <a:ext cx="5020056" cy="3154680"/>
          </a:xfrm>
          <a:prstGeom prst="rect">
            <a:avLst/>
          </a:prstGeom>
          <a:noFill/>
          <a:ln/>
        </p:spPr>
        <p:txBody>
          <a:bodyPr wrap="square" lIns="0" tIns="0" rIns="0" bIns="0" rtlCol="0" anchor="t"/>
          <a:lstStyle/>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Concatenates query + candidate; full transformer per pair</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Sees every token interaction — scores far better</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Cannot pre-compute anything: O(candidates) forward passes per query</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Someone will always try it on 100k candidates — arithmetic says no</a:t>
            </a:r>
            <a:endParaRPr lang="en-US" sz="1150" dirty="0"/>
          </a:p>
        </p:txBody>
      </p:sp>
      <p:sp>
        <p:nvSpPr>
          <p:cNvPr id="16" name="Shape 13"/>
          <p:cNvSpPr/>
          <p:nvPr/>
        </p:nvSpPr>
        <p:spPr>
          <a:xfrm>
            <a:off x="502920" y="5650992"/>
            <a:ext cx="11183112" cy="658368"/>
          </a:xfrm>
          <a:prstGeom prst="roundRect">
            <a:avLst>
              <a:gd name="adj" fmla="val 11111"/>
            </a:avLst>
          </a:prstGeom>
          <a:solidFill>
            <a:srgbClr val="E6F5F4"/>
          </a:solidFill>
          <a:ln/>
        </p:spPr>
      </p:sp>
      <p:sp>
        <p:nvSpPr>
          <p:cNvPr id="17" name="Text 14"/>
          <p:cNvSpPr/>
          <p:nvPr/>
        </p:nvSpPr>
        <p:spPr>
          <a:xfrm>
            <a:off x="731520" y="5650992"/>
            <a:ext cx="10744200" cy="65836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ENGINEERING CALL   </a:t>
            </a:r>
            <a:pPr indent="0" marL="0">
              <a:buNone/>
            </a:pPr>
            <a:r>
              <a:rPr lang="en-US" sz="1150" dirty="0">
                <a:solidFill>
                  <a:srgbClr val="2B2B2B"/>
                </a:solidFill>
                <a:latin typeface="Calibri" pitchFamily="34" charset="0"/>
                <a:ea typeface="Calibri" pitchFamily="34" charset="-122"/>
                <a:cs typeface="Calibri" pitchFamily="34" charset="-120"/>
              </a:rPr>
              <a:t>The production answer is both: bi-encoder retrieves top-100 in milliseconds, cross-encoder re-ranks to the top-5 in tens of milliseconds. On Bayan: MRR@10 0.61 → 0.74 for ~45 ms at k=50.</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FAISS index choices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خيارات فهارس FAISS</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90</a:t>
            </a:r>
            <a:endParaRPr lang="en-US" sz="800" dirty="0"/>
          </a:p>
        </p:txBody>
      </p:sp>
      <p:sp>
        <p:nvSpPr>
          <p:cNvPr id="8" name="Shape 5"/>
          <p:cNvSpPr/>
          <p:nvPr/>
        </p:nvSpPr>
        <p:spPr>
          <a:xfrm>
            <a:off x="502920" y="1517904"/>
            <a:ext cx="5454396" cy="2286000"/>
          </a:xfrm>
          <a:prstGeom prst="roundRect">
            <a:avLst>
              <a:gd name="adj" fmla="val 2400"/>
            </a:avLst>
          </a:prstGeom>
          <a:solidFill>
            <a:srgbClr val="F2F6F8"/>
          </a:solidFill>
          <a:ln/>
        </p:spPr>
      </p:sp>
      <p:sp>
        <p:nvSpPr>
          <p:cNvPr id="9" name="Shape 6"/>
          <p:cNvSpPr/>
          <p:nvPr/>
        </p:nvSpPr>
        <p:spPr>
          <a:xfrm>
            <a:off x="502920" y="1517904"/>
            <a:ext cx="82296" cy="2286000"/>
          </a:xfrm>
          <a:prstGeom prst="rect">
            <a:avLst/>
          </a:prstGeom>
          <a:solidFill>
            <a:srgbClr val="00A79D"/>
          </a:solidFill>
          <a:ln/>
        </p:spPr>
      </p:sp>
      <p:sp>
        <p:nvSpPr>
          <p:cNvPr id="10" name="Text 7"/>
          <p:cNvSpPr/>
          <p:nvPr/>
        </p:nvSpPr>
        <p:spPr>
          <a:xfrm>
            <a:off x="722376" y="1636776"/>
            <a:ext cx="5042916"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 ~100K VECTORS</a:t>
            </a:r>
            <a:endParaRPr lang="en-US" sz="950" dirty="0"/>
          </a:p>
        </p:txBody>
      </p:sp>
      <p:sp>
        <p:nvSpPr>
          <p:cNvPr id="11" name="Text 8"/>
          <p:cNvSpPr/>
          <p:nvPr/>
        </p:nvSpPr>
        <p:spPr>
          <a:xfrm>
            <a:off x="722376" y="188366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IndexFlatIP</a:t>
            </a:r>
            <a:endParaRPr lang="en-US" sz="1450" dirty="0"/>
          </a:p>
        </p:txBody>
      </p:sp>
      <p:sp>
        <p:nvSpPr>
          <p:cNvPr id="12" name="Text 9"/>
          <p:cNvSpPr/>
          <p:nvPr/>
        </p:nvSpPr>
        <p:spPr>
          <a:xfrm>
            <a:off x="722376" y="240487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Exact inner product, O(N) query, no training pass — Bayan's answer at 20k cases; exactness simplifies debugging</a:t>
            </a:r>
            <a:endParaRPr lang="en-US" sz="1050" dirty="0"/>
          </a:p>
        </p:txBody>
      </p:sp>
      <p:sp>
        <p:nvSpPr>
          <p:cNvPr id="13" name="Shape 10"/>
          <p:cNvSpPr/>
          <p:nvPr/>
        </p:nvSpPr>
        <p:spPr>
          <a:xfrm>
            <a:off x="6231636" y="1517904"/>
            <a:ext cx="5454396" cy="2286000"/>
          </a:xfrm>
          <a:prstGeom prst="roundRect">
            <a:avLst>
              <a:gd name="adj" fmla="val 2400"/>
            </a:avLst>
          </a:prstGeom>
          <a:solidFill>
            <a:srgbClr val="F2F6F8"/>
          </a:solidFill>
          <a:ln/>
        </p:spPr>
      </p:sp>
      <p:sp>
        <p:nvSpPr>
          <p:cNvPr id="14" name="Shape 11"/>
          <p:cNvSpPr/>
          <p:nvPr/>
        </p:nvSpPr>
        <p:spPr>
          <a:xfrm>
            <a:off x="6231636" y="1517904"/>
            <a:ext cx="82296" cy="2286000"/>
          </a:xfrm>
          <a:prstGeom prst="rect">
            <a:avLst/>
          </a:prstGeom>
          <a:solidFill>
            <a:srgbClr val="29ABE2"/>
          </a:solidFill>
          <a:ln/>
        </p:spPr>
      </p:sp>
      <p:sp>
        <p:nvSpPr>
          <p:cNvPr id="15" name="Text 12"/>
          <p:cNvSpPr/>
          <p:nvPr/>
        </p:nvSpPr>
        <p:spPr>
          <a:xfrm>
            <a:off x="6451092" y="1636776"/>
            <a:ext cx="5042916"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10^5 – 10^7</a:t>
            </a:r>
            <a:endParaRPr lang="en-US" sz="950" dirty="0"/>
          </a:p>
        </p:txBody>
      </p:sp>
      <p:sp>
        <p:nvSpPr>
          <p:cNvPr id="16" name="Text 13"/>
          <p:cNvSpPr/>
          <p:nvPr/>
        </p:nvSpPr>
        <p:spPr>
          <a:xfrm>
            <a:off x="6451092" y="188366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IndexIVFFlat</a:t>
            </a:r>
            <a:endParaRPr lang="en-US" sz="1450" dirty="0"/>
          </a:p>
        </p:txBody>
      </p:sp>
      <p:sp>
        <p:nvSpPr>
          <p:cNvPr id="17" name="Text 14"/>
          <p:cNvSpPr/>
          <p:nvPr/>
        </p:nvSpPr>
        <p:spPr>
          <a:xfrm>
            <a:off x="6451092" y="240487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Cluster, then probe the nearest nprobe cells; sub-linear query, needs a training pass; tune nprobe for recall</a:t>
            </a:r>
            <a:endParaRPr lang="en-US" sz="1050" dirty="0"/>
          </a:p>
        </p:txBody>
      </p:sp>
      <p:sp>
        <p:nvSpPr>
          <p:cNvPr id="18" name="Shape 15"/>
          <p:cNvSpPr/>
          <p:nvPr/>
        </p:nvSpPr>
        <p:spPr>
          <a:xfrm>
            <a:off x="502920" y="4078224"/>
            <a:ext cx="5454396" cy="2286000"/>
          </a:xfrm>
          <a:prstGeom prst="roundRect">
            <a:avLst>
              <a:gd name="adj" fmla="val 2400"/>
            </a:avLst>
          </a:prstGeom>
          <a:solidFill>
            <a:srgbClr val="F2F6F8"/>
          </a:solidFill>
          <a:ln/>
        </p:spPr>
      </p:sp>
      <p:sp>
        <p:nvSpPr>
          <p:cNvPr id="19" name="Shape 16"/>
          <p:cNvSpPr/>
          <p:nvPr/>
        </p:nvSpPr>
        <p:spPr>
          <a:xfrm>
            <a:off x="502920" y="4078224"/>
            <a:ext cx="82296" cy="2286000"/>
          </a:xfrm>
          <a:prstGeom prst="rect">
            <a:avLst/>
          </a:prstGeom>
          <a:solidFill>
            <a:srgbClr val="F7941D"/>
          </a:solidFill>
          <a:ln/>
        </p:spPr>
      </p:sp>
      <p:sp>
        <p:nvSpPr>
          <p:cNvPr id="20" name="Text 17"/>
          <p:cNvSpPr/>
          <p:nvPr/>
        </p:nvSpPr>
        <p:spPr>
          <a:xfrm>
            <a:off x="722376" y="4197096"/>
            <a:ext cx="5042916"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LOW LATENCY</a:t>
            </a:r>
            <a:endParaRPr lang="en-US" sz="950" dirty="0"/>
          </a:p>
        </p:txBody>
      </p:sp>
      <p:sp>
        <p:nvSpPr>
          <p:cNvPr id="21" name="Text 18"/>
          <p:cNvSpPr/>
          <p:nvPr/>
        </p:nvSpPr>
        <p:spPr>
          <a:xfrm>
            <a:off x="722376" y="444398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IndexHNSWFlat</a:t>
            </a:r>
            <a:endParaRPr lang="en-US" sz="1450" dirty="0"/>
          </a:p>
        </p:txBody>
      </p:sp>
      <p:sp>
        <p:nvSpPr>
          <p:cNvPr id="22" name="Text 19"/>
          <p:cNvSpPr/>
          <p:nvPr/>
        </p:nvSpPr>
        <p:spPr>
          <a:xfrm>
            <a:off x="722376" y="496519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Navigable small-world graph; logarithmic-ish query, incremental build, no training pass</a:t>
            </a:r>
            <a:endParaRPr lang="en-US" sz="1050" dirty="0"/>
          </a:p>
        </p:txBody>
      </p:sp>
      <p:sp>
        <p:nvSpPr>
          <p:cNvPr id="23" name="Shape 20"/>
          <p:cNvSpPr/>
          <p:nvPr/>
        </p:nvSpPr>
        <p:spPr>
          <a:xfrm>
            <a:off x="6231636" y="4078224"/>
            <a:ext cx="5454396" cy="2286000"/>
          </a:xfrm>
          <a:prstGeom prst="roundRect">
            <a:avLst>
              <a:gd name="adj" fmla="val 2400"/>
            </a:avLst>
          </a:prstGeom>
          <a:solidFill>
            <a:srgbClr val="F2F6F8"/>
          </a:solidFill>
          <a:ln/>
        </p:spPr>
      </p:sp>
      <p:sp>
        <p:nvSpPr>
          <p:cNvPr id="24" name="Shape 21"/>
          <p:cNvSpPr/>
          <p:nvPr/>
        </p:nvSpPr>
        <p:spPr>
          <a:xfrm>
            <a:off x="6231636" y="4078224"/>
            <a:ext cx="82296" cy="2286000"/>
          </a:xfrm>
          <a:prstGeom prst="rect">
            <a:avLst/>
          </a:prstGeom>
          <a:solidFill>
            <a:srgbClr val="8CC63F"/>
          </a:solidFill>
          <a:ln/>
        </p:spPr>
      </p:sp>
      <p:sp>
        <p:nvSpPr>
          <p:cNvPr id="25" name="Text 22"/>
          <p:cNvSpPr/>
          <p:nvPr/>
        </p:nvSpPr>
        <p:spPr>
          <a:xfrm>
            <a:off x="6451092" y="4197096"/>
            <a:ext cx="5042916" cy="237744"/>
          </a:xfrm>
          <a:prstGeom prst="rect">
            <a:avLst/>
          </a:prstGeom>
          <a:noFill/>
          <a:ln/>
        </p:spPr>
        <p:txBody>
          <a:bodyPr wrap="square" lIns="0" tIns="0" rIns="0" bIns="0" rtlCol="0" anchor="ctr"/>
          <a:lstStyle/>
          <a:p>
            <a:pPr indent="0" marL="0">
              <a:buNone/>
            </a:pPr>
            <a:r>
              <a:rPr lang="en-US" sz="950" b="1" spc="150" kern="0" dirty="0">
                <a:solidFill>
                  <a:srgbClr val="8CC63F"/>
                </a:solidFill>
                <a:latin typeface="Calibri" pitchFamily="34" charset="0"/>
                <a:ea typeface="Calibri" pitchFamily="34" charset="-122"/>
                <a:cs typeface="Calibri" pitchFamily="34" charset="-120"/>
              </a:rPr>
              <a:t>RAM-BOUND</a:t>
            </a:r>
            <a:endParaRPr lang="en-US" sz="950" dirty="0"/>
          </a:p>
        </p:txBody>
      </p:sp>
      <p:sp>
        <p:nvSpPr>
          <p:cNvPr id="26" name="Text 23"/>
          <p:cNvSpPr/>
          <p:nvPr/>
        </p:nvSpPr>
        <p:spPr>
          <a:xfrm>
            <a:off x="6451092" y="4443984"/>
            <a:ext cx="5042916"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 PQ variants</a:t>
            </a:r>
            <a:endParaRPr lang="en-US" sz="1450" dirty="0"/>
          </a:p>
        </p:txBody>
      </p:sp>
      <p:sp>
        <p:nvSpPr>
          <p:cNvPr id="27" name="Text 24"/>
          <p:cNvSpPr/>
          <p:nvPr/>
        </p:nvSpPr>
        <p:spPr>
          <a:xfrm>
            <a:off x="6451092" y="4965192"/>
            <a:ext cx="5042916"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Product quantisation compresses vectors ~10–30×; fast but lossy — measure recall@k against the flat index before adopting</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two-stage pipeline: retrieve, then re-rank</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خط المرحلتين: استرجع ثم أعد الترتيب</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91</a:t>
            </a:r>
            <a:endParaRPr lang="en-US" sz="800" dirty="0"/>
          </a:p>
        </p:txBody>
      </p:sp>
      <p:sp>
        <p:nvSpPr>
          <p:cNvPr id="8" name="Shape 5"/>
          <p:cNvSpPr/>
          <p:nvPr/>
        </p:nvSpPr>
        <p:spPr>
          <a:xfrm>
            <a:off x="502920" y="1965960"/>
            <a:ext cx="1929384" cy="2377440"/>
          </a:xfrm>
          <a:prstGeom prst="roundRect">
            <a:avLst>
              <a:gd name="adj" fmla="val 2844"/>
            </a:avLst>
          </a:prstGeom>
          <a:solidFill>
            <a:srgbClr val="F2F6F8"/>
          </a:solidFill>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QUERY</a:t>
            </a:r>
            <a:endParaRPr lang="en-US" sz="1000" dirty="0"/>
          </a:p>
        </p:txBody>
      </p:sp>
      <p:sp>
        <p:nvSpPr>
          <p:cNvPr id="11" name="Text 8"/>
          <p:cNvSpPr/>
          <p:nvPr/>
        </p:nvSpPr>
        <p:spPr>
          <a:xfrm>
            <a:off x="640080"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Normalise</a:t>
            </a:r>
            <a:endParaRPr lang="en-US" sz="1500" dirty="0"/>
          </a:p>
        </p:txBody>
      </p:sp>
      <p:sp>
        <p:nvSpPr>
          <p:cNvPr id="12" name="Text 9"/>
          <p:cNvSpPr/>
          <p:nvPr/>
        </p:nvSpPr>
        <p:spPr>
          <a:xfrm>
            <a:off x="640080"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normalize_arabic on the query path — identical to index build; the skew canary grows a pinned-vector check</a:t>
            </a:r>
            <a:endParaRPr lang="en-US" sz="10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2844"/>
            </a:avLst>
          </a:prstGeom>
          <a:solidFill>
            <a:srgbClr val="F2F6F8"/>
          </a:solidFill>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lIns="0" tIns="0" rIns="0" bIns="0" rtlCol="0" anchor="ctr"/>
          <a:lstStyle/>
          <a:p>
            <a:pPr indent="0" marL="0">
              <a:buNone/>
            </a:pPr>
            <a:r>
              <a:rPr lang="en-US" sz="1000" b="1" spc="150" kern="0" dirty="0">
                <a:solidFill>
                  <a:srgbClr val="29ABE2"/>
                </a:solidFill>
                <a:latin typeface="Calibri" pitchFamily="34" charset="0"/>
                <a:ea typeface="Calibri" pitchFamily="34" charset="-122"/>
                <a:cs typeface="Calibri" pitchFamily="34" charset="-120"/>
              </a:rPr>
              <a:t>ENCODE</a:t>
            </a:r>
            <a:endParaRPr lang="en-US" sz="1000" dirty="0"/>
          </a:p>
        </p:txBody>
      </p:sp>
      <p:sp>
        <p:nvSpPr>
          <p:cNvPr id="17" name="Text 14"/>
          <p:cNvSpPr/>
          <p:nvPr/>
        </p:nvSpPr>
        <p:spPr>
          <a:xfrm>
            <a:off x="2953512"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Bi-encoder</a:t>
            </a:r>
            <a:endParaRPr lang="en-US" sz="1500" dirty="0"/>
          </a:p>
        </p:txBody>
      </p:sp>
      <p:sp>
        <p:nvSpPr>
          <p:cNvPr id="18" name="Text 15"/>
          <p:cNvSpPr/>
          <p:nvPr/>
        </p:nvSpPr>
        <p:spPr>
          <a:xfrm>
            <a:off x="2953512"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MiniLM encodes the query in ~15 ms on CPU; documents were embedded offline at index build</a:t>
            </a:r>
            <a:endParaRPr lang="en-US" sz="10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2844"/>
            </a:avLst>
          </a:prstGeom>
          <a:solidFill>
            <a:srgbClr val="F2F6F8"/>
          </a:solidFill>
          <a:ln/>
        </p:spPr>
      </p:sp>
      <p:sp>
        <p:nvSpPr>
          <p:cNvPr id="21" name="Shape 18"/>
          <p:cNvSpPr/>
          <p:nvPr/>
        </p:nvSpPr>
        <p:spPr>
          <a:xfrm>
            <a:off x="5129784" y="1965960"/>
            <a:ext cx="1929384" cy="82296"/>
          </a:xfrm>
          <a:prstGeom prst="rect">
            <a:avLst/>
          </a:prstGeom>
          <a:solidFill>
            <a:srgbClr val="F7941D"/>
          </a:solidFill>
          <a:ln/>
        </p:spPr>
      </p:sp>
      <p:sp>
        <p:nvSpPr>
          <p:cNvPr id="22" name="Text 19"/>
          <p:cNvSpPr/>
          <p:nvPr/>
        </p:nvSpPr>
        <p:spPr>
          <a:xfrm>
            <a:off x="5266944" y="2148840"/>
            <a:ext cx="1655064" cy="237744"/>
          </a:xfrm>
          <a:prstGeom prst="rect">
            <a:avLst/>
          </a:prstGeom>
          <a:noFill/>
          <a:ln/>
        </p:spPr>
        <p:txBody>
          <a:bodyPr wrap="square" lIns="0" tIns="0" rIns="0" bIns="0" rtlCol="0" anchor="ctr"/>
          <a:lstStyle/>
          <a:p>
            <a:pPr indent="0" marL="0">
              <a:buNone/>
            </a:pPr>
            <a:r>
              <a:rPr lang="en-US" sz="1000" b="1" spc="150" kern="0" dirty="0">
                <a:solidFill>
                  <a:srgbClr val="F7941D"/>
                </a:solidFill>
                <a:latin typeface="Calibri" pitchFamily="34" charset="0"/>
                <a:ea typeface="Calibri" pitchFamily="34" charset="-122"/>
                <a:cs typeface="Calibri" pitchFamily="34" charset="-120"/>
              </a:rPr>
              <a:t>STAGE 1</a:t>
            </a:r>
            <a:endParaRPr lang="en-US" sz="1000" dirty="0"/>
          </a:p>
        </p:txBody>
      </p:sp>
      <p:sp>
        <p:nvSpPr>
          <p:cNvPr id="23" name="Text 20"/>
          <p:cNvSpPr/>
          <p:nvPr/>
        </p:nvSpPr>
        <p:spPr>
          <a:xfrm>
            <a:off x="5266944"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FAISS top-50</a:t>
            </a:r>
            <a:endParaRPr lang="en-US" sz="1500" dirty="0"/>
          </a:p>
        </p:txBody>
      </p:sp>
      <p:sp>
        <p:nvSpPr>
          <p:cNvPr id="24" name="Text 21"/>
          <p:cNvSpPr/>
          <p:nvPr/>
        </p:nvSpPr>
        <p:spPr>
          <a:xfrm>
            <a:off x="5266944"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Exact inner product over 20k L2-normalised vectors — milliseconds</a:t>
            </a:r>
            <a:endParaRPr lang="en-US" sz="10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2844"/>
            </a:avLst>
          </a:prstGeom>
          <a:solidFill>
            <a:srgbClr val="F2F6F8"/>
          </a:solidFill>
          <a:ln/>
        </p:spPr>
      </p:sp>
      <p:sp>
        <p:nvSpPr>
          <p:cNvPr id="27" name="Shape 24"/>
          <p:cNvSpPr/>
          <p:nvPr/>
        </p:nvSpPr>
        <p:spPr>
          <a:xfrm>
            <a:off x="7443216" y="1965960"/>
            <a:ext cx="1929384" cy="82296"/>
          </a:xfrm>
          <a:prstGeom prst="rect">
            <a:avLst/>
          </a:prstGeom>
          <a:solidFill>
            <a:srgbClr val="8CC63F"/>
          </a:solidFill>
          <a:ln/>
        </p:spPr>
      </p:sp>
      <p:sp>
        <p:nvSpPr>
          <p:cNvPr id="28" name="Text 25"/>
          <p:cNvSpPr/>
          <p:nvPr/>
        </p:nvSpPr>
        <p:spPr>
          <a:xfrm>
            <a:off x="7580376" y="2148840"/>
            <a:ext cx="1655064" cy="237744"/>
          </a:xfrm>
          <a:prstGeom prst="rect">
            <a:avLst/>
          </a:prstGeom>
          <a:noFill/>
          <a:ln/>
        </p:spPr>
        <p:txBody>
          <a:bodyPr wrap="square" lIns="0" tIns="0" rIns="0" bIns="0" rtlCol="0" anchor="ctr"/>
          <a:lstStyle/>
          <a:p>
            <a:pPr indent="0" marL="0">
              <a:buNone/>
            </a:pPr>
            <a:r>
              <a:rPr lang="en-US" sz="1000" b="1" spc="150" kern="0" dirty="0">
                <a:solidFill>
                  <a:srgbClr val="8CC63F"/>
                </a:solidFill>
                <a:latin typeface="Calibri" pitchFamily="34" charset="0"/>
                <a:ea typeface="Calibri" pitchFamily="34" charset="-122"/>
                <a:cs typeface="Calibri" pitchFamily="34" charset="-120"/>
              </a:rPr>
              <a:t>STAGE 2</a:t>
            </a:r>
            <a:endParaRPr lang="en-US" sz="1000" dirty="0"/>
          </a:p>
        </p:txBody>
      </p:sp>
      <p:sp>
        <p:nvSpPr>
          <p:cNvPr id="29" name="Text 26"/>
          <p:cNvSpPr/>
          <p:nvPr/>
        </p:nvSpPr>
        <p:spPr>
          <a:xfrm>
            <a:off x="7580376"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CE re-rank</a:t>
            </a:r>
            <a:endParaRPr lang="en-US" sz="1500" dirty="0"/>
          </a:p>
        </p:txBody>
      </p:sp>
      <p:sp>
        <p:nvSpPr>
          <p:cNvPr id="30" name="Text 27"/>
          <p:cNvSpPr/>
          <p:nvPr/>
        </p:nvSpPr>
        <p:spPr>
          <a:xfrm>
            <a:off x="7580376"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Cross-encoder scores all 50 query-candidate pairs — about 45 ms extra at k=50</a:t>
            </a:r>
            <a:endParaRPr lang="en-US" sz="10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2844"/>
            </a:avLst>
          </a:prstGeom>
          <a:solidFill>
            <a:srgbClr val="F2F6F8"/>
          </a:solidFill>
          <a:ln/>
        </p:spPr>
      </p:sp>
      <p:sp>
        <p:nvSpPr>
          <p:cNvPr id="33" name="Shape 30"/>
          <p:cNvSpPr/>
          <p:nvPr/>
        </p:nvSpPr>
        <p:spPr>
          <a:xfrm>
            <a:off x="9756648" y="1965960"/>
            <a:ext cx="1929384" cy="82296"/>
          </a:xfrm>
          <a:prstGeom prst="rect">
            <a:avLst/>
          </a:prstGeom>
          <a:solidFill>
            <a:srgbClr val="00A79D"/>
          </a:solidFill>
          <a:ln/>
        </p:spPr>
      </p:sp>
      <p:sp>
        <p:nvSpPr>
          <p:cNvPr id="34" name="Text 31"/>
          <p:cNvSpPr/>
          <p:nvPr/>
        </p:nvSpPr>
        <p:spPr>
          <a:xfrm>
            <a:off x="9893808"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ANSWER</a:t>
            </a:r>
            <a:endParaRPr lang="en-US" sz="1000" dirty="0"/>
          </a:p>
        </p:txBody>
      </p:sp>
      <p:sp>
        <p:nvSpPr>
          <p:cNvPr id="35" name="Text 32"/>
          <p:cNvSpPr/>
          <p:nvPr/>
        </p:nvSpPr>
        <p:spPr>
          <a:xfrm>
            <a:off x="9893808"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Top-5 or []</a:t>
            </a:r>
            <a:endParaRPr lang="en-US" sz="1500" dirty="0"/>
          </a:p>
        </p:txBody>
      </p:sp>
      <p:sp>
        <p:nvSpPr>
          <p:cNvPr id="36" name="Text 33"/>
          <p:cNvSpPr/>
          <p:nvPr/>
        </p:nvSpPr>
        <p:spPr>
          <a:xfrm>
            <a:off x="9893808"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Below min_score=0.25 return empty — an honest no-match beats a plausible bad match</a:t>
            </a:r>
            <a:endParaRPr lang="en-US" sz="1050" dirty="0"/>
          </a:p>
        </p:txBody>
      </p:sp>
      <p:sp>
        <p:nvSpPr>
          <p:cNvPr id="37" name="Shape 34"/>
          <p:cNvSpPr/>
          <p:nvPr/>
        </p:nvSpPr>
        <p:spPr>
          <a:xfrm>
            <a:off x="502920" y="4892040"/>
            <a:ext cx="11183112" cy="1051560"/>
          </a:xfrm>
          <a:prstGeom prst="roundRect">
            <a:avLst>
              <a:gd name="adj" fmla="val 6957"/>
            </a:avLst>
          </a:prstGeom>
          <a:solidFill>
            <a:srgbClr val="E6F5F4"/>
          </a:solidFill>
          <a:ln/>
        </p:spPr>
      </p:sp>
      <p:sp>
        <p:nvSpPr>
          <p:cNvPr id="38" name="Text 35"/>
          <p:cNvSpPr/>
          <p:nvPr/>
        </p:nvSpPr>
        <p:spPr>
          <a:xfrm>
            <a:off x="731520" y="4892040"/>
            <a:ext cx="10789920" cy="105156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200" dirty="0">
                <a:solidFill>
                  <a:srgbClr val="2B2B2B"/>
                </a:solidFill>
                <a:latin typeface="Calibri" pitchFamily="34" charset="0"/>
                <a:ea typeface="Calibri" pitchFamily="34" charset="-122"/>
                <a:cs typeface="Calibri" pitchFamily="34" charset="-120"/>
              </a:rPr>
              <a:t>Cheap filter, then expensive judge: bi-encoder recall, cross-encoder precision. The same pattern gated extraction in M2 and returns as retrieve-then-generate in AIE-214.</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Building the Bayan case index</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بناء فهرس حالات بيان</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92</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Embed → normalise → index → persist. The index is a versioned build artefact: (embedding model × preprocessing × corpus snapshot).</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src/bayan/search_index.py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MODEL = "sentence-transformers/paraphrase-multilingual-MiniLM-L12-v2"</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build_index(cases_csv: str, out_prefix: str) -&gt; None: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model = SentenceTransformer(MODEL)</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df = pd.read_csv(cases_csv)                      # resolved historical cases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texts = [normalize_arabic(t) if lang == "ar" else 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for t, lang in zip(df.summary, df.lang)]</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emb = model.encode(texts, batch_size=64, convert_to_numpy=True)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faiss.normalize_L2(emb)                          # cosine via inner product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index = faiss.IndexFlatIP(emb.shape[1])          # exact: 20k cases, CPU-fine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index.add(emb)</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faiss.write_index(index, f"{out_prefix}.faiss")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df[["case_id", "summary", "resolution", "lang"]].to_parquet(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f"{out_prefix}_meta.parquet")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json.dump({"model": MODEL, "dim": int(emb.shape[1]),</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"preproc": PREPROC_VERSION, "arabic_preproc": ARABIC_PREPROC_VERSION,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"n_vectors": int(index.ntotal)},</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open(f"{out_prefix}_manifest.json", "w"))</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normalize_L2</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Cosine via inner product — forgetting it on either the index or the query side is the classic silent bug</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The manifest</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Pins model, dimension, preprocessing versions and vector count — asserted at load time</a:t>
            </a:r>
            <a:endParaRPr lang="en-US" sz="9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Two-stage search in one class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البحث على مرحلتين في صنف واحد</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93</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Bi-encoder recall, cross-encoder precision — the production pattern.</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src/bayan/search.py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RERANKER = "cross-encoder/mmarco-mMiniLMv2-L12-H384-v1"   # multilingual CE</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class CaseSearch:</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def __init__(self, prefix: str):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self.manifest = json.load(open(f"{prefix}_manifest.json"))</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self.index = faiss.read_index(f"{prefix}.faiss")</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self.meta = pd.read_parquet(f"{prefix}_meta.parquet")</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self.encoder = SentenceTransformer(self.manifest["model"])</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self.reranker = CrossEncoder(RERANKER)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assert self.index.ntotal == self.manifest["n_vectors"]   # load canary</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def search(self, query, k=5, candidates=50, min_score=0.25):</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q = self.encoder.encode([normalize_arabic(query)],</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convert_to_numpy=True)</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faiss.normalize_L2(q)</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scores, idx = self.index.search(q, candidates)           # stage 1</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cand = self.meta.iloc[idx[0]].copy()</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pairs = [(query, s) for s in cand.summary]</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cand["ce_score"] = self.reranker.predict(pairs)          # stage 2</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cand = cand.sort_values("ce_score", ascending=False).head(k)</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if cand.ce_score.max() &lt; min_score:                      # honest empty</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a:t>
            </a:r>
            <a:endParaRPr lang="en-US" sz="850" dirty="0"/>
          </a:p>
        </p:txBody>
      </p:sp>
      <p:sp>
        <p:nvSpPr>
          <p:cNvPr id="12" name="Shape 9"/>
          <p:cNvSpPr/>
          <p:nvPr/>
        </p:nvSpPr>
        <p:spPr>
          <a:xfrm>
            <a:off x="8321040" y="2057400"/>
            <a:ext cx="3364992" cy="1298448"/>
          </a:xfrm>
          <a:prstGeom prst="roundRect">
            <a:avLst>
              <a:gd name="adj" fmla="val 4225"/>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Load canary</a:t>
            </a:r>
            <a:endParaRPr lang="en-US" sz="1100" dirty="0"/>
          </a:p>
        </p:txBody>
      </p:sp>
      <p:sp>
        <p:nvSpPr>
          <p:cNvPr id="14" name="Text 11"/>
          <p:cNvSpPr/>
          <p:nvPr/>
        </p:nvSpPr>
        <p:spPr>
          <a:xfrm>
            <a:off x="8485632" y="2441448"/>
            <a:ext cx="3035808" cy="795528"/>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index.ntotal must equal the manifest's n_vectors — catches sim-stale-index, where the corpus grew but the index didn't</a:t>
            </a:r>
            <a:endParaRPr lang="en-US" sz="950" dirty="0"/>
          </a:p>
        </p:txBody>
      </p:sp>
      <p:sp>
        <p:nvSpPr>
          <p:cNvPr id="15" name="Shape 12"/>
          <p:cNvSpPr/>
          <p:nvPr/>
        </p:nvSpPr>
        <p:spPr>
          <a:xfrm>
            <a:off x="8321040" y="3557016"/>
            <a:ext cx="3364992" cy="1298448"/>
          </a:xfrm>
          <a:prstGeom prst="roundRect">
            <a:avLst>
              <a:gd name="adj" fmla="val 4225"/>
            </a:avLst>
          </a:prstGeom>
          <a:solidFill>
            <a:srgbClr val="EAF6FC"/>
          </a:solidFill>
          <a:ln w="9525">
            <a:solidFill>
              <a:srgbClr val="29ABE2"/>
            </a:solidFill>
            <a:prstDash val="solid"/>
          </a:ln>
        </p:spPr>
      </p:sp>
      <p:sp>
        <p:nvSpPr>
          <p:cNvPr id="16" name="Text 13"/>
          <p:cNvSpPr/>
          <p:nvPr/>
        </p:nvSpPr>
        <p:spPr>
          <a:xfrm>
            <a:off x="8485632" y="3648456"/>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Multilingual CE</a:t>
            </a:r>
            <a:endParaRPr lang="en-US" sz="1100" dirty="0"/>
          </a:p>
        </p:txBody>
      </p:sp>
      <p:sp>
        <p:nvSpPr>
          <p:cNvPr id="17" name="Text 14"/>
          <p:cNvSpPr/>
          <p:nvPr/>
        </p:nvSpPr>
        <p:spPr>
          <a:xfrm>
            <a:off x="8485632" y="3941064"/>
            <a:ext cx="3035808" cy="795528"/>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A monolingual English cross-encoder on Arabic pairs makes re-ranking WORSE — check the model card's languages</a:t>
            </a:r>
            <a:endParaRPr lang="en-US" sz="950" dirty="0"/>
          </a:p>
        </p:txBody>
      </p:sp>
      <p:sp>
        <p:nvSpPr>
          <p:cNvPr id="18" name="Shape 15"/>
          <p:cNvSpPr/>
          <p:nvPr/>
        </p:nvSpPr>
        <p:spPr>
          <a:xfrm>
            <a:off x="8321040" y="5056632"/>
            <a:ext cx="3364992" cy="1298448"/>
          </a:xfrm>
          <a:prstGeom prst="roundRect">
            <a:avLst>
              <a:gd name="adj" fmla="val 4225"/>
            </a:avLst>
          </a:prstGeom>
          <a:solidFill>
            <a:srgbClr val="FEF3E3"/>
          </a:solidFill>
          <a:ln w="9525">
            <a:solidFill>
              <a:srgbClr val="F7941D"/>
            </a:solidFill>
            <a:prstDash val="solid"/>
          </a:ln>
        </p:spPr>
      </p:sp>
      <p:sp>
        <p:nvSpPr>
          <p:cNvPr id="19" name="Text 16"/>
          <p:cNvSpPr/>
          <p:nvPr/>
        </p:nvSpPr>
        <p:spPr>
          <a:xfrm>
            <a:off x="8485632" y="5148072"/>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Honest empty</a:t>
            </a:r>
            <a:endParaRPr lang="en-US" sz="1100" dirty="0"/>
          </a:p>
        </p:txBody>
      </p:sp>
      <p:sp>
        <p:nvSpPr>
          <p:cNvPr id="20" name="Text 17"/>
          <p:cNvSpPr/>
          <p:nvPr/>
        </p:nvSpPr>
        <p:spPr>
          <a:xfrm>
            <a:off x="8485632" y="5440680"/>
            <a:ext cx="3035808" cy="795528"/>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Below min_score return [] — the threshold is tuned on the 20 no-answer queries, not vibes</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Retrieval evaluation: recall@10 and MRR@10</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تقييم الاسترجاع: recall@10 و MRR@10</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94</a:t>
            </a:r>
            <a:endParaRPr lang="en-US" sz="800" dirty="0"/>
          </a:p>
        </p:txBody>
      </p:sp>
      <p:sp>
        <p:nvSpPr>
          <p:cNvPr id="8" name="Shape 5"/>
          <p:cNvSpPr/>
          <p:nvPr/>
        </p:nvSpPr>
        <p:spPr>
          <a:xfrm>
            <a:off x="502920" y="1828800"/>
            <a:ext cx="2555748" cy="3017520"/>
          </a:xfrm>
          <a:prstGeom prst="roundRect">
            <a:avLst>
              <a:gd name="adj" fmla="val 2862"/>
            </a:avLst>
          </a:prstGeom>
          <a:solidFill>
            <a:srgbClr val="F2F6F8"/>
          </a:solidFill>
          <a:ln/>
        </p:spPr>
      </p:sp>
      <p:sp>
        <p:nvSpPr>
          <p:cNvPr id="9" name="Text 6"/>
          <p:cNvSpPr/>
          <p:nvPr/>
        </p:nvSpPr>
        <p:spPr>
          <a:xfrm>
            <a:off x="640080" y="2103120"/>
            <a:ext cx="2281428" cy="914400"/>
          </a:xfrm>
          <a:prstGeom prst="rect">
            <a:avLst/>
          </a:prstGeom>
          <a:noFill/>
          <a:ln/>
        </p:spPr>
        <p:txBody>
          <a:bodyPr wrap="square" lIns="0" tIns="0" rIns="0" bIns="0"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0.83</a:t>
            </a:r>
            <a:endParaRPr lang="en-US" sz="4000" dirty="0"/>
          </a:p>
        </p:txBody>
      </p:sp>
      <p:sp>
        <p:nvSpPr>
          <p:cNvPr id="10" name="Text 7"/>
          <p:cNvSpPr/>
          <p:nvPr/>
        </p:nvSpPr>
        <p:spPr>
          <a:xfrm>
            <a:off x="640080"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recall@10, stage 1 only</a:t>
            </a:r>
            <a:endParaRPr lang="en-US" sz="1300" dirty="0"/>
          </a:p>
        </p:txBody>
      </p:sp>
      <p:sp>
        <p:nvSpPr>
          <p:cNvPr id="11" name="Text 8"/>
          <p:cNvSpPr/>
          <p:nvPr/>
        </p:nvSpPr>
        <p:spPr>
          <a:xfrm>
            <a:off x="667512"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Bi-encoder + flat index; encode+search in 18 ms/query on CPU</a:t>
            </a:r>
            <a:endParaRPr lang="en-US" sz="1000" dirty="0"/>
          </a:p>
        </p:txBody>
      </p:sp>
      <p:sp>
        <p:nvSpPr>
          <p:cNvPr id="12" name="Shape 9"/>
          <p:cNvSpPr/>
          <p:nvPr/>
        </p:nvSpPr>
        <p:spPr>
          <a:xfrm>
            <a:off x="3378708" y="1828800"/>
            <a:ext cx="2555748" cy="3017520"/>
          </a:xfrm>
          <a:prstGeom prst="roundRect">
            <a:avLst>
              <a:gd name="adj" fmla="val 2862"/>
            </a:avLst>
          </a:prstGeom>
          <a:solidFill>
            <a:srgbClr val="F2F6F8"/>
          </a:solidFill>
          <a:ln/>
        </p:spPr>
      </p:sp>
      <p:sp>
        <p:nvSpPr>
          <p:cNvPr id="13" name="Text 10"/>
          <p:cNvSpPr/>
          <p:nvPr/>
        </p:nvSpPr>
        <p:spPr>
          <a:xfrm>
            <a:off x="3515868" y="2103120"/>
            <a:ext cx="2281428" cy="914400"/>
          </a:xfrm>
          <a:prstGeom prst="rect">
            <a:avLst/>
          </a:prstGeom>
          <a:noFill/>
          <a:ln/>
        </p:spPr>
        <p:txBody>
          <a:bodyPr wrap="square" lIns="0" tIns="0" rIns="0" bIns="0" rtlCol="0" anchor="ctr"/>
          <a:lstStyle/>
          <a:p>
            <a:pPr algn="ctr" indent="0" marL="0">
              <a:buNone/>
            </a:pPr>
            <a:r>
              <a:rPr lang="en-US" sz="4000" b="1" dirty="0">
                <a:solidFill>
                  <a:srgbClr val="29ABE2"/>
                </a:solidFill>
                <a:latin typeface="Calibri" pitchFamily="34" charset="0"/>
                <a:ea typeface="Calibri" pitchFamily="34" charset="-122"/>
                <a:cs typeface="Calibri" pitchFamily="34" charset="-120"/>
              </a:rPr>
              <a:t>0.61</a:t>
            </a:r>
            <a:endParaRPr lang="en-US" sz="4000" dirty="0"/>
          </a:p>
        </p:txBody>
      </p:sp>
      <p:sp>
        <p:nvSpPr>
          <p:cNvPr id="14" name="Text 11"/>
          <p:cNvSpPr/>
          <p:nvPr/>
        </p:nvSpPr>
        <p:spPr>
          <a:xfrm>
            <a:off x="3515868"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MRR@10, stage 1 only</a:t>
            </a:r>
            <a:endParaRPr lang="en-US" sz="1300" dirty="0"/>
          </a:p>
        </p:txBody>
      </p:sp>
      <p:sp>
        <p:nvSpPr>
          <p:cNvPr id="15" name="Text 12"/>
          <p:cNvSpPr/>
          <p:nvPr/>
        </p:nvSpPr>
        <p:spPr>
          <a:xfrm>
            <a:off x="3543300"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The relevant case usually arrives — but not first</a:t>
            </a:r>
            <a:endParaRPr lang="en-US" sz="1000" dirty="0"/>
          </a:p>
        </p:txBody>
      </p:sp>
      <p:sp>
        <p:nvSpPr>
          <p:cNvPr id="16" name="Shape 13"/>
          <p:cNvSpPr/>
          <p:nvPr/>
        </p:nvSpPr>
        <p:spPr>
          <a:xfrm>
            <a:off x="6254496" y="1828800"/>
            <a:ext cx="2555748" cy="3017520"/>
          </a:xfrm>
          <a:prstGeom prst="roundRect">
            <a:avLst>
              <a:gd name="adj" fmla="val 2862"/>
            </a:avLst>
          </a:prstGeom>
          <a:solidFill>
            <a:srgbClr val="F2F6F8"/>
          </a:solidFill>
          <a:ln/>
        </p:spPr>
      </p:sp>
      <p:sp>
        <p:nvSpPr>
          <p:cNvPr id="17" name="Text 14"/>
          <p:cNvSpPr/>
          <p:nvPr/>
        </p:nvSpPr>
        <p:spPr>
          <a:xfrm>
            <a:off x="6391656" y="2103120"/>
            <a:ext cx="2281428" cy="914400"/>
          </a:xfrm>
          <a:prstGeom prst="rect">
            <a:avLst/>
          </a:prstGeom>
          <a:noFill/>
          <a:ln/>
        </p:spPr>
        <p:txBody>
          <a:bodyPr wrap="square" lIns="0" tIns="0" rIns="0" bIns="0" rtlCol="0" anchor="ctr"/>
          <a:lstStyle/>
          <a:p>
            <a:pPr algn="ctr" indent="0" marL="0">
              <a:buNone/>
            </a:pPr>
            <a:r>
              <a:rPr lang="en-US" sz="4000" b="1" dirty="0">
                <a:solidFill>
                  <a:srgbClr val="F7941D"/>
                </a:solidFill>
                <a:latin typeface="Calibri" pitchFamily="34" charset="0"/>
                <a:ea typeface="Calibri" pitchFamily="34" charset="-122"/>
                <a:cs typeface="Calibri" pitchFamily="34" charset="-120"/>
              </a:rPr>
              <a:t>0.85</a:t>
            </a:r>
            <a:endParaRPr lang="en-US" sz="4000" dirty="0"/>
          </a:p>
        </p:txBody>
      </p:sp>
      <p:sp>
        <p:nvSpPr>
          <p:cNvPr id="18" name="Text 15"/>
          <p:cNvSpPr/>
          <p:nvPr/>
        </p:nvSpPr>
        <p:spPr>
          <a:xfrm>
            <a:off x="6391656"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recall@10 with re-rank</a:t>
            </a:r>
            <a:endParaRPr lang="en-US" sz="1300" dirty="0"/>
          </a:p>
        </p:txBody>
      </p:sp>
      <p:sp>
        <p:nvSpPr>
          <p:cNvPr id="19" name="Text 16"/>
          <p:cNvSpPr/>
          <p:nvPr/>
        </p:nvSpPr>
        <p:spPr>
          <a:xfrm>
            <a:off x="6419088"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+2 points: the cross-encoder barely changes WHAT arrives</a:t>
            </a:r>
            <a:endParaRPr lang="en-US" sz="1000" dirty="0"/>
          </a:p>
        </p:txBody>
      </p:sp>
      <p:sp>
        <p:nvSpPr>
          <p:cNvPr id="20" name="Shape 17"/>
          <p:cNvSpPr/>
          <p:nvPr/>
        </p:nvSpPr>
        <p:spPr>
          <a:xfrm>
            <a:off x="9130284" y="1828800"/>
            <a:ext cx="2555748" cy="3017520"/>
          </a:xfrm>
          <a:prstGeom prst="roundRect">
            <a:avLst>
              <a:gd name="adj" fmla="val 2862"/>
            </a:avLst>
          </a:prstGeom>
          <a:solidFill>
            <a:srgbClr val="F2F6F8"/>
          </a:solidFill>
          <a:ln/>
        </p:spPr>
      </p:sp>
      <p:sp>
        <p:nvSpPr>
          <p:cNvPr id="21" name="Text 18"/>
          <p:cNvSpPr/>
          <p:nvPr/>
        </p:nvSpPr>
        <p:spPr>
          <a:xfrm>
            <a:off x="9267444" y="2103120"/>
            <a:ext cx="2281428" cy="914400"/>
          </a:xfrm>
          <a:prstGeom prst="rect">
            <a:avLst/>
          </a:prstGeom>
          <a:noFill/>
          <a:ln/>
        </p:spPr>
        <p:txBody>
          <a:bodyPr wrap="square" lIns="0" tIns="0" rIns="0" bIns="0" rtlCol="0" anchor="ctr"/>
          <a:lstStyle/>
          <a:p>
            <a:pPr algn="ctr" indent="0" marL="0">
              <a:buNone/>
            </a:pPr>
            <a:r>
              <a:rPr lang="en-US" sz="4000" b="1" dirty="0">
                <a:solidFill>
                  <a:srgbClr val="8CC63F"/>
                </a:solidFill>
                <a:latin typeface="Calibri" pitchFamily="34" charset="0"/>
                <a:ea typeface="Calibri" pitchFamily="34" charset="-122"/>
                <a:cs typeface="Calibri" pitchFamily="34" charset="-120"/>
              </a:rPr>
              <a:t>0.74</a:t>
            </a:r>
            <a:endParaRPr lang="en-US" sz="4000" dirty="0"/>
          </a:p>
        </p:txBody>
      </p:sp>
      <p:sp>
        <p:nvSpPr>
          <p:cNvPr id="22" name="Text 19"/>
          <p:cNvSpPr/>
          <p:nvPr/>
        </p:nvSpPr>
        <p:spPr>
          <a:xfrm>
            <a:off x="9267444"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MRR@10 with re-rank</a:t>
            </a:r>
            <a:endParaRPr lang="en-US" sz="1300" dirty="0"/>
          </a:p>
        </p:txBody>
      </p:sp>
      <p:sp>
        <p:nvSpPr>
          <p:cNvPr id="23" name="Text 20"/>
          <p:cNvSpPr/>
          <p:nvPr/>
        </p:nvSpPr>
        <p:spPr>
          <a:xfrm>
            <a:off x="9294876"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+13 points for ~45 ms at candidates=50 — the CE fixes the ORDER, mostly</a:t>
            </a:r>
            <a:endParaRPr lang="en-US" sz="1000" dirty="0"/>
          </a:p>
        </p:txBody>
      </p:sp>
      <p:sp>
        <p:nvSpPr>
          <p:cNvPr id="24" name="Shape 21"/>
          <p:cNvSpPr/>
          <p:nvPr/>
        </p:nvSpPr>
        <p:spPr>
          <a:xfrm>
            <a:off x="502920" y="5212080"/>
            <a:ext cx="11183112" cy="868680"/>
          </a:xfrm>
          <a:prstGeom prst="roundRect">
            <a:avLst>
              <a:gd name="adj" fmla="val 8421"/>
            </a:avLst>
          </a:prstGeom>
          <a:solidFill>
            <a:srgbClr val="E6F5F4"/>
          </a:solidFill>
          <a:ln/>
        </p:spPr>
      </p:sp>
      <p:sp>
        <p:nvSpPr>
          <p:cNvPr id="25" name="Text 22"/>
          <p:cNvSpPr/>
          <p:nvPr/>
        </p:nvSpPr>
        <p:spPr>
          <a:xfrm>
            <a:off x="731520" y="5212080"/>
            <a:ext cx="10744200" cy="8686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READ THE NUMBERS   </a:t>
            </a:r>
            <a:pPr indent="0" marL="0">
              <a:buNone/>
            </a:pPr>
            <a:r>
              <a:rPr lang="en-US" sz="1150" dirty="0">
                <a:solidFill>
                  <a:srgbClr val="2B2B2B"/>
                </a:solidFill>
                <a:latin typeface="Calibri" pitchFamily="34" charset="0"/>
                <a:ea typeface="Calibri" pitchFamily="34" charset="-122"/>
                <a:cs typeface="Calibri" pitchFamily="34" charset="-120"/>
              </a:rPr>
              <a:t>150 judged queries, 40% Arabic, 1–3 relevant cases each. Recall@k asks 'did anything relevant arrive?'; MRR asks 'did it arrive first?' — you need both.</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Cross-lingual retrieval</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الاسترجاع عابر اللغات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95</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paraphrase-multilingual models are trained so translations land close together: one index serves Arabic and English documents, and an English query retrieves Arabic cases — no translation step, no per-language routing.</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The magic moment</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Query: 'street light broken for two weeks'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Top hit is an Arabic case: 'عمود الإنارة معطل في شارعنا منذ أسبوعين...'</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One multilingual embedding space did the bridging — measure it, don't marvel at it</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Teach it honestly</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Cross-lingual retrieval runs 5–10 recall points behind monolingual — Bayan: 0.78 vs 0.88</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Arabic normalisation (M4) must be identical at index-build and query time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Dialect text embeds worse than MSA — pretraining scarcity again; Lab 6 slices recall@10 by language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Encoder upgraded v1 → v2? Full index rebuild — mixed-version vectors never crash, they just lie</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Cross-lingual spot check</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فحص سريع عابر اللغات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96</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One embedding space, two languages: an English query finds an Arabic case.</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notebooks/05_crosslingual_probe.py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from bayan.search import CaseSearch</a:t>
            </a:r>
            <a:endParaRPr lang="en-US" sz="1050" dirty="0"/>
          </a:p>
          <a:p>
            <a:pPr indent="0" marL="0">
              <a:lnSpc>
                <a:spcPct val="104000"/>
              </a:lnSpc>
              <a:buNone/>
            </a:pP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search = CaseSearch("artifacts/case_index_v1")</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for r in search.search("street light broken for two weeks", k=3):</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print(f"[{r['lang']}] {r['ce_score']:.2f}  {r['summary'][:60]}")</a:t>
            </a:r>
            <a:endParaRPr lang="en-US" sz="1050" dirty="0"/>
          </a:p>
          <a:p>
            <a:pPr indent="0" marL="0">
              <a:lnSpc>
                <a:spcPct val="104000"/>
              </a:lnSpc>
              <a:buNone/>
            </a:pP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Top hit is an Arabic case:</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"عمود الإنارة معطل في شارعنا منذ أسبوعين..."</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Translations land close in the multilingual space.</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Measure, don't marvel: the bilingual query slice</a:t>
            </a:r>
            <a:endParaRPr lang="en-US" sz="1050" dirty="0"/>
          </a:p>
          <a:p>
            <a:pPr indent="0" marL="0">
              <a:lnSpc>
                <a:spcPct val="104000"/>
              </a:lnSpc>
              <a:buNone/>
            </a:pPr>
            <a:r>
              <a:rPr lang="en-US" sz="1050" dirty="0">
                <a:solidFill>
                  <a:srgbClr val="D8E1F0"/>
                </a:solidFill>
                <a:latin typeface="Courier New" pitchFamily="34" charset="0"/>
                <a:ea typeface="Courier New" pitchFamily="34" charset="-122"/>
                <a:cs typeface="Courier New" pitchFamily="34" charset="-120"/>
              </a:rPr>
              <a:t># quantifies the cross-lingual gap in Lab 5.</a:t>
            </a:r>
            <a:endParaRPr lang="en-US" sz="1050" dirty="0"/>
          </a:p>
        </p:txBody>
      </p:sp>
      <p:sp>
        <p:nvSpPr>
          <p:cNvPr id="12" name="Shape 9"/>
          <p:cNvSpPr/>
          <p:nvPr/>
        </p:nvSpPr>
        <p:spPr>
          <a:xfrm>
            <a:off x="8321040" y="2057400"/>
            <a:ext cx="3364992" cy="4297680"/>
          </a:xfrm>
          <a:prstGeom prst="roundRect">
            <a:avLst>
              <a:gd name="adj" fmla="val 1630"/>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Measure the gap</a:t>
            </a:r>
            <a:endParaRPr lang="en-US" sz="1100" dirty="0"/>
          </a:p>
        </p:txBody>
      </p:sp>
      <p:sp>
        <p:nvSpPr>
          <p:cNvPr id="14" name="Text 11"/>
          <p:cNvSpPr/>
          <p:nvPr/>
        </p:nvSpPr>
        <p:spPr>
          <a:xfrm>
            <a:off x="8485632" y="2441448"/>
            <a:ext cx="3035808" cy="3794760"/>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Cross-lingual slice recall@10 is 0.78 vs 0.88 monolingual — record it in BENCHMARKS.md, don't assume it away</a:t>
            </a:r>
            <a:endParaRPr lang="en-US" sz="9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sentence embeddings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تضمينات الجمل</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97</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Q2</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Why is raw pretrained [CLS] a poor sentence embedding?</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It is too high-dimensional for FAISS to index</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It was never trained for similarity — NSP-style objectives shape its space</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It only exists in English-language models</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Mean-pooling destroys word order information</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Contrastive fine-tuning (the SBERT recipe) reshapes the space so cosine MEANS semantic similarity — the property everything in this module rents.</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5 — Bilingual semantic search</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5 — بحث دلالي ثنائي اللغة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98</a:t>
            </a:r>
            <a:endParaRPr lang="en-US" sz="800" dirty="0"/>
          </a:p>
        </p:txBody>
      </p:sp>
      <p:sp>
        <p:nvSpPr>
          <p:cNvPr id="8" name="Shape 5"/>
          <p:cNvSpPr/>
          <p:nvPr/>
        </p:nvSpPr>
        <p:spPr>
          <a:xfrm>
            <a:off x="502920" y="1463040"/>
            <a:ext cx="11183112" cy="548640"/>
          </a:xfrm>
          <a:prstGeom prst="roundRect">
            <a:avLst>
              <a:gd name="adj" fmla="val 13333"/>
            </a:avLst>
          </a:prstGeom>
          <a:solidFill>
            <a:srgbClr val="1D2A5C"/>
          </a:solidFill>
          <a:ln/>
        </p:spPr>
      </p:sp>
      <p:sp>
        <p:nvSpPr>
          <p:cNvPr id="9" name="Text 6"/>
          <p:cNvSpPr/>
          <p:nvPr/>
        </p:nvSpPr>
        <p:spPr>
          <a:xfrm>
            <a:off x="685800" y="1463040"/>
            <a:ext cx="8961120" cy="548640"/>
          </a:xfrm>
          <a:prstGeom prst="rect">
            <a:avLst/>
          </a:prstGeom>
          <a:noFill/>
          <a:ln/>
        </p:spPr>
        <p:txBody>
          <a:bodyPr wrap="square" lIns="0" tIns="0" rIns="0" bIns="0" rtlCol="0" anchor="ctr"/>
          <a:lstStyle/>
          <a:p>
            <a:pPr indent="0" marL="0">
              <a:buNone/>
            </a:pPr>
            <a:r>
              <a:rPr lang="en-US" sz="1300" b="1" dirty="0">
                <a:solidFill>
                  <a:srgbClr val="F7941D"/>
                </a:solidFill>
                <a:latin typeface="Calibri" pitchFamily="34" charset="0"/>
                <a:ea typeface="Calibri" pitchFamily="34" charset="-122"/>
                <a:cs typeface="Calibri" pitchFamily="34" charset="-120"/>
              </a:rPr>
              <a:t>  HANDS-ON LAB 5   </a:t>
            </a:r>
            <a:pPr indent="0" marL="0">
              <a:buNone/>
            </a:pPr>
            <a:r>
              <a:rPr lang="en-US" sz="1400" b="1" dirty="0">
                <a:solidFill>
                  <a:srgbClr val="FFFFFF"/>
                </a:solidFill>
                <a:latin typeface="Calibri" pitchFamily="34" charset="0"/>
                <a:ea typeface="Calibri" pitchFamily="34" charset="-122"/>
                <a:cs typeface="Calibri" pitchFamily="34" charset="-120"/>
              </a:rPr>
              <a:t>Bilingual Semantic Search over Historical Cases</a:t>
            </a:r>
            <a:endParaRPr lang="en-US" sz="1300" dirty="0"/>
          </a:p>
        </p:txBody>
      </p:sp>
      <p:sp>
        <p:nvSpPr>
          <p:cNvPr id="10" name="Text 7"/>
          <p:cNvSpPr/>
          <p:nvPr/>
        </p:nvSpPr>
        <p:spPr>
          <a:xfrm>
            <a:off x="9692640" y="1463040"/>
            <a:ext cx="1828800" cy="548640"/>
          </a:xfrm>
          <a:prstGeom prst="rect">
            <a:avLst/>
          </a:prstGeom>
          <a:noFill/>
          <a:ln/>
        </p:spPr>
        <p:txBody>
          <a:bodyPr wrap="square" lIns="0" tIns="0" rIns="0" bIns="0" rtlCol="0" anchor="ctr"/>
          <a:lstStyle/>
          <a:p>
            <a:pPr algn="r" indent="0" marL="0">
              <a:buNone/>
            </a:pPr>
            <a:r>
              <a:rPr lang="en-US" sz="1200" b="1" dirty="0">
                <a:solidFill>
                  <a:srgbClr val="00A79D"/>
                </a:solidFill>
                <a:latin typeface="Calibri" pitchFamily="34" charset="0"/>
                <a:ea typeface="Calibri" pitchFamily="34" charset="-122"/>
                <a:cs typeface="Calibri" pitchFamily="34" charset="-120"/>
              </a:rPr>
              <a:t>50 min</a:t>
            </a:r>
            <a:endParaRPr lang="en-US" sz="1200" dirty="0"/>
          </a:p>
        </p:txBody>
      </p:sp>
      <p:sp>
        <p:nvSpPr>
          <p:cNvPr id="11" name="Text 8"/>
          <p:cNvSpPr/>
          <p:nvPr/>
        </p:nvSpPr>
        <p:spPr>
          <a:xfrm>
            <a:off x="502920" y="2240280"/>
            <a:ext cx="6903720" cy="256032"/>
          </a:xfrm>
          <a:prstGeom prst="rect">
            <a:avLst/>
          </a:prstGeom>
          <a:noFill/>
          <a:ln/>
        </p:spPr>
        <p:txBody>
          <a:bodyPr wrap="square" lIns="0" tIns="0" rIns="0" bIns="0" rtlCol="0" anchor="ctr"/>
          <a:lstStyle/>
          <a:p>
            <a:pPr indent="0" marL="0">
              <a:buNone/>
            </a:pPr>
            <a:r>
              <a:rPr lang="en-US" sz="1050" b="1" spc="150" kern="0" dirty="0">
                <a:solidFill>
                  <a:srgbClr val="00A79D"/>
                </a:solidFill>
                <a:latin typeface="Calibri" pitchFamily="34" charset="0"/>
                <a:ea typeface="Calibri" pitchFamily="34" charset="-122"/>
                <a:cs typeface="Calibri" pitchFamily="34" charset="-120"/>
              </a:rPr>
              <a:t>TASKS</a:t>
            </a:r>
            <a:endParaRPr lang="en-US" sz="1050" dirty="0"/>
          </a:p>
        </p:txBody>
      </p:sp>
      <p:sp>
        <p:nvSpPr>
          <p:cNvPr id="12" name="Shape 9"/>
          <p:cNvSpPr/>
          <p:nvPr/>
        </p:nvSpPr>
        <p:spPr>
          <a:xfrm>
            <a:off x="502920" y="2578608"/>
            <a:ext cx="274320" cy="274320"/>
          </a:xfrm>
          <a:prstGeom prst="ellipse">
            <a:avLst/>
          </a:prstGeom>
          <a:solidFill>
            <a:srgbClr val="00A79D"/>
          </a:solidFill>
          <a:ln/>
        </p:spPr>
      </p:sp>
      <p:sp>
        <p:nvSpPr>
          <p:cNvPr id="13" name="Text 10"/>
          <p:cNvSpPr/>
          <p:nvPr/>
        </p:nvSpPr>
        <p:spPr>
          <a:xfrm>
            <a:off x="50292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p:nvPr/>
        </p:nvSpPr>
        <p:spPr>
          <a:xfrm>
            <a:off x="914400" y="255117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Complete build_index: encode, NORMALISE, index, persist with a version-pinned manifest</a:t>
            </a:r>
            <a:endParaRPr lang="en-US" sz="1100" dirty="0"/>
          </a:p>
        </p:txBody>
      </p:sp>
      <p:sp>
        <p:nvSpPr>
          <p:cNvPr id="15" name="Shape 12"/>
          <p:cNvSpPr/>
          <p:nvPr/>
        </p:nvSpPr>
        <p:spPr>
          <a:xfrm>
            <a:off x="502920" y="3211068"/>
            <a:ext cx="274320" cy="274320"/>
          </a:xfrm>
          <a:prstGeom prst="ellipse">
            <a:avLst/>
          </a:prstGeom>
          <a:solidFill>
            <a:srgbClr val="00A79D"/>
          </a:solidFill>
          <a:ln/>
        </p:spPr>
      </p:sp>
      <p:sp>
        <p:nvSpPr>
          <p:cNvPr id="16" name="Text 13"/>
          <p:cNvSpPr/>
          <p:nvPr/>
        </p:nvSpPr>
        <p:spPr>
          <a:xfrm>
            <a:off x="502920" y="32110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4"/>
          <p:cNvSpPr/>
          <p:nvPr/>
        </p:nvSpPr>
        <p:spPr>
          <a:xfrm>
            <a:off x="914400" y="318363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Stage-1 search; run the 150-query evaluation without re-ranking; record recall@10 and MRR@10</a:t>
            </a:r>
            <a:endParaRPr lang="en-US" sz="1100" dirty="0"/>
          </a:p>
        </p:txBody>
      </p:sp>
      <p:sp>
        <p:nvSpPr>
          <p:cNvPr id="18" name="Shape 15"/>
          <p:cNvSpPr/>
          <p:nvPr/>
        </p:nvSpPr>
        <p:spPr>
          <a:xfrm>
            <a:off x="502920" y="3843528"/>
            <a:ext cx="274320" cy="274320"/>
          </a:xfrm>
          <a:prstGeom prst="ellipse">
            <a:avLst/>
          </a:prstGeom>
          <a:solidFill>
            <a:srgbClr val="00A79D"/>
          </a:solidFill>
          <a:ln/>
        </p:spPr>
      </p:sp>
      <p:sp>
        <p:nvSpPr>
          <p:cNvPr id="19" name="Text 16"/>
          <p:cNvSpPr/>
          <p:nvPr/>
        </p:nvSpPr>
        <p:spPr>
          <a:xfrm>
            <a:off x="502920" y="38435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914400" y="381609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Add cross-encoder re-ranking; record the MRR lift and the added latency (time both stages)</a:t>
            </a:r>
            <a:endParaRPr lang="en-US" sz="1100" dirty="0"/>
          </a:p>
        </p:txBody>
      </p:sp>
      <p:sp>
        <p:nvSpPr>
          <p:cNvPr id="21" name="Shape 18"/>
          <p:cNvSpPr/>
          <p:nvPr/>
        </p:nvSpPr>
        <p:spPr>
          <a:xfrm>
            <a:off x="502920" y="4475988"/>
            <a:ext cx="274320" cy="274320"/>
          </a:xfrm>
          <a:prstGeom prst="ellipse">
            <a:avLst/>
          </a:prstGeom>
          <a:solidFill>
            <a:srgbClr val="00A79D"/>
          </a:solidFill>
          <a:ln/>
        </p:spPr>
      </p:sp>
      <p:sp>
        <p:nvSpPr>
          <p:cNvPr id="22" name="Text 19"/>
          <p:cNvSpPr/>
          <p:nvPr/>
        </p:nvSpPr>
        <p:spPr>
          <a:xfrm>
            <a:off x="502920" y="44759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0"/>
          <p:cNvSpPr/>
          <p:nvPr/>
        </p:nvSpPr>
        <p:spPr>
          <a:xfrm>
            <a:off x="914400" y="444855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Slice by query language; record the cross-lingual gap; tune min_score on the 20 no-answer queries</a:t>
            </a:r>
            <a:endParaRPr lang="en-US" sz="1100" dirty="0"/>
          </a:p>
        </p:txBody>
      </p:sp>
      <p:sp>
        <p:nvSpPr>
          <p:cNvPr id="24" name="Shape 21"/>
          <p:cNvSpPr/>
          <p:nvPr/>
        </p:nvSpPr>
        <p:spPr>
          <a:xfrm>
            <a:off x="502920" y="5108448"/>
            <a:ext cx="274320" cy="274320"/>
          </a:xfrm>
          <a:prstGeom prst="ellipse">
            <a:avLst/>
          </a:prstGeom>
          <a:solidFill>
            <a:srgbClr val="00A79D"/>
          </a:solidFill>
          <a:ln/>
        </p:spPr>
      </p:sp>
      <p:sp>
        <p:nvSpPr>
          <p:cNvPr id="25" name="Text 22"/>
          <p:cNvSpPr/>
          <p:nvPr/>
        </p:nvSpPr>
        <p:spPr>
          <a:xfrm>
            <a:off x="502920" y="51084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p:nvPr/>
        </p:nvSpPr>
        <p:spPr>
          <a:xfrm>
            <a:off x="914400" y="508101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Planted bug: explain in one sentence why sim-unnormalized results look plausible</a:t>
            </a:r>
            <a:endParaRPr lang="en-US" sz="1100" dirty="0"/>
          </a:p>
        </p:txBody>
      </p:sp>
      <p:sp>
        <p:nvSpPr>
          <p:cNvPr id="27" name="Shape 24"/>
          <p:cNvSpPr/>
          <p:nvPr/>
        </p:nvSpPr>
        <p:spPr>
          <a:xfrm>
            <a:off x="502920" y="5740908"/>
            <a:ext cx="274320" cy="274320"/>
          </a:xfrm>
          <a:prstGeom prst="ellipse">
            <a:avLst/>
          </a:prstGeom>
          <a:solidFill>
            <a:srgbClr val="00A79D"/>
          </a:solidFill>
          <a:ln/>
        </p:spPr>
      </p:sp>
      <p:sp>
        <p:nvSpPr>
          <p:cNvPr id="28" name="Text 25"/>
          <p:cNvSpPr/>
          <p:nvPr/>
        </p:nvSpPr>
        <p:spPr>
          <a:xfrm>
            <a:off x="502920" y="57409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6"/>
          <p:cNvSpPr/>
          <p:nvPr/>
        </p:nvSpPr>
        <p:spPr>
          <a:xfrm>
            <a:off x="914400" y="571347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Stretch: swap IndexFlatIP for IndexHNSWFlat; recall-vs-flat + latency; one-line verdict at 20k</a:t>
            </a:r>
            <a:endParaRPr lang="en-US" sz="1100" dirty="0"/>
          </a:p>
        </p:txBody>
      </p:sp>
      <p:sp>
        <p:nvSpPr>
          <p:cNvPr id="30" name="Shape 27"/>
          <p:cNvSpPr/>
          <p:nvPr/>
        </p:nvSpPr>
        <p:spPr>
          <a:xfrm>
            <a:off x="7635240" y="2240280"/>
            <a:ext cx="4050792" cy="1264920"/>
          </a:xfrm>
          <a:prstGeom prst="roundRect">
            <a:avLst>
              <a:gd name="adj" fmla="val 4337"/>
            </a:avLst>
          </a:prstGeom>
          <a:solidFill>
            <a:srgbClr val="E6F5F4"/>
          </a:solidFill>
          <a:ln w="9525">
            <a:solidFill>
              <a:srgbClr val="00A79D"/>
            </a:solidFill>
            <a:prstDash val="solid"/>
          </a:ln>
        </p:spPr>
      </p:sp>
      <p:sp>
        <p:nvSpPr>
          <p:cNvPr id="31" name="Text 28"/>
          <p:cNvSpPr/>
          <p:nvPr/>
        </p:nvSpPr>
        <p:spPr>
          <a:xfrm>
            <a:off x="7799832" y="2322576"/>
            <a:ext cx="3721608"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OBJECTIVE</a:t>
            </a:r>
            <a:endParaRPr lang="en-US" sz="950" dirty="0"/>
          </a:p>
        </p:txBody>
      </p:sp>
      <p:sp>
        <p:nvSpPr>
          <p:cNvPr id="32" name="Text 29"/>
          <p:cNvSpPr/>
          <p:nvPr/>
        </p:nvSpPr>
        <p:spPr>
          <a:xfrm>
            <a:off x="7799832" y="25786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Build Bayan's case-search: FAISS index over 20k resolved cases, two-stage retrieval, recall@10 ≥ 0.80 and MRR@10 ≥ 0.70 on the labelled bilingual query set</a:t>
            </a:r>
            <a:endParaRPr lang="en-US" sz="1000" dirty="0"/>
          </a:p>
        </p:txBody>
      </p:sp>
      <p:sp>
        <p:nvSpPr>
          <p:cNvPr id="33" name="Shape 30"/>
          <p:cNvSpPr/>
          <p:nvPr/>
        </p:nvSpPr>
        <p:spPr>
          <a:xfrm>
            <a:off x="7635240" y="3688080"/>
            <a:ext cx="4050792" cy="1264920"/>
          </a:xfrm>
          <a:prstGeom prst="roundRect">
            <a:avLst>
              <a:gd name="adj" fmla="val 4337"/>
            </a:avLst>
          </a:prstGeom>
          <a:solidFill>
            <a:srgbClr val="FEF3E3"/>
          </a:solidFill>
          <a:ln w="9525">
            <a:solidFill>
              <a:srgbClr val="F7941D"/>
            </a:solidFill>
            <a:prstDash val="solid"/>
          </a:ln>
        </p:spPr>
      </p:sp>
      <p:sp>
        <p:nvSpPr>
          <p:cNvPr id="34" name="Text 31"/>
          <p:cNvSpPr/>
          <p:nvPr/>
        </p:nvSpPr>
        <p:spPr>
          <a:xfrm>
            <a:off x="7799832" y="3770376"/>
            <a:ext cx="3721608"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DELIVERABLE</a:t>
            </a:r>
            <a:endParaRPr lang="en-US" sz="950" dirty="0"/>
          </a:p>
        </p:txBody>
      </p:sp>
      <p:sp>
        <p:nvSpPr>
          <p:cNvPr id="35" name="Text 32"/>
          <p:cNvSpPr/>
          <p:nvPr/>
        </p:nvSpPr>
        <p:spPr>
          <a:xfrm>
            <a:off x="7799832" y="40264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Versioned index + search module in artifacts/ — the capstone's search endpoint wraps it, and Lab 6 slices its recall by language</a:t>
            </a:r>
            <a:endParaRPr lang="en-US" sz="1000" dirty="0"/>
          </a:p>
        </p:txBody>
      </p:sp>
      <p:sp>
        <p:nvSpPr>
          <p:cNvPr id="36" name="Shape 33"/>
          <p:cNvSpPr/>
          <p:nvPr/>
        </p:nvSpPr>
        <p:spPr>
          <a:xfrm>
            <a:off x="7635240" y="5135880"/>
            <a:ext cx="4050792" cy="1264920"/>
          </a:xfrm>
          <a:prstGeom prst="roundRect">
            <a:avLst>
              <a:gd name="adj" fmla="val 4337"/>
            </a:avLst>
          </a:prstGeom>
          <a:solidFill>
            <a:srgbClr val="EAF6FC"/>
          </a:solidFill>
          <a:ln w="9525">
            <a:solidFill>
              <a:srgbClr val="29ABE2"/>
            </a:solidFill>
            <a:prstDash val="solid"/>
          </a:ln>
        </p:spPr>
      </p:sp>
      <p:sp>
        <p:nvSpPr>
          <p:cNvPr id="37" name="Text 34"/>
          <p:cNvSpPr/>
          <p:nvPr/>
        </p:nvSpPr>
        <p:spPr>
          <a:xfrm>
            <a:off x="7799832" y="5218176"/>
            <a:ext cx="3721608"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WATCH FOR</a:t>
            </a:r>
            <a:endParaRPr lang="en-US" sz="950" dirty="0"/>
          </a:p>
        </p:txBody>
      </p:sp>
      <p:sp>
        <p:nvSpPr>
          <p:cNvPr id="38" name="Text 35"/>
          <p:cNvSpPr/>
          <p:nvPr/>
        </p:nvSpPr>
        <p:spPr>
          <a:xfrm>
            <a:off x="7799832" y="54742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Missing normalize_L2 on either side → plausible-but-wrong · Arabic queries must hit normalize_arabic like the index did · Monolingual CE on Arabic pairs makes re-ranking worse</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FAQ deflection at a Saudi retail bank</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تحويل الأسئلة الشائعة في مصرف سعودي</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99</a:t>
            </a:r>
            <a:endParaRPr lang="en-US" sz="800" dirty="0"/>
          </a:p>
        </p:txBody>
      </p:sp>
      <p:sp>
        <p:nvSpPr>
          <p:cNvPr id="8" name="Shape 5"/>
          <p:cNvSpPr/>
          <p:nvPr/>
        </p:nvSpPr>
        <p:spPr>
          <a:xfrm>
            <a:off x="502920" y="1444752"/>
            <a:ext cx="1042416" cy="329184"/>
          </a:xfrm>
          <a:prstGeom prst="roundRect">
            <a:avLst>
              <a:gd name="adj" fmla="val 22222"/>
            </a:avLst>
          </a:prstGeom>
          <a:solidFill>
            <a:srgbClr val="1D2A5C"/>
          </a:solidFill>
          <a:ln/>
        </p:spPr>
      </p:sp>
      <p:sp>
        <p:nvSpPr>
          <p:cNvPr id="9" name="Text 6"/>
          <p:cNvSpPr/>
          <p:nvPr/>
        </p:nvSpPr>
        <p:spPr>
          <a:xfrm>
            <a:off x="502920" y="1444752"/>
            <a:ext cx="104241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CASE STUDY</a:t>
            </a:r>
            <a:endParaRPr lang="en-US" sz="1050" dirty="0"/>
          </a:p>
        </p:txBody>
      </p:sp>
      <p:sp>
        <p:nvSpPr>
          <p:cNvPr id="10" name="Text 7"/>
          <p:cNvSpPr/>
          <p:nvPr/>
        </p:nvSpPr>
        <p:spPr>
          <a:xfrm>
            <a:off x="2148840" y="1444752"/>
            <a:ext cx="9509760" cy="329184"/>
          </a:xfrm>
          <a:prstGeom prst="rect">
            <a:avLst/>
          </a:prstGeom>
          <a:noFill/>
          <a:ln/>
        </p:spPr>
        <p:txBody>
          <a:bodyPr wrap="square" lIns="0" tIns="0" rIns="0" bIns="0"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Saudi Retail Bank — Semantic FAQ Deflection</a:t>
            </a:r>
            <a:endParaRPr lang="en-US" sz="1300" dirty="0"/>
          </a:p>
        </p:txBody>
      </p:sp>
      <p:sp>
        <p:nvSpPr>
          <p:cNvPr id="11" name="Shape 8"/>
          <p:cNvSpPr/>
          <p:nvPr/>
        </p:nvSpPr>
        <p:spPr>
          <a:xfrm>
            <a:off x="502920" y="1965960"/>
            <a:ext cx="5477256" cy="1645920"/>
          </a:xfrm>
          <a:prstGeom prst="roundRect">
            <a:avLst>
              <a:gd name="adj" fmla="val 3333"/>
            </a:avLst>
          </a:prstGeom>
          <a:solidFill>
            <a:srgbClr val="F2F6F8"/>
          </a:solidFill>
          <a:ln/>
        </p:spPr>
      </p:sp>
      <p:sp>
        <p:nvSpPr>
          <p:cNvPr id="12" name="Text 9"/>
          <p:cNvSpPr/>
          <p:nvPr/>
        </p:nvSpPr>
        <p:spPr>
          <a:xfrm>
            <a:off x="713232" y="2057400"/>
            <a:ext cx="5056632" cy="237744"/>
          </a:xfrm>
          <a:prstGeom prst="rect">
            <a:avLst/>
          </a:prstGeom>
          <a:noFill/>
          <a:ln/>
        </p:spPr>
        <p:txBody>
          <a:bodyPr wrap="square" lIns="0" tIns="0" rIns="0" bIns="0" rtlCol="0" anchor="ctr"/>
          <a:lstStyle/>
          <a:p>
            <a:pPr indent="0" marL="0">
              <a:buNone/>
            </a:pPr>
            <a:r>
              <a:rPr lang="en-US" sz="950" b="1" spc="150" kern="0" dirty="0">
                <a:solidFill>
                  <a:srgbClr val="6E7B8A"/>
                </a:solidFill>
                <a:latin typeface="Calibri" pitchFamily="34" charset="0"/>
                <a:ea typeface="Calibri" pitchFamily="34" charset="-122"/>
                <a:cs typeface="Calibri" pitchFamily="34" charset="-120"/>
              </a:rPr>
              <a:t>SITUATION</a:t>
            </a:r>
            <a:endParaRPr lang="en-US" sz="950" dirty="0"/>
          </a:p>
        </p:txBody>
      </p:sp>
      <p:sp>
        <p:nvSpPr>
          <p:cNvPr id="13" name="Text 10"/>
          <p:cNvSpPr/>
          <p:nvPr/>
        </p:nvSpPr>
        <p:spPr>
          <a:xfrm>
            <a:off x="713232" y="233172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Keyword search over 900 FAQ articles satisfies 31% of queries; the rest become calls at SAR 18 average handling cost. 1.4M in-app searches monthly — every 10-point deflection gain saves ~SAR 2.5M a year. Two engineers, six weeks, before the bank licenses a conversational-AI suite at forty times the cost.</a:t>
            </a:r>
            <a:endParaRPr lang="en-US" sz="1050" dirty="0"/>
          </a:p>
        </p:txBody>
      </p:sp>
      <p:sp>
        <p:nvSpPr>
          <p:cNvPr id="14" name="Shape 11"/>
          <p:cNvSpPr/>
          <p:nvPr/>
        </p:nvSpPr>
        <p:spPr>
          <a:xfrm>
            <a:off x="502920" y="3749040"/>
            <a:ext cx="5477256" cy="1645920"/>
          </a:xfrm>
          <a:prstGeom prst="roundRect">
            <a:avLst>
              <a:gd name="adj" fmla="val 3333"/>
            </a:avLst>
          </a:prstGeom>
          <a:solidFill>
            <a:srgbClr val="FEF3E3"/>
          </a:solidFill>
          <a:ln/>
        </p:spPr>
      </p:sp>
      <p:sp>
        <p:nvSpPr>
          <p:cNvPr id="15" name="Text 12"/>
          <p:cNvSpPr/>
          <p:nvPr/>
        </p:nvSpPr>
        <p:spPr>
          <a:xfrm>
            <a:off x="713232" y="3840480"/>
            <a:ext cx="5056632"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CHALLENGE</a:t>
            </a:r>
            <a:endParaRPr lang="en-US" sz="950" dirty="0"/>
          </a:p>
        </p:txBody>
      </p:sp>
      <p:sp>
        <p:nvSpPr>
          <p:cNvPr id="16" name="Text 13"/>
          <p:cNvSpPr/>
          <p:nvPr/>
        </p:nvSpPr>
        <p:spPr>
          <a:xfrm>
            <a:off x="713232" y="411480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Queries are short (median 4 words), heavily dialectal ('وش رسوم التحويل الدولي'), often Arabizi; articles are formal MSA and English — a register AND language mismatch that defeats keyword matching by construction. On-prem only, 150 ms p95, and the content team will not restructure 900 articles.</a:t>
            </a:r>
            <a:endParaRPr lang="en-US" sz="1050" dirty="0"/>
          </a:p>
        </p:txBody>
      </p:sp>
      <p:sp>
        <p:nvSpPr>
          <p:cNvPr id="17" name="Shape 14"/>
          <p:cNvSpPr/>
          <p:nvPr/>
        </p:nvSpPr>
        <p:spPr>
          <a:xfrm>
            <a:off x="6208776" y="1965960"/>
            <a:ext cx="5477256" cy="3429000"/>
          </a:xfrm>
          <a:prstGeom prst="roundRect">
            <a:avLst>
              <a:gd name="adj" fmla="val 1600"/>
            </a:avLst>
          </a:prstGeom>
          <a:solidFill>
            <a:srgbClr val="E6F5F4"/>
          </a:solidFill>
          <a:ln/>
        </p:spPr>
      </p:sp>
      <p:sp>
        <p:nvSpPr>
          <p:cNvPr id="18" name="Text 15"/>
          <p:cNvSpPr/>
          <p:nvPr/>
        </p:nvSpPr>
        <p:spPr>
          <a:xfrm>
            <a:off x="6409944" y="2066544"/>
            <a:ext cx="5074920"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APPROACH</a:t>
            </a:r>
            <a:endParaRPr lang="en-US" sz="950" dirty="0"/>
          </a:p>
        </p:txBody>
      </p:sp>
      <p:sp>
        <p:nvSpPr>
          <p:cNvPr id="19" name="Shape 16"/>
          <p:cNvSpPr/>
          <p:nvPr/>
        </p:nvSpPr>
        <p:spPr>
          <a:xfrm>
            <a:off x="6409944" y="2395728"/>
            <a:ext cx="237744" cy="237744"/>
          </a:xfrm>
          <a:prstGeom prst="ellipse">
            <a:avLst/>
          </a:prstGeom>
          <a:solidFill>
            <a:srgbClr val="00A79D"/>
          </a:solidFill>
          <a:ln/>
        </p:spPr>
      </p:sp>
      <p:sp>
        <p:nvSpPr>
          <p:cNvPr id="20" name="Text 17"/>
          <p:cNvSpPr/>
          <p:nvPr/>
        </p:nvSpPr>
        <p:spPr>
          <a:xfrm>
            <a:off x="6409944" y="23957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p:nvPr/>
        </p:nvSpPr>
        <p:spPr>
          <a:xfrm>
            <a:off x="6757416" y="237744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Week 1: the labelled set FIRST — 400 real queries sampled from logs, judged against articles by the content team</a:t>
            </a:r>
            <a:endParaRPr lang="en-US" sz="1050" dirty="0"/>
          </a:p>
        </p:txBody>
      </p:sp>
      <p:sp>
        <p:nvSpPr>
          <p:cNvPr id="22" name="Shape 19"/>
          <p:cNvSpPr/>
          <p:nvPr/>
        </p:nvSpPr>
        <p:spPr>
          <a:xfrm>
            <a:off x="6409944" y="3127248"/>
            <a:ext cx="237744" cy="237744"/>
          </a:xfrm>
          <a:prstGeom prst="ellipse">
            <a:avLst/>
          </a:prstGeom>
          <a:solidFill>
            <a:srgbClr val="00A79D"/>
          </a:solidFill>
          <a:ln/>
        </p:spPr>
      </p:sp>
      <p:sp>
        <p:nvSpPr>
          <p:cNvPr id="23" name="Text 20"/>
          <p:cNvSpPr/>
          <p:nvPr/>
        </p:nvSpPr>
        <p:spPr>
          <a:xfrm>
            <a:off x="6409944" y="31272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6757416" y="310896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Multilingual MiniLM bi-encoder; articles chunked by H2 section with the title prepended; flat FAISS index (~5k chunks)</a:t>
            </a:r>
            <a:endParaRPr lang="en-US" sz="1050" dirty="0"/>
          </a:p>
        </p:txBody>
      </p:sp>
      <p:sp>
        <p:nvSpPr>
          <p:cNvPr id="25" name="Shape 22"/>
          <p:cNvSpPr/>
          <p:nvPr/>
        </p:nvSpPr>
        <p:spPr>
          <a:xfrm>
            <a:off x="6409944" y="3858768"/>
            <a:ext cx="237744" cy="237744"/>
          </a:xfrm>
          <a:prstGeom prst="ellipse">
            <a:avLst/>
          </a:prstGeom>
          <a:solidFill>
            <a:srgbClr val="00A79D"/>
          </a:solidFill>
          <a:ln/>
        </p:spPr>
      </p:sp>
      <p:sp>
        <p:nvSpPr>
          <p:cNvPr id="26" name="Text 23"/>
          <p:cNvSpPr/>
          <p:nvPr/>
        </p:nvSpPr>
        <p:spPr>
          <a:xfrm>
            <a:off x="6409944" y="3858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4"/>
          <p:cNvSpPr/>
          <p:nvPr/>
        </p:nvSpPr>
        <p:spPr>
          <a:xfrm>
            <a:off x="6757416" y="384048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M4 dialect normalisation on the query path; cross-encoder re-rank of the top-30</a:t>
            </a:r>
            <a:endParaRPr lang="en-US" sz="1050" dirty="0"/>
          </a:p>
        </p:txBody>
      </p:sp>
      <p:sp>
        <p:nvSpPr>
          <p:cNvPr id="28" name="Shape 25"/>
          <p:cNvSpPr/>
          <p:nvPr/>
        </p:nvSpPr>
        <p:spPr>
          <a:xfrm>
            <a:off x="6409944" y="4590288"/>
            <a:ext cx="237744" cy="237744"/>
          </a:xfrm>
          <a:prstGeom prst="ellipse">
            <a:avLst/>
          </a:prstGeom>
          <a:solidFill>
            <a:srgbClr val="00A79D"/>
          </a:solidFill>
          <a:ln/>
        </p:spPr>
      </p:sp>
      <p:sp>
        <p:nvSpPr>
          <p:cNvPr id="29" name="Text 26"/>
          <p:cNvSpPr/>
          <p:nvPr/>
        </p:nvSpPr>
        <p:spPr>
          <a:xfrm>
            <a:off x="6409944" y="45902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0" name="Text 27"/>
          <p:cNvSpPr/>
          <p:nvPr/>
        </p:nvSpPr>
        <p:spPr>
          <a:xfrm>
            <a:off x="6757416" y="457200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recall@5: keyword 0.34 → bi-encoder 0.71 → +re-rank 0.79; Arabizi slice 0.55 → 0.68 with a transliteration pre-step</a:t>
            </a:r>
            <a:endParaRPr lang="en-US" sz="1050" dirty="0"/>
          </a:p>
        </p:txBody>
      </p:sp>
      <p:sp>
        <p:nvSpPr>
          <p:cNvPr id="31" name="Shape 28"/>
          <p:cNvSpPr/>
          <p:nvPr/>
        </p:nvSpPr>
        <p:spPr>
          <a:xfrm>
            <a:off x="502920" y="5577840"/>
            <a:ext cx="11183112" cy="731520"/>
          </a:xfrm>
          <a:prstGeom prst="roundRect">
            <a:avLst>
              <a:gd name="adj" fmla="val 10000"/>
            </a:avLst>
          </a:prstGeom>
          <a:solidFill>
            <a:srgbClr val="1D2A5C"/>
          </a:solidFill>
          <a:ln/>
        </p:spPr>
      </p:sp>
      <p:sp>
        <p:nvSpPr>
          <p:cNvPr id="32" name="Text 29"/>
          <p:cNvSpPr/>
          <p:nvPr/>
        </p:nvSpPr>
        <p:spPr>
          <a:xfrm>
            <a:off x="731520" y="5577840"/>
            <a:ext cx="10744200" cy="73152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LESSON   </a:t>
            </a:r>
            <a:pPr indent="0" marL="0">
              <a:buNone/>
            </a:pPr>
            <a:r>
              <a:rPr lang="en-US" sz="1150" dirty="0">
                <a:solidFill>
                  <a:srgbClr val="FFFFFF"/>
                </a:solidFill>
                <a:latin typeface="Calibri" pitchFamily="34" charset="0"/>
                <a:ea typeface="Calibri" pitchFamily="34" charset="-122"/>
                <a:cs typeface="Calibri" pitchFamily="34" charset="-120"/>
              </a:rPr>
              <a:t>Deflection rose from 31% to 52% in the A/B pilot. The board re-scoped the conversational suite to RAG over this retrieval layer — the module's pattern becoming procurement strategy.</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the normalisation trap</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فخ التطبيع</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5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100</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Q3</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Only the index side was L2-normalised; query vectors were not. What happens?</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FAISS raises a dimension-mismatch error at search time</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Recall improves but latency doubles</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Rankings skew toward long, dense texts — silently</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Nothing: normalisation is idempotent</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Branch sim-unnormalized: results look plausible, recall@10 collapses to ~0.4 — only the metric catches it. Retrieval quality is measured, never eyeballed.</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MODULE 6 · EVALUATION</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Every module so far produced a number. This module decides whether to believe it.</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Sliced evaluation, bootstrap confidence, behavioural tests, error taxonomies — the machinery that closes the gap between claimed and delivered accuracy.</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101</a:t>
            </a:r>
            <a:endParaRPr lang="en-US" sz="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right metric per task — and what it hides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المقياس المناسب لكل مهمة — وما يخفيه</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102</a:t>
            </a:r>
            <a:endParaRPr lang="en-US" sz="8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Task</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hides / the caveat</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Classification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Macro-F1 + weighted-F1, per-class P/R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Accuracy dies on imbalance: always predicting 'outage' scores 41% on Bayan, 0 usefulness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NER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Entity-level F1 (seqeval), per type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Strict: a one-token boundary miss scores zero; SERVICE at 0.74 hides inside an 0.83 aggregate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Extractive QA</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Exact match + token-overlap F1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Unanswerables need the null-accuracy trade-off curve — tune null_threshold with evidence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Retrieval</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recall@k + MRR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Choose k from the UI: users see 5 results, so recall@50 sold as user-facing quality is theatre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Meta-rule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The metric is a PROXY</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Map it to a business quantity; when proxy and business number diverge, the proxy loses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Report macro AND weighted F1, then decide by cost structure: if missing the 2% 'other-digital-services' class is expensive, macro is your headline.</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Sliced evaluation as the default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التقييم المُشرَّح كإعداد افتراضي</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103</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One aggregate number is an average over stories — and averages hide the stories that matter. The course planted the evidence: M4's '+3 aggregate was +6 on the Gulf slice'; M5's cross-lingual gap, 0.88 vs 0.78.</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Standard slices for bilingual NLP</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Language (AR/EN) and dialect region — M4's audit column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Class / entity type; input length (short chat vs long complaint — length correlates with truncation and dialect)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Channel (web form vs WhatsApp)</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Time: last month vs training period — the drift preview for AIE-216</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Method, not inspiration</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Slices need minimum sizes: n=30 carries a ±13-point F1 confidence interval</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Flag small slices, don't delete them — 'we cannot yet evaluate Maghrebi dialect' is a finding</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Disaggregate before celebrating AND before panicking — improvements and regressions both concentrate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The per-slice delta table is the change-review artefact for any model update</a:t>
            </a:r>
            <a:endParaRPr lang="en-US" sz="1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sliced report — Gulf is the story</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التقرير المُشرَّح — الخليج هو القصة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104</a:t>
            </a:r>
            <a:endParaRPr lang="en-US" sz="8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236622"/>
                <a:gridCol w="2236622"/>
                <a:gridCol w="2236622"/>
                <a:gridCol w="2236622"/>
                <a:gridCol w="2236622"/>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Slice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macro-F1</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95% CI</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Flag</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ALL</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2400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0.820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[0.803, 0.836]</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lang=ar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1610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0.801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[0.780, 0.821]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lang=en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790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0.856</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[0.831, 0.879]</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dialect_region=Gulf</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882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0.762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[0.729, 0.793]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the story</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dialect_region=MSA</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728</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0.844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[0.815, 0.870]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length_bucket=short(&lt;16w)</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693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0.771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[0.735, 0.804]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Generated, not written: sliced_report() in src/bayan/eval_report.py runs one function over every model and every slice; slices under n=50 get flagged, not trusted.</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Bootstrap CIs: the end of '+0.8'</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فترات الثقة بإعادة المعاينة: نهاية الفروق الوهمية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105</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A 95% CI in eight lines of NumPy — no distributional assumptions, works for any metric including seqeval F1 and MRR.</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src/bayan/eval_stats.py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bootstrap_ci(y_true, y_pred, metric_fn, n_boot=1000, alpha=0.05, seed=42):</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rng = np.random.default_rng(seed)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n, stats = len(y_true), []</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for _ in range(n_boot):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idx = rng.integers(0, n, n)                # resample WITH replacement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stats.append(metric_fn(y_true[idx], y_pred[idx]))</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lo, hi = np.percentile(stats, [100 * alpha / 2, 100 * (1 - alpha / 2)])</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return float(np.mean(stats)), float(lo), float(hi)</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paired_bootstrap_diff(y_true, pred_a, pred_b, metric_fn,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n_boot=1000, seed=42):</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"""Difference CI on the SAME resamples: is B actually better than A?"""</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rng = np.random.default_rng(seed)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n, diffs = len(y_true), []</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for _ in range(n_boot):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idx = rng.integers(0, n, 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diffs.append(metric_fn(y_true[idx], pred_b[idx])</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 metric_fn(y_true[idx], pred_a[idx]))</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lo, hi = np.percentile(diffs, [2.5, 97.5])</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return {"diff_mean": float(np.mean(diffs)), "ci": (float(lo), float(hi)),</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"significant": not (lo &lt;= 0 &lt;= hi)}</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Paired difference</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Bootstrap the difference on the SAME resamples; if the CI contains zero, you have a coin flip wearing a decimal point</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Rules of thumb</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1,200 test examples ≈ ±2 F1 points of CI; slices inherit WIDER intervals; a delta under the half-width is a hypothesis, not a claim</a:t>
            </a:r>
            <a:endParaRPr lang="en-US" sz="9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Behavioural tests: probing what metrics miss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اختبارات سلوكية: فحص ما تغفله المقاييس</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106</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Unit tests for language behaviour — invariance and directional probes the aggregate metric can't see. CI-enforced, tracked per model version.</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tests/test_behavioural.py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NEIGHBOURHOODS = ["النرجس", "العليا", "الروضة", "السلامة"]   # swap-invariant</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@pytest.mark.parametrize("hood", NEIGHBOURHOODS)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test_topic_invariant_to_location(hood):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text = f"انقطعت الكهرباء في حي {hood} منذ ثلاث ساعات"</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assert classify_topic(text) == "outage"        # location must not matter</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test_sentiment_invariant_to_greeting():</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base = "الخدمة تأخرت كثيرا ولم يرد أحد على طلبي"</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assert (classify_sentiment("السلام عليكم، " + base)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 classify_sentiment(base))           # politeness != positivity</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test_sentiment_directional_negation():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resolved = "تم حل المشكلة وأشكركم على سرعة الاستجابة"</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unresolved = "لم يتم حل المشكلة رغم مرور أسبوعين"</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order = ["negative", "neutral", "positive"]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assert order.index(classify_sentiment(unresolved)) \</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&lt; order.index(classify_sentiment(resolved))    # negation must bite</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Invariance</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Prediction must NOT change when meaning doesn't: neighbourhood swap, greeting prefix, name replacement, tatweel elongation</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Directional + MFT</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Negating the resolution must not improve sentiment; every service name in the 41-entry registry must be extractable as SERVICE</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Error analysis: from failure pile to fix list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تحليل الأخطاء: من كومة الفشل إلى قائمة إصلاح</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107</a:t>
            </a:r>
            <a:endParaRPr lang="en-US" sz="800" dirty="0"/>
          </a:p>
        </p:txBody>
      </p:sp>
      <p:sp>
        <p:nvSpPr>
          <p:cNvPr id="8" name="Shape 5"/>
          <p:cNvSpPr/>
          <p:nvPr/>
        </p:nvSpPr>
        <p:spPr>
          <a:xfrm>
            <a:off x="502920" y="1965960"/>
            <a:ext cx="1929384" cy="2377440"/>
          </a:xfrm>
          <a:prstGeom prst="roundRect">
            <a:avLst>
              <a:gd name="adj" fmla="val 2844"/>
            </a:avLst>
          </a:prstGeom>
          <a:solidFill>
            <a:srgbClr val="F2F6F8"/>
          </a:solidFill>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COLLECT</a:t>
            </a:r>
            <a:endParaRPr lang="en-US" sz="1000" dirty="0"/>
          </a:p>
        </p:txBody>
      </p:sp>
      <p:sp>
        <p:nvSpPr>
          <p:cNvPr id="11" name="Text 8"/>
          <p:cNvSpPr/>
          <p:nvPr/>
        </p:nvSpPr>
        <p:spPr>
          <a:xfrm>
            <a:off x="640080"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Every val error</a:t>
            </a:r>
            <a:endParaRPr lang="en-US" sz="1500" dirty="0"/>
          </a:p>
        </p:txBody>
      </p:sp>
      <p:sp>
        <p:nvSpPr>
          <p:cNvPr id="12" name="Text 9"/>
          <p:cNvSpPr/>
          <p:nvPr/>
        </p:nvSpPr>
        <p:spPr>
          <a:xfrm>
            <a:off x="640080"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Validation errors + behavioural failures — never the frozen test set; analysis is tuning</a:t>
            </a:r>
            <a:endParaRPr lang="en-US" sz="10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2844"/>
            </a:avLst>
          </a:prstGeom>
          <a:solidFill>
            <a:srgbClr val="F2F6F8"/>
          </a:solidFill>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lIns="0" tIns="0" rIns="0" bIns="0" rtlCol="0" anchor="ctr"/>
          <a:lstStyle/>
          <a:p>
            <a:pPr indent="0" marL="0">
              <a:buNone/>
            </a:pPr>
            <a:r>
              <a:rPr lang="en-US" sz="1000" b="1" spc="150" kern="0" dirty="0">
                <a:solidFill>
                  <a:srgbClr val="29ABE2"/>
                </a:solidFill>
                <a:latin typeface="Calibri" pitchFamily="34" charset="0"/>
                <a:ea typeface="Calibri" pitchFamily="34" charset="-122"/>
                <a:cs typeface="Calibri" pitchFamily="34" charset="-120"/>
              </a:rPr>
              <a:t>READ</a:t>
            </a:r>
            <a:endParaRPr lang="en-US" sz="1000" dirty="0"/>
          </a:p>
        </p:txBody>
      </p:sp>
      <p:sp>
        <p:nvSpPr>
          <p:cNvPr id="17" name="Text 14"/>
          <p:cNvSpPr/>
          <p:nvPr/>
        </p:nvSpPr>
        <p:spPr>
          <a:xfrm>
            <a:off x="2953512"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120 by hand</a:t>
            </a:r>
            <a:endParaRPr lang="en-US" sz="1500" dirty="0"/>
          </a:p>
        </p:txBody>
      </p:sp>
      <p:sp>
        <p:nvSpPr>
          <p:cNvPr id="18" name="Text 15"/>
          <p:cNvSpPr/>
          <p:nvPr/>
        </p:nvSpPr>
        <p:spPr>
          <a:xfrm>
            <a:off x="2953512"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step everyone wants to skip and the step that finds everything — in pairs, aloud</a:t>
            </a:r>
            <a:endParaRPr lang="en-US" sz="10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2844"/>
            </a:avLst>
          </a:prstGeom>
          <a:solidFill>
            <a:srgbClr val="F2F6F8"/>
          </a:solidFill>
          <a:ln/>
        </p:spPr>
      </p:sp>
      <p:sp>
        <p:nvSpPr>
          <p:cNvPr id="21" name="Shape 18"/>
          <p:cNvSpPr/>
          <p:nvPr/>
        </p:nvSpPr>
        <p:spPr>
          <a:xfrm>
            <a:off x="5129784" y="1965960"/>
            <a:ext cx="1929384" cy="82296"/>
          </a:xfrm>
          <a:prstGeom prst="rect">
            <a:avLst/>
          </a:prstGeom>
          <a:solidFill>
            <a:srgbClr val="F7941D"/>
          </a:solidFill>
          <a:ln/>
        </p:spPr>
      </p:sp>
      <p:sp>
        <p:nvSpPr>
          <p:cNvPr id="22" name="Text 19"/>
          <p:cNvSpPr/>
          <p:nvPr/>
        </p:nvSpPr>
        <p:spPr>
          <a:xfrm>
            <a:off x="5266944" y="2148840"/>
            <a:ext cx="1655064" cy="237744"/>
          </a:xfrm>
          <a:prstGeom prst="rect">
            <a:avLst/>
          </a:prstGeom>
          <a:noFill/>
          <a:ln/>
        </p:spPr>
        <p:txBody>
          <a:bodyPr wrap="square" lIns="0" tIns="0" rIns="0" bIns="0" rtlCol="0" anchor="ctr"/>
          <a:lstStyle/>
          <a:p>
            <a:pPr indent="0" marL="0">
              <a:buNone/>
            </a:pPr>
            <a:r>
              <a:rPr lang="en-US" sz="1000" b="1" spc="150" kern="0" dirty="0">
                <a:solidFill>
                  <a:srgbClr val="F7941D"/>
                </a:solidFill>
                <a:latin typeface="Calibri" pitchFamily="34" charset="0"/>
                <a:ea typeface="Calibri" pitchFamily="34" charset="-122"/>
                <a:cs typeface="Calibri" pitchFamily="34" charset="-120"/>
              </a:rPr>
              <a:t>COUNT</a:t>
            </a:r>
            <a:endParaRPr lang="en-US" sz="1000" dirty="0"/>
          </a:p>
        </p:txBody>
      </p:sp>
      <p:sp>
        <p:nvSpPr>
          <p:cNvPr id="23" name="Text 20"/>
          <p:cNvSpPr/>
          <p:nvPr/>
        </p:nvSpPr>
        <p:spPr>
          <a:xfrm>
            <a:off x="5266944"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Taxonomy histogram</a:t>
            </a:r>
            <a:endParaRPr lang="en-US" sz="1500" dirty="0"/>
          </a:p>
        </p:txBody>
      </p:sp>
      <p:sp>
        <p:nvSpPr>
          <p:cNvPr id="24" name="Text 21"/>
          <p:cNvSpPr/>
          <p:nvPr/>
        </p:nvSpPr>
        <p:spPr>
          <a:xfrm>
            <a:off x="5266944"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Bayan: label noise 23%, billing↔digital_services 19%, dialect-gap 17% — clustered in short messages</a:t>
            </a:r>
            <a:endParaRPr lang="en-US" sz="10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2844"/>
            </a:avLst>
          </a:prstGeom>
          <a:solidFill>
            <a:srgbClr val="F2F6F8"/>
          </a:solidFill>
          <a:ln/>
        </p:spPr>
      </p:sp>
      <p:sp>
        <p:nvSpPr>
          <p:cNvPr id="27" name="Shape 24"/>
          <p:cNvSpPr/>
          <p:nvPr/>
        </p:nvSpPr>
        <p:spPr>
          <a:xfrm>
            <a:off x="7443216" y="1965960"/>
            <a:ext cx="1929384" cy="82296"/>
          </a:xfrm>
          <a:prstGeom prst="rect">
            <a:avLst/>
          </a:prstGeom>
          <a:solidFill>
            <a:srgbClr val="8CC63F"/>
          </a:solidFill>
          <a:ln/>
        </p:spPr>
      </p:sp>
      <p:sp>
        <p:nvSpPr>
          <p:cNvPr id="28" name="Text 25"/>
          <p:cNvSpPr/>
          <p:nvPr/>
        </p:nvSpPr>
        <p:spPr>
          <a:xfrm>
            <a:off x="7580376" y="2148840"/>
            <a:ext cx="1655064" cy="237744"/>
          </a:xfrm>
          <a:prstGeom prst="rect">
            <a:avLst/>
          </a:prstGeom>
          <a:noFill/>
          <a:ln/>
        </p:spPr>
        <p:txBody>
          <a:bodyPr wrap="square" lIns="0" tIns="0" rIns="0" bIns="0" rtlCol="0" anchor="ctr"/>
          <a:lstStyle/>
          <a:p>
            <a:pPr indent="0" marL="0">
              <a:buNone/>
            </a:pPr>
            <a:r>
              <a:rPr lang="en-US" sz="1000" b="1" spc="150" kern="0" dirty="0">
                <a:solidFill>
                  <a:srgbClr val="8CC63F"/>
                </a:solidFill>
                <a:latin typeface="Calibri" pitchFamily="34" charset="0"/>
                <a:ea typeface="Calibri" pitchFamily="34" charset="-122"/>
                <a:cs typeface="Calibri" pitchFamily="34" charset="-120"/>
              </a:rPr>
              <a:t>COST</a:t>
            </a:r>
            <a:endParaRPr lang="en-US" sz="1000" dirty="0"/>
          </a:p>
        </p:txBody>
      </p:sp>
      <p:sp>
        <p:nvSpPr>
          <p:cNvPr id="29" name="Text 26"/>
          <p:cNvSpPr/>
          <p:nvPr/>
        </p:nvSpPr>
        <p:spPr>
          <a:xfrm>
            <a:off x="7580376"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Fixes as bets</a:t>
            </a:r>
            <a:endParaRPr lang="en-US" sz="1500" dirty="0"/>
          </a:p>
        </p:txBody>
      </p:sp>
      <p:sp>
        <p:nvSpPr>
          <p:cNvPr id="30" name="Text 27"/>
          <p:cNvSpPr/>
          <p:nvPr/>
        </p:nvSpPr>
        <p:spPr>
          <a:xfrm>
            <a:off x="7580376"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Relabel, merge confusable classes, dialect data, truncation policy — each with a predicted metric delta</a:t>
            </a:r>
            <a:endParaRPr lang="en-US" sz="10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2844"/>
            </a:avLst>
          </a:prstGeom>
          <a:solidFill>
            <a:srgbClr val="F2F6F8"/>
          </a:solidFill>
          <a:ln/>
        </p:spPr>
      </p:sp>
      <p:sp>
        <p:nvSpPr>
          <p:cNvPr id="33" name="Shape 30"/>
          <p:cNvSpPr/>
          <p:nvPr/>
        </p:nvSpPr>
        <p:spPr>
          <a:xfrm>
            <a:off x="9756648" y="1965960"/>
            <a:ext cx="1929384" cy="82296"/>
          </a:xfrm>
          <a:prstGeom prst="rect">
            <a:avLst/>
          </a:prstGeom>
          <a:solidFill>
            <a:srgbClr val="00A79D"/>
          </a:solidFill>
          <a:ln/>
        </p:spPr>
      </p:sp>
      <p:sp>
        <p:nvSpPr>
          <p:cNvPr id="34" name="Text 31"/>
          <p:cNvSpPr/>
          <p:nvPr/>
        </p:nvSpPr>
        <p:spPr>
          <a:xfrm>
            <a:off x="9893808"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REGRESS</a:t>
            </a:r>
            <a:endParaRPr lang="en-US" sz="1000" dirty="0"/>
          </a:p>
        </p:txBody>
      </p:sp>
      <p:sp>
        <p:nvSpPr>
          <p:cNvPr id="35" name="Text 32"/>
          <p:cNvSpPr/>
          <p:nvPr/>
        </p:nvSpPr>
        <p:spPr>
          <a:xfrm>
            <a:off x="9893808"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Tests forever</a:t>
            </a:r>
            <a:endParaRPr lang="en-US" sz="1500" dirty="0"/>
          </a:p>
        </p:txBody>
      </p:sp>
      <p:sp>
        <p:nvSpPr>
          <p:cNvPr id="36" name="Text 33"/>
          <p:cNvSpPr/>
          <p:nvPr/>
        </p:nvSpPr>
        <p:spPr>
          <a:xfrm>
            <a:off x="9893808"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Every diagnosed class becomes a behavioural test or golden case — the same failure can't ship twice</a:t>
            </a:r>
            <a:endParaRPr lang="en-US" sz="1050" dirty="0"/>
          </a:p>
        </p:txBody>
      </p:sp>
      <p:sp>
        <p:nvSpPr>
          <p:cNvPr id="37" name="Shape 34"/>
          <p:cNvSpPr/>
          <p:nvPr/>
        </p:nvSpPr>
        <p:spPr>
          <a:xfrm>
            <a:off x="502920" y="4892040"/>
            <a:ext cx="11183112" cy="1051560"/>
          </a:xfrm>
          <a:prstGeom prst="roundRect">
            <a:avLst>
              <a:gd name="adj" fmla="val 6957"/>
            </a:avLst>
          </a:prstGeom>
          <a:solidFill>
            <a:srgbClr val="E6F5F4"/>
          </a:solidFill>
          <a:ln/>
        </p:spPr>
      </p:sp>
      <p:sp>
        <p:nvSpPr>
          <p:cNvPr id="38" name="Text 35"/>
          <p:cNvSpPr/>
          <p:nvPr/>
        </p:nvSpPr>
        <p:spPr>
          <a:xfrm>
            <a:off x="731520" y="4892040"/>
            <a:ext cx="10789920" cy="105156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200" dirty="0">
                <a:solidFill>
                  <a:srgbClr val="2B2B2B"/>
                </a:solidFill>
                <a:latin typeface="Calibri" pitchFamily="34" charset="0"/>
                <a:ea typeface="Calibri" pitchFamily="34" charset="-122"/>
                <a:cs typeface="Calibri" pitchFamily="34" charset="-120"/>
              </a:rPr>
              <a:t>Top confusion: billing → digital_services (both mention fees/رسوم) — the Lab 3 prediction market pays out here. Settle the bets publicly against the confusion matrix.</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confidence intervals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فترات الثقة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108</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Q4</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Your improvement is +0.9 F1 and the paired-bootstrap CI is [-0.2, +2.0]. What do you say in review?</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Ship it — the point estimate is positive</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Not yet a claim: the interval contains zero — gather more data or accept it</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Rerun with different seeds until the result is significant</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Drop the CI and report the aggregate only</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Any claimed improvement smaller than the CI half-width is not yet a claim — it is a hypothesis needing more data.</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6 — The evaluation report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6 — تقرير التقييم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109</a:t>
            </a:r>
            <a:endParaRPr lang="en-US" sz="800" dirty="0"/>
          </a:p>
        </p:txBody>
      </p:sp>
      <p:sp>
        <p:nvSpPr>
          <p:cNvPr id="8" name="Shape 5"/>
          <p:cNvSpPr/>
          <p:nvPr/>
        </p:nvSpPr>
        <p:spPr>
          <a:xfrm>
            <a:off x="502920" y="1463040"/>
            <a:ext cx="11183112" cy="548640"/>
          </a:xfrm>
          <a:prstGeom prst="roundRect">
            <a:avLst>
              <a:gd name="adj" fmla="val 13333"/>
            </a:avLst>
          </a:prstGeom>
          <a:solidFill>
            <a:srgbClr val="1D2A5C"/>
          </a:solidFill>
          <a:ln/>
        </p:spPr>
      </p:sp>
      <p:sp>
        <p:nvSpPr>
          <p:cNvPr id="9" name="Text 6"/>
          <p:cNvSpPr/>
          <p:nvPr/>
        </p:nvSpPr>
        <p:spPr>
          <a:xfrm>
            <a:off x="685800" y="1463040"/>
            <a:ext cx="8961120" cy="548640"/>
          </a:xfrm>
          <a:prstGeom prst="rect">
            <a:avLst/>
          </a:prstGeom>
          <a:noFill/>
          <a:ln/>
        </p:spPr>
        <p:txBody>
          <a:bodyPr wrap="square" lIns="0" tIns="0" rIns="0" bIns="0" rtlCol="0" anchor="ctr"/>
          <a:lstStyle/>
          <a:p>
            <a:pPr indent="0" marL="0">
              <a:buNone/>
            </a:pPr>
            <a:r>
              <a:rPr lang="en-US" sz="1300" b="1" dirty="0">
                <a:solidFill>
                  <a:srgbClr val="F7941D"/>
                </a:solidFill>
                <a:latin typeface="Calibri" pitchFamily="34" charset="0"/>
                <a:ea typeface="Calibri" pitchFamily="34" charset="-122"/>
                <a:cs typeface="Calibri" pitchFamily="34" charset="-120"/>
              </a:rPr>
              <a:t>  HANDS-ON LAB 6   </a:t>
            </a:r>
            <a:pPr indent="0" marL="0">
              <a:buNone/>
            </a:pPr>
            <a:r>
              <a:rPr lang="en-US" sz="1400" b="1" dirty="0">
                <a:solidFill>
                  <a:srgbClr val="FFFFFF"/>
                </a:solidFill>
                <a:latin typeface="Calibri" pitchFamily="34" charset="0"/>
                <a:ea typeface="Calibri" pitchFamily="34" charset="-122"/>
                <a:cs typeface="Calibri" pitchFamily="34" charset="-120"/>
              </a:rPr>
              <a:t>The Evaluation Report</a:t>
            </a:r>
            <a:endParaRPr lang="en-US" sz="1300" dirty="0"/>
          </a:p>
        </p:txBody>
      </p:sp>
      <p:sp>
        <p:nvSpPr>
          <p:cNvPr id="10" name="Text 7"/>
          <p:cNvSpPr/>
          <p:nvPr/>
        </p:nvSpPr>
        <p:spPr>
          <a:xfrm>
            <a:off x="9692640" y="1463040"/>
            <a:ext cx="1828800" cy="548640"/>
          </a:xfrm>
          <a:prstGeom prst="rect">
            <a:avLst/>
          </a:prstGeom>
          <a:noFill/>
          <a:ln/>
        </p:spPr>
        <p:txBody>
          <a:bodyPr wrap="square" lIns="0" tIns="0" rIns="0" bIns="0" rtlCol="0" anchor="ctr"/>
          <a:lstStyle/>
          <a:p>
            <a:pPr algn="r" indent="0" marL="0">
              <a:buNone/>
            </a:pPr>
            <a:r>
              <a:rPr lang="en-US" sz="1200" b="1" dirty="0">
                <a:solidFill>
                  <a:srgbClr val="00A79D"/>
                </a:solidFill>
                <a:latin typeface="Calibri" pitchFamily="34" charset="0"/>
                <a:ea typeface="Calibri" pitchFamily="34" charset="-122"/>
                <a:cs typeface="Calibri" pitchFamily="34" charset="-120"/>
              </a:rPr>
              <a:t>50 min</a:t>
            </a:r>
            <a:endParaRPr lang="en-US" sz="1200" dirty="0"/>
          </a:p>
        </p:txBody>
      </p:sp>
      <p:sp>
        <p:nvSpPr>
          <p:cNvPr id="11" name="Text 8"/>
          <p:cNvSpPr/>
          <p:nvPr/>
        </p:nvSpPr>
        <p:spPr>
          <a:xfrm>
            <a:off x="502920" y="2240280"/>
            <a:ext cx="6903720" cy="256032"/>
          </a:xfrm>
          <a:prstGeom prst="rect">
            <a:avLst/>
          </a:prstGeom>
          <a:noFill/>
          <a:ln/>
        </p:spPr>
        <p:txBody>
          <a:bodyPr wrap="square" lIns="0" tIns="0" rIns="0" bIns="0" rtlCol="0" anchor="ctr"/>
          <a:lstStyle/>
          <a:p>
            <a:pPr indent="0" marL="0">
              <a:buNone/>
            </a:pPr>
            <a:r>
              <a:rPr lang="en-US" sz="1050" b="1" spc="150" kern="0" dirty="0">
                <a:solidFill>
                  <a:srgbClr val="00A79D"/>
                </a:solidFill>
                <a:latin typeface="Calibri" pitchFamily="34" charset="0"/>
                <a:ea typeface="Calibri" pitchFamily="34" charset="-122"/>
                <a:cs typeface="Calibri" pitchFamily="34" charset="-120"/>
              </a:rPr>
              <a:t>TASKS</a:t>
            </a:r>
            <a:endParaRPr lang="en-US" sz="1050" dirty="0"/>
          </a:p>
        </p:txBody>
      </p:sp>
      <p:sp>
        <p:nvSpPr>
          <p:cNvPr id="12" name="Shape 9"/>
          <p:cNvSpPr/>
          <p:nvPr/>
        </p:nvSpPr>
        <p:spPr>
          <a:xfrm>
            <a:off x="502920" y="2578608"/>
            <a:ext cx="274320" cy="274320"/>
          </a:xfrm>
          <a:prstGeom prst="ellipse">
            <a:avLst/>
          </a:prstGeom>
          <a:solidFill>
            <a:srgbClr val="00A79D"/>
          </a:solidFill>
          <a:ln/>
        </p:spPr>
      </p:sp>
      <p:sp>
        <p:nvSpPr>
          <p:cNvPr id="13" name="Text 10"/>
          <p:cNvSpPr/>
          <p:nvPr/>
        </p:nvSpPr>
        <p:spPr>
          <a:xfrm>
            <a:off x="50292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p:nvPr/>
        </p:nvSpPr>
        <p:spPr>
          <a:xfrm>
            <a:off x="914400" y="2551176"/>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Implement bootstrap_ci and paired_bootstrap_diff; settle 0.820 vs 0.828 — improvement or noise?</a:t>
            </a:r>
            <a:endParaRPr lang="en-US" sz="1100" dirty="0"/>
          </a:p>
        </p:txBody>
      </p:sp>
      <p:sp>
        <p:nvSpPr>
          <p:cNvPr id="15" name="Shape 12"/>
          <p:cNvSpPr/>
          <p:nvPr/>
        </p:nvSpPr>
        <p:spPr>
          <a:xfrm>
            <a:off x="502920" y="3236976"/>
            <a:ext cx="274320" cy="274320"/>
          </a:xfrm>
          <a:prstGeom prst="ellipse">
            <a:avLst/>
          </a:prstGeom>
          <a:solidFill>
            <a:srgbClr val="00A79D"/>
          </a:solidFill>
          <a:ln/>
        </p:spPr>
      </p:sp>
      <p:sp>
        <p:nvSpPr>
          <p:cNvPr id="16" name="Text 13"/>
          <p:cNvSpPr/>
          <p:nvPr/>
        </p:nvSpPr>
        <p:spPr>
          <a:xfrm>
            <a:off x="50292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4"/>
          <p:cNvSpPr/>
          <p:nvPr/>
        </p:nvSpPr>
        <p:spPr>
          <a:xfrm>
            <a:off x="914400" y="3209544"/>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Run sliced_report on both classifiers; write the two-sentence headline a manager would read</a:t>
            </a:r>
            <a:endParaRPr lang="en-US" sz="1100" dirty="0"/>
          </a:p>
        </p:txBody>
      </p:sp>
      <p:sp>
        <p:nvSpPr>
          <p:cNvPr id="18" name="Shape 15"/>
          <p:cNvSpPr/>
          <p:nvPr/>
        </p:nvSpPr>
        <p:spPr>
          <a:xfrm>
            <a:off x="502920" y="3895344"/>
            <a:ext cx="274320" cy="274320"/>
          </a:xfrm>
          <a:prstGeom prst="ellipse">
            <a:avLst/>
          </a:prstGeom>
          <a:solidFill>
            <a:srgbClr val="00A79D"/>
          </a:solidFill>
          <a:ln/>
        </p:spPr>
      </p:sp>
      <p:sp>
        <p:nvSpPr>
          <p:cNvPr id="19" name="Text 16"/>
          <p:cNvSpPr/>
          <p:nvPr/>
        </p:nvSpPr>
        <p:spPr>
          <a:xfrm>
            <a:off x="50292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914400" y="3867912"/>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Complete the four behavioural-test skeletons; record failure rates per test type in BENCHMARKS.md</a:t>
            </a:r>
            <a:endParaRPr lang="en-US" sz="1100" dirty="0"/>
          </a:p>
        </p:txBody>
      </p:sp>
      <p:sp>
        <p:nvSpPr>
          <p:cNvPr id="21" name="Shape 18"/>
          <p:cNvSpPr/>
          <p:nvPr/>
        </p:nvSpPr>
        <p:spPr>
          <a:xfrm>
            <a:off x="502920" y="4553712"/>
            <a:ext cx="274320" cy="274320"/>
          </a:xfrm>
          <a:prstGeom prst="ellipse">
            <a:avLst/>
          </a:prstGeom>
          <a:solidFill>
            <a:srgbClr val="00A79D"/>
          </a:solidFill>
          <a:ln/>
        </p:spPr>
      </p:sp>
      <p:sp>
        <p:nvSpPr>
          <p:cNvPr id="22" name="Text 19"/>
          <p:cNvSpPr/>
          <p:nvPr/>
        </p:nvSpPr>
        <p:spPr>
          <a:xfrm>
            <a:off x="502920" y="45537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0"/>
          <p:cNvSpPr/>
          <p:nvPr/>
        </p:nvSpPr>
        <p:spPr>
          <a:xfrm>
            <a:off x="914400" y="4526280"/>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Hand-read 120 sampled errors in pairs; tag the taxonomy; top-3 fixes with predicted metric deltas</a:t>
            </a:r>
            <a:endParaRPr lang="en-US" sz="1100" dirty="0"/>
          </a:p>
        </p:txBody>
      </p:sp>
      <p:sp>
        <p:nvSpPr>
          <p:cNvPr id="24" name="Shape 21"/>
          <p:cNvSpPr/>
          <p:nvPr/>
        </p:nvSpPr>
        <p:spPr>
          <a:xfrm>
            <a:off x="502920" y="5212080"/>
            <a:ext cx="274320" cy="274320"/>
          </a:xfrm>
          <a:prstGeom prst="ellipse">
            <a:avLst/>
          </a:prstGeom>
          <a:solidFill>
            <a:srgbClr val="00A79D"/>
          </a:solidFill>
          <a:ln/>
        </p:spPr>
      </p:sp>
      <p:sp>
        <p:nvSpPr>
          <p:cNvPr id="25" name="Text 22"/>
          <p:cNvSpPr/>
          <p:nvPr/>
        </p:nvSpPr>
        <p:spPr>
          <a:xfrm>
            <a:off x="502920" y="5212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p:nvPr/>
        </p:nvSpPr>
        <p:spPr>
          <a:xfrm>
            <a:off x="914400" y="5184648"/>
            <a:ext cx="6492240" cy="658368"/>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Generate model cards from model_card.md.j2; write the known limitations by hand; commit</a:t>
            </a:r>
            <a:endParaRPr lang="en-US" sz="1100" dirty="0"/>
          </a:p>
        </p:txBody>
      </p:sp>
      <p:sp>
        <p:nvSpPr>
          <p:cNvPr id="27" name="Shape 24"/>
          <p:cNvSpPr/>
          <p:nvPr/>
        </p:nvSpPr>
        <p:spPr>
          <a:xfrm>
            <a:off x="7635240" y="2240280"/>
            <a:ext cx="4050792" cy="1264920"/>
          </a:xfrm>
          <a:prstGeom prst="roundRect">
            <a:avLst>
              <a:gd name="adj" fmla="val 4337"/>
            </a:avLst>
          </a:prstGeom>
          <a:solidFill>
            <a:srgbClr val="E6F5F4"/>
          </a:solidFill>
          <a:ln w="9525">
            <a:solidFill>
              <a:srgbClr val="00A79D"/>
            </a:solidFill>
            <a:prstDash val="solid"/>
          </a:ln>
        </p:spPr>
      </p:sp>
      <p:sp>
        <p:nvSpPr>
          <p:cNvPr id="28" name="Text 25"/>
          <p:cNvSpPr/>
          <p:nvPr/>
        </p:nvSpPr>
        <p:spPr>
          <a:xfrm>
            <a:off x="7799832" y="2322576"/>
            <a:ext cx="3721608"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OBJECTIVE</a:t>
            </a:r>
            <a:endParaRPr lang="en-US" sz="950" dirty="0"/>
          </a:p>
        </p:txBody>
      </p:sp>
      <p:sp>
        <p:nvSpPr>
          <p:cNvPr id="29" name="Text 26"/>
          <p:cNvSpPr/>
          <p:nvPr/>
        </p:nvSpPr>
        <p:spPr>
          <a:xfrm>
            <a:off x="7799832" y="25786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The honest report card for every Bayan model: sliced metrics with bootstrap CIs, behavioural-test rates, error taxonomy with prioritised fixes, and a model card per artefact</a:t>
            </a:r>
            <a:endParaRPr lang="en-US" sz="1000" dirty="0"/>
          </a:p>
        </p:txBody>
      </p:sp>
      <p:sp>
        <p:nvSpPr>
          <p:cNvPr id="30" name="Shape 27"/>
          <p:cNvSpPr/>
          <p:nvPr/>
        </p:nvSpPr>
        <p:spPr>
          <a:xfrm>
            <a:off x="7635240" y="3688080"/>
            <a:ext cx="4050792" cy="1264920"/>
          </a:xfrm>
          <a:prstGeom prst="roundRect">
            <a:avLst>
              <a:gd name="adj" fmla="val 4337"/>
            </a:avLst>
          </a:prstGeom>
          <a:solidFill>
            <a:srgbClr val="FEF3E3"/>
          </a:solidFill>
          <a:ln w="9525">
            <a:solidFill>
              <a:srgbClr val="F7941D"/>
            </a:solidFill>
            <a:prstDash val="solid"/>
          </a:ln>
        </p:spPr>
      </p:sp>
      <p:sp>
        <p:nvSpPr>
          <p:cNvPr id="31" name="Text 28"/>
          <p:cNvSpPr/>
          <p:nvPr/>
        </p:nvSpPr>
        <p:spPr>
          <a:xfrm>
            <a:off x="7799832" y="3770376"/>
            <a:ext cx="3721608"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DELIVERABLE</a:t>
            </a:r>
            <a:endParaRPr lang="en-US" sz="950" dirty="0"/>
          </a:p>
        </p:txBody>
      </p:sp>
      <p:sp>
        <p:nvSpPr>
          <p:cNvPr id="32" name="Text 29"/>
          <p:cNvSpPr/>
          <p:nvPr/>
        </p:nvSpPr>
        <p:spPr>
          <a:xfrm>
            <a:off x="7799832" y="40264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Evaluation report, behavioural suite and 3 model cards in the repo — the capstone's evaluation chapter is this lab's output, extended</a:t>
            </a:r>
            <a:endParaRPr lang="en-US" sz="1000" dirty="0"/>
          </a:p>
        </p:txBody>
      </p:sp>
      <p:sp>
        <p:nvSpPr>
          <p:cNvPr id="33" name="Shape 30"/>
          <p:cNvSpPr/>
          <p:nvPr/>
        </p:nvSpPr>
        <p:spPr>
          <a:xfrm>
            <a:off x="7635240" y="5135880"/>
            <a:ext cx="4050792" cy="1264920"/>
          </a:xfrm>
          <a:prstGeom prst="roundRect">
            <a:avLst>
              <a:gd name="adj" fmla="val 4337"/>
            </a:avLst>
          </a:prstGeom>
          <a:solidFill>
            <a:srgbClr val="EAF6FC"/>
          </a:solidFill>
          <a:ln w="9525">
            <a:solidFill>
              <a:srgbClr val="29ABE2"/>
            </a:solidFill>
            <a:prstDash val="solid"/>
          </a:ln>
        </p:spPr>
      </p:sp>
      <p:sp>
        <p:nvSpPr>
          <p:cNvPr id="34" name="Text 31"/>
          <p:cNvSpPr/>
          <p:nvPr/>
        </p:nvSpPr>
        <p:spPr>
          <a:xfrm>
            <a:off x="7799832" y="5218176"/>
            <a:ext cx="3721608"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WATCH FOR</a:t>
            </a:r>
            <a:endParaRPr lang="en-US" sz="950" dirty="0"/>
          </a:p>
        </p:txBody>
      </p:sp>
      <p:sp>
        <p:nvSpPr>
          <p:cNvPr id="35" name="Text 32"/>
          <p:cNvSpPr/>
          <p:nvPr/>
        </p:nvSpPr>
        <p:spPr>
          <a:xfrm>
            <a:off x="7799832" y="54742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A wide CI on a slice with n &lt; 50 IS the finding — flag it · Behavioural tests all passing? Check for the mock stub · Significance ≠ importance — report CI and switching cost</a:t>
            </a:r>
            <a:endParaRPr lang="en-US" sz="1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Mix vs DA — answered with intervals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mix مقابل DA — إجابة بفترات ثقة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110</a:t>
            </a:r>
            <a:endParaRPr lang="en-US" sz="8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236622"/>
                <a:gridCol w="2236622"/>
                <a:gridCol w="2236622"/>
                <a:gridCol w="2236622"/>
                <a:gridCol w="2236622"/>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Aggregate macro-F1 [CI]</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Gulf slice [CI]</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Invariance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Negation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Topic classifier (M3, mix)</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0.820 [0.803, 0.836]</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0.762 [0.729, 0.793]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96%</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84%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Dialect-aware (M4, DA)</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0.834 [0.818, 0.850]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0.809 [0.778, 0.838]</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97%</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91%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Paired diff (DA − mix)</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+0.014 [+0.004, +0.025] ✓</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+0.047 [+0.028, +0.066] ✓</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Both difference CIs exclude zero: the dialect-aware model's win is real — modest in aggregate, large exactly where the traffic lives. The M4 board question, closed.</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Procurement bake-off, health call centre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مفاضلة مشتريات في مركز اتصال صحي</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111</a:t>
            </a:r>
            <a:endParaRPr lang="en-US" sz="800" dirty="0"/>
          </a:p>
        </p:txBody>
      </p:sp>
      <p:sp>
        <p:nvSpPr>
          <p:cNvPr id="8" name="Shape 5"/>
          <p:cNvSpPr/>
          <p:nvPr/>
        </p:nvSpPr>
        <p:spPr>
          <a:xfrm>
            <a:off x="502920" y="1444752"/>
            <a:ext cx="1042416" cy="329184"/>
          </a:xfrm>
          <a:prstGeom prst="roundRect">
            <a:avLst>
              <a:gd name="adj" fmla="val 22222"/>
            </a:avLst>
          </a:prstGeom>
          <a:solidFill>
            <a:srgbClr val="1D2A5C"/>
          </a:solidFill>
          <a:ln/>
        </p:spPr>
      </p:sp>
      <p:sp>
        <p:nvSpPr>
          <p:cNvPr id="9" name="Text 6"/>
          <p:cNvSpPr/>
          <p:nvPr/>
        </p:nvSpPr>
        <p:spPr>
          <a:xfrm>
            <a:off x="502920" y="1444752"/>
            <a:ext cx="104241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CASE STUDY</a:t>
            </a:r>
            <a:endParaRPr lang="en-US" sz="1050" dirty="0"/>
          </a:p>
        </p:txBody>
      </p:sp>
      <p:sp>
        <p:nvSpPr>
          <p:cNvPr id="10" name="Text 7"/>
          <p:cNvSpPr/>
          <p:nvPr/>
        </p:nvSpPr>
        <p:spPr>
          <a:xfrm>
            <a:off x="2148840" y="1444752"/>
            <a:ext cx="9509760" cy="329184"/>
          </a:xfrm>
          <a:prstGeom prst="rect">
            <a:avLst/>
          </a:prstGeom>
          <a:noFill/>
          <a:ln/>
        </p:spPr>
        <p:txBody>
          <a:bodyPr wrap="square" lIns="0" tIns="0" rIns="0" bIns="0"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National Health Call Centre — Procurement Bake-off</a:t>
            </a:r>
            <a:endParaRPr lang="en-US" sz="1300" dirty="0"/>
          </a:p>
        </p:txBody>
      </p:sp>
      <p:sp>
        <p:nvSpPr>
          <p:cNvPr id="11" name="Shape 8"/>
          <p:cNvSpPr/>
          <p:nvPr/>
        </p:nvSpPr>
        <p:spPr>
          <a:xfrm>
            <a:off x="502920" y="1965960"/>
            <a:ext cx="5477256" cy="1645920"/>
          </a:xfrm>
          <a:prstGeom prst="roundRect">
            <a:avLst>
              <a:gd name="adj" fmla="val 3333"/>
            </a:avLst>
          </a:prstGeom>
          <a:solidFill>
            <a:srgbClr val="F2F6F8"/>
          </a:solidFill>
          <a:ln/>
        </p:spPr>
      </p:sp>
      <p:sp>
        <p:nvSpPr>
          <p:cNvPr id="12" name="Text 9"/>
          <p:cNvSpPr/>
          <p:nvPr/>
        </p:nvSpPr>
        <p:spPr>
          <a:xfrm>
            <a:off x="713232" y="2057400"/>
            <a:ext cx="5056632" cy="237744"/>
          </a:xfrm>
          <a:prstGeom prst="rect">
            <a:avLst/>
          </a:prstGeom>
          <a:noFill/>
          <a:ln/>
        </p:spPr>
        <p:txBody>
          <a:bodyPr wrap="square" lIns="0" tIns="0" rIns="0" bIns="0" rtlCol="0" anchor="ctr"/>
          <a:lstStyle/>
          <a:p>
            <a:pPr indent="0" marL="0">
              <a:buNone/>
            </a:pPr>
            <a:r>
              <a:rPr lang="en-US" sz="950" b="1" spc="150" kern="0" dirty="0">
                <a:solidFill>
                  <a:srgbClr val="6E7B8A"/>
                </a:solidFill>
                <a:latin typeface="Calibri" pitchFamily="34" charset="0"/>
                <a:ea typeface="Calibri" pitchFamily="34" charset="-122"/>
                <a:cs typeface="Calibri" pitchFamily="34" charset="-120"/>
              </a:rPr>
              <a:t>SITUATION</a:t>
            </a:r>
            <a:endParaRPr lang="en-US" sz="950" dirty="0"/>
          </a:p>
        </p:txBody>
      </p:sp>
      <p:sp>
        <p:nvSpPr>
          <p:cNvPr id="13" name="Text 10"/>
          <p:cNvSpPr/>
          <p:nvPr/>
        </p:nvSpPr>
        <p:spPr>
          <a:xfrm>
            <a:off x="713232" y="233172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40k calls/day; procuring an Arabic triage-note classification system on a five-year contract. Vendor A claims 91% accuracy; Vendor B claims 89% but ships a per-dialect breakdown. A committee of two clinicians, a procurement officer and one AI engineer must produce a decision that survives vendor protest and audit.</a:t>
            </a:r>
            <a:endParaRPr lang="en-US" sz="1050" dirty="0"/>
          </a:p>
        </p:txBody>
      </p:sp>
      <p:sp>
        <p:nvSpPr>
          <p:cNvPr id="14" name="Shape 11"/>
          <p:cNvSpPr/>
          <p:nvPr/>
        </p:nvSpPr>
        <p:spPr>
          <a:xfrm>
            <a:off x="502920" y="3749040"/>
            <a:ext cx="5477256" cy="1645920"/>
          </a:xfrm>
          <a:prstGeom prst="roundRect">
            <a:avLst>
              <a:gd name="adj" fmla="val 3333"/>
            </a:avLst>
          </a:prstGeom>
          <a:solidFill>
            <a:srgbClr val="FEF3E3"/>
          </a:solidFill>
          <a:ln/>
        </p:spPr>
      </p:sp>
      <p:sp>
        <p:nvSpPr>
          <p:cNvPr id="15" name="Text 12"/>
          <p:cNvSpPr/>
          <p:nvPr/>
        </p:nvSpPr>
        <p:spPr>
          <a:xfrm>
            <a:off x="713232" y="3840480"/>
            <a:ext cx="5056632"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CHALLENGE</a:t>
            </a:r>
            <a:endParaRPr lang="en-US" sz="950" dirty="0"/>
          </a:p>
        </p:txBody>
      </p:sp>
      <p:sp>
        <p:nvSpPr>
          <p:cNvPr id="16" name="Text 13"/>
          <p:cNvSpPr/>
          <p:nvPr/>
        </p:nvSpPr>
        <p:spPr>
          <a:xfrm>
            <a:off x="713232" y="411480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Design the bake-off against black-box vendor APIs: evaluation set, metrics, slices, statistical comparison, behavioural probes. 3,000 notes can be double-annotated by clinicians in time; notes contain PHI so evaluation runs on-prem through an anonymisation gateway; non-technical members must follow the logic.</a:t>
            </a:r>
            <a:endParaRPr lang="en-US" sz="1050" dirty="0"/>
          </a:p>
        </p:txBody>
      </p:sp>
      <p:sp>
        <p:nvSpPr>
          <p:cNvPr id="17" name="Shape 14"/>
          <p:cNvSpPr/>
          <p:nvPr/>
        </p:nvSpPr>
        <p:spPr>
          <a:xfrm>
            <a:off x="6208776" y="1965960"/>
            <a:ext cx="5477256" cy="3429000"/>
          </a:xfrm>
          <a:prstGeom prst="roundRect">
            <a:avLst>
              <a:gd name="adj" fmla="val 1600"/>
            </a:avLst>
          </a:prstGeom>
          <a:solidFill>
            <a:srgbClr val="E6F5F4"/>
          </a:solidFill>
          <a:ln/>
        </p:spPr>
      </p:sp>
      <p:sp>
        <p:nvSpPr>
          <p:cNvPr id="18" name="Text 15"/>
          <p:cNvSpPr/>
          <p:nvPr/>
        </p:nvSpPr>
        <p:spPr>
          <a:xfrm>
            <a:off x="6409944" y="2066544"/>
            <a:ext cx="5074920"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APPROACH</a:t>
            </a:r>
            <a:endParaRPr lang="en-US" sz="950" dirty="0"/>
          </a:p>
        </p:txBody>
      </p:sp>
      <p:sp>
        <p:nvSpPr>
          <p:cNvPr id="19" name="Shape 16"/>
          <p:cNvSpPr/>
          <p:nvPr/>
        </p:nvSpPr>
        <p:spPr>
          <a:xfrm>
            <a:off x="6409944" y="2395728"/>
            <a:ext cx="237744" cy="237744"/>
          </a:xfrm>
          <a:prstGeom prst="ellipse">
            <a:avLst/>
          </a:prstGeom>
          <a:solidFill>
            <a:srgbClr val="00A79D"/>
          </a:solidFill>
          <a:ln/>
        </p:spPr>
      </p:sp>
      <p:sp>
        <p:nvSpPr>
          <p:cNvPr id="20" name="Text 17"/>
          <p:cNvSpPr/>
          <p:nvPr/>
        </p:nvSpPr>
        <p:spPr>
          <a:xfrm>
            <a:off x="6409944" y="23957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p:nvPr/>
        </p:nvSpPr>
        <p:spPr>
          <a:xfrm>
            <a:off x="6757416" y="237744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Committee-owned evaluation set, never shared with vendors, stratified by dialect region, note length and clinical urgency</a:t>
            </a:r>
            <a:endParaRPr lang="en-US" sz="1050" dirty="0"/>
          </a:p>
        </p:txBody>
      </p:sp>
      <p:sp>
        <p:nvSpPr>
          <p:cNvPr id="22" name="Shape 19"/>
          <p:cNvSpPr/>
          <p:nvPr/>
        </p:nvSpPr>
        <p:spPr>
          <a:xfrm>
            <a:off x="6409944" y="3127248"/>
            <a:ext cx="237744" cy="237744"/>
          </a:xfrm>
          <a:prstGeom prst="ellipse">
            <a:avLst/>
          </a:prstGeom>
          <a:solidFill>
            <a:srgbClr val="00A79D"/>
          </a:solidFill>
          <a:ln/>
        </p:spPr>
      </p:sp>
      <p:sp>
        <p:nvSpPr>
          <p:cNvPr id="23" name="Text 20"/>
          <p:cNvSpPr/>
          <p:nvPr/>
        </p:nvSpPr>
        <p:spPr>
          <a:xfrm>
            <a:off x="6409944" y="31272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6757416" y="310896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Headline metric chosen WITH the clinicians: urgent-class recall, macro-F1 secondary; paired bootstrap on identical notes</a:t>
            </a:r>
            <a:endParaRPr lang="en-US" sz="1050" dirty="0"/>
          </a:p>
        </p:txBody>
      </p:sp>
      <p:sp>
        <p:nvSpPr>
          <p:cNvPr id="25" name="Shape 22"/>
          <p:cNvSpPr/>
          <p:nvPr/>
        </p:nvSpPr>
        <p:spPr>
          <a:xfrm>
            <a:off x="6409944" y="3858768"/>
            <a:ext cx="237744" cy="237744"/>
          </a:xfrm>
          <a:prstGeom prst="ellipse">
            <a:avLst/>
          </a:prstGeom>
          <a:solidFill>
            <a:srgbClr val="00A79D"/>
          </a:solidFill>
          <a:ln/>
        </p:spPr>
      </p:sp>
      <p:sp>
        <p:nvSpPr>
          <p:cNvPr id="26" name="Text 23"/>
          <p:cNvSpPr/>
          <p:nvPr/>
        </p:nvSpPr>
        <p:spPr>
          <a:xfrm>
            <a:off x="6409944" y="3858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4"/>
          <p:cNvSpPr/>
          <p:nvPr/>
        </p:nvSpPr>
        <p:spPr>
          <a:xfrm>
            <a:off x="6757416" y="384048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A's 91% shrinks to 84.2% [82.9, 85.5]; B scores 83.1% [81.7, 84.4] — statistically indistinguishable aggregates</a:t>
            </a:r>
            <a:endParaRPr lang="en-US" sz="1050" dirty="0"/>
          </a:p>
        </p:txBody>
      </p:sp>
      <p:sp>
        <p:nvSpPr>
          <p:cNvPr id="28" name="Shape 25"/>
          <p:cNvSpPr/>
          <p:nvPr/>
        </p:nvSpPr>
        <p:spPr>
          <a:xfrm>
            <a:off x="6409944" y="4590288"/>
            <a:ext cx="237744" cy="237744"/>
          </a:xfrm>
          <a:prstGeom prst="ellipse">
            <a:avLst/>
          </a:prstGeom>
          <a:solidFill>
            <a:srgbClr val="00A79D"/>
          </a:solidFill>
          <a:ln/>
        </p:spPr>
      </p:sp>
      <p:sp>
        <p:nvSpPr>
          <p:cNvPr id="29" name="Text 26"/>
          <p:cNvSpPr/>
          <p:nvPr/>
        </p:nvSpPr>
        <p:spPr>
          <a:xfrm>
            <a:off x="6409944" y="45902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0" name="Text 27"/>
          <p:cNvSpPr/>
          <p:nvPr/>
        </p:nvSpPr>
        <p:spPr>
          <a:xfrm>
            <a:off x="6757416" y="457200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Urgent recall: B 0.91 vs A 0.83, difference CI excludes zero; Gulf-dialect probes drop A 11 points, B only 3</a:t>
            </a:r>
            <a:endParaRPr lang="en-US" sz="1050" dirty="0"/>
          </a:p>
        </p:txBody>
      </p:sp>
      <p:sp>
        <p:nvSpPr>
          <p:cNvPr id="31" name="Shape 28"/>
          <p:cNvSpPr/>
          <p:nvPr/>
        </p:nvSpPr>
        <p:spPr>
          <a:xfrm>
            <a:off x="502920" y="5577840"/>
            <a:ext cx="11183112" cy="731520"/>
          </a:xfrm>
          <a:prstGeom prst="roundRect">
            <a:avLst>
              <a:gd name="adj" fmla="val 10000"/>
            </a:avLst>
          </a:prstGeom>
          <a:solidFill>
            <a:srgbClr val="1D2A5C"/>
          </a:solidFill>
          <a:ln/>
        </p:spPr>
      </p:sp>
      <p:sp>
        <p:nvSpPr>
          <p:cNvPr id="32" name="Text 29"/>
          <p:cNvSpPr/>
          <p:nvPr/>
        </p:nvSpPr>
        <p:spPr>
          <a:xfrm>
            <a:off x="731520" y="5577840"/>
            <a:ext cx="10744200" cy="73152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LESSON   </a:t>
            </a:r>
            <a:pPr indent="0" marL="0">
              <a:buNone/>
            </a:pPr>
            <a:r>
              <a:rPr lang="en-US" sz="1150" dirty="0">
                <a:solidFill>
                  <a:srgbClr val="FFFFFF"/>
                </a:solidFill>
                <a:latin typeface="Calibri" pitchFamily="34" charset="0"/>
                <a:ea typeface="Calibri" pitchFamily="34" charset="-122"/>
                <a:cs typeface="Calibri" pitchFamily="34" charset="-120"/>
              </a:rPr>
              <a:t>The committee selects B. The decision memo's core exhibit is the slice table with intervals — legible to clinicians, defensible to auditors, immune to aggregate-number theatre.</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evaluation discipline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سريع — انضباط التقييم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MODULE 6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112</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Q5</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Why must error analysis run on validation data, never the frozen test set?</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Validation sets are always larger than test sets</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seqeval only supports validation splits</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Test-set labels are hidden from the team</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Analysis drives tuning — touching test is leakage; it stops predicting live traffic</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The frozen-test discipline from M3 is the whole defence; error-analysis-on-validation is its corollary. Branch sim-eval-leak shows the price.</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END OF DAY 3</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Slices tell the truth. '+3 or +6?' became '+0.047 [+0.028, +0.066]' — a number you can defend in front of an auditor.</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Day 4: optimisation and shipping — quantise, export and serve the models you can now honestly measure, inside a latency budget.</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113</a:t>
            </a:r>
            <a:endParaRPr lang="en-US" sz="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9052560" y="1024128"/>
            <a:ext cx="438912" cy="384048"/>
          </a:xfrm>
          <a:prstGeom prst="triangle">
            <a:avLst/>
          </a:prstGeom>
          <a:solidFill>
            <a:srgbClr val="00A79D"/>
          </a:solidFill>
          <a:ln/>
        </p:spPr>
      </p:sp>
      <p:sp>
        <p:nvSpPr>
          <p:cNvPr id="3" name="Shape 1"/>
          <p:cNvSpPr/>
          <p:nvPr/>
        </p:nvSpPr>
        <p:spPr>
          <a:xfrm>
            <a:off x="9518904" y="832104"/>
            <a:ext cx="438912" cy="384048"/>
          </a:xfrm>
          <a:prstGeom prst="triangle">
            <a:avLst/>
          </a:prstGeom>
          <a:solidFill>
            <a:srgbClr val="29ABE2"/>
          </a:solidFill>
          <a:ln/>
        </p:spPr>
      </p:sp>
      <p:sp>
        <p:nvSpPr>
          <p:cNvPr id="4" name="Shape 2"/>
          <p:cNvSpPr/>
          <p:nvPr/>
        </p:nvSpPr>
        <p:spPr>
          <a:xfrm>
            <a:off x="9518904" y="1216152"/>
            <a:ext cx="438912" cy="384048"/>
          </a:xfrm>
          <a:prstGeom prst="triangle">
            <a:avLst/>
          </a:prstGeom>
          <a:solidFill>
            <a:srgbClr val="F7941D"/>
          </a:solidFill>
          <a:ln/>
        </p:spPr>
      </p:sp>
      <p:sp>
        <p:nvSpPr>
          <p:cNvPr id="5" name="Shape 3"/>
          <p:cNvSpPr/>
          <p:nvPr/>
        </p:nvSpPr>
        <p:spPr>
          <a:xfrm>
            <a:off x="9985248" y="640080"/>
            <a:ext cx="438912" cy="384048"/>
          </a:xfrm>
          <a:prstGeom prst="triangle">
            <a:avLst/>
          </a:prstGeom>
          <a:solidFill>
            <a:srgbClr val="8CC63F"/>
          </a:solidFill>
          <a:ln/>
        </p:spPr>
      </p:sp>
      <p:sp>
        <p:nvSpPr>
          <p:cNvPr id="6" name="Shape 4"/>
          <p:cNvSpPr/>
          <p:nvPr/>
        </p:nvSpPr>
        <p:spPr>
          <a:xfrm>
            <a:off x="9985248" y="1024128"/>
            <a:ext cx="438912" cy="384048"/>
          </a:xfrm>
          <a:prstGeom prst="triangle">
            <a:avLst/>
          </a:prstGeom>
          <a:solidFill>
            <a:srgbClr val="00A79D"/>
          </a:solidFill>
          <a:ln/>
        </p:spPr>
      </p:sp>
      <p:sp>
        <p:nvSpPr>
          <p:cNvPr id="7" name="Shape 5"/>
          <p:cNvSpPr/>
          <p:nvPr/>
        </p:nvSpPr>
        <p:spPr>
          <a:xfrm>
            <a:off x="10451592" y="832104"/>
            <a:ext cx="438912" cy="384048"/>
          </a:xfrm>
          <a:prstGeom prst="triangle">
            <a:avLst/>
          </a:prstGeom>
          <a:solidFill>
            <a:srgbClr val="29ABE2"/>
          </a:solidFill>
          <a:ln/>
        </p:spPr>
      </p:sp>
      <p:sp>
        <p:nvSpPr>
          <p:cNvPr id="8" name="Shape 6"/>
          <p:cNvSpPr/>
          <p:nvPr/>
        </p:nvSpPr>
        <p:spPr>
          <a:xfrm>
            <a:off x="10451592" y="1216152"/>
            <a:ext cx="438912" cy="384048"/>
          </a:xfrm>
          <a:prstGeom prst="triangle">
            <a:avLst/>
          </a:prstGeom>
          <a:solidFill>
            <a:srgbClr val="F7941D"/>
          </a:solidFill>
          <a:ln/>
        </p:spPr>
      </p:sp>
      <p:sp>
        <p:nvSpPr>
          <p:cNvPr id="9" name="Shape 7"/>
          <p:cNvSpPr/>
          <p:nvPr/>
        </p:nvSpPr>
        <p:spPr>
          <a:xfrm>
            <a:off x="10917936" y="1024128"/>
            <a:ext cx="438912" cy="384048"/>
          </a:xfrm>
          <a:prstGeom prst="triangle">
            <a:avLst/>
          </a:prstGeom>
          <a:solidFill>
            <a:srgbClr val="8CC63F"/>
          </a:solidFill>
          <a:ln/>
        </p:spPr>
      </p:sp>
      <p:sp>
        <p:nvSpPr>
          <p:cNvPr id="10" name="Text 8"/>
          <p:cNvSpPr/>
          <p:nvPr/>
        </p:nvSpPr>
        <p:spPr>
          <a:xfrm>
            <a:off x="777240" y="777240"/>
            <a:ext cx="4572000" cy="914400"/>
          </a:xfrm>
          <a:prstGeom prst="rect">
            <a:avLst/>
          </a:prstGeom>
          <a:noFill/>
          <a:ln/>
        </p:spPr>
        <p:txBody>
          <a:bodyPr wrap="square" lIns="0" tIns="0" rIns="0" bIns="0" rtlCol="0" anchor="ctr"/>
          <a:lstStyle/>
          <a:p>
            <a:pPr indent="0" marL="0">
              <a:buNone/>
            </a:pPr>
            <a:r>
              <a:rPr lang="en-US" sz="4800" b="1" dirty="0">
                <a:solidFill>
                  <a:srgbClr val="F7941D"/>
                </a:solidFill>
                <a:latin typeface="Calibri" pitchFamily="34" charset="0"/>
                <a:ea typeface="Calibri" pitchFamily="34" charset="-122"/>
                <a:cs typeface="Calibri" pitchFamily="34" charset="-120"/>
              </a:rPr>
              <a:t>DAY 4</a:t>
            </a:r>
            <a:endParaRPr lang="en-US" sz="4800" dirty="0"/>
          </a:p>
        </p:txBody>
      </p:sp>
      <p:sp>
        <p:nvSpPr>
          <p:cNvPr id="11" name="Text 9"/>
          <p:cNvSpPr/>
          <p:nvPr/>
        </p:nvSpPr>
        <p:spPr>
          <a:xfrm>
            <a:off x="777240" y="1783080"/>
            <a:ext cx="777240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Fast, Cheap, Shipped</a:t>
            </a:r>
            <a:endParaRPr lang="en-US" sz="3000" dirty="0"/>
          </a:p>
        </p:txBody>
      </p:sp>
      <p:sp>
        <p:nvSpPr>
          <p:cNvPr id="12" name="Text 10"/>
          <p:cNvSpPr/>
          <p:nvPr/>
        </p:nvSpPr>
        <p:spPr>
          <a:xfrm>
            <a:off x="777240" y="2468880"/>
            <a:ext cx="7772400" cy="411480"/>
          </a:xfrm>
          <a:prstGeom prst="rect">
            <a:avLst/>
          </a:prstGeom>
          <a:noFill/>
          <a:ln/>
        </p:spPr>
        <p:txBody>
          <a:bodyPr wrap="square" lIns="0" tIns="0" rIns="0" bIns="0" rtlCol="0" anchor="ctr"/>
          <a:lstStyle/>
          <a:p>
            <a:pPr indent="0" marL="0">
              <a:buNone/>
            </a:pPr>
            <a:r>
              <a:rPr lang="en-US" sz="1600" dirty="0">
                <a:solidFill>
                  <a:srgbClr val="00A79D"/>
                </a:solidFill>
                <a:latin typeface="Calibri" pitchFamily="34" charset="0"/>
                <a:ea typeface="Calibri" pitchFamily="34" charset="-122"/>
                <a:cs typeface="Calibri" pitchFamily="34" charset="-120"/>
              </a:rPr>
              <a:t>سريع ورخيص وجاهز للإطلاق</a:t>
            </a:r>
            <a:endParaRPr lang="en-US" sz="1600" dirty="0"/>
          </a:p>
        </p:txBody>
      </p:sp>
      <p:sp>
        <p:nvSpPr>
          <p:cNvPr id="13" name="Shape 11"/>
          <p:cNvSpPr/>
          <p:nvPr/>
        </p:nvSpPr>
        <p:spPr>
          <a:xfrm>
            <a:off x="777240" y="3191256"/>
            <a:ext cx="960120" cy="393192"/>
          </a:xfrm>
          <a:prstGeom prst="roundRect">
            <a:avLst>
              <a:gd name="adj" fmla="val 13953"/>
            </a:avLst>
          </a:prstGeom>
          <a:solidFill>
            <a:srgbClr val="2A3A73"/>
          </a:solidFill>
          <a:ln/>
        </p:spPr>
      </p:sp>
      <p:sp>
        <p:nvSpPr>
          <p:cNvPr id="14" name="Text 12"/>
          <p:cNvSpPr/>
          <p:nvPr/>
        </p:nvSpPr>
        <p:spPr>
          <a:xfrm>
            <a:off x="777240" y="3191256"/>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H1</a:t>
            </a:r>
            <a:endParaRPr lang="en-US" sz="1050" dirty="0"/>
          </a:p>
        </p:txBody>
      </p:sp>
      <p:sp>
        <p:nvSpPr>
          <p:cNvPr id="15" name="Text 13"/>
          <p:cNvSpPr/>
          <p:nvPr/>
        </p:nvSpPr>
        <p:spPr>
          <a:xfrm>
            <a:off x="1920240" y="3191256"/>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Inference optimisation and serving (M7)  </a:t>
            </a:r>
            <a:pPr indent="0" marL="0">
              <a:buNone/>
            </a:pPr>
            <a:r>
              <a:rPr lang="en-US" sz="1200" dirty="0">
                <a:solidFill>
                  <a:srgbClr val="AAB6D8"/>
                </a:solidFill>
                <a:latin typeface="Calibri" pitchFamily="34" charset="0"/>
                <a:ea typeface="Calibri" pitchFamily="34" charset="-122"/>
                <a:cs typeface="Calibri" pitchFamily="34" charset="-120"/>
              </a:rPr>
              <a:t>Latency levers: quantisation, ONNX export, distillation, batching, sequence-length control</a:t>
            </a:r>
            <a:endParaRPr lang="en-US" sz="1200" dirty="0"/>
          </a:p>
        </p:txBody>
      </p:sp>
      <p:sp>
        <p:nvSpPr>
          <p:cNvPr id="16" name="Shape 14"/>
          <p:cNvSpPr/>
          <p:nvPr/>
        </p:nvSpPr>
        <p:spPr>
          <a:xfrm>
            <a:off x="777240" y="3712464"/>
            <a:ext cx="960120" cy="393192"/>
          </a:xfrm>
          <a:prstGeom prst="roundRect">
            <a:avLst>
              <a:gd name="adj" fmla="val 13953"/>
            </a:avLst>
          </a:prstGeom>
          <a:solidFill>
            <a:srgbClr val="2A3A73"/>
          </a:solidFill>
          <a:ln/>
        </p:spPr>
      </p:sp>
      <p:sp>
        <p:nvSpPr>
          <p:cNvPr id="17" name="Text 15"/>
          <p:cNvSpPr/>
          <p:nvPr/>
        </p:nvSpPr>
        <p:spPr>
          <a:xfrm>
            <a:off x="777240" y="3712464"/>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H2</a:t>
            </a:r>
            <a:endParaRPr lang="en-US" sz="1050" dirty="0"/>
          </a:p>
        </p:txBody>
      </p:sp>
      <p:sp>
        <p:nvSpPr>
          <p:cNvPr id="18" name="Text 16"/>
          <p:cNvSpPr/>
          <p:nvPr/>
        </p:nvSpPr>
        <p:spPr>
          <a:xfrm>
            <a:off x="1920240" y="3712464"/>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7 — Hit the latency budget  </a:t>
            </a:r>
            <a:pPr indent="0" marL="0">
              <a:buNone/>
            </a:pPr>
            <a:r>
              <a:rPr lang="en-US" sz="1200" dirty="0">
                <a:solidFill>
                  <a:srgbClr val="AAB6D8"/>
                </a:solidFill>
                <a:latin typeface="Calibri" pitchFamily="34" charset="0"/>
                <a:ea typeface="Calibri" pitchFamily="34" charset="-122"/>
                <a:cs typeface="Calibri" pitchFamily="34" charset="-120"/>
              </a:rPr>
              <a:t>Quantise + export to ONNX Runtime; benchmark p50/p99; wire into the serving skeleton</a:t>
            </a:r>
            <a:endParaRPr lang="en-US" sz="1200" dirty="0"/>
          </a:p>
        </p:txBody>
      </p:sp>
      <p:sp>
        <p:nvSpPr>
          <p:cNvPr id="19" name="Shape 17"/>
          <p:cNvSpPr/>
          <p:nvPr/>
        </p:nvSpPr>
        <p:spPr>
          <a:xfrm>
            <a:off x="777240" y="4233672"/>
            <a:ext cx="960120" cy="393192"/>
          </a:xfrm>
          <a:prstGeom prst="roundRect">
            <a:avLst>
              <a:gd name="adj" fmla="val 13953"/>
            </a:avLst>
          </a:prstGeom>
          <a:solidFill>
            <a:srgbClr val="2A3A73"/>
          </a:solidFill>
          <a:ln/>
        </p:spPr>
      </p:sp>
      <p:sp>
        <p:nvSpPr>
          <p:cNvPr id="20" name="Text 18"/>
          <p:cNvSpPr/>
          <p:nvPr/>
        </p:nvSpPr>
        <p:spPr>
          <a:xfrm>
            <a:off x="777240" y="4233672"/>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H3</a:t>
            </a:r>
            <a:endParaRPr lang="en-US" sz="1050" dirty="0"/>
          </a:p>
        </p:txBody>
      </p:sp>
      <p:sp>
        <p:nvSpPr>
          <p:cNvPr id="21" name="Text 19"/>
          <p:cNvSpPr/>
          <p:nvPr/>
        </p:nvSpPr>
        <p:spPr>
          <a:xfrm>
            <a:off x="1920240" y="4233672"/>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Capstone assembly I  </a:t>
            </a:r>
            <a:pPr indent="0" marL="0">
              <a:buNone/>
            </a:pPr>
            <a:r>
              <a:rPr lang="en-US" sz="1200" dirty="0">
                <a:solidFill>
                  <a:srgbClr val="AAB6D8"/>
                </a:solidFill>
                <a:latin typeface="Calibri" pitchFamily="34" charset="0"/>
                <a:ea typeface="Calibri" pitchFamily="34" charset="-122"/>
                <a:cs typeface="Calibri" pitchFamily="34" charset="-120"/>
              </a:rPr>
              <a:t>Integrate classifier, NER, search and evaluation into the Bayan service; project checklist</a:t>
            </a:r>
            <a:endParaRPr lang="en-US" sz="1200" dirty="0"/>
          </a:p>
        </p:txBody>
      </p:sp>
      <p:sp>
        <p:nvSpPr>
          <p:cNvPr id="22" name="Shape 20"/>
          <p:cNvSpPr/>
          <p:nvPr/>
        </p:nvSpPr>
        <p:spPr>
          <a:xfrm>
            <a:off x="777240" y="4754880"/>
            <a:ext cx="960120" cy="393192"/>
          </a:xfrm>
          <a:prstGeom prst="roundRect">
            <a:avLst>
              <a:gd name="adj" fmla="val 13953"/>
            </a:avLst>
          </a:prstGeom>
          <a:solidFill>
            <a:srgbClr val="2A3A73"/>
          </a:solidFill>
          <a:ln/>
        </p:spPr>
      </p:sp>
      <p:sp>
        <p:nvSpPr>
          <p:cNvPr id="23" name="Text 21"/>
          <p:cNvSpPr/>
          <p:nvPr/>
        </p:nvSpPr>
        <p:spPr>
          <a:xfrm>
            <a:off x="777240" y="4754880"/>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H4</a:t>
            </a:r>
            <a:endParaRPr lang="en-US" sz="1050" dirty="0"/>
          </a:p>
        </p:txBody>
      </p:sp>
      <p:sp>
        <p:nvSpPr>
          <p:cNvPr id="24" name="Text 22"/>
          <p:cNvSpPr/>
          <p:nvPr/>
        </p:nvSpPr>
        <p:spPr>
          <a:xfrm>
            <a:off x="1920240" y="4754880"/>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Capstone assembly II + peer review  </a:t>
            </a:r>
            <a:pPr indent="0" marL="0">
              <a:buNone/>
            </a:pPr>
            <a:r>
              <a:rPr lang="en-US" sz="1200" dirty="0">
                <a:solidFill>
                  <a:srgbClr val="AAB6D8"/>
                </a:solidFill>
                <a:latin typeface="Calibri" pitchFamily="34" charset="0"/>
                <a:ea typeface="Calibri" pitchFamily="34" charset="-122"/>
                <a:cs typeface="Calibri" pitchFamily="34" charset="-120"/>
              </a:rPr>
              <a:t>Finish integration; exchange projects for peer review against the rubric checklist</a:t>
            </a:r>
            <a:endParaRPr lang="en-US" sz="1200" dirty="0"/>
          </a:p>
        </p:txBody>
      </p:sp>
      <p:sp>
        <p:nvSpPr>
          <p:cNvPr id="25" name="Shape 23"/>
          <p:cNvSpPr/>
          <p:nvPr/>
        </p:nvSpPr>
        <p:spPr>
          <a:xfrm>
            <a:off x="777240" y="5276088"/>
            <a:ext cx="960120" cy="393192"/>
          </a:xfrm>
          <a:prstGeom prst="roundRect">
            <a:avLst>
              <a:gd name="adj" fmla="val 13953"/>
            </a:avLst>
          </a:prstGeom>
          <a:solidFill>
            <a:srgbClr val="2A3A73"/>
          </a:solidFill>
          <a:ln/>
        </p:spPr>
      </p:sp>
      <p:sp>
        <p:nvSpPr>
          <p:cNvPr id="26" name="Text 24"/>
          <p:cNvSpPr/>
          <p:nvPr/>
        </p:nvSpPr>
        <p:spPr>
          <a:xfrm>
            <a:off x="777240" y="5276088"/>
            <a:ext cx="960120" cy="393192"/>
          </a:xfrm>
          <a:prstGeom prst="rect">
            <a:avLst/>
          </a:prstGeom>
          <a:noFill/>
          <a:ln/>
        </p:spPr>
        <p:txBody>
          <a:bodyPr wrap="square" lIns="0" tIns="0" rIns="0" bIns="0" rtlCol="0" anchor="ctr"/>
          <a:lstStyle/>
          <a:p>
            <a:pPr algn="ctr" indent="0" marL="0">
              <a:buNone/>
            </a:pPr>
            <a:r>
              <a:rPr lang="en-US" sz="1050" b="1" dirty="0">
                <a:solidFill>
                  <a:srgbClr val="29ABE2"/>
                </a:solidFill>
                <a:latin typeface="Calibri" pitchFamily="34" charset="0"/>
                <a:ea typeface="Calibri" pitchFamily="34" charset="-122"/>
                <a:cs typeface="Calibri" pitchFamily="34" charset="-120"/>
              </a:rPr>
              <a:t>H5</a:t>
            </a:r>
            <a:endParaRPr lang="en-US" sz="1050" dirty="0"/>
          </a:p>
        </p:txBody>
      </p:sp>
      <p:sp>
        <p:nvSpPr>
          <p:cNvPr id="27" name="Text 25"/>
          <p:cNvSpPr/>
          <p:nvPr/>
        </p:nvSpPr>
        <p:spPr>
          <a:xfrm>
            <a:off x="1920240" y="5276088"/>
            <a:ext cx="932688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Demos + assessment + wrap-up  </a:t>
            </a:r>
            <a:pPr indent="0" marL="0">
              <a:buNone/>
            </a:pPr>
            <a:r>
              <a:rPr lang="en-US" sz="1200" dirty="0">
                <a:solidFill>
                  <a:srgbClr val="AAB6D8"/>
                </a:solidFill>
                <a:latin typeface="Calibri" pitchFamily="34" charset="0"/>
                <a:ea typeface="Calibri" pitchFamily="34" charset="-122"/>
                <a:cs typeface="Calibri" pitchFamily="34" charset="-120"/>
              </a:rPr>
              <a:t>5-minute demos; rubric-based instructor + peer scoring; path to SDA-AIE-213</a:t>
            </a:r>
            <a:endParaRPr lang="en-US" sz="1200" dirty="0"/>
          </a:p>
        </p:txBody>
      </p:sp>
      <p:sp>
        <p:nvSpPr>
          <p:cNvPr id="28" name="Shape 26"/>
          <p:cNvSpPr/>
          <p:nvPr/>
        </p:nvSpPr>
        <p:spPr>
          <a:xfrm>
            <a:off x="777240" y="5989320"/>
            <a:ext cx="10607040" cy="566928"/>
          </a:xfrm>
          <a:prstGeom prst="roundRect">
            <a:avLst>
              <a:gd name="adj" fmla="val 12903"/>
            </a:avLst>
          </a:prstGeom>
          <a:solidFill>
            <a:srgbClr val="00A79D"/>
          </a:solidFill>
          <a:ln/>
        </p:spPr>
      </p:sp>
      <p:sp>
        <p:nvSpPr>
          <p:cNvPr id="29" name="Text 27"/>
          <p:cNvSpPr/>
          <p:nvPr/>
        </p:nvSpPr>
        <p:spPr>
          <a:xfrm>
            <a:off x="1005840" y="5989320"/>
            <a:ext cx="10149840" cy="566928"/>
          </a:xfrm>
          <a:prstGeom prst="rect">
            <a:avLst/>
          </a:prstGeom>
          <a:noFill/>
          <a:ln/>
        </p:spPr>
        <p:txBody>
          <a:bodyPr wrap="square" lIns="0" tIns="0" rIns="0" bIns="0"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END-OF-DAY DELIVERABLE   </a:t>
            </a:r>
            <a:pPr indent="0" marL="0">
              <a:buNone/>
            </a:pPr>
            <a:r>
              <a:rPr lang="en-US" sz="1200" b="1" dirty="0">
                <a:solidFill>
                  <a:srgbClr val="FFFFFF"/>
                </a:solidFill>
                <a:latin typeface="Calibri" pitchFamily="34" charset="0"/>
                <a:ea typeface="Calibri" pitchFamily="34" charset="-122"/>
                <a:cs typeface="Calibri" pitchFamily="34" charset="-120"/>
              </a:rPr>
              <a:t>Quantised, exported models meeting the latency budget + the assembled Bayan capstone, demoed</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4 — Hour by Hour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الرابع — ساعة بساعة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115</a:t>
            </a:r>
            <a:endParaRPr lang="en-US" sz="8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685800"/>
                <a:gridCol w="2834640"/>
                <a:gridCol w="5010912"/>
                <a:gridCol w="1737360"/>
                <a:gridCol w="91440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Hour</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Theory/Lab</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Inference optimisation &amp; serving (M7)</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Quantisation, ONNX export, distillation, batching, sequence-length control</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Lecture + benchmarks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65/35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7 — Hit the latency budget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Quantise + export to ONNX Runtime; benchmark p50/p99; wire into serving skeleton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Guided lab (pairs)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10/90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Capstone assembly I</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Integrate classifier, NER, search, evaluation into Bayan; complete the checklist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Project work</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0/100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Capstone assembly II + peer review</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Finish integration; exchange projects for peer review against the rubric</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Project work</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0/100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84048">
                <a:tc>
                  <a:txBody>
                    <a:bodyPr/>
                    <a:lstStyle/>
                    <a:p>
                      <a:pPr indent="0" marL="0">
                        <a:buNone/>
                      </a:pPr>
                      <a:r>
                        <a:rPr lang="en-US" sz="1050" b="1" dirty="0">
                          <a:solidFill>
                            <a:srgbClr val="00A79D"/>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Capstone demos + assessment + wrap-up</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5-minute demos; rubric-based instructor + peer scoring; path to SDA-AIE-213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6E7B8A"/>
                          </a:solidFill>
                          <a:latin typeface="Calibri" pitchFamily="34" charset="0"/>
                          <a:ea typeface="Calibri" pitchFamily="34" charset="-122"/>
                          <a:cs typeface="Calibri" pitchFamily="34" charset="-120"/>
                        </a:rPr>
                        <a:t>Presentations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7B8A"/>
                          </a:solidFill>
                          <a:latin typeface="Calibri" pitchFamily="34" charset="0"/>
                          <a:ea typeface="Calibri" pitchFamily="34" charset="-122"/>
                          <a:cs typeface="Calibri" pitchFamily="34" charset="-120"/>
                        </a:rPr>
                        <a:t>20/80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5989320"/>
            <a:ext cx="11183112" cy="4114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INSTRUCTOR NOTE   </a:t>
            </a:r>
            <a:pPr indent="0" marL="0">
              <a:buNone/>
            </a:pPr>
            <a:r>
              <a:rPr lang="en-US" sz="1050" dirty="0">
                <a:solidFill>
                  <a:srgbClr val="6E7B8A"/>
                </a:solidFill>
                <a:latin typeface="Calibri" pitchFamily="34" charset="0"/>
                <a:ea typeface="Calibri" pitchFamily="34" charset="-122"/>
                <a:cs typeface="Calibri" pitchFamily="34" charset="-120"/>
              </a:rPr>
              <a:t>Each hour = 50 min instruction + 10 min buffer; schedule the long break around Dhuhr. Collect repo URLs and evaluation reports at the end of Hour 4 — spot-verify claims before demos begin.</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MODULE 7 · INFERENCE OPTIMISATION</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Latency is a feature. Accuracy got the Bayan models built — economics decides whether they ship.</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Training the classifier cost eight GPU-minutes. Serving it at national scale costs GPU-years.</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116</a:t>
            </a:r>
            <a:endParaRPr lang="en-US" sz="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Why Optimise: Latency Budgets, CPU Reality</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لماذا التحسين: ميزانيات الكمون وواقع المعالج</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117</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A 3x latency cut is two-thirds of the serving fleet returned to the budget — and the procurement counter-argument.</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Latency budgets</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200 ms citizen-facing experience vs 700 ms — the slower one measurably drops completion rates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Government platform: 4M classification requests daily; fp32 PyTorch to INT8 ONNX on CPU cuts per-request cost ~70%</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The measured price there: a 0.5-point F1 sacrifice — a decision with numbers, not a hope</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CPU-only serving reality</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Bank on-prem: no GPUs allowed for compliance-workload isolation; distilled + quantised encoders make CPU viable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Serve a fine-tuned encoder at 15 ms/request on CPU — and stop renting GPUs for tasks that never needed them</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E-commerce at Ramadan peak: dynamic batching + length-bucketing triple throughput without touching the model</a:t>
            </a:r>
            <a:endParaRPr lang="en-US" sz="12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Optimisation Ladder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سلم التحسين</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118</a:t>
            </a:r>
            <a:endParaRPr lang="en-US" sz="800" dirty="0"/>
          </a:p>
        </p:txBody>
      </p:sp>
      <p:sp>
        <p:nvSpPr>
          <p:cNvPr id="8" name="Shape 5"/>
          <p:cNvSpPr/>
          <p:nvPr/>
        </p:nvSpPr>
        <p:spPr>
          <a:xfrm>
            <a:off x="502920" y="1965960"/>
            <a:ext cx="1929384" cy="2377440"/>
          </a:xfrm>
          <a:prstGeom prst="roundRect">
            <a:avLst>
              <a:gd name="adj" fmla="val 2844"/>
            </a:avLst>
          </a:prstGeom>
          <a:solidFill>
            <a:srgbClr val="F2F6F8"/>
          </a:solidFill>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FREE</a:t>
            </a:r>
            <a:endParaRPr lang="en-US" sz="1000" dirty="0"/>
          </a:p>
        </p:txBody>
      </p:sp>
      <p:sp>
        <p:nvSpPr>
          <p:cNvPr id="11" name="Text 8"/>
          <p:cNvSpPr/>
          <p:nvPr/>
        </p:nvSpPr>
        <p:spPr>
          <a:xfrm>
            <a:off x="640080"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Length + padding</a:t>
            </a:r>
            <a:endParaRPr lang="en-US" sz="1500" dirty="0"/>
          </a:p>
        </p:txBody>
      </p:sp>
      <p:sp>
        <p:nvSpPr>
          <p:cNvPr id="12" name="Text 9"/>
          <p:cNvSpPr/>
          <p:nvPr/>
        </p:nvSpPr>
        <p:spPr>
          <a:xfrm>
            <a:off x="640080"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Truncate to measured need (max_length=128 covers p99), dynamic padding, length-bucketed batching. 2-4x.</a:t>
            </a:r>
            <a:endParaRPr lang="en-US" sz="10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2844"/>
            </a:avLst>
          </a:prstGeom>
          <a:solidFill>
            <a:srgbClr val="F2F6F8"/>
          </a:solidFill>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lIns="0" tIns="0" rIns="0" bIns="0" rtlCol="0" anchor="ctr"/>
          <a:lstStyle/>
          <a:p>
            <a:pPr indent="0" marL="0">
              <a:buNone/>
            </a:pPr>
            <a:r>
              <a:rPr lang="en-US" sz="1000" b="1" spc="150" kern="0" dirty="0">
                <a:solidFill>
                  <a:srgbClr val="29ABE2"/>
                </a:solidFill>
                <a:latin typeface="Calibri" pitchFamily="34" charset="0"/>
                <a:ea typeface="Calibri" pitchFamily="34" charset="-122"/>
                <a:cs typeface="Calibri" pitchFamily="34" charset="-120"/>
              </a:rPr>
              <a:t>HOURS</a:t>
            </a:r>
            <a:endParaRPr lang="en-US" sz="1000" dirty="0"/>
          </a:p>
        </p:txBody>
      </p:sp>
      <p:sp>
        <p:nvSpPr>
          <p:cNvPr id="17" name="Text 14"/>
          <p:cNvSpPr/>
          <p:nvPr/>
        </p:nvSpPr>
        <p:spPr>
          <a:xfrm>
            <a:off x="2953512"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ONNX export</a:t>
            </a:r>
            <a:endParaRPr lang="en-US" sz="1500" dirty="0"/>
          </a:p>
        </p:txBody>
      </p:sp>
      <p:sp>
        <p:nvSpPr>
          <p:cNvPr id="18" name="Text 15"/>
          <p:cNvSpPr/>
          <p:nvPr/>
        </p:nvSpPr>
        <p:spPr>
          <a:xfrm>
            <a:off x="2953512"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Freeze to a portable graph; ORT fuses operators, folds constants. 1.5-2x on BERT-class encoders on CPU.</a:t>
            </a:r>
            <a:endParaRPr lang="en-US" sz="10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2844"/>
            </a:avLst>
          </a:prstGeom>
          <a:solidFill>
            <a:srgbClr val="F2F6F8"/>
          </a:solidFill>
          <a:ln/>
        </p:spPr>
      </p:sp>
      <p:sp>
        <p:nvSpPr>
          <p:cNvPr id="21" name="Shape 18"/>
          <p:cNvSpPr/>
          <p:nvPr/>
        </p:nvSpPr>
        <p:spPr>
          <a:xfrm>
            <a:off x="5129784" y="1965960"/>
            <a:ext cx="1929384" cy="82296"/>
          </a:xfrm>
          <a:prstGeom prst="rect">
            <a:avLst/>
          </a:prstGeom>
          <a:solidFill>
            <a:srgbClr val="F7941D"/>
          </a:solidFill>
          <a:ln/>
        </p:spPr>
      </p:sp>
      <p:sp>
        <p:nvSpPr>
          <p:cNvPr id="22" name="Text 19"/>
          <p:cNvSpPr/>
          <p:nvPr/>
        </p:nvSpPr>
        <p:spPr>
          <a:xfrm>
            <a:off x="5266944" y="2148840"/>
            <a:ext cx="1655064" cy="237744"/>
          </a:xfrm>
          <a:prstGeom prst="rect">
            <a:avLst/>
          </a:prstGeom>
          <a:noFill/>
          <a:ln/>
        </p:spPr>
        <p:txBody>
          <a:bodyPr wrap="square" lIns="0" tIns="0" rIns="0" bIns="0" rtlCol="0" anchor="ctr"/>
          <a:lstStyle/>
          <a:p>
            <a:pPr indent="0" marL="0">
              <a:buNone/>
            </a:pPr>
            <a:r>
              <a:rPr lang="en-US" sz="1000" b="1" spc="150" kern="0" dirty="0">
                <a:solidFill>
                  <a:srgbClr val="F7941D"/>
                </a:solidFill>
                <a:latin typeface="Calibri" pitchFamily="34" charset="0"/>
                <a:ea typeface="Calibri" pitchFamily="34" charset="-122"/>
                <a:cs typeface="Calibri" pitchFamily="34" charset="-120"/>
              </a:rPr>
              <a:t>AFTERNOON</a:t>
            </a:r>
            <a:endParaRPr lang="en-US" sz="1000" dirty="0"/>
          </a:p>
        </p:txBody>
      </p:sp>
      <p:sp>
        <p:nvSpPr>
          <p:cNvPr id="23" name="Text 20"/>
          <p:cNvSpPr/>
          <p:nvPr/>
        </p:nvSpPr>
        <p:spPr>
          <a:xfrm>
            <a:off x="5266944"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Dynamic INT8</a:t>
            </a:r>
            <a:endParaRPr lang="en-US" sz="1500" dirty="0"/>
          </a:p>
        </p:txBody>
      </p:sp>
      <p:sp>
        <p:nvSpPr>
          <p:cNvPr id="24" name="Text 21"/>
          <p:cNvSpPr/>
          <p:nvPr/>
        </p:nvSpPr>
        <p:spPr>
          <a:xfrm>
            <a:off x="5266944"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Weights INT8, activations on the fly, no calibration set. 2-3x CPU speed-up, ~4x smaller. Measure the tax.</a:t>
            </a:r>
            <a:endParaRPr lang="en-US" sz="10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2844"/>
            </a:avLst>
          </a:prstGeom>
          <a:solidFill>
            <a:srgbClr val="F2F6F8"/>
          </a:solidFill>
          <a:ln/>
        </p:spPr>
      </p:sp>
      <p:sp>
        <p:nvSpPr>
          <p:cNvPr id="27" name="Shape 24"/>
          <p:cNvSpPr/>
          <p:nvPr/>
        </p:nvSpPr>
        <p:spPr>
          <a:xfrm>
            <a:off x="7443216" y="1965960"/>
            <a:ext cx="1929384" cy="82296"/>
          </a:xfrm>
          <a:prstGeom prst="rect">
            <a:avLst/>
          </a:prstGeom>
          <a:solidFill>
            <a:srgbClr val="8CC63F"/>
          </a:solidFill>
          <a:ln/>
        </p:spPr>
      </p:sp>
      <p:sp>
        <p:nvSpPr>
          <p:cNvPr id="28" name="Text 25"/>
          <p:cNvSpPr/>
          <p:nvPr/>
        </p:nvSpPr>
        <p:spPr>
          <a:xfrm>
            <a:off x="7580376" y="2148840"/>
            <a:ext cx="1655064" cy="237744"/>
          </a:xfrm>
          <a:prstGeom prst="rect">
            <a:avLst/>
          </a:prstGeom>
          <a:noFill/>
          <a:ln/>
        </p:spPr>
        <p:txBody>
          <a:bodyPr wrap="square" lIns="0" tIns="0" rIns="0" bIns="0" rtlCol="0" anchor="ctr"/>
          <a:lstStyle/>
          <a:p>
            <a:pPr indent="0" marL="0">
              <a:buNone/>
            </a:pPr>
            <a:r>
              <a:rPr lang="en-US" sz="1000" b="1" spc="150" kern="0" dirty="0">
                <a:solidFill>
                  <a:srgbClr val="8CC63F"/>
                </a:solidFill>
                <a:latin typeface="Calibri" pitchFamily="34" charset="0"/>
                <a:ea typeface="Calibri" pitchFamily="34" charset="-122"/>
                <a:cs typeface="Calibri" pitchFamily="34" charset="-120"/>
              </a:rPr>
              <a:t>PROJECT</a:t>
            </a:r>
            <a:endParaRPr lang="en-US" sz="1000" dirty="0"/>
          </a:p>
        </p:txBody>
      </p:sp>
      <p:sp>
        <p:nvSpPr>
          <p:cNvPr id="29" name="Text 26"/>
          <p:cNvSpPr/>
          <p:nvPr/>
        </p:nvSpPr>
        <p:spPr>
          <a:xfrm>
            <a:off x="7580376"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Distilled checkpoint</a:t>
            </a:r>
            <a:endParaRPr lang="en-US" sz="1500" dirty="0"/>
          </a:p>
        </p:txBody>
      </p:sp>
      <p:sp>
        <p:nvSpPr>
          <p:cNvPr id="30" name="Text 27"/>
          <p:cNvSpPr/>
          <p:nvPr/>
        </p:nvSpPr>
        <p:spPr>
          <a:xfrm>
            <a:off x="7580376"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Pre-distilled student (DistilBERT: 40% smaller, 60% faster, ~97% of GLUE). Re-fine-tune + full M6 re-eval.</a:t>
            </a:r>
            <a:endParaRPr lang="en-US" sz="10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2844"/>
            </a:avLst>
          </a:prstGeom>
          <a:solidFill>
            <a:srgbClr val="F2F6F8"/>
          </a:solidFill>
          <a:ln/>
        </p:spPr>
      </p:sp>
      <p:sp>
        <p:nvSpPr>
          <p:cNvPr id="33" name="Shape 30"/>
          <p:cNvSpPr/>
          <p:nvPr/>
        </p:nvSpPr>
        <p:spPr>
          <a:xfrm>
            <a:off x="9756648" y="1965960"/>
            <a:ext cx="1929384" cy="82296"/>
          </a:xfrm>
          <a:prstGeom prst="rect">
            <a:avLst/>
          </a:prstGeom>
          <a:solidFill>
            <a:srgbClr val="00A79D"/>
          </a:solidFill>
          <a:ln/>
        </p:spPr>
      </p:sp>
      <p:sp>
        <p:nvSpPr>
          <p:cNvPr id="34" name="Text 31"/>
          <p:cNvSpPr/>
          <p:nvPr/>
        </p:nvSpPr>
        <p:spPr>
          <a:xfrm>
            <a:off x="9893808"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PROCUREMENT</a:t>
            </a:r>
            <a:endParaRPr lang="en-US" sz="1000" dirty="0"/>
          </a:p>
        </p:txBody>
      </p:sp>
      <p:sp>
        <p:nvSpPr>
          <p:cNvPr id="35" name="Text 32"/>
          <p:cNvSpPr/>
          <p:nvPr/>
        </p:nvSpPr>
        <p:spPr>
          <a:xfrm>
            <a:off x="9893808"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Hardware change</a:t>
            </a:r>
            <a:endParaRPr lang="en-US" sz="1500" dirty="0"/>
          </a:p>
        </p:txBody>
      </p:sp>
      <p:sp>
        <p:nvSpPr>
          <p:cNvPr id="36" name="Text 33"/>
          <p:cNvSpPr/>
          <p:nvPr/>
        </p:nvSpPr>
        <p:spPr>
          <a:xfrm>
            <a:off x="9893808"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GPU wins at high sustained QPS with batching; CPU at modest QPS, spiky traffic, on-prem. A calculation.</a:t>
            </a:r>
            <a:endParaRPr lang="en-US" sz="1050" dirty="0"/>
          </a:p>
        </p:txBody>
      </p:sp>
      <p:sp>
        <p:nvSpPr>
          <p:cNvPr id="37" name="Shape 34"/>
          <p:cNvSpPr/>
          <p:nvPr/>
        </p:nvSpPr>
        <p:spPr>
          <a:xfrm>
            <a:off x="502920" y="4892040"/>
            <a:ext cx="11183112" cy="1051560"/>
          </a:xfrm>
          <a:prstGeom prst="roundRect">
            <a:avLst>
              <a:gd name="adj" fmla="val 6957"/>
            </a:avLst>
          </a:prstGeom>
          <a:solidFill>
            <a:srgbClr val="E6F5F4"/>
          </a:solidFill>
          <a:ln/>
        </p:spPr>
      </p:sp>
      <p:sp>
        <p:nvSpPr>
          <p:cNvPr id="38" name="Text 35"/>
          <p:cNvSpPr/>
          <p:nvPr/>
        </p:nvSpPr>
        <p:spPr>
          <a:xfrm>
            <a:off x="731520" y="4892040"/>
            <a:ext cx="10789920" cy="105156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200" dirty="0">
                <a:solidFill>
                  <a:srgbClr val="2B2B2B"/>
                </a:solidFill>
                <a:latin typeface="Calibri" pitchFamily="34" charset="0"/>
                <a:ea typeface="Calibri" pitchFamily="34" charset="-122"/>
                <a:cs typeface="Calibri" pitchFamily="34" charset="-120"/>
              </a:rPr>
              <a:t>Exit criterion at every rung: does p99 now meet the budget with acceptable accuracy? Stop climbing when yes. Skipping to the exotic rungs first is the module's named anti-pattern.</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Reference Ladder: 96 ms to 12 ms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السلم المرجعي: من ٩٦ إلى ١٢ مللي ثانية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119</a:t>
            </a:r>
            <a:endParaRPr lang="en-US" sz="800" dirty="0"/>
          </a:p>
        </p:txBody>
      </p:sp>
      <p:sp>
        <p:nvSpPr>
          <p:cNvPr id="8" name="Shape 5"/>
          <p:cNvSpPr/>
          <p:nvPr/>
        </p:nvSpPr>
        <p:spPr>
          <a:xfrm>
            <a:off x="502920" y="1828800"/>
            <a:ext cx="2555748" cy="3017520"/>
          </a:xfrm>
          <a:prstGeom prst="roundRect">
            <a:avLst>
              <a:gd name="adj" fmla="val 2862"/>
            </a:avLst>
          </a:prstGeom>
          <a:solidFill>
            <a:srgbClr val="F2F6F8"/>
          </a:solidFill>
          <a:ln/>
        </p:spPr>
      </p:sp>
      <p:sp>
        <p:nvSpPr>
          <p:cNvPr id="9" name="Text 6"/>
          <p:cNvSpPr/>
          <p:nvPr/>
        </p:nvSpPr>
        <p:spPr>
          <a:xfrm>
            <a:off x="640080" y="2103120"/>
            <a:ext cx="2281428" cy="914400"/>
          </a:xfrm>
          <a:prstGeom prst="rect">
            <a:avLst/>
          </a:prstGeom>
          <a:noFill/>
          <a:ln/>
        </p:spPr>
        <p:txBody>
          <a:bodyPr wrap="square" lIns="0" tIns="0" rIns="0" bIns="0"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96.3</a:t>
            </a:r>
            <a:endParaRPr lang="en-US" sz="4000" dirty="0"/>
          </a:p>
        </p:txBody>
      </p:sp>
      <p:sp>
        <p:nvSpPr>
          <p:cNvPr id="10" name="Text 7"/>
          <p:cNvSpPr/>
          <p:nvPr/>
        </p:nvSpPr>
        <p:spPr>
          <a:xfrm>
            <a:off x="640080"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p50 ms — fp32, pad 512</a:t>
            </a:r>
            <a:endParaRPr lang="en-US" sz="1300" dirty="0"/>
          </a:p>
        </p:txBody>
      </p:sp>
      <p:sp>
        <p:nvSpPr>
          <p:cNvPr id="11" name="Text 8"/>
          <p:cNvSpPr/>
          <p:nvPr/>
        </p:nvSpPr>
        <p:spPr>
          <a:xfrm>
            <a:off x="667512"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The baseline: fp32 torch, max_length=512, padded. p99 141.8 ms. Every later claim is a diff against this row.</a:t>
            </a:r>
            <a:endParaRPr lang="en-US" sz="1000" dirty="0"/>
          </a:p>
        </p:txBody>
      </p:sp>
      <p:sp>
        <p:nvSpPr>
          <p:cNvPr id="12" name="Shape 9"/>
          <p:cNvSpPr/>
          <p:nvPr/>
        </p:nvSpPr>
        <p:spPr>
          <a:xfrm>
            <a:off x="3378708" y="1828800"/>
            <a:ext cx="2555748" cy="3017520"/>
          </a:xfrm>
          <a:prstGeom prst="roundRect">
            <a:avLst>
              <a:gd name="adj" fmla="val 2862"/>
            </a:avLst>
          </a:prstGeom>
          <a:solidFill>
            <a:srgbClr val="F2F6F8"/>
          </a:solidFill>
          <a:ln/>
        </p:spPr>
      </p:sp>
      <p:sp>
        <p:nvSpPr>
          <p:cNvPr id="13" name="Text 10"/>
          <p:cNvSpPr/>
          <p:nvPr/>
        </p:nvSpPr>
        <p:spPr>
          <a:xfrm>
            <a:off x="3515868" y="2103120"/>
            <a:ext cx="2281428" cy="914400"/>
          </a:xfrm>
          <a:prstGeom prst="rect">
            <a:avLst/>
          </a:prstGeom>
          <a:noFill/>
          <a:ln/>
        </p:spPr>
        <p:txBody>
          <a:bodyPr wrap="square" lIns="0" tIns="0" rIns="0" bIns="0" rtlCol="0" anchor="ctr"/>
          <a:lstStyle/>
          <a:p>
            <a:pPr algn="ctr" indent="0" marL="0">
              <a:buNone/>
            </a:pPr>
            <a:r>
              <a:rPr lang="en-US" sz="4000" b="1" dirty="0">
                <a:solidFill>
                  <a:srgbClr val="29ABE2"/>
                </a:solidFill>
                <a:latin typeface="Calibri" pitchFamily="34" charset="0"/>
                <a:ea typeface="Calibri" pitchFamily="34" charset="-122"/>
                <a:cs typeface="Calibri" pitchFamily="34" charset="-120"/>
              </a:rPr>
              <a:t>41.7</a:t>
            </a:r>
            <a:endParaRPr lang="en-US" sz="4000" dirty="0"/>
          </a:p>
        </p:txBody>
      </p:sp>
      <p:sp>
        <p:nvSpPr>
          <p:cNvPr id="14" name="Text 11"/>
          <p:cNvSpPr/>
          <p:nvPr/>
        </p:nvSpPr>
        <p:spPr>
          <a:xfrm>
            <a:off x="3515868"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p50 ms — dynamic pad @128</a:t>
            </a:r>
            <a:endParaRPr lang="en-US" sz="1300" dirty="0"/>
          </a:p>
        </p:txBody>
      </p:sp>
      <p:sp>
        <p:nvSpPr>
          <p:cNvPr id="15" name="Text 12"/>
          <p:cNvSpPr/>
          <p:nvPr/>
        </p:nvSpPr>
        <p:spPr>
          <a:xfrm>
            <a:off x="3543300"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The free rung: same model, truncation + dynamic padding. p99 74.2 ms. Zero accuracy cost — that is the point.</a:t>
            </a:r>
            <a:endParaRPr lang="en-US" sz="1000" dirty="0"/>
          </a:p>
        </p:txBody>
      </p:sp>
      <p:sp>
        <p:nvSpPr>
          <p:cNvPr id="16" name="Shape 13"/>
          <p:cNvSpPr/>
          <p:nvPr/>
        </p:nvSpPr>
        <p:spPr>
          <a:xfrm>
            <a:off x="6254496" y="1828800"/>
            <a:ext cx="2555748" cy="3017520"/>
          </a:xfrm>
          <a:prstGeom prst="roundRect">
            <a:avLst>
              <a:gd name="adj" fmla="val 2862"/>
            </a:avLst>
          </a:prstGeom>
          <a:solidFill>
            <a:srgbClr val="F2F6F8"/>
          </a:solidFill>
          <a:ln/>
        </p:spPr>
      </p:sp>
      <p:sp>
        <p:nvSpPr>
          <p:cNvPr id="17" name="Text 14"/>
          <p:cNvSpPr/>
          <p:nvPr/>
        </p:nvSpPr>
        <p:spPr>
          <a:xfrm>
            <a:off x="6391656" y="2103120"/>
            <a:ext cx="2281428" cy="914400"/>
          </a:xfrm>
          <a:prstGeom prst="rect">
            <a:avLst/>
          </a:prstGeom>
          <a:noFill/>
          <a:ln/>
        </p:spPr>
        <p:txBody>
          <a:bodyPr wrap="square" lIns="0" tIns="0" rIns="0" bIns="0" rtlCol="0" anchor="ctr"/>
          <a:lstStyle/>
          <a:p>
            <a:pPr algn="ctr" indent="0" marL="0">
              <a:buNone/>
            </a:pPr>
            <a:r>
              <a:rPr lang="en-US" sz="4000" b="1" dirty="0">
                <a:solidFill>
                  <a:srgbClr val="F7941D"/>
                </a:solidFill>
                <a:latin typeface="Calibri" pitchFamily="34" charset="0"/>
                <a:ea typeface="Calibri" pitchFamily="34" charset="-122"/>
                <a:cs typeface="Calibri" pitchFamily="34" charset="-120"/>
              </a:rPr>
              <a:t>24.9</a:t>
            </a:r>
            <a:endParaRPr lang="en-US" sz="4000" dirty="0"/>
          </a:p>
        </p:txBody>
      </p:sp>
      <p:sp>
        <p:nvSpPr>
          <p:cNvPr id="18" name="Text 15"/>
          <p:cNvSpPr/>
          <p:nvPr/>
        </p:nvSpPr>
        <p:spPr>
          <a:xfrm>
            <a:off x="6391656"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p50 ms — ONNX fp32 @128</a:t>
            </a:r>
            <a:endParaRPr lang="en-US" sz="1300" dirty="0"/>
          </a:p>
        </p:txBody>
      </p:sp>
      <p:sp>
        <p:nvSpPr>
          <p:cNvPr id="19" name="Text 16"/>
          <p:cNvSpPr/>
          <p:nvPr/>
        </p:nvSpPr>
        <p:spPr>
          <a:xfrm>
            <a:off x="6419088"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Export + graph fusion. p99 43.1 ms. Paired accuracy vs fp32 baseline: identical (±0.000).</a:t>
            </a:r>
            <a:endParaRPr lang="en-US" sz="1000" dirty="0"/>
          </a:p>
        </p:txBody>
      </p:sp>
      <p:sp>
        <p:nvSpPr>
          <p:cNvPr id="20" name="Shape 17"/>
          <p:cNvSpPr/>
          <p:nvPr/>
        </p:nvSpPr>
        <p:spPr>
          <a:xfrm>
            <a:off x="9130284" y="1828800"/>
            <a:ext cx="2555748" cy="3017520"/>
          </a:xfrm>
          <a:prstGeom prst="roundRect">
            <a:avLst>
              <a:gd name="adj" fmla="val 2862"/>
            </a:avLst>
          </a:prstGeom>
          <a:solidFill>
            <a:srgbClr val="F2F6F8"/>
          </a:solidFill>
          <a:ln/>
        </p:spPr>
      </p:sp>
      <p:sp>
        <p:nvSpPr>
          <p:cNvPr id="21" name="Text 18"/>
          <p:cNvSpPr/>
          <p:nvPr/>
        </p:nvSpPr>
        <p:spPr>
          <a:xfrm>
            <a:off x="9267444" y="2103120"/>
            <a:ext cx="2281428" cy="914400"/>
          </a:xfrm>
          <a:prstGeom prst="rect">
            <a:avLst/>
          </a:prstGeom>
          <a:noFill/>
          <a:ln/>
        </p:spPr>
        <p:txBody>
          <a:bodyPr wrap="square" lIns="0" tIns="0" rIns="0" bIns="0" rtlCol="0" anchor="ctr"/>
          <a:lstStyle/>
          <a:p>
            <a:pPr algn="ctr" indent="0" marL="0">
              <a:buNone/>
            </a:pPr>
            <a:r>
              <a:rPr lang="en-US" sz="4000" b="1" dirty="0">
                <a:solidFill>
                  <a:srgbClr val="8CC63F"/>
                </a:solidFill>
                <a:latin typeface="Calibri" pitchFamily="34" charset="0"/>
                <a:ea typeface="Calibri" pitchFamily="34" charset="-122"/>
                <a:cs typeface="Calibri" pitchFamily="34" charset="-120"/>
              </a:rPr>
              <a:t>11.8</a:t>
            </a:r>
            <a:endParaRPr lang="en-US" sz="4000" dirty="0"/>
          </a:p>
        </p:txBody>
      </p:sp>
      <p:sp>
        <p:nvSpPr>
          <p:cNvPr id="22" name="Text 19"/>
          <p:cNvSpPr/>
          <p:nvPr/>
        </p:nvSpPr>
        <p:spPr>
          <a:xfrm>
            <a:off x="9267444" y="3063240"/>
            <a:ext cx="2281428" cy="502920"/>
          </a:xfrm>
          <a:prstGeom prst="rect">
            <a:avLst/>
          </a:prstGeom>
          <a:noFill/>
          <a:ln/>
        </p:spPr>
        <p:txBody>
          <a:bodyPr wrap="square" lIns="0" tIns="0" rIns="0" bIns="0"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p50 ms — ONNX INT8 @128</a:t>
            </a:r>
            <a:endParaRPr lang="en-US" sz="1300" dirty="0"/>
          </a:p>
        </p:txBody>
      </p:sp>
      <p:sp>
        <p:nvSpPr>
          <p:cNvPr id="23" name="Text 20"/>
          <p:cNvSpPr/>
          <p:nvPr/>
        </p:nvSpPr>
        <p:spPr>
          <a:xfrm>
            <a:off x="9294876" y="3611880"/>
            <a:ext cx="2226564" cy="1097280"/>
          </a:xfrm>
          <a:prstGeom prst="rect">
            <a:avLst/>
          </a:prstGeom>
          <a:noFill/>
          <a:ln/>
        </p:spPr>
        <p:txBody>
          <a:bodyPr wrap="square" lIns="0" tIns="0" rIns="0" bIns="0" rtlCol="0" anchor="t"/>
          <a:lstStyle/>
          <a:p>
            <a:pPr algn="ctr" indent="0" marL="0">
              <a:buNone/>
            </a:pPr>
            <a:r>
              <a:rPr lang="en-US" sz="1000" dirty="0">
                <a:solidFill>
                  <a:srgbClr val="6E7B8A"/>
                </a:solidFill>
                <a:latin typeface="Calibri" pitchFamily="34" charset="0"/>
                <a:ea typeface="Calibri" pitchFamily="34" charset="-122"/>
                <a:cs typeface="Calibri" pitchFamily="34" charset="-120"/>
              </a:rPr>
              <a:t>8x total. p99 21.4 ms. Tax: -0.004 macro-F1, CI [-0.007, -0.001] — real but purchasable.</a:t>
            </a:r>
            <a:endParaRPr lang="en-US" sz="1000" dirty="0"/>
          </a:p>
        </p:txBody>
      </p:sp>
      <p:sp>
        <p:nvSpPr>
          <p:cNvPr id="24" name="Shape 21"/>
          <p:cNvSpPr/>
          <p:nvPr/>
        </p:nvSpPr>
        <p:spPr>
          <a:xfrm>
            <a:off x="502920" y="5212080"/>
            <a:ext cx="11183112" cy="868680"/>
          </a:xfrm>
          <a:prstGeom prst="roundRect">
            <a:avLst>
              <a:gd name="adj" fmla="val 8421"/>
            </a:avLst>
          </a:prstGeom>
          <a:solidFill>
            <a:srgbClr val="E6F5F4"/>
          </a:solidFill>
          <a:ln/>
        </p:spPr>
      </p:sp>
      <p:sp>
        <p:nvSpPr>
          <p:cNvPr id="25" name="Text 22"/>
          <p:cNvSpPr/>
          <p:nvPr/>
        </p:nvSpPr>
        <p:spPr>
          <a:xfrm>
            <a:off x="731520" y="5212080"/>
            <a:ext cx="10744200" cy="86868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READ THE NUMBERS   </a:t>
            </a:r>
            <a:pPr indent="0" marL="0">
              <a:buNone/>
            </a:pPr>
            <a:r>
              <a:rPr lang="en-US" sz="1150" dirty="0">
                <a:solidFill>
                  <a:srgbClr val="2B2B2B"/>
                </a:solidFill>
                <a:latin typeface="Calibri" pitchFamily="34" charset="0"/>
                <a:ea typeface="Calibri" pitchFamily="34" charset="-122"/>
                <a:cs typeface="Calibri" pitchFamily="34" charset="-120"/>
              </a:rPr>
              <a:t>4-core CPU, OMP_NUM_THREADS=4, production length mix. NER pays more at INT8: -0.009 entity-F1 — token-level tasks are more quantisation-sensitive than pooled classification.</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Quantisation Mechanics: Dynamic vs Static</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آليات التكميم: ديناميكي مقابل ساكن</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120</a:t>
            </a:r>
            <a:endParaRPr lang="en-US" sz="800" dirty="0"/>
          </a:p>
        </p:txBody>
      </p:sp>
      <p:sp>
        <p:nvSpPr>
          <p:cNvPr id="8" name="Shape 5"/>
          <p:cNvSpPr/>
          <p:nvPr/>
        </p:nvSpPr>
        <p:spPr>
          <a:xfrm>
            <a:off x="502920" y="1517904"/>
            <a:ext cx="5477256" cy="3977640"/>
          </a:xfrm>
          <a:prstGeom prst="roundRect">
            <a:avLst>
              <a:gd name="adj" fmla="val 1839"/>
            </a:avLst>
          </a:prstGeom>
          <a:solidFill>
            <a:srgbClr val="F2F6F8"/>
          </a:solidFill>
          <a:ln/>
        </p:spPr>
      </p:sp>
      <p:sp>
        <p:nvSpPr>
          <p:cNvPr id="9" name="Shape 6"/>
          <p:cNvSpPr/>
          <p:nvPr/>
        </p:nvSpPr>
        <p:spPr>
          <a:xfrm>
            <a:off x="502920" y="1517904"/>
            <a:ext cx="5477256" cy="502920"/>
          </a:xfrm>
          <a:prstGeom prst="roundRect">
            <a:avLst>
              <a:gd name="adj" fmla="val 14545"/>
            </a:avLst>
          </a:prstGeom>
          <a:solidFill>
            <a:srgbClr val="00A79D"/>
          </a:solidFill>
          <a:ln/>
        </p:spPr>
      </p:sp>
      <p:sp>
        <p:nvSpPr>
          <p:cNvPr id="10" name="Text 7"/>
          <p:cNvSpPr/>
          <p:nvPr/>
        </p:nvSpPr>
        <p:spPr>
          <a:xfrm>
            <a:off x="704088" y="1517904"/>
            <a:ext cx="507492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Dynamic INT8 — the default</a:t>
            </a:r>
            <a:endParaRPr lang="en-US" sz="1450" dirty="0"/>
          </a:p>
        </p:txBody>
      </p:sp>
      <p:sp>
        <p:nvSpPr>
          <p:cNvPr id="11" name="Text 8"/>
          <p:cNvSpPr/>
          <p:nvPr/>
        </p:nvSpPr>
        <p:spPr>
          <a:xfrm>
            <a:off x="731520" y="2176272"/>
            <a:ext cx="5020056" cy="3154680"/>
          </a:xfrm>
          <a:prstGeom prst="rect">
            <a:avLst/>
          </a:prstGeom>
          <a:noFill/>
          <a:ln/>
        </p:spPr>
        <p:txBody>
          <a:bodyPr wrap="square" lIns="0" tIns="0" rIns="0" bIns="0" rtlCol="0" anchor="t"/>
          <a:lstStyle/>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Weights stored as INT8; activations quantised on the fly</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No calibration set needed — an afternoon of work</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~4x smaller weights, 2-3x CPU speed-up</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Right default for encoder serving; kernels are ISA-specific (avx512_vnni vs avx2 fallback)</a:t>
            </a:r>
            <a:endParaRPr lang="en-US" sz="1150" dirty="0"/>
          </a:p>
        </p:txBody>
      </p:sp>
      <p:sp>
        <p:nvSpPr>
          <p:cNvPr id="12" name="Shape 9"/>
          <p:cNvSpPr/>
          <p:nvPr/>
        </p:nvSpPr>
        <p:spPr>
          <a:xfrm>
            <a:off x="6208776" y="1517904"/>
            <a:ext cx="5477256" cy="3977640"/>
          </a:xfrm>
          <a:prstGeom prst="roundRect">
            <a:avLst>
              <a:gd name="adj" fmla="val 1839"/>
            </a:avLst>
          </a:prstGeom>
          <a:solidFill>
            <a:srgbClr val="F2F6F8"/>
          </a:solidFill>
          <a:ln/>
        </p:spPr>
      </p:sp>
      <p:sp>
        <p:nvSpPr>
          <p:cNvPr id="13" name="Shape 10"/>
          <p:cNvSpPr/>
          <p:nvPr/>
        </p:nvSpPr>
        <p:spPr>
          <a:xfrm>
            <a:off x="6208776" y="1517904"/>
            <a:ext cx="5477256" cy="502920"/>
          </a:xfrm>
          <a:prstGeom prst="roundRect">
            <a:avLst>
              <a:gd name="adj" fmla="val 14545"/>
            </a:avLst>
          </a:prstGeom>
          <a:solidFill>
            <a:srgbClr val="F7941D"/>
          </a:solidFill>
          <a:ln/>
        </p:spPr>
      </p:sp>
      <p:sp>
        <p:nvSpPr>
          <p:cNvPr id="14" name="Text 11"/>
          <p:cNvSpPr/>
          <p:nvPr/>
        </p:nvSpPr>
        <p:spPr>
          <a:xfrm>
            <a:off x="6409944" y="1517904"/>
            <a:ext cx="507492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Static / QAT — the escape hatches</a:t>
            </a:r>
            <a:endParaRPr lang="en-US" sz="1450" dirty="0"/>
          </a:p>
        </p:txBody>
      </p:sp>
      <p:sp>
        <p:nvSpPr>
          <p:cNvPr id="15" name="Text 12"/>
          <p:cNvSpPr/>
          <p:nvPr/>
        </p:nvSpPr>
        <p:spPr>
          <a:xfrm>
            <a:off x="6437376" y="2176272"/>
            <a:ext cx="5020056" cy="3154680"/>
          </a:xfrm>
          <a:prstGeom prst="rect">
            <a:avLst/>
          </a:prstGeom>
          <a:noFill/>
          <a:ln/>
        </p:spPr>
        <p:txBody>
          <a:bodyPr wrap="square" lIns="0" tIns="0" rIns="0" bIns="0" rtlCol="0" anchor="t"/>
          <a:lstStyle/>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Static: calibrated activations squeeze further — needs representative data and care</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QAT: quantisation-aware training, for when post-training accuracy loss is unacceptable</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Rare for classification heads; likelier for token-level tasks</a:t>
            </a:r>
            <a:endParaRPr lang="en-US" sz="1150" dirty="0"/>
          </a:p>
          <a:p>
            <a:pPr algn="l" marL="127000" indent="-127000">
              <a:spcAft>
                <a:spcPts val="633"/>
              </a:spcAft>
              <a:buSzPct val="100000"/>
              <a:buChar char="•"/>
            </a:pPr>
            <a:r>
              <a:rPr lang="en-US" sz="1150" dirty="0">
                <a:solidFill>
                  <a:srgbClr val="2B2B2B"/>
                </a:solidFill>
                <a:latin typeface="Calibri" pitchFamily="34" charset="0"/>
                <a:ea typeface="Calibri" pitchFamily="34" charset="-122"/>
                <a:cs typeface="Calibri" pitchFamily="34" charset="-120"/>
              </a:rPr>
              <a:t>Bayan measured: classifier pays -0.004 macro-F1 at INT8; NER pays -0.009 entity-F1</a:t>
            </a:r>
            <a:endParaRPr lang="en-US" sz="1150" dirty="0"/>
          </a:p>
        </p:txBody>
      </p:sp>
      <p:sp>
        <p:nvSpPr>
          <p:cNvPr id="16" name="Shape 13"/>
          <p:cNvSpPr/>
          <p:nvPr/>
        </p:nvSpPr>
        <p:spPr>
          <a:xfrm>
            <a:off x="502920" y="5650992"/>
            <a:ext cx="11183112" cy="658368"/>
          </a:xfrm>
          <a:prstGeom prst="roundRect">
            <a:avLst>
              <a:gd name="adj" fmla="val 11111"/>
            </a:avLst>
          </a:prstGeom>
          <a:solidFill>
            <a:srgbClr val="E6F5F4"/>
          </a:solidFill>
          <a:ln/>
        </p:spPr>
      </p:sp>
      <p:sp>
        <p:nvSpPr>
          <p:cNvPr id="17" name="Text 14"/>
          <p:cNvSpPr/>
          <p:nvPr/>
        </p:nvSpPr>
        <p:spPr>
          <a:xfrm>
            <a:off x="731520" y="5650992"/>
            <a:ext cx="10744200" cy="65836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ENGINEERING CALL   </a:t>
            </a:r>
            <a:pPr indent="0" marL="0">
              <a:buNone/>
            </a:pPr>
            <a:r>
              <a:rPr lang="en-US" sz="1150" dirty="0">
                <a:solidFill>
                  <a:srgbClr val="2B2B2B"/>
                </a:solidFill>
                <a:latin typeface="Calibri" pitchFamily="34" charset="0"/>
                <a:ea typeface="Calibri" pitchFamily="34" charset="-122"/>
                <a:cs typeface="Calibri" pitchFamily="34" charset="-120"/>
              </a:rPr>
              <a:t>Embedding models quantise well (M5's MiniLM at INT8 loses ~0.5 recall@10) — but re-embedding the corpus means an index rebuild; the manifest's model field now includes quantisation state.</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Batching and Serving Patterns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أنماط التجميع والتقديم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121</a:t>
            </a:r>
            <a:endParaRPr lang="en-US" sz="800" dirty="0"/>
          </a:p>
        </p:txBody>
      </p:sp>
      <p:sp>
        <p:nvSpPr>
          <p:cNvPr id="8" name="Shape 5"/>
          <p:cNvSpPr/>
          <p:nvPr/>
        </p:nvSpPr>
        <p:spPr>
          <a:xfrm>
            <a:off x="502920" y="1517904"/>
            <a:ext cx="3544824" cy="2286000"/>
          </a:xfrm>
          <a:prstGeom prst="roundRect">
            <a:avLst>
              <a:gd name="adj" fmla="val 2400"/>
            </a:avLst>
          </a:prstGeom>
          <a:solidFill>
            <a:srgbClr val="F2F6F8"/>
          </a:solidFill>
          <a:ln/>
        </p:spPr>
      </p:sp>
      <p:sp>
        <p:nvSpPr>
          <p:cNvPr id="9" name="Shape 6"/>
          <p:cNvSpPr/>
          <p:nvPr/>
        </p:nvSpPr>
        <p:spPr>
          <a:xfrm>
            <a:off x="502920" y="1517904"/>
            <a:ext cx="82296" cy="2286000"/>
          </a:xfrm>
          <a:prstGeom prst="rect">
            <a:avLst/>
          </a:prstGeom>
          <a:solidFill>
            <a:srgbClr val="00A79D"/>
          </a:solidFill>
          <a:ln/>
        </p:spPr>
      </p:sp>
      <p:sp>
        <p:nvSpPr>
          <p:cNvPr id="10" name="Text 7"/>
          <p:cNvSpPr/>
          <p:nvPr/>
        </p:nvSpPr>
        <p:spPr>
          <a:xfrm>
            <a:off x="722376" y="163677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AMORTISE</a:t>
            </a:r>
            <a:endParaRPr lang="en-US" sz="950" dirty="0"/>
          </a:p>
        </p:txBody>
      </p:sp>
      <p:sp>
        <p:nvSpPr>
          <p:cNvPr id="11" name="Text 8"/>
          <p:cNvSpPr/>
          <p:nvPr/>
        </p:nvSpPr>
        <p:spPr>
          <a:xfrm>
            <a:off x="722376"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Batching</a:t>
            </a:r>
            <a:endParaRPr lang="en-US" sz="1450" dirty="0"/>
          </a:p>
        </p:txBody>
      </p:sp>
      <p:sp>
        <p:nvSpPr>
          <p:cNvPr id="12" name="Text 9"/>
          <p:cNvSpPr/>
          <p:nvPr/>
        </p:nvSpPr>
        <p:spPr>
          <a:xfrm>
            <a:off x="722376"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One request's p50 rises slightly; the fleet's requests-per-second triples. Python and framework overhead is a fixed per-call tax that batching amortises.</a:t>
            </a:r>
            <a:endParaRPr lang="en-US" sz="1050" dirty="0"/>
          </a:p>
        </p:txBody>
      </p:sp>
      <p:sp>
        <p:nvSpPr>
          <p:cNvPr id="13" name="Shape 10"/>
          <p:cNvSpPr/>
          <p:nvPr/>
        </p:nvSpPr>
        <p:spPr>
          <a:xfrm>
            <a:off x="4322064" y="1517904"/>
            <a:ext cx="3544824" cy="2286000"/>
          </a:xfrm>
          <a:prstGeom prst="roundRect">
            <a:avLst>
              <a:gd name="adj" fmla="val 2400"/>
            </a:avLst>
          </a:prstGeom>
          <a:solidFill>
            <a:srgbClr val="F2F6F8"/>
          </a:solidFill>
          <a:ln/>
        </p:spPr>
      </p:sp>
      <p:sp>
        <p:nvSpPr>
          <p:cNvPr id="14" name="Shape 11"/>
          <p:cNvSpPr/>
          <p:nvPr/>
        </p:nvSpPr>
        <p:spPr>
          <a:xfrm>
            <a:off x="4322064" y="1517904"/>
            <a:ext cx="82296" cy="2286000"/>
          </a:xfrm>
          <a:prstGeom prst="rect">
            <a:avLst/>
          </a:prstGeom>
          <a:solidFill>
            <a:srgbClr val="29ABE2"/>
          </a:solidFill>
          <a:ln/>
        </p:spPr>
      </p:sp>
      <p:sp>
        <p:nvSpPr>
          <p:cNvPr id="15" name="Text 12"/>
          <p:cNvSpPr/>
          <p:nvPr/>
        </p:nvSpPr>
        <p:spPr>
          <a:xfrm>
            <a:off x="4541520" y="163677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PAD SMART</a:t>
            </a:r>
            <a:endParaRPr lang="en-US" sz="950" dirty="0"/>
          </a:p>
        </p:txBody>
      </p:sp>
      <p:sp>
        <p:nvSpPr>
          <p:cNvPr id="16" name="Text 13"/>
          <p:cNvSpPr/>
          <p:nvPr/>
        </p:nvSpPr>
        <p:spPr>
          <a:xfrm>
            <a:off x="4541520"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Dynamic padding</a:t>
            </a:r>
            <a:endParaRPr lang="en-US" sz="1450" dirty="0"/>
          </a:p>
        </p:txBody>
      </p:sp>
      <p:sp>
        <p:nvSpPr>
          <p:cNvPr id="17" name="Text 14"/>
          <p:cNvSpPr/>
          <p:nvPr/>
        </p:nvSpPr>
        <p:spPr>
          <a:xfrm>
            <a:off x="4541520"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Pad to batch max, not model max — M3's DataCollatorWithPadding habit, now on the serving path. Padding to max_length quietly triples serving cost.</a:t>
            </a:r>
            <a:endParaRPr lang="en-US" sz="1050" dirty="0"/>
          </a:p>
        </p:txBody>
      </p:sp>
      <p:sp>
        <p:nvSpPr>
          <p:cNvPr id="18" name="Shape 15"/>
          <p:cNvSpPr/>
          <p:nvPr/>
        </p:nvSpPr>
        <p:spPr>
          <a:xfrm>
            <a:off x="8141208" y="1517904"/>
            <a:ext cx="3544824" cy="2286000"/>
          </a:xfrm>
          <a:prstGeom prst="roundRect">
            <a:avLst>
              <a:gd name="adj" fmla="val 2400"/>
            </a:avLst>
          </a:prstGeom>
          <a:solidFill>
            <a:srgbClr val="F2F6F8"/>
          </a:solidFill>
          <a:ln/>
        </p:spPr>
      </p:sp>
      <p:sp>
        <p:nvSpPr>
          <p:cNvPr id="19" name="Shape 16"/>
          <p:cNvSpPr/>
          <p:nvPr/>
        </p:nvSpPr>
        <p:spPr>
          <a:xfrm>
            <a:off x="8141208" y="1517904"/>
            <a:ext cx="82296" cy="2286000"/>
          </a:xfrm>
          <a:prstGeom prst="rect">
            <a:avLst/>
          </a:prstGeom>
          <a:solidFill>
            <a:srgbClr val="F7941D"/>
          </a:solidFill>
          <a:ln/>
        </p:spPr>
      </p:sp>
      <p:sp>
        <p:nvSpPr>
          <p:cNvPr id="20" name="Text 17"/>
          <p:cNvSpPr/>
          <p:nvPr/>
        </p:nvSpPr>
        <p:spPr>
          <a:xfrm>
            <a:off x="8360664" y="1636776"/>
            <a:ext cx="3133344"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BUCKET</a:t>
            </a:r>
            <a:endParaRPr lang="en-US" sz="950" dirty="0"/>
          </a:p>
        </p:txBody>
      </p:sp>
      <p:sp>
        <p:nvSpPr>
          <p:cNvPr id="21" name="Text 18"/>
          <p:cNvSpPr/>
          <p:nvPr/>
        </p:nvSpPr>
        <p:spPr>
          <a:xfrm>
            <a:off x="8360664"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Length bucketing</a:t>
            </a:r>
            <a:endParaRPr lang="en-US" sz="1450" dirty="0"/>
          </a:p>
        </p:txBody>
      </p:sp>
      <p:sp>
        <p:nvSpPr>
          <p:cNvPr id="22" name="Text 19"/>
          <p:cNvSpPr/>
          <p:nvPr/>
        </p:nvSpPr>
        <p:spPr>
          <a:xfrm>
            <a:off x="8360664"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Group similar-length requests so batches aren't hostage to their longest member — a queue-time trade measured in Lab 7.</a:t>
            </a:r>
            <a:endParaRPr lang="en-US" sz="1050" dirty="0"/>
          </a:p>
        </p:txBody>
      </p:sp>
      <p:sp>
        <p:nvSpPr>
          <p:cNvPr id="23" name="Shape 20"/>
          <p:cNvSpPr/>
          <p:nvPr/>
        </p:nvSpPr>
        <p:spPr>
          <a:xfrm>
            <a:off x="502920" y="4078224"/>
            <a:ext cx="3544824" cy="2286000"/>
          </a:xfrm>
          <a:prstGeom prst="roundRect">
            <a:avLst>
              <a:gd name="adj" fmla="val 2400"/>
            </a:avLst>
          </a:prstGeom>
          <a:solidFill>
            <a:srgbClr val="F2F6F8"/>
          </a:solidFill>
          <a:ln/>
        </p:spPr>
      </p:sp>
      <p:sp>
        <p:nvSpPr>
          <p:cNvPr id="24" name="Shape 21"/>
          <p:cNvSpPr/>
          <p:nvPr/>
        </p:nvSpPr>
        <p:spPr>
          <a:xfrm>
            <a:off x="502920" y="4078224"/>
            <a:ext cx="82296" cy="2286000"/>
          </a:xfrm>
          <a:prstGeom prst="rect">
            <a:avLst/>
          </a:prstGeom>
          <a:solidFill>
            <a:srgbClr val="8CC63F"/>
          </a:solidFill>
          <a:ln/>
        </p:spPr>
      </p:sp>
      <p:sp>
        <p:nvSpPr>
          <p:cNvPr id="25" name="Text 22"/>
          <p:cNvSpPr/>
          <p:nvPr/>
        </p:nvSpPr>
        <p:spPr>
          <a:xfrm>
            <a:off x="722376" y="4197096"/>
            <a:ext cx="3133344" cy="237744"/>
          </a:xfrm>
          <a:prstGeom prst="rect">
            <a:avLst/>
          </a:prstGeom>
          <a:noFill/>
          <a:ln/>
        </p:spPr>
        <p:txBody>
          <a:bodyPr wrap="square" lIns="0" tIns="0" rIns="0" bIns="0" rtlCol="0" anchor="ctr"/>
          <a:lstStyle/>
          <a:p>
            <a:pPr indent="0" marL="0">
              <a:buNone/>
            </a:pPr>
            <a:r>
              <a:rPr lang="en-US" sz="950" b="1" spc="150" kern="0" dirty="0">
                <a:solidFill>
                  <a:srgbClr val="8CC63F"/>
                </a:solidFill>
                <a:latin typeface="Calibri" pitchFamily="34" charset="0"/>
                <a:ea typeface="Calibri" pitchFamily="34" charset="-122"/>
                <a:cs typeface="Calibri" pitchFamily="34" charset="-120"/>
              </a:rPr>
              <a:t>PROFILE</a:t>
            </a:r>
            <a:endParaRPr lang="en-US" sz="950" dirty="0"/>
          </a:p>
        </p:txBody>
      </p:sp>
      <p:sp>
        <p:nvSpPr>
          <p:cNvPr id="26" name="Text 23"/>
          <p:cNvSpPr/>
          <p:nvPr/>
        </p:nvSpPr>
        <p:spPr>
          <a:xfrm>
            <a:off x="722376"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Tokenisation cost</a:t>
            </a:r>
            <a:endParaRPr lang="en-US" sz="1450" dirty="0"/>
          </a:p>
        </p:txBody>
      </p:sp>
      <p:sp>
        <p:nvSpPr>
          <p:cNvPr id="27" name="Text 24"/>
          <p:cNvSpPr/>
          <p:nvPr/>
        </p:nvSpPr>
        <p:spPr>
          <a:xfrm>
            <a:off x="722376"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Fast Rust tokenizers are the default, but Python pre-normalisation can dominate at high QPS — profile the whole pipeline, not just the model.</a:t>
            </a:r>
            <a:endParaRPr lang="en-US" sz="1050" dirty="0"/>
          </a:p>
        </p:txBody>
      </p:sp>
      <p:sp>
        <p:nvSpPr>
          <p:cNvPr id="28" name="Shape 25"/>
          <p:cNvSpPr/>
          <p:nvPr/>
        </p:nvSpPr>
        <p:spPr>
          <a:xfrm>
            <a:off x="4322064" y="4078224"/>
            <a:ext cx="3544824" cy="2286000"/>
          </a:xfrm>
          <a:prstGeom prst="roundRect">
            <a:avLst>
              <a:gd name="adj" fmla="val 2400"/>
            </a:avLst>
          </a:prstGeom>
          <a:solidFill>
            <a:srgbClr val="F2F6F8"/>
          </a:solidFill>
          <a:ln/>
        </p:spPr>
      </p:sp>
      <p:sp>
        <p:nvSpPr>
          <p:cNvPr id="29" name="Shape 26"/>
          <p:cNvSpPr/>
          <p:nvPr/>
        </p:nvSpPr>
        <p:spPr>
          <a:xfrm>
            <a:off x="4322064" y="4078224"/>
            <a:ext cx="82296" cy="2286000"/>
          </a:xfrm>
          <a:prstGeom prst="rect">
            <a:avLst/>
          </a:prstGeom>
          <a:solidFill>
            <a:srgbClr val="00A79D"/>
          </a:solidFill>
          <a:ln/>
        </p:spPr>
      </p:sp>
      <p:sp>
        <p:nvSpPr>
          <p:cNvPr id="30" name="Text 27"/>
          <p:cNvSpPr/>
          <p:nvPr/>
        </p:nvSpPr>
        <p:spPr>
          <a:xfrm>
            <a:off x="4541520" y="419709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PLACEMENT</a:t>
            </a:r>
            <a:endParaRPr lang="en-US" sz="950" dirty="0"/>
          </a:p>
        </p:txBody>
      </p:sp>
      <p:sp>
        <p:nvSpPr>
          <p:cNvPr id="31" name="Text 28"/>
          <p:cNvSpPr/>
          <p:nvPr/>
        </p:nvSpPr>
        <p:spPr>
          <a:xfrm>
            <a:off x="4541520"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CPU vs GPU</a:t>
            </a:r>
            <a:endParaRPr lang="en-US" sz="1450" dirty="0"/>
          </a:p>
        </p:txBody>
      </p:sp>
      <p:sp>
        <p:nvSpPr>
          <p:cNvPr id="32" name="Text 29"/>
          <p:cNvSpPr/>
          <p:nvPr/>
        </p:nvSpPr>
        <p:spPr>
          <a:xfrm>
            <a:off x="4541520"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GPU: throughput per riyal at high sustained QPS with batching. CPU: modest QPS, spiky traffic, on-prem — no batch-assembly latency, simpler ops.</a:t>
            </a:r>
            <a:endParaRPr lang="en-US" sz="1050" dirty="0"/>
          </a:p>
        </p:txBody>
      </p:sp>
      <p:sp>
        <p:nvSpPr>
          <p:cNvPr id="33" name="Shape 30"/>
          <p:cNvSpPr/>
          <p:nvPr/>
        </p:nvSpPr>
        <p:spPr>
          <a:xfrm>
            <a:off x="8141208" y="4078224"/>
            <a:ext cx="3544824" cy="2286000"/>
          </a:xfrm>
          <a:prstGeom prst="roundRect">
            <a:avLst>
              <a:gd name="adj" fmla="val 2400"/>
            </a:avLst>
          </a:prstGeom>
          <a:solidFill>
            <a:srgbClr val="F2F6F8"/>
          </a:solidFill>
          <a:ln/>
        </p:spPr>
      </p:sp>
      <p:sp>
        <p:nvSpPr>
          <p:cNvPr id="34" name="Shape 31"/>
          <p:cNvSpPr/>
          <p:nvPr/>
        </p:nvSpPr>
        <p:spPr>
          <a:xfrm>
            <a:off x="8141208" y="4078224"/>
            <a:ext cx="82296" cy="2286000"/>
          </a:xfrm>
          <a:prstGeom prst="rect">
            <a:avLst/>
          </a:prstGeom>
          <a:solidFill>
            <a:srgbClr val="29ABE2"/>
          </a:solidFill>
          <a:ln/>
        </p:spPr>
      </p:sp>
      <p:sp>
        <p:nvSpPr>
          <p:cNvPr id="35" name="Text 32"/>
          <p:cNvSpPr/>
          <p:nvPr/>
        </p:nvSpPr>
        <p:spPr>
          <a:xfrm>
            <a:off x="8360664" y="419709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ROLLBACK</a:t>
            </a:r>
            <a:endParaRPr lang="en-US" sz="950" dirty="0"/>
          </a:p>
        </p:txBody>
      </p:sp>
      <p:sp>
        <p:nvSpPr>
          <p:cNvPr id="36" name="Text 33"/>
          <p:cNvSpPr/>
          <p:nvPr/>
        </p:nvSpPr>
        <p:spPr>
          <a:xfrm>
            <a:off x="8360664"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Version the artefact</a:t>
            </a:r>
            <a:endParaRPr lang="en-US" sz="1450" dirty="0"/>
          </a:p>
        </p:txBody>
      </p:sp>
      <p:sp>
        <p:nvSpPr>
          <p:cNvPr id="37" name="Text 34"/>
          <p:cNvSpPr/>
          <p:nvPr/>
        </p:nvSpPr>
        <p:spPr>
          <a:xfrm>
            <a:off x="8360664"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ONNX file + tokenizer + manifest + model card noting the quantisation and its measured tax. Keep fp32 as the accuracy reference and rollback path.</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 Honestly or Not at All</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قِس بأمانة أو لا تقِس أبداً</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122</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The single-shot time.time() around one forward pass produces numbers that are wrong in every direction that matters.</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Method</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Warm-up: discard the first 20-50 iterations — allocator pools, kernel selection, ORT graph capture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Report p50 and p99, never the mean — latency is length-dependent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Benchmark on the real length histogram from M1's audit, not one synthetic sentence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Benchmark at target concurrency, on the serving path — HTTP included, not just the bare model() call</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Environment honesty</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Pin threads (OMP_NUM_THREADS, torch.set_num_threads); note the hardware; watch frequency scaling</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A model doing 12 ms alone may do 80 ms at 16 concurrent requests — contention and cache pressure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Record all of it in BENCHMARKS.md — a benchmark without its environment is an anecdote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Every row carries its macro-F1 paired against fp32 — speed tables without accuracy columns ship regressions</a:t>
            </a:r>
            <a:endParaRPr lang="en-US" sz="12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Benchmark Harness Comes First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منصة القياس تأتي أولاً</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123</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Built first, argued from later: warm-up paid off-book, inputs sampled from the production length mix, percentiles out. Every optimisation claim is a diff against this.</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src/bayan/bench.py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import time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import numpy as np</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benchmark(predict_fn, texts, warmup=30, iters=300, seed=42):</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"""predict_fn: text -&gt; label. texts: sampled from the PRODUCTION length mix."""</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rng = np.random.default_rng(seed)</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sample = [texts[i] for i in rng.integers(0, len(texts), iters + warmup)]</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for t in sample[:warmup]:                     # pay one-time costs off-book</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predict_fn(t)</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lat = []</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for t in sample[warmup:]:</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t0 = time.perf_counter()</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predict_fn(t)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lat.append((time.perf_counter() - t0) * 1000)</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return {"p50_ms": float(np.percentile(lat, 50)),</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"p99_ms": float(np.percentile(lat, 99)),</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"mean_ms": float(np.mean(lat)),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"throughput_rps_1worker": 1000 / float(np.mean(lat))}</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Off-book warm-up</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First calls pay one-time costs: allocator pools, kernel selection, ORT graph capture. Discard 20-50 iterations before the clock starts.</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Percentiles, not means</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texts come from the production length histogram (bench_mix.npy); the dict reports p50/p99 plus single-worker throughput.</a:t>
            </a:r>
            <a:endParaRPr lang="en-US" sz="9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Rungs 2-3: Export, Then Quantise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الدرجتان ٢-٣: صدِّر ثم كمِّم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124</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Afternoon work with optimum: ONNX export keeps the tokenizer contract intact; dynamic INT8 needs no calibration set.</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src/bayan/optimize.py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from optimum.onnxruntime import ORTModelForSequenceClassification, ORTQuantizer</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from optimum.onnxruntime.configuration import AutoQuantizationConfig</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from transformers import AutoTokenizer</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SRC = "artifacts/topic-classifier-42"             # Lab 3's fp32 artefact</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def export_and_quantize(out_dir="artifacts/topic-onnx"):</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 Rung 2: export — graph fusion and constant folding come free with ORT</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model = ORTModelForSequenceClassification.from_pretrained(SRC, export=True)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tok = AutoTokenizer.from_pretrained(SRC)</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model.save_pretrained(out_dir)</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tok.save_pretrained(out_dir)</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 Rung 3: dynamic INT8 — weights quantised, activations on the fly</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quantizer = ORTQuantizer.from_pretrained(out_dir)</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qconfig = AutoQuantizationConfig.avx512_vnni(is_static=False, per_channel=False)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quantizer.quantize(save_dir=f"{out_dir}-int8", quantization_config=qconfig)</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 NOTE: pick the qconfig for the SERVING CPU (avx2 fallback in lab repo)</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 — quantisation kernels are ISA-specific; benchmark on the target box.</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Export is not neutral-cost</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ORT applies graph optimisations eager PyTorch cannot: fused attention kernels, constant folding, layout optimisation — 1.5-2x on CPU by itself.</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ISA-specific kernels</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avx512_vnni on a CPU without VNNI collapses accuracy or falls back slow. Check lscpu flags; benchmark on the target box, not the laptop.</a:t>
            </a:r>
            <a:endParaRPr lang="en-US" sz="9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Quick Check: The Ladder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فحص سريع: السلم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125</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Q1</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Order the optimisation ladder by unit cost, cheapest first.</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Quantise first — biggest single win — then export, padding, and hardware last</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Length/padding/batching → ONNX export → dynamic INT8 → distilled checkpoint → hardware</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Hardware first: a bigger box makes the software rungs unnecessary</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Distil first — a smaller model makes every later rung cheaper</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The ladder order is the procurement counter-argument: free → hours → afternoon → training project → procurement. Stop climbing when p99 meets budget.</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Ladder, Measured End to End</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السلم مُقاساً من طرف إلى طرف</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126</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Every rung: latency AND paired accuracy. The table IS the deliverable.</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notebooks/07_ladder.py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texts = np.load("data/bench_mix.npy", allow_pickle=True).tolist()  # prod length mix</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RUNGS = {</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"fp32 torch, max_length=512 pad": dict(path="artifacts/topic-classifier-42",</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ort=False, max_length=512, pad="max_length"),</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"fp32 torch, dynamic pad @128":   dict(path="artifacts/topic-classifier-42",</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ort=False, max_length=128, pad=True),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"onnx fp32 @128":                 dict(path="artifacts/topic-onnx",</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ort=True, max_length=128, pad=True),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"onnx int8 @128":                 dict(path="artifacts/topic-onnx-int8",</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ort=True, max_length=128, pad=True),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a:t>
            </a:r>
            <a:endParaRPr lang="en-US" sz="950" dirty="0"/>
          </a:p>
          <a:p>
            <a:pPr indent="0" marL="0">
              <a:lnSpc>
                <a:spcPct val="104000"/>
              </a:lnSpc>
              <a:buNone/>
            </a:pP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for name, cfg in RUNGS.items():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cls = ORTModelForSequenceClassification if cfg["ort"] \</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else AutoModelForSequenceClassification</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pipe = pipeline("text-classification", model=cls.from_pretrained(cfg["path"]),</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tokenizer=AutoTokenizer.from_pretrained(cfg["path"]), device=-1)</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stats = benchmark(lambda t: pipe(t, truncation=True,</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max_length=cfg["max_length"]), texts)</a:t>
            </a:r>
            <a:endParaRPr lang="en-US" sz="950" dirty="0"/>
          </a:p>
          <a:p>
            <a:pPr indent="0" marL="0">
              <a:lnSpc>
                <a:spcPct val="104000"/>
              </a:lnSpc>
              <a:buNone/>
            </a:pPr>
            <a:r>
              <a:rPr lang="en-US" sz="950" dirty="0">
                <a:solidFill>
                  <a:srgbClr val="D8E1F0"/>
                </a:solidFill>
                <a:latin typeface="Courier New" pitchFamily="34" charset="0"/>
                <a:ea typeface="Courier New" pitchFamily="34" charset="-122"/>
                <a:cs typeface="Courier New" pitchFamily="34" charset="-120"/>
              </a:rPr>
              <a:t>    print(f"{name:34s} p50={stats['p50_ms']:6.1f} ms  p99={stats['p99_ms']:6.1f} ms")</a:t>
            </a:r>
            <a:endParaRPr lang="en-US" sz="9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CPU is the target</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device=-1 everywhere: the serving target is the 4-core lab CPU with OMP_NUM_THREADS=4 — not the GPU pool the model was trained on.</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Reference output</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96.3 → 41.7 → 24.9 → 11.8 ms p50 (8x). Accuracy paired vs fp32: onnx ±0.000; int8 -0.004 macro-F1, CI [-0.007, -0.001].</a:t>
            </a:r>
            <a:endParaRPr lang="en-US" sz="9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Serving With Canaries at the Door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الخدمة مع فحوص الكناري عند الإقلاع</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127</a:t>
            </a:r>
            <a:endParaRPr lang="en-US" sz="800" dirty="0"/>
          </a:p>
        </p:txBody>
      </p:sp>
      <p:sp>
        <p:nvSpPr>
          <p:cNvPr id="8" name="Text 5"/>
          <p:cNvSpPr/>
          <p:nvPr/>
        </p:nvSpPr>
        <p:spPr>
          <a:xfrm>
            <a:off x="502920" y="1463040"/>
            <a:ext cx="11183112" cy="50292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The AIE-113 FastAPI skeleton with NLP organs: validated input, optimised model, skew canaries asserted at startup.</a:t>
            </a:r>
            <a:endParaRPr lang="en-US" sz="1200" dirty="0"/>
          </a:p>
        </p:txBody>
      </p:sp>
      <p:sp>
        <p:nvSpPr>
          <p:cNvPr id="9" name="Shape 6"/>
          <p:cNvSpPr/>
          <p:nvPr/>
        </p:nvSpPr>
        <p:spPr>
          <a:xfrm>
            <a:off x="502920" y="2057400"/>
            <a:ext cx="7589520" cy="4297680"/>
          </a:xfrm>
          <a:prstGeom prst="roundRect">
            <a:avLst>
              <a:gd name="adj" fmla="val 1702"/>
            </a:avLst>
          </a:prstGeom>
          <a:solidFill>
            <a:srgbClr val="141E3C"/>
          </a:solidFill>
          <a:ln/>
        </p:spPr>
      </p:sp>
      <p:sp>
        <p:nvSpPr>
          <p:cNvPr id="10" name="Text 7"/>
          <p:cNvSpPr/>
          <p:nvPr/>
        </p:nvSpPr>
        <p:spPr>
          <a:xfrm>
            <a:off x="777240" y="2167128"/>
            <a:ext cx="7040880" cy="256032"/>
          </a:xfrm>
          <a:prstGeom prst="rect">
            <a:avLst/>
          </a:prstGeom>
          <a:noFill/>
          <a:ln/>
        </p:spPr>
        <p:txBody>
          <a:bodyPr wrap="square" lIns="0" tIns="0" rIns="0" bIns="0" rtlCol="0" anchor="ctr"/>
          <a:lstStyle/>
          <a:p>
            <a:pPr indent="0" marL="0">
              <a:buNone/>
            </a:pPr>
            <a:r>
              <a:rPr lang="en-US" sz="1000" b="1" dirty="0">
                <a:solidFill>
                  <a:srgbClr val="00A79D"/>
                </a:solidFill>
                <a:latin typeface="Courier New" pitchFamily="34" charset="0"/>
                <a:ea typeface="Courier New" pitchFamily="34" charset="-122"/>
                <a:cs typeface="Courier New" pitchFamily="34" charset="-120"/>
              </a:rPr>
              <a:t>src/bayan/api.py</a:t>
            </a:r>
            <a:endParaRPr lang="en-US" sz="1000" dirty="0"/>
          </a:p>
        </p:txBody>
      </p:sp>
      <p:sp>
        <p:nvSpPr>
          <p:cNvPr id="11" name="Text 8"/>
          <p:cNvSpPr/>
          <p:nvPr/>
        </p:nvSpPr>
        <p:spPr>
          <a:xfrm>
            <a:off x="777240" y="2468880"/>
            <a:ext cx="7040880" cy="3749040"/>
          </a:xfrm>
          <a:prstGeom prst="rect">
            <a:avLst/>
          </a:prstGeom>
          <a:noFill/>
          <a:ln/>
        </p:spPr>
        <p:txBody>
          <a:bodyPr wrap="square" lIns="0" tIns="0" rIns="0" bIns="0" rtlCol="0" anchor="t"/>
          <a:lstStyle/>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MODEL_DIR = "artifacts/topic-onnx-int8"</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CANARY = "انقطعت الكهرباء في حي النرجس"          # pinned input ...</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CANARY_LABEL = "outage"                            # ... pinned behaviour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state = {}</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@asynccontextmanager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async def lifespan(app: FastAPI):</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tok = AutoTokenizer.from_pretrained(MODEL_DIR)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model = ORTModelForSequenceClassification.from_pretrained(MODEL_DIR)</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state["pipe"] = pipeline("text-classification", model=model, tokenizer=tok)</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 Skew canaries: tokenizer contract + end-to-end behaviour, at startup</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assert tok(CANARY).input_ids == [2, 14338, 9645, 1029, 3541, 22001, 3]</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assert state["pipe"](normalize_arabic(CANARY))[0]["label"] == CANARY_LABEL</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yield</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app = FastAPI(lifespan=lifespan)</a:t>
            </a:r>
            <a:endParaRPr lang="en-US" sz="850" dirty="0"/>
          </a:p>
          <a:p>
            <a:pPr indent="0" marL="0">
              <a:lnSpc>
                <a:spcPct val="104000"/>
              </a:lnSpc>
              <a:buNone/>
            </a:pP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class FeedbackIn(BaseModel):</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text: str = Field(min_length=3, max_length=4000)</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@app.post("/v1/classify")</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def classify(body: FeedbackIn) -&gt; dict:                # CPU-bound: plain def</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result = state["pipe"](normalize_arabic(body.text), truncation=True, max_length=128)[0]</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return {"topic": result["label"], "confidence": round(result["score"], 4),</a:t>
            </a:r>
            <a:endParaRPr lang="en-US" sz="850" dirty="0"/>
          </a:p>
          <a:p>
            <a:pPr indent="0" marL="0">
              <a:lnSpc>
                <a:spcPct val="104000"/>
              </a:lnSpc>
              <a:buNone/>
            </a:pPr>
            <a:r>
              <a:rPr lang="en-US" sz="850" dirty="0">
                <a:solidFill>
                  <a:srgbClr val="D8E1F0"/>
                </a:solidFill>
                <a:latin typeface="Courier New" pitchFamily="34" charset="0"/>
                <a:ea typeface="Courier New" pitchFamily="34" charset="-122"/>
                <a:cs typeface="Courier New" pitchFamily="34" charset="-120"/>
              </a:rPr>
              <a:t>            "model": f"{MODEL_DIR}@int8", "preproc": PREPROC_VERSION}</a:t>
            </a:r>
            <a:endParaRPr lang="en-US" sz="850" dirty="0"/>
          </a:p>
        </p:txBody>
      </p:sp>
      <p:sp>
        <p:nvSpPr>
          <p:cNvPr id="12" name="Shape 9"/>
          <p:cNvSpPr/>
          <p:nvPr/>
        </p:nvSpPr>
        <p:spPr>
          <a:xfrm>
            <a:off x="8321040" y="2057400"/>
            <a:ext cx="3364992" cy="2048256"/>
          </a:xfrm>
          <a:prstGeom prst="roundRect">
            <a:avLst>
              <a:gd name="adj" fmla="val 2679"/>
            </a:avLst>
          </a:prstGeom>
          <a:solidFill>
            <a:srgbClr val="E6F5F4"/>
          </a:solidFill>
          <a:ln w="9525">
            <a:solidFill>
              <a:srgbClr val="00A79D"/>
            </a:solidFill>
            <a:prstDash val="solid"/>
          </a:ln>
        </p:spPr>
      </p:sp>
      <p:sp>
        <p:nvSpPr>
          <p:cNvPr id="13" name="Text 10"/>
          <p:cNvSpPr/>
          <p:nvPr/>
        </p:nvSpPr>
        <p:spPr>
          <a:xfrm>
            <a:off x="8485632" y="2148840"/>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Pinned string, pinned ids</a:t>
            </a:r>
            <a:endParaRPr lang="en-US" sz="1100" dirty="0"/>
          </a:p>
        </p:txBody>
      </p:sp>
      <p:sp>
        <p:nvSpPr>
          <p:cNvPr id="14" name="Text 11"/>
          <p:cNvSpPr/>
          <p:nvPr/>
        </p:nvSpPr>
        <p:spPr>
          <a:xfrm>
            <a:off x="8485632" y="2441448"/>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The M1 canary rides along: exact ids, exact label — and after quantisation, logits within tolerance, never exact-match. Read the assert before blaming INT8.</a:t>
            </a:r>
            <a:endParaRPr lang="en-US" sz="950" dirty="0"/>
          </a:p>
        </p:txBody>
      </p:sp>
      <p:sp>
        <p:nvSpPr>
          <p:cNvPr id="15" name="Shape 12"/>
          <p:cNvSpPr/>
          <p:nvPr/>
        </p:nvSpPr>
        <p:spPr>
          <a:xfrm>
            <a:off x="8321040" y="4306824"/>
            <a:ext cx="3364992" cy="2048256"/>
          </a:xfrm>
          <a:prstGeom prst="roundRect">
            <a:avLst>
              <a:gd name="adj" fmla="val 2679"/>
            </a:avLst>
          </a:prstGeom>
          <a:solidFill>
            <a:srgbClr val="EAF6FC"/>
          </a:solidFill>
          <a:ln w="9525">
            <a:solidFill>
              <a:srgbClr val="29ABE2"/>
            </a:solidFill>
            <a:prstDash val="solid"/>
          </a:ln>
        </p:spPr>
      </p:sp>
      <p:sp>
        <p:nvSpPr>
          <p:cNvPr id="16" name="Text 13"/>
          <p:cNvSpPr/>
          <p:nvPr/>
        </p:nvSpPr>
        <p:spPr>
          <a:xfrm>
            <a:off x="8485632" y="4398264"/>
            <a:ext cx="3035808" cy="274320"/>
          </a:xfrm>
          <a:prstGeom prst="rect">
            <a:avLst/>
          </a:prstGeom>
          <a:noFill/>
          <a:ln/>
        </p:spPr>
        <p:txBody>
          <a:bodyPr wrap="square" lIns="0" tIns="0" rIns="0" bIns="0" rtlCol="0" anchor="ctr"/>
          <a:lstStyle/>
          <a:p>
            <a:pPr indent="0" marL="0">
              <a:buNone/>
            </a:pPr>
            <a:r>
              <a:rPr lang="en-US" sz="1100" b="1" dirty="0">
                <a:solidFill>
                  <a:srgbClr val="1D2A5C"/>
                </a:solidFill>
                <a:latin typeface="Calibri" pitchFamily="34" charset="0"/>
                <a:ea typeface="Calibri" pitchFamily="34" charset="-122"/>
                <a:cs typeface="Calibri" pitchFamily="34" charset="-120"/>
              </a:rPr>
              <a:t>The response is versioned</a:t>
            </a:r>
            <a:endParaRPr lang="en-US" sz="1100" dirty="0"/>
          </a:p>
        </p:txBody>
      </p:sp>
      <p:sp>
        <p:nvSpPr>
          <p:cNvPr id="17" name="Text 14"/>
          <p:cNvSpPr/>
          <p:nvPr/>
        </p:nvSpPr>
        <p:spPr>
          <a:xfrm>
            <a:off x="8485632" y="4690872"/>
            <a:ext cx="3035808" cy="1545336"/>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model and preproc fields name the artefact and PREPROC_VERSION — quality drift after a rollout gets traced, not guessed.</a:t>
            </a:r>
            <a:endParaRPr lang="en-US" sz="9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7 — Hit the Latency Budget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٧ — حقِّق ميزانية الكمون</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128</a:t>
            </a:r>
            <a:endParaRPr lang="en-US" sz="800" dirty="0"/>
          </a:p>
        </p:txBody>
      </p:sp>
      <p:sp>
        <p:nvSpPr>
          <p:cNvPr id="8" name="Shape 5"/>
          <p:cNvSpPr/>
          <p:nvPr/>
        </p:nvSpPr>
        <p:spPr>
          <a:xfrm>
            <a:off x="502920" y="1463040"/>
            <a:ext cx="11183112" cy="548640"/>
          </a:xfrm>
          <a:prstGeom prst="roundRect">
            <a:avLst>
              <a:gd name="adj" fmla="val 13333"/>
            </a:avLst>
          </a:prstGeom>
          <a:solidFill>
            <a:srgbClr val="1D2A5C"/>
          </a:solidFill>
          <a:ln/>
        </p:spPr>
      </p:sp>
      <p:sp>
        <p:nvSpPr>
          <p:cNvPr id="9" name="Text 6"/>
          <p:cNvSpPr/>
          <p:nvPr/>
        </p:nvSpPr>
        <p:spPr>
          <a:xfrm>
            <a:off x="685800" y="1463040"/>
            <a:ext cx="8961120" cy="548640"/>
          </a:xfrm>
          <a:prstGeom prst="rect">
            <a:avLst/>
          </a:prstGeom>
          <a:noFill/>
          <a:ln/>
        </p:spPr>
        <p:txBody>
          <a:bodyPr wrap="square" lIns="0" tIns="0" rIns="0" bIns="0" rtlCol="0" anchor="ctr"/>
          <a:lstStyle/>
          <a:p>
            <a:pPr indent="0" marL="0">
              <a:buNone/>
            </a:pPr>
            <a:r>
              <a:rPr lang="en-US" sz="1300" b="1" dirty="0">
                <a:solidFill>
                  <a:srgbClr val="F7941D"/>
                </a:solidFill>
                <a:latin typeface="Calibri" pitchFamily="34" charset="0"/>
                <a:ea typeface="Calibri" pitchFamily="34" charset="-122"/>
                <a:cs typeface="Calibri" pitchFamily="34" charset="-120"/>
              </a:rPr>
              <a:t>  HANDS-ON LAB 7   </a:t>
            </a:r>
            <a:pPr indent="0" marL="0">
              <a:buNone/>
            </a:pPr>
            <a:r>
              <a:rPr lang="en-US" sz="1400" b="1" dirty="0">
                <a:solidFill>
                  <a:srgbClr val="FFFFFF"/>
                </a:solidFill>
                <a:latin typeface="Calibri" pitchFamily="34" charset="0"/>
                <a:ea typeface="Calibri" pitchFamily="34" charset="-122"/>
                <a:cs typeface="Calibri" pitchFamily="34" charset="-120"/>
              </a:rPr>
              <a:t>Hit the Latency Budget</a:t>
            </a:r>
            <a:endParaRPr lang="en-US" sz="1300" dirty="0"/>
          </a:p>
        </p:txBody>
      </p:sp>
      <p:sp>
        <p:nvSpPr>
          <p:cNvPr id="10" name="Text 7"/>
          <p:cNvSpPr/>
          <p:nvPr/>
        </p:nvSpPr>
        <p:spPr>
          <a:xfrm>
            <a:off x="9692640" y="1463040"/>
            <a:ext cx="1828800" cy="548640"/>
          </a:xfrm>
          <a:prstGeom prst="rect">
            <a:avLst/>
          </a:prstGeom>
          <a:noFill/>
          <a:ln/>
        </p:spPr>
        <p:txBody>
          <a:bodyPr wrap="square" lIns="0" tIns="0" rIns="0" bIns="0" rtlCol="0" anchor="ctr"/>
          <a:lstStyle/>
          <a:p>
            <a:pPr algn="r" indent="0" marL="0">
              <a:buNone/>
            </a:pPr>
            <a:r>
              <a:rPr lang="en-US" sz="1200" b="1" dirty="0">
                <a:solidFill>
                  <a:srgbClr val="00A79D"/>
                </a:solidFill>
                <a:latin typeface="Calibri" pitchFamily="34" charset="0"/>
                <a:ea typeface="Calibri" pitchFamily="34" charset="-122"/>
                <a:cs typeface="Calibri" pitchFamily="34" charset="-120"/>
              </a:rPr>
              <a:t>50 min</a:t>
            </a:r>
            <a:endParaRPr lang="en-US" sz="1200" dirty="0"/>
          </a:p>
        </p:txBody>
      </p:sp>
      <p:sp>
        <p:nvSpPr>
          <p:cNvPr id="11" name="Text 8"/>
          <p:cNvSpPr/>
          <p:nvPr/>
        </p:nvSpPr>
        <p:spPr>
          <a:xfrm>
            <a:off x="502920" y="2240280"/>
            <a:ext cx="6903720" cy="256032"/>
          </a:xfrm>
          <a:prstGeom prst="rect">
            <a:avLst/>
          </a:prstGeom>
          <a:noFill/>
          <a:ln/>
        </p:spPr>
        <p:txBody>
          <a:bodyPr wrap="square" lIns="0" tIns="0" rIns="0" bIns="0" rtlCol="0" anchor="ctr"/>
          <a:lstStyle/>
          <a:p>
            <a:pPr indent="0" marL="0">
              <a:buNone/>
            </a:pPr>
            <a:r>
              <a:rPr lang="en-US" sz="1050" b="1" spc="150" kern="0" dirty="0">
                <a:solidFill>
                  <a:srgbClr val="00A79D"/>
                </a:solidFill>
                <a:latin typeface="Calibri" pitchFamily="34" charset="0"/>
                <a:ea typeface="Calibri" pitchFamily="34" charset="-122"/>
                <a:cs typeface="Calibri" pitchFamily="34" charset="-120"/>
              </a:rPr>
              <a:t>TASKS</a:t>
            </a:r>
            <a:endParaRPr lang="en-US" sz="1050" dirty="0"/>
          </a:p>
        </p:txBody>
      </p:sp>
      <p:sp>
        <p:nvSpPr>
          <p:cNvPr id="12" name="Shape 9"/>
          <p:cNvSpPr/>
          <p:nvPr/>
        </p:nvSpPr>
        <p:spPr>
          <a:xfrm>
            <a:off x="502920" y="2578608"/>
            <a:ext cx="274320" cy="274320"/>
          </a:xfrm>
          <a:prstGeom prst="ellipse">
            <a:avLst/>
          </a:prstGeom>
          <a:solidFill>
            <a:srgbClr val="00A79D"/>
          </a:solidFill>
          <a:ln/>
        </p:spPr>
      </p:sp>
      <p:sp>
        <p:nvSpPr>
          <p:cNvPr id="13" name="Text 10"/>
          <p:cNvSpPr/>
          <p:nvPr/>
        </p:nvSpPr>
        <p:spPr>
          <a:xfrm>
            <a:off x="50292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p:nvPr/>
        </p:nvSpPr>
        <p:spPr>
          <a:xfrm>
            <a:off x="914400" y="255117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Baseline first (10 min): fp32 @512 padded row + free-wins row (dynamic pad @128) — before touching optimum</a:t>
            </a:r>
            <a:endParaRPr lang="en-US" sz="1100" dirty="0"/>
          </a:p>
        </p:txBody>
      </p:sp>
      <p:sp>
        <p:nvSpPr>
          <p:cNvPr id="15" name="Shape 12"/>
          <p:cNvSpPr/>
          <p:nvPr/>
        </p:nvSpPr>
        <p:spPr>
          <a:xfrm>
            <a:off x="502920" y="3211068"/>
            <a:ext cx="274320" cy="274320"/>
          </a:xfrm>
          <a:prstGeom prst="ellipse">
            <a:avLst/>
          </a:prstGeom>
          <a:solidFill>
            <a:srgbClr val="00A79D"/>
          </a:solidFill>
          <a:ln/>
        </p:spPr>
      </p:sp>
      <p:sp>
        <p:nvSpPr>
          <p:cNvPr id="16" name="Text 13"/>
          <p:cNvSpPr/>
          <p:nvPr/>
        </p:nvSpPr>
        <p:spPr>
          <a:xfrm>
            <a:off x="502920" y="32110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4"/>
          <p:cNvSpPr/>
          <p:nvPr/>
        </p:nvSpPr>
        <p:spPr>
          <a:xfrm>
            <a:off x="914400" y="318363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Export to ONNX (10 min); benchmark; paired accuracy check vs fp32 — expected identical within tolerance</a:t>
            </a:r>
            <a:endParaRPr lang="en-US" sz="1100" dirty="0"/>
          </a:p>
        </p:txBody>
      </p:sp>
      <p:sp>
        <p:nvSpPr>
          <p:cNvPr id="18" name="Shape 15"/>
          <p:cNvSpPr/>
          <p:nvPr/>
        </p:nvSpPr>
        <p:spPr>
          <a:xfrm>
            <a:off x="502920" y="3843528"/>
            <a:ext cx="274320" cy="274320"/>
          </a:xfrm>
          <a:prstGeom prst="ellipse">
            <a:avLst/>
          </a:prstGeom>
          <a:solidFill>
            <a:srgbClr val="00A79D"/>
          </a:solidFill>
          <a:ln/>
        </p:spPr>
      </p:sp>
      <p:sp>
        <p:nvSpPr>
          <p:cNvPr id="19" name="Text 16"/>
          <p:cNvSpPr/>
          <p:nvPr/>
        </p:nvSpPr>
        <p:spPr>
          <a:xfrm>
            <a:off x="502920" y="38435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914400" y="381609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Quantise to INT8 (10 min) with the qconfig matching the lab CPU; record the tax with its CI in the table</a:t>
            </a:r>
            <a:endParaRPr lang="en-US" sz="1100" dirty="0"/>
          </a:p>
        </p:txBody>
      </p:sp>
      <p:sp>
        <p:nvSpPr>
          <p:cNvPr id="21" name="Shape 18"/>
          <p:cNvSpPr/>
          <p:nvPr/>
        </p:nvSpPr>
        <p:spPr>
          <a:xfrm>
            <a:off x="502920" y="4475988"/>
            <a:ext cx="274320" cy="274320"/>
          </a:xfrm>
          <a:prstGeom prst="ellipse">
            <a:avLst/>
          </a:prstGeom>
          <a:solidFill>
            <a:srgbClr val="00A79D"/>
          </a:solidFill>
          <a:ln/>
        </p:spPr>
      </p:sp>
      <p:sp>
        <p:nvSpPr>
          <p:cNvPr id="22" name="Text 19"/>
          <p:cNvSpPr/>
          <p:nvPr/>
        </p:nvSpPr>
        <p:spPr>
          <a:xfrm>
            <a:off x="502920" y="44759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0"/>
          <p:cNvSpPr/>
          <p:nvPr/>
        </p:nvSpPr>
        <p:spPr>
          <a:xfrm>
            <a:off x="914400" y="444855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Repeat export + INT8 for the NER model (10 min); explain why its tax is larger in one sentence</a:t>
            </a:r>
            <a:endParaRPr lang="en-US" sz="1100" dirty="0"/>
          </a:p>
        </p:txBody>
      </p:sp>
      <p:sp>
        <p:nvSpPr>
          <p:cNvPr id="24" name="Shape 21"/>
          <p:cNvSpPr/>
          <p:nvPr/>
        </p:nvSpPr>
        <p:spPr>
          <a:xfrm>
            <a:off x="502920" y="5108448"/>
            <a:ext cx="274320" cy="274320"/>
          </a:xfrm>
          <a:prstGeom prst="ellipse">
            <a:avLst/>
          </a:prstGeom>
          <a:solidFill>
            <a:srgbClr val="00A79D"/>
          </a:solidFill>
          <a:ln/>
        </p:spPr>
      </p:sp>
      <p:sp>
        <p:nvSpPr>
          <p:cNvPr id="25" name="Text 22"/>
          <p:cNvSpPr/>
          <p:nvPr/>
        </p:nvSpPr>
        <p:spPr>
          <a:xfrm>
            <a:off x="502920" y="51084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p:nvPr/>
        </p:nvSpPr>
        <p:spPr>
          <a:xfrm>
            <a:off x="914400" y="508101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Wire the winner into api.py; load-test: hey, 16 concurrent, 60 s; confirm p99 under budget through HTTP</a:t>
            </a:r>
            <a:endParaRPr lang="en-US" sz="1100" dirty="0"/>
          </a:p>
        </p:txBody>
      </p:sp>
      <p:sp>
        <p:nvSpPr>
          <p:cNvPr id="27" name="Shape 24"/>
          <p:cNvSpPr/>
          <p:nvPr/>
        </p:nvSpPr>
        <p:spPr>
          <a:xfrm>
            <a:off x="502920" y="5740908"/>
            <a:ext cx="274320" cy="274320"/>
          </a:xfrm>
          <a:prstGeom prst="ellipse">
            <a:avLst/>
          </a:prstGeom>
          <a:solidFill>
            <a:srgbClr val="00A79D"/>
          </a:solidFill>
          <a:ln/>
        </p:spPr>
      </p:sp>
      <p:sp>
        <p:nvSpPr>
          <p:cNvPr id="28" name="Text 25"/>
          <p:cNvSpPr/>
          <p:nvPr/>
        </p:nvSpPr>
        <p:spPr>
          <a:xfrm>
            <a:off x="502920" y="57409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6"/>
          <p:cNvSpPr/>
          <p:nvPr/>
        </p:nvSpPr>
        <p:spPr>
          <a:xfrm>
            <a:off x="914400" y="5713476"/>
            <a:ext cx="6492240" cy="6324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Commit 'perf(serving): int8 onnx classifier, p99 21ms (-8x), -0.4 F1 measured'; fill BENCHMARKS.md</a:t>
            </a:r>
            <a:endParaRPr lang="en-US" sz="1100" dirty="0"/>
          </a:p>
        </p:txBody>
      </p:sp>
      <p:sp>
        <p:nvSpPr>
          <p:cNvPr id="30" name="Shape 27"/>
          <p:cNvSpPr/>
          <p:nvPr/>
        </p:nvSpPr>
        <p:spPr>
          <a:xfrm>
            <a:off x="7635240" y="2240280"/>
            <a:ext cx="4050792" cy="1264920"/>
          </a:xfrm>
          <a:prstGeom prst="roundRect">
            <a:avLst>
              <a:gd name="adj" fmla="val 4337"/>
            </a:avLst>
          </a:prstGeom>
          <a:solidFill>
            <a:srgbClr val="E6F5F4"/>
          </a:solidFill>
          <a:ln w="9525">
            <a:solidFill>
              <a:srgbClr val="00A79D"/>
            </a:solidFill>
            <a:prstDash val="solid"/>
          </a:ln>
        </p:spPr>
      </p:sp>
      <p:sp>
        <p:nvSpPr>
          <p:cNvPr id="31" name="Text 28"/>
          <p:cNvSpPr/>
          <p:nvPr/>
        </p:nvSpPr>
        <p:spPr>
          <a:xfrm>
            <a:off x="7799832" y="2322576"/>
            <a:ext cx="3721608"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OBJECTIVE</a:t>
            </a:r>
            <a:endParaRPr lang="en-US" sz="950" dirty="0"/>
          </a:p>
        </p:txBody>
      </p:sp>
      <p:sp>
        <p:nvSpPr>
          <p:cNvPr id="32" name="Text 29"/>
          <p:cNvSpPr/>
          <p:nvPr/>
        </p:nvSpPr>
        <p:spPr>
          <a:xfrm>
            <a:off x="7799832" y="25786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Take the classifier down the ladder to p99 ≤ 25 ms on the lab CPU at the production length mix — every rung's accuracy tax measured, winner wired into serving, canaries green.</a:t>
            </a:r>
            <a:endParaRPr lang="en-US" sz="1000" dirty="0"/>
          </a:p>
        </p:txBody>
      </p:sp>
      <p:sp>
        <p:nvSpPr>
          <p:cNvPr id="33" name="Shape 30"/>
          <p:cNvSpPr/>
          <p:nvPr/>
        </p:nvSpPr>
        <p:spPr>
          <a:xfrm>
            <a:off x="7635240" y="3688080"/>
            <a:ext cx="4050792" cy="1264920"/>
          </a:xfrm>
          <a:prstGeom prst="roundRect">
            <a:avLst>
              <a:gd name="adj" fmla="val 4337"/>
            </a:avLst>
          </a:prstGeom>
          <a:solidFill>
            <a:srgbClr val="FEF3E3"/>
          </a:solidFill>
          <a:ln w="9525">
            <a:solidFill>
              <a:srgbClr val="F7941D"/>
            </a:solidFill>
            <a:prstDash val="solid"/>
          </a:ln>
        </p:spPr>
      </p:sp>
      <p:sp>
        <p:nvSpPr>
          <p:cNvPr id="34" name="Text 31"/>
          <p:cNvSpPr/>
          <p:nvPr/>
        </p:nvSpPr>
        <p:spPr>
          <a:xfrm>
            <a:off x="7799832" y="3770376"/>
            <a:ext cx="3721608"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DELIVERABLE</a:t>
            </a:r>
            <a:endParaRPr lang="en-US" sz="950" dirty="0"/>
          </a:p>
        </p:txBody>
      </p:sp>
      <p:sp>
        <p:nvSpPr>
          <p:cNvPr id="35" name="Text 32"/>
          <p:cNvSpPr/>
          <p:nvPr/>
        </p:nvSpPr>
        <p:spPr>
          <a:xfrm>
            <a:off x="7799832" y="40264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Ladder table (4 rungs x latency + accuracy), split decision defended (INT8 topic, fp32-ONNX NER), HTTP p99 ~34 ms with 0 errors at 16 concurrent, canaries green at boot.</a:t>
            </a:r>
            <a:endParaRPr lang="en-US" sz="1000" dirty="0"/>
          </a:p>
        </p:txBody>
      </p:sp>
      <p:sp>
        <p:nvSpPr>
          <p:cNvPr id="36" name="Shape 33"/>
          <p:cNvSpPr/>
          <p:nvPr/>
        </p:nvSpPr>
        <p:spPr>
          <a:xfrm>
            <a:off x="7635240" y="5135880"/>
            <a:ext cx="4050792" cy="1264920"/>
          </a:xfrm>
          <a:prstGeom prst="roundRect">
            <a:avLst>
              <a:gd name="adj" fmla="val 4337"/>
            </a:avLst>
          </a:prstGeom>
          <a:solidFill>
            <a:srgbClr val="EAF6FC"/>
          </a:solidFill>
          <a:ln w="9525">
            <a:solidFill>
              <a:srgbClr val="29ABE2"/>
            </a:solidFill>
            <a:prstDash val="solid"/>
          </a:ln>
        </p:spPr>
      </p:sp>
      <p:sp>
        <p:nvSpPr>
          <p:cNvPr id="37" name="Text 34"/>
          <p:cNvSpPr/>
          <p:nvPr/>
        </p:nvSpPr>
        <p:spPr>
          <a:xfrm>
            <a:off x="7799832" y="5218176"/>
            <a:ext cx="3721608"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WATCH FOR</a:t>
            </a:r>
            <a:endParaRPr lang="en-US" sz="950" dirty="0"/>
          </a:p>
        </p:txBody>
      </p:sp>
      <p:sp>
        <p:nvSpPr>
          <p:cNvPr id="38" name="Text 35"/>
          <p:cNvSpPr/>
          <p:nvPr/>
        </p:nvSpPr>
        <p:spPr>
          <a:xfrm>
            <a:off x="7799832" y="5474208"/>
            <a:ext cx="3721608" cy="826008"/>
          </a:xfrm>
          <a:prstGeom prst="rect">
            <a:avLst/>
          </a:prstGeom>
          <a:noFill/>
          <a:ln/>
        </p:spPr>
        <p:txBody>
          <a:bodyPr wrap="square" lIns="0" tIns="0" rIns="0" bIns="0" rtlCol="0" anchor="t"/>
          <a:lstStyle/>
          <a:p>
            <a:pPr indent="0" marL="0">
              <a:buNone/>
            </a:pPr>
            <a:r>
              <a:rPr lang="en-US" sz="1000" dirty="0">
                <a:solidFill>
                  <a:srgbClr val="2B2B2B"/>
                </a:solidFill>
                <a:latin typeface="Calibri" pitchFamily="34" charset="0"/>
                <a:ea typeface="Calibri" pitchFamily="34" charset="-122"/>
                <a:cs typeface="Calibri" pitchFamily="34" charset="-120"/>
              </a:rPr>
              <a:t>ONNX slower than torch? Cold run or ORT x OMP thread oversubscription · INT8 collapses &gt;5 points? VNNI qconfig on a non-VNNI CPU — use avx2 · p99 3x worse over HTTP? Profile the full path — the model was never it</a:t>
            </a:r>
            <a:endParaRPr lang="en-US" sz="10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Ladder Table: Lab 7 Benchmarks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جدول السلم: معايير المختبر ٧</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129</a:t>
            </a:r>
            <a:endParaRPr lang="en-US" sz="800" dirty="0"/>
          </a:p>
        </p:txBody>
      </p:sp>
      <p:graphicFrame>
        <p:nvGraphicFramePr>
          <p:cNvPr id="130"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236622"/>
                <a:gridCol w="2236622"/>
                <a:gridCol w="2236622"/>
                <a:gridCol w="2236622"/>
                <a:gridCol w="2236622"/>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Rung</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p50</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p99</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macro-F1 [paired Δ]</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fp32 torch @512 padded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96 ms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142 ms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0.820 [—]</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517 MB</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fp32 torch @128 dynamic</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42 ms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74 ms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0.820 [±0.000]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517 MB</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ONNX fp32 @128</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25 ms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43 ms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0.820 [±0.000]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516 MB</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ONNX INT8 @128</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12 ms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21 ms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0.816 [−0.004, CI −0.007..−0.001]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130 MB</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Targets after M7: classifier p99 ≤ 25 ms bare, ≤ 40 ms over HTTP at 16 concurrent; total speed-up ≥ 6x; INT8 tax ≤ 1 macro-F1 with paired CI; NER decision documented in DECISIONS.md.</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Study: Ramadan Peak</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ذروة رمضان</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130</a:t>
            </a:r>
            <a:endParaRPr lang="en-US" sz="800" dirty="0"/>
          </a:p>
        </p:txBody>
      </p:sp>
      <p:sp>
        <p:nvSpPr>
          <p:cNvPr id="8" name="Shape 5"/>
          <p:cNvSpPr/>
          <p:nvPr/>
        </p:nvSpPr>
        <p:spPr>
          <a:xfrm>
            <a:off x="502920" y="1444752"/>
            <a:ext cx="1042416" cy="329184"/>
          </a:xfrm>
          <a:prstGeom prst="roundRect">
            <a:avLst>
              <a:gd name="adj" fmla="val 22222"/>
            </a:avLst>
          </a:prstGeom>
          <a:solidFill>
            <a:srgbClr val="1D2A5C"/>
          </a:solidFill>
          <a:ln/>
        </p:spPr>
      </p:sp>
      <p:sp>
        <p:nvSpPr>
          <p:cNvPr id="9" name="Text 6"/>
          <p:cNvSpPr/>
          <p:nvPr/>
        </p:nvSpPr>
        <p:spPr>
          <a:xfrm>
            <a:off x="502920" y="1444752"/>
            <a:ext cx="104241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CASE STUDY</a:t>
            </a:r>
            <a:endParaRPr lang="en-US" sz="1050" dirty="0"/>
          </a:p>
        </p:txBody>
      </p:sp>
      <p:sp>
        <p:nvSpPr>
          <p:cNvPr id="10" name="Text 7"/>
          <p:cNvSpPr/>
          <p:nvPr/>
        </p:nvSpPr>
        <p:spPr>
          <a:xfrm>
            <a:off x="2148840" y="1444752"/>
            <a:ext cx="9509760" cy="329184"/>
          </a:xfrm>
          <a:prstGeom prst="rect">
            <a:avLst/>
          </a:prstGeom>
          <a:noFill/>
          <a:ln/>
        </p:spPr>
        <p:txBody>
          <a:bodyPr wrap="square" lIns="0" tIns="0" rIns="0" bIns="0"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Ramadan Peak at a Regional E-Commerce Marketplace</a:t>
            </a:r>
            <a:endParaRPr lang="en-US" sz="1300" dirty="0"/>
          </a:p>
        </p:txBody>
      </p:sp>
      <p:sp>
        <p:nvSpPr>
          <p:cNvPr id="11" name="Shape 8"/>
          <p:cNvSpPr/>
          <p:nvPr/>
        </p:nvSpPr>
        <p:spPr>
          <a:xfrm>
            <a:off x="502920" y="1965960"/>
            <a:ext cx="5477256" cy="1645920"/>
          </a:xfrm>
          <a:prstGeom prst="roundRect">
            <a:avLst>
              <a:gd name="adj" fmla="val 3333"/>
            </a:avLst>
          </a:prstGeom>
          <a:solidFill>
            <a:srgbClr val="F2F6F8"/>
          </a:solidFill>
          <a:ln/>
        </p:spPr>
      </p:sp>
      <p:sp>
        <p:nvSpPr>
          <p:cNvPr id="12" name="Text 9"/>
          <p:cNvSpPr/>
          <p:nvPr/>
        </p:nvSpPr>
        <p:spPr>
          <a:xfrm>
            <a:off x="713232" y="2057400"/>
            <a:ext cx="5056632" cy="237744"/>
          </a:xfrm>
          <a:prstGeom prst="rect">
            <a:avLst/>
          </a:prstGeom>
          <a:noFill/>
          <a:ln/>
        </p:spPr>
        <p:txBody>
          <a:bodyPr wrap="square" lIns="0" tIns="0" rIns="0" bIns="0" rtlCol="0" anchor="ctr"/>
          <a:lstStyle/>
          <a:p>
            <a:pPr indent="0" marL="0">
              <a:buNone/>
            </a:pPr>
            <a:r>
              <a:rPr lang="en-US" sz="950" b="1" spc="150" kern="0" dirty="0">
                <a:solidFill>
                  <a:srgbClr val="6E7B8A"/>
                </a:solidFill>
                <a:latin typeface="Calibri" pitchFamily="34" charset="0"/>
                <a:ea typeface="Calibri" pitchFamily="34" charset="-122"/>
                <a:cs typeface="Calibri" pitchFamily="34" charset="-120"/>
              </a:rPr>
              <a:t>SITUATION</a:t>
            </a:r>
            <a:endParaRPr lang="en-US" sz="950" dirty="0"/>
          </a:p>
        </p:txBody>
      </p:sp>
      <p:sp>
        <p:nvSpPr>
          <p:cNvPr id="13" name="Text 10"/>
          <p:cNvSpPr/>
          <p:nvPr/>
        </p:nvSpPr>
        <p:spPr>
          <a:xfrm>
            <a:off x="713232" y="233172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 Gulf marketplace runs transformer NLP on every review and seller message: moderation, sentiment, semantic dedup. Normal load 90 req/s; the two weeks before Eid multiply it by six. Last year: eight rented GPU instances for a month — SAR 190,000 — and the moderation SLA still breached on peak evenings.</a:t>
            </a:r>
            <a:endParaRPr lang="en-US" sz="1050" dirty="0"/>
          </a:p>
        </p:txBody>
      </p:sp>
      <p:sp>
        <p:nvSpPr>
          <p:cNvPr id="14" name="Shape 11"/>
          <p:cNvSpPr/>
          <p:nvPr/>
        </p:nvSpPr>
        <p:spPr>
          <a:xfrm>
            <a:off x="502920" y="3749040"/>
            <a:ext cx="5477256" cy="1645920"/>
          </a:xfrm>
          <a:prstGeom prst="roundRect">
            <a:avLst>
              <a:gd name="adj" fmla="val 3333"/>
            </a:avLst>
          </a:prstGeom>
          <a:solidFill>
            <a:srgbClr val="FEF3E3"/>
          </a:solidFill>
          <a:ln/>
        </p:spPr>
      </p:sp>
      <p:sp>
        <p:nvSpPr>
          <p:cNvPr id="15" name="Text 12"/>
          <p:cNvSpPr/>
          <p:nvPr/>
        </p:nvSpPr>
        <p:spPr>
          <a:xfrm>
            <a:off x="713232" y="3840480"/>
            <a:ext cx="5056632"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CHALLENGE</a:t>
            </a:r>
            <a:endParaRPr lang="en-US" sz="950" dirty="0"/>
          </a:p>
        </p:txBody>
      </p:sp>
      <p:sp>
        <p:nvSpPr>
          <p:cNvPr id="16" name="Text 13"/>
          <p:cNvSpPr/>
          <p:nvPr/>
        </p:nvSpPr>
        <p:spPr>
          <a:xfrm>
            <a:off x="713232" y="4114800"/>
            <a:ext cx="5056632" cy="1207008"/>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Make peak survivable at near-baseline cost in one quarter. SLA p99 ≤ 300 ms stands. Prohibited-class recall may drop at most 1 point (policy red line); sentiment tolerates 2; the 40M-vector dedup index cannot be rebuilt during the peak freeze; the fleet is Kubernetes on CPU nodes plus a small shared GPU pool.</a:t>
            </a:r>
            <a:endParaRPr lang="en-US" sz="1050" dirty="0"/>
          </a:p>
        </p:txBody>
      </p:sp>
      <p:sp>
        <p:nvSpPr>
          <p:cNvPr id="17" name="Shape 14"/>
          <p:cNvSpPr/>
          <p:nvPr/>
        </p:nvSpPr>
        <p:spPr>
          <a:xfrm>
            <a:off x="6208776" y="1965960"/>
            <a:ext cx="5477256" cy="3429000"/>
          </a:xfrm>
          <a:prstGeom prst="roundRect">
            <a:avLst>
              <a:gd name="adj" fmla="val 1600"/>
            </a:avLst>
          </a:prstGeom>
          <a:solidFill>
            <a:srgbClr val="E6F5F4"/>
          </a:solidFill>
          <a:ln/>
        </p:spPr>
      </p:sp>
      <p:sp>
        <p:nvSpPr>
          <p:cNvPr id="18" name="Text 15"/>
          <p:cNvSpPr/>
          <p:nvPr/>
        </p:nvSpPr>
        <p:spPr>
          <a:xfrm>
            <a:off x="6409944" y="2066544"/>
            <a:ext cx="5074920"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APPROACH</a:t>
            </a:r>
            <a:endParaRPr lang="en-US" sz="950" dirty="0"/>
          </a:p>
        </p:txBody>
      </p:sp>
      <p:sp>
        <p:nvSpPr>
          <p:cNvPr id="19" name="Shape 16"/>
          <p:cNvSpPr/>
          <p:nvPr/>
        </p:nvSpPr>
        <p:spPr>
          <a:xfrm>
            <a:off x="6409944" y="2395728"/>
            <a:ext cx="237744" cy="237744"/>
          </a:xfrm>
          <a:prstGeom prst="ellipse">
            <a:avLst/>
          </a:prstGeom>
          <a:solidFill>
            <a:srgbClr val="00A79D"/>
          </a:solidFill>
          <a:ln/>
        </p:spPr>
      </p:sp>
      <p:sp>
        <p:nvSpPr>
          <p:cNvPr id="20" name="Text 17"/>
          <p:cNvSpPr/>
          <p:nvPr/>
        </p:nvSpPr>
        <p:spPr>
          <a:xfrm>
            <a:off x="6409944" y="23957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p:nvPr/>
        </p:nvSpPr>
        <p:spPr>
          <a:xfrm>
            <a:off x="6757416" y="237744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Length audit: review p95 = 74 tokens → max_length=128 everywhere; dynamic padding + length-bucketed batching — the free 3x</a:t>
            </a:r>
            <a:endParaRPr lang="en-US" sz="1050" dirty="0"/>
          </a:p>
        </p:txBody>
      </p:sp>
      <p:sp>
        <p:nvSpPr>
          <p:cNvPr id="22" name="Shape 19"/>
          <p:cNvSpPr/>
          <p:nvPr/>
        </p:nvSpPr>
        <p:spPr>
          <a:xfrm>
            <a:off x="6409944" y="3127248"/>
            <a:ext cx="237744" cy="237744"/>
          </a:xfrm>
          <a:prstGeom prst="ellipse">
            <a:avLst/>
          </a:prstGeom>
          <a:solidFill>
            <a:srgbClr val="00A79D"/>
          </a:solidFill>
          <a:ln/>
        </p:spPr>
      </p:sp>
      <p:sp>
        <p:nvSpPr>
          <p:cNvPr id="23" name="Text 20"/>
          <p:cNvSpPr/>
          <p:nvPr/>
        </p:nvSpPr>
        <p:spPr>
          <a:xfrm>
            <a:off x="6409944" y="31272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6757416" y="310896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Moderation + sentiment to ONNX INT8 on CPU: prohibited-class recall drops 0.3 (paired CI, co-signed), sentiment 0.8</a:t>
            </a:r>
            <a:endParaRPr lang="en-US" sz="1050" dirty="0"/>
          </a:p>
        </p:txBody>
      </p:sp>
      <p:sp>
        <p:nvSpPr>
          <p:cNvPr id="25" name="Shape 22"/>
          <p:cNvSpPr/>
          <p:nvPr/>
        </p:nvSpPr>
        <p:spPr>
          <a:xfrm>
            <a:off x="6409944" y="3858768"/>
            <a:ext cx="237744" cy="237744"/>
          </a:xfrm>
          <a:prstGeom prst="ellipse">
            <a:avLst/>
          </a:prstGeom>
          <a:solidFill>
            <a:srgbClr val="00A79D"/>
          </a:solidFill>
          <a:ln/>
        </p:spPr>
      </p:sp>
      <p:sp>
        <p:nvSpPr>
          <p:cNvPr id="26" name="Text 23"/>
          <p:cNvSpPr/>
          <p:nvPr/>
        </p:nvSpPr>
        <p:spPr>
          <a:xfrm>
            <a:off x="6409944" y="3858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4"/>
          <p:cNvSpPr/>
          <p:nvPr/>
        </p:nvSpPr>
        <p:spPr>
          <a:xfrm>
            <a:off x="6757416" y="384048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Embedder stays fp32-ONNX on the GPU pool — the index-rebuild freeze forbids changing its vectors</a:t>
            </a:r>
            <a:endParaRPr lang="en-US" sz="1050" dirty="0"/>
          </a:p>
        </p:txBody>
      </p:sp>
      <p:sp>
        <p:nvSpPr>
          <p:cNvPr id="28" name="Shape 25"/>
          <p:cNvSpPr/>
          <p:nvPr/>
        </p:nvSpPr>
        <p:spPr>
          <a:xfrm>
            <a:off x="6409944" y="4590288"/>
            <a:ext cx="237744" cy="237744"/>
          </a:xfrm>
          <a:prstGeom prst="ellipse">
            <a:avLst/>
          </a:prstGeom>
          <a:solidFill>
            <a:srgbClr val="00A79D"/>
          </a:solidFill>
          <a:ln/>
        </p:spPr>
      </p:sp>
      <p:sp>
        <p:nvSpPr>
          <p:cNvPr id="29" name="Text 26"/>
          <p:cNvSpPr/>
          <p:nvPr/>
        </p:nvSpPr>
        <p:spPr>
          <a:xfrm>
            <a:off x="6409944" y="45902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0" name="Text 27"/>
          <p:cNvSpPr/>
          <p:nvPr/>
        </p:nvSpPr>
        <p:spPr>
          <a:xfrm>
            <a:off x="6757416" y="4572000"/>
            <a:ext cx="4700016" cy="7315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Peak simulation at 6x replayed traffic: p99 210 ms; autoscaling on queue depth instead of CPU%</a:t>
            </a:r>
            <a:endParaRPr lang="en-US" sz="1050" dirty="0"/>
          </a:p>
        </p:txBody>
      </p:sp>
      <p:sp>
        <p:nvSpPr>
          <p:cNvPr id="31" name="Shape 28"/>
          <p:cNvSpPr/>
          <p:nvPr/>
        </p:nvSpPr>
        <p:spPr>
          <a:xfrm>
            <a:off x="502920" y="5577840"/>
            <a:ext cx="11183112" cy="731520"/>
          </a:xfrm>
          <a:prstGeom prst="roundRect">
            <a:avLst>
              <a:gd name="adj" fmla="val 10000"/>
            </a:avLst>
          </a:prstGeom>
          <a:solidFill>
            <a:srgbClr val="1D2A5C"/>
          </a:solidFill>
          <a:ln/>
        </p:spPr>
      </p:sp>
      <p:sp>
        <p:nvSpPr>
          <p:cNvPr id="32" name="Text 29"/>
          <p:cNvSpPr/>
          <p:nvPr/>
        </p:nvSpPr>
        <p:spPr>
          <a:xfrm>
            <a:off x="731520" y="5577840"/>
            <a:ext cx="10744200" cy="73152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LESSON   </a:t>
            </a:r>
            <a:pPr indent="0" marL="0">
              <a:buNone/>
            </a:pPr>
            <a:r>
              <a:rPr lang="en-US" sz="1150" dirty="0">
                <a:solidFill>
                  <a:srgbClr val="FFFFFF"/>
                </a:solidFill>
                <a:latin typeface="Calibri" pitchFamily="34" charset="0"/>
                <a:ea typeface="Calibri" pitchFamily="34" charset="-122"/>
                <a:cs typeface="Calibri" pitchFamily="34" charset="-120"/>
              </a:rPr>
              <a:t>Eight rented GPUs became two burst CPU node-pools (~85% cheaper) and the SLA held through Eid. The postmortem's first line: 'we were renting GPUs to pay a padding bill.'</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Quick Check: Ship the INT8?</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فحص سريع: هل نُطلق INT8؟</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131</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Q2</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Your INT8 model shows -0.4 macro-F1 with CI [-0.7, -0.1]. Do you ship it?</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No — any statistically real regression blocks the release</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Yes, silently — 0.4 points is within normal seed noise</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Ship if the latency win funds it and the model card records the measured tax</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Re-run the benchmark until the CI includes zero, then ship</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The point is a decision with numbers, not a hope — and the fp32 artefact stays behind as the accuracy reference and the instant rollback path.</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Named Anti-Patterns on the Serving Path</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الأنماط المضادة على مسار الخدمة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MODULE 7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132</a:t>
            </a:r>
            <a:endParaRPr lang="en-US" sz="800" dirty="0"/>
          </a:p>
        </p:txBody>
      </p:sp>
      <p:sp>
        <p:nvSpPr>
          <p:cNvPr id="8" name="Shape 5"/>
          <p:cNvSpPr/>
          <p:nvPr/>
        </p:nvSpPr>
        <p:spPr>
          <a:xfrm>
            <a:off x="502920" y="1481328"/>
            <a:ext cx="5477256" cy="4919472"/>
          </a:xfrm>
          <a:prstGeom prst="roundRect">
            <a:avLst>
              <a:gd name="adj" fmla="val 1487"/>
            </a:avLst>
          </a:prstGeom>
          <a:solidFill>
            <a:srgbClr val="F2F6F8"/>
          </a:solidFill>
          <a:ln/>
        </p:spPr>
      </p:sp>
      <p:sp>
        <p:nvSpPr>
          <p:cNvPr id="9" name="Text 6"/>
          <p:cNvSpPr/>
          <p:nvPr/>
        </p:nvSpPr>
        <p:spPr>
          <a:xfrm>
            <a:off x="731520" y="162763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Common mistakes</a:t>
            </a:r>
            <a:endParaRPr lang="en-US" sz="1400" dirty="0"/>
          </a:p>
        </p:txBody>
      </p:sp>
      <p:sp>
        <p:nvSpPr>
          <p:cNvPr id="10" name="Text 7"/>
          <p:cNvSpPr/>
          <p:nvPr/>
        </p:nvSpPr>
        <p:spPr>
          <a:xfrm>
            <a:off x="731520" y="2029968"/>
            <a:ext cx="5020056" cy="423367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Optimising before benchmarking — no baseline, no claim; the harness precedes the surgery</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Single-sentence benchmarks — the input mix is part of the method</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Speed tables without accuracy columns — the silent-regression channel</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Quantising the model but not re-running the skew canaries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Padding to max_length on the serving path — quietly triples serving cost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Laptop INT8 vs GPU-pool fp32 — environment-mismatched numbers</a:t>
            </a:r>
            <a:endParaRPr lang="en-US" sz="1200" dirty="0"/>
          </a:p>
        </p:txBody>
      </p:sp>
      <p:sp>
        <p:nvSpPr>
          <p:cNvPr id="11" name="Shape 8"/>
          <p:cNvSpPr/>
          <p:nvPr/>
        </p:nvSpPr>
        <p:spPr>
          <a:xfrm>
            <a:off x="6208776" y="1481328"/>
            <a:ext cx="5477256" cy="4919472"/>
          </a:xfrm>
          <a:prstGeom prst="roundRect">
            <a:avLst>
              <a:gd name="adj" fmla="val 1487"/>
            </a:avLst>
          </a:prstGeom>
          <a:solidFill>
            <a:srgbClr val="F2F6F8"/>
          </a:solidFill>
          <a:ln/>
        </p:spPr>
      </p:sp>
      <p:sp>
        <p:nvSpPr>
          <p:cNvPr id="12" name="Text 9"/>
          <p:cNvSpPr/>
          <p:nvPr/>
        </p:nvSpPr>
        <p:spPr>
          <a:xfrm>
            <a:off x="6437376" y="162763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Production discipline</a:t>
            </a:r>
            <a:endParaRPr lang="en-US" sz="1400" dirty="0"/>
          </a:p>
        </p:txBody>
      </p:sp>
      <p:sp>
        <p:nvSpPr>
          <p:cNvPr id="13" name="Text 10"/>
          <p:cNvSpPr/>
          <p:nvPr/>
        </p:nvSpPr>
        <p:spPr>
          <a:xfrm>
            <a:off x="6437376" y="2029968"/>
            <a:ext cx="5020056" cy="423367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Version optimised artefacts as first-class releases: ONNX + tokenizer + manifest + card noting the tax</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Keep fp32 as the accuracy reference and the instant rollback path</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Alert on the no-answer/low-confidence rate shifting after a rollout — quality drift shows there first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The deployment pipeline itself is SDA-AIE-216's territory; this module ends at the servable artefact</a:t>
            </a:r>
            <a:endParaRPr lang="en-US" sz="12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Bayan: Target Architecture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بيان: البنية المستهدفة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133</a:t>
            </a:r>
            <a:endParaRPr lang="en-US" sz="800" dirty="0"/>
          </a:p>
        </p:txBody>
      </p:sp>
      <p:sp>
        <p:nvSpPr>
          <p:cNvPr id="8" name="Shape 5"/>
          <p:cNvSpPr/>
          <p:nvPr/>
        </p:nvSpPr>
        <p:spPr>
          <a:xfrm>
            <a:off x="502920" y="1554480"/>
            <a:ext cx="6949440" cy="857707"/>
          </a:xfrm>
          <a:prstGeom prst="roundRect">
            <a:avLst>
              <a:gd name="adj" fmla="val 6397"/>
            </a:avLst>
          </a:prstGeom>
          <a:solidFill>
            <a:srgbClr val="E6F5F4"/>
          </a:solidFill>
          <a:ln w="9525">
            <a:solidFill>
              <a:srgbClr val="00A79D"/>
            </a:solidFill>
            <a:prstDash val="solid"/>
          </a:ln>
        </p:spPr>
      </p:sp>
      <p:sp>
        <p:nvSpPr>
          <p:cNvPr id="9" name="Text 6"/>
          <p:cNvSpPr/>
          <p:nvPr/>
        </p:nvSpPr>
        <p:spPr>
          <a:xfrm>
            <a:off x="731520" y="1627632"/>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Ingest: the validation wall</a:t>
            </a:r>
            <a:endParaRPr lang="en-US" sz="1350" dirty="0"/>
          </a:p>
        </p:txBody>
      </p:sp>
      <p:sp>
        <p:nvSpPr>
          <p:cNvPr id="10" name="Text 7"/>
          <p:cNvSpPr/>
          <p:nvPr/>
        </p:nvSpPr>
        <p:spPr>
          <a:xfrm>
            <a:off x="731520" y="1920240"/>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Citizen text over HTTP; Pydantic-validated input (3-4000 chars) before anything else runs.</a:t>
            </a:r>
            <a:endParaRPr lang="en-US" sz="1050" dirty="0"/>
          </a:p>
        </p:txBody>
      </p:sp>
      <p:sp>
        <p:nvSpPr>
          <p:cNvPr id="11" name="Shape 8"/>
          <p:cNvSpPr/>
          <p:nvPr/>
        </p:nvSpPr>
        <p:spPr>
          <a:xfrm>
            <a:off x="502920" y="2540203"/>
            <a:ext cx="6949440" cy="857707"/>
          </a:xfrm>
          <a:prstGeom prst="roundRect">
            <a:avLst>
              <a:gd name="adj" fmla="val 6397"/>
            </a:avLst>
          </a:prstGeom>
          <a:solidFill>
            <a:srgbClr val="EAF6FC"/>
          </a:solidFill>
          <a:ln w="9525">
            <a:solidFill>
              <a:srgbClr val="29ABE2"/>
            </a:solidFill>
            <a:prstDash val="solid"/>
          </a:ln>
        </p:spPr>
      </p:sp>
      <p:sp>
        <p:nvSpPr>
          <p:cNvPr id="12" name="Text 9"/>
          <p:cNvSpPr/>
          <p:nvPr/>
        </p:nvSpPr>
        <p:spPr>
          <a:xfrm>
            <a:off x="731520" y="2613355"/>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Preprocess (versioned)</a:t>
            </a:r>
            <a:endParaRPr lang="en-US" sz="1350" dirty="0"/>
          </a:p>
        </p:txBody>
      </p:sp>
      <p:sp>
        <p:nvSpPr>
          <p:cNvPr id="13" name="Text 10"/>
          <p:cNvSpPr/>
          <p:nvPr/>
        </p:nvSpPr>
        <p:spPr>
          <a:xfrm>
            <a:off x="731520" y="2905963"/>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One bilingual module with per-model Arabic profiles, imported by training, evaluation AND serving; PII masking.</a:t>
            </a:r>
            <a:endParaRPr lang="en-US" sz="1050" dirty="0"/>
          </a:p>
        </p:txBody>
      </p:sp>
      <p:sp>
        <p:nvSpPr>
          <p:cNvPr id="14" name="Shape 11"/>
          <p:cNvSpPr/>
          <p:nvPr/>
        </p:nvSpPr>
        <p:spPr>
          <a:xfrm>
            <a:off x="502920" y="3525926"/>
            <a:ext cx="6949440" cy="857707"/>
          </a:xfrm>
          <a:prstGeom prst="roundRect">
            <a:avLst>
              <a:gd name="adj" fmla="val 6397"/>
            </a:avLst>
          </a:prstGeom>
          <a:solidFill>
            <a:srgbClr val="FEF3E3"/>
          </a:solidFill>
          <a:ln w="9525">
            <a:solidFill>
              <a:srgbClr val="F7941D"/>
            </a:solidFill>
            <a:prstDash val="solid"/>
          </a:ln>
        </p:spPr>
      </p:sp>
      <p:sp>
        <p:nvSpPr>
          <p:cNvPr id="15" name="Text 12"/>
          <p:cNvSpPr/>
          <p:nvPr/>
        </p:nvSpPr>
        <p:spPr>
          <a:xfrm>
            <a:off x="731520" y="3599078"/>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Models → case fields</a:t>
            </a:r>
            <a:endParaRPr lang="en-US" sz="1350" dirty="0"/>
          </a:p>
        </p:txBody>
      </p:sp>
      <p:sp>
        <p:nvSpPr>
          <p:cNvPr id="16" name="Text 13"/>
          <p:cNvSpPr/>
          <p:nvPr/>
        </p:nvSpPr>
        <p:spPr>
          <a:xfrm>
            <a:off x="731520" y="3891686"/>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Topic + sentiment on ONNX INT8 (canaried); NER on ONNX fp32, d3tok-segmented — both fill case fields.</a:t>
            </a:r>
            <a:endParaRPr lang="en-US" sz="1050" dirty="0"/>
          </a:p>
        </p:txBody>
      </p:sp>
      <p:sp>
        <p:nvSpPr>
          <p:cNvPr id="17" name="Shape 14"/>
          <p:cNvSpPr/>
          <p:nvPr/>
        </p:nvSpPr>
        <p:spPr>
          <a:xfrm>
            <a:off x="502920" y="4511650"/>
            <a:ext cx="6949440" cy="857707"/>
          </a:xfrm>
          <a:prstGeom prst="roundRect">
            <a:avLst>
              <a:gd name="adj" fmla="val 6397"/>
            </a:avLst>
          </a:prstGeom>
          <a:solidFill>
            <a:srgbClr val="F1F8E6"/>
          </a:solidFill>
          <a:ln w="9525">
            <a:solidFill>
              <a:srgbClr val="8CC63F"/>
            </a:solidFill>
            <a:prstDash val="solid"/>
          </a:ln>
        </p:spPr>
      </p:sp>
      <p:sp>
        <p:nvSpPr>
          <p:cNvPr id="18" name="Text 15"/>
          <p:cNvSpPr/>
          <p:nvPr/>
        </p:nvSpPr>
        <p:spPr>
          <a:xfrm>
            <a:off x="731520" y="4584802"/>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Search → similar cases</a:t>
            </a:r>
            <a:endParaRPr lang="en-US" sz="1350" dirty="0"/>
          </a:p>
        </p:txBody>
      </p:sp>
      <p:sp>
        <p:nvSpPr>
          <p:cNvPr id="19" name="Text 16"/>
          <p:cNvSpPr/>
          <p:nvPr/>
        </p:nvSpPr>
        <p:spPr>
          <a:xfrm>
            <a:off x="731520" y="4877410"/>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Embed → manifest-pinned FAISS index → cross-encoder re-rank → similar resolved cases.</a:t>
            </a:r>
            <a:endParaRPr lang="en-US" sz="1050" dirty="0"/>
          </a:p>
        </p:txBody>
      </p:sp>
      <p:sp>
        <p:nvSpPr>
          <p:cNvPr id="20" name="Shape 17"/>
          <p:cNvSpPr/>
          <p:nvPr/>
        </p:nvSpPr>
        <p:spPr>
          <a:xfrm>
            <a:off x="502920" y="5497373"/>
            <a:ext cx="6949440" cy="857707"/>
          </a:xfrm>
          <a:prstGeom prst="roundRect">
            <a:avLst>
              <a:gd name="adj" fmla="val 6397"/>
            </a:avLst>
          </a:prstGeom>
          <a:solidFill>
            <a:srgbClr val="E6F5F4"/>
          </a:solidFill>
          <a:ln w="9525">
            <a:solidFill>
              <a:srgbClr val="00A79D"/>
            </a:solidFill>
            <a:prstDash val="solid"/>
          </a:ln>
        </p:spPr>
      </p:sp>
      <p:sp>
        <p:nvSpPr>
          <p:cNvPr id="21" name="Text 18"/>
          <p:cNvSpPr/>
          <p:nvPr/>
        </p:nvSpPr>
        <p:spPr>
          <a:xfrm>
            <a:off x="731520" y="5570525"/>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API + the offline loop</a:t>
            </a:r>
            <a:endParaRPr lang="en-US" sz="1350" dirty="0"/>
          </a:p>
        </p:txBody>
      </p:sp>
      <p:sp>
        <p:nvSpPr>
          <p:cNvPr id="22" name="Text 19"/>
          <p:cNvSpPr/>
          <p:nvPr/>
        </p:nvSpPr>
        <p:spPr>
          <a:xfrm>
            <a:off x="731520" y="5863133"/>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FastAPI endpoints; offline: training scripts → artifacts/ + cards + ladder; frozen eval sets → report.</a:t>
            </a:r>
            <a:endParaRPr lang="en-US" sz="1050" dirty="0"/>
          </a:p>
        </p:txBody>
      </p:sp>
      <p:sp>
        <p:nvSpPr>
          <p:cNvPr id="23" name="Shape 20"/>
          <p:cNvSpPr/>
          <p:nvPr/>
        </p:nvSpPr>
        <p:spPr>
          <a:xfrm>
            <a:off x="7726680" y="1554480"/>
            <a:ext cx="3959352" cy="4800600"/>
          </a:xfrm>
          <a:prstGeom prst="roundRect">
            <a:avLst>
              <a:gd name="adj" fmla="val 1848"/>
            </a:avLst>
          </a:prstGeom>
          <a:solidFill>
            <a:srgbClr val="1D2A5C"/>
          </a:solidFill>
          <a:ln/>
        </p:spPr>
      </p:sp>
      <p:sp>
        <p:nvSpPr>
          <p:cNvPr id="24" name="Text 21"/>
          <p:cNvSpPr/>
          <p:nvPr/>
        </p:nvSpPr>
        <p:spPr>
          <a:xfrm>
            <a:off x="7955280" y="1737360"/>
            <a:ext cx="3502152" cy="36576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Deliverables</a:t>
            </a:r>
            <a:endParaRPr lang="en-US" sz="1400" dirty="0"/>
          </a:p>
        </p:txBody>
      </p:sp>
      <p:sp>
        <p:nvSpPr>
          <p:cNvPr id="25" name="Text 22"/>
          <p:cNvSpPr/>
          <p:nvPr/>
        </p:nvSpPr>
        <p:spPr>
          <a:xfrm>
            <a:off x="7955280" y="2194560"/>
            <a:ext cx="3502152" cy="3977640"/>
          </a:xfrm>
          <a:prstGeom prst="rect">
            <a:avLst/>
          </a:prstGeom>
          <a:noFill/>
          <a:ln/>
        </p:spPr>
        <p:txBody>
          <a:bodyPr wrap="square" lIns="0" tIns="0" rIns="0" bIns="0" rtlCol="0" anchor="t"/>
          <a:lstStyle/>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make serve from a clean clone; startup canaries green</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EVALUATION_REPORT.md: slices + CIs, taxonomy, model cards</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BENCHMARKS.md filled from your own runs, ladder included</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DECISIONS.md: every decision with its evidence</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5-minute demo: one number defended under challenge</a:t>
            </a:r>
            <a:endParaRPr lang="en-US" sz="11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Capstone Requirements: R1-R6</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متطلبات المشروع الختامي</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134</a:t>
            </a:r>
            <a:endParaRPr lang="en-US" sz="800" dirty="0"/>
          </a:p>
        </p:txBody>
      </p:sp>
      <p:sp>
        <p:nvSpPr>
          <p:cNvPr id="8" name="Shape 5"/>
          <p:cNvSpPr/>
          <p:nvPr/>
        </p:nvSpPr>
        <p:spPr>
          <a:xfrm>
            <a:off x="502920" y="1481328"/>
            <a:ext cx="5449824" cy="1389888"/>
          </a:xfrm>
          <a:prstGeom prst="roundRect">
            <a:avLst>
              <a:gd name="adj" fmla="val 3947"/>
            </a:avLst>
          </a:prstGeom>
          <a:solidFill>
            <a:srgbClr val="F2F6F8"/>
          </a:solidFill>
          <a:ln/>
        </p:spPr>
      </p:sp>
      <p:sp>
        <p:nvSpPr>
          <p:cNvPr id="9" name="Shape 6"/>
          <p:cNvSpPr/>
          <p:nvPr/>
        </p:nvSpPr>
        <p:spPr>
          <a:xfrm>
            <a:off x="502920" y="1481328"/>
            <a:ext cx="64008" cy="1389888"/>
          </a:xfrm>
          <a:prstGeom prst="rect">
            <a:avLst/>
          </a:prstGeom>
          <a:solidFill>
            <a:srgbClr val="00A79D"/>
          </a:solidFill>
          <a:ln/>
        </p:spPr>
      </p:sp>
      <p:sp>
        <p:nvSpPr>
          <p:cNvPr id="10" name="Shape 7"/>
          <p:cNvSpPr/>
          <p:nvPr/>
        </p:nvSpPr>
        <p:spPr>
          <a:xfrm>
            <a:off x="685800" y="1609344"/>
            <a:ext cx="822960" cy="274320"/>
          </a:xfrm>
          <a:prstGeom prst="roundRect">
            <a:avLst>
              <a:gd name="adj" fmla="val 26667"/>
            </a:avLst>
          </a:prstGeom>
          <a:solidFill>
            <a:srgbClr val="1D2A5C"/>
          </a:solidFill>
          <a:ln/>
        </p:spPr>
      </p:sp>
      <p:sp>
        <p:nvSpPr>
          <p:cNvPr id="11" name="Text 8"/>
          <p:cNvSpPr/>
          <p:nvPr/>
        </p:nvSpPr>
        <p:spPr>
          <a:xfrm>
            <a:off x="685800" y="1609344"/>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12" name="Text 9"/>
          <p:cNvSpPr/>
          <p:nvPr/>
        </p:nvSpPr>
        <p:spPr>
          <a:xfrm>
            <a:off x="4352544" y="1609344"/>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LO1</a:t>
            </a:r>
            <a:endParaRPr lang="en-US" sz="900" dirty="0"/>
          </a:p>
        </p:txBody>
      </p:sp>
      <p:sp>
        <p:nvSpPr>
          <p:cNvPr id="13" name="Text 10"/>
          <p:cNvSpPr/>
          <p:nvPr/>
        </p:nvSpPr>
        <p:spPr>
          <a:xfrm>
            <a:off x="685800" y="1938528"/>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One versioned preprocessing module everywhere; PII masking at 100% recall; skew canaries asserted at startup</a:t>
            </a:r>
            <a:endParaRPr lang="en-US" sz="1200" dirty="0"/>
          </a:p>
        </p:txBody>
      </p:sp>
      <p:sp>
        <p:nvSpPr>
          <p:cNvPr id="14" name="Shape 11"/>
          <p:cNvSpPr/>
          <p:nvPr/>
        </p:nvSpPr>
        <p:spPr>
          <a:xfrm>
            <a:off x="6236208" y="1481328"/>
            <a:ext cx="5449824" cy="1389888"/>
          </a:xfrm>
          <a:prstGeom prst="roundRect">
            <a:avLst>
              <a:gd name="adj" fmla="val 3947"/>
            </a:avLst>
          </a:prstGeom>
          <a:solidFill>
            <a:srgbClr val="F2F6F8"/>
          </a:solidFill>
          <a:ln/>
        </p:spPr>
      </p:sp>
      <p:sp>
        <p:nvSpPr>
          <p:cNvPr id="15" name="Shape 12"/>
          <p:cNvSpPr/>
          <p:nvPr/>
        </p:nvSpPr>
        <p:spPr>
          <a:xfrm>
            <a:off x="6236208" y="1481328"/>
            <a:ext cx="64008" cy="1389888"/>
          </a:xfrm>
          <a:prstGeom prst="rect">
            <a:avLst/>
          </a:prstGeom>
          <a:solidFill>
            <a:srgbClr val="29ABE2"/>
          </a:solidFill>
          <a:ln/>
        </p:spPr>
      </p:sp>
      <p:sp>
        <p:nvSpPr>
          <p:cNvPr id="16" name="Shape 13"/>
          <p:cNvSpPr/>
          <p:nvPr/>
        </p:nvSpPr>
        <p:spPr>
          <a:xfrm>
            <a:off x="6419088" y="1609344"/>
            <a:ext cx="822960" cy="274320"/>
          </a:xfrm>
          <a:prstGeom prst="roundRect">
            <a:avLst>
              <a:gd name="adj" fmla="val 26667"/>
            </a:avLst>
          </a:prstGeom>
          <a:solidFill>
            <a:srgbClr val="1D2A5C"/>
          </a:solidFill>
          <a:ln/>
        </p:spPr>
      </p:sp>
      <p:sp>
        <p:nvSpPr>
          <p:cNvPr id="17" name="Text 14"/>
          <p:cNvSpPr/>
          <p:nvPr/>
        </p:nvSpPr>
        <p:spPr>
          <a:xfrm>
            <a:off x="6419088" y="1609344"/>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18" name="Text 15"/>
          <p:cNvSpPr/>
          <p:nvPr/>
        </p:nvSpPr>
        <p:spPr>
          <a:xfrm>
            <a:off x="10085832" y="1609344"/>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LO3</a:t>
            </a:r>
            <a:endParaRPr lang="en-US" sz="900" dirty="0"/>
          </a:p>
        </p:txBody>
      </p:sp>
      <p:sp>
        <p:nvSpPr>
          <p:cNvPr id="19" name="Text 16"/>
          <p:cNvSpPr/>
          <p:nvPr/>
        </p:nvSpPr>
        <p:spPr>
          <a:xfrm>
            <a:off x="6419088" y="1938528"/>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Classifier beats TF-IDF by ≥8 macro-F1; dialect variant wins the Gulf slice with CI; NER ≥0.80; honest QA nulls</a:t>
            </a:r>
            <a:endParaRPr lang="en-US" sz="1200" dirty="0"/>
          </a:p>
        </p:txBody>
      </p:sp>
      <p:sp>
        <p:nvSpPr>
          <p:cNvPr id="20" name="Shape 17"/>
          <p:cNvSpPr/>
          <p:nvPr/>
        </p:nvSpPr>
        <p:spPr>
          <a:xfrm>
            <a:off x="502920" y="3072384"/>
            <a:ext cx="5449824" cy="1389888"/>
          </a:xfrm>
          <a:prstGeom prst="roundRect">
            <a:avLst>
              <a:gd name="adj" fmla="val 3947"/>
            </a:avLst>
          </a:prstGeom>
          <a:solidFill>
            <a:srgbClr val="F2F6F8"/>
          </a:solidFill>
          <a:ln/>
        </p:spPr>
      </p:sp>
      <p:sp>
        <p:nvSpPr>
          <p:cNvPr id="21" name="Shape 18"/>
          <p:cNvSpPr/>
          <p:nvPr/>
        </p:nvSpPr>
        <p:spPr>
          <a:xfrm>
            <a:off x="502920" y="3072384"/>
            <a:ext cx="64008" cy="1389888"/>
          </a:xfrm>
          <a:prstGeom prst="rect">
            <a:avLst/>
          </a:prstGeom>
          <a:solidFill>
            <a:srgbClr val="F7941D"/>
          </a:solidFill>
          <a:ln/>
        </p:spPr>
      </p:sp>
      <p:sp>
        <p:nvSpPr>
          <p:cNvPr id="22" name="Shape 19"/>
          <p:cNvSpPr/>
          <p:nvPr/>
        </p:nvSpPr>
        <p:spPr>
          <a:xfrm>
            <a:off x="685800" y="3200400"/>
            <a:ext cx="822960" cy="274320"/>
          </a:xfrm>
          <a:prstGeom prst="roundRect">
            <a:avLst>
              <a:gd name="adj" fmla="val 26667"/>
            </a:avLst>
          </a:prstGeom>
          <a:solidFill>
            <a:srgbClr val="1D2A5C"/>
          </a:solidFill>
          <a:ln/>
        </p:spPr>
      </p:sp>
      <p:sp>
        <p:nvSpPr>
          <p:cNvPr id="23" name="Text 20"/>
          <p:cNvSpPr/>
          <p:nvPr/>
        </p:nvSpPr>
        <p:spPr>
          <a:xfrm>
            <a:off x="685800" y="32004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R3</a:t>
            </a:r>
            <a:endParaRPr lang="en-US" sz="1000" dirty="0"/>
          </a:p>
        </p:txBody>
      </p:sp>
      <p:sp>
        <p:nvSpPr>
          <p:cNvPr id="24" name="Text 21"/>
          <p:cNvSpPr/>
          <p:nvPr/>
        </p:nvSpPr>
        <p:spPr>
          <a:xfrm>
            <a:off x="4352544" y="3200400"/>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LO4</a:t>
            </a:r>
            <a:endParaRPr lang="en-US" sz="900" dirty="0"/>
          </a:p>
        </p:txBody>
      </p:sp>
      <p:sp>
        <p:nvSpPr>
          <p:cNvPr id="25" name="Text 22"/>
          <p:cNvSpPr/>
          <p:nvPr/>
        </p:nvSpPr>
        <p:spPr>
          <a:xfrm>
            <a:off x="685800" y="3529584"/>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Versioned FAISS index with manifest; two-stage retrieve + re-rank; recall@10 ≥0.80, MRR@10 ≥0.70; gap reported</a:t>
            </a:r>
            <a:endParaRPr lang="en-US" sz="1200" dirty="0"/>
          </a:p>
        </p:txBody>
      </p:sp>
      <p:sp>
        <p:nvSpPr>
          <p:cNvPr id="26" name="Shape 23"/>
          <p:cNvSpPr/>
          <p:nvPr/>
        </p:nvSpPr>
        <p:spPr>
          <a:xfrm>
            <a:off x="6236208" y="3072384"/>
            <a:ext cx="5449824" cy="1389888"/>
          </a:xfrm>
          <a:prstGeom prst="roundRect">
            <a:avLst>
              <a:gd name="adj" fmla="val 3947"/>
            </a:avLst>
          </a:prstGeom>
          <a:solidFill>
            <a:srgbClr val="F2F6F8"/>
          </a:solidFill>
          <a:ln/>
        </p:spPr>
      </p:sp>
      <p:sp>
        <p:nvSpPr>
          <p:cNvPr id="27" name="Shape 24"/>
          <p:cNvSpPr/>
          <p:nvPr/>
        </p:nvSpPr>
        <p:spPr>
          <a:xfrm>
            <a:off x="6236208" y="3072384"/>
            <a:ext cx="64008" cy="1389888"/>
          </a:xfrm>
          <a:prstGeom prst="rect">
            <a:avLst/>
          </a:prstGeom>
          <a:solidFill>
            <a:srgbClr val="8CC63F"/>
          </a:solidFill>
          <a:ln/>
        </p:spPr>
      </p:sp>
      <p:sp>
        <p:nvSpPr>
          <p:cNvPr id="28" name="Shape 25"/>
          <p:cNvSpPr/>
          <p:nvPr/>
        </p:nvSpPr>
        <p:spPr>
          <a:xfrm>
            <a:off x="6419088" y="3200400"/>
            <a:ext cx="822960" cy="274320"/>
          </a:xfrm>
          <a:prstGeom prst="roundRect">
            <a:avLst>
              <a:gd name="adj" fmla="val 26667"/>
            </a:avLst>
          </a:prstGeom>
          <a:solidFill>
            <a:srgbClr val="1D2A5C"/>
          </a:solidFill>
          <a:ln/>
        </p:spPr>
      </p:sp>
      <p:sp>
        <p:nvSpPr>
          <p:cNvPr id="29" name="Text 26"/>
          <p:cNvSpPr/>
          <p:nvPr/>
        </p:nvSpPr>
        <p:spPr>
          <a:xfrm>
            <a:off x="6419088" y="3200400"/>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R4</a:t>
            </a:r>
            <a:endParaRPr lang="en-US" sz="1000" dirty="0"/>
          </a:p>
        </p:txBody>
      </p:sp>
      <p:sp>
        <p:nvSpPr>
          <p:cNvPr id="30" name="Text 27"/>
          <p:cNvSpPr/>
          <p:nvPr/>
        </p:nvSpPr>
        <p:spPr>
          <a:xfrm>
            <a:off x="10085832" y="3200400"/>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LO5</a:t>
            </a:r>
            <a:endParaRPr lang="en-US" sz="900" dirty="0"/>
          </a:p>
        </p:txBody>
      </p:sp>
      <p:sp>
        <p:nvSpPr>
          <p:cNvPr id="31" name="Text 28"/>
          <p:cNvSpPr/>
          <p:nvPr/>
        </p:nvSpPr>
        <p:spPr>
          <a:xfrm>
            <a:off x="6419088" y="3529584"/>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Sliced metrics with bootstrap CIs; behavioural suite ≥95% invariance / ≥90% MFT; taxonomy from ≥100 read errors</a:t>
            </a:r>
            <a:endParaRPr lang="en-US" sz="1200" dirty="0"/>
          </a:p>
        </p:txBody>
      </p:sp>
      <p:sp>
        <p:nvSpPr>
          <p:cNvPr id="32" name="Shape 29"/>
          <p:cNvSpPr/>
          <p:nvPr/>
        </p:nvSpPr>
        <p:spPr>
          <a:xfrm>
            <a:off x="502920" y="4663440"/>
            <a:ext cx="5449824" cy="1389888"/>
          </a:xfrm>
          <a:prstGeom prst="roundRect">
            <a:avLst>
              <a:gd name="adj" fmla="val 3947"/>
            </a:avLst>
          </a:prstGeom>
          <a:solidFill>
            <a:srgbClr val="F2F6F8"/>
          </a:solidFill>
          <a:ln/>
        </p:spPr>
      </p:sp>
      <p:sp>
        <p:nvSpPr>
          <p:cNvPr id="33" name="Shape 30"/>
          <p:cNvSpPr/>
          <p:nvPr/>
        </p:nvSpPr>
        <p:spPr>
          <a:xfrm>
            <a:off x="502920" y="4663440"/>
            <a:ext cx="64008" cy="1389888"/>
          </a:xfrm>
          <a:prstGeom prst="rect">
            <a:avLst/>
          </a:prstGeom>
          <a:solidFill>
            <a:srgbClr val="00A79D"/>
          </a:solidFill>
          <a:ln/>
        </p:spPr>
      </p:sp>
      <p:sp>
        <p:nvSpPr>
          <p:cNvPr id="34" name="Shape 31"/>
          <p:cNvSpPr/>
          <p:nvPr/>
        </p:nvSpPr>
        <p:spPr>
          <a:xfrm>
            <a:off x="685800" y="4791456"/>
            <a:ext cx="822960" cy="274320"/>
          </a:xfrm>
          <a:prstGeom prst="roundRect">
            <a:avLst>
              <a:gd name="adj" fmla="val 26667"/>
            </a:avLst>
          </a:prstGeom>
          <a:solidFill>
            <a:srgbClr val="1D2A5C"/>
          </a:solidFill>
          <a:ln/>
        </p:spPr>
      </p:sp>
      <p:sp>
        <p:nvSpPr>
          <p:cNvPr id="35" name="Text 32"/>
          <p:cNvSpPr/>
          <p:nvPr/>
        </p:nvSpPr>
        <p:spPr>
          <a:xfrm>
            <a:off x="685800" y="4791456"/>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R5</a:t>
            </a:r>
            <a:endParaRPr lang="en-US" sz="1000" dirty="0"/>
          </a:p>
        </p:txBody>
      </p:sp>
      <p:sp>
        <p:nvSpPr>
          <p:cNvPr id="36" name="Text 33"/>
          <p:cNvSpPr/>
          <p:nvPr/>
        </p:nvSpPr>
        <p:spPr>
          <a:xfrm>
            <a:off x="4352544" y="4791456"/>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LO6</a:t>
            </a:r>
            <a:endParaRPr lang="en-US" sz="900" dirty="0"/>
          </a:p>
        </p:txBody>
      </p:sp>
      <p:sp>
        <p:nvSpPr>
          <p:cNvPr id="37" name="Text 34"/>
          <p:cNvSpPr/>
          <p:nvPr/>
        </p:nvSpPr>
        <p:spPr>
          <a:xfrm>
            <a:off x="685800" y="5120640"/>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Classifier at p99 ≤40 ms over HTTP (16 concurrent); complete ladder with paired taxes; fp32 rollback retained</a:t>
            </a:r>
            <a:endParaRPr lang="en-US" sz="1200" dirty="0"/>
          </a:p>
        </p:txBody>
      </p:sp>
      <p:sp>
        <p:nvSpPr>
          <p:cNvPr id="38" name="Shape 35"/>
          <p:cNvSpPr/>
          <p:nvPr/>
        </p:nvSpPr>
        <p:spPr>
          <a:xfrm>
            <a:off x="6236208" y="4663440"/>
            <a:ext cx="5449824" cy="1389888"/>
          </a:xfrm>
          <a:prstGeom prst="roundRect">
            <a:avLst>
              <a:gd name="adj" fmla="val 3947"/>
            </a:avLst>
          </a:prstGeom>
          <a:solidFill>
            <a:srgbClr val="F2F6F8"/>
          </a:solidFill>
          <a:ln/>
        </p:spPr>
      </p:sp>
      <p:sp>
        <p:nvSpPr>
          <p:cNvPr id="39" name="Shape 36"/>
          <p:cNvSpPr/>
          <p:nvPr/>
        </p:nvSpPr>
        <p:spPr>
          <a:xfrm>
            <a:off x="6236208" y="4663440"/>
            <a:ext cx="64008" cy="1389888"/>
          </a:xfrm>
          <a:prstGeom prst="rect">
            <a:avLst/>
          </a:prstGeom>
          <a:solidFill>
            <a:srgbClr val="29ABE2"/>
          </a:solidFill>
          <a:ln/>
        </p:spPr>
      </p:sp>
      <p:sp>
        <p:nvSpPr>
          <p:cNvPr id="40" name="Shape 37"/>
          <p:cNvSpPr/>
          <p:nvPr/>
        </p:nvSpPr>
        <p:spPr>
          <a:xfrm>
            <a:off x="6419088" y="4791456"/>
            <a:ext cx="822960" cy="274320"/>
          </a:xfrm>
          <a:prstGeom prst="roundRect">
            <a:avLst>
              <a:gd name="adj" fmla="val 26667"/>
            </a:avLst>
          </a:prstGeom>
          <a:solidFill>
            <a:srgbClr val="1D2A5C"/>
          </a:solidFill>
          <a:ln/>
        </p:spPr>
      </p:sp>
      <p:sp>
        <p:nvSpPr>
          <p:cNvPr id="41" name="Text 38"/>
          <p:cNvSpPr/>
          <p:nvPr/>
        </p:nvSpPr>
        <p:spPr>
          <a:xfrm>
            <a:off x="6419088" y="4791456"/>
            <a:ext cx="8229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R6</a:t>
            </a:r>
            <a:endParaRPr lang="en-US" sz="1000" dirty="0"/>
          </a:p>
        </p:txBody>
      </p:sp>
      <p:sp>
        <p:nvSpPr>
          <p:cNvPr id="42" name="Text 39"/>
          <p:cNvSpPr/>
          <p:nvPr/>
        </p:nvSpPr>
        <p:spPr>
          <a:xfrm>
            <a:off x="10085832" y="4791456"/>
            <a:ext cx="1463040" cy="237744"/>
          </a:xfrm>
          <a:prstGeom prst="rect">
            <a:avLst/>
          </a:prstGeom>
          <a:noFill/>
          <a:ln/>
        </p:spPr>
        <p:txBody>
          <a:bodyPr wrap="square" lIns="0" tIns="0" rIns="0" bIns="0" rtlCol="0" anchor="ctr"/>
          <a:lstStyle/>
          <a:p>
            <a:pPr algn="r" indent="0" marL="0">
              <a:buNone/>
            </a:pPr>
            <a:r>
              <a:rPr lang="en-US" sz="900" b="1" dirty="0">
                <a:solidFill>
                  <a:srgbClr val="6E7B8A"/>
                </a:solidFill>
                <a:latin typeface="Calibri" pitchFamily="34" charset="0"/>
                <a:ea typeface="Calibri" pitchFamily="34" charset="-122"/>
                <a:cs typeface="Calibri" pitchFamily="34" charset="-120"/>
              </a:rPr>
              <a:t>LO2</a:t>
            </a:r>
            <a:endParaRPr lang="en-US" sz="900" dirty="0"/>
          </a:p>
        </p:txBody>
      </p:sp>
      <p:sp>
        <p:nvSpPr>
          <p:cNvPr id="43" name="Text 40"/>
          <p:cNvSpPr/>
          <p:nvPr/>
        </p:nvSpPr>
        <p:spPr>
          <a:xfrm>
            <a:off x="6419088" y="5120640"/>
            <a:ext cx="5084064" cy="841248"/>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DECISIONS.md: architecture-grounded rationale for every model choice, with fertility and slice evidence</a:t>
            </a:r>
            <a:endParaRPr lang="en-US" sz="1200" dirty="0"/>
          </a:p>
        </p:txBody>
      </p:sp>
      <p:sp>
        <p:nvSpPr>
          <p:cNvPr id="44" name="Text 41"/>
          <p:cNvSpPr/>
          <p:nvPr/>
        </p:nvSpPr>
        <p:spPr>
          <a:xfrm>
            <a:off x="502920" y="6126480"/>
            <a:ext cx="11155680"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Plus engineering hygiene: re-runnable scripts, frozen test set untouched, meaningful commits — and at least one extension.</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Milestones: M-A to M-E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المعالم: من M-A إلى M-E</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135</a:t>
            </a:r>
            <a:endParaRPr lang="en-US" sz="800" dirty="0"/>
          </a:p>
        </p:txBody>
      </p:sp>
      <p:sp>
        <p:nvSpPr>
          <p:cNvPr id="8" name="Shape 5"/>
          <p:cNvSpPr/>
          <p:nvPr/>
        </p:nvSpPr>
        <p:spPr>
          <a:xfrm>
            <a:off x="502920" y="1965960"/>
            <a:ext cx="1929384" cy="2377440"/>
          </a:xfrm>
          <a:prstGeom prst="roundRect">
            <a:avLst>
              <a:gd name="adj" fmla="val 2844"/>
            </a:avLst>
          </a:prstGeom>
          <a:solidFill>
            <a:srgbClr val="F2F6F8"/>
          </a:solidFill>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M-A · END DAY 1</a:t>
            </a:r>
            <a:endParaRPr lang="en-US" sz="1000" dirty="0"/>
          </a:p>
        </p:txBody>
      </p:sp>
      <p:sp>
        <p:nvSpPr>
          <p:cNvPr id="11" name="Text 8"/>
          <p:cNvSpPr/>
          <p:nvPr/>
        </p:nvSpPr>
        <p:spPr>
          <a:xfrm>
            <a:off x="640080"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Preprocessing</a:t>
            </a:r>
            <a:endParaRPr lang="en-US" sz="1500" dirty="0"/>
          </a:p>
        </p:txBody>
      </p:sp>
      <p:sp>
        <p:nvSpPr>
          <p:cNvPr id="12" name="Text 9"/>
          <p:cNvSpPr/>
          <p:nvPr/>
        </p:nvSpPr>
        <p:spPr>
          <a:xfrm>
            <a:off x="640080"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Tokenizer decision made; golden tests green; DECISIONS.md#tokenizer written. (Lab 1)</a:t>
            </a:r>
            <a:endParaRPr lang="en-US" sz="10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2844"/>
            </a:avLst>
          </a:prstGeom>
          <a:solidFill>
            <a:srgbClr val="F2F6F8"/>
          </a:solidFill>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lIns="0" tIns="0" rIns="0" bIns="0" rtlCol="0" anchor="ctr"/>
          <a:lstStyle/>
          <a:p>
            <a:pPr indent="0" marL="0">
              <a:buNone/>
            </a:pPr>
            <a:r>
              <a:rPr lang="en-US" sz="1000" b="1" spc="150" kern="0" dirty="0">
                <a:solidFill>
                  <a:srgbClr val="29ABE2"/>
                </a:solidFill>
                <a:latin typeface="Calibri" pitchFamily="34" charset="0"/>
                <a:ea typeface="Calibri" pitchFamily="34" charset="-122"/>
                <a:cs typeface="Calibri" pitchFamily="34" charset="-120"/>
              </a:rPr>
              <a:t>M-B · END DAY 2</a:t>
            </a:r>
            <a:endParaRPr lang="en-US" sz="1000" dirty="0"/>
          </a:p>
        </p:txBody>
      </p:sp>
      <p:sp>
        <p:nvSpPr>
          <p:cNvPr id="17" name="Text 14"/>
          <p:cNvSpPr/>
          <p:nvPr/>
        </p:nvSpPr>
        <p:spPr>
          <a:xfrm>
            <a:off x="2953512"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Three models</a:t>
            </a:r>
            <a:endParaRPr lang="en-US" sz="1500" dirty="0"/>
          </a:p>
        </p:txBody>
      </p:sp>
      <p:sp>
        <p:nvSpPr>
          <p:cNvPr id="18" name="Text 15"/>
          <p:cNvSpPr/>
          <p:nvPr/>
        </p:nvSpPr>
        <p:spPr>
          <a:xfrm>
            <a:off x="2953512"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Baseline beaten; alignment tests green. (Labs 3a/3b)</a:t>
            </a:r>
            <a:endParaRPr lang="en-US" sz="10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2844"/>
            </a:avLst>
          </a:prstGeom>
          <a:solidFill>
            <a:srgbClr val="F2F6F8"/>
          </a:solidFill>
          <a:ln/>
        </p:spPr>
      </p:sp>
      <p:sp>
        <p:nvSpPr>
          <p:cNvPr id="21" name="Shape 18"/>
          <p:cNvSpPr/>
          <p:nvPr/>
        </p:nvSpPr>
        <p:spPr>
          <a:xfrm>
            <a:off x="5129784" y="1965960"/>
            <a:ext cx="1929384" cy="82296"/>
          </a:xfrm>
          <a:prstGeom prst="rect">
            <a:avLst/>
          </a:prstGeom>
          <a:solidFill>
            <a:srgbClr val="F7941D"/>
          </a:solidFill>
          <a:ln/>
        </p:spPr>
      </p:sp>
      <p:sp>
        <p:nvSpPr>
          <p:cNvPr id="22" name="Text 19"/>
          <p:cNvSpPr/>
          <p:nvPr/>
        </p:nvSpPr>
        <p:spPr>
          <a:xfrm>
            <a:off x="5266944" y="2148840"/>
            <a:ext cx="1655064" cy="237744"/>
          </a:xfrm>
          <a:prstGeom prst="rect">
            <a:avLst/>
          </a:prstGeom>
          <a:noFill/>
          <a:ln/>
        </p:spPr>
        <p:txBody>
          <a:bodyPr wrap="square" lIns="0" tIns="0" rIns="0" bIns="0" rtlCol="0" anchor="ctr"/>
          <a:lstStyle/>
          <a:p>
            <a:pPr indent="0" marL="0">
              <a:buNone/>
            </a:pPr>
            <a:r>
              <a:rPr lang="en-US" sz="1000" b="1" spc="150" kern="0" dirty="0">
                <a:solidFill>
                  <a:srgbClr val="F7941D"/>
                </a:solidFill>
                <a:latin typeface="Calibri" pitchFamily="34" charset="0"/>
                <a:ea typeface="Calibri" pitchFamily="34" charset="-122"/>
                <a:cs typeface="Calibri" pitchFamily="34" charset="-120"/>
              </a:rPr>
              <a:t>M-C · END DAY 3</a:t>
            </a:r>
            <a:endParaRPr lang="en-US" sz="1000" dirty="0"/>
          </a:p>
        </p:txBody>
      </p:sp>
      <p:sp>
        <p:nvSpPr>
          <p:cNvPr id="23" name="Text 20"/>
          <p:cNvSpPr/>
          <p:nvPr/>
        </p:nvSpPr>
        <p:spPr>
          <a:xfrm>
            <a:off x="5266944"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Arabic + search</a:t>
            </a:r>
            <a:endParaRPr lang="en-US" sz="1500" dirty="0"/>
          </a:p>
        </p:txBody>
      </p:sp>
      <p:sp>
        <p:nvSpPr>
          <p:cNvPr id="24" name="Text 21"/>
          <p:cNvSpPr/>
          <p:nvPr/>
        </p:nvSpPr>
        <p:spPr>
          <a:xfrm>
            <a:off x="5266944"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Slice tables with CIs; MRR ≥ 0.70. (Labs 4-6 and the evaluation report)</a:t>
            </a:r>
            <a:endParaRPr lang="en-US" sz="10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2844"/>
            </a:avLst>
          </a:prstGeom>
          <a:solidFill>
            <a:srgbClr val="F2F6F8"/>
          </a:solidFill>
          <a:ln/>
        </p:spPr>
      </p:sp>
      <p:sp>
        <p:nvSpPr>
          <p:cNvPr id="27" name="Shape 24"/>
          <p:cNvSpPr/>
          <p:nvPr/>
        </p:nvSpPr>
        <p:spPr>
          <a:xfrm>
            <a:off x="7443216" y="1965960"/>
            <a:ext cx="1929384" cy="82296"/>
          </a:xfrm>
          <a:prstGeom prst="rect">
            <a:avLst/>
          </a:prstGeom>
          <a:solidFill>
            <a:srgbClr val="8CC63F"/>
          </a:solidFill>
          <a:ln/>
        </p:spPr>
      </p:sp>
      <p:sp>
        <p:nvSpPr>
          <p:cNvPr id="28" name="Text 25"/>
          <p:cNvSpPr/>
          <p:nvPr/>
        </p:nvSpPr>
        <p:spPr>
          <a:xfrm>
            <a:off x="7580376" y="2148840"/>
            <a:ext cx="1655064" cy="237744"/>
          </a:xfrm>
          <a:prstGeom prst="rect">
            <a:avLst/>
          </a:prstGeom>
          <a:noFill/>
          <a:ln/>
        </p:spPr>
        <p:txBody>
          <a:bodyPr wrap="square" lIns="0" tIns="0" rIns="0" bIns="0" rtlCol="0" anchor="ctr"/>
          <a:lstStyle/>
          <a:p>
            <a:pPr indent="0" marL="0">
              <a:buNone/>
            </a:pPr>
            <a:r>
              <a:rPr lang="en-US" sz="1000" b="1" spc="150" kern="0" dirty="0">
                <a:solidFill>
                  <a:srgbClr val="8CC63F"/>
                </a:solidFill>
                <a:latin typeface="Calibri" pitchFamily="34" charset="0"/>
                <a:ea typeface="Calibri" pitchFamily="34" charset="-122"/>
                <a:cs typeface="Calibri" pitchFamily="34" charset="-120"/>
              </a:rPr>
              <a:t>M-D · DAY 4 H4</a:t>
            </a:r>
            <a:endParaRPr lang="en-US" sz="1000" dirty="0"/>
          </a:p>
        </p:txBody>
      </p:sp>
      <p:sp>
        <p:nvSpPr>
          <p:cNvPr id="29" name="Text 26"/>
          <p:cNvSpPr/>
          <p:nvPr/>
        </p:nvSpPr>
        <p:spPr>
          <a:xfrm>
            <a:off x="7580376"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Serving assembled</a:t>
            </a:r>
            <a:endParaRPr lang="en-US" sz="1500" dirty="0"/>
          </a:p>
        </p:txBody>
      </p:sp>
      <p:sp>
        <p:nvSpPr>
          <p:cNvPr id="30" name="Text 27"/>
          <p:cNvSpPr/>
          <p:nvPr/>
        </p:nvSpPr>
        <p:spPr>
          <a:xfrm>
            <a:off x="7580376"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HTTP p99 in budget, canaries green, extension working. (Lab 7 + capstone hours)</a:t>
            </a:r>
            <a:endParaRPr lang="en-US" sz="10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2844"/>
            </a:avLst>
          </a:prstGeom>
          <a:solidFill>
            <a:srgbClr val="F2F6F8"/>
          </a:solidFill>
          <a:ln/>
        </p:spPr>
      </p:sp>
      <p:sp>
        <p:nvSpPr>
          <p:cNvPr id="33" name="Shape 30"/>
          <p:cNvSpPr/>
          <p:nvPr/>
        </p:nvSpPr>
        <p:spPr>
          <a:xfrm>
            <a:off x="9756648" y="1965960"/>
            <a:ext cx="1929384" cy="82296"/>
          </a:xfrm>
          <a:prstGeom prst="rect">
            <a:avLst/>
          </a:prstGeom>
          <a:solidFill>
            <a:srgbClr val="00A79D"/>
          </a:solidFill>
          <a:ln/>
        </p:spPr>
      </p:sp>
      <p:sp>
        <p:nvSpPr>
          <p:cNvPr id="34" name="Text 31"/>
          <p:cNvSpPr/>
          <p:nvPr/>
        </p:nvSpPr>
        <p:spPr>
          <a:xfrm>
            <a:off x="9893808" y="2148840"/>
            <a:ext cx="1655064" cy="237744"/>
          </a:xfrm>
          <a:prstGeom prst="rect">
            <a:avLst/>
          </a:prstGeom>
          <a:noFill/>
          <a:ln/>
        </p:spPr>
        <p:txBody>
          <a:bodyPr wrap="square" lIns="0" tIns="0" rIns="0" bIns="0" rtlCol="0" anchor="ctr"/>
          <a:lstStyle/>
          <a:p>
            <a:pPr indent="0" marL="0">
              <a:buNone/>
            </a:pPr>
            <a:r>
              <a:rPr lang="en-US" sz="1000" b="1" spc="150" kern="0" dirty="0">
                <a:solidFill>
                  <a:srgbClr val="00A79D"/>
                </a:solidFill>
                <a:latin typeface="Calibri" pitchFamily="34" charset="0"/>
                <a:ea typeface="Calibri" pitchFamily="34" charset="-122"/>
                <a:cs typeface="Calibri" pitchFamily="34" charset="-120"/>
              </a:rPr>
              <a:t>M-E · DAY 4 H5</a:t>
            </a:r>
            <a:endParaRPr lang="en-US" sz="1000" dirty="0"/>
          </a:p>
        </p:txBody>
      </p:sp>
      <p:sp>
        <p:nvSpPr>
          <p:cNvPr id="35" name="Text 32"/>
          <p:cNvSpPr/>
          <p:nvPr/>
        </p:nvSpPr>
        <p:spPr>
          <a:xfrm>
            <a:off x="9893808" y="2404872"/>
            <a:ext cx="1655064" cy="566928"/>
          </a:xfrm>
          <a:prstGeom prst="rect">
            <a:avLst/>
          </a:prstGeom>
          <a:noFill/>
          <a:ln/>
        </p:spPr>
        <p:txBody>
          <a:bodyPr wrap="square" lIns="0" tIns="0" rIns="0" bIns="0"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Demo + scoring</a:t>
            </a:r>
            <a:endParaRPr lang="en-US" sz="1500" dirty="0"/>
          </a:p>
        </p:txBody>
      </p:sp>
      <p:sp>
        <p:nvSpPr>
          <p:cNvPr id="36" name="Text 33"/>
          <p:cNvSpPr/>
          <p:nvPr/>
        </p:nvSpPr>
        <p:spPr>
          <a:xfrm>
            <a:off x="9893808" y="2971800"/>
            <a:ext cx="1655064" cy="123444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5-minute demo; rubric scoring live during the session.</a:t>
            </a:r>
            <a:endParaRPr lang="en-US" sz="1050" dirty="0"/>
          </a:p>
        </p:txBody>
      </p:sp>
      <p:sp>
        <p:nvSpPr>
          <p:cNvPr id="37" name="Shape 34"/>
          <p:cNvSpPr/>
          <p:nvPr/>
        </p:nvSpPr>
        <p:spPr>
          <a:xfrm>
            <a:off x="502920" y="4892040"/>
            <a:ext cx="11183112" cy="1051560"/>
          </a:xfrm>
          <a:prstGeom prst="roundRect">
            <a:avLst>
              <a:gd name="adj" fmla="val 6957"/>
            </a:avLst>
          </a:prstGeom>
          <a:solidFill>
            <a:srgbClr val="E6F5F4"/>
          </a:solidFill>
          <a:ln/>
        </p:spPr>
      </p:sp>
      <p:sp>
        <p:nvSpPr>
          <p:cNvPr id="38" name="Text 35"/>
          <p:cNvSpPr/>
          <p:nvPr/>
        </p:nvSpPr>
        <p:spPr>
          <a:xfrm>
            <a:off x="731520" y="4892040"/>
            <a:ext cx="10789920" cy="105156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200" dirty="0">
                <a:solidFill>
                  <a:srgbClr val="2B2B2B"/>
                </a:solidFill>
                <a:latin typeface="Calibri" pitchFamily="34" charset="0"/>
                <a:ea typeface="Calibri" pitchFamily="34" charset="-122"/>
                <a:cs typeface="Calibri" pitchFamily="34" charset="-120"/>
              </a:rPr>
              <a:t>Today closes M-D and M-E. Everything built in Labs 1-7 is a component; the capstone is the integration plus your own extension.</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Choose Your Extension (At Least One)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اختر امتدادك (واحد على الأقل)</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136</a:t>
            </a:r>
            <a:endParaRPr lang="en-US" sz="800" dirty="0"/>
          </a:p>
        </p:txBody>
      </p:sp>
      <p:sp>
        <p:nvSpPr>
          <p:cNvPr id="8" name="Shape 5"/>
          <p:cNvSpPr/>
          <p:nvPr/>
        </p:nvSpPr>
        <p:spPr>
          <a:xfrm>
            <a:off x="502920" y="1517904"/>
            <a:ext cx="3544824" cy="2286000"/>
          </a:xfrm>
          <a:prstGeom prst="roundRect">
            <a:avLst>
              <a:gd name="adj" fmla="val 2400"/>
            </a:avLst>
          </a:prstGeom>
          <a:solidFill>
            <a:srgbClr val="F2F6F8"/>
          </a:solidFill>
          <a:ln/>
        </p:spPr>
      </p:sp>
      <p:sp>
        <p:nvSpPr>
          <p:cNvPr id="9" name="Shape 6"/>
          <p:cNvSpPr/>
          <p:nvPr/>
        </p:nvSpPr>
        <p:spPr>
          <a:xfrm>
            <a:off x="502920" y="1517904"/>
            <a:ext cx="82296" cy="2286000"/>
          </a:xfrm>
          <a:prstGeom prst="rect">
            <a:avLst/>
          </a:prstGeom>
          <a:solidFill>
            <a:srgbClr val="00A79D"/>
          </a:solidFill>
          <a:ln/>
        </p:spPr>
      </p:sp>
      <p:sp>
        <p:nvSpPr>
          <p:cNvPr id="10" name="Text 7"/>
          <p:cNvSpPr/>
          <p:nvPr/>
        </p:nvSpPr>
        <p:spPr>
          <a:xfrm>
            <a:off x="722376" y="163677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ROUTE</a:t>
            </a:r>
            <a:endParaRPr lang="en-US" sz="950" dirty="0"/>
          </a:p>
        </p:txBody>
      </p:sp>
      <p:sp>
        <p:nvSpPr>
          <p:cNvPr id="11" name="Text 8"/>
          <p:cNvSpPr/>
          <p:nvPr/>
        </p:nvSpPr>
        <p:spPr>
          <a:xfrm>
            <a:off x="722376"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Dialect router</a:t>
            </a:r>
            <a:endParaRPr lang="en-US" sz="1450" dirty="0"/>
          </a:p>
        </p:txBody>
      </p:sp>
      <p:sp>
        <p:nvSpPr>
          <p:cNvPr id="12" name="Text 9"/>
          <p:cNvSpPr/>
          <p:nvPr/>
        </p:nvSpPr>
        <p:spPr>
          <a:xfrm>
            <a:off x="722376"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Dialect-ID front end routes Gulf traffic to the DA model, the rest to mix — with sliced evidence that routing beats either model alone.</a:t>
            </a:r>
            <a:endParaRPr lang="en-US" sz="1050" dirty="0"/>
          </a:p>
        </p:txBody>
      </p:sp>
      <p:sp>
        <p:nvSpPr>
          <p:cNvPr id="13" name="Shape 10"/>
          <p:cNvSpPr/>
          <p:nvPr/>
        </p:nvSpPr>
        <p:spPr>
          <a:xfrm>
            <a:off x="4322064" y="1517904"/>
            <a:ext cx="3544824" cy="2286000"/>
          </a:xfrm>
          <a:prstGeom prst="roundRect">
            <a:avLst>
              <a:gd name="adj" fmla="val 2400"/>
            </a:avLst>
          </a:prstGeom>
          <a:solidFill>
            <a:srgbClr val="F2F6F8"/>
          </a:solidFill>
          <a:ln/>
        </p:spPr>
      </p:sp>
      <p:sp>
        <p:nvSpPr>
          <p:cNvPr id="14" name="Shape 11"/>
          <p:cNvSpPr/>
          <p:nvPr/>
        </p:nvSpPr>
        <p:spPr>
          <a:xfrm>
            <a:off x="4322064" y="1517904"/>
            <a:ext cx="82296" cy="2286000"/>
          </a:xfrm>
          <a:prstGeom prst="rect">
            <a:avLst/>
          </a:prstGeom>
          <a:solidFill>
            <a:srgbClr val="29ABE2"/>
          </a:solidFill>
          <a:ln/>
        </p:spPr>
      </p:sp>
      <p:sp>
        <p:nvSpPr>
          <p:cNvPr id="15" name="Text 12"/>
          <p:cNvSpPr/>
          <p:nvPr/>
        </p:nvSpPr>
        <p:spPr>
          <a:xfrm>
            <a:off x="4541520" y="163677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SHARE</a:t>
            </a:r>
            <a:endParaRPr lang="en-US" sz="950" dirty="0"/>
          </a:p>
        </p:txBody>
      </p:sp>
      <p:sp>
        <p:nvSpPr>
          <p:cNvPr id="16" name="Text 13"/>
          <p:cNvSpPr/>
          <p:nvPr/>
        </p:nvSpPr>
        <p:spPr>
          <a:xfrm>
            <a:off x="4541520"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Two-headed encoder</a:t>
            </a:r>
            <a:endParaRPr lang="en-US" sz="1450" dirty="0"/>
          </a:p>
        </p:txBody>
      </p:sp>
      <p:sp>
        <p:nvSpPr>
          <p:cNvPr id="17" name="Text 14"/>
          <p:cNvSpPr/>
          <p:nvPr/>
        </p:nvSpPr>
        <p:spPr>
          <a:xfrm>
            <a:off x="4541520"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Shared-trunk topic + sentiment model, with the serving-cost comparison and a paired accuracy verdict vs two single models.</a:t>
            </a:r>
            <a:endParaRPr lang="en-US" sz="1050" dirty="0"/>
          </a:p>
        </p:txBody>
      </p:sp>
      <p:sp>
        <p:nvSpPr>
          <p:cNvPr id="18" name="Shape 15"/>
          <p:cNvSpPr/>
          <p:nvPr/>
        </p:nvSpPr>
        <p:spPr>
          <a:xfrm>
            <a:off x="8141208" y="1517904"/>
            <a:ext cx="3544824" cy="2286000"/>
          </a:xfrm>
          <a:prstGeom prst="roundRect">
            <a:avLst>
              <a:gd name="adj" fmla="val 2400"/>
            </a:avLst>
          </a:prstGeom>
          <a:solidFill>
            <a:srgbClr val="F2F6F8"/>
          </a:solidFill>
          <a:ln/>
        </p:spPr>
      </p:sp>
      <p:sp>
        <p:nvSpPr>
          <p:cNvPr id="19" name="Shape 16"/>
          <p:cNvSpPr/>
          <p:nvPr/>
        </p:nvSpPr>
        <p:spPr>
          <a:xfrm>
            <a:off x="8141208" y="1517904"/>
            <a:ext cx="82296" cy="2286000"/>
          </a:xfrm>
          <a:prstGeom prst="rect">
            <a:avLst/>
          </a:prstGeom>
          <a:solidFill>
            <a:srgbClr val="F7941D"/>
          </a:solidFill>
          <a:ln/>
        </p:spPr>
      </p:sp>
      <p:sp>
        <p:nvSpPr>
          <p:cNvPr id="20" name="Text 17"/>
          <p:cNvSpPr/>
          <p:nvPr/>
        </p:nvSpPr>
        <p:spPr>
          <a:xfrm>
            <a:off x="8360664" y="1636776"/>
            <a:ext cx="3133344" cy="237744"/>
          </a:xfrm>
          <a:prstGeom prst="rect">
            <a:avLst/>
          </a:prstGeom>
          <a:noFill/>
          <a:ln/>
        </p:spPr>
        <p:txBody>
          <a:bodyPr wrap="square" lIns="0" tIns="0" rIns="0" bIns="0" rtlCol="0" anchor="ctr"/>
          <a:lstStyle/>
          <a:p>
            <a:pPr indent="0" marL="0">
              <a:buNone/>
            </a:pPr>
            <a:r>
              <a:rPr lang="en-US" sz="950" b="1" spc="150" kern="0" dirty="0">
                <a:solidFill>
                  <a:srgbClr val="F7941D"/>
                </a:solidFill>
                <a:latin typeface="Calibri" pitchFamily="34" charset="0"/>
                <a:ea typeface="Calibri" pitchFamily="34" charset="-122"/>
                <a:cs typeface="Calibri" pitchFamily="34" charset="-120"/>
              </a:rPr>
              <a:t>RETRIEVE</a:t>
            </a:r>
            <a:endParaRPr lang="en-US" sz="950" dirty="0"/>
          </a:p>
        </p:txBody>
      </p:sp>
      <p:sp>
        <p:nvSpPr>
          <p:cNvPr id="21" name="Text 18"/>
          <p:cNvSpPr/>
          <p:nvPr/>
        </p:nvSpPr>
        <p:spPr>
          <a:xfrm>
            <a:off x="8360664" y="188366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Search-quality upgrade</a:t>
            </a:r>
            <a:endParaRPr lang="en-US" sz="1450" dirty="0"/>
          </a:p>
        </p:txBody>
      </p:sp>
      <p:sp>
        <p:nvSpPr>
          <p:cNvPr id="22" name="Text 19"/>
          <p:cNvSpPr/>
          <p:nvPr/>
        </p:nvSpPr>
        <p:spPr>
          <a:xfrm>
            <a:off x="8360664" y="240487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Embedding-similarity dedup at index build + title/field-boosted chunking, with before/after retrieval metrics.</a:t>
            </a:r>
            <a:endParaRPr lang="en-US" sz="1050" dirty="0"/>
          </a:p>
        </p:txBody>
      </p:sp>
      <p:sp>
        <p:nvSpPr>
          <p:cNvPr id="23" name="Shape 20"/>
          <p:cNvSpPr/>
          <p:nvPr/>
        </p:nvSpPr>
        <p:spPr>
          <a:xfrm>
            <a:off x="502920" y="4078224"/>
            <a:ext cx="3544824" cy="2286000"/>
          </a:xfrm>
          <a:prstGeom prst="roundRect">
            <a:avLst>
              <a:gd name="adj" fmla="val 2400"/>
            </a:avLst>
          </a:prstGeom>
          <a:solidFill>
            <a:srgbClr val="F2F6F8"/>
          </a:solidFill>
          <a:ln/>
        </p:spPr>
      </p:sp>
      <p:sp>
        <p:nvSpPr>
          <p:cNvPr id="24" name="Shape 21"/>
          <p:cNvSpPr/>
          <p:nvPr/>
        </p:nvSpPr>
        <p:spPr>
          <a:xfrm>
            <a:off x="502920" y="4078224"/>
            <a:ext cx="82296" cy="2286000"/>
          </a:xfrm>
          <a:prstGeom prst="rect">
            <a:avLst/>
          </a:prstGeom>
          <a:solidFill>
            <a:srgbClr val="8CC63F"/>
          </a:solidFill>
          <a:ln/>
        </p:spPr>
      </p:sp>
      <p:sp>
        <p:nvSpPr>
          <p:cNvPr id="25" name="Text 22"/>
          <p:cNvSpPr/>
          <p:nvPr/>
        </p:nvSpPr>
        <p:spPr>
          <a:xfrm>
            <a:off x="722376" y="4197096"/>
            <a:ext cx="3133344" cy="237744"/>
          </a:xfrm>
          <a:prstGeom prst="rect">
            <a:avLst/>
          </a:prstGeom>
          <a:noFill/>
          <a:ln/>
        </p:spPr>
        <p:txBody>
          <a:bodyPr wrap="square" lIns="0" tIns="0" rIns="0" bIns="0" rtlCol="0" anchor="ctr"/>
          <a:lstStyle/>
          <a:p>
            <a:pPr indent="0" marL="0">
              <a:buNone/>
            </a:pPr>
            <a:r>
              <a:rPr lang="en-US" sz="950" b="1" spc="150" kern="0" dirty="0">
                <a:solidFill>
                  <a:srgbClr val="8CC63F"/>
                </a:solidFill>
                <a:latin typeface="Calibri" pitchFamily="34" charset="0"/>
                <a:ea typeface="Calibri" pitchFamily="34" charset="-122"/>
                <a:cs typeface="Calibri" pitchFamily="34" charset="-120"/>
              </a:rPr>
              <a:t>BATCH</a:t>
            </a:r>
            <a:endParaRPr lang="en-US" sz="950" dirty="0"/>
          </a:p>
        </p:txBody>
      </p:sp>
      <p:sp>
        <p:nvSpPr>
          <p:cNvPr id="26" name="Text 23"/>
          <p:cNvSpPr/>
          <p:nvPr/>
        </p:nvSpPr>
        <p:spPr>
          <a:xfrm>
            <a:off x="722376"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Batch endpoint</a:t>
            </a:r>
            <a:endParaRPr lang="en-US" sz="1450" dirty="0"/>
          </a:p>
        </p:txBody>
      </p:sp>
      <p:sp>
        <p:nvSpPr>
          <p:cNvPr id="27" name="Text 24"/>
          <p:cNvSpPr/>
          <p:nvPr/>
        </p:nvSpPr>
        <p:spPr>
          <a:xfrm>
            <a:off x="722376"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/v1/classify:batch with length-bucketed batching and a measured throughput curve vs batch size — reuses Lab 7 machinery directly.</a:t>
            </a:r>
            <a:endParaRPr lang="en-US" sz="1050" dirty="0"/>
          </a:p>
        </p:txBody>
      </p:sp>
      <p:sp>
        <p:nvSpPr>
          <p:cNvPr id="28" name="Shape 25"/>
          <p:cNvSpPr/>
          <p:nvPr/>
        </p:nvSpPr>
        <p:spPr>
          <a:xfrm>
            <a:off x="4322064" y="4078224"/>
            <a:ext cx="3544824" cy="2286000"/>
          </a:xfrm>
          <a:prstGeom prst="roundRect">
            <a:avLst>
              <a:gd name="adj" fmla="val 2400"/>
            </a:avLst>
          </a:prstGeom>
          <a:solidFill>
            <a:srgbClr val="F2F6F8"/>
          </a:solidFill>
          <a:ln/>
        </p:spPr>
      </p:sp>
      <p:sp>
        <p:nvSpPr>
          <p:cNvPr id="29" name="Shape 26"/>
          <p:cNvSpPr/>
          <p:nvPr/>
        </p:nvSpPr>
        <p:spPr>
          <a:xfrm>
            <a:off x="4322064" y="4078224"/>
            <a:ext cx="82296" cy="2286000"/>
          </a:xfrm>
          <a:prstGeom prst="rect">
            <a:avLst/>
          </a:prstGeom>
          <a:solidFill>
            <a:srgbClr val="00A79D"/>
          </a:solidFill>
          <a:ln/>
        </p:spPr>
      </p:sp>
      <p:sp>
        <p:nvSpPr>
          <p:cNvPr id="30" name="Text 27"/>
          <p:cNvSpPr/>
          <p:nvPr/>
        </p:nvSpPr>
        <p:spPr>
          <a:xfrm>
            <a:off x="4541520" y="4197096"/>
            <a:ext cx="3133344" cy="237744"/>
          </a:xfrm>
          <a:prstGeom prst="rect">
            <a:avLst/>
          </a:prstGeom>
          <a:noFill/>
          <a:ln/>
        </p:spPr>
        <p:txBody>
          <a:bodyPr wrap="square" lIns="0" tIns="0" rIns="0" bIns="0" rtlCol="0" anchor="ctr"/>
          <a:lstStyle/>
          <a:p>
            <a:pPr indent="0" marL="0">
              <a:buNone/>
            </a:pPr>
            <a:r>
              <a:rPr lang="en-US" sz="950" b="1" spc="150" kern="0" dirty="0">
                <a:solidFill>
                  <a:srgbClr val="00A79D"/>
                </a:solidFill>
                <a:latin typeface="Calibri" pitchFamily="34" charset="0"/>
                <a:ea typeface="Calibri" pitchFamily="34" charset="-122"/>
                <a:cs typeface="Calibri" pitchFamily="34" charset="-120"/>
              </a:rPr>
              <a:t>QA</a:t>
            </a:r>
            <a:endParaRPr lang="en-US" sz="950" dirty="0"/>
          </a:p>
        </p:txBody>
      </p:sp>
      <p:sp>
        <p:nvSpPr>
          <p:cNvPr id="31" name="Text 28"/>
          <p:cNvSpPr/>
          <p:nvPr/>
        </p:nvSpPr>
        <p:spPr>
          <a:xfrm>
            <a:off x="4541520"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QA over documents</a:t>
            </a:r>
            <a:endParaRPr lang="en-US" sz="1450" dirty="0"/>
          </a:p>
        </p:txBody>
      </p:sp>
      <p:sp>
        <p:nvSpPr>
          <p:cNvPr id="32" name="Text 29"/>
          <p:cNvSpPr/>
          <p:nvPr/>
        </p:nvSpPr>
        <p:spPr>
          <a:xfrm>
            <a:off x="4541520"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Wire the extractive QA model into the API with windowing over long documents and the null-threshold trade-off curve.</a:t>
            </a:r>
            <a:endParaRPr lang="en-US" sz="1050" dirty="0"/>
          </a:p>
        </p:txBody>
      </p:sp>
      <p:sp>
        <p:nvSpPr>
          <p:cNvPr id="33" name="Shape 30"/>
          <p:cNvSpPr/>
          <p:nvPr/>
        </p:nvSpPr>
        <p:spPr>
          <a:xfrm>
            <a:off x="8141208" y="4078224"/>
            <a:ext cx="3544824" cy="2286000"/>
          </a:xfrm>
          <a:prstGeom prst="roundRect">
            <a:avLst>
              <a:gd name="adj" fmla="val 2400"/>
            </a:avLst>
          </a:prstGeom>
          <a:solidFill>
            <a:srgbClr val="F2F6F8"/>
          </a:solidFill>
          <a:ln/>
        </p:spPr>
      </p:sp>
      <p:sp>
        <p:nvSpPr>
          <p:cNvPr id="34" name="Shape 31"/>
          <p:cNvSpPr/>
          <p:nvPr/>
        </p:nvSpPr>
        <p:spPr>
          <a:xfrm>
            <a:off x="8141208" y="4078224"/>
            <a:ext cx="82296" cy="2286000"/>
          </a:xfrm>
          <a:prstGeom prst="rect">
            <a:avLst/>
          </a:prstGeom>
          <a:solidFill>
            <a:srgbClr val="29ABE2"/>
          </a:solidFill>
          <a:ln/>
        </p:spPr>
      </p:sp>
      <p:sp>
        <p:nvSpPr>
          <p:cNvPr id="35" name="Text 32"/>
          <p:cNvSpPr/>
          <p:nvPr/>
        </p:nvSpPr>
        <p:spPr>
          <a:xfrm>
            <a:off x="8360664" y="4197096"/>
            <a:ext cx="3133344" cy="237744"/>
          </a:xfrm>
          <a:prstGeom prst="rect">
            <a:avLst/>
          </a:prstGeom>
          <a:noFill/>
          <a:ln/>
        </p:spPr>
        <p:txBody>
          <a:bodyPr wrap="square" lIns="0" tIns="0" rIns="0" bIns="0" rtlCol="0" anchor="ctr"/>
          <a:lstStyle/>
          <a:p>
            <a:pPr indent="0" marL="0">
              <a:buNone/>
            </a:pPr>
            <a:r>
              <a:rPr lang="en-US" sz="950" b="1" spc="150" kern="0" dirty="0">
                <a:solidFill>
                  <a:srgbClr val="29ABE2"/>
                </a:solidFill>
                <a:latin typeface="Calibri" pitchFamily="34" charset="0"/>
                <a:ea typeface="Calibri" pitchFamily="34" charset="-122"/>
                <a:cs typeface="Calibri" pitchFamily="34" charset="-120"/>
              </a:rPr>
              <a:t>BONUS</a:t>
            </a:r>
            <a:endParaRPr lang="en-US" sz="950" dirty="0"/>
          </a:p>
        </p:txBody>
      </p:sp>
      <p:sp>
        <p:nvSpPr>
          <p:cNvPr id="36" name="Text 33"/>
          <p:cNvSpPr/>
          <p:nvPr/>
        </p:nvSpPr>
        <p:spPr>
          <a:xfrm>
            <a:off x="8360664" y="4443984"/>
            <a:ext cx="3133344" cy="502920"/>
          </a:xfrm>
          <a:prstGeom prst="rect">
            <a:avLst/>
          </a:prstGeom>
          <a:noFill/>
          <a:ln/>
        </p:spPr>
        <p:txBody>
          <a:bodyPr wrap="square" lIns="0" tIns="0" rIns="0" bIns="0" rtlCol="0" anchor="t"/>
          <a:lstStyle/>
          <a:p>
            <a:pPr indent="0" marL="0">
              <a:buNone/>
            </a:pPr>
            <a:r>
              <a:rPr lang="en-US" sz="1450" b="1" dirty="0">
                <a:solidFill>
                  <a:srgbClr val="1D2A5C"/>
                </a:solidFill>
                <a:latin typeface="Calibri" pitchFamily="34" charset="0"/>
                <a:ea typeface="Calibri" pitchFamily="34" charset="-122"/>
                <a:cs typeface="Calibri" pitchFamily="34" charset="-120"/>
              </a:rPr>
              <a:t>Distinction seekers</a:t>
            </a:r>
            <a:endParaRPr lang="en-US" sz="1450" dirty="0"/>
          </a:p>
        </p:txBody>
      </p:sp>
      <p:sp>
        <p:nvSpPr>
          <p:cNvPr id="37" name="Text 34"/>
          <p:cNvSpPr/>
          <p:nvPr/>
        </p:nvSpPr>
        <p:spPr>
          <a:xfrm>
            <a:off x="8360664" y="4965192"/>
            <a:ext cx="3133344" cy="12801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Zero-shot showdown (the AIE-213 bridge), Arabizi lane, drift tripwire (AIE-216 bridge), index at scale — for early finishers.</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Grading Rubric: 100 Points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سلم الدرجات: ١٠٠ نقطة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137</a:t>
            </a:r>
            <a:endParaRPr lang="en-US" sz="800" dirty="0"/>
          </a:p>
        </p:txBody>
      </p:sp>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 90-100% band</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Preprocessing &amp; Arabic handling</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One versioned module everywhere; profiles per model; canaries at boot; PII 100%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Fine-tuned models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All targets met; CI-backed slice claim; honest nulls; clitic tests green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Semantic search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Two-stage, manifest-pinned, targets met, cross-lingual gap reported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Evaluation &amp; error analysis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Slices + CIs, behavioural suite, real hand-read taxonomy with costed fixes, cards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Optimised serving</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Ladder complete with paired taxes; p99 in budget over HTTP; defensible quant split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Decisions &amp; demo</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DECISIONS.md evidence-dense; demo crisp; numbers defended under challenge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Pass ≥ 70, distinction ≥ 90. Flags that cap a criterion at 70%: test set touched early, slice claims without CIs, copied benchmark numbers (reference numbers are seeded per cohort), weakened behavioural suites.</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Demo: Five Minutes, Numbers Defended</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العرض: خمس دقائق ودفاع عن الأرقام</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138</a:t>
            </a:r>
            <a:endParaRPr lang="en-US" sz="800" dirty="0"/>
          </a:p>
        </p:txBody>
      </p:sp>
      <p:sp>
        <p:nvSpPr>
          <p:cNvPr id="8" name="Shape 5"/>
          <p:cNvSpPr/>
          <p:nvPr/>
        </p:nvSpPr>
        <p:spPr>
          <a:xfrm>
            <a:off x="502920" y="1481328"/>
            <a:ext cx="5477256" cy="4919472"/>
          </a:xfrm>
          <a:prstGeom prst="roundRect">
            <a:avLst>
              <a:gd name="adj" fmla="val 1487"/>
            </a:avLst>
          </a:prstGeom>
          <a:solidFill>
            <a:srgbClr val="F2F6F8"/>
          </a:solidFill>
          <a:ln/>
        </p:spPr>
      </p:sp>
      <p:sp>
        <p:nvSpPr>
          <p:cNvPr id="9" name="Text 6"/>
          <p:cNvSpPr/>
          <p:nvPr/>
        </p:nvSpPr>
        <p:spPr>
          <a:xfrm>
            <a:off x="731520" y="162763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Demo format (Hour 5)</a:t>
            </a:r>
            <a:endParaRPr lang="en-US" sz="1400" dirty="0"/>
          </a:p>
        </p:txBody>
      </p:sp>
      <p:sp>
        <p:nvSpPr>
          <p:cNvPr id="10" name="Text 7"/>
          <p:cNvSpPr/>
          <p:nvPr/>
        </p:nvSpPr>
        <p:spPr>
          <a:xfrm>
            <a:off x="731520" y="2029968"/>
            <a:ext cx="5020056" cy="423367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Live bilingual request → classified, extracted, similar-cases response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One behavioural test explained; one number defended under challenge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The challenge question is mandatory: pick one number from their report and ask 'why should I believe this?'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The answer quality IS LO5 — claims carry their evidence</a:t>
            </a:r>
            <a:endParaRPr lang="en-US" sz="1200" dirty="0"/>
          </a:p>
        </p:txBody>
      </p:sp>
      <p:sp>
        <p:nvSpPr>
          <p:cNvPr id="11" name="Shape 8"/>
          <p:cNvSpPr/>
          <p:nvPr/>
        </p:nvSpPr>
        <p:spPr>
          <a:xfrm>
            <a:off x="6208776" y="1481328"/>
            <a:ext cx="5477256" cy="4919472"/>
          </a:xfrm>
          <a:prstGeom prst="roundRect">
            <a:avLst>
              <a:gd name="adj" fmla="val 1487"/>
            </a:avLst>
          </a:prstGeom>
          <a:solidFill>
            <a:srgbClr val="F2F6F8"/>
          </a:solidFill>
          <a:ln/>
        </p:spPr>
      </p:sp>
      <p:sp>
        <p:nvSpPr>
          <p:cNvPr id="12" name="Text 9"/>
          <p:cNvSpPr/>
          <p:nvPr/>
        </p:nvSpPr>
        <p:spPr>
          <a:xfrm>
            <a:off x="6437376" y="162763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Peer review (Hour 4)</a:t>
            </a:r>
            <a:endParaRPr lang="en-US" sz="1400" dirty="0"/>
          </a:p>
        </p:txBody>
      </p:sp>
      <p:sp>
        <p:nvSpPr>
          <p:cNvPr id="13" name="Text 10"/>
          <p:cNvSpPr/>
          <p:nvPr/>
        </p:nvSpPr>
        <p:spPr>
          <a:xfrm>
            <a:off x="6437376" y="2029968"/>
            <a:ext cx="5020056" cy="423367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Exchange projects; review against the rubric checklist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Reviewers check the repository evidence, not the polish: ladder table filled? CIs on slice claims? canaries at boot?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Cold-clone test: does make serve run from a clean clone with canaries green?</a:t>
            </a:r>
            <a:endParaRPr lang="en-US" sz="12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Assessment Logistics: Hour 5</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لوجستيات التقييم: الساعة الخامسة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139</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Theory/lab split 20/80 — the wrap-up is short; the demos are the assessment.</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Before demos (end of Hour 4)</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Collect repository URLs and evaluation reports — metric claims get spot-verified before demos begin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Each pair confirms: make serve green from a clean clone, ladder table in BENCHMARKS.md, extension demoable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Set the running order; 5 minutes each, hard-timed</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During and after</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Rubric scoring happens live: instructor + peer scores against the six criteria</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One spot-verification per participant: re-run a sliced report or fire the canary string at the service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Extensions add up to +5 bonus (capped at 100) only if mandatory scope scores ≥ 80</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Wrap-up: path to SDA-AIE-213; deployment and monitoring inherit this discipline in SDA-AIE-216</a:t>
            </a:r>
            <a:endParaRPr lang="en-US" sz="12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COURSE CLOSE</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From text to shipped: a bilingual NLP service — preprocessed, fine-tuned, searched, evaluated, optimised, demoed — in four days.</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Next on the track: SDA-AIE-213 for the LLM era; SDA-AIE-216 inherits your benchmark discipline for deployment and monitoring.</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140</a:t>
            </a:r>
            <a:endParaRPr lang="en-US" sz="8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FINAL CAPSTONE · DAY 4</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Bayan — Bilingual Citizen-Feedback Intelligence Service</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بيان — everything from Labs 1–7 becomes a component; the capstone is the integration, plus your own extension.</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141</a:t>
            </a:r>
            <a:endParaRPr lang="en-US" sz="8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Bayan Scenario</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سيناريو مشروع بيان</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142</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You are the NLP engineer for Bayan (بيان), the citizen-feedback capability of a Saudi digital-government platform — thousands of Arabic and English feedback messages daily.</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The mandate</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Topic classification + sentiment on dialect chat, formal MSA complaints and English web-form entries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Entity extraction into case fields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Similar-case retrieval for the case-management team</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An evaluation report leadership can trust</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What you build</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Everything built in Labs 1–7 is a component — the capstone is the integration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Plus your own extension: choose at least one from the extension menu</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One make serve from a clean clone: startup canaries green, all endpoints live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A 5-minute demo where you defend your numbers under challenge</a:t>
            </a:r>
            <a:endParaRPr lang="en-US" sz="12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Requirements — R1 to R7 + One Extension</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المتطلبات: من ١ إلى ٧ مع امتداد واحد</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143</a:t>
            </a:r>
            <a:endParaRPr lang="en-US" sz="800" dirty="0"/>
          </a:p>
        </p:txBody>
      </p:sp>
      <p:sp>
        <p:nvSpPr>
          <p:cNvPr id="8" name="Shape 5"/>
          <p:cNvSpPr/>
          <p:nvPr/>
        </p:nvSpPr>
        <p:spPr>
          <a:xfrm>
            <a:off x="502920" y="1481328"/>
            <a:ext cx="5477256" cy="4919472"/>
          </a:xfrm>
          <a:prstGeom prst="roundRect">
            <a:avLst>
              <a:gd name="adj" fmla="val 1487"/>
            </a:avLst>
          </a:prstGeom>
          <a:solidFill>
            <a:srgbClr val="F2F6F8"/>
          </a:solidFill>
          <a:ln/>
        </p:spPr>
      </p:sp>
      <p:sp>
        <p:nvSpPr>
          <p:cNvPr id="9" name="Text 6"/>
          <p:cNvSpPr/>
          <p:nvPr/>
        </p:nvSpPr>
        <p:spPr>
          <a:xfrm>
            <a:off x="731520" y="162763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Mandatory — maps to the rubric</a:t>
            </a:r>
            <a:endParaRPr lang="en-US" sz="1400" dirty="0"/>
          </a:p>
        </p:txBody>
      </p:sp>
      <p:sp>
        <p:nvSpPr>
          <p:cNvPr id="10" name="Text 7"/>
          <p:cNvSpPr/>
          <p:nvPr/>
        </p:nvSpPr>
        <p:spPr>
          <a:xfrm>
            <a:off x="731520" y="2029968"/>
            <a:ext cx="5020056" cy="423367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R1 Preprocessing (LO1): one versioned bilingual module everywhere; PII masking 100% recall; skew canaries at startup</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R2 Models (LO3): topic ≥ +8 macro-F1 vs TF-IDF; NER entity-F1 ≥ 0.80; QA ≥ 17/20 no-answer; CI-backed Gulf-slice win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R3 Search (LO4): versioned FAISS + manifest; retrieve-and-re-rank; recall@10 ≥ 0.80, MRR@10 ≥ 0.70; cross-lingual gap</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R4 Evaluation (LO5): slices + CIs; ≥95% invariance / ≥90% MFT; ≥100 hand-read errors → top-3 fixes; card per artefact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R5 Serving (LO6): classifier p99 ≤ 40 ms over HTTP (16 concurrent); full ladder with paired taxes; fp32 rollback kept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R6 Literacy (LO2): DECISIONS.md rationale for every model-family and checkpoint choice, with fertility + slice evidence</a:t>
            </a:r>
            <a:endParaRPr lang="en-US" sz="1200" dirty="0"/>
          </a:p>
        </p:txBody>
      </p:sp>
      <p:sp>
        <p:nvSpPr>
          <p:cNvPr id="11" name="Shape 8"/>
          <p:cNvSpPr/>
          <p:nvPr/>
        </p:nvSpPr>
        <p:spPr>
          <a:xfrm>
            <a:off x="6208776" y="1481328"/>
            <a:ext cx="5477256" cy="4919472"/>
          </a:xfrm>
          <a:prstGeom prst="roundRect">
            <a:avLst>
              <a:gd name="adj" fmla="val 1487"/>
            </a:avLst>
          </a:prstGeom>
          <a:solidFill>
            <a:srgbClr val="F2F6F8"/>
          </a:solidFill>
          <a:ln/>
        </p:spPr>
      </p:sp>
      <p:sp>
        <p:nvSpPr>
          <p:cNvPr id="12" name="Text 9"/>
          <p:cNvSpPr/>
          <p:nvPr/>
        </p:nvSpPr>
        <p:spPr>
          <a:xfrm>
            <a:off x="6437376" y="162763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R7 + choose one extension</a:t>
            </a:r>
            <a:endParaRPr lang="en-US" sz="1400" dirty="0"/>
          </a:p>
        </p:txBody>
      </p:sp>
      <p:sp>
        <p:nvSpPr>
          <p:cNvPr id="13" name="Text 10"/>
          <p:cNvSpPr/>
          <p:nvPr/>
        </p:nvSpPr>
        <p:spPr>
          <a:xfrm>
            <a:off x="6437376" y="2029968"/>
            <a:ext cx="5020056" cy="423367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R7 Hygiene: re-runnable scripts, frozen test set untouched until the final report, BENCHMARKS.md from your own runs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Dialect router — Gulf traffic to the DA model, sliced evidence that routing beats either model alone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Two-headed encoder — shared-trunk topic+sentiment vs two single models, with serving-cost comparison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Search-quality upgrade — embedding-similarity dedup + field-boosted chunking, before/after metrics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Batch endpoint — /v1/classify:batch, length-bucketed, measured throughput curve vs batch size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QA over service documents — windowing over long docs + the null-threshold trade-off curve</a:t>
            </a:r>
            <a:endParaRPr lang="en-US" sz="12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Bayan — Target Architecture</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البنية المستهدفة لخدمة بيان</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144</a:t>
            </a:r>
            <a:endParaRPr lang="en-US" sz="800" dirty="0"/>
          </a:p>
        </p:txBody>
      </p:sp>
      <p:sp>
        <p:nvSpPr>
          <p:cNvPr id="8" name="Shape 5"/>
          <p:cNvSpPr/>
          <p:nvPr/>
        </p:nvSpPr>
        <p:spPr>
          <a:xfrm>
            <a:off x="502920" y="1554480"/>
            <a:ext cx="6949440" cy="857707"/>
          </a:xfrm>
          <a:prstGeom prst="roundRect">
            <a:avLst>
              <a:gd name="adj" fmla="val 6397"/>
            </a:avLst>
          </a:prstGeom>
          <a:solidFill>
            <a:srgbClr val="E6F5F4"/>
          </a:solidFill>
          <a:ln w="9525">
            <a:solidFill>
              <a:srgbClr val="00A79D"/>
            </a:solidFill>
            <a:prstDash val="solid"/>
          </a:ln>
        </p:spPr>
      </p:sp>
      <p:sp>
        <p:nvSpPr>
          <p:cNvPr id="9" name="Text 6"/>
          <p:cNvSpPr/>
          <p:nvPr/>
        </p:nvSpPr>
        <p:spPr>
          <a:xfrm>
            <a:off x="731520" y="1627632"/>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Validation wall → preprocess (versioned)</a:t>
            </a:r>
            <a:endParaRPr lang="en-US" sz="1350" dirty="0"/>
          </a:p>
        </p:txBody>
      </p:sp>
      <p:sp>
        <p:nvSpPr>
          <p:cNvPr id="10" name="Text 7"/>
          <p:cNvSpPr/>
          <p:nvPr/>
        </p:nvSpPr>
        <p:spPr>
          <a:xfrm>
            <a:off x="731520" y="1920240"/>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Per-model Arabic profiles; skew canaries asserted at service startup; one module shared train-to-serve</a:t>
            </a:r>
            <a:endParaRPr lang="en-US" sz="1050" dirty="0"/>
          </a:p>
        </p:txBody>
      </p:sp>
      <p:sp>
        <p:nvSpPr>
          <p:cNvPr id="11" name="Shape 8"/>
          <p:cNvSpPr/>
          <p:nvPr/>
        </p:nvSpPr>
        <p:spPr>
          <a:xfrm>
            <a:off x="502920" y="2540203"/>
            <a:ext cx="6949440" cy="857707"/>
          </a:xfrm>
          <a:prstGeom prst="roundRect">
            <a:avLst>
              <a:gd name="adj" fmla="val 6397"/>
            </a:avLst>
          </a:prstGeom>
          <a:solidFill>
            <a:srgbClr val="EAF6FC"/>
          </a:solidFill>
          <a:ln w="9525">
            <a:solidFill>
              <a:srgbClr val="29ABE2"/>
            </a:solidFill>
            <a:prstDash val="solid"/>
          </a:ln>
        </p:spPr>
      </p:sp>
      <p:sp>
        <p:nvSpPr>
          <p:cNvPr id="12" name="Text 9"/>
          <p:cNvSpPr/>
          <p:nvPr/>
        </p:nvSpPr>
        <p:spPr>
          <a:xfrm>
            <a:off x="731520" y="2613355"/>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Topic + sentiment — ONNX INT8, canaried</a:t>
            </a:r>
            <a:endParaRPr lang="en-US" sz="1350" dirty="0"/>
          </a:p>
        </p:txBody>
      </p:sp>
      <p:sp>
        <p:nvSpPr>
          <p:cNvPr id="13" name="Text 10"/>
          <p:cNvSpPr/>
          <p:nvPr/>
        </p:nvSpPr>
        <p:spPr>
          <a:xfrm>
            <a:off x="731520" y="2905963"/>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quantised classifier fills case fields; served at p99 ≤ 40 ms over HTTP</a:t>
            </a:r>
            <a:endParaRPr lang="en-US" sz="1050" dirty="0"/>
          </a:p>
        </p:txBody>
      </p:sp>
      <p:sp>
        <p:nvSpPr>
          <p:cNvPr id="14" name="Shape 11"/>
          <p:cNvSpPr/>
          <p:nvPr/>
        </p:nvSpPr>
        <p:spPr>
          <a:xfrm>
            <a:off x="502920" y="3525926"/>
            <a:ext cx="6949440" cy="857707"/>
          </a:xfrm>
          <a:prstGeom prst="roundRect">
            <a:avLst>
              <a:gd name="adj" fmla="val 6397"/>
            </a:avLst>
          </a:prstGeom>
          <a:solidFill>
            <a:srgbClr val="FEF3E3"/>
          </a:solidFill>
          <a:ln w="9525">
            <a:solidFill>
              <a:srgbClr val="F7941D"/>
            </a:solidFill>
            <a:prstDash val="solid"/>
          </a:ln>
        </p:spPr>
      </p:sp>
      <p:sp>
        <p:nvSpPr>
          <p:cNvPr id="15" name="Text 12"/>
          <p:cNvSpPr/>
          <p:nvPr/>
        </p:nvSpPr>
        <p:spPr>
          <a:xfrm>
            <a:off x="731520" y="3599078"/>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NER — ONNX fp32, d3tok-segmented</a:t>
            </a:r>
            <a:endParaRPr lang="en-US" sz="1350" dirty="0"/>
          </a:p>
        </p:txBody>
      </p:sp>
      <p:sp>
        <p:nvSpPr>
          <p:cNvPr id="16" name="Text 13"/>
          <p:cNvSpPr/>
          <p:nvPr/>
        </p:nvSpPr>
        <p:spPr>
          <a:xfrm>
            <a:off x="731520" y="3891686"/>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Clitic-aware segmentation so buried entities become taggable tokens; fills case fields</a:t>
            </a:r>
            <a:endParaRPr lang="en-US" sz="1050" dirty="0"/>
          </a:p>
        </p:txBody>
      </p:sp>
      <p:sp>
        <p:nvSpPr>
          <p:cNvPr id="17" name="Shape 14"/>
          <p:cNvSpPr/>
          <p:nvPr/>
        </p:nvSpPr>
        <p:spPr>
          <a:xfrm>
            <a:off x="502920" y="4511650"/>
            <a:ext cx="6949440" cy="857707"/>
          </a:xfrm>
          <a:prstGeom prst="roundRect">
            <a:avLst>
              <a:gd name="adj" fmla="val 6397"/>
            </a:avLst>
          </a:prstGeom>
          <a:solidFill>
            <a:srgbClr val="F1F8E6"/>
          </a:solidFill>
          <a:ln w="9525">
            <a:solidFill>
              <a:srgbClr val="8CC63F"/>
            </a:solidFill>
            <a:prstDash val="solid"/>
          </a:ln>
        </p:spPr>
      </p:sp>
      <p:sp>
        <p:nvSpPr>
          <p:cNvPr id="18" name="Text 15"/>
          <p:cNvSpPr/>
          <p:nvPr/>
        </p:nvSpPr>
        <p:spPr>
          <a:xfrm>
            <a:off x="731520" y="4584802"/>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Embed → FAISS (manifest-pinned) → CE re-rank</a:t>
            </a:r>
            <a:endParaRPr lang="en-US" sz="1350" dirty="0"/>
          </a:p>
        </p:txBody>
      </p:sp>
      <p:sp>
        <p:nvSpPr>
          <p:cNvPr id="19" name="Text 16"/>
          <p:cNvSpPr/>
          <p:nvPr/>
        </p:nvSpPr>
        <p:spPr>
          <a:xfrm>
            <a:off x="731520" y="4877410"/>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Two-stage retrieval returns similar resolved cases to the case-management team</a:t>
            </a:r>
            <a:endParaRPr lang="en-US" sz="1050" dirty="0"/>
          </a:p>
        </p:txBody>
      </p:sp>
      <p:sp>
        <p:nvSpPr>
          <p:cNvPr id="20" name="Shape 17"/>
          <p:cNvSpPr/>
          <p:nvPr/>
        </p:nvSpPr>
        <p:spPr>
          <a:xfrm>
            <a:off x="502920" y="5497373"/>
            <a:ext cx="6949440" cy="857707"/>
          </a:xfrm>
          <a:prstGeom prst="roundRect">
            <a:avLst>
              <a:gd name="adj" fmla="val 6397"/>
            </a:avLst>
          </a:prstGeom>
          <a:solidFill>
            <a:srgbClr val="E6F5F4"/>
          </a:solidFill>
          <a:ln w="9525">
            <a:solidFill>
              <a:srgbClr val="00A79D"/>
            </a:solidFill>
            <a:prstDash val="solid"/>
          </a:ln>
        </p:spPr>
      </p:sp>
      <p:sp>
        <p:nvSpPr>
          <p:cNvPr id="21" name="Text 18"/>
          <p:cNvSpPr/>
          <p:nvPr/>
        </p:nvSpPr>
        <p:spPr>
          <a:xfrm>
            <a:off x="731520" y="5570525"/>
            <a:ext cx="6492240" cy="292608"/>
          </a:xfrm>
          <a:prstGeom prst="rect">
            <a:avLst/>
          </a:prstGeom>
          <a:noFill/>
          <a:ln/>
        </p:spPr>
        <p:txBody>
          <a:bodyPr wrap="square" lIns="0" tIns="0" rIns="0" bIns="0"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Offline lane</a:t>
            </a:r>
            <a:endParaRPr lang="en-US" sz="1350" dirty="0"/>
          </a:p>
        </p:txBody>
      </p:sp>
      <p:sp>
        <p:nvSpPr>
          <p:cNvPr id="22" name="Text 19"/>
          <p:cNvSpPr/>
          <p:nvPr/>
        </p:nvSpPr>
        <p:spPr>
          <a:xfrm>
            <a:off x="731520" y="5863133"/>
            <a:ext cx="6492240" cy="400507"/>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Training scripts → artifacts/ (models, cards, BENCHMARKS, ladder); frozen eval sets → EVALUATION_REPORT.md</a:t>
            </a:r>
            <a:endParaRPr lang="en-US" sz="1050" dirty="0"/>
          </a:p>
        </p:txBody>
      </p:sp>
      <p:sp>
        <p:nvSpPr>
          <p:cNvPr id="23" name="Shape 20"/>
          <p:cNvSpPr/>
          <p:nvPr/>
        </p:nvSpPr>
        <p:spPr>
          <a:xfrm>
            <a:off x="7726680" y="1554480"/>
            <a:ext cx="3959352" cy="4800600"/>
          </a:xfrm>
          <a:prstGeom prst="roundRect">
            <a:avLst>
              <a:gd name="adj" fmla="val 1848"/>
            </a:avLst>
          </a:prstGeom>
          <a:solidFill>
            <a:srgbClr val="1D2A5C"/>
          </a:solidFill>
          <a:ln/>
        </p:spPr>
      </p:sp>
      <p:sp>
        <p:nvSpPr>
          <p:cNvPr id="24" name="Text 21"/>
          <p:cNvSpPr/>
          <p:nvPr/>
        </p:nvSpPr>
        <p:spPr>
          <a:xfrm>
            <a:off x="7955280" y="1737360"/>
            <a:ext cx="3502152" cy="36576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The 5-minute demo</a:t>
            </a:r>
            <a:endParaRPr lang="en-US" sz="1400" dirty="0"/>
          </a:p>
        </p:txBody>
      </p:sp>
      <p:sp>
        <p:nvSpPr>
          <p:cNvPr id="25" name="Text 22"/>
          <p:cNvSpPr/>
          <p:nvPr/>
        </p:nvSpPr>
        <p:spPr>
          <a:xfrm>
            <a:off x="7955280" y="2194560"/>
            <a:ext cx="3502152" cy="3977640"/>
          </a:xfrm>
          <a:prstGeom prst="rect">
            <a:avLst/>
          </a:prstGeom>
          <a:noFill/>
          <a:ln/>
        </p:spPr>
        <p:txBody>
          <a:bodyPr wrap="square" lIns="0" tIns="0" rIns="0" bIns="0" rtlCol="0" anchor="t"/>
          <a:lstStyle/>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Live bilingual request → classified, extracted, similar-cases response</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One behavioural test explained</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One number defended under challenge</a:t>
            </a:r>
            <a:endParaRPr lang="en-US" sz="1100" dirty="0"/>
          </a:p>
          <a:p>
            <a:pPr algn="l" marL="127000" indent="-127000">
              <a:spcAft>
                <a:spcPts val="605"/>
              </a:spcAft>
              <a:buSzPct val="100000"/>
              <a:buChar char="•"/>
            </a:pPr>
            <a:r>
              <a:rPr lang="en-US" sz="1100" dirty="0">
                <a:solidFill>
                  <a:srgbClr val="FFFFFF"/>
                </a:solidFill>
                <a:latin typeface="Calibri" pitchFamily="34" charset="0"/>
                <a:ea typeface="Calibri" pitchFamily="34" charset="-122"/>
                <a:cs typeface="Calibri" pitchFamily="34" charset="-120"/>
              </a:rPr>
              <a:t>Runs from a clean clone via make serve</a:t>
            </a:r>
            <a:endParaRPr lang="en-US" sz="11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Deliverables &amp; Milestones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التسليمات والمراحل الزمنية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145</a:t>
            </a:r>
            <a:endParaRPr lang="en-US" sz="800" dirty="0"/>
          </a:p>
        </p:txBody>
      </p:sp>
      <p:graphicFrame>
        <p:nvGraphicFramePr>
          <p:cNvPr id="146"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Milestone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Due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M-A: preprocessing + tokenizer decision (Lab 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 Day 1</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golden tests green, DECISIONS.md#tokenizer</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M-B: three fine-tuned models (Labs 3a/3b)</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 Day 2</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baseline beaten, alignment tests green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M-C: Arabic-aware models + search + eval report (Labs 4–6)</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 Day 3</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slice tables with CIs, MRR ≥ 0.70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M-D: optimised serving assembled (Lab 7 + capstone hours)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4 H4</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HTTP p99 in budget, canaries green, extension working</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M-E: demo + assessment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4 H5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rubric scoring live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Six deliverables: repo with 4-day commit history · running service via make serve · EVALUATION_REPORT.md · BENCHMARKS.md (own runs) · DECISIONS.md with evidence · the 5-minute demo.</a:t>
            </a:r>
            <a:endParaRPr lang="en-US" sz="10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Grading Rubric — 100 Points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سلّم الدرجات — ١٠٠ نقطة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146</a:t>
            </a:r>
            <a:endParaRPr lang="en-US" sz="800" dirty="0"/>
          </a:p>
        </p:txBody>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90–100% band looks like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Preprocessing &amp; Arabic handling</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One versioned module everywhere; profiles per model; canaries at boot; PII 100%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Fine-tuned models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All targets met; CI-backed slice claim; honest nulls; clitic tests green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Semantic search</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Two-stage, manifest-pinned, targets met, cross-lingual gap reported</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Evaluation &amp; error analysis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Slices + CIs, behavioural suite, real hand-read taxonomy with costed fixes, cards complete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Optimised serving</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Ladder complete with paired taxes; p99 in budget over HTTP; defensible quantisation split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Decisions &amp; demo</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DECISIONS.md evidence-dense; demo crisp; numbers defended under challenge</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Pass ≥ 70 · Distinction ≥ 90. Extensions add up to +5 bonus (capped at 100) — but only if mandatory scope scores ≥ 80.</a:t>
            </a:r>
            <a:endParaRPr lang="en-US" sz="10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How to Grade — and Bonus Tasks</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ضوابط التقييم والمهام الإضافية</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147</a:t>
            </a:r>
            <a:endParaRPr lang="en-US" sz="800" dirty="0"/>
          </a:p>
        </p:txBody>
      </p:sp>
      <p:sp>
        <p:nvSpPr>
          <p:cNvPr id="8" name="Shape 5"/>
          <p:cNvSpPr/>
          <p:nvPr/>
        </p:nvSpPr>
        <p:spPr>
          <a:xfrm>
            <a:off x="502920" y="1481328"/>
            <a:ext cx="5477256" cy="4919472"/>
          </a:xfrm>
          <a:prstGeom prst="roundRect">
            <a:avLst>
              <a:gd name="adj" fmla="val 1487"/>
            </a:avLst>
          </a:prstGeom>
          <a:solidFill>
            <a:srgbClr val="F2F6F8"/>
          </a:solidFill>
          <a:ln/>
        </p:spPr>
      </p:sp>
      <p:sp>
        <p:nvSpPr>
          <p:cNvPr id="9" name="Text 6"/>
          <p:cNvSpPr/>
          <p:nvPr/>
        </p:nvSpPr>
        <p:spPr>
          <a:xfrm>
            <a:off x="731520" y="162763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Grading discipline (instructors)</a:t>
            </a:r>
            <a:endParaRPr lang="en-US" sz="1400" dirty="0"/>
          </a:p>
        </p:txBody>
      </p:sp>
      <p:sp>
        <p:nvSpPr>
          <p:cNvPr id="10" name="Text 7"/>
          <p:cNvSpPr/>
          <p:nvPr/>
        </p:nvSpPr>
        <p:spPr>
          <a:xfrm>
            <a:off x="731520" y="2029968"/>
            <a:ext cx="5020056" cy="423367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Grade from repository evidence first, demo second — the course thesis is that claims carry their evidence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Spot-verify one claim per participant live: re-run their sliced report, or fire the canary string at the service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70% caps: test-set rows touched early, slice claims without CIs, copied benchmark tables, weakened behavioural suites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The challenge question is mandatory: pick one number and ask why should I believe this? — answer quality IS LO5</a:t>
            </a:r>
            <a:endParaRPr lang="en-US" sz="1200" dirty="0"/>
          </a:p>
        </p:txBody>
      </p:sp>
      <p:sp>
        <p:nvSpPr>
          <p:cNvPr id="11" name="Shape 8"/>
          <p:cNvSpPr/>
          <p:nvPr/>
        </p:nvSpPr>
        <p:spPr>
          <a:xfrm>
            <a:off x="6208776" y="1481328"/>
            <a:ext cx="5477256" cy="4919472"/>
          </a:xfrm>
          <a:prstGeom prst="roundRect">
            <a:avLst>
              <a:gd name="adj" fmla="val 1487"/>
            </a:avLst>
          </a:prstGeom>
          <a:solidFill>
            <a:srgbClr val="F2F6F8"/>
          </a:solidFill>
          <a:ln/>
        </p:spPr>
      </p:sp>
      <p:sp>
        <p:nvSpPr>
          <p:cNvPr id="12" name="Text 9"/>
          <p:cNvSpPr/>
          <p:nvPr/>
        </p:nvSpPr>
        <p:spPr>
          <a:xfrm>
            <a:off x="6437376" y="162763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Bonus tasks — early finishers</a:t>
            </a:r>
            <a:endParaRPr lang="en-US" sz="1400" dirty="0"/>
          </a:p>
        </p:txBody>
      </p:sp>
      <p:sp>
        <p:nvSpPr>
          <p:cNvPr id="13" name="Text 10"/>
          <p:cNvSpPr/>
          <p:nvPr/>
        </p:nvSpPr>
        <p:spPr>
          <a:xfrm>
            <a:off x="6437376" y="2029968"/>
            <a:ext cx="5020056" cy="423367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Zero-shot showdown: fine-tuned vs NLI zero-shot on the frozen test set; the when-would-the-LLM-win memo (AIE-213 bridge)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Arabizi lane: detect at ingestion, transliterate, measure the slice's classification lift</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Drift tripwire: weekly-slice simulation — which metric moves first, and the alert threshold (AIE-216 bridge)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Index at scale: IVF + HNSW at 10× corpus; recall-vs-latency vs flat; the when-do-we-leave-flat memo</a:t>
            </a:r>
            <a:endParaRPr lang="en-US" sz="12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Quiz — Attention Scaling</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 تحجيم درجات الانتباه</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148</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Q1</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Why divide attention scores by √d_k before the softmax?</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It keeps score variance near 1, so softmax stays out of saturation and gradients flow</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It normalises the value vectors to unit length before they are mixed</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It reduces the O(n²) memory cost of the attention matrix</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It prevents integer overflow when the score matrix is stored in INT8</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R6 in the rubric: DECISIONS.md must ground every model choice in architecture — this is the literacy the graders probe.</a:t>
            </a:r>
            <a:endParaRPr lang="en-US" sz="10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Quiz — Vector Normalisation</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 تسوية المتجهات</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149</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Q2</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You L2-normalise only the index side of an inner-product FAISS search. What breaks?</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index rejects queries whose dimension no longer matches</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Magnitude leaks into scores; rankings skew to long, dense texts — plausible and wrong</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recall@10 drops to exactly zero on the labelled query set</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Nothing — FAISS normalises the query side automatically</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R3 requires recall@10 ≥ 0.80 and MRR@10 ≥ 0.70 — an asymmetric normalisation bug silently eats both.</a:t>
            </a:r>
            <a:endParaRPr lang="en-US" sz="10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Quiz — The Optimisation Ladder</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 سلّم تحسين الاستدلال</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150</a:t>
            </a:r>
            <a:endParaRPr lang="en-US" sz="800" dirty="0"/>
          </a:p>
        </p:txBody>
      </p:sp>
      <p:sp>
        <p:nvSpPr>
          <p:cNvPr id="8" name="Shape 5"/>
          <p:cNvSpPr/>
          <p:nvPr/>
        </p:nvSpPr>
        <p:spPr>
          <a:xfrm>
            <a:off x="502920" y="1481328"/>
            <a:ext cx="1792224" cy="365760"/>
          </a:xfrm>
          <a:prstGeom prst="roundRect">
            <a:avLst>
              <a:gd name="adj" fmla="val 20000"/>
            </a:avLst>
          </a:prstGeom>
          <a:solidFill>
            <a:srgbClr val="F7941D"/>
          </a:solidFill>
          <a:ln/>
        </p:spPr>
      </p:sp>
      <p:sp>
        <p:nvSpPr>
          <p:cNvPr id="9" name="Text 6"/>
          <p:cNvSpPr/>
          <p:nvPr/>
        </p:nvSpPr>
        <p:spPr>
          <a:xfrm>
            <a:off x="502920" y="1481328"/>
            <a:ext cx="179222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 · Q3</a:t>
            </a:r>
            <a:endParaRPr lang="en-US" sz="1100" dirty="0"/>
          </a:p>
        </p:txBody>
      </p:sp>
      <p:sp>
        <p:nvSpPr>
          <p:cNvPr id="10" name="Text 7"/>
          <p:cNvSpPr/>
          <p:nvPr/>
        </p:nvSpPr>
        <p:spPr>
          <a:xfrm>
            <a:off x="502920" y="2011680"/>
            <a:ext cx="11183112" cy="868680"/>
          </a:xfrm>
          <a:prstGeom prst="rect">
            <a:avLst/>
          </a:prstGeom>
          <a:noFill/>
          <a:ln/>
        </p:spPr>
        <p:txBody>
          <a:bodyPr wrap="square" lIns="0" tIns="0" rIns="0" bIns="0" rtlCol="0" anchor="t"/>
          <a:lstStyle/>
          <a:p>
            <a:pPr indent="0" marL="0">
              <a:buNone/>
            </a:pPr>
            <a:r>
              <a:rPr lang="en-US" sz="1700" b="1" dirty="0">
                <a:solidFill>
                  <a:srgbClr val="1D2A5C"/>
                </a:solidFill>
                <a:latin typeface="Calibri" pitchFamily="34" charset="0"/>
                <a:ea typeface="Calibri" pitchFamily="34" charset="-122"/>
                <a:cs typeface="Calibri" pitchFamily="34" charset="-120"/>
              </a:rPr>
              <a:t>Order the inference-optimisation ladder from cheapest step to most expensive.</a:t>
            </a:r>
            <a:endParaRPr lang="en-US" sz="1700" dirty="0"/>
          </a:p>
        </p:txBody>
      </p:sp>
      <p:sp>
        <p:nvSpPr>
          <p:cNvPr id="11" name="Shape 8"/>
          <p:cNvSpPr/>
          <p:nvPr/>
        </p:nvSpPr>
        <p:spPr>
          <a:xfrm>
            <a:off x="502920" y="3017520"/>
            <a:ext cx="5477256" cy="713232"/>
          </a:xfrm>
          <a:prstGeom prst="roundRect">
            <a:avLst>
              <a:gd name="adj" fmla="val 10256"/>
            </a:avLst>
          </a:prstGeom>
          <a:solidFill>
            <a:srgbClr val="F2F6F8"/>
          </a:solidFill>
          <a:ln w="9525">
            <a:solidFill>
              <a:srgbClr val="D9E2E8"/>
            </a:solidFill>
            <a:prstDash val="solid"/>
          </a:ln>
        </p:spPr>
      </p:sp>
      <p:sp>
        <p:nvSpPr>
          <p:cNvPr id="12" name="Shape 9"/>
          <p:cNvSpPr/>
          <p:nvPr/>
        </p:nvSpPr>
        <p:spPr>
          <a:xfrm>
            <a:off x="640080" y="3227832"/>
            <a:ext cx="292608" cy="292608"/>
          </a:xfrm>
          <a:prstGeom prst="ellipse">
            <a:avLst/>
          </a:prstGeom>
          <a:solidFill>
            <a:srgbClr val="1D2A5C"/>
          </a:solidFill>
          <a:ln/>
        </p:spPr>
      </p:sp>
      <p:sp>
        <p:nvSpPr>
          <p:cNvPr id="13" name="Text 10"/>
          <p:cNvSpPr/>
          <p:nvPr/>
        </p:nvSpPr>
        <p:spPr>
          <a:xfrm>
            <a:off x="640080"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1"/>
          <p:cNvSpPr/>
          <p:nvPr/>
        </p:nvSpPr>
        <p:spPr>
          <a:xfrm>
            <a:off x="1051560"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Hardware → distilled checkpoint → dynamic INT8 → ONNX export → batching</a:t>
            </a:r>
            <a:endParaRPr lang="en-US" sz="1150" dirty="0"/>
          </a:p>
        </p:txBody>
      </p:sp>
      <p:sp>
        <p:nvSpPr>
          <p:cNvPr id="15" name="Shape 12"/>
          <p:cNvSpPr/>
          <p:nvPr/>
        </p:nvSpPr>
        <p:spPr>
          <a:xfrm>
            <a:off x="6208776" y="3017520"/>
            <a:ext cx="5477256" cy="713232"/>
          </a:xfrm>
          <a:prstGeom prst="roundRect">
            <a:avLst>
              <a:gd name="adj" fmla="val 10256"/>
            </a:avLst>
          </a:prstGeom>
          <a:solidFill>
            <a:srgbClr val="F2F6F8"/>
          </a:solidFill>
          <a:ln w="9525">
            <a:solidFill>
              <a:srgbClr val="D9E2E8"/>
            </a:solidFill>
            <a:prstDash val="solid"/>
          </a:ln>
        </p:spPr>
      </p:sp>
      <p:sp>
        <p:nvSpPr>
          <p:cNvPr id="16" name="Shape 13"/>
          <p:cNvSpPr/>
          <p:nvPr/>
        </p:nvSpPr>
        <p:spPr>
          <a:xfrm>
            <a:off x="6345936" y="3227832"/>
            <a:ext cx="292608" cy="292608"/>
          </a:xfrm>
          <a:prstGeom prst="ellipse">
            <a:avLst/>
          </a:prstGeom>
          <a:solidFill>
            <a:srgbClr val="1D2A5C"/>
          </a:solidFill>
          <a:ln/>
        </p:spPr>
      </p:sp>
      <p:sp>
        <p:nvSpPr>
          <p:cNvPr id="17" name="Text 14"/>
          <p:cNvSpPr/>
          <p:nvPr/>
        </p:nvSpPr>
        <p:spPr>
          <a:xfrm>
            <a:off x="6345936" y="32278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8" name="Text 15"/>
          <p:cNvSpPr/>
          <p:nvPr/>
        </p:nvSpPr>
        <p:spPr>
          <a:xfrm>
            <a:off x="6757416" y="3072384"/>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ONNX export → dynamic INT8 → length/padding/batching → distillation → hardware</a:t>
            </a:r>
            <a:endParaRPr lang="en-US" sz="1150" dirty="0"/>
          </a:p>
        </p:txBody>
      </p:sp>
      <p:sp>
        <p:nvSpPr>
          <p:cNvPr id="19" name="Shape 16"/>
          <p:cNvSpPr/>
          <p:nvPr/>
        </p:nvSpPr>
        <p:spPr>
          <a:xfrm>
            <a:off x="502920" y="3895344"/>
            <a:ext cx="5477256" cy="713232"/>
          </a:xfrm>
          <a:prstGeom prst="roundRect">
            <a:avLst>
              <a:gd name="adj" fmla="val 10256"/>
            </a:avLst>
          </a:prstGeom>
          <a:solidFill>
            <a:srgbClr val="F2F6F8"/>
          </a:solidFill>
          <a:ln w="9525">
            <a:solidFill>
              <a:srgbClr val="D9E2E8"/>
            </a:solidFill>
            <a:prstDash val="solid"/>
          </a:ln>
        </p:spPr>
      </p:sp>
      <p:sp>
        <p:nvSpPr>
          <p:cNvPr id="20" name="Shape 17"/>
          <p:cNvSpPr/>
          <p:nvPr/>
        </p:nvSpPr>
        <p:spPr>
          <a:xfrm>
            <a:off x="640080" y="4105656"/>
            <a:ext cx="292608" cy="292608"/>
          </a:xfrm>
          <a:prstGeom prst="ellipse">
            <a:avLst/>
          </a:prstGeom>
          <a:solidFill>
            <a:srgbClr val="1D2A5C"/>
          </a:solidFill>
          <a:ln/>
        </p:spPr>
      </p:sp>
      <p:sp>
        <p:nvSpPr>
          <p:cNvPr id="21" name="Text 18"/>
          <p:cNvSpPr/>
          <p:nvPr/>
        </p:nvSpPr>
        <p:spPr>
          <a:xfrm>
            <a:off x="640080"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2" name="Text 19"/>
          <p:cNvSpPr/>
          <p:nvPr/>
        </p:nvSpPr>
        <p:spPr>
          <a:xfrm>
            <a:off x="1051560"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Length/padding/batching → ONNX export → dynamic INT8 → distilled checkpoint → hardware</a:t>
            </a:r>
            <a:endParaRPr lang="en-US" sz="1150" dirty="0"/>
          </a:p>
        </p:txBody>
      </p:sp>
      <p:sp>
        <p:nvSpPr>
          <p:cNvPr id="23" name="Shape 20"/>
          <p:cNvSpPr/>
          <p:nvPr/>
        </p:nvSpPr>
        <p:spPr>
          <a:xfrm>
            <a:off x="6208776" y="3895344"/>
            <a:ext cx="5477256" cy="713232"/>
          </a:xfrm>
          <a:prstGeom prst="roundRect">
            <a:avLst>
              <a:gd name="adj" fmla="val 10256"/>
            </a:avLst>
          </a:prstGeom>
          <a:solidFill>
            <a:srgbClr val="F2F6F8"/>
          </a:solidFill>
          <a:ln w="9525">
            <a:solidFill>
              <a:srgbClr val="D9E2E8"/>
            </a:solidFill>
            <a:prstDash val="solid"/>
          </a:ln>
        </p:spPr>
      </p:sp>
      <p:sp>
        <p:nvSpPr>
          <p:cNvPr id="24" name="Shape 21"/>
          <p:cNvSpPr/>
          <p:nvPr/>
        </p:nvSpPr>
        <p:spPr>
          <a:xfrm>
            <a:off x="6345936" y="4105656"/>
            <a:ext cx="292608" cy="292608"/>
          </a:xfrm>
          <a:prstGeom prst="ellipse">
            <a:avLst/>
          </a:prstGeom>
          <a:solidFill>
            <a:srgbClr val="1D2A5C"/>
          </a:solidFill>
          <a:ln/>
        </p:spPr>
      </p:sp>
      <p:sp>
        <p:nvSpPr>
          <p:cNvPr id="25" name="Text 22"/>
          <p:cNvSpPr/>
          <p:nvPr/>
        </p:nvSpPr>
        <p:spPr>
          <a:xfrm>
            <a:off x="6345936" y="41056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6" name="Text 23"/>
          <p:cNvSpPr/>
          <p:nvPr/>
        </p:nvSpPr>
        <p:spPr>
          <a:xfrm>
            <a:off x="6757416" y="3950208"/>
            <a:ext cx="4764024" cy="60350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Dynamic INT8 → distilled checkpoint → ONNX export → hardware → length/padding</a:t>
            </a:r>
            <a:endParaRPr lang="en-US" sz="1150" dirty="0"/>
          </a:p>
        </p:txBody>
      </p:sp>
      <p:sp>
        <p:nvSpPr>
          <p:cNvPr id="27" name="Text 24"/>
          <p:cNvSpPr/>
          <p:nvPr/>
        </p:nvSpPr>
        <p:spPr>
          <a:xfrm>
            <a:off x="502920" y="4983480"/>
            <a:ext cx="11183112"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Answer and debrief in the speaker notes — poll the room before revealing.</a:t>
            </a:r>
            <a:endParaRPr lang="en-US" sz="1050" dirty="0"/>
          </a:p>
        </p:txBody>
      </p:sp>
      <p:sp>
        <p:nvSpPr>
          <p:cNvPr id="28" name="Shape 25"/>
          <p:cNvSpPr/>
          <p:nvPr/>
        </p:nvSpPr>
        <p:spPr>
          <a:xfrm>
            <a:off x="502920" y="5394960"/>
            <a:ext cx="11183112" cy="777240"/>
          </a:xfrm>
          <a:prstGeom prst="roundRect">
            <a:avLst>
              <a:gd name="adj" fmla="val 9412"/>
            </a:avLst>
          </a:prstGeom>
          <a:solidFill>
            <a:srgbClr val="E6F5F4"/>
          </a:solidFill>
          <a:ln/>
        </p:spPr>
      </p:sp>
      <p:sp>
        <p:nvSpPr>
          <p:cNvPr id="29" name="Text 26"/>
          <p:cNvSpPr/>
          <p:nvPr/>
        </p:nvSpPr>
        <p:spPr>
          <a:xfrm>
            <a:off x="731520" y="5394960"/>
            <a:ext cx="10744200" cy="777240"/>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THIS MATTERS   </a:t>
            </a:r>
            <a:pPr indent="0" marL="0">
              <a:buNone/>
            </a:pPr>
            <a:r>
              <a:rPr lang="en-US" sz="1150" dirty="0">
                <a:solidFill>
                  <a:srgbClr val="2B2B2B"/>
                </a:solidFill>
                <a:latin typeface="Calibri" pitchFamily="34" charset="0"/>
                <a:ea typeface="Calibri" pitchFamily="34" charset="-122"/>
                <a:cs typeface="Calibri" pitchFamily="34" charset="-120"/>
              </a:rPr>
              <a:t>R5 demands the complete ladder table with paired accuracy taxes and a documented quantisation decision per model.</a:t>
            </a:r>
            <a:endParaRPr lang="en-US" sz="10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Course Grade — Labs 60 / Project 40</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درجة الدورة — ٦٠ مختبرات / ٤٠ مشروع</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CAPSTONE &amp; ASSESSMENT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151</a:t>
            </a:r>
            <a:endParaRPr lang="en-US" sz="800" dirty="0"/>
          </a:p>
        </p:txBody>
      </p:sp>
      <p:graphicFrame>
        <p:nvGraphicFramePr>
          <p:cNvPr id="152"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completion (Labs 1–7)</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checkpoint commits + expected outputs per lab</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PA-1 + PA-2 practical assessments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artefacts + diagnosis/review notes</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Quiz</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 questions from the 20-question bank, 15 min, closed book</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Capstone project (Arabic/English NLP application)</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grading rubric, repository-first</a:t>
                      </a:r>
                      <a:endParaRPr lang="en-US" sz="1050" dirty="0">
                        <a:latin typeface="Calibri" charset="0"/>
                        <a:ea typeface="Calibri" charset="0"/>
                        <a:cs typeface="Calibri" charset="0"/>
                      </a:endParaRPr>
                    </a:p>
                  </a:txBody>
                  <a:tcPr marL="54864" marR="54864" marT="54864" marB="54864"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9" name="Text 5"/>
          <p:cNvSpPr/>
          <p:nvPr/>
        </p:nvSpPr>
        <p:spPr>
          <a:xfrm>
            <a:off x="502920" y="6035040"/>
            <a:ext cx="11183112" cy="384048"/>
          </a:xfrm>
          <a:prstGeom prst="rect">
            <a:avLst/>
          </a:prstGeom>
          <a:noFill/>
          <a:ln/>
        </p:spPr>
        <p:txBody>
          <a:bodyPr wrap="square" lIns="0" tIns="0" rIns="0" bIns="0"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TAKEAWAY   </a:t>
            </a:r>
            <a:pPr indent="0" marL="0">
              <a:buNone/>
            </a:pPr>
            <a:r>
              <a:rPr lang="en-US" sz="1050" dirty="0">
                <a:solidFill>
                  <a:srgbClr val="6E7B8A"/>
                </a:solidFill>
                <a:latin typeface="Calibri" pitchFamily="34" charset="0"/>
                <a:ea typeface="Calibri" pitchFamily="34" charset="-122"/>
                <a:cs typeface="Calibri" pitchFamily="34" charset="-120"/>
              </a:rPr>
              <a:t>Badge requires ≥ 70 overall AND capstone ≥ 70 AND zero integrity flags — benchmark tables are cohort-seeded, so identical numbers across repos are detectable. Labs + PAs + quiz = 60%; capstone = 40%.</a:t>
            </a:r>
            <a:endParaRPr lang="en-US" sz="10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lIns="0" tIns="0" rIns="0" bIns="0"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Wrap-Up, Prompts &amp; Where Next</a:t>
            </a:r>
            <a:endParaRPr lang="en-US" sz="2400" dirty="0"/>
          </a:p>
        </p:txBody>
      </p:sp>
      <p:sp>
        <p:nvSpPr>
          <p:cNvPr id="3" name="Text 1"/>
          <p:cNvSpPr/>
          <p:nvPr/>
        </p:nvSpPr>
        <p:spPr>
          <a:xfrm>
            <a:off x="502920" y="859536"/>
            <a:ext cx="9646920" cy="310896"/>
          </a:xfrm>
          <a:prstGeom prst="rect">
            <a:avLst/>
          </a:prstGeom>
          <a:noFill/>
          <a:ln/>
        </p:spPr>
        <p:txBody>
          <a:bodyPr wrap="square" lIns="0" tIns="0" rIns="0" bIns="0"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الختام والنقاشات وما بعده</a:t>
            </a:r>
            <a:endParaRPr lang="en-US" sz="1300" dirty="0"/>
          </a:p>
        </p:txBody>
      </p:sp>
      <p:pic>
        <p:nvPicPr>
          <p:cNvPr id="4" name="Image 0" descr="/sessions/trusting-kind-pasteur/build/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5" name="Shape 2"/>
          <p:cNvSpPr/>
          <p:nvPr/>
        </p:nvSpPr>
        <p:spPr>
          <a:xfrm>
            <a:off x="502920" y="1243584"/>
            <a:ext cx="777240" cy="36576"/>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CLOSE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7" name="Text 4"/>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152</a:t>
            </a:r>
            <a:endParaRPr lang="en-US" sz="800" dirty="0"/>
          </a:p>
        </p:txBody>
      </p:sp>
      <p:sp>
        <p:nvSpPr>
          <p:cNvPr id="8" name="Text 5"/>
          <p:cNvSpPr/>
          <p:nvPr/>
        </p:nvSpPr>
        <p:spPr>
          <a:xfrm>
            <a:off x="502920" y="1481328"/>
            <a:ext cx="11183112" cy="68580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Your model scores 0.82. Your dialect-speaking citizens experience 0.76. Which number goes in the press release — and who decided?</a:t>
            </a:r>
            <a:endParaRPr lang="en-US" sz="1300" dirty="0"/>
          </a:p>
        </p:txBody>
      </p:sp>
      <p:sp>
        <p:nvSpPr>
          <p:cNvPr id="9" name="Shape 6"/>
          <p:cNvSpPr/>
          <p:nvPr/>
        </p:nvSpPr>
        <p:spPr>
          <a:xfrm>
            <a:off x="502920" y="2304288"/>
            <a:ext cx="5477256" cy="4096512"/>
          </a:xfrm>
          <a:prstGeom prst="roundRect">
            <a:avLst>
              <a:gd name="adj" fmla="val 1786"/>
            </a:avLst>
          </a:prstGeom>
          <a:solidFill>
            <a:srgbClr val="F2F6F8"/>
          </a:solidFill>
          <a:ln/>
        </p:spPr>
      </p:sp>
      <p:sp>
        <p:nvSpPr>
          <p:cNvPr id="10" name="Text 7"/>
          <p:cNvSpPr/>
          <p:nvPr/>
        </p:nvSpPr>
        <p:spPr>
          <a:xfrm>
            <a:off x="731520"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Wrap-up ritual (final 15 min)</a:t>
            </a:r>
            <a:endParaRPr lang="en-US" sz="1400" dirty="0"/>
          </a:p>
        </p:txBody>
      </p:sp>
      <p:sp>
        <p:nvSpPr>
          <p:cNvPr id="11" name="Text 8"/>
          <p:cNvSpPr/>
          <p:nvPr/>
        </p:nvSpPr>
        <p:spPr>
          <a:xfrm>
            <a:off x="731520"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Map each capstone requirement to the module that taught it — the golden thread, explicit one last time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Collect repo URLs, EVALUATION_REPORT.md, BENCHMARKS.md, DECISIONS.md</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Badge recommendations issued within 5 working days</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Return the thesis to the room: the model is the easy part</a:t>
            </a:r>
            <a:endParaRPr lang="en-US" sz="1200" dirty="0"/>
          </a:p>
        </p:txBody>
      </p:sp>
      <p:sp>
        <p:nvSpPr>
          <p:cNvPr id="12" name="Shape 9"/>
          <p:cNvSpPr/>
          <p:nvPr/>
        </p:nvSpPr>
        <p:spPr>
          <a:xfrm>
            <a:off x="6208776" y="2304288"/>
            <a:ext cx="5477256" cy="4096512"/>
          </a:xfrm>
          <a:prstGeom prst="roundRect">
            <a:avLst>
              <a:gd name="adj" fmla="val 1786"/>
            </a:avLst>
          </a:prstGeom>
          <a:solidFill>
            <a:srgbClr val="F2F6F8"/>
          </a:solidFill>
          <a:ln/>
        </p:spPr>
      </p:sp>
      <p:sp>
        <p:nvSpPr>
          <p:cNvPr id="13" name="Text 10"/>
          <p:cNvSpPr/>
          <p:nvPr/>
        </p:nvSpPr>
        <p:spPr>
          <a:xfrm>
            <a:off x="6437376" y="2450592"/>
            <a:ext cx="5020056" cy="320040"/>
          </a:xfrm>
          <a:prstGeom prst="rect">
            <a:avLst/>
          </a:prstGeom>
          <a:noFill/>
          <a:ln/>
        </p:spPr>
        <p:txBody>
          <a:bodyPr wrap="square" lIns="0" tIns="0" rIns="0" bIns="0"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Where next</a:t>
            </a:r>
            <a:endParaRPr lang="en-US" sz="1400" dirty="0"/>
          </a:p>
        </p:txBody>
      </p:sp>
      <p:sp>
        <p:nvSpPr>
          <p:cNvPr id="14" name="Text 11"/>
          <p:cNvSpPr/>
          <p:nvPr/>
        </p:nvSpPr>
        <p:spPr>
          <a:xfrm>
            <a:off x="6437376" y="2852928"/>
            <a:ext cx="5020056" cy="3410712"/>
          </a:xfrm>
          <a:prstGeom prst="rect">
            <a:avLst/>
          </a:prstGeom>
          <a:noFill/>
          <a:ln/>
        </p:spPr>
        <p:txBody>
          <a:bodyPr wrap="square" lIns="0" tIns="0" rIns="0" bIns="0" rtlCol="0" anchor="t"/>
          <a:lstStyle/>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SDA-AIE-213: LLM applications built on exactly this substrate — tokenisation, embeddings, evaluation discipline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SDA-AIE-214: the M5 retrieval component is its RAG foundation</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SDA-AIE-216: serving and monitoring mature here</a:t>
            </a:r>
            <a:endParaRPr lang="en-US" sz="1200" dirty="0"/>
          </a:p>
          <a:p>
            <a:pPr algn="l" marL="127000" indent="-127000">
              <a:spcAft>
                <a:spcPts val="660"/>
              </a:spcAft>
              <a:buSzPct val="100000"/>
              <a:buChar char="•"/>
            </a:pPr>
            <a:r>
              <a:rPr lang="en-US" sz="1200" dirty="0">
                <a:solidFill>
                  <a:srgbClr val="2B2B2B"/>
                </a:solidFill>
                <a:latin typeface="Calibri" pitchFamily="34" charset="0"/>
                <a:ea typeface="Calibri" pitchFamily="34" charset="-122"/>
                <a:cs typeface="Calibri" pitchFamily="34" charset="-120"/>
              </a:rPr>
              <a:t>The NLP badge counts toward the AI Engineer Specialist Certificate and feeds GenAI Engineering</a:t>
            </a:r>
            <a:endParaRPr lang="en-US" sz="12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836676"/>
            <a:ext cx="329184" cy="288036"/>
          </a:xfrm>
          <a:prstGeom prst="triangle">
            <a:avLst/>
          </a:prstGeom>
          <a:solidFill>
            <a:srgbClr val="00A79D"/>
          </a:solidFill>
          <a:ln/>
        </p:spPr>
      </p:sp>
      <p:sp>
        <p:nvSpPr>
          <p:cNvPr id="3" name="Shape 1"/>
          <p:cNvSpPr/>
          <p:nvPr/>
        </p:nvSpPr>
        <p:spPr>
          <a:xfrm>
            <a:off x="10042398" y="692658"/>
            <a:ext cx="329184" cy="288036"/>
          </a:xfrm>
          <a:prstGeom prst="triangle">
            <a:avLst/>
          </a:prstGeom>
          <a:solidFill>
            <a:srgbClr val="29ABE2"/>
          </a:solidFill>
          <a:ln/>
        </p:spPr>
      </p:sp>
      <p:sp>
        <p:nvSpPr>
          <p:cNvPr id="4" name="Shape 2"/>
          <p:cNvSpPr/>
          <p:nvPr/>
        </p:nvSpPr>
        <p:spPr>
          <a:xfrm>
            <a:off x="10042398" y="980694"/>
            <a:ext cx="329184" cy="288036"/>
          </a:xfrm>
          <a:prstGeom prst="triangle">
            <a:avLst/>
          </a:prstGeom>
          <a:solidFill>
            <a:srgbClr val="F7941D"/>
          </a:solidFill>
          <a:ln/>
        </p:spPr>
      </p:sp>
      <p:sp>
        <p:nvSpPr>
          <p:cNvPr id="5" name="Shape 3"/>
          <p:cNvSpPr/>
          <p:nvPr/>
        </p:nvSpPr>
        <p:spPr>
          <a:xfrm>
            <a:off x="10392156" y="548640"/>
            <a:ext cx="329184" cy="288036"/>
          </a:xfrm>
          <a:prstGeom prst="triangle">
            <a:avLst/>
          </a:prstGeom>
          <a:solidFill>
            <a:srgbClr val="8CC63F"/>
          </a:solidFill>
          <a:ln/>
        </p:spPr>
      </p:sp>
      <p:sp>
        <p:nvSpPr>
          <p:cNvPr id="6" name="Shape 4"/>
          <p:cNvSpPr/>
          <p:nvPr/>
        </p:nvSpPr>
        <p:spPr>
          <a:xfrm>
            <a:off x="10392156" y="836676"/>
            <a:ext cx="329184" cy="288036"/>
          </a:xfrm>
          <a:prstGeom prst="triangle">
            <a:avLst/>
          </a:prstGeom>
          <a:solidFill>
            <a:srgbClr val="1D2A5C"/>
          </a:solidFill>
          <a:ln/>
        </p:spPr>
      </p:sp>
      <p:sp>
        <p:nvSpPr>
          <p:cNvPr id="7" name="Shape 5"/>
          <p:cNvSpPr/>
          <p:nvPr/>
        </p:nvSpPr>
        <p:spPr>
          <a:xfrm>
            <a:off x="10741914" y="692658"/>
            <a:ext cx="329184" cy="288036"/>
          </a:xfrm>
          <a:prstGeom prst="triangle">
            <a:avLst/>
          </a:prstGeom>
          <a:solidFill>
            <a:srgbClr val="00A79D"/>
          </a:solidFill>
          <a:ln/>
        </p:spPr>
      </p:sp>
      <p:sp>
        <p:nvSpPr>
          <p:cNvPr id="8" name="Shape 6"/>
          <p:cNvSpPr/>
          <p:nvPr/>
        </p:nvSpPr>
        <p:spPr>
          <a:xfrm>
            <a:off x="10741914" y="980694"/>
            <a:ext cx="329184" cy="288036"/>
          </a:xfrm>
          <a:prstGeom prst="triangle">
            <a:avLst/>
          </a:prstGeom>
          <a:solidFill>
            <a:srgbClr val="29ABE2"/>
          </a:solidFill>
          <a:ln/>
        </p:spPr>
      </p:sp>
      <p:sp>
        <p:nvSpPr>
          <p:cNvPr id="9" name="Shape 7"/>
          <p:cNvSpPr/>
          <p:nvPr/>
        </p:nvSpPr>
        <p:spPr>
          <a:xfrm>
            <a:off x="11091672" y="836676"/>
            <a:ext cx="329184" cy="288036"/>
          </a:xfrm>
          <a:prstGeom prst="triangle">
            <a:avLst/>
          </a:prstGeom>
          <a:solidFill>
            <a:srgbClr val="F7941D"/>
          </a:solidFill>
          <a:ln/>
        </p:spPr>
      </p:sp>
      <p:sp>
        <p:nvSpPr>
          <p:cNvPr id="10" name="Shape 8"/>
          <p:cNvSpPr/>
          <p:nvPr/>
        </p:nvSpPr>
        <p:spPr>
          <a:xfrm>
            <a:off x="640080" y="5633070"/>
            <a:ext cx="272125" cy="238110"/>
          </a:xfrm>
          <a:prstGeom prst="triangle">
            <a:avLst/>
          </a:prstGeom>
          <a:solidFill>
            <a:srgbClr val="29ABE2"/>
          </a:solidFill>
          <a:ln/>
        </p:spPr>
      </p:sp>
      <p:sp>
        <p:nvSpPr>
          <p:cNvPr id="11" name="Shape 9"/>
          <p:cNvSpPr/>
          <p:nvPr/>
        </p:nvSpPr>
        <p:spPr>
          <a:xfrm>
            <a:off x="929213" y="5514015"/>
            <a:ext cx="272125" cy="238110"/>
          </a:xfrm>
          <a:prstGeom prst="triangle">
            <a:avLst/>
          </a:prstGeom>
          <a:solidFill>
            <a:srgbClr val="1D2A5C"/>
          </a:solidFill>
          <a:ln/>
        </p:spPr>
      </p:sp>
      <p:sp>
        <p:nvSpPr>
          <p:cNvPr id="12" name="Shape 10"/>
          <p:cNvSpPr/>
          <p:nvPr/>
        </p:nvSpPr>
        <p:spPr>
          <a:xfrm>
            <a:off x="929213" y="5752125"/>
            <a:ext cx="272125" cy="238110"/>
          </a:xfrm>
          <a:prstGeom prst="triangle">
            <a:avLst/>
          </a:prstGeom>
          <a:solidFill>
            <a:srgbClr val="00A79D"/>
          </a:solidFill>
          <a:ln/>
        </p:spPr>
      </p:sp>
      <p:sp>
        <p:nvSpPr>
          <p:cNvPr id="13" name="Shape 11"/>
          <p:cNvSpPr/>
          <p:nvPr/>
        </p:nvSpPr>
        <p:spPr>
          <a:xfrm>
            <a:off x="1218347" y="5394960"/>
            <a:ext cx="272125" cy="238110"/>
          </a:xfrm>
          <a:prstGeom prst="triangle">
            <a:avLst/>
          </a:prstGeom>
          <a:solidFill>
            <a:srgbClr val="8CC63F"/>
          </a:solidFill>
          <a:ln/>
        </p:spPr>
      </p:sp>
      <p:sp>
        <p:nvSpPr>
          <p:cNvPr id="14" name="Shape 12"/>
          <p:cNvSpPr/>
          <p:nvPr/>
        </p:nvSpPr>
        <p:spPr>
          <a:xfrm>
            <a:off x="1218347" y="5633070"/>
            <a:ext cx="272125" cy="238110"/>
          </a:xfrm>
          <a:prstGeom prst="triangle">
            <a:avLst/>
          </a:prstGeom>
          <a:solidFill>
            <a:srgbClr val="29ABE2"/>
          </a:solidFill>
          <a:ln/>
        </p:spPr>
      </p:sp>
      <p:sp>
        <p:nvSpPr>
          <p:cNvPr id="15" name="Shape 13"/>
          <p:cNvSpPr/>
          <p:nvPr/>
        </p:nvSpPr>
        <p:spPr>
          <a:xfrm>
            <a:off x="1507480" y="5514015"/>
            <a:ext cx="272125" cy="238110"/>
          </a:xfrm>
          <a:prstGeom prst="triangle">
            <a:avLst/>
          </a:prstGeom>
          <a:solidFill>
            <a:srgbClr val="1D2A5C"/>
          </a:solidFill>
          <a:ln/>
        </p:spPr>
      </p:sp>
      <p:sp>
        <p:nvSpPr>
          <p:cNvPr id="16" name="Shape 14"/>
          <p:cNvSpPr/>
          <p:nvPr/>
        </p:nvSpPr>
        <p:spPr>
          <a:xfrm>
            <a:off x="1507480" y="5752125"/>
            <a:ext cx="272125" cy="238110"/>
          </a:xfrm>
          <a:prstGeom prst="triangle">
            <a:avLst/>
          </a:prstGeom>
          <a:solidFill>
            <a:srgbClr val="00A79D"/>
          </a:solidFill>
          <a:ln/>
        </p:spPr>
      </p:sp>
      <p:sp>
        <p:nvSpPr>
          <p:cNvPr id="17" name="Shape 15"/>
          <p:cNvSpPr/>
          <p:nvPr/>
        </p:nvSpPr>
        <p:spPr>
          <a:xfrm>
            <a:off x="1796613" y="5633070"/>
            <a:ext cx="272125" cy="238110"/>
          </a:xfrm>
          <a:prstGeom prst="triangle">
            <a:avLst/>
          </a:prstGeom>
          <a:solidFill>
            <a:srgbClr val="8CC63F"/>
          </a:solidFill>
          <a:ln/>
        </p:spPr>
      </p:sp>
      <p:sp>
        <p:nvSpPr>
          <p:cNvPr id="18" name="Text 16"/>
          <p:cNvSpPr/>
          <p:nvPr/>
        </p:nvSpPr>
        <p:spPr>
          <a:xfrm>
            <a:off x="1097280" y="1920240"/>
            <a:ext cx="10058400" cy="365760"/>
          </a:xfrm>
          <a:prstGeom prst="rect">
            <a:avLst/>
          </a:prstGeom>
          <a:noFill/>
          <a:ln/>
        </p:spPr>
        <p:txBody>
          <a:bodyPr wrap="square" lIns="0" tIns="0" rIns="0" bIns="0" rtlCol="0" anchor="ctr"/>
          <a:lstStyle/>
          <a:p>
            <a:pPr indent="0" marL="0">
              <a:buNone/>
            </a:pPr>
            <a:r>
              <a:rPr lang="en-US" sz="1300" b="1" spc="200" kern="0" dirty="0">
                <a:solidFill>
                  <a:srgbClr val="00A79D"/>
                </a:solidFill>
                <a:latin typeface="Calibri" pitchFamily="34" charset="0"/>
                <a:ea typeface="Calibri" pitchFamily="34" charset="-122"/>
                <a:cs typeface="Calibri" pitchFamily="34" charset="-120"/>
              </a:rPr>
              <a:t>SDA-AIE-211 · COURSE CLOSE</a:t>
            </a:r>
            <a:endParaRPr lang="en-US" sz="1300" dirty="0"/>
          </a:p>
        </p:txBody>
      </p:sp>
      <p:sp>
        <p:nvSpPr>
          <p:cNvPr id="19" name="Text 17"/>
          <p:cNvSpPr/>
          <p:nvPr/>
        </p:nvSpPr>
        <p:spPr>
          <a:xfrm>
            <a:off x="1097280" y="2377440"/>
            <a:ext cx="9994392" cy="1737360"/>
          </a:xfrm>
          <a:prstGeom prst="rect">
            <a:avLst/>
          </a:prstGeom>
          <a:noFill/>
          <a:ln/>
        </p:spPr>
        <p:txBody>
          <a:bodyPr wrap="square" lIns="0" tIns="0" rIns="0" bIns="0" rtlCol="0" anchor="t"/>
          <a:lstStyle/>
          <a:p>
            <a:pPr indent="0" marL="0">
              <a:buNone/>
            </a:pPr>
            <a:r>
              <a:rPr lang="en-US" sz="2800" b="1" dirty="0">
                <a:solidFill>
                  <a:srgbClr val="1D2A5C"/>
                </a:solidFill>
                <a:latin typeface="Calibri" pitchFamily="34" charset="0"/>
                <a:ea typeface="Calibri" pitchFamily="34" charset="-122"/>
                <a:cs typeface="Calibri" pitchFamily="34" charset="-120"/>
              </a:rPr>
              <a:t>In NLP engineering, the model is the easy part — the tokenizer, the slices, and the milliseconds are where the profession lives.</a:t>
            </a:r>
            <a:endParaRPr lang="en-US" sz="2800" dirty="0"/>
          </a:p>
        </p:txBody>
      </p:sp>
      <p:sp>
        <p:nvSpPr>
          <p:cNvPr id="20" name="Text 18"/>
          <p:cNvSpPr/>
          <p:nvPr/>
        </p:nvSpPr>
        <p:spPr>
          <a:xfrm>
            <a:off x="2011680" y="4251960"/>
            <a:ext cx="8165592" cy="822960"/>
          </a:xfrm>
          <a:prstGeom prst="rect">
            <a:avLst/>
          </a:prstGeom>
          <a:noFill/>
          <a:ln/>
        </p:spPr>
        <p:txBody>
          <a:bodyPr wrap="square" lIns="0" tIns="0" rIns="0" bIns="0" rtlCol="0" anchor="ctr"/>
          <a:lstStyle/>
          <a:p>
            <a:pPr algn="ctr" indent="0" marL="0">
              <a:buNone/>
            </a:pPr>
            <a:r>
              <a:rPr lang="en-US" sz="1300" dirty="0">
                <a:solidFill>
                  <a:srgbClr val="6E7B8A"/>
                </a:solidFill>
                <a:latin typeface="Calibri" pitchFamily="34" charset="0"/>
                <a:ea typeface="Calibri" pitchFamily="34" charset="-122"/>
                <a:cs typeface="Calibri" pitchFamily="34" charset="-120"/>
              </a:rPr>
              <a:t>شكراً لكم وإلى اللقاء — thank you, and see you in SDA-AIE-213.</a:t>
            </a:r>
            <a:endParaRPr lang="en-US" sz="1300" dirty="0"/>
          </a:p>
        </p:txBody>
      </p:sp>
      <p:pic>
        <p:nvPicPr>
          <p:cNvPr id="21" name="Image 0" descr="/sessions/trusting-kind-pasteur/build/assets/logo.png">    </p:cNvPr>
          <p:cNvPicPr>
            <a:picLocks noChangeAspect="1"/>
          </p:cNvPicPr>
          <p:nvPr/>
        </p:nvPicPr>
        <p:blipFill>
          <a:blip r:embed="rId1"/>
          <a:stretch>
            <a:fillRect/>
          </a:stretch>
        </p:blipFill>
        <p:spPr>
          <a:xfrm>
            <a:off x="5559552" y="6172200"/>
            <a:ext cx="1078992" cy="264111"/>
          </a:xfrm>
          <a:prstGeom prst="rect">
            <a:avLst/>
          </a:prstGeom>
        </p:spPr>
      </p:pic>
      <p:sp>
        <p:nvSpPr>
          <p:cNvPr id="22" name="Text 19"/>
          <p:cNvSpPr/>
          <p:nvPr/>
        </p:nvSpPr>
        <p:spPr>
          <a:xfrm>
            <a:off x="502920" y="6528816"/>
            <a:ext cx="8686800" cy="219456"/>
          </a:xfrm>
          <a:prstGeom prst="rect">
            <a:avLst/>
          </a:prstGeom>
          <a:noFill/>
          <a:ln/>
        </p:spPr>
        <p:txBody>
          <a:bodyPr wrap="square" lIns="0" tIns="0" rIns="0" bIns="0"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CLOSE   </a:t>
            </a:r>
            <a:pPr algn="l" indent="0" marL="0">
              <a:buNone/>
            </a:pPr>
            <a:r>
              <a:rPr lang="en-US" sz="800" dirty="0">
                <a:solidFill>
                  <a:srgbClr val="6E7B8A"/>
                </a:solidFill>
                <a:latin typeface="Calibri" pitchFamily="34" charset="0"/>
                <a:ea typeface="Calibri" pitchFamily="34" charset="-122"/>
                <a:cs typeface="Calibri" pitchFamily="34" charset="-120"/>
              </a:rPr>
              <a:t>SDA-AIE-211 · Natural Language Processing with Transformers</a:t>
            </a:r>
            <a:endParaRPr lang="en-US" sz="800" dirty="0"/>
          </a:p>
        </p:txBody>
      </p:sp>
      <p:sp>
        <p:nvSpPr>
          <p:cNvPr id="23" name="Text 20"/>
          <p:cNvSpPr/>
          <p:nvPr/>
        </p:nvSpPr>
        <p:spPr>
          <a:xfrm>
            <a:off x="11292840" y="6528816"/>
            <a:ext cx="411480" cy="219456"/>
          </a:xfrm>
          <a:prstGeom prst="rect">
            <a:avLst/>
          </a:prstGeom>
          <a:noFill/>
          <a:ln/>
        </p:spPr>
        <p:txBody>
          <a:bodyPr wrap="square" lIns="0" tIns="0" rIns="0" bIns="0"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153</Slides>
  <Notes>153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153</vt:i4>
      </vt:variant>
    </vt:vector>
  </HeadingPairs>
  <TitlesOfParts>
    <vt:vector size="1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SDA-AIE-211 — Natural Language Processing with Transformers — Instructor Deck</dc:title>
  <dc:subject>PptxGenJS Presentation</dc:subject>
  <dc:creator>SDAIA Academy</dc:creator>
  <cp:lastModifiedBy>SDAIA Academy</cp:lastModifiedBy>
  <cp:revision>1</cp:revision>
  <dcterms:created xsi:type="dcterms:W3CDTF">2026-07-13T07:03:43Z</dcterms:created>
  <dcterms:modified xsi:type="dcterms:W3CDTF">2026-07-13T07:03:43Z</dcterms:modified>
</cp:coreProperties>
</file>