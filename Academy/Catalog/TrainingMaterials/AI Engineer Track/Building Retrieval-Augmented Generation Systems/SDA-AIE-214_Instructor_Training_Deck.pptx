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Lst>
  <p:notesMasterIdLst>
    <p:notesMasterId r:id="rId1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notesMaster" Target="notesMasters/notesMaster1.xml"/><Relationship Id="rId161" Type="http://schemas.openxmlformats.org/officeDocument/2006/relationships/presProps" Target="presProps.xml"/><Relationship Id="rId162" Type="http://schemas.openxmlformats.org/officeDocument/2006/relationships/viewProps" Target="viewProps.xml"/><Relationship Id="rId163" Type="http://schemas.openxmlformats.org/officeDocument/2006/relationships/theme" Target="theme/theme1.xml"/><Relationship Id="rId1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and hold this slide for two to three minutes while people settle. Introduce yourself, then state the shape of the course: four days, twenty learning hours, Specialist level, and it assumes everyone completed SDA-AIE-213. Point at the tools line — Qdrant, LangChain or LlamaIndex, RAGAS, rerankers — and promise each one gets used hands-on, not just mentioned. Set expectations early: this course is lab-heavy and assessed through labs plus an enterprise RAG project that participants demo on the final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about four minutes on logistics. Stress the rising lab percentage — participants should expect to spend most of the week typing, not listening. Explain the pairing policy: you will pair a strong-Python person with a strong-prompting person because the retrieval stack needs both instincts. Mention the checkpoint tags now so nobody panics later when a lab overruns. Confirm the environment plan: local Docker as primary, Codespaces as fallback, models pre-downloaded so bandwidth never gates a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core of the course — give it five minutes. Dalil is an enterprise knowledge assistant for a fictional Saudi organisation, grounded in a deliberately messy 300-document corpus. Walk the spokes clockwise: the corpus mixes scanned Arabic PDFs, DOCX procedures, HTML intranet pages, and XLSX allowance tables, plus circulars that change over time. Every lab builds one stage. Tell participants the Lab 1 failure gallery stays posted on the wall all four days, and failures get struck through as the stack eliminates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outcomes aloud, but do not lecture through them — two to three minutes maximum. Instead, map each outcome to a day so the list feels like a route, not a syllabus: LO1 and LO2 land on Day 1, LO3 on Day 2, LO4 and LO5 on Day 3, and LO6 is stress-tested in the Day 3 red-team and the Day 4 capstone. Tell participants they will see these tags again on module openers, so they can always locate where they are in the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in about three minutes and give each day a one-line story. Day 1 grounds the model in knowledge and deliberately ships a naive baseline that fails — that failure gallery becomes the course scoreboard. Day 2 builds the retrieval stack and proves hybrid-plus-reranking beats dense-only with measured recall. Day 3 turns retrieval into trusted answers with citations, refusal behaviour, and a RAGAS harness. Day 4 adds multi-hop patterns and assembles the capstone. Emphasize the arrows: nothing built here is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table three minutes and let the theory-to-lab ratio tell the story: 45/55 on Day 1 sliding to 25/75 on Day 4. Name each deliverable concretely — participants leave Day 1 with a working ingestion pipeline and a documented failure gallery, Day 2 with a Qdrant index whose recall@k is measured, Day 3 with a cited answer pipeline plus a RAGAS regression baseline, and Day 4 with an evaluated capstone they demo live. Flag that Days 2 and 3 also include timed practical assessments PA-1 and PA-2.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here, and treat it as an environment check rather than a product tour. Confirm everyone has the local Docker setup running — Qdrant container plus the course LLM gateway — and that the Codespaces fallback works for anyone with a locked-down laptop. Stress two operational rules from the delivery plan: all generation goes through the gateway with per-participant keys and spend caps, and every evaluation run pins the model with temperature zero, otherwise metric deltas are just noise. Models ship pre-downloaded in the course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three minutes and be precise, because assessment anxiety is real. Assessment is labs plus the enterprise RAG project with evaluation — no written exam. Explain the capstone logistics now: repository URLs are collected at the end of Day 4 Hour 3 so evaluation harnesses can be verified before demos, and rubric scoring happens live during the demos with live probe questions. Then sell the stackability panel: this course earns the RAG badge, counts toward the Specialist Certificate, and is the direct prerequisite for the agents course, SDA-AIE-311.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intro on this principle and let it breathe for thirty seconds before moving on. It comes straight from the course description: by the final afternoon every participant owns a system whose evaluation harness proves, with numbers, that answers are faithful, relevant, and cited. Tell the room this sentence is the acceptance test for everything they build this week — every lab either moves a metric or explains why it did not. Then transition directly into the Day 1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day as diagnosis before treatment: 45 percent theory, 55 percent lab. Each hour is 50 minutes of instruction plus a 10-minute buffer; place the long break around Dhuhr. Emphasise the golden thread — every module evolves the same Dalil assistant over the same corpus, and failures found in Lab 1 are fixed by name in later labs. End-of-day deliverable: a naive-RAG baseline with a documented failure gallery plus a working ingestion pipeline over the Dalil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hour by asking the un-augmented course LLM three questions about the fictional organisation travel policy. It answers all three fluently and wrongly — screenshot the answers, they return as the villain in Module 6. The module promise: before building anything, participants must be able to say why RAG, and just as importantly when not RAG. The naive baseline they build today defines the syllabus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objectives quickly and connect them to the business question every Saudi enterprise asks first: our knowledge is private, current, and access-controlled — how do we get it into the model? Stress that 1.4 and 1.5 are done in Lab 1 this afternoon, not just discussed. The competency bar: draw the architecture, place any vendor product in it, argue the trade-off with cost, freshness and auditability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three structural failures precisely — staleness, privacy or coverage, unverifiability — and insist participants use these words all week. The privacy gap deserves the most time: the model does not refuse, it interpolates an answer that sounds like a policy, which is exactly why it is dangerous. Close with the core move on the panel: generation becomes a reading comprehension task over retrieved evidence rather than a recall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this slide for a full beat — it is the single sentence participants should be able to repeat at the end of the course. Knowledge moves from weights, which are opaque, frozen and global, to a document index, which is inspectable, updatable and access-controllable. Every architecture decision in the next four days is a consequence of this one move. Ask one participant to restate it in their own words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this as a table, not a slogan — it is the single most-asked architecture question in enterprise GenAI. Run the framework on the decomposed problem: what must be current versus what must be stylistically consistent, because the right answer per component differs. Flag the PDPL row hard: deletion from an index is done in minutes, while machine unlearning remains research. Fine-tuning wins only for stable skill or style, or ultra-low-latency closed domains at high QPS.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lane on the board and stamp module numbers on each stage — the same diagram reprints as the A2 wall poster with failure-class stickers pinned where they occur. Key question to plant now: where does staleness get fixed? Here, in the offline path triggers. The contract between offline and online is the collection itself; everything downstream operates only on what survived this path. Module 2 this afternoon owns the front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participants locate design decisions in the diagram: access control applies at the retrieval filter; hallucination gets caught at the context contract plus evaluation; latency accumulates across every online stage, which we measure next slide. Run the architecture placement game here if time allows — vendor-product cards placed onto the poster, with the class challenging each placement. This diagram is the map every later module colours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asymmetries drive most tuning decisions in this course. First, generation dominates both latency and cost, so context-size discipline is the main cost lever — stuffing 20 chunks into the prompt is paying four times more for worse answers. Second, retrieval stages cost tens of milliseconds, so fetching generously before the reranker and keeping strictly after it buys quality nearly free. Query embedding and sparse search each add only 5 to 20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stands up the classic 60-line pipeline: fixed 500-character chunks, one dense embedding model, top-4 cosine retrieval, chunks pasted into a prompt. It works impressively on easy questions and fails on schedule everywhere else. Participants will classify live failures into these eight classes this afternoon. Print this as the trading-card grid they keep on their desks all week, and keep the failure gallery on the wall — stickers come off as modules retire each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mistake is the reflex this module exists to break: teams that answer fine-tune by default burn months retraining on knowledge that changes weekly. Spend time on the panel items — index freshness SLAs ask how stale an answer may legally be; the chunk-ID log is both the audit trail regulators will ask for and the debugging trail engineers will need during an incident. Access control must exist in the first collection schema, not be retrofitted.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code top to bottom and attach failure classes to lines: the 500-character slicer causes fragmentation, the blind context paste enables precision collapse and context abuse, and the missing refusal path is ungrounded fluency waiting to happen. Setup lines are elided on the slide — the repo version wires the OpenAI client to the course gateway and a local Qdrant. Participants run this exact pipeline in Lab 1 and break it on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Used in the decision-framework workshop: four scenario cards — hospital protocols, tender-writing assistant, call-centre scripts, legal precedent search — scored by groups who defend their recommendation in 90 seconds. The full repo version also accumulates a reasons list so every score comes with its argument. Stress the last line: a fine-tune recommendation is a candidate to be challenged in review, never a default. The weights are hard requirements translated into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the urge to fix anything today — the pedagogy is diagnosis before treatment. The two F7 probes, unanswerable questions answered confidently, produce the strongest reactions; read one aloud. Pairs. Watch for Qdrant connection issues (port 6333) and bge-m3 downloading mid-lab — the bundle cache should be linked via HF_HOME. Fast finishers: vary k from 2 to 10 and watch F5 worsen as F3 improves — the precision/recall tension previews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five to seven minutes. The debugging exercise teaches reading retrieval logs before touching prompts: if the correct chunks never appear at any rank it is a semantic miss for Module 3; if they appear but rank ninth it is precision collapse for Module 4. The code-review bonus answers are citations, refusal, access filter, error handling, idempotent indexing and telemetry — each maps to a later module, so this doubles as a course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 not lecture. The decomposition: runbooks and policies go to RAG — freshness, citations and filtering are hard requirements fine-tuning fails. Equipment jargon gets measured first: benchmark the embedding model and base LLM on vendor-manual questions; cheap fixes come first, with a narrow fine-tune of the embedder, not the generator, as last resort. The SAR 2.1M proposal fails on update cost alone: 52 runbook updates a year versus re-indexing in minutes. Weekly freshness or per-role access both kill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checkpoints for the instructor, not grades: every pair should clear the functionality row before leaving. Classification accuracy of nine out of twelve against the reference key is realistic — disagreements on F3 versus F5 are teaching moments, resolved by inspecting retrieved chunks. Record baseline latency and cost now; the same probe runner produces comparison numbers all week, and the Day 3 evaluation harness formalises what today is done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60 seconds, then ask for a show of hands per option before revealing. Distractors A, C and D are all real annoyances that prompting or decoding settings can improve — the point is separating fixable behaviour problems from structural knowledge problems. Connect the answer back to the three failure classes named at the start of the module: staleness, privacy gap, unverifiability. Staleness is the one with a hard physical cause: the training cutoff.
ANSWER: B
EXPLANATION: The weights encode knowledge only up to the training cutoff. A circular published after that date does not exist for the model, and no prompt can inject it — this is F8’s root cause, the first failure RAG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tests whether the cost-anatomy slide landed. If many choose A, revisit the latency table: the cross-encoder is actually the second most expensive stage at 50 to 300 milliseconds — it is worth it because it protects the truly expensive stage, generation. Option C is a common superstition; the right k is measured, not universal. Close Module 1 by previewing that Module 4 implements exactly this two-stage budget.
ANSWER: B
EXPLANATION: Retrieval stages cost tens of milliseconds, while generation cost scales with context tokens. Being generous before the reranker (fetch 40–100) and strict after it (keep 4–8) buys recall nearly free and keeps the expensive stage 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running the naive baseline parser over one scanned Arabic HR PDF from Lab 1 and printing the extracted text — it comes back empty or as boxes. Pin that empty output next to the F1 sticker on the wall poster: this is the concrete villain the module defeats. Module slogan, to be repeated all hour: garbage in the index is garbage in every answer, forever. Retrieval can only surface text that made it into the index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with the business reality: every Saudi enterprise knowledge base is a graveyard of formats — HR policies as PDFs, some scanned from paper in Arabic, runbooks in DOCX, intranet HTML, allowance tables in XLSX, and circulars that supersede one another quarterly. The competency bar: quantify what fraction of the corpus survived parsing. The engineer who can do that promises coverage instead of hoping for it. All five objectives are exercised in Lab 2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invariants must hold or the whole pipeline inherits a defect it cannot repair: fidelity and self-containment. Make the fidelity example concrete — read out the bare numbers and ask what grade or allowance they belong to; nobody can say, and neither can the retriever. Emphasise that acceptance criteria in this module are measured numbers, not vibes: parse-success rate, mid-sentence starts, table preservation, OCR error rate. Those metrics appear in the Lab 2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of the grid: every failure here is silent — the parser returns something, so nothing crashes, and the gap surfaces weeks later as a user question the assistant cannot answer. Tools per cell: PyMuPDF for digital PDFs, Tesseract or a layout-OCR model for scans, python-docx or unstructured for DOCX, trafilatura for HTML, openpyxl for XLSX. The registry cell is the design principle: normalise everything into a ParsedDocument of typed blocks the chunker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course treats Arabic retrieval quality as first-class. Show the digit sets side by side and ask what happens when an allowance amount or circular number is misread — the answer is confidently wrong SAR figures. The normalisation symmetry rule is the one participants forget in Lab 2: applying normalise_arabic at ingest only means Arabic queries silently stop matching, which resurfaces as F3 in Module 3. CER gives a number to own: at or below five percent on the scan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strategies worst to best for enterprise policy documents. Two parameters govern all of them: chunk size — too small starves context, too large dilutes the signal and costs generation tokens — and overlap, a shared window so a clause spanning a boundary survives in at least one chunk. The professional stance: a section-aware splitter that keeps a policy clause and its table together eliminates most F2 failures before size tuning even begins. Turning the size dial first is polishing shattered glass.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offline path front half from Module 1, now at working resolution. Walk one hostile document through the whole line: a scanned Arabic HR PDF fails text extraction, gets detected as text-less, routed to OCR, normalised, chunked by section, and lands with full payload. Point out the quarantine idea at the end: documents failing parse-quality thresholds are flagged for manual handling rather than silently indexed as junk. Lab 2 implements every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chunk is not just text; it is text plus a payload later stages depend on. Connect each field to its consumer: provenance becomes the citation and audit trail — a chunk you cannot cite is a chunk you cannot ship in a regulated workflow; access fields make per-user filtering possible without redesign; lifecycle fields are why corpus_v2 on Day 4 can mark the superseded 2023 policy instead of serving it beside the 2025 one. Without these fields, F8 is unfixable.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reference-solution numbers participants compare against at the end of Lab 2: 214 digital PDFs, 28 scanned and OCR-routed, 41 DOCX, 12 HTML, 5 XLSX, zero unsupported, three quarantined for parse quality below threshold. The mid-sentence figure is the F2 story in one number — from 41.3 percent naive to 6.1 percent structure-aware. This is where data-science participants first feel that coverage is a metric they own rather than a property they hope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mistake maps to a failure class: table flattening re-introduces F1, missing lifecycle metadata makes F8 unfixable, inconsistent Arabic normalisation between ingest and query breeds F3. On production items: incremental re-ingestion matters because rebuilding 300 documents to update one does not scale to thirty thousand; idempotent upserts keyed on doc_id plus content hash make re-running ingestion safe; and the parse-quality dashboard — chunks per doc, empty-text docs, table count — is reviewed on every corpus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on one slide. First, explicit dispatch: unsupported formats raise instead of silently returning nothing, which is how coverage gaps become visible. Second, the serialisation rule — never flatten tables to bare numbers; each cell is paired with its header so the figure keeps its meaning. In the full loaders.py, the PDF handler also detects text-less pages and sets needs_ocr, and block-mode extraction preserves reading order in multi-column layouts. Show the before/after table panel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normaliser line by line: Arabic-Indic digits become Western so amounts and circular numbers match either way a user types them; tatweel elongation is decorative and stripped; alef variants collapse to one form; whitespace is tamed. Then the gate: CER against the hand-transcribed ocr_gold set, at most five percent on the scan subset — above that, answers about numbers are untrustworthy and the fix is a better OCR model. If CER lands near eighteen percent in the lab, the cause is usually a wrong PSM or a missing Arabic language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moment is step 5 territory: the allowance figure that produced a confident-wrong answer in Lab 1 is now retrievable — pull it up on the projector beside the F1 sticker and remove the sticker physically. This lab is overrun-prone on parsing surprises; publish the lab2-start checkpoint tag so stragglers can fast-forward. Watch for overlap applied across tables, which explodes chunk counts — tables are atomic. Fast finishers: try semantic chunking on one long policy and compare coherence against structure-aware.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five to seven minutes, then debrief. The clause was split by a size-based boundary; overlap would keep it intact only by luck, and smaller chunks increase the number of cut points. Structure-aware splitting keeps the clause with its section by construction. PR-review answers: flattening tables re-introduces F1, omitting effective_date re-introduces F8, and unconditional OCR is a performance regression that also degrades digital PDFs below their native text layer. Insist on the failure-class vocabulary in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toward the punchline: real coverage rises from 78 to at least 98 percent with zero retrieval or generation changes — the problem is entirely in ingestion. The solution path: header-aware XLSX serialisation so each figure keeps grade and allowance-type context; detect-then-OCR the appendix with Arabic normalisation and a CER gate; attach effective_date and superseded_by so the current circular is preferred — mark, then prefer; and a parse-quality dashboard flagging the three still-unparseable documents for manual transcription. Wrong allowance answers create pay disputes within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on measurement: every row here is produced automatically by the Lab 2 tooling, so participants leave with numbers, not impressions. The incremental re-ingest row previews production reality — a changed document triggers exactly one idempotent upsert, verified by the change-event test, instead of a nightly full rebuild. Note the chunk-count drop from 8,900 naive to 4,812 structure-aware: fewer, better-bounded chunks that keep clauses and tables intact beat many fragments.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seconds, hands up per option. Options A, B and D all describe real tools from later modules, which is exactly why the distractors work — the trap is believing any downstream sophistication compensates for a silent ingestion gap. If participants hesitate, replay the module slogan: garbage in the index is garbage in every answer, forever. Reinforce that the detection mechanism is the parse report and coverage metric, not a user complaint three weeks after launch.
ANSWER: C
EXPLANATION: This is F1, parsing loss. Retrieval tuning cannot recover information destroyed at parse time: if the figure never became searchable text, no reranker or prompt will find it. The fix is upstream — iterate DOCX tables and serialise with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catches the most common Lab 2 defect: normalise_arabic wired into the ingestion path only. Walk through the failure concretely — the indexed chunk says 3200 in Western digits, the user query carries Arabic-Indic digits, and neither sparse nor dense retrieval reliably bridges the gap. Options A, C and D are plausible-sounding noise. End the day by connecting this to tomorrow: Module 3 owns the embedding side of the same symmetry, and Lab 3 measures it with recall@k.
ANSWER: B
EXPLANATION: Normalisation is a symmetry contract. If ingest normalises ٣٢٠٠ to 3200 but the query path does not, a user typing Arabic-Indic digits never matches the indexed form — text silently stops matching, resurfacing as F3 semantic misses in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day: yesterday we made chunks, today we make them retrievable and then retrievable WELL. The deliverable by close is a Qdrant index with measured recall at k plus a hybrid-with-reranking retriever beating dense-only on the labelled query set. Lab 4 is overrun-prone because of reranker downloads — confirm bge-m3 and bge-reranker-v2-m3 are already in the course bundle before Hour 1. Publish the checkpoint tags lab3-start and lab4-start so stragglers can fast-forward, and schedule the long break around Dhuhr. Day 2 is 40 percent theory, 60 percent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module: chunks become retrievable only once embedded and stored where similarity search is fast. This module owns the second half of the offline path and the first half of the online path, and it retires F3 from the Day 1 failure gallery — the right document exists but the wrong chunks come back because of a vocabulary or language gap. Tell the room the embedding model is the most consequential quality decision after ingestion, and the one Saudi teams most often get wrong by defaulting to English-only on a bilingual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objectives quickly and anchor each to something concrete the participants will touch within the hour: 3.1 is the bge-m3 versus MiniLM bake-off, 3.2 is the normalisation trap, 3.3 is the ef sweep, 3.4 is the dalil collection they build in Lab 3, and 3.5 is the recall harness that proves F3 retreats. Emphasise the professional habit behind all five: never adopt an embedding model without measuring recall at k on your own labelled queries — leaderboard scores are on other people’s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Saudi enterprise scenario: a user types the Arabic phrase for housing allowance and the answer lives in an English HR policy PDF. Under an English-only model those two texts are far apart even though they mean the same thing — that is the direct cause of F3. Explain the two properties that decide everything: language and domain coverage, and symmetry of use. Mention that some models require a query or passage instruction prefix and degrade silently when it is applied inconsistently. Close on the habit: your corpus and your users’ phrasing are what matter, not leaderboards.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justifies the course-wide model choice so nobody has to re-litigate it in the labs. Point at each spoke: multilingual coverage is the F3 fix, the 1024-dimensional dense output is what we index this hour, and the sparse lexical-weights output is deliberately foreshadowed — it becomes the second branch of hybrid search in Module 4. Note that bge-m3 handles query-document asymmetry without instruction prefixes, which removes a whole class of silent bugs. The model is pre-downloaded in the course bundle, so bandwidth never gates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practical: for text, cosine is the default because it ignores magnitude and compares direction, which is meaning. The operational detail that matters is the equivalence: once vectors are L2-normalised, cosine and dot product agree and dot product is faster. bge-m3 vectors are normalised via normalize_embeddings=True, so our Qdrant collection uses cosine and the two coincide. Then teach the trap: normalise at index but not at query and half your vectors are long, half short — rankings scramble and no error is ever raised. That trap returns as quiz question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scaling motivation first: exact search is linear per query, fine for ten thousand chunks and ruinous for ten million, and the engineer who understands this index keeps p95 flat while the corpus grows one hundred times. Then separate the knobs by when they act: m and ef_construct are build-time and fixed into the graph; ef is the query-time candidate list and the only dial you turn in production. In Lab 3 participants sweep ef from 32 to 256 and pick the knee of the recall-latency curve — recall is purchasable, per query, without rebuilding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arithmetic on the board: a full 1024-dimensional float32 vector costs four kilobytes, so a million chunks cost four gigabytes of RAM before graph overhead. Scalar quantization to int8 cuts that roughly four times for a small, measurable recall cost; binary cuts thirty-two times with a larger cost that becomes usable when a rescoring pass over full vectors refines the quantized shortlist — Qdrant supports both as collection settings. Hammer the discipline: quantize deliberately with a recall delta you measured and accepted. Fast finishers try binary plus rescoring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Module 1: the access-control requirement is now concrete. A query from an HR user filters department in hr or public inside the ANN search, so a forbidden document is never even retrieved — contrast that with post-filtering in Python, which is both a leak waiting to happen and slower. Teach the interaction failure: a filter so narrow the graph cannot find enough matching neighbours makes recall collapse despite relevant documents existing, which is why payload indexes matter. Close with the pgvector criteria so the choice is a rule, not a vibe.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the production considerations. Distinguish two very different changes: a document update is a cheap idempotent upsert keyed on doc_id, while an embedding-model change invalidates every vector in the collection and must be run as a blue-green migration — new collection, full re-embed, benchmark both, cut over with a rollback path. Add the monitoring habit: recall at k on a rolling labelled set, so a future model or normalisation change cannot silently regress Arabic recall. This is also discussion question two in the mini-exercises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rapid-fire recap before the code. Ask the room which mistakes fail loudly — the answer is none, and that is the point: no exception is raised for a wrong model, a missing prefix, or inconsistent normalisation; the only alarm you will ever get is a measured recall number moving. The seventh mistake from the source, quantizing by default without measuring the cost, belongs with the stats slide — mention it verbally. The code-review mini-exercise later asks them to spot three of these defects in a single indexing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decisions top to bottom. Distance.COSINE pairs with bge-m3 normalised vectors, and after normalisation dot product would agree. The quantization block is the memory lever from the stats slide, set declaratively at creation with rescoring available. The payload-index loop is what makes department, language, and superseded_by filters run inside the ANN search rather than after it. In the full source the upsert uses a stable sha1 of doc_id and chunk index, so re-ingesting the same chunk updates it — the idempotency participants verify in Lab 3 step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deserve fingers pointed at them. First, normalise_arabic imported from the ingest package — the query path reuses the exact normalisation applied at indexing, killing a whole family of silent mismatches. Second, the must clause: the user sees their own department or public, and the IsNullCondition on superseded_by prefers current documents — freshness and access control enforced inside the search. Third, hnsw_ef as a function argument: the recall dial from the HNSW slide is now a parameter callers can turn per query. This function is the baseline Lab 4 improves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Lab 2 solution or git checkout lab3-start, docker compose up qdrant, qdrant-client and sentence-transformers installed, bge-m3 pre-downloaded. The bge-m3 versus MiniLM Arabic-subset gap — 0.88 against 0.29 — is the module thesis in one table: put both results on the shared board and let the number land before explaining it. Watch for the classic symptoms: Arabic recall near zero means normalisation skipped at query time; doubled point counts mean unstable ids. Fast finishers enable binary quantization plus rescoring and measure the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five minutes. The intended answer: the semantically-similar-but-wrong circulars are the tell — the embedder is doing its job, meaning is matched, but the identifier 44/2025 carries lexical information dense vectors blur by design. That makes this F4, Module 4 territory, not a Module 3 embedder problem. This is the deliberate bridge into the afternoon. If a pair finishes early, hand them the code-review exercise: an indexing PR that uses all-MiniLM-L6-v2, normalises at index but not query, and post-filters departments in Python — one recall defect, one silent-quality defect, one security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 not lecture. The solution path participants should assemble: swap to multilingual bge-m3 as a blue-green re-embedding migration, retrofit identical Arabic normalisation at both ingest and query, fit the RAM budget with int8 scalar quantization plus full-vector rescoring measuring a recall delta near 0.01, and stand up a rolling Arabic-subset recall monitor. Underline the governance angle: leadership approved launch on English-only demo metrics, so the real launch gate is recall at k on a bilingual labelled set. Arabic-speaking employees are the majority — an assistant that fails for them fails, full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participants fill during Lab 3, shown here so everyone knows the reference numbers. Read it column-wise: the Arabic-subset column is the story — 0.29 under the English-only model against 0.88 under bge-m3, a threefold gap that no amount of downstream cleverness recovers. Then the quantization row: int8 keeps recall within a point of full precision while cutting the index from 1.0 to 0.28 gigabytes and even improving latency. Remind them the pass criteria also include upsert idempotency and zero access-control leakage across the fifty probe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show of hands before revealing. Distractor A is the instinct of anyone used to typed systems — but vector databases cannot know your vectors were meant to be normalised, so nothing throws. Distractor B tempts those who think normalisation is a performance detail. When revealing C, replay the simulation framing: half the vectors long, half short, rankings scrambled, and the only way you ever notice is a recall benchmark moving. Connect it to Lab 3 troubleshooting, where recall lower than expected everywhere has exactly this cause.
ANSWER: C
EXPLANATION: Scores mix direction with magnitude, so rankings scramble and nothing throws — the classic silent-quality bug. Fix: normalize_embeddings=True at BOTH index and query time; normalised vectors also make cosine and dot product equivalent.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checks whether the build-time versus query-time distinction landed. Options A and C both describe real recall improvements — but both mean rebuilding the graph, which the question explicitly excludes; that is the trap. Option D is a no-op for normalised vectors, worth saying out loud since it reinforces the metrics slide. After revealing B, ask a participant to state the cost of raising ef — latency per query — and where they found their own knee in the Lab 3 sweep. Recall is purchasable, per query, and they have now bought it themselves.
ANSWER: B
EXPLANATION: m and ef_construct are build-time knobs — changing them rebuilds the graph. ef sets the query-time candidate list: raising it buys recall for latency with no rebuild. The lab ef sweep (32 to 256) finds the knee at 128.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two problems this module solves. Dense retrieval is blind to exact tokens: it blurs Circular 44/2025 and form HR-07 into their semantic neighbourhoods, retrieving similar-but-wrong documents — that is F4. And even when the right chunk is retrieved it may rank ninth while junk fills the top four — that is F5. Hybrid search retires the first, cross-encoder reranking retires the second. Remind the room that enterprise queries are full of identifiers, so a system that cannot retrieve by exact token is useless for the queries employees ask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how the objectives escalate from mechanism to judgement: 4.1 and 4.2 build the hybrid retriever, 4.3 adds the reranker inside a budget, but 4.4 and 4.5 are the professional skills — diagnosing which query classes each stage helps and quantifying the improvement per class rather than in aggregate. The engineer who can show per class which stage earns its keep is the one who builds retrieval that is both accurate and defensibly not over-engineered. Everything today is measured against the class-tagged 200-query labelled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Reconnect to the morning mini-exercise: pairs already diagnosed the 44/2025 query as F4, so this slide names why. The blur is not a defect of the embedder — losing surface tokens in favour of meaning is precisely what makes paraphrase retrieval work. It becomes a bug only when the query carries lexical information: identifiers, rare codes, exact quotes and boilerplate. Stress the punchline before anyone proposes a bigger model: no amount of embedding quality fixes this, because the information the query needs is lexical. The fix is a complementary signal, which the next slide supplies.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sparse family: classic BM25 scores term frequency against inverse document frequency, and learned sparse methods like SPLADE or the bge-m3 sparse output produce weighted lexical signals. The key intuition is IDF: rare tokens get weighted precisely because they are rare, which is exactly what an identifier like 44/2025 needs. The course path uses bge-m3 sparse output, so one model emits both signals in a single encode pass — no second model to deploy. The verdict line is the whole argument for hybrid: complementary failure modes, so fusion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 anchor — the architecture every remaining slide details. Walk it as a funnel narrowing left to right: one encode pass produces both query representations, the two branches each fetch generously and cheaply, fusion happens inside the database rather than in Python, and only the forty-strong shortlist pays the expensive cross-encoder toll before six survivors reach the prompt. Stage one is a recall device — cast a wide net; stage two is a precision device — refine it. The M3 payload filters still apply on both branches, so access control survives the fusion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one document through the formula on the board: a chunk ranked third by dense and first by sparse accumulates one over sixty-three plus one over sixty-one, while a chunk only one ranker liked gets a single term. Ranks are dimensionless, which is the entire trick — cosine similarities and BM25 scores live on incomparable scales, so any weighted sum of raw scores is comparing metres with kilograms. That is also why RRF needs no per-corpus tuning. Point out that Qdrant executes the fusion server-side over named vectors: each point carries a dense and a sparse vector, and the database returns one fused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 difference explains everything about cost and accuracy. A bi-encoder never sees query and document together, so its vectors can be computed offline and indexed — that is what makes retrieval over millions of chunks possible. A cross-encoder reads the pair jointly and scores relevance directly — far more accurate, but nothing can be precomputed, so it must run per candidate at query time. That is why it only ever sees the shortlist. Land the verdict hard: the reranker must be multilingual too, or Arabic query-passage pairs score low and F3 sneaks back in at the rerank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budget to Module 1 cost asymmetry: retrieval costs tens of milliseconds so be generous for recall; generation pays per context token so be strict about what enters the prompt. The reranker bridges the two by making sure the six survivors are the right six. Give the tuning guidance: fetch-k too small starves the reranker of the right chunk, too large wastes rerank compute — typical range forty to eighty; top-k too small drops needed evidence, too large dilutes and costs tokens — typical four to eight. Sweep both against the labelled set and stop at the plateau; paying past it is pure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diagnostic discipline of the whole course: never report a single aggregate number, because the stack helps different classes differently. Walk each row and ask which stage earns its keep: sparse fusion fixes identifiers and barely touches natural language; the reranker lifts precision on natural language, mixed, and Arabic paraphrase. This is how an engineer justifies complexity to a manager — and equally how they refuse it: if a class shows no lift, that stage is not earning its latency for that class, and the honest report says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Rapid-fire before the code, and note how many of these reappear in the Lab 4 troubleshooting table: fusion worse than dense alone means someone summed raw scores; rerank taking seconds means someone reranked the corpus instead of the shortlist; Arabic pairs scoring low after rerank means an English-only reranker. The fetch-k cell is worth a beat — it is the coupling fast finishers explore in the lab, watching a known-relevant chunk fall out of reach at fetch-k five. Close on the production line: per-class monitoring surfaces a corpus shift that hurts one class before users complain.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data. One encode call returns dense_vecs and lexical_weights — the same bge-m3 forward pass serving both branches, which is why the model choice in Module 3 was made with Module 4 in mind. The lexical weights become a SparseVector of token-id indices and weights. Each Prefetch branch carries the same payload filter, so access control survives the hybrid path. The FusionQuery with Fusion.RRF asks Qdrant to fuse the branch ranks server-side — no score scaling, no Python merging. Note the query still passes through normalise_arabic; the identifier must survive normalisation or the sparse branch loses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what is NOT here: no loop over the corpus. The reranker only ever sees the candidates list from stage one — reranking everything is the latency mistake from the grid slide. The compute_score call is one batched pass over forty pairs, roughly 120 milliseconds on CPU with the course model, which fits the 200 millisecond p95 budget. The multilingual comment is load-bearing: bge-reranker-v2-m3 pairs with bge-m3 so Arabic query-passage pairs score properly. retrieve_and_rerank is the function every later module calls — the two-stage budget frozen into an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Lab 3 solution or git checkout lab4-start, pip install FlagEmbedding, both models pre-downloaded — this is the overrun-prone lab, so verify the bundle before starting. The per-class table in step two is the emotional core: the exact-identifier row leaping from 0.24 to 0.79 is THE argument for hybrid, invisible in any aggregate. Let one pair report aggregate-only first, then reveal the class breakdown — the pedagogy is that aggregates lie. Fast finishers rerank with a tiny fetch-k and watch a known-relevant chunk fall out of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in pairs. The intended reasoning: inspect whether the relevant chunk was inside the fetch-k candidates at all. If it never arrived, stage one is failing and no reranker can recover it — the fetch-k starvation coupling. If it arrived and was already ranked at the top, the extra stage is simply unnecessary for that class, and the honest engineering move is to say so rather than keep paying its latency. Extend with the discussion question if time allows: a corpus with almost no identifiers and all natural-language queries — is hybrid worth its complexity, and what evidence settles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the solution path: add bge-m3 sparse vectors with RRF fusion — the identifier class jumps immediately because sparse scoring weights the rare 44/2025 token that dense blurred; verify the natural-language class is unchanged, since fusion does not hurt it; then add the cross-encoder on a 40-candidate shortlist for precision while staying inside the 2-second SLA — a full-corpus reranker would blow it. The business stake is regulatory: compliance staff search by circular number as their primary workflow, and a wrong circular in a compliance answer is regulatory exposure. Report everything by class so leadership sees the fix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by column to reinforce the earned-by logic. The identifier column is the hybrid story: 0.24 to 0.79 the moment the sparse branch lands, with the reranker adding almost nothing there. The natural-language and Arabic-paraphrase columns are the reranker story: flat under hybrid, then jumping to 0.83 and 0.82 when the cross-encoder reorders the shortlist. Mixed benefits from both. Latency is the price column — 34 to 58 to 176 milliseconds, still inside the 200 millisecond p95 target. Sign-off also requires per-class reporting for all four classes and zero leaks through the fusion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stem deliberately mirrors the morning mini-exercise and the case study, so most of the room should converge on B quickly — use it as confirmation the F4 concept landed. Distractor C recycles Module 3 vocabulary to catch anyone pattern-matching on recall problems; ask why raising ef cannot help when the needed signal is absent from the vector entirely. Distractor D is plausible but wrong here because the failure occurs at retrieval, before any reranker runs. Close by asking what single change fixes it: enable the sparse branch and fuse with RRF.
ANSWER: B
EXPLANATION: This is F4: "44/2025" embeds near other circular numbers, so dense retrieval returns a circular, rarely the right one. No embedder fixes it — the query needs exact-token matching, which the sparse branch provides and RRF folds into one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aggregates-lie lesson in quiz form. Distractors A through C are all deliberately weak so the discussion focuses on why D matters rather than on trick options — if anyone picks B, use it to distinguish statistical confidence from diagnostic blindness: more queries make the aggregate more precise and exactly as misleading. Replay the lab evidence: 0.86 aggregate recall coexisting with a 0.23 identifier class that is 30 percent of traffic. End the day by connecting to PA-1: the timed practical asks them to diagnose three broken retrievers, and per-class metrics are the scalpel.
ANSWER: D
EXPLANATION: Per-class reporting is the discipline: dense-only scores 0.71 on natural language while the identifier class sits at 0.24 — invisible in any aggregate. Sign-off needs all four classes reported separately, with identifiers at 0.80 or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3 by connecting to yesterday's deliverable: the class now has a hybrid retriever that beats dense-only on the labelled query set. Today converts good retrieval into trusted answers — grounded, cited, refusal-capable — and then proves it with numbers. Flag the rhythm: lecture then lab for each module, with the red-team and PA-2 practical closing the day. Remind pairs to rotate, keep temperature at zero for anything evaluated, and note each hour is fifty minutes of instruction plus a ten-minute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module with one sentence: perfect retrieval is wasted if generation ignores the evidence, blends contradictory chunks, or answers confidently when nothing was retrieved. This module owns the online path's business end and retires F6, context abuse — and with Module 6, F7, ungrounded fluency. Stress the business stakes: in regulated Saudi sectors an answer without a citation is unusable and an invented answer is a liability. Under PDPL and audit regimes the citation is the compliance artefact and the refusal is the safety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objectives and map them onto the hour: budgeting and ordering in the first half of the lecture, grounded prompting and citations in the second, refusal and access control just before the lab. Tell participants the lab will make them prove each objective on the probe set — ten answerable and two unanswerable questions plus a forty-query access-control test. Misconception to pre-empt: participants assume generation quality is about the model; today shows it is mostly about what you put in front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this in Module 1's cost anatomy: generation dominates cost and latency, so every wasted context token is paid twice — in riyals and in milliseconds. The counterintuitive point deserves board time: past a point, more context lowers accuracy while raising cost. That is why the Module 4 reranker matters here — it exists precisely so the few chunks that fit the budget are the right ones. Mention dedup explicitly: chunk overlap from Module 2 means near-duplicate clauses can silently double-spend the budget on one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and stamp the point: this assembler is where F6 is retired. The access re-check surprises people — they assume the retrieval-time filter is enough; explain defence in depth and that the check is logged. Edge-ordering gets its own slide next, so keep it brief here. Timing hint: five minutes on this diagram, then let it do its work again when the code slide shows the same stages in eighteen lines of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U-shape on the whiteboard: answer accuracy versus the position of the relevant chunk in context, dipping in the middle. Two fixes, both cheap: place the best evidence at the edges, and keep the context so short the middle barely exists — a four-chunk context has no deep middle. Connect back to the Lab 1 failure gallery: F6 is exactly a right answer retrieved, placed mid-context and ignored. Ask who saw this failure in their own baseline and mark it for striking later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actual system prompt from answer.py while presenting this slide — the panel mirrors its five rules. The core move promised in Module 1 is realised here: the model becomes a reader, not a recaller. Hammer temperature zero: any evaluated answer generated at non-zero temperature makes Module 6's metric deltas noise instead of signal. Common misconception to correct: participants think the refusal instruction alone suffices; the lab will show it needs the score threshold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citation end to end on the projector: the marker, the source label, the metadata, the original clause in the document. Emphasise the verification gate — a model can invent a plausible-looking [9]; the post-check drops any label that was not in the context. Auditors check clauses, not PDFs, so chunk-level beats document-level every time. Preview Module 6: without verifiable citations you cannot compute faithfulness, because you do not know which source was supposed to ground each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hardest discipline for a generative system and the most valuable slide of the hour. The refusal string is exact and deliberate — evaluation will detect refusals by matching it. The threshold framing matters: refusal is not a feature toggle, it is a tunable governance dial balancing false refusals against confident-wrong answers, tuned against the golden set in Module 6. Discussion seed for later: who owns setting the threshold — engineering or risk — and what data decides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stack bottom-up: the payload filter at retrieval, the re-assert at context construction, the audit log on top. Plant the question: why check twice? Because retrieval-only enforcement is a defence-in-depth gap — a code path that skips the filter, a cached result, a bug. The context assembler is the last gate before the LLM sees any text. The logging layer realises Module 1's audit trail: every answer reconstructable from its retrieved and cited source IDs. The HR-versus-finance use case makes this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self-audit: ask each pair which of these six they are most likely to hit in the lab. The seventh mistake, called out in the takeaway strip, is applying access control only at retrieval — covered on the previous slide. Spend the most time on the missing refusal path: it is the most dangerous mistake because the failure is fluent. Also flag conflict handling: when superseded and current policies are both retrieved, the prompt must prefer the most recent effective date or surface the conflict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code top to bottom: the department filter, dedup by text prefix, token counting with tiktoken, the hard stop at the budget, then the edge-ordering swap — best chunk first, second-best moved last. Point at the one-line access re-check and connect it back to the defence-in-depth stack. Ask the class why 120 characters works as a dedup key: cheap near-duplicate collapse caused by Module 2 chunk overlap. The full course version returns rich Source objects carrying doc_id, section and effective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behaviours in eighteen lines: grounded system rules, temperature zero for reproducibility, and citation verification that intersects extracted numbers with the valid labels — invented citations are dropped, not trusted. Show the exact refusal string and explain why it is exact: Module 6 detects refusals by string match, and the pipeline also refuses upstream when the best rerank score falls below the tuned threshold. If time allows, run the "remote work from Mars" probe live — the refusal demo produces the strongest reaction of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Timebox strictly: ten minutes per step, five for the final access check. The refusal demo in step three is the emotional peak of the day — run the "remote work from Mars" probe on the projector and let the class feel the difference between fluent-wrong and honest-refuse. Step four teaches that trust is verified, not assumed. Fast finishers: add a conflict-detection response when a superseded and a current policy are both retrieved — a direct bridge to Module 6's staleness red-team. Setup: lab5-start tag, tiktoken and openai installed, model pinned, temperature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five minutes. The trap is jumping straight to "fix the prompt". Guide the reasoning chain: verification catches the symptom — the citation fails the post-check — but the root cause may be a weak chunk in context that invites the model to bridge gaps on its own. So the durable fix may sit in reranking, while the detector stays in verification. Land the lesson: detectors and cures live in different pipeline stages, and Module 6's faithfulness metric puts a number on exactly this gap. Debrief with two or three pairs sharing their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Let groups propose the fix stack before revealing the reference approach: a grounded prompt forbidding outside knowledge; an evidence-strength refusal threshold tuned on the golden set so answerable recall stays high; chunk-level citations carrying section and effective date; a post-generation check that every cited source was in context; and per-answer logging of retrieved and cited IDs as the audit artefact. Note the governance twist: the refusal threshold becomes a dial owned jointly by engineering and the audit unit. Ten to twelve minutes of discussion works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exit criteria for Module 5 — the lab's expected output maps line by line onto these rows. Contrast with the naive baseline from Lab 1: zero citation coverage and zero refusals; the grounded configuration reaches full coverage with twelve of twelve unanswerable questions refused and only three percent false refusals in the reference run. Citation coverage applies to non-refusal answers. Point out that each row names its measuring instrument — parser, probe set, tokenizer, filter test — so no target is a matter of 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class ninety seconds, then poll hands per option before revealing. If many chose the stale-embeddings distractor, revisit the difference between retrieval failures and context-construction failures — retrieval was stipulated perfect in the stem. Reinforce that the fix is a reranked top-k plus edge ordering, not a bigger context window, and connect back to the stuff-the-context comparison: top-6 beats all-40 on both accuracy and cost.
ANSWER: B
EXPLANATION: Past a point, extra chunks lower accuracy: irrelevant chunks dilute attention, contradictory ones confuse the model, and the key passage lands mid-context where it is ignored. The reranker exists so the few chunks that fit are the right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before revealing. The distractors test whether participants separate compliance requirements from engineering details: temperature zero and bilingualism are irrelevant to the auditor's complaint, and an over-tuned refusal threshold would cause missing answers, not unverifiable ones. Reinforce the rule of thumb — auditors verify clauses, not documents — and remind the class that chunk-level citations are also what unlock faithfulness measurement in Module 6. Two minutes maximum, then move to the Module 6 divider.
ANSWER: C
EXPLANATION: Auditors verify clauses, not whole PDFs. A citation is only worth anything if a human can follow it to the exact evidence, so chunk-level citations carrying section and effective date are required; document-level citations are not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has been built; this module makes it measurable. Without evaluation, "our RAG is good" is an opinion and every change is a gamble. Frame the hour around the evidence pack: a faithfulness score, a regression baseline and a golden set are exactly what SAMA-style, PDPL-aligned model-governance reviews ask for. Evaluation is also what lets a team ship frequently instead of fearfully. Promise the climax up front: the staleness toggle where the same question is answered right and wrong, live on the projector.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objectives onto the hour: the metric suite first, then golden-set construction, LLM-as-judge caveats and the regression gate, closing with the red-team that hands F7 and F8 their numeric verdict. Emphasise the career point from the module overview: the engineer who can attach numbers to answer quality is the one trusted to change the system. The lab wires all five objectives into a working harness, a stored baseline and a CI gate — and PA-2 examines them under time pressure at the end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thesis: metrics localise damage. RAG has two failure surfaces — did we find the right evidence, and did we answer faithfully from it — and a single accuracy number conflates them. Walk each spoke: context recall indicts retrieval; a faithfulness drop with good context indicts generation; precision indicts the reranker; a correctness drop with faithfulness and recall holding suspects the golden set itself. In Lab 6 participants deliberately break the reranker and watch the right metrics drop,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most time on faithfulness — the headline metric of this course, because it directly measures ungrounded fluency. An answer can be fluent, relevant and unfaithful at the same time; faithfulness is what catches that. Note which metrics need ground truth: context recall and answer correctness do; faithfulness, relevancy and precision are reference-free. Everything is computed per question over the tuple of question, retrieved contexts, answer and ground truth. A weak metric is a pointer to a stage, not a verdict — the hub slide's logic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golden set is the measuring instrument, and a bad instrument makes every downstream number meaningless. Non-negotiables: unanswerable and stale questions included so refusal and freshness are measured; bilingual rigour because Arabic evaluation is first-class in this course; ground truth tied to the doc and chunk, reusing Module 3's retrieval labels; and a frozen, versioned file. The course set is 120 questions — big enough to be stable, small enough for CI. Warn against the classic sin: quietly adding easy questions until the numbers look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RAGAS uses an LLM to judge faithfulness and relevancy — powerful, but estimator-grade rather than oracle-grade, and participants must control for that. Pin the judge model and temperature or deltas are noise; calibrate against the ten human labels in the lab; budget the cost of 120 questions times several metrics and cache where possible; and set delta thresholds — 0.02 is within judge noise, 0.10 is a regression worth blocking on. The line to write on the board is the takeaway: an uncalibrated metric is a number you do not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only changes behaviour when it gates. Walk the loop: a change arrives, RAGAS runs on the frozen set with the pinned judge, the result is compared against baseline.json, and CI blocks any drop beyond the 0.03 tolerance on faithfulness or context recall. This is the fraud course's regression-gate pattern applied to RAG metrics, and it is what lets a chunking tweak or prompt change merge with confidence. In the lab, participants open a deliberately faithfulness-lowering PR and watch the gate block it — the gate must be seen failing to be believed.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numbers come from the lab's benchmark table. The pair to dramatise is 0.55 versus 0.01 answered-stale: the same system with lifecycle filtering toggled off and on. On Day 4, corpus v2 introduces documents that supersede v1 ones, and the eval set includes questions whose correct answer changed — a system without Module 2 lifecycle metadata and Module 3/5 freshness filtering answers from the stale document and fails the correctness metric. F8 stops being an abstract failure class and becomes a measured, defeated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Red-teaming is where F7 and F8 get their final verdict: attack the system with unanswerable, stale and internally conflicting questions, and measure refusal correctness and freshness instead of assuming them. Connect to Day 4: corpus v2 changes correct answers, and a system without lifecycle metadata answers from the superseded document. Close with the production habits from the module: rolling evaluation on anonymised real queries, drift monitoring where a falling faithfulness trend signals corpus or model drift, human-in-the-loop review of low-faithfulness answers, and an eval report attached to every release as governance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the anti-patterns the gate exists to prevent. The governance sin deserves the most emphasis: regenerating the baseline in the same commit as a change leaves the gate green while disabling it — the golden-file sin recurring from the fraud course. Also stress coverage: a handful of English-only questions produces stable-looking scores that miss whole query classes, which is why the course set is bilingual and includes unanswerable and stale items. Ask pairs which mistake their current harness would commit if they shipped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harness: iterate the golden set, ask Dalil each question, collect answer, contexts and ground truth, then hand the dataset to evaluate with all five metrics. Point out that unanswerable rows carry the refusal string as ground truth, so refusal correctness is scored rather than assumed. The judge model is pinned via configuration and temperature is zero — otherwise scores wobble run-to-run and comparisons across releases are meaningless. Mention cost: 120 questions times several metrics is many judge calls, so budget and cache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Eighteen lines that change team behaviour. Only two metrics are gated — faithfulness and context recall — with a 0.03 tolerance calibrated to judge noise. The failure message prints metric, current value, baseline and delta, so the PR author knows exactly what regressed and by how much. Participants wire it into the Makefile and the CI workflow during the lab; the exit code is the contract. Discussion seed: which other metrics would you gate, at what tolerance, and what would over-gating cost the team in iteration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is the module's thesis made physical: disable the reranker and watch precision and faithfulness drop while other metrics hold — decomposition pointing at the right stage. Step four is the golden thread paying off: the same staleness question answered correctly with filtering on and wrongly with it off. Keep the judge calibration in step five even if time is tight — a metric unchecked against humans is a number you do not understand. Setup: lab6-start tag, ragas and datasets installed, judge pinned via eval config. Collect baselines before PA-2.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in pairs. The reasoning chain to guide toward: correctness alone dropped, so neither retrieval nor grounding regressed — the suite points at the reference itself. If corpus v2 changed the correct answer after the golden set was written, the reference went stale, not the system. The check: re-read the failing reference answers against the current corpus and diff them. Land the meta-lesson: sometimes the measuring instrument breaks rather than the system, which is why the golden set is versioned and why editing it is a deliberate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scenario is every launch review in a regulated sector: demos are not evidence. Let groups design the evidence pack before revealing the reference approach: a 120-question bilingual golden set spanning classes plus unanswerable and stale questions; RAGAS with a pinned judge calibrated against human labels; a stored baseline gating CI on faithfulness and context recall; the corpus v2 staleness red-team showing answered-stale near zero; and a one-page pack the risk officer signs. Question three matters most — demonstrating the dependency chain to non-engineers is the real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exit criteria for the whole measurement layer. Read them as the sign-off sheet: faithfulness at or above 0.90, context recall 0.88, answered-stale at most 0.02 with lifecycle filtering on, and a gate that fails CI on any drop beyond 0.03. In the lab the reference baseline hits 0.91 faithfulness; the reranker-off run drops to 0.79 with context recall at 0.71 — proof the gate has teeth. With lifecycle filtering off, answered-stale jumps from 0.01 to 0.55. These numbers return in the capstone rubric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then poll. If answer correctness attracted votes, draw the distinction: correctness compares against the reference answer and needs ground truth; faithfulness checks support in the retrieved context and is reference-free. An answer can be fluent, relevant and unfaithful simultaneously — that combination is the dangerous one, and it is exactly what the course's headline metric quantifies. Segue into the red-team hour, where this metric faces unanswerable and stale questions under time pressure.
ANSWER: C
EXPLANATION: Faithfulness asks whether every claim in the answer is supported by the retrieved context, and it needs no ground truth. An answer can be fluent, relevant and unfaithful at once — exactly the dangerous failure — and faithfulness puts a number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before revealing. This question rehearses the decomposition logic one final time: context recall measures whether the evidence was fetched at all, so a recall drop with stable faithfulness exonerates generation and indicts retrieval — embeddings, hybrid fusion or reranking. Participants who pick the judge should be reminded that judge noise moves all metrics together, not one in isolation. Close Day 3 by returning to the failure poster: F6 and F7 struck through today, F8's machinery built and ready for tomorrow's corpus v2 verdict.
ANSWER: B
EXPLANATION: Context recall measures whether retrieval fetched the evidence the ground truth needs; a drop there with stable faithfulness localises the regression to retrieval (M3/M4). This decomposition is the reason to prefer a metric suite over a single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day: 25 percent theory, 75 percent lab — the theory-light afternoon is deliberate. Hour 1 is the only lecture; everything after is building. Remind pairs that each hour is 50 minutes of instruction plus a 10-minute buffer, and schedule the long break around Dhuhr. Critical logistics: collect repository URLs at the end of Hour 3 so evaluation harnesses can be verified before demos, and rubric scoring happens live during Hour 5 with each participant's own RAGAS report open beside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stage: by Module 6 every failure class F1 to F8 is retired and the linear pipeline is measurably good. But a whole class of questions still defeats it — those needing evidence from several documents, those phrased too vaguely for one retrieval, and those where the first retrieval is simply wrong. This module turns the static pipeline into a small, disciplined agent. State the governing rule up front and repeat it all hour: add a loop only when a measured question class demands it, never for architectural fashion.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objectives and stress that 7.5 is the one that makes the others honest: every pattern in this module buys capability with latency, cost, and complexity, so the engineer who can prove per query class that decomposition earns its extra LLM calls is the one who ships intelligence without ambushing the latency budget. Mention the on-ramp explicitly: this module leads into SDA-AIE-311, Agentic AI Systems Engineering — Dalil's corrective loop is already a one-tool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F1–F8 taxonomy from Day 1: those described ways a single retrieve-then-generate pass goes wrong. This slide is a different axis — questions the single pass is structurally unable to answer well. Read the secondment example aloud; the eligibility rule and the duration limit live in different documents, so no single retrieval returns the join. A human who got a bad first result would notice and search again; a static pipeline will not. That observation motivates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gentlest entry point — no control flow yet, just better inputs. Give the source example of rewriting: "what about mars?" becomes "remote-work policy for off-site locations". Stress the fusion detail: multi-query without RRF is a common mistake, concatenated lists full of duplicates with no rank discipline. On HyDE, keep the tone sceptical — it sometimes lands closer to the target passage in vector space, but it is often a wash against multi-query, which is exactly why we measure before adopting fashionable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secondment question through the flow: it decomposes into "is a seconded employee eligible for housing allowance?" and "what is the duration limit for retained allowances on secondment?" — each retrieving a different document. Emphasise true multi-hop: a later hop can use the answer of an earlier one to form its query. The gate step matters most economically; the cost is real, so only questions flagged as multi-hop pay it, while the single-hop majority takes the fast linear path. About ten minutes here including the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retrieval grading is the same faithfulness instinct from Module 6, moved inside the online loop. Self-RAG adds reflection on the draft answer against the evidence, revising or refusing. The safety lesson is the cap: usually 1–2 iterations, or an unlucky query loops until the budget dies — you will demo exactly that in the lab. Close by naming this the conceptual bridge to SDA-AIE-311: reasoning plus retrieval plus bounded control flow is the agent shape, here with a single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 — an LLM classifier or plain rules — is what makes the whole module affordable. Walk each spoke with its cost multiplier and stress that the expensive paths run only when the query justifies them. Then flip the perspective: the router itself has error modes, and mis-routing a multi-hop question to the linear path becomes a thing you measure. A router with no fallback is one of the module's named mistakes. In the lab, participants log the path taken per query and watch the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diagnostic gallery — for each cell, ask the class which earlier module gives the detection tool. Aggregate-only measurement is caught by the per-class evaluation from Module 6; fusion mistakes by the RRF discipline from Module 4; unbounded loops by the cap you will enforce in the lab. The code-review exercise later hands them a PR that commits three of these at once, so plant the pattern-recognition now. Keep it to five minutes; the lab makes each mistake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habits separate a lab demo from a production system. Caching matters because rewrites and decompositions are deterministic at temperature zero and repeated queries are common. The two caps — iterations and wall-clock — are non-negotiable; every agentic loop needs a bound. Tracing per hop and per grade decision is what lets an on-call engineer explain a slow or wrong answer after the fact. And the path-taken field turns routing from a black box into an operational dashboard: if the expensive paths fire on 40 percent of traffic, the router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expected lab outputs, shown up front so participants know what success looks like. Put the multi-hop leap beside the flat single-fact row and make the class say why both matter: the win proves the capability, the flat row proves nothing regressed and nothing was paid for by the majority class. The router keeps average latency at 1.9 seconds against a 1.7-second linear baseline while multi-hop paths fire on only 12 percent of queries. This table is the argument you make to a latency-conscious product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from src/dalil/advanced/multiquery.py. Three teaching points: the prompt explicitly preserves identifiers — circular numbers and form codes must survive rewriting exactly; the original query is always kept as variant zero, so expansion can only add recall, not lose it; and the fusion is the same reciprocal rank fusion from Module 4, reused across variant lists instead of across retrievers. Ask the class what happens if you skip fusion and concatenate — duplicates and no rank discipline, the named mistake from the grid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from src/dalil/advanced/corrective.py. Trace the control flow on the board: retrieve, grade, and only if the grade says irrelevant do we pay for one corrective rewrite and re-retrieval. Two safety rails to underline: tries is compared against max_retries so the loop is bounded by design, and the final grade check falls back to the refusal path from Module 5 rather than grounding on junk. In the lab they will force a bad first retrieval and watch the retry recover it — and verify the cap holds on unrecoverable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Lab 6 solution, git checkout lab7-start, gateway key, model pinned at temperature zero; the golden set now includes a multi_hop query class plus probes/multihop.jsonl. Timing: 10 minutes multi-query, 15 decomposition, 10 corrective, 10 router, 5 to record results. The payoff moment is the per-class table: multi-hop 0.34 to 0.82 while single-fact stays flat. Demo an uncapped corrective loop burning retries, then the capped one. Fast finishers add HyDE to the under-specified path — often a wash versus multi-query, which is itself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five to seven minutes. The reasoning you want to surface: if both sub-questions are near-identical, both hops retrieve the same chunks, the de-duplication step unions them into a single evidence set, and the composed answer sees nothing the linear path would not — you paid decomposition cost for zero new evidence. Any of the three fixes can be right; what matters is the justification. A distinctness check is the cheapest guard, a better prompt asking for atomic, distinct sub-questions attacks the root cause, and falling back to multi-query is honest when the question was never truly multi-hop.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 not lecture. Business framing first: these conditional questions are the ones employees most need help with, and a confidently partial answer is worse than a refusal because the user never learns a condition was missed. Constraints to keep on the board: a 2-second p95 SLA for the average query, bilingual decomposition in the query's language, no multi-hop firing on single-hop questions, and every hop's evidence individually citable. The target: lift the multi-hop class from 0.34 to at least 0.80 without regressing the single-hop majority. Question 2 links back to Module 5's conflict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three groups. Capability: the multi-hop class must reach 0.80 from a linear baseline around 0.34, and the under-specified class must lift by at least 0.10. Discipline: the single-hop class stays within 0.02 of linear and average latency within 0.3 seconds p95 with routing on — proof nothing was sacrificed. Governance: the Module 6 regression gate stays green, because advanced paths get the same evaluation rigour as the base pipeline. The corrective recovery target of 60 percent comes from forced-bad-retrieval probes, which the lab exercises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checks whether participants connect the modules rather than memorise patterns. The wrong answers are each plausible-sounding: option A misdescribes embeddings, option C invents a reranker behaviour, option D reverses what RRF does. The teaching point behind the correct answer is the module's discipline rule — a pattern helps a specific query class, and if you do not break results out by class you will pay for expansion where it cannot help. Give 60 seconds, then have someone defend their choice before revealing.
ANSWER: B
EXPLANATION: Vague phrasing benefits from paraphrase recall, but exact identifiers were already fixed by BM25/sparse retrieval in M4. Multi-query adds cost without gain there — which is exactly why gains must be measured per query class, never in aggregate.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safety question of the module. If time allows, replay the lab demonstration: remove the cap, feed an unanswerable question, and watch retries burn the budget. Option C is worth discussing after the reveal — routing everything to multi-hop is itself a named mistake, the pattern-everywhere cost simulation, which triples average latency for near-zero gain on the single-hop majority. The deeper lesson to state out loud: bounded loops are the first rule participants carry into SDA-AIE-311, where loops multiply.
ANSWER: B
EXPLANATION: An unanswerable question never grades as relevant, so an uncapped loop rewrites and retries until the latency and cost budget is exhausted. Cap iterations at 1–2 and refuse after the cap — every agentic loop needs a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the room from lecture mode to project mode: Hours 3 and 4 are pure build time. Make the framing explicit — the capstone is not new code from scratch, it is the integration of everything built in Labs 1 through 7 into one deployable, evaluated system over the full Dalil corpus, plus one extension, plus the evidence. Announce the twist now: the corpus is upgraded to corpus_v2 with updated and superseding documents, and the staleness drill is part of the grade, not a footnote. Repositories are collected at the end of Hour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scenario as a job brief, not an assignment. The golden thread pays off here: the failure gallery from Lab 1 has been struck through failure by failure across four days, and the capstone is the accumulated system that retired them all. Stress the two audiences for the repo — an engineer who can run make demo cold in ten minutes, and a risk officer who reads EVALUATION.md and signs. Both must be satisfied. Point at the wall poster one more time: every strikethrough is now backed by a measured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 to bottom and translate each gate into the lab that earned it: ingestion and chunking from Day 1, the retrieval stack and per-class reporting from Day 2, grounding, citations, refusal and the RAGAS gate from Day 3, freshness from today's corpus_v2 drill. Details worth saying aloud: the access-control filter must be enforced at retrieval and re-asserted at context construction with zero cross-department leaks; the regression gate must block any drop greater than 0.03; and per-class reporting is mandatory — aggregate-only numbers fail the retrieval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pairs should pick multi-hop or corrective RAG since Lab 7 already built the machinery — the extension is then about measuring and gating it properly, not writing new code. Conflict handling suits pairs who found the Module 5 conflict discussion compelling; pgvector suits the database-inclined; the FastAPI service reuses SDA-AIE-113 practices for those heading toward service engineering. Warn against the trap the rubric names explicitly: an extension bolted on everywhere, with no router and no numbers, scores in the lowest band regardless of how clever the code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reassurance slide: because every lab fed the capstone, milestones A through C were passed at the end of Days 1, 2 and 3 — pairs who kept their labs green are already sixty percent through. Today has exactly two deadlines. M-D at the end of Hour 3: the advanced extension in place and the corpus_v2 staleness number at or below 0.02, with repositories submitted so harnesses can be verified. M-E at Hour 5: the demo with live rubric scoring. Pairs behind on an earlier milestone should use the checkpoint tags to fast-forward rather than debug old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weights before the bands: evaluation and the regression gate are the heaviest criterion at 20 points, and grounding plus retrieval carry 18 each — the rubric literally prices the course thesis that numbers prove a RAG system. Name the anti-pattern flags that cap a criterion at 70 percent: aggregate-only retrieval metrics hiding a collapsed class, regenerating the RAGAS baseline in the same commit as a quality change, a refusal path that refuses everything to game the unanswerable metric, and citations that do not resolve to real chunks. The extension bonus of up to 5 points applies only when mandatory scope is at least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precisely so nobody burns demo time on the wrong thing: six minutes, live probe questions, and the instructor will verify one claim on the spot by handing over a fresh unanswerable question and a fresh identifier question — Dalil must refuse the first and retrieve the right circular for the second. Remind presenters the grading is evidence-first: their EVALUATION.md tables and gate history are read before the demo, so the demo confirms the numbers rather than replacing them. Advise a dry run of make demo from a clean clone during Hour 4 — cannot-run-own-repo-cold is the lowest rubric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an actual checklist during Hour 4 — have pairs tick items aloud. The five benchmark tables in EVALUATION.md are ingestion coverage, recall at k, per-class nDCG, grounding and refusal, and RAGAS plus staleness, each filled from the pair's own runs, never copied from course materials. DECISIONS.md wants five real engineering decisions with rationale — the examples in the sub-bullet come straight from the brief. The checkpoint tags matter because graders read history: a repo where lab tags show steady evolution tells a better story than one squashed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tips are the assessment notes turned inside out — each one is an anti-pattern flag the graders are explicitly told to look for. Spend a moment on the baseline rule: regenerating the RAGAS baseline in the same commit that changes quality destroys the regression gate's meaning, because the gate can only catch drops against a stable reference. And rehearse the staleness explanation as a pair: filtering off re-introduces F8, the stale-knowledge failure from Day 1's gallery, which is why the toggle is the highest-signal check. A pair who can narrate that owns the entire course 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course on this before demos begin, or right after the last demo if energy is better spent there. The line carries the two messages the cohort should leave with: first, the artefact that matters is an evaluated system with a regression gate, not a one-off demo — that is what a risk officer signs and what production trusts. Second, the path forward is continuous: Dalil's corrective loop is already a one-tool agent, and SDA-AIE-311 extends exactly this reasoning-plus-retrieval shape to multi-tool agents. Congratulate the pairs, then open the floor for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gears here: the building is done, and this closing section explains how the work gets graded and where it leads. Reassure participants that nothing new is being sprung on them — every assessment component maps to work they have already produced during the four days. Preview the four items on the slide, then move briskly; the emotional payoff of this section is the badge and the forward pointer to the next course, so do not let the administrative details drag.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and stress that evidence, not effort, is what gets graded: checkpoint commits for labs, verified fixes for the practicals, and the EVALUATION.md plus gate history for the capstone. The capstone alone is 40 percent — labs plus the two practicals carry the other 60. Read the badge criteria in the takeaway strip aloud, including the integrity checks; participants should hear clearly that copied golden-set answers or duplicated evaluation tables cost them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 room that both practicals already happened — PA-1 in Day 2 hour 5, PA-2 in Day 3 hour 5 — so this slide is about transparency, not preparation. Emphasise the weighting philosophy: in PA-1, a correct diagnosis from the metrics is worth as much as the fix itself, and using per-class reports instead of aggregates earns the final 20 percent. In PA-2, stage attribution and the governance question about who owns the refusal threshold are graded against the model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fellow instructors, so speak from delivery experience. The two labs that overrun are always the same: Lab 2 parsing and Lab 4 reranker download — time them in your dry run. The panel lists the high-frequency support tickets: Qdrant port clashes dominate the first hour, so plan floater support. For data-science participants anxious about Docker and vector databases, use pairing and the templates-then-understanding approach, keeping the failure poster as the through-line.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prep checklist has one governing principle from the guide: classroom bandwidth must never gate a lab. Dry-run all seven labs on both a clean machine and the Codespaces devcontainer with shared Qdrant. Send participants the install email two days ahead and make make doctor the single source of truth — it prints a check or cross per component, so day-one triage takes minutes instead of the first hour. Confirm the network allows the gateway, Qdrant, and the HF mirror, or pre-pull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wrap-up is a ritual, not a formality. Walking the poster with all eight stickers removed gives the cohort a physical record of what they conquered, and mapping capstone requirements back to modules proves nothing in the rubric was arbitrary. Framing EVALUATION.md as the pack a risk officer signs lands the governance message one last time. The panel holds the five discussion prompts from the guide — use them during transitions across the day, not just at the end. Collect artefacts before anyone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momentum. The badge is not the finish line — it stacks toward the AI Engineer Specialist Certificate and the GenAI Engineering micro-specialization, and it unlocks SDA-AIE-311. Make the forward pointer concrete, as the guide instructs: the next course consumes exactly this system shape. The corrective loop they built in Dalil is a one-tool agent already; 311 adds planning, multi-tool use via MCP, and multi-agent orchestration on top of the retrieval substrate. That framing turns next steps from marketing into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slowly and in the past tense — that is the point of the slide. Each outcome maps to work sitting in their repositories right now: the architecture in their design docs, the pipelines from Days 1 and 2, the hybrid stack with reranking, the RAGAS harness from Day 3, and the staleness and hallucination defences from Day 4. Invite participants to mentally attach a lab artefact to each line; if any line feels unearned, that is exactly what the capstone review will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weight. Four days ago the corpus was 300 messy documents; today every participant owns a production-shaped RAG system with an evaluation harness that proves, with numbers, that its answers are faithful, relevant, and cited. That is the promise from the course description, kept. Thank the cohort genuinely, remind them badge recommendations arrive within five working days, and leave the SDA-AIE-311 pointer on screen as they pack up. The system they extend with agents next is the one they just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pn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pn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image-154-1.pn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image-156-1.pn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image-157-1.pn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58-1.pn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988695"/>
            <a:ext cx="502920" cy="440055"/>
          </a:xfrm>
          <a:prstGeom prst="triangle">
            <a:avLst/>
          </a:prstGeom>
          <a:solidFill>
            <a:srgbClr val="00A79D"/>
          </a:solidFill>
          <a:ln/>
        </p:spPr>
      </p:sp>
      <p:sp>
        <p:nvSpPr>
          <p:cNvPr id="3" name="Shape 1"/>
          <p:cNvSpPr/>
          <p:nvPr/>
        </p:nvSpPr>
        <p:spPr>
          <a:xfrm flipV="1">
            <a:off x="8805672" y="768668"/>
            <a:ext cx="502920" cy="440055"/>
          </a:xfrm>
          <a:prstGeom prst="triangle">
            <a:avLst/>
          </a:prstGeom>
          <a:solidFill>
            <a:srgbClr val="29ABE2"/>
          </a:solidFill>
          <a:ln/>
        </p:spPr>
      </p:sp>
      <p:sp>
        <p:nvSpPr>
          <p:cNvPr id="4" name="Shape 2"/>
          <p:cNvSpPr/>
          <p:nvPr/>
        </p:nvSpPr>
        <p:spPr>
          <a:xfrm>
            <a:off x="8805672" y="1208723"/>
            <a:ext cx="502920" cy="440055"/>
          </a:xfrm>
          <a:prstGeom prst="triangle">
            <a:avLst/>
          </a:prstGeom>
          <a:solidFill>
            <a:srgbClr val="F7941D"/>
          </a:solidFill>
          <a:ln/>
        </p:spPr>
      </p:sp>
      <p:sp>
        <p:nvSpPr>
          <p:cNvPr id="5" name="Shape 3"/>
          <p:cNvSpPr/>
          <p:nvPr/>
        </p:nvSpPr>
        <p:spPr>
          <a:xfrm>
            <a:off x="9336024" y="548640"/>
            <a:ext cx="502920" cy="440055"/>
          </a:xfrm>
          <a:prstGeom prst="triangle">
            <a:avLst/>
          </a:prstGeom>
          <a:solidFill>
            <a:srgbClr val="8CC63F"/>
          </a:solidFill>
          <a:ln/>
        </p:spPr>
      </p:sp>
      <p:sp>
        <p:nvSpPr>
          <p:cNvPr id="6" name="Shape 4"/>
          <p:cNvSpPr/>
          <p:nvPr/>
        </p:nvSpPr>
        <p:spPr>
          <a:xfrm flipV="1">
            <a:off x="9336024" y="988695"/>
            <a:ext cx="502920" cy="440055"/>
          </a:xfrm>
          <a:prstGeom prst="triangle">
            <a:avLst/>
          </a:prstGeom>
          <a:solidFill>
            <a:srgbClr val="1D2A5C"/>
          </a:solidFill>
          <a:ln/>
        </p:spPr>
      </p:sp>
      <p:sp>
        <p:nvSpPr>
          <p:cNvPr id="7" name="Shape 5"/>
          <p:cNvSpPr/>
          <p:nvPr/>
        </p:nvSpPr>
        <p:spPr>
          <a:xfrm>
            <a:off x="9866376" y="768668"/>
            <a:ext cx="502920" cy="440055"/>
          </a:xfrm>
          <a:prstGeom prst="triangle">
            <a:avLst/>
          </a:prstGeom>
          <a:solidFill>
            <a:srgbClr val="00A79D"/>
          </a:solidFill>
          <a:ln/>
        </p:spPr>
      </p:sp>
      <p:sp>
        <p:nvSpPr>
          <p:cNvPr id="8" name="Shape 6"/>
          <p:cNvSpPr/>
          <p:nvPr/>
        </p:nvSpPr>
        <p:spPr>
          <a:xfrm flipV="1">
            <a:off x="9866376" y="1208723"/>
            <a:ext cx="502920" cy="440055"/>
          </a:xfrm>
          <a:prstGeom prst="triangle">
            <a:avLst/>
          </a:prstGeom>
          <a:solidFill>
            <a:srgbClr val="29ABE2"/>
          </a:solidFill>
          <a:ln/>
        </p:spPr>
      </p:sp>
      <p:sp>
        <p:nvSpPr>
          <p:cNvPr id="9" name="Shape 7"/>
          <p:cNvSpPr/>
          <p:nvPr/>
        </p:nvSpPr>
        <p:spPr>
          <a:xfrm>
            <a:off x="10396728" y="988695"/>
            <a:ext cx="502920" cy="440055"/>
          </a:xfrm>
          <a:prstGeom prst="triangle">
            <a:avLst/>
          </a:prstGeom>
          <a:solidFill>
            <a:srgbClr val="F7941D"/>
          </a:solidFill>
          <a:ln/>
        </p:spPr>
      </p:sp>
      <p:pic>
        <p:nvPicPr>
          <p:cNvPr id="10" name="Image 0" descr="assets/logo.png">    </p:cNvPr>
          <p:cNvPicPr>
            <a:picLocks noChangeAspect="1"/>
          </p:cNvPicPr>
          <p:nvPr/>
        </p:nvPicPr>
        <p:blipFill>
          <a:blip r:embed="rId1"/>
          <a:stretch>
            <a:fillRect/>
          </a:stretch>
        </p:blipFill>
        <p:spPr>
          <a:xfrm>
            <a:off x="822960" y="640080"/>
            <a:ext cx="2377440" cy="581941"/>
          </a:xfrm>
          <a:prstGeom prst="rect">
            <a:avLst/>
          </a:prstGeom>
        </p:spPr>
      </p:pic>
      <p:sp>
        <p:nvSpPr>
          <p:cNvPr id="11" name="Shape 8"/>
          <p:cNvSpPr/>
          <p:nvPr/>
        </p:nvSpPr>
        <p:spPr>
          <a:xfrm>
            <a:off x="822960" y="2121408"/>
            <a:ext cx="1920240" cy="420624"/>
          </a:xfrm>
          <a:prstGeom prst="roundRect">
            <a:avLst>
              <a:gd name="adj" fmla="val 13043"/>
            </a:avLst>
          </a:prstGeom>
          <a:solidFill>
            <a:srgbClr val="00A79D"/>
          </a:solidFill>
          <a:ln/>
        </p:spPr>
      </p:sp>
      <p:sp>
        <p:nvSpPr>
          <p:cNvPr id="12" name="Text 9"/>
          <p:cNvSpPr/>
          <p:nvPr/>
        </p:nvSpPr>
        <p:spPr>
          <a:xfrm>
            <a:off x="822960" y="2121408"/>
            <a:ext cx="1920240" cy="420624"/>
          </a:xfrm>
          <a:prstGeom prst="rect">
            <a:avLst/>
          </a:prstGeom>
          <a:noFill/>
          <a:ln/>
        </p:spPr>
        <p:txBody>
          <a:bodyPr wrap="square"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SDA-AIE-214</a:t>
            </a:r>
            <a:endParaRPr lang="en-US" sz="1400" dirty="0"/>
          </a:p>
        </p:txBody>
      </p:sp>
      <p:sp>
        <p:nvSpPr>
          <p:cNvPr id="13" name="Text 10"/>
          <p:cNvSpPr/>
          <p:nvPr/>
        </p:nvSpPr>
        <p:spPr>
          <a:xfrm>
            <a:off x="822960" y="2670048"/>
            <a:ext cx="10561320" cy="1143000"/>
          </a:xfrm>
          <a:prstGeom prst="rect">
            <a:avLst/>
          </a:prstGeom>
          <a:noFill/>
          <a:ln/>
        </p:spPr>
        <p:txBody>
          <a:bodyPr wrap="square" rtlCol="0" anchor="ctr"/>
          <a:lstStyle/>
          <a:p>
            <a:pPr algn="l" indent="0" marL="0">
              <a:buNone/>
            </a:pPr>
            <a:r>
              <a:rPr lang="en-US" sz="3800" b="1" dirty="0">
                <a:solidFill>
                  <a:srgbClr val="1D2A5C"/>
                </a:solidFill>
                <a:latin typeface="Calibri" pitchFamily="34" charset="0"/>
                <a:ea typeface="Calibri" pitchFamily="34" charset="-122"/>
                <a:cs typeface="Calibri" pitchFamily="34" charset="-120"/>
              </a:rPr>
              <a:t>Building Retrieval-Augmented Generation Systems</a:t>
            </a:r>
            <a:endParaRPr lang="en-US" sz="3800" dirty="0"/>
          </a:p>
        </p:txBody>
      </p:sp>
      <p:sp>
        <p:nvSpPr>
          <p:cNvPr id="14" name="Text 11"/>
          <p:cNvSpPr/>
          <p:nvPr/>
        </p:nvSpPr>
        <p:spPr>
          <a:xfrm>
            <a:off x="822960" y="3858768"/>
            <a:ext cx="10561320" cy="457200"/>
          </a:xfrm>
          <a:prstGeom prst="rect">
            <a:avLst/>
          </a:prstGeom>
          <a:noFill/>
          <a:ln/>
        </p:spPr>
        <p:txBody>
          <a:bodyPr wrap="square" rtlCol="0" anchor="ctr"/>
          <a:lstStyle/>
          <a:p>
            <a:pPr algn="l" indent="0" marL="0">
              <a:buNone/>
            </a:pPr>
            <a:r>
              <a:rPr lang="en-US" sz="1800" dirty="0">
                <a:solidFill>
                  <a:srgbClr val="00A79D"/>
                </a:solidFill>
                <a:latin typeface="Calibri" pitchFamily="34" charset="0"/>
                <a:ea typeface="Calibri" pitchFamily="34" charset="-122"/>
                <a:cs typeface="Calibri" pitchFamily="34" charset="-120"/>
              </a:rPr>
              <a:t>بناء أنظمة التوليد المعزز بالاسترجاع</a:t>
            </a:r>
            <a:endParaRPr lang="en-US" sz="1800" dirty="0"/>
          </a:p>
        </p:txBody>
      </p:sp>
      <p:sp>
        <p:nvSpPr>
          <p:cNvPr id="15" name="Text 12"/>
          <p:cNvSpPr/>
          <p:nvPr/>
        </p:nvSpPr>
        <p:spPr>
          <a:xfrm>
            <a:off x="822960" y="4663440"/>
            <a:ext cx="3520440" cy="256032"/>
          </a:xfrm>
          <a:prstGeom prst="rect">
            <a:avLst/>
          </a:prstGeom>
          <a:noFill/>
          <a:ln/>
        </p:spPr>
        <p:txBody>
          <a:bodyPr wrap="square" rtlCol="0" anchor="ctr"/>
          <a:lstStyle/>
          <a:p>
            <a:pPr indent="0" marL="0">
              <a:buNone/>
            </a:pPr>
            <a:r>
              <a:rPr lang="en-US" sz="1000" b="1" spc="150" kern="0" dirty="0">
                <a:solidFill>
                  <a:srgbClr val="6E7B8A"/>
                </a:solidFill>
                <a:latin typeface="Calibri" pitchFamily="34" charset="0"/>
                <a:ea typeface="Calibri" pitchFamily="34" charset="-122"/>
                <a:cs typeface="Calibri" pitchFamily="34" charset="-120"/>
              </a:rPr>
              <a:t>DURATION</a:t>
            </a:r>
            <a:endParaRPr lang="en-US" sz="1000" dirty="0"/>
          </a:p>
        </p:txBody>
      </p:sp>
      <p:sp>
        <p:nvSpPr>
          <p:cNvPr id="16" name="Text 13"/>
          <p:cNvSpPr/>
          <p:nvPr/>
        </p:nvSpPr>
        <p:spPr>
          <a:xfrm>
            <a:off x="822960" y="4919472"/>
            <a:ext cx="3520440" cy="38404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4 Days / 20 Hours</a:t>
            </a:r>
            <a:endParaRPr lang="en-US" sz="1350" dirty="0"/>
          </a:p>
        </p:txBody>
      </p:sp>
      <p:sp>
        <p:nvSpPr>
          <p:cNvPr id="17" name="Text 14"/>
          <p:cNvSpPr/>
          <p:nvPr/>
        </p:nvSpPr>
        <p:spPr>
          <a:xfrm>
            <a:off x="4526280" y="4663440"/>
            <a:ext cx="3520440" cy="256032"/>
          </a:xfrm>
          <a:prstGeom prst="rect">
            <a:avLst/>
          </a:prstGeom>
          <a:noFill/>
          <a:ln/>
        </p:spPr>
        <p:txBody>
          <a:bodyPr wrap="square" rtlCol="0" anchor="ctr"/>
          <a:lstStyle/>
          <a:p>
            <a:pPr indent="0" marL="0">
              <a:buNone/>
            </a:pPr>
            <a:r>
              <a:rPr lang="en-US" sz="1000" b="1" spc="150" kern="0" dirty="0">
                <a:solidFill>
                  <a:srgbClr val="6E7B8A"/>
                </a:solidFill>
                <a:latin typeface="Calibri" pitchFamily="34" charset="0"/>
                <a:ea typeface="Calibri" pitchFamily="34" charset="-122"/>
                <a:cs typeface="Calibri" pitchFamily="34" charset="-120"/>
              </a:rPr>
              <a:t>LEVEL</a:t>
            </a:r>
            <a:endParaRPr lang="en-US" sz="1000" dirty="0"/>
          </a:p>
        </p:txBody>
      </p:sp>
      <p:sp>
        <p:nvSpPr>
          <p:cNvPr id="18" name="Text 15"/>
          <p:cNvSpPr/>
          <p:nvPr/>
        </p:nvSpPr>
        <p:spPr>
          <a:xfrm>
            <a:off x="4526280" y="4919472"/>
            <a:ext cx="3520440" cy="38404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Specialist</a:t>
            </a:r>
            <a:endParaRPr lang="en-US" sz="1350" dirty="0"/>
          </a:p>
        </p:txBody>
      </p:sp>
      <p:sp>
        <p:nvSpPr>
          <p:cNvPr id="19" name="Text 16"/>
          <p:cNvSpPr/>
          <p:nvPr/>
        </p:nvSpPr>
        <p:spPr>
          <a:xfrm>
            <a:off x="8229600" y="4663440"/>
            <a:ext cx="3520440" cy="256032"/>
          </a:xfrm>
          <a:prstGeom prst="rect">
            <a:avLst/>
          </a:prstGeom>
          <a:noFill/>
          <a:ln/>
        </p:spPr>
        <p:txBody>
          <a:bodyPr wrap="square" rtlCol="0" anchor="ctr"/>
          <a:lstStyle/>
          <a:p>
            <a:pPr indent="0" marL="0">
              <a:buNone/>
            </a:pPr>
            <a:r>
              <a:rPr lang="en-US" sz="1000" b="1" spc="150" kern="0" dirty="0">
                <a:solidFill>
                  <a:srgbClr val="6E7B8A"/>
                </a:solidFill>
                <a:latin typeface="Calibri" pitchFamily="34" charset="0"/>
                <a:ea typeface="Calibri" pitchFamily="34" charset="-122"/>
                <a:cs typeface="Calibri" pitchFamily="34" charset="-120"/>
              </a:rPr>
              <a:t>PREREQUISITES</a:t>
            </a:r>
            <a:endParaRPr lang="en-US" sz="1000" dirty="0"/>
          </a:p>
        </p:txBody>
      </p:sp>
      <p:sp>
        <p:nvSpPr>
          <p:cNvPr id="20" name="Text 17"/>
          <p:cNvSpPr/>
          <p:nvPr/>
        </p:nvSpPr>
        <p:spPr>
          <a:xfrm>
            <a:off x="8229600" y="4919472"/>
            <a:ext cx="3520440" cy="38404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SDA-AIE-213</a:t>
            </a:r>
            <a:endParaRPr lang="en-US" sz="1350" dirty="0"/>
          </a:p>
        </p:txBody>
      </p:sp>
      <p:sp>
        <p:nvSpPr>
          <p:cNvPr id="21" name="Text 18"/>
          <p:cNvSpPr/>
          <p:nvPr/>
        </p:nvSpPr>
        <p:spPr>
          <a:xfrm>
            <a:off x="822960" y="5559552"/>
            <a:ext cx="3520440" cy="256032"/>
          </a:xfrm>
          <a:prstGeom prst="rect">
            <a:avLst/>
          </a:prstGeom>
          <a:noFill/>
          <a:ln/>
        </p:spPr>
        <p:txBody>
          <a:bodyPr wrap="square" rtlCol="0" anchor="ctr"/>
          <a:lstStyle/>
          <a:p>
            <a:pPr indent="0" marL="0">
              <a:buNone/>
            </a:pPr>
            <a:r>
              <a:rPr lang="en-US" sz="1000" b="1" spc="150" kern="0" dirty="0">
                <a:solidFill>
                  <a:srgbClr val="6E7B8A"/>
                </a:solidFill>
                <a:latin typeface="Calibri" pitchFamily="34" charset="0"/>
                <a:ea typeface="Calibri" pitchFamily="34" charset="-122"/>
                <a:cs typeface="Calibri" pitchFamily="34" charset="-120"/>
              </a:rPr>
              <a:t>AUDIENCE</a:t>
            </a:r>
            <a:endParaRPr lang="en-US" sz="1000" dirty="0"/>
          </a:p>
        </p:txBody>
      </p:sp>
      <p:sp>
        <p:nvSpPr>
          <p:cNvPr id="22" name="Text 19"/>
          <p:cNvSpPr/>
          <p:nvPr/>
        </p:nvSpPr>
        <p:spPr>
          <a:xfrm>
            <a:off x="822960" y="5815584"/>
            <a:ext cx="3520440" cy="38404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GenAI engineers</a:t>
            </a:r>
            <a:endParaRPr lang="en-US" sz="1350" dirty="0"/>
          </a:p>
        </p:txBody>
      </p:sp>
      <p:sp>
        <p:nvSpPr>
          <p:cNvPr id="23" name="Text 20"/>
          <p:cNvSpPr/>
          <p:nvPr/>
        </p:nvSpPr>
        <p:spPr>
          <a:xfrm>
            <a:off x="4526280" y="5559552"/>
            <a:ext cx="3520440" cy="256032"/>
          </a:xfrm>
          <a:prstGeom prst="rect">
            <a:avLst/>
          </a:prstGeom>
          <a:noFill/>
          <a:ln/>
        </p:spPr>
        <p:txBody>
          <a:bodyPr wrap="square" rtlCol="0" anchor="ctr"/>
          <a:lstStyle/>
          <a:p>
            <a:pPr indent="0" marL="0">
              <a:buNone/>
            </a:pPr>
            <a:r>
              <a:rPr lang="en-US" sz="1000" b="1" spc="150" kern="0" dirty="0">
                <a:solidFill>
                  <a:srgbClr val="6E7B8A"/>
                </a:solidFill>
                <a:latin typeface="Calibri" pitchFamily="34" charset="0"/>
                <a:ea typeface="Calibri" pitchFamily="34" charset="-122"/>
                <a:cs typeface="Calibri" pitchFamily="34" charset="-120"/>
              </a:rPr>
              <a:t>ASSESSMENT</a:t>
            </a:r>
            <a:endParaRPr lang="en-US" sz="1000" dirty="0"/>
          </a:p>
        </p:txBody>
      </p:sp>
      <p:sp>
        <p:nvSpPr>
          <p:cNvPr id="24" name="Text 21"/>
          <p:cNvSpPr/>
          <p:nvPr/>
        </p:nvSpPr>
        <p:spPr>
          <a:xfrm>
            <a:off x="4526280" y="5815584"/>
            <a:ext cx="3520440" cy="38404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Labs + enterprise RAG project</a:t>
            </a:r>
            <a:endParaRPr lang="en-US" sz="1350" dirty="0"/>
          </a:p>
        </p:txBody>
      </p:sp>
      <p:sp>
        <p:nvSpPr>
          <p:cNvPr id="25" name="Text 22"/>
          <p:cNvSpPr/>
          <p:nvPr/>
        </p:nvSpPr>
        <p:spPr>
          <a:xfrm>
            <a:off x="8229600" y="5559552"/>
            <a:ext cx="3520440" cy="256032"/>
          </a:xfrm>
          <a:prstGeom prst="rect">
            <a:avLst/>
          </a:prstGeom>
          <a:noFill/>
          <a:ln/>
        </p:spPr>
        <p:txBody>
          <a:bodyPr wrap="square" rtlCol="0" anchor="ctr"/>
          <a:lstStyle/>
          <a:p>
            <a:pPr indent="0" marL="0">
              <a:buNone/>
            </a:pPr>
            <a:r>
              <a:rPr lang="en-US" sz="1000" b="1" spc="150" kern="0" dirty="0">
                <a:solidFill>
                  <a:srgbClr val="6E7B8A"/>
                </a:solidFill>
                <a:latin typeface="Calibri" pitchFamily="34" charset="0"/>
                <a:ea typeface="Calibri" pitchFamily="34" charset="-122"/>
                <a:cs typeface="Calibri" pitchFamily="34" charset="-120"/>
              </a:rPr>
              <a:t>TOOLS</a:t>
            </a:r>
            <a:endParaRPr lang="en-US" sz="1000" dirty="0"/>
          </a:p>
        </p:txBody>
      </p:sp>
      <p:sp>
        <p:nvSpPr>
          <p:cNvPr id="26" name="Text 23"/>
          <p:cNvSpPr/>
          <p:nvPr/>
        </p:nvSpPr>
        <p:spPr>
          <a:xfrm>
            <a:off x="8229600" y="5815584"/>
            <a:ext cx="3520440" cy="38404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Qdrant · LangChain · RAGAS</a:t>
            </a:r>
            <a:endParaRPr lang="en-US" sz="1350" dirty="0"/>
          </a:p>
        </p:txBody>
      </p:sp>
      <p:sp>
        <p:nvSpPr>
          <p:cNvPr id="27" name="Shape 24"/>
          <p:cNvSpPr/>
          <p:nvPr/>
        </p:nvSpPr>
        <p:spPr>
          <a:xfrm>
            <a:off x="0" y="6784848"/>
            <a:ext cx="12191695" cy="73152"/>
          </a:xfrm>
          <a:prstGeom prst="rect">
            <a:avLst/>
          </a:prstGeom>
          <a:solidFill>
            <a:srgbClr val="00A79D"/>
          </a:solidFill>
          <a:ln/>
        </p:spPr>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Welcome — How This Course Works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أهلاً بكم — كيف تسير هذه الدورة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Instructor-led and deliberately lab-heavy: lab share grows from 55% on Day 1 to 75% on Day 4</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One golden-thread project: every lab builds a stage of the same assistant over the same corpus</a:t>
            </a:r>
            <a:endParaRPr lang="en-US" sz="1400" dirty="0"/>
          </a:p>
        </p:txBody>
      </p:sp>
      <p:sp>
        <p:nvSpPr>
          <p:cNvPr id="10" name="Text 7"/>
          <p:cNvSpPr/>
          <p:nvPr/>
        </p:nvSpPr>
        <p:spPr>
          <a:xfrm>
            <a:off x="1069848" y="2432304"/>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No throwaway toy corpora — failures found early are fixed by name later</a:t>
            </a:r>
            <a:endParaRPr lang="en-US" sz="1150" dirty="0"/>
          </a:p>
        </p:txBody>
      </p:sp>
      <p:sp>
        <p:nvSpPr>
          <p:cNvPr id="11" name="Shape 8"/>
          <p:cNvSpPr/>
          <p:nvPr/>
        </p:nvSpPr>
        <p:spPr>
          <a:xfrm>
            <a:off x="521208" y="2935224"/>
            <a:ext cx="118872" cy="118872"/>
          </a:xfrm>
          <a:prstGeom prst="rect">
            <a:avLst/>
          </a:prstGeom>
          <a:solidFill>
            <a:srgbClr val="00A79D"/>
          </a:solidFill>
          <a:ln/>
        </p:spPr>
      </p:sp>
      <p:sp>
        <p:nvSpPr>
          <p:cNvPr id="12" name="Text 9"/>
          <p:cNvSpPr/>
          <p:nvPr/>
        </p:nvSpPr>
        <p:spPr>
          <a:xfrm>
            <a:off x="795528" y="283464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Work in pairs, rotated daily; checkpoint tags let stragglers fast-forward between labs</a:t>
            </a:r>
            <a:endParaRPr lang="en-US" sz="1400" dirty="0"/>
          </a:p>
        </p:txBody>
      </p:sp>
      <p:sp>
        <p:nvSpPr>
          <p:cNvPr id="13" name="Shape 10"/>
          <p:cNvSpPr/>
          <p:nvPr/>
        </p:nvSpPr>
        <p:spPr>
          <a:xfrm>
            <a:off x="521208" y="3410712"/>
            <a:ext cx="118872" cy="118872"/>
          </a:xfrm>
          <a:prstGeom prst="rect">
            <a:avLst/>
          </a:prstGeom>
          <a:solidFill>
            <a:srgbClr val="00A79D"/>
          </a:solidFill>
          <a:ln/>
        </p:spPr>
      </p:sp>
      <p:sp>
        <p:nvSpPr>
          <p:cNvPr id="14" name="Text 11"/>
          <p:cNvSpPr/>
          <p:nvPr/>
        </p:nvSpPr>
        <p:spPr>
          <a:xfrm>
            <a:off x="795528" y="331012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Each hour is 50 minutes of instruction plus a 10-minute buffer; long break around Dhuhr</a:t>
            </a:r>
            <a:endParaRPr lang="en-US" sz="1400" dirty="0"/>
          </a:p>
        </p:txBody>
      </p:sp>
      <p:sp>
        <p:nvSpPr>
          <p:cNvPr id="15" name="Shape 12"/>
          <p:cNvSpPr/>
          <p:nvPr/>
        </p:nvSpPr>
        <p:spPr>
          <a:xfrm>
            <a:off x="521208" y="3886200"/>
            <a:ext cx="118872" cy="118872"/>
          </a:xfrm>
          <a:prstGeom prst="rect">
            <a:avLst/>
          </a:prstGeom>
          <a:solidFill>
            <a:srgbClr val="00A79D"/>
          </a:solidFill>
          <a:ln/>
        </p:spPr>
      </p:sp>
      <p:sp>
        <p:nvSpPr>
          <p:cNvPr id="16" name="Text 13"/>
          <p:cNvSpPr/>
          <p:nvPr/>
        </p:nvSpPr>
        <p:spPr>
          <a:xfrm>
            <a:off x="795528" y="378561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Deliver in English or Arabic — code, identifiers, and commits stay in English</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You leave with a production-shaped RAG system you built stage by stage — and the numbers to prove it works.</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Dalil: The Golden-Thread Project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دليل: الخيط الذهبي للدورة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3749040" y="2202180"/>
            <a:ext cx="1272388" cy="1203960"/>
          </a:xfrm>
          <a:prstGeom prst="line">
            <a:avLst/>
          </a:prstGeom>
          <a:noFill/>
          <a:ln w="15875">
            <a:solidFill>
              <a:srgbClr val="D9E2E8"/>
            </a:solidFill>
            <a:prstDash val="solid"/>
          </a:ln>
        </p:spPr>
      </p:sp>
      <p:sp>
        <p:nvSpPr>
          <p:cNvPr id="7" name="Shape 4"/>
          <p:cNvSpPr/>
          <p:nvPr/>
        </p:nvSpPr>
        <p:spPr>
          <a:xfrm>
            <a:off x="3749040" y="3406140"/>
            <a:ext cx="1272388" cy="914"/>
          </a:xfrm>
          <a:prstGeom prst="line">
            <a:avLst/>
          </a:prstGeom>
          <a:noFill/>
          <a:ln w="15875">
            <a:solidFill>
              <a:srgbClr val="D9E2E8"/>
            </a:solidFill>
            <a:prstDash val="solid"/>
          </a:ln>
        </p:spPr>
      </p:sp>
      <p:sp>
        <p:nvSpPr>
          <p:cNvPr id="8" name="Shape 5"/>
          <p:cNvSpPr/>
          <p:nvPr/>
        </p:nvSpPr>
        <p:spPr>
          <a:xfrm flipV="1">
            <a:off x="3749040" y="3406140"/>
            <a:ext cx="1272388" cy="1203960"/>
          </a:xfrm>
          <a:prstGeom prst="line">
            <a:avLst/>
          </a:prstGeom>
          <a:noFill/>
          <a:ln w="15875">
            <a:solidFill>
              <a:srgbClr val="D9E2E8"/>
            </a:solidFill>
            <a:prstDash val="solid"/>
          </a:ln>
        </p:spPr>
      </p:sp>
      <p:sp>
        <p:nvSpPr>
          <p:cNvPr id="9" name="Shape 6"/>
          <p:cNvSpPr/>
          <p:nvPr/>
        </p:nvSpPr>
        <p:spPr>
          <a:xfrm flipV="1">
            <a:off x="7170268" y="2202180"/>
            <a:ext cx="1269644" cy="1203960"/>
          </a:xfrm>
          <a:prstGeom prst="line">
            <a:avLst/>
          </a:prstGeom>
          <a:noFill/>
          <a:ln w="15875">
            <a:solidFill>
              <a:srgbClr val="D9E2E8"/>
            </a:solidFill>
            <a:prstDash val="solid"/>
          </a:ln>
        </p:spPr>
      </p:sp>
      <p:sp>
        <p:nvSpPr>
          <p:cNvPr id="10" name="Shape 7"/>
          <p:cNvSpPr/>
          <p:nvPr/>
        </p:nvSpPr>
        <p:spPr>
          <a:xfrm>
            <a:off x="7170268" y="3406140"/>
            <a:ext cx="1269644" cy="914"/>
          </a:xfrm>
          <a:prstGeom prst="line">
            <a:avLst/>
          </a:prstGeom>
          <a:noFill/>
          <a:ln w="15875">
            <a:solidFill>
              <a:srgbClr val="D9E2E8"/>
            </a:solidFill>
            <a:prstDash val="solid"/>
          </a:ln>
        </p:spPr>
      </p:sp>
      <p:sp>
        <p:nvSpPr>
          <p:cNvPr id="11" name="Shape 8"/>
          <p:cNvSpPr/>
          <p:nvPr/>
        </p:nvSpPr>
        <p:spPr>
          <a:xfrm>
            <a:off x="7170268" y="3406140"/>
            <a:ext cx="1269644" cy="1203960"/>
          </a:xfrm>
          <a:prstGeom prst="line">
            <a:avLst/>
          </a:prstGeom>
          <a:noFill/>
          <a:ln w="15875">
            <a:solidFill>
              <a:srgbClr val="D9E2E8"/>
            </a:solidFill>
            <a:prstDash val="solid"/>
          </a:ln>
        </p:spPr>
      </p:sp>
      <p:sp>
        <p:nvSpPr>
          <p:cNvPr id="12" name="Shape 9"/>
          <p:cNvSpPr/>
          <p:nvPr/>
        </p:nvSpPr>
        <p:spPr>
          <a:xfrm>
            <a:off x="502920" y="1744980"/>
            <a:ext cx="3246120" cy="914400"/>
          </a:xfrm>
          <a:prstGeom prst="rect">
            <a:avLst/>
          </a:prstGeom>
          <a:solidFill>
            <a:srgbClr val="F2F6F8"/>
          </a:solidFill>
          <a:ln w="9525">
            <a:solidFill>
              <a:srgbClr val="D9E2E8"/>
            </a:solidFill>
            <a:prstDash val="solid"/>
          </a:ln>
        </p:spPr>
      </p:sp>
      <p:sp>
        <p:nvSpPr>
          <p:cNvPr id="13" name="Shape 10"/>
          <p:cNvSpPr/>
          <p:nvPr/>
        </p:nvSpPr>
        <p:spPr>
          <a:xfrm>
            <a:off x="502920" y="1744980"/>
            <a:ext cx="64008" cy="914400"/>
          </a:xfrm>
          <a:prstGeom prst="rect">
            <a:avLst/>
          </a:prstGeom>
          <a:solidFill>
            <a:srgbClr val="00A79D"/>
          </a:solidFill>
          <a:ln/>
        </p:spPr>
      </p:sp>
      <p:sp>
        <p:nvSpPr>
          <p:cNvPr id="14" name="Text 11"/>
          <p:cNvSpPr/>
          <p:nvPr/>
        </p:nvSpPr>
        <p:spPr>
          <a:xfrm>
            <a:off x="704088" y="181813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300-doc corpus</a:t>
            </a:r>
            <a:endParaRPr lang="en-US" sz="1250" dirty="0"/>
          </a:p>
        </p:txBody>
      </p:sp>
      <p:sp>
        <p:nvSpPr>
          <p:cNvPr id="15" name="Text 12"/>
          <p:cNvSpPr/>
          <p:nvPr/>
        </p:nvSpPr>
        <p:spPr>
          <a:xfrm>
            <a:off x="704088" y="216560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HR PDFs (some scanned Arabic), DOCX, HTML, XLSX</a:t>
            </a:r>
            <a:endParaRPr lang="en-US" sz="1000" dirty="0"/>
          </a:p>
        </p:txBody>
      </p:sp>
      <p:sp>
        <p:nvSpPr>
          <p:cNvPr id="16" name="Shape 13"/>
          <p:cNvSpPr/>
          <p:nvPr/>
        </p:nvSpPr>
        <p:spPr>
          <a:xfrm>
            <a:off x="502920" y="2948940"/>
            <a:ext cx="3246120" cy="914400"/>
          </a:xfrm>
          <a:prstGeom prst="rect">
            <a:avLst/>
          </a:prstGeom>
          <a:solidFill>
            <a:srgbClr val="F2F6F8"/>
          </a:solidFill>
          <a:ln w="9525">
            <a:solidFill>
              <a:srgbClr val="D9E2E8"/>
            </a:solidFill>
            <a:prstDash val="solid"/>
          </a:ln>
        </p:spPr>
      </p:sp>
      <p:sp>
        <p:nvSpPr>
          <p:cNvPr id="17" name="Shape 14"/>
          <p:cNvSpPr/>
          <p:nvPr/>
        </p:nvSpPr>
        <p:spPr>
          <a:xfrm>
            <a:off x="502920" y="2948940"/>
            <a:ext cx="64008" cy="914400"/>
          </a:xfrm>
          <a:prstGeom prst="rect">
            <a:avLst/>
          </a:prstGeom>
          <a:solidFill>
            <a:srgbClr val="29ABE2"/>
          </a:solidFill>
          <a:ln/>
        </p:spPr>
      </p:sp>
      <p:sp>
        <p:nvSpPr>
          <p:cNvPr id="18" name="Text 15"/>
          <p:cNvSpPr/>
          <p:nvPr/>
        </p:nvSpPr>
        <p:spPr>
          <a:xfrm>
            <a:off x="704088" y="302209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Changing circulars</a:t>
            </a:r>
            <a:endParaRPr lang="en-US" sz="1250" dirty="0"/>
          </a:p>
        </p:txBody>
      </p:sp>
      <p:sp>
        <p:nvSpPr>
          <p:cNvPr id="19" name="Text 16"/>
          <p:cNvSpPr/>
          <p:nvPr/>
        </p:nvSpPr>
        <p:spPr>
          <a:xfrm>
            <a:off x="704088" y="336956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Regulatory docs update over time — staleness tests</a:t>
            </a:r>
            <a:endParaRPr lang="en-US" sz="1000" dirty="0"/>
          </a:p>
        </p:txBody>
      </p:sp>
      <p:sp>
        <p:nvSpPr>
          <p:cNvPr id="20" name="Shape 17"/>
          <p:cNvSpPr/>
          <p:nvPr/>
        </p:nvSpPr>
        <p:spPr>
          <a:xfrm>
            <a:off x="502920" y="4152900"/>
            <a:ext cx="3246120" cy="914400"/>
          </a:xfrm>
          <a:prstGeom prst="rect">
            <a:avLst/>
          </a:prstGeom>
          <a:solidFill>
            <a:srgbClr val="F2F6F8"/>
          </a:solidFill>
          <a:ln w="9525">
            <a:solidFill>
              <a:srgbClr val="D9E2E8"/>
            </a:solidFill>
            <a:prstDash val="solid"/>
          </a:ln>
        </p:spPr>
      </p:sp>
      <p:sp>
        <p:nvSpPr>
          <p:cNvPr id="21" name="Shape 18"/>
          <p:cNvSpPr/>
          <p:nvPr/>
        </p:nvSpPr>
        <p:spPr>
          <a:xfrm>
            <a:off x="502920" y="4152900"/>
            <a:ext cx="64008" cy="914400"/>
          </a:xfrm>
          <a:prstGeom prst="rect">
            <a:avLst/>
          </a:prstGeom>
          <a:solidFill>
            <a:srgbClr val="F7941D"/>
          </a:solidFill>
          <a:ln/>
        </p:spPr>
      </p:sp>
      <p:sp>
        <p:nvSpPr>
          <p:cNvPr id="22" name="Text 19"/>
          <p:cNvSpPr/>
          <p:nvPr/>
        </p:nvSpPr>
        <p:spPr>
          <a:xfrm>
            <a:off x="704088" y="422605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Day 1: Ingest</a:t>
            </a:r>
            <a:endParaRPr lang="en-US" sz="1250" dirty="0"/>
          </a:p>
        </p:txBody>
      </p:sp>
      <p:sp>
        <p:nvSpPr>
          <p:cNvPr id="23" name="Text 20"/>
          <p:cNvSpPr/>
          <p:nvPr/>
        </p:nvSpPr>
        <p:spPr>
          <a:xfrm>
            <a:off x="704088" y="457352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Parse the messy corpus, chunk, attach metadata</a:t>
            </a:r>
            <a:endParaRPr lang="en-US" sz="1000" dirty="0"/>
          </a:p>
        </p:txBody>
      </p:sp>
      <p:sp>
        <p:nvSpPr>
          <p:cNvPr id="24" name="Shape 21"/>
          <p:cNvSpPr/>
          <p:nvPr/>
        </p:nvSpPr>
        <p:spPr>
          <a:xfrm>
            <a:off x="8439912" y="1744980"/>
            <a:ext cx="3246120" cy="914400"/>
          </a:xfrm>
          <a:prstGeom prst="rect">
            <a:avLst/>
          </a:prstGeom>
          <a:solidFill>
            <a:srgbClr val="F2F6F8"/>
          </a:solidFill>
          <a:ln w="9525">
            <a:solidFill>
              <a:srgbClr val="D9E2E8"/>
            </a:solidFill>
            <a:prstDash val="solid"/>
          </a:ln>
        </p:spPr>
      </p:sp>
      <p:sp>
        <p:nvSpPr>
          <p:cNvPr id="25" name="Shape 22"/>
          <p:cNvSpPr/>
          <p:nvPr/>
        </p:nvSpPr>
        <p:spPr>
          <a:xfrm>
            <a:off x="8439912" y="1744980"/>
            <a:ext cx="64008" cy="914400"/>
          </a:xfrm>
          <a:prstGeom prst="rect">
            <a:avLst/>
          </a:prstGeom>
          <a:solidFill>
            <a:srgbClr val="8CC63F"/>
          </a:solidFill>
          <a:ln/>
        </p:spPr>
      </p:sp>
      <p:sp>
        <p:nvSpPr>
          <p:cNvPr id="26" name="Text 23"/>
          <p:cNvSpPr/>
          <p:nvPr/>
        </p:nvSpPr>
        <p:spPr>
          <a:xfrm>
            <a:off x="8641080" y="181813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Day 2: Retrieve</a:t>
            </a:r>
            <a:endParaRPr lang="en-US" sz="1250" dirty="0"/>
          </a:p>
        </p:txBody>
      </p:sp>
      <p:sp>
        <p:nvSpPr>
          <p:cNvPr id="27" name="Text 24"/>
          <p:cNvSpPr/>
          <p:nvPr/>
        </p:nvSpPr>
        <p:spPr>
          <a:xfrm>
            <a:off x="8641080" y="216560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Qdrant index, hybrid search, reranking</a:t>
            </a:r>
            <a:endParaRPr lang="en-US" sz="1000" dirty="0"/>
          </a:p>
        </p:txBody>
      </p:sp>
      <p:sp>
        <p:nvSpPr>
          <p:cNvPr id="28" name="Shape 25"/>
          <p:cNvSpPr/>
          <p:nvPr/>
        </p:nvSpPr>
        <p:spPr>
          <a:xfrm>
            <a:off x="8439912" y="2948940"/>
            <a:ext cx="3246120" cy="914400"/>
          </a:xfrm>
          <a:prstGeom prst="rect">
            <a:avLst/>
          </a:prstGeom>
          <a:solidFill>
            <a:srgbClr val="F2F6F8"/>
          </a:solidFill>
          <a:ln w="9525">
            <a:solidFill>
              <a:srgbClr val="D9E2E8"/>
            </a:solidFill>
            <a:prstDash val="solid"/>
          </a:ln>
        </p:spPr>
      </p:sp>
      <p:sp>
        <p:nvSpPr>
          <p:cNvPr id="29" name="Shape 26"/>
          <p:cNvSpPr/>
          <p:nvPr/>
        </p:nvSpPr>
        <p:spPr>
          <a:xfrm>
            <a:off x="8439912" y="2948940"/>
            <a:ext cx="64008" cy="914400"/>
          </a:xfrm>
          <a:prstGeom prst="rect">
            <a:avLst/>
          </a:prstGeom>
          <a:solidFill>
            <a:srgbClr val="1D2A5C"/>
          </a:solidFill>
          <a:ln/>
        </p:spPr>
      </p:sp>
      <p:sp>
        <p:nvSpPr>
          <p:cNvPr id="30" name="Text 27"/>
          <p:cNvSpPr/>
          <p:nvPr/>
        </p:nvSpPr>
        <p:spPr>
          <a:xfrm>
            <a:off x="8641080" y="302209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Day 3: Trust</a:t>
            </a:r>
            <a:endParaRPr lang="en-US" sz="1250" dirty="0"/>
          </a:p>
        </p:txBody>
      </p:sp>
      <p:sp>
        <p:nvSpPr>
          <p:cNvPr id="31" name="Text 28"/>
          <p:cNvSpPr/>
          <p:nvPr/>
        </p:nvSpPr>
        <p:spPr>
          <a:xfrm>
            <a:off x="8641080" y="336956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Cited answers, refusal, RAGAS evaluation</a:t>
            </a:r>
            <a:endParaRPr lang="en-US" sz="1000" dirty="0"/>
          </a:p>
        </p:txBody>
      </p:sp>
      <p:sp>
        <p:nvSpPr>
          <p:cNvPr id="32" name="Shape 29"/>
          <p:cNvSpPr/>
          <p:nvPr/>
        </p:nvSpPr>
        <p:spPr>
          <a:xfrm>
            <a:off x="8439912" y="4152900"/>
            <a:ext cx="3246120" cy="914400"/>
          </a:xfrm>
          <a:prstGeom prst="rect">
            <a:avLst/>
          </a:prstGeom>
          <a:solidFill>
            <a:srgbClr val="F2F6F8"/>
          </a:solidFill>
          <a:ln w="9525">
            <a:solidFill>
              <a:srgbClr val="D9E2E8"/>
            </a:solidFill>
            <a:prstDash val="solid"/>
          </a:ln>
        </p:spPr>
      </p:sp>
      <p:sp>
        <p:nvSpPr>
          <p:cNvPr id="33" name="Shape 30"/>
          <p:cNvSpPr/>
          <p:nvPr/>
        </p:nvSpPr>
        <p:spPr>
          <a:xfrm>
            <a:off x="8439912" y="4152900"/>
            <a:ext cx="64008" cy="914400"/>
          </a:xfrm>
          <a:prstGeom prst="rect">
            <a:avLst/>
          </a:prstGeom>
          <a:solidFill>
            <a:srgbClr val="00A79D"/>
          </a:solidFill>
          <a:ln/>
        </p:spPr>
      </p:sp>
      <p:sp>
        <p:nvSpPr>
          <p:cNvPr id="34" name="Text 31"/>
          <p:cNvSpPr/>
          <p:nvPr/>
        </p:nvSpPr>
        <p:spPr>
          <a:xfrm>
            <a:off x="8641080" y="422605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Day 4: Advance</a:t>
            </a:r>
            <a:endParaRPr lang="en-US" sz="1250" dirty="0"/>
          </a:p>
        </p:txBody>
      </p:sp>
      <p:sp>
        <p:nvSpPr>
          <p:cNvPr id="35" name="Text 32"/>
          <p:cNvSpPr/>
          <p:nvPr/>
        </p:nvSpPr>
        <p:spPr>
          <a:xfrm>
            <a:off x="8641080" y="457352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Multi-hop patterns and the evaluated capstone</a:t>
            </a:r>
            <a:endParaRPr lang="en-US" sz="1000" dirty="0"/>
          </a:p>
        </p:txBody>
      </p:sp>
      <p:sp>
        <p:nvSpPr>
          <p:cNvPr id="36" name="Shape 33"/>
          <p:cNvSpPr/>
          <p:nvPr/>
        </p:nvSpPr>
        <p:spPr>
          <a:xfrm>
            <a:off x="4838548" y="2743200"/>
            <a:ext cx="2514600" cy="1325880"/>
          </a:xfrm>
          <a:prstGeom prst="ellipse">
            <a:avLst/>
          </a:prstGeom>
          <a:solidFill>
            <a:srgbClr val="1D2A5C"/>
          </a:solidFill>
          <a:ln w="19050">
            <a:solidFill>
              <a:srgbClr val="00A79D"/>
            </a:solidFill>
            <a:prstDash val="solid"/>
          </a:ln>
        </p:spPr>
      </p:sp>
      <p:sp>
        <p:nvSpPr>
          <p:cNvPr id="37" name="Text 34"/>
          <p:cNvSpPr/>
          <p:nvPr/>
        </p:nvSpPr>
        <p:spPr>
          <a:xfrm>
            <a:off x="4975708" y="2743200"/>
            <a:ext cx="2240280" cy="13258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Dalil (دليل) assistant</a:t>
            </a:r>
            <a:endParaRPr lang="en-US" sz="1400" dirty="0"/>
          </a:p>
        </p:txBody>
      </p:sp>
      <p:sp>
        <p:nvSpPr>
          <p:cNvPr id="38" name="Shape 35"/>
          <p:cNvSpPr/>
          <p:nvPr/>
        </p:nvSpPr>
        <p:spPr>
          <a:xfrm>
            <a:off x="502920" y="5394960"/>
            <a:ext cx="11183112" cy="777240"/>
          </a:xfrm>
          <a:prstGeom prst="rect">
            <a:avLst/>
          </a:prstGeom>
          <a:solidFill>
            <a:srgbClr val="E6F5F4"/>
          </a:solidFill>
          <a:ln/>
        </p:spPr>
      </p:sp>
      <p:sp>
        <p:nvSpPr>
          <p:cNvPr id="39" name="Text 36"/>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By Day 4 each participant owns a production-shaped RAG system with an evaluation harness — the same system shape they will extend with agents in SDA-AIE-311.</a:t>
            </a:r>
            <a:endParaRPr lang="en-US" sz="1050" dirty="0"/>
          </a:p>
        </p:txBody>
      </p:sp>
      <p:sp>
        <p:nvSpPr>
          <p:cNvPr id="40" name="Text 37"/>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41" name="Text 38"/>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Learning Outcomes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مخرجات التعلم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20418"/>
            <a:ext cx="402336" cy="402336"/>
          </a:xfrm>
          <a:prstGeom prst="rect">
            <a:avLst/>
          </a:prstGeom>
          <a:solidFill>
            <a:srgbClr val="00A79D"/>
          </a:solidFill>
          <a:ln/>
        </p:spPr>
      </p:sp>
      <p:sp>
        <p:nvSpPr>
          <p:cNvPr id="7" name="Text 4"/>
          <p:cNvSpPr/>
          <p:nvPr/>
        </p:nvSpPr>
        <p:spPr>
          <a:xfrm>
            <a:off x="502920" y="182041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1983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LO1   </a:t>
            </a:r>
            <a:pPr indent="0" marL="0">
              <a:buNone/>
            </a:pPr>
            <a:r>
              <a:rPr lang="en-US" sz="1350" dirty="0">
                <a:solidFill>
                  <a:srgbClr val="2B2B2B"/>
                </a:solidFill>
                <a:latin typeface="Calibri" pitchFamily="34" charset="0"/>
                <a:ea typeface="Calibri" pitchFamily="34" charset="-122"/>
                <a:cs typeface="Calibri" pitchFamily="34" charset="-120"/>
              </a:rPr>
              <a:t>Design end-to-end RAG architectures for enterprise knowledge bases</a:t>
            </a:r>
            <a:endParaRPr lang="en-US" sz="1200" dirty="0"/>
          </a:p>
        </p:txBody>
      </p:sp>
      <p:sp>
        <p:nvSpPr>
          <p:cNvPr id="9" name="Shape 6"/>
          <p:cNvSpPr/>
          <p:nvPr/>
        </p:nvSpPr>
        <p:spPr>
          <a:xfrm>
            <a:off x="502920" y="2608326"/>
            <a:ext cx="402336" cy="402336"/>
          </a:xfrm>
          <a:prstGeom prst="rect">
            <a:avLst/>
          </a:prstGeom>
          <a:solidFill>
            <a:srgbClr val="29ABE2"/>
          </a:solidFill>
          <a:ln/>
        </p:spPr>
      </p:sp>
      <p:sp>
        <p:nvSpPr>
          <p:cNvPr id="10" name="Text 7"/>
          <p:cNvSpPr/>
          <p:nvPr/>
        </p:nvSpPr>
        <p:spPr>
          <a:xfrm>
            <a:off x="502920" y="2608326"/>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507742"/>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LO2   </a:t>
            </a:r>
            <a:pPr indent="0" marL="0">
              <a:buNone/>
            </a:pPr>
            <a:r>
              <a:rPr lang="en-US" sz="1350" dirty="0">
                <a:solidFill>
                  <a:srgbClr val="2B2B2B"/>
                </a:solidFill>
                <a:latin typeface="Calibri" pitchFamily="34" charset="0"/>
                <a:ea typeface="Calibri" pitchFamily="34" charset="-122"/>
                <a:cs typeface="Calibri" pitchFamily="34" charset="-120"/>
              </a:rPr>
              <a:t>Implement ingestion, chunking, and embedding pipelines for heterogeneous documents</a:t>
            </a:r>
            <a:endParaRPr lang="en-US" sz="1200" dirty="0"/>
          </a:p>
        </p:txBody>
      </p:sp>
      <p:sp>
        <p:nvSpPr>
          <p:cNvPr id="12" name="Shape 9"/>
          <p:cNvSpPr/>
          <p:nvPr/>
        </p:nvSpPr>
        <p:spPr>
          <a:xfrm>
            <a:off x="502920" y="3396234"/>
            <a:ext cx="402336" cy="402336"/>
          </a:xfrm>
          <a:prstGeom prst="rect">
            <a:avLst/>
          </a:prstGeom>
          <a:solidFill>
            <a:srgbClr val="F7941D"/>
          </a:solidFill>
          <a:ln/>
        </p:spPr>
      </p:sp>
      <p:sp>
        <p:nvSpPr>
          <p:cNvPr id="13" name="Text 10"/>
          <p:cNvSpPr/>
          <p:nvPr/>
        </p:nvSpPr>
        <p:spPr>
          <a:xfrm>
            <a:off x="502920" y="339623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295650"/>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   </a:t>
            </a:r>
            <a:pPr indent="0" marL="0">
              <a:buNone/>
            </a:pPr>
            <a:r>
              <a:rPr lang="en-US" sz="1350" dirty="0">
                <a:solidFill>
                  <a:srgbClr val="2B2B2B"/>
                </a:solidFill>
                <a:latin typeface="Calibri" pitchFamily="34" charset="0"/>
                <a:ea typeface="Calibri" pitchFamily="34" charset="-122"/>
                <a:cs typeface="Calibri" pitchFamily="34" charset="-120"/>
              </a:rPr>
              <a:t>Develop retrieval stacks combining vector, keyword, and hybrid search with reranking</a:t>
            </a:r>
            <a:endParaRPr lang="en-US" sz="1200" dirty="0"/>
          </a:p>
        </p:txBody>
      </p:sp>
      <p:sp>
        <p:nvSpPr>
          <p:cNvPr id="15" name="Shape 12"/>
          <p:cNvSpPr/>
          <p:nvPr/>
        </p:nvSpPr>
        <p:spPr>
          <a:xfrm>
            <a:off x="502920" y="4184142"/>
            <a:ext cx="402336" cy="402336"/>
          </a:xfrm>
          <a:prstGeom prst="rect">
            <a:avLst/>
          </a:prstGeom>
          <a:solidFill>
            <a:srgbClr val="8CC63F"/>
          </a:solidFill>
          <a:ln/>
        </p:spPr>
      </p:sp>
      <p:sp>
        <p:nvSpPr>
          <p:cNvPr id="16" name="Text 13"/>
          <p:cNvSpPr/>
          <p:nvPr/>
        </p:nvSpPr>
        <p:spPr>
          <a:xfrm>
            <a:off x="502920" y="4184142"/>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083558"/>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   </a:t>
            </a:r>
            <a:pPr indent="0" marL="0">
              <a:buNone/>
            </a:pPr>
            <a:r>
              <a:rPr lang="en-US" sz="1350" dirty="0">
                <a:solidFill>
                  <a:srgbClr val="2B2B2B"/>
                </a:solidFill>
                <a:latin typeface="Calibri" pitchFamily="34" charset="0"/>
                <a:ea typeface="Calibri" pitchFamily="34" charset="-122"/>
                <a:cs typeface="Calibri" pitchFamily="34" charset="-120"/>
              </a:rPr>
              <a:t>Evaluate RAG quality using faithfulness, relevance, and answer-correctness metrics</a:t>
            </a:r>
            <a:endParaRPr lang="en-US" sz="1200" dirty="0"/>
          </a:p>
        </p:txBody>
      </p:sp>
      <p:sp>
        <p:nvSpPr>
          <p:cNvPr id="18" name="Shape 15"/>
          <p:cNvSpPr/>
          <p:nvPr/>
        </p:nvSpPr>
        <p:spPr>
          <a:xfrm>
            <a:off x="502920" y="4972050"/>
            <a:ext cx="402336" cy="402336"/>
          </a:xfrm>
          <a:prstGeom prst="rect">
            <a:avLst/>
          </a:prstGeom>
          <a:solidFill>
            <a:srgbClr val="1D2A5C"/>
          </a:solidFill>
          <a:ln/>
        </p:spPr>
      </p:sp>
      <p:sp>
        <p:nvSpPr>
          <p:cNvPr id="19" name="Text 16"/>
          <p:cNvSpPr/>
          <p:nvPr/>
        </p:nvSpPr>
        <p:spPr>
          <a:xfrm>
            <a:off x="502920" y="4972050"/>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4871466"/>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LO5   </a:t>
            </a:r>
            <a:pPr indent="0" marL="0">
              <a:buNone/>
            </a:pPr>
            <a:r>
              <a:rPr lang="en-US" sz="1350" dirty="0">
                <a:solidFill>
                  <a:srgbClr val="2B2B2B"/>
                </a:solidFill>
                <a:latin typeface="Calibri" pitchFamily="34" charset="0"/>
                <a:ea typeface="Calibri" pitchFamily="34" charset="-122"/>
                <a:cs typeface="Calibri" pitchFamily="34" charset="-120"/>
              </a:rPr>
              <a:t>Optimize retrieval parameters, context construction, and citation grounding</a:t>
            </a:r>
            <a:endParaRPr lang="en-US" sz="1200" dirty="0"/>
          </a:p>
        </p:txBody>
      </p:sp>
      <p:sp>
        <p:nvSpPr>
          <p:cNvPr id="21" name="Shape 18"/>
          <p:cNvSpPr/>
          <p:nvPr/>
        </p:nvSpPr>
        <p:spPr>
          <a:xfrm>
            <a:off x="502920" y="5759958"/>
            <a:ext cx="402336" cy="402336"/>
          </a:xfrm>
          <a:prstGeom prst="rect">
            <a:avLst/>
          </a:prstGeom>
          <a:solidFill>
            <a:srgbClr val="00A79D"/>
          </a:solidFill>
          <a:ln/>
        </p:spPr>
      </p:sp>
      <p:sp>
        <p:nvSpPr>
          <p:cNvPr id="22" name="Text 19"/>
          <p:cNvSpPr/>
          <p:nvPr/>
        </p:nvSpPr>
        <p:spPr>
          <a:xfrm>
            <a:off x="502920" y="575995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0"/>
          <p:cNvSpPr/>
          <p:nvPr/>
        </p:nvSpPr>
        <p:spPr>
          <a:xfrm>
            <a:off x="1143000" y="565937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LO6   </a:t>
            </a:r>
            <a:pPr indent="0" marL="0">
              <a:buNone/>
            </a:pPr>
            <a:r>
              <a:rPr lang="en-US" sz="1350" dirty="0">
                <a:solidFill>
                  <a:srgbClr val="2B2B2B"/>
                </a:solidFill>
                <a:latin typeface="Calibri" pitchFamily="34" charset="0"/>
                <a:ea typeface="Calibri" pitchFamily="34" charset="-122"/>
                <a:cs typeface="Calibri" pitchFamily="34" charset="-120"/>
              </a:rPr>
              <a:t>Validate systems against hallucination and stale-knowledge failure modes</a:t>
            </a:r>
            <a:endParaRPr lang="en-US" sz="1200" dirty="0"/>
          </a:p>
        </p:txBody>
      </p:sp>
      <p:sp>
        <p:nvSpPr>
          <p:cNvPr id="24" name="Text 21"/>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5" name="Text 22"/>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Four-Day Journey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رحلة الأيام الأربعة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2439162" cy="2880360"/>
          </a:xfrm>
          <a:prstGeom prst="rect">
            <a:avLst/>
          </a:prstGeom>
          <a:solidFill>
            <a:srgbClr val="F2F6F8"/>
          </a:solidFill>
          <a:ln w="9525">
            <a:solidFill>
              <a:srgbClr val="D9E2E8"/>
            </a:solidFill>
            <a:prstDash val="solid"/>
          </a:ln>
        </p:spPr>
      </p:sp>
      <p:sp>
        <p:nvSpPr>
          <p:cNvPr id="7" name="Shape 4"/>
          <p:cNvSpPr/>
          <p:nvPr/>
        </p:nvSpPr>
        <p:spPr>
          <a:xfrm>
            <a:off x="502920" y="1965960"/>
            <a:ext cx="243916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Day 1 · Ground</a:t>
            </a:r>
            <a:endParaRPr lang="en-US" sz="1350" dirty="0"/>
          </a:p>
        </p:txBody>
      </p:sp>
      <p:sp>
        <p:nvSpPr>
          <p:cNvPr id="10" name="Text 7"/>
          <p:cNvSpPr/>
          <p:nvPr/>
        </p:nvSpPr>
        <p:spPr>
          <a:xfrm>
            <a:off x="64008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RAG architecture vs fine-tuning; ingestion pipeline; naive baseline + failure gallery</a:t>
            </a:r>
            <a:endParaRPr lang="en-US" sz="1050" dirty="0"/>
          </a:p>
        </p:txBody>
      </p:sp>
      <p:sp>
        <p:nvSpPr>
          <p:cNvPr id="11" name="Shape 8"/>
          <p:cNvSpPr/>
          <p:nvPr/>
        </p:nvSpPr>
        <p:spPr>
          <a:xfrm>
            <a:off x="3024378" y="3268980"/>
            <a:ext cx="310896" cy="274320"/>
          </a:xfrm>
          <a:prstGeom prst="rightArrow">
            <a:avLst/>
          </a:prstGeom>
          <a:solidFill>
            <a:srgbClr val="00A79D"/>
          </a:solidFill>
          <a:ln/>
        </p:spPr>
      </p:sp>
      <p:sp>
        <p:nvSpPr>
          <p:cNvPr id="12" name="Shape 9"/>
          <p:cNvSpPr/>
          <p:nvPr/>
        </p:nvSpPr>
        <p:spPr>
          <a:xfrm>
            <a:off x="3417570" y="1965960"/>
            <a:ext cx="2439162" cy="2880360"/>
          </a:xfrm>
          <a:prstGeom prst="rect">
            <a:avLst/>
          </a:prstGeom>
          <a:solidFill>
            <a:srgbClr val="F2F6F8"/>
          </a:solidFill>
          <a:ln w="9525">
            <a:solidFill>
              <a:srgbClr val="D9E2E8"/>
            </a:solidFill>
            <a:prstDash val="solid"/>
          </a:ln>
        </p:spPr>
      </p:sp>
      <p:sp>
        <p:nvSpPr>
          <p:cNvPr id="13" name="Shape 10"/>
          <p:cNvSpPr/>
          <p:nvPr/>
        </p:nvSpPr>
        <p:spPr>
          <a:xfrm>
            <a:off x="3417570" y="1965960"/>
            <a:ext cx="2439162" cy="73152"/>
          </a:xfrm>
          <a:prstGeom prst="rect">
            <a:avLst/>
          </a:prstGeom>
          <a:solidFill>
            <a:srgbClr val="29ABE2"/>
          </a:solidFill>
          <a:ln/>
        </p:spPr>
      </p:sp>
      <p:sp>
        <p:nvSpPr>
          <p:cNvPr id="14" name="Text 11"/>
          <p:cNvSpPr/>
          <p:nvPr/>
        </p:nvSpPr>
        <p:spPr>
          <a:xfrm>
            <a:off x="355473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355473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Day 2 · Retrieve</a:t>
            </a:r>
            <a:endParaRPr lang="en-US" sz="1350" dirty="0"/>
          </a:p>
        </p:txBody>
      </p:sp>
      <p:sp>
        <p:nvSpPr>
          <p:cNvPr id="16" name="Text 13"/>
          <p:cNvSpPr/>
          <p:nvPr/>
        </p:nvSpPr>
        <p:spPr>
          <a:xfrm>
            <a:off x="355473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Embeddings and Qdrant; hybrid search with reranking beating dense-only retrieval</a:t>
            </a:r>
            <a:endParaRPr lang="en-US" sz="1050" dirty="0"/>
          </a:p>
        </p:txBody>
      </p:sp>
      <p:sp>
        <p:nvSpPr>
          <p:cNvPr id="17" name="Shape 14"/>
          <p:cNvSpPr/>
          <p:nvPr/>
        </p:nvSpPr>
        <p:spPr>
          <a:xfrm>
            <a:off x="5939028" y="3268980"/>
            <a:ext cx="310896" cy="274320"/>
          </a:xfrm>
          <a:prstGeom prst="rightArrow">
            <a:avLst/>
          </a:prstGeom>
          <a:solidFill>
            <a:srgbClr val="00A79D"/>
          </a:solidFill>
          <a:ln/>
        </p:spPr>
      </p:sp>
      <p:sp>
        <p:nvSpPr>
          <p:cNvPr id="18" name="Shape 15"/>
          <p:cNvSpPr/>
          <p:nvPr/>
        </p:nvSpPr>
        <p:spPr>
          <a:xfrm>
            <a:off x="6332220" y="1965960"/>
            <a:ext cx="2439162" cy="2880360"/>
          </a:xfrm>
          <a:prstGeom prst="rect">
            <a:avLst/>
          </a:prstGeom>
          <a:solidFill>
            <a:srgbClr val="F2F6F8"/>
          </a:solidFill>
          <a:ln w="9525">
            <a:solidFill>
              <a:srgbClr val="D9E2E8"/>
            </a:solidFill>
            <a:prstDash val="solid"/>
          </a:ln>
        </p:spPr>
      </p:sp>
      <p:sp>
        <p:nvSpPr>
          <p:cNvPr id="19" name="Shape 16"/>
          <p:cNvSpPr/>
          <p:nvPr/>
        </p:nvSpPr>
        <p:spPr>
          <a:xfrm>
            <a:off x="6332220" y="1965960"/>
            <a:ext cx="2439162" cy="73152"/>
          </a:xfrm>
          <a:prstGeom prst="rect">
            <a:avLst/>
          </a:prstGeom>
          <a:solidFill>
            <a:srgbClr val="F7941D"/>
          </a:solidFill>
          <a:ln/>
        </p:spPr>
      </p:sp>
      <p:sp>
        <p:nvSpPr>
          <p:cNvPr id="20" name="Text 17"/>
          <p:cNvSpPr/>
          <p:nvPr/>
        </p:nvSpPr>
        <p:spPr>
          <a:xfrm>
            <a:off x="646938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646938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Day 3 · Trust</a:t>
            </a:r>
            <a:endParaRPr lang="en-US" sz="1350" dirty="0"/>
          </a:p>
        </p:txBody>
      </p:sp>
      <p:sp>
        <p:nvSpPr>
          <p:cNvPr id="22" name="Text 19"/>
          <p:cNvSpPr/>
          <p:nvPr/>
        </p:nvSpPr>
        <p:spPr>
          <a:xfrm>
            <a:off x="646938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Cited, refusal-capable answers; RAGAS evaluation harness with regression baseline</a:t>
            </a:r>
            <a:endParaRPr lang="en-US" sz="1050" dirty="0"/>
          </a:p>
        </p:txBody>
      </p:sp>
      <p:sp>
        <p:nvSpPr>
          <p:cNvPr id="23" name="Shape 20"/>
          <p:cNvSpPr/>
          <p:nvPr/>
        </p:nvSpPr>
        <p:spPr>
          <a:xfrm>
            <a:off x="8853678" y="3268980"/>
            <a:ext cx="310896" cy="274320"/>
          </a:xfrm>
          <a:prstGeom prst="rightArrow">
            <a:avLst/>
          </a:prstGeom>
          <a:solidFill>
            <a:srgbClr val="00A79D"/>
          </a:solidFill>
          <a:ln/>
        </p:spPr>
      </p:sp>
      <p:sp>
        <p:nvSpPr>
          <p:cNvPr id="24" name="Shape 21"/>
          <p:cNvSpPr/>
          <p:nvPr/>
        </p:nvSpPr>
        <p:spPr>
          <a:xfrm>
            <a:off x="9246870" y="1965960"/>
            <a:ext cx="2439162" cy="2880360"/>
          </a:xfrm>
          <a:prstGeom prst="rect">
            <a:avLst/>
          </a:prstGeom>
          <a:solidFill>
            <a:srgbClr val="F2F6F8"/>
          </a:solidFill>
          <a:ln w="9525">
            <a:solidFill>
              <a:srgbClr val="D9E2E8"/>
            </a:solidFill>
            <a:prstDash val="solid"/>
          </a:ln>
        </p:spPr>
      </p:sp>
      <p:sp>
        <p:nvSpPr>
          <p:cNvPr id="25" name="Shape 22"/>
          <p:cNvSpPr/>
          <p:nvPr/>
        </p:nvSpPr>
        <p:spPr>
          <a:xfrm>
            <a:off x="9246870" y="1965960"/>
            <a:ext cx="2439162" cy="73152"/>
          </a:xfrm>
          <a:prstGeom prst="rect">
            <a:avLst/>
          </a:prstGeom>
          <a:solidFill>
            <a:srgbClr val="8CC63F"/>
          </a:solidFill>
          <a:ln/>
        </p:spPr>
      </p:sp>
      <p:sp>
        <p:nvSpPr>
          <p:cNvPr id="26" name="Text 23"/>
          <p:cNvSpPr/>
          <p:nvPr/>
        </p:nvSpPr>
        <p:spPr>
          <a:xfrm>
            <a:off x="938403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938403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Day 4 · Advance</a:t>
            </a:r>
            <a:endParaRPr lang="en-US" sz="1350" dirty="0"/>
          </a:p>
        </p:txBody>
      </p:sp>
      <p:sp>
        <p:nvSpPr>
          <p:cNvPr id="28" name="Text 25"/>
          <p:cNvSpPr/>
          <p:nvPr/>
        </p:nvSpPr>
        <p:spPr>
          <a:xfrm>
            <a:off x="938403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Multi-hop and agentic patterns; capstone assembly, demos, and evaluation report</a:t>
            </a:r>
            <a:endParaRPr lang="en-US" sz="1050" dirty="0"/>
          </a:p>
        </p:txBody>
      </p:sp>
      <p:sp>
        <p:nvSpPr>
          <p:cNvPr id="29" name="Shape 26"/>
          <p:cNvSpPr/>
          <p:nvPr/>
        </p:nvSpPr>
        <p:spPr>
          <a:xfrm>
            <a:off x="502920" y="5394960"/>
            <a:ext cx="11183112" cy="777240"/>
          </a:xfrm>
          <a:prstGeom prst="rect">
            <a:avLst/>
          </a:prstGeom>
          <a:solidFill>
            <a:srgbClr val="E6F5F4"/>
          </a:solidFill>
          <a:ln/>
        </p:spPr>
      </p:sp>
      <p:sp>
        <p:nvSpPr>
          <p:cNvPr id="30" name="Text 2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Each day hands its deliverable to the next: what breaks on Day 1 is measurably fixed by Day 4.</a:t>
            </a:r>
            <a:endParaRPr lang="en-US" sz="1050" dirty="0"/>
          </a:p>
        </p:txBody>
      </p:sp>
      <p:sp>
        <p:nvSpPr>
          <p:cNvPr id="31" name="Text 2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2" name="Text 2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Day-by-Day Schedule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الجدول اليومي للدورة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566928"/>
                <a:gridCol w="2843784"/>
                <a:gridCol w="3035808"/>
                <a:gridCol w="950976"/>
                <a:gridCol w="3785616"/>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Theme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Modules</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Theory/Lab</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Deliverable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1</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Ground the model in knowledge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M1 Architecture · M2 Ingestion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45 / 55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Naive baseline + ingestion pipeline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The retrieval stack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M3 Vector DBs · M4 Hybrid+Rerank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40 / 60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Qdrant index + hybrid reranked retriever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Retrieval to trusted answers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M5 Citations · M6 Evaluation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35 / 65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Cited pipeline + RAGAS baseline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Advanced patterns + production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M7 Multi-hop RAG · Capstone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25 / 75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Capstone demo + evaluation report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Theory shrinks and lab time grows every day — by Day 4 afternoon it is pure project work.</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Tools &amp; Platforms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الأدوات والمنصات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Qdrant / pgvector</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Vector databases: collections, payloads, filters — and when pgvector is the right call</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LangChain / LlamaIndex</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Orchestration frameworks for building the pipeline from ingestion to generation</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RAGAS</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Evaluation suite: faithfulness, relevancy, context precision/recall, correctness</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bge-m3 embeddings</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Multilingual embedding model — pre-downloaded, chosen for Arabic-English retrieval</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bge-reranker-v2-m3</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Cross-encoder reranker powering the two-stage retrieval budget in Lab 4</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Docker + LLM gateway</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Qdrant container plus an OpenAI-compatible gateway with per-participant keys</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Everything is pre-bundled and runs locally or in Codespaces — classroom bandwidth must never gate a lab.</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Assessment &amp; Certification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التقييم والشهادة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Continuous assessment through guided labs — seven labs, one per pipeline stage</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Two timed practicals: PA-1 retrieval diagnosis (Day 2), PA-2 hallucination triage (Day 3)</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Capstone: enterprise RAG project with a written evaluation report and a 6-minute live demo</a:t>
            </a:r>
            <a:endParaRPr lang="en-US" sz="1400" dirty="0"/>
          </a:p>
        </p:txBody>
      </p:sp>
      <p:sp>
        <p:nvSpPr>
          <p:cNvPr id="12" name="Text 9"/>
          <p:cNvSpPr/>
          <p:nvPr/>
        </p:nvSpPr>
        <p:spPr>
          <a:xfrm>
            <a:off x="1069848" y="2907792"/>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Rubric scored live, with your own RAGAS report open beside the demo</a:t>
            </a:r>
            <a:endParaRPr lang="en-US" sz="1150" dirty="0"/>
          </a:p>
        </p:txBody>
      </p:sp>
      <p:sp>
        <p:nvSpPr>
          <p:cNvPr id="13" name="Shape 10"/>
          <p:cNvSpPr/>
          <p:nvPr/>
        </p:nvSpPr>
        <p:spPr>
          <a:xfrm>
            <a:off x="8092440" y="1572768"/>
            <a:ext cx="3593592" cy="4782312"/>
          </a:xfrm>
          <a:prstGeom prst="rect">
            <a:avLst/>
          </a:prstGeom>
          <a:solidFill>
            <a:srgbClr val="E6F5F4"/>
          </a:solidFill>
          <a:ln/>
        </p:spPr>
      </p:sp>
      <p:sp>
        <p:nvSpPr>
          <p:cNvPr id="14" name="Text 11"/>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STACKABILITY</a:t>
            </a:r>
            <a:endParaRPr lang="en-US" sz="1100" dirty="0"/>
          </a:p>
        </p:txBody>
      </p:sp>
      <p:sp>
        <p:nvSpPr>
          <p:cNvPr id="15" name="Text 12"/>
          <p:cNvSpPr/>
          <p:nvPr/>
        </p:nvSpPr>
        <p:spPr>
          <a:xfrm>
            <a:off x="8293608" y="2084832"/>
            <a:ext cx="3191256" cy="412394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Earns the RAG badge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Counts toward AI Engineer Specialist Certificate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Counts toward GenAI Engineering micro-specialization</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Prerequisite for Agentic AI Systems Engineering</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Next course: SDA-AIE-311</a:t>
            </a:r>
            <a:endParaRPr lang="en-US" sz="1100" dirty="0"/>
          </a:p>
        </p:txBody>
      </p:sp>
      <p:sp>
        <p:nvSpPr>
          <p:cNvPr id="16" name="Text 1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7" name="Text 1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3" name="Shape 0"/>
          <p:cNvSpPr/>
          <p:nvPr/>
        </p:nvSpPr>
        <p:spPr>
          <a:xfrm>
            <a:off x="502920" y="766953"/>
            <a:ext cx="301752" cy="264033"/>
          </a:xfrm>
          <a:prstGeom prst="triangle">
            <a:avLst/>
          </a:prstGeom>
          <a:solidFill>
            <a:srgbClr val="00A79D"/>
          </a:solidFill>
          <a:ln/>
        </p:spPr>
      </p:sp>
      <p:sp>
        <p:nvSpPr>
          <p:cNvPr id="4" name="Shape 1"/>
          <p:cNvSpPr/>
          <p:nvPr/>
        </p:nvSpPr>
        <p:spPr>
          <a:xfrm flipV="1">
            <a:off x="832104" y="634937"/>
            <a:ext cx="301752" cy="264033"/>
          </a:xfrm>
          <a:prstGeom prst="triangle">
            <a:avLst/>
          </a:prstGeom>
          <a:solidFill>
            <a:srgbClr val="29ABE2"/>
          </a:solidFill>
          <a:ln/>
        </p:spPr>
      </p:sp>
      <p:sp>
        <p:nvSpPr>
          <p:cNvPr id="5" name="Shape 2"/>
          <p:cNvSpPr/>
          <p:nvPr/>
        </p:nvSpPr>
        <p:spPr>
          <a:xfrm>
            <a:off x="832104" y="898970"/>
            <a:ext cx="301752" cy="264033"/>
          </a:xfrm>
          <a:prstGeom prst="triangle">
            <a:avLst/>
          </a:prstGeom>
          <a:solidFill>
            <a:srgbClr val="F7941D"/>
          </a:solidFill>
          <a:ln/>
        </p:spPr>
      </p:sp>
      <p:sp>
        <p:nvSpPr>
          <p:cNvPr id="6" name="Shape 3"/>
          <p:cNvSpPr/>
          <p:nvPr/>
        </p:nvSpPr>
        <p:spPr>
          <a:xfrm>
            <a:off x="1161288" y="502920"/>
            <a:ext cx="301752" cy="264033"/>
          </a:xfrm>
          <a:prstGeom prst="triangle">
            <a:avLst/>
          </a:prstGeom>
          <a:solidFill>
            <a:srgbClr val="8CC63F"/>
          </a:solidFill>
          <a:ln/>
        </p:spPr>
      </p:sp>
      <p:sp>
        <p:nvSpPr>
          <p:cNvPr id="7" name="Shape 4"/>
          <p:cNvSpPr/>
          <p:nvPr/>
        </p:nvSpPr>
        <p:spPr>
          <a:xfrm flipV="1">
            <a:off x="1161288" y="766953"/>
            <a:ext cx="301752" cy="264033"/>
          </a:xfrm>
          <a:prstGeom prst="triangle">
            <a:avLst/>
          </a:prstGeom>
          <a:solidFill>
            <a:srgbClr val="1D2A5C"/>
          </a:solidFill>
          <a:ln/>
        </p:spPr>
      </p:sp>
      <p:sp>
        <p:nvSpPr>
          <p:cNvPr id="8" name="Shape 5"/>
          <p:cNvSpPr/>
          <p:nvPr/>
        </p:nvSpPr>
        <p:spPr>
          <a:xfrm>
            <a:off x="1490472" y="634937"/>
            <a:ext cx="301752" cy="264033"/>
          </a:xfrm>
          <a:prstGeom prst="triangle">
            <a:avLst/>
          </a:prstGeom>
          <a:solidFill>
            <a:srgbClr val="00A79D"/>
          </a:solidFill>
          <a:ln/>
        </p:spPr>
      </p:sp>
      <p:sp>
        <p:nvSpPr>
          <p:cNvPr id="9" name="Shape 6"/>
          <p:cNvSpPr/>
          <p:nvPr/>
        </p:nvSpPr>
        <p:spPr>
          <a:xfrm flipV="1">
            <a:off x="1490472" y="898970"/>
            <a:ext cx="301752" cy="264033"/>
          </a:xfrm>
          <a:prstGeom prst="triangle">
            <a:avLst/>
          </a:prstGeom>
          <a:solidFill>
            <a:srgbClr val="29ABE2"/>
          </a:solidFill>
          <a:ln/>
        </p:spPr>
      </p:sp>
      <p:sp>
        <p:nvSpPr>
          <p:cNvPr id="10" name="Shape 7"/>
          <p:cNvSpPr/>
          <p:nvPr/>
        </p:nvSpPr>
        <p:spPr>
          <a:xfrm>
            <a:off x="1819656" y="766953"/>
            <a:ext cx="301752" cy="264033"/>
          </a:xfrm>
          <a:prstGeom prst="triangle">
            <a:avLst/>
          </a:prstGeom>
          <a:solidFill>
            <a:srgbClr val="F7941D"/>
          </a:solidFill>
          <a:ln/>
        </p:spPr>
      </p:sp>
      <p:sp>
        <p:nvSpPr>
          <p:cNvPr id="11" name="Text 8"/>
          <p:cNvSpPr/>
          <p:nvPr/>
        </p:nvSpPr>
        <p:spPr>
          <a:xfrm>
            <a:off x="1097280" y="2103120"/>
            <a:ext cx="9994392" cy="1828800"/>
          </a:xfrm>
          <a:prstGeom prst="rect">
            <a:avLst/>
          </a:prstGeom>
          <a:noFill/>
          <a:ln/>
        </p:spPr>
        <p:txBody>
          <a:bodyPr wrap="square" rtlCol="0" anchor="ctr"/>
          <a:lstStyle/>
          <a:p>
            <a:pPr algn="ctr" indent="0" marL="0">
              <a:buNone/>
            </a:pPr>
            <a:r>
              <a:rPr lang="en-US" sz="2700" b="1" dirty="0">
                <a:solidFill>
                  <a:srgbClr val="1D2A5C"/>
                </a:solidFill>
                <a:latin typeface="Calibri" pitchFamily="34" charset="0"/>
                <a:ea typeface="Calibri" pitchFamily="34" charset="-122"/>
                <a:cs typeface="Calibri" pitchFamily="34" charset="-120"/>
              </a:rPr>
              <a:t>A RAG system earns trust only when it proves — with numbers — that its answers are faithful, relevant, and cited.</a:t>
            </a:r>
            <a:endParaRPr lang="en-US" sz="2700" dirty="0"/>
          </a:p>
        </p:txBody>
      </p:sp>
      <p:sp>
        <p:nvSpPr>
          <p:cNvPr id="12" name="Text 9"/>
          <p:cNvSpPr/>
          <p:nvPr/>
        </p:nvSpPr>
        <p:spPr>
          <a:xfrm>
            <a:off x="1097280" y="4041648"/>
            <a:ext cx="9994392" cy="502920"/>
          </a:xfrm>
          <a:prstGeom prst="rect">
            <a:avLst/>
          </a:prstGeom>
          <a:noFill/>
          <a:ln/>
        </p:spPr>
        <p:txBody>
          <a:bodyPr wrap="square" rtlCol="0" anchor="ctr"/>
          <a:lstStyle/>
          <a:p>
            <a:pPr algn="ctr" indent="0" marL="0">
              <a:buNone/>
            </a:pPr>
            <a:r>
              <a:rPr lang="en-US" sz="1500" dirty="0">
                <a:solidFill>
                  <a:srgbClr val="00A79D"/>
                </a:solidFill>
                <a:latin typeface="Calibri" pitchFamily="34" charset="0"/>
                <a:ea typeface="Calibri" pitchFamily="34" charset="-122"/>
                <a:cs typeface="Calibri" pitchFamily="34" charset="-120"/>
              </a:rPr>
              <a:t>لا يُوثَق بالنظام إلا حين يُثبت بالأرقام أن إجاباته أمينة وذات صلة ومُوثَّقة</a:t>
            </a:r>
            <a:endParaRPr lang="en-US" sz="1500" dirty="0"/>
          </a:p>
        </p:txBody>
      </p:sp>
      <p:sp>
        <p:nvSpPr>
          <p:cNvPr id="13" name="Text 10"/>
          <p:cNvSpPr/>
          <p:nvPr/>
        </p:nvSpPr>
        <p:spPr>
          <a:xfrm>
            <a:off x="1097280" y="4663440"/>
            <a:ext cx="9994392" cy="365760"/>
          </a:xfrm>
          <a:prstGeom prst="rect">
            <a:avLst/>
          </a:prstGeom>
          <a:noFill/>
          <a:ln/>
        </p:spPr>
        <p:txBody>
          <a:bodyPr wrap="square" rtlCol="0" anchor="ctr"/>
          <a:lstStyle/>
          <a:p>
            <a:pPr algn="ctr" indent="0" marL="0">
              <a:buNone/>
            </a:pPr>
            <a:r>
              <a:rPr lang="en-US" sz="1200" dirty="0">
                <a:solidFill>
                  <a:srgbClr val="6E7B8A"/>
                </a:solidFill>
                <a:latin typeface="Calibri" pitchFamily="34" charset="0"/>
                <a:ea typeface="Calibri" pitchFamily="34" charset="-122"/>
                <a:cs typeface="Calibri" pitchFamily="34" charset="-120"/>
              </a:rPr>
              <a:t>— SDA-AIE-214 · Course Principle</a:t>
            </a:r>
            <a:endParaRPr lang="en-US" sz="1200" dirty="0"/>
          </a:p>
        </p:txBody>
      </p:sp>
      <p:sp>
        <p:nvSpPr>
          <p:cNvPr id="14" name="Shape 11"/>
          <p:cNvSpPr/>
          <p:nvPr/>
        </p:nvSpPr>
        <p:spPr>
          <a:xfrm>
            <a:off x="5413248" y="5303520"/>
            <a:ext cx="1371600" cy="45720"/>
          </a:xfrm>
          <a:prstGeom prst="rect">
            <a:avLst/>
          </a:prstGeom>
          <a:solidFill>
            <a:srgbClr val="00A79D"/>
          </a:solidFill>
          <a:ln/>
        </p:spPr>
      </p:sp>
      <p:sp>
        <p:nvSpPr>
          <p:cNvPr id="15" name="Text 1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6" name="Text 1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1 — Ground the Model in Knowledge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الأول — تأسيس النموذج على المعرفة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1481328" y="1170432"/>
            <a:ext cx="960120" cy="274320"/>
          </a:xfrm>
          <a:prstGeom prst="roundRect">
            <a:avLst>
              <a:gd name="adj" fmla="val 20000"/>
            </a:avLst>
          </a:prstGeom>
          <a:solidFill>
            <a:srgbClr val="1D2A5C"/>
          </a:solidFill>
          <a:ln/>
        </p:spPr>
      </p:sp>
      <p:sp>
        <p:nvSpPr>
          <p:cNvPr id="7" name="Text 4"/>
          <p:cNvSpPr/>
          <p:nvPr/>
        </p:nvSpPr>
        <p:spPr>
          <a:xfrm>
            <a:off x="1481328" y="1170432"/>
            <a:ext cx="960120" cy="27432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DAY 1</a:t>
            </a:r>
            <a:endParaRPr lang="en-US" sz="1000" dirty="0"/>
          </a:p>
        </p:txBody>
      </p:sp>
      <p:sp>
        <p:nvSpPr>
          <p:cNvPr id="8" name="Shape 5"/>
          <p:cNvSpPr/>
          <p:nvPr/>
        </p:nvSpPr>
        <p:spPr>
          <a:xfrm>
            <a:off x="502920" y="1645920"/>
            <a:ext cx="11183112" cy="548640"/>
          </a:xfrm>
          <a:prstGeom prst="rect">
            <a:avLst/>
          </a:prstGeom>
          <a:solidFill>
            <a:srgbClr val="F2F6F8"/>
          </a:solidFill>
          <a:ln w="9525">
            <a:solidFill>
              <a:srgbClr val="D9E2E8"/>
            </a:solidFill>
            <a:prstDash val="solid"/>
          </a:ln>
        </p:spPr>
      </p:sp>
      <p:sp>
        <p:nvSpPr>
          <p:cNvPr id="9" name="Text 6"/>
          <p:cNvSpPr/>
          <p:nvPr/>
        </p:nvSpPr>
        <p:spPr>
          <a:xfrm>
            <a:off x="731520" y="16459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1</a:t>
            </a:r>
            <a:endParaRPr lang="en-US" sz="1250" dirty="0"/>
          </a:p>
        </p:txBody>
      </p:sp>
      <p:sp>
        <p:nvSpPr>
          <p:cNvPr id="10" name="Text 7"/>
          <p:cNvSpPr/>
          <p:nvPr/>
        </p:nvSpPr>
        <p:spPr>
          <a:xfrm>
            <a:off x="2423160" y="16459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Why LLMs fail on enterprise knowledge + course kickoff</a:t>
            </a:r>
            <a:endParaRPr lang="en-US" sz="1250" dirty="0"/>
          </a:p>
        </p:txBody>
      </p:sp>
      <p:sp>
        <p:nvSpPr>
          <p:cNvPr id="11" name="Shape 8"/>
          <p:cNvSpPr/>
          <p:nvPr/>
        </p:nvSpPr>
        <p:spPr>
          <a:xfrm>
            <a:off x="9784080" y="1773936"/>
            <a:ext cx="1691640" cy="292608"/>
          </a:xfrm>
          <a:prstGeom prst="roundRect">
            <a:avLst>
              <a:gd name="adj" fmla="val 15625"/>
            </a:avLst>
          </a:prstGeom>
          <a:solidFill>
            <a:srgbClr val="E6F5F4"/>
          </a:solidFill>
          <a:ln/>
        </p:spPr>
      </p:sp>
      <p:sp>
        <p:nvSpPr>
          <p:cNvPr id="12" name="Text 9"/>
          <p:cNvSpPr/>
          <p:nvPr/>
        </p:nvSpPr>
        <p:spPr>
          <a:xfrm>
            <a:off x="9784080" y="177393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13" name="Shape 10"/>
          <p:cNvSpPr/>
          <p:nvPr/>
        </p:nvSpPr>
        <p:spPr>
          <a:xfrm>
            <a:off x="502920" y="2286000"/>
            <a:ext cx="11183112" cy="548640"/>
          </a:xfrm>
          <a:prstGeom prst="rect">
            <a:avLst/>
          </a:prstGeom>
          <a:solidFill>
            <a:srgbClr val="FFFFFF"/>
          </a:solidFill>
          <a:ln w="9525">
            <a:solidFill>
              <a:srgbClr val="D9E2E8"/>
            </a:solidFill>
            <a:prstDash val="solid"/>
          </a:ln>
        </p:spPr>
      </p:sp>
      <p:sp>
        <p:nvSpPr>
          <p:cNvPr id="14" name="Text 11"/>
          <p:cNvSpPr/>
          <p:nvPr/>
        </p:nvSpPr>
        <p:spPr>
          <a:xfrm>
            <a:off x="731520" y="228600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2</a:t>
            </a:r>
            <a:endParaRPr lang="en-US" sz="1250" dirty="0"/>
          </a:p>
        </p:txBody>
      </p:sp>
      <p:sp>
        <p:nvSpPr>
          <p:cNvPr id="15" name="Text 12"/>
          <p:cNvSpPr/>
          <p:nvPr/>
        </p:nvSpPr>
        <p:spPr>
          <a:xfrm>
            <a:off x="2423160" y="228600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M1: RAG architecture &amp; the fine-tuning decision</a:t>
            </a:r>
            <a:endParaRPr lang="en-US" sz="1250" dirty="0"/>
          </a:p>
        </p:txBody>
      </p:sp>
      <p:sp>
        <p:nvSpPr>
          <p:cNvPr id="16" name="Shape 13"/>
          <p:cNvSpPr/>
          <p:nvPr/>
        </p:nvSpPr>
        <p:spPr>
          <a:xfrm>
            <a:off x="9784080" y="2414016"/>
            <a:ext cx="1691640" cy="292608"/>
          </a:xfrm>
          <a:prstGeom prst="roundRect">
            <a:avLst>
              <a:gd name="adj" fmla="val 15625"/>
            </a:avLst>
          </a:prstGeom>
          <a:solidFill>
            <a:srgbClr val="E6F5F4"/>
          </a:solidFill>
          <a:ln/>
        </p:spPr>
      </p:sp>
      <p:sp>
        <p:nvSpPr>
          <p:cNvPr id="17" name="Text 14"/>
          <p:cNvSpPr/>
          <p:nvPr/>
        </p:nvSpPr>
        <p:spPr>
          <a:xfrm>
            <a:off x="9784080" y="241401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18" name="Shape 15"/>
          <p:cNvSpPr/>
          <p:nvPr/>
        </p:nvSpPr>
        <p:spPr>
          <a:xfrm>
            <a:off x="502920" y="2926080"/>
            <a:ext cx="11183112" cy="548640"/>
          </a:xfrm>
          <a:prstGeom prst="rect">
            <a:avLst/>
          </a:prstGeom>
          <a:solidFill>
            <a:srgbClr val="F2F6F8"/>
          </a:solidFill>
          <a:ln w="9525">
            <a:solidFill>
              <a:srgbClr val="D9E2E8"/>
            </a:solidFill>
            <a:prstDash val="solid"/>
          </a:ln>
        </p:spPr>
      </p:sp>
      <p:sp>
        <p:nvSpPr>
          <p:cNvPr id="19" name="Text 16"/>
          <p:cNvSpPr/>
          <p:nvPr/>
        </p:nvSpPr>
        <p:spPr>
          <a:xfrm>
            <a:off x="731520" y="292608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3</a:t>
            </a:r>
            <a:endParaRPr lang="en-US" sz="1250" dirty="0"/>
          </a:p>
        </p:txBody>
      </p:sp>
      <p:sp>
        <p:nvSpPr>
          <p:cNvPr id="20" name="Text 17"/>
          <p:cNvSpPr/>
          <p:nvPr/>
        </p:nvSpPr>
        <p:spPr>
          <a:xfrm>
            <a:off x="2423160" y="292608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1 — Naive RAG baseline &amp; failure gallery</a:t>
            </a:r>
            <a:endParaRPr lang="en-US" sz="1250" dirty="0"/>
          </a:p>
        </p:txBody>
      </p:sp>
      <p:sp>
        <p:nvSpPr>
          <p:cNvPr id="21" name="Shape 18"/>
          <p:cNvSpPr/>
          <p:nvPr/>
        </p:nvSpPr>
        <p:spPr>
          <a:xfrm>
            <a:off x="9784080" y="3054096"/>
            <a:ext cx="1691640" cy="292608"/>
          </a:xfrm>
          <a:prstGeom prst="roundRect">
            <a:avLst>
              <a:gd name="adj" fmla="val 15625"/>
            </a:avLst>
          </a:prstGeom>
          <a:solidFill>
            <a:srgbClr val="FEF3E3"/>
          </a:solidFill>
          <a:ln/>
        </p:spPr>
      </p:sp>
      <p:sp>
        <p:nvSpPr>
          <p:cNvPr id="22" name="Text 19"/>
          <p:cNvSpPr/>
          <p:nvPr/>
        </p:nvSpPr>
        <p:spPr>
          <a:xfrm>
            <a:off x="9784080" y="305409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23" name="Shape 20"/>
          <p:cNvSpPr/>
          <p:nvPr/>
        </p:nvSpPr>
        <p:spPr>
          <a:xfrm>
            <a:off x="502920" y="3566160"/>
            <a:ext cx="11183112" cy="548640"/>
          </a:xfrm>
          <a:prstGeom prst="rect">
            <a:avLst/>
          </a:prstGeom>
          <a:solidFill>
            <a:srgbClr val="FFFFFF"/>
          </a:solidFill>
          <a:ln w="9525">
            <a:solidFill>
              <a:srgbClr val="D9E2E8"/>
            </a:solidFill>
            <a:prstDash val="solid"/>
          </a:ln>
        </p:spPr>
      </p:sp>
      <p:sp>
        <p:nvSpPr>
          <p:cNvPr id="24" name="Text 21"/>
          <p:cNvSpPr/>
          <p:nvPr/>
        </p:nvSpPr>
        <p:spPr>
          <a:xfrm>
            <a:off x="731520" y="356616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Midday</a:t>
            </a:r>
            <a:endParaRPr lang="en-US" sz="1250" dirty="0"/>
          </a:p>
        </p:txBody>
      </p:sp>
      <p:sp>
        <p:nvSpPr>
          <p:cNvPr id="25" name="Text 22"/>
          <p:cNvSpPr/>
          <p:nvPr/>
        </p:nvSpPr>
        <p:spPr>
          <a:xfrm>
            <a:off x="2423160" y="3566160"/>
            <a:ext cx="7086600" cy="548640"/>
          </a:xfrm>
          <a:prstGeom prst="rect">
            <a:avLst/>
          </a:prstGeom>
          <a:noFill/>
          <a:ln/>
        </p:spPr>
        <p:txBody>
          <a:bodyPr wrap="square" rtlCol="0" anchor="ctr"/>
          <a:lstStyle/>
          <a:p>
            <a:pPr indent="0" marL="0">
              <a:buNone/>
            </a:pPr>
            <a:r>
              <a:rPr lang="en-US" sz="1250" dirty="0">
                <a:solidFill>
                  <a:srgbClr val="6E7B8A"/>
                </a:solidFill>
                <a:latin typeface="Calibri" pitchFamily="34" charset="0"/>
                <a:ea typeface="Calibri" pitchFamily="34" charset="-122"/>
                <a:cs typeface="Calibri" pitchFamily="34" charset="-120"/>
              </a:rPr>
              <a:t>Lunch &amp; Dhuhr prayer break</a:t>
            </a:r>
            <a:endParaRPr lang="en-US" sz="1250" dirty="0"/>
          </a:p>
        </p:txBody>
      </p:sp>
      <p:sp>
        <p:nvSpPr>
          <p:cNvPr id="26" name="Shape 23"/>
          <p:cNvSpPr/>
          <p:nvPr/>
        </p:nvSpPr>
        <p:spPr>
          <a:xfrm>
            <a:off x="9784080" y="3694176"/>
            <a:ext cx="1691640" cy="292608"/>
          </a:xfrm>
          <a:prstGeom prst="roundRect">
            <a:avLst>
              <a:gd name="adj" fmla="val 15625"/>
            </a:avLst>
          </a:prstGeom>
          <a:solidFill>
            <a:srgbClr val="F2F6F8"/>
          </a:solidFill>
          <a:ln/>
        </p:spPr>
      </p:sp>
      <p:sp>
        <p:nvSpPr>
          <p:cNvPr id="27" name="Text 24"/>
          <p:cNvSpPr/>
          <p:nvPr/>
        </p:nvSpPr>
        <p:spPr>
          <a:xfrm>
            <a:off x="9784080" y="3694176"/>
            <a:ext cx="1691640" cy="292608"/>
          </a:xfrm>
          <a:prstGeom prst="rect">
            <a:avLst/>
          </a:prstGeom>
          <a:noFill/>
          <a:ln/>
        </p:spPr>
        <p:txBody>
          <a:bodyPr wrap="square" rtlCol="0" anchor="ctr"/>
          <a:lstStyle/>
          <a:p>
            <a:pPr algn="ctr" indent="0" marL="0">
              <a:buNone/>
            </a:pPr>
            <a:r>
              <a:rPr lang="en-US" sz="950" b="1" spc="150" kern="0" dirty="0">
                <a:solidFill>
                  <a:srgbClr val="6E7B8A"/>
                </a:solidFill>
                <a:latin typeface="Calibri" pitchFamily="34" charset="0"/>
                <a:ea typeface="Calibri" pitchFamily="34" charset="-122"/>
                <a:cs typeface="Calibri" pitchFamily="34" charset="-120"/>
              </a:rPr>
              <a:t>BREAK</a:t>
            </a:r>
            <a:endParaRPr lang="en-US" sz="950" dirty="0"/>
          </a:p>
        </p:txBody>
      </p:sp>
      <p:sp>
        <p:nvSpPr>
          <p:cNvPr id="28" name="Shape 25"/>
          <p:cNvSpPr/>
          <p:nvPr/>
        </p:nvSpPr>
        <p:spPr>
          <a:xfrm>
            <a:off x="502920" y="4206240"/>
            <a:ext cx="11183112" cy="548640"/>
          </a:xfrm>
          <a:prstGeom prst="rect">
            <a:avLst/>
          </a:prstGeom>
          <a:solidFill>
            <a:srgbClr val="F2F6F8"/>
          </a:solidFill>
          <a:ln w="9525">
            <a:solidFill>
              <a:srgbClr val="D9E2E8"/>
            </a:solidFill>
            <a:prstDash val="solid"/>
          </a:ln>
        </p:spPr>
      </p:sp>
      <p:sp>
        <p:nvSpPr>
          <p:cNvPr id="29" name="Text 26"/>
          <p:cNvSpPr/>
          <p:nvPr/>
        </p:nvSpPr>
        <p:spPr>
          <a:xfrm>
            <a:off x="731520" y="420624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4</a:t>
            </a:r>
            <a:endParaRPr lang="en-US" sz="1250" dirty="0"/>
          </a:p>
        </p:txBody>
      </p:sp>
      <p:sp>
        <p:nvSpPr>
          <p:cNvPr id="30" name="Text 27"/>
          <p:cNvSpPr/>
          <p:nvPr/>
        </p:nvSpPr>
        <p:spPr>
          <a:xfrm>
            <a:off x="2423160" y="420624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M2: Ingestion, parsing &amp; chunking strategies</a:t>
            </a:r>
            <a:endParaRPr lang="en-US" sz="1250" dirty="0"/>
          </a:p>
        </p:txBody>
      </p:sp>
      <p:sp>
        <p:nvSpPr>
          <p:cNvPr id="31" name="Shape 28"/>
          <p:cNvSpPr/>
          <p:nvPr/>
        </p:nvSpPr>
        <p:spPr>
          <a:xfrm>
            <a:off x="9784080" y="4334256"/>
            <a:ext cx="1691640" cy="292608"/>
          </a:xfrm>
          <a:prstGeom prst="roundRect">
            <a:avLst>
              <a:gd name="adj" fmla="val 15625"/>
            </a:avLst>
          </a:prstGeom>
          <a:solidFill>
            <a:srgbClr val="E6F5F4"/>
          </a:solidFill>
          <a:ln/>
        </p:spPr>
      </p:sp>
      <p:sp>
        <p:nvSpPr>
          <p:cNvPr id="32" name="Text 29"/>
          <p:cNvSpPr/>
          <p:nvPr/>
        </p:nvSpPr>
        <p:spPr>
          <a:xfrm>
            <a:off x="9784080" y="433425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33" name="Shape 30"/>
          <p:cNvSpPr/>
          <p:nvPr/>
        </p:nvSpPr>
        <p:spPr>
          <a:xfrm>
            <a:off x="502920" y="4846320"/>
            <a:ext cx="11183112" cy="548640"/>
          </a:xfrm>
          <a:prstGeom prst="rect">
            <a:avLst/>
          </a:prstGeom>
          <a:solidFill>
            <a:srgbClr val="FFFFFF"/>
          </a:solidFill>
          <a:ln w="9525">
            <a:solidFill>
              <a:srgbClr val="D9E2E8"/>
            </a:solidFill>
            <a:prstDash val="solid"/>
          </a:ln>
        </p:spPr>
      </p:sp>
      <p:sp>
        <p:nvSpPr>
          <p:cNvPr id="34" name="Text 31"/>
          <p:cNvSpPr/>
          <p:nvPr/>
        </p:nvSpPr>
        <p:spPr>
          <a:xfrm>
            <a:off x="731520" y="48463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5</a:t>
            </a:r>
            <a:endParaRPr lang="en-US" sz="1250" dirty="0"/>
          </a:p>
        </p:txBody>
      </p:sp>
      <p:sp>
        <p:nvSpPr>
          <p:cNvPr id="35" name="Text 32"/>
          <p:cNvSpPr/>
          <p:nvPr/>
        </p:nvSpPr>
        <p:spPr>
          <a:xfrm>
            <a:off x="2423160" y="48463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2 — Build the ingestion pipeline</a:t>
            </a:r>
            <a:endParaRPr lang="en-US" sz="1250" dirty="0"/>
          </a:p>
        </p:txBody>
      </p:sp>
      <p:sp>
        <p:nvSpPr>
          <p:cNvPr id="36" name="Shape 33"/>
          <p:cNvSpPr/>
          <p:nvPr/>
        </p:nvSpPr>
        <p:spPr>
          <a:xfrm>
            <a:off x="9784080" y="4974336"/>
            <a:ext cx="1691640" cy="292608"/>
          </a:xfrm>
          <a:prstGeom prst="roundRect">
            <a:avLst>
              <a:gd name="adj" fmla="val 15625"/>
            </a:avLst>
          </a:prstGeom>
          <a:solidFill>
            <a:srgbClr val="FEF3E3"/>
          </a:solidFill>
          <a:ln/>
        </p:spPr>
      </p:sp>
      <p:sp>
        <p:nvSpPr>
          <p:cNvPr id="37" name="Text 34"/>
          <p:cNvSpPr/>
          <p:nvPr/>
        </p:nvSpPr>
        <p:spPr>
          <a:xfrm>
            <a:off x="9784080" y="497433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38" name="Text 3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9" name="Text 3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1</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01</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RAG Architecture &amp; the Fine-Tuning Decision</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بنية الاسترجاع والتوليد وقرار الضبط الدقيق</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Draw the reference architecture and place any vendor product in it</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Run the RAG vs fine-tuning decision framework on real scenarios</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Estimate per-query cost and latency stage by stage</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Stand up a naive baseline and build the course failure gallery</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1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الأولى</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1.1   </a:t>
            </a:r>
            <a:pPr indent="0" marL="0">
              <a:buNone/>
            </a:pPr>
            <a:r>
              <a:rPr lang="en-US" sz="1350" dirty="0">
                <a:solidFill>
                  <a:srgbClr val="2B2B2B"/>
                </a:solidFill>
                <a:latin typeface="Calibri" pitchFamily="34" charset="0"/>
                <a:ea typeface="Calibri" pitchFamily="34" charset="-122"/>
                <a:cs typeface="Calibri" pitchFamily="34" charset="-120"/>
              </a:rPr>
              <a:t>Draw and explain the end-to-end RAG reference architecture: offline and online paths</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1.2   </a:t>
            </a:r>
            <a:pPr indent="0" marL="0">
              <a:buNone/>
            </a:pPr>
            <a:r>
              <a:rPr lang="en-US" sz="1350" dirty="0">
                <a:solidFill>
                  <a:srgbClr val="2B2B2B"/>
                </a:solidFill>
                <a:latin typeface="Calibri" pitchFamily="34" charset="0"/>
                <a:ea typeface="Calibri" pitchFamily="34" charset="-122"/>
                <a:cs typeface="Calibri" pitchFamily="34" charset="-120"/>
              </a:rPr>
              <a:t>Decide RAG vs fine-tuning vs hybrid for a given scenario using the decision framework</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1.3   </a:t>
            </a:r>
            <a:pPr indent="0" marL="0">
              <a:buNone/>
            </a:pPr>
            <a:r>
              <a:rPr lang="en-US" sz="1350" dirty="0">
                <a:solidFill>
                  <a:srgbClr val="2B2B2B"/>
                </a:solidFill>
                <a:latin typeface="Calibri" pitchFamily="34" charset="0"/>
                <a:ea typeface="Calibri" pitchFamily="34" charset="-122"/>
                <a:cs typeface="Calibri" pitchFamily="34" charset="-120"/>
              </a:rPr>
              <a:t>Estimate per-query latency and cost across pipeline stages</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1.4   </a:t>
            </a:r>
            <a:pPr indent="0" marL="0">
              <a:buNone/>
            </a:pPr>
            <a:r>
              <a:rPr lang="en-US" sz="1350" dirty="0">
                <a:solidFill>
                  <a:srgbClr val="2B2B2B"/>
                </a:solidFill>
                <a:latin typeface="Calibri" pitchFamily="34" charset="0"/>
                <a:ea typeface="Calibri" pitchFamily="34" charset="-122"/>
                <a:cs typeface="Calibri" pitchFamily="34" charset="-120"/>
              </a:rPr>
              <a:t>Operate a naive RAG baseline and classify its failures into a taxonomy</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1.5   </a:t>
            </a:r>
            <a:pPr indent="0" marL="0">
              <a:buNone/>
            </a:pPr>
            <a:r>
              <a:rPr lang="en-US" sz="1350" dirty="0">
                <a:solidFill>
                  <a:srgbClr val="2B2B2B"/>
                </a:solidFill>
                <a:latin typeface="Calibri" pitchFamily="34" charset="0"/>
                <a:ea typeface="Calibri" pitchFamily="34" charset="-122"/>
                <a:cs typeface="Calibri" pitchFamily="34" charset="-120"/>
              </a:rPr>
              <a:t>Map each failure class to the pipeline stage — and course module — that fixes it</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Why Parametric Knowledge Is Not Enough</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لماذا لا تكفي المعرفة المخزنة في أوزان النموذج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Weights encode knowledge at a training cutoff — no access control, no citations, no delete button</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Staleness: the model cannot know last week’s circular. No prompt fixes this</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60350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Privacy gap: internal policies were never in training data — the model interpolates a policy-shaped answer</a:t>
            </a:r>
            <a:endParaRPr lang="en-US" sz="1400" dirty="0"/>
          </a:p>
        </p:txBody>
      </p:sp>
      <p:sp>
        <p:nvSpPr>
          <p:cNvPr id="12" name="Text 9"/>
          <p:cNvSpPr/>
          <p:nvPr/>
        </p:nvSpPr>
        <p:spPr>
          <a:xfrm>
            <a:off x="1069848" y="3182112"/>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The most dangerous failure mode, because it is fluent</a:t>
            </a:r>
            <a:endParaRPr lang="en-US" sz="1150" dirty="0"/>
          </a:p>
        </p:txBody>
      </p:sp>
      <p:sp>
        <p:nvSpPr>
          <p:cNvPr id="13" name="Shape 10"/>
          <p:cNvSpPr/>
          <p:nvPr/>
        </p:nvSpPr>
        <p:spPr>
          <a:xfrm>
            <a:off x="521208" y="3685032"/>
            <a:ext cx="118872" cy="118872"/>
          </a:xfrm>
          <a:prstGeom prst="rect">
            <a:avLst/>
          </a:prstGeom>
          <a:solidFill>
            <a:srgbClr val="00A79D"/>
          </a:solidFill>
          <a:ln/>
        </p:spPr>
      </p:sp>
      <p:sp>
        <p:nvSpPr>
          <p:cNvPr id="14" name="Text 11"/>
          <p:cNvSpPr/>
          <p:nvPr/>
        </p:nvSpPr>
        <p:spPr>
          <a:xfrm>
            <a:off x="795528" y="358444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Unverifiability: even a correct answer cannot say which document makes it correct</a:t>
            </a:r>
            <a:endParaRPr lang="en-US" sz="1400" dirty="0"/>
          </a:p>
        </p:txBody>
      </p:sp>
      <p:sp>
        <p:nvSpPr>
          <p:cNvPr id="15" name="Text 12"/>
          <p:cNvSpPr/>
          <p:nvPr/>
        </p:nvSpPr>
        <p:spPr>
          <a:xfrm>
            <a:off x="1069848" y="3950208"/>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Fatal in regulated workflows where a human must check the source</a:t>
            </a:r>
            <a:endParaRPr lang="en-US" sz="115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THE CORE MOVE</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From: what does the model know?</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To: what can the system retrieve?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Weights: opaque, frozen, global</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Index: inspectable, updatable,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access-controllable per user</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Under PDPL the choice also decides where personal data lives: in deletable, access-controlled documents — or baked irreversibly into model weights.</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3" name="Shape 0"/>
          <p:cNvSpPr/>
          <p:nvPr/>
        </p:nvSpPr>
        <p:spPr>
          <a:xfrm>
            <a:off x="502920" y="766953"/>
            <a:ext cx="301752" cy="264033"/>
          </a:xfrm>
          <a:prstGeom prst="triangle">
            <a:avLst/>
          </a:prstGeom>
          <a:solidFill>
            <a:srgbClr val="00A79D"/>
          </a:solidFill>
          <a:ln/>
        </p:spPr>
      </p:sp>
      <p:sp>
        <p:nvSpPr>
          <p:cNvPr id="4" name="Shape 1"/>
          <p:cNvSpPr/>
          <p:nvPr/>
        </p:nvSpPr>
        <p:spPr>
          <a:xfrm flipV="1">
            <a:off x="832104" y="634937"/>
            <a:ext cx="301752" cy="264033"/>
          </a:xfrm>
          <a:prstGeom prst="triangle">
            <a:avLst/>
          </a:prstGeom>
          <a:solidFill>
            <a:srgbClr val="29ABE2"/>
          </a:solidFill>
          <a:ln/>
        </p:spPr>
      </p:sp>
      <p:sp>
        <p:nvSpPr>
          <p:cNvPr id="5" name="Shape 2"/>
          <p:cNvSpPr/>
          <p:nvPr/>
        </p:nvSpPr>
        <p:spPr>
          <a:xfrm>
            <a:off x="832104" y="898970"/>
            <a:ext cx="301752" cy="264033"/>
          </a:xfrm>
          <a:prstGeom prst="triangle">
            <a:avLst/>
          </a:prstGeom>
          <a:solidFill>
            <a:srgbClr val="F7941D"/>
          </a:solidFill>
          <a:ln/>
        </p:spPr>
      </p:sp>
      <p:sp>
        <p:nvSpPr>
          <p:cNvPr id="6" name="Shape 3"/>
          <p:cNvSpPr/>
          <p:nvPr/>
        </p:nvSpPr>
        <p:spPr>
          <a:xfrm>
            <a:off x="1161288" y="502920"/>
            <a:ext cx="301752" cy="264033"/>
          </a:xfrm>
          <a:prstGeom prst="triangle">
            <a:avLst/>
          </a:prstGeom>
          <a:solidFill>
            <a:srgbClr val="8CC63F"/>
          </a:solidFill>
          <a:ln/>
        </p:spPr>
      </p:sp>
      <p:sp>
        <p:nvSpPr>
          <p:cNvPr id="7" name="Shape 4"/>
          <p:cNvSpPr/>
          <p:nvPr/>
        </p:nvSpPr>
        <p:spPr>
          <a:xfrm flipV="1">
            <a:off x="1161288" y="766953"/>
            <a:ext cx="301752" cy="264033"/>
          </a:xfrm>
          <a:prstGeom prst="triangle">
            <a:avLst/>
          </a:prstGeom>
          <a:solidFill>
            <a:srgbClr val="1D2A5C"/>
          </a:solidFill>
          <a:ln/>
        </p:spPr>
      </p:sp>
      <p:sp>
        <p:nvSpPr>
          <p:cNvPr id="8" name="Shape 5"/>
          <p:cNvSpPr/>
          <p:nvPr/>
        </p:nvSpPr>
        <p:spPr>
          <a:xfrm>
            <a:off x="1490472" y="634937"/>
            <a:ext cx="301752" cy="264033"/>
          </a:xfrm>
          <a:prstGeom prst="triangle">
            <a:avLst/>
          </a:prstGeom>
          <a:solidFill>
            <a:srgbClr val="00A79D"/>
          </a:solidFill>
          <a:ln/>
        </p:spPr>
      </p:sp>
      <p:sp>
        <p:nvSpPr>
          <p:cNvPr id="9" name="Shape 6"/>
          <p:cNvSpPr/>
          <p:nvPr/>
        </p:nvSpPr>
        <p:spPr>
          <a:xfrm flipV="1">
            <a:off x="1490472" y="898970"/>
            <a:ext cx="301752" cy="264033"/>
          </a:xfrm>
          <a:prstGeom prst="triangle">
            <a:avLst/>
          </a:prstGeom>
          <a:solidFill>
            <a:srgbClr val="29ABE2"/>
          </a:solidFill>
          <a:ln/>
        </p:spPr>
      </p:sp>
      <p:sp>
        <p:nvSpPr>
          <p:cNvPr id="10" name="Shape 7"/>
          <p:cNvSpPr/>
          <p:nvPr/>
        </p:nvSpPr>
        <p:spPr>
          <a:xfrm>
            <a:off x="1819656" y="766953"/>
            <a:ext cx="301752" cy="264033"/>
          </a:xfrm>
          <a:prstGeom prst="triangle">
            <a:avLst/>
          </a:prstGeom>
          <a:solidFill>
            <a:srgbClr val="F7941D"/>
          </a:solidFill>
          <a:ln/>
        </p:spPr>
      </p:sp>
      <p:sp>
        <p:nvSpPr>
          <p:cNvPr id="11" name="Text 8"/>
          <p:cNvSpPr/>
          <p:nvPr/>
        </p:nvSpPr>
        <p:spPr>
          <a:xfrm>
            <a:off x="1097280" y="2103120"/>
            <a:ext cx="9994392" cy="1828800"/>
          </a:xfrm>
          <a:prstGeom prst="rect">
            <a:avLst/>
          </a:prstGeom>
          <a:noFill/>
          <a:ln/>
        </p:spPr>
        <p:txBody>
          <a:bodyPr wrap="square" rtlCol="0" anchor="ctr"/>
          <a:lstStyle/>
          <a:p>
            <a:pPr algn="ctr" indent="0" marL="0">
              <a:buNone/>
            </a:pPr>
            <a:r>
              <a:rPr lang="en-US" sz="2700" b="1" dirty="0">
                <a:solidFill>
                  <a:srgbClr val="1D2A5C"/>
                </a:solidFill>
                <a:latin typeface="Calibri" pitchFamily="34" charset="0"/>
                <a:ea typeface="Calibri" pitchFamily="34" charset="-122"/>
                <a:cs typeface="Calibri" pitchFamily="34" charset="-120"/>
              </a:rPr>
              <a:t>RAG converts "what does the model know?" into "what can the system retrieve?" — generation becomes reading comprehension over evidence, not recall.</a:t>
            </a:r>
            <a:endParaRPr lang="en-US" sz="2700" dirty="0"/>
          </a:p>
        </p:txBody>
      </p:sp>
      <p:sp>
        <p:nvSpPr>
          <p:cNvPr id="12" name="Text 9"/>
          <p:cNvSpPr/>
          <p:nvPr/>
        </p:nvSpPr>
        <p:spPr>
          <a:xfrm>
            <a:off x="1097280" y="4041648"/>
            <a:ext cx="9994392" cy="502920"/>
          </a:xfrm>
          <a:prstGeom prst="rect">
            <a:avLst/>
          </a:prstGeom>
          <a:noFill/>
          <a:ln/>
        </p:spPr>
        <p:txBody>
          <a:bodyPr wrap="square" rtlCol="0" anchor="ctr"/>
          <a:lstStyle/>
          <a:p>
            <a:pPr algn="ctr" indent="0" marL="0">
              <a:buNone/>
            </a:pPr>
            <a:r>
              <a:rPr lang="en-US" sz="1500" dirty="0">
                <a:solidFill>
                  <a:srgbClr val="00A79D"/>
                </a:solidFill>
                <a:latin typeface="Calibri" pitchFamily="34" charset="0"/>
                <a:ea typeface="Calibri" pitchFamily="34" charset="-122"/>
                <a:cs typeface="Calibri" pitchFamily="34" charset="-120"/>
              </a:rPr>
              <a:t>حوّل السؤال من ماذا يعرف النموذج إلى ماذا يستطيع النظام استرجاعه</a:t>
            </a:r>
            <a:endParaRPr lang="en-US" sz="1500" dirty="0"/>
          </a:p>
        </p:txBody>
      </p:sp>
      <p:sp>
        <p:nvSpPr>
          <p:cNvPr id="13" name="Text 10"/>
          <p:cNvSpPr/>
          <p:nvPr/>
        </p:nvSpPr>
        <p:spPr>
          <a:xfrm>
            <a:off x="1097280" y="4663440"/>
            <a:ext cx="9994392" cy="365760"/>
          </a:xfrm>
          <a:prstGeom prst="rect">
            <a:avLst/>
          </a:prstGeom>
          <a:noFill/>
          <a:ln/>
        </p:spPr>
        <p:txBody>
          <a:bodyPr wrap="square" rtlCol="0" anchor="ctr"/>
          <a:lstStyle/>
          <a:p>
            <a:pPr algn="ctr" indent="0" marL="0">
              <a:buNone/>
            </a:pPr>
            <a:r>
              <a:rPr lang="en-US" sz="1200" dirty="0">
                <a:solidFill>
                  <a:srgbClr val="6E7B8A"/>
                </a:solidFill>
                <a:latin typeface="Calibri" pitchFamily="34" charset="0"/>
                <a:ea typeface="Calibri" pitchFamily="34" charset="-122"/>
                <a:cs typeface="Calibri" pitchFamily="34" charset="-120"/>
              </a:rPr>
              <a:t>— Module 1 — the core move of RAG</a:t>
            </a:r>
            <a:endParaRPr lang="en-US" sz="1200" dirty="0"/>
          </a:p>
        </p:txBody>
      </p:sp>
      <p:sp>
        <p:nvSpPr>
          <p:cNvPr id="14" name="Shape 11"/>
          <p:cNvSpPr/>
          <p:nvPr/>
        </p:nvSpPr>
        <p:spPr>
          <a:xfrm>
            <a:off x="5413248" y="5303520"/>
            <a:ext cx="1371600" cy="45720"/>
          </a:xfrm>
          <a:prstGeom prst="rect">
            <a:avLst/>
          </a:prstGeom>
          <a:solidFill>
            <a:srgbClr val="00A79D"/>
          </a:solidFill>
          <a:ln/>
        </p:spPr>
      </p:sp>
      <p:sp>
        <p:nvSpPr>
          <p:cNvPr id="15" name="Text 1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6" name="Text 1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RAG vs Fine-Tuning: The Decision Framework</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الاسترجاع مقابل الضبط الدقيق: إطار القرار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5454396" cy="475488"/>
          </a:xfrm>
          <a:prstGeom prst="rect">
            <a:avLst/>
          </a:prstGeom>
          <a:solidFill>
            <a:srgbClr val="1D2A5C"/>
          </a:solidFill>
          <a:ln/>
        </p:spPr>
      </p:sp>
      <p:sp>
        <p:nvSpPr>
          <p:cNvPr id="7" name="Text 4"/>
          <p:cNvSpPr/>
          <p:nvPr/>
        </p:nvSpPr>
        <p:spPr>
          <a:xfrm>
            <a:off x="502920" y="1627632"/>
            <a:ext cx="5454396"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RAG</a:t>
            </a:r>
            <a:endParaRPr lang="en-US" sz="1350" dirty="0"/>
          </a:p>
        </p:txBody>
      </p:sp>
      <p:sp>
        <p:nvSpPr>
          <p:cNvPr id="8" name="Shape 5"/>
          <p:cNvSpPr/>
          <p:nvPr/>
        </p:nvSpPr>
        <p:spPr>
          <a:xfrm>
            <a:off x="502920" y="2103120"/>
            <a:ext cx="5454396" cy="3127248"/>
          </a:xfrm>
          <a:prstGeom prst="rect">
            <a:avLst/>
          </a:prstGeom>
          <a:solidFill>
            <a:srgbClr val="F2F6F8"/>
          </a:solidFill>
          <a:ln w="9525">
            <a:solidFill>
              <a:srgbClr val="D9E2E8"/>
            </a:solidFill>
            <a:prstDash val="solid"/>
          </a:ln>
        </p:spPr>
      </p:sp>
      <p:sp>
        <p:nvSpPr>
          <p:cNvPr id="9" name="Text 6"/>
          <p:cNvSpPr/>
          <p:nvPr/>
        </p:nvSpPr>
        <p:spPr>
          <a:xfrm>
            <a:off x="704088" y="2240280"/>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Update = re-index a document (minutes)</a:t>
            </a:r>
            <a:endParaRPr lang="en-US" sz="1150" dirty="0"/>
          </a:p>
        </p:txBody>
      </p:sp>
      <p:sp>
        <p:nvSpPr>
          <p:cNvPr id="10" name="Text 7"/>
          <p:cNvSpPr/>
          <p:nvPr/>
        </p:nvSpPr>
        <p:spPr>
          <a:xfrm>
            <a:off x="704088" y="2715768"/>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Native attribution: answers carry evidence</a:t>
            </a:r>
            <a:endParaRPr lang="en-US" sz="1150" dirty="0"/>
          </a:p>
        </p:txBody>
      </p:sp>
      <p:sp>
        <p:nvSpPr>
          <p:cNvPr id="11" name="Text 8"/>
          <p:cNvSpPr/>
          <p:nvPr/>
        </p:nvSpPr>
        <p:spPr>
          <a:xfrm>
            <a:off x="704088" y="3191256"/>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Per-user access filters at query time</a:t>
            </a:r>
            <a:endParaRPr lang="en-US" sz="1150" dirty="0"/>
          </a:p>
        </p:txBody>
      </p:sp>
      <p:sp>
        <p:nvSpPr>
          <p:cNvPr id="12" name="Text 9"/>
          <p:cNvSpPr/>
          <p:nvPr/>
        </p:nvSpPr>
        <p:spPr>
          <a:xfrm>
            <a:off x="704088" y="3666744"/>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Deletion = remove from index (PDPL-ready)</a:t>
            </a:r>
            <a:endParaRPr lang="en-US" sz="1150" dirty="0"/>
          </a:p>
        </p:txBody>
      </p:sp>
      <p:sp>
        <p:nvSpPr>
          <p:cNvPr id="13" name="Text 10"/>
          <p:cNvSpPr/>
          <p:nvPr/>
        </p:nvSpPr>
        <p:spPr>
          <a:xfrm>
            <a:off x="704088" y="4142232"/>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Cost per query: retrieval + longer prompts</a:t>
            </a:r>
            <a:endParaRPr lang="en-US" sz="1150" dirty="0"/>
          </a:p>
        </p:txBody>
      </p:sp>
      <p:sp>
        <p:nvSpPr>
          <p:cNvPr id="14" name="Text 11"/>
          <p:cNvSpPr/>
          <p:nvPr/>
        </p:nvSpPr>
        <p:spPr>
          <a:xfrm>
            <a:off x="704088" y="4617720"/>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Grounding + refusal make errors measurable</a:t>
            </a:r>
            <a:endParaRPr lang="en-US" sz="1150" dirty="0"/>
          </a:p>
        </p:txBody>
      </p:sp>
      <p:sp>
        <p:nvSpPr>
          <p:cNvPr id="15" name="Shape 12"/>
          <p:cNvSpPr/>
          <p:nvPr/>
        </p:nvSpPr>
        <p:spPr>
          <a:xfrm>
            <a:off x="6231636" y="1627632"/>
            <a:ext cx="5454396" cy="475488"/>
          </a:xfrm>
          <a:prstGeom prst="rect">
            <a:avLst/>
          </a:prstGeom>
          <a:solidFill>
            <a:srgbClr val="1D2A5C"/>
          </a:solidFill>
          <a:ln/>
        </p:spPr>
      </p:sp>
      <p:sp>
        <p:nvSpPr>
          <p:cNvPr id="16" name="Text 13"/>
          <p:cNvSpPr/>
          <p:nvPr/>
        </p:nvSpPr>
        <p:spPr>
          <a:xfrm>
            <a:off x="6231636" y="1627632"/>
            <a:ext cx="5454396"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Fine-tuning</a:t>
            </a:r>
            <a:endParaRPr lang="en-US" sz="1350" dirty="0"/>
          </a:p>
        </p:txBody>
      </p:sp>
      <p:sp>
        <p:nvSpPr>
          <p:cNvPr id="17" name="Shape 14"/>
          <p:cNvSpPr/>
          <p:nvPr/>
        </p:nvSpPr>
        <p:spPr>
          <a:xfrm>
            <a:off x="6231636" y="2103120"/>
            <a:ext cx="5454396" cy="3127248"/>
          </a:xfrm>
          <a:prstGeom prst="rect">
            <a:avLst/>
          </a:prstGeom>
          <a:solidFill>
            <a:srgbClr val="F2F6F8"/>
          </a:solidFill>
          <a:ln w="9525">
            <a:solidFill>
              <a:srgbClr val="D9E2E8"/>
            </a:solidFill>
            <a:prstDash val="solid"/>
          </a:ln>
        </p:spPr>
      </p:sp>
      <p:sp>
        <p:nvSpPr>
          <p:cNvPr id="18" name="Text 15"/>
          <p:cNvSpPr/>
          <p:nvPr/>
        </p:nvSpPr>
        <p:spPr>
          <a:xfrm>
            <a:off x="6432804" y="2240280"/>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Update = retrain + re-eval + redeploy</a:t>
            </a:r>
            <a:endParaRPr lang="en-US" sz="1150" dirty="0"/>
          </a:p>
        </p:txBody>
      </p:sp>
      <p:sp>
        <p:nvSpPr>
          <p:cNvPr id="19" name="Text 16"/>
          <p:cNvSpPr/>
          <p:nvPr/>
        </p:nvSpPr>
        <p:spPr>
          <a:xfrm>
            <a:off x="6432804" y="2715768"/>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Knowledge diffused in weights — no citations</a:t>
            </a:r>
            <a:endParaRPr lang="en-US" sz="1150" dirty="0"/>
          </a:p>
        </p:txBody>
      </p:sp>
      <p:sp>
        <p:nvSpPr>
          <p:cNvPr id="20" name="Text 17"/>
          <p:cNvSpPr/>
          <p:nvPr/>
        </p:nvSpPr>
        <p:spPr>
          <a:xfrm>
            <a:off x="6432804" y="3191256"/>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Weights are global — no per-user control</a:t>
            </a:r>
            <a:endParaRPr lang="en-US" sz="1150" dirty="0"/>
          </a:p>
        </p:txBody>
      </p:sp>
      <p:sp>
        <p:nvSpPr>
          <p:cNvPr id="21" name="Text 18"/>
          <p:cNvSpPr/>
          <p:nvPr/>
        </p:nvSpPr>
        <p:spPr>
          <a:xfrm>
            <a:off x="6432804" y="3666744"/>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Machine unlearning: research, not practice</a:t>
            </a:r>
            <a:endParaRPr lang="en-US" sz="1150" dirty="0"/>
          </a:p>
        </p:txBody>
      </p:sp>
      <p:sp>
        <p:nvSpPr>
          <p:cNvPr id="22" name="Text 19"/>
          <p:cNvSpPr/>
          <p:nvPr/>
        </p:nvSpPr>
        <p:spPr>
          <a:xfrm>
            <a:off x="6432804" y="4142232"/>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Up-front training cost, cheaper queries</a:t>
            </a:r>
            <a:endParaRPr lang="en-US" sz="1150" dirty="0"/>
          </a:p>
        </p:txBody>
      </p:sp>
      <p:sp>
        <p:nvSpPr>
          <p:cNvPr id="23" name="Text 20"/>
          <p:cNvSpPr/>
          <p:nvPr/>
        </p:nvSpPr>
        <p:spPr>
          <a:xfrm>
            <a:off x="6432804" y="4617720"/>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Excellent for stable style, tone, format</a:t>
            </a:r>
            <a:endParaRPr lang="en-US" sz="1150" dirty="0"/>
          </a:p>
        </p:txBody>
      </p:sp>
      <p:sp>
        <p:nvSpPr>
          <p:cNvPr id="24" name="Shape 21"/>
          <p:cNvSpPr/>
          <p:nvPr/>
        </p:nvSpPr>
        <p:spPr>
          <a:xfrm>
            <a:off x="502920" y="5394960"/>
            <a:ext cx="11183112" cy="777240"/>
          </a:xfrm>
          <a:prstGeom prst="rect">
            <a:avLst/>
          </a:prstGeom>
          <a:solidFill>
            <a:srgbClr val="E6F5F4"/>
          </a:solidFill>
          <a:ln/>
        </p:spPr>
      </p:sp>
      <p:sp>
        <p:nvSpPr>
          <p:cNvPr id="25" name="Text 22"/>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VERDICT   </a:t>
            </a:r>
            <a:pPr indent="0" marL="0">
              <a:buNone/>
            </a:pPr>
            <a:r>
              <a:rPr lang="en-US" sz="1150" dirty="0">
                <a:solidFill>
                  <a:srgbClr val="2B2B2B"/>
                </a:solidFill>
                <a:latin typeface="Calibri" pitchFamily="34" charset="0"/>
                <a:ea typeface="Calibri" pitchFamily="34" charset="-122"/>
                <a:cs typeface="Calibri" pitchFamily="34" charset="-120"/>
              </a:rPr>
              <a:t>RAG first, fine-tune narrowly: retrieval for knowledge, a small tune or few-shot prompting for format and tone. Fine-tuning for knowledge injection is almost always wrong.</a:t>
            </a:r>
            <a:endParaRPr lang="en-US" sz="10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Reference Architecture: The Offline Indexing Path</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البنية المرجعية: مسار الفهرسة دون اتصال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467612" cy="2880360"/>
          </a:xfrm>
          <a:prstGeom prst="rect">
            <a:avLst/>
          </a:prstGeom>
          <a:solidFill>
            <a:srgbClr val="F2F6F8"/>
          </a:solidFill>
          <a:ln w="9525">
            <a:solidFill>
              <a:srgbClr val="D9E2E8"/>
            </a:solidFill>
            <a:prstDash val="solid"/>
          </a:ln>
        </p:spPr>
      </p:sp>
      <p:sp>
        <p:nvSpPr>
          <p:cNvPr id="7" name="Shape 4"/>
          <p:cNvSpPr/>
          <p:nvPr/>
        </p:nvSpPr>
        <p:spPr>
          <a:xfrm>
            <a:off x="502920" y="1965960"/>
            <a:ext cx="146761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Sources</a:t>
            </a:r>
            <a:endParaRPr lang="en-US" sz="1350" dirty="0"/>
          </a:p>
        </p:txBody>
      </p:sp>
      <p:sp>
        <p:nvSpPr>
          <p:cNvPr id="10" name="Text 7"/>
          <p:cNvSpPr/>
          <p:nvPr/>
        </p:nvSpPr>
        <p:spPr>
          <a:xfrm>
            <a:off x="6400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PDF, DOCX, HTML, XLSX — heterogeneous, bilingual enterprise documents</a:t>
            </a:r>
            <a:endParaRPr lang="en-US" sz="1050" dirty="0"/>
          </a:p>
        </p:txBody>
      </p:sp>
      <p:sp>
        <p:nvSpPr>
          <p:cNvPr id="11" name="Shape 8"/>
          <p:cNvSpPr/>
          <p:nvPr/>
        </p:nvSpPr>
        <p:spPr>
          <a:xfrm>
            <a:off x="2052828" y="3268980"/>
            <a:ext cx="310896" cy="274320"/>
          </a:xfrm>
          <a:prstGeom prst="rightArrow">
            <a:avLst/>
          </a:prstGeom>
          <a:solidFill>
            <a:srgbClr val="00A79D"/>
          </a:solidFill>
          <a:ln/>
        </p:spPr>
      </p:sp>
      <p:sp>
        <p:nvSpPr>
          <p:cNvPr id="12" name="Shape 9"/>
          <p:cNvSpPr/>
          <p:nvPr/>
        </p:nvSpPr>
        <p:spPr>
          <a:xfrm>
            <a:off x="2446020" y="1965960"/>
            <a:ext cx="1467612" cy="2880360"/>
          </a:xfrm>
          <a:prstGeom prst="rect">
            <a:avLst/>
          </a:prstGeom>
          <a:solidFill>
            <a:srgbClr val="F2F6F8"/>
          </a:solidFill>
          <a:ln w="9525">
            <a:solidFill>
              <a:srgbClr val="D9E2E8"/>
            </a:solidFill>
            <a:prstDash val="solid"/>
          </a:ln>
        </p:spPr>
      </p:sp>
      <p:sp>
        <p:nvSpPr>
          <p:cNvPr id="13" name="Shape 10"/>
          <p:cNvSpPr/>
          <p:nvPr/>
        </p:nvSpPr>
        <p:spPr>
          <a:xfrm>
            <a:off x="2446020" y="1965960"/>
            <a:ext cx="1467612" cy="73152"/>
          </a:xfrm>
          <a:prstGeom prst="rect">
            <a:avLst/>
          </a:prstGeom>
          <a:solidFill>
            <a:srgbClr val="29ABE2"/>
          </a:solidFill>
          <a:ln/>
        </p:spPr>
      </p:sp>
      <p:sp>
        <p:nvSpPr>
          <p:cNvPr id="14" name="Text 11"/>
          <p:cNvSpPr/>
          <p:nvPr/>
        </p:nvSpPr>
        <p:spPr>
          <a:xfrm>
            <a:off x="258318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5831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Parse + clean</a:t>
            </a:r>
            <a:endParaRPr lang="en-US" sz="1350" dirty="0"/>
          </a:p>
        </p:txBody>
      </p:sp>
      <p:sp>
        <p:nvSpPr>
          <p:cNvPr id="16" name="Text 13"/>
          <p:cNvSpPr/>
          <p:nvPr/>
        </p:nvSpPr>
        <p:spPr>
          <a:xfrm>
            <a:off x="25831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Loaders and parsers turn each format into faithful text (M2)</a:t>
            </a:r>
            <a:endParaRPr lang="en-US" sz="1050" dirty="0"/>
          </a:p>
        </p:txBody>
      </p:sp>
      <p:sp>
        <p:nvSpPr>
          <p:cNvPr id="17" name="Shape 14"/>
          <p:cNvSpPr/>
          <p:nvPr/>
        </p:nvSpPr>
        <p:spPr>
          <a:xfrm>
            <a:off x="3995928" y="3268980"/>
            <a:ext cx="310896" cy="274320"/>
          </a:xfrm>
          <a:prstGeom prst="rightArrow">
            <a:avLst/>
          </a:prstGeom>
          <a:solidFill>
            <a:srgbClr val="00A79D"/>
          </a:solidFill>
          <a:ln/>
        </p:spPr>
      </p:sp>
      <p:sp>
        <p:nvSpPr>
          <p:cNvPr id="18" name="Shape 15"/>
          <p:cNvSpPr/>
          <p:nvPr/>
        </p:nvSpPr>
        <p:spPr>
          <a:xfrm>
            <a:off x="4389120" y="1965960"/>
            <a:ext cx="1467612" cy="2880360"/>
          </a:xfrm>
          <a:prstGeom prst="rect">
            <a:avLst/>
          </a:prstGeom>
          <a:solidFill>
            <a:srgbClr val="F2F6F8"/>
          </a:solidFill>
          <a:ln w="9525">
            <a:solidFill>
              <a:srgbClr val="D9E2E8"/>
            </a:solidFill>
            <a:prstDash val="solid"/>
          </a:ln>
        </p:spPr>
      </p:sp>
      <p:sp>
        <p:nvSpPr>
          <p:cNvPr id="19" name="Shape 16"/>
          <p:cNvSpPr/>
          <p:nvPr/>
        </p:nvSpPr>
        <p:spPr>
          <a:xfrm>
            <a:off x="4389120" y="1965960"/>
            <a:ext cx="1467612" cy="73152"/>
          </a:xfrm>
          <a:prstGeom prst="rect">
            <a:avLst/>
          </a:prstGeom>
          <a:solidFill>
            <a:srgbClr val="F7941D"/>
          </a:solidFill>
          <a:ln/>
        </p:spPr>
      </p:sp>
      <p:sp>
        <p:nvSpPr>
          <p:cNvPr id="20" name="Text 17"/>
          <p:cNvSpPr/>
          <p:nvPr/>
        </p:nvSpPr>
        <p:spPr>
          <a:xfrm>
            <a:off x="452628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45262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Chunk</a:t>
            </a:r>
            <a:endParaRPr lang="en-US" sz="1350" dirty="0"/>
          </a:p>
        </p:txBody>
      </p:sp>
      <p:sp>
        <p:nvSpPr>
          <p:cNvPr id="22" name="Text 19"/>
          <p:cNvSpPr/>
          <p:nvPr/>
        </p:nvSpPr>
        <p:spPr>
          <a:xfrm>
            <a:off x="45262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Split into retrievable, self-contained units (M2)</a:t>
            </a:r>
            <a:endParaRPr lang="en-US" sz="1050" dirty="0"/>
          </a:p>
        </p:txBody>
      </p:sp>
      <p:sp>
        <p:nvSpPr>
          <p:cNvPr id="23" name="Shape 20"/>
          <p:cNvSpPr/>
          <p:nvPr/>
        </p:nvSpPr>
        <p:spPr>
          <a:xfrm>
            <a:off x="5939028" y="3268980"/>
            <a:ext cx="310896" cy="274320"/>
          </a:xfrm>
          <a:prstGeom prst="rightArrow">
            <a:avLst/>
          </a:prstGeom>
          <a:solidFill>
            <a:srgbClr val="00A79D"/>
          </a:solidFill>
          <a:ln/>
        </p:spPr>
      </p:sp>
      <p:sp>
        <p:nvSpPr>
          <p:cNvPr id="24" name="Shape 21"/>
          <p:cNvSpPr/>
          <p:nvPr/>
        </p:nvSpPr>
        <p:spPr>
          <a:xfrm>
            <a:off x="6332220" y="1965960"/>
            <a:ext cx="1467612" cy="2880360"/>
          </a:xfrm>
          <a:prstGeom prst="rect">
            <a:avLst/>
          </a:prstGeom>
          <a:solidFill>
            <a:srgbClr val="F2F6F8"/>
          </a:solidFill>
          <a:ln w="9525">
            <a:solidFill>
              <a:srgbClr val="D9E2E8"/>
            </a:solidFill>
            <a:prstDash val="solid"/>
          </a:ln>
        </p:spPr>
      </p:sp>
      <p:sp>
        <p:nvSpPr>
          <p:cNvPr id="25" name="Shape 22"/>
          <p:cNvSpPr/>
          <p:nvPr/>
        </p:nvSpPr>
        <p:spPr>
          <a:xfrm>
            <a:off x="6332220" y="1965960"/>
            <a:ext cx="1467612" cy="73152"/>
          </a:xfrm>
          <a:prstGeom prst="rect">
            <a:avLst/>
          </a:prstGeom>
          <a:solidFill>
            <a:srgbClr val="8CC63F"/>
          </a:solidFill>
          <a:ln/>
        </p:spPr>
      </p:sp>
      <p:sp>
        <p:nvSpPr>
          <p:cNvPr id="26" name="Text 23"/>
          <p:cNvSpPr/>
          <p:nvPr/>
        </p:nvSpPr>
        <p:spPr>
          <a:xfrm>
            <a:off x="646938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64693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Enrich</a:t>
            </a:r>
            <a:endParaRPr lang="en-US" sz="1350" dirty="0"/>
          </a:p>
        </p:txBody>
      </p:sp>
      <p:sp>
        <p:nvSpPr>
          <p:cNvPr id="28" name="Text 25"/>
          <p:cNvSpPr/>
          <p:nvPr/>
        </p:nvSpPr>
        <p:spPr>
          <a:xfrm>
            <a:off x="64693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Metadata: provenance, access control, lifecycle fields (M2)</a:t>
            </a:r>
            <a:endParaRPr lang="en-US" sz="1050" dirty="0"/>
          </a:p>
        </p:txBody>
      </p:sp>
      <p:sp>
        <p:nvSpPr>
          <p:cNvPr id="29" name="Shape 26"/>
          <p:cNvSpPr/>
          <p:nvPr/>
        </p:nvSpPr>
        <p:spPr>
          <a:xfrm>
            <a:off x="7882128" y="3268980"/>
            <a:ext cx="310896" cy="274320"/>
          </a:xfrm>
          <a:prstGeom prst="rightArrow">
            <a:avLst/>
          </a:prstGeom>
          <a:solidFill>
            <a:srgbClr val="00A79D"/>
          </a:solidFill>
          <a:ln/>
        </p:spPr>
      </p:sp>
      <p:sp>
        <p:nvSpPr>
          <p:cNvPr id="30" name="Shape 27"/>
          <p:cNvSpPr/>
          <p:nvPr/>
        </p:nvSpPr>
        <p:spPr>
          <a:xfrm>
            <a:off x="8275320" y="1965960"/>
            <a:ext cx="1467612" cy="2880360"/>
          </a:xfrm>
          <a:prstGeom prst="rect">
            <a:avLst/>
          </a:prstGeom>
          <a:solidFill>
            <a:srgbClr val="F2F6F8"/>
          </a:solidFill>
          <a:ln w="9525">
            <a:solidFill>
              <a:srgbClr val="D9E2E8"/>
            </a:solidFill>
            <a:prstDash val="solid"/>
          </a:ln>
        </p:spPr>
      </p:sp>
      <p:sp>
        <p:nvSpPr>
          <p:cNvPr id="31" name="Shape 28"/>
          <p:cNvSpPr/>
          <p:nvPr/>
        </p:nvSpPr>
        <p:spPr>
          <a:xfrm>
            <a:off x="8275320" y="1965960"/>
            <a:ext cx="1467612" cy="73152"/>
          </a:xfrm>
          <a:prstGeom prst="rect">
            <a:avLst/>
          </a:prstGeom>
          <a:solidFill>
            <a:srgbClr val="1D2A5C"/>
          </a:solidFill>
          <a:ln/>
        </p:spPr>
      </p:sp>
      <p:sp>
        <p:nvSpPr>
          <p:cNvPr id="32" name="Text 29"/>
          <p:cNvSpPr/>
          <p:nvPr/>
        </p:nvSpPr>
        <p:spPr>
          <a:xfrm>
            <a:off x="841248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84124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Embed</a:t>
            </a:r>
            <a:endParaRPr lang="en-US" sz="1350" dirty="0"/>
          </a:p>
        </p:txBody>
      </p:sp>
      <p:sp>
        <p:nvSpPr>
          <p:cNvPr id="34" name="Text 31"/>
          <p:cNvSpPr/>
          <p:nvPr/>
        </p:nvSpPr>
        <p:spPr>
          <a:xfrm>
            <a:off x="84124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Encode chunks into vectors with a multilingual model (M3)</a:t>
            </a:r>
            <a:endParaRPr lang="en-US" sz="1050" dirty="0"/>
          </a:p>
        </p:txBody>
      </p:sp>
      <p:sp>
        <p:nvSpPr>
          <p:cNvPr id="35" name="Shape 32"/>
          <p:cNvSpPr/>
          <p:nvPr/>
        </p:nvSpPr>
        <p:spPr>
          <a:xfrm>
            <a:off x="9825228" y="3268980"/>
            <a:ext cx="310896" cy="274320"/>
          </a:xfrm>
          <a:prstGeom prst="rightArrow">
            <a:avLst/>
          </a:prstGeom>
          <a:solidFill>
            <a:srgbClr val="00A79D"/>
          </a:solidFill>
          <a:ln/>
        </p:spPr>
      </p:sp>
      <p:sp>
        <p:nvSpPr>
          <p:cNvPr id="36" name="Shape 33"/>
          <p:cNvSpPr/>
          <p:nvPr/>
        </p:nvSpPr>
        <p:spPr>
          <a:xfrm>
            <a:off x="10218420" y="1965960"/>
            <a:ext cx="1467612" cy="2880360"/>
          </a:xfrm>
          <a:prstGeom prst="rect">
            <a:avLst/>
          </a:prstGeom>
          <a:solidFill>
            <a:srgbClr val="F2F6F8"/>
          </a:solidFill>
          <a:ln w="9525">
            <a:solidFill>
              <a:srgbClr val="D9E2E8"/>
            </a:solidFill>
            <a:prstDash val="solid"/>
          </a:ln>
        </p:spPr>
      </p:sp>
      <p:sp>
        <p:nvSpPr>
          <p:cNvPr id="37" name="Shape 34"/>
          <p:cNvSpPr/>
          <p:nvPr/>
        </p:nvSpPr>
        <p:spPr>
          <a:xfrm>
            <a:off x="10218420" y="1965960"/>
            <a:ext cx="1467612" cy="73152"/>
          </a:xfrm>
          <a:prstGeom prst="rect">
            <a:avLst/>
          </a:prstGeom>
          <a:solidFill>
            <a:srgbClr val="00A79D"/>
          </a:solidFill>
          <a:ln/>
        </p:spPr>
      </p:sp>
      <p:sp>
        <p:nvSpPr>
          <p:cNvPr id="38" name="Text 35"/>
          <p:cNvSpPr/>
          <p:nvPr/>
        </p:nvSpPr>
        <p:spPr>
          <a:xfrm>
            <a:off x="103555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6</a:t>
            </a:r>
            <a:endParaRPr lang="en-US" sz="1500" dirty="0"/>
          </a:p>
        </p:txBody>
      </p:sp>
      <p:sp>
        <p:nvSpPr>
          <p:cNvPr id="39" name="Text 36"/>
          <p:cNvSpPr/>
          <p:nvPr/>
        </p:nvSpPr>
        <p:spPr>
          <a:xfrm>
            <a:off x="103555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Upsert</a:t>
            </a:r>
            <a:endParaRPr lang="en-US" sz="1350" dirty="0"/>
          </a:p>
        </p:txBody>
      </p:sp>
      <p:sp>
        <p:nvSpPr>
          <p:cNvPr id="40" name="Text 37"/>
          <p:cNvSpPr/>
          <p:nvPr/>
        </p:nvSpPr>
        <p:spPr>
          <a:xfrm>
            <a:off x="103555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Vector DB collection: text + vectors + payload, plus keyword index</a:t>
            </a:r>
            <a:endParaRPr lang="en-US" sz="1050" dirty="0"/>
          </a:p>
        </p:txBody>
      </p:sp>
      <p:sp>
        <p:nvSpPr>
          <p:cNvPr id="41" name="Shape 38"/>
          <p:cNvSpPr/>
          <p:nvPr/>
        </p:nvSpPr>
        <p:spPr>
          <a:xfrm>
            <a:off x="502920" y="5394960"/>
            <a:ext cx="11183112" cy="777240"/>
          </a:xfrm>
          <a:prstGeom prst="rect">
            <a:avLst/>
          </a:prstGeom>
          <a:solidFill>
            <a:srgbClr val="E6F5F4"/>
          </a:solidFill>
          <a:ln/>
        </p:spPr>
      </p:sp>
      <p:sp>
        <p:nvSpPr>
          <p:cNvPr id="42" name="Text 3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output contract is the collection: chunk text, vectors and payload metadata. It runs on document-change events or schedules — this is where staleness gets fixed.</a:t>
            </a:r>
            <a:endParaRPr lang="en-US" sz="1050" dirty="0"/>
          </a:p>
        </p:txBody>
      </p:sp>
      <p:sp>
        <p:nvSpPr>
          <p:cNvPr id="43" name="Text 4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44" name="Text 4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Reference Architecture: The Online Query Path</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البنية المرجعية: مسار الاستعلام المباشر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467612" cy="2880360"/>
          </a:xfrm>
          <a:prstGeom prst="rect">
            <a:avLst/>
          </a:prstGeom>
          <a:solidFill>
            <a:srgbClr val="F2F6F8"/>
          </a:solidFill>
          <a:ln w="9525">
            <a:solidFill>
              <a:srgbClr val="D9E2E8"/>
            </a:solidFill>
            <a:prstDash val="solid"/>
          </a:ln>
        </p:spPr>
      </p:sp>
      <p:sp>
        <p:nvSpPr>
          <p:cNvPr id="7" name="Shape 4"/>
          <p:cNvSpPr/>
          <p:nvPr/>
        </p:nvSpPr>
        <p:spPr>
          <a:xfrm>
            <a:off x="502920" y="1965960"/>
            <a:ext cx="146761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Query</a:t>
            </a:r>
            <a:endParaRPr lang="en-US" sz="1350" dirty="0"/>
          </a:p>
        </p:txBody>
      </p:sp>
      <p:sp>
        <p:nvSpPr>
          <p:cNvPr id="10" name="Text 7"/>
          <p:cNvSpPr/>
          <p:nvPr/>
        </p:nvSpPr>
        <p:spPr>
          <a:xfrm>
            <a:off x="6400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User question — adversarial, bilingual, full of typos in production</a:t>
            </a:r>
            <a:endParaRPr lang="en-US" sz="1050" dirty="0"/>
          </a:p>
        </p:txBody>
      </p:sp>
      <p:sp>
        <p:nvSpPr>
          <p:cNvPr id="11" name="Shape 8"/>
          <p:cNvSpPr/>
          <p:nvPr/>
        </p:nvSpPr>
        <p:spPr>
          <a:xfrm>
            <a:off x="2052828" y="3268980"/>
            <a:ext cx="310896" cy="274320"/>
          </a:xfrm>
          <a:prstGeom prst="rightArrow">
            <a:avLst/>
          </a:prstGeom>
          <a:solidFill>
            <a:srgbClr val="00A79D"/>
          </a:solidFill>
          <a:ln/>
        </p:spPr>
      </p:sp>
      <p:sp>
        <p:nvSpPr>
          <p:cNvPr id="12" name="Shape 9"/>
          <p:cNvSpPr/>
          <p:nvPr/>
        </p:nvSpPr>
        <p:spPr>
          <a:xfrm>
            <a:off x="2446020" y="1965960"/>
            <a:ext cx="1467612" cy="2880360"/>
          </a:xfrm>
          <a:prstGeom prst="rect">
            <a:avLst/>
          </a:prstGeom>
          <a:solidFill>
            <a:srgbClr val="F2F6F8"/>
          </a:solidFill>
          <a:ln w="9525">
            <a:solidFill>
              <a:srgbClr val="D9E2E8"/>
            </a:solidFill>
            <a:prstDash val="solid"/>
          </a:ln>
        </p:spPr>
      </p:sp>
      <p:sp>
        <p:nvSpPr>
          <p:cNvPr id="13" name="Shape 10"/>
          <p:cNvSpPr/>
          <p:nvPr/>
        </p:nvSpPr>
        <p:spPr>
          <a:xfrm>
            <a:off x="2446020" y="1965960"/>
            <a:ext cx="1467612" cy="73152"/>
          </a:xfrm>
          <a:prstGeom prst="rect">
            <a:avLst/>
          </a:prstGeom>
          <a:solidFill>
            <a:srgbClr val="29ABE2"/>
          </a:solidFill>
          <a:ln/>
        </p:spPr>
      </p:sp>
      <p:sp>
        <p:nvSpPr>
          <p:cNvPr id="14" name="Text 11"/>
          <p:cNvSpPr/>
          <p:nvPr/>
        </p:nvSpPr>
        <p:spPr>
          <a:xfrm>
            <a:off x="258318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5831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Rewrite</a:t>
            </a:r>
            <a:endParaRPr lang="en-US" sz="1350" dirty="0"/>
          </a:p>
        </p:txBody>
      </p:sp>
      <p:sp>
        <p:nvSpPr>
          <p:cNvPr id="16" name="Text 13"/>
          <p:cNvSpPr/>
          <p:nvPr/>
        </p:nvSpPr>
        <p:spPr>
          <a:xfrm>
            <a:off x="25831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Query understanding: rewriting and decomposition (M7)</a:t>
            </a:r>
            <a:endParaRPr lang="en-US" sz="1050" dirty="0"/>
          </a:p>
        </p:txBody>
      </p:sp>
      <p:sp>
        <p:nvSpPr>
          <p:cNvPr id="17" name="Shape 14"/>
          <p:cNvSpPr/>
          <p:nvPr/>
        </p:nvSpPr>
        <p:spPr>
          <a:xfrm>
            <a:off x="3995928" y="3268980"/>
            <a:ext cx="310896" cy="274320"/>
          </a:xfrm>
          <a:prstGeom prst="rightArrow">
            <a:avLst/>
          </a:prstGeom>
          <a:solidFill>
            <a:srgbClr val="00A79D"/>
          </a:solidFill>
          <a:ln/>
        </p:spPr>
      </p:sp>
      <p:sp>
        <p:nvSpPr>
          <p:cNvPr id="18" name="Shape 15"/>
          <p:cNvSpPr/>
          <p:nvPr/>
        </p:nvSpPr>
        <p:spPr>
          <a:xfrm>
            <a:off x="4389120" y="1965960"/>
            <a:ext cx="1467612" cy="2880360"/>
          </a:xfrm>
          <a:prstGeom prst="rect">
            <a:avLst/>
          </a:prstGeom>
          <a:solidFill>
            <a:srgbClr val="F2F6F8"/>
          </a:solidFill>
          <a:ln w="9525">
            <a:solidFill>
              <a:srgbClr val="D9E2E8"/>
            </a:solidFill>
            <a:prstDash val="solid"/>
          </a:ln>
        </p:spPr>
      </p:sp>
      <p:sp>
        <p:nvSpPr>
          <p:cNvPr id="19" name="Shape 16"/>
          <p:cNvSpPr/>
          <p:nvPr/>
        </p:nvSpPr>
        <p:spPr>
          <a:xfrm>
            <a:off x="4389120" y="1965960"/>
            <a:ext cx="1467612" cy="73152"/>
          </a:xfrm>
          <a:prstGeom prst="rect">
            <a:avLst/>
          </a:prstGeom>
          <a:solidFill>
            <a:srgbClr val="F7941D"/>
          </a:solidFill>
          <a:ln/>
        </p:spPr>
      </p:sp>
      <p:sp>
        <p:nvSpPr>
          <p:cNvPr id="20" name="Text 17"/>
          <p:cNvSpPr/>
          <p:nvPr/>
        </p:nvSpPr>
        <p:spPr>
          <a:xfrm>
            <a:off x="452628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45262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Retrieve</a:t>
            </a:r>
            <a:endParaRPr lang="en-US" sz="1350" dirty="0"/>
          </a:p>
        </p:txBody>
      </p:sp>
      <p:sp>
        <p:nvSpPr>
          <p:cNvPr id="22" name="Text 19"/>
          <p:cNvSpPr/>
          <p:nvPr/>
        </p:nvSpPr>
        <p:spPr>
          <a:xfrm>
            <a:off x="45262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Dense + sparse hybrid search over the collection (M4)</a:t>
            </a:r>
            <a:endParaRPr lang="en-US" sz="1050" dirty="0"/>
          </a:p>
        </p:txBody>
      </p:sp>
      <p:sp>
        <p:nvSpPr>
          <p:cNvPr id="23" name="Shape 20"/>
          <p:cNvSpPr/>
          <p:nvPr/>
        </p:nvSpPr>
        <p:spPr>
          <a:xfrm>
            <a:off x="5939028" y="3268980"/>
            <a:ext cx="310896" cy="274320"/>
          </a:xfrm>
          <a:prstGeom prst="rightArrow">
            <a:avLst/>
          </a:prstGeom>
          <a:solidFill>
            <a:srgbClr val="00A79D"/>
          </a:solidFill>
          <a:ln/>
        </p:spPr>
      </p:sp>
      <p:sp>
        <p:nvSpPr>
          <p:cNvPr id="24" name="Shape 21"/>
          <p:cNvSpPr/>
          <p:nvPr/>
        </p:nvSpPr>
        <p:spPr>
          <a:xfrm>
            <a:off x="6332220" y="1965960"/>
            <a:ext cx="1467612" cy="2880360"/>
          </a:xfrm>
          <a:prstGeom prst="rect">
            <a:avLst/>
          </a:prstGeom>
          <a:solidFill>
            <a:srgbClr val="F2F6F8"/>
          </a:solidFill>
          <a:ln w="9525">
            <a:solidFill>
              <a:srgbClr val="D9E2E8"/>
            </a:solidFill>
            <a:prstDash val="solid"/>
          </a:ln>
        </p:spPr>
      </p:sp>
      <p:sp>
        <p:nvSpPr>
          <p:cNvPr id="25" name="Shape 22"/>
          <p:cNvSpPr/>
          <p:nvPr/>
        </p:nvSpPr>
        <p:spPr>
          <a:xfrm>
            <a:off x="6332220" y="1965960"/>
            <a:ext cx="1467612" cy="73152"/>
          </a:xfrm>
          <a:prstGeom prst="rect">
            <a:avLst/>
          </a:prstGeom>
          <a:solidFill>
            <a:srgbClr val="8CC63F"/>
          </a:solidFill>
          <a:ln/>
        </p:spPr>
      </p:sp>
      <p:sp>
        <p:nvSpPr>
          <p:cNvPr id="26" name="Text 23"/>
          <p:cNvSpPr/>
          <p:nvPr/>
        </p:nvSpPr>
        <p:spPr>
          <a:xfrm>
            <a:off x="646938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64693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Rerank</a:t>
            </a:r>
            <a:endParaRPr lang="en-US" sz="1350" dirty="0"/>
          </a:p>
        </p:txBody>
      </p:sp>
      <p:sp>
        <p:nvSpPr>
          <p:cNvPr id="28" name="Text 25"/>
          <p:cNvSpPr/>
          <p:nvPr/>
        </p:nvSpPr>
        <p:spPr>
          <a:xfrm>
            <a:off x="64693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Cross-encoder orders candidates; strict top-k survives (M4)</a:t>
            </a:r>
            <a:endParaRPr lang="en-US" sz="1050" dirty="0"/>
          </a:p>
        </p:txBody>
      </p:sp>
      <p:sp>
        <p:nvSpPr>
          <p:cNvPr id="29" name="Shape 26"/>
          <p:cNvSpPr/>
          <p:nvPr/>
        </p:nvSpPr>
        <p:spPr>
          <a:xfrm>
            <a:off x="7882128" y="3268980"/>
            <a:ext cx="310896" cy="274320"/>
          </a:xfrm>
          <a:prstGeom prst="rightArrow">
            <a:avLst/>
          </a:prstGeom>
          <a:solidFill>
            <a:srgbClr val="00A79D"/>
          </a:solidFill>
          <a:ln/>
        </p:spPr>
      </p:sp>
      <p:sp>
        <p:nvSpPr>
          <p:cNvPr id="30" name="Shape 27"/>
          <p:cNvSpPr/>
          <p:nvPr/>
        </p:nvSpPr>
        <p:spPr>
          <a:xfrm>
            <a:off x="8275320" y="1965960"/>
            <a:ext cx="1467612" cy="2880360"/>
          </a:xfrm>
          <a:prstGeom prst="rect">
            <a:avLst/>
          </a:prstGeom>
          <a:solidFill>
            <a:srgbClr val="F2F6F8"/>
          </a:solidFill>
          <a:ln w="9525">
            <a:solidFill>
              <a:srgbClr val="D9E2E8"/>
            </a:solidFill>
            <a:prstDash val="solid"/>
          </a:ln>
        </p:spPr>
      </p:sp>
      <p:sp>
        <p:nvSpPr>
          <p:cNvPr id="31" name="Shape 28"/>
          <p:cNvSpPr/>
          <p:nvPr/>
        </p:nvSpPr>
        <p:spPr>
          <a:xfrm>
            <a:off x="8275320" y="1965960"/>
            <a:ext cx="1467612" cy="73152"/>
          </a:xfrm>
          <a:prstGeom prst="rect">
            <a:avLst/>
          </a:prstGeom>
          <a:solidFill>
            <a:srgbClr val="1D2A5C"/>
          </a:solidFill>
          <a:ln/>
        </p:spPr>
      </p:sp>
      <p:sp>
        <p:nvSpPr>
          <p:cNvPr id="32" name="Text 29"/>
          <p:cNvSpPr/>
          <p:nvPr/>
        </p:nvSpPr>
        <p:spPr>
          <a:xfrm>
            <a:off x="841248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84124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Build context</a:t>
            </a:r>
            <a:endParaRPr lang="en-US" sz="1350" dirty="0"/>
          </a:p>
        </p:txBody>
      </p:sp>
      <p:sp>
        <p:nvSpPr>
          <p:cNvPr id="34" name="Text 31"/>
          <p:cNvSpPr/>
          <p:nvPr/>
        </p:nvSpPr>
        <p:spPr>
          <a:xfrm>
            <a:off x="84124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Context construction under a token budget (M5)</a:t>
            </a:r>
            <a:endParaRPr lang="en-US" sz="1050" dirty="0"/>
          </a:p>
        </p:txBody>
      </p:sp>
      <p:sp>
        <p:nvSpPr>
          <p:cNvPr id="35" name="Shape 32"/>
          <p:cNvSpPr/>
          <p:nvPr/>
        </p:nvSpPr>
        <p:spPr>
          <a:xfrm>
            <a:off x="9825228" y="3268980"/>
            <a:ext cx="310896" cy="274320"/>
          </a:xfrm>
          <a:prstGeom prst="rightArrow">
            <a:avLst/>
          </a:prstGeom>
          <a:solidFill>
            <a:srgbClr val="00A79D"/>
          </a:solidFill>
          <a:ln/>
        </p:spPr>
      </p:sp>
      <p:sp>
        <p:nvSpPr>
          <p:cNvPr id="36" name="Shape 33"/>
          <p:cNvSpPr/>
          <p:nvPr/>
        </p:nvSpPr>
        <p:spPr>
          <a:xfrm>
            <a:off x="10218420" y="1965960"/>
            <a:ext cx="1467612" cy="2880360"/>
          </a:xfrm>
          <a:prstGeom prst="rect">
            <a:avLst/>
          </a:prstGeom>
          <a:solidFill>
            <a:srgbClr val="F2F6F8"/>
          </a:solidFill>
          <a:ln w="9525">
            <a:solidFill>
              <a:srgbClr val="D9E2E8"/>
            </a:solidFill>
            <a:prstDash val="solid"/>
          </a:ln>
        </p:spPr>
      </p:sp>
      <p:sp>
        <p:nvSpPr>
          <p:cNvPr id="37" name="Shape 34"/>
          <p:cNvSpPr/>
          <p:nvPr/>
        </p:nvSpPr>
        <p:spPr>
          <a:xfrm>
            <a:off x="10218420" y="1965960"/>
            <a:ext cx="1467612" cy="73152"/>
          </a:xfrm>
          <a:prstGeom prst="rect">
            <a:avLst/>
          </a:prstGeom>
          <a:solidFill>
            <a:srgbClr val="00A79D"/>
          </a:solidFill>
          <a:ln/>
        </p:spPr>
      </p:sp>
      <p:sp>
        <p:nvSpPr>
          <p:cNvPr id="38" name="Text 35"/>
          <p:cNvSpPr/>
          <p:nvPr/>
        </p:nvSpPr>
        <p:spPr>
          <a:xfrm>
            <a:off x="103555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6</a:t>
            </a:r>
            <a:endParaRPr lang="en-US" sz="1500" dirty="0"/>
          </a:p>
        </p:txBody>
      </p:sp>
      <p:sp>
        <p:nvSpPr>
          <p:cNvPr id="39" name="Text 36"/>
          <p:cNvSpPr/>
          <p:nvPr/>
        </p:nvSpPr>
        <p:spPr>
          <a:xfrm>
            <a:off x="103555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Generate</a:t>
            </a:r>
            <a:endParaRPr lang="en-US" sz="1350" dirty="0"/>
          </a:p>
        </p:txBody>
      </p:sp>
      <p:sp>
        <p:nvSpPr>
          <p:cNvPr id="40" name="Text 37"/>
          <p:cNvSpPr/>
          <p:nvPr/>
        </p:nvSpPr>
        <p:spPr>
          <a:xfrm>
            <a:off x="103555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Grounded answer with citations + evaluation telemetry (M5, M6)</a:t>
            </a:r>
            <a:endParaRPr lang="en-US" sz="1050" dirty="0"/>
          </a:p>
        </p:txBody>
      </p:sp>
      <p:sp>
        <p:nvSpPr>
          <p:cNvPr id="41" name="Shape 38"/>
          <p:cNvSpPr/>
          <p:nvPr/>
        </p:nvSpPr>
        <p:spPr>
          <a:xfrm>
            <a:off x="502920" y="5394960"/>
            <a:ext cx="11183112" cy="777240"/>
          </a:xfrm>
          <a:prstGeom prst="rect">
            <a:avLst/>
          </a:prstGeom>
          <a:solidFill>
            <a:srgbClr val="E6F5F4"/>
          </a:solidFill>
          <a:ln/>
        </p:spPr>
      </p:sp>
      <p:sp>
        <p:nvSpPr>
          <p:cNvPr id="42" name="Text 3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vendor pitch is just this diagram with logos — the engineer’s job is to know which boxes the product actually covers.</a:t>
            </a:r>
            <a:endParaRPr lang="en-US" sz="1050" dirty="0"/>
          </a:p>
        </p:txBody>
      </p:sp>
      <p:sp>
        <p:nvSpPr>
          <p:cNvPr id="43" name="Text 4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44" name="Text 4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Cost and Latency Anatomy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تشريح الكلفة وزمن الاستجابة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74520"/>
            <a:ext cx="2555748" cy="3063240"/>
          </a:xfrm>
          <a:prstGeom prst="rect">
            <a:avLst/>
          </a:prstGeom>
          <a:solidFill>
            <a:srgbClr val="F2F6F8"/>
          </a:solidFill>
          <a:ln w="9525">
            <a:solidFill>
              <a:srgbClr val="D9E2E8"/>
            </a:solidFill>
            <a:prstDash val="solid"/>
          </a:ln>
        </p:spPr>
      </p:sp>
      <p:sp>
        <p:nvSpPr>
          <p:cNvPr id="7" name="Shape 4"/>
          <p:cNvSpPr/>
          <p:nvPr/>
        </p:nvSpPr>
        <p:spPr>
          <a:xfrm>
            <a:off x="502920" y="1874520"/>
            <a:ext cx="2555748" cy="73152"/>
          </a:xfrm>
          <a:prstGeom prst="rect">
            <a:avLst/>
          </a:prstGeom>
          <a:solidFill>
            <a:srgbClr val="00A79D"/>
          </a:solidFill>
          <a:ln/>
        </p:spPr>
      </p:sp>
      <p:sp>
        <p:nvSpPr>
          <p:cNvPr id="8" name="Text 5"/>
          <p:cNvSpPr/>
          <p:nvPr/>
        </p:nvSpPr>
        <p:spPr>
          <a:xfrm>
            <a:off x="594360" y="2303374"/>
            <a:ext cx="2372868" cy="960120"/>
          </a:xfrm>
          <a:prstGeom prst="rect">
            <a:avLst/>
          </a:prstGeom>
          <a:noFill/>
          <a:ln/>
        </p:spPr>
        <p:txBody>
          <a:bodyPr wrap="square" rtlCol="0" anchor="ctr"/>
          <a:lstStyle/>
          <a:p>
            <a:pPr algn="ctr" indent="0" marL="0">
              <a:buNone/>
            </a:pPr>
            <a:r>
              <a:rPr lang="en-US" sz="3200" b="1" dirty="0">
                <a:solidFill>
                  <a:srgbClr val="00A79D"/>
                </a:solidFill>
                <a:latin typeface="Calibri" pitchFamily="34" charset="0"/>
                <a:ea typeface="Calibri" pitchFamily="34" charset="-122"/>
                <a:cs typeface="Calibri" pitchFamily="34" charset="-120"/>
              </a:rPr>
              <a:t>1.5–9 s</a:t>
            </a:r>
            <a:endParaRPr lang="en-US" sz="3200" dirty="0"/>
          </a:p>
        </p:txBody>
      </p:sp>
      <p:sp>
        <p:nvSpPr>
          <p:cNvPr id="9" name="Text 6"/>
          <p:cNvSpPr/>
          <p:nvPr/>
        </p:nvSpPr>
        <p:spPr>
          <a:xfrm>
            <a:off x="685800"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Total per-query latency</a:t>
            </a:r>
            <a:endParaRPr lang="en-US" sz="1300" dirty="0"/>
          </a:p>
        </p:txBody>
      </p:sp>
      <p:sp>
        <p:nvSpPr>
          <p:cNvPr id="10" name="Text 7"/>
          <p:cNvSpPr/>
          <p:nvPr/>
        </p:nvSpPr>
        <p:spPr>
          <a:xfrm>
            <a:off x="685800"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well-engineered stack, warm caches</a:t>
            </a:r>
            <a:endParaRPr lang="en-US" sz="1050" dirty="0"/>
          </a:p>
        </p:txBody>
      </p:sp>
      <p:sp>
        <p:nvSpPr>
          <p:cNvPr id="11" name="Shape 8"/>
          <p:cNvSpPr/>
          <p:nvPr/>
        </p:nvSpPr>
        <p:spPr>
          <a:xfrm>
            <a:off x="3378708" y="1874520"/>
            <a:ext cx="2555748" cy="3063240"/>
          </a:xfrm>
          <a:prstGeom prst="rect">
            <a:avLst/>
          </a:prstGeom>
          <a:solidFill>
            <a:srgbClr val="F2F6F8"/>
          </a:solidFill>
          <a:ln w="9525">
            <a:solidFill>
              <a:srgbClr val="D9E2E8"/>
            </a:solidFill>
            <a:prstDash val="solid"/>
          </a:ln>
        </p:spPr>
      </p:sp>
      <p:sp>
        <p:nvSpPr>
          <p:cNvPr id="12" name="Shape 9"/>
          <p:cNvSpPr/>
          <p:nvPr/>
        </p:nvSpPr>
        <p:spPr>
          <a:xfrm>
            <a:off x="3378708" y="1874520"/>
            <a:ext cx="2555748" cy="73152"/>
          </a:xfrm>
          <a:prstGeom prst="rect">
            <a:avLst/>
          </a:prstGeom>
          <a:solidFill>
            <a:srgbClr val="29ABE2"/>
          </a:solidFill>
          <a:ln/>
        </p:spPr>
      </p:sp>
      <p:sp>
        <p:nvSpPr>
          <p:cNvPr id="13" name="Text 10"/>
          <p:cNvSpPr/>
          <p:nvPr/>
        </p:nvSpPr>
        <p:spPr>
          <a:xfrm>
            <a:off x="3470148"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1–8 s</a:t>
            </a:r>
            <a:endParaRPr lang="en-US" sz="4000" dirty="0"/>
          </a:p>
        </p:txBody>
      </p:sp>
      <p:sp>
        <p:nvSpPr>
          <p:cNvPr id="14" name="Text 11"/>
          <p:cNvSpPr/>
          <p:nvPr/>
        </p:nvSpPr>
        <p:spPr>
          <a:xfrm>
            <a:off x="3561588"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Generation of a 500-token answer</a:t>
            </a:r>
            <a:endParaRPr lang="en-US" sz="1300" dirty="0"/>
          </a:p>
        </p:txBody>
      </p:sp>
      <p:sp>
        <p:nvSpPr>
          <p:cNvPr id="15" name="Text 12"/>
          <p:cNvSpPr/>
          <p:nvPr/>
        </p:nvSpPr>
        <p:spPr>
          <a:xfrm>
            <a:off x="3561588"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dominates latency AND cost</a:t>
            </a:r>
            <a:endParaRPr lang="en-US" sz="1050" dirty="0"/>
          </a:p>
        </p:txBody>
      </p:sp>
      <p:sp>
        <p:nvSpPr>
          <p:cNvPr id="16" name="Shape 13"/>
          <p:cNvSpPr/>
          <p:nvPr/>
        </p:nvSpPr>
        <p:spPr>
          <a:xfrm>
            <a:off x="6254496" y="1874520"/>
            <a:ext cx="2555748" cy="3063240"/>
          </a:xfrm>
          <a:prstGeom prst="rect">
            <a:avLst/>
          </a:prstGeom>
          <a:solidFill>
            <a:srgbClr val="F2F6F8"/>
          </a:solidFill>
          <a:ln w="9525">
            <a:solidFill>
              <a:srgbClr val="D9E2E8"/>
            </a:solidFill>
            <a:prstDash val="solid"/>
          </a:ln>
        </p:spPr>
      </p:sp>
      <p:sp>
        <p:nvSpPr>
          <p:cNvPr id="17" name="Shape 14"/>
          <p:cNvSpPr/>
          <p:nvPr/>
        </p:nvSpPr>
        <p:spPr>
          <a:xfrm>
            <a:off x="6254496" y="1874520"/>
            <a:ext cx="2555748" cy="73152"/>
          </a:xfrm>
          <a:prstGeom prst="rect">
            <a:avLst/>
          </a:prstGeom>
          <a:solidFill>
            <a:srgbClr val="F7941D"/>
          </a:solidFill>
          <a:ln/>
        </p:spPr>
      </p:sp>
      <p:sp>
        <p:nvSpPr>
          <p:cNvPr id="18" name="Text 15"/>
          <p:cNvSpPr/>
          <p:nvPr/>
        </p:nvSpPr>
        <p:spPr>
          <a:xfrm>
            <a:off x="6345936" y="2303374"/>
            <a:ext cx="2372868" cy="960120"/>
          </a:xfrm>
          <a:prstGeom prst="rect">
            <a:avLst/>
          </a:prstGeom>
          <a:noFill/>
          <a:ln/>
        </p:spPr>
        <p:txBody>
          <a:bodyPr wrap="square" rtlCol="0" anchor="ctr"/>
          <a:lstStyle/>
          <a:p>
            <a:pPr algn="ctr" indent="0" marL="0">
              <a:buNone/>
            </a:pPr>
            <a:r>
              <a:rPr lang="en-US" sz="3200" b="1" dirty="0">
                <a:solidFill>
                  <a:srgbClr val="00A79D"/>
                </a:solidFill>
                <a:latin typeface="Calibri" pitchFamily="34" charset="0"/>
                <a:ea typeface="Calibri" pitchFamily="34" charset="-122"/>
                <a:cs typeface="Calibri" pitchFamily="34" charset="-120"/>
              </a:rPr>
              <a:t>5–30 ms</a:t>
            </a:r>
            <a:endParaRPr lang="en-US" sz="3200" dirty="0"/>
          </a:p>
        </p:txBody>
      </p:sp>
      <p:sp>
        <p:nvSpPr>
          <p:cNvPr id="19" name="Text 16"/>
          <p:cNvSpPr/>
          <p:nvPr/>
        </p:nvSpPr>
        <p:spPr>
          <a:xfrm>
            <a:off x="6437376"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Vector search, 100k chunks</a:t>
            </a:r>
            <a:endParaRPr lang="en-US" sz="1300" dirty="0"/>
          </a:p>
        </p:txBody>
      </p:sp>
      <p:sp>
        <p:nvSpPr>
          <p:cNvPr id="20" name="Text 17"/>
          <p:cNvSpPr/>
          <p:nvPr/>
        </p:nvSpPr>
        <p:spPr>
          <a:xfrm>
            <a:off x="6437376"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HNSW — RAM for the index</a:t>
            </a:r>
            <a:endParaRPr lang="en-US" sz="1050" dirty="0"/>
          </a:p>
        </p:txBody>
      </p:sp>
      <p:sp>
        <p:nvSpPr>
          <p:cNvPr id="21" name="Shape 18"/>
          <p:cNvSpPr/>
          <p:nvPr/>
        </p:nvSpPr>
        <p:spPr>
          <a:xfrm>
            <a:off x="9130284" y="1874520"/>
            <a:ext cx="2555748" cy="3063240"/>
          </a:xfrm>
          <a:prstGeom prst="rect">
            <a:avLst/>
          </a:prstGeom>
          <a:solidFill>
            <a:srgbClr val="F2F6F8"/>
          </a:solidFill>
          <a:ln w="9525">
            <a:solidFill>
              <a:srgbClr val="D9E2E8"/>
            </a:solidFill>
            <a:prstDash val="solid"/>
          </a:ln>
        </p:spPr>
      </p:sp>
      <p:sp>
        <p:nvSpPr>
          <p:cNvPr id="22" name="Shape 19"/>
          <p:cNvSpPr/>
          <p:nvPr/>
        </p:nvSpPr>
        <p:spPr>
          <a:xfrm>
            <a:off x="9130284" y="1874520"/>
            <a:ext cx="2555748" cy="73152"/>
          </a:xfrm>
          <a:prstGeom prst="rect">
            <a:avLst/>
          </a:prstGeom>
          <a:solidFill>
            <a:srgbClr val="8CC63F"/>
          </a:solidFill>
          <a:ln/>
        </p:spPr>
      </p:sp>
      <p:sp>
        <p:nvSpPr>
          <p:cNvPr id="23" name="Text 20"/>
          <p:cNvSpPr/>
          <p:nvPr/>
        </p:nvSpPr>
        <p:spPr>
          <a:xfrm>
            <a:off x="9221724" y="2303374"/>
            <a:ext cx="2372868" cy="960120"/>
          </a:xfrm>
          <a:prstGeom prst="rect">
            <a:avLst/>
          </a:prstGeom>
          <a:noFill/>
          <a:ln/>
        </p:spPr>
        <p:txBody>
          <a:bodyPr wrap="square" rtlCol="0" anchor="ctr"/>
          <a:lstStyle/>
          <a:p>
            <a:pPr algn="ctr" indent="0" marL="0">
              <a:buNone/>
            </a:pPr>
            <a:r>
              <a:rPr lang="en-US" sz="2600" b="1" dirty="0">
                <a:solidFill>
                  <a:srgbClr val="00A79D"/>
                </a:solidFill>
                <a:latin typeface="Calibri" pitchFamily="34" charset="0"/>
                <a:ea typeface="Calibri" pitchFamily="34" charset="-122"/>
                <a:cs typeface="Calibri" pitchFamily="34" charset="-120"/>
              </a:rPr>
              <a:t>50–300ms</a:t>
            </a:r>
            <a:endParaRPr lang="en-US" sz="2600" dirty="0"/>
          </a:p>
        </p:txBody>
      </p:sp>
      <p:sp>
        <p:nvSpPr>
          <p:cNvPr id="24" name="Text 21"/>
          <p:cNvSpPr/>
          <p:nvPr/>
        </p:nvSpPr>
        <p:spPr>
          <a:xfrm>
            <a:off x="9313164"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Reranking 40 candidates</a:t>
            </a:r>
            <a:endParaRPr lang="en-US" sz="1300" dirty="0"/>
          </a:p>
        </p:txBody>
      </p:sp>
      <p:sp>
        <p:nvSpPr>
          <p:cNvPr id="25" name="Text 22"/>
          <p:cNvSpPr/>
          <p:nvPr/>
        </p:nvSpPr>
        <p:spPr>
          <a:xfrm>
            <a:off x="9313164"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cross-encoder GPU/CPU compute</a:t>
            </a:r>
            <a:endParaRPr lang="en-US" sz="10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Generation dominates cost (input tokens = context size); retrieval is cheap. Be generous before the reranker (fetch 40–100), strict after it (keep 4–8).</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Naive Baseline Failure Taxonomy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تصنيف أنماط فشل النظام الأساسي الساذج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456432"/>
                <a:gridCol w="6409944"/>
                <a:gridCol w="1316736"/>
              </a:tblGrid>
              <a:tr h="41757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Symptom</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Fixed by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F1 Parsing loss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Table or scan never became text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F2 Fragmentation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Chunk starts mid-sentence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F3 Semantic miss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Wrong chunks; AR/EN vocabulary gap</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F4 Exact-match miss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Identifiers blurred by dense vectors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F5 Precision collapse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Right chunk ranked 9th; junk in top-4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F6 Context abuse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Mid-context evidence ignored or blended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F7 Ungrounded fluency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Confident answer, no supporting chunk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M5+M6</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F8 Staleness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Superseded 2023 policy still cited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M2+M6</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This taxonomy is the spine of the course: every later module opens by naming which failure classes it retires.</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and Production Considerations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الأخطاء الشائعة واعتبارات الإنتاج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Fine-tuning for knowledge injection: costly updates, no citations, no deletion</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Skipping the baseline — you cannot prove a sophisticated stack earns its complexity</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Demo-driven development: five friendly questions; production is adversarial and bilingual</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Ignoring access control until launch — retrofit is a redesign; filter from the first schema</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No latency/cost budget per stage — the reranker or a 16-chunk context blows the SLA</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PRODUCTION</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Index freshness SLAs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Multi-tenancy: collections vs filters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Empty retrieval → refuse, never freestyle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Log retrieved chunk IDs per answer</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That log is the audit trail at 03:00</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RAG is not a library import — it is a system with eight failure classes, each needing owned engineering.</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Naive Baseline (Lab 1 Starting Point)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النظام الأساسي الساذج: نقطة انطلاق المختبر الأول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Naive RAG -- the course punching bag. Every module improves one stage.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EMB = SentenceTransformer("BAAI/bge-m3")     # multilingual dense encoder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index(docs):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chunks = [{"doc_id": d["id"], "text": d["text"][i:i + 500]}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d in docs for i in range(0, len(d["text"]), 500)]   # F2</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vecs = EMB.encode([c["text"] for c in chunks], normalize_embeddings=True)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qdr.upsert(COLLECTION, [PointStruct(id=i, vector=v.tolist(), payload=c)</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i, (v, c) in enumerate(zip(vecs, chunks))])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ask(query, k=4):</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qv = EMB.encode(query, normalize_embeddings=True)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hits = qdr.query_points(COLLECTION, query=qv.tolist(), limit=k).points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context = "\n\n".join(h.payload["text"] for h in hits)   # F5, F6 live here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resp = llm.chat.completions.create(model="course-llm", temperature=0,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messages=[{"role": "system",</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"content": "Answer using the context.\n\n" + context},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{"role": "user", "content": query}])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resp.choices[0].message.content   # F7: no citations, no refusal</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Deliberately minimal: fixed 500-char chunks, top-4 cosine, no citations. Do NOT ship this.</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Point at the comments: F2 lives in the chunker, F5 and F6 in the context paste, F7 in the missing refusal path — the taxonomy maps to lines of code.</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Decision Framework as Code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إطار القرار في صورة برمجية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RAG-vs-fine-tune scoring worksheet -- a structured argument, not ML.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dataclasses import dataclass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@dataclass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class Scenario:</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knowledge_change_cadence_days: int   # how often facts change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citations_required: bool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per_user_access_control: bool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style_or_format_requirements: bool   # strict tone / schema outputs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erasure_obligations: bool            # PDPL right-to-erasure applies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def recommend(self):</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rag = tune = 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self.knowledge_change_cadence_days &lt; 90: rag += 2  # freshness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self.citations_required: rag += 3   # attribution needs retrieval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self.per_user_access_control: rag += 3   # weights are global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self.erasure_obligations: rag += 3  # unlearning is not practice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self.style_or_format_requirements: tune += 2</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rag and tune: return "HYBRID: RAG + narrow fine-tune for format"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"RAG-first" if rag &gt;= tune else "Fine-tune candidate"</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Workshop artefact: the output is a recommendation WITH reasons — what a review board wants.</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Not machine learning — a structured argument. Run it per component of the decomposed problem, not per project.</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1 — Naive RAG Baseline and Failure Gallery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الأول: النظام الأساسي ومعرض الإخفاقات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Run the naive pipeline over a 25-document corpus slice, then systematically break it: classify 12 probe questions into the failure taxonomy F1–F8.</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927604"/>
            <a:ext cx="274320" cy="274320"/>
          </a:xfrm>
          <a:prstGeom prst="rect">
            <a:avLst/>
          </a:prstGeom>
          <a:solidFill>
            <a:srgbClr val="1D2A5C"/>
          </a:solidFill>
          <a:ln/>
        </p:spPr>
      </p:sp>
      <p:sp>
        <p:nvSpPr>
          <p:cNvPr id="13" name="Text 10"/>
          <p:cNvSpPr/>
          <p:nvPr/>
        </p:nvSpPr>
        <p:spPr>
          <a:xfrm>
            <a:off x="685800" y="292760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Run make ingest-naive over corpus_v1/slice_25/ — confirm ~900 chunks; note mid-sentence chunk starts</a:t>
            </a:r>
            <a:endParaRPr lang="en-US" sz="1150" dirty="0"/>
          </a:p>
        </p:txBody>
      </p:sp>
      <p:sp>
        <p:nvSpPr>
          <p:cNvPr id="15" name="Shape 12"/>
          <p:cNvSpPr/>
          <p:nvPr/>
        </p:nvSpPr>
        <p:spPr>
          <a:xfrm>
            <a:off x="685800" y="3351276"/>
            <a:ext cx="274320" cy="274320"/>
          </a:xfrm>
          <a:prstGeom prst="rect">
            <a:avLst/>
          </a:prstGeom>
          <a:solidFill>
            <a:srgbClr val="1D2A5C"/>
          </a:solidFill>
          <a:ln/>
        </p:spPr>
      </p:sp>
      <p:sp>
        <p:nvSpPr>
          <p:cNvPr id="16" name="Text 13"/>
          <p:cNvSpPr/>
          <p:nvPr/>
        </p:nvSpPr>
        <p:spPr>
          <a:xfrm>
            <a:off x="685800" y="3351276"/>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276600"/>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Ask the five friendly questions from probes/easy.jsonl — verify the baseline looks good; record answers</a:t>
            </a:r>
            <a:endParaRPr lang="en-US" sz="1150" dirty="0"/>
          </a:p>
        </p:txBody>
      </p:sp>
      <p:sp>
        <p:nvSpPr>
          <p:cNvPr id="18" name="Shape 15"/>
          <p:cNvSpPr/>
          <p:nvPr/>
        </p:nvSpPr>
        <p:spPr>
          <a:xfrm>
            <a:off x="685800" y="3774948"/>
            <a:ext cx="274320" cy="274320"/>
          </a:xfrm>
          <a:prstGeom prst="rect">
            <a:avLst/>
          </a:prstGeom>
          <a:solidFill>
            <a:srgbClr val="1D2A5C"/>
          </a:solidFill>
          <a:ln/>
        </p:spPr>
      </p:sp>
      <p:sp>
        <p:nvSpPr>
          <p:cNvPr id="19" name="Text 16"/>
          <p:cNvSpPr/>
          <p:nvPr/>
        </p:nvSpPr>
        <p:spPr>
          <a:xfrm>
            <a:off x="685800" y="3774948"/>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700272"/>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Run the 12 adversarial probes: circular IDs, Arabic queries, table answers, superseded policy</a:t>
            </a:r>
            <a:endParaRPr lang="en-US" sz="1150" dirty="0"/>
          </a:p>
        </p:txBody>
      </p:sp>
      <p:sp>
        <p:nvSpPr>
          <p:cNvPr id="21" name="Shape 18"/>
          <p:cNvSpPr/>
          <p:nvPr/>
        </p:nvSpPr>
        <p:spPr>
          <a:xfrm>
            <a:off x="685800" y="4198620"/>
            <a:ext cx="274320" cy="274320"/>
          </a:xfrm>
          <a:prstGeom prst="rect">
            <a:avLst/>
          </a:prstGeom>
          <a:solidFill>
            <a:srgbClr val="1D2A5C"/>
          </a:solidFill>
          <a:ln/>
        </p:spPr>
      </p:sp>
      <p:sp>
        <p:nvSpPr>
          <p:cNvPr id="22" name="Text 19"/>
          <p:cNvSpPr/>
          <p:nvPr/>
        </p:nvSpPr>
        <p:spPr>
          <a:xfrm>
            <a:off x="685800" y="4198620"/>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4123944"/>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For each probe capture the answer, retrieved chunk IDs, and a failure class F1–F8 with evidence</a:t>
            </a:r>
            <a:endParaRPr lang="en-US" sz="1150" dirty="0"/>
          </a:p>
        </p:txBody>
      </p:sp>
      <p:sp>
        <p:nvSpPr>
          <p:cNvPr id="24" name="Shape 21"/>
          <p:cNvSpPr/>
          <p:nvPr/>
        </p:nvSpPr>
        <p:spPr>
          <a:xfrm>
            <a:off x="685800" y="4622292"/>
            <a:ext cx="274320" cy="274320"/>
          </a:xfrm>
          <a:prstGeom prst="rect">
            <a:avLst/>
          </a:prstGeom>
          <a:solidFill>
            <a:srgbClr val="1D2A5C"/>
          </a:solidFill>
          <a:ln/>
        </p:spPr>
      </p:sp>
      <p:sp>
        <p:nvSpPr>
          <p:cNvPr id="25" name="Text 22"/>
          <p:cNvSpPr/>
          <p:nvPr/>
        </p:nvSpPr>
        <p:spPr>
          <a:xfrm>
            <a:off x="685800" y="4622292"/>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547616"/>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Compare classifications with a neighbouring pair — resolve by inspecting retrieved chunks, not answers</a:t>
            </a:r>
            <a:endParaRPr lang="en-US" sz="1150" dirty="0"/>
          </a:p>
        </p:txBody>
      </p:sp>
      <p:sp>
        <p:nvSpPr>
          <p:cNvPr id="27" name="Shape 24"/>
          <p:cNvSpPr/>
          <p:nvPr/>
        </p:nvSpPr>
        <p:spPr>
          <a:xfrm>
            <a:off x="685800" y="5045964"/>
            <a:ext cx="274320" cy="274320"/>
          </a:xfrm>
          <a:prstGeom prst="rect">
            <a:avLst/>
          </a:prstGeom>
          <a:solidFill>
            <a:srgbClr val="1D2A5C"/>
          </a:solidFill>
          <a:ln/>
        </p:spPr>
      </p:sp>
      <p:sp>
        <p:nvSpPr>
          <p:cNvPr id="28" name="Text 25"/>
          <p:cNvSpPr/>
          <p:nvPr/>
        </p:nvSpPr>
        <p:spPr>
          <a:xfrm>
            <a:off x="685800" y="504596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9" name="Text 26"/>
          <p:cNvSpPr/>
          <p:nvPr/>
        </p:nvSpPr>
        <p:spPr>
          <a:xfrm>
            <a:off x="1124712" y="4971288"/>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Commit FAILURE_GALLERY.md with message docs: baseline failure gallery</a:t>
            </a:r>
            <a:endParaRPr lang="en-US" sz="1150" dirty="0"/>
          </a:p>
        </p:txBody>
      </p:sp>
      <p:sp>
        <p:nvSpPr>
          <p:cNvPr id="30" name="Shape 27"/>
          <p:cNvSpPr/>
          <p:nvPr/>
        </p:nvSpPr>
        <p:spPr>
          <a:xfrm>
            <a:off x="502920" y="5650992"/>
            <a:ext cx="11183112" cy="603504"/>
          </a:xfrm>
          <a:prstGeom prst="rect">
            <a:avLst/>
          </a:prstGeom>
          <a:solidFill>
            <a:srgbClr val="F1F8E4"/>
          </a:solidFill>
          <a:ln/>
        </p:spPr>
      </p:sp>
      <p:sp>
        <p:nvSpPr>
          <p:cNvPr id="31" name="Shape 28"/>
          <p:cNvSpPr/>
          <p:nvPr/>
        </p:nvSpPr>
        <p:spPr>
          <a:xfrm>
            <a:off x="502920" y="5650992"/>
            <a:ext cx="82296" cy="603504"/>
          </a:xfrm>
          <a:prstGeom prst="rect">
            <a:avLst/>
          </a:prstGeom>
          <a:solidFill>
            <a:srgbClr val="8CC63F"/>
          </a:solidFill>
          <a:ln/>
        </p:spPr>
      </p:sp>
      <p:sp>
        <p:nvSpPr>
          <p:cNvPr id="32" name="Text 29"/>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Committed FAILURE_GALLERY.md — the course’s most-referenced artefact — with all 12 probes classified and one sentence of evidence each.</a:t>
            </a:r>
            <a:endParaRPr lang="en-US" sz="1050" dirty="0"/>
          </a:p>
        </p:txBody>
      </p:sp>
      <p:sp>
        <p:nvSpPr>
          <p:cNvPr id="33" name="Text 3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4" name="Text 3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 Exercise: Read the Retrieval Logs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قراءة سجلات الاسترجاع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Dalil answers a question about the remote work allowance — from the travel allowance policy</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Using only the retrieved chunk IDs, decide: F3 semantic miss or F5 precision collapse?</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Bonus: review baseline.py against a production checklist — name six missing things</a:t>
            </a:r>
            <a:endParaRPr lang="en-US" sz="1400" dirty="0"/>
          </a:p>
        </p:txBody>
      </p:sp>
      <p:sp>
        <p:nvSpPr>
          <p:cNvPr id="12" name="Text 9"/>
          <p:cNvSpPr/>
          <p:nvPr/>
        </p:nvSpPr>
        <p:spPr>
          <a:xfrm>
            <a:off x="1069848" y="2907792"/>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Map each missing feature to the course module that adds it</a:t>
            </a:r>
            <a:endParaRPr lang="en-US" sz="1150" dirty="0"/>
          </a:p>
        </p:txBody>
      </p:sp>
      <p:sp>
        <p:nvSpPr>
          <p:cNvPr id="13" name="Shape 10"/>
          <p:cNvSpPr/>
          <p:nvPr/>
        </p:nvSpPr>
        <p:spPr>
          <a:xfrm>
            <a:off x="8092440" y="1572768"/>
            <a:ext cx="3593592" cy="3685032"/>
          </a:xfrm>
          <a:prstGeom prst="rect">
            <a:avLst/>
          </a:prstGeom>
          <a:solidFill>
            <a:srgbClr val="E6F5F4"/>
          </a:solidFill>
          <a:ln/>
        </p:spPr>
      </p:sp>
      <p:sp>
        <p:nvSpPr>
          <p:cNvPr id="14" name="Text 11"/>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5" name="Text 12"/>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F3: right chunks appear nowhere in the results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F5: right chunk exists but ranks below top-k</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Read retrieval logs before touching prompts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Checklist starts: citations, refusal,</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access filter, error handling…</a:t>
            </a:r>
            <a:endParaRPr lang="en-US" sz="11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habit being trained: diagnose from retrieval logs first — prompt surgery on a retrieval problem wastes the afternoon.</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RAG or Fine-Tune at a National Telecom</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الاسترجاع أم الضبط الدقيق في شركة اتصالات وطنية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Saudi telecom’s network-operations division wants an assistant over 6,000 pages: incident runbooks (weekly updates), jargon-dense vendor manuals (static), audit-sensitive HR/safety policies (quarterly). A vendor proposes fine-tuning a 70B model for SAR 2.1M, with SAR 180k per update cycle; the internal team proposes RAG. Audits need clause-level citations; engineers and contractors must see different subsets; inference stays on-prem.</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Which single requirement kills the pure fine-tuning proposal fastest?</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vendor counters: fine-tune monthly, RAG the deltas — what complexity does this hybrid create?</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Design the two-line test proving whether the jargon problem is in the embedder or the generator</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What does the on-prem data-residency constraint change about model selection?</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1 Benchmarks and Evaluation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التقييم للوحدة الأولى</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904488"/>
                <a:gridCol w="4581144"/>
                <a:gridCol w="2697480"/>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 after M1</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measured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Baseline stands up end-to-end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index + 17 probes without error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make probe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Failure gallery completeness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12/12 probes classified, evidence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gallery review</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Classification accuracy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9/12 match reference key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vs instructor key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Per-query latency (baseline)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p50/p95 recorded (~2.5 s / ~6 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probe runner timings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Per-query cost (baseline)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computed from token counts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gateway usage log</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Decision worksheet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scenario scored, ≥ 4 cited reasons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workshop artefact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Typical gallery outcome: easy probes 5/5 correct with zero citations; adversarial probes 3/12 correct, 0/2 refusals on unanswerable questions.</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1</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الأولى</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Q1</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A purely parametric LLM (no retrieval) is deployed over enterprise policies. Which failure can NO amount of prompt engineering fix?</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Overly verbose answers to simple policy questions</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Staleness — it cannot know last week’s circular</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Inconsistent formatting of tabular answers</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Slow generation latency on long answers</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1</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الأولى</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Q2</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In a two-stage retrieval budget, why is “fetch 50 candidates, keep 5 after reranking” economically rational?</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Reranking is cheaper per document than vector search</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Retrieval is cheap, context tokens are costly — reranking bridges them</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LLMs answer strictly better with exactly five chunks</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Fetching more candidates lowers embedding cost per query</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1</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02</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Document Ingestion, Parsing &amp; Chunking Strategies</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استيعاب المستندات وتحليلها واستراتيجيات التقطيع</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Turn a messy, bilingual corpus into clean, well-bounded chunks</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Retire F1 (parsing loss) and F2 (fragmentation) by name</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Measure OCR quality on Arabic scans with a CER gate</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Attach the metadata schema that later kills staleness (F8)</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2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الثانية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2.1   </a:t>
            </a:r>
            <a:pPr indent="0" marL="0">
              <a:buNone/>
            </a:pPr>
            <a:r>
              <a:rPr lang="en-US" sz="1350" dirty="0">
                <a:solidFill>
                  <a:srgbClr val="2B2B2B"/>
                </a:solidFill>
                <a:latin typeface="Calibri" pitchFamily="34" charset="0"/>
                <a:ea typeface="Calibri" pitchFamily="34" charset="-122"/>
                <a:cs typeface="Calibri" pitchFamily="34" charset="-120"/>
              </a:rPr>
              <a:t>Build a format-dispatching ingestion pipeline for PDF, DOCX, HTML and XLSX</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2.2   </a:t>
            </a:r>
            <a:pPr indent="0" marL="0">
              <a:buNone/>
            </a:pPr>
            <a:r>
              <a:rPr lang="en-US" sz="1350" dirty="0">
                <a:solidFill>
                  <a:srgbClr val="2B2B2B"/>
                </a:solidFill>
                <a:latin typeface="Calibri" pitchFamily="34" charset="0"/>
                <a:ea typeface="Calibri" pitchFamily="34" charset="-122"/>
                <a:cs typeface="Calibri" pitchFamily="34" charset="-120"/>
              </a:rPr>
              <a:t>Diagnose and mitigate parsing loss, including tables and multi-column layout</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2.3   </a:t>
            </a:r>
            <a:pPr indent="0" marL="0">
              <a:buNone/>
            </a:pPr>
            <a:r>
              <a:rPr lang="en-US" sz="1350" dirty="0">
                <a:solidFill>
                  <a:srgbClr val="2B2B2B"/>
                </a:solidFill>
                <a:latin typeface="Calibri" pitchFamily="34" charset="0"/>
                <a:ea typeface="Calibri" pitchFamily="34" charset="-122"/>
                <a:cs typeface="Calibri" pitchFamily="34" charset="-120"/>
              </a:rPr>
              <a:t>Run OCR on Arabic scans and evaluate character-error rate</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2.4   </a:t>
            </a:r>
            <a:pPr indent="0" marL="0">
              <a:buNone/>
            </a:pPr>
            <a:r>
              <a:rPr lang="en-US" sz="1350" dirty="0">
                <a:solidFill>
                  <a:srgbClr val="2B2B2B"/>
                </a:solidFill>
                <a:latin typeface="Calibri" pitchFamily="34" charset="0"/>
                <a:ea typeface="Calibri" pitchFamily="34" charset="-122"/>
                <a:cs typeface="Calibri" pitchFamily="34" charset="-120"/>
              </a:rPr>
              <a:t>Select a chunking strategy per document type and justify the trade-off</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2.5   </a:t>
            </a:r>
            <a:pPr indent="0" marL="0">
              <a:buNone/>
            </a:pPr>
            <a:r>
              <a:rPr lang="en-US" sz="1350" dirty="0">
                <a:solidFill>
                  <a:srgbClr val="2B2B2B"/>
                </a:solidFill>
                <a:latin typeface="Calibri" pitchFamily="34" charset="0"/>
                <a:ea typeface="Calibri" pitchFamily="34" charset="-122"/>
                <a:cs typeface="Calibri" pitchFamily="34" charset="-120"/>
              </a:rPr>
              <a:t>Attach lifecycle metadata that enables freshness filtering and citation</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30</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Ingestion Contract: Where Quality Is Won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عقد الاستيعاب: أين تُكسب جودة النظام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offline path emits (text, metadata) chunk pairs — everything downstream operates only on these</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Fidelity: a table flattened to “1200 1500 1800” is technically text, practically useless</a:t>
            </a:r>
            <a:endParaRPr lang="en-US" sz="1400" dirty="0"/>
          </a:p>
        </p:txBody>
      </p:sp>
      <p:sp>
        <p:nvSpPr>
          <p:cNvPr id="10" name="Text 7"/>
          <p:cNvSpPr/>
          <p:nvPr/>
        </p:nvSpPr>
        <p:spPr>
          <a:xfrm>
            <a:off x="1069848" y="2432304"/>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The numbers have lost their meaning without column headers</a:t>
            </a:r>
            <a:endParaRPr lang="en-US" sz="1150" dirty="0"/>
          </a:p>
        </p:txBody>
      </p:sp>
      <p:sp>
        <p:nvSpPr>
          <p:cNvPr id="11" name="Shape 8"/>
          <p:cNvSpPr/>
          <p:nvPr/>
        </p:nvSpPr>
        <p:spPr>
          <a:xfrm>
            <a:off x="521208" y="2935224"/>
            <a:ext cx="118872" cy="118872"/>
          </a:xfrm>
          <a:prstGeom prst="rect">
            <a:avLst/>
          </a:prstGeom>
          <a:solidFill>
            <a:srgbClr val="00A79D"/>
          </a:solidFill>
          <a:ln/>
        </p:spPr>
      </p:sp>
      <p:sp>
        <p:nvSpPr>
          <p:cNvPr id="12" name="Text 9"/>
          <p:cNvSpPr/>
          <p:nvPr/>
        </p:nvSpPr>
        <p:spPr>
          <a:xfrm>
            <a:off x="795528" y="283464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Self-containment: a chunk should be answerable-from on its own</a:t>
            </a:r>
            <a:endParaRPr lang="en-US" sz="1400" dirty="0"/>
          </a:p>
        </p:txBody>
      </p:sp>
      <p:sp>
        <p:nvSpPr>
          <p:cNvPr id="13" name="Text 10"/>
          <p:cNvSpPr/>
          <p:nvPr/>
        </p:nvSpPr>
        <p:spPr>
          <a:xfrm>
            <a:off x="1069848" y="3200400"/>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mid-clause start forces the retriever to find neighbours too — it usually won’t</a:t>
            </a:r>
            <a:endParaRPr lang="en-US" sz="1150" dirty="0"/>
          </a:p>
        </p:txBody>
      </p:sp>
      <p:sp>
        <p:nvSpPr>
          <p:cNvPr id="14" name="Shape 11"/>
          <p:cNvSpPr/>
          <p:nvPr/>
        </p:nvSpPr>
        <p:spPr>
          <a:xfrm>
            <a:off x="521208" y="3703320"/>
            <a:ext cx="118872" cy="118872"/>
          </a:xfrm>
          <a:prstGeom prst="rect">
            <a:avLst/>
          </a:prstGeom>
          <a:solidFill>
            <a:srgbClr val="00A79D"/>
          </a:solidFill>
          <a:ln/>
        </p:spPr>
      </p:sp>
      <p:sp>
        <p:nvSpPr>
          <p:cNvPr id="15" name="Text 12"/>
          <p:cNvSpPr/>
          <p:nvPr/>
        </p:nvSpPr>
        <p:spPr>
          <a:xfrm>
            <a:off x="795528" y="360273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expensive lesson: retrieval tuning cannot recover information destroyed at parse time</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MODULE SLOGAN</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Garbage in the index is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garbage in every answer, forever.</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This module retires F1 and F2</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and lays the metadata foundation</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that later kills F8.</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If the allowance figure never became searchable text, no embedding model, reranker or prompt will ever find it — which is why this module sits early and is measured, not assumed.</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31</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Parsing Heterogeneous Formats: Each Fails Differently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تحليل الصيغ غير المتجانسة وأنماط فشلها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Digital PDF</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Two-column layout read across columns; tables collapse. Use block extraction with coordinates.</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Scanned PDF</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Returns empty text — looks like a blank document. Detect the missing text layer, route to OCR.</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DOCX</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Tables and text boxes silently skipped; only paragraphs read. Iterate tables explicitly.</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HTML</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Nav bars, cookie banners and footers become “content”. Extract main content, strip boilerplate.</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XLSX</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Merged cells and multi-row headers scramble rows. Serialise header-aware to key-value text.</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Parser registry</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One dispatch maps extension to a handler returning typed blocks: heading, paragraph, table, list.</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Serialise tables so every cell keeps its row and column context — this one decision fixes the single most common F1 failure in enterprise corpora.</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32</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OCR and the Arabic Text Problem</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التعرف الضوئي على الحروف ومشكلة النص العربي</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Detection first: route only text-less pages to OCR — OCR is slow and lossy, never apply it blindly</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Arabic pitfalls: right-to-left order, cursive joining, diacritics, Arabic-Indic vs Western digits</a:t>
            </a:r>
            <a:endParaRPr lang="en-US" sz="1400" dirty="0"/>
          </a:p>
        </p:txBody>
      </p:sp>
      <p:sp>
        <p:nvSpPr>
          <p:cNvPr id="10" name="Text 7"/>
          <p:cNvSpPr/>
          <p:nvPr/>
        </p:nvSpPr>
        <p:spPr>
          <a:xfrm>
            <a:off x="1069848" y="2432304"/>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naive pass mangles reading order and misreads digits — fatal when digits ARE answers</a:t>
            </a:r>
            <a:endParaRPr lang="en-US" sz="1150" dirty="0"/>
          </a:p>
        </p:txBody>
      </p:sp>
      <p:sp>
        <p:nvSpPr>
          <p:cNvPr id="11" name="Shape 8"/>
          <p:cNvSpPr/>
          <p:nvPr/>
        </p:nvSpPr>
        <p:spPr>
          <a:xfrm>
            <a:off x="521208" y="2935224"/>
            <a:ext cx="118872" cy="118872"/>
          </a:xfrm>
          <a:prstGeom prst="rect">
            <a:avLst/>
          </a:prstGeom>
          <a:solidFill>
            <a:srgbClr val="00A79D"/>
          </a:solidFill>
          <a:ln/>
        </p:spPr>
      </p:sp>
      <p:sp>
        <p:nvSpPr>
          <p:cNvPr id="12" name="Text 9"/>
          <p:cNvSpPr/>
          <p:nvPr/>
        </p:nvSpPr>
        <p:spPr>
          <a:xfrm>
            <a:off x="795528" y="283464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Normalise identically at ingest AND query time, or queries stop matching indexed text</a:t>
            </a:r>
            <a:endParaRPr lang="en-US" sz="1400" dirty="0"/>
          </a:p>
        </p:txBody>
      </p:sp>
      <p:sp>
        <p:nvSpPr>
          <p:cNvPr id="13" name="Text 10"/>
          <p:cNvSpPr/>
          <p:nvPr/>
        </p:nvSpPr>
        <p:spPr>
          <a:xfrm>
            <a:off x="1069848" y="3200400"/>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Unify digit sets, strip tatweel, normalise alef variants — a preview of F3</a:t>
            </a:r>
            <a:endParaRPr lang="en-US" sz="1150" dirty="0"/>
          </a:p>
        </p:txBody>
      </p:sp>
      <p:sp>
        <p:nvSpPr>
          <p:cNvPr id="14" name="Shape 11"/>
          <p:cNvSpPr/>
          <p:nvPr/>
        </p:nvSpPr>
        <p:spPr>
          <a:xfrm>
            <a:off x="521208" y="3703320"/>
            <a:ext cx="118872" cy="118872"/>
          </a:xfrm>
          <a:prstGeom prst="rect">
            <a:avLst/>
          </a:prstGeom>
          <a:solidFill>
            <a:srgbClr val="00A79D"/>
          </a:solidFill>
          <a:ln/>
        </p:spPr>
      </p:sp>
      <p:sp>
        <p:nvSpPr>
          <p:cNvPr id="15" name="Text 12"/>
          <p:cNvSpPr/>
          <p:nvPr/>
        </p:nvSpPr>
        <p:spPr>
          <a:xfrm>
            <a:off x="795528" y="360273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Measure it: character-error rate against a hand-transcribed gold set; course gate CER ≤ 5%</a:t>
            </a:r>
            <a:endParaRPr lang="en-US" sz="14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Roughly a third of the Dalil corpus is Arabic, some scanned — Arabic ingestion is a first-class topic, not a footnote. Above 5% CER, fix the OCR model, not the retriever.</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33</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Chunking Strategies and Their Trade-offs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استراتيجيات التقطيع وموازناتها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1984248"/>
                <a:gridCol w="3236976"/>
                <a:gridCol w="2615184"/>
                <a:gridCol w="3346704"/>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Strategy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Fixed-size (naive)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every N characters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trivial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shreds sentences, clauses (F2)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Recursive character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split ¶ → sentence → word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respects some structure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blind to document semantics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Structure-aware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split on headings; tables whole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clauses and tables intact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needs structure-preserving parse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Semantic</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split where similarity drops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topically coherent chunks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compute cost; merges short bits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Structure-aware first, tune size second. Course defaults after tuning: ~512 tokens, ~64-token overlap for prose — and one chunk per table or clause regardless of size.</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Ingestion Pipeline: From Source to Chunks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خط الاستيعاب من المصدر إلى المقاطع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467612" cy="2880360"/>
          </a:xfrm>
          <a:prstGeom prst="rect">
            <a:avLst/>
          </a:prstGeom>
          <a:solidFill>
            <a:srgbClr val="F2F6F8"/>
          </a:solidFill>
          <a:ln w="9525">
            <a:solidFill>
              <a:srgbClr val="D9E2E8"/>
            </a:solidFill>
            <a:prstDash val="solid"/>
          </a:ln>
        </p:spPr>
      </p:sp>
      <p:sp>
        <p:nvSpPr>
          <p:cNvPr id="7" name="Shape 4"/>
          <p:cNvSpPr/>
          <p:nvPr/>
        </p:nvSpPr>
        <p:spPr>
          <a:xfrm>
            <a:off x="502920" y="1965960"/>
            <a:ext cx="146761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Sources</a:t>
            </a:r>
            <a:endParaRPr lang="en-US" sz="1350" dirty="0"/>
          </a:p>
        </p:txBody>
      </p:sp>
      <p:sp>
        <p:nvSpPr>
          <p:cNvPr id="10" name="Text 7"/>
          <p:cNvSpPr/>
          <p:nvPr/>
        </p:nvSpPr>
        <p:spPr>
          <a:xfrm>
            <a:off x="6400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300 heterogeneous docs: PDF, DOCX, HTML, XLSX — including Arabic scans</a:t>
            </a:r>
            <a:endParaRPr lang="en-US" sz="1050" dirty="0"/>
          </a:p>
        </p:txBody>
      </p:sp>
      <p:sp>
        <p:nvSpPr>
          <p:cNvPr id="11" name="Shape 8"/>
          <p:cNvSpPr/>
          <p:nvPr/>
        </p:nvSpPr>
        <p:spPr>
          <a:xfrm>
            <a:off x="2052828" y="3268980"/>
            <a:ext cx="310896" cy="274320"/>
          </a:xfrm>
          <a:prstGeom prst="rightArrow">
            <a:avLst/>
          </a:prstGeom>
          <a:solidFill>
            <a:srgbClr val="00A79D"/>
          </a:solidFill>
          <a:ln/>
        </p:spPr>
      </p:sp>
      <p:sp>
        <p:nvSpPr>
          <p:cNvPr id="12" name="Shape 9"/>
          <p:cNvSpPr/>
          <p:nvPr/>
        </p:nvSpPr>
        <p:spPr>
          <a:xfrm>
            <a:off x="2446020" y="1965960"/>
            <a:ext cx="1467612" cy="2880360"/>
          </a:xfrm>
          <a:prstGeom prst="rect">
            <a:avLst/>
          </a:prstGeom>
          <a:solidFill>
            <a:srgbClr val="F2F6F8"/>
          </a:solidFill>
          <a:ln w="9525">
            <a:solidFill>
              <a:srgbClr val="D9E2E8"/>
            </a:solidFill>
            <a:prstDash val="solid"/>
          </a:ln>
        </p:spPr>
      </p:sp>
      <p:sp>
        <p:nvSpPr>
          <p:cNvPr id="13" name="Shape 10"/>
          <p:cNvSpPr/>
          <p:nvPr/>
        </p:nvSpPr>
        <p:spPr>
          <a:xfrm>
            <a:off x="2446020" y="1965960"/>
            <a:ext cx="1467612" cy="73152"/>
          </a:xfrm>
          <a:prstGeom prst="rect">
            <a:avLst/>
          </a:prstGeom>
          <a:solidFill>
            <a:srgbClr val="29ABE2"/>
          </a:solidFill>
          <a:ln/>
        </p:spPr>
      </p:sp>
      <p:sp>
        <p:nvSpPr>
          <p:cNvPr id="14" name="Text 11"/>
          <p:cNvSpPr/>
          <p:nvPr/>
        </p:nvSpPr>
        <p:spPr>
          <a:xfrm>
            <a:off x="258318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5831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Parser registry</a:t>
            </a:r>
            <a:endParaRPr lang="en-US" sz="1350" dirty="0"/>
          </a:p>
        </p:txBody>
      </p:sp>
      <p:sp>
        <p:nvSpPr>
          <p:cNvPr id="16" name="Text 13"/>
          <p:cNvSpPr/>
          <p:nvPr/>
        </p:nvSpPr>
        <p:spPr>
          <a:xfrm>
            <a:off x="25831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Dispatch per format; handlers return typed blocks</a:t>
            </a:r>
            <a:endParaRPr lang="en-US" sz="1050" dirty="0"/>
          </a:p>
        </p:txBody>
      </p:sp>
      <p:sp>
        <p:nvSpPr>
          <p:cNvPr id="17" name="Shape 14"/>
          <p:cNvSpPr/>
          <p:nvPr/>
        </p:nvSpPr>
        <p:spPr>
          <a:xfrm>
            <a:off x="3995928" y="3268980"/>
            <a:ext cx="310896" cy="274320"/>
          </a:xfrm>
          <a:prstGeom prst="rightArrow">
            <a:avLst/>
          </a:prstGeom>
          <a:solidFill>
            <a:srgbClr val="00A79D"/>
          </a:solidFill>
          <a:ln/>
        </p:spPr>
      </p:sp>
      <p:sp>
        <p:nvSpPr>
          <p:cNvPr id="18" name="Shape 15"/>
          <p:cNvSpPr/>
          <p:nvPr/>
        </p:nvSpPr>
        <p:spPr>
          <a:xfrm>
            <a:off x="4389120" y="1965960"/>
            <a:ext cx="1467612" cy="2880360"/>
          </a:xfrm>
          <a:prstGeom prst="rect">
            <a:avLst/>
          </a:prstGeom>
          <a:solidFill>
            <a:srgbClr val="F2F6F8"/>
          </a:solidFill>
          <a:ln w="9525">
            <a:solidFill>
              <a:srgbClr val="D9E2E8"/>
            </a:solidFill>
            <a:prstDash val="solid"/>
          </a:ln>
        </p:spPr>
      </p:sp>
      <p:sp>
        <p:nvSpPr>
          <p:cNvPr id="19" name="Shape 16"/>
          <p:cNvSpPr/>
          <p:nvPr/>
        </p:nvSpPr>
        <p:spPr>
          <a:xfrm>
            <a:off x="4389120" y="1965960"/>
            <a:ext cx="1467612" cy="73152"/>
          </a:xfrm>
          <a:prstGeom prst="rect">
            <a:avLst/>
          </a:prstGeom>
          <a:solidFill>
            <a:srgbClr val="F7941D"/>
          </a:solidFill>
          <a:ln/>
        </p:spPr>
      </p:sp>
      <p:sp>
        <p:nvSpPr>
          <p:cNvPr id="20" name="Text 17"/>
          <p:cNvSpPr/>
          <p:nvPr/>
        </p:nvSpPr>
        <p:spPr>
          <a:xfrm>
            <a:off x="452628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45262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OCR branch</a:t>
            </a:r>
            <a:endParaRPr lang="en-US" sz="1350" dirty="0"/>
          </a:p>
        </p:txBody>
      </p:sp>
      <p:sp>
        <p:nvSpPr>
          <p:cNvPr id="22" name="Text 19"/>
          <p:cNvSpPr/>
          <p:nvPr/>
        </p:nvSpPr>
        <p:spPr>
          <a:xfrm>
            <a:off x="45262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Text-less pages only; Arabic + English; CER gate ≤ 5%</a:t>
            </a:r>
            <a:endParaRPr lang="en-US" sz="1050" dirty="0"/>
          </a:p>
        </p:txBody>
      </p:sp>
      <p:sp>
        <p:nvSpPr>
          <p:cNvPr id="23" name="Shape 20"/>
          <p:cNvSpPr/>
          <p:nvPr/>
        </p:nvSpPr>
        <p:spPr>
          <a:xfrm>
            <a:off x="5939028" y="3268980"/>
            <a:ext cx="310896" cy="274320"/>
          </a:xfrm>
          <a:prstGeom prst="rightArrow">
            <a:avLst/>
          </a:prstGeom>
          <a:solidFill>
            <a:srgbClr val="00A79D"/>
          </a:solidFill>
          <a:ln/>
        </p:spPr>
      </p:sp>
      <p:sp>
        <p:nvSpPr>
          <p:cNvPr id="24" name="Shape 21"/>
          <p:cNvSpPr/>
          <p:nvPr/>
        </p:nvSpPr>
        <p:spPr>
          <a:xfrm>
            <a:off x="6332220" y="1965960"/>
            <a:ext cx="1467612" cy="2880360"/>
          </a:xfrm>
          <a:prstGeom prst="rect">
            <a:avLst/>
          </a:prstGeom>
          <a:solidFill>
            <a:srgbClr val="F2F6F8"/>
          </a:solidFill>
          <a:ln w="9525">
            <a:solidFill>
              <a:srgbClr val="D9E2E8"/>
            </a:solidFill>
            <a:prstDash val="solid"/>
          </a:ln>
        </p:spPr>
      </p:sp>
      <p:sp>
        <p:nvSpPr>
          <p:cNvPr id="25" name="Shape 22"/>
          <p:cNvSpPr/>
          <p:nvPr/>
        </p:nvSpPr>
        <p:spPr>
          <a:xfrm>
            <a:off x="6332220" y="1965960"/>
            <a:ext cx="1467612" cy="73152"/>
          </a:xfrm>
          <a:prstGeom prst="rect">
            <a:avLst/>
          </a:prstGeom>
          <a:solidFill>
            <a:srgbClr val="8CC63F"/>
          </a:solidFill>
          <a:ln/>
        </p:spPr>
      </p:sp>
      <p:sp>
        <p:nvSpPr>
          <p:cNvPr id="26" name="Text 23"/>
          <p:cNvSpPr/>
          <p:nvPr/>
        </p:nvSpPr>
        <p:spPr>
          <a:xfrm>
            <a:off x="646938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64693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Normalise</a:t>
            </a:r>
            <a:endParaRPr lang="en-US" sz="1350" dirty="0"/>
          </a:p>
        </p:txBody>
      </p:sp>
      <p:sp>
        <p:nvSpPr>
          <p:cNvPr id="28" name="Text 25"/>
          <p:cNvSpPr/>
          <p:nvPr/>
        </p:nvSpPr>
        <p:spPr>
          <a:xfrm>
            <a:off x="64693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Digit sets, tatweel, alef variants — same function at query time</a:t>
            </a:r>
            <a:endParaRPr lang="en-US" sz="1050" dirty="0"/>
          </a:p>
        </p:txBody>
      </p:sp>
      <p:sp>
        <p:nvSpPr>
          <p:cNvPr id="29" name="Shape 26"/>
          <p:cNvSpPr/>
          <p:nvPr/>
        </p:nvSpPr>
        <p:spPr>
          <a:xfrm>
            <a:off x="7882128" y="3268980"/>
            <a:ext cx="310896" cy="274320"/>
          </a:xfrm>
          <a:prstGeom prst="rightArrow">
            <a:avLst/>
          </a:prstGeom>
          <a:solidFill>
            <a:srgbClr val="00A79D"/>
          </a:solidFill>
          <a:ln/>
        </p:spPr>
      </p:sp>
      <p:sp>
        <p:nvSpPr>
          <p:cNvPr id="30" name="Shape 27"/>
          <p:cNvSpPr/>
          <p:nvPr/>
        </p:nvSpPr>
        <p:spPr>
          <a:xfrm>
            <a:off x="8275320" y="1965960"/>
            <a:ext cx="1467612" cy="2880360"/>
          </a:xfrm>
          <a:prstGeom prst="rect">
            <a:avLst/>
          </a:prstGeom>
          <a:solidFill>
            <a:srgbClr val="F2F6F8"/>
          </a:solidFill>
          <a:ln w="9525">
            <a:solidFill>
              <a:srgbClr val="D9E2E8"/>
            </a:solidFill>
            <a:prstDash val="solid"/>
          </a:ln>
        </p:spPr>
      </p:sp>
      <p:sp>
        <p:nvSpPr>
          <p:cNvPr id="31" name="Shape 28"/>
          <p:cNvSpPr/>
          <p:nvPr/>
        </p:nvSpPr>
        <p:spPr>
          <a:xfrm>
            <a:off x="8275320" y="1965960"/>
            <a:ext cx="1467612" cy="73152"/>
          </a:xfrm>
          <a:prstGeom prst="rect">
            <a:avLst/>
          </a:prstGeom>
          <a:solidFill>
            <a:srgbClr val="1D2A5C"/>
          </a:solidFill>
          <a:ln/>
        </p:spPr>
      </p:sp>
      <p:sp>
        <p:nvSpPr>
          <p:cNvPr id="32" name="Text 29"/>
          <p:cNvSpPr/>
          <p:nvPr/>
        </p:nvSpPr>
        <p:spPr>
          <a:xfrm>
            <a:off x="841248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84124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Chunk</a:t>
            </a:r>
            <a:endParaRPr lang="en-US" sz="1350" dirty="0"/>
          </a:p>
        </p:txBody>
      </p:sp>
      <p:sp>
        <p:nvSpPr>
          <p:cNvPr id="34" name="Text 31"/>
          <p:cNvSpPr/>
          <p:nvPr/>
        </p:nvSpPr>
        <p:spPr>
          <a:xfrm>
            <a:off x="84124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Structure-aware: split on headings, keep tables whole</a:t>
            </a:r>
            <a:endParaRPr lang="en-US" sz="1050" dirty="0"/>
          </a:p>
        </p:txBody>
      </p:sp>
      <p:sp>
        <p:nvSpPr>
          <p:cNvPr id="35" name="Shape 32"/>
          <p:cNvSpPr/>
          <p:nvPr/>
        </p:nvSpPr>
        <p:spPr>
          <a:xfrm>
            <a:off x="9825228" y="3268980"/>
            <a:ext cx="310896" cy="274320"/>
          </a:xfrm>
          <a:prstGeom prst="rightArrow">
            <a:avLst/>
          </a:prstGeom>
          <a:solidFill>
            <a:srgbClr val="00A79D"/>
          </a:solidFill>
          <a:ln/>
        </p:spPr>
      </p:sp>
      <p:sp>
        <p:nvSpPr>
          <p:cNvPr id="36" name="Shape 33"/>
          <p:cNvSpPr/>
          <p:nvPr/>
        </p:nvSpPr>
        <p:spPr>
          <a:xfrm>
            <a:off x="10218420" y="1965960"/>
            <a:ext cx="1467612" cy="2880360"/>
          </a:xfrm>
          <a:prstGeom prst="rect">
            <a:avLst/>
          </a:prstGeom>
          <a:solidFill>
            <a:srgbClr val="F2F6F8"/>
          </a:solidFill>
          <a:ln w="9525">
            <a:solidFill>
              <a:srgbClr val="D9E2E8"/>
            </a:solidFill>
            <a:prstDash val="solid"/>
          </a:ln>
        </p:spPr>
      </p:sp>
      <p:sp>
        <p:nvSpPr>
          <p:cNvPr id="37" name="Shape 34"/>
          <p:cNvSpPr/>
          <p:nvPr/>
        </p:nvSpPr>
        <p:spPr>
          <a:xfrm>
            <a:off x="10218420" y="1965960"/>
            <a:ext cx="1467612" cy="73152"/>
          </a:xfrm>
          <a:prstGeom prst="rect">
            <a:avLst/>
          </a:prstGeom>
          <a:solidFill>
            <a:srgbClr val="00A79D"/>
          </a:solidFill>
          <a:ln/>
        </p:spPr>
      </p:sp>
      <p:sp>
        <p:nvSpPr>
          <p:cNvPr id="38" name="Text 35"/>
          <p:cNvSpPr/>
          <p:nvPr/>
        </p:nvSpPr>
        <p:spPr>
          <a:xfrm>
            <a:off x="103555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6</a:t>
            </a:r>
            <a:endParaRPr lang="en-US" sz="1500" dirty="0"/>
          </a:p>
        </p:txBody>
      </p:sp>
      <p:sp>
        <p:nvSpPr>
          <p:cNvPr id="39" name="Text 36"/>
          <p:cNvSpPr/>
          <p:nvPr/>
        </p:nvSpPr>
        <p:spPr>
          <a:xfrm>
            <a:off x="103555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Enrich + upsert</a:t>
            </a:r>
            <a:endParaRPr lang="en-US" sz="1350" dirty="0"/>
          </a:p>
        </p:txBody>
      </p:sp>
      <p:sp>
        <p:nvSpPr>
          <p:cNvPr id="40" name="Text 37"/>
          <p:cNvSpPr/>
          <p:nvPr/>
        </p:nvSpPr>
        <p:spPr>
          <a:xfrm>
            <a:off x="103555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Full metadata payload; idempotent upsert on doc_id + content hash</a:t>
            </a:r>
            <a:endParaRPr lang="en-US" sz="1050" dirty="0"/>
          </a:p>
        </p:txBody>
      </p:sp>
      <p:sp>
        <p:nvSpPr>
          <p:cNvPr id="41" name="Shape 38"/>
          <p:cNvSpPr/>
          <p:nvPr/>
        </p:nvSpPr>
        <p:spPr>
          <a:xfrm>
            <a:off x="502920" y="5394960"/>
            <a:ext cx="11183112" cy="777240"/>
          </a:xfrm>
          <a:prstGeom prst="rect">
            <a:avLst/>
          </a:prstGeom>
          <a:solidFill>
            <a:srgbClr val="E6F5F4"/>
          </a:solidFill>
          <a:ln/>
        </p:spPr>
      </p:sp>
      <p:sp>
        <p:nvSpPr>
          <p:cNvPr id="42" name="Text 3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F1 dies at the parse and OCR stages; F2 dies at the chunk stage — colour these stages into the wall-poster anchor diagram and remove the stickers when Lab 2 proves it.</a:t>
            </a:r>
            <a:endParaRPr lang="en-US" sz="1050" dirty="0"/>
          </a:p>
        </p:txBody>
      </p:sp>
      <p:sp>
        <p:nvSpPr>
          <p:cNvPr id="43" name="Text 4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44" name="Text 4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Metadata and the Document Lifecycle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البيانات الوصفية ودورة حياة المستند</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Provenance</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doc_id, source_path, page, section_title — this becomes the citation (M5)</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Access fields</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department, sensitivity — the retrieval filter reads these (M4/M5)</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Lifecycle fields</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effective_date, version, superseded_by, language</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Supersede event</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 new circular lands: the old one is marked, not deleted</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Prefer current</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Retrieval prefers current documents — the anti-staleness (F8) machinery</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Metadata is cheap to attach at ingest and expensive to backfill — attach the full schema from the first document, even fields you don’t use yet.</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36</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Chunk Quality by the Numbers (Lab 2 Reference)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جودة المقاطع بالأرقام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74520"/>
            <a:ext cx="2555748" cy="3063240"/>
          </a:xfrm>
          <a:prstGeom prst="rect">
            <a:avLst/>
          </a:prstGeom>
          <a:solidFill>
            <a:srgbClr val="F2F6F8"/>
          </a:solidFill>
          <a:ln w="9525">
            <a:solidFill>
              <a:srgbClr val="D9E2E8"/>
            </a:solidFill>
            <a:prstDash val="solid"/>
          </a:ln>
        </p:spPr>
      </p:sp>
      <p:sp>
        <p:nvSpPr>
          <p:cNvPr id="7" name="Shape 4"/>
          <p:cNvSpPr/>
          <p:nvPr/>
        </p:nvSpPr>
        <p:spPr>
          <a:xfrm>
            <a:off x="502920" y="1874520"/>
            <a:ext cx="2555748" cy="73152"/>
          </a:xfrm>
          <a:prstGeom prst="rect">
            <a:avLst/>
          </a:prstGeom>
          <a:solidFill>
            <a:srgbClr val="00A79D"/>
          </a:solidFill>
          <a:ln/>
        </p:spPr>
      </p:sp>
      <p:sp>
        <p:nvSpPr>
          <p:cNvPr id="8" name="Text 5"/>
          <p:cNvSpPr/>
          <p:nvPr/>
        </p:nvSpPr>
        <p:spPr>
          <a:xfrm>
            <a:off x="594360"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99%</a:t>
            </a:r>
            <a:endParaRPr lang="en-US" sz="4000" dirty="0"/>
          </a:p>
        </p:txBody>
      </p:sp>
      <p:sp>
        <p:nvSpPr>
          <p:cNvPr id="9" name="Text 6"/>
          <p:cNvSpPr/>
          <p:nvPr/>
        </p:nvSpPr>
        <p:spPr>
          <a:xfrm>
            <a:off x="685800"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Docs producing usable text</a:t>
            </a:r>
            <a:endParaRPr lang="en-US" sz="1300" dirty="0"/>
          </a:p>
        </p:txBody>
      </p:sp>
      <p:sp>
        <p:nvSpPr>
          <p:cNvPr id="10" name="Text 7"/>
          <p:cNvSpPr/>
          <p:nvPr/>
        </p:nvSpPr>
        <p:spPr>
          <a:xfrm>
            <a:off x="685800"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naive baseline: 78%</a:t>
            </a:r>
            <a:endParaRPr lang="en-US" sz="1050" dirty="0"/>
          </a:p>
        </p:txBody>
      </p:sp>
      <p:sp>
        <p:nvSpPr>
          <p:cNvPr id="11" name="Shape 8"/>
          <p:cNvSpPr/>
          <p:nvPr/>
        </p:nvSpPr>
        <p:spPr>
          <a:xfrm>
            <a:off x="3378708" y="1874520"/>
            <a:ext cx="2555748" cy="3063240"/>
          </a:xfrm>
          <a:prstGeom prst="rect">
            <a:avLst/>
          </a:prstGeom>
          <a:solidFill>
            <a:srgbClr val="F2F6F8"/>
          </a:solidFill>
          <a:ln w="9525">
            <a:solidFill>
              <a:srgbClr val="D9E2E8"/>
            </a:solidFill>
            <a:prstDash val="solid"/>
          </a:ln>
        </p:spPr>
      </p:sp>
      <p:sp>
        <p:nvSpPr>
          <p:cNvPr id="12" name="Shape 9"/>
          <p:cNvSpPr/>
          <p:nvPr/>
        </p:nvSpPr>
        <p:spPr>
          <a:xfrm>
            <a:off x="3378708" y="1874520"/>
            <a:ext cx="2555748" cy="73152"/>
          </a:xfrm>
          <a:prstGeom prst="rect">
            <a:avLst/>
          </a:prstGeom>
          <a:solidFill>
            <a:srgbClr val="29ABE2"/>
          </a:solidFill>
          <a:ln/>
        </p:spPr>
      </p:sp>
      <p:sp>
        <p:nvSpPr>
          <p:cNvPr id="13" name="Text 10"/>
          <p:cNvSpPr/>
          <p:nvPr/>
        </p:nvSpPr>
        <p:spPr>
          <a:xfrm>
            <a:off x="3470148"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6.1%</a:t>
            </a:r>
            <a:endParaRPr lang="en-US" sz="4000" dirty="0"/>
          </a:p>
        </p:txBody>
      </p:sp>
      <p:sp>
        <p:nvSpPr>
          <p:cNvPr id="14" name="Text 11"/>
          <p:cNvSpPr/>
          <p:nvPr/>
        </p:nvSpPr>
        <p:spPr>
          <a:xfrm>
            <a:off x="3561588"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Mid-sentence chunk starts</a:t>
            </a:r>
            <a:endParaRPr lang="en-US" sz="1300" dirty="0"/>
          </a:p>
        </p:txBody>
      </p:sp>
      <p:sp>
        <p:nvSpPr>
          <p:cNvPr id="15" name="Text 12"/>
          <p:cNvSpPr/>
          <p:nvPr/>
        </p:nvSpPr>
        <p:spPr>
          <a:xfrm>
            <a:off x="3561588"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naive 500-char chunks: 41.3%</a:t>
            </a:r>
            <a:endParaRPr lang="en-US" sz="1050" dirty="0"/>
          </a:p>
        </p:txBody>
      </p:sp>
      <p:sp>
        <p:nvSpPr>
          <p:cNvPr id="16" name="Shape 13"/>
          <p:cNvSpPr/>
          <p:nvPr/>
        </p:nvSpPr>
        <p:spPr>
          <a:xfrm>
            <a:off x="6254496" y="1874520"/>
            <a:ext cx="2555748" cy="3063240"/>
          </a:xfrm>
          <a:prstGeom prst="rect">
            <a:avLst/>
          </a:prstGeom>
          <a:solidFill>
            <a:srgbClr val="F2F6F8"/>
          </a:solidFill>
          <a:ln w="9525">
            <a:solidFill>
              <a:srgbClr val="D9E2E8"/>
            </a:solidFill>
            <a:prstDash val="solid"/>
          </a:ln>
        </p:spPr>
      </p:sp>
      <p:sp>
        <p:nvSpPr>
          <p:cNvPr id="17" name="Shape 14"/>
          <p:cNvSpPr/>
          <p:nvPr/>
        </p:nvSpPr>
        <p:spPr>
          <a:xfrm>
            <a:off x="6254496" y="1874520"/>
            <a:ext cx="2555748" cy="73152"/>
          </a:xfrm>
          <a:prstGeom prst="rect">
            <a:avLst/>
          </a:prstGeom>
          <a:solidFill>
            <a:srgbClr val="F7941D"/>
          </a:solidFill>
          <a:ln/>
        </p:spPr>
      </p:sp>
      <p:sp>
        <p:nvSpPr>
          <p:cNvPr id="18" name="Text 15"/>
          <p:cNvSpPr/>
          <p:nvPr/>
        </p:nvSpPr>
        <p:spPr>
          <a:xfrm>
            <a:off x="6345936"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3.8%</a:t>
            </a:r>
            <a:endParaRPr lang="en-US" sz="4000" dirty="0"/>
          </a:p>
        </p:txBody>
      </p:sp>
      <p:sp>
        <p:nvSpPr>
          <p:cNvPr id="19" name="Text 16"/>
          <p:cNvSpPr/>
          <p:nvPr/>
        </p:nvSpPr>
        <p:spPr>
          <a:xfrm>
            <a:off x="6437376"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OCR error rate, Arabic scans</a:t>
            </a:r>
            <a:endParaRPr lang="en-US" sz="1300" dirty="0"/>
          </a:p>
        </p:txBody>
      </p:sp>
      <p:sp>
        <p:nvSpPr>
          <p:cNvPr id="20" name="Text 17"/>
          <p:cNvSpPr/>
          <p:nvPr/>
        </p:nvSpPr>
        <p:spPr>
          <a:xfrm>
            <a:off x="6437376"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course gate: CER ≤ 5%</a:t>
            </a:r>
            <a:endParaRPr lang="en-US" sz="1050" dirty="0"/>
          </a:p>
        </p:txBody>
      </p:sp>
      <p:sp>
        <p:nvSpPr>
          <p:cNvPr id="21" name="Shape 18"/>
          <p:cNvSpPr/>
          <p:nvPr/>
        </p:nvSpPr>
        <p:spPr>
          <a:xfrm>
            <a:off x="9130284" y="1874520"/>
            <a:ext cx="2555748" cy="3063240"/>
          </a:xfrm>
          <a:prstGeom prst="rect">
            <a:avLst/>
          </a:prstGeom>
          <a:solidFill>
            <a:srgbClr val="F2F6F8"/>
          </a:solidFill>
          <a:ln w="9525">
            <a:solidFill>
              <a:srgbClr val="D9E2E8"/>
            </a:solidFill>
            <a:prstDash val="solid"/>
          </a:ln>
        </p:spPr>
      </p:sp>
      <p:sp>
        <p:nvSpPr>
          <p:cNvPr id="22" name="Shape 19"/>
          <p:cNvSpPr/>
          <p:nvPr/>
        </p:nvSpPr>
        <p:spPr>
          <a:xfrm>
            <a:off x="9130284" y="1874520"/>
            <a:ext cx="2555748" cy="73152"/>
          </a:xfrm>
          <a:prstGeom prst="rect">
            <a:avLst/>
          </a:prstGeom>
          <a:solidFill>
            <a:srgbClr val="8CC63F"/>
          </a:solidFill>
          <a:ln/>
        </p:spPr>
      </p:sp>
      <p:sp>
        <p:nvSpPr>
          <p:cNvPr id="23" name="Text 20"/>
          <p:cNvSpPr/>
          <p:nvPr/>
        </p:nvSpPr>
        <p:spPr>
          <a:xfrm>
            <a:off x="9221724"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342</a:t>
            </a:r>
            <a:endParaRPr lang="en-US" sz="4000" dirty="0"/>
          </a:p>
        </p:txBody>
      </p:sp>
      <p:sp>
        <p:nvSpPr>
          <p:cNvPr id="24" name="Text 21"/>
          <p:cNvSpPr/>
          <p:nvPr/>
        </p:nvSpPr>
        <p:spPr>
          <a:xfrm>
            <a:off x="9313164"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Tables kept whole as chunks</a:t>
            </a:r>
            <a:endParaRPr lang="en-US" sz="1300" dirty="0"/>
          </a:p>
        </p:txBody>
      </p:sp>
      <p:sp>
        <p:nvSpPr>
          <p:cNvPr id="25" name="Text 22"/>
          <p:cNvSpPr/>
          <p:nvPr/>
        </p:nvSpPr>
        <p:spPr>
          <a:xfrm>
            <a:off x="9313164"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naive baseline: 0</a:t>
            </a:r>
            <a:endParaRPr lang="en-US" sz="10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Coverage is a number you own, not a hope: 300 docs → 4,812 chunks (avg 16/doc), 28 scans routed to OCR, 3 documents quarantined rather than silently indexed.</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37</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and Production Considerations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الأخطاء الشائعة واعتبارات الإنتاج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Trusting extract_text() without measuring what fraction of the corpus produced usable text</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Flattening tables to bare numbers — destroying the exact facts users most often ask about</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OCR-ing every page blindly: slow, lossy, and worse than the native text layer on digital PDFs</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Fixed-size chunking because it is one line of code — buying F2 across the entire corpus</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No lifecycle metadata — superseded documents live forever, indistinguishable from current ones</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PRODUCTION</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Incremental re-ingest on change events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Idempotent upserts: doc_id + hash</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Parse-quality dashboard per update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Quarantine docs that fail thresholds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Normalise the same at ingest + query</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first mistake is the silent coverage gap that dooms the whole assistant — and nobody finds out until a user does.</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38</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Parser Registry: Dispatch + Table Serialisation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سجل المحللات وتسلسل الجداول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Loader registry: dispatch on format; handlers return typed blocks.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load(path):</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dispatch = {".pdf": _load_pdf, ".docx": _load_docx,</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".html": _load_html, ".xlsx": _load_xlsx}</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handler = dispatch.get(path.suffix.lower())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handler is None: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raise ValueError(f"unsupported format: {path.suffix}")</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handler(path)</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_serialise_table(table):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"""Each cell keeps its header context -- never bare numbers (F1)."""</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rows = [[c.text.strip() for c in row.cells] for row in table.rows]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not rows: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header, *body = rows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lines = [" | ".join(f"{h}: {v}" for h, v in zip(header, r)) for r in body]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"\n".join(lines)</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From src/dalil/ingest/loaders.py — handlers return a ParsedDocument of typed blocks.</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Serialised output reads “Grade 9 | Housing Allowance: 3,200 SAR/month” — searchable text instead of orphaned numbers.</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39</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Arabic-Aware OCR with a Quality Gate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التعرف الضوئي مع بوابة جودة للنص العربي</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OCR only text-less pages; normalise Arabic; gate on CER &lt;= 5%.</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_ARABIC_INDIC = str.maketrans("٠١٢٣٤٥٦٧٨٩", "0123456789")</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normalise_arabic(text):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"""Apply identically at ingest AND query time (prevents F3)."""</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text = text.translate(_ARABIC_INDIC)    # digits are answers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text = text.replace("\u0640", "")       # strip tatweel elongation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text = re.sub("[إأآا]", "ا", text)      # unify alef variants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re.sub(r"\s+", " ", text).strip()</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ocr_pdf(path, dpi=300):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pages = convert_from_path(str(path), dpi=dpi)</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[normalise_arabic(pytesseract.image_to_string(</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img, lang="ara+eng", config="--psm 4")) for img in pages]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character_error_rate(hyp, ref):</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"""CER = edit_distance / len(ref). Course gate: &lt;= 0.05 on scans."""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Levenshtein.distance(hyp, ref) / len(ref) if ref else 0.0</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From src/dalil/ingest/ocr.py — ara+eng because the corpus is bilingual; psm 4 = single column.</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docstring on normalise_arabic is a contract: run the same function at ingest and at query time, or indexed text and queries silently diverge.</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40</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2 — Build the Ingestion Pipeline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الثاني: بناء خط الاستيعاب</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Parse the full 300-document Dalil corpus with format dispatch, Arabic OCR, structure-aware chunking and lifecycle metadata; prove F1/F2 retreat with numbers.</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897342"/>
            <a:ext cx="274320" cy="274320"/>
          </a:xfrm>
          <a:prstGeom prst="rect">
            <a:avLst/>
          </a:prstGeom>
          <a:solidFill>
            <a:srgbClr val="1D2A5C"/>
          </a:solidFill>
          <a:ln/>
        </p:spPr>
      </p:sp>
      <p:sp>
        <p:nvSpPr>
          <p:cNvPr id="13" name="Text 10"/>
          <p:cNvSpPr/>
          <p:nvPr/>
        </p:nvSpPr>
        <p:spPr>
          <a:xfrm>
            <a:off x="685800" y="2897342"/>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the load() dispatch; run make ingest over corpus_v1/ — note ~28 needs_ocr documents</a:t>
            </a:r>
            <a:endParaRPr lang="en-US" sz="1150" dirty="0"/>
          </a:p>
        </p:txBody>
      </p:sp>
      <p:sp>
        <p:nvSpPr>
          <p:cNvPr id="15" name="Shape 12"/>
          <p:cNvSpPr/>
          <p:nvPr/>
        </p:nvSpPr>
        <p:spPr>
          <a:xfrm>
            <a:off x="685800" y="3260489"/>
            <a:ext cx="274320" cy="274320"/>
          </a:xfrm>
          <a:prstGeom prst="rect">
            <a:avLst/>
          </a:prstGeom>
          <a:solidFill>
            <a:srgbClr val="1D2A5C"/>
          </a:solidFill>
          <a:ln/>
        </p:spPr>
      </p:sp>
      <p:sp>
        <p:nvSpPr>
          <p:cNvPr id="16" name="Text 13"/>
          <p:cNvSpPr/>
          <p:nvPr/>
        </p:nvSpPr>
        <p:spPr>
          <a:xfrm>
            <a:off x="685800" y="3260489"/>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216075"/>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Wire the OCR path; compute CER against ocr_gold/ — target ≤ 5%, else raise DPI to 400 and re-measure</a:t>
            </a:r>
            <a:endParaRPr lang="en-US" sz="1150" dirty="0"/>
          </a:p>
        </p:txBody>
      </p:sp>
      <p:sp>
        <p:nvSpPr>
          <p:cNvPr id="18" name="Shape 15"/>
          <p:cNvSpPr/>
          <p:nvPr/>
        </p:nvSpPr>
        <p:spPr>
          <a:xfrm>
            <a:off x="685800" y="3623637"/>
            <a:ext cx="274320" cy="274320"/>
          </a:xfrm>
          <a:prstGeom prst="rect">
            <a:avLst/>
          </a:prstGeom>
          <a:solidFill>
            <a:srgbClr val="1D2A5C"/>
          </a:solidFill>
          <a:ln/>
        </p:spPr>
      </p:sp>
      <p:sp>
        <p:nvSpPr>
          <p:cNvPr id="19" name="Text 16"/>
          <p:cNvSpPr/>
          <p:nvPr/>
        </p:nvSpPr>
        <p:spPr>
          <a:xfrm>
            <a:off x="685800" y="3623637"/>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579223"/>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structure-aware chunking, tables kept whole; re-index into the dalil_ingest collection</a:t>
            </a:r>
            <a:endParaRPr lang="en-US" sz="1150" dirty="0"/>
          </a:p>
        </p:txBody>
      </p:sp>
      <p:sp>
        <p:nvSpPr>
          <p:cNvPr id="21" name="Shape 18"/>
          <p:cNvSpPr/>
          <p:nvPr/>
        </p:nvSpPr>
        <p:spPr>
          <a:xfrm>
            <a:off x="685800" y="3986784"/>
            <a:ext cx="274320" cy="274320"/>
          </a:xfrm>
          <a:prstGeom prst="rect">
            <a:avLst/>
          </a:prstGeom>
          <a:solidFill>
            <a:srgbClr val="1D2A5C"/>
          </a:solidFill>
          <a:ln/>
        </p:spPr>
      </p:sp>
      <p:sp>
        <p:nvSpPr>
          <p:cNvPr id="22" name="Text 19"/>
          <p:cNvSpPr/>
          <p:nvPr/>
        </p:nvSpPr>
        <p:spPr>
          <a:xfrm>
            <a:off x="685800" y="398678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3942370"/>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Produce chunk-quality stats: chunks/doc, mid-sentence starts (target &lt; 8%), table-chunk count</a:t>
            </a:r>
            <a:endParaRPr lang="en-US" sz="1150" dirty="0"/>
          </a:p>
        </p:txBody>
      </p:sp>
      <p:sp>
        <p:nvSpPr>
          <p:cNvPr id="24" name="Shape 21"/>
          <p:cNvSpPr/>
          <p:nvPr/>
        </p:nvSpPr>
        <p:spPr>
          <a:xfrm>
            <a:off x="685800" y="4349931"/>
            <a:ext cx="274320" cy="274320"/>
          </a:xfrm>
          <a:prstGeom prst="rect">
            <a:avLst/>
          </a:prstGeom>
          <a:solidFill>
            <a:srgbClr val="1D2A5C"/>
          </a:solidFill>
          <a:ln/>
        </p:spPr>
      </p:sp>
      <p:sp>
        <p:nvSpPr>
          <p:cNvPr id="25" name="Text 22"/>
          <p:cNvSpPr/>
          <p:nvPr/>
        </p:nvSpPr>
        <p:spPr>
          <a:xfrm>
            <a:off x="685800" y="4349931"/>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305518"/>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Attach the metadata schema; verify 5 random chunks carry department, effective_date, section_title</a:t>
            </a:r>
            <a:endParaRPr lang="en-US" sz="1150" dirty="0"/>
          </a:p>
        </p:txBody>
      </p:sp>
      <p:sp>
        <p:nvSpPr>
          <p:cNvPr id="27" name="Shape 24"/>
          <p:cNvSpPr/>
          <p:nvPr/>
        </p:nvSpPr>
        <p:spPr>
          <a:xfrm>
            <a:off x="685800" y="4713079"/>
            <a:ext cx="274320" cy="274320"/>
          </a:xfrm>
          <a:prstGeom prst="rect">
            <a:avLst/>
          </a:prstGeom>
          <a:solidFill>
            <a:srgbClr val="1D2A5C"/>
          </a:solidFill>
          <a:ln/>
        </p:spPr>
      </p:sp>
      <p:sp>
        <p:nvSpPr>
          <p:cNvPr id="28" name="Text 25"/>
          <p:cNvSpPr/>
          <p:nvPr/>
        </p:nvSpPr>
        <p:spPr>
          <a:xfrm>
            <a:off x="685800" y="4713079"/>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9" name="Text 26"/>
          <p:cNvSpPr/>
          <p:nvPr/>
        </p:nvSpPr>
        <p:spPr>
          <a:xfrm>
            <a:off x="1124712" y="4668665"/>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Re-run three Lab 1 F1/F2 probes; confirm the evidence text is now retrievable</a:t>
            </a:r>
            <a:endParaRPr lang="en-US" sz="1150" dirty="0"/>
          </a:p>
        </p:txBody>
      </p:sp>
      <p:sp>
        <p:nvSpPr>
          <p:cNvPr id="30" name="Shape 27"/>
          <p:cNvSpPr/>
          <p:nvPr/>
        </p:nvSpPr>
        <p:spPr>
          <a:xfrm>
            <a:off x="685800" y="5076226"/>
            <a:ext cx="274320" cy="274320"/>
          </a:xfrm>
          <a:prstGeom prst="rect">
            <a:avLst/>
          </a:prstGeom>
          <a:solidFill>
            <a:srgbClr val="1D2A5C"/>
          </a:solidFill>
          <a:ln/>
        </p:spPr>
      </p:sp>
      <p:sp>
        <p:nvSpPr>
          <p:cNvPr id="31" name="Text 28"/>
          <p:cNvSpPr/>
          <p:nvPr/>
        </p:nvSpPr>
        <p:spPr>
          <a:xfrm>
            <a:off x="685800" y="5076226"/>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32" name="Text 29"/>
          <p:cNvSpPr/>
          <p:nvPr/>
        </p:nvSpPr>
        <p:spPr>
          <a:xfrm>
            <a:off x="1124712" y="5031813"/>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Strike F1 and F2 off the wall poster; commit feat(ingest): structure-aware bilingual pipeline</a:t>
            </a:r>
            <a:endParaRPr lang="en-US" sz="1150" dirty="0"/>
          </a:p>
        </p:txBody>
      </p:sp>
      <p:sp>
        <p:nvSpPr>
          <p:cNvPr id="33" name="Shape 30"/>
          <p:cNvSpPr/>
          <p:nvPr/>
        </p:nvSpPr>
        <p:spPr>
          <a:xfrm>
            <a:off x="502920" y="5650992"/>
            <a:ext cx="11183112" cy="603504"/>
          </a:xfrm>
          <a:prstGeom prst="rect">
            <a:avLst/>
          </a:prstGeom>
          <a:solidFill>
            <a:srgbClr val="F1F8E4"/>
          </a:solidFill>
          <a:ln/>
        </p:spPr>
      </p:sp>
      <p:sp>
        <p:nvSpPr>
          <p:cNvPr id="34" name="Shape 31"/>
          <p:cNvSpPr/>
          <p:nvPr/>
        </p:nvSpPr>
        <p:spPr>
          <a:xfrm>
            <a:off x="502920" y="5650992"/>
            <a:ext cx="82296" cy="603504"/>
          </a:xfrm>
          <a:prstGeom prst="rect">
            <a:avLst/>
          </a:prstGeom>
          <a:solidFill>
            <a:srgbClr val="8CC63F"/>
          </a:solidFill>
          <a:ln/>
        </p:spPr>
      </p:sp>
      <p:sp>
        <p:nvSpPr>
          <p:cNvPr id="35" name="Text 32"/>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corpus_v1 fully ingested into dalil_ingest: ≥ 98% parse success, OCR CER ≤ 5%, mid-sentence starts &lt; 8%, 100% of tables kept whole.</a:t>
            </a:r>
            <a:endParaRPr lang="en-US" sz="1050" dirty="0"/>
          </a:p>
        </p:txBody>
      </p:sp>
      <p:sp>
        <p:nvSpPr>
          <p:cNvPr id="36" name="Text 3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7" name="Text 3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41</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 Exercise: The Orphaned Clause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تشخيص المقطع المبتور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One chunk reads “…shall not exceed” with no antecedent; its neighbour reads “The housing allowance”</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Decide the fix: smaller chunks, more overlap, or structure-aware splitting — and defend it</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Bonus: review an ingestion PR that OCRs every page, flattens tables, and omits effective_date</a:t>
            </a:r>
            <a:endParaRPr lang="en-US" sz="1400" dirty="0"/>
          </a:p>
        </p:txBody>
      </p:sp>
      <p:sp>
        <p:nvSpPr>
          <p:cNvPr id="12" name="Text 9"/>
          <p:cNvSpPr/>
          <p:nvPr/>
        </p:nvSpPr>
        <p:spPr>
          <a:xfrm>
            <a:off x="1069848" y="2907792"/>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Name the failure class each choice re-introduces</a:t>
            </a:r>
            <a:endParaRPr lang="en-US" sz="1150" dirty="0"/>
          </a:p>
        </p:txBody>
      </p:sp>
      <p:sp>
        <p:nvSpPr>
          <p:cNvPr id="13" name="Shape 10"/>
          <p:cNvSpPr/>
          <p:nvPr/>
        </p:nvSpPr>
        <p:spPr>
          <a:xfrm>
            <a:off x="8092440" y="1572768"/>
            <a:ext cx="3593592" cy="3685032"/>
          </a:xfrm>
          <a:prstGeom prst="rect">
            <a:avLst/>
          </a:prstGeom>
          <a:solidFill>
            <a:srgbClr val="E6F5F4"/>
          </a:solidFill>
          <a:ln/>
        </p:spPr>
      </p:sp>
      <p:sp>
        <p:nvSpPr>
          <p:cNvPr id="14" name="Text 11"/>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5" name="Text 12"/>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Which fix removes the cause, and</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which merely hides the symptom?</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Overlap = the clause survives by luck</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What keeps a clause and its table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in the same chunk by construction?</a:t>
            </a:r>
            <a:endParaRPr lang="en-US" sz="11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defensible answer: structure-aware splitting is the root-cause fix; overlap is a band-aid; smaller chunks make fragmentation worse.</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42</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Allowance Table That Nobody Could Retrieve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جدول البدلات الذي تعذّر استرجاعه</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Saudi government agency’s HR assistant, built on naive RAG, answers salary-grade and allowance questions confidently and wrongly. The authoritative figures live in an XLSX grade table with merged multi-row headers and a scanned Arabic PDF appendix using Arabic-Indic digits — neither produced usable text: 22% of the corpus contributed zero searchable content. The audit unit requires every answer to cite a source document and page.</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Which defect caused more wrong answers — table flattening or missing OCR? How would you measure it?</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Superseded-but-identical circulars: is de-duplication an ingestion, metadata, or retrieval job?</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What honest coverage number do you report to the audit unit — and how do you keep it current?</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Design the two-line acceptance test that would have blocked launch until coverage crossed 98%</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43</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2 Benchmarks and Evaluation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التقييم للوحدة الثانية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4023360"/>
                <a:gridCol w="4626864"/>
                <a:gridCol w="2532888"/>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 after M2</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measured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Document parse-success rate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98% of docs yield usable text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parse report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Mid-sentence chunk starts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&lt; 8% (naive ~41%)</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chunk analyser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Tables preserved whole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100% of detected tables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table-chunk count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OCR character-error rate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5% on Arabic scan subset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vs ocr_gold/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Metadata completeness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100% provenance + lifecycle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schema validator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Incremental re-ingest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changed doc only, idempotent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change-event test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Lab comparison: naive 78% docs-with-text, 8,900 chunks, 41.3% mid-sentence, 0% tables whole — structure-aware 99%, 4,812 chunks, 6.1%, 100%, CER 3.8%.</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44</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2</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الثانية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Q3</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During ingestion, the parser silently drops an allowance table from a DOCX policy. What is true about fixing this downstream?</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 stronger reranker will eventually surface the figures</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Larger chunks will pull the table back into context</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No downstream stage can recover it — the text never entered the index</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Query rewriting can rephrase around the missing table</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C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45</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2</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الثانية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Q4</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Why must Arabic normalisation (digit sets, tatweel, alef variants) run at BOTH ingest time and query time?</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Running it twice doubles OCR accuracy on scanned pages</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Otherwise indexed text and user queries diverge and stop matching</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vector database rejects non-normalised Arabic payloads</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It reduces index size enough to fit the corpus in RAM</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46</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2 — The Retrieval Stack</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الثاني — منظومة الاسترجاع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1481328" y="1170432"/>
            <a:ext cx="960120" cy="274320"/>
          </a:xfrm>
          <a:prstGeom prst="roundRect">
            <a:avLst>
              <a:gd name="adj" fmla="val 20000"/>
            </a:avLst>
          </a:prstGeom>
          <a:solidFill>
            <a:srgbClr val="1D2A5C"/>
          </a:solidFill>
          <a:ln/>
        </p:spPr>
      </p:sp>
      <p:sp>
        <p:nvSpPr>
          <p:cNvPr id="7" name="Text 4"/>
          <p:cNvSpPr/>
          <p:nvPr/>
        </p:nvSpPr>
        <p:spPr>
          <a:xfrm>
            <a:off x="1481328" y="1170432"/>
            <a:ext cx="960120" cy="27432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DAY 2</a:t>
            </a:r>
            <a:endParaRPr lang="en-US" sz="1000" dirty="0"/>
          </a:p>
        </p:txBody>
      </p:sp>
      <p:sp>
        <p:nvSpPr>
          <p:cNvPr id="8" name="Shape 5"/>
          <p:cNvSpPr/>
          <p:nvPr/>
        </p:nvSpPr>
        <p:spPr>
          <a:xfrm>
            <a:off x="502920" y="1645920"/>
            <a:ext cx="11183112" cy="548640"/>
          </a:xfrm>
          <a:prstGeom prst="rect">
            <a:avLst/>
          </a:prstGeom>
          <a:solidFill>
            <a:srgbClr val="F2F6F8"/>
          </a:solidFill>
          <a:ln w="9525">
            <a:solidFill>
              <a:srgbClr val="D9E2E8"/>
            </a:solidFill>
            <a:prstDash val="solid"/>
          </a:ln>
        </p:spPr>
      </p:sp>
      <p:sp>
        <p:nvSpPr>
          <p:cNvPr id="9" name="Text 6"/>
          <p:cNvSpPr/>
          <p:nvPr/>
        </p:nvSpPr>
        <p:spPr>
          <a:xfrm>
            <a:off x="731520" y="16459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09:00–09:50</a:t>
            </a:r>
            <a:endParaRPr lang="en-US" sz="1250" dirty="0"/>
          </a:p>
        </p:txBody>
      </p:sp>
      <p:sp>
        <p:nvSpPr>
          <p:cNvPr id="10" name="Text 7"/>
          <p:cNvSpPr/>
          <p:nvPr/>
        </p:nvSpPr>
        <p:spPr>
          <a:xfrm>
            <a:off x="2423160" y="16459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Module 3: Embeddings and vector databases</a:t>
            </a:r>
            <a:endParaRPr lang="en-US" sz="1250" dirty="0"/>
          </a:p>
        </p:txBody>
      </p:sp>
      <p:sp>
        <p:nvSpPr>
          <p:cNvPr id="11" name="Shape 8"/>
          <p:cNvSpPr/>
          <p:nvPr/>
        </p:nvSpPr>
        <p:spPr>
          <a:xfrm>
            <a:off x="9784080" y="1773936"/>
            <a:ext cx="1691640" cy="292608"/>
          </a:xfrm>
          <a:prstGeom prst="roundRect">
            <a:avLst>
              <a:gd name="adj" fmla="val 15625"/>
            </a:avLst>
          </a:prstGeom>
          <a:solidFill>
            <a:srgbClr val="E6F5F4"/>
          </a:solidFill>
          <a:ln/>
        </p:spPr>
      </p:sp>
      <p:sp>
        <p:nvSpPr>
          <p:cNvPr id="12" name="Text 9"/>
          <p:cNvSpPr/>
          <p:nvPr/>
        </p:nvSpPr>
        <p:spPr>
          <a:xfrm>
            <a:off x="9784080" y="177393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13" name="Shape 10"/>
          <p:cNvSpPr/>
          <p:nvPr/>
        </p:nvSpPr>
        <p:spPr>
          <a:xfrm>
            <a:off x="502920" y="2286000"/>
            <a:ext cx="11183112" cy="548640"/>
          </a:xfrm>
          <a:prstGeom prst="rect">
            <a:avLst/>
          </a:prstGeom>
          <a:solidFill>
            <a:srgbClr val="FFFFFF"/>
          </a:solidFill>
          <a:ln w="9525">
            <a:solidFill>
              <a:srgbClr val="D9E2E8"/>
            </a:solidFill>
            <a:prstDash val="solid"/>
          </a:ln>
        </p:spPr>
      </p:sp>
      <p:sp>
        <p:nvSpPr>
          <p:cNvPr id="14" name="Text 11"/>
          <p:cNvSpPr/>
          <p:nvPr/>
        </p:nvSpPr>
        <p:spPr>
          <a:xfrm>
            <a:off x="731520" y="228600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10:00–10:50</a:t>
            </a:r>
            <a:endParaRPr lang="en-US" sz="1250" dirty="0"/>
          </a:p>
        </p:txBody>
      </p:sp>
      <p:sp>
        <p:nvSpPr>
          <p:cNvPr id="15" name="Text 12"/>
          <p:cNvSpPr/>
          <p:nvPr/>
        </p:nvSpPr>
        <p:spPr>
          <a:xfrm>
            <a:off x="2423160" y="228600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3: Embed, index, and measure recall</a:t>
            </a:r>
            <a:endParaRPr lang="en-US" sz="1250" dirty="0"/>
          </a:p>
        </p:txBody>
      </p:sp>
      <p:sp>
        <p:nvSpPr>
          <p:cNvPr id="16" name="Shape 13"/>
          <p:cNvSpPr/>
          <p:nvPr/>
        </p:nvSpPr>
        <p:spPr>
          <a:xfrm>
            <a:off x="9784080" y="2414016"/>
            <a:ext cx="1691640" cy="292608"/>
          </a:xfrm>
          <a:prstGeom prst="roundRect">
            <a:avLst>
              <a:gd name="adj" fmla="val 15625"/>
            </a:avLst>
          </a:prstGeom>
          <a:solidFill>
            <a:srgbClr val="FEF3E3"/>
          </a:solidFill>
          <a:ln/>
        </p:spPr>
      </p:sp>
      <p:sp>
        <p:nvSpPr>
          <p:cNvPr id="17" name="Text 14"/>
          <p:cNvSpPr/>
          <p:nvPr/>
        </p:nvSpPr>
        <p:spPr>
          <a:xfrm>
            <a:off x="9784080" y="241401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18" name="Shape 15"/>
          <p:cNvSpPr/>
          <p:nvPr/>
        </p:nvSpPr>
        <p:spPr>
          <a:xfrm>
            <a:off x="502920" y="2926080"/>
            <a:ext cx="11183112" cy="548640"/>
          </a:xfrm>
          <a:prstGeom prst="rect">
            <a:avLst/>
          </a:prstGeom>
          <a:solidFill>
            <a:srgbClr val="F2F6F8"/>
          </a:solidFill>
          <a:ln w="9525">
            <a:solidFill>
              <a:srgbClr val="D9E2E8"/>
            </a:solidFill>
            <a:prstDash val="solid"/>
          </a:ln>
        </p:spPr>
      </p:sp>
      <p:sp>
        <p:nvSpPr>
          <p:cNvPr id="19" name="Text 16"/>
          <p:cNvSpPr/>
          <p:nvPr/>
        </p:nvSpPr>
        <p:spPr>
          <a:xfrm>
            <a:off x="731520" y="292608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10:50–11:05</a:t>
            </a:r>
            <a:endParaRPr lang="en-US" sz="1250" dirty="0"/>
          </a:p>
        </p:txBody>
      </p:sp>
      <p:sp>
        <p:nvSpPr>
          <p:cNvPr id="20" name="Text 17"/>
          <p:cNvSpPr/>
          <p:nvPr/>
        </p:nvSpPr>
        <p:spPr>
          <a:xfrm>
            <a:off x="2423160" y="2926080"/>
            <a:ext cx="7086600" cy="548640"/>
          </a:xfrm>
          <a:prstGeom prst="rect">
            <a:avLst/>
          </a:prstGeom>
          <a:noFill/>
          <a:ln/>
        </p:spPr>
        <p:txBody>
          <a:bodyPr wrap="square" rtlCol="0" anchor="ctr"/>
          <a:lstStyle/>
          <a:p>
            <a:pPr indent="0" marL="0">
              <a:buNone/>
            </a:pPr>
            <a:r>
              <a:rPr lang="en-US" sz="1250" dirty="0">
                <a:solidFill>
                  <a:srgbClr val="6E7B8A"/>
                </a:solidFill>
                <a:latin typeface="Calibri" pitchFamily="34" charset="0"/>
                <a:ea typeface="Calibri" pitchFamily="34" charset="-122"/>
                <a:cs typeface="Calibri" pitchFamily="34" charset="-120"/>
              </a:rPr>
              <a:t>Coffee break</a:t>
            </a:r>
            <a:endParaRPr lang="en-US" sz="1250" dirty="0"/>
          </a:p>
        </p:txBody>
      </p:sp>
      <p:sp>
        <p:nvSpPr>
          <p:cNvPr id="21" name="Shape 18"/>
          <p:cNvSpPr/>
          <p:nvPr/>
        </p:nvSpPr>
        <p:spPr>
          <a:xfrm>
            <a:off x="9784080" y="3054096"/>
            <a:ext cx="1691640" cy="292608"/>
          </a:xfrm>
          <a:prstGeom prst="roundRect">
            <a:avLst>
              <a:gd name="adj" fmla="val 15625"/>
            </a:avLst>
          </a:prstGeom>
          <a:solidFill>
            <a:srgbClr val="F2F6F8"/>
          </a:solidFill>
          <a:ln/>
        </p:spPr>
      </p:sp>
      <p:sp>
        <p:nvSpPr>
          <p:cNvPr id="22" name="Text 19"/>
          <p:cNvSpPr/>
          <p:nvPr/>
        </p:nvSpPr>
        <p:spPr>
          <a:xfrm>
            <a:off x="9784080" y="3054096"/>
            <a:ext cx="1691640" cy="292608"/>
          </a:xfrm>
          <a:prstGeom prst="rect">
            <a:avLst/>
          </a:prstGeom>
          <a:noFill/>
          <a:ln/>
        </p:spPr>
        <p:txBody>
          <a:bodyPr wrap="square" rtlCol="0" anchor="ctr"/>
          <a:lstStyle/>
          <a:p>
            <a:pPr algn="ctr" indent="0" marL="0">
              <a:buNone/>
            </a:pPr>
            <a:r>
              <a:rPr lang="en-US" sz="950" b="1" spc="150" kern="0" dirty="0">
                <a:solidFill>
                  <a:srgbClr val="6E7B8A"/>
                </a:solidFill>
                <a:latin typeface="Calibri" pitchFamily="34" charset="0"/>
                <a:ea typeface="Calibri" pitchFamily="34" charset="-122"/>
                <a:cs typeface="Calibri" pitchFamily="34" charset="-120"/>
              </a:rPr>
              <a:t>BREAK</a:t>
            </a:r>
            <a:endParaRPr lang="en-US" sz="950" dirty="0"/>
          </a:p>
        </p:txBody>
      </p:sp>
      <p:sp>
        <p:nvSpPr>
          <p:cNvPr id="23" name="Shape 20"/>
          <p:cNvSpPr/>
          <p:nvPr/>
        </p:nvSpPr>
        <p:spPr>
          <a:xfrm>
            <a:off x="502920" y="3566160"/>
            <a:ext cx="11183112" cy="548640"/>
          </a:xfrm>
          <a:prstGeom prst="rect">
            <a:avLst/>
          </a:prstGeom>
          <a:solidFill>
            <a:srgbClr val="FFFFFF"/>
          </a:solidFill>
          <a:ln w="9525">
            <a:solidFill>
              <a:srgbClr val="D9E2E8"/>
            </a:solidFill>
            <a:prstDash val="solid"/>
          </a:ln>
        </p:spPr>
      </p:sp>
      <p:sp>
        <p:nvSpPr>
          <p:cNvPr id="24" name="Text 21"/>
          <p:cNvSpPr/>
          <p:nvPr/>
        </p:nvSpPr>
        <p:spPr>
          <a:xfrm>
            <a:off x="731520" y="356616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11:05–11:55</a:t>
            </a:r>
            <a:endParaRPr lang="en-US" sz="1250" dirty="0"/>
          </a:p>
        </p:txBody>
      </p:sp>
      <p:sp>
        <p:nvSpPr>
          <p:cNvPr id="25" name="Text 22"/>
          <p:cNvSpPr/>
          <p:nvPr/>
        </p:nvSpPr>
        <p:spPr>
          <a:xfrm>
            <a:off x="2423160" y="356616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Module 4: Hybrid retrieval and reranking</a:t>
            </a:r>
            <a:endParaRPr lang="en-US" sz="1250" dirty="0"/>
          </a:p>
        </p:txBody>
      </p:sp>
      <p:sp>
        <p:nvSpPr>
          <p:cNvPr id="26" name="Shape 23"/>
          <p:cNvSpPr/>
          <p:nvPr/>
        </p:nvSpPr>
        <p:spPr>
          <a:xfrm>
            <a:off x="9784080" y="3694176"/>
            <a:ext cx="1691640" cy="292608"/>
          </a:xfrm>
          <a:prstGeom prst="roundRect">
            <a:avLst>
              <a:gd name="adj" fmla="val 15625"/>
            </a:avLst>
          </a:prstGeom>
          <a:solidFill>
            <a:srgbClr val="E6F5F4"/>
          </a:solidFill>
          <a:ln/>
        </p:spPr>
      </p:sp>
      <p:sp>
        <p:nvSpPr>
          <p:cNvPr id="27" name="Text 24"/>
          <p:cNvSpPr/>
          <p:nvPr/>
        </p:nvSpPr>
        <p:spPr>
          <a:xfrm>
            <a:off x="9784080" y="369417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28" name="Shape 25"/>
          <p:cNvSpPr/>
          <p:nvPr/>
        </p:nvSpPr>
        <p:spPr>
          <a:xfrm>
            <a:off x="502920" y="4206240"/>
            <a:ext cx="11183112" cy="548640"/>
          </a:xfrm>
          <a:prstGeom prst="rect">
            <a:avLst/>
          </a:prstGeom>
          <a:solidFill>
            <a:srgbClr val="F2F6F8"/>
          </a:solidFill>
          <a:ln w="9525">
            <a:solidFill>
              <a:srgbClr val="D9E2E8"/>
            </a:solidFill>
            <a:prstDash val="solid"/>
          </a:ln>
        </p:spPr>
      </p:sp>
      <p:sp>
        <p:nvSpPr>
          <p:cNvPr id="29" name="Text 26"/>
          <p:cNvSpPr/>
          <p:nvPr/>
        </p:nvSpPr>
        <p:spPr>
          <a:xfrm>
            <a:off x="731520" y="420624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12:00–13:00</a:t>
            </a:r>
            <a:endParaRPr lang="en-US" sz="1250" dirty="0"/>
          </a:p>
        </p:txBody>
      </p:sp>
      <p:sp>
        <p:nvSpPr>
          <p:cNvPr id="30" name="Text 27"/>
          <p:cNvSpPr/>
          <p:nvPr/>
        </p:nvSpPr>
        <p:spPr>
          <a:xfrm>
            <a:off x="2423160" y="4206240"/>
            <a:ext cx="7086600" cy="548640"/>
          </a:xfrm>
          <a:prstGeom prst="rect">
            <a:avLst/>
          </a:prstGeom>
          <a:noFill/>
          <a:ln/>
        </p:spPr>
        <p:txBody>
          <a:bodyPr wrap="square" rtlCol="0" anchor="ctr"/>
          <a:lstStyle/>
          <a:p>
            <a:pPr indent="0" marL="0">
              <a:buNone/>
            </a:pPr>
            <a:r>
              <a:rPr lang="en-US" sz="1250" dirty="0">
                <a:solidFill>
                  <a:srgbClr val="6E7B8A"/>
                </a:solidFill>
                <a:latin typeface="Calibri" pitchFamily="34" charset="0"/>
                <a:ea typeface="Calibri" pitchFamily="34" charset="-122"/>
                <a:cs typeface="Calibri" pitchFamily="34" charset="-120"/>
              </a:rPr>
              <a:t>Lunch &amp; Dhuhr prayer</a:t>
            </a:r>
            <a:endParaRPr lang="en-US" sz="1250" dirty="0"/>
          </a:p>
        </p:txBody>
      </p:sp>
      <p:sp>
        <p:nvSpPr>
          <p:cNvPr id="31" name="Shape 28"/>
          <p:cNvSpPr/>
          <p:nvPr/>
        </p:nvSpPr>
        <p:spPr>
          <a:xfrm>
            <a:off x="9784080" y="4334256"/>
            <a:ext cx="1691640" cy="292608"/>
          </a:xfrm>
          <a:prstGeom prst="roundRect">
            <a:avLst>
              <a:gd name="adj" fmla="val 15625"/>
            </a:avLst>
          </a:prstGeom>
          <a:solidFill>
            <a:srgbClr val="F2F6F8"/>
          </a:solidFill>
          <a:ln/>
        </p:spPr>
      </p:sp>
      <p:sp>
        <p:nvSpPr>
          <p:cNvPr id="32" name="Text 29"/>
          <p:cNvSpPr/>
          <p:nvPr/>
        </p:nvSpPr>
        <p:spPr>
          <a:xfrm>
            <a:off x="9784080" y="4334256"/>
            <a:ext cx="1691640" cy="292608"/>
          </a:xfrm>
          <a:prstGeom prst="rect">
            <a:avLst/>
          </a:prstGeom>
          <a:noFill/>
          <a:ln/>
        </p:spPr>
        <p:txBody>
          <a:bodyPr wrap="square" rtlCol="0" anchor="ctr"/>
          <a:lstStyle/>
          <a:p>
            <a:pPr algn="ctr" indent="0" marL="0">
              <a:buNone/>
            </a:pPr>
            <a:r>
              <a:rPr lang="en-US" sz="950" b="1" spc="150" kern="0" dirty="0">
                <a:solidFill>
                  <a:srgbClr val="6E7B8A"/>
                </a:solidFill>
                <a:latin typeface="Calibri" pitchFamily="34" charset="0"/>
                <a:ea typeface="Calibri" pitchFamily="34" charset="-122"/>
                <a:cs typeface="Calibri" pitchFamily="34" charset="-120"/>
              </a:rPr>
              <a:t>BREAK</a:t>
            </a:r>
            <a:endParaRPr lang="en-US" sz="950" dirty="0"/>
          </a:p>
        </p:txBody>
      </p:sp>
      <p:sp>
        <p:nvSpPr>
          <p:cNvPr id="33" name="Shape 30"/>
          <p:cNvSpPr/>
          <p:nvPr/>
        </p:nvSpPr>
        <p:spPr>
          <a:xfrm>
            <a:off x="502920" y="4846320"/>
            <a:ext cx="11183112" cy="548640"/>
          </a:xfrm>
          <a:prstGeom prst="rect">
            <a:avLst/>
          </a:prstGeom>
          <a:solidFill>
            <a:srgbClr val="FFFFFF"/>
          </a:solidFill>
          <a:ln w="9525">
            <a:solidFill>
              <a:srgbClr val="D9E2E8"/>
            </a:solidFill>
            <a:prstDash val="solid"/>
          </a:ln>
        </p:spPr>
      </p:sp>
      <p:sp>
        <p:nvSpPr>
          <p:cNvPr id="34" name="Text 31"/>
          <p:cNvSpPr/>
          <p:nvPr/>
        </p:nvSpPr>
        <p:spPr>
          <a:xfrm>
            <a:off x="731520" y="48463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13:00–13:50</a:t>
            </a:r>
            <a:endParaRPr lang="en-US" sz="1250" dirty="0"/>
          </a:p>
        </p:txBody>
      </p:sp>
      <p:sp>
        <p:nvSpPr>
          <p:cNvPr id="35" name="Text 32"/>
          <p:cNvSpPr/>
          <p:nvPr/>
        </p:nvSpPr>
        <p:spPr>
          <a:xfrm>
            <a:off x="2423160" y="48463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4: Hybrid search + reranker</a:t>
            </a:r>
            <a:endParaRPr lang="en-US" sz="1250" dirty="0"/>
          </a:p>
        </p:txBody>
      </p:sp>
      <p:sp>
        <p:nvSpPr>
          <p:cNvPr id="36" name="Shape 33"/>
          <p:cNvSpPr/>
          <p:nvPr/>
        </p:nvSpPr>
        <p:spPr>
          <a:xfrm>
            <a:off x="9784080" y="4974336"/>
            <a:ext cx="1691640" cy="292608"/>
          </a:xfrm>
          <a:prstGeom prst="roundRect">
            <a:avLst>
              <a:gd name="adj" fmla="val 15625"/>
            </a:avLst>
          </a:prstGeom>
          <a:solidFill>
            <a:srgbClr val="FEF3E3"/>
          </a:solidFill>
          <a:ln/>
        </p:spPr>
      </p:sp>
      <p:sp>
        <p:nvSpPr>
          <p:cNvPr id="37" name="Text 34"/>
          <p:cNvSpPr/>
          <p:nvPr/>
        </p:nvSpPr>
        <p:spPr>
          <a:xfrm>
            <a:off x="9784080" y="497433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38" name="Shape 35"/>
          <p:cNvSpPr/>
          <p:nvPr/>
        </p:nvSpPr>
        <p:spPr>
          <a:xfrm>
            <a:off x="502920" y="5486400"/>
            <a:ext cx="11183112" cy="548640"/>
          </a:xfrm>
          <a:prstGeom prst="rect">
            <a:avLst/>
          </a:prstGeom>
          <a:solidFill>
            <a:srgbClr val="F2F6F8"/>
          </a:solidFill>
          <a:ln w="9525">
            <a:solidFill>
              <a:srgbClr val="D9E2E8"/>
            </a:solidFill>
            <a:prstDash val="solid"/>
          </a:ln>
        </p:spPr>
      </p:sp>
      <p:sp>
        <p:nvSpPr>
          <p:cNvPr id="39" name="Text 36"/>
          <p:cNvSpPr/>
          <p:nvPr/>
        </p:nvSpPr>
        <p:spPr>
          <a:xfrm>
            <a:off x="731520" y="548640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14:00–14:50</a:t>
            </a:r>
            <a:endParaRPr lang="en-US" sz="1250" dirty="0"/>
          </a:p>
        </p:txBody>
      </p:sp>
      <p:sp>
        <p:nvSpPr>
          <p:cNvPr id="40" name="Text 37"/>
          <p:cNvSpPr/>
          <p:nvPr/>
        </p:nvSpPr>
        <p:spPr>
          <a:xfrm>
            <a:off x="2423160" y="548640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Retrieval clinic + PA-1 timed practical</a:t>
            </a:r>
            <a:endParaRPr lang="en-US" sz="1250" dirty="0"/>
          </a:p>
        </p:txBody>
      </p:sp>
      <p:sp>
        <p:nvSpPr>
          <p:cNvPr id="41" name="Shape 38"/>
          <p:cNvSpPr/>
          <p:nvPr/>
        </p:nvSpPr>
        <p:spPr>
          <a:xfrm>
            <a:off x="9784080" y="5614416"/>
            <a:ext cx="1691640" cy="292608"/>
          </a:xfrm>
          <a:prstGeom prst="roundRect">
            <a:avLst>
              <a:gd name="adj" fmla="val 15625"/>
            </a:avLst>
          </a:prstGeom>
          <a:solidFill>
            <a:srgbClr val="EAF6FC"/>
          </a:solidFill>
          <a:ln/>
        </p:spPr>
      </p:sp>
      <p:sp>
        <p:nvSpPr>
          <p:cNvPr id="42" name="Text 39"/>
          <p:cNvSpPr/>
          <p:nvPr/>
        </p:nvSpPr>
        <p:spPr>
          <a:xfrm>
            <a:off x="9784080" y="5614416"/>
            <a:ext cx="1691640" cy="292608"/>
          </a:xfrm>
          <a:prstGeom prst="rect">
            <a:avLst/>
          </a:prstGeom>
          <a:noFill/>
          <a:ln/>
        </p:spPr>
        <p:txBody>
          <a:bodyPr wrap="square" rtlCol="0" anchor="ctr"/>
          <a:lstStyle/>
          <a:p>
            <a:pPr algn="ctr" indent="0" marL="0">
              <a:buNone/>
            </a:pPr>
            <a:r>
              <a:rPr lang="en-US" sz="950" b="1" spc="150" kern="0" dirty="0">
                <a:solidFill>
                  <a:srgbClr val="29ABE2"/>
                </a:solidFill>
                <a:latin typeface="Calibri" pitchFamily="34" charset="0"/>
                <a:ea typeface="Calibri" pitchFamily="34" charset="-122"/>
                <a:cs typeface="Calibri" pitchFamily="34" charset="-120"/>
              </a:rPr>
              <a:t>QUIZ</a:t>
            </a:r>
            <a:endParaRPr lang="en-US" sz="950" dirty="0"/>
          </a:p>
        </p:txBody>
      </p:sp>
      <p:sp>
        <p:nvSpPr>
          <p:cNvPr id="43" name="Text 4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44" name="Text 4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47</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2</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03</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Embeddings and Vector Databases</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التضمينات وقواعد البيانات المتجهية</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Choose a multilingual embedding model and prove it with recall@k</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Understand similarity metrics, normalisation, HNSW and quantization</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Operate Qdrant: collections, payloads, filters inside the search</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Retire F3 — the semantic miss on the bilingual Dalil corpus</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48</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3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الثالثة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LO3.1   </a:t>
            </a:r>
            <a:pPr indent="0" marL="0">
              <a:buNone/>
            </a:pPr>
            <a:r>
              <a:rPr lang="en-US" sz="1350" dirty="0">
                <a:solidFill>
                  <a:srgbClr val="2B2B2B"/>
                </a:solidFill>
                <a:latin typeface="Calibri" pitchFamily="34" charset="0"/>
                <a:ea typeface="Calibri" pitchFamily="34" charset="-122"/>
                <a:cs typeface="Calibri" pitchFamily="34" charset="-120"/>
              </a:rPr>
              <a:t>Select an embedding model for a bilingual corpus and justify it with recall numbers</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LO3.2   </a:t>
            </a:r>
            <a:pPr indent="0" marL="0">
              <a:buNone/>
            </a:pPr>
            <a:r>
              <a:rPr lang="en-US" sz="1350" dirty="0">
                <a:solidFill>
                  <a:srgbClr val="2B2B2B"/>
                </a:solidFill>
                <a:latin typeface="Calibri" pitchFamily="34" charset="0"/>
                <a:ea typeface="Calibri" pitchFamily="34" charset="-122"/>
                <a:cs typeface="Calibri" pitchFamily="34" charset="-120"/>
              </a:rPr>
              <a:t>Explain similarity metrics and the role of vector normalisation</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LO3.3   </a:t>
            </a:r>
            <a:pPr indent="0" marL="0">
              <a:buNone/>
            </a:pPr>
            <a:r>
              <a:rPr lang="en-US" sz="1350" dirty="0">
                <a:solidFill>
                  <a:srgbClr val="2B2B2B"/>
                </a:solidFill>
                <a:latin typeface="Calibri" pitchFamily="34" charset="0"/>
                <a:ea typeface="Calibri" pitchFamily="34" charset="-122"/>
                <a:cs typeface="Calibri" pitchFamily="34" charset="-120"/>
              </a:rPr>
              <a:t>Reason about HNSW parameters and quantization trade-offs</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LO3.4   </a:t>
            </a:r>
            <a:pPr indent="0" marL="0">
              <a:buNone/>
            </a:pPr>
            <a:r>
              <a:rPr lang="en-US" sz="1350" dirty="0">
                <a:solidFill>
                  <a:srgbClr val="2B2B2B"/>
                </a:solidFill>
                <a:latin typeface="Calibri" pitchFamily="34" charset="0"/>
                <a:ea typeface="Calibri" pitchFamily="34" charset="-122"/>
                <a:cs typeface="Calibri" pitchFamily="34" charset="-120"/>
              </a:rPr>
              <a:t>Build a Qdrant collection with payloads, filters, and correct schema</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LO3.5   </a:t>
            </a:r>
            <a:pPr indent="0" marL="0">
              <a:buNone/>
            </a:pPr>
            <a:r>
              <a:rPr lang="en-US" sz="1350" dirty="0">
                <a:solidFill>
                  <a:srgbClr val="2B2B2B"/>
                </a:solidFill>
                <a:latin typeface="Calibri" pitchFamily="34" charset="0"/>
                <a:ea typeface="Calibri" pitchFamily="34" charset="-122"/>
                <a:cs typeface="Calibri" pitchFamily="34" charset="-120"/>
              </a:rPr>
              <a:t>Benchmark recall@k and query latency on a labelled query set</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49</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What an Embedding Is — Why Model Choice Dominates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ما التضمين ولماذا يهيمن اختيار النموذج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An embedding maps text to a fixed-length vector; similar meanings land near each other</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Retrieval becomes nearest-neighbour search in that vector space</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Language and domain coverage decide everything on a bilingual corpus</a:t>
            </a:r>
            <a:endParaRPr lang="en-US" sz="1400" dirty="0"/>
          </a:p>
        </p:txBody>
      </p:sp>
      <p:sp>
        <p:nvSpPr>
          <p:cNvPr id="11" name="Text 8"/>
          <p:cNvSpPr/>
          <p:nvPr/>
        </p:nvSpPr>
        <p:spPr>
          <a:xfrm>
            <a:off x="1069848" y="272491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English-only models put Arabic queries far from English passages — that is F3</a:t>
            </a:r>
            <a:endParaRPr lang="en-US" sz="1150" dirty="0"/>
          </a:p>
        </p:txBody>
      </p:sp>
      <p:sp>
        <p:nvSpPr>
          <p:cNvPr id="12" name="Text 9"/>
          <p:cNvSpPr/>
          <p:nvPr/>
        </p:nvSpPr>
        <p:spPr>
          <a:xfrm>
            <a:off x="1069848" y="3017520"/>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Course model: bge-m3 — multilingual, 1024-dim, dense + sparse output</a:t>
            </a:r>
            <a:endParaRPr lang="en-US" sz="1150" dirty="0"/>
          </a:p>
        </p:txBody>
      </p:sp>
      <p:sp>
        <p:nvSpPr>
          <p:cNvPr id="13" name="Shape 10"/>
          <p:cNvSpPr/>
          <p:nvPr/>
        </p:nvSpPr>
        <p:spPr>
          <a:xfrm>
            <a:off x="521208" y="3520440"/>
            <a:ext cx="118872" cy="118872"/>
          </a:xfrm>
          <a:prstGeom prst="rect">
            <a:avLst/>
          </a:prstGeom>
          <a:solidFill>
            <a:srgbClr val="00A79D"/>
          </a:solidFill>
          <a:ln/>
        </p:spPr>
      </p:sp>
      <p:sp>
        <p:nvSpPr>
          <p:cNvPr id="14" name="Text 11"/>
          <p:cNvSpPr/>
          <p:nvPr/>
        </p:nvSpPr>
        <p:spPr>
          <a:xfrm>
            <a:off x="795528" y="34198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Symmetry of use: instruction-prefix models degrade silently if the prefix is skipped</a:t>
            </a:r>
            <a:endParaRPr lang="en-US" sz="1400" dirty="0"/>
          </a:p>
        </p:txBody>
      </p:sp>
      <p:sp>
        <p:nvSpPr>
          <p:cNvPr id="15" name="Shape 12"/>
          <p:cNvSpPr/>
          <p:nvPr/>
        </p:nvSpPr>
        <p:spPr>
          <a:xfrm>
            <a:off x="521208" y="3995928"/>
            <a:ext cx="118872" cy="118872"/>
          </a:xfrm>
          <a:prstGeom prst="rect">
            <a:avLst/>
          </a:prstGeom>
          <a:solidFill>
            <a:srgbClr val="00A79D"/>
          </a:solidFill>
          <a:ln/>
        </p:spPr>
      </p:sp>
      <p:sp>
        <p:nvSpPr>
          <p:cNvPr id="16" name="Text 13"/>
          <p:cNvSpPr/>
          <p:nvPr/>
        </p:nvSpPr>
        <p:spPr>
          <a:xfrm>
            <a:off x="795528" y="38953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Never adopt a model without measuring recall@k on your own labelled queries</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user asks about the housing allowance in Arabic and the answer lives in an English HR policy — only a genuinely multilingual embedding space bridges that gap.</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50</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One Model, Both Stages: bge-m3</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نموذج واحد يخدم مرحلتي الاسترجاع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3749040" y="2202180"/>
            <a:ext cx="1272388" cy="1203960"/>
          </a:xfrm>
          <a:prstGeom prst="line">
            <a:avLst/>
          </a:prstGeom>
          <a:noFill/>
          <a:ln w="15875">
            <a:solidFill>
              <a:srgbClr val="D9E2E8"/>
            </a:solidFill>
            <a:prstDash val="solid"/>
          </a:ln>
        </p:spPr>
      </p:sp>
      <p:sp>
        <p:nvSpPr>
          <p:cNvPr id="7" name="Shape 4"/>
          <p:cNvSpPr/>
          <p:nvPr/>
        </p:nvSpPr>
        <p:spPr>
          <a:xfrm>
            <a:off x="3749040" y="3406140"/>
            <a:ext cx="1272388" cy="914"/>
          </a:xfrm>
          <a:prstGeom prst="line">
            <a:avLst/>
          </a:prstGeom>
          <a:noFill/>
          <a:ln w="15875">
            <a:solidFill>
              <a:srgbClr val="D9E2E8"/>
            </a:solidFill>
            <a:prstDash val="solid"/>
          </a:ln>
        </p:spPr>
      </p:sp>
      <p:sp>
        <p:nvSpPr>
          <p:cNvPr id="8" name="Shape 5"/>
          <p:cNvSpPr/>
          <p:nvPr/>
        </p:nvSpPr>
        <p:spPr>
          <a:xfrm flipV="1">
            <a:off x="3749040" y="3406140"/>
            <a:ext cx="1272388" cy="1203960"/>
          </a:xfrm>
          <a:prstGeom prst="line">
            <a:avLst/>
          </a:prstGeom>
          <a:noFill/>
          <a:ln w="15875">
            <a:solidFill>
              <a:srgbClr val="D9E2E8"/>
            </a:solidFill>
            <a:prstDash val="solid"/>
          </a:ln>
        </p:spPr>
      </p:sp>
      <p:sp>
        <p:nvSpPr>
          <p:cNvPr id="9" name="Shape 6"/>
          <p:cNvSpPr/>
          <p:nvPr/>
        </p:nvSpPr>
        <p:spPr>
          <a:xfrm flipV="1">
            <a:off x="7170268" y="2503170"/>
            <a:ext cx="1269644" cy="902970"/>
          </a:xfrm>
          <a:prstGeom prst="line">
            <a:avLst/>
          </a:prstGeom>
          <a:noFill/>
          <a:ln w="15875">
            <a:solidFill>
              <a:srgbClr val="D9E2E8"/>
            </a:solidFill>
            <a:prstDash val="solid"/>
          </a:ln>
        </p:spPr>
      </p:sp>
      <p:sp>
        <p:nvSpPr>
          <p:cNvPr id="10" name="Shape 7"/>
          <p:cNvSpPr/>
          <p:nvPr/>
        </p:nvSpPr>
        <p:spPr>
          <a:xfrm>
            <a:off x="7170268" y="3406140"/>
            <a:ext cx="1269644" cy="902970"/>
          </a:xfrm>
          <a:prstGeom prst="line">
            <a:avLst/>
          </a:prstGeom>
          <a:noFill/>
          <a:ln w="15875">
            <a:solidFill>
              <a:srgbClr val="D9E2E8"/>
            </a:solidFill>
            <a:prstDash val="solid"/>
          </a:ln>
        </p:spPr>
      </p:sp>
      <p:sp>
        <p:nvSpPr>
          <p:cNvPr id="11" name="Shape 8"/>
          <p:cNvSpPr/>
          <p:nvPr/>
        </p:nvSpPr>
        <p:spPr>
          <a:xfrm>
            <a:off x="502920" y="1744980"/>
            <a:ext cx="3246120" cy="914400"/>
          </a:xfrm>
          <a:prstGeom prst="rect">
            <a:avLst/>
          </a:prstGeom>
          <a:solidFill>
            <a:srgbClr val="F2F6F8"/>
          </a:solidFill>
          <a:ln w="9525">
            <a:solidFill>
              <a:srgbClr val="D9E2E8"/>
            </a:solidFill>
            <a:prstDash val="solid"/>
          </a:ln>
        </p:spPr>
      </p:sp>
      <p:sp>
        <p:nvSpPr>
          <p:cNvPr id="12" name="Shape 9"/>
          <p:cNvSpPr/>
          <p:nvPr/>
        </p:nvSpPr>
        <p:spPr>
          <a:xfrm>
            <a:off x="502920" y="1744980"/>
            <a:ext cx="64008" cy="914400"/>
          </a:xfrm>
          <a:prstGeom prst="rect">
            <a:avLst/>
          </a:prstGeom>
          <a:solidFill>
            <a:srgbClr val="00A79D"/>
          </a:solidFill>
          <a:ln/>
        </p:spPr>
      </p:sp>
      <p:sp>
        <p:nvSpPr>
          <p:cNvPr id="13" name="Text 10"/>
          <p:cNvSpPr/>
          <p:nvPr/>
        </p:nvSpPr>
        <p:spPr>
          <a:xfrm>
            <a:off x="704088" y="181813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Multilingual</a:t>
            </a:r>
            <a:endParaRPr lang="en-US" sz="1250" dirty="0"/>
          </a:p>
        </p:txBody>
      </p:sp>
      <p:sp>
        <p:nvSpPr>
          <p:cNvPr id="14" name="Text 11"/>
          <p:cNvSpPr/>
          <p:nvPr/>
        </p:nvSpPr>
        <p:spPr>
          <a:xfrm>
            <a:off x="704088" y="216560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100+ languages — Arabic queries meet English passages</a:t>
            </a:r>
            <a:endParaRPr lang="en-US" sz="1000" dirty="0"/>
          </a:p>
        </p:txBody>
      </p:sp>
      <p:sp>
        <p:nvSpPr>
          <p:cNvPr id="15" name="Shape 12"/>
          <p:cNvSpPr/>
          <p:nvPr/>
        </p:nvSpPr>
        <p:spPr>
          <a:xfrm>
            <a:off x="502920" y="2948940"/>
            <a:ext cx="3246120" cy="914400"/>
          </a:xfrm>
          <a:prstGeom prst="rect">
            <a:avLst/>
          </a:prstGeom>
          <a:solidFill>
            <a:srgbClr val="F2F6F8"/>
          </a:solidFill>
          <a:ln w="9525">
            <a:solidFill>
              <a:srgbClr val="D9E2E8"/>
            </a:solidFill>
            <a:prstDash val="solid"/>
          </a:ln>
        </p:spPr>
      </p:sp>
      <p:sp>
        <p:nvSpPr>
          <p:cNvPr id="16" name="Shape 13"/>
          <p:cNvSpPr/>
          <p:nvPr/>
        </p:nvSpPr>
        <p:spPr>
          <a:xfrm>
            <a:off x="502920" y="2948940"/>
            <a:ext cx="64008" cy="914400"/>
          </a:xfrm>
          <a:prstGeom prst="rect">
            <a:avLst/>
          </a:prstGeom>
          <a:solidFill>
            <a:srgbClr val="29ABE2"/>
          </a:solidFill>
          <a:ln/>
        </p:spPr>
      </p:sp>
      <p:sp>
        <p:nvSpPr>
          <p:cNvPr id="17" name="Text 14"/>
          <p:cNvSpPr/>
          <p:nvPr/>
        </p:nvSpPr>
        <p:spPr>
          <a:xfrm>
            <a:off x="704088" y="302209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Dense vectors</a:t>
            </a:r>
            <a:endParaRPr lang="en-US" sz="1250" dirty="0"/>
          </a:p>
        </p:txBody>
      </p:sp>
      <p:sp>
        <p:nvSpPr>
          <p:cNvPr id="18" name="Text 15"/>
          <p:cNvSpPr/>
          <p:nvPr/>
        </p:nvSpPr>
        <p:spPr>
          <a:xfrm>
            <a:off x="704088" y="336956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1024-dim, normalised — cosine search in Qdrant</a:t>
            </a:r>
            <a:endParaRPr lang="en-US" sz="1000" dirty="0"/>
          </a:p>
        </p:txBody>
      </p:sp>
      <p:sp>
        <p:nvSpPr>
          <p:cNvPr id="19" name="Shape 16"/>
          <p:cNvSpPr/>
          <p:nvPr/>
        </p:nvSpPr>
        <p:spPr>
          <a:xfrm>
            <a:off x="502920" y="4152900"/>
            <a:ext cx="3246120" cy="914400"/>
          </a:xfrm>
          <a:prstGeom prst="rect">
            <a:avLst/>
          </a:prstGeom>
          <a:solidFill>
            <a:srgbClr val="F2F6F8"/>
          </a:solidFill>
          <a:ln w="9525">
            <a:solidFill>
              <a:srgbClr val="D9E2E8"/>
            </a:solidFill>
            <a:prstDash val="solid"/>
          </a:ln>
        </p:spPr>
      </p:sp>
      <p:sp>
        <p:nvSpPr>
          <p:cNvPr id="20" name="Shape 17"/>
          <p:cNvSpPr/>
          <p:nvPr/>
        </p:nvSpPr>
        <p:spPr>
          <a:xfrm>
            <a:off x="502920" y="4152900"/>
            <a:ext cx="64008" cy="914400"/>
          </a:xfrm>
          <a:prstGeom prst="rect">
            <a:avLst/>
          </a:prstGeom>
          <a:solidFill>
            <a:srgbClr val="F7941D"/>
          </a:solidFill>
          <a:ln/>
        </p:spPr>
      </p:sp>
      <p:sp>
        <p:nvSpPr>
          <p:cNvPr id="21" name="Text 18"/>
          <p:cNvSpPr/>
          <p:nvPr/>
        </p:nvSpPr>
        <p:spPr>
          <a:xfrm>
            <a:off x="704088" y="422605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Sparse output</a:t>
            </a:r>
            <a:endParaRPr lang="en-US" sz="1250" dirty="0"/>
          </a:p>
        </p:txBody>
      </p:sp>
      <p:sp>
        <p:nvSpPr>
          <p:cNvPr id="22" name="Text 19"/>
          <p:cNvSpPr/>
          <p:nvPr/>
        </p:nvSpPr>
        <p:spPr>
          <a:xfrm>
            <a:off x="704088" y="457352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Lexical weights — powers hybrid search in M4</a:t>
            </a:r>
            <a:endParaRPr lang="en-US" sz="1000" dirty="0"/>
          </a:p>
        </p:txBody>
      </p:sp>
      <p:sp>
        <p:nvSpPr>
          <p:cNvPr id="23" name="Shape 20"/>
          <p:cNvSpPr/>
          <p:nvPr/>
        </p:nvSpPr>
        <p:spPr>
          <a:xfrm>
            <a:off x="8439912" y="2045970"/>
            <a:ext cx="3246120" cy="914400"/>
          </a:xfrm>
          <a:prstGeom prst="rect">
            <a:avLst/>
          </a:prstGeom>
          <a:solidFill>
            <a:srgbClr val="F2F6F8"/>
          </a:solidFill>
          <a:ln w="9525">
            <a:solidFill>
              <a:srgbClr val="D9E2E8"/>
            </a:solidFill>
            <a:prstDash val="solid"/>
          </a:ln>
        </p:spPr>
      </p:sp>
      <p:sp>
        <p:nvSpPr>
          <p:cNvPr id="24" name="Shape 21"/>
          <p:cNvSpPr/>
          <p:nvPr/>
        </p:nvSpPr>
        <p:spPr>
          <a:xfrm>
            <a:off x="8439912" y="2045970"/>
            <a:ext cx="64008" cy="914400"/>
          </a:xfrm>
          <a:prstGeom prst="rect">
            <a:avLst/>
          </a:prstGeom>
          <a:solidFill>
            <a:srgbClr val="8CC63F"/>
          </a:solidFill>
          <a:ln/>
        </p:spPr>
      </p:sp>
      <p:sp>
        <p:nvSpPr>
          <p:cNvPr id="25" name="Text 22"/>
          <p:cNvSpPr/>
          <p:nvPr/>
        </p:nvSpPr>
        <p:spPr>
          <a:xfrm>
            <a:off x="8641080" y="211912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Multi-vector</a:t>
            </a:r>
            <a:endParaRPr lang="en-US" sz="1250" dirty="0"/>
          </a:p>
        </p:txBody>
      </p:sp>
      <p:sp>
        <p:nvSpPr>
          <p:cNvPr id="26" name="Text 23"/>
          <p:cNvSpPr/>
          <p:nvPr/>
        </p:nvSpPr>
        <p:spPr>
          <a:xfrm>
            <a:off x="8641080" y="246659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A third output mode the model also exposes</a:t>
            </a:r>
            <a:endParaRPr lang="en-US" sz="1000" dirty="0"/>
          </a:p>
        </p:txBody>
      </p:sp>
      <p:sp>
        <p:nvSpPr>
          <p:cNvPr id="27" name="Shape 24"/>
          <p:cNvSpPr/>
          <p:nvPr/>
        </p:nvSpPr>
        <p:spPr>
          <a:xfrm>
            <a:off x="8439912" y="3851910"/>
            <a:ext cx="3246120" cy="914400"/>
          </a:xfrm>
          <a:prstGeom prst="rect">
            <a:avLst/>
          </a:prstGeom>
          <a:solidFill>
            <a:srgbClr val="F2F6F8"/>
          </a:solidFill>
          <a:ln w="9525">
            <a:solidFill>
              <a:srgbClr val="D9E2E8"/>
            </a:solidFill>
            <a:prstDash val="solid"/>
          </a:ln>
        </p:spPr>
      </p:sp>
      <p:sp>
        <p:nvSpPr>
          <p:cNvPr id="28" name="Shape 25"/>
          <p:cNvSpPr/>
          <p:nvPr/>
        </p:nvSpPr>
        <p:spPr>
          <a:xfrm>
            <a:off x="8439912" y="3851910"/>
            <a:ext cx="64008" cy="914400"/>
          </a:xfrm>
          <a:prstGeom prst="rect">
            <a:avLst/>
          </a:prstGeom>
          <a:solidFill>
            <a:srgbClr val="1D2A5C"/>
          </a:solidFill>
          <a:ln/>
        </p:spPr>
      </p:sp>
      <p:sp>
        <p:nvSpPr>
          <p:cNvPr id="29" name="Text 26"/>
          <p:cNvSpPr/>
          <p:nvPr/>
        </p:nvSpPr>
        <p:spPr>
          <a:xfrm>
            <a:off x="8641080" y="392506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Symmetric use</a:t>
            </a:r>
            <a:endParaRPr lang="en-US" sz="1250" dirty="0"/>
          </a:p>
        </p:txBody>
      </p:sp>
      <p:sp>
        <p:nvSpPr>
          <p:cNvPr id="30" name="Text 27"/>
          <p:cNvSpPr/>
          <p:nvPr/>
        </p:nvSpPr>
        <p:spPr>
          <a:xfrm>
            <a:off x="8641080" y="427253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Handles short queries and long passages alike</a:t>
            </a:r>
            <a:endParaRPr lang="en-US" sz="1000" dirty="0"/>
          </a:p>
        </p:txBody>
      </p:sp>
      <p:sp>
        <p:nvSpPr>
          <p:cNvPr id="31" name="Shape 28"/>
          <p:cNvSpPr/>
          <p:nvPr/>
        </p:nvSpPr>
        <p:spPr>
          <a:xfrm>
            <a:off x="4838548" y="2743200"/>
            <a:ext cx="2514600" cy="1325880"/>
          </a:xfrm>
          <a:prstGeom prst="ellipse">
            <a:avLst/>
          </a:prstGeom>
          <a:solidFill>
            <a:srgbClr val="1D2A5C"/>
          </a:solidFill>
          <a:ln w="19050">
            <a:solidFill>
              <a:srgbClr val="00A79D"/>
            </a:solidFill>
            <a:prstDash val="solid"/>
          </a:ln>
        </p:spPr>
      </p:sp>
      <p:sp>
        <p:nvSpPr>
          <p:cNvPr id="32" name="Text 29"/>
          <p:cNvSpPr/>
          <p:nvPr/>
        </p:nvSpPr>
        <p:spPr>
          <a:xfrm>
            <a:off x="4975708" y="2743200"/>
            <a:ext cx="2240280" cy="13258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BAAI/bge-m3</a:t>
            </a:r>
            <a:endParaRPr lang="en-US" sz="1400" dirty="0"/>
          </a:p>
        </p:txBody>
      </p:sp>
      <p:sp>
        <p:nvSpPr>
          <p:cNvPr id="33" name="Shape 30"/>
          <p:cNvSpPr/>
          <p:nvPr/>
        </p:nvSpPr>
        <p:spPr>
          <a:xfrm>
            <a:off x="502920" y="5394960"/>
            <a:ext cx="11183112" cy="777240"/>
          </a:xfrm>
          <a:prstGeom prst="rect">
            <a:avLst/>
          </a:prstGeom>
          <a:solidFill>
            <a:srgbClr val="E6F5F4"/>
          </a:solidFill>
          <a:ln/>
        </p:spPr>
      </p:sp>
      <p:sp>
        <p:nvSpPr>
          <p:cNvPr id="34" name="Text 31"/>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sparse capability is why bge-m3 carries into Module 4 — one model serves both the dense stage today and the hybrid stack tomorrow morning.</a:t>
            </a:r>
            <a:endParaRPr lang="en-US" sz="1050" dirty="0"/>
          </a:p>
        </p:txBody>
      </p:sp>
      <p:sp>
        <p:nvSpPr>
          <p:cNvPr id="35" name="Text 3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6" name="Text 3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51</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Similarity Metrics and Normalisation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مقاييس التشابه وتسوية المتجهات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44824" cy="475488"/>
          </a:xfrm>
          <a:prstGeom prst="rect">
            <a:avLst/>
          </a:prstGeom>
          <a:solidFill>
            <a:srgbClr val="1D2A5C"/>
          </a:solidFill>
          <a:ln/>
        </p:spPr>
      </p:sp>
      <p:sp>
        <p:nvSpPr>
          <p:cNvPr id="7" name="Text 4"/>
          <p:cNvSpPr/>
          <p:nvPr/>
        </p:nvSpPr>
        <p:spPr>
          <a:xfrm>
            <a:off x="502920" y="1627632"/>
            <a:ext cx="3544824"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Cosine</a:t>
            </a:r>
            <a:endParaRPr lang="en-US" sz="1350" dirty="0"/>
          </a:p>
        </p:txBody>
      </p:sp>
      <p:sp>
        <p:nvSpPr>
          <p:cNvPr id="8" name="Shape 5"/>
          <p:cNvSpPr/>
          <p:nvPr/>
        </p:nvSpPr>
        <p:spPr>
          <a:xfrm>
            <a:off x="502920" y="2103120"/>
            <a:ext cx="3544824" cy="3127248"/>
          </a:xfrm>
          <a:prstGeom prst="rect">
            <a:avLst/>
          </a:prstGeom>
          <a:solidFill>
            <a:srgbClr val="F2F6F8"/>
          </a:solidFill>
          <a:ln w="9525">
            <a:solidFill>
              <a:srgbClr val="D9E2E8"/>
            </a:solidFill>
            <a:prstDash val="solid"/>
          </a:ln>
        </p:spPr>
      </p:sp>
      <p:sp>
        <p:nvSpPr>
          <p:cNvPr id="9" name="Text 6"/>
          <p:cNvSpPr/>
          <p:nvPr/>
        </p:nvSpPr>
        <p:spPr>
          <a:xfrm>
            <a:off x="704088" y="2240280"/>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Angle between vectors</a:t>
            </a:r>
            <a:endParaRPr lang="en-US" sz="1150" dirty="0"/>
          </a:p>
        </p:txBody>
      </p:sp>
      <p:sp>
        <p:nvSpPr>
          <p:cNvPr id="10" name="Text 7"/>
          <p:cNvSpPr/>
          <p:nvPr/>
        </p:nvSpPr>
        <p:spPr>
          <a:xfrm>
            <a:off x="704088" y="2953512"/>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Magnitude-invariant</a:t>
            </a:r>
            <a:endParaRPr lang="en-US" sz="1150" dirty="0"/>
          </a:p>
        </p:txBody>
      </p:sp>
      <p:sp>
        <p:nvSpPr>
          <p:cNvPr id="11" name="Text 8"/>
          <p:cNvSpPr/>
          <p:nvPr/>
        </p:nvSpPr>
        <p:spPr>
          <a:xfrm>
            <a:off x="704088" y="3666744"/>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Compares direction = meaning</a:t>
            </a:r>
            <a:endParaRPr lang="en-US" sz="1150" dirty="0"/>
          </a:p>
        </p:txBody>
      </p:sp>
      <p:sp>
        <p:nvSpPr>
          <p:cNvPr id="12" name="Text 9"/>
          <p:cNvSpPr/>
          <p:nvPr/>
        </p:nvSpPr>
        <p:spPr>
          <a:xfrm>
            <a:off x="704088" y="4379976"/>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The default for text</a:t>
            </a:r>
            <a:endParaRPr lang="en-US" sz="1150" dirty="0"/>
          </a:p>
        </p:txBody>
      </p:sp>
      <p:sp>
        <p:nvSpPr>
          <p:cNvPr id="13" name="Shape 10"/>
          <p:cNvSpPr/>
          <p:nvPr/>
        </p:nvSpPr>
        <p:spPr>
          <a:xfrm>
            <a:off x="4322064" y="1627632"/>
            <a:ext cx="3544824" cy="475488"/>
          </a:xfrm>
          <a:prstGeom prst="rect">
            <a:avLst/>
          </a:prstGeom>
          <a:solidFill>
            <a:srgbClr val="1D2A5C"/>
          </a:solidFill>
          <a:ln/>
        </p:spPr>
      </p:sp>
      <p:sp>
        <p:nvSpPr>
          <p:cNvPr id="14" name="Text 11"/>
          <p:cNvSpPr/>
          <p:nvPr/>
        </p:nvSpPr>
        <p:spPr>
          <a:xfrm>
            <a:off x="4322064" y="1627632"/>
            <a:ext cx="3544824"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Dot product</a:t>
            </a:r>
            <a:endParaRPr lang="en-US" sz="1350" dirty="0"/>
          </a:p>
        </p:txBody>
      </p:sp>
      <p:sp>
        <p:nvSpPr>
          <p:cNvPr id="15" name="Shape 12"/>
          <p:cNvSpPr/>
          <p:nvPr/>
        </p:nvSpPr>
        <p:spPr>
          <a:xfrm>
            <a:off x="4322064" y="2103120"/>
            <a:ext cx="3544824" cy="3127248"/>
          </a:xfrm>
          <a:prstGeom prst="rect">
            <a:avLst/>
          </a:prstGeom>
          <a:solidFill>
            <a:srgbClr val="F2F6F8"/>
          </a:solidFill>
          <a:ln w="9525">
            <a:solidFill>
              <a:srgbClr val="D9E2E8"/>
            </a:solidFill>
            <a:prstDash val="solid"/>
          </a:ln>
        </p:spPr>
      </p:sp>
      <p:sp>
        <p:nvSpPr>
          <p:cNvPr id="16" name="Text 13"/>
          <p:cNvSpPr/>
          <p:nvPr/>
        </p:nvSpPr>
        <p:spPr>
          <a:xfrm>
            <a:off x="4523232" y="2240280"/>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Cosine times magnitudes</a:t>
            </a:r>
            <a:endParaRPr lang="en-US" sz="1150" dirty="0"/>
          </a:p>
        </p:txBody>
      </p:sp>
      <p:sp>
        <p:nvSpPr>
          <p:cNvPr id="17" name="Text 14"/>
          <p:cNvSpPr/>
          <p:nvPr/>
        </p:nvSpPr>
        <p:spPr>
          <a:xfrm>
            <a:off x="4523232" y="2953512"/>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Fastest to compute</a:t>
            </a:r>
            <a:endParaRPr lang="en-US" sz="1150" dirty="0"/>
          </a:p>
        </p:txBody>
      </p:sp>
      <p:sp>
        <p:nvSpPr>
          <p:cNvPr id="18" name="Text 15"/>
          <p:cNvSpPr/>
          <p:nvPr/>
        </p:nvSpPr>
        <p:spPr>
          <a:xfrm>
            <a:off x="4523232" y="3666744"/>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Use when vectors normalised</a:t>
            </a:r>
            <a:endParaRPr lang="en-US" sz="1150" dirty="0"/>
          </a:p>
        </p:txBody>
      </p:sp>
      <p:sp>
        <p:nvSpPr>
          <p:cNvPr id="19" name="Text 16"/>
          <p:cNvSpPr/>
          <p:nvPr/>
        </p:nvSpPr>
        <p:spPr>
          <a:xfrm>
            <a:off x="4523232" y="4379976"/>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Or magnitude carries signal</a:t>
            </a:r>
            <a:endParaRPr lang="en-US" sz="1150" dirty="0"/>
          </a:p>
        </p:txBody>
      </p:sp>
      <p:sp>
        <p:nvSpPr>
          <p:cNvPr id="20" name="Shape 17"/>
          <p:cNvSpPr/>
          <p:nvPr/>
        </p:nvSpPr>
        <p:spPr>
          <a:xfrm>
            <a:off x="8141208" y="1627632"/>
            <a:ext cx="3544824" cy="475488"/>
          </a:xfrm>
          <a:prstGeom prst="rect">
            <a:avLst/>
          </a:prstGeom>
          <a:solidFill>
            <a:srgbClr val="1D2A5C"/>
          </a:solidFill>
          <a:ln/>
        </p:spPr>
      </p:sp>
      <p:sp>
        <p:nvSpPr>
          <p:cNvPr id="21" name="Text 18"/>
          <p:cNvSpPr/>
          <p:nvPr/>
        </p:nvSpPr>
        <p:spPr>
          <a:xfrm>
            <a:off x="8141208" y="1627632"/>
            <a:ext cx="3544824"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Euclidean (L2)</a:t>
            </a:r>
            <a:endParaRPr lang="en-US" sz="1350" dirty="0"/>
          </a:p>
        </p:txBody>
      </p:sp>
      <p:sp>
        <p:nvSpPr>
          <p:cNvPr id="22" name="Shape 19"/>
          <p:cNvSpPr/>
          <p:nvPr/>
        </p:nvSpPr>
        <p:spPr>
          <a:xfrm>
            <a:off x="8141208" y="2103120"/>
            <a:ext cx="3544824" cy="3127248"/>
          </a:xfrm>
          <a:prstGeom prst="rect">
            <a:avLst/>
          </a:prstGeom>
          <a:solidFill>
            <a:srgbClr val="F2F6F8"/>
          </a:solidFill>
          <a:ln w="9525">
            <a:solidFill>
              <a:srgbClr val="D9E2E8"/>
            </a:solidFill>
            <a:prstDash val="solid"/>
          </a:ln>
        </p:spPr>
      </p:sp>
      <p:sp>
        <p:nvSpPr>
          <p:cNvPr id="23" name="Text 20"/>
          <p:cNvSpPr/>
          <p:nvPr/>
        </p:nvSpPr>
        <p:spPr>
          <a:xfrm>
            <a:off x="8342376" y="2240280"/>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Straight-line distance</a:t>
            </a:r>
            <a:endParaRPr lang="en-US" sz="1150" dirty="0"/>
          </a:p>
        </p:txBody>
      </p:sp>
      <p:sp>
        <p:nvSpPr>
          <p:cNvPr id="24" name="Text 21"/>
          <p:cNvSpPr/>
          <p:nvPr/>
        </p:nvSpPr>
        <p:spPr>
          <a:xfrm>
            <a:off x="8342376" y="2953512"/>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Rarely used for text</a:t>
            </a:r>
            <a:endParaRPr lang="en-US" sz="1150" dirty="0"/>
          </a:p>
        </p:txBody>
      </p:sp>
      <p:sp>
        <p:nvSpPr>
          <p:cNvPr id="25" name="Text 22"/>
          <p:cNvSpPr/>
          <p:nvPr/>
        </p:nvSpPr>
        <p:spPr>
          <a:xfrm>
            <a:off x="8342376" y="3666744"/>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Some image models</a:t>
            </a:r>
            <a:endParaRPr lang="en-US" sz="11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VERDICT   </a:t>
            </a:r>
            <a:pPr indent="0" marL="0">
              <a:buNone/>
            </a:pPr>
            <a:r>
              <a:rPr lang="en-US" sz="1150" dirty="0">
                <a:solidFill>
                  <a:srgbClr val="2B2B2B"/>
                </a:solidFill>
                <a:latin typeface="Calibri" pitchFamily="34" charset="0"/>
                <a:ea typeface="Calibri" pitchFamily="34" charset="-122"/>
                <a:cs typeface="Calibri" pitchFamily="34" charset="-120"/>
              </a:rPr>
              <a:t>L2-normalise at index AND query time: cosine and dot product become equivalent — and inconsistent normalisation scrambles rankings with no error raised.</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52</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HNSW: Approximate Search and Its Three Knobs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البحث التقريبي عن أقرب الجيران ومعاملاته</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Exact nearest-neighbour is O(N) per query — fine at 10k chunks, ruinous at 10M</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HNSW is a graph index: roughly log(N) search with tunable accuracy</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Mental model: trade a little accuracy for a lot of speed — then buy accuracy back</a:t>
            </a:r>
            <a:endParaRPr lang="en-US" sz="1400" dirty="0"/>
          </a:p>
        </p:txBody>
      </p:sp>
      <p:sp>
        <p:nvSpPr>
          <p:cNvPr id="12" name="Shape 9"/>
          <p:cNvSpPr/>
          <p:nvPr/>
        </p:nvSpPr>
        <p:spPr>
          <a:xfrm>
            <a:off x="8092440" y="1572768"/>
            <a:ext cx="3593592" cy="3685032"/>
          </a:xfrm>
          <a:prstGeom prst="rect">
            <a:avLst/>
          </a:prstGeom>
          <a:solidFill>
            <a:srgbClr val="E6F5F4"/>
          </a:solidFill>
          <a:ln/>
        </p:spPr>
      </p:sp>
      <p:sp>
        <p:nvSpPr>
          <p:cNvPr id="13" name="Text 10"/>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THE THREE KNOBS</a:t>
            </a:r>
            <a:endParaRPr lang="en-US" sz="1100" dirty="0"/>
          </a:p>
        </p:txBody>
      </p:sp>
      <p:sp>
        <p:nvSpPr>
          <p:cNvPr id="14" name="Text 11"/>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m = 16 — edges per node: recall vs RAM</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ef_construct = 100 — build-time width</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ef = 64 — query-time candidate list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Raise ef to buy recall per query</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No rebuild needed to change ef</a:t>
            </a:r>
            <a:endParaRPr lang="en-US" sz="1100" dirty="0"/>
          </a:p>
        </p:txBody>
      </p:sp>
      <p:sp>
        <p:nvSpPr>
          <p:cNvPr id="15" name="Shape 12"/>
          <p:cNvSpPr/>
          <p:nvPr/>
        </p:nvSpPr>
        <p:spPr>
          <a:xfrm>
            <a:off x="502920" y="5394960"/>
            <a:ext cx="11183112" cy="777240"/>
          </a:xfrm>
          <a:prstGeom prst="rect">
            <a:avLst/>
          </a:prstGeom>
          <a:solidFill>
            <a:srgbClr val="E6F5F4"/>
          </a:solidFill>
          <a:ln/>
        </p:spPr>
      </p:sp>
      <p:sp>
        <p:nvSpPr>
          <p:cNvPr id="16" name="Text 1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ef is the recall/latency dial you actually turn in production — recall becomes a purchasable, per-query quantity.</a:t>
            </a:r>
            <a:endParaRPr lang="en-US" sz="1050" dirty="0"/>
          </a:p>
        </p:txBody>
      </p:sp>
      <p:sp>
        <p:nvSpPr>
          <p:cNvPr id="17" name="Text 1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8" name="Text 1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53</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Quantization: The Memory/Recall Trade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التكميم: مقايضة الذاكرة والاستدعاء</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74520"/>
            <a:ext cx="2555748" cy="3063240"/>
          </a:xfrm>
          <a:prstGeom prst="rect">
            <a:avLst/>
          </a:prstGeom>
          <a:solidFill>
            <a:srgbClr val="F2F6F8"/>
          </a:solidFill>
          <a:ln w="9525">
            <a:solidFill>
              <a:srgbClr val="D9E2E8"/>
            </a:solidFill>
            <a:prstDash val="solid"/>
          </a:ln>
        </p:spPr>
      </p:sp>
      <p:sp>
        <p:nvSpPr>
          <p:cNvPr id="7" name="Shape 4"/>
          <p:cNvSpPr/>
          <p:nvPr/>
        </p:nvSpPr>
        <p:spPr>
          <a:xfrm>
            <a:off x="502920" y="1874520"/>
            <a:ext cx="2555748" cy="73152"/>
          </a:xfrm>
          <a:prstGeom prst="rect">
            <a:avLst/>
          </a:prstGeom>
          <a:solidFill>
            <a:srgbClr val="00A79D"/>
          </a:solidFill>
          <a:ln/>
        </p:spPr>
      </p:sp>
      <p:sp>
        <p:nvSpPr>
          <p:cNvPr id="8" name="Text 5"/>
          <p:cNvSpPr/>
          <p:nvPr/>
        </p:nvSpPr>
        <p:spPr>
          <a:xfrm>
            <a:off x="594360"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4 KB</a:t>
            </a:r>
            <a:endParaRPr lang="en-US" sz="4000" dirty="0"/>
          </a:p>
        </p:txBody>
      </p:sp>
      <p:sp>
        <p:nvSpPr>
          <p:cNvPr id="9" name="Text 6"/>
          <p:cNvSpPr/>
          <p:nvPr/>
        </p:nvSpPr>
        <p:spPr>
          <a:xfrm>
            <a:off x="685800"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per float32 vector</a:t>
            </a:r>
            <a:endParaRPr lang="en-US" sz="1300" dirty="0"/>
          </a:p>
        </p:txBody>
      </p:sp>
      <p:sp>
        <p:nvSpPr>
          <p:cNvPr id="10" name="Text 7"/>
          <p:cNvSpPr/>
          <p:nvPr/>
        </p:nvSpPr>
        <p:spPr>
          <a:xfrm>
            <a:off x="685800"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1024-dim — 4 GB RAM per million chunks</a:t>
            </a:r>
            <a:endParaRPr lang="en-US" sz="1050" dirty="0"/>
          </a:p>
        </p:txBody>
      </p:sp>
      <p:sp>
        <p:nvSpPr>
          <p:cNvPr id="11" name="Shape 8"/>
          <p:cNvSpPr/>
          <p:nvPr/>
        </p:nvSpPr>
        <p:spPr>
          <a:xfrm>
            <a:off x="3378708" y="1874520"/>
            <a:ext cx="2555748" cy="3063240"/>
          </a:xfrm>
          <a:prstGeom prst="rect">
            <a:avLst/>
          </a:prstGeom>
          <a:solidFill>
            <a:srgbClr val="F2F6F8"/>
          </a:solidFill>
          <a:ln w="9525">
            <a:solidFill>
              <a:srgbClr val="D9E2E8"/>
            </a:solidFill>
            <a:prstDash val="solid"/>
          </a:ln>
        </p:spPr>
      </p:sp>
      <p:sp>
        <p:nvSpPr>
          <p:cNvPr id="12" name="Shape 9"/>
          <p:cNvSpPr/>
          <p:nvPr/>
        </p:nvSpPr>
        <p:spPr>
          <a:xfrm>
            <a:off x="3378708" y="1874520"/>
            <a:ext cx="2555748" cy="73152"/>
          </a:xfrm>
          <a:prstGeom prst="rect">
            <a:avLst/>
          </a:prstGeom>
          <a:solidFill>
            <a:srgbClr val="29ABE2"/>
          </a:solidFill>
          <a:ln/>
        </p:spPr>
      </p:sp>
      <p:sp>
        <p:nvSpPr>
          <p:cNvPr id="13" name="Text 10"/>
          <p:cNvSpPr/>
          <p:nvPr/>
        </p:nvSpPr>
        <p:spPr>
          <a:xfrm>
            <a:off x="3470148"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~4×</a:t>
            </a:r>
            <a:endParaRPr lang="en-US" sz="4000" dirty="0"/>
          </a:p>
        </p:txBody>
      </p:sp>
      <p:sp>
        <p:nvSpPr>
          <p:cNvPr id="14" name="Text 11"/>
          <p:cNvSpPr/>
          <p:nvPr/>
        </p:nvSpPr>
        <p:spPr>
          <a:xfrm>
            <a:off x="3561588"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smaller with int8 scalar</a:t>
            </a:r>
            <a:endParaRPr lang="en-US" sz="1300" dirty="0"/>
          </a:p>
        </p:txBody>
      </p:sp>
      <p:sp>
        <p:nvSpPr>
          <p:cNvPr id="15" name="Text 12"/>
          <p:cNvSpPr/>
          <p:nvPr/>
        </p:nvSpPr>
        <p:spPr>
          <a:xfrm>
            <a:off x="3561588"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small, measurable recall cost</a:t>
            </a:r>
            <a:endParaRPr lang="en-US" sz="1050" dirty="0"/>
          </a:p>
        </p:txBody>
      </p:sp>
      <p:sp>
        <p:nvSpPr>
          <p:cNvPr id="16" name="Shape 13"/>
          <p:cNvSpPr/>
          <p:nvPr/>
        </p:nvSpPr>
        <p:spPr>
          <a:xfrm>
            <a:off x="6254496" y="1874520"/>
            <a:ext cx="2555748" cy="3063240"/>
          </a:xfrm>
          <a:prstGeom prst="rect">
            <a:avLst/>
          </a:prstGeom>
          <a:solidFill>
            <a:srgbClr val="F2F6F8"/>
          </a:solidFill>
          <a:ln w="9525">
            <a:solidFill>
              <a:srgbClr val="D9E2E8"/>
            </a:solidFill>
            <a:prstDash val="solid"/>
          </a:ln>
        </p:spPr>
      </p:sp>
      <p:sp>
        <p:nvSpPr>
          <p:cNvPr id="17" name="Shape 14"/>
          <p:cNvSpPr/>
          <p:nvPr/>
        </p:nvSpPr>
        <p:spPr>
          <a:xfrm>
            <a:off x="6254496" y="1874520"/>
            <a:ext cx="2555748" cy="73152"/>
          </a:xfrm>
          <a:prstGeom prst="rect">
            <a:avLst/>
          </a:prstGeom>
          <a:solidFill>
            <a:srgbClr val="F7941D"/>
          </a:solidFill>
          <a:ln/>
        </p:spPr>
      </p:sp>
      <p:sp>
        <p:nvSpPr>
          <p:cNvPr id="18" name="Text 15"/>
          <p:cNvSpPr/>
          <p:nvPr/>
        </p:nvSpPr>
        <p:spPr>
          <a:xfrm>
            <a:off x="6345936"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~32×</a:t>
            </a:r>
            <a:endParaRPr lang="en-US" sz="4000" dirty="0"/>
          </a:p>
        </p:txBody>
      </p:sp>
      <p:sp>
        <p:nvSpPr>
          <p:cNvPr id="19" name="Text 16"/>
          <p:cNvSpPr/>
          <p:nvPr/>
        </p:nvSpPr>
        <p:spPr>
          <a:xfrm>
            <a:off x="6437376"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smaller with binary</a:t>
            </a:r>
            <a:endParaRPr lang="en-US" sz="1300" dirty="0"/>
          </a:p>
        </p:txBody>
      </p:sp>
      <p:sp>
        <p:nvSpPr>
          <p:cNvPr id="20" name="Text 17"/>
          <p:cNvSpPr/>
          <p:nvPr/>
        </p:nvSpPr>
        <p:spPr>
          <a:xfrm>
            <a:off x="6437376"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needs full-vector rescoring pass</a:t>
            </a:r>
            <a:endParaRPr lang="en-US" sz="1050" dirty="0"/>
          </a:p>
        </p:txBody>
      </p:sp>
      <p:sp>
        <p:nvSpPr>
          <p:cNvPr id="21" name="Shape 18"/>
          <p:cNvSpPr/>
          <p:nvPr/>
        </p:nvSpPr>
        <p:spPr>
          <a:xfrm>
            <a:off x="9130284" y="1874520"/>
            <a:ext cx="2555748" cy="3063240"/>
          </a:xfrm>
          <a:prstGeom prst="rect">
            <a:avLst/>
          </a:prstGeom>
          <a:solidFill>
            <a:srgbClr val="F2F6F8"/>
          </a:solidFill>
          <a:ln w="9525">
            <a:solidFill>
              <a:srgbClr val="D9E2E8"/>
            </a:solidFill>
            <a:prstDash val="solid"/>
          </a:ln>
        </p:spPr>
      </p:sp>
      <p:sp>
        <p:nvSpPr>
          <p:cNvPr id="22" name="Shape 19"/>
          <p:cNvSpPr/>
          <p:nvPr/>
        </p:nvSpPr>
        <p:spPr>
          <a:xfrm>
            <a:off x="9130284" y="1874520"/>
            <a:ext cx="2555748" cy="73152"/>
          </a:xfrm>
          <a:prstGeom prst="rect">
            <a:avLst/>
          </a:prstGeom>
          <a:solidFill>
            <a:srgbClr val="8CC63F"/>
          </a:solidFill>
          <a:ln/>
        </p:spPr>
      </p:sp>
      <p:sp>
        <p:nvSpPr>
          <p:cNvPr id="23" name="Text 20"/>
          <p:cNvSpPr/>
          <p:nvPr/>
        </p:nvSpPr>
        <p:spPr>
          <a:xfrm>
            <a:off x="9221724"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≈0.01</a:t>
            </a:r>
            <a:endParaRPr lang="en-US" sz="4000" dirty="0"/>
          </a:p>
        </p:txBody>
      </p:sp>
      <p:sp>
        <p:nvSpPr>
          <p:cNvPr id="24" name="Text 21"/>
          <p:cNvSpPr/>
          <p:nvPr/>
        </p:nvSpPr>
        <p:spPr>
          <a:xfrm>
            <a:off x="9313164"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recall delta, case study</a:t>
            </a:r>
            <a:endParaRPr lang="en-US" sz="1300" dirty="0"/>
          </a:p>
        </p:txBody>
      </p:sp>
      <p:sp>
        <p:nvSpPr>
          <p:cNvPr id="25" name="Text 22"/>
          <p:cNvSpPr/>
          <p:nvPr/>
        </p:nvSpPr>
        <p:spPr>
          <a:xfrm>
            <a:off x="9313164"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int8 + rescoring at 5M chunks</a:t>
            </a:r>
            <a:endParaRPr lang="en-US" sz="10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Quantize on purpose, with a measured recall delta you chose to accept — not by default and not by fear.</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54</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Operating Qdrant: Collections, Payloads, Filters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تشغيل قاعدة البيانات المتجهية والمرشحات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 point = (id, vector, payload) — the payload is the M2 metadata, not decoration</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Payload indexes on department, language, superseded_by make filtered search fast</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Filters run INSIDE the ANN search — access control before retrieval, not after</a:t>
            </a:r>
            <a:endParaRPr lang="en-US" sz="1400" dirty="0"/>
          </a:p>
        </p:txBody>
      </p:sp>
      <p:sp>
        <p:nvSpPr>
          <p:cNvPr id="12" name="Text 9"/>
          <p:cNvSpPr/>
          <p:nvPr/>
        </p:nvSpPr>
        <p:spPr>
          <a:xfrm>
            <a:off x="1069848" y="290779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An HR user never even retrieves a document they may not see</a:t>
            </a:r>
            <a:endParaRPr lang="en-US" sz="1150" dirty="0"/>
          </a:p>
        </p:txBody>
      </p:sp>
      <p:sp>
        <p:nvSpPr>
          <p:cNvPr id="13" name="Shape 10"/>
          <p:cNvSpPr/>
          <p:nvPr/>
        </p:nvSpPr>
        <p:spPr>
          <a:xfrm>
            <a:off x="521208" y="3410712"/>
            <a:ext cx="118872" cy="118872"/>
          </a:xfrm>
          <a:prstGeom prst="rect">
            <a:avLst/>
          </a:prstGeom>
          <a:solidFill>
            <a:srgbClr val="00A79D"/>
          </a:solidFill>
          <a:ln/>
        </p:spPr>
      </p:sp>
      <p:sp>
        <p:nvSpPr>
          <p:cNvPr id="14" name="Text 11"/>
          <p:cNvSpPr/>
          <p:nvPr/>
        </p:nvSpPr>
        <p:spPr>
          <a:xfrm>
            <a:off x="795528" y="331012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Aggressive filters can starve HNSW of candidates — recall collapses silently</a:t>
            </a:r>
            <a:endParaRPr lang="en-US" sz="1400" dirty="0"/>
          </a:p>
        </p:txBody>
      </p:sp>
      <p:sp>
        <p:nvSpPr>
          <p:cNvPr id="15" name="Shape 12"/>
          <p:cNvSpPr/>
          <p:nvPr/>
        </p:nvSpPr>
        <p:spPr>
          <a:xfrm>
            <a:off x="521208" y="3886200"/>
            <a:ext cx="118872" cy="118872"/>
          </a:xfrm>
          <a:prstGeom prst="rect">
            <a:avLst/>
          </a:prstGeom>
          <a:solidFill>
            <a:srgbClr val="00A79D"/>
          </a:solidFill>
          <a:ln/>
        </p:spPr>
      </p:sp>
      <p:sp>
        <p:nvSpPr>
          <p:cNvPr id="16" name="Text 13"/>
          <p:cNvSpPr/>
          <p:nvPr/>
        </p:nvSpPr>
        <p:spPr>
          <a:xfrm>
            <a:off x="795528" y="378561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pgvector when: data already in Postgres, under ~1M vectors, transactions matter</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Post-retrieval access control is a data-leak waiting to happen — and slower besides. Filter inside the search.</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55</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Swapping the Embedding Model Is a Migration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تبديل نموذج التضمين هجرة وليس إعدادا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Freeze labels</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Keep the labelled query set fixed so before/after compares fairly</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New collection</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 model swap invalidates every vector — build side by side</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Re-embed corpus</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Encode all chunks with the new model into the new collection</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Benchmark both</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recall@k and latency — including the Arabic subset</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Blue-green cutover</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Switch traffic only when the new index wins; keep rollback</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Freshness is an upsert keyed on doc_id; a model change invalidates everything — treat it as a database migration, never a config edit.</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56</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Embeddings and Indexing</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أخطاء شائعة في التضمين والفهرسة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English-only model</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number-one cause of F3 in Saudi deployments — Arabic recall craters silently.</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Inconsistent normalisation</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Normalised at index, raw at query: rankings scrambled, no error raised.</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Missing instruction prefix</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Models needing a query/passage prefix lose recall silently when it is skipped.</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Never measuring recall@k</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Flying blind — you cannot tell a good retriever from a bad one.</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Rebuild instead of upsert</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Re-indexing everything to add documents turns minutes into hours at scale.</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Post-retrieval filtering</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Access control applied after the search is a data leak waiting to happen.</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Every mistake here fails silently — the recall benchmark on a rolling labelled set is your only alarm.</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57</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Building the Dalil Collection (collection.py)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بناء المجموعة مع التكميم وفهارس الحمولة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qdrant_client import QdrantClient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qdrant_client.models import (Distance, PayloadSchemaType,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ScalarQuantization, ScalarQuantizationConfig, ScalarType, VectorParams)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COLLECTION, DIM = "dalil", 1024</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build_collection(qdr: QdrantClient) -&gt; None: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qdr.recreate_collection(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COLLECTION,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vectors_config=VectorParams(size=DIM, distance=Distance.COSINE),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quantization_config=ScalarQuantization(scalar=ScalarQuantizationConfig(</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type=ScalarType.INT8, always_ram=True)),  # int8: ~4x less RAM</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fields = [("department", PayloadSchemaType.KEYWORD),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("language", PayloadSchemaType.KEYWORD),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("superseded_by", PayloadSchemaType.KEYWORD)]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field, schema in fields:  # payload index =&gt; filter INSIDE ANN search</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qdr.create_payload_index(COLLECTION, field, field_schema=schema)</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Cosine for normalised bge-m3 vectors; int8 quantization and payload indexes set at creation.</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collection schema encodes three decisions at once: metric, memory budget, and which fields can filter inside the search.</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58</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Filtered Dense Retrieval (dense.py)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الاسترجاع الكثيف مع مرشحات داخل البحث</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qdrant_client.models import (FieldCondition, Filter, IsNullCondition,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MatchValue, PayloadField, SearchParams)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sentence_transformers import SentenceTransformer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dalil.ingest.ocr import normalise_arabic  # SAME normalisation as ingest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EMB = SentenceTransformer("BAAI/bge-m3")  # multilingual, 1024-dim, normalised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dense_search(qdr, query, *, department, top_k=8, ef=128):</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qv = EMB.encode(normalise_arabic(query), normalize_embeddings=True)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must = [Filter(should=[  # own department OR public documents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FieldCondition(key="department", match=MatchValue(value=department)),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FieldCondition(key="department", match=MatchValue(value="public"))]),</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IsNullCondition(is_null=PayloadField(key="superseded_by"))]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qdr.query_points(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"dalil", query=qv.tolist(), limit=top_k,</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query_filter=Filter(must=must),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search_params=SearchParams(hnsw_ef=ef),  # the recall/latency dial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with_payload=True).points</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Access control and freshness enforced inside the ANN search; ef is the per-query recall dial.</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query path must mirror the ingest path exactly — same normalisation, same embedding settings — or quality degrades with no error.</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59</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3 — Embed, Index, and Measure Recall</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الثالث: التضمين والفهرسة وقياس الاستدعاء</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Embed the Lab 2 chunks with bge-m3, build the filtered Qdrant collection, and benchmark recall@k and latency on the 200-query labelled set.</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969971"/>
            <a:ext cx="274320" cy="274320"/>
          </a:xfrm>
          <a:prstGeom prst="rect">
            <a:avLst/>
          </a:prstGeom>
          <a:solidFill>
            <a:srgbClr val="1D2A5C"/>
          </a:solidFill>
          <a:ln/>
        </p:spPr>
      </p:sp>
      <p:sp>
        <p:nvSpPr>
          <p:cNvPr id="13" name="Text 10"/>
          <p:cNvSpPr/>
          <p:nvPr/>
        </p:nvSpPr>
        <p:spPr>
          <a:xfrm>
            <a:off x="685800" y="2969971"/>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Build the collection with cosine + payload indexes; verify vector size 1024 and four indexes (5 min)</a:t>
            </a:r>
            <a:endParaRPr lang="en-US" sz="1150" dirty="0"/>
          </a:p>
        </p:txBody>
      </p:sp>
      <p:sp>
        <p:nvSpPr>
          <p:cNvPr id="15" name="Shape 12"/>
          <p:cNvSpPr/>
          <p:nvPr/>
        </p:nvSpPr>
        <p:spPr>
          <a:xfrm>
            <a:off x="685800" y="3478378"/>
            <a:ext cx="274320" cy="274320"/>
          </a:xfrm>
          <a:prstGeom prst="rect">
            <a:avLst/>
          </a:prstGeom>
          <a:solidFill>
            <a:srgbClr val="1D2A5C"/>
          </a:solidFill>
          <a:ln/>
        </p:spPr>
      </p:sp>
      <p:sp>
        <p:nvSpPr>
          <p:cNvPr id="16" name="Text 13"/>
          <p:cNvSpPr/>
          <p:nvPr/>
        </p:nvSpPr>
        <p:spPr>
          <a:xfrm>
            <a:off x="685800" y="3478378"/>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36133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Embed and upsert all Lab 2 chunks; re-run the upsert and confirm the point count is unchanged (10 min)</a:t>
            </a:r>
            <a:endParaRPr lang="en-US" sz="1150" dirty="0"/>
          </a:p>
        </p:txBody>
      </p:sp>
      <p:sp>
        <p:nvSpPr>
          <p:cNvPr id="18" name="Shape 15"/>
          <p:cNvSpPr/>
          <p:nvPr/>
        </p:nvSpPr>
        <p:spPr>
          <a:xfrm>
            <a:off x="685800" y="3986784"/>
            <a:ext cx="274320" cy="274320"/>
          </a:xfrm>
          <a:prstGeom prst="rect">
            <a:avLst/>
          </a:prstGeom>
          <a:solidFill>
            <a:srgbClr val="1D2A5C"/>
          </a:solidFill>
          <a:ln/>
        </p:spPr>
      </p:sp>
      <p:sp>
        <p:nvSpPr>
          <p:cNvPr id="19" name="Text 16"/>
          <p:cNvSpPr/>
          <p:nvPr/>
        </p:nvSpPr>
        <p:spPr>
          <a:xfrm>
            <a:off x="685800" y="398678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869741"/>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Run recall@k at k=1/5/10 with bge-m3, then with English-only all-MiniLM-L6-v2; record both (15 min)</a:t>
            </a:r>
            <a:endParaRPr lang="en-US" sz="1150" dirty="0"/>
          </a:p>
        </p:txBody>
      </p:sp>
      <p:sp>
        <p:nvSpPr>
          <p:cNvPr id="21" name="Shape 18"/>
          <p:cNvSpPr/>
          <p:nvPr/>
        </p:nvSpPr>
        <p:spPr>
          <a:xfrm>
            <a:off x="685800" y="4495190"/>
            <a:ext cx="274320" cy="274320"/>
          </a:xfrm>
          <a:prstGeom prst="rect">
            <a:avLst/>
          </a:prstGeom>
          <a:solidFill>
            <a:srgbClr val="1D2A5C"/>
          </a:solidFill>
          <a:ln/>
        </p:spPr>
      </p:sp>
      <p:sp>
        <p:nvSpPr>
          <p:cNvPr id="22" name="Text 19"/>
          <p:cNvSpPr/>
          <p:nvPr/>
        </p:nvSpPr>
        <p:spPr>
          <a:xfrm>
            <a:off x="685800" y="4495190"/>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4378147"/>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Sweep ef from 32 to 256; plot recall@10 vs p95 latency; pick the knee as your default (10 min)</a:t>
            </a:r>
            <a:endParaRPr lang="en-US" sz="1150" dirty="0"/>
          </a:p>
        </p:txBody>
      </p:sp>
      <p:sp>
        <p:nvSpPr>
          <p:cNvPr id="24" name="Shape 21"/>
          <p:cNvSpPr/>
          <p:nvPr/>
        </p:nvSpPr>
        <p:spPr>
          <a:xfrm>
            <a:off x="685800" y="5003597"/>
            <a:ext cx="274320" cy="274320"/>
          </a:xfrm>
          <a:prstGeom prst="rect">
            <a:avLst/>
          </a:prstGeom>
          <a:solidFill>
            <a:srgbClr val="1D2A5C"/>
          </a:solidFill>
          <a:ln/>
        </p:spPr>
      </p:sp>
      <p:sp>
        <p:nvSpPr>
          <p:cNvPr id="25" name="Text 22"/>
          <p:cNvSpPr/>
          <p:nvPr/>
        </p:nvSpPr>
        <p:spPr>
          <a:xfrm>
            <a:off x="685800" y="5003597"/>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88655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Verify access control: an HR query never retrieves a finance chunk; strike F3 off the poster (5 min)</a:t>
            </a:r>
            <a:endParaRPr lang="en-US" sz="1150" dirty="0"/>
          </a:p>
        </p:txBody>
      </p:sp>
      <p:sp>
        <p:nvSpPr>
          <p:cNvPr id="27" name="Shape 24"/>
          <p:cNvSpPr/>
          <p:nvPr/>
        </p:nvSpPr>
        <p:spPr>
          <a:xfrm>
            <a:off x="502920" y="5650992"/>
            <a:ext cx="11183112" cy="603504"/>
          </a:xfrm>
          <a:prstGeom prst="rect">
            <a:avLst/>
          </a:prstGeom>
          <a:solidFill>
            <a:srgbClr val="F1F8E4"/>
          </a:solidFill>
          <a:ln/>
        </p:spPr>
      </p:sp>
      <p:sp>
        <p:nvSpPr>
          <p:cNvPr id="28" name="Shape 25"/>
          <p:cNvSpPr/>
          <p:nvPr/>
        </p:nvSpPr>
        <p:spPr>
          <a:xfrm>
            <a:off x="502920" y="5650992"/>
            <a:ext cx="82296" cy="603504"/>
          </a:xfrm>
          <a:prstGeom prst="rect">
            <a:avLst/>
          </a:prstGeom>
          <a:solidFill>
            <a:srgbClr val="8CC63F"/>
          </a:solidFill>
          <a:ln/>
        </p:spPr>
      </p:sp>
      <p:sp>
        <p:nvSpPr>
          <p:cNvPr id="29" name="Text 26"/>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Benchmarked dalil collection: recall table for bge-m3 vs MiniLM including the Arabic subset, chosen ef, and a passing access-control check in RETRIEVAL.md.</a:t>
            </a:r>
            <a:endParaRPr lang="en-US" sz="1050" dirty="0"/>
          </a:p>
        </p:txBody>
      </p:sp>
      <p:sp>
        <p:nvSpPr>
          <p:cNvPr id="30" name="Text 27"/>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1" name="Text 28"/>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60</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Mini-Exercise: F3 or F4?</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تشخيص نوع الإخفاق</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query "circular 44/2025 leave policy" retrieves similar-but-wrong leave circulars</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Decide: is this F3, a semantic miss a better embedder fixes — or F4, an exact-identifier miss?</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Write a two-sentence justification naming the failure class and the module that owns the fix</a:t>
            </a:r>
            <a:endParaRPr lang="en-US" sz="1400" dirty="0"/>
          </a:p>
        </p:txBody>
      </p:sp>
      <p:sp>
        <p:nvSpPr>
          <p:cNvPr id="12" name="Shape 9"/>
          <p:cNvSpPr/>
          <p:nvPr/>
        </p:nvSpPr>
        <p:spPr>
          <a:xfrm>
            <a:off x="8092440" y="1572768"/>
            <a:ext cx="3593592" cy="3685032"/>
          </a:xfrm>
          <a:prstGeom prst="rect">
            <a:avLst/>
          </a:prstGeom>
          <a:solidFill>
            <a:srgbClr val="E6F5F4"/>
          </a:solidFill>
          <a:ln/>
        </p:spPr>
      </p:sp>
      <p:sp>
        <p:nvSpPr>
          <p:cNvPr id="13" name="Text 10"/>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4" name="Text 11"/>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What signal does "44/2025" carry — meaning or token?</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Would a better embedder change exact-token matching?</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F3 = vocabulary or language gap between query and passage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F4 = the needed information is lexical, not semantic</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Bonus: spot the 3 defects in the MiniLM indexing PR</a:t>
            </a:r>
            <a:endParaRPr lang="en-US" sz="1100" dirty="0"/>
          </a:p>
        </p:txBody>
      </p:sp>
      <p:sp>
        <p:nvSpPr>
          <p:cNvPr id="15" name="Shape 12"/>
          <p:cNvSpPr/>
          <p:nvPr/>
        </p:nvSpPr>
        <p:spPr>
          <a:xfrm>
            <a:off x="502920" y="5394960"/>
            <a:ext cx="11183112" cy="777240"/>
          </a:xfrm>
          <a:prstGeom prst="rect">
            <a:avLst/>
          </a:prstGeom>
          <a:solidFill>
            <a:srgbClr val="E6F5F4"/>
          </a:solidFill>
          <a:ln/>
        </p:spPr>
      </p:sp>
      <p:sp>
        <p:nvSpPr>
          <p:cNvPr id="16" name="Text 1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Diagnosing the failure class before reaching for a fix is the discipline that separates engineering from thrashing.</a:t>
            </a:r>
            <a:endParaRPr lang="en-US" sz="1050" dirty="0"/>
          </a:p>
        </p:txBody>
      </p:sp>
      <p:sp>
        <p:nvSpPr>
          <p:cNvPr id="17" name="Text 1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8" name="Text 1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61</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Study: The Bilingual Recall Cliff</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انهيار الاستدعاء ثنائي اللغة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national HR platform launches a knowledge assistant that shines in English demos and collapses in production: 41% of real queries are Arabic, and on those queries recall@10 is 0.30. The pipeline code is all correct — the English-only MiniLM embedder simply cannot place Arabic queries near English HR passages. Constraints: on-prem inference, a RAM budget that float32 at 5M chunks would blow, and no re-parsing of the corpus.</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Which change recovers more Arabic recall — the model swap or the normalisation? Design the ablation.</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Why is an embedding-model swap a full re-index rather than an in-place update?</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At 5M vectors, which risk dominates — memory or latency — and how does quantization shift the balance?</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What launch gate would have caught the Arabic cliff before production?</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62</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Benchmarks After Module 3</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الأداء بعد الوحدة الثالثة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310128"/>
                <a:gridCol w="1261872"/>
                <a:gridCol w="1417320"/>
                <a:gridCol w="1892808"/>
                <a:gridCol w="1728216"/>
                <a:gridCol w="1572768"/>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Embedding model</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recall@1</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recall@10</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 recall@10</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p95 latency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Index size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all-MiniLM-L6-v2 (EN)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0.38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0.63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0.29</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22 ms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0.4 GB</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bge-m3 (multilingual)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0.64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0.91</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34 ms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 GB</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bge-m3 + int8 quant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0.63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0.90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0.87</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29 ms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0.28 GB</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Targets after M3: recall@10 ≥ 0.88 overall, ≥ 0.85 on the Arabic subset, p95 ≤ 40 ms at 100k chunks, zero cross-department leaks in 50 probes.</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63</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3</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الثالثة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Q1</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Your team normalises embeddings at index time but skips normalisation in the query path. What does the system do?</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Qdrant raises a distance-mismatch error at query time</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Latency doubles but rankings stay correct</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Rankings are silently scrambled — no error is ever raised</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Only Euclidean distance is affected; cosine is immune</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C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64</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3</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الثالثة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Q2</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Recall@10 on the live HNSW index is below target. Which change buys recall back without rebuilding the index?</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Increase m, the edges per node</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Raise the ef search parameter at query time</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Increase ef_construct and re-add all points</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Switch the distance metric from cosine to dot product</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65</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2</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04</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Hybrid Retrieval and Reranking</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الاسترجاع الهجين وإعادة الترتيب</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See exactly where dense retrieval fails: identifiers and rare tokens</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Fuse dense + sparse with reciprocal rank fusion in Qdrant</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Add a cross-encoder reranker inside a fetch-40 / keep-6 budget</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Retire F4 and F5 — measured per query class, not in aggregate</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66</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4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الرابعة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LO4.1   </a:t>
            </a:r>
            <a:pPr indent="0" marL="0">
              <a:buNone/>
            </a:pPr>
            <a:r>
              <a:rPr lang="en-US" sz="1350" dirty="0">
                <a:solidFill>
                  <a:srgbClr val="2B2B2B"/>
                </a:solidFill>
                <a:latin typeface="Calibri" pitchFamily="34" charset="0"/>
                <a:ea typeface="Calibri" pitchFamily="34" charset="-122"/>
                <a:cs typeface="Calibri" pitchFamily="34" charset="-120"/>
              </a:rPr>
              <a:t>Explain where dense retrieval fails and why sparse/keyword is complementary</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LO4.2   </a:t>
            </a:r>
            <a:pPr indent="0" marL="0">
              <a:buNone/>
            </a:pPr>
            <a:r>
              <a:rPr lang="en-US" sz="1350" dirty="0">
                <a:solidFill>
                  <a:srgbClr val="2B2B2B"/>
                </a:solidFill>
                <a:latin typeface="Calibri" pitchFamily="34" charset="0"/>
                <a:ea typeface="Calibri" pitchFamily="34" charset="-122"/>
                <a:cs typeface="Calibri" pitchFamily="34" charset="-120"/>
              </a:rPr>
              <a:t>Implement hybrid retrieval with RRF fusion in Qdrant</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LO4.3   </a:t>
            </a:r>
            <a:pPr indent="0" marL="0">
              <a:buNone/>
            </a:pPr>
            <a:r>
              <a:rPr lang="en-US" sz="1350" dirty="0">
                <a:solidFill>
                  <a:srgbClr val="2B2B2B"/>
                </a:solidFill>
                <a:latin typeface="Calibri" pitchFamily="34" charset="0"/>
                <a:ea typeface="Calibri" pitchFamily="34" charset="-122"/>
                <a:cs typeface="Calibri" pitchFamily="34" charset="-120"/>
              </a:rPr>
              <a:t>Add a cross-encoder reranker and design the two-stage fetch/keep budget</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LO4.4   </a:t>
            </a:r>
            <a:pPr indent="0" marL="0">
              <a:buNone/>
            </a:pPr>
            <a:r>
              <a:rPr lang="en-US" sz="1350" dirty="0">
                <a:solidFill>
                  <a:srgbClr val="2B2B2B"/>
                </a:solidFill>
                <a:latin typeface="Calibri" pitchFamily="34" charset="0"/>
                <a:ea typeface="Calibri" pitchFamily="34" charset="-122"/>
                <a:cs typeface="Calibri" pitchFamily="34" charset="-120"/>
              </a:rPr>
              <a:t>Diagnose retrieval failures by query class and choose the right fix</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LO4.5   </a:t>
            </a:r>
            <a:pPr indent="0" marL="0">
              <a:buNone/>
            </a:pPr>
            <a:r>
              <a:rPr lang="en-US" sz="1350" dirty="0">
                <a:solidFill>
                  <a:srgbClr val="2B2B2B"/>
                </a:solidFill>
                <a:latin typeface="Calibri" pitchFamily="34" charset="0"/>
                <a:ea typeface="Calibri" pitchFamily="34" charset="-122"/>
                <a:cs typeface="Calibri" pitchFamily="34" charset="-120"/>
              </a:rPr>
              <a:t>Quantify per-query-class improvement over the dense-only baseline</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67</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Where Dense Retrieval Fails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أين يفشل الاسترجاع الكثيف</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Dense embeddings capture meaning and lose exact tokens — by design</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feature for paraphrase: annual leave ≈ yearly vacation</a:t>
            </a:r>
            <a:endParaRPr lang="en-US" sz="1150" dirty="0"/>
          </a:p>
        </p:txBody>
      </p:sp>
      <p:sp>
        <p:nvSpPr>
          <p:cNvPr id="9" name="Text 6"/>
          <p:cNvSpPr/>
          <p:nvPr/>
        </p:nvSpPr>
        <p:spPr>
          <a:xfrm>
            <a:off x="1069848" y="2249424"/>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bug for identifiers: Circular 44/2025, form HR-07, Grade 12</a:t>
            </a:r>
            <a:endParaRPr lang="en-US" sz="1150" dirty="0"/>
          </a:p>
        </p:txBody>
      </p:sp>
      <p:sp>
        <p:nvSpPr>
          <p:cNvPr id="10" name="Shape 7"/>
          <p:cNvSpPr/>
          <p:nvPr/>
        </p:nvSpPr>
        <p:spPr>
          <a:xfrm>
            <a:off x="521208" y="2752344"/>
            <a:ext cx="118872" cy="118872"/>
          </a:xfrm>
          <a:prstGeom prst="rect">
            <a:avLst/>
          </a:prstGeom>
          <a:solidFill>
            <a:srgbClr val="00A79D"/>
          </a:solidFill>
          <a:ln/>
        </p:spPr>
      </p:sp>
      <p:sp>
        <p:nvSpPr>
          <p:cNvPr id="11" name="Text 8"/>
          <p:cNvSpPr/>
          <p:nvPr/>
        </p:nvSpPr>
        <p:spPr>
          <a:xfrm>
            <a:off x="795528" y="265176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embedding of 44/2025 sits near other circular numbers — you get a circular, rarely the one</a:t>
            </a:r>
            <a:endParaRPr lang="en-US" sz="1400" dirty="0"/>
          </a:p>
        </p:txBody>
      </p:sp>
      <p:sp>
        <p:nvSpPr>
          <p:cNvPr id="12" name="Shape 9"/>
          <p:cNvSpPr/>
          <p:nvPr/>
        </p:nvSpPr>
        <p:spPr>
          <a:xfrm>
            <a:off x="521208" y="3227832"/>
            <a:ext cx="118872" cy="118872"/>
          </a:xfrm>
          <a:prstGeom prst="rect">
            <a:avLst/>
          </a:prstGeom>
          <a:solidFill>
            <a:srgbClr val="00A79D"/>
          </a:solidFill>
          <a:ln/>
        </p:spPr>
      </p:sp>
      <p:sp>
        <p:nvSpPr>
          <p:cNvPr id="13" name="Text 10"/>
          <p:cNvSpPr/>
          <p:nvPr/>
        </p:nvSpPr>
        <p:spPr>
          <a:xfrm>
            <a:off x="795528" y="312724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Rare terms and codes are under-represented in the embedding space</a:t>
            </a:r>
            <a:endParaRPr lang="en-US" sz="1400" dirty="0"/>
          </a:p>
        </p:txBody>
      </p:sp>
      <p:sp>
        <p:nvSpPr>
          <p:cNvPr id="14" name="Shape 11"/>
          <p:cNvSpPr/>
          <p:nvPr/>
        </p:nvSpPr>
        <p:spPr>
          <a:xfrm>
            <a:off x="521208" y="3703320"/>
            <a:ext cx="118872" cy="118872"/>
          </a:xfrm>
          <a:prstGeom prst="rect">
            <a:avLst/>
          </a:prstGeom>
          <a:solidFill>
            <a:srgbClr val="00A79D"/>
          </a:solidFill>
          <a:ln/>
        </p:spPr>
      </p:sp>
      <p:sp>
        <p:nvSpPr>
          <p:cNvPr id="15" name="Text 12"/>
          <p:cNvSpPr/>
          <p:nvPr/>
        </p:nvSpPr>
        <p:spPr>
          <a:xfrm>
            <a:off x="795528" y="360273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No embedding quality fixes F4 — the needed information is lexical, not semantic</a:t>
            </a:r>
            <a:endParaRPr lang="en-US" sz="14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Enterprise queries are full of identifiers — circular numbers, form codes, SKUs — and employees ask exactly those queries most.</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68</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Dense vs Sparse: Complementary by Design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الكثيف والمتفرق: تكامل بالتصميم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5454396" cy="475488"/>
          </a:xfrm>
          <a:prstGeom prst="rect">
            <a:avLst/>
          </a:prstGeom>
          <a:solidFill>
            <a:srgbClr val="1D2A5C"/>
          </a:solidFill>
          <a:ln/>
        </p:spPr>
      </p:sp>
      <p:sp>
        <p:nvSpPr>
          <p:cNvPr id="7" name="Text 4"/>
          <p:cNvSpPr/>
          <p:nvPr/>
        </p:nvSpPr>
        <p:spPr>
          <a:xfrm>
            <a:off x="502920" y="1627632"/>
            <a:ext cx="5454396"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Dense (bge-m3)</a:t>
            </a:r>
            <a:endParaRPr lang="en-US" sz="1350" dirty="0"/>
          </a:p>
        </p:txBody>
      </p:sp>
      <p:sp>
        <p:nvSpPr>
          <p:cNvPr id="8" name="Shape 5"/>
          <p:cNvSpPr/>
          <p:nvPr/>
        </p:nvSpPr>
        <p:spPr>
          <a:xfrm>
            <a:off x="502920" y="2103120"/>
            <a:ext cx="5454396" cy="3127248"/>
          </a:xfrm>
          <a:prstGeom prst="rect">
            <a:avLst/>
          </a:prstGeom>
          <a:solidFill>
            <a:srgbClr val="F2F6F8"/>
          </a:solidFill>
          <a:ln w="9525">
            <a:solidFill>
              <a:srgbClr val="D9E2E8"/>
            </a:solidFill>
            <a:prstDash val="solid"/>
          </a:ln>
        </p:spPr>
      </p:sp>
      <p:sp>
        <p:nvSpPr>
          <p:cNvPr id="9" name="Text 6"/>
          <p:cNvSpPr/>
          <p:nvPr/>
        </p:nvSpPr>
        <p:spPr>
          <a:xfrm>
            <a:off x="704088" y="2240280"/>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Wins: paraphrase and meaning</a:t>
            </a:r>
            <a:endParaRPr lang="en-US" sz="1150" dirty="0"/>
          </a:p>
        </p:txBody>
      </p:sp>
      <p:sp>
        <p:nvSpPr>
          <p:cNvPr id="10" name="Text 7"/>
          <p:cNvSpPr/>
          <p:nvPr/>
        </p:nvSpPr>
        <p:spPr>
          <a:xfrm>
            <a:off x="704088" y="2953512"/>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Annual leave ≈ yearly vacation</a:t>
            </a:r>
            <a:endParaRPr lang="en-US" sz="1150" dirty="0"/>
          </a:p>
        </p:txBody>
      </p:sp>
      <p:sp>
        <p:nvSpPr>
          <p:cNvPr id="11" name="Text 8"/>
          <p:cNvSpPr/>
          <p:nvPr/>
        </p:nvSpPr>
        <p:spPr>
          <a:xfrm>
            <a:off x="704088" y="3666744"/>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Blurs exact tokens</a:t>
            </a:r>
            <a:endParaRPr lang="en-US" sz="1150" dirty="0"/>
          </a:p>
        </p:txBody>
      </p:sp>
      <p:sp>
        <p:nvSpPr>
          <p:cNvPr id="12" name="Text 9"/>
          <p:cNvSpPr/>
          <p:nvPr/>
        </p:nvSpPr>
        <p:spPr>
          <a:xfrm>
            <a:off x="704088" y="4379976"/>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Misses circular numbers (F4)</a:t>
            </a:r>
            <a:endParaRPr lang="en-US" sz="1150" dirty="0"/>
          </a:p>
        </p:txBody>
      </p:sp>
      <p:sp>
        <p:nvSpPr>
          <p:cNvPr id="13" name="Shape 10"/>
          <p:cNvSpPr/>
          <p:nvPr/>
        </p:nvSpPr>
        <p:spPr>
          <a:xfrm>
            <a:off x="6231636" y="1627632"/>
            <a:ext cx="5454396" cy="475488"/>
          </a:xfrm>
          <a:prstGeom prst="rect">
            <a:avLst/>
          </a:prstGeom>
          <a:solidFill>
            <a:srgbClr val="1D2A5C"/>
          </a:solidFill>
          <a:ln/>
        </p:spPr>
      </p:sp>
      <p:sp>
        <p:nvSpPr>
          <p:cNvPr id="14" name="Text 11"/>
          <p:cNvSpPr/>
          <p:nvPr/>
        </p:nvSpPr>
        <p:spPr>
          <a:xfrm>
            <a:off x="6231636" y="1627632"/>
            <a:ext cx="5454396"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Sparse (BM25 / learned)</a:t>
            </a:r>
            <a:endParaRPr lang="en-US" sz="1350" dirty="0"/>
          </a:p>
        </p:txBody>
      </p:sp>
      <p:sp>
        <p:nvSpPr>
          <p:cNvPr id="15" name="Shape 12"/>
          <p:cNvSpPr/>
          <p:nvPr/>
        </p:nvSpPr>
        <p:spPr>
          <a:xfrm>
            <a:off x="6231636" y="2103120"/>
            <a:ext cx="5454396" cy="3127248"/>
          </a:xfrm>
          <a:prstGeom prst="rect">
            <a:avLst/>
          </a:prstGeom>
          <a:solidFill>
            <a:srgbClr val="F2F6F8"/>
          </a:solidFill>
          <a:ln w="9525">
            <a:solidFill>
              <a:srgbClr val="D9E2E8"/>
            </a:solidFill>
            <a:prstDash val="solid"/>
          </a:ln>
        </p:spPr>
      </p:sp>
      <p:sp>
        <p:nvSpPr>
          <p:cNvPr id="16" name="Text 13"/>
          <p:cNvSpPr/>
          <p:nvPr/>
        </p:nvSpPr>
        <p:spPr>
          <a:xfrm>
            <a:off x="6432804" y="2240280"/>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Wins: exact identifiers</a:t>
            </a:r>
            <a:endParaRPr lang="en-US" sz="1150" dirty="0"/>
          </a:p>
        </p:txBody>
      </p:sp>
      <p:sp>
        <p:nvSpPr>
          <p:cNvPr id="17" name="Text 14"/>
          <p:cNvSpPr/>
          <p:nvPr/>
        </p:nvSpPr>
        <p:spPr>
          <a:xfrm>
            <a:off x="6432804" y="2953512"/>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IDF boosts rare tokens</a:t>
            </a:r>
            <a:endParaRPr lang="en-US" sz="1150" dirty="0"/>
          </a:p>
        </p:txBody>
      </p:sp>
      <p:sp>
        <p:nvSpPr>
          <p:cNvPr id="18" name="Text 15"/>
          <p:cNvSpPr/>
          <p:nvPr/>
        </p:nvSpPr>
        <p:spPr>
          <a:xfrm>
            <a:off x="6432804" y="3666744"/>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Scores exact token overlap</a:t>
            </a:r>
            <a:endParaRPr lang="en-US" sz="1150" dirty="0"/>
          </a:p>
        </p:txBody>
      </p:sp>
      <p:sp>
        <p:nvSpPr>
          <p:cNvPr id="19" name="Text 16"/>
          <p:cNvSpPr/>
          <p:nvPr/>
        </p:nvSpPr>
        <p:spPr>
          <a:xfrm>
            <a:off x="6432804" y="4379976"/>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BM25 or bge-m3 sparse output</a:t>
            </a:r>
            <a:endParaRPr lang="en-US" sz="1150" dirty="0"/>
          </a:p>
        </p:txBody>
      </p:sp>
      <p:sp>
        <p:nvSpPr>
          <p:cNvPr id="20" name="Shape 17"/>
          <p:cNvSpPr/>
          <p:nvPr/>
        </p:nvSpPr>
        <p:spPr>
          <a:xfrm>
            <a:off x="502920" y="5394960"/>
            <a:ext cx="11183112" cy="777240"/>
          </a:xfrm>
          <a:prstGeom prst="rect">
            <a:avLst/>
          </a:prstGeom>
          <a:solidFill>
            <a:srgbClr val="E6F5F4"/>
          </a:solidFill>
          <a:ln/>
        </p:spPr>
      </p:sp>
      <p:sp>
        <p:nvSpPr>
          <p:cNvPr id="21" name="Text 1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VERDICT   </a:t>
            </a:r>
            <a:pPr indent="0" marL="0">
              <a:buNone/>
            </a:pPr>
            <a:r>
              <a:rPr lang="en-US" sz="1150" dirty="0">
                <a:solidFill>
                  <a:srgbClr val="2B2B2B"/>
                </a:solidFill>
                <a:latin typeface="Calibri" pitchFamily="34" charset="0"/>
                <a:ea typeface="Calibri" pitchFamily="34" charset="-122"/>
                <a:cs typeface="Calibri" pitchFamily="34" charset="-120"/>
              </a:rPr>
              <a:t>Sparse and dense fail on DIFFERENT queries — which is precisely why fusing them beats either alone.</a:t>
            </a:r>
            <a:endParaRPr lang="en-US" sz="1050" dirty="0"/>
          </a:p>
        </p:txBody>
      </p:sp>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69</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Two-Stage Retrieval: Fetch 40, Keep 6</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استرجاع على مرحلتين: أوسع ثم أدق</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Encode query</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bge-m3 emits dense AND sparse vectors in one pass</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Dense branch</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Semantic candidates from the HNSW index</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Sparse branch</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Exact-token candidates, IDF-weighted</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RRF fusion</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Ranks fused server-side in Qdrant — a top-40 shortlist</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Rerank</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Cross-encoder scores the 40, keeps the best 6 for the prompt</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M4 retires F4 with the sparse branch and F5 with the reranker — a funnel narrowing from the whole corpus to the 6 chunks that reach the prompt.</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70</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Reciprocal Rank Fusion (RRF)</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الدمج التبادلي للرتب</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Two rankers produce two ordered lists — you need one</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RRF combines RANKS, not scores: dense and sparse scores live on incomparable scales</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Ranked highly by either scores well; ranked highly by both wins</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No score normalisation, no per-corpus tuning — beats naive weighted-sum in practice</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Qdrant fuses server-side via named vectors — fusion happens in the database</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THE FORMULA</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RRF(d) = Σ over rankers r of</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1 / (k + rank_r(d))</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k ≈ 60 by convention</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Rank-based, so scale-free</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Fusing raw dense and sparse scores by weighted sum is a classic mistake — the scales are incomparable. Fuse ranks instead.</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71</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Bi-Encoder vs Cross-Encoder</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المرمز الثنائي مقابل المرمز المتقاطع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5454396" cy="475488"/>
          </a:xfrm>
          <a:prstGeom prst="rect">
            <a:avLst/>
          </a:prstGeom>
          <a:solidFill>
            <a:srgbClr val="1D2A5C"/>
          </a:solidFill>
          <a:ln/>
        </p:spPr>
      </p:sp>
      <p:sp>
        <p:nvSpPr>
          <p:cNvPr id="7" name="Text 4"/>
          <p:cNvSpPr/>
          <p:nvPr/>
        </p:nvSpPr>
        <p:spPr>
          <a:xfrm>
            <a:off x="502920" y="1627632"/>
            <a:ext cx="5454396"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Bi-encoder (embedder)</a:t>
            </a:r>
            <a:endParaRPr lang="en-US" sz="1350" dirty="0"/>
          </a:p>
        </p:txBody>
      </p:sp>
      <p:sp>
        <p:nvSpPr>
          <p:cNvPr id="8" name="Shape 5"/>
          <p:cNvSpPr/>
          <p:nvPr/>
        </p:nvSpPr>
        <p:spPr>
          <a:xfrm>
            <a:off x="502920" y="2103120"/>
            <a:ext cx="5454396" cy="3127248"/>
          </a:xfrm>
          <a:prstGeom prst="rect">
            <a:avLst/>
          </a:prstGeom>
          <a:solidFill>
            <a:srgbClr val="F2F6F8"/>
          </a:solidFill>
          <a:ln w="9525">
            <a:solidFill>
              <a:srgbClr val="D9E2E8"/>
            </a:solidFill>
            <a:prstDash val="solid"/>
          </a:ln>
        </p:spPr>
      </p:sp>
      <p:sp>
        <p:nvSpPr>
          <p:cNvPr id="9" name="Text 6"/>
          <p:cNvSpPr/>
          <p:nvPr/>
        </p:nvSpPr>
        <p:spPr>
          <a:xfrm>
            <a:off x="704088" y="2240280"/>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Encodes query &amp; doc separately</a:t>
            </a:r>
            <a:endParaRPr lang="en-US" sz="1150" dirty="0"/>
          </a:p>
        </p:txBody>
      </p:sp>
      <p:sp>
        <p:nvSpPr>
          <p:cNvPr id="10" name="Text 7"/>
          <p:cNvSpPr/>
          <p:nvPr/>
        </p:nvSpPr>
        <p:spPr>
          <a:xfrm>
            <a:off x="704088" y="2810866"/>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Vectors precomputable</a:t>
            </a:r>
            <a:endParaRPr lang="en-US" sz="1150" dirty="0"/>
          </a:p>
        </p:txBody>
      </p:sp>
      <p:sp>
        <p:nvSpPr>
          <p:cNvPr id="11" name="Text 8"/>
          <p:cNvSpPr/>
          <p:nvPr/>
        </p:nvSpPr>
        <p:spPr>
          <a:xfrm>
            <a:off x="704088" y="3381451"/>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Cheap at query time</a:t>
            </a:r>
            <a:endParaRPr lang="en-US" sz="1150" dirty="0"/>
          </a:p>
        </p:txBody>
      </p:sp>
      <p:sp>
        <p:nvSpPr>
          <p:cNvPr id="12" name="Text 9"/>
          <p:cNvSpPr/>
          <p:nvPr/>
        </p:nvSpPr>
        <p:spPr>
          <a:xfrm>
            <a:off x="704088" y="3952037"/>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Recall device — cast wide</a:t>
            </a:r>
            <a:endParaRPr lang="en-US" sz="1150" dirty="0"/>
          </a:p>
        </p:txBody>
      </p:sp>
      <p:sp>
        <p:nvSpPr>
          <p:cNvPr id="13" name="Text 10"/>
          <p:cNvSpPr/>
          <p:nvPr/>
        </p:nvSpPr>
        <p:spPr>
          <a:xfrm>
            <a:off x="704088" y="4522622"/>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Runs over millions of chunks</a:t>
            </a:r>
            <a:endParaRPr lang="en-US" sz="1150" dirty="0"/>
          </a:p>
        </p:txBody>
      </p:sp>
      <p:sp>
        <p:nvSpPr>
          <p:cNvPr id="14" name="Shape 11"/>
          <p:cNvSpPr/>
          <p:nvPr/>
        </p:nvSpPr>
        <p:spPr>
          <a:xfrm>
            <a:off x="6231636" y="1627632"/>
            <a:ext cx="5454396" cy="475488"/>
          </a:xfrm>
          <a:prstGeom prst="rect">
            <a:avLst/>
          </a:prstGeom>
          <a:solidFill>
            <a:srgbClr val="1D2A5C"/>
          </a:solidFill>
          <a:ln/>
        </p:spPr>
      </p:sp>
      <p:sp>
        <p:nvSpPr>
          <p:cNvPr id="15" name="Text 12"/>
          <p:cNvSpPr/>
          <p:nvPr/>
        </p:nvSpPr>
        <p:spPr>
          <a:xfrm>
            <a:off x="6231636" y="1627632"/>
            <a:ext cx="5454396"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Cross-encoder (reranker)</a:t>
            </a:r>
            <a:endParaRPr lang="en-US" sz="1350" dirty="0"/>
          </a:p>
        </p:txBody>
      </p:sp>
      <p:sp>
        <p:nvSpPr>
          <p:cNvPr id="16" name="Shape 13"/>
          <p:cNvSpPr/>
          <p:nvPr/>
        </p:nvSpPr>
        <p:spPr>
          <a:xfrm>
            <a:off x="6231636" y="2103120"/>
            <a:ext cx="5454396" cy="3127248"/>
          </a:xfrm>
          <a:prstGeom prst="rect">
            <a:avLst/>
          </a:prstGeom>
          <a:solidFill>
            <a:srgbClr val="F2F6F8"/>
          </a:solidFill>
          <a:ln w="9525">
            <a:solidFill>
              <a:srgbClr val="D9E2E8"/>
            </a:solidFill>
            <a:prstDash val="solid"/>
          </a:ln>
        </p:spPr>
      </p:sp>
      <p:sp>
        <p:nvSpPr>
          <p:cNvPr id="17" name="Text 14"/>
          <p:cNvSpPr/>
          <p:nvPr/>
        </p:nvSpPr>
        <p:spPr>
          <a:xfrm>
            <a:off x="6432804" y="2240280"/>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Reads query + doc together</a:t>
            </a:r>
            <a:endParaRPr lang="en-US" sz="1150" dirty="0"/>
          </a:p>
        </p:txBody>
      </p:sp>
      <p:sp>
        <p:nvSpPr>
          <p:cNvPr id="18" name="Text 15"/>
          <p:cNvSpPr/>
          <p:nvPr/>
        </p:nvSpPr>
        <p:spPr>
          <a:xfrm>
            <a:off x="6432804" y="2810866"/>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Cannot be precomputed</a:t>
            </a:r>
            <a:endParaRPr lang="en-US" sz="1150" dirty="0"/>
          </a:p>
        </p:txBody>
      </p:sp>
      <p:sp>
        <p:nvSpPr>
          <p:cNvPr id="19" name="Text 16"/>
          <p:cNvSpPr/>
          <p:nvPr/>
        </p:nvSpPr>
        <p:spPr>
          <a:xfrm>
            <a:off x="6432804" y="3381451"/>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Expensive — runs per pair</a:t>
            </a:r>
            <a:endParaRPr lang="en-US" sz="1150" dirty="0"/>
          </a:p>
        </p:txBody>
      </p:sp>
      <p:sp>
        <p:nvSpPr>
          <p:cNvPr id="20" name="Text 17"/>
          <p:cNvSpPr/>
          <p:nvPr/>
        </p:nvSpPr>
        <p:spPr>
          <a:xfrm>
            <a:off x="6432804" y="3952037"/>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Precision device — refine</a:t>
            </a:r>
            <a:endParaRPr lang="en-US" sz="1150" dirty="0"/>
          </a:p>
        </p:txBody>
      </p:sp>
      <p:sp>
        <p:nvSpPr>
          <p:cNvPr id="21" name="Text 18"/>
          <p:cNvSpPr/>
          <p:nvPr/>
        </p:nvSpPr>
        <p:spPr>
          <a:xfrm>
            <a:off x="6432804" y="4522622"/>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Runs only on the shortlist</a:t>
            </a:r>
            <a:endParaRPr lang="en-US" sz="1150" dirty="0"/>
          </a:p>
        </p:txBody>
      </p:sp>
      <p:sp>
        <p:nvSpPr>
          <p:cNvPr id="22" name="Shape 19"/>
          <p:cNvSpPr/>
          <p:nvPr/>
        </p:nvSpPr>
        <p:spPr>
          <a:xfrm>
            <a:off x="502920" y="5394960"/>
            <a:ext cx="11183112" cy="777240"/>
          </a:xfrm>
          <a:prstGeom prst="rect">
            <a:avLst/>
          </a:prstGeom>
          <a:solidFill>
            <a:srgbClr val="E6F5F4"/>
          </a:solidFill>
          <a:ln/>
        </p:spPr>
      </p:sp>
      <p:sp>
        <p:nvSpPr>
          <p:cNvPr id="23" name="Text 20"/>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VERDICT   </a:t>
            </a:r>
            <a:pPr indent="0" marL="0">
              <a:buNone/>
            </a:pPr>
            <a:r>
              <a:rPr lang="en-US" sz="1150" dirty="0">
                <a:solidFill>
                  <a:srgbClr val="2B2B2B"/>
                </a:solidFill>
                <a:latin typeface="Calibri" pitchFamily="34" charset="0"/>
                <a:ea typeface="Calibri" pitchFamily="34" charset="-122"/>
                <a:cs typeface="Calibri" pitchFamily="34" charset="-120"/>
              </a:rPr>
              <a:t>Course reranker: BAAI/bge-reranker-v2-m3 — multilingual, pairs with bge-m3. An English-only reranker would re-introduce F3 at the rerank stage.</a:t>
            </a:r>
            <a:endParaRPr lang="en-US" sz="1050" dirty="0"/>
          </a:p>
        </p:txBody>
      </p:sp>
      <p:sp>
        <p:nvSpPr>
          <p:cNvPr id="24" name="Text 21"/>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5" name="Text 22"/>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72</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Two-Stage Budget in Numbers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ميزانية المرحلتين بالأرقام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74520"/>
            <a:ext cx="2555748" cy="3063240"/>
          </a:xfrm>
          <a:prstGeom prst="rect">
            <a:avLst/>
          </a:prstGeom>
          <a:solidFill>
            <a:srgbClr val="F2F6F8"/>
          </a:solidFill>
          <a:ln w="9525">
            <a:solidFill>
              <a:srgbClr val="D9E2E8"/>
            </a:solidFill>
            <a:prstDash val="solid"/>
          </a:ln>
        </p:spPr>
      </p:sp>
      <p:sp>
        <p:nvSpPr>
          <p:cNvPr id="7" name="Shape 4"/>
          <p:cNvSpPr/>
          <p:nvPr/>
        </p:nvSpPr>
        <p:spPr>
          <a:xfrm>
            <a:off x="502920" y="1874520"/>
            <a:ext cx="2555748" cy="73152"/>
          </a:xfrm>
          <a:prstGeom prst="rect">
            <a:avLst/>
          </a:prstGeom>
          <a:solidFill>
            <a:srgbClr val="00A79D"/>
          </a:solidFill>
          <a:ln/>
        </p:spPr>
      </p:sp>
      <p:sp>
        <p:nvSpPr>
          <p:cNvPr id="8" name="Text 5"/>
          <p:cNvSpPr/>
          <p:nvPr/>
        </p:nvSpPr>
        <p:spPr>
          <a:xfrm>
            <a:off x="594360"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40</a:t>
            </a:r>
            <a:endParaRPr lang="en-US" sz="4000" dirty="0"/>
          </a:p>
        </p:txBody>
      </p:sp>
      <p:sp>
        <p:nvSpPr>
          <p:cNvPr id="9" name="Text 6"/>
          <p:cNvSpPr/>
          <p:nvPr/>
        </p:nvSpPr>
        <p:spPr>
          <a:xfrm>
            <a:off x="685800"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fetched by hybrid stage 1</a:t>
            </a:r>
            <a:endParaRPr lang="en-US" sz="1300" dirty="0"/>
          </a:p>
        </p:txBody>
      </p:sp>
      <p:sp>
        <p:nvSpPr>
          <p:cNvPr id="10" name="Text 7"/>
          <p:cNvSpPr/>
          <p:nvPr/>
        </p:nvSpPr>
        <p:spPr>
          <a:xfrm>
            <a:off x="685800"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cheap — tens of milliseconds</a:t>
            </a:r>
            <a:endParaRPr lang="en-US" sz="1050" dirty="0"/>
          </a:p>
        </p:txBody>
      </p:sp>
      <p:sp>
        <p:nvSpPr>
          <p:cNvPr id="11" name="Shape 8"/>
          <p:cNvSpPr/>
          <p:nvPr/>
        </p:nvSpPr>
        <p:spPr>
          <a:xfrm>
            <a:off x="3378708" y="1874520"/>
            <a:ext cx="2555748" cy="3063240"/>
          </a:xfrm>
          <a:prstGeom prst="rect">
            <a:avLst/>
          </a:prstGeom>
          <a:solidFill>
            <a:srgbClr val="F2F6F8"/>
          </a:solidFill>
          <a:ln w="9525">
            <a:solidFill>
              <a:srgbClr val="D9E2E8"/>
            </a:solidFill>
            <a:prstDash val="solid"/>
          </a:ln>
        </p:spPr>
      </p:sp>
      <p:sp>
        <p:nvSpPr>
          <p:cNvPr id="12" name="Shape 9"/>
          <p:cNvSpPr/>
          <p:nvPr/>
        </p:nvSpPr>
        <p:spPr>
          <a:xfrm>
            <a:off x="3378708" y="1874520"/>
            <a:ext cx="2555748" cy="73152"/>
          </a:xfrm>
          <a:prstGeom prst="rect">
            <a:avLst/>
          </a:prstGeom>
          <a:solidFill>
            <a:srgbClr val="29ABE2"/>
          </a:solidFill>
          <a:ln/>
        </p:spPr>
      </p:sp>
      <p:sp>
        <p:nvSpPr>
          <p:cNvPr id="13" name="Text 10"/>
          <p:cNvSpPr/>
          <p:nvPr/>
        </p:nvSpPr>
        <p:spPr>
          <a:xfrm>
            <a:off x="3470148"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6</a:t>
            </a:r>
            <a:endParaRPr lang="en-US" sz="4000" dirty="0"/>
          </a:p>
        </p:txBody>
      </p:sp>
      <p:sp>
        <p:nvSpPr>
          <p:cNvPr id="14" name="Text 11"/>
          <p:cNvSpPr/>
          <p:nvPr/>
        </p:nvSpPr>
        <p:spPr>
          <a:xfrm>
            <a:off x="3561588"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kept after the reranker</a:t>
            </a:r>
            <a:endParaRPr lang="en-US" sz="1300" dirty="0"/>
          </a:p>
        </p:txBody>
      </p:sp>
      <p:sp>
        <p:nvSpPr>
          <p:cNvPr id="15" name="Text 12"/>
          <p:cNvSpPr/>
          <p:nvPr/>
        </p:nvSpPr>
        <p:spPr>
          <a:xfrm>
            <a:off x="3561588"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the chunks that reach the prompt</a:t>
            </a:r>
            <a:endParaRPr lang="en-US" sz="1050" dirty="0"/>
          </a:p>
        </p:txBody>
      </p:sp>
      <p:sp>
        <p:nvSpPr>
          <p:cNvPr id="16" name="Shape 13"/>
          <p:cNvSpPr/>
          <p:nvPr/>
        </p:nvSpPr>
        <p:spPr>
          <a:xfrm>
            <a:off x="6254496" y="1874520"/>
            <a:ext cx="2555748" cy="3063240"/>
          </a:xfrm>
          <a:prstGeom prst="rect">
            <a:avLst/>
          </a:prstGeom>
          <a:solidFill>
            <a:srgbClr val="F2F6F8"/>
          </a:solidFill>
          <a:ln w="9525">
            <a:solidFill>
              <a:srgbClr val="D9E2E8"/>
            </a:solidFill>
            <a:prstDash val="solid"/>
          </a:ln>
        </p:spPr>
      </p:sp>
      <p:sp>
        <p:nvSpPr>
          <p:cNvPr id="17" name="Shape 14"/>
          <p:cNvSpPr/>
          <p:nvPr/>
        </p:nvSpPr>
        <p:spPr>
          <a:xfrm>
            <a:off x="6254496" y="1874520"/>
            <a:ext cx="2555748" cy="73152"/>
          </a:xfrm>
          <a:prstGeom prst="rect">
            <a:avLst/>
          </a:prstGeom>
          <a:solidFill>
            <a:srgbClr val="F7941D"/>
          </a:solidFill>
          <a:ln/>
        </p:spPr>
      </p:sp>
      <p:sp>
        <p:nvSpPr>
          <p:cNvPr id="18" name="Text 15"/>
          <p:cNvSpPr/>
          <p:nvPr/>
        </p:nvSpPr>
        <p:spPr>
          <a:xfrm>
            <a:off x="6345936" y="2303374"/>
            <a:ext cx="2372868" cy="960120"/>
          </a:xfrm>
          <a:prstGeom prst="rect">
            <a:avLst/>
          </a:prstGeom>
          <a:noFill/>
          <a:ln/>
        </p:spPr>
        <p:txBody>
          <a:bodyPr wrap="square" rtlCol="0" anchor="ctr"/>
          <a:lstStyle/>
          <a:p>
            <a:pPr algn="ctr" indent="0" marL="0">
              <a:buNone/>
            </a:pPr>
            <a:r>
              <a:rPr lang="en-US" sz="3200" b="1" dirty="0">
                <a:solidFill>
                  <a:srgbClr val="00A79D"/>
                </a:solidFill>
                <a:latin typeface="Calibri" pitchFamily="34" charset="0"/>
                <a:ea typeface="Calibri" pitchFamily="34" charset="-122"/>
                <a:cs typeface="Calibri" pitchFamily="34" charset="-120"/>
              </a:rPr>
              <a:t>~120 ms</a:t>
            </a:r>
            <a:endParaRPr lang="en-US" sz="3200" dirty="0"/>
          </a:p>
        </p:txBody>
      </p:sp>
      <p:sp>
        <p:nvSpPr>
          <p:cNvPr id="19" name="Text 16"/>
          <p:cNvSpPr/>
          <p:nvPr/>
        </p:nvSpPr>
        <p:spPr>
          <a:xfrm>
            <a:off x="6437376"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rerank cost on CPU</a:t>
            </a:r>
            <a:endParaRPr lang="en-US" sz="1300" dirty="0"/>
          </a:p>
        </p:txBody>
      </p:sp>
      <p:sp>
        <p:nvSpPr>
          <p:cNvPr id="20" name="Text 17"/>
          <p:cNvSpPr/>
          <p:nvPr/>
        </p:nvSpPr>
        <p:spPr>
          <a:xfrm>
            <a:off x="6437376"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40 candidates, batched, one pass</a:t>
            </a:r>
            <a:endParaRPr lang="en-US" sz="1050" dirty="0"/>
          </a:p>
        </p:txBody>
      </p:sp>
      <p:sp>
        <p:nvSpPr>
          <p:cNvPr id="21" name="Shape 18"/>
          <p:cNvSpPr/>
          <p:nvPr/>
        </p:nvSpPr>
        <p:spPr>
          <a:xfrm>
            <a:off x="9130284" y="1874520"/>
            <a:ext cx="2555748" cy="3063240"/>
          </a:xfrm>
          <a:prstGeom prst="rect">
            <a:avLst/>
          </a:prstGeom>
          <a:solidFill>
            <a:srgbClr val="F2F6F8"/>
          </a:solidFill>
          <a:ln w="9525">
            <a:solidFill>
              <a:srgbClr val="D9E2E8"/>
            </a:solidFill>
            <a:prstDash val="solid"/>
          </a:ln>
        </p:spPr>
      </p:sp>
      <p:sp>
        <p:nvSpPr>
          <p:cNvPr id="22" name="Shape 19"/>
          <p:cNvSpPr/>
          <p:nvPr/>
        </p:nvSpPr>
        <p:spPr>
          <a:xfrm>
            <a:off x="9130284" y="1874520"/>
            <a:ext cx="2555748" cy="73152"/>
          </a:xfrm>
          <a:prstGeom prst="rect">
            <a:avLst/>
          </a:prstGeom>
          <a:solidFill>
            <a:srgbClr val="8CC63F"/>
          </a:solidFill>
          <a:ln/>
        </p:spPr>
      </p:sp>
      <p:sp>
        <p:nvSpPr>
          <p:cNvPr id="23" name="Text 20"/>
          <p:cNvSpPr/>
          <p:nvPr/>
        </p:nvSpPr>
        <p:spPr>
          <a:xfrm>
            <a:off x="9221724" y="2303374"/>
            <a:ext cx="2372868" cy="960120"/>
          </a:xfrm>
          <a:prstGeom prst="rect">
            <a:avLst/>
          </a:prstGeom>
          <a:noFill/>
          <a:ln/>
        </p:spPr>
        <p:txBody>
          <a:bodyPr wrap="square" rtlCol="0" anchor="ctr"/>
          <a:lstStyle/>
          <a:p>
            <a:pPr algn="ctr" indent="0" marL="0">
              <a:buNone/>
            </a:pPr>
            <a:r>
              <a:rPr lang="en-US" sz="3200" b="1" dirty="0">
                <a:solidFill>
                  <a:srgbClr val="00A79D"/>
                </a:solidFill>
                <a:latin typeface="Calibri" pitchFamily="34" charset="0"/>
                <a:ea typeface="Calibri" pitchFamily="34" charset="-122"/>
                <a:cs typeface="Calibri" pitchFamily="34" charset="-120"/>
              </a:rPr>
              <a:t>≤200 ms</a:t>
            </a:r>
            <a:endParaRPr lang="en-US" sz="3200" dirty="0"/>
          </a:p>
        </p:txBody>
      </p:sp>
      <p:sp>
        <p:nvSpPr>
          <p:cNvPr id="24" name="Text 21"/>
          <p:cNvSpPr/>
          <p:nvPr/>
        </p:nvSpPr>
        <p:spPr>
          <a:xfrm>
            <a:off x="9313164"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end-to-end p95 target</a:t>
            </a:r>
            <a:endParaRPr lang="en-US" sz="1300" dirty="0"/>
          </a:p>
        </p:txBody>
      </p:sp>
      <p:sp>
        <p:nvSpPr>
          <p:cNvPr id="25" name="Text 22"/>
          <p:cNvSpPr/>
          <p:nvPr/>
        </p:nvSpPr>
        <p:spPr>
          <a:xfrm>
            <a:off x="9313164"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fetch 40, rerank, keep 6</a:t>
            </a:r>
            <a:endParaRPr lang="en-US" sz="10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Retrieval is cheap and generation pays per context token — fetch 40, keep 6 is economically rational because the reranker bridges the two.</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73</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Diagnosing by Query Class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التشخيص حسب فئة الاستعلام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679192"/>
                <a:gridCol w="2048256"/>
                <a:gridCol w="1572768"/>
                <a:gridCol w="2523744"/>
                <a:gridCol w="235915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Query class</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Dense-only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 Hybrid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 Rerank</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Earned by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Natural-language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good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about same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better precision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rerank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Exact identifier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poor (F4)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fixed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about same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hybrid (sparse)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Mixed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partial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better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better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both</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Arabic paraphrase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good (bge-m3)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about same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better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rerank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Hybrid is mandatory if identifier queries exist; reranking is worth it when precision@k drives generation. If a class shows no lift, say so.</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74</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Hybrid and Reranking</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أخطاء شائعة في الاسترجاع الهجين</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Dense-only on identifiers</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F4 across the entire identifier query class — 30% of real traffic in the case study.</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Weighted-sum fusion</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Adding raw dense and sparse scores — incomparable scales. Fuse ranks with RRF.</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Reranking the corpus</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Hundreds of ms to seconds of latency for no recall gain. Rerank only the shortlist.</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fetch-k too small</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reranker cannot surface a chunk that stage 1 never fetched.</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Aggregate-only metrics</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 healthy 0.86 overall can hide an identifier class collapsed to 0.23.</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English-only reranker</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Re-introduces F3 at the rerank stage — the reranker must be multilingual too.</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Production habits: batch the 40 candidates, cap sequence length, cache rerank scores for repeats, and monitor per-class metrics.</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75</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Hybrid Search with RRF (hybrid.py)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البحث الهجين مع دمج الرتب</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qdrant_client.models import (Fusion, FusionQuery, NamedSparseVector,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Prefetch, SparseVector)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FlagEmbedding import BGEM3FlagModel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dalil.ingest.ocr import normalise_arabic</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MODEL = BGEM3FlagModel("BAAI/bge-m3", use_fp16=True)  # dense + sparse output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hybrid_search(qdr, query, *, query_filter=None, fetch_k=40):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out = MODEL.encode(normalise_arabic(query),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return_dense=True, return_sparse=True)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lex = out["lexical_weights"]  # {token_id: weight} -- exact-token signal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sparse = SparseVector(indices=[int(i) for i in lex],</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values=[float(w) for w in lex.values()])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pre = [Prefetch(query=out["dense_vecs"].tolist(), using="dense",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limit=fetch_k, filter=query_filter),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Prefetch(query=NamedSparseVector(name="sparse", vector=sparse),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using="sparse", limit=fetch_k, filter=query_filter)]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qdr.query_points("dalil", prefetch=pre, limit=fetch_k, query=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FusionQuery(fusion=Fusion.RRF), with_payload=True).points  # rank fusion</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One encode pass yields both representations; Qdrant fuses the branch ranks server-side.</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fusion happens in the database, not in Python — two prefetch branches, one RRF-fused ranking, filters intact on both.</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76</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Cross-Encoder Reranking (rerank.py)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إعادة الترتيب بالمرمز المتقاطع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FlagEmbedding import FlagReranker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dalil.retrieve.hybrid import hybrid_search</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RERANKER = FlagReranker("BAAI/bge-reranker-v2-m3", use_fp16=True)  # multilingual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rerank(query, candidates, top_k=6):</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"""Cross-encoder reads query + chunk TOGETHER -- accurate, per-pair cost."""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not candidates: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pairs = [[query, c.payload["text"]] for c in candidates]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scores = RERANKER.compute_score(pairs, normalize=True)  # one batched pass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ranked = sorted(zip(candidates, scores), key=lambda cs: cs[1], reverse=True)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[c for c, _ in ranked[:top_k]]  # the 6 chunks that reach the prompt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retrieve_and_rerank(qdr, query, *, query_filter=None, fetch_k=40, top_k=6):</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"""Two-stage budget: fetch 40 cheaply, keep the 6 best after reranking."""</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short = hybrid_search(qdr, query, query_filter=query_filter, fetch_k=fetch_k)</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rerank(query, short, top_k=top_k)</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Stage 2: bge-reranker-v2-m3 scores the 40-candidate shortlist in one batched pass, keeps 6.</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retrieve_and_rerank is the full two-stage stack used everywhere downstream — Module 5 builds its context from exactly these six chunks.</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77</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4 — Hybrid Search Plus Reranker</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الرابع: البحث الهجين مع إعادة الترتيب</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Add sparse vectors + RRF fusion and the bge reranker to the Lab 3 retriever; quantify the improvement per query class and prove F4 and F5 retreat.</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969971"/>
            <a:ext cx="274320" cy="274320"/>
          </a:xfrm>
          <a:prstGeom prst="rect">
            <a:avLst/>
          </a:prstGeom>
          <a:solidFill>
            <a:srgbClr val="1D2A5C"/>
          </a:solidFill>
          <a:ln/>
        </p:spPr>
      </p:sp>
      <p:sp>
        <p:nvSpPr>
          <p:cNvPr id="13" name="Text 10"/>
          <p:cNvSpPr/>
          <p:nvPr/>
        </p:nvSpPr>
        <p:spPr>
          <a:xfrm>
            <a:off x="685800" y="2969971"/>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Rebuild the collection with a sparse named vector beside dense (make reindex-hybrid); verify both (5 min)</a:t>
            </a:r>
            <a:endParaRPr lang="en-US" sz="1150" dirty="0"/>
          </a:p>
        </p:txBody>
      </p:sp>
      <p:sp>
        <p:nvSpPr>
          <p:cNvPr id="15" name="Shape 12"/>
          <p:cNvSpPr/>
          <p:nvPr/>
        </p:nvSpPr>
        <p:spPr>
          <a:xfrm>
            <a:off x="685800" y="3478378"/>
            <a:ext cx="274320" cy="274320"/>
          </a:xfrm>
          <a:prstGeom prst="rect">
            <a:avLst/>
          </a:prstGeom>
          <a:solidFill>
            <a:srgbClr val="1D2A5C"/>
          </a:solidFill>
          <a:ln/>
        </p:spPr>
      </p:sp>
      <p:sp>
        <p:nvSpPr>
          <p:cNvPr id="16" name="Text 13"/>
          <p:cNvSpPr/>
          <p:nvPr/>
        </p:nvSpPr>
        <p:spPr>
          <a:xfrm>
            <a:off x="685800" y="3478378"/>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36133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hybrid_search with RRF; run evaluate_by_class dense vs hybrid — identifiers should jump (10 min)</a:t>
            </a:r>
            <a:endParaRPr lang="en-US" sz="1150" dirty="0"/>
          </a:p>
        </p:txBody>
      </p:sp>
      <p:sp>
        <p:nvSpPr>
          <p:cNvPr id="18" name="Shape 15"/>
          <p:cNvSpPr/>
          <p:nvPr/>
        </p:nvSpPr>
        <p:spPr>
          <a:xfrm>
            <a:off x="685800" y="3986784"/>
            <a:ext cx="274320" cy="274320"/>
          </a:xfrm>
          <a:prstGeom prst="rect">
            <a:avLst/>
          </a:prstGeom>
          <a:solidFill>
            <a:srgbClr val="1D2A5C"/>
          </a:solidFill>
          <a:ln/>
        </p:spPr>
      </p:sp>
      <p:sp>
        <p:nvSpPr>
          <p:cNvPr id="19" name="Text 16"/>
          <p:cNvSpPr/>
          <p:nvPr/>
        </p:nvSpPr>
        <p:spPr>
          <a:xfrm>
            <a:off x="685800" y="398678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869741"/>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Add the cross-encoder reranker; compare nDCG@6 per class against hybrid-only (15 min)</a:t>
            </a:r>
            <a:endParaRPr lang="en-US" sz="1150" dirty="0"/>
          </a:p>
        </p:txBody>
      </p:sp>
      <p:sp>
        <p:nvSpPr>
          <p:cNvPr id="21" name="Shape 18"/>
          <p:cNvSpPr/>
          <p:nvPr/>
        </p:nvSpPr>
        <p:spPr>
          <a:xfrm>
            <a:off x="685800" y="4495190"/>
            <a:ext cx="274320" cy="274320"/>
          </a:xfrm>
          <a:prstGeom prst="rect">
            <a:avLst/>
          </a:prstGeom>
          <a:solidFill>
            <a:srgbClr val="1D2A5C"/>
          </a:solidFill>
          <a:ln/>
        </p:spPr>
      </p:sp>
      <p:sp>
        <p:nvSpPr>
          <p:cNvPr id="22" name="Text 19"/>
          <p:cNvSpPr/>
          <p:nvPr/>
        </p:nvSpPr>
        <p:spPr>
          <a:xfrm>
            <a:off x="685800" y="4495190"/>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4378147"/>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Sweep fetch-k 20/40/80 and top-k 4/6/8; find the plateau; record budget + latency in RETRIEVAL.md (10 min)</a:t>
            </a:r>
            <a:endParaRPr lang="en-US" sz="1150" dirty="0"/>
          </a:p>
        </p:txBody>
      </p:sp>
      <p:sp>
        <p:nvSpPr>
          <p:cNvPr id="24" name="Shape 21"/>
          <p:cNvSpPr/>
          <p:nvPr/>
        </p:nvSpPr>
        <p:spPr>
          <a:xfrm>
            <a:off x="685800" y="5003597"/>
            <a:ext cx="274320" cy="274320"/>
          </a:xfrm>
          <a:prstGeom prst="rect">
            <a:avLst/>
          </a:prstGeom>
          <a:solidFill>
            <a:srgbClr val="1D2A5C"/>
          </a:solidFill>
          <a:ln/>
        </p:spPr>
      </p:sp>
      <p:sp>
        <p:nvSpPr>
          <p:cNvPr id="25" name="Text 22"/>
          <p:cNvSpPr/>
          <p:nvPr/>
        </p:nvSpPr>
        <p:spPr>
          <a:xfrm>
            <a:off x="685800" y="5003597"/>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88655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Re-run the Lab 1 F4/F5 probes end-to-end; strike F4 and F5 off the poster and commit (5 min)</a:t>
            </a:r>
            <a:endParaRPr lang="en-US" sz="1150" dirty="0"/>
          </a:p>
        </p:txBody>
      </p:sp>
      <p:sp>
        <p:nvSpPr>
          <p:cNvPr id="27" name="Shape 24"/>
          <p:cNvSpPr/>
          <p:nvPr/>
        </p:nvSpPr>
        <p:spPr>
          <a:xfrm>
            <a:off x="502920" y="5650992"/>
            <a:ext cx="11183112" cy="603504"/>
          </a:xfrm>
          <a:prstGeom prst="rect">
            <a:avLst/>
          </a:prstGeom>
          <a:solidFill>
            <a:srgbClr val="F1F8E4"/>
          </a:solidFill>
          <a:ln/>
        </p:spPr>
      </p:sp>
      <p:sp>
        <p:nvSpPr>
          <p:cNvPr id="28" name="Shape 25"/>
          <p:cNvSpPr/>
          <p:nvPr/>
        </p:nvSpPr>
        <p:spPr>
          <a:xfrm>
            <a:off x="502920" y="5650992"/>
            <a:ext cx="82296" cy="603504"/>
          </a:xfrm>
          <a:prstGeom prst="rect">
            <a:avLst/>
          </a:prstGeom>
          <a:solidFill>
            <a:srgbClr val="8CC63F"/>
          </a:solidFill>
          <a:ln/>
        </p:spPr>
      </p:sp>
      <p:sp>
        <p:nvSpPr>
          <p:cNvPr id="29" name="Text 26"/>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Two-stage retriever with per-class nDCG@6 table (dense vs hybrid vs +rerank), a chosen fetch-k/top-k budget, and passing F4/F5 probes.</a:t>
            </a:r>
            <a:endParaRPr lang="en-US" sz="1050" dirty="0"/>
          </a:p>
        </p:txBody>
      </p:sp>
      <p:sp>
        <p:nvSpPr>
          <p:cNvPr id="30" name="Text 27"/>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1" name="Text 28"/>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78</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Mini-Exercise: Zero Lift — Broken or Unneeded?</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مرحلة معطلة أم غير ضرورية؟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 query class shows ZERO lift from hybrid and from reranking over dense-only</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Decide: is the stage failing for that class, or simply unnecessary for it?</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Describe the concrete check that tells the two apart, using the labelled set</a:t>
            </a:r>
            <a:endParaRPr lang="en-US" sz="1400" dirty="0"/>
          </a:p>
        </p:txBody>
      </p:sp>
      <p:sp>
        <p:nvSpPr>
          <p:cNvPr id="12" name="Shape 9"/>
          <p:cNvSpPr/>
          <p:nvPr/>
        </p:nvSpPr>
        <p:spPr>
          <a:xfrm>
            <a:off x="8092440" y="1572768"/>
            <a:ext cx="3593592" cy="3685032"/>
          </a:xfrm>
          <a:prstGeom prst="rect">
            <a:avLst/>
          </a:prstGeom>
          <a:solidFill>
            <a:srgbClr val="E6F5F4"/>
          </a:solidFill>
          <a:ln/>
        </p:spPr>
      </p:sp>
      <p:sp>
        <p:nvSpPr>
          <p:cNvPr id="13" name="Text 10"/>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4" name="Text 11"/>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Was the right chunk inside fetch-k at all?</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Never fetched → a stage-1 problem, not the reranker</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Fetched and already top-ranked → stage unneeded</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A stage with no lift is not earning its latency</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Report it per class — and say so honestly</a:t>
            </a:r>
            <a:endParaRPr lang="en-US" sz="1100" dirty="0"/>
          </a:p>
        </p:txBody>
      </p:sp>
      <p:sp>
        <p:nvSpPr>
          <p:cNvPr id="15" name="Shape 12"/>
          <p:cNvSpPr/>
          <p:nvPr/>
        </p:nvSpPr>
        <p:spPr>
          <a:xfrm>
            <a:off x="502920" y="5394960"/>
            <a:ext cx="11183112" cy="777240"/>
          </a:xfrm>
          <a:prstGeom prst="rect">
            <a:avLst/>
          </a:prstGeom>
          <a:solidFill>
            <a:srgbClr val="E6F5F4"/>
          </a:solidFill>
          <a:ln/>
        </p:spPr>
      </p:sp>
      <p:sp>
        <p:nvSpPr>
          <p:cNvPr id="16" name="Text 1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Complexity must be justified per query class — an unneeded stage is latency and cost you are paying for nothing.</a:t>
            </a:r>
            <a:endParaRPr lang="en-US" sz="1050" dirty="0"/>
          </a:p>
        </p:txBody>
      </p:sp>
      <p:sp>
        <p:nvSpPr>
          <p:cNvPr id="17" name="Text 1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8" name="Text 1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79</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Study: The Circular Nobody Could Find</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التعميم الذي لم يجده أحد</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regulator's internal assistant fails a whole category of queries: staff searching by circular number get a circular back — almost never the right one. Aggregate recall@10 looks healthy at 0.86, but the identifier class, 30% of real traffic, sits at 0.23. The team nearly rebuilt the embedder before anyone measured by class. Constraints: bilingual identifiers, a 2-second latency SLA, and the natural-language class must not regress.</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Why did the team almost fix the wrong thing, and what metric discipline would have prevented it?</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Is query rewriting an alternative fix for identifiers, or is sparse retrieval structurally the right tool?</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How do you keep bilingual identifiers matchable through normalisation without stripping them?</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Design the launch gate that requires per-class metrics, not aggregates.</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80</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Benchmarks After Module 4</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الأداء بعد الوحدة الرابعة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752344"/>
                <a:gridCol w="1097280"/>
                <a:gridCol w="1828800"/>
                <a:gridCol w="1097280"/>
                <a:gridCol w="2386584"/>
                <a:gridCol w="2020824"/>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NL</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Identifier</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Mixed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 paraphrase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p95 latency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dense-only (M3)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0.24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0.48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0.69</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34 ms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hybrid (RRF)</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0.79</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0.66</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58 ms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reranker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0.81</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176 ms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Targets after M4: nDCG@6 ≥ 0.80 on identifiers (from ~0.24 dense-only), ≥ 0.78 overall, p95 ≤ 200 ms, zero access-control leaks through the fusion path.</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81</a:t>
            </a:r>
            <a:endParaRPr lang="en-US" sz="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4</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الرابعة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Q3</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Queries naming "Circular 44/2025" still return similar-but-wrong circulars after upgrading to a stronger embedding model. Why?</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chunks are too large for the embedder</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needed signal is lexical — dense vectors blur exact tokens by design</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ef search parameter is set too low</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reranker was trained on English pairs only</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82</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4</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الرابعة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Q4</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Aggregate nDCG for your retriever is a healthy 0.75. Why is the retrieval stack still not ready to sign off?</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nDCG cannot be computed on bilingual corpora</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Aggregate numbers require at least 500 queries to be valid</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reranker must reach an nDCG of exactly 1.0 first</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An aggregate can hide a query class collapsed to 0.24</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D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83</a:t>
            </a:r>
            <a:endParaRPr lang="en-US" sz="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3 — From Retrieval to Trusted Answers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الثالث — من الاسترجاع إلى إجابات موثوقة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1481328" y="1170432"/>
            <a:ext cx="960120" cy="274320"/>
          </a:xfrm>
          <a:prstGeom prst="roundRect">
            <a:avLst>
              <a:gd name="adj" fmla="val 20000"/>
            </a:avLst>
          </a:prstGeom>
          <a:solidFill>
            <a:srgbClr val="1D2A5C"/>
          </a:solidFill>
          <a:ln/>
        </p:spPr>
      </p:sp>
      <p:sp>
        <p:nvSpPr>
          <p:cNvPr id="7" name="Text 4"/>
          <p:cNvSpPr/>
          <p:nvPr/>
        </p:nvSpPr>
        <p:spPr>
          <a:xfrm>
            <a:off x="1481328" y="1170432"/>
            <a:ext cx="960120" cy="27432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DAY 3</a:t>
            </a:r>
            <a:endParaRPr lang="en-US" sz="1000" dirty="0"/>
          </a:p>
        </p:txBody>
      </p:sp>
      <p:sp>
        <p:nvSpPr>
          <p:cNvPr id="8" name="Shape 5"/>
          <p:cNvSpPr/>
          <p:nvPr/>
        </p:nvSpPr>
        <p:spPr>
          <a:xfrm>
            <a:off x="502920" y="1645920"/>
            <a:ext cx="11183112" cy="548640"/>
          </a:xfrm>
          <a:prstGeom prst="rect">
            <a:avLst/>
          </a:prstGeom>
          <a:solidFill>
            <a:srgbClr val="F2F6F8"/>
          </a:solidFill>
          <a:ln w="9525">
            <a:solidFill>
              <a:srgbClr val="D9E2E8"/>
            </a:solidFill>
            <a:prstDash val="solid"/>
          </a:ln>
        </p:spPr>
      </p:sp>
      <p:sp>
        <p:nvSpPr>
          <p:cNvPr id="9" name="Text 6"/>
          <p:cNvSpPr/>
          <p:nvPr/>
        </p:nvSpPr>
        <p:spPr>
          <a:xfrm>
            <a:off x="731520" y="16459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1</a:t>
            </a:r>
            <a:endParaRPr lang="en-US" sz="1250" dirty="0"/>
          </a:p>
        </p:txBody>
      </p:sp>
      <p:sp>
        <p:nvSpPr>
          <p:cNvPr id="10" name="Text 7"/>
          <p:cNvSpPr/>
          <p:nvPr/>
        </p:nvSpPr>
        <p:spPr>
          <a:xfrm>
            <a:off x="2423160" y="16459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Module 5 lecture — context construction &amp; citation grounding</a:t>
            </a:r>
            <a:endParaRPr lang="en-US" sz="1250" dirty="0"/>
          </a:p>
        </p:txBody>
      </p:sp>
      <p:sp>
        <p:nvSpPr>
          <p:cNvPr id="11" name="Shape 8"/>
          <p:cNvSpPr/>
          <p:nvPr/>
        </p:nvSpPr>
        <p:spPr>
          <a:xfrm>
            <a:off x="9784080" y="1773936"/>
            <a:ext cx="1691640" cy="292608"/>
          </a:xfrm>
          <a:prstGeom prst="roundRect">
            <a:avLst>
              <a:gd name="adj" fmla="val 15625"/>
            </a:avLst>
          </a:prstGeom>
          <a:solidFill>
            <a:srgbClr val="E6F5F4"/>
          </a:solidFill>
          <a:ln/>
        </p:spPr>
      </p:sp>
      <p:sp>
        <p:nvSpPr>
          <p:cNvPr id="12" name="Text 9"/>
          <p:cNvSpPr/>
          <p:nvPr/>
        </p:nvSpPr>
        <p:spPr>
          <a:xfrm>
            <a:off x="9784080" y="177393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13" name="Shape 10"/>
          <p:cNvSpPr/>
          <p:nvPr/>
        </p:nvSpPr>
        <p:spPr>
          <a:xfrm>
            <a:off x="502920" y="2286000"/>
            <a:ext cx="11183112" cy="548640"/>
          </a:xfrm>
          <a:prstGeom prst="rect">
            <a:avLst/>
          </a:prstGeom>
          <a:solidFill>
            <a:srgbClr val="FFFFFF"/>
          </a:solidFill>
          <a:ln w="9525">
            <a:solidFill>
              <a:srgbClr val="D9E2E8"/>
            </a:solidFill>
            <a:prstDash val="solid"/>
          </a:ln>
        </p:spPr>
      </p:sp>
      <p:sp>
        <p:nvSpPr>
          <p:cNvPr id="14" name="Text 11"/>
          <p:cNvSpPr/>
          <p:nvPr/>
        </p:nvSpPr>
        <p:spPr>
          <a:xfrm>
            <a:off x="731520" y="228600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2</a:t>
            </a:r>
            <a:endParaRPr lang="en-US" sz="1250" dirty="0"/>
          </a:p>
        </p:txBody>
      </p:sp>
      <p:sp>
        <p:nvSpPr>
          <p:cNvPr id="15" name="Text 12"/>
          <p:cNvSpPr/>
          <p:nvPr/>
        </p:nvSpPr>
        <p:spPr>
          <a:xfrm>
            <a:off x="2423160" y="228600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5 — grounded, cited generation with refusal</a:t>
            </a:r>
            <a:endParaRPr lang="en-US" sz="1250" dirty="0"/>
          </a:p>
        </p:txBody>
      </p:sp>
      <p:sp>
        <p:nvSpPr>
          <p:cNvPr id="16" name="Shape 13"/>
          <p:cNvSpPr/>
          <p:nvPr/>
        </p:nvSpPr>
        <p:spPr>
          <a:xfrm>
            <a:off x="9784080" y="2414016"/>
            <a:ext cx="1691640" cy="292608"/>
          </a:xfrm>
          <a:prstGeom prst="roundRect">
            <a:avLst>
              <a:gd name="adj" fmla="val 15625"/>
            </a:avLst>
          </a:prstGeom>
          <a:solidFill>
            <a:srgbClr val="FEF3E3"/>
          </a:solidFill>
          <a:ln/>
        </p:spPr>
      </p:sp>
      <p:sp>
        <p:nvSpPr>
          <p:cNvPr id="17" name="Text 14"/>
          <p:cNvSpPr/>
          <p:nvPr/>
        </p:nvSpPr>
        <p:spPr>
          <a:xfrm>
            <a:off x="9784080" y="241401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18" name="Shape 15"/>
          <p:cNvSpPr/>
          <p:nvPr/>
        </p:nvSpPr>
        <p:spPr>
          <a:xfrm>
            <a:off x="502920" y="2926080"/>
            <a:ext cx="11183112" cy="548640"/>
          </a:xfrm>
          <a:prstGeom prst="rect">
            <a:avLst/>
          </a:prstGeom>
          <a:solidFill>
            <a:srgbClr val="F2F6F8"/>
          </a:solidFill>
          <a:ln w="9525">
            <a:solidFill>
              <a:srgbClr val="D9E2E8"/>
            </a:solidFill>
            <a:prstDash val="solid"/>
          </a:ln>
        </p:spPr>
      </p:sp>
      <p:sp>
        <p:nvSpPr>
          <p:cNvPr id="19" name="Text 16"/>
          <p:cNvSpPr/>
          <p:nvPr/>
        </p:nvSpPr>
        <p:spPr>
          <a:xfrm>
            <a:off x="731520" y="292608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Midday</a:t>
            </a:r>
            <a:endParaRPr lang="en-US" sz="1250" dirty="0"/>
          </a:p>
        </p:txBody>
      </p:sp>
      <p:sp>
        <p:nvSpPr>
          <p:cNvPr id="20" name="Text 17"/>
          <p:cNvSpPr/>
          <p:nvPr/>
        </p:nvSpPr>
        <p:spPr>
          <a:xfrm>
            <a:off x="2423160" y="2926080"/>
            <a:ext cx="7086600" cy="548640"/>
          </a:xfrm>
          <a:prstGeom prst="rect">
            <a:avLst/>
          </a:prstGeom>
          <a:noFill/>
          <a:ln/>
        </p:spPr>
        <p:txBody>
          <a:bodyPr wrap="square" rtlCol="0" anchor="ctr"/>
          <a:lstStyle/>
          <a:p>
            <a:pPr indent="0" marL="0">
              <a:buNone/>
            </a:pPr>
            <a:r>
              <a:rPr lang="en-US" sz="1250" dirty="0">
                <a:solidFill>
                  <a:srgbClr val="6E7B8A"/>
                </a:solidFill>
                <a:latin typeface="Calibri" pitchFamily="34" charset="0"/>
                <a:ea typeface="Calibri" pitchFamily="34" charset="-122"/>
                <a:cs typeface="Calibri" pitchFamily="34" charset="-120"/>
              </a:rPr>
              <a:t>Long break scheduled around Dhuhr prayer</a:t>
            </a:r>
            <a:endParaRPr lang="en-US" sz="1250" dirty="0"/>
          </a:p>
        </p:txBody>
      </p:sp>
      <p:sp>
        <p:nvSpPr>
          <p:cNvPr id="21" name="Shape 18"/>
          <p:cNvSpPr/>
          <p:nvPr/>
        </p:nvSpPr>
        <p:spPr>
          <a:xfrm>
            <a:off x="9784080" y="3054096"/>
            <a:ext cx="1691640" cy="292608"/>
          </a:xfrm>
          <a:prstGeom prst="roundRect">
            <a:avLst>
              <a:gd name="adj" fmla="val 15625"/>
            </a:avLst>
          </a:prstGeom>
          <a:solidFill>
            <a:srgbClr val="F2F6F8"/>
          </a:solidFill>
          <a:ln/>
        </p:spPr>
      </p:sp>
      <p:sp>
        <p:nvSpPr>
          <p:cNvPr id="22" name="Text 19"/>
          <p:cNvSpPr/>
          <p:nvPr/>
        </p:nvSpPr>
        <p:spPr>
          <a:xfrm>
            <a:off x="9784080" y="3054096"/>
            <a:ext cx="1691640" cy="292608"/>
          </a:xfrm>
          <a:prstGeom prst="rect">
            <a:avLst/>
          </a:prstGeom>
          <a:noFill/>
          <a:ln/>
        </p:spPr>
        <p:txBody>
          <a:bodyPr wrap="square" rtlCol="0" anchor="ctr"/>
          <a:lstStyle/>
          <a:p>
            <a:pPr algn="ctr" indent="0" marL="0">
              <a:buNone/>
            </a:pPr>
            <a:r>
              <a:rPr lang="en-US" sz="950" b="1" spc="150" kern="0" dirty="0">
                <a:solidFill>
                  <a:srgbClr val="6E7B8A"/>
                </a:solidFill>
                <a:latin typeface="Calibri" pitchFamily="34" charset="0"/>
                <a:ea typeface="Calibri" pitchFamily="34" charset="-122"/>
                <a:cs typeface="Calibri" pitchFamily="34" charset="-120"/>
              </a:rPr>
              <a:t>BREAK</a:t>
            </a:r>
            <a:endParaRPr lang="en-US" sz="950" dirty="0"/>
          </a:p>
        </p:txBody>
      </p:sp>
      <p:sp>
        <p:nvSpPr>
          <p:cNvPr id="23" name="Shape 20"/>
          <p:cNvSpPr/>
          <p:nvPr/>
        </p:nvSpPr>
        <p:spPr>
          <a:xfrm>
            <a:off x="502920" y="3566160"/>
            <a:ext cx="11183112" cy="548640"/>
          </a:xfrm>
          <a:prstGeom prst="rect">
            <a:avLst/>
          </a:prstGeom>
          <a:solidFill>
            <a:srgbClr val="FFFFFF"/>
          </a:solidFill>
          <a:ln w="9525">
            <a:solidFill>
              <a:srgbClr val="D9E2E8"/>
            </a:solidFill>
            <a:prstDash val="solid"/>
          </a:ln>
        </p:spPr>
      </p:sp>
      <p:sp>
        <p:nvSpPr>
          <p:cNvPr id="24" name="Text 21"/>
          <p:cNvSpPr/>
          <p:nvPr/>
        </p:nvSpPr>
        <p:spPr>
          <a:xfrm>
            <a:off x="731520" y="356616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3</a:t>
            </a:r>
            <a:endParaRPr lang="en-US" sz="1250" dirty="0"/>
          </a:p>
        </p:txBody>
      </p:sp>
      <p:sp>
        <p:nvSpPr>
          <p:cNvPr id="25" name="Text 22"/>
          <p:cNvSpPr/>
          <p:nvPr/>
        </p:nvSpPr>
        <p:spPr>
          <a:xfrm>
            <a:off x="2423160" y="356616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Module 6 lecture — RAG evaluation frameworks</a:t>
            </a:r>
            <a:endParaRPr lang="en-US" sz="1250" dirty="0"/>
          </a:p>
        </p:txBody>
      </p:sp>
      <p:sp>
        <p:nvSpPr>
          <p:cNvPr id="26" name="Shape 23"/>
          <p:cNvSpPr/>
          <p:nvPr/>
        </p:nvSpPr>
        <p:spPr>
          <a:xfrm>
            <a:off x="9784080" y="3694176"/>
            <a:ext cx="1691640" cy="292608"/>
          </a:xfrm>
          <a:prstGeom prst="roundRect">
            <a:avLst>
              <a:gd name="adj" fmla="val 15625"/>
            </a:avLst>
          </a:prstGeom>
          <a:solidFill>
            <a:srgbClr val="E6F5F4"/>
          </a:solidFill>
          <a:ln/>
        </p:spPr>
      </p:sp>
      <p:sp>
        <p:nvSpPr>
          <p:cNvPr id="27" name="Text 24"/>
          <p:cNvSpPr/>
          <p:nvPr/>
        </p:nvSpPr>
        <p:spPr>
          <a:xfrm>
            <a:off x="9784080" y="369417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28" name="Shape 25"/>
          <p:cNvSpPr/>
          <p:nvPr/>
        </p:nvSpPr>
        <p:spPr>
          <a:xfrm>
            <a:off x="502920" y="4206240"/>
            <a:ext cx="11183112" cy="548640"/>
          </a:xfrm>
          <a:prstGeom prst="rect">
            <a:avLst/>
          </a:prstGeom>
          <a:solidFill>
            <a:srgbClr val="F2F6F8"/>
          </a:solidFill>
          <a:ln w="9525">
            <a:solidFill>
              <a:srgbClr val="D9E2E8"/>
            </a:solidFill>
            <a:prstDash val="solid"/>
          </a:ln>
        </p:spPr>
      </p:sp>
      <p:sp>
        <p:nvSpPr>
          <p:cNvPr id="29" name="Text 26"/>
          <p:cNvSpPr/>
          <p:nvPr/>
        </p:nvSpPr>
        <p:spPr>
          <a:xfrm>
            <a:off x="731520" y="420624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4</a:t>
            </a:r>
            <a:endParaRPr lang="en-US" sz="1250" dirty="0"/>
          </a:p>
        </p:txBody>
      </p:sp>
      <p:sp>
        <p:nvSpPr>
          <p:cNvPr id="30" name="Text 27"/>
          <p:cNvSpPr/>
          <p:nvPr/>
        </p:nvSpPr>
        <p:spPr>
          <a:xfrm>
            <a:off x="2423160" y="420624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6 — evaluation harness, baseline and regression gate</a:t>
            </a:r>
            <a:endParaRPr lang="en-US" sz="1250" dirty="0"/>
          </a:p>
        </p:txBody>
      </p:sp>
      <p:sp>
        <p:nvSpPr>
          <p:cNvPr id="31" name="Shape 28"/>
          <p:cNvSpPr/>
          <p:nvPr/>
        </p:nvSpPr>
        <p:spPr>
          <a:xfrm>
            <a:off x="9784080" y="4334256"/>
            <a:ext cx="1691640" cy="292608"/>
          </a:xfrm>
          <a:prstGeom prst="roundRect">
            <a:avLst>
              <a:gd name="adj" fmla="val 15625"/>
            </a:avLst>
          </a:prstGeom>
          <a:solidFill>
            <a:srgbClr val="FEF3E3"/>
          </a:solidFill>
          <a:ln/>
        </p:spPr>
      </p:sp>
      <p:sp>
        <p:nvSpPr>
          <p:cNvPr id="32" name="Text 29"/>
          <p:cNvSpPr/>
          <p:nvPr/>
        </p:nvSpPr>
        <p:spPr>
          <a:xfrm>
            <a:off x="9784080" y="433425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33" name="Shape 30"/>
          <p:cNvSpPr/>
          <p:nvPr/>
        </p:nvSpPr>
        <p:spPr>
          <a:xfrm>
            <a:off x="502920" y="4846320"/>
            <a:ext cx="11183112" cy="548640"/>
          </a:xfrm>
          <a:prstGeom prst="rect">
            <a:avLst/>
          </a:prstGeom>
          <a:solidFill>
            <a:srgbClr val="FFFFFF"/>
          </a:solidFill>
          <a:ln w="9525">
            <a:solidFill>
              <a:srgbClr val="D9E2E8"/>
            </a:solidFill>
            <a:prstDash val="solid"/>
          </a:ln>
        </p:spPr>
      </p:sp>
      <p:sp>
        <p:nvSpPr>
          <p:cNvPr id="34" name="Text 31"/>
          <p:cNvSpPr/>
          <p:nvPr/>
        </p:nvSpPr>
        <p:spPr>
          <a:xfrm>
            <a:off x="731520" y="48463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5</a:t>
            </a:r>
            <a:endParaRPr lang="en-US" sz="1250" dirty="0"/>
          </a:p>
        </p:txBody>
      </p:sp>
      <p:sp>
        <p:nvSpPr>
          <p:cNvPr id="35" name="Text 32"/>
          <p:cNvSpPr/>
          <p:nvPr/>
        </p:nvSpPr>
        <p:spPr>
          <a:xfrm>
            <a:off x="2423160" y="48463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Hallucination red-team + timed practical assessment PA-2</a:t>
            </a:r>
            <a:endParaRPr lang="en-US" sz="1250" dirty="0"/>
          </a:p>
        </p:txBody>
      </p:sp>
      <p:sp>
        <p:nvSpPr>
          <p:cNvPr id="36" name="Shape 33"/>
          <p:cNvSpPr/>
          <p:nvPr/>
        </p:nvSpPr>
        <p:spPr>
          <a:xfrm>
            <a:off x="9784080" y="4974336"/>
            <a:ext cx="1691640" cy="292608"/>
          </a:xfrm>
          <a:prstGeom prst="roundRect">
            <a:avLst>
              <a:gd name="adj" fmla="val 15625"/>
            </a:avLst>
          </a:prstGeom>
          <a:solidFill>
            <a:srgbClr val="EAF6FC"/>
          </a:solidFill>
          <a:ln/>
        </p:spPr>
      </p:sp>
      <p:sp>
        <p:nvSpPr>
          <p:cNvPr id="37" name="Text 34"/>
          <p:cNvSpPr/>
          <p:nvPr/>
        </p:nvSpPr>
        <p:spPr>
          <a:xfrm>
            <a:off x="9784080" y="4974336"/>
            <a:ext cx="1691640" cy="292608"/>
          </a:xfrm>
          <a:prstGeom prst="rect">
            <a:avLst/>
          </a:prstGeom>
          <a:noFill/>
          <a:ln/>
        </p:spPr>
        <p:txBody>
          <a:bodyPr wrap="square" rtlCol="0" anchor="ctr"/>
          <a:lstStyle/>
          <a:p>
            <a:pPr algn="ctr" indent="0" marL="0">
              <a:buNone/>
            </a:pPr>
            <a:r>
              <a:rPr lang="en-US" sz="950" b="1" spc="150" kern="0" dirty="0">
                <a:solidFill>
                  <a:srgbClr val="29ABE2"/>
                </a:solidFill>
                <a:latin typeface="Calibri" pitchFamily="34" charset="0"/>
                <a:ea typeface="Calibri" pitchFamily="34" charset="-122"/>
                <a:cs typeface="Calibri" pitchFamily="34" charset="-120"/>
              </a:rPr>
              <a:t>QUIZ</a:t>
            </a:r>
            <a:endParaRPr lang="en-US" sz="950" dirty="0"/>
          </a:p>
        </p:txBody>
      </p:sp>
      <p:sp>
        <p:nvSpPr>
          <p:cNvPr id="38" name="Text 3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9" name="Text 3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84</a:t>
            </a:r>
            <a:endParaRPr lang="en-US" sz="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3</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05</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Context Construction and Citation Grounding</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بناء السياق وتوثيق الإجابات بالاستشهادات</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Assemble a token-budgeted context that beats lost-in-the-middle</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Prompt the model to answer only from numbered, citable sources</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Refuse when the evidence is insufficient instead of confabulating</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Re-assert access control at the last gate before the LLM</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85</a:t>
            </a:r>
            <a:endParaRPr lang="en-US" sz="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5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الخامسة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5.1   </a:t>
            </a:r>
            <a:pPr indent="0" marL="0">
              <a:buNone/>
            </a:pPr>
            <a:r>
              <a:rPr lang="en-US" sz="1350" dirty="0">
                <a:solidFill>
                  <a:srgbClr val="2B2B2B"/>
                </a:solidFill>
                <a:latin typeface="Calibri" pitchFamily="34" charset="0"/>
                <a:ea typeface="Calibri" pitchFamily="34" charset="-122"/>
                <a:cs typeface="Calibri" pitchFamily="34" charset="-120"/>
              </a:rPr>
              <a:t>Assemble a token-budgeted context and order chunks against lost-in-the-middle</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5.2   </a:t>
            </a:r>
            <a:pPr indent="0" marL="0">
              <a:buNone/>
            </a:pPr>
            <a:r>
              <a:rPr lang="en-US" sz="1350" dirty="0">
                <a:solidFill>
                  <a:srgbClr val="2B2B2B"/>
                </a:solidFill>
                <a:latin typeface="Calibri" pitchFamily="34" charset="0"/>
                <a:ea typeface="Calibri" pitchFamily="34" charset="-122"/>
                <a:cs typeface="Calibri" pitchFamily="34" charset="-120"/>
              </a:rPr>
              <a:t>Write a grounded prompt that answers only from provided evidence</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5.3   </a:t>
            </a:r>
            <a:pPr indent="0" marL="0">
              <a:buNone/>
            </a:pPr>
            <a:r>
              <a:rPr lang="en-US" sz="1350" dirty="0">
                <a:solidFill>
                  <a:srgbClr val="2B2B2B"/>
                </a:solidFill>
                <a:latin typeface="Calibri" pitchFamily="34" charset="0"/>
                <a:ea typeface="Calibri" pitchFamily="34" charset="-122"/>
                <a:cs typeface="Calibri" pitchFamily="34" charset="-120"/>
              </a:rPr>
              <a:t>Emit verifiable, chunk-level citations in the answer</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5.4   </a:t>
            </a:r>
            <a:pPr indent="0" marL="0">
              <a:buNone/>
            </a:pPr>
            <a:r>
              <a:rPr lang="en-US" sz="1350" dirty="0">
                <a:solidFill>
                  <a:srgbClr val="2B2B2B"/>
                </a:solidFill>
                <a:latin typeface="Calibri" pitchFamily="34" charset="0"/>
                <a:ea typeface="Calibri" pitchFamily="34" charset="-122"/>
                <a:cs typeface="Calibri" pitchFamily="34" charset="-120"/>
              </a:rPr>
              <a:t>Implement insufficient-evidence refusal behaviour</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5.5   </a:t>
            </a:r>
            <a:pPr indent="0" marL="0">
              <a:buNone/>
            </a:pPr>
            <a:r>
              <a:rPr lang="en-US" sz="1350" dirty="0">
                <a:solidFill>
                  <a:srgbClr val="2B2B2B"/>
                </a:solidFill>
                <a:latin typeface="Calibri" pitchFamily="34" charset="0"/>
                <a:ea typeface="Calibri" pitchFamily="34" charset="-122"/>
                <a:cs typeface="Calibri" pitchFamily="34" charset="-120"/>
              </a:rPr>
              <a:t>Enforce access-control filtering in context construction</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86</a:t>
            </a:r>
            <a:endParaRPr lang="en-US" sz="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Context Budget: Fit the Best, Not the Most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ميزانية السياق: الأفضل لا الأكثر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context window is finite — every token costs money and latency</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Generation dominates both cost and latency (Module 1)</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Count tokens with the model tokenizer; reserve room for prompt, question, answer</a:t>
            </a:r>
            <a:endParaRPr lang="en-US" sz="1400" dirty="0"/>
          </a:p>
        </p:txBody>
      </p:sp>
      <p:sp>
        <p:nvSpPr>
          <p:cNvPr id="11" name="Text 8"/>
          <p:cNvSpPr/>
          <p:nvPr/>
        </p:nvSpPr>
        <p:spPr>
          <a:xfrm>
            <a:off x="1069848" y="272491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Fit the top 4–6 reranked chunks from M4, not all 40</a:t>
            </a:r>
            <a:endParaRPr lang="en-US" sz="1150" dirty="0"/>
          </a:p>
        </p:txBody>
      </p:sp>
      <p:sp>
        <p:nvSpPr>
          <p:cNvPr id="12" name="Shape 9"/>
          <p:cNvSpPr/>
          <p:nvPr/>
        </p:nvSpPr>
        <p:spPr>
          <a:xfrm>
            <a:off x="521208" y="3227832"/>
            <a:ext cx="118872" cy="118872"/>
          </a:xfrm>
          <a:prstGeom prst="rect">
            <a:avLst/>
          </a:prstGeom>
          <a:solidFill>
            <a:srgbClr val="00A79D"/>
          </a:solidFill>
          <a:ln/>
        </p:spPr>
      </p:sp>
      <p:sp>
        <p:nvSpPr>
          <p:cNvPr id="13" name="Text 10"/>
          <p:cNvSpPr/>
          <p:nvPr/>
        </p:nvSpPr>
        <p:spPr>
          <a:xfrm>
            <a:off x="795528" y="312724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More context is not better: past a point, extra chunks lower accuracy</a:t>
            </a:r>
            <a:endParaRPr lang="en-US" sz="1400" dirty="0"/>
          </a:p>
        </p:txBody>
      </p:sp>
      <p:sp>
        <p:nvSpPr>
          <p:cNvPr id="14" name="Text 11"/>
          <p:cNvSpPr/>
          <p:nvPr/>
        </p:nvSpPr>
        <p:spPr>
          <a:xfrm>
            <a:off x="1069848" y="3493008"/>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Dilution and contradiction — the "stuff 16 chunks" anti-pattern, now measured</a:t>
            </a:r>
            <a:endParaRPr lang="en-US" sz="1150" dirty="0"/>
          </a:p>
        </p:txBody>
      </p:sp>
      <p:sp>
        <p:nvSpPr>
          <p:cNvPr id="15" name="Shape 12"/>
          <p:cNvSpPr/>
          <p:nvPr/>
        </p:nvSpPr>
        <p:spPr>
          <a:xfrm>
            <a:off x="521208" y="3995928"/>
            <a:ext cx="118872" cy="118872"/>
          </a:xfrm>
          <a:prstGeom prst="rect">
            <a:avLst/>
          </a:prstGeom>
          <a:solidFill>
            <a:srgbClr val="00A79D"/>
          </a:solidFill>
          <a:ln/>
        </p:spPr>
      </p:sp>
      <p:sp>
        <p:nvSpPr>
          <p:cNvPr id="16" name="Text 13"/>
          <p:cNvSpPr/>
          <p:nvPr/>
        </p:nvSpPr>
        <p:spPr>
          <a:xfrm>
            <a:off x="795528" y="38953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Deduplicate: overlapping chunks can repeat the same clause and spend budget twice</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lean, well-ordered context is cheaper and more accurate than a stuffed one — context discipline is the main cost lever of the pipeline.</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87</a:t>
            </a:r>
            <a:endParaRPr lang="en-US" sz="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Context Construction: The Online Path's Business End</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خط بناء السياق قبل التوليد</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Access re-check</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Assert every chunk is one the asking user may see — the last line of defence</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Deduplicate</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Collapse near-duplicate chunks so the budget is not spent twice on one fact</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Token budget</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Stop at the budget — typically the top 4–6 reranked chunks, about 1,800 tokens</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Edge-ordering</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Best chunk first, second-best last — weaker evidence in the middle</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Number sources</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Stable labels [1], [2] with doc title, section and effective date for citation</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This assembler is where F6 (context abuse) is retired — ordering plus brevity, both governed here.</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88</a:t>
            </a:r>
            <a:endParaRPr lang="en-US" sz="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Lost in the Middle: Order Beats Volume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الضياع في المنتصف: الترتيب يتفوق على الكم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LLMs attend unevenly: evidence at the start and end is used more reliably</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Evidence buried mid-context is ignored — the "lost-in-the-middle" effect</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Order by relevance to the extremes: highest-reranked chunk first, or first-and-last</a:t>
            </a:r>
            <a:endParaRPr lang="en-US" sz="1400" dirty="0"/>
          </a:p>
        </p:txBody>
      </p:sp>
      <p:sp>
        <p:nvSpPr>
          <p:cNvPr id="11" name="Text 8"/>
          <p:cNvSpPr/>
          <p:nvPr/>
        </p:nvSpPr>
        <p:spPr>
          <a:xfrm>
            <a:off x="1069848" y="272491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Monotonic best-to-worst often underperforms "best at the edges"</a:t>
            </a:r>
            <a:endParaRPr lang="en-US" sz="1150" dirty="0"/>
          </a:p>
        </p:txBody>
      </p:sp>
      <p:sp>
        <p:nvSpPr>
          <p:cNvPr id="12" name="Shape 9"/>
          <p:cNvSpPr/>
          <p:nvPr/>
        </p:nvSpPr>
        <p:spPr>
          <a:xfrm>
            <a:off x="521208" y="3227832"/>
            <a:ext cx="118872" cy="118872"/>
          </a:xfrm>
          <a:prstGeom prst="rect">
            <a:avLst/>
          </a:prstGeom>
          <a:solidFill>
            <a:srgbClr val="00A79D"/>
          </a:solidFill>
          <a:ln/>
        </p:spPr>
      </p:sp>
      <p:sp>
        <p:nvSpPr>
          <p:cNvPr id="13" name="Text 10"/>
          <p:cNvSpPr/>
          <p:nvPr/>
        </p:nvSpPr>
        <p:spPr>
          <a:xfrm>
            <a:off x="795528" y="312724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Keep contexts short enough that the middle barely exists</a:t>
            </a:r>
            <a:endParaRPr lang="en-US" sz="1400" dirty="0"/>
          </a:p>
        </p:txBody>
      </p:sp>
      <p:sp>
        <p:nvSpPr>
          <p:cNvPr id="14" name="Text 11"/>
          <p:cNvSpPr/>
          <p:nvPr/>
        </p:nvSpPr>
        <p:spPr>
          <a:xfrm>
            <a:off x="1069848" y="3493008"/>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4-chunk context has no deep middle to lose</a:t>
            </a:r>
            <a:endParaRPr lang="en-US" sz="1150" dirty="0"/>
          </a:p>
        </p:txBody>
      </p:sp>
      <p:sp>
        <p:nvSpPr>
          <p:cNvPr id="15" name="Shape 12"/>
          <p:cNvSpPr/>
          <p:nvPr/>
        </p:nvSpPr>
        <p:spPr>
          <a:xfrm>
            <a:off x="521208" y="3995928"/>
            <a:ext cx="118872" cy="118872"/>
          </a:xfrm>
          <a:prstGeom prst="rect">
            <a:avLst/>
          </a:prstGeom>
          <a:solidFill>
            <a:srgbClr val="00A79D"/>
          </a:solidFill>
          <a:ln/>
        </p:spPr>
      </p:sp>
      <p:sp>
        <p:nvSpPr>
          <p:cNvPr id="16" name="Text 13"/>
          <p:cNvSpPr/>
          <p:nvPr/>
        </p:nvSpPr>
        <p:spPr>
          <a:xfrm>
            <a:off x="795528" y="38953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This is the F6 mechanism: a right answer retrieved, placed mid-context, ignored</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cheapest defence against lost-in-the-middle is brevity — fix ordering and length in the assembler, not the model.</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89</a:t>
            </a:r>
            <a:endParaRPr lang="en-US" sz="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Grounded Prompting: Reader, Not Recaller</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التوجيه المقيد: قارئ لا مستذكر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Instruction: answer using ONLY the numbered sources below</a:t>
            </a:r>
            <a:endParaRPr lang="en-US" sz="1400" dirty="0"/>
          </a:p>
        </p:txBody>
      </p:sp>
      <p:sp>
        <p:nvSpPr>
          <p:cNvPr id="8" name="Text 5"/>
          <p:cNvSpPr/>
          <p:nvPr/>
        </p:nvSpPr>
        <p:spPr>
          <a:xfrm>
            <a:off x="1069848" y="1956816"/>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If the sources lack the answer, say you don't have that information</a:t>
            </a:r>
            <a:endParaRPr lang="en-US" sz="1150" dirty="0"/>
          </a:p>
        </p:txBody>
      </p:sp>
      <p:sp>
        <p:nvSpPr>
          <p:cNvPr id="9" name="Text 6"/>
          <p:cNvSpPr/>
          <p:nvPr/>
        </p:nvSpPr>
        <p:spPr>
          <a:xfrm>
            <a:off x="1069848" y="2249424"/>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Cite the source number for every claim</a:t>
            </a:r>
            <a:endParaRPr lang="en-US" sz="1150" dirty="0"/>
          </a:p>
        </p:txBody>
      </p:sp>
      <p:sp>
        <p:nvSpPr>
          <p:cNvPr id="10" name="Shape 7"/>
          <p:cNvSpPr/>
          <p:nvPr/>
        </p:nvSpPr>
        <p:spPr>
          <a:xfrm>
            <a:off x="521208" y="2752344"/>
            <a:ext cx="118872" cy="118872"/>
          </a:xfrm>
          <a:prstGeom prst="rect">
            <a:avLst/>
          </a:prstGeom>
          <a:solidFill>
            <a:srgbClr val="00A79D"/>
          </a:solidFill>
          <a:ln/>
        </p:spPr>
      </p:sp>
      <p:sp>
        <p:nvSpPr>
          <p:cNvPr id="11" name="Text 8"/>
          <p:cNvSpPr/>
          <p:nvPr/>
        </p:nvSpPr>
        <p:spPr>
          <a:xfrm>
            <a:off x="795528" y="265176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Numbered sources carry provenance: doc title, section, effective date</a:t>
            </a:r>
            <a:endParaRPr lang="en-US" sz="1400" dirty="0"/>
          </a:p>
        </p:txBody>
      </p:sp>
      <p:sp>
        <p:nvSpPr>
          <p:cNvPr id="12" name="Shape 9"/>
          <p:cNvSpPr/>
          <p:nvPr/>
        </p:nvSpPr>
        <p:spPr>
          <a:xfrm>
            <a:off x="521208" y="3227832"/>
            <a:ext cx="118872" cy="118872"/>
          </a:xfrm>
          <a:prstGeom prst="rect">
            <a:avLst/>
          </a:prstGeom>
          <a:solidFill>
            <a:srgbClr val="00A79D"/>
          </a:solidFill>
          <a:ln/>
        </p:spPr>
      </p:sp>
      <p:sp>
        <p:nvSpPr>
          <p:cNvPr id="13" name="Text 10"/>
          <p:cNvSpPr/>
          <p:nvPr/>
        </p:nvSpPr>
        <p:spPr>
          <a:xfrm>
            <a:off x="795528" y="312724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Temperature 0 for every evaluated answer — otherwise metric deltas are noise</a:t>
            </a:r>
            <a:endParaRPr lang="en-US" sz="1400" dirty="0"/>
          </a:p>
        </p:txBody>
      </p:sp>
      <p:sp>
        <p:nvSpPr>
          <p:cNvPr id="14" name="Shape 11"/>
          <p:cNvSpPr/>
          <p:nvPr/>
        </p:nvSpPr>
        <p:spPr>
          <a:xfrm>
            <a:off x="521208" y="3703320"/>
            <a:ext cx="118872" cy="118872"/>
          </a:xfrm>
          <a:prstGeom prst="rect">
            <a:avLst/>
          </a:prstGeom>
          <a:solidFill>
            <a:srgbClr val="00A79D"/>
          </a:solidFill>
          <a:ln/>
        </p:spPr>
      </p:sp>
      <p:sp>
        <p:nvSpPr>
          <p:cNvPr id="15" name="Text 12"/>
          <p:cNvSpPr/>
          <p:nvPr/>
        </p:nvSpPr>
        <p:spPr>
          <a:xfrm>
            <a:off x="795528" y="360273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No outside knowledge: forbid parametric recall — the structural defence against F7</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SYSTEM RULES</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Only the numbered sources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Cite [n] after every claim</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Refuse if unsupported</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Prefer latest effective date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Answer in question language</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Grounded prompting converts "what does the model know?" into "what do the sources say?"</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90</a:t>
            </a:r>
            <a:endParaRPr lang="en-US" sz="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Citations an Auditor Can Actually Follow</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استشهادات يمكن للمدقق التحقق منها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Answer emits [2]</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Citation markers in square brackets after every claim in the answer</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Resolve label</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Marker maps to source metadata: doc_id, section, page, effective_date</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Verify in context</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Post-check confirms every cited source was actually in the context</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Drop inventions</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 model-invented [9] that was never in context is discarded and logged</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Trace to clause</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Chunk-level, not document-level — auditors check clauses, not whole PDFs</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Citations enable M6 faithfulness — you cannot measure grounding without knowing which source should ground each claim.</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91</a:t>
            </a:r>
            <a:endParaRPr lang="en-US" sz="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Refusal: The Hardest Discipline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الامتناع عند نقص الأدلة: أصعب انضباط</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When nothing relevant is retrieved, the system must refuse — never freestyle</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"I don't have information on that in the current policies."</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Mechanism: when all reranker scores fall below threshold τ, refuse</a:t>
            </a:r>
            <a:endParaRPr lang="en-US" sz="1400" dirty="0"/>
          </a:p>
        </p:txBody>
      </p:sp>
      <p:sp>
        <p:nvSpPr>
          <p:cNvPr id="11" name="Shape 8"/>
          <p:cNvSpPr/>
          <p:nvPr/>
        </p:nvSpPr>
        <p:spPr>
          <a:xfrm>
            <a:off x="521208" y="2935224"/>
            <a:ext cx="118872" cy="118872"/>
          </a:xfrm>
          <a:prstGeom prst="rect">
            <a:avLst/>
          </a:prstGeom>
          <a:solidFill>
            <a:srgbClr val="00A79D"/>
          </a:solidFill>
          <a:ln/>
        </p:spPr>
      </p:sp>
      <p:sp>
        <p:nvSpPr>
          <p:cNvPr id="12" name="Text 9"/>
          <p:cNvSpPr/>
          <p:nvPr/>
        </p:nvSpPr>
        <p:spPr>
          <a:xfrm>
            <a:off x="795528" y="283464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τ is tuned against the golden set: helpful answers vs confident-wrong ones</a:t>
            </a:r>
            <a:endParaRPr lang="en-US" sz="1400" dirty="0"/>
          </a:p>
        </p:txBody>
      </p:sp>
      <p:sp>
        <p:nvSpPr>
          <p:cNvPr id="13" name="Text 10"/>
          <p:cNvSpPr/>
          <p:nvPr/>
        </p:nvSpPr>
        <p:spPr>
          <a:xfrm>
            <a:off x="1069848" y="3200400"/>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design decision surfaced as a threshold — a governance dial</a:t>
            </a:r>
            <a:endParaRPr lang="en-US" sz="1150" dirty="0"/>
          </a:p>
        </p:txBody>
      </p:sp>
      <p:sp>
        <p:nvSpPr>
          <p:cNvPr id="14" name="Shape 11"/>
          <p:cNvSpPr/>
          <p:nvPr/>
        </p:nvSpPr>
        <p:spPr>
          <a:xfrm>
            <a:off x="521208" y="3703320"/>
            <a:ext cx="118872" cy="118872"/>
          </a:xfrm>
          <a:prstGeom prst="rect">
            <a:avLst/>
          </a:prstGeom>
          <a:solidFill>
            <a:srgbClr val="00A79D"/>
          </a:solidFill>
          <a:ln/>
        </p:spPr>
      </p:sp>
      <p:sp>
        <p:nvSpPr>
          <p:cNvPr id="15" name="Text 12"/>
          <p:cNvSpPr/>
          <p:nvPr/>
        </p:nvSpPr>
        <p:spPr>
          <a:xfrm>
            <a:off x="795528" y="360273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most dangerous failure is fluent confabulation on unanswerable questions</a:t>
            </a:r>
            <a:endParaRPr lang="en-US" sz="14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Under PDPL and audit regimes the citation is the compliance artefact and the refusal is the safety control.</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92</a:t>
            </a:r>
            <a:endParaRPr lang="en-US" sz="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Access Control: Defence in Depth</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التحكم في الوصول: دفاع متعدد الطبقات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4102608"/>
            <a:ext cx="9509760" cy="1127760"/>
          </a:xfrm>
          <a:prstGeom prst="rect">
            <a:avLst/>
          </a:prstGeom>
          <a:solidFill>
            <a:srgbClr val="F2F6F8"/>
          </a:solidFill>
          <a:ln w="9525">
            <a:solidFill>
              <a:srgbClr val="D9E2E8"/>
            </a:solidFill>
            <a:prstDash val="solid"/>
          </a:ln>
        </p:spPr>
      </p:sp>
      <p:sp>
        <p:nvSpPr>
          <p:cNvPr id="7" name="Shape 4"/>
          <p:cNvSpPr/>
          <p:nvPr/>
        </p:nvSpPr>
        <p:spPr>
          <a:xfrm>
            <a:off x="502920" y="4102608"/>
            <a:ext cx="91440" cy="1127760"/>
          </a:xfrm>
          <a:prstGeom prst="rect">
            <a:avLst/>
          </a:prstGeom>
          <a:solidFill>
            <a:srgbClr val="00A79D"/>
          </a:solidFill>
          <a:ln/>
        </p:spPr>
      </p:sp>
      <p:sp>
        <p:nvSpPr>
          <p:cNvPr id="8" name="Text 5"/>
          <p:cNvSpPr/>
          <p:nvPr/>
        </p:nvSpPr>
        <p:spPr>
          <a:xfrm>
            <a:off x="795528" y="4102608"/>
            <a:ext cx="2971800" cy="1127760"/>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Retrieval filter</a:t>
            </a:r>
            <a:endParaRPr lang="en-US" sz="1300" dirty="0"/>
          </a:p>
        </p:txBody>
      </p:sp>
      <p:sp>
        <p:nvSpPr>
          <p:cNvPr id="9" name="Text 6"/>
          <p:cNvSpPr/>
          <p:nvPr/>
        </p:nvSpPr>
        <p:spPr>
          <a:xfrm>
            <a:off x="3840480" y="4102608"/>
            <a:ext cx="5943600" cy="1127760"/>
          </a:xfrm>
          <a:prstGeom prst="rect">
            <a:avLst/>
          </a:prstGeom>
          <a:noFill/>
          <a:ln/>
        </p:spPr>
        <p:txBody>
          <a:bodyPr wrap="square" rtlCol="0" anchor="ctr"/>
          <a:lstStyle/>
          <a:p>
            <a:pPr indent="0" marL="0">
              <a:buNone/>
            </a:pPr>
            <a:r>
              <a:rPr lang="en-US" sz="1100" dirty="0">
                <a:solidFill>
                  <a:srgbClr val="6E7B8A"/>
                </a:solidFill>
                <a:latin typeface="Calibri" pitchFamily="34" charset="0"/>
                <a:ea typeface="Calibri" pitchFamily="34" charset="-122"/>
                <a:cs typeface="Calibri" pitchFamily="34" charset="-120"/>
              </a:rPr>
              <a:t>Qdrant payload filter by department and sensitivity at query time (M3/M4)</a:t>
            </a:r>
            <a:endParaRPr lang="en-US" sz="1100" dirty="0"/>
          </a:p>
        </p:txBody>
      </p:sp>
      <p:sp>
        <p:nvSpPr>
          <p:cNvPr id="10" name="Shape 7"/>
          <p:cNvSpPr/>
          <p:nvPr/>
        </p:nvSpPr>
        <p:spPr>
          <a:xfrm>
            <a:off x="502920" y="2865120"/>
            <a:ext cx="9509760" cy="1127760"/>
          </a:xfrm>
          <a:prstGeom prst="rect">
            <a:avLst/>
          </a:prstGeom>
          <a:solidFill>
            <a:srgbClr val="F2F6F8"/>
          </a:solidFill>
          <a:ln w="9525">
            <a:solidFill>
              <a:srgbClr val="D9E2E8"/>
            </a:solidFill>
            <a:prstDash val="solid"/>
          </a:ln>
        </p:spPr>
      </p:sp>
      <p:sp>
        <p:nvSpPr>
          <p:cNvPr id="11" name="Shape 8"/>
          <p:cNvSpPr/>
          <p:nvPr/>
        </p:nvSpPr>
        <p:spPr>
          <a:xfrm>
            <a:off x="502920" y="2865120"/>
            <a:ext cx="91440" cy="1127760"/>
          </a:xfrm>
          <a:prstGeom prst="rect">
            <a:avLst/>
          </a:prstGeom>
          <a:solidFill>
            <a:srgbClr val="29ABE2"/>
          </a:solidFill>
          <a:ln/>
        </p:spPr>
      </p:sp>
      <p:sp>
        <p:nvSpPr>
          <p:cNvPr id="12" name="Text 9"/>
          <p:cNvSpPr/>
          <p:nvPr/>
        </p:nvSpPr>
        <p:spPr>
          <a:xfrm>
            <a:off x="795528" y="2865120"/>
            <a:ext cx="2971800" cy="1127760"/>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Context re-check</a:t>
            </a:r>
            <a:endParaRPr lang="en-US" sz="1300" dirty="0"/>
          </a:p>
        </p:txBody>
      </p:sp>
      <p:sp>
        <p:nvSpPr>
          <p:cNvPr id="13" name="Text 10"/>
          <p:cNvSpPr/>
          <p:nvPr/>
        </p:nvSpPr>
        <p:spPr>
          <a:xfrm>
            <a:off x="3840480" y="2865120"/>
            <a:ext cx="5943600" cy="1127760"/>
          </a:xfrm>
          <a:prstGeom prst="rect">
            <a:avLst/>
          </a:prstGeom>
          <a:noFill/>
          <a:ln/>
        </p:spPr>
        <p:txBody>
          <a:bodyPr wrap="square" rtlCol="0" anchor="ctr"/>
          <a:lstStyle/>
          <a:p>
            <a:pPr indent="0" marL="0">
              <a:buNone/>
            </a:pPr>
            <a:r>
              <a:rPr lang="en-US" sz="1100" dirty="0">
                <a:solidFill>
                  <a:srgbClr val="6E7B8A"/>
                </a:solidFill>
                <a:latin typeface="Calibri" pitchFamily="34" charset="0"/>
                <a:ea typeface="Calibri" pitchFamily="34" charset="-122"/>
                <a:cs typeface="Calibri" pitchFamily="34" charset="-120"/>
              </a:rPr>
              <a:t>Assert every chunk entering the prompt is one the user may see — and log it</a:t>
            </a:r>
            <a:endParaRPr lang="en-US" sz="1100" dirty="0"/>
          </a:p>
        </p:txBody>
      </p:sp>
      <p:sp>
        <p:nvSpPr>
          <p:cNvPr id="14" name="Shape 11"/>
          <p:cNvSpPr/>
          <p:nvPr/>
        </p:nvSpPr>
        <p:spPr>
          <a:xfrm>
            <a:off x="502920" y="1627632"/>
            <a:ext cx="9509760" cy="1127760"/>
          </a:xfrm>
          <a:prstGeom prst="rect">
            <a:avLst/>
          </a:prstGeom>
          <a:solidFill>
            <a:srgbClr val="F2F6F8"/>
          </a:solidFill>
          <a:ln w="9525">
            <a:solidFill>
              <a:srgbClr val="D9E2E8"/>
            </a:solidFill>
            <a:prstDash val="solid"/>
          </a:ln>
        </p:spPr>
      </p:sp>
      <p:sp>
        <p:nvSpPr>
          <p:cNvPr id="15" name="Shape 12"/>
          <p:cNvSpPr/>
          <p:nvPr/>
        </p:nvSpPr>
        <p:spPr>
          <a:xfrm>
            <a:off x="502920" y="1627632"/>
            <a:ext cx="91440" cy="1127760"/>
          </a:xfrm>
          <a:prstGeom prst="rect">
            <a:avLst/>
          </a:prstGeom>
          <a:solidFill>
            <a:srgbClr val="F7941D"/>
          </a:solidFill>
          <a:ln/>
        </p:spPr>
      </p:sp>
      <p:sp>
        <p:nvSpPr>
          <p:cNvPr id="16" name="Text 13"/>
          <p:cNvSpPr/>
          <p:nvPr/>
        </p:nvSpPr>
        <p:spPr>
          <a:xfrm>
            <a:off x="795528" y="1627632"/>
            <a:ext cx="2971800" cy="1127760"/>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Audit logging</a:t>
            </a:r>
            <a:endParaRPr lang="en-US" sz="1300" dirty="0"/>
          </a:p>
        </p:txBody>
      </p:sp>
      <p:sp>
        <p:nvSpPr>
          <p:cNvPr id="17" name="Text 14"/>
          <p:cNvSpPr/>
          <p:nvPr/>
        </p:nvSpPr>
        <p:spPr>
          <a:xfrm>
            <a:off x="3840480" y="1627632"/>
            <a:ext cx="5943600" cy="1127760"/>
          </a:xfrm>
          <a:prstGeom prst="rect">
            <a:avLst/>
          </a:prstGeom>
          <a:noFill/>
          <a:ln/>
        </p:spPr>
        <p:txBody>
          <a:bodyPr wrap="square" rtlCol="0" anchor="ctr"/>
          <a:lstStyle/>
          <a:p>
            <a:pPr indent="0" marL="0">
              <a:buNone/>
            </a:pPr>
            <a:r>
              <a:rPr lang="en-US" sz="1100" dirty="0">
                <a:solidFill>
                  <a:srgbClr val="6E7B8A"/>
                </a:solidFill>
                <a:latin typeface="Calibri" pitchFamily="34" charset="0"/>
                <a:ea typeface="Calibri" pitchFamily="34" charset="-122"/>
                <a:cs typeface="Calibri" pitchFamily="34" charset="-120"/>
              </a:rPr>
              <a:t>Retrieved + cited source IDs logged per answer so answers are reconstructable</a:t>
            </a:r>
            <a:endParaRPr lang="en-US" sz="1100" dirty="0"/>
          </a:p>
        </p:txBody>
      </p:sp>
      <p:sp>
        <p:nvSpPr>
          <p:cNvPr id="18" name="Shape 15"/>
          <p:cNvSpPr/>
          <p:nvPr/>
        </p:nvSpPr>
        <p:spPr>
          <a:xfrm>
            <a:off x="10012680" y="3429000"/>
            <a:ext cx="201168" cy="914"/>
          </a:xfrm>
          <a:prstGeom prst="line">
            <a:avLst/>
          </a:prstGeom>
          <a:noFill/>
          <a:ln w="15875">
            <a:solidFill>
              <a:srgbClr val="00A79D"/>
            </a:solidFill>
            <a:prstDash val="solid"/>
          </a:ln>
        </p:spPr>
      </p:sp>
      <p:sp>
        <p:nvSpPr>
          <p:cNvPr id="19" name="Shape 16"/>
          <p:cNvSpPr/>
          <p:nvPr/>
        </p:nvSpPr>
        <p:spPr>
          <a:xfrm>
            <a:off x="10232136" y="3255264"/>
            <a:ext cx="1453896" cy="347472"/>
          </a:xfrm>
          <a:prstGeom prst="roundRect">
            <a:avLst>
              <a:gd name="adj" fmla="val 13158"/>
            </a:avLst>
          </a:prstGeom>
          <a:solidFill>
            <a:srgbClr val="E6F5F4"/>
          </a:solidFill>
          <a:ln/>
        </p:spPr>
      </p:sp>
      <p:sp>
        <p:nvSpPr>
          <p:cNvPr id="20" name="Text 17"/>
          <p:cNvSpPr/>
          <p:nvPr/>
        </p:nvSpPr>
        <p:spPr>
          <a:xfrm>
            <a:off x="10232136" y="3255264"/>
            <a:ext cx="1453896" cy="347472"/>
          </a:xfrm>
          <a:prstGeom prst="rect">
            <a:avLst/>
          </a:prstGeom>
          <a:noFill/>
          <a:ln/>
        </p:spPr>
        <p:txBody>
          <a:bodyPr wrap="square" rtlCol="0" anchor="ctr"/>
          <a:lstStyle/>
          <a:p>
            <a:pPr algn="ctr" indent="0" marL="0">
              <a:buNone/>
            </a:pPr>
            <a:r>
              <a:rPr lang="en-US" sz="950" b="1" dirty="0">
                <a:solidFill>
                  <a:srgbClr val="00A79D"/>
                </a:solidFill>
                <a:latin typeface="Calibri" pitchFamily="34" charset="0"/>
                <a:ea typeface="Calibri" pitchFamily="34" charset="-122"/>
                <a:cs typeface="Calibri" pitchFamily="34" charset="-120"/>
              </a:rPr>
              <a:t>Last gate</a:t>
            </a:r>
            <a:endParaRPr lang="en-US" sz="950" dirty="0"/>
          </a:p>
        </p:txBody>
      </p:sp>
      <p:sp>
        <p:nvSpPr>
          <p:cNvPr id="21" name="Shape 18"/>
          <p:cNvSpPr/>
          <p:nvPr/>
        </p:nvSpPr>
        <p:spPr>
          <a:xfrm>
            <a:off x="502920" y="5394960"/>
            <a:ext cx="11183112" cy="777240"/>
          </a:xfrm>
          <a:prstGeom prst="rect">
            <a:avLst/>
          </a:prstGeom>
          <a:solidFill>
            <a:srgbClr val="E6F5F4"/>
          </a:solidFill>
          <a:ln/>
        </p:spPr>
      </p:sp>
      <p:sp>
        <p:nvSpPr>
          <p:cNvPr id="22" name="Text 1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user must never receive an answer grounded in a document they are not cleared for — even by accident.</a:t>
            </a:r>
            <a:endParaRPr lang="en-US" sz="10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93</a:t>
            </a:r>
            <a:endParaRPr lang="en-US" sz="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in Context Construction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أخطاء شائعة في بناء السياق</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Stuff everything</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All retrieved chunks in the prompt: dilution, contradiction, and 4x the cost for worse answers.</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No refusal path</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system confabulates on unanswerable questions — the most dangerous failure because it is fluent.</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Document-level citations</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Auditors cannot verify at clause level; a whole-PDF citation is not checkable.</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Unverified citations</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Trusting citation markers without checking the cited source was actually in the context.</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Non-zero temperature</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Evaluated answers become noisy and irreproducible — metric deltas turn into pure noise.</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Ignoring conflicts</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Superseded and current policy both retrieved: prefer current sources or surface the conflict.</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Seventh mistake: applying access control only at retrieval and never re-asserting it at construction — a defence-in-depth gap.</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94</a:t>
            </a:r>
            <a:endParaRPr lang="en-US" sz="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context.py — The Token-Budgeted Assembler</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مُجمِّع السياق الموزون بالرموز</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context.py -- token-budgeted, access-checked, edge-ordered context (M5)</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import tiktoken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_ENC = tiktoken.get_encoding("cl100k_base")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build_context(chunks, permitted, budget=1800):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 defence-in-depth: re-assert access control at the last gate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chunks = [c for c in chunks if c.payload["department"] in permitted]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seen, kept, used = set(), [], 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c in chunks:                        # best-first from the reranker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key = c.text[:120]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key in seen:                     # collapse overlap duplicates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continue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cost = len(_ENC.encode(c.text))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used + cost &gt; budget:            # stop at the budget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break</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seen.add(key); kept.append(c); used += cost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len(kept) &gt; 2:                       # lost-in-the-middle: best at edges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kept = [kept[0], *kept[2:], kept[1]]</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list(enumerate(kept, start=1))   # numbered sources for citation</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Condensed from src/dalil/generate/context.py — access check, dedup, budget, edges</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Short and well-ordered beats stuffed: this function is where F6 is retired and cost is controlled.</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95</a:t>
            </a:r>
            <a:endParaRPr lang="en-US" sz="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answer.py — Grounded, Cited, Refusal-Capable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التوليد المقيد بالمصادر مع الامتناع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answer.py -- answer ONLY from numbered sources, cite claims, else refuse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import re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openai import OpenAI</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_llm = OpenAI(base_url="http://gateway:8080/v1")</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REFUSAL = "I don't have information on that in the current policies."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_SYSTEM = ("Answer ONLY from the numbered sources; cite the source after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"every claim, e.g. [2]. If unsupported reply exactly: " + REFUSAL)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answer(query, sources):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not sources:                          # nothing retrieved -&gt; refuse (F7)</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{"answer": REFUSAL, "citations": [], "refused": 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body = "Sources:\n" + render(sources) + "\n\nQuestion: " + query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resp = _llm.chat.completions.create(model="course-llm", temperature=0,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messages=[{"role": "system", "content": _SYSTEM},</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{"role": "user", "content": body}])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text = resp.choices[0].message.content.strip()</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valid = {s.label for s in sources}       # drop invented citation numbers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cites = sorted({int(n) for n in re.findall(r"\[(\d+)\]", text)} &amp; valid)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{"answer": text, "citations": cites, "refused": text == REFUSAL}</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Condensed from src/dalil/generate/answer.py — invented citation numbers are dropped</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Trust is verified, not assumed: extracted citations are intersected with the labels that were really in context.</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96</a:t>
            </a:r>
            <a:endParaRPr lang="en-US" sz="8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5 — Grounded, Cited Generation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الخامس: توليد موثق بالمصادر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Build the context assembler and grounded prompt, emit verifiable citations, implement insufficient-evidence refusal — prove F6 and F7 retreat on the probe set.</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969971"/>
            <a:ext cx="274320" cy="274320"/>
          </a:xfrm>
          <a:prstGeom prst="rect">
            <a:avLst/>
          </a:prstGeom>
          <a:solidFill>
            <a:srgbClr val="1D2A5C"/>
          </a:solidFill>
          <a:ln/>
        </p:spPr>
      </p:sp>
      <p:sp>
        <p:nvSpPr>
          <p:cNvPr id="13" name="Text 10"/>
          <p:cNvSpPr/>
          <p:nvPr/>
        </p:nvSpPr>
        <p:spPr>
          <a:xfrm>
            <a:off x="685800" y="2969971"/>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build_context with token budgeting and dedup; a 6-chunk shortlist fits the 1,800-token budget</a:t>
            </a:r>
            <a:endParaRPr lang="en-US" sz="1150" dirty="0"/>
          </a:p>
        </p:txBody>
      </p:sp>
      <p:sp>
        <p:nvSpPr>
          <p:cNvPr id="15" name="Shape 12"/>
          <p:cNvSpPr/>
          <p:nvPr/>
        </p:nvSpPr>
        <p:spPr>
          <a:xfrm>
            <a:off x="685800" y="3478378"/>
            <a:ext cx="274320" cy="274320"/>
          </a:xfrm>
          <a:prstGeom prst="rect">
            <a:avLst/>
          </a:prstGeom>
          <a:solidFill>
            <a:srgbClr val="1D2A5C"/>
          </a:solidFill>
          <a:ln/>
        </p:spPr>
      </p:sp>
      <p:sp>
        <p:nvSpPr>
          <p:cNvPr id="16" name="Text 13"/>
          <p:cNvSpPr/>
          <p:nvPr/>
        </p:nvSpPr>
        <p:spPr>
          <a:xfrm>
            <a:off x="685800" y="3478378"/>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36133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the grounded prompt and answer(); run five answerable probes — every answer carries [n] citations</a:t>
            </a:r>
            <a:endParaRPr lang="en-US" sz="1150" dirty="0"/>
          </a:p>
        </p:txBody>
      </p:sp>
      <p:sp>
        <p:nvSpPr>
          <p:cNvPr id="18" name="Shape 15"/>
          <p:cNvSpPr/>
          <p:nvPr/>
        </p:nvSpPr>
        <p:spPr>
          <a:xfrm>
            <a:off x="685800" y="3986784"/>
            <a:ext cx="274320" cy="274320"/>
          </a:xfrm>
          <a:prstGeom prst="rect">
            <a:avLst/>
          </a:prstGeom>
          <a:solidFill>
            <a:srgbClr val="1D2A5C"/>
          </a:solidFill>
          <a:ln/>
        </p:spPr>
      </p:sp>
      <p:sp>
        <p:nvSpPr>
          <p:cNvPr id="19" name="Text 16"/>
          <p:cNvSpPr/>
          <p:nvPr/>
        </p:nvSpPr>
        <p:spPr>
          <a:xfrm>
            <a:off x="685800" y="398678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869741"/>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refusal on the two unanswerable probes; tune refuse_below so answerable questions still pass</a:t>
            </a:r>
            <a:endParaRPr lang="en-US" sz="1150" dirty="0"/>
          </a:p>
        </p:txBody>
      </p:sp>
      <p:sp>
        <p:nvSpPr>
          <p:cNvPr id="21" name="Shape 18"/>
          <p:cNvSpPr/>
          <p:nvPr/>
        </p:nvSpPr>
        <p:spPr>
          <a:xfrm>
            <a:off x="685800" y="4495190"/>
            <a:ext cx="274320" cy="274320"/>
          </a:xfrm>
          <a:prstGeom prst="rect">
            <a:avLst/>
          </a:prstGeom>
          <a:solidFill>
            <a:srgbClr val="1D2A5C"/>
          </a:solidFill>
          <a:ln/>
        </p:spPr>
      </p:sp>
      <p:sp>
        <p:nvSpPr>
          <p:cNvPr id="22" name="Text 19"/>
          <p:cNvSpPr/>
          <p:nvPr/>
        </p:nvSpPr>
        <p:spPr>
          <a:xfrm>
            <a:off x="685800" y="4495190"/>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4378147"/>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Tempt an invented [9] and confirm the post-check drops it; add edge-ordering and re-check a long probe</a:t>
            </a:r>
            <a:endParaRPr lang="en-US" sz="1150" dirty="0"/>
          </a:p>
        </p:txBody>
      </p:sp>
      <p:sp>
        <p:nvSpPr>
          <p:cNvPr id="24" name="Shape 21"/>
          <p:cNvSpPr/>
          <p:nvPr/>
        </p:nvSpPr>
        <p:spPr>
          <a:xfrm>
            <a:off x="685800" y="5003597"/>
            <a:ext cx="274320" cy="274320"/>
          </a:xfrm>
          <a:prstGeom prst="rect">
            <a:avLst/>
          </a:prstGeom>
          <a:solidFill>
            <a:srgbClr val="1D2A5C"/>
          </a:solidFill>
          <a:ln/>
        </p:spPr>
      </p:sp>
      <p:sp>
        <p:nvSpPr>
          <p:cNvPr id="25" name="Text 22"/>
          <p:cNvSpPr/>
          <p:nvPr/>
        </p:nvSpPr>
        <p:spPr>
          <a:xfrm>
            <a:off x="685800" y="5003597"/>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88655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Verify access control: an HR query must never cite a finance-only chunk; strike F6 and F7 off the poster</a:t>
            </a:r>
            <a:endParaRPr lang="en-US" sz="1150" dirty="0"/>
          </a:p>
        </p:txBody>
      </p:sp>
      <p:sp>
        <p:nvSpPr>
          <p:cNvPr id="27" name="Shape 24"/>
          <p:cNvSpPr/>
          <p:nvPr/>
        </p:nvSpPr>
        <p:spPr>
          <a:xfrm>
            <a:off x="502920" y="5650992"/>
            <a:ext cx="11183112" cy="603504"/>
          </a:xfrm>
          <a:prstGeom prst="rect">
            <a:avLst/>
          </a:prstGeom>
          <a:solidFill>
            <a:srgbClr val="F1F8E4"/>
          </a:solidFill>
          <a:ln/>
        </p:spPr>
      </p:sp>
      <p:sp>
        <p:nvSpPr>
          <p:cNvPr id="28" name="Shape 25"/>
          <p:cNvSpPr/>
          <p:nvPr/>
        </p:nvSpPr>
        <p:spPr>
          <a:xfrm>
            <a:off x="502920" y="5650992"/>
            <a:ext cx="82296" cy="603504"/>
          </a:xfrm>
          <a:prstGeom prst="rect">
            <a:avLst/>
          </a:prstGeom>
          <a:solidFill>
            <a:srgbClr val="8CC63F"/>
          </a:solidFill>
          <a:ln/>
        </p:spPr>
      </p:sp>
      <p:sp>
        <p:nvSpPr>
          <p:cNvPr id="29" name="Text 26"/>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10/10 answerable probes cited, 2/2 unanswerable refused, 0 invented citations, 0/40 cross-department citations — commit feat(generate): grounded cited answers.</a:t>
            </a:r>
            <a:endParaRPr lang="en-US" sz="1050" dirty="0"/>
          </a:p>
        </p:txBody>
      </p:sp>
      <p:sp>
        <p:nvSpPr>
          <p:cNvPr id="30" name="Text 27"/>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1" name="Text 28"/>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97</a:t>
            </a:r>
            <a:endParaRPr lang="en-US" sz="8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Mini-Exercise: The Citation That Does Not Check Out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استشهاد لا يجتاز التحقق</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An answer cites [3] for a claim that is not present in source 3</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Decide: is the fix prompt engineering, citation verification, or reranking?</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Explain why verification catches the symptom while the root cause may differ</a:t>
            </a:r>
            <a:endParaRPr lang="en-US" sz="1400" dirty="0"/>
          </a:p>
        </p:txBody>
      </p:sp>
      <p:sp>
        <p:nvSpPr>
          <p:cNvPr id="12" name="Text 9"/>
          <p:cNvSpPr/>
          <p:nvPr/>
        </p:nvSpPr>
        <p:spPr>
          <a:xfrm>
            <a:off x="1069848" y="2907792"/>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weak chunk in context invites the model to bridge gaps itself</a:t>
            </a:r>
            <a:endParaRPr lang="en-US" sz="1150" dirty="0"/>
          </a:p>
        </p:txBody>
      </p:sp>
      <p:sp>
        <p:nvSpPr>
          <p:cNvPr id="13" name="Shape 10"/>
          <p:cNvSpPr/>
          <p:nvPr/>
        </p:nvSpPr>
        <p:spPr>
          <a:xfrm>
            <a:off x="8092440" y="1572768"/>
            <a:ext cx="3593592" cy="4782312"/>
          </a:xfrm>
          <a:prstGeom prst="rect">
            <a:avLst/>
          </a:prstGeom>
          <a:solidFill>
            <a:srgbClr val="E6F5F4"/>
          </a:solidFill>
          <a:ln/>
        </p:spPr>
      </p:sp>
      <p:sp>
        <p:nvSpPr>
          <p:cNvPr id="14" name="Text 11"/>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5" name="Text 12"/>
          <p:cNvSpPr/>
          <p:nvPr/>
        </p:nvSpPr>
        <p:spPr>
          <a:xfrm>
            <a:off x="8293608" y="2084832"/>
            <a:ext cx="3191256" cy="412394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Verification is a detector, not a cure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Check what rank source 3 had</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Would a better chunk change [3]?</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Faithfulness (M6) measures this gap</a:t>
            </a:r>
            <a:endParaRPr lang="en-US" sz="1100" dirty="0"/>
          </a:p>
        </p:txBody>
      </p:sp>
      <p:sp>
        <p:nvSpPr>
          <p:cNvPr id="16" name="Text 1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7" name="Text 1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98</a:t>
            </a:r>
            <a:endParaRPr lang="en-US" sz="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The Assistant That Would Not Say "I Don't Know"</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المساعد الذي لا يقول لا أعلم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government-services assistant, retrieval fully tuned, still fails audit: on questions outside its corpus it invents plausible policy, and its answers cite whole documents rather than clauses, so auditors cannot verify anything. In a sample of 200 answers, 12% were confident-wrong on unanswerable questions and 0% had clause-level citations. The audit unit requires traceability to a specific clause and demonstrable refusal outside its knowledge.</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What sample of unanswerable questions do you need to set the refusal threshold, and who authors them?</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Is a document-level citation ever acceptable, or is clause-level always required in a regulated setting?</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How do you prove to auditors that the refusal behaviour holds, not just that it exists?</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Where does the access-control re-check belong, and why is retrieval-only enforcement insufficient?</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99</a:t>
            </a:r>
            <a:endParaRPr lang="en-US" sz="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Benchmarks: Targets After Module 5</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الأداء بعد الوحدة الخامسة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862072"/>
                <a:gridCol w="1426464"/>
                <a:gridCol w="4032504"/>
                <a:gridCol w="286207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 after M5</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measured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Citation coverage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Grounding</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100% of answers cite ≥ 1 source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citation parser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Invented-citation rate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Grounding</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 — all cited nums in context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verification check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Refusal correctness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Safety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95% of unanswerable refused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unanswerable probe set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False-refusal rate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Helpfulness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5% on answerable probes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answerable probe set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Context token budget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Cost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1,800 tokens per context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tokenizer count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Access control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Security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 cross-department citations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filter test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Every target is measured by a script, not an opinion — a habit Module 6 turns into a regression gate.</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100</a:t>
            </a:r>
            <a:endParaRPr lang="en-US" sz="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5</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معرفي — الوحدة الخامسة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Q1</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Retrieval is perfect, yet stuffing all 16 retrieved chunks into the prompt often lowers answer accuracy. Why?</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tokenizer truncates Arabic text before English text</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Dilution, contradiction and lost-in-the-middle bury the relevant signal</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vector index returns stale embeddings for long prompts</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Longer prompts automatically raise the sampling temperature</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101</a:t>
            </a:r>
            <a:endParaRPr lang="en-US" sz="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5</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معرفي — الوحدة الخامسة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Q2</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Every answer cites a real document, yet the audit unit still rejects the assistant. What is the most likely gap?</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answers are generated at temperature 0</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corpus is bilingual, which confuses the audit tooling</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Citations point to whole documents, not the specific chunk and section</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refusal threshold is tuned too high</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C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102</a:t>
            </a:r>
            <a:endParaRPr lang="en-US" sz="8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3</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06</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RAG Evaluation Frameworks</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أطر تقييم أنظمة التوليد المعزز بالاسترجاع</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 bilingual 120-question golden set with ground truth</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Run and interpret the RAGAS metric suite with a pinned judge</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Wire a regression gate so quality cannot silently degrade</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Red-team for hallucination and staleness with measured outcomes</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103</a:t>
            </a:r>
            <a:endParaRPr lang="en-US" sz="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6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السادسة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6.1   </a:t>
            </a:r>
            <a:pPr indent="0" marL="0">
              <a:buNone/>
            </a:pPr>
            <a:r>
              <a:rPr lang="en-US" sz="1350" dirty="0">
                <a:solidFill>
                  <a:srgbClr val="2B2B2B"/>
                </a:solidFill>
                <a:latin typeface="Calibri" pitchFamily="34" charset="0"/>
                <a:ea typeface="Calibri" pitchFamily="34" charset="-122"/>
                <a:cs typeface="Calibri" pitchFamily="34" charset="-120"/>
              </a:rPr>
              <a:t>Build a golden Q&amp;A set with ground-truth answers and contexts</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6.2   </a:t>
            </a:r>
            <a:pPr indent="0" marL="0">
              <a:buNone/>
            </a:pPr>
            <a:r>
              <a:rPr lang="en-US" sz="1350" dirty="0">
                <a:solidFill>
                  <a:srgbClr val="2B2B2B"/>
                </a:solidFill>
                <a:latin typeface="Calibri" pitchFamily="34" charset="0"/>
                <a:ea typeface="Calibri" pitchFamily="34" charset="-122"/>
                <a:cs typeface="Calibri" pitchFamily="34" charset="-120"/>
              </a:rPr>
              <a:t>Run and interpret the RAGAS metric suite</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6.3   </a:t>
            </a:r>
            <a:pPr indent="0" marL="0">
              <a:buNone/>
            </a:pPr>
            <a:r>
              <a:rPr lang="en-US" sz="1350" dirty="0">
                <a:solidFill>
                  <a:srgbClr val="2B2B2B"/>
                </a:solidFill>
                <a:latin typeface="Calibri" pitchFamily="34" charset="0"/>
                <a:ea typeface="Calibri" pitchFamily="34" charset="-122"/>
                <a:cs typeface="Calibri" pitchFamily="34" charset="-120"/>
              </a:rPr>
              <a:t>Explain LLM-as-judge caveats and control for them</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6.4   </a:t>
            </a:r>
            <a:pPr indent="0" marL="0">
              <a:buNone/>
            </a:pPr>
            <a:r>
              <a:rPr lang="en-US" sz="1350" dirty="0">
                <a:solidFill>
                  <a:srgbClr val="2B2B2B"/>
                </a:solidFill>
                <a:latin typeface="Calibri" pitchFamily="34" charset="0"/>
                <a:ea typeface="Calibri" pitchFamily="34" charset="-122"/>
                <a:cs typeface="Calibri" pitchFamily="34" charset="-120"/>
              </a:rPr>
              <a:t>Store a baseline and wire a regression gate</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6.5   </a:t>
            </a:r>
            <a:pPr indent="0" marL="0">
              <a:buNone/>
            </a:pPr>
            <a:r>
              <a:rPr lang="en-US" sz="1350" dirty="0">
                <a:solidFill>
                  <a:srgbClr val="2B2B2B"/>
                </a:solidFill>
                <a:latin typeface="Calibri" pitchFamily="34" charset="0"/>
                <a:ea typeface="Calibri" pitchFamily="34" charset="-122"/>
                <a:cs typeface="Calibri" pitchFamily="34" charset="-120"/>
              </a:rPr>
              <a:t>Red-team for hallucination and staleness with measured outcomes</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104</a:t>
            </a:r>
            <a:endParaRPr lang="en-US" sz="8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One Score Cannot Localise a Regression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تفكيك المقاييس حسب مرحلة الفشل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3749040" y="2202180"/>
            <a:ext cx="1272388" cy="1203960"/>
          </a:xfrm>
          <a:prstGeom prst="line">
            <a:avLst/>
          </a:prstGeom>
          <a:noFill/>
          <a:ln w="15875">
            <a:solidFill>
              <a:srgbClr val="D9E2E8"/>
            </a:solidFill>
            <a:prstDash val="solid"/>
          </a:ln>
        </p:spPr>
      </p:sp>
      <p:sp>
        <p:nvSpPr>
          <p:cNvPr id="7" name="Shape 4"/>
          <p:cNvSpPr/>
          <p:nvPr/>
        </p:nvSpPr>
        <p:spPr>
          <a:xfrm>
            <a:off x="3749040" y="3406140"/>
            <a:ext cx="1272388" cy="914"/>
          </a:xfrm>
          <a:prstGeom prst="line">
            <a:avLst/>
          </a:prstGeom>
          <a:noFill/>
          <a:ln w="15875">
            <a:solidFill>
              <a:srgbClr val="D9E2E8"/>
            </a:solidFill>
            <a:prstDash val="solid"/>
          </a:ln>
        </p:spPr>
      </p:sp>
      <p:sp>
        <p:nvSpPr>
          <p:cNvPr id="8" name="Shape 5"/>
          <p:cNvSpPr/>
          <p:nvPr/>
        </p:nvSpPr>
        <p:spPr>
          <a:xfrm flipV="1">
            <a:off x="3749040" y="3406140"/>
            <a:ext cx="1272388" cy="1203960"/>
          </a:xfrm>
          <a:prstGeom prst="line">
            <a:avLst/>
          </a:prstGeom>
          <a:noFill/>
          <a:ln w="15875">
            <a:solidFill>
              <a:srgbClr val="D9E2E8"/>
            </a:solidFill>
            <a:prstDash val="solid"/>
          </a:ln>
        </p:spPr>
      </p:sp>
      <p:sp>
        <p:nvSpPr>
          <p:cNvPr id="9" name="Shape 6"/>
          <p:cNvSpPr/>
          <p:nvPr/>
        </p:nvSpPr>
        <p:spPr>
          <a:xfrm flipV="1">
            <a:off x="7170268" y="2503170"/>
            <a:ext cx="1269644" cy="902970"/>
          </a:xfrm>
          <a:prstGeom prst="line">
            <a:avLst/>
          </a:prstGeom>
          <a:noFill/>
          <a:ln w="15875">
            <a:solidFill>
              <a:srgbClr val="D9E2E8"/>
            </a:solidFill>
            <a:prstDash val="solid"/>
          </a:ln>
        </p:spPr>
      </p:sp>
      <p:sp>
        <p:nvSpPr>
          <p:cNvPr id="10" name="Shape 7"/>
          <p:cNvSpPr/>
          <p:nvPr/>
        </p:nvSpPr>
        <p:spPr>
          <a:xfrm>
            <a:off x="7170268" y="3406140"/>
            <a:ext cx="1269644" cy="902970"/>
          </a:xfrm>
          <a:prstGeom prst="line">
            <a:avLst/>
          </a:prstGeom>
          <a:noFill/>
          <a:ln w="15875">
            <a:solidFill>
              <a:srgbClr val="D9E2E8"/>
            </a:solidFill>
            <a:prstDash val="solid"/>
          </a:ln>
        </p:spPr>
      </p:sp>
      <p:sp>
        <p:nvSpPr>
          <p:cNvPr id="11" name="Shape 8"/>
          <p:cNvSpPr/>
          <p:nvPr/>
        </p:nvSpPr>
        <p:spPr>
          <a:xfrm>
            <a:off x="502920" y="1744980"/>
            <a:ext cx="3246120" cy="914400"/>
          </a:xfrm>
          <a:prstGeom prst="rect">
            <a:avLst/>
          </a:prstGeom>
          <a:solidFill>
            <a:srgbClr val="F2F6F8"/>
          </a:solidFill>
          <a:ln w="9525">
            <a:solidFill>
              <a:srgbClr val="D9E2E8"/>
            </a:solidFill>
            <a:prstDash val="solid"/>
          </a:ln>
        </p:spPr>
      </p:sp>
      <p:sp>
        <p:nvSpPr>
          <p:cNvPr id="12" name="Shape 9"/>
          <p:cNvSpPr/>
          <p:nvPr/>
        </p:nvSpPr>
        <p:spPr>
          <a:xfrm>
            <a:off x="502920" y="1744980"/>
            <a:ext cx="64008" cy="914400"/>
          </a:xfrm>
          <a:prstGeom prst="rect">
            <a:avLst/>
          </a:prstGeom>
          <a:solidFill>
            <a:srgbClr val="00A79D"/>
          </a:solidFill>
          <a:ln/>
        </p:spPr>
      </p:sp>
      <p:sp>
        <p:nvSpPr>
          <p:cNvPr id="13" name="Text 10"/>
          <p:cNvSpPr/>
          <p:nvPr/>
        </p:nvSpPr>
        <p:spPr>
          <a:xfrm>
            <a:off x="704088" y="181813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Context recall drop</a:t>
            </a:r>
            <a:endParaRPr lang="en-US" sz="1250" dirty="0"/>
          </a:p>
        </p:txBody>
      </p:sp>
      <p:sp>
        <p:nvSpPr>
          <p:cNvPr id="14" name="Text 11"/>
          <p:cNvSpPr/>
          <p:nvPr/>
        </p:nvSpPr>
        <p:spPr>
          <a:xfrm>
            <a:off x="704088" y="216560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Indicts retrieval — revisit M3/M4</a:t>
            </a:r>
            <a:endParaRPr lang="en-US" sz="1000" dirty="0"/>
          </a:p>
        </p:txBody>
      </p:sp>
      <p:sp>
        <p:nvSpPr>
          <p:cNvPr id="15" name="Shape 12"/>
          <p:cNvSpPr/>
          <p:nvPr/>
        </p:nvSpPr>
        <p:spPr>
          <a:xfrm>
            <a:off x="502920" y="2948940"/>
            <a:ext cx="3246120" cy="914400"/>
          </a:xfrm>
          <a:prstGeom prst="rect">
            <a:avLst/>
          </a:prstGeom>
          <a:solidFill>
            <a:srgbClr val="F2F6F8"/>
          </a:solidFill>
          <a:ln w="9525">
            <a:solidFill>
              <a:srgbClr val="D9E2E8"/>
            </a:solidFill>
            <a:prstDash val="solid"/>
          </a:ln>
        </p:spPr>
      </p:sp>
      <p:sp>
        <p:nvSpPr>
          <p:cNvPr id="16" name="Shape 13"/>
          <p:cNvSpPr/>
          <p:nvPr/>
        </p:nvSpPr>
        <p:spPr>
          <a:xfrm>
            <a:off x="502920" y="2948940"/>
            <a:ext cx="64008" cy="914400"/>
          </a:xfrm>
          <a:prstGeom prst="rect">
            <a:avLst/>
          </a:prstGeom>
          <a:solidFill>
            <a:srgbClr val="29ABE2"/>
          </a:solidFill>
          <a:ln/>
        </p:spPr>
      </p:sp>
      <p:sp>
        <p:nvSpPr>
          <p:cNvPr id="17" name="Text 14"/>
          <p:cNvSpPr/>
          <p:nvPr/>
        </p:nvSpPr>
        <p:spPr>
          <a:xfrm>
            <a:off x="704088" y="302209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Faithfulness drop</a:t>
            </a:r>
            <a:endParaRPr lang="en-US" sz="1250" dirty="0"/>
          </a:p>
        </p:txBody>
      </p:sp>
      <p:sp>
        <p:nvSpPr>
          <p:cNvPr id="18" name="Text 15"/>
          <p:cNvSpPr/>
          <p:nvPr/>
        </p:nvSpPr>
        <p:spPr>
          <a:xfrm>
            <a:off x="704088" y="336956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Context good? Then generation (M5) regressed</a:t>
            </a:r>
            <a:endParaRPr lang="en-US" sz="1000" dirty="0"/>
          </a:p>
        </p:txBody>
      </p:sp>
      <p:sp>
        <p:nvSpPr>
          <p:cNvPr id="19" name="Shape 16"/>
          <p:cNvSpPr/>
          <p:nvPr/>
        </p:nvSpPr>
        <p:spPr>
          <a:xfrm>
            <a:off x="502920" y="4152900"/>
            <a:ext cx="3246120" cy="914400"/>
          </a:xfrm>
          <a:prstGeom prst="rect">
            <a:avLst/>
          </a:prstGeom>
          <a:solidFill>
            <a:srgbClr val="F2F6F8"/>
          </a:solidFill>
          <a:ln w="9525">
            <a:solidFill>
              <a:srgbClr val="D9E2E8"/>
            </a:solidFill>
            <a:prstDash val="solid"/>
          </a:ln>
        </p:spPr>
      </p:sp>
      <p:sp>
        <p:nvSpPr>
          <p:cNvPr id="20" name="Shape 17"/>
          <p:cNvSpPr/>
          <p:nvPr/>
        </p:nvSpPr>
        <p:spPr>
          <a:xfrm>
            <a:off x="502920" y="4152900"/>
            <a:ext cx="64008" cy="914400"/>
          </a:xfrm>
          <a:prstGeom prst="rect">
            <a:avLst/>
          </a:prstGeom>
          <a:solidFill>
            <a:srgbClr val="F7941D"/>
          </a:solidFill>
          <a:ln/>
        </p:spPr>
      </p:sp>
      <p:sp>
        <p:nvSpPr>
          <p:cNvPr id="21" name="Text 18"/>
          <p:cNvSpPr/>
          <p:nvPr/>
        </p:nvSpPr>
        <p:spPr>
          <a:xfrm>
            <a:off x="704088" y="422605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Precision drop</a:t>
            </a:r>
            <a:endParaRPr lang="en-US" sz="1250" dirty="0"/>
          </a:p>
        </p:txBody>
      </p:sp>
      <p:sp>
        <p:nvSpPr>
          <p:cNvPr id="22" name="Text 19"/>
          <p:cNvSpPr/>
          <p:nvPr/>
        </p:nvSpPr>
        <p:spPr>
          <a:xfrm>
            <a:off x="704088" y="457352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Indicts the reranker (F5)</a:t>
            </a:r>
            <a:endParaRPr lang="en-US" sz="1000" dirty="0"/>
          </a:p>
        </p:txBody>
      </p:sp>
      <p:sp>
        <p:nvSpPr>
          <p:cNvPr id="23" name="Shape 20"/>
          <p:cNvSpPr/>
          <p:nvPr/>
        </p:nvSpPr>
        <p:spPr>
          <a:xfrm>
            <a:off x="8439912" y="2045970"/>
            <a:ext cx="3246120" cy="914400"/>
          </a:xfrm>
          <a:prstGeom prst="rect">
            <a:avLst/>
          </a:prstGeom>
          <a:solidFill>
            <a:srgbClr val="F2F6F8"/>
          </a:solidFill>
          <a:ln w="9525">
            <a:solidFill>
              <a:srgbClr val="D9E2E8"/>
            </a:solidFill>
            <a:prstDash val="solid"/>
          </a:ln>
        </p:spPr>
      </p:sp>
      <p:sp>
        <p:nvSpPr>
          <p:cNvPr id="24" name="Shape 21"/>
          <p:cNvSpPr/>
          <p:nvPr/>
        </p:nvSpPr>
        <p:spPr>
          <a:xfrm>
            <a:off x="8439912" y="2045970"/>
            <a:ext cx="64008" cy="914400"/>
          </a:xfrm>
          <a:prstGeom prst="rect">
            <a:avLst/>
          </a:prstGeom>
          <a:solidFill>
            <a:srgbClr val="8CC63F"/>
          </a:solidFill>
          <a:ln/>
        </p:spPr>
      </p:sp>
      <p:sp>
        <p:nvSpPr>
          <p:cNvPr id="25" name="Text 22"/>
          <p:cNvSpPr/>
          <p:nvPr/>
        </p:nvSpPr>
        <p:spPr>
          <a:xfrm>
            <a:off x="8641080" y="211912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Correctness drop alone</a:t>
            </a:r>
            <a:endParaRPr lang="en-US" sz="1250" dirty="0"/>
          </a:p>
        </p:txBody>
      </p:sp>
      <p:sp>
        <p:nvSpPr>
          <p:cNvPr id="26" name="Text 23"/>
          <p:cNvSpPr/>
          <p:nvPr/>
        </p:nvSpPr>
        <p:spPr>
          <a:xfrm>
            <a:off x="8641080" y="246659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Suspect the golden set or the question itself</a:t>
            </a:r>
            <a:endParaRPr lang="en-US" sz="1000" dirty="0"/>
          </a:p>
        </p:txBody>
      </p:sp>
      <p:sp>
        <p:nvSpPr>
          <p:cNvPr id="27" name="Shape 24"/>
          <p:cNvSpPr/>
          <p:nvPr/>
        </p:nvSpPr>
        <p:spPr>
          <a:xfrm>
            <a:off x="8439912" y="3851910"/>
            <a:ext cx="3246120" cy="914400"/>
          </a:xfrm>
          <a:prstGeom prst="rect">
            <a:avLst/>
          </a:prstGeom>
          <a:solidFill>
            <a:srgbClr val="F2F6F8"/>
          </a:solidFill>
          <a:ln w="9525">
            <a:solidFill>
              <a:srgbClr val="D9E2E8"/>
            </a:solidFill>
            <a:prstDash val="solid"/>
          </a:ln>
        </p:spPr>
      </p:sp>
      <p:sp>
        <p:nvSpPr>
          <p:cNvPr id="28" name="Shape 25"/>
          <p:cNvSpPr/>
          <p:nvPr/>
        </p:nvSpPr>
        <p:spPr>
          <a:xfrm>
            <a:off x="8439912" y="3851910"/>
            <a:ext cx="64008" cy="914400"/>
          </a:xfrm>
          <a:prstGeom prst="rect">
            <a:avLst/>
          </a:prstGeom>
          <a:solidFill>
            <a:srgbClr val="1D2A5C"/>
          </a:solidFill>
          <a:ln/>
        </p:spPr>
      </p:sp>
      <p:sp>
        <p:nvSpPr>
          <p:cNvPr id="29" name="Text 26"/>
          <p:cNvSpPr/>
          <p:nvPr/>
        </p:nvSpPr>
        <p:spPr>
          <a:xfrm>
            <a:off x="8641080" y="392506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Relevancy drop</a:t>
            </a:r>
            <a:endParaRPr lang="en-US" sz="1250" dirty="0"/>
          </a:p>
        </p:txBody>
      </p:sp>
      <p:sp>
        <p:nvSpPr>
          <p:cNvPr id="30" name="Text 27"/>
          <p:cNvSpPr/>
          <p:nvPr/>
        </p:nvSpPr>
        <p:spPr>
          <a:xfrm>
            <a:off x="8641080" y="427253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Generation drifts off the question asked</a:t>
            </a:r>
            <a:endParaRPr lang="en-US" sz="1000" dirty="0"/>
          </a:p>
        </p:txBody>
      </p:sp>
      <p:sp>
        <p:nvSpPr>
          <p:cNvPr id="31" name="Shape 28"/>
          <p:cNvSpPr/>
          <p:nvPr/>
        </p:nvSpPr>
        <p:spPr>
          <a:xfrm>
            <a:off x="4838548" y="2743200"/>
            <a:ext cx="2514600" cy="1325880"/>
          </a:xfrm>
          <a:prstGeom prst="ellipse">
            <a:avLst/>
          </a:prstGeom>
          <a:solidFill>
            <a:srgbClr val="1D2A5C"/>
          </a:solidFill>
          <a:ln w="19050">
            <a:solidFill>
              <a:srgbClr val="00A79D"/>
            </a:solidFill>
            <a:prstDash val="solid"/>
          </a:ln>
        </p:spPr>
      </p:sp>
      <p:sp>
        <p:nvSpPr>
          <p:cNvPr id="32" name="Text 29"/>
          <p:cNvSpPr/>
          <p:nvPr/>
        </p:nvSpPr>
        <p:spPr>
          <a:xfrm>
            <a:off x="4975708" y="2743200"/>
            <a:ext cx="2240280" cy="13258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Which stage broke?</a:t>
            </a:r>
            <a:endParaRPr lang="en-US" sz="1400" dirty="0"/>
          </a:p>
        </p:txBody>
      </p:sp>
      <p:sp>
        <p:nvSpPr>
          <p:cNvPr id="33" name="Shape 30"/>
          <p:cNvSpPr/>
          <p:nvPr/>
        </p:nvSpPr>
        <p:spPr>
          <a:xfrm>
            <a:off x="502920" y="5394960"/>
            <a:ext cx="11183112" cy="777240"/>
          </a:xfrm>
          <a:prstGeom prst="rect">
            <a:avLst/>
          </a:prstGeom>
          <a:solidFill>
            <a:srgbClr val="E6F5F4"/>
          </a:solidFill>
          <a:ln/>
        </p:spPr>
      </p:sp>
      <p:sp>
        <p:nvSpPr>
          <p:cNvPr id="34" name="Text 31"/>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single accuracy number conflates retrieval and generation failures — a metric suite tells you where to look.</a:t>
            </a:r>
            <a:endParaRPr lang="en-US" sz="1050" dirty="0"/>
          </a:p>
        </p:txBody>
      </p:sp>
      <p:sp>
        <p:nvSpPr>
          <p:cNvPr id="35" name="Text 3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6" name="Text 3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105</a:t>
            </a:r>
            <a:endParaRPr lang="en-US" sz="8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RAGAS Metric Suite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حزمة مقاييس راغاس للتقييم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Faithfulness</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Is every claim in the answer supported by the retrieved context? Indicts generation (F7). Reference-free.</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Answer relevancy</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Does the answer actually address the question? Indicts generation. Reference-free.</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Context precision</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Are the retrieved chunks relevant and well ranked? Indicts retrieval and rerank (F5). Reference-free.</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Context recall</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Did retrieval fetch the evidence the ground truth needs? Indicts retrieval. Needs ground truth.</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Answer correctness</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Is the answer factually right versus the reference? End-to-end signal. Needs ground truth.</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The headline</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Faithfulness puts a number on ungrounded fluency — the dangerous failure Module 1 named.</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Computed per question over (question, retrieved contexts, answer, ground truth) — reference-free and reference-based metrics mixed.</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106</a:t>
            </a:r>
            <a:endParaRPr lang="en-US" sz="8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Golden Set: Your Measuring Instrument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المجموعة الذهبية: أداة القياس</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Coverage: span query classes and difficulty — plus unanswerable and stale questions</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Refusal and freshness are measured, not assumed</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Ground truth: a reference answer plus the doc and chunk that contain it</a:t>
            </a:r>
            <a:endParaRPr lang="en-US" sz="1400" dirty="0"/>
          </a:p>
        </p:txBody>
      </p:sp>
      <p:sp>
        <p:nvSpPr>
          <p:cNvPr id="11" name="Text 8"/>
          <p:cNvSpPr/>
          <p:nvPr/>
        </p:nvSpPr>
        <p:spPr>
          <a:xfrm>
            <a:off x="1069848" y="272491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Unanswerable questions carry ground truth = the refusal string</a:t>
            </a:r>
            <a:endParaRPr lang="en-US" sz="1150" dirty="0"/>
          </a:p>
        </p:txBody>
      </p:sp>
      <p:sp>
        <p:nvSpPr>
          <p:cNvPr id="12" name="Shape 9"/>
          <p:cNvSpPr/>
          <p:nvPr/>
        </p:nvSpPr>
        <p:spPr>
          <a:xfrm>
            <a:off x="521208" y="3227832"/>
            <a:ext cx="118872" cy="118872"/>
          </a:xfrm>
          <a:prstGeom prst="rect">
            <a:avLst/>
          </a:prstGeom>
          <a:solidFill>
            <a:srgbClr val="00A79D"/>
          </a:solidFill>
          <a:ln/>
        </p:spPr>
      </p:sp>
      <p:sp>
        <p:nvSpPr>
          <p:cNvPr id="13" name="Text 10"/>
          <p:cNvSpPr/>
          <p:nvPr/>
        </p:nvSpPr>
        <p:spPr>
          <a:xfrm>
            <a:off x="795528" y="312724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Bilingual: Arabic and English with the same rigour — Arabic is first-class</a:t>
            </a:r>
            <a:endParaRPr lang="en-US" sz="1400" dirty="0"/>
          </a:p>
        </p:txBody>
      </p:sp>
      <p:sp>
        <p:nvSpPr>
          <p:cNvPr id="14" name="Shape 11"/>
          <p:cNvSpPr/>
          <p:nvPr/>
        </p:nvSpPr>
        <p:spPr>
          <a:xfrm>
            <a:off x="521208" y="3703320"/>
            <a:ext cx="118872" cy="118872"/>
          </a:xfrm>
          <a:prstGeom prst="rect">
            <a:avLst/>
          </a:prstGeom>
          <a:solidFill>
            <a:srgbClr val="00A79D"/>
          </a:solidFill>
          <a:ln/>
        </p:spPr>
      </p:sp>
      <p:sp>
        <p:nvSpPr>
          <p:cNvPr id="15" name="Text 12"/>
          <p:cNvSpPr/>
          <p:nvPr/>
        </p:nvSpPr>
        <p:spPr>
          <a:xfrm>
            <a:off x="795528" y="360273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120 questions (golden_qa_v1.jsonl): stable enough, small enough to run in CI</a:t>
            </a:r>
            <a:endParaRPr lang="en-US" sz="1400" dirty="0"/>
          </a:p>
        </p:txBody>
      </p:sp>
      <p:sp>
        <p:nvSpPr>
          <p:cNvPr id="16" name="Text 13"/>
          <p:cNvSpPr/>
          <p:nvPr/>
        </p:nvSpPr>
        <p:spPr>
          <a:xfrm>
            <a:off x="1069848" y="396849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Freeze it — adding questions is a deliberate, versioned act</a:t>
            </a:r>
            <a:endParaRPr lang="en-US" sz="115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bad instrument makes all measurements meaningless — invest in the golden set before trusting any score.</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107</a:t>
            </a:r>
            <a:endParaRPr lang="en-US" sz="8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LLM-as-Judge: Powerful, Not Free of Pitfalls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محاذير الاعتماد على النموذج الحكم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5463540"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4823460"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Non-determinism</a:t>
            </a:r>
            <a:endParaRPr lang="en-US" sz="1300" dirty="0"/>
          </a:p>
        </p:txBody>
      </p:sp>
      <p:sp>
        <p:nvSpPr>
          <p:cNvPr id="9" name="Text 6"/>
          <p:cNvSpPr/>
          <p:nvPr/>
        </p:nvSpPr>
        <p:spPr>
          <a:xfrm>
            <a:off x="722376" y="2194560"/>
            <a:ext cx="5024628"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Pin the judge model and temperature 0, or scores wobble run-to-run and improvement is noise.</a:t>
            </a:r>
            <a:endParaRPr lang="en-US" sz="1050" dirty="0"/>
          </a:p>
        </p:txBody>
      </p:sp>
      <p:sp>
        <p:nvSpPr>
          <p:cNvPr id="10" name="Shape 7"/>
          <p:cNvSpPr/>
          <p:nvPr/>
        </p:nvSpPr>
        <p:spPr>
          <a:xfrm>
            <a:off x="6222492" y="1627632"/>
            <a:ext cx="5463540" cy="1673352"/>
          </a:xfrm>
          <a:prstGeom prst="rect">
            <a:avLst/>
          </a:prstGeom>
          <a:solidFill>
            <a:srgbClr val="F2F6F8"/>
          </a:solidFill>
          <a:ln w="9525">
            <a:solidFill>
              <a:srgbClr val="D9E2E8"/>
            </a:solidFill>
            <a:prstDash val="solid"/>
          </a:ln>
        </p:spPr>
      </p:sp>
      <p:sp>
        <p:nvSpPr>
          <p:cNvPr id="11" name="Shape 8"/>
          <p:cNvSpPr/>
          <p:nvPr/>
        </p:nvSpPr>
        <p:spPr>
          <a:xfrm>
            <a:off x="6423660" y="1847088"/>
            <a:ext cx="146304" cy="146304"/>
          </a:xfrm>
          <a:prstGeom prst="ellipse">
            <a:avLst/>
          </a:prstGeom>
          <a:solidFill>
            <a:srgbClr val="29ABE2"/>
          </a:solidFill>
          <a:ln/>
        </p:spPr>
      </p:sp>
      <p:sp>
        <p:nvSpPr>
          <p:cNvPr id="12" name="Text 9"/>
          <p:cNvSpPr/>
          <p:nvPr/>
        </p:nvSpPr>
        <p:spPr>
          <a:xfrm>
            <a:off x="6679692" y="1737360"/>
            <a:ext cx="4823460"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Judge bias</a:t>
            </a:r>
            <a:endParaRPr lang="en-US" sz="1300" dirty="0"/>
          </a:p>
        </p:txBody>
      </p:sp>
      <p:sp>
        <p:nvSpPr>
          <p:cNvPr id="13" name="Text 10"/>
          <p:cNvSpPr/>
          <p:nvPr/>
        </p:nvSpPr>
        <p:spPr>
          <a:xfrm>
            <a:off x="6441948" y="2194560"/>
            <a:ext cx="5024628"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Judges can favour verbose or confident answers — calibrate against a human-labelled subset.</a:t>
            </a:r>
            <a:endParaRPr lang="en-US" sz="1050" dirty="0"/>
          </a:p>
        </p:txBody>
      </p:sp>
      <p:sp>
        <p:nvSpPr>
          <p:cNvPr id="14" name="Shape 11"/>
          <p:cNvSpPr/>
          <p:nvPr/>
        </p:nvSpPr>
        <p:spPr>
          <a:xfrm>
            <a:off x="502920" y="3557016"/>
            <a:ext cx="5463540" cy="1673352"/>
          </a:xfrm>
          <a:prstGeom prst="rect">
            <a:avLst/>
          </a:prstGeom>
          <a:solidFill>
            <a:srgbClr val="F2F6F8"/>
          </a:solidFill>
          <a:ln w="9525">
            <a:solidFill>
              <a:srgbClr val="D9E2E8"/>
            </a:solidFill>
            <a:prstDash val="solid"/>
          </a:ln>
        </p:spPr>
      </p:sp>
      <p:sp>
        <p:nvSpPr>
          <p:cNvPr id="15" name="Shape 12"/>
          <p:cNvSpPr/>
          <p:nvPr/>
        </p:nvSpPr>
        <p:spPr>
          <a:xfrm>
            <a:off x="704088" y="3776472"/>
            <a:ext cx="146304" cy="146304"/>
          </a:xfrm>
          <a:prstGeom prst="ellipse">
            <a:avLst/>
          </a:prstGeom>
          <a:solidFill>
            <a:srgbClr val="F7941D"/>
          </a:solidFill>
          <a:ln/>
        </p:spPr>
      </p:sp>
      <p:sp>
        <p:nvSpPr>
          <p:cNvPr id="16" name="Text 13"/>
          <p:cNvSpPr/>
          <p:nvPr/>
        </p:nvSpPr>
        <p:spPr>
          <a:xfrm>
            <a:off x="960120" y="3666744"/>
            <a:ext cx="4823460"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Cost and latency</a:t>
            </a:r>
            <a:endParaRPr lang="en-US" sz="1300" dirty="0"/>
          </a:p>
        </p:txBody>
      </p:sp>
      <p:sp>
        <p:nvSpPr>
          <p:cNvPr id="17" name="Text 14"/>
          <p:cNvSpPr/>
          <p:nvPr/>
        </p:nvSpPr>
        <p:spPr>
          <a:xfrm>
            <a:off x="722376" y="4123944"/>
            <a:ext cx="5024628"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120 questions x several metrics is many LLM calls: budget it, cache, keep the judge fixed.</a:t>
            </a:r>
            <a:endParaRPr lang="en-US" sz="1050" dirty="0"/>
          </a:p>
        </p:txBody>
      </p:sp>
      <p:sp>
        <p:nvSpPr>
          <p:cNvPr id="18" name="Shape 15"/>
          <p:cNvSpPr/>
          <p:nvPr/>
        </p:nvSpPr>
        <p:spPr>
          <a:xfrm>
            <a:off x="6222492" y="3557016"/>
            <a:ext cx="5463540" cy="1673352"/>
          </a:xfrm>
          <a:prstGeom prst="rect">
            <a:avLst/>
          </a:prstGeom>
          <a:solidFill>
            <a:srgbClr val="F2F6F8"/>
          </a:solidFill>
          <a:ln w="9525">
            <a:solidFill>
              <a:srgbClr val="D9E2E8"/>
            </a:solidFill>
            <a:prstDash val="solid"/>
          </a:ln>
        </p:spPr>
      </p:sp>
      <p:sp>
        <p:nvSpPr>
          <p:cNvPr id="19" name="Shape 16"/>
          <p:cNvSpPr/>
          <p:nvPr/>
        </p:nvSpPr>
        <p:spPr>
          <a:xfrm>
            <a:off x="6423660" y="3776472"/>
            <a:ext cx="146304" cy="146304"/>
          </a:xfrm>
          <a:prstGeom prst="ellipse">
            <a:avLst/>
          </a:prstGeom>
          <a:solidFill>
            <a:srgbClr val="8CC63F"/>
          </a:solidFill>
          <a:ln/>
        </p:spPr>
      </p:sp>
      <p:sp>
        <p:nvSpPr>
          <p:cNvPr id="20" name="Text 17"/>
          <p:cNvSpPr/>
          <p:nvPr/>
        </p:nvSpPr>
        <p:spPr>
          <a:xfrm>
            <a:off x="6679692" y="3666744"/>
            <a:ext cx="4823460"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Not ground truth</a:t>
            </a:r>
            <a:endParaRPr lang="en-US" sz="1300" dirty="0"/>
          </a:p>
        </p:txBody>
      </p:sp>
      <p:sp>
        <p:nvSpPr>
          <p:cNvPr id="21" name="Text 18"/>
          <p:cNvSpPr/>
          <p:nvPr/>
        </p:nvSpPr>
        <p:spPr>
          <a:xfrm>
            <a:off x="6441948" y="4123944"/>
            <a:ext cx="5024628"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judge is an estimator: treat a 0.02 delta as noise, a 0.10 drop as a real regression.</a:t>
            </a:r>
            <a:endParaRPr lang="en-US" sz="1050" dirty="0"/>
          </a:p>
        </p:txBody>
      </p:sp>
      <p:sp>
        <p:nvSpPr>
          <p:cNvPr id="22" name="Shape 19"/>
          <p:cNvSpPr/>
          <p:nvPr/>
        </p:nvSpPr>
        <p:spPr>
          <a:xfrm>
            <a:off x="502920" y="5394960"/>
            <a:ext cx="11183112" cy="777240"/>
          </a:xfrm>
          <a:prstGeom prst="rect">
            <a:avLst/>
          </a:prstGeom>
          <a:solidFill>
            <a:srgbClr val="E6F5F4"/>
          </a:solidFill>
          <a:ln/>
        </p:spPr>
      </p:sp>
      <p:sp>
        <p:nvSpPr>
          <p:cNvPr id="23" name="Text 20"/>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metric you have not checked against humans is a number you do not understand.</a:t>
            </a:r>
            <a:endParaRPr lang="en-US" sz="1050" dirty="0"/>
          </a:p>
        </p:txBody>
      </p:sp>
      <p:sp>
        <p:nvSpPr>
          <p:cNvPr id="24" name="Text 21"/>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5" name="Text 22"/>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108</a:t>
            </a:r>
            <a:endParaRPr lang="en-US" sz="8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Regression Gate: Evaluation That Changes Behaviour</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بوابة منع التراجع في التكامل المستمر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Change</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 chunking tweak or prompt edit lands in a pull request</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Evaluate</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RAGAS runs over the frozen golden set with the pinned judge</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Compare</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The metric vector is checked against the stored baseline.json</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Gate</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CI fails if faithfulness or context recall drops more than 0.03 below baseline</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Merge or block</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Green merges with confidence; red blocks; the report is attached as evidence</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green regression gate is what lets a team ship frequently instead of fearfully.</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109</a:t>
            </a:r>
            <a:endParaRPr lang="en-US" sz="8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Staleness Drill, Measured</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تقادم المعرفة بالأرقام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74520"/>
            <a:ext cx="2555748" cy="3063240"/>
          </a:xfrm>
          <a:prstGeom prst="rect">
            <a:avLst/>
          </a:prstGeom>
          <a:solidFill>
            <a:srgbClr val="F2F6F8"/>
          </a:solidFill>
          <a:ln w="9525">
            <a:solidFill>
              <a:srgbClr val="D9E2E8"/>
            </a:solidFill>
            <a:prstDash val="solid"/>
          </a:ln>
        </p:spPr>
      </p:sp>
      <p:sp>
        <p:nvSpPr>
          <p:cNvPr id="7" name="Shape 4"/>
          <p:cNvSpPr/>
          <p:nvPr/>
        </p:nvSpPr>
        <p:spPr>
          <a:xfrm>
            <a:off x="502920" y="1874520"/>
            <a:ext cx="2555748" cy="73152"/>
          </a:xfrm>
          <a:prstGeom prst="rect">
            <a:avLst/>
          </a:prstGeom>
          <a:solidFill>
            <a:srgbClr val="00A79D"/>
          </a:solidFill>
          <a:ln/>
        </p:spPr>
      </p:sp>
      <p:sp>
        <p:nvSpPr>
          <p:cNvPr id="8" name="Text 5"/>
          <p:cNvSpPr/>
          <p:nvPr/>
        </p:nvSpPr>
        <p:spPr>
          <a:xfrm>
            <a:off x="594360"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0.91</a:t>
            </a:r>
            <a:endParaRPr lang="en-US" sz="4000" dirty="0"/>
          </a:p>
        </p:txBody>
      </p:sp>
      <p:sp>
        <p:nvSpPr>
          <p:cNvPr id="9" name="Text 6"/>
          <p:cNvSpPr/>
          <p:nvPr/>
        </p:nvSpPr>
        <p:spPr>
          <a:xfrm>
            <a:off x="685800"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Faithfulness, full stack</a:t>
            </a:r>
            <a:endParaRPr lang="en-US" sz="1300" dirty="0"/>
          </a:p>
        </p:txBody>
      </p:sp>
      <p:sp>
        <p:nvSpPr>
          <p:cNvPr id="10" name="Text 7"/>
          <p:cNvSpPr/>
          <p:nvPr/>
        </p:nvSpPr>
        <p:spPr>
          <a:xfrm>
            <a:off x="685800"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Baseline over the 120-question golden set</a:t>
            </a:r>
            <a:endParaRPr lang="en-US" sz="1050" dirty="0"/>
          </a:p>
        </p:txBody>
      </p:sp>
      <p:sp>
        <p:nvSpPr>
          <p:cNvPr id="11" name="Shape 8"/>
          <p:cNvSpPr/>
          <p:nvPr/>
        </p:nvSpPr>
        <p:spPr>
          <a:xfrm>
            <a:off x="3378708" y="1874520"/>
            <a:ext cx="2555748" cy="3063240"/>
          </a:xfrm>
          <a:prstGeom prst="rect">
            <a:avLst/>
          </a:prstGeom>
          <a:solidFill>
            <a:srgbClr val="F2F6F8"/>
          </a:solidFill>
          <a:ln w="9525">
            <a:solidFill>
              <a:srgbClr val="D9E2E8"/>
            </a:solidFill>
            <a:prstDash val="solid"/>
          </a:ln>
        </p:spPr>
      </p:sp>
      <p:sp>
        <p:nvSpPr>
          <p:cNvPr id="12" name="Shape 9"/>
          <p:cNvSpPr/>
          <p:nvPr/>
        </p:nvSpPr>
        <p:spPr>
          <a:xfrm>
            <a:off x="3378708" y="1874520"/>
            <a:ext cx="2555748" cy="73152"/>
          </a:xfrm>
          <a:prstGeom prst="rect">
            <a:avLst/>
          </a:prstGeom>
          <a:solidFill>
            <a:srgbClr val="29ABE2"/>
          </a:solidFill>
          <a:ln/>
        </p:spPr>
      </p:sp>
      <p:sp>
        <p:nvSpPr>
          <p:cNvPr id="13" name="Text 10"/>
          <p:cNvSpPr/>
          <p:nvPr/>
        </p:nvSpPr>
        <p:spPr>
          <a:xfrm>
            <a:off x="3470148"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0.55</a:t>
            </a:r>
            <a:endParaRPr lang="en-US" sz="4000" dirty="0"/>
          </a:p>
        </p:txBody>
      </p:sp>
      <p:sp>
        <p:nvSpPr>
          <p:cNvPr id="14" name="Text 11"/>
          <p:cNvSpPr/>
          <p:nvPr/>
        </p:nvSpPr>
        <p:spPr>
          <a:xfrm>
            <a:off x="3561588"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Answered-stale, filtering off</a:t>
            </a:r>
            <a:endParaRPr lang="en-US" sz="1300" dirty="0"/>
          </a:p>
        </p:txBody>
      </p:sp>
      <p:sp>
        <p:nvSpPr>
          <p:cNvPr id="15" name="Text 12"/>
          <p:cNvSpPr/>
          <p:nvPr/>
        </p:nvSpPr>
        <p:spPr>
          <a:xfrm>
            <a:off x="3561588"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Corpus v2 questions answered from old docs</a:t>
            </a:r>
            <a:endParaRPr lang="en-US" sz="1050" dirty="0"/>
          </a:p>
        </p:txBody>
      </p:sp>
      <p:sp>
        <p:nvSpPr>
          <p:cNvPr id="16" name="Shape 13"/>
          <p:cNvSpPr/>
          <p:nvPr/>
        </p:nvSpPr>
        <p:spPr>
          <a:xfrm>
            <a:off x="6254496" y="1874520"/>
            <a:ext cx="2555748" cy="3063240"/>
          </a:xfrm>
          <a:prstGeom prst="rect">
            <a:avLst/>
          </a:prstGeom>
          <a:solidFill>
            <a:srgbClr val="F2F6F8"/>
          </a:solidFill>
          <a:ln w="9525">
            <a:solidFill>
              <a:srgbClr val="D9E2E8"/>
            </a:solidFill>
            <a:prstDash val="solid"/>
          </a:ln>
        </p:spPr>
      </p:sp>
      <p:sp>
        <p:nvSpPr>
          <p:cNvPr id="17" name="Shape 14"/>
          <p:cNvSpPr/>
          <p:nvPr/>
        </p:nvSpPr>
        <p:spPr>
          <a:xfrm>
            <a:off x="6254496" y="1874520"/>
            <a:ext cx="2555748" cy="73152"/>
          </a:xfrm>
          <a:prstGeom prst="rect">
            <a:avLst/>
          </a:prstGeom>
          <a:solidFill>
            <a:srgbClr val="F7941D"/>
          </a:solidFill>
          <a:ln/>
        </p:spPr>
      </p:sp>
      <p:sp>
        <p:nvSpPr>
          <p:cNvPr id="18" name="Text 15"/>
          <p:cNvSpPr/>
          <p:nvPr/>
        </p:nvSpPr>
        <p:spPr>
          <a:xfrm>
            <a:off x="6345936"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0.01</a:t>
            </a:r>
            <a:endParaRPr lang="en-US" sz="4000" dirty="0"/>
          </a:p>
        </p:txBody>
      </p:sp>
      <p:sp>
        <p:nvSpPr>
          <p:cNvPr id="19" name="Text 16"/>
          <p:cNvSpPr/>
          <p:nvPr/>
        </p:nvSpPr>
        <p:spPr>
          <a:xfrm>
            <a:off x="6437376"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Answered-stale, filtering on</a:t>
            </a:r>
            <a:endParaRPr lang="en-US" sz="1300" dirty="0"/>
          </a:p>
        </p:txBody>
      </p:sp>
      <p:sp>
        <p:nvSpPr>
          <p:cNvPr id="20" name="Text 17"/>
          <p:cNvSpPr/>
          <p:nvPr/>
        </p:nvSpPr>
        <p:spPr>
          <a:xfrm>
            <a:off x="6437376"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Lifecycle metadata + freshness filtering</a:t>
            </a:r>
            <a:endParaRPr lang="en-US" sz="1050" dirty="0"/>
          </a:p>
        </p:txBody>
      </p:sp>
      <p:sp>
        <p:nvSpPr>
          <p:cNvPr id="21" name="Shape 18"/>
          <p:cNvSpPr/>
          <p:nvPr/>
        </p:nvSpPr>
        <p:spPr>
          <a:xfrm>
            <a:off x="9130284" y="1874520"/>
            <a:ext cx="2555748" cy="3063240"/>
          </a:xfrm>
          <a:prstGeom prst="rect">
            <a:avLst/>
          </a:prstGeom>
          <a:solidFill>
            <a:srgbClr val="F2F6F8"/>
          </a:solidFill>
          <a:ln w="9525">
            <a:solidFill>
              <a:srgbClr val="D9E2E8"/>
            </a:solidFill>
            <a:prstDash val="solid"/>
          </a:ln>
        </p:spPr>
      </p:sp>
      <p:sp>
        <p:nvSpPr>
          <p:cNvPr id="22" name="Shape 19"/>
          <p:cNvSpPr/>
          <p:nvPr/>
        </p:nvSpPr>
        <p:spPr>
          <a:xfrm>
            <a:off x="9130284" y="1874520"/>
            <a:ext cx="2555748" cy="73152"/>
          </a:xfrm>
          <a:prstGeom prst="rect">
            <a:avLst/>
          </a:prstGeom>
          <a:solidFill>
            <a:srgbClr val="8CC63F"/>
          </a:solidFill>
          <a:ln/>
        </p:spPr>
      </p:sp>
      <p:sp>
        <p:nvSpPr>
          <p:cNvPr id="23" name="Text 20"/>
          <p:cNvSpPr/>
          <p:nvPr/>
        </p:nvSpPr>
        <p:spPr>
          <a:xfrm>
            <a:off x="9221724"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0.03</a:t>
            </a:r>
            <a:endParaRPr lang="en-US" sz="4000" dirty="0"/>
          </a:p>
        </p:txBody>
      </p:sp>
      <p:sp>
        <p:nvSpPr>
          <p:cNvPr id="24" name="Text 21"/>
          <p:cNvSpPr/>
          <p:nvPr/>
        </p:nvSpPr>
        <p:spPr>
          <a:xfrm>
            <a:off x="9313164"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Regression gate tolerance</a:t>
            </a:r>
            <a:endParaRPr lang="en-US" sz="1300" dirty="0"/>
          </a:p>
        </p:txBody>
      </p:sp>
      <p:sp>
        <p:nvSpPr>
          <p:cNvPr id="25" name="Text 22"/>
          <p:cNvSpPr/>
          <p:nvPr/>
        </p:nvSpPr>
        <p:spPr>
          <a:xfrm>
            <a:off x="9313164"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CI blocks any larger metric drop</a:t>
            </a:r>
            <a:endParaRPr lang="en-US" sz="10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same question answered right with filtering on and wrong with it off is the golden thread paying off — F8 defeated, with numbers.</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110</a:t>
            </a:r>
            <a:endParaRPr lang="en-US" sz="8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Red-Teaming: The Final, Numeric Verdict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الهجوم العدائي: الحكم النهائي بالأرقام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Attack with adversarial questions: unanswerable, stale, internally conflicting</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Measure refusal correctness and freshness — F7 and F8 get their final verdict</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Day 4 drill: corpus v2 supersedes v1 documents, so correct answers change</a:t>
            </a:r>
            <a:endParaRPr lang="en-US" sz="1400" dirty="0"/>
          </a:p>
        </p:txBody>
      </p:sp>
      <p:sp>
        <p:nvSpPr>
          <p:cNvPr id="12" name="Text 9"/>
          <p:cNvSpPr/>
          <p:nvPr/>
        </p:nvSpPr>
        <p:spPr>
          <a:xfrm>
            <a:off x="1069848" y="290779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Without lifecycle metadata the correctness metric fails — proving F8 was real</a:t>
            </a:r>
            <a:endParaRPr lang="en-US" sz="1150" dirty="0"/>
          </a:p>
        </p:txBody>
      </p:sp>
      <p:sp>
        <p:nvSpPr>
          <p:cNvPr id="13" name="Shape 10"/>
          <p:cNvSpPr/>
          <p:nvPr/>
        </p:nvSpPr>
        <p:spPr>
          <a:xfrm>
            <a:off x="521208" y="3410712"/>
            <a:ext cx="118872" cy="118872"/>
          </a:xfrm>
          <a:prstGeom prst="rect">
            <a:avLst/>
          </a:prstGeom>
          <a:solidFill>
            <a:srgbClr val="00A79D"/>
          </a:solidFill>
          <a:ln/>
        </p:spPr>
      </p:sp>
      <p:sp>
        <p:nvSpPr>
          <p:cNvPr id="14" name="Text 11"/>
          <p:cNvSpPr/>
          <p:nvPr/>
        </p:nvSpPr>
        <p:spPr>
          <a:xfrm>
            <a:off x="795528" y="331012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In production: continuous eval on anonymised real queries, drift monitoring</a:t>
            </a:r>
            <a:endParaRPr lang="en-US" sz="1400" dirty="0"/>
          </a:p>
        </p:txBody>
      </p:sp>
      <p:sp>
        <p:nvSpPr>
          <p:cNvPr id="15" name="Text 12"/>
          <p:cNvSpPr/>
          <p:nvPr/>
        </p:nvSpPr>
        <p:spPr>
          <a:xfrm>
            <a:off x="1069848" y="3675888"/>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Human review of low-faithfulness answers; eval report attached to every release</a:t>
            </a:r>
            <a:endParaRPr lang="en-US" sz="115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In SAMA-style, PDPL-aligned reviews the eval report is the sign-off — an evidence pack, not a claim.</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111</a:t>
            </a:r>
            <a:endParaRPr lang="en-US" sz="8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in RAG Evaluation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أخطاء شائعة في تقييم الأنظمة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One accuracy number</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Cannot localise a regression to a stage — decomposition is the whole point of the suite.</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Tiny golden set</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Small or unbalanced sets give stable-looking scores that miss whole query classes.</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Unpinned judge</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 non-pinned judge model or temperature makes metric deltas pure noise, not signal.</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Skipping faithfulness</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answers look good" is exactly F7 — looking good is not being grounded.</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No hard questions</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Without unanswerable and stale questions, refusal and freshness are never measured.</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Casual re-baselining</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Regenerating the baseline just to make CI green disables the regression gate entirely.</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gate exists to prevent exactly these habits — and the gate itself dies if the baseline is regenerated casually.</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112</a:t>
            </a:r>
            <a:endParaRPr lang="en-US" sz="8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ragas_harness.py — Five Metrics, One Run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منصة تشغيل مقاييس التقييم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ragas_harness.py -- RAGAS suite over the 120-question golden set (M6)</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import json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datasets import Dataset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ragas import evaluate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ragas.metrics import (faithfulness, answer_relevancy, context_precision,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context_recall, answer_correctness)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dalil.generate.pipeline import ask_dalil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run_evaluation(golden="eval/golden_qa_v1.jsonl"):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rows =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line in open(golden, encoding="utf-8"):</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g = json.loads(line)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 = ask_dalil(g["question"], department=g.get("department", "public"))</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rows.append({"question": g["question"], "answer": r["answer"],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"contexts": [c["text"] for c in r.get("contexts",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"ground_truth": g["ground_truth"]})  # refusal if no answer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report = evaluate(Dataset.from_list(rows), metrics=[faithfulness,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answer_relevancy, context_precision, context_recall, answer_correctness])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{k: round(float(v), 3) for k, v in report.items()}  # pinned judge</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Condensed from src/dalil/evaluation/ragas_harness.py — judge pinned, temperature 0</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Pinned judge plus temperature zero is what makes scores comparable and gate-able across releases.</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113</a:t>
            </a:r>
            <a:endParaRPr lang="en-US" sz="8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gate.py — Fail the Build on Regression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بوابة كشف التراجع في الجودة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gate.py -- fail the build if quality regresses beyond tolerance (CI)</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import json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TOLERANCE = 0.03</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GATED = ("faithfulness", "context_recall")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check_regression(current, baseline_path="eval/baseline.json"):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baseline = json.load(open(baseline_path))</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failures =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metric in GATED: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drop = baseline[metric] - current[metric]</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drop &gt; TOLERANCE: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failures.append(f"{metric}: {current[metric]:.3f}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f"(baseline {baseline[metric]:.3f}, -{drop:.3f})")</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failures: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print("REGRESSION GATE FAILED:\n" + "\n".join(failures))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1                             # non-zero exit blocks the merge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print(f"Regression gate PASSED (tolerance {TOLERANCE})")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0</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Condensed from src/dalil/evaluation/gate.py — wired into the Makefile and CI</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This is what lets the team change the pipeline without fear: a drop beyond 0.03 cannot merge silently.</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114</a:t>
            </a:r>
            <a:endParaRPr lang="en-US" sz="8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6 — Evaluation Harness and Baseline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السادس: منصة التقييم وخط الأساس</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Run RAGAS over the 120-question golden set, store the baseline, wire a regression gate into CI, and run the staleness red-team — F7 and F8 measured.</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969971"/>
            <a:ext cx="274320" cy="274320"/>
          </a:xfrm>
          <a:prstGeom prst="rect">
            <a:avLst/>
          </a:prstGeom>
          <a:solidFill>
            <a:srgbClr val="1D2A5C"/>
          </a:solidFill>
          <a:ln/>
        </p:spPr>
      </p:sp>
      <p:sp>
        <p:nvSpPr>
          <p:cNvPr id="13" name="Text 10"/>
          <p:cNvSpPr/>
          <p:nvPr/>
        </p:nvSpPr>
        <p:spPr>
          <a:xfrm>
            <a:off x="685800" y="2969971"/>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Run the harness over golden_qa_v1.jsonl; read the five metrics — which stage does a weak one indict?</a:t>
            </a:r>
            <a:endParaRPr lang="en-US" sz="1150" dirty="0"/>
          </a:p>
        </p:txBody>
      </p:sp>
      <p:sp>
        <p:nvSpPr>
          <p:cNvPr id="15" name="Shape 12"/>
          <p:cNvSpPr/>
          <p:nvPr/>
        </p:nvSpPr>
        <p:spPr>
          <a:xfrm>
            <a:off x="685800" y="3478378"/>
            <a:ext cx="274320" cy="274320"/>
          </a:xfrm>
          <a:prstGeom prst="rect">
            <a:avLst/>
          </a:prstGeom>
          <a:solidFill>
            <a:srgbClr val="1D2A5C"/>
          </a:solidFill>
          <a:ln/>
        </p:spPr>
      </p:sp>
      <p:sp>
        <p:nvSpPr>
          <p:cNvPr id="16" name="Text 13"/>
          <p:cNvSpPr/>
          <p:nvPr/>
        </p:nvSpPr>
        <p:spPr>
          <a:xfrm>
            <a:off x="685800" y="3478378"/>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36133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Store baseline.json; disable the reranker and re-run — watch context precision and faithfulness drop</a:t>
            </a:r>
            <a:endParaRPr lang="en-US" sz="1150" dirty="0"/>
          </a:p>
        </p:txBody>
      </p:sp>
      <p:sp>
        <p:nvSpPr>
          <p:cNvPr id="18" name="Shape 15"/>
          <p:cNvSpPr/>
          <p:nvPr/>
        </p:nvSpPr>
        <p:spPr>
          <a:xfrm>
            <a:off x="685800" y="3986784"/>
            <a:ext cx="274320" cy="274320"/>
          </a:xfrm>
          <a:prstGeom prst="rect">
            <a:avLst/>
          </a:prstGeom>
          <a:solidFill>
            <a:srgbClr val="1D2A5C"/>
          </a:solidFill>
          <a:ln/>
        </p:spPr>
      </p:sp>
      <p:sp>
        <p:nvSpPr>
          <p:cNvPr id="19" name="Text 16"/>
          <p:cNvSpPr/>
          <p:nvPr/>
        </p:nvSpPr>
        <p:spPr>
          <a:xfrm>
            <a:off x="685800" y="398678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869741"/>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Wire gate.py into the Makefile and CI; open a PR with a faithfulness-lowering change and watch it block</a:t>
            </a:r>
            <a:endParaRPr lang="en-US" sz="1150" dirty="0"/>
          </a:p>
        </p:txBody>
      </p:sp>
      <p:sp>
        <p:nvSpPr>
          <p:cNvPr id="21" name="Shape 18"/>
          <p:cNvSpPr/>
          <p:nvPr/>
        </p:nvSpPr>
        <p:spPr>
          <a:xfrm>
            <a:off x="685800" y="4495190"/>
            <a:ext cx="274320" cy="274320"/>
          </a:xfrm>
          <a:prstGeom prst="rect">
            <a:avLst/>
          </a:prstGeom>
          <a:solidFill>
            <a:srgbClr val="1D2A5C"/>
          </a:solidFill>
          <a:ln/>
        </p:spPr>
      </p:sp>
      <p:sp>
        <p:nvSpPr>
          <p:cNvPr id="22" name="Text 19"/>
          <p:cNvSpPr/>
          <p:nvPr/>
        </p:nvSpPr>
        <p:spPr>
          <a:xfrm>
            <a:off x="685800" y="4495190"/>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4378147"/>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Run the staleness red-team on corpus v2: answered-stale ~0 filtering on; toggle off and watch it spike</a:t>
            </a:r>
            <a:endParaRPr lang="en-US" sz="1150" dirty="0"/>
          </a:p>
        </p:txBody>
      </p:sp>
      <p:sp>
        <p:nvSpPr>
          <p:cNvPr id="24" name="Shape 21"/>
          <p:cNvSpPr/>
          <p:nvPr/>
        </p:nvSpPr>
        <p:spPr>
          <a:xfrm>
            <a:off x="685800" y="5003597"/>
            <a:ext cx="274320" cy="274320"/>
          </a:xfrm>
          <a:prstGeom prst="rect">
            <a:avLst/>
          </a:prstGeom>
          <a:solidFill>
            <a:srgbClr val="1D2A5C"/>
          </a:solidFill>
          <a:ln/>
        </p:spPr>
      </p:sp>
      <p:sp>
        <p:nvSpPr>
          <p:cNvPr id="25" name="Text 22"/>
          <p:cNvSpPr/>
          <p:nvPr/>
        </p:nvSpPr>
        <p:spPr>
          <a:xfrm>
            <a:off x="685800" y="5003597"/>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88655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Calibrate the judge against 10 human labels; strike F8 off the poster; commit feat(eval): harness + gate</a:t>
            </a:r>
            <a:endParaRPr lang="en-US" sz="1150" dirty="0"/>
          </a:p>
        </p:txBody>
      </p:sp>
      <p:sp>
        <p:nvSpPr>
          <p:cNvPr id="27" name="Shape 24"/>
          <p:cNvSpPr/>
          <p:nvPr/>
        </p:nvSpPr>
        <p:spPr>
          <a:xfrm>
            <a:off x="502920" y="5650992"/>
            <a:ext cx="11183112" cy="603504"/>
          </a:xfrm>
          <a:prstGeom prst="rect">
            <a:avLst/>
          </a:prstGeom>
          <a:solidFill>
            <a:srgbClr val="F1F8E4"/>
          </a:solidFill>
          <a:ln/>
        </p:spPr>
      </p:sp>
      <p:sp>
        <p:nvSpPr>
          <p:cNvPr id="28" name="Shape 25"/>
          <p:cNvSpPr/>
          <p:nvPr/>
        </p:nvSpPr>
        <p:spPr>
          <a:xfrm>
            <a:off x="502920" y="5650992"/>
            <a:ext cx="82296" cy="603504"/>
          </a:xfrm>
          <a:prstGeom prst="rect">
            <a:avLst/>
          </a:prstGeom>
          <a:solidFill>
            <a:srgbClr val="8CC63F"/>
          </a:solidFill>
          <a:ln/>
        </p:spPr>
      </p:sp>
      <p:sp>
        <p:nvSpPr>
          <p:cNvPr id="29" name="Text 26"/>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A stored RAGAS baseline, a regression gate that demonstrably blocks a real drop, and a staleness result near zero with lifecycle filtering on.</a:t>
            </a:r>
            <a:endParaRPr lang="en-US" sz="1050" dirty="0"/>
          </a:p>
        </p:txBody>
      </p:sp>
      <p:sp>
        <p:nvSpPr>
          <p:cNvPr id="30" name="Text 27"/>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1" name="Text 28"/>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115</a:t>
            </a:r>
            <a:endParaRPr lang="en-US" sz="8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Mini-Exercise: System Regression or Stale Reference?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تراجع النظام أم تقادم المرجع؟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Answer correctness fell; faithfulness and context recall are unchanged</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Decide: did the system regress, or did a golden reference answer go stale?</a:t>
            </a:r>
            <a:endParaRPr lang="en-US" sz="1400" dirty="0"/>
          </a:p>
        </p:txBody>
      </p:sp>
      <p:sp>
        <p:nvSpPr>
          <p:cNvPr id="10" name="Text 7"/>
          <p:cNvSpPr/>
          <p:nvPr/>
        </p:nvSpPr>
        <p:spPr>
          <a:xfrm>
            <a:off x="1069848" y="2432304"/>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Corpus v2 may have changed the correct answer after the set was written</a:t>
            </a:r>
            <a:endParaRPr lang="en-US" sz="1150" dirty="0"/>
          </a:p>
        </p:txBody>
      </p:sp>
      <p:sp>
        <p:nvSpPr>
          <p:cNvPr id="11" name="Shape 8"/>
          <p:cNvSpPr/>
          <p:nvPr/>
        </p:nvSpPr>
        <p:spPr>
          <a:xfrm>
            <a:off x="521208" y="2935224"/>
            <a:ext cx="118872" cy="118872"/>
          </a:xfrm>
          <a:prstGeom prst="rect">
            <a:avLst/>
          </a:prstGeom>
          <a:solidFill>
            <a:srgbClr val="00A79D"/>
          </a:solidFill>
          <a:ln/>
        </p:spPr>
      </p:sp>
      <p:sp>
        <p:nvSpPr>
          <p:cNvPr id="12" name="Text 9"/>
          <p:cNvSpPr/>
          <p:nvPr/>
        </p:nvSpPr>
        <p:spPr>
          <a:xfrm>
            <a:off x="795528" y="283464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Design the check that tells the two cases apart</a:t>
            </a:r>
            <a:endParaRPr lang="en-US" sz="1400" dirty="0"/>
          </a:p>
        </p:txBody>
      </p:sp>
      <p:sp>
        <p:nvSpPr>
          <p:cNvPr id="13" name="Shape 10"/>
          <p:cNvSpPr/>
          <p:nvPr/>
        </p:nvSpPr>
        <p:spPr>
          <a:xfrm>
            <a:off x="8092440" y="1572768"/>
            <a:ext cx="3593592" cy="4782312"/>
          </a:xfrm>
          <a:prstGeom prst="rect">
            <a:avLst/>
          </a:prstGeom>
          <a:solidFill>
            <a:srgbClr val="E6F5F4"/>
          </a:solidFill>
          <a:ln/>
        </p:spPr>
      </p:sp>
      <p:sp>
        <p:nvSpPr>
          <p:cNvPr id="14" name="Text 11"/>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5" name="Text 12"/>
          <p:cNvSpPr/>
          <p:nvPr/>
        </p:nvSpPr>
        <p:spPr>
          <a:xfrm>
            <a:off x="8293608" y="2084832"/>
            <a:ext cx="3191256" cy="412394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Which stage does correctness indict?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Re-read the failing references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Diff answers against corpus v2</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Faithfulness held — evidence was used</a:t>
            </a:r>
            <a:endParaRPr lang="en-US" sz="1100" dirty="0"/>
          </a:p>
        </p:txBody>
      </p:sp>
      <p:sp>
        <p:nvSpPr>
          <p:cNvPr id="16" name="Text 1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7" name="Text 1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116</a:t>
            </a:r>
            <a:endParaRPr lang="en-US" sz="8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Proving the Assistant Is Safe Before Launch</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إثبات أمان المساعد قبل الإطلاق</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government digital-services team is ready to launch Dalil but cannot get sign-off: leadership asks how they know it does not make things up and that it uses current policy. The team has demos, not evidence, and a structured evaluation must be stood up in a week. Sign-off requires an evidence pack a non-engineer risk officer can read, the eval must run in CI in minutes, and the mid-cycle policy update must be evidence, not a footnote.</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Which single metric would you put in front of leadership, and why faithfulness over accuracy?</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How large and how balanced must the golden set be to be credible without being unrunnable in CI?</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staleness result depends on M2 metadata and M5 filtering — how do you show that to non-engineers?</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What is the ongoing evaluation cadence after launch, and what triggers a re-baseline?</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117</a:t>
            </a:r>
            <a:endParaRPr lang="en-US" sz="8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Benchmarks: Targets After Module 6</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الأداء بعد الوحدة السادسة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19"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273552"/>
                <a:gridCol w="1911096"/>
                <a:gridCol w="3273552"/>
                <a:gridCol w="272491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 after M6</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measured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Faithfulness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Grounding (F7)</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0.90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RAGAS, pinned judge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Context recall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Retrieval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0.88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RAGAS (ground truth)</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Context precision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Rerank quality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0.82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RAGAS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Answer correctness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End-to-end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0.80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RAGAS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Answered-stale rate (F8)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Freshness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0.02 with filtering 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staleness red-team</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Regression gate present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Governance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CI fails on &gt; 0.03 drop</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gate run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These numbers reappear in tomorrow's capstone rubric — the baseline run is the reference the demos are judged against.</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118</a:t>
            </a:r>
            <a:endParaRPr lang="en-US" sz="8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6</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معرفي — الوحدة السادسة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Q3</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Which RAGAS metric directly measures ungrounded fluency — the fluent but unsupported answer (F7)?</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Answer relevancy</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Context precision</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Faithfulness</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Answer correctness</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C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119</a:t>
            </a:r>
            <a:endParaRPr lang="en-US" sz="8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6</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معرفي — الوحدة السادسة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Q4</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After a release, context recall dropped sharply while faithfulness held steady. Which stage should you investigate first?</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grounded prompt in the generation stage</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retrieval stack — embeddings, hybrid search, reranking</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LLM-as-judge configuration</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refusal threshold in the pipeline</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120</a:t>
            </a:r>
            <a:endParaRPr lang="en-US" sz="8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4 — Advanced Patterns and Production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الرابع — الأنماط المتقدمة والإنتاج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1481328" y="1170432"/>
            <a:ext cx="960120" cy="274320"/>
          </a:xfrm>
          <a:prstGeom prst="roundRect">
            <a:avLst>
              <a:gd name="adj" fmla="val 20000"/>
            </a:avLst>
          </a:prstGeom>
          <a:solidFill>
            <a:srgbClr val="1D2A5C"/>
          </a:solidFill>
          <a:ln/>
        </p:spPr>
      </p:sp>
      <p:sp>
        <p:nvSpPr>
          <p:cNvPr id="7" name="Text 4"/>
          <p:cNvSpPr/>
          <p:nvPr/>
        </p:nvSpPr>
        <p:spPr>
          <a:xfrm>
            <a:off x="1481328" y="1170432"/>
            <a:ext cx="960120" cy="27432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DAY 4</a:t>
            </a:r>
            <a:endParaRPr lang="en-US" sz="1000" dirty="0"/>
          </a:p>
        </p:txBody>
      </p:sp>
      <p:sp>
        <p:nvSpPr>
          <p:cNvPr id="8" name="Shape 5"/>
          <p:cNvSpPr/>
          <p:nvPr/>
        </p:nvSpPr>
        <p:spPr>
          <a:xfrm>
            <a:off x="502920" y="1645920"/>
            <a:ext cx="11183112" cy="548640"/>
          </a:xfrm>
          <a:prstGeom prst="rect">
            <a:avLst/>
          </a:prstGeom>
          <a:solidFill>
            <a:srgbClr val="F2F6F8"/>
          </a:solidFill>
          <a:ln w="9525">
            <a:solidFill>
              <a:srgbClr val="D9E2E8"/>
            </a:solidFill>
            <a:prstDash val="solid"/>
          </a:ln>
        </p:spPr>
      </p:sp>
      <p:sp>
        <p:nvSpPr>
          <p:cNvPr id="9" name="Text 6"/>
          <p:cNvSpPr/>
          <p:nvPr/>
        </p:nvSpPr>
        <p:spPr>
          <a:xfrm>
            <a:off x="731520" y="16459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1</a:t>
            </a:r>
            <a:endParaRPr lang="en-US" sz="1250" dirty="0"/>
          </a:p>
        </p:txBody>
      </p:sp>
      <p:sp>
        <p:nvSpPr>
          <p:cNvPr id="10" name="Text 7"/>
          <p:cNvSpPr/>
          <p:nvPr/>
        </p:nvSpPr>
        <p:spPr>
          <a:xfrm>
            <a:off x="2423160" y="16459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M7: Multi-hop and agentic RAG — lecture + pattern gallery</a:t>
            </a:r>
            <a:endParaRPr lang="en-US" sz="1250" dirty="0"/>
          </a:p>
        </p:txBody>
      </p:sp>
      <p:sp>
        <p:nvSpPr>
          <p:cNvPr id="11" name="Shape 8"/>
          <p:cNvSpPr/>
          <p:nvPr/>
        </p:nvSpPr>
        <p:spPr>
          <a:xfrm>
            <a:off x="9784080" y="1773936"/>
            <a:ext cx="1691640" cy="292608"/>
          </a:xfrm>
          <a:prstGeom prst="roundRect">
            <a:avLst>
              <a:gd name="adj" fmla="val 15625"/>
            </a:avLst>
          </a:prstGeom>
          <a:solidFill>
            <a:srgbClr val="E6F5F4"/>
          </a:solidFill>
          <a:ln/>
        </p:spPr>
      </p:sp>
      <p:sp>
        <p:nvSpPr>
          <p:cNvPr id="12" name="Text 9"/>
          <p:cNvSpPr/>
          <p:nvPr/>
        </p:nvSpPr>
        <p:spPr>
          <a:xfrm>
            <a:off x="9784080" y="177393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13" name="Shape 10"/>
          <p:cNvSpPr/>
          <p:nvPr/>
        </p:nvSpPr>
        <p:spPr>
          <a:xfrm>
            <a:off x="502920" y="2286000"/>
            <a:ext cx="11183112" cy="548640"/>
          </a:xfrm>
          <a:prstGeom prst="rect">
            <a:avLst/>
          </a:prstGeom>
          <a:solidFill>
            <a:srgbClr val="FFFFFF"/>
          </a:solidFill>
          <a:ln w="9525">
            <a:solidFill>
              <a:srgbClr val="D9E2E8"/>
            </a:solidFill>
            <a:prstDash val="solid"/>
          </a:ln>
        </p:spPr>
      </p:sp>
      <p:sp>
        <p:nvSpPr>
          <p:cNvPr id="14" name="Text 11"/>
          <p:cNvSpPr/>
          <p:nvPr/>
        </p:nvSpPr>
        <p:spPr>
          <a:xfrm>
            <a:off x="731520" y="228600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2</a:t>
            </a:r>
            <a:endParaRPr lang="en-US" sz="1250" dirty="0"/>
          </a:p>
        </p:txBody>
      </p:sp>
      <p:sp>
        <p:nvSpPr>
          <p:cNvPr id="15" name="Text 12"/>
          <p:cNvSpPr/>
          <p:nvPr/>
        </p:nvSpPr>
        <p:spPr>
          <a:xfrm>
            <a:off x="2423160" y="228600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7: Multi-hop and query intelligence</a:t>
            </a:r>
            <a:endParaRPr lang="en-US" sz="1250" dirty="0"/>
          </a:p>
        </p:txBody>
      </p:sp>
      <p:sp>
        <p:nvSpPr>
          <p:cNvPr id="16" name="Shape 13"/>
          <p:cNvSpPr/>
          <p:nvPr/>
        </p:nvSpPr>
        <p:spPr>
          <a:xfrm>
            <a:off x="9784080" y="2414016"/>
            <a:ext cx="1691640" cy="292608"/>
          </a:xfrm>
          <a:prstGeom prst="roundRect">
            <a:avLst>
              <a:gd name="adj" fmla="val 15625"/>
            </a:avLst>
          </a:prstGeom>
          <a:solidFill>
            <a:srgbClr val="FEF3E3"/>
          </a:solidFill>
          <a:ln/>
        </p:spPr>
      </p:sp>
      <p:sp>
        <p:nvSpPr>
          <p:cNvPr id="17" name="Text 14"/>
          <p:cNvSpPr/>
          <p:nvPr/>
        </p:nvSpPr>
        <p:spPr>
          <a:xfrm>
            <a:off x="9784080" y="241401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18" name="Shape 15"/>
          <p:cNvSpPr/>
          <p:nvPr/>
        </p:nvSpPr>
        <p:spPr>
          <a:xfrm>
            <a:off x="502920" y="2926080"/>
            <a:ext cx="11183112" cy="548640"/>
          </a:xfrm>
          <a:prstGeom prst="rect">
            <a:avLst/>
          </a:prstGeom>
          <a:solidFill>
            <a:srgbClr val="F2F6F8"/>
          </a:solidFill>
          <a:ln w="9525">
            <a:solidFill>
              <a:srgbClr val="D9E2E8"/>
            </a:solidFill>
            <a:prstDash val="solid"/>
          </a:ln>
        </p:spPr>
      </p:sp>
      <p:sp>
        <p:nvSpPr>
          <p:cNvPr id="19" name="Text 16"/>
          <p:cNvSpPr/>
          <p:nvPr/>
        </p:nvSpPr>
        <p:spPr>
          <a:xfrm>
            <a:off x="731520" y="292608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3</a:t>
            </a:r>
            <a:endParaRPr lang="en-US" sz="1250" dirty="0"/>
          </a:p>
        </p:txBody>
      </p:sp>
      <p:sp>
        <p:nvSpPr>
          <p:cNvPr id="20" name="Text 17"/>
          <p:cNvSpPr/>
          <p:nvPr/>
        </p:nvSpPr>
        <p:spPr>
          <a:xfrm>
            <a:off x="2423160" y="292608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Capstone assembly I — integrate stages, freeze corpus v2</a:t>
            </a:r>
            <a:endParaRPr lang="en-US" sz="1250" dirty="0"/>
          </a:p>
        </p:txBody>
      </p:sp>
      <p:sp>
        <p:nvSpPr>
          <p:cNvPr id="21" name="Shape 18"/>
          <p:cNvSpPr/>
          <p:nvPr/>
        </p:nvSpPr>
        <p:spPr>
          <a:xfrm>
            <a:off x="9784080" y="3054096"/>
            <a:ext cx="1691640" cy="292608"/>
          </a:xfrm>
          <a:prstGeom prst="roundRect">
            <a:avLst>
              <a:gd name="adj" fmla="val 15625"/>
            </a:avLst>
          </a:prstGeom>
          <a:solidFill>
            <a:srgbClr val="FEF3E3"/>
          </a:solidFill>
          <a:ln/>
        </p:spPr>
      </p:sp>
      <p:sp>
        <p:nvSpPr>
          <p:cNvPr id="22" name="Text 19"/>
          <p:cNvSpPr/>
          <p:nvPr/>
        </p:nvSpPr>
        <p:spPr>
          <a:xfrm>
            <a:off x="9784080" y="305409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23" name="Shape 20"/>
          <p:cNvSpPr/>
          <p:nvPr/>
        </p:nvSpPr>
        <p:spPr>
          <a:xfrm>
            <a:off x="502920" y="3566160"/>
            <a:ext cx="11183112" cy="548640"/>
          </a:xfrm>
          <a:prstGeom prst="rect">
            <a:avLst/>
          </a:prstGeom>
          <a:solidFill>
            <a:srgbClr val="FFFFFF"/>
          </a:solidFill>
          <a:ln w="9525">
            <a:solidFill>
              <a:srgbClr val="D9E2E8"/>
            </a:solidFill>
            <a:prstDash val="solid"/>
          </a:ln>
        </p:spPr>
      </p:sp>
      <p:sp>
        <p:nvSpPr>
          <p:cNvPr id="24" name="Text 21"/>
          <p:cNvSpPr/>
          <p:nvPr/>
        </p:nvSpPr>
        <p:spPr>
          <a:xfrm>
            <a:off x="731520" y="356616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4</a:t>
            </a:r>
            <a:endParaRPr lang="en-US" sz="1250" dirty="0"/>
          </a:p>
        </p:txBody>
      </p:sp>
      <p:sp>
        <p:nvSpPr>
          <p:cNvPr id="25" name="Text 22"/>
          <p:cNvSpPr/>
          <p:nvPr/>
        </p:nvSpPr>
        <p:spPr>
          <a:xfrm>
            <a:off x="2423160" y="356616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Capstone assembly II — tune to rubric, EVALUATION.md, peer review</a:t>
            </a:r>
            <a:endParaRPr lang="en-US" sz="1250" dirty="0"/>
          </a:p>
        </p:txBody>
      </p:sp>
      <p:sp>
        <p:nvSpPr>
          <p:cNvPr id="26" name="Shape 23"/>
          <p:cNvSpPr/>
          <p:nvPr/>
        </p:nvSpPr>
        <p:spPr>
          <a:xfrm>
            <a:off x="9784080" y="3694176"/>
            <a:ext cx="1691640" cy="292608"/>
          </a:xfrm>
          <a:prstGeom prst="roundRect">
            <a:avLst>
              <a:gd name="adj" fmla="val 15625"/>
            </a:avLst>
          </a:prstGeom>
          <a:solidFill>
            <a:srgbClr val="FEF3E3"/>
          </a:solidFill>
          <a:ln/>
        </p:spPr>
      </p:sp>
      <p:sp>
        <p:nvSpPr>
          <p:cNvPr id="27" name="Text 24"/>
          <p:cNvSpPr/>
          <p:nvPr/>
        </p:nvSpPr>
        <p:spPr>
          <a:xfrm>
            <a:off x="9784080" y="369417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28" name="Shape 25"/>
          <p:cNvSpPr/>
          <p:nvPr/>
        </p:nvSpPr>
        <p:spPr>
          <a:xfrm>
            <a:off x="502920" y="4206240"/>
            <a:ext cx="11183112" cy="548640"/>
          </a:xfrm>
          <a:prstGeom prst="rect">
            <a:avLst/>
          </a:prstGeom>
          <a:solidFill>
            <a:srgbClr val="F2F6F8"/>
          </a:solidFill>
          <a:ln w="9525">
            <a:solidFill>
              <a:srgbClr val="D9E2E8"/>
            </a:solidFill>
            <a:prstDash val="solid"/>
          </a:ln>
        </p:spPr>
      </p:sp>
      <p:sp>
        <p:nvSpPr>
          <p:cNvPr id="29" name="Text 26"/>
          <p:cNvSpPr/>
          <p:nvPr/>
        </p:nvSpPr>
        <p:spPr>
          <a:xfrm>
            <a:off x="731520" y="420624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5</a:t>
            </a:r>
            <a:endParaRPr lang="en-US" sz="1250" dirty="0"/>
          </a:p>
        </p:txBody>
      </p:sp>
      <p:sp>
        <p:nvSpPr>
          <p:cNvPr id="30" name="Text 27"/>
          <p:cNvSpPr/>
          <p:nvPr/>
        </p:nvSpPr>
        <p:spPr>
          <a:xfrm>
            <a:off x="2423160" y="420624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Capstone demos + rubric scoring + path to SDA-AIE-311</a:t>
            </a:r>
            <a:endParaRPr lang="en-US" sz="1250" dirty="0"/>
          </a:p>
        </p:txBody>
      </p:sp>
      <p:sp>
        <p:nvSpPr>
          <p:cNvPr id="31" name="Shape 28"/>
          <p:cNvSpPr/>
          <p:nvPr/>
        </p:nvSpPr>
        <p:spPr>
          <a:xfrm>
            <a:off x="9784080" y="4334256"/>
            <a:ext cx="1691640" cy="292608"/>
          </a:xfrm>
          <a:prstGeom prst="roundRect">
            <a:avLst>
              <a:gd name="adj" fmla="val 15625"/>
            </a:avLst>
          </a:prstGeom>
          <a:solidFill>
            <a:srgbClr val="EAF6FC"/>
          </a:solidFill>
          <a:ln/>
        </p:spPr>
      </p:sp>
      <p:sp>
        <p:nvSpPr>
          <p:cNvPr id="32" name="Text 29"/>
          <p:cNvSpPr/>
          <p:nvPr/>
        </p:nvSpPr>
        <p:spPr>
          <a:xfrm>
            <a:off x="9784080" y="4334256"/>
            <a:ext cx="1691640" cy="292608"/>
          </a:xfrm>
          <a:prstGeom prst="rect">
            <a:avLst/>
          </a:prstGeom>
          <a:noFill/>
          <a:ln/>
        </p:spPr>
        <p:txBody>
          <a:bodyPr wrap="square" rtlCol="0" anchor="ctr"/>
          <a:lstStyle/>
          <a:p>
            <a:pPr algn="ctr" indent="0" marL="0">
              <a:buNone/>
            </a:pPr>
            <a:r>
              <a:rPr lang="en-US" sz="950" b="1" spc="150" kern="0" dirty="0">
                <a:solidFill>
                  <a:srgbClr val="29ABE2"/>
                </a:solidFill>
                <a:latin typeface="Calibri" pitchFamily="34" charset="0"/>
                <a:ea typeface="Calibri" pitchFamily="34" charset="-122"/>
                <a:cs typeface="Calibri" pitchFamily="34" charset="-120"/>
              </a:rPr>
              <a:t>QUIZ</a:t>
            </a:r>
            <a:endParaRPr lang="en-US" sz="950" dirty="0"/>
          </a:p>
        </p:txBody>
      </p:sp>
      <p:sp>
        <p:nvSpPr>
          <p:cNvPr id="33" name="Text 3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4" name="Text 3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121</a:t>
            </a:r>
            <a:endParaRPr lang="en-US" sz="8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4</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07</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Advanced Patterns: Multi-Hop and Agentic RAG</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الأنماط المتقدمة: الاسترجاع متعدد الخطوات والوكيل الذكي</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Recover recall on vague questions with rewriting and multi-query expansion</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Decompose compositional questions and retrieve across hops</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Grade retrieval and retry with a bounded corrective loop</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Route every query to the cheapest sufficient path — and prove it pays</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122</a:t>
            </a:r>
            <a:endParaRPr lang="en-US" sz="8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7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السابعة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7.1   </a:t>
            </a:r>
            <a:pPr indent="0" marL="0">
              <a:buNone/>
            </a:pPr>
            <a:r>
              <a:rPr lang="en-US" sz="1350" dirty="0">
                <a:solidFill>
                  <a:srgbClr val="2B2B2B"/>
                </a:solidFill>
                <a:latin typeface="Calibri" pitchFamily="34" charset="0"/>
                <a:ea typeface="Calibri" pitchFamily="34" charset="-122"/>
                <a:cs typeface="Calibri" pitchFamily="34" charset="-120"/>
              </a:rPr>
              <a:t>Implement query rewriting and multi-query expansion to recover weak-phrasing recall</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7.2   </a:t>
            </a:r>
            <a:pPr indent="0" marL="0">
              <a:buNone/>
            </a:pPr>
            <a:r>
              <a:rPr lang="en-US" sz="1350" dirty="0">
                <a:solidFill>
                  <a:srgbClr val="2B2B2B"/>
                </a:solidFill>
                <a:latin typeface="Calibri" pitchFamily="34" charset="0"/>
                <a:ea typeface="Calibri" pitchFamily="34" charset="-122"/>
                <a:cs typeface="Calibri" pitchFamily="34" charset="-120"/>
              </a:rPr>
              <a:t>Decompose a multi-hop question and retrieve across hops</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7.3   </a:t>
            </a:r>
            <a:pPr indent="0" marL="0">
              <a:buNone/>
            </a:pPr>
            <a:r>
              <a:rPr lang="en-US" sz="1350" dirty="0">
                <a:solidFill>
                  <a:srgbClr val="2B2B2B"/>
                </a:solidFill>
                <a:latin typeface="Calibri" pitchFamily="34" charset="0"/>
                <a:ea typeface="Calibri" pitchFamily="34" charset="-122"/>
                <a:cs typeface="Calibri" pitchFamily="34" charset="-120"/>
              </a:rPr>
              <a:t>Add a corrective/self-RAG loop that grades retrieval and retries</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7.4   </a:t>
            </a:r>
            <a:pPr indent="0" marL="0">
              <a:buNone/>
            </a:pPr>
            <a:r>
              <a:rPr lang="en-US" sz="1350" dirty="0">
                <a:solidFill>
                  <a:srgbClr val="2B2B2B"/>
                </a:solidFill>
                <a:latin typeface="Calibri" pitchFamily="34" charset="0"/>
                <a:ea typeface="Calibri" pitchFamily="34" charset="-122"/>
                <a:cs typeface="Calibri" pitchFamily="34" charset="-120"/>
              </a:rPr>
              <a:t>Route queries to the cheapest sufficient retrieval path</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7.5   </a:t>
            </a:r>
            <a:pPr indent="0" marL="0">
              <a:buNone/>
            </a:pPr>
            <a:r>
              <a:rPr lang="en-US" sz="1350" dirty="0">
                <a:solidFill>
                  <a:srgbClr val="2B2B2B"/>
                </a:solidFill>
                <a:latin typeface="Calibri" pitchFamily="34" charset="0"/>
                <a:ea typeface="Calibri" pitchFamily="34" charset="-122"/>
                <a:cs typeface="Calibri" pitchFamily="34" charset="-120"/>
              </a:rPr>
              <a:t>Quantify accuracy gain versus added latency/cost per query class</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123</a:t>
            </a:r>
            <a:endParaRPr lang="en-US" sz="8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Where the Linear Pipeline Still Fails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أين يظل خط المعالجة الخطي عاجزًا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Multi-hop: the answer combines facts from two or more documents — one retrieval finds one, not the join</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"Does a seconded grade-9 keep the housing allowance, and for how long?"</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Under-specified phrasing: one embedding of a vague question misses where 2–3 rephrasings would hit</a:t>
            </a:r>
            <a:endParaRPr lang="en-US" sz="1400" dirty="0"/>
          </a:p>
        </p:txBody>
      </p:sp>
      <p:sp>
        <p:nvSpPr>
          <p:cNvPr id="11" name="Shape 8"/>
          <p:cNvSpPr/>
          <p:nvPr/>
        </p:nvSpPr>
        <p:spPr>
          <a:xfrm>
            <a:off x="521208" y="2935224"/>
            <a:ext cx="118872" cy="118872"/>
          </a:xfrm>
          <a:prstGeom prst="rect">
            <a:avLst/>
          </a:prstGeom>
          <a:solidFill>
            <a:srgbClr val="00A79D"/>
          </a:solidFill>
          <a:ln/>
        </p:spPr>
      </p:sp>
      <p:sp>
        <p:nvSpPr>
          <p:cNvPr id="12" name="Text 9"/>
          <p:cNvSpPr/>
          <p:nvPr/>
        </p:nvSpPr>
        <p:spPr>
          <a:xfrm>
            <a:off x="795528" y="283464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Wrong first retrieval: a linear pipeline grounds confidently on off-topic chunks and never notices</a:t>
            </a:r>
            <a:endParaRPr lang="en-US" sz="1400" dirty="0"/>
          </a:p>
        </p:txBody>
      </p:sp>
      <p:sp>
        <p:nvSpPr>
          <p:cNvPr id="13" name="Shape 10"/>
          <p:cNvSpPr/>
          <p:nvPr/>
        </p:nvSpPr>
        <p:spPr>
          <a:xfrm>
            <a:off x="521208" y="3410712"/>
            <a:ext cx="118872" cy="118872"/>
          </a:xfrm>
          <a:prstGeom prst="rect">
            <a:avLst/>
          </a:prstGeom>
          <a:solidFill>
            <a:srgbClr val="00A79D"/>
          </a:solidFill>
          <a:ln/>
        </p:spPr>
      </p:sp>
      <p:sp>
        <p:nvSpPr>
          <p:cNvPr id="14" name="Text 11"/>
          <p:cNvSpPr/>
          <p:nvPr/>
        </p:nvSpPr>
        <p:spPr>
          <a:xfrm>
            <a:off x="795528" y="331012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Mixed intent: chit-chat and out-of-scope queries waste the full expensive stack — short-circuit them</a:t>
            </a:r>
            <a:endParaRPr lang="en-US" sz="1400" dirty="0"/>
          </a:p>
        </p:txBody>
      </p:sp>
      <p:sp>
        <p:nvSpPr>
          <p:cNvPr id="15" name="Shape 12"/>
          <p:cNvSpPr/>
          <p:nvPr/>
        </p:nvSpPr>
        <p:spPr>
          <a:xfrm>
            <a:off x="502920" y="5394960"/>
            <a:ext cx="11183112" cy="777240"/>
          </a:xfrm>
          <a:prstGeom prst="rect">
            <a:avLst/>
          </a:prstGeom>
          <a:solidFill>
            <a:srgbClr val="E6F5F4"/>
          </a:solidFill>
          <a:ln/>
        </p:spPr>
      </p:sp>
      <p:sp>
        <p:nvSpPr>
          <p:cNvPr id="16" name="Text 1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These are not new failure classes for the poster — they are capabilities added on top of a system that already scores well, and each must justify its cost.</a:t>
            </a:r>
            <a:endParaRPr lang="en-US" sz="1050" dirty="0"/>
          </a:p>
        </p:txBody>
      </p:sp>
      <p:sp>
        <p:nvSpPr>
          <p:cNvPr id="17" name="Text 1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8" name="Text 1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124</a:t>
            </a:r>
            <a:endParaRPr lang="en-US" sz="8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Query Rewriting and Multi-Query Expansion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تحسين صياغة الاستعلام والتوسعة متعددة الاستعلامات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Rewriting: an LLM turns a vague or conversational question into a retrieval-optimised one</a:t>
            </a:r>
            <a:endParaRPr lang="en-US" sz="1400" dirty="0"/>
          </a:p>
        </p:txBody>
      </p:sp>
      <p:sp>
        <p:nvSpPr>
          <p:cNvPr id="8" name="Text 5"/>
          <p:cNvSpPr/>
          <p:nvPr/>
        </p:nvSpPr>
        <p:spPr>
          <a:xfrm>
            <a:off x="1069848" y="1956816"/>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Also resolves pronouns and context in multi-turn sessions</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Multi-query: generate 3–4 paraphrases, retrieve for each, fuse the results with RRF</a:t>
            </a:r>
            <a:endParaRPr lang="en-US" sz="1400" dirty="0"/>
          </a:p>
        </p:txBody>
      </p:sp>
      <p:sp>
        <p:nvSpPr>
          <p:cNvPr id="11" name="Text 8"/>
          <p:cNvSpPr/>
          <p:nvPr/>
        </p:nvSpPr>
        <p:spPr>
          <a:xfrm>
            <a:off x="1069848" y="2724912"/>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Cheap, because retrieval is cheap — Module 1's asymmetry, reused</a:t>
            </a:r>
            <a:endParaRPr lang="en-US" sz="1150" dirty="0"/>
          </a:p>
        </p:txBody>
      </p:sp>
      <p:sp>
        <p:nvSpPr>
          <p:cNvPr id="12" name="Shape 9"/>
          <p:cNvSpPr/>
          <p:nvPr/>
        </p:nvSpPr>
        <p:spPr>
          <a:xfrm>
            <a:off x="521208" y="3227832"/>
            <a:ext cx="118872" cy="118872"/>
          </a:xfrm>
          <a:prstGeom prst="rect">
            <a:avLst/>
          </a:prstGeom>
          <a:solidFill>
            <a:srgbClr val="00A79D"/>
          </a:solidFill>
          <a:ln/>
        </p:spPr>
      </p:sp>
      <p:sp>
        <p:nvSpPr>
          <p:cNvPr id="13" name="Text 10"/>
          <p:cNvSpPr/>
          <p:nvPr/>
        </p:nvSpPr>
        <p:spPr>
          <a:xfrm>
            <a:off x="795528" y="312724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HyDE: embed a hypothetical answer the LLM drafts, not the question — measure before adopting</a:t>
            </a:r>
            <a:endParaRPr lang="en-US" sz="1400" dirty="0"/>
          </a:p>
        </p:txBody>
      </p:sp>
      <p:sp>
        <p:nvSpPr>
          <p:cNvPr id="14" name="Shape 11"/>
          <p:cNvSpPr/>
          <p:nvPr/>
        </p:nvSpPr>
        <p:spPr>
          <a:xfrm>
            <a:off x="8092440" y="1572768"/>
            <a:ext cx="3593592" cy="3685032"/>
          </a:xfrm>
          <a:prstGeom prst="rect">
            <a:avLst/>
          </a:prstGeom>
          <a:solidFill>
            <a:srgbClr val="E6F5F4"/>
          </a:solidFill>
          <a:ln/>
        </p:spPr>
      </p:sp>
      <p:sp>
        <p:nvSpPr>
          <p:cNvPr id="15" name="Text 12"/>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THE DISCIPLINE</a:t>
            </a:r>
            <a:endParaRPr lang="en-US" sz="1100" dirty="0"/>
          </a:p>
        </p:txBody>
      </p:sp>
      <p:sp>
        <p:nvSpPr>
          <p:cNvPr id="16" name="Text 13"/>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Helps the under-specified class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Does nothing for identifiers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M4 sparse already fixed those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Break the gain out by class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Or you pay where it cannot help</a:t>
            </a:r>
            <a:endParaRPr lang="en-US" sz="11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cheapest advanced pattern: fix the query before retrieval, paying N cheap retrievals for recall on vague questions.</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125</a:t>
            </a:r>
            <a:endParaRPr lang="en-US" sz="8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Decomposition and Multi-Hop Retrieval</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تفكيك السؤال والاسترجاع متعدد الخطوات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Gate</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 classifier or router flags the question as multi-hop; single-hop stays linear</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Decompose</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An LLM splits the question into 2–3 atomic, distinct sub-questions</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Retrieve per hop</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Each sub-question runs full two-stage retrieval; later hops may use earlier answers</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Union evidence</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De-duplicate chunks across hops into one evidence set</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Compose</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Grounded generation (M5) answers once, with citations spanning documents</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Decomposition costs one extra LLM call plus one retrieval per hop — gate it so only multi-hop questions pay.</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126</a:t>
            </a:r>
            <a:endParaRPr lang="en-US" sz="8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Corrective RAG: Grade, Retry, Refuse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الاسترجاع التصحيحي: قيّم ثم أعد المحاولة أو ارفض</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2439162" cy="2880360"/>
          </a:xfrm>
          <a:prstGeom prst="rect">
            <a:avLst/>
          </a:prstGeom>
          <a:solidFill>
            <a:srgbClr val="F2F6F8"/>
          </a:solidFill>
          <a:ln w="9525">
            <a:solidFill>
              <a:srgbClr val="D9E2E8"/>
            </a:solidFill>
            <a:prstDash val="solid"/>
          </a:ln>
        </p:spPr>
      </p:sp>
      <p:sp>
        <p:nvSpPr>
          <p:cNvPr id="7" name="Shape 4"/>
          <p:cNvSpPr/>
          <p:nvPr/>
        </p:nvSpPr>
        <p:spPr>
          <a:xfrm>
            <a:off x="502920" y="1965960"/>
            <a:ext cx="243916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Retrieve</a:t>
            </a:r>
            <a:endParaRPr lang="en-US" sz="1350" dirty="0"/>
          </a:p>
        </p:txBody>
      </p:sp>
      <p:sp>
        <p:nvSpPr>
          <p:cNvPr id="10" name="Text 7"/>
          <p:cNvSpPr/>
          <p:nvPr/>
        </p:nvSpPr>
        <p:spPr>
          <a:xfrm>
            <a:off x="64008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The standard two-stage retrieval returns candidate context</a:t>
            </a:r>
            <a:endParaRPr lang="en-US" sz="1050" dirty="0"/>
          </a:p>
        </p:txBody>
      </p:sp>
      <p:sp>
        <p:nvSpPr>
          <p:cNvPr id="11" name="Shape 8"/>
          <p:cNvSpPr/>
          <p:nvPr/>
        </p:nvSpPr>
        <p:spPr>
          <a:xfrm>
            <a:off x="3024378" y="3268980"/>
            <a:ext cx="310896" cy="274320"/>
          </a:xfrm>
          <a:prstGeom prst="rightArrow">
            <a:avLst/>
          </a:prstGeom>
          <a:solidFill>
            <a:srgbClr val="00A79D"/>
          </a:solidFill>
          <a:ln/>
        </p:spPr>
      </p:sp>
      <p:sp>
        <p:nvSpPr>
          <p:cNvPr id="12" name="Shape 9"/>
          <p:cNvSpPr/>
          <p:nvPr/>
        </p:nvSpPr>
        <p:spPr>
          <a:xfrm>
            <a:off x="3417570" y="1965960"/>
            <a:ext cx="2439162" cy="2880360"/>
          </a:xfrm>
          <a:prstGeom prst="rect">
            <a:avLst/>
          </a:prstGeom>
          <a:solidFill>
            <a:srgbClr val="F2F6F8"/>
          </a:solidFill>
          <a:ln w="9525">
            <a:solidFill>
              <a:srgbClr val="D9E2E8"/>
            </a:solidFill>
            <a:prstDash val="solid"/>
          </a:ln>
        </p:spPr>
      </p:sp>
      <p:sp>
        <p:nvSpPr>
          <p:cNvPr id="13" name="Shape 10"/>
          <p:cNvSpPr/>
          <p:nvPr/>
        </p:nvSpPr>
        <p:spPr>
          <a:xfrm>
            <a:off x="3417570" y="1965960"/>
            <a:ext cx="2439162" cy="73152"/>
          </a:xfrm>
          <a:prstGeom prst="rect">
            <a:avLst/>
          </a:prstGeom>
          <a:solidFill>
            <a:srgbClr val="29ABE2"/>
          </a:solidFill>
          <a:ln/>
        </p:spPr>
      </p:sp>
      <p:sp>
        <p:nvSpPr>
          <p:cNvPr id="14" name="Text 11"/>
          <p:cNvSpPr/>
          <p:nvPr/>
        </p:nvSpPr>
        <p:spPr>
          <a:xfrm>
            <a:off x="355473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355473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Grade</a:t>
            </a:r>
            <a:endParaRPr lang="en-US" sz="1350" dirty="0"/>
          </a:p>
        </p:txBody>
      </p:sp>
      <p:sp>
        <p:nvSpPr>
          <p:cNvPr id="16" name="Text 13"/>
          <p:cNvSpPr/>
          <p:nvPr/>
        </p:nvSpPr>
        <p:spPr>
          <a:xfrm>
            <a:off x="355473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An LLM or lightweight classifier judges: is this context relevant to the question?</a:t>
            </a:r>
            <a:endParaRPr lang="en-US" sz="1050" dirty="0"/>
          </a:p>
        </p:txBody>
      </p:sp>
      <p:sp>
        <p:nvSpPr>
          <p:cNvPr id="17" name="Shape 14"/>
          <p:cNvSpPr/>
          <p:nvPr/>
        </p:nvSpPr>
        <p:spPr>
          <a:xfrm>
            <a:off x="5939028" y="3268980"/>
            <a:ext cx="310896" cy="274320"/>
          </a:xfrm>
          <a:prstGeom prst="rightArrow">
            <a:avLst/>
          </a:prstGeom>
          <a:solidFill>
            <a:srgbClr val="00A79D"/>
          </a:solidFill>
          <a:ln/>
        </p:spPr>
      </p:sp>
      <p:sp>
        <p:nvSpPr>
          <p:cNvPr id="18" name="Shape 15"/>
          <p:cNvSpPr/>
          <p:nvPr/>
        </p:nvSpPr>
        <p:spPr>
          <a:xfrm>
            <a:off x="6332220" y="1965960"/>
            <a:ext cx="2439162" cy="2880360"/>
          </a:xfrm>
          <a:prstGeom prst="rect">
            <a:avLst/>
          </a:prstGeom>
          <a:solidFill>
            <a:srgbClr val="F2F6F8"/>
          </a:solidFill>
          <a:ln w="9525">
            <a:solidFill>
              <a:srgbClr val="D9E2E8"/>
            </a:solidFill>
            <a:prstDash val="solid"/>
          </a:ln>
        </p:spPr>
      </p:sp>
      <p:sp>
        <p:nvSpPr>
          <p:cNvPr id="19" name="Shape 16"/>
          <p:cNvSpPr/>
          <p:nvPr/>
        </p:nvSpPr>
        <p:spPr>
          <a:xfrm>
            <a:off x="6332220" y="1965960"/>
            <a:ext cx="2439162" cy="73152"/>
          </a:xfrm>
          <a:prstGeom prst="rect">
            <a:avLst/>
          </a:prstGeom>
          <a:solidFill>
            <a:srgbClr val="F7941D"/>
          </a:solidFill>
          <a:ln/>
        </p:spPr>
      </p:sp>
      <p:sp>
        <p:nvSpPr>
          <p:cNvPr id="20" name="Text 17"/>
          <p:cNvSpPr/>
          <p:nvPr/>
        </p:nvSpPr>
        <p:spPr>
          <a:xfrm>
            <a:off x="646938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646938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Rewrite &amp; retry</a:t>
            </a:r>
            <a:endParaRPr lang="en-US" sz="1350" dirty="0"/>
          </a:p>
        </p:txBody>
      </p:sp>
      <p:sp>
        <p:nvSpPr>
          <p:cNvPr id="22" name="Text 19"/>
          <p:cNvSpPr/>
          <p:nvPr/>
        </p:nvSpPr>
        <p:spPr>
          <a:xfrm>
            <a:off x="646938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If irrelevant: rewrite the query, re-retrieve or widen the search — capped at 1–2</a:t>
            </a:r>
            <a:endParaRPr lang="en-US" sz="1050" dirty="0"/>
          </a:p>
        </p:txBody>
      </p:sp>
      <p:sp>
        <p:nvSpPr>
          <p:cNvPr id="23" name="Shape 20"/>
          <p:cNvSpPr/>
          <p:nvPr/>
        </p:nvSpPr>
        <p:spPr>
          <a:xfrm>
            <a:off x="8853678" y="3268980"/>
            <a:ext cx="310896" cy="274320"/>
          </a:xfrm>
          <a:prstGeom prst="rightArrow">
            <a:avLst/>
          </a:prstGeom>
          <a:solidFill>
            <a:srgbClr val="00A79D"/>
          </a:solidFill>
          <a:ln/>
        </p:spPr>
      </p:sp>
      <p:sp>
        <p:nvSpPr>
          <p:cNvPr id="24" name="Shape 21"/>
          <p:cNvSpPr/>
          <p:nvPr/>
        </p:nvSpPr>
        <p:spPr>
          <a:xfrm>
            <a:off x="9246870" y="1965960"/>
            <a:ext cx="2439162" cy="2880360"/>
          </a:xfrm>
          <a:prstGeom prst="rect">
            <a:avLst/>
          </a:prstGeom>
          <a:solidFill>
            <a:srgbClr val="F2F6F8"/>
          </a:solidFill>
          <a:ln w="9525">
            <a:solidFill>
              <a:srgbClr val="D9E2E8"/>
            </a:solidFill>
            <a:prstDash val="solid"/>
          </a:ln>
        </p:spPr>
      </p:sp>
      <p:sp>
        <p:nvSpPr>
          <p:cNvPr id="25" name="Shape 22"/>
          <p:cNvSpPr/>
          <p:nvPr/>
        </p:nvSpPr>
        <p:spPr>
          <a:xfrm>
            <a:off x="9246870" y="1965960"/>
            <a:ext cx="2439162" cy="73152"/>
          </a:xfrm>
          <a:prstGeom prst="rect">
            <a:avLst/>
          </a:prstGeom>
          <a:solidFill>
            <a:srgbClr val="8CC63F"/>
          </a:solidFill>
          <a:ln/>
        </p:spPr>
      </p:sp>
      <p:sp>
        <p:nvSpPr>
          <p:cNvPr id="26" name="Text 23"/>
          <p:cNvSpPr/>
          <p:nvPr/>
        </p:nvSpPr>
        <p:spPr>
          <a:xfrm>
            <a:off x="938403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938403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Answer or refuse</a:t>
            </a:r>
            <a:endParaRPr lang="en-US" sz="1350" dirty="0"/>
          </a:p>
        </p:txBody>
      </p:sp>
      <p:sp>
        <p:nvSpPr>
          <p:cNvPr id="28" name="Text 25"/>
          <p:cNvSpPr/>
          <p:nvPr/>
        </p:nvSpPr>
        <p:spPr>
          <a:xfrm>
            <a:off x="938403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Relevant context proceeds to generation; still-junk context refuses, never guesses</a:t>
            </a:r>
            <a:endParaRPr lang="en-US" sz="1050" dirty="0"/>
          </a:p>
        </p:txBody>
      </p:sp>
      <p:sp>
        <p:nvSpPr>
          <p:cNvPr id="29" name="Shape 26"/>
          <p:cNvSpPr/>
          <p:nvPr/>
        </p:nvSpPr>
        <p:spPr>
          <a:xfrm>
            <a:off x="502920" y="5394960"/>
            <a:ext cx="11183112" cy="777240"/>
          </a:xfrm>
          <a:prstGeom prst="rect">
            <a:avLst/>
          </a:prstGeom>
          <a:solidFill>
            <a:srgbClr val="E6F5F4"/>
          </a:solidFill>
          <a:ln/>
        </p:spPr>
      </p:sp>
      <p:sp>
        <p:nvSpPr>
          <p:cNvPr id="30" name="Text 2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Corrective RAG is where RAG becomes a one-tool agent: retrieval is the tool, the grader is the reasoning, the retry is the control flow.</a:t>
            </a:r>
            <a:endParaRPr lang="en-US" sz="1050" dirty="0"/>
          </a:p>
        </p:txBody>
      </p:sp>
      <p:sp>
        <p:nvSpPr>
          <p:cNvPr id="31" name="Text 2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2" name="Text 2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127</a:t>
            </a:r>
            <a:endParaRPr lang="en-US" sz="8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Routing: Pay Only for What a Query Needs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التوجيه: ادفع فقط ما يحتاجه الاستعلام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3749040" y="2202180"/>
            <a:ext cx="1272388" cy="1203960"/>
          </a:xfrm>
          <a:prstGeom prst="line">
            <a:avLst/>
          </a:prstGeom>
          <a:noFill/>
          <a:ln w="15875">
            <a:solidFill>
              <a:srgbClr val="D9E2E8"/>
            </a:solidFill>
            <a:prstDash val="solid"/>
          </a:ln>
        </p:spPr>
      </p:sp>
      <p:sp>
        <p:nvSpPr>
          <p:cNvPr id="7" name="Shape 4"/>
          <p:cNvSpPr/>
          <p:nvPr/>
        </p:nvSpPr>
        <p:spPr>
          <a:xfrm>
            <a:off x="3749040" y="3406140"/>
            <a:ext cx="1272388" cy="914"/>
          </a:xfrm>
          <a:prstGeom prst="line">
            <a:avLst/>
          </a:prstGeom>
          <a:noFill/>
          <a:ln w="15875">
            <a:solidFill>
              <a:srgbClr val="D9E2E8"/>
            </a:solidFill>
            <a:prstDash val="solid"/>
          </a:ln>
        </p:spPr>
      </p:sp>
      <p:sp>
        <p:nvSpPr>
          <p:cNvPr id="8" name="Shape 5"/>
          <p:cNvSpPr/>
          <p:nvPr/>
        </p:nvSpPr>
        <p:spPr>
          <a:xfrm flipV="1">
            <a:off x="3749040" y="3406140"/>
            <a:ext cx="1272388" cy="1203960"/>
          </a:xfrm>
          <a:prstGeom prst="line">
            <a:avLst/>
          </a:prstGeom>
          <a:noFill/>
          <a:ln w="15875">
            <a:solidFill>
              <a:srgbClr val="D9E2E8"/>
            </a:solidFill>
            <a:prstDash val="solid"/>
          </a:ln>
        </p:spPr>
      </p:sp>
      <p:sp>
        <p:nvSpPr>
          <p:cNvPr id="9" name="Shape 6"/>
          <p:cNvSpPr/>
          <p:nvPr/>
        </p:nvSpPr>
        <p:spPr>
          <a:xfrm flipV="1">
            <a:off x="7170268" y="2503170"/>
            <a:ext cx="1269644" cy="902970"/>
          </a:xfrm>
          <a:prstGeom prst="line">
            <a:avLst/>
          </a:prstGeom>
          <a:noFill/>
          <a:ln w="15875">
            <a:solidFill>
              <a:srgbClr val="D9E2E8"/>
            </a:solidFill>
            <a:prstDash val="solid"/>
          </a:ln>
        </p:spPr>
      </p:sp>
      <p:sp>
        <p:nvSpPr>
          <p:cNvPr id="10" name="Shape 7"/>
          <p:cNvSpPr/>
          <p:nvPr/>
        </p:nvSpPr>
        <p:spPr>
          <a:xfrm>
            <a:off x="7170268" y="3406140"/>
            <a:ext cx="1269644" cy="902970"/>
          </a:xfrm>
          <a:prstGeom prst="line">
            <a:avLst/>
          </a:prstGeom>
          <a:noFill/>
          <a:ln w="15875">
            <a:solidFill>
              <a:srgbClr val="D9E2E8"/>
            </a:solidFill>
            <a:prstDash val="solid"/>
          </a:ln>
        </p:spPr>
      </p:sp>
      <p:sp>
        <p:nvSpPr>
          <p:cNvPr id="11" name="Shape 8"/>
          <p:cNvSpPr/>
          <p:nvPr/>
        </p:nvSpPr>
        <p:spPr>
          <a:xfrm>
            <a:off x="502920" y="1744980"/>
            <a:ext cx="3246120" cy="914400"/>
          </a:xfrm>
          <a:prstGeom prst="rect">
            <a:avLst/>
          </a:prstGeom>
          <a:solidFill>
            <a:srgbClr val="F2F6F8"/>
          </a:solidFill>
          <a:ln w="9525">
            <a:solidFill>
              <a:srgbClr val="D9E2E8"/>
            </a:solidFill>
            <a:prstDash val="solid"/>
          </a:ln>
        </p:spPr>
      </p:sp>
      <p:sp>
        <p:nvSpPr>
          <p:cNvPr id="12" name="Shape 9"/>
          <p:cNvSpPr/>
          <p:nvPr/>
        </p:nvSpPr>
        <p:spPr>
          <a:xfrm>
            <a:off x="502920" y="1744980"/>
            <a:ext cx="64008" cy="914400"/>
          </a:xfrm>
          <a:prstGeom prst="rect">
            <a:avLst/>
          </a:prstGeom>
          <a:solidFill>
            <a:srgbClr val="00A79D"/>
          </a:solidFill>
          <a:ln/>
        </p:spPr>
      </p:sp>
      <p:sp>
        <p:nvSpPr>
          <p:cNvPr id="13" name="Text 10"/>
          <p:cNvSpPr/>
          <p:nvPr/>
        </p:nvSpPr>
        <p:spPr>
          <a:xfrm>
            <a:off x="704088" y="181813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Out-of-scope</a:t>
            </a:r>
            <a:endParaRPr lang="en-US" sz="1250" dirty="0"/>
          </a:p>
        </p:txBody>
      </p:sp>
      <p:sp>
        <p:nvSpPr>
          <p:cNvPr id="14" name="Text 11"/>
          <p:cNvSpPr/>
          <p:nvPr/>
        </p:nvSpPr>
        <p:spPr>
          <a:xfrm>
            <a:off x="704088" y="216560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Refuse or canned reply, no retrieval — cost ~0</a:t>
            </a:r>
            <a:endParaRPr lang="en-US" sz="1000" dirty="0"/>
          </a:p>
        </p:txBody>
      </p:sp>
      <p:sp>
        <p:nvSpPr>
          <p:cNvPr id="15" name="Shape 12"/>
          <p:cNvSpPr/>
          <p:nvPr/>
        </p:nvSpPr>
        <p:spPr>
          <a:xfrm>
            <a:off x="502920" y="2948940"/>
            <a:ext cx="3246120" cy="914400"/>
          </a:xfrm>
          <a:prstGeom prst="rect">
            <a:avLst/>
          </a:prstGeom>
          <a:solidFill>
            <a:srgbClr val="F2F6F8"/>
          </a:solidFill>
          <a:ln w="9525">
            <a:solidFill>
              <a:srgbClr val="D9E2E8"/>
            </a:solidFill>
            <a:prstDash val="solid"/>
          </a:ln>
        </p:spPr>
      </p:sp>
      <p:sp>
        <p:nvSpPr>
          <p:cNvPr id="16" name="Shape 13"/>
          <p:cNvSpPr/>
          <p:nvPr/>
        </p:nvSpPr>
        <p:spPr>
          <a:xfrm>
            <a:off x="502920" y="2948940"/>
            <a:ext cx="64008" cy="914400"/>
          </a:xfrm>
          <a:prstGeom prst="rect">
            <a:avLst/>
          </a:prstGeom>
          <a:solidFill>
            <a:srgbClr val="29ABE2"/>
          </a:solidFill>
          <a:ln/>
        </p:spPr>
      </p:sp>
      <p:sp>
        <p:nvSpPr>
          <p:cNvPr id="17" name="Text 14"/>
          <p:cNvSpPr/>
          <p:nvPr/>
        </p:nvSpPr>
        <p:spPr>
          <a:xfrm>
            <a:off x="704088" y="302209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Simple single-fact</a:t>
            </a:r>
            <a:endParaRPr lang="en-US" sz="1250" dirty="0"/>
          </a:p>
        </p:txBody>
      </p:sp>
      <p:sp>
        <p:nvSpPr>
          <p:cNvPr id="18" name="Text 15"/>
          <p:cNvSpPr/>
          <p:nvPr/>
        </p:nvSpPr>
        <p:spPr>
          <a:xfrm>
            <a:off x="704088" y="336956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Linear retrieve, rerank, answer — cost 1×</a:t>
            </a:r>
            <a:endParaRPr lang="en-US" sz="1000" dirty="0"/>
          </a:p>
        </p:txBody>
      </p:sp>
      <p:sp>
        <p:nvSpPr>
          <p:cNvPr id="19" name="Shape 16"/>
          <p:cNvSpPr/>
          <p:nvPr/>
        </p:nvSpPr>
        <p:spPr>
          <a:xfrm>
            <a:off x="502920" y="4152900"/>
            <a:ext cx="3246120" cy="914400"/>
          </a:xfrm>
          <a:prstGeom prst="rect">
            <a:avLst/>
          </a:prstGeom>
          <a:solidFill>
            <a:srgbClr val="F2F6F8"/>
          </a:solidFill>
          <a:ln w="9525">
            <a:solidFill>
              <a:srgbClr val="D9E2E8"/>
            </a:solidFill>
            <a:prstDash val="solid"/>
          </a:ln>
        </p:spPr>
      </p:sp>
      <p:sp>
        <p:nvSpPr>
          <p:cNvPr id="20" name="Shape 17"/>
          <p:cNvSpPr/>
          <p:nvPr/>
        </p:nvSpPr>
        <p:spPr>
          <a:xfrm>
            <a:off x="502920" y="4152900"/>
            <a:ext cx="64008" cy="914400"/>
          </a:xfrm>
          <a:prstGeom prst="rect">
            <a:avLst/>
          </a:prstGeom>
          <a:solidFill>
            <a:srgbClr val="F7941D"/>
          </a:solidFill>
          <a:ln/>
        </p:spPr>
      </p:sp>
      <p:sp>
        <p:nvSpPr>
          <p:cNvPr id="21" name="Text 18"/>
          <p:cNvSpPr/>
          <p:nvPr/>
        </p:nvSpPr>
        <p:spPr>
          <a:xfrm>
            <a:off x="704088" y="422605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Under-specified</a:t>
            </a:r>
            <a:endParaRPr lang="en-US" sz="1250" dirty="0"/>
          </a:p>
        </p:txBody>
      </p:sp>
      <p:sp>
        <p:nvSpPr>
          <p:cNvPr id="22" name="Text 19"/>
          <p:cNvSpPr/>
          <p:nvPr/>
        </p:nvSpPr>
        <p:spPr>
          <a:xfrm>
            <a:off x="704088" y="457352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Multi-query expansion, then linear — ~1.5×</a:t>
            </a:r>
            <a:endParaRPr lang="en-US" sz="1000" dirty="0"/>
          </a:p>
        </p:txBody>
      </p:sp>
      <p:sp>
        <p:nvSpPr>
          <p:cNvPr id="23" name="Shape 20"/>
          <p:cNvSpPr/>
          <p:nvPr/>
        </p:nvSpPr>
        <p:spPr>
          <a:xfrm>
            <a:off x="8439912" y="2045970"/>
            <a:ext cx="3246120" cy="914400"/>
          </a:xfrm>
          <a:prstGeom prst="rect">
            <a:avLst/>
          </a:prstGeom>
          <a:solidFill>
            <a:srgbClr val="F2F6F8"/>
          </a:solidFill>
          <a:ln w="9525">
            <a:solidFill>
              <a:srgbClr val="D9E2E8"/>
            </a:solidFill>
            <a:prstDash val="solid"/>
          </a:ln>
        </p:spPr>
      </p:sp>
      <p:sp>
        <p:nvSpPr>
          <p:cNvPr id="24" name="Shape 21"/>
          <p:cNvSpPr/>
          <p:nvPr/>
        </p:nvSpPr>
        <p:spPr>
          <a:xfrm>
            <a:off x="8439912" y="2045970"/>
            <a:ext cx="64008" cy="914400"/>
          </a:xfrm>
          <a:prstGeom prst="rect">
            <a:avLst/>
          </a:prstGeom>
          <a:solidFill>
            <a:srgbClr val="8CC63F"/>
          </a:solidFill>
          <a:ln/>
        </p:spPr>
      </p:sp>
      <p:sp>
        <p:nvSpPr>
          <p:cNvPr id="25" name="Text 22"/>
          <p:cNvSpPr/>
          <p:nvPr/>
        </p:nvSpPr>
        <p:spPr>
          <a:xfrm>
            <a:off x="8641080" y="211912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Multi-hop</a:t>
            </a:r>
            <a:endParaRPr lang="en-US" sz="1250" dirty="0"/>
          </a:p>
        </p:txBody>
      </p:sp>
      <p:sp>
        <p:nvSpPr>
          <p:cNvPr id="26" name="Text 23"/>
          <p:cNvSpPr/>
          <p:nvPr/>
        </p:nvSpPr>
        <p:spPr>
          <a:xfrm>
            <a:off x="8641080" y="246659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Decompose, retrieve per hop, compose — 2–4×</a:t>
            </a:r>
            <a:endParaRPr lang="en-US" sz="1000" dirty="0"/>
          </a:p>
        </p:txBody>
      </p:sp>
      <p:sp>
        <p:nvSpPr>
          <p:cNvPr id="27" name="Shape 24"/>
          <p:cNvSpPr/>
          <p:nvPr/>
        </p:nvSpPr>
        <p:spPr>
          <a:xfrm>
            <a:off x="8439912" y="3851910"/>
            <a:ext cx="3246120" cy="914400"/>
          </a:xfrm>
          <a:prstGeom prst="rect">
            <a:avLst/>
          </a:prstGeom>
          <a:solidFill>
            <a:srgbClr val="F2F6F8"/>
          </a:solidFill>
          <a:ln w="9525">
            <a:solidFill>
              <a:srgbClr val="D9E2E8"/>
            </a:solidFill>
            <a:prstDash val="solid"/>
          </a:ln>
        </p:spPr>
      </p:sp>
      <p:sp>
        <p:nvSpPr>
          <p:cNvPr id="28" name="Shape 25"/>
          <p:cNvSpPr/>
          <p:nvPr/>
        </p:nvSpPr>
        <p:spPr>
          <a:xfrm>
            <a:off x="8439912" y="3851910"/>
            <a:ext cx="64008" cy="914400"/>
          </a:xfrm>
          <a:prstGeom prst="rect">
            <a:avLst/>
          </a:prstGeom>
          <a:solidFill>
            <a:srgbClr val="1D2A5C"/>
          </a:solidFill>
          <a:ln/>
        </p:spPr>
      </p:sp>
      <p:sp>
        <p:nvSpPr>
          <p:cNvPr id="29" name="Text 26"/>
          <p:cNvSpPr/>
          <p:nvPr/>
        </p:nvSpPr>
        <p:spPr>
          <a:xfrm>
            <a:off x="8641080" y="392506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Low-confidence</a:t>
            </a:r>
            <a:endParaRPr lang="en-US" sz="1250" dirty="0"/>
          </a:p>
        </p:txBody>
      </p:sp>
      <p:sp>
        <p:nvSpPr>
          <p:cNvPr id="30" name="Text 27"/>
          <p:cNvSpPr/>
          <p:nvPr/>
        </p:nvSpPr>
        <p:spPr>
          <a:xfrm>
            <a:off x="8641080" y="427253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Corrective loop: grade, rewrite, retry — 1–2×</a:t>
            </a:r>
            <a:endParaRPr lang="en-US" sz="1000" dirty="0"/>
          </a:p>
        </p:txBody>
      </p:sp>
      <p:sp>
        <p:nvSpPr>
          <p:cNvPr id="31" name="Shape 28"/>
          <p:cNvSpPr/>
          <p:nvPr/>
        </p:nvSpPr>
        <p:spPr>
          <a:xfrm>
            <a:off x="4838548" y="2743200"/>
            <a:ext cx="2514600" cy="1325880"/>
          </a:xfrm>
          <a:prstGeom prst="ellipse">
            <a:avLst/>
          </a:prstGeom>
          <a:solidFill>
            <a:srgbClr val="1D2A5C"/>
          </a:solidFill>
          <a:ln w="19050">
            <a:solidFill>
              <a:srgbClr val="00A79D"/>
            </a:solidFill>
            <a:prstDash val="solid"/>
          </a:ln>
        </p:spPr>
      </p:sp>
      <p:sp>
        <p:nvSpPr>
          <p:cNvPr id="32" name="Text 29"/>
          <p:cNvSpPr/>
          <p:nvPr/>
        </p:nvSpPr>
        <p:spPr>
          <a:xfrm>
            <a:off x="4975708" y="2743200"/>
            <a:ext cx="2240280" cy="13258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Query router</a:t>
            </a:r>
            <a:endParaRPr lang="en-US" sz="1400" dirty="0"/>
          </a:p>
        </p:txBody>
      </p:sp>
      <p:sp>
        <p:nvSpPr>
          <p:cNvPr id="33" name="Shape 30"/>
          <p:cNvSpPr/>
          <p:nvPr/>
        </p:nvSpPr>
        <p:spPr>
          <a:xfrm>
            <a:off x="502920" y="5394960"/>
            <a:ext cx="11183112" cy="777240"/>
          </a:xfrm>
          <a:prstGeom prst="rect">
            <a:avLst/>
          </a:prstGeom>
          <a:solidFill>
            <a:srgbClr val="E6F5F4"/>
          </a:solidFill>
          <a:ln/>
        </p:spPr>
      </p:sp>
      <p:sp>
        <p:nvSpPr>
          <p:cNvPr id="34" name="Text 31"/>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Routing keeps advanced patterns economically honest: the average query stays cheap while the hard query gets the machinery it needs.</a:t>
            </a:r>
            <a:endParaRPr lang="en-US" sz="1050" dirty="0"/>
          </a:p>
        </p:txBody>
      </p:sp>
      <p:sp>
        <p:nvSpPr>
          <p:cNvPr id="35" name="Text 3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6" name="Text 3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128</a:t>
            </a:r>
            <a:endParaRPr lang="en-US" sz="8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with Advanced Patterns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الأخطاء الشائعة في الأنماط المتقدمة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Loops everywhere</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Adding decomposition and corrective loops "to be safe" multiplies latency and cost on questions that never needed them.</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Unbounded self-RAG</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No iteration cap, so a hard query burns the whole budget retrying. Cap at 1–2 and refuse after the cap.</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Multi-query without fusion</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Retrieving four lists and concatenating — duplicates, no rank discipline. Fuse with RRF instead.</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Aggregate-only measurement</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multi-hop gain is invisible unless you break out the multi-hop query class in evaluation.</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Router with no fallback</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 mis-classified query gets the wrong path and no recovery. Measure the router's own error rate.</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Untraced extra calls</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Every extra LLM call is new latency, cost, and failure surface — give it the same telemetry and evaluation.</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Each mistake has the same root: adopting a pattern without measuring what it costs and which query class it helps.</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129</a:t>
            </a:r>
            <a:endParaRPr lang="en-US" sz="8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Production Considerations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اعتبارات التشغيل في بيئة الإنتاج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Cache decomposition and rewrite outputs for repeated queries</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Bound every loop with a hard iteration cap and a wall-clock cap</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Trace each hop and grade decision — the observability that SDA-AIE-312 formalises</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Evaluate advanced paths on the golden set's multi-hop subset with the same regression gate</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Expose a per-query "path taken" field so operators see how often expensive paths fire</a:t>
            </a:r>
            <a:endParaRPr lang="en-US" sz="14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Dalil's corrective loop is a one-tool agent — the same reasoning-plus-retrieval shape scales to the multi-tool agents of SDA-AIE-311.</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130</a:t>
            </a:r>
            <a:endParaRPr lang="en-US" sz="8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What the Patterns Buy — Lab 7 Numbers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مكاسب الأنماط المتقدمة بالأرقام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74520"/>
            <a:ext cx="2555748" cy="3063240"/>
          </a:xfrm>
          <a:prstGeom prst="rect">
            <a:avLst/>
          </a:prstGeom>
          <a:solidFill>
            <a:srgbClr val="F2F6F8"/>
          </a:solidFill>
          <a:ln w="9525">
            <a:solidFill>
              <a:srgbClr val="D9E2E8"/>
            </a:solidFill>
            <a:prstDash val="solid"/>
          </a:ln>
        </p:spPr>
      </p:sp>
      <p:sp>
        <p:nvSpPr>
          <p:cNvPr id="7" name="Shape 4"/>
          <p:cNvSpPr/>
          <p:nvPr/>
        </p:nvSpPr>
        <p:spPr>
          <a:xfrm>
            <a:off x="502920" y="1874520"/>
            <a:ext cx="2555748" cy="73152"/>
          </a:xfrm>
          <a:prstGeom prst="rect">
            <a:avLst/>
          </a:prstGeom>
          <a:solidFill>
            <a:srgbClr val="00A79D"/>
          </a:solidFill>
          <a:ln/>
        </p:spPr>
      </p:sp>
      <p:sp>
        <p:nvSpPr>
          <p:cNvPr id="8" name="Text 5"/>
          <p:cNvSpPr/>
          <p:nvPr/>
        </p:nvSpPr>
        <p:spPr>
          <a:xfrm>
            <a:off x="594360" y="2303374"/>
            <a:ext cx="2372868" cy="960120"/>
          </a:xfrm>
          <a:prstGeom prst="rect">
            <a:avLst/>
          </a:prstGeom>
          <a:noFill/>
          <a:ln/>
        </p:spPr>
        <p:txBody>
          <a:bodyPr wrap="square" rtlCol="0" anchor="ctr"/>
          <a:lstStyle/>
          <a:p>
            <a:pPr algn="ctr" indent="0" marL="0">
              <a:buNone/>
            </a:pPr>
            <a:r>
              <a:rPr lang="en-US" sz="2600" b="1" dirty="0">
                <a:solidFill>
                  <a:srgbClr val="00A79D"/>
                </a:solidFill>
                <a:latin typeface="Calibri" pitchFamily="34" charset="0"/>
                <a:ea typeface="Calibri" pitchFamily="34" charset="-122"/>
                <a:cs typeface="Calibri" pitchFamily="34" charset="-120"/>
              </a:rPr>
              <a:t>0.34→0.82</a:t>
            </a:r>
            <a:endParaRPr lang="en-US" sz="2600" dirty="0"/>
          </a:p>
        </p:txBody>
      </p:sp>
      <p:sp>
        <p:nvSpPr>
          <p:cNvPr id="9" name="Text 6"/>
          <p:cNvSpPr/>
          <p:nvPr/>
        </p:nvSpPr>
        <p:spPr>
          <a:xfrm>
            <a:off x="685800"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Multi-hop answer correctness</a:t>
            </a:r>
            <a:endParaRPr lang="en-US" sz="1300" dirty="0"/>
          </a:p>
        </p:txBody>
      </p:sp>
      <p:sp>
        <p:nvSpPr>
          <p:cNvPr id="10" name="Text 7"/>
          <p:cNvSpPr/>
          <p:nvPr/>
        </p:nvSpPr>
        <p:spPr>
          <a:xfrm>
            <a:off x="685800"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Decomposition path vs the linear baseline</a:t>
            </a:r>
            <a:endParaRPr lang="en-US" sz="1050" dirty="0"/>
          </a:p>
        </p:txBody>
      </p:sp>
      <p:sp>
        <p:nvSpPr>
          <p:cNvPr id="11" name="Shape 8"/>
          <p:cNvSpPr/>
          <p:nvPr/>
        </p:nvSpPr>
        <p:spPr>
          <a:xfrm>
            <a:off x="3378708" y="1874520"/>
            <a:ext cx="2555748" cy="3063240"/>
          </a:xfrm>
          <a:prstGeom prst="rect">
            <a:avLst/>
          </a:prstGeom>
          <a:solidFill>
            <a:srgbClr val="F2F6F8"/>
          </a:solidFill>
          <a:ln w="9525">
            <a:solidFill>
              <a:srgbClr val="D9E2E8"/>
            </a:solidFill>
            <a:prstDash val="solid"/>
          </a:ln>
        </p:spPr>
      </p:sp>
      <p:sp>
        <p:nvSpPr>
          <p:cNvPr id="12" name="Shape 9"/>
          <p:cNvSpPr/>
          <p:nvPr/>
        </p:nvSpPr>
        <p:spPr>
          <a:xfrm>
            <a:off x="3378708" y="1874520"/>
            <a:ext cx="2555748" cy="73152"/>
          </a:xfrm>
          <a:prstGeom prst="rect">
            <a:avLst/>
          </a:prstGeom>
          <a:solidFill>
            <a:srgbClr val="29ABE2"/>
          </a:solidFill>
          <a:ln/>
        </p:spPr>
      </p:sp>
      <p:sp>
        <p:nvSpPr>
          <p:cNvPr id="13" name="Text 10"/>
          <p:cNvSpPr/>
          <p:nvPr/>
        </p:nvSpPr>
        <p:spPr>
          <a:xfrm>
            <a:off x="3470148"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+0.18</a:t>
            </a:r>
            <a:endParaRPr lang="en-US" sz="4000" dirty="0"/>
          </a:p>
        </p:txBody>
      </p:sp>
      <p:sp>
        <p:nvSpPr>
          <p:cNvPr id="14" name="Text 11"/>
          <p:cNvSpPr/>
          <p:nvPr/>
        </p:nvSpPr>
        <p:spPr>
          <a:xfrm>
            <a:off x="3561588"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Under-specified recall lift</a:t>
            </a:r>
            <a:endParaRPr lang="en-US" sz="1300" dirty="0"/>
          </a:p>
        </p:txBody>
      </p:sp>
      <p:sp>
        <p:nvSpPr>
          <p:cNvPr id="15" name="Text 12"/>
          <p:cNvSpPr/>
          <p:nvPr/>
        </p:nvSpPr>
        <p:spPr>
          <a:xfrm>
            <a:off x="3561588"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Multi-query expansion: 0.61 to 0.79</a:t>
            </a:r>
            <a:endParaRPr lang="en-US" sz="1050" dirty="0"/>
          </a:p>
        </p:txBody>
      </p:sp>
      <p:sp>
        <p:nvSpPr>
          <p:cNvPr id="16" name="Shape 13"/>
          <p:cNvSpPr/>
          <p:nvPr/>
        </p:nvSpPr>
        <p:spPr>
          <a:xfrm>
            <a:off x="6254496" y="1874520"/>
            <a:ext cx="2555748" cy="3063240"/>
          </a:xfrm>
          <a:prstGeom prst="rect">
            <a:avLst/>
          </a:prstGeom>
          <a:solidFill>
            <a:srgbClr val="F2F6F8"/>
          </a:solidFill>
          <a:ln w="9525">
            <a:solidFill>
              <a:srgbClr val="D9E2E8"/>
            </a:solidFill>
            <a:prstDash val="solid"/>
          </a:ln>
        </p:spPr>
      </p:sp>
      <p:sp>
        <p:nvSpPr>
          <p:cNvPr id="17" name="Shape 14"/>
          <p:cNvSpPr/>
          <p:nvPr/>
        </p:nvSpPr>
        <p:spPr>
          <a:xfrm>
            <a:off x="6254496" y="1874520"/>
            <a:ext cx="2555748" cy="73152"/>
          </a:xfrm>
          <a:prstGeom prst="rect">
            <a:avLst/>
          </a:prstGeom>
          <a:solidFill>
            <a:srgbClr val="F7941D"/>
          </a:solidFill>
          <a:ln/>
        </p:spPr>
      </p:sp>
      <p:sp>
        <p:nvSpPr>
          <p:cNvPr id="18" name="Text 15"/>
          <p:cNvSpPr/>
          <p:nvPr/>
        </p:nvSpPr>
        <p:spPr>
          <a:xfrm>
            <a:off x="6345936"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1.9 s</a:t>
            </a:r>
            <a:endParaRPr lang="en-US" sz="4000" dirty="0"/>
          </a:p>
        </p:txBody>
      </p:sp>
      <p:sp>
        <p:nvSpPr>
          <p:cNvPr id="19" name="Text 16"/>
          <p:cNvSpPr/>
          <p:nvPr/>
        </p:nvSpPr>
        <p:spPr>
          <a:xfrm>
            <a:off x="6437376"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Average latency with router</a:t>
            </a:r>
            <a:endParaRPr lang="en-US" sz="1300" dirty="0"/>
          </a:p>
        </p:txBody>
      </p:sp>
      <p:sp>
        <p:nvSpPr>
          <p:cNvPr id="20" name="Text 17"/>
          <p:cNvSpPr/>
          <p:nvPr/>
        </p:nvSpPr>
        <p:spPr>
          <a:xfrm>
            <a:off x="6437376"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Linear baseline 1.7 s — near flat</a:t>
            </a:r>
            <a:endParaRPr lang="en-US" sz="1050" dirty="0"/>
          </a:p>
        </p:txBody>
      </p:sp>
      <p:sp>
        <p:nvSpPr>
          <p:cNvPr id="21" name="Shape 18"/>
          <p:cNvSpPr/>
          <p:nvPr/>
        </p:nvSpPr>
        <p:spPr>
          <a:xfrm>
            <a:off x="9130284" y="1874520"/>
            <a:ext cx="2555748" cy="3063240"/>
          </a:xfrm>
          <a:prstGeom prst="rect">
            <a:avLst/>
          </a:prstGeom>
          <a:solidFill>
            <a:srgbClr val="F2F6F8"/>
          </a:solidFill>
          <a:ln w="9525">
            <a:solidFill>
              <a:srgbClr val="D9E2E8"/>
            </a:solidFill>
            <a:prstDash val="solid"/>
          </a:ln>
        </p:spPr>
      </p:sp>
      <p:sp>
        <p:nvSpPr>
          <p:cNvPr id="22" name="Shape 19"/>
          <p:cNvSpPr/>
          <p:nvPr/>
        </p:nvSpPr>
        <p:spPr>
          <a:xfrm>
            <a:off x="9130284" y="1874520"/>
            <a:ext cx="2555748" cy="73152"/>
          </a:xfrm>
          <a:prstGeom prst="rect">
            <a:avLst/>
          </a:prstGeom>
          <a:solidFill>
            <a:srgbClr val="8CC63F"/>
          </a:solidFill>
          <a:ln/>
        </p:spPr>
      </p:sp>
      <p:sp>
        <p:nvSpPr>
          <p:cNvPr id="23" name="Text 20"/>
          <p:cNvSpPr/>
          <p:nvPr/>
        </p:nvSpPr>
        <p:spPr>
          <a:xfrm>
            <a:off x="9221724"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12%</a:t>
            </a:r>
            <a:endParaRPr lang="en-US" sz="4000" dirty="0"/>
          </a:p>
        </p:txBody>
      </p:sp>
      <p:sp>
        <p:nvSpPr>
          <p:cNvPr id="24" name="Text 21"/>
          <p:cNvSpPr/>
          <p:nvPr/>
        </p:nvSpPr>
        <p:spPr>
          <a:xfrm>
            <a:off x="9313164"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Queries taking multi-hop path</a:t>
            </a:r>
            <a:endParaRPr lang="en-US" sz="1300" dirty="0"/>
          </a:p>
        </p:txBody>
      </p:sp>
      <p:sp>
        <p:nvSpPr>
          <p:cNvPr id="25" name="Text 22"/>
          <p:cNvSpPr/>
          <p:nvPr/>
        </p:nvSpPr>
        <p:spPr>
          <a:xfrm>
            <a:off x="9313164"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Expensive machinery fires only when needed</a:t>
            </a:r>
            <a:endParaRPr lang="en-US" sz="10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multi-hop row is the payoff; the flat single-fact row (0.86 throughout) is the discipline — the pattern helps only the class that needs it.</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131</a:t>
            </a:r>
            <a:endParaRPr lang="en-US" sz="8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Multi-Query Expansion with RRF Fusion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التوسعة متعددة الاستعلامات مع دمج الرتب المتبادل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collections import defaultdict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dalil.retrieve.rerank import retrieve_and_rerank</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dalil.llm import llm                      # course gateway, temperature 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rewrite_queries(query: str, n: int = 3) -&gt; list[str]: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prompt = (f"Rewrite the question into {n} diverse, retrieval-optimised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"paraphrases, one per line. Keep identifiers exactly.")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lines = [q.strip("-• ").strip() for q in llm(prompt, query).splitlines()]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[query] + [q for q in lines if q][:n]   # always keep the original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multiquery_retrieve(qdr, query, *, fetch_k=40, top_k=6):</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rrf, store = defaultdict(float),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v in rewrite_queries(query):               # each variant: full 2-stage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rank, ch in enumerate(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retrieve_and_rerank(qdr, v, fetch_k=fetch_k, top_k=top_k)):</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key = ch.doc_id + ch.text[:40]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rrf[key] += 1.0 / (60 + rank)          # RRF fusion, k=60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store[key] = ch</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[store[k] for k in sorted(rrf, key=rrf.get, reverse=True)[:top_k]]</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Every variant runs the full two-stage retrieval; RRF (k=60) fuses variant lists into one ranking.</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original query is always kept — paraphrases widen recall, they never replace the user's own words.</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132</a:t>
            </a:r>
            <a:endParaRPr lang="en-US" sz="8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Corrective RAG: A Bounded Self-Check Loop</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حلقة التحقق الذاتي المحدودة في الاسترجاع التصحيحي</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dalil.retrieve.rerank import retrieve_and_rerank</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dalil.advanced.multiquery import rewrite_queries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dalil.generate.context import build_context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dalil.generate.answer import answer, REFUSAL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dalil.llm import yes_no                   # gateway grader, temperature 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grade_relevance(question, chunks) -&gt; bool: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ctx = "\n---\n".join(c.text[:400] for c in chunks[:4])</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bool(chunks) and yes_no(f"QUESTION: {question}\nCONTEXT:\n{ctx}")</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corrective_answer(qdr, question, *, max_retries=1):</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chunks = retrieve_and_rerank(qdr, question, top_k=6)</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tries = 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while not grade_relevance(question, chunks) and tries &lt; max_retries: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tries += 1                             # bounded: never loops forever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chunks = retrieve_and_rerank(qdr, rewrite_queries(question, 1)[-1])</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not grade_relevance(question, chunks):  # still junk -&gt; refuse, not guess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{"answer": REFUSAL, "citations": [], "refused": 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answer(question, build_context(chunks))</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The while-loop is capped by max_retries — unrecoverable queries refuse instead of grounding on junk.</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Grade, retry once, then refuse: a controlled loop that self-corrects without ever burning the latency budget.</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133</a:t>
            </a:r>
            <a:endParaRPr lang="en-US" sz="8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7: Multi-Hop and Query Intelligence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السابع: الاسترجاع متعدد الخطوات وذكاء الاستعلام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Add multi-query rewriting, a two-hop decomposition path, and a bounded corrective loop to Dalil; route each query and measure gain per class against cost.</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927604"/>
            <a:ext cx="274320" cy="274320"/>
          </a:xfrm>
          <a:prstGeom prst="rect">
            <a:avLst/>
          </a:prstGeom>
          <a:solidFill>
            <a:srgbClr val="1D2A5C"/>
          </a:solidFill>
          <a:ln/>
        </p:spPr>
      </p:sp>
      <p:sp>
        <p:nvSpPr>
          <p:cNvPr id="13" name="Text 10"/>
          <p:cNvSpPr/>
          <p:nvPr/>
        </p:nvSpPr>
        <p:spPr>
          <a:xfrm>
            <a:off x="685800" y="292760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multiquery_retrieve with RRF; run under-specified probes linear vs multi-query, measured by class</a:t>
            </a:r>
            <a:endParaRPr lang="en-US" sz="1150" dirty="0"/>
          </a:p>
        </p:txBody>
      </p:sp>
      <p:sp>
        <p:nvSpPr>
          <p:cNvPr id="15" name="Shape 12"/>
          <p:cNvSpPr/>
          <p:nvPr/>
        </p:nvSpPr>
        <p:spPr>
          <a:xfrm>
            <a:off x="685800" y="3351276"/>
            <a:ext cx="274320" cy="274320"/>
          </a:xfrm>
          <a:prstGeom prst="rect">
            <a:avLst/>
          </a:prstGeom>
          <a:solidFill>
            <a:srgbClr val="1D2A5C"/>
          </a:solidFill>
          <a:ln/>
        </p:spPr>
      </p:sp>
      <p:sp>
        <p:nvSpPr>
          <p:cNvPr id="16" name="Text 13"/>
          <p:cNvSpPr/>
          <p:nvPr/>
        </p:nvSpPr>
        <p:spPr>
          <a:xfrm>
            <a:off x="685800" y="3351276"/>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276600"/>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decompose + multihop_retrieve; run the 10 multi-hop probes and check two-document citations</a:t>
            </a:r>
            <a:endParaRPr lang="en-US" sz="1150" dirty="0"/>
          </a:p>
        </p:txBody>
      </p:sp>
      <p:sp>
        <p:nvSpPr>
          <p:cNvPr id="18" name="Shape 15"/>
          <p:cNvSpPr/>
          <p:nvPr/>
        </p:nvSpPr>
        <p:spPr>
          <a:xfrm>
            <a:off x="685800" y="3774948"/>
            <a:ext cx="274320" cy="274320"/>
          </a:xfrm>
          <a:prstGeom prst="rect">
            <a:avLst/>
          </a:prstGeom>
          <a:solidFill>
            <a:srgbClr val="1D2A5C"/>
          </a:solidFill>
          <a:ln/>
        </p:spPr>
      </p:sp>
      <p:sp>
        <p:nvSpPr>
          <p:cNvPr id="19" name="Text 16"/>
          <p:cNvSpPr/>
          <p:nvPr/>
        </p:nvSpPr>
        <p:spPr>
          <a:xfrm>
            <a:off x="685800" y="3774948"/>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700272"/>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Add grade_relevance plus one corrective retry; force a bad retrieval, confirm recovery and that the cap holds</a:t>
            </a:r>
            <a:endParaRPr lang="en-US" sz="1150" dirty="0"/>
          </a:p>
        </p:txBody>
      </p:sp>
      <p:sp>
        <p:nvSpPr>
          <p:cNvPr id="21" name="Shape 18"/>
          <p:cNvSpPr/>
          <p:nvPr/>
        </p:nvSpPr>
        <p:spPr>
          <a:xfrm>
            <a:off x="685800" y="4198620"/>
            <a:ext cx="274320" cy="274320"/>
          </a:xfrm>
          <a:prstGeom prst="rect">
            <a:avLst/>
          </a:prstGeom>
          <a:solidFill>
            <a:srgbClr val="1D2A5C"/>
          </a:solidFill>
          <a:ln/>
        </p:spPr>
      </p:sp>
      <p:sp>
        <p:nvSpPr>
          <p:cNvPr id="22" name="Text 19"/>
          <p:cNvSpPr/>
          <p:nvPr/>
        </p:nvSpPr>
        <p:spPr>
          <a:xfrm>
            <a:off x="685800" y="4198620"/>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4123944"/>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Add a router (rules or LLM classifier) sending queries to linear, multi-query, multi-hop, or corrective</a:t>
            </a:r>
            <a:endParaRPr lang="en-US" sz="1150" dirty="0"/>
          </a:p>
        </p:txBody>
      </p:sp>
      <p:sp>
        <p:nvSpPr>
          <p:cNvPr id="24" name="Shape 21"/>
          <p:cNvSpPr/>
          <p:nvPr/>
        </p:nvSpPr>
        <p:spPr>
          <a:xfrm>
            <a:off x="685800" y="4622292"/>
            <a:ext cx="274320" cy="274320"/>
          </a:xfrm>
          <a:prstGeom prst="rect">
            <a:avLst/>
          </a:prstGeom>
          <a:solidFill>
            <a:srgbClr val="1D2A5C"/>
          </a:solidFill>
          <a:ln/>
        </p:spPr>
      </p:sp>
      <p:sp>
        <p:nvSpPr>
          <p:cNvPr id="25" name="Text 22"/>
          <p:cNvSpPr/>
          <p:nvPr/>
        </p:nvSpPr>
        <p:spPr>
          <a:xfrm>
            <a:off x="685800" y="4622292"/>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547616"/>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Run the full golden set through the router; re-run the Module 6 regression gate</a:t>
            </a:r>
            <a:endParaRPr lang="en-US" sz="1150" dirty="0"/>
          </a:p>
        </p:txBody>
      </p:sp>
      <p:sp>
        <p:nvSpPr>
          <p:cNvPr id="27" name="Shape 24"/>
          <p:cNvSpPr/>
          <p:nvPr/>
        </p:nvSpPr>
        <p:spPr>
          <a:xfrm>
            <a:off x="685800" y="5045964"/>
            <a:ext cx="274320" cy="274320"/>
          </a:xfrm>
          <a:prstGeom prst="rect">
            <a:avLst/>
          </a:prstGeom>
          <a:solidFill>
            <a:srgbClr val="1D2A5C"/>
          </a:solidFill>
          <a:ln/>
        </p:spPr>
      </p:sp>
      <p:sp>
        <p:nvSpPr>
          <p:cNvPr id="28" name="Text 25"/>
          <p:cNvSpPr/>
          <p:nvPr/>
        </p:nvSpPr>
        <p:spPr>
          <a:xfrm>
            <a:off x="685800" y="504596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9" name="Text 26"/>
          <p:cNvSpPr/>
          <p:nvPr/>
        </p:nvSpPr>
        <p:spPr>
          <a:xfrm>
            <a:off x="1124712" y="4971288"/>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Record accuracy gain and cost per class in EVALUATION.md; commit feat(advanced)</a:t>
            </a:r>
            <a:endParaRPr lang="en-US" sz="1150" dirty="0"/>
          </a:p>
        </p:txBody>
      </p:sp>
      <p:sp>
        <p:nvSpPr>
          <p:cNvPr id="30" name="Shape 27"/>
          <p:cNvSpPr/>
          <p:nvPr/>
        </p:nvSpPr>
        <p:spPr>
          <a:xfrm>
            <a:off x="502920" y="5650992"/>
            <a:ext cx="11183112" cy="603504"/>
          </a:xfrm>
          <a:prstGeom prst="rect">
            <a:avLst/>
          </a:prstGeom>
          <a:solidFill>
            <a:srgbClr val="F1F8E4"/>
          </a:solidFill>
          <a:ln/>
        </p:spPr>
      </p:sp>
      <p:sp>
        <p:nvSpPr>
          <p:cNvPr id="31" name="Shape 28"/>
          <p:cNvSpPr/>
          <p:nvPr/>
        </p:nvSpPr>
        <p:spPr>
          <a:xfrm>
            <a:off x="502920" y="5650992"/>
            <a:ext cx="82296" cy="603504"/>
          </a:xfrm>
          <a:prstGeom prst="rect">
            <a:avLst/>
          </a:prstGeom>
          <a:solidFill>
            <a:srgbClr val="8CC63F"/>
          </a:solidFill>
          <a:ln/>
        </p:spPr>
      </p:sp>
      <p:sp>
        <p:nvSpPr>
          <p:cNvPr id="32" name="Text 29"/>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Router-fronted Dalil with per-class gains in EVALUATION.md: multi-hop class lifted toward 0.82, regression gate green, average latency near the linear baseline.</a:t>
            </a:r>
            <a:endParaRPr lang="en-US" sz="1050" dirty="0"/>
          </a:p>
        </p:txBody>
      </p:sp>
      <p:sp>
        <p:nvSpPr>
          <p:cNvPr id="33" name="Text 3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4" name="Text 3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134</a:t>
            </a:r>
            <a:endParaRPr lang="en-US" sz="8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Mini-Exercise: The Twin Sub-Questions Bug</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مشكلة السؤالين الفرعيين المتطابقين</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 multi-hop question is decomposed into two near-identical sub-questions</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Both hops retrieve the same chunks — the multi-hop path shows no gain over linear</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Decide the fix: a better decomposition prompt, a distinctness check, or falling back to multi-query</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Explain why identical sub-questions produce no multi-hop gain</a:t>
            </a:r>
            <a:endParaRPr lang="en-US" sz="1400" dirty="0"/>
          </a:p>
        </p:txBody>
      </p:sp>
      <p:sp>
        <p:nvSpPr>
          <p:cNvPr id="14" name="Shape 11"/>
          <p:cNvSpPr/>
          <p:nvPr/>
        </p:nvSpPr>
        <p:spPr>
          <a:xfrm>
            <a:off x="8092440" y="1572768"/>
            <a:ext cx="3593592" cy="3685032"/>
          </a:xfrm>
          <a:prstGeom prst="rect">
            <a:avLst/>
          </a:prstGeom>
          <a:solidFill>
            <a:srgbClr val="E6F5F4"/>
          </a:solidFill>
          <a:ln/>
        </p:spPr>
      </p:sp>
      <p:sp>
        <p:nvSpPr>
          <p:cNvPr id="15" name="Text 12"/>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6" name="Text 13"/>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Sub-questions must be atomic AND distinct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Check evidence overlap between hops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De-dup already unions identical chunks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Twin hops ≈ multi-query at higher cost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Inspect the sub-questions — always</a:t>
            </a:r>
            <a:endParaRPr lang="en-US" sz="11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multi-hop path is only as good as its decomposition — inspect the sub-questions before blaming retrieval.</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135</a:t>
            </a:r>
            <a:endParaRPr lang="en-US" sz="8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Study: The Question That Needed Two Documents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السؤال الذي احتاج إلى وثيقتين</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Saudi government HR assistant, tuned through Module 6, still fails conditional entitlement questions: "if an employee is seconded to another ministry, do they keep their housing allowance, and for how long?" The eligibility rule lives in the secondment policy; the duration limit lives in the allowances circular. The linear pipeline retrieves one of the two and answers half the question confidently — a partial answer that reads as complete.</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How do you detect a multi-hop question reliably enough to route it without over-triggering on simple ones?</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When the two cited documents subtly disagree, does Dalil surface the conflict, prefer the recent, or refuse?</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What is the honest way to report the improvement — aggregate correctness or the multi-hop-class number?</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Where does this stop being RAG and become an agent — and what does that imply for SDA-AIE-311?</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136</a:t>
            </a:r>
            <a:endParaRPr lang="en-US" sz="8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7 Benchmarks and Targets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الوحدة السابعة وأهدافها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38"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776472"/>
                <a:gridCol w="4315968"/>
                <a:gridCol w="309067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 after M7</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measured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Multi-hop answer correctness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0.80 (linear ~0.34)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golden multi-hop subset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Under-specified recall lift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+0.10 over linear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per-class eval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Single-hop class regression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within 0.02 of linear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per-class eval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Corrective recovery rate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60% of bad retrievals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forced-failure probes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Average latency vs linear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+0.3 s p95 with routing</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timing</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Regression gate still green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faithfulness/recall in tolerance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gate run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Every target is per class or per path — an aggregate number would hide both the multi-hop win and any single-hop regression.</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137</a:t>
            </a:r>
            <a:endParaRPr lang="en-US" sz="8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7</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السابعة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Q1</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Multi-query expansion lifts recall on under-specified questions but shows no gain on identifier queries (circular numbers, form codes). Why?</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Identifiers are too short to embed, so no retrieval method can find them</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identifier class was already solved by sparse retrieval in Module 4</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reranker removes paraphrase variants before fusion can happen</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RRF fusion penalises exact-match results in favour of dense hits</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138</a:t>
            </a:r>
            <a:endParaRPr lang="en-US" sz="8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7</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السابعة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Q2</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A corrective self-RAG loop receives an unanswerable question. Without one specific safeguard, what happens — and what is that safeguard?</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grader always answers yes; safeguard is a stronger judge model</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loop retries until the budget dies; safeguard is a hard iteration cap</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router misroutes it; safeguard is sending everything to multi-hop</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context window overflows; safeguard is smaller chunk sizes</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139</a:t>
            </a:r>
            <a:endParaRPr lang="en-US" sz="8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4</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08</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Final Capstone Project</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المشروع الختامي</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Integrate Labs 1–7 into one deployable, evaluated Dalil system</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Survive the corpus_v2 staleness drill — prefer current policy, with proof</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Ship a repository that proves its own quality: harness, gate, EVALUATION.md</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Choose one advanced extension and measure it honestly</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140</a:t>
            </a:r>
            <a:endParaRPr lang="en-US" sz="8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Brief: Dalil, Assembled and Proven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الملخص: نظام دليل مكتملًا ومثبتًا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You are the RAG engineer for "Dalil", the knowledge assistant of a fictional Saudi organisation</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Seven stages built over four days become one system: ingestion to grounded, cited, refusal-capable answers</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corpus_v2 lands today with superseding documents — your system must demonstrably prefer current policy</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deliverable is a repository that proves its own quality: assistant, harness, regression gate</a:t>
            </a:r>
            <a:endParaRPr lang="en-US" sz="1400" dirty="0"/>
          </a:p>
        </p:txBody>
      </p:sp>
      <p:sp>
        <p:nvSpPr>
          <p:cNvPr id="14" name="Text 11"/>
          <p:cNvSpPr/>
          <p:nvPr/>
        </p:nvSpPr>
        <p:spPr>
          <a:xfrm>
            <a:off x="1069848" y="3383280"/>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Plus an EVALUATION.md a non-engineer risk officer can read and sign</a:t>
            </a:r>
            <a:endParaRPr lang="en-US" sz="1150" dirty="0"/>
          </a:p>
        </p:txBody>
      </p:sp>
      <p:sp>
        <p:nvSpPr>
          <p:cNvPr id="15" name="Shape 12"/>
          <p:cNvSpPr/>
          <p:nvPr/>
        </p:nvSpPr>
        <p:spPr>
          <a:xfrm>
            <a:off x="521208" y="3886200"/>
            <a:ext cx="118872" cy="118872"/>
          </a:xfrm>
          <a:prstGeom prst="rect">
            <a:avLst/>
          </a:prstGeom>
          <a:solidFill>
            <a:srgbClr val="00A79D"/>
          </a:solidFill>
          <a:ln/>
        </p:spPr>
      </p:sp>
      <p:sp>
        <p:nvSpPr>
          <p:cNvPr id="16" name="Text 13"/>
          <p:cNvSpPr/>
          <p:nvPr/>
        </p:nvSpPr>
        <p:spPr>
          <a:xfrm>
            <a:off x="795528" y="378561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This is the exact system shape you will extend with agents and tools in SDA-AIE-311</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course thesis in one artefact: numbers, not demos, prove a RAG system.</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141</a:t>
            </a:r>
            <a:endParaRPr lang="en-US" sz="8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Mandatory Requirements and Gates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المتطلبات الإلزامية وبوابات القبول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43"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5010912"/>
                <a:gridCol w="6172200"/>
              </a:tblGrid>
              <a:tr h="469773">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Mandatory requirement</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Gate / target</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End-to-end pipeline (7 stages)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integrated, runnable via make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Bilingual quality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Arabic-subset recall@10 ≥ 0.85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Retrieval measured by class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identifier class ≥ 0.80 nDCG@6</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Grounding &amp; safety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100% cited, 0 invented, ≥95% refusal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Evaluation &amp; regression gate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faithfulness ≥ 0.90, recall ≥ 0.88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Freshness (corpus_v2)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answered_stale ≤ 0.02, toggle shown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Repo quality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README + EVALUATION.md + DECISIONS.md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Every row maps to a rubric criterion — nothing on this list is optional, and every gate is a number from your own runs.</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142</a:t>
            </a:r>
            <a:endParaRPr lang="en-US" sz="8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Choose Your Extension — At Least One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اختر توسعة واحدة على الأقل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Multi-hop path: decomposition + per-hop retrieval, multi-hop subset ≥ 0.80, router keeps latency flat</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Corrective RAG: a bounded self-check loop with a measured recovery rate on forced-bad probes</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Conflict handling: detect and surface superseded-vs-current disagreement, never choose silently</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pgvector variant: reproduce the retrieval stack, compare recall/latency to Qdrant in a trade-off memo</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Thin FastAPI service: POST /v1/ask returning answer, citations, path-taken, with trace-id headers</a:t>
            </a:r>
            <a:endParaRPr lang="en-US" sz="14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extension adds up to +5 bonus only if mandatory scope is ≥ 80 — depth before breadth, always.</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143</a:t>
            </a:r>
            <a:endParaRPr lang="en-US" sz="8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Capstone Milestones and Gates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مراحل المشروع الختامي وبواباته</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4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4050792"/>
                <a:gridCol w="1463040"/>
                <a:gridCol w="5669280"/>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Milestone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Due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 Labs 1–2 integrated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 Day 1</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parse ≥ 98%, mid-sentence &lt; 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M-B: retrieval stack live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 Day 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recall@10 ≥ 0.88, identifier ≥ 0.80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M-C: grounded + evaluated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 Day 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citations 100%, faithfulness ≥ 0.90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M-D: advanced + staleness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4 H3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extension + answered_stale ≤ 0.02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M-E: demo + submission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4 H5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rubric scoring, repo-first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Three of five milestones are already behind you — today is M-D by Hour 3 and M-E by Hour 5.</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144</a:t>
            </a:r>
            <a:endParaRPr lang="en-US" sz="8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Grading Rubric — 100 Points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سلم التقييم — مئة نقطة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46"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4379976"/>
                <a:gridCol w="905256"/>
                <a:gridCol w="5897880"/>
              </a:tblGrid>
              <a:tr h="469773">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Criterion</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Distinction band (90–100%)</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Ingestion &amp; chunk quality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≥98% coverage, OCR CER ≤5%, metadata</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Retrieval (hybrid + rerank)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recall@10 ≥ 0.88, per-class, AR ≥ 0.85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Grounding, citations, refusal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100% cited, 0 invented, ≥95% refusal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Evaluation &amp; regression gate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RAGAS pinned, baseline + CI gate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Anti-staleness (corpus_v2)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answered_stale ≤ 0.02, live toggle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Advanced extension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measured, gated, no base regression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Repo, demo &amp; decisions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make demo cold-runs, trade-off literacy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Pass ≥ 70, distinction ≥ 90 — evaluation carries the most weight (20 points), exactly as the course thesis demands.</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145</a:t>
            </a:r>
            <a:endParaRPr lang="en-US" sz="8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Six-Minute Demo</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العرض النهائي في ست دقائق</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Clone-to-running via make demo — a stranger reproduces your system in ten minutes</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One Arabic and one English answer, both with verifiable chunk-level citations</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One correct refusal on an unanswerable question</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60350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staleness toggle live: filtering on answers current policy, filtering off shows the stale answer</a:t>
            </a:r>
            <a:endParaRPr lang="en-US" sz="1400" dirty="0"/>
          </a:p>
        </p:txBody>
      </p:sp>
      <p:sp>
        <p:nvSpPr>
          <p:cNvPr id="14" name="Shape 11"/>
          <p:cNvSpPr/>
          <p:nvPr/>
        </p:nvSpPr>
        <p:spPr>
          <a:xfrm>
            <a:off x="521208" y="3867912"/>
            <a:ext cx="118872" cy="118872"/>
          </a:xfrm>
          <a:prstGeom prst="rect">
            <a:avLst/>
          </a:prstGeom>
          <a:solidFill>
            <a:srgbClr val="00A79D"/>
          </a:solidFill>
          <a:ln/>
        </p:spPr>
      </p:sp>
      <p:sp>
        <p:nvSpPr>
          <p:cNvPr id="15" name="Text 12"/>
          <p:cNvSpPr/>
          <p:nvPr/>
        </p:nvSpPr>
        <p:spPr>
          <a:xfrm>
            <a:off x="795528" y="376732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 walk through the RAGAS report and the regression-gate history</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LIVE CHECKS</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Fresh unanswerable question → refuse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Fresh identifier → right circular</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RAGAS report open beside the demo</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Rubric scored live during Hour 5</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staleness toggle is the highest-signal live check — explaining why filtering off re-introduces F8 proves you own the golden thread.</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146</a:t>
            </a:r>
            <a:endParaRPr lang="en-US" sz="8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Deliverables Checklist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قائمة التسليمات النهائية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Git repository URL with full history and the lab1..lab7 checkpoint tags visible</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make demo runs the full assistant over corpus_v2 locally and answers a live probe set</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EVALUATION.md with the five benchmark tables filled from your own runs</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README.md runbook plus DECISIONS.md with five engineering decisions and rationale</a:t>
            </a:r>
            <a:endParaRPr lang="en-US" sz="1400" dirty="0"/>
          </a:p>
        </p:txBody>
      </p:sp>
      <p:sp>
        <p:nvSpPr>
          <p:cNvPr id="14" name="Text 11"/>
          <p:cNvSpPr/>
          <p:nvPr/>
        </p:nvSpPr>
        <p:spPr>
          <a:xfrm>
            <a:off x="1069848" y="3383280"/>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e.g. embedding model, chunking strategy, refusal threshold, fetch-k/top-k, quantization</a:t>
            </a:r>
            <a:endParaRPr lang="en-US" sz="1150" dirty="0"/>
          </a:p>
        </p:txBody>
      </p:sp>
      <p:sp>
        <p:nvSpPr>
          <p:cNvPr id="15" name="Shape 12"/>
          <p:cNvSpPr/>
          <p:nvPr/>
        </p:nvSpPr>
        <p:spPr>
          <a:xfrm>
            <a:off x="521208" y="3886200"/>
            <a:ext cx="118872" cy="118872"/>
          </a:xfrm>
          <a:prstGeom prst="rect">
            <a:avLst/>
          </a:prstGeom>
          <a:solidFill>
            <a:srgbClr val="00A79D"/>
          </a:solidFill>
          <a:ln/>
        </p:spPr>
      </p:sp>
      <p:sp>
        <p:nvSpPr>
          <p:cNvPr id="16" name="Text 13"/>
          <p:cNvSpPr/>
          <p:nvPr/>
        </p:nvSpPr>
        <p:spPr>
          <a:xfrm>
            <a:off x="795528" y="378561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six-minute demo delivered in Hour 5 — repository submitted by end of Hour 3</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Grading is repo-first: the evidence is read before the demo is watched — an unfinished demo hurts less than an unfilled table.</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147</a:t>
            </a:r>
            <a:endParaRPr lang="en-US" sz="8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Tips for Success — How Graders Read Your Work</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نصائح للنجاح — كيف يقرأ المقيمون عملك</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Evidence first: EVALUATION.md tables, gate history and per-class reports are read before the demo</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Never regenerate the RAGAS baseline in the same commit as a quality change</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Report per class, always — aggregate-only metrics hide a collapsed class and cap your score</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 refusal path that refuses everything games one metric while tanking helpfulness</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Be ready to explain why filtering off re-introduces stale answers — the whole golden thread in one toggle</a:t>
            </a:r>
            <a:endParaRPr lang="en-US" sz="14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Trade-off literacy is the distinction skill: every number in your tables should have a decision behind it that you can defend.</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148</a:t>
            </a:r>
            <a:endParaRPr lang="en-US" sz="8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pic>
        <p:nvPicPr>
          <p:cNvPr id="2"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3" name="Shape 0"/>
          <p:cNvSpPr/>
          <p:nvPr/>
        </p:nvSpPr>
        <p:spPr>
          <a:xfrm>
            <a:off x="502920" y="766953"/>
            <a:ext cx="301752" cy="264033"/>
          </a:xfrm>
          <a:prstGeom prst="triangle">
            <a:avLst/>
          </a:prstGeom>
          <a:solidFill>
            <a:srgbClr val="00A79D"/>
          </a:solidFill>
          <a:ln/>
        </p:spPr>
      </p:sp>
      <p:sp>
        <p:nvSpPr>
          <p:cNvPr id="4" name="Shape 1"/>
          <p:cNvSpPr/>
          <p:nvPr/>
        </p:nvSpPr>
        <p:spPr>
          <a:xfrm flipV="1">
            <a:off x="832104" y="634937"/>
            <a:ext cx="301752" cy="264033"/>
          </a:xfrm>
          <a:prstGeom prst="triangle">
            <a:avLst/>
          </a:prstGeom>
          <a:solidFill>
            <a:srgbClr val="29ABE2"/>
          </a:solidFill>
          <a:ln/>
        </p:spPr>
      </p:sp>
      <p:sp>
        <p:nvSpPr>
          <p:cNvPr id="5" name="Shape 2"/>
          <p:cNvSpPr/>
          <p:nvPr/>
        </p:nvSpPr>
        <p:spPr>
          <a:xfrm>
            <a:off x="832104" y="898970"/>
            <a:ext cx="301752" cy="264033"/>
          </a:xfrm>
          <a:prstGeom prst="triangle">
            <a:avLst/>
          </a:prstGeom>
          <a:solidFill>
            <a:srgbClr val="F7941D"/>
          </a:solidFill>
          <a:ln/>
        </p:spPr>
      </p:sp>
      <p:sp>
        <p:nvSpPr>
          <p:cNvPr id="6" name="Shape 3"/>
          <p:cNvSpPr/>
          <p:nvPr/>
        </p:nvSpPr>
        <p:spPr>
          <a:xfrm>
            <a:off x="1161288" y="502920"/>
            <a:ext cx="301752" cy="264033"/>
          </a:xfrm>
          <a:prstGeom prst="triangle">
            <a:avLst/>
          </a:prstGeom>
          <a:solidFill>
            <a:srgbClr val="8CC63F"/>
          </a:solidFill>
          <a:ln/>
        </p:spPr>
      </p:sp>
      <p:sp>
        <p:nvSpPr>
          <p:cNvPr id="7" name="Shape 4"/>
          <p:cNvSpPr/>
          <p:nvPr/>
        </p:nvSpPr>
        <p:spPr>
          <a:xfrm flipV="1">
            <a:off x="1161288" y="766953"/>
            <a:ext cx="301752" cy="264033"/>
          </a:xfrm>
          <a:prstGeom prst="triangle">
            <a:avLst/>
          </a:prstGeom>
          <a:solidFill>
            <a:srgbClr val="1D2A5C"/>
          </a:solidFill>
          <a:ln/>
        </p:spPr>
      </p:sp>
      <p:sp>
        <p:nvSpPr>
          <p:cNvPr id="8" name="Shape 5"/>
          <p:cNvSpPr/>
          <p:nvPr/>
        </p:nvSpPr>
        <p:spPr>
          <a:xfrm>
            <a:off x="1490472" y="634937"/>
            <a:ext cx="301752" cy="264033"/>
          </a:xfrm>
          <a:prstGeom prst="triangle">
            <a:avLst/>
          </a:prstGeom>
          <a:solidFill>
            <a:srgbClr val="00A79D"/>
          </a:solidFill>
          <a:ln/>
        </p:spPr>
      </p:sp>
      <p:sp>
        <p:nvSpPr>
          <p:cNvPr id="9" name="Shape 6"/>
          <p:cNvSpPr/>
          <p:nvPr/>
        </p:nvSpPr>
        <p:spPr>
          <a:xfrm flipV="1">
            <a:off x="1490472" y="898970"/>
            <a:ext cx="301752" cy="264033"/>
          </a:xfrm>
          <a:prstGeom prst="triangle">
            <a:avLst/>
          </a:prstGeom>
          <a:solidFill>
            <a:srgbClr val="29ABE2"/>
          </a:solidFill>
          <a:ln/>
        </p:spPr>
      </p:sp>
      <p:sp>
        <p:nvSpPr>
          <p:cNvPr id="10" name="Shape 7"/>
          <p:cNvSpPr/>
          <p:nvPr/>
        </p:nvSpPr>
        <p:spPr>
          <a:xfrm>
            <a:off x="1819656" y="766953"/>
            <a:ext cx="301752" cy="264033"/>
          </a:xfrm>
          <a:prstGeom prst="triangle">
            <a:avLst/>
          </a:prstGeom>
          <a:solidFill>
            <a:srgbClr val="F7941D"/>
          </a:solidFill>
          <a:ln/>
        </p:spPr>
      </p:sp>
      <p:sp>
        <p:nvSpPr>
          <p:cNvPr id="11" name="Text 8"/>
          <p:cNvSpPr/>
          <p:nvPr/>
        </p:nvSpPr>
        <p:spPr>
          <a:xfrm>
            <a:off x="1097280" y="2103120"/>
            <a:ext cx="9994392" cy="1828800"/>
          </a:xfrm>
          <a:prstGeom prst="rect">
            <a:avLst/>
          </a:prstGeom>
          <a:noFill/>
          <a:ln/>
        </p:spPr>
        <p:txBody>
          <a:bodyPr wrap="square" rtlCol="0" anchor="ctr"/>
          <a:lstStyle/>
          <a:p>
            <a:pPr algn="ctr" indent="0" marL="0">
              <a:buNone/>
            </a:pPr>
            <a:r>
              <a:rPr lang="en-US" sz="2700" b="1" dirty="0">
                <a:solidFill>
                  <a:srgbClr val="1D2A5C"/>
                </a:solidFill>
                <a:latin typeface="Calibri" pitchFamily="34" charset="0"/>
                <a:ea typeface="Calibri" pitchFamily="34" charset="-122"/>
                <a:cs typeface="Calibri" pitchFamily="34" charset="-120"/>
              </a:rPr>
              <a:t>You did not build a demo this week — you built a system that proves its own quality. Ship Dalil, defend the numbers, and carry the same shape into agents.</a:t>
            </a:r>
            <a:endParaRPr lang="en-US" sz="2700" dirty="0"/>
          </a:p>
        </p:txBody>
      </p:sp>
      <p:sp>
        <p:nvSpPr>
          <p:cNvPr id="12" name="Text 9"/>
          <p:cNvSpPr/>
          <p:nvPr/>
        </p:nvSpPr>
        <p:spPr>
          <a:xfrm>
            <a:off x="1097280" y="4041648"/>
            <a:ext cx="9994392" cy="502920"/>
          </a:xfrm>
          <a:prstGeom prst="rect">
            <a:avLst/>
          </a:prstGeom>
          <a:noFill/>
          <a:ln/>
        </p:spPr>
        <p:txBody>
          <a:bodyPr wrap="square" rtlCol="0" anchor="ctr"/>
          <a:lstStyle/>
          <a:p>
            <a:pPr algn="ctr" indent="0" marL="0">
              <a:buNone/>
            </a:pPr>
            <a:r>
              <a:rPr lang="en-US" sz="1500" dirty="0">
                <a:solidFill>
                  <a:srgbClr val="00A79D"/>
                </a:solidFill>
                <a:latin typeface="Calibri" pitchFamily="34" charset="0"/>
                <a:ea typeface="Calibri" pitchFamily="34" charset="-122"/>
                <a:cs typeface="Calibri" pitchFamily="34" charset="-120"/>
              </a:rPr>
              <a:t>ابنِ نظامًا يثبت جودته بالأرقام</a:t>
            </a:r>
            <a:endParaRPr lang="en-US" sz="1500" dirty="0"/>
          </a:p>
        </p:txBody>
      </p:sp>
      <p:sp>
        <p:nvSpPr>
          <p:cNvPr id="13" name="Text 10"/>
          <p:cNvSpPr/>
          <p:nvPr/>
        </p:nvSpPr>
        <p:spPr>
          <a:xfrm>
            <a:off x="1097280" y="4663440"/>
            <a:ext cx="9994392" cy="365760"/>
          </a:xfrm>
          <a:prstGeom prst="rect">
            <a:avLst/>
          </a:prstGeom>
          <a:noFill/>
          <a:ln/>
        </p:spPr>
        <p:txBody>
          <a:bodyPr wrap="square" rtlCol="0" anchor="ctr"/>
          <a:lstStyle/>
          <a:p>
            <a:pPr algn="ctr" indent="0" marL="0">
              <a:buNone/>
            </a:pPr>
            <a:r>
              <a:rPr lang="en-US" sz="1200" dirty="0">
                <a:solidFill>
                  <a:srgbClr val="6E7B8A"/>
                </a:solidFill>
                <a:latin typeface="Calibri" pitchFamily="34" charset="0"/>
                <a:ea typeface="Calibri" pitchFamily="34" charset="-122"/>
                <a:cs typeface="Calibri" pitchFamily="34" charset="-120"/>
              </a:rPr>
              <a:t>— SDAIA Academy — SDA-AIE-214</a:t>
            </a:r>
            <a:endParaRPr lang="en-US" sz="1200" dirty="0"/>
          </a:p>
        </p:txBody>
      </p:sp>
      <p:sp>
        <p:nvSpPr>
          <p:cNvPr id="14" name="Shape 11"/>
          <p:cNvSpPr/>
          <p:nvPr/>
        </p:nvSpPr>
        <p:spPr>
          <a:xfrm>
            <a:off x="5413248" y="5303520"/>
            <a:ext cx="1371600" cy="45720"/>
          </a:xfrm>
          <a:prstGeom prst="rect">
            <a:avLst/>
          </a:prstGeom>
          <a:solidFill>
            <a:srgbClr val="00A79D"/>
          </a:solidFill>
          <a:ln/>
        </p:spPr>
      </p:sp>
      <p:sp>
        <p:nvSpPr>
          <p:cNvPr id="15" name="Text 1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6" name="Text 1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149</a:t>
            </a:r>
            <a:endParaRPr lang="en-US" sz="8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4</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09</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Assessment and Certification</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التقييم والشهادات</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How the course grade is assembled: labs, practicals, quiz, capstone</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What earns the RAG badge — and what disqualifies it</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Instructor guide: pacing rules, common struggles, environment prep</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Where the journey continues after this course</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150</a:t>
            </a:r>
            <a:endParaRPr lang="en-US" sz="8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Course Grade: Components and Weights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مكوّنات الدرجة النهائية وأوزانها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52"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785616"/>
                <a:gridCol w="987552"/>
                <a:gridCol w="6409944"/>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Lab completion (7 labs)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Commits + outputs + stickers removed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PA-1 + PA-2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Diagnosis notes, verified fixes, triage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Quiz (10 of 20 bank)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15 min, closed book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Capstone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Rubric; EVALUATION.md + gate history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RAG badge: at least 70 overall AND capstone at least 70 AND zero academic-integrity flags — identical golden-set answers and copied EVALUATION tables are checked across repos.</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151</a:t>
            </a:r>
            <a:endParaRPr lang="en-US" sz="8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How the Practical Assessments Are Scored</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كيف تُقيَّم الاختبارات العملية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PA-1 Retrieval clinic (25 min, Day 2 H5): diagnose and fix three broken retrievers</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Correct diagnosis from evidence — 40%</a:t>
            </a:r>
            <a:endParaRPr lang="en-US" sz="1150" dirty="0"/>
          </a:p>
        </p:txBody>
      </p:sp>
      <p:sp>
        <p:nvSpPr>
          <p:cNvPr id="9" name="Text 6"/>
          <p:cNvSpPr/>
          <p:nvPr/>
        </p:nvSpPr>
        <p:spPr>
          <a:xfrm>
            <a:off x="1069848" y="2249424"/>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Fixes verified against the labelled set — 40%</a:t>
            </a:r>
            <a:endParaRPr lang="en-US" sz="1150" dirty="0"/>
          </a:p>
        </p:txBody>
      </p:sp>
      <p:sp>
        <p:nvSpPr>
          <p:cNvPr id="10" name="Text 7"/>
          <p:cNvSpPr/>
          <p:nvPr/>
        </p:nvSpPr>
        <p:spPr>
          <a:xfrm>
            <a:off x="1069848" y="254203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Per-class reporting used, not aggregates — 20%</a:t>
            </a:r>
            <a:endParaRPr lang="en-US" sz="1150" dirty="0"/>
          </a:p>
        </p:txBody>
      </p:sp>
      <p:sp>
        <p:nvSpPr>
          <p:cNvPr id="11" name="Shape 8"/>
          <p:cNvSpPr/>
          <p:nvPr/>
        </p:nvSpPr>
        <p:spPr>
          <a:xfrm>
            <a:off x="521208" y="3044952"/>
            <a:ext cx="118872" cy="118872"/>
          </a:xfrm>
          <a:prstGeom prst="rect">
            <a:avLst/>
          </a:prstGeom>
          <a:solidFill>
            <a:srgbClr val="00A79D"/>
          </a:solidFill>
          <a:ln/>
        </p:spPr>
      </p:sp>
      <p:sp>
        <p:nvSpPr>
          <p:cNvPr id="12" name="Text 9"/>
          <p:cNvSpPr/>
          <p:nvPr/>
        </p:nvSpPr>
        <p:spPr>
          <a:xfrm>
            <a:off x="795528" y="294436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PA-2 Hallucination and staleness triage (25 min, Day 3 H5): classify each failure, name the owning stage</a:t>
            </a:r>
            <a:endParaRPr lang="en-US" sz="1400" dirty="0"/>
          </a:p>
        </p:txBody>
      </p:sp>
      <p:sp>
        <p:nvSpPr>
          <p:cNvPr id="13" name="Text 10"/>
          <p:cNvSpPr/>
          <p:nvPr/>
        </p:nvSpPr>
        <p:spPr>
          <a:xfrm>
            <a:off x="1069848" y="3310128"/>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Correctness of classification — 50%</a:t>
            </a:r>
            <a:endParaRPr lang="en-US" sz="1150" dirty="0"/>
          </a:p>
        </p:txBody>
      </p:sp>
      <p:sp>
        <p:nvSpPr>
          <p:cNvPr id="14" name="Text 11"/>
          <p:cNvSpPr/>
          <p:nvPr/>
        </p:nvSpPr>
        <p:spPr>
          <a:xfrm>
            <a:off x="1069848" y="360273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Stage attribution, M2 metadata through M6 gate — 30%</a:t>
            </a:r>
            <a:endParaRPr lang="en-US" sz="1150" dirty="0"/>
          </a:p>
        </p:txBody>
      </p:sp>
      <p:sp>
        <p:nvSpPr>
          <p:cNvPr id="15" name="Text 12"/>
          <p:cNvSpPr/>
          <p:nvPr/>
        </p:nvSpPr>
        <p:spPr>
          <a:xfrm>
            <a:off x="1069848" y="3895344"/>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Governance reasoning on the refusal threshold — 20%</a:t>
            </a:r>
            <a:endParaRPr lang="en-US" sz="1150" dirty="0"/>
          </a:p>
        </p:txBody>
      </p:sp>
      <p:sp>
        <p:nvSpPr>
          <p:cNvPr id="16" name="Shape 13"/>
          <p:cNvSpPr/>
          <p:nvPr/>
        </p:nvSpPr>
        <p:spPr>
          <a:xfrm>
            <a:off x="521208" y="4398264"/>
            <a:ext cx="118872" cy="118872"/>
          </a:xfrm>
          <a:prstGeom prst="rect">
            <a:avLst/>
          </a:prstGeom>
          <a:solidFill>
            <a:srgbClr val="00A79D"/>
          </a:solidFill>
          <a:ln/>
        </p:spPr>
      </p:sp>
      <p:sp>
        <p:nvSpPr>
          <p:cNvPr id="17" name="Text 14"/>
          <p:cNvSpPr/>
          <p:nvPr/>
        </p:nvSpPr>
        <p:spPr>
          <a:xfrm>
            <a:off x="795528" y="429768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Quiz: 10 questions per cohort drawn from the 20-question bank — 15 minutes, closed book</a:t>
            </a:r>
            <a:endParaRPr lang="en-US" sz="1400" dirty="0"/>
          </a:p>
        </p:txBody>
      </p:sp>
      <p:sp>
        <p:nvSpPr>
          <p:cNvPr id="18" name="Shape 15"/>
          <p:cNvSpPr/>
          <p:nvPr/>
        </p:nvSpPr>
        <p:spPr>
          <a:xfrm>
            <a:off x="521208" y="4873752"/>
            <a:ext cx="118872" cy="118872"/>
          </a:xfrm>
          <a:prstGeom prst="rect">
            <a:avLst/>
          </a:prstGeom>
          <a:solidFill>
            <a:srgbClr val="00A79D"/>
          </a:solidFill>
          <a:ln/>
        </p:spPr>
      </p:sp>
      <p:sp>
        <p:nvSpPr>
          <p:cNvPr id="19" name="Text 16"/>
          <p:cNvSpPr/>
          <p:nvPr/>
        </p:nvSpPr>
        <p:spPr>
          <a:xfrm>
            <a:off x="795528" y="477316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PA-3 is the capstone itself, graded on the rubric — 40% of the course grade</a:t>
            </a:r>
            <a:endParaRPr lang="en-US" sz="1400" dirty="0"/>
          </a:p>
        </p:txBody>
      </p:sp>
      <p:sp>
        <p:nvSpPr>
          <p:cNvPr id="20" name="Shape 17"/>
          <p:cNvSpPr/>
          <p:nvPr/>
        </p:nvSpPr>
        <p:spPr>
          <a:xfrm>
            <a:off x="502920" y="5394960"/>
            <a:ext cx="11183112" cy="777240"/>
          </a:xfrm>
          <a:prstGeom prst="rect">
            <a:avLst/>
          </a:prstGeom>
          <a:solidFill>
            <a:srgbClr val="E6F5F4"/>
          </a:solidFill>
          <a:ln/>
        </p:spPr>
      </p:sp>
      <p:sp>
        <p:nvSpPr>
          <p:cNvPr id="21" name="Text 1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Both practicals reward diagnosis from evidence over lucky fixes — the rubric weights mirror what production debugging actually demands.</a:t>
            </a:r>
            <a:endParaRPr lang="en-US" sz="1050" dirty="0"/>
          </a:p>
        </p:txBody>
      </p:sp>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152</a:t>
            </a:r>
            <a:endParaRPr lang="en-US" sz="8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Instructor Guide: Pacing and Delivery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دليل المدرّب: الإيقاع والتنفيذ</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Protect Lab 2 (ingestion/OCR) and Lab 4 (hybrid + reranker) at full length — the overrun-prone labs</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Behind? Compress M6 theory — but never cut the Lab 6 staleness toggle, the golden-thread payoff</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60350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Strong cohort? Pull multi-hop and corrective into main scope; add the pgvector comparison as stretch</a:t>
            </a:r>
            <a:endParaRPr lang="en-US" sz="1400" dirty="0"/>
          </a:p>
        </p:txBody>
      </p:sp>
      <p:sp>
        <p:nvSpPr>
          <p:cNvPr id="12" name="Shape 9"/>
          <p:cNvSpPr/>
          <p:nvPr/>
        </p:nvSpPr>
        <p:spPr>
          <a:xfrm>
            <a:off x="521208" y="3392424"/>
            <a:ext cx="118872" cy="118872"/>
          </a:xfrm>
          <a:prstGeom prst="rect">
            <a:avLst/>
          </a:prstGeom>
          <a:solidFill>
            <a:srgbClr val="00A79D"/>
          </a:solidFill>
          <a:ln/>
        </p:spPr>
      </p:sp>
      <p:sp>
        <p:nvSpPr>
          <p:cNvPr id="13" name="Text 10"/>
          <p:cNvSpPr/>
          <p:nvPr/>
        </p:nvSpPr>
        <p:spPr>
          <a:xfrm>
            <a:off x="795528" y="3291840"/>
            <a:ext cx="7040880" cy="60350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Hard rule: capstone assembly (Day 4 H3) starts on time with corpus_v2 frozen — cut discussion, not build</a:t>
            </a:r>
            <a:endParaRPr lang="en-US" sz="1400" dirty="0"/>
          </a:p>
        </p:txBody>
      </p:sp>
      <p:sp>
        <p:nvSpPr>
          <p:cNvPr id="14" name="Shape 11"/>
          <p:cNvSpPr/>
          <p:nvPr/>
        </p:nvSpPr>
        <p:spPr>
          <a:xfrm>
            <a:off x="521208" y="4142232"/>
            <a:ext cx="118872" cy="118872"/>
          </a:xfrm>
          <a:prstGeom prst="rect">
            <a:avLst/>
          </a:prstGeom>
          <a:solidFill>
            <a:srgbClr val="00A79D"/>
          </a:solidFill>
          <a:ln/>
        </p:spPr>
      </p:sp>
      <p:sp>
        <p:nvSpPr>
          <p:cNvPr id="15" name="Text 12"/>
          <p:cNvSpPr/>
          <p:nvPr/>
        </p:nvSpPr>
        <p:spPr>
          <a:xfrm>
            <a:off x="795528" y="404164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Publish -start tags so stragglers fast-forward; collect repo URLs at end of Day 4 H3</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COMMON STRUGGLES</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Qdrant down / port 6333 clash — floater support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Models downloading mid-lab — pre-pull to HF_HOME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Arabic OCR renders boxes — psm 4, ara pack, 400 DPI</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Judge scores wobble — pin judge model, temp 0</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Docker anxiety (DS background) — pairing strategy</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overruns are predictable: parsing and reranker downloads. Pre-pull the models, publish the start tags, and the schedule holds itself.</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153</a:t>
            </a:r>
            <a:endParaRPr lang="en-US" sz="8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Environment Checklist Before Delivery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قائمة تجهيز البيئة قبل التدريب</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T-1 week: push lab1-start through lab7-start tags; verify each checkout lands on a runnable state</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Cache the model bundle: bge-m3, bge-reranker-v2-m3, MiniLM contrast, the LoRA, the pinned judge</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Regenerate baseline.json and golden_qa_v1.jsonl against pinned versions; gate must run green</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Stage corpus_v1 (300 docs) and the Day-4 corpus_v2; provision gateway keys with spend caps</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Participants, T-2 days: Python 3.12, Docker, Tesseract with the ara pack, make doctor all green</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MAKE DOCTOR VERIFIES</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Qdrant reachable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Models cached locally</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Tesseract ara pack present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Gateway key in settings.env</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Classroom bandwidth must never gate a lab — everything downloadable gets pulled and cached a week before anyone walks in.</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154</a:t>
            </a:r>
            <a:endParaRPr lang="en-US" sz="8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4 Wrap-Up: The Final Fifteen Minutes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ختام اليوم الرابع: الدقائق الخمس عشرة الأخيرة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Walk the wall poster: all eight failure stickers removed, each mapped to its module and lab</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Map each mandatory capstone requirement to the module that taught it — one slide</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Show the EVALUATION.md tables as the evidence pack a risk officer signs</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Collect repository URLs, EVALUATION.md, and DECISIONS.md from every participant</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Issue RAG-badge recommendations within 5 working days</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TRANSITION PROMPTS</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Rebut the 1M-token-context claim — with numbers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Which failure class hurts your org most?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0.91 aggregate, Arabic collapses — the lesson?</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Who owns the refusal threshold?</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When does Dalil become an agent?</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poster is the course spine made physical — eight failures, eight stickers, each retired by a specific module and lab.</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155</a:t>
            </a:r>
            <a:endParaRPr lang="en-US" sz="8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Learner Journey: What Comes Next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رحلة المتعلّم: الخطوات التالية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2439162" cy="2880360"/>
          </a:xfrm>
          <a:prstGeom prst="rect">
            <a:avLst/>
          </a:prstGeom>
          <a:solidFill>
            <a:srgbClr val="F2F6F8"/>
          </a:solidFill>
          <a:ln w="9525">
            <a:solidFill>
              <a:srgbClr val="D9E2E8"/>
            </a:solidFill>
            <a:prstDash val="solid"/>
          </a:ln>
        </p:spPr>
      </p:sp>
      <p:sp>
        <p:nvSpPr>
          <p:cNvPr id="7" name="Shape 4"/>
          <p:cNvSpPr/>
          <p:nvPr/>
        </p:nvSpPr>
        <p:spPr>
          <a:xfrm>
            <a:off x="502920" y="1965960"/>
            <a:ext cx="243916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SDA-AIE-214</a:t>
            </a:r>
            <a:endParaRPr lang="en-US" sz="1350" dirty="0"/>
          </a:p>
        </p:txBody>
      </p:sp>
      <p:sp>
        <p:nvSpPr>
          <p:cNvPr id="10" name="Text 7"/>
          <p:cNvSpPr/>
          <p:nvPr/>
        </p:nvSpPr>
        <p:spPr>
          <a:xfrm>
            <a:off x="64008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Complete labs, both practicals, and the Dalil capstone with its evaluation harness</a:t>
            </a:r>
            <a:endParaRPr lang="en-US" sz="1050" dirty="0"/>
          </a:p>
        </p:txBody>
      </p:sp>
      <p:sp>
        <p:nvSpPr>
          <p:cNvPr id="11" name="Shape 8"/>
          <p:cNvSpPr/>
          <p:nvPr/>
        </p:nvSpPr>
        <p:spPr>
          <a:xfrm>
            <a:off x="3024378" y="3268980"/>
            <a:ext cx="310896" cy="274320"/>
          </a:xfrm>
          <a:prstGeom prst="rightArrow">
            <a:avLst/>
          </a:prstGeom>
          <a:solidFill>
            <a:srgbClr val="00A79D"/>
          </a:solidFill>
          <a:ln/>
        </p:spPr>
      </p:sp>
      <p:sp>
        <p:nvSpPr>
          <p:cNvPr id="12" name="Shape 9"/>
          <p:cNvSpPr/>
          <p:nvPr/>
        </p:nvSpPr>
        <p:spPr>
          <a:xfrm>
            <a:off x="3417570" y="1965960"/>
            <a:ext cx="2439162" cy="2880360"/>
          </a:xfrm>
          <a:prstGeom prst="rect">
            <a:avLst/>
          </a:prstGeom>
          <a:solidFill>
            <a:srgbClr val="F2F6F8"/>
          </a:solidFill>
          <a:ln w="9525">
            <a:solidFill>
              <a:srgbClr val="D9E2E8"/>
            </a:solidFill>
            <a:prstDash val="solid"/>
          </a:ln>
        </p:spPr>
      </p:sp>
      <p:sp>
        <p:nvSpPr>
          <p:cNvPr id="13" name="Shape 10"/>
          <p:cNvSpPr/>
          <p:nvPr/>
        </p:nvSpPr>
        <p:spPr>
          <a:xfrm>
            <a:off x="3417570" y="1965960"/>
            <a:ext cx="2439162" cy="73152"/>
          </a:xfrm>
          <a:prstGeom prst="rect">
            <a:avLst/>
          </a:prstGeom>
          <a:solidFill>
            <a:srgbClr val="29ABE2"/>
          </a:solidFill>
          <a:ln/>
        </p:spPr>
      </p:sp>
      <p:sp>
        <p:nvSpPr>
          <p:cNvPr id="14" name="Text 11"/>
          <p:cNvSpPr/>
          <p:nvPr/>
        </p:nvSpPr>
        <p:spPr>
          <a:xfrm>
            <a:off x="355473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355473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RAG badge</a:t>
            </a:r>
            <a:endParaRPr lang="en-US" sz="1350" dirty="0"/>
          </a:p>
        </p:txBody>
      </p:sp>
      <p:sp>
        <p:nvSpPr>
          <p:cNvPr id="16" name="Text 13"/>
          <p:cNvSpPr/>
          <p:nvPr/>
        </p:nvSpPr>
        <p:spPr>
          <a:xfrm>
            <a:off x="355473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Requires 70+ overall and capstone 70+; recommendations issued within 5 working days</a:t>
            </a:r>
            <a:endParaRPr lang="en-US" sz="1050" dirty="0"/>
          </a:p>
        </p:txBody>
      </p:sp>
      <p:sp>
        <p:nvSpPr>
          <p:cNvPr id="17" name="Shape 14"/>
          <p:cNvSpPr/>
          <p:nvPr/>
        </p:nvSpPr>
        <p:spPr>
          <a:xfrm>
            <a:off x="5939028" y="3268980"/>
            <a:ext cx="310896" cy="274320"/>
          </a:xfrm>
          <a:prstGeom prst="rightArrow">
            <a:avLst/>
          </a:prstGeom>
          <a:solidFill>
            <a:srgbClr val="00A79D"/>
          </a:solidFill>
          <a:ln/>
        </p:spPr>
      </p:sp>
      <p:sp>
        <p:nvSpPr>
          <p:cNvPr id="18" name="Shape 15"/>
          <p:cNvSpPr/>
          <p:nvPr/>
        </p:nvSpPr>
        <p:spPr>
          <a:xfrm>
            <a:off x="6332220" y="1965960"/>
            <a:ext cx="2439162" cy="2880360"/>
          </a:xfrm>
          <a:prstGeom prst="rect">
            <a:avLst/>
          </a:prstGeom>
          <a:solidFill>
            <a:srgbClr val="F2F6F8"/>
          </a:solidFill>
          <a:ln w="9525">
            <a:solidFill>
              <a:srgbClr val="D9E2E8"/>
            </a:solidFill>
            <a:prstDash val="solid"/>
          </a:ln>
        </p:spPr>
      </p:sp>
      <p:sp>
        <p:nvSpPr>
          <p:cNvPr id="19" name="Shape 16"/>
          <p:cNvSpPr/>
          <p:nvPr/>
        </p:nvSpPr>
        <p:spPr>
          <a:xfrm>
            <a:off x="6332220" y="1965960"/>
            <a:ext cx="2439162" cy="73152"/>
          </a:xfrm>
          <a:prstGeom prst="rect">
            <a:avLst/>
          </a:prstGeom>
          <a:solidFill>
            <a:srgbClr val="F7941D"/>
          </a:solidFill>
          <a:ln/>
        </p:spPr>
      </p:sp>
      <p:sp>
        <p:nvSpPr>
          <p:cNvPr id="20" name="Text 17"/>
          <p:cNvSpPr/>
          <p:nvPr/>
        </p:nvSpPr>
        <p:spPr>
          <a:xfrm>
            <a:off x="646938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646938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Credential stack</a:t>
            </a:r>
            <a:endParaRPr lang="en-US" sz="1350" dirty="0"/>
          </a:p>
        </p:txBody>
      </p:sp>
      <p:sp>
        <p:nvSpPr>
          <p:cNvPr id="22" name="Text 19"/>
          <p:cNvSpPr/>
          <p:nvPr/>
        </p:nvSpPr>
        <p:spPr>
          <a:xfrm>
            <a:off x="646938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Counts toward AI Engineer Specialist Certificate + GenAI Engineering micro-specialization</a:t>
            </a:r>
            <a:endParaRPr lang="en-US" sz="1050" dirty="0"/>
          </a:p>
        </p:txBody>
      </p:sp>
      <p:sp>
        <p:nvSpPr>
          <p:cNvPr id="23" name="Shape 20"/>
          <p:cNvSpPr/>
          <p:nvPr/>
        </p:nvSpPr>
        <p:spPr>
          <a:xfrm>
            <a:off x="8853678" y="3268980"/>
            <a:ext cx="310896" cy="274320"/>
          </a:xfrm>
          <a:prstGeom prst="rightArrow">
            <a:avLst/>
          </a:prstGeom>
          <a:solidFill>
            <a:srgbClr val="00A79D"/>
          </a:solidFill>
          <a:ln/>
        </p:spPr>
      </p:sp>
      <p:sp>
        <p:nvSpPr>
          <p:cNvPr id="24" name="Shape 21"/>
          <p:cNvSpPr/>
          <p:nvPr/>
        </p:nvSpPr>
        <p:spPr>
          <a:xfrm>
            <a:off x="9246870" y="1965960"/>
            <a:ext cx="2439162" cy="2880360"/>
          </a:xfrm>
          <a:prstGeom prst="rect">
            <a:avLst/>
          </a:prstGeom>
          <a:solidFill>
            <a:srgbClr val="F2F6F8"/>
          </a:solidFill>
          <a:ln w="9525">
            <a:solidFill>
              <a:srgbClr val="D9E2E8"/>
            </a:solidFill>
            <a:prstDash val="solid"/>
          </a:ln>
        </p:spPr>
      </p:sp>
      <p:sp>
        <p:nvSpPr>
          <p:cNvPr id="25" name="Shape 22"/>
          <p:cNvSpPr/>
          <p:nvPr/>
        </p:nvSpPr>
        <p:spPr>
          <a:xfrm>
            <a:off x="9246870" y="1965960"/>
            <a:ext cx="2439162" cy="73152"/>
          </a:xfrm>
          <a:prstGeom prst="rect">
            <a:avLst/>
          </a:prstGeom>
          <a:solidFill>
            <a:srgbClr val="8CC63F"/>
          </a:solidFill>
          <a:ln/>
        </p:spPr>
      </p:sp>
      <p:sp>
        <p:nvSpPr>
          <p:cNvPr id="26" name="Text 23"/>
          <p:cNvSpPr/>
          <p:nvPr/>
        </p:nvSpPr>
        <p:spPr>
          <a:xfrm>
            <a:off x="938403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938403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SDA-AIE-311</a:t>
            </a:r>
            <a:endParaRPr lang="en-US" sz="1350" dirty="0"/>
          </a:p>
        </p:txBody>
      </p:sp>
      <p:sp>
        <p:nvSpPr>
          <p:cNvPr id="28" name="Text 25"/>
          <p:cNvSpPr/>
          <p:nvPr/>
        </p:nvSpPr>
        <p:spPr>
          <a:xfrm>
            <a:off x="938403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Advanced Agentic AI Systems Engineering — planning, MCP tools, multi-agent orchestration</a:t>
            </a:r>
            <a:endParaRPr lang="en-US" sz="1050" dirty="0"/>
          </a:p>
        </p:txBody>
      </p:sp>
      <p:sp>
        <p:nvSpPr>
          <p:cNvPr id="29" name="Shape 26"/>
          <p:cNvSpPr/>
          <p:nvPr/>
        </p:nvSpPr>
        <p:spPr>
          <a:xfrm>
            <a:off x="502920" y="5394960"/>
            <a:ext cx="11183112" cy="777240"/>
          </a:xfrm>
          <a:prstGeom prst="rect">
            <a:avLst/>
          </a:prstGeom>
          <a:solidFill>
            <a:srgbClr val="E6F5F4"/>
          </a:solidFill>
          <a:ln/>
        </p:spPr>
      </p:sp>
      <p:sp>
        <p:nvSpPr>
          <p:cNvPr id="30" name="Text 2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Dalil corrective loop is already a one-tool agent — SDA-AIE-311 adds planning and orchestration on the exact retrieval substrate built here.</a:t>
            </a:r>
            <a:endParaRPr lang="en-US" sz="1050" dirty="0"/>
          </a:p>
        </p:txBody>
      </p:sp>
      <p:sp>
        <p:nvSpPr>
          <p:cNvPr id="31" name="Text 2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2" name="Text 2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156</a:t>
            </a:r>
            <a:endParaRPr lang="en-US" sz="8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Learning Outcomes — Achieved</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مخرجات التعلم التي تحققت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20418"/>
            <a:ext cx="402336" cy="402336"/>
          </a:xfrm>
          <a:prstGeom prst="rect">
            <a:avLst/>
          </a:prstGeom>
          <a:solidFill>
            <a:srgbClr val="00A79D"/>
          </a:solidFill>
          <a:ln/>
        </p:spPr>
      </p:sp>
      <p:sp>
        <p:nvSpPr>
          <p:cNvPr id="7" name="Text 4"/>
          <p:cNvSpPr/>
          <p:nvPr/>
        </p:nvSpPr>
        <p:spPr>
          <a:xfrm>
            <a:off x="502920" y="182041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1983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LO1   </a:t>
            </a:r>
            <a:pPr indent="0" marL="0">
              <a:buNone/>
            </a:pPr>
            <a:r>
              <a:rPr lang="en-US" sz="1350" dirty="0">
                <a:solidFill>
                  <a:srgbClr val="2B2B2B"/>
                </a:solidFill>
                <a:latin typeface="Calibri" pitchFamily="34" charset="0"/>
                <a:ea typeface="Calibri" pitchFamily="34" charset="-122"/>
                <a:cs typeface="Calibri" pitchFamily="34" charset="-120"/>
              </a:rPr>
              <a:t>You designed an end-to-end RAG architecture for an enterprise knowledge base</a:t>
            </a:r>
            <a:endParaRPr lang="en-US" sz="1200" dirty="0"/>
          </a:p>
        </p:txBody>
      </p:sp>
      <p:sp>
        <p:nvSpPr>
          <p:cNvPr id="9" name="Shape 6"/>
          <p:cNvSpPr/>
          <p:nvPr/>
        </p:nvSpPr>
        <p:spPr>
          <a:xfrm>
            <a:off x="502920" y="2608326"/>
            <a:ext cx="402336" cy="402336"/>
          </a:xfrm>
          <a:prstGeom prst="rect">
            <a:avLst/>
          </a:prstGeom>
          <a:solidFill>
            <a:srgbClr val="29ABE2"/>
          </a:solidFill>
          <a:ln/>
        </p:spPr>
      </p:sp>
      <p:sp>
        <p:nvSpPr>
          <p:cNvPr id="10" name="Text 7"/>
          <p:cNvSpPr/>
          <p:nvPr/>
        </p:nvSpPr>
        <p:spPr>
          <a:xfrm>
            <a:off x="502920" y="2608326"/>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507742"/>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LO2   </a:t>
            </a:r>
            <a:pPr indent="0" marL="0">
              <a:buNone/>
            </a:pPr>
            <a:r>
              <a:rPr lang="en-US" sz="1350" dirty="0">
                <a:solidFill>
                  <a:srgbClr val="2B2B2B"/>
                </a:solidFill>
                <a:latin typeface="Calibri" pitchFamily="34" charset="0"/>
                <a:ea typeface="Calibri" pitchFamily="34" charset="-122"/>
                <a:cs typeface="Calibri" pitchFamily="34" charset="-120"/>
              </a:rPr>
              <a:t>You implemented ingestion, chunking, and embedding pipelines for heterogeneous documents</a:t>
            </a:r>
            <a:endParaRPr lang="en-US" sz="1200" dirty="0"/>
          </a:p>
        </p:txBody>
      </p:sp>
      <p:sp>
        <p:nvSpPr>
          <p:cNvPr id="12" name="Shape 9"/>
          <p:cNvSpPr/>
          <p:nvPr/>
        </p:nvSpPr>
        <p:spPr>
          <a:xfrm>
            <a:off x="502920" y="3396234"/>
            <a:ext cx="402336" cy="402336"/>
          </a:xfrm>
          <a:prstGeom prst="rect">
            <a:avLst/>
          </a:prstGeom>
          <a:solidFill>
            <a:srgbClr val="F7941D"/>
          </a:solidFill>
          <a:ln/>
        </p:spPr>
      </p:sp>
      <p:sp>
        <p:nvSpPr>
          <p:cNvPr id="13" name="Text 10"/>
          <p:cNvSpPr/>
          <p:nvPr/>
        </p:nvSpPr>
        <p:spPr>
          <a:xfrm>
            <a:off x="502920" y="339623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295650"/>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   </a:t>
            </a:r>
            <a:pPr indent="0" marL="0">
              <a:buNone/>
            </a:pPr>
            <a:r>
              <a:rPr lang="en-US" sz="1350" dirty="0">
                <a:solidFill>
                  <a:srgbClr val="2B2B2B"/>
                </a:solidFill>
                <a:latin typeface="Calibri" pitchFamily="34" charset="0"/>
                <a:ea typeface="Calibri" pitchFamily="34" charset="-122"/>
                <a:cs typeface="Calibri" pitchFamily="34" charset="-120"/>
              </a:rPr>
              <a:t>You developed a retrieval stack combining vector, keyword, and hybrid search with reranking</a:t>
            </a:r>
            <a:endParaRPr lang="en-US" sz="1200" dirty="0"/>
          </a:p>
        </p:txBody>
      </p:sp>
      <p:sp>
        <p:nvSpPr>
          <p:cNvPr id="15" name="Shape 12"/>
          <p:cNvSpPr/>
          <p:nvPr/>
        </p:nvSpPr>
        <p:spPr>
          <a:xfrm>
            <a:off x="502920" y="4184142"/>
            <a:ext cx="402336" cy="402336"/>
          </a:xfrm>
          <a:prstGeom prst="rect">
            <a:avLst/>
          </a:prstGeom>
          <a:solidFill>
            <a:srgbClr val="8CC63F"/>
          </a:solidFill>
          <a:ln/>
        </p:spPr>
      </p:sp>
      <p:sp>
        <p:nvSpPr>
          <p:cNvPr id="16" name="Text 13"/>
          <p:cNvSpPr/>
          <p:nvPr/>
        </p:nvSpPr>
        <p:spPr>
          <a:xfrm>
            <a:off x="502920" y="4184142"/>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083558"/>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   </a:t>
            </a:r>
            <a:pPr indent="0" marL="0">
              <a:buNone/>
            </a:pPr>
            <a:r>
              <a:rPr lang="en-US" sz="1350" dirty="0">
                <a:solidFill>
                  <a:srgbClr val="2B2B2B"/>
                </a:solidFill>
                <a:latin typeface="Calibri" pitchFamily="34" charset="0"/>
                <a:ea typeface="Calibri" pitchFamily="34" charset="-122"/>
                <a:cs typeface="Calibri" pitchFamily="34" charset="-120"/>
              </a:rPr>
              <a:t>You evaluated RAG quality using faithfulness, relevance, and answer-correctness metrics</a:t>
            </a:r>
            <a:endParaRPr lang="en-US" sz="1200" dirty="0"/>
          </a:p>
        </p:txBody>
      </p:sp>
      <p:sp>
        <p:nvSpPr>
          <p:cNvPr id="18" name="Shape 15"/>
          <p:cNvSpPr/>
          <p:nvPr/>
        </p:nvSpPr>
        <p:spPr>
          <a:xfrm>
            <a:off x="502920" y="4972050"/>
            <a:ext cx="402336" cy="402336"/>
          </a:xfrm>
          <a:prstGeom prst="rect">
            <a:avLst/>
          </a:prstGeom>
          <a:solidFill>
            <a:srgbClr val="1D2A5C"/>
          </a:solidFill>
          <a:ln/>
        </p:spPr>
      </p:sp>
      <p:sp>
        <p:nvSpPr>
          <p:cNvPr id="19" name="Text 16"/>
          <p:cNvSpPr/>
          <p:nvPr/>
        </p:nvSpPr>
        <p:spPr>
          <a:xfrm>
            <a:off x="502920" y="4972050"/>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4871466"/>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LO5   </a:t>
            </a:r>
            <a:pPr indent="0" marL="0">
              <a:buNone/>
            </a:pPr>
            <a:r>
              <a:rPr lang="en-US" sz="1350" dirty="0">
                <a:solidFill>
                  <a:srgbClr val="2B2B2B"/>
                </a:solidFill>
                <a:latin typeface="Calibri" pitchFamily="34" charset="0"/>
                <a:ea typeface="Calibri" pitchFamily="34" charset="-122"/>
                <a:cs typeface="Calibri" pitchFamily="34" charset="-120"/>
              </a:rPr>
              <a:t>You optimized retrieval parameters, context construction, and citation grounding</a:t>
            </a:r>
            <a:endParaRPr lang="en-US" sz="1200" dirty="0"/>
          </a:p>
        </p:txBody>
      </p:sp>
      <p:sp>
        <p:nvSpPr>
          <p:cNvPr id="21" name="Shape 18"/>
          <p:cNvSpPr/>
          <p:nvPr/>
        </p:nvSpPr>
        <p:spPr>
          <a:xfrm>
            <a:off x="502920" y="5759958"/>
            <a:ext cx="402336" cy="402336"/>
          </a:xfrm>
          <a:prstGeom prst="rect">
            <a:avLst/>
          </a:prstGeom>
          <a:solidFill>
            <a:srgbClr val="00A79D"/>
          </a:solidFill>
          <a:ln/>
        </p:spPr>
      </p:sp>
      <p:sp>
        <p:nvSpPr>
          <p:cNvPr id="22" name="Text 19"/>
          <p:cNvSpPr/>
          <p:nvPr/>
        </p:nvSpPr>
        <p:spPr>
          <a:xfrm>
            <a:off x="502920" y="575995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0"/>
          <p:cNvSpPr/>
          <p:nvPr/>
        </p:nvSpPr>
        <p:spPr>
          <a:xfrm>
            <a:off x="1143000" y="565937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LO6   </a:t>
            </a:r>
            <a:pPr indent="0" marL="0">
              <a:buNone/>
            </a:pPr>
            <a:r>
              <a:rPr lang="en-US" sz="1350" dirty="0">
                <a:solidFill>
                  <a:srgbClr val="2B2B2B"/>
                </a:solidFill>
                <a:latin typeface="Calibri" pitchFamily="34" charset="0"/>
                <a:ea typeface="Calibri" pitchFamily="34" charset="-122"/>
                <a:cs typeface="Calibri" pitchFamily="34" charset="-120"/>
              </a:rPr>
              <a:t>You validated the system against hallucination and stale-knowledge failure modes</a:t>
            </a:r>
            <a:endParaRPr lang="en-US" sz="1200" dirty="0"/>
          </a:p>
        </p:txBody>
      </p:sp>
      <p:sp>
        <p:nvSpPr>
          <p:cNvPr id="24" name="Text 21"/>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5" name="Text 22"/>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157</a:t>
            </a:r>
            <a:endParaRPr lang="en-US" sz="8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pic>
        <p:nvPicPr>
          <p:cNvPr id="2"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3" name="Shape 0"/>
          <p:cNvSpPr/>
          <p:nvPr/>
        </p:nvSpPr>
        <p:spPr>
          <a:xfrm>
            <a:off x="502920" y="766953"/>
            <a:ext cx="301752" cy="264033"/>
          </a:xfrm>
          <a:prstGeom prst="triangle">
            <a:avLst/>
          </a:prstGeom>
          <a:solidFill>
            <a:srgbClr val="00A79D"/>
          </a:solidFill>
          <a:ln/>
        </p:spPr>
      </p:sp>
      <p:sp>
        <p:nvSpPr>
          <p:cNvPr id="4" name="Shape 1"/>
          <p:cNvSpPr/>
          <p:nvPr/>
        </p:nvSpPr>
        <p:spPr>
          <a:xfrm flipV="1">
            <a:off x="832104" y="634937"/>
            <a:ext cx="301752" cy="264033"/>
          </a:xfrm>
          <a:prstGeom prst="triangle">
            <a:avLst/>
          </a:prstGeom>
          <a:solidFill>
            <a:srgbClr val="29ABE2"/>
          </a:solidFill>
          <a:ln/>
        </p:spPr>
      </p:sp>
      <p:sp>
        <p:nvSpPr>
          <p:cNvPr id="5" name="Shape 2"/>
          <p:cNvSpPr/>
          <p:nvPr/>
        </p:nvSpPr>
        <p:spPr>
          <a:xfrm>
            <a:off x="832104" y="898970"/>
            <a:ext cx="301752" cy="264033"/>
          </a:xfrm>
          <a:prstGeom prst="triangle">
            <a:avLst/>
          </a:prstGeom>
          <a:solidFill>
            <a:srgbClr val="F7941D"/>
          </a:solidFill>
          <a:ln/>
        </p:spPr>
      </p:sp>
      <p:sp>
        <p:nvSpPr>
          <p:cNvPr id="6" name="Shape 3"/>
          <p:cNvSpPr/>
          <p:nvPr/>
        </p:nvSpPr>
        <p:spPr>
          <a:xfrm>
            <a:off x="1161288" y="502920"/>
            <a:ext cx="301752" cy="264033"/>
          </a:xfrm>
          <a:prstGeom prst="triangle">
            <a:avLst/>
          </a:prstGeom>
          <a:solidFill>
            <a:srgbClr val="8CC63F"/>
          </a:solidFill>
          <a:ln/>
        </p:spPr>
      </p:sp>
      <p:sp>
        <p:nvSpPr>
          <p:cNvPr id="7" name="Shape 4"/>
          <p:cNvSpPr/>
          <p:nvPr/>
        </p:nvSpPr>
        <p:spPr>
          <a:xfrm flipV="1">
            <a:off x="1161288" y="766953"/>
            <a:ext cx="301752" cy="264033"/>
          </a:xfrm>
          <a:prstGeom prst="triangle">
            <a:avLst/>
          </a:prstGeom>
          <a:solidFill>
            <a:srgbClr val="1D2A5C"/>
          </a:solidFill>
          <a:ln/>
        </p:spPr>
      </p:sp>
      <p:sp>
        <p:nvSpPr>
          <p:cNvPr id="8" name="Shape 5"/>
          <p:cNvSpPr/>
          <p:nvPr/>
        </p:nvSpPr>
        <p:spPr>
          <a:xfrm>
            <a:off x="1490472" y="634937"/>
            <a:ext cx="301752" cy="264033"/>
          </a:xfrm>
          <a:prstGeom prst="triangle">
            <a:avLst/>
          </a:prstGeom>
          <a:solidFill>
            <a:srgbClr val="00A79D"/>
          </a:solidFill>
          <a:ln/>
        </p:spPr>
      </p:sp>
      <p:sp>
        <p:nvSpPr>
          <p:cNvPr id="9" name="Shape 6"/>
          <p:cNvSpPr/>
          <p:nvPr/>
        </p:nvSpPr>
        <p:spPr>
          <a:xfrm flipV="1">
            <a:off x="1490472" y="898970"/>
            <a:ext cx="301752" cy="264033"/>
          </a:xfrm>
          <a:prstGeom prst="triangle">
            <a:avLst/>
          </a:prstGeom>
          <a:solidFill>
            <a:srgbClr val="29ABE2"/>
          </a:solidFill>
          <a:ln/>
        </p:spPr>
      </p:sp>
      <p:sp>
        <p:nvSpPr>
          <p:cNvPr id="10" name="Shape 7"/>
          <p:cNvSpPr/>
          <p:nvPr/>
        </p:nvSpPr>
        <p:spPr>
          <a:xfrm>
            <a:off x="1819656" y="766953"/>
            <a:ext cx="301752" cy="264033"/>
          </a:xfrm>
          <a:prstGeom prst="triangle">
            <a:avLst/>
          </a:prstGeom>
          <a:solidFill>
            <a:srgbClr val="F7941D"/>
          </a:solidFill>
          <a:ln/>
        </p:spPr>
      </p:sp>
      <p:sp>
        <p:nvSpPr>
          <p:cNvPr id="11" name="Text 8"/>
          <p:cNvSpPr/>
          <p:nvPr/>
        </p:nvSpPr>
        <p:spPr>
          <a:xfrm>
            <a:off x="1097280" y="2103120"/>
            <a:ext cx="9994392" cy="1828800"/>
          </a:xfrm>
          <a:prstGeom prst="rect">
            <a:avLst/>
          </a:prstGeom>
          <a:noFill/>
          <a:ln/>
        </p:spPr>
        <p:txBody>
          <a:bodyPr wrap="square" rtlCol="0" anchor="ctr"/>
          <a:lstStyle/>
          <a:p>
            <a:pPr algn="ctr" indent="0" marL="0">
              <a:buNone/>
            </a:pPr>
            <a:r>
              <a:rPr lang="en-US" sz="2700" b="1" dirty="0">
                <a:solidFill>
                  <a:srgbClr val="1D2A5C"/>
                </a:solidFill>
                <a:latin typeface="Calibri" pitchFamily="34" charset="0"/>
                <a:ea typeface="Calibri" pitchFamily="34" charset="-122"/>
                <a:cs typeface="Calibri" pitchFamily="34" charset="-120"/>
              </a:rPr>
              <a:t>Grounded, cited, evaluated — Dalil ships with numbers proving its answers are faithful, relevant, and cited. Thank you for building it.</a:t>
            </a:r>
            <a:endParaRPr lang="en-US" sz="2700" dirty="0"/>
          </a:p>
        </p:txBody>
      </p:sp>
      <p:sp>
        <p:nvSpPr>
          <p:cNvPr id="12" name="Text 9"/>
          <p:cNvSpPr/>
          <p:nvPr/>
        </p:nvSpPr>
        <p:spPr>
          <a:xfrm>
            <a:off x="1097280" y="4041648"/>
            <a:ext cx="9994392" cy="502920"/>
          </a:xfrm>
          <a:prstGeom prst="rect">
            <a:avLst/>
          </a:prstGeom>
          <a:noFill/>
          <a:ln/>
        </p:spPr>
        <p:txBody>
          <a:bodyPr wrap="square" rtlCol="0" anchor="ctr"/>
          <a:lstStyle/>
          <a:p>
            <a:pPr algn="ctr" indent="0" marL="0">
              <a:buNone/>
            </a:pPr>
            <a:r>
              <a:rPr lang="en-US" sz="1500" dirty="0">
                <a:solidFill>
                  <a:srgbClr val="00A79D"/>
                </a:solidFill>
                <a:latin typeface="Calibri" pitchFamily="34" charset="0"/>
                <a:ea typeface="Calibri" pitchFamily="34" charset="-122"/>
                <a:cs typeface="Calibri" pitchFamily="34" charset="-120"/>
              </a:rPr>
              <a:t>مؤسَّسٌ على الأدلة، موثَّقٌ، ومُقيَّم — شكراً لكم</a:t>
            </a:r>
            <a:endParaRPr lang="en-US" sz="1500" dirty="0"/>
          </a:p>
        </p:txBody>
      </p:sp>
      <p:sp>
        <p:nvSpPr>
          <p:cNvPr id="13" name="Text 10"/>
          <p:cNvSpPr/>
          <p:nvPr/>
        </p:nvSpPr>
        <p:spPr>
          <a:xfrm>
            <a:off x="1097280" y="4663440"/>
            <a:ext cx="9994392" cy="365760"/>
          </a:xfrm>
          <a:prstGeom prst="rect">
            <a:avLst/>
          </a:prstGeom>
          <a:noFill/>
          <a:ln/>
        </p:spPr>
        <p:txBody>
          <a:bodyPr wrap="square" rtlCol="0" anchor="ctr"/>
          <a:lstStyle/>
          <a:p>
            <a:pPr algn="ctr" indent="0" marL="0">
              <a:buNone/>
            </a:pPr>
            <a:r>
              <a:rPr lang="en-US" sz="1200" dirty="0">
                <a:solidFill>
                  <a:srgbClr val="6E7B8A"/>
                </a:solidFill>
                <a:latin typeface="Calibri" pitchFamily="34" charset="0"/>
                <a:ea typeface="Calibri" pitchFamily="34" charset="-122"/>
                <a:cs typeface="Calibri" pitchFamily="34" charset="-120"/>
              </a:rPr>
              <a:t>— SDA-AIE-214 · SDAIA Academy</a:t>
            </a:r>
            <a:endParaRPr lang="en-US" sz="1200" dirty="0"/>
          </a:p>
        </p:txBody>
      </p:sp>
      <p:sp>
        <p:nvSpPr>
          <p:cNvPr id="14" name="Shape 11"/>
          <p:cNvSpPr/>
          <p:nvPr/>
        </p:nvSpPr>
        <p:spPr>
          <a:xfrm>
            <a:off x="5413248" y="5303520"/>
            <a:ext cx="1371600" cy="45720"/>
          </a:xfrm>
          <a:prstGeom prst="rect">
            <a:avLst/>
          </a:prstGeom>
          <a:solidFill>
            <a:srgbClr val="00A79D"/>
          </a:solidFill>
          <a:ln/>
        </p:spPr>
      </p:sp>
      <p:sp>
        <p:nvSpPr>
          <p:cNvPr id="15" name="Text 1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6" name="Text 1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158</Slides>
  <Notes>158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158</vt:i4>
      </vt:variant>
    </vt:vector>
  </HeadingPairs>
  <TitlesOfParts>
    <vt:vector size="1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SDA-AIE-214 Instructor Training Deck</dc:title>
  <dc:subject>PptxGenJS Presentation</dc:subject>
  <dc:creator>SDAIA Academy</dc:creator>
  <cp:lastModifiedBy>SDAIA Academy</cp:lastModifiedBy>
  <cp:revision>1</cp:revision>
  <dcterms:created xsi:type="dcterms:W3CDTF">2026-07-13T13:44:56Z</dcterms:created>
  <dcterms:modified xsi:type="dcterms:W3CDTF">2026-07-13T13:44:56Z</dcterms:modified>
</cp:coreProperties>
</file>