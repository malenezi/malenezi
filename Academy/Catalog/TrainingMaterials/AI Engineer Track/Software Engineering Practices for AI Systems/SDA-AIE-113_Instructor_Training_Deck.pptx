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notesMasterIdLst>
    <p:notesMasterId r:id="rId15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and introduce yourself and the SDAIA Academy AI Engineer track. Frame the course in one sentence: a production-engineering module that turns model builders into software engineers. Open with the discussion prompt from the instructor guide: "What is the most expensive line of code you have seen in a notebook that reached production?" — take 2-3 stories, then promise that by Day 3 everyone owns a working, tested, containerised, pipeline-validated AI service. Timing: keep this under 5 minutes; the kickoff lecture proper starts in Hour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quickly — 2 minutes. Highlight three cells: prerequisites (SDA-FND-103 required, SDA-AIE-111 recommended — ask who has taken it), assessment (labs 60%, capstone 40%), and stackability (this course is required for the MLOps and production modules; SDA-AIE-211 will consume the exact artefact built here). Name the toolchain now — FastAPI, Docker, pytest, GitHub Actions, pydantic — so nobody is surprised by the environment check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no lab is throwaway: the fraud-detection service participants refactor in Hour 3 today is the same one they demo on Day 3. The golden thread is a delivery-plan rule: never introduce a throwaway example codebase — always evolve fraud-service. That is what makes the capstone achievable in Day 3 Hour 4. Ask: who has shipped a model beyond a notebook? Use the answers to calibrate pairing — strong-Python with strong-ML participants; the skill transfer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aloud but do not linger — each one gets a full module. Point out the mapping: LO5 is Day 1 morning (M1), LO1 Day 1 afternoon (M2), LO2 and LO3 fill Day 2 (M3, M4), LO4 and LO6 land on Day 3 (M5, M6). Every LO also tags a mandatory capstone requirement, so this slide is effectively the grading scheme in prose. Invite participants to flag which LO feels furthest from their current role — that information helps you build the first pairing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here. Note the theory share falling from 45% to 30% across the days — the Day 3 afternoon is deliberately lighter on theory. Each end-of-day deliverable is a capstone milestone: skeleton plus endpoint on Day 1, containerised and tested service on Day 2, green pipeline plus demo on Day 3. Warn the room now that Labs 2a and 3 are the most overrun-prone sessions; reassure them that checkpoint commits exist so nobody gets permanently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before any lab starts. Primary environment is local Docker Desktop (WSL2 on Windows) or Colima; fallback is GitHub Codespaces with the provided devcontainer — you verified both the week before, so state that with confidence. Explain checkpoint tags concretely: git checkout lab3-start fast-forwards a straggler in seconds. Announce the pairing rule (rotate daily, strong-Python with strong-ML) and the language policy: teach in English or Arabic, but all code, identifiers and commit messages stay in English — mixed-language logs break grep-based operations in Saudi enterprise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weighting concrete: labs and practical assessments carry 60% (lab completion 30%, PA-1/PA-2 20%, quiz 10%) and the capstone 40%. Stress the evidence model early — lab credit comes from checkpoint commits and expected outputs, and capstone scoring is repo-first. State the badge condition now so nobody discovers it on Day 3: at least 70 overall AND at least 70 on the capstone AND zero academic-integrity flags (identical golden diffs across repos are checked). Two minutes,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 as much as for the room. Rubric scoring happens live during the Day 3 Hour 5 demos, so collect repository URLs at the end of Hour 4 — CI status must be verifiable before demos begin. Announce the break rhythm now: each hour is 50 minutes of instruction plus a 10-minute buffer, with the long break scheduled around Dhuhr prayer. If you are co-teaching, agree now who floats during labs; the first hour of Day 1 usually needs a floater for Docker/WSL2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kickoff with energy. Use discussion prompt 2 from the instructor guide: "Your model is right 94% of the time. Your service is up 99.9% of the time. Which number does the customer feel — and which does this course change?" Let the room sit with it for a beat, then transition straight into Day 1 Hour 1: why AI systems fail in production. Keep total front-matter time under 20 minutes so Hour 1 keeps its interactive-lecture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day with the golden thread: every module in this course evolves the SAME fraud-detection service — no throwaway examples. Today we take a deliberately awful notebook and end the day with a clean-architecture skeleton plus a working FastAPI prediction endpoint. Set expectations on rhythm: each hour is 50 minutes of instruction plus 10 minutes buffer, long break around Dhuhr. Ask the room: who has shipped a model that broke in production? Collect one or two stories now — you will reference them in Hour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briskly — 2 minutes. Flag the two pace risks now: Lab 2a is one of the most overrun-prone labs in the course, so publish the checkpoint commits (lab2-start, lab2-solution) before Hour 5 begins; stragglers fast-forward with git checkout. Rotate pairs today: pair a strong-Python participant with a strong-ML participant — the skill transfer is the point. Deliverable by end of day: clean-architecture project skeleton plus a working FastAPI prediction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with its core claim: most AI failures in production trace back not to bad models but to bad structure — model code welded to I/O code, hidden global state, paths hard-coded to someone's laptop. Business hook for a Saudi audience: banking, telecom and government digital services now require AI teams to pass the same engineering review gates as any software team; clean structure cuts onboarding from weeks to days and makes security audits tractable. This module is the precondition for everything else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once, then anchor them to the industry use cases from the package: a bank swapping a gradient-boosting model for a neural model without touching API code (1.4); a telecom churn service handed to a team that did not build it (1.2, 1.3); a government chatbot passing third-party security review because all external I/O lives in one layer (1.3). Objective 1.5 happens live in the architecture review round-table after Lab 1 — tell participants they will be graded by their peers, it sharpens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this slide, open the provided notebook_v1.ipynb (deliberately awful) and let the class call out smells for 5 minutes — participants find 80% of them unprompted, which builds ownership. Only then name the four modes formally. Emphasise that a research notebook optimises for iteration speed — everything global, everything mutable — while production optimises for the opposite: explicit inputs/outputs, deterministic execution, testability. Mention the sim-import-load simulation: pytest --collect-only taking 45+ seconds because collecting tests loads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Defuse the defensiveness in the room: many participants ARE the notebook authors. The message is not 'notebooks are bad' — it is that the two artefacts serve different masters. Preview the Module 1 discussion question now: when data scientists say layering slows experimentation, the hybrid answer is that notebooks keep importing the domain feature module, and only promoted code gets layered. Timing: 4-5 minutes including one round of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image for the whole course — spend 6-8 minutes here. Walk one request through the layers out loud: HTTP hits the entrypoint, the service orchestrates, the adapter talks to joblib, the domain decides. Then run the 'where does this code live?' warm-up: shout snippets (threshold rule, Redis call, retry decorator) and have the room point to a layer. A business rule like 'score &gt; 0.85 means block the transaction' is domain — risk officers should be able to read it without seeing any framework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reference card for Lab 1 — participants will check every import against it. Drill the two consequences: first, the service layer depends on a Model protocol (predict(features) → Score), never on sklearn, so swapping XGBoost for PyTorch changes one adapter file. Second, frameworks live at the edge: when FastAPI 2.0 or a new framework arrives, the blast radius is the entrypoint layer only. Common misconception to pre-empt: pydantic in domain does NOT violate the rule — it is a validation library, not an I/O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insight that separates this course from a FastAPI tutorial — say that sentence verbatim. Return to the bank use case: the fraud team must swap a gradient-boosting model for a neural model without touching API or infrastructure code, which is only possible if the model sits behind a stable internal interface. The symmetry to sell: production wires FraudScorer(model=SklearnModel.load(...)) once at startup; tests wire FraudScorer(model=ConstantModel(0.99)) in one line. That symmetry is the payoff of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60 seconds of silent reading, then annotate: colour-map each folder to the rings from the stack slide. Why src-layout (code under src/ rather than package at repo root)? It forces tests to run against the INSTALLED package — the same import path CI and the Docker image will use. The classic bug it prevents: tests pass locally because import fraud_service resolves to the repo folder, then fail in the container where the package was installed differently. This tree also appears as a printable poster asset — point to where it hangs.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the pickle warning — it is the one genuine security landmine in this module: pickle executes arbitrary code on load, so an attacker who can write the model file owns the service. Connect the Makefile point to on-call reality: repository structure is an operational interface, and on-call engineers navigate your repo at 03:00 — predictability beats cleverness. Foreshadow M6: version everything that affects a prediction — code (git SHA), model (artefact version), features (module version), config (env snapshot). About 4 minutes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Live-type this file if you can — it is short enough. Key teaching point: this is the entire dependency-injection 'framework' the course uses; no container library, no decorators. The docstring names three implementations on purpose: SklearnModel ships today, ConstantModel appears in tests (Lab 1 fast-finisher task and Module 4), RemoteModel is the future model-server migration that costs one new adapter. Ask: what would break if we added a second required method? Answer: every implementation — which is why protocols stay minimal.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docstring aloud — 'note what is ABSENT' is the whole lesson. Walk the four steps of score() and map each back to a layer: to_features() is domain logic, predict_proba goes through the protocol to an adapter, decide() is a domain policy, FraudScore is a domain type. Discussion prompt: where would caching go? Answer: an adapter or a decorator around the Model implementation — never inside this class. Misconception watch: participants often want to log inside score(); push logging to the entrypoint/middleware (M2, M6).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trick: all six mistakes are deliberately planted in the Lab 1 starter repo — participants will hunt them in 20 minutes. During the lab, walk the room and check specifically who catches mistake 3 (duplicated feature logic): it is the one with real production consequences, and the fix is a shared, versioned feature module imported by both training and serving. Tell the real-world story here (5 minutes, no slides): the regional bank whose 94%-AUC fraud model shipped as a 700-line Flask file — pandas features in training, raw dict math in serving, a silent except masking the skew, fraud losses up 11% before anyone connected the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file, big point: 'score &gt; threshold means block' is a business rule, and business rules live in domain where non-engineers can review them. Property-based testing preview for M4: for any score, exactly one decision; raising the threshold never turns an ALLOW into a BLOCK. Seed the discussion question now and revisit after the lab: should the fraud threshold live in code, config, or database? The answer changes with audit requirements, change cadence, and who owns the number. Timing: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 panel is the actual rubric for the architecture review round-table: after Lab 1, pairs exchange repos, complete the 12-item structure checklist, and each pair reports one violation found — that is objective 1.5 in action. The 'two consumers' principle is the acid test to leave them with: Lab 1 builds the batch scorer, Module 2 builds the API, and both import the same FraudScorer. If tomorrow someone needs a third consumer (a Kafka worker, say), it should cost an entrypoint file,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is measurable — that is the message of this slide. Participants fill this exact table during the lab, comparing their refactor against the notebook_v1 export baseline. The import-time number is the most visceral: run python -X importtime live, before and after, and let the 2.9 s vs 0.18 s difference land. Target after M1: import &lt; 300 ms, batch throughput ≥ 2,000 transactions per second on a lab laptop, zero layer-violation imports, longest module ≤ 200 lines. These same gates return as CI quality checks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Python 3.12, uv or pip, course repo cloned, git checkout lab1-start. Walk the room during task 3 and check who catches the duplicated feature logic — it is the mistake with real production consequences. Other troubleshooting from the package: a joblib version warning on load means the artefact was pickled with a different sklearn — pin the version from models/MODEL_CARD.md and use it to foreshadow Docker; a circular import domain ⇄ service means an entity is importing the scorer — dependencies point inward only. End of hour: two volunteer pairs walk through their layer boundaries; the class challenges one import decision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as buffer material — the debugging exercise is the strongest: when discussing the circular-import fix, push hard on WHY the protocol fix is architecturally correct while the TYPE_CHECKING guard is a band-aid — the guard hides the dependency, the protocol removes it. For the experimentation discussion, land on the hybrid from the package: notebooks import the domain feature module, and only promoted code gets layered. Threshold question answers: audit requirements, change cadence, and who owns the number decide between code, config, and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15 minutes. Put the four discussion questions to the room: (1) why must characterisation tests precede any code movement? (2) which extraction delivers the most risk reduction per engineering day? — steer to the feature module, it addresses the skew incident directly; (3) the CTO proposes a full rewrite in Go 'while we're at it' — split the room and argue both sides against the 10-week deadline; (4) how do you prove byte-exact metadata behaviour? — golden-file tests. Note the constraint most teams forget: the model artefact itself may NOT be retrained, so the refactor must preserve its exact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5-minute pulse check with a show of hands before revealing each answer. On question 1, expect confusion between options b and c — remind them the service layer owns the interface and adapters implement it, so the arrow still points inward. On question 2, if anyone picks the FastAPI option, revisit the classic bug: tests pass locally because import fraud_service resolves to the repo folder, then fail in the container. Bonus verbal question from the package quiz: where may joblib be imported? Only in the model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by connecting forward: the skeleton built in Lab 1 is not an exercise — it is the exact codebase Module 2 puts an API on, Module 3 containerises, Module 4 tests, and Module 5 automates. One sentence of review: dependencies point inward, the model is an adapter, one composition root. Then transition straight into Module 2: 'we have a scorer any consumer can import — now let's give it an HTTP face.' Take the Dhuhr break here if the schedule aligns.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in one line: the API is the model's contract with the world. Business hook: every enterprise integration — mobile app, core-banking middleware, government service bus — talks to models through an API; a sloppy contract multiplies integration cost across every consumer, and a validation gap becomes a production incident or security finding instead of a 422. In SAMA-supervised banks and health providers, the API layer is also where auditability requirements land. Use cases to name: fraud scoring in the payment path at &lt; 150 ms p99; a triage model behind three EMR vendors; an internal LLM gateway with consistent error envelopes.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on the slide, then connect back to Module 1: the FastAPI app is just an entrypoint — everything the scorer needs already exists, so this module is about the boundary, not the model. Objective 2.4 is the one participants underestimate: confusing liveness and readiness causes real restart storms, and the case study regulator scenario leans on 2.2 and 2.5. Tell them the async/def trap is coming in the lab and you will NOT warn them when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once and refer back to it all afternoon — it is the swim-lane diagram of the whole module. Trace one happy-path request out loud, then trace the two error exits: a malformed body never reaches the scorer (422), and a not-yet-loaded model never throws a raw exception at the client (503 + Retry-After). Ask the room where authentication would slot in — gateway vs service is the closing discussion question, so just plant it here. Timing: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endpoint is just a resource — design it like one. State the sync/async decision rule explicitly; practitioners otherwise cargo-cult one pattern for everything. The batch cap is a security point, not a style point: make the room pick a number and defend it (the contract-design workshop revisits partial-failure semantics — 200-with-item-errors vs 207). On the envelope, stress the split: code is a stable machine-readable contract, message is human prose that may change. Example: {"error": {"code": "MODEL_UNAVAILABLE", "message": "Model is loading", "trace_id": "8f3a…"}}.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the room instead of reading the table: call out a situation, they call back the code. The two rows that trip people up: 422 vs 400 (schema shape vs business semantics — a string where a number belongs is 422; a well-formed but unsupported currency is 400) and 500 discipline (the client gets a trace_id and an apology, NEVER a stack trace — the trace_id links to the full server-side log line). Lab 2 Part B proves the 500 rule with the temporary /v1/boom route. 5-6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crossing the boundary is validated in AND out — say it twice. The amount_sr story is the emotional anchor of this module: three weeks of silent default scores because extra fields were ignored; with extra="forbid" it would have been a 422 on request one. Connect cell four back to Module 1's schema-leakage mistake: PredictRequest.to_domain() is the two-line conversion that keeps the HTTP contract out of the domain. The schema-probing simulation (25 malformed payloads, all 4xx, zero reach the scorer) makes the security framing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constraints line by line and ask for the attack each one blocks: negative amounts, million-riyal overflow probes, 8000-character transaction IDs. The docstring rule from the package: these models exist for consumers — keep them stable, convert to/from domain entities in routes, never leak inward. ErrorBody/ErrorEnvelope and HealthResponse follow the same pattern (code stable, message human). Full file also carries examples= on fields, which is what makes the /docs UI self-documenting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fail-fast vs degrade distinction deserves a full minute: if the PRIMARY artefact is missing, crashing at startup is correct — orchestrators restart and alert, whereas a running process serving 500s forever alerts nobody. Only SECONDARY enrichment sources justify degraded responses with a flag. Note the per-framework caveat from the package: sklearn predict is thread-safe for reads, but PyTorch models need .eval() plus torch.inference_mode() — document the reasoning per framework, don't assume. The Depends() spoke is the bridge to Module 4's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Module 1's composition root grown up: same lifespan pattern, now with production semantics — timing, logging, warm-up. Point at the ordering trap explicitly because it is a lab troubleshooting row: if app.state.scorer is assigned before warm-up completes, /ready returns 200 too early and the first real user pays the 900 ms. create_app() adds the /v1 router, the trace/timing middleware (X-Trace-Id, X-Response-Time-Ms) and a global exception handler that returns the error envelope with a trace_id and never a stack trace — you will see all three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restart-storm scenario is the whole slide: a model takes 60 seconds to download, someone wired the model check into /health, the orchestrator kills the container at second 30, the download restarts from zero, repeat until paged. The model-not-ready simulation reproduces it safely: MODEL_PATH on a 60-second-delayed mount, traffic sent immediately — /ready returns 503 until the load completes, /v1/predict returns the envelope with Retry-After, and not a single 500. Also mention the two free headers on every response: X-Trace-Id and X-Model-Version — trivially cheap, invaluable in incident review, wired into logging in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the def/async def callout — it is the highest-value teachable moment of Day 1 and the trap is planted in the lab. Whiteboard the mechanics: async def puts the sklearn call on the event loop itself, so at concurrency 25 every request queues behind the running inference (benchmark: p99 explodes to 2.4 s, 118 RPS); plain def is dispatched to the thread pool (38 ms, 1,410 RPS). Then show /health and /ready side by side in the file: health does no I/O at all, ready checks app.state.scorer and 503s while warming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 panel is quiz question 5 from the mini exercises — run it as a live vote before revealing the marks. The subtlest row is tightening validation: it feels like a bug fix, but requests that used to succeed now fail, so it is breaking. The model-vs-API-version distinction is the one enterprises get wrong: give the fraud example — v3 to v4 behind /v1 is invisible if probabilities keep their meaning, but if 'review' becomes 'escalate' in the decision enum, every consumer switch statement breaks. The triage case study turns this slide into a regulator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of the Module 1 six-mistakes slide — same drill: which have we already armed ourselves against? 1 is killed by response_model, 2 by plain def, 4 by Field constraints. 3, 5 and 6 need production config and design discipline. Close with the production checklist from the package: run uvicorn with multiple workers (workers = cores for CPU-bound sklearn), set --timeout-keep-alive sensibly, put concurrency limits at the gateway, log every request with latency (Module 6), and load-test before launch — which is exactly what Lab 2 Part B does with hey.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runs in Day 2 Hour 1, but preview it today so pairs know where the API is heading. The /v1/boom exercise is deliberately theatrical: inject a RuntimeError behind a temporary route, curl it, and show the client receives only the error envelope with a trace_id while the stack trace lands in the server log — then delete the route. OpenAPI docs are FastAPI's free win: response_model plus Field constraints and examples generate the /docs UI with 200/422/503 documented, which the peer API review exercise grades against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ARE the module's argument, so read them slowly. The 2.4 s vs 38 ms pair is the async trap quantified — same code, one keyword different, a 63x p99 difference. Targets participants must hit in the lab: p50 ≤ 15 ms and p99 ≤ 50 ms locally, ≥ 1,000 req/s at c=25, zero non-2xx on valid traffic, and 100% of the 40-case malformed corpus rejected with 4xx. The sim-async-block branch exists for the debugging exercise: diagnose with hey plus py-spy dump, then fix. Everything lands in BENCHMARKS.md and gets reused in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1 solution via git checkout lab2-start, then pip install "fastapi[standard]" uvicorn httpx hey (hey binary provided). The async/def trap is the highest-value teachable moment of Day 1 — let one pair hit it naturally, then debug it on the projector with hey output. Other troubleshooting row worth pre-loading: a 422 on valid-looking JSON is extra="forbid" plus a typo field, and the 422 body names the field — that is the feature working, not a bug. This is one of the two most overrun-prone labs in the course: publish lab2-start and lab2-solution checkpoints before the hour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code-review exercise lands three separate lessons in one PR: schema leakage undoes Module 1's separation, 200-with-success-false breaks every HTTP-aware client and monitor, and logging full request bodies is a PII violation that the health case study makes vivid. On the auth discussion, there is no single right answer — steer to the trade-off: gateways centralise policy and keep the service simple, but internal services still need defence in depth; what changes externally is threat model, rate limiting, and audit requirements. Keep 10 minutes for this before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for 15 minutes around the three discussion questions: (1) strict-reject vs normalise-and-warn during migration — where is the line in a safety-critical system? Rejecting a triage request has patient consequences too; that tension is the point. (2) Should the error envelope include the offending value when it may contain PII? This connects directly to the code-review exercise's logging finding. (3) Design the conformance report: which five metrics per vendor? Steer toward rejection rate by error code, deprecated-endpoint traffic, schema-version adoption, latency, and malformed-timestamp counts. Note the contract-tests-shared-with-vendors move — Module 4 makes that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before revealing each answer. On question 1, anyone answering 200-with-default has just recreated Module 1's silent-failure mistake at the API layer — make that link out loud. On question 2, if the room hesitates, redraw the event-loop diagram from the routes slide. Two bonus verbal questions from the package quiz if time allows: what does extra="forbid" protect against (typo'd and probing fields silently ignored), and liveness vs readiness in one sentence each. Then straight into the module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module in three sentences, then connect the layers: Module 1 made the model replaceable; Module 2 made it consumable, observable and safe to evolve. Everything on this slide is now running code in every pair's repo — schemas, lifespan, health semantics, trace headers. Remind them the contract they froze today is exactly what Module 4's integration tests will pin down and what the capstone rubric checks. One breath, then the day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day by naming the deliverable achieved: clean-architecture project skeleton plus a working FastAPI prediction endpoint — exactly what the delivery plan promised. Do a 3-minute retro: each pair names one thing that surprised them and one thing still fuzzy; collect the fuzzy items and open Day 2 by answering them. Logistics: remind pairs to push their repos tonight, confirm Docker Desktop or Colima installs for tomorrow morning (fallback is GitHub Codespaces with the provided devcontainer), and announce pair rotation. Day 2 theme: ship it in a box, prove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by connecting to yesterday: the fraud service exists, has clean layers and a FastAPI contract — but it still lives on laptops. Today it becomes a shippable, provable artefact. Frame the two halves of the day: the morning puts the service in a box (Docker, Module 3), the afternoon proves the box works (testing, Module 4). Hour 1 is Lab 2b — hardening carry-over from Day 1 — so participants arrive warm. Remind Apple Silicon users to check Docker Desktop is running NOW; platform issues derail Lab 3 if discovered late. 2 minutes on this slide, then straight into the hour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the rhythm: two lecture blocks (H2, H4) each followed immediately by a lab that applies exactly what was shown — nothing taught today goes unpractised. Point out the theory/lab splits: H3 and H5 are 90% hands-on, so pace the lectures tightly to protect lab time. Set the day's two checkpoints out loud: by end of H3 every pair has an image plus compose stack passing make smoke; by end of H5 every repo is green on 'pytest -m not slow'. That second one becomes the CI baseline for Day 3 — say so now, it raises the stakes.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with the fatal sentence: 'it works on my machine'. AI services couple code to heavyweight, version-sensitive numerical stacks — containers freeze the entire runtime into an immutable, shippable artefact. Tell the room this is image building as an engineering discipline, not docker-run tourism: layer caching, multi-stage builds, size and security hygiene, compose orchestration, container-level health. Tease the money shot early: by the end of the lab their image shrinks from 2.4 GB to ~410 MB and rebuilds in 22 seconds. 2 minutes, then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as promises, not bullet points: by the end of the hour each participant can write the Dockerfile from 3.2 unaided. Note that 3.3 has a hard number — warm rebuilds under 30 seconds — and 3.5 makes them measure, not trust. Ask a quick calibration question: 'who has written a Dockerfile before?' Typically half the room; pair experienced with fresh for the lab now, while you have their attention. Flag that 3.5 connects to LO6 (benchmarking) — the BENCHMARKS.md file from Day 1 gets new rows today.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 the business case before the mechanics. Ask the room: 'who has lost a day to someone else's environment?' — every hand goes up; that pain is what containers price out. Emphasise the second block: containers are the handover format to every platform team in the Kingdom, and the difference between shipping an image versus a conda env is measured in integration months. The side panel grounds it in the three recurring course personas — factory edge, fraud autoscaling, hospital reproducibility-as-compliance. Land the last block hard: size and startup are not aesthetics, they are riyal amounts on the cloud bill.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vocabulary cards — get these right and everything downstream is easy. Use the shipping-container metaphor sparingly and precisely: image = sealed container, container = that container on a moving truck, registry = the port. Spend the most time on the fourth cell: ask 'if prod runs :latest and someone pushes tonight, what is running tomorrow?' — silence is the answer, and that silence is the anti-pattern. Digests come back in the Jubail case study where digest-pinned deploys make rollback a seconds-level operation. 4 minutes; check understanding with a quick 'image or container?' round of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economics of Docker — teach it as money, not trivia. Each Dockerfile instruction creates a layer; a layer rebuilds only if its inputs changed. Walk the three-step ordering and ask why models sit in their own layer: a retrain should not invalidate the source cache, and a code edit should not re-copy a 200 MB artefact. Then name the single most common Dockerfile mistake in the wild: COPY . . before pip install — the entire source tree becomes an input to the dependency layer, so every one-line edit triggers the 8-minute path. Lab 3 task 3 makes them prove the cache discipline with a stopwatch.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before/after anchor for the whole module. These are the actual Lab 3 expected outputs, so participants will reproduce every number on this slide within the hour — tell them that; it converts scepticism into anticipation. Walk left column top to bottom as a chain of cause and effect: bad ordering causes slow rebuilds, single stage causes bloat, bloat causes attack surface — every binary in the image is a CVE candidate, which scanners like trivy report per-layer. The right column is exactly what the next two code slides construct line by line.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two-rooms metaphor from the visual spec: a workshop full of tools, a clean showroom, and one narrow door between them — the only thing that fits through the door is /opt/venv. Ask the room what stays behind: compilers, build headers, pip caches, test files — everything the builder needed and the runtime must never carry. Preview the GPU angle briefly: same pattern with CUDA bases, but a 10× size multiplier, which is why the Jubail plant ships ONNX runtime instead of full PyTorch. Then announce the live demo: the next two slides are the real Dockerfile, and you will build it with running commentary of cache hits.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live with commentary. Point at the COPY requirements.lock line and ask: 'why not COPY . . here?' — because then every source edit becomes an input to the dependency layer and destroys the cache. Note the lock file: pip install --no-cache-dir -r requirements.lock means deterministic, reproducible images — lock files inside images. The venv at /opt/venv is deliberate: it is the one thing that will cross to the runtime stage. Run the build twice during the demo: first cold, then after touching a file in src/ — let them watch the CACHED lines scroll past on the dependency layer. 5 minutes with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callouts, four exam-grade ideas. Non-root: useradd appuser, USER before CMD — root-in-container escapes are the first finding in any security review. Healthcheck: /ready not /health, so docker ps and compose dependencies reflect actual serviceability; the 20 s start-period exists because the model needs loading time. Exec-form CMD: demo docker stop with shell-form vs exec-form and time the difference — shell form waits out the grace period and hard-kills. ENV discipline: config enters as environment variables, and secrets never enter layers — docker history exposes them forever; you will prove that in the mini exercise. 6 minutes with the stop-timing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slide — let it breathe. These are Lab 3's expected outputs, so every pair will reproduce them within the hour and post naive-vs-multi-stage sizes to the shared board; that public comparison is the module's money shot. Address the common worry head-on with the fourth stat: containerisation costs essentially nothing at p99 — 41 ms vs 38 ms bare-metal. Mention the stretch row from the benchmark table: swapping in ONNX runtime gets 264 MB and 4.2 s ready — foreshadowing the Jubail case study where that swap is what fits the transfer budget. Why size matters, again: pull time on cold nodes, registry cost, attack surface.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file, outsized consequences. Without it, docker build ships the entire directory — .git history, datasets, virtualenvs — to the daemon as build context: participants see 'sending 1.2 GB' and wonder why builds crawl. Walk the .env line slowly: this is the security-critical entry, because anything in the build context can be COPY'd into a layer, and layers are forever — the sim-secret-leak exercise later proves a 'deleted' .env is still extractable with docker history and docker save. Note the !README.md negation pattern: exclude broad, re-include the one file pyproject needs. Lab 3 task 1 writes this file FIRST, before any build.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Consolidation slide — everything here appeared in the Dockerfile; now it becomes a review checklist they can apply to any image. Run it as rapid-fire recall: cover each cell and ask the room to supply the rule before revealing. Give PLATFORM extra weight and name it explicitly for the Apple Silicon owners in the room: an arm64 image on an x86 target dies with 'exec format error' — it is the first row of the Lab 3 troubleshooting table, and it derails labs when discovered late. Close by connecting to production practice: trivy image scanning lands in CI in Module 5, read-only root filesystems and resource limits complete the picture.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trade-off slide, not a right-answer slide. Teach (a) as the course default: image-per-model-version means deploy and rollback are atomic — exactly what the Jubail plant will need. Demonstrate (b) live in compose if time allows: mount the model directory and show iteration speed, then ask what was lost — the image no longer proves what it runs. Describe (c) as where the industry goes for large models: a 6 GB LLM checkpoint cannot reasonably be an image layer, so it is pulled at startup from a registry, which is exactly why the /ready endpoint from Module 2 exists — nothing may route traffic until the pull completes. The bake-vs-pull discussion returns in the mini exercises.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compose as two things at once: a local production simulator and a contract. Simulator: the fraud service never runs alone in production — it has a Redis feature cache and downstream consumers, and compose gives you that topology on a laptop with one command. Contract: compose.yml answers 'how do I run this thing?' permanently — a new joiner types docker compose up and has the full stack, no README archaeology. Spend the most time on healthcheck-gated depends_on: 'started' does not mean 'ready', and gating on service_healthy is the difference between a stack that races and one that converges. Profiles keep the load-test container out of the default stack. 4 minutes, then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top-down as a dependency story: fraud-api will not start its healthcheck countdown until feature-cache reports healthy — and feature-cache can only report healthy because it, too, declares a healthcheck; service_healthy gating silently requires that. Point out the DNS-by-service-name in REDIS_URL: compose networks make feature-cache resolvable by name. Mention what the slide trims: the full course file adds a 512M memory limit — which deliberately causes OOM kills under load for pairs running 2 workers, a seeded lesson in memory sizing — plus a named cache volume and the loadtest profile with hey. Run docker compose ps live and show both services (healthy).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 pair post their naive and multi-stage sizes to the shared board — the public before/after is the module's money shot. The 512M memory limit with 2 workers is a seeded trap: at least some pairs will get OOM-killed (exit 137) during the load test — celebrate it, then teach the sizing formula: memory ≈ model size × workers + overhead; fix by raising the limit or dropping to 1 worker. Watch for the classic troubleshooting quartet: missing .dockerignore (1.2 GB context), platform mismatch, unhealthy-before-model-loads (raise start-period), and PermissionError from non-root writes (log to stdout — Module 6's rule). Fast finishers: trivy image scan, triage the top CVE.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by remaining time and room energy. The secret-leak debug is the highest-impact ten minutes in the module: watching a 'deleted' .env come back out of docker save makes layers-are-forever visceral in a way no slide can — run it as a live demo if lab time ran short. The code review makes a good homework: five deliberate smells, each mapping to a cell on the hygiene checklist. The bake-vs-pull discussion previews the MLOps track and reuses pattern (c) reasoning. Dockerfile golf is the energy option after lunch — competitive, loud, and it forces participants to justify every layer they delete. Budget 10–15 minutes for whichever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design review, 12–15 minutes. Set the stakes first: SAR 40k per false-negative batch, line-stoppage costs above that, and IT mandating atomic, reversible updates. Let pairs propose solutions before revealing the approach — most will reach multi-stage; fewer will find the ONNX swap that actually fits the 900 MB budget, which is discussion question 1: why does ONNX runtime beat 'just prune PyTorch'? Then work question 2 seriously: design the 02:00 rollback runbook a technician can execute — this tests whether they understood digests as movable-pointer targets. Close with question 4: when would pull-at-start (pattern c) become right despite the constraints? Answer: when model updates outpace maintenance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questions with a show of hands before revealing. Question 1 is the module's central mechanic — if fewer than 80% get it, replay the layer-cache flow slide before moving on, because Lab 3's cache-discipline task depends on it. Question 2 usually splits the room; after revealing, remind them of the docker stop timing demo — the ten-second hang before the hard kill is what shell form costs you, and in production that means dropped in-flight requests on every deploy. Extend orally with two more from the package quiz if time allows: /health vs /ready for the healthcheck, and where secrets correctly enter a container — runtime env or secret store, never build args or layers.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by reading the board: every pair's naive-vs-multi-stage numbers are up there, and the deltas tell the story better than the slide does. Recap the discipline in one breath — layer ordering for cache economics, multi-stage for size, non-root and /ready and exec-form for production hygiene, compose as the run-contract. Then pivot to the afternoon with the gap this module leaves open: the box ships, but nothing yet proves what is inside it behaves. A container full of silently wrong predictions is still (healthy). That proof is Module 4's job. Take the break here — 2 minutes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module's thesis sentence and let it hang: ML systems can be wrong while running perfectly. Every test discipline they know targets broken code; this module adds the second target — broken behaviour — and shows that both live comfortably in pytest. Preview the arc: pyramid for placement instinct, fixtures and doubles as the payoff of Day 1's dependency injection, then the ML-specific art of invariance, directional and golden-file tests, closing with coverage read correctly. Tell them the stakes early: behavioural suites are increasingly demanded in model-risk reviews — banking governance, health AI audits — as executable documentation of intent.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mapping spread: 4.2 leans on LO5 because test doubles only work when Day 1's protocol seams exist — this module is where clean architecture pays rent. 4.3 touches LO1 because integration tests assert the API contract itself, and 4.5 touches LO6 because coverage is a measurement discipline, not a virtue score. Set the pass bar out loud: by end of Lab 4 every repo runs 'pytest -m not slow' green in under 4 seconds with 80%+ branch coverage — and that green suite becomes the CI baseline Day 3 builds on. Ask who has written a pytest fixture before; the answer calibrates how slowly to take the conftest slide.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this in the golden thread: recall the Module 1 bank story and ask 'which tests would have caught it?' — hold the question open; it returns as the Lab 4 retrospective. Walk the first block with a concrete image: the fraud service returns 200 OK with a plausible probability while a feature-engineering bug silently halves every score — no exception, no log line, no alert. Blocks two and three make the practical promise: nothing exotic is needed, it is all pytest, and the same suite that protects the team doubles as governance evidence for model-risk review. Land the last block as the business case: test pyramids are what make daily shipping survivable.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pyramid with one ML-specific storey inserted: model-behaviour, between integration and E2E. Read it bottom-up with the speed axis — milliseconds, ~100 ms, seconds, minutes — and make the placement rules concrete with quick call-outs: 'threshold band logic?' unit. 'Does /v1/predict return contract-shaped JSON?' integration. 'Does a bigger amount raise the score?' behaviour. The side rules matter as much as the layers: lowest level that catches the failure, commit suite in minutes, and know what NOT to test — the framework's math is not your code, and exact float asserts break across BLAS builds. This vocabulary carries the whole afternoon.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taxonomy as the pyramid, now with the exact fraud-service tests they will write in Lab 4 — this table is effectively the lab's table of contents. Run a placement drill down the examples column: give scenarios and have the room shout the level. Try a tricky one: 'the model file loads and scores one known row' — it feels behavioural but it is the slow-marked real-model integration test, the training/serving-skew tripwire. Point at the E2E row and connect backwards: make smoke already exists from Module 3, so the top of the pyramid is already built — today fills in the three layers below it. Keep this slide up during the drill;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Day 1's architecture pays rent — say that sentence verbatim. Because FraudScorer depends on a Model protocol rather than sklearn, a ConstantModel(0.93) forces the BLOCK branch, ConstantModel(0.75) forces REVIEW, and no test ever loads a joblib file. Contrast with the counterfactual: had they coupled directly to sklearn, every policy test would cost a model load and the suite would take 90 seconds instead of one. The nasty cases in block three are chosen deliberately — midnight hours exercise is_night, Arabic merchant strings exercise normalisation, amount = 0.01 exercises the log transform's edge. The side panel prevents wasted effort: test your code, not the framework's.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conftest as the mirror image of the app's composition root: same wiring diagram, fakes instead of adapters. Walk the client_factory closure carefully — it is the one piece of pytest machinery that trips people: _make builds a fresh app per call, injects a scorer built around ConstantModel, and the probability parameter steers which policy branch the test exercises. Stress the fourth callout with the Lab 4 troubleshooting row: a suite that takes 90 seconds is almost always loading the real model per-test — session scope fixes it, and --durations=10 proves it. Also present are sample_txn and the app fixture, trimmed from the slide.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TDD here per the module's demo requirements: write one boundary case on the projector before revealing the slide. The parametrised cases are chosen adversarially — 0.849999 and 0.85 straddle the block boundary, 0.699999 and 0.70 straddle review — because boundary inclusivity is exactly the kind of rule that silently flips during refactors. Say the deeper point: these six lines ARE the documentation of the decision policy; when risk asks 'what happens at exactly 0.85?', the answer is a test, not a meeting. Mention the sibling file trimmed from the slide: test_features.py freezes feature names (name drift IS training/serving skew), the is_night flag, and mcc normalisation from messy input. Runs in under a second — pytest -m unit.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is 'real app, fake model': everything from routing to serialization runs for real, and only the scorer is swapped at the DI seam — which is why each test costs ~50 ms instead of a model load. Block two shows the compounding payoff of Day 1 assets: the malformed corpus built in Module 2 becomes 40 free integration assertions via one parametrised test. Block three makes the point that negative paths are contract too — the 422s, the 503 with Retry-After, the sanitised 500 envelope all get asserted like features, because clients depend on them. The lone slow-marked real-model test is deliberate: one row, real artefact, catches the case where everything is wired right but the model itself is stale or skewed.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tests, two lessons. The contract test shows fake-steering: probability=0.93 sits above the 0.85 threshold, so the decision must be block — tests choose their branch instead of hoping for it. The corpus test is the force multiplier: parametrize over the 40 malformed payload files from Module 2 and every one must be rejected with a 4xx; note the payload_file.name in the assert message so a failure names the offending file instantly. Mention what the slide trims: the no-stack-trace test monkeypatches the scorer to raise, then asserts the 500 body is the ErrorEnvelope with no ZeroDivisionError text leaking — that test alone covers the error-envelope branch that otherwise pins coverage at 71% in the lab.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ML-specific art, one card per claim type. Spend your time on the invariance debate — it is the learning moment of the module: ask the room to propose invariances for the fraud domain, then challenge each. Casing? Yes, noise. transaction_id? Yes. Channel? NO — channel carries fraud signal, and asserting invariance would forbid the model from using it. That distinction — noise versus signal — is what makes someone able to design behavioural tests rather than copy them, and it returns as a quiz question. Directional tests get tolerances, never exact asserts. Golden files get their own lifecycle slide shortly. Close on the forward contract: this suite is how v4 will be judged before any traffic shift.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test as a sentence before reading it as code. Invariance: 'electronics scored differently from ELECTRONICS would be a robustness bug' — model_copy changes exactly one field, everything else held equal, and pytest.approx guards the float compare. Directional: 'a thousand-fold amount increase must not LOWER the fraud score' — note it asserts &gt;=, not &gt;, and subtracts 1e-6: the claim is monotone-not-decreasing with tolerance, the weakest claim that still catches the bug. Trimmed from the slide: test_golden_scores iterates the 5,000-row reference CSV asserting each score within atol=1e-6, failure message naming the transaction id — the skew tripwire the seeded-skew demo will trigger.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plumbing that makes three levels feel like one suite. Show the pyproject excerpt live: addopts wires -q, --strict-markers, --cov=fraud_service --cov-branch and term-missing so nobody needs to remember flags; strict-markers turns a typo'd marker into an error instead of a silently-skipped test. The marker split is the operational heart: per-commit CI runs -m 'not slow' in seconds, the nightly runs everything including the golden file and AUC floor. Treat the last block as law, not advice: the sim-flaky exercise later shows a datetime.now() test that passes at 10:00 and fails after 18:00 — and one flaky test damages suite trust more than ten missing ones. PII rule is absolute: synthetic data only in the repo.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files only work as a discipline, so teach the loop, not the file. The pairing rule comes first: golden_scores_v3.csv belongs to model v3 the way a lock file belongs to a dependency set — they version together. Walk a concrete red: someone 'improves' log1p to log10 in a feature, unit and integration stay green, the golden test fails on ~12% of rows naming exact transaction ids — that is the seeded-skew demo you will run on the projector during the lab. The dangerous step is the last one: the day someone regenerates the golden file just to make CI green, the tripwire is disabled and silent skew rides to production. make regen-golden exists precisely so regeneration is visible in a PR.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read correctly, in one slide. Branch coverage, not line — an if with only its true path tested reads 100% on lines while half its behaviour is dark; branch counts both exits. The 80% floor applies to domain/service/api, and the honest move is excluding the adapters' thin I/O lines rather than writing theatre tests to inflate the number — coverage is a smoke detector, not a KPI, and a 100% target reliably produces assert-free tests. Teach the actual skill: read the term-missing report and its red line ranges, then choose the most MEANINGFUL uncovered branch — Lab 4 task 5 demands exactly one such test, chosen deliberately, not the easiest. The timing stats set the pace expectation: 47 tests in 3.8 seconds per commit.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seeded moments make this lab. First: 2–3 repos carry the Lab 1 feature deviation, so their golden test genuinely fails on ~600 rows — a real red is worth an hour of slides; walk the room through diffing features against the reference solution when it hits. Second: coverage stuck at 71% means the error-envelope branch is untested — point to the term-missing line numbers and let them discover the monkeypatch 500 test covers it. Other watch-fors: TestClient raising instead of returning 500 (raise_server_exceptions=False is already in the fixture) and per-test model loads. Close the hour with the retrospective: 'which of these tests would have caught the Module 1 bank story?' Repos must be green on -m 'not slow' before Day 3 — it becomes the CI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ship-or-block debate is the one to protect time for: run it as the package's structured 10-minute format — two groups argue opposite sides, you arbitrate with the model-governance lens. The trap answer is 'engineering decides because engineering wrote the test'; the mature answer is that a directional test encodes a risk-office claim, so renegotiating it is a governance conversation with data, not a code review. The flaky-clock debug lands the determinism rule kinesthetically — run it after 18:00 or with libfaketime and watch a green suite go red. The kata inverts the usual order: test first, from the bug report, before any fix exists — the habit that makes regression suites grow where bugs actually were. Pick two of the four based on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classic ML testing to the LLM era — and proof the module's patterns generalise. Set up the pain first: prompts are code, but nobody code-reviews their consequences, and a 'better' prompt silently re-routed 8% of billing disputes for two weeks under a regulator's SLA. Walk the solution as adapted golden-file thinking: exact equality is impossible with an LLM, so determinism is manufactured (temperature 0, pinned version) and tolerance is policy (≥ 98% match, diffs grouped by intent). Then run discussion question 1 — what belongs in a bilingual golden set and who owns adding cases? — and question 2 on whether 98% is right and what data would decide. Close with question 3: have the room map every element back onto the fraud v4 upgrade.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tests the placement instinct the whole module builds: many will guess unit because 'validation' sounds like logic, but the corpus travels through the HTTP layer, the routes and the error handler — that is integration by definition, and it needs no container, so E2E is over-placement. Question 2 is the deep one — it checks whether they grasped the noise-versus-signal distinction from the invariance debate rather than memorising examples. If the room splits on it, re-run the debate with a new field: 'is customer_id a valid invariance?' (yes — identity must not move scores; that one is also a fairness claim). Extend orally from the package quiz: when is regenerating a golden file legitimate, and what must accompany it?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module's thesis one last time, now earned rather than asserted: the room has written the suite that makes it true. Recap the three levels in one breath each — ConstantModel doubles proving policy logic in milliseconds, TestClient proving the contract including its negative paths, and the behavioural trio standing guard over the model itself with the golden file as skew tripwire. Then point forward: this green suite is not a trophy, it is Day 3's raw material — Module 5 wires 'pytest -m not slow' into a CI gate that runs on every push, and the behavioural suite becomes the acceptance gate for the v4 model upgrade. 2 minutes, then the day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inventorying what the day produced, because it is unusually concrete: a multi-stage image at 412 MB that rebuilds warm in 22 seconds and reports ready in 6.8; a compose stack where every service gates on real health; and a three-level pytest suite — 47 fast tests plus the behavioural tripwires — at 84% branch coverage. Ask each pair to confirm their two exit criteria out loud: make smoke green, and pytest -m 'not slow' green. Both are homework if not — Day 3 assumes them as the CI baseline. Tease tomorrow with the obvious gap: everything today ran because a human typed the command; Module 5 makes GitHub Actions type it instead, on every push, forever. Send them off.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3 with energy: the last two days built a clean, served, containerised, tested service — today we make a machine enforce all of it. Frame the emotional core up front: by the end of Hour 2 the repository itself will refuse to merge broken code. Remind the room every hour is 50 min instruction + 10 min buffer, and schedule the long break around Dhuhr. The afternoon (Hours 4-5) is deliberately lighter on theory — it is capstone build and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day left to right. Flag the two overrun-prone moments: Lab 5 (Hour 2) and Lab 6 (inside Hour 3). Publish checkpoint commits — lab5-start, lab6-start — so stragglers can git checkout and fast-forward. Collect repository URLs at the end of Hour 4 so CI status can be verified before Hour 5 demos begin; rubric scoring happens live during the demos. Rotate pairs from yesterday: pair a strong-Python participant with a strong-ML participant — the skill transfer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thesis in one sentence: a pipeline is the team's automated definition of 'good enough to ship'. Everything from Days 1-2 — clean architecture, the API contract, the Docker image, the test suite — now becomes a gate that runs on every change. Business framing for this SDAIA audience: DORA metrics (deployment frequency, change-failure rate) separate high performers from the rest, and for AI teams a change that skips validation can silently corrupt business decisions at scale. CI is also where governance evidence (test logs, image digests, scan reports) is produced automatically — exactly what ECC and enterprise audit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competencies participants leave with: authoring multi-job workflows with caching, understanding triggers and contexts, enforcing gates via branch protection, building/pushing images with proper tagging, and debugging failed runs efficiently. Tell them the deliverable is concrete: a working pipeline on their OWN GitHub repo by the end of Hour 2 — the capstone grading literally reads their CI history, so this is not an academic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is the module's anchor diagram — draw it or point at the slide repeatedly through the hour. Emphasise the ordering is deliberate: fail fast, fail cheap. Ask the room: 'where should a failure be cheapest to catch?' (answer: lint, seconds). The dashed-vs-solid distinction matters: PR-triggered segments run on every change; the publish segment runs only on push to main. End on the digest: this is the handshake to the deployment module — CD does not rebuild, it re-pins the exact digest CI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CI/CD distinction crisp because participants blur it constantly. CI is a question about a change; CD is a question about an artefact. This course does continuous DELIVERY (push a validated image to a registry) — continuous DEPLOYMENT (all the way to prod) is the next course's job. The side panel is the design creed for AI pipelines: an unpinned pipeline is a supply-chain door; a commit gate over 10 minutes breeds a --no-verify culture where engineers stop waiting. Ask who has seen a 25-minute CI that everyone bypasses.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vocabulary against a real run projected on screen, not as a glossary. Point at an actual workflow: this YAML file is the workflow; it was triggered by this event; it ran these jobs on isolated VMs; each job ran these steps. The two ideas that unlock everything: jobs run in PARALLEL unless needs: creates an order, and contexts (github.sha, secrets.*) are the variables that parameterise the whole thing. Keep this slide handy — you will refer back to every term when reading the ci.yml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header top to bottom. The on: block is the single most misread part — pull_request gates PRs; push to branches: [main] is what additionally builds and pushes; workflow_dispatch is your manual button for the live demo. Stress the permissions block: contents: read is the safe default, and you widen it (packages: write) only on the job that needs it. concurrency with cancel-in-progress is a cost lever enterprises care about — no point finishing a run for a commit that was already superseded. env holds PYTHON_VERSION and the IMAGE name reused by every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fast lane: it reports in about a minute even while slower jobs run. Two teaching points. First, caching — cache: pip keyed on requirements.lock is the difference between a 90-second and an 8-second install; the lock file is the cache key, which is why pinning matters. Second, ruff is doing double duty: style AND the import-linter layer contract we will see later, so an architecture violation fails HERE in lint, not in a human's code review. mypy --strict checks exactly the seams we designed on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is not vanity — it is the difference between a pipeline engineers wait for and one they route around. Two caches to teach: pip dependency cache (keyed on the lock file) and Docker layer cache via buildx type=gha. Connect the second one explicitly back to Module 3: layer caching only pays off if you ordered your Dockerfile layers so that rarely-changing things sit below frequently-changing things. Show the Actions UI timings from the benchmark table: cold image-smoke ~5m40s, warm ~1m02s. That 3x is the cache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job carries the AI-specific weight. The single most common CI failure in this course is a missing model file: with: lfs: true on checkout is the fix, and Lab 5 deliberately makes participants hit it once so they remember. Point out the two pytest invocations: the fast per-commit suite with a coverage floor, and the behavioural gate that runs the real model artefact. The upload-artifact step with if: always() is a governance habit — coverage lands on the PR even on failure, so the PR accumulates its own evidence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job embodies the principle 'build once, prove the artefact works'. It is gated by needs: [lint, test] so you never pay for a build behind a broken lint. load: true is subtle but important — it loads the image onto the runner (not a push) so the next step can actually run the container. The tag is github.sha: this commit maps to this image, deterministically. And the GHA layer cache is where the Module 3 layer-ordering discipline finally pays its dividend — narrate the cold-vs-warm timings from the benchmark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standard lint/type/test trio, AI pipelines need four extra gates. The behavioural gate needs the model in CI — the course uses Git LFS and discusses the trade-off with authenticated model-registry downloads for large artefacts. The container smoke test is the one that catches 'works in venv, broken in image': missing system lib, wrong path, bad CMD. The trivy scan fails on HIGH/CRITICAL with an EXPIRING ignore file, not a blanket skip. And the golden-diff artefact is the reviewer-kindness habit: on failure, the diff CSV shows exactly which rows changed. These map directly onto the fraud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building the image: we run it exactly as production will. Three things to narrate. The readiness loop (for i in seq 1 30 ... curl /v1/ready) is the antidote to flaky smoke tests — Lab 5's troubleshooting table lists 'smoke test flaps' with the cause 'no readiness wait loop'. Discuss polling versus a fixed sleep and why polling wins. The predict call asserts contract fields (fraud_probability in range, model_version present) — the exact contract from Day 1. The trivy step with exit-code 1 turns a HIGH/CRITICAL CVE into a red gate. Fast finishers add trivy and triage one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publish job is where delivery happens, and its if: condition is the single most important line for security: it runs ONLY on push to main, never on pull_request. Why? Fork PRs run in an untrusted context and do not receive secrets — a push job there would fail (403) or, worse, be a vector to exfiltrate credentials. This asymmetry trips everyone exactly once; teach it deliberately. Note the job-scoped permissions: packages: write appears only here, using the short-lived GITHUB_TOKEN — no long-lived Personal Access Tokens. The image is tagged with the SHA and a channel tag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this home: a pipeline without branch protection is decoration. Turning on required status checks is what converts advisory green ticks into an enforced definition of done — new team members inherit discipline from the infrastructure, not from being told. Discuss the trade-offs honestly: there must be a governed hotfix path (workflow_dispatch plus a logged admin bypass with justification), and connect 'temporarily disabling checks' to the Module 4 telecom incident. This slide sets up the emotional core of Lab 5 — the blocked bad-pr.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the CI security rules that Lab 5's simulations exercise. Least privilege is a per-job discipline: contents: read at the top, packages: write only on publish. The 'never echo secrets' rule has a sharp edge — Actions masks KNOWN secret values but not strings you derive from them, so a debug step that prints a concatenation can leak. And repeat the fork asymmetry once more because it is the concept people fail in practice: the simulation 'revoke packages: write on a fork and merge to main' produces a green-through-smoke, 403-on-publish run that participants must diagnose from the permissions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Day 1's clean architecture to the pipeline. The contract declares the layer order — api may depend on adapters, adapters on service, service on domain, but never the reverse. domain imports nothing above it. Because import-linter runs inside the lint job, a layer violation (say, api importing domain directly, or domain importing the API) fails CI in seconds — it is caught by infrastructure, not by a reviewer who might miss it. In Lab 5 the bad-pr contains exactly this: an 'api -&gt; domain violation' that import-linter flags. Architecture you cannot cross is architecture that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the heart of Day 3. Budget the five tasks at ~10 min each and float between pairs. Expect task 1 to go red for almost everyone — a missing lock file or LFS checkout — and that is intended learning, not a mistake. Task 2 is where the cache story becomes real: have them read the two timings off the Actions UI. The emotional peak is task 4: the bad-pr (layer violation + golden-breaking change) is BLOCKED by branch protection. Make one participant try to merge it in the UI and screenshot the greyed-out merge button for the class. Fast finishers add the trivy step or a governed workflow_dispatch coverage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to check understanding without more lecture. The debugging exercise (ImportError from a missing editable install) is a genuine muscle — give them the log screenshot and a 5-minute timer; the benchmark target is time-to-diagnose under 10 minutes. The code-review exercise has exactly four planted findings; let pairs race to find all of them. The self-hosted-runner discussion is highly relevant to this SDAIA audience — Saudi banks routinely forbid cloud runners from reaching internal systems, so which jobs move inside the network boundary, and what new attack surface does a self-hosted runner introduce?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case study as a decision workshop, not a lecture. The PR triggers five signals at once: an expected golden failure (new model), passing directional tests, a 3-of-5000 casing-invariance failure, a 220 MB image growth, and a passing smoke test. Ask the room: what ships? The golden failure is handled by the GOVERNED regeneration path — regenerate in the PR, attach the diff CSV and a notebook summary as the risk evidence pack a non-Python risk officer can read. The 3-row invariance failure BLOCKS: the new library's category encoder is case-sensitive, fixed in the feature adapter, never by deleting the test. Constraints matter — Sunday 05:00 window, 48h-early sign-off, single-command rollback via digest re-pin.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as show-of-hands or a quick poll. Q1 is the fork-secrets asymmetry — the concept most people get wrong in practice, so linger on the explanation. Q2 is the digest-as-identity idea that hands off to the deployment course: a tag is a movable label, a digest is content-addressed truth. If the room nails both, they have the two ideas that matter most from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Module 5 on this line and let it land. The shift is cultural, not just technical: once branch protection is on, correctness stops depending on whether a reviewer was paying attention — the repository itself refuses broken code. That is what makes onboarding safe and what makes the capstone gradeable by reading CI history. Transition: we have automated the OUTSIDE of the service; Module 6 hardens the INSIDE — configuration, secrets, and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Module 6 as the three quiet disciplines that separate operable services from mysterious ones: configuration that is typed and validated; secrets that never touch git or image layers; and logs that are structured events a machine can query, not prose a human must grep. Business reality for this audience: most real incidents are CONFIGURATION incidents (wrong threshold in prod, staging model in production, missing env var found at 02:00). Secret leakage is existential — a leaked key in git history is a breach disclosure and, under PDPL and ECC, a regulatory event. This module hardens the fraud service and completes the capstone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the competencies that make a service operable in production. Emphasise 6.2 (one image, many environments) as the payoff of Modules 3 and 5 — the tested image is promoted unchanged; only env differs. And flag 6.5 as the one with the sharpest compliance edge: deciding what must NEVER be logged (national IDs, card numbers, raw features) is a PDPL obligation, because under PDPL logs are themselves personal-data processing. By the end of Hour 3 the service is hardened and ready for capstone integration in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analogy: configuration errors deserve the same defence as bad API input — a typed model validated at startup that fails fast with a readable error. pydantic-settings gives exactly that: Settings() either returns a fully valid object or crashes with a field-by-field report the orchestrator surfaces immediately, instead of a 500 three hours later. Two more ideas: precedence (env wins, because env is what varies across dev/staging/prod), and the 'one image, many environments' 12-factor promise — anything else destroys the CI guarantee that we tested THAT image. Close on the discussion prompt: is a threshold config, code, or data? Teach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class top to bottom. model_config sets the contract: read FRAUD_* env vars, load .env for dev convenience, and extra='forbid' so a misspelled variable crashes rather than silently using a default — a favourite production trap. Each field carries a type, a default-or-requiredness, a description, and validation: block_threshold is bounded 0.5-0.99, so a fat-fingered 8.5 fails at startup. registry_token is a SecretStr — masked everywhere unless you call .get_secret_value(), which makes intentional reads visible in review. The field_validator is the fail-fast heart: a missing model artefact raises a clear error at startup, not a 500 on the first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ladder from bottom (lowest precedence) to top (highest): code defaults are always present, the committed example file documents the knobs, the git-ignored .env is dev convenience, and environment variables — injected by the platform — win. Ask the room: why should env win? Because env is exactly what legitimately varies across dev, staging, and prod; everything else travels inside the single promoted image. This is the mechanism behind the 12-factor 'one build, many deploys' promise and behind the CI guarantee that the tested image is the shipped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files explicitly. settings.example.env is COMMITTED — it is living documentation of every knob the service understands, with safe placeholder values and a commented-out secret line pointing to the platform secret store. The real .env, holding actual values, is git-ignored from the day the repo is born (Module 1) and also listed in .dockerignore (Module 3) so it never bakes into an image layer. This one-file-documents, one-file-holds pattern is what lets a new engineer clone the repo, copy the example, and know exactly what to set — without any secret ever entering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secret is anything whose disclosure grants access: API keys, DB passwords, registry tokens, signed URLs. Walk the three NEVERs — git, images, logs — and tie each to earlier modules: .env in .gitignore (M1) and .dockerignore (M3); docker history reads image layers (the M3 simulation); and the logging masking processor as the last line of defence. Delivery is always at runtime via platform-injected env vars. Detection is gitleaks in CI plus a local pre-commit hook. Add gitleaks to the Module 5 pipeline as a stretch. The card game later ('log or not?') exercises exactly this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drill that separates people who have handled an incident from those who have not. The instinct is to delete the offending commit and force-push; that is exactly wrong as a first move, because the secret already lives in every clone, fork, reflog and backup — deleting the commit does not un-leak it. The correct ordering: rotate FIRST (and rotate all related keys, assuming lateral discovery), THEN clean history and add a gitleaks required check so it cannot recur. In Lab 6 they run this on a planted token. Emphasise: the leaked token is considered burned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mindset shift: logs are events, not sentences — JSON lines with stable field names turn 'grep and hope' into real queries. The always-on fields matter: trace_id (planted in Module 2) and model_version (Module 1) finally pay off here — one trace id joins the gateway, the API, and the scoring event; one model version splits an error-rate graph during a canary. stdout-only is a hard rule: the platform owns shipping and rotation, and file handlers inside containers recreate the Module 3 permission bug and produce un-shippable logs. The side panel previews levels-with-intent: if everything is INFO, nothing is monitorable, because alert rules attach to WARNING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logging contract in one file. The processor pipeline runs in order on every event: merge_contextvars injects the bound trace_id; add_log_level and an ISO UTC timestamp make lines sortable and correlatable across midnight; _mask_sensitive is the defensive net — even if a teammate accidentally logs a token, it leaves the process as ***MASKED***; and JSONRenderer emits one queryable JSON line per event to stdout. Point out that masking is a SAFETY net, not permission to log secrets — it is the one control that held in the case study. stdout-only means the container platform, not the app, owns shipping and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snippets, one lesson. The middleware binds trace_id, path and method once per request so every subsequent log line inherits them — no manual threading. It logs http_request with status and latency_ms, which means you can compute p50/p99 by piping the log stream through jq, with no separate metrics system. The scoring event is where privacy-by-design becomes concrete: probability_bucket is ROUNDED to 0.1 steps because a raw score plus a customer id can be sensitive, and the comment names what is ABSENT by design — customer_id, amount, raw features. Under PDPL, logs are personal-data processing; the safest field is the one you never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the decision aid behind the 'Log or not?' card game. Always-on correlation fields go on every line. The LOG column is deliberately bucketed and name-only: log that a field was rejected, never its value (a rejected value is PII). The NEVER column is a PDPL compliance boundary, not a style preference — national IDs, card numbers, full bodies, raw feature vectors, and secrets. Levels carry intent: alert rules attach to WARNING and above, so if everything is INFO nothing is monitorable. And logging has a cost curve — the sim shows DEBUG in prod producing a 40x volume flood with measurable latency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fits inside Hour 3 (35 minutes), so keep it tight. Two demos MUST happen on the projector even if pairs race ahead: the fail-fast contrast (a bad model path crashes cleanly at startup versus the old first-request 500) and the jq moment (compute p50 latency over 2000 requests from the logs alone). The secret drill is the emotional beat — gitleaks finds the planted ghp_XXXX token; participants write INCIDENT.md with rotation FIRST. Common snag from the troubleshooting table: if trace_id is missing from the scoring event, the middleware order is wrong (trace → logging → routes). One pair presents their INCIDENT.md.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config-drift debugging exercise is the highest-value one: staging behaves differently from dev because a forgotten compose override sets the threshold to 0.65. Participants locate the EFFECTIVE config with docker compose config, then propose the guard — log the effective non-secret settings once at startup, a one-line change with huge payoff. The code-review exercise has three findings, each with a PDPL angle (full body at INFO = PII lake; os.environ in a route = unreviewable; printing settings = token leak pre-SecretStr). The card game (10 min) gets the room arguing about bucketed score versus raw score — exactly the judgement this module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most sobering story — walk the timeline slowly. A provider key committed 'just for now' to a private repo, exposed eight months later when the repo was open-sourced after a secrets sweep that missed git history; scraped within hours; six figures of fraud over a weekend, plus a PDPL data-protection review and a frozen provider relationship. Drive the discussion questions: why rotate ALL keys (assume lateral discovery)? Which control would have PREVENTED it outright (gitleaks + org push protection) versus merely SHORTENED it (masking)? Have them write the five-line incident-comms message to 4000 staff. The one control that held here was masking — logs confirmed the keys never entered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is the incident-response ordering question — the one people fail under real pressure. Make sure they say rotate-first out loud, and that they can explain WHY deletion is insufficient (clones, forks, reflog, backups). Q2 targets a common misconception: SecretStr is not encryption and not network security — it is defence against accidental DISCLOSURE in reprs, prints and logs, plus a grep-able marker for intentional reads. If both land, the room has the two secret-handling ideas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Module 6 on the three disciplines. Reinforce that these are not glamorous but they are what decides whether a 2am incident lasts ten minutes or four hours: config that fails fast and readably, secrets that structurally cannot leak, and logs that are queryable events with PDPL-aware privacy. The service participants have been evolving since Day 1 is now operable. Transition to the afternoon: everything needed for the capstone is built — Hour 4 assembles it, Hour 5 demos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from teaching to building. Recap the golden thread out loud: the same fraud service was refactored (Lab 1), served (Lab 2), containerised (Lab 3), tested (Lab 4), automated (Lab 5), and hardened (Lab 6) — no throwaway examples, which is exactly why the capstone is achievable in a single afternoon. Confirm every pair has a green main-branch run and a GHCR digest before moving on. Then hand off to the capstone: Hour 4 integrates all components and runs a peer code-review round; Hour 5 is 5-minute demos with rubric scoring and the path to SDA-AIE-211/216. Energy up — they are about to demo real, working, pipeline-validated AI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entering the final stretch. Hour 4 is pure project work (0/100) and the hard rule from the instructor guide applies: capstone assembly must start on time — cut discussion, not build time. Walk the milestones: M-A (Labs 1-2 integrated, API green locally) was due end of Day 2 H1, M-B (containerised + tested) end of Day 2, M-C (pipeline live, blocked bad-PR screenshot) Day 3 H2, M-D (hardened + extension, full checklist self-audit) Day 3 H4, and M-E is the demo ahead. Anyone behind on M-C should fast-forward with checkpoint tags rather than debug into demo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Raqib story properly — 3 minutes. The framing matters: participants are not building something new; they are the newly assigned production engineer receiving a trained artefact and a feature spec from the data-science team. The mandate line is the course thesis: the platform team can trust the service because its repository proves its own quality. Then defuse anxiety: everything from Labs 1-6 is already a component; the capstone is integration plus one chosen extension. Ask each pair to name their extension before assembly starts — it prevents scope drift at Hour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self-audit map. Walk each spoke and remind the room where it was taught: architecture in M1, the API contract in M2, the container in M3, tests in M4, the pipeline in M5, config and logging in M6. Call out the measurable gates — image ≤ 500 MB, branch coverage ≥ 80%, malformed corpus 40/40 rejected, fast suite ≤ 60 s, warm rebuild ≤ 30 s — because these are exactly what the rubric bands check. Participants should run this checklist against their own repo during Hour 4, not discover the gaps live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submission contract. Emphasise the two artefacts people forget: BENCHMARKS.md must contain the five course benchmark tables filled from their OWN runs — copied numbers are an integrity flag — and DECISIONS.md needs five one-paragraph engineering decisions with rationale, e.g. bake-vs-pull for the model artefact or where the block threshold lives. The README runbook test is concrete: a stranger succeeds in 10 minutes. Green CI on main plus a GHCR image pullable by digest is non-negotiable. Collect all of it before the room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structure, then leave this visible during assembly. Weights: architecture 20, testing 20, then API, container and CI/CD at 15 each, config 10, demo 5. Pass is 70 or above, distinction 90 or above; extensions add up to +5 bonus, capped at 100, and only when mandatory scope scores at least 80 — an extension never rescues a weak core. Preview the anti-pattern flags that cap a criterion at 70%: regenerated goldens without justification, coverage inflated by asserting nothing, :latest deploy tags, and force-pushed green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Hour 5 with a visible timer — 5 minutes per demo, hard stop. Collect repository URLs at the end of Hour 4 so you can verify CI status before demos begin; grading is repo-first, demo second. During each demo verify one behavioural claim live: ask the participant to break casing invariance and show the red — one minute that separates understanding from copy-paste. Score on the rubric as demos happen; do not defer scoring to after class. Close with the wrap-up mapping and the forward pointer to SDA-AIE-211 and SDA-AIE-216.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factual and calm — assessment anxiety peaks here. Lab completion is evidenced by checkpoint commits and expected outputs, so anyone who kept committing through the week has already banked most of that 30%. PA-1 and PA-2 artefacts plus notes carry 20%, the 10-question quiz 10%, and the capstone 40%. Repeat the badge condition verbatim: at least 70 overall AND capstone at least 70 AND zero academic-integrity flags. Identical golden diffs across repositories are checked, so warn against sharing generated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reference for the two practical assessments. PA-1 (Day 2, 30 min): a deliberately broken repo — failing healthcheck, async-blocked route, missing .dockerignore — and the goal is a green make smoke; diagnosis notes carry 40% because the thinking matters as much as the fixing. PA-2 (Day 3, 30 min): triage a PR carrying a golden-file failure and a layer violation, then write the review; score it against the model review. For the quiz, pick 10 of the 20 bank questions and keep it closed book at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scoring discipline. Repository evidence first: CI history, branch-protection settings and commit hygiene tell you most of the truth; the demo only confirms it. Apply the 70% caps mechanically and without negotiation: unjustified golden regeneration, assert-nothing coverage, :latest deploy tags, force-pushed green. The live behavioural check takes one minute per participant and reliably separates understanding from copy-paste. Log any integrity flag immediately — it blocks the badge regardless of the numeric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Memorise the two protected labs: Lab 3 (containerise) and Lab 5 (pipeline) run at full length no matter what. M6 theory is the designated sacrifice when you are behind — it lands through the lab. Calibrate by cohort: strong rooms pull the trivy gate and the batch endpoint into main scope on Day 3; weak rooms convert Lab 5's fix-the-PR task into a guided demo, but never drop the blocked-PR observation itself — it is the course's thesis made visible. And repeat the hard rule to yourself at lunch on Day 3: Hour 4 starts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checklist a full week out, not the night before. The riskiest items fail silently: GHCR pushes under the classroom org (test with a throwaway account), the pinned-sklearn regeneration of fraud_xgb_v3.joblib and golden_scores_v3.csv (version drift here breaks every behavioural test in the room), and classroom network access to github.com, ghcr.io and pypi — in restricted environments pre-pull base images to a local registry. The T-minus-2-days participant email plus make doctor catches most Day 1 environment pain before it happens. Also prepare the shared leaderboard for image sizes and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high-frequency killers are Windows WSL2/Docker setup and Apple Silicon vs amd64 images — handle the first with the pre-session email plus a first-hour floater, the second by teaching --platform early in M3. Treat goldens broken by mid-course feature 'improvements' as a teaching gift: route it to the skew lesson and rescue with reference solution tags. Differentiation: early finishers and distinction seekers get the bonus tasks — multi-arch buildx, the sim-skew postmortem with 10-line write-up, the structured error taxonomy, the CI load-test job — while daily pairing rotation carries the strugglers.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making the stack visible: SDA-AIE-211 consumes exactly the GHCR digest produced today — deployment, canary releases, monitoring — and SDA-AIE-216 builds on the logging and configuration substrate for observability. That is why the digest and the structured logs were graded rather than decorative. Before anyone leaves: collect repo URLs, BENCHMARKS.md and DECISIONS.md, and commit publicly to issuing badge recommendations within 5 working days. If time allows, show the one-slide mapping of each capstone requirement to the module that taught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off with discussion prompt 4 from the instructor guide: "If the repo is the audit evidence, what does YOUR current repo testify about your team?" Pause, then land the final line: three days ago this was a notebook; today it is a tested, containerised, pipeline-validated service — and SDA-AIE-211 will deploy the very digest they published. Thank the room, restate that badge recommendations arrive within 5 working days, and stay available for individual questions and track-planning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essions/nice-jolly-fermat/build/assets/image1.png">    </p:cNvPr>
          <p:cNvPicPr>
            <a:picLocks noChangeAspect="1"/>
          </p:cNvPicPr>
          <p:nvPr/>
        </p:nvPicPr>
        <p:blipFill>
          <a:blip r:embed="rId1"/>
          <a:stretch>
            <a:fillRect/>
          </a:stretch>
        </p:blipFill>
        <p:spPr>
          <a:xfrm>
            <a:off x="640080" y="502920"/>
            <a:ext cx="2286000" cy="557784"/>
          </a:xfrm>
          <a:prstGeom prst="rect">
            <a:avLst/>
          </a:prstGeom>
        </p:spPr>
      </p:pic>
      <p:sp>
        <p:nvSpPr>
          <p:cNvPr id="3" name="Shape 0"/>
          <p:cNvSpPr/>
          <p:nvPr/>
        </p:nvSpPr>
        <p:spPr>
          <a:xfrm flipH="1" rot="5400000">
            <a:off x="8595360" y="1481328"/>
            <a:ext cx="438912" cy="384048"/>
          </a:xfrm>
          <a:prstGeom prst="triangle">
            <a:avLst/>
          </a:prstGeom>
          <a:solidFill>
            <a:srgbClr val="00A79D"/>
          </a:solidFill>
          <a:ln/>
        </p:spPr>
      </p:sp>
      <p:sp>
        <p:nvSpPr>
          <p:cNvPr id="4" name="Shape 1"/>
          <p:cNvSpPr/>
          <p:nvPr/>
        </p:nvSpPr>
        <p:spPr>
          <a:xfrm rot="5400000">
            <a:off x="9060607" y="1097280"/>
            <a:ext cx="438912" cy="384048"/>
          </a:xfrm>
          <a:prstGeom prst="triangle">
            <a:avLst/>
          </a:prstGeom>
          <a:solidFill>
            <a:srgbClr val="29ABE2"/>
          </a:solidFill>
          <a:ln/>
        </p:spPr>
      </p:sp>
      <p:sp>
        <p:nvSpPr>
          <p:cNvPr id="5" name="Shape 2"/>
          <p:cNvSpPr/>
          <p:nvPr/>
        </p:nvSpPr>
        <p:spPr>
          <a:xfrm rot="5400000">
            <a:off x="9060607" y="1865376"/>
            <a:ext cx="438912" cy="384048"/>
          </a:xfrm>
          <a:prstGeom prst="triangle">
            <a:avLst/>
          </a:prstGeom>
          <a:solidFill>
            <a:srgbClr val="F58220"/>
          </a:solidFill>
          <a:ln/>
        </p:spPr>
      </p:sp>
      <p:sp>
        <p:nvSpPr>
          <p:cNvPr id="6" name="Shape 3"/>
          <p:cNvSpPr/>
          <p:nvPr/>
        </p:nvSpPr>
        <p:spPr>
          <a:xfrm flipH="1" rot="5400000">
            <a:off x="9525853" y="713232"/>
            <a:ext cx="438912" cy="384048"/>
          </a:xfrm>
          <a:prstGeom prst="triangle">
            <a:avLst/>
          </a:prstGeom>
          <a:solidFill>
            <a:srgbClr val="8DC63F"/>
          </a:solidFill>
          <a:ln/>
        </p:spPr>
      </p:sp>
      <p:sp>
        <p:nvSpPr>
          <p:cNvPr id="7" name="Shape 4"/>
          <p:cNvSpPr/>
          <p:nvPr/>
        </p:nvSpPr>
        <p:spPr>
          <a:xfrm rot="5400000">
            <a:off x="9525853" y="1481328"/>
            <a:ext cx="438912" cy="384048"/>
          </a:xfrm>
          <a:prstGeom prst="triangle">
            <a:avLst/>
          </a:prstGeom>
          <a:solidFill>
            <a:srgbClr val="B9C8E8"/>
          </a:solidFill>
          <a:ln/>
        </p:spPr>
      </p:sp>
      <p:sp>
        <p:nvSpPr>
          <p:cNvPr id="8" name="Shape 5"/>
          <p:cNvSpPr/>
          <p:nvPr/>
        </p:nvSpPr>
        <p:spPr>
          <a:xfrm rot="5400000">
            <a:off x="9991100" y="1097280"/>
            <a:ext cx="438912" cy="384048"/>
          </a:xfrm>
          <a:prstGeom prst="triangle">
            <a:avLst/>
          </a:prstGeom>
          <a:solidFill>
            <a:srgbClr val="00A79D"/>
          </a:solidFill>
          <a:ln/>
        </p:spPr>
      </p:sp>
      <p:sp>
        <p:nvSpPr>
          <p:cNvPr id="9" name="Shape 6"/>
          <p:cNvSpPr/>
          <p:nvPr/>
        </p:nvSpPr>
        <p:spPr>
          <a:xfrm flipH="1" rot="5400000">
            <a:off x="9991100" y="1865376"/>
            <a:ext cx="438912" cy="384048"/>
          </a:xfrm>
          <a:prstGeom prst="triangle">
            <a:avLst/>
          </a:prstGeom>
          <a:solidFill>
            <a:srgbClr val="29ABE2"/>
          </a:solidFill>
          <a:ln/>
        </p:spPr>
      </p:sp>
      <p:sp>
        <p:nvSpPr>
          <p:cNvPr id="10" name="Shape 7"/>
          <p:cNvSpPr/>
          <p:nvPr/>
        </p:nvSpPr>
        <p:spPr>
          <a:xfrm rot="5400000">
            <a:off x="10456347" y="1481328"/>
            <a:ext cx="438912" cy="384048"/>
          </a:xfrm>
          <a:prstGeom prst="triangle">
            <a:avLst/>
          </a:prstGeom>
          <a:solidFill>
            <a:srgbClr val="F58220"/>
          </a:solidFill>
          <a:ln/>
        </p:spPr>
      </p:sp>
      <p:sp>
        <p:nvSpPr>
          <p:cNvPr id="11" name="Shape 8"/>
          <p:cNvSpPr/>
          <p:nvPr/>
        </p:nvSpPr>
        <p:spPr>
          <a:xfrm flipH="1" rot="5400000">
            <a:off x="9692640" y="5703570"/>
            <a:ext cx="301752" cy="264033"/>
          </a:xfrm>
          <a:prstGeom prst="triangle">
            <a:avLst/>
          </a:prstGeom>
          <a:solidFill>
            <a:srgbClr val="B9C8E8"/>
          </a:solidFill>
          <a:ln/>
        </p:spPr>
      </p:sp>
      <p:sp>
        <p:nvSpPr>
          <p:cNvPr id="12" name="Shape 9"/>
          <p:cNvSpPr/>
          <p:nvPr/>
        </p:nvSpPr>
        <p:spPr>
          <a:xfrm rot="5400000">
            <a:off x="10012497" y="5439537"/>
            <a:ext cx="301752" cy="264033"/>
          </a:xfrm>
          <a:prstGeom prst="triangle">
            <a:avLst/>
          </a:prstGeom>
          <a:solidFill>
            <a:srgbClr val="DCE6F8"/>
          </a:solidFill>
          <a:ln/>
        </p:spPr>
      </p:sp>
      <p:sp>
        <p:nvSpPr>
          <p:cNvPr id="13" name="Shape 10"/>
          <p:cNvSpPr/>
          <p:nvPr/>
        </p:nvSpPr>
        <p:spPr>
          <a:xfrm rot="5400000">
            <a:off x="10012497" y="5967603"/>
            <a:ext cx="301752" cy="264033"/>
          </a:xfrm>
          <a:prstGeom prst="triangle">
            <a:avLst/>
          </a:prstGeom>
          <a:solidFill>
            <a:srgbClr val="00A79D"/>
          </a:solidFill>
          <a:ln/>
        </p:spPr>
      </p:sp>
      <p:sp>
        <p:nvSpPr>
          <p:cNvPr id="14" name="Shape 11"/>
          <p:cNvSpPr/>
          <p:nvPr/>
        </p:nvSpPr>
        <p:spPr>
          <a:xfrm flipH="1" rot="5400000">
            <a:off x="10332354" y="5175504"/>
            <a:ext cx="301752" cy="264033"/>
          </a:xfrm>
          <a:prstGeom prst="triangle">
            <a:avLst/>
          </a:prstGeom>
          <a:solidFill>
            <a:srgbClr val="29ABE2"/>
          </a:solidFill>
          <a:ln/>
        </p:spPr>
      </p:sp>
      <p:sp>
        <p:nvSpPr>
          <p:cNvPr id="15" name="Shape 12"/>
          <p:cNvSpPr/>
          <p:nvPr/>
        </p:nvSpPr>
        <p:spPr>
          <a:xfrm rot="5400000">
            <a:off x="10332354" y="5703570"/>
            <a:ext cx="301752" cy="264033"/>
          </a:xfrm>
          <a:prstGeom prst="triangle">
            <a:avLst/>
          </a:prstGeom>
          <a:solidFill>
            <a:srgbClr val="B9C8E8"/>
          </a:solidFill>
          <a:ln/>
        </p:spPr>
      </p:sp>
      <p:sp>
        <p:nvSpPr>
          <p:cNvPr id="16" name="Shape 13"/>
          <p:cNvSpPr/>
          <p:nvPr/>
        </p:nvSpPr>
        <p:spPr>
          <a:xfrm rot="5400000">
            <a:off x="10652211" y="5439537"/>
            <a:ext cx="301752" cy="264033"/>
          </a:xfrm>
          <a:prstGeom prst="triangle">
            <a:avLst/>
          </a:prstGeom>
          <a:solidFill>
            <a:srgbClr val="DCE6F8"/>
          </a:solidFill>
          <a:ln/>
        </p:spPr>
      </p:sp>
      <p:sp>
        <p:nvSpPr>
          <p:cNvPr id="17" name="Shape 14"/>
          <p:cNvSpPr/>
          <p:nvPr/>
        </p:nvSpPr>
        <p:spPr>
          <a:xfrm flipH="1" rot="5400000">
            <a:off x="10652211" y="5967603"/>
            <a:ext cx="301752" cy="264033"/>
          </a:xfrm>
          <a:prstGeom prst="triangle">
            <a:avLst/>
          </a:prstGeom>
          <a:solidFill>
            <a:srgbClr val="00A79D"/>
          </a:solidFill>
          <a:ln/>
        </p:spPr>
      </p:sp>
      <p:sp>
        <p:nvSpPr>
          <p:cNvPr id="18" name="Shape 15"/>
          <p:cNvSpPr/>
          <p:nvPr/>
        </p:nvSpPr>
        <p:spPr>
          <a:xfrm rot="5400000">
            <a:off x="10972068" y="5703570"/>
            <a:ext cx="301752" cy="264033"/>
          </a:xfrm>
          <a:prstGeom prst="triangle">
            <a:avLst/>
          </a:prstGeom>
          <a:solidFill>
            <a:srgbClr val="29ABE2"/>
          </a:solidFill>
          <a:ln/>
        </p:spPr>
      </p:sp>
      <p:sp>
        <p:nvSpPr>
          <p:cNvPr id="19" name="Text 16"/>
          <p:cNvSpPr/>
          <p:nvPr/>
        </p:nvSpPr>
        <p:spPr>
          <a:xfrm>
            <a:off x="685800" y="2331720"/>
            <a:ext cx="10058400" cy="320040"/>
          </a:xfrm>
          <a:prstGeom prst="rect">
            <a:avLst/>
          </a:prstGeom>
          <a:noFill/>
          <a:ln/>
        </p:spPr>
        <p:txBody>
          <a:bodyPr wrap="square" rtlCol="0" anchor="ctr"/>
          <a:lstStyle/>
          <a:p>
            <a:pPr indent="0" marL="0">
              <a:buNone/>
            </a:pPr>
            <a:r>
              <a:rPr lang="en-US" sz="1250" b="1" spc="300" kern="0" dirty="0">
                <a:solidFill>
                  <a:srgbClr val="5F6B7A"/>
                </a:solidFill>
                <a:latin typeface="Calibri" pitchFamily="34" charset="0"/>
                <a:ea typeface="Calibri" pitchFamily="34" charset="-122"/>
                <a:cs typeface="Calibri" pitchFamily="34" charset="-120"/>
              </a:rPr>
              <a:t>SDAIA ACADEMY · AI ENGINEER TRACK</a:t>
            </a:r>
            <a:endParaRPr lang="en-US" sz="1250" dirty="0"/>
          </a:p>
        </p:txBody>
      </p:sp>
      <p:sp>
        <p:nvSpPr>
          <p:cNvPr id="20" name="Text 17"/>
          <p:cNvSpPr/>
          <p:nvPr/>
        </p:nvSpPr>
        <p:spPr>
          <a:xfrm>
            <a:off x="658368" y="2697480"/>
            <a:ext cx="10881360" cy="960120"/>
          </a:xfrm>
          <a:prstGeom prst="rect">
            <a:avLst/>
          </a:prstGeom>
          <a:noFill/>
          <a:ln/>
        </p:spPr>
        <p:txBody>
          <a:bodyPr wrap="square" rtlCol="0" anchor="ctr"/>
          <a:lstStyle/>
          <a:p>
            <a:pPr indent="0" marL="0">
              <a:buNone/>
            </a:pPr>
            <a:r>
              <a:rPr lang="en-US" sz="4000" b="1" dirty="0">
                <a:solidFill>
                  <a:srgbClr val="1D2A5C"/>
                </a:solidFill>
                <a:latin typeface="Calibri" pitchFamily="34" charset="0"/>
                <a:ea typeface="Calibri" pitchFamily="34" charset="-122"/>
                <a:cs typeface="Calibri" pitchFamily="34" charset="-120"/>
              </a:rPr>
              <a:t>Software Engineering Practices for AI Systems</a:t>
            </a:r>
            <a:endParaRPr lang="en-US" sz="4000" dirty="0"/>
          </a:p>
        </p:txBody>
      </p:sp>
      <p:sp>
        <p:nvSpPr>
          <p:cNvPr id="21" name="Text 18"/>
          <p:cNvSpPr/>
          <p:nvPr/>
        </p:nvSpPr>
        <p:spPr>
          <a:xfrm>
            <a:off x="685800" y="3657600"/>
            <a:ext cx="10881360" cy="566928"/>
          </a:xfrm>
          <a:prstGeom prst="rect">
            <a:avLst/>
          </a:prstGeom>
          <a:noFill/>
          <a:ln/>
        </p:spPr>
        <p:txBody>
          <a:bodyPr wrap="square" rtlCol="0" anchor="ctr"/>
          <a:lstStyle/>
          <a:p>
            <a:pPr indent="0" marL="0">
              <a:buNone/>
            </a:pPr>
            <a:r>
              <a:rPr lang="en-US" sz="2000" dirty="0">
                <a:solidFill>
                  <a:srgbClr val="00A79D"/>
                </a:solidFill>
                <a:latin typeface="Calibri" pitchFamily="34" charset="0"/>
                <a:ea typeface="Calibri" pitchFamily="34" charset="-122"/>
                <a:cs typeface="Calibri" pitchFamily="34" charset="-120"/>
              </a:rPr>
              <a:t>ممارسات هندسة البرمجيات لأنظمة الذكاء الاصطناعي</a:t>
            </a:r>
            <a:endParaRPr lang="en-US" sz="2000" dirty="0"/>
          </a:p>
        </p:txBody>
      </p:sp>
      <p:sp>
        <p:nvSpPr>
          <p:cNvPr id="22" name="Text 19"/>
          <p:cNvSpPr/>
          <p:nvPr/>
        </p:nvSpPr>
        <p:spPr>
          <a:xfrm>
            <a:off x="685800" y="4343400"/>
            <a:ext cx="10058400" cy="365760"/>
          </a:xfrm>
          <a:prstGeom prst="rect">
            <a:avLst/>
          </a:prstGeom>
          <a:noFill/>
          <a:ln/>
        </p:spPr>
        <p:txBody>
          <a:bodyPr wrap="square" rtlCol="0" anchor="ctr"/>
          <a:lstStyle/>
          <a:p>
            <a:pPr indent="0" marL="0">
              <a:buNone/>
            </a:pPr>
            <a:r>
              <a:rPr lang="en-US" sz="1500" dirty="0">
                <a:solidFill>
                  <a:srgbClr val="5F6B7A"/>
                </a:solidFill>
                <a:latin typeface="Calibri" pitchFamily="34" charset="0"/>
                <a:ea typeface="Calibri" pitchFamily="34" charset="-122"/>
                <a:cs typeface="Calibri" pitchFamily="34" charset="-120"/>
              </a:rPr>
              <a:t>Instructor-Ready Training Deck</a:t>
            </a:r>
            <a:endParaRPr lang="en-US" sz="1500" dirty="0"/>
          </a:p>
        </p:txBody>
      </p:sp>
      <p:sp>
        <p:nvSpPr>
          <p:cNvPr id="23" name="Text 20"/>
          <p:cNvSpPr/>
          <p:nvPr/>
        </p:nvSpPr>
        <p:spPr>
          <a:xfrm>
            <a:off x="685800" y="4983480"/>
            <a:ext cx="1389888" cy="420624"/>
          </a:xfrm>
          <a:prstGeom prst="roundRect">
            <a:avLst>
              <a:gd name="adj" fmla="val 13043"/>
            </a:avLst>
          </a:prstGeom>
          <a:solidFill>
            <a:srgbClr val="1D2A5C"/>
          </a:solid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SDA-AIE-113</a:t>
            </a:r>
            <a:endParaRPr lang="en-US" sz="1150" dirty="0"/>
          </a:p>
        </p:txBody>
      </p:sp>
      <p:sp>
        <p:nvSpPr>
          <p:cNvPr id="24" name="Text 21"/>
          <p:cNvSpPr/>
          <p:nvPr/>
        </p:nvSpPr>
        <p:spPr>
          <a:xfrm>
            <a:off x="2304288" y="4983480"/>
            <a:ext cx="1819656" cy="420624"/>
          </a:xfrm>
          <a:prstGeom prst="roundRect">
            <a:avLst>
              <a:gd name="adj" fmla="val 13043"/>
            </a:avLst>
          </a:prstGeom>
          <a:solidFill>
            <a:srgbClr val="EEF3FB"/>
          </a:solidFill>
          <a:ln w="12700">
            <a:solidFill>
              <a:srgbClr val="D9E4F5"/>
            </a:solidFill>
          </a:ln>
        </p:spPr>
        <p:txBody>
          <a:bodyPr wrap="square"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Practitioner Level</a:t>
            </a:r>
            <a:endParaRPr lang="en-US" sz="1150" dirty="0"/>
          </a:p>
        </p:txBody>
      </p:sp>
      <p:sp>
        <p:nvSpPr>
          <p:cNvPr id="25" name="Text 22"/>
          <p:cNvSpPr/>
          <p:nvPr/>
        </p:nvSpPr>
        <p:spPr>
          <a:xfrm>
            <a:off x="4352544" y="4983480"/>
            <a:ext cx="1819656" cy="420624"/>
          </a:xfrm>
          <a:prstGeom prst="roundRect">
            <a:avLst>
              <a:gd name="adj" fmla="val 13043"/>
            </a:avLst>
          </a:prstGeom>
          <a:solidFill>
            <a:srgbClr val="EEF3FB"/>
          </a:solidFill>
          <a:ln w="12700">
            <a:solidFill>
              <a:srgbClr val="D9E4F5"/>
            </a:solidFill>
          </a:ln>
        </p:spPr>
        <p:txBody>
          <a:bodyPr wrap="square"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3 days × 5 hours</a:t>
            </a:r>
            <a:endParaRPr lang="en-US" sz="1150" dirty="0"/>
          </a:p>
        </p:txBody>
      </p:sp>
      <p:sp>
        <p:nvSpPr>
          <p:cNvPr id="26" name="Text 23"/>
          <p:cNvSpPr/>
          <p:nvPr/>
        </p:nvSpPr>
        <p:spPr>
          <a:xfrm>
            <a:off x="6400800" y="4983480"/>
            <a:ext cx="3520440" cy="420624"/>
          </a:xfrm>
          <a:prstGeom prst="roundRect">
            <a:avLst>
              <a:gd name="adj" fmla="val 13043"/>
            </a:avLst>
          </a:prstGeom>
          <a:solidFill>
            <a:srgbClr val="EEF3FB"/>
          </a:solidFill>
          <a:ln w="12700">
            <a:solidFill>
              <a:srgbClr val="D9E4F5"/>
            </a:solidFill>
          </a:ln>
        </p:spPr>
        <p:txBody>
          <a:bodyPr wrap="square" rtlCol="0" anchor="ctr"/>
          <a:lstStyle/>
          <a:p>
            <a:pPr algn="ctr" indent="0" marL="0">
              <a:buNone/>
            </a:pPr>
            <a:r>
              <a:rPr lang="en-US" sz="1150" b="1" dirty="0">
                <a:solidFill>
                  <a:srgbClr val="1D2A5C"/>
                </a:solidFill>
                <a:latin typeface="Calibri" pitchFamily="34" charset="0"/>
                <a:ea typeface="Calibri" pitchFamily="34" charset="-122"/>
                <a:cs typeface="Calibri" pitchFamily="34" charset="-120"/>
              </a:rPr>
              <a:t>FastAPI · Docker · pytest · GitHub Actions · pydantic</a:t>
            </a:r>
            <a:endParaRPr lang="en-US" sz="1150" dirty="0"/>
          </a:p>
        </p:txBody>
      </p:sp>
      <p:sp>
        <p:nvSpPr>
          <p:cNvPr id="27" name="Text 24"/>
          <p:cNvSpPr/>
          <p:nvPr/>
        </p:nvSpPr>
        <p:spPr>
          <a:xfrm>
            <a:off x="685800" y="6172200"/>
            <a:ext cx="10789920" cy="274320"/>
          </a:xfrm>
          <a:prstGeom prst="rect">
            <a:avLst/>
          </a:prstGeom>
          <a:noFill/>
          <a:ln/>
        </p:spPr>
        <p:txBody>
          <a:bodyPr wrap="square" rtlCol="0" anchor="ctr"/>
          <a:lstStyle/>
          <a:p>
            <a:pPr indent="0" marL="0">
              <a:buNone/>
            </a:pPr>
            <a:r>
              <a:rPr lang="en-US" sz="1000" dirty="0">
                <a:solidFill>
                  <a:srgbClr val="8A96A6"/>
                </a:solidFill>
                <a:latin typeface="Calibri" pitchFamily="34" charset="0"/>
                <a:ea typeface="Calibri" pitchFamily="34" charset="-122"/>
                <a:cs typeface="Calibri" pitchFamily="34" charset="-120"/>
              </a:rPr>
              <a:t>Instructor Edition — includes speaker notes, labs, quizzes, and assessment rubrics on every module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Course at a glance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نظرة سريعة على الدورة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5591556"/>
                <a:gridCol w="5591556"/>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Details</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Practitioner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3 days × 5 learning hours = 15 hours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Audience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AI practitioners preparing for production engineering roles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Prerequisites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SDA-FND-103; SDA-AIE-111 recommended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Assessment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Labs (60%) + containerised model-service capstone project (40%)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Stackability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Engineering badge · required for MLOps modules · next: SDA-AIE-211, SDA-AIE-216</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Tools &amp; platforms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FastAPI · Docker · pytest · GitHub Actions · pydantic</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golden thread: one evolving service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الخيط الذهبي: خدمة واحدة تتطور</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Refactor</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Messy fraud-detection notebook → clean src-layout package (Lab 1)</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Serve</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FastAPI prediction API with pydantic validation (Labs 2a/2b)</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Containerise</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Multi-stage Docker build + compose with healthcheck (Lab 3)</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Test</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Unit, integration and model-behaviour suite (Lab 4)</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Automate</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CI/CD pipeline + config, secrets and logging (Labs 5-6)</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Every lab produces a component of the final capstone. By Day 3 each participant owns a working, tested, containerised, pipeline-validated AI service.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Learning outcomes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Design RESTful APIs that expose ML models as reliable services</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Implement containerised AI services using Docker and compose workflows</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Develop automated unit, integration, and model-behaviour tests</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Build CI/CD pipelines that validate and ship AI code changes</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Apply clean architecture and configuration-management patterns to AI codebases</a:t>
            </a:r>
            <a:endParaRPr lang="en-US" sz="1100" dirty="0"/>
          </a:p>
        </p:txBody>
      </p:sp>
      <p:sp>
        <p:nvSpPr>
          <p:cNvPr id="33" name="Shape 30"/>
          <p:cNvSpPr/>
          <p:nvPr/>
        </p:nvSpPr>
        <p:spPr>
          <a:xfrm>
            <a:off x="6231636" y="4718304"/>
            <a:ext cx="5454396" cy="1417320"/>
          </a:xfrm>
          <a:prstGeom prst="roundRect">
            <a:avLst>
              <a:gd name="adj" fmla="val 3871"/>
            </a:avLst>
          </a:prstGeom>
          <a:solidFill>
            <a:srgbClr val="EEF3FB"/>
          </a:solidFill>
          <a:ln w="9525">
            <a:solidFill>
              <a:srgbClr val="D9E4F5"/>
            </a:solidFill>
            <a:prstDash val="solid"/>
          </a:ln>
        </p:spPr>
      </p:sp>
      <p:sp>
        <p:nvSpPr>
          <p:cNvPr id="34" name="Shape 31"/>
          <p:cNvSpPr/>
          <p:nvPr/>
        </p:nvSpPr>
        <p:spPr>
          <a:xfrm>
            <a:off x="6231636" y="4718304"/>
            <a:ext cx="64008" cy="1417320"/>
          </a:xfrm>
          <a:prstGeom prst="rect">
            <a:avLst/>
          </a:prstGeom>
          <a:solidFill>
            <a:srgbClr val="7B61A6"/>
          </a:solidFill>
          <a:ln/>
        </p:spPr>
      </p:sp>
      <p:sp>
        <p:nvSpPr>
          <p:cNvPr id="35" name="Text 32"/>
          <p:cNvSpPr/>
          <p:nvPr/>
        </p:nvSpPr>
        <p:spPr>
          <a:xfrm>
            <a:off x="6414516"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LO6</a:t>
            </a:r>
            <a:endParaRPr lang="en-US" sz="1200" dirty="0"/>
          </a:p>
        </p:txBody>
      </p:sp>
      <p:sp>
        <p:nvSpPr>
          <p:cNvPr id="36" name="Text 33"/>
          <p:cNvSpPr/>
          <p:nvPr/>
        </p:nvSpPr>
        <p:spPr>
          <a:xfrm>
            <a:off x="10725912"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LO6</a:t>
            </a:r>
            <a:endParaRPr lang="en-US" sz="850" dirty="0"/>
          </a:p>
        </p:txBody>
      </p:sp>
      <p:sp>
        <p:nvSpPr>
          <p:cNvPr id="37" name="Text 34"/>
          <p:cNvSpPr/>
          <p:nvPr/>
        </p:nvSpPr>
        <p:spPr>
          <a:xfrm>
            <a:off x="6414516"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Evaluate code quality using reviews, linting, and static analysis</a:t>
            </a:r>
            <a:endParaRPr lang="en-US" sz="1100" dirty="0"/>
          </a:p>
        </p:txBody>
      </p:sp>
      <p:sp>
        <p:nvSpPr>
          <p:cNvPr id="38" name="Text 35"/>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Each LO maps to a mandatory capstone requirement and a rubric criterion.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3-day journey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رحلة الأيام الثلاثة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236622"/>
                <a:gridCol w="2236622"/>
                <a:gridCol w="2236622"/>
                <a:gridCol w="2236622"/>
                <a:gridCol w="223662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Theme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Modules</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End-of-day deliverable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1</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From notebook to service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M1 Clean Architecture · M2 APIs for Model Serving (FastAPI)</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45/55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Clean-architecture skeleton + working FastAPI prediction endpoint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2</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Ship it in a box, prove it works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M3 Docker &amp; Containerised Services · M4 Testing Strategies for ML Code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40/60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Containerised service (compose) + passing unit/integration/behaviour suite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Day 3</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Automate everything</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M5 CI/CD with GitHub Actions · M6 Config, Secrets &amp; Logging · Capstone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30/70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Green CI pipeline + hardened service + capstone demo</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Environment &amp; tooling strategy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استراتيجية البيئة والأدوات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PRIMARY</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Local Docker</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Docker Desktop (WSL2 on Windows) or Colima; verify docker run hello-world before Day 1</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FALLBACK</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GitHub Codespaces</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Devcontainer provided; verify both environments the week before delivery</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SAFETY NET</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Checkpoint commits</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Publish lab2-start, lab2-solution, lab3-start … so stragglers fast-forward: git checkout lab3-start</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PEOPLE</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Pairing rotation</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Rotate pairs each day; pair strong-Python with strong-ML — the skill transfer is the point</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LANGUAGE</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EN code, EN/AR delivery</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Keep code, identifiers, commit messages in English — mixed-language logs break grep-based operations</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PREFLIGHT</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make doctor</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T-minus-2-days email: participants install the stack, then run make doctor — prints ✓/✗ per requirement</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How you will be assessed</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كيف سيتم تقييمك</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a:t>
            </a:r>
            <a:endParaRPr lang="en-US" sz="850" dirty="0"/>
          </a:p>
        </p:txBody>
      </p:sp>
      <p:sp>
        <p:nvSpPr>
          <p:cNvPr id="8" name="Shape 5"/>
          <p:cNvSpPr/>
          <p:nvPr/>
        </p:nvSpPr>
        <p:spPr>
          <a:xfrm>
            <a:off x="502920" y="2011680"/>
            <a:ext cx="2555748" cy="3108960"/>
          </a:xfrm>
          <a:prstGeom prst="roundRect">
            <a:avLst>
              <a:gd name="adj" fmla="val 2862"/>
            </a:avLst>
          </a:prstGeom>
          <a:solidFill>
            <a:srgbClr val="EEF3FB"/>
          </a:solidFill>
          <a:ln/>
        </p:spPr>
      </p:sp>
      <p:sp>
        <p:nvSpPr>
          <p:cNvPr id="9" name="Shape 6"/>
          <p:cNvSpPr/>
          <p:nvPr/>
        </p:nvSpPr>
        <p:spPr>
          <a:xfrm>
            <a:off x="731520" y="2331720"/>
            <a:ext cx="502920" cy="54864"/>
          </a:xfrm>
          <a:prstGeom prst="rect">
            <a:avLst/>
          </a:prstGeom>
          <a:solidFill>
            <a:srgbClr val="00A79D"/>
          </a:solidFill>
          <a:ln/>
        </p:spPr>
      </p:sp>
      <p:sp>
        <p:nvSpPr>
          <p:cNvPr id="10" name="Text 7"/>
          <p:cNvSpPr/>
          <p:nvPr/>
        </p:nvSpPr>
        <p:spPr>
          <a:xfrm>
            <a:off x="685800" y="2514600"/>
            <a:ext cx="2189988" cy="822960"/>
          </a:xfrm>
          <a:prstGeom prst="rect">
            <a:avLst/>
          </a:prstGeom>
          <a:noFill/>
          <a:ln/>
        </p:spPr>
        <p:txBody>
          <a:bodyPr wrap="square" rtlCol="0" anchor="ctr"/>
          <a:lstStyle/>
          <a:p>
            <a:pPr indent="0" marL="0">
              <a:buNone/>
            </a:pPr>
            <a:r>
              <a:rPr lang="en-US" sz="3800" b="1" dirty="0">
                <a:solidFill>
                  <a:srgbClr val="00A79D"/>
                </a:solidFill>
                <a:latin typeface="Calibri" pitchFamily="34" charset="0"/>
                <a:ea typeface="Calibri" pitchFamily="34" charset="-122"/>
                <a:cs typeface="Calibri" pitchFamily="34" charset="-120"/>
              </a:rPr>
              <a:t>60%</a:t>
            </a:r>
            <a:endParaRPr lang="en-US" sz="3800" dirty="0"/>
          </a:p>
        </p:txBody>
      </p:sp>
      <p:sp>
        <p:nvSpPr>
          <p:cNvPr id="11" name="Text 8"/>
          <p:cNvSpPr/>
          <p:nvPr/>
        </p:nvSpPr>
        <p:spPr>
          <a:xfrm>
            <a:off x="731520"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Labs + assessments</a:t>
            </a:r>
            <a:endParaRPr lang="en-US" sz="1250" dirty="0"/>
          </a:p>
        </p:txBody>
      </p:sp>
      <p:sp>
        <p:nvSpPr>
          <p:cNvPr id="12" name="Text 9"/>
          <p:cNvSpPr/>
          <p:nvPr/>
        </p:nvSpPr>
        <p:spPr>
          <a:xfrm>
            <a:off x="731520"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Lab completion 30% · PA-1/PA-2 20% · quiz 10% — evidence: checkpoint commits + outputs</a:t>
            </a:r>
            <a:endParaRPr lang="en-US" sz="980" dirty="0"/>
          </a:p>
        </p:txBody>
      </p:sp>
      <p:sp>
        <p:nvSpPr>
          <p:cNvPr id="13" name="Shape 10"/>
          <p:cNvSpPr/>
          <p:nvPr/>
        </p:nvSpPr>
        <p:spPr>
          <a:xfrm>
            <a:off x="3378708" y="2011680"/>
            <a:ext cx="2555748" cy="3108960"/>
          </a:xfrm>
          <a:prstGeom prst="roundRect">
            <a:avLst>
              <a:gd name="adj" fmla="val 2862"/>
            </a:avLst>
          </a:prstGeom>
          <a:solidFill>
            <a:srgbClr val="EEF3FB"/>
          </a:solidFill>
          <a:ln/>
        </p:spPr>
      </p:sp>
      <p:sp>
        <p:nvSpPr>
          <p:cNvPr id="14" name="Shape 11"/>
          <p:cNvSpPr/>
          <p:nvPr/>
        </p:nvSpPr>
        <p:spPr>
          <a:xfrm>
            <a:off x="3607308" y="2331720"/>
            <a:ext cx="502920" cy="54864"/>
          </a:xfrm>
          <a:prstGeom prst="rect">
            <a:avLst/>
          </a:prstGeom>
          <a:solidFill>
            <a:srgbClr val="29ABE2"/>
          </a:solidFill>
          <a:ln/>
        </p:spPr>
      </p:sp>
      <p:sp>
        <p:nvSpPr>
          <p:cNvPr id="15" name="Text 12"/>
          <p:cNvSpPr/>
          <p:nvPr/>
        </p:nvSpPr>
        <p:spPr>
          <a:xfrm>
            <a:off x="3561588" y="2514600"/>
            <a:ext cx="2189988" cy="822960"/>
          </a:xfrm>
          <a:prstGeom prst="rect">
            <a:avLst/>
          </a:prstGeom>
          <a:noFill/>
          <a:ln/>
        </p:spPr>
        <p:txBody>
          <a:bodyPr wrap="square" rtlCol="0" anchor="ctr"/>
          <a:lstStyle/>
          <a:p>
            <a:pPr indent="0" marL="0">
              <a:buNone/>
            </a:pPr>
            <a:r>
              <a:rPr lang="en-US" sz="3800" b="1" dirty="0">
                <a:solidFill>
                  <a:srgbClr val="29ABE2"/>
                </a:solidFill>
                <a:latin typeface="Calibri" pitchFamily="34" charset="0"/>
                <a:ea typeface="Calibri" pitchFamily="34" charset="-122"/>
                <a:cs typeface="Calibri" pitchFamily="34" charset="-120"/>
              </a:rPr>
              <a:t>40%</a:t>
            </a:r>
            <a:endParaRPr lang="en-US" sz="3800" dirty="0"/>
          </a:p>
        </p:txBody>
      </p:sp>
      <p:sp>
        <p:nvSpPr>
          <p:cNvPr id="16" name="Text 13"/>
          <p:cNvSpPr/>
          <p:nvPr/>
        </p:nvSpPr>
        <p:spPr>
          <a:xfrm>
            <a:off x="3607308"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Capstone project</a:t>
            </a:r>
            <a:endParaRPr lang="en-US" sz="1250" dirty="0"/>
          </a:p>
        </p:txBody>
      </p:sp>
      <p:sp>
        <p:nvSpPr>
          <p:cNvPr id="17" name="Text 14"/>
          <p:cNvSpPr/>
          <p:nvPr/>
        </p:nvSpPr>
        <p:spPr>
          <a:xfrm>
            <a:off x="3607308"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Containerised model service, rubric-scored repo-first; pass ≥ 70, distinction ≥ 90</a:t>
            </a:r>
            <a:endParaRPr lang="en-US" sz="980" dirty="0"/>
          </a:p>
        </p:txBody>
      </p:sp>
      <p:sp>
        <p:nvSpPr>
          <p:cNvPr id="18" name="Shape 15"/>
          <p:cNvSpPr/>
          <p:nvPr/>
        </p:nvSpPr>
        <p:spPr>
          <a:xfrm>
            <a:off x="6254496" y="2011680"/>
            <a:ext cx="2555748" cy="3108960"/>
          </a:xfrm>
          <a:prstGeom prst="roundRect">
            <a:avLst>
              <a:gd name="adj" fmla="val 2862"/>
            </a:avLst>
          </a:prstGeom>
          <a:solidFill>
            <a:srgbClr val="EEF3FB"/>
          </a:solidFill>
          <a:ln/>
        </p:spPr>
      </p:sp>
      <p:sp>
        <p:nvSpPr>
          <p:cNvPr id="19" name="Shape 16"/>
          <p:cNvSpPr/>
          <p:nvPr/>
        </p:nvSpPr>
        <p:spPr>
          <a:xfrm>
            <a:off x="6483096" y="2331720"/>
            <a:ext cx="502920" cy="54864"/>
          </a:xfrm>
          <a:prstGeom prst="rect">
            <a:avLst/>
          </a:prstGeom>
          <a:solidFill>
            <a:srgbClr val="F58220"/>
          </a:solidFill>
          <a:ln/>
        </p:spPr>
      </p:sp>
      <p:sp>
        <p:nvSpPr>
          <p:cNvPr id="20" name="Text 17"/>
          <p:cNvSpPr/>
          <p:nvPr/>
        </p:nvSpPr>
        <p:spPr>
          <a:xfrm>
            <a:off x="6437376" y="2514600"/>
            <a:ext cx="2189988" cy="822960"/>
          </a:xfrm>
          <a:prstGeom prst="rect">
            <a:avLst/>
          </a:prstGeom>
          <a:noFill/>
          <a:ln/>
        </p:spPr>
        <p:txBody>
          <a:bodyPr wrap="square" rtlCol="0" anchor="ctr"/>
          <a:lstStyle/>
          <a:p>
            <a:pPr indent="0" marL="0">
              <a:buNone/>
            </a:pPr>
            <a:r>
              <a:rPr lang="en-US" sz="3800" b="1" dirty="0">
                <a:solidFill>
                  <a:srgbClr val="F58220"/>
                </a:solidFill>
                <a:latin typeface="Calibri" pitchFamily="34" charset="0"/>
                <a:ea typeface="Calibri" pitchFamily="34" charset="-122"/>
                <a:cs typeface="Calibri" pitchFamily="34" charset="-120"/>
              </a:rPr>
              <a:t>6</a:t>
            </a:r>
            <a:endParaRPr lang="en-US" sz="3800" dirty="0"/>
          </a:p>
        </p:txBody>
      </p:sp>
      <p:sp>
        <p:nvSpPr>
          <p:cNvPr id="21" name="Text 18"/>
          <p:cNvSpPr/>
          <p:nvPr/>
        </p:nvSpPr>
        <p:spPr>
          <a:xfrm>
            <a:off x="6483096"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Labs</a:t>
            </a:r>
            <a:endParaRPr lang="en-US" sz="1250" dirty="0"/>
          </a:p>
        </p:txBody>
      </p:sp>
      <p:sp>
        <p:nvSpPr>
          <p:cNvPr id="22" name="Text 19"/>
          <p:cNvSpPr/>
          <p:nvPr/>
        </p:nvSpPr>
        <p:spPr>
          <a:xfrm>
            <a:off x="6483096"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Each lab produces a component of the capstone — nothing is throwaway</a:t>
            </a:r>
            <a:endParaRPr lang="en-US" sz="980" dirty="0"/>
          </a:p>
        </p:txBody>
      </p:sp>
      <p:sp>
        <p:nvSpPr>
          <p:cNvPr id="23" name="Shape 20"/>
          <p:cNvSpPr/>
          <p:nvPr/>
        </p:nvSpPr>
        <p:spPr>
          <a:xfrm>
            <a:off x="9130284" y="2011680"/>
            <a:ext cx="2555748" cy="3108960"/>
          </a:xfrm>
          <a:prstGeom prst="roundRect">
            <a:avLst>
              <a:gd name="adj" fmla="val 2862"/>
            </a:avLst>
          </a:prstGeom>
          <a:solidFill>
            <a:srgbClr val="EEF3FB"/>
          </a:solidFill>
          <a:ln/>
        </p:spPr>
      </p:sp>
      <p:sp>
        <p:nvSpPr>
          <p:cNvPr id="24" name="Shape 21"/>
          <p:cNvSpPr/>
          <p:nvPr/>
        </p:nvSpPr>
        <p:spPr>
          <a:xfrm>
            <a:off x="9358884" y="2331720"/>
            <a:ext cx="502920" cy="54864"/>
          </a:xfrm>
          <a:prstGeom prst="rect">
            <a:avLst/>
          </a:prstGeom>
          <a:solidFill>
            <a:srgbClr val="8DC63F"/>
          </a:solidFill>
          <a:ln/>
        </p:spPr>
      </p:sp>
      <p:sp>
        <p:nvSpPr>
          <p:cNvPr id="25" name="Text 22"/>
          <p:cNvSpPr/>
          <p:nvPr/>
        </p:nvSpPr>
        <p:spPr>
          <a:xfrm>
            <a:off x="9313164" y="2514600"/>
            <a:ext cx="2189988" cy="822960"/>
          </a:xfrm>
          <a:prstGeom prst="rect">
            <a:avLst/>
          </a:prstGeom>
          <a:noFill/>
          <a:ln/>
        </p:spPr>
        <p:txBody>
          <a:bodyPr wrap="square" rtlCol="0" anchor="ctr"/>
          <a:lstStyle/>
          <a:p>
            <a:pPr indent="0" marL="0">
              <a:buNone/>
            </a:pPr>
            <a:r>
              <a:rPr lang="en-US" sz="3800" b="1" dirty="0">
                <a:solidFill>
                  <a:srgbClr val="8DC63F"/>
                </a:solidFill>
                <a:latin typeface="Calibri" pitchFamily="34" charset="0"/>
                <a:ea typeface="Calibri" pitchFamily="34" charset="-122"/>
                <a:cs typeface="Calibri" pitchFamily="34" charset="-120"/>
              </a:rPr>
              <a:t>15</a:t>
            </a:r>
            <a:endParaRPr lang="en-US" sz="3800" dirty="0"/>
          </a:p>
        </p:txBody>
      </p:sp>
      <p:sp>
        <p:nvSpPr>
          <p:cNvPr id="26" name="Text 23"/>
          <p:cNvSpPr/>
          <p:nvPr/>
        </p:nvSpPr>
        <p:spPr>
          <a:xfrm>
            <a:off x="9358884"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Learning hours</a:t>
            </a:r>
            <a:endParaRPr lang="en-US" sz="1250" dirty="0"/>
          </a:p>
        </p:txBody>
      </p:sp>
      <p:sp>
        <p:nvSpPr>
          <p:cNvPr id="27" name="Text 24"/>
          <p:cNvSpPr/>
          <p:nvPr/>
        </p:nvSpPr>
        <p:spPr>
          <a:xfrm>
            <a:off x="9358884"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3 days × 5 hours; each hour is 50 min instruction + 10 min buffer</a:t>
            </a:r>
            <a:endParaRPr lang="en-US" sz="980" dirty="0"/>
          </a:p>
        </p:txBody>
      </p:sp>
      <p:sp>
        <p:nvSpPr>
          <p:cNvPr id="28" name="Text 25"/>
          <p:cNvSpPr/>
          <p:nvPr/>
        </p:nvSpPr>
        <p:spPr>
          <a:xfrm>
            <a:off x="502920" y="5486400"/>
            <a:ext cx="11155680" cy="274320"/>
          </a:xfrm>
          <a:prstGeom prst="rect">
            <a:avLst/>
          </a:prstGeom>
          <a:noFill/>
          <a:ln/>
        </p:spPr>
        <p:txBody>
          <a:bodyPr wrap="square" rtlCol="0" anchor="ctr"/>
          <a:lstStyle/>
          <a:p>
            <a:pPr indent="0" marL="0">
              <a:buNone/>
            </a:pPr>
            <a:r>
              <a:rPr lang="en-US" sz="900" i="1" dirty="0">
                <a:solidFill>
                  <a:srgbClr val="8A96A6"/>
                </a:solidFill>
                <a:latin typeface="Calibri" pitchFamily="34" charset="0"/>
                <a:ea typeface="Calibri" pitchFamily="34" charset="-122"/>
                <a:cs typeface="Calibri" pitchFamily="34" charset="-120"/>
              </a:rPr>
              <a:t>Evaluation Criteria Summary — Assessment Package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How to use this deck</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كيفية استخدام هذه الشرائح</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Speaker notes drive delivery</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Every slide carries timing cues, questions for the room and misconceptions to pre-empt. Skim each day's notes the night before.</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Labs are the spine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Six labs, each building a capstone component. Checkpoint tags (lab2-start, lab3-start …) let stragglers fast-forward instead of stalling.</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Quizzes and prompts at transitions</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Use module quizzes and the instructor-guide discussion prompts between sessions; the quiz bank holds 20 questions — pick 10 per cohort.</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Breaks and pacing</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Each "hour" is 50 min instruction + 10 min buffer; schedule the long break around Dhuhr. Day-3 afternoon is deliberately lighter on theory.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KICKOFF</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Production discipline is what turns a model into a product.</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Three days, one evolving fraud-detection service — refactored, served, containerised, tested, and shipped through CI.</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OVERVIEW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1 — FROM NOTEBOOK TO SERVICE</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From Notebook to Service</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من الدفتر إلى الخدمة</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AI fails in production</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The notebook-to-production gap — four failure modes worth naming</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Clean architecture for ML</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Layers, the dependency rule, src-layout, the model as an adapter</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1 — Refactor the notebook</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Messy fraud-detection notebook → clean src-layout package</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FastAPI model serving + Lab 2</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REST design, pydantic contracts, health checks, /v1/predict</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5 hours · 45% theory / 55%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Day 1 — Hour by Hour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الأول — ساعة بساعة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a:t>
            </a:r>
            <a:endParaRPr lang="en-US" sz="850" dirty="0"/>
          </a:p>
        </p:txBody>
      </p:sp>
      <p:sp>
        <p:nvSpPr>
          <p:cNvPr id="8" name="Shape 5"/>
          <p:cNvSpPr/>
          <p:nvPr/>
        </p:nvSpPr>
        <p:spPr>
          <a:xfrm>
            <a:off x="502920" y="1481328"/>
            <a:ext cx="11183112" cy="822960"/>
          </a:xfrm>
          <a:prstGeom prst="roundRect">
            <a:avLst>
              <a:gd name="adj" fmla="val 5556"/>
            </a:avLst>
          </a:prstGeom>
          <a:solidFill>
            <a:srgbClr val="FFFFFF"/>
          </a:solidFill>
          <a:ln w="9525">
            <a:solidFill>
              <a:srgbClr val="D9E4F5"/>
            </a:solidFill>
            <a:prstDash val="solid"/>
          </a:ln>
        </p:spPr>
      </p:sp>
      <p:sp>
        <p:nvSpPr>
          <p:cNvPr id="9" name="Text 6"/>
          <p:cNvSpPr/>
          <p:nvPr/>
        </p:nvSpPr>
        <p:spPr>
          <a:xfrm>
            <a:off x="685800" y="1655064"/>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0" name="Text 7"/>
          <p:cNvSpPr/>
          <p:nvPr/>
        </p:nvSpPr>
        <p:spPr>
          <a:xfrm>
            <a:off x="1353312" y="1572768"/>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Why AI systems fail in production + kickoff</a:t>
            </a:r>
            <a:endParaRPr lang="en-US" sz="1350" dirty="0"/>
          </a:p>
        </p:txBody>
      </p:sp>
      <p:sp>
        <p:nvSpPr>
          <p:cNvPr id="11" name="Text 8"/>
          <p:cNvSpPr/>
          <p:nvPr/>
        </p:nvSpPr>
        <p:spPr>
          <a:xfrm>
            <a:off x="1353312" y="1883664"/>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Recognise the notebook-vs-production gap; identify the 6 engineering practices covered</a:t>
            </a:r>
            <a:endParaRPr lang="en-US" sz="1000" dirty="0"/>
          </a:p>
        </p:txBody>
      </p:sp>
      <p:sp>
        <p:nvSpPr>
          <p:cNvPr id="12" name="Text 9"/>
          <p:cNvSpPr/>
          <p:nvPr/>
        </p:nvSpPr>
        <p:spPr>
          <a:xfrm>
            <a:off x="7589520" y="1737360"/>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discussion</a:t>
            </a:r>
            <a:endParaRPr lang="en-US" sz="950" dirty="0"/>
          </a:p>
        </p:txBody>
      </p:sp>
      <p:sp>
        <p:nvSpPr>
          <p:cNvPr id="13" name="Shape 10"/>
          <p:cNvSpPr/>
          <p:nvPr/>
        </p:nvSpPr>
        <p:spPr>
          <a:xfrm>
            <a:off x="9555480" y="1810512"/>
            <a:ext cx="1389888" cy="164592"/>
          </a:xfrm>
          <a:prstGeom prst="rect">
            <a:avLst/>
          </a:prstGeom>
          <a:solidFill>
            <a:srgbClr val="1D2A5C"/>
          </a:solidFill>
          <a:ln/>
        </p:spPr>
      </p:sp>
      <p:sp>
        <p:nvSpPr>
          <p:cNvPr id="14" name="Shape 11"/>
          <p:cNvSpPr/>
          <p:nvPr/>
        </p:nvSpPr>
        <p:spPr>
          <a:xfrm>
            <a:off x="10945368" y="1810512"/>
            <a:ext cx="347472" cy="164592"/>
          </a:xfrm>
          <a:prstGeom prst="rect">
            <a:avLst/>
          </a:prstGeom>
          <a:solidFill>
            <a:srgbClr val="00A79D"/>
          </a:solidFill>
          <a:ln/>
        </p:spPr>
      </p:sp>
      <p:sp>
        <p:nvSpPr>
          <p:cNvPr id="15" name="Text 12"/>
          <p:cNvSpPr/>
          <p:nvPr/>
        </p:nvSpPr>
        <p:spPr>
          <a:xfrm>
            <a:off x="9509760" y="1993392"/>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80% theory · 20% lab</a:t>
            </a:r>
            <a:endParaRPr lang="en-US" sz="750" dirty="0"/>
          </a:p>
        </p:txBody>
      </p:sp>
      <p:sp>
        <p:nvSpPr>
          <p:cNvPr id="16" name="Shape 13"/>
          <p:cNvSpPr/>
          <p:nvPr/>
        </p:nvSpPr>
        <p:spPr>
          <a:xfrm>
            <a:off x="502920" y="2414016"/>
            <a:ext cx="11183112" cy="822960"/>
          </a:xfrm>
          <a:prstGeom prst="roundRect">
            <a:avLst>
              <a:gd name="adj" fmla="val 5556"/>
            </a:avLst>
          </a:prstGeom>
          <a:solidFill>
            <a:srgbClr val="EEF3FB"/>
          </a:solidFill>
          <a:ln w="9525">
            <a:solidFill>
              <a:srgbClr val="D9E4F5"/>
            </a:solidFill>
            <a:prstDash val="solid"/>
          </a:ln>
        </p:spPr>
      </p:sp>
      <p:sp>
        <p:nvSpPr>
          <p:cNvPr id="17" name="Text 14"/>
          <p:cNvSpPr/>
          <p:nvPr/>
        </p:nvSpPr>
        <p:spPr>
          <a:xfrm>
            <a:off x="685800" y="2587752"/>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8" name="Text 15"/>
          <p:cNvSpPr/>
          <p:nvPr/>
        </p:nvSpPr>
        <p:spPr>
          <a:xfrm>
            <a:off x="1353312" y="2505456"/>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Clean architecture for ML codebases (M1)</a:t>
            </a:r>
            <a:endParaRPr lang="en-US" sz="1350" dirty="0"/>
          </a:p>
        </p:txBody>
      </p:sp>
      <p:sp>
        <p:nvSpPr>
          <p:cNvPr id="19" name="Text 16"/>
          <p:cNvSpPr/>
          <p:nvPr/>
        </p:nvSpPr>
        <p:spPr>
          <a:xfrm>
            <a:off x="1353312" y="2816352"/>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Layered design; dependency rule; separating domain, model and infrastructure; src-layout</a:t>
            </a:r>
            <a:endParaRPr lang="en-US" sz="1000" dirty="0"/>
          </a:p>
        </p:txBody>
      </p:sp>
      <p:sp>
        <p:nvSpPr>
          <p:cNvPr id="20" name="Text 17"/>
          <p:cNvSpPr/>
          <p:nvPr/>
        </p:nvSpPr>
        <p:spPr>
          <a:xfrm>
            <a:off x="7589520" y="2670048"/>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live refactor</a:t>
            </a:r>
            <a:endParaRPr lang="en-US" sz="950" dirty="0"/>
          </a:p>
        </p:txBody>
      </p:sp>
      <p:sp>
        <p:nvSpPr>
          <p:cNvPr id="21" name="Shape 18"/>
          <p:cNvSpPr/>
          <p:nvPr/>
        </p:nvSpPr>
        <p:spPr>
          <a:xfrm>
            <a:off x="9555480" y="2743200"/>
            <a:ext cx="1216152" cy="164592"/>
          </a:xfrm>
          <a:prstGeom prst="rect">
            <a:avLst/>
          </a:prstGeom>
          <a:solidFill>
            <a:srgbClr val="1D2A5C"/>
          </a:solidFill>
          <a:ln/>
        </p:spPr>
      </p:sp>
      <p:sp>
        <p:nvSpPr>
          <p:cNvPr id="22" name="Shape 19"/>
          <p:cNvSpPr/>
          <p:nvPr/>
        </p:nvSpPr>
        <p:spPr>
          <a:xfrm>
            <a:off x="10771632" y="2743200"/>
            <a:ext cx="521208" cy="164592"/>
          </a:xfrm>
          <a:prstGeom prst="rect">
            <a:avLst/>
          </a:prstGeom>
          <a:solidFill>
            <a:srgbClr val="00A79D"/>
          </a:solidFill>
          <a:ln/>
        </p:spPr>
      </p:sp>
      <p:sp>
        <p:nvSpPr>
          <p:cNvPr id="23" name="Text 20"/>
          <p:cNvSpPr/>
          <p:nvPr/>
        </p:nvSpPr>
        <p:spPr>
          <a:xfrm>
            <a:off x="9509760" y="2926080"/>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70% theory · 30% lab</a:t>
            </a:r>
            <a:endParaRPr lang="en-US" sz="750" dirty="0"/>
          </a:p>
        </p:txBody>
      </p:sp>
      <p:sp>
        <p:nvSpPr>
          <p:cNvPr id="24" name="Shape 21"/>
          <p:cNvSpPr/>
          <p:nvPr/>
        </p:nvSpPr>
        <p:spPr>
          <a:xfrm>
            <a:off x="502920" y="3346704"/>
            <a:ext cx="11183112" cy="822960"/>
          </a:xfrm>
          <a:prstGeom prst="roundRect">
            <a:avLst>
              <a:gd name="adj" fmla="val 5556"/>
            </a:avLst>
          </a:prstGeom>
          <a:solidFill>
            <a:srgbClr val="FFFFFF"/>
          </a:solidFill>
          <a:ln w="9525">
            <a:solidFill>
              <a:srgbClr val="D9E4F5"/>
            </a:solidFill>
            <a:prstDash val="solid"/>
          </a:ln>
        </p:spPr>
      </p:sp>
      <p:sp>
        <p:nvSpPr>
          <p:cNvPr id="25" name="Text 22"/>
          <p:cNvSpPr/>
          <p:nvPr/>
        </p:nvSpPr>
        <p:spPr>
          <a:xfrm>
            <a:off x="685800" y="3520440"/>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6" name="Text 23"/>
          <p:cNvSpPr/>
          <p:nvPr/>
        </p:nvSpPr>
        <p:spPr>
          <a:xfrm>
            <a:off x="1353312" y="3438144"/>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1 — Refactor the notebook</a:t>
            </a:r>
            <a:endParaRPr lang="en-US" sz="1350" dirty="0"/>
          </a:p>
        </p:txBody>
      </p:sp>
      <p:sp>
        <p:nvSpPr>
          <p:cNvPr id="27" name="Text 24"/>
          <p:cNvSpPr/>
          <p:nvPr/>
        </p:nvSpPr>
        <p:spPr>
          <a:xfrm>
            <a:off x="1353312" y="3749040"/>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Convert a messy fraud-detection notebook into a clean src-layout package</a:t>
            </a:r>
            <a:endParaRPr lang="en-US" sz="1000" dirty="0"/>
          </a:p>
        </p:txBody>
      </p:sp>
      <p:sp>
        <p:nvSpPr>
          <p:cNvPr id="28" name="Text 25"/>
          <p:cNvSpPr/>
          <p:nvPr/>
        </p:nvSpPr>
        <p:spPr>
          <a:xfrm>
            <a:off x="7589520" y="3602736"/>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Guided lab (pairs)</a:t>
            </a:r>
            <a:endParaRPr lang="en-US" sz="950" dirty="0"/>
          </a:p>
        </p:txBody>
      </p:sp>
      <p:sp>
        <p:nvSpPr>
          <p:cNvPr id="29" name="Shape 26"/>
          <p:cNvSpPr/>
          <p:nvPr/>
        </p:nvSpPr>
        <p:spPr>
          <a:xfrm>
            <a:off x="9555480" y="3675888"/>
            <a:ext cx="173736" cy="164592"/>
          </a:xfrm>
          <a:prstGeom prst="rect">
            <a:avLst/>
          </a:prstGeom>
          <a:solidFill>
            <a:srgbClr val="1D2A5C"/>
          </a:solidFill>
          <a:ln/>
        </p:spPr>
      </p:sp>
      <p:sp>
        <p:nvSpPr>
          <p:cNvPr id="30" name="Shape 27"/>
          <p:cNvSpPr/>
          <p:nvPr/>
        </p:nvSpPr>
        <p:spPr>
          <a:xfrm>
            <a:off x="9729216" y="3675888"/>
            <a:ext cx="1563624" cy="164592"/>
          </a:xfrm>
          <a:prstGeom prst="rect">
            <a:avLst/>
          </a:prstGeom>
          <a:solidFill>
            <a:srgbClr val="00A79D"/>
          </a:solidFill>
          <a:ln/>
        </p:spPr>
      </p:sp>
      <p:sp>
        <p:nvSpPr>
          <p:cNvPr id="31" name="Text 28"/>
          <p:cNvSpPr/>
          <p:nvPr/>
        </p:nvSpPr>
        <p:spPr>
          <a:xfrm>
            <a:off x="9509760" y="3858768"/>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10% theory · 90% lab</a:t>
            </a:r>
            <a:endParaRPr lang="en-US" sz="750" dirty="0"/>
          </a:p>
        </p:txBody>
      </p:sp>
      <p:sp>
        <p:nvSpPr>
          <p:cNvPr id="32" name="Shape 29"/>
          <p:cNvSpPr/>
          <p:nvPr/>
        </p:nvSpPr>
        <p:spPr>
          <a:xfrm>
            <a:off x="502920" y="4279392"/>
            <a:ext cx="11183112" cy="822960"/>
          </a:xfrm>
          <a:prstGeom prst="roundRect">
            <a:avLst>
              <a:gd name="adj" fmla="val 5556"/>
            </a:avLst>
          </a:prstGeom>
          <a:solidFill>
            <a:srgbClr val="EEF3FB"/>
          </a:solidFill>
          <a:ln w="9525">
            <a:solidFill>
              <a:srgbClr val="D9E4F5"/>
            </a:solidFill>
            <a:prstDash val="solid"/>
          </a:ln>
        </p:spPr>
      </p:sp>
      <p:sp>
        <p:nvSpPr>
          <p:cNvPr id="33" name="Text 30"/>
          <p:cNvSpPr/>
          <p:nvPr/>
        </p:nvSpPr>
        <p:spPr>
          <a:xfrm>
            <a:off x="685800" y="4453128"/>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4" name="Text 31"/>
          <p:cNvSpPr/>
          <p:nvPr/>
        </p:nvSpPr>
        <p:spPr>
          <a:xfrm>
            <a:off x="1353312" y="4370832"/>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REST API design for model serving (M2)</a:t>
            </a:r>
            <a:endParaRPr lang="en-US" sz="1350" dirty="0"/>
          </a:p>
        </p:txBody>
      </p:sp>
      <p:sp>
        <p:nvSpPr>
          <p:cNvPr id="35" name="Text 32"/>
          <p:cNvSpPr/>
          <p:nvPr/>
        </p:nvSpPr>
        <p:spPr>
          <a:xfrm>
            <a:off x="1353312" y="4681728"/>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Resource design, pydantic validation, error contracts, health/readiness, versioning</a:t>
            </a:r>
            <a:endParaRPr lang="en-US" sz="1000" dirty="0"/>
          </a:p>
        </p:txBody>
      </p:sp>
      <p:sp>
        <p:nvSpPr>
          <p:cNvPr id="36" name="Text 33"/>
          <p:cNvSpPr/>
          <p:nvPr/>
        </p:nvSpPr>
        <p:spPr>
          <a:xfrm>
            <a:off x="7589520" y="4535424"/>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walkthrough</a:t>
            </a:r>
            <a:endParaRPr lang="en-US" sz="950" dirty="0"/>
          </a:p>
        </p:txBody>
      </p:sp>
      <p:sp>
        <p:nvSpPr>
          <p:cNvPr id="37" name="Shape 34"/>
          <p:cNvSpPr/>
          <p:nvPr/>
        </p:nvSpPr>
        <p:spPr>
          <a:xfrm>
            <a:off x="9555480" y="4608576"/>
            <a:ext cx="1216152" cy="164592"/>
          </a:xfrm>
          <a:prstGeom prst="rect">
            <a:avLst/>
          </a:prstGeom>
          <a:solidFill>
            <a:srgbClr val="1D2A5C"/>
          </a:solidFill>
          <a:ln/>
        </p:spPr>
      </p:sp>
      <p:sp>
        <p:nvSpPr>
          <p:cNvPr id="38" name="Shape 35"/>
          <p:cNvSpPr/>
          <p:nvPr/>
        </p:nvSpPr>
        <p:spPr>
          <a:xfrm>
            <a:off x="10771632" y="4608576"/>
            <a:ext cx="521208" cy="164592"/>
          </a:xfrm>
          <a:prstGeom prst="rect">
            <a:avLst/>
          </a:prstGeom>
          <a:solidFill>
            <a:srgbClr val="00A79D"/>
          </a:solidFill>
          <a:ln/>
        </p:spPr>
      </p:sp>
      <p:sp>
        <p:nvSpPr>
          <p:cNvPr id="39" name="Text 36"/>
          <p:cNvSpPr/>
          <p:nvPr/>
        </p:nvSpPr>
        <p:spPr>
          <a:xfrm>
            <a:off x="9509760" y="4791456"/>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70% theory · 30% lab</a:t>
            </a:r>
            <a:endParaRPr lang="en-US" sz="750" dirty="0"/>
          </a:p>
        </p:txBody>
      </p:sp>
      <p:sp>
        <p:nvSpPr>
          <p:cNvPr id="40" name="Shape 37"/>
          <p:cNvSpPr/>
          <p:nvPr/>
        </p:nvSpPr>
        <p:spPr>
          <a:xfrm>
            <a:off x="502920" y="5212080"/>
            <a:ext cx="11183112" cy="822960"/>
          </a:xfrm>
          <a:prstGeom prst="roundRect">
            <a:avLst>
              <a:gd name="adj" fmla="val 5556"/>
            </a:avLst>
          </a:prstGeom>
          <a:solidFill>
            <a:srgbClr val="FFFFFF"/>
          </a:solidFill>
          <a:ln w="9525">
            <a:solidFill>
              <a:srgbClr val="D9E4F5"/>
            </a:solidFill>
            <a:prstDash val="solid"/>
          </a:ln>
        </p:spPr>
      </p:sp>
      <p:sp>
        <p:nvSpPr>
          <p:cNvPr id="41" name="Text 38"/>
          <p:cNvSpPr/>
          <p:nvPr/>
        </p:nvSpPr>
        <p:spPr>
          <a:xfrm>
            <a:off x="685800" y="5385816"/>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2" name="Text 39"/>
          <p:cNvSpPr/>
          <p:nvPr/>
        </p:nvSpPr>
        <p:spPr>
          <a:xfrm>
            <a:off x="1353312" y="5303520"/>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2a — Build the prediction API</a:t>
            </a:r>
            <a:endParaRPr lang="en-US" sz="1350" dirty="0"/>
          </a:p>
        </p:txBody>
      </p:sp>
      <p:sp>
        <p:nvSpPr>
          <p:cNvPr id="43" name="Text 40"/>
          <p:cNvSpPr/>
          <p:nvPr/>
        </p:nvSpPr>
        <p:spPr>
          <a:xfrm>
            <a:off x="1353312" y="5614416"/>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Implement /v1/predict, /health, schemas and error handling in FastAPI</a:t>
            </a:r>
            <a:endParaRPr lang="en-US" sz="1000" dirty="0"/>
          </a:p>
        </p:txBody>
      </p:sp>
      <p:sp>
        <p:nvSpPr>
          <p:cNvPr id="44" name="Text 41"/>
          <p:cNvSpPr/>
          <p:nvPr/>
        </p:nvSpPr>
        <p:spPr>
          <a:xfrm>
            <a:off x="7589520" y="5468112"/>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Guided lab (pairs)</a:t>
            </a:r>
            <a:endParaRPr lang="en-US" sz="950" dirty="0"/>
          </a:p>
        </p:txBody>
      </p:sp>
      <p:sp>
        <p:nvSpPr>
          <p:cNvPr id="45" name="Shape 42"/>
          <p:cNvSpPr/>
          <p:nvPr/>
        </p:nvSpPr>
        <p:spPr>
          <a:xfrm>
            <a:off x="9555480" y="5541264"/>
            <a:ext cx="173736" cy="164592"/>
          </a:xfrm>
          <a:prstGeom prst="rect">
            <a:avLst/>
          </a:prstGeom>
          <a:solidFill>
            <a:srgbClr val="1D2A5C"/>
          </a:solidFill>
          <a:ln/>
        </p:spPr>
      </p:sp>
      <p:sp>
        <p:nvSpPr>
          <p:cNvPr id="46" name="Shape 43"/>
          <p:cNvSpPr/>
          <p:nvPr/>
        </p:nvSpPr>
        <p:spPr>
          <a:xfrm>
            <a:off x="9729216" y="5541264"/>
            <a:ext cx="1563624" cy="164592"/>
          </a:xfrm>
          <a:prstGeom prst="rect">
            <a:avLst/>
          </a:prstGeom>
          <a:solidFill>
            <a:srgbClr val="00A79D"/>
          </a:solidFill>
          <a:ln/>
        </p:spPr>
      </p:sp>
      <p:sp>
        <p:nvSpPr>
          <p:cNvPr id="47" name="Text 44"/>
          <p:cNvSpPr/>
          <p:nvPr/>
        </p:nvSpPr>
        <p:spPr>
          <a:xfrm>
            <a:off x="9509760" y="5724144"/>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10% theory · 90% lab</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1 · MODULE 1</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Structuring AI Projects &amp; Clean Architecture</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هيكلة مشاريع الذكاء الاصطناعي والعمارة النظيفة</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notebook-production gap</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Hidden state, environment coupling, import-time side effects, no seams</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Layers + the dependency rule</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Domain, service, adapters, entrypoints — imports point inward only</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an adapter</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Protocols + constructor injection keep the ML framework at the edge</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1 + case study</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Refactor the notebook; SouqPlus monolith strangler-fig discussion</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2 hours · lecture + live refactor demo + 50-min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1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 الوحدة الأولى</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Explain why notebook-style code fails production review, with concrete failure modes</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Structure an AI repository using src-layout with separated layers</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Apply the dependency rule: domain code imports nothing from infrastructure</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 · LO1</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Define a model-loading interface that isolates the ML framework from the service</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LO6</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Evaluate a peer's project structure against a review checklist</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Expected competency: lay out an AI repo, defend the structure in a code review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Notebook-to-Production Gap</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الفجوة بين الدفتر والإنتاج</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FAILURE MODE 1</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Hidden state</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model trained in cell 12, used in cell 38 — after cell 25 mutated the feature list. Execution order lives in human memory. In production this becomes "works on my machine".</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FAILURE MODE 2</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Environment coupling</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pd.read_csv("/Users/aisha/data/txns.csv") — the path IS the bug. Every I/O location must be injected configuration, never a literal.</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FAILURE MODE 3</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Import-time side effects</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 2 GB model loaded at module import makes every tool pay the cost — test runner, linter worker, docs builder — and the server cannot control when loading happens or handle its failure.</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FAILURE MODE 4</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No seams</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Predict logic, feature engineering and database access in one 300-line function: nowhere to attach a test, a mock, or a cache.</a:t>
            </a:r>
            <a:endParaRPr lang="en-US" sz="9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Two Optimisation Targets, One Codebase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هدفان مختلفان للتحسين، قاعدة كود واحدة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15</a:t>
            </a:r>
            <a:endParaRPr lang="en-US" sz="850" dirty="0"/>
          </a:p>
        </p:txBody>
      </p:sp>
      <p:sp>
        <p:nvSpPr>
          <p:cNvPr id="8" name="Shape 5"/>
          <p:cNvSpPr/>
          <p:nvPr/>
        </p:nvSpPr>
        <p:spPr>
          <a:xfrm>
            <a:off x="502920" y="1508760"/>
            <a:ext cx="5440680" cy="3977640"/>
          </a:xfrm>
          <a:prstGeom prst="roundRect">
            <a:avLst>
              <a:gd name="adj" fmla="val 1609"/>
            </a:avLst>
          </a:prstGeom>
          <a:solidFill>
            <a:srgbClr val="FFFFFF"/>
          </a:solidFill>
          <a:ln w="12700">
            <a:solidFill>
              <a:srgbClr val="D9E4F5"/>
            </a:solidFill>
            <a:prstDash val="solid"/>
          </a:ln>
        </p:spPr>
      </p:sp>
      <p:sp>
        <p:nvSpPr>
          <p:cNvPr id="9" name="Shape 6"/>
          <p:cNvSpPr/>
          <p:nvPr/>
        </p:nvSpPr>
        <p:spPr>
          <a:xfrm>
            <a:off x="502920" y="1508760"/>
            <a:ext cx="5440680" cy="475488"/>
          </a:xfrm>
          <a:prstGeom prst="roundRect">
            <a:avLst>
              <a:gd name="adj" fmla="val 13462"/>
            </a:avLst>
          </a:prstGeom>
          <a:solidFill>
            <a:srgbClr val="FADDD8"/>
          </a:solidFill>
          <a:ln/>
        </p:spPr>
      </p:sp>
      <p:sp>
        <p:nvSpPr>
          <p:cNvPr id="10" name="Text 7"/>
          <p:cNvSpPr/>
          <p:nvPr/>
        </p:nvSpPr>
        <p:spPr>
          <a:xfrm>
            <a:off x="685800" y="1545336"/>
            <a:ext cx="5074920" cy="402336"/>
          </a:xfrm>
          <a:prstGeom prst="rect">
            <a:avLst/>
          </a:prstGeom>
          <a:noFill/>
          <a:ln/>
        </p:spPr>
        <p:txBody>
          <a:bodyPr wrap="square" rtlCol="0" anchor="ctr"/>
          <a:lstStyle/>
          <a:p>
            <a:pPr indent="0" marL="0">
              <a:buNone/>
            </a:pPr>
            <a:r>
              <a:rPr lang="en-US" sz="1300" b="1" dirty="0">
                <a:solidFill>
                  <a:srgbClr val="E8503A"/>
                </a:solidFill>
                <a:latin typeface="Calibri" pitchFamily="34" charset="0"/>
                <a:ea typeface="Calibri" pitchFamily="34" charset="-122"/>
                <a:cs typeface="Calibri" pitchFamily="34" charset="-120"/>
              </a:rPr>
              <a:t>Notebook: iteration speed</a:t>
            </a:r>
            <a:endParaRPr lang="en-US" sz="1300" dirty="0"/>
          </a:p>
        </p:txBody>
      </p:sp>
      <p:sp>
        <p:nvSpPr>
          <p:cNvPr id="11" name="Text 8"/>
          <p:cNvSpPr/>
          <p:nvPr/>
        </p:nvSpPr>
        <p:spPr>
          <a:xfrm>
            <a:off x="667512" y="21671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2" name="Text 9"/>
          <p:cNvSpPr/>
          <p:nvPr/>
        </p:nvSpPr>
        <p:spPr>
          <a:xfrm>
            <a:off x="978408"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Everything global, everything mutable</a:t>
            </a:r>
            <a:endParaRPr lang="en-US" sz="1050" dirty="0"/>
          </a:p>
        </p:txBody>
      </p:sp>
      <p:sp>
        <p:nvSpPr>
          <p:cNvPr id="13" name="Text 10"/>
          <p:cNvSpPr/>
          <p:nvPr/>
        </p:nvSpPr>
        <p:spPr>
          <a:xfrm>
            <a:off x="667512" y="29672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978408"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Execution order defined by human memory</a:t>
            </a:r>
            <a:endParaRPr lang="en-US" sz="1050" dirty="0"/>
          </a:p>
        </p:txBody>
      </p:sp>
      <p:sp>
        <p:nvSpPr>
          <p:cNvPr id="15" name="Text 12"/>
          <p:cNvSpPr/>
          <p:nvPr/>
        </p:nvSpPr>
        <p:spPr>
          <a:xfrm>
            <a:off x="667512" y="37673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978408"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Paths, thresholds and secrets inline</a:t>
            </a:r>
            <a:endParaRPr lang="en-US" sz="1050" dirty="0"/>
          </a:p>
        </p:txBody>
      </p:sp>
      <p:sp>
        <p:nvSpPr>
          <p:cNvPr id="17" name="Text 14"/>
          <p:cNvSpPr/>
          <p:nvPr/>
        </p:nvSpPr>
        <p:spPr>
          <a:xfrm>
            <a:off x="667512" y="45674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978408"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One giant cell does featurise + predict + I/O</a:t>
            </a:r>
            <a:endParaRPr lang="en-US" sz="1050" dirty="0"/>
          </a:p>
        </p:txBody>
      </p:sp>
      <p:sp>
        <p:nvSpPr>
          <p:cNvPr id="19" name="Shape 16"/>
          <p:cNvSpPr/>
          <p:nvPr/>
        </p:nvSpPr>
        <p:spPr>
          <a:xfrm>
            <a:off x="6245352" y="1508760"/>
            <a:ext cx="5440680" cy="3977640"/>
          </a:xfrm>
          <a:prstGeom prst="roundRect">
            <a:avLst>
              <a:gd name="adj" fmla="val 1609"/>
            </a:avLst>
          </a:prstGeom>
          <a:solidFill>
            <a:srgbClr val="FFFFFF"/>
          </a:solidFill>
          <a:ln w="12700">
            <a:solidFill>
              <a:srgbClr val="D9E4F5"/>
            </a:solidFill>
            <a:prstDash val="solid"/>
          </a:ln>
        </p:spPr>
      </p:sp>
      <p:sp>
        <p:nvSpPr>
          <p:cNvPr id="20" name="Shape 17"/>
          <p:cNvSpPr/>
          <p:nvPr/>
        </p:nvSpPr>
        <p:spPr>
          <a:xfrm>
            <a:off x="6245352" y="1508760"/>
            <a:ext cx="5440680" cy="475488"/>
          </a:xfrm>
          <a:prstGeom prst="roundRect">
            <a:avLst>
              <a:gd name="adj" fmla="val 13462"/>
            </a:avLst>
          </a:prstGeom>
          <a:solidFill>
            <a:srgbClr val="EAF4DC"/>
          </a:solidFill>
          <a:ln/>
        </p:spPr>
      </p:sp>
      <p:sp>
        <p:nvSpPr>
          <p:cNvPr id="21" name="Text 18"/>
          <p:cNvSpPr/>
          <p:nvPr/>
        </p:nvSpPr>
        <p:spPr>
          <a:xfrm>
            <a:off x="6428232" y="1545336"/>
            <a:ext cx="5074920" cy="402336"/>
          </a:xfrm>
          <a:prstGeom prst="rect">
            <a:avLst/>
          </a:prstGeom>
          <a:noFill/>
          <a:ln/>
        </p:spPr>
        <p:txBody>
          <a:bodyPr wrap="square" rtlCol="0" anchor="ctr"/>
          <a:lstStyle/>
          <a:p>
            <a:pPr indent="0" marL="0">
              <a:buNone/>
            </a:pPr>
            <a:r>
              <a:rPr lang="en-US" sz="1300" b="1" dirty="0">
                <a:solidFill>
                  <a:srgbClr val="5A8F1F"/>
                </a:solidFill>
                <a:latin typeface="Calibri" pitchFamily="34" charset="0"/>
                <a:ea typeface="Calibri" pitchFamily="34" charset="-122"/>
                <a:cs typeface="Calibri" pitchFamily="34" charset="-120"/>
              </a:rPr>
              <a:t>Production: change safety</a:t>
            </a:r>
            <a:endParaRPr lang="en-US" sz="1300" dirty="0"/>
          </a:p>
        </p:txBody>
      </p:sp>
      <p:sp>
        <p:nvSpPr>
          <p:cNvPr id="22" name="Text 19"/>
          <p:cNvSpPr/>
          <p:nvPr/>
        </p:nvSpPr>
        <p:spPr>
          <a:xfrm>
            <a:off x="6409944" y="21671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6720840"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Explicit inputs and outputs</a:t>
            </a:r>
            <a:endParaRPr lang="en-US" sz="1050" dirty="0"/>
          </a:p>
        </p:txBody>
      </p:sp>
      <p:sp>
        <p:nvSpPr>
          <p:cNvPr id="24" name="Text 21"/>
          <p:cNvSpPr/>
          <p:nvPr/>
        </p:nvSpPr>
        <p:spPr>
          <a:xfrm>
            <a:off x="6409944" y="29672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6720840"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Deterministic execution, any order of tools</a:t>
            </a:r>
            <a:endParaRPr lang="en-US" sz="1050" dirty="0"/>
          </a:p>
        </p:txBody>
      </p:sp>
      <p:sp>
        <p:nvSpPr>
          <p:cNvPr id="26" name="Text 23"/>
          <p:cNvSpPr/>
          <p:nvPr/>
        </p:nvSpPr>
        <p:spPr>
          <a:xfrm>
            <a:off x="6409944" y="37673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7" name="Text 24"/>
          <p:cNvSpPr/>
          <p:nvPr/>
        </p:nvSpPr>
        <p:spPr>
          <a:xfrm>
            <a:off x="6720840"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Every I/O location is injected configuration</a:t>
            </a:r>
            <a:endParaRPr lang="en-US" sz="1050" dirty="0"/>
          </a:p>
        </p:txBody>
      </p:sp>
      <p:sp>
        <p:nvSpPr>
          <p:cNvPr id="28" name="Text 25"/>
          <p:cNvSpPr/>
          <p:nvPr/>
        </p:nvSpPr>
        <p:spPr>
          <a:xfrm>
            <a:off x="6409944" y="45674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6720840"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Change one thing without breaking five others</a:t>
            </a:r>
            <a:endParaRPr lang="en-US" sz="1050" dirty="0"/>
          </a:p>
        </p:txBody>
      </p:sp>
      <p:sp>
        <p:nvSpPr>
          <p:cNvPr id="30" name="Shape 27"/>
          <p:cNvSpPr/>
          <p:nvPr/>
        </p:nvSpPr>
        <p:spPr>
          <a:xfrm>
            <a:off x="502920" y="5650992"/>
            <a:ext cx="11183112" cy="566928"/>
          </a:xfrm>
          <a:prstGeom prst="roundRect">
            <a:avLst>
              <a:gd name="adj" fmla="val 11290"/>
            </a:avLst>
          </a:prstGeom>
          <a:solidFill>
            <a:srgbClr val="1D2A5C"/>
          </a:solidFill>
          <a:ln/>
        </p:spPr>
      </p:sp>
      <p:sp>
        <p:nvSpPr>
          <p:cNvPr id="31" name="Text 28"/>
          <p:cNvSpPr/>
          <p:nvPr/>
        </p:nvSpPr>
        <p:spPr>
          <a:xfrm>
            <a:off x="777240" y="5650992"/>
            <a:ext cx="10698480" cy="566928"/>
          </a:xfrm>
          <a:prstGeom prst="rect">
            <a:avLst/>
          </a:prstGeom>
          <a:noFill/>
          <a:ln/>
        </p:spPr>
        <p:txBody>
          <a:bodyPr wrap="square" rtlCol="0" anchor="ctr"/>
          <a:lstStyle/>
          <a:p>
            <a:pPr indent="0" marL="0">
              <a:buNone/>
            </a:pPr>
            <a:r>
              <a:rPr lang="en-US" sz="1000" b="1" dirty="0">
                <a:solidFill>
                  <a:srgbClr val="00A79D"/>
                </a:solidFill>
                <a:latin typeface="Calibri" pitchFamily="34" charset="0"/>
                <a:ea typeface="Calibri" pitchFamily="34" charset="-122"/>
                <a:cs typeface="Calibri" pitchFamily="34" charset="-120"/>
              </a:rPr>
              <a:t>TAKEAWAY   </a:t>
            </a:r>
            <a:pPr indent="0" marL="0">
              <a:buNone/>
            </a:pPr>
            <a:r>
              <a:rPr lang="en-US" sz="1150" dirty="0">
                <a:solidFill>
                  <a:srgbClr val="FFFFFF"/>
                </a:solidFill>
                <a:latin typeface="Calibri" pitchFamily="34" charset="0"/>
                <a:ea typeface="Calibri" pitchFamily="34" charset="-122"/>
                <a:cs typeface="Calibri" pitchFamily="34" charset="-120"/>
              </a:rPr>
              <a:t>Neither is wrong — they optimise for different things. The refactor is a translation between the two, not a rewrite.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Clean Architecture Applied to ML Services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العمارة النظيفة مطبقة على خدمات تعلم الآلة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16</a:t>
            </a:r>
            <a:endParaRPr lang="en-US" sz="850" dirty="0"/>
          </a:p>
        </p:txBody>
      </p:sp>
      <p:sp>
        <p:nvSpPr>
          <p:cNvPr id="8" name="Shape 5"/>
          <p:cNvSpPr/>
          <p:nvPr/>
        </p:nvSpPr>
        <p:spPr>
          <a:xfrm>
            <a:off x="502920" y="1600200"/>
            <a:ext cx="6949440" cy="1033272"/>
          </a:xfrm>
          <a:prstGeom prst="roundRect">
            <a:avLst>
              <a:gd name="adj" fmla="val 5310"/>
            </a:avLst>
          </a:prstGeom>
          <a:solidFill>
            <a:srgbClr val="D4F1EE"/>
          </a:solidFill>
          <a:ln w="15875">
            <a:solidFill>
              <a:srgbClr val="00A79D"/>
            </a:solidFill>
            <a:prstDash val="solid"/>
          </a:ln>
        </p:spPr>
      </p:sp>
      <p:sp>
        <p:nvSpPr>
          <p:cNvPr id="9" name="Text 6"/>
          <p:cNvSpPr/>
          <p:nvPr/>
        </p:nvSpPr>
        <p:spPr>
          <a:xfrm>
            <a:off x="731520" y="1673352"/>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Entrypoints</a:t>
            </a:r>
            <a:endParaRPr lang="en-US" sz="1300" dirty="0"/>
          </a:p>
        </p:txBody>
      </p:sp>
      <p:sp>
        <p:nvSpPr>
          <p:cNvPr id="10" name="Text 7"/>
          <p:cNvSpPr/>
          <p:nvPr/>
        </p:nvSpPr>
        <p:spPr>
          <a:xfrm>
            <a:off x="3004718" y="1673352"/>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FastAPI app, CLI, batch job — may import everything below</a:t>
            </a:r>
            <a:endParaRPr lang="en-US" sz="1000" dirty="0"/>
          </a:p>
        </p:txBody>
      </p:sp>
      <p:sp>
        <p:nvSpPr>
          <p:cNvPr id="11" name="Shape 8"/>
          <p:cNvSpPr/>
          <p:nvPr/>
        </p:nvSpPr>
        <p:spPr>
          <a:xfrm rot="10800000">
            <a:off x="3895344" y="2638044"/>
            <a:ext cx="164592" cy="128016"/>
          </a:xfrm>
          <a:prstGeom prst="triangle">
            <a:avLst/>
          </a:prstGeom>
          <a:solidFill>
            <a:srgbClr val="8A96A6"/>
          </a:solidFill>
          <a:ln/>
        </p:spPr>
      </p:sp>
      <p:sp>
        <p:nvSpPr>
          <p:cNvPr id="12" name="Shape 9"/>
          <p:cNvSpPr/>
          <p:nvPr/>
        </p:nvSpPr>
        <p:spPr>
          <a:xfrm>
            <a:off x="502920" y="2779776"/>
            <a:ext cx="6949440" cy="1033272"/>
          </a:xfrm>
          <a:prstGeom prst="roundRect">
            <a:avLst>
              <a:gd name="adj" fmla="val 5310"/>
            </a:avLst>
          </a:prstGeom>
          <a:solidFill>
            <a:srgbClr val="D9F0FA"/>
          </a:solidFill>
          <a:ln w="15875">
            <a:solidFill>
              <a:srgbClr val="29ABE2"/>
            </a:solidFill>
            <a:prstDash val="solid"/>
          </a:ln>
        </p:spPr>
      </p:sp>
      <p:sp>
        <p:nvSpPr>
          <p:cNvPr id="13" name="Text 10"/>
          <p:cNvSpPr/>
          <p:nvPr/>
        </p:nvSpPr>
        <p:spPr>
          <a:xfrm>
            <a:off x="731520" y="2852928"/>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Adapters / Infrastructure</a:t>
            </a:r>
            <a:endParaRPr lang="en-US" sz="1300" dirty="0"/>
          </a:p>
        </p:txBody>
      </p:sp>
      <p:sp>
        <p:nvSpPr>
          <p:cNvPr id="14" name="Text 11"/>
          <p:cNvSpPr/>
          <p:nvPr/>
        </p:nvSpPr>
        <p:spPr>
          <a:xfrm>
            <a:off x="3004718" y="2852928"/>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Model loaders (joblib/ONNX), feature store client, DB repositories</a:t>
            </a:r>
            <a:endParaRPr lang="en-US" sz="1000" dirty="0"/>
          </a:p>
        </p:txBody>
      </p:sp>
      <p:sp>
        <p:nvSpPr>
          <p:cNvPr id="15" name="Shape 12"/>
          <p:cNvSpPr/>
          <p:nvPr/>
        </p:nvSpPr>
        <p:spPr>
          <a:xfrm rot="10800000">
            <a:off x="3895344" y="3817620"/>
            <a:ext cx="164592" cy="128016"/>
          </a:xfrm>
          <a:prstGeom prst="triangle">
            <a:avLst/>
          </a:prstGeom>
          <a:solidFill>
            <a:srgbClr val="8A96A6"/>
          </a:solidFill>
          <a:ln/>
        </p:spPr>
      </p:sp>
      <p:sp>
        <p:nvSpPr>
          <p:cNvPr id="16" name="Shape 13"/>
          <p:cNvSpPr/>
          <p:nvPr/>
        </p:nvSpPr>
        <p:spPr>
          <a:xfrm>
            <a:off x="502920" y="3959352"/>
            <a:ext cx="6949440" cy="1033272"/>
          </a:xfrm>
          <a:prstGeom prst="roundRect">
            <a:avLst>
              <a:gd name="adj" fmla="val 5310"/>
            </a:avLst>
          </a:prstGeom>
          <a:solidFill>
            <a:srgbClr val="FDEBD7"/>
          </a:solidFill>
          <a:ln w="15875">
            <a:solidFill>
              <a:srgbClr val="F58220"/>
            </a:solidFill>
            <a:prstDash val="solid"/>
          </a:ln>
        </p:spPr>
      </p:sp>
      <p:sp>
        <p:nvSpPr>
          <p:cNvPr id="17" name="Text 14"/>
          <p:cNvSpPr/>
          <p:nvPr/>
        </p:nvSpPr>
        <p:spPr>
          <a:xfrm>
            <a:off x="731520" y="4032504"/>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Service (use-case)</a:t>
            </a:r>
            <a:endParaRPr lang="en-US" sz="1300" dirty="0"/>
          </a:p>
        </p:txBody>
      </p:sp>
      <p:sp>
        <p:nvSpPr>
          <p:cNvPr id="18" name="Text 15"/>
          <p:cNvSpPr/>
          <p:nvPr/>
        </p:nvSpPr>
        <p:spPr>
          <a:xfrm>
            <a:off x="3004718" y="4032504"/>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FraudScorer.score(txn): validate → featurise → predict → apply policy</a:t>
            </a:r>
            <a:endParaRPr lang="en-US" sz="1000" dirty="0"/>
          </a:p>
        </p:txBody>
      </p:sp>
      <p:sp>
        <p:nvSpPr>
          <p:cNvPr id="19" name="Shape 16"/>
          <p:cNvSpPr/>
          <p:nvPr/>
        </p:nvSpPr>
        <p:spPr>
          <a:xfrm rot="10800000">
            <a:off x="3895344" y="4997196"/>
            <a:ext cx="164592" cy="128016"/>
          </a:xfrm>
          <a:prstGeom prst="triangle">
            <a:avLst/>
          </a:prstGeom>
          <a:solidFill>
            <a:srgbClr val="8A96A6"/>
          </a:solidFill>
          <a:ln/>
        </p:spPr>
      </p:sp>
      <p:sp>
        <p:nvSpPr>
          <p:cNvPr id="20" name="Shape 17"/>
          <p:cNvSpPr/>
          <p:nvPr/>
        </p:nvSpPr>
        <p:spPr>
          <a:xfrm>
            <a:off x="502920" y="5138928"/>
            <a:ext cx="6949440" cy="1033272"/>
          </a:xfrm>
          <a:prstGeom prst="roundRect">
            <a:avLst>
              <a:gd name="adj" fmla="val 5310"/>
            </a:avLst>
          </a:prstGeom>
          <a:solidFill>
            <a:srgbClr val="EAF4DC"/>
          </a:solidFill>
          <a:ln w="15875">
            <a:solidFill>
              <a:srgbClr val="8DC63F"/>
            </a:solidFill>
            <a:prstDash val="solid"/>
          </a:ln>
        </p:spPr>
      </p:sp>
      <p:sp>
        <p:nvSpPr>
          <p:cNvPr id="21" name="Text 18"/>
          <p:cNvSpPr/>
          <p:nvPr/>
        </p:nvSpPr>
        <p:spPr>
          <a:xfrm>
            <a:off x="731520" y="5212080"/>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Domain</a:t>
            </a:r>
            <a:endParaRPr lang="en-US" sz="1300" dirty="0"/>
          </a:p>
        </p:txBody>
      </p:sp>
      <p:sp>
        <p:nvSpPr>
          <p:cNvPr id="22" name="Text 19"/>
          <p:cNvSpPr/>
          <p:nvPr/>
        </p:nvSpPr>
        <p:spPr>
          <a:xfrm>
            <a:off x="3004718" y="5212080"/>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Transaction and score types, feature definitions, business rules</a:t>
            </a:r>
            <a:endParaRPr lang="en-US" sz="1000" dirty="0"/>
          </a:p>
        </p:txBody>
      </p:sp>
      <p:sp>
        <p:nvSpPr>
          <p:cNvPr id="23" name="Shape 20"/>
          <p:cNvSpPr/>
          <p:nvPr/>
        </p:nvSpPr>
        <p:spPr>
          <a:xfrm>
            <a:off x="7772400" y="1600200"/>
            <a:ext cx="3913632" cy="4572000"/>
          </a:xfrm>
          <a:prstGeom prst="roundRect">
            <a:avLst>
              <a:gd name="adj" fmla="val 1636"/>
            </a:avLst>
          </a:prstGeom>
          <a:solidFill>
            <a:srgbClr val="1D2A5C"/>
          </a:solidFill>
          <a:ln/>
        </p:spPr>
      </p:sp>
      <p:sp>
        <p:nvSpPr>
          <p:cNvPr id="24" name="Text 21"/>
          <p:cNvSpPr/>
          <p:nvPr/>
        </p:nvSpPr>
        <p:spPr>
          <a:xfrm>
            <a:off x="7973568" y="1783080"/>
            <a:ext cx="3520440" cy="365760"/>
          </a:xfrm>
          <a:prstGeom prst="rect">
            <a:avLst/>
          </a:prstGeom>
          <a:noFill/>
          <a:ln/>
        </p:spPr>
        <p:txBody>
          <a:bodyPr wrap="square" rtlCol="0" anchor="ctr"/>
          <a:lstStyle/>
          <a:p>
            <a:pPr indent="0" marL="0">
              <a:buNone/>
            </a:pPr>
            <a:r>
              <a:rPr lang="en-US" sz="1300" b="1" dirty="0">
                <a:solidFill>
                  <a:srgbClr val="00A79D"/>
                </a:solidFill>
                <a:latin typeface="Calibri" pitchFamily="34" charset="0"/>
                <a:ea typeface="Calibri" pitchFamily="34" charset="-122"/>
                <a:cs typeface="Calibri" pitchFamily="34" charset="-120"/>
              </a:rPr>
              <a:t>The dependency rule</a:t>
            </a:r>
            <a:endParaRPr lang="en-US" sz="1300" dirty="0"/>
          </a:p>
        </p:txBody>
      </p:sp>
      <p:sp>
        <p:nvSpPr>
          <p:cNvPr id="25" name="Text 22"/>
          <p:cNvSpPr/>
          <p:nvPr/>
        </p:nvSpPr>
        <p:spPr>
          <a:xfrm>
            <a:off x="7973568" y="2194560"/>
            <a:ext cx="3520440" cy="3749040"/>
          </a:xfrm>
          <a:prstGeom prst="rect">
            <a:avLst/>
          </a:prstGeom>
          <a:noFill/>
          <a:ln/>
        </p:spPr>
        <p:txBody>
          <a:bodyPr wrap="square" rtlCol="0" anchor="t"/>
          <a:lstStyle/>
          <a:p>
            <a:pPr indent="0" marL="0">
              <a:lnSpc>
                <a:spcPts val="1500"/>
              </a:lnSpc>
              <a:buNone/>
            </a:pPr>
            <a:r>
              <a:rPr lang="en-US" sz="1050" dirty="0">
                <a:solidFill>
                  <a:srgbClr val="D9E4F5"/>
                </a:solidFill>
                <a:latin typeface="Calibri" pitchFamily="34" charset="0"/>
                <a:ea typeface="Calibri" pitchFamily="34" charset="-122"/>
                <a:cs typeface="Calibri" pitchFamily="34" charset="-120"/>
              </a:rPr>
              <a:t>Onion, hexagonal, clean — the names differ, the idea does not: dependencies point inward. Domain imports stdlib and pydantic only; it must never import FastAPI, sklearn, boto3 or SQL drivers. Enforce mechanically with import-linter contracts in CI — Module 5 wires that gate into the pipeline.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Import Rules by Layer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قواعد الاستيراد لكل طبقة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17</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795778"/>
                <a:gridCol w="2795778"/>
                <a:gridCol w="2795778"/>
                <a:gridCol w="2795778"/>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Contains</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May import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Must never import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Domain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Request/result types, feature defs, business rules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stdlib, pydantic</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FastAPI, sklearn, boto3, SQL drivers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Service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FraudScorer.score(txn) orchestration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Domain, model interface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HTTP, Docker, cloud SDKs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Adapters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Model loaders, feature store client, repositories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Service interfaces, frameworks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Entrypoints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FastAPI app, CLI, batch job</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Everything below</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Two consequences matter most for ML teams: the model is an adapter, and frameworks live at the edge.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Model Is an Adapter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النموذج مجرد مُحوِّل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18</a:t>
            </a:r>
            <a:endParaRPr lang="en-US" sz="850" dirty="0"/>
          </a:p>
        </p:txBody>
      </p:sp>
      <p:sp>
        <p:nvSpPr>
          <p:cNvPr id="8" name="Shape 5"/>
          <p:cNvSpPr/>
          <p:nvPr/>
        </p:nvSpPr>
        <p:spPr>
          <a:xfrm>
            <a:off x="3886200" y="2217420"/>
            <a:ext cx="1435608" cy="0"/>
          </a:xfrm>
          <a:prstGeom prst="line">
            <a:avLst/>
          </a:prstGeom>
          <a:noFill/>
          <a:ln w="19050">
            <a:solidFill>
              <a:srgbClr val="D9E4F5"/>
            </a:solidFill>
            <a:prstDash val="dash"/>
          </a:ln>
        </p:spPr>
      </p:sp>
      <p:sp>
        <p:nvSpPr>
          <p:cNvPr id="9" name="Shape 6"/>
          <p:cNvSpPr/>
          <p:nvPr/>
        </p:nvSpPr>
        <p:spPr>
          <a:xfrm>
            <a:off x="594360" y="1600200"/>
            <a:ext cx="3291840" cy="1234440"/>
          </a:xfrm>
          <a:prstGeom prst="roundRect">
            <a:avLst>
              <a:gd name="adj" fmla="val 5185"/>
            </a:avLst>
          </a:prstGeom>
          <a:solidFill>
            <a:srgbClr val="D4F1EE"/>
          </a:solidFill>
          <a:ln/>
        </p:spPr>
      </p:sp>
      <p:sp>
        <p:nvSpPr>
          <p:cNvPr id="10" name="Text 7"/>
          <p:cNvSpPr/>
          <p:nvPr/>
        </p:nvSpPr>
        <p:spPr>
          <a:xfrm>
            <a:off x="74066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Depend on a signature</a:t>
            </a:r>
            <a:endParaRPr lang="en-US" sz="1200" dirty="0"/>
          </a:p>
        </p:txBody>
      </p:sp>
      <p:sp>
        <p:nvSpPr>
          <p:cNvPr id="11" name="Text 8"/>
          <p:cNvSpPr/>
          <p:nvPr/>
        </p:nvSpPr>
        <p:spPr>
          <a:xfrm>
            <a:off x="74066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predict_proba(features) → RawScore — the service knows only this</a:t>
            </a:r>
            <a:endParaRPr lang="en-US" sz="950" dirty="0"/>
          </a:p>
        </p:txBody>
      </p:sp>
      <p:sp>
        <p:nvSpPr>
          <p:cNvPr id="12" name="Shape 9"/>
          <p:cNvSpPr/>
          <p:nvPr/>
        </p:nvSpPr>
        <p:spPr>
          <a:xfrm>
            <a:off x="3886200" y="4320540"/>
            <a:ext cx="1435608" cy="0"/>
          </a:xfrm>
          <a:prstGeom prst="line">
            <a:avLst/>
          </a:prstGeom>
          <a:noFill/>
          <a:ln w="19050">
            <a:solidFill>
              <a:srgbClr val="D9E4F5"/>
            </a:solidFill>
            <a:prstDash val="dash"/>
          </a:ln>
        </p:spPr>
      </p:sp>
      <p:sp>
        <p:nvSpPr>
          <p:cNvPr id="13" name="Shape 10"/>
          <p:cNvSpPr/>
          <p:nvPr/>
        </p:nvSpPr>
        <p:spPr>
          <a:xfrm>
            <a:off x="594360" y="3703320"/>
            <a:ext cx="3291840" cy="1234440"/>
          </a:xfrm>
          <a:prstGeom prst="roundRect">
            <a:avLst>
              <a:gd name="adj" fmla="val 5185"/>
            </a:avLst>
          </a:prstGeom>
          <a:solidFill>
            <a:srgbClr val="D9F0FA"/>
          </a:solidFill>
          <a:ln/>
        </p:spPr>
      </p:sp>
      <p:sp>
        <p:nvSpPr>
          <p:cNvPr id="14" name="Text 11"/>
          <p:cNvSpPr/>
          <p:nvPr/>
        </p:nvSpPr>
        <p:spPr>
          <a:xfrm>
            <a:off x="74066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Swap in one file</a:t>
            </a:r>
            <a:endParaRPr lang="en-US" sz="1200" dirty="0"/>
          </a:p>
        </p:txBody>
      </p:sp>
      <p:sp>
        <p:nvSpPr>
          <p:cNvPr id="15" name="Text 12"/>
          <p:cNvSpPr/>
          <p:nvPr/>
        </p:nvSpPr>
        <p:spPr>
          <a:xfrm>
            <a:off x="74066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XGBoost → PyTorch, or local file → model registry: one adapter changes</a:t>
            </a:r>
            <a:endParaRPr lang="en-US" sz="950" dirty="0"/>
          </a:p>
        </p:txBody>
      </p:sp>
      <p:sp>
        <p:nvSpPr>
          <p:cNvPr id="16" name="Shape 13"/>
          <p:cNvSpPr/>
          <p:nvPr/>
        </p:nvSpPr>
        <p:spPr>
          <a:xfrm>
            <a:off x="3886200" y="5737860"/>
            <a:ext cx="1435608" cy="0"/>
          </a:xfrm>
          <a:prstGeom prst="line">
            <a:avLst/>
          </a:prstGeom>
          <a:noFill/>
          <a:ln w="19050">
            <a:solidFill>
              <a:srgbClr val="D9E4F5"/>
            </a:solidFill>
            <a:prstDash val="dash"/>
          </a:ln>
        </p:spPr>
      </p:sp>
      <p:sp>
        <p:nvSpPr>
          <p:cNvPr id="17" name="Shape 14"/>
          <p:cNvSpPr/>
          <p:nvPr/>
        </p:nvSpPr>
        <p:spPr>
          <a:xfrm>
            <a:off x="594360" y="5120640"/>
            <a:ext cx="3291840" cy="1234440"/>
          </a:xfrm>
          <a:prstGeom prst="roundRect">
            <a:avLst>
              <a:gd name="adj" fmla="val 5185"/>
            </a:avLst>
          </a:prstGeom>
          <a:solidFill>
            <a:srgbClr val="FDEBD7"/>
          </a:solidFill>
          <a:ln/>
        </p:spPr>
      </p:sp>
      <p:sp>
        <p:nvSpPr>
          <p:cNvPr id="18" name="Text 15"/>
          <p:cNvSpPr/>
          <p:nvPr/>
        </p:nvSpPr>
        <p:spPr>
          <a:xfrm>
            <a:off x="74066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Frameworks at the edge</a:t>
            </a:r>
            <a:endParaRPr lang="en-US" sz="1200" dirty="0"/>
          </a:p>
        </p:txBody>
      </p:sp>
      <p:sp>
        <p:nvSpPr>
          <p:cNvPr id="19" name="Text 16"/>
          <p:cNvSpPr/>
          <p:nvPr/>
        </p:nvSpPr>
        <p:spPr>
          <a:xfrm>
            <a:off x="74066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sklearn objects and FastAPI models never appear in domain signatures</a:t>
            </a:r>
            <a:endParaRPr lang="en-US" sz="950" dirty="0"/>
          </a:p>
        </p:txBody>
      </p:sp>
      <p:sp>
        <p:nvSpPr>
          <p:cNvPr id="20" name="Shape 17"/>
          <p:cNvSpPr/>
          <p:nvPr/>
        </p:nvSpPr>
        <p:spPr>
          <a:xfrm>
            <a:off x="6858000" y="2217420"/>
            <a:ext cx="1463040" cy="0"/>
          </a:xfrm>
          <a:prstGeom prst="line">
            <a:avLst/>
          </a:prstGeom>
          <a:noFill/>
          <a:ln w="19050">
            <a:solidFill>
              <a:srgbClr val="D9E4F5"/>
            </a:solidFill>
            <a:prstDash val="dash"/>
          </a:ln>
        </p:spPr>
      </p:sp>
      <p:sp>
        <p:nvSpPr>
          <p:cNvPr id="21" name="Shape 18"/>
          <p:cNvSpPr/>
          <p:nvPr/>
        </p:nvSpPr>
        <p:spPr>
          <a:xfrm>
            <a:off x="8321040" y="1600200"/>
            <a:ext cx="3291840" cy="1234440"/>
          </a:xfrm>
          <a:prstGeom prst="roundRect">
            <a:avLst>
              <a:gd name="adj" fmla="val 5185"/>
            </a:avLst>
          </a:prstGeom>
          <a:solidFill>
            <a:srgbClr val="EAF4DC"/>
          </a:solidFill>
          <a:ln/>
        </p:spPr>
      </p:sp>
      <p:sp>
        <p:nvSpPr>
          <p:cNvPr id="22" name="Text 19"/>
          <p:cNvSpPr/>
          <p:nvPr/>
        </p:nvSpPr>
        <p:spPr>
          <a:xfrm>
            <a:off x="846734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Test double in one line</a:t>
            </a:r>
            <a:endParaRPr lang="en-US" sz="1200" dirty="0"/>
          </a:p>
        </p:txBody>
      </p:sp>
      <p:sp>
        <p:nvSpPr>
          <p:cNvPr id="23" name="Text 20"/>
          <p:cNvSpPr/>
          <p:nvPr/>
        </p:nvSpPr>
        <p:spPr>
          <a:xfrm>
            <a:off x="846734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FraudScorer(model=ConstantModel(0.99), block_threshold=0.85)</a:t>
            </a:r>
            <a:endParaRPr lang="en-US" sz="950" dirty="0"/>
          </a:p>
        </p:txBody>
      </p:sp>
      <p:sp>
        <p:nvSpPr>
          <p:cNvPr id="24" name="Shape 21"/>
          <p:cNvSpPr/>
          <p:nvPr/>
        </p:nvSpPr>
        <p:spPr>
          <a:xfrm>
            <a:off x="6858000" y="4320540"/>
            <a:ext cx="1463040" cy="0"/>
          </a:xfrm>
          <a:prstGeom prst="line">
            <a:avLst/>
          </a:prstGeom>
          <a:noFill/>
          <a:ln w="19050">
            <a:solidFill>
              <a:srgbClr val="D9E4F5"/>
            </a:solidFill>
            <a:prstDash val="dash"/>
          </a:ln>
        </p:spPr>
      </p:sp>
      <p:sp>
        <p:nvSpPr>
          <p:cNvPr id="25" name="Shape 22"/>
          <p:cNvSpPr/>
          <p:nvPr/>
        </p:nvSpPr>
        <p:spPr>
          <a:xfrm>
            <a:off x="8321040" y="3703320"/>
            <a:ext cx="3291840" cy="1234440"/>
          </a:xfrm>
          <a:prstGeom prst="roundRect">
            <a:avLst>
              <a:gd name="adj" fmla="val 5185"/>
            </a:avLst>
          </a:prstGeom>
          <a:solidFill>
            <a:srgbClr val="FADDD8"/>
          </a:solidFill>
          <a:ln/>
        </p:spPr>
      </p:sp>
      <p:sp>
        <p:nvSpPr>
          <p:cNvPr id="26" name="Text 23"/>
          <p:cNvSpPr/>
          <p:nvPr/>
        </p:nvSpPr>
        <p:spPr>
          <a:xfrm>
            <a:off x="846734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One composition root</a:t>
            </a:r>
            <a:endParaRPr lang="en-US" sz="1200" dirty="0"/>
          </a:p>
        </p:txBody>
      </p:sp>
      <p:sp>
        <p:nvSpPr>
          <p:cNvPr id="27" name="Text 24"/>
          <p:cNvSpPr/>
          <p:nvPr/>
        </p:nvSpPr>
        <p:spPr>
          <a:xfrm>
            <a:off x="846734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The app factory is the single place where concrete classes meet</a:t>
            </a:r>
            <a:endParaRPr lang="en-US" sz="950" dirty="0"/>
          </a:p>
        </p:txBody>
      </p:sp>
      <p:sp>
        <p:nvSpPr>
          <p:cNvPr id="28" name="Shape 25"/>
          <p:cNvSpPr/>
          <p:nvPr/>
        </p:nvSpPr>
        <p:spPr>
          <a:xfrm>
            <a:off x="5129784" y="2953512"/>
            <a:ext cx="1920240" cy="1920240"/>
          </a:xfrm>
          <a:prstGeom prst="ellipse">
            <a:avLst/>
          </a:prstGeom>
          <a:solidFill>
            <a:srgbClr val="1D2A5C"/>
          </a:solidFill>
          <a:ln w="31750">
            <a:solidFill>
              <a:srgbClr val="00A79D"/>
            </a:solidFill>
            <a:prstDash val="solid"/>
          </a:ln>
        </p:spPr>
      </p:sp>
      <p:sp>
        <p:nvSpPr>
          <p:cNvPr id="29" name="Text 26"/>
          <p:cNvSpPr/>
          <p:nvPr/>
        </p:nvSpPr>
        <p:spPr>
          <a:xfrm>
            <a:off x="5221224" y="3044952"/>
            <a:ext cx="1737360" cy="1737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 protocol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Canonical Project Layout — src-layout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التخطيط المعياري للمشروع</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19</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fraud-service/</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fraud-service/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pyproject.toml            # deps + tool config, single source of truth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Makefile                  # make test / make lint / make run / make image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configs/settings.example.env   # documented template, never real secrets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src/</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fraud_service/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domain/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 entities.py       # Transaction, FraudScore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 policies.py       # decision thresholds as pure functions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service/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 scorer.py         # use-case orchestration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 interfaces.py     # Model / FeatureRepo protocols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adapters/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 sklearn_model.py  # joblib-backed Model implementation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api/                  # app.py · schemas.py · routes.py  (M2)</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config.py             # pydantic-settings  (M6)</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logging_setup.py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models/fraud_xgb_v3.joblib    # versioned artefact — input, not source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tests/                        # unit/ · integration/ · behavioural/</a:t>
            </a:r>
            <a:endParaRPr lang="en-US" sz="10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Participants replicate this tree in Lab 1 and keep it through the capstone.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Three House Rules of the Layout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ثلاث قواعد أساسية للتخطيط</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20</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pyproject.toml is the single source</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Dependencies AND tool configuration (ruff, pytest, mypy) in one file — one file to review, one file to cache in CI.</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Makefile is the repo's public API</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make test must work on day one and forever. Nobody should need to remember pytest flags — predictable commands are an operational interface.</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Model artefacts are inputs, not source</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Small artefacts may live in models/ via Git LFS; production-grade flow pulls them from a registry at image build or container start (M3/M6).</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Security warning</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pickle executes code</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Never pickle.load from an unverified path</a:t>
            </a:r>
            <a:endParaRPr lang="en-US" sz="950" dirty="0"/>
          </a:p>
        </p:txBody>
      </p:sp>
      <p:sp>
        <p:nvSpPr>
          <p:cNvPr id="22" name="Shape 19"/>
          <p:cNvSpPr/>
          <p:nvPr/>
        </p:nvSpPr>
        <p:spPr>
          <a:xfrm rot="2700000">
            <a:off x="6556248" y="3441192"/>
            <a:ext cx="128016" cy="128016"/>
          </a:xfrm>
          <a:prstGeom prst="rect">
            <a:avLst/>
          </a:prstGeom>
          <a:solidFill>
            <a:srgbClr val="29ABE2"/>
          </a:solidFill>
          <a:ln/>
        </p:spPr>
      </p:sp>
      <p:sp>
        <p:nvSpPr>
          <p:cNvPr id="23" name="Text 20"/>
          <p:cNvSpPr/>
          <p:nvPr/>
        </p:nvSpPr>
        <p:spPr>
          <a:xfrm>
            <a:off x="6812280" y="33497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Attacker writes the file…</a:t>
            </a:r>
            <a:endParaRPr lang="en-US" sz="1100" dirty="0"/>
          </a:p>
        </p:txBody>
      </p:sp>
      <p:sp>
        <p:nvSpPr>
          <p:cNvPr id="24" name="Text 21"/>
          <p:cNvSpPr/>
          <p:nvPr/>
        </p:nvSpPr>
        <p:spPr>
          <a:xfrm>
            <a:off x="6812280" y="36149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…attacker owns the service</a:t>
            </a:r>
            <a:endParaRPr lang="en-US" sz="950" dirty="0"/>
          </a:p>
        </p:txBody>
      </p:sp>
      <p:sp>
        <p:nvSpPr>
          <p:cNvPr id="25" name="Shape 22"/>
          <p:cNvSpPr/>
          <p:nvPr/>
        </p:nvSpPr>
        <p:spPr>
          <a:xfrm rot="2700000">
            <a:off x="6556248" y="4751832"/>
            <a:ext cx="128016" cy="128016"/>
          </a:xfrm>
          <a:prstGeom prst="rect">
            <a:avLst/>
          </a:prstGeom>
          <a:solidFill>
            <a:srgbClr val="F58220"/>
          </a:solidFill>
          <a:ln/>
        </p:spPr>
      </p:sp>
      <p:sp>
        <p:nvSpPr>
          <p:cNvPr id="26" name="Text 23"/>
          <p:cNvSpPr/>
          <p:nvPr/>
        </p:nvSpPr>
        <p:spPr>
          <a:xfrm>
            <a:off x="6812280" y="46603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Mitigation</a:t>
            </a:r>
            <a:endParaRPr lang="en-US" sz="1100" dirty="0"/>
          </a:p>
        </p:txBody>
      </p:sp>
      <p:sp>
        <p:nvSpPr>
          <p:cNvPr id="27" name="Text 24"/>
          <p:cNvSpPr/>
          <p:nvPr/>
        </p:nvSpPr>
        <p:spPr>
          <a:xfrm>
            <a:off x="6812280" y="49255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Verified registry pull + pinned artefact version</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Model Protocol — interfaces.py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بروتوكول النموذج</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21</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src/fraud_service/service/interfaces.py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typing import Protocol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fraud_service.domain.entities import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FeatureVector, RawScore,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t>
            </a:r>
            <a:endParaRPr lang="en-US" sz="1000" dirty="0"/>
          </a:p>
          <a:p>
            <a:pPr indent="0" marL="0">
              <a:lnSpc>
                <a:spcPct val="112000"/>
              </a:lnSpc>
              <a:buNone/>
            </a:pP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Model(Protocol):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"""Anything that can score a feature vector.</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Implementations: SklearnModel (prod),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ConstantModel (tests), RemoteModel (future).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The service layer knows ONLY this signature."""</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model_version: str</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predict_proba(</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self, features: FeatureVector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-&gt; RawScore: ...</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typing.Protocol</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Structural typing — implementations need no inheritance and no framework. Python needs no DI framework: constructor injection + Protocol suffices.</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model_version travels along</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Every implementation must expose its version — it ends up in every FraudScore and every log line.</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Three implementations, one seam</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Prod, tests, and a future remote model server all satisfy the same signature.</a:t>
            </a:r>
            <a:endParaRPr lang="en-US" sz="9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Use-Case Orchestration — scorer.py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تنسيق حالة الاستخدام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22</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src/fraud_service/service/scorer.py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dataclasses import dataclass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fraud_service.domain.policies import decide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fraud_service.service.interfaces import 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@dataclass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FraudScorer: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"""Absent: no FastAPI, no sklearn, no file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paths, no logging. Pure orchestration."""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 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block_threshold: float</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score(self, txn: Transaction) -&gt; FraudScore: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features = txn.to_features()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raw = self.model.predict_proba(features)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 = decide(raw, self.block_threshold)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FraudScore(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transaction_id=txn.transaction_id,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probability=raw.value,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decision=decision,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model_version=self.model.model_version)</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Pure orchestration</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validate → featurise → predict → apply policy. No I/O anywhere: trivially testable.</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txn.to_features()</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Feature logic lives on the domain entity — one shared module for training AND serving, the primary defence against skew.</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Constructor injection</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model and block_threshold arrive from outside. FastAPI wires SklearnModel at startup; tests wire ConstantModel(0.99).</a:t>
            </a:r>
            <a:endParaRPr lang="en-US" sz="9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Six Mistakes Hiding in the Lab 1 Starter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ستة أخطاء مخبأة في مشروع المختبر الأول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23</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MISTAKE 1</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Import-time model load</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model = joblib.load(...) at module top level — every tool that imports pays 2.9 s</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MISTAKE 2</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Schema leakage</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pydantic API schemas used as domain entities everywhere — couples the codebase to the HTTP contract</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MISTAKE 3</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Duplicated feature logic</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Training repo and serving repo compute features separately — the #1 cause of training/serving skew</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MISTAKE 4</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except Exception: pass</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Around model calls — silently returns stale or default scores</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MISTAKE 5</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Scattered os.environ</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Config read via os.environ["X"] across 14 files instead of one typed settings object</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MISTAKE 6</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Tests importing privates</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from ...sklearn_model import _sanitize — tests should exercise public seams</a:t>
            </a:r>
            <a:endParaRPr lang="en-US" sz="9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Policy as a Pure Function — policies.py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السياسة كدالة نقية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24</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src/fraud_service/domain/policies.py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"""Business policy: thresholds are BUSINESS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decisions, not model decisions.</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Pure function =&gt; property-based-testable,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reviewable by risk officers."""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fraud_service.domain.entities import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 RawScore,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REVIEW_BAND = 0.15  # manual-review band width</a:t>
            </a:r>
            <a:endParaRPr lang="en-US" sz="1000" dirty="0"/>
          </a:p>
          <a:p>
            <a:pPr indent="0" marL="0">
              <a:lnSpc>
                <a:spcPct val="112000"/>
              </a:lnSpc>
              <a:buNone/>
            </a:pP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decide(score: RawScore,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block_threshold: float) -&gt; Decision: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score.value &gt;= block_threshold: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Decision.BLOCK</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score.value &gt;= block_threshold - REVIEW_BAND: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Decision.REVIEW</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Decision.ALLOW</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Three-way decision</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ALLOW / REVIEW / BLOCK — a manual-review band sits 0.15 below the block threshold.</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Threshold is injected</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block_threshold arrives as an argument; M6 sources it from typed settings. Who owns it — code, config, or DB? Discussion coming.</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Zero dependencies</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stdlib + domain types only. A risk officer can read and sign off this file.</a:t>
            </a:r>
            <a:endParaRPr lang="en-US" sz="9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Design Principles &amp; the Review Checklist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مبادئ التصميم وقائمة المراجعة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25</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One direction of knowledge</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Domain knows nothing about persistence or HTTP; adapters know everything about their technology and nothing about each other.</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Small, boring modules</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file you can read in two minutes is an asset; a 900-line utils.py is a liability. utils.py is where cohesion goes to die — ban the filename.</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Plan for two consumers</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The online API and an offline batch scorer. If both can import the same FraudScorer, the architecture is right.</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Review checklist cues</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Zero layer violations</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import-linter contract, enforced in CI (M5)</a:t>
            </a:r>
            <a:endParaRPr lang="en-US" sz="950" dirty="0"/>
          </a:p>
        </p:txBody>
      </p:sp>
      <p:sp>
        <p:nvSpPr>
          <p:cNvPr id="22" name="Shape 19"/>
          <p:cNvSpPr/>
          <p:nvPr/>
        </p:nvSpPr>
        <p:spPr>
          <a:xfrm rot="2700000">
            <a:off x="6556248" y="3113532"/>
            <a:ext cx="128016" cy="128016"/>
          </a:xfrm>
          <a:prstGeom prst="rect">
            <a:avLst/>
          </a:prstGeom>
          <a:solidFill>
            <a:srgbClr val="29ABE2"/>
          </a:solidFill>
          <a:ln/>
        </p:spPr>
      </p:sp>
      <p:sp>
        <p:nvSpPr>
          <p:cNvPr id="23" name="Text 20"/>
          <p:cNvSpPr/>
          <p:nvPr/>
        </p:nvSpPr>
        <p:spPr>
          <a:xfrm>
            <a:off x="6812280" y="30220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Longest module ≤ 200 lines</a:t>
            </a:r>
            <a:endParaRPr lang="en-US" sz="1100" dirty="0"/>
          </a:p>
        </p:txBody>
      </p:sp>
      <p:sp>
        <p:nvSpPr>
          <p:cNvPr id="24" name="Text 21"/>
          <p:cNvSpPr/>
          <p:nvPr/>
        </p:nvSpPr>
        <p:spPr>
          <a:xfrm>
            <a:off x="6812280" y="32872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max cyclomatic complexity ≤ 10 per function</a:t>
            </a:r>
            <a:endParaRPr lang="en-US" sz="950" dirty="0"/>
          </a:p>
        </p:txBody>
      </p:sp>
      <p:sp>
        <p:nvSpPr>
          <p:cNvPr id="25" name="Shape 22"/>
          <p:cNvSpPr/>
          <p:nvPr/>
        </p:nvSpPr>
        <p:spPr>
          <a:xfrm rot="2700000">
            <a:off x="6556248" y="4096512"/>
            <a:ext cx="128016" cy="128016"/>
          </a:xfrm>
          <a:prstGeom prst="rect">
            <a:avLst/>
          </a:prstGeom>
          <a:solidFill>
            <a:srgbClr val="F58220"/>
          </a:solidFill>
          <a:ln/>
        </p:spPr>
      </p:sp>
      <p:sp>
        <p:nvSpPr>
          <p:cNvPr id="26" name="Text 23"/>
          <p:cNvSpPr/>
          <p:nvPr/>
        </p:nvSpPr>
        <p:spPr>
          <a:xfrm>
            <a:off x="6812280" y="400507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Import time &lt; 300 ms</a:t>
            </a:r>
            <a:endParaRPr lang="en-US" sz="1100" dirty="0"/>
          </a:p>
        </p:txBody>
      </p:sp>
      <p:sp>
        <p:nvSpPr>
          <p:cNvPr id="27" name="Text 24"/>
          <p:cNvSpPr/>
          <p:nvPr/>
        </p:nvSpPr>
        <p:spPr>
          <a:xfrm>
            <a:off x="6812280" y="427024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python -X importtime — no model load at import</a:t>
            </a:r>
            <a:endParaRPr lang="en-US" sz="950" dirty="0"/>
          </a:p>
        </p:txBody>
      </p:sp>
      <p:sp>
        <p:nvSpPr>
          <p:cNvPr id="28" name="Shape 25"/>
          <p:cNvSpPr/>
          <p:nvPr/>
        </p:nvSpPr>
        <p:spPr>
          <a:xfrm rot="2700000">
            <a:off x="6556248" y="5079492"/>
            <a:ext cx="128016" cy="128016"/>
          </a:xfrm>
          <a:prstGeom prst="rect">
            <a:avLst/>
          </a:prstGeom>
          <a:solidFill>
            <a:srgbClr val="8DC63F"/>
          </a:solidFill>
          <a:ln/>
        </p:spPr>
      </p:sp>
      <p:sp>
        <p:nvSpPr>
          <p:cNvPr id="29" name="Text 26"/>
          <p:cNvSpPr/>
          <p:nvPr/>
        </p:nvSpPr>
        <p:spPr>
          <a:xfrm>
            <a:off x="6812280" y="49880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Feature logic findable &lt; 2 min</a:t>
            </a:r>
            <a:endParaRPr lang="en-US" sz="1100" dirty="0"/>
          </a:p>
        </p:txBody>
      </p:sp>
      <p:sp>
        <p:nvSpPr>
          <p:cNvPr id="30" name="Text 27"/>
          <p:cNvSpPr/>
          <p:nvPr/>
        </p:nvSpPr>
        <p:spPr>
          <a:xfrm>
            <a:off x="6812280" y="52532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newcomer navigation test, done in pairs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Refactor Payoff — Measured</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مكاسب إعادة الهيكلة بالأرقام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26</a:t>
            </a:r>
            <a:endParaRPr lang="en-US" sz="850" dirty="0"/>
          </a:p>
        </p:txBody>
      </p:sp>
      <p:sp>
        <p:nvSpPr>
          <p:cNvPr id="8" name="Shape 5"/>
          <p:cNvSpPr/>
          <p:nvPr/>
        </p:nvSpPr>
        <p:spPr>
          <a:xfrm>
            <a:off x="502920" y="2011680"/>
            <a:ext cx="2555748" cy="3108960"/>
          </a:xfrm>
          <a:prstGeom prst="roundRect">
            <a:avLst>
              <a:gd name="adj" fmla="val 2862"/>
            </a:avLst>
          </a:prstGeom>
          <a:solidFill>
            <a:srgbClr val="EEF3FB"/>
          </a:solidFill>
          <a:ln/>
        </p:spPr>
      </p:sp>
      <p:sp>
        <p:nvSpPr>
          <p:cNvPr id="9" name="Shape 6"/>
          <p:cNvSpPr/>
          <p:nvPr/>
        </p:nvSpPr>
        <p:spPr>
          <a:xfrm>
            <a:off x="731520" y="2331720"/>
            <a:ext cx="502920" cy="54864"/>
          </a:xfrm>
          <a:prstGeom prst="rect">
            <a:avLst/>
          </a:prstGeom>
          <a:solidFill>
            <a:srgbClr val="00A79D"/>
          </a:solidFill>
          <a:ln/>
        </p:spPr>
      </p:sp>
      <p:sp>
        <p:nvSpPr>
          <p:cNvPr id="10" name="Text 7"/>
          <p:cNvSpPr/>
          <p:nvPr/>
        </p:nvSpPr>
        <p:spPr>
          <a:xfrm>
            <a:off x="685800" y="2514600"/>
            <a:ext cx="2189988" cy="822960"/>
          </a:xfrm>
          <a:prstGeom prst="rect">
            <a:avLst/>
          </a:prstGeom>
          <a:noFill/>
          <a:ln/>
        </p:spPr>
        <p:txBody>
          <a:bodyPr wrap="square" rtlCol="0" anchor="ctr"/>
          <a:lstStyle/>
          <a:p>
            <a:pPr indent="0" marL="0">
              <a:buNone/>
            </a:pPr>
            <a:r>
              <a:rPr lang="en-US" sz="3800" b="1" dirty="0">
                <a:solidFill>
                  <a:srgbClr val="00A79D"/>
                </a:solidFill>
                <a:latin typeface="Calibri" pitchFamily="34" charset="0"/>
                <a:ea typeface="Calibri" pitchFamily="34" charset="-122"/>
                <a:cs typeface="Calibri" pitchFamily="34" charset="-120"/>
              </a:rPr>
              <a:t>0.18s</a:t>
            </a:r>
            <a:endParaRPr lang="en-US" sz="3800" dirty="0"/>
          </a:p>
        </p:txBody>
      </p:sp>
      <p:sp>
        <p:nvSpPr>
          <p:cNvPr id="11" name="Text 8"/>
          <p:cNvSpPr/>
          <p:nvPr/>
        </p:nvSpPr>
        <p:spPr>
          <a:xfrm>
            <a:off x="731520"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import time</a:t>
            </a:r>
            <a:endParaRPr lang="en-US" sz="1250" dirty="0"/>
          </a:p>
        </p:txBody>
      </p:sp>
      <p:sp>
        <p:nvSpPr>
          <p:cNvPr id="12" name="Text 9"/>
          <p:cNvSpPr/>
          <p:nvPr/>
        </p:nvSpPr>
        <p:spPr>
          <a:xfrm>
            <a:off x="731520"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down from 2.9 s — no model load at import (python -X importtime)</a:t>
            </a:r>
            <a:endParaRPr lang="en-US" sz="980" dirty="0"/>
          </a:p>
        </p:txBody>
      </p:sp>
      <p:sp>
        <p:nvSpPr>
          <p:cNvPr id="13" name="Shape 10"/>
          <p:cNvSpPr/>
          <p:nvPr/>
        </p:nvSpPr>
        <p:spPr>
          <a:xfrm>
            <a:off x="3378708" y="2011680"/>
            <a:ext cx="2555748" cy="3108960"/>
          </a:xfrm>
          <a:prstGeom prst="roundRect">
            <a:avLst>
              <a:gd name="adj" fmla="val 2862"/>
            </a:avLst>
          </a:prstGeom>
          <a:solidFill>
            <a:srgbClr val="EEF3FB"/>
          </a:solidFill>
          <a:ln/>
        </p:spPr>
      </p:sp>
      <p:sp>
        <p:nvSpPr>
          <p:cNvPr id="14" name="Shape 11"/>
          <p:cNvSpPr/>
          <p:nvPr/>
        </p:nvSpPr>
        <p:spPr>
          <a:xfrm>
            <a:off x="3607308" y="2331720"/>
            <a:ext cx="502920" cy="54864"/>
          </a:xfrm>
          <a:prstGeom prst="rect">
            <a:avLst/>
          </a:prstGeom>
          <a:solidFill>
            <a:srgbClr val="29ABE2"/>
          </a:solidFill>
          <a:ln/>
        </p:spPr>
      </p:sp>
      <p:sp>
        <p:nvSpPr>
          <p:cNvPr id="15" name="Text 12"/>
          <p:cNvSpPr/>
          <p:nvPr/>
        </p:nvSpPr>
        <p:spPr>
          <a:xfrm>
            <a:off x="3561588" y="2514600"/>
            <a:ext cx="2189988" cy="822960"/>
          </a:xfrm>
          <a:prstGeom prst="rect">
            <a:avLst/>
          </a:prstGeom>
          <a:noFill/>
          <a:ln/>
        </p:spPr>
        <p:txBody>
          <a:bodyPr wrap="square" rtlCol="0" anchor="ctr"/>
          <a:lstStyle/>
          <a:p>
            <a:pPr indent="0" marL="0">
              <a:buNone/>
            </a:pPr>
            <a:r>
              <a:rPr lang="en-US" sz="3800" b="1" dirty="0">
                <a:solidFill>
                  <a:srgbClr val="29ABE2"/>
                </a:solidFill>
                <a:latin typeface="Calibri" pitchFamily="34" charset="0"/>
                <a:ea typeface="Calibri" pitchFamily="34" charset="-122"/>
                <a:cs typeface="Calibri" pitchFamily="34" charset="-120"/>
              </a:rPr>
              <a:t>2.3s</a:t>
            </a:r>
            <a:endParaRPr lang="en-US" sz="3800" dirty="0"/>
          </a:p>
        </p:txBody>
      </p:sp>
      <p:sp>
        <p:nvSpPr>
          <p:cNvPr id="16" name="Text 13"/>
          <p:cNvSpPr/>
          <p:nvPr/>
        </p:nvSpPr>
        <p:spPr>
          <a:xfrm>
            <a:off x="3607308"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batch: 5,000 txns</a:t>
            </a:r>
            <a:endParaRPr lang="en-US" sz="1250" dirty="0"/>
          </a:p>
        </p:txBody>
      </p:sp>
      <p:sp>
        <p:nvSpPr>
          <p:cNvPr id="17" name="Text 14"/>
          <p:cNvSpPr/>
          <p:nvPr/>
        </p:nvSpPr>
        <p:spPr>
          <a:xfrm>
            <a:off x="3607308"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down from 6.1 s for the raw notebook export</a:t>
            </a:r>
            <a:endParaRPr lang="en-US" sz="980" dirty="0"/>
          </a:p>
        </p:txBody>
      </p:sp>
      <p:sp>
        <p:nvSpPr>
          <p:cNvPr id="18" name="Shape 15"/>
          <p:cNvSpPr/>
          <p:nvPr/>
        </p:nvSpPr>
        <p:spPr>
          <a:xfrm>
            <a:off x="6254496" y="2011680"/>
            <a:ext cx="2555748" cy="3108960"/>
          </a:xfrm>
          <a:prstGeom prst="roundRect">
            <a:avLst>
              <a:gd name="adj" fmla="val 2862"/>
            </a:avLst>
          </a:prstGeom>
          <a:solidFill>
            <a:srgbClr val="EEF3FB"/>
          </a:solidFill>
          <a:ln/>
        </p:spPr>
      </p:sp>
      <p:sp>
        <p:nvSpPr>
          <p:cNvPr id="19" name="Shape 16"/>
          <p:cNvSpPr/>
          <p:nvPr/>
        </p:nvSpPr>
        <p:spPr>
          <a:xfrm>
            <a:off x="6483096" y="2331720"/>
            <a:ext cx="502920" cy="54864"/>
          </a:xfrm>
          <a:prstGeom prst="rect">
            <a:avLst/>
          </a:prstGeom>
          <a:solidFill>
            <a:srgbClr val="F58220"/>
          </a:solidFill>
          <a:ln/>
        </p:spPr>
      </p:sp>
      <p:sp>
        <p:nvSpPr>
          <p:cNvPr id="20" name="Text 17"/>
          <p:cNvSpPr/>
          <p:nvPr/>
        </p:nvSpPr>
        <p:spPr>
          <a:xfrm>
            <a:off x="6437376" y="2514600"/>
            <a:ext cx="2189988" cy="822960"/>
          </a:xfrm>
          <a:prstGeom prst="rect">
            <a:avLst/>
          </a:prstGeom>
          <a:noFill/>
          <a:ln/>
        </p:spPr>
        <p:txBody>
          <a:bodyPr wrap="square" rtlCol="0" anchor="ctr"/>
          <a:lstStyle/>
          <a:p>
            <a:pPr indent="0" marL="0">
              <a:buNone/>
            </a:pPr>
            <a:r>
              <a:rPr lang="en-US" sz="3800" b="1" dirty="0">
                <a:solidFill>
                  <a:srgbClr val="F58220"/>
                </a:solidFill>
                <a:latin typeface="Calibri" pitchFamily="34" charset="0"/>
                <a:ea typeface="Calibri" pitchFamily="34" charset="-122"/>
                <a:cs typeface="Calibri" pitchFamily="34" charset="-120"/>
              </a:rPr>
              <a:t>7</a:t>
            </a:r>
            <a:endParaRPr lang="en-US" sz="3800" dirty="0"/>
          </a:p>
        </p:txBody>
      </p:sp>
      <p:sp>
        <p:nvSpPr>
          <p:cNvPr id="21" name="Text 18"/>
          <p:cNvSpPr/>
          <p:nvPr/>
        </p:nvSpPr>
        <p:spPr>
          <a:xfrm>
            <a:off x="6483096"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max complexity</a:t>
            </a:r>
            <a:endParaRPr lang="en-US" sz="1250" dirty="0"/>
          </a:p>
        </p:txBody>
      </p:sp>
      <p:sp>
        <p:nvSpPr>
          <p:cNvPr id="22" name="Text 19"/>
          <p:cNvSpPr/>
          <p:nvPr/>
        </p:nvSpPr>
        <p:spPr>
          <a:xfrm>
            <a:off x="6483096"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down from 24 — measured with ruff / radon cc, target ≤ 10</a:t>
            </a:r>
            <a:endParaRPr lang="en-US" sz="980" dirty="0"/>
          </a:p>
        </p:txBody>
      </p:sp>
      <p:sp>
        <p:nvSpPr>
          <p:cNvPr id="23" name="Shape 20"/>
          <p:cNvSpPr/>
          <p:nvPr/>
        </p:nvSpPr>
        <p:spPr>
          <a:xfrm>
            <a:off x="9130284" y="2011680"/>
            <a:ext cx="2555748" cy="3108960"/>
          </a:xfrm>
          <a:prstGeom prst="roundRect">
            <a:avLst>
              <a:gd name="adj" fmla="val 2862"/>
            </a:avLst>
          </a:prstGeom>
          <a:solidFill>
            <a:srgbClr val="EEF3FB"/>
          </a:solidFill>
          <a:ln/>
        </p:spPr>
      </p:sp>
      <p:sp>
        <p:nvSpPr>
          <p:cNvPr id="24" name="Shape 21"/>
          <p:cNvSpPr/>
          <p:nvPr/>
        </p:nvSpPr>
        <p:spPr>
          <a:xfrm>
            <a:off x="9358884" y="2331720"/>
            <a:ext cx="502920" cy="54864"/>
          </a:xfrm>
          <a:prstGeom prst="rect">
            <a:avLst/>
          </a:prstGeom>
          <a:solidFill>
            <a:srgbClr val="8DC63F"/>
          </a:solidFill>
          <a:ln/>
        </p:spPr>
      </p:sp>
      <p:sp>
        <p:nvSpPr>
          <p:cNvPr id="25" name="Text 22"/>
          <p:cNvSpPr/>
          <p:nvPr/>
        </p:nvSpPr>
        <p:spPr>
          <a:xfrm>
            <a:off x="9313164" y="2514600"/>
            <a:ext cx="2189988" cy="822960"/>
          </a:xfrm>
          <a:prstGeom prst="rect">
            <a:avLst/>
          </a:prstGeom>
          <a:noFill/>
          <a:ln/>
        </p:spPr>
        <p:txBody>
          <a:bodyPr wrap="square" rtlCol="0" anchor="ctr"/>
          <a:lstStyle/>
          <a:p>
            <a:pPr indent="0" marL="0">
              <a:buNone/>
            </a:pPr>
            <a:r>
              <a:rPr lang="en-US" sz="3800" b="1" dirty="0">
                <a:solidFill>
                  <a:srgbClr val="8DC63F"/>
                </a:solidFill>
                <a:latin typeface="Calibri" pitchFamily="34" charset="0"/>
                <a:ea typeface="Calibri" pitchFamily="34" charset="-122"/>
                <a:cs typeface="Calibri" pitchFamily="34" charset="-120"/>
              </a:rPr>
              <a:t>0</a:t>
            </a:r>
            <a:endParaRPr lang="en-US" sz="3800" dirty="0"/>
          </a:p>
        </p:txBody>
      </p:sp>
      <p:sp>
        <p:nvSpPr>
          <p:cNvPr id="26" name="Text 23"/>
          <p:cNvSpPr/>
          <p:nvPr/>
        </p:nvSpPr>
        <p:spPr>
          <a:xfrm>
            <a:off x="9358884"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layer violations</a:t>
            </a:r>
            <a:endParaRPr lang="en-US" sz="1250" dirty="0"/>
          </a:p>
        </p:txBody>
      </p:sp>
      <p:sp>
        <p:nvSpPr>
          <p:cNvPr id="27" name="Text 24"/>
          <p:cNvSpPr/>
          <p:nvPr/>
        </p:nvSpPr>
        <p:spPr>
          <a:xfrm>
            <a:off x="9358884"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enforced mechanically by an import-linter contract</a:t>
            </a:r>
            <a:endParaRPr lang="en-US" sz="980" dirty="0"/>
          </a:p>
        </p:txBody>
      </p:sp>
      <p:sp>
        <p:nvSpPr>
          <p:cNvPr id="28" name="Text 25"/>
          <p:cNvSpPr/>
          <p:nvPr/>
        </p:nvSpPr>
        <p:spPr>
          <a:xfrm>
            <a:off x="502920" y="5486400"/>
            <a:ext cx="11155680" cy="274320"/>
          </a:xfrm>
          <a:prstGeom prst="rect">
            <a:avLst/>
          </a:prstGeom>
          <a:noFill/>
          <a:ln/>
        </p:spPr>
        <p:txBody>
          <a:bodyPr wrap="square" rtlCol="0" anchor="ctr"/>
          <a:lstStyle/>
          <a:p>
            <a:pPr indent="0" marL="0">
              <a:buNone/>
            </a:pPr>
            <a:r>
              <a:rPr lang="en-US" sz="900" i="1" dirty="0">
                <a:solidFill>
                  <a:srgbClr val="8A96A6"/>
                </a:solidFill>
                <a:latin typeface="Calibri" pitchFamily="34" charset="0"/>
                <a:ea typeface="Calibri" pitchFamily="34" charset="-122"/>
                <a:cs typeface="Calibri" pitchFamily="34" charset="-120"/>
              </a:rPr>
              <a:t>Course benchmark table: notebook_v1 export vs lab1-solution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1 — Refactor the Notebook into a Clean Package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1 — إعادة هيكلة الدفتر إلى حزمة نظيفة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27</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1</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50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Run the smelly notebook (5 min)  </a:t>
            </a:r>
            <a:pPr indent="0" marL="0">
              <a:buNone/>
            </a:pPr>
            <a:r>
              <a:rPr lang="en-US" sz="1000" dirty="0">
                <a:solidFill>
                  <a:srgbClr val="5F6B7A"/>
                </a:solidFill>
                <a:latin typeface="Calibri" pitchFamily="34" charset="0"/>
                <a:ea typeface="Calibri" pitchFamily="34" charset="-122"/>
                <a:cs typeface="Calibri" pitchFamily="34" charset="-120"/>
              </a:rPr>
              <a:t>Top-to-bottom; note the three execution-order traps flagged with # SMELL comments</a:t>
            </a:r>
            <a:endParaRPr lang="en-US" sz="1050" dirty="0"/>
          </a:p>
        </p:txBody>
      </p:sp>
      <p:sp>
        <p:nvSpPr>
          <p:cNvPr id="12" name="Text 9"/>
          <p:cNvSpPr/>
          <p:nvPr/>
        </p:nvSpPr>
        <p:spPr>
          <a:xfrm>
            <a:off x="502920" y="273100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71272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Create the skeleton (10 min)  </a:t>
            </a:r>
            <a:pPr indent="0" marL="0">
              <a:buNone/>
            </a:pPr>
            <a:r>
              <a:rPr lang="en-US" sz="1000" dirty="0">
                <a:solidFill>
                  <a:srgbClr val="5F6B7A"/>
                </a:solidFill>
                <a:latin typeface="Calibri" pitchFamily="34" charset="0"/>
                <a:ea typeface="Calibri" pitchFamily="34" charset="-122"/>
                <a:cs typeface="Calibri" pitchFamily="34" charset="-120"/>
              </a:rPr>
              <a:t>pyproject.toml (Python ≥3.12; pydantic, pandas, scikit-learn, joblib) + src/fraud_service/ layers</a:t>
            </a:r>
            <a:endParaRPr lang="en-US" sz="1050" dirty="0"/>
          </a:p>
        </p:txBody>
      </p:sp>
      <p:sp>
        <p:nvSpPr>
          <p:cNvPr id="14" name="Text 11"/>
          <p:cNvSpPr/>
          <p:nvPr/>
        </p:nvSpPr>
        <p:spPr>
          <a:xfrm>
            <a:off x="502920" y="343204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41376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Move code to layers (15 min)  </a:t>
            </a:r>
            <a:pPr indent="0" marL="0">
              <a:buNone/>
            </a:pPr>
            <a:r>
              <a:rPr lang="en-US" sz="1000" dirty="0">
                <a:solidFill>
                  <a:srgbClr val="5F6B7A"/>
                </a:solidFill>
                <a:latin typeface="Calibri" pitchFamily="34" charset="0"/>
                <a:ea typeface="Calibri" pitchFamily="34" charset="-122"/>
                <a:cs typeface="Calibri" pitchFamily="34" charset="-120"/>
              </a:rPr>
              <a:t>entities + to_features() → domain; thresholds → policies; orchestration → scorer vs Model protocol</a:t>
            </a:r>
            <a:endParaRPr lang="en-US" sz="1050" dirty="0"/>
          </a:p>
        </p:txBody>
      </p:sp>
      <p:sp>
        <p:nvSpPr>
          <p:cNvPr id="16" name="Text 13"/>
          <p:cNvSpPr/>
          <p:nvPr/>
        </p:nvSpPr>
        <p:spPr>
          <a:xfrm>
            <a:off x="502920" y="413308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11480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Write batch.py (10 min)  </a:t>
            </a:r>
            <a:pPr indent="0" marL="0">
              <a:buNone/>
            </a:pPr>
            <a:r>
              <a:rPr lang="en-US" sz="1000" dirty="0">
                <a:solidFill>
                  <a:srgbClr val="5F6B7A"/>
                </a:solidFill>
                <a:latin typeface="Calibri" pitchFamily="34" charset="0"/>
                <a:ea typeface="Calibri" pitchFamily="34" charset="-122"/>
                <a:cs typeface="Calibri" pitchFamily="34" charset="-120"/>
              </a:rPr>
              <a:t>Read transactions_sample.csv, score each row, write scored.csv — wire concretes ONLY here</a:t>
            </a:r>
            <a:endParaRPr lang="en-US" sz="1050" dirty="0"/>
          </a:p>
        </p:txBody>
      </p:sp>
      <p:sp>
        <p:nvSpPr>
          <p:cNvPr id="18" name="Text 15"/>
          <p:cNvSpPr/>
          <p:nvPr/>
        </p:nvSpPr>
        <p:spPr>
          <a:xfrm>
            <a:off x="502920" y="483412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481584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Makefile + run (5 min)  </a:t>
            </a:r>
            <a:pPr indent="0" marL="0">
              <a:buNone/>
            </a:pPr>
            <a:r>
              <a:rPr lang="en-US" sz="1000" dirty="0">
                <a:solidFill>
                  <a:srgbClr val="5F6B7A"/>
                </a:solidFill>
                <a:latin typeface="Calibri" pitchFamily="34" charset="0"/>
                <a:ea typeface="Calibri" pitchFamily="34" charset="-122"/>
                <a:cs typeface="Calibri" pitchFamily="34" charset="-120"/>
              </a:rPr>
              <a:t>Targets install, run-batch, lint (ruff); then make run-batch</a:t>
            </a:r>
            <a:endParaRPr lang="en-US" sz="1050" dirty="0"/>
          </a:p>
        </p:txBody>
      </p:sp>
      <p:sp>
        <p:nvSpPr>
          <p:cNvPr id="20" name="Text 17"/>
          <p:cNvSpPr/>
          <p:nvPr/>
        </p:nvSpPr>
        <p:spPr>
          <a:xfrm>
            <a:off x="502920" y="55351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1" name="Text 18"/>
          <p:cNvSpPr/>
          <p:nvPr/>
        </p:nvSpPr>
        <p:spPr>
          <a:xfrm>
            <a:off x="914400" y="55168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Commit (5 min)  </a:t>
            </a:r>
            <a:pPr indent="0" marL="0">
              <a:buNone/>
            </a:pPr>
            <a:r>
              <a:rPr lang="en-US" sz="1000" dirty="0">
                <a:solidFill>
                  <a:srgbClr val="5F6B7A"/>
                </a:solidFill>
                <a:latin typeface="Calibri" pitchFamily="34" charset="0"/>
                <a:ea typeface="Calibri" pitchFamily="34" charset="-122"/>
                <a:cs typeface="Calibri" pitchFamily="34" charset="-120"/>
              </a:rPr>
              <a:t>git commit -m "refactor: extract clean architecture layers from notebook"</a:t>
            </a:r>
            <a:endParaRPr lang="en-US" sz="1050" dirty="0"/>
          </a:p>
        </p:txBody>
      </p:sp>
      <p:sp>
        <p:nvSpPr>
          <p:cNvPr id="22" name="Shape 19"/>
          <p:cNvSpPr/>
          <p:nvPr/>
        </p:nvSpPr>
        <p:spPr>
          <a:xfrm>
            <a:off x="7269480" y="2011680"/>
            <a:ext cx="4416552" cy="1417320"/>
          </a:xfrm>
          <a:prstGeom prst="roundRect">
            <a:avLst>
              <a:gd name="adj" fmla="val 4516"/>
            </a:avLst>
          </a:prstGeom>
          <a:solidFill>
            <a:srgbClr val="D4F1EE"/>
          </a:solidFill>
          <a:ln/>
        </p:spPr>
      </p:sp>
      <p:sp>
        <p:nvSpPr>
          <p:cNvPr id="23" name="Text 20"/>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4" name="Text 21"/>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make run-batch → Loaded model fraud_xgb v3.2.0 in 0.41s · Scored 5,000 transactions → scored.csv (block: 37, review: 214, allow: 4749) · ruff clean</a:t>
            </a:r>
            <a:endParaRPr lang="en-US" sz="1030" dirty="0"/>
          </a:p>
        </p:txBody>
      </p:sp>
      <p:sp>
        <p:nvSpPr>
          <p:cNvPr id="25" name="Shape 22"/>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6" name="Text 23"/>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7" name="Text 24"/>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ModuleNotFoundError: fraud_service → pip install -e . and check src-layout config. Different scores vs notebook → diff to_features() on 5 sample rows.</a:t>
            </a:r>
            <a:endParaRPr lang="en-US" sz="1000" dirty="0"/>
          </a:p>
        </p:txBody>
      </p:sp>
      <p:sp>
        <p:nvSpPr>
          <p:cNvPr id="28" name="Shape 25"/>
          <p:cNvSpPr/>
          <p:nvPr/>
        </p:nvSpPr>
        <p:spPr>
          <a:xfrm>
            <a:off x="7269480" y="5166360"/>
            <a:ext cx="4416552" cy="1051560"/>
          </a:xfrm>
          <a:prstGeom prst="roundRect">
            <a:avLst>
              <a:gd name="adj" fmla="val 6087"/>
            </a:avLst>
          </a:prstGeom>
          <a:solidFill>
            <a:srgbClr val="FDEBD7"/>
          </a:solidFill>
          <a:ln/>
        </p:spPr>
      </p:sp>
      <p:sp>
        <p:nvSpPr>
          <p:cNvPr id="29" name="Text 26"/>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Fast finishers: add a ConstantModel test double and a first unit test — a perfect bridge to Module 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1 — Mini Exercises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الأولى — تمارين قصيرة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28</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Quick quiz (5 questions)</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Which imports are legal under the dependency rule; why src-layout; where joblib may be imported; what belongs in the composition root; pydantic-in-domain true/false.</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Debugging: break the cycle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branch where entities.py imports SklearnModel for a type hint — circular import. Fix options: TYPE_CHECKING guard vs a protocol in the service layer.</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 review: the god file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review_me_module1.py — a 180-line PR. Each pair writes ≥5 review comments, then compares against the instructor model review in the solutions repo.</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Discussion questions</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"Layering slows experimentation" — propose a hybrid workflow. Should the fraud threshold live in code, config, or database — and what changes the answer?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Recommendation Monolith at SouqPlus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نظام التوصيات في سوق بلس</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29</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E-commerce · Riyadh</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SouqPlus runs a product-recommendation engine built by a departed contractor: one 2,400-line module — Flask + pandas + LightGBM + Redis calls interleaved. Recommendations drive 23% of revenue. White Friday is 10 weeks away.</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603504"/>
          </a:xfrm>
          <a:prstGeom prst="line">
            <a:avLst/>
          </a:prstGeom>
          <a:noFill/>
          <a:ln w="19050">
            <a:solidFill>
              <a:srgbClr val="D9E4F5"/>
            </a:solidFill>
            <a:prstDash val="solid"/>
          </a:ln>
        </p:spPr>
      </p:sp>
      <p:sp>
        <p:nvSpPr>
          <p:cNvPr id="13" name="Text 10"/>
          <p:cNvSpPr/>
          <p:nvPr/>
        </p:nvSpPr>
        <p:spPr>
          <a:xfrm>
            <a:off x="960120" y="295351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Redis timeout kills the whole API  </a:t>
            </a:r>
            <a:pPr indent="0" marL="0">
              <a:buNone/>
            </a:pPr>
            <a:r>
              <a:rPr lang="en-US" sz="1000" dirty="0">
                <a:solidFill>
                  <a:srgbClr val="5F6B7A"/>
                </a:solidFill>
                <a:latin typeface="Calibri" pitchFamily="34" charset="0"/>
                <a:ea typeface="Calibri" pitchFamily="34" charset="-122"/>
                <a:cs typeface="Calibri" pitchFamily="34" charset="-120"/>
              </a:rPr>
              <a:t>No separation between cache adapter and scoring logic — one dependency, full outage</a:t>
            </a:r>
            <a:endParaRPr lang="en-US" sz="1050" dirty="0"/>
          </a:p>
        </p:txBody>
      </p:sp>
      <p:sp>
        <p:nvSpPr>
          <p:cNvPr id="14" name="Shape 11"/>
          <p:cNvSpPr/>
          <p:nvPr/>
        </p:nvSpPr>
        <p:spPr>
          <a:xfrm>
            <a:off x="566928" y="3849624"/>
            <a:ext cx="182880" cy="182880"/>
          </a:xfrm>
          <a:prstGeom prst="ellipse">
            <a:avLst/>
          </a:prstGeom>
          <a:solidFill>
            <a:srgbClr val="29ABE2"/>
          </a:solidFill>
          <a:ln/>
        </p:spPr>
      </p:sp>
      <p:sp>
        <p:nvSpPr>
          <p:cNvPr id="15" name="Shape 12"/>
          <p:cNvSpPr/>
          <p:nvPr/>
        </p:nvSpPr>
        <p:spPr>
          <a:xfrm>
            <a:off x="658368" y="4050792"/>
            <a:ext cx="0" cy="603504"/>
          </a:xfrm>
          <a:prstGeom prst="line">
            <a:avLst/>
          </a:prstGeom>
          <a:noFill/>
          <a:ln w="19050">
            <a:solidFill>
              <a:srgbClr val="D9E4F5"/>
            </a:solidFill>
            <a:prstDash val="solid"/>
          </a:ln>
        </p:spPr>
      </p:sp>
      <p:sp>
        <p:nvSpPr>
          <p:cNvPr id="16" name="Text 13"/>
          <p:cNvSpPr/>
          <p:nvPr/>
        </p:nvSpPr>
        <p:spPr>
          <a:xfrm>
            <a:off x="960120" y="377647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Emergency model swap takes 9 days  </a:t>
            </a:r>
            <a:pPr indent="0" marL="0">
              <a:buNone/>
            </a:pPr>
            <a:r>
              <a:rPr lang="en-US" sz="1000" dirty="0">
                <a:solidFill>
                  <a:srgbClr val="5F6B7A"/>
                </a:solidFill>
                <a:latin typeface="Calibri" pitchFamily="34" charset="0"/>
                <a:ea typeface="Calibri" pitchFamily="34" charset="-122"/>
                <a:cs typeface="Calibri" pitchFamily="34" charset="-120"/>
              </a:rPr>
              <a:t>Retraining code and serving code disagreed on 4 of 61 features</a:t>
            </a:r>
            <a:endParaRPr lang="en-US" sz="1050" dirty="0"/>
          </a:p>
        </p:txBody>
      </p:sp>
      <p:sp>
        <p:nvSpPr>
          <p:cNvPr id="17" name="Shape 14"/>
          <p:cNvSpPr/>
          <p:nvPr/>
        </p:nvSpPr>
        <p:spPr>
          <a:xfrm>
            <a:off x="566928" y="4672584"/>
            <a:ext cx="182880" cy="182880"/>
          </a:xfrm>
          <a:prstGeom prst="ellipse">
            <a:avLst/>
          </a:prstGeom>
          <a:solidFill>
            <a:srgbClr val="F58220"/>
          </a:solidFill>
          <a:ln/>
        </p:spPr>
      </p:sp>
      <p:sp>
        <p:nvSpPr>
          <p:cNvPr id="18" name="Shape 15"/>
          <p:cNvSpPr/>
          <p:nvPr/>
        </p:nvSpPr>
        <p:spPr>
          <a:xfrm>
            <a:off x="658368" y="4873752"/>
            <a:ext cx="0" cy="603504"/>
          </a:xfrm>
          <a:prstGeom prst="line">
            <a:avLst/>
          </a:prstGeom>
          <a:noFill/>
          <a:ln w="19050">
            <a:solidFill>
              <a:srgbClr val="D9E4F5"/>
            </a:solidFill>
            <a:prstDash val="solid"/>
          </a:ln>
        </p:spPr>
      </p:sp>
      <p:sp>
        <p:nvSpPr>
          <p:cNvPr id="19" name="Text 16"/>
          <p:cNvSpPr/>
          <p:nvPr/>
        </p:nvSpPr>
        <p:spPr>
          <a:xfrm>
            <a:off x="960120" y="459943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Constraints land  </a:t>
            </a:r>
            <a:pPr indent="0" marL="0">
              <a:buNone/>
            </a:pPr>
            <a:r>
              <a:rPr lang="en-US" sz="1000" dirty="0">
                <a:solidFill>
                  <a:srgbClr val="5F6B7A"/>
                </a:solidFill>
                <a:latin typeface="Calibri" pitchFamily="34" charset="0"/>
                <a:ea typeface="Calibri" pitchFamily="34" charset="-122"/>
                <a:cs typeface="Calibri" pitchFamily="34" charset="-120"/>
              </a:rPr>
              <a:t>Two engineers · zero downtime in Ramadan-season traffic · no retraining (6-week risk sign-off)</a:t>
            </a:r>
            <a:endParaRPr lang="en-US" sz="1050" dirty="0"/>
          </a:p>
        </p:txBody>
      </p:sp>
      <p:sp>
        <p:nvSpPr>
          <p:cNvPr id="20" name="Shape 17"/>
          <p:cNvSpPr/>
          <p:nvPr/>
        </p:nvSpPr>
        <p:spPr>
          <a:xfrm>
            <a:off x="566928" y="5495544"/>
            <a:ext cx="182880" cy="182880"/>
          </a:xfrm>
          <a:prstGeom prst="ellipse">
            <a:avLst/>
          </a:prstGeom>
          <a:solidFill>
            <a:srgbClr val="8DC63F"/>
          </a:solidFill>
          <a:ln/>
        </p:spPr>
      </p:sp>
      <p:sp>
        <p:nvSpPr>
          <p:cNvPr id="21" name="Text 18"/>
          <p:cNvSpPr/>
          <p:nvPr/>
        </p:nvSpPr>
        <p:spPr>
          <a:xfrm>
            <a:off x="960120" y="542239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Strangler-fig refactor, step by step  </a:t>
            </a:r>
            <a:pPr indent="0" marL="0">
              <a:buNone/>
            </a:pPr>
            <a:r>
              <a:rPr lang="en-US" sz="1000" dirty="0">
                <a:solidFill>
                  <a:srgbClr val="5F6B7A"/>
                </a:solidFill>
                <a:latin typeface="Calibri" pitchFamily="34" charset="0"/>
                <a:ea typeface="Calibri" pitchFamily="34" charset="-122"/>
                <a:cs typeface="Calibri" pitchFamily="34" charset="-120"/>
              </a:rPr>
              <a:t>Characterisation tests → shared feature module → Model protocol → Redis behind FeatureRepo → split API</a:t>
            </a:r>
            <a:endParaRPr lang="en-US" sz="1050" dirty="0"/>
          </a:p>
        </p:txBody>
      </p:sp>
      <p:sp>
        <p:nvSpPr>
          <p:cNvPr id="22" name="Shape 19"/>
          <p:cNvSpPr/>
          <p:nvPr/>
        </p:nvSpPr>
        <p:spPr>
          <a:xfrm>
            <a:off x="7406640" y="1938528"/>
            <a:ext cx="4279392" cy="4160520"/>
          </a:xfrm>
          <a:prstGeom prst="roundRect">
            <a:avLst>
              <a:gd name="adj" fmla="val 1538"/>
            </a:avLst>
          </a:prstGeom>
          <a:solidFill>
            <a:srgbClr val="EAF4DC"/>
          </a:solidFill>
          <a:ln/>
        </p:spPr>
      </p:sp>
      <p:sp>
        <p:nvSpPr>
          <p:cNvPr id="23" name="Text 20"/>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4" name="Text 21"/>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Characterisation tests must precede any code movement — lock current behaviour first</a:t>
            </a:r>
            <a:endParaRPr lang="en-US" sz="1000" dirty="0"/>
          </a:p>
        </p:txBody>
      </p:sp>
      <p:sp>
        <p:nvSpPr>
          <p:cNvPr id="26" name="Text 23"/>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The feature-module extraction buys the most risk reduction per engineering day</a:t>
            </a:r>
            <a:endParaRPr lang="en-US" sz="1000" dirty="0"/>
          </a:p>
        </p:txBody>
      </p:sp>
      <p:sp>
        <p:nvSpPr>
          <p:cNvPr id="28" name="Text 25"/>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9" name="Text 26"/>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Each step ships independently behind the existing endpoints — no freeze, no big-bang rewrite</a:t>
            </a:r>
            <a:endParaRPr lang="en-US" sz="1000" dirty="0"/>
          </a:p>
        </p:txBody>
      </p:sp>
      <p:sp>
        <p:nvSpPr>
          <p:cNvPr id="30" name="Text 27"/>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1" name="Text 28"/>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Golden-file tests prove Arabic + English metadata stays byte-exact through the refactor</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1 — Check Your Understanding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الأولى — اختبر فهمك</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30</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Which import is legal under the dependency rule?</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domain → sklearn</a:t>
            </a:r>
            <a:endParaRPr lang="en-US" sz="1050" dirty="0"/>
          </a:p>
        </p:txBody>
      </p:sp>
      <p:sp>
        <p:nvSpPr>
          <p:cNvPr id="13" name="Shape 10"/>
          <p:cNvSpPr/>
          <p:nvPr/>
        </p:nvSpPr>
        <p:spPr>
          <a:xfrm>
            <a:off x="502920" y="3447288"/>
            <a:ext cx="5440680" cy="548640"/>
          </a:xfrm>
          <a:prstGeom prst="roundRect">
            <a:avLst>
              <a:gd name="adj" fmla="val 10000"/>
            </a:avLst>
          </a:prstGeom>
          <a:solidFill>
            <a:srgbClr val="FFFFFF"/>
          </a:solidFill>
          <a:ln w="9525">
            <a:solidFill>
              <a:srgbClr val="D9E4F5"/>
            </a:solidFill>
            <a:prstDash val="solid"/>
          </a:ln>
        </p:spPr>
      </p:sp>
      <p:sp>
        <p:nvSpPr>
          <p:cNvPr id="14" name="Text 11"/>
          <p:cNvSpPr/>
          <p:nvPr/>
        </p:nvSpPr>
        <p:spPr>
          <a:xfrm>
            <a:off x="612648" y="3566160"/>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service → FastAPI</a:t>
            </a:r>
            <a:endParaRPr lang="en-US" sz="1050" dirty="0"/>
          </a:p>
        </p:txBody>
      </p:sp>
      <p:sp>
        <p:nvSpPr>
          <p:cNvPr id="16" name="Shape 13"/>
          <p:cNvSpPr/>
          <p:nvPr/>
        </p:nvSpPr>
        <p:spPr>
          <a:xfrm>
            <a:off x="502920" y="4105656"/>
            <a:ext cx="5440680" cy="548640"/>
          </a:xfrm>
          <a:prstGeom prst="roundRect">
            <a:avLst>
              <a:gd name="adj" fmla="val 10000"/>
            </a:avLst>
          </a:prstGeom>
          <a:solidFill>
            <a:srgbClr val="D4F1EE"/>
          </a:solidFill>
          <a:ln w="19050">
            <a:solidFill>
              <a:srgbClr val="00A79D"/>
            </a:solidFill>
            <a:prstDash val="solid"/>
          </a:ln>
        </p:spPr>
      </p:sp>
      <p:sp>
        <p:nvSpPr>
          <p:cNvPr id="17" name="Text 14"/>
          <p:cNvSpPr/>
          <p:nvPr/>
        </p:nvSpPr>
        <p:spPr>
          <a:xfrm>
            <a:off x="612648" y="4224528"/>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adapters → service interfaces   ✓</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domain → adapters</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Adapters implement the interfaces the service layer defines. Every other option makes an inner layer depend outward.</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Why does the course mandate src-layout?</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It makes import paths shorter</a:t>
            </a:r>
            <a:endParaRPr lang="en-US" sz="1050" dirty="0"/>
          </a:p>
        </p:txBody>
      </p:sp>
      <p:sp>
        <p:nvSpPr>
          <p:cNvPr id="27" name="Shape 24"/>
          <p:cNvSpPr/>
          <p:nvPr/>
        </p:nvSpPr>
        <p:spPr>
          <a:xfrm>
            <a:off x="6245352" y="3447288"/>
            <a:ext cx="5440680" cy="548640"/>
          </a:xfrm>
          <a:prstGeom prst="roundRect">
            <a:avLst>
              <a:gd name="adj" fmla="val 10000"/>
            </a:avLst>
          </a:prstGeom>
          <a:solidFill>
            <a:srgbClr val="D4F1EE"/>
          </a:solidFill>
          <a:ln w="19050">
            <a:solidFill>
              <a:srgbClr val="00A79D"/>
            </a:solidFill>
            <a:prstDash val="solid"/>
          </a:ln>
        </p:spPr>
      </p:sp>
      <p:sp>
        <p:nvSpPr>
          <p:cNvPr id="28" name="Text 25"/>
          <p:cNvSpPr/>
          <p:nvPr/>
        </p:nvSpPr>
        <p:spPr>
          <a:xfrm>
            <a:off x="6355080"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Tests run against the installed package — same path as CI and Docker   ✓</a:t>
            </a:r>
            <a:endParaRPr lang="en-US" sz="1050" dirty="0"/>
          </a:p>
        </p:txBody>
      </p:sp>
      <p:sp>
        <p:nvSpPr>
          <p:cNvPr id="30" name="Shape 27"/>
          <p:cNvSpPr/>
          <p:nvPr/>
        </p:nvSpPr>
        <p:spPr>
          <a:xfrm>
            <a:off x="6245352" y="4105656"/>
            <a:ext cx="5440680" cy="548640"/>
          </a:xfrm>
          <a:prstGeom prst="roundRect">
            <a:avLst>
              <a:gd name="adj" fmla="val 10000"/>
            </a:avLst>
          </a:prstGeom>
          <a:solidFill>
            <a:srgbClr val="FFFFFF"/>
          </a:solidFill>
          <a:ln w="9525">
            <a:solidFill>
              <a:srgbClr val="D9E4F5"/>
            </a:solidFill>
            <a:prstDash val="solid"/>
          </a:ln>
        </p:spPr>
      </p:sp>
      <p:sp>
        <p:nvSpPr>
          <p:cNvPr id="31" name="Text 28"/>
          <p:cNvSpPr/>
          <p:nvPr/>
        </p:nvSpPr>
        <p:spPr>
          <a:xfrm>
            <a:off x="6355080"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FastAPI requires it</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It makes joblib loading faster</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src-layout eliminates "works from repo root" bugs by forcing the installed-package import path everywhere.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1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Make the model a replaceable component behind a stable interface — everything else depends on that.</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Swap XGBoost for PyTorch by changing one adapter file. That is the difference between this course and a FastAPI tutorial.</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1 · MODULE 2</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APIs for Model Serving with FastAPI</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واجهات برمجة التطبيقات لخدمة النماذج مع FastAPI</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prediction contract</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Resource design, status-code discipline, one error envelope</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pydantic as the API firewall</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Validate in, validate out — schemas stay separate from entities</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Lifecycle, health, versioning</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Lifespan loading, warm-up, liveness vs readiness, /v1 evolution</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2 — Build &amp; harden the API</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/v1/predict + /health + /ready, then load-test with hey</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2 hours (H4–H5, Part B in Day 2 H1) · lecture + guided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2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 الوحدة الثانية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33</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Design a prediction API contract: nouns, verbs, status codes, error envelope</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 · LO5</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Implement strict request/response validation with pydantic v2</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 · LO5</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Manage model lifecycle with FastAPI lifespan + dependency injection</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 · LO2</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Distinguish liveness from readiness and implement both</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LO1</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Version an API and evolve a schema without breaking consumers</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Expected competency: a FastAPI service with lifespan model loading, DI, correct codes, health semantics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Anatomy of One Prediction Request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تشريح طلب تنبؤ واحد</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34</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Middleware</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Assigns X-Trace-Id, starts the latency clock</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pydantic wall</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Schema violations exit here as 422 with field-level errors — before any model code runs</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DI provider</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get_scorer() hands the route a ready FraudScorer — or raises 503 + Retry-After</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Scorer → adapter</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Module 1 orchestration: featurise, predict through the protocol, apply policy</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Response</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PredictResponse envelope + X-Trace-Id and X-Response-Time-Ms headers</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Validation is a firewall: the 422 exits BEFORE the scorer. Most "model bugs" in production are actually unvalidated input.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Designing the Prediction Contract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تصميم عقد التنبؤ</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35</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POST /v1/predict — a prediction is created</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POST because scoring is neither safe nor idempotent-by-URL; the request body is the resource being created.</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Batch variant with an explicit cap</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POST /v1/predictions:batch accepting up to N items — decide N (e.g. 256) and document it. Unbounded batch endpoints are self-inflicted DoS.</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Sync vs async: a decision rule</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Inference p99 under ~1 s → synchronous. Longer (LLMs, video) → 202 Accepted + a job resource (GET /v1/jobs/{id}), or stream.</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One error envelope</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{"error": {code, message, trace_id}}</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One shape everywhere</a:t>
            </a:r>
            <a:endParaRPr lang="en-US" sz="950" dirty="0"/>
          </a:p>
        </p:txBody>
      </p:sp>
      <p:sp>
        <p:nvSpPr>
          <p:cNvPr id="22" name="Shape 19"/>
          <p:cNvSpPr/>
          <p:nvPr/>
        </p:nvSpPr>
        <p:spPr>
          <a:xfrm rot="2700000">
            <a:off x="6556248" y="3113532"/>
            <a:ext cx="128016" cy="128016"/>
          </a:xfrm>
          <a:prstGeom prst="rect">
            <a:avLst/>
          </a:prstGeom>
          <a:solidFill>
            <a:srgbClr val="29ABE2"/>
          </a:solidFill>
          <a:ln/>
        </p:spPr>
      </p:sp>
      <p:sp>
        <p:nvSpPr>
          <p:cNvPr id="23" name="Text 20"/>
          <p:cNvSpPr/>
          <p:nvPr/>
        </p:nvSpPr>
        <p:spPr>
          <a:xfrm>
            <a:off x="6812280" y="30220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code = machine contract</a:t>
            </a:r>
            <a:endParaRPr lang="en-US" sz="1100" dirty="0"/>
          </a:p>
        </p:txBody>
      </p:sp>
      <p:sp>
        <p:nvSpPr>
          <p:cNvPr id="24" name="Text 21"/>
          <p:cNvSpPr/>
          <p:nvPr/>
        </p:nvSpPr>
        <p:spPr>
          <a:xfrm>
            <a:off x="6812280" y="32872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Stable; consumers switch on it</a:t>
            </a:r>
            <a:endParaRPr lang="en-US" sz="950" dirty="0"/>
          </a:p>
        </p:txBody>
      </p:sp>
      <p:sp>
        <p:nvSpPr>
          <p:cNvPr id="25" name="Shape 22"/>
          <p:cNvSpPr/>
          <p:nvPr/>
        </p:nvSpPr>
        <p:spPr>
          <a:xfrm rot="2700000">
            <a:off x="6556248" y="4096512"/>
            <a:ext cx="128016" cy="128016"/>
          </a:xfrm>
          <a:prstGeom prst="rect">
            <a:avLst/>
          </a:prstGeom>
          <a:solidFill>
            <a:srgbClr val="F58220"/>
          </a:solidFill>
          <a:ln/>
        </p:spPr>
      </p:sp>
      <p:sp>
        <p:nvSpPr>
          <p:cNvPr id="26" name="Text 23"/>
          <p:cNvSpPr/>
          <p:nvPr/>
        </p:nvSpPr>
        <p:spPr>
          <a:xfrm>
            <a:off x="6812280" y="400507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message = for humans</a:t>
            </a:r>
            <a:endParaRPr lang="en-US" sz="1100" dirty="0"/>
          </a:p>
        </p:txBody>
      </p:sp>
      <p:sp>
        <p:nvSpPr>
          <p:cNvPr id="27" name="Text 24"/>
          <p:cNvSpPr/>
          <p:nvPr/>
        </p:nvSpPr>
        <p:spPr>
          <a:xfrm>
            <a:off x="6812280" y="427024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May change without notice</a:t>
            </a:r>
            <a:endParaRPr lang="en-US" sz="950" dirty="0"/>
          </a:p>
        </p:txBody>
      </p:sp>
      <p:sp>
        <p:nvSpPr>
          <p:cNvPr id="28" name="Shape 25"/>
          <p:cNvSpPr/>
          <p:nvPr/>
        </p:nvSpPr>
        <p:spPr>
          <a:xfrm rot="2700000">
            <a:off x="6556248" y="5079492"/>
            <a:ext cx="128016" cy="128016"/>
          </a:xfrm>
          <a:prstGeom prst="rect">
            <a:avLst/>
          </a:prstGeom>
          <a:solidFill>
            <a:srgbClr val="8DC63F"/>
          </a:solidFill>
          <a:ln/>
        </p:spPr>
      </p:sp>
      <p:sp>
        <p:nvSpPr>
          <p:cNvPr id="29" name="Text 26"/>
          <p:cNvSpPr/>
          <p:nvPr/>
        </p:nvSpPr>
        <p:spPr>
          <a:xfrm>
            <a:off x="6812280" y="49880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One handler, not five</a:t>
            </a:r>
            <a:endParaRPr lang="en-US" sz="1100" dirty="0"/>
          </a:p>
        </p:txBody>
      </p:sp>
      <p:sp>
        <p:nvSpPr>
          <p:cNvPr id="30" name="Text 27"/>
          <p:cNvSpPr/>
          <p:nvPr/>
        </p:nvSpPr>
        <p:spPr>
          <a:xfrm>
            <a:off x="6812280" y="52532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Consumers write a single error handler</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Status-Code Discipline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انضباط رموز الحالة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36</a:t>
            </a:r>
            <a:endParaRPr lang="en-US" sz="8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Situation</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Body</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Valid request, scored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Prediction envelope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Malformed JSON / schema violation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422 (FastAPI default)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Field-level errors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Semantically invalid (unsupported currency)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Error envelope with code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Model not loaded / dependency down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503 + Retry-After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Error envelope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Inference exception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500 — never leak stack trace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Error envelope with trace_id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Too many items in batch</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413</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Error envelope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Participants memorise this table — it comes back in the mini-exercise quiz and Lab 2 Part A.</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pydantic v2 as the API Firewall</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pydantic كجدار حماية للواجهة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37</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VALIDATE IN</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Constrained types</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Field(gt=0), StrEnum, length limits reject garbage before it reaches the model. Most "model bugs" in production are actually unvalidated input.</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REJECT LOUDLY</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extra="forbid"</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Unknown fields are typos or probing. True story: a client sent amount_sr instead of amount_sar for three weeks while the model quietly scored a default value.</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VALIDATE OUT</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Declared response models</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response_model=PredictResponse guarantees you never leak internal fields — raw feature values, file paths — and freezes the contract consumers depend on.</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MODULE 1 RULE</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Schemas ≠ domain entities</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Schemas adapt the wire format; entities carry meaning. Conversion happens in the route — two lines, cheap, decoupling forever.</a:t>
            </a:r>
            <a:endParaRPr lang="en-US" sz="9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Wire Contract — schemas.py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عقد النقل — schemas.py</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38</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src/fraud_service/api/schemas.py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pydantic import BaseModel, ConfigDict, Field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fraud_service.domain.entities import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Channel, Decision, Transaction)</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PredictRequest(BaseModel):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model_config = ConfigDict(extra="forbid")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transaction_id: str = Field(min_length=8, max_length=64)</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amount_sar: float = Field(gt=0, le=1_000_000)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channel: Channel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timestamp: datetime  # + merchant_category, customer_id</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to_domain(self) -&gt; Transaction: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Transaction(**self.model_dump())</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PredictResponse(BaseModel):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transaction_id: str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fraud_probability: float = Field(ge=0, le=1)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 Decision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model_version: str  # + trace_id: str</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extra="forbid"</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Unknown fields → 422, loudly. The amount_sr typo would have been caught on request one, not week three.</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to_domain() — two lines</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The only bridge between wire format and domain entity. Schemas never leak inward.</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Bounded everything</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gt=0, le=1_000_000, length limits — {"amount_sar": -1} must never score successfully.</a:t>
            </a:r>
            <a:endParaRPr lang="en-US" sz="93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Model Lifecycle Inside the App</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دورة حياة النموذج داخل التطبيق</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39</a:t>
            </a:r>
            <a:endParaRPr lang="en-US" sz="850" dirty="0"/>
          </a:p>
        </p:txBody>
      </p:sp>
      <p:sp>
        <p:nvSpPr>
          <p:cNvPr id="8" name="Shape 5"/>
          <p:cNvSpPr/>
          <p:nvPr/>
        </p:nvSpPr>
        <p:spPr>
          <a:xfrm>
            <a:off x="3886200" y="2217420"/>
            <a:ext cx="1435608" cy="0"/>
          </a:xfrm>
          <a:prstGeom prst="line">
            <a:avLst/>
          </a:prstGeom>
          <a:noFill/>
          <a:ln w="19050">
            <a:solidFill>
              <a:srgbClr val="D9E4F5"/>
            </a:solidFill>
            <a:prstDash val="dash"/>
          </a:ln>
        </p:spPr>
      </p:sp>
      <p:sp>
        <p:nvSpPr>
          <p:cNvPr id="9" name="Shape 6"/>
          <p:cNvSpPr/>
          <p:nvPr/>
        </p:nvSpPr>
        <p:spPr>
          <a:xfrm>
            <a:off x="594360" y="1600200"/>
            <a:ext cx="3291840" cy="1234440"/>
          </a:xfrm>
          <a:prstGeom prst="roundRect">
            <a:avLst>
              <a:gd name="adj" fmla="val 5185"/>
            </a:avLst>
          </a:prstGeom>
          <a:solidFill>
            <a:srgbClr val="D4F1EE"/>
          </a:solidFill>
          <a:ln/>
        </p:spPr>
      </p:sp>
      <p:sp>
        <p:nvSpPr>
          <p:cNvPr id="10" name="Text 7"/>
          <p:cNvSpPr/>
          <p:nvPr/>
        </p:nvSpPr>
        <p:spPr>
          <a:xfrm>
            <a:off x="74066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Load once, share safely</a:t>
            </a:r>
            <a:endParaRPr lang="en-US" sz="1200" dirty="0"/>
          </a:p>
        </p:txBody>
      </p:sp>
      <p:sp>
        <p:nvSpPr>
          <p:cNvPr id="11" name="Text 8"/>
          <p:cNvSpPr/>
          <p:nvPr/>
        </p:nvSpPr>
        <p:spPr>
          <a:xfrm>
            <a:off x="74066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Loaded in lifespan, stored on app.state; sklearn predict is read-thread-safe</a:t>
            </a:r>
            <a:endParaRPr lang="en-US" sz="950" dirty="0"/>
          </a:p>
        </p:txBody>
      </p:sp>
      <p:sp>
        <p:nvSpPr>
          <p:cNvPr id="12" name="Shape 9"/>
          <p:cNvSpPr/>
          <p:nvPr/>
        </p:nvSpPr>
        <p:spPr>
          <a:xfrm>
            <a:off x="3886200" y="4320540"/>
            <a:ext cx="1435608" cy="0"/>
          </a:xfrm>
          <a:prstGeom prst="line">
            <a:avLst/>
          </a:prstGeom>
          <a:noFill/>
          <a:ln w="19050">
            <a:solidFill>
              <a:srgbClr val="D9E4F5"/>
            </a:solidFill>
            <a:prstDash val="dash"/>
          </a:ln>
        </p:spPr>
      </p:sp>
      <p:sp>
        <p:nvSpPr>
          <p:cNvPr id="13" name="Shape 10"/>
          <p:cNvSpPr/>
          <p:nvPr/>
        </p:nvSpPr>
        <p:spPr>
          <a:xfrm>
            <a:off x="594360" y="3703320"/>
            <a:ext cx="3291840" cy="1234440"/>
          </a:xfrm>
          <a:prstGeom prst="roundRect">
            <a:avLst>
              <a:gd name="adj" fmla="val 5185"/>
            </a:avLst>
          </a:prstGeom>
          <a:solidFill>
            <a:srgbClr val="D9F0FA"/>
          </a:solidFill>
          <a:ln/>
        </p:spPr>
      </p:sp>
      <p:sp>
        <p:nvSpPr>
          <p:cNvPr id="14" name="Text 11"/>
          <p:cNvSpPr/>
          <p:nvPr/>
        </p:nvSpPr>
        <p:spPr>
          <a:xfrm>
            <a:off x="74066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Warm-up at startup</a:t>
            </a:r>
            <a:endParaRPr lang="en-US" sz="1200" dirty="0"/>
          </a:p>
        </p:txBody>
      </p:sp>
      <p:sp>
        <p:nvSpPr>
          <p:cNvPr id="15" name="Text 12"/>
          <p:cNvSpPr/>
          <p:nvPr/>
        </p:nvSpPr>
        <p:spPr>
          <a:xfrm>
            <a:off x="74066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One dummy prediction: first-call latency drops ~900 ms → ~12 ms</a:t>
            </a:r>
            <a:endParaRPr lang="en-US" sz="950" dirty="0"/>
          </a:p>
        </p:txBody>
      </p:sp>
      <p:sp>
        <p:nvSpPr>
          <p:cNvPr id="16" name="Shape 13"/>
          <p:cNvSpPr/>
          <p:nvPr/>
        </p:nvSpPr>
        <p:spPr>
          <a:xfrm>
            <a:off x="3886200" y="5737860"/>
            <a:ext cx="1435608" cy="0"/>
          </a:xfrm>
          <a:prstGeom prst="line">
            <a:avLst/>
          </a:prstGeom>
          <a:noFill/>
          <a:ln w="19050">
            <a:solidFill>
              <a:srgbClr val="D9E4F5"/>
            </a:solidFill>
            <a:prstDash val="dash"/>
          </a:ln>
        </p:spPr>
      </p:sp>
      <p:sp>
        <p:nvSpPr>
          <p:cNvPr id="17" name="Shape 14"/>
          <p:cNvSpPr/>
          <p:nvPr/>
        </p:nvSpPr>
        <p:spPr>
          <a:xfrm>
            <a:off x="594360" y="5120640"/>
            <a:ext cx="3291840" cy="1234440"/>
          </a:xfrm>
          <a:prstGeom prst="roundRect">
            <a:avLst>
              <a:gd name="adj" fmla="val 5185"/>
            </a:avLst>
          </a:prstGeom>
          <a:solidFill>
            <a:srgbClr val="FDEBD7"/>
          </a:solidFill>
          <a:ln/>
        </p:spPr>
      </p:sp>
      <p:sp>
        <p:nvSpPr>
          <p:cNvPr id="18" name="Text 15"/>
          <p:cNvSpPr/>
          <p:nvPr/>
        </p:nvSpPr>
        <p:spPr>
          <a:xfrm>
            <a:off x="74066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Fail fast on the artefact</a:t>
            </a:r>
            <a:endParaRPr lang="en-US" sz="1200" dirty="0"/>
          </a:p>
        </p:txBody>
      </p:sp>
      <p:sp>
        <p:nvSpPr>
          <p:cNvPr id="19" name="Text 16"/>
          <p:cNvSpPr/>
          <p:nvPr/>
        </p:nvSpPr>
        <p:spPr>
          <a:xfrm>
            <a:off x="74066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Missing model → crash at startup; orchestrators restart and alert</a:t>
            </a:r>
            <a:endParaRPr lang="en-US" sz="950" dirty="0"/>
          </a:p>
        </p:txBody>
      </p:sp>
      <p:sp>
        <p:nvSpPr>
          <p:cNvPr id="20" name="Shape 17"/>
          <p:cNvSpPr/>
          <p:nvPr/>
        </p:nvSpPr>
        <p:spPr>
          <a:xfrm>
            <a:off x="6858000" y="2217420"/>
            <a:ext cx="1463040" cy="0"/>
          </a:xfrm>
          <a:prstGeom prst="line">
            <a:avLst/>
          </a:prstGeom>
          <a:noFill/>
          <a:ln w="19050">
            <a:solidFill>
              <a:srgbClr val="D9E4F5"/>
            </a:solidFill>
            <a:prstDash val="dash"/>
          </a:ln>
        </p:spPr>
      </p:sp>
      <p:sp>
        <p:nvSpPr>
          <p:cNvPr id="21" name="Shape 18"/>
          <p:cNvSpPr/>
          <p:nvPr/>
        </p:nvSpPr>
        <p:spPr>
          <a:xfrm>
            <a:off x="8321040" y="1600200"/>
            <a:ext cx="3291840" cy="1234440"/>
          </a:xfrm>
          <a:prstGeom prst="roundRect">
            <a:avLst>
              <a:gd name="adj" fmla="val 5185"/>
            </a:avLst>
          </a:prstGeom>
          <a:solidFill>
            <a:srgbClr val="EAF4DC"/>
          </a:solidFill>
          <a:ln/>
        </p:spPr>
      </p:sp>
      <p:sp>
        <p:nvSpPr>
          <p:cNvPr id="22" name="Text 19"/>
          <p:cNvSpPr/>
          <p:nvPr/>
        </p:nvSpPr>
        <p:spPr>
          <a:xfrm>
            <a:off x="846734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Degrade on secondary deps</a:t>
            </a:r>
            <a:endParaRPr lang="en-US" sz="1200" dirty="0"/>
          </a:p>
        </p:txBody>
      </p:sp>
      <p:sp>
        <p:nvSpPr>
          <p:cNvPr id="23" name="Text 20"/>
          <p:cNvSpPr/>
          <p:nvPr/>
        </p:nvSpPr>
        <p:spPr>
          <a:xfrm>
            <a:off x="846734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Enrichment source down → serve with a degraded flag in the response</a:t>
            </a:r>
            <a:endParaRPr lang="en-US" sz="950" dirty="0"/>
          </a:p>
        </p:txBody>
      </p:sp>
      <p:sp>
        <p:nvSpPr>
          <p:cNvPr id="24" name="Shape 21"/>
          <p:cNvSpPr/>
          <p:nvPr/>
        </p:nvSpPr>
        <p:spPr>
          <a:xfrm>
            <a:off x="6858000" y="4320540"/>
            <a:ext cx="1463040" cy="0"/>
          </a:xfrm>
          <a:prstGeom prst="line">
            <a:avLst/>
          </a:prstGeom>
          <a:noFill/>
          <a:ln w="19050">
            <a:solidFill>
              <a:srgbClr val="D9E4F5"/>
            </a:solidFill>
            <a:prstDash val="dash"/>
          </a:ln>
        </p:spPr>
      </p:sp>
      <p:sp>
        <p:nvSpPr>
          <p:cNvPr id="25" name="Shape 22"/>
          <p:cNvSpPr/>
          <p:nvPr/>
        </p:nvSpPr>
        <p:spPr>
          <a:xfrm>
            <a:off x="8321040" y="3703320"/>
            <a:ext cx="3291840" cy="1234440"/>
          </a:xfrm>
          <a:prstGeom prst="roundRect">
            <a:avLst>
              <a:gd name="adj" fmla="val 5185"/>
            </a:avLst>
          </a:prstGeom>
          <a:solidFill>
            <a:srgbClr val="FADDD8"/>
          </a:solidFill>
          <a:ln/>
        </p:spPr>
      </p:sp>
      <p:sp>
        <p:nvSpPr>
          <p:cNvPr id="26" name="Text 23"/>
          <p:cNvSpPr/>
          <p:nvPr/>
        </p:nvSpPr>
        <p:spPr>
          <a:xfrm>
            <a:off x="846734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Depends() is the DI seam</a:t>
            </a:r>
            <a:endParaRPr lang="en-US" sz="1200" dirty="0"/>
          </a:p>
        </p:txBody>
      </p:sp>
      <p:sp>
        <p:nvSpPr>
          <p:cNvPr id="27" name="Text 24"/>
          <p:cNvSpPr/>
          <p:nvPr/>
        </p:nvSpPr>
        <p:spPr>
          <a:xfrm>
            <a:off x="846734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Tests: app.dependency_overrides[get_scorer] = lambda: fake (M4)</a:t>
            </a:r>
            <a:endParaRPr lang="en-US" sz="950" dirty="0"/>
          </a:p>
        </p:txBody>
      </p:sp>
      <p:sp>
        <p:nvSpPr>
          <p:cNvPr id="28" name="Shape 25"/>
          <p:cNvSpPr/>
          <p:nvPr/>
        </p:nvSpPr>
        <p:spPr>
          <a:xfrm>
            <a:off x="5129784" y="2953512"/>
            <a:ext cx="1920240" cy="1920240"/>
          </a:xfrm>
          <a:prstGeom prst="ellipse">
            <a:avLst/>
          </a:prstGeom>
          <a:solidFill>
            <a:srgbClr val="1D2A5C"/>
          </a:solidFill>
          <a:ln w="31750">
            <a:solidFill>
              <a:srgbClr val="00A79D"/>
            </a:solidFill>
            <a:prstDash val="solid"/>
          </a:ln>
        </p:spPr>
      </p:sp>
      <p:sp>
        <p:nvSpPr>
          <p:cNvPr id="29" name="Text 26"/>
          <p:cNvSpPr/>
          <p:nvPr/>
        </p:nvSpPr>
        <p:spPr>
          <a:xfrm>
            <a:off x="5221224" y="3044952"/>
            <a:ext cx="1737360" cy="1737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Model lifecycle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Lifespan: Load, Warm Up, Wire — app.py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دورة الحياة: تحميل وتسخين وتوصيل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40</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src/fraud_service/api/app.py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@asynccontextmanager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async def lifespan(app: FastAPI):</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settings = Settings()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configure_logging(settings.log_level)</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t0 = time.perf_counter()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 = SklearnModel.load(settings.model_path)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model.predict_proba(_warmup_features())  # warm-up</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log.info("model_loaded",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version=model.model_version,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seconds=round(time.perf_counter() - t0, 3))</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app.state.scorer = FraudScorer(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block_threshold=settings.block_threshold)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app.state.started_at = datetime.now(timezone.utc)</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yield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log.info("shutdown_complete")</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Fail fast if absent</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SklearnModel.load raises at startup when the artefact is missing — visible, timed, logged. Never at import time.</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Warm-up before traffic</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Pay the lazy-init cost now, not on the first user request. app.state.scorer is set only AFTER warm-up — /ready depends on it.</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Composition root</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The one place concrete classes meet (Module 1). Everything after yield is teardown.</a:t>
            </a:r>
            <a:endParaRPr lang="en-US" sz="93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Liveness vs Readiness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الحيوية مقابل الجاهزية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41</a:t>
            </a:r>
            <a:endParaRPr lang="en-US" sz="850" dirty="0"/>
          </a:p>
        </p:txBody>
      </p:sp>
      <p:sp>
        <p:nvSpPr>
          <p:cNvPr id="8" name="Shape 5"/>
          <p:cNvSpPr/>
          <p:nvPr/>
        </p:nvSpPr>
        <p:spPr>
          <a:xfrm>
            <a:off x="502920" y="1508760"/>
            <a:ext cx="5440680" cy="3977640"/>
          </a:xfrm>
          <a:prstGeom prst="roundRect">
            <a:avLst>
              <a:gd name="adj" fmla="val 1609"/>
            </a:avLst>
          </a:prstGeom>
          <a:solidFill>
            <a:srgbClr val="FFFFFF"/>
          </a:solidFill>
          <a:ln w="12700">
            <a:solidFill>
              <a:srgbClr val="D9E4F5"/>
            </a:solidFill>
            <a:prstDash val="solid"/>
          </a:ln>
        </p:spPr>
      </p:sp>
      <p:sp>
        <p:nvSpPr>
          <p:cNvPr id="9" name="Shape 6"/>
          <p:cNvSpPr/>
          <p:nvPr/>
        </p:nvSpPr>
        <p:spPr>
          <a:xfrm>
            <a:off x="502920" y="1508760"/>
            <a:ext cx="5440680" cy="475488"/>
          </a:xfrm>
          <a:prstGeom prst="roundRect">
            <a:avLst>
              <a:gd name="adj" fmla="val 13462"/>
            </a:avLst>
          </a:prstGeom>
          <a:solidFill>
            <a:srgbClr val="EEF3FB"/>
          </a:solidFill>
          <a:ln/>
        </p:spPr>
      </p:sp>
      <p:sp>
        <p:nvSpPr>
          <p:cNvPr id="10" name="Text 7"/>
          <p:cNvSpPr/>
          <p:nvPr/>
        </p:nvSpPr>
        <p:spPr>
          <a:xfrm>
            <a:off x="685800" y="1545336"/>
            <a:ext cx="5074920" cy="40233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GET /health — liveness</a:t>
            </a:r>
            <a:endParaRPr lang="en-US" sz="1300" dirty="0"/>
          </a:p>
        </p:txBody>
      </p:sp>
      <p:sp>
        <p:nvSpPr>
          <p:cNvPr id="11" name="Text 8"/>
          <p:cNvSpPr/>
          <p:nvPr/>
        </p:nvSpPr>
        <p:spPr>
          <a:xfrm>
            <a:off x="667512" y="2167128"/>
            <a:ext cx="274320" cy="274320"/>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a:t>
            </a:r>
            <a:endParaRPr lang="en-US" sz="1200" dirty="0"/>
          </a:p>
        </p:txBody>
      </p:sp>
      <p:sp>
        <p:nvSpPr>
          <p:cNvPr id="12" name="Text 9"/>
          <p:cNvSpPr/>
          <p:nvPr/>
        </p:nvSpPr>
        <p:spPr>
          <a:xfrm>
            <a:off x="978408"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"Is the process alive?"</a:t>
            </a:r>
            <a:endParaRPr lang="en-US" sz="1050" dirty="0"/>
          </a:p>
        </p:txBody>
      </p:sp>
      <p:sp>
        <p:nvSpPr>
          <p:cNvPr id="13" name="Text 10"/>
          <p:cNvSpPr/>
          <p:nvPr/>
        </p:nvSpPr>
        <p:spPr>
          <a:xfrm>
            <a:off x="667512" y="2967228"/>
            <a:ext cx="274320" cy="274320"/>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978408"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Returns 200 with build info: git SHA, started_at</a:t>
            </a:r>
            <a:endParaRPr lang="en-US" sz="1050" dirty="0"/>
          </a:p>
        </p:txBody>
      </p:sp>
      <p:sp>
        <p:nvSpPr>
          <p:cNvPr id="15" name="Text 12"/>
          <p:cNvSpPr/>
          <p:nvPr/>
        </p:nvSpPr>
        <p:spPr>
          <a:xfrm>
            <a:off x="667512" y="3767328"/>
            <a:ext cx="274320" cy="274320"/>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978408"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Does NO I/O — ever</a:t>
            </a:r>
            <a:endParaRPr lang="en-US" sz="1050" dirty="0"/>
          </a:p>
        </p:txBody>
      </p:sp>
      <p:sp>
        <p:nvSpPr>
          <p:cNvPr id="17" name="Text 14"/>
          <p:cNvSpPr/>
          <p:nvPr/>
        </p:nvSpPr>
        <p:spPr>
          <a:xfrm>
            <a:off x="667512" y="4567428"/>
            <a:ext cx="274320" cy="274320"/>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978408"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Container orchestrators kill the process on failure</a:t>
            </a:r>
            <a:endParaRPr lang="en-US" sz="1050" dirty="0"/>
          </a:p>
        </p:txBody>
      </p:sp>
      <p:sp>
        <p:nvSpPr>
          <p:cNvPr id="19" name="Shape 16"/>
          <p:cNvSpPr/>
          <p:nvPr/>
        </p:nvSpPr>
        <p:spPr>
          <a:xfrm>
            <a:off x="6245352" y="1508760"/>
            <a:ext cx="5440680" cy="3977640"/>
          </a:xfrm>
          <a:prstGeom prst="roundRect">
            <a:avLst>
              <a:gd name="adj" fmla="val 1609"/>
            </a:avLst>
          </a:prstGeom>
          <a:solidFill>
            <a:srgbClr val="FFFFFF"/>
          </a:solidFill>
          <a:ln w="12700">
            <a:solidFill>
              <a:srgbClr val="D9E4F5"/>
            </a:solidFill>
            <a:prstDash val="solid"/>
          </a:ln>
        </p:spPr>
      </p:sp>
      <p:sp>
        <p:nvSpPr>
          <p:cNvPr id="20" name="Shape 17"/>
          <p:cNvSpPr/>
          <p:nvPr/>
        </p:nvSpPr>
        <p:spPr>
          <a:xfrm>
            <a:off x="6245352" y="1508760"/>
            <a:ext cx="5440680" cy="475488"/>
          </a:xfrm>
          <a:prstGeom prst="roundRect">
            <a:avLst>
              <a:gd name="adj" fmla="val 13462"/>
            </a:avLst>
          </a:prstGeom>
          <a:solidFill>
            <a:srgbClr val="D4F1EE"/>
          </a:solidFill>
          <a:ln/>
        </p:spPr>
      </p:sp>
      <p:sp>
        <p:nvSpPr>
          <p:cNvPr id="21" name="Text 18"/>
          <p:cNvSpPr/>
          <p:nvPr/>
        </p:nvSpPr>
        <p:spPr>
          <a:xfrm>
            <a:off x="6428232" y="1545336"/>
            <a:ext cx="5074920" cy="402336"/>
          </a:xfrm>
          <a:prstGeom prst="rect">
            <a:avLst/>
          </a:prstGeom>
          <a:noFill/>
          <a:ln/>
        </p:spPr>
        <p:txBody>
          <a:bodyPr wrap="square" rtlCol="0" anchor="ctr"/>
          <a:lstStyle/>
          <a:p>
            <a:pPr indent="0" marL="0">
              <a:buNone/>
            </a:pPr>
            <a:r>
              <a:rPr lang="en-US" sz="1300" b="1" dirty="0">
                <a:solidFill>
                  <a:srgbClr val="056A63"/>
                </a:solidFill>
                <a:latin typeface="Calibri" pitchFamily="34" charset="0"/>
                <a:ea typeface="Calibri" pitchFamily="34" charset="-122"/>
                <a:cs typeface="Calibri" pitchFamily="34" charset="-120"/>
              </a:rPr>
              <a:t>GET /ready — readiness</a:t>
            </a:r>
            <a:endParaRPr lang="en-US" sz="1300" dirty="0"/>
          </a:p>
        </p:txBody>
      </p:sp>
      <p:sp>
        <p:nvSpPr>
          <p:cNvPr id="22" name="Text 19"/>
          <p:cNvSpPr/>
          <p:nvPr/>
        </p:nvSpPr>
        <p:spPr>
          <a:xfrm>
            <a:off x="6409944" y="2167128"/>
            <a:ext cx="274320" cy="274320"/>
          </a:xfrm>
          <a:prstGeom prst="rect">
            <a:avLst/>
          </a:prstGeom>
          <a:noFill/>
          <a:ln/>
        </p:spPr>
        <p:txBody>
          <a:bodyPr wrap="square" rtlCol="0" anchor="ctr"/>
          <a:lstStyle/>
          <a:p>
            <a:pPr indent="0" marL="0">
              <a:buNone/>
            </a:pPr>
            <a:r>
              <a:rPr lang="en-US" sz="1200" b="1" dirty="0">
                <a:solidFill>
                  <a:srgbClr val="056A63"/>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6720840"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"Can I serve correctly right now?"</a:t>
            </a:r>
            <a:endParaRPr lang="en-US" sz="1050" dirty="0"/>
          </a:p>
        </p:txBody>
      </p:sp>
      <p:sp>
        <p:nvSpPr>
          <p:cNvPr id="24" name="Text 21"/>
          <p:cNvSpPr/>
          <p:nvPr/>
        </p:nvSpPr>
        <p:spPr>
          <a:xfrm>
            <a:off x="6409944" y="2967228"/>
            <a:ext cx="274320" cy="274320"/>
          </a:xfrm>
          <a:prstGeom prst="rect">
            <a:avLst/>
          </a:prstGeom>
          <a:noFill/>
          <a:ln/>
        </p:spPr>
        <p:txBody>
          <a:bodyPr wrap="square" rtlCol="0" anchor="ctr"/>
          <a:lstStyle/>
          <a:p>
            <a:pPr indent="0" marL="0">
              <a:buNone/>
            </a:pPr>
            <a:r>
              <a:rPr lang="en-US" sz="1200" b="1" dirty="0">
                <a:solidFill>
                  <a:srgbClr val="056A63"/>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6720840"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Checks the model is loaded + critical dependencies</a:t>
            </a:r>
            <a:endParaRPr lang="en-US" sz="1050" dirty="0"/>
          </a:p>
        </p:txBody>
      </p:sp>
      <p:sp>
        <p:nvSpPr>
          <p:cNvPr id="26" name="Text 23"/>
          <p:cNvSpPr/>
          <p:nvPr/>
        </p:nvSpPr>
        <p:spPr>
          <a:xfrm>
            <a:off x="6409944" y="3767328"/>
            <a:ext cx="274320" cy="274320"/>
          </a:xfrm>
          <a:prstGeom prst="rect">
            <a:avLst/>
          </a:prstGeom>
          <a:noFill/>
          <a:ln/>
        </p:spPr>
        <p:txBody>
          <a:bodyPr wrap="square" rtlCol="0" anchor="ctr"/>
          <a:lstStyle/>
          <a:p>
            <a:pPr indent="0" marL="0">
              <a:buNone/>
            </a:pPr>
            <a:r>
              <a:rPr lang="en-US" sz="1200" b="1" dirty="0">
                <a:solidFill>
                  <a:srgbClr val="056A63"/>
                </a:solidFill>
                <a:latin typeface="Calibri" pitchFamily="34" charset="0"/>
                <a:ea typeface="Calibri" pitchFamily="34" charset="-122"/>
                <a:cs typeface="Calibri" pitchFamily="34" charset="-120"/>
              </a:rPr>
              <a:t>✓</a:t>
            </a:r>
            <a:endParaRPr lang="en-US" sz="1200" dirty="0"/>
          </a:p>
        </p:txBody>
      </p:sp>
      <p:sp>
        <p:nvSpPr>
          <p:cNvPr id="27" name="Text 24"/>
          <p:cNvSpPr/>
          <p:nvPr/>
        </p:nvSpPr>
        <p:spPr>
          <a:xfrm>
            <a:off x="6720840"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Returns 503 while warming up</a:t>
            </a:r>
            <a:endParaRPr lang="en-US" sz="1050" dirty="0"/>
          </a:p>
        </p:txBody>
      </p:sp>
      <p:sp>
        <p:nvSpPr>
          <p:cNvPr id="28" name="Text 25"/>
          <p:cNvSpPr/>
          <p:nvPr/>
        </p:nvSpPr>
        <p:spPr>
          <a:xfrm>
            <a:off x="6409944" y="4567428"/>
            <a:ext cx="274320" cy="274320"/>
          </a:xfrm>
          <a:prstGeom prst="rect">
            <a:avLst/>
          </a:prstGeom>
          <a:noFill/>
          <a:ln/>
        </p:spPr>
        <p:txBody>
          <a:bodyPr wrap="square" rtlCol="0" anchor="ctr"/>
          <a:lstStyle/>
          <a:p>
            <a:pPr indent="0" marL="0">
              <a:buNone/>
            </a:pPr>
            <a:r>
              <a:rPr lang="en-US" sz="1200" b="1" dirty="0">
                <a:solidFill>
                  <a:srgbClr val="056A63"/>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6720840"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Load balancers route traffic on this</a:t>
            </a:r>
            <a:endParaRPr lang="en-US" sz="1050" dirty="0"/>
          </a:p>
        </p:txBody>
      </p:sp>
      <p:sp>
        <p:nvSpPr>
          <p:cNvPr id="30" name="Shape 27"/>
          <p:cNvSpPr/>
          <p:nvPr/>
        </p:nvSpPr>
        <p:spPr>
          <a:xfrm>
            <a:off x="502920" y="5650992"/>
            <a:ext cx="11183112" cy="566928"/>
          </a:xfrm>
          <a:prstGeom prst="roundRect">
            <a:avLst>
              <a:gd name="adj" fmla="val 11290"/>
            </a:avLst>
          </a:prstGeom>
          <a:solidFill>
            <a:srgbClr val="1D2A5C"/>
          </a:solidFill>
          <a:ln/>
        </p:spPr>
      </p:sp>
      <p:sp>
        <p:nvSpPr>
          <p:cNvPr id="31" name="Text 28"/>
          <p:cNvSpPr/>
          <p:nvPr/>
        </p:nvSpPr>
        <p:spPr>
          <a:xfrm>
            <a:off x="777240" y="5650992"/>
            <a:ext cx="10698480" cy="566928"/>
          </a:xfrm>
          <a:prstGeom prst="rect">
            <a:avLst/>
          </a:prstGeom>
          <a:noFill/>
          <a:ln/>
        </p:spPr>
        <p:txBody>
          <a:bodyPr wrap="square" rtlCol="0" anchor="ctr"/>
          <a:lstStyle/>
          <a:p>
            <a:pPr indent="0" marL="0">
              <a:buNone/>
            </a:pPr>
            <a:r>
              <a:rPr lang="en-US" sz="1000" b="1" dirty="0">
                <a:solidFill>
                  <a:srgbClr val="00A79D"/>
                </a:solidFill>
                <a:latin typeface="Calibri" pitchFamily="34" charset="0"/>
                <a:ea typeface="Calibri" pitchFamily="34" charset="-122"/>
                <a:cs typeface="Calibri" pitchFamily="34" charset="-120"/>
              </a:rPr>
              <a:t>TAKEAWAY   </a:t>
            </a:r>
            <a:pPr indent="0" marL="0">
              <a:buNone/>
            </a:pPr>
            <a:r>
              <a:rPr lang="en-US" sz="1150" dirty="0">
                <a:solidFill>
                  <a:srgbClr val="FFFFFF"/>
                </a:solidFill>
                <a:latin typeface="Calibri" pitchFamily="34" charset="0"/>
                <a:ea typeface="Calibri" pitchFamily="34" charset="-122"/>
                <a:cs typeface="Calibri" pitchFamily="34" charset="-120"/>
              </a:rPr>
              <a:t>Confuse the two and a slow model download fails liveness — the container is killed mid-download, forever. Restart storm.</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Routes with Readiness Semantics — routes.py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المسارات مع دلالات الجاهزية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42</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src/fraud_service/api/routes.py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get_scorer(request: Request) -&gt; FraudScorer: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scorer = getattr(request.app.state, "scorer", None)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scorer is None:     # startup incomplete/failed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raise HTTPException(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status_code=503, detail="Model not ready",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headers={"Retry-After": "5"})</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scorer</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@router.post("/predict", response_model=PredictResponse)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predict(body: PredictRequest,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request: Request,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scorer: FraudScorer = Depends(get_scorer)):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score = scorer.score(body.to_domain())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PredictResponse(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transaction_id=score.transaction_id,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fraud_probability=round(score.probability, 6),</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decision=score.decision,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model_version=score.model_version,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trace_id=request.state.trace_id)</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Plain def, not async def</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sklearn inference is CPU-bound; FastAPI runs def routes in a thread pool. async def here blocks the event loop — the #1 cause of "FastAPI is slow".</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get_scorer = the test seam</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app.dependency_overrides[get_scorer] = lambda: fake — Module 4 uses exactly this.</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Envelope out, never a raw float</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response_model + trace_id + model_version on every answer.</a:t>
            </a:r>
            <a:endParaRPr lang="en-US" sz="9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Versioning: Evolve Without Breaking Consumers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إدارة الإصدارات: التطوير دون كسر المستهلكين</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43</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URI versioning: /v1/</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Visible, cache-friendly, easy to route. Header versioning is cleaner in theory but invisible in logs and curl.</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Deprecate with headers, not surprises</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Run v1 and v2 side by side; announce with Deprecation + Sunset headers and consumer comms; delete only after traffic hits zero.</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Model version ≠ API version</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Swapping model v3 → v4 behind /v1/predictions is fine IF the contract and score semantics hold. Renamed decision categories are an API change.</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Breaking or not?</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New optional response field</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Additive — free ✓</a:t>
            </a:r>
            <a:endParaRPr lang="en-US" sz="950" dirty="0"/>
          </a:p>
        </p:txBody>
      </p:sp>
      <p:sp>
        <p:nvSpPr>
          <p:cNvPr id="22" name="Shape 19"/>
          <p:cNvSpPr/>
          <p:nvPr/>
        </p:nvSpPr>
        <p:spPr>
          <a:xfrm rot="2700000">
            <a:off x="6556248" y="3113532"/>
            <a:ext cx="128016" cy="128016"/>
          </a:xfrm>
          <a:prstGeom prst="rect">
            <a:avLst/>
          </a:prstGeom>
          <a:solidFill>
            <a:srgbClr val="29ABE2"/>
          </a:solidFill>
          <a:ln/>
        </p:spPr>
      </p:sp>
      <p:sp>
        <p:nvSpPr>
          <p:cNvPr id="23" name="Text 20"/>
          <p:cNvSpPr/>
          <p:nvPr/>
        </p:nvSpPr>
        <p:spPr>
          <a:xfrm>
            <a:off x="6812280" y="30220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Widening accepted input enum</a:t>
            </a:r>
            <a:endParaRPr lang="en-US" sz="1100" dirty="0"/>
          </a:p>
        </p:txBody>
      </p:sp>
      <p:sp>
        <p:nvSpPr>
          <p:cNvPr id="24" name="Text 21"/>
          <p:cNvSpPr/>
          <p:nvPr/>
        </p:nvSpPr>
        <p:spPr>
          <a:xfrm>
            <a:off x="6812280" y="32872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Non-breaking, with care ✓</a:t>
            </a:r>
            <a:endParaRPr lang="en-US" sz="950" dirty="0"/>
          </a:p>
        </p:txBody>
      </p:sp>
      <p:sp>
        <p:nvSpPr>
          <p:cNvPr id="25" name="Shape 22"/>
          <p:cNvSpPr/>
          <p:nvPr/>
        </p:nvSpPr>
        <p:spPr>
          <a:xfrm rot="2700000">
            <a:off x="6556248" y="4096512"/>
            <a:ext cx="128016" cy="128016"/>
          </a:xfrm>
          <a:prstGeom prst="rect">
            <a:avLst/>
          </a:prstGeom>
          <a:solidFill>
            <a:srgbClr val="F58220"/>
          </a:solidFill>
          <a:ln/>
        </p:spPr>
      </p:sp>
      <p:sp>
        <p:nvSpPr>
          <p:cNvPr id="26" name="Text 23"/>
          <p:cNvSpPr/>
          <p:nvPr/>
        </p:nvSpPr>
        <p:spPr>
          <a:xfrm>
            <a:off x="6812280" y="400507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Renaming fraud_probability</a:t>
            </a:r>
            <a:endParaRPr lang="en-US" sz="1100" dirty="0"/>
          </a:p>
        </p:txBody>
      </p:sp>
      <p:sp>
        <p:nvSpPr>
          <p:cNvPr id="27" name="Text 24"/>
          <p:cNvSpPr/>
          <p:nvPr/>
        </p:nvSpPr>
        <p:spPr>
          <a:xfrm>
            <a:off x="6812280" y="427024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Breaking — new version ✕</a:t>
            </a:r>
            <a:endParaRPr lang="en-US" sz="950" dirty="0"/>
          </a:p>
        </p:txBody>
      </p:sp>
      <p:sp>
        <p:nvSpPr>
          <p:cNvPr id="28" name="Shape 25"/>
          <p:cNvSpPr/>
          <p:nvPr/>
        </p:nvSpPr>
        <p:spPr>
          <a:xfrm rot="2700000">
            <a:off x="6556248" y="5079492"/>
            <a:ext cx="128016" cy="128016"/>
          </a:xfrm>
          <a:prstGeom prst="rect">
            <a:avLst/>
          </a:prstGeom>
          <a:solidFill>
            <a:srgbClr val="8DC63F"/>
          </a:solidFill>
          <a:ln/>
        </p:spPr>
      </p:sp>
      <p:sp>
        <p:nvSpPr>
          <p:cNvPr id="29" name="Text 26"/>
          <p:cNvSpPr/>
          <p:nvPr/>
        </p:nvSpPr>
        <p:spPr>
          <a:xfrm>
            <a:off x="6812280" y="49880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Tightening request validation</a:t>
            </a:r>
            <a:endParaRPr lang="en-US" sz="1100" dirty="0"/>
          </a:p>
        </p:txBody>
      </p:sp>
      <p:sp>
        <p:nvSpPr>
          <p:cNvPr id="30" name="Text 27"/>
          <p:cNvSpPr/>
          <p:nvPr/>
        </p:nvSpPr>
        <p:spPr>
          <a:xfrm>
            <a:off x="6812280" y="52532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Breaking — new version ✕</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Six API Mistakes That Reach Production</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ستة أخطاء تصل إلى الإنتاج</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44</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MISTAKE 1</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Raw model output</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[0.9731] with no envelope, no version, no trace id</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MISTAKE 2</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async def + CPU-bound inference</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Blocks the event loop — causes most "FastAPI is slow" complaints</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MISTAKE 3</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Global mutable model</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Swapped at runtime without locking</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MISTAKE 4</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Validation too loose</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{"amount_sar": -1} scores successfully</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MISTAKE 5</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No size limits or timeouts</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Set in server config — uvicorn --limit-max-requests, proxy timeouts</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MISTAKE 6</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Trusting client-supplied IDs</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Never use them for anything security-relevant</a:t>
            </a:r>
            <a:endParaRPr lang="en-US" sz="9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Hardening Pass — Lab 2 Part B Preview</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مرحلة التقوية — الجزء الثاني من المختبر</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45</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Warm-up</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Measure first-request latency before/after with curl -w "%{time_total}"</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Exception handler</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Prove no stack trace leaks: temporary /v1/boom route raising RuntimeError, then remove it</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Trace middleware</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X-Trace-Id + X-Response-Time-Ms on every response — invaluable in incident review</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OpenAPI pass</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/docs complete: constraints visible, examples filled, 200/422/503 documented</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Load test</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hey -n 2000 -c 25 -m POST -D sample.json → record p50/p99/RPS in BENCHMARKS.md</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Reference laptop: p50 ≈ 9 ms, p99 ≈ 38 ms, ≈ 1,400 req/s, 0 non-2xx. Keep every pair's numbers — Module 3 compares container vs bare-metal latency.</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What the Load Test Reveals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ماذا يكشف اختبار الحمل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46</a:t>
            </a:r>
            <a:endParaRPr lang="en-US" sz="850" dirty="0"/>
          </a:p>
        </p:txBody>
      </p:sp>
      <p:sp>
        <p:nvSpPr>
          <p:cNvPr id="8" name="Shape 5"/>
          <p:cNvSpPr/>
          <p:nvPr/>
        </p:nvSpPr>
        <p:spPr>
          <a:xfrm>
            <a:off x="502920" y="2011680"/>
            <a:ext cx="2555748" cy="3108960"/>
          </a:xfrm>
          <a:prstGeom prst="roundRect">
            <a:avLst>
              <a:gd name="adj" fmla="val 2862"/>
            </a:avLst>
          </a:prstGeom>
          <a:solidFill>
            <a:srgbClr val="EEF3FB"/>
          </a:solidFill>
          <a:ln/>
        </p:spPr>
      </p:sp>
      <p:sp>
        <p:nvSpPr>
          <p:cNvPr id="9" name="Shape 6"/>
          <p:cNvSpPr/>
          <p:nvPr/>
        </p:nvSpPr>
        <p:spPr>
          <a:xfrm>
            <a:off x="731520" y="2331720"/>
            <a:ext cx="502920" cy="54864"/>
          </a:xfrm>
          <a:prstGeom prst="rect">
            <a:avLst/>
          </a:prstGeom>
          <a:solidFill>
            <a:srgbClr val="00A79D"/>
          </a:solidFill>
          <a:ln/>
        </p:spPr>
      </p:sp>
      <p:sp>
        <p:nvSpPr>
          <p:cNvPr id="10" name="Text 7"/>
          <p:cNvSpPr/>
          <p:nvPr/>
        </p:nvSpPr>
        <p:spPr>
          <a:xfrm>
            <a:off x="685800" y="2514600"/>
            <a:ext cx="2189988" cy="822960"/>
          </a:xfrm>
          <a:prstGeom prst="rect">
            <a:avLst/>
          </a:prstGeom>
          <a:noFill/>
          <a:ln/>
        </p:spPr>
        <p:txBody>
          <a:bodyPr wrap="square" rtlCol="0" anchor="ctr"/>
          <a:lstStyle/>
          <a:p>
            <a:pPr indent="0" marL="0">
              <a:buNone/>
            </a:pPr>
            <a:r>
              <a:rPr lang="en-US" sz="3800" b="1" dirty="0">
                <a:solidFill>
                  <a:srgbClr val="00A79D"/>
                </a:solidFill>
                <a:latin typeface="Calibri" pitchFamily="34" charset="0"/>
                <a:ea typeface="Calibri" pitchFamily="34" charset="-122"/>
                <a:cs typeface="Calibri" pitchFamily="34" charset="-120"/>
              </a:rPr>
              <a:t>2.4 s</a:t>
            </a:r>
            <a:endParaRPr lang="en-US" sz="3800" dirty="0"/>
          </a:p>
        </p:txBody>
      </p:sp>
      <p:sp>
        <p:nvSpPr>
          <p:cNvPr id="11" name="Text 8"/>
          <p:cNvSpPr/>
          <p:nvPr/>
        </p:nvSpPr>
        <p:spPr>
          <a:xfrm>
            <a:off x="731520"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p99 — async def bug</a:t>
            </a:r>
            <a:endParaRPr lang="en-US" sz="1250" dirty="0"/>
          </a:p>
        </p:txBody>
      </p:sp>
      <p:sp>
        <p:nvSpPr>
          <p:cNvPr id="12" name="Text 9"/>
          <p:cNvSpPr/>
          <p:nvPr/>
        </p:nvSpPr>
        <p:spPr>
          <a:xfrm>
            <a:off x="731520"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CPU-bound sklearn on the event loop: 118 RPS, 0.4% timeouts</a:t>
            </a:r>
            <a:endParaRPr lang="en-US" sz="980" dirty="0"/>
          </a:p>
        </p:txBody>
      </p:sp>
      <p:sp>
        <p:nvSpPr>
          <p:cNvPr id="13" name="Shape 10"/>
          <p:cNvSpPr/>
          <p:nvPr/>
        </p:nvSpPr>
        <p:spPr>
          <a:xfrm>
            <a:off x="3378708" y="2011680"/>
            <a:ext cx="2555748" cy="3108960"/>
          </a:xfrm>
          <a:prstGeom prst="roundRect">
            <a:avLst>
              <a:gd name="adj" fmla="val 2862"/>
            </a:avLst>
          </a:prstGeom>
          <a:solidFill>
            <a:srgbClr val="EEF3FB"/>
          </a:solidFill>
          <a:ln/>
        </p:spPr>
      </p:sp>
      <p:sp>
        <p:nvSpPr>
          <p:cNvPr id="14" name="Shape 11"/>
          <p:cNvSpPr/>
          <p:nvPr/>
        </p:nvSpPr>
        <p:spPr>
          <a:xfrm>
            <a:off x="3607308" y="2331720"/>
            <a:ext cx="502920" cy="54864"/>
          </a:xfrm>
          <a:prstGeom prst="rect">
            <a:avLst/>
          </a:prstGeom>
          <a:solidFill>
            <a:srgbClr val="29ABE2"/>
          </a:solidFill>
          <a:ln/>
        </p:spPr>
      </p:sp>
      <p:sp>
        <p:nvSpPr>
          <p:cNvPr id="15" name="Text 12"/>
          <p:cNvSpPr/>
          <p:nvPr/>
        </p:nvSpPr>
        <p:spPr>
          <a:xfrm>
            <a:off x="3561588" y="2514600"/>
            <a:ext cx="2189988" cy="822960"/>
          </a:xfrm>
          <a:prstGeom prst="rect">
            <a:avLst/>
          </a:prstGeom>
          <a:noFill/>
          <a:ln/>
        </p:spPr>
        <p:txBody>
          <a:bodyPr wrap="square" rtlCol="0" anchor="ctr"/>
          <a:lstStyle/>
          <a:p>
            <a:pPr indent="0" marL="0">
              <a:buNone/>
            </a:pPr>
            <a:r>
              <a:rPr lang="en-US" sz="3800" b="1" dirty="0">
                <a:solidFill>
                  <a:srgbClr val="29ABE2"/>
                </a:solidFill>
                <a:latin typeface="Calibri" pitchFamily="34" charset="0"/>
                <a:ea typeface="Calibri" pitchFamily="34" charset="-122"/>
                <a:cs typeface="Calibri" pitchFamily="34" charset="-120"/>
              </a:rPr>
              <a:t>38 ms</a:t>
            </a:r>
            <a:endParaRPr lang="en-US" sz="3800" dirty="0"/>
          </a:p>
        </p:txBody>
      </p:sp>
      <p:sp>
        <p:nvSpPr>
          <p:cNvPr id="16" name="Text 13"/>
          <p:cNvSpPr/>
          <p:nvPr/>
        </p:nvSpPr>
        <p:spPr>
          <a:xfrm>
            <a:off x="3607308"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p99 — plain def</a:t>
            </a:r>
            <a:endParaRPr lang="en-US" sz="1250" dirty="0"/>
          </a:p>
        </p:txBody>
      </p:sp>
      <p:sp>
        <p:nvSpPr>
          <p:cNvPr id="17" name="Text 14"/>
          <p:cNvSpPr/>
          <p:nvPr/>
        </p:nvSpPr>
        <p:spPr>
          <a:xfrm>
            <a:off x="3607308"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Thread-pooled: 1,410 req/s, zero non-2xx at concurrency 25</a:t>
            </a:r>
            <a:endParaRPr lang="en-US" sz="980" dirty="0"/>
          </a:p>
        </p:txBody>
      </p:sp>
      <p:sp>
        <p:nvSpPr>
          <p:cNvPr id="18" name="Shape 15"/>
          <p:cNvSpPr/>
          <p:nvPr/>
        </p:nvSpPr>
        <p:spPr>
          <a:xfrm>
            <a:off x="6254496" y="2011680"/>
            <a:ext cx="2555748" cy="3108960"/>
          </a:xfrm>
          <a:prstGeom prst="roundRect">
            <a:avLst>
              <a:gd name="adj" fmla="val 2862"/>
            </a:avLst>
          </a:prstGeom>
          <a:solidFill>
            <a:srgbClr val="EEF3FB"/>
          </a:solidFill>
          <a:ln/>
        </p:spPr>
      </p:sp>
      <p:sp>
        <p:nvSpPr>
          <p:cNvPr id="19" name="Shape 16"/>
          <p:cNvSpPr/>
          <p:nvPr/>
        </p:nvSpPr>
        <p:spPr>
          <a:xfrm>
            <a:off x="6483096" y="2331720"/>
            <a:ext cx="502920" cy="54864"/>
          </a:xfrm>
          <a:prstGeom prst="rect">
            <a:avLst/>
          </a:prstGeom>
          <a:solidFill>
            <a:srgbClr val="F58220"/>
          </a:solidFill>
          <a:ln/>
        </p:spPr>
      </p:sp>
      <p:sp>
        <p:nvSpPr>
          <p:cNvPr id="20" name="Text 17"/>
          <p:cNvSpPr/>
          <p:nvPr/>
        </p:nvSpPr>
        <p:spPr>
          <a:xfrm>
            <a:off x="6437376" y="2514600"/>
            <a:ext cx="2189988" cy="822960"/>
          </a:xfrm>
          <a:prstGeom prst="rect">
            <a:avLst/>
          </a:prstGeom>
          <a:noFill/>
          <a:ln/>
        </p:spPr>
        <p:txBody>
          <a:bodyPr wrap="square" rtlCol="0" anchor="ctr"/>
          <a:lstStyle/>
          <a:p>
            <a:pPr indent="0" marL="0">
              <a:buNone/>
            </a:pPr>
            <a:r>
              <a:rPr lang="en-US" sz="3800" b="1" dirty="0">
                <a:solidFill>
                  <a:srgbClr val="F58220"/>
                </a:solidFill>
                <a:latin typeface="Calibri" pitchFamily="34" charset="0"/>
                <a:ea typeface="Calibri" pitchFamily="34" charset="-122"/>
                <a:cs typeface="Calibri" pitchFamily="34" charset="-120"/>
              </a:rPr>
              <a:t>24 ms</a:t>
            </a:r>
            <a:endParaRPr lang="en-US" sz="3800" dirty="0"/>
          </a:p>
        </p:txBody>
      </p:sp>
      <p:sp>
        <p:nvSpPr>
          <p:cNvPr id="21" name="Text 18"/>
          <p:cNvSpPr/>
          <p:nvPr/>
        </p:nvSpPr>
        <p:spPr>
          <a:xfrm>
            <a:off x="6483096"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p99 — 4 uvicorn workers</a:t>
            </a:r>
            <a:endParaRPr lang="en-US" sz="1250" dirty="0"/>
          </a:p>
        </p:txBody>
      </p:sp>
      <p:sp>
        <p:nvSpPr>
          <p:cNvPr id="22" name="Text 19"/>
          <p:cNvSpPr/>
          <p:nvPr/>
        </p:nvSpPr>
        <p:spPr>
          <a:xfrm>
            <a:off x="6483096"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4,050 req/s — set workers = cores for CPU-bound sklearn</a:t>
            </a:r>
            <a:endParaRPr lang="en-US" sz="980" dirty="0"/>
          </a:p>
        </p:txBody>
      </p:sp>
      <p:sp>
        <p:nvSpPr>
          <p:cNvPr id="23" name="Shape 20"/>
          <p:cNvSpPr/>
          <p:nvPr/>
        </p:nvSpPr>
        <p:spPr>
          <a:xfrm>
            <a:off x="9130284" y="2011680"/>
            <a:ext cx="2555748" cy="3108960"/>
          </a:xfrm>
          <a:prstGeom prst="roundRect">
            <a:avLst>
              <a:gd name="adj" fmla="val 2862"/>
            </a:avLst>
          </a:prstGeom>
          <a:solidFill>
            <a:srgbClr val="EEF3FB"/>
          </a:solidFill>
          <a:ln/>
        </p:spPr>
      </p:sp>
      <p:sp>
        <p:nvSpPr>
          <p:cNvPr id="24" name="Shape 21"/>
          <p:cNvSpPr/>
          <p:nvPr/>
        </p:nvSpPr>
        <p:spPr>
          <a:xfrm>
            <a:off x="9358884" y="2331720"/>
            <a:ext cx="502920" cy="54864"/>
          </a:xfrm>
          <a:prstGeom prst="rect">
            <a:avLst/>
          </a:prstGeom>
          <a:solidFill>
            <a:srgbClr val="8DC63F"/>
          </a:solidFill>
          <a:ln/>
        </p:spPr>
      </p:sp>
      <p:sp>
        <p:nvSpPr>
          <p:cNvPr id="25" name="Text 22"/>
          <p:cNvSpPr/>
          <p:nvPr/>
        </p:nvSpPr>
        <p:spPr>
          <a:xfrm>
            <a:off x="9313164" y="2514600"/>
            <a:ext cx="2189988" cy="822960"/>
          </a:xfrm>
          <a:prstGeom prst="rect">
            <a:avLst/>
          </a:prstGeom>
          <a:noFill/>
          <a:ln/>
        </p:spPr>
        <p:txBody>
          <a:bodyPr wrap="square" rtlCol="0" anchor="ctr"/>
          <a:lstStyle/>
          <a:p>
            <a:pPr indent="0" marL="0">
              <a:buNone/>
            </a:pPr>
            <a:r>
              <a:rPr lang="en-US" sz="3800" b="1" dirty="0">
                <a:solidFill>
                  <a:srgbClr val="8DC63F"/>
                </a:solidFill>
                <a:latin typeface="Calibri" pitchFamily="34" charset="0"/>
                <a:ea typeface="Calibri" pitchFamily="34" charset="-122"/>
                <a:cs typeface="Calibri" pitchFamily="34" charset="-120"/>
              </a:rPr>
              <a:t>12 ms</a:t>
            </a:r>
            <a:endParaRPr lang="en-US" sz="3800" dirty="0"/>
          </a:p>
        </p:txBody>
      </p:sp>
      <p:sp>
        <p:nvSpPr>
          <p:cNvPr id="26" name="Text 23"/>
          <p:cNvSpPr/>
          <p:nvPr/>
        </p:nvSpPr>
        <p:spPr>
          <a:xfrm>
            <a:off x="9358884"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first call, warmed</a:t>
            </a:r>
            <a:endParaRPr lang="en-US" sz="1250" dirty="0"/>
          </a:p>
        </p:txBody>
      </p:sp>
      <p:sp>
        <p:nvSpPr>
          <p:cNvPr id="27" name="Text 24"/>
          <p:cNvSpPr/>
          <p:nvPr/>
        </p:nvSpPr>
        <p:spPr>
          <a:xfrm>
            <a:off x="9358884"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Down from ~900 ms cold — one dummy prediction in lifespan</a:t>
            </a:r>
            <a:endParaRPr lang="en-US" sz="980" dirty="0"/>
          </a:p>
        </p:txBody>
      </p:sp>
      <p:sp>
        <p:nvSpPr>
          <p:cNvPr id="28" name="Text 25"/>
          <p:cNvSpPr/>
          <p:nvPr/>
        </p:nvSpPr>
        <p:spPr>
          <a:xfrm>
            <a:off x="502920" y="5486400"/>
            <a:ext cx="11155680" cy="274320"/>
          </a:xfrm>
          <a:prstGeom prst="rect">
            <a:avLst/>
          </a:prstGeom>
          <a:noFill/>
          <a:ln/>
        </p:spPr>
        <p:txBody>
          <a:bodyPr wrap="square" rtlCol="0" anchor="ctr"/>
          <a:lstStyle/>
          <a:p>
            <a:pPr indent="0" marL="0">
              <a:buNone/>
            </a:pPr>
            <a:r>
              <a:rPr lang="en-US" sz="900" i="1" dirty="0">
                <a:solidFill>
                  <a:srgbClr val="8A96A6"/>
                </a:solidFill>
                <a:latin typeface="Calibri" pitchFamily="34" charset="0"/>
                <a:ea typeface="Calibri" pitchFamily="34" charset="-122"/>
                <a:cs typeface="Calibri" pitchFamily="34" charset="-120"/>
              </a:rPr>
              <a:t>Module 2 benchmark table — hey, reference laptop, sample.json corpus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2 — Build and Harden the Prediction API</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2 — بناء وتقوية واجهة التنبؤ</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47</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2</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2 × 50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A1 · schemas.py (10 min)  </a:t>
            </a:r>
            <a:pPr indent="0" marL="0">
              <a:buNone/>
            </a:pPr>
            <a:r>
              <a:rPr lang="en-US" sz="1000" dirty="0">
                <a:solidFill>
                  <a:srgbClr val="5F6B7A"/>
                </a:solidFill>
                <a:latin typeface="Calibri" pitchFamily="34" charset="0"/>
                <a:ea typeface="Calibri" pitchFamily="34" charset="-122"/>
                <a:cs typeface="Calibri" pitchFamily="34" charset="-120"/>
              </a:rPr>
              <a:t>PredictRequest/Response + error envelope per the contract table; extra="forbid", constrained fields</a:t>
            </a:r>
            <a:endParaRPr lang="en-US" sz="1050" dirty="0"/>
          </a:p>
        </p:txBody>
      </p:sp>
      <p:sp>
        <p:nvSpPr>
          <p:cNvPr id="12" name="Text 9"/>
          <p:cNvSpPr/>
          <p:nvPr/>
        </p:nvSpPr>
        <p:spPr>
          <a:xfrm>
            <a:off x="502920" y="273100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71272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A2 · Factory + lifespan (15 min)  </a:t>
            </a:r>
            <a:pPr indent="0" marL="0">
              <a:buNone/>
            </a:pPr>
            <a:r>
              <a:rPr lang="en-US" sz="1000" dirty="0">
                <a:solidFill>
                  <a:srgbClr val="5F6B7A"/>
                </a:solidFill>
                <a:latin typeface="Calibri" pitchFamily="34" charset="0"/>
                <a:ea typeface="Calibri" pitchFamily="34" charset="-122"/>
                <a:cs typeface="Calibri" pitchFamily="34" charset="-120"/>
              </a:rPr>
              <a:t>Model load, warm-up, trace/timing middleware, global exception handler</a:t>
            </a:r>
            <a:endParaRPr lang="en-US" sz="1050" dirty="0"/>
          </a:p>
        </p:txBody>
      </p:sp>
      <p:sp>
        <p:nvSpPr>
          <p:cNvPr id="14" name="Text 11"/>
          <p:cNvSpPr/>
          <p:nvPr/>
        </p:nvSpPr>
        <p:spPr>
          <a:xfrm>
            <a:off x="502920" y="343204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41376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A3 · Routes (15 min)  </a:t>
            </a:r>
            <a:pPr indent="0" marL="0">
              <a:buNone/>
            </a:pPr>
            <a:r>
              <a:rPr lang="en-US" sz="1000" dirty="0">
                <a:solidFill>
                  <a:srgbClr val="5F6B7A"/>
                </a:solidFill>
                <a:latin typeface="Calibri" pitchFamily="34" charset="0"/>
                <a:ea typeface="Calibri" pitchFamily="34" charset="-122"/>
                <a:cs typeface="Calibri" pitchFamily="34" charset="-120"/>
              </a:rPr>
              <a:t>/v1/predict, /v1/health, /v1/ready with correct status codes and Retry-After</a:t>
            </a:r>
            <a:endParaRPr lang="en-US" sz="1050" dirty="0"/>
          </a:p>
        </p:txBody>
      </p:sp>
      <p:sp>
        <p:nvSpPr>
          <p:cNvPr id="16" name="Text 13"/>
          <p:cNvSpPr/>
          <p:nvPr/>
        </p:nvSpPr>
        <p:spPr>
          <a:xfrm>
            <a:off x="502920" y="413308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11480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A4 · Exercise via /docs (10 min)  </a:t>
            </a:r>
            <a:pPr indent="0" marL="0">
              <a:buNone/>
            </a:pPr>
            <a:r>
              <a:rPr lang="en-US" sz="1000" dirty="0">
                <a:solidFill>
                  <a:srgbClr val="5F6B7A"/>
                </a:solidFill>
                <a:latin typeface="Calibri" pitchFamily="34" charset="0"/>
                <a:ea typeface="Calibri" pitchFamily="34" charset="-122"/>
                <a:cs typeface="Calibri" pitchFamily="34" charset="-120"/>
              </a:rPr>
              <a:t>fastapi dev → one valid request, one negative amount, one unknown field</a:t>
            </a:r>
            <a:endParaRPr lang="en-US" sz="1050" dirty="0"/>
          </a:p>
        </p:txBody>
      </p:sp>
      <p:sp>
        <p:nvSpPr>
          <p:cNvPr id="18" name="Text 15"/>
          <p:cNvSpPr/>
          <p:nvPr/>
        </p:nvSpPr>
        <p:spPr>
          <a:xfrm>
            <a:off x="502920" y="483412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481584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B · Harden (40 min, Day 2 H1)  </a:t>
            </a:r>
            <a:pPr indent="0" marL="0">
              <a:buNone/>
            </a:pPr>
            <a:r>
              <a:rPr lang="en-US" sz="1000" dirty="0">
                <a:solidFill>
                  <a:srgbClr val="5F6B7A"/>
                </a:solidFill>
                <a:latin typeface="Calibri" pitchFamily="34" charset="0"/>
                <a:ea typeface="Calibri" pitchFamily="34" charset="-122"/>
                <a:cs typeface="Calibri" pitchFamily="34" charset="-120"/>
              </a:rPr>
              <a:t>Warm-up timing, /v1/boom leak test, hey load test → BENCHMARKS.md with p50/p99/RPS</a:t>
            </a:r>
            <a:endParaRPr lang="en-US" sz="1050" dirty="0"/>
          </a:p>
        </p:txBody>
      </p:sp>
      <p:sp>
        <p:nvSpPr>
          <p:cNvPr id="20" name="Text 17"/>
          <p:cNvSpPr/>
          <p:nvPr/>
        </p:nvSpPr>
        <p:spPr>
          <a:xfrm>
            <a:off x="502920" y="55351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1" name="Text 18"/>
          <p:cNvSpPr/>
          <p:nvPr/>
        </p:nvSpPr>
        <p:spPr>
          <a:xfrm>
            <a:off x="914400" y="55168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B · Commit (10 min)  </a:t>
            </a:r>
            <a:pPr indent="0" marL="0">
              <a:buNone/>
            </a:pPr>
            <a:r>
              <a:rPr lang="en-US" sz="1000" dirty="0">
                <a:solidFill>
                  <a:srgbClr val="5F6B7A"/>
                </a:solidFill>
                <a:latin typeface="Calibri" pitchFamily="34" charset="0"/>
                <a:ea typeface="Calibri" pitchFamily="34" charset="-122"/>
                <a:cs typeface="Calibri" pitchFamily="34" charset="-120"/>
              </a:rPr>
              <a:t>feat(api): prediction endpoint with validation, health, tracing</a:t>
            </a:r>
            <a:endParaRPr lang="en-US" sz="1050" dirty="0"/>
          </a:p>
        </p:txBody>
      </p:sp>
      <p:sp>
        <p:nvSpPr>
          <p:cNvPr id="22" name="Shape 19"/>
          <p:cNvSpPr/>
          <p:nvPr/>
        </p:nvSpPr>
        <p:spPr>
          <a:xfrm>
            <a:off x="7269480" y="2011680"/>
            <a:ext cx="4416552" cy="1417320"/>
          </a:xfrm>
          <a:prstGeom prst="roundRect">
            <a:avLst>
              <a:gd name="adj" fmla="val 4516"/>
            </a:avLst>
          </a:prstGeom>
          <a:solidFill>
            <a:srgbClr val="D4F1EE"/>
          </a:solidFill>
          <a:ln/>
        </p:spPr>
      </p:sp>
      <p:sp>
        <p:nvSpPr>
          <p:cNvPr id="23" name="Text 20"/>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4" name="Text 21"/>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curl /v1/predict -d @sample.json → {"transaction_id":"TXN-2026-00042","fraud_probability":0.031742,"decision":"allow","model_version":"v3.2.0","trace_id":"a1b2…"}</a:t>
            </a:r>
            <a:endParaRPr lang="en-US" sz="1030" dirty="0"/>
          </a:p>
        </p:txBody>
      </p:sp>
      <p:sp>
        <p:nvSpPr>
          <p:cNvPr id="25" name="Shape 22"/>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6" name="Text 23"/>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7" name="Text 24"/>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RPS collapses at c=25 → route is async def around sklearn; change to def. /ready 200 before load → set app.state.scorer only after warm-up.</a:t>
            </a:r>
            <a:endParaRPr lang="en-US" sz="1000" dirty="0"/>
          </a:p>
        </p:txBody>
      </p:sp>
      <p:sp>
        <p:nvSpPr>
          <p:cNvPr id="28" name="Shape 25"/>
          <p:cNvSpPr/>
          <p:nvPr/>
        </p:nvSpPr>
        <p:spPr>
          <a:xfrm>
            <a:off x="7269480" y="5166360"/>
            <a:ext cx="4416552" cy="1051560"/>
          </a:xfrm>
          <a:prstGeom prst="roundRect">
            <a:avLst>
              <a:gd name="adj" fmla="val 6087"/>
            </a:avLst>
          </a:prstGeom>
          <a:solidFill>
            <a:srgbClr val="FDEBD7"/>
          </a:solidFill>
          <a:ln/>
        </p:spPr>
      </p:sp>
      <p:sp>
        <p:nvSpPr>
          <p:cNvPr id="29" name="Text 26"/>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First request ~1 s, rest fast? Warm-up is not running — look for the model_loaded line in the startup log.</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2 — Mini Exercises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الثانية — تمارين قصيرة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48</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Quick quiz (5 questions)</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Code for "model still loading"; why plain def for sklearn routes; what extra="forbid" protects against; liveness vs readiness in one sentence each; which changes are non-breaking.</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Debugging: the async block</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Branch sim-async-block: the predict route is async def and the load test shows p99 = 2.4 s. Diagnose with hey + py-spy dump, then fix.</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 review: find all three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PR that returns domain FraudScore straight from the route, uses 200 for errors with {"success": false}, and logs full request bodies (PII).</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Discussion</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Where should authentication live — this service or the gateway? What changes for an internal vs an external API?</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Triage AI Behind Three Hospital Systems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ذكاء الفرز خلف ثلاثة أنظمة مستشفيات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49</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Digital health · Riyadh</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 health-tech provider serves a triage-priority model to three hospital EMR vendors. Vendor A sends ISO-8601 timestamps, Vendor B sends epoch millis, Vendor C dd/mm/yyyy — two integrations silently mis-parse dates.</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603504"/>
          </a:xfrm>
          <a:prstGeom prst="line">
            <a:avLst/>
          </a:prstGeom>
          <a:noFill/>
          <a:ln w="19050">
            <a:solidFill>
              <a:srgbClr val="D9E4F5"/>
            </a:solidFill>
            <a:prstDash val="solid"/>
          </a:ln>
        </p:spPr>
      </p:sp>
      <p:sp>
        <p:nvSpPr>
          <p:cNvPr id="13" name="Text 10"/>
          <p:cNvSpPr/>
          <p:nvPr/>
        </p:nvSpPr>
        <p:spPr>
          <a:xfrm>
            <a:off x="960120" y="295351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Six weeks of silent mis-scoring  </a:t>
            </a:r>
            <a:pPr indent="0" marL="0">
              <a:buNone/>
            </a:pPr>
            <a:r>
              <a:rPr lang="en-US" sz="1000" dirty="0">
                <a:solidFill>
                  <a:srgbClr val="5F6B7A"/>
                </a:solidFill>
                <a:latin typeface="Calibri" pitchFamily="34" charset="0"/>
                <a:ea typeface="Calibri" pitchFamily="34" charset="-122"/>
                <a:cs typeface="Calibri" pitchFamily="34" charset="-120"/>
              </a:rPr>
              <a:t>Night-shift admissions — exactly where hour_of_day matters most — scored wrong; no errors raised</a:t>
            </a:r>
            <a:endParaRPr lang="en-US" sz="1050" dirty="0"/>
          </a:p>
        </p:txBody>
      </p:sp>
      <p:sp>
        <p:nvSpPr>
          <p:cNvPr id="14" name="Shape 11"/>
          <p:cNvSpPr/>
          <p:nvPr/>
        </p:nvSpPr>
        <p:spPr>
          <a:xfrm>
            <a:off x="566928" y="3849624"/>
            <a:ext cx="182880" cy="182880"/>
          </a:xfrm>
          <a:prstGeom prst="ellipse">
            <a:avLst/>
          </a:prstGeom>
          <a:solidFill>
            <a:srgbClr val="29ABE2"/>
          </a:solidFill>
          <a:ln/>
        </p:spPr>
      </p:sp>
      <p:sp>
        <p:nvSpPr>
          <p:cNvPr id="15" name="Shape 12"/>
          <p:cNvSpPr/>
          <p:nvPr/>
        </p:nvSpPr>
        <p:spPr>
          <a:xfrm>
            <a:off x="658368" y="4050792"/>
            <a:ext cx="0" cy="603504"/>
          </a:xfrm>
          <a:prstGeom prst="line">
            <a:avLst/>
          </a:prstGeom>
          <a:noFill/>
          <a:ln w="19050">
            <a:solidFill>
              <a:srgbClr val="D9E4F5"/>
            </a:solidFill>
            <a:prstDash val="solid"/>
          </a:ln>
        </p:spPr>
      </p:sp>
      <p:sp>
        <p:nvSpPr>
          <p:cNvPr id="16" name="Text 13"/>
          <p:cNvSpPr/>
          <p:nvPr/>
        </p:nvSpPr>
        <p:spPr>
          <a:xfrm>
            <a:off x="960120" y="377647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Regulator sets a 30-day deadline  </a:t>
            </a:r>
            <a:pPr indent="0" marL="0">
              <a:buNone/>
            </a:pPr>
            <a:r>
              <a:rPr lang="en-US" sz="1000" dirty="0">
                <a:solidFill>
                  <a:srgbClr val="5F6B7A"/>
                </a:solidFill>
                <a:latin typeface="Calibri" pitchFamily="34" charset="0"/>
                <a:ea typeface="Calibri" pitchFamily="34" charset="-122"/>
                <a:cs typeface="Calibri" pitchFamily="34" charset="-120"/>
              </a:rPr>
              <a:t>Patient-safety review demands evidence of input validation and versioned contracts</a:t>
            </a:r>
            <a:endParaRPr lang="en-US" sz="1050" dirty="0"/>
          </a:p>
        </p:txBody>
      </p:sp>
      <p:sp>
        <p:nvSpPr>
          <p:cNvPr id="17" name="Shape 14"/>
          <p:cNvSpPr/>
          <p:nvPr/>
        </p:nvSpPr>
        <p:spPr>
          <a:xfrm>
            <a:off x="566928" y="4672584"/>
            <a:ext cx="182880" cy="182880"/>
          </a:xfrm>
          <a:prstGeom prst="ellipse">
            <a:avLst/>
          </a:prstGeom>
          <a:solidFill>
            <a:srgbClr val="F58220"/>
          </a:solidFill>
          <a:ln/>
        </p:spPr>
      </p:sp>
      <p:sp>
        <p:nvSpPr>
          <p:cNvPr id="18" name="Shape 15"/>
          <p:cNvSpPr/>
          <p:nvPr/>
        </p:nvSpPr>
        <p:spPr>
          <a:xfrm>
            <a:off x="658368" y="4873752"/>
            <a:ext cx="0" cy="603504"/>
          </a:xfrm>
          <a:prstGeom prst="line">
            <a:avLst/>
          </a:prstGeom>
          <a:noFill/>
          <a:ln w="19050">
            <a:solidFill>
              <a:srgbClr val="D9E4F5"/>
            </a:solidFill>
            <a:prstDash val="solid"/>
          </a:ln>
        </p:spPr>
      </p:sp>
      <p:sp>
        <p:nvSpPr>
          <p:cNvPr id="19" name="Text 16"/>
          <p:cNvSpPr/>
          <p:nvPr/>
        </p:nvSpPr>
        <p:spPr>
          <a:xfrm>
            <a:off x="960120" y="459943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/v2/triage ships strict  </a:t>
            </a:r>
            <a:pPr indent="0" marL="0">
              <a:buNone/>
            </a:pPr>
            <a:r>
              <a:rPr lang="en-US" sz="1000" dirty="0">
                <a:solidFill>
                  <a:srgbClr val="5F6B7A"/>
                </a:solidFill>
                <a:latin typeface="Calibri" pitchFamily="34" charset="0"/>
                <a:ea typeface="Calibri" pitchFamily="34" charset="-122"/>
                <a:cs typeface="Calibri" pitchFamily="34" charset="-120"/>
              </a:rPr>
              <a:t>Single timestamp format, extra="forbid"; /v1 stays alive with per-vendor normalise-and-warn adapters</a:t>
            </a:r>
            <a:endParaRPr lang="en-US" sz="1050" dirty="0"/>
          </a:p>
        </p:txBody>
      </p:sp>
      <p:sp>
        <p:nvSpPr>
          <p:cNvPr id="20" name="Shape 17"/>
          <p:cNvSpPr/>
          <p:nvPr/>
        </p:nvSpPr>
        <p:spPr>
          <a:xfrm>
            <a:off x="566928" y="5495544"/>
            <a:ext cx="182880" cy="182880"/>
          </a:xfrm>
          <a:prstGeom prst="ellipse">
            <a:avLst/>
          </a:prstGeom>
          <a:solidFill>
            <a:srgbClr val="8DC63F"/>
          </a:solidFill>
          <a:ln/>
        </p:spPr>
      </p:sp>
      <p:sp>
        <p:nvSpPr>
          <p:cNvPr id="21" name="Text 18"/>
          <p:cNvSpPr/>
          <p:nvPr/>
        </p:nvSpPr>
        <p:spPr>
          <a:xfrm>
            <a:off x="960120" y="5422392"/>
            <a:ext cx="6126480" cy="822960"/>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Managed, measurable migration  </a:t>
            </a:r>
            <a:pPr indent="0" marL="0">
              <a:buNone/>
            </a:pPr>
            <a:r>
              <a:rPr lang="en-US" sz="1000" dirty="0">
                <a:solidFill>
                  <a:srgbClr val="5F6B7A"/>
                </a:solidFill>
                <a:latin typeface="Calibri" pitchFamily="34" charset="0"/>
                <a:ea typeface="Calibri" pitchFamily="34" charset="-122"/>
                <a:cs typeface="Calibri" pitchFamily="34" charset="-120"/>
              </a:rPr>
              <a:t>Per-vendor API keys → error dashboards; Sunset header; weekly conformance reports; shared contract tests</a:t>
            </a:r>
            <a:endParaRPr lang="en-US" sz="1050" dirty="0"/>
          </a:p>
        </p:txBody>
      </p:sp>
      <p:sp>
        <p:nvSpPr>
          <p:cNvPr id="22" name="Shape 19"/>
          <p:cNvSpPr/>
          <p:nvPr/>
        </p:nvSpPr>
        <p:spPr>
          <a:xfrm>
            <a:off x="7406640" y="1938528"/>
            <a:ext cx="4279392" cy="4160520"/>
          </a:xfrm>
          <a:prstGeom prst="roundRect">
            <a:avLst>
              <a:gd name="adj" fmla="val 1538"/>
            </a:avLst>
          </a:prstGeom>
          <a:solidFill>
            <a:srgbClr val="EAF4DC"/>
          </a:solidFill>
          <a:ln/>
        </p:spPr>
      </p:sp>
      <p:sp>
        <p:nvSpPr>
          <p:cNvPr id="23" name="Text 20"/>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4" name="Text 21"/>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Strict schemas are the only thing keeping multi-vendor integrations honest</a:t>
            </a:r>
            <a:endParaRPr lang="en-US" sz="1000" dirty="0"/>
          </a:p>
        </p:txBody>
      </p:sp>
      <p:sp>
        <p:nvSpPr>
          <p:cNvPr id="26" name="Text 23"/>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7" name="Text 24"/>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You cannot force simultaneous upgrades — hospital release cycles run 6–12 weeks</a:t>
            </a:r>
            <a:endParaRPr lang="en-US" sz="1000" dirty="0"/>
          </a:p>
        </p:txBody>
      </p:sp>
      <p:sp>
        <p:nvSpPr>
          <p:cNvPr id="28" name="Text 25"/>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9" name="Text 26"/>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Every rejected request must be auditable: who sent what, and when</a:t>
            </a:r>
            <a:endParaRPr lang="en-US" sz="1000" dirty="0"/>
          </a:p>
        </p:txBody>
      </p:sp>
      <p:sp>
        <p:nvSpPr>
          <p:cNvPr id="30" name="Text 27"/>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1" name="Text 28"/>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Arabic patient names must round-trip UTF-8 intact through every layer</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2 — Check Your Understanding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الثانية — اختبر فهمك</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50</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A request arrives while the model is still loading. /v1/predict should return:</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200 with a default score</a:t>
            </a:r>
            <a:endParaRPr lang="en-US" sz="1050" dirty="0"/>
          </a:p>
        </p:txBody>
      </p:sp>
      <p:sp>
        <p:nvSpPr>
          <p:cNvPr id="13" name="Shape 10"/>
          <p:cNvSpPr/>
          <p:nvPr/>
        </p:nvSpPr>
        <p:spPr>
          <a:xfrm>
            <a:off x="502920" y="3447288"/>
            <a:ext cx="5440680" cy="548640"/>
          </a:xfrm>
          <a:prstGeom prst="roundRect">
            <a:avLst>
              <a:gd name="adj" fmla="val 10000"/>
            </a:avLst>
          </a:prstGeom>
          <a:solidFill>
            <a:srgbClr val="FFFFFF"/>
          </a:solidFill>
          <a:ln w="9525">
            <a:solidFill>
              <a:srgbClr val="D9E4F5"/>
            </a:solidFill>
            <a:prstDash val="solid"/>
          </a:ln>
        </p:spPr>
      </p:sp>
      <p:sp>
        <p:nvSpPr>
          <p:cNvPr id="14" name="Text 11"/>
          <p:cNvSpPr/>
          <p:nvPr/>
        </p:nvSpPr>
        <p:spPr>
          <a:xfrm>
            <a:off x="612648" y="3566160"/>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500 Internal Server Error</a:t>
            </a:r>
            <a:endParaRPr lang="en-US" sz="1050" dirty="0"/>
          </a:p>
        </p:txBody>
      </p:sp>
      <p:sp>
        <p:nvSpPr>
          <p:cNvPr id="16" name="Shape 13"/>
          <p:cNvSpPr/>
          <p:nvPr/>
        </p:nvSpPr>
        <p:spPr>
          <a:xfrm>
            <a:off x="502920" y="4105656"/>
            <a:ext cx="5440680" cy="548640"/>
          </a:xfrm>
          <a:prstGeom prst="roundRect">
            <a:avLst>
              <a:gd name="adj" fmla="val 10000"/>
            </a:avLst>
          </a:prstGeom>
          <a:solidFill>
            <a:srgbClr val="D4F1EE"/>
          </a:solidFill>
          <a:ln w="19050">
            <a:solidFill>
              <a:srgbClr val="00A79D"/>
            </a:solidFill>
            <a:prstDash val="solid"/>
          </a:ln>
        </p:spPr>
      </p:sp>
      <p:sp>
        <p:nvSpPr>
          <p:cNvPr id="17" name="Text 14"/>
          <p:cNvSpPr/>
          <p:nvPr/>
        </p:nvSpPr>
        <p:spPr>
          <a:xfrm>
            <a:off x="612648" y="4224528"/>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503 with a Retry-After header   ✓</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404 Not Found</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Not-ready is a temporary server condition: 503 + Retry-After tells well-behaved clients exactly what to do.</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Why are sklearn inference routes written as plain def, not async def?</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async is deprecated in FastAPI</a:t>
            </a:r>
            <a:endParaRPr lang="en-US" sz="1050" dirty="0"/>
          </a:p>
        </p:txBody>
      </p:sp>
      <p:sp>
        <p:nvSpPr>
          <p:cNvPr id="27" name="Shape 24"/>
          <p:cNvSpPr/>
          <p:nvPr/>
        </p:nvSpPr>
        <p:spPr>
          <a:xfrm>
            <a:off x="6245352" y="3447288"/>
            <a:ext cx="5440680" cy="548640"/>
          </a:xfrm>
          <a:prstGeom prst="roundRect">
            <a:avLst>
              <a:gd name="adj" fmla="val 10000"/>
            </a:avLst>
          </a:prstGeom>
          <a:solidFill>
            <a:srgbClr val="D4F1EE"/>
          </a:solidFill>
          <a:ln w="19050">
            <a:solidFill>
              <a:srgbClr val="00A79D"/>
            </a:solidFill>
            <a:prstDash val="solid"/>
          </a:ln>
        </p:spPr>
      </p:sp>
      <p:sp>
        <p:nvSpPr>
          <p:cNvPr id="28" name="Text 25"/>
          <p:cNvSpPr/>
          <p:nvPr/>
        </p:nvSpPr>
        <p:spPr>
          <a:xfrm>
            <a:off x="6355080"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async def blocks the event loop on CPU work; def gets a thread pool   ✓</a:t>
            </a:r>
            <a:endParaRPr lang="en-US" sz="1050" dirty="0"/>
          </a:p>
        </p:txBody>
      </p:sp>
      <p:sp>
        <p:nvSpPr>
          <p:cNvPr id="30" name="Shape 27"/>
          <p:cNvSpPr/>
          <p:nvPr/>
        </p:nvSpPr>
        <p:spPr>
          <a:xfrm>
            <a:off x="6245352" y="4105656"/>
            <a:ext cx="5440680" cy="548640"/>
          </a:xfrm>
          <a:prstGeom prst="roundRect">
            <a:avLst>
              <a:gd name="adj" fmla="val 10000"/>
            </a:avLst>
          </a:prstGeom>
          <a:solidFill>
            <a:srgbClr val="FFFFFF"/>
          </a:solidFill>
          <a:ln w="9525">
            <a:solidFill>
              <a:srgbClr val="D9E4F5"/>
            </a:solidFill>
            <a:prstDash val="solid"/>
          </a:ln>
        </p:spPr>
      </p:sp>
      <p:sp>
        <p:nvSpPr>
          <p:cNvPr id="31" name="Text 28"/>
          <p:cNvSpPr/>
          <p:nvPr/>
        </p:nvSpPr>
        <p:spPr>
          <a:xfrm>
            <a:off x="6355080"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def routes are faster to type-check</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Only def routes support Depends()</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The single mistake behind most "FastAPI is slow" complaints — p99 went from 2.4 s to 38 ms in the course benchmark.</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2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The API is the model's contract with the world — validate in, validate out, version deliberately.</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Strict schemas turn garbage into 422s instead of incidents. Readiness turns startup into a non-event. One error envelope keeps every consumer honest.</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 MODULE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51</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END OF DAY 1</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You now have a clean-architecture skeleton and a working, validated prediction API.</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Same fraud-service, two faces: a batch scorer and /v1/predict, both importing one FraudScorer. Tomorrow it gets a container and a test suite; Lab 2 Part B opens Day 2.</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1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52</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2 — SHIP IT IN A BOX, PROVE IT WORKS</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Ship It in a Box, Prove It Works</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اليوم الثاني — ضعها في صندوق وأثبت أنها تعمل</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 2b — Hardening the API</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warm-up on startup, logging middleware, OpenAPI docs, load-test with hey</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Module 3 — Docker for AI services</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images, layers, multi-stage builds, size discipline, compose</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Module 4 — Testing ML code</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testing pyramid, fixtures, invariance and directional tests, coverage</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Labs 3 &amp; 4 — container + tests</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containerise the fraud service, then prove it with a three-level suite</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5 hours · 40% theory / 60%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Day 2 — hour by hour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الثاني — ساعة بساعة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54</a:t>
            </a:r>
            <a:endParaRPr lang="en-US" sz="850" dirty="0"/>
          </a:p>
        </p:txBody>
      </p:sp>
      <p:sp>
        <p:nvSpPr>
          <p:cNvPr id="8" name="Shape 5"/>
          <p:cNvSpPr/>
          <p:nvPr/>
        </p:nvSpPr>
        <p:spPr>
          <a:xfrm>
            <a:off x="502920" y="1481328"/>
            <a:ext cx="11183112" cy="822960"/>
          </a:xfrm>
          <a:prstGeom prst="roundRect">
            <a:avLst>
              <a:gd name="adj" fmla="val 5556"/>
            </a:avLst>
          </a:prstGeom>
          <a:solidFill>
            <a:srgbClr val="FFFFFF"/>
          </a:solidFill>
          <a:ln w="9525">
            <a:solidFill>
              <a:srgbClr val="D9E4F5"/>
            </a:solidFill>
            <a:prstDash val="solid"/>
          </a:ln>
        </p:spPr>
      </p:sp>
      <p:sp>
        <p:nvSpPr>
          <p:cNvPr id="9" name="Text 6"/>
          <p:cNvSpPr/>
          <p:nvPr/>
        </p:nvSpPr>
        <p:spPr>
          <a:xfrm>
            <a:off x="685800" y="1655064"/>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0" name="Text 7"/>
          <p:cNvSpPr/>
          <p:nvPr/>
        </p:nvSpPr>
        <p:spPr>
          <a:xfrm>
            <a:off x="1353312" y="1572768"/>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2b — Hardening the API</a:t>
            </a:r>
            <a:endParaRPr lang="en-US" sz="1350" dirty="0"/>
          </a:p>
        </p:txBody>
      </p:sp>
      <p:sp>
        <p:nvSpPr>
          <p:cNvPr id="11" name="Text 8"/>
          <p:cNvSpPr/>
          <p:nvPr/>
        </p:nvSpPr>
        <p:spPr>
          <a:xfrm>
            <a:off x="1353312" y="1883664"/>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Model warm-up on startup, request logging middleware, OpenAPI docs; load-test with hey</a:t>
            </a:r>
            <a:endParaRPr lang="en-US" sz="1000" dirty="0"/>
          </a:p>
        </p:txBody>
      </p:sp>
      <p:sp>
        <p:nvSpPr>
          <p:cNvPr id="12" name="Text 9"/>
          <p:cNvSpPr/>
          <p:nvPr/>
        </p:nvSpPr>
        <p:spPr>
          <a:xfrm>
            <a:off x="7589520" y="1737360"/>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Lab + micro-lecture</a:t>
            </a:r>
            <a:endParaRPr lang="en-US" sz="950" dirty="0"/>
          </a:p>
        </p:txBody>
      </p:sp>
      <p:sp>
        <p:nvSpPr>
          <p:cNvPr id="13" name="Shape 10"/>
          <p:cNvSpPr/>
          <p:nvPr/>
        </p:nvSpPr>
        <p:spPr>
          <a:xfrm>
            <a:off x="9555480" y="1810512"/>
            <a:ext cx="347472" cy="164592"/>
          </a:xfrm>
          <a:prstGeom prst="rect">
            <a:avLst/>
          </a:prstGeom>
          <a:solidFill>
            <a:srgbClr val="1D2A5C"/>
          </a:solidFill>
          <a:ln/>
        </p:spPr>
      </p:sp>
      <p:sp>
        <p:nvSpPr>
          <p:cNvPr id="14" name="Shape 11"/>
          <p:cNvSpPr/>
          <p:nvPr/>
        </p:nvSpPr>
        <p:spPr>
          <a:xfrm>
            <a:off x="9902952" y="1810512"/>
            <a:ext cx="1389888" cy="164592"/>
          </a:xfrm>
          <a:prstGeom prst="rect">
            <a:avLst/>
          </a:prstGeom>
          <a:solidFill>
            <a:srgbClr val="00A79D"/>
          </a:solidFill>
          <a:ln/>
        </p:spPr>
      </p:sp>
      <p:sp>
        <p:nvSpPr>
          <p:cNvPr id="15" name="Text 12"/>
          <p:cNvSpPr/>
          <p:nvPr/>
        </p:nvSpPr>
        <p:spPr>
          <a:xfrm>
            <a:off x="9509760" y="1993392"/>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20% theory · 80% lab</a:t>
            </a:r>
            <a:endParaRPr lang="en-US" sz="750" dirty="0"/>
          </a:p>
        </p:txBody>
      </p:sp>
      <p:sp>
        <p:nvSpPr>
          <p:cNvPr id="16" name="Shape 13"/>
          <p:cNvSpPr/>
          <p:nvPr/>
        </p:nvSpPr>
        <p:spPr>
          <a:xfrm>
            <a:off x="502920" y="2414016"/>
            <a:ext cx="11183112" cy="822960"/>
          </a:xfrm>
          <a:prstGeom prst="roundRect">
            <a:avLst>
              <a:gd name="adj" fmla="val 5556"/>
            </a:avLst>
          </a:prstGeom>
          <a:solidFill>
            <a:srgbClr val="EEF3FB"/>
          </a:solidFill>
          <a:ln w="9525">
            <a:solidFill>
              <a:srgbClr val="D9E4F5"/>
            </a:solidFill>
            <a:prstDash val="solid"/>
          </a:ln>
        </p:spPr>
      </p:sp>
      <p:sp>
        <p:nvSpPr>
          <p:cNvPr id="17" name="Text 14"/>
          <p:cNvSpPr/>
          <p:nvPr/>
        </p:nvSpPr>
        <p:spPr>
          <a:xfrm>
            <a:off x="685800" y="2587752"/>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8" name="Text 15"/>
          <p:cNvSpPr/>
          <p:nvPr/>
        </p:nvSpPr>
        <p:spPr>
          <a:xfrm>
            <a:off x="1353312" y="2505456"/>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Docker fundamentals for AI services (M3)</a:t>
            </a:r>
            <a:endParaRPr lang="en-US" sz="1350" dirty="0"/>
          </a:p>
        </p:txBody>
      </p:sp>
      <p:sp>
        <p:nvSpPr>
          <p:cNvPr id="19" name="Text 16"/>
          <p:cNvSpPr/>
          <p:nvPr/>
        </p:nvSpPr>
        <p:spPr>
          <a:xfrm>
            <a:off x="1353312" y="2816352"/>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Images vs containers, layers and caching, multi-stage builds, image size discipline, compose</a:t>
            </a:r>
            <a:endParaRPr lang="en-US" sz="1000" dirty="0"/>
          </a:p>
        </p:txBody>
      </p:sp>
      <p:sp>
        <p:nvSpPr>
          <p:cNvPr id="20" name="Text 17"/>
          <p:cNvSpPr/>
          <p:nvPr/>
        </p:nvSpPr>
        <p:spPr>
          <a:xfrm>
            <a:off x="7589520" y="2670048"/>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live build demo</a:t>
            </a:r>
            <a:endParaRPr lang="en-US" sz="950" dirty="0"/>
          </a:p>
        </p:txBody>
      </p:sp>
      <p:sp>
        <p:nvSpPr>
          <p:cNvPr id="21" name="Shape 18"/>
          <p:cNvSpPr/>
          <p:nvPr/>
        </p:nvSpPr>
        <p:spPr>
          <a:xfrm>
            <a:off x="9555480" y="2743200"/>
            <a:ext cx="1216152" cy="164592"/>
          </a:xfrm>
          <a:prstGeom prst="rect">
            <a:avLst/>
          </a:prstGeom>
          <a:solidFill>
            <a:srgbClr val="1D2A5C"/>
          </a:solidFill>
          <a:ln/>
        </p:spPr>
      </p:sp>
      <p:sp>
        <p:nvSpPr>
          <p:cNvPr id="22" name="Shape 19"/>
          <p:cNvSpPr/>
          <p:nvPr/>
        </p:nvSpPr>
        <p:spPr>
          <a:xfrm>
            <a:off x="10771632" y="2743200"/>
            <a:ext cx="521208" cy="164592"/>
          </a:xfrm>
          <a:prstGeom prst="rect">
            <a:avLst/>
          </a:prstGeom>
          <a:solidFill>
            <a:srgbClr val="00A79D"/>
          </a:solidFill>
          <a:ln/>
        </p:spPr>
      </p:sp>
      <p:sp>
        <p:nvSpPr>
          <p:cNvPr id="23" name="Text 20"/>
          <p:cNvSpPr/>
          <p:nvPr/>
        </p:nvSpPr>
        <p:spPr>
          <a:xfrm>
            <a:off x="9509760" y="2926080"/>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70% theory · 30% lab</a:t>
            </a:r>
            <a:endParaRPr lang="en-US" sz="750" dirty="0"/>
          </a:p>
        </p:txBody>
      </p:sp>
      <p:sp>
        <p:nvSpPr>
          <p:cNvPr id="24" name="Shape 21"/>
          <p:cNvSpPr/>
          <p:nvPr/>
        </p:nvSpPr>
        <p:spPr>
          <a:xfrm>
            <a:off x="502920" y="3346704"/>
            <a:ext cx="11183112" cy="822960"/>
          </a:xfrm>
          <a:prstGeom prst="roundRect">
            <a:avLst>
              <a:gd name="adj" fmla="val 5556"/>
            </a:avLst>
          </a:prstGeom>
          <a:solidFill>
            <a:srgbClr val="FFFFFF"/>
          </a:solidFill>
          <a:ln w="9525">
            <a:solidFill>
              <a:srgbClr val="D9E4F5"/>
            </a:solidFill>
            <a:prstDash val="solid"/>
          </a:ln>
        </p:spPr>
      </p:sp>
      <p:sp>
        <p:nvSpPr>
          <p:cNvPr id="25" name="Text 22"/>
          <p:cNvSpPr/>
          <p:nvPr/>
        </p:nvSpPr>
        <p:spPr>
          <a:xfrm>
            <a:off x="685800" y="3520440"/>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6" name="Text 23"/>
          <p:cNvSpPr/>
          <p:nvPr/>
        </p:nvSpPr>
        <p:spPr>
          <a:xfrm>
            <a:off x="1353312" y="3438144"/>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3 — Containerise the service</a:t>
            </a:r>
            <a:endParaRPr lang="en-US" sz="1350" dirty="0"/>
          </a:p>
        </p:txBody>
      </p:sp>
      <p:sp>
        <p:nvSpPr>
          <p:cNvPr id="27" name="Text 24"/>
          <p:cNvSpPr/>
          <p:nvPr/>
        </p:nvSpPr>
        <p:spPr>
          <a:xfrm>
            <a:off x="1353312" y="3749040"/>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Multi-stage Dockerfile, .dockerignore, compose with healthcheck; measure image size and startup</a:t>
            </a:r>
            <a:endParaRPr lang="en-US" sz="1000" dirty="0"/>
          </a:p>
        </p:txBody>
      </p:sp>
      <p:sp>
        <p:nvSpPr>
          <p:cNvPr id="28" name="Text 25"/>
          <p:cNvSpPr/>
          <p:nvPr/>
        </p:nvSpPr>
        <p:spPr>
          <a:xfrm>
            <a:off x="7589520" y="3602736"/>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Guided lab</a:t>
            </a:r>
            <a:endParaRPr lang="en-US" sz="950" dirty="0"/>
          </a:p>
        </p:txBody>
      </p:sp>
      <p:sp>
        <p:nvSpPr>
          <p:cNvPr id="29" name="Shape 26"/>
          <p:cNvSpPr/>
          <p:nvPr/>
        </p:nvSpPr>
        <p:spPr>
          <a:xfrm>
            <a:off x="9555480" y="3675888"/>
            <a:ext cx="173736" cy="164592"/>
          </a:xfrm>
          <a:prstGeom prst="rect">
            <a:avLst/>
          </a:prstGeom>
          <a:solidFill>
            <a:srgbClr val="1D2A5C"/>
          </a:solidFill>
          <a:ln/>
        </p:spPr>
      </p:sp>
      <p:sp>
        <p:nvSpPr>
          <p:cNvPr id="30" name="Shape 27"/>
          <p:cNvSpPr/>
          <p:nvPr/>
        </p:nvSpPr>
        <p:spPr>
          <a:xfrm>
            <a:off x="9729216" y="3675888"/>
            <a:ext cx="1563624" cy="164592"/>
          </a:xfrm>
          <a:prstGeom prst="rect">
            <a:avLst/>
          </a:prstGeom>
          <a:solidFill>
            <a:srgbClr val="00A79D"/>
          </a:solidFill>
          <a:ln/>
        </p:spPr>
      </p:sp>
      <p:sp>
        <p:nvSpPr>
          <p:cNvPr id="31" name="Text 28"/>
          <p:cNvSpPr/>
          <p:nvPr/>
        </p:nvSpPr>
        <p:spPr>
          <a:xfrm>
            <a:off x="9509760" y="3858768"/>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10% theory · 90% lab</a:t>
            </a:r>
            <a:endParaRPr lang="en-US" sz="750" dirty="0"/>
          </a:p>
        </p:txBody>
      </p:sp>
      <p:sp>
        <p:nvSpPr>
          <p:cNvPr id="32" name="Shape 29"/>
          <p:cNvSpPr/>
          <p:nvPr/>
        </p:nvSpPr>
        <p:spPr>
          <a:xfrm>
            <a:off x="502920" y="4279392"/>
            <a:ext cx="11183112" cy="822960"/>
          </a:xfrm>
          <a:prstGeom prst="roundRect">
            <a:avLst>
              <a:gd name="adj" fmla="val 5556"/>
            </a:avLst>
          </a:prstGeom>
          <a:solidFill>
            <a:srgbClr val="EEF3FB"/>
          </a:solidFill>
          <a:ln w="9525">
            <a:solidFill>
              <a:srgbClr val="D9E4F5"/>
            </a:solidFill>
            <a:prstDash val="solid"/>
          </a:ln>
        </p:spPr>
      </p:sp>
      <p:sp>
        <p:nvSpPr>
          <p:cNvPr id="33" name="Text 30"/>
          <p:cNvSpPr/>
          <p:nvPr/>
        </p:nvSpPr>
        <p:spPr>
          <a:xfrm>
            <a:off x="685800" y="4453128"/>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4" name="Text 31"/>
          <p:cNvSpPr/>
          <p:nvPr/>
        </p:nvSpPr>
        <p:spPr>
          <a:xfrm>
            <a:off x="1353312" y="4370832"/>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Testing strategies for ML code (M4)</a:t>
            </a:r>
            <a:endParaRPr lang="en-US" sz="1350" dirty="0"/>
          </a:p>
        </p:txBody>
      </p:sp>
      <p:sp>
        <p:nvSpPr>
          <p:cNvPr id="35" name="Text 32"/>
          <p:cNvSpPr/>
          <p:nvPr/>
        </p:nvSpPr>
        <p:spPr>
          <a:xfrm>
            <a:off x="1353312" y="4681728"/>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Testing pyramid for ML; unit vs integration vs model-behaviour; fixtures; invariance/directional</a:t>
            </a:r>
            <a:endParaRPr lang="en-US" sz="1000" dirty="0"/>
          </a:p>
        </p:txBody>
      </p:sp>
      <p:sp>
        <p:nvSpPr>
          <p:cNvPr id="36" name="Text 33"/>
          <p:cNvSpPr/>
          <p:nvPr/>
        </p:nvSpPr>
        <p:spPr>
          <a:xfrm>
            <a:off x="7589520" y="4535424"/>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test-writing demo</a:t>
            </a:r>
            <a:endParaRPr lang="en-US" sz="950" dirty="0"/>
          </a:p>
        </p:txBody>
      </p:sp>
      <p:sp>
        <p:nvSpPr>
          <p:cNvPr id="37" name="Shape 34"/>
          <p:cNvSpPr/>
          <p:nvPr/>
        </p:nvSpPr>
        <p:spPr>
          <a:xfrm>
            <a:off x="9555480" y="4608576"/>
            <a:ext cx="1216152" cy="164592"/>
          </a:xfrm>
          <a:prstGeom prst="rect">
            <a:avLst/>
          </a:prstGeom>
          <a:solidFill>
            <a:srgbClr val="1D2A5C"/>
          </a:solidFill>
          <a:ln/>
        </p:spPr>
      </p:sp>
      <p:sp>
        <p:nvSpPr>
          <p:cNvPr id="38" name="Shape 35"/>
          <p:cNvSpPr/>
          <p:nvPr/>
        </p:nvSpPr>
        <p:spPr>
          <a:xfrm>
            <a:off x="10771632" y="4608576"/>
            <a:ext cx="521208" cy="164592"/>
          </a:xfrm>
          <a:prstGeom prst="rect">
            <a:avLst/>
          </a:prstGeom>
          <a:solidFill>
            <a:srgbClr val="00A79D"/>
          </a:solidFill>
          <a:ln/>
        </p:spPr>
      </p:sp>
      <p:sp>
        <p:nvSpPr>
          <p:cNvPr id="39" name="Text 36"/>
          <p:cNvSpPr/>
          <p:nvPr/>
        </p:nvSpPr>
        <p:spPr>
          <a:xfrm>
            <a:off x="9509760" y="4791456"/>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70% theory · 30% lab</a:t>
            </a:r>
            <a:endParaRPr lang="en-US" sz="750" dirty="0"/>
          </a:p>
        </p:txBody>
      </p:sp>
      <p:sp>
        <p:nvSpPr>
          <p:cNvPr id="40" name="Shape 37"/>
          <p:cNvSpPr/>
          <p:nvPr/>
        </p:nvSpPr>
        <p:spPr>
          <a:xfrm>
            <a:off x="502920" y="5212080"/>
            <a:ext cx="11183112" cy="822960"/>
          </a:xfrm>
          <a:prstGeom prst="roundRect">
            <a:avLst>
              <a:gd name="adj" fmla="val 5556"/>
            </a:avLst>
          </a:prstGeom>
          <a:solidFill>
            <a:srgbClr val="FFFFFF"/>
          </a:solidFill>
          <a:ln w="9525">
            <a:solidFill>
              <a:srgbClr val="D9E4F5"/>
            </a:solidFill>
            <a:prstDash val="solid"/>
          </a:ln>
        </p:spPr>
      </p:sp>
      <p:sp>
        <p:nvSpPr>
          <p:cNvPr id="41" name="Text 38"/>
          <p:cNvSpPr/>
          <p:nvPr/>
        </p:nvSpPr>
        <p:spPr>
          <a:xfrm>
            <a:off x="685800" y="5385816"/>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2" name="Text 39"/>
          <p:cNvSpPr/>
          <p:nvPr/>
        </p:nvSpPr>
        <p:spPr>
          <a:xfrm>
            <a:off x="1353312" y="5303520"/>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4 — Test suite</a:t>
            </a:r>
            <a:endParaRPr lang="en-US" sz="1350" dirty="0"/>
          </a:p>
        </p:txBody>
      </p:sp>
      <p:sp>
        <p:nvSpPr>
          <p:cNvPr id="43" name="Text 40"/>
          <p:cNvSpPr/>
          <p:nvPr/>
        </p:nvSpPr>
        <p:spPr>
          <a:xfrm>
            <a:off x="1353312" y="5614416"/>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pytest unit + API integration + behavioural tests; coverage report ≥ 80% on the service layer</a:t>
            </a:r>
            <a:endParaRPr lang="en-US" sz="1000" dirty="0"/>
          </a:p>
        </p:txBody>
      </p:sp>
      <p:sp>
        <p:nvSpPr>
          <p:cNvPr id="44" name="Text 41"/>
          <p:cNvSpPr/>
          <p:nvPr/>
        </p:nvSpPr>
        <p:spPr>
          <a:xfrm>
            <a:off x="7589520" y="5468112"/>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Guided lab</a:t>
            </a:r>
            <a:endParaRPr lang="en-US" sz="950" dirty="0"/>
          </a:p>
        </p:txBody>
      </p:sp>
      <p:sp>
        <p:nvSpPr>
          <p:cNvPr id="45" name="Shape 42"/>
          <p:cNvSpPr/>
          <p:nvPr/>
        </p:nvSpPr>
        <p:spPr>
          <a:xfrm>
            <a:off x="9555480" y="5541264"/>
            <a:ext cx="173736" cy="164592"/>
          </a:xfrm>
          <a:prstGeom prst="rect">
            <a:avLst/>
          </a:prstGeom>
          <a:solidFill>
            <a:srgbClr val="1D2A5C"/>
          </a:solidFill>
          <a:ln/>
        </p:spPr>
      </p:sp>
      <p:sp>
        <p:nvSpPr>
          <p:cNvPr id="46" name="Shape 43"/>
          <p:cNvSpPr/>
          <p:nvPr/>
        </p:nvSpPr>
        <p:spPr>
          <a:xfrm>
            <a:off x="9729216" y="5541264"/>
            <a:ext cx="1563624" cy="164592"/>
          </a:xfrm>
          <a:prstGeom prst="rect">
            <a:avLst/>
          </a:prstGeom>
          <a:solidFill>
            <a:srgbClr val="00A79D"/>
          </a:solidFill>
          <a:ln/>
        </p:spPr>
      </p:sp>
      <p:sp>
        <p:nvSpPr>
          <p:cNvPr id="47" name="Text 44"/>
          <p:cNvSpPr/>
          <p:nvPr/>
        </p:nvSpPr>
        <p:spPr>
          <a:xfrm>
            <a:off x="9509760" y="5724144"/>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10% theory · 90% lab</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2 · MODULE 3</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Docker and Containerised Services</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دوكر والخدمات الموضوعة في حاويات</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mental model</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images, layers, containers, registries — and the build cache</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Multi-stage builds</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builder room vs runtime room: 2.4 GB naive → 410 MB slim</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Runtime hygiene</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non-root, /ready healthcheck, exec-form CMD, secrets discipline</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docker compose</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the local production simulator, healthcheck-gated</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1 hour lecture + 50 min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3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الثالثة — أهداف التعلم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56</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3.1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Explain images, layers, containers, registries, and the build cache</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3.2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Author a multi-stage Dockerfile for the fraud service — slim, non-root, healthchecked</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3.3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Use .dockerignore and layer ordering to achieve &lt; 30 s warm rebuilds</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3.4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Orchestrate the service and its dependencies locally with docker compose</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3.5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LO2 · LO6</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Benchmark image size, startup time, and containerised latency</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Every objective is exercised in Lab 3 and measured against the module benchmark table.</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Why containers for AI services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الحاويات لخدمات الذكاء الاصطناعي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'It works on my machine' is fatal</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AI services couple code to heavyweight, version-sensitive numerical stacks. Containers freeze the entire runtime — OS libraries, Python, BLAS, model deps — into an immutable, shippable artefact.</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The deployment currency</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On-prem OpenShift in Saudi banks, managed Kubernetes at STC/Aramco scale, serverless container platforms — a clean image with a healthcheck integrates in days; 'a conda env and a README', months.</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Size and startup are money</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Image size and startup time translate directly into autoscaling cost and incident recovery speed — pull time on cold nodes bounds how fast you can scale out.</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Where this bites</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Factory edge boxes</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CV inspection image must be &lt; 1 GB and start &lt; 10 s on modest hardware</a:t>
            </a:r>
            <a:endParaRPr lang="en-US" sz="950" dirty="0"/>
          </a:p>
        </p:txBody>
      </p:sp>
      <p:sp>
        <p:nvSpPr>
          <p:cNvPr id="22" name="Shape 19"/>
          <p:cNvSpPr/>
          <p:nvPr/>
        </p:nvSpPr>
        <p:spPr>
          <a:xfrm rot="2700000">
            <a:off x="6556248" y="3441192"/>
            <a:ext cx="128016" cy="128016"/>
          </a:xfrm>
          <a:prstGeom prst="rect">
            <a:avLst/>
          </a:prstGeom>
          <a:solidFill>
            <a:srgbClr val="29ABE2"/>
          </a:solidFill>
          <a:ln/>
        </p:spPr>
      </p:sp>
      <p:sp>
        <p:nvSpPr>
          <p:cNvPr id="23" name="Text 20"/>
          <p:cNvSpPr/>
          <p:nvPr/>
        </p:nvSpPr>
        <p:spPr>
          <a:xfrm>
            <a:off x="6812280" y="33497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Fraud scorer autoscaling</a:t>
            </a:r>
            <a:endParaRPr lang="en-US" sz="1100" dirty="0"/>
          </a:p>
        </p:txBody>
      </p:sp>
      <p:sp>
        <p:nvSpPr>
          <p:cNvPr id="24" name="Text 21"/>
          <p:cNvSpPr/>
          <p:nvPr/>
        </p:nvSpPr>
        <p:spPr>
          <a:xfrm>
            <a:off x="6812280" y="36149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container startup time bounds scale-out during salary-day traffic spikes</a:t>
            </a:r>
            <a:endParaRPr lang="en-US" sz="950" dirty="0"/>
          </a:p>
        </p:txBody>
      </p:sp>
      <p:sp>
        <p:nvSpPr>
          <p:cNvPr id="25" name="Shape 22"/>
          <p:cNvSpPr/>
          <p:nvPr/>
        </p:nvSpPr>
        <p:spPr>
          <a:xfrm rot="2700000">
            <a:off x="6556248" y="4751832"/>
            <a:ext cx="128016" cy="128016"/>
          </a:xfrm>
          <a:prstGeom prst="rect">
            <a:avLst/>
          </a:prstGeom>
          <a:solidFill>
            <a:srgbClr val="F58220"/>
          </a:solidFill>
          <a:ln/>
        </p:spPr>
      </p:sp>
      <p:sp>
        <p:nvSpPr>
          <p:cNvPr id="26" name="Text 23"/>
          <p:cNvSpPr/>
          <p:nvPr/>
        </p:nvSpPr>
        <p:spPr>
          <a:xfrm>
            <a:off x="6812280" y="46603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Hospital compliance</a:t>
            </a:r>
            <a:endParaRPr lang="en-US" sz="1100" dirty="0"/>
          </a:p>
        </p:txBody>
      </p:sp>
      <p:sp>
        <p:nvSpPr>
          <p:cNvPr id="27" name="Text 24"/>
          <p:cNvSpPr/>
          <p:nvPr/>
        </p:nvSpPr>
        <p:spPr>
          <a:xfrm>
            <a:off x="6812280" y="49255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same triage image, byte-identical, in two isolated networks</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mental model — image, container, registry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النموذج الذهني — الصورة والحاوية والسجل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58</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IMAGE</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 read-only layer stack</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Filesystem layers plus metadata — env, entrypoint, exposed ports. Immutable once built: the frozen artefact you ship.</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CONTAINER</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Image + writable layer + process</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 running instance: the image plus a thin writable layer and a process. Start, stop, remove — the image is untouched.</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REGISTRY</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Distribution by content digest</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fraud-service@sha256:… is immutable truth; tags like :1.4.2 or :latest are movable pointers over it.</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TAGS</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:latest is an anti-pattern</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Production pins digests or immutable tags. With :latest deployed, 'what is running?' becomes unanswerable.</a:t>
            </a:r>
            <a:endParaRPr lang="en-US" sz="9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Layer caching — the golden ordering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التخزين المؤقت للطبقات — الترتيب الذهبي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59</a:t>
            </a:r>
            <a:endParaRPr lang="en-US" sz="850" dirty="0"/>
          </a:p>
        </p:txBody>
      </p:sp>
      <p:sp>
        <p:nvSpPr>
          <p:cNvPr id="8" name="Shape 5"/>
          <p:cNvSpPr/>
          <p:nvPr/>
        </p:nvSpPr>
        <p:spPr>
          <a:xfrm>
            <a:off x="502920" y="1965960"/>
            <a:ext cx="3471672" cy="2377440"/>
          </a:xfrm>
          <a:prstGeom prst="roundRect">
            <a:avLst>
              <a:gd name="adj" fmla="val 2692"/>
            </a:avLst>
          </a:prstGeom>
          <a:solidFill>
            <a:srgbClr val="FFFFFF"/>
          </a:solidFill>
          <a:ln w="12700">
            <a:solidFill>
              <a:srgbClr val="D9E4F5"/>
            </a:solidFill>
            <a:prstDash val="solid"/>
          </a:ln>
        </p:spPr>
      </p:sp>
      <p:sp>
        <p:nvSpPr>
          <p:cNvPr id="9" name="Shape 6"/>
          <p:cNvSpPr/>
          <p:nvPr/>
        </p:nvSpPr>
        <p:spPr>
          <a:xfrm>
            <a:off x="502920" y="1965960"/>
            <a:ext cx="3471672" cy="82296"/>
          </a:xfrm>
          <a:prstGeom prst="rect">
            <a:avLst/>
          </a:prstGeom>
          <a:solidFill>
            <a:srgbClr val="00A79D"/>
          </a:solidFill>
          <a:ln/>
        </p:spPr>
      </p:sp>
      <p:sp>
        <p:nvSpPr>
          <p:cNvPr id="10" name="Text 7"/>
          <p:cNvSpPr/>
          <p:nvPr/>
        </p:nvSpPr>
        <p:spPr>
          <a:xfrm>
            <a:off x="640080" y="2148840"/>
            <a:ext cx="319735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3197352"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 · Dependency layer</a:t>
            </a:r>
            <a:endParaRPr lang="en-US" sz="1250" dirty="0"/>
          </a:p>
        </p:txBody>
      </p:sp>
      <p:sp>
        <p:nvSpPr>
          <p:cNvPr id="12" name="Text 9"/>
          <p:cNvSpPr/>
          <p:nvPr/>
        </p:nvSpPr>
        <p:spPr>
          <a:xfrm>
            <a:off x="640080" y="2971800"/>
            <a:ext cx="3197352"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COPY requirements.lock alone, then pip install — slow, rarely changes, cached across code edits</a:t>
            </a:r>
            <a:endParaRPr lang="en-US" sz="950" dirty="0"/>
          </a:p>
        </p:txBody>
      </p:sp>
      <p:sp>
        <p:nvSpPr>
          <p:cNvPr id="13" name="Shape 10"/>
          <p:cNvSpPr/>
          <p:nvPr/>
        </p:nvSpPr>
        <p:spPr>
          <a:xfrm>
            <a:off x="4029456" y="3026664"/>
            <a:ext cx="274320" cy="256032"/>
          </a:xfrm>
          <a:prstGeom prst="chevron">
            <a:avLst/>
          </a:prstGeom>
          <a:solidFill>
            <a:srgbClr val="00A79D"/>
          </a:solidFill>
          <a:ln/>
        </p:spPr>
      </p:sp>
      <p:sp>
        <p:nvSpPr>
          <p:cNvPr id="14" name="Shape 11"/>
          <p:cNvSpPr/>
          <p:nvPr/>
        </p:nvSpPr>
        <p:spPr>
          <a:xfrm>
            <a:off x="4358640" y="1965960"/>
            <a:ext cx="3471672" cy="2377440"/>
          </a:xfrm>
          <a:prstGeom prst="roundRect">
            <a:avLst>
              <a:gd name="adj" fmla="val 2692"/>
            </a:avLst>
          </a:prstGeom>
          <a:solidFill>
            <a:srgbClr val="FFFFFF"/>
          </a:solidFill>
          <a:ln w="12700">
            <a:solidFill>
              <a:srgbClr val="D9E4F5"/>
            </a:solidFill>
            <a:prstDash val="solid"/>
          </a:ln>
        </p:spPr>
      </p:sp>
      <p:sp>
        <p:nvSpPr>
          <p:cNvPr id="15" name="Shape 12"/>
          <p:cNvSpPr/>
          <p:nvPr/>
        </p:nvSpPr>
        <p:spPr>
          <a:xfrm>
            <a:off x="4358640" y="1965960"/>
            <a:ext cx="3471672" cy="82296"/>
          </a:xfrm>
          <a:prstGeom prst="rect">
            <a:avLst/>
          </a:prstGeom>
          <a:solidFill>
            <a:srgbClr val="29ABE2"/>
          </a:solidFill>
          <a:ln/>
        </p:spPr>
      </p:sp>
      <p:sp>
        <p:nvSpPr>
          <p:cNvPr id="16" name="Text 13"/>
          <p:cNvSpPr/>
          <p:nvPr/>
        </p:nvSpPr>
        <p:spPr>
          <a:xfrm>
            <a:off x="4495800" y="2148840"/>
            <a:ext cx="319735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4495800" y="2404872"/>
            <a:ext cx="3197352"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2 · Source layer</a:t>
            </a:r>
            <a:endParaRPr lang="en-US" sz="1250" dirty="0"/>
          </a:p>
        </p:txBody>
      </p:sp>
      <p:sp>
        <p:nvSpPr>
          <p:cNvPr id="18" name="Text 15"/>
          <p:cNvSpPr/>
          <p:nvPr/>
        </p:nvSpPr>
        <p:spPr>
          <a:xfrm>
            <a:off x="4495800" y="2971800"/>
            <a:ext cx="3197352"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COPY src/ — changes every commit, but rebuilds in seconds</a:t>
            </a:r>
            <a:endParaRPr lang="en-US" sz="950" dirty="0"/>
          </a:p>
        </p:txBody>
      </p:sp>
      <p:sp>
        <p:nvSpPr>
          <p:cNvPr id="19" name="Shape 16"/>
          <p:cNvSpPr/>
          <p:nvPr/>
        </p:nvSpPr>
        <p:spPr>
          <a:xfrm>
            <a:off x="7885176" y="3026664"/>
            <a:ext cx="274320" cy="256032"/>
          </a:xfrm>
          <a:prstGeom prst="chevron">
            <a:avLst/>
          </a:prstGeom>
          <a:solidFill>
            <a:srgbClr val="00A79D"/>
          </a:solidFill>
          <a:ln/>
        </p:spPr>
      </p:sp>
      <p:sp>
        <p:nvSpPr>
          <p:cNvPr id="20" name="Shape 17"/>
          <p:cNvSpPr/>
          <p:nvPr/>
        </p:nvSpPr>
        <p:spPr>
          <a:xfrm>
            <a:off x="8214360" y="1965960"/>
            <a:ext cx="3471672" cy="2377440"/>
          </a:xfrm>
          <a:prstGeom prst="roundRect">
            <a:avLst>
              <a:gd name="adj" fmla="val 2692"/>
            </a:avLst>
          </a:prstGeom>
          <a:solidFill>
            <a:srgbClr val="FFFFFF"/>
          </a:solidFill>
          <a:ln w="12700">
            <a:solidFill>
              <a:srgbClr val="D9E4F5"/>
            </a:solidFill>
            <a:prstDash val="solid"/>
          </a:ln>
        </p:spPr>
      </p:sp>
      <p:sp>
        <p:nvSpPr>
          <p:cNvPr id="21" name="Shape 18"/>
          <p:cNvSpPr/>
          <p:nvPr/>
        </p:nvSpPr>
        <p:spPr>
          <a:xfrm>
            <a:off x="8214360" y="1965960"/>
            <a:ext cx="3471672" cy="82296"/>
          </a:xfrm>
          <a:prstGeom prst="rect">
            <a:avLst/>
          </a:prstGeom>
          <a:solidFill>
            <a:srgbClr val="F58220"/>
          </a:solidFill>
          <a:ln/>
        </p:spPr>
      </p:sp>
      <p:sp>
        <p:nvSpPr>
          <p:cNvPr id="22" name="Text 19"/>
          <p:cNvSpPr/>
          <p:nvPr/>
        </p:nvSpPr>
        <p:spPr>
          <a:xfrm>
            <a:off x="8351520" y="2148840"/>
            <a:ext cx="319735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8351520" y="2404872"/>
            <a:ext cx="3197352"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3 · Model layer</a:t>
            </a:r>
            <a:endParaRPr lang="en-US" sz="1250" dirty="0"/>
          </a:p>
        </p:txBody>
      </p:sp>
      <p:sp>
        <p:nvSpPr>
          <p:cNvPr id="24" name="Text 21"/>
          <p:cNvSpPr/>
          <p:nvPr/>
        </p:nvSpPr>
        <p:spPr>
          <a:xfrm>
            <a:off x="8351520" y="2971800"/>
            <a:ext cx="3197352"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COPY models/ as its own layer — changes on retrain, not on code change</a:t>
            </a:r>
            <a:endParaRPr lang="en-US" sz="950" dirty="0"/>
          </a:p>
        </p:txBody>
      </p:sp>
      <p:sp>
        <p:nvSpPr>
          <p:cNvPr id="25" name="Shape 22"/>
          <p:cNvSpPr/>
          <p:nvPr/>
        </p:nvSpPr>
        <p:spPr>
          <a:xfrm>
            <a:off x="502920" y="4892040"/>
            <a:ext cx="11183112" cy="1051560"/>
          </a:xfrm>
          <a:prstGeom prst="roundRect">
            <a:avLst>
              <a:gd name="adj" fmla="val 6087"/>
            </a:avLst>
          </a:prstGeom>
          <a:solidFill>
            <a:srgbClr val="D4F1EE"/>
          </a:solidFill>
          <a:ln/>
        </p:spPr>
      </p:sp>
      <p:sp>
        <p:nvSpPr>
          <p:cNvPr id="26" name="Text 23"/>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A layer rebuilds only if its inputs changed: the instruction, the files it copies, and every layer before it. COPY . . before pip install forces a full dependency reinstall on every edit — 25-second rebuilds become 8-minute rebuilds.</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Naive build vs cache-disciplined build</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بناء ساذج مقابل بناء منضبط الذاكرة المؤقتة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60</a:t>
            </a:r>
            <a:endParaRPr lang="en-US" sz="850" dirty="0"/>
          </a:p>
        </p:txBody>
      </p:sp>
      <p:sp>
        <p:nvSpPr>
          <p:cNvPr id="8" name="Shape 5"/>
          <p:cNvSpPr/>
          <p:nvPr/>
        </p:nvSpPr>
        <p:spPr>
          <a:xfrm>
            <a:off x="502920" y="1508760"/>
            <a:ext cx="5440680" cy="3977640"/>
          </a:xfrm>
          <a:prstGeom prst="roundRect">
            <a:avLst>
              <a:gd name="adj" fmla="val 1609"/>
            </a:avLst>
          </a:prstGeom>
          <a:solidFill>
            <a:srgbClr val="FFFFFF"/>
          </a:solidFill>
          <a:ln w="12700">
            <a:solidFill>
              <a:srgbClr val="D9E4F5"/>
            </a:solidFill>
            <a:prstDash val="solid"/>
          </a:ln>
        </p:spPr>
      </p:sp>
      <p:sp>
        <p:nvSpPr>
          <p:cNvPr id="9" name="Shape 6"/>
          <p:cNvSpPr/>
          <p:nvPr/>
        </p:nvSpPr>
        <p:spPr>
          <a:xfrm>
            <a:off x="502920" y="1508760"/>
            <a:ext cx="5440680" cy="475488"/>
          </a:xfrm>
          <a:prstGeom prst="roundRect">
            <a:avLst>
              <a:gd name="adj" fmla="val 13462"/>
            </a:avLst>
          </a:prstGeom>
          <a:solidFill>
            <a:srgbClr val="FADDD8"/>
          </a:solidFill>
          <a:ln/>
        </p:spPr>
      </p:sp>
      <p:sp>
        <p:nvSpPr>
          <p:cNvPr id="10" name="Text 7"/>
          <p:cNvSpPr/>
          <p:nvPr/>
        </p:nvSpPr>
        <p:spPr>
          <a:xfrm>
            <a:off x="685800" y="1545336"/>
            <a:ext cx="5074920" cy="402336"/>
          </a:xfrm>
          <a:prstGeom prst="rect">
            <a:avLst/>
          </a:prstGeom>
          <a:noFill/>
          <a:ln/>
        </p:spPr>
        <p:txBody>
          <a:bodyPr wrap="square" rtlCol="0" anchor="ctr"/>
          <a:lstStyle/>
          <a:p>
            <a:pPr indent="0" marL="0">
              <a:buNone/>
            </a:pPr>
            <a:r>
              <a:rPr lang="en-US" sz="1300" b="1" dirty="0">
                <a:solidFill>
                  <a:srgbClr val="E8503A"/>
                </a:solidFill>
                <a:latin typeface="Calibri" pitchFamily="34" charset="0"/>
                <a:ea typeface="Calibri" pitchFamily="34" charset="-122"/>
                <a:cs typeface="Calibri" pitchFamily="34" charset="-120"/>
              </a:rPr>
              <a:t>Naive single-stage</a:t>
            </a:r>
            <a:endParaRPr lang="en-US" sz="1300" dirty="0"/>
          </a:p>
        </p:txBody>
      </p:sp>
      <p:sp>
        <p:nvSpPr>
          <p:cNvPr id="11" name="Text 8"/>
          <p:cNvSpPr/>
          <p:nvPr/>
        </p:nvSpPr>
        <p:spPr>
          <a:xfrm>
            <a:off x="667512" y="21671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2" name="Text 9"/>
          <p:cNvSpPr/>
          <p:nvPr/>
        </p:nvSpPr>
        <p:spPr>
          <a:xfrm>
            <a:off x="978408"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COPY . . before pip install — cache destroyed on every edit</a:t>
            </a:r>
            <a:endParaRPr lang="en-US" sz="1050" dirty="0"/>
          </a:p>
        </p:txBody>
      </p:sp>
      <p:sp>
        <p:nvSpPr>
          <p:cNvPr id="13" name="Text 10"/>
          <p:cNvSpPr/>
          <p:nvPr/>
        </p:nvSpPr>
        <p:spPr>
          <a:xfrm>
            <a:off x="667512" y="29672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978408"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2.41 GB image · 6m12s cold build · 5m40s warm rebuild</a:t>
            </a:r>
            <a:endParaRPr lang="en-US" sz="1050" dirty="0"/>
          </a:p>
        </p:txBody>
      </p:sp>
      <p:sp>
        <p:nvSpPr>
          <p:cNvPr id="15" name="Text 12"/>
          <p:cNvSpPr/>
          <p:nvPr/>
        </p:nvSpPr>
        <p:spPr>
          <a:xfrm>
            <a:off x="667512" y="37673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978408"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Compilers, pip cache and tests shipped to production</a:t>
            </a:r>
            <a:endParaRPr lang="en-US" sz="1050" dirty="0"/>
          </a:p>
        </p:txBody>
      </p:sp>
      <p:sp>
        <p:nvSpPr>
          <p:cNvPr id="17" name="Text 14"/>
          <p:cNvSpPr/>
          <p:nvPr/>
        </p:nvSpPr>
        <p:spPr>
          <a:xfrm>
            <a:off x="667512" y="45674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978408"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Root user, no healthcheck — first flags in any security review</a:t>
            </a:r>
            <a:endParaRPr lang="en-US" sz="1050" dirty="0"/>
          </a:p>
        </p:txBody>
      </p:sp>
      <p:sp>
        <p:nvSpPr>
          <p:cNvPr id="19" name="Shape 16"/>
          <p:cNvSpPr/>
          <p:nvPr/>
        </p:nvSpPr>
        <p:spPr>
          <a:xfrm>
            <a:off x="6245352" y="1508760"/>
            <a:ext cx="5440680" cy="3977640"/>
          </a:xfrm>
          <a:prstGeom prst="roundRect">
            <a:avLst>
              <a:gd name="adj" fmla="val 1609"/>
            </a:avLst>
          </a:prstGeom>
          <a:solidFill>
            <a:srgbClr val="FFFFFF"/>
          </a:solidFill>
          <a:ln w="12700">
            <a:solidFill>
              <a:srgbClr val="D9E4F5"/>
            </a:solidFill>
            <a:prstDash val="solid"/>
          </a:ln>
        </p:spPr>
      </p:sp>
      <p:sp>
        <p:nvSpPr>
          <p:cNvPr id="20" name="Shape 17"/>
          <p:cNvSpPr/>
          <p:nvPr/>
        </p:nvSpPr>
        <p:spPr>
          <a:xfrm>
            <a:off x="6245352" y="1508760"/>
            <a:ext cx="5440680" cy="475488"/>
          </a:xfrm>
          <a:prstGeom prst="roundRect">
            <a:avLst>
              <a:gd name="adj" fmla="val 13462"/>
            </a:avLst>
          </a:prstGeom>
          <a:solidFill>
            <a:srgbClr val="EAF4DC"/>
          </a:solidFill>
          <a:ln/>
        </p:spPr>
      </p:sp>
      <p:sp>
        <p:nvSpPr>
          <p:cNvPr id="21" name="Text 18"/>
          <p:cNvSpPr/>
          <p:nvPr/>
        </p:nvSpPr>
        <p:spPr>
          <a:xfrm>
            <a:off x="6428232" y="1545336"/>
            <a:ext cx="5074920" cy="402336"/>
          </a:xfrm>
          <a:prstGeom prst="rect">
            <a:avLst/>
          </a:prstGeom>
          <a:noFill/>
          <a:ln/>
        </p:spPr>
        <p:txBody>
          <a:bodyPr wrap="square" rtlCol="0" anchor="ctr"/>
          <a:lstStyle/>
          <a:p>
            <a:pPr indent="0" marL="0">
              <a:buNone/>
            </a:pPr>
            <a:r>
              <a:rPr lang="en-US" sz="1300" b="1" dirty="0">
                <a:solidFill>
                  <a:srgbClr val="5A8F1F"/>
                </a:solidFill>
                <a:latin typeface="Calibri" pitchFamily="34" charset="0"/>
                <a:ea typeface="Calibri" pitchFamily="34" charset="-122"/>
                <a:cs typeface="Calibri" pitchFamily="34" charset="-120"/>
              </a:rPr>
              <a:t>Multi-stage, cache-disciplined</a:t>
            </a:r>
            <a:endParaRPr lang="en-US" sz="1300" dirty="0"/>
          </a:p>
        </p:txBody>
      </p:sp>
      <p:sp>
        <p:nvSpPr>
          <p:cNvPr id="22" name="Text 19"/>
          <p:cNvSpPr/>
          <p:nvPr/>
        </p:nvSpPr>
        <p:spPr>
          <a:xfrm>
            <a:off x="6409944" y="21671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6720840"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deps → src → model ordering; dependency layer cache-hits</a:t>
            </a:r>
            <a:endParaRPr lang="en-US" sz="1050" dirty="0"/>
          </a:p>
        </p:txBody>
      </p:sp>
      <p:sp>
        <p:nvSpPr>
          <p:cNvPr id="24" name="Text 21"/>
          <p:cNvSpPr/>
          <p:nvPr/>
        </p:nvSpPr>
        <p:spPr>
          <a:xfrm>
            <a:off x="6409944" y="29672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6720840"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412 MB image · 3m05s cold build · 22 s warm rebuild</a:t>
            </a:r>
            <a:endParaRPr lang="en-US" sz="1050" dirty="0"/>
          </a:p>
        </p:txBody>
      </p:sp>
      <p:sp>
        <p:nvSpPr>
          <p:cNvPr id="26" name="Text 23"/>
          <p:cNvSpPr/>
          <p:nvPr/>
        </p:nvSpPr>
        <p:spPr>
          <a:xfrm>
            <a:off x="6409944" y="37673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7" name="Text 24"/>
          <p:cNvSpPr/>
          <p:nvPr/>
        </p:nvSpPr>
        <p:spPr>
          <a:xfrm>
            <a:off x="6720840"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Runtime ships only /opt/venv, src and the model artefact</a:t>
            </a:r>
            <a:endParaRPr lang="en-US" sz="1050" dirty="0"/>
          </a:p>
        </p:txBody>
      </p:sp>
      <p:sp>
        <p:nvSpPr>
          <p:cNvPr id="28" name="Text 25"/>
          <p:cNvSpPr/>
          <p:nvPr/>
        </p:nvSpPr>
        <p:spPr>
          <a:xfrm>
            <a:off x="6409944" y="45674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6720840"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Non-root appuser, /ready healthcheck, exec-form CMD</a:t>
            </a:r>
            <a:endParaRPr lang="en-US" sz="1050" dirty="0"/>
          </a:p>
        </p:txBody>
      </p:sp>
      <p:sp>
        <p:nvSpPr>
          <p:cNvPr id="30" name="Shape 27"/>
          <p:cNvSpPr/>
          <p:nvPr/>
        </p:nvSpPr>
        <p:spPr>
          <a:xfrm>
            <a:off x="502920" y="5650992"/>
            <a:ext cx="11183112" cy="566928"/>
          </a:xfrm>
          <a:prstGeom prst="roundRect">
            <a:avLst>
              <a:gd name="adj" fmla="val 11290"/>
            </a:avLst>
          </a:prstGeom>
          <a:solidFill>
            <a:srgbClr val="1D2A5C"/>
          </a:solidFill>
          <a:ln/>
        </p:spPr>
      </p:sp>
      <p:sp>
        <p:nvSpPr>
          <p:cNvPr id="31" name="Text 28"/>
          <p:cNvSpPr/>
          <p:nvPr/>
        </p:nvSpPr>
        <p:spPr>
          <a:xfrm>
            <a:off x="777240" y="5650992"/>
            <a:ext cx="10698480" cy="566928"/>
          </a:xfrm>
          <a:prstGeom prst="rect">
            <a:avLst/>
          </a:prstGeom>
          <a:noFill/>
          <a:ln/>
        </p:spPr>
        <p:txBody>
          <a:bodyPr wrap="square" rtlCol="0" anchor="ctr"/>
          <a:lstStyle/>
          <a:p>
            <a:pPr indent="0" marL="0">
              <a:buNone/>
            </a:pPr>
            <a:r>
              <a:rPr lang="en-US" sz="1000" b="1" dirty="0">
                <a:solidFill>
                  <a:srgbClr val="00A79D"/>
                </a:solidFill>
                <a:latin typeface="Calibri" pitchFamily="34" charset="0"/>
                <a:ea typeface="Calibri" pitchFamily="34" charset="-122"/>
                <a:cs typeface="Calibri" pitchFamily="34" charset="-120"/>
              </a:rPr>
              <a:t>TAKEAWAY   </a:t>
            </a:r>
            <a:pPr indent="0" marL="0">
              <a:buNone/>
            </a:pPr>
            <a:r>
              <a:rPr lang="en-US" sz="1150" dirty="0">
                <a:solidFill>
                  <a:srgbClr val="FFFFFF"/>
                </a:solidFill>
                <a:latin typeface="Calibri" pitchFamily="34" charset="0"/>
                <a:ea typeface="Calibri" pitchFamily="34" charset="-122"/>
                <a:cs typeface="Calibri" pitchFamily="34" charset="-120"/>
              </a:rPr>
              <a:t>Same service, same code — 6× smaller and 15× faster rebuilds. Lab 3 makes every pair measure both and post their numbers.</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Multi-stage builds — build room vs run room</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البناء متعدد المراحل — غرفة البناء وغرفة التشغيل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61</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Stage 1 — builder</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Full toolchain: build-essential, headers, pip. Resolves and installs dependencies into a virtualenv. Nothing from this room ships.</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Stage 2 — runtime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python:3.12-slim. Copies only the virtualenv and src/ — no compilers, no pip cache, no tests. Every binary left behind is one less CVE candidate.</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What crosses the door</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COPY --from=builder /opt/venv /opt/venv is the single narrow doorway. Typical fraud-service result: 2.4 GB naive → 410 MB multi-stage slim.</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GPU services — same pattern, 10× stakes</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With CUDA base images the pattern is identical and the size stakes are ten times larger — the Jubail case study lives exactly here.</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Multi-stage Dockerfile — the builder stage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ملف دوكر متعدد المراحل — مرحلة البناء</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62</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Dockerfile — stage 1 of 2</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Stage 1: builder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python:3.12-slim AS builder</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RUN apt-get update &amp;&amp; apt-get install -y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--no-install-recommends build-essential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&amp;&amp; rm -rf /var/lib/apt/lists/*</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WORKDIR /app</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1) Dependency layer: changes rarely =&gt; cached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COPY requirements.lock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RUN python -m venv /opt/venv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&amp;&amp; /opt/venv/bin/pip install --no-cache-dir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 requirements.lock</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2) Source layer: changes every commit, cheap</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COPY pyproject.toml README.md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COPY src/ src/</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RUN /opt/venv/bin/pip install --no-cache-dir --no-deps .</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Builder-only toolchain</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build-essential exists to compile wheels; it never reaches the runtime image.</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Dependency layer first</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requirements.lock is copied alone — the slow pip install caches across every code edit.</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Source layer second</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src/ changes every commit but rebuilds in seconds; never place it above the install.</a:t>
            </a:r>
            <a:endParaRPr lang="en-US" sz="93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Multi-stage Dockerfile — the runtime stage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ملف دوكر متعدد المراحل — مرحلة التشغيل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63</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Dockerfile — stage 2 of 2</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Stage 2: runtime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FROM python:3.12-slim AS runtime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RUN useradd --create-home --uid 10001 appuser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RUN apt-get update &amp;&amp; apt-get install -y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--no-install-recommends curl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&amp;&amp; rm -rf /var/lib/apt/lists/*</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COPY --from=builder /opt/venv /opt/venv</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3) Model layer: retrain won't invalidate src cache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COPY models/fraud_xgb_v3.joblib /models/fraud_xgb_v3.joblib</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ENV PATH="/opt/venv/bin:$PATH" PYTHONUNBUFFERED=1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USER appuser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EXPOSE 8000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HEALTHCHECK --interval=10s --timeout=3s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--start-period=20s --retries=3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CMD curl -fsS http://localhost:8000/v1/ready || exit 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CMD ["uvicorn", "fraud_service.api.app:create_app",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"--factory", "--host", "0.0.0.0", "--port", "8000"]</a:t>
            </a:r>
            <a:endParaRPr lang="en-US" sz="10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Non-root user</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USER appuser before CMD — root-in-container is the first thing any security review flags.</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Healthcheck hits /ready</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Not /health. start-period=20s covers model load so a warming container isn't marked unhealthy.</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Exec-form CMD = PID 1</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uvicorn receives SIGTERM directly → graceful shutdown. Shell form swallows the signal.</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Model as its own layer</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A retrain rebuilds only this layer; a code edit never re-copies the artefact.</a:t>
            </a:r>
            <a:endParaRPr lang="en-US" sz="93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Image-size discipline in numbers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انضباط حجم الصورة بالأرقام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64</a:t>
            </a:r>
            <a:endParaRPr lang="en-US" sz="850" dirty="0"/>
          </a:p>
        </p:txBody>
      </p:sp>
      <p:sp>
        <p:nvSpPr>
          <p:cNvPr id="8" name="Shape 5"/>
          <p:cNvSpPr/>
          <p:nvPr/>
        </p:nvSpPr>
        <p:spPr>
          <a:xfrm>
            <a:off x="502920" y="2011680"/>
            <a:ext cx="2555748" cy="3108960"/>
          </a:xfrm>
          <a:prstGeom prst="roundRect">
            <a:avLst>
              <a:gd name="adj" fmla="val 2862"/>
            </a:avLst>
          </a:prstGeom>
          <a:solidFill>
            <a:srgbClr val="EEF3FB"/>
          </a:solidFill>
          <a:ln/>
        </p:spPr>
      </p:sp>
      <p:sp>
        <p:nvSpPr>
          <p:cNvPr id="9" name="Shape 6"/>
          <p:cNvSpPr/>
          <p:nvPr/>
        </p:nvSpPr>
        <p:spPr>
          <a:xfrm>
            <a:off x="731520" y="2331720"/>
            <a:ext cx="502920" cy="54864"/>
          </a:xfrm>
          <a:prstGeom prst="rect">
            <a:avLst/>
          </a:prstGeom>
          <a:solidFill>
            <a:srgbClr val="00A79D"/>
          </a:solidFill>
          <a:ln/>
        </p:spPr>
      </p:sp>
      <p:sp>
        <p:nvSpPr>
          <p:cNvPr id="10" name="Text 7"/>
          <p:cNvSpPr/>
          <p:nvPr/>
        </p:nvSpPr>
        <p:spPr>
          <a:xfrm>
            <a:off x="685800" y="2514600"/>
            <a:ext cx="2189988" cy="822960"/>
          </a:xfrm>
          <a:prstGeom prst="rect">
            <a:avLst/>
          </a:prstGeom>
          <a:noFill/>
          <a:ln/>
        </p:spPr>
        <p:txBody>
          <a:bodyPr wrap="square" rtlCol="0" anchor="ctr"/>
          <a:lstStyle/>
          <a:p>
            <a:pPr indent="0" marL="0">
              <a:buNone/>
            </a:pPr>
            <a:r>
              <a:rPr lang="en-US" sz="3800" b="1" dirty="0">
                <a:solidFill>
                  <a:srgbClr val="00A79D"/>
                </a:solidFill>
                <a:latin typeface="Calibri" pitchFamily="34" charset="0"/>
                <a:ea typeface="Calibri" pitchFamily="34" charset="-122"/>
                <a:cs typeface="Calibri" pitchFamily="34" charset="-120"/>
              </a:rPr>
              <a:t>2.41 GB</a:t>
            </a:r>
            <a:endParaRPr lang="en-US" sz="3800" dirty="0"/>
          </a:p>
        </p:txBody>
      </p:sp>
      <p:sp>
        <p:nvSpPr>
          <p:cNvPr id="11" name="Text 8"/>
          <p:cNvSpPr/>
          <p:nvPr/>
        </p:nvSpPr>
        <p:spPr>
          <a:xfrm>
            <a:off x="731520"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naive single-stage</a:t>
            </a:r>
            <a:endParaRPr lang="en-US" sz="1250" dirty="0"/>
          </a:p>
        </p:txBody>
      </p:sp>
      <p:sp>
        <p:nvSpPr>
          <p:cNvPr id="12" name="Text 9"/>
          <p:cNvSpPr/>
          <p:nvPr/>
        </p:nvSpPr>
        <p:spPr>
          <a:xfrm>
            <a:off x="731520"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COPY . . plus full toolchain shipped — 6m12s cold build</a:t>
            </a:r>
            <a:endParaRPr lang="en-US" sz="980" dirty="0"/>
          </a:p>
        </p:txBody>
      </p:sp>
      <p:sp>
        <p:nvSpPr>
          <p:cNvPr id="13" name="Shape 10"/>
          <p:cNvSpPr/>
          <p:nvPr/>
        </p:nvSpPr>
        <p:spPr>
          <a:xfrm>
            <a:off x="3378708" y="2011680"/>
            <a:ext cx="2555748" cy="3108960"/>
          </a:xfrm>
          <a:prstGeom prst="roundRect">
            <a:avLst>
              <a:gd name="adj" fmla="val 2862"/>
            </a:avLst>
          </a:prstGeom>
          <a:solidFill>
            <a:srgbClr val="EEF3FB"/>
          </a:solidFill>
          <a:ln/>
        </p:spPr>
      </p:sp>
      <p:sp>
        <p:nvSpPr>
          <p:cNvPr id="14" name="Shape 11"/>
          <p:cNvSpPr/>
          <p:nvPr/>
        </p:nvSpPr>
        <p:spPr>
          <a:xfrm>
            <a:off x="3607308" y="2331720"/>
            <a:ext cx="502920" cy="54864"/>
          </a:xfrm>
          <a:prstGeom prst="rect">
            <a:avLst/>
          </a:prstGeom>
          <a:solidFill>
            <a:srgbClr val="29ABE2"/>
          </a:solidFill>
          <a:ln/>
        </p:spPr>
      </p:sp>
      <p:sp>
        <p:nvSpPr>
          <p:cNvPr id="15" name="Text 12"/>
          <p:cNvSpPr/>
          <p:nvPr/>
        </p:nvSpPr>
        <p:spPr>
          <a:xfrm>
            <a:off x="3561588" y="2514600"/>
            <a:ext cx="2189988" cy="822960"/>
          </a:xfrm>
          <a:prstGeom prst="rect">
            <a:avLst/>
          </a:prstGeom>
          <a:noFill/>
          <a:ln/>
        </p:spPr>
        <p:txBody>
          <a:bodyPr wrap="square" rtlCol="0" anchor="ctr"/>
          <a:lstStyle/>
          <a:p>
            <a:pPr indent="0" marL="0">
              <a:buNone/>
            </a:pPr>
            <a:r>
              <a:rPr lang="en-US" sz="3800" b="1" dirty="0">
                <a:solidFill>
                  <a:srgbClr val="29ABE2"/>
                </a:solidFill>
                <a:latin typeface="Calibri" pitchFamily="34" charset="0"/>
                <a:ea typeface="Calibri" pitchFamily="34" charset="-122"/>
                <a:cs typeface="Calibri" pitchFamily="34" charset="-120"/>
              </a:rPr>
              <a:t>412 MB</a:t>
            </a:r>
            <a:endParaRPr lang="en-US" sz="3800" dirty="0"/>
          </a:p>
        </p:txBody>
      </p:sp>
      <p:sp>
        <p:nvSpPr>
          <p:cNvPr id="16" name="Text 13"/>
          <p:cNvSpPr/>
          <p:nvPr/>
        </p:nvSpPr>
        <p:spPr>
          <a:xfrm>
            <a:off x="3607308"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multi-stage slim</a:t>
            </a:r>
            <a:endParaRPr lang="en-US" sz="1250" dirty="0"/>
          </a:p>
        </p:txBody>
      </p:sp>
      <p:sp>
        <p:nvSpPr>
          <p:cNvPr id="17" name="Text 14"/>
          <p:cNvSpPr/>
          <p:nvPr/>
        </p:nvSpPr>
        <p:spPr>
          <a:xfrm>
            <a:off x="3607308"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22 s warm rebuild — beats the ≤ 450 MB course target</a:t>
            </a:r>
            <a:endParaRPr lang="en-US" sz="980" dirty="0"/>
          </a:p>
        </p:txBody>
      </p:sp>
      <p:sp>
        <p:nvSpPr>
          <p:cNvPr id="18" name="Shape 15"/>
          <p:cNvSpPr/>
          <p:nvPr/>
        </p:nvSpPr>
        <p:spPr>
          <a:xfrm>
            <a:off x="6254496" y="2011680"/>
            <a:ext cx="2555748" cy="3108960"/>
          </a:xfrm>
          <a:prstGeom prst="roundRect">
            <a:avLst>
              <a:gd name="adj" fmla="val 2862"/>
            </a:avLst>
          </a:prstGeom>
          <a:solidFill>
            <a:srgbClr val="EEF3FB"/>
          </a:solidFill>
          <a:ln/>
        </p:spPr>
      </p:sp>
      <p:sp>
        <p:nvSpPr>
          <p:cNvPr id="19" name="Shape 16"/>
          <p:cNvSpPr/>
          <p:nvPr/>
        </p:nvSpPr>
        <p:spPr>
          <a:xfrm>
            <a:off x="6483096" y="2331720"/>
            <a:ext cx="502920" cy="54864"/>
          </a:xfrm>
          <a:prstGeom prst="rect">
            <a:avLst/>
          </a:prstGeom>
          <a:solidFill>
            <a:srgbClr val="F58220"/>
          </a:solidFill>
          <a:ln/>
        </p:spPr>
      </p:sp>
      <p:sp>
        <p:nvSpPr>
          <p:cNvPr id="20" name="Text 17"/>
          <p:cNvSpPr/>
          <p:nvPr/>
        </p:nvSpPr>
        <p:spPr>
          <a:xfrm>
            <a:off x="6437376" y="2514600"/>
            <a:ext cx="2189988" cy="822960"/>
          </a:xfrm>
          <a:prstGeom prst="rect">
            <a:avLst/>
          </a:prstGeom>
          <a:noFill/>
          <a:ln/>
        </p:spPr>
        <p:txBody>
          <a:bodyPr wrap="square" rtlCol="0" anchor="ctr"/>
          <a:lstStyle/>
          <a:p>
            <a:pPr indent="0" marL="0">
              <a:buNone/>
            </a:pPr>
            <a:r>
              <a:rPr lang="en-US" sz="3800" b="1" dirty="0">
                <a:solidFill>
                  <a:srgbClr val="F58220"/>
                </a:solidFill>
                <a:latin typeface="Calibri" pitchFamily="34" charset="0"/>
                <a:ea typeface="Calibri" pitchFamily="34" charset="-122"/>
                <a:cs typeface="Calibri" pitchFamily="34" charset="-120"/>
              </a:rPr>
              <a:t>6.8 s</a:t>
            </a:r>
            <a:endParaRPr lang="en-US" sz="3800" dirty="0"/>
          </a:p>
        </p:txBody>
      </p:sp>
      <p:sp>
        <p:nvSpPr>
          <p:cNvPr id="21" name="Text 18"/>
          <p:cNvSpPr/>
          <p:nvPr/>
        </p:nvSpPr>
        <p:spPr>
          <a:xfrm>
            <a:off x="6483096"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time-to-ready</a:t>
            </a:r>
            <a:endParaRPr lang="en-US" sz="1250" dirty="0"/>
          </a:p>
        </p:txBody>
      </p:sp>
      <p:sp>
        <p:nvSpPr>
          <p:cNvPr id="22" name="Text 19"/>
          <p:cNvSpPr/>
          <p:nvPr/>
        </p:nvSpPr>
        <p:spPr>
          <a:xfrm>
            <a:off x="6483096"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start_period covers model load; course target ≤ 10 s</a:t>
            </a:r>
            <a:endParaRPr lang="en-US" sz="980" dirty="0"/>
          </a:p>
        </p:txBody>
      </p:sp>
      <p:sp>
        <p:nvSpPr>
          <p:cNvPr id="23" name="Shape 20"/>
          <p:cNvSpPr/>
          <p:nvPr/>
        </p:nvSpPr>
        <p:spPr>
          <a:xfrm>
            <a:off x="9130284" y="2011680"/>
            <a:ext cx="2555748" cy="3108960"/>
          </a:xfrm>
          <a:prstGeom prst="roundRect">
            <a:avLst>
              <a:gd name="adj" fmla="val 2862"/>
            </a:avLst>
          </a:prstGeom>
          <a:solidFill>
            <a:srgbClr val="EEF3FB"/>
          </a:solidFill>
          <a:ln/>
        </p:spPr>
      </p:sp>
      <p:sp>
        <p:nvSpPr>
          <p:cNvPr id="24" name="Shape 21"/>
          <p:cNvSpPr/>
          <p:nvPr/>
        </p:nvSpPr>
        <p:spPr>
          <a:xfrm>
            <a:off x="9358884" y="2331720"/>
            <a:ext cx="502920" cy="54864"/>
          </a:xfrm>
          <a:prstGeom prst="rect">
            <a:avLst/>
          </a:prstGeom>
          <a:solidFill>
            <a:srgbClr val="8DC63F"/>
          </a:solidFill>
          <a:ln/>
        </p:spPr>
      </p:sp>
      <p:sp>
        <p:nvSpPr>
          <p:cNvPr id="25" name="Text 22"/>
          <p:cNvSpPr/>
          <p:nvPr/>
        </p:nvSpPr>
        <p:spPr>
          <a:xfrm>
            <a:off x="9313164" y="2514600"/>
            <a:ext cx="2189988" cy="822960"/>
          </a:xfrm>
          <a:prstGeom prst="rect">
            <a:avLst/>
          </a:prstGeom>
          <a:noFill/>
          <a:ln/>
        </p:spPr>
        <p:txBody>
          <a:bodyPr wrap="square" rtlCol="0" anchor="ctr"/>
          <a:lstStyle/>
          <a:p>
            <a:pPr indent="0" marL="0">
              <a:buNone/>
            </a:pPr>
            <a:r>
              <a:rPr lang="en-US" sz="3800" b="1" dirty="0">
                <a:solidFill>
                  <a:srgbClr val="8DC63F"/>
                </a:solidFill>
                <a:latin typeface="Calibri" pitchFamily="34" charset="0"/>
                <a:ea typeface="Calibri" pitchFamily="34" charset="-122"/>
                <a:cs typeface="Calibri" pitchFamily="34" charset="-120"/>
              </a:rPr>
              <a:t>41 ms</a:t>
            </a:r>
            <a:endParaRPr lang="en-US" sz="3800" dirty="0"/>
          </a:p>
        </p:txBody>
      </p:sp>
      <p:sp>
        <p:nvSpPr>
          <p:cNvPr id="26" name="Text 23"/>
          <p:cNvSpPr/>
          <p:nvPr/>
        </p:nvSpPr>
        <p:spPr>
          <a:xfrm>
            <a:off x="9358884"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containerised p99</a:t>
            </a:r>
            <a:endParaRPr lang="en-US" sz="1250" dirty="0"/>
          </a:p>
        </p:txBody>
      </p:sp>
      <p:sp>
        <p:nvSpPr>
          <p:cNvPr id="27" name="Text 24"/>
          <p:cNvSpPr/>
          <p:nvPr/>
        </p:nvSpPr>
        <p:spPr>
          <a:xfrm>
            <a:off x="9358884"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vs 38 ms bare-metal — container overhead ≈ nil</a:t>
            </a:r>
            <a:endParaRPr lang="en-US" sz="980" dirty="0"/>
          </a:p>
        </p:txBody>
      </p:sp>
      <p:sp>
        <p:nvSpPr>
          <p:cNvPr id="28" name="Text 25"/>
          <p:cNvSpPr/>
          <p:nvPr/>
        </p:nvSpPr>
        <p:spPr>
          <a:xfrm>
            <a:off x="502920" y="5486400"/>
            <a:ext cx="11155680" cy="274320"/>
          </a:xfrm>
          <a:prstGeom prst="rect">
            <a:avLst/>
          </a:prstGeom>
          <a:noFill/>
          <a:ln/>
        </p:spPr>
        <p:txBody>
          <a:bodyPr wrap="square" rtlCol="0" anchor="ctr"/>
          <a:lstStyle/>
          <a:p>
            <a:pPr indent="0" marL="0">
              <a:buNone/>
            </a:pPr>
            <a:r>
              <a:rPr lang="en-US" sz="900" i="1" dirty="0">
                <a:solidFill>
                  <a:srgbClr val="8A96A6"/>
                </a:solidFill>
                <a:latin typeface="Calibri" pitchFamily="34" charset="0"/>
                <a:ea typeface="Calibri" pitchFamily="34" charset="-122"/>
                <a:cs typeface="Calibri" pitchFamily="34" charset="-120"/>
              </a:rPr>
              <a:t>Lab 3 expected outputs · stretch goal: +ONNX variant at 264 MB, ready in 4.2 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.dockerignore — build-context hygiene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نظافة سياق البناء — ملف التجاهل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65</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.dockerignore</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Build context hygiene: what Docker never needs to see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.git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.venv</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__pycache__/</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*.pyc</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tests/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data/</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notebooks/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.env            # CRITICAL: secrets must never enter the build context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*.md</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!README.md</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.github/</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.pytest_cache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.ruff_cache</a:t>
            </a:r>
            <a:endParaRPr lang="en-US" sz="11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No .dockerignore → a 1.2 GB build context with .git, datasets and venvs — slow builds and accidental secret inclusion.</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Runtime hygiene checklist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نظافة التشغيل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66</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USER</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Non-root or nothing</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useradd appuser; USER before CMD. Root-in-container is the first flag in any security review.</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INSTALLS</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Deterministic installs</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pip install --no-cache-dir -r requirements.lock — lock files inside images = reproducible images.</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HEALTH</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HEALTHCHECK hits /ready</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Not /health — docker ps and compose dependencies must reflect actual serviceability.</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SIGNALS</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Exec-form CMD, PID 1</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uvicorn as PID 1 receives SIGTERM and shuts down gracefully; shell form swallows it.</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CONFIG</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ENV in, secrets never baked</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12-factor: config via environment variables. docker history exposes baked secrets forever.</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PLATFORM</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Apple Silicon gotcha</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Build --platform linux/amd64 for x86 targets or go multi-arch — surface this before the lab.</a:t>
            </a:r>
            <a:endParaRPr lang="en-US" sz="9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Model artefacts — three packaging patterns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أنماط تعبئة النموذج الثلاثة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(a) Baked into the image</a:t>
            </a:r>
            <a:endParaRPr lang="en-US" sz="1350" dirty="0"/>
          </a:p>
        </p:txBody>
      </p:sp>
      <p:sp>
        <p:nvSpPr>
          <p:cNvPr id="10" name="Text 7"/>
          <p:cNvSpPr/>
          <p:nvPr/>
        </p:nvSpPr>
        <p:spPr>
          <a:xfrm>
            <a:off x="1005840" y="18013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Simple, immutable, one image per model version — atomic deploys and rollbacks. Course default: Lab 3 bakes fraud_xgb_v3.joblib as its own layer.</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(b) Volume-mounted</a:t>
            </a:r>
            <a:endParaRPr lang="en-US" sz="1350" dirty="0"/>
          </a:p>
        </p:txBody>
      </p:sp>
      <p:sp>
        <p:nvSpPr>
          <p:cNvPr id="13" name="Text 10"/>
          <p:cNvSpPr/>
          <p:nvPr/>
        </p:nvSpPr>
        <p:spPr>
          <a:xfrm>
            <a:off x="1005840" y="31729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Fast iteration while developing, but the image is no longer self-contained. Demonstrated in the compose stack.</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 Pulled at startup</a:t>
            </a:r>
            <a:endParaRPr lang="en-US" sz="1350" dirty="0"/>
          </a:p>
        </p:txBody>
      </p:sp>
      <p:sp>
        <p:nvSpPr>
          <p:cNvPr id="16" name="Text 13"/>
          <p:cNvSpPr/>
          <p:nvPr/>
        </p:nvSpPr>
        <p:spPr>
          <a:xfrm>
            <a:off x="1005840" y="45445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From a model registry — decouples model release from code release, but requires readiness gating. The production pattern for large models and the bridge to MLOps.</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docker compose — the local production simulator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دوكر كومبوز — محاكي الإنتاج المحلي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68</a:t>
            </a:r>
            <a:endParaRPr lang="en-US" sz="850" dirty="0"/>
          </a:p>
        </p:txBody>
      </p:sp>
      <p:sp>
        <p:nvSpPr>
          <p:cNvPr id="8" name="Shape 5"/>
          <p:cNvSpPr/>
          <p:nvPr/>
        </p:nvSpPr>
        <p:spPr>
          <a:xfrm>
            <a:off x="3886200" y="2217420"/>
            <a:ext cx="1435608" cy="0"/>
          </a:xfrm>
          <a:prstGeom prst="line">
            <a:avLst/>
          </a:prstGeom>
          <a:noFill/>
          <a:ln w="19050">
            <a:solidFill>
              <a:srgbClr val="D9E4F5"/>
            </a:solidFill>
            <a:prstDash val="dash"/>
          </a:ln>
        </p:spPr>
      </p:sp>
      <p:sp>
        <p:nvSpPr>
          <p:cNvPr id="9" name="Shape 6"/>
          <p:cNvSpPr/>
          <p:nvPr/>
        </p:nvSpPr>
        <p:spPr>
          <a:xfrm>
            <a:off x="594360" y="1600200"/>
            <a:ext cx="3291840" cy="1234440"/>
          </a:xfrm>
          <a:prstGeom prst="roundRect">
            <a:avLst>
              <a:gd name="adj" fmla="val 5185"/>
            </a:avLst>
          </a:prstGeom>
          <a:solidFill>
            <a:srgbClr val="D4F1EE"/>
          </a:solidFill>
          <a:ln/>
        </p:spPr>
      </p:sp>
      <p:sp>
        <p:nvSpPr>
          <p:cNvPr id="10" name="Text 7"/>
          <p:cNvSpPr/>
          <p:nvPr/>
        </p:nvSpPr>
        <p:spPr>
          <a:xfrm>
            <a:off x="74066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One-command stack</a:t>
            </a:r>
            <a:endParaRPr lang="en-US" sz="1200" dirty="0"/>
          </a:p>
        </p:txBody>
      </p:sp>
      <p:sp>
        <p:nvSpPr>
          <p:cNvPr id="11" name="Text 8"/>
          <p:cNvSpPr/>
          <p:nvPr/>
        </p:nvSpPr>
        <p:spPr>
          <a:xfrm>
            <a:off x="74066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fraud service + Redis feature cache + mock consumer: docker compose up</a:t>
            </a:r>
            <a:endParaRPr lang="en-US" sz="950" dirty="0"/>
          </a:p>
        </p:txBody>
      </p:sp>
      <p:sp>
        <p:nvSpPr>
          <p:cNvPr id="12" name="Shape 9"/>
          <p:cNvSpPr/>
          <p:nvPr/>
        </p:nvSpPr>
        <p:spPr>
          <a:xfrm>
            <a:off x="3886200" y="4320540"/>
            <a:ext cx="1435608" cy="0"/>
          </a:xfrm>
          <a:prstGeom prst="line">
            <a:avLst/>
          </a:prstGeom>
          <a:noFill/>
          <a:ln w="19050">
            <a:solidFill>
              <a:srgbClr val="D9E4F5"/>
            </a:solidFill>
            <a:prstDash val="dash"/>
          </a:ln>
        </p:spPr>
      </p:sp>
      <p:sp>
        <p:nvSpPr>
          <p:cNvPr id="13" name="Shape 10"/>
          <p:cNvSpPr/>
          <p:nvPr/>
        </p:nvSpPr>
        <p:spPr>
          <a:xfrm>
            <a:off x="594360" y="3703320"/>
            <a:ext cx="3291840" cy="1234440"/>
          </a:xfrm>
          <a:prstGeom prst="roundRect">
            <a:avLst>
              <a:gd name="adj" fmla="val 5185"/>
            </a:avLst>
          </a:prstGeom>
          <a:solidFill>
            <a:srgbClr val="D9F0FA"/>
          </a:solidFill>
          <a:ln/>
        </p:spPr>
      </p:sp>
      <p:sp>
        <p:nvSpPr>
          <p:cNvPr id="14" name="Text 11"/>
          <p:cNvSpPr/>
          <p:nvPr/>
        </p:nvSpPr>
        <p:spPr>
          <a:xfrm>
            <a:off x="74066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Healthcheck-gated depends_on</a:t>
            </a:r>
            <a:endParaRPr lang="en-US" sz="1200" dirty="0"/>
          </a:p>
        </p:txBody>
      </p:sp>
      <p:sp>
        <p:nvSpPr>
          <p:cNvPr id="15" name="Text 12"/>
          <p:cNvSpPr/>
          <p:nvPr/>
        </p:nvSpPr>
        <p:spPr>
          <a:xfrm>
            <a:off x="74066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condition: service_healthy — gate on real readiness, not merely 'started'</a:t>
            </a:r>
            <a:endParaRPr lang="en-US" sz="950" dirty="0"/>
          </a:p>
        </p:txBody>
      </p:sp>
      <p:sp>
        <p:nvSpPr>
          <p:cNvPr id="16" name="Shape 13"/>
          <p:cNvSpPr/>
          <p:nvPr/>
        </p:nvSpPr>
        <p:spPr>
          <a:xfrm>
            <a:off x="3886200" y="5737860"/>
            <a:ext cx="1435608" cy="0"/>
          </a:xfrm>
          <a:prstGeom prst="line">
            <a:avLst/>
          </a:prstGeom>
          <a:noFill/>
          <a:ln w="19050">
            <a:solidFill>
              <a:srgbClr val="D9E4F5"/>
            </a:solidFill>
            <a:prstDash val="dash"/>
          </a:ln>
        </p:spPr>
      </p:sp>
      <p:sp>
        <p:nvSpPr>
          <p:cNvPr id="17" name="Shape 14"/>
          <p:cNvSpPr/>
          <p:nvPr/>
        </p:nvSpPr>
        <p:spPr>
          <a:xfrm>
            <a:off x="594360" y="5120640"/>
            <a:ext cx="3291840" cy="1234440"/>
          </a:xfrm>
          <a:prstGeom prst="roundRect">
            <a:avLst>
              <a:gd name="adj" fmla="val 5185"/>
            </a:avLst>
          </a:prstGeom>
          <a:solidFill>
            <a:srgbClr val="FDEBD7"/>
          </a:solidFill>
          <a:ln/>
        </p:spPr>
      </p:sp>
      <p:sp>
        <p:nvSpPr>
          <p:cNvPr id="18" name="Text 15"/>
          <p:cNvSpPr/>
          <p:nvPr/>
        </p:nvSpPr>
        <p:spPr>
          <a:xfrm>
            <a:off x="74066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Volumes &amp; networks</a:t>
            </a:r>
            <a:endParaRPr lang="en-US" sz="1200" dirty="0"/>
          </a:p>
        </p:txBody>
      </p:sp>
      <p:sp>
        <p:nvSpPr>
          <p:cNvPr id="19" name="Text 16"/>
          <p:cNvSpPr/>
          <p:nvPr/>
        </p:nvSpPr>
        <p:spPr>
          <a:xfrm>
            <a:off x="74066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named volumes for cache data; a private network per stack</a:t>
            </a:r>
            <a:endParaRPr lang="en-US" sz="950" dirty="0"/>
          </a:p>
        </p:txBody>
      </p:sp>
      <p:sp>
        <p:nvSpPr>
          <p:cNvPr id="20" name="Shape 17"/>
          <p:cNvSpPr/>
          <p:nvPr/>
        </p:nvSpPr>
        <p:spPr>
          <a:xfrm>
            <a:off x="6858000" y="2217420"/>
            <a:ext cx="1463040" cy="0"/>
          </a:xfrm>
          <a:prstGeom prst="line">
            <a:avLst/>
          </a:prstGeom>
          <a:noFill/>
          <a:ln w="19050">
            <a:solidFill>
              <a:srgbClr val="D9E4F5"/>
            </a:solidFill>
            <a:prstDash val="dash"/>
          </a:ln>
        </p:spPr>
      </p:sp>
      <p:sp>
        <p:nvSpPr>
          <p:cNvPr id="21" name="Shape 18"/>
          <p:cNvSpPr/>
          <p:nvPr/>
        </p:nvSpPr>
        <p:spPr>
          <a:xfrm>
            <a:off x="8321040" y="1600200"/>
            <a:ext cx="3291840" cy="1234440"/>
          </a:xfrm>
          <a:prstGeom prst="roundRect">
            <a:avLst>
              <a:gd name="adj" fmla="val 5185"/>
            </a:avLst>
          </a:prstGeom>
          <a:solidFill>
            <a:srgbClr val="EAF4DC"/>
          </a:solidFill>
          <a:ln/>
        </p:spPr>
      </p:sp>
      <p:sp>
        <p:nvSpPr>
          <p:cNvPr id="22" name="Text 19"/>
          <p:cNvSpPr/>
          <p:nvPr/>
        </p:nvSpPr>
        <p:spPr>
          <a:xfrm>
            <a:off x="846734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env_file</a:t>
            </a:r>
            <a:endParaRPr lang="en-US" sz="1200" dirty="0"/>
          </a:p>
        </p:txBody>
      </p:sp>
      <p:sp>
        <p:nvSpPr>
          <p:cNvPr id="23" name="Text 20"/>
          <p:cNvSpPr/>
          <p:nvPr/>
        </p:nvSpPr>
        <p:spPr>
          <a:xfrm>
            <a:off x="846734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non-secret dev config enters as environment, never baked into layers</a:t>
            </a:r>
            <a:endParaRPr lang="en-US" sz="950" dirty="0"/>
          </a:p>
        </p:txBody>
      </p:sp>
      <p:sp>
        <p:nvSpPr>
          <p:cNvPr id="24" name="Shape 21"/>
          <p:cNvSpPr/>
          <p:nvPr/>
        </p:nvSpPr>
        <p:spPr>
          <a:xfrm>
            <a:off x="6858000" y="4320540"/>
            <a:ext cx="1463040" cy="0"/>
          </a:xfrm>
          <a:prstGeom prst="line">
            <a:avLst/>
          </a:prstGeom>
          <a:noFill/>
          <a:ln w="19050">
            <a:solidFill>
              <a:srgbClr val="D9E4F5"/>
            </a:solidFill>
            <a:prstDash val="dash"/>
          </a:ln>
        </p:spPr>
      </p:sp>
      <p:sp>
        <p:nvSpPr>
          <p:cNvPr id="25" name="Shape 22"/>
          <p:cNvSpPr/>
          <p:nvPr/>
        </p:nvSpPr>
        <p:spPr>
          <a:xfrm>
            <a:off x="8321040" y="3703320"/>
            <a:ext cx="3291840" cy="1234440"/>
          </a:xfrm>
          <a:prstGeom prst="roundRect">
            <a:avLst>
              <a:gd name="adj" fmla="val 5185"/>
            </a:avLst>
          </a:prstGeom>
          <a:solidFill>
            <a:srgbClr val="FADDD8"/>
          </a:solidFill>
          <a:ln/>
        </p:spPr>
      </p:sp>
      <p:sp>
        <p:nvSpPr>
          <p:cNvPr id="26" name="Text 23"/>
          <p:cNvSpPr/>
          <p:nvPr/>
        </p:nvSpPr>
        <p:spPr>
          <a:xfrm>
            <a:off x="846734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Profiles</a:t>
            </a:r>
            <a:endParaRPr lang="en-US" sz="1200" dirty="0"/>
          </a:p>
        </p:txBody>
      </p:sp>
      <p:sp>
        <p:nvSpPr>
          <p:cNvPr id="27" name="Text 24"/>
          <p:cNvSpPr/>
          <p:nvPr/>
        </p:nvSpPr>
        <p:spPr>
          <a:xfrm>
            <a:off x="846734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--profile loadtest adds a hey load-test container only when asked</a:t>
            </a:r>
            <a:endParaRPr lang="en-US" sz="950" dirty="0"/>
          </a:p>
        </p:txBody>
      </p:sp>
      <p:sp>
        <p:nvSpPr>
          <p:cNvPr id="28" name="Shape 25"/>
          <p:cNvSpPr/>
          <p:nvPr/>
        </p:nvSpPr>
        <p:spPr>
          <a:xfrm>
            <a:off x="6858000" y="5737860"/>
            <a:ext cx="1463040" cy="0"/>
          </a:xfrm>
          <a:prstGeom prst="line">
            <a:avLst/>
          </a:prstGeom>
          <a:noFill/>
          <a:ln w="19050">
            <a:solidFill>
              <a:srgbClr val="D9E4F5"/>
            </a:solidFill>
            <a:prstDash val="dash"/>
          </a:ln>
        </p:spPr>
      </p:sp>
      <p:sp>
        <p:nvSpPr>
          <p:cNvPr id="29" name="Shape 26"/>
          <p:cNvSpPr/>
          <p:nvPr/>
        </p:nvSpPr>
        <p:spPr>
          <a:xfrm>
            <a:off x="8321040" y="5120640"/>
            <a:ext cx="3291840" cy="1234440"/>
          </a:xfrm>
          <a:prstGeom prst="roundRect">
            <a:avLst>
              <a:gd name="adj" fmla="val 5185"/>
            </a:avLst>
          </a:prstGeom>
          <a:solidFill>
            <a:srgbClr val="E9E2F2"/>
          </a:solidFill>
          <a:ln/>
        </p:spPr>
      </p:sp>
      <p:sp>
        <p:nvSpPr>
          <p:cNvPr id="30" name="Text 27"/>
          <p:cNvSpPr/>
          <p:nvPr/>
        </p:nvSpPr>
        <p:spPr>
          <a:xfrm>
            <a:off x="846734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The run-contract</a:t>
            </a:r>
            <a:endParaRPr lang="en-US" sz="1200" dirty="0"/>
          </a:p>
        </p:txBody>
      </p:sp>
      <p:sp>
        <p:nvSpPr>
          <p:cNvPr id="31" name="Text 28"/>
          <p:cNvSpPr/>
          <p:nvPr/>
        </p:nvSpPr>
        <p:spPr>
          <a:xfrm>
            <a:off x="846734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 new joiner types docker compose up and has the full stack running</a:t>
            </a:r>
            <a:endParaRPr lang="en-US" sz="950" dirty="0"/>
          </a:p>
        </p:txBody>
      </p:sp>
      <p:sp>
        <p:nvSpPr>
          <p:cNvPr id="32" name="Shape 29"/>
          <p:cNvSpPr/>
          <p:nvPr/>
        </p:nvSpPr>
        <p:spPr>
          <a:xfrm>
            <a:off x="5129784" y="2953512"/>
            <a:ext cx="1920240" cy="1920240"/>
          </a:xfrm>
          <a:prstGeom prst="ellipse">
            <a:avLst/>
          </a:prstGeom>
          <a:solidFill>
            <a:srgbClr val="1D2A5C"/>
          </a:solidFill>
          <a:ln w="31750">
            <a:solidFill>
              <a:srgbClr val="00A79D"/>
            </a:solidFill>
            <a:prstDash val="solid"/>
          </a:ln>
        </p:spPr>
      </p:sp>
      <p:sp>
        <p:nvSpPr>
          <p:cNvPr id="33" name="Text 30"/>
          <p:cNvSpPr/>
          <p:nvPr/>
        </p:nvSpPr>
        <p:spPr>
          <a:xfrm>
            <a:off x="5221224" y="3044952"/>
            <a:ext cx="1737360" cy="1737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docker compose</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docker-compose.yml — healthcheck-gated stack</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ملف كومبوز — تشغيل مشروط بفحص الصحة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69</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docker-compose.yml</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services: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fraud-api:</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build: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image: fraud-service:dev</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ports: ["8000:8000"]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environment: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REDIS_URL: redis://feature-cache:6379/0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depends_on: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feature-cache: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condition: service_healthy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healthcheck:</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test: ["CMD", "curl", "-fsS",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"http://localhost:8000/v1/ready"]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interval: 10s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start_period: 20s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feature-cache: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image: redis:7-alpine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healthcheck:</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test: ["CMD", "redis-cli", "ping"]</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Gate on real readiness</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condition: service_healthy — the API waits for Redis to answer ping, not just to exist.</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/ready, again</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The container-level healthcheck reuses the readiness endpoint built in Module 2.</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Trimmed from the full file</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Full version adds a 512M memory limit, cache volume, and a hey loadtest profile.</a:t>
            </a:r>
            <a:endParaRPr lang="en-US" sz="93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3 — Containerise the fraud service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٣ — وضع خدمة الاحتيال في حاوية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70</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3</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50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Baseline the naive build (5 min)  </a:t>
            </a:r>
            <a:pPr indent="0" marL="0">
              <a:buNone/>
            </a:pPr>
            <a:r>
              <a:rPr lang="en-US" sz="1000" dirty="0">
                <a:solidFill>
                  <a:srgbClr val="5F6B7A"/>
                </a:solidFill>
                <a:latin typeface="Calibri" pitchFamily="34" charset="0"/>
                <a:ea typeface="Calibri" pitchFamily="34" charset="-122"/>
                <a:cs typeface="Calibri" pitchFamily="34" charset="-120"/>
              </a:rPr>
              <a:t>Write .dockerignore first; build the provided COPY . . Dockerfile; record time and size</a:t>
            </a:r>
            <a:endParaRPr lang="en-US" sz="1050" dirty="0"/>
          </a:p>
        </p:txBody>
      </p:sp>
      <p:sp>
        <p:nvSpPr>
          <p:cNvPr id="12" name="Text 9"/>
          <p:cNvSpPr/>
          <p:nvPr/>
        </p:nvSpPr>
        <p:spPr>
          <a:xfrm>
            <a:off x="502920" y="273100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71272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Multi-stage Dockerfile (15 min)  </a:t>
            </a:r>
            <a:pPr indent="0" marL="0">
              <a:buNone/>
            </a:pPr>
            <a:r>
              <a:rPr lang="en-US" sz="1000" dirty="0">
                <a:solidFill>
                  <a:srgbClr val="5F6B7A"/>
                </a:solidFill>
                <a:latin typeface="Calibri" pitchFamily="34" charset="0"/>
                <a:ea typeface="Calibri" pitchFamily="34" charset="-122"/>
                <a:cs typeface="Calibri" pitchFamily="34" charset="-120"/>
              </a:rPr>
              <a:t>Author per template; build; record size with make image-size</a:t>
            </a:r>
            <a:endParaRPr lang="en-US" sz="1050" dirty="0"/>
          </a:p>
        </p:txBody>
      </p:sp>
      <p:sp>
        <p:nvSpPr>
          <p:cNvPr id="14" name="Text 11"/>
          <p:cNvSpPr/>
          <p:nvPr/>
        </p:nvSpPr>
        <p:spPr>
          <a:xfrm>
            <a:off x="502920" y="343204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41376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Prove cache discipline (5 min)  </a:t>
            </a:r>
            <a:pPr indent="0" marL="0">
              <a:buNone/>
            </a:pPr>
            <a:r>
              <a:rPr lang="en-US" sz="1000" dirty="0">
                <a:solidFill>
                  <a:srgbClr val="5F6B7A"/>
                </a:solidFill>
                <a:latin typeface="Calibri" pitchFamily="34" charset="0"/>
                <a:ea typeface="Calibri" pitchFamily="34" charset="-122"/>
                <a:cs typeface="Calibri" pitchFamily="34" charset="-120"/>
              </a:rPr>
              <a:t>Edit one line in routes.py, rebuild — confirm &lt; 30 s and a dependency-layer cache hit</a:t>
            </a:r>
            <a:endParaRPr lang="en-US" sz="1050" dirty="0"/>
          </a:p>
        </p:txBody>
      </p:sp>
      <p:sp>
        <p:nvSpPr>
          <p:cNvPr id="16" name="Text 13"/>
          <p:cNvSpPr/>
          <p:nvPr/>
        </p:nvSpPr>
        <p:spPr>
          <a:xfrm>
            <a:off x="502920" y="413308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11480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Compose with gating (10 min)  </a:t>
            </a:r>
            <a:pPr indent="0" marL="0">
              <a:buNone/>
            </a:pPr>
            <a:r>
              <a:rPr lang="en-US" sz="1000" dirty="0">
                <a:solidFill>
                  <a:srgbClr val="5F6B7A"/>
                </a:solidFill>
                <a:latin typeface="Calibri" pitchFamily="34" charset="0"/>
                <a:ea typeface="Calibri" pitchFamily="34" charset="-122"/>
                <a:cs typeface="Calibri" pitchFamily="34" charset="-120"/>
              </a:rPr>
              <a:t>Redis + service_healthy; make up; docker compose ps must show healthy</a:t>
            </a:r>
            <a:endParaRPr lang="en-US" sz="1050" dirty="0"/>
          </a:p>
        </p:txBody>
      </p:sp>
      <p:sp>
        <p:nvSpPr>
          <p:cNvPr id="18" name="Text 15"/>
          <p:cNvSpPr/>
          <p:nvPr/>
        </p:nvSpPr>
        <p:spPr>
          <a:xfrm>
            <a:off x="502920" y="483412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481584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Smoke + load test (10 min)  </a:t>
            </a:r>
            <a:pPr indent="0" marL="0">
              <a:buNone/>
            </a:pPr>
            <a:r>
              <a:rPr lang="en-US" sz="1000" dirty="0">
                <a:solidFill>
                  <a:srgbClr val="5F6B7A"/>
                </a:solidFill>
                <a:latin typeface="Calibri" pitchFamily="34" charset="0"/>
                <a:ea typeface="Calibri" pitchFamily="34" charset="-122"/>
                <a:cs typeface="Calibri" pitchFamily="34" charset="-120"/>
              </a:rPr>
              <a:t>make smoke, then --profile loadtest; compare p99 vs bare-metal Lab 2 in BENCHMARKS.md</a:t>
            </a:r>
            <a:endParaRPr lang="en-US" sz="1050" dirty="0"/>
          </a:p>
        </p:txBody>
      </p:sp>
      <p:sp>
        <p:nvSpPr>
          <p:cNvPr id="20" name="Text 17"/>
          <p:cNvSpPr/>
          <p:nvPr/>
        </p:nvSpPr>
        <p:spPr>
          <a:xfrm>
            <a:off x="502920" y="55351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1" name="Text 18"/>
          <p:cNvSpPr/>
          <p:nvPr/>
        </p:nvSpPr>
        <p:spPr>
          <a:xfrm>
            <a:off x="914400" y="55168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Measure startup (5 min)  </a:t>
            </a:r>
            <a:pPr indent="0" marL="0">
              <a:buNone/>
            </a:pPr>
            <a:r>
              <a:rPr lang="en-US" sz="1000" dirty="0">
                <a:solidFill>
                  <a:srgbClr val="5F6B7A"/>
                </a:solidFill>
                <a:latin typeface="Calibri" pitchFamily="34" charset="0"/>
                <a:ea typeface="Calibri" pitchFamily="34" charset="-122"/>
                <a:cs typeface="Calibri" pitchFamily="34" charset="-120"/>
              </a:rPr>
              <a:t>scripts/startup_time.sh; record time-to-ready; commit</a:t>
            </a:r>
            <a:endParaRPr lang="en-US" sz="1050" dirty="0"/>
          </a:p>
        </p:txBody>
      </p:sp>
      <p:sp>
        <p:nvSpPr>
          <p:cNvPr id="22" name="Shape 19"/>
          <p:cNvSpPr/>
          <p:nvPr/>
        </p:nvSpPr>
        <p:spPr>
          <a:xfrm>
            <a:off x="7269480" y="2011680"/>
            <a:ext cx="4416552" cy="1417320"/>
          </a:xfrm>
          <a:prstGeom prst="roundRect">
            <a:avLst>
              <a:gd name="adj" fmla="val 4516"/>
            </a:avLst>
          </a:prstGeom>
          <a:solidFill>
            <a:srgbClr val="D4F1EE"/>
          </a:solidFill>
          <a:ln/>
        </p:spPr>
      </p:sp>
      <p:sp>
        <p:nvSpPr>
          <p:cNvPr id="23" name="Text 20"/>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4" name="Text 21"/>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A slim, non-root, healthchecked image plus a compose stack — naive vs multi-stage size, rebuild time, time-to-ready and p99 recorded in BENCHMARKS.md.</a:t>
            </a:r>
            <a:endParaRPr lang="en-US" sz="1030" dirty="0"/>
          </a:p>
        </p:txBody>
      </p:sp>
      <p:sp>
        <p:nvSpPr>
          <p:cNvPr id="25" name="Shape 22"/>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6" name="Text 23"/>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7" name="Text 24"/>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docker compose ps shows fraud-api (healthy) and feature-cache (healthy); warm rebuild &lt; 30 s; image ≤ 450 MB.</a:t>
            </a:r>
            <a:endParaRPr lang="en-US" sz="1000" dirty="0"/>
          </a:p>
        </p:txBody>
      </p:sp>
      <p:sp>
        <p:nvSpPr>
          <p:cNvPr id="28" name="Shape 25"/>
          <p:cNvSpPr/>
          <p:nvPr/>
        </p:nvSpPr>
        <p:spPr>
          <a:xfrm>
            <a:off x="7269480" y="5166360"/>
            <a:ext cx="4416552" cy="1051560"/>
          </a:xfrm>
          <a:prstGeom prst="roundRect">
            <a:avLst>
              <a:gd name="adj" fmla="val 6087"/>
            </a:avLst>
          </a:prstGeom>
          <a:solidFill>
            <a:srgbClr val="FDEBD7"/>
          </a:solidFill>
          <a:ln/>
        </p:spPr>
      </p:sp>
      <p:sp>
        <p:nvSpPr>
          <p:cNvPr id="29" name="Text 26"/>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exec format error on Apple Silicon? Build with --platform linux/amd64. Container unhealthy? Raise start-period — the model needs load time.</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3 — mini exercises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الثالثة — تمارين قصيرة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71</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 — the secret that never left</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Branch sim-secret-leak: a .env was COPY'd into a layer, then 'deleted'. Prove it is still extractable with docker history + docker save | tar; fix with .dockerignore + runtime env.</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 review — five findings</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Dockerfile PR: FROM python:latest, root user, pip install without a lock, ADD of a URL, healthcheck via ps aux | grep uvicorn. Find all five.</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Discussion — bake vs pull, 6 GB LLM</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For a 6 GB checkpoint, walk the autoscaling, rollback and registry-cost implications of baking versus pulling at startup.</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Dockerfile golf (15 min)</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Pairs get the naive Dockerfile and compete for the smallest working image — leaderboard on the board; winners explain their cuts.</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CV inspection at a Jubail plant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الفحص البصري في مصنع بالجبيل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72</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Manufacturing · Jubail</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 defect-detection CNN must run on 14 edge servers inside a plant network: no internet, 4-hour maintenance windows, a 30-minute cellular backhaul for updates. Each false-negative batch costs ~SAR 40k in downstream rework.</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438912"/>
          </a:xfrm>
          <a:prstGeom prst="line">
            <a:avLst/>
          </a:prstGeom>
          <a:noFill/>
          <a:ln w="19050">
            <a:solidFill>
              <a:srgbClr val="D9E4F5"/>
            </a:solidFill>
            <a:prstDash val="solid"/>
          </a:ln>
        </p:spPr>
      </p:sp>
      <p:sp>
        <p:nvSpPr>
          <p:cNvPr id="13" name="Text 10"/>
          <p:cNvSpPr/>
          <p:nvPr/>
        </p:nvSpPr>
        <p:spPr>
          <a:xfrm>
            <a:off x="960120" y="2953512"/>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Status quo: SSH + git pull + conda  </a:t>
            </a:r>
            <a:pPr indent="0" marL="0">
              <a:buNone/>
            </a:pPr>
            <a:r>
              <a:rPr lang="en-US" sz="1000" dirty="0">
                <a:solidFill>
                  <a:srgbClr val="5F6B7A"/>
                </a:solidFill>
                <a:latin typeface="Calibri" pitchFamily="34" charset="0"/>
                <a:ea typeface="Calibri" pitchFamily="34" charset="-122"/>
                <a:cs typeface="Calibri" pitchFamily="34" charset="-120"/>
              </a:rPr>
              <a:t>40 minutes per box, frequently divergent environments, no rollback</a:t>
            </a:r>
            <a:endParaRPr lang="en-US" sz="1050" dirty="0"/>
          </a:p>
        </p:txBody>
      </p:sp>
      <p:sp>
        <p:nvSpPr>
          <p:cNvPr id="14" name="Shape 11"/>
          <p:cNvSpPr/>
          <p:nvPr/>
        </p:nvSpPr>
        <p:spPr>
          <a:xfrm>
            <a:off x="566928" y="3685032"/>
            <a:ext cx="182880" cy="182880"/>
          </a:xfrm>
          <a:prstGeom prst="ellipse">
            <a:avLst/>
          </a:prstGeom>
          <a:solidFill>
            <a:srgbClr val="29ABE2"/>
          </a:solidFill>
          <a:ln/>
        </p:spPr>
      </p:sp>
      <p:sp>
        <p:nvSpPr>
          <p:cNvPr id="15" name="Shape 12"/>
          <p:cNvSpPr/>
          <p:nvPr/>
        </p:nvSpPr>
        <p:spPr>
          <a:xfrm>
            <a:off x="658368" y="3886200"/>
            <a:ext cx="0" cy="438912"/>
          </a:xfrm>
          <a:prstGeom prst="line">
            <a:avLst/>
          </a:prstGeom>
          <a:noFill/>
          <a:ln w="19050">
            <a:solidFill>
              <a:srgbClr val="D9E4F5"/>
            </a:solidFill>
            <a:prstDash val="solid"/>
          </a:ln>
        </p:spPr>
      </p:sp>
      <p:sp>
        <p:nvSpPr>
          <p:cNvPr id="16" name="Text 13"/>
          <p:cNvSpPr/>
          <p:nvPr/>
        </p:nvSpPr>
        <p:spPr>
          <a:xfrm>
            <a:off x="960120" y="3611880"/>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Constraints frame the design  </a:t>
            </a:r>
            <a:pPr indent="0" marL="0">
              <a:buNone/>
            </a:pPr>
            <a:r>
              <a:rPr lang="en-US" sz="1000" dirty="0">
                <a:solidFill>
                  <a:srgbClr val="5F6B7A"/>
                </a:solidFill>
                <a:latin typeface="Calibri" pitchFamily="34" charset="0"/>
                <a:ea typeface="Calibri" pitchFamily="34" charset="-122"/>
                <a:cs typeface="Calibri" pitchFamily="34" charset="-120"/>
              </a:rPr>
              <a:t>1.9 GB CUDA baseline vs ≈ 900 MB transfer budget; no external registry reachable</a:t>
            </a:r>
            <a:endParaRPr lang="en-US" sz="1050" dirty="0"/>
          </a:p>
        </p:txBody>
      </p:sp>
      <p:sp>
        <p:nvSpPr>
          <p:cNvPr id="17" name="Shape 14"/>
          <p:cNvSpPr/>
          <p:nvPr/>
        </p:nvSpPr>
        <p:spPr>
          <a:xfrm>
            <a:off x="566928" y="4343400"/>
            <a:ext cx="182880" cy="182880"/>
          </a:xfrm>
          <a:prstGeom prst="ellipse">
            <a:avLst/>
          </a:prstGeom>
          <a:solidFill>
            <a:srgbClr val="F58220"/>
          </a:solidFill>
          <a:ln/>
        </p:spPr>
      </p:sp>
      <p:sp>
        <p:nvSpPr>
          <p:cNvPr id="18" name="Shape 15"/>
          <p:cNvSpPr/>
          <p:nvPr/>
        </p:nvSpPr>
        <p:spPr>
          <a:xfrm>
            <a:off x="658368" y="4544568"/>
            <a:ext cx="0" cy="438912"/>
          </a:xfrm>
          <a:prstGeom prst="line">
            <a:avLst/>
          </a:prstGeom>
          <a:noFill/>
          <a:ln w="19050">
            <a:solidFill>
              <a:srgbClr val="D9E4F5"/>
            </a:solidFill>
            <a:prstDash val="solid"/>
          </a:ln>
        </p:spPr>
      </p:sp>
      <p:sp>
        <p:nvSpPr>
          <p:cNvPr id="19" name="Text 16"/>
          <p:cNvSpPr/>
          <p:nvPr/>
        </p:nvSpPr>
        <p:spPr>
          <a:xfrm>
            <a:off x="960120" y="4270248"/>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Prune hard: ONNX over PyTorch  </a:t>
            </a:r>
            <a:pPr indent="0" marL="0">
              <a:buNone/>
            </a:pPr>
            <a:r>
              <a:rPr lang="en-US" sz="1000" dirty="0">
                <a:solidFill>
                  <a:srgbClr val="5F6B7A"/>
                </a:solidFill>
                <a:latin typeface="Calibri" pitchFamily="34" charset="0"/>
                <a:ea typeface="Calibri" pitchFamily="34" charset="-122"/>
                <a:cs typeface="Calibri" pitchFamily="34" charset="-120"/>
              </a:rPr>
              <a:t>Multi-stage CUDA image, dev toolchain stripped, ONNX runtime → 780 MB</a:t>
            </a:r>
            <a:endParaRPr lang="en-US" sz="1050" dirty="0"/>
          </a:p>
        </p:txBody>
      </p:sp>
      <p:sp>
        <p:nvSpPr>
          <p:cNvPr id="20" name="Shape 17"/>
          <p:cNvSpPr/>
          <p:nvPr/>
        </p:nvSpPr>
        <p:spPr>
          <a:xfrm>
            <a:off x="566928" y="5001768"/>
            <a:ext cx="182880" cy="182880"/>
          </a:xfrm>
          <a:prstGeom prst="ellipse">
            <a:avLst/>
          </a:prstGeom>
          <a:solidFill>
            <a:srgbClr val="8DC63F"/>
          </a:solidFill>
          <a:ln/>
        </p:spPr>
      </p:sp>
      <p:sp>
        <p:nvSpPr>
          <p:cNvPr id="21" name="Shape 18"/>
          <p:cNvSpPr/>
          <p:nvPr/>
        </p:nvSpPr>
        <p:spPr>
          <a:xfrm>
            <a:off x="658368" y="5202936"/>
            <a:ext cx="0" cy="438912"/>
          </a:xfrm>
          <a:prstGeom prst="line">
            <a:avLst/>
          </a:prstGeom>
          <a:noFill/>
          <a:ln w="19050">
            <a:solidFill>
              <a:srgbClr val="D9E4F5"/>
            </a:solidFill>
            <a:prstDash val="solid"/>
          </a:ln>
        </p:spPr>
      </p:sp>
      <p:sp>
        <p:nvSpPr>
          <p:cNvPr id="22" name="Text 19"/>
          <p:cNvSpPr/>
          <p:nvPr/>
        </p:nvSpPr>
        <p:spPr>
          <a:xfrm>
            <a:off x="960120" y="4928616"/>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In-plant registry + digest pins  </a:t>
            </a:r>
            <a:pPr indent="0" marL="0">
              <a:buNone/>
            </a:pPr>
            <a:r>
              <a:rPr lang="en-US" sz="1000" dirty="0">
                <a:solidFill>
                  <a:srgbClr val="5F6B7A"/>
                </a:solidFill>
                <a:latin typeface="Calibri" pitchFamily="34" charset="0"/>
                <a:ea typeface="Calibri" pitchFamily="34" charset="-122"/>
                <a:cs typeface="Calibri" pitchFamily="34" charset="-120"/>
              </a:rPr>
              <a:t>Mirror seeded during maintenance windows; deploys via compose-file swap</a:t>
            </a:r>
            <a:endParaRPr lang="en-US" sz="1050" dirty="0"/>
          </a:p>
        </p:txBody>
      </p:sp>
      <p:sp>
        <p:nvSpPr>
          <p:cNvPr id="23" name="Shape 20"/>
          <p:cNvSpPr/>
          <p:nvPr/>
        </p:nvSpPr>
        <p:spPr>
          <a:xfrm>
            <a:off x="566928" y="5660136"/>
            <a:ext cx="182880" cy="182880"/>
          </a:xfrm>
          <a:prstGeom prst="ellipse">
            <a:avLst/>
          </a:prstGeom>
          <a:solidFill>
            <a:srgbClr val="E8503A"/>
          </a:solidFill>
          <a:ln/>
        </p:spPr>
      </p:sp>
      <p:sp>
        <p:nvSpPr>
          <p:cNvPr id="24" name="Text 21"/>
          <p:cNvSpPr/>
          <p:nvPr/>
        </p:nvSpPr>
        <p:spPr>
          <a:xfrm>
            <a:off x="960120" y="5586984"/>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Rollback in seconds  </a:t>
            </a:r>
            <a:pPr indent="0" marL="0">
              <a:buNone/>
            </a:pPr>
            <a:r>
              <a:rPr lang="en-US" sz="1000" dirty="0">
                <a:solidFill>
                  <a:srgbClr val="5F6B7A"/>
                </a:solidFill>
                <a:latin typeface="Calibri" pitchFamily="34" charset="0"/>
                <a:ea typeface="Calibri" pitchFamily="34" charset="-122"/>
                <a:cs typeface="Calibri" pitchFamily="34" charset="-120"/>
              </a:rPr>
              <a:t>Re-point the tag to the previous digest; healthcheck-gated cutover script</a:t>
            </a:r>
            <a:endParaRPr lang="en-US" sz="1050" dirty="0"/>
          </a:p>
        </p:txBody>
      </p:sp>
      <p:sp>
        <p:nvSpPr>
          <p:cNvPr id="25" name="Shape 22"/>
          <p:cNvSpPr/>
          <p:nvPr/>
        </p:nvSpPr>
        <p:spPr>
          <a:xfrm>
            <a:off x="7406640" y="1938528"/>
            <a:ext cx="4279392" cy="4160520"/>
          </a:xfrm>
          <a:prstGeom prst="roundRect">
            <a:avLst>
              <a:gd name="adj" fmla="val 1538"/>
            </a:avLst>
          </a:prstGeom>
          <a:solidFill>
            <a:srgbClr val="EAF4DC"/>
          </a:solidFill>
          <a:ln/>
        </p:spPr>
      </p:sp>
      <p:sp>
        <p:nvSpPr>
          <p:cNvPr id="26" name="Text 23"/>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7" name="Text 24"/>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Model baked into the image (pattern a): atomicity beats flexibility under these constraints</a:t>
            </a:r>
            <a:endParaRPr lang="en-US" sz="1000" dirty="0"/>
          </a:p>
        </p:txBody>
      </p:sp>
      <p:sp>
        <p:nvSpPr>
          <p:cNvPr id="29" name="Text 26"/>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Digest-pinned deploys keep 'what is running?' answerable — :latest here would be untraceable</a:t>
            </a:r>
            <a:endParaRPr lang="en-US" sz="1000" dirty="0"/>
          </a:p>
        </p:txBody>
      </p:sp>
      <p:sp>
        <p:nvSpPr>
          <p:cNvPr id="31" name="Text 28"/>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Image size is a hard business constraint, not aesthetics — the 30-min backhaul sets the budget</a:t>
            </a:r>
            <a:endParaRPr lang="en-US" sz="1000" dirty="0"/>
          </a:p>
        </p:txBody>
      </p:sp>
      <p:sp>
        <p:nvSpPr>
          <p:cNvPr id="33" name="Text 30"/>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Rollback must be executable by a technician at 02:00 — runbooks, not heroics</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3 — checkpoint quiz</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الثالثة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73</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Your Dockerfile runs COPY . . before pip install. What actually breaks?</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The image no longer builds</a:t>
            </a:r>
            <a:endParaRPr lang="en-US" sz="1050" dirty="0"/>
          </a:p>
        </p:txBody>
      </p:sp>
      <p:sp>
        <p:nvSpPr>
          <p:cNvPr id="13" name="Shape 10"/>
          <p:cNvSpPr/>
          <p:nvPr/>
        </p:nvSpPr>
        <p:spPr>
          <a:xfrm>
            <a:off x="502920" y="3447288"/>
            <a:ext cx="5440680" cy="548640"/>
          </a:xfrm>
          <a:prstGeom prst="roundRect">
            <a:avLst>
              <a:gd name="adj" fmla="val 10000"/>
            </a:avLst>
          </a:prstGeom>
          <a:solidFill>
            <a:srgbClr val="D4F1EE"/>
          </a:solidFill>
          <a:ln w="19050">
            <a:solidFill>
              <a:srgbClr val="00A79D"/>
            </a:solidFill>
            <a:prstDash val="solid"/>
          </a:ln>
        </p:spPr>
      </p:sp>
      <p:sp>
        <p:nvSpPr>
          <p:cNvPr id="14" name="Text 11"/>
          <p:cNvSpPr/>
          <p:nvPr/>
        </p:nvSpPr>
        <p:spPr>
          <a:xfrm>
            <a:off x="612648"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Every code edit invalidates the dependency layer's cache   ✓</a:t>
            </a:r>
            <a:endParaRPr lang="en-US" sz="1050" dirty="0"/>
          </a:p>
        </p:txBody>
      </p:sp>
      <p:sp>
        <p:nvSpPr>
          <p:cNvPr id="16" name="Shape 13"/>
          <p:cNvSpPr/>
          <p:nvPr/>
        </p:nvSpPr>
        <p:spPr>
          <a:xfrm>
            <a:off x="502920" y="4105656"/>
            <a:ext cx="5440680" cy="548640"/>
          </a:xfrm>
          <a:prstGeom prst="roundRect">
            <a:avLst>
              <a:gd name="adj" fmla="val 10000"/>
            </a:avLst>
          </a:prstGeom>
          <a:solidFill>
            <a:srgbClr val="FFFFFF"/>
          </a:solidFill>
          <a:ln w="9525">
            <a:solidFill>
              <a:srgbClr val="D9E4F5"/>
            </a:solidFill>
            <a:prstDash val="solid"/>
          </a:ln>
        </p:spPr>
      </p:sp>
      <p:sp>
        <p:nvSpPr>
          <p:cNvPr id="17" name="Text 14"/>
          <p:cNvSpPr/>
          <p:nvPr/>
        </p:nvSpPr>
        <p:spPr>
          <a:xfrm>
            <a:off x="612648"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The container is forced to run as root</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pip can no longer resolve the lock file</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A layer rebuilds when its inputs change. COPY . . makes all source an input to the install layer, so a one-line edit forces the 8-minute reinstall.</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Why must the CMD use exec form to run uvicorn?</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It starts the process faster</a:t>
            </a:r>
            <a:endParaRPr lang="en-US" sz="1050" dirty="0"/>
          </a:p>
        </p:txBody>
      </p:sp>
      <p:sp>
        <p:nvSpPr>
          <p:cNvPr id="27" name="Shape 24"/>
          <p:cNvSpPr/>
          <p:nvPr/>
        </p:nvSpPr>
        <p:spPr>
          <a:xfrm>
            <a:off x="6245352" y="3447288"/>
            <a:ext cx="5440680" cy="548640"/>
          </a:xfrm>
          <a:prstGeom prst="roundRect">
            <a:avLst>
              <a:gd name="adj" fmla="val 10000"/>
            </a:avLst>
          </a:prstGeom>
          <a:solidFill>
            <a:srgbClr val="FFFFFF"/>
          </a:solidFill>
          <a:ln w="9525">
            <a:solidFill>
              <a:srgbClr val="D9E4F5"/>
            </a:solidFill>
            <a:prstDash val="solid"/>
          </a:ln>
        </p:spPr>
      </p:sp>
      <p:sp>
        <p:nvSpPr>
          <p:cNvPr id="28" name="Text 25"/>
          <p:cNvSpPr/>
          <p:nvPr/>
        </p:nvSpPr>
        <p:spPr>
          <a:xfrm>
            <a:off x="6355080" y="3566160"/>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Shell form cannot pass command-line flags</a:t>
            </a:r>
            <a:endParaRPr lang="en-US" sz="1050" dirty="0"/>
          </a:p>
        </p:txBody>
      </p:sp>
      <p:sp>
        <p:nvSpPr>
          <p:cNvPr id="30" name="Shape 27"/>
          <p:cNvSpPr/>
          <p:nvPr/>
        </p:nvSpPr>
        <p:spPr>
          <a:xfrm>
            <a:off x="6245352" y="4105656"/>
            <a:ext cx="5440680" cy="548640"/>
          </a:xfrm>
          <a:prstGeom prst="roundRect">
            <a:avLst>
              <a:gd name="adj" fmla="val 10000"/>
            </a:avLst>
          </a:prstGeom>
          <a:solidFill>
            <a:srgbClr val="D4F1EE"/>
          </a:solidFill>
          <a:ln w="19050">
            <a:solidFill>
              <a:srgbClr val="00A79D"/>
            </a:solidFill>
            <a:prstDash val="solid"/>
          </a:ln>
        </p:spPr>
      </p:sp>
      <p:sp>
        <p:nvSpPr>
          <p:cNvPr id="31" name="Text 28"/>
          <p:cNvSpPr/>
          <p:nvPr/>
        </p:nvSpPr>
        <p:spPr>
          <a:xfrm>
            <a:off x="6355080" y="4224528"/>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uvicorn becomes PID 1 and receives SIGTERM for graceful shutdown   ✓</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Exec form uses less memory</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Shell form wraps the process in /bin/sh, which swallows SIGTERM — docker stop waits out the grace period and hard-kills. Exec form delivers the signal.</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3 ·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A clean image with a healthcheck integrates in days; a conda env and a README integrates in months.</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412 MB, non-root, /ready-healthchecked, ready in 6.8 seconds — the fraud service is now a shippable artefact.</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74</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2 · MODULE 4</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Testing Strategies for ML Code</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استراتيجيات اختبار كود تعلم الآلة</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ML testing pyramid</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unit, integration, model-behaviour, E2E — and where each test belongs</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Fixtures and test doubles</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conftest.py, ConstantModel, dependency overrides — the DI payoff</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Behavioural tests</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invariance, directional expectations, golden files, performance floors</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Coverage that means something</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branch coverage ≥ 80% on domain/service/api — smoke detector, not KPI</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1 hour lecture + 50 min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4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الرابعة — أهداف التعلم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76</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4.1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Structure the ML testing pyramid and place a given test correctly</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4.2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 · LO5</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Write unit tests for domain and service layers using test doubles</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4.3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 · LO1</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Write API integration tests with httpx + dependency overrides</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4.4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Implement invariance, directional, and golden-file model tests</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4.5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LO3 · LO6</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Interpret coverage reports and set defensible thresholds</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Lab 4 delivers all five: a three-level suite at ≥ 80% branch coverage, green before Day 3 begins.</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Why testing ML code is different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يختلف اختبار كود تعلم الآلة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Wrong while running perfectly</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200 OK, valid JSON, a plausible score — and a silently broken model. Classic tests catch broken code; only behavioural tests catch broken behaviour.</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Two defect classes, one suite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Unit tests for logic, integration tests for the API surface, model-behaviour tests for the model itself — all in pytest, all runnable in CI.</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Executable governance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Behavioural suites are increasingly demanded in model-risk reviews — banking model governance, health AI audits. They document what the model is supposed to do, executably.</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Ship daily or ship quarterly</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Untested AI services turn every deploy into a bet. Teams with real test pyramids ship daily; teams without ship quarterly, fearfully.</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ML testing pyramid</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هرم الاختبار لتعلم الآلة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78</a:t>
            </a:r>
            <a:endParaRPr lang="en-US" sz="850" dirty="0"/>
          </a:p>
        </p:txBody>
      </p:sp>
      <p:sp>
        <p:nvSpPr>
          <p:cNvPr id="8" name="Shape 5"/>
          <p:cNvSpPr/>
          <p:nvPr/>
        </p:nvSpPr>
        <p:spPr>
          <a:xfrm>
            <a:off x="502920" y="1600200"/>
            <a:ext cx="6949440" cy="1033272"/>
          </a:xfrm>
          <a:prstGeom prst="roundRect">
            <a:avLst>
              <a:gd name="adj" fmla="val 5310"/>
            </a:avLst>
          </a:prstGeom>
          <a:solidFill>
            <a:srgbClr val="D4F1EE"/>
          </a:solidFill>
          <a:ln w="15875">
            <a:solidFill>
              <a:srgbClr val="00A79D"/>
            </a:solidFill>
            <a:prstDash val="solid"/>
          </a:ln>
        </p:spPr>
      </p:sp>
      <p:sp>
        <p:nvSpPr>
          <p:cNvPr id="9" name="Text 6"/>
          <p:cNvSpPr/>
          <p:nvPr/>
        </p:nvSpPr>
        <p:spPr>
          <a:xfrm>
            <a:off x="731520" y="1673352"/>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E2E / smoke</a:t>
            </a:r>
            <a:endParaRPr lang="en-US" sz="1300" dirty="0"/>
          </a:p>
        </p:txBody>
      </p:sp>
      <p:sp>
        <p:nvSpPr>
          <p:cNvPr id="10" name="Text 7"/>
          <p:cNvSpPr/>
          <p:nvPr/>
        </p:nvSpPr>
        <p:spPr>
          <a:xfrm>
            <a:off x="3004718" y="1673352"/>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Does the shipped artefact work? make smoke against the built container — s–min</a:t>
            </a:r>
            <a:endParaRPr lang="en-US" sz="1000" dirty="0"/>
          </a:p>
        </p:txBody>
      </p:sp>
      <p:sp>
        <p:nvSpPr>
          <p:cNvPr id="11" name="Shape 8"/>
          <p:cNvSpPr/>
          <p:nvPr/>
        </p:nvSpPr>
        <p:spPr>
          <a:xfrm>
            <a:off x="502920" y="2779776"/>
            <a:ext cx="6949440" cy="1033272"/>
          </a:xfrm>
          <a:prstGeom prst="roundRect">
            <a:avLst>
              <a:gd name="adj" fmla="val 5310"/>
            </a:avLst>
          </a:prstGeom>
          <a:solidFill>
            <a:srgbClr val="D9F0FA"/>
          </a:solidFill>
          <a:ln w="15875">
            <a:solidFill>
              <a:srgbClr val="29ABE2"/>
            </a:solidFill>
            <a:prstDash val="solid"/>
          </a:ln>
        </p:spPr>
      </p:sp>
      <p:sp>
        <p:nvSpPr>
          <p:cNvPr id="12" name="Text 9"/>
          <p:cNvSpPr/>
          <p:nvPr/>
        </p:nvSpPr>
        <p:spPr>
          <a:xfrm>
            <a:off x="731520" y="2852928"/>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Model-behaviour</a:t>
            </a:r>
            <a:endParaRPr lang="en-US" sz="1300" dirty="0"/>
          </a:p>
        </p:txBody>
      </p:sp>
      <p:sp>
        <p:nvSpPr>
          <p:cNvPr id="13" name="Text 10"/>
          <p:cNvSpPr/>
          <p:nvPr/>
        </p:nvSpPr>
        <p:spPr>
          <a:xfrm>
            <a:off x="3004718" y="2852928"/>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Does the model act as intended? Monotonicity, casing invariance, golden 5k scores — seconds</a:t>
            </a:r>
            <a:endParaRPr lang="en-US" sz="1000" dirty="0"/>
          </a:p>
        </p:txBody>
      </p:sp>
      <p:sp>
        <p:nvSpPr>
          <p:cNvPr id="14" name="Shape 11"/>
          <p:cNvSpPr/>
          <p:nvPr/>
        </p:nvSpPr>
        <p:spPr>
          <a:xfrm>
            <a:off x="502920" y="3959352"/>
            <a:ext cx="6949440" cy="1033272"/>
          </a:xfrm>
          <a:prstGeom prst="roundRect">
            <a:avLst>
              <a:gd name="adj" fmla="val 5310"/>
            </a:avLst>
          </a:prstGeom>
          <a:solidFill>
            <a:srgbClr val="FDEBD7"/>
          </a:solidFill>
          <a:ln w="15875">
            <a:solidFill>
              <a:srgbClr val="F58220"/>
            </a:solidFill>
            <a:prstDash val="solid"/>
          </a:ln>
        </p:spPr>
      </p:sp>
      <p:sp>
        <p:nvSpPr>
          <p:cNvPr id="15" name="Text 12"/>
          <p:cNvSpPr/>
          <p:nvPr/>
        </p:nvSpPr>
        <p:spPr>
          <a:xfrm>
            <a:off x="731520" y="4032504"/>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Integration</a:t>
            </a:r>
            <a:endParaRPr lang="en-US" sz="1300" dirty="0"/>
          </a:p>
        </p:txBody>
      </p:sp>
      <p:sp>
        <p:nvSpPr>
          <p:cNvPr id="16" name="Text 13"/>
          <p:cNvSpPr/>
          <p:nvPr/>
        </p:nvSpPr>
        <p:spPr>
          <a:xfrm>
            <a:off x="3004718" y="4032504"/>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Do the pieces talk? POST /v1/predict contract, 422 corpus, readiness — ~100 ms</a:t>
            </a:r>
            <a:endParaRPr lang="en-US" sz="1000" dirty="0"/>
          </a:p>
        </p:txBody>
      </p:sp>
      <p:sp>
        <p:nvSpPr>
          <p:cNvPr id="17" name="Shape 14"/>
          <p:cNvSpPr/>
          <p:nvPr/>
        </p:nvSpPr>
        <p:spPr>
          <a:xfrm>
            <a:off x="502920" y="5138928"/>
            <a:ext cx="6949440" cy="1033272"/>
          </a:xfrm>
          <a:prstGeom prst="roundRect">
            <a:avLst>
              <a:gd name="adj" fmla="val 5310"/>
            </a:avLst>
          </a:prstGeom>
          <a:solidFill>
            <a:srgbClr val="EAF4DC"/>
          </a:solidFill>
          <a:ln w="15875">
            <a:solidFill>
              <a:srgbClr val="8DC63F"/>
            </a:solidFill>
            <a:prstDash val="solid"/>
          </a:ln>
        </p:spPr>
      </p:sp>
      <p:sp>
        <p:nvSpPr>
          <p:cNvPr id="18" name="Text 15"/>
          <p:cNvSpPr/>
          <p:nvPr/>
        </p:nvSpPr>
        <p:spPr>
          <a:xfrm>
            <a:off x="731520" y="5212080"/>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Unit</a:t>
            </a:r>
            <a:endParaRPr lang="en-US" sz="1300" dirty="0"/>
          </a:p>
        </p:txBody>
      </p:sp>
      <p:sp>
        <p:nvSpPr>
          <p:cNvPr id="19" name="Text 16"/>
          <p:cNvSpPr/>
          <p:nvPr/>
        </p:nvSpPr>
        <p:spPr>
          <a:xfrm>
            <a:off x="3004718" y="5212080"/>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Is my logic right? decide() bands, to_features(), schema validators — ms</a:t>
            </a:r>
            <a:endParaRPr lang="en-US" sz="1000" dirty="0"/>
          </a:p>
        </p:txBody>
      </p:sp>
      <p:sp>
        <p:nvSpPr>
          <p:cNvPr id="20" name="Shape 17"/>
          <p:cNvSpPr/>
          <p:nvPr/>
        </p:nvSpPr>
        <p:spPr>
          <a:xfrm>
            <a:off x="7772400" y="1600200"/>
            <a:ext cx="3913632" cy="4572000"/>
          </a:xfrm>
          <a:prstGeom prst="roundRect">
            <a:avLst>
              <a:gd name="adj" fmla="val 1636"/>
            </a:avLst>
          </a:prstGeom>
          <a:solidFill>
            <a:srgbClr val="1D2A5C"/>
          </a:solidFill>
          <a:ln/>
        </p:spPr>
      </p:sp>
      <p:sp>
        <p:nvSpPr>
          <p:cNvPr id="21" name="Text 18"/>
          <p:cNvSpPr/>
          <p:nvPr/>
        </p:nvSpPr>
        <p:spPr>
          <a:xfrm>
            <a:off x="7973568" y="1783080"/>
            <a:ext cx="3520440" cy="365760"/>
          </a:xfrm>
          <a:prstGeom prst="rect">
            <a:avLst/>
          </a:prstGeom>
          <a:noFill/>
          <a:ln/>
        </p:spPr>
        <p:txBody>
          <a:bodyPr wrap="square" rtlCol="0" anchor="ctr"/>
          <a:lstStyle/>
          <a:p>
            <a:pPr indent="0" marL="0">
              <a:buNone/>
            </a:pPr>
            <a:r>
              <a:rPr lang="en-US" sz="1300" b="1" dirty="0">
                <a:solidFill>
                  <a:srgbClr val="00A79D"/>
                </a:solidFill>
                <a:latin typeface="Calibri" pitchFamily="34" charset="0"/>
                <a:ea typeface="Calibri" pitchFamily="34" charset="-122"/>
                <a:cs typeface="Calibri" pitchFamily="34" charset="-120"/>
              </a:rPr>
              <a:t>Placement rules</a:t>
            </a:r>
            <a:endParaRPr lang="en-US" sz="1300" dirty="0"/>
          </a:p>
        </p:txBody>
      </p:sp>
      <p:sp>
        <p:nvSpPr>
          <p:cNvPr id="22" name="Text 19"/>
          <p:cNvSpPr/>
          <p:nvPr/>
        </p:nvSpPr>
        <p:spPr>
          <a:xfrm>
            <a:off x="7973568" y="2194560"/>
            <a:ext cx="3520440" cy="3749040"/>
          </a:xfrm>
          <a:prstGeom prst="rect">
            <a:avLst/>
          </a:prstGeom>
          <a:noFill/>
          <a:ln/>
        </p:spPr>
        <p:txBody>
          <a:bodyPr wrap="square" rtlCol="0" anchor="t"/>
          <a:lstStyle/>
          <a:p>
            <a:pPr indent="0" marL="0">
              <a:lnSpc>
                <a:spcPts val="1500"/>
              </a:lnSpc>
              <a:buNone/>
            </a:pPr>
            <a:r>
              <a:rPr lang="en-US" sz="1050" dirty="0">
                <a:solidFill>
                  <a:srgbClr val="D9E4F5"/>
                </a:solidFill>
                <a:latin typeface="Calibri" pitchFamily="34" charset="0"/>
                <a:ea typeface="Calibri" pitchFamily="34" charset="-122"/>
                <a:cs typeface="Calibri" pitchFamily="34" charset="-120"/>
              </a:rPr>
              <a:t>Test a thing at the LOWEST level that can catch its failure. The per-commit suite must finish in minutes — heavyweight retraining evaluations belong to scheduled jobs, not the commit gate. And do not unit-test sklearn's math, pydantic's validation engine, or exact float equality on probabilities — use pytest.approx and golden files with tolerances.</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Unit vs integration vs model-behaviour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اختبارات الوحدة والتكامل وسلوك النموذج</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79</a:t>
            </a:r>
            <a:endParaRPr lang="en-US" sz="85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645920"/>
                <a:gridCol w="2834640"/>
                <a:gridCol w="1188720"/>
                <a:gridCol w="54864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Level</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Question answered</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Fraud-service examples</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Is my logic right?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decide() policy bands · to_features() output · schema validators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Integration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Do the pieces talk correctly?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~100 ms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predict returns contract JSON · 422 corpus · readiness behaviour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Model-behaviour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Does the model act as intended?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amount monotonicity · casing invariance · golden 5k scores · AUC floor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E2E / smoke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Does the shipped artefact work?</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s–min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make smoke against the built container (Modules 3 &amp; 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Two placement rules: test at the lowest level that catches the failure; the per-commit suite finishes in minutes.</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Unit testing the layers — the DI payoff</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الوحدات للطبقات — ثمرة حقن التبعيات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80</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ConstantModel(p) — a ten-line double</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Because FraudScorer depends on a Model protocol, a constant-probability double drives every policy branch without touching sklearn.</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Property-style tests on pure domain</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Every probability in [0,1] maps to exactly one decision; boundaries are inclusive as specified. Minutes to write — and they document the business rules.</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Table-driven feature tests</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Input transaction → expected feature dict, including the nasty cases: midnight hours, Arabic merchant strings, amount = 0.01.</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What not to unit test</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sklearn's math</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the framework is not your code</a:t>
            </a:r>
            <a:endParaRPr lang="en-US" sz="950" dirty="0"/>
          </a:p>
        </p:txBody>
      </p:sp>
      <p:sp>
        <p:nvSpPr>
          <p:cNvPr id="22" name="Shape 19"/>
          <p:cNvSpPr/>
          <p:nvPr/>
        </p:nvSpPr>
        <p:spPr>
          <a:xfrm rot="2700000">
            <a:off x="6556248" y="3441192"/>
            <a:ext cx="128016" cy="128016"/>
          </a:xfrm>
          <a:prstGeom prst="rect">
            <a:avLst/>
          </a:prstGeom>
          <a:solidFill>
            <a:srgbClr val="29ABE2"/>
          </a:solidFill>
          <a:ln/>
        </p:spPr>
      </p:sp>
      <p:sp>
        <p:nvSpPr>
          <p:cNvPr id="23" name="Text 20"/>
          <p:cNvSpPr/>
          <p:nvPr/>
        </p:nvSpPr>
        <p:spPr>
          <a:xfrm>
            <a:off x="6812280" y="33497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pydantic's engine</a:t>
            </a:r>
            <a:endParaRPr lang="en-US" sz="1100" dirty="0"/>
          </a:p>
        </p:txBody>
      </p:sp>
      <p:sp>
        <p:nvSpPr>
          <p:cNvPr id="24" name="Text 21"/>
          <p:cNvSpPr/>
          <p:nvPr/>
        </p:nvSpPr>
        <p:spPr>
          <a:xfrm>
            <a:off x="6812280" y="36149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battle-tested upstream — trust it</a:t>
            </a:r>
            <a:endParaRPr lang="en-US" sz="950" dirty="0"/>
          </a:p>
        </p:txBody>
      </p:sp>
      <p:sp>
        <p:nvSpPr>
          <p:cNvPr id="25" name="Shape 22"/>
          <p:cNvSpPr/>
          <p:nvPr/>
        </p:nvSpPr>
        <p:spPr>
          <a:xfrm rot="2700000">
            <a:off x="6556248" y="4751832"/>
            <a:ext cx="128016" cy="128016"/>
          </a:xfrm>
          <a:prstGeom prst="rect">
            <a:avLst/>
          </a:prstGeom>
          <a:solidFill>
            <a:srgbClr val="F58220"/>
          </a:solidFill>
          <a:ln/>
        </p:spPr>
      </p:sp>
      <p:sp>
        <p:nvSpPr>
          <p:cNvPr id="26" name="Text 23"/>
          <p:cNvSpPr/>
          <p:nvPr/>
        </p:nvSpPr>
        <p:spPr>
          <a:xfrm>
            <a:off x="6812280" y="46603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Exact float equality</a:t>
            </a:r>
            <a:endParaRPr lang="en-US" sz="1100" dirty="0"/>
          </a:p>
        </p:txBody>
      </p:sp>
      <p:sp>
        <p:nvSpPr>
          <p:cNvPr id="27" name="Text 24"/>
          <p:cNvSpPr/>
          <p:nvPr/>
        </p:nvSpPr>
        <p:spPr>
          <a:xfrm>
            <a:off x="6812280" y="49255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use pytest.approx / golden tolerances</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conftest.py — the suite's composition root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جذر التركيب لمجموعة الاختبارات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81</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tests/conftest.py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ConstantModel: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__init__(self, p, version="test-1"):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self._p, self.model_version = p, version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predict_proba(self, features):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RawScore(value=self._p)</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@pytest.fixture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client_factory():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_make(probability=0.10, threshold=0.85):</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app = create_app()</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scorer = FraudScorer(model=ConstantModel(probability),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block_threshold=threshold)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app.dependency_overrides[get_scorer] = lambda: scorer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TestClient(app, raise_server_exceptions=False)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_make</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@pytest.fixture(scope="session")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real_model():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SklearnModel.load("models/fraud_xgb_v3.joblib")</a:t>
            </a:r>
            <a:endParaRPr lang="en-US" sz="10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A double, not a mock library</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ConstantModel implements the Model protocol — drives every policy branch, zero sklearn.</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Same seam as production</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dependency_overrides[get_scorer] swaps the scorer exactly where prod wiring injects it.</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Testable 500s</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raise_server_exceptions=False lets tests assert the error envelope instead of crashing.</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Session-scoped real model</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Load the artefact ONCE for slow tests — per-test loading turns 4 s suites into 90 s.</a:t>
            </a:r>
            <a:endParaRPr lang="en-US" sz="93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Unit tests — decision bands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اختبارات الوحدة — نطاقات القرار</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82</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tests/unit/test_policies.py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import pytest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from fraud_service.domain.entities import Decision, RawScore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from fraud_service.domain.policies import decide</a:t>
            </a:r>
            <a:endParaRPr lang="en-US" sz="1100" dirty="0"/>
          </a:p>
          <a:p>
            <a:pPr indent="0" marL="0">
              <a:lnSpc>
                <a:spcPct val="112000"/>
              </a:lnSpc>
              <a:buNone/>
            </a:pP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@pytest.mark.unit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@pytest.mark.parametrize("p, expected", [</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(0.849999, Decision.REVIEW),  # just under block</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(0.85,     Decision.BLOCK),   # boundary inclusive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(0.699999, Decision.ALLOW),</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(0.70,     Decision.REVIEW),</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(0.0,      Decision.ALLOW),</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(1.0,      Decision.BLOCK),</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def test_decision_bands(p, expected):</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assert decide(RawScore(value=p),</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block_threshold=0.85) is expected</a:t>
            </a:r>
            <a:endParaRPr lang="en-US" sz="1100" dirty="0"/>
          </a:p>
        </p:txBody>
      </p:sp>
      <p:sp>
        <p:nvSpPr>
          <p:cNvPr id="14" name="Shape 11"/>
          <p:cNvSpPr/>
          <p:nvPr/>
        </p:nvSpPr>
        <p:spPr>
          <a:xfrm>
            <a:off x="8321040" y="1481328"/>
            <a:ext cx="3364992" cy="2171700"/>
          </a:xfrm>
          <a:prstGeom prst="roundRect">
            <a:avLst>
              <a:gd name="adj" fmla="val 2526"/>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Boundaries are the spec</a:t>
            </a:r>
            <a:endParaRPr lang="en-US" sz="1050" dirty="0"/>
          </a:p>
        </p:txBody>
      </p:sp>
      <p:sp>
        <p:nvSpPr>
          <p:cNvPr id="16" name="Text 13"/>
          <p:cNvSpPr/>
          <p:nvPr/>
        </p:nvSpPr>
        <p:spPr>
          <a:xfrm>
            <a:off x="8485632" y="1847088"/>
            <a:ext cx="3063240" cy="171450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0.85 → BLOCK is inclusive — a documented business rule frozen as an executable test.</a:t>
            </a:r>
            <a:endParaRPr lang="en-US" sz="930" dirty="0"/>
          </a:p>
        </p:txBody>
      </p:sp>
      <p:sp>
        <p:nvSpPr>
          <p:cNvPr id="17" name="Shape 14"/>
          <p:cNvSpPr/>
          <p:nvPr/>
        </p:nvSpPr>
        <p:spPr>
          <a:xfrm>
            <a:off x="8321040" y="3790188"/>
            <a:ext cx="3364992" cy="2171700"/>
          </a:xfrm>
          <a:prstGeom prst="roundRect">
            <a:avLst>
              <a:gd name="adj" fmla="val 2526"/>
            </a:avLst>
          </a:prstGeom>
          <a:solidFill>
            <a:srgbClr val="D9F0FA"/>
          </a:solidFill>
          <a:ln/>
        </p:spPr>
      </p:sp>
      <p:sp>
        <p:nvSpPr>
          <p:cNvPr id="18" name="Text 15"/>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Parametrize, don't copy-paste</a:t>
            </a:r>
            <a:endParaRPr lang="en-US" sz="1050" dirty="0"/>
          </a:p>
        </p:txBody>
      </p:sp>
      <p:sp>
        <p:nvSpPr>
          <p:cNvPr id="19" name="Text 16"/>
          <p:cNvSpPr/>
          <p:nvPr/>
        </p:nvSpPr>
        <p:spPr>
          <a:xfrm>
            <a:off x="8485632" y="4155948"/>
            <a:ext cx="3063240" cy="171450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Six cases, one test body; a failure names the exact offending case.</a:t>
            </a:r>
            <a:endParaRPr lang="en-US" sz="93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Integration testing the API</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التكامل لواجهة البرمجة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83</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Fake scorer, real app</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TestClient against create_app() with dependency_overrides injecting the fake — no model file, no network, ~50 ms per test.</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Contract tests</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Response shape, X-Trace-Id header, status codes for the malformed corpus — payloads/malformed/ from Module 2 yields 40 assertions in one parametrised test.</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Readiness and the error envelope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App started without a scorer → /ready 503, predict 503 + Retry-After. Forced exception → 500 body matches ErrorEnvelope, no stack-trace text.</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One real-model test</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Marked @pytest.mark.slow: load the actual joblib, score one known row — the training/serving-skew tripwire.</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Integration tests — the API contract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اختبارات التكامل — عقد الواجهة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84</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tests/integration/test_predict_api.py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MALFORMED = sorted(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pathlib.Path("payloads/malformed").glob("*.json"))</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@pytest.mark.integration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test_predict_contract(client_factory, sample_txn):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client = client_factory(probability=0.93)  # BLOCK</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 = client.post("/v1/predict",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json=json.loads(sample_txn.model_dump_json()))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r.status_code == 200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r.json()["decision"] == "block"</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@pytest.mark.integration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@pytest.mark.parametrize("payload_file", MALFORMED)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test_malformed_corpus_rejected(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client_factory, payload_file):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 = client_factory().post("/v1/predict",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content=payload_file.read_bytes(),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headers={"content-type": "application/json"})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400 &lt;= r.status_code &lt; 500, payload_file.name</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40 payloads, one test</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Every malformed file must die at the validation wall with a 4xx — contract, not courtesy.</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Steering the fake</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probability=0.93 forces the BLOCK branch — branch coverage by design, not by luck.</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Trimmed for the slide</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Full file also asserts the X-Trace-Id header, the 0–1 range, and a no-stack-trace 500 test.</a:t>
            </a:r>
            <a:endParaRPr lang="en-US" sz="93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Behavioural tests — four kinds of claims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الاختبارات السلوكية — أربعة أنواع من الادعاءات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85</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INVARIANCE</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Noise must not move the score</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Merchant casing, whitespace, transaction_id value. Each invariance encodes a fairness or robustness claim — debate the list per domain.</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DIRECTIONAL</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Signal must move it the right way</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All else equal, a 100× amount increase must not lower fraud probability; 3 a.m. vs 3 p.m. moves it as risk officers expect. Tolerance-based.</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GOLDEN FILE</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5k scores, atol 1e-6</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Score the reference set, compare to golden_scores_v3.csv. Any diff = skew or unintended model change. Versioned with the artefact.</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PERF FLOOR</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AUC ≥ 0.92 on frozen holdout</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Runs in the slow set / nightly, never per-commit. When v4 arrives, this whole suite is the acceptance gate.</a:t>
            </a:r>
            <a:endParaRPr lang="en-US" sz="98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Behavioural tests — invariance &amp; directional</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اختبارات السلوك — الثبات والاتجاه</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86</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tests/behavioural/test_model_behaviour.py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pytestmark = [pytest.mark.behavioural, pytest.mark.slow]</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_score(model, txn):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model.predict_proba(txn.to_features()).value</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test_invariance_to_merchant_casing(</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real_model, sample_txn):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 = _score(real_model, sample_txn)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 = _score(real_model, sample_txn.model_copy(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update={"merchant_category": "ELECTRONICS"}))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a == pytest.approx(b, abs=1e-9)</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test_directional_amount(real_model, sample_txn):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small = _score(real_model, sample_txn.model_copy(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update={"amount_sar": 50.0}))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large = _score(real_model, sample_txn.model_copy(</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update={"amount_sar": 50_000.0}))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large &gt;= small - 1e-6</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slow = nightly, not per-commit</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pytestmark keeps real-model tests out of the commit gate; CI runs -m 'not slow' per commit.</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A claim as a test</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Casing is noise, not signal — a fairness/robustness claim made executable.</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Tolerance, not equality</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large &gt;= small - 1e-6: directional tests never assert exact floats across BLAS builds.</a:t>
            </a:r>
            <a:endParaRPr lang="en-US" sz="93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Suite architecture — fixtures, markers, budget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بنية المجموعة — التثبيتات والعلامات والميزانية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conftest.py is the composition root</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app factory with overrides, client, constant_model, sample_txn, session-scoped real_model — the suite mirrors prod wiring but injects fakes.</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Markers slice the suite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unit, integration, behavioural, slow — with --strict-markers. CI runs -m 'not slow' on every commit and everything nightly.</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Time budget is a tracked metric</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suite over 5 minutes per commit rots discipline; course target is seconds. Find hot spots with --durations=10.</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Determinism discipline</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No unseeded randomness, no datetime.now() in tests — flaky failures erode trust faster than missing tests. Synthetic data only; real PII never enters git.</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golden-file lifecycle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دورة حياة الملف الذهبي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88</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Pair v3 + golden v3</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golden_scores_v3.csv is generated from the model artefact and versioned with it</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Change proposed</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 feature edit or a new model artefact lands in a PR</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Red diff</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the golden test fails, naming the transaction and both scores — skew made visible</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Human review</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decide: a bug to fix, or an intended change to justify in the PR</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Regenerate + bump</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make regen-golden as a deliberate, reviewed act — never casually 'to make CI green'</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The failure mode to name explicitly: golden files regenerated casually to silence CI. That is the tripwire disabled — regeneration must always be a reviewed, justified act travelling with the model version bump.</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Coverage and suite budget in numbers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التغطية وميزانية المجموعة بالأرقام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89</a:t>
            </a:r>
            <a:endParaRPr lang="en-US" sz="850" dirty="0"/>
          </a:p>
        </p:txBody>
      </p:sp>
      <p:sp>
        <p:nvSpPr>
          <p:cNvPr id="8" name="Shape 5"/>
          <p:cNvSpPr/>
          <p:nvPr/>
        </p:nvSpPr>
        <p:spPr>
          <a:xfrm>
            <a:off x="502920" y="2011680"/>
            <a:ext cx="2555748" cy="3108960"/>
          </a:xfrm>
          <a:prstGeom prst="roundRect">
            <a:avLst>
              <a:gd name="adj" fmla="val 2862"/>
            </a:avLst>
          </a:prstGeom>
          <a:solidFill>
            <a:srgbClr val="EEF3FB"/>
          </a:solidFill>
          <a:ln/>
        </p:spPr>
      </p:sp>
      <p:sp>
        <p:nvSpPr>
          <p:cNvPr id="9" name="Shape 6"/>
          <p:cNvSpPr/>
          <p:nvPr/>
        </p:nvSpPr>
        <p:spPr>
          <a:xfrm>
            <a:off x="731520" y="2331720"/>
            <a:ext cx="502920" cy="54864"/>
          </a:xfrm>
          <a:prstGeom prst="rect">
            <a:avLst/>
          </a:prstGeom>
          <a:solidFill>
            <a:srgbClr val="00A79D"/>
          </a:solidFill>
          <a:ln/>
        </p:spPr>
      </p:sp>
      <p:sp>
        <p:nvSpPr>
          <p:cNvPr id="10" name="Text 7"/>
          <p:cNvSpPr/>
          <p:nvPr/>
        </p:nvSpPr>
        <p:spPr>
          <a:xfrm>
            <a:off x="685800" y="2514600"/>
            <a:ext cx="2189988" cy="822960"/>
          </a:xfrm>
          <a:prstGeom prst="rect">
            <a:avLst/>
          </a:prstGeom>
          <a:noFill/>
          <a:ln/>
        </p:spPr>
        <p:txBody>
          <a:bodyPr wrap="square" rtlCol="0" anchor="ctr"/>
          <a:lstStyle/>
          <a:p>
            <a:pPr indent="0" marL="0">
              <a:buNone/>
            </a:pPr>
            <a:r>
              <a:rPr lang="en-US" sz="3800" b="1" dirty="0">
                <a:solidFill>
                  <a:srgbClr val="00A79D"/>
                </a:solidFill>
                <a:latin typeface="Calibri" pitchFamily="34" charset="0"/>
                <a:ea typeface="Calibri" pitchFamily="34" charset="-122"/>
                <a:cs typeface="Calibri" pitchFamily="34" charset="-120"/>
              </a:rPr>
              <a:t>80%</a:t>
            </a:r>
            <a:endParaRPr lang="en-US" sz="3800" dirty="0"/>
          </a:p>
        </p:txBody>
      </p:sp>
      <p:sp>
        <p:nvSpPr>
          <p:cNvPr id="11" name="Text 8"/>
          <p:cNvSpPr/>
          <p:nvPr/>
        </p:nvSpPr>
        <p:spPr>
          <a:xfrm>
            <a:off x="731520"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branch coverage floor</a:t>
            </a:r>
            <a:endParaRPr lang="en-US" sz="1250" dirty="0"/>
          </a:p>
        </p:txBody>
      </p:sp>
      <p:sp>
        <p:nvSpPr>
          <p:cNvPr id="12" name="Text 9"/>
          <p:cNvSpPr/>
          <p:nvPr/>
        </p:nvSpPr>
        <p:spPr>
          <a:xfrm>
            <a:off x="731520"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on domain/service/api — exclude thin adapter I/O rather than game the number</a:t>
            </a:r>
            <a:endParaRPr lang="en-US" sz="980" dirty="0"/>
          </a:p>
        </p:txBody>
      </p:sp>
      <p:sp>
        <p:nvSpPr>
          <p:cNvPr id="13" name="Shape 10"/>
          <p:cNvSpPr/>
          <p:nvPr/>
        </p:nvSpPr>
        <p:spPr>
          <a:xfrm>
            <a:off x="3378708" y="2011680"/>
            <a:ext cx="2555748" cy="3108960"/>
          </a:xfrm>
          <a:prstGeom prst="roundRect">
            <a:avLst>
              <a:gd name="adj" fmla="val 2862"/>
            </a:avLst>
          </a:prstGeom>
          <a:solidFill>
            <a:srgbClr val="EEF3FB"/>
          </a:solidFill>
          <a:ln/>
        </p:spPr>
      </p:sp>
      <p:sp>
        <p:nvSpPr>
          <p:cNvPr id="14" name="Shape 11"/>
          <p:cNvSpPr/>
          <p:nvPr/>
        </p:nvSpPr>
        <p:spPr>
          <a:xfrm>
            <a:off x="3607308" y="2331720"/>
            <a:ext cx="502920" cy="54864"/>
          </a:xfrm>
          <a:prstGeom prst="rect">
            <a:avLst/>
          </a:prstGeom>
          <a:solidFill>
            <a:srgbClr val="29ABE2"/>
          </a:solidFill>
          <a:ln/>
        </p:spPr>
      </p:sp>
      <p:sp>
        <p:nvSpPr>
          <p:cNvPr id="15" name="Text 12"/>
          <p:cNvSpPr/>
          <p:nvPr/>
        </p:nvSpPr>
        <p:spPr>
          <a:xfrm>
            <a:off x="3561588" y="2514600"/>
            <a:ext cx="2189988" cy="822960"/>
          </a:xfrm>
          <a:prstGeom prst="rect">
            <a:avLst/>
          </a:prstGeom>
          <a:noFill/>
          <a:ln/>
        </p:spPr>
        <p:txBody>
          <a:bodyPr wrap="square" rtlCol="0" anchor="ctr"/>
          <a:lstStyle/>
          <a:p>
            <a:pPr indent="0" marL="0">
              <a:buNone/>
            </a:pPr>
            <a:r>
              <a:rPr lang="en-US" sz="3800" b="1" dirty="0">
                <a:solidFill>
                  <a:srgbClr val="29ABE2"/>
                </a:solidFill>
                <a:latin typeface="Calibri" pitchFamily="34" charset="0"/>
                <a:ea typeface="Calibri" pitchFamily="34" charset="-122"/>
                <a:cs typeface="Calibri" pitchFamily="34" charset="-120"/>
              </a:rPr>
              <a:t>47</a:t>
            </a:r>
            <a:endParaRPr lang="en-US" sz="3800" dirty="0"/>
          </a:p>
        </p:txBody>
      </p:sp>
      <p:sp>
        <p:nvSpPr>
          <p:cNvPr id="16" name="Text 13"/>
          <p:cNvSpPr/>
          <p:nvPr/>
        </p:nvSpPr>
        <p:spPr>
          <a:xfrm>
            <a:off x="3607308"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tests, not slow</a:t>
            </a:r>
            <a:endParaRPr lang="en-US" sz="1250" dirty="0"/>
          </a:p>
        </p:txBody>
      </p:sp>
      <p:sp>
        <p:nvSpPr>
          <p:cNvPr id="17" name="Text 14"/>
          <p:cNvSpPr/>
          <p:nvPr/>
        </p:nvSpPr>
        <p:spPr>
          <a:xfrm>
            <a:off x="3607308"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pass in 3.8 s with 84% coverage — the per-commit gate</a:t>
            </a:r>
            <a:endParaRPr lang="en-US" sz="980" dirty="0"/>
          </a:p>
        </p:txBody>
      </p:sp>
      <p:sp>
        <p:nvSpPr>
          <p:cNvPr id="18" name="Shape 15"/>
          <p:cNvSpPr/>
          <p:nvPr/>
        </p:nvSpPr>
        <p:spPr>
          <a:xfrm>
            <a:off x="6254496" y="2011680"/>
            <a:ext cx="2555748" cy="3108960"/>
          </a:xfrm>
          <a:prstGeom prst="roundRect">
            <a:avLst>
              <a:gd name="adj" fmla="val 2862"/>
            </a:avLst>
          </a:prstGeom>
          <a:solidFill>
            <a:srgbClr val="EEF3FB"/>
          </a:solidFill>
          <a:ln/>
        </p:spPr>
      </p:sp>
      <p:sp>
        <p:nvSpPr>
          <p:cNvPr id="19" name="Shape 16"/>
          <p:cNvSpPr/>
          <p:nvPr/>
        </p:nvSpPr>
        <p:spPr>
          <a:xfrm>
            <a:off x="6483096" y="2331720"/>
            <a:ext cx="502920" cy="54864"/>
          </a:xfrm>
          <a:prstGeom prst="rect">
            <a:avLst/>
          </a:prstGeom>
          <a:solidFill>
            <a:srgbClr val="F58220"/>
          </a:solidFill>
          <a:ln/>
        </p:spPr>
      </p:sp>
      <p:sp>
        <p:nvSpPr>
          <p:cNvPr id="20" name="Text 17"/>
          <p:cNvSpPr/>
          <p:nvPr/>
        </p:nvSpPr>
        <p:spPr>
          <a:xfrm>
            <a:off x="6437376" y="2514600"/>
            <a:ext cx="2189988" cy="822960"/>
          </a:xfrm>
          <a:prstGeom prst="rect">
            <a:avLst/>
          </a:prstGeom>
          <a:noFill/>
          <a:ln/>
        </p:spPr>
        <p:txBody>
          <a:bodyPr wrap="square" rtlCol="0" anchor="ctr"/>
          <a:lstStyle/>
          <a:p>
            <a:pPr indent="0" marL="0">
              <a:buNone/>
            </a:pPr>
            <a:r>
              <a:rPr lang="en-US" sz="3800" b="1" dirty="0">
                <a:solidFill>
                  <a:srgbClr val="F58220"/>
                </a:solidFill>
                <a:latin typeface="Calibri" pitchFamily="34" charset="0"/>
                <a:ea typeface="Calibri" pitchFamily="34" charset="-122"/>
                <a:cs typeface="Calibri" pitchFamily="34" charset="-120"/>
              </a:rPr>
              <a:t>40/40</a:t>
            </a:r>
            <a:endParaRPr lang="en-US" sz="3800" dirty="0"/>
          </a:p>
        </p:txBody>
      </p:sp>
      <p:sp>
        <p:nvSpPr>
          <p:cNvPr id="21" name="Text 18"/>
          <p:cNvSpPr/>
          <p:nvPr/>
        </p:nvSpPr>
        <p:spPr>
          <a:xfrm>
            <a:off x="6483096"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malformed rejected</a:t>
            </a:r>
            <a:endParaRPr lang="en-US" sz="1250" dirty="0"/>
          </a:p>
        </p:txBody>
      </p:sp>
      <p:sp>
        <p:nvSpPr>
          <p:cNvPr id="22" name="Text 19"/>
          <p:cNvSpPr/>
          <p:nvPr/>
        </p:nvSpPr>
        <p:spPr>
          <a:xfrm>
            <a:off x="6483096"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the corpus is contract: every bad payload dies at the validation wall</a:t>
            </a:r>
            <a:endParaRPr lang="en-US" sz="980" dirty="0"/>
          </a:p>
        </p:txBody>
      </p:sp>
      <p:sp>
        <p:nvSpPr>
          <p:cNvPr id="23" name="Shape 20"/>
          <p:cNvSpPr/>
          <p:nvPr/>
        </p:nvSpPr>
        <p:spPr>
          <a:xfrm>
            <a:off x="9130284" y="2011680"/>
            <a:ext cx="2555748" cy="3108960"/>
          </a:xfrm>
          <a:prstGeom prst="roundRect">
            <a:avLst>
              <a:gd name="adj" fmla="val 2862"/>
            </a:avLst>
          </a:prstGeom>
          <a:solidFill>
            <a:srgbClr val="EEF3FB"/>
          </a:solidFill>
          <a:ln/>
        </p:spPr>
      </p:sp>
      <p:sp>
        <p:nvSpPr>
          <p:cNvPr id="24" name="Shape 21"/>
          <p:cNvSpPr/>
          <p:nvPr/>
        </p:nvSpPr>
        <p:spPr>
          <a:xfrm>
            <a:off x="9358884" y="2331720"/>
            <a:ext cx="502920" cy="54864"/>
          </a:xfrm>
          <a:prstGeom prst="rect">
            <a:avLst/>
          </a:prstGeom>
          <a:solidFill>
            <a:srgbClr val="8DC63F"/>
          </a:solidFill>
          <a:ln/>
        </p:spPr>
      </p:sp>
      <p:sp>
        <p:nvSpPr>
          <p:cNvPr id="25" name="Text 22"/>
          <p:cNvSpPr/>
          <p:nvPr/>
        </p:nvSpPr>
        <p:spPr>
          <a:xfrm>
            <a:off x="9313164" y="2514600"/>
            <a:ext cx="2189988" cy="822960"/>
          </a:xfrm>
          <a:prstGeom prst="rect">
            <a:avLst/>
          </a:prstGeom>
          <a:noFill/>
          <a:ln/>
        </p:spPr>
        <p:txBody>
          <a:bodyPr wrap="square" rtlCol="0" anchor="ctr"/>
          <a:lstStyle/>
          <a:p>
            <a:pPr indent="0" marL="0">
              <a:buNone/>
            </a:pPr>
            <a:r>
              <a:rPr lang="en-US" sz="3800" b="1" dirty="0">
                <a:solidFill>
                  <a:srgbClr val="8DC63F"/>
                </a:solidFill>
                <a:latin typeface="Calibri" pitchFamily="34" charset="0"/>
                <a:ea typeface="Calibri" pitchFamily="34" charset="-122"/>
                <a:cs typeface="Calibri" pitchFamily="34" charset="-120"/>
              </a:rPr>
              <a:t>21.5 s</a:t>
            </a:r>
            <a:endParaRPr lang="en-US" sz="3800" dirty="0"/>
          </a:p>
        </p:txBody>
      </p:sp>
      <p:sp>
        <p:nvSpPr>
          <p:cNvPr id="26" name="Text 23"/>
          <p:cNvSpPr/>
          <p:nvPr/>
        </p:nvSpPr>
        <p:spPr>
          <a:xfrm>
            <a:off x="9358884" y="3429000"/>
            <a:ext cx="2098548"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slow suite</a:t>
            </a:r>
            <a:endParaRPr lang="en-US" sz="1250" dirty="0"/>
          </a:p>
        </p:txBody>
      </p:sp>
      <p:sp>
        <p:nvSpPr>
          <p:cNvPr id="27" name="Text 24"/>
          <p:cNvSpPr/>
          <p:nvPr/>
        </p:nvSpPr>
        <p:spPr>
          <a:xfrm>
            <a:off x="9358884" y="3977640"/>
            <a:ext cx="2098548" cy="960120"/>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4 behavioural tests incl. the 5,000-row golden file — nightly</a:t>
            </a:r>
            <a:endParaRPr lang="en-US" sz="980" dirty="0"/>
          </a:p>
        </p:txBody>
      </p:sp>
      <p:sp>
        <p:nvSpPr>
          <p:cNvPr id="28" name="Text 25"/>
          <p:cNvSpPr/>
          <p:nvPr/>
        </p:nvSpPr>
        <p:spPr>
          <a:xfrm>
            <a:off x="502920" y="5486400"/>
            <a:ext cx="11155680" cy="274320"/>
          </a:xfrm>
          <a:prstGeom prst="rect">
            <a:avLst/>
          </a:prstGeom>
          <a:noFill/>
          <a:ln/>
        </p:spPr>
        <p:txBody>
          <a:bodyPr wrap="square" rtlCol="0" anchor="ctr"/>
          <a:lstStyle/>
          <a:p>
            <a:pPr indent="0" marL="0">
              <a:buNone/>
            </a:pPr>
            <a:r>
              <a:rPr lang="en-US" sz="900" i="1" dirty="0">
                <a:solidFill>
                  <a:srgbClr val="8A96A6"/>
                </a:solidFill>
                <a:latin typeface="Calibri" pitchFamily="34" charset="0"/>
                <a:ea typeface="Calibri" pitchFamily="34" charset="-122"/>
                <a:cs typeface="Calibri" pitchFamily="34" charset="-120"/>
              </a:rPr>
              <a:t>Lab 4 expected outputs · pytest-cov with --cov-branch, fail_under = 80</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4 — Build the test suite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٤ — بناء مجموعة الاختبارات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90</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4</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50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conftest fixtures (10 min)  </a:t>
            </a:r>
            <a:pPr indent="0" marL="0">
              <a:buNone/>
            </a:pPr>
            <a:r>
              <a:rPr lang="en-US" sz="1000" dirty="0">
                <a:solidFill>
                  <a:srgbClr val="5F6B7A"/>
                </a:solidFill>
                <a:latin typeface="Calibri" pitchFamily="34" charset="0"/>
                <a:ea typeface="Calibri" pitchFamily="34" charset="-122"/>
                <a:cs typeface="Calibri" pitchFamily="34" charset="-120"/>
              </a:rPr>
              <a:t>Implement ConstantModel and client_factory from the failing skeletons</a:t>
            </a:r>
            <a:endParaRPr lang="en-US" sz="1050" dirty="0"/>
          </a:p>
        </p:txBody>
      </p:sp>
      <p:sp>
        <p:nvSpPr>
          <p:cNvPr id="12" name="Text 9"/>
          <p:cNvSpPr/>
          <p:nvPr/>
        </p:nvSpPr>
        <p:spPr>
          <a:xfrm>
            <a:off x="502920" y="273100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71272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Policy-band unit tests (10 min)  </a:t>
            </a:r>
            <a:pPr indent="0" marL="0">
              <a:buNone/>
            </a:pPr>
            <a:r>
              <a:rPr lang="en-US" sz="1000" dirty="0">
                <a:solidFill>
                  <a:srgbClr val="5F6B7A"/>
                </a:solidFill>
                <a:latin typeface="Calibri" pitchFamily="34" charset="0"/>
                <a:ea typeface="Calibri" pitchFamily="34" charset="-122"/>
                <a:cs typeface="Calibri" pitchFamily="34" charset="-120"/>
              </a:rPr>
              <a:t>Complete the parametrised tests; pytest -m unit must finish &lt; 1 s</a:t>
            </a:r>
            <a:endParaRPr lang="en-US" sz="1050" dirty="0"/>
          </a:p>
        </p:txBody>
      </p:sp>
      <p:sp>
        <p:nvSpPr>
          <p:cNvPr id="14" name="Text 11"/>
          <p:cNvSpPr/>
          <p:nvPr/>
        </p:nvSpPr>
        <p:spPr>
          <a:xfrm>
            <a:off x="502920" y="343204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41376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Integration pair (10 min)  </a:t>
            </a:r>
            <a:pPr indent="0" marL="0">
              <a:buNone/>
            </a:pPr>
            <a:r>
              <a:rPr lang="en-US" sz="1000" dirty="0">
                <a:solidFill>
                  <a:srgbClr val="5F6B7A"/>
                </a:solidFill>
                <a:latin typeface="Calibri" pitchFamily="34" charset="0"/>
                <a:ea typeface="Calibri" pitchFamily="34" charset="-122"/>
                <a:cs typeface="Calibri" pitchFamily="34" charset="-120"/>
              </a:rPr>
              <a:t>Malformed-corpus test + the no-stack-trace-in-500 monkeypatch test</a:t>
            </a:r>
            <a:endParaRPr lang="en-US" sz="1050" dirty="0"/>
          </a:p>
        </p:txBody>
      </p:sp>
      <p:sp>
        <p:nvSpPr>
          <p:cNvPr id="16" name="Text 13"/>
          <p:cNvSpPr/>
          <p:nvPr/>
        </p:nvSpPr>
        <p:spPr>
          <a:xfrm>
            <a:off x="502920" y="413308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11480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Behavioural trio (10 min)  </a:t>
            </a:r>
            <a:pPr indent="0" marL="0">
              <a:buNone/>
            </a:pPr>
            <a:r>
              <a:rPr lang="en-US" sz="1000" dirty="0">
                <a:solidFill>
                  <a:srgbClr val="5F6B7A"/>
                </a:solidFill>
                <a:latin typeface="Calibri" pitchFamily="34" charset="0"/>
                <a:ea typeface="Calibri" pitchFamily="34" charset="-122"/>
                <a:cs typeface="Calibri" pitchFamily="34" charset="-120"/>
              </a:rPr>
              <a:t>Casing invariance, amount directional, golden file; pytest -m behavioural</a:t>
            </a:r>
            <a:endParaRPr lang="en-US" sz="1050" dirty="0"/>
          </a:p>
        </p:txBody>
      </p:sp>
      <p:sp>
        <p:nvSpPr>
          <p:cNvPr id="18" name="Text 15"/>
          <p:cNvSpPr/>
          <p:nvPr/>
        </p:nvSpPr>
        <p:spPr>
          <a:xfrm>
            <a:off x="502920" y="483412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481584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Close ONE coverage gap (5 min)  </a:t>
            </a:r>
            <a:pPr indent="0" marL="0">
              <a:buNone/>
            </a:pPr>
            <a:r>
              <a:rPr lang="en-US" sz="1000" dirty="0">
                <a:solidFill>
                  <a:srgbClr val="5F6B7A"/>
                </a:solidFill>
                <a:latin typeface="Calibri" pitchFamily="34" charset="0"/>
                <a:ea typeface="Calibri" pitchFamily="34" charset="-122"/>
                <a:cs typeface="Calibri" pitchFamily="34" charset="-120"/>
              </a:rPr>
              <a:t>Read term-missing; add the most meaningful missing test, not the easiest</a:t>
            </a:r>
            <a:endParaRPr lang="en-US" sz="1050" dirty="0"/>
          </a:p>
        </p:txBody>
      </p:sp>
      <p:sp>
        <p:nvSpPr>
          <p:cNvPr id="20" name="Text 17"/>
          <p:cNvSpPr/>
          <p:nvPr/>
        </p:nvSpPr>
        <p:spPr>
          <a:xfrm>
            <a:off x="502920" y="55351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1" name="Text 18"/>
          <p:cNvSpPr/>
          <p:nvPr/>
        </p:nvSpPr>
        <p:spPr>
          <a:xfrm>
            <a:off x="914400" y="5516880"/>
            <a:ext cx="6035040" cy="701040"/>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Commit and record (5 min)  </a:t>
            </a:r>
            <a:pPr indent="0" marL="0">
              <a:buNone/>
            </a:pPr>
            <a:r>
              <a:rPr lang="en-US" sz="1000" dirty="0">
                <a:solidFill>
                  <a:srgbClr val="5F6B7A"/>
                </a:solidFill>
                <a:latin typeface="Calibri" pitchFamily="34" charset="0"/>
                <a:ea typeface="Calibri" pitchFamily="34" charset="-122"/>
                <a:cs typeface="Calibri" pitchFamily="34" charset="-120"/>
              </a:rPr>
              <a:t>'test: three-level suite with behavioural tripwires'; timing into BENCHMARKS.md</a:t>
            </a:r>
            <a:endParaRPr lang="en-US" sz="1050" dirty="0"/>
          </a:p>
        </p:txBody>
      </p:sp>
      <p:sp>
        <p:nvSpPr>
          <p:cNvPr id="22" name="Shape 19"/>
          <p:cNvSpPr/>
          <p:nvPr/>
        </p:nvSpPr>
        <p:spPr>
          <a:xfrm>
            <a:off x="7269480" y="2011680"/>
            <a:ext cx="4416552" cy="1417320"/>
          </a:xfrm>
          <a:prstGeom prst="roundRect">
            <a:avLst>
              <a:gd name="adj" fmla="val 4516"/>
            </a:avLst>
          </a:prstGeom>
          <a:solidFill>
            <a:srgbClr val="D4F1EE"/>
          </a:solidFill>
          <a:ln/>
        </p:spPr>
      </p:sp>
      <p:sp>
        <p:nvSpPr>
          <p:cNvPr id="23" name="Text 20"/>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4" name="Text 21"/>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A three-level pytest suite: ≥ 80% branch coverage on domain/service/api, malformed corpus green, behavioural suite green against the real artefact.</a:t>
            </a:r>
            <a:endParaRPr lang="en-US" sz="1030" dirty="0"/>
          </a:p>
        </p:txBody>
      </p:sp>
      <p:sp>
        <p:nvSpPr>
          <p:cNvPr id="25" name="Shape 22"/>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6" name="Text 23"/>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7" name="Text 24"/>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pytest -m 'not slow' → 47 passed in ~3.8 s, coverage 84%. pytest -m slow → 4 passed, 5,000 golden rows OK.</a:t>
            </a:r>
            <a:endParaRPr lang="en-US" sz="1000" dirty="0"/>
          </a:p>
        </p:txBody>
      </p:sp>
      <p:sp>
        <p:nvSpPr>
          <p:cNvPr id="28" name="Shape 25"/>
          <p:cNvSpPr/>
          <p:nvPr/>
        </p:nvSpPr>
        <p:spPr>
          <a:xfrm>
            <a:off x="7269480" y="5166360"/>
            <a:ext cx="4416552" cy="1051560"/>
          </a:xfrm>
          <a:prstGeom prst="roundRect">
            <a:avLst>
              <a:gd name="adj" fmla="val 6087"/>
            </a:avLst>
          </a:prstGeom>
          <a:solidFill>
            <a:srgbClr val="FDEBD7"/>
          </a:solidFill>
          <a:ln/>
        </p:spPr>
      </p:sp>
      <p:sp>
        <p:nvSpPr>
          <p:cNvPr id="29" name="Text 26"/>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Suite taking 90 s? The real model is loading per-test — session-scope the fixture and verify with --durations=10.</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4 — mini exercises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الرابعة — تمارين قصيرة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91</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 — the flaky clock</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Branch sim-flaky: a test uses datetime.now(), so is_night depends on when you run it. Fix with a frozen timestamp, then generalise: no unseeded randomness or clock in tests.</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 review — three findings</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PR with a tautological test (assert decide(...) == decide(...)), an exact-float assert, and a test importing a private function. Findings plus suggested rewrites.</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Discussion — ship or block?</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v4 improves AUC but fails the amount-directional test on 2% of cases. Ship, block, or renegotiate the test? Who decides — engineering or risk?</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Test-writing kata (pairs, 10 min)</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Three bug reports; write the test that would have caught each — before seeing any fix.</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LLM router regression</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انحدار موجِّه دعم العملاء</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92</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Telecom · Saudi Arabia</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 support assistant routes utterances to 14 intent handlers via an LLM + rules hybrid — 60k conversations/day under regulator SLAs. A prompt 'improvement' silently re-routed 8% of billing disputes to the FAQ handler.</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438912"/>
          </a:xfrm>
          <a:prstGeom prst="line">
            <a:avLst/>
          </a:prstGeom>
          <a:noFill/>
          <a:ln w="19050">
            <a:solidFill>
              <a:srgbClr val="D9E4F5"/>
            </a:solidFill>
            <a:prstDash val="solid"/>
          </a:ln>
        </p:spPr>
      </p:sp>
      <p:sp>
        <p:nvSpPr>
          <p:cNvPr id="13" name="Text 10"/>
          <p:cNvSpPr/>
          <p:nvPr/>
        </p:nvSpPr>
        <p:spPr>
          <a:xfrm>
            <a:off x="960120" y="2953512"/>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Prompt change ships  </a:t>
            </a:r>
            <a:pPr indent="0" marL="0">
              <a:buNone/>
            </a:pPr>
            <a:r>
              <a:rPr lang="en-US" sz="1000" dirty="0">
                <a:solidFill>
                  <a:srgbClr val="5F6B7A"/>
                </a:solidFill>
                <a:latin typeface="Calibri" pitchFamily="34" charset="0"/>
                <a:ea typeface="Calibri" pitchFamily="34" charset="-122"/>
                <a:cs typeface="Calibri" pitchFamily="34" charset="-120"/>
              </a:rPr>
              <a:t>no regression net — 8% of billing-dispute messages re-route to the FAQ handler</a:t>
            </a:r>
            <a:endParaRPr lang="en-US" sz="1050" dirty="0"/>
          </a:p>
        </p:txBody>
      </p:sp>
      <p:sp>
        <p:nvSpPr>
          <p:cNvPr id="14" name="Shape 11"/>
          <p:cNvSpPr/>
          <p:nvPr/>
        </p:nvSpPr>
        <p:spPr>
          <a:xfrm>
            <a:off x="566928" y="3685032"/>
            <a:ext cx="182880" cy="182880"/>
          </a:xfrm>
          <a:prstGeom prst="ellipse">
            <a:avLst/>
          </a:prstGeom>
          <a:solidFill>
            <a:srgbClr val="29ABE2"/>
          </a:solidFill>
          <a:ln/>
        </p:spPr>
      </p:sp>
      <p:sp>
        <p:nvSpPr>
          <p:cNvPr id="15" name="Shape 12"/>
          <p:cNvSpPr/>
          <p:nvPr/>
        </p:nvSpPr>
        <p:spPr>
          <a:xfrm>
            <a:off x="658368" y="3886200"/>
            <a:ext cx="0" cy="438912"/>
          </a:xfrm>
          <a:prstGeom prst="line">
            <a:avLst/>
          </a:prstGeom>
          <a:noFill/>
          <a:ln w="19050">
            <a:solidFill>
              <a:srgbClr val="D9E4F5"/>
            </a:solidFill>
            <a:prstDash val="solid"/>
          </a:ln>
        </p:spPr>
      </p:sp>
      <p:sp>
        <p:nvSpPr>
          <p:cNvPr id="16" name="Text 13"/>
          <p:cNvSpPr/>
          <p:nvPr/>
        </p:nvSpPr>
        <p:spPr>
          <a:xfrm>
            <a:off x="960120" y="3611880"/>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Two weeks of silent damage  </a:t>
            </a:r>
            <a:pPr indent="0" marL="0">
              <a:buNone/>
            </a:pPr>
            <a:r>
              <a:rPr lang="en-US" sz="1000" dirty="0">
                <a:solidFill>
                  <a:srgbClr val="5F6B7A"/>
                </a:solidFill>
                <a:latin typeface="Calibri" pitchFamily="34" charset="0"/>
                <a:ea typeface="Calibri" pitchFamily="34" charset="-122"/>
                <a:cs typeface="Calibri" pitchFamily="34" charset="-120"/>
              </a:rPr>
              <a:t>CSAT drops before anyone connects the drop to the prompt edit</a:t>
            </a:r>
            <a:endParaRPr lang="en-US" sz="1050" dirty="0"/>
          </a:p>
        </p:txBody>
      </p:sp>
      <p:sp>
        <p:nvSpPr>
          <p:cNvPr id="17" name="Shape 14"/>
          <p:cNvSpPr/>
          <p:nvPr/>
        </p:nvSpPr>
        <p:spPr>
          <a:xfrm>
            <a:off x="566928" y="4343400"/>
            <a:ext cx="182880" cy="182880"/>
          </a:xfrm>
          <a:prstGeom prst="ellipse">
            <a:avLst/>
          </a:prstGeom>
          <a:solidFill>
            <a:srgbClr val="F58220"/>
          </a:solidFill>
          <a:ln/>
        </p:spPr>
      </p:sp>
      <p:sp>
        <p:nvSpPr>
          <p:cNvPr id="18" name="Shape 15"/>
          <p:cNvSpPr/>
          <p:nvPr/>
        </p:nvSpPr>
        <p:spPr>
          <a:xfrm>
            <a:off x="658368" y="4544568"/>
            <a:ext cx="0" cy="438912"/>
          </a:xfrm>
          <a:prstGeom prst="line">
            <a:avLst/>
          </a:prstGeom>
          <a:noFill/>
          <a:ln w="19050">
            <a:solidFill>
              <a:srgbClr val="D9E4F5"/>
            </a:solidFill>
            <a:prstDash val="solid"/>
          </a:ln>
        </p:spPr>
      </p:sp>
      <p:sp>
        <p:nvSpPr>
          <p:cNvPr id="19" name="Text 16"/>
          <p:cNvSpPr/>
          <p:nvPr/>
        </p:nvSpPr>
        <p:spPr>
          <a:xfrm>
            <a:off x="960120" y="4270248"/>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Golden routing file built  </a:t>
            </a:r>
            <a:pPr indent="0" marL="0">
              <a:buNone/>
            </a:pPr>
            <a:r>
              <a:rPr lang="en-US" sz="1000" dirty="0">
                <a:solidFill>
                  <a:srgbClr val="5F6B7A"/>
                </a:solidFill>
                <a:latin typeface="Calibri" pitchFamily="34" charset="0"/>
                <a:ea typeface="Calibri" pitchFamily="34" charset="-122"/>
                <a:cs typeface="Calibri" pitchFamily="34" charset="-120"/>
              </a:rPr>
              <a:t>300 synthetic canonical utterances (AR/EN) × expected handler — no customer PII in the repo</a:t>
            </a:r>
            <a:endParaRPr lang="en-US" sz="1050" dirty="0"/>
          </a:p>
        </p:txBody>
      </p:sp>
      <p:sp>
        <p:nvSpPr>
          <p:cNvPr id="20" name="Shape 17"/>
          <p:cNvSpPr/>
          <p:nvPr/>
        </p:nvSpPr>
        <p:spPr>
          <a:xfrm>
            <a:off x="566928" y="5001768"/>
            <a:ext cx="182880" cy="182880"/>
          </a:xfrm>
          <a:prstGeom prst="ellipse">
            <a:avLst/>
          </a:prstGeom>
          <a:solidFill>
            <a:srgbClr val="8DC63F"/>
          </a:solidFill>
          <a:ln/>
        </p:spPr>
      </p:sp>
      <p:sp>
        <p:nvSpPr>
          <p:cNvPr id="21" name="Shape 18"/>
          <p:cNvSpPr/>
          <p:nvPr/>
        </p:nvSpPr>
        <p:spPr>
          <a:xfrm>
            <a:off x="658368" y="5202936"/>
            <a:ext cx="0" cy="438912"/>
          </a:xfrm>
          <a:prstGeom prst="line">
            <a:avLst/>
          </a:prstGeom>
          <a:noFill/>
          <a:ln w="19050">
            <a:solidFill>
              <a:srgbClr val="D9E4F5"/>
            </a:solidFill>
            <a:prstDash val="solid"/>
          </a:ln>
        </p:spPr>
      </p:sp>
      <p:sp>
        <p:nvSpPr>
          <p:cNvPr id="22" name="Text 19"/>
          <p:cNvSpPr/>
          <p:nvPr/>
        </p:nvSpPr>
        <p:spPr>
          <a:xfrm>
            <a:off x="960120" y="4928616"/>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Deterministic gate  </a:t>
            </a:r>
            <a:pPr indent="0" marL="0">
              <a:buNone/>
            </a:pPr>
            <a:r>
              <a:rPr lang="en-US" sz="1000" dirty="0">
                <a:solidFill>
                  <a:srgbClr val="5F6B7A"/>
                </a:solidFill>
                <a:latin typeface="Calibri" pitchFamily="34" charset="0"/>
                <a:ea typeface="Calibri" pitchFamily="34" charset="-122"/>
                <a:cs typeface="Calibri" pitchFamily="34" charset="-120"/>
              </a:rPr>
              <a:t>temperature 0 + pinned model version; ≥ 98% match required, diffs reported by intent</a:t>
            </a:r>
            <a:endParaRPr lang="en-US" sz="1050" dirty="0"/>
          </a:p>
        </p:txBody>
      </p:sp>
      <p:sp>
        <p:nvSpPr>
          <p:cNvPr id="23" name="Shape 20"/>
          <p:cNvSpPr/>
          <p:nvPr/>
        </p:nvSpPr>
        <p:spPr>
          <a:xfrm>
            <a:off x="566928" y="5660136"/>
            <a:ext cx="182880" cy="182880"/>
          </a:xfrm>
          <a:prstGeom prst="ellipse">
            <a:avLst/>
          </a:prstGeom>
          <a:solidFill>
            <a:srgbClr val="E8503A"/>
          </a:solidFill>
          <a:ln/>
        </p:spPr>
      </p:sp>
      <p:sp>
        <p:nvSpPr>
          <p:cNvPr id="24" name="Text 21"/>
          <p:cNvSpPr/>
          <p:nvPr/>
        </p:nvSpPr>
        <p:spPr>
          <a:xfrm>
            <a:off x="960120" y="5586984"/>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Recorded vs live modes  </a:t>
            </a:r>
            <a:pPr indent="0" marL="0">
              <a:buNone/>
            </a:pPr>
            <a:r>
              <a:rPr lang="en-US" sz="1000" dirty="0">
                <a:solidFill>
                  <a:srgbClr val="5F6B7A"/>
                </a:solidFill>
                <a:latin typeface="Calibri" pitchFamily="34" charset="0"/>
                <a:ea typeface="Calibri" pitchFamily="34" charset="-122"/>
                <a:cs typeface="Calibri" pitchFamily="34" charset="-120"/>
              </a:rPr>
              <a:t>VCR-style recorded responses keep CI under 5 min; live mode runs nightly</a:t>
            </a:r>
            <a:endParaRPr lang="en-US" sz="1050" dirty="0"/>
          </a:p>
        </p:txBody>
      </p:sp>
      <p:sp>
        <p:nvSpPr>
          <p:cNvPr id="25" name="Shape 22"/>
          <p:cNvSpPr/>
          <p:nvPr/>
        </p:nvSpPr>
        <p:spPr>
          <a:xfrm>
            <a:off x="7406640" y="1938528"/>
            <a:ext cx="4279392" cy="4160520"/>
          </a:xfrm>
          <a:prstGeom prst="roundRect">
            <a:avLst>
              <a:gd name="adj" fmla="val 1538"/>
            </a:avLst>
          </a:prstGeom>
          <a:solidFill>
            <a:srgbClr val="EAF4DC"/>
          </a:solidFill>
          <a:ln/>
        </p:spPr>
      </p:sp>
      <p:sp>
        <p:nvSpPr>
          <p:cNvPr id="26" name="Text 23"/>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7" name="Text 24"/>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LLM outputs resist classic asserts — golden files with a tolerance policy fit where equality cannot</a:t>
            </a:r>
            <a:endParaRPr lang="en-US" sz="1000" dirty="0"/>
          </a:p>
        </p:txBody>
      </p:sp>
      <p:sp>
        <p:nvSpPr>
          <p:cNvPr id="29" name="Text 26"/>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Every prompt change requires golden-diff review in the PR — the diff IS the review artefact</a:t>
            </a:r>
            <a:endParaRPr lang="en-US" sz="1000" dirty="0"/>
          </a:p>
        </p:txBody>
      </p:sp>
      <p:sp>
        <p:nvSpPr>
          <p:cNvPr id="31" name="Text 28"/>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PII shapes the design: synthetic canonical utterances only, Arabic and English both in scope</a:t>
            </a:r>
            <a:endParaRPr lang="en-US" sz="1000" dirty="0"/>
          </a:p>
        </p:txBody>
      </p:sp>
      <p:sp>
        <p:nvSpPr>
          <p:cNvPr id="33" name="Text 30"/>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The same pattern gates the fraud service's v4 upgrade — behavioural suite as acceptance gate</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4 — checkpoint quiz</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الرابعة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93</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Where does the 40-file malformed-payload corpus test belong in the pyramid?</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Unit — it tests validation logic</a:t>
            </a:r>
            <a:endParaRPr lang="en-US" sz="1050" dirty="0"/>
          </a:p>
        </p:txBody>
      </p:sp>
      <p:sp>
        <p:nvSpPr>
          <p:cNvPr id="13" name="Shape 10"/>
          <p:cNvSpPr/>
          <p:nvPr/>
        </p:nvSpPr>
        <p:spPr>
          <a:xfrm>
            <a:off x="502920" y="3447288"/>
            <a:ext cx="5440680" cy="548640"/>
          </a:xfrm>
          <a:prstGeom prst="roundRect">
            <a:avLst>
              <a:gd name="adj" fmla="val 10000"/>
            </a:avLst>
          </a:prstGeom>
          <a:solidFill>
            <a:srgbClr val="D4F1EE"/>
          </a:solidFill>
          <a:ln w="19050">
            <a:solidFill>
              <a:srgbClr val="00A79D"/>
            </a:solidFill>
            <a:prstDash val="solid"/>
          </a:ln>
        </p:spPr>
      </p:sp>
      <p:sp>
        <p:nvSpPr>
          <p:cNvPr id="14" name="Text 11"/>
          <p:cNvSpPr/>
          <p:nvPr/>
        </p:nvSpPr>
        <p:spPr>
          <a:xfrm>
            <a:off x="612648"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Integration — it exercises the API surface   ✓</a:t>
            </a:r>
            <a:endParaRPr lang="en-US" sz="1050" dirty="0"/>
          </a:p>
        </p:txBody>
      </p:sp>
      <p:sp>
        <p:nvSpPr>
          <p:cNvPr id="16" name="Shape 13"/>
          <p:cNvSpPr/>
          <p:nvPr/>
        </p:nvSpPr>
        <p:spPr>
          <a:xfrm>
            <a:off x="502920" y="4105656"/>
            <a:ext cx="5440680" cy="548640"/>
          </a:xfrm>
          <a:prstGeom prst="roundRect">
            <a:avLst>
              <a:gd name="adj" fmla="val 10000"/>
            </a:avLst>
          </a:prstGeom>
          <a:solidFill>
            <a:srgbClr val="FFFFFF"/>
          </a:solidFill>
          <a:ln w="9525">
            <a:solidFill>
              <a:srgbClr val="D9E4F5"/>
            </a:solidFill>
            <a:prstDash val="solid"/>
          </a:ln>
        </p:spPr>
      </p:sp>
      <p:sp>
        <p:nvSpPr>
          <p:cNvPr id="17" name="Text 14"/>
          <p:cNvSpPr/>
          <p:nvPr/>
        </p:nvSpPr>
        <p:spPr>
          <a:xfrm>
            <a:off x="612648"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Model-behaviour — it checks model robustness</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E2E — it needs the built container</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The corpus hits POST /v1/predict through TestClient — pieces talking correctly. Lowest level that catches the failure; no container required.</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Why is 'channel' NOT a valid invariance test for the fraud model?</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Channel values are strings, not numbers</a:t>
            </a:r>
            <a:endParaRPr lang="en-US" sz="1050" dirty="0"/>
          </a:p>
        </p:txBody>
      </p:sp>
      <p:sp>
        <p:nvSpPr>
          <p:cNvPr id="27" name="Shape 24"/>
          <p:cNvSpPr/>
          <p:nvPr/>
        </p:nvSpPr>
        <p:spPr>
          <a:xfrm>
            <a:off x="6245352" y="3447288"/>
            <a:ext cx="5440680" cy="548640"/>
          </a:xfrm>
          <a:prstGeom prst="roundRect">
            <a:avLst>
              <a:gd name="adj" fmla="val 10000"/>
            </a:avLst>
          </a:prstGeom>
          <a:solidFill>
            <a:srgbClr val="D4F1EE"/>
          </a:solidFill>
          <a:ln w="19050">
            <a:solidFill>
              <a:srgbClr val="00A79D"/>
            </a:solidFill>
            <a:prstDash val="solid"/>
          </a:ln>
        </p:spPr>
      </p:sp>
      <p:sp>
        <p:nvSpPr>
          <p:cNvPr id="28" name="Text 25"/>
          <p:cNvSpPr/>
          <p:nvPr/>
        </p:nvSpPr>
        <p:spPr>
          <a:xfrm>
            <a:off x="6355080"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Channel is signal, not noise — the model should react to it   ✓</a:t>
            </a:r>
            <a:endParaRPr lang="en-US" sz="1050" dirty="0"/>
          </a:p>
        </p:txBody>
      </p:sp>
      <p:sp>
        <p:nvSpPr>
          <p:cNvPr id="30" name="Shape 27"/>
          <p:cNvSpPr/>
          <p:nvPr/>
        </p:nvSpPr>
        <p:spPr>
          <a:xfrm>
            <a:off x="6245352" y="4105656"/>
            <a:ext cx="5440680" cy="548640"/>
          </a:xfrm>
          <a:prstGeom prst="roundRect">
            <a:avLst>
              <a:gd name="adj" fmla="val 10000"/>
            </a:avLst>
          </a:prstGeom>
          <a:solidFill>
            <a:srgbClr val="FFFFFF"/>
          </a:solidFill>
          <a:ln w="9525">
            <a:solidFill>
              <a:srgbClr val="D9E4F5"/>
            </a:solidFill>
            <a:prstDash val="solid"/>
          </a:ln>
        </p:spPr>
      </p:sp>
      <p:sp>
        <p:nvSpPr>
          <p:cNvPr id="31" name="Text 28"/>
          <p:cNvSpPr/>
          <p:nvPr/>
        </p:nvSpPr>
        <p:spPr>
          <a:xfrm>
            <a:off x="6355080"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Invariance tests only apply to text casing</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The golden file already covers channel</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Invariance is for semantically neutral transformations only. Channel carries fraud signal — asserting invariance would forbid the model from using it.</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4 ·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A model can be wrong while running perfectly — only behavioural tests catch broken behaviour.</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Unit for logic, integration for the contract, invariance/directional/golden for the model — 47 tests, 3.8 seconds, every commit.</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 MODULE 4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94</a:t>
            </a:r>
            <a:endParaRPr lang="en-US" sz="8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DAY 2 · CLOSE</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The fraud service ships as a 412 MB proven artefact — containerised, healthchecked, tested at three levels.</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Tomorrow the pipeline takes over: CI/CD wires the image build and the test suite into an automated gate — every commit, every time.</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2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95</a:t>
            </a:r>
            <a:endParaRPr lang="en-US" sz="8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3 — AUTOMATE EVERYTHING</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Automate Everything</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أتمتة كل شيء</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CI/CD pipelines</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GitHub Actions: lint, type, test, build, smoke, publish</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Quality gates</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Branch protection makes the repo enforce done</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Config &amp; secrets</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Typed settings, .env discipline, secrets never in git</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Structured logging</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JSON events with trace_id + model_version</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5 hours · 30% theory / 70% lab</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Day 3 — hour by hour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الثالث — ساعة بساعة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97</a:t>
            </a:r>
            <a:endParaRPr lang="en-US" sz="850" dirty="0"/>
          </a:p>
        </p:txBody>
      </p:sp>
      <p:sp>
        <p:nvSpPr>
          <p:cNvPr id="8" name="Shape 5"/>
          <p:cNvSpPr/>
          <p:nvPr/>
        </p:nvSpPr>
        <p:spPr>
          <a:xfrm>
            <a:off x="502920" y="1481328"/>
            <a:ext cx="11183112" cy="822960"/>
          </a:xfrm>
          <a:prstGeom prst="roundRect">
            <a:avLst>
              <a:gd name="adj" fmla="val 5556"/>
            </a:avLst>
          </a:prstGeom>
          <a:solidFill>
            <a:srgbClr val="FFFFFF"/>
          </a:solidFill>
          <a:ln w="9525">
            <a:solidFill>
              <a:srgbClr val="D9E4F5"/>
            </a:solidFill>
            <a:prstDash val="solid"/>
          </a:ln>
        </p:spPr>
      </p:sp>
      <p:sp>
        <p:nvSpPr>
          <p:cNvPr id="9" name="Text 6"/>
          <p:cNvSpPr/>
          <p:nvPr/>
        </p:nvSpPr>
        <p:spPr>
          <a:xfrm>
            <a:off x="685800" y="1655064"/>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0" name="Text 7"/>
          <p:cNvSpPr/>
          <p:nvPr/>
        </p:nvSpPr>
        <p:spPr>
          <a:xfrm>
            <a:off x="1353312" y="1572768"/>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CI/CD for AI codebases (M5)</a:t>
            </a:r>
            <a:endParaRPr lang="en-US" sz="1350" dirty="0"/>
          </a:p>
        </p:txBody>
      </p:sp>
      <p:sp>
        <p:nvSpPr>
          <p:cNvPr id="11" name="Text 8"/>
          <p:cNvSpPr/>
          <p:nvPr/>
        </p:nvSpPr>
        <p:spPr>
          <a:xfrm>
            <a:off x="1353312" y="1883664"/>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Pipeline anatomy; Actions syntax; quality gates; building &amp; pushing images from CI</a:t>
            </a:r>
            <a:endParaRPr lang="en-US" sz="1000" dirty="0"/>
          </a:p>
        </p:txBody>
      </p:sp>
      <p:sp>
        <p:nvSpPr>
          <p:cNvPr id="12" name="Text 9"/>
          <p:cNvSpPr/>
          <p:nvPr/>
        </p:nvSpPr>
        <p:spPr>
          <a:xfrm>
            <a:off x="7589520" y="1737360"/>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Lecture + dissection</a:t>
            </a:r>
            <a:endParaRPr lang="en-US" sz="950" dirty="0"/>
          </a:p>
        </p:txBody>
      </p:sp>
      <p:sp>
        <p:nvSpPr>
          <p:cNvPr id="13" name="Shape 10"/>
          <p:cNvSpPr/>
          <p:nvPr/>
        </p:nvSpPr>
        <p:spPr>
          <a:xfrm>
            <a:off x="9555480" y="1810512"/>
            <a:ext cx="1042416" cy="164592"/>
          </a:xfrm>
          <a:prstGeom prst="rect">
            <a:avLst/>
          </a:prstGeom>
          <a:solidFill>
            <a:srgbClr val="1D2A5C"/>
          </a:solidFill>
          <a:ln/>
        </p:spPr>
      </p:sp>
      <p:sp>
        <p:nvSpPr>
          <p:cNvPr id="14" name="Shape 11"/>
          <p:cNvSpPr/>
          <p:nvPr/>
        </p:nvSpPr>
        <p:spPr>
          <a:xfrm>
            <a:off x="10597896" y="1810512"/>
            <a:ext cx="694944" cy="164592"/>
          </a:xfrm>
          <a:prstGeom prst="rect">
            <a:avLst/>
          </a:prstGeom>
          <a:solidFill>
            <a:srgbClr val="00A79D"/>
          </a:solidFill>
          <a:ln/>
        </p:spPr>
      </p:sp>
      <p:sp>
        <p:nvSpPr>
          <p:cNvPr id="15" name="Text 12"/>
          <p:cNvSpPr/>
          <p:nvPr/>
        </p:nvSpPr>
        <p:spPr>
          <a:xfrm>
            <a:off x="9509760" y="1993392"/>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60% theory · 40% lab</a:t>
            </a:r>
            <a:endParaRPr lang="en-US" sz="750" dirty="0"/>
          </a:p>
        </p:txBody>
      </p:sp>
      <p:sp>
        <p:nvSpPr>
          <p:cNvPr id="16" name="Shape 13"/>
          <p:cNvSpPr/>
          <p:nvPr/>
        </p:nvSpPr>
        <p:spPr>
          <a:xfrm>
            <a:off x="502920" y="2414016"/>
            <a:ext cx="11183112" cy="822960"/>
          </a:xfrm>
          <a:prstGeom prst="roundRect">
            <a:avLst>
              <a:gd name="adj" fmla="val 5556"/>
            </a:avLst>
          </a:prstGeom>
          <a:solidFill>
            <a:srgbClr val="EEF3FB"/>
          </a:solidFill>
          <a:ln w="9525">
            <a:solidFill>
              <a:srgbClr val="D9E4F5"/>
            </a:solidFill>
            <a:prstDash val="solid"/>
          </a:ln>
        </p:spPr>
      </p:sp>
      <p:sp>
        <p:nvSpPr>
          <p:cNvPr id="17" name="Text 14"/>
          <p:cNvSpPr/>
          <p:nvPr/>
        </p:nvSpPr>
        <p:spPr>
          <a:xfrm>
            <a:off x="685800" y="2587752"/>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8" name="Text 15"/>
          <p:cNvSpPr/>
          <p:nvPr/>
        </p:nvSpPr>
        <p:spPr>
          <a:xfrm>
            <a:off x="1353312" y="2505456"/>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 5 — Build the pipeline</a:t>
            </a:r>
            <a:endParaRPr lang="en-US" sz="1350" dirty="0"/>
          </a:p>
        </p:txBody>
      </p:sp>
      <p:sp>
        <p:nvSpPr>
          <p:cNvPr id="19" name="Text 16"/>
          <p:cNvSpPr/>
          <p:nvPr/>
        </p:nvSpPr>
        <p:spPr>
          <a:xfrm>
            <a:off x="1353312" y="2816352"/>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lint → type → test → build image → smoke test; branch protection turned on</a:t>
            </a:r>
            <a:endParaRPr lang="en-US" sz="1000" dirty="0"/>
          </a:p>
        </p:txBody>
      </p:sp>
      <p:sp>
        <p:nvSpPr>
          <p:cNvPr id="20" name="Text 17"/>
          <p:cNvSpPr/>
          <p:nvPr/>
        </p:nvSpPr>
        <p:spPr>
          <a:xfrm>
            <a:off x="7589520" y="2670048"/>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Guided lab</a:t>
            </a:r>
            <a:endParaRPr lang="en-US" sz="950" dirty="0"/>
          </a:p>
        </p:txBody>
      </p:sp>
      <p:sp>
        <p:nvSpPr>
          <p:cNvPr id="21" name="Shape 18"/>
          <p:cNvSpPr/>
          <p:nvPr/>
        </p:nvSpPr>
        <p:spPr>
          <a:xfrm>
            <a:off x="9555480" y="2743200"/>
            <a:ext cx="173736" cy="164592"/>
          </a:xfrm>
          <a:prstGeom prst="rect">
            <a:avLst/>
          </a:prstGeom>
          <a:solidFill>
            <a:srgbClr val="1D2A5C"/>
          </a:solidFill>
          <a:ln/>
        </p:spPr>
      </p:sp>
      <p:sp>
        <p:nvSpPr>
          <p:cNvPr id="22" name="Shape 19"/>
          <p:cNvSpPr/>
          <p:nvPr/>
        </p:nvSpPr>
        <p:spPr>
          <a:xfrm>
            <a:off x="9729216" y="2743200"/>
            <a:ext cx="1563624" cy="164592"/>
          </a:xfrm>
          <a:prstGeom prst="rect">
            <a:avLst/>
          </a:prstGeom>
          <a:solidFill>
            <a:srgbClr val="00A79D"/>
          </a:solidFill>
          <a:ln/>
        </p:spPr>
      </p:sp>
      <p:sp>
        <p:nvSpPr>
          <p:cNvPr id="23" name="Text 20"/>
          <p:cNvSpPr/>
          <p:nvPr/>
        </p:nvSpPr>
        <p:spPr>
          <a:xfrm>
            <a:off x="9509760" y="2926080"/>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10% theory · 90% lab</a:t>
            </a:r>
            <a:endParaRPr lang="en-US" sz="750" dirty="0"/>
          </a:p>
        </p:txBody>
      </p:sp>
      <p:sp>
        <p:nvSpPr>
          <p:cNvPr id="24" name="Shape 21"/>
          <p:cNvSpPr/>
          <p:nvPr/>
        </p:nvSpPr>
        <p:spPr>
          <a:xfrm>
            <a:off x="502920" y="3346704"/>
            <a:ext cx="11183112" cy="822960"/>
          </a:xfrm>
          <a:prstGeom prst="roundRect">
            <a:avLst>
              <a:gd name="adj" fmla="val 5556"/>
            </a:avLst>
          </a:prstGeom>
          <a:solidFill>
            <a:srgbClr val="FFFFFF"/>
          </a:solidFill>
          <a:ln w="9525">
            <a:solidFill>
              <a:srgbClr val="D9E4F5"/>
            </a:solidFill>
            <a:prstDash val="solid"/>
          </a:ln>
        </p:spPr>
      </p:sp>
      <p:sp>
        <p:nvSpPr>
          <p:cNvPr id="25" name="Text 22"/>
          <p:cNvSpPr/>
          <p:nvPr/>
        </p:nvSpPr>
        <p:spPr>
          <a:xfrm>
            <a:off x="685800" y="3520440"/>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6" name="Text 23"/>
          <p:cNvSpPr/>
          <p:nvPr/>
        </p:nvSpPr>
        <p:spPr>
          <a:xfrm>
            <a:off x="1353312" y="3438144"/>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Config, secrets &amp; logging (M6) + Lab 6</a:t>
            </a:r>
            <a:endParaRPr lang="en-US" sz="1350" dirty="0"/>
          </a:p>
        </p:txBody>
      </p:sp>
      <p:sp>
        <p:nvSpPr>
          <p:cNvPr id="27" name="Text 24"/>
          <p:cNvSpPr/>
          <p:nvPr/>
        </p:nvSpPr>
        <p:spPr>
          <a:xfrm>
            <a:off x="1353312" y="3749040"/>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pydantic-settings, .env discipline, secret hygiene, structured JSON logging</a:t>
            </a:r>
            <a:endParaRPr lang="en-US" sz="1000" dirty="0"/>
          </a:p>
        </p:txBody>
      </p:sp>
      <p:sp>
        <p:nvSpPr>
          <p:cNvPr id="28" name="Text 25"/>
          <p:cNvSpPr/>
          <p:nvPr/>
        </p:nvSpPr>
        <p:spPr>
          <a:xfrm>
            <a:off x="7589520" y="3602736"/>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Micro-lecture + lab</a:t>
            </a:r>
            <a:endParaRPr lang="en-US" sz="950" dirty="0"/>
          </a:p>
        </p:txBody>
      </p:sp>
      <p:sp>
        <p:nvSpPr>
          <p:cNvPr id="29" name="Shape 26"/>
          <p:cNvSpPr/>
          <p:nvPr/>
        </p:nvSpPr>
        <p:spPr>
          <a:xfrm>
            <a:off x="9555480" y="3675888"/>
            <a:ext cx="521208" cy="164592"/>
          </a:xfrm>
          <a:prstGeom prst="rect">
            <a:avLst/>
          </a:prstGeom>
          <a:solidFill>
            <a:srgbClr val="1D2A5C"/>
          </a:solidFill>
          <a:ln/>
        </p:spPr>
      </p:sp>
      <p:sp>
        <p:nvSpPr>
          <p:cNvPr id="30" name="Shape 27"/>
          <p:cNvSpPr/>
          <p:nvPr/>
        </p:nvSpPr>
        <p:spPr>
          <a:xfrm>
            <a:off x="10076688" y="3675888"/>
            <a:ext cx="1216152" cy="164592"/>
          </a:xfrm>
          <a:prstGeom prst="rect">
            <a:avLst/>
          </a:prstGeom>
          <a:solidFill>
            <a:srgbClr val="00A79D"/>
          </a:solidFill>
          <a:ln/>
        </p:spPr>
      </p:sp>
      <p:sp>
        <p:nvSpPr>
          <p:cNvPr id="31" name="Text 28"/>
          <p:cNvSpPr/>
          <p:nvPr/>
        </p:nvSpPr>
        <p:spPr>
          <a:xfrm>
            <a:off x="9509760" y="3858768"/>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30% theory · 70% lab</a:t>
            </a:r>
            <a:endParaRPr lang="en-US" sz="750" dirty="0"/>
          </a:p>
        </p:txBody>
      </p:sp>
      <p:sp>
        <p:nvSpPr>
          <p:cNvPr id="32" name="Shape 29"/>
          <p:cNvSpPr/>
          <p:nvPr/>
        </p:nvSpPr>
        <p:spPr>
          <a:xfrm>
            <a:off x="502920" y="4279392"/>
            <a:ext cx="11183112" cy="822960"/>
          </a:xfrm>
          <a:prstGeom prst="roundRect">
            <a:avLst>
              <a:gd name="adj" fmla="val 5556"/>
            </a:avLst>
          </a:prstGeom>
          <a:solidFill>
            <a:srgbClr val="EEF3FB"/>
          </a:solidFill>
          <a:ln w="9525">
            <a:solidFill>
              <a:srgbClr val="D9E4F5"/>
            </a:solidFill>
            <a:prstDash val="solid"/>
          </a:ln>
        </p:spPr>
      </p:sp>
      <p:sp>
        <p:nvSpPr>
          <p:cNvPr id="33" name="Text 30"/>
          <p:cNvSpPr/>
          <p:nvPr/>
        </p:nvSpPr>
        <p:spPr>
          <a:xfrm>
            <a:off x="685800" y="4453128"/>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4" name="Text 31"/>
          <p:cNvSpPr/>
          <p:nvPr/>
        </p:nvSpPr>
        <p:spPr>
          <a:xfrm>
            <a:off x="1353312" y="4370832"/>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Capstone assembly</a:t>
            </a:r>
            <a:endParaRPr lang="en-US" sz="1350" dirty="0"/>
          </a:p>
        </p:txBody>
      </p:sp>
      <p:sp>
        <p:nvSpPr>
          <p:cNvPr id="35" name="Text 32"/>
          <p:cNvSpPr/>
          <p:nvPr/>
        </p:nvSpPr>
        <p:spPr>
          <a:xfrm>
            <a:off x="1353312" y="4681728"/>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Integrate all components; complete capstone checklist; peer code review round</a:t>
            </a:r>
            <a:endParaRPr lang="en-US" sz="1000" dirty="0"/>
          </a:p>
        </p:txBody>
      </p:sp>
      <p:sp>
        <p:nvSpPr>
          <p:cNvPr id="36" name="Text 33"/>
          <p:cNvSpPr/>
          <p:nvPr/>
        </p:nvSpPr>
        <p:spPr>
          <a:xfrm>
            <a:off x="7589520" y="4535424"/>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Project work</a:t>
            </a:r>
            <a:endParaRPr lang="en-US" sz="950" dirty="0"/>
          </a:p>
        </p:txBody>
      </p:sp>
      <p:sp>
        <p:nvSpPr>
          <p:cNvPr id="37" name="Shape 34"/>
          <p:cNvSpPr/>
          <p:nvPr/>
        </p:nvSpPr>
        <p:spPr>
          <a:xfrm>
            <a:off x="9555480" y="4608576"/>
            <a:ext cx="0" cy="164592"/>
          </a:xfrm>
          <a:prstGeom prst="rect">
            <a:avLst/>
          </a:prstGeom>
          <a:solidFill>
            <a:srgbClr val="1D2A5C"/>
          </a:solidFill>
          <a:ln/>
        </p:spPr>
      </p:sp>
      <p:sp>
        <p:nvSpPr>
          <p:cNvPr id="38" name="Shape 35"/>
          <p:cNvSpPr/>
          <p:nvPr/>
        </p:nvSpPr>
        <p:spPr>
          <a:xfrm>
            <a:off x="9555480" y="4608576"/>
            <a:ext cx="1737360" cy="164592"/>
          </a:xfrm>
          <a:prstGeom prst="rect">
            <a:avLst/>
          </a:prstGeom>
          <a:solidFill>
            <a:srgbClr val="00A79D"/>
          </a:solidFill>
          <a:ln/>
        </p:spPr>
      </p:sp>
      <p:sp>
        <p:nvSpPr>
          <p:cNvPr id="39" name="Text 36"/>
          <p:cNvSpPr/>
          <p:nvPr/>
        </p:nvSpPr>
        <p:spPr>
          <a:xfrm>
            <a:off x="9509760" y="4791456"/>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0% theory · 100% lab</a:t>
            </a:r>
            <a:endParaRPr lang="en-US" sz="750" dirty="0"/>
          </a:p>
        </p:txBody>
      </p:sp>
      <p:sp>
        <p:nvSpPr>
          <p:cNvPr id="40" name="Shape 37"/>
          <p:cNvSpPr/>
          <p:nvPr/>
        </p:nvSpPr>
        <p:spPr>
          <a:xfrm>
            <a:off x="502920" y="5212080"/>
            <a:ext cx="11183112" cy="822960"/>
          </a:xfrm>
          <a:prstGeom prst="roundRect">
            <a:avLst>
              <a:gd name="adj" fmla="val 5556"/>
            </a:avLst>
          </a:prstGeom>
          <a:solidFill>
            <a:srgbClr val="FFFFFF"/>
          </a:solidFill>
          <a:ln w="9525">
            <a:solidFill>
              <a:srgbClr val="D9E4F5"/>
            </a:solidFill>
            <a:prstDash val="solid"/>
          </a:ln>
        </p:spPr>
      </p:sp>
      <p:sp>
        <p:nvSpPr>
          <p:cNvPr id="41" name="Text 38"/>
          <p:cNvSpPr/>
          <p:nvPr/>
        </p:nvSpPr>
        <p:spPr>
          <a:xfrm>
            <a:off x="685800" y="5385816"/>
            <a:ext cx="475488" cy="475488"/>
          </a:xfrm>
          <a:prstGeom prst="ellipse">
            <a:avLst/>
          </a:prstGeom>
          <a:solidFill>
            <a:srgbClr val="1D2A5C"/>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2" name="Text 39"/>
          <p:cNvSpPr/>
          <p:nvPr/>
        </p:nvSpPr>
        <p:spPr>
          <a:xfrm>
            <a:off x="1353312" y="5303520"/>
            <a:ext cx="6035040" cy="310896"/>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Capstone demos + assessment</a:t>
            </a:r>
            <a:endParaRPr lang="en-US" sz="1350" dirty="0"/>
          </a:p>
        </p:txBody>
      </p:sp>
      <p:sp>
        <p:nvSpPr>
          <p:cNvPr id="43" name="Text 40"/>
          <p:cNvSpPr/>
          <p:nvPr/>
        </p:nvSpPr>
        <p:spPr>
          <a:xfrm>
            <a:off x="1353312" y="5614416"/>
            <a:ext cx="6035040" cy="384048"/>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5-minute demos; rubric-based peer + instructor scoring; path to SDA-AIE-211/216</a:t>
            </a:r>
            <a:endParaRPr lang="en-US" sz="1000" dirty="0"/>
          </a:p>
        </p:txBody>
      </p:sp>
      <p:sp>
        <p:nvSpPr>
          <p:cNvPr id="44" name="Text 41"/>
          <p:cNvSpPr/>
          <p:nvPr/>
        </p:nvSpPr>
        <p:spPr>
          <a:xfrm>
            <a:off x="7589520" y="5468112"/>
            <a:ext cx="1783080" cy="310896"/>
          </a:xfrm>
          <a:prstGeom prst="roundRect">
            <a:avLst>
              <a:gd name="adj" fmla="val 17647"/>
            </a:avLst>
          </a:prstGeom>
          <a:solidFill>
            <a:srgbClr val="D4F1EE"/>
          </a:solidFill>
          <a:ln/>
        </p:spPr>
        <p:txBody>
          <a:bodyPr wrap="square" rtlCol="0" anchor="ctr"/>
          <a:lstStyle/>
          <a:p>
            <a:pPr algn="ctr" indent="0" marL="0">
              <a:buNone/>
            </a:pPr>
            <a:r>
              <a:rPr lang="en-US" sz="950" b="1" dirty="0">
                <a:solidFill>
                  <a:srgbClr val="056A63"/>
                </a:solidFill>
                <a:latin typeface="Calibri" pitchFamily="34" charset="0"/>
                <a:ea typeface="Calibri" pitchFamily="34" charset="-122"/>
                <a:cs typeface="Calibri" pitchFamily="34" charset="-120"/>
              </a:rPr>
              <a:t>Presentations</a:t>
            </a:r>
            <a:endParaRPr lang="en-US" sz="950" dirty="0"/>
          </a:p>
        </p:txBody>
      </p:sp>
      <p:sp>
        <p:nvSpPr>
          <p:cNvPr id="45" name="Shape 42"/>
          <p:cNvSpPr/>
          <p:nvPr/>
        </p:nvSpPr>
        <p:spPr>
          <a:xfrm>
            <a:off x="9555480" y="5541264"/>
            <a:ext cx="347472" cy="164592"/>
          </a:xfrm>
          <a:prstGeom prst="rect">
            <a:avLst/>
          </a:prstGeom>
          <a:solidFill>
            <a:srgbClr val="1D2A5C"/>
          </a:solidFill>
          <a:ln/>
        </p:spPr>
      </p:sp>
      <p:sp>
        <p:nvSpPr>
          <p:cNvPr id="46" name="Shape 43"/>
          <p:cNvSpPr/>
          <p:nvPr/>
        </p:nvSpPr>
        <p:spPr>
          <a:xfrm>
            <a:off x="9902952" y="5541264"/>
            <a:ext cx="1389888" cy="164592"/>
          </a:xfrm>
          <a:prstGeom prst="rect">
            <a:avLst/>
          </a:prstGeom>
          <a:solidFill>
            <a:srgbClr val="00A79D"/>
          </a:solidFill>
          <a:ln/>
        </p:spPr>
      </p:sp>
      <p:sp>
        <p:nvSpPr>
          <p:cNvPr id="47" name="Text 44"/>
          <p:cNvSpPr/>
          <p:nvPr/>
        </p:nvSpPr>
        <p:spPr>
          <a:xfrm>
            <a:off x="9509760" y="5724144"/>
            <a:ext cx="1828800" cy="182880"/>
          </a:xfrm>
          <a:prstGeom prst="rect">
            <a:avLst/>
          </a:prstGeom>
          <a:noFill/>
          <a:ln/>
        </p:spPr>
        <p:txBody>
          <a:bodyPr wrap="square" rtlCol="0" anchor="ctr"/>
          <a:lstStyle/>
          <a:p>
            <a:pPr algn="ctr" indent="0" marL="0">
              <a:buNone/>
            </a:pPr>
            <a:r>
              <a:rPr lang="en-US" sz="750" dirty="0">
                <a:solidFill>
                  <a:srgbClr val="8A96A6"/>
                </a:solidFill>
                <a:latin typeface="Calibri" pitchFamily="34" charset="0"/>
                <a:ea typeface="Calibri" pitchFamily="34" charset="-122"/>
                <a:cs typeface="Calibri" pitchFamily="34" charset="-120"/>
              </a:rPr>
              <a:t>20% theory · 80% lab</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3 · MODULE 5</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CI/CD Automation with GitHub Actions</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أتمتة CI/CD باستخدام GitHub Actions</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Pipeline anatomy</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CI vs CD; the immutable image digest as the unit of truth</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Workflow syntax</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Jobs, steps, triggers, contexts, and caching</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Quality gates</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Branch protection + required checks enforce done</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Ship from CI</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Build, smoke-test, SHA-tag and push images to GHCR</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~60 min lecture + Lab 5 · LO4 · LO2 · LO6</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5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5 — أهداف التعلم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99</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Explain CI vs CD and the anatomy of a GitHub Actions workflow</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LO4·6</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Implement a lint → type → test pipeline with dependency caching</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LO4·2</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Build, smoke-test, and push a Docker image from CI with SHA tagging</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LO4·6</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Enforce gates with branch protection and required checks</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LO4</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Diagnose failed pipeline runs from logs and artefacts</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Every merged PR carries its test log, image digest, and scan report — governance evidence, automatically.</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Pipeline anatomy — the gate on every change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تشريح خط الأنابيب — البوابة على كل تغيير</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100</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PR event</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Every push / pull_request triggers the workflow — the gate runs before merge</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Parallel lint + test</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Cheap gates first: ruff + mypy alongside pytest with a coverage floor</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Image smoke</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Build once, run the container, hit /ready, POST one predict, assert contract</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Publish (main only)</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SHA-tag and push the validated image to GHCR — never from a PR</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Registry digest</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Immutable digest, consumed by deployment (SDA-AIE-211)</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The unit of truth between CI and CD is the immutable image digest: CI's last act is producing it; CD's first act is consuming it. Nothing built on a laptop ever ships.</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CI vs CD — and why the digest is the truth</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CI مقابل CD — ولماذا البصمة هي الحقيقة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101</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CI — safe to integrate?</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Runs on every push / PR. Answers whether this change is safe to merge: lint, type, test, smoke. Fail fast, fail cheap — order gates by cost.</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CD — safe to release?</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Delivers the validated artefact to a registry (continuous delivery — this course) or all the way to prod (continuous deployment — SDA-AIE-211's business).</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The digest is the truth</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CI produces the immutable image digest; CD consumes it. 'We tested that image' only holds if the exact digest ships — nothing rebuilt on a laptop.</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Design principles</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Fail fast, fail cheap</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ruff (s) before pytest (min) before build</a:t>
            </a:r>
            <a:endParaRPr lang="en-US" sz="950" dirty="0"/>
          </a:p>
        </p:txBody>
      </p:sp>
      <p:sp>
        <p:nvSpPr>
          <p:cNvPr id="22" name="Shape 19"/>
          <p:cNvSpPr/>
          <p:nvPr/>
        </p:nvSpPr>
        <p:spPr>
          <a:xfrm rot="2700000">
            <a:off x="6556248" y="3113532"/>
            <a:ext cx="128016" cy="128016"/>
          </a:xfrm>
          <a:prstGeom prst="rect">
            <a:avLst/>
          </a:prstGeom>
          <a:solidFill>
            <a:srgbClr val="29ABE2"/>
          </a:solidFill>
          <a:ln/>
        </p:spPr>
      </p:sp>
      <p:sp>
        <p:nvSpPr>
          <p:cNvPr id="23" name="Text 20"/>
          <p:cNvSpPr/>
          <p:nvPr/>
        </p:nvSpPr>
        <p:spPr>
          <a:xfrm>
            <a:off x="6812280" y="302209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Commit gate &lt; 10 min</a:t>
            </a:r>
            <a:endParaRPr lang="en-US" sz="1100" dirty="0"/>
          </a:p>
        </p:txBody>
      </p:sp>
      <p:sp>
        <p:nvSpPr>
          <p:cNvPr id="24" name="Text 21"/>
          <p:cNvSpPr/>
          <p:nvPr/>
        </p:nvSpPr>
        <p:spPr>
          <a:xfrm>
            <a:off x="6812280" y="328726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Move slow suites to a nightly schedule</a:t>
            </a:r>
            <a:endParaRPr lang="en-US" sz="950" dirty="0"/>
          </a:p>
        </p:txBody>
      </p:sp>
      <p:sp>
        <p:nvSpPr>
          <p:cNvPr id="25" name="Shape 22"/>
          <p:cNvSpPr/>
          <p:nvPr/>
        </p:nvSpPr>
        <p:spPr>
          <a:xfrm rot="2700000">
            <a:off x="6556248" y="4096512"/>
            <a:ext cx="128016" cy="128016"/>
          </a:xfrm>
          <a:prstGeom prst="rect">
            <a:avLst/>
          </a:prstGeom>
          <a:solidFill>
            <a:srgbClr val="F58220"/>
          </a:solidFill>
          <a:ln/>
        </p:spPr>
      </p:sp>
      <p:sp>
        <p:nvSpPr>
          <p:cNvPr id="26" name="Text 23"/>
          <p:cNvSpPr/>
          <p:nvPr/>
        </p:nvSpPr>
        <p:spPr>
          <a:xfrm>
            <a:off x="6812280" y="400507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Pin everything</a:t>
            </a:r>
            <a:endParaRPr lang="en-US" sz="1100" dirty="0"/>
          </a:p>
        </p:txBody>
      </p:sp>
      <p:sp>
        <p:nvSpPr>
          <p:cNvPr id="27" name="Text 24"/>
          <p:cNvSpPr/>
          <p:nvPr/>
        </p:nvSpPr>
        <p:spPr>
          <a:xfrm>
            <a:off x="6812280" y="427024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Actions, Python, lock files — supply chain</a:t>
            </a:r>
            <a:endParaRPr lang="en-US" sz="950" dirty="0"/>
          </a:p>
        </p:txBody>
      </p:sp>
      <p:sp>
        <p:nvSpPr>
          <p:cNvPr id="28" name="Shape 25"/>
          <p:cNvSpPr/>
          <p:nvPr/>
        </p:nvSpPr>
        <p:spPr>
          <a:xfrm rot="2700000">
            <a:off x="6556248" y="5079492"/>
            <a:ext cx="128016" cy="128016"/>
          </a:xfrm>
          <a:prstGeom prst="rect">
            <a:avLst/>
          </a:prstGeom>
          <a:solidFill>
            <a:srgbClr val="8DC63F"/>
          </a:solidFill>
          <a:ln/>
        </p:spPr>
      </p:sp>
      <p:sp>
        <p:nvSpPr>
          <p:cNvPr id="29" name="Text 26"/>
          <p:cNvSpPr/>
          <p:nvPr/>
        </p:nvSpPr>
        <p:spPr>
          <a:xfrm>
            <a:off x="6812280" y="498805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Artefacts = evidence</a:t>
            </a:r>
            <a:endParaRPr lang="en-US" sz="1100" dirty="0"/>
          </a:p>
        </p:txBody>
      </p:sp>
      <p:sp>
        <p:nvSpPr>
          <p:cNvPr id="30" name="Text 27"/>
          <p:cNvSpPr/>
          <p:nvPr/>
        </p:nvSpPr>
        <p:spPr>
          <a:xfrm>
            <a:off x="6812280" y="525322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Coverage, scans, golden diffs on the PR</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GitHub Actions vocabulary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مفردات GitHub Actions</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102</a:t>
            </a:r>
            <a:endParaRPr lang="en-US" sz="850" dirty="0"/>
          </a:p>
        </p:txBody>
      </p:sp>
      <p:sp>
        <p:nvSpPr>
          <p:cNvPr id="8" name="Shape 5"/>
          <p:cNvSpPr/>
          <p:nvPr/>
        </p:nvSpPr>
        <p:spPr>
          <a:xfrm>
            <a:off x="3886200" y="2217420"/>
            <a:ext cx="1435608" cy="0"/>
          </a:xfrm>
          <a:prstGeom prst="line">
            <a:avLst/>
          </a:prstGeom>
          <a:noFill/>
          <a:ln w="19050">
            <a:solidFill>
              <a:srgbClr val="D9E4F5"/>
            </a:solidFill>
            <a:prstDash val="dash"/>
          </a:ln>
        </p:spPr>
      </p:sp>
      <p:sp>
        <p:nvSpPr>
          <p:cNvPr id="9" name="Shape 6"/>
          <p:cNvSpPr/>
          <p:nvPr/>
        </p:nvSpPr>
        <p:spPr>
          <a:xfrm>
            <a:off x="594360" y="1600200"/>
            <a:ext cx="3291840" cy="1234440"/>
          </a:xfrm>
          <a:prstGeom prst="roundRect">
            <a:avLst>
              <a:gd name="adj" fmla="val 5185"/>
            </a:avLst>
          </a:prstGeom>
          <a:solidFill>
            <a:srgbClr val="D4F1EE"/>
          </a:solidFill>
          <a:ln/>
        </p:spPr>
      </p:sp>
      <p:sp>
        <p:nvSpPr>
          <p:cNvPr id="10" name="Text 7"/>
          <p:cNvSpPr/>
          <p:nvPr/>
        </p:nvSpPr>
        <p:spPr>
          <a:xfrm>
            <a:off x="74066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Workflow</a:t>
            </a:r>
            <a:endParaRPr lang="en-US" sz="1200" dirty="0"/>
          </a:p>
        </p:txBody>
      </p:sp>
      <p:sp>
        <p:nvSpPr>
          <p:cNvPr id="11" name="Text 8"/>
          <p:cNvSpPr/>
          <p:nvPr/>
        </p:nvSpPr>
        <p:spPr>
          <a:xfrm>
            <a:off x="74066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YAML in .github/workflows/, triggered by events</a:t>
            </a:r>
            <a:endParaRPr lang="en-US" sz="950" dirty="0"/>
          </a:p>
        </p:txBody>
      </p:sp>
      <p:sp>
        <p:nvSpPr>
          <p:cNvPr id="12" name="Shape 9"/>
          <p:cNvSpPr/>
          <p:nvPr/>
        </p:nvSpPr>
        <p:spPr>
          <a:xfrm>
            <a:off x="3886200" y="4320540"/>
            <a:ext cx="1435608" cy="0"/>
          </a:xfrm>
          <a:prstGeom prst="line">
            <a:avLst/>
          </a:prstGeom>
          <a:noFill/>
          <a:ln w="19050">
            <a:solidFill>
              <a:srgbClr val="D9E4F5"/>
            </a:solidFill>
            <a:prstDash val="dash"/>
          </a:ln>
        </p:spPr>
      </p:sp>
      <p:sp>
        <p:nvSpPr>
          <p:cNvPr id="13" name="Shape 10"/>
          <p:cNvSpPr/>
          <p:nvPr/>
        </p:nvSpPr>
        <p:spPr>
          <a:xfrm>
            <a:off x="594360" y="3703320"/>
            <a:ext cx="3291840" cy="1234440"/>
          </a:xfrm>
          <a:prstGeom prst="roundRect">
            <a:avLst>
              <a:gd name="adj" fmla="val 5185"/>
            </a:avLst>
          </a:prstGeom>
          <a:solidFill>
            <a:srgbClr val="D9F0FA"/>
          </a:solidFill>
          <a:ln/>
        </p:spPr>
      </p:sp>
      <p:sp>
        <p:nvSpPr>
          <p:cNvPr id="14" name="Text 11"/>
          <p:cNvSpPr/>
          <p:nvPr/>
        </p:nvSpPr>
        <p:spPr>
          <a:xfrm>
            <a:off x="74066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Events</a:t>
            </a:r>
            <a:endParaRPr lang="en-US" sz="1200" dirty="0"/>
          </a:p>
        </p:txBody>
      </p:sp>
      <p:sp>
        <p:nvSpPr>
          <p:cNvPr id="15" name="Text 12"/>
          <p:cNvSpPr/>
          <p:nvPr/>
        </p:nvSpPr>
        <p:spPr>
          <a:xfrm>
            <a:off x="74066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push, pull_request, schedule, workflow_dispatch</a:t>
            </a:r>
            <a:endParaRPr lang="en-US" sz="950" dirty="0"/>
          </a:p>
        </p:txBody>
      </p:sp>
      <p:sp>
        <p:nvSpPr>
          <p:cNvPr id="16" name="Shape 13"/>
          <p:cNvSpPr/>
          <p:nvPr/>
        </p:nvSpPr>
        <p:spPr>
          <a:xfrm>
            <a:off x="3886200" y="5737860"/>
            <a:ext cx="1435608" cy="0"/>
          </a:xfrm>
          <a:prstGeom prst="line">
            <a:avLst/>
          </a:prstGeom>
          <a:noFill/>
          <a:ln w="19050">
            <a:solidFill>
              <a:srgbClr val="D9E4F5"/>
            </a:solidFill>
            <a:prstDash val="dash"/>
          </a:ln>
        </p:spPr>
      </p:sp>
      <p:sp>
        <p:nvSpPr>
          <p:cNvPr id="17" name="Shape 14"/>
          <p:cNvSpPr/>
          <p:nvPr/>
        </p:nvSpPr>
        <p:spPr>
          <a:xfrm>
            <a:off x="594360" y="5120640"/>
            <a:ext cx="3291840" cy="1234440"/>
          </a:xfrm>
          <a:prstGeom prst="roundRect">
            <a:avLst>
              <a:gd name="adj" fmla="val 5185"/>
            </a:avLst>
          </a:prstGeom>
          <a:solidFill>
            <a:srgbClr val="FDEBD7"/>
          </a:solidFill>
          <a:ln/>
        </p:spPr>
      </p:sp>
      <p:sp>
        <p:nvSpPr>
          <p:cNvPr id="18" name="Text 15"/>
          <p:cNvSpPr/>
          <p:nvPr/>
        </p:nvSpPr>
        <p:spPr>
          <a:xfrm>
            <a:off x="74066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Jobs</a:t>
            </a:r>
            <a:endParaRPr lang="en-US" sz="1200" dirty="0"/>
          </a:p>
        </p:txBody>
      </p:sp>
      <p:sp>
        <p:nvSpPr>
          <p:cNvPr id="19" name="Text 16"/>
          <p:cNvSpPr/>
          <p:nvPr/>
        </p:nvSpPr>
        <p:spPr>
          <a:xfrm>
            <a:off x="74066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Isolated VMs; parallel unless needs: orders them</a:t>
            </a:r>
            <a:endParaRPr lang="en-US" sz="950" dirty="0"/>
          </a:p>
        </p:txBody>
      </p:sp>
      <p:sp>
        <p:nvSpPr>
          <p:cNvPr id="20" name="Shape 17"/>
          <p:cNvSpPr/>
          <p:nvPr/>
        </p:nvSpPr>
        <p:spPr>
          <a:xfrm>
            <a:off x="6858000" y="2217420"/>
            <a:ext cx="1463040" cy="0"/>
          </a:xfrm>
          <a:prstGeom prst="line">
            <a:avLst/>
          </a:prstGeom>
          <a:noFill/>
          <a:ln w="19050">
            <a:solidFill>
              <a:srgbClr val="D9E4F5"/>
            </a:solidFill>
            <a:prstDash val="dash"/>
          </a:ln>
        </p:spPr>
      </p:sp>
      <p:sp>
        <p:nvSpPr>
          <p:cNvPr id="21" name="Shape 18"/>
          <p:cNvSpPr/>
          <p:nvPr/>
        </p:nvSpPr>
        <p:spPr>
          <a:xfrm>
            <a:off x="8321040" y="1600200"/>
            <a:ext cx="3291840" cy="1234440"/>
          </a:xfrm>
          <a:prstGeom prst="roundRect">
            <a:avLst>
              <a:gd name="adj" fmla="val 5185"/>
            </a:avLst>
          </a:prstGeom>
          <a:solidFill>
            <a:srgbClr val="EAF4DC"/>
          </a:solidFill>
          <a:ln/>
        </p:spPr>
      </p:sp>
      <p:sp>
        <p:nvSpPr>
          <p:cNvPr id="22" name="Text 19"/>
          <p:cNvSpPr/>
          <p:nvPr/>
        </p:nvSpPr>
        <p:spPr>
          <a:xfrm>
            <a:off x="846734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Steps</a:t>
            </a:r>
            <a:endParaRPr lang="en-US" sz="1200" dirty="0"/>
          </a:p>
        </p:txBody>
      </p:sp>
      <p:sp>
        <p:nvSpPr>
          <p:cNvPr id="23" name="Text 20"/>
          <p:cNvSpPr/>
          <p:nvPr/>
        </p:nvSpPr>
        <p:spPr>
          <a:xfrm>
            <a:off x="846734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Shell commands or reusable actions inside a job</a:t>
            </a:r>
            <a:endParaRPr lang="en-US" sz="950" dirty="0"/>
          </a:p>
        </p:txBody>
      </p:sp>
      <p:sp>
        <p:nvSpPr>
          <p:cNvPr id="24" name="Shape 21"/>
          <p:cNvSpPr/>
          <p:nvPr/>
        </p:nvSpPr>
        <p:spPr>
          <a:xfrm>
            <a:off x="6858000" y="4320540"/>
            <a:ext cx="1463040" cy="0"/>
          </a:xfrm>
          <a:prstGeom prst="line">
            <a:avLst/>
          </a:prstGeom>
          <a:noFill/>
          <a:ln w="19050">
            <a:solidFill>
              <a:srgbClr val="D9E4F5"/>
            </a:solidFill>
            <a:prstDash val="dash"/>
          </a:ln>
        </p:spPr>
      </p:sp>
      <p:sp>
        <p:nvSpPr>
          <p:cNvPr id="25" name="Shape 22"/>
          <p:cNvSpPr/>
          <p:nvPr/>
        </p:nvSpPr>
        <p:spPr>
          <a:xfrm>
            <a:off x="8321040" y="3703320"/>
            <a:ext cx="3291840" cy="1234440"/>
          </a:xfrm>
          <a:prstGeom prst="roundRect">
            <a:avLst>
              <a:gd name="adj" fmla="val 5185"/>
            </a:avLst>
          </a:prstGeom>
          <a:solidFill>
            <a:srgbClr val="FADDD8"/>
          </a:solidFill>
          <a:ln/>
        </p:spPr>
      </p:sp>
      <p:sp>
        <p:nvSpPr>
          <p:cNvPr id="26" name="Text 23"/>
          <p:cNvSpPr/>
          <p:nvPr/>
        </p:nvSpPr>
        <p:spPr>
          <a:xfrm>
            <a:off x="846734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Contexts</a:t>
            </a:r>
            <a:endParaRPr lang="en-US" sz="1200" dirty="0"/>
          </a:p>
        </p:txBody>
      </p:sp>
      <p:sp>
        <p:nvSpPr>
          <p:cNvPr id="27" name="Text 24"/>
          <p:cNvSpPr/>
          <p:nvPr/>
        </p:nvSpPr>
        <p:spPr>
          <a:xfrm>
            <a:off x="846734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github.sha, secrets.*, matrix.* parameterise it all</a:t>
            </a:r>
            <a:endParaRPr lang="en-US" sz="950" dirty="0"/>
          </a:p>
        </p:txBody>
      </p:sp>
      <p:sp>
        <p:nvSpPr>
          <p:cNvPr id="28" name="Shape 25"/>
          <p:cNvSpPr/>
          <p:nvPr/>
        </p:nvSpPr>
        <p:spPr>
          <a:xfrm>
            <a:off x="6858000" y="5737860"/>
            <a:ext cx="1463040" cy="0"/>
          </a:xfrm>
          <a:prstGeom prst="line">
            <a:avLst/>
          </a:prstGeom>
          <a:noFill/>
          <a:ln w="19050">
            <a:solidFill>
              <a:srgbClr val="D9E4F5"/>
            </a:solidFill>
            <a:prstDash val="dash"/>
          </a:ln>
        </p:spPr>
      </p:sp>
      <p:sp>
        <p:nvSpPr>
          <p:cNvPr id="29" name="Shape 26"/>
          <p:cNvSpPr/>
          <p:nvPr/>
        </p:nvSpPr>
        <p:spPr>
          <a:xfrm>
            <a:off x="8321040" y="5120640"/>
            <a:ext cx="3291840" cy="1234440"/>
          </a:xfrm>
          <a:prstGeom prst="roundRect">
            <a:avLst>
              <a:gd name="adj" fmla="val 5185"/>
            </a:avLst>
          </a:prstGeom>
          <a:solidFill>
            <a:srgbClr val="E9E2F2"/>
          </a:solidFill>
          <a:ln/>
        </p:spPr>
      </p:sp>
      <p:sp>
        <p:nvSpPr>
          <p:cNvPr id="30" name="Text 27"/>
          <p:cNvSpPr/>
          <p:nvPr/>
        </p:nvSpPr>
        <p:spPr>
          <a:xfrm>
            <a:off x="846734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needs:</a:t>
            </a:r>
            <a:endParaRPr lang="en-US" sz="1200" dirty="0"/>
          </a:p>
        </p:txBody>
      </p:sp>
      <p:sp>
        <p:nvSpPr>
          <p:cNvPr id="31" name="Text 28"/>
          <p:cNvSpPr/>
          <p:nvPr/>
        </p:nvSpPr>
        <p:spPr>
          <a:xfrm>
            <a:off x="846734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Sequences jobs — image gated by needs: [lint, test]</a:t>
            </a:r>
            <a:endParaRPr lang="en-US" sz="950" dirty="0"/>
          </a:p>
        </p:txBody>
      </p:sp>
      <p:sp>
        <p:nvSpPr>
          <p:cNvPr id="32" name="Shape 29"/>
          <p:cNvSpPr/>
          <p:nvPr/>
        </p:nvSpPr>
        <p:spPr>
          <a:xfrm>
            <a:off x="5129784" y="2953512"/>
            <a:ext cx="1920240" cy="1920240"/>
          </a:xfrm>
          <a:prstGeom prst="ellipse">
            <a:avLst/>
          </a:prstGeom>
          <a:solidFill>
            <a:srgbClr val="1D2A5C"/>
          </a:solidFill>
          <a:ln w="31750">
            <a:solidFill>
              <a:srgbClr val="00A79D"/>
            </a:solidFill>
            <a:prstDash val="solid"/>
          </a:ln>
        </p:spPr>
      </p:sp>
      <p:sp>
        <p:nvSpPr>
          <p:cNvPr id="33" name="Text 30"/>
          <p:cNvSpPr/>
          <p:nvPr/>
        </p:nvSpPr>
        <p:spPr>
          <a:xfrm>
            <a:off x="5221224" y="3044952"/>
            <a:ext cx="1737360" cy="1737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GitHub Actions</a:t>
            </a:r>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ci.yml — triggers, permissions, concurrency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ci.yml — المشغلات والصلاحيات والتزامن</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103</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name: ci</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on:</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pull_request:                # gates for every PR</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push:</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branches: [main]           # main also builds + pushes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workflow_dispatch:           # manual demo / hotfix runs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permissions: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contents: read               # least privilege default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concurrency:</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group: ci-${{ github.ref }}  # cancel superseded runs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cancel-in-progress: true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env:</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PYTHON_VERSION: "3.12"</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IMAGE: ghcr.io/${{ github.repository }}</a:t>
            </a:r>
            <a:endParaRPr lang="en-US" sz="11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Three triggers</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PR gates every change; push to main also ships; workflow_dispatch enables manual demo and hotfix rebuilds.</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Least privilege</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contents: read by default. Widen permissions per job, never blanket at the workflow level.</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concurrency</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cancel-in-progress kills superseded runs on the same branch — saves runner minutes and queue time.</a:t>
            </a:r>
            <a:endParaRPr lang="en-US" sz="93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lint job — cheapest gate first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مهمة الفحص — أرخص بوابة أولاً</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104</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jobs: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lint:                        # cheapest gate first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runs-on: ubuntu-latest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steps: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uses: actions/checkout@v4</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uses: actions/setup-python@v5</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with:</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python-version: ${{ env.PYTHON_VERSION }}</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cache: pip</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cache-dependency-path: requirements.lock</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run: pip install ruff mypy</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name: Ruff (style + import layer rules)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run: ruff check src tests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name: Mypy (type-check the seams)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run: mypy src/fraud_service --strict</a:t>
            </a:r>
            <a:endParaRPr lang="en-US" sz="11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Order gates by cost</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ruff runs in seconds; put it before pytest (minutes) and docker build. Fail fast, fail cheap.</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Dependency cache</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setup-python cache: pip keyed on the lock file drops install from ~90s to ~8s.</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Two linters</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ruff enforces style AND the import-layer contract; mypy --strict type-checks the module seams.</a:t>
            </a:r>
            <a:endParaRPr lang="en-US" sz="93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Caching &amp; speed engineering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التخزين المؤقت وهندسة السرعة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105</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Dependency caching</a:t>
            </a:r>
            <a:endParaRPr lang="en-US" sz="1350" dirty="0"/>
          </a:p>
        </p:txBody>
      </p:sp>
      <p:sp>
        <p:nvSpPr>
          <p:cNvPr id="10" name="Text 7"/>
          <p:cNvSpPr/>
          <p:nvPr/>
        </p:nvSpPr>
        <p:spPr>
          <a:xfrm>
            <a:off x="1005840" y="18013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actions/setup-python with cache: pip keyed on the lock file drops dependency install from ~90s to ~8s. The lock file is the cache key — which is why you pin it.</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Docker layer caching</a:t>
            </a:r>
            <a:endParaRPr lang="en-US" sz="1350" dirty="0"/>
          </a:p>
        </p:txBody>
      </p:sp>
      <p:sp>
        <p:nvSpPr>
          <p:cNvPr id="13" name="Text 10"/>
          <p:cNvSpPr/>
          <p:nvPr/>
        </p:nvSpPr>
        <p:spPr>
          <a:xfrm>
            <a:off x="1005840" y="31729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buildx cache-from / cache-to: type=gha reuses layers between runs. M3's layer-ordering discipline is exactly what makes this effective — one lesson, two parts.</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Split for fast feedback</a:t>
            </a:r>
            <a:endParaRPr lang="en-US" sz="1350" dirty="0"/>
          </a:p>
        </p:txBody>
      </p:sp>
      <p:sp>
        <p:nvSpPr>
          <p:cNvPr id="16" name="Text 13"/>
          <p:cNvSpPr/>
          <p:nvPr/>
        </p:nvSpPr>
        <p:spPr>
          <a:xfrm>
            <a:off x="1005840" y="45445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Run lint and test in parallel; gate image by needs: [lint, test]. The cheap gates report in ~1 min even while the tests are still running.</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test job — real artefact + coverage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مهمة الاختبار — القطعة الحقيقية والتغطية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106</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runs-on: ubuntu-latest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steps: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uses: actions/checkout@v4</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with: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lfs: true   # model artefact for behaviour tests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uses: actions/setup-python@v5</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with: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python-version: ${{ env.PYTHON_VERSION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cache: pip</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run: pip install -r requirements.lock -e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Fast suite (per-commit gate)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run: pytest -m "not slow" --cov-fail-under=80</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Behavioural gate (real artefact)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run: pytest -m "behavioural and not slow" -q</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Upload coverage (evidence on fail)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always()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uses: actions/upload-artifact@v4</a:t>
            </a:r>
            <a:endParaRPr lang="en-US" sz="1000" dirty="0"/>
          </a:p>
        </p:txBody>
      </p:sp>
      <p:sp>
        <p:nvSpPr>
          <p:cNvPr id="14" name="Shape 11"/>
          <p:cNvSpPr/>
          <p:nvPr/>
        </p:nvSpPr>
        <p:spPr>
          <a:xfrm>
            <a:off x="8321040" y="1481328"/>
            <a:ext cx="3364992" cy="1402080"/>
          </a:xfrm>
          <a:prstGeom prst="roundRect">
            <a:avLst>
              <a:gd name="adj" fmla="val 391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LFS checkout</a:t>
            </a:r>
            <a:endParaRPr lang="en-US" sz="1050" dirty="0"/>
          </a:p>
        </p:txBody>
      </p:sp>
      <p:sp>
        <p:nvSpPr>
          <p:cNvPr id="16" name="Text 13"/>
          <p:cNvSpPr/>
          <p:nvPr/>
        </p:nvSpPr>
        <p:spPr>
          <a:xfrm>
            <a:off x="8485632" y="184708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lfs: true pulls the model file so behavioural tests run the REAL artefact — the #1 CI failure when missed.</a:t>
            </a:r>
            <a:endParaRPr lang="en-US" sz="930" dirty="0"/>
          </a:p>
        </p:txBody>
      </p:sp>
      <p:sp>
        <p:nvSpPr>
          <p:cNvPr id="17" name="Shape 14"/>
          <p:cNvSpPr/>
          <p:nvPr/>
        </p:nvSpPr>
        <p:spPr>
          <a:xfrm>
            <a:off x="8321040" y="3020568"/>
            <a:ext cx="3364992" cy="1402080"/>
          </a:xfrm>
          <a:prstGeom prst="roundRect">
            <a:avLst>
              <a:gd name="adj" fmla="val 3913"/>
            </a:avLst>
          </a:prstGeom>
          <a:solidFill>
            <a:srgbClr val="D9F0FA"/>
          </a:solidFill>
          <a:ln/>
        </p:spPr>
      </p:sp>
      <p:sp>
        <p:nvSpPr>
          <p:cNvPr id="18" name="Text 15"/>
          <p:cNvSpPr/>
          <p:nvPr/>
        </p:nvSpPr>
        <p:spPr>
          <a:xfrm>
            <a:off x="8485632" y="311200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Coverage floor</a:t>
            </a:r>
            <a:endParaRPr lang="en-US" sz="1050" dirty="0"/>
          </a:p>
        </p:txBody>
      </p:sp>
      <p:sp>
        <p:nvSpPr>
          <p:cNvPr id="19" name="Text 16"/>
          <p:cNvSpPr/>
          <p:nvPr/>
        </p:nvSpPr>
        <p:spPr>
          <a:xfrm>
            <a:off x="8485632" y="338632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--cov-fail-under=80 fails the gate on coverage regressions, not only on broken tests.</a:t>
            </a:r>
            <a:endParaRPr lang="en-US" sz="930" dirty="0"/>
          </a:p>
        </p:txBody>
      </p:sp>
      <p:sp>
        <p:nvSpPr>
          <p:cNvPr id="20" name="Shape 17"/>
          <p:cNvSpPr/>
          <p:nvPr/>
        </p:nvSpPr>
        <p:spPr>
          <a:xfrm>
            <a:off x="8321040" y="4559808"/>
            <a:ext cx="3364992" cy="1402080"/>
          </a:xfrm>
          <a:prstGeom prst="roundRect">
            <a:avLst>
              <a:gd name="adj" fmla="val 3913"/>
            </a:avLst>
          </a:prstGeom>
          <a:solidFill>
            <a:srgbClr val="FDEBD7"/>
          </a:solidFill>
          <a:ln/>
        </p:spPr>
      </p:sp>
      <p:sp>
        <p:nvSpPr>
          <p:cNvPr id="21" name="Text 18"/>
          <p:cNvSpPr/>
          <p:nvPr/>
        </p:nvSpPr>
        <p:spPr>
          <a:xfrm>
            <a:off x="8485632" y="465124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Evidence on failure</a:t>
            </a:r>
            <a:endParaRPr lang="en-US" sz="1050" dirty="0"/>
          </a:p>
        </p:txBody>
      </p:sp>
      <p:sp>
        <p:nvSpPr>
          <p:cNvPr id="22" name="Text 19"/>
          <p:cNvSpPr/>
          <p:nvPr/>
        </p:nvSpPr>
        <p:spPr>
          <a:xfrm>
            <a:off x="8485632" y="4925568"/>
            <a:ext cx="3063240" cy="94488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if: always() uploads the coverage report even when the job fails — the PR becomes its own audit file.</a:t>
            </a:r>
            <a:endParaRPr lang="en-US" sz="93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image-smoke — build once with layer cache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image-smoke — بناء مرة واحدة مع تخزين الطبقات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107</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image-smoke:                 # build once, prove artefact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runs-on: ubuntu-latest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needs: [lint, test]        # gated by the cheap checks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steps: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uses: actions/checkout@v4</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with: {lfs: true}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uses: docker/setup-buildx-action@v3</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 name: Build with GHA layer cache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uses: docker/build-push-action@v6</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with:</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context: .</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load: true           # load locally to smoke it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tags: ${{ env.IMAGE }}:${{ github.sha }}</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cache-from: type=gha</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cache-to: type=gha,mode=max</a:t>
            </a:r>
            <a:endParaRPr lang="en-US" sz="11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Gated by cheap checks</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needs: [lint, test] means the expensive build only runs once the fast gates are green.</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load, do not push</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load: true puts the image on the local runner so we can smoke-test it before anyone trusts it.</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SHA tag</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Tagged with github.sha — this exact commit becomes this exact image. No :latest, ever.</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GHA layer cache</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cache-from/to: type=gha reuses layers between runs; the warm build drops from ~5m40s to ~1m.</a:t>
            </a:r>
            <a:endParaRPr lang="en-US" sz="93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AI-specific gates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البوابات الخاصة بالذكاء الاصطناعي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108</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STANDARD</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Lint · type · test</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ruff + mypy + pytest with a coverage floor — the fast per-commit trio that reports in about a minute.</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BEHAVIOURAL</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Real-artefact tests</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pytest -m behavioural needs the model in CI: Git LFS for small artefacts, authenticated download for large.</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SMOKE</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Container smoke test</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Run the built image, wait for /ready, POST one predict, assert contract — catches 'works in venv, broken in image'.</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SCAN</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Image vulnerability scan</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trivy fails on HIGH/CRITICAL, with a documented expiring .trivyignore for accepted risks — not a blanket skip.</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EVIDENCE</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Golden-diff artefact</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On behavioural failure, upload the diff CSV so the reviewer sees WHICH rows moved without rerunning anything.</a:t>
            </a:r>
            <a:endParaRPr lang="en-US" sz="98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Smoke test the container + scan</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الدخان للحاوية + الفحص</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109</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Smoke test the container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run: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docker run -d --name svc -p 8000:8000 ${{ env.IMAGE }}:${{ github.sha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for i in $(seq 1 30); do</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curl -fsS localhost:8000/v1/ready &amp;&amp; break || sleep 2</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done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curl -fsS localhost:8000/v1/predict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 "content-type: application/json" -d @payloads/sample.json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python -c "import json,sys; b=json.load(sys.stdin);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0&lt;=b['fraud_probability']&lt;=1;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assert b['model_version']; print('smoke OK')"</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docker logs svc --tail 5</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Scan image (fail on HIGH/CRITICAL)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uses: aquasecurity/trivy-action@master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with: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image-ref: ${{ env.IMAGE }}:${{ github.sha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severity: HIGH,CRITICAL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exit-code: "1"</a:t>
            </a:r>
            <a:endParaRPr lang="en-US" sz="10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The readiness loop is the fix for a flaky smoke test — poll, do not fixed-sleep.</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publish job — delivery, main only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مهمة النشر — التسليم من main فقط</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110</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.github/workflows/ci.yml</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publish:                    # delivery: only on main, never PRs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runs-on: ubuntu-latest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github.event_name == 'push' &amp;&amp; github.ref == 'refs/heads/main'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needs: [image-smoke]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permissions: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contents: read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packages: write         # scoped token for GHCR push, no PAT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steps: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uses: docker/login-action@v3</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with: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registry: ghcr.io</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username: ${{ github.actor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password: ${{ secrets.GITHUB_TOKEN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name: Build and push (SHA + channel tag)</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uses: docker/build-push-action@v6</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with: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push: true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tags: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 env.IMAGE }}:${{ github.sha }}</a:t>
            </a:r>
            <a:endParaRPr lang="en-US" sz="10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The if: condition is the fork-secrets asymmetry made concrete — teach it explicitly.</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Branch protection makes gates real</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حماية الفرع تجعل البوابات حقيقية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111</a:t>
            </a:r>
            <a:endParaRPr lang="en-US" sz="850" dirty="0"/>
          </a:p>
        </p:txBody>
      </p:sp>
      <p:sp>
        <p:nvSpPr>
          <p:cNvPr id="8" name="Shape 5"/>
          <p:cNvSpPr/>
          <p:nvPr/>
        </p:nvSpPr>
        <p:spPr>
          <a:xfrm>
            <a:off x="502920" y="1508760"/>
            <a:ext cx="5440680" cy="3977640"/>
          </a:xfrm>
          <a:prstGeom prst="roundRect">
            <a:avLst>
              <a:gd name="adj" fmla="val 1609"/>
            </a:avLst>
          </a:prstGeom>
          <a:solidFill>
            <a:srgbClr val="FFFFFF"/>
          </a:solidFill>
          <a:ln w="12700">
            <a:solidFill>
              <a:srgbClr val="D9E4F5"/>
            </a:solidFill>
            <a:prstDash val="solid"/>
          </a:ln>
        </p:spPr>
      </p:sp>
      <p:sp>
        <p:nvSpPr>
          <p:cNvPr id="9" name="Shape 6"/>
          <p:cNvSpPr/>
          <p:nvPr/>
        </p:nvSpPr>
        <p:spPr>
          <a:xfrm>
            <a:off x="502920" y="1508760"/>
            <a:ext cx="5440680" cy="475488"/>
          </a:xfrm>
          <a:prstGeom prst="roundRect">
            <a:avLst>
              <a:gd name="adj" fmla="val 13462"/>
            </a:avLst>
          </a:prstGeom>
          <a:solidFill>
            <a:srgbClr val="FADDD8"/>
          </a:solidFill>
          <a:ln/>
        </p:spPr>
      </p:sp>
      <p:sp>
        <p:nvSpPr>
          <p:cNvPr id="10" name="Text 7"/>
          <p:cNvSpPr/>
          <p:nvPr/>
        </p:nvSpPr>
        <p:spPr>
          <a:xfrm>
            <a:off x="685800" y="1545336"/>
            <a:ext cx="5074920" cy="402336"/>
          </a:xfrm>
          <a:prstGeom prst="rect">
            <a:avLst/>
          </a:prstGeom>
          <a:noFill/>
          <a:ln/>
        </p:spPr>
        <p:txBody>
          <a:bodyPr wrap="square" rtlCol="0" anchor="ctr"/>
          <a:lstStyle/>
          <a:p>
            <a:pPr indent="0" marL="0">
              <a:buNone/>
            </a:pPr>
            <a:r>
              <a:rPr lang="en-US" sz="1300" b="1" dirty="0">
                <a:solidFill>
                  <a:srgbClr val="E8503A"/>
                </a:solidFill>
                <a:latin typeface="Calibri" pitchFamily="34" charset="0"/>
                <a:ea typeface="Calibri" pitchFamily="34" charset="-122"/>
                <a:cs typeface="Calibri" pitchFamily="34" charset="-120"/>
              </a:rPr>
              <a:t>A pipeline without branch protection</a:t>
            </a:r>
            <a:endParaRPr lang="en-US" sz="1300" dirty="0"/>
          </a:p>
        </p:txBody>
      </p:sp>
      <p:sp>
        <p:nvSpPr>
          <p:cNvPr id="11" name="Text 8"/>
          <p:cNvSpPr/>
          <p:nvPr/>
        </p:nvSpPr>
        <p:spPr>
          <a:xfrm>
            <a:off x="667512" y="21671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2" name="Text 9"/>
          <p:cNvSpPr/>
          <p:nvPr/>
        </p:nvSpPr>
        <p:spPr>
          <a:xfrm>
            <a:off x="978408"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Green checks are advisory — anyone can merge red</a:t>
            </a:r>
            <a:endParaRPr lang="en-US" sz="1050" dirty="0"/>
          </a:p>
        </p:txBody>
      </p:sp>
      <p:sp>
        <p:nvSpPr>
          <p:cNvPr id="13" name="Text 10"/>
          <p:cNvSpPr/>
          <p:nvPr/>
        </p:nvSpPr>
        <p:spPr>
          <a:xfrm>
            <a:off x="667512" y="29672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978408"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New joiners rely on tribal memory for what "done" means</a:t>
            </a:r>
            <a:endParaRPr lang="en-US" sz="1050" dirty="0"/>
          </a:p>
        </p:txBody>
      </p:sp>
      <p:sp>
        <p:nvSpPr>
          <p:cNvPr id="15" name="Text 12"/>
          <p:cNvSpPr/>
          <p:nvPr/>
        </p:nvSpPr>
        <p:spPr>
          <a:xfrm>
            <a:off x="667512" y="37673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978408"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'Temporarily disabling checks' is how the M4 telecom incident happened</a:t>
            </a:r>
            <a:endParaRPr lang="en-US" sz="1050" dirty="0"/>
          </a:p>
        </p:txBody>
      </p:sp>
      <p:sp>
        <p:nvSpPr>
          <p:cNvPr id="17" name="Text 14"/>
          <p:cNvSpPr/>
          <p:nvPr/>
        </p:nvSpPr>
        <p:spPr>
          <a:xfrm>
            <a:off x="667512" y="45674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978408"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Force-push can quietly rewrite main</a:t>
            </a:r>
            <a:endParaRPr lang="en-US" sz="1050" dirty="0"/>
          </a:p>
        </p:txBody>
      </p:sp>
      <p:sp>
        <p:nvSpPr>
          <p:cNvPr id="19" name="Shape 16"/>
          <p:cNvSpPr/>
          <p:nvPr/>
        </p:nvSpPr>
        <p:spPr>
          <a:xfrm>
            <a:off x="6245352" y="1508760"/>
            <a:ext cx="5440680" cy="3977640"/>
          </a:xfrm>
          <a:prstGeom prst="roundRect">
            <a:avLst>
              <a:gd name="adj" fmla="val 1609"/>
            </a:avLst>
          </a:prstGeom>
          <a:solidFill>
            <a:srgbClr val="FFFFFF"/>
          </a:solidFill>
          <a:ln w="12700">
            <a:solidFill>
              <a:srgbClr val="D9E4F5"/>
            </a:solidFill>
            <a:prstDash val="solid"/>
          </a:ln>
        </p:spPr>
      </p:sp>
      <p:sp>
        <p:nvSpPr>
          <p:cNvPr id="20" name="Shape 17"/>
          <p:cNvSpPr/>
          <p:nvPr/>
        </p:nvSpPr>
        <p:spPr>
          <a:xfrm>
            <a:off x="6245352" y="1508760"/>
            <a:ext cx="5440680" cy="475488"/>
          </a:xfrm>
          <a:prstGeom prst="roundRect">
            <a:avLst>
              <a:gd name="adj" fmla="val 13462"/>
            </a:avLst>
          </a:prstGeom>
          <a:solidFill>
            <a:srgbClr val="EAF4DC"/>
          </a:solidFill>
          <a:ln/>
        </p:spPr>
      </p:sp>
      <p:sp>
        <p:nvSpPr>
          <p:cNvPr id="21" name="Text 18"/>
          <p:cNvSpPr/>
          <p:nvPr/>
        </p:nvSpPr>
        <p:spPr>
          <a:xfrm>
            <a:off x="6428232" y="1545336"/>
            <a:ext cx="5074920" cy="402336"/>
          </a:xfrm>
          <a:prstGeom prst="rect">
            <a:avLst/>
          </a:prstGeom>
          <a:noFill/>
          <a:ln/>
        </p:spPr>
        <p:txBody>
          <a:bodyPr wrap="square" rtlCol="0" anchor="ctr"/>
          <a:lstStyle/>
          <a:p>
            <a:pPr indent="0" marL="0">
              <a:buNone/>
            </a:pPr>
            <a:r>
              <a:rPr lang="en-US" sz="1300" b="1" dirty="0">
                <a:solidFill>
                  <a:srgbClr val="5A8F1F"/>
                </a:solidFill>
                <a:latin typeface="Calibri" pitchFamily="34" charset="0"/>
                <a:ea typeface="Calibri" pitchFamily="34" charset="-122"/>
                <a:cs typeface="Calibri" pitchFamily="34" charset="-120"/>
              </a:rPr>
              <a:t>main with required checks</a:t>
            </a:r>
            <a:endParaRPr lang="en-US" sz="1300" dirty="0"/>
          </a:p>
        </p:txBody>
      </p:sp>
      <p:sp>
        <p:nvSpPr>
          <p:cNvPr id="22" name="Text 19"/>
          <p:cNvSpPr/>
          <p:nvPr/>
        </p:nvSpPr>
        <p:spPr>
          <a:xfrm>
            <a:off x="6409944" y="21671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6720840"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Require PRs + status checks: lint, test, image-smoke</a:t>
            </a:r>
            <a:endParaRPr lang="en-US" sz="1050" dirty="0"/>
          </a:p>
        </p:txBody>
      </p:sp>
      <p:sp>
        <p:nvSpPr>
          <p:cNvPr id="24" name="Text 21"/>
          <p:cNvSpPr/>
          <p:nvPr/>
        </p:nvSpPr>
        <p:spPr>
          <a:xfrm>
            <a:off x="6409944" y="29672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6720840"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Require one review; forbid force-push</a:t>
            </a:r>
            <a:endParaRPr lang="en-US" sz="1050" dirty="0"/>
          </a:p>
        </p:txBody>
      </p:sp>
      <p:sp>
        <p:nvSpPr>
          <p:cNvPr id="26" name="Text 23"/>
          <p:cNvSpPr/>
          <p:nvPr/>
        </p:nvSpPr>
        <p:spPr>
          <a:xfrm>
            <a:off x="6409944" y="37673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7" name="Text 24"/>
          <p:cNvSpPr/>
          <p:nvPr/>
        </p:nvSpPr>
        <p:spPr>
          <a:xfrm>
            <a:off x="6720840"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The repository enforces the definition of done</a:t>
            </a:r>
            <a:endParaRPr lang="en-US" sz="1050" dirty="0"/>
          </a:p>
        </p:txBody>
      </p:sp>
      <p:sp>
        <p:nvSpPr>
          <p:cNvPr id="28" name="Text 25"/>
          <p:cNvSpPr/>
          <p:nvPr/>
        </p:nvSpPr>
        <p:spPr>
          <a:xfrm>
            <a:off x="6409944" y="45674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6720840"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Hotfix path: workflow_dispatch + logged admin bypass</a:t>
            </a:r>
            <a:endParaRPr lang="en-US" sz="1050" dirty="0"/>
          </a:p>
        </p:txBody>
      </p:sp>
      <p:sp>
        <p:nvSpPr>
          <p:cNvPr id="30" name="Shape 27"/>
          <p:cNvSpPr/>
          <p:nvPr/>
        </p:nvSpPr>
        <p:spPr>
          <a:xfrm>
            <a:off x="502920" y="5650992"/>
            <a:ext cx="11183112" cy="566928"/>
          </a:xfrm>
          <a:prstGeom prst="roundRect">
            <a:avLst>
              <a:gd name="adj" fmla="val 11290"/>
            </a:avLst>
          </a:prstGeom>
          <a:solidFill>
            <a:srgbClr val="1D2A5C"/>
          </a:solidFill>
          <a:ln/>
        </p:spPr>
      </p:sp>
      <p:sp>
        <p:nvSpPr>
          <p:cNvPr id="31" name="Text 28"/>
          <p:cNvSpPr/>
          <p:nvPr/>
        </p:nvSpPr>
        <p:spPr>
          <a:xfrm>
            <a:off x="777240" y="5650992"/>
            <a:ext cx="10698480" cy="566928"/>
          </a:xfrm>
          <a:prstGeom prst="rect">
            <a:avLst/>
          </a:prstGeom>
          <a:noFill/>
          <a:ln/>
        </p:spPr>
        <p:txBody>
          <a:bodyPr wrap="square" rtlCol="0" anchor="ctr"/>
          <a:lstStyle/>
          <a:p>
            <a:pPr indent="0" marL="0">
              <a:buNone/>
            </a:pPr>
            <a:r>
              <a:rPr lang="en-US" sz="1000" b="1" dirty="0">
                <a:solidFill>
                  <a:srgbClr val="00A79D"/>
                </a:solidFill>
                <a:latin typeface="Calibri" pitchFamily="34" charset="0"/>
                <a:ea typeface="Calibri" pitchFamily="34" charset="-122"/>
                <a:cs typeface="Calibri" pitchFamily="34" charset="-120"/>
              </a:rPr>
              <a:t>TAKEAWAY   </a:t>
            </a:r>
            <a:pPr indent="0" marL="0">
              <a:buNone/>
            </a:pPr>
            <a:r>
              <a:rPr lang="en-US" sz="1150" dirty="0">
                <a:solidFill>
                  <a:srgbClr val="FFFFFF"/>
                </a:solidFill>
                <a:latin typeface="Calibri" pitchFamily="34" charset="0"/>
                <a:ea typeface="Calibri" pitchFamily="34" charset="-122"/>
                <a:cs typeface="Calibri" pitchFamily="34" charset="-120"/>
              </a:rPr>
              <a:t>A pipeline without branch protection is decoration. Make the repo defend itself — discipline from infrastructure, not memory.</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Secrets &amp; permissions in CI</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الأسرار والصلاحيات في CI</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112</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Least-privilege tokens</a:t>
            </a:r>
            <a:endParaRPr lang="en-US" sz="1350" dirty="0"/>
          </a:p>
        </p:txBody>
      </p:sp>
      <p:sp>
        <p:nvSpPr>
          <p:cNvPr id="10" name="Text 7"/>
          <p:cNvSpPr/>
          <p:nvPr/>
        </p:nvSpPr>
        <p:spPr>
          <a:xfrm>
            <a:off x="1005840" y="18013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Registry push uses secrets.GITHUB_TOKEN with permissions: packages: write (GHCR) — no long-lived PATs. Keep contents: read by default; widen per job, not per workflow.</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Never echo secrets</a:t>
            </a:r>
            <a:endParaRPr lang="en-US" sz="1350" dirty="0"/>
          </a:p>
        </p:txBody>
      </p:sp>
      <p:sp>
        <p:nvSpPr>
          <p:cNvPr id="13" name="Text 10"/>
          <p:cNvSpPr/>
          <p:nvPr/>
        </p:nvSpPr>
        <p:spPr>
          <a:xfrm>
            <a:off x="1005840" y="31729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Actions masks known secrets but NOT derived strings. An echoed or logged secret is a leak — treat every CI log line as if it were public.</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Fork-PR asymmetry</a:t>
            </a:r>
            <a:endParaRPr lang="en-US" sz="1350" dirty="0"/>
          </a:p>
        </p:txBody>
      </p:sp>
      <p:sp>
        <p:nvSpPr>
          <p:cNvPr id="16" name="Text 13"/>
          <p:cNvSpPr/>
          <p:nvPr/>
        </p:nvSpPr>
        <p:spPr>
          <a:xfrm>
            <a:off x="1005840" y="45445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Fork PRs do not get secrets. That is why publish runs only on push to main, never on pull_request. This asymmetry trips everyone once — teach it explicitly.</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Architecture enforcement via import-linter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فرض المعمارية عبر import-linter</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113</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pyproject.toml</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import-linter contract, run inside the lint job</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[tool.importlinter]</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root_package = "fraud_service"</a:t>
            </a:r>
            <a:endParaRPr lang="en-US" sz="1100" dirty="0"/>
          </a:p>
          <a:p>
            <a:pPr indent="0" marL="0">
              <a:lnSpc>
                <a:spcPct val="112000"/>
              </a:lnSpc>
              <a:buNone/>
            </a:pP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[[tool.importlinter.contracts]]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name = "Clean architecture layers"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type = "layers"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layers = [</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"fraud_service.api",</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"fraud_service.adapters",</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"fraud_service.service",</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"fraud_service.domain",</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domain imports nothing above it;</a:t>
            </a:r>
            <a:endParaRPr lang="en-US" sz="1100" dirty="0"/>
          </a:p>
          <a:p>
            <a:pPr indent="0" marL="0">
              <a:lnSpc>
                <a:spcPct val="112000"/>
              </a:lnSpc>
              <a:buNone/>
            </a:pPr>
            <a:r>
              <a:rPr lang="en-US" sz="1100" dirty="0">
                <a:solidFill>
                  <a:srgbClr val="D9E4F5"/>
                </a:solidFill>
                <a:latin typeface="Consolas" pitchFamily="34" charset="0"/>
                <a:ea typeface="Consolas" pitchFamily="34" charset="-122"/>
                <a:cs typeface="Consolas" pitchFamily="34" charset="-120"/>
              </a:rPr>
              <a:t># violations fail CI, not code review</a:t>
            </a:r>
            <a:endParaRPr lang="en-US" sz="11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Ties Module 1 to CI: the layered architecture is now machine-enforced on every PR.</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5 — Build the Pipeline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المعمل 5 — بناء خط الأنابيب</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114</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5</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50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lint + test jobs  </a:t>
            </a:r>
            <a:pPr indent="0" marL="0">
              <a:buNone/>
            </a:pPr>
            <a:r>
              <a:rPr lang="en-US" sz="1000" dirty="0">
                <a:solidFill>
                  <a:srgbClr val="5F6B7A"/>
                </a:solidFill>
                <a:latin typeface="Calibri" pitchFamily="34" charset="0"/>
                <a:ea typeface="Calibri" pitchFamily="34" charset="-122"/>
                <a:cs typeface="Calibri" pitchFamily="34" charset="-120"/>
              </a:rPr>
              <a:t>Add ci.yml; push; watch the run; fix red (most hit a lock-file or LFS miss — intended)</a:t>
            </a:r>
            <a:endParaRPr lang="en-US" sz="1050" dirty="0"/>
          </a:p>
        </p:txBody>
      </p:sp>
      <p:sp>
        <p:nvSpPr>
          <p:cNvPr id="12" name="Text 9"/>
          <p:cNvSpPr/>
          <p:nvPr/>
        </p:nvSpPr>
        <p:spPr>
          <a:xfrm>
            <a:off x="502920" y="2871216"/>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852928"/>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image-smoke job  </a:t>
            </a:r>
            <a:pPr indent="0" marL="0">
              <a:buNone/>
            </a:pPr>
            <a:r>
              <a:rPr lang="en-US" sz="1000" dirty="0">
                <a:solidFill>
                  <a:srgbClr val="5F6B7A"/>
                </a:solidFill>
                <a:latin typeface="Calibri" pitchFamily="34" charset="0"/>
                <a:ea typeface="Calibri" pitchFamily="34" charset="-122"/>
                <a:cs typeface="Calibri" pitchFamily="34" charset="-120"/>
              </a:rPr>
              <a:t>Confirm buildx cache makes the second run ≥3x faster; compare timings in the Actions UI</a:t>
            </a:r>
            <a:endParaRPr lang="en-US" sz="1050" dirty="0"/>
          </a:p>
        </p:txBody>
      </p:sp>
      <p:sp>
        <p:nvSpPr>
          <p:cNvPr id="14" name="Text 11"/>
          <p:cNvSpPr/>
          <p:nvPr/>
        </p:nvSpPr>
        <p:spPr>
          <a:xfrm>
            <a:off x="502920" y="3712464"/>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694176"/>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publish job  </a:t>
            </a:r>
            <a:pPr indent="0" marL="0">
              <a:buNone/>
            </a:pPr>
            <a:r>
              <a:rPr lang="en-US" sz="1000" dirty="0">
                <a:solidFill>
                  <a:srgbClr val="5F6B7A"/>
                </a:solidFill>
                <a:latin typeface="Calibri" pitchFamily="34" charset="0"/>
                <a:ea typeface="Calibri" pitchFamily="34" charset="-122"/>
                <a:cs typeface="Calibri" pitchFamily="34" charset="-120"/>
              </a:rPr>
              <a:t>Merge to main; verify SHA-tagged image on GHCR; docker pull it and run make smoke on the pulled image</a:t>
            </a:r>
            <a:endParaRPr lang="en-US" sz="1050" dirty="0"/>
          </a:p>
        </p:txBody>
      </p:sp>
      <p:sp>
        <p:nvSpPr>
          <p:cNvPr id="16" name="Text 13"/>
          <p:cNvSpPr/>
          <p:nvPr/>
        </p:nvSpPr>
        <p:spPr>
          <a:xfrm>
            <a:off x="502920" y="4553712"/>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535424"/>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Branch protection  </a:t>
            </a:r>
            <a:pPr indent="0" marL="0">
              <a:buNone/>
            </a:pPr>
            <a:r>
              <a:rPr lang="en-US" sz="1000" dirty="0">
                <a:solidFill>
                  <a:srgbClr val="5F6B7A"/>
                </a:solidFill>
                <a:latin typeface="Calibri" pitchFamily="34" charset="0"/>
                <a:ea typeface="Calibri" pitchFamily="34" charset="-122"/>
                <a:cs typeface="Calibri" pitchFamily="34" charset="-120"/>
              </a:rPr>
              <a:t>Require lint, test, image-smoke + 1 review; open the provided bad-pr and watch it blocked</a:t>
            </a:r>
            <a:endParaRPr lang="en-US" sz="1050" dirty="0"/>
          </a:p>
        </p:txBody>
      </p:sp>
      <p:sp>
        <p:nvSpPr>
          <p:cNvPr id="18" name="Text 15"/>
          <p:cNvSpPr/>
          <p:nvPr/>
        </p:nvSpPr>
        <p:spPr>
          <a:xfrm>
            <a:off x="502920" y="5394960"/>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5376672"/>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Fix the PR properly  </a:t>
            </a:r>
            <a:pPr indent="0" marL="0">
              <a:buNone/>
            </a:pPr>
            <a:r>
              <a:rPr lang="en-US" sz="1000" dirty="0">
                <a:solidFill>
                  <a:srgbClr val="5F6B7A"/>
                </a:solidFill>
                <a:latin typeface="Calibri" pitchFamily="34" charset="0"/>
                <a:ea typeface="Calibri" pitchFamily="34" charset="-122"/>
                <a:cs typeface="Calibri" pitchFamily="34" charset="-120"/>
              </a:rPr>
              <a:t>Not by weakening tests; merge green; record pipeline timings in BENCHMARKS.md</a:t>
            </a:r>
            <a:endParaRPr lang="en-US" sz="1050" dirty="0"/>
          </a:p>
        </p:txBody>
      </p:sp>
      <p:sp>
        <p:nvSpPr>
          <p:cNvPr id="20" name="Shape 17"/>
          <p:cNvSpPr/>
          <p:nvPr/>
        </p:nvSpPr>
        <p:spPr>
          <a:xfrm>
            <a:off x="7269480" y="2011680"/>
            <a:ext cx="4416552" cy="1417320"/>
          </a:xfrm>
          <a:prstGeom prst="roundRect">
            <a:avLst>
              <a:gd name="adj" fmla="val 4516"/>
            </a:avLst>
          </a:prstGeom>
          <a:solidFill>
            <a:srgbClr val="D4F1EE"/>
          </a:solidFill>
          <a:ln/>
        </p:spPr>
      </p:sp>
      <p:sp>
        <p:nvSpPr>
          <p:cNvPr id="21" name="Text 18"/>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2" name="Text 19"/>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Green main-branch run + GHCR digest; a blocked bad-pr with its golden-diff artefact downloaded; BENCHMARKS.md timings recorded.</a:t>
            </a:r>
            <a:endParaRPr lang="en-US" sz="1030" dirty="0"/>
          </a:p>
        </p:txBody>
      </p:sp>
      <p:sp>
        <p:nvSpPr>
          <p:cNvPr id="23" name="Shape 20"/>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4" name="Text 21"/>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5" name="Text 22"/>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git checkout lab5-start if behind. The bad-pr carries a layer violation + a golden-breaking change — it must NOT merge.</a:t>
            </a:r>
            <a:endParaRPr lang="en-US" sz="1000" dirty="0"/>
          </a:p>
        </p:txBody>
      </p:sp>
      <p:sp>
        <p:nvSpPr>
          <p:cNvPr id="26" name="Shape 23"/>
          <p:cNvSpPr/>
          <p:nvPr/>
        </p:nvSpPr>
        <p:spPr>
          <a:xfrm>
            <a:off x="7269480" y="5166360"/>
            <a:ext cx="4416552" cy="1051560"/>
          </a:xfrm>
          <a:prstGeom prst="roundRect">
            <a:avLst>
              <a:gd name="adj" fmla="val 6087"/>
            </a:avLst>
          </a:prstGeom>
          <a:solidFill>
            <a:srgbClr val="FDEBD7"/>
          </a:solidFill>
          <a:ln/>
        </p:spPr>
      </p:sp>
      <p:sp>
        <p:nvSpPr>
          <p:cNvPr id="27" name="Text 24"/>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Make one participant try to merge bad-pr in the UI and screenshot the greyed-out button for the class — the repo defends itself.</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Mini exercises — CI/CD</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تمارين قصيرة — CI/CD</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115</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Quiz warm-ups</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Why does publish run only on push-to-main? Order these gates and justify: docker build, ruff, pytest-fast, trivy. What makes an image 'the same one' that passed CI? (the digest)</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Debugging exercise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run is green locally but red in CI with ImportError: fraud_service. Root cause: a missing pip install -e . — participants must find it from the log alone in under 5 minutes.</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Code-review exercise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Review a teammate's ci.yml: unpinned third-party action, secrets echoed to a debug step, slow suite on every PR, a :latest push. Find all four.</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Discussion</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Your bank forbids GitHub-hosted runners from touching the internal model registry. Redesign the pipeline: which jobs move to self-hosted runners, and what new risks appear?</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Fraud Model v4 Rollout Gate</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بوابة إطلاق نموذج الاحتيال v4</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116</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Banking · Fraud ML · Riyadh</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Data science delivers model v4 (better AUC, new boosting library) as a PR: new artefact via LFS, updated lock file, threshold retuned 0.85 → 0.82. SAMA-style governance needs validation evidence a risk officer can read.</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438912"/>
          </a:xfrm>
          <a:prstGeom prst="line">
            <a:avLst/>
          </a:prstGeom>
          <a:noFill/>
          <a:ln w="19050">
            <a:solidFill>
              <a:srgbClr val="D9E4F5"/>
            </a:solidFill>
            <a:prstDash val="solid"/>
          </a:ln>
        </p:spPr>
      </p:sp>
      <p:sp>
        <p:nvSpPr>
          <p:cNvPr id="13" name="Text 10"/>
          <p:cNvSpPr/>
          <p:nvPr/>
        </p:nvSpPr>
        <p:spPr>
          <a:xfrm>
            <a:off x="960120" y="2953512"/>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PR opened  </a:t>
            </a:r>
            <a:pPr indent="0" marL="0">
              <a:buNone/>
            </a:pPr>
            <a:r>
              <a:rPr lang="en-US" sz="1000" dirty="0">
                <a:solidFill>
                  <a:srgbClr val="5F6B7A"/>
                </a:solidFill>
                <a:latin typeface="Calibri" pitchFamily="34" charset="0"/>
                <a:ea typeface="Calibri" pitchFamily="34" charset="-122"/>
                <a:cs typeface="Calibri" pitchFamily="34" charset="-120"/>
              </a:rPr>
              <a:t>Golden-file failure (expected — new model); directional tests pass</a:t>
            </a:r>
            <a:endParaRPr lang="en-US" sz="1050" dirty="0"/>
          </a:p>
        </p:txBody>
      </p:sp>
      <p:sp>
        <p:nvSpPr>
          <p:cNvPr id="14" name="Shape 11"/>
          <p:cNvSpPr/>
          <p:nvPr/>
        </p:nvSpPr>
        <p:spPr>
          <a:xfrm>
            <a:off x="566928" y="3685032"/>
            <a:ext cx="182880" cy="182880"/>
          </a:xfrm>
          <a:prstGeom prst="ellipse">
            <a:avLst/>
          </a:prstGeom>
          <a:solidFill>
            <a:srgbClr val="29ABE2"/>
          </a:solidFill>
          <a:ln/>
        </p:spPr>
      </p:sp>
      <p:sp>
        <p:nvSpPr>
          <p:cNvPr id="15" name="Shape 12"/>
          <p:cNvSpPr/>
          <p:nvPr/>
        </p:nvSpPr>
        <p:spPr>
          <a:xfrm>
            <a:off x="658368" y="3886200"/>
            <a:ext cx="0" cy="438912"/>
          </a:xfrm>
          <a:prstGeom prst="line">
            <a:avLst/>
          </a:prstGeom>
          <a:noFill/>
          <a:ln w="19050">
            <a:solidFill>
              <a:srgbClr val="D9E4F5"/>
            </a:solidFill>
            <a:prstDash val="solid"/>
          </a:ln>
        </p:spPr>
      </p:sp>
      <p:sp>
        <p:nvSpPr>
          <p:cNvPr id="16" name="Text 13"/>
          <p:cNvSpPr/>
          <p:nvPr/>
        </p:nvSpPr>
        <p:spPr>
          <a:xfrm>
            <a:off x="960120" y="3611880"/>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Invariance fails  </a:t>
            </a:r>
            <a:pPr indent="0" marL="0">
              <a:buNone/>
            </a:pPr>
            <a:r>
              <a:rPr lang="en-US" sz="1000" dirty="0">
                <a:solidFill>
                  <a:srgbClr val="5F6B7A"/>
                </a:solidFill>
                <a:latin typeface="Calibri" pitchFamily="34" charset="0"/>
                <a:ea typeface="Calibri" pitchFamily="34" charset="-122"/>
                <a:cs typeface="Calibri" pitchFamily="34" charset="-120"/>
              </a:rPr>
              <a:t>Casing invariance fails on 3 of 5,000 rows; image grows 220 MB</a:t>
            </a:r>
            <a:endParaRPr lang="en-US" sz="1050" dirty="0"/>
          </a:p>
        </p:txBody>
      </p:sp>
      <p:sp>
        <p:nvSpPr>
          <p:cNvPr id="17" name="Shape 14"/>
          <p:cNvSpPr/>
          <p:nvPr/>
        </p:nvSpPr>
        <p:spPr>
          <a:xfrm>
            <a:off x="566928" y="4343400"/>
            <a:ext cx="182880" cy="182880"/>
          </a:xfrm>
          <a:prstGeom prst="ellipse">
            <a:avLst/>
          </a:prstGeom>
          <a:solidFill>
            <a:srgbClr val="F58220"/>
          </a:solidFill>
          <a:ln/>
        </p:spPr>
      </p:sp>
      <p:sp>
        <p:nvSpPr>
          <p:cNvPr id="18" name="Shape 15"/>
          <p:cNvSpPr/>
          <p:nvPr/>
        </p:nvSpPr>
        <p:spPr>
          <a:xfrm>
            <a:off x="658368" y="4544568"/>
            <a:ext cx="0" cy="438912"/>
          </a:xfrm>
          <a:prstGeom prst="line">
            <a:avLst/>
          </a:prstGeom>
          <a:noFill/>
          <a:ln w="19050">
            <a:solidFill>
              <a:srgbClr val="D9E4F5"/>
            </a:solidFill>
            <a:prstDash val="solid"/>
          </a:ln>
        </p:spPr>
      </p:sp>
      <p:sp>
        <p:nvSpPr>
          <p:cNvPr id="19" name="Text 16"/>
          <p:cNvSpPr/>
          <p:nvPr/>
        </p:nvSpPr>
        <p:spPr>
          <a:xfrm>
            <a:off x="960120" y="4270248"/>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Smoke passes  </a:t>
            </a:r>
            <a:pPr indent="0" marL="0">
              <a:buNone/>
            </a:pPr>
            <a:r>
              <a:rPr lang="en-US" sz="1000" dirty="0">
                <a:solidFill>
                  <a:srgbClr val="5F6B7A"/>
                </a:solidFill>
                <a:latin typeface="Calibri" pitchFamily="34" charset="0"/>
                <a:ea typeface="Calibri" pitchFamily="34" charset="-122"/>
                <a:cs typeface="Calibri" pitchFamily="34" charset="-120"/>
              </a:rPr>
              <a:t>Container builds and serves; contract fields intact</a:t>
            </a:r>
            <a:endParaRPr lang="en-US" sz="1050" dirty="0"/>
          </a:p>
        </p:txBody>
      </p:sp>
      <p:sp>
        <p:nvSpPr>
          <p:cNvPr id="20" name="Shape 17"/>
          <p:cNvSpPr/>
          <p:nvPr/>
        </p:nvSpPr>
        <p:spPr>
          <a:xfrm>
            <a:off x="566928" y="5001768"/>
            <a:ext cx="182880" cy="182880"/>
          </a:xfrm>
          <a:prstGeom prst="ellipse">
            <a:avLst/>
          </a:prstGeom>
          <a:solidFill>
            <a:srgbClr val="8DC63F"/>
          </a:solidFill>
          <a:ln/>
        </p:spPr>
      </p:sp>
      <p:sp>
        <p:nvSpPr>
          <p:cNvPr id="21" name="Shape 18"/>
          <p:cNvSpPr/>
          <p:nvPr/>
        </p:nvSpPr>
        <p:spPr>
          <a:xfrm>
            <a:off x="658368" y="5202936"/>
            <a:ext cx="0" cy="438912"/>
          </a:xfrm>
          <a:prstGeom prst="line">
            <a:avLst/>
          </a:prstGeom>
          <a:noFill/>
          <a:ln w="19050">
            <a:solidFill>
              <a:srgbClr val="D9E4F5"/>
            </a:solidFill>
            <a:prstDash val="solid"/>
          </a:ln>
        </p:spPr>
      </p:sp>
      <p:sp>
        <p:nvSpPr>
          <p:cNvPr id="22" name="Text 19"/>
          <p:cNvSpPr/>
          <p:nvPr/>
        </p:nvSpPr>
        <p:spPr>
          <a:xfrm>
            <a:off x="960120" y="4928616"/>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Governed regeneration  </a:t>
            </a:r>
            <a:pPr indent="0" marL="0">
              <a:buNone/>
            </a:pPr>
            <a:r>
              <a:rPr lang="en-US" sz="1000" dirty="0">
                <a:solidFill>
                  <a:srgbClr val="5F6B7A"/>
                </a:solidFill>
                <a:latin typeface="Calibri" pitchFamily="34" charset="0"/>
                <a:ea typeface="Calibri" pitchFamily="34" charset="-122"/>
                <a:cs typeface="Calibri" pitchFamily="34" charset="-120"/>
              </a:rPr>
              <a:t>Regenerate goldens in the PR; attach diff CSV + notebook as the risk evidence pack</a:t>
            </a:r>
            <a:endParaRPr lang="en-US" sz="1050" dirty="0"/>
          </a:p>
        </p:txBody>
      </p:sp>
      <p:sp>
        <p:nvSpPr>
          <p:cNvPr id="23" name="Shape 20"/>
          <p:cNvSpPr/>
          <p:nvPr/>
        </p:nvSpPr>
        <p:spPr>
          <a:xfrm>
            <a:off x="566928" y="5660136"/>
            <a:ext cx="182880" cy="182880"/>
          </a:xfrm>
          <a:prstGeom prst="ellipse">
            <a:avLst/>
          </a:prstGeom>
          <a:solidFill>
            <a:srgbClr val="E8503A"/>
          </a:solidFill>
          <a:ln/>
        </p:spPr>
      </p:sp>
      <p:sp>
        <p:nvSpPr>
          <p:cNvPr id="24" name="Text 21"/>
          <p:cNvSpPr/>
          <p:nvPr/>
        </p:nvSpPr>
        <p:spPr>
          <a:xfrm>
            <a:off x="960120" y="5586984"/>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Root-cause the 3 rows  </a:t>
            </a:r>
            <a:pPr indent="0" marL="0">
              <a:buNone/>
            </a:pPr>
            <a:r>
              <a:rPr lang="en-US" sz="1000" dirty="0">
                <a:solidFill>
                  <a:srgbClr val="5F6B7A"/>
                </a:solidFill>
                <a:latin typeface="Calibri" pitchFamily="34" charset="0"/>
                <a:ea typeface="Calibri" pitchFamily="34" charset="-122"/>
                <a:cs typeface="Calibri" pitchFamily="34" charset="-120"/>
              </a:rPr>
              <a:t>New library's category encoder is case-sensitive — fixed in the feature adapter, not by deleting the test</a:t>
            </a:r>
            <a:endParaRPr lang="en-US" sz="1050" dirty="0"/>
          </a:p>
        </p:txBody>
      </p:sp>
      <p:sp>
        <p:nvSpPr>
          <p:cNvPr id="25" name="Shape 22"/>
          <p:cNvSpPr/>
          <p:nvPr/>
        </p:nvSpPr>
        <p:spPr>
          <a:xfrm>
            <a:off x="7406640" y="1938528"/>
            <a:ext cx="4279392" cy="4160520"/>
          </a:xfrm>
          <a:prstGeom prst="roundRect">
            <a:avLst>
              <a:gd name="adj" fmla="val 1538"/>
            </a:avLst>
          </a:prstGeom>
          <a:solidFill>
            <a:srgbClr val="EAF4DC"/>
          </a:solidFill>
          <a:ln/>
        </p:spPr>
      </p:sp>
      <p:sp>
        <p:nvSpPr>
          <p:cNvPr id="26" name="Text 23"/>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7" name="Text 24"/>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A golden failure is not a bug: governed regeneration turns it into reviewable evidence</a:t>
            </a:r>
            <a:endParaRPr lang="en-US" sz="1000" dirty="0"/>
          </a:p>
        </p:txBody>
      </p:sp>
      <p:sp>
        <p:nvSpPr>
          <p:cNvPr id="29" name="Text 26"/>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Never fix an invariance failure by deleting the test — fix the adapter</a:t>
            </a:r>
            <a:endParaRPr lang="en-US" sz="1000" dirty="0"/>
          </a:p>
        </p:txBody>
      </p:sp>
      <p:sp>
        <p:nvSpPr>
          <p:cNvPr id="31" name="Text 28"/>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The merge produces a digest; deployment consumes it — rollback is a single digest re-pin</a:t>
            </a:r>
            <a:endParaRPr lang="en-US" sz="1000" dirty="0"/>
          </a:p>
        </p:txBody>
      </p:sp>
      <p:sp>
        <p:nvSpPr>
          <p:cNvPr id="33" name="Text 30"/>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Threshold 0.85 → 0.82 is a governance decision, not just a config edit</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Quick check — Module 5</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فحص سريع — الوحدة 5</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117</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Why does the publish job run only on push to main, never on pull_request?</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main is faster than PR branches</a:t>
            </a:r>
            <a:endParaRPr lang="en-US" sz="1050" dirty="0"/>
          </a:p>
        </p:txBody>
      </p:sp>
      <p:sp>
        <p:nvSpPr>
          <p:cNvPr id="13" name="Shape 10"/>
          <p:cNvSpPr/>
          <p:nvPr/>
        </p:nvSpPr>
        <p:spPr>
          <a:xfrm>
            <a:off x="502920" y="3447288"/>
            <a:ext cx="5440680" cy="548640"/>
          </a:xfrm>
          <a:prstGeom prst="roundRect">
            <a:avLst>
              <a:gd name="adj" fmla="val 10000"/>
            </a:avLst>
          </a:prstGeom>
          <a:solidFill>
            <a:srgbClr val="D4F1EE"/>
          </a:solidFill>
          <a:ln w="19050">
            <a:solidFill>
              <a:srgbClr val="00A79D"/>
            </a:solidFill>
            <a:prstDash val="solid"/>
          </a:ln>
        </p:spPr>
      </p:sp>
      <p:sp>
        <p:nvSpPr>
          <p:cNvPr id="14" name="Text 11"/>
          <p:cNvSpPr/>
          <p:nvPr/>
        </p:nvSpPr>
        <p:spPr>
          <a:xfrm>
            <a:off x="612648"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Fork PRs do not receive secrets, so a push job would fail or leak   ✓</a:t>
            </a:r>
            <a:endParaRPr lang="en-US" sz="1050" dirty="0"/>
          </a:p>
        </p:txBody>
      </p:sp>
      <p:sp>
        <p:nvSpPr>
          <p:cNvPr id="16" name="Shape 13"/>
          <p:cNvSpPr/>
          <p:nvPr/>
        </p:nvSpPr>
        <p:spPr>
          <a:xfrm>
            <a:off x="502920" y="4105656"/>
            <a:ext cx="5440680" cy="548640"/>
          </a:xfrm>
          <a:prstGeom prst="roundRect">
            <a:avLst>
              <a:gd name="adj" fmla="val 10000"/>
            </a:avLst>
          </a:prstGeom>
          <a:solidFill>
            <a:srgbClr val="FFFFFF"/>
          </a:solidFill>
          <a:ln w="9525">
            <a:solidFill>
              <a:srgbClr val="D9E4F5"/>
            </a:solidFill>
            <a:prstDash val="solid"/>
          </a:ln>
        </p:spPr>
      </p:sp>
      <p:sp>
        <p:nvSpPr>
          <p:cNvPr id="17" name="Text 14"/>
          <p:cNvSpPr/>
          <p:nvPr/>
        </p:nvSpPr>
        <p:spPr>
          <a:xfrm>
            <a:off x="612648"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PRs cannot build Docker images</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GHCR only accepts pushes from main</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Fork PRs run in an untrusted context without secrets; publishing there would fail or expose credentials. Delivery happens only on trusted push-to-main.</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What makes an image 'the same one' that passed CI?</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Its :latest tag</a:t>
            </a:r>
            <a:endParaRPr lang="en-US" sz="1050" dirty="0"/>
          </a:p>
        </p:txBody>
      </p:sp>
      <p:sp>
        <p:nvSpPr>
          <p:cNvPr id="27" name="Shape 24"/>
          <p:cNvSpPr/>
          <p:nvPr/>
        </p:nvSpPr>
        <p:spPr>
          <a:xfrm>
            <a:off x="6245352" y="3447288"/>
            <a:ext cx="5440680" cy="548640"/>
          </a:xfrm>
          <a:prstGeom prst="roundRect">
            <a:avLst>
              <a:gd name="adj" fmla="val 10000"/>
            </a:avLst>
          </a:prstGeom>
          <a:solidFill>
            <a:srgbClr val="D4F1EE"/>
          </a:solidFill>
          <a:ln w="19050">
            <a:solidFill>
              <a:srgbClr val="00A79D"/>
            </a:solidFill>
            <a:prstDash val="solid"/>
          </a:ln>
        </p:spPr>
      </p:sp>
      <p:sp>
        <p:nvSpPr>
          <p:cNvPr id="28" name="Text 25"/>
          <p:cNvSpPr/>
          <p:nvPr/>
        </p:nvSpPr>
        <p:spPr>
          <a:xfrm>
            <a:off x="6355080"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Its immutable content digest   ✓</a:t>
            </a:r>
            <a:endParaRPr lang="en-US" sz="1050" dirty="0"/>
          </a:p>
        </p:txBody>
      </p:sp>
      <p:sp>
        <p:nvSpPr>
          <p:cNvPr id="30" name="Shape 27"/>
          <p:cNvSpPr/>
          <p:nvPr/>
        </p:nvSpPr>
        <p:spPr>
          <a:xfrm>
            <a:off x="6245352" y="4105656"/>
            <a:ext cx="5440680" cy="548640"/>
          </a:xfrm>
          <a:prstGeom prst="roundRect">
            <a:avLst>
              <a:gd name="adj" fmla="val 10000"/>
            </a:avLst>
          </a:prstGeom>
          <a:solidFill>
            <a:srgbClr val="FFFFFF"/>
          </a:solidFill>
          <a:ln w="9525">
            <a:solidFill>
              <a:srgbClr val="D9E4F5"/>
            </a:solidFill>
            <a:prstDash val="solid"/>
          </a:ln>
        </p:spPr>
      </p:sp>
      <p:sp>
        <p:nvSpPr>
          <p:cNvPr id="31" name="Text 28"/>
          <p:cNvSpPr/>
          <p:nvPr/>
        </p:nvSpPr>
        <p:spPr>
          <a:xfrm>
            <a:off x="6355080"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The branch name</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The workflow run number</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The digest is the immutable identity. Tags move; digests do not. CD re-pins the exact digest CI produced — nothing rebuilt on a laptop.</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5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The repository enforces the definition of done.</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Lint, type, test, smoke, scan — then a SHA-tagged image pushed only when everything is green. New team members inherit discipline from infrastructure.</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5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118</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DAY 3 · MODULE 6</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Configuration, Secrets &amp; Logging Practices</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ممارسات الإعداد والأسرار والتسجيل</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Typed config</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pydantic-settings: validated, environment-driven, fail-fast</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Secret hygiene</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Never in git, images, or logs; rotate-first response</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Structured logs</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JSON events with trace_id + model_version correlation</a:t>
            </a:r>
            <a:endParaRPr lang="en-US" sz="950" dirty="0"/>
          </a:p>
        </p:txBody>
      </p:sp>
      <p:sp>
        <p:nvSpPr>
          <p:cNvPr id="25" name="Shape 23"/>
          <p:cNvSpPr/>
          <p:nvPr/>
        </p:nvSpPr>
        <p:spPr>
          <a:xfrm>
            <a:off x="8924544" y="3794760"/>
            <a:ext cx="2514600" cy="1600200"/>
          </a:xfrm>
          <a:prstGeom prst="roundRect">
            <a:avLst>
              <a:gd name="adj" fmla="val 4000"/>
            </a:avLst>
          </a:prstGeom>
          <a:solidFill>
            <a:srgbClr val="26355F"/>
          </a:solidFill>
          <a:ln w="9525">
            <a:solidFill>
              <a:srgbClr val="3A4A7A"/>
            </a:solidFill>
            <a:prstDash val="solid"/>
          </a:ln>
        </p:spPr>
      </p:sp>
      <p:sp>
        <p:nvSpPr>
          <p:cNvPr id="26" name="Text 24"/>
          <p:cNvSpPr/>
          <p:nvPr/>
        </p:nvSpPr>
        <p:spPr>
          <a:xfrm>
            <a:off x="9070848" y="3950208"/>
            <a:ext cx="822960" cy="310896"/>
          </a:xfrm>
          <a:prstGeom prst="rect">
            <a:avLst/>
          </a:prstGeom>
          <a:noFill/>
          <a:ln/>
        </p:spPr>
        <p:txBody>
          <a:bodyPr wrap="square" rtlCol="0" anchor="ctr"/>
          <a:lstStyle/>
          <a:p>
            <a:pPr indent="0" marL="0">
              <a:buNone/>
            </a:pPr>
            <a:r>
              <a:rPr lang="en-US" sz="1400" b="1" dirty="0">
                <a:solidFill>
                  <a:srgbClr val="8DC63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9070848"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Privacy by design</a:t>
            </a:r>
            <a:endParaRPr lang="en-US" sz="1200" dirty="0"/>
          </a:p>
        </p:txBody>
      </p:sp>
      <p:sp>
        <p:nvSpPr>
          <p:cNvPr id="28" name="Text 26"/>
          <p:cNvSpPr/>
          <p:nvPr/>
        </p:nvSpPr>
        <p:spPr>
          <a:xfrm>
            <a:off x="9070848"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Bucket, mask, and omit — PDPL-aware logging</a:t>
            </a:r>
            <a:endParaRPr lang="en-US" sz="950" dirty="0"/>
          </a:p>
        </p:txBody>
      </p:sp>
      <p:sp>
        <p:nvSpPr>
          <p:cNvPr id="29" name="Text 27"/>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~30 min lecture + Lab 6 · LO5 · LO1 · LO6</a:t>
            </a:r>
            <a:endParaRPr lang="en-US" sz="1100" dirty="0"/>
          </a:p>
        </p:txBody>
      </p:sp>
      <p:pic>
        <p:nvPicPr>
          <p:cNvPr id="30"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Module 6 — learning objectives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الوحدة 6 — أهداف التعلم</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120</a:t>
            </a:r>
            <a:endParaRPr lang="en-US" sz="850" dirty="0"/>
          </a:p>
        </p:txBody>
      </p:sp>
      <p:sp>
        <p:nvSpPr>
          <p:cNvPr id="8" name="Shape 5"/>
          <p:cNvSpPr/>
          <p:nvPr/>
        </p:nvSpPr>
        <p:spPr>
          <a:xfrm>
            <a:off x="502920" y="1481328"/>
            <a:ext cx="5454396" cy="1417320"/>
          </a:xfrm>
          <a:prstGeom prst="roundRect">
            <a:avLst>
              <a:gd name="adj" fmla="val 3871"/>
            </a:avLst>
          </a:prstGeom>
          <a:solidFill>
            <a:srgbClr val="EEF3FB"/>
          </a:solidFill>
          <a:ln w="9525">
            <a:solidFill>
              <a:srgbClr val="D9E4F5"/>
            </a:solidFill>
            <a:prstDash val="solid"/>
          </a:ln>
        </p:spPr>
      </p:sp>
      <p:sp>
        <p:nvSpPr>
          <p:cNvPr id="9" name="Shape 6"/>
          <p:cNvSpPr/>
          <p:nvPr/>
        </p:nvSpPr>
        <p:spPr>
          <a:xfrm>
            <a:off x="502920" y="1481328"/>
            <a:ext cx="64008" cy="1417320"/>
          </a:xfrm>
          <a:prstGeom prst="rect">
            <a:avLst/>
          </a:prstGeom>
          <a:solidFill>
            <a:srgbClr val="00A79D"/>
          </a:solidFill>
          <a:ln/>
        </p:spPr>
      </p:sp>
      <p:sp>
        <p:nvSpPr>
          <p:cNvPr id="10" name="Text 7"/>
          <p:cNvSpPr/>
          <p:nvPr/>
        </p:nvSpPr>
        <p:spPr>
          <a:xfrm>
            <a:off x="685800"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6.1</a:t>
            </a:r>
            <a:endParaRPr lang="en-US" sz="1200" dirty="0"/>
          </a:p>
        </p:txBody>
      </p:sp>
      <p:sp>
        <p:nvSpPr>
          <p:cNvPr id="11" name="Text 8"/>
          <p:cNvSpPr/>
          <p:nvPr/>
        </p:nvSpPr>
        <p:spPr>
          <a:xfrm>
            <a:off x="4997196"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a:t>
            </a:r>
            <a:endParaRPr lang="en-US" sz="850" dirty="0"/>
          </a:p>
        </p:txBody>
      </p:sp>
      <p:sp>
        <p:nvSpPr>
          <p:cNvPr id="12" name="Text 9"/>
          <p:cNvSpPr/>
          <p:nvPr/>
        </p:nvSpPr>
        <p:spPr>
          <a:xfrm>
            <a:off x="685800"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Implement typed, validated configuration with pydantic-settings</a:t>
            </a:r>
            <a:endParaRPr lang="en-US" sz="1100" dirty="0"/>
          </a:p>
        </p:txBody>
      </p:sp>
      <p:sp>
        <p:nvSpPr>
          <p:cNvPr id="13" name="Shape 10"/>
          <p:cNvSpPr/>
          <p:nvPr/>
        </p:nvSpPr>
        <p:spPr>
          <a:xfrm>
            <a:off x="6231636" y="1481328"/>
            <a:ext cx="5454396" cy="1417320"/>
          </a:xfrm>
          <a:prstGeom prst="roundRect">
            <a:avLst>
              <a:gd name="adj" fmla="val 3871"/>
            </a:avLst>
          </a:prstGeom>
          <a:solidFill>
            <a:srgbClr val="EEF3FB"/>
          </a:solidFill>
          <a:ln w="9525">
            <a:solidFill>
              <a:srgbClr val="D9E4F5"/>
            </a:solidFill>
            <a:prstDash val="solid"/>
          </a:ln>
        </p:spPr>
      </p:sp>
      <p:sp>
        <p:nvSpPr>
          <p:cNvPr id="14" name="Shape 11"/>
          <p:cNvSpPr/>
          <p:nvPr/>
        </p:nvSpPr>
        <p:spPr>
          <a:xfrm>
            <a:off x="6231636" y="1481328"/>
            <a:ext cx="64008" cy="1417320"/>
          </a:xfrm>
          <a:prstGeom prst="rect">
            <a:avLst/>
          </a:prstGeom>
          <a:solidFill>
            <a:srgbClr val="29ABE2"/>
          </a:solidFill>
          <a:ln/>
        </p:spPr>
      </p:sp>
      <p:sp>
        <p:nvSpPr>
          <p:cNvPr id="15" name="Text 12"/>
          <p:cNvSpPr/>
          <p:nvPr/>
        </p:nvSpPr>
        <p:spPr>
          <a:xfrm>
            <a:off x="6414516" y="1609344"/>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6.2</a:t>
            </a:r>
            <a:endParaRPr lang="en-US" sz="1200" dirty="0"/>
          </a:p>
        </p:txBody>
      </p:sp>
      <p:sp>
        <p:nvSpPr>
          <p:cNvPr id="16" name="Text 13"/>
          <p:cNvSpPr/>
          <p:nvPr/>
        </p:nvSpPr>
        <p:spPr>
          <a:xfrm>
            <a:off x="10725912" y="1609344"/>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LO5·2</a:t>
            </a:r>
            <a:endParaRPr lang="en-US" sz="850" dirty="0"/>
          </a:p>
        </p:txBody>
      </p:sp>
      <p:sp>
        <p:nvSpPr>
          <p:cNvPr id="17" name="Text 14"/>
          <p:cNvSpPr/>
          <p:nvPr/>
        </p:nvSpPr>
        <p:spPr>
          <a:xfrm>
            <a:off x="6414516" y="1901952"/>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Layer config (defaults &lt; file &lt; env) and keep one image across environments</a:t>
            </a:r>
            <a:endParaRPr lang="en-US" sz="1100" dirty="0"/>
          </a:p>
        </p:txBody>
      </p:sp>
      <p:sp>
        <p:nvSpPr>
          <p:cNvPr id="18" name="Shape 15"/>
          <p:cNvSpPr/>
          <p:nvPr/>
        </p:nvSpPr>
        <p:spPr>
          <a:xfrm>
            <a:off x="502920" y="3099816"/>
            <a:ext cx="5454396" cy="1417320"/>
          </a:xfrm>
          <a:prstGeom prst="roundRect">
            <a:avLst>
              <a:gd name="adj" fmla="val 3871"/>
            </a:avLst>
          </a:prstGeom>
          <a:solidFill>
            <a:srgbClr val="EEF3FB"/>
          </a:solidFill>
          <a:ln w="9525">
            <a:solidFill>
              <a:srgbClr val="D9E4F5"/>
            </a:solidFill>
            <a:prstDash val="solid"/>
          </a:ln>
        </p:spPr>
      </p:sp>
      <p:sp>
        <p:nvSpPr>
          <p:cNvPr id="19" name="Shape 16"/>
          <p:cNvSpPr/>
          <p:nvPr/>
        </p:nvSpPr>
        <p:spPr>
          <a:xfrm>
            <a:off x="502920" y="3099816"/>
            <a:ext cx="64008" cy="1417320"/>
          </a:xfrm>
          <a:prstGeom prst="rect">
            <a:avLst/>
          </a:prstGeom>
          <a:solidFill>
            <a:srgbClr val="F58220"/>
          </a:solidFill>
          <a:ln/>
        </p:spPr>
      </p:sp>
      <p:sp>
        <p:nvSpPr>
          <p:cNvPr id="20" name="Text 17"/>
          <p:cNvSpPr/>
          <p:nvPr/>
        </p:nvSpPr>
        <p:spPr>
          <a:xfrm>
            <a:off x="685800"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6.3</a:t>
            </a:r>
            <a:endParaRPr lang="en-US" sz="1200" dirty="0"/>
          </a:p>
        </p:txBody>
      </p:sp>
      <p:sp>
        <p:nvSpPr>
          <p:cNvPr id="21" name="Text 18"/>
          <p:cNvSpPr/>
          <p:nvPr/>
        </p:nvSpPr>
        <p:spPr>
          <a:xfrm>
            <a:off x="4997196"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LO5·6</a:t>
            </a:r>
            <a:endParaRPr lang="en-US" sz="850" dirty="0"/>
          </a:p>
        </p:txBody>
      </p:sp>
      <p:sp>
        <p:nvSpPr>
          <p:cNvPr id="22" name="Text 19"/>
          <p:cNvSpPr/>
          <p:nvPr/>
        </p:nvSpPr>
        <p:spPr>
          <a:xfrm>
            <a:off x="685800"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Keep secrets out of git, images, and logs; scan and respond to leaks</a:t>
            </a:r>
            <a:endParaRPr lang="en-US" sz="1100" dirty="0"/>
          </a:p>
        </p:txBody>
      </p:sp>
      <p:sp>
        <p:nvSpPr>
          <p:cNvPr id="23" name="Shape 20"/>
          <p:cNvSpPr/>
          <p:nvPr/>
        </p:nvSpPr>
        <p:spPr>
          <a:xfrm>
            <a:off x="6231636" y="3099816"/>
            <a:ext cx="5454396" cy="1417320"/>
          </a:xfrm>
          <a:prstGeom prst="roundRect">
            <a:avLst>
              <a:gd name="adj" fmla="val 3871"/>
            </a:avLst>
          </a:prstGeom>
          <a:solidFill>
            <a:srgbClr val="EEF3FB"/>
          </a:solidFill>
          <a:ln w="9525">
            <a:solidFill>
              <a:srgbClr val="D9E4F5"/>
            </a:solidFill>
            <a:prstDash val="solid"/>
          </a:ln>
        </p:spPr>
      </p:sp>
      <p:sp>
        <p:nvSpPr>
          <p:cNvPr id="24" name="Shape 21"/>
          <p:cNvSpPr/>
          <p:nvPr/>
        </p:nvSpPr>
        <p:spPr>
          <a:xfrm>
            <a:off x="6231636" y="3099816"/>
            <a:ext cx="64008" cy="1417320"/>
          </a:xfrm>
          <a:prstGeom prst="rect">
            <a:avLst/>
          </a:prstGeom>
          <a:solidFill>
            <a:srgbClr val="8DC63F"/>
          </a:solidFill>
          <a:ln/>
        </p:spPr>
      </p:sp>
      <p:sp>
        <p:nvSpPr>
          <p:cNvPr id="25" name="Text 22"/>
          <p:cNvSpPr/>
          <p:nvPr/>
        </p:nvSpPr>
        <p:spPr>
          <a:xfrm>
            <a:off x="6414516" y="3227832"/>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6.4</a:t>
            </a:r>
            <a:endParaRPr lang="en-US" sz="1200" dirty="0"/>
          </a:p>
        </p:txBody>
      </p:sp>
      <p:sp>
        <p:nvSpPr>
          <p:cNvPr id="26" name="Text 23"/>
          <p:cNvSpPr/>
          <p:nvPr/>
        </p:nvSpPr>
        <p:spPr>
          <a:xfrm>
            <a:off x="10725912" y="3227832"/>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LO5·1</a:t>
            </a:r>
            <a:endParaRPr lang="en-US" sz="850" dirty="0"/>
          </a:p>
        </p:txBody>
      </p:sp>
      <p:sp>
        <p:nvSpPr>
          <p:cNvPr id="27" name="Text 24"/>
          <p:cNvSpPr/>
          <p:nvPr/>
        </p:nvSpPr>
        <p:spPr>
          <a:xfrm>
            <a:off x="6414516" y="3520440"/>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Emit structured JSON logs with trace_id and model_version correlation</a:t>
            </a:r>
            <a:endParaRPr lang="en-US" sz="1100" dirty="0"/>
          </a:p>
        </p:txBody>
      </p:sp>
      <p:sp>
        <p:nvSpPr>
          <p:cNvPr id="28" name="Shape 25"/>
          <p:cNvSpPr/>
          <p:nvPr/>
        </p:nvSpPr>
        <p:spPr>
          <a:xfrm>
            <a:off x="502920" y="4718304"/>
            <a:ext cx="5454396" cy="1417320"/>
          </a:xfrm>
          <a:prstGeom prst="roundRect">
            <a:avLst>
              <a:gd name="adj" fmla="val 3871"/>
            </a:avLst>
          </a:prstGeom>
          <a:solidFill>
            <a:srgbClr val="EEF3FB"/>
          </a:solidFill>
          <a:ln w="9525">
            <a:solidFill>
              <a:srgbClr val="D9E4F5"/>
            </a:solidFill>
            <a:prstDash val="solid"/>
          </a:ln>
        </p:spPr>
      </p:sp>
      <p:sp>
        <p:nvSpPr>
          <p:cNvPr id="29" name="Shape 26"/>
          <p:cNvSpPr/>
          <p:nvPr/>
        </p:nvSpPr>
        <p:spPr>
          <a:xfrm>
            <a:off x="502920" y="4718304"/>
            <a:ext cx="64008" cy="1417320"/>
          </a:xfrm>
          <a:prstGeom prst="rect">
            <a:avLst/>
          </a:prstGeom>
          <a:solidFill>
            <a:srgbClr val="E8503A"/>
          </a:solidFill>
          <a:ln/>
        </p:spPr>
      </p:sp>
      <p:sp>
        <p:nvSpPr>
          <p:cNvPr id="30" name="Text 27"/>
          <p:cNvSpPr/>
          <p:nvPr/>
        </p:nvSpPr>
        <p:spPr>
          <a:xfrm>
            <a:off x="685800" y="4846320"/>
            <a:ext cx="822960" cy="274320"/>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6.5</a:t>
            </a:r>
            <a:endParaRPr lang="en-US" sz="1200" dirty="0"/>
          </a:p>
        </p:txBody>
      </p:sp>
      <p:sp>
        <p:nvSpPr>
          <p:cNvPr id="31" name="Text 28"/>
          <p:cNvSpPr/>
          <p:nvPr/>
        </p:nvSpPr>
        <p:spPr>
          <a:xfrm>
            <a:off x="4997196" y="4846320"/>
            <a:ext cx="777240" cy="237744"/>
          </a:xfrm>
          <a:prstGeom prst="roundRect">
            <a:avLst>
              <a:gd name="adj" fmla="val 23077"/>
            </a:avLst>
          </a:prstGeom>
          <a:solidFill>
            <a:srgbClr val="1D2A5C"/>
          </a:solid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LO5·6</a:t>
            </a:r>
            <a:endParaRPr lang="en-US" sz="850" dirty="0"/>
          </a:p>
        </p:txBody>
      </p:sp>
      <p:sp>
        <p:nvSpPr>
          <p:cNvPr id="32" name="Text 29"/>
          <p:cNvSpPr/>
          <p:nvPr/>
        </p:nvSpPr>
        <p:spPr>
          <a:xfrm>
            <a:off x="685800" y="5138928"/>
            <a:ext cx="5088636" cy="886968"/>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Decide what to log at which level — including what must never be logged</a:t>
            </a:r>
            <a:endParaRPr lang="en-US" sz="1100" dirty="0"/>
          </a:p>
        </p:txBody>
      </p:sp>
      <p:sp>
        <p:nvSpPr>
          <p:cNvPr id="33" name="Text 30"/>
          <p:cNvSpPr/>
          <p:nvPr/>
        </p:nvSpPr>
        <p:spPr>
          <a:xfrm>
            <a:off x="502920" y="6080760"/>
            <a:ext cx="11155680" cy="274320"/>
          </a:xfrm>
          <a:prstGeom prst="rect">
            <a:avLst/>
          </a:prstGeom>
          <a:noFill/>
          <a:ln/>
        </p:spPr>
        <p:txBody>
          <a:bodyPr wrap="square" rtlCol="0" anchor="ctr"/>
          <a:lstStyle/>
          <a:p>
            <a:pPr indent="0" marL="0">
              <a:buNone/>
            </a:pPr>
            <a:r>
              <a:rPr lang="en-US" sz="1000" i="1" dirty="0">
                <a:solidFill>
                  <a:srgbClr val="5F6B7A"/>
                </a:solidFill>
                <a:latin typeface="Calibri" pitchFamily="34" charset="0"/>
                <a:ea typeface="Calibri" pitchFamily="34" charset="-122"/>
                <a:cs typeface="Calibri" pitchFamily="34" charset="-120"/>
              </a:rPr>
              <a:t>Most real incidents are configuration incidents; a secret leak is a PDPL regulatory event. Discipline is the deliverable.</a:t>
            </a:r>
            <a:endParaRPr lang="en-US" sz="1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Configuration as a typed contract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الإعداد كعقد نوعي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121</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Typed, validated, fail-fast</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Config errors deserve the same defence as bad API input. Settings() at startup returns a valid object or crashes with a field-by-field report — surfaced now, not as a 500 three hours later.</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One image, many environments</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Precedence: defaults in code &lt; .env / file &lt; environment variables. Env wins because that is what dev / staging / prod vary. The image is promoted unchanged.</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Config vs code vs data</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Threshold: config (risk-owned, audited). Feature names: code (they version with the model). Model path: config. Teach the QUESTION, not just the answers.</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One module only</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No scattered os.environ</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Sprinkled reads are unreviewable and untestable</a:t>
            </a:r>
            <a:endParaRPr lang="en-US" sz="950" dirty="0"/>
          </a:p>
        </p:txBody>
      </p:sp>
      <p:sp>
        <p:nvSpPr>
          <p:cNvPr id="22" name="Shape 19"/>
          <p:cNvSpPr/>
          <p:nvPr/>
        </p:nvSpPr>
        <p:spPr>
          <a:xfrm rot="2700000">
            <a:off x="6556248" y="4096512"/>
            <a:ext cx="128016" cy="128016"/>
          </a:xfrm>
          <a:prstGeom prst="rect">
            <a:avLst/>
          </a:prstGeom>
          <a:solidFill>
            <a:srgbClr val="29ABE2"/>
          </a:solidFill>
          <a:ln/>
        </p:spPr>
      </p:sp>
      <p:sp>
        <p:nvSpPr>
          <p:cNvPr id="23" name="Text 20"/>
          <p:cNvSpPr/>
          <p:nvPr/>
        </p:nvSpPr>
        <p:spPr>
          <a:xfrm>
            <a:off x="6812280" y="400507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Read at the composition root</a:t>
            </a:r>
            <a:endParaRPr lang="en-US" sz="1100" dirty="0"/>
          </a:p>
        </p:txBody>
      </p:sp>
      <p:sp>
        <p:nvSpPr>
          <p:cNvPr id="24" name="Text 21"/>
          <p:cNvSpPr/>
          <p:nvPr/>
        </p:nvSpPr>
        <p:spPr>
          <a:xfrm>
            <a:off x="6812280" y="427024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Read once, then pass explicitly down the stack</a:t>
            </a:r>
            <a:endParaRPr lang="en-US" sz="9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config.py — typed settings, validated at startup</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config.py — إعدادات نوعية مُتحقق منها</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122</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src/fraud_service/config.py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class Settings(BaseSettings):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model_config = SettingsConfigDict(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env_prefix="FRAUD_",     # FRAUD_MODEL_PATH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env_file=".env",         # dev only; prod uses env</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extra="forbid",          # unknown FRAUD_* = crash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model_path: Path = Field(description="joblib bundle")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block_threshold: float = Field(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0.85, ge=0.5, le=0.99,</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description="Risk-approved block threshold")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log_level: str = Field("INFO")</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git_sha: str = Field("dev")  # injected by CI</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registry_token: SecretStr | None = Field(None)</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@field_validator("model_path")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@classmethod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def model_file_must_exist(cls, v: Path) -&gt; Path:</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not v.exists():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raise ValueError(f"artefact not found: {v}")</a:t>
            </a:r>
            <a:endParaRPr lang="en-US" sz="10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env_prefix + forbid</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Every knob reads from FRAUD_*; extra="forbid" turns a typo into a startup crash, not a silent default.</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Typed + bounded</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block_threshold is a float constrained to 0.5-0.99; an out-of-range value fails validation at startup.</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SecretStr</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registry_token is masked in reprs and prints; .get_secret_value() makes every intentional use grep-able.</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Fail fast</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model_file_must_exist validates at startup with an operator-readable message — not a 500 on first request.</a:t>
            </a:r>
            <a:endParaRPr lang="en-US" sz="93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Configuration precedence ladder</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أولوية الإعداد</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123</a:t>
            </a:r>
            <a:endParaRPr lang="en-US" sz="850" dirty="0"/>
          </a:p>
        </p:txBody>
      </p:sp>
      <p:sp>
        <p:nvSpPr>
          <p:cNvPr id="8" name="Shape 5"/>
          <p:cNvSpPr/>
          <p:nvPr/>
        </p:nvSpPr>
        <p:spPr>
          <a:xfrm>
            <a:off x="502920" y="1600200"/>
            <a:ext cx="6949440" cy="1033272"/>
          </a:xfrm>
          <a:prstGeom prst="roundRect">
            <a:avLst>
              <a:gd name="adj" fmla="val 5310"/>
            </a:avLst>
          </a:prstGeom>
          <a:solidFill>
            <a:srgbClr val="D4F1EE"/>
          </a:solidFill>
          <a:ln w="15875">
            <a:solidFill>
              <a:srgbClr val="00A79D"/>
            </a:solidFill>
            <a:prstDash val="solid"/>
          </a:ln>
        </p:spPr>
      </p:sp>
      <p:sp>
        <p:nvSpPr>
          <p:cNvPr id="9" name="Text 6"/>
          <p:cNvSpPr/>
          <p:nvPr/>
        </p:nvSpPr>
        <p:spPr>
          <a:xfrm>
            <a:off x="731520" y="1673352"/>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Environment variables</a:t>
            </a:r>
            <a:endParaRPr lang="en-US" sz="1300" dirty="0"/>
          </a:p>
        </p:txBody>
      </p:sp>
      <p:sp>
        <p:nvSpPr>
          <p:cNvPr id="10" name="Text 7"/>
          <p:cNvSpPr/>
          <p:nvPr/>
        </p:nvSpPr>
        <p:spPr>
          <a:xfrm>
            <a:off x="3004718" y="1673352"/>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Set by the platform per env (compose, CI secrets, prod) — highest precedence, wins</a:t>
            </a:r>
            <a:endParaRPr lang="en-US" sz="1000" dirty="0"/>
          </a:p>
        </p:txBody>
      </p:sp>
      <p:sp>
        <p:nvSpPr>
          <p:cNvPr id="11" name="Shape 8"/>
          <p:cNvSpPr/>
          <p:nvPr/>
        </p:nvSpPr>
        <p:spPr>
          <a:xfrm rot="10800000">
            <a:off x="3895344" y="2638044"/>
            <a:ext cx="164592" cy="128016"/>
          </a:xfrm>
          <a:prstGeom prst="triangle">
            <a:avLst/>
          </a:prstGeom>
          <a:solidFill>
            <a:srgbClr val="8A96A6"/>
          </a:solidFill>
          <a:ln/>
        </p:spPr>
      </p:sp>
      <p:sp>
        <p:nvSpPr>
          <p:cNvPr id="12" name="Shape 9"/>
          <p:cNvSpPr/>
          <p:nvPr/>
        </p:nvSpPr>
        <p:spPr>
          <a:xfrm>
            <a:off x="502920" y="2779776"/>
            <a:ext cx="6949440" cy="1033272"/>
          </a:xfrm>
          <a:prstGeom prst="roundRect">
            <a:avLst>
              <a:gd name="adj" fmla="val 5310"/>
            </a:avLst>
          </a:prstGeom>
          <a:solidFill>
            <a:srgbClr val="D9F0FA"/>
          </a:solidFill>
          <a:ln w="15875">
            <a:solidFill>
              <a:srgbClr val="29ABE2"/>
            </a:solidFill>
            <a:prstDash val="solid"/>
          </a:ln>
        </p:spPr>
      </p:sp>
      <p:sp>
        <p:nvSpPr>
          <p:cNvPr id="13" name="Text 10"/>
          <p:cNvSpPr/>
          <p:nvPr/>
        </p:nvSpPr>
        <p:spPr>
          <a:xfrm>
            <a:off x="731520" y="2852928"/>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.env file</a:t>
            </a:r>
            <a:endParaRPr lang="en-US" sz="1300" dirty="0"/>
          </a:p>
        </p:txBody>
      </p:sp>
      <p:sp>
        <p:nvSpPr>
          <p:cNvPr id="14" name="Text 11"/>
          <p:cNvSpPr/>
          <p:nvPr/>
        </p:nvSpPr>
        <p:spPr>
          <a:xfrm>
            <a:off x="3004718" y="2852928"/>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Dev convenience only, never committed; loaded by pydantic-settings</a:t>
            </a:r>
            <a:endParaRPr lang="en-US" sz="1000" dirty="0"/>
          </a:p>
        </p:txBody>
      </p:sp>
      <p:sp>
        <p:nvSpPr>
          <p:cNvPr id="15" name="Shape 12"/>
          <p:cNvSpPr/>
          <p:nvPr/>
        </p:nvSpPr>
        <p:spPr>
          <a:xfrm rot="10800000">
            <a:off x="3895344" y="3817620"/>
            <a:ext cx="164592" cy="128016"/>
          </a:xfrm>
          <a:prstGeom prst="triangle">
            <a:avLst/>
          </a:prstGeom>
          <a:solidFill>
            <a:srgbClr val="8A96A6"/>
          </a:solidFill>
          <a:ln/>
        </p:spPr>
      </p:sp>
      <p:sp>
        <p:nvSpPr>
          <p:cNvPr id="16" name="Shape 13"/>
          <p:cNvSpPr/>
          <p:nvPr/>
        </p:nvSpPr>
        <p:spPr>
          <a:xfrm>
            <a:off x="502920" y="3959352"/>
            <a:ext cx="6949440" cy="1033272"/>
          </a:xfrm>
          <a:prstGeom prst="roundRect">
            <a:avLst>
              <a:gd name="adj" fmla="val 5310"/>
            </a:avLst>
          </a:prstGeom>
          <a:solidFill>
            <a:srgbClr val="FDEBD7"/>
          </a:solidFill>
          <a:ln w="15875">
            <a:solidFill>
              <a:srgbClr val="F58220"/>
            </a:solidFill>
            <a:prstDash val="solid"/>
          </a:ln>
        </p:spPr>
      </p:sp>
      <p:sp>
        <p:nvSpPr>
          <p:cNvPr id="17" name="Text 14"/>
          <p:cNvSpPr/>
          <p:nvPr/>
        </p:nvSpPr>
        <p:spPr>
          <a:xfrm>
            <a:off x="731520" y="4032504"/>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settings.example.env</a:t>
            </a:r>
            <a:endParaRPr lang="en-US" sz="1300" dirty="0"/>
          </a:p>
        </p:txBody>
      </p:sp>
      <p:sp>
        <p:nvSpPr>
          <p:cNvPr id="18" name="Text 15"/>
          <p:cNvSpPr/>
          <p:nvPr/>
        </p:nvSpPr>
        <p:spPr>
          <a:xfrm>
            <a:off x="3004718" y="4032504"/>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Committed template documenting every knob with placeholder values</a:t>
            </a:r>
            <a:endParaRPr lang="en-US" sz="1000" dirty="0"/>
          </a:p>
        </p:txBody>
      </p:sp>
      <p:sp>
        <p:nvSpPr>
          <p:cNvPr id="19" name="Shape 16"/>
          <p:cNvSpPr/>
          <p:nvPr/>
        </p:nvSpPr>
        <p:spPr>
          <a:xfrm rot="10800000">
            <a:off x="3895344" y="4997196"/>
            <a:ext cx="164592" cy="128016"/>
          </a:xfrm>
          <a:prstGeom prst="triangle">
            <a:avLst/>
          </a:prstGeom>
          <a:solidFill>
            <a:srgbClr val="8A96A6"/>
          </a:solidFill>
          <a:ln/>
        </p:spPr>
      </p:sp>
      <p:sp>
        <p:nvSpPr>
          <p:cNvPr id="20" name="Shape 17"/>
          <p:cNvSpPr/>
          <p:nvPr/>
        </p:nvSpPr>
        <p:spPr>
          <a:xfrm>
            <a:off x="502920" y="5138928"/>
            <a:ext cx="6949440" cy="1033272"/>
          </a:xfrm>
          <a:prstGeom prst="roundRect">
            <a:avLst>
              <a:gd name="adj" fmla="val 5310"/>
            </a:avLst>
          </a:prstGeom>
          <a:solidFill>
            <a:srgbClr val="EAF4DC"/>
          </a:solidFill>
          <a:ln w="15875">
            <a:solidFill>
              <a:srgbClr val="8DC63F"/>
            </a:solidFill>
            <a:prstDash val="solid"/>
          </a:ln>
        </p:spPr>
      </p:sp>
      <p:sp>
        <p:nvSpPr>
          <p:cNvPr id="21" name="Text 18"/>
          <p:cNvSpPr/>
          <p:nvPr/>
        </p:nvSpPr>
        <p:spPr>
          <a:xfrm>
            <a:off x="731520" y="5212080"/>
            <a:ext cx="2362810" cy="88696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Code defaults</a:t>
            </a:r>
            <a:endParaRPr lang="en-US" sz="1300" dirty="0"/>
          </a:p>
        </p:txBody>
      </p:sp>
      <p:sp>
        <p:nvSpPr>
          <p:cNvPr id="22" name="Text 19"/>
          <p:cNvSpPr/>
          <p:nvPr/>
        </p:nvSpPr>
        <p:spPr>
          <a:xfrm>
            <a:off x="3004718" y="5212080"/>
            <a:ext cx="4308653" cy="886968"/>
          </a:xfrm>
          <a:prstGeom prst="rect">
            <a:avLst/>
          </a:prstGeom>
          <a:noFill/>
          <a:ln/>
        </p:spPr>
        <p:txBody>
          <a:bodyPr wrap="square" rtlCol="0" anchor="ctr"/>
          <a:lstStyle/>
          <a:p>
            <a:pPr indent="0" marL="0">
              <a:buNone/>
            </a:pPr>
            <a:r>
              <a:rPr lang="en-US" sz="1000" dirty="0">
                <a:solidFill>
                  <a:srgbClr val="5F6B7A"/>
                </a:solidFill>
                <a:latin typeface="Calibri" pitchFamily="34" charset="0"/>
                <a:ea typeface="Calibri" pitchFamily="34" charset="-122"/>
                <a:cs typeface="Calibri" pitchFamily="34" charset="-120"/>
              </a:rPr>
              <a:t>Field(...) defaults and validators — lowest precedence, always present</a:t>
            </a:r>
            <a:endParaRPr lang="en-US" sz="1000" dirty="0"/>
          </a:p>
        </p:txBody>
      </p:sp>
      <p:sp>
        <p:nvSpPr>
          <p:cNvPr id="23" name="Shape 20"/>
          <p:cNvSpPr/>
          <p:nvPr/>
        </p:nvSpPr>
        <p:spPr>
          <a:xfrm>
            <a:off x="7772400" y="1600200"/>
            <a:ext cx="3913632" cy="4572000"/>
          </a:xfrm>
          <a:prstGeom prst="roundRect">
            <a:avLst>
              <a:gd name="adj" fmla="val 1636"/>
            </a:avLst>
          </a:prstGeom>
          <a:solidFill>
            <a:srgbClr val="1D2A5C"/>
          </a:solidFill>
          <a:ln/>
        </p:spPr>
      </p:sp>
      <p:sp>
        <p:nvSpPr>
          <p:cNvPr id="24" name="Text 21"/>
          <p:cNvSpPr/>
          <p:nvPr/>
        </p:nvSpPr>
        <p:spPr>
          <a:xfrm>
            <a:off x="7973568" y="1783080"/>
            <a:ext cx="3520440" cy="365760"/>
          </a:xfrm>
          <a:prstGeom prst="rect">
            <a:avLst/>
          </a:prstGeom>
          <a:noFill/>
          <a:ln/>
        </p:spPr>
        <p:txBody>
          <a:bodyPr wrap="square" rtlCol="0" anchor="ctr"/>
          <a:lstStyle/>
          <a:p>
            <a:pPr indent="0" marL="0">
              <a:buNone/>
            </a:pPr>
            <a:r>
              <a:rPr lang="en-US" sz="1300" b="1" dirty="0">
                <a:solidFill>
                  <a:srgbClr val="00A79D"/>
                </a:solidFill>
                <a:latin typeface="Calibri" pitchFamily="34" charset="0"/>
                <a:ea typeface="Calibri" pitchFamily="34" charset="-122"/>
                <a:cs typeface="Calibri" pitchFamily="34" charset="-120"/>
              </a:rPr>
              <a:t>One image, three environments</a:t>
            </a:r>
            <a:endParaRPr lang="en-US" sz="1300" dirty="0"/>
          </a:p>
        </p:txBody>
      </p:sp>
      <p:sp>
        <p:nvSpPr>
          <p:cNvPr id="25" name="Text 22"/>
          <p:cNvSpPr/>
          <p:nvPr/>
        </p:nvSpPr>
        <p:spPr>
          <a:xfrm>
            <a:off x="7973568" y="2194560"/>
            <a:ext cx="3520440" cy="3749040"/>
          </a:xfrm>
          <a:prstGeom prst="rect">
            <a:avLst/>
          </a:prstGeom>
          <a:noFill/>
          <a:ln/>
        </p:spPr>
        <p:txBody>
          <a:bodyPr wrap="square" rtlCol="0" anchor="t"/>
          <a:lstStyle/>
          <a:p>
            <a:pPr indent="0" marL="0">
              <a:lnSpc>
                <a:spcPts val="1500"/>
              </a:lnSpc>
              <a:buNone/>
            </a:pPr>
            <a:r>
              <a:rPr lang="en-US" sz="1050" dirty="0">
                <a:solidFill>
                  <a:srgbClr val="D9E4F5"/>
                </a:solidFill>
                <a:latin typeface="Calibri" pitchFamily="34" charset="0"/>
                <a:ea typeface="Calibri" pitchFamily="34" charset="-122"/>
                <a:cs typeface="Calibri" pitchFamily="34" charset="-120"/>
              </a:rPr>
              <a:t>The image from Modules 3 and 5 is promoted dev → staging → prod with only the environment changing. That is the 12-factor promise — and the only way 'we tested that image' stays true. If you rebuild per environment, you have lost the CI guarantee. Environment wins the precedence contest precisely because environment is the thing that legitimately differs between dev, staging, and production; everything else is baked into the one promoted image.</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settings.example.env — committed vs .env</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settings.example.env — مُودَع مقابل .env</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124</a:t>
            </a:r>
            <a:endParaRPr lang="en-US" sz="850" dirty="0"/>
          </a:p>
        </p:txBody>
      </p:sp>
      <p:sp>
        <p:nvSpPr>
          <p:cNvPr id="8" name="Shape 5"/>
          <p:cNvSpPr/>
          <p:nvPr/>
        </p:nvSpPr>
        <p:spPr>
          <a:xfrm>
            <a:off x="502920" y="1481328"/>
            <a:ext cx="11183112"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8074152"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configs/settings.example.env</a:t>
            </a:r>
            <a:endParaRPr lang="en-US" sz="900" dirty="0"/>
          </a:p>
        </p:txBody>
      </p:sp>
      <p:sp>
        <p:nvSpPr>
          <p:cNvPr id="13" name="Text 10"/>
          <p:cNvSpPr/>
          <p:nvPr/>
        </p:nvSpPr>
        <p:spPr>
          <a:xfrm>
            <a:off x="713232" y="1965960"/>
            <a:ext cx="10725912" cy="4023360"/>
          </a:xfrm>
          <a:prstGeom prst="rect">
            <a:avLst/>
          </a:prstGeom>
          <a:noFill/>
          <a:ln/>
        </p:spPr>
        <p:txBody>
          <a:bodyPr wrap="square" rtlCol="0" anchor="t"/>
          <a:lstStyle/>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 COMMITTED. Documents every knob, no real values.</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FRAUD_MODEL_PATH=/models/fraud_xgb_v3.joblib</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FRAUD_BLOCK_THRESHOLD=0.85</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FRAUD_LOG_LEVEL=INFO</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FRAUD_REDIS_URL=redis://feature-cache:6379/0</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 FRAUD_REGISTRY_TOKEN=   # &lt;- set only via secret store</a:t>
            </a:r>
            <a:endParaRPr lang="en-US" sz="1200" dirty="0"/>
          </a:p>
          <a:p>
            <a:pPr indent="0" marL="0">
              <a:lnSpc>
                <a:spcPct val="112000"/>
              </a:lnSpc>
              <a:buNone/>
            </a:pP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 .env (REAL values) is git-ignored from repo birth</a:t>
            </a:r>
            <a:endParaRPr lang="en-US" sz="1200" dirty="0"/>
          </a:p>
          <a:p>
            <a:pPr indent="0" marL="0">
              <a:lnSpc>
                <a:spcPct val="112000"/>
              </a:lnSpc>
              <a:buNone/>
            </a:pPr>
            <a:r>
              <a:rPr lang="en-US" sz="1200" dirty="0">
                <a:solidFill>
                  <a:srgbClr val="D9E4F5"/>
                </a:solidFill>
                <a:latin typeface="Consolas" pitchFamily="34" charset="0"/>
                <a:ea typeface="Consolas" pitchFamily="34" charset="-122"/>
                <a:cs typeface="Consolas" pitchFamily="34" charset="-120"/>
              </a:rPr>
              <a:t># and listed in .dockerignore — it never ships anywhere.</a:t>
            </a:r>
            <a:endParaRPr lang="en-US" sz="1200" dirty="0"/>
          </a:p>
        </p:txBody>
      </p:sp>
      <p:sp>
        <p:nvSpPr>
          <p:cNvPr id="14" name="Text 11"/>
          <p:cNvSpPr/>
          <p:nvPr/>
        </p:nvSpPr>
        <p:spPr>
          <a:xfrm>
            <a:off x="502920" y="6144768"/>
            <a:ext cx="11155680" cy="256032"/>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The example file is documentation; the real .env is git-ignored and .dockerignored.</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Secret hygiene — the non-negotiables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نظافة الأسرار — الثوابت غير القابلة للتفاوض</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125</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NEVER IN GIT</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Not even "just for now"</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Private repos too — forks, laptops, backups multiply exposure. .env is git-ignored from repo birth and in .dockerignore.</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NEVER IN IMAGES</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Layers are archives</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docker history reads them (the M3 simulation proved it). A baked-in secret ships in every single pull.</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NEVER IN LOGS</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The most common leak</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The logging setup masks known secret fields defensively — the one control that holds when the others fail.</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DELIVERY</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Injected at runtime</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Env vars from the platform: compose env_file (dev), CI secrets.*, vault / secret-manager (prod).</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DETECTION</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gitleaks + pre-commit</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gitleaks in CI and a pre-commit hook locally catch leaks before they ever land in history.</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SecretStr</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Masked by type</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Masked in reprs and prints; .get_secret_value() makes every intentional use grep-able in review.</a:t>
            </a:r>
            <a:endParaRPr lang="en-US" sz="98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Secret leak — the response drill</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تسريب سرّ — تمرين الاستجابة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126</a:t>
            </a:r>
            <a:endParaRPr lang="en-US" sz="850" dirty="0"/>
          </a:p>
        </p:txBody>
      </p:sp>
      <p:sp>
        <p:nvSpPr>
          <p:cNvPr id="8" name="Shape 5"/>
          <p:cNvSpPr/>
          <p:nvPr/>
        </p:nvSpPr>
        <p:spPr>
          <a:xfrm>
            <a:off x="502920" y="1508760"/>
            <a:ext cx="5440680" cy="3977640"/>
          </a:xfrm>
          <a:prstGeom prst="roundRect">
            <a:avLst>
              <a:gd name="adj" fmla="val 1609"/>
            </a:avLst>
          </a:prstGeom>
          <a:solidFill>
            <a:srgbClr val="FFFFFF"/>
          </a:solidFill>
          <a:ln w="12700">
            <a:solidFill>
              <a:srgbClr val="D9E4F5"/>
            </a:solidFill>
            <a:prstDash val="solid"/>
          </a:ln>
        </p:spPr>
      </p:sp>
      <p:sp>
        <p:nvSpPr>
          <p:cNvPr id="9" name="Shape 6"/>
          <p:cNvSpPr/>
          <p:nvPr/>
        </p:nvSpPr>
        <p:spPr>
          <a:xfrm>
            <a:off x="502920" y="1508760"/>
            <a:ext cx="5440680" cy="475488"/>
          </a:xfrm>
          <a:prstGeom prst="roundRect">
            <a:avLst>
              <a:gd name="adj" fmla="val 13462"/>
            </a:avLst>
          </a:prstGeom>
          <a:solidFill>
            <a:srgbClr val="FADDD8"/>
          </a:solidFill>
          <a:ln/>
        </p:spPr>
      </p:sp>
      <p:sp>
        <p:nvSpPr>
          <p:cNvPr id="10" name="Text 7"/>
          <p:cNvSpPr/>
          <p:nvPr/>
        </p:nvSpPr>
        <p:spPr>
          <a:xfrm>
            <a:off x="685800" y="1545336"/>
            <a:ext cx="5074920" cy="402336"/>
          </a:xfrm>
          <a:prstGeom prst="rect">
            <a:avLst/>
          </a:prstGeom>
          <a:noFill/>
          <a:ln/>
        </p:spPr>
        <p:txBody>
          <a:bodyPr wrap="square" rtlCol="0" anchor="ctr"/>
          <a:lstStyle/>
          <a:p>
            <a:pPr indent="0" marL="0">
              <a:buNone/>
            </a:pPr>
            <a:r>
              <a:rPr lang="en-US" sz="1300" b="1" dirty="0">
                <a:solidFill>
                  <a:srgbClr val="E8503A"/>
                </a:solidFill>
                <a:latin typeface="Calibri" pitchFamily="34" charset="0"/>
                <a:ea typeface="Calibri" pitchFamily="34" charset="-122"/>
                <a:cs typeface="Calibri" pitchFamily="34" charset="-120"/>
              </a:rPr>
              <a:t>Wrong: just delete the commit</a:t>
            </a:r>
            <a:endParaRPr lang="en-US" sz="1300" dirty="0"/>
          </a:p>
        </p:txBody>
      </p:sp>
      <p:sp>
        <p:nvSpPr>
          <p:cNvPr id="11" name="Text 8"/>
          <p:cNvSpPr/>
          <p:nvPr/>
        </p:nvSpPr>
        <p:spPr>
          <a:xfrm>
            <a:off x="667512" y="21671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2" name="Text 9"/>
          <p:cNvSpPr/>
          <p:nvPr/>
        </p:nvSpPr>
        <p:spPr>
          <a:xfrm>
            <a:off x="978408"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'I removed the .env commit, we're fine'</a:t>
            </a:r>
            <a:endParaRPr lang="en-US" sz="1050" dirty="0"/>
          </a:p>
        </p:txBody>
      </p:sp>
      <p:sp>
        <p:nvSpPr>
          <p:cNvPr id="13" name="Text 10"/>
          <p:cNvSpPr/>
          <p:nvPr/>
        </p:nvSpPr>
        <p:spPr>
          <a:xfrm>
            <a:off x="667512" y="29672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978408"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The secret is already cloned, forked, in reflog and backups</a:t>
            </a:r>
            <a:endParaRPr lang="en-US" sz="1050" dirty="0"/>
          </a:p>
        </p:txBody>
      </p:sp>
      <p:sp>
        <p:nvSpPr>
          <p:cNvPr id="15" name="Text 12"/>
          <p:cNvSpPr/>
          <p:nvPr/>
        </p:nvSpPr>
        <p:spPr>
          <a:xfrm>
            <a:off x="667512" y="37673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6" name="Text 13"/>
          <p:cNvSpPr/>
          <p:nvPr/>
        </p:nvSpPr>
        <p:spPr>
          <a:xfrm>
            <a:off x="978408"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Deleting the commit does not un-leak it</a:t>
            </a:r>
            <a:endParaRPr lang="en-US" sz="1050" dirty="0"/>
          </a:p>
        </p:txBody>
      </p:sp>
      <p:sp>
        <p:nvSpPr>
          <p:cNvPr id="17" name="Text 14"/>
          <p:cNvSpPr/>
          <p:nvPr/>
        </p:nvSpPr>
        <p:spPr>
          <a:xfrm>
            <a:off x="667512" y="4567428"/>
            <a:ext cx="274320" cy="274320"/>
          </a:xfrm>
          <a:prstGeom prst="rect">
            <a:avLst/>
          </a:prstGeom>
          <a:noFill/>
          <a:ln/>
        </p:spPr>
        <p:txBody>
          <a:bodyPr wrap="square" rtlCol="0" anchor="ctr"/>
          <a:lstStyle/>
          <a:p>
            <a:pPr indent="0" marL="0">
              <a:buNone/>
            </a:pPr>
            <a:r>
              <a:rPr lang="en-US" sz="1200" b="1" dirty="0">
                <a:solidFill>
                  <a:srgbClr val="E8503A"/>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978408"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The key is burned the moment it is exposed</a:t>
            </a:r>
            <a:endParaRPr lang="en-US" sz="1050" dirty="0"/>
          </a:p>
        </p:txBody>
      </p:sp>
      <p:sp>
        <p:nvSpPr>
          <p:cNvPr id="19" name="Shape 16"/>
          <p:cNvSpPr/>
          <p:nvPr/>
        </p:nvSpPr>
        <p:spPr>
          <a:xfrm>
            <a:off x="6245352" y="1508760"/>
            <a:ext cx="5440680" cy="3977640"/>
          </a:xfrm>
          <a:prstGeom prst="roundRect">
            <a:avLst>
              <a:gd name="adj" fmla="val 1609"/>
            </a:avLst>
          </a:prstGeom>
          <a:solidFill>
            <a:srgbClr val="FFFFFF"/>
          </a:solidFill>
          <a:ln w="12700">
            <a:solidFill>
              <a:srgbClr val="D9E4F5"/>
            </a:solidFill>
            <a:prstDash val="solid"/>
          </a:ln>
        </p:spPr>
      </p:sp>
      <p:sp>
        <p:nvSpPr>
          <p:cNvPr id="20" name="Shape 17"/>
          <p:cNvSpPr/>
          <p:nvPr/>
        </p:nvSpPr>
        <p:spPr>
          <a:xfrm>
            <a:off x="6245352" y="1508760"/>
            <a:ext cx="5440680" cy="475488"/>
          </a:xfrm>
          <a:prstGeom prst="roundRect">
            <a:avLst>
              <a:gd name="adj" fmla="val 13462"/>
            </a:avLst>
          </a:prstGeom>
          <a:solidFill>
            <a:srgbClr val="EAF4DC"/>
          </a:solidFill>
          <a:ln/>
        </p:spPr>
      </p:sp>
      <p:sp>
        <p:nvSpPr>
          <p:cNvPr id="21" name="Text 18"/>
          <p:cNvSpPr/>
          <p:nvPr/>
        </p:nvSpPr>
        <p:spPr>
          <a:xfrm>
            <a:off x="6428232" y="1545336"/>
            <a:ext cx="5074920" cy="402336"/>
          </a:xfrm>
          <a:prstGeom prst="rect">
            <a:avLst/>
          </a:prstGeom>
          <a:noFill/>
          <a:ln/>
        </p:spPr>
        <p:txBody>
          <a:bodyPr wrap="square" rtlCol="0" anchor="ctr"/>
          <a:lstStyle/>
          <a:p>
            <a:pPr indent="0" marL="0">
              <a:buNone/>
            </a:pPr>
            <a:r>
              <a:rPr lang="en-US" sz="1300" b="1" dirty="0">
                <a:solidFill>
                  <a:srgbClr val="5A8F1F"/>
                </a:solidFill>
                <a:latin typeface="Calibri" pitchFamily="34" charset="0"/>
                <a:ea typeface="Calibri" pitchFamily="34" charset="-122"/>
                <a:cs typeface="Calibri" pitchFamily="34" charset="-120"/>
              </a:rPr>
              <a:t>Right: rotate first, then clean</a:t>
            </a:r>
            <a:endParaRPr lang="en-US" sz="1300" dirty="0"/>
          </a:p>
        </p:txBody>
      </p:sp>
      <p:sp>
        <p:nvSpPr>
          <p:cNvPr id="22" name="Text 19"/>
          <p:cNvSpPr/>
          <p:nvPr/>
        </p:nvSpPr>
        <p:spPr>
          <a:xfrm>
            <a:off x="6409944" y="21671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6720840" y="21396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Rotate the secret immediately — assume it is compromised</a:t>
            </a:r>
            <a:endParaRPr lang="en-US" sz="1050" dirty="0"/>
          </a:p>
        </p:txBody>
      </p:sp>
      <p:sp>
        <p:nvSpPr>
          <p:cNvPr id="24" name="Text 21"/>
          <p:cNvSpPr/>
          <p:nvPr/>
        </p:nvSpPr>
        <p:spPr>
          <a:xfrm>
            <a:off x="6409944" y="29672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5" name="Text 22"/>
          <p:cNvSpPr/>
          <p:nvPr/>
        </p:nvSpPr>
        <p:spPr>
          <a:xfrm>
            <a:off x="6720840" y="29397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Rotate ALL related keys (assume lateral discovery)</a:t>
            </a:r>
            <a:endParaRPr lang="en-US" sz="1050" dirty="0"/>
          </a:p>
        </p:txBody>
      </p:sp>
      <p:sp>
        <p:nvSpPr>
          <p:cNvPr id="26" name="Text 23"/>
          <p:cNvSpPr/>
          <p:nvPr/>
        </p:nvSpPr>
        <p:spPr>
          <a:xfrm>
            <a:off x="6409944" y="37673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7" name="Text 24"/>
          <p:cNvSpPr/>
          <p:nvPr/>
        </p:nvSpPr>
        <p:spPr>
          <a:xfrm>
            <a:off x="6720840" y="37398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Then rewrite history + add gitleaks as a required check</a:t>
            </a:r>
            <a:endParaRPr lang="en-US" sz="1050" dirty="0"/>
          </a:p>
        </p:txBody>
      </p:sp>
      <p:sp>
        <p:nvSpPr>
          <p:cNvPr id="28" name="Text 25"/>
          <p:cNvSpPr/>
          <p:nvPr/>
        </p:nvSpPr>
        <p:spPr>
          <a:xfrm>
            <a:off x="6409944" y="4567428"/>
            <a:ext cx="274320" cy="274320"/>
          </a:xfrm>
          <a:prstGeom prst="rect">
            <a:avLst/>
          </a:prstGeom>
          <a:noFill/>
          <a:ln/>
        </p:spPr>
        <p:txBody>
          <a:bodyPr wrap="square" rtlCol="0" anchor="ctr"/>
          <a:lstStyle/>
          <a:p>
            <a:pPr indent="0" marL="0">
              <a:buNone/>
            </a:pPr>
            <a:r>
              <a:rPr lang="en-US" sz="1200" b="1" dirty="0">
                <a:solidFill>
                  <a:srgbClr val="5A8F1F"/>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6720840" y="4539996"/>
            <a:ext cx="4754880" cy="788670"/>
          </a:xfrm>
          <a:prstGeom prst="rect">
            <a:avLst/>
          </a:prstGeom>
          <a:noFill/>
          <a:ln/>
        </p:spPr>
        <p:txBody>
          <a:bodyPr wrap="square" rtlCol="0" anchor="t"/>
          <a:lstStyle/>
          <a:p>
            <a:pPr indent="0" marL="0">
              <a:buNone/>
            </a:pPr>
            <a:r>
              <a:rPr lang="en-US" sz="1050" dirty="0">
                <a:solidFill>
                  <a:srgbClr val="23293B"/>
                </a:solidFill>
                <a:latin typeface="Calibri" pitchFamily="34" charset="0"/>
                <a:ea typeface="Calibri" pitchFamily="34" charset="-122"/>
                <a:cs typeface="Calibri" pitchFamily="34" charset="-120"/>
              </a:rPr>
              <a:t>Write the two-step response in INCIDENT.md</a:t>
            </a:r>
            <a:endParaRPr lang="en-US" sz="1050" dirty="0"/>
          </a:p>
        </p:txBody>
      </p:sp>
      <p:sp>
        <p:nvSpPr>
          <p:cNvPr id="30" name="Shape 27"/>
          <p:cNvSpPr/>
          <p:nvPr/>
        </p:nvSpPr>
        <p:spPr>
          <a:xfrm>
            <a:off x="502920" y="5650992"/>
            <a:ext cx="11183112" cy="566928"/>
          </a:xfrm>
          <a:prstGeom prst="roundRect">
            <a:avLst>
              <a:gd name="adj" fmla="val 11290"/>
            </a:avLst>
          </a:prstGeom>
          <a:solidFill>
            <a:srgbClr val="1D2A5C"/>
          </a:solidFill>
          <a:ln/>
        </p:spPr>
      </p:sp>
      <p:sp>
        <p:nvSpPr>
          <p:cNvPr id="31" name="Text 28"/>
          <p:cNvSpPr/>
          <p:nvPr/>
        </p:nvSpPr>
        <p:spPr>
          <a:xfrm>
            <a:off x="777240" y="5650992"/>
            <a:ext cx="10698480" cy="566928"/>
          </a:xfrm>
          <a:prstGeom prst="rect">
            <a:avLst/>
          </a:prstGeom>
          <a:noFill/>
          <a:ln/>
        </p:spPr>
        <p:txBody>
          <a:bodyPr wrap="square" rtlCol="0" anchor="ctr"/>
          <a:lstStyle/>
          <a:p>
            <a:pPr indent="0" marL="0">
              <a:buNone/>
            </a:pPr>
            <a:r>
              <a:rPr lang="en-US" sz="1000" b="1" dirty="0">
                <a:solidFill>
                  <a:srgbClr val="00A79D"/>
                </a:solidFill>
                <a:latin typeface="Calibri" pitchFamily="34" charset="0"/>
                <a:ea typeface="Calibri" pitchFamily="34" charset="-122"/>
                <a:cs typeface="Calibri" pitchFamily="34" charset="-120"/>
              </a:rPr>
              <a:t>TAKEAWAY   </a:t>
            </a:r>
            <a:pPr indent="0" marL="0">
              <a:buNone/>
            </a:pPr>
            <a:r>
              <a:rPr lang="en-US" sz="1150" dirty="0">
                <a:solidFill>
                  <a:srgbClr val="FFFFFF"/>
                </a:solidFill>
                <a:latin typeface="Calibri" pitchFamily="34" charset="0"/>
                <a:ea typeface="Calibri" pitchFamily="34" charset="-122"/>
                <a:cs typeface="Calibri" pitchFamily="34" charset="-120"/>
              </a:rPr>
              <a:t>Rotation BEFORE history cleanup. A leaked secret is burned forever — the ordering is the exam question people fail in real life.</a:t>
            </a:r>
            <a:endParaRPr lang="en-US" sz="1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Structured logging for AI services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التسجيل المنظم لخدمات الذكاء الاصطناعي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Logs are events, not sentences</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JSON lines with stable field names turn 'grep and hope' into queries. Always-on fields: timestamp, level, event, trace_id, model_version, git_sha.</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Correlation pays off</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One trace_id joins the gateway log, the API log, and the scoring event. One model_version splits an error-rate graph during a rollout (SDA-AIE-211 dependency).</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stdout only (12-factor)</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The container platform owns shipping and rotation. File handlers inside containers create the M3 permission bug and un-shippable logs.</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Levels with intent</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INFO</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Business events — prediction_served, model_loaded</a:t>
            </a:r>
            <a:endParaRPr lang="en-US" sz="950" dirty="0"/>
          </a:p>
        </p:txBody>
      </p:sp>
      <p:sp>
        <p:nvSpPr>
          <p:cNvPr id="22" name="Shape 19"/>
          <p:cNvSpPr/>
          <p:nvPr/>
        </p:nvSpPr>
        <p:spPr>
          <a:xfrm rot="2700000">
            <a:off x="6556248" y="2916936"/>
            <a:ext cx="128016" cy="128016"/>
          </a:xfrm>
          <a:prstGeom prst="rect">
            <a:avLst/>
          </a:prstGeom>
          <a:solidFill>
            <a:srgbClr val="29ABE2"/>
          </a:solidFill>
          <a:ln/>
        </p:spPr>
      </p:sp>
      <p:sp>
        <p:nvSpPr>
          <p:cNvPr id="23" name="Text 20"/>
          <p:cNvSpPr/>
          <p:nvPr/>
        </p:nvSpPr>
        <p:spPr>
          <a:xfrm>
            <a:off x="6812280" y="2825496"/>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WARNING</a:t>
            </a:r>
            <a:endParaRPr lang="en-US" sz="1100" dirty="0"/>
          </a:p>
        </p:txBody>
      </p:sp>
      <p:sp>
        <p:nvSpPr>
          <p:cNvPr id="24" name="Text 21"/>
          <p:cNvSpPr/>
          <p:nvPr/>
        </p:nvSpPr>
        <p:spPr>
          <a:xfrm>
            <a:off x="6812280" y="3090672"/>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Degraded but serving — cache-miss fallback</a:t>
            </a:r>
            <a:endParaRPr lang="en-US" sz="950" dirty="0"/>
          </a:p>
        </p:txBody>
      </p:sp>
      <p:sp>
        <p:nvSpPr>
          <p:cNvPr id="25" name="Shape 22"/>
          <p:cNvSpPr/>
          <p:nvPr/>
        </p:nvSpPr>
        <p:spPr>
          <a:xfrm rot="2700000">
            <a:off x="6556248" y="3703320"/>
            <a:ext cx="128016" cy="128016"/>
          </a:xfrm>
          <a:prstGeom prst="rect">
            <a:avLst/>
          </a:prstGeom>
          <a:solidFill>
            <a:srgbClr val="F58220"/>
          </a:solidFill>
          <a:ln/>
        </p:spPr>
      </p:sp>
      <p:sp>
        <p:nvSpPr>
          <p:cNvPr id="26" name="Text 23"/>
          <p:cNvSpPr/>
          <p:nvPr/>
        </p:nvSpPr>
        <p:spPr>
          <a:xfrm>
            <a:off x="6812280" y="3611880"/>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ERROR</a:t>
            </a:r>
            <a:endParaRPr lang="en-US" sz="1100" dirty="0"/>
          </a:p>
        </p:txBody>
      </p:sp>
      <p:sp>
        <p:nvSpPr>
          <p:cNvPr id="27" name="Text 24"/>
          <p:cNvSpPr/>
          <p:nvPr/>
        </p:nvSpPr>
        <p:spPr>
          <a:xfrm>
            <a:off x="6812280" y="3877056"/>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Request failed</a:t>
            </a:r>
            <a:endParaRPr lang="en-US" sz="950" dirty="0"/>
          </a:p>
        </p:txBody>
      </p:sp>
      <p:sp>
        <p:nvSpPr>
          <p:cNvPr id="28" name="Shape 25"/>
          <p:cNvSpPr/>
          <p:nvPr/>
        </p:nvSpPr>
        <p:spPr>
          <a:xfrm rot="2700000">
            <a:off x="6556248" y="4489704"/>
            <a:ext cx="128016" cy="128016"/>
          </a:xfrm>
          <a:prstGeom prst="rect">
            <a:avLst/>
          </a:prstGeom>
          <a:solidFill>
            <a:srgbClr val="8DC63F"/>
          </a:solidFill>
          <a:ln/>
        </p:spPr>
      </p:sp>
      <p:sp>
        <p:nvSpPr>
          <p:cNvPr id="29" name="Text 26"/>
          <p:cNvSpPr/>
          <p:nvPr/>
        </p:nvSpPr>
        <p:spPr>
          <a:xfrm>
            <a:off x="6812280" y="4398264"/>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CRITICAL</a:t>
            </a:r>
            <a:endParaRPr lang="en-US" sz="1100" dirty="0"/>
          </a:p>
        </p:txBody>
      </p:sp>
      <p:sp>
        <p:nvSpPr>
          <p:cNvPr id="30" name="Text 27"/>
          <p:cNvSpPr/>
          <p:nvPr/>
        </p:nvSpPr>
        <p:spPr>
          <a:xfrm>
            <a:off x="6812280" y="4663440"/>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Service cannot serve</a:t>
            </a:r>
            <a:endParaRPr lang="en-US" sz="950" dirty="0"/>
          </a:p>
        </p:txBody>
      </p:sp>
      <p:sp>
        <p:nvSpPr>
          <p:cNvPr id="31" name="Shape 28"/>
          <p:cNvSpPr/>
          <p:nvPr/>
        </p:nvSpPr>
        <p:spPr>
          <a:xfrm rot="2700000">
            <a:off x="6556248" y="5276088"/>
            <a:ext cx="128016" cy="128016"/>
          </a:xfrm>
          <a:prstGeom prst="rect">
            <a:avLst/>
          </a:prstGeom>
          <a:solidFill>
            <a:srgbClr val="E8503A"/>
          </a:solidFill>
          <a:ln/>
        </p:spPr>
      </p:sp>
      <p:sp>
        <p:nvSpPr>
          <p:cNvPr id="32" name="Text 29"/>
          <p:cNvSpPr/>
          <p:nvPr/>
        </p:nvSpPr>
        <p:spPr>
          <a:xfrm>
            <a:off x="6812280" y="5184648"/>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DEBUG</a:t>
            </a:r>
            <a:endParaRPr lang="en-US" sz="1100" dirty="0"/>
          </a:p>
        </p:txBody>
      </p:sp>
      <p:sp>
        <p:nvSpPr>
          <p:cNvPr id="33" name="Text 30"/>
          <p:cNvSpPr/>
          <p:nvPr/>
        </p:nvSpPr>
        <p:spPr>
          <a:xfrm>
            <a:off x="6812280" y="5449824"/>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Development detail, off in prod</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logging_setup.py — JSON logs to stdout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logging_setup.py — سجلات JSON إلى stdout</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128</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src/fraud_service/logging_setup.py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SENSITIVE_KEYS = {"password", "token", "secret",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"national_id", "card_number"}</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_mask_sensitive(logger, method, event_dict):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for key in list(event_dict):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if key.lower() in SENSITIVE_KEYS: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event_dict[key] = "***MASKED***"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event_dict</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def configure_logging(level: str = "INFO") -&gt; None: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logging.basicConfig(stream=sys.stdout, level=level)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structlog.configure(processors=[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structlog.contextvars.merge_contextvars,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structlog.processors.add_log_level,</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structlog.processors.TimeStamper(fmt="iso",</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utc=True),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_mask_sensitive,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structlog.processors.JSONRenderer(),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t>
            </a:r>
            <a:endParaRPr lang="en-US" sz="10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Defensive masking</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Even if someone logs a secret field, _mask_sensitive replaces it with ***MASKED*** before it leaves the process.</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trace_id binding</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merge_contextvars pulls the bound trace_id into every line — one id joins gateway, API, and scoring logs.</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Always UTC</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TimeStamper utc=True: log in UTC, render locally. Incidents cross midnight; naive timestamps mislead.</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JSON to stdout</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JSONRenderer emits queryable events; the platform owns shipping and rotation (12-factor).</a:t>
            </a:r>
            <a:endParaRPr lang="en-US" sz="93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Request middleware + scoring event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وسيط الطلب + حدث التسجيل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129</a:t>
            </a:r>
            <a:endParaRPr lang="en-US" sz="850" dirty="0"/>
          </a:p>
        </p:txBody>
      </p:sp>
      <p:sp>
        <p:nvSpPr>
          <p:cNvPr id="8" name="Shape 5"/>
          <p:cNvSpPr/>
          <p:nvPr/>
        </p:nvSpPr>
        <p:spPr>
          <a:xfrm>
            <a:off x="502920" y="1481328"/>
            <a:ext cx="7635240" cy="4617720"/>
          </a:xfrm>
          <a:prstGeom prst="roundRect">
            <a:avLst>
              <a:gd name="adj" fmla="val 1584"/>
            </a:avLst>
          </a:prstGeom>
          <a:solidFill>
            <a:srgbClr val="1A2233"/>
          </a:solidFill>
          <a:ln/>
        </p:spPr>
      </p:sp>
      <p:sp>
        <p:nvSpPr>
          <p:cNvPr id="9" name="Shape 6"/>
          <p:cNvSpPr/>
          <p:nvPr/>
        </p:nvSpPr>
        <p:spPr>
          <a:xfrm>
            <a:off x="731520" y="1664208"/>
            <a:ext cx="109728" cy="109728"/>
          </a:xfrm>
          <a:prstGeom prst="ellipse">
            <a:avLst/>
          </a:prstGeom>
          <a:solidFill>
            <a:srgbClr val="E8503A"/>
          </a:solidFill>
          <a:ln/>
        </p:spPr>
      </p:sp>
      <p:sp>
        <p:nvSpPr>
          <p:cNvPr id="10" name="Shape 7"/>
          <p:cNvSpPr/>
          <p:nvPr/>
        </p:nvSpPr>
        <p:spPr>
          <a:xfrm>
            <a:off x="932688" y="1664208"/>
            <a:ext cx="109728" cy="109728"/>
          </a:xfrm>
          <a:prstGeom prst="ellipse">
            <a:avLst/>
          </a:prstGeom>
          <a:solidFill>
            <a:srgbClr val="F5B820"/>
          </a:solidFill>
          <a:ln/>
        </p:spPr>
      </p:sp>
      <p:sp>
        <p:nvSpPr>
          <p:cNvPr id="11" name="Shape 8"/>
          <p:cNvSpPr/>
          <p:nvPr/>
        </p:nvSpPr>
        <p:spPr>
          <a:xfrm>
            <a:off x="1133856" y="1664208"/>
            <a:ext cx="109728" cy="109728"/>
          </a:xfrm>
          <a:prstGeom prst="ellipse">
            <a:avLst/>
          </a:prstGeom>
          <a:solidFill>
            <a:srgbClr val="8DC63F"/>
          </a:solidFill>
          <a:ln/>
        </p:spPr>
      </p:sp>
      <p:sp>
        <p:nvSpPr>
          <p:cNvPr id="12" name="Text 9"/>
          <p:cNvSpPr/>
          <p:nvPr/>
        </p:nvSpPr>
        <p:spPr>
          <a:xfrm>
            <a:off x="4526280" y="1609344"/>
            <a:ext cx="3291840" cy="228600"/>
          </a:xfrm>
          <a:prstGeom prst="rect">
            <a:avLst/>
          </a:prstGeom>
          <a:noFill/>
          <a:ln/>
        </p:spPr>
        <p:txBody>
          <a:bodyPr wrap="square" rtlCol="0" anchor="ctr"/>
          <a:lstStyle/>
          <a:p>
            <a:pPr algn="r" indent="0" marL="0">
              <a:buNone/>
            </a:pPr>
            <a:r>
              <a:rPr lang="en-US" sz="900" dirty="0">
                <a:solidFill>
                  <a:srgbClr val="8A96C8"/>
                </a:solidFill>
                <a:latin typeface="Consolas" pitchFamily="34" charset="0"/>
                <a:ea typeface="Consolas" pitchFamily="34" charset="-122"/>
                <a:cs typeface="Consolas" pitchFamily="34" charset="-120"/>
              </a:rPr>
              <a:t>src/fraud_service/api/app.py</a:t>
            </a:r>
            <a:endParaRPr lang="en-US" sz="900" dirty="0"/>
          </a:p>
        </p:txBody>
      </p:sp>
      <p:sp>
        <p:nvSpPr>
          <p:cNvPr id="13" name="Text 10"/>
          <p:cNvSpPr/>
          <p:nvPr/>
        </p:nvSpPr>
        <p:spPr>
          <a:xfrm>
            <a:off x="713232" y="1965960"/>
            <a:ext cx="7178040" cy="4023360"/>
          </a:xfrm>
          <a:prstGeom prst="rect">
            <a:avLst/>
          </a:prstGeom>
          <a:noFill/>
          <a:ln/>
        </p:spPr>
        <p:txBody>
          <a:bodyPr wrap="square" rtlCol="0" anchor="t"/>
          <a:lstStyle/>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@app.middleware("http")</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async def request_logging(request, call_next):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structlog.contextvars.clear_contextvars()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structlog.contextvars.bind_contextvars(</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trace_id=request.state.trace_id,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path=request.url.path, method=request.method)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t0 = time.perf_counter()</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response = await call_next(request)</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log.info(</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"http_request", status=response.status_code,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latency_ms=round((time.perf_counter()-t0)*1000, 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return response</a:t>
            </a:r>
            <a:endParaRPr lang="en-US" sz="1000" dirty="0"/>
          </a:p>
          <a:p>
            <a:pPr indent="0" marL="0">
              <a:lnSpc>
                <a:spcPct val="112000"/>
              </a:lnSpc>
              <a:buNone/>
            </a:pP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scoring event inside the route: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log.info("prediction_served",</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decision=score.decision.value,</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probability_bucket=round(score.probability, 1),</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model_version=score.model_version)</a:t>
            </a:r>
            <a:endParaRPr lang="en-US" sz="1000" dirty="0"/>
          </a:p>
          <a:p>
            <a:pPr indent="0" marL="0">
              <a:lnSpc>
                <a:spcPct val="112000"/>
              </a:lnSpc>
              <a:buNone/>
            </a:pPr>
            <a:r>
              <a:rPr lang="en-US" sz="1000" dirty="0">
                <a:solidFill>
                  <a:srgbClr val="D9E4F5"/>
                </a:solidFill>
                <a:latin typeface="Consolas" pitchFamily="34" charset="0"/>
                <a:ea typeface="Consolas" pitchFamily="34" charset="-122"/>
                <a:cs typeface="Consolas" pitchFamily="34" charset="-120"/>
              </a:rPr>
              <a:t># ABSENT by design: customer_id, amount, raw features</a:t>
            </a:r>
            <a:endParaRPr lang="en-US" sz="1000" dirty="0"/>
          </a:p>
        </p:txBody>
      </p:sp>
      <p:sp>
        <p:nvSpPr>
          <p:cNvPr id="14" name="Shape 11"/>
          <p:cNvSpPr/>
          <p:nvPr/>
        </p:nvSpPr>
        <p:spPr>
          <a:xfrm>
            <a:off x="8321040" y="1481328"/>
            <a:ext cx="3364992" cy="1017270"/>
          </a:xfrm>
          <a:prstGeom prst="roundRect">
            <a:avLst>
              <a:gd name="adj" fmla="val 5393"/>
            </a:avLst>
          </a:prstGeom>
          <a:solidFill>
            <a:srgbClr val="D4F1EE"/>
          </a:solidFill>
          <a:ln/>
        </p:spPr>
      </p:sp>
      <p:sp>
        <p:nvSpPr>
          <p:cNvPr id="15" name="Text 12"/>
          <p:cNvSpPr/>
          <p:nvPr/>
        </p:nvSpPr>
        <p:spPr>
          <a:xfrm>
            <a:off x="8485632" y="157276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Bind once per request</a:t>
            </a:r>
            <a:endParaRPr lang="en-US" sz="1050" dirty="0"/>
          </a:p>
        </p:txBody>
      </p:sp>
      <p:sp>
        <p:nvSpPr>
          <p:cNvPr id="16" name="Text 13"/>
          <p:cNvSpPr/>
          <p:nvPr/>
        </p:nvSpPr>
        <p:spPr>
          <a:xfrm>
            <a:off x="8485632" y="184708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clear + bind_contextvars sets trace_id, path, method so every line in the request carries them automatically.</a:t>
            </a:r>
            <a:endParaRPr lang="en-US" sz="930" dirty="0"/>
          </a:p>
        </p:txBody>
      </p:sp>
      <p:sp>
        <p:nvSpPr>
          <p:cNvPr id="17" name="Shape 14"/>
          <p:cNvSpPr/>
          <p:nvPr/>
        </p:nvSpPr>
        <p:spPr>
          <a:xfrm>
            <a:off x="8321040" y="2635758"/>
            <a:ext cx="3364992" cy="1017270"/>
          </a:xfrm>
          <a:prstGeom prst="roundRect">
            <a:avLst>
              <a:gd name="adj" fmla="val 5393"/>
            </a:avLst>
          </a:prstGeom>
          <a:solidFill>
            <a:srgbClr val="D9F0FA"/>
          </a:solidFill>
          <a:ln/>
        </p:spPr>
      </p:sp>
      <p:sp>
        <p:nvSpPr>
          <p:cNvPr id="18" name="Text 15"/>
          <p:cNvSpPr/>
          <p:nvPr/>
        </p:nvSpPr>
        <p:spPr>
          <a:xfrm>
            <a:off x="8485632" y="272719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Latency from logs</a:t>
            </a:r>
            <a:endParaRPr lang="en-US" sz="1050" dirty="0"/>
          </a:p>
        </p:txBody>
      </p:sp>
      <p:sp>
        <p:nvSpPr>
          <p:cNvPr id="19" name="Text 16"/>
          <p:cNvSpPr/>
          <p:nvPr/>
        </p:nvSpPr>
        <p:spPr>
          <a:xfrm>
            <a:off x="8485632" y="300151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http_request logs status + latency_ms — jq over the stream computes p50/p99 with no separate metrics system.</a:t>
            </a:r>
            <a:endParaRPr lang="en-US" sz="930" dirty="0"/>
          </a:p>
        </p:txBody>
      </p:sp>
      <p:sp>
        <p:nvSpPr>
          <p:cNvPr id="20" name="Shape 17"/>
          <p:cNvSpPr/>
          <p:nvPr/>
        </p:nvSpPr>
        <p:spPr>
          <a:xfrm>
            <a:off x="8321040" y="3790188"/>
            <a:ext cx="3364992" cy="1017270"/>
          </a:xfrm>
          <a:prstGeom prst="roundRect">
            <a:avLst>
              <a:gd name="adj" fmla="val 5393"/>
            </a:avLst>
          </a:prstGeom>
          <a:solidFill>
            <a:srgbClr val="FDEBD7"/>
          </a:solidFill>
          <a:ln/>
        </p:spPr>
      </p:sp>
      <p:sp>
        <p:nvSpPr>
          <p:cNvPr id="21" name="Text 18"/>
          <p:cNvSpPr/>
          <p:nvPr/>
        </p:nvSpPr>
        <p:spPr>
          <a:xfrm>
            <a:off x="8485632" y="388162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Bucketed, not raw</a:t>
            </a:r>
            <a:endParaRPr lang="en-US" sz="1050" dirty="0"/>
          </a:p>
        </p:txBody>
      </p:sp>
      <p:sp>
        <p:nvSpPr>
          <p:cNvPr id="22" name="Text 19"/>
          <p:cNvSpPr/>
          <p:nvPr/>
        </p:nvSpPr>
        <p:spPr>
          <a:xfrm>
            <a:off x="8485632" y="415594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probability_bucket rounds to 0.1 steps; a raw score plus a customer id together may be sensitive.</a:t>
            </a:r>
            <a:endParaRPr lang="en-US" sz="930" dirty="0"/>
          </a:p>
        </p:txBody>
      </p:sp>
      <p:sp>
        <p:nvSpPr>
          <p:cNvPr id="23" name="Shape 20"/>
          <p:cNvSpPr/>
          <p:nvPr/>
        </p:nvSpPr>
        <p:spPr>
          <a:xfrm>
            <a:off x="8321040" y="4944618"/>
            <a:ext cx="3364992" cy="1017270"/>
          </a:xfrm>
          <a:prstGeom prst="roundRect">
            <a:avLst>
              <a:gd name="adj" fmla="val 5393"/>
            </a:avLst>
          </a:prstGeom>
          <a:solidFill>
            <a:srgbClr val="EAF4DC"/>
          </a:solidFill>
          <a:ln/>
        </p:spPr>
      </p:sp>
      <p:sp>
        <p:nvSpPr>
          <p:cNvPr id="24" name="Text 21"/>
          <p:cNvSpPr/>
          <p:nvPr/>
        </p:nvSpPr>
        <p:spPr>
          <a:xfrm>
            <a:off x="8485632" y="5036058"/>
            <a:ext cx="3063240" cy="274320"/>
          </a:xfrm>
          <a:prstGeom prst="rect">
            <a:avLst/>
          </a:prstGeom>
          <a:noFill/>
          <a:ln/>
        </p:spPr>
        <p:txBody>
          <a:bodyPr wrap="square" rtlCol="0" anchor="ctr"/>
          <a:lstStyle/>
          <a:p>
            <a:pPr indent="0" marL="0">
              <a:buNone/>
            </a:pPr>
            <a:r>
              <a:rPr lang="en-US" sz="1050" b="1" dirty="0">
                <a:solidFill>
                  <a:srgbClr val="1D2A5C"/>
                </a:solidFill>
                <a:latin typeface="Calibri" pitchFamily="34" charset="0"/>
                <a:ea typeface="Calibri" pitchFamily="34" charset="-122"/>
                <a:cs typeface="Calibri" pitchFamily="34" charset="-120"/>
              </a:rPr>
              <a:t>Absent by design</a:t>
            </a:r>
            <a:endParaRPr lang="en-US" sz="1050" dirty="0"/>
          </a:p>
        </p:txBody>
      </p:sp>
      <p:sp>
        <p:nvSpPr>
          <p:cNvPr id="25" name="Text 22"/>
          <p:cNvSpPr/>
          <p:nvPr/>
        </p:nvSpPr>
        <p:spPr>
          <a:xfrm>
            <a:off x="8485632" y="5310378"/>
            <a:ext cx="3063240" cy="560070"/>
          </a:xfrm>
          <a:prstGeom prst="rect">
            <a:avLst/>
          </a:prstGeom>
          <a:noFill/>
          <a:ln/>
        </p:spPr>
        <p:txBody>
          <a:bodyPr wrap="square" rtlCol="0" anchor="t"/>
          <a:lstStyle/>
          <a:p>
            <a:pPr indent="0" marL="0">
              <a:buNone/>
            </a:pPr>
            <a:r>
              <a:rPr lang="en-US" sz="930" dirty="0">
                <a:solidFill>
                  <a:srgbClr val="5F6B7A"/>
                </a:solidFill>
                <a:latin typeface="Calibri" pitchFamily="34" charset="0"/>
                <a:ea typeface="Calibri" pitchFamily="34" charset="-122"/>
                <a:cs typeface="Calibri" pitchFamily="34" charset="-120"/>
              </a:rPr>
              <a:t>customer_id, amount and raw feature values are never logged — logs are personal-data processing under PDPL.</a:t>
            </a:r>
            <a:endParaRPr lang="en-US" sz="93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What to log — and what never to log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ماذا نسجل — وماذا لا نسجل أبدًا</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130</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ALWAYS-ON</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Correlation fields</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timestamp, level, event, trace_id, model_version, git_sha — on every single line.</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LOG</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Bucketed + operational</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decision, probability_bucket (0.1 steps), latency_ms, and the field NAMES that were rejected.</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NEVER</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PII &amp; secrets</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National IDs, card numbers, full request bodies, raw feature vectors, secrets. Under PDPL these are forbidden.</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LEVELS</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Alert on WARNING+</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If everything is INFO, nothing is monitorable. Levels carry intent, not volume.</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UTC</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Timezone-aware</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Log in UTC, render locally — incidents cross midnight and naive timestamps mislead.</a:t>
            </a:r>
            <a:endParaRPr lang="en-US" sz="980" dirty="0"/>
          </a:p>
        </p:txBody>
      </p:sp>
      <p:sp>
        <p:nvSpPr>
          <p:cNvPr id="33" name="Shape 30"/>
          <p:cNvSpPr/>
          <p:nvPr/>
        </p:nvSpPr>
        <p:spPr>
          <a:xfrm>
            <a:off x="8141208" y="4046220"/>
            <a:ext cx="3544824" cy="2272284"/>
          </a:xfrm>
          <a:prstGeom prst="roundRect">
            <a:avLst>
              <a:gd name="adj" fmla="val 2817"/>
            </a:avLst>
          </a:prstGeom>
          <a:solidFill>
            <a:srgbClr val="FFFFFF"/>
          </a:solidFill>
          <a:ln w="12700">
            <a:solidFill>
              <a:srgbClr val="D9E4F5"/>
            </a:solidFill>
            <a:prstDash val="solid"/>
          </a:ln>
        </p:spPr>
      </p:sp>
      <p:sp>
        <p:nvSpPr>
          <p:cNvPr id="34" name="Shape 31"/>
          <p:cNvSpPr/>
          <p:nvPr/>
        </p:nvSpPr>
        <p:spPr>
          <a:xfrm>
            <a:off x="8141208" y="4046220"/>
            <a:ext cx="82296" cy="2272284"/>
          </a:xfrm>
          <a:prstGeom prst="rect">
            <a:avLst/>
          </a:prstGeom>
          <a:solidFill>
            <a:srgbClr val="7B61A6"/>
          </a:solidFill>
          <a:ln/>
        </p:spPr>
      </p:sp>
      <p:sp>
        <p:nvSpPr>
          <p:cNvPr id="35" name="Text 32"/>
          <p:cNvSpPr/>
          <p:nvPr/>
        </p:nvSpPr>
        <p:spPr>
          <a:xfrm>
            <a:off x="8360664" y="4165092"/>
            <a:ext cx="3105912" cy="237744"/>
          </a:xfrm>
          <a:prstGeom prst="rect">
            <a:avLst/>
          </a:prstGeom>
          <a:noFill/>
          <a:ln/>
        </p:spPr>
        <p:txBody>
          <a:bodyPr wrap="square" rtlCol="0" anchor="ctr"/>
          <a:lstStyle/>
          <a:p>
            <a:pPr indent="0" marL="0">
              <a:buNone/>
            </a:pPr>
            <a:r>
              <a:rPr lang="en-US" sz="900" b="1" spc="200" kern="0" dirty="0">
                <a:solidFill>
                  <a:srgbClr val="7B61A6"/>
                </a:solidFill>
                <a:latin typeface="Calibri" pitchFamily="34" charset="0"/>
                <a:ea typeface="Calibri" pitchFamily="34" charset="-122"/>
                <a:cs typeface="Calibri" pitchFamily="34" charset="-120"/>
              </a:rPr>
              <a:t>COST</a:t>
            </a:r>
            <a:endParaRPr lang="en-US" sz="900" dirty="0"/>
          </a:p>
        </p:txBody>
      </p:sp>
      <p:sp>
        <p:nvSpPr>
          <p:cNvPr id="36" name="Text 33"/>
          <p:cNvSpPr/>
          <p:nvPr/>
        </p:nvSpPr>
        <p:spPr>
          <a:xfrm>
            <a:off x="8360664"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Volume is money</a:t>
            </a:r>
            <a:endParaRPr lang="en-US" sz="1250" dirty="0"/>
          </a:p>
        </p:txBody>
      </p:sp>
      <p:sp>
        <p:nvSpPr>
          <p:cNvPr id="37" name="Text 34"/>
          <p:cNvSpPr/>
          <p:nvPr/>
        </p:nvSpPr>
        <p:spPr>
          <a:xfrm>
            <a:off x="8360664"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Sample DEBUG/INFO under load; DEBUG left on in 'prod' was a 40x flood in the log-volume sim.</a:t>
            </a:r>
            <a:endParaRPr lang="en-US" sz="98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Lab 6 — Harden Config, Secrets &amp; Logs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المعمل 6 — تحصين الإعداد والأسرار والسجلات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131</a:t>
            </a:r>
            <a:endParaRPr lang="en-US" sz="850" dirty="0"/>
          </a:p>
        </p:txBody>
      </p:sp>
      <p:sp>
        <p:nvSpPr>
          <p:cNvPr id="8" name="Text 5"/>
          <p:cNvSpPr/>
          <p:nvPr/>
        </p:nvSpPr>
        <p:spPr>
          <a:xfrm>
            <a:off x="502920" y="1481328"/>
            <a:ext cx="1188720" cy="310896"/>
          </a:xfrm>
          <a:prstGeom prst="roundRect">
            <a:avLst>
              <a:gd name="adj" fmla="val 17647"/>
            </a:avLst>
          </a:prstGeom>
          <a:solidFill>
            <a:srgbClr val="F58220"/>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LAB 6</a:t>
            </a:r>
            <a:endParaRPr lang="en-US" sz="1100" dirty="0"/>
          </a:p>
        </p:txBody>
      </p:sp>
      <p:sp>
        <p:nvSpPr>
          <p:cNvPr id="9" name="Text 6"/>
          <p:cNvSpPr/>
          <p:nvPr/>
        </p:nvSpPr>
        <p:spPr>
          <a:xfrm>
            <a:off x="1874520" y="1481328"/>
            <a:ext cx="5943600" cy="310896"/>
          </a:xfrm>
          <a:prstGeom prst="rect">
            <a:avLst/>
          </a:prstGeom>
          <a:noFill/>
          <a:ln/>
        </p:spPr>
        <p:txBody>
          <a:bodyPr wrap="square" rtlCol="0" anchor="ctr"/>
          <a:lstStyle/>
          <a:p>
            <a:pPr indent="0" marL="0">
              <a:buNone/>
            </a:pPr>
            <a:r>
              <a:rPr lang="en-US" sz="1050" dirty="0">
                <a:solidFill>
                  <a:srgbClr val="5F6B7A"/>
                </a:solidFill>
                <a:latin typeface="Calibri" pitchFamily="34" charset="0"/>
                <a:ea typeface="Calibri" pitchFamily="34" charset="-122"/>
                <a:cs typeface="Calibri" pitchFamily="34" charset="-120"/>
              </a:rPr>
              <a:t>⏱ 35 min</a:t>
            </a:r>
            <a:pPr indent="0" marL="0">
              <a:buNone/>
            </a:pPr>
            <a:r>
              <a:rPr lang="en-US" sz="1050" dirty="0">
                <a:solidFill>
                  <a:srgbClr val="5F6B7A"/>
                </a:solidFill>
                <a:latin typeface="Calibri" pitchFamily="34" charset="0"/>
                <a:ea typeface="Calibri" pitchFamily="34" charset="-122"/>
                <a:cs typeface="Calibri" pitchFamily="34" charset="-120"/>
              </a:rPr>
              <a:t>     Pairs</a:t>
            </a:r>
            <a:pPr indent="0" marL="0">
              <a:buNone/>
            </a:pPr>
            <a:r>
              <a:rPr lang="en-US" sz="1050" dirty="0">
                <a:solidFill>
                  <a:srgbClr val="5F6B7A"/>
                </a:solidFill>
                <a:latin typeface="Calibri" pitchFamily="34" charset="0"/>
                <a:ea typeface="Calibri" pitchFamily="34" charset="-122"/>
                <a:cs typeface="Calibri" pitchFamily="34" charset="-120"/>
              </a:rPr>
              <a:t>     Difficulty: </a:t>
            </a:r>
            <a:pPr indent="0" marL="0">
              <a:buNone/>
            </a:pPr>
            <a:r>
              <a:rPr lang="en-US" sz="1050" dirty="0">
                <a:solidFill>
                  <a:srgbClr val="F58220"/>
                </a:solidFill>
                <a:latin typeface="Calibri" pitchFamily="34" charset="0"/>
                <a:ea typeface="Calibri" pitchFamily="34" charset="-122"/>
                <a:cs typeface="Calibri" pitchFamily="34" charset="-120"/>
              </a:rPr>
              <a:t>●●○</a:t>
            </a:r>
            <a:endParaRPr lang="en-US" sz="1050" dirty="0"/>
          </a:p>
        </p:txBody>
      </p:sp>
      <p:sp>
        <p:nvSpPr>
          <p:cNvPr id="10" name="Text 7"/>
          <p:cNvSpPr/>
          <p:nvPr/>
        </p:nvSpPr>
        <p:spPr>
          <a:xfrm>
            <a:off x="502920" y="2029968"/>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914400" y="2011680"/>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Typed Settings  </a:t>
            </a:r>
            <a:pPr indent="0" marL="0">
              <a:buNone/>
            </a:pPr>
            <a:r>
              <a:rPr lang="en-US" sz="1000" dirty="0">
                <a:solidFill>
                  <a:srgbClr val="5F6B7A"/>
                </a:solidFill>
                <a:latin typeface="Calibri" pitchFamily="34" charset="0"/>
                <a:ea typeface="Calibri" pitchFamily="34" charset="-122"/>
                <a:cs typeface="Calibri" pitchFamily="34" charset="-120"/>
              </a:rPr>
              <a:t>Implement Settings with validators; wire into lifespan; delete 3 planted os.environ reads (grep -rn os.environ src/)</a:t>
            </a:r>
            <a:endParaRPr lang="en-US" sz="1050" dirty="0"/>
          </a:p>
        </p:txBody>
      </p:sp>
      <p:sp>
        <p:nvSpPr>
          <p:cNvPr id="12" name="Text 9"/>
          <p:cNvSpPr/>
          <p:nvPr/>
        </p:nvSpPr>
        <p:spPr>
          <a:xfrm>
            <a:off x="502920" y="2871216"/>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0"/>
          <p:cNvSpPr/>
          <p:nvPr/>
        </p:nvSpPr>
        <p:spPr>
          <a:xfrm>
            <a:off x="914400" y="2852928"/>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Fail-fast demo  </a:t>
            </a:r>
            <a:pPr indent="0" marL="0">
              <a:buNone/>
            </a:pPr>
            <a:r>
              <a:rPr lang="en-US" sz="1000" dirty="0">
                <a:solidFill>
                  <a:srgbClr val="5F6B7A"/>
                </a:solidFill>
                <a:latin typeface="Calibri" pitchFamily="34" charset="0"/>
                <a:ea typeface="Calibri" pitchFamily="34" charset="-122"/>
                <a:cs typeface="Calibri" pitchFamily="34" charset="-120"/>
              </a:rPr>
              <a:t>FRAUD_MODEL_PATH=/nope docker compose up → capture the crisp startup error vs the old first-request 500</a:t>
            </a:r>
            <a:endParaRPr lang="en-US" sz="1050" dirty="0"/>
          </a:p>
        </p:txBody>
      </p:sp>
      <p:sp>
        <p:nvSpPr>
          <p:cNvPr id="14" name="Text 11"/>
          <p:cNvSpPr/>
          <p:nvPr/>
        </p:nvSpPr>
        <p:spPr>
          <a:xfrm>
            <a:off x="502920" y="3712464"/>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5" name="Text 12"/>
          <p:cNvSpPr/>
          <p:nvPr/>
        </p:nvSpPr>
        <p:spPr>
          <a:xfrm>
            <a:off x="914400" y="3694176"/>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Correlated JSON logs  </a:t>
            </a:r>
            <a:pPr indent="0" marL="0">
              <a:buNone/>
            </a:pPr>
            <a:r>
              <a:rPr lang="en-US" sz="1000" dirty="0">
                <a:solidFill>
                  <a:srgbClr val="5F6B7A"/>
                </a:solidFill>
                <a:latin typeface="Calibri" pitchFamily="34" charset="0"/>
                <a:ea typeface="Calibri" pitchFamily="34" charset="-122"/>
                <a:cs typeface="Calibri" pitchFamily="34" charset="-120"/>
              </a:rPr>
              <a:t>Wire logging_setup + middleware + prediction_served; jq the latency_ms to compute p50 from logs alone</a:t>
            </a:r>
            <a:endParaRPr lang="en-US" sz="1050" dirty="0"/>
          </a:p>
        </p:txBody>
      </p:sp>
      <p:sp>
        <p:nvSpPr>
          <p:cNvPr id="16" name="Text 13"/>
          <p:cNvSpPr/>
          <p:nvPr/>
        </p:nvSpPr>
        <p:spPr>
          <a:xfrm>
            <a:off x="502920" y="4553712"/>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4"/>
          <p:cNvSpPr/>
          <p:nvPr/>
        </p:nvSpPr>
        <p:spPr>
          <a:xfrm>
            <a:off x="914400" y="4535424"/>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Secret drill  </a:t>
            </a:r>
            <a:pPr indent="0" marL="0">
              <a:buNone/>
            </a:pPr>
            <a:r>
              <a:rPr lang="en-US" sz="1000" dirty="0">
                <a:solidFill>
                  <a:srgbClr val="5F6B7A"/>
                </a:solidFill>
                <a:latin typeface="Calibri" pitchFamily="34" charset="0"/>
                <a:ea typeface="Calibri" pitchFamily="34" charset="-122"/>
                <a:cs typeface="Calibri" pitchFamily="34" charset="-120"/>
              </a:rPr>
              <a:t>gitleaks detect the committed ghp_XXXX token; write INCIDENT.md (rotate first, then clean history); fix via env</a:t>
            </a:r>
            <a:endParaRPr lang="en-US" sz="1050" dirty="0"/>
          </a:p>
        </p:txBody>
      </p:sp>
      <p:sp>
        <p:nvSpPr>
          <p:cNvPr id="18" name="Text 15"/>
          <p:cNvSpPr/>
          <p:nvPr/>
        </p:nvSpPr>
        <p:spPr>
          <a:xfrm>
            <a:off x="502920" y="5394960"/>
            <a:ext cx="274320" cy="274320"/>
          </a:xfrm>
          <a:prstGeom prst="ellipse">
            <a:avLst/>
          </a:prstGeom>
          <a:solidFill>
            <a:srgbClr val="1D2A5C"/>
          </a:solid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9" name="Text 16"/>
          <p:cNvSpPr/>
          <p:nvPr/>
        </p:nvSpPr>
        <p:spPr>
          <a:xfrm>
            <a:off x="914400" y="5376672"/>
            <a:ext cx="6035040" cy="841248"/>
          </a:xfrm>
          <a:prstGeom prst="rect">
            <a:avLst/>
          </a:prstGeom>
          <a:noFill/>
          <a:ln/>
        </p:spPr>
        <p:txBody>
          <a:bodyPr wrap="square" rtlCol="0" anchor="t"/>
          <a:lstStyle/>
          <a:p>
            <a:pPr indent="0" marL="0">
              <a:buNone/>
            </a:pPr>
            <a:r>
              <a:rPr lang="en-US" sz="1050" b="1" dirty="0">
                <a:solidFill>
                  <a:srgbClr val="23293B"/>
                </a:solidFill>
                <a:latin typeface="Calibri" pitchFamily="34" charset="0"/>
                <a:ea typeface="Calibri" pitchFamily="34" charset="-122"/>
                <a:cs typeface="Calibri" pitchFamily="34" charset="-120"/>
              </a:rPr>
              <a:t>Confirm masking  </a:t>
            </a:r>
            <a:pPr indent="0" marL="0">
              <a:buNone/>
            </a:pPr>
            <a:r>
              <a:rPr lang="en-US" sz="1000" dirty="0">
                <a:solidFill>
                  <a:srgbClr val="5F6B7A"/>
                </a:solidFill>
                <a:latin typeface="Calibri" pitchFamily="34" charset="0"/>
                <a:ea typeface="Calibri" pitchFamily="34" charset="-122"/>
                <a:cs typeface="Calibri" pitchFamily="34" charset="-120"/>
              </a:rPr>
              <a:t>Log the token intentionally → verify ***MASKED*** in output; remove the line; commit</a:t>
            </a:r>
            <a:endParaRPr lang="en-US" sz="1050" dirty="0"/>
          </a:p>
        </p:txBody>
      </p:sp>
      <p:sp>
        <p:nvSpPr>
          <p:cNvPr id="20" name="Shape 17"/>
          <p:cNvSpPr/>
          <p:nvPr/>
        </p:nvSpPr>
        <p:spPr>
          <a:xfrm>
            <a:off x="7269480" y="2011680"/>
            <a:ext cx="4416552" cy="1417320"/>
          </a:xfrm>
          <a:prstGeom prst="roundRect">
            <a:avLst>
              <a:gd name="adj" fmla="val 4516"/>
            </a:avLst>
          </a:prstGeom>
          <a:solidFill>
            <a:srgbClr val="D4F1EE"/>
          </a:solidFill>
          <a:ln/>
        </p:spPr>
      </p:sp>
      <p:sp>
        <p:nvSpPr>
          <p:cNvPr id="21" name="Text 18"/>
          <p:cNvSpPr/>
          <p:nvPr/>
        </p:nvSpPr>
        <p:spPr>
          <a:xfrm>
            <a:off x="7452360" y="2139696"/>
            <a:ext cx="4050792" cy="237744"/>
          </a:xfrm>
          <a:prstGeom prst="rect">
            <a:avLst/>
          </a:prstGeom>
          <a:noFill/>
          <a:ln/>
        </p:spPr>
        <p:txBody>
          <a:bodyPr wrap="square" rtlCol="0" anchor="ctr"/>
          <a:lstStyle/>
          <a:p>
            <a:pPr indent="0" marL="0">
              <a:buNone/>
            </a:pPr>
            <a:r>
              <a:rPr lang="en-US" sz="900" b="1" spc="200" kern="0" dirty="0">
                <a:solidFill>
                  <a:srgbClr val="056A63"/>
                </a:solidFill>
                <a:latin typeface="Calibri" pitchFamily="34" charset="0"/>
                <a:ea typeface="Calibri" pitchFamily="34" charset="-122"/>
                <a:cs typeface="Calibri" pitchFamily="34" charset="-120"/>
              </a:rPr>
              <a:t>DELIVERABLE</a:t>
            </a:r>
            <a:endParaRPr lang="en-US" sz="900" dirty="0"/>
          </a:p>
        </p:txBody>
      </p:sp>
      <p:sp>
        <p:nvSpPr>
          <p:cNvPr id="22" name="Text 19"/>
          <p:cNvSpPr/>
          <p:nvPr/>
        </p:nvSpPr>
        <p:spPr>
          <a:xfrm>
            <a:off x="7452360" y="2395728"/>
            <a:ext cx="4050792" cy="960120"/>
          </a:xfrm>
          <a:prstGeom prst="rect">
            <a:avLst/>
          </a:prstGeom>
          <a:noFill/>
          <a:ln/>
        </p:spPr>
        <p:txBody>
          <a:bodyPr wrap="square" rtlCol="0" anchor="t"/>
          <a:lstStyle/>
          <a:p>
            <a:pPr indent="0" marL="0">
              <a:buNone/>
            </a:pPr>
            <a:r>
              <a:rPr lang="en-US" sz="1030" dirty="0">
                <a:solidFill>
                  <a:srgbClr val="056A63"/>
                </a:solidFill>
                <a:latin typeface="Calibri" pitchFamily="34" charset="0"/>
                <a:ea typeface="Calibri" pitchFamily="34" charset="-122"/>
                <a:cs typeface="Calibri" pitchFamily="34" charset="-120"/>
              </a:rPr>
              <a:t>Typed Settings wired in; fail-fast proven; JSON logs yielding p50 via jq; gitleaks clean; INCIDENT.md written; masking confirmed.</a:t>
            </a:r>
            <a:endParaRPr lang="en-US" sz="1030" dirty="0"/>
          </a:p>
        </p:txBody>
      </p:sp>
      <p:sp>
        <p:nvSpPr>
          <p:cNvPr id="23" name="Shape 20"/>
          <p:cNvSpPr/>
          <p:nvPr/>
        </p:nvSpPr>
        <p:spPr>
          <a:xfrm>
            <a:off x="7269480" y="3611880"/>
            <a:ext cx="4416552" cy="1371600"/>
          </a:xfrm>
          <a:prstGeom prst="roundRect">
            <a:avLst>
              <a:gd name="adj" fmla="val 4667"/>
            </a:avLst>
          </a:prstGeom>
          <a:solidFill>
            <a:srgbClr val="EEF3FB"/>
          </a:solidFill>
          <a:ln w="9525">
            <a:solidFill>
              <a:srgbClr val="D9E4F5"/>
            </a:solidFill>
            <a:prstDash val="solid"/>
          </a:ln>
        </p:spPr>
      </p:sp>
      <p:sp>
        <p:nvSpPr>
          <p:cNvPr id="24" name="Text 21"/>
          <p:cNvSpPr/>
          <p:nvPr/>
        </p:nvSpPr>
        <p:spPr>
          <a:xfrm>
            <a:off x="7452360" y="3730752"/>
            <a:ext cx="4050792" cy="237744"/>
          </a:xfrm>
          <a:prstGeom prst="rect">
            <a:avLst/>
          </a:prstGeom>
          <a:noFill/>
          <a:ln/>
        </p:spPr>
        <p:txBody>
          <a:bodyPr wrap="square" rtlCol="0" anchor="ctr"/>
          <a:lstStyle/>
          <a:p>
            <a:pPr indent="0" marL="0">
              <a:buNone/>
            </a:pPr>
            <a:r>
              <a:rPr lang="en-US" sz="900" b="1" spc="100" kern="0" dirty="0">
                <a:solidFill>
                  <a:srgbClr val="1D2A5C"/>
                </a:solidFill>
                <a:latin typeface="Calibri" pitchFamily="34" charset="0"/>
                <a:ea typeface="Calibri" pitchFamily="34" charset="-122"/>
                <a:cs typeface="Calibri" pitchFamily="34" charset="-120"/>
              </a:rPr>
              <a:t>CHECKPOINT — how you know it worked</a:t>
            </a:r>
            <a:endParaRPr lang="en-US" sz="900" dirty="0"/>
          </a:p>
        </p:txBody>
      </p:sp>
      <p:sp>
        <p:nvSpPr>
          <p:cNvPr id="25" name="Text 22"/>
          <p:cNvSpPr/>
          <p:nvPr/>
        </p:nvSpPr>
        <p:spPr>
          <a:xfrm>
            <a:off x="7452360" y="3986784"/>
            <a:ext cx="4050792" cy="914400"/>
          </a:xfrm>
          <a:prstGeom prst="rect">
            <a:avLst/>
          </a:prstGeom>
          <a:noFill/>
          <a:ln/>
        </p:spPr>
        <p:txBody>
          <a:bodyPr wrap="square" rtlCol="0" anchor="t"/>
          <a:lstStyle/>
          <a:p>
            <a:pPr indent="0" marL="0">
              <a:buNone/>
            </a:pPr>
            <a:r>
              <a:rPr lang="en-US" sz="1000" dirty="0">
                <a:solidFill>
                  <a:srgbClr val="5F6B7A"/>
                </a:solidFill>
                <a:latin typeface="Calibri" pitchFamily="34" charset="0"/>
                <a:ea typeface="Calibri" pitchFamily="34" charset="-122"/>
                <a:cs typeface="Calibri" pitchFamily="34" charset="-120"/>
              </a:rPr>
              <a:t>git checkout lab6-start. Middleware order matters: trace → logging → routes, or trace_id is missing from the scoring event.</a:t>
            </a:r>
            <a:endParaRPr lang="en-US" sz="1000" dirty="0"/>
          </a:p>
        </p:txBody>
      </p:sp>
      <p:sp>
        <p:nvSpPr>
          <p:cNvPr id="26" name="Shape 23"/>
          <p:cNvSpPr/>
          <p:nvPr/>
        </p:nvSpPr>
        <p:spPr>
          <a:xfrm>
            <a:off x="7269480" y="5166360"/>
            <a:ext cx="4416552" cy="1051560"/>
          </a:xfrm>
          <a:prstGeom prst="roundRect">
            <a:avLst>
              <a:gd name="adj" fmla="val 6087"/>
            </a:avLst>
          </a:prstGeom>
          <a:solidFill>
            <a:srgbClr val="FDEBD7"/>
          </a:solidFill>
          <a:ln/>
        </p:spPr>
      </p:sp>
      <p:sp>
        <p:nvSpPr>
          <p:cNvPr id="27" name="Text 24"/>
          <p:cNvSpPr/>
          <p:nvPr/>
        </p:nvSpPr>
        <p:spPr>
          <a:xfrm>
            <a:off x="7452360" y="5230368"/>
            <a:ext cx="4050792" cy="914400"/>
          </a:xfrm>
          <a:prstGeom prst="rect">
            <a:avLst/>
          </a:prstGeom>
          <a:noFill/>
          <a:ln/>
        </p:spPr>
        <p:txBody>
          <a:bodyPr wrap="square" rtlCol="0" anchor="t"/>
          <a:lstStyle/>
          <a:p>
            <a:pPr indent="0" marL="0">
              <a:buNone/>
            </a:pPr>
            <a:r>
              <a:rPr lang="en-US" sz="850" b="1" dirty="0">
                <a:solidFill>
                  <a:srgbClr val="A6531C"/>
                </a:solidFill>
                <a:latin typeface="Calibri" pitchFamily="34" charset="0"/>
                <a:ea typeface="Calibri" pitchFamily="34" charset="-122"/>
                <a:cs typeface="Calibri" pitchFamily="34" charset="-120"/>
              </a:rPr>
              <a:t>INSTRUCTOR TIP  </a:t>
            </a:r>
            <a:pPr indent="0" marL="0">
              <a:buNone/>
            </a:pPr>
            <a:r>
              <a:rPr lang="en-US" sz="950" dirty="0">
                <a:solidFill>
                  <a:srgbClr val="A6531C"/>
                </a:solidFill>
                <a:latin typeface="Calibri" pitchFamily="34" charset="0"/>
                <a:ea typeface="Calibri" pitchFamily="34" charset="-122"/>
                <a:cs typeface="Calibri" pitchFamily="34" charset="-120"/>
              </a:rPr>
              <a:t>Do the fail-fast contrast and the jq-analytics moment on the projector even if pairs are ahead — they land hardest.</a:t>
            </a:r>
            <a:endParaRPr lang="en-US" sz="8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Mini exercises — Config, Secrets &amp; Logs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تمارين قصيرة — الإعداد والأسرار والسجلات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132</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Quiz warm-ups</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Precedence order of config sources and why env wins. What does SecretStr actually protect against? Name three fields that must never appear in logs. Why stdout-only in containers?</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Debugging exercise</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Branch sim-config-drift: staging mis-scores because FRAUD_BLOCK_THRESHOLD=0.65 sits in a forgotten compose override. Find it via docker compose config; add the startup guard.</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Code-review exercise</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 PR logs the full request body at INFO, reads os.environ['THRESHOLD'] inside the route, and prints the settings object. Three findings — articulate the PDPL angle.</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"Log or not?" card game</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Sort 14 candidate fields (raw score, bucketed score, national id, latency, full prompt text...) into log / mask / never, defended against PDPL and debugging needs.</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Case Study — LLM Gateway Key Leak</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 تسريب مفتاح بوابة LLM</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133</a:t>
            </a:r>
            <a:endParaRPr lang="en-US" sz="850" dirty="0"/>
          </a:p>
        </p:txBody>
      </p:sp>
      <p:sp>
        <p:nvSpPr>
          <p:cNvPr id="8" name="Text 5"/>
          <p:cNvSpPr/>
          <p:nvPr/>
        </p:nvSpPr>
        <p:spPr>
          <a:xfrm>
            <a:off x="502920" y="1444752"/>
            <a:ext cx="1554480" cy="310896"/>
          </a:xfrm>
          <a:prstGeom prst="roundRect">
            <a:avLst>
              <a:gd name="adj" fmla="val 17647"/>
            </a:avLst>
          </a:prstGeom>
          <a:solidFill>
            <a:srgbClr val="1D2A5C"/>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CASE STUDY</a:t>
            </a:r>
            <a:endParaRPr lang="en-US" sz="950" dirty="0"/>
          </a:p>
        </p:txBody>
      </p:sp>
      <p:sp>
        <p:nvSpPr>
          <p:cNvPr id="9" name="Text 6"/>
          <p:cNvSpPr/>
          <p:nvPr/>
        </p:nvSpPr>
        <p:spPr>
          <a:xfrm>
            <a:off x="2240280" y="1444752"/>
            <a:ext cx="2377440" cy="310896"/>
          </a:xfrm>
          <a:prstGeom prst="roundRect">
            <a:avLst>
              <a:gd name="adj" fmla="val 17647"/>
            </a:avLst>
          </a:prstGeom>
          <a:solidFill>
            <a:srgbClr val="EEF3FB"/>
          </a:solidFill>
          <a:ln w="12700">
            <a:solidFill>
              <a:srgbClr val="D9E4F5"/>
            </a:solidFill>
          </a:ln>
        </p:spPr>
        <p:txBody>
          <a:bodyPr wrap="square" rtlCol="0" anchor="ctr"/>
          <a:lstStyle/>
          <a:p>
            <a:pPr algn="ctr" indent="0" marL="0">
              <a:buNone/>
            </a:pPr>
            <a:r>
              <a:rPr lang="en-US" sz="950" b="1" dirty="0">
                <a:solidFill>
                  <a:srgbClr val="1D2A5C"/>
                </a:solidFill>
                <a:latin typeface="Calibri" pitchFamily="34" charset="0"/>
                <a:ea typeface="Calibri" pitchFamily="34" charset="-122"/>
                <a:cs typeface="Calibri" pitchFamily="34" charset="-120"/>
              </a:rPr>
              <a:t>LLM Gateway · Enterprise · KSA</a:t>
            </a:r>
            <a:endParaRPr lang="en-US" sz="950" dirty="0"/>
          </a:p>
        </p:txBody>
      </p:sp>
      <p:sp>
        <p:nvSpPr>
          <p:cNvPr id="10" name="Text 7"/>
          <p:cNvSpPr/>
          <p:nvPr/>
        </p:nvSpPr>
        <p:spPr>
          <a:xfrm>
            <a:off x="502920" y="1938528"/>
            <a:ext cx="6583680" cy="914400"/>
          </a:xfrm>
          <a:prstGeom prst="rect">
            <a:avLst/>
          </a:prstGeom>
          <a:noFill/>
          <a:ln/>
        </p:spPr>
        <p:txBody>
          <a:bodyPr wrap="square" rtlCol="0" anchor="t"/>
          <a:lstStyle/>
          <a:p>
            <a:pPr indent="0" marL="0">
              <a:buNone/>
            </a:pPr>
            <a:r>
              <a:rPr lang="en-US" sz="1100" dirty="0">
                <a:solidFill>
                  <a:srgbClr val="23293B"/>
                </a:solidFill>
                <a:latin typeface="Calibri" pitchFamily="34" charset="0"/>
                <a:ea typeface="Calibri" pitchFamily="34" charset="-122"/>
                <a:cs typeface="Calibri" pitchFamily="34" charset="-120"/>
              </a:rPr>
              <a:t>An internal LLM gateway commits its provider API key to a private repo. Months later the repo is open-sourced — a secrets sweep missed git history. The key is scraped within hours; six figures of fraud accrue over a weekend.</a:t>
            </a:r>
            <a:endParaRPr lang="en-US" sz="1100" dirty="0"/>
          </a:p>
        </p:txBody>
      </p:sp>
      <p:sp>
        <p:nvSpPr>
          <p:cNvPr id="11" name="Shape 8"/>
          <p:cNvSpPr/>
          <p:nvPr/>
        </p:nvSpPr>
        <p:spPr>
          <a:xfrm>
            <a:off x="566928" y="3026664"/>
            <a:ext cx="182880" cy="182880"/>
          </a:xfrm>
          <a:prstGeom prst="ellipse">
            <a:avLst/>
          </a:prstGeom>
          <a:solidFill>
            <a:srgbClr val="00A79D"/>
          </a:solidFill>
          <a:ln/>
        </p:spPr>
      </p:sp>
      <p:sp>
        <p:nvSpPr>
          <p:cNvPr id="12" name="Shape 9"/>
          <p:cNvSpPr/>
          <p:nvPr/>
        </p:nvSpPr>
        <p:spPr>
          <a:xfrm>
            <a:off x="658368" y="3227832"/>
            <a:ext cx="0" cy="438912"/>
          </a:xfrm>
          <a:prstGeom prst="line">
            <a:avLst/>
          </a:prstGeom>
          <a:noFill/>
          <a:ln w="19050">
            <a:solidFill>
              <a:srgbClr val="D9E4F5"/>
            </a:solidFill>
            <a:prstDash val="solid"/>
          </a:ln>
        </p:spPr>
      </p:sp>
      <p:sp>
        <p:nvSpPr>
          <p:cNvPr id="13" name="Text 10"/>
          <p:cNvSpPr/>
          <p:nvPr/>
        </p:nvSpPr>
        <p:spPr>
          <a:xfrm>
            <a:off x="960120" y="2953512"/>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Key committed  </a:t>
            </a:r>
            <a:pPr indent="0" marL="0">
              <a:buNone/>
            </a:pPr>
            <a:r>
              <a:rPr lang="en-US" sz="1000" dirty="0">
                <a:solidFill>
                  <a:srgbClr val="5F6B7A"/>
                </a:solidFill>
                <a:latin typeface="Calibri" pitchFamily="34" charset="0"/>
                <a:ea typeface="Calibri" pitchFamily="34" charset="-122"/>
                <a:cs typeface="Calibri" pitchFamily="34" charset="-120"/>
              </a:rPr>
              <a:t>A provider API key lands in a private repo — "just for now"</a:t>
            </a:r>
            <a:endParaRPr lang="en-US" sz="1050" dirty="0"/>
          </a:p>
        </p:txBody>
      </p:sp>
      <p:sp>
        <p:nvSpPr>
          <p:cNvPr id="14" name="Shape 11"/>
          <p:cNvSpPr/>
          <p:nvPr/>
        </p:nvSpPr>
        <p:spPr>
          <a:xfrm>
            <a:off x="566928" y="3685032"/>
            <a:ext cx="182880" cy="182880"/>
          </a:xfrm>
          <a:prstGeom prst="ellipse">
            <a:avLst/>
          </a:prstGeom>
          <a:solidFill>
            <a:srgbClr val="29ABE2"/>
          </a:solidFill>
          <a:ln/>
        </p:spPr>
      </p:sp>
      <p:sp>
        <p:nvSpPr>
          <p:cNvPr id="15" name="Shape 12"/>
          <p:cNvSpPr/>
          <p:nvPr/>
        </p:nvSpPr>
        <p:spPr>
          <a:xfrm>
            <a:off x="658368" y="3886200"/>
            <a:ext cx="0" cy="438912"/>
          </a:xfrm>
          <a:prstGeom prst="line">
            <a:avLst/>
          </a:prstGeom>
          <a:noFill/>
          <a:ln w="19050">
            <a:solidFill>
              <a:srgbClr val="D9E4F5"/>
            </a:solidFill>
            <a:prstDash val="solid"/>
          </a:ln>
        </p:spPr>
      </p:sp>
      <p:sp>
        <p:nvSpPr>
          <p:cNvPr id="16" name="Text 13"/>
          <p:cNvSpPr/>
          <p:nvPr/>
        </p:nvSpPr>
        <p:spPr>
          <a:xfrm>
            <a:off x="960120" y="3611880"/>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Repo open-sourced  </a:t>
            </a:r>
            <a:pPr indent="0" marL="0">
              <a:buNone/>
            </a:pPr>
            <a:r>
              <a:rPr lang="en-US" sz="1000" dirty="0">
                <a:solidFill>
                  <a:srgbClr val="5F6B7A"/>
                </a:solidFill>
                <a:latin typeface="Calibri" pitchFamily="34" charset="0"/>
                <a:ea typeface="Calibri" pitchFamily="34" charset="-122"/>
                <a:cs typeface="Calibri" pitchFamily="34" charset="-120"/>
              </a:rPr>
              <a:t>A secrets sweep misses git history eight months later</a:t>
            </a:r>
            <a:endParaRPr lang="en-US" sz="1050" dirty="0"/>
          </a:p>
        </p:txBody>
      </p:sp>
      <p:sp>
        <p:nvSpPr>
          <p:cNvPr id="17" name="Shape 14"/>
          <p:cNvSpPr/>
          <p:nvPr/>
        </p:nvSpPr>
        <p:spPr>
          <a:xfrm>
            <a:off x="566928" y="4343400"/>
            <a:ext cx="182880" cy="182880"/>
          </a:xfrm>
          <a:prstGeom prst="ellipse">
            <a:avLst/>
          </a:prstGeom>
          <a:solidFill>
            <a:srgbClr val="F58220"/>
          </a:solidFill>
          <a:ln/>
        </p:spPr>
      </p:sp>
      <p:sp>
        <p:nvSpPr>
          <p:cNvPr id="18" name="Shape 15"/>
          <p:cNvSpPr/>
          <p:nvPr/>
        </p:nvSpPr>
        <p:spPr>
          <a:xfrm>
            <a:off x="658368" y="4544568"/>
            <a:ext cx="0" cy="438912"/>
          </a:xfrm>
          <a:prstGeom prst="line">
            <a:avLst/>
          </a:prstGeom>
          <a:noFill/>
          <a:ln w="19050">
            <a:solidFill>
              <a:srgbClr val="D9E4F5"/>
            </a:solidFill>
            <a:prstDash val="solid"/>
          </a:ln>
        </p:spPr>
      </p:sp>
      <p:sp>
        <p:nvSpPr>
          <p:cNvPr id="19" name="Text 16"/>
          <p:cNvSpPr/>
          <p:nvPr/>
        </p:nvSpPr>
        <p:spPr>
          <a:xfrm>
            <a:off x="960120" y="4270248"/>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Scraped in hours  </a:t>
            </a:r>
            <a:pPr indent="0" marL="0">
              <a:buNone/>
            </a:pPr>
            <a:r>
              <a:rPr lang="en-US" sz="1000" dirty="0">
                <a:solidFill>
                  <a:srgbClr val="5F6B7A"/>
                </a:solidFill>
                <a:latin typeface="Calibri" pitchFamily="34" charset="0"/>
                <a:ea typeface="Calibri" pitchFamily="34" charset="-122"/>
                <a:cs typeface="Calibri" pitchFamily="34" charset="-120"/>
              </a:rPr>
              <a:t>Automated scanners find the key; fraudulent usage accrues over a weekend</a:t>
            </a:r>
            <a:endParaRPr lang="en-US" sz="1050" dirty="0"/>
          </a:p>
        </p:txBody>
      </p:sp>
      <p:sp>
        <p:nvSpPr>
          <p:cNvPr id="20" name="Shape 17"/>
          <p:cNvSpPr/>
          <p:nvPr/>
        </p:nvSpPr>
        <p:spPr>
          <a:xfrm>
            <a:off x="566928" y="5001768"/>
            <a:ext cx="182880" cy="182880"/>
          </a:xfrm>
          <a:prstGeom prst="ellipse">
            <a:avLst/>
          </a:prstGeom>
          <a:solidFill>
            <a:srgbClr val="8DC63F"/>
          </a:solidFill>
          <a:ln/>
        </p:spPr>
      </p:sp>
      <p:sp>
        <p:nvSpPr>
          <p:cNvPr id="21" name="Shape 18"/>
          <p:cNvSpPr/>
          <p:nvPr/>
        </p:nvSpPr>
        <p:spPr>
          <a:xfrm>
            <a:off x="658368" y="5202936"/>
            <a:ext cx="0" cy="438912"/>
          </a:xfrm>
          <a:prstGeom prst="line">
            <a:avLst/>
          </a:prstGeom>
          <a:noFill/>
          <a:ln w="19050">
            <a:solidFill>
              <a:srgbClr val="D9E4F5"/>
            </a:solidFill>
            <a:prstDash val="solid"/>
          </a:ln>
        </p:spPr>
      </p:sp>
      <p:sp>
        <p:nvSpPr>
          <p:cNvPr id="22" name="Text 19"/>
          <p:cNvSpPr/>
          <p:nvPr/>
        </p:nvSpPr>
        <p:spPr>
          <a:xfrm>
            <a:off x="960120" y="4928616"/>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Contain  </a:t>
            </a:r>
            <a:pPr indent="0" marL="0">
              <a:buNone/>
            </a:pPr>
            <a:r>
              <a:rPr lang="en-US" sz="1000" dirty="0">
                <a:solidFill>
                  <a:srgbClr val="5F6B7A"/>
                </a:solidFill>
                <a:latin typeface="Calibri" pitchFamily="34" charset="0"/>
                <a:ea typeface="Calibri" pitchFamily="34" charset="-122"/>
                <a:cs typeface="Calibri" pitchFamily="34" charset="-120"/>
              </a:rPr>
              <a:t>Rotate ALL provider keys (assume lateral discovery); enable spend limits + IP allowlists</a:t>
            </a:r>
            <a:endParaRPr lang="en-US" sz="1050" dirty="0"/>
          </a:p>
        </p:txBody>
      </p:sp>
      <p:sp>
        <p:nvSpPr>
          <p:cNvPr id="23" name="Shape 20"/>
          <p:cNvSpPr/>
          <p:nvPr/>
        </p:nvSpPr>
        <p:spPr>
          <a:xfrm>
            <a:off x="566928" y="5660136"/>
            <a:ext cx="182880" cy="182880"/>
          </a:xfrm>
          <a:prstGeom prst="ellipse">
            <a:avLst/>
          </a:prstGeom>
          <a:solidFill>
            <a:srgbClr val="E8503A"/>
          </a:solidFill>
          <a:ln/>
        </p:spPr>
      </p:sp>
      <p:sp>
        <p:nvSpPr>
          <p:cNvPr id="24" name="Text 21"/>
          <p:cNvSpPr/>
          <p:nvPr/>
        </p:nvSpPr>
        <p:spPr>
          <a:xfrm>
            <a:off x="960120" y="5586984"/>
            <a:ext cx="6126480" cy="658368"/>
          </a:xfrm>
          <a:prstGeom prst="rect">
            <a:avLst/>
          </a:prstGeom>
          <a:noFill/>
          <a:ln/>
        </p:spPr>
        <p:txBody>
          <a:bodyPr wrap="square" rtlCol="0" anchor="t"/>
          <a:lstStyle/>
          <a:p>
            <a:pPr indent="0" marL="0">
              <a:buNone/>
            </a:pPr>
            <a:r>
              <a:rPr lang="en-US" sz="1050" b="1" dirty="0">
                <a:solidFill>
                  <a:srgbClr val="1D2A5C"/>
                </a:solidFill>
                <a:latin typeface="Calibri" pitchFamily="34" charset="0"/>
                <a:ea typeface="Calibri" pitchFamily="34" charset="-122"/>
                <a:cs typeface="Calibri" pitchFamily="34" charset="-120"/>
              </a:rPr>
              <a:t>Re-architect  </a:t>
            </a:r>
            <a:pPr indent="0" marL="0">
              <a:buNone/>
            </a:pPr>
            <a:r>
              <a:rPr lang="en-US" sz="1000" dirty="0">
                <a:solidFill>
                  <a:srgbClr val="5F6B7A"/>
                </a:solidFill>
                <a:latin typeface="Calibri" pitchFamily="34" charset="0"/>
                <a:ea typeface="Calibri" pitchFamily="34" charset="-122"/>
                <a:cs typeface="Calibri" pitchFamily="34" charset="-120"/>
              </a:rPr>
              <a:t>Secrets to platform store; SecretStr + masking; gitleaks required check + org push protection</a:t>
            </a:r>
            <a:endParaRPr lang="en-US" sz="1050" dirty="0"/>
          </a:p>
        </p:txBody>
      </p:sp>
      <p:sp>
        <p:nvSpPr>
          <p:cNvPr id="25" name="Shape 22"/>
          <p:cNvSpPr/>
          <p:nvPr/>
        </p:nvSpPr>
        <p:spPr>
          <a:xfrm>
            <a:off x="7406640" y="1938528"/>
            <a:ext cx="4279392" cy="4160520"/>
          </a:xfrm>
          <a:prstGeom prst="roundRect">
            <a:avLst>
              <a:gd name="adj" fmla="val 1538"/>
            </a:avLst>
          </a:prstGeom>
          <a:solidFill>
            <a:srgbClr val="EAF4DC"/>
          </a:solidFill>
          <a:ln/>
        </p:spPr>
      </p:sp>
      <p:sp>
        <p:nvSpPr>
          <p:cNvPr id="26" name="Text 23"/>
          <p:cNvSpPr/>
          <p:nvPr/>
        </p:nvSpPr>
        <p:spPr>
          <a:xfrm>
            <a:off x="7607808" y="2103120"/>
            <a:ext cx="3877056" cy="256032"/>
          </a:xfrm>
          <a:prstGeom prst="rect">
            <a:avLst/>
          </a:prstGeom>
          <a:noFill/>
          <a:ln/>
        </p:spPr>
        <p:txBody>
          <a:bodyPr wrap="square" rtlCol="0" anchor="ctr"/>
          <a:lstStyle/>
          <a:p>
            <a:pPr indent="0" marL="0">
              <a:buNone/>
            </a:pPr>
            <a:r>
              <a:rPr lang="en-US" sz="950" b="1" spc="150" kern="0" dirty="0">
                <a:solidFill>
                  <a:srgbClr val="4A7A15"/>
                </a:solidFill>
                <a:latin typeface="Calibri" pitchFamily="34" charset="0"/>
                <a:ea typeface="Calibri" pitchFamily="34" charset="-122"/>
                <a:cs typeface="Calibri" pitchFamily="34" charset="-120"/>
              </a:rPr>
              <a:t>LESSONS FOR YOUR SERVICE</a:t>
            </a:r>
            <a:endParaRPr lang="en-US" sz="950" dirty="0"/>
          </a:p>
        </p:txBody>
      </p:sp>
      <p:sp>
        <p:nvSpPr>
          <p:cNvPr id="27" name="Text 24"/>
          <p:cNvSpPr/>
          <p:nvPr/>
        </p:nvSpPr>
        <p:spPr>
          <a:xfrm>
            <a:off x="7607808" y="248716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7909560" y="246888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Rotate ALL keys, not just the leaked one — assume lateral discovery</a:t>
            </a:r>
            <a:endParaRPr lang="en-US" sz="1000" dirty="0"/>
          </a:p>
        </p:txBody>
      </p:sp>
      <p:sp>
        <p:nvSpPr>
          <p:cNvPr id="29" name="Text 26"/>
          <p:cNvSpPr/>
          <p:nvPr/>
        </p:nvSpPr>
        <p:spPr>
          <a:xfrm>
            <a:off x="7607808" y="335584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7909560" y="333756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Masking was the one control that held: logs confirmed keys never entered them</a:t>
            </a:r>
            <a:endParaRPr lang="en-US" sz="1000" dirty="0"/>
          </a:p>
        </p:txBody>
      </p:sp>
      <p:sp>
        <p:nvSpPr>
          <p:cNvPr id="31" name="Text 28"/>
          <p:cNvSpPr/>
          <p:nvPr/>
        </p:nvSpPr>
        <p:spPr>
          <a:xfrm>
            <a:off x="7607808" y="422452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7909560" y="420624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gitleaks + org push protection makes this CLASS of incident impossible, not just this instance</a:t>
            </a:r>
            <a:endParaRPr lang="en-US" sz="1000" dirty="0"/>
          </a:p>
        </p:txBody>
      </p:sp>
      <p:sp>
        <p:nvSpPr>
          <p:cNvPr id="33" name="Text 30"/>
          <p:cNvSpPr/>
          <p:nvPr/>
        </p:nvSpPr>
        <p:spPr>
          <a:xfrm>
            <a:off x="7607808" y="5093208"/>
            <a:ext cx="256032" cy="256032"/>
          </a:xfrm>
          <a:prstGeom prst="rect">
            <a:avLst/>
          </a:prstGeom>
          <a:noFill/>
          <a:ln/>
        </p:spPr>
        <p:txBody>
          <a:bodyPr wrap="square" rtlCol="0" anchor="ctr"/>
          <a:lstStyle/>
          <a:p>
            <a:pPr indent="0" marL="0">
              <a:buNone/>
            </a:pPr>
            <a:r>
              <a:rPr lang="en-US" sz="1100" b="1" dirty="0">
                <a:solidFill>
                  <a:srgbClr val="5A8F1F"/>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7909560" y="5074920"/>
            <a:ext cx="3547872" cy="868680"/>
          </a:xfrm>
          <a:prstGeom prst="rect">
            <a:avLst/>
          </a:prstGeom>
          <a:noFill/>
          <a:ln/>
        </p:spPr>
        <p:txBody>
          <a:bodyPr wrap="square" rtlCol="0" anchor="t"/>
          <a:lstStyle/>
          <a:p>
            <a:pPr indent="0" marL="0">
              <a:buNone/>
            </a:pPr>
            <a:r>
              <a:rPr lang="en-US" sz="1000" dirty="0">
                <a:solidFill>
                  <a:srgbClr val="3F5A18"/>
                </a:solidFill>
                <a:latin typeface="Calibri" pitchFamily="34" charset="0"/>
                <a:ea typeface="Calibri" pitchFamily="34" charset="-122"/>
                <a:cs typeface="Calibri" pitchFamily="34" charset="-120"/>
              </a:rPr>
              <a:t>Client-side controls still matter even with provider spend limits and allowlists</a:t>
            </a:r>
            <a:endParaRPr lang="en-US" sz="10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Quick check — Module 6</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فحص سريع — الوحدة 6</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134</a:t>
            </a:r>
            <a:endParaRPr lang="en-US" sz="850" dirty="0"/>
          </a:p>
        </p:txBody>
      </p:sp>
      <p:sp>
        <p:nvSpPr>
          <p:cNvPr id="8" name="Text 5"/>
          <p:cNvSpPr/>
          <p:nvPr/>
        </p:nvSpPr>
        <p:spPr>
          <a:xfrm>
            <a:off x="502920" y="1444752"/>
            <a:ext cx="1920240" cy="310896"/>
          </a:xfrm>
          <a:prstGeom prst="roundRect">
            <a:avLst>
              <a:gd name="adj" fmla="val 17647"/>
            </a:avLst>
          </a:prstGeom>
          <a:solidFill>
            <a:srgbClr val="7B61A6"/>
          </a:solid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KNOWLEDGE CHECK</a:t>
            </a:r>
            <a:endParaRPr lang="en-US" sz="950" dirty="0"/>
          </a:p>
        </p:txBody>
      </p:sp>
      <p:sp>
        <p:nvSpPr>
          <p:cNvPr id="9" name="Text 6"/>
          <p:cNvSpPr/>
          <p:nvPr/>
        </p:nvSpPr>
        <p:spPr>
          <a:xfrm>
            <a:off x="502920"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Q1. A secret was committed and force-push-removed from main. Is the incident over?</a:t>
            </a:r>
            <a:endParaRPr lang="en-US" sz="1200" dirty="0"/>
          </a:p>
        </p:txBody>
      </p:sp>
      <p:sp>
        <p:nvSpPr>
          <p:cNvPr id="10" name="Shape 7"/>
          <p:cNvSpPr/>
          <p:nvPr/>
        </p:nvSpPr>
        <p:spPr>
          <a:xfrm>
            <a:off x="502920" y="2788920"/>
            <a:ext cx="5440680" cy="548640"/>
          </a:xfrm>
          <a:prstGeom prst="roundRect">
            <a:avLst>
              <a:gd name="adj" fmla="val 10000"/>
            </a:avLst>
          </a:prstGeom>
          <a:solidFill>
            <a:srgbClr val="FFFFFF"/>
          </a:solidFill>
          <a:ln w="9525">
            <a:solidFill>
              <a:srgbClr val="D9E4F5"/>
            </a:solidFill>
            <a:prstDash val="solid"/>
          </a:ln>
        </p:spPr>
      </p:sp>
      <p:sp>
        <p:nvSpPr>
          <p:cNvPr id="11" name="Text 8"/>
          <p:cNvSpPr/>
          <p:nvPr/>
        </p:nvSpPr>
        <p:spPr>
          <a:xfrm>
            <a:off x="612648"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12" name="Text 9"/>
          <p:cNvSpPr/>
          <p:nvPr/>
        </p:nvSpPr>
        <p:spPr>
          <a:xfrm>
            <a:off x="1033272"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Yes — the commit is gone</a:t>
            </a:r>
            <a:endParaRPr lang="en-US" sz="1050" dirty="0"/>
          </a:p>
        </p:txBody>
      </p:sp>
      <p:sp>
        <p:nvSpPr>
          <p:cNvPr id="13" name="Shape 10"/>
          <p:cNvSpPr/>
          <p:nvPr/>
        </p:nvSpPr>
        <p:spPr>
          <a:xfrm>
            <a:off x="502920" y="3447288"/>
            <a:ext cx="5440680" cy="548640"/>
          </a:xfrm>
          <a:prstGeom prst="roundRect">
            <a:avLst>
              <a:gd name="adj" fmla="val 10000"/>
            </a:avLst>
          </a:prstGeom>
          <a:solidFill>
            <a:srgbClr val="D4F1EE"/>
          </a:solidFill>
          <a:ln w="19050">
            <a:solidFill>
              <a:srgbClr val="00A79D"/>
            </a:solidFill>
            <a:prstDash val="solid"/>
          </a:ln>
        </p:spPr>
      </p:sp>
      <p:sp>
        <p:nvSpPr>
          <p:cNvPr id="14" name="Text 11"/>
          <p:cNvSpPr/>
          <p:nvPr/>
        </p:nvSpPr>
        <p:spPr>
          <a:xfrm>
            <a:off x="612648"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2"/>
          <p:cNvSpPr/>
          <p:nvPr/>
        </p:nvSpPr>
        <p:spPr>
          <a:xfrm>
            <a:off x="1033272"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No — rotate the secret; history lives in clones, forks, and reflog   ✓</a:t>
            </a:r>
            <a:endParaRPr lang="en-US" sz="1050" dirty="0"/>
          </a:p>
        </p:txBody>
      </p:sp>
      <p:sp>
        <p:nvSpPr>
          <p:cNvPr id="16" name="Shape 13"/>
          <p:cNvSpPr/>
          <p:nvPr/>
        </p:nvSpPr>
        <p:spPr>
          <a:xfrm>
            <a:off x="502920" y="4105656"/>
            <a:ext cx="5440680" cy="548640"/>
          </a:xfrm>
          <a:prstGeom prst="roundRect">
            <a:avLst>
              <a:gd name="adj" fmla="val 10000"/>
            </a:avLst>
          </a:prstGeom>
          <a:solidFill>
            <a:srgbClr val="FFFFFF"/>
          </a:solidFill>
          <a:ln w="9525">
            <a:solidFill>
              <a:srgbClr val="D9E4F5"/>
            </a:solidFill>
            <a:prstDash val="solid"/>
          </a:ln>
        </p:spPr>
      </p:sp>
      <p:sp>
        <p:nvSpPr>
          <p:cNvPr id="17" name="Text 14"/>
          <p:cNvSpPr/>
          <p:nvPr/>
        </p:nvSpPr>
        <p:spPr>
          <a:xfrm>
            <a:off x="612648"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18" name="Text 15"/>
          <p:cNvSpPr/>
          <p:nvPr/>
        </p:nvSpPr>
        <p:spPr>
          <a:xfrm>
            <a:off x="1033272"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Yes, once the branch is deleted</a:t>
            </a:r>
            <a:endParaRPr lang="en-US" sz="1050" dirty="0"/>
          </a:p>
        </p:txBody>
      </p:sp>
      <p:sp>
        <p:nvSpPr>
          <p:cNvPr id="19" name="Shape 16"/>
          <p:cNvSpPr/>
          <p:nvPr/>
        </p:nvSpPr>
        <p:spPr>
          <a:xfrm>
            <a:off x="502920" y="4764024"/>
            <a:ext cx="5440680" cy="548640"/>
          </a:xfrm>
          <a:prstGeom prst="roundRect">
            <a:avLst>
              <a:gd name="adj" fmla="val 10000"/>
            </a:avLst>
          </a:prstGeom>
          <a:solidFill>
            <a:srgbClr val="FFFFFF"/>
          </a:solidFill>
          <a:ln w="9525">
            <a:solidFill>
              <a:srgbClr val="D9E4F5"/>
            </a:solidFill>
            <a:prstDash val="solid"/>
          </a:ln>
        </p:spPr>
      </p:sp>
      <p:sp>
        <p:nvSpPr>
          <p:cNvPr id="20" name="Text 17"/>
          <p:cNvSpPr/>
          <p:nvPr/>
        </p:nvSpPr>
        <p:spPr>
          <a:xfrm>
            <a:off x="612648"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21" name="Text 18"/>
          <p:cNvSpPr/>
          <p:nvPr/>
        </p:nvSpPr>
        <p:spPr>
          <a:xfrm>
            <a:off x="1033272"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Only if the repo is private</a:t>
            </a:r>
            <a:endParaRPr lang="en-US" sz="1050" dirty="0"/>
          </a:p>
        </p:txBody>
      </p:sp>
      <p:sp>
        <p:nvSpPr>
          <p:cNvPr id="22" name="Text 19"/>
          <p:cNvSpPr/>
          <p:nvPr/>
        </p:nvSpPr>
        <p:spPr>
          <a:xfrm>
            <a:off x="502920"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Deleting the commit does not un-leak the secret. Rotate first; the key is burned. History persists in clones, forks, backups and reflog.</a:t>
            </a:r>
            <a:endParaRPr lang="en-US" sz="950" dirty="0"/>
          </a:p>
        </p:txBody>
      </p:sp>
      <p:sp>
        <p:nvSpPr>
          <p:cNvPr id="23" name="Text 20"/>
          <p:cNvSpPr/>
          <p:nvPr/>
        </p:nvSpPr>
        <p:spPr>
          <a:xfrm>
            <a:off x="6245352" y="1920240"/>
            <a:ext cx="5440680" cy="777240"/>
          </a:xfrm>
          <a:prstGeom prst="rect">
            <a:avLst/>
          </a:prstGeom>
          <a:noFill/>
          <a:ln/>
        </p:spPr>
        <p:txBody>
          <a:bodyPr wrap="square" rtlCol="0" anchor="t"/>
          <a:lstStyle/>
          <a:p>
            <a:pPr indent="0" marL="0">
              <a:buNone/>
            </a:pPr>
            <a:r>
              <a:rPr lang="en-US" sz="1200" b="1" dirty="0">
                <a:solidFill>
                  <a:srgbClr val="1D2A5C"/>
                </a:solidFill>
                <a:latin typeface="Calibri" pitchFamily="34" charset="0"/>
                <a:ea typeface="Calibri" pitchFamily="34" charset="-122"/>
                <a:cs typeface="Calibri" pitchFamily="34" charset="-120"/>
              </a:rPr>
              <a:t>Q2. What does pydantic's SecretStr actually protect against?</a:t>
            </a:r>
            <a:endParaRPr lang="en-US" sz="1200" dirty="0"/>
          </a:p>
        </p:txBody>
      </p:sp>
      <p:sp>
        <p:nvSpPr>
          <p:cNvPr id="24" name="Shape 21"/>
          <p:cNvSpPr/>
          <p:nvPr/>
        </p:nvSpPr>
        <p:spPr>
          <a:xfrm>
            <a:off x="6245352" y="2788920"/>
            <a:ext cx="5440680" cy="548640"/>
          </a:xfrm>
          <a:prstGeom prst="roundRect">
            <a:avLst>
              <a:gd name="adj" fmla="val 10000"/>
            </a:avLst>
          </a:prstGeom>
          <a:solidFill>
            <a:srgbClr val="FFFFFF"/>
          </a:solidFill>
          <a:ln w="9525">
            <a:solidFill>
              <a:srgbClr val="D9E4F5"/>
            </a:solidFill>
            <a:prstDash val="solid"/>
          </a:ln>
        </p:spPr>
      </p:sp>
      <p:sp>
        <p:nvSpPr>
          <p:cNvPr id="25" name="Text 22"/>
          <p:cNvSpPr/>
          <p:nvPr/>
        </p:nvSpPr>
        <p:spPr>
          <a:xfrm>
            <a:off x="6355080" y="2907792"/>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A</a:t>
            </a:r>
            <a:endParaRPr lang="en-US" sz="1100" dirty="0"/>
          </a:p>
        </p:txBody>
      </p:sp>
      <p:sp>
        <p:nvSpPr>
          <p:cNvPr id="26" name="Text 23"/>
          <p:cNvSpPr/>
          <p:nvPr/>
        </p:nvSpPr>
        <p:spPr>
          <a:xfrm>
            <a:off x="6775704" y="2788920"/>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Network interception</a:t>
            </a:r>
            <a:endParaRPr lang="en-US" sz="1050" dirty="0"/>
          </a:p>
        </p:txBody>
      </p:sp>
      <p:sp>
        <p:nvSpPr>
          <p:cNvPr id="27" name="Shape 24"/>
          <p:cNvSpPr/>
          <p:nvPr/>
        </p:nvSpPr>
        <p:spPr>
          <a:xfrm>
            <a:off x="6245352" y="3447288"/>
            <a:ext cx="5440680" cy="548640"/>
          </a:xfrm>
          <a:prstGeom prst="roundRect">
            <a:avLst>
              <a:gd name="adj" fmla="val 10000"/>
            </a:avLst>
          </a:prstGeom>
          <a:solidFill>
            <a:srgbClr val="D4F1EE"/>
          </a:solidFill>
          <a:ln w="19050">
            <a:solidFill>
              <a:srgbClr val="00A79D"/>
            </a:solidFill>
            <a:prstDash val="solid"/>
          </a:ln>
        </p:spPr>
      </p:sp>
      <p:sp>
        <p:nvSpPr>
          <p:cNvPr id="28" name="Text 25"/>
          <p:cNvSpPr/>
          <p:nvPr/>
        </p:nvSpPr>
        <p:spPr>
          <a:xfrm>
            <a:off x="6355080" y="3566160"/>
            <a:ext cx="310896" cy="310896"/>
          </a:xfrm>
          <a:prstGeom prst="ellipse">
            <a:avLst/>
          </a:prstGeom>
          <a:solidFill>
            <a:srgbClr val="00A79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Text 26"/>
          <p:cNvSpPr/>
          <p:nvPr/>
        </p:nvSpPr>
        <p:spPr>
          <a:xfrm>
            <a:off x="6775704" y="3447288"/>
            <a:ext cx="4754880" cy="548640"/>
          </a:xfrm>
          <a:prstGeom prst="rect">
            <a:avLst/>
          </a:prstGeom>
          <a:noFill/>
          <a:ln/>
        </p:spPr>
        <p:txBody>
          <a:bodyPr wrap="square" rtlCol="0" anchor="ctr"/>
          <a:lstStyle/>
          <a:p>
            <a:pPr indent="0" marL="0">
              <a:buNone/>
            </a:pPr>
            <a:r>
              <a:rPr lang="en-US" sz="1050" b="1" dirty="0">
                <a:solidFill>
                  <a:srgbClr val="056A63"/>
                </a:solidFill>
                <a:latin typeface="Calibri" pitchFamily="34" charset="0"/>
                <a:ea typeface="Calibri" pitchFamily="34" charset="-122"/>
                <a:cs typeface="Calibri" pitchFamily="34" charset="-120"/>
              </a:rPr>
              <a:t>Accidental disclosure in reprs, prints, and logs   ✓</a:t>
            </a:r>
            <a:endParaRPr lang="en-US" sz="1050" dirty="0"/>
          </a:p>
        </p:txBody>
      </p:sp>
      <p:sp>
        <p:nvSpPr>
          <p:cNvPr id="30" name="Shape 27"/>
          <p:cNvSpPr/>
          <p:nvPr/>
        </p:nvSpPr>
        <p:spPr>
          <a:xfrm>
            <a:off x="6245352" y="4105656"/>
            <a:ext cx="5440680" cy="548640"/>
          </a:xfrm>
          <a:prstGeom prst="roundRect">
            <a:avLst>
              <a:gd name="adj" fmla="val 10000"/>
            </a:avLst>
          </a:prstGeom>
          <a:solidFill>
            <a:srgbClr val="FFFFFF"/>
          </a:solidFill>
          <a:ln w="9525">
            <a:solidFill>
              <a:srgbClr val="D9E4F5"/>
            </a:solidFill>
            <a:prstDash val="solid"/>
          </a:ln>
        </p:spPr>
      </p:sp>
      <p:sp>
        <p:nvSpPr>
          <p:cNvPr id="31" name="Text 28"/>
          <p:cNvSpPr/>
          <p:nvPr/>
        </p:nvSpPr>
        <p:spPr>
          <a:xfrm>
            <a:off x="6355080" y="4224528"/>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C</a:t>
            </a:r>
            <a:endParaRPr lang="en-US" sz="1100" dirty="0"/>
          </a:p>
        </p:txBody>
      </p:sp>
      <p:sp>
        <p:nvSpPr>
          <p:cNvPr id="32" name="Text 29"/>
          <p:cNvSpPr/>
          <p:nvPr/>
        </p:nvSpPr>
        <p:spPr>
          <a:xfrm>
            <a:off x="6775704" y="4105656"/>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Weak passwords</a:t>
            </a:r>
            <a:endParaRPr lang="en-US" sz="1050" dirty="0"/>
          </a:p>
        </p:txBody>
      </p:sp>
      <p:sp>
        <p:nvSpPr>
          <p:cNvPr id="33" name="Shape 30"/>
          <p:cNvSpPr/>
          <p:nvPr/>
        </p:nvSpPr>
        <p:spPr>
          <a:xfrm>
            <a:off x="6245352" y="4764024"/>
            <a:ext cx="5440680" cy="548640"/>
          </a:xfrm>
          <a:prstGeom prst="roundRect">
            <a:avLst>
              <a:gd name="adj" fmla="val 10000"/>
            </a:avLst>
          </a:prstGeom>
          <a:solidFill>
            <a:srgbClr val="FFFFFF"/>
          </a:solidFill>
          <a:ln w="9525">
            <a:solidFill>
              <a:srgbClr val="D9E4F5"/>
            </a:solidFill>
            <a:prstDash val="solid"/>
          </a:ln>
        </p:spPr>
      </p:sp>
      <p:sp>
        <p:nvSpPr>
          <p:cNvPr id="34" name="Text 31"/>
          <p:cNvSpPr/>
          <p:nvPr/>
        </p:nvSpPr>
        <p:spPr>
          <a:xfrm>
            <a:off x="6355080" y="4882896"/>
            <a:ext cx="310896" cy="310896"/>
          </a:xfrm>
          <a:prstGeom prst="ellipse">
            <a:avLst/>
          </a:prstGeom>
          <a:solidFill>
            <a:srgbClr val="DCE6F8"/>
          </a:solidFill>
          <a:ln/>
        </p:spPr>
        <p:txBody>
          <a:bodyPr wrap="square" rtlCol="0" anchor="ctr"/>
          <a:lstStyle/>
          <a:p>
            <a:pPr algn="ctr" indent="0" marL="0">
              <a:buNone/>
            </a:pPr>
            <a:r>
              <a:rPr lang="en-US" sz="1100" b="1" dirty="0">
                <a:solidFill>
                  <a:srgbClr val="1D2A5C"/>
                </a:solidFill>
                <a:latin typeface="Calibri" pitchFamily="34" charset="0"/>
                <a:ea typeface="Calibri" pitchFamily="34" charset="-122"/>
                <a:cs typeface="Calibri" pitchFamily="34" charset="-120"/>
              </a:rPr>
              <a:t>D</a:t>
            </a:r>
            <a:endParaRPr lang="en-US" sz="1100" dirty="0"/>
          </a:p>
        </p:txBody>
      </p:sp>
      <p:sp>
        <p:nvSpPr>
          <p:cNvPr id="35" name="Text 32"/>
          <p:cNvSpPr/>
          <p:nvPr/>
        </p:nvSpPr>
        <p:spPr>
          <a:xfrm>
            <a:off x="6775704" y="4764024"/>
            <a:ext cx="4754880" cy="548640"/>
          </a:xfrm>
          <a:prstGeom prst="rect">
            <a:avLst/>
          </a:prstGeom>
          <a:noFill/>
          <a:ln/>
        </p:spPr>
        <p:txBody>
          <a:bodyPr wrap="square" rtlCol="0" anchor="ctr"/>
          <a:lstStyle/>
          <a:p>
            <a:pPr indent="0" marL="0">
              <a:buNone/>
            </a:pPr>
            <a:r>
              <a:rPr lang="en-US" sz="1050" dirty="0">
                <a:solidFill>
                  <a:srgbClr val="23293B"/>
                </a:solidFill>
                <a:latin typeface="Calibri" pitchFamily="34" charset="0"/>
                <a:ea typeface="Calibri" pitchFamily="34" charset="-122"/>
                <a:cs typeface="Calibri" pitchFamily="34" charset="-120"/>
              </a:rPr>
              <a:t>Brute-force attacks</a:t>
            </a:r>
            <a:endParaRPr lang="en-US" sz="1050" dirty="0"/>
          </a:p>
        </p:txBody>
      </p:sp>
      <p:sp>
        <p:nvSpPr>
          <p:cNvPr id="36" name="Text 33"/>
          <p:cNvSpPr/>
          <p:nvPr/>
        </p:nvSpPr>
        <p:spPr>
          <a:xfrm>
            <a:off x="6245352" y="5513832"/>
            <a:ext cx="5440680" cy="731520"/>
          </a:xfrm>
          <a:prstGeom prst="rect">
            <a:avLst/>
          </a:prstGeom>
          <a:noFill/>
          <a:ln/>
        </p:spPr>
        <p:txBody>
          <a:bodyPr wrap="square" rtlCol="0" anchor="t"/>
          <a:lstStyle/>
          <a:p>
            <a:pPr indent="0" marL="0">
              <a:buNone/>
            </a:pPr>
            <a:r>
              <a:rPr lang="en-US" sz="950" b="1" i="1" dirty="0">
                <a:solidFill>
                  <a:srgbClr val="5F6B7A"/>
                </a:solidFill>
                <a:latin typeface="Calibri" pitchFamily="34" charset="0"/>
                <a:ea typeface="Calibri" pitchFamily="34" charset="-122"/>
                <a:cs typeface="Calibri" pitchFamily="34" charset="-120"/>
              </a:rPr>
              <a:t>Why: </a:t>
            </a:r>
            <a:pPr indent="0" marL="0">
              <a:buNone/>
            </a:pPr>
            <a:r>
              <a:rPr lang="en-US" sz="950" i="1" dirty="0">
                <a:solidFill>
                  <a:srgbClr val="5F6B7A"/>
                </a:solidFill>
                <a:latin typeface="Calibri" pitchFamily="34" charset="0"/>
                <a:ea typeface="Calibri" pitchFamily="34" charset="-122"/>
                <a:cs typeface="Calibri" pitchFamily="34" charset="-120"/>
              </a:rPr>
              <a:t>SecretStr masks the value in reprs and accidental prints; .get_secret_value() makes every intentional read explicit and grep-able. It is not encryption.</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MODULE 6 TAKEAWAY</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Typed config. Secrets that never touch git. Logs a machine can query.</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Three quiet disciplines separate operable services from mysterious ones. The fraud service is now hardened in all three — ready for the capstone.</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 MODULE 6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135</a:t>
            </a:r>
            <a:endParaRPr lang="en-US" sz="8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DAY 3 — MODULE WORK COMPLETE</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Pipeline green. Service hardened. Capstone next.</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One fraud service — refactored, served, containerised, tested, automated, and hardened. Now assemble it, complete the checklist, and demo it.</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DAY 3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136</a:t>
            </a:r>
            <a:endParaRPr lang="en-US" sz="8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D2A5C"/>
        </a:solidFill>
      </p:bgPr>
    </p:bg>
    <p:spTree>
      <p:nvGrpSpPr>
        <p:cNvPr id="1" name=""/>
        <p:cNvGrpSpPr/>
        <p:nvPr/>
      </p:nvGrpSpPr>
      <p:grpSpPr>
        <a:xfrm>
          <a:off x="0" y="0"/>
          <a:ext cx="0" cy="0"/>
          <a:chOff x="0" y="0"/>
          <a:chExt cx="0" cy="0"/>
        </a:xfrm>
      </p:grpSpPr>
      <p:sp>
        <p:nvSpPr>
          <p:cNvPr id="2" name="Shape 0"/>
          <p:cNvSpPr/>
          <p:nvPr/>
        </p:nvSpPr>
        <p:spPr>
          <a:xfrm flipH="1" rot="5400000">
            <a:off x="9235440" y="1298448"/>
            <a:ext cx="402336" cy="352044"/>
          </a:xfrm>
          <a:prstGeom prst="triangle">
            <a:avLst/>
          </a:prstGeom>
          <a:solidFill>
            <a:srgbClr val="00A79D"/>
          </a:solidFill>
          <a:ln/>
        </p:spPr>
      </p:sp>
      <p:sp>
        <p:nvSpPr>
          <p:cNvPr id="3" name="Shape 1"/>
          <p:cNvSpPr/>
          <p:nvPr/>
        </p:nvSpPr>
        <p:spPr>
          <a:xfrm rot="5400000">
            <a:off x="9661916" y="946404"/>
            <a:ext cx="402336" cy="352044"/>
          </a:xfrm>
          <a:prstGeom prst="triangle">
            <a:avLst/>
          </a:prstGeom>
          <a:solidFill>
            <a:srgbClr val="29ABE2"/>
          </a:solidFill>
          <a:ln/>
        </p:spPr>
      </p:sp>
      <p:sp>
        <p:nvSpPr>
          <p:cNvPr id="4" name="Shape 2"/>
          <p:cNvSpPr/>
          <p:nvPr/>
        </p:nvSpPr>
        <p:spPr>
          <a:xfrm rot="5400000">
            <a:off x="9661916" y="1650492"/>
            <a:ext cx="402336" cy="352044"/>
          </a:xfrm>
          <a:prstGeom prst="triangle">
            <a:avLst/>
          </a:prstGeom>
          <a:solidFill>
            <a:srgbClr val="F58220"/>
          </a:solidFill>
          <a:ln/>
        </p:spPr>
      </p:sp>
      <p:sp>
        <p:nvSpPr>
          <p:cNvPr id="5" name="Shape 3"/>
          <p:cNvSpPr/>
          <p:nvPr/>
        </p:nvSpPr>
        <p:spPr>
          <a:xfrm flipH="1" rot="5400000">
            <a:off x="10088392" y="594360"/>
            <a:ext cx="402336" cy="352044"/>
          </a:xfrm>
          <a:prstGeom prst="triangle">
            <a:avLst/>
          </a:prstGeom>
          <a:solidFill>
            <a:srgbClr val="8DC63F"/>
          </a:solidFill>
          <a:ln/>
        </p:spPr>
      </p:sp>
      <p:sp>
        <p:nvSpPr>
          <p:cNvPr id="6" name="Shape 4"/>
          <p:cNvSpPr/>
          <p:nvPr/>
        </p:nvSpPr>
        <p:spPr>
          <a:xfrm rot="5400000">
            <a:off x="10088392" y="1298448"/>
            <a:ext cx="402336" cy="352044"/>
          </a:xfrm>
          <a:prstGeom prst="triangle">
            <a:avLst/>
          </a:prstGeom>
          <a:solidFill>
            <a:srgbClr val="00A79D"/>
          </a:solidFill>
          <a:ln/>
        </p:spPr>
      </p:sp>
      <p:sp>
        <p:nvSpPr>
          <p:cNvPr id="7" name="Shape 5"/>
          <p:cNvSpPr/>
          <p:nvPr/>
        </p:nvSpPr>
        <p:spPr>
          <a:xfrm rot="5400000">
            <a:off x="10514868" y="946404"/>
            <a:ext cx="402336" cy="352044"/>
          </a:xfrm>
          <a:prstGeom prst="triangle">
            <a:avLst/>
          </a:prstGeom>
          <a:solidFill>
            <a:srgbClr val="29ABE2"/>
          </a:solidFill>
          <a:ln/>
        </p:spPr>
      </p:sp>
      <p:sp>
        <p:nvSpPr>
          <p:cNvPr id="8" name="Shape 6"/>
          <p:cNvSpPr/>
          <p:nvPr/>
        </p:nvSpPr>
        <p:spPr>
          <a:xfrm flipH="1" rot="5400000">
            <a:off x="10514868" y="1650492"/>
            <a:ext cx="402336" cy="352044"/>
          </a:xfrm>
          <a:prstGeom prst="triangle">
            <a:avLst/>
          </a:prstGeom>
          <a:solidFill>
            <a:srgbClr val="F58220"/>
          </a:solidFill>
          <a:ln/>
        </p:spPr>
      </p:sp>
      <p:sp>
        <p:nvSpPr>
          <p:cNvPr id="9" name="Shape 7"/>
          <p:cNvSpPr/>
          <p:nvPr/>
        </p:nvSpPr>
        <p:spPr>
          <a:xfrm rot="5400000">
            <a:off x="10941345" y="1298448"/>
            <a:ext cx="402336" cy="352044"/>
          </a:xfrm>
          <a:prstGeom prst="triangle">
            <a:avLst/>
          </a:prstGeom>
          <a:solidFill>
            <a:srgbClr val="8DC63F"/>
          </a:solidFill>
          <a:ln/>
        </p:spPr>
      </p:sp>
      <p:sp>
        <p:nvSpPr>
          <p:cNvPr id="10" name="Text 8"/>
          <p:cNvSpPr/>
          <p:nvPr/>
        </p:nvSpPr>
        <p:spPr>
          <a:xfrm>
            <a:off x="777240" y="1417320"/>
            <a:ext cx="7315200" cy="384048"/>
          </a:xfrm>
          <a:prstGeom prst="rect">
            <a:avLst/>
          </a:prstGeom>
          <a:noFill/>
          <a:ln/>
        </p:spPr>
        <p:txBody>
          <a:bodyPr wrap="square" rtlCol="0" anchor="ctr"/>
          <a:lstStyle/>
          <a:p>
            <a:pPr indent="0" marL="0">
              <a:buNone/>
            </a:pPr>
            <a:r>
              <a:rPr lang="en-US" sz="1500" b="1" spc="400" kern="0" dirty="0">
                <a:solidFill>
                  <a:srgbClr val="00A79D"/>
                </a:solidFill>
                <a:latin typeface="Calibri" pitchFamily="34" charset="0"/>
                <a:ea typeface="Calibri" pitchFamily="34" charset="-122"/>
                <a:cs typeface="Calibri" pitchFamily="34" charset="-120"/>
              </a:rPr>
              <a:t>CAPSTONE — DAY 3</a:t>
            </a:r>
            <a:endParaRPr lang="en-US" sz="1500" dirty="0"/>
          </a:p>
        </p:txBody>
      </p:sp>
      <p:sp>
        <p:nvSpPr>
          <p:cNvPr id="11" name="Text 9"/>
          <p:cNvSpPr/>
          <p:nvPr/>
        </p:nvSpPr>
        <p:spPr>
          <a:xfrm>
            <a:off x="749808" y="1874520"/>
            <a:ext cx="10607040" cy="868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Containerised AI Model Service Production Pipeline</a:t>
            </a:r>
            <a:endParaRPr lang="en-US" sz="3600" dirty="0"/>
          </a:p>
        </p:txBody>
      </p:sp>
      <p:sp>
        <p:nvSpPr>
          <p:cNvPr id="12" name="Text 10"/>
          <p:cNvSpPr/>
          <p:nvPr/>
        </p:nvSpPr>
        <p:spPr>
          <a:xfrm>
            <a:off x="777240" y="2761488"/>
            <a:ext cx="10058400" cy="457200"/>
          </a:xfrm>
          <a:prstGeom prst="rect">
            <a:avLst/>
          </a:prstGeom>
          <a:noFill/>
          <a:ln/>
        </p:spPr>
        <p:txBody>
          <a:bodyPr wrap="square" rtlCol="0" anchor="ctr"/>
          <a:lstStyle/>
          <a:p>
            <a:pPr indent="0" marL="0">
              <a:buNone/>
            </a:pPr>
            <a:r>
              <a:rPr lang="en-US" sz="1700" dirty="0">
                <a:solidFill>
                  <a:srgbClr val="B9C8E8"/>
                </a:solidFill>
                <a:latin typeface="Calibri" pitchFamily="34" charset="0"/>
                <a:ea typeface="Calibri" pitchFamily="34" charset="-122"/>
                <a:cs typeface="Calibri" pitchFamily="34" charset="-120"/>
              </a:rPr>
              <a:t>خط إنتاج خدمة نموذج ذكاء اصطناعي في حاويات</a:t>
            </a:r>
            <a:endParaRPr lang="en-US" sz="1700" dirty="0"/>
          </a:p>
        </p:txBody>
      </p:sp>
      <p:sp>
        <p:nvSpPr>
          <p:cNvPr id="13" name="Shape 11"/>
          <p:cNvSpPr/>
          <p:nvPr/>
        </p:nvSpPr>
        <p:spPr>
          <a:xfrm>
            <a:off x="777240" y="3794760"/>
            <a:ext cx="2514600" cy="1600200"/>
          </a:xfrm>
          <a:prstGeom prst="roundRect">
            <a:avLst>
              <a:gd name="adj" fmla="val 4000"/>
            </a:avLst>
          </a:prstGeom>
          <a:solidFill>
            <a:srgbClr val="26355F"/>
          </a:solidFill>
          <a:ln w="9525">
            <a:solidFill>
              <a:srgbClr val="3A4A7A"/>
            </a:solidFill>
            <a:prstDash val="solid"/>
          </a:ln>
        </p:spPr>
      </p:sp>
      <p:sp>
        <p:nvSpPr>
          <p:cNvPr id="14" name="Text 12"/>
          <p:cNvSpPr/>
          <p:nvPr/>
        </p:nvSpPr>
        <p:spPr>
          <a:xfrm>
            <a:off x="923544" y="3950208"/>
            <a:ext cx="822960" cy="310896"/>
          </a:xfrm>
          <a:prstGeom prst="rect">
            <a:avLst/>
          </a:prstGeom>
          <a:noFill/>
          <a:ln/>
        </p:spPr>
        <p:txBody>
          <a:bodyPr wrap="square" rtlCol="0" anchor="ctr"/>
          <a:lstStyle/>
          <a:p>
            <a:pPr indent="0" marL="0">
              <a:buNone/>
            </a:pPr>
            <a:r>
              <a:rPr lang="en-US" sz="1400" b="1" dirty="0">
                <a:solidFill>
                  <a:srgbClr val="00A79D"/>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923544"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H4 — Capstone assembly</a:t>
            </a:r>
            <a:endParaRPr lang="en-US" sz="1200" dirty="0"/>
          </a:p>
        </p:txBody>
      </p:sp>
      <p:sp>
        <p:nvSpPr>
          <p:cNvPr id="16" name="Text 14"/>
          <p:cNvSpPr/>
          <p:nvPr/>
        </p:nvSpPr>
        <p:spPr>
          <a:xfrm>
            <a:off x="923544"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Integrate all lab components; checklist self-audit; peer review</a:t>
            </a:r>
            <a:endParaRPr lang="en-US" sz="950" dirty="0"/>
          </a:p>
        </p:txBody>
      </p:sp>
      <p:sp>
        <p:nvSpPr>
          <p:cNvPr id="17" name="Shape 15"/>
          <p:cNvSpPr/>
          <p:nvPr/>
        </p:nvSpPr>
        <p:spPr>
          <a:xfrm>
            <a:off x="3493008" y="3794760"/>
            <a:ext cx="2514600" cy="1600200"/>
          </a:xfrm>
          <a:prstGeom prst="roundRect">
            <a:avLst>
              <a:gd name="adj" fmla="val 4000"/>
            </a:avLst>
          </a:prstGeom>
          <a:solidFill>
            <a:srgbClr val="26355F"/>
          </a:solidFill>
          <a:ln w="9525">
            <a:solidFill>
              <a:srgbClr val="3A4A7A"/>
            </a:solidFill>
            <a:prstDash val="solid"/>
          </a:ln>
        </p:spPr>
      </p:sp>
      <p:sp>
        <p:nvSpPr>
          <p:cNvPr id="18" name="Text 16"/>
          <p:cNvSpPr/>
          <p:nvPr/>
        </p:nvSpPr>
        <p:spPr>
          <a:xfrm>
            <a:off x="3639312" y="3950208"/>
            <a:ext cx="822960" cy="310896"/>
          </a:xfrm>
          <a:prstGeom prst="rect">
            <a:avLst/>
          </a:prstGeom>
          <a:noFill/>
          <a:ln/>
        </p:spPr>
        <p:txBody>
          <a:bodyPr wrap="square" rtlCol="0" anchor="ctr"/>
          <a:lstStyle/>
          <a:p>
            <a:pPr indent="0" marL="0">
              <a:buNone/>
            </a:pPr>
            <a:r>
              <a:rPr lang="en-US" sz="1400" b="1" dirty="0">
                <a:solidFill>
                  <a:srgbClr val="29ABE2"/>
                </a:solidFill>
                <a:latin typeface="Calibri" pitchFamily="34" charset="0"/>
                <a:ea typeface="Calibri" pitchFamily="34" charset="-122"/>
                <a:cs typeface="Calibri" pitchFamily="34" charset="-120"/>
              </a:rPr>
              <a:t>02</a:t>
            </a:r>
            <a:endParaRPr lang="en-US" sz="1400" dirty="0"/>
          </a:p>
        </p:txBody>
      </p:sp>
      <p:sp>
        <p:nvSpPr>
          <p:cNvPr id="19" name="Text 17"/>
          <p:cNvSpPr/>
          <p:nvPr/>
        </p:nvSpPr>
        <p:spPr>
          <a:xfrm>
            <a:off x="3639312"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H5 — Demos + assessment</a:t>
            </a:r>
            <a:endParaRPr lang="en-US" sz="1200" dirty="0"/>
          </a:p>
        </p:txBody>
      </p:sp>
      <p:sp>
        <p:nvSpPr>
          <p:cNvPr id="20" name="Text 18"/>
          <p:cNvSpPr/>
          <p:nvPr/>
        </p:nvSpPr>
        <p:spPr>
          <a:xfrm>
            <a:off x="3639312"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Five-minute demos; rubric-based peer + instructor scoring</a:t>
            </a:r>
            <a:endParaRPr lang="en-US" sz="950" dirty="0"/>
          </a:p>
        </p:txBody>
      </p:sp>
      <p:sp>
        <p:nvSpPr>
          <p:cNvPr id="21" name="Shape 19"/>
          <p:cNvSpPr/>
          <p:nvPr/>
        </p:nvSpPr>
        <p:spPr>
          <a:xfrm>
            <a:off x="6208776" y="3794760"/>
            <a:ext cx="2514600" cy="1600200"/>
          </a:xfrm>
          <a:prstGeom prst="roundRect">
            <a:avLst>
              <a:gd name="adj" fmla="val 4000"/>
            </a:avLst>
          </a:prstGeom>
          <a:solidFill>
            <a:srgbClr val="26355F"/>
          </a:solidFill>
          <a:ln w="9525">
            <a:solidFill>
              <a:srgbClr val="3A4A7A"/>
            </a:solidFill>
            <a:prstDash val="solid"/>
          </a:ln>
        </p:spPr>
      </p:sp>
      <p:sp>
        <p:nvSpPr>
          <p:cNvPr id="22" name="Text 20"/>
          <p:cNvSpPr/>
          <p:nvPr/>
        </p:nvSpPr>
        <p:spPr>
          <a:xfrm>
            <a:off x="6355080" y="3950208"/>
            <a:ext cx="822960" cy="310896"/>
          </a:xfrm>
          <a:prstGeom prst="rect">
            <a:avLst/>
          </a:prstGeom>
          <a:noFill/>
          <a:ln/>
        </p:spPr>
        <p:txBody>
          <a:bodyPr wrap="square" rtlCol="0" anchor="ctr"/>
          <a:lstStyle/>
          <a:p>
            <a:pPr indent="0" marL="0">
              <a:buNone/>
            </a:pPr>
            <a:r>
              <a:rPr lang="en-US" sz="1400" b="1" dirty="0">
                <a:solidFill>
                  <a:srgbClr val="F58220"/>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6355080" y="4297680"/>
            <a:ext cx="2221992" cy="47548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Milestones M-A → M-E</a:t>
            </a:r>
            <a:endParaRPr lang="en-US" sz="1200" dirty="0"/>
          </a:p>
        </p:txBody>
      </p:sp>
      <p:sp>
        <p:nvSpPr>
          <p:cNvPr id="24" name="Text 22"/>
          <p:cNvSpPr/>
          <p:nvPr/>
        </p:nvSpPr>
        <p:spPr>
          <a:xfrm>
            <a:off x="6355080" y="4773168"/>
            <a:ext cx="2221992" cy="548640"/>
          </a:xfrm>
          <a:prstGeom prst="rect">
            <a:avLst/>
          </a:prstGeom>
          <a:noFill/>
          <a:ln/>
        </p:spPr>
        <p:txBody>
          <a:bodyPr wrap="square" rtlCol="0" anchor="ctr"/>
          <a:lstStyle/>
          <a:p>
            <a:pPr indent="0" marL="0">
              <a:buNone/>
            </a:pPr>
            <a:r>
              <a:rPr lang="en-US" sz="950" dirty="0">
                <a:solidFill>
                  <a:srgbClr val="B9C8E8"/>
                </a:solidFill>
                <a:latin typeface="Calibri" pitchFamily="34" charset="0"/>
                <a:ea typeface="Calibri" pitchFamily="34" charset="-122"/>
                <a:cs typeface="Calibri" pitchFamily="34" charset="-120"/>
              </a:rPr>
              <a:t>From API green locally (end Day 2 H1) to demo + submission (H5)</a:t>
            </a:r>
            <a:endParaRPr lang="en-US" sz="950" dirty="0"/>
          </a:p>
        </p:txBody>
      </p:sp>
      <p:sp>
        <p:nvSpPr>
          <p:cNvPr id="25" name="Text 23"/>
          <p:cNvSpPr/>
          <p:nvPr/>
        </p:nvSpPr>
        <p:spPr>
          <a:xfrm>
            <a:off x="777240" y="5806440"/>
            <a:ext cx="10058400" cy="320040"/>
          </a:xfrm>
          <a:prstGeom prst="rect">
            <a:avLst/>
          </a:prstGeom>
          <a:noFill/>
          <a:ln/>
        </p:spPr>
        <p:txBody>
          <a:bodyPr wrap="square" rtlCol="0" anchor="ctr"/>
          <a:lstStyle/>
          <a:p>
            <a:pPr indent="0" marL="0">
              <a:buNone/>
            </a:pPr>
            <a:r>
              <a:rPr lang="en-US" sz="1100" dirty="0">
                <a:solidFill>
                  <a:srgbClr val="8A96C8"/>
                </a:solidFill>
                <a:latin typeface="Calibri" pitchFamily="34" charset="0"/>
                <a:ea typeface="Calibri" pitchFamily="34" charset="-122"/>
                <a:cs typeface="Calibri" pitchFamily="34" charset="-120"/>
              </a:rPr>
              <a:t>Day 3 · Hours 4-5 · 0/100 then 20/80 theory/lab</a:t>
            </a:r>
            <a:endParaRPr lang="en-US" sz="1100" dirty="0"/>
          </a:p>
        </p:txBody>
      </p:sp>
      <p:pic>
        <p:nvPicPr>
          <p:cNvPr id="26" name="Image 0" descr="/sessions/nice-jolly-fermat/build/assets/image1.png">    </p:cNvPr>
          <p:cNvPicPr>
            <a:picLocks noChangeAspect="1"/>
          </p:cNvPicPr>
          <p:nvPr/>
        </p:nvPicPr>
        <p:blipFill>
          <a:blip r:embed="rId1"/>
          <a:stretch>
            <a:fillRect/>
          </a:stretch>
        </p:blipFill>
        <p:spPr>
          <a:xfrm>
            <a:off x="777240" y="6309360"/>
            <a:ext cx="1078992" cy="265176"/>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The scenario: Raqib fraud scoring</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السيناريو: خدمة رقيب لرصد الاحتيال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CAPSTONE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138</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You are the production engineer</a:t>
            </a:r>
            <a:endParaRPr lang="en-US" sz="1350" dirty="0"/>
          </a:p>
        </p:txBody>
      </p:sp>
      <p:sp>
        <p:nvSpPr>
          <p:cNvPr id="10" name="Text 7"/>
          <p:cNvSpPr/>
          <p:nvPr/>
        </p:nvSpPr>
        <p:spPr>
          <a:xfrm>
            <a:off x="1005840" y="18013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"Raqib" (رقيب) is the fraud-scoring capability of a Saudi digital-payments provider. The data-science team hands you a trained model artefact and a feature specification.</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The mandate</a:t>
            </a:r>
            <a:endParaRPr lang="en-US" sz="1350" dirty="0"/>
          </a:p>
        </p:txBody>
      </p:sp>
      <p:sp>
        <p:nvSpPr>
          <p:cNvPr id="13" name="Text 10"/>
          <p:cNvSpPr/>
          <p:nvPr/>
        </p:nvSpPr>
        <p:spPr>
          <a:xfrm>
            <a:off x="1005840" y="31729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Deliver a production-grade scoring service the platform team can deploy — one they can trust because its repository proves its own quality.</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4983480"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Integration, not invention</a:t>
            </a:r>
            <a:endParaRPr lang="en-US" sz="1350" dirty="0"/>
          </a:p>
        </p:txBody>
      </p:sp>
      <p:sp>
        <p:nvSpPr>
          <p:cNvPr id="16" name="Text 13"/>
          <p:cNvSpPr/>
          <p:nvPr/>
        </p:nvSpPr>
        <p:spPr>
          <a:xfrm>
            <a:off x="1005840" y="4544568"/>
            <a:ext cx="4983480"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Everything built in Labs 1-6 is a component; the capstone is the integration plus at least one extension of your choice.</a:t>
            </a:r>
            <a:endParaRPr lang="en-US" sz="1050" dirty="0"/>
          </a:p>
        </p:txBody>
      </p:sp>
      <p:sp>
        <p:nvSpPr>
          <p:cNvPr id="17" name="Shape 14"/>
          <p:cNvSpPr/>
          <p:nvPr/>
        </p:nvSpPr>
        <p:spPr>
          <a:xfrm>
            <a:off x="6355080" y="1481328"/>
            <a:ext cx="5330952" cy="4663440"/>
          </a:xfrm>
          <a:prstGeom prst="roundRect">
            <a:avLst>
              <a:gd name="adj" fmla="val 1373"/>
            </a:avLst>
          </a:prstGeom>
          <a:solidFill>
            <a:srgbClr val="EEF3FB"/>
          </a:solidFill>
          <a:ln w="9525">
            <a:solidFill>
              <a:srgbClr val="D9E4F5"/>
            </a:solidFill>
            <a:prstDash val="solid"/>
          </a:ln>
        </p:spPr>
      </p:sp>
      <p:sp>
        <p:nvSpPr>
          <p:cNvPr id="18" name="Text 15"/>
          <p:cNvSpPr/>
          <p:nvPr/>
        </p:nvSpPr>
        <p:spPr>
          <a:xfrm>
            <a:off x="6556248" y="1645920"/>
            <a:ext cx="4928616" cy="310896"/>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Extensions (choose ≥ 1)</a:t>
            </a:r>
            <a:endParaRPr lang="en-US" sz="1300" dirty="0"/>
          </a:p>
        </p:txBody>
      </p:sp>
      <p:sp>
        <p:nvSpPr>
          <p:cNvPr id="19" name="Shape 16"/>
          <p:cNvSpPr/>
          <p:nvPr/>
        </p:nvSpPr>
        <p:spPr>
          <a:xfrm rot="2700000">
            <a:off x="6556248" y="2130552"/>
            <a:ext cx="128016" cy="128016"/>
          </a:xfrm>
          <a:prstGeom prst="rect">
            <a:avLst/>
          </a:prstGeom>
          <a:solidFill>
            <a:srgbClr val="00A79D"/>
          </a:solidFill>
          <a:ln/>
        </p:spPr>
      </p:sp>
      <p:sp>
        <p:nvSpPr>
          <p:cNvPr id="20" name="Text 17"/>
          <p:cNvSpPr/>
          <p:nvPr/>
        </p:nvSpPr>
        <p:spPr>
          <a:xfrm>
            <a:off x="6812280" y="2039112"/>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Batch endpoint</a:t>
            </a:r>
            <a:endParaRPr lang="en-US" sz="1100" dirty="0"/>
          </a:p>
        </p:txBody>
      </p:sp>
      <p:sp>
        <p:nvSpPr>
          <p:cNvPr id="21" name="Text 18"/>
          <p:cNvSpPr/>
          <p:nvPr/>
        </p:nvSpPr>
        <p:spPr>
          <a:xfrm>
            <a:off x="6812280" y="2304288"/>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POST /v1/predict:batch — ≤ 256 items, partial-failure semantics, tested</a:t>
            </a:r>
            <a:endParaRPr lang="en-US" sz="950" dirty="0"/>
          </a:p>
        </p:txBody>
      </p:sp>
      <p:sp>
        <p:nvSpPr>
          <p:cNvPr id="22" name="Shape 19"/>
          <p:cNvSpPr/>
          <p:nvPr/>
        </p:nvSpPr>
        <p:spPr>
          <a:xfrm rot="2700000">
            <a:off x="6556248" y="2916936"/>
            <a:ext cx="128016" cy="128016"/>
          </a:xfrm>
          <a:prstGeom prst="rect">
            <a:avLst/>
          </a:prstGeom>
          <a:solidFill>
            <a:srgbClr val="29ABE2"/>
          </a:solidFill>
          <a:ln/>
        </p:spPr>
      </p:sp>
      <p:sp>
        <p:nvSpPr>
          <p:cNvPr id="23" name="Text 20"/>
          <p:cNvSpPr/>
          <p:nvPr/>
        </p:nvSpPr>
        <p:spPr>
          <a:xfrm>
            <a:off x="6812280" y="2825496"/>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Model hot-reload</a:t>
            </a:r>
            <a:endParaRPr lang="en-US" sz="1100" dirty="0"/>
          </a:p>
        </p:txBody>
      </p:sp>
      <p:sp>
        <p:nvSpPr>
          <p:cNvPr id="24" name="Text 21"/>
          <p:cNvSpPr/>
          <p:nvPr/>
        </p:nvSpPr>
        <p:spPr>
          <a:xfrm>
            <a:off x="6812280" y="3090672"/>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POST /admin/reload gated by admin token; readiness handling + a test</a:t>
            </a:r>
            <a:endParaRPr lang="en-US" sz="950" dirty="0"/>
          </a:p>
        </p:txBody>
      </p:sp>
      <p:sp>
        <p:nvSpPr>
          <p:cNvPr id="25" name="Shape 22"/>
          <p:cNvSpPr/>
          <p:nvPr/>
        </p:nvSpPr>
        <p:spPr>
          <a:xfrm rot="2700000">
            <a:off x="6556248" y="3703320"/>
            <a:ext cx="128016" cy="128016"/>
          </a:xfrm>
          <a:prstGeom prst="rect">
            <a:avLst/>
          </a:prstGeom>
          <a:solidFill>
            <a:srgbClr val="F58220"/>
          </a:solidFill>
          <a:ln/>
        </p:spPr>
      </p:sp>
      <p:sp>
        <p:nvSpPr>
          <p:cNvPr id="26" name="Text 23"/>
          <p:cNvSpPr/>
          <p:nvPr/>
        </p:nvSpPr>
        <p:spPr>
          <a:xfrm>
            <a:off x="6812280" y="3611880"/>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trivy gate in CI</a:t>
            </a:r>
            <a:endParaRPr lang="en-US" sz="1100" dirty="0"/>
          </a:p>
        </p:txBody>
      </p:sp>
      <p:sp>
        <p:nvSpPr>
          <p:cNvPr id="27" name="Text 24"/>
          <p:cNvSpPr/>
          <p:nvPr/>
        </p:nvSpPr>
        <p:spPr>
          <a:xfrm>
            <a:off x="6812280" y="3877056"/>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With a triaged .trivyignore</a:t>
            </a:r>
            <a:endParaRPr lang="en-US" sz="950" dirty="0"/>
          </a:p>
        </p:txBody>
      </p:sp>
      <p:sp>
        <p:nvSpPr>
          <p:cNvPr id="28" name="Shape 25"/>
          <p:cNvSpPr/>
          <p:nvPr/>
        </p:nvSpPr>
        <p:spPr>
          <a:xfrm rot="2700000">
            <a:off x="6556248" y="4489704"/>
            <a:ext cx="128016" cy="128016"/>
          </a:xfrm>
          <a:prstGeom prst="rect">
            <a:avLst/>
          </a:prstGeom>
          <a:solidFill>
            <a:srgbClr val="8DC63F"/>
          </a:solidFill>
          <a:ln/>
        </p:spPr>
      </p:sp>
      <p:sp>
        <p:nvSpPr>
          <p:cNvPr id="29" name="Text 26"/>
          <p:cNvSpPr/>
          <p:nvPr/>
        </p:nvSpPr>
        <p:spPr>
          <a:xfrm>
            <a:off x="6812280" y="4398264"/>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/metrics endpoint</a:t>
            </a:r>
            <a:endParaRPr lang="en-US" sz="1100" dirty="0"/>
          </a:p>
        </p:txBody>
      </p:sp>
      <p:sp>
        <p:nvSpPr>
          <p:cNvPr id="30" name="Text 27"/>
          <p:cNvSpPr/>
          <p:nvPr/>
        </p:nvSpPr>
        <p:spPr>
          <a:xfrm>
            <a:off x="6812280" y="4663440"/>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Prometheus-style: request count, latency histogram</a:t>
            </a:r>
            <a:endParaRPr lang="en-US" sz="950" dirty="0"/>
          </a:p>
        </p:txBody>
      </p:sp>
      <p:sp>
        <p:nvSpPr>
          <p:cNvPr id="31" name="Shape 28"/>
          <p:cNvSpPr/>
          <p:nvPr/>
        </p:nvSpPr>
        <p:spPr>
          <a:xfrm rot="2700000">
            <a:off x="6556248" y="5276088"/>
            <a:ext cx="128016" cy="128016"/>
          </a:xfrm>
          <a:prstGeom prst="rect">
            <a:avLst/>
          </a:prstGeom>
          <a:solidFill>
            <a:srgbClr val="E8503A"/>
          </a:solidFill>
          <a:ln/>
        </p:spPr>
      </p:sp>
      <p:sp>
        <p:nvSpPr>
          <p:cNvPr id="32" name="Text 29"/>
          <p:cNvSpPr/>
          <p:nvPr/>
        </p:nvSpPr>
        <p:spPr>
          <a:xfrm>
            <a:off x="6812280" y="5184648"/>
            <a:ext cx="4645152" cy="274320"/>
          </a:xfrm>
          <a:prstGeom prst="rect">
            <a:avLst/>
          </a:prstGeom>
          <a:noFill/>
          <a:ln/>
        </p:spPr>
        <p:txBody>
          <a:bodyPr wrap="square" rtlCol="0" anchor="ctr"/>
          <a:lstStyle/>
          <a:p>
            <a:pPr indent="0" marL="0">
              <a:buNone/>
            </a:pPr>
            <a:r>
              <a:rPr lang="en-US" sz="1100" b="1" dirty="0">
                <a:solidFill>
                  <a:srgbClr val="23293B"/>
                </a:solidFill>
                <a:latin typeface="Calibri" pitchFamily="34" charset="0"/>
                <a:ea typeface="Calibri" pitchFamily="34" charset="-122"/>
                <a:cs typeface="Calibri" pitchFamily="34" charset="-120"/>
              </a:rPr>
              <a:t>Golden regeneration</a:t>
            </a:r>
            <a:endParaRPr lang="en-US" sz="1100" dirty="0"/>
          </a:p>
        </p:txBody>
      </p:sp>
      <p:sp>
        <p:nvSpPr>
          <p:cNvPr id="33" name="Text 30"/>
          <p:cNvSpPr/>
          <p:nvPr/>
        </p:nvSpPr>
        <p:spPr>
          <a:xfrm>
            <a:off x="6812280" y="5449824"/>
            <a:ext cx="4645152" cy="54864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make regen-golden + PR template with evidence checklist</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Mandatory scope: what the rubric grades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النطاق الإلزامي: ما يقيسه سلّم الدرجات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CAPSTONE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139</a:t>
            </a:r>
            <a:endParaRPr lang="en-US" sz="850" dirty="0"/>
          </a:p>
        </p:txBody>
      </p:sp>
      <p:sp>
        <p:nvSpPr>
          <p:cNvPr id="8" name="Shape 5"/>
          <p:cNvSpPr/>
          <p:nvPr/>
        </p:nvSpPr>
        <p:spPr>
          <a:xfrm>
            <a:off x="3886200" y="2217420"/>
            <a:ext cx="1435608" cy="0"/>
          </a:xfrm>
          <a:prstGeom prst="line">
            <a:avLst/>
          </a:prstGeom>
          <a:noFill/>
          <a:ln w="19050">
            <a:solidFill>
              <a:srgbClr val="D9E4F5"/>
            </a:solidFill>
            <a:prstDash val="dash"/>
          </a:ln>
        </p:spPr>
      </p:sp>
      <p:sp>
        <p:nvSpPr>
          <p:cNvPr id="9" name="Shape 6"/>
          <p:cNvSpPr/>
          <p:nvPr/>
        </p:nvSpPr>
        <p:spPr>
          <a:xfrm>
            <a:off x="594360" y="1600200"/>
            <a:ext cx="3291840" cy="1234440"/>
          </a:xfrm>
          <a:prstGeom prst="roundRect">
            <a:avLst>
              <a:gd name="adj" fmla="val 5185"/>
            </a:avLst>
          </a:prstGeom>
          <a:solidFill>
            <a:srgbClr val="D4F1EE"/>
          </a:solidFill>
          <a:ln/>
        </p:spPr>
      </p:sp>
      <p:sp>
        <p:nvSpPr>
          <p:cNvPr id="10" name="Text 7"/>
          <p:cNvSpPr/>
          <p:nvPr/>
        </p:nvSpPr>
        <p:spPr>
          <a:xfrm>
            <a:off x="74066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Clean architecture · LO5</a:t>
            </a:r>
            <a:endParaRPr lang="en-US" sz="1200" dirty="0"/>
          </a:p>
        </p:txBody>
      </p:sp>
      <p:sp>
        <p:nvSpPr>
          <p:cNvPr id="11" name="Text 8"/>
          <p:cNvSpPr/>
          <p:nvPr/>
        </p:nvSpPr>
        <p:spPr>
          <a:xfrm>
            <a:off x="74066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src-layout; domain/service/adapters/api layers; import-linter green; model behind a protocol</a:t>
            </a:r>
            <a:endParaRPr lang="en-US" sz="950" dirty="0"/>
          </a:p>
        </p:txBody>
      </p:sp>
      <p:sp>
        <p:nvSpPr>
          <p:cNvPr id="12" name="Shape 9"/>
          <p:cNvSpPr/>
          <p:nvPr/>
        </p:nvSpPr>
        <p:spPr>
          <a:xfrm>
            <a:off x="3886200" y="4320540"/>
            <a:ext cx="1435608" cy="0"/>
          </a:xfrm>
          <a:prstGeom prst="line">
            <a:avLst/>
          </a:prstGeom>
          <a:noFill/>
          <a:ln w="19050">
            <a:solidFill>
              <a:srgbClr val="D9E4F5"/>
            </a:solidFill>
            <a:prstDash val="dash"/>
          </a:ln>
        </p:spPr>
      </p:sp>
      <p:sp>
        <p:nvSpPr>
          <p:cNvPr id="13" name="Shape 10"/>
          <p:cNvSpPr/>
          <p:nvPr/>
        </p:nvSpPr>
        <p:spPr>
          <a:xfrm>
            <a:off x="594360" y="3703320"/>
            <a:ext cx="3291840" cy="1234440"/>
          </a:xfrm>
          <a:prstGeom prst="roundRect">
            <a:avLst>
              <a:gd name="adj" fmla="val 5185"/>
            </a:avLst>
          </a:prstGeom>
          <a:solidFill>
            <a:srgbClr val="D9F0FA"/>
          </a:solidFill>
          <a:ln/>
        </p:spPr>
      </p:sp>
      <p:sp>
        <p:nvSpPr>
          <p:cNvPr id="14" name="Text 11"/>
          <p:cNvSpPr/>
          <p:nvPr/>
        </p:nvSpPr>
        <p:spPr>
          <a:xfrm>
            <a:off x="74066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FastAPI service · LO1</a:t>
            </a:r>
            <a:endParaRPr lang="en-US" sz="1200" dirty="0"/>
          </a:p>
        </p:txBody>
      </p:sp>
      <p:sp>
        <p:nvSpPr>
          <p:cNvPr id="15" name="Text 12"/>
          <p:cNvSpPr/>
          <p:nvPr/>
        </p:nvSpPr>
        <p:spPr>
          <a:xfrm>
            <a:off x="74066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POST /v1/predict, strict pydantic (extra="forbid"); error envelope; /health + /ready; warm-up</a:t>
            </a:r>
            <a:endParaRPr lang="en-US" sz="950" dirty="0"/>
          </a:p>
        </p:txBody>
      </p:sp>
      <p:sp>
        <p:nvSpPr>
          <p:cNvPr id="16" name="Shape 13"/>
          <p:cNvSpPr/>
          <p:nvPr/>
        </p:nvSpPr>
        <p:spPr>
          <a:xfrm>
            <a:off x="3886200" y="5737860"/>
            <a:ext cx="1435608" cy="0"/>
          </a:xfrm>
          <a:prstGeom prst="line">
            <a:avLst/>
          </a:prstGeom>
          <a:noFill/>
          <a:ln w="19050">
            <a:solidFill>
              <a:srgbClr val="D9E4F5"/>
            </a:solidFill>
            <a:prstDash val="dash"/>
          </a:ln>
        </p:spPr>
      </p:sp>
      <p:sp>
        <p:nvSpPr>
          <p:cNvPr id="17" name="Shape 14"/>
          <p:cNvSpPr/>
          <p:nvPr/>
        </p:nvSpPr>
        <p:spPr>
          <a:xfrm>
            <a:off x="594360" y="5120640"/>
            <a:ext cx="3291840" cy="1234440"/>
          </a:xfrm>
          <a:prstGeom prst="roundRect">
            <a:avLst>
              <a:gd name="adj" fmla="val 5185"/>
            </a:avLst>
          </a:prstGeom>
          <a:solidFill>
            <a:srgbClr val="FDEBD7"/>
          </a:solidFill>
          <a:ln/>
        </p:spPr>
      </p:sp>
      <p:sp>
        <p:nvSpPr>
          <p:cNvPr id="18" name="Text 15"/>
          <p:cNvSpPr/>
          <p:nvPr/>
        </p:nvSpPr>
        <p:spPr>
          <a:xfrm>
            <a:off x="74066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Containerisation · LO2</a:t>
            </a:r>
            <a:endParaRPr lang="en-US" sz="1200" dirty="0"/>
          </a:p>
        </p:txBody>
      </p:sp>
      <p:sp>
        <p:nvSpPr>
          <p:cNvPr id="19" name="Text 16"/>
          <p:cNvSpPr/>
          <p:nvPr/>
        </p:nvSpPr>
        <p:spPr>
          <a:xfrm>
            <a:off x="74066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Multi-stage ≤ 500 MB; non-root; healthcheck on /ready; compose with Redis; warm rebuild ≤ 30 s</a:t>
            </a:r>
            <a:endParaRPr lang="en-US" sz="950" dirty="0"/>
          </a:p>
        </p:txBody>
      </p:sp>
      <p:sp>
        <p:nvSpPr>
          <p:cNvPr id="20" name="Shape 17"/>
          <p:cNvSpPr/>
          <p:nvPr/>
        </p:nvSpPr>
        <p:spPr>
          <a:xfrm>
            <a:off x="6858000" y="2217420"/>
            <a:ext cx="1463040" cy="0"/>
          </a:xfrm>
          <a:prstGeom prst="line">
            <a:avLst/>
          </a:prstGeom>
          <a:noFill/>
          <a:ln w="19050">
            <a:solidFill>
              <a:srgbClr val="D9E4F5"/>
            </a:solidFill>
            <a:prstDash val="dash"/>
          </a:ln>
        </p:spPr>
      </p:sp>
      <p:sp>
        <p:nvSpPr>
          <p:cNvPr id="21" name="Shape 18"/>
          <p:cNvSpPr/>
          <p:nvPr/>
        </p:nvSpPr>
        <p:spPr>
          <a:xfrm>
            <a:off x="8321040" y="1600200"/>
            <a:ext cx="3291840" cy="1234440"/>
          </a:xfrm>
          <a:prstGeom prst="roundRect">
            <a:avLst>
              <a:gd name="adj" fmla="val 5185"/>
            </a:avLst>
          </a:prstGeom>
          <a:solidFill>
            <a:srgbClr val="EAF4DC"/>
          </a:solidFill>
          <a:ln/>
        </p:spPr>
      </p:sp>
      <p:sp>
        <p:nvSpPr>
          <p:cNvPr id="22" name="Text 19"/>
          <p:cNvSpPr/>
          <p:nvPr/>
        </p:nvSpPr>
        <p:spPr>
          <a:xfrm>
            <a:off x="8467344" y="169164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Testing · LO3</a:t>
            </a:r>
            <a:endParaRPr lang="en-US" sz="1200" dirty="0"/>
          </a:p>
        </p:txBody>
      </p:sp>
      <p:sp>
        <p:nvSpPr>
          <p:cNvPr id="23" name="Text 20"/>
          <p:cNvSpPr/>
          <p:nvPr/>
        </p:nvSpPr>
        <p:spPr>
          <a:xfrm>
            <a:off x="8467344" y="200253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Unit + integration + behavioural; ≥ 80% branch coverage; malformed corpus 40/40; fast ≤ 60 s</a:t>
            </a:r>
            <a:endParaRPr lang="en-US" sz="950" dirty="0"/>
          </a:p>
        </p:txBody>
      </p:sp>
      <p:sp>
        <p:nvSpPr>
          <p:cNvPr id="24" name="Shape 21"/>
          <p:cNvSpPr/>
          <p:nvPr/>
        </p:nvSpPr>
        <p:spPr>
          <a:xfrm>
            <a:off x="6858000" y="4320540"/>
            <a:ext cx="1463040" cy="0"/>
          </a:xfrm>
          <a:prstGeom prst="line">
            <a:avLst/>
          </a:prstGeom>
          <a:noFill/>
          <a:ln w="19050">
            <a:solidFill>
              <a:srgbClr val="D9E4F5"/>
            </a:solidFill>
            <a:prstDash val="dash"/>
          </a:ln>
        </p:spPr>
      </p:sp>
      <p:sp>
        <p:nvSpPr>
          <p:cNvPr id="25" name="Shape 22"/>
          <p:cNvSpPr/>
          <p:nvPr/>
        </p:nvSpPr>
        <p:spPr>
          <a:xfrm>
            <a:off x="8321040" y="3703320"/>
            <a:ext cx="3291840" cy="1234440"/>
          </a:xfrm>
          <a:prstGeom prst="roundRect">
            <a:avLst>
              <a:gd name="adj" fmla="val 5185"/>
            </a:avLst>
          </a:prstGeom>
          <a:solidFill>
            <a:srgbClr val="FADDD8"/>
          </a:solidFill>
          <a:ln/>
        </p:spPr>
      </p:sp>
      <p:sp>
        <p:nvSpPr>
          <p:cNvPr id="26" name="Text 23"/>
          <p:cNvSpPr/>
          <p:nvPr/>
        </p:nvSpPr>
        <p:spPr>
          <a:xfrm>
            <a:off x="8467344" y="379476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CI/CD · LO4</a:t>
            </a:r>
            <a:endParaRPr lang="en-US" sz="1200" dirty="0"/>
          </a:p>
        </p:txBody>
      </p:sp>
      <p:sp>
        <p:nvSpPr>
          <p:cNvPr id="27" name="Text 24"/>
          <p:cNvSpPr/>
          <p:nvPr/>
        </p:nvSpPr>
        <p:spPr>
          <a:xfrm>
            <a:off x="8467344" y="410565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Actions: parallel lint/test, image build + smoke, GHCR publish on main; branch protection</a:t>
            </a:r>
            <a:endParaRPr lang="en-US" sz="950" dirty="0"/>
          </a:p>
        </p:txBody>
      </p:sp>
      <p:sp>
        <p:nvSpPr>
          <p:cNvPr id="28" name="Shape 25"/>
          <p:cNvSpPr/>
          <p:nvPr/>
        </p:nvSpPr>
        <p:spPr>
          <a:xfrm>
            <a:off x="6858000" y="5737860"/>
            <a:ext cx="1463040" cy="0"/>
          </a:xfrm>
          <a:prstGeom prst="line">
            <a:avLst/>
          </a:prstGeom>
          <a:noFill/>
          <a:ln w="19050">
            <a:solidFill>
              <a:srgbClr val="D9E4F5"/>
            </a:solidFill>
            <a:prstDash val="dash"/>
          </a:ln>
        </p:spPr>
      </p:sp>
      <p:sp>
        <p:nvSpPr>
          <p:cNvPr id="29" name="Shape 26"/>
          <p:cNvSpPr/>
          <p:nvPr/>
        </p:nvSpPr>
        <p:spPr>
          <a:xfrm>
            <a:off x="8321040" y="5120640"/>
            <a:ext cx="3291840" cy="1234440"/>
          </a:xfrm>
          <a:prstGeom prst="roundRect">
            <a:avLst>
              <a:gd name="adj" fmla="val 5185"/>
            </a:avLst>
          </a:prstGeom>
          <a:solidFill>
            <a:srgbClr val="E9E2F2"/>
          </a:solidFill>
          <a:ln/>
        </p:spPr>
      </p:sp>
      <p:sp>
        <p:nvSpPr>
          <p:cNvPr id="30" name="Text 27"/>
          <p:cNvSpPr/>
          <p:nvPr/>
        </p:nvSpPr>
        <p:spPr>
          <a:xfrm>
            <a:off x="8467344" y="5212080"/>
            <a:ext cx="2999232" cy="310896"/>
          </a:xfrm>
          <a:prstGeom prst="rect">
            <a:avLst/>
          </a:prstGeom>
          <a:noFill/>
          <a:ln/>
        </p:spPr>
        <p:txBody>
          <a:bodyPr wrap="square" rtlCol="0" anchor="ctr"/>
          <a:lstStyle/>
          <a:p>
            <a:pPr indent="0" marL="0">
              <a:buNone/>
            </a:pPr>
            <a:r>
              <a:rPr lang="en-US" sz="1200" b="1" dirty="0">
                <a:solidFill>
                  <a:srgbClr val="1D2A5C"/>
                </a:solidFill>
                <a:latin typeface="Calibri" pitchFamily="34" charset="0"/>
                <a:ea typeface="Calibri" pitchFamily="34" charset="-122"/>
                <a:cs typeface="Calibri" pitchFamily="34" charset="-120"/>
              </a:rPr>
              <a:t>Config &amp; quality · LO5/LO6</a:t>
            </a:r>
            <a:endParaRPr lang="en-US" sz="1200" dirty="0"/>
          </a:p>
        </p:txBody>
      </p:sp>
      <p:sp>
        <p:nvSpPr>
          <p:cNvPr id="31" name="Text 28"/>
          <p:cNvSpPr/>
          <p:nvPr/>
        </p:nvSpPr>
        <p:spPr>
          <a:xfrm>
            <a:off x="8467344" y="5522976"/>
            <a:ext cx="2999232" cy="731520"/>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pydantic-settings fail-fast; gitleaks clean; JSON logs with trace_id; ruff + mypy; runbook</a:t>
            </a:r>
            <a:endParaRPr lang="en-US" sz="950" dirty="0"/>
          </a:p>
        </p:txBody>
      </p:sp>
      <p:sp>
        <p:nvSpPr>
          <p:cNvPr id="32" name="Shape 29"/>
          <p:cNvSpPr/>
          <p:nvPr/>
        </p:nvSpPr>
        <p:spPr>
          <a:xfrm>
            <a:off x="5129784" y="2953512"/>
            <a:ext cx="1920240" cy="1920240"/>
          </a:xfrm>
          <a:prstGeom prst="ellipse">
            <a:avLst/>
          </a:prstGeom>
          <a:solidFill>
            <a:srgbClr val="1D2A5C"/>
          </a:solidFill>
          <a:ln w="31750">
            <a:solidFill>
              <a:srgbClr val="00A79D"/>
            </a:solidFill>
            <a:prstDash val="solid"/>
          </a:ln>
        </p:spPr>
      </p:sp>
      <p:sp>
        <p:nvSpPr>
          <p:cNvPr id="33" name="Text 30"/>
          <p:cNvSpPr/>
          <p:nvPr/>
        </p:nvSpPr>
        <p:spPr>
          <a:xfrm>
            <a:off x="5221224" y="3044952"/>
            <a:ext cx="1737360" cy="17373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Raqib service</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Capstone deliverables checklist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تسليمات المشروع الختامي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CAPSTONE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140</a:t>
            </a:r>
            <a:endParaRPr lang="en-US" sz="850" dirty="0"/>
          </a:p>
        </p:txBody>
      </p:sp>
      <p:graphicFrame>
        <p:nvGraphicFramePr>
          <p:cNvPr id="141"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good looks like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GitHub repository URL, full history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Public or instructor-shared; ≥ 5 meaningful commits through the pipeline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Green CI run on main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GHCR image pullable by digest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README.md runbook</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Run, test, build, configure — a stranger succeeds in 10 minutes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BENCHMARKS.md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The five course benchmark tables filled from your own runs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5-minute demo</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Clone-to-running via compose · valid + malformed request · behavioural test · CI story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DECISIONS.md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Five one-paragraph engineering decisions with rationale (e.g. bake-vs-pull model)</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Grading rubric — 100 points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التقييم — ١٠٠ نقطة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CAPSTONE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141</a:t>
            </a:r>
            <a:endParaRPr lang="en-US" sz="850" dirty="0"/>
          </a:p>
        </p:txBody>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 band (90-100%)</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Architecture &amp; code quality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Layers clean, contract enforced in CI, idiomatic — nothing structural to find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API design &amp; correctness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Full contract incl. error envelope, readiness semantics; malformed corpus 40/40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Containerisation</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 500 MB, non-root, healthcheck, cache-disciplined, compose healthy-gated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Testing</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Three levels meaningful; coverage ≥ 80%; golden + invariance + directional; ≤ 60 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CI/CD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Parallel gates, smoke, publish, protection on; green history; failure artefacts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Config, secrets, logging</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Fail-fast settings; gitleaks clean; correlated JSON logs; PDPL-clean fields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Demo &amp; decisions doc</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Crisp demo; DECISIONS.md shows trade-off literacy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Pass ≥ 70 · Distinction ≥ 90 · Extensions add up to +5 bonus (capped at 100) only if mandatory scope ≥ 80</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Demo day: how Hours 4-5 run</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يوم العرض: سير الساعتين الرابعة والخامسة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CAPSTONE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142</a:t>
            </a:r>
            <a:endParaRPr lang="en-US" sz="850" dirty="0"/>
          </a:p>
        </p:txBody>
      </p:sp>
      <p:sp>
        <p:nvSpPr>
          <p:cNvPr id="8" name="Shape 5"/>
          <p:cNvSpPr/>
          <p:nvPr/>
        </p:nvSpPr>
        <p:spPr>
          <a:xfrm>
            <a:off x="502920" y="1965960"/>
            <a:ext cx="1929384" cy="2377440"/>
          </a:xfrm>
          <a:prstGeom prst="roundRect">
            <a:avLst>
              <a:gd name="adj" fmla="val 3318"/>
            </a:avLst>
          </a:prstGeom>
          <a:solidFill>
            <a:srgbClr val="FFFFFF"/>
          </a:solidFill>
          <a:ln w="12700">
            <a:solidFill>
              <a:srgbClr val="D9E4F5"/>
            </a:solidFill>
            <a:prstDash val="solid"/>
          </a:ln>
        </p:spPr>
      </p:sp>
      <p:sp>
        <p:nvSpPr>
          <p:cNvPr id="9" name="Shape 6"/>
          <p:cNvSpPr/>
          <p:nvPr/>
        </p:nvSpPr>
        <p:spPr>
          <a:xfrm>
            <a:off x="502920" y="1965960"/>
            <a:ext cx="1929384" cy="82296"/>
          </a:xfrm>
          <a:prstGeom prst="rect">
            <a:avLst/>
          </a:prstGeom>
          <a:solidFill>
            <a:srgbClr val="00A79D"/>
          </a:solidFill>
          <a:ln/>
        </p:spPr>
      </p:sp>
      <p:sp>
        <p:nvSpPr>
          <p:cNvPr id="10" name="Text 7"/>
          <p:cNvSpPr/>
          <p:nvPr/>
        </p:nvSpPr>
        <p:spPr>
          <a:xfrm>
            <a:off x="640080" y="2148840"/>
            <a:ext cx="165506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STEP 1</a:t>
            </a:r>
            <a:endParaRPr lang="en-US" sz="900" dirty="0"/>
          </a:p>
        </p:txBody>
      </p:sp>
      <p:sp>
        <p:nvSpPr>
          <p:cNvPr id="11" name="Text 8"/>
          <p:cNvSpPr/>
          <p:nvPr/>
        </p:nvSpPr>
        <p:spPr>
          <a:xfrm>
            <a:off x="640080"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Assembly (H4)</a:t>
            </a:r>
            <a:endParaRPr lang="en-US" sz="1250" dirty="0"/>
          </a:p>
        </p:txBody>
      </p:sp>
      <p:sp>
        <p:nvSpPr>
          <p:cNvPr id="12" name="Text 9"/>
          <p:cNvSpPr/>
          <p:nvPr/>
        </p:nvSpPr>
        <p:spPr>
          <a:xfrm>
            <a:off x="640080"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Integrate components, complete the capstone checklist self-audit, run a peer code review round</a:t>
            </a:r>
            <a:endParaRPr lang="en-US" sz="950" dirty="0"/>
          </a:p>
        </p:txBody>
      </p:sp>
      <p:sp>
        <p:nvSpPr>
          <p:cNvPr id="13" name="Shape 10"/>
          <p:cNvSpPr/>
          <p:nvPr/>
        </p:nvSpPr>
        <p:spPr>
          <a:xfrm>
            <a:off x="2487168" y="3026664"/>
            <a:ext cx="274320" cy="256032"/>
          </a:xfrm>
          <a:prstGeom prst="chevron">
            <a:avLst/>
          </a:prstGeom>
          <a:solidFill>
            <a:srgbClr val="00A79D"/>
          </a:solidFill>
          <a:ln/>
        </p:spPr>
      </p:sp>
      <p:sp>
        <p:nvSpPr>
          <p:cNvPr id="14" name="Shape 11"/>
          <p:cNvSpPr/>
          <p:nvPr/>
        </p:nvSpPr>
        <p:spPr>
          <a:xfrm>
            <a:off x="2816352" y="1965960"/>
            <a:ext cx="1929384" cy="2377440"/>
          </a:xfrm>
          <a:prstGeom prst="roundRect">
            <a:avLst>
              <a:gd name="adj" fmla="val 3318"/>
            </a:avLst>
          </a:prstGeom>
          <a:solidFill>
            <a:srgbClr val="FFFFFF"/>
          </a:solidFill>
          <a:ln w="12700">
            <a:solidFill>
              <a:srgbClr val="D9E4F5"/>
            </a:solidFill>
            <a:prstDash val="solid"/>
          </a:ln>
        </p:spPr>
      </p:sp>
      <p:sp>
        <p:nvSpPr>
          <p:cNvPr id="15" name="Shape 12"/>
          <p:cNvSpPr/>
          <p:nvPr/>
        </p:nvSpPr>
        <p:spPr>
          <a:xfrm>
            <a:off x="2816352" y="1965960"/>
            <a:ext cx="1929384" cy="82296"/>
          </a:xfrm>
          <a:prstGeom prst="rect">
            <a:avLst/>
          </a:prstGeom>
          <a:solidFill>
            <a:srgbClr val="29ABE2"/>
          </a:solidFill>
          <a:ln/>
        </p:spPr>
      </p:sp>
      <p:sp>
        <p:nvSpPr>
          <p:cNvPr id="16" name="Text 13"/>
          <p:cNvSpPr/>
          <p:nvPr/>
        </p:nvSpPr>
        <p:spPr>
          <a:xfrm>
            <a:off x="2953512" y="2148840"/>
            <a:ext cx="165506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STEP 2</a:t>
            </a:r>
            <a:endParaRPr lang="en-US" sz="900" dirty="0"/>
          </a:p>
        </p:txBody>
      </p:sp>
      <p:sp>
        <p:nvSpPr>
          <p:cNvPr id="17" name="Text 14"/>
          <p:cNvSpPr/>
          <p:nvPr/>
        </p:nvSpPr>
        <p:spPr>
          <a:xfrm>
            <a:off x="2953512"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Collect repo URLs</a:t>
            </a:r>
            <a:endParaRPr lang="en-US" sz="1250" dirty="0"/>
          </a:p>
        </p:txBody>
      </p:sp>
      <p:sp>
        <p:nvSpPr>
          <p:cNvPr id="18" name="Text 15"/>
          <p:cNvSpPr/>
          <p:nvPr/>
        </p:nvSpPr>
        <p:spPr>
          <a:xfrm>
            <a:off x="2953512"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At the end of Hour 4, so CI status can be verified before demos begin</a:t>
            </a:r>
            <a:endParaRPr lang="en-US" sz="950" dirty="0"/>
          </a:p>
        </p:txBody>
      </p:sp>
      <p:sp>
        <p:nvSpPr>
          <p:cNvPr id="19" name="Shape 16"/>
          <p:cNvSpPr/>
          <p:nvPr/>
        </p:nvSpPr>
        <p:spPr>
          <a:xfrm>
            <a:off x="4800600" y="3026664"/>
            <a:ext cx="274320" cy="256032"/>
          </a:xfrm>
          <a:prstGeom prst="chevron">
            <a:avLst/>
          </a:prstGeom>
          <a:solidFill>
            <a:srgbClr val="00A79D"/>
          </a:solidFill>
          <a:ln/>
        </p:spPr>
      </p:sp>
      <p:sp>
        <p:nvSpPr>
          <p:cNvPr id="20" name="Shape 17"/>
          <p:cNvSpPr/>
          <p:nvPr/>
        </p:nvSpPr>
        <p:spPr>
          <a:xfrm>
            <a:off x="5129784" y="1965960"/>
            <a:ext cx="1929384" cy="2377440"/>
          </a:xfrm>
          <a:prstGeom prst="roundRect">
            <a:avLst>
              <a:gd name="adj" fmla="val 3318"/>
            </a:avLst>
          </a:prstGeom>
          <a:solidFill>
            <a:srgbClr val="FFFFFF"/>
          </a:solidFill>
          <a:ln w="12700">
            <a:solidFill>
              <a:srgbClr val="D9E4F5"/>
            </a:solidFill>
            <a:prstDash val="solid"/>
          </a:ln>
        </p:spPr>
      </p:sp>
      <p:sp>
        <p:nvSpPr>
          <p:cNvPr id="21" name="Shape 18"/>
          <p:cNvSpPr/>
          <p:nvPr/>
        </p:nvSpPr>
        <p:spPr>
          <a:xfrm>
            <a:off x="5129784" y="1965960"/>
            <a:ext cx="1929384" cy="82296"/>
          </a:xfrm>
          <a:prstGeom prst="rect">
            <a:avLst/>
          </a:prstGeom>
          <a:solidFill>
            <a:srgbClr val="F58220"/>
          </a:solidFill>
          <a:ln/>
        </p:spPr>
      </p:sp>
      <p:sp>
        <p:nvSpPr>
          <p:cNvPr id="22" name="Text 19"/>
          <p:cNvSpPr/>
          <p:nvPr/>
        </p:nvSpPr>
        <p:spPr>
          <a:xfrm>
            <a:off x="5266944" y="2148840"/>
            <a:ext cx="165506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STEP 3</a:t>
            </a:r>
            <a:endParaRPr lang="en-US" sz="900" dirty="0"/>
          </a:p>
        </p:txBody>
      </p:sp>
      <p:sp>
        <p:nvSpPr>
          <p:cNvPr id="23" name="Text 20"/>
          <p:cNvSpPr/>
          <p:nvPr/>
        </p:nvSpPr>
        <p:spPr>
          <a:xfrm>
            <a:off x="5266944"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5-minute demos</a:t>
            </a:r>
            <a:endParaRPr lang="en-US" sz="1250" dirty="0"/>
          </a:p>
        </p:txBody>
      </p:sp>
      <p:sp>
        <p:nvSpPr>
          <p:cNvPr id="24" name="Text 21"/>
          <p:cNvSpPr/>
          <p:nvPr/>
        </p:nvSpPr>
        <p:spPr>
          <a:xfrm>
            <a:off x="5266944"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Clone-to-running via compose; one valid + one malformed request; one behavioural test explained; CI walkthrough</a:t>
            </a:r>
            <a:endParaRPr lang="en-US" sz="950" dirty="0"/>
          </a:p>
        </p:txBody>
      </p:sp>
      <p:sp>
        <p:nvSpPr>
          <p:cNvPr id="25" name="Shape 22"/>
          <p:cNvSpPr/>
          <p:nvPr/>
        </p:nvSpPr>
        <p:spPr>
          <a:xfrm>
            <a:off x="7114032" y="3026664"/>
            <a:ext cx="274320" cy="256032"/>
          </a:xfrm>
          <a:prstGeom prst="chevron">
            <a:avLst/>
          </a:prstGeom>
          <a:solidFill>
            <a:srgbClr val="00A79D"/>
          </a:solidFill>
          <a:ln/>
        </p:spPr>
      </p:sp>
      <p:sp>
        <p:nvSpPr>
          <p:cNvPr id="26" name="Shape 23"/>
          <p:cNvSpPr/>
          <p:nvPr/>
        </p:nvSpPr>
        <p:spPr>
          <a:xfrm>
            <a:off x="7443216" y="1965960"/>
            <a:ext cx="1929384" cy="2377440"/>
          </a:xfrm>
          <a:prstGeom prst="roundRect">
            <a:avLst>
              <a:gd name="adj" fmla="val 3318"/>
            </a:avLst>
          </a:prstGeom>
          <a:solidFill>
            <a:srgbClr val="FFFFFF"/>
          </a:solidFill>
          <a:ln w="12700">
            <a:solidFill>
              <a:srgbClr val="D9E4F5"/>
            </a:solidFill>
            <a:prstDash val="solid"/>
          </a:ln>
        </p:spPr>
      </p:sp>
      <p:sp>
        <p:nvSpPr>
          <p:cNvPr id="27" name="Shape 24"/>
          <p:cNvSpPr/>
          <p:nvPr/>
        </p:nvSpPr>
        <p:spPr>
          <a:xfrm>
            <a:off x="7443216" y="1965960"/>
            <a:ext cx="1929384" cy="82296"/>
          </a:xfrm>
          <a:prstGeom prst="rect">
            <a:avLst/>
          </a:prstGeom>
          <a:solidFill>
            <a:srgbClr val="8DC63F"/>
          </a:solidFill>
          <a:ln/>
        </p:spPr>
      </p:sp>
      <p:sp>
        <p:nvSpPr>
          <p:cNvPr id="28" name="Text 25"/>
          <p:cNvSpPr/>
          <p:nvPr/>
        </p:nvSpPr>
        <p:spPr>
          <a:xfrm>
            <a:off x="7580376" y="2148840"/>
            <a:ext cx="165506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STEP 4</a:t>
            </a:r>
            <a:endParaRPr lang="en-US" sz="900" dirty="0"/>
          </a:p>
        </p:txBody>
      </p:sp>
      <p:sp>
        <p:nvSpPr>
          <p:cNvPr id="29" name="Text 26"/>
          <p:cNvSpPr/>
          <p:nvPr/>
        </p:nvSpPr>
        <p:spPr>
          <a:xfrm>
            <a:off x="7580376"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Rubric scoring</a:t>
            </a:r>
            <a:endParaRPr lang="en-US" sz="1250" dirty="0"/>
          </a:p>
        </p:txBody>
      </p:sp>
      <p:sp>
        <p:nvSpPr>
          <p:cNvPr id="30" name="Text 27"/>
          <p:cNvSpPr/>
          <p:nvPr/>
        </p:nvSpPr>
        <p:spPr>
          <a:xfrm>
            <a:off x="7580376"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Live peer + instructor scoring during demos; repo evidence first, demo second</a:t>
            </a:r>
            <a:endParaRPr lang="en-US" sz="950" dirty="0"/>
          </a:p>
        </p:txBody>
      </p:sp>
      <p:sp>
        <p:nvSpPr>
          <p:cNvPr id="31" name="Shape 28"/>
          <p:cNvSpPr/>
          <p:nvPr/>
        </p:nvSpPr>
        <p:spPr>
          <a:xfrm>
            <a:off x="9427464" y="3026664"/>
            <a:ext cx="274320" cy="256032"/>
          </a:xfrm>
          <a:prstGeom prst="chevron">
            <a:avLst/>
          </a:prstGeom>
          <a:solidFill>
            <a:srgbClr val="00A79D"/>
          </a:solidFill>
          <a:ln/>
        </p:spPr>
      </p:sp>
      <p:sp>
        <p:nvSpPr>
          <p:cNvPr id="32" name="Shape 29"/>
          <p:cNvSpPr/>
          <p:nvPr/>
        </p:nvSpPr>
        <p:spPr>
          <a:xfrm>
            <a:off x="9756648" y="1965960"/>
            <a:ext cx="1929384" cy="2377440"/>
          </a:xfrm>
          <a:prstGeom prst="roundRect">
            <a:avLst>
              <a:gd name="adj" fmla="val 3318"/>
            </a:avLst>
          </a:prstGeom>
          <a:solidFill>
            <a:srgbClr val="FFFFFF"/>
          </a:solidFill>
          <a:ln w="12700">
            <a:solidFill>
              <a:srgbClr val="D9E4F5"/>
            </a:solidFill>
            <a:prstDash val="solid"/>
          </a:ln>
        </p:spPr>
      </p:sp>
      <p:sp>
        <p:nvSpPr>
          <p:cNvPr id="33" name="Shape 30"/>
          <p:cNvSpPr/>
          <p:nvPr/>
        </p:nvSpPr>
        <p:spPr>
          <a:xfrm>
            <a:off x="9756648" y="1965960"/>
            <a:ext cx="1929384" cy="82296"/>
          </a:xfrm>
          <a:prstGeom prst="rect">
            <a:avLst/>
          </a:prstGeom>
          <a:solidFill>
            <a:srgbClr val="E8503A"/>
          </a:solidFill>
          <a:ln/>
        </p:spPr>
      </p:sp>
      <p:sp>
        <p:nvSpPr>
          <p:cNvPr id="34" name="Text 31"/>
          <p:cNvSpPr/>
          <p:nvPr/>
        </p:nvSpPr>
        <p:spPr>
          <a:xfrm>
            <a:off x="9893808" y="2148840"/>
            <a:ext cx="1655064"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STEP 5</a:t>
            </a:r>
            <a:endParaRPr lang="en-US" sz="900" dirty="0"/>
          </a:p>
        </p:txBody>
      </p:sp>
      <p:sp>
        <p:nvSpPr>
          <p:cNvPr id="35" name="Text 32"/>
          <p:cNvSpPr/>
          <p:nvPr/>
        </p:nvSpPr>
        <p:spPr>
          <a:xfrm>
            <a:off x="9893808" y="2404872"/>
            <a:ext cx="1655064" cy="566928"/>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Wrap-up</a:t>
            </a:r>
            <a:endParaRPr lang="en-US" sz="1250" dirty="0"/>
          </a:p>
        </p:txBody>
      </p:sp>
      <p:sp>
        <p:nvSpPr>
          <p:cNvPr id="36" name="Text 33"/>
          <p:cNvSpPr/>
          <p:nvPr/>
        </p:nvSpPr>
        <p:spPr>
          <a:xfrm>
            <a:off x="9893808" y="2971800"/>
            <a:ext cx="1655064" cy="1207008"/>
          </a:xfrm>
          <a:prstGeom prst="rect">
            <a:avLst/>
          </a:prstGeom>
          <a:noFill/>
          <a:ln/>
        </p:spPr>
        <p:txBody>
          <a:bodyPr wrap="square" rtlCol="0" anchor="t"/>
          <a:lstStyle/>
          <a:p>
            <a:pPr indent="0" marL="0">
              <a:buNone/>
            </a:pPr>
            <a:r>
              <a:rPr lang="en-US" sz="950" dirty="0">
                <a:solidFill>
                  <a:srgbClr val="5F6B7A"/>
                </a:solidFill>
                <a:latin typeface="Calibri" pitchFamily="34" charset="0"/>
                <a:ea typeface="Calibri" pitchFamily="34" charset="-122"/>
                <a:cs typeface="Calibri" pitchFamily="34" charset="-120"/>
              </a:rPr>
              <a:t>Map capstone requirements to modules; point forward to SDA-AIE-211/216; collect artefacts</a:t>
            </a:r>
            <a:endParaRPr lang="en-US" sz="950" dirty="0"/>
          </a:p>
        </p:txBody>
      </p:sp>
      <p:sp>
        <p:nvSpPr>
          <p:cNvPr id="37" name="Shape 34"/>
          <p:cNvSpPr/>
          <p:nvPr/>
        </p:nvSpPr>
        <p:spPr>
          <a:xfrm>
            <a:off x="502920" y="4892040"/>
            <a:ext cx="11183112" cy="1051560"/>
          </a:xfrm>
          <a:prstGeom prst="roundRect">
            <a:avLst>
              <a:gd name="adj" fmla="val 6087"/>
            </a:avLst>
          </a:prstGeom>
          <a:solidFill>
            <a:srgbClr val="D4F1EE"/>
          </a:solidFill>
          <a:ln/>
        </p:spPr>
      </p:sp>
      <p:sp>
        <p:nvSpPr>
          <p:cNvPr id="38" name="Text 35"/>
          <p:cNvSpPr/>
          <p:nvPr/>
        </p:nvSpPr>
        <p:spPr>
          <a:xfrm>
            <a:off x="731520" y="4892040"/>
            <a:ext cx="10789920" cy="1051560"/>
          </a:xfrm>
          <a:prstGeom prst="rect">
            <a:avLst/>
          </a:prstGeom>
          <a:noFill/>
          <a:ln/>
        </p:spPr>
        <p:txBody>
          <a:bodyPr wrap="square" rtlCol="0" anchor="ctr"/>
          <a:lstStyle/>
          <a:p>
            <a:pPr indent="0" marL="0">
              <a:buNone/>
            </a:pPr>
            <a:r>
              <a:rPr lang="en-US" sz="950" b="1" dirty="0">
                <a:solidFill>
                  <a:srgbClr val="056A63"/>
                </a:solidFill>
                <a:latin typeface="Calibri" pitchFamily="34" charset="0"/>
                <a:ea typeface="Calibri" pitchFamily="34" charset="-122"/>
                <a:cs typeface="Calibri" pitchFamily="34" charset="-120"/>
              </a:rPr>
              <a:t>WHY IT MATTERS   </a:t>
            </a:r>
            <a:pPr indent="0" marL="0">
              <a:buNone/>
            </a:pPr>
            <a:r>
              <a:rPr lang="en-US" sz="1100" dirty="0">
                <a:solidFill>
                  <a:srgbClr val="056A63"/>
                </a:solidFill>
                <a:latin typeface="Calibri" pitchFamily="34" charset="0"/>
                <a:ea typeface="Calibri" pitchFamily="34" charset="-122"/>
                <a:cs typeface="Calibri" pitchFamily="34" charset="-120"/>
              </a:rPr>
              <a:t>Hard rule from the instructor guide: capstone assembly (Day 3 H4) must start on time — cut discussion, not build time.</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How the course grade is built</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كيف تُحتسب درجة الدورة</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ASSESSMENT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143</a:t>
            </a:r>
            <a:endParaRPr lang="en-US" sz="85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Lab completion (6 labs)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Checkpoint commits + expected outputs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PA-1 + PA-2 practical assessments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Artefacts + diagnosis notes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Quiz</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10 questions from the 20-question bank; 15 min, closed book</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Capstone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Grading rubric, repo-first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Engineering badge requires ≥ 70 overall AND capstone ≥ 70 AND zero academic-integrity flags</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Practical assessments PA-1 and PA-2</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التقييمان العمليان الأول والثاني</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ASSESSMENT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144</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PA-1 — Fix the broken repo (Day 2)</a:t>
            </a:r>
            <a:endParaRPr lang="en-US" sz="1350" dirty="0"/>
          </a:p>
        </p:txBody>
      </p:sp>
      <p:sp>
        <p:nvSpPr>
          <p:cNvPr id="10" name="Text 7"/>
          <p:cNvSpPr/>
          <p:nvPr/>
        </p:nvSpPr>
        <p:spPr>
          <a:xfrm>
            <a:off x="1005840" y="18013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30 min. Failing healthcheck, async-blocked route, missing .dockerignore → produce a green make smoke. Scored: diagnosis notes 40%, fixes 40%, verification evidence 20%.</a:t>
            </a:r>
            <a:endParaRPr lang="en-US" sz="1050" dirty="0"/>
          </a:p>
        </p:txBody>
      </p:sp>
      <p:sp>
        <p:nvSpPr>
          <p:cNvPr id="11" name="Text 8"/>
          <p:cNvSpPr/>
          <p:nvPr/>
        </p:nvSpPr>
        <p:spPr>
          <a:xfrm>
            <a:off x="502920" y="292608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8712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PA-2 — Triage the PR (Day 3)</a:t>
            </a:r>
            <a:endParaRPr lang="en-US" sz="1350" dirty="0"/>
          </a:p>
        </p:txBody>
      </p:sp>
      <p:sp>
        <p:nvSpPr>
          <p:cNvPr id="13" name="Text 10"/>
          <p:cNvSpPr/>
          <p:nvPr/>
        </p:nvSpPr>
        <p:spPr>
          <a:xfrm>
            <a:off x="1005840" y="31729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30 min. A PR with a golden-file failure and a layer violation: decide what may merge, what must change, write the review. Scored: triage 50%, tone/actionability 30%, governance 20%.</a:t>
            </a:r>
            <a:endParaRPr lang="en-US" sz="1050" dirty="0"/>
          </a:p>
        </p:txBody>
      </p:sp>
      <p:sp>
        <p:nvSpPr>
          <p:cNvPr id="14" name="Text 11"/>
          <p:cNvSpPr/>
          <p:nvPr/>
        </p:nvSpPr>
        <p:spPr>
          <a:xfrm>
            <a:off x="502920" y="429768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42428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Quiz bank</a:t>
            </a:r>
            <a:endParaRPr lang="en-US" sz="1350" dirty="0"/>
          </a:p>
        </p:txBody>
      </p:sp>
      <p:sp>
        <p:nvSpPr>
          <p:cNvPr id="16" name="Text 13"/>
          <p:cNvSpPr/>
          <p:nvPr/>
        </p:nvSpPr>
        <p:spPr>
          <a:xfrm>
            <a:off x="1005840" y="4544568"/>
            <a:ext cx="10680192" cy="95097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20 questions across all six modules — use 10 per cohort, 15 minutes, closed book. Rotate selections between cohorts.</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What instructors verify</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 يتحقق منه المدرب</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ASSESSMENT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145</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REPO FIRST</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Grade from repository evidence</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CI history, branch-protection settings, commit hygiene — then the demo. The point of the course is that the repo speaks.</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ANTI-PATTERNS</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Flags that cap a criterion at 70%</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Regenerated goldens without justification; coverage inflated by asserting nothing; :latest deploy tags; force-pushed green history.</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LIVE CHECK</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Verify one behavioural claim</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Ask the participant to break casing invariance and show the red — one minute that separates understanding from copy-paste.</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INTEGRITY</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Cross-repo checks</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Identical golden diffs across repos are checked; zero integrity flags is a badge condition alongside ≥ 70 overall and capstone ≥ 70.</a:t>
            </a:r>
            <a:endParaRPr lang="en-US" sz="98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Pacing: where cohorts derail</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ضبط الإيقاع: أين تتعثر المجموعات</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INSTRUCTOR GUIDE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146</a:t>
            </a:r>
            <a:endParaRPr lang="en-US" sz="850" dirty="0"/>
          </a:p>
        </p:txBody>
      </p:sp>
      <p:sp>
        <p:nvSpPr>
          <p:cNvPr id="8" name="Shape 5"/>
          <p:cNvSpPr/>
          <p:nvPr/>
        </p:nvSpPr>
        <p:spPr>
          <a:xfrm>
            <a:off x="502920" y="1517904"/>
            <a:ext cx="3544824"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3105912"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PROTECT</a:t>
            </a:r>
            <a:endParaRPr lang="en-US" sz="900" dirty="0"/>
          </a:p>
        </p:txBody>
      </p:sp>
      <p:sp>
        <p:nvSpPr>
          <p:cNvPr id="11" name="Text 8"/>
          <p:cNvSpPr/>
          <p:nvPr/>
        </p:nvSpPr>
        <p:spPr>
          <a:xfrm>
            <a:off x="722376"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Labs 3 and 5 at full length</a:t>
            </a:r>
            <a:endParaRPr lang="en-US" sz="1250" dirty="0"/>
          </a:p>
        </p:txBody>
      </p:sp>
      <p:sp>
        <p:nvSpPr>
          <p:cNvPr id="12" name="Text 9"/>
          <p:cNvSpPr/>
          <p:nvPr/>
        </p:nvSpPr>
        <p:spPr>
          <a:xfrm>
            <a:off x="722376"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Labs 2a and 3 are the most overrun-prone; rescue stragglers with checkpoint tags, never by cutting the protected labs</a:t>
            </a:r>
            <a:endParaRPr lang="en-US" sz="980" dirty="0"/>
          </a:p>
        </p:txBody>
      </p:sp>
      <p:sp>
        <p:nvSpPr>
          <p:cNvPr id="13" name="Shape 10"/>
          <p:cNvSpPr/>
          <p:nvPr/>
        </p:nvSpPr>
        <p:spPr>
          <a:xfrm>
            <a:off x="4322064" y="1517904"/>
            <a:ext cx="3544824"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4322064" y="1517904"/>
            <a:ext cx="82296" cy="2272284"/>
          </a:xfrm>
          <a:prstGeom prst="rect">
            <a:avLst/>
          </a:prstGeom>
          <a:solidFill>
            <a:srgbClr val="29ABE2"/>
          </a:solidFill>
          <a:ln/>
        </p:spPr>
      </p:sp>
      <p:sp>
        <p:nvSpPr>
          <p:cNvPr id="15" name="Text 12"/>
          <p:cNvSpPr/>
          <p:nvPr/>
        </p:nvSpPr>
        <p:spPr>
          <a:xfrm>
            <a:off x="4541520" y="1636776"/>
            <a:ext cx="3105912"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COMPRESS</a:t>
            </a:r>
            <a:endParaRPr lang="en-US" sz="900" dirty="0"/>
          </a:p>
        </p:txBody>
      </p:sp>
      <p:sp>
        <p:nvSpPr>
          <p:cNvPr id="16" name="Text 13"/>
          <p:cNvSpPr/>
          <p:nvPr/>
        </p:nvSpPr>
        <p:spPr>
          <a:xfrm>
            <a:off x="4541520"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M6 theory if behind</a:t>
            </a:r>
            <a:endParaRPr lang="en-US" sz="1250" dirty="0"/>
          </a:p>
        </p:txBody>
      </p:sp>
      <p:sp>
        <p:nvSpPr>
          <p:cNvPr id="17" name="Text 14"/>
          <p:cNvSpPr/>
          <p:nvPr/>
        </p:nvSpPr>
        <p:spPr>
          <a:xfrm>
            <a:off x="4541520"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It lands through the lab anyway; the Day-3 afternoon is deliberately lighter on theory</a:t>
            </a:r>
            <a:endParaRPr lang="en-US" sz="980" dirty="0"/>
          </a:p>
        </p:txBody>
      </p:sp>
      <p:sp>
        <p:nvSpPr>
          <p:cNvPr id="18" name="Shape 15"/>
          <p:cNvSpPr/>
          <p:nvPr/>
        </p:nvSpPr>
        <p:spPr>
          <a:xfrm>
            <a:off x="8141208" y="1517904"/>
            <a:ext cx="3544824"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8141208" y="1517904"/>
            <a:ext cx="82296" cy="2272284"/>
          </a:xfrm>
          <a:prstGeom prst="rect">
            <a:avLst/>
          </a:prstGeom>
          <a:solidFill>
            <a:srgbClr val="F58220"/>
          </a:solidFill>
          <a:ln/>
        </p:spPr>
      </p:sp>
      <p:sp>
        <p:nvSpPr>
          <p:cNvPr id="20" name="Text 17"/>
          <p:cNvSpPr/>
          <p:nvPr/>
        </p:nvSpPr>
        <p:spPr>
          <a:xfrm>
            <a:off x="8360664" y="1636776"/>
            <a:ext cx="3105912"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STRONG COHORT</a:t>
            </a:r>
            <a:endParaRPr lang="en-US" sz="900" dirty="0"/>
          </a:p>
        </p:txBody>
      </p:sp>
      <p:sp>
        <p:nvSpPr>
          <p:cNvPr id="21" name="Text 18"/>
          <p:cNvSpPr/>
          <p:nvPr/>
        </p:nvSpPr>
        <p:spPr>
          <a:xfrm>
            <a:off x="8360664" y="1883664"/>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Pull bonus tasks into scope</a:t>
            </a:r>
            <a:endParaRPr lang="en-US" sz="1250" dirty="0"/>
          </a:p>
        </p:txBody>
      </p:sp>
      <p:sp>
        <p:nvSpPr>
          <p:cNvPr id="22" name="Text 19"/>
          <p:cNvSpPr/>
          <p:nvPr/>
        </p:nvSpPr>
        <p:spPr>
          <a:xfrm>
            <a:off x="8360664" y="2404872"/>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The trivy gate and batch endpoint become main scope on Day 3</a:t>
            </a:r>
            <a:endParaRPr lang="en-US" sz="980" dirty="0"/>
          </a:p>
        </p:txBody>
      </p:sp>
      <p:sp>
        <p:nvSpPr>
          <p:cNvPr id="23" name="Shape 20"/>
          <p:cNvSpPr/>
          <p:nvPr/>
        </p:nvSpPr>
        <p:spPr>
          <a:xfrm>
            <a:off x="502920" y="4046220"/>
            <a:ext cx="3544824"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502920" y="4046220"/>
            <a:ext cx="82296" cy="2272284"/>
          </a:xfrm>
          <a:prstGeom prst="rect">
            <a:avLst/>
          </a:prstGeom>
          <a:solidFill>
            <a:srgbClr val="8DC63F"/>
          </a:solidFill>
          <a:ln/>
        </p:spPr>
      </p:sp>
      <p:sp>
        <p:nvSpPr>
          <p:cNvPr id="25" name="Text 22"/>
          <p:cNvSpPr/>
          <p:nvPr/>
        </p:nvSpPr>
        <p:spPr>
          <a:xfrm>
            <a:off x="722376" y="4165092"/>
            <a:ext cx="3105912"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WEAK COHORT</a:t>
            </a:r>
            <a:endParaRPr lang="en-US" sz="900" dirty="0"/>
          </a:p>
        </p:txBody>
      </p:sp>
      <p:sp>
        <p:nvSpPr>
          <p:cNvPr id="26" name="Text 23"/>
          <p:cNvSpPr/>
          <p:nvPr/>
        </p:nvSpPr>
        <p:spPr>
          <a:xfrm>
            <a:off x="722376"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Demo it, don't drop it</a:t>
            </a:r>
            <a:endParaRPr lang="en-US" sz="1250" dirty="0"/>
          </a:p>
        </p:txBody>
      </p:sp>
      <p:sp>
        <p:nvSpPr>
          <p:cNvPr id="27" name="Text 24"/>
          <p:cNvSpPr/>
          <p:nvPr/>
        </p:nvSpPr>
        <p:spPr>
          <a:xfrm>
            <a:off x="722376"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Lab 5 task 4 fix-the-PR becomes a guided demo; never drop the blocked-PR observation — the course's thesis made visible</a:t>
            </a:r>
            <a:endParaRPr lang="en-US" sz="980" dirty="0"/>
          </a:p>
        </p:txBody>
      </p:sp>
      <p:sp>
        <p:nvSpPr>
          <p:cNvPr id="28" name="Shape 25"/>
          <p:cNvSpPr/>
          <p:nvPr/>
        </p:nvSpPr>
        <p:spPr>
          <a:xfrm>
            <a:off x="4322064" y="4046220"/>
            <a:ext cx="3544824" cy="2272284"/>
          </a:xfrm>
          <a:prstGeom prst="roundRect">
            <a:avLst>
              <a:gd name="adj" fmla="val 2817"/>
            </a:avLst>
          </a:prstGeom>
          <a:solidFill>
            <a:srgbClr val="FFFFFF"/>
          </a:solidFill>
          <a:ln w="12700">
            <a:solidFill>
              <a:srgbClr val="D9E4F5"/>
            </a:solidFill>
            <a:prstDash val="solid"/>
          </a:ln>
        </p:spPr>
      </p:sp>
      <p:sp>
        <p:nvSpPr>
          <p:cNvPr id="29" name="Shape 26"/>
          <p:cNvSpPr/>
          <p:nvPr/>
        </p:nvSpPr>
        <p:spPr>
          <a:xfrm>
            <a:off x="4322064" y="4046220"/>
            <a:ext cx="82296" cy="2272284"/>
          </a:xfrm>
          <a:prstGeom prst="rect">
            <a:avLst/>
          </a:prstGeom>
          <a:solidFill>
            <a:srgbClr val="E8503A"/>
          </a:solidFill>
          <a:ln/>
        </p:spPr>
      </p:sp>
      <p:sp>
        <p:nvSpPr>
          <p:cNvPr id="30" name="Text 27"/>
          <p:cNvSpPr/>
          <p:nvPr/>
        </p:nvSpPr>
        <p:spPr>
          <a:xfrm>
            <a:off x="4541520" y="4165092"/>
            <a:ext cx="3105912" cy="237744"/>
          </a:xfrm>
          <a:prstGeom prst="rect">
            <a:avLst/>
          </a:prstGeom>
          <a:noFill/>
          <a:ln/>
        </p:spPr>
        <p:txBody>
          <a:bodyPr wrap="square" rtlCol="0" anchor="ctr"/>
          <a:lstStyle/>
          <a:p>
            <a:pPr indent="0" marL="0">
              <a:buNone/>
            </a:pPr>
            <a:r>
              <a:rPr lang="en-US" sz="900" b="1" spc="200" kern="0" dirty="0">
                <a:solidFill>
                  <a:srgbClr val="E8503A"/>
                </a:solidFill>
                <a:latin typeface="Calibri" pitchFamily="34" charset="0"/>
                <a:ea typeface="Calibri" pitchFamily="34" charset="-122"/>
                <a:cs typeface="Calibri" pitchFamily="34" charset="-120"/>
              </a:rPr>
              <a:t>HARD RULE</a:t>
            </a:r>
            <a:endParaRPr lang="en-US" sz="900" dirty="0"/>
          </a:p>
        </p:txBody>
      </p:sp>
      <p:sp>
        <p:nvSpPr>
          <p:cNvPr id="31" name="Text 28"/>
          <p:cNvSpPr/>
          <p:nvPr/>
        </p:nvSpPr>
        <p:spPr>
          <a:xfrm>
            <a:off x="4541520" y="4411980"/>
            <a:ext cx="3105912"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Capstone assembly starts on time</a:t>
            </a:r>
            <a:endParaRPr lang="en-US" sz="1250" dirty="0"/>
          </a:p>
        </p:txBody>
      </p:sp>
      <p:sp>
        <p:nvSpPr>
          <p:cNvPr id="32" name="Text 29"/>
          <p:cNvSpPr/>
          <p:nvPr/>
        </p:nvSpPr>
        <p:spPr>
          <a:xfrm>
            <a:off x="4541520" y="4933188"/>
            <a:ext cx="3105912"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Day 3 Hour 4 must start on time; cut discussion, not build time</a:t>
            </a:r>
            <a:endParaRPr lang="en-US" sz="98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Environment prep: T-minus 1 week</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تجهيز البيئة: قبل أسبوع من التنفيذ</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INSTRUCTOR GUIDE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147</a:t>
            </a:r>
            <a:endParaRPr lang="en-US" sz="850" dirty="0"/>
          </a:p>
        </p:txBody>
      </p:sp>
      <p:sp>
        <p:nvSpPr>
          <p:cNvPr id="8" name="Text 5"/>
          <p:cNvSpPr/>
          <p:nvPr/>
        </p:nvSpPr>
        <p:spPr>
          <a:xfrm>
            <a:off x="502920" y="1554480"/>
            <a:ext cx="329184" cy="329184"/>
          </a:xfrm>
          <a:prstGeom prst="ellipse">
            <a:avLst/>
          </a:prstGeom>
          <a:solidFill>
            <a:srgbClr val="00A79D"/>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005840" y="149961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Repos and checkpoint tags</a:t>
            </a:r>
            <a:endParaRPr lang="en-US" sz="1350" dirty="0"/>
          </a:p>
        </p:txBody>
      </p:sp>
      <p:sp>
        <p:nvSpPr>
          <p:cNvPr id="10" name="Text 7"/>
          <p:cNvSpPr/>
          <p:nvPr/>
        </p:nvSpPr>
        <p:spPr>
          <a:xfrm>
            <a:off x="1005840" y="180136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Fork course org repos; push lab1-start … lab6-start, bad-pr, sim-* branches. Regenerate fraud_xgb_v3.joblib + golden_scores_v3.csv on the pinned sklearn; behavioural suite green.</a:t>
            </a:r>
            <a:endParaRPr lang="en-US" sz="1050" dirty="0"/>
          </a:p>
        </p:txBody>
      </p:sp>
      <p:sp>
        <p:nvSpPr>
          <p:cNvPr id="11" name="Text 8"/>
          <p:cNvSpPr/>
          <p:nvPr/>
        </p:nvSpPr>
        <p:spPr>
          <a:xfrm>
            <a:off x="502920" y="2800350"/>
            <a:ext cx="329184" cy="329184"/>
          </a:xfrm>
          <a:prstGeom prst="ellipse">
            <a:avLst/>
          </a:prstGeom>
          <a:solidFill>
            <a:srgbClr val="29ABE2"/>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p:nvPr/>
        </p:nvSpPr>
        <p:spPr>
          <a:xfrm>
            <a:off x="1005840" y="274548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Dry-run everything</a:t>
            </a:r>
            <a:endParaRPr lang="en-US" sz="1350" dirty="0"/>
          </a:p>
        </p:txBody>
      </p:sp>
      <p:sp>
        <p:nvSpPr>
          <p:cNvPr id="13" name="Text 10"/>
          <p:cNvSpPr/>
          <p:nvPr/>
        </p:nvSpPr>
        <p:spPr>
          <a:xfrm>
            <a:off x="1005840" y="304723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All 6 labs end-to-end on a clean machine AND on the Codespaces fallback. Verify GHCR pushes work under the classroom org with a test account.</a:t>
            </a:r>
            <a:endParaRPr lang="en-US" sz="1050" dirty="0"/>
          </a:p>
        </p:txBody>
      </p:sp>
      <p:sp>
        <p:nvSpPr>
          <p:cNvPr id="14" name="Text 11"/>
          <p:cNvSpPr/>
          <p:nvPr/>
        </p:nvSpPr>
        <p:spPr>
          <a:xfrm>
            <a:off x="502920" y="4046220"/>
            <a:ext cx="329184" cy="329184"/>
          </a:xfrm>
          <a:prstGeom prst="ellipse">
            <a:avLst/>
          </a:prstGeom>
          <a:solidFill>
            <a:srgbClr val="F58220"/>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05840" y="399135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Classroom and network</a:t>
            </a:r>
            <a:endParaRPr lang="en-US" sz="1350" dirty="0"/>
          </a:p>
        </p:txBody>
      </p:sp>
      <p:sp>
        <p:nvSpPr>
          <p:cNvPr id="16" name="Text 13"/>
          <p:cNvSpPr/>
          <p:nvPr/>
        </p:nvSpPr>
        <p:spPr>
          <a:xfrm>
            <a:off x="1005840" y="429310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Print the A4 posters; load the malformed corpus + logs_sample.jsonl to the shared drive; confirm access to github.com, ghcr.io, pypi — or pre-pull base images to a local registry.</a:t>
            </a:r>
            <a:endParaRPr lang="en-US" sz="1050" dirty="0"/>
          </a:p>
        </p:txBody>
      </p:sp>
      <p:sp>
        <p:nvSpPr>
          <p:cNvPr id="17" name="Text 14"/>
          <p:cNvSpPr/>
          <p:nvPr/>
        </p:nvSpPr>
        <p:spPr>
          <a:xfrm>
            <a:off x="502920" y="5292090"/>
            <a:ext cx="329184" cy="329184"/>
          </a:xfrm>
          <a:prstGeom prst="ellipse">
            <a:avLst/>
          </a:prstGeom>
          <a:solidFill>
            <a:srgbClr val="8DC63F"/>
          </a:solid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5"/>
          <p:cNvSpPr/>
          <p:nvPr/>
        </p:nvSpPr>
        <p:spPr>
          <a:xfrm>
            <a:off x="1005840" y="5237226"/>
            <a:ext cx="10680192" cy="29260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Participants (T-minus 2 days)</a:t>
            </a:r>
            <a:endParaRPr lang="en-US" sz="1350" dirty="0"/>
          </a:p>
        </p:txBody>
      </p:sp>
      <p:sp>
        <p:nvSpPr>
          <p:cNvPr id="19" name="Text 16"/>
          <p:cNvSpPr/>
          <p:nvPr/>
        </p:nvSpPr>
        <p:spPr>
          <a:xfrm>
            <a:off x="1005840" y="5538978"/>
            <a:ext cx="10680192" cy="825246"/>
          </a:xfrm>
          <a:prstGeom prst="rect">
            <a:avLst/>
          </a:prstGeom>
          <a:noFill/>
          <a:ln/>
        </p:spPr>
        <p:txBody>
          <a:bodyPr wrap="square" rtlCol="0" anchor="t"/>
          <a:lstStyle/>
          <a:p>
            <a:pPr indent="0" marL="0">
              <a:buNone/>
            </a:pPr>
            <a:r>
              <a:rPr lang="en-US" sz="1050" dirty="0">
                <a:solidFill>
                  <a:srgbClr val="5F6B7A"/>
                </a:solidFill>
                <a:latin typeface="Calibri" pitchFamily="34" charset="0"/>
                <a:ea typeface="Calibri" pitchFamily="34" charset="-122"/>
                <a:cs typeface="Calibri" pitchFamily="34" charset="-120"/>
              </a:rPr>
              <a:t>Install email: Python 3.12, git, Docker Desktop (WSL2) or Colima, VS Code, the pip bundle, hey/jq/gitleaks. Everyone runs make doctor — it prints ✓/✗ per item.</a:t>
            </a:r>
            <a:endParaRPr lang="en-US" sz="10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Common issues and differentiation</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المشكلات الشائعة وكيفية التمايز</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INSTRUCTOR GUIDE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148</a:t>
            </a:r>
            <a:endParaRPr lang="en-US" sz="85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3727704"/>
                <a:gridCol w="3727704"/>
                <a:gridCol w="3727704"/>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Freq</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1D2A5C"/>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WSL2/Docker not enabled on Windows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Pre-session email + first-hour floater support; Codespaces fallback</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Apple Silicon vs amd64 images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Teach --platform early in M3; multi-arch stays a bonus topic</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Corporate proxy blocks pip/GHCR</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Local PyPI mirror + pre-pulled base images; document proxy envs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pytest import errors (src-layout)</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pip install -e . — the M1 lesson, revisited deliberately</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Goldens broken by mid-course "improvements"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It's a feature — route to the skew lesson; solution tags rescue</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Fear of Docker/YAML (DS background)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Med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Pairing strategy; templates-then-understanding sequencing</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EEF3FB"/>
                    </a:solidFill>
                  </a:tcPr>
                </a:tc>
              </a:tr>
              <a:tr h="384048">
                <a:tc>
                  <a:txBody>
                    <a:bodyPr/>
                    <a:lstStyle/>
                    <a:p>
                      <a:pPr indent="0" marL="0">
                        <a:buNone/>
                      </a:pPr>
                      <a:r>
                        <a:rPr lang="en-US" sz="1050" b="1" dirty="0">
                          <a:solidFill>
                            <a:srgbClr val="1D2A5C"/>
                          </a:solidFill>
                          <a:latin typeface="Calibri" pitchFamily="34" charset="0"/>
                          <a:ea typeface="Calibri" pitchFamily="34" charset="-122"/>
                          <a:cs typeface="Calibri" pitchFamily="34" charset="-120"/>
                        </a:rPr>
                        <a:t>Slow laptops on docker build</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c>
                  <a:txBody>
                    <a:bodyPr/>
                    <a:lstStyle/>
                    <a:p>
                      <a:pPr indent="0" marL="0">
                        <a:buNone/>
                      </a:pPr>
                      <a:r>
                        <a:rPr lang="en-US" sz="1050" dirty="0">
                          <a:solidFill>
                            <a:srgbClr val="5F6B7A"/>
                          </a:solidFill>
                          <a:latin typeface="Calibri" pitchFamily="34" charset="0"/>
                          <a:ea typeface="Calibri" pitchFamily="34" charset="-122"/>
                          <a:cs typeface="Calibri" pitchFamily="34" charset="-120"/>
                        </a:rPr>
                        <a:t>Buildx cache; pair on the stronger machine; Codespaces</a:t>
                      </a:r>
                      <a:endParaRPr lang="en-US" sz="1050" dirty="0">
                        <a:latin typeface="Calibri" charset="0"/>
                        <a:ea typeface="Calibri" charset="0"/>
                        <a:cs typeface="Calibri" charset="0"/>
                      </a:endParaRPr>
                    </a:p>
                  </a:txBody>
                  <a:tcPr marL="73152" marR="73152" marT="73152" marB="73152" anchor="ctr">
                    <a:lnL w="9525" cap="flat" cmpd="sng" algn="ctr">
                      <a:solidFill>
                        <a:srgbClr val="D9E4F5"/>
                      </a:solidFill>
                      <a:prstDash val="solid"/>
                      <a:round/>
                      <a:headEnd type="none" w="med" len="med"/>
                      <a:tailEnd type="none" w="med" len="med"/>
                    </a:lnL>
                    <a:lnR w="9525" cap="flat" cmpd="sng" algn="ctr">
                      <a:solidFill>
                        <a:srgbClr val="D9E4F5"/>
                      </a:solidFill>
                      <a:prstDash val="solid"/>
                      <a:round/>
                      <a:headEnd type="none" w="med" len="med"/>
                      <a:tailEnd type="none" w="med" len="med"/>
                    </a:lnR>
                    <a:lnT w="9525" cap="flat" cmpd="sng" algn="ctr">
                      <a:solidFill>
                        <a:srgbClr val="D9E4F5"/>
                      </a:solidFill>
                      <a:prstDash val="solid"/>
                      <a:round/>
                      <a:headEnd type="none" w="med" len="med"/>
                      <a:tailEnd type="none" w="med" len="med"/>
                    </a:lnT>
                    <a:lnB w="9525" cap="flat" cmpd="sng" algn="ctr">
                      <a:solidFill>
                        <a:srgbClr val="D9E4F5"/>
                      </a:solidFill>
                      <a:prstDash val="solid"/>
                      <a:round/>
                      <a:headEnd type="none" w="med" len="med"/>
                      <a:tailEnd type="none" w="med" len="med"/>
                    </a:lnB>
                    <a:solidFill>
                      <a:srgbClr val="FFFFFF"/>
                    </a:solidFill>
                  </a:tcPr>
                </a:tc>
              </a:tr>
            </a:tbl>
          </a:graphicData>
        </a:graphic>
      </p:graphicFrame>
      <p:sp>
        <p:nvSpPr>
          <p:cNvPr id="9" name="Text 5"/>
          <p:cNvSpPr/>
          <p:nvPr/>
        </p:nvSpPr>
        <p:spPr>
          <a:xfrm>
            <a:off x="502920" y="6035040"/>
            <a:ext cx="11155680" cy="274320"/>
          </a:xfrm>
          <a:prstGeom prst="rect">
            <a:avLst/>
          </a:prstGeom>
          <a:noFill/>
          <a:ln/>
        </p:spPr>
        <p:txBody>
          <a:bodyPr wrap="square" rtlCol="0" anchor="ctr"/>
          <a:lstStyle/>
          <a:p>
            <a:pPr indent="0" marL="0">
              <a:buNone/>
            </a:pPr>
            <a:r>
              <a:rPr lang="en-US" sz="950" i="1" dirty="0">
                <a:solidFill>
                  <a:srgbClr val="5F6B7A"/>
                </a:solidFill>
                <a:latin typeface="Calibri" pitchFamily="34" charset="0"/>
                <a:ea typeface="Calibri" pitchFamily="34" charset="-122"/>
                <a:cs typeface="Calibri" pitchFamily="34" charset="-120"/>
              </a:rPr>
              <a:t>Early finishers: bonus tasks — multi-arch buildx in CI, sim-skew postmortem, error taxonomy, CI load test</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600" b="1" dirty="0">
                <a:solidFill>
                  <a:srgbClr val="1D2A5C"/>
                </a:solidFill>
                <a:latin typeface="Calibri" pitchFamily="34" charset="0"/>
                <a:ea typeface="Calibri" pitchFamily="34" charset="-122"/>
                <a:cs typeface="Calibri" pitchFamily="34" charset="-120"/>
              </a:rPr>
              <a:t>Where next: the track continues</a:t>
            </a:r>
            <a:endParaRPr lang="en-US" sz="26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الوجهة التالية: المسار يتواصل</a:t>
            </a:r>
            <a:endParaRPr lang="en-US" sz="1300" dirty="0"/>
          </a:p>
        </p:txBody>
      </p:sp>
      <p:pic>
        <p:nvPicPr>
          <p:cNvPr id="4" name="Image 0" descr="/sessions/nice-jolly-fermat/build/assets/image1.png">    </p:cNvPr>
          <p:cNvPicPr>
            <a:picLocks noChangeAspect="1"/>
          </p:cNvPicPr>
          <p:nvPr/>
        </p:nvPicPr>
        <p:blipFill>
          <a:blip r:embed="rId1"/>
          <a:stretch>
            <a:fillRect/>
          </a:stretch>
        </p:blipFill>
        <p:spPr>
          <a:xfrm>
            <a:off x="10625328" y="310896"/>
            <a:ext cx="1078992" cy="265176"/>
          </a:xfrm>
          <a:prstGeom prst="rect">
            <a:avLst/>
          </a:prstGeom>
        </p:spPr>
      </p:pic>
      <p:sp>
        <p:nvSpPr>
          <p:cNvPr id="5" name="Shape 2"/>
          <p:cNvSpPr/>
          <p:nvPr/>
        </p:nvSpPr>
        <p:spPr>
          <a:xfrm>
            <a:off x="502920" y="1243584"/>
            <a:ext cx="777240" cy="41148"/>
          </a:xfrm>
          <a:prstGeom prst="rect">
            <a:avLst/>
          </a:prstGeom>
          <a:solidFill>
            <a:srgbClr val="00A79D"/>
          </a:solidFill>
          <a:ln/>
        </p:spPr>
      </p:sp>
      <p:sp>
        <p:nvSpPr>
          <p:cNvPr id="6" name="Text 3"/>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WRAP-UP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7" name="Text 4"/>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149</a:t>
            </a:r>
            <a:endParaRPr lang="en-US" sz="850" dirty="0"/>
          </a:p>
        </p:txBody>
      </p:sp>
      <p:sp>
        <p:nvSpPr>
          <p:cNvPr id="8" name="Shape 5"/>
          <p:cNvSpPr/>
          <p:nvPr/>
        </p:nvSpPr>
        <p:spPr>
          <a:xfrm>
            <a:off x="502920" y="1517904"/>
            <a:ext cx="5454396" cy="2272284"/>
          </a:xfrm>
          <a:prstGeom prst="roundRect">
            <a:avLst>
              <a:gd name="adj" fmla="val 2817"/>
            </a:avLst>
          </a:prstGeom>
          <a:solidFill>
            <a:srgbClr val="FFFFFF"/>
          </a:solidFill>
          <a:ln w="12700">
            <a:solidFill>
              <a:srgbClr val="D9E4F5"/>
            </a:solidFill>
            <a:prstDash val="solid"/>
          </a:ln>
        </p:spPr>
      </p:sp>
      <p:sp>
        <p:nvSpPr>
          <p:cNvPr id="9" name="Shape 6"/>
          <p:cNvSpPr/>
          <p:nvPr/>
        </p:nvSpPr>
        <p:spPr>
          <a:xfrm>
            <a:off x="502920" y="1517904"/>
            <a:ext cx="82296" cy="2272284"/>
          </a:xfrm>
          <a:prstGeom prst="rect">
            <a:avLst/>
          </a:prstGeom>
          <a:solidFill>
            <a:srgbClr val="00A79D"/>
          </a:solidFill>
          <a:ln/>
        </p:spPr>
      </p:sp>
      <p:sp>
        <p:nvSpPr>
          <p:cNvPr id="10" name="Text 7"/>
          <p:cNvSpPr/>
          <p:nvPr/>
        </p:nvSpPr>
        <p:spPr>
          <a:xfrm>
            <a:off x="722376" y="1636776"/>
            <a:ext cx="5015484" cy="237744"/>
          </a:xfrm>
          <a:prstGeom prst="rect">
            <a:avLst/>
          </a:prstGeom>
          <a:noFill/>
          <a:ln/>
        </p:spPr>
        <p:txBody>
          <a:bodyPr wrap="square" rtlCol="0" anchor="ctr"/>
          <a:lstStyle/>
          <a:p>
            <a:pPr indent="0" marL="0">
              <a:buNone/>
            </a:pPr>
            <a:r>
              <a:rPr lang="en-US" sz="900" b="1" spc="200" kern="0" dirty="0">
                <a:solidFill>
                  <a:srgbClr val="00A79D"/>
                </a:solidFill>
                <a:latin typeface="Calibri" pitchFamily="34" charset="0"/>
                <a:ea typeface="Calibri" pitchFamily="34" charset="-122"/>
                <a:cs typeface="Calibri" pitchFamily="34" charset="-120"/>
              </a:rPr>
              <a:t>SDA-AIE-211 · MLOPS</a:t>
            </a:r>
            <a:endParaRPr lang="en-US" sz="900" dirty="0"/>
          </a:p>
        </p:txBody>
      </p:sp>
      <p:sp>
        <p:nvSpPr>
          <p:cNvPr id="11" name="Text 8"/>
          <p:cNvSpPr/>
          <p:nvPr/>
        </p:nvSpPr>
        <p:spPr>
          <a:xfrm>
            <a:off x="722376"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Deploy what you built</a:t>
            </a:r>
            <a:endParaRPr lang="en-US" sz="1250" dirty="0"/>
          </a:p>
        </p:txBody>
      </p:sp>
      <p:sp>
        <p:nvSpPr>
          <p:cNvPr id="12" name="Text 9"/>
          <p:cNvSpPr/>
          <p:nvPr/>
        </p:nvSpPr>
        <p:spPr>
          <a:xfrm>
            <a:off x="722376"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Consumes exactly the GHCR digest produced today — deployment, canary, monitoring. This course is required for the MLOps and production modules.</a:t>
            </a:r>
            <a:endParaRPr lang="en-US" sz="980" dirty="0"/>
          </a:p>
        </p:txBody>
      </p:sp>
      <p:sp>
        <p:nvSpPr>
          <p:cNvPr id="13" name="Shape 10"/>
          <p:cNvSpPr/>
          <p:nvPr/>
        </p:nvSpPr>
        <p:spPr>
          <a:xfrm>
            <a:off x="6231636" y="1517904"/>
            <a:ext cx="5454396" cy="2272284"/>
          </a:xfrm>
          <a:prstGeom prst="roundRect">
            <a:avLst>
              <a:gd name="adj" fmla="val 2817"/>
            </a:avLst>
          </a:prstGeom>
          <a:solidFill>
            <a:srgbClr val="FFFFFF"/>
          </a:solidFill>
          <a:ln w="12700">
            <a:solidFill>
              <a:srgbClr val="D9E4F5"/>
            </a:solidFill>
            <a:prstDash val="solid"/>
          </a:ln>
        </p:spPr>
      </p:sp>
      <p:sp>
        <p:nvSpPr>
          <p:cNvPr id="14" name="Shape 11"/>
          <p:cNvSpPr/>
          <p:nvPr/>
        </p:nvSpPr>
        <p:spPr>
          <a:xfrm>
            <a:off x="6231636" y="1517904"/>
            <a:ext cx="82296" cy="2272284"/>
          </a:xfrm>
          <a:prstGeom prst="rect">
            <a:avLst/>
          </a:prstGeom>
          <a:solidFill>
            <a:srgbClr val="29ABE2"/>
          </a:solidFill>
          <a:ln/>
        </p:spPr>
      </p:sp>
      <p:sp>
        <p:nvSpPr>
          <p:cNvPr id="15" name="Text 12"/>
          <p:cNvSpPr/>
          <p:nvPr/>
        </p:nvSpPr>
        <p:spPr>
          <a:xfrm>
            <a:off x="6451092" y="1636776"/>
            <a:ext cx="5015484" cy="237744"/>
          </a:xfrm>
          <a:prstGeom prst="rect">
            <a:avLst/>
          </a:prstGeom>
          <a:noFill/>
          <a:ln/>
        </p:spPr>
        <p:txBody>
          <a:bodyPr wrap="square" rtlCol="0" anchor="ctr"/>
          <a:lstStyle/>
          <a:p>
            <a:pPr indent="0" marL="0">
              <a:buNone/>
            </a:pPr>
            <a:r>
              <a:rPr lang="en-US" sz="900" b="1" spc="200" kern="0" dirty="0">
                <a:solidFill>
                  <a:srgbClr val="29ABE2"/>
                </a:solidFill>
                <a:latin typeface="Calibri" pitchFamily="34" charset="0"/>
                <a:ea typeface="Calibri" pitchFamily="34" charset="-122"/>
                <a:cs typeface="Calibri" pitchFamily="34" charset="-120"/>
              </a:rPr>
              <a:t>SDA-AIE-216</a:t>
            </a:r>
            <a:endParaRPr lang="en-US" sz="900" dirty="0"/>
          </a:p>
        </p:txBody>
      </p:sp>
      <p:sp>
        <p:nvSpPr>
          <p:cNvPr id="16" name="Text 13"/>
          <p:cNvSpPr/>
          <p:nvPr/>
        </p:nvSpPr>
        <p:spPr>
          <a:xfrm>
            <a:off x="6451092" y="1883664"/>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Observability next</a:t>
            </a:r>
            <a:endParaRPr lang="en-US" sz="1250" dirty="0"/>
          </a:p>
        </p:txBody>
      </p:sp>
      <p:sp>
        <p:nvSpPr>
          <p:cNvPr id="17" name="Text 14"/>
          <p:cNvSpPr/>
          <p:nvPr/>
        </p:nvSpPr>
        <p:spPr>
          <a:xfrm>
            <a:off x="6451092" y="2404872"/>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Builds on the logging and config substrate: structured JSON logs with trace_id and model_version become the raw material for observability.</a:t>
            </a:r>
            <a:endParaRPr lang="en-US" sz="980" dirty="0"/>
          </a:p>
        </p:txBody>
      </p:sp>
      <p:sp>
        <p:nvSpPr>
          <p:cNvPr id="18" name="Shape 15"/>
          <p:cNvSpPr/>
          <p:nvPr/>
        </p:nvSpPr>
        <p:spPr>
          <a:xfrm>
            <a:off x="502920" y="4046220"/>
            <a:ext cx="5454396" cy="2272284"/>
          </a:xfrm>
          <a:prstGeom prst="roundRect">
            <a:avLst>
              <a:gd name="adj" fmla="val 2817"/>
            </a:avLst>
          </a:prstGeom>
          <a:solidFill>
            <a:srgbClr val="FFFFFF"/>
          </a:solidFill>
          <a:ln w="12700">
            <a:solidFill>
              <a:srgbClr val="D9E4F5"/>
            </a:solidFill>
            <a:prstDash val="solid"/>
          </a:ln>
        </p:spPr>
      </p:sp>
      <p:sp>
        <p:nvSpPr>
          <p:cNvPr id="19" name="Shape 16"/>
          <p:cNvSpPr/>
          <p:nvPr/>
        </p:nvSpPr>
        <p:spPr>
          <a:xfrm>
            <a:off x="502920" y="4046220"/>
            <a:ext cx="82296" cy="2272284"/>
          </a:xfrm>
          <a:prstGeom prst="rect">
            <a:avLst/>
          </a:prstGeom>
          <a:solidFill>
            <a:srgbClr val="F58220"/>
          </a:solidFill>
          <a:ln/>
        </p:spPr>
      </p:sp>
      <p:sp>
        <p:nvSpPr>
          <p:cNvPr id="20" name="Text 17"/>
          <p:cNvSpPr/>
          <p:nvPr/>
        </p:nvSpPr>
        <p:spPr>
          <a:xfrm>
            <a:off x="722376" y="4165092"/>
            <a:ext cx="5015484" cy="237744"/>
          </a:xfrm>
          <a:prstGeom prst="rect">
            <a:avLst/>
          </a:prstGeom>
          <a:noFill/>
          <a:ln/>
        </p:spPr>
        <p:txBody>
          <a:bodyPr wrap="square" rtlCol="0" anchor="ctr"/>
          <a:lstStyle/>
          <a:p>
            <a:pPr indent="0" marL="0">
              <a:buNone/>
            </a:pPr>
            <a:r>
              <a:rPr lang="en-US" sz="900" b="1" spc="200" kern="0" dirty="0">
                <a:solidFill>
                  <a:srgbClr val="F58220"/>
                </a:solidFill>
                <a:latin typeface="Calibri" pitchFamily="34" charset="0"/>
                <a:ea typeface="Calibri" pitchFamily="34" charset="-122"/>
                <a:cs typeface="Calibri" pitchFamily="34" charset="-120"/>
              </a:rPr>
              <a:t>ENGINEERING BADGE</a:t>
            </a:r>
            <a:endParaRPr lang="en-US" sz="900" dirty="0"/>
          </a:p>
        </p:txBody>
      </p:sp>
      <p:sp>
        <p:nvSpPr>
          <p:cNvPr id="21" name="Text 18"/>
          <p:cNvSpPr/>
          <p:nvPr/>
        </p:nvSpPr>
        <p:spPr>
          <a:xfrm>
            <a:off x="722376"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What it takes</a:t>
            </a:r>
            <a:endParaRPr lang="en-US" sz="1250" dirty="0"/>
          </a:p>
        </p:txBody>
      </p:sp>
      <p:sp>
        <p:nvSpPr>
          <p:cNvPr id="22" name="Text 19"/>
          <p:cNvSpPr/>
          <p:nvPr/>
        </p:nvSpPr>
        <p:spPr>
          <a:xfrm>
            <a:off x="722376"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 70 overall AND capstone ≥ 70 AND zero academic-integrity flags. Badge recommendations issued within 5 working days.</a:t>
            </a:r>
            <a:endParaRPr lang="en-US" sz="980" dirty="0"/>
          </a:p>
        </p:txBody>
      </p:sp>
      <p:sp>
        <p:nvSpPr>
          <p:cNvPr id="23" name="Shape 20"/>
          <p:cNvSpPr/>
          <p:nvPr/>
        </p:nvSpPr>
        <p:spPr>
          <a:xfrm>
            <a:off x="6231636" y="4046220"/>
            <a:ext cx="5454396" cy="2272284"/>
          </a:xfrm>
          <a:prstGeom prst="roundRect">
            <a:avLst>
              <a:gd name="adj" fmla="val 2817"/>
            </a:avLst>
          </a:prstGeom>
          <a:solidFill>
            <a:srgbClr val="FFFFFF"/>
          </a:solidFill>
          <a:ln w="12700">
            <a:solidFill>
              <a:srgbClr val="D9E4F5"/>
            </a:solidFill>
            <a:prstDash val="solid"/>
          </a:ln>
        </p:spPr>
      </p:sp>
      <p:sp>
        <p:nvSpPr>
          <p:cNvPr id="24" name="Shape 21"/>
          <p:cNvSpPr/>
          <p:nvPr/>
        </p:nvSpPr>
        <p:spPr>
          <a:xfrm>
            <a:off x="6231636" y="4046220"/>
            <a:ext cx="82296" cy="2272284"/>
          </a:xfrm>
          <a:prstGeom prst="rect">
            <a:avLst/>
          </a:prstGeom>
          <a:solidFill>
            <a:srgbClr val="8DC63F"/>
          </a:solidFill>
          <a:ln/>
        </p:spPr>
      </p:sp>
      <p:sp>
        <p:nvSpPr>
          <p:cNvPr id="25" name="Text 22"/>
          <p:cNvSpPr/>
          <p:nvPr/>
        </p:nvSpPr>
        <p:spPr>
          <a:xfrm>
            <a:off x="6451092" y="4165092"/>
            <a:ext cx="5015484" cy="237744"/>
          </a:xfrm>
          <a:prstGeom prst="rect">
            <a:avLst/>
          </a:prstGeom>
          <a:noFill/>
          <a:ln/>
        </p:spPr>
        <p:txBody>
          <a:bodyPr wrap="square" rtlCol="0" anchor="ctr"/>
          <a:lstStyle/>
          <a:p>
            <a:pPr indent="0" marL="0">
              <a:buNone/>
            </a:pPr>
            <a:r>
              <a:rPr lang="en-US" sz="900" b="1" spc="200" kern="0" dirty="0">
                <a:solidFill>
                  <a:srgbClr val="8DC63F"/>
                </a:solidFill>
                <a:latin typeface="Calibri" pitchFamily="34" charset="0"/>
                <a:ea typeface="Calibri" pitchFamily="34" charset="-122"/>
                <a:cs typeface="Calibri" pitchFamily="34" charset="-120"/>
              </a:rPr>
              <a:t>FINAL 15 MINUTES</a:t>
            </a:r>
            <a:endParaRPr lang="en-US" sz="900" dirty="0"/>
          </a:p>
        </p:txBody>
      </p:sp>
      <p:sp>
        <p:nvSpPr>
          <p:cNvPr id="26" name="Text 23"/>
          <p:cNvSpPr/>
          <p:nvPr/>
        </p:nvSpPr>
        <p:spPr>
          <a:xfrm>
            <a:off x="6451092" y="4411980"/>
            <a:ext cx="5015484" cy="50292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Close the loop</a:t>
            </a:r>
            <a:endParaRPr lang="en-US" sz="1250" dirty="0"/>
          </a:p>
        </p:txBody>
      </p:sp>
      <p:sp>
        <p:nvSpPr>
          <p:cNvPr id="27" name="Text 24"/>
          <p:cNvSpPr/>
          <p:nvPr/>
        </p:nvSpPr>
        <p:spPr>
          <a:xfrm>
            <a:off x="6451092" y="4933188"/>
            <a:ext cx="5015484" cy="1266444"/>
          </a:xfrm>
          <a:prstGeom prst="rect">
            <a:avLst/>
          </a:prstGeom>
          <a:noFill/>
          <a:ln/>
        </p:spPr>
        <p:txBody>
          <a:bodyPr wrap="square" rtlCol="0" anchor="t"/>
          <a:lstStyle/>
          <a:p>
            <a:pPr indent="0" marL="0">
              <a:buNone/>
            </a:pPr>
            <a:r>
              <a:rPr lang="en-US" sz="980" dirty="0">
                <a:solidFill>
                  <a:srgbClr val="5F6B7A"/>
                </a:solidFill>
                <a:latin typeface="Calibri" pitchFamily="34" charset="0"/>
                <a:ea typeface="Calibri" pitchFamily="34" charset="-122"/>
                <a:cs typeface="Calibri" pitchFamily="34" charset="-120"/>
              </a:rPr>
              <a:t>Map each mandatory capstone requirement to the module that taught it; collect repo URLs, BENCHMARKS.md and DECISIONS.md before the room leaves.</a:t>
            </a:r>
            <a:endParaRPr lang="en-US" sz="98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flipH="1" rot="5400000">
            <a:off x="9692640" y="1124712"/>
            <a:ext cx="329184" cy="288036"/>
          </a:xfrm>
          <a:prstGeom prst="triangle">
            <a:avLst/>
          </a:prstGeom>
          <a:solidFill>
            <a:srgbClr val="00A79D"/>
          </a:solidFill>
          <a:ln/>
        </p:spPr>
      </p:sp>
      <p:sp>
        <p:nvSpPr>
          <p:cNvPr id="3" name="Shape 1"/>
          <p:cNvSpPr/>
          <p:nvPr/>
        </p:nvSpPr>
        <p:spPr>
          <a:xfrm rot="5400000">
            <a:off x="10041575" y="836676"/>
            <a:ext cx="329184" cy="288036"/>
          </a:xfrm>
          <a:prstGeom prst="triangle">
            <a:avLst/>
          </a:prstGeom>
          <a:solidFill>
            <a:srgbClr val="29ABE2"/>
          </a:solidFill>
          <a:ln/>
        </p:spPr>
      </p:sp>
      <p:sp>
        <p:nvSpPr>
          <p:cNvPr id="4" name="Shape 2"/>
          <p:cNvSpPr/>
          <p:nvPr/>
        </p:nvSpPr>
        <p:spPr>
          <a:xfrm rot="5400000">
            <a:off x="10041575" y="1412748"/>
            <a:ext cx="329184" cy="288036"/>
          </a:xfrm>
          <a:prstGeom prst="triangle">
            <a:avLst/>
          </a:prstGeom>
          <a:solidFill>
            <a:srgbClr val="F58220"/>
          </a:solidFill>
          <a:ln/>
        </p:spPr>
      </p:sp>
      <p:sp>
        <p:nvSpPr>
          <p:cNvPr id="5" name="Shape 3"/>
          <p:cNvSpPr/>
          <p:nvPr/>
        </p:nvSpPr>
        <p:spPr>
          <a:xfrm flipH="1" rot="5400000">
            <a:off x="10390510" y="548640"/>
            <a:ext cx="329184" cy="288036"/>
          </a:xfrm>
          <a:prstGeom prst="triangle">
            <a:avLst/>
          </a:prstGeom>
          <a:solidFill>
            <a:srgbClr val="8DC63F"/>
          </a:solidFill>
          <a:ln/>
        </p:spPr>
      </p:sp>
      <p:sp>
        <p:nvSpPr>
          <p:cNvPr id="6" name="Shape 4"/>
          <p:cNvSpPr/>
          <p:nvPr/>
        </p:nvSpPr>
        <p:spPr>
          <a:xfrm rot="5400000">
            <a:off x="10390510" y="1124712"/>
            <a:ext cx="329184" cy="288036"/>
          </a:xfrm>
          <a:prstGeom prst="triangle">
            <a:avLst/>
          </a:prstGeom>
          <a:solidFill>
            <a:srgbClr val="B9C8E8"/>
          </a:solidFill>
          <a:ln/>
        </p:spPr>
      </p:sp>
      <p:sp>
        <p:nvSpPr>
          <p:cNvPr id="7" name="Shape 5"/>
          <p:cNvSpPr/>
          <p:nvPr/>
        </p:nvSpPr>
        <p:spPr>
          <a:xfrm rot="5400000">
            <a:off x="10739445" y="836676"/>
            <a:ext cx="329184" cy="288036"/>
          </a:xfrm>
          <a:prstGeom prst="triangle">
            <a:avLst/>
          </a:prstGeom>
          <a:solidFill>
            <a:srgbClr val="00A79D"/>
          </a:solidFill>
          <a:ln/>
        </p:spPr>
      </p:sp>
      <p:sp>
        <p:nvSpPr>
          <p:cNvPr id="8" name="Shape 6"/>
          <p:cNvSpPr/>
          <p:nvPr/>
        </p:nvSpPr>
        <p:spPr>
          <a:xfrm flipH="1" rot="5400000">
            <a:off x="10739445" y="1412748"/>
            <a:ext cx="329184" cy="288036"/>
          </a:xfrm>
          <a:prstGeom prst="triangle">
            <a:avLst/>
          </a:prstGeom>
          <a:solidFill>
            <a:srgbClr val="29ABE2"/>
          </a:solidFill>
          <a:ln/>
        </p:spPr>
      </p:sp>
      <p:sp>
        <p:nvSpPr>
          <p:cNvPr id="9" name="Shape 7"/>
          <p:cNvSpPr/>
          <p:nvPr/>
        </p:nvSpPr>
        <p:spPr>
          <a:xfrm rot="5400000">
            <a:off x="11088380" y="1124712"/>
            <a:ext cx="329184" cy="288036"/>
          </a:xfrm>
          <a:prstGeom prst="triangle">
            <a:avLst/>
          </a:prstGeom>
          <a:solidFill>
            <a:srgbClr val="F58220"/>
          </a:solidFill>
          <a:ln/>
        </p:spPr>
      </p:sp>
      <p:sp>
        <p:nvSpPr>
          <p:cNvPr id="10" name="Shape 8"/>
          <p:cNvSpPr/>
          <p:nvPr/>
        </p:nvSpPr>
        <p:spPr>
          <a:xfrm flipH="1" rot="5400000">
            <a:off x="640080" y="5875020"/>
            <a:ext cx="274320" cy="240030"/>
          </a:xfrm>
          <a:prstGeom prst="triangle">
            <a:avLst/>
          </a:prstGeom>
          <a:solidFill>
            <a:srgbClr val="B9C8E8"/>
          </a:solidFill>
          <a:ln/>
        </p:spPr>
      </p:sp>
      <p:sp>
        <p:nvSpPr>
          <p:cNvPr id="11" name="Shape 9"/>
          <p:cNvSpPr/>
          <p:nvPr/>
        </p:nvSpPr>
        <p:spPr>
          <a:xfrm rot="5400000">
            <a:off x="930859" y="5634990"/>
            <a:ext cx="274320" cy="240030"/>
          </a:xfrm>
          <a:prstGeom prst="triangle">
            <a:avLst/>
          </a:prstGeom>
          <a:solidFill>
            <a:srgbClr val="DCE6F8"/>
          </a:solidFill>
          <a:ln/>
        </p:spPr>
      </p:sp>
      <p:sp>
        <p:nvSpPr>
          <p:cNvPr id="12" name="Shape 10"/>
          <p:cNvSpPr/>
          <p:nvPr/>
        </p:nvSpPr>
        <p:spPr>
          <a:xfrm rot="5400000">
            <a:off x="930859" y="6115050"/>
            <a:ext cx="274320" cy="240030"/>
          </a:xfrm>
          <a:prstGeom prst="triangle">
            <a:avLst/>
          </a:prstGeom>
          <a:solidFill>
            <a:srgbClr val="00A79D"/>
          </a:solidFill>
          <a:ln/>
        </p:spPr>
      </p:sp>
      <p:sp>
        <p:nvSpPr>
          <p:cNvPr id="13" name="Shape 11"/>
          <p:cNvSpPr/>
          <p:nvPr/>
        </p:nvSpPr>
        <p:spPr>
          <a:xfrm flipH="1" rot="5400000">
            <a:off x="1221638" y="5394960"/>
            <a:ext cx="274320" cy="240030"/>
          </a:xfrm>
          <a:prstGeom prst="triangle">
            <a:avLst/>
          </a:prstGeom>
          <a:solidFill>
            <a:srgbClr val="29ABE2"/>
          </a:solidFill>
          <a:ln/>
        </p:spPr>
      </p:sp>
      <p:sp>
        <p:nvSpPr>
          <p:cNvPr id="14" name="Shape 12"/>
          <p:cNvSpPr/>
          <p:nvPr/>
        </p:nvSpPr>
        <p:spPr>
          <a:xfrm rot="5400000">
            <a:off x="1221638" y="5875020"/>
            <a:ext cx="274320" cy="240030"/>
          </a:xfrm>
          <a:prstGeom prst="triangle">
            <a:avLst/>
          </a:prstGeom>
          <a:solidFill>
            <a:srgbClr val="B9C8E8"/>
          </a:solidFill>
          <a:ln/>
        </p:spPr>
      </p:sp>
      <p:sp>
        <p:nvSpPr>
          <p:cNvPr id="15" name="Shape 13"/>
          <p:cNvSpPr/>
          <p:nvPr/>
        </p:nvSpPr>
        <p:spPr>
          <a:xfrm rot="5400000">
            <a:off x="1512418" y="5634990"/>
            <a:ext cx="274320" cy="240030"/>
          </a:xfrm>
          <a:prstGeom prst="triangle">
            <a:avLst/>
          </a:prstGeom>
          <a:solidFill>
            <a:srgbClr val="DCE6F8"/>
          </a:solidFill>
          <a:ln/>
        </p:spPr>
      </p:sp>
      <p:sp>
        <p:nvSpPr>
          <p:cNvPr id="16" name="Shape 14"/>
          <p:cNvSpPr/>
          <p:nvPr/>
        </p:nvSpPr>
        <p:spPr>
          <a:xfrm flipH="1" rot="5400000">
            <a:off x="1512418" y="6115050"/>
            <a:ext cx="274320" cy="240030"/>
          </a:xfrm>
          <a:prstGeom prst="triangle">
            <a:avLst/>
          </a:prstGeom>
          <a:solidFill>
            <a:srgbClr val="00A79D"/>
          </a:solidFill>
          <a:ln/>
        </p:spPr>
      </p:sp>
      <p:sp>
        <p:nvSpPr>
          <p:cNvPr id="17" name="Shape 15"/>
          <p:cNvSpPr/>
          <p:nvPr/>
        </p:nvSpPr>
        <p:spPr>
          <a:xfrm rot="5400000">
            <a:off x="1803197" y="5875020"/>
            <a:ext cx="274320" cy="240030"/>
          </a:xfrm>
          <a:prstGeom prst="triangle">
            <a:avLst/>
          </a:prstGeom>
          <a:solidFill>
            <a:srgbClr val="29ABE2"/>
          </a:solidFill>
          <a:ln/>
        </p:spPr>
      </p:sp>
      <p:sp>
        <p:nvSpPr>
          <p:cNvPr id="18" name="Text 16"/>
          <p:cNvSpPr/>
          <p:nvPr/>
        </p:nvSpPr>
        <p:spPr>
          <a:xfrm>
            <a:off x="1097280" y="1920240"/>
            <a:ext cx="10058400" cy="365760"/>
          </a:xfrm>
          <a:prstGeom prst="rect">
            <a:avLst/>
          </a:prstGeom>
          <a:noFill/>
          <a:ln/>
        </p:spPr>
        <p:txBody>
          <a:bodyPr wrap="square" rtlCol="0" anchor="ctr"/>
          <a:lstStyle/>
          <a:p>
            <a:pPr algn="ctr" indent="0" marL="0">
              <a:buNone/>
            </a:pPr>
            <a:r>
              <a:rPr lang="en-US" sz="1300" b="1" spc="300" kern="0" dirty="0">
                <a:solidFill>
                  <a:srgbClr val="00A79D"/>
                </a:solidFill>
                <a:latin typeface="Calibri" pitchFamily="34" charset="0"/>
                <a:ea typeface="Calibri" pitchFamily="34" charset="-122"/>
                <a:cs typeface="Calibri" pitchFamily="34" charset="-120"/>
              </a:rPr>
              <a:t>CLOSING</a:t>
            </a:r>
            <a:endParaRPr lang="en-US" sz="1300" dirty="0"/>
          </a:p>
        </p:txBody>
      </p:sp>
      <p:sp>
        <p:nvSpPr>
          <p:cNvPr id="19" name="Text 17"/>
          <p:cNvSpPr/>
          <p:nvPr/>
        </p:nvSpPr>
        <p:spPr>
          <a:xfrm>
            <a:off x="1097280" y="2377440"/>
            <a:ext cx="9994392" cy="1737360"/>
          </a:xfrm>
          <a:prstGeom prst="rect">
            <a:avLst/>
          </a:prstGeom>
          <a:noFill/>
          <a:ln/>
        </p:spPr>
        <p:txBody>
          <a:bodyPr wrap="square" rtlCol="0" anchor="ctr"/>
          <a:lstStyle/>
          <a:p>
            <a:pPr algn="ctr" indent="0" marL="0">
              <a:buNone/>
            </a:pPr>
            <a:r>
              <a:rPr lang="en-US" sz="3000" b="1" dirty="0">
                <a:solidFill>
                  <a:srgbClr val="1D2A5C"/>
                </a:solidFill>
                <a:latin typeface="Calibri" pitchFamily="34" charset="0"/>
                <a:ea typeface="Calibri" pitchFamily="34" charset="-122"/>
                <a:cs typeface="Calibri" pitchFamily="34" charset="-120"/>
              </a:rPr>
              <a:t>The repository is the audit evidence — ship services that prove their own quality.</a:t>
            </a:r>
            <a:endParaRPr lang="en-US" sz="3000" dirty="0"/>
          </a:p>
        </p:txBody>
      </p:sp>
      <p:sp>
        <p:nvSpPr>
          <p:cNvPr id="20" name="Text 18"/>
          <p:cNvSpPr/>
          <p:nvPr/>
        </p:nvSpPr>
        <p:spPr>
          <a:xfrm>
            <a:off x="2011680" y="4251960"/>
            <a:ext cx="8165592" cy="822960"/>
          </a:xfrm>
          <a:prstGeom prst="rect">
            <a:avLst/>
          </a:prstGeom>
          <a:noFill/>
          <a:ln/>
        </p:spPr>
        <p:txBody>
          <a:bodyPr wrap="square" rtlCol="0" anchor="t"/>
          <a:lstStyle/>
          <a:p>
            <a:pPr algn="ctr" indent="0" marL="0">
              <a:buNone/>
            </a:pPr>
            <a:r>
              <a:rPr lang="en-US" sz="1350" dirty="0">
                <a:solidFill>
                  <a:srgbClr val="5F6B7A"/>
                </a:solidFill>
                <a:latin typeface="Calibri" pitchFamily="34" charset="0"/>
                <a:ea typeface="Calibri" pitchFamily="34" charset="-122"/>
                <a:cs typeface="Calibri" pitchFamily="34" charset="-120"/>
              </a:rPr>
              <a:t>Three days ago this was a notebook. Today it is a tested, containerised, pipeline-validated service — the exact artefact SDA-AIE-211 deploys.</a:t>
            </a:r>
            <a:endParaRPr lang="en-US" sz="1350" dirty="0"/>
          </a:p>
        </p:txBody>
      </p:sp>
      <p:pic>
        <p:nvPicPr>
          <p:cNvPr id="21" name="Image 0" descr="/sessions/nice-jolly-fermat/build/assets/image1.png">    </p:cNvPr>
          <p:cNvPicPr>
            <a:picLocks noChangeAspect="1"/>
          </p:cNvPicPr>
          <p:nvPr/>
        </p:nvPicPr>
        <p:blipFill>
          <a:blip r:embed="rId1"/>
          <a:stretch>
            <a:fillRect/>
          </a:stretch>
        </p:blipFill>
        <p:spPr>
          <a:xfrm>
            <a:off x="5559552" y="6172200"/>
            <a:ext cx="1078992" cy="265176"/>
          </a:xfrm>
          <a:prstGeom prst="rect">
            <a:avLst/>
          </a:prstGeom>
        </p:spPr>
      </p:pic>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50" b="1" spc="100" kern="0" dirty="0">
                <a:solidFill>
                  <a:srgbClr val="00A79D"/>
                </a:solidFill>
                <a:latin typeface="Calibri" pitchFamily="34" charset="0"/>
                <a:ea typeface="Calibri" pitchFamily="34" charset="-122"/>
                <a:cs typeface="Calibri" pitchFamily="34" charset="-120"/>
              </a:rPr>
              <a:t>WRAP-UP   </a:t>
            </a:r>
            <a:pPr algn="l" indent="0" marL="0">
              <a:buNone/>
            </a:pPr>
            <a:r>
              <a:rPr lang="en-US" sz="850" spc="100" kern="0" dirty="0">
                <a:solidFill>
                  <a:srgbClr val="8A96A6"/>
                </a:solidFill>
                <a:latin typeface="Calibri" pitchFamily="34" charset="0"/>
                <a:ea typeface="Calibri" pitchFamily="34" charset="-122"/>
                <a:cs typeface="Calibri" pitchFamily="34" charset="-120"/>
              </a:rPr>
              <a:t>SDA-AIE-113 · Software Engineering Practices for AI Systems</a:t>
            </a:r>
            <a:endParaRPr lang="en-US" sz="85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50" dirty="0">
                <a:solidFill>
                  <a:srgbClr val="8A96A6"/>
                </a:solidFill>
                <a:latin typeface="Calibri" pitchFamily="34" charset="0"/>
                <a:ea typeface="Calibri" pitchFamily="34" charset="-122"/>
                <a:cs typeface="Calibri" pitchFamily="34" charset="-120"/>
              </a:rPr>
              <a:t>150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SDA-AIE-113 — Software Engineering Practices for AI Systems — Instructor Training Deck</dc:title>
  <dc:subject>PptxGenJS Presentation</dc:subject>
  <dc:creator>SDAIA Academy</dc:creator>
  <cp:lastModifiedBy>SDAIA Academy</cp:lastModifiedBy>
  <cp:revision>1</cp:revision>
  <dcterms:created xsi:type="dcterms:W3CDTF">2026-07-12T07:22:01Z</dcterms:created>
  <dcterms:modified xsi:type="dcterms:W3CDTF">2026-07-12T07:22:01Z</dcterms:modified>
</cp:coreProperties>
</file>