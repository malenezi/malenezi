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268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2926080" cy="0"/>
          </a:xfrm>
          <a:prstGeom prst="line">
            <a:avLst/>
          </a:prstGeom>
          <a:noFill/>
          <a:ln w="19050">
            <a:solidFill>
              <a:srgbClr val="9FB3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574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Stackable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&amp; Data Scientist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Competency-based professional pathways · 10-15 hour modules · stackable micro-credentials · shared foundation and role-specific tracks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Building Sector · SDAIA Academy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principles behind the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88" y="20103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465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Competency-based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937760" y="169164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badge maps to specific competency IDs from the SDAIA model — completion is auditable against the blueprint.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063240"/>
            <a:ext cx="502920" cy="502920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88" y="319902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352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288036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bundle into badges, badges into certificates, and certificates share a common base.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88" y="438774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239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937760" y="40690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 is enforced only where a real prerequisite exists — built for self-paced and cohort delivery.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5F7FB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5440680"/>
            <a:ext cx="502920" cy="502920"/>
          </a:xfrm>
          <a:prstGeom prst="ellipse">
            <a:avLst/>
          </a:prstGeom>
          <a:solidFill>
            <a:srgbClr val="1C35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188" y="557646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3126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Industry-aligned tiers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4937760" y="525780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Specialist foundation, a role specialization layer, and a capstone that certifies applied competence.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core feeds two role tracks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77440" y="1508760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77440" y="162763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Foundation Core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377440" y="20116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4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SF-1 to SF-5  ·  ~64h  ·  counts toward both roles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2377440"/>
            <a:ext cx="0" cy="50292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138160" y="2377440"/>
            <a:ext cx="822960" cy="50292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" y="29718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315468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" y="3278124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74520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track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87452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AE-1 to AE-8 · ~109h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91840" y="3794760"/>
            <a:ext cx="0" cy="32004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005840" y="4142232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14223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Capstone · ~15h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4709160"/>
            <a:ext cx="0" cy="292608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005840" y="5038344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534AB7"/>
          </a:solidFill>
          <a:ln/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143000" y="503834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Professional
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~188h total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0" y="2971800"/>
            <a:ext cx="4572000" cy="822960"/>
          </a:xfrm>
          <a:prstGeom prst="roundRect">
            <a:avLst>
              <a:gd name="adj" fmla="val 8889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12280" y="3154680"/>
            <a:ext cx="457200" cy="457200"/>
          </a:xfrm>
          <a:prstGeom prst="ellipse">
            <a:avLst/>
          </a:prstGeom>
          <a:solidFill>
            <a:srgbClr val="993C1D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724" y="3278124"/>
            <a:ext cx="210312" cy="21031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52360" y="30815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track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745236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DS-1 to DS-6 · ~94h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869680" y="3794760"/>
            <a:ext cx="0" cy="320040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583680" y="4142232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5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0840" y="414223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 · ~15h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69680" y="4709160"/>
            <a:ext cx="0" cy="292608"/>
          </a:xfrm>
          <a:prstGeom prst="line">
            <a:avLst/>
          </a:prstGeom>
          <a:noFill/>
          <a:ln w="19050">
            <a:solidFill>
              <a:srgbClr val="9AA6B8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583680" y="5038344"/>
            <a:ext cx="4572000" cy="640080"/>
          </a:xfrm>
          <a:prstGeom prst="roundRect">
            <a:avLst>
              <a:gd name="adj" fmla="val 8571"/>
            </a:avLst>
          </a:prstGeom>
          <a:solidFill>
            <a:srgbClr val="993C1D"/>
          </a:solidFill>
          <a:ln/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720840" y="5038344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Professional
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~165h total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5577840" y="3383280"/>
            <a:ext cx="1005840" cy="0"/>
          </a:xfrm>
          <a:prstGeom prst="line">
            <a:avLst/>
          </a:prstGeom>
          <a:noFill/>
          <a:ln w="12700">
            <a:solidFill>
              <a:srgbClr val="B0B8C4"/>
            </a:solidFill>
            <a:prstDash val="dash"/>
            <a:headEnd type="triangle"/>
            <a:tailEnd type="triangle"/>
          </a:ln>
        </p:spPr>
      </p:sp>
      <p:sp>
        <p:nvSpPr>
          <p:cNvPr id="32" name="Text 28"/>
          <p:cNvSpPr/>
          <p:nvPr/>
        </p:nvSpPr>
        <p:spPr>
          <a:xfrm>
            <a:off x="5577840" y="3429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shared core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· SHARED FOUNDATION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modules that count toward both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01368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86" y="191987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099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P2.1.01   </a:t>
            </a:r>
            <a:r>
              <a:rPr lang="en-US" sz="15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Foundations for AI and Analytics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08760" y="20574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AIE-C03 (full)  ·  DSC-C02 (foundational)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241280" y="160020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253288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734056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186" y="2852562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426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P2.1.02   </a:t>
            </a:r>
            <a:r>
              <a:rPr lang="en-US" sz="15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Machine Learning Essentials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508760" y="29900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AIE-C01 (core)  ·  DSC-C03 (core)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241280" y="2532888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666744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86" y="3785250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357530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P2.1.03   </a:t>
            </a:r>
            <a:r>
              <a:rPr lang="en-US" sz="15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and Validation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508760" y="39227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AIE-C04 (full)  ·  DSC-C04 (validation)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0241280" y="3465576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40080" y="439826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/>
        </p:spPr>
      </p:sp>
      <p:sp>
        <p:nvSpPr>
          <p:cNvPr id="23" name="Shape 18"/>
          <p:cNvSpPr/>
          <p:nvPr/>
        </p:nvSpPr>
        <p:spPr>
          <a:xfrm>
            <a:off x="868680" y="4599432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186" y="4717938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5079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P7.1.01   </a:t>
            </a:r>
            <a:r>
              <a:rPr lang="en-US" sz="15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and Saudi Data Governance: PDPL and SDAIA Ethics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508760" y="48554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AIE-C10 (core)  ·  DSC-C06 (full)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0241280" y="4398264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40080" y="533095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5F7FB"/>
          </a:solidFill>
          <a:ln/>
        </p:spPr>
      </p:sp>
      <p:sp>
        <p:nvSpPr>
          <p:cNvPr id="29" name="Shape 23"/>
          <p:cNvSpPr/>
          <p:nvPr/>
        </p:nvSpPr>
        <p:spPr>
          <a:xfrm>
            <a:off x="868680" y="5532120"/>
            <a:ext cx="438912" cy="438912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186" y="5650626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08760" y="5440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P2.1.04   </a:t>
            </a:r>
            <a:r>
              <a:rPr lang="en-US" sz="15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Framing and Communication for AI Solutions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508760" y="57881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AIE-C11 (full)  ·  DSC-C07 (framing/collaboration)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0241280" y="5330952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AI ENGINEER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modules plus an applied capstone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and Foundation Models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5424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(RAG) 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35424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and LLM Application Engineering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47888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Software Engineering and Systems Integration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2544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5424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35424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and LLMOps: Deployment and Model Lifecycle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35424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47888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888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Observability, Reliability, and Incident Response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47888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919472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193792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Performance, Scalability, and Cost Optimization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" y="581558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52544" y="4773168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35424" y="4919472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35424" y="5193792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LLM Security: Threats and Mitigation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35424" y="581558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65008" y="4773168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47888" y="4919472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P5.1.09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47888" y="5193792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Capstone: Production Generative-AI Systems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247888" y="581558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ED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· DATA SCIENTIST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 plus an applied capstone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Foundations and Inference for Data Science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5424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Engineering for Analytics at Scale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35424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5008" y="1554480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700784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19751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ML for Intelligent Systems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47888" y="2596896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 and Causal Inference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2544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35424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35424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Visualization, Insight, and Storytelling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35424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65008" y="3163824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47888" y="3310128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47888" y="3584448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Data Science and GenAI-Assisted Workflows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47888" y="420624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773168"/>
            <a:ext cx="3456432" cy="1371600"/>
          </a:xfrm>
          <a:prstGeom prst="roundRect">
            <a:avLst>
              <a:gd name="adj" fmla="val 3333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919472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P6.1.07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193792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Capstone: From Question to Decision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22960" y="581558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 ·  </a:t>
            </a:r>
            <a:r>
              <a:rPr lang="en-US" sz="1100" b="1" dirty="0">
                <a:solidFill>
                  <a:srgbClr val="EDE9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Stackable credentials and a cross-role bridge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926080" y="1783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Foundation Core — earned once, counts toward both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~124h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26080" y="28346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→ AI Engineer: only the AE track + capstone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~101h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26080" y="38862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→ Data Scientist: only the DS track + capstone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737360"/>
            <a:ext cx="4114800" cy="3154680"/>
          </a:xfrm>
          <a:prstGeom prst="roundRect">
            <a:avLst>
              <a:gd name="adj" fmla="val 1739"/>
            </a:avLst>
          </a:prstGeom>
          <a:solidFill>
            <a:srgbClr val="1C355E"/>
          </a:solidFill>
          <a:ln/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26680" y="205740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502" y="2230222"/>
            <a:ext cx="294437" cy="29443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496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one, bridge to the other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26680" y="2926080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module is a stackable badge.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bundle into nested certificates.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shared base is never re-taken when earning the second credential.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competency coverage of both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188" y="20103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34AB7"/>
                </a:solidFill>
              </a:rPr>
              <a:t>11 / 11</a:t>
            </a:r>
            <a:r>
              <a:rPr lang="en-US" sz="1300" dirty="0">
                <a:solidFill>
                  <a:srgbClr val="5F5E5A"/>
                </a:solidFill>
              </a:rPr>
              <a:t>  competencies mapped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01168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SF-2 + AE-1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33512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011680" y="33512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AE-2 + AE-3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5935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3593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383590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38359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0782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011680" y="4078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43205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43205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5628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011680" y="4562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480517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011680" y="48051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AE-7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4400" y="504748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AIE-C09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011680" y="50474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AE-8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" y="52898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AIE-C10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011680" y="52898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SF-4 + AE-3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14400" y="55321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AIE-C11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011680" y="5532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SF-5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63640" y="1645920"/>
            <a:ext cx="5257800" cy="4297680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993C1D"/>
          </a:solidFill>
          <a:ln/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748" y="2010308"/>
            <a:ext cx="231343" cy="23134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17804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model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537960" y="2514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3C1D"/>
                </a:solidFill>
              </a:rPr>
              <a:t>7 / 7</a:t>
            </a:r>
            <a:r>
              <a:rPr lang="en-US" sz="1300" dirty="0">
                <a:solidFill>
                  <a:srgbClr val="5F5E5A"/>
                </a:solidFill>
              </a:rPr>
              <a:t>  competencies mapped</a:t>
            </a:r>
            <a:endParaRPr lang="en-US" sz="3000" dirty="0"/>
          </a:p>
        </p:txBody>
      </p:sp>
      <p:sp>
        <p:nvSpPr>
          <p:cNvPr id="36" name="Text 32"/>
          <p:cNvSpPr/>
          <p:nvPr/>
        </p:nvSpPr>
        <p:spPr>
          <a:xfrm>
            <a:off x="6537960" y="310896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DSC-C01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7635240" y="3108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537960" y="33512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DSC-C02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7635240" y="33512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SF-1 + DS-2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537960" y="35935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DSC-C03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7635240" y="3593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SF-2 + DS-3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6537960" y="383590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DSC-C04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7635240" y="38359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SF-3 + DS-4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537960" y="40782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DSC-C05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7635240" y="40782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DS-5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6537960" y="432054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DSC-C06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7635240" y="43205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SF-4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6537960" y="45628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DSC-C07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7635240" y="45628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SF-5 + DS-6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nested certificates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40233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86000"/>
            <a:ext cx="3383280" cy="32004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200162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2121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 Foundations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~64h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1440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bundle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37673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SF-1 to SF-5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572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818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base for both roles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89120" y="1691640"/>
            <a:ext cx="3383280" cy="40233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89120" y="16916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EEEDFE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9120" y="2286000"/>
            <a:ext cx="3383280" cy="32004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262" y="2001622"/>
            <a:ext cx="294437" cy="29443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40680" y="2121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 Professional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466344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~188h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466344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bundle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663440" y="37673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AE-1…8 + Capstone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663440" y="4572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63440" y="4818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GenAI systems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138160" y="1691640"/>
            <a:ext cx="3383280" cy="402336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8090A8">
                <a:alpha val="2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138160" y="169164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/>
        </p:spPr>
      </p:sp>
      <p:sp>
        <p:nvSpPr>
          <p:cNvPr id="30" name="Shape 26"/>
          <p:cNvSpPr/>
          <p:nvPr/>
        </p:nvSpPr>
        <p:spPr>
          <a:xfrm>
            <a:off x="8138160" y="2286000"/>
            <a:ext cx="3383280" cy="32004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993C1D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302" y="2001622"/>
            <a:ext cx="294437" cy="294437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189720" y="1874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9189720" y="212140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Professional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8412480" y="2834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~165h</a:t>
            </a:r>
            <a:endParaRPr lang="en-US" sz="3000" dirty="0"/>
          </a:p>
        </p:txBody>
      </p:sp>
      <p:sp>
        <p:nvSpPr>
          <p:cNvPr id="36" name="Text 31"/>
          <p:cNvSpPr/>
          <p:nvPr/>
        </p:nvSpPr>
        <p:spPr>
          <a:xfrm>
            <a:off x="8412480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bundle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412480" y="37673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+ DS-1…6 + Capstone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8412480" y="4572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412480" y="48188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question to decision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flexible, auditable pathway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modules · 3 certificates · 100% competency coverage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3585820"/>
            <a:ext cx="189281" cy="1892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474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modules to SDAIA Academy badge and assessment systems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4225900"/>
            <a:ext cx="189281" cy="1892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41148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item banks per module aligned to the competency exam blueprint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4754880"/>
            <a:ext cx="411480" cy="411480"/>
          </a:xfrm>
          <a:prstGeom prst="ellipse">
            <a:avLst/>
          </a:prstGeom>
          <a:solidFill>
            <a:srgbClr val="534AB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4865980"/>
            <a:ext cx="189281" cy="1892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4754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the Shared Foundation Core as a cross-role cohort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 · Capacity Building Sector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</Words>
  <Application>Microsoft Office PowerPoint</Application>
  <PresentationFormat>Widescreen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SDAIA Academy — Modular Stackable Learning Paths</dc:title>
  <dc:subject>PptxGenJS Presentation</dc:subject>
  <dc:creator>SDAIA Academy</dc:creator>
  <cp:lastModifiedBy>Mamdouh Alenezi</cp:lastModifiedBy>
  <cp:revision>3</cp:revision>
  <dcterms:created xsi:type="dcterms:W3CDTF">2026-06-29T06:13:45Z</dcterms:created>
  <dcterms:modified xsi:type="dcterms:W3CDTF">2026-06-29T09:35:23Z</dcterms:modified>
</cp:coreProperties>
</file>