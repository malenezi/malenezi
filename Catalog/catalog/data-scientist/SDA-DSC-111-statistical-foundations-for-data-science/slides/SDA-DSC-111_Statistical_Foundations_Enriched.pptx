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2.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slides/charts/chart3.xml" ContentType="application/vnd.openxmlformats-officedocument.drawingml.chart+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slides/charts/chart4.xml" ContentType="application/vnd.openxmlformats-officedocument.drawingml.chart+xml"/>
  <Override PartName="/ppt/notesSlides/notesSlide44.xml" ContentType="application/vnd.openxmlformats-officedocument.presentationml.notesSlide+xml"/>
  <Override PartName="/ppt/slides/slide45.xml" ContentType="application/vnd.openxmlformats-officedocument.presentationml.slide+xml"/>
  <Override PartName="/ppt/slides/charts/chart5.xml" ContentType="application/vnd.openxmlformats-officedocument.drawingml.chart+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slides/charts/chart6.xml" ContentType="application/vnd.openxmlformats-officedocument.drawingml.chart+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666e42f0e14095" /><Relationship Type="http://schemas.openxmlformats.org/officeDocument/2006/relationships/extended-properties" Target="/docProps/app.xml" Id="R46af3ff2eeb44f9f" /><Relationship Type="http://schemas.openxmlformats.org/officeDocument/2006/relationships/officeDocument" Target="/ppt/presentation.xml" Id="R8ab9bb85e35841ba" /></Relationships>
</file>

<file path=ppt/presentation.xml><?xml version="1.0" encoding="utf-8"?>
<p:presentation xmlns:p="http://schemas.openxmlformats.org/presentationml/2006/main">
  <p:sldMasterIdLst>
    <p:sldMasterId xmlns:r="http://schemas.openxmlformats.org/officeDocument/2006/relationships" id="2147483648" r:id="Rb9b2da28ccef4737"/>
  </p:sldMasterIdLst>
  <p:notesMasterIdLst>
    <p:notesMasterId xmlns:r="http://schemas.openxmlformats.org/officeDocument/2006/relationships" r:id="Rc4bdcaca17ae4f44"/>
  </p:notesMasterIdLst>
  <p:sldIdLst>
    <p:sldId xmlns:r="http://schemas.openxmlformats.org/officeDocument/2006/relationships" id="256" r:id="R5469b23a9fb544bc"/>
    <p:sldId xmlns:r="http://schemas.openxmlformats.org/officeDocument/2006/relationships" id="257" r:id="R22399c614d5d4d63"/>
    <p:sldId xmlns:r="http://schemas.openxmlformats.org/officeDocument/2006/relationships" id="258" r:id="Ra1e3e61f218f4dfd"/>
    <p:sldId xmlns:r="http://schemas.openxmlformats.org/officeDocument/2006/relationships" id="259" r:id="R3e215345e40240e1"/>
    <p:sldId xmlns:r="http://schemas.openxmlformats.org/officeDocument/2006/relationships" id="260" r:id="R39bc002e1eab4691"/>
    <p:sldId xmlns:r="http://schemas.openxmlformats.org/officeDocument/2006/relationships" id="261" r:id="R5b137dee4bfa45cc"/>
    <p:sldId xmlns:r="http://schemas.openxmlformats.org/officeDocument/2006/relationships" id="262" r:id="Rd81bbf13a0414f23"/>
    <p:sldId xmlns:r="http://schemas.openxmlformats.org/officeDocument/2006/relationships" id="263" r:id="R945cd1154f284ba9"/>
    <p:sldId xmlns:r="http://schemas.openxmlformats.org/officeDocument/2006/relationships" id="264" r:id="Rf7510b25d2244023"/>
    <p:sldId xmlns:r="http://schemas.openxmlformats.org/officeDocument/2006/relationships" id="265" r:id="Rd8f005a93e1e45bd"/>
    <p:sldId xmlns:r="http://schemas.openxmlformats.org/officeDocument/2006/relationships" id="266" r:id="R85ddc37abe3a43b9"/>
    <p:sldId xmlns:r="http://schemas.openxmlformats.org/officeDocument/2006/relationships" id="267" r:id="R0c631f1f21cf4b0a"/>
    <p:sldId xmlns:r="http://schemas.openxmlformats.org/officeDocument/2006/relationships" id="268" r:id="Rdf69379258f84d2e"/>
    <p:sldId xmlns:r="http://schemas.openxmlformats.org/officeDocument/2006/relationships" id="269" r:id="R207e18c47ef44988"/>
    <p:sldId xmlns:r="http://schemas.openxmlformats.org/officeDocument/2006/relationships" id="270" r:id="R4aa660a45ba44592"/>
    <p:sldId xmlns:r="http://schemas.openxmlformats.org/officeDocument/2006/relationships" id="271" r:id="Rf65e103dff5442e8"/>
    <p:sldId xmlns:r="http://schemas.openxmlformats.org/officeDocument/2006/relationships" id="272" r:id="Re4300b2347824aff"/>
    <p:sldId xmlns:r="http://schemas.openxmlformats.org/officeDocument/2006/relationships" id="273" r:id="Rdc456454cf0b4bec"/>
    <p:sldId xmlns:r="http://schemas.openxmlformats.org/officeDocument/2006/relationships" id="274" r:id="Rc13956d50bd74efb"/>
    <p:sldId xmlns:r="http://schemas.openxmlformats.org/officeDocument/2006/relationships" id="275" r:id="R250a721c79134223"/>
    <p:sldId xmlns:r="http://schemas.openxmlformats.org/officeDocument/2006/relationships" id="276" r:id="R5376c3c17d0f42a5"/>
    <p:sldId xmlns:r="http://schemas.openxmlformats.org/officeDocument/2006/relationships" id="277" r:id="Rfbd780b76a1b4a38"/>
    <p:sldId xmlns:r="http://schemas.openxmlformats.org/officeDocument/2006/relationships" id="278" r:id="R4811699536cb4d33"/>
    <p:sldId xmlns:r="http://schemas.openxmlformats.org/officeDocument/2006/relationships" id="279" r:id="Ra38c96c44d724b17"/>
    <p:sldId xmlns:r="http://schemas.openxmlformats.org/officeDocument/2006/relationships" id="280" r:id="R5f272fb6f96c4b5d"/>
    <p:sldId xmlns:r="http://schemas.openxmlformats.org/officeDocument/2006/relationships" id="281" r:id="R6380a328ca854941"/>
    <p:sldId xmlns:r="http://schemas.openxmlformats.org/officeDocument/2006/relationships" id="282" r:id="R468a0eaf1c454452"/>
    <p:sldId xmlns:r="http://schemas.openxmlformats.org/officeDocument/2006/relationships" id="283" r:id="R71f4ee139c694a23"/>
    <p:sldId xmlns:r="http://schemas.openxmlformats.org/officeDocument/2006/relationships" id="284" r:id="R275dff8fa01041d0"/>
    <p:sldId xmlns:r="http://schemas.openxmlformats.org/officeDocument/2006/relationships" id="285" r:id="R6efe5592282d4d3f"/>
    <p:sldId xmlns:r="http://schemas.openxmlformats.org/officeDocument/2006/relationships" id="286" r:id="R9f4ec77290db4f82"/>
    <p:sldId xmlns:r="http://schemas.openxmlformats.org/officeDocument/2006/relationships" id="287" r:id="R55243d8f45ca4c26"/>
    <p:sldId xmlns:r="http://schemas.openxmlformats.org/officeDocument/2006/relationships" id="288" r:id="R5c3844cbf1084c27"/>
    <p:sldId xmlns:r="http://schemas.openxmlformats.org/officeDocument/2006/relationships" id="289" r:id="R33ccf7a24bd24366"/>
    <p:sldId xmlns:r="http://schemas.openxmlformats.org/officeDocument/2006/relationships" id="290" r:id="Rec456a31d3eb4be4"/>
    <p:sldId xmlns:r="http://schemas.openxmlformats.org/officeDocument/2006/relationships" id="291" r:id="R4b3aa2693aa54952"/>
    <p:sldId xmlns:r="http://schemas.openxmlformats.org/officeDocument/2006/relationships" id="292" r:id="R6f8ec319ec974007"/>
    <p:sldId xmlns:r="http://schemas.openxmlformats.org/officeDocument/2006/relationships" id="293" r:id="Rc4be1b3b3df844c6"/>
    <p:sldId xmlns:r="http://schemas.openxmlformats.org/officeDocument/2006/relationships" id="294" r:id="Rd9c774b57d0f49d9"/>
    <p:sldId xmlns:r="http://schemas.openxmlformats.org/officeDocument/2006/relationships" id="295" r:id="R3144c23ff83b454c"/>
    <p:sldId xmlns:r="http://schemas.openxmlformats.org/officeDocument/2006/relationships" id="296" r:id="Rf6020934da67422b"/>
    <p:sldId xmlns:r="http://schemas.openxmlformats.org/officeDocument/2006/relationships" id="297" r:id="R40fc62c748484d0c"/>
    <p:sldId xmlns:r="http://schemas.openxmlformats.org/officeDocument/2006/relationships" id="298" r:id="R3d928849ac6f4ea0"/>
    <p:sldId xmlns:r="http://schemas.openxmlformats.org/officeDocument/2006/relationships" id="299" r:id="R21e95596b52f47c8"/>
    <p:sldId xmlns:r="http://schemas.openxmlformats.org/officeDocument/2006/relationships" id="300" r:id="R4ccb12c17f1c4cf1"/>
    <p:sldId xmlns:r="http://schemas.openxmlformats.org/officeDocument/2006/relationships" id="301" r:id="R01c2a9519b2941ea"/>
    <p:sldId xmlns:r="http://schemas.openxmlformats.org/officeDocument/2006/relationships" id="302" r:id="Ra206fd27b2064a1d"/>
    <p:sldId xmlns:r="http://schemas.openxmlformats.org/officeDocument/2006/relationships" id="303" r:id="R082fff152db446c1"/>
    <p:sldId xmlns:r="http://schemas.openxmlformats.org/officeDocument/2006/relationships" id="304" r:id="R965931891bc74ea7"/>
    <p:sldId xmlns:r="http://schemas.openxmlformats.org/officeDocument/2006/relationships" id="305" r:id="Rd070b4971fae40f4"/>
    <p:sldId xmlns:r="http://schemas.openxmlformats.org/officeDocument/2006/relationships" id="306" r:id="Rc62649b8c7b9468e"/>
    <p:sldId xmlns:r="http://schemas.openxmlformats.org/officeDocument/2006/relationships" id="307" r:id="R70619ed68229433c"/>
    <p:sldId xmlns:r="http://schemas.openxmlformats.org/officeDocument/2006/relationships" id="308" r:id="R86e16d3086f5482e"/>
    <p:sldId xmlns:r="http://schemas.openxmlformats.org/officeDocument/2006/relationships" id="309" r:id="R3b08490aebd54d55"/>
    <p:sldId xmlns:r="http://schemas.openxmlformats.org/officeDocument/2006/relationships" id="310" r:id="R82b7895d9bec4c80"/>
    <p:sldId xmlns:r="http://schemas.openxmlformats.org/officeDocument/2006/relationships" id="311" r:id="Rb352aec9ad4147e5"/>
    <p:sldId xmlns:r="http://schemas.openxmlformats.org/officeDocument/2006/relationships" id="312" r:id="R91e12785fdf84697"/>
    <p:sldId xmlns:r="http://schemas.openxmlformats.org/officeDocument/2006/relationships" id="313" r:id="R6b947aaf1a084081"/>
    <p:sldId xmlns:r="http://schemas.openxmlformats.org/officeDocument/2006/relationships" id="314" r:id="R44a2257785944e62"/>
    <p:sldId xmlns:r="http://schemas.openxmlformats.org/officeDocument/2006/relationships" id="315" r:id="R46cbd9ce8f7b40c0"/>
    <p:sldId xmlns:r="http://schemas.openxmlformats.org/officeDocument/2006/relationships" id="316" r:id="R682ed15395984450"/>
    <p:sldId xmlns:r="http://schemas.openxmlformats.org/officeDocument/2006/relationships" id="317" r:id="R07f11a643ba64454"/>
    <p:sldId xmlns:r="http://schemas.openxmlformats.org/officeDocument/2006/relationships" id="318" r:id="R3e387ad672f94aa7"/>
    <p:sldId xmlns:r="http://schemas.openxmlformats.org/officeDocument/2006/relationships" id="319" r:id="R81b2e82d7106426b"/>
    <p:sldId xmlns:r="http://schemas.openxmlformats.org/officeDocument/2006/relationships" id="320" r:id="R39eba7f84c074754"/>
    <p:sldId xmlns:r="http://schemas.openxmlformats.org/officeDocument/2006/relationships" id="321" r:id="Rae2b2b836fd342c8"/>
    <p:sldId xmlns:r="http://schemas.openxmlformats.org/officeDocument/2006/relationships" id="322" r:id="R8f3b008ca9f74dbf"/>
    <p:sldId xmlns:r="http://schemas.openxmlformats.org/officeDocument/2006/relationships" id="323" r:id="R66c74bd615454475"/>
    <p:sldId xmlns:r="http://schemas.openxmlformats.org/officeDocument/2006/relationships" id="324" r:id="R36cc173074704fe5"/>
    <p:sldId xmlns:r="http://schemas.openxmlformats.org/officeDocument/2006/relationships" id="325" r:id="Re2d3a7f851964226"/>
    <p:sldId xmlns:r="http://schemas.openxmlformats.org/officeDocument/2006/relationships" id="326" r:id="Rc7295e953290488b"/>
    <p:sldId xmlns:r="http://schemas.openxmlformats.org/officeDocument/2006/relationships" id="327" r:id="Rb1296d58c70547c6"/>
    <p:sldId xmlns:r="http://schemas.openxmlformats.org/officeDocument/2006/relationships" id="328" r:id="Rd63e753b7b2e4a47"/>
    <p:sldId xmlns:r="http://schemas.openxmlformats.org/officeDocument/2006/relationships" id="329" r:id="R81cbbe253bdb4a21"/>
    <p:sldId xmlns:r="http://schemas.openxmlformats.org/officeDocument/2006/relationships" id="330" r:id="Rf603023a032947c0"/>
    <p:sldId xmlns:r="http://schemas.openxmlformats.org/officeDocument/2006/relationships" id="331" r:id="Rec8aed2abae84843"/>
    <p:sldId xmlns:r="http://schemas.openxmlformats.org/officeDocument/2006/relationships" id="332" r:id="Rc3929e1176a54ab3"/>
    <p:sldId xmlns:r="http://schemas.openxmlformats.org/officeDocument/2006/relationships" id="333" r:id="Rfc7d46e7751d4dba"/>
    <p:sldId xmlns:r="http://schemas.openxmlformats.org/officeDocument/2006/relationships" id="334" r:id="R400bcd14c4dc4bc3"/>
    <p:sldId xmlns:r="http://schemas.openxmlformats.org/officeDocument/2006/relationships" id="335" r:id="R29869e811e6340bb"/>
    <p:sldId xmlns:r="http://schemas.openxmlformats.org/officeDocument/2006/relationships" id="336" r:id="R9b65803867864a3e"/>
    <p:sldId xmlns:r="http://schemas.openxmlformats.org/officeDocument/2006/relationships" id="337" r:id="R43f19f255ad64e2a"/>
    <p:sldId xmlns:r="http://schemas.openxmlformats.org/officeDocument/2006/relationships" id="338" r:id="Rdfaf1ad18785477e"/>
    <p:sldId xmlns:r="http://schemas.openxmlformats.org/officeDocument/2006/relationships" id="339" r:id="R2e7e0945057f4b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8bb153c6e71492c" /><Relationship Type="http://schemas.openxmlformats.org/officeDocument/2006/relationships/slideMaster" Target="/ppt/slideMasters/slideMaster1.xml" Id="Rb9b2da28ccef4737" /><Relationship Type="http://schemas.openxmlformats.org/officeDocument/2006/relationships/notesMaster" Target="/ppt/notesMasters/notesMaster1.xml" Id="Rc4bdcaca17ae4f44" /><Relationship Type="http://schemas.openxmlformats.org/officeDocument/2006/relationships/presProps" Target="/ppt/presProps.xml" Id="R4a831c009a394cd1" /><Relationship Type="http://schemas.openxmlformats.org/officeDocument/2006/relationships/viewProps" Target="/ppt/viewProps.xml" Id="R45a51c4fd7ea43f2" /><Relationship Type="http://schemas.openxmlformats.org/officeDocument/2006/relationships/tableStyles" Target="/ppt/tableStyles.xml" Id="R31dff0eca5f744ad" /><Relationship Type="http://schemas.openxmlformats.org/officeDocument/2006/relationships/slide" Target="/ppt/slides/slide1.xml" Id="R5469b23a9fb544bc" /><Relationship Type="http://schemas.openxmlformats.org/officeDocument/2006/relationships/slide" Target="/ppt/slides/slide2.xml" Id="R22399c614d5d4d63" /><Relationship Type="http://schemas.openxmlformats.org/officeDocument/2006/relationships/slide" Target="/ppt/slides/slide3.xml" Id="Ra1e3e61f218f4dfd" /><Relationship Type="http://schemas.openxmlformats.org/officeDocument/2006/relationships/slide" Target="/ppt/slides/slide4.xml" Id="R3e215345e40240e1" /><Relationship Type="http://schemas.openxmlformats.org/officeDocument/2006/relationships/slide" Target="/ppt/slides/slide5.xml" Id="R39bc002e1eab4691" /><Relationship Type="http://schemas.openxmlformats.org/officeDocument/2006/relationships/slide" Target="/ppt/slides/slide6.xml" Id="R5b137dee4bfa45cc" /><Relationship Type="http://schemas.openxmlformats.org/officeDocument/2006/relationships/slide" Target="/ppt/slides/slide7.xml" Id="Rd81bbf13a0414f23" /><Relationship Type="http://schemas.openxmlformats.org/officeDocument/2006/relationships/slide" Target="/ppt/slides/slide8.xml" Id="R945cd1154f284ba9" /><Relationship Type="http://schemas.openxmlformats.org/officeDocument/2006/relationships/slide" Target="/ppt/slides/slide9.xml" Id="Rf7510b25d2244023" /><Relationship Type="http://schemas.openxmlformats.org/officeDocument/2006/relationships/slide" Target="/ppt/slides/slide10.xml" Id="Rd8f005a93e1e45bd" /><Relationship Type="http://schemas.openxmlformats.org/officeDocument/2006/relationships/slide" Target="/ppt/slides/slide11.xml" Id="R85ddc37abe3a43b9" /><Relationship Type="http://schemas.openxmlformats.org/officeDocument/2006/relationships/slide" Target="/ppt/slides/slide12.xml" Id="R0c631f1f21cf4b0a" /><Relationship Type="http://schemas.openxmlformats.org/officeDocument/2006/relationships/slide" Target="/ppt/slides/slide13.xml" Id="Rdf69379258f84d2e" /><Relationship Type="http://schemas.openxmlformats.org/officeDocument/2006/relationships/slide" Target="/ppt/slides/slide14.xml" Id="R207e18c47ef44988" /><Relationship Type="http://schemas.openxmlformats.org/officeDocument/2006/relationships/slide" Target="/ppt/slides/slide15.xml" Id="R4aa660a45ba44592" /><Relationship Type="http://schemas.openxmlformats.org/officeDocument/2006/relationships/slide" Target="/ppt/slides/slide16.xml" Id="Rf65e103dff5442e8" /><Relationship Type="http://schemas.openxmlformats.org/officeDocument/2006/relationships/slide" Target="/ppt/slides/slide17.xml" Id="Re4300b2347824aff" /><Relationship Type="http://schemas.openxmlformats.org/officeDocument/2006/relationships/slide" Target="/ppt/slides/slide18.xml" Id="Rdc456454cf0b4bec" /><Relationship Type="http://schemas.openxmlformats.org/officeDocument/2006/relationships/slide" Target="/ppt/slides/slide19.xml" Id="Rc13956d50bd74efb" /><Relationship Type="http://schemas.openxmlformats.org/officeDocument/2006/relationships/slide" Target="/ppt/slides/slide20.xml" Id="R250a721c79134223" /><Relationship Type="http://schemas.openxmlformats.org/officeDocument/2006/relationships/slide" Target="/ppt/slides/slide21.xml" Id="R5376c3c17d0f42a5" /><Relationship Type="http://schemas.openxmlformats.org/officeDocument/2006/relationships/slide" Target="/ppt/slides/slide22.xml" Id="Rfbd780b76a1b4a38" /><Relationship Type="http://schemas.openxmlformats.org/officeDocument/2006/relationships/slide" Target="/ppt/slides/slide23.xml" Id="R4811699536cb4d33" /><Relationship Type="http://schemas.openxmlformats.org/officeDocument/2006/relationships/slide" Target="/ppt/slides/slide24.xml" Id="Ra38c96c44d724b17" /><Relationship Type="http://schemas.openxmlformats.org/officeDocument/2006/relationships/slide" Target="/ppt/slides/slide25.xml" Id="R5f272fb6f96c4b5d" /><Relationship Type="http://schemas.openxmlformats.org/officeDocument/2006/relationships/slide" Target="/ppt/slides/slide26.xml" Id="R6380a328ca854941" /><Relationship Type="http://schemas.openxmlformats.org/officeDocument/2006/relationships/slide" Target="/ppt/slides/slide27.xml" Id="R468a0eaf1c454452" /><Relationship Type="http://schemas.openxmlformats.org/officeDocument/2006/relationships/slide" Target="/ppt/slides/slide28.xml" Id="R71f4ee139c694a23" /><Relationship Type="http://schemas.openxmlformats.org/officeDocument/2006/relationships/slide" Target="/ppt/slides/slide29.xml" Id="R275dff8fa01041d0" /><Relationship Type="http://schemas.openxmlformats.org/officeDocument/2006/relationships/slide" Target="/ppt/slides/slide30.xml" Id="R6efe5592282d4d3f" /><Relationship Type="http://schemas.openxmlformats.org/officeDocument/2006/relationships/slide" Target="/ppt/slides/slide31.xml" Id="R9f4ec77290db4f82" /><Relationship Type="http://schemas.openxmlformats.org/officeDocument/2006/relationships/slide" Target="/ppt/slides/slide32.xml" Id="R55243d8f45ca4c26" /><Relationship Type="http://schemas.openxmlformats.org/officeDocument/2006/relationships/slide" Target="/ppt/slides/slide33.xml" Id="R5c3844cbf1084c27" /><Relationship Type="http://schemas.openxmlformats.org/officeDocument/2006/relationships/slide" Target="/ppt/slides/slide34.xml" Id="R33ccf7a24bd24366" /><Relationship Type="http://schemas.openxmlformats.org/officeDocument/2006/relationships/slide" Target="/ppt/slides/slide35.xml" Id="Rec456a31d3eb4be4" /><Relationship Type="http://schemas.openxmlformats.org/officeDocument/2006/relationships/slide" Target="/ppt/slides/slide36.xml" Id="R4b3aa2693aa54952" /><Relationship Type="http://schemas.openxmlformats.org/officeDocument/2006/relationships/slide" Target="/ppt/slides/slide37.xml" Id="R6f8ec319ec974007" /><Relationship Type="http://schemas.openxmlformats.org/officeDocument/2006/relationships/slide" Target="/ppt/slides/slide38.xml" Id="Rc4be1b3b3df844c6" /><Relationship Type="http://schemas.openxmlformats.org/officeDocument/2006/relationships/slide" Target="/ppt/slides/slide39.xml" Id="Rd9c774b57d0f49d9" /><Relationship Type="http://schemas.openxmlformats.org/officeDocument/2006/relationships/slide" Target="/ppt/slides/slide40.xml" Id="R3144c23ff83b454c" /><Relationship Type="http://schemas.openxmlformats.org/officeDocument/2006/relationships/slide" Target="/ppt/slides/slide41.xml" Id="Rf6020934da67422b" /><Relationship Type="http://schemas.openxmlformats.org/officeDocument/2006/relationships/slide" Target="/ppt/slides/slide42.xml" Id="R40fc62c748484d0c" /><Relationship Type="http://schemas.openxmlformats.org/officeDocument/2006/relationships/slide" Target="/ppt/slides/slide43.xml" Id="R3d928849ac6f4ea0" /><Relationship Type="http://schemas.openxmlformats.org/officeDocument/2006/relationships/slide" Target="/ppt/slides/slide44.xml" Id="R21e95596b52f47c8" /><Relationship Type="http://schemas.openxmlformats.org/officeDocument/2006/relationships/slide" Target="/ppt/slides/slide45.xml" Id="R4ccb12c17f1c4cf1" /><Relationship Type="http://schemas.openxmlformats.org/officeDocument/2006/relationships/slide" Target="/ppt/slides/slide46.xml" Id="R01c2a9519b2941ea" /><Relationship Type="http://schemas.openxmlformats.org/officeDocument/2006/relationships/slide" Target="/ppt/slides/slide47.xml" Id="Ra206fd27b2064a1d" /><Relationship Type="http://schemas.openxmlformats.org/officeDocument/2006/relationships/slide" Target="/ppt/slides/slide48.xml" Id="R082fff152db446c1" /><Relationship Type="http://schemas.openxmlformats.org/officeDocument/2006/relationships/slide" Target="/ppt/slides/slide49.xml" Id="R965931891bc74ea7" /><Relationship Type="http://schemas.openxmlformats.org/officeDocument/2006/relationships/slide" Target="/ppt/slides/slide50.xml" Id="Rd070b4971fae40f4" /><Relationship Type="http://schemas.openxmlformats.org/officeDocument/2006/relationships/slide" Target="/ppt/slides/slide51.xml" Id="Rc62649b8c7b9468e" /><Relationship Type="http://schemas.openxmlformats.org/officeDocument/2006/relationships/slide" Target="/ppt/slides/slide52.xml" Id="R70619ed68229433c" /><Relationship Type="http://schemas.openxmlformats.org/officeDocument/2006/relationships/slide" Target="/ppt/slides/slide53.xml" Id="R86e16d3086f5482e" /><Relationship Type="http://schemas.openxmlformats.org/officeDocument/2006/relationships/slide" Target="/ppt/slides/slide54.xml" Id="R3b08490aebd54d55" /><Relationship Type="http://schemas.openxmlformats.org/officeDocument/2006/relationships/slide" Target="/ppt/slides/slide55.xml" Id="R82b7895d9bec4c80" /><Relationship Type="http://schemas.openxmlformats.org/officeDocument/2006/relationships/slide" Target="/ppt/slides/slide56.xml" Id="Rb352aec9ad4147e5" /><Relationship Type="http://schemas.openxmlformats.org/officeDocument/2006/relationships/slide" Target="/ppt/slides/slide57.xml" Id="R91e12785fdf84697" /><Relationship Type="http://schemas.openxmlformats.org/officeDocument/2006/relationships/slide" Target="/ppt/slides/slide58.xml" Id="R6b947aaf1a084081" /><Relationship Type="http://schemas.openxmlformats.org/officeDocument/2006/relationships/slide" Target="/ppt/slides/slide59.xml" Id="R44a2257785944e62" /><Relationship Type="http://schemas.openxmlformats.org/officeDocument/2006/relationships/slide" Target="/ppt/slides/slide60.xml" Id="R46cbd9ce8f7b40c0" /><Relationship Type="http://schemas.openxmlformats.org/officeDocument/2006/relationships/slide" Target="/ppt/slides/slide61.xml" Id="R682ed15395984450" /><Relationship Type="http://schemas.openxmlformats.org/officeDocument/2006/relationships/slide" Target="/ppt/slides/slide62.xml" Id="R07f11a643ba64454" /><Relationship Type="http://schemas.openxmlformats.org/officeDocument/2006/relationships/slide" Target="/ppt/slides/slide63.xml" Id="R3e387ad672f94aa7" /><Relationship Type="http://schemas.openxmlformats.org/officeDocument/2006/relationships/slide" Target="/ppt/slides/slide64.xml" Id="R81b2e82d7106426b" /><Relationship Type="http://schemas.openxmlformats.org/officeDocument/2006/relationships/slide" Target="/ppt/slides/slide65.xml" Id="R39eba7f84c074754" /><Relationship Type="http://schemas.openxmlformats.org/officeDocument/2006/relationships/slide" Target="/ppt/slides/slide66.xml" Id="Rae2b2b836fd342c8" /><Relationship Type="http://schemas.openxmlformats.org/officeDocument/2006/relationships/slide" Target="/ppt/slides/slide67.xml" Id="R8f3b008ca9f74dbf" /><Relationship Type="http://schemas.openxmlformats.org/officeDocument/2006/relationships/slide" Target="/ppt/slides/slide68.xml" Id="R66c74bd615454475" /><Relationship Type="http://schemas.openxmlformats.org/officeDocument/2006/relationships/slide" Target="/ppt/slides/slide69.xml" Id="R36cc173074704fe5" /><Relationship Type="http://schemas.openxmlformats.org/officeDocument/2006/relationships/slide" Target="/ppt/slides/slide70.xml" Id="Re2d3a7f851964226" /><Relationship Type="http://schemas.openxmlformats.org/officeDocument/2006/relationships/slide" Target="/ppt/slides/slide71.xml" Id="Rc7295e953290488b" /><Relationship Type="http://schemas.openxmlformats.org/officeDocument/2006/relationships/slide" Target="/ppt/slides/slide72.xml" Id="Rb1296d58c70547c6" /><Relationship Type="http://schemas.openxmlformats.org/officeDocument/2006/relationships/slide" Target="/ppt/slides/slide73.xml" Id="Rd63e753b7b2e4a47" /><Relationship Type="http://schemas.openxmlformats.org/officeDocument/2006/relationships/slide" Target="/ppt/slides/slide74.xml" Id="R81cbbe253bdb4a21" /><Relationship Type="http://schemas.openxmlformats.org/officeDocument/2006/relationships/slide" Target="/ppt/slides/slide75.xml" Id="Rf603023a032947c0" /><Relationship Type="http://schemas.openxmlformats.org/officeDocument/2006/relationships/slide" Target="/ppt/slides/slide76.xml" Id="Rec8aed2abae84843" /><Relationship Type="http://schemas.openxmlformats.org/officeDocument/2006/relationships/slide" Target="/ppt/slides/slide77.xml" Id="Rc3929e1176a54ab3" /><Relationship Type="http://schemas.openxmlformats.org/officeDocument/2006/relationships/slide" Target="/ppt/slides/slide78.xml" Id="Rfc7d46e7751d4dba" /><Relationship Type="http://schemas.openxmlformats.org/officeDocument/2006/relationships/slide" Target="/ppt/slides/slide79.xml" Id="R400bcd14c4dc4bc3" /><Relationship Type="http://schemas.openxmlformats.org/officeDocument/2006/relationships/slide" Target="/ppt/slides/slide80.xml" Id="R29869e811e6340bb" /><Relationship Type="http://schemas.openxmlformats.org/officeDocument/2006/relationships/slide" Target="/ppt/slides/slide81.xml" Id="R9b65803867864a3e" /><Relationship Type="http://schemas.openxmlformats.org/officeDocument/2006/relationships/slide" Target="/ppt/slides/slide82.xml" Id="R43f19f255ad64e2a" /><Relationship Type="http://schemas.openxmlformats.org/officeDocument/2006/relationships/slide" Target="/ppt/slides/slide83.xml" Id="Rdfaf1ad18785477e" /><Relationship Type="http://schemas.openxmlformats.org/officeDocument/2006/relationships/slide" Target="/ppt/slides/slide84.xml" Id="R2e7e0945057f4b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f96fa13ddd4c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13a093cc854d17" /><Relationship Type="http://schemas.openxmlformats.org/officeDocument/2006/relationships/notesMaster" Target="/ppt/notesMasters/notesMaster1.xml" Id="Rf94f84f5b1f640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1a83ce04864b7b" /><Relationship Type="http://schemas.openxmlformats.org/officeDocument/2006/relationships/notesMaster" Target="/ppt/notesMasters/notesMaster1.xml" Id="Ra10e99283e6a41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824d20387041ac" /><Relationship Type="http://schemas.openxmlformats.org/officeDocument/2006/relationships/notesMaster" Target="/ppt/notesMasters/notesMaster1.xml" Id="R57761ec59c8244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4bdd8136044799" /><Relationship Type="http://schemas.openxmlformats.org/officeDocument/2006/relationships/notesMaster" Target="/ppt/notesMasters/notesMaster1.xml" Id="R24a71fa5dd6f43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09a178c3aa418f" /><Relationship Type="http://schemas.openxmlformats.org/officeDocument/2006/relationships/notesMaster" Target="/ppt/notesMasters/notesMaster1.xml" Id="R5394e6ab58bd42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d2107067ed4ec2" /><Relationship Type="http://schemas.openxmlformats.org/officeDocument/2006/relationships/notesMaster" Target="/ppt/notesMasters/notesMaster1.xml" Id="R177403350f6c48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642efbeeda4ba1" /><Relationship Type="http://schemas.openxmlformats.org/officeDocument/2006/relationships/notesMaster" Target="/ppt/notesMasters/notesMaster1.xml" Id="R6241e63f418644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8365c6750a488e" /><Relationship Type="http://schemas.openxmlformats.org/officeDocument/2006/relationships/notesMaster" Target="/ppt/notesMasters/notesMaster1.xml" Id="R9a751b3128b142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3c23e4918f4aec" /><Relationship Type="http://schemas.openxmlformats.org/officeDocument/2006/relationships/notesMaster" Target="/ppt/notesMasters/notesMaster1.xml" Id="R21895e4e502b4a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d324b7eb7e4105" /><Relationship Type="http://schemas.openxmlformats.org/officeDocument/2006/relationships/notesMaster" Target="/ppt/notesMasters/notesMaster1.xml" Id="Rf867aaa119a1416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b8cf8e5035041e7" /><Relationship Type="http://schemas.openxmlformats.org/officeDocument/2006/relationships/notesMaster" Target="/ppt/notesMasters/notesMaster1.xml" Id="Rf1a431cb92914b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27ed68340e5464c" /><Relationship Type="http://schemas.openxmlformats.org/officeDocument/2006/relationships/notesMaster" Target="/ppt/notesMasters/notesMaster1.xml" Id="R5e4f68a0db5e421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98644b6b6b84a78" /><Relationship Type="http://schemas.openxmlformats.org/officeDocument/2006/relationships/notesMaster" Target="/ppt/notesMasters/notesMaster1.xml" Id="R089b3796ddf5459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d91d6c1175a4589" /><Relationship Type="http://schemas.openxmlformats.org/officeDocument/2006/relationships/notesMaster" Target="/ppt/notesMasters/notesMaster1.xml" Id="R4db23a4943c840b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85a95b77a55475b" /><Relationship Type="http://schemas.openxmlformats.org/officeDocument/2006/relationships/notesMaster" Target="/ppt/notesMasters/notesMaster1.xml" Id="Rfc3d5ef4b0ae4f9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fa74dd21be4df3" /><Relationship Type="http://schemas.openxmlformats.org/officeDocument/2006/relationships/notesMaster" Target="/ppt/notesMasters/notesMaster1.xml" Id="Rb1024f0a756d4bd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eb0343f3c424099" /><Relationship Type="http://schemas.openxmlformats.org/officeDocument/2006/relationships/notesMaster" Target="/ppt/notesMasters/notesMaster1.xml" Id="R9f8f98c0f40d40c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77073d9a0274e3a" /><Relationship Type="http://schemas.openxmlformats.org/officeDocument/2006/relationships/notesMaster" Target="/ppt/notesMasters/notesMaster1.xml" Id="Rb68c5affd50f401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1581377fcfb465b" /><Relationship Type="http://schemas.openxmlformats.org/officeDocument/2006/relationships/notesMaster" Target="/ppt/notesMasters/notesMaster1.xml" Id="R21db278108b2424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86c723876194f8d" /><Relationship Type="http://schemas.openxmlformats.org/officeDocument/2006/relationships/notesMaster" Target="/ppt/notesMasters/notesMaster1.xml" Id="Rc30a4dd6f6744c7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be7c2ee5e1e4b40" /><Relationship Type="http://schemas.openxmlformats.org/officeDocument/2006/relationships/notesMaster" Target="/ppt/notesMasters/notesMaster1.xml" Id="Rfe4dfc65946447a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de831e359044ea6" /><Relationship Type="http://schemas.openxmlformats.org/officeDocument/2006/relationships/notesMaster" Target="/ppt/notesMasters/notesMaster1.xml" Id="R08d8fb9c149a473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e559c797b75414d" /><Relationship Type="http://schemas.openxmlformats.org/officeDocument/2006/relationships/notesMaster" Target="/ppt/notesMasters/notesMaster1.xml" Id="Ra769948cdfa745b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b89483b9b4a45bc" /><Relationship Type="http://schemas.openxmlformats.org/officeDocument/2006/relationships/notesMaster" Target="/ppt/notesMasters/notesMaster1.xml" Id="R9d869426b9eb430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85b11d0f161409c" /><Relationship Type="http://schemas.openxmlformats.org/officeDocument/2006/relationships/notesMaster" Target="/ppt/notesMasters/notesMaster1.xml" Id="Raa9229671e0f412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52197a6a35347de" /><Relationship Type="http://schemas.openxmlformats.org/officeDocument/2006/relationships/notesMaster" Target="/ppt/notesMasters/notesMaster1.xml" Id="Rf6ae9bc6dc7f480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7ffcbc06a834bc3" /><Relationship Type="http://schemas.openxmlformats.org/officeDocument/2006/relationships/notesMaster" Target="/ppt/notesMasters/notesMaster1.xml" Id="R4349afe2a5bd4be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3a50ab78d6e4391" /><Relationship Type="http://schemas.openxmlformats.org/officeDocument/2006/relationships/notesMaster" Target="/ppt/notesMasters/notesMaster1.xml" Id="R51231d1a8d40492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e92eaabb1504d4d" /><Relationship Type="http://schemas.openxmlformats.org/officeDocument/2006/relationships/notesMaster" Target="/ppt/notesMasters/notesMaster1.xml" Id="R36a73b1c09cb437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7ecb6555d8a4623" /><Relationship Type="http://schemas.openxmlformats.org/officeDocument/2006/relationships/notesMaster" Target="/ppt/notesMasters/notesMaster1.xml" Id="Rb02286b260494ed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1d52a97c578417a" /><Relationship Type="http://schemas.openxmlformats.org/officeDocument/2006/relationships/notesMaster" Target="/ppt/notesMasters/notesMaster1.xml" Id="R757ecec6141740f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17a02b06a27400a" /><Relationship Type="http://schemas.openxmlformats.org/officeDocument/2006/relationships/notesMaster" Target="/ppt/notesMasters/notesMaster1.xml" Id="R69b168f49da2441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25f760351ef49a7" /><Relationship Type="http://schemas.openxmlformats.org/officeDocument/2006/relationships/notesMaster" Target="/ppt/notesMasters/notesMaster1.xml" Id="R02570fad0ae1499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9f98c91cbe94dbd" /><Relationship Type="http://schemas.openxmlformats.org/officeDocument/2006/relationships/notesMaster" Target="/ppt/notesMasters/notesMaster1.xml" Id="R3880a50356ea422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a111f1fb6264e61" /><Relationship Type="http://schemas.openxmlformats.org/officeDocument/2006/relationships/notesMaster" Target="/ppt/notesMasters/notesMaster1.xml" Id="R8b6a7b53cc3e420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a71430c5a934092" /><Relationship Type="http://schemas.openxmlformats.org/officeDocument/2006/relationships/notesMaster" Target="/ppt/notesMasters/notesMaster1.xml" Id="Recd9ed34e3f6406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cd95aa2fe5a44da" /><Relationship Type="http://schemas.openxmlformats.org/officeDocument/2006/relationships/notesMaster" Target="/ppt/notesMasters/notesMaster1.xml" Id="R693d102be5134ec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ecedd935d5a4397" /><Relationship Type="http://schemas.openxmlformats.org/officeDocument/2006/relationships/notesMaster" Target="/ppt/notesMasters/notesMaster1.xml" Id="Rde482bfbca484a7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ab9d627cebc453f" /><Relationship Type="http://schemas.openxmlformats.org/officeDocument/2006/relationships/notesMaster" Target="/ppt/notesMasters/notesMaster1.xml" Id="Raa906ed4d85b4dd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1bbf76182fc42b1" /><Relationship Type="http://schemas.openxmlformats.org/officeDocument/2006/relationships/notesMaster" Target="/ppt/notesMasters/notesMaster1.xml" Id="Rc86bd9203d4c433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4c1d8f1df314049" /><Relationship Type="http://schemas.openxmlformats.org/officeDocument/2006/relationships/notesMaster" Target="/ppt/notesMasters/notesMaster1.xml" Id="R11364c6dbba4428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266629b6a234bbc" /><Relationship Type="http://schemas.openxmlformats.org/officeDocument/2006/relationships/notesMaster" Target="/ppt/notesMasters/notesMaster1.xml" Id="R5c37d754b53c438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215116dad2b4409" /><Relationship Type="http://schemas.openxmlformats.org/officeDocument/2006/relationships/notesMaster" Target="/ppt/notesMasters/notesMaster1.xml" Id="Ref66c28caced471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429a111e4264b14" /><Relationship Type="http://schemas.openxmlformats.org/officeDocument/2006/relationships/notesMaster" Target="/ppt/notesMasters/notesMaster1.xml" Id="R4ed0bbc7a93a4a0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4fa298771c041a7" /><Relationship Type="http://schemas.openxmlformats.org/officeDocument/2006/relationships/notesMaster" Target="/ppt/notesMasters/notesMaster1.xml" Id="R6edabc42afdb489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7aa3c79738b4bcc" /><Relationship Type="http://schemas.openxmlformats.org/officeDocument/2006/relationships/notesMaster" Target="/ppt/notesMasters/notesMaster1.xml" Id="Re4d0aa98735644c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dceb25a88e947fc" /><Relationship Type="http://schemas.openxmlformats.org/officeDocument/2006/relationships/notesMaster" Target="/ppt/notesMasters/notesMaster1.xml" Id="R8e31027e5d08445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9a5c66a17184cc9" /><Relationship Type="http://schemas.openxmlformats.org/officeDocument/2006/relationships/notesMaster" Target="/ppt/notesMasters/notesMaster1.xml" Id="Re2a26c1ff52d4e8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264a11a83194a6b" /><Relationship Type="http://schemas.openxmlformats.org/officeDocument/2006/relationships/notesMaster" Target="/ppt/notesMasters/notesMaster1.xml" Id="Re8c643be86b1410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0bada309fe44a51" /><Relationship Type="http://schemas.openxmlformats.org/officeDocument/2006/relationships/notesMaster" Target="/ppt/notesMasters/notesMaster1.xml" Id="R0c0a8ba2dd8f4ef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5ab451d1e8a40c6" /><Relationship Type="http://schemas.openxmlformats.org/officeDocument/2006/relationships/notesMaster" Target="/ppt/notesMasters/notesMaster1.xml" Id="Rc4b08c03808346d9"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363eb2fac324ef4" /><Relationship Type="http://schemas.openxmlformats.org/officeDocument/2006/relationships/notesMaster" Target="/ppt/notesMasters/notesMaster1.xml" Id="R37396de73d80496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77f3b654be04039" /><Relationship Type="http://schemas.openxmlformats.org/officeDocument/2006/relationships/notesMaster" Target="/ppt/notesMasters/notesMaster1.xml" Id="R727cc35ae52a48f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8557ac5bc00426c" /><Relationship Type="http://schemas.openxmlformats.org/officeDocument/2006/relationships/notesMaster" Target="/ppt/notesMasters/notesMaster1.xml" Id="R3ec7da8801e34ebf"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b954a3f939d74458" /><Relationship Type="http://schemas.openxmlformats.org/officeDocument/2006/relationships/notesMaster" Target="/ppt/notesMasters/notesMaster1.xml" Id="R18882ca12cb84a3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25670e7e7564fc2" /><Relationship Type="http://schemas.openxmlformats.org/officeDocument/2006/relationships/notesMaster" Target="/ppt/notesMasters/notesMaster1.xml" Id="R987e3fd0eec14553"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a4a6df1647fb43a3" /><Relationship Type="http://schemas.openxmlformats.org/officeDocument/2006/relationships/notesMaster" Target="/ppt/notesMasters/notesMaster1.xml" Id="R088b2c8c176d4ce5"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9bc7c6fc27a84ea9" /><Relationship Type="http://schemas.openxmlformats.org/officeDocument/2006/relationships/notesMaster" Target="/ppt/notesMasters/notesMaster1.xml" Id="R2cb2ab38b06245df"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91a4aef38afa4995" /><Relationship Type="http://schemas.openxmlformats.org/officeDocument/2006/relationships/notesMaster" Target="/ppt/notesMasters/notesMaster1.xml" Id="Rcb6bd7141a06481f"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c5ec10338a6f454c" /><Relationship Type="http://schemas.openxmlformats.org/officeDocument/2006/relationships/notesMaster" Target="/ppt/notesMasters/notesMaster1.xml" Id="R3079c059cd8f41aa"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e8b6b6d2f71547c3" /><Relationship Type="http://schemas.openxmlformats.org/officeDocument/2006/relationships/notesMaster" Target="/ppt/notesMasters/notesMaster1.xml" Id="R5e9a953a61284adb"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26bdd7ee1de14aad" /><Relationship Type="http://schemas.openxmlformats.org/officeDocument/2006/relationships/notesMaster" Target="/ppt/notesMasters/notesMaster1.xml" Id="R9e86d55d8642474b"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a13e552829024d40" /><Relationship Type="http://schemas.openxmlformats.org/officeDocument/2006/relationships/notesMaster" Target="/ppt/notesMasters/notesMaster1.xml" Id="Rc0cd5d3676594cf0"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487faff2f12b4e54" /><Relationship Type="http://schemas.openxmlformats.org/officeDocument/2006/relationships/notesMaster" Target="/ppt/notesMasters/notesMaster1.xml" Id="Rc34f6a8b5e3f45cb"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f41a06e9c6c64998" /><Relationship Type="http://schemas.openxmlformats.org/officeDocument/2006/relationships/notesMaster" Target="/ppt/notesMasters/notesMaster1.xml" Id="Ra0f9ae52d04e42b7"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e7d6bf682ea34afc" /><Relationship Type="http://schemas.openxmlformats.org/officeDocument/2006/relationships/notesMaster" Target="/ppt/notesMasters/notesMaster1.xml" Id="R8da2df87991a4039"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45b6b481d3884cbe" /><Relationship Type="http://schemas.openxmlformats.org/officeDocument/2006/relationships/notesMaster" Target="/ppt/notesMasters/notesMaster1.xml" Id="R7bc01a4bbc0e40f2"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5cd55d6bbe1e404c" /><Relationship Type="http://schemas.openxmlformats.org/officeDocument/2006/relationships/notesMaster" Target="/ppt/notesMasters/notesMaster1.xml" Id="Rbed9ca231e10497f"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86c58c545f794fdf" /><Relationship Type="http://schemas.openxmlformats.org/officeDocument/2006/relationships/notesMaster" Target="/ppt/notesMasters/notesMaster1.xml" Id="Rfb05fdb10e8b4e17"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b7aaad96cedf44f9" /><Relationship Type="http://schemas.openxmlformats.org/officeDocument/2006/relationships/notesMaster" Target="/ppt/notesMasters/notesMaster1.xml" Id="R40c8908219694b79"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094ad9d5156743ca" /><Relationship Type="http://schemas.openxmlformats.org/officeDocument/2006/relationships/notesMaster" Target="/ppt/notesMasters/notesMaster1.xml" Id="R489933bfb36e4d19"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6011e744e340453d" /><Relationship Type="http://schemas.openxmlformats.org/officeDocument/2006/relationships/notesMaster" Target="/ppt/notesMasters/notesMaster1.xml" Id="Ra8478a522ea5448b"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0dbe686ac2fa4ae8" /><Relationship Type="http://schemas.openxmlformats.org/officeDocument/2006/relationships/notesMaster" Target="/ppt/notesMasters/notesMaster1.xml" Id="Rd4e8696eba174b9f"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8d24e6558ffc4cad" /><Relationship Type="http://schemas.openxmlformats.org/officeDocument/2006/relationships/notesMaster" Target="/ppt/notesMasters/notesMaster1.xml" Id="Rdd2ec2ffb96444ae"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f0dc17d990b54270" /><Relationship Type="http://schemas.openxmlformats.org/officeDocument/2006/relationships/notesMaster" Target="/ppt/notesMasters/notesMaster1.xml" Id="R4a54f79f8c944a64"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ff43ed86e7b54f2c" /><Relationship Type="http://schemas.openxmlformats.org/officeDocument/2006/relationships/notesMaster" Target="/ppt/notesMasters/notesMaster1.xml" Id="R362274bbf4ad4dd8"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de961f1d996844ad" /><Relationship Type="http://schemas.openxmlformats.org/officeDocument/2006/relationships/notesMaster" Target="/ppt/notesMasters/notesMaster1.xml" Id="R81aa07b6c0944348"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6eb5d11aca4744d5" /><Relationship Type="http://schemas.openxmlformats.org/officeDocument/2006/relationships/notesMaster" Target="/ppt/notesMasters/notesMaster1.xml" Id="R151e3092face43be"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dea64535028f43bb" /><Relationship Type="http://schemas.openxmlformats.org/officeDocument/2006/relationships/notesMaster" Target="/ppt/notesMasters/notesMaster1.xml" Id="R2c7116a36cb64ab9"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6358646d0e54433b" /><Relationship Type="http://schemas.openxmlformats.org/officeDocument/2006/relationships/notesMaster" Target="/ppt/notesMasters/notesMaster1.xml" Id="Rd842368a1a37428e"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9e398d68766c4c9e" /><Relationship Type="http://schemas.openxmlformats.org/officeDocument/2006/relationships/notesMaster" Target="/ppt/notesMasters/notesMaster1.xml" Id="Raba273722b6547cc"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ab8162cd83a34dfc" /><Relationship Type="http://schemas.openxmlformats.org/officeDocument/2006/relationships/notesMaster" Target="/ppt/notesMasters/notesMaster1.xml" Id="Rcb1a7d6b73554bc2"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ad2bc61d9c814e29" /><Relationship Type="http://schemas.openxmlformats.org/officeDocument/2006/relationships/notesMaster" Target="/ppt/notesMasters/notesMaster1.xml" Id="Rcdf0d1ba937446a8"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65dc98bd3e6b4d2d" /><Relationship Type="http://schemas.openxmlformats.org/officeDocument/2006/relationships/notesMaster" Target="/ppt/notesMasters/notesMaster1.xml" Id="Ra43ca1f506a947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whole course around the Deputy Minister's question in the first 10 minutes. Tour the dataset live: open clinic_visits.csv, show the columns, point at no_show and wait_time_min as the two golden-thread quantities.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lab and each capstone requirement maps back to these six outcomes; the capstone rubric grades them directly.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4 morning is deliberately heavier so the afternoon protects capstone build time. Hard rule: capstone assembly (Day 4, Hour 3) starts on time — cut discussion, not build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Assessment logistics: collect capstone notebook URLs at the end of Day-4 Hour 4 so outputs can be verified before the Hour-5 defences. Bootstrap seeds and CI digits should differ across submissions — identical digits are how copied analyses are caught.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Hook hour. Run the poll: 'A screening flag is 90% accurate — a flagged patient is how likely to no-show?' Collect answers now, reveal in Hour 2 (Bayes). Then tour the dataset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Industry anchors: a clinic network forecasts no-shows per session (Binomial) to set overbooking; a telecom models call arrivals (Poisson) to staff shifts; a bank uses Bayes to turn a fraud score into an actionable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compute the conditional rates from the table with one groupby each. Two minutes of pandas beats ten minutes of formulae.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moment for the Hour-1 poll. Walk the tree left to right with the class computing each node. Also name the prosecutor's fallacy: confusing P(A|B) with P(B|A).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Interactive: 'Name that distribution' card sort — 12 real quantities (time between ER arrivals, exam scores, complaints/day, coin flips…) sorted onto distribution cards with justification. 10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Emotional centre of the module: participants who 'know' data is Normal watch the Normal model miss the tail. Keep the fit overlay + KS output on the projector during Lab 1. Note: with 41k integer-valued waits the KS p-value is ~0 for both models due to ties — pair it with the tail comparison and a Q-Q plot for judgement (this caveat is in the lab troubleshooting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Facilitate, don't lecture. Vision-2030 access targets make both wasted capacity and access failures politically visible — both tails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Troubleshooting: lognorm.fit needs floc=0 (positive support). If the Bayes result 'feels too low' — that IS the lesson. Fast finishers: fit a Gamma and compare AIC.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Getting description and sampling right is the cheapest, highest-leverage correctness win in the whole 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Gallery walk activity: four real skewed charts; teams decide mean vs median and defend. 10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Dartboard image works well here: a biased frame = estimates clustering tightly around the wrong bullseye. State the estimand ('national no-show rate, comparable across regions') BEFORE choosing a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resample means of the skewed wait times for n = 5, 30, 100 (5,000 draws each). At n=5 the histogram inherits skew — that IS the lesson; by n=100 it is Normal-shaped and observed SE tracks σ/√n.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correction cost one afternoon of sampling design; the delay had cost twelve months. Run the two channel means live from survey_responses.csv.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Payoff: the smallest-region comparison — an SRS gives Al-Jouf a wild estimate from ~25 records; stratification stabilises it. Fast finishers: add a cluster sample (whole clinics) and watch the variance inflate.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Facilitation: ask learners to identify the unit of analysis before discussing weights. Emphasize that a very large n does not erase a complex sample design. The included CSV contains Appendix A unweighted frequencies only; it is deliberately suitable for denominator and missing-code practice, not national estimation.</a:t>
            </a:r>
            <a:endParaRPr/>
          </a:p>
          <a:p xmlns:a="http://schemas.openxmlformats.org/drawingml/2006/main">
            <a:r>
              <a:t/>
            </a:r>
            <a:endParaRPr/>
          </a:p>
          <a:p xmlns:a="http://schemas.openxmlformats.org/drawingml/2006/main">
            <a:r>
              <a:t>[Sources]</a:t>
            </a:r>
            <a:endParaRPr/>
          </a:p>
          <a:p xmlns:a="http://schemas.openxmlformats.org/drawingml/2006/main">
            <a:r>
              <a:t>- https://www.cdc.gov/nchs/nhcs/data/index.html</a:t>
            </a:r>
            <a:endParaRPr/>
          </a:p>
          <a:p xmlns:a="http://schemas.openxmlformats.org/drawingml/2006/main">
            <a:r>
              <a:t>- https://ftp.cdc.gov/pub/Health_Statistics/NCHS/Dataset_Documentation/NHCS/2022/2022-NHCS-Tech-Doc.pdf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after Module 2 or as an advanced-cohort extension. The activity intentionally stops before a weighted estimate because the compact included CSV is an official aggregate extract, not the 481 MB microdata file. The worksheet provides download links and R/Stata survey-analysis scaffolds for a full extension.</a:t>
            </a:r>
          </a:p>
          <a:p xmlns:a="http://schemas.openxmlformats.org/drawingml/2006/main">
            <a:r>
              <a:t/>
            </a:r>
          </a:p>
          <a:p xmlns:a="http://schemas.openxmlformats.org/drawingml/2006/main">
            <a:r>
              <a:t>[Sources]</a:t>
            </a:r>
          </a:p>
          <a:p xmlns:a="http://schemas.openxmlformats.org/drawingml/2006/main">
            <a:r>
              <a:t>- https://www.cdc.gov/nchs/nhcs/data/index.html</a:t>
            </a:r>
          </a:p>
          <a:p xmlns:a="http://schemas.openxmlformats.org/drawingml/2006/main">
            <a:r>
              <a:t>- https://ftp.cdc.gov/pub/Health_Statistics/NCHS/Dataset_Documentation/NHCS/2022/2022-NHCS-Tech-Doc.pdf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Competency: C3 — Statistical estimation. Assessed in Lab 3, PA-1, and the capstone's interval-reporting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 opener (15 min). The 'estimate of what?' question matters: the population is the process generating appointments, so uncertainty statements are meaningful even with an apparent census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Whiteboard both sentences and have the room vote before revealing. The 'career-limiting' framing lands well with government analysts.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derive the Wilson formula — show the statsmodels one-liner and spend the time on the Wald failure story. The M7 simulation callback turns a rule into an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Activity: read each wrong sentence aloud, participants correct it in pairs. The decision-form sentence is the capstone rubric's model answer — say so explicitly.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calc in statsmodels or plain Python. Also flag the finite-population correction as a footnote only — regional surveys rarely need it at Ministry scale.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module's signature visual — participants rebuild it in Lab 3. Teaching beat: cover the n column first and ask which regions to escalate; most rooms pick Al-Jouf's low rate or a small-region extreme. Reveal the intervals: only Makkah (high) and Eastern Province (low) survive. Al-Jouf's 414 records make its CI too wide to conclude anything.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sort clinic_visits.csv by weekly regional rate and show the churn in the top-3. The fix costs one chart; the false alarm cost a press cycle. This case is the capstone's 'regions' section in miniature.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Grading anchor: the Al-Jouf sentence. Full marks requires saying what the data cannot show. Fast finishers: repeat with Wald intervals and find a small clinic where the bound goes negative.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Competency: C4 — Statistical inference &amp; testing. Assessed in Lab 4, quiz, and the capstone's pilot-evaluation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the room which error is worse HERE: funding a useless SMS program (Type I, wasted budget) vs missing a tool that cuts no-shows (Type II, continued waste). There is no universal answer — that's the point of choosing α and power deliberately.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Quiz targets all three misreadings. The third one sets up the effect-size slide — with our sample sizes almost everything is 'significant', so the differentiating skill is judging magnitude.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Print this table as the lab handout. Participants should leave able to point at a row, not recite formulas.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five-part reporting sentence (estimate, CI, p, effect size, meaning) is the module's takeaway artefact — it reappears verbatim in the capstone rubric.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49% figure: 1 − 0.95^13. Have participants compute it live — it lands harder than being told.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Emphasise WHY this result is trustworthy: randomization within the pilot (ab_pilot column) balances everything else on average — urban/rural, risk band, age. The Day-3 teaser is the course's cliffhanger; deliver it as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Instructor calculation key: risk difference = 66/251 − 100/251 = −0.1355. Newcombe 95% CI ≈ [−0.215, −0.053]. Two-sided z-test p≈0.00126. RR=0.66. NNT/remind=1/0.1355≈7.4. Ask learners which measure best answers an operations question.</a:t>
            </a:r>
          </a:p>
          <a:p xmlns:a="http://schemas.openxmlformats.org/drawingml/2006/main">
            <a:r>
              <a:t/>
            </a:r>
          </a:p>
          <a:p xmlns:a="http://schemas.openxmlformats.org/drawingml/2006/main">
            <a:r>
              <a:t>[Sources]</a:t>
            </a:r>
          </a:p>
          <a:p xmlns:a="http://schemas.openxmlformats.org/drawingml/2006/main">
            <a:r>
              <a:t>- https://pubmed.ncbi.nlm.nih.gov/24952289/</a:t>
            </a:r>
          </a:p>
          <a:p xmlns:a="http://schemas.openxmlformats.org/drawingml/2006/main">
            <a:r>
              <a:t>- https://applications.emro.who.int/emhj/v20/05/emhj_2014_20_5_317_323.pdf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 assign each pair one effect measure and ask them to state numerator, denominator, outcome direction, and decision use. Debrief by distinguishing absolute impact (risk difference/NNT), relative risk, and odds ratio.</a:t>
            </a:r>
          </a:p>
          <a:p xmlns:a="http://schemas.openxmlformats.org/drawingml/2006/main">
            <a:r>
              <a:t/>
            </a:r>
          </a:p>
          <a:p xmlns:a="http://schemas.openxmlformats.org/drawingml/2006/main">
            <a:r>
              <a:t>[Sources]</a:t>
            </a:r>
          </a:p>
          <a:p xmlns:a="http://schemas.openxmlformats.org/drawingml/2006/main">
            <a:r>
              <a:t>- https://pubmed.ncbi.nlm.nih.gov/24952289/</a:t>
            </a:r>
          </a:p>
          <a:p xmlns:a="http://schemas.openxmlformats.org/drawingml/2006/main">
            <a:r>
              <a:t>- https://applications.emro.who.int/emhj/v20/05/emhj_2014_20_5_317_323.pdf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printable worksheet in enrichment_pack/activities/SAUDI_SMS_RCT_CASE.md. Reveal checkpoints in this order: hypotheses, 2×2 table, absolute effect, interval/test, relative measures, causal sentence, generalizability caveat.</a:t>
            </a:r>
          </a:p>
          <a:p xmlns:a="http://schemas.openxmlformats.org/drawingml/2006/main">
            <a:r>
              <a:t/>
            </a:r>
          </a:p>
          <a:p xmlns:a="http://schemas.openxmlformats.org/drawingml/2006/main">
            <a:r>
              <a:t>[Sources]</a:t>
            </a:r>
          </a:p>
          <a:p xmlns:a="http://schemas.openxmlformats.org/drawingml/2006/main">
            <a:r>
              <a:t>- https://pubmed.ncbi.nlm.nih.gov/24952289/</a:t>
            </a:r>
          </a:p>
          <a:p xmlns:a="http://schemas.openxmlformats.org/drawingml/2006/main">
            <a:r>
              <a:t>- https://applications.emro.who.int/emhj/v20/05/emhj_2014_20_5_317_323.pdf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participants to rewrite three statements: (1) observational association, (2) randomized causal effect, (3) nationwide policy recommendation. The first is weaker than the trial supports; the third is stronger than the trial supports.</a:t>
            </a:r>
          </a:p>
          <a:p xmlns:a="http://schemas.openxmlformats.org/drawingml/2006/main">
            <a:r>
              <a:t/>
            </a:r>
          </a:p>
          <a:p xmlns:a="http://schemas.openxmlformats.org/drawingml/2006/main">
            <a:r>
              <a:t>[Sources]</a:t>
            </a:r>
          </a:p>
          <a:p xmlns:a="http://schemas.openxmlformats.org/drawingml/2006/main">
            <a:r>
              <a:t>- https://pubmed.ncbi.nlm.nih.gov/24952289/</a:t>
            </a:r>
          </a:p>
          <a:p xmlns:a="http://schemas.openxmlformats.org/drawingml/2006/main">
            <a:r>
              <a:t>- https://applications.emro.who.int/emhj/v20/05/emhj_2014_20_5_317_323.pdf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distinction: the crude randomized comparison estimates the treatment effect directly. Adjustment is not required to remove confounding in a correctly randomized trial, but can improve precision and explore prognostic factors. Never compare ORs until the outcome coding and contrast are explicit.</a:t>
            </a:r>
          </a:p>
          <a:p xmlns:a="http://schemas.openxmlformats.org/drawingml/2006/main">
            <a:r>
              <a:t/>
            </a:r>
          </a:p>
          <a:p xmlns:a="http://schemas.openxmlformats.org/drawingml/2006/main">
            <a:r>
              <a:t>[Sources]</a:t>
            </a:r>
          </a:p>
          <a:p xmlns:a="http://schemas.openxmlformats.org/drawingml/2006/main">
            <a:r>
              <a:t>- https://pubmed.ncbi.nlm.nih.gov/24952289/</a:t>
            </a:r>
          </a:p>
          <a:p xmlns:a="http://schemas.openxmlformats.org/drawingml/2006/main">
            <a:r>
              <a:t>- https://applications.emro.who.int/emhj/v20/05/emhj_2014_20_5_317_323.pdf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simulation live from ab_daily_log.csv (21 days of pilot accrual) — with a null-effect resample, typically 250–350 of 1,000 runs cross 0.05 at least once. The visceral number does the teaching. Link forward: Module 7 makes this style of simulation a general-purpose habit.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balance-check step is deliberate foreshadowing: tomorrow participants will see what happens when assignment is NOT balanced. Fast finishers: Mann-Whitney on waits urban vs rural, and reconcile with Welch's 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Competency: C5 — Causal reasoning for analysts. Assessed in Lab 5 and the capstone's 'reconciliation' section — the highest-weighted rubric row.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Anscombe via seaborn's built-in dataset, 5 minutes. Also flag: correlation only speaks about association between measured pairs — nothing yet about direction or cause. That is the next slide's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Classic warm-up examples (ice cream &amp; drowning; shoe size &amp; reading in children) each mapped to explanation 3. Then pivot: 'now, our own reminder data…' — the next slide is the reveal.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 the crude number first and let the room react — someone will say 'so the pilot was wrong?'. Then reveal strata one at a time. Do NOT explain yet; let the discomfort sit until the next slide. (Numbers are measured from the dataset; the pilot subset is excluded-from/diluted-in nothing — the full file includes it, the reversal survives.)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Standardization arithmetic in the lab uses risk-band strata with full-population weights. Gap vs pilot (−5.0 vs −6.8) is itself teachable: the pilot ran in high-risk clinics where absolute effects are larger — effects can be heterogeneous.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DAGs to these three shapes — no do-calculus. The mediator example is live in our data: rescheduled sits on the SMS→attendance path by design. Lab 5 has participants deliberately make the mediator mistake and watch the SMS coefficient shrink toward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case IS the capstone scenario in miniature — say so. The rebuttal slide the teams draft is a rehearsal for their memo's reconciliation section. Strong caption answer: 'reminders are targeted at high-risk patients; comparison is not like-for-like.'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single most important lab of the course. Circulate during the standardization step — the weighting direction (population weights, not stratum sizes within treatment groups) is where errors happen. The reconciliation paragraph is reusable verbatim in the capstone.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Competency: C6 — Statistical modelling. Assessed in Lab 6, PA-2, and the capstone's model table + targeting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Live-fit the model and show the summary table; participants have seen +25% peak effects in their own hospitals and the number feels true. Keep transformations to log only — no Box-Cox detours.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Anchor the bridge slide-to-slide: −0.34 is a number nobody can brief a minister with; 0.71 is. Participants convert coefficients to ORs by hand once, then use np.exp(res.params) forever.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is the capstone deliverable's spine. Numbers are the measured values from the course dataset (seed 42) — participants' labs will reproduce them exactly. Age OR CI is tight because n is huge; use it to revisit 'significant ≠ important'.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Draw the calibration plot live in Lab 6. If asked about precision/recall: fine lenses, same message — pick the one your decision consumes.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 back to the DAG triptych: rescheduled was the mediator we refused to adjust for — leakage is its predictive twin. The column audit exercise uses the actual data dictionary; good teams flag rescheduled and wait_time_min immediately.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Leakage guard: the starter notebook includes rescheduled and wait_time_min in a commented-out feature list as a trap — praise teams that notice. PA-2 (end of Day 3) reuses this pipeline on a fresh clinic subset.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Competency: C7 — Computational inference. Assessed in Lab 7 and the capstone's validation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run a bootstrap cell twice unseeded (numbers move), then seeded (identical). Ten seconds, permanent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Day-2 promissory note being paid. Coverage values are what the lab's seeded run produces (2,000 sims). Extension prompt: why does Wald recover at n = 500? (CLT rescues the symmetric approximation.)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bootstrap histogram of the median forming live — watching the distribution accumulate demystifies the method more than any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permutation live on the pilot subset; the histogram sits nowhere near −6.8pp. One-tailed vs two-tailed: count |diff| ≥ 6.8 for the two-sided 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lesson governs tests: the pilot's z-test is fine (randomization at appointment level within clinics), but region comparisons should acknowledge clinic clustering. In the capstone rubric, noting this limitation earns the 'limitations' 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uncomfortable reflexive question (bullet 2 of discussion) is deliberate: the national no-show CI from Day 2 is row-based. Modelling honesty includes auditing our own slides — participants who catch this deserve public credit.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median's degenerate-looking bootstrap CI (integer-valued data, huge n) is a feature: it forces a conversation about discreteness and what the bootstrap can and cannot see. Capstone simulations switch to per-student seeds after this 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 brief, 90 min work (labs 1–7 provide every component), 15 min peer review, 40 min defences (batched), 10 min buffer. The hostile-director role-play is where learning consolidates — brief co-instructors on the standard attack questions: 'your dashboard says reminders hurt', 'why should I trust a model that's only 0.66?', 'Al-Jouf looks fine, why no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this before releasing teams to work — it converts panic into assembly. The recommendation itself (scale SMS with risk-based targeting; fix booking lead times; re-audit small regions next quarter) is theirs to argue; the evidence is common property.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Passing the course requires ≥ 70 overall (labs 30 + PAs 20 + quiz 10 + capstone 40) for the Core Statistics badge. Calibrate graders on the reconciliation row first — it separates the cohort.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PA-1 (Day 2 close): CI + test on a held-out clinic subset, 25 min. PA-2 (Day 3 close): regression pipeline on fresh subset, 30 min. Both auto-checkable from seeds.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Day 4 by re-asking the Deputy Minister's question from Slide 3 and letting three participants answer it from their memos. The distance between their Day-1 and Day-4 answers is the 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numbers in this deck quote MEASURED values from the seed-42 dataset, so lab checkpoints match the projector exactly. If you regenerate with a different seed, re-run verify.py and update the checkpoint values in labs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enrichment pack is additive. Keep clinic_visits.csv as the capstone dataset. Use the Saudi RCT as a short published-evidence bridge and the CDC extension only when the cohort is ready for complex-survey concepts.</a:t>
            </a:r>
          </a:p>
          <a:p xmlns:a="http://schemas.openxmlformats.org/drawingml/2006/main">
            <a:r>
              <a:t/>
            </a:r>
          </a:p>
          <a:p xmlns:a="http://schemas.openxmlformats.org/drawingml/2006/main">
            <a:r>
              <a:t>[Sources]</a:t>
            </a:r>
          </a:p>
          <a:p xmlns:a="http://schemas.openxmlformats.org/drawingml/2006/main">
            <a:r>
              <a:t>- https://pubmed.ncbi.nlm.nih.gov/24952289/</a:t>
            </a:r>
          </a:p>
          <a:p xmlns:a="http://schemas.openxmlformats.org/drawingml/2006/main">
            <a:r>
              <a:t>- https://www.cdc.gov/nchs/nhcs/data/index.html</a:t>
            </a:r>
          </a:p>
          <a:p xmlns:a="http://schemas.openxmlformats.org/drawingml/2006/main">
            <a:r>
              <a:t>- https://moderndive.github.io/</a:t>
            </a:r>
          </a:p>
          <a:p xmlns:a="http://schemas.openxmlformats.org/drawingml/2006/main">
            <a:r>
              <a:t>- https://openstax.org/books/introductory-statistics-2e/pages/preface</a:t>
            </a:r>
          </a:p>
          <a:p xmlns:a="http://schemas.openxmlformats.org/drawingml/2006/main">
            <a:r>
              <a:t>- https://probabilitycoders.stanford.edu/win26</a:t>
            </a:r>
          </a:p>
          <a:p xmlns:a="http://schemas.openxmlformats.org/drawingml/2006/main">
            <a:r>
              <a:t>- https://online.stat.psu.edu/stat200/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7e7417505643e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8b56b3a40b479e" /><Relationship Type="http://schemas.openxmlformats.org/officeDocument/2006/relationships/slideLayout" Target="/ppt/slideLayouts/slideLayout1.xml" Id="R3d550e9ea46442b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550e9ea46442bf"/>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fc9cf6667254b87" /><Relationship Type="http://schemas.openxmlformats.org/officeDocument/2006/relationships/notesSlide" Target="/ppt/notesSlides/notesSlide1.xml" Id="Rea6dd6262cad4f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a45f9dc6a6c4396" /><Relationship Type="http://schemas.openxmlformats.org/officeDocument/2006/relationships/image" Target="/ppt/media/image.png" Id="Rf9c54d43027740d6" /><Relationship Type="http://schemas.openxmlformats.org/officeDocument/2006/relationships/image" Target="/ppt/media/image2.png" Id="R76e951692c084abd" /><Relationship Type="http://schemas.openxmlformats.org/officeDocument/2006/relationships/image" Target="/ppt/media/image3.png" Id="Rc6a22a377f904d86" /><Relationship Type="http://schemas.openxmlformats.org/officeDocument/2006/relationships/image" Target="/ppt/media/image4.png" Id="Rece55d5dee004fe0" /><Relationship Type="http://schemas.openxmlformats.org/officeDocument/2006/relationships/image" Target="/ppt/media/image5.png" Id="Rfa11988043384bf9" /><Relationship Type="http://schemas.openxmlformats.org/officeDocument/2006/relationships/image" Target="/ppt/media/image6.png" Id="Rba995ef0dba044c6" /><Relationship Type="http://schemas.openxmlformats.org/officeDocument/2006/relationships/notesSlide" Target="/ppt/notesSlides/notesSlide2.xml" Id="R90f06a97b05149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e4efbf5ad24edc" /><Relationship Type="http://schemas.openxmlformats.org/officeDocument/2006/relationships/image" Target="/ppt/media/image7.png" Id="R3041e616fe844ad6" /><Relationship Type="http://schemas.openxmlformats.org/officeDocument/2006/relationships/image" Target="/ppt/media/image8.png" Id="R6542bdfbbb4449dc" /><Relationship Type="http://schemas.openxmlformats.org/officeDocument/2006/relationships/notesSlide" Target="/ppt/notesSlides/notesSlide3.xml" Id="R90e8c454934a47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1ca3b3abd9b4181" /><Relationship Type="http://schemas.openxmlformats.org/officeDocument/2006/relationships/image" Target="/ppt/media/image9.png" Id="R19d3b829e3274172" /><Relationship Type="http://schemas.openxmlformats.org/officeDocument/2006/relationships/image" Target="/ppt/media/image10.png" Id="R3fae98e8dafb400f" /><Relationship Type="http://schemas.openxmlformats.org/officeDocument/2006/relationships/image" Target="/ppt/media/image11.png" Id="R7e171dccfd1a441a" /><Relationship Type="http://schemas.openxmlformats.org/officeDocument/2006/relationships/image" Target="/ppt/media/image12.png" Id="R10afc83cff0f4e0a" /><Relationship Type="http://schemas.openxmlformats.org/officeDocument/2006/relationships/image" Target="/ppt/media/image13.png" Id="R302076c172344f3a" /><Relationship Type="http://schemas.openxmlformats.org/officeDocument/2006/relationships/image" Target="/ppt/media/image14.png" Id="Re7955fa08cc64b6c" /><Relationship Type="http://schemas.openxmlformats.org/officeDocument/2006/relationships/notesSlide" Target="/ppt/notesSlides/notesSlide4.xml" Id="Rf1b18ee6d74243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8f342fb35544dc" /><Relationship Type="http://schemas.openxmlformats.org/officeDocument/2006/relationships/notesSlide" Target="/ppt/notesSlides/notesSlide5.xml" Id="R2d9b2ab1bece40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0e21c31605340cc" /><Relationship Type="http://schemas.openxmlformats.org/officeDocument/2006/relationships/image" Target="/ppt/media/image14.png" Id="Re3dbe62dd86a4b0e" /><Relationship Type="http://schemas.openxmlformats.org/officeDocument/2006/relationships/image" Target="/ppt/media/image8.png" Id="Rb6b4b7ded6994cf1" /><Relationship Type="http://schemas.openxmlformats.org/officeDocument/2006/relationships/image" Target="/ppt/media/image15.png" Id="Rafd6d1531f2c4d94" /><Relationship Type="http://schemas.openxmlformats.org/officeDocument/2006/relationships/image" Target="/ppt/media/image4.png" Id="R3af34c96276c4e61" /><Relationship Type="http://schemas.openxmlformats.org/officeDocument/2006/relationships/image" Target="/ppt/media/image16.png" Id="R0db47cbaee1a4b41" /><Relationship Type="http://schemas.openxmlformats.org/officeDocument/2006/relationships/image" Target="/ppt/media/image3.png" Id="R05551f0dc043494a" /><Relationship Type="http://schemas.openxmlformats.org/officeDocument/2006/relationships/notesSlide" Target="/ppt/notesSlides/notesSlide6.xml" Id="R521a7f90d06245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3693fb2b20b4044" /><Relationship Type="http://schemas.openxmlformats.org/officeDocument/2006/relationships/notesSlide" Target="/ppt/notesSlides/notesSlide7.xml" Id="Red32c8befbac47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0080d7121a4f9b" /><Relationship Type="http://schemas.openxmlformats.org/officeDocument/2006/relationships/image" Target="/ppt/media/image17.png" Id="Rdfaa51d041de4610" /><Relationship Type="http://schemas.openxmlformats.org/officeDocument/2006/relationships/image" Target="/ppt/media/image18.png" Id="Rbe29cdaac215494d" /><Relationship Type="http://schemas.openxmlformats.org/officeDocument/2006/relationships/image" Target="/ppt/media/image19.png" Id="R30eadf5663f54475" /><Relationship Type="http://schemas.openxmlformats.org/officeDocument/2006/relationships/notesSlide" Target="/ppt/notesSlides/notesSlide8.xml" Id="Ra1abe88d3d414bc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2da143873f74756" /><Relationship Type="http://schemas.openxmlformats.org/officeDocument/2006/relationships/image" Target="/ppt/media/image9.png" Id="R6765eb67027744c3" /><Relationship Type="http://schemas.openxmlformats.org/officeDocument/2006/relationships/notesSlide" Target="/ppt/notesSlides/notesSlide9.xml" Id="Rc35169e84b2a49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01b33b43bef4504" /><Relationship Type="http://schemas.openxmlformats.org/officeDocument/2006/relationships/image" Target="/ppt/media/image20.png" Id="R8ba895521f1f4bec" /><Relationship Type="http://schemas.openxmlformats.org/officeDocument/2006/relationships/notesSlide" Target="/ppt/notesSlides/notesSlide10.xml" Id="Rb528c445b1a846d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083f50b895f4666" /><Relationship Type="http://schemas.openxmlformats.org/officeDocument/2006/relationships/notesSlide" Target="/ppt/notesSlides/notesSlide11.xml" Id="R96892c5b04e344d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97d9c890f4146d0" /><Relationship Type="http://schemas.openxmlformats.org/officeDocument/2006/relationships/image" Target="/ppt/media/image21.png" Id="R017ddadf0359420c" /><Relationship Type="http://schemas.openxmlformats.org/officeDocument/2006/relationships/notesSlide" Target="/ppt/notesSlides/notesSlide12.xml" Id="R461a048693a0494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c1490f4e3ff467c" /><Relationship Type="http://schemas.openxmlformats.org/officeDocument/2006/relationships/notesSlide" Target="/ppt/notesSlides/notesSlide13.xml" Id="Rb2644d2fb1af41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d3d7842f52f4f45" /><Relationship Type="http://schemas.openxmlformats.org/officeDocument/2006/relationships/image" Target="/ppt/media/image21.png" Id="R6ac4bf61490045a8" /><Relationship Type="http://schemas.openxmlformats.org/officeDocument/2006/relationships/chart" Target="/ppt/slides/charts/chart1.xml" Id="R6315528596a242ff" /><Relationship Type="http://schemas.openxmlformats.org/officeDocument/2006/relationships/notesSlide" Target="/ppt/notesSlides/notesSlide14.xml" Id="R6327158b1fab454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138184eb752449e" /><Relationship Type="http://schemas.openxmlformats.org/officeDocument/2006/relationships/notesSlide" Target="/ppt/notesSlides/notesSlide15.xml" Id="Rd13596b9c925486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c13b3dd89dd4b19" /><Relationship Type="http://schemas.openxmlformats.org/officeDocument/2006/relationships/image" Target="/ppt/media/image16.png" Id="Re591da6174f7490c" /><Relationship Type="http://schemas.openxmlformats.org/officeDocument/2006/relationships/image" Target="/ppt/media/image21.png" Id="Rf43000bc7f1a48b0" /><Relationship Type="http://schemas.openxmlformats.org/officeDocument/2006/relationships/image" Target="/ppt/media/image22.png" Id="R5b55804e018e4bd5" /><Relationship Type="http://schemas.openxmlformats.org/officeDocument/2006/relationships/image" Target="/ppt/media/image7.png" Id="R5904e84683a8420b" /><Relationship Type="http://schemas.openxmlformats.org/officeDocument/2006/relationships/notesSlide" Target="/ppt/notesSlides/notesSlide16.xml" Id="Ree579621f2614a0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92c37e0adc94e5e" /><Relationship Type="http://schemas.openxmlformats.org/officeDocument/2006/relationships/notesSlide" Target="/ppt/notesSlides/notesSlide17.xml" Id="R0da0b35769d54cf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07ac8af45c44caa" /><Relationship Type="http://schemas.openxmlformats.org/officeDocument/2006/relationships/image" Target="/ppt/media/image18.png" Id="Rb0136f5f50c44ca5" /><Relationship Type="http://schemas.openxmlformats.org/officeDocument/2006/relationships/notesSlide" Target="/ppt/notesSlides/notesSlide18.xml" Id="R934a23474ec34b2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b6e6f3f39734972" /><Relationship Type="http://schemas.openxmlformats.org/officeDocument/2006/relationships/notesSlide" Target="/ppt/notesSlides/notesSlide19.xml" Id="R48c8539363e24be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4a949e7b24a49df" /><Relationship Type="http://schemas.openxmlformats.org/officeDocument/2006/relationships/image" Target="/ppt/media/image18.png" Id="R0a10f357c68348c8" /><Relationship Type="http://schemas.openxmlformats.org/officeDocument/2006/relationships/image" Target="/ppt/media/image10.png" Id="Ra8546e867ca34cd7" /><Relationship Type="http://schemas.openxmlformats.org/officeDocument/2006/relationships/image" Target="/ppt/media/image13.png" Id="R7b2f2d3c9f644b33" /><Relationship Type="http://schemas.openxmlformats.org/officeDocument/2006/relationships/image" Target="/ppt/media/image23.png" Id="Rc9d35acaf5f84c95" /><Relationship Type="http://schemas.openxmlformats.org/officeDocument/2006/relationships/notesSlide" Target="/ppt/notesSlides/notesSlide20.xml" Id="R4874963c81484c0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9c5073b7dbe463e" /><Relationship Type="http://schemas.openxmlformats.org/officeDocument/2006/relationships/notesSlide" Target="/ppt/notesSlides/notesSlide21.xml" Id="R45f2be6f64d74bb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d81429d833b4d3d" /><Relationship Type="http://schemas.openxmlformats.org/officeDocument/2006/relationships/image" Target="/ppt/media/image24.png" Id="Rf618e91883af4229" /><Relationship Type="http://schemas.openxmlformats.org/officeDocument/2006/relationships/notesSlide" Target="/ppt/notesSlides/notesSlide22.xml" Id="R400a5336f62749a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a239214120a4f43" /><Relationship Type="http://schemas.openxmlformats.org/officeDocument/2006/relationships/chart" Target="/ppt/slides/charts/chart2.xml" Id="Rdf367759103140ba" /><Relationship Type="http://schemas.openxmlformats.org/officeDocument/2006/relationships/notesSlide" Target="/ppt/notesSlides/notesSlide23.xml" Id="R37cf18ea6958450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f5303da17b74475" /><Relationship Type="http://schemas.openxmlformats.org/officeDocument/2006/relationships/image" Target="/ppt/media/image16.png" Id="R46f44118dd8341a0" /><Relationship Type="http://schemas.openxmlformats.org/officeDocument/2006/relationships/image" Target="/ppt/media/image21.png" Id="R71c3bade01d7463b" /><Relationship Type="http://schemas.openxmlformats.org/officeDocument/2006/relationships/image" Target="/ppt/media/image22.png" Id="R9ff6c2aa369c4820" /><Relationship Type="http://schemas.openxmlformats.org/officeDocument/2006/relationships/image" Target="/ppt/media/image7.png" Id="Rb69c73ff0e1c4fd8" /><Relationship Type="http://schemas.openxmlformats.org/officeDocument/2006/relationships/notesSlide" Target="/ppt/notesSlides/notesSlide24.xml" Id="R962bbc566a3a4fd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00568b378af495f" /><Relationship Type="http://schemas.openxmlformats.org/officeDocument/2006/relationships/notesSlide" Target="/ppt/notesSlides/notesSlide25.xml" Id="Rd338d143cf1e436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470be9c392b424d" /><Relationship Type="http://schemas.openxmlformats.org/officeDocument/2006/relationships/image" Target="/ppt/media/image24.png" Id="R4e603ac2542e4751" /><Relationship Type="http://schemas.openxmlformats.org/officeDocument/2006/relationships/notesSlide" Target="/ppt/notesSlides/notesSlide26.xml" Id="R78f8a4abbde349f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8bf009f13d146b0" /><Relationship Type="http://schemas.openxmlformats.org/officeDocument/2006/relationships/notesSlide" Target="/ppt/notesSlides/notesSlide27.xml" Id="Rea9c4f2fb6f1430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2512a1ff9f34e11" /><Relationship Type="http://schemas.openxmlformats.org/officeDocument/2006/relationships/notesSlide" Target="/ppt/notesSlides/notesSlide28.xml" Id="R90e6e8d0c57745a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d2213ed20f7421f" /><Relationship Type="http://schemas.openxmlformats.org/officeDocument/2006/relationships/image" Target="/ppt/media/image25.png" Id="R2786ef6b57cc424b" /><Relationship Type="http://schemas.openxmlformats.org/officeDocument/2006/relationships/notesSlide" Target="/ppt/notesSlides/notesSlide29.xml" Id="Rac2c49a864084f2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cf594c95d1a45b2" /><Relationship Type="http://schemas.openxmlformats.org/officeDocument/2006/relationships/image" Target="/ppt/media/image25.png" Id="R468087d725274b2e" /><Relationship Type="http://schemas.openxmlformats.org/officeDocument/2006/relationships/image" Target="/ppt/media/image26.png" Id="R79dfdd1e1dac4996" /><Relationship Type="http://schemas.openxmlformats.org/officeDocument/2006/relationships/image" Target="/ppt/media/image14.png" Id="R5ce89cdebbe04a49" /><Relationship Type="http://schemas.openxmlformats.org/officeDocument/2006/relationships/notesSlide" Target="/ppt/notesSlides/notesSlide30.xml" Id="R7c10a0cd23654bd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a026201ed884f1a" /><Relationship Type="http://schemas.openxmlformats.org/officeDocument/2006/relationships/image" Target="/ppt/media/image18.png" Id="R9ff73f6ad2034344" /><Relationship Type="http://schemas.openxmlformats.org/officeDocument/2006/relationships/image" Target="/ppt/media/image10.png" Id="R46e3cb6a9e6940e4" /><Relationship Type="http://schemas.openxmlformats.org/officeDocument/2006/relationships/notesSlide" Target="/ppt/notesSlides/notesSlide31.xml" Id="Rcc92ad483d964bc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7f00e7b53cc4cc0" /><Relationship Type="http://schemas.openxmlformats.org/officeDocument/2006/relationships/image" Target="/ppt/media/image21.png" Id="Rf5e5adea290648e1" /><Relationship Type="http://schemas.openxmlformats.org/officeDocument/2006/relationships/notesSlide" Target="/ppt/notesSlides/notesSlide32.xml" Id="R708cb1e02f794a3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efdc6c427ba4eb1" /><Relationship Type="http://schemas.openxmlformats.org/officeDocument/2006/relationships/image" Target="/ppt/media/image27.png" Id="R9421ddcbe8904f88" /><Relationship Type="http://schemas.openxmlformats.org/officeDocument/2006/relationships/image" Target="/ppt/media/image28.png" Id="R13485e28662542d6" /><Relationship Type="http://schemas.openxmlformats.org/officeDocument/2006/relationships/notesSlide" Target="/ppt/notesSlides/notesSlide33.xml" Id="R0533942b7c20457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afd904a3faa43f2" /><Relationship Type="http://schemas.openxmlformats.org/officeDocument/2006/relationships/chart" Target="/ppt/slides/charts/chart3.xml" Id="Rb6b225bd4d0041ac" /><Relationship Type="http://schemas.openxmlformats.org/officeDocument/2006/relationships/notesSlide" Target="/ppt/notesSlides/notesSlide34.xml" Id="R5b8996d494a1460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952fc3accc84e05" /><Relationship Type="http://schemas.openxmlformats.org/officeDocument/2006/relationships/notesSlide" Target="/ppt/notesSlides/notesSlide35.xml" Id="R6eade60adb6d444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347512f73f24862" /><Relationship Type="http://schemas.openxmlformats.org/officeDocument/2006/relationships/image" Target="/ppt/media/image16.png" Id="Rc2116881522d48c2" /><Relationship Type="http://schemas.openxmlformats.org/officeDocument/2006/relationships/image" Target="/ppt/media/image21.png" Id="R4d24eb5b89cb4cd8" /><Relationship Type="http://schemas.openxmlformats.org/officeDocument/2006/relationships/image" Target="/ppt/media/image22.png" Id="R34b66909c93e467e" /><Relationship Type="http://schemas.openxmlformats.org/officeDocument/2006/relationships/image" Target="/ppt/media/image7.png" Id="R192cad9f1ca0484b" /><Relationship Type="http://schemas.openxmlformats.org/officeDocument/2006/relationships/notesSlide" Target="/ppt/notesSlides/notesSlide36.xml" Id="R1fee3e598fef4c1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bb9ed648a1de4d83" /><Relationship Type="http://schemas.openxmlformats.org/officeDocument/2006/relationships/notesSlide" Target="/ppt/notesSlides/notesSlide37.xml" Id="R14b23da7581145b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25746f297794e56" /><Relationship Type="http://schemas.openxmlformats.org/officeDocument/2006/relationships/image" Target="/ppt/media/image11.png" Id="R3f70e9a558634080" /><Relationship Type="http://schemas.openxmlformats.org/officeDocument/2006/relationships/notesSlide" Target="/ppt/notesSlides/notesSlide38.xml" Id="R6b24be8c4d5e4a7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21ad2be3b724a54" /><Relationship Type="http://schemas.openxmlformats.org/officeDocument/2006/relationships/notesSlide" Target="/ppt/notesSlides/notesSlide39.xml" Id="R571ca03a9c7d406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1bf03727bf624411" /><Relationship Type="http://schemas.openxmlformats.org/officeDocument/2006/relationships/image" Target="/ppt/media/image28.png" Id="R72918c0e6a6848ff" /><Relationship Type="http://schemas.openxmlformats.org/officeDocument/2006/relationships/notesSlide" Target="/ppt/notesSlides/notesSlide40.xml" Id="R521e8f7f26e24a0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444e179cb096442d" /><Relationship Type="http://schemas.openxmlformats.org/officeDocument/2006/relationships/notesSlide" Target="/ppt/notesSlides/notesSlide41.xml" Id="R928254d556f04e4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8f84c153ddf54459" /><Relationship Type="http://schemas.openxmlformats.org/officeDocument/2006/relationships/image" Target="/ppt/media/image10.png" Id="Rbf4b1251da5a4def" /><Relationship Type="http://schemas.openxmlformats.org/officeDocument/2006/relationships/image" Target="/ppt/media/image26.png" Id="R2da0ac9a7c0641aa" /><Relationship Type="http://schemas.openxmlformats.org/officeDocument/2006/relationships/image" Target="/ppt/media/image11.png" Id="R1ad4f517203c430e" /><Relationship Type="http://schemas.openxmlformats.org/officeDocument/2006/relationships/image" Target="/ppt/media/image21.png" Id="R9ba0cb2412c3488d" /><Relationship Type="http://schemas.openxmlformats.org/officeDocument/2006/relationships/notesSlide" Target="/ppt/notesSlides/notesSlide42.xml" Id="Rdefd49d9f5b4440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320b10d250834657" /><Relationship Type="http://schemas.openxmlformats.org/officeDocument/2006/relationships/image" Target="/ppt/media/image17.png" Id="R586925407c424ed0" /><Relationship Type="http://schemas.openxmlformats.org/officeDocument/2006/relationships/image" Target="/ppt/media/image29.png" Id="R7b5a617ff1004891" /><Relationship Type="http://schemas.openxmlformats.org/officeDocument/2006/relationships/image" Target="/ppt/media/image13.png" Id="Rc9ecaf0f6a794c9b" /><Relationship Type="http://schemas.openxmlformats.org/officeDocument/2006/relationships/notesSlide" Target="/ppt/notesSlides/notesSlide43.xml" Id="R46bb77d7b62f40f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1d01c6db4ddf4c0b" /><Relationship Type="http://schemas.openxmlformats.org/officeDocument/2006/relationships/chart" Target="/ppt/slides/charts/chart4.xml" Id="R6be860f44b5f4d74" /><Relationship Type="http://schemas.openxmlformats.org/officeDocument/2006/relationships/notesSlide" Target="/ppt/notesSlides/notesSlide44.xml" Id="Rc7edd3c96c9d4e7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7dec8fa1882d41d0" /><Relationship Type="http://schemas.openxmlformats.org/officeDocument/2006/relationships/chart" Target="/ppt/slides/charts/chart5.xml" Id="Rec5f69c80324436e" /><Relationship Type="http://schemas.openxmlformats.org/officeDocument/2006/relationships/notesSlide" Target="/ppt/notesSlides/notesSlide45.xml" Id="R10adb089e884493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2c405c995d834a9e" /><Relationship Type="http://schemas.openxmlformats.org/officeDocument/2006/relationships/image" Target="/ppt/media/image10.png" Id="R409595cc23ea469f" /><Relationship Type="http://schemas.openxmlformats.org/officeDocument/2006/relationships/image" Target="/ppt/media/image26.png" Id="Rb82539fb38cd4528" /><Relationship Type="http://schemas.openxmlformats.org/officeDocument/2006/relationships/image" Target="/ppt/media/image11.png" Id="Rc03f6ce8c9ed4d64" /><Relationship Type="http://schemas.openxmlformats.org/officeDocument/2006/relationships/image" Target="/ppt/media/image21.png" Id="Rde5a1a3d4ae34586" /><Relationship Type="http://schemas.openxmlformats.org/officeDocument/2006/relationships/notesSlide" Target="/ppt/notesSlides/notesSlide46.xml" Id="R27737d3941f34bc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bc96585704e4c09" /><Relationship Type="http://schemas.openxmlformats.org/officeDocument/2006/relationships/notesSlide" Target="/ppt/notesSlides/notesSlide47.xml" Id="R932b216d30f5437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d1de7d6e13014087" /><Relationship Type="http://schemas.openxmlformats.org/officeDocument/2006/relationships/image" Target="/ppt/media/image30.png" Id="R1f2d12a7dc4f44a9" /><Relationship Type="http://schemas.openxmlformats.org/officeDocument/2006/relationships/image" Target="/ppt/media/image14.png" Id="Rc377a5f83eff4b3b" /><Relationship Type="http://schemas.openxmlformats.org/officeDocument/2006/relationships/image" Target="/ppt/media/image12.png" Id="Rd900c9abed6d4cb6" /><Relationship Type="http://schemas.openxmlformats.org/officeDocument/2006/relationships/image" Target="/ppt/media/image9.png" Id="Rdd21af4d852249af" /><Relationship Type="http://schemas.openxmlformats.org/officeDocument/2006/relationships/notesSlide" Target="/ppt/notesSlides/notesSlide48.xml" Id="R424392cdb88348a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29a0f5c6119f4aef" /><Relationship Type="http://schemas.openxmlformats.org/officeDocument/2006/relationships/notesSlide" Target="/ppt/notesSlides/notesSlide49.xml" Id="Rd4b2dbb2ed594e1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5f455dbb21394177" /><Relationship Type="http://schemas.openxmlformats.org/officeDocument/2006/relationships/image" Target="/ppt/media/image16.png" Id="R1536220263f74a6e" /><Relationship Type="http://schemas.openxmlformats.org/officeDocument/2006/relationships/image" Target="/ppt/media/image21.png" Id="R1b9168a22c4e4e3e" /><Relationship Type="http://schemas.openxmlformats.org/officeDocument/2006/relationships/image" Target="/ppt/media/image22.png" Id="R7557f537f44c49bd" /><Relationship Type="http://schemas.openxmlformats.org/officeDocument/2006/relationships/image" Target="/ppt/media/image7.png" Id="Rc9b17ab39a8247e1" /><Relationship Type="http://schemas.openxmlformats.org/officeDocument/2006/relationships/notesSlide" Target="/ppt/notesSlides/notesSlide50.xml" Id="Reeb7092c73cb4cc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54cb3234f4a74301" /><Relationship Type="http://schemas.openxmlformats.org/officeDocument/2006/relationships/notesSlide" Target="/ppt/notesSlides/notesSlide51.xml" Id="R977f6d640853445e"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808db46cdea24717" /><Relationship Type="http://schemas.openxmlformats.org/officeDocument/2006/relationships/notesSlide" Target="/ppt/notesSlides/notesSlide52.xml" Id="Re1e770d0f393468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93cb54b40cbd4e5f" /><Relationship Type="http://schemas.openxmlformats.org/officeDocument/2006/relationships/image" Target="/ppt/media/image12.png" Id="Rf828ee0ec09e4e3d" /><Relationship Type="http://schemas.openxmlformats.org/officeDocument/2006/relationships/notesSlide" Target="/ppt/notesSlides/notesSlide53.xml" Id="R084d45fc8e9f41a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b9c40c832c594e73" /><Relationship Type="http://schemas.openxmlformats.org/officeDocument/2006/relationships/notesSlide" Target="/ppt/notesSlides/notesSlide54.xml" Id="R023b273465f4434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22ed8b1c5da54782" /><Relationship Type="http://schemas.openxmlformats.org/officeDocument/2006/relationships/image" Target="/ppt/media/image30.png" Id="R6c080f6ac1a94cb1" /><Relationship Type="http://schemas.openxmlformats.org/officeDocument/2006/relationships/image" Target="/ppt/media/image14.png" Id="R0439b5cb2bc746bd" /><Relationship Type="http://schemas.openxmlformats.org/officeDocument/2006/relationships/image" Target="/ppt/media/image12.png" Id="Rbf11d5b535d442e2" /><Relationship Type="http://schemas.openxmlformats.org/officeDocument/2006/relationships/image" Target="/ppt/media/image9.png" Id="R3608334b96c442f2" /><Relationship Type="http://schemas.openxmlformats.org/officeDocument/2006/relationships/notesSlide" Target="/ppt/notesSlides/notesSlide55.xml" Id="R1c080a42667b4d48"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ce7d7d701167461d" /><Relationship Type="http://schemas.openxmlformats.org/officeDocument/2006/relationships/chart" Target="/ppt/slides/charts/chart6.xml" Id="Re27f158bab704ee8" /><Relationship Type="http://schemas.openxmlformats.org/officeDocument/2006/relationships/notesSlide" Target="/ppt/notesSlides/notesSlide56.xml" Id="R07da9965a6f741d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4c8e023507e64508" /><Relationship Type="http://schemas.openxmlformats.org/officeDocument/2006/relationships/image" Target="/ppt/media/image12.png" Id="Rf85c08061d66457a" /><Relationship Type="http://schemas.openxmlformats.org/officeDocument/2006/relationships/image" Target="/ppt/media/image11.png" Id="R5c00eba81fc34d90" /><Relationship Type="http://schemas.openxmlformats.org/officeDocument/2006/relationships/notesSlide" Target="/ppt/notesSlides/notesSlide57.xml" Id="R3ccf514189ae4ac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7860a73fa9b446ba" /><Relationship Type="http://schemas.openxmlformats.org/officeDocument/2006/relationships/notesSlide" Target="/ppt/notesSlides/notesSlide58.xml" Id="Rfbd37c9d71864cd4"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f36daeb7c5a046aa" /><Relationship Type="http://schemas.openxmlformats.org/officeDocument/2006/relationships/image" Target="/ppt/media/image16.png" Id="R9ead64fe0f2f42ca" /><Relationship Type="http://schemas.openxmlformats.org/officeDocument/2006/relationships/image" Target="/ppt/media/image21.png" Id="Rebd6c68273b1497f" /><Relationship Type="http://schemas.openxmlformats.org/officeDocument/2006/relationships/image" Target="/ppt/media/image22.png" Id="R7b7885cda5124dc0" /><Relationship Type="http://schemas.openxmlformats.org/officeDocument/2006/relationships/image" Target="/ppt/media/image7.png" Id="R1af0469ca26044dc" /><Relationship Type="http://schemas.openxmlformats.org/officeDocument/2006/relationships/notesSlide" Target="/ppt/notesSlides/notesSlide59.xml" Id="R893f9fbace7e422c"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8ce480a157f3498e" /><Relationship Type="http://schemas.openxmlformats.org/officeDocument/2006/relationships/notesSlide" Target="/ppt/notesSlides/notesSlide60.xml" Id="Raf11fe094b734ed9"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98e3e8d8dbc744de" /><Relationship Type="http://schemas.openxmlformats.org/officeDocument/2006/relationships/image" Target="/ppt/media/image26.png" Id="Rf740c4e00eca409f" /><Relationship Type="http://schemas.openxmlformats.org/officeDocument/2006/relationships/notesSlide" Target="/ppt/notesSlides/notesSlide61.xml" Id="R4d15224da22149e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efd20690065d4b9c" /><Relationship Type="http://schemas.openxmlformats.org/officeDocument/2006/relationships/notesSlide" Target="/ppt/notesSlides/notesSlide62.xml" Id="R20de0699c4814308"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ebe564b3fc71480b" /><Relationship Type="http://schemas.openxmlformats.org/officeDocument/2006/relationships/notesSlide" Target="/ppt/notesSlides/notesSlide63.xml" Id="R303f2d19f196465d"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be6c9f65a93544de" /><Relationship Type="http://schemas.openxmlformats.org/officeDocument/2006/relationships/notesSlide" Target="/ppt/notesSlides/notesSlide64.xml" Id="Ra12fb11746974d85"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ded3f75bf74042d4" /><Relationship Type="http://schemas.openxmlformats.org/officeDocument/2006/relationships/image" Target="/ppt/media/image18.png" Id="R3b5a8c0fd41d463a" /><Relationship Type="http://schemas.openxmlformats.org/officeDocument/2006/relationships/image" Target="/ppt/media/image25.png" Id="Rfe2eb55d67954a72" /><Relationship Type="http://schemas.openxmlformats.org/officeDocument/2006/relationships/image" Target="/ppt/media/image11.png" Id="Rf15e6de06a2a40f2" /><Relationship Type="http://schemas.openxmlformats.org/officeDocument/2006/relationships/image" Target="/ppt/media/image21.png" Id="Rb97020a09261425d" /><Relationship Type="http://schemas.openxmlformats.org/officeDocument/2006/relationships/notesSlide" Target="/ppt/notesSlides/notesSlide65.xml" Id="Recdc530bfcaa4e5f"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d4b237b91e264701" /><Relationship Type="http://schemas.openxmlformats.org/officeDocument/2006/relationships/image" Target="/ppt/media/image16.png" Id="R0b207b32aff14de3" /><Relationship Type="http://schemas.openxmlformats.org/officeDocument/2006/relationships/image" Target="/ppt/media/image21.png" Id="R878f313d64b343a6" /><Relationship Type="http://schemas.openxmlformats.org/officeDocument/2006/relationships/image" Target="/ppt/media/image22.png" Id="Rc1441faa4c3b4fe5" /><Relationship Type="http://schemas.openxmlformats.org/officeDocument/2006/relationships/image" Target="/ppt/media/image7.png" Id="Rb8de207cfb584d75" /><Relationship Type="http://schemas.openxmlformats.org/officeDocument/2006/relationships/notesSlide" Target="/ppt/notesSlides/notesSlide66.xml" Id="R0d53b41f7f264d0c"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59cc29128a6b4cfa" /><Relationship Type="http://schemas.openxmlformats.org/officeDocument/2006/relationships/notesSlide" Target="/ppt/notesSlides/notesSlide67.xml" Id="Rba7949c3d3dd4163"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9b093856706d4c2a" /><Relationship Type="http://schemas.openxmlformats.org/officeDocument/2006/relationships/notesSlide" Target="/ppt/notesSlides/notesSlide68.xml" Id="R82d6bd7c7c164f51"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28c9737c25094049" /><Relationship Type="http://schemas.openxmlformats.org/officeDocument/2006/relationships/image" Target="/ppt/media/image31.png" Id="Rf3ac88bda5544c8b" /><Relationship Type="http://schemas.openxmlformats.org/officeDocument/2006/relationships/notesSlide" Target="/ppt/notesSlides/notesSlide69.xml" Id="Rf73d74483d2e4712"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84e57a1d751747f2" /><Relationship Type="http://schemas.openxmlformats.org/officeDocument/2006/relationships/image" Target="/ppt/media/image32.png" Id="Rb48bfe2459944297" /><Relationship Type="http://schemas.openxmlformats.org/officeDocument/2006/relationships/notesSlide" Target="/ppt/notesSlides/notesSlide70.xml" Id="R449edd39007843b1"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5b27c58a44f242ae" /><Relationship Type="http://schemas.openxmlformats.org/officeDocument/2006/relationships/notesSlide" Target="/ppt/notesSlides/notesSlide71.xml" Id="R283b8f214eb64242"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c0a1e48d95004e33" /><Relationship Type="http://schemas.openxmlformats.org/officeDocument/2006/relationships/image" Target="/ppt/media/image21.png" Id="Rc0405183a87f4ada" /><Relationship Type="http://schemas.openxmlformats.org/officeDocument/2006/relationships/notesSlide" Target="/ppt/notesSlides/notesSlide72.xml" Id="R26ab9ddf3ca343dd"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b9edbf3cc82341ca" /><Relationship Type="http://schemas.openxmlformats.org/officeDocument/2006/relationships/notesSlide" Target="/ppt/notesSlides/notesSlide73.xml" Id="R60f765f7fcb04a26"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5d30df075a4f4271" /><Relationship Type="http://schemas.openxmlformats.org/officeDocument/2006/relationships/notesSlide" Target="/ppt/notesSlides/notesSlide74.xml" Id="Rfedbdc4f41b34e93"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2107c4baf46142ab" /><Relationship Type="http://schemas.openxmlformats.org/officeDocument/2006/relationships/image" Target="/ppt/media/image16.png" Id="R74595da7181e49f5" /><Relationship Type="http://schemas.openxmlformats.org/officeDocument/2006/relationships/image" Target="/ppt/media/image21.png" Id="Rdb0ac45cd1984688" /><Relationship Type="http://schemas.openxmlformats.org/officeDocument/2006/relationships/image" Target="/ppt/media/image22.png" Id="Rc180f382f1854ab8" /><Relationship Type="http://schemas.openxmlformats.org/officeDocument/2006/relationships/image" Target="/ppt/media/image7.png" Id="R8012c33003af4b51" /><Relationship Type="http://schemas.openxmlformats.org/officeDocument/2006/relationships/notesSlide" Target="/ppt/notesSlides/notesSlide75.xml" Id="R858abbb9970047d3"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0a5fb43a96374722" /><Relationship Type="http://schemas.openxmlformats.org/officeDocument/2006/relationships/notesSlide" Target="/ppt/notesSlides/notesSlide76.xml" Id="R48ef9de864104a92"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a5f084d455164e36" /><Relationship Type="http://schemas.openxmlformats.org/officeDocument/2006/relationships/image" Target="/ppt/media/image33.png" Id="R8cdc7dd454c24dd2" /><Relationship Type="http://schemas.openxmlformats.org/officeDocument/2006/relationships/image" Target="/ppt/media/image4.png" Id="Rff7d156fb3294809" /><Relationship Type="http://schemas.openxmlformats.org/officeDocument/2006/relationships/image" Target="/ppt/media/image16.png" Id="R4390f690070f449d" /><Relationship Type="http://schemas.openxmlformats.org/officeDocument/2006/relationships/notesSlide" Target="/ppt/notesSlides/notesSlide77.xml" Id="R6d478e71d0bb4127"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331f69b087d64377" /><Relationship Type="http://schemas.openxmlformats.org/officeDocument/2006/relationships/notesSlide" Target="/ppt/notesSlides/notesSlide78.xml" Id="R362e4773a25c44f6"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4741182a541a46df" /><Relationship Type="http://schemas.openxmlformats.org/officeDocument/2006/relationships/notesSlide" Target="/ppt/notesSlides/notesSlide79.xml" Id="Rd894167faffb4965"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c14721e221f6440c" /><Relationship Type="http://schemas.openxmlformats.org/officeDocument/2006/relationships/image" Target="/ppt/media/image6.png" Id="R512c22be8638430e" /><Relationship Type="http://schemas.openxmlformats.org/officeDocument/2006/relationships/notesSlide" Target="/ppt/notesSlides/notesSlide80.xml" Id="R8e6ee9f6a23b4a28"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d5ac43c68235467a" /><Relationship Type="http://schemas.openxmlformats.org/officeDocument/2006/relationships/notesSlide" Target="/ppt/notesSlides/notesSlide81.xml" Id="Rcccc742e35c94447"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288c324ff9724a51" /><Relationship Type="http://schemas.openxmlformats.org/officeDocument/2006/relationships/notesSlide" Target="/ppt/notesSlides/notesSlide82.xml" Id="Rcf027e5cd545449a"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899944ebc25649ec" /><Relationship Type="http://schemas.openxmlformats.org/officeDocument/2006/relationships/notesSlide" Target="/ppt/notesSlides/notesSlide83.xml" Id="R5e04d3a456764e13"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d8e95f7d58fb444c" /><Relationship Type="http://schemas.openxmlformats.org/officeDocument/2006/relationships/notesSlide" Target="/ppt/notesSlides/notesSlide84.xml" Id="R10ee99b0be1148c3"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200" b="0" i="0" u="none">
                <a:solidFill>
                  <a:srgbClr val="0B3140"/>
                </a:solidFill>
                <a:latin typeface="Arial"/>
                <a:ea typeface="Arial"/>
                <a:cs typeface="Arial"/>
              </a:rPr>
              <a:t>The tail test on clinic_visits.csv (%, attended visits)</a:t>
            </a:r>
          </a:p>
        </c:rich>
      </c:tx>
      <c:overlay val="0"/>
      <c:txPr>
        <a:bodyPr xmlns:a="http://schemas.openxmlformats.org/drawingml/2006/main" anchorCtr="1"/>
        <a:lstStyle xmlns:a="http://schemas.openxmlformats.org/drawingml/2006/main"/>
        <a:p xmlns:a="http://schemas.openxmlformats.org/drawingml/2006/main">
          <a:pPr>
            <a:defRPr sz="1200" b="0" i="0" u="none">
              <a:solidFill>
                <a:srgbClr val="0B3140"/>
              </a:solidFill>
              <a:latin typeface="Arial"/>
              <a:ea typeface="Arial"/>
              <a:cs typeface="Arial"/>
            </a:defRPr>
          </a:pPr>
        </a:p>
      </c:txPr>
    </c:title>
    <c:autoTitleDeleted val="0"/>
    <c:plotArea>
      <c:barChart>
        <c:barDir val="col"/>
        <c:grouping val="clustered"/>
        <c:varyColors val="0"/>
        <c:ser>
          <c:idx val="0"/>
          <c:order val="0"/>
          <c:tx>
            <c:strRef>
              <c:f>Sheet1!$B$1</c:f>
              <c:strCache>
                <c:ptCount val="1"/>
                <c:pt idx="0">
                  <c:v>Observed (data)</c:v>
                </c:pt>
              </c:strCache>
            </c:strRef>
          </c:tx>
          <c:spPr>
            <a:solidFill xmlns:a="http://schemas.openxmlformats.org/drawingml/2006/main">
              <a:srgbClr val="0B3140"/>
            </a:solidFill>
          </c:spPr>
          <c:dLbls>
            <c:numFmt formatCode="0.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50" b="0" i="0" u="none">
                    <a:solidFill>
                      <a:srgbClr val="24313A"/>
                    </a:solidFill>
                    <a:latin typeface="Arial"/>
                    <a:ea typeface="Arial"/>
                    <a:cs typeface="Arial"/>
                  </a:defRPr>
                </a:pPr>
              </a:p>
            </c:txPr>
            <c:showLegendKey val="0"/>
            <c:showVal val="1"/>
            <c:showCatName val="0"/>
            <c:showSerName val="0"/>
            <c:showPercent val="0"/>
            <c:showBubbleSize val="0"/>
            <c:showLeaderLines val="0"/>
          </c:dLbls>
          <c:cat>
            <c:strRef>
              <c:f>Sheet1!$A$2:$A$3</c:f>
              <c:strCache>
                <c:ptCount val="2"/>
                <c:pt idx="0">
                  <c:v>P(wait &gt; 30 min)</c:v>
                </c:pt>
                <c:pt idx="1">
                  <c:v>P(wait &gt; 45 min)</c:v>
                </c:pt>
              </c:strCache>
            </c:strRef>
          </c:cat>
          <c:val>
            <c:numRef>
              <c:f>Sheet1!$B$2:$B$3</c:f>
              <c:numCache>
                <c:formatCode>General</c:formatCode>
                <c:ptCount val="2"/>
                <c:pt idx="0">
                  <c:v>15.6</c:v>
                </c:pt>
                <c:pt idx="1">
                  <c:v>3.8</c:v>
                </c:pt>
              </c:numCache>
            </c:numRef>
          </c:val>
        </c:ser>
        <c:ser>
          <c:idx val="1"/>
          <c:order val="1"/>
          <c:tx>
            <c:strRef>
              <c:f>Sheet1!$C$1</c:f>
              <c:strCache>
                <c:ptCount val="1"/>
                <c:pt idx="0">
                  <c:v>Lognormal model</c:v>
                </c:pt>
              </c:strCache>
            </c:strRef>
          </c:tx>
          <c:spPr>
            <a:solidFill xmlns:a="http://schemas.openxmlformats.org/drawingml/2006/main">
              <a:srgbClr val="0E7C86"/>
            </a:solidFill>
          </c:spPr>
          <c:dLbls>
            <c:numFmt formatCode="0.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50" b="0" i="0" u="none">
                    <a:solidFill>
                      <a:srgbClr val="24313A"/>
                    </a:solidFill>
                    <a:latin typeface="Arial"/>
                    <a:ea typeface="Arial"/>
                    <a:cs typeface="Arial"/>
                  </a:defRPr>
                </a:pPr>
              </a:p>
            </c:txPr>
            <c:showLegendKey val="0"/>
            <c:showVal val="1"/>
            <c:showCatName val="0"/>
            <c:showSerName val="0"/>
            <c:showPercent val="0"/>
            <c:showBubbleSize val="0"/>
            <c:showLeaderLines val="0"/>
          </c:dLbls>
          <c:cat>
            <c:strRef>
              <c:f>Sheet1!$A$2:$A$3</c:f>
              <c:strCache>
                <c:ptCount val="2"/>
                <c:pt idx="0">
                  <c:v>P(wait &gt; 30 min)</c:v>
                </c:pt>
                <c:pt idx="1">
                  <c:v>P(wait &gt; 45 min)</c:v>
                </c:pt>
              </c:strCache>
            </c:strRef>
          </c:cat>
          <c:val>
            <c:numRef>
              <c:f>Sheet1!$C$2:$C$3</c:f>
              <c:numCache>
                <c:formatCode>General</c:formatCode>
                <c:ptCount val="2"/>
                <c:pt idx="0">
                  <c:v>16.4</c:v>
                </c:pt>
                <c:pt idx="1">
                  <c:v>4.2</c:v>
                </c:pt>
              </c:numCache>
            </c:numRef>
          </c:val>
        </c:ser>
        <c:ser>
          <c:idx val="2"/>
          <c:order val="2"/>
          <c:tx>
            <c:strRef>
              <c:f>Sheet1!$D$1</c:f>
              <c:strCache>
                <c:ptCount val="1"/>
                <c:pt idx="0">
                  <c:v>Normal model</c:v>
                </c:pt>
              </c:strCache>
            </c:strRef>
          </c:tx>
          <c:spPr>
            <a:solidFill xmlns:a="http://schemas.openxmlformats.org/drawingml/2006/main">
              <a:srgbClr val="C2660A"/>
            </a:solidFill>
          </c:spPr>
          <c:dLbls>
            <c:numFmt formatCode="0.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50" b="0" i="0" u="none">
                    <a:solidFill>
                      <a:srgbClr val="24313A"/>
                    </a:solidFill>
                    <a:latin typeface="Arial"/>
                    <a:ea typeface="Arial"/>
                    <a:cs typeface="Arial"/>
                  </a:defRPr>
                </a:pPr>
              </a:p>
            </c:txPr>
            <c:showLegendKey val="0"/>
            <c:showVal val="1"/>
            <c:showCatName val="0"/>
            <c:showSerName val="0"/>
            <c:showPercent val="0"/>
            <c:showBubbleSize val="0"/>
            <c:showLeaderLines val="0"/>
          </c:dLbls>
          <c:cat>
            <c:strRef>
              <c:f>Sheet1!$A$2:$A$3</c:f>
              <c:strCache>
                <c:ptCount val="2"/>
                <c:pt idx="0">
                  <c:v>P(wait &gt; 30 min)</c:v>
                </c:pt>
                <c:pt idx="1">
                  <c:v>P(wait &gt; 45 min)</c:v>
                </c:pt>
              </c:strCache>
            </c:strRef>
          </c:cat>
          <c:val>
            <c:numRef>
              <c:f>Sheet1!$D$2:$D$3</c:f>
              <c:numCache>
                <c:formatCode>General</c:formatCode>
                <c:ptCount val="2"/>
                <c:pt idx="0">
                  <c:v>20.5</c:v>
                </c:pt>
                <c:pt idx="1">
                  <c:v>1.7</c:v>
                </c:pt>
              </c:numCache>
            </c:numRef>
          </c:val>
        </c:ser>
        <c:dLbls>
          <c:showLegendKey val="0"/>
          <c:showVal val="1"/>
          <c:showCatName val="0"/>
          <c:showSerName val="0"/>
          <c:showPercent val="0"/>
          <c:showBubbleSize val="0"/>
        </c:dLbls>
        <c:gapWidth val="9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050" b="0" i="0" u="none">
                <a:solidFill>
                  <a:srgbClr val="24313A"/>
                </a:solidFill>
                <a:latin typeface="Arial"/>
                <a:ea typeface="Arial"/>
                <a:cs typeface="Arial"/>
              </a:defRPr>
            </a:pPr>
          </a:p>
        </c:txPr>
        <c:crossAx val="2094734552"/>
        <c:crosses val="autoZero"/>
        <c:lblOffset val="100"/>
      </c:catAx>
      <c:valAx>
        <c:axId val="2094734552"/>
        <c:scaling>
          <c:orientation val="minMax"/>
          <c:max val="24"/>
        </c:scaling>
        <c:delete val="0"/>
        <c:axPos val="l"/>
        <c:majorGridlines>
          <c:spPr>
            <a:ln xmlns:a="http://schemas.openxmlformats.org/drawingml/2006/main" w="6350">
              <a:solidFill>
                <a:srgbClr val="E4ECEE"/>
              </a:solidFill>
              <a:prstDash val="solid"/>
            </a:ln>
          </c:spPr>
        </c:majorGridlines>
        <c:numFmt formatCode="General" sourceLinked="0"/>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5B6B75"/>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legend>
      <c:legendPos val="b"/>
      <c:overlay val="0"/>
      <c:txPr>
        <a:bodyPr xmlns:a="http://schemas.openxmlformats.org/drawingml/2006/main" anchorCtr="1"/>
        <a:lstStyle xmlns:a="http://schemas.openxmlformats.org/drawingml/2006/main"/>
        <a:p xmlns:a="http://schemas.openxmlformats.org/drawingml/2006/main">
          <a:pPr>
            <a:defRPr sz="1000"/>
          </a:pPr>
        </a:p>
      </c:txPr>
    </c:legend>
    <c:plotVisOnly val="1"/>
  </c:chart>
  <c:spPr>
    <a:noFill xmlns:a="http://schemas.openxmlformats.org/drawingml/2006/main"/>
    <a:ln xmlns:a="http://schemas.openxmlformats.org/drawingml/2006/main">
      <a:noFill/>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200" b="0" i="0" u="none">
                <a:solidFill>
                  <a:srgbClr val="0B3140"/>
                </a:solidFill>
                <a:latin typeface="Arial"/>
                <a:ea typeface="Arial"/>
                <a:cs typeface="Arial"/>
              </a:rPr>
              <a:t>SE = σ/√n   (σ = 11.6 min from the data)</a:t>
            </a:r>
          </a:p>
        </c:rich>
      </c:tx>
      <c:overlay val="0"/>
      <c:txPr>
        <a:bodyPr xmlns:a="http://schemas.openxmlformats.org/drawingml/2006/main" anchorCtr="1"/>
        <a:lstStyle xmlns:a="http://schemas.openxmlformats.org/drawingml/2006/main"/>
        <a:p xmlns:a="http://schemas.openxmlformats.org/drawingml/2006/main">
          <a:pPr>
            <a:defRPr sz="1200" b="0" i="0" u="none">
              <a:solidFill>
                <a:srgbClr val="0B3140"/>
              </a:solidFill>
              <a:latin typeface="Arial"/>
              <a:ea typeface="Arial"/>
              <a:cs typeface="Arial"/>
            </a:defRPr>
          </a:pPr>
        </a:p>
      </c:txPr>
    </c:title>
    <c:autoTitleDeleted val="0"/>
    <c:plotArea>
      <c:lineChart>
        <c:grouping val="standard"/>
        <c:varyColors val="0"/>
        <c:ser>
          <c:idx val="0"/>
          <c:order val="0"/>
          <c:tx>
            <c:strRef>
              <c:f>Sheet1!$B$1</c:f>
              <c:strCache>
                <c:ptCount val="1"/>
                <c:pt idx="0">
                  <c:v>SE of the mean wait (min)</c:v>
                </c:pt>
              </c:strCache>
            </c:strRef>
          </c:tx>
          <c:spPr>
            <a:ln xmlns:a="http://schemas.openxmlformats.org/drawingml/2006/main" w="38100">
              <a:solidFill>
                <a:srgbClr val="0E7C86"/>
              </a:solidFill>
              <a:prstDash val="solid"/>
            </a:ln>
          </c:spPr>
          <c:marker>
            <c:symbol val="circle"/>
            <c:size val="8"/>
            <c:spPr>
              <a:solidFill xmlns:a="http://schemas.openxmlformats.org/drawingml/2006/main">
                <a:srgbClr val="0E7C86"/>
              </a:solidFill>
              <a:ln xmlns:a="http://schemas.openxmlformats.org/drawingml/2006/main" w="9525">
                <a:solidFill>
                  <a:srgbClr val="0E7C86"/>
                </a:solidFill>
                <a:prstDash val="solid"/>
              </a:ln>
            </c:spPr>
          </c:marker>
          <c:dLbls>
            <c:numFmt formatCode="0.0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000" b="0" i="0" u="none">
                    <a:solidFill>
                      <a:srgbClr val="0A5C64"/>
                    </a:solidFill>
                    <a:latin typeface="Arial"/>
                    <a:ea typeface="Arial"/>
                    <a:cs typeface="Arial"/>
                  </a:defRPr>
                </a:pPr>
              </a:p>
            </c:txPr>
            <c:showLegendKey val="0"/>
            <c:showVal val="1"/>
            <c:showCatName val="0"/>
            <c:showSerName val="0"/>
            <c:showPercent val="0"/>
            <c:showBubbleSize val="0"/>
            <c:showLeaderLines val="0"/>
          </c:dLbls>
          <c:cat>
            <c:strRef>
              <c:f>Sheet1!$A$2:$A$6</c:f>
              <c:strCache>
                <c:ptCount val="5"/>
                <c:pt idx="0">
                  <c:v>5</c:v>
                </c:pt>
                <c:pt idx="1">
                  <c:v>30</c:v>
                </c:pt>
                <c:pt idx="2">
                  <c:v>100</c:v>
                </c:pt>
                <c:pt idx="3">
                  <c:v>500</c:v>
                </c:pt>
                <c:pt idx="4">
                  <c:v>3,000</c:v>
                </c:pt>
              </c:strCache>
            </c:strRef>
          </c:cat>
          <c:val>
            <c:numRef>
              <c:f>Sheet1!$B$2:$B$6</c:f>
              <c:numCache>
                <c:formatCode>General</c:formatCode>
                <c:ptCount val="5"/>
                <c:pt idx="0">
                  <c:v>5.19</c:v>
                </c:pt>
                <c:pt idx="1">
                  <c:v>2.12</c:v>
                </c:pt>
                <c:pt idx="2">
                  <c:v>1.16</c:v>
                </c:pt>
                <c:pt idx="3">
                  <c:v>0.52</c:v>
                </c:pt>
                <c:pt idx="4">
                  <c:v>0.21</c:v>
                </c:pt>
              </c:numCache>
            </c:numRef>
          </c:val>
          <c:smooth val="0"/>
        </c:ser>
        <c:dLbls>
          <c:showLegendKey val="0"/>
          <c:showVal val="1"/>
          <c:showCatName val="0"/>
          <c:showSerName val="0"/>
          <c:showPercent val="0"/>
          <c:showBubbleSize val="0"/>
        </c:dLbls>
        <c:smooth val="0"/>
        <c:axId val="2094734554"/>
        <c:axId val="2094734552"/>
      </c:lineChart>
      <c:catAx>
        <c:axId val="2094734554"/>
        <c:scaling>
          <c:orientation val="minMax"/>
        </c:scaling>
        <c:delete val="0"/>
        <c:axPos val="b"/>
        <c:title>
          <c:tx>
            <c:rich>
              <a:bodyPr xmlns:a="http://schemas.openxmlformats.org/drawingml/2006/main"/>
              <a:lstStyle xmlns:a="http://schemas.openxmlformats.org/drawingml/2006/main"/>
              <a:p xmlns:a="http://schemas.openxmlformats.org/drawingml/2006/main">
                <a:r>
                  <a:rPr sz="1000" b="0" i="0" u="none">
                    <a:solidFill>
                      <a:srgbClr val="000000"/>
                    </a:solidFill>
                    <a:latin typeface="Arial"/>
                    <a:ea typeface="Arial"/>
                    <a:cs typeface="Arial"/>
                  </a:rPr>
                  <a:t>sample size n</a:t>
                </a:r>
              </a:p>
            </c:rich>
          </c:tx>
          <c:overlay val="0"/>
          <c:txPr>
            <a:bodyPr xmlns:a="http://schemas.openxmlformats.org/drawingml/2006/main" anchorCtr="1"/>
            <a:lstStyle xmlns:a="http://schemas.openxmlformats.org/drawingml/2006/main"/>
            <a:p xmlns:a="http://schemas.openxmlformats.org/drawingml/2006/main">
              <a:pPr>
                <a:defRPr sz="1000" b="0" i="0" u="none">
                  <a:solidFill>
                    <a:srgbClr val="000000"/>
                  </a:solidFill>
                  <a:latin typeface="Arial"/>
                  <a:ea typeface="Arial"/>
                  <a:cs typeface="Arial"/>
                </a:defRPr>
              </a:pPr>
            </a:p>
          </c:txPr>
        </c:title>
        <c:numFmt formatCode="General" sourceLinked="1"/>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000" b="0" i="0" u="none">
                <a:solidFill>
                  <a:srgbClr val="5B6B75"/>
                </a:solidFill>
                <a:latin typeface="Arial"/>
                <a:ea typeface="Arial"/>
                <a:cs typeface="Arial"/>
              </a:defRPr>
            </a:pPr>
          </a:p>
        </c:txPr>
        <c:crossAx val="2094734552"/>
        <c:crosses val="autoZero"/>
        <c:lblOffset val="100"/>
      </c:catAx>
      <c:valAx>
        <c:axId val="2094734552"/>
        <c:scaling>
          <c:orientation val="minMax"/>
        </c:scaling>
        <c:delete val="0"/>
        <c:axPos val="l"/>
        <c:majorGridlines>
          <c:spPr>
            <a:ln xmlns:a="http://schemas.openxmlformats.org/drawingml/2006/main" w="6350">
              <a:solidFill>
                <a:srgbClr val="E4ECEE"/>
              </a:solidFill>
              <a:prstDash val="solid"/>
            </a:ln>
          </c:spPr>
        </c:majorGridlines>
        <c:numFmt formatCode="General" sourceLinked="0"/>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5B6B75"/>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3.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200" b="0" i="0" u="none">
                <a:solidFill>
                  <a:srgbClr val="0B3140"/>
                </a:solidFill>
                <a:latin typeface="Arial"/>
                <a:ea typeface="Arial"/>
                <a:cs typeface="Arial"/>
              </a:rPr>
              <a:t>n = (1.96/E)² × 0.25  — cost of shrinking the margin E</a:t>
            </a:r>
          </a:p>
        </c:rich>
      </c:tx>
      <c:overlay val="0"/>
      <c:txPr>
        <a:bodyPr xmlns:a="http://schemas.openxmlformats.org/drawingml/2006/main" anchorCtr="1"/>
        <a:lstStyle xmlns:a="http://schemas.openxmlformats.org/drawingml/2006/main"/>
        <a:p xmlns:a="http://schemas.openxmlformats.org/drawingml/2006/main">
          <a:pPr>
            <a:defRPr sz="1200" b="0" i="0" u="none">
              <a:solidFill>
                <a:srgbClr val="0B3140"/>
              </a:solidFill>
              <a:latin typeface="Arial"/>
              <a:ea typeface="Arial"/>
              <a:cs typeface="Arial"/>
            </a:defRPr>
          </a:pPr>
        </a:p>
      </c:txPr>
    </c:title>
    <c:autoTitleDeleted val="0"/>
    <c:plotArea>
      <c:barChart>
        <c:barDir val="col"/>
        <c:grouping val="clustered"/>
        <c:varyColors val="0"/>
        <c:ser>
          <c:idx val="0"/>
          <c:order val="0"/>
          <c:tx>
            <c:strRef>
              <c:f>Sheet1!$B$1</c:f>
              <c:strCache>
                <c:ptCount val="1"/>
                <c:pt idx="0">
                  <c:v>Required n (95% CI, worst-case p = 0.5)</c:v>
                </c:pt>
              </c:strCache>
            </c:strRef>
          </c:tx>
          <c:spPr>
            <a:solidFill xmlns:a="http://schemas.openxmlformats.org/drawingml/2006/main">
              <a:srgbClr val="0E7C86"/>
            </a:solidFill>
          </c:spPr>
          <c:dLbls>
            <c:numFmt formatCode="#,##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050" b="0" i="0" u="none">
                    <a:solidFill>
                      <a:srgbClr val="24313A"/>
                    </a:solidFill>
                    <a:latin typeface="Arial"/>
                    <a:ea typeface="Arial"/>
                    <a:cs typeface="Arial"/>
                  </a:defRPr>
                </a:pPr>
              </a:p>
            </c:txPr>
            <c:showLegendKey val="0"/>
            <c:showVal val="1"/>
            <c:showCatName val="0"/>
            <c:showSerName val="0"/>
            <c:showPercent val="0"/>
            <c:showBubbleSize val="0"/>
            <c:showLeaderLines val="0"/>
          </c:dLbls>
          <c:cat>
            <c:strRef>
              <c:f>Sheet1!$A$2:$A$5</c:f>
              <c:strCache>
                <c:ptCount val="4"/>
                <c:pt idx="0">
                  <c:v>±3%</c:v>
                </c:pt>
                <c:pt idx="1">
                  <c:v>±2%</c:v>
                </c:pt>
                <c:pt idx="2">
                  <c:v>±1%</c:v>
                </c:pt>
                <c:pt idx="3">
                  <c:v>±0.5%</c:v>
                </c:pt>
              </c:strCache>
            </c:strRef>
          </c:cat>
          <c:val>
            <c:numRef>
              <c:f>Sheet1!$B$2:$B$5</c:f>
              <c:numCache>
                <c:formatCode>General</c:formatCode>
                <c:ptCount val="4"/>
                <c:pt idx="0">
                  <c:v>1068</c:v>
                </c:pt>
                <c:pt idx="1">
                  <c:v>2401</c:v>
                </c:pt>
                <c:pt idx="2">
                  <c:v>9604</c:v>
                </c:pt>
                <c:pt idx="3">
                  <c:v>38416</c:v>
                </c:pt>
              </c:numCache>
            </c:numRef>
          </c:val>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100" b="0" i="0" u="none">
                <a:solidFill>
                  <a:srgbClr val="24313A"/>
                </a:solidFill>
                <a:latin typeface="Arial"/>
                <a:ea typeface="Arial"/>
                <a:cs typeface="Arial"/>
              </a:defRPr>
            </a:pPr>
          </a:p>
        </c:txPr>
        <c:crossAx val="2094734552"/>
        <c:crosses val="autoZero"/>
        <c:lblOffset val="100"/>
      </c:catAx>
      <c:valAx>
        <c:axId val="2094734552"/>
        <c:scaling>
          <c:orientation val="minMax"/>
          <c:max val="42000"/>
        </c:scaling>
        <c:delete val="0"/>
        <c:axPos val="l"/>
        <c:majorGridlines>
          <c:spPr>
            <a:ln xmlns:a="http://schemas.openxmlformats.org/drawingml/2006/main" w="6350">
              <a:solidFill>
                <a:srgbClr val="E4ECEE"/>
              </a:solidFill>
              <a:prstDash val="solid"/>
            </a:ln>
          </c:spPr>
        </c:majorGridlines>
        <c:numFmt formatCode="General" sourceLinked="0"/>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5B6B75"/>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4.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250" b="0" i="0" u="none">
                <a:solidFill>
                  <a:srgbClr val="0B3140"/>
                </a:solidFill>
                <a:latin typeface="Arial"/>
                <a:ea typeface="Arial"/>
                <a:cs typeface="Arial"/>
              </a:rPr>
              <a:t>Randomized pilot outcome</a:t>
            </a:r>
          </a:p>
        </c:rich>
      </c:tx>
      <c:overlay val="0"/>
      <c:txPr>
        <a:bodyPr xmlns:a="http://schemas.openxmlformats.org/drawingml/2006/main" anchorCtr="1"/>
        <a:lstStyle xmlns:a="http://schemas.openxmlformats.org/drawingml/2006/main"/>
        <a:p xmlns:a="http://schemas.openxmlformats.org/drawingml/2006/main">
          <a:pPr>
            <a:defRPr sz="1250" b="0" i="0" u="none">
              <a:solidFill>
                <a:srgbClr val="0B3140"/>
              </a:solidFill>
              <a:latin typeface="Arial"/>
              <a:ea typeface="Arial"/>
              <a:cs typeface="Arial"/>
            </a:defRPr>
          </a:pPr>
        </a:p>
      </c:txPr>
    </c:title>
    <c:autoTitleDeleted val="0"/>
    <c:plotArea>
      <c:barChart>
        <c:barDir val="col"/>
        <c:grouping val="clustered"/>
        <c:varyColors val="0"/>
        <c:ser>
          <c:idx val="0"/>
          <c:order val="0"/>
          <c:tx>
            <c:strRef>
              <c:f>Sheet1!$B$1</c:f>
              <c:strCache>
                <c:ptCount val="1"/>
                <c:pt idx="0">
                  <c:v>No-show rate (%)</c:v>
                </c:pt>
              </c:strCache>
            </c:strRef>
          </c:tx>
          <c:spPr>
            <a:solidFill xmlns:a="http://schemas.openxmlformats.org/drawingml/2006/main">
              <a:srgbClr val="0B3140"/>
            </a:solidFill>
          </c:spPr>
          <c:dPt>
            <c:idx val="1"/>
            <c:invertIfNegative val="0"/>
            <c:spPr>
              <a:solidFill xmlns:a="http://schemas.openxmlformats.org/drawingml/2006/main">
                <a:srgbClr val="0E7C86"/>
              </a:solidFill>
            </c:spPr>
          </c:dPt>
          <c:dLbls>
            <c:numFmt formatCode="0.0&quot;%&quot;"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300" b="0" i="0" u="none">
                    <a:solidFill>
                      <a:srgbClr val="24313A"/>
                    </a:solidFill>
                    <a:latin typeface="Arial"/>
                    <a:ea typeface="Arial"/>
                    <a:cs typeface="Arial"/>
                  </a:defRPr>
                </a:pPr>
              </a:p>
            </c:txPr>
            <c:showLegendKey val="0"/>
            <c:showVal val="1"/>
            <c:showCatName val="0"/>
            <c:showSerName val="0"/>
            <c:showPercent val="0"/>
            <c:showBubbleSize val="0"/>
            <c:showLeaderLines val="0"/>
          </c:dLbls>
          <c:cat>
            <c:strRef>
              <c:f>Sheet1!$A$2:$A$3</c:f>
              <c:strCache>
                <c:ptCount val="2"/>
                <c:pt idx="0">
                  <c:v>Control (no SMS)</c:v>
                </c:pt>
                <c:pt idx="1">
                  <c:v>SMS reminder</c:v>
                </c:pt>
              </c:strCache>
            </c:strRef>
          </c:cat>
          <c:val>
            <c:numRef>
              <c:f>Sheet1!$B$2:$B$3</c:f>
              <c:numCache>
                <c:formatCode>General</c:formatCode>
                <c:ptCount val="2"/>
                <c:pt idx="0">
                  <c:v>22.3</c:v>
                </c:pt>
                <c:pt idx="1">
                  <c:v>15.5</c:v>
                </c:pt>
              </c:numCache>
            </c:numRef>
          </c:val>
        </c:ser>
        <c:dLbls>
          <c:showLegendKey val="0"/>
          <c:showVal val="1"/>
          <c:showCatName val="0"/>
          <c:showSerName val="0"/>
          <c:showPercent val="0"/>
          <c:showBubbleSize val="0"/>
        </c:dLbls>
        <c:gapWidth val="8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150" b="0" i="0" u="none">
                <a:solidFill>
                  <a:srgbClr val="24313A"/>
                </a:solidFill>
                <a:latin typeface="Arial"/>
                <a:ea typeface="Arial"/>
                <a:cs typeface="Arial"/>
              </a:defRPr>
            </a:pPr>
          </a:p>
        </c:txPr>
        <c:crossAx val="2094734552"/>
        <c:crosses val="autoZero"/>
        <c:lblOffset val="100"/>
      </c:catAx>
      <c:valAx>
        <c:axId val="2094734552"/>
        <c:scaling>
          <c:orientation val="minMax"/>
          <c:max val="26"/>
        </c:scaling>
        <c:delete val="0"/>
        <c:axPos val="l"/>
        <c:majorGridlines>
          <c:spPr>
            <a:ln xmlns:a="http://schemas.openxmlformats.org/drawingml/2006/main" w="6350">
              <a:solidFill>
                <a:srgbClr val="E4ECEE"/>
              </a:solidFill>
              <a:prstDash val="solid"/>
            </a:ln>
          </c:spPr>
        </c:majorGridlines>
        <c:numFmt formatCode="General" sourceLinked="0"/>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5B6B75"/>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5.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250" b="0" i="0" u="none">
                <a:solidFill>
                  <a:srgbClr val="0B3140"/>
                </a:solidFill>
                <a:latin typeface="Arial"/>
                <a:ea typeface="Arial"/>
                <a:cs typeface="Arial"/>
              </a:rPr>
              <a:t>Published Saudi RCT outcome</a:t>
            </a:r>
          </a:p>
        </c:rich>
      </c:tx>
      <c:overlay val="0"/>
      <c:txPr>
        <a:bodyPr xmlns:a="http://schemas.openxmlformats.org/drawingml/2006/main" anchorCtr="1"/>
        <a:lstStyle xmlns:a="http://schemas.openxmlformats.org/drawingml/2006/main"/>
        <a:p xmlns:a="http://schemas.openxmlformats.org/drawingml/2006/main">
          <a:pPr>
            <a:defRPr sz="1250" b="0" i="0" u="none">
              <a:solidFill>
                <a:srgbClr val="0B3140"/>
              </a:solidFill>
              <a:latin typeface="Arial"/>
              <a:ea typeface="Arial"/>
              <a:cs typeface="Arial"/>
            </a:defRPr>
          </a:pPr>
        </a:p>
      </c:txPr>
    </c:title>
    <c:autoTitleDeleted val="0"/>
    <c:plotArea>
      <c:barChart>
        <c:barDir val="col"/>
        <c:grouping val="clustered"/>
        <c:varyColors val="0"/>
        <c:ser>
          <c:idx val="0"/>
          <c:order val="0"/>
          <c:tx>
            <c:strRef>
              <c:f>Sheet1!$B$1</c:f>
              <c:strCache>
                <c:ptCount val="1"/>
                <c:pt idx="0">
                  <c:v>No-show rate (%)</c:v>
                </c:pt>
              </c:strCache>
            </c:strRef>
          </c:tx>
          <c:spPr>
            <a:solidFill xmlns:a="http://schemas.openxmlformats.org/drawingml/2006/main">
              <a:srgbClr val="0B3140"/>
            </a:solidFill>
          </c:spPr>
          <c:dPt>
            <c:idx val="1"/>
            <c:invertIfNegative val="0"/>
            <c:spPr>
              <a:solidFill xmlns:a="http://schemas.openxmlformats.org/drawingml/2006/main">
                <a:srgbClr val="0E7C86"/>
              </a:solidFill>
            </c:spPr>
          </c:dPt>
          <c:dLbls>
            <c:numFmt formatCode="0.0&quot;%&quot;"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300" b="0" i="0" u="none">
                    <a:solidFill>
                      <a:srgbClr val="24313A"/>
                    </a:solidFill>
                    <a:latin typeface="Arial"/>
                    <a:ea typeface="Arial"/>
                    <a:cs typeface="Arial"/>
                  </a:defRPr>
                </a:pPr>
              </a:p>
            </c:txPr>
            <c:showLegendKey val="0"/>
            <c:showVal val="1"/>
            <c:showCatName val="0"/>
            <c:showSerName val="0"/>
            <c:showPercent val="0"/>
            <c:showBubbleSize val="0"/>
            <c:showLeaderLines val="0"/>
          </c:dLbls>
          <c:cat>
            <c:strRef>
              <c:f>Sheet1!$A$2:$A$3</c:f>
              <c:strCache>
                <c:ptCount val="2"/>
                <c:pt idx="0">
                  <c:v>No reminder</c:v>
                </c:pt>
                <c:pt idx="1">
                  <c:v>SMS reminder</c:v>
                </c:pt>
              </c:strCache>
            </c:strRef>
          </c:cat>
          <c:val>
            <c:numRef>
              <c:f>Sheet1!$B$2:$B$3</c:f>
              <c:numCache>
                <c:formatCode>General</c:formatCode>
                <c:ptCount val="2"/>
                <c:pt idx="0">
                  <c:v>39.8</c:v>
                </c:pt>
                <c:pt idx="1">
                  <c:v>26.3</c:v>
                </c:pt>
              </c:numCache>
            </c:numRef>
          </c:val>
        </c:ser>
        <c:dLbls>
          <c:showLegendKey val="0"/>
          <c:showVal val="1"/>
          <c:showCatName val="0"/>
          <c:showSerName val="0"/>
          <c:showPercent val="0"/>
          <c:showBubbleSize val="0"/>
        </c:dLbls>
        <c:gapWidth val="8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150" b="0" i="0" u="none">
                <a:solidFill>
                  <a:srgbClr val="24313A"/>
                </a:solidFill>
                <a:latin typeface="Arial"/>
                <a:ea typeface="Arial"/>
                <a:cs typeface="Arial"/>
              </a:defRPr>
            </a:pPr>
          </a:p>
        </c:txPr>
        <c:crossAx val="2094734552"/>
        <c:crosses val="autoZero"/>
        <c:lblOffset val="100"/>
      </c:catAx>
      <c:valAx>
        <c:axId val="2094734552"/>
        <c:scaling>
          <c:orientation val="minMax"/>
          <c:max val="45"/>
          <c:min val="0"/>
        </c:scaling>
        <c:delete val="0"/>
        <c:axPos val="l"/>
        <c:majorGridlines>
          <c:spPr>
            <a:ln xmlns:a="http://schemas.openxmlformats.org/drawingml/2006/main" w="9525">
              <a:solidFill>
                <a:srgbClr val="E4ECEE"/>
              </a:solidFill>
              <a:prstDash val="solid"/>
            </a:ln>
          </c:spPr>
        </c:majorGridlines>
        <c:numFmt formatCode="0.0&quot;%&quot;" sourceLinked="0"/>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5B6B75"/>
                </a:solidFill>
                <a:latin typeface="Arial"/>
                <a:ea typeface="Arial"/>
                <a:cs typeface="Arial"/>
              </a:defRPr>
            </a:pPr>
          </a:p>
        </c:txPr>
        <c:crossAx val="2094734554"/>
        <c:crosses val="autoZero"/>
        <c:crossBetween val="between"/>
        <c:majorUnit val="10"/>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6.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250" b="0" i="0" u="none">
                <a:solidFill>
                  <a:srgbClr val="0B3140"/>
                </a:solidFill>
                <a:latin typeface="Arial"/>
                <a:ea typeface="Arial"/>
                <a:cs typeface="Arial"/>
              </a:rPr>
              <a:t>No-show rate (%) — full observational data</a:t>
            </a:r>
          </a:p>
        </c:rich>
      </c:tx>
      <c:overlay val="0"/>
      <c:txPr>
        <a:bodyPr xmlns:a="http://schemas.openxmlformats.org/drawingml/2006/main" anchorCtr="1"/>
        <a:lstStyle xmlns:a="http://schemas.openxmlformats.org/drawingml/2006/main"/>
        <a:p xmlns:a="http://schemas.openxmlformats.org/drawingml/2006/main">
          <a:pPr>
            <a:defRPr sz="1250" b="0" i="0" u="none">
              <a:solidFill>
                <a:srgbClr val="0B3140"/>
              </a:solidFill>
              <a:latin typeface="Arial"/>
              <a:ea typeface="Arial"/>
              <a:cs typeface="Arial"/>
            </a:defRPr>
          </a:pPr>
        </a:p>
      </c:txPr>
    </c:title>
    <c:autoTitleDeleted val="0"/>
    <c:plotArea>
      <c:barChart>
        <c:barDir val="col"/>
        <c:grouping val="clustered"/>
        <c:varyColors val="0"/>
        <c:ser>
          <c:idx val="0"/>
          <c:order val="0"/>
          <c:tx>
            <c:strRef>
              <c:f>Sheet1!$B$1</c:f>
              <c:strCache>
                <c:ptCount val="1"/>
                <c:pt idx="0">
                  <c:v>No reminder</c:v>
                </c:pt>
              </c:strCache>
            </c:strRef>
          </c:tx>
          <c:spPr>
            <a:solidFill xmlns:a="http://schemas.openxmlformats.org/drawingml/2006/main">
              <a:srgbClr val="0B3140"/>
            </a:solidFill>
          </c:spPr>
          <c:dLbls>
            <c:numFmt formatCode="0.0&quot;%&quot;"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100" b="0" i="0" u="none">
                    <a:solidFill>
                      <a:srgbClr val="24313A"/>
                    </a:solidFill>
                    <a:latin typeface="Arial"/>
                    <a:ea typeface="Arial"/>
                    <a:cs typeface="Arial"/>
                  </a:defRPr>
                </a:pPr>
              </a:p>
            </c:txPr>
            <c:showLegendKey val="0"/>
            <c:showVal val="1"/>
            <c:showCatName val="0"/>
            <c:showSerName val="0"/>
            <c:showPercent val="0"/>
            <c:showBubbleSize val="0"/>
            <c:showLeaderLines val="0"/>
          </c:dLbls>
          <c:cat>
            <c:strRef>
              <c:f>Sheet1!$A$2:$A$4</c:f>
              <c:strCache>
                <c:ptCount val="3"/>
                <c:pt idx="0">
                  <c:v>Crude (all 50k)</c:v>
                </c:pt>
                <c:pt idx="1">
                  <c:v>Urban only</c:v>
                </c:pt>
                <c:pt idx="2">
                  <c:v>Rural only</c:v>
                </c:pt>
              </c:strCache>
            </c:strRef>
          </c:cat>
          <c:val>
            <c:numRef>
              <c:f>Sheet1!$B$2:$B$4</c:f>
              <c:numCache>
                <c:formatCode>General</c:formatCode>
                <c:ptCount val="3"/>
                <c:pt idx="0">
                  <c:v>17.5</c:v>
                </c:pt>
                <c:pt idx="1">
                  <c:v>16.2</c:v>
                </c:pt>
                <c:pt idx="2">
                  <c:v>30.3</c:v>
                </c:pt>
              </c:numCache>
            </c:numRef>
          </c:val>
        </c:ser>
        <c:ser>
          <c:idx val="1"/>
          <c:order val="1"/>
          <c:tx>
            <c:strRef>
              <c:f>Sheet1!$C$1</c:f>
              <c:strCache>
                <c:ptCount val="1"/>
                <c:pt idx="0">
                  <c:v>SMS reminder</c:v>
                </c:pt>
              </c:strCache>
            </c:strRef>
          </c:tx>
          <c:spPr>
            <a:solidFill xmlns:a="http://schemas.openxmlformats.org/drawingml/2006/main">
              <a:srgbClr val="0E7C86"/>
            </a:solidFill>
          </c:spPr>
          <c:dLbls>
            <c:numFmt formatCode="0.0&quot;%&quot;"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100" b="0" i="0" u="none">
                    <a:solidFill>
                      <a:srgbClr val="24313A"/>
                    </a:solidFill>
                    <a:latin typeface="Arial"/>
                    <a:ea typeface="Arial"/>
                    <a:cs typeface="Arial"/>
                  </a:defRPr>
                </a:pPr>
              </a:p>
            </c:txPr>
            <c:showLegendKey val="0"/>
            <c:showVal val="1"/>
            <c:showCatName val="0"/>
            <c:showSerName val="0"/>
            <c:showPercent val="0"/>
            <c:showBubbleSize val="0"/>
            <c:showLeaderLines val="0"/>
          </c:dLbls>
          <c:cat>
            <c:strRef>
              <c:f>Sheet1!$A$2:$A$4</c:f>
              <c:strCache>
                <c:ptCount val="3"/>
                <c:pt idx="0">
                  <c:v>Crude (all 50k)</c:v>
                </c:pt>
                <c:pt idx="1">
                  <c:v>Urban only</c:v>
                </c:pt>
                <c:pt idx="2">
                  <c:v>Rural only</c:v>
                </c:pt>
              </c:strCache>
            </c:strRef>
          </c:cat>
          <c:val>
            <c:numRef>
              <c:f>Sheet1!$C$2:$C$4</c:f>
              <c:numCache>
                <c:formatCode>General</c:formatCode>
                <c:ptCount val="3"/>
                <c:pt idx="0">
                  <c:v>19.5</c:v>
                </c:pt>
                <c:pt idx="1">
                  <c:v>12.4</c:v>
                </c:pt>
                <c:pt idx="2">
                  <c:v>25.7</c:v>
                </c:pt>
              </c:numCache>
            </c:numRef>
          </c:val>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100" b="0" i="0" u="none">
                <a:solidFill>
                  <a:srgbClr val="24313A"/>
                </a:solidFill>
                <a:latin typeface="Arial"/>
                <a:ea typeface="Arial"/>
                <a:cs typeface="Arial"/>
              </a:defRPr>
            </a:pPr>
          </a:p>
        </c:txPr>
        <c:crossAx val="2094734552"/>
        <c:crosses val="autoZero"/>
        <c:lblOffset val="100"/>
      </c:catAx>
      <c:valAx>
        <c:axId val="2094734552"/>
        <c:scaling>
          <c:orientation val="minMax"/>
          <c:max val="34"/>
        </c:scaling>
        <c:delete val="0"/>
        <c:axPos val="l"/>
        <c:majorGridlines>
          <c:spPr>
            <a:ln xmlns:a="http://schemas.openxmlformats.org/drawingml/2006/main" w="6350">
              <a:solidFill>
                <a:srgbClr val="E4ECEE"/>
              </a:solidFill>
              <a:prstDash val="solid"/>
            </a:ln>
          </c:spPr>
        </c:majorGridlines>
        <c:numFmt formatCode="General" sourceLinked="0"/>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5B6B75"/>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legend>
      <c:legendPos val="b"/>
      <c:overlay val="0"/>
      <c:txPr>
        <a:bodyPr xmlns:a="http://schemas.openxmlformats.org/drawingml/2006/main" anchorCtr="1"/>
        <a:lstStyle xmlns:a="http://schemas.openxmlformats.org/drawingml/2006/main"/>
        <a:p xmlns:a="http://schemas.openxmlformats.org/drawingml/2006/main">
          <a:pPr>
            <a:defRPr sz="1100"/>
          </a:pPr>
        </a:p>
      </c:txPr>
    </c:legend>
    <c:plotVisOnly val="1"/>
  </c:chart>
  <c:spPr>
    <a:noFill xmlns:a="http://schemas.openxmlformats.org/drawingml/2006/main"/>
    <a:ln xmlns:a="http://schemas.openxmlformats.org/drawingml/2006/main">
      <a:noFill/>
    </a:ln>
  </c:spPr>
</c:chartSpace>
</file>

<file path=ppt/slides/slide1.xml><?xml version="1.0" encoding="utf-8"?>
<p:sld xmlns:p="http://schemas.openxmlformats.org/presentationml/2006/main">
  <p:cSld>
    <p:bg>
      <p:bgPr>
        <a:solidFill xmlns:a="http://schemas.openxmlformats.org/drawingml/2006/main">
          <a:srgbClr val="0B314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FF2D588-C88B-413A-A3FC-B40F3F336CC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3140"/>
          </a:solidFill>
        </p:spPr>
      </p:sp>
      <p:sp>
        <p:nvSpPr>
          <p:cNvPr id="3" name="Shape 1">
            <a:extLst xmlns:a="http://schemas.openxmlformats.org/drawingml/2006/main">
              <a:ext uri="{FF2B5EF4-FFF2-40B4-BE49-F238E27FC236}">
                <a16:creationId xmlns:a16="http://schemas.microsoft.com/office/drawing/2014/main" id="{DE723DA6-7A90-4107-8167-38CED36170F3}"/>
              </a:ext>
            </a:extLst>
          </p:cNvPr>
          <p:cNvSpPr>
            <a:spLocks xmlns:a="http://schemas.openxmlformats.org/drawingml/2006/main" noGrp="1"/>
          </p:cNvSpPr>
          <p:nvPr/>
        </p:nvSpPr>
        <p:spPr>
          <a:xfrm xmlns:a="http://schemas.openxmlformats.org/drawingml/2006/main">
            <a:off x="9692640" y="640080"/>
            <a:ext cx="146304" cy="146304"/>
          </a:xfrm>
          <a:prstGeom xmlns:a="http://schemas.openxmlformats.org/drawingml/2006/main" prst="ellipse">
            <a:avLst/>
          </a:prstGeom>
          <a:solidFill xmlns:a="http://schemas.openxmlformats.org/drawingml/2006/main">
            <a:srgbClr val="16525C"/>
          </a:solidFill>
        </p:spPr>
      </p:sp>
      <p:sp>
        <p:nvSpPr>
          <p:cNvPr id="4" name="Shape 2">
            <a:extLst xmlns:a="http://schemas.openxmlformats.org/drawingml/2006/main">
              <a:ext uri="{FF2B5EF4-FFF2-40B4-BE49-F238E27FC236}">
                <a16:creationId xmlns:a16="http://schemas.microsoft.com/office/drawing/2014/main" id="{24CB50BB-A967-4946-99EF-A88F558C3F3A}"/>
              </a:ext>
            </a:extLst>
          </p:cNvPr>
          <p:cNvSpPr>
            <a:spLocks xmlns:a="http://schemas.openxmlformats.org/drawingml/2006/main" noGrp="1"/>
          </p:cNvSpPr>
          <p:nvPr/>
        </p:nvSpPr>
        <p:spPr>
          <a:xfrm xmlns:a="http://schemas.openxmlformats.org/drawingml/2006/main">
            <a:off x="10378440" y="640080"/>
            <a:ext cx="146304" cy="146304"/>
          </a:xfrm>
          <a:prstGeom xmlns:a="http://schemas.openxmlformats.org/drawingml/2006/main" prst="ellipse">
            <a:avLst/>
          </a:prstGeom>
          <a:solidFill xmlns:a="http://schemas.openxmlformats.org/drawingml/2006/main">
            <a:srgbClr val="16525C"/>
          </a:solidFill>
        </p:spPr>
      </p:sp>
      <p:sp>
        <p:nvSpPr>
          <p:cNvPr id="5" name="Shape 3">
            <a:extLst xmlns:a="http://schemas.openxmlformats.org/drawingml/2006/main">
              <a:ext uri="{FF2B5EF4-FFF2-40B4-BE49-F238E27FC236}">
                <a16:creationId xmlns:a16="http://schemas.microsoft.com/office/drawing/2014/main" id="{543FFA5B-AF8B-4AFD-B987-B57208DD32B2}"/>
              </a:ext>
            </a:extLst>
          </p:cNvPr>
          <p:cNvSpPr>
            <a:spLocks xmlns:a="http://schemas.openxmlformats.org/drawingml/2006/main" noGrp="1"/>
          </p:cNvSpPr>
          <p:nvPr/>
        </p:nvSpPr>
        <p:spPr>
          <a:xfrm xmlns:a="http://schemas.openxmlformats.org/drawingml/2006/main">
            <a:off x="11064240" y="640080"/>
            <a:ext cx="146304" cy="146304"/>
          </a:xfrm>
          <a:prstGeom xmlns:a="http://schemas.openxmlformats.org/drawingml/2006/main" prst="ellipse">
            <a:avLst/>
          </a:prstGeom>
          <a:solidFill xmlns:a="http://schemas.openxmlformats.org/drawingml/2006/main">
            <a:srgbClr val="16525C"/>
          </a:solidFill>
        </p:spPr>
      </p:sp>
      <p:sp>
        <p:nvSpPr>
          <p:cNvPr id="6" name="Shape 4">
            <a:extLst xmlns:a="http://schemas.openxmlformats.org/drawingml/2006/main">
              <a:ext uri="{FF2B5EF4-FFF2-40B4-BE49-F238E27FC236}">
                <a16:creationId xmlns:a16="http://schemas.microsoft.com/office/drawing/2014/main" id="{B565A1F4-8B67-425E-ACEF-E6D351816560}"/>
              </a:ext>
            </a:extLst>
          </p:cNvPr>
          <p:cNvSpPr>
            <a:spLocks xmlns:a="http://schemas.openxmlformats.org/drawingml/2006/main" noGrp="1"/>
          </p:cNvSpPr>
          <p:nvPr/>
        </p:nvSpPr>
        <p:spPr>
          <a:xfrm xmlns:a="http://schemas.openxmlformats.org/drawingml/2006/main">
            <a:off x="9692640" y="1325880"/>
            <a:ext cx="146304" cy="146304"/>
          </a:xfrm>
          <a:prstGeom xmlns:a="http://schemas.openxmlformats.org/drawingml/2006/main" prst="ellipse">
            <a:avLst/>
          </a:prstGeom>
          <a:solidFill xmlns:a="http://schemas.openxmlformats.org/drawingml/2006/main">
            <a:srgbClr val="C2660A"/>
          </a:solidFill>
        </p:spPr>
      </p:sp>
      <p:sp>
        <p:nvSpPr>
          <p:cNvPr id="7" name="Shape 5">
            <a:extLst xmlns:a="http://schemas.openxmlformats.org/drawingml/2006/main">
              <a:ext uri="{FF2B5EF4-FFF2-40B4-BE49-F238E27FC236}">
                <a16:creationId xmlns:a16="http://schemas.microsoft.com/office/drawing/2014/main" id="{672B55AF-E8F8-4EE1-8B5D-820875FC6897}"/>
              </a:ext>
            </a:extLst>
          </p:cNvPr>
          <p:cNvSpPr>
            <a:spLocks xmlns:a="http://schemas.openxmlformats.org/drawingml/2006/main" noGrp="1"/>
          </p:cNvSpPr>
          <p:nvPr/>
        </p:nvSpPr>
        <p:spPr>
          <a:xfrm xmlns:a="http://schemas.openxmlformats.org/drawingml/2006/main">
            <a:off x="10378440" y="1325880"/>
            <a:ext cx="146304" cy="146304"/>
          </a:xfrm>
          <a:prstGeom xmlns:a="http://schemas.openxmlformats.org/drawingml/2006/main" prst="ellipse">
            <a:avLst/>
          </a:prstGeom>
          <a:solidFill xmlns:a="http://schemas.openxmlformats.org/drawingml/2006/main">
            <a:srgbClr val="16525C"/>
          </a:solidFill>
        </p:spPr>
      </p:sp>
      <p:sp>
        <p:nvSpPr>
          <p:cNvPr id="8" name="Shape 6">
            <a:extLst xmlns:a="http://schemas.openxmlformats.org/drawingml/2006/main">
              <a:ext uri="{FF2B5EF4-FFF2-40B4-BE49-F238E27FC236}">
                <a16:creationId xmlns:a16="http://schemas.microsoft.com/office/drawing/2014/main" id="{DBADDD4B-E96D-4AFB-A261-E7779B5A2CB2}"/>
              </a:ext>
            </a:extLst>
          </p:cNvPr>
          <p:cNvSpPr>
            <a:spLocks xmlns:a="http://schemas.openxmlformats.org/drawingml/2006/main" noGrp="1"/>
          </p:cNvSpPr>
          <p:nvPr/>
        </p:nvSpPr>
        <p:spPr>
          <a:xfrm xmlns:a="http://schemas.openxmlformats.org/drawingml/2006/main">
            <a:off x="11064240" y="1325880"/>
            <a:ext cx="146304" cy="146304"/>
          </a:xfrm>
          <a:prstGeom xmlns:a="http://schemas.openxmlformats.org/drawingml/2006/main" prst="ellipse">
            <a:avLst/>
          </a:prstGeom>
          <a:solidFill xmlns:a="http://schemas.openxmlformats.org/drawingml/2006/main">
            <a:srgbClr val="16525C"/>
          </a:solidFill>
        </p:spPr>
      </p:sp>
      <p:sp>
        <p:nvSpPr>
          <p:cNvPr id="9" name="Shape 7">
            <a:extLst xmlns:a="http://schemas.openxmlformats.org/drawingml/2006/main">
              <a:ext uri="{FF2B5EF4-FFF2-40B4-BE49-F238E27FC236}">
                <a16:creationId xmlns:a16="http://schemas.microsoft.com/office/drawing/2014/main" id="{A759D462-6A88-433E-85C4-580738C258E4}"/>
              </a:ext>
            </a:extLst>
          </p:cNvPr>
          <p:cNvSpPr>
            <a:spLocks xmlns:a="http://schemas.openxmlformats.org/drawingml/2006/main" noGrp="1"/>
          </p:cNvSpPr>
          <p:nvPr/>
        </p:nvSpPr>
        <p:spPr>
          <a:xfrm xmlns:a="http://schemas.openxmlformats.org/drawingml/2006/main">
            <a:off x="9692640" y="2011680"/>
            <a:ext cx="146304" cy="146304"/>
          </a:xfrm>
          <a:prstGeom xmlns:a="http://schemas.openxmlformats.org/drawingml/2006/main" prst="ellipse">
            <a:avLst/>
          </a:prstGeom>
          <a:solidFill xmlns:a="http://schemas.openxmlformats.org/drawingml/2006/main">
            <a:srgbClr val="16525C"/>
          </a:solidFill>
        </p:spPr>
      </p:sp>
      <p:sp>
        <p:nvSpPr>
          <p:cNvPr id="10" name="Text 8">
            <a:extLst xmlns:a="http://schemas.openxmlformats.org/drawingml/2006/main">
              <a:ext uri="{FF2B5EF4-FFF2-40B4-BE49-F238E27FC236}">
                <a16:creationId xmlns:a16="http://schemas.microsoft.com/office/drawing/2014/main" id="{90103CE4-C69D-4F56-A150-0EF823D1C6FA}"/>
              </a:ext>
            </a:extLst>
          </p:cNvPr>
          <p:cNvSpPr>
            <a:spLocks xmlns:a="http://schemas.openxmlformats.org/drawingml/2006/main" noGrp="1"/>
          </p:cNvSpPr>
          <p:nvPr/>
        </p:nvSpPr>
        <p:spPr>
          <a:xfrm xmlns:a="http://schemas.openxmlformats.org/drawingml/2006/main">
            <a:off x="822960" y="1051560"/>
            <a:ext cx="10058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300">
                <a:solidFill>
                  <a:srgbClr val="6FB3BC"/>
                </a:solidFill>
                <a:latin typeface="Calibri"/>
                <a:ea typeface="Calibri"/>
                <a:cs typeface="Calibri"/>
              </a:rPr>
              <a:t>SDAIA ACADEMY  ·  DATA SCIENTIST TRACK  ·  PRACTITIONER LEVEL</a:t>
            </a:r>
            <a:endParaRPr sz="1300"/>
          </a:p>
        </p:txBody>
      </p:sp>
      <p:sp>
        <p:nvSpPr>
          <p:cNvPr id="11" name="Text 9">
            <a:extLst xmlns:a="http://schemas.openxmlformats.org/drawingml/2006/main">
              <a:ext uri="{FF2B5EF4-FFF2-40B4-BE49-F238E27FC236}">
                <a16:creationId xmlns:a16="http://schemas.microsoft.com/office/drawing/2014/main" id="{B8EA73D6-A00E-4508-AB92-D3C765803A12}"/>
              </a:ext>
            </a:extLst>
          </p:cNvPr>
          <p:cNvSpPr>
            <a:spLocks xmlns:a="http://schemas.openxmlformats.org/drawingml/2006/main" noGrp="1"/>
          </p:cNvSpPr>
          <p:nvPr/>
        </p:nvSpPr>
        <p:spPr>
          <a:xfrm xmlns:a="http://schemas.openxmlformats.org/drawingml/2006/main">
            <a:off x="822960" y="1600200"/>
            <a:ext cx="1051560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FFFFF"/>
                </a:solidFill>
                <a:latin typeface="Cambria"/>
                <a:ea typeface="Cambria"/>
                <a:cs typeface="Cambria"/>
              </a:rPr>
              <a:t>Statistical Foundations</a:t>
            </a:r>
            <a:endParaRPr sz="5400"/>
          </a:p>
          <a:p xmlns:a="http://schemas.openxmlformats.org/drawingml/2006/main">
            <a:pPr marL="0" indent="0">
              <a:buNone/>
            </a:pPr>
            <a:r>
              <a:rPr sz="5400" b="1">
                <a:solidFill>
                  <a:srgbClr val="FFFFFF"/>
                </a:solidFill>
                <a:latin typeface="Cambria"/>
                <a:ea typeface="Cambria"/>
                <a:cs typeface="Cambria"/>
              </a:rPr>
              <a:t>for Data Science</a:t>
            </a:r>
            <a:endParaRPr sz="5400"/>
          </a:p>
        </p:txBody>
      </p:sp>
      <p:sp>
        <p:nvSpPr>
          <p:cNvPr id="12" name="Text 10">
            <a:extLst xmlns:a="http://schemas.openxmlformats.org/drawingml/2006/main">
              <a:ext uri="{FF2B5EF4-FFF2-40B4-BE49-F238E27FC236}">
                <a16:creationId xmlns:a16="http://schemas.microsoft.com/office/drawing/2014/main" id="{5AA81B6E-A24F-48A5-A304-36CA25B0FD32}"/>
              </a:ext>
            </a:extLst>
          </p:cNvPr>
          <p:cNvSpPr>
            <a:spLocks xmlns:a="http://schemas.openxmlformats.org/drawingml/2006/main" noGrp="1"/>
          </p:cNvSpPr>
          <p:nvPr/>
        </p:nvSpPr>
        <p:spPr>
          <a:xfrm xmlns:a="http://schemas.openxmlformats.org/drawingml/2006/main">
            <a:off x="822960" y="3703320"/>
            <a:ext cx="10515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a:solidFill>
                  <a:srgbClr val="AECBD1"/>
                </a:solidFill>
                <a:latin typeface="Calibri"/>
                <a:ea typeface="Calibri"/>
                <a:cs typeface="Calibri"/>
              </a:rPr>
              <a:t>الأسس الإحصائية لعلم البيانات</a:t>
            </a:r>
            <a:endParaRPr sz="2600"/>
          </a:p>
        </p:txBody>
      </p:sp>
      <p:sp>
        <p:nvSpPr>
          <p:cNvPr id="13" name="Shape 11">
            <a:extLst xmlns:a="http://schemas.openxmlformats.org/drawingml/2006/main">
              <a:ext uri="{FF2B5EF4-FFF2-40B4-BE49-F238E27FC236}">
                <a16:creationId xmlns:a16="http://schemas.microsoft.com/office/drawing/2014/main" id="{91114CD6-944B-4E7E-B358-94CE402C8BAB}"/>
              </a:ext>
            </a:extLst>
          </p:cNvPr>
          <p:cNvSpPr>
            <a:spLocks xmlns:a="http://schemas.openxmlformats.org/drawingml/2006/main" noGrp="1"/>
          </p:cNvSpPr>
          <p:nvPr/>
        </p:nvSpPr>
        <p:spPr>
          <a:xfrm xmlns:a="http://schemas.openxmlformats.org/drawingml/2006/main">
            <a:off x="822960" y="4709160"/>
            <a:ext cx="1412748" cy="402336"/>
          </a:xfrm>
          <a:prstGeom xmlns:a="http://schemas.openxmlformats.org/drawingml/2006/main" prst="roundRect">
            <a:avLst>
              <a:gd name="adj" fmla="val 50000"/>
            </a:avLst>
          </a:prstGeom>
          <a:solidFill xmlns:a="http://schemas.openxmlformats.org/drawingml/2006/main">
            <a:srgbClr val="0E7C86"/>
          </a:solidFill>
        </p:spPr>
      </p:sp>
      <p:sp>
        <p:nvSpPr>
          <p:cNvPr id="14" name="Text 12">
            <a:extLst xmlns:a="http://schemas.openxmlformats.org/drawingml/2006/main">
              <a:ext uri="{FF2B5EF4-FFF2-40B4-BE49-F238E27FC236}">
                <a16:creationId xmlns:a16="http://schemas.microsoft.com/office/drawing/2014/main" id="{32F1C817-1666-4470-BC42-4985F878B8FA}"/>
              </a:ext>
            </a:extLst>
          </p:cNvPr>
          <p:cNvSpPr>
            <a:spLocks xmlns:a="http://schemas.openxmlformats.org/drawingml/2006/main" noGrp="1"/>
          </p:cNvSpPr>
          <p:nvPr/>
        </p:nvSpPr>
        <p:spPr>
          <a:xfrm xmlns:a="http://schemas.openxmlformats.org/drawingml/2006/main">
            <a:off x="822960" y="4709160"/>
            <a:ext cx="14127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SDA-DSC-111</a:t>
            </a:r>
            <a:endParaRPr sz="1200"/>
          </a:p>
        </p:txBody>
      </p:sp>
      <p:sp>
        <p:nvSpPr>
          <p:cNvPr id="15" name="Shape 13">
            <a:extLst xmlns:a="http://schemas.openxmlformats.org/drawingml/2006/main">
              <a:ext uri="{FF2B5EF4-FFF2-40B4-BE49-F238E27FC236}">
                <a16:creationId xmlns:a16="http://schemas.microsoft.com/office/drawing/2014/main" id="{DA4DC321-1725-4877-97A7-DB6C659D6B99}"/>
              </a:ext>
            </a:extLst>
          </p:cNvPr>
          <p:cNvSpPr>
            <a:spLocks xmlns:a="http://schemas.openxmlformats.org/drawingml/2006/main" noGrp="1"/>
          </p:cNvSpPr>
          <p:nvPr/>
        </p:nvSpPr>
        <p:spPr>
          <a:xfrm xmlns:a="http://schemas.openxmlformats.org/drawingml/2006/main">
            <a:off x="2436876" y="4709160"/>
            <a:ext cx="1933956" cy="402336"/>
          </a:xfrm>
          <a:prstGeom xmlns:a="http://schemas.openxmlformats.org/drawingml/2006/main" prst="roundRect">
            <a:avLst>
              <a:gd name="adj" fmla="val 50000"/>
            </a:avLst>
          </a:prstGeom>
          <a:solidFill xmlns:a="http://schemas.openxmlformats.org/drawingml/2006/main">
            <a:srgbClr val="123F52"/>
          </a:solidFill>
        </p:spPr>
      </p:sp>
      <p:sp>
        <p:nvSpPr>
          <p:cNvPr id="16" name="Text 14">
            <a:extLst xmlns:a="http://schemas.openxmlformats.org/drawingml/2006/main">
              <a:ext uri="{FF2B5EF4-FFF2-40B4-BE49-F238E27FC236}">
                <a16:creationId xmlns:a16="http://schemas.microsoft.com/office/drawing/2014/main" id="{17A24F9B-AB7F-4971-838E-8CA21634525E}"/>
              </a:ext>
            </a:extLst>
          </p:cNvPr>
          <p:cNvSpPr>
            <a:spLocks xmlns:a="http://schemas.openxmlformats.org/drawingml/2006/main" noGrp="1"/>
          </p:cNvSpPr>
          <p:nvPr/>
        </p:nvSpPr>
        <p:spPr>
          <a:xfrm xmlns:a="http://schemas.openxmlformats.org/drawingml/2006/main">
            <a:off x="2436876" y="4709160"/>
            <a:ext cx="193395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4 days · 20 hours</a:t>
            </a:r>
            <a:endParaRPr sz="1200"/>
          </a:p>
        </p:txBody>
      </p:sp>
      <p:sp>
        <p:nvSpPr>
          <p:cNvPr id="17" name="Shape 15">
            <a:extLst xmlns:a="http://schemas.openxmlformats.org/drawingml/2006/main">
              <a:ext uri="{FF2B5EF4-FFF2-40B4-BE49-F238E27FC236}">
                <a16:creationId xmlns:a16="http://schemas.microsoft.com/office/drawing/2014/main" id="{0F698581-E48B-417D-96B7-91ED598A3CC8}"/>
              </a:ext>
            </a:extLst>
          </p:cNvPr>
          <p:cNvSpPr>
            <a:spLocks xmlns:a="http://schemas.openxmlformats.org/drawingml/2006/main" noGrp="1"/>
          </p:cNvSpPr>
          <p:nvPr/>
        </p:nvSpPr>
        <p:spPr>
          <a:xfrm xmlns:a="http://schemas.openxmlformats.org/drawingml/2006/main">
            <a:off x="4572000" y="4709160"/>
            <a:ext cx="2889504" cy="402336"/>
          </a:xfrm>
          <a:prstGeom xmlns:a="http://schemas.openxmlformats.org/drawingml/2006/main" prst="roundRect">
            <a:avLst>
              <a:gd name="adj" fmla="val 50000"/>
            </a:avLst>
          </a:prstGeom>
          <a:solidFill xmlns:a="http://schemas.openxmlformats.org/drawingml/2006/main">
            <a:srgbClr val="123F52"/>
          </a:solidFill>
        </p:spPr>
      </p:sp>
      <p:sp>
        <p:nvSpPr>
          <p:cNvPr id="18" name="Text 16">
            <a:extLst xmlns:a="http://schemas.openxmlformats.org/drawingml/2006/main">
              <a:ext uri="{FF2B5EF4-FFF2-40B4-BE49-F238E27FC236}">
                <a16:creationId xmlns:a16="http://schemas.microsoft.com/office/drawing/2014/main" id="{F661D1B2-F524-4575-B73B-35A8FB8AA7EF}"/>
              </a:ext>
            </a:extLst>
          </p:cNvPr>
          <p:cNvSpPr>
            <a:spLocks xmlns:a="http://schemas.openxmlformats.org/drawingml/2006/main" noGrp="1"/>
          </p:cNvSpPr>
          <p:nvPr/>
        </p:nvSpPr>
        <p:spPr>
          <a:xfrm xmlns:a="http://schemas.openxmlformats.org/drawingml/2006/main">
            <a:off x="4572000" y="4709160"/>
            <a:ext cx="2889504"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Python · SciPy · statsmodels</a:t>
            </a:r>
            <a:endParaRPr sz="1200"/>
          </a:p>
        </p:txBody>
      </p:sp>
      <p:sp>
        <p:nvSpPr>
          <p:cNvPr id="19" name="Shape 17">
            <a:extLst xmlns:a="http://schemas.openxmlformats.org/drawingml/2006/main">
              <a:ext uri="{FF2B5EF4-FFF2-40B4-BE49-F238E27FC236}">
                <a16:creationId xmlns:a16="http://schemas.microsoft.com/office/drawing/2014/main" id="{0C038FB8-4171-4705-A991-BB145403F2CC}"/>
              </a:ext>
            </a:extLst>
          </p:cNvPr>
          <p:cNvSpPr>
            <a:spLocks xmlns:a="http://schemas.openxmlformats.org/drawingml/2006/main" noGrp="1"/>
          </p:cNvSpPr>
          <p:nvPr/>
        </p:nvSpPr>
        <p:spPr>
          <a:xfrm xmlns:a="http://schemas.openxmlformats.org/drawingml/2006/main">
            <a:off x="7662672" y="4709160"/>
            <a:ext cx="2542032" cy="402336"/>
          </a:xfrm>
          <a:prstGeom xmlns:a="http://schemas.openxmlformats.org/drawingml/2006/main" prst="roundRect">
            <a:avLst>
              <a:gd name="adj" fmla="val 50000"/>
            </a:avLst>
          </a:prstGeom>
          <a:solidFill xmlns:a="http://schemas.openxmlformats.org/drawingml/2006/main">
            <a:srgbClr val="123F52"/>
          </a:solidFill>
        </p:spPr>
      </p:sp>
      <p:sp>
        <p:nvSpPr>
          <p:cNvPr id="20" name="Text 18">
            <a:extLst xmlns:a="http://schemas.openxmlformats.org/drawingml/2006/main">
              <a:ext uri="{FF2B5EF4-FFF2-40B4-BE49-F238E27FC236}">
                <a16:creationId xmlns:a16="http://schemas.microsoft.com/office/drawing/2014/main" id="{8D37679F-62C9-4BEC-9750-B706C6B9AAC4}"/>
              </a:ext>
            </a:extLst>
          </p:cNvPr>
          <p:cNvSpPr>
            <a:spLocks xmlns:a="http://schemas.openxmlformats.org/drawingml/2006/main" noGrp="1"/>
          </p:cNvSpPr>
          <p:nvPr/>
        </p:nvSpPr>
        <p:spPr>
          <a:xfrm xmlns:a="http://schemas.openxmlformats.org/drawingml/2006/main">
            <a:off x="7662672" y="4709160"/>
            <a:ext cx="254203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Instructor training deck</a:t>
            </a:r>
            <a:endParaRPr sz="1200"/>
          </a:p>
        </p:txBody>
      </p:sp>
      <p:sp>
        <p:nvSpPr>
          <p:cNvPr id="21" name="Text 19">
            <a:extLst xmlns:a="http://schemas.openxmlformats.org/drawingml/2006/main">
              <a:ext uri="{FF2B5EF4-FFF2-40B4-BE49-F238E27FC236}">
                <a16:creationId xmlns:a16="http://schemas.microsoft.com/office/drawing/2014/main" id="{3878C92B-6060-426F-8375-55A9C77F55FE}"/>
              </a:ext>
            </a:extLst>
          </p:cNvPr>
          <p:cNvSpPr>
            <a:spLocks xmlns:a="http://schemas.openxmlformats.org/drawingml/2006/main" noGrp="1"/>
          </p:cNvSpPr>
          <p:nvPr/>
        </p:nvSpPr>
        <p:spPr>
          <a:xfrm xmlns:a="http://schemas.openxmlformats.org/drawingml/2006/main">
            <a:off x="822960" y="5623560"/>
            <a:ext cx="10424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i="1">
                <a:solidFill>
                  <a:srgbClr val="AECBD1"/>
                </a:solidFill>
                <a:latin typeface="Calibri"/>
                <a:ea typeface="Calibri"/>
                <a:cs typeface="Calibri"/>
              </a:rPr>
              <a:t>One dataset. One question. Twenty hours of statistics that end in a decision a minister could act on.</a:t>
            </a:r>
            <a:endParaRPr sz="1450"/>
          </a:p>
        </p:txBody>
      </p:sp>
    </p:spTree>
    <p:extLst>
      <p:ext uri="{BB962C8B-B14F-4D97-AF65-F5344CB8AC3E}">
        <p14:creationId xmlns:p14="http://schemas.microsoft.com/office/powerpoint/2010/main" val="21088296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699E8C9-EC8B-45AA-925E-592F559708FF}"/>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C1C2FE78-F76C-4DFF-8DCD-6C39DC1C9E8E}"/>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2</a:t>
            </a:r>
            <a:endParaRPr sz="900"/>
          </a:p>
        </p:txBody>
      </p:sp>
      <p:sp>
        <p:nvSpPr>
          <p:cNvPr id="4" name="Shape 2">
            <a:extLst xmlns:a="http://schemas.openxmlformats.org/drawingml/2006/main">
              <a:ext uri="{FF2B5EF4-FFF2-40B4-BE49-F238E27FC236}">
                <a16:creationId xmlns:a16="http://schemas.microsoft.com/office/drawing/2014/main" id="{63F41B3A-0C60-4977-A7A5-29E8A9E39388}"/>
              </a:ext>
            </a:extLst>
          </p:cNvPr>
          <p:cNvSpPr>
            <a:spLocks xmlns:a="http://schemas.openxmlformats.org/drawingml/2006/main" noGrp="1"/>
          </p:cNvSpPr>
          <p:nvPr/>
        </p:nvSpPr>
        <p:spPr>
          <a:xfrm xmlns:a="http://schemas.openxmlformats.org/drawingml/2006/main">
            <a:off x="502920" y="384048"/>
            <a:ext cx="1586484"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A7FADA75-9AD0-44E3-86C4-CBD944FAAE7F}"/>
              </a:ext>
            </a:extLst>
          </p:cNvPr>
          <p:cNvSpPr>
            <a:spLocks xmlns:a="http://schemas.openxmlformats.org/drawingml/2006/main" noGrp="1"/>
          </p:cNvSpPr>
          <p:nvPr/>
        </p:nvSpPr>
        <p:spPr>
          <a:xfrm xmlns:a="http://schemas.openxmlformats.org/drawingml/2006/main">
            <a:off x="502920" y="384048"/>
            <a:ext cx="15864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COURSE OVERVIEW</a:t>
            </a:r>
            <a:endParaRPr sz="1050"/>
          </a:p>
        </p:txBody>
      </p:sp>
      <p:sp>
        <p:nvSpPr>
          <p:cNvPr id="6" name="Text 4">
            <a:extLst xmlns:a="http://schemas.openxmlformats.org/drawingml/2006/main">
              <a:ext uri="{FF2B5EF4-FFF2-40B4-BE49-F238E27FC236}">
                <a16:creationId xmlns:a16="http://schemas.microsoft.com/office/drawing/2014/main" id="{86D6EB68-66EE-44D7-A53C-6679E80E3D15}"/>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The course at a glance</a:t>
            </a:r>
            <a:endParaRPr sz="2800"/>
          </a:p>
        </p:txBody>
      </p:sp>
      <p:sp>
        <p:nvSpPr>
          <p:cNvPr id="7" name="Shape 5">
            <a:extLst xmlns:a="http://schemas.openxmlformats.org/drawingml/2006/main">
              <a:ext uri="{FF2B5EF4-FFF2-40B4-BE49-F238E27FC236}">
                <a16:creationId xmlns:a16="http://schemas.microsoft.com/office/drawing/2014/main" id="{A7A4EC84-27E3-4BDE-9792-741AAEFA61AD}"/>
              </a:ext>
            </a:extLst>
          </p:cNvPr>
          <p:cNvSpPr>
            <a:spLocks xmlns:a="http://schemas.openxmlformats.org/drawingml/2006/main" noGrp="1"/>
          </p:cNvSpPr>
          <p:nvPr/>
        </p:nvSpPr>
        <p:spPr>
          <a:xfrm xmlns:a="http://schemas.openxmlformats.org/drawingml/2006/main">
            <a:off x="502920" y="1563624"/>
            <a:ext cx="3657600" cy="1417320"/>
          </a:xfrm>
          <a:prstGeom xmlns:a="http://schemas.openxmlformats.org/drawingml/2006/main" prst="roundRect">
            <a:avLst>
              <a:gd name="adj" fmla="val 5806"/>
            </a:avLst>
          </a:prstGeom>
          <a:solidFill xmlns:a="http://schemas.openxmlformats.org/drawingml/2006/main">
            <a:srgbClr val="F3F8F9"/>
          </a:solidFill>
        </p:spPr>
      </p:sp>
      <p:sp>
        <p:nvSpPr>
          <p:cNvPr id="8" name="Shape 6">
            <a:extLst xmlns:a="http://schemas.openxmlformats.org/drawingml/2006/main">
              <a:ext uri="{FF2B5EF4-FFF2-40B4-BE49-F238E27FC236}">
                <a16:creationId xmlns:a16="http://schemas.microsoft.com/office/drawing/2014/main" id="{A2FD629C-5700-4894-9355-539FEC8DEB7F}"/>
              </a:ext>
            </a:extLst>
          </p:cNvPr>
          <p:cNvSpPr>
            <a:spLocks xmlns:a="http://schemas.openxmlformats.org/drawingml/2006/main" noGrp="1"/>
          </p:cNvSpPr>
          <p:nvPr/>
        </p:nvSpPr>
        <p:spPr>
          <a:xfrm xmlns:a="http://schemas.openxmlformats.org/drawingml/2006/main">
            <a:off x="685800" y="1746504"/>
            <a:ext cx="420624" cy="420624"/>
          </a:xfrm>
          <a:prstGeom xmlns:a="http://schemas.openxmlformats.org/drawingml/2006/main" prst="ellipse">
            <a:avLst/>
          </a:prstGeom>
          <a:solidFill xmlns:a="http://schemas.openxmlformats.org/drawingml/2006/main">
            <a:srgbClr val="0E7C86"/>
          </a:solidFill>
        </p:spPr>
      </p:sp>
      <p:pic>
        <p:nvPicPr>
          <p:cNvPr id="52" name="Image 0"/>
          <p:cNvPicPr>
            <a:picLocks xmlns:a="http://schemas.openxmlformats.org/drawingml/2006/main" noChangeAspect="1"/>
          </p:cNvPicPr>
          <p:nvPr/>
        </p:nvPicPr>
        <p:blipFill>
          <a:blip xmlns:r="http://schemas.openxmlformats.org/officeDocument/2006/relationships" xmlns:a="http://schemas.openxmlformats.org/drawingml/2006/main" r:embed="Rf9c54d43027740d6"/>
          <a:stretch xmlns:a="http://schemas.openxmlformats.org/drawingml/2006/main">
            <a:fillRect l="0" t="0" r="0" b="0"/>
          </a:stretch>
        </p:blipFill>
        <p:spPr>
          <a:xfrm xmlns:a="http://schemas.openxmlformats.org/drawingml/2006/main">
            <a:off x="795162" y="1855866"/>
            <a:ext cx="201900" cy="201900"/>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D8053737-C731-416A-88F0-A70EDF5BDBDE}"/>
              </a:ext>
            </a:extLst>
          </p:cNvPr>
          <p:cNvSpPr>
            <a:spLocks xmlns:a="http://schemas.openxmlformats.org/drawingml/2006/main" noGrp="1"/>
          </p:cNvSpPr>
          <p:nvPr/>
        </p:nvSpPr>
        <p:spPr>
          <a:xfrm xmlns:a="http://schemas.openxmlformats.org/drawingml/2006/main">
            <a:off x="1234440" y="1801368"/>
            <a:ext cx="2743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Audience</a:t>
            </a:r>
            <a:endParaRPr sz="1350"/>
          </a:p>
        </p:txBody>
      </p:sp>
      <p:sp>
        <p:nvSpPr>
          <p:cNvPr id="11" name="Text 8">
            <a:extLst xmlns:a="http://schemas.openxmlformats.org/drawingml/2006/main">
              <a:ext uri="{FF2B5EF4-FFF2-40B4-BE49-F238E27FC236}">
                <a16:creationId xmlns:a16="http://schemas.microsoft.com/office/drawing/2014/main" id="{9001616C-334D-4FFB-83C4-62115C881102}"/>
              </a:ext>
            </a:extLst>
          </p:cNvPr>
          <p:cNvSpPr>
            <a:spLocks xmlns:a="http://schemas.openxmlformats.org/drawingml/2006/main" noGrp="1"/>
          </p:cNvSpPr>
          <p:nvPr/>
        </p:nvSpPr>
        <p:spPr>
          <a:xfrm xmlns:a="http://schemas.openxmlformats.org/drawingml/2006/main">
            <a:off x="740664" y="2221992"/>
            <a:ext cx="320040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80">
                <a:solidFill>
                  <a:srgbClr val="24313A"/>
                </a:solidFill>
                <a:latin typeface="Calibri"/>
                <a:ea typeface="Calibri"/>
                <a:cs typeface="Calibri"/>
              </a:rPr>
              <a:t>Analysts, graduates, and engineers entering data science</a:t>
            </a:r>
            <a:endParaRPr sz="1080"/>
          </a:p>
        </p:txBody>
      </p:sp>
      <p:sp>
        <p:nvSpPr>
          <p:cNvPr id="12" name="Shape 9">
            <a:extLst xmlns:a="http://schemas.openxmlformats.org/drawingml/2006/main">
              <a:ext uri="{FF2B5EF4-FFF2-40B4-BE49-F238E27FC236}">
                <a16:creationId xmlns:a16="http://schemas.microsoft.com/office/drawing/2014/main" id="{01A6E42C-B0C1-4213-BE8B-6016284A84DD}"/>
              </a:ext>
            </a:extLst>
          </p:cNvPr>
          <p:cNvSpPr>
            <a:spLocks xmlns:a="http://schemas.openxmlformats.org/drawingml/2006/main" noGrp="1"/>
          </p:cNvSpPr>
          <p:nvPr/>
        </p:nvSpPr>
        <p:spPr>
          <a:xfrm xmlns:a="http://schemas.openxmlformats.org/drawingml/2006/main">
            <a:off x="4297680" y="1563624"/>
            <a:ext cx="3657600" cy="1417320"/>
          </a:xfrm>
          <a:prstGeom xmlns:a="http://schemas.openxmlformats.org/drawingml/2006/main" prst="roundRect">
            <a:avLst>
              <a:gd name="adj" fmla="val 5806"/>
            </a:avLst>
          </a:prstGeom>
          <a:solidFill xmlns:a="http://schemas.openxmlformats.org/drawingml/2006/main">
            <a:srgbClr val="F3F8F9"/>
          </a:solidFill>
        </p:spPr>
      </p:sp>
      <p:sp>
        <p:nvSpPr>
          <p:cNvPr id="13" name="Shape 10">
            <a:extLst xmlns:a="http://schemas.openxmlformats.org/drawingml/2006/main">
              <a:ext uri="{FF2B5EF4-FFF2-40B4-BE49-F238E27FC236}">
                <a16:creationId xmlns:a16="http://schemas.microsoft.com/office/drawing/2014/main" id="{88F43F90-3712-43C0-B355-CD1BB8A01462}"/>
              </a:ext>
            </a:extLst>
          </p:cNvPr>
          <p:cNvSpPr>
            <a:spLocks xmlns:a="http://schemas.openxmlformats.org/drawingml/2006/main" noGrp="1"/>
          </p:cNvSpPr>
          <p:nvPr/>
        </p:nvSpPr>
        <p:spPr>
          <a:xfrm xmlns:a="http://schemas.openxmlformats.org/drawingml/2006/main">
            <a:off x="4480560" y="1746504"/>
            <a:ext cx="420624" cy="420624"/>
          </a:xfrm>
          <a:prstGeom xmlns:a="http://schemas.openxmlformats.org/drawingml/2006/main" prst="ellipse">
            <a:avLst/>
          </a:prstGeom>
          <a:solidFill xmlns:a="http://schemas.openxmlformats.org/drawingml/2006/main">
            <a:srgbClr val="0E7C86"/>
          </a:solidFill>
        </p:spPr>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76e951692c084abd"/>
          <a:stretch xmlns:a="http://schemas.openxmlformats.org/drawingml/2006/main">
            <a:fillRect l="0" t="0" r="0" b="0"/>
          </a:stretch>
        </p:blipFill>
        <p:spPr>
          <a:xfrm xmlns:a="http://schemas.openxmlformats.org/drawingml/2006/main">
            <a:off x="4589922" y="1855866"/>
            <a:ext cx="201900" cy="201900"/>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888EF2CD-0D43-4C20-A391-EAB70B4C86E7}"/>
              </a:ext>
            </a:extLst>
          </p:cNvPr>
          <p:cNvSpPr>
            <a:spLocks xmlns:a="http://schemas.openxmlformats.org/drawingml/2006/main" noGrp="1"/>
          </p:cNvSpPr>
          <p:nvPr/>
        </p:nvSpPr>
        <p:spPr>
          <a:xfrm xmlns:a="http://schemas.openxmlformats.org/drawingml/2006/main">
            <a:off x="5029200" y="1801368"/>
            <a:ext cx="2743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Prerequisites</a:t>
            </a:r>
            <a:endParaRPr sz="1350"/>
          </a:p>
        </p:txBody>
      </p:sp>
      <p:sp>
        <p:nvSpPr>
          <p:cNvPr id="16" name="Text 12">
            <a:extLst xmlns:a="http://schemas.openxmlformats.org/drawingml/2006/main">
              <a:ext uri="{FF2B5EF4-FFF2-40B4-BE49-F238E27FC236}">
                <a16:creationId xmlns:a16="http://schemas.microsoft.com/office/drawing/2014/main" id="{DDE27224-FB02-4C59-ABBD-E0841863AB90}"/>
              </a:ext>
            </a:extLst>
          </p:cNvPr>
          <p:cNvSpPr>
            <a:spLocks xmlns:a="http://schemas.openxmlformats.org/drawingml/2006/main" noGrp="1"/>
          </p:cNvSpPr>
          <p:nvPr/>
        </p:nvSpPr>
        <p:spPr>
          <a:xfrm xmlns:a="http://schemas.openxmlformats.org/drawingml/2006/main">
            <a:off x="4535424" y="2221992"/>
            <a:ext cx="320040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80">
                <a:solidFill>
                  <a:srgbClr val="24313A"/>
                </a:solidFill>
                <a:latin typeface="Calibri"/>
                <a:ea typeface="Calibri"/>
                <a:cs typeface="Calibri"/>
              </a:rPr>
              <a:t>SDA-FND-103 required; SDA-FND-104 recommended</a:t>
            </a:r>
            <a:endParaRPr sz="1080"/>
          </a:p>
        </p:txBody>
      </p:sp>
      <p:sp>
        <p:nvSpPr>
          <p:cNvPr id="17" name="Shape 13">
            <a:extLst xmlns:a="http://schemas.openxmlformats.org/drawingml/2006/main">
              <a:ext uri="{FF2B5EF4-FFF2-40B4-BE49-F238E27FC236}">
                <a16:creationId xmlns:a16="http://schemas.microsoft.com/office/drawing/2014/main" id="{030CF483-3793-43FA-BD3B-909BFD39FE3F}"/>
              </a:ext>
            </a:extLst>
          </p:cNvPr>
          <p:cNvSpPr>
            <a:spLocks xmlns:a="http://schemas.openxmlformats.org/drawingml/2006/main" noGrp="1"/>
          </p:cNvSpPr>
          <p:nvPr/>
        </p:nvSpPr>
        <p:spPr>
          <a:xfrm xmlns:a="http://schemas.openxmlformats.org/drawingml/2006/main">
            <a:off x="8092440" y="1563624"/>
            <a:ext cx="3657600" cy="1417320"/>
          </a:xfrm>
          <a:prstGeom xmlns:a="http://schemas.openxmlformats.org/drawingml/2006/main" prst="roundRect">
            <a:avLst>
              <a:gd name="adj" fmla="val 5806"/>
            </a:avLst>
          </a:prstGeom>
          <a:solidFill xmlns:a="http://schemas.openxmlformats.org/drawingml/2006/main">
            <a:srgbClr val="F3F8F9"/>
          </a:solidFill>
        </p:spPr>
      </p:sp>
      <p:sp>
        <p:nvSpPr>
          <p:cNvPr id="18" name="Shape 14">
            <a:extLst xmlns:a="http://schemas.openxmlformats.org/drawingml/2006/main">
              <a:ext uri="{FF2B5EF4-FFF2-40B4-BE49-F238E27FC236}">
                <a16:creationId xmlns:a16="http://schemas.microsoft.com/office/drawing/2014/main" id="{EC1AE41C-16AA-437B-9683-DC482C286C84}"/>
              </a:ext>
            </a:extLst>
          </p:cNvPr>
          <p:cNvSpPr>
            <a:spLocks xmlns:a="http://schemas.openxmlformats.org/drawingml/2006/main" noGrp="1"/>
          </p:cNvSpPr>
          <p:nvPr/>
        </p:nvSpPr>
        <p:spPr>
          <a:xfrm xmlns:a="http://schemas.openxmlformats.org/drawingml/2006/main">
            <a:off x="8275320" y="1746504"/>
            <a:ext cx="420624" cy="420624"/>
          </a:xfrm>
          <a:prstGeom xmlns:a="http://schemas.openxmlformats.org/drawingml/2006/main" prst="ellipse">
            <a:avLst/>
          </a:prstGeom>
          <a:solidFill xmlns:a="http://schemas.openxmlformats.org/drawingml/2006/main">
            <a:srgbClr val="0E7C86"/>
          </a:solidFill>
        </p:spPr>
      </p:sp>
      <p:pic>
        <p:nvPicPr>
          <p:cNvPr id="62" name="Image 2"/>
          <p:cNvPicPr>
            <a:picLocks xmlns:a="http://schemas.openxmlformats.org/drawingml/2006/main" noChangeAspect="1"/>
          </p:cNvPicPr>
          <p:nvPr/>
        </p:nvPicPr>
        <p:blipFill>
          <a:blip xmlns:r="http://schemas.openxmlformats.org/officeDocument/2006/relationships" xmlns:a="http://schemas.openxmlformats.org/drawingml/2006/main" r:embed="Rc6a22a377f904d86"/>
          <a:stretch xmlns:a="http://schemas.openxmlformats.org/drawingml/2006/main">
            <a:fillRect l="0" t="0" r="0" b="0"/>
          </a:stretch>
        </p:blipFill>
        <p:spPr>
          <a:xfrm xmlns:a="http://schemas.openxmlformats.org/drawingml/2006/main">
            <a:off x="8384682" y="1855866"/>
            <a:ext cx="201900" cy="201900"/>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73BB9F20-1720-4420-8C86-F050E5733FA0}"/>
              </a:ext>
            </a:extLst>
          </p:cNvPr>
          <p:cNvSpPr>
            <a:spLocks xmlns:a="http://schemas.openxmlformats.org/drawingml/2006/main" noGrp="1"/>
          </p:cNvSpPr>
          <p:nvPr/>
        </p:nvSpPr>
        <p:spPr>
          <a:xfrm xmlns:a="http://schemas.openxmlformats.org/drawingml/2006/main">
            <a:off x="8823960" y="1801368"/>
            <a:ext cx="2743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Format</a:t>
            </a:r>
            <a:endParaRPr sz="1350"/>
          </a:p>
        </p:txBody>
      </p:sp>
      <p:sp>
        <p:nvSpPr>
          <p:cNvPr id="21" name="Text 16">
            <a:extLst xmlns:a="http://schemas.openxmlformats.org/drawingml/2006/main">
              <a:ext uri="{FF2B5EF4-FFF2-40B4-BE49-F238E27FC236}">
                <a16:creationId xmlns:a16="http://schemas.microsoft.com/office/drawing/2014/main" id="{C6A795C4-D0FB-4880-8CCD-993EA41F5857}"/>
              </a:ext>
            </a:extLst>
          </p:cNvPr>
          <p:cNvSpPr>
            <a:spLocks xmlns:a="http://schemas.openxmlformats.org/drawingml/2006/main" noGrp="1"/>
          </p:cNvSpPr>
          <p:nvPr/>
        </p:nvSpPr>
        <p:spPr>
          <a:xfrm xmlns:a="http://schemas.openxmlformats.org/drawingml/2006/main">
            <a:off x="8330184" y="2221992"/>
            <a:ext cx="320040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80">
                <a:solidFill>
                  <a:srgbClr val="24313A"/>
                </a:solidFill>
                <a:latin typeface="Calibri"/>
                <a:ea typeface="Calibri"/>
                <a:cs typeface="Calibri"/>
              </a:rPr>
              <a:t>4 days × 5 learning hours; each hour = 50 min + 10 min buffer; long break at Dhuhr</a:t>
            </a:r>
            <a:endParaRPr sz="1080"/>
          </a:p>
        </p:txBody>
      </p:sp>
      <p:sp>
        <p:nvSpPr>
          <p:cNvPr id="22" name="Shape 17">
            <a:extLst xmlns:a="http://schemas.openxmlformats.org/drawingml/2006/main">
              <a:ext uri="{FF2B5EF4-FFF2-40B4-BE49-F238E27FC236}">
                <a16:creationId xmlns:a16="http://schemas.microsoft.com/office/drawing/2014/main" id="{44C47DDC-6162-48E0-8C2E-0B04B687D270}"/>
              </a:ext>
            </a:extLst>
          </p:cNvPr>
          <p:cNvSpPr>
            <a:spLocks xmlns:a="http://schemas.openxmlformats.org/drawingml/2006/main" noGrp="1"/>
          </p:cNvSpPr>
          <p:nvPr/>
        </p:nvSpPr>
        <p:spPr>
          <a:xfrm xmlns:a="http://schemas.openxmlformats.org/drawingml/2006/main">
            <a:off x="502920" y="3145536"/>
            <a:ext cx="3657600" cy="1417320"/>
          </a:xfrm>
          <a:prstGeom xmlns:a="http://schemas.openxmlformats.org/drawingml/2006/main" prst="roundRect">
            <a:avLst>
              <a:gd name="adj" fmla="val 5806"/>
            </a:avLst>
          </a:prstGeom>
          <a:solidFill xmlns:a="http://schemas.openxmlformats.org/drawingml/2006/main">
            <a:srgbClr val="F3F8F9"/>
          </a:solidFill>
        </p:spPr>
      </p:sp>
      <p:sp>
        <p:nvSpPr>
          <p:cNvPr id="23" name="Shape 18">
            <a:extLst xmlns:a="http://schemas.openxmlformats.org/drawingml/2006/main">
              <a:ext uri="{FF2B5EF4-FFF2-40B4-BE49-F238E27FC236}">
                <a16:creationId xmlns:a16="http://schemas.microsoft.com/office/drawing/2014/main" id="{D0C78A0B-ED31-444B-8B6E-943939C12F56}"/>
              </a:ext>
            </a:extLst>
          </p:cNvPr>
          <p:cNvSpPr>
            <a:spLocks xmlns:a="http://schemas.openxmlformats.org/drawingml/2006/main" noGrp="1"/>
          </p:cNvSpPr>
          <p:nvPr/>
        </p:nvSpPr>
        <p:spPr>
          <a:xfrm xmlns:a="http://schemas.openxmlformats.org/drawingml/2006/main">
            <a:off x="685800" y="3328416"/>
            <a:ext cx="420624" cy="420624"/>
          </a:xfrm>
          <a:prstGeom xmlns:a="http://schemas.openxmlformats.org/drawingml/2006/main" prst="ellipse">
            <a:avLst/>
          </a:prstGeom>
          <a:solidFill xmlns:a="http://schemas.openxmlformats.org/drawingml/2006/main">
            <a:srgbClr val="0E7C86"/>
          </a:solidFill>
        </p:spPr>
      </p:sp>
      <p:pic>
        <p:nvPicPr>
          <p:cNvPr id="67" name="Image 3"/>
          <p:cNvPicPr>
            <a:picLocks xmlns:a="http://schemas.openxmlformats.org/drawingml/2006/main" noChangeAspect="1"/>
          </p:cNvPicPr>
          <p:nvPr/>
        </p:nvPicPr>
        <p:blipFill>
          <a:blip xmlns:r="http://schemas.openxmlformats.org/officeDocument/2006/relationships" xmlns:a="http://schemas.openxmlformats.org/drawingml/2006/main" r:embed="Rece55d5dee004fe0"/>
          <a:stretch xmlns:a="http://schemas.openxmlformats.org/drawingml/2006/main">
            <a:fillRect l="0" t="0" r="0" b="0"/>
          </a:stretch>
        </p:blipFill>
        <p:spPr>
          <a:xfrm xmlns:a="http://schemas.openxmlformats.org/drawingml/2006/main">
            <a:off x="795162" y="3437778"/>
            <a:ext cx="201900" cy="201900"/>
          </a:xfrm>
          <a:prstGeom xmlns:a="http://schemas.openxmlformats.org/drawingml/2006/main" prst="rect">
            <a:avLst/>
          </a:prstGeom>
        </p:spPr>
      </p:pic>
      <p:sp>
        <p:nvSpPr>
          <p:cNvPr id="25" name="Text 19">
            <a:extLst xmlns:a="http://schemas.openxmlformats.org/drawingml/2006/main">
              <a:ext uri="{FF2B5EF4-FFF2-40B4-BE49-F238E27FC236}">
                <a16:creationId xmlns:a16="http://schemas.microsoft.com/office/drawing/2014/main" id="{1D12B234-B66A-458C-A191-EB85401E54E1}"/>
              </a:ext>
            </a:extLst>
          </p:cNvPr>
          <p:cNvSpPr>
            <a:spLocks xmlns:a="http://schemas.openxmlformats.org/drawingml/2006/main" noGrp="1"/>
          </p:cNvSpPr>
          <p:nvPr/>
        </p:nvSpPr>
        <p:spPr>
          <a:xfrm xmlns:a="http://schemas.openxmlformats.org/drawingml/2006/main">
            <a:off x="1234440" y="3383280"/>
            <a:ext cx="2743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Tools</a:t>
            </a:r>
            <a:endParaRPr sz="1350"/>
          </a:p>
        </p:txBody>
      </p:sp>
      <p:sp>
        <p:nvSpPr>
          <p:cNvPr id="26" name="Text 20">
            <a:extLst xmlns:a="http://schemas.openxmlformats.org/drawingml/2006/main">
              <a:ext uri="{FF2B5EF4-FFF2-40B4-BE49-F238E27FC236}">
                <a16:creationId xmlns:a16="http://schemas.microsoft.com/office/drawing/2014/main" id="{24FB82AE-4E5E-48F5-BB08-0F194BF0BF0C}"/>
              </a:ext>
            </a:extLst>
          </p:cNvPr>
          <p:cNvSpPr>
            <a:spLocks xmlns:a="http://schemas.openxmlformats.org/drawingml/2006/main" noGrp="1"/>
          </p:cNvSpPr>
          <p:nvPr/>
        </p:nvSpPr>
        <p:spPr>
          <a:xfrm xmlns:a="http://schemas.openxmlformats.org/drawingml/2006/main">
            <a:off x="740664" y="3803904"/>
            <a:ext cx="320040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80">
                <a:solidFill>
                  <a:srgbClr val="24313A"/>
                </a:solidFill>
                <a:latin typeface="Calibri"/>
                <a:ea typeface="Calibri"/>
                <a:cs typeface="Calibri"/>
              </a:rPr>
              <a:t>Python 3.11 · SciPy · statsmodels · scikit-learn · Jupyter (Colab fallback)</a:t>
            </a:r>
            <a:endParaRPr sz="1080"/>
          </a:p>
        </p:txBody>
      </p:sp>
      <p:sp>
        <p:nvSpPr>
          <p:cNvPr id="27" name="Shape 21">
            <a:extLst xmlns:a="http://schemas.openxmlformats.org/drawingml/2006/main">
              <a:ext uri="{FF2B5EF4-FFF2-40B4-BE49-F238E27FC236}">
                <a16:creationId xmlns:a16="http://schemas.microsoft.com/office/drawing/2014/main" id="{931AFA18-ECCC-43D1-8F66-8DC3D9260F64}"/>
              </a:ext>
            </a:extLst>
          </p:cNvPr>
          <p:cNvSpPr>
            <a:spLocks xmlns:a="http://schemas.openxmlformats.org/drawingml/2006/main" noGrp="1"/>
          </p:cNvSpPr>
          <p:nvPr/>
        </p:nvSpPr>
        <p:spPr>
          <a:xfrm xmlns:a="http://schemas.openxmlformats.org/drawingml/2006/main">
            <a:off x="4297680" y="3145536"/>
            <a:ext cx="3657600" cy="1417320"/>
          </a:xfrm>
          <a:prstGeom xmlns:a="http://schemas.openxmlformats.org/drawingml/2006/main" prst="roundRect">
            <a:avLst>
              <a:gd name="adj" fmla="val 5806"/>
            </a:avLst>
          </a:prstGeom>
          <a:solidFill xmlns:a="http://schemas.openxmlformats.org/drawingml/2006/main">
            <a:srgbClr val="F3F8F9"/>
          </a:solidFill>
        </p:spPr>
      </p:sp>
      <p:sp>
        <p:nvSpPr>
          <p:cNvPr id="28" name="Shape 22">
            <a:extLst xmlns:a="http://schemas.openxmlformats.org/drawingml/2006/main">
              <a:ext uri="{FF2B5EF4-FFF2-40B4-BE49-F238E27FC236}">
                <a16:creationId xmlns:a16="http://schemas.microsoft.com/office/drawing/2014/main" id="{F2A584DC-F49C-46DD-88D5-75F8B64E2690}"/>
              </a:ext>
            </a:extLst>
          </p:cNvPr>
          <p:cNvSpPr>
            <a:spLocks xmlns:a="http://schemas.openxmlformats.org/drawingml/2006/main" noGrp="1"/>
          </p:cNvSpPr>
          <p:nvPr/>
        </p:nvSpPr>
        <p:spPr>
          <a:xfrm xmlns:a="http://schemas.openxmlformats.org/drawingml/2006/main">
            <a:off x="4480560" y="3328416"/>
            <a:ext cx="420624" cy="420624"/>
          </a:xfrm>
          <a:prstGeom xmlns:a="http://schemas.openxmlformats.org/drawingml/2006/main" prst="ellipse">
            <a:avLst/>
          </a:prstGeom>
          <a:solidFill xmlns:a="http://schemas.openxmlformats.org/drawingml/2006/main">
            <a:srgbClr val="0E7C86"/>
          </a:solidFill>
        </p:spPr>
      </p:sp>
      <p:pic>
        <p:nvPicPr>
          <p:cNvPr id="72" name="Image 4"/>
          <p:cNvPicPr>
            <a:picLocks xmlns:a="http://schemas.openxmlformats.org/drawingml/2006/main" noChangeAspect="1"/>
          </p:cNvPicPr>
          <p:nvPr/>
        </p:nvPicPr>
        <p:blipFill>
          <a:blip xmlns:r="http://schemas.openxmlformats.org/officeDocument/2006/relationships" xmlns:a="http://schemas.openxmlformats.org/drawingml/2006/main" r:embed="Rfa11988043384bf9"/>
          <a:stretch xmlns:a="http://schemas.openxmlformats.org/drawingml/2006/main">
            <a:fillRect l="0" t="0" r="0" b="0"/>
          </a:stretch>
        </p:blipFill>
        <p:spPr>
          <a:xfrm xmlns:a="http://schemas.openxmlformats.org/drawingml/2006/main">
            <a:off x="4589922" y="3437778"/>
            <a:ext cx="201900" cy="201900"/>
          </a:xfrm>
          <a:prstGeom xmlns:a="http://schemas.openxmlformats.org/drawingml/2006/main" prst="rect">
            <a:avLst/>
          </a:prstGeom>
        </p:spPr>
      </p:pic>
      <p:sp>
        <p:nvSpPr>
          <p:cNvPr id="30" name="Text 23">
            <a:extLst xmlns:a="http://schemas.openxmlformats.org/drawingml/2006/main">
              <a:ext uri="{FF2B5EF4-FFF2-40B4-BE49-F238E27FC236}">
                <a16:creationId xmlns:a16="http://schemas.microsoft.com/office/drawing/2014/main" id="{D1F66FDF-437F-4010-BA9F-3B0852AFAD29}"/>
              </a:ext>
            </a:extLst>
          </p:cNvPr>
          <p:cNvSpPr>
            <a:spLocks xmlns:a="http://schemas.openxmlformats.org/drawingml/2006/main" noGrp="1"/>
          </p:cNvSpPr>
          <p:nvPr/>
        </p:nvSpPr>
        <p:spPr>
          <a:xfrm xmlns:a="http://schemas.openxmlformats.org/drawingml/2006/main">
            <a:off x="5029200" y="3383280"/>
            <a:ext cx="2743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Assessment</a:t>
            </a:r>
            <a:endParaRPr sz="1350"/>
          </a:p>
        </p:txBody>
      </p:sp>
      <p:sp>
        <p:nvSpPr>
          <p:cNvPr id="31" name="Text 24">
            <a:extLst xmlns:a="http://schemas.openxmlformats.org/drawingml/2006/main">
              <a:ext uri="{FF2B5EF4-FFF2-40B4-BE49-F238E27FC236}">
                <a16:creationId xmlns:a16="http://schemas.microsoft.com/office/drawing/2014/main" id="{B24A8E09-9DDF-45AE-ACAC-7D17B7CA337D}"/>
              </a:ext>
            </a:extLst>
          </p:cNvPr>
          <p:cNvSpPr>
            <a:spLocks xmlns:a="http://schemas.openxmlformats.org/drawingml/2006/main" noGrp="1"/>
          </p:cNvSpPr>
          <p:nvPr/>
        </p:nvSpPr>
        <p:spPr>
          <a:xfrm xmlns:a="http://schemas.openxmlformats.org/drawingml/2006/main">
            <a:off x="4535424" y="3803904"/>
            <a:ext cx="320040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80">
                <a:solidFill>
                  <a:srgbClr val="24313A"/>
                </a:solidFill>
                <a:latin typeface="Calibri"/>
                <a:ea typeface="Calibri"/>
                <a:cs typeface="Calibri"/>
              </a:rPr>
              <a:t>7 labs (30%) · 2 practical assessments (20%) · quiz (10%) · capstone (40%)</a:t>
            </a:r>
            <a:endParaRPr sz="1080"/>
          </a:p>
        </p:txBody>
      </p:sp>
      <p:sp>
        <p:nvSpPr>
          <p:cNvPr id="32" name="Shape 25">
            <a:extLst xmlns:a="http://schemas.openxmlformats.org/drawingml/2006/main">
              <a:ext uri="{FF2B5EF4-FFF2-40B4-BE49-F238E27FC236}">
                <a16:creationId xmlns:a16="http://schemas.microsoft.com/office/drawing/2014/main" id="{FF189DC8-2289-4DA7-B04F-F00B4B331686}"/>
              </a:ext>
            </a:extLst>
          </p:cNvPr>
          <p:cNvSpPr>
            <a:spLocks xmlns:a="http://schemas.openxmlformats.org/drawingml/2006/main" noGrp="1"/>
          </p:cNvSpPr>
          <p:nvPr/>
        </p:nvSpPr>
        <p:spPr>
          <a:xfrm xmlns:a="http://schemas.openxmlformats.org/drawingml/2006/main">
            <a:off x="8092440" y="3145536"/>
            <a:ext cx="3657600" cy="1417320"/>
          </a:xfrm>
          <a:prstGeom xmlns:a="http://schemas.openxmlformats.org/drawingml/2006/main" prst="roundRect">
            <a:avLst>
              <a:gd name="adj" fmla="val 5806"/>
            </a:avLst>
          </a:prstGeom>
          <a:solidFill xmlns:a="http://schemas.openxmlformats.org/drawingml/2006/main">
            <a:srgbClr val="F3F8F9"/>
          </a:solidFill>
        </p:spPr>
      </p:sp>
      <p:sp>
        <p:nvSpPr>
          <p:cNvPr id="33" name="Shape 26">
            <a:extLst xmlns:a="http://schemas.openxmlformats.org/drawingml/2006/main">
              <a:ext uri="{FF2B5EF4-FFF2-40B4-BE49-F238E27FC236}">
                <a16:creationId xmlns:a16="http://schemas.microsoft.com/office/drawing/2014/main" id="{5A970739-8852-435F-B77D-0A1467027F10}"/>
              </a:ext>
            </a:extLst>
          </p:cNvPr>
          <p:cNvSpPr>
            <a:spLocks xmlns:a="http://schemas.openxmlformats.org/drawingml/2006/main" noGrp="1"/>
          </p:cNvSpPr>
          <p:nvPr/>
        </p:nvSpPr>
        <p:spPr>
          <a:xfrm xmlns:a="http://schemas.openxmlformats.org/drawingml/2006/main">
            <a:off x="8275320" y="3328416"/>
            <a:ext cx="420624" cy="420624"/>
          </a:xfrm>
          <a:prstGeom xmlns:a="http://schemas.openxmlformats.org/drawingml/2006/main" prst="ellipse">
            <a:avLst/>
          </a:prstGeom>
          <a:solidFill xmlns:a="http://schemas.openxmlformats.org/drawingml/2006/main">
            <a:srgbClr val="0E7C86"/>
          </a:solidFill>
        </p:spPr>
      </p:sp>
      <p:pic>
        <p:nvPicPr>
          <p:cNvPr id="77" name="Image 5"/>
          <p:cNvPicPr>
            <a:picLocks xmlns:a="http://schemas.openxmlformats.org/drawingml/2006/main" noChangeAspect="1"/>
          </p:cNvPicPr>
          <p:nvPr/>
        </p:nvPicPr>
        <p:blipFill>
          <a:blip xmlns:r="http://schemas.openxmlformats.org/officeDocument/2006/relationships" xmlns:a="http://schemas.openxmlformats.org/drawingml/2006/main" r:embed="Rba995ef0dba044c6"/>
          <a:stretch xmlns:a="http://schemas.openxmlformats.org/drawingml/2006/main">
            <a:fillRect l="0" t="0" r="0" b="0"/>
          </a:stretch>
        </p:blipFill>
        <p:spPr>
          <a:xfrm xmlns:a="http://schemas.openxmlformats.org/drawingml/2006/main">
            <a:off x="8384682" y="3437778"/>
            <a:ext cx="201900" cy="201900"/>
          </a:xfrm>
          <a:prstGeom xmlns:a="http://schemas.openxmlformats.org/drawingml/2006/main" prst="rect">
            <a:avLst/>
          </a:prstGeom>
        </p:spPr>
      </p:pic>
      <p:sp>
        <p:nvSpPr>
          <p:cNvPr id="35" name="Text 27">
            <a:extLst xmlns:a="http://schemas.openxmlformats.org/drawingml/2006/main">
              <a:ext uri="{FF2B5EF4-FFF2-40B4-BE49-F238E27FC236}">
                <a16:creationId xmlns:a16="http://schemas.microsoft.com/office/drawing/2014/main" id="{68BC9FC1-4C79-4F44-99F5-52F6D84B6A95}"/>
              </a:ext>
            </a:extLst>
          </p:cNvPr>
          <p:cNvSpPr>
            <a:spLocks xmlns:a="http://schemas.openxmlformats.org/drawingml/2006/main" noGrp="1"/>
          </p:cNvSpPr>
          <p:nvPr/>
        </p:nvSpPr>
        <p:spPr>
          <a:xfrm xmlns:a="http://schemas.openxmlformats.org/drawingml/2006/main">
            <a:off x="8823960" y="3383280"/>
            <a:ext cx="2743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Stackability</a:t>
            </a:r>
            <a:endParaRPr sz="1350"/>
          </a:p>
        </p:txBody>
      </p:sp>
      <p:sp>
        <p:nvSpPr>
          <p:cNvPr id="36" name="Text 28">
            <a:extLst xmlns:a="http://schemas.openxmlformats.org/drawingml/2006/main">
              <a:ext uri="{FF2B5EF4-FFF2-40B4-BE49-F238E27FC236}">
                <a16:creationId xmlns:a16="http://schemas.microsoft.com/office/drawing/2014/main" id="{BD4EC29D-AB32-4054-806D-7AED73896C75}"/>
              </a:ext>
            </a:extLst>
          </p:cNvPr>
          <p:cNvSpPr>
            <a:spLocks xmlns:a="http://schemas.openxmlformats.org/drawingml/2006/main" noGrp="1"/>
          </p:cNvSpPr>
          <p:nvPr/>
        </p:nvSpPr>
        <p:spPr>
          <a:xfrm xmlns:a="http://schemas.openxmlformats.org/drawingml/2006/main">
            <a:off x="8330184" y="3803904"/>
            <a:ext cx="320040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80">
                <a:solidFill>
                  <a:srgbClr val="24313A"/>
                </a:solidFill>
                <a:latin typeface="Calibri"/>
                <a:ea typeface="Calibri"/>
                <a:cs typeface="Calibri"/>
              </a:rPr>
              <a:t>Core Statistics badge · required for all Specialist DS modules · next: SDA-DSC-112 / SDA-AIE-111</a:t>
            </a:r>
            <a:endParaRPr sz="1080"/>
          </a:p>
        </p:txBody>
      </p:sp>
      <p:sp>
        <p:nvSpPr>
          <p:cNvPr id="37" name="Shape 29">
            <a:extLst xmlns:a="http://schemas.openxmlformats.org/drawingml/2006/main">
              <a:ext uri="{FF2B5EF4-FFF2-40B4-BE49-F238E27FC236}">
                <a16:creationId xmlns:a16="http://schemas.microsoft.com/office/drawing/2014/main" id="{6A1E6B34-DC48-4E8D-9345-84D577F08CDA}"/>
              </a:ext>
            </a:extLst>
          </p:cNvPr>
          <p:cNvSpPr>
            <a:spLocks xmlns:a="http://schemas.openxmlformats.org/drawingml/2006/main" noGrp="1"/>
          </p:cNvSpPr>
          <p:nvPr/>
        </p:nvSpPr>
        <p:spPr>
          <a:xfrm xmlns:a="http://schemas.openxmlformats.org/drawingml/2006/main">
            <a:off x="502920" y="4855464"/>
            <a:ext cx="11201400" cy="1234440"/>
          </a:xfrm>
          <a:prstGeom xmlns:a="http://schemas.openxmlformats.org/drawingml/2006/main" prst="roundRect">
            <a:avLst>
              <a:gd name="adj" fmla="val 6667"/>
            </a:avLst>
          </a:prstGeom>
          <a:solidFill xmlns:a="http://schemas.openxmlformats.org/drawingml/2006/main">
            <a:srgbClr val="0B3140"/>
          </a:solidFill>
        </p:spPr>
      </p:sp>
      <p:sp>
        <p:nvSpPr>
          <p:cNvPr id="38" name="Text 30">
            <a:extLst xmlns:a="http://schemas.openxmlformats.org/drawingml/2006/main">
              <a:ext uri="{FF2B5EF4-FFF2-40B4-BE49-F238E27FC236}">
                <a16:creationId xmlns:a16="http://schemas.microsoft.com/office/drawing/2014/main" id="{398731A7-50A5-4C60-B6D9-E1B536550AA1}"/>
              </a:ext>
            </a:extLst>
          </p:cNvPr>
          <p:cNvSpPr>
            <a:spLocks xmlns:a="http://schemas.openxmlformats.org/drawingml/2006/main" noGrp="1"/>
          </p:cNvSpPr>
          <p:nvPr/>
        </p:nvSpPr>
        <p:spPr>
          <a:xfrm xmlns:a="http://schemas.openxmlformats.org/drawingml/2006/main">
            <a:off x="868680" y="5084064"/>
            <a:ext cx="10515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300" b="1">
                <a:solidFill>
                  <a:srgbClr val="6FB3BC"/>
                </a:solidFill>
                <a:latin typeface="Calibri"/>
                <a:ea typeface="Calibri"/>
                <a:cs typeface="Calibri"/>
              </a:rPr>
              <a:t>The design principle:  </a:t>
            </a:r>
            <a:r>
              <a:rPr sz="1300">
                <a:solidFill>
                  <a:srgbClr val="FFFFFF"/>
                </a:solidFill>
                <a:latin typeface="Calibri"/>
                <a:ea typeface="Calibri"/>
                <a:cs typeface="Calibri"/>
              </a:rPr>
              <a:t>every module analyses the same dataset and every lab adds a component to one continuous investigation — so by Day 4 each participant already owns a complete, defensible statistical analysis.</a:t>
            </a:r>
            <a:endParaRPr sz="1300"/>
          </a:p>
        </p:txBody>
      </p:sp>
    </p:spTree>
    <p:extLst>
      <p:ext uri="{BB962C8B-B14F-4D97-AF65-F5344CB8AC3E}">
        <p14:creationId xmlns:p14="http://schemas.microsoft.com/office/powerpoint/2010/main" val="143942625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F11804C-57CD-4922-BAE5-43938C968329}"/>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F28FF0AE-32F5-472D-874F-189A0B882D62}"/>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3</a:t>
            </a:r>
            <a:endParaRPr sz="900"/>
          </a:p>
        </p:txBody>
      </p:sp>
      <p:sp>
        <p:nvSpPr>
          <p:cNvPr id="4" name="Shape 2">
            <a:extLst xmlns:a="http://schemas.openxmlformats.org/drawingml/2006/main">
              <a:ext uri="{FF2B5EF4-FFF2-40B4-BE49-F238E27FC236}">
                <a16:creationId xmlns:a16="http://schemas.microsoft.com/office/drawing/2014/main" id="{070289E7-4832-478C-ACD6-FC6479515F6C}"/>
              </a:ext>
            </a:extLst>
          </p:cNvPr>
          <p:cNvSpPr>
            <a:spLocks xmlns:a="http://schemas.openxmlformats.org/drawingml/2006/main" noGrp="1"/>
          </p:cNvSpPr>
          <p:nvPr/>
        </p:nvSpPr>
        <p:spPr>
          <a:xfrm xmlns:a="http://schemas.openxmlformats.org/drawingml/2006/main">
            <a:off x="502920" y="384048"/>
            <a:ext cx="1756562"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8627EC92-AE16-43CD-81E7-D6CFE5F35382}"/>
              </a:ext>
            </a:extLst>
          </p:cNvPr>
          <p:cNvSpPr>
            <a:spLocks xmlns:a="http://schemas.openxmlformats.org/drawingml/2006/main" noGrp="1"/>
          </p:cNvSpPr>
          <p:nvPr/>
        </p:nvSpPr>
        <p:spPr>
          <a:xfrm xmlns:a="http://schemas.openxmlformats.org/drawingml/2006/main">
            <a:off x="502920" y="384048"/>
            <a:ext cx="175656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THE GOLDEN THREAD</a:t>
            </a:r>
            <a:endParaRPr sz="1050"/>
          </a:p>
        </p:txBody>
      </p:sp>
      <p:sp>
        <p:nvSpPr>
          <p:cNvPr id="6" name="Text 4">
            <a:extLst xmlns:a="http://schemas.openxmlformats.org/drawingml/2006/main">
              <a:ext uri="{FF2B5EF4-FFF2-40B4-BE49-F238E27FC236}">
                <a16:creationId xmlns:a16="http://schemas.microsoft.com/office/drawing/2014/main" id="{B3B2DF5C-55CA-4497-A9D1-AB23F25D084A}"/>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Mawid Analytics — one dataset, one question</a:t>
            </a:r>
            <a:endParaRPr sz="2800"/>
          </a:p>
        </p:txBody>
      </p:sp>
      <p:sp>
        <p:nvSpPr>
          <p:cNvPr id="7" name="Text 5">
            <a:extLst xmlns:a="http://schemas.openxmlformats.org/drawingml/2006/main">
              <a:ext uri="{FF2B5EF4-FFF2-40B4-BE49-F238E27FC236}">
                <a16:creationId xmlns:a16="http://schemas.microsoft.com/office/drawing/2014/main" id="{10B4498C-2D94-4B79-B418-4616DBBB0CFC}"/>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A synthetic national primary-care appointments dataset, modelled on a Ministry of Health clinic-booking platform</a:t>
            </a:r>
            <a:endParaRPr sz="1350"/>
          </a:p>
        </p:txBody>
      </p:sp>
      <p:sp>
        <p:nvSpPr>
          <p:cNvPr id="8" name="Shape 6">
            <a:extLst xmlns:a="http://schemas.openxmlformats.org/drawingml/2006/main">
              <a:ext uri="{FF2B5EF4-FFF2-40B4-BE49-F238E27FC236}">
                <a16:creationId xmlns:a16="http://schemas.microsoft.com/office/drawing/2014/main" id="{F07B065E-0E60-4B85-A113-F6F7D2B542ED}"/>
              </a:ext>
            </a:extLst>
          </p:cNvPr>
          <p:cNvSpPr>
            <a:spLocks xmlns:a="http://schemas.openxmlformats.org/drawingml/2006/main" noGrp="1"/>
          </p:cNvSpPr>
          <p:nvPr/>
        </p:nvSpPr>
        <p:spPr>
          <a:xfrm xmlns:a="http://schemas.openxmlformats.org/drawingml/2006/main">
            <a:off x="502920" y="1792224"/>
            <a:ext cx="6766560" cy="2011680"/>
          </a:xfrm>
          <a:prstGeom xmlns:a="http://schemas.openxmlformats.org/drawingml/2006/main" prst="roundRect">
            <a:avLst>
              <a:gd name="adj" fmla="val 4091"/>
            </a:avLst>
          </a:prstGeom>
          <a:solidFill xmlns:a="http://schemas.openxmlformats.org/drawingml/2006/main">
            <a:srgbClr val="0B3140"/>
          </a:solidFill>
        </p:spPr>
      </p:sp>
      <p:sp>
        <p:nvSpPr>
          <p:cNvPr id="9" name="Shape 7">
            <a:extLst xmlns:a="http://schemas.openxmlformats.org/drawingml/2006/main">
              <a:ext uri="{FF2B5EF4-FFF2-40B4-BE49-F238E27FC236}">
                <a16:creationId xmlns:a16="http://schemas.microsoft.com/office/drawing/2014/main" id="{1643A3A7-41C3-41E1-990F-6FC08792C3DB}"/>
              </a:ext>
            </a:extLst>
          </p:cNvPr>
          <p:cNvSpPr>
            <a:spLocks xmlns:a="http://schemas.openxmlformats.org/drawingml/2006/main" noGrp="1"/>
          </p:cNvSpPr>
          <p:nvPr/>
        </p:nvSpPr>
        <p:spPr>
          <a:xfrm xmlns:a="http://schemas.openxmlformats.org/drawingml/2006/main">
            <a:off x="822960" y="2112264"/>
            <a:ext cx="548640" cy="548640"/>
          </a:xfrm>
          <a:prstGeom xmlns:a="http://schemas.openxmlformats.org/drawingml/2006/main" prst="ellipse">
            <a:avLst/>
          </a:prstGeom>
          <a:solidFill xmlns:a="http://schemas.openxmlformats.org/drawingml/2006/main">
            <a:srgbClr val="C2660A"/>
          </a:solidFill>
        </p:spPr>
      </p:sp>
      <p:pic>
        <p:nvPicPr>
          <p:cNvPr id="57" name="Image 0"/>
          <p:cNvPicPr>
            <a:picLocks xmlns:a="http://schemas.openxmlformats.org/drawingml/2006/main" noChangeAspect="1"/>
          </p:cNvPicPr>
          <p:nvPr/>
        </p:nvPicPr>
        <p:blipFill>
          <a:blip xmlns:r="http://schemas.openxmlformats.org/officeDocument/2006/relationships" xmlns:a="http://schemas.openxmlformats.org/drawingml/2006/main" r:embed="R3041e616fe844ad6"/>
          <a:stretch xmlns:a="http://schemas.openxmlformats.org/drawingml/2006/main">
            <a:fillRect l="0" t="0" r="0" b="0"/>
          </a:stretch>
        </p:blipFill>
        <p:spPr>
          <a:xfrm xmlns:a="http://schemas.openxmlformats.org/drawingml/2006/main">
            <a:off x="965606" y="2254910"/>
            <a:ext cx="263347" cy="263347"/>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0BFAE4F7-4EFC-43C7-9D46-EC83A02E2F76}"/>
              </a:ext>
            </a:extLst>
          </p:cNvPr>
          <p:cNvSpPr>
            <a:spLocks xmlns:a="http://schemas.openxmlformats.org/drawingml/2006/main" noGrp="1"/>
          </p:cNvSpPr>
          <p:nvPr/>
        </p:nvSpPr>
        <p:spPr>
          <a:xfrm xmlns:a="http://schemas.openxmlformats.org/drawingml/2006/main">
            <a:off x="1554480" y="2157984"/>
            <a:ext cx="5394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
                <a:solidFill>
                  <a:srgbClr val="6FB3BC"/>
                </a:solidFill>
                <a:latin typeface="Calibri"/>
                <a:ea typeface="Calibri"/>
                <a:cs typeface="Calibri"/>
              </a:rPr>
              <a:t>The Deputy Minister's question</a:t>
            </a:r>
            <a:endParaRPr sz="1200"/>
          </a:p>
        </p:txBody>
      </p:sp>
      <p:sp>
        <p:nvSpPr>
          <p:cNvPr id="12" name="Text 9">
            <a:extLst xmlns:a="http://schemas.openxmlformats.org/drawingml/2006/main">
              <a:ext uri="{FF2B5EF4-FFF2-40B4-BE49-F238E27FC236}">
                <a16:creationId xmlns:a16="http://schemas.microsoft.com/office/drawing/2014/main" id="{B32AB7A1-560A-4DE8-A0E9-E3939D21B62C}"/>
              </a:ext>
            </a:extLst>
          </p:cNvPr>
          <p:cNvSpPr>
            <a:spLocks xmlns:a="http://schemas.openxmlformats.org/drawingml/2006/main" noGrp="1"/>
          </p:cNvSpPr>
          <p:nvPr/>
        </p:nvSpPr>
        <p:spPr>
          <a:xfrm xmlns:a="http://schemas.openxmlformats.org/drawingml/2006/main">
            <a:off x="1554480" y="2569464"/>
            <a:ext cx="548640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i="1">
                <a:solidFill>
                  <a:srgbClr val="FFFFFF"/>
                </a:solidFill>
                <a:latin typeface="Cambria"/>
                <a:ea typeface="Cambria"/>
                <a:cs typeface="Cambria"/>
              </a:rPr>
              <a:t>“How should the Ministry cut appointment no-shows —</a:t>
            </a:r>
            <a:endParaRPr sz="1700"/>
          </a:p>
          <a:p xmlns:a="http://schemas.openxmlformats.org/drawingml/2006/main">
            <a:pPr marL="0" indent="0">
              <a:buNone/>
            </a:pPr>
            <a:r>
              <a:rPr sz="1700" b="1" i="1">
                <a:solidFill>
                  <a:srgbClr val="FFFFFF"/>
                </a:solidFill>
                <a:latin typeface="Cambria"/>
                <a:ea typeface="Cambria"/>
                <a:cs typeface="Cambria"/>
              </a:rPr>
              <a:t>without harming access?”</a:t>
            </a:r>
            <a:endParaRPr sz="1700"/>
          </a:p>
        </p:txBody>
      </p:sp>
      <p:sp>
        <p:nvSpPr>
          <p:cNvPr id="13" name="Shape 10">
            <a:extLst xmlns:a="http://schemas.openxmlformats.org/drawingml/2006/main">
              <a:ext uri="{FF2B5EF4-FFF2-40B4-BE49-F238E27FC236}">
                <a16:creationId xmlns:a16="http://schemas.microsoft.com/office/drawing/2014/main" id="{0D6E06FC-EE8A-4C6A-9ED0-FAA162D4B63F}"/>
              </a:ext>
            </a:extLst>
          </p:cNvPr>
          <p:cNvSpPr>
            <a:spLocks xmlns:a="http://schemas.openxmlformats.org/drawingml/2006/main" noGrp="1"/>
          </p:cNvSpPr>
          <p:nvPr/>
        </p:nvSpPr>
        <p:spPr>
          <a:xfrm xmlns:a="http://schemas.openxmlformats.org/drawingml/2006/main">
            <a:off x="7452360" y="1792224"/>
            <a:ext cx="4206240" cy="2011680"/>
          </a:xfrm>
          <a:prstGeom xmlns:a="http://schemas.openxmlformats.org/drawingml/2006/main" prst="roundRect">
            <a:avLst>
              <a:gd name="adj" fmla="val 4091"/>
            </a:avLst>
          </a:prstGeom>
          <a:solidFill xmlns:a="http://schemas.openxmlformats.org/drawingml/2006/main">
            <a:srgbClr val="E7F2F3"/>
          </a:solidFill>
        </p:spPr>
      </p:sp>
      <p:sp>
        <p:nvSpPr>
          <p:cNvPr id="14" name="Shape 11">
            <a:extLst xmlns:a="http://schemas.openxmlformats.org/drawingml/2006/main">
              <a:ext uri="{FF2B5EF4-FFF2-40B4-BE49-F238E27FC236}">
                <a16:creationId xmlns:a16="http://schemas.microsoft.com/office/drawing/2014/main" id="{F1C3D816-9BF5-48B3-B86D-6074D8277353}"/>
              </a:ext>
            </a:extLst>
          </p:cNvPr>
          <p:cNvSpPr>
            <a:spLocks xmlns:a="http://schemas.openxmlformats.org/drawingml/2006/main" noGrp="1"/>
          </p:cNvSpPr>
          <p:nvPr/>
        </p:nvSpPr>
        <p:spPr>
          <a:xfrm xmlns:a="http://schemas.openxmlformats.org/drawingml/2006/main">
            <a:off x="7726680" y="2020824"/>
            <a:ext cx="402336" cy="402336"/>
          </a:xfrm>
          <a:prstGeom xmlns:a="http://schemas.openxmlformats.org/drawingml/2006/main" prst="ellipse">
            <a:avLst/>
          </a:prstGeom>
          <a:solidFill xmlns:a="http://schemas.openxmlformats.org/drawingml/2006/main">
            <a:srgbClr val="0A5C64"/>
          </a:solidFill>
        </p:spPr>
      </p:sp>
      <p:pic>
        <p:nvPicPr>
          <p:cNvPr id="62" name="Image 1"/>
          <p:cNvPicPr>
            <a:picLocks xmlns:a="http://schemas.openxmlformats.org/drawingml/2006/main" noChangeAspect="1"/>
          </p:cNvPicPr>
          <p:nvPr/>
        </p:nvPicPr>
        <p:blipFill>
          <a:blip xmlns:r="http://schemas.openxmlformats.org/officeDocument/2006/relationships" xmlns:a="http://schemas.openxmlformats.org/drawingml/2006/main" r:embed="R6542bdfbbb4449dc"/>
          <a:stretch xmlns:a="http://schemas.openxmlformats.org/drawingml/2006/main">
            <a:fillRect l="0" t="0" r="0" b="0"/>
          </a:stretch>
        </p:blipFill>
        <p:spPr>
          <a:xfrm xmlns:a="http://schemas.openxmlformats.org/drawingml/2006/main">
            <a:off x="7831287" y="2125431"/>
            <a:ext cx="193121" cy="193121"/>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262D39E8-0997-4A3A-961A-D8E650351C0F}"/>
              </a:ext>
            </a:extLst>
          </p:cNvPr>
          <p:cNvSpPr>
            <a:spLocks xmlns:a="http://schemas.openxmlformats.org/drawingml/2006/main" noGrp="1"/>
          </p:cNvSpPr>
          <p:nvPr/>
        </p:nvSpPr>
        <p:spPr>
          <a:xfrm xmlns:a="http://schemas.openxmlformats.org/drawingml/2006/main">
            <a:off x="8247888" y="2075688"/>
            <a:ext cx="3291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C64"/>
                </a:solidFill>
                <a:latin typeface="Courier New"/>
                <a:ea typeface="Courier New"/>
                <a:cs typeface="Courier New"/>
              </a:rPr>
              <a:t>data/clinic_visits.csv</a:t>
            </a:r>
            <a:endParaRPr sz="1250"/>
          </a:p>
        </p:txBody>
      </p:sp>
      <p:sp>
        <p:nvSpPr>
          <p:cNvPr id="17" name="Text 13">
            <a:extLst xmlns:a="http://schemas.openxmlformats.org/drawingml/2006/main">
              <a:ext uri="{FF2B5EF4-FFF2-40B4-BE49-F238E27FC236}">
                <a16:creationId xmlns:a16="http://schemas.microsoft.com/office/drawing/2014/main" id="{AD536C34-1A76-44D3-A132-D3E3E3C47255}"/>
              </a:ext>
            </a:extLst>
          </p:cNvPr>
          <p:cNvSpPr>
            <a:spLocks xmlns:a="http://schemas.openxmlformats.org/drawingml/2006/main" noGrp="1"/>
          </p:cNvSpPr>
          <p:nvPr/>
        </p:nvSpPr>
        <p:spPr>
          <a:xfrm xmlns:a="http://schemas.openxmlformats.org/drawingml/2006/main">
            <a:off x="7772400" y="2523744"/>
            <a:ext cx="370332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400"/>
              </a:spcAft>
              <a:buSzPct val="100000"/>
              <a:buChar char="•"/>
            </a:pPr>
            <a:r>
              <a:rPr sz="1100">
                <a:solidFill>
                  <a:srgbClr val="24313A"/>
                </a:solidFill>
                <a:latin typeface="Calibri"/>
                <a:ea typeface="Calibri"/>
                <a:cs typeface="Calibri"/>
              </a:rPr>
              <a:t>50,000 appointments · 15 columns</a:t>
            </a:r>
            <a:endParaRPr sz="1100"/>
          </a:p>
          <a:p xmlns:a="http://schemas.openxmlformats.org/drawingml/2006/main">
            <a:pPr marL="152400" indent="-152400">
              <a:lnSpc>
                <a:spcPct val="104000"/>
              </a:lnSpc>
              <a:spcAft>
                <a:spcPts val="400"/>
              </a:spcAft>
              <a:buSzPct val="100000"/>
              <a:buChar char="•"/>
            </a:pPr>
            <a:r>
              <a:rPr sz="1100">
                <a:solidFill>
                  <a:srgbClr val="24313A"/>
                </a:solidFill>
                <a:latin typeface="Calibri"/>
                <a:ea typeface="Calibri"/>
                <a:cs typeface="Calibri"/>
              </a:rPr>
              <a:t>13 regions · 120 clinics · urban / rural</a:t>
            </a:r>
            <a:endParaRPr sz="1100"/>
          </a:p>
          <a:p xmlns:a="http://schemas.openxmlformats.org/drawingml/2006/main">
            <a:pPr marL="152400" indent="-152400">
              <a:lnSpc>
                <a:spcPct val="104000"/>
              </a:lnSpc>
              <a:spcAft>
                <a:spcPts val="400"/>
              </a:spcAft>
              <a:buSzPct val="100000"/>
              <a:buChar char="•"/>
            </a:pPr>
            <a:r>
              <a:rPr sz="1100">
                <a:solidFill>
                  <a:srgbClr val="24313A"/>
                </a:solidFill>
                <a:latin typeface="Calibri"/>
                <a:ea typeface="Calibri"/>
                <a:cs typeface="Calibri"/>
              </a:rPr>
              <a:t>Outcomes: no_show, wait_time_min</a:t>
            </a:r>
            <a:endParaRPr sz="1100"/>
          </a:p>
        </p:txBody>
      </p:sp>
      <p:sp>
        <p:nvSpPr>
          <p:cNvPr id="18" name="Text 14">
            <a:extLst xmlns:a="http://schemas.openxmlformats.org/drawingml/2006/main">
              <a:ext uri="{FF2B5EF4-FFF2-40B4-BE49-F238E27FC236}">
                <a16:creationId xmlns:a16="http://schemas.microsoft.com/office/drawing/2014/main" id="{45901750-C270-4381-98A1-9DA1E9BDC5DB}"/>
              </a:ext>
            </a:extLst>
          </p:cNvPr>
          <p:cNvSpPr>
            <a:spLocks xmlns:a="http://schemas.openxmlformats.org/drawingml/2006/main" noGrp="1"/>
          </p:cNvSpPr>
          <p:nvPr/>
        </p:nvSpPr>
        <p:spPr>
          <a:xfrm xmlns:a="http://schemas.openxmlformats.org/drawingml/2006/main">
            <a:off x="502920" y="4032504"/>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B3140"/>
                </a:solidFill>
                <a:latin typeface="Calibri"/>
                <a:ea typeface="Calibri"/>
                <a:cs typeface="Calibri"/>
              </a:rPr>
              <a:t>Seven modules, one continuous investigation:</a:t>
            </a:r>
            <a:endParaRPr sz="1250"/>
          </a:p>
        </p:txBody>
      </p:sp>
      <p:sp>
        <p:nvSpPr>
          <p:cNvPr id="19" name="Shape 15">
            <a:extLst xmlns:a="http://schemas.openxmlformats.org/drawingml/2006/main">
              <a:ext uri="{FF2B5EF4-FFF2-40B4-BE49-F238E27FC236}">
                <a16:creationId xmlns:a16="http://schemas.microsoft.com/office/drawing/2014/main" id="{D36F2AED-1101-4738-B936-92F48E59AD0C}"/>
              </a:ext>
            </a:extLst>
          </p:cNvPr>
          <p:cNvSpPr>
            <a:spLocks xmlns:a="http://schemas.openxmlformats.org/drawingml/2006/main" noGrp="1"/>
          </p:cNvSpPr>
          <p:nvPr/>
        </p:nvSpPr>
        <p:spPr>
          <a:xfrm xmlns:a="http://schemas.openxmlformats.org/drawingml/2006/main">
            <a:off x="502920" y="4443984"/>
            <a:ext cx="1481328" cy="1143000"/>
          </a:xfrm>
          <a:prstGeom xmlns:a="http://schemas.openxmlformats.org/drawingml/2006/main" prst="roundRect">
            <a:avLst>
              <a:gd name="adj" fmla="val 7200"/>
            </a:avLst>
          </a:prstGeom>
          <a:solidFill xmlns:a="http://schemas.openxmlformats.org/drawingml/2006/main">
            <a:srgbClr val="F3F8F9"/>
          </a:solidFill>
        </p:spPr>
      </p:sp>
      <p:sp>
        <p:nvSpPr>
          <p:cNvPr id="20" name="Text 16">
            <a:extLst xmlns:a="http://schemas.openxmlformats.org/drawingml/2006/main">
              <a:ext uri="{FF2B5EF4-FFF2-40B4-BE49-F238E27FC236}">
                <a16:creationId xmlns:a16="http://schemas.microsoft.com/office/drawing/2014/main" id="{E89F66F8-2445-4F0D-8B94-CD431D3692E8}"/>
              </a:ext>
            </a:extLst>
          </p:cNvPr>
          <p:cNvSpPr>
            <a:spLocks xmlns:a="http://schemas.openxmlformats.org/drawingml/2006/main" noGrp="1"/>
          </p:cNvSpPr>
          <p:nvPr/>
        </p:nvSpPr>
        <p:spPr>
          <a:xfrm xmlns:a="http://schemas.openxmlformats.org/drawingml/2006/main">
            <a:off x="612648" y="4535424"/>
            <a:ext cx="12618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E7C86"/>
                </a:solidFill>
                <a:latin typeface="Cambria"/>
                <a:ea typeface="Cambria"/>
                <a:cs typeface="Cambria"/>
              </a:rPr>
              <a:t>M1</a:t>
            </a:r>
            <a:endParaRPr sz="1300"/>
          </a:p>
        </p:txBody>
      </p:sp>
      <p:sp>
        <p:nvSpPr>
          <p:cNvPr id="21" name="Text 17">
            <a:extLst xmlns:a="http://schemas.openxmlformats.org/drawingml/2006/main">
              <a:ext uri="{FF2B5EF4-FFF2-40B4-BE49-F238E27FC236}">
                <a16:creationId xmlns:a16="http://schemas.microsoft.com/office/drawing/2014/main" id="{7B046CEB-0D9B-4F1C-BB5F-EE688A92FC2D}"/>
              </a:ext>
            </a:extLst>
          </p:cNvPr>
          <p:cNvSpPr>
            <a:spLocks xmlns:a="http://schemas.openxmlformats.org/drawingml/2006/main" noGrp="1"/>
          </p:cNvSpPr>
          <p:nvPr/>
        </p:nvSpPr>
        <p:spPr>
          <a:xfrm xmlns:a="http://schemas.openxmlformats.org/drawingml/2006/main">
            <a:off x="612648" y="4828032"/>
            <a:ext cx="126187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60">
                <a:solidFill>
                  <a:srgbClr val="24313A"/>
                </a:solidFill>
                <a:latin typeface="Calibri"/>
                <a:ea typeface="Calibri"/>
                <a:cs typeface="Calibri"/>
              </a:rPr>
              <a:t>Model it as a random process</a:t>
            </a:r>
            <a:endParaRPr sz="960"/>
          </a:p>
        </p:txBody>
      </p:sp>
      <p:sp>
        <p:nvSpPr>
          <p:cNvPr id="22" name="Text 18">
            <a:extLst xmlns:a="http://schemas.openxmlformats.org/drawingml/2006/main">
              <a:ext uri="{FF2B5EF4-FFF2-40B4-BE49-F238E27FC236}">
                <a16:creationId xmlns:a16="http://schemas.microsoft.com/office/drawing/2014/main" id="{6A92FC20-AC71-44F4-BCDA-1180BA8EF9E1}"/>
              </a:ext>
            </a:extLst>
          </p:cNvPr>
          <p:cNvSpPr>
            <a:spLocks xmlns:a="http://schemas.openxmlformats.org/drawingml/2006/main" noGrp="1"/>
          </p:cNvSpPr>
          <p:nvPr/>
        </p:nvSpPr>
        <p:spPr>
          <a:xfrm xmlns:a="http://schemas.openxmlformats.org/drawingml/2006/main">
            <a:off x="1929384" y="4828032"/>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7C86"/>
                </a:solidFill>
                <a:latin typeface="Calibri"/>
                <a:ea typeface="Calibri"/>
                <a:cs typeface="Calibri"/>
              </a:rPr>
              <a:t>→</a:t>
            </a:r>
            <a:endParaRPr sz="1400"/>
          </a:p>
        </p:txBody>
      </p:sp>
      <p:sp>
        <p:nvSpPr>
          <p:cNvPr id="23" name="Shape 19">
            <a:extLst xmlns:a="http://schemas.openxmlformats.org/drawingml/2006/main">
              <a:ext uri="{FF2B5EF4-FFF2-40B4-BE49-F238E27FC236}">
                <a16:creationId xmlns:a16="http://schemas.microsoft.com/office/drawing/2014/main" id="{1A6FDBE5-C6E6-4837-9BC3-EC5F545E29FF}"/>
              </a:ext>
            </a:extLst>
          </p:cNvPr>
          <p:cNvSpPr>
            <a:spLocks xmlns:a="http://schemas.openxmlformats.org/drawingml/2006/main" noGrp="1"/>
          </p:cNvSpPr>
          <p:nvPr/>
        </p:nvSpPr>
        <p:spPr>
          <a:xfrm xmlns:a="http://schemas.openxmlformats.org/drawingml/2006/main">
            <a:off x="2121408" y="4443984"/>
            <a:ext cx="1481328" cy="1143000"/>
          </a:xfrm>
          <a:prstGeom xmlns:a="http://schemas.openxmlformats.org/drawingml/2006/main" prst="roundRect">
            <a:avLst>
              <a:gd name="adj" fmla="val 7200"/>
            </a:avLst>
          </a:prstGeom>
          <a:solidFill xmlns:a="http://schemas.openxmlformats.org/drawingml/2006/main">
            <a:srgbClr val="F3F8F9"/>
          </a:solidFill>
        </p:spPr>
      </p:sp>
      <p:sp>
        <p:nvSpPr>
          <p:cNvPr id="24" name="Text 20">
            <a:extLst xmlns:a="http://schemas.openxmlformats.org/drawingml/2006/main">
              <a:ext uri="{FF2B5EF4-FFF2-40B4-BE49-F238E27FC236}">
                <a16:creationId xmlns:a16="http://schemas.microsoft.com/office/drawing/2014/main" id="{78B39B6F-0B0B-4314-BD5D-55B714833AC7}"/>
              </a:ext>
            </a:extLst>
          </p:cNvPr>
          <p:cNvSpPr>
            <a:spLocks xmlns:a="http://schemas.openxmlformats.org/drawingml/2006/main" noGrp="1"/>
          </p:cNvSpPr>
          <p:nvPr/>
        </p:nvSpPr>
        <p:spPr>
          <a:xfrm xmlns:a="http://schemas.openxmlformats.org/drawingml/2006/main">
            <a:off x="2231136" y="4535424"/>
            <a:ext cx="12618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E7C86"/>
                </a:solidFill>
                <a:latin typeface="Cambria"/>
                <a:ea typeface="Cambria"/>
                <a:cs typeface="Cambria"/>
              </a:rPr>
              <a:t>M2</a:t>
            </a:r>
            <a:endParaRPr sz="1300"/>
          </a:p>
        </p:txBody>
      </p:sp>
      <p:sp>
        <p:nvSpPr>
          <p:cNvPr id="25" name="Text 21">
            <a:extLst xmlns:a="http://schemas.openxmlformats.org/drawingml/2006/main">
              <a:ext uri="{FF2B5EF4-FFF2-40B4-BE49-F238E27FC236}">
                <a16:creationId xmlns:a16="http://schemas.microsoft.com/office/drawing/2014/main" id="{53F5B743-61A6-4086-AD87-3BE63403B4FF}"/>
              </a:ext>
            </a:extLst>
          </p:cNvPr>
          <p:cNvSpPr>
            <a:spLocks xmlns:a="http://schemas.openxmlformats.org/drawingml/2006/main" noGrp="1"/>
          </p:cNvSpPr>
          <p:nvPr/>
        </p:nvSpPr>
        <p:spPr>
          <a:xfrm xmlns:a="http://schemas.openxmlformats.org/drawingml/2006/main">
            <a:off x="2231136" y="4828032"/>
            <a:ext cx="126187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60">
                <a:solidFill>
                  <a:srgbClr val="24313A"/>
                </a:solidFill>
                <a:latin typeface="Calibri"/>
                <a:ea typeface="Calibri"/>
                <a:cs typeface="Calibri"/>
              </a:rPr>
              <a:t>Describe &amp; sample it honestly</a:t>
            </a:r>
            <a:endParaRPr sz="960"/>
          </a:p>
        </p:txBody>
      </p:sp>
      <p:sp>
        <p:nvSpPr>
          <p:cNvPr id="26" name="Text 22">
            <a:extLst xmlns:a="http://schemas.openxmlformats.org/drawingml/2006/main">
              <a:ext uri="{FF2B5EF4-FFF2-40B4-BE49-F238E27FC236}">
                <a16:creationId xmlns:a16="http://schemas.microsoft.com/office/drawing/2014/main" id="{B4204B35-D0C0-4CBB-9D4B-06E3DAA937B2}"/>
              </a:ext>
            </a:extLst>
          </p:cNvPr>
          <p:cNvSpPr>
            <a:spLocks xmlns:a="http://schemas.openxmlformats.org/drawingml/2006/main" noGrp="1"/>
          </p:cNvSpPr>
          <p:nvPr/>
        </p:nvSpPr>
        <p:spPr>
          <a:xfrm xmlns:a="http://schemas.openxmlformats.org/drawingml/2006/main">
            <a:off x="3547872" y="4828032"/>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7C86"/>
                </a:solidFill>
                <a:latin typeface="Calibri"/>
                <a:ea typeface="Calibri"/>
                <a:cs typeface="Calibri"/>
              </a:rPr>
              <a:t>→</a:t>
            </a:r>
            <a:endParaRPr sz="1400"/>
          </a:p>
        </p:txBody>
      </p:sp>
      <p:sp>
        <p:nvSpPr>
          <p:cNvPr id="27" name="Shape 23">
            <a:extLst xmlns:a="http://schemas.openxmlformats.org/drawingml/2006/main">
              <a:ext uri="{FF2B5EF4-FFF2-40B4-BE49-F238E27FC236}">
                <a16:creationId xmlns:a16="http://schemas.microsoft.com/office/drawing/2014/main" id="{89066DFC-AE07-47AB-BFAD-26AF0A57E6BD}"/>
              </a:ext>
            </a:extLst>
          </p:cNvPr>
          <p:cNvSpPr>
            <a:spLocks xmlns:a="http://schemas.openxmlformats.org/drawingml/2006/main" noGrp="1"/>
          </p:cNvSpPr>
          <p:nvPr/>
        </p:nvSpPr>
        <p:spPr>
          <a:xfrm xmlns:a="http://schemas.openxmlformats.org/drawingml/2006/main">
            <a:off x="3739896" y="4443984"/>
            <a:ext cx="1481328" cy="1143000"/>
          </a:xfrm>
          <a:prstGeom xmlns:a="http://schemas.openxmlformats.org/drawingml/2006/main" prst="roundRect">
            <a:avLst>
              <a:gd name="adj" fmla="val 7200"/>
            </a:avLst>
          </a:prstGeom>
          <a:solidFill xmlns:a="http://schemas.openxmlformats.org/drawingml/2006/main">
            <a:srgbClr val="F3F8F9"/>
          </a:solidFill>
        </p:spPr>
      </p:sp>
      <p:sp>
        <p:nvSpPr>
          <p:cNvPr id="28" name="Text 24">
            <a:extLst xmlns:a="http://schemas.openxmlformats.org/drawingml/2006/main">
              <a:ext uri="{FF2B5EF4-FFF2-40B4-BE49-F238E27FC236}">
                <a16:creationId xmlns:a16="http://schemas.microsoft.com/office/drawing/2014/main" id="{377DD247-4E30-46CB-A213-D9346B17C418}"/>
              </a:ext>
            </a:extLst>
          </p:cNvPr>
          <p:cNvSpPr>
            <a:spLocks xmlns:a="http://schemas.openxmlformats.org/drawingml/2006/main" noGrp="1"/>
          </p:cNvSpPr>
          <p:nvPr/>
        </p:nvSpPr>
        <p:spPr>
          <a:xfrm xmlns:a="http://schemas.openxmlformats.org/drawingml/2006/main">
            <a:off x="3849624" y="4535424"/>
            <a:ext cx="12618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E7C86"/>
                </a:solidFill>
                <a:latin typeface="Cambria"/>
                <a:ea typeface="Cambria"/>
                <a:cs typeface="Cambria"/>
              </a:rPr>
              <a:t>M3</a:t>
            </a:r>
            <a:endParaRPr sz="1300"/>
          </a:p>
        </p:txBody>
      </p:sp>
      <p:sp>
        <p:nvSpPr>
          <p:cNvPr id="29" name="Text 25">
            <a:extLst xmlns:a="http://schemas.openxmlformats.org/drawingml/2006/main">
              <a:ext uri="{FF2B5EF4-FFF2-40B4-BE49-F238E27FC236}">
                <a16:creationId xmlns:a16="http://schemas.microsoft.com/office/drawing/2014/main" id="{838978EB-2244-4196-8DD4-A1D31865CE59}"/>
              </a:ext>
            </a:extLst>
          </p:cNvPr>
          <p:cNvSpPr>
            <a:spLocks xmlns:a="http://schemas.openxmlformats.org/drawingml/2006/main" noGrp="1"/>
          </p:cNvSpPr>
          <p:nvPr/>
        </p:nvSpPr>
        <p:spPr>
          <a:xfrm xmlns:a="http://schemas.openxmlformats.org/drawingml/2006/main">
            <a:off x="3849624" y="4828032"/>
            <a:ext cx="126187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60">
                <a:solidFill>
                  <a:srgbClr val="24313A"/>
                </a:solidFill>
                <a:latin typeface="Calibri"/>
                <a:ea typeface="Calibri"/>
                <a:cs typeface="Calibri"/>
              </a:rPr>
              <a:t>Estimate with intervals</a:t>
            </a:r>
            <a:endParaRPr sz="960"/>
          </a:p>
        </p:txBody>
      </p:sp>
      <p:sp>
        <p:nvSpPr>
          <p:cNvPr id="30" name="Text 26">
            <a:extLst xmlns:a="http://schemas.openxmlformats.org/drawingml/2006/main">
              <a:ext uri="{FF2B5EF4-FFF2-40B4-BE49-F238E27FC236}">
                <a16:creationId xmlns:a16="http://schemas.microsoft.com/office/drawing/2014/main" id="{3F046842-18B0-4FCD-BBC1-027E61718B90}"/>
              </a:ext>
            </a:extLst>
          </p:cNvPr>
          <p:cNvSpPr>
            <a:spLocks xmlns:a="http://schemas.openxmlformats.org/drawingml/2006/main" noGrp="1"/>
          </p:cNvSpPr>
          <p:nvPr/>
        </p:nvSpPr>
        <p:spPr>
          <a:xfrm xmlns:a="http://schemas.openxmlformats.org/drawingml/2006/main">
            <a:off x="5166360" y="4828032"/>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7C86"/>
                </a:solidFill>
                <a:latin typeface="Calibri"/>
                <a:ea typeface="Calibri"/>
                <a:cs typeface="Calibri"/>
              </a:rPr>
              <a:t>→</a:t>
            </a:r>
            <a:endParaRPr sz="1400"/>
          </a:p>
        </p:txBody>
      </p:sp>
      <p:sp>
        <p:nvSpPr>
          <p:cNvPr id="31" name="Shape 27">
            <a:extLst xmlns:a="http://schemas.openxmlformats.org/drawingml/2006/main">
              <a:ext uri="{FF2B5EF4-FFF2-40B4-BE49-F238E27FC236}">
                <a16:creationId xmlns:a16="http://schemas.microsoft.com/office/drawing/2014/main" id="{EE799867-2622-4A5E-B3E6-E90424D162FB}"/>
              </a:ext>
            </a:extLst>
          </p:cNvPr>
          <p:cNvSpPr>
            <a:spLocks xmlns:a="http://schemas.openxmlformats.org/drawingml/2006/main" noGrp="1"/>
          </p:cNvSpPr>
          <p:nvPr/>
        </p:nvSpPr>
        <p:spPr>
          <a:xfrm xmlns:a="http://schemas.openxmlformats.org/drawingml/2006/main">
            <a:off x="5358384" y="4443984"/>
            <a:ext cx="1481328" cy="1143000"/>
          </a:xfrm>
          <a:prstGeom xmlns:a="http://schemas.openxmlformats.org/drawingml/2006/main" prst="roundRect">
            <a:avLst>
              <a:gd name="adj" fmla="val 7200"/>
            </a:avLst>
          </a:prstGeom>
          <a:solidFill xmlns:a="http://schemas.openxmlformats.org/drawingml/2006/main">
            <a:srgbClr val="F3F8F9"/>
          </a:solidFill>
        </p:spPr>
      </p:sp>
      <p:sp>
        <p:nvSpPr>
          <p:cNvPr id="32" name="Text 28">
            <a:extLst xmlns:a="http://schemas.openxmlformats.org/drawingml/2006/main">
              <a:ext uri="{FF2B5EF4-FFF2-40B4-BE49-F238E27FC236}">
                <a16:creationId xmlns:a16="http://schemas.microsoft.com/office/drawing/2014/main" id="{6106BE1E-0441-4378-AC5D-1DD3614C24AF}"/>
              </a:ext>
            </a:extLst>
          </p:cNvPr>
          <p:cNvSpPr>
            <a:spLocks xmlns:a="http://schemas.openxmlformats.org/drawingml/2006/main" noGrp="1"/>
          </p:cNvSpPr>
          <p:nvPr/>
        </p:nvSpPr>
        <p:spPr>
          <a:xfrm xmlns:a="http://schemas.openxmlformats.org/drawingml/2006/main">
            <a:off x="5468112" y="4535424"/>
            <a:ext cx="12618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E7C86"/>
                </a:solidFill>
                <a:latin typeface="Cambria"/>
                <a:ea typeface="Cambria"/>
                <a:cs typeface="Cambria"/>
              </a:rPr>
              <a:t>M4</a:t>
            </a:r>
            <a:endParaRPr sz="1300"/>
          </a:p>
        </p:txBody>
      </p:sp>
      <p:sp>
        <p:nvSpPr>
          <p:cNvPr id="33" name="Text 29">
            <a:extLst xmlns:a="http://schemas.openxmlformats.org/drawingml/2006/main">
              <a:ext uri="{FF2B5EF4-FFF2-40B4-BE49-F238E27FC236}">
                <a16:creationId xmlns:a16="http://schemas.microsoft.com/office/drawing/2014/main" id="{880C3A6E-DE53-4CC1-A364-62DA37F1832F}"/>
              </a:ext>
            </a:extLst>
          </p:cNvPr>
          <p:cNvSpPr>
            <a:spLocks xmlns:a="http://schemas.openxmlformats.org/drawingml/2006/main" noGrp="1"/>
          </p:cNvSpPr>
          <p:nvPr/>
        </p:nvSpPr>
        <p:spPr>
          <a:xfrm xmlns:a="http://schemas.openxmlformats.org/drawingml/2006/main">
            <a:off x="5468112" y="4828032"/>
            <a:ext cx="126187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60">
                <a:solidFill>
                  <a:srgbClr val="24313A"/>
                </a:solidFill>
                <a:latin typeface="Calibri"/>
                <a:ea typeface="Calibri"/>
                <a:cs typeface="Calibri"/>
              </a:rPr>
              <a:t>Test the SMS reminder</a:t>
            </a:r>
            <a:endParaRPr sz="960"/>
          </a:p>
        </p:txBody>
      </p:sp>
      <p:sp>
        <p:nvSpPr>
          <p:cNvPr id="34" name="Text 30">
            <a:extLst xmlns:a="http://schemas.openxmlformats.org/drawingml/2006/main">
              <a:ext uri="{FF2B5EF4-FFF2-40B4-BE49-F238E27FC236}">
                <a16:creationId xmlns:a16="http://schemas.microsoft.com/office/drawing/2014/main" id="{24F08859-37C9-48DD-8284-55622CB49ACA}"/>
              </a:ext>
            </a:extLst>
          </p:cNvPr>
          <p:cNvSpPr>
            <a:spLocks xmlns:a="http://schemas.openxmlformats.org/drawingml/2006/main" noGrp="1"/>
          </p:cNvSpPr>
          <p:nvPr/>
        </p:nvSpPr>
        <p:spPr>
          <a:xfrm xmlns:a="http://schemas.openxmlformats.org/drawingml/2006/main">
            <a:off x="6784848" y="4828032"/>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7C86"/>
                </a:solidFill>
                <a:latin typeface="Calibri"/>
                <a:ea typeface="Calibri"/>
                <a:cs typeface="Calibri"/>
              </a:rPr>
              <a:t>→</a:t>
            </a:r>
            <a:endParaRPr sz="1400"/>
          </a:p>
        </p:txBody>
      </p:sp>
      <p:sp>
        <p:nvSpPr>
          <p:cNvPr id="35" name="Shape 31">
            <a:extLst xmlns:a="http://schemas.openxmlformats.org/drawingml/2006/main">
              <a:ext uri="{FF2B5EF4-FFF2-40B4-BE49-F238E27FC236}">
                <a16:creationId xmlns:a16="http://schemas.microsoft.com/office/drawing/2014/main" id="{30EE675E-C84E-4D1E-9754-1AA13F9EBDA3}"/>
              </a:ext>
            </a:extLst>
          </p:cNvPr>
          <p:cNvSpPr>
            <a:spLocks xmlns:a="http://schemas.openxmlformats.org/drawingml/2006/main" noGrp="1"/>
          </p:cNvSpPr>
          <p:nvPr/>
        </p:nvSpPr>
        <p:spPr>
          <a:xfrm xmlns:a="http://schemas.openxmlformats.org/drawingml/2006/main">
            <a:off x="6976872" y="4443984"/>
            <a:ext cx="1481328" cy="1143000"/>
          </a:xfrm>
          <a:prstGeom xmlns:a="http://schemas.openxmlformats.org/drawingml/2006/main" prst="roundRect">
            <a:avLst>
              <a:gd name="adj" fmla="val 7200"/>
            </a:avLst>
          </a:prstGeom>
          <a:solidFill xmlns:a="http://schemas.openxmlformats.org/drawingml/2006/main">
            <a:srgbClr val="F3F8F9"/>
          </a:solidFill>
        </p:spPr>
      </p:sp>
      <p:sp>
        <p:nvSpPr>
          <p:cNvPr id="36" name="Text 32">
            <a:extLst xmlns:a="http://schemas.openxmlformats.org/drawingml/2006/main">
              <a:ext uri="{FF2B5EF4-FFF2-40B4-BE49-F238E27FC236}">
                <a16:creationId xmlns:a16="http://schemas.microsoft.com/office/drawing/2014/main" id="{D078B54C-2F37-48EF-BB5A-FE1404CFEC82}"/>
              </a:ext>
            </a:extLst>
          </p:cNvPr>
          <p:cNvSpPr>
            <a:spLocks xmlns:a="http://schemas.openxmlformats.org/drawingml/2006/main" noGrp="1"/>
          </p:cNvSpPr>
          <p:nvPr/>
        </p:nvSpPr>
        <p:spPr>
          <a:xfrm xmlns:a="http://schemas.openxmlformats.org/drawingml/2006/main">
            <a:off x="7086600" y="4535424"/>
            <a:ext cx="12618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E7C86"/>
                </a:solidFill>
                <a:latin typeface="Cambria"/>
                <a:ea typeface="Cambria"/>
                <a:cs typeface="Cambria"/>
              </a:rPr>
              <a:t>M5</a:t>
            </a:r>
            <a:endParaRPr sz="1300"/>
          </a:p>
        </p:txBody>
      </p:sp>
      <p:sp>
        <p:nvSpPr>
          <p:cNvPr id="37" name="Text 33">
            <a:extLst xmlns:a="http://schemas.openxmlformats.org/drawingml/2006/main">
              <a:ext uri="{FF2B5EF4-FFF2-40B4-BE49-F238E27FC236}">
                <a16:creationId xmlns:a16="http://schemas.microsoft.com/office/drawing/2014/main" id="{70602004-AB0E-4D04-970B-91230387B170}"/>
              </a:ext>
            </a:extLst>
          </p:cNvPr>
          <p:cNvSpPr>
            <a:spLocks xmlns:a="http://schemas.openxmlformats.org/drawingml/2006/main" noGrp="1"/>
          </p:cNvSpPr>
          <p:nvPr/>
        </p:nvSpPr>
        <p:spPr>
          <a:xfrm xmlns:a="http://schemas.openxmlformats.org/drawingml/2006/main">
            <a:off x="7086600" y="4828032"/>
            <a:ext cx="126187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60">
                <a:solidFill>
                  <a:srgbClr val="24313A"/>
                </a:solidFill>
                <a:latin typeface="Calibri"/>
                <a:ea typeface="Calibri"/>
                <a:cs typeface="Calibri"/>
              </a:rPr>
              <a:t>Uncover the confounder</a:t>
            </a:r>
            <a:endParaRPr sz="960"/>
          </a:p>
        </p:txBody>
      </p:sp>
      <p:sp>
        <p:nvSpPr>
          <p:cNvPr id="38" name="Text 34">
            <a:extLst xmlns:a="http://schemas.openxmlformats.org/drawingml/2006/main">
              <a:ext uri="{FF2B5EF4-FFF2-40B4-BE49-F238E27FC236}">
                <a16:creationId xmlns:a16="http://schemas.microsoft.com/office/drawing/2014/main" id="{39715D6E-94CD-49F0-92D5-0BCFFBA0B07E}"/>
              </a:ext>
            </a:extLst>
          </p:cNvPr>
          <p:cNvSpPr>
            <a:spLocks xmlns:a="http://schemas.openxmlformats.org/drawingml/2006/main" noGrp="1"/>
          </p:cNvSpPr>
          <p:nvPr/>
        </p:nvSpPr>
        <p:spPr>
          <a:xfrm xmlns:a="http://schemas.openxmlformats.org/drawingml/2006/main">
            <a:off x="8403336" y="4828032"/>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7C86"/>
                </a:solidFill>
                <a:latin typeface="Calibri"/>
                <a:ea typeface="Calibri"/>
                <a:cs typeface="Calibri"/>
              </a:rPr>
              <a:t>→</a:t>
            </a:r>
            <a:endParaRPr sz="1400"/>
          </a:p>
        </p:txBody>
      </p:sp>
      <p:sp>
        <p:nvSpPr>
          <p:cNvPr id="39" name="Shape 35">
            <a:extLst xmlns:a="http://schemas.openxmlformats.org/drawingml/2006/main">
              <a:ext uri="{FF2B5EF4-FFF2-40B4-BE49-F238E27FC236}">
                <a16:creationId xmlns:a16="http://schemas.microsoft.com/office/drawing/2014/main" id="{35277D21-73B5-4D85-8BD8-468065F196A3}"/>
              </a:ext>
            </a:extLst>
          </p:cNvPr>
          <p:cNvSpPr>
            <a:spLocks xmlns:a="http://schemas.openxmlformats.org/drawingml/2006/main" noGrp="1"/>
          </p:cNvSpPr>
          <p:nvPr/>
        </p:nvSpPr>
        <p:spPr>
          <a:xfrm xmlns:a="http://schemas.openxmlformats.org/drawingml/2006/main">
            <a:off x="8595360" y="4443984"/>
            <a:ext cx="1481328" cy="1143000"/>
          </a:xfrm>
          <a:prstGeom xmlns:a="http://schemas.openxmlformats.org/drawingml/2006/main" prst="roundRect">
            <a:avLst>
              <a:gd name="adj" fmla="val 7200"/>
            </a:avLst>
          </a:prstGeom>
          <a:solidFill xmlns:a="http://schemas.openxmlformats.org/drawingml/2006/main">
            <a:srgbClr val="F3F8F9"/>
          </a:solidFill>
        </p:spPr>
      </p:sp>
      <p:sp>
        <p:nvSpPr>
          <p:cNvPr id="40" name="Text 36">
            <a:extLst xmlns:a="http://schemas.openxmlformats.org/drawingml/2006/main">
              <a:ext uri="{FF2B5EF4-FFF2-40B4-BE49-F238E27FC236}">
                <a16:creationId xmlns:a16="http://schemas.microsoft.com/office/drawing/2014/main" id="{7B782AC1-F190-4EAA-AA6B-A552F8F02D35}"/>
              </a:ext>
            </a:extLst>
          </p:cNvPr>
          <p:cNvSpPr>
            <a:spLocks xmlns:a="http://schemas.openxmlformats.org/drawingml/2006/main" noGrp="1"/>
          </p:cNvSpPr>
          <p:nvPr/>
        </p:nvSpPr>
        <p:spPr>
          <a:xfrm xmlns:a="http://schemas.openxmlformats.org/drawingml/2006/main">
            <a:off x="8705088" y="4535424"/>
            <a:ext cx="12618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E7C86"/>
                </a:solidFill>
                <a:latin typeface="Cambria"/>
                <a:ea typeface="Cambria"/>
                <a:cs typeface="Cambria"/>
              </a:rPr>
              <a:t>M6</a:t>
            </a:r>
            <a:endParaRPr sz="1300"/>
          </a:p>
        </p:txBody>
      </p:sp>
      <p:sp>
        <p:nvSpPr>
          <p:cNvPr id="41" name="Text 37">
            <a:extLst xmlns:a="http://schemas.openxmlformats.org/drawingml/2006/main">
              <a:ext uri="{FF2B5EF4-FFF2-40B4-BE49-F238E27FC236}">
                <a16:creationId xmlns:a16="http://schemas.microsoft.com/office/drawing/2014/main" id="{05093CE8-8547-408A-9203-7F8588E8BE81}"/>
              </a:ext>
            </a:extLst>
          </p:cNvPr>
          <p:cNvSpPr>
            <a:spLocks xmlns:a="http://schemas.openxmlformats.org/drawingml/2006/main" noGrp="1"/>
          </p:cNvSpPr>
          <p:nvPr/>
        </p:nvSpPr>
        <p:spPr>
          <a:xfrm xmlns:a="http://schemas.openxmlformats.org/drawingml/2006/main">
            <a:off x="8705088" y="4828032"/>
            <a:ext cx="126187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60">
                <a:solidFill>
                  <a:srgbClr val="24313A"/>
                </a:solidFill>
                <a:latin typeface="Calibri"/>
                <a:ea typeface="Calibri"/>
                <a:cs typeface="Calibri"/>
              </a:rPr>
              <a:t>Model the drivers</a:t>
            </a:r>
            <a:endParaRPr sz="960"/>
          </a:p>
        </p:txBody>
      </p:sp>
      <p:sp>
        <p:nvSpPr>
          <p:cNvPr id="42" name="Text 38">
            <a:extLst xmlns:a="http://schemas.openxmlformats.org/drawingml/2006/main">
              <a:ext uri="{FF2B5EF4-FFF2-40B4-BE49-F238E27FC236}">
                <a16:creationId xmlns:a16="http://schemas.microsoft.com/office/drawing/2014/main" id="{E9F78D5E-7BB6-47AF-BEF4-1F70705840CD}"/>
              </a:ext>
            </a:extLst>
          </p:cNvPr>
          <p:cNvSpPr>
            <a:spLocks xmlns:a="http://schemas.openxmlformats.org/drawingml/2006/main" noGrp="1"/>
          </p:cNvSpPr>
          <p:nvPr/>
        </p:nvSpPr>
        <p:spPr>
          <a:xfrm xmlns:a="http://schemas.openxmlformats.org/drawingml/2006/main">
            <a:off x="10021824" y="4828032"/>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7C86"/>
                </a:solidFill>
                <a:latin typeface="Calibri"/>
                <a:ea typeface="Calibri"/>
                <a:cs typeface="Calibri"/>
              </a:rPr>
              <a:t>→</a:t>
            </a:r>
            <a:endParaRPr sz="1400"/>
          </a:p>
        </p:txBody>
      </p:sp>
      <p:sp>
        <p:nvSpPr>
          <p:cNvPr id="43" name="Shape 39">
            <a:extLst xmlns:a="http://schemas.openxmlformats.org/drawingml/2006/main">
              <a:ext uri="{FF2B5EF4-FFF2-40B4-BE49-F238E27FC236}">
                <a16:creationId xmlns:a16="http://schemas.microsoft.com/office/drawing/2014/main" id="{64AAFFC6-347C-444B-914F-4260E57793FF}"/>
              </a:ext>
            </a:extLst>
          </p:cNvPr>
          <p:cNvSpPr>
            <a:spLocks xmlns:a="http://schemas.openxmlformats.org/drawingml/2006/main" noGrp="1"/>
          </p:cNvSpPr>
          <p:nvPr/>
        </p:nvSpPr>
        <p:spPr>
          <a:xfrm xmlns:a="http://schemas.openxmlformats.org/drawingml/2006/main">
            <a:off x="10213848" y="4443984"/>
            <a:ext cx="1481328" cy="1143000"/>
          </a:xfrm>
          <a:prstGeom xmlns:a="http://schemas.openxmlformats.org/drawingml/2006/main" prst="roundRect">
            <a:avLst>
              <a:gd name="adj" fmla="val 7200"/>
            </a:avLst>
          </a:prstGeom>
          <a:solidFill xmlns:a="http://schemas.openxmlformats.org/drawingml/2006/main">
            <a:srgbClr val="0E7C86"/>
          </a:solidFill>
        </p:spPr>
      </p:sp>
      <p:sp>
        <p:nvSpPr>
          <p:cNvPr id="44" name="Text 40">
            <a:extLst xmlns:a="http://schemas.openxmlformats.org/drawingml/2006/main">
              <a:ext uri="{FF2B5EF4-FFF2-40B4-BE49-F238E27FC236}">
                <a16:creationId xmlns:a16="http://schemas.microsoft.com/office/drawing/2014/main" id="{683DDCB1-B8FA-423F-BBF7-8A6618ADA6BE}"/>
              </a:ext>
            </a:extLst>
          </p:cNvPr>
          <p:cNvSpPr>
            <a:spLocks xmlns:a="http://schemas.openxmlformats.org/drawingml/2006/main" noGrp="1"/>
          </p:cNvSpPr>
          <p:nvPr/>
        </p:nvSpPr>
        <p:spPr>
          <a:xfrm xmlns:a="http://schemas.openxmlformats.org/drawingml/2006/main">
            <a:off x="10323576" y="4535424"/>
            <a:ext cx="12618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mbria"/>
                <a:ea typeface="Cambria"/>
                <a:cs typeface="Cambria"/>
              </a:rPr>
              <a:t>M7</a:t>
            </a:r>
            <a:endParaRPr sz="1300"/>
          </a:p>
        </p:txBody>
      </p:sp>
      <p:sp>
        <p:nvSpPr>
          <p:cNvPr id="45" name="Text 41">
            <a:extLst xmlns:a="http://schemas.openxmlformats.org/drawingml/2006/main">
              <a:ext uri="{FF2B5EF4-FFF2-40B4-BE49-F238E27FC236}">
                <a16:creationId xmlns:a16="http://schemas.microsoft.com/office/drawing/2014/main" id="{DF4C1069-E940-4416-847E-4B12DA5FE6FE}"/>
              </a:ext>
            </a:extLst>
          </p:cNvPr>
          <p:cNvSpPr>
            <a:spLocks xmlns:a="http://schemas.openxmlformats.org/drawingml/2006/main" noGrp="1"/>
          </p:cNvSpPr>
          <p:nvPr/>
        </p:nvSpPr>
        <p:spPr>
          <a:xfrm xmlns:a="http://schemas.openxmlformats.org/drawingml/2006/main">
            <a:off x="10323576" y="4828032"/>
            <a:ext cx="126187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60">
                <a:solidFill>
                  <a:srgbClr val="FFFFFF"/>
                </a:solidFill>
                <a:latin typeface="Calibri"/>
                <a:ea typeface="Calibri"/>
                <a:cs typeface="Calibri"/>
              </a:rPr>
              <a:t>Validate by resampling</a:t>
            </a:r>
            <a:endParaRPr sz="960"/>
          </a:p>
        </p:txBody>
      </p:sp>
      <p:sp>
        <p:nvSpPr>
          <p:cNvPr id="46" name="Text 42">
            <a:extLst xmlns:a="http://schemas.openxmlformats.org/drawingml/2006/main">
              <a:ext uri="{FF2B5EF4-FFF2-40B4-BE49-F238E27FC236}">
                <a16:creationId xmlns:a16="http://schemas.microsoft.com/office/drawing/2014/main" id="{D7752B2D-335B-4D5B-B516-FFD031934E66}"/>
              </a:ext>
            </a:extLst>
          </p:cNvPr>
          <p:cNvSpPr>
            <a:spLocks xmlns:a="http://schemas.openxmlformats.org/drawingml/2006/main" noGrp="1"/>
          </p:cNvSpPr>
          <p:nvPr/>
        </p:nvSpPr>
        <p:spPr>
          <a:xfrm xmlns:a="http://schemas.openxmlformats.org/drawingml/2006/main">
            <a:off x="502920" y="5815584"/>
            <a:ext cx="11155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2660A"/>
                </a:solidFill>
                <a:latin typeface="Calibri"/>
                <a:ea typeface="Calibri"/>
                <a:cs typeface="Calibri"/>
              </a:rPr>
              <a:t>Instructor rule:  </a:t>
            </a:r>
            <a:r>
              <a:rPr sz="1200">
                <a:solidFill>
                  <a:srgbClr val="24313A"/>
                </a:solidFill>
                <a:latin typeface="Calibri"/>
                <a:ea typeface="Calibri"/>
                <a:cs typeface="Calibri"/>
              </a:rPr>
              <a:t>never substitute a throwaway toy dataset. The same clinic_visits.csv runs from the first Bernoulli model to the capstone's decision memo — that continuity is what makes Day 4 achievable.</a:t>
            </a:r>
            <a:endParaRPr sz="1200"/>
          </a:p>
        </p:txBody>
      </p:sp>
    </p:spTree>
    <p:extLst>
      <p:ext uri="{BB962C8B-B14F-4D97-AF65-F5344CB8AC3E}">
        <p14:creationId xmlns:p14="http://schemas.microsoft.com/office/powerpoint/2010/main" val="7743234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2E2BC5F-17DE-43EC-B8C5-D78BCD0B6AD5}"/>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20B2F833-4C6E-49ED-9990-2F56BB428426}"/>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4</a:t>
            </a:r>
            <a:endParaRPr sz="900"/>
          </a:p>
        </p:txBody>
      </p:sp>
      <p:sp>
        <p:nvSpPr>
          <p:cNvPr id="4" name="Shape 2">
            <a:extLst xmlns:a="http://schemas.openxmlformats.org/drawingml/2006/main">
              <a:ext uri="{FF2B5EF4-FFF2-40B4-BE49-F238E27FC236}">
                <a16:creationId xmlns:a16="http://schemas.microsoft.com/office/drawing/2014/main" id="{F4C1EFA2-0946-4867-A9B0-CA65E01FCCDF}"/>
              </a:ext>
            </a:extLst>
          </p:cNvPr>
          <p:cNvSpPr>
            <a:spLocks xmlns:a="http://schemas.openxmlformats.org/drawingml/2006/main" noGrp="1"/>
          </p:cNvSpPr>
          <p:nvPr/>
        </p:nvSpPr>
        <p:spPr>
          <a:xfrm xmlns:a="http://schemas.openxmlformats.org/drawingml/2006/main">
            <a:off x="502920" y="384048"/>
            <a:ext cx="1756562"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BCC9F2A7-A8E7-498B-A2A4-612C4F5D5477}"/>
              </a:ext>
            </a:extLst>
          </p:cNvPr>
          <p:cNvSpPr>
            <a:spLocks xmlns:a="http://schemas.openxmlformats.org/drawingml/2006/main" noGrp="1"/>
          </p:cNvSpPr>
          <p:nvPr/>
        </p:nvSpPr>
        <p:spPr>
          <a:xfrm xmlns:a="http://schemas.openxmlformats.org/drawingml/2006/main">
            <a:off x="502920" y="384048"/>
            <a:ext cx="175656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LEARNING OUTCOMES</a:t>
            </a:r>
            <a:endParaRPr sz="1050"/>
          </a:p>
        </p:txBody>
      </p:sp>
      <p:sp>
        <p:nvSpPr>
          <p:cNvPr id="6" name="Text 4">
            <a:extLst xmlns:a="http://schemas.openxmlformats.org/drawingml/2006/main">
              <a:ext uri="{FF2B5EF4-FFF2-40B4-BE49-F238E27FC236}">
                <a16:creationId xmlns:a16="http://schemas.microsoft.com/office/drawing/2014/main" id="{0CFBFE96-F9C3-42FC-B4F1-2656A1AE11FF}"/>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What participants can do by Day 4</a:t>
            </a:r>
            <a:endParaRPr sz="2800"/>
          </a:p>
        </p:txBody>
      </p:sp>
      <p:sp>
        <p:nvSpPr>
          <p:cNvPr id="7" name="Shape 5">
            <a:extLst xmlns:a="http://schemas.openxmlformats.org/drawingml/2006/main">
              <a:ext uri="{FF2B5EF4-FFF2-40B4-BE49-F238E27FC236}">
                <a16:creationId xmlns:a16="http://schemas.microsoft.com/office/drawing/2014/main" id="{C88F6F0A-F8F6-4623-9D22-2835108563E0}"/>
              </a:ext>
            </a:extLst>
          </p:cNvPr>
          <p:cNvSpPr>
            <a:spLocks xmlns:a="http://schemas.openxmlformats.org/drawingml/2006/main" noGrp="1"/>
          </p:cNvSpPr>
          <p:nvPr/>
        </p:nvSpPr>
        <p:spPr>
          <a:xfrm xmlns:a="http://schemas.openxmlformats.org/drawingml/2006/main">
            <a:off x="502920" y="1563624"/>
            <a:ext cx="5532120" cy="1234440"/>
          </a:xfrm>
          <a:prstGeom xmlns:a="http://schemas.openxmlformats.org/drawingml/2006/main" prst="roundRect">
            <a:avLst>
              <a:gd name="adj" fmla="val 6667"/>
            </a:avLst>
          </a:prstGeom>
          <a:solidFill xmlns:a="http://schemas.openxmlformats.org/drawingml/2006/main">
            <a:srgbClr val="F3F8F9"/>
          </a:solidFill>
        </p:spPr>
      </p:sp>
      <p:sp>
        <p:nvSpPr>
          <p:cNvPr id="8" name="Shape 6">
            <a:extLst xmlns:a="http://schemas.openxmlformats.org/drawingml/2006/main">
              <a:ext uri="{FF2B5EF4-FFF2-40B4-BE49-F238E27FC236}">
                <a16:creationId xmlns:a16="http://schemas.microsoft.com/office/drawing/2014/main" id="{BCE30F76-FA03-4203-ADEC-DA58B11C4069}"/>
              </a:ext>
            </a:extLst>
          </p:cNvPr>
          <p:cNvSpPr>
            <a:spLocks xmlns:a="http://schemas.openxmlformats.org/drawingml/2006/main" noGrp="1"/>
          </p:cNvSpPr>
          <p:nvPr/>
        </p:nvSpPr>
        <p:spPr>
          <a:xfrm xmlns:a="http://schemas.openxmlformats.org/drawingml/2006/main">
            <a:off x="704088" y="1837944"/>
            <a:ext cx="658368" cy="658368"/>
          </a:xfrm>
          <a:prstGeom xmlns:a="http://schemas.openxmlformats.org/drawingml/2006/main" prst="ellipse">
            <a:avLst/>
          </a:prstGeom>
          <a:solidFill xmlns:a="http://schemas.openxmlformats.org/drawingml/2006/main">
            <a:srgbClr val="0E7C86"/>
          </a:solidFill>
        </p:spPr>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19d3b829e3274172"/>
          <a:stretch xmlns:a="http://schemas.openxmlformats.org/drawingml/2006/main">
            <a:fillRect l="0" t="0" r="0" b="0"/>
          </a:stretch>
        </p:blipFill>
        <p:spPr>
          <a:xfrm xmlns:a="http://schemas.openxmlformats.org/drawingml/2006/main">
            <a:off x="875264" y="2009120"/>
            <a:ext cx="316017" cy="316017"/>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619261ED-3438-43BF-A938-44E1270C259A}"/>
              </a:ext>
            </a:extLst>
          </p:cNvPr>
          <p:cNvSpPr>
            <a:spLocks xmlns:a="http://schemas.openxmlformats.org/drawingml/2006/main" noGrp="1"/>
          </p:cNvSpPr>
          <p:nvPr/>
        </p:nvSpPr>
        <p:spPr>
          <a:xfrm xmlns:a="http://schemas.openxmlformats.org/drawingml/2006/main">
            <a:off x="1527048" y="1764792"/>
            <a:ext cx="10058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86"/>
                </a:solidFill>
                <a:latin typeface="Cambria"/>
                <a:ea typeface="Cambria"/>
                <a:cs typeface="Cambria"/>
              </a:rPr>
              <a:t>LO1</a:t>
            </a:r>
            <a:endParaRPr sz="1500"/>
          </a:p>
        </p:txBody>
      </p:sp>
      <p:sp>
        <p:nvSpPr>
          <p:cNvPr id="11" name="Text 8">
            <a:extLst xmlns:a="http://schemas.openxmlformats.org/drawingml/2006/main">
              <a:ext uri="{FF2B5EF4-FFF2-40B4-BE49-F238E27FC236}">
                <a16:creationId xmlns:a16="http://schemas.microsoft.com/office/drawing/2014/main" id="{07EDAF5B-65AC-4432-87E0-59482346901B}"/>
              </a:ext>
            </a:extLst>
          </p:cNvPr>
          <p:cNvSpPr>
            <a:spLocks xmlns:a="http://schemas.openxmlformats.org/drawingml/2006/main" noGrp="1"/>
          </p:cNvSpPr>
          <p:nvPr/>
        </p:nvSpPr>
        <p:spPr>
          <a:xfrm xmlns:a="http://schemas.openxmlformats.org/drawingml/2006/main">
            <a:off x="1527048" y="2075688"/>
            <a:ext cx="42976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80">
                <a:solidFill>
                  <a:srgbClr val="24313A"/>
                </a:solidFill>
                <a:latin typeface="Calibri"/>
                <a:ea typeface="Calibri"/>
                <a:cs typeface="Calibri"/>
              </a:rPr>
              <a:t>Apply probability rules and distributions to model real-world uncertainty</a:t>
            </a:r>
            <a:endParaRPr sz="1180"/>
          </a:p>
        </p:txBody>
      </p:sp>
      <p:sp>
        <p:nvSpPr>
          <p:cNvPr id="12" name="Shape 9">
            <a:extLst xmlns:a="http://schemas.openxmlformats.org/drawingml/2006/main">
              <a:ext uri="{FF2B5EF4-FFF2-40B4-BE49-F238E27FC236}">
                <a16:creationId xmlns:a16="http://schemas.microsoft.com/office/drawing/2014/main" id="{7CCED933-F8E1-40BE-94EA-726619FB64F2}"/>
              </a:ext>
            </a:extLst>
          </p:cNvPr>
          <p:cNvSpPr>
            <a:spLocks xmlns:a="http://schemas.openxmlformats.org/drawingml/2006/main" noGrp="1"/>
          </p:cNvSpPr>
          <p:nvPr/>
        </p:nvSpPr>
        <p:spPr>
          <a:xfrm xmlns:a="http://schemas.openxmlformats.org/drawingml/2006/main">
            <a:off x="6172200" y="1563624"/>
            <a:ext cx="5532120" cy="1234440"/>
          </a:xfrm>
          <a:prstGeom xmlns:a="http://schemas.openxmlformats.org/drawingml/2006/main" prst="roundRect">
            <a:avLst>
              <a:gd name="adj" fmla="val 6667"/>
            </a:avLst>
          </a:prstGeom>
          <a:solidFill xmlns:a="http://schemas.openxmlformats.org/drawingml/2006/main">
            <a:srgbClr val="F3F8F9"/>
          </a:solidFill>
        </p:spPr>
      </p:sp>
      <p:sp>
        <p:nvSpPr>
          <p:cNvPr id="13" name="Shape 10">
            <a:extLst xmlns:a="http://schemas.openxmlformats.org/drawingml/2006/main">
              <a:ext uri="{FF2B5EF4-FFF2-40B4-BE49-F238E27FC236}">
                <a16:creationId xmlns:a16="http://schemas.microsoft.com/office/drawing/2014/main" id="{B80E386F-7067-4B72-A058-A0E5FB42D2F3}"/>
              </a:ext>
            </a:extLst>
          </p:cNvPr>
          <p:cNvSpPr>
            <a:spLocks xmlns:a="http://schemas.openxmlformats.org/drawingml/2006/main" noGrp="1"/>
          </p:cNvSpPr>
          <p:nvPr/>
        </p:nvSpPr>
        <p:spPr>
          <a:xfrm xmlns:a="http://schemas.openxmlformats.org/drawingml/2006/main">
            <a:off x="6373368" y="1837944"/>
            <a:ext cx="658368" cy="658368"/>
          </a:xfrm>
          <a:prstGeom xmlns:a="http://schemas.openxmlformats.org/drawingml/2006/main" prst="ellipse">
            <a:avLst/>
          </a:prstGeom>
          <a:solidFill xmlns:a="http://schemas.openxmlformats.org/drawingml/2006/main">
            <a:srgbClr val="0E7C86"/>
          </a:solidFill>
        </p:spPr>
      </p:sp>
      <p:pic>
        <p:nvPicPr>
          <p:cNvPr id="55" name="Image 1"/>
          <p:cNvPicPr>
            <a:picLocks xmlns:a="http://schemas.openxmlformats.org/drawingml/2006/main" noChangeAspect="1"/>
          </p:cNvPicPr>
          <p:nvPr/>
        </p:nvPicPr>
        <p:blipFill>
          <a:blip xmlns:r="http://schemas.openxmlformats.org/officeDocument/2006/relationships" xmlns:a="http://schemas.openxmlformats.org/drawingml/2006/main" r:embed="R3fae98e8dafb400f"/>
          <a:stretch xmlns:a="http://schemas.openxmlformats.org/drawingml/2006/main">
            <a:fillRect l="0" t="0" r="0" b="0"/>
          </a:stretch>
        </p:blipFill>
        <p:spPr>
          <a:xfrm xmlns:a="http://schemas.openxmlformats.org/drawingml/2006/main">
            <a:off x="6544544" y="2009120"/>
            <a:ext cx="316017" cy="316017"/>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E234426F-32BB-4CF8-83F8-34F8C0B18F15}"/>
              </a:ext>
            </a:extLst>
          </p:cNvPr>
          <p:cNvSpPr>
            <a:spLocks xmlns:a="http://schemas.openxmlformats.org/drawingml/2006/main" noGrp="1"/>
          </p:cNvSpPr>
          <p:nvPr/>
        </p:nvSpPr>
        <p:spPr>
          <a:xfrm xmlns:a="http://schemas.openxmlformats.org/drawingml/2006/main">
            <a:off x="7196328" y="1764792"/>
            <a:ext cx="10058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86"/>
                </a:solidFill>
                <a:latin typeface="Cambria"/>
                <a:ea typeface="Cambria"/>
                <a:cs typeface="Cambria"/>
              </a:rPr>
              <a:t>LO2</a:t>
            </a:r>
            <a:endParaRPr sz="1500"/>
          </a:p>
        </p:txBody>
      </p:sp>
      <p:sp>
        <p:nvSpPr>
          <p:cNvPr id="16" name="Text 12">
            <a:extLst xmlns:a="http://schemas.openxmlformats.org/drawingml/2006/main">
              <a:ext uri="{FF2B5EF4-FFF2-40B4-BE49-F238E27FC236}">
                <a16:creationId xmlns:a16="http://schemas.microsoft.com/office/drawing/2014/main" id="{AC28AF9E-57F9-4939-8F84-3ABB2571989F}"/>
              </a:ext>
            </a:extLst>
          </p:cNvPr>
          <p:cNvSpPr>
            <a:spLocks xmlns:a="http://schemas.openxmlformats.org/drawingml/2006/main" noGrp="1"/>
          </p:cNvSpPr>
          <p:nvPr/>
        </p:nvSpPr>
        <p:spPr>
          <a:xfrm xmlns:a="http://schemas.openxmlformats.org/drawingml/2006/main">
            <a:off x="7196328" y="2075688"/>
            <a:ext cx="42976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80">
                <a:solidFill>
                  <a:srgbClr val="24313A"/>
                </a:solidFill>
                <a:latin typeface="Calibri"/>
                <a:ea typeface="Calibri"/>
                <a:cs typeface="Calibri"/>
              </a:rPr>
              <a:t>Analyze sampling variability using confidence intervals and standard errors</a:t>
            </a:r>
            <a:endParaRPr sz="1180"/>
          </a:p>
        </p:txBody>
      </p:sp>
      <p:sp>
        <p:nvSpPr>
          <p:cNvPr id="17" name="Shape 13">
            <a:extLst xmlns:a="http://schemas.openxmlformats.org/drawingml/2006/main">
              <a:ext uri="{FF2B5EF4-FFF2-40B4-BE49-F238E27FC236}">
                <a16:creationId xmlns:a16="http://schemas.microsoft.com/office/drawing/2014/main" id="{9B9DE971-7ADF-4543-B016-0AC6F3A9EDE4}"/>
              </a:ext>
            </a:extLst>
          </p:cNvPr>
          <p:cNvSpPr>
            <a:spLocks xmlns:a="http://schemas.openxmlformats.org/drawingml/2006/main" noGrp="1"/>
          </p:cNvSpPr>
          <p:nvPr/>
        </p:nvSpPr>
        <p:spPr>
          <a:xfrm xmlns:a="http://schemas.openxmlformats.org/drawingml/2006/main">
            <a:off x="502920" y="2944368"/>
            <a:ext cx="5532120" cy="1234440"/>
          </a:xfrm>
          <a:prstGeom xmlns:a="http://schemas.openxmlformats.org/drawingml/2006/main" prst="roundRect">
            <a:avLst>
              <a:gd name="adj" fmla="val 6667"/>
            </a:avLst>
          </a:prstGeom>
          <a:solidFill xmlns:a="http://schemas.openxmlformats.org/drawingml/2006/main">
            <a:srgbClr val="F3F8F9"/>
          </a:solidFill>
        </p:spPr>
      </p:sp>
      <p:sp>
        <p:nvSpPr>
          <p:cNvPr id="18" name="Shape 14">
            <a:extLst xmlns:a="http://schemas.openxmlformats.org/drawingml/2006/main">
              <a:ext uri="{FF2B5EF4-FFF2-40B4-BE49-F238E27FC236}">
                <a16:creationId xmlns:a16="http://schemas.microsoft.com/office/drawing/2014/main" id="{88DFE05D-6FE7-468B-9FB8-E52CDD980623}"/>
              </a:ext>
            </a:extLst>
          </p:cNvPr>
          <p:cNvSpPr>
            <a:spLocks xmlns:a="http://schemas.openxmlformats.org/drawingml/2006/main" noGrp="1"/>
          </p:cNvSpPr>
          <p:nvPr/>
        </p:nvSpPr>
        <p:spPr>
          <a:xfrm xmlns:a="http://schemas.openxmlformats.org/drawingml/2006/main">
            <a:off x="704088" y="3218688"/>
            <a:ext cx="658368" cy="658368"/>
          </a:xfrm>
          <a:prstGeom xmlns:a="http://schemas.openxmlformats.org/drawingml/2006/main" prst="ellipse">
            <a:avLst/>
          </a:prstGeom>
          <a:solidFill xmlns:a="http://schemas.openxmlformats.org/drawingml/2006/main">
            <a:srgbClr val="0E7C86"/>
          </a:solidFill>
        </p:spPr>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7e171dccfd1a441a"/>
          <a:stretch xmlns:a="http://schemas.openxmlformats.org/drawingml/2006/main">
            <a:fillRect l="0" t="0" r="0" b="0"/>
          </a:stretch>
        </p:blipFill>
        <p:spPr>
          <a:xfrm xmlns:a="http://schemas.openxmlformats.org/drawingml/2006/main">
            <a:off x="875264" y="3389864"/>
            <a:ext cx="316017" cy="316017"/>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0D0A4E8B-7885-4E7D-8403-571AA2AA523A}"/>
              </a:ext>
            </a:extLst>
          </p:cNvPr>
          <p:cNvSpPr>
            <a:spLocks xmlns:a="http://schemas.openxmlformats.org/drawingml/2006/main" noGrp="1"/>
          </p:cNvSpPr>
          <p:nvPr/>
        </p:nvSpPr>
        <p:spPr>
          <a:xfrm xmlns:a="http://schemas.openxmlformats.org/drawingml/2006/main">
            <a:off x="1527048" y="3145536"/>
            <a:ext cx="10058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86"/>
                </a:solidFill>
                <a:latin typeface="Cambria"/>
                <a:ea typeface="Cambria"/>
                <a:cs typeface="Cambria"/>
              </a:rPr>
              <a:t>LO3</a:t>
            </a:r>
            <a:endParaRPr sz="1500"/>
          </a:p>
        </p:txBody>
      </p:sp>
      <p:sp>
        <p:nvSpPr>
          <p:cNvPr id="21" name="Text 16">
            <a:extLst xmlns:a="http://schemas.openxmlformats.org/drawingml/2006/main">
              <a:ext uri="{FF2B5EF4-FFF2-40B4-BE49-F238E27FC236}">
                <a16:creationId xmlns:a16="http://schemas.microsoft.com/office/drawing/2014/main" id="{6031B57D-B48D-41A9-AE3D-61322F96FC2A}"/>
              </a:ext>
            </a:extLst>
          </p:cNvPr>
          <p:cNvSpPr>
            <a:spLocks xmlns:a="http://schemas.openxmlformats.org/drawingml/2006/main" noGrp="1"/>
          </p:cNvSpPr>
          <p:nvPr/>
        </p:nvSpPr>
        <p:spPr>
          <a:xfrm xmlns:a="http://schemas.openxmlformats.org/drawingml/2006/main">
            <a:off x="1527048" y="3456432"/>
            <a:ext cx="42976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80">
                <a:solidFill>
                  <a:srgbClr val="24313A"/>
                </a:solidFill>
                <a:latin typeface="Calibri"/>
                <a:ea typeface="Calibri"/>
                <a:cs typeface="Calibri"/>
              </a:rPr>
              <a:t>Implement hypothesis tests and interpret p-values and effect sizes correctly</a:t>
            </a:r>
            <a:endParaRPr sz="1180"/>
          </a:p>
        </p:txBody>
      </p:sp>
      <p:sp>
        <p:nvSpPr>
          <p:cNvPr id="22" name="Shape 17">
            <a:extLst xmlns:a="http://schemas.openxmlformats.org/drawingml/2006/main">
              <a:ext uri="{FF2B5EF4-FFF2-40B4-BE49-F238E27FC236}">
                <a16:creationId xmlns:a16="http://schemas.microsoft.com/office/drawing/2014/main" id="{4C913549-F5AE-4BFD-B21D-F95E850A826B}"/>
              </a:ext>
            </a:extLst>
          </p:cNvPr>
          <p:cNvSpPr>
            <a:spLocks xmlns:a="http://schemas.openxmlformats.org/drawingml/2006/main" noGrp="1"/>
          </p:cNvSpPr>
          <p:nvPr/>
        </p:nvSpPr>
        <p:spPr>
          <a:xfrm xmlns:a="http://schemas.openxmlformats.org/drawingml/2006/main">
            <a:off x="6172200" y="2944368"/>
            <a:ext cx="5532120" cy="1234440"/>
          </a:xfrm>
          <a:prstGeom xmlns:a="http://schemas.openxmlformats.org/drawingml/2006/main" prst="roundRect">
            <a:avLst>
              <a:gd name="adj" fmla="val 6667"/>
            </a:avLst>
          </a:prstGeom>
          <a:solidFill xmlns:a="http://schemas.openxmlformats.org/drawingml/2006/main">
            <a:srgbClr val="F3F8F9"/>
          </a:solidFill>
        </p:spPr>
      </p:sp>
      <p:sp>
        <p:nvSpPr>
          <p:cNvPr id="23" name="Shape 18">
            <a:extLst xmlns:a="http://schemas.openxmlformats.org/drawingml/2006/main">
              <a:ext uri="{FF2B5EF4-FFF2-40B4-BE49-F238E27FC236}">
                <a16:creationId xmlns:a16="http://schemas.microsoft.com/office/drawing/2014/main" id="{2D90A62B-D7A3-4085-A8AC-7504624DCA24}"/>
              </a:ext>
            </a:extLst>
          </p:cNvPr>
          <p:cNvSpPr>
            <a:spLocks xmlns:a="http://schemas.openxmlformats.org/drawingml/2006/main" noGrp="1"/>
          </p:cNvSpPr>
          <p:nvPr/>
        </p:nvSpPr>
        <p:spPr>
          <a:xfrm xmlns:a="http://schemas.openxmlformats.org/drawingml/2006/main">
            <a:off x="6373368" y="3218688"/>
            <a:ext cx="658368" cy="658368"/>
          </a:xfrm>
          <a:prstGeom xmlns:a="http://schemas.openxmlformats.org/drawingml/2006/main" prst="ellipse">
            <a:avLst/>
          </a:prstGeom>
          <a:solidFill xmlns:a="http://schemas.openxmlformats.org/drawingml/2006/main">
            <a:srgbClr val="0E7C86"/>
          </a:solidFill>
        </p:spPr>
      </p:sp>
      <p:pic>
        <p:nvPicPr>
          <p:cNvPr id="65" name="Image 3"/>
          <p:cNvPicPr>
            <a:picLocks xmlns:a="http://schemas.openxmlformats.org/drawingml/2006/main" noChangeAspect="1"/>
          </p:cNvPicPr>
          <p:nvPr/>
        </p:nvPicPr>
        <p:blipFill>
          <a:blip xmlns:r="http://schemas.openxmlformats.org/officeDocument/2006/relationships" xmlns:a="http://schemas.openxmlformats.org/drawingml/2006/main" r:embed="R10afc83cff0f4e0a"/>
          <a:stretch xmlns:a="http://schemas.openxmlformats.org/drawingml/2006/main">
            <a:fillRect l="0" t="0" r="0" b="0"/>
          </a:stretch>
        </p:blipFill>
        <p:spPr>
          <a:xfrm xmlns:a="http://schemas.openxmlformats.org/drawingml/2006/main">
            <a:off x="6544544" y="3389864"/>
            <a:ext cx="316017" cy="316017"/>
          </a:xfrm>
          <a:prstGeom xmlns:a="http://schemas.openxmlformats.org/drawingml/2006/main" prst="rect">
            <a:avLst/>
          </a:prstGeom>
        </p:spPr>
      </p:pic>
      <p:sp>
        <p:nvSpPr>
          <p:cNvPr id="25" name="Text 19">
            <a:extLst xmlns:a="http://schemas.openxmlformats.org/drawingml/2006/main">
              <a:ext uri="{FF2B5EF4-FFF2-40B4-BE49-F238E27FC236}">
                <a16:creationId xmlns:a16="http://schemas.microsoft.com/office/drawing/2014/main" id="{4891E116-394A-4DB6-92EF-9BECFCE3E309}"/>
              </a:ext>
            </a:extLst>
          </p:cNvPr>
          <p:cNvSpPr>
            <a:spLocks xmlns:a="http://schemas.openxmlformats.org/drawingml/2006/main" noGrp="1"/>
          </p:cNvSpPr>
          <p:nvPr/>
        </p:nvSpPr>
        <p:spPr>
          <a:xfrm xmlns:a="http://schemas.openxmlformats.org/drawingml/2006/main">
            <a:off x="7196328" y="3145536"/>
            <a:ext cx="10058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86"/>
                </a:solidFill>
                <a:latin typeface="Cambria"/>
                <a:ea typeface="Cambria"/>
                <a:cs typeface="Cambria"/>
              </a:rPr>
              <a:t>LO4</a:t>
            </a:r>
            <a:endParaRPr sz="1500"/>
          </a:p>
        </p:txBody>
      </p:sp>
      <p:sp>
        <p:nvSpPr>
          <p:cNvPr id="26" name="Text 20">
            <a:extLst xmlns:a="http://schemas.openxmlformats.org/drawingml/2006/main">
              <a:ext uri="{FF2B5EF4-FFF2-40B4-BE49-F238E27FC236}">
                <a16:creationId xmlns:a16="http://schemas.microsoft.com/office/drawing/2014/main" id="{ABCF748D-FC25-49E9-AAA7-00E2985BC1C7}"/>
              </a:ext>
            </a:extLst>
          </p:cNvPr>
          <p:cNvSpPr>
            <a:spLocks xmlns:a="http://schemas.openxmlformats.org/drawingml/2006/main" noGrp="1"/>
          </p:cNvSpPr>
          <p:nvPr/>
        </p:nvSpPr>
        <p:spPr>
          <a:xfrm xmlns:a="http://schemas.openxmlformats.org/drawingml/2006/main">
            <a:off x="7196328" y="3456432"/>
            <a:ext cx="42976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80">
                <a:solidFill>
                  <a:srgbClr val="24313A"/>
                </a:solidFill>
                <a:latin typeface="Calibri"/>
                <a:ea typeface="Calibri"/>
                <a:cs typeface="Calibri"/>
              </a:rPr>
              <a:t>Develop linear and logistic regression models and diagnose their assumptions</a:t>
            </a:r>
            <a:endParaRPr sz="1180"/>
          </a:p>
        </p:txBody>
      </p:sp>
      <p:sp>
        <p:nvSpPr>
          <p:cNvPr id="27" name="Shape 21">
            <a:extLst xmlns:a="http://schemas.openxmlformats.org/drawingml/2006/main">
              <a:ext uri="{FF2B5EF4-FFF2-40B4-BE49-F238E27FC236}">
                <a16:creationId xmlns:a16="http://schemas.microsoft.com/office/drawing/2014/main" id="{7C1E475D-01D2-4B2D-847C-002FA504E6E8}"/>
              </a:ext>
            </a:extLst>
          </p:cNvPr>
          <p:cNvSpPr>
            <a:spLocks xmlns:a="http://schemas.openxmlformats.org/drawingml/2006/main" noGrp="1"/>
          </p:cNvSpPr>
          <p:nvPr/>
        </p:nvSpPr>
        <p:spPr>
          <a:xfrm xmlns:a="http://schemas.openxmlformats.org/drawingml/2006/main">
            <a:off x="502920" y="4325112"/>
            <a:ext cx="5532120" cy="1234440"/>
          </a:xfrm>
          <a:prstGeom xmlns:a="http://schemas.openxmlformats.org/drawingml/2006/main" prst="roundRect">
            <a:avLst>
              <a:gd name="adj" fmla="val 6667"/>
            </a:avLst>
          </a:prstGeom>
          <a:solidFill xmlns:a="http://schemas.openxmlformats.org/drawingml/2006/main">
            <a:srgbClr val="F3F8F9"/>
          </a:solidFill>
        </p:spPr>
      </p:sp>
      <p:sp>
        <p:nvSpPr>
          <p:cNvPr id="28" name="Shape 22">
            <a:extLst xmlns:a="http://schemas.openxmlformats.org/drawingml/2006/main">
              <a:ext uri="{FF2B5EF4-FFF2-40B4-BE49-F238E27FC236}">
                <a16:creationId xmlns:a16="http://schemas.microsoft.com/office/drawing/2014/main" id="{CCD8AB4B-6D65-4775-BF65-C9FED4198CF9}"/>
              </a:ext>
            </a:extLst>
          </p:cNvPr>
          <p:cNvSpPr>
            <a:spLocks xmlns:a="http://schemas.openxmlformats.org/drawingml/2006/main" noGrp="1"/>
          </p:cNvSpPr>
          <p:nvPr/>
        </p:nvSpPr>
        <p:spPr>
          <a:xfrm xmlns:a="http://schemas.openxmlformats.org/drawingml/2006/main">
            <a:off x="704088" y="4599432"/>
            <a:ext cx="658368" cy="658368"/>
          </a:xfrm>
          <a:prstGeom xmlns:a="http://schemas.openxmlformats.org/drawingml/2006/main" prst="ellipse">
            <a:avLst/>
          </a:prstGeom>
          <a:solidFill xmlns:a="http://schemas.openxmlformats.org/drawingml/2006/main">
            <a:srgbClr val="0E7C86"/>
          </a:solidFill>
        </p:spPr>
      </p:sp>
      <p:pic>
        <p:nvPicPr>
          <p:cNvPr id="70" name="Image 4"/>
          <p:cNvPicPr>
            <a:picLocks xmlns:a="http://schemas.openxmlformats.org/drawingml/2006/main" noChangeAspect="1"/>
          </p:cNvPicPr>
          <p:nvPr/>
        </p:nvPicPr>
        <p:blipFill>
          <a:blip xmlns:r="http://schemas.openxmlformats.org/officeDocument/2006/relationships" xmlns:a="http://schemas.openxmlformats.org/drawingml/2006/main" r:embed="R302076c172344f3a"/>
          <a:stretch xmlns:a="http://schemas.openxmlformats.org/drawingml/2006/main">
            <a:fillRect l="0" t="0" r="0" b="0"/>
          </a:stretch>
        </p:blipFill>
        <p:spPr>
          <a:xfrm xmlns:a="http://schemas.openxmlformats.org/drawingml/2006/main">
            <a:off x="875264" y="4770608"/>
            <a:ext cx="316017" cy="316017"/>
          </a:xfrm>
          <a:prstGeom xmlns:a="http://schemas.openxmlformats.org/drawingml/2006/main" prst="rect">
            <a:avLst/>
          </a:prstGeom>
        </p:spPr>
      </p:pic>
      <p:sp>
        <p:nvSpPr>
          <p:cNvPr id="30" name="Text 23">
            <a:extLst xmlns:a="http://schemas.openxmlformats.org/drawingml/2006/main">
              <a:ext uri="{FF2B5EF4-FFF2-40B4-BE49-F238E27FC236}">
                <a16:creationId xmlns:a16="http://schemas.microsoft.com/office/drawing/2014/main" id="{A854BFFF-B635-4300-895D-5B72910099F3}"/>
              </a:ext>
            </a:extLst>
          </p:cNvPr>
          <p:cNvSpPr>
            <a:spLocks xmlns:a="http://schemas.openxmlformats.org/drawingml/2006/main" noGrp="1"/>
          </p:cNvSpPr>
          <p:nvPr/>
        </p:nvSpPr>
        <p:spPr>
          <a:xfrm xmlns:a="http://schemas.openxmlformats.org/drawingml/2006/main">
            <a:off x="1527048" y="4526280"/>
            <a:ext cx="10058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86"/>
                </a:solidFill>
                <a:latin typeface="Cambria"/>
                <a:ea typeface="Cambria"/>
                <a:cs typeface="Cambria"/>
              </a:rPr>
              <a:t>LO5</a:t>
            </a:r>
            <a:endParaRPr sz="1500"/>
          </a:p>
        </p:txBody>
      </p:sp>
      <p:sp>
        <p:nvSpPr>
          <p:cNvPr id="31" name="Text 24">
            <a:extLst xmlns:a="http://schemas.openxmlformats.org/drawingml/2006/main">
              <a:ext uri="{FF2B5EF4-FFF2-40B4-BE49-F238E27FC236}">
                <a16:creationId xmlns:a16="http://schemas.microsoft.com/office/drawing/2014/main" id="{2D0D1EC0-975B-4D08-99F2-C779DB85FCD3}"/>
              </a:ext>
            </a:extLst>
          </p:cNvPr>
          <p:cNvSpPr>
            <a:spLocks xmlns:a="http://schemas.openxmlformats.org/drawingml/2006/main" noGrp="1"/>
          </p:cNvSpPr>
          <p:nvPr/>
        </p:nvSpPr>
        <p:spPr>
          <a:xfrm xmlns:a="http://schemas.openxmlformats.org/drawingml/2006/main">
            <a:off x="1527048" y="4837176"/>
            <a:ext cx="42976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80">
                <a:solidFill>
                  <a:srgbClr val="24313A"/>
                </a:solidFill>
                <a:latin typeface="Calibri"/>
                <a:ea typeface="Calibri"/>
                <a:cs typeface="Calibri"/>
              </a:rPr>
              <a:t>Evaluate statistical claims for common fallacies and misuse</a:t>
            </a:r>
            <a:endParaRPr sz="1180"/>
          </a:p>
        </p:txBody>
      </p:sp>
      <p:sp>
        <p:nvSpPr>
          <p:cNvPr id="32" name="Shape 25">
            <a:extLst xmlns:a="http://schemas.openxmlformats.org/drawingml/2006/main">
              <a:ext uri="{FF2B5EF4-FFF2-40B4-BE49-F238E27FC236}">
                <a16:creationId xmlns:a16="http://schemas.microsoft.com/office/drawing/2014/main" id="{083C36D8-6171-4ECF-A6A3-0977747C3B1B}"/>
              </a:ext>
            </a:extLst>
          </p:cNvPr>
          <p:cNvSpPr>
            <a:spLocks xmlns:a="http://schemas.openxmlformats.org/drawingml/2006/main" noGrp="1"/>
          </p:cNvSpPr>
          <p:nvPr/>
        </p:nvSpPr>
        <p:spPr>
          <a:xfrm xmlns:a="http://schemas.openxmlformats.org/drawingml/2006/main">
            <a:off x="6172200" y="4325112"/>
            <a:ext cx="5532120" cy="1234440"/>
          </a:xfrm>
          <a:prstGeom xmlns:a="http://schemas.openxmlformats.org/drawingml/2006/main" prst="roundRect">
            <a:avLst>
              <a:gd name="adj" fmla="val 6667"/>
            </a:avLst>
          </a:prstGeom>
          <a:solidFill xmlns:a="http://schemas.openxmlformats.org/drawingml/2006/main">
            <a:srgbClr val="F3F8F9"/>
          </a:solidFill>
        </p:spPr>
      </p:sp>
      <p:sp>
        <p:nvSpPr>
          <p:cNvPr id="33" name="Shape 26">
            <a:extLst xmlns:a="http://schemas.openxmlformats.org/drawingml/2006/main">
              <a:ext uri="{FF2B5EF4-FFF2-40B4-BE49-F238E27FC236}">
                <a16:creationId xmlns:a16="http://schemas.microsoft.com/office/drawing/2014/main" id="{737F35F9-022E-41A9-8607-DD8BF188C549}"/>
              </a:ext>
            </a:extLst>
          </p:cNvPr>
          <p:cNvSpPr>
            <a:spLocks xmlns:a="http://schemas.openxmlformats.org/drawingml/2006/main" noGrp="1"/>
          </p:cNvSpPr>
          <p:nvPr/>
        </p:nvSpPr>
        <p:spPr>
          <a:xfrm xmlns:a="http://schemas.openxmlformats.org/drawingml/2006/main">
            <a:off x="6373368" y="4599432"/>
            <a:ext cx="658368" cy="658368"/>
          </a:xfrm>
          <a:prstGeom xmlns:a="http://schemas.openxmlformats.org/drawingml/2006/main" prst="ellipse">
            <a:avLst/>
          </a:prstGeom>
          <a:solidFill xmlns:a="http://schemas.openxmlformats.org/drawingml/2006/main">
            <a:srgbClr val="0E7C86"/>
          </a:solidFill>
        </p:spPr>
      </p:sp>
      <p:pic>
        <p:nvPicPr>
          <p:cNvPr id="75" name="Image 5"/>
          <p:cNvPicPr>
            <a:picLocks xmlns:a="http://schemas.openxmlformats.org/drawingml/2006/main" noChangeAspect="1"/>
          </p:cNvPicPr>
          <p:nvPr/>
        </p:nvPicPr>
        <p:blipFill>
          <a:blip xmlns:r="http://schemas.openxmlformats.org/officeDocument/2006/relationships" xmlns:a="http://schemas.openxmlformats.org/drawingml/2006/main" r:embed="Re7955fa08cc64b6c"/>
          <a:stretch xmlns:a="http://schemas.openxmlformats.org/drawingml/2006/main">
            <a:fillRect l="0" t="0" r="0" b="0"/>
          </a:stretch>
        </p:blipFill>
        <p:spPr>
          <a:xfrm xmlns:a="http://schemas.openxmlformats.org/drawingml/2006/main">
            <a:off x="6544544" y="4770608"/>
            <a:ext cx="316017" cy="316017"/>
          </a:xfrm>
          <a:prstGeom xmlns:a="http://schemas.openxmlformats.org/drawingml/2006/main" prst="rect">
            <a:avLst/>
          </a:prstGeom>
        </p:spPr>
      </p:pic>
      <p:sp>
        <p:nvSpPr>
          <p:cNvPr id="35" name="Text 27">
            <a:extLst xmlns:a="http://schemas.openxmlformats.org/drawingml/2006/main">
              <a:ext uri="{FF2B5EF4-FFF2-40B4-BE49-F238E27FC236}">
                <a16:creationId xmlns:a16="http://schemas.microsoft.com/office/drawing/2014/main" id="{17EB357A-64D8-4276-ABA3-2191C8987320}"/>
              </a:ext>
            </a:extLst>
          </p:cNvPr>
          <p:cNvSpPr>
            <a:spLocks xmlns:a="http://schemas.openxmlformats.org/drawingml/2006/main" noGrp="1"/>
          </p:cNvSpPr>
          <p:nvPr/>
        </p:nvSpPr>
        <p:spPr>
          <a:xfrm xmlns:a="http://schemas.openxmlformats.org/drawingml/2006/main">
            <a:off x="7196328" y="4526280"/>
            <a:ext cx="10058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86"/>
                </a:solidFill>
                <a:latin typeface="Cambria"/>
                <a:ea typeface="Cambria"/>
                <a:cs typeface="Cambria"/>
              </a:rPr>
              <a:t>LO6</a:t>
            </a:r>
            <a:endParaRPr sz="1500"/>
          </a:p>
        </p:txBody>
      </p:sp>
      <p:sp>
        <p:nvSpPr>
          <p:cNvPr id="36" name="Text 28">
            <a:extLst xmlns:a="http://schemas.openxmlformats.org/drawingml/2006/main">
              <a:ext uri="{FF2B5EF4-FFF2-40B4-BE49-F238E27FC236}">
                <a16:creationId xmlns:a16="http://schemas.microsoft.com/office/drawing/2014/main" id="{3557E56C-AE50-4209-AFAE-39872FD3DE44}"/>
              </a:ext>
            </a:extLst>
          </p:cNvPr>
          <p:cNvSpPr>
            <a:spLocks xmlns:a="http://schemas.openxmlformats.org/drawingml/2006/main" noGrp="1"/>
          </p:cNvSpPr>
          <p:nvPr/>
        </p:nvSpPr>
        <p:spPr>
          <a:xfrm xmlns:a="http://schemas.openxmlformats.org/drawingml/2006/main">
            <a:off x="7196328" y="4837176"/>
            <a:ext cx="42976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80">
                <a:solidFill>
                  <a:srgbClr val="24313A"/>
                </a:solidFill>
                <a:latin typeface="Calibri"/>
                <a:ea typeface="Calibri"/>
                <a:cs typeface="Calibri"/>
              </a:rPr>
              <a:t>Simulate statistical processes computationally to validate analytical results</a:t>
            </a:r>
            <a:endParaRPr sz="1180"/>
          </a:p>
        </p:txBody>
      </p:sp>
    </p:spTree>
    <p:extLst>
      <p:ext uri="{BB962C8B-B14F-4D97-AF65-F5344CB8AC3E}">
        <p14:creationId xmlns:p14="http://schemas.microsoft.com/office/powerpoint/2010/main" val="15008407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57AD4AE-808D-4161-92AB-301A9C510CD4}"/>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7B5BCE9C-7478-482F-8228-07A724E88856}"/>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5</a:t>
            </a:r>
            <a:endParaRPr sz="900"/>
          </a:p>
        </p:txBody>
      </p:sp>
      <p:sp>
        <p:nvSpPr>
          <p:cNvPr id="4" name="Shape 2">
            <a:extLst xmlns:a="http://schemas.openxmlformats.org/drawingml/2006/main">
              <a:ext uri="{FF2B5EF4-FFF2-40B4-BE49-F238E27FC236}">
                <a16:creationId xmlns:a16="http://schemas.microsoft.com/office/drawing/2014/main" id="{9F1DD304-C637-4669-B908-F527B9C7CF80}"/>
              </a:ext>
            </a:extLst>
          </p:cNvPr>
          <p:cNvSpPr>
            <a:spLocks xmlns:a="http://schemas.openxmlformats.org/drawingml/2006/main" noGrp="1"/>
          </p:cNvSpPr>
          <p:nvPr/>
        </p:nvSpPr>
        <p:spPr>
          <a:xfrm xmlns:a="http://schemas.openxmlformats.org/drawingml/2006/main">
            <a:off x="502920" y="384048"/>
            <a:ext cx="1416406"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1BE839A5-6A71-4E1E-80FB-35C421F434E9}"/>
              </a:ext>
            </a:extLst>
          </p:cNvPr>
          <p:cNvSpPr>
            <a:spLocks xmlns:a="http://schemas.openxmlformats.org/drawingml/2006/main" noGrp="1"/>
          </p:cNvSpPr>
          <p:nvPr/>
        </p:nvSpPr>
        <p:spPr>
          <a:xfrm xmlns:a="http://schemas.openxmlformats.org/drawingml/2006/main">
            <a:off x="502920" y="384048"/>
            <a:ext cx="1416406"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DELIVERY PLAN</a:t>
            </a:r>
            <a:endParaRPr sz="1050"/>
          </a:p>
        </p:txBody>
      </p:sp>
      <p:sp>
        <p:nvSpPr>
          <p:cNvPr id="6" name="Text 4">
            <a:extLst xmlns:a="http://schemas.openxmlformats.org/drawingml/2006/main">
              <a:ext uri="{FF2B5EF4-FFF2-40B4-BE49-F238E27FC236}">
                <a16:creationId xmlns:a16="http://schemas.microsoft.com/office/drawing/2014/main" id="{2DC8D91E-B331-481D-A073-F3568448B376}"/>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The four-day journey</a:t>
            </a:r>
            <a:endParaRPr sz="2800"/>
          </a:p>
        </p:txBody>
      </p:sp>
      <p:sp>
        <p:nvSpPr>
          <p:cNvPr id="7" name="Shape 5">
            <a:extLst xmlns:a="http://schemas.openxmlformats.org/drawingml/2006/main">
              <a:ext uri="{FF2B5EF4-FFF2-40B4-BE49-F238E27FC236}">
                <a16:creationId xmlns:a16="http://schemas.microsoft.com/office/drawing/2014/main" id="{5C61F568-721C-44DE-8E79-612238076868}"/>
              </a:ext>
            </a:extLst>
          </p:cNvPr>
          <p:cNvSpPr>
            <a:spLocks xmlns:a="http://schemas.openxmlformats.org/drawingml/2006/main" noGrp="1"/>
          </p:cNvSpPr>
          <p:nvPr/>
        </p:nvSpPr>
        <p:spPr>
          <a:xfrm xmlns:a="http://schemas.openxmlformats.org/drawingml/2006/main">
            <a:off x="502920" y="1545336"/>
            <a:ext cx="11201400" cy="1060704"/>
          </a:xfrm>
          <a:prstGeom xmlns:a="http://schemas.openxmlformats.org/drawingml/2006/main" prst="roundRect">
            <a:avLst>
              <a:gd name="adj" fmla="val 7759"/>
            </a:avLst>
          </a:prstGeom>
          <a:solidFill xmlns:a="http://schemas.openxmlformats.org/drawingml/2006/main">
            <a:srgbClr val="F3F8F9"/>
          </a:solidFill>
        </p:spPr>
      </p:sp>
      <p:sp>
        <p:nvSpPr>
          <p:cNvPr id="8" name="Shape 6">
            <a:extLst xmlns:a="http://schemas.openxmlformats.org/drawingml/2006/main">
              <a:ext uri="{FF2B5EF4-FFF2-40B4-BE49-F238E27FC236}">
                <a16:creationId xmlns:a16="http://schemas.microsoft.com/office/drawing/2014/main" id="{E367AA83-09C1-47D9-BD08-34188B18D30C}"/>
              </a:ext>
            </a:extLst>
          </p:cNvPr>
          <p:cNvSpPr>
            <a:spLocks xmlns:a="http://schemas.openxmlformats.org/drawingml/2006/main" noGrp="1"/>
          </p:cNvSpPr>
          <p:nvPr/>
        </p:nvSpPr>
        <p:spPr>
          <a:xfrm xmlns:a="http://schemas.openxmlformats.org/drawingml/2006/main">
            <a:off x="685800" y="1764792"/>
            <a:ext cx="1051560" cy="621792"/>
          </a:xfrm>
          <a:prstGeom xmlns:a="http://schemas.openxmlformats.org/drawingml/2006/main" prst="roundRect">
            <a:avLst>
              <a:gd name="adj" fmla="val 14706"/>
            </a:avLst>
          </a:prstGeom>
          <a:solidFill xmlns:a="http://schemas.openxmlformats.org/drawingml/2006/main">
            <a:srgbClr val="0B3140"/>
          </a:solidFill>
        </p:spPr>
      </p:sp>
      <p:sp>
        <p:nvSpPr>
          <p:cNvPr id="9" name="Text 7">
            <a:extLst xmlns:a="http://schemas.openxmlformats.org/drawingml/2006/main">
              <a:ext uri="{FF2B5EF4-FFF2-40B4-BE49-F238E27FC236}">
                <a16:creationId xmlns:a16="http://schemas.microsoft.com/office/drawing/2014/main" id="{B52923D9-7FE4-48F7-A174-4C968AE129DA}"/>
              </a:ext>
            </a:extLst>
          </p:cNvPr>
          <p:cNvSpPr>
            <a:spLocks xmlns:a="http://schemas.openxmlformats.org/drawingml/2006/main" noGrp="1"/>
          </p:cNvSpPr>
          <p:nvPr/>
        </p:nvSpPr>
        <p:spPr>
          <a:xfrm xmlns:a="http://schemas.openxmlformats.org/drawingml/2006/main">
            <a:off x="685800" y="1764792"/>
            <a:ext cx="105156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Day 1</a:t>
            </a:r>
            <a:endParaRPr sz="1400"/>
          </a:p>
        </p:txBody>
      </p:sp>
      <p:sp>
        <p:nvSpPr>
          <p:cNvPr id="10" name="Text 8">
            <a:extLst xmlns:a="http://schemas.openxmlformats.org/drawingml/2006/main">
              <a:ext uri="{FF2B5EF4-FFF2-40B4-BE49-F238E27FC236}">
                <a16:creationId xmlns:a16="http://schemas.microsoft.com/office/drawing/2014/main" id="{9A3FF2D1-B463-4632-A1A6-B77CFA6377D1}"/>
              </a:ext>
            </a:extLst>
          </p:cNvPr>
          <p:cNvSpPr>
            <a:spLocks xmlns:a="http://schemas.openxmlformats.org/drawingml/2006/main" noGrp="1"/>
          </p:cNvSpPr>
          <p:nvPr/>
        </p:nvSpPr>
        <p:spPr>
          <a:xfrm xmlns:a="http://schemas.openxmlformats.org/drawingml/2006/main">
            <a:off x="1965960" y="1673352"/>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B3140"/>
                </a:solidFill>
                <a:latin typeface="Cambria"/>
                <a:ea typeface="Cambria"/>
                <a:cs typeface="Cambria"/>
              </a:rPr>
              <a:t>The language of uncertainty</a:t>
            </a:r>
            <a:endParaRPr sz="1500"/>
          </a:p>
        </p:txBody>
      </p:sp>
      <p:sp>
        <p:nvSpPr>
          <p:cNvPr id="11" name="Text 9">
            <a:extLst xmlns:a="http://schemas.openxmlformats.org/drawingml/2006/main">
              <a:ext uri="{FF2B5EF4-FFF2-40B4-BE49-F238E27FC236}">
                <a16:creationId xmlns:a16="http://schemas.microsoft.com/office/drawing/2014/main" id="{B745D18E-2A7D-4062-8FB9-7DF4E7AFDB88}"/>
              </a:ext>
            </a:extLst>
          </p:cNvPr>
          <p:cNvSpPr>
            <a:spLocks xmlns:a="http://schemas.openxmlformats.org/drawingml/2006/main" noGrp="1"/>
          </p:cNvSpPr>
          <p:nvPr/>
        </p:nvSpPr>
        <p:spPr>
          <a:xfrm xmlns:a="http://schemas.openxmlformats.org/drawingml/2006/main">
            <a:off x="1965960" y="205740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B6B75"/>
                </a:solidFill>
                <a:latin typeface="Calibri"/>
                <a:ea typeface="Calibri"/>
                <a:cs typeface="Calibri"/>
              </a:rPr>
              <a:t>M1 Probability &amp; distributions · M2 Description &amp; sampling</a:t>
            </a:r>
            <a:endParaRPr sz="1050"/>
          </a:p>
        </p:txBody>
      </p:sp>
      <p:sp>
        <p:nvSpPr>
          <p:cNvPr id="12" name="Text 10">
            <a:extLst xmlns:a="http://schemas.openxmlformats.org/drawingml/2006/main">
              <a:ext uri="{FF2B5EF4-FFF2-40B4-BE49-F238E27FC236}">
                <a16:creationId xmlns:a16="http://schemas.microsoft.com/office/drawing/2014/main" id="{1C9767AF-ED86-45AB-9965-BD08DC61B04F}"/>
              </a:ext>
            </a:extLst>
          </p:cNvPr>
          <p:cNvSpPr>
            <a:spLocks xmlns:a="http://schemas.openxmlformats.org/drawingml/2006/main" noGrp="1"/>
          </p:cNvSpPr>
          <p:nvPr/>
        </p:nvSpPr>
        <p:spPr>
          <a:xfrm xmlns:a="http://schemas.openxmlformats.org/drawingml/2006/main">
            <a:off x="6355080" y="1709928"/>
            <a:ext cx="41605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80" b="1">
                <a:solidFill>
                  <a:srgbClr val="0A5C64"/>
                </a:solidFill>
                <a:latin typeface="Calibri"/>
                <a:ea typeface="Calibri"/>
                <a:cs typeface="Calibri"/>
              </a:rPr>
              <a:t>Deliverable: </a:t>
            </a:r>
            <a:r>
              <a:rPr sz="1080">
                <a:solidFill>
                  <a:srgbClr val="24313A"/>
                </a:solidFill>
                <a:latin typeface="Calibri"/>
                <a:ea typeface="Calibri"/>
                <a:cs typeface="Calibri"/>
              </a:rPr>
              <a:t>Fitted no-show / wait-time distributions + a defensible stratified sample</a:t>
            </a:r>
            <a:endParaRPr sz="1080"/>
          </a:p>
        </p:txBody>
      </p:sp>
      <p:sp>
        <p:nvSpPr>
          <p:cNvPr id="13" name="Text 11">
            <a:extLst xmlns:a="http://schemas.openxmlformats.org/drawingml/2006/main">
              <a:ext uri="{FF2B5EF4-FFF2-40B4-BE49-F238E27FC236}">
                <a16:creationId xmlns:a16="http://schemas.microsoft.com/office/drawing/2014/main" id="{96BF03DE-4A1D-4FA4-B934-9F82B885911C}"/>
              </a:ext>
            </a:extLst>
          </p:cNvPr>
          <p:cNvSpPr>
            <a:spLocks xmlns:a="http://schemas.openxmlformats.org/drawingml/2006/main" noGrp="1"/>
          </p:cNvSpPr>
          <p:nvPr/>
        </p:nvSpPr>
        <p:spPr>
          <a:xfrm xmlns:a="http://schemas.openxmlformats.org/drawingml/2006/main">
            <a:off x="10607040" y="1728216"/>
            <a:ext cx="9601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0E7C86"/>
                </a:solidFill>
                <a:latin typeface="Calibri"/>
                <a:ea typeface="Calibri"/>
                <a:cs typeface="Calibri"/>
              </a:rPr>
              <a:t>55 / 45</a:t>
            </a:r>
            <a:endParaRPr sz="1300"/>
          </a:p>
          <a:p xmlns:a="http://schemas.openxmlformats.org/drawingml/2006/main">
            <a:pPr marL="0" indent="0" algn="ctr">
              <a:buNone/>
            </a:pPr>
            <a:r>
              <a:rPr sz="850">
                <a:solidFill>
                  <a:srgbClr val="5B6B75"/>
                </a:solidFill>
                <a:latin typeface="Calibri"/>
                <a:ea typeface="Calibri"/>
                <a:cs typeface="Calibri"/>
              </a:rPr>
              <a:t>theory / lab</a:t>
            </a:r>
            <a:endParaRPr sz="1300"/>
          </a:p>
        </p:txBody>
      </p:sp>
      <p:sp>
        <p:nvSpPr>
          <p:cNvPr id="14" name="Shape 12">
            <a:extLst xmlns:a="http://schemas.openxmlformats.org/drawingml/2006/main">
              <a:ext uri="{FF2B5EF4-FFF2-40B4-BE49-F238E27FC236}">
                <a16:creationId xmlns:a16="http://schemas.microsoft.com/office/drawing/2014/main" id="{9097AAE3-7CD1-46F6-816C-D5E13B8A029A}"/>
              </a:ext>
            </a:extLst>
          </p:cNvPr>
          <p:cNvSpPr>
            <a:spLocks xmlns:a="http://schemas.openxmlformats.org/drawingml/2006/main" noGrp="1"/>
          </p:cNvSpPr>
          <p:nvPr/>
        </p:nvSpPr>
        <p:spPr>
          <a:xfrm xmlns:a="http://schemas.openxmlformats.org/drawingml/2006/main">
            <a:off x="502920" y="2715768"/>
            <a:ext cx="11201400" cy="1060704"/>
          </a:xfrm>
          <a:prstGeom xmlns:a="http://schemas.openxmlformats.org/drawingml/2006/main" prst="roundRect">
            <a:avLst>
              <a:gd name="adj" fmla="val 7759"/>
            </a:avLst>
          </a:prstGeom>
          <a:solidFill xmlns:a="http://schemas.openxmlformats.org/drawingml/2006/main">
            <a:srgbClr val="F3F8F9"/>
          </a:solidFill>
        </p:spPr>
      </p:sp>
      <p:sp>
        <p:nvSpPr>
          <p:cNvPr id="15" name="Shape 13">
            <a:extLst xmlns:a="http://schemas.openxmlformats.org/drawingml/2006/main">
              <a:ext uri="{FF2B5EF4-FFF2-40B4-BE49-F238E27FC236}">
                <a16:creationId xmlns:a16="http://schemas.microsoft.com/office/drawing/2014/main" id="{9D3EEC3E-7CEC-4AA9-9F93-25069BBF06CD}"/>
              </a:ext>
            </a:extLst>
          </p:cNvPr>
          <p:cNvSpPr>
            <a:spLocks xmlns:a="http://schemas.openxmlformats.org/drawingml/2006/main" noGrp="1"/>
          </p:cNvSpPr>
          <p:nvPr/>
        </p:nvSpPr>
        <p:spPr>
          <a:xfrm xmlns:a="http://schemas.openxmlformats.org/drawingml/2006/main">
            <a:off x="685800" y="2935224"/>
            <a:ext cx="1051560" cy="621792"/>
          </a:xfrm>
          <a:prstGeom xmlns:a="http://schemas.openxmlformats.org/drawingml/2006/main" prst="roundRect">
            <a:avLst>
              <a:gd name="adj" fmla="val 14706"/>
            </a:avLst>
          </a:prstGeom>
          <a:solidFill xmlns:a="http://schemas.openxmlformats.org/drawingml/2006/main">
            <a:srgbClr val="0B3140"/>
          </a:solidFill>
        </p:spPr>
      </p:sp>
      <p:sp>
        <p:nvSpPr>
          <p:cNvPr id="16" name="Text 14">
            <a:extLst xmlns:a="http://schemas.openxmlformats.org/drawingml/2006/main">
              <a:ext uri="{FF2B5EF4-FFF2-40B4-BE49-F238E27FC236}">
                <a16:creationId xmlns:a16="http://schemas.microsoft.com/office/drawing/2014/main" id="{E44426FB-C9F7-4BAF-8071-62D5BD409A48}"/>
              </a:ext>
            </a:extLst>
          </p:cNvPr>
          <p:cNvSpPr>
            <a:spLocks xmlns:a="http://schemas.openxmlformats.org/drawingml/2006/main" noGrp="1"/>
          </p:cNvSpPr>
          <p:nvPr/>
        </p:nvSpPr>
        <p:spPr>
          <a:xfrm xmlns:a="http://schemas.openxmlformats.org/drawingml/2006/main">
            <a:off x="685800" y="2935224"/>
            <a:ext cx="105156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Day 2</a:t>
            </a:r>
            <a:endParaRPr sz="1400"/>
          </a:p>
        </p:txBody>
      </p:sp>
      <p:sp>
        <p:nvSpPr>
          <p:cNvPr id="17" name="Text 15">
            <a:extLst xmlns:a="http://schemas.openxmlformats.org/drawingml/2006/main">
              <a:ext uri="{FF2B5EF4-FFF2-40B4-BE49-F238E27FC236}">
                <a16:creationId xmlns:a16="http://schemas.microsoft.com/office/drawing/2014/main" id="{9B13CB32-F132-44C9-B55D-1F20506AEDB1}"/>
              </a:ext>
            </a:extLst>
          </p:cNvPr>
          <p:cNvSpPr>
            <a:spLocks xmlns:a="http://schemas.openxmlformats.org/drawingml/2006/main" noGrp="1"/>
          </p:cNvSpPr>
          <p:nvPr/>
        </p:nvSpPr>
        <p:spPr>
          <a:xfrm xmlns:a="http://schemas.openxmlformats.org/drawingml/2006/main">
            <a:off x="1965960" y="2843784"/>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B3140"/>
                </a:solidFill>
                <a:latin typeface="Cambria"/>
                <a:ea typeface="Cambria"/>
                <a:cs typeface="Cambria"/>
              </a:rPr>
              <a:t>From sample to claim</a:t>
            </a:r>
            <a:endParaRPr sz="1500"/>
          </a:p>
        </p:txBody>
      </p:sp>
      <p:sp>
        <p:nvSpPr>
          <p:cNvPr id="18" name="Text 16">
            <a:extLst xmlns:a="http://schemas.openxmlformats.org/drawingml/2006/main">
              <a:ext uri="{FF2B5EF4-FFF2-40B4-BE49-F238E27FC236}">
                <a16:creationId xmlns:a16="http://schemas.microsoft.com/office/drawing/2014/main" id="{B9FE59EA-8C6A-47FB-AA22-AD0C9AE03E05}"/>
              </a:ext>
            </a:extLst>
          </p:cNvPr>
          <p:cNvSpPr>
            <a:spLocks xmlns:a="http://schemas.openxmlformats.org/drawingml/2006/main" noGrp="1"/>
          </p:cNvSpPr>
          <p:nvPr/>
        </p:nvSpPr>
        <p:spPr>
          <a:xfrm xmlns:a="http://schemas.openxmlformats.org/drawingml/2006/main">
            <a:off x="1965960" y="3227832"/>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B6B75"/>
                </a:solidFill>
                <a:latin typeface="Calibri"/>
                <a:ea typeface="Calibri"/>
                <a:cs typeface="Calibri"/>
              </a:rPr>
              <a:t>M3 Estimation &amp; CIs · M4 Testing &amp; effect sizes</a:t>
            </a:r>
            <a:endParaRPr sz="1050"/>
          </a:p>
        </p:txBody>
      </p:sp>
      <p:sp>
        <p:nvSpPr>
          <p:cNvPr id="19" name="Text 17">
            <a:extLst xmlns:a="http://schemas.openxmlformats.org/drawingml/2006/main">
              <a:ext uri="{FF2B5EF4-FFF2-40B4-BE49-F238E27FC236}">
                <a16:creationId xmlns:a16="http://schemas.microsoft.com/office/drawing/2014/main" id="{F0B4C7F8-F37C-4B23-994D-AB7505F27E79}"/>
              </a:ext>
            </a:extLst>
          </p:cNvPr>
          <p:cNvSpPr>
            <a:spLocks xmlns:a="http://schemas.openxmlformats.org/drawingml/2006/main" noGrp="1"/>
          </p:cNvSpPr>
          <p:nvPr/>
        </p:nvSpPr>
        <p:spPr>
          <a:xfrm xmlns:a="http://schemas.openxmlformats.org/drawingml/2006/main">
            <a:off x="6355080" y="2880360"/>
            <a:ext cx="41605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80" b="1">
                <a:solidFill>
                  <a:srgbClr val="0A5C64"/>
                </a:solidFill>
                <a:latin typeface="Calibri"/>
                <a:ea typeface="Calibri"/>
                <a:cs typeface="Calibri"/>
              </a:rPr>
              <a:t>Deliverable: </a:t>
            </a:r>
            <a:r>
              <a:rPr sz="1080">
                <a:solidFill>
                  <a:srgbClr val="24313A"/>
                </a:solidFill>
                <a:latin typeface="Calibri"/>
                <a:ea typeface="Calibri"/>
                <a:cs typeface="Calibri"/>
              </a:rPr>
              <a:t>Regional estimates with CIs + an analysed SMS A/B test with effect size</a:t>
            </a:r>
            <a:endParaRPr sz="1080"/>
          </a:p>
        </p:txBody>
      </p:sp>
      <p:sp>
        <p:nvSpPr>
          <p:cNvPr id="20" name="Text 18">
            <a:extLst xmlns:a="http://schemas.openxmlformats.org/drawingml/2006/main">
              <a:ext uri="{FF2B5EF4-FFF2-40B4-BE49-F238E27FC236}">
                <a16:creationId xmlns:a16="http://schemas.microsoft.com/office/drawing/2014/main" id="{D04357BB-D400-46AA-8FD4-71FE1E665348}"/>
              </a:ext>
            </a:extLst>
          </p:cNvPr>
          <p:cNvSpPr>
            <a:spLocks xmlns:a="http://schemas.openxmlformats.org/drawingml/2006/main" noGrp="1"/>
          </p:cNvSpPr>
          <p:nvPr/>
        </p:nvSpPr>
        <p:spPr>
          <a:xfrm xmlns:a="http://schemas.openxmlformats.org/drawingml/2006/main">
            <a:off x="10607040" y="2898648"/>
            <a:ext cx="9601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0E7C86"/>
                </a:solidFill>
                <a:latin typeface="Calibri"/>
                <a:ea typeface="Calibri"/>
                <a:cs typeface="Calibri"/>
              </a:rPr>
              <a:t>45 / 55</a:t>
            </a:r>
            <a:endParaRPr sz="1300"/>
          </a:p>
          <a:p xmlns:a="http://schemas.openxmlformats.org/drawingml/2006/main">
            <a:pPr marL="0" indent="0" algn="ctr">
              <a:buNone/>
            </a:pPr>
            <a:r>
              <a:rPr sz="850">
                <a:solidFill>
                  <a:srgbClr val="5B6B75"/>
                </a:solidFill>
                <a:latin typeface="Calibri"/>
                <a:ea typeface="Calibri"/>
                <a:cs typeface="Calibri"/>
              </a:rPr>
              <a:t>theory / lab</a:t>
            </a:r>
            <a:endParaRPr sz="1300"/>
          </a:p>
        </p:txBody>
      </p:sp>
      <p:sp>
        <p:nvSpPr>
          <p:cNvPr id="21" name="Shape 19">
            <a:extLst xmlns:a="http://schemas.openxmlformats.org/drawingml/2006/main">
              <a:ext uri="{FF2B5EF4-FFF2-40B4-BE49-F238E27FC236}">
                <a16:creationId xmlns:a16="http://schemas.microsoft.com/office/drawing/2014/main" id="{D68A2F0C-A5F0-4655-934E-CE9ED367EF01}"/>
              </a:ext>
            </a:extLst>
          </p:cNvPr>
          <p:cNvSpPr>
            <a:spLocks xmlns:a="http://schemas.openxmlformats.org/drawingml/2006/main" noGrp="1"/>
          </p:cNvSpPr>
          <p:nvPr/>
        </p:nvSpPr>
        <p:spPr>
          <a:xfrm xmlns:a="http://schemas.openxmlformats.org/drawingml/2006/main">
            <a:off x="502920" y="3886200"/>
            <a:ext cx="11201400" cy="1060704"/>
          </a:xfrm>
          <a:prstGeom xmlns:a="http://schemas.openxmlformats.org/drawingml/2006/main" prst="roundRect">
            <a:avLst>
              <a:gd name="adj" fmla="val 7759"/>
            </a:avLst>
          </a:prstGeom>
          <a:solidFill xmlns:a="http://schemas.openxmlformats.org/drawingml/2006/main">
            <a:srgbClr val="F3F8F9"/>
          </a:solidFill>
        </p:spPr>
      </p:sp>
      <p:sp>
        <p:nvSpPr>
          <p:cNvPr id="22" name="Shape 20">
            <a:extLst xmlns:a="http://schemas.openxmlformats.org/drawingml/2006/main">
              <a:ext uri="{FF2B5EF4-FFF2-40B4-BE49-F238E27FC236}">
                <a16:creationId xmlns:a16="http://schemas.microsoft.com/office/drawing/2014/main" id="{7FA7F148-6C96-4089-A6BD-72FCFF3D198E}"/>
              </a:ext>
            </a:extLst>
          </p:cNvPr>
          <p:cNvSpPr>
            <a:spLocks xmlns:a="http://schemas.openxmlformats.org/drawingml/2006/main" noGrp="1"/>
          </p:cNvSpPr>
          <p:nvPr/>
        </p:nvSpPr>
        <p:spPr>
          <a:xfrm xmlns:a="http://schemas.openxmlformats.org/drawingml/2006/main">
            <a:off x="685800" y="4105656"/>
            <a:ext cx="1051560" cy="621792"/>
          </a:xfrm>
          <a:prstGeom xmlns:a="http://schemas.openxmlformats.org/drawingml/2006/main" prst="roundRect">
            <a:avLst>
              <a:gd name="adj" fmla="val 14706"/>
            </a:avLst>
          </a:prstGeom>
          <a:solidFill xmlns:a="http://schemas.openxmlformats.org/drawingml/2006/main">
            <a:srgbClr val="0B3140"/>
          </a:solidFill>
        </p:spPr>
      </p:sp>
      <p:sp>
        <p:nvSpPr>
          <p:cNvPr id="23" name="Text 21">
            <a:extLst xmlns:a="http://schemas.openxmlformats.org/drawingml/2006/main">
              <a:ext uri="{FF2B5EF4-FFF2-40B4-BE49-F238E27FC236}">
                <a16:creationId xmlns:a16="http://schemas.microsoft.com/office/drawing/2014/main" id="{1B93AF8B-0497-44C8-BFED-E890B696F04C}"/>
              </a:ext>
            </a:extLst>
          </p:cNvPr>
          <p:cNvSpPr>
            <a:spLocks xmlns:a="http://schemas.openxmlformats.org/drawingml/2006/main" noGrp="1"/>
          </p:cNvSpPr>
          <p:nvPr/>
        </p:nvSpPr>
        <p:spPr>
          <a:xfrm xmlns:a="http://schemas.openxmlformats.org/drawingml/2006/main">
            <a:off x="685800" y="4105656"/>
            <a:ext cx="105156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Day 3</a:t>
            </a:r>
            <a:endParaRPr sz="1400"/>
          </a:p>
        </p:txBody>
      </p:sp>
      <p:sp>
        <p:nvSpPr>
          <p:cNvPr id="24" name="Text 22">
            <a:extLst xmlns:a="http://schemas.openxmlformats.org/drawingml/2006/main">
              <a:ext uri="{FF2B5EF4-FFF2-40B4-BE49-F238E27FC236}">
                <a16:creationId xmlns:a16="http://schemas.microsoft.com/office/drawing/2014/main" id="{FBC18196-346C-43ED-9BFF-DACAA86D96E5}"/>
              </a:ext>
            </a:extLst>
          </p:cNvPr>
          <p:cNvSpPr>
            <a:spLocks xmlns:a="http://schemas.openxmlformats.org/drawingml/2006/main" noGrp="1"/>
          </p:cNvSpPr>
          <p:nvPr/>
        </p:nvSpPr>
        <p:spPr>
          <a:xfrm xmlns:a="http://schemas.openxmlformats.org/drawingml/2006/main">
            <a:off x="1965960" y="4014216"/>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B3140"/>
                </a:solidFill>
                <a:latin typeface="Cambria"/>
                <a:ea typeface="Cambria"/>
                <a:cs typeface="Cambria"/>
              </a:rPr>
              <a:t>What actually drives no-shows</a:t>
            </a:r>
            <a:endParaRPr sz="1500"/>
          </a:p>
        </p:txBody>
      </p:sp>
      <p:sp>
        <p:nvSpPr>
          <p:cNvPr id="25" name="Text 23">
            <a:extLst xmlns:a="http://schemas.openxmlformats.org/drawingml/2006/main">
              <a:ext uri="{FF2B5EF4-FFF2-40B4-BE49-F238E27FC236}">
                <a16:creationId xmlns:a16="http://schemas.microsoft.com/office/drawing/2014/main" id="{A685A526-B86E-42C3-BA90-7EB5654B60E7}"/>
              </a:ext>
            </a:extLst>
          </p:cNvPr>
          <p:cNvSpPr>
            <a:spLocks xmlns:a="http://schemas.openxmlformats.org/drawingml/2006/main" noGrp="1"/>
          </p:cNvSpPr>
          <p:nvPr/>
        </p:nvSpPr>
        <p:spPr>
          <a:xfrm xmlns:a="http://schemas.openxmlformats.org/drawingml/2006/main">
            <a:off x="1965960" y="4398264"/>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B6B75"/>
                </a:solidFill>
                <a:latin typeface="Calibri"/>
                <a:ea typeface="Calibri"/>
                <a:cs typeface="Calibri"/>
              </a:rPr>
              <a:t>M5 Correlation, causation &amp; confounding · M6 Regression</a:t>
            </a:r>
            <a:endParaRPr sz="1050"/>
          </a:p>
        </p:txBody>
      </p:sp>
      <p:sp>
        <p:nvSpPr>
          <p:cNvPr id="26" name="Text 24">
            <a:extLst xmlns:a="http://schemas.openxmlformats.org/drawingml/2006/main">
              <a:ext uri="{FF2B5EF4-FFF2-40B4-BE49-F238E27FC236}">
                <a16:creationId xmlns:a16="http://schemas.microsoft.com/office/drawing/2014/main" id="{0B1CB42E-1D5F-4504-B9D1-492C7037C5D7}"/>
              </a:ext>
            </a:extLst>
          </p:cNvPr>
          <p:cNvSpPr>
            <a:spLocks xmlns:a="http://schemas.openxmlformats.org/drawingml/2006/main" noGrp="1"/>
          </p:cNvSpPr>
          <p:nvPr/>
        </p:nvSpPr>
        <p:spPr>
          <a:xfrm xmlns:a="http://schemas.openxmlformats.org/drawingml/2006/main">
            <a:off x="6355080" y="4050792"/>
            <a:ext cx="41605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80" b="1">
                <a:solidFill>
                  <a:srgbClr val="0A5C64"/>
                </a:solidFill>
                <a:latin typeface="Calibri"/>
                <a:ea typeface="Calibri"/>
                <a:cs typeface="Calibri"/>
              </a:rPr>
              <a:t>Deliverable: </a:t>
            </a:r>
            <a:r>
              <a:rPr sz="1080">
                <a:solidFill>
                  <a:srgbClr val="24313A"/>
                </a:solidFill>
                <a:latin typeface="Calibri"/>
                <a:ea typeface="Calibri"/>
                <a:cs typeface="Calibri"/>
              </a:rPr>
              <a:t>Confounding-adjusted analysis + fitted linear &amp; logistic models</a:t>
            </a:r>
            <a:endParaRPr sz="1080"/>
          </a:p>
        </p:txBody>
      </p:sp>
      <p:sp>
        <p:nvSpPr>
          <p:cNvPr id="27" name="Text 25">
            <a:extLst xmlns:a="http://schemas.openxmlformats.org/drawingml/2006/main">
              <a:ext uri="{FF2B5EF4-FFF2-40B4-BE49-F238E27FC236}">
                <a16:creationId xmlns:a16="http://schemas.microsoft.com/office/drawing/2014/main" id="{A180D1F0-A506-4257-B076-A0E470D644EB}"/>
              </a:ext>
            </a:extLst>
          </p:cNvPr>
          <p:cNvSpPr>
            <a:spLocks xmlns:a="http://schemas.openxmlformats.org/drawingml/2006/main" noGrp="1"/>
          </p:cNvSpPr>
          <p:nvPr/>
        </p:nvSpPr>
        <p:spPr>
          <a:xfrm xmlns:a="http://schemas.openxmlformats.org/drawingml/2006/main">
            <a:off x="10607040" y="4069080"/>
            <a:ext cx="9601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0E7C86"/>
                </a:solidFill>
                <a:latin typeface="Calibri"/>
                <a:ea typeface="Calibri"/>
                <a:cs typeface="Calibri"/>
              </a:rPr>
              <a:t>45 / 55</a:t>
            </a:r>
            <a:endParaRPr sz="1300"/>
          </a:p>
          <a:p xmlns:a="http://schemas.openxmlformats.org/drawingml/2006/main">
            <a:pPr marL="0" indent="0" algn="ctr">
              <a:buNone/>
            </a:pPr>
            <a:r>
              <a:rPr sz="850">
                <a:solidFill>
                  <a:srgbClr val="5B6B75"/>
                </a:solidFill>
                <a:latin typeface="Calibri"/>
                <a:ea typeface="Calibri"/>
                <a:cs typeface="Calibri"/>
              </a:rPr>
              <a:t>theory / lab</a:t>
            </a:r>
            <a:endParaRPr sz="1300"/>
          </a:p>
        </p:txBody>
      </p:sp>
      <p:sp>
        <p:nvSpPr>
          <p:cNvPr id="28" name="Shape 26">
            <a:extLst xmlns:a="http://schemas.openxmlformats.org/drawingml/2006/main">
              <a:ext uri="{FF2B5EF4-FFF2-40B4-BE49-F238E27FC236}">
                <a16:creationId xmlns:a16="http://schemas.microsoft.com/office/drawing/2014/main" id="{444E46E1-D7A6-49F9-B957-5DAE910A5D87}"/>
              </a:ext>
            </a:extLst>
          </p:cNvPr>
          <p:cNvSpPr>
            <a:spLocks xmlns:a="http://schemas.openxmlformats.org/drawingml/2006/main" noGrp="1"/>
          </p:cNvSpPr>
          <p:nvPr/>
        </p:nvSpPr>
        <p:spPr>
          <a:xfrm xmlns:a="http://schemas.openxmlformats.org/drawingml/2006/main">
            <a:off x="502920" y="5056632"/>
            <a:ext cx="11201400" cy="1060704"/>
          </a:xfrm>
          <a:prstGeom xmlns:a="http://schemas.openxmlformats.org/drawingml/2006/main" prst="roundRect">
            <a:avLst>
              <a:gd name="adj" fmla="val 7759"/>
            </a:avLst>
          </a:prstGeom>
          <a:solidFill xmlns:a="http://schemas.openxmlformats.org/drawingml/2006/main">
            <a:srgbClr val="E7F2F3"/>
          </a:solidFill>
        </p:spPr>
      </p:sp>
      <p:sp>
        <p:nvSpPr>
          <p:cNvPr id="29" name="Shape 27">
            <a:extLst xmlns:a="http://schemas.openxmlformats.org/drawingml/2006/main">
              <a:ext uri="{FF2B5EF4-FFF2-40B4-BE49-F238E27FC236}">
                <a16:creationId xmlns:a16="http://schemas.microsoft.com/office/drawing/2014/main" id="{15009044-859C-4524-81C9-F7AF751E6114}"/>
              </a:ext>
            </a:extLst>
          </p:cNvPr>
          <p:cNvSpPr>
            <a:spLocks xmlns:a="http://schemas.openxmlformats.org/drawingml/2006/main" noGrp="1"/>
          </p:cNvSpPr>
          <p:nvPr/>
        </p:nvSpPr>
        <p:spPr>
          <a:xfrm xmlns:a="http://schemas.openxmlformats.org/drawingml/2006/main">
            <a:off x="685800" y="5276088"/>
            <a:ext cx="1051560" cy="621792"/>
          </a:xfrm>
          <a:prstGeom xmlns:a="http://schemas.openxmlformats.org/drawingml/2006/main" prst="roundRect">
            <a:avLst>
              <a:gd name="adj" fmla="val 14706"/>
            </a:avLst>
          </a:prstGeom>
          <a:solidFill xmlns:a="http://schemas.openxmlformats.org/drawingml/2006/main">
            <a:srgbClr val="0B3140"/>
          </a:solidFill>
        </p:spPr>
      </p:sp>
      <p:sp>
        <p:nvSpPr>
          <p:cNvPr id="30" name="Text 28">
            <a:extLst xmlns:a="http://schemas.openxmlformats.org/drawingml/2006/main">
              <a:ext uri="{FF2B5EF4-FFF2-40B4-BE49-F238E27FC236}">
                <a16:creationId xmlns:a16="http://schemas.microsoft.com/office/drawing/2014/main" id="{D66B0D9C-862F-4223-B161-29DDF068105B}"/>
              </a:ext>
            </a:extLst>
          </p:cNvPr>
          <p:cNvSpPr>
            <a:spLocks xmlns:a="http://schemas.openxmlformats.org/drawingml/2006/main" noGrp="1"/>
          </p:cNvSpPr>
          <p:nvPr/>
        </p:nvSpPr>
        <p:spPr>
          <a:xfrm xmlns:a="http://schemas.openxmlformats.org/drawingml/2006/main">
            <a:off x="685800" y="5276088"/>
            <a:ext cx="105156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Day 4</a:t>
            </a:r>
            <a:endParaRPr sz="1400"/>
          </a:p>
        </p:txBody>
      </p:sp>
      <p:sp>
        <p:nvSpPr>
          <p:cNvPr id="31" name="Text 29">
            <a:extLst xmlns:a="http://schemas.openxmlformats.org/drawingml/2006/main">
              <a:ext uri="{FF2B5EF4-FFF2-40B4-BE49-F238E27FC236}">
                <a16:creationId xmlns:a16="http://schemas.microsoft.com/office/drawing/2014/main" id="{EB481E05-AF60-4714-B1FF-4CECEB14E184}"/>
              </a:ext>
            </a:extLst>
          </p:cNvPr>
          <p:cNvSpPr>
            <a:spLocks xmlns:a="http://schemas.openxmlformats.org/drawingml/2006/main" noGrp="1"/>
          </p:cNvSpPr>
          <p:nvPr/>
        </p:nvSpPr>
        <p:spPr>
          <a:xfrm xmlns:a="http://schemas.openxmlformats.org/drawingml/2006/main">
            <a:off x="1965960" y="5184648"/>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B3140"/>
                </a:solidFill>
                <a:latin typeface="Cambria"/>
                <a:ea typeface="Cambria"/>
                <a:cs typeface="Cambria"/>
              </a:rPr>
              <a:t>Validate and decide</a:t>
            </a:r>
            <a:endParaRPr sz="1500"/>
          </a:p>
        </p:txBody>
      </p:sp>
      <p:sp>
        <p:nvSpPr>
          <p:cNvPr id="32" name="Text 30">
            <a:extLst xmlns:a="http://schemas.openxmlformats.org/drawingml/2006/main">
              <a:ext uri="{FF2B5EF4-FFF2-40B4-BE49-F238E27FC236}">
                <a16:creationId xmlns:a16="http://schemas.microsoft.com/office/drawing/2014/main" id="{044761BD-C044-4E78-991D-1E4912728312}"/>
              </a:ext>
            </a:extLst>
          </p:cNvPr>
          <p:cNvSpPr>
            <a:spLocks xmlns:a="http://schemas.openxmlformats.org/drawingml/2006/main" noGrp="1"/>
          </p:cNvSpPr>
          <p:nvPr/>
        </p:nvSpPr>
        <p:spPr>
          <a:xfrm xmlns:a="http://schemas.openxmlformats.org/drawingml/2006/main">
            <a:off x="1965960" y="5568696"/>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B6B75"/>
                </a:solidFill>
                <a:latin typeface="Calibri"/>
                <a:ea typeface="Calibri"/>
                <a:cs typeface="Calibri"/>
              </a:rPr>
              <a:t>M7 Simulation &amp; resampling · Capstone</a:t>
            </a:r>
            <a:endParaRPr sz="1050"/>
          </a:p>
        </p:txBody>
      </p:sp>
      <p:sp>
        <p:nvSpPr>
          <p:cNvPr id="33" name="Text 31">
            <a:extLst xmlns:a="http://schemas.openxmlformats.org/drawingml/2006/main">
              <a:ext uri="{FF2B5EF4-FFF2-40B4-BE49-F238E27FC236}">
                <a16:creationId xmlns:a16="http://schemas.microsoft.com/office/drawing/2014/main" id="{CEAF80C9-CF6F-4DF0-BE6C-1C432B6D00EB}"/>
              </a:ext>
            </a:extLst>
          </p:cNvPr>
          <p:cNvSpPr>
            <a:spLocks xmlns:a="http://schemas.openxmlformats.org/drawingml/2006/main" noGrp="1"/>
          </p:cNvSpPr>
          <p:nvPr/>
        </p:nvSpPr>
        <p:spPr>
          <a:xfrm xmlns:a="http://schemas.openxmlformats.org/drawingml/2006/main">
            <a:off x="6355080" y="5221224"/>
            <a:ext cx="41605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80" b="1">
                <a:solidFill>
                  <a:srgbClr val="0A5C64"/>
                </a:solidFill>
                <a:latin typeface="Calibri"/>
                <a:ea typeface="Calibri"/>
                <a:cs typeface="Calibri"/>
              </a:rPr>
              <a:t>Deliverable: </a:t>
            </a:r>
            <a:r>
              <a:rPr sz="1080">
                <a:solidFill>
                  <a:srgbClr val="24313A"/>
                </a:solidFill>
                <a:latin typeface="Calibri"/>
                <a:ea typeface="Calibri"/>
                <a:cs typeface="Calibri"/>
              </a:rPr>
              <a:t>Bootstrap / permutation validation + capstone analysis and decision memo</a:t>
            </a:r>
            <a:endParaRPr sz="1080"/>
          </a:p>
        </p:txBody>
      </p:sp>
      <p:sp>
        <p:nvSpPr>
          <p:cNvPr id="34" name="Text 32">
            <a:extLst xmlns:a="http://schemas.openxmlformats.org/drawingml/2006/main">
              <a:ext uri="{FF2B5EF4-FFF2-40B4-BE49-F238E27FC236}">
                <a16:creationId xmlns:a16="http://schemas.microsoft.com/office/drawing/2014/main" id="{5A7A004C-D831-4EAD-87C8-30FBD4933D51}"/>
              </a:ext>
            </a:extLst>
          </p:cNvPr>
          <p:cNvSpPr>
            <a:spLocks xmlns:a="http://schemas.openxmlformats.org/drawingml/2006/main" noGrp="1"/>
          </p:cNvSpPr>
          <p:nvPr/>
        </p:nvSpPr>
        <p:spPr>
          <a:xfrm xmlns:a="http://schemas.openxmlformats.org/drawingml/2006/main">
            <a:off x="10607040" y="5239512"/>
            <a:ext cx="9601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0E7C86"/>
                </a:solidFill>
                <a:latin typeface="Calibri"/>
                <a:ea typeface="Calibri"/>
                <a:cs typeface="Calibri"/>
              </a:rPr>
              <a:t>35 / 65</a:t>
            </a:r>
            <a:endParaRPr sz="1300"/>
          </a:p>
          <a:p xmlns:a="http://schemas.openxmlformats.org/drawingml/2006/main">
            <a:pPr marL="0" indent="0" algn="ctr">
              <a:buNone/>
            </a:pPr>
            <a:r>
              <a:rPr sz="850">
                <a:solidFill>
                  <a:srgbClr val="5B6B75"/>
                </a:solidFill>
                <a:latin typeface="Calibri"/>
                <a:ea typeface="Calibri"/>
                <a:cs typeface="Calibri"/>
              </a:rPr>
              <a:t>theory / lab</a:t>
            </a:r>
            <a:endParaRPr sz="1300"/>
          </a:p>
        </p:txBody>
      </p:sp>
    </p:spTree>
    <p:extLst>
      <p:ext uri="{BB962C8B-B14F-4D97-AF65-F5344CB8AC3E}">
        <p14:creationId xmlns:p14="http://schemas.microsoft.com/office/powerpoint/2010/main" val="19527918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CE94618-DA80-4042-8582-03326AB026F3}"/>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0B33E017-B456-4B5E-985D-0B09419D7E7B}"/>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6</a:t>
            </a:r>
            <a:endParaRPr sz="900"/>
          </a:p>
        </p:txBody>
      </p:sp>
      <p:sp>
        <p:nvSpPr>
          <p:cNvPr id="4" name="Shape 2">
            <a:extLst xmlns:a="http://schemas.openxmlformats.org/drawingml/2006/main">
              <a:ext uri="{FF2B5EF4-FFF2-40B4-BE49-F238E27FC236}">
                <a16:creationId xmlns:a16="http://schemas.microsoft.com/office/drawing/2014/main" id="{02C97729-79B9-4A2D-A7B6-E5E1842DC6BA}"/>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195AA82F-17BA-4C9A-9F49-F059CEF013F4}"/>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INSTRUCTOR GUIDANCE</a:t>
            </a:r>
            <a:endParaRPr sz="1050"/>
          </a:p>
        </p:txBody>
      </p:sp>
      <p:sp>
        <p:nvSpPr>
          <p:cNvPr id="6" name="Text 4">
            <a:extLst xmlns:a="http://schemas.openxmlformats.org/drawingml/2006/main">
              <a:ext uri="{FF2B5EF4-FFF2-40B4-BE49-F238E27FC236}">
                <a16:creationId xmlns:a16="http://schemas.microsoft.com/office/drawing/2014/main" id="{7FA7D74C-CFBB-431A-B235-E1151F90B7F3}"/>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How this course is taught</a:t>
            </a:r>
            <a:endParaRPr sz="2800"/>
          </a:p>
        </p:txBody>
      </p:sp>
      <p:sp>
        <p:nvSpPr>
          <p:cNvPr id="7" name="Text 5">
            <a:extLst xmlns:a="http://schemas.openxmlformats.org/drawingml/2006/main">
              <a:ext uri="{FF2B5EF4-FFF2-40B4-BE49-F238E27FC236}">
                <a16:creationId xmlns:a16="http://schemas.microsoft.com/office/drawing/2014/main" id="{087A2BDF-DBB9-4AF1-BDB2-AE3077E8F38F}"/>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Five delivery principles that carry the pedagogy — hold them across all four days</a:t>
            </a:r>
            <a:endParaRPr sz="1350"/>
          </a:p>
        </p:txBody>
      </p:sp>
      <p:sp>
        <p:nvSpPr>
          <p:cNvPr id="8" name="Shape 6">
            <a:extLst xmlns:a="http://schemas.openxmlformats.org/drawingml/2006/main">
              <a:ext uri="{FF2B5EF4-FFF2-40B4-BE49-F238E27FC236}">
                <a16:creationId xmlns:a16="http://schemas.microsoft.com/office/drawing/2014/main" id="{7377A1EF-A37F-40BA-89B3-E7BEB019C52F}"/>
              </a:ext>
            </a:extLst>
          </p:cNvPr>
          <p:cNvSpPr>
            <a:spLocks xmlns:a="http://schemas.openxmlformats.org/drawingml/2006/main" noGrp="1"/>
          </p:cNvSpPr>
          <p:nvPr/>
        </p:nvSpPr>
        <p:spPr>
          <a:xfrm xmlns:a="http://schemas.openxmlformats.org/drawingml/2006/main">
            <a:off x="502920" y="1792224"/>
            <a:ext cx="3675888" cy="2011680"/>
          </a:xfrm>
          <a:prstGeom xmlns:a="http://schemas.openxmlformats.org/drawingml/2006/main" prst="roundRect">
            <a:avLst>
              <a:gd name="adj" fmla="val 4091"/>
            </a:avLst>
          </a:prstGeom>
          <a:solidFill xmlns:a="http://schemas.openxmlformats.org/drawingml/2006/main">
            <a:srgbClr val="F3F8F9"/>
          </a:solidFill>
        </p:spPr>
      </p:sp>
      <p:sp>
        <p:nvSpPr>
          <p:cNvPr id="9" name="Shape 7">
            <a:extLst xmlns:a="http://schemas.openxmlformats.org/drawingml/2006/main">
              <a:ext uri="{FF2B5EF4-FFF2-40B4-BE49-F238E27FC236}">
                <a16:creationId xmlns:a16="http://schemas.microsoft.com/office/drawing/2014/main" id="{4FC33B55-7007-47FD-80A0-4A7629AA2C5B}"/>
              </a:ext>
            </a:extLst>
          </p:cNvPr>
          <p:cNvSpPr>
            <a:spLocks xmlns:a="http://schemas.openxmlformats.org/drawingml/2006/main" noGrp="1"/>
          </p:cNvSpPr>
          <p:nvPr/>
        </p:nvSpPr>
        <p:spPr>
          <a:xfrm xmlns:a="http://schemas.openxmlformats.org/drawingml/2006/main">
            <a:off x="685800" y="1975104"/>
            <a:ext cx="420624" cy="420624"/>
          </a:xfrm>
          <a:prstGeom xmlns:a="http://schemas.openxmlformats.org/drawingml/2006/main" prst="ellipse">
            <a:avLst/>
          </a:prstGeom>
          <a:solidFill xmlns:a="http://schemas.openxmlformats.org/drawingml/2006/main">
            <a:srgbClr val="0E7C86"/>
          </a:solidFill>
        </p:spPr>
      </p:sp>
      <p:pic>
        <p:nvPicPr>
          <p:cNvPr id="52" name="Image 0"/>
          <p:cNvPicPr>
            <a:picLocks xmlns:a="http://schemas.openxmlformats.org/drawingml/2006/main" noChangeAspect="1"/>
          </p:cNvPicPr>
          <p:nvPr/>
        </p:nvPicPr>
        <p:blipFill>
          <a:blip xmlns:r="http://schemas.openxmlformats.org/officeDocument/2006/relationships" xmlns:a="http://schemas.openxmlformats.org/drawingml/2006/main" r:embed="Re3dbe62dd86a4b0e"/>
          <a:stretch xmlns:a="http://schemas.openxmlformats.org/drawingml/2006/main">
            <a:fillRect l="0" t="0" r="0" b="0"/>
          </a:stretch>
        </p:blipFill>
        <p:spPr>
          <a:xfrm xmlns:a="http://schemas.openxmlformats.org/drawingml/2006/main">
            <a:off x="795162" y="2084466"/>
            <a:ext cx="201900" cy="201900"/>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98B869FA-99A7-4220-A21D-7610ED4874D4}"/>
              </a:ext>
            </a:extLst>
          </p:cNvPr>
          <p:cNvSpPr>
            <a:spLocks xmlns:a="http://schemas.openxmlformats.org/drawingml/2006/main" noGrp="1"/>
          </p:cNvSpPr>
          <p:nvPr/>
        </p:nvSpPr>
        <p:spPr>
          <a:xfrm xmlns:a="http://schemas.openxmlformats.org/drawingml/2006/main">
            <a:off x="1234440" y="2029968"/>
            <a:ext cx="2761488"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3140"/>
                </a:solidFill>
                <a:latin typeface="Cambria"/>
                <a:ea typeface="Cambria"/>
                <a:cs typeface="Cambria"/>
              </a:rPr>
              <a:t>Computational-first</a:t>
            </a:r>
            <a:endParaRPr sz="1300"/>
          </a:p>
        </p:txBody>
      </p:sp>
      <p:sp>
        <p:nvSpPr>
          <p:cNvPr id="12" name="Text 9">
            <a:extLst xmlns:a="http://schemas.openxmlformats.org/drawingml/2006/main">
              <a:ext uri="{FF2B5EF4-FFF2-40B4-BE49-F238E27FC236}">
                <a16:creationId xmlns:a16="http://schemas.microsoft.com/office/drawing/2014/main" id="{952A765B-E593-48EB-9C61-A7358605D571}"/>
              </a:ext>
            </a:extLst>
          </p:cNvPr>
          <p:cNvSpPr>
            <a:spLocks xmlns:a="http://schemas.openxmlformats.org/drawingml/2006/main" noGrp="1"/>
          </p:cNvSpPr>
          <p:nvPr/>
        </p:nvSpPr>
        <p:spPr>
          <a:xfrm xmlns:a="http://schemas.openxmlformats.org/drawingml/2006/main">
            <a:off x="740664" y="2478024"/>
            <a:ext cx="3218688"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60">
                <a:solidFill>
                  <a:srgbClr val="24313A"/>
                </a:solidFill>
                <a:latin typeface="Calibri"/>
                <a:ea typeface="Calibri"/>
                <a:cs typeface="Calibri"/>
              </a:rPr>
              <a:t>Teach every concept twice: analytically (formula + intuition) and by simulation. When they agree, understanding sticks; when a participant's two answers disagree, that gap is the lesson.</a:t>
            </a:r>
            <a:endParaRPr sz="1060"/>
          </a:p>
        </p:txBody>
      </p:sp>
      <p:sp>
        <p:nvSpPr>
          <p:cNvPr id="13" name="Shape 10">
            <a:extLst xmlns:a="http://schemas.openxmlformats.org/drawingml/2006/main">
              <a:ext uri="{FF2B5EF4-FFF2-40B4-BE49-F238E27FC236}">
                <a16:creationId xmlns:a16="http://schemas.microsoft.com/office/drawing/2014/main" id="{C3F857C8-75E4-4C9D-84AC-A836E923CBDE}"/>
              </a:ext>
            </a:extLst>
          </p:cNvPr>
          <p:cNvSpPr>
            <a:spLocks xmlns:a="http://schemas.openxmlformats.org/drawingml/2006/main" noGrp="1"/>
          </p:cNvSpPr>
          <p:nvPr/>
        </p:nvSpPr>
        <p:spPr>
          <a:xfrm xmlns:a="http://schemas.openxmlformats.org/drawingml/2006/main">
            <a:off x="4315968" y="1792224"/>
            <a:ext cx="3675888" cy="2011680"/>
          </a:xfrm>
          <a:prstGeom xmlns:a="http://schemas.openxmlformats.org/drawingml/2006/main" prst="roundRect">
            <a:avLst>
              <a:gd name="adj" fmla="val 4091"/>
            </a:avLst>
          </a:prstGeom>
          <a:solidFill xmlns:a="http://schemas.openxmlformats.org/drawingml/2006/main">
            <a:srgbClr val="F3F8F9"/>
          </a:solidFill>
        </p:spPr>
      </p:sp>
      <p:sp>
        <p:nvSpPr>
          <p:cNvPr id="14" name="Shape 11">
            <a:extLst xmlns:a="http://schemas.openxmlformats.org/drawingml/2006/main">
              <a:ext uri="{FF2B5EF4-FFF2-40B4-BE49-F238E27FC236}">
                <a16:creationId xmlns:a16="http://schemas.microsoft.com/office/drawing/2014/main" id="{B75EF1A9-A59A-4EC5-85E0-3237C8BB09B2}"/>
              </a:ext>
            </a:extLst>
          </p:cNvPr>
          <p:cNvSpPr>
            <a:spLocks xmlns:a="http://schemas.openxmlformats.org/drawingml/2006/main" noGrp="1"/>
          </p:cNvSpPr>
          <p:nvPr/>
        </p:nvSpPr>
        <p:spPr>
          <a:xfrm xmlns:a="http://schemas.openxmlformats.org/drawingml/2006/main">
            <a:off x="4498848" y="1975104"/>
            <a:ext cx="420624" cy="420624"/>
          </a:xfrm>
          <a:prstGeom xmlns:a="http://schemas.openxmlformats.org/drawingml/2006/main" prst="ellipse">
            <a:avLst/>
          </a:prstGeom>
          <a:solidFill xmlns:a="http://schemas.openxmlformats.org/drawingml/2006/main">
            <a:srgbClr val="0E7C86"/>
          </a:solidFill>
        </p:spPr>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b6b4b7ded6994cf1"/>
          <a:stretch xmlns:a="http://schemas.openxmlformats.org/drawingml/2006/main">
            <a:fillRect l="0" t="0" r="0" b="0"/>
          </a:stretch>
        </p:blipFill>
        <p:spPr>
          <a:xfrm xmlns:a="http://schemas.openxmlformats.org/drawingml/2006/main">
            <a:off x="4608210" y="2084466"/>
            <a:ext cx="201900" cy="201900"/>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606A5F79-4F8E-44F8-9FFB-81B8D4FF3AE5}"/>
              </a:ext>
            </a:extLst>
          </p:cNvPr>
          <p:cNvSpPr>
            <a:spLocks xmlns:a="http://schemas.openxmlformats.org/drawingml/2006/main" noGrp="1"/>
          </p:cNvSpPr>
          <p:nvPr/>
        </p:nvSpPr>
        <p:spPr>
          <a:xfrm xmlns:a="http://schemas.openxmlformats.org/drawingml/2006/main">
            <a:off x="5047488" y="2029968"/>
            <a:ext cx="2761488"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3140"/>
                </a:solidFill>
                <a:latin typeface="Cambria"/>
                <a:ea typeface="Cambria"/>
                <a:cs typeface="Cambria"/>
              </a:rPr>
              <a:t>One dataset, always</a:t>
            </a:r>
            <a:endParaRPr sz="1300"/>
          </a:p>
        </p:txBody>
      </p:sp>
      <p:sp>
        <p:nvSpPr>
          <p:cNvPr id="17" name="Text 13">
            <a:extLst xmlns:a="http://schemas.openxmlformats.org/drawingml/2006/main">
              <a:ext uri="{FF2B5EF4-FFF2-40B4-BE49-F238E27FC236}">
                <a16:creationId xmlns:a16="http://schemas.microsoft.com/office/drawing/2014/main" id="{5704AB8F-9C20-4C6C-9533-25A83CAEFA90}"/>
              </a:ext>
            </a:extLst>
          </p:cNvPr>
          <p:cNvSpPr>
            <a:spLocks xmlns:a="http://schemas.openxmlformats.org/drawingml/2006/main" noGrp="1"/>
          </p:cNvSpPr>
          <p:nvPr/>
        </p:nvSpPr>
        <p:spPr>
          <a:xfrm xmlns:a="http://schemas.openxmlformats.org/drawingml/2006/main">
            <a:off x="4553712" y="2478024"/>
            <a:ext cx="3218688"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60">
                <a:solidFill>
                  <a:srgbClr val="24313A"/>
                </a:solidFill>
                <a:latin typeface="Calibri"/>
                <a:ea typeface="Calibri"/>
                <a:cs typeface="Calibri"/>
              </a:rPr>
              <a:t>Never introduce a toy dataset. Every lab evolves the same no-show / wait-time investigation on clinic_visits.csv.</a:t>
            </a:r>
            <a:endParaRPr sz="1060"/>
          </a:p>
        </p:txBody>
      </p:sp>
      <p:sp>
        <p:nvSpPr>
          <p:cNvPr id="18" name="Shape 14">
            <a:extLst xmlns:a="http://schemas.openxmlformats.org/drawingml/2006/main">
              <a:ext uri="{FF2B5EF4-FFF2-40B4-BE49-F238E27FC236}">
                <a16:creationId xmlns:a16="http://schemas.microsoft.com/office/drawing/2014/main" id="{56DE7C18-A1FF-451B-AA5B-E5B3493FE867}"/>
              </a:ext>
            </a:extLst>
          </p:cNvPr>
          <p:cNvSpPr>
            <a:spLocks xmlns:a="http://schemas.openxmlformats.org/drawingml/2006/main" noGrp="1"/>
          </p:cNvSpPr>
          <p:nvPr/>
        </p:nvSpPr>
        <p:spPr>
          <a:xfrm xmlns:a="http://schemas.openxmlformats.org/drawingml/2006/main">
            <a:off x="8129016" y="1792224"/>
            <a:ext cx="3675888" cy="2011680"/>
          </a:xfrm>
          <a:prstGeom xmlns:a="http://schemas.openxmlformats.org/drawingml/2006/main" prst="roundRect">
            <a:avLst>
              <a:gd name="adj" fmla="val 4091"/>
            </a:avLst>
          </a:prstGeom>
          <a:solidFill xmlns:a="http://schemas.openxmlformats.org/drawingml/2006/main">
            <a:srgbClr val="F3F8F9"/>
          </a:solidFill>
        </p:spPr>
      </p:sp>
      <p:sp>
        <p:nvSpPr>
          <p:cNvPr id="19" name="Shape 15">
            <a:extLst xmlns:a="http://schemas.openxmlformats.org/drawingml/2006/main">
              <a:ext uri="{FF2B5EF4-FFF2-40B4-BE49-F238E27FC236}">
                <a16:creationId xmlns:a16="http://schemas.microsoft.com/office/drawing/2014/main" id="{24E9A5AD-36EB-4A8D-96C5-47FF7F95F031}"/>
              </a:ext>
            </a:extLst>
          </p:cNvPr>
          <p:cNvSpPr>
            <a:spLocks xmlns:a="http://schemas.openxmlformats.org/drawingml/2006/main" noGrp="1"/>
          </p:cNvSpPr>
          <p:nvPr/>
        </p:nvSpPr>
        <p:spPr>
          <a:xfrm xmlns:a="http://schemas.openxmlformats.org/drawingml/2006/main">
            <a:off x="8311896" y="1975104"/>
            <a:ext cx="420624" cy="420624"/>
          </a:xfrm>
          <a:prstGeom xmlns:a="http://schemas.openxmlformats.org/drawingml/2006/main" prst="ellipse">
            <a:avLst/>
          </a:prstGeom>
          <a:solidFill xmlns:a="http://schemas.openxmlformats.org/drawingml/2006/main">
            <a:srgbClr val="0E7C86"/>
          </a:solidFill>
        </p:spPr>
      </p:sp>
      <p:pic>
        <p:nvPicPr>
          <p:cNvPr id="62" name="Image 2"/>
          <p:cNvPicPr>
            <a:picLocks xmlns:a="http://schemas.openxmlformats.org/drawingml/2006/main" noChangeAspect="1"/>
          </p:cNvPicPr>
          <p:nvPr/>
        </p:nvPicPr>
        <p:blipFill>
          <a:blip xmlns:r="http://schemas.openxmlformats.org/officeDocument/2006/relationships" xmlns:a="http://schemas.openxmlformats.org/drawingml/2006/main" r:embed="Rafd6d1531f2c4d94"/>
          <a:stretch xmlns:a="http://schemas.openxmlformats.org/drawingml/2006/main">
            <a:fillRect l="0" t="0" r="0" b="0"/>
          </a:stretch>
        </p:blipFill>
        <p:spPr>
          <a:xfrm xmlns:a="http://schemas.openxmlformats.org/drawingml/2006/main">
            <a:off x="8421258" y="2084466"/>
            <a:ext cx="201900" cy="201900"/>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D6EF9899-39A5-4B50-9A86-DD1758A94CC8}"/>
              </a:ext>
            </a:extLst>
          </p:cNvPr>
          <p:cNvSpPr>
            <a:spLocks xmlns:a="http://schemas.openxmlformats.org/drawingml/2006/main" noGrp="1"/>
          </p:cNvSpPr>
          <p:nvPr/>
        </p:nvSpPr>
        <p:spPr>
          <a:xfrm xmlns:a="http://schemas.openxmlformats.org/drawingml/2006/main">
            <a:off x="8860536" y="2029968"/>
            <a:ext cx="2761488"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3140"/>
                </a:solidFill>
                <a:latin typeface="Cambria"/>
                <a:ea typeface="Cambria"/>
                <a:cs typeface="Cambria"/>
              </a:rPr>
              <a:t>Rotating pairs</a:t>
            </a:r>
            <a:endParaRPr sz="1300"/>
          </a:p>
        </p:txBody>
      </p:sp>
      <p:sp>
        <p:nvSpPr>
          <p:cNvPr id="22" name="Text 17">
            <a:extLst xmlns:a="http://schemas.openxmlformats.org/drawingml/2006/main">
              <a:ext uri="{FF2B5EF4-FFF2-40B4-BE49-F238E27FC236}">
                <a16:creationId xmlns:a16="http://schemas.microsoft.com/office/drawing/2014/main" id="{E4D10E60-3CDA-4463-AECA-528AB0ADBCC3}"/>
              </a:ext>
            </a:extLst>
          </p:cNvPr>
          <p:cNvSpPr>
            <a:spLocks xmlns:a="http://schemas.openxmlformats.org/drawingml/2006/main" noGrp="1"/>
          </p:cNvSpPr>
          <p:nvPr/>
        </p:nvSpPr>
        <p:spPr>
          <a:xfrm xmlns:a="http://schemas.openxmlformats.org/drawingml/2006/main">
            <a:off x="8366760" y="2478024"/>
            <a:ext cx="3218688"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60">
                <a:solidFill>
                  <a:srgbClr val="24313A"/>
                </a:solidFill>
                <a:latin typeface="Calibri"/>
                <a:ea typeface="Calibri"/>
                <a:cs typeface="Calibri"/>
              </a:rPr>
              <a:t>Rotate pairs daily; pair a strong-Python participant with a strong-maths participant — the skill transfer is the point.</a:t>
            </a:r>
            <a:endParaRPr sz="1060"/>
          </a:p>
        </p:txBody>
      </p:sp>
      <p:sp>
        <p:nvSpPr>
          <p:cNvPr id="23" name="Shape 18">
            <a:extLst xmlns:a="http://schemas.openxmlformats.org/drawingml/2006/main">
              <a:ext uri="{FF2B5EF4-FFF2-40B4-BE49-F238E27FC236}">
                <a16:creationId xmlns:a16="http://schemas.microsoft.com/office/drawing/2014/main" id="{FD4B0182-0047-4EA7-A090-309367B27913}"/>
              </a:ext>
            </a:extLst>
          </p:cNvPr>
          <p:cNvSpPr>
            <a:spLocks xmlns:a="http://schemas.openxmlformats.org/drawingml/2006/main" noGrp="1"/>
          </p:cNvSpPr>
          <p:nvPr/>
        </p:nvSpPr>
        <p:spPr>
          <a:xfrm xmlns:a="http://schemas.openxmlformats.org/drawingml/2006/main">
            <a:off x="502920" y="3941064"/>
            <a:ext cx="3675888" cy="2011680"/>
          </a:xfrm>
          <a:prstGeom xmlns:a="http://schemas.openxmlformats.org/drawingml/2006/main" prst="roundRect">
            <a:avLst>
              <a:gd name="adj" fmla="val 4091"/>
            </a:avLst>
          </a:prstGeom>
          <a:solidFill xmlns:a="http://schemas.openxmlformats.org/drawingml/2006/main">
            <a:srgbClr val="F3F8F9"/>
          </a:solidFill>
        </p:spPr>
      </p:sp>
      <p:sp>
        <p:nvSpPr>
          <p:cNvPr id="24" name="Shape 19">
            <a:extLst xmlns:a="http://schemas.openxmlformats.org/drawingml/2006/main">
              <a:ext uri="{FF2B5EF4-FFF2-40B4-BE49-F238E27FC236}">
                <a16:creationId xmlns:a16="http://schemas.microsoft.com/office/drawing/2014/main" id="{611C3AAF-27C6-42C3-B817-B7EEBC267CAD}"/>
              </a:ext>
            </a:extLst>
          </p:cNvPr>
          <p:cNvSpPr>
            <a:spLocks xmlns:a="http://schemas.openxmlformats.org/drawingml/2006/main" noGrp="1"/>
          </p:cNvSpPr>
          <p:nvPr/>
        </p:nvSpPr>
        <p:spPr>
          <a:xfrm xmlns:a="http://schemas.openxmlformats.org/drawingml/2006/main">
            <a:off x="685800" y="4123944"/>
            <a:ext cx="420624" cy="420624"/>
          </a:xfrm>
          <a:prstGeom xmlns:a="http://schemas.openxmlformats.org/drawingml/2006/main" prst="ellipse">
            <a:avLst/>
          </a:prstGeom>
          <a:solidFill xmlns:a="http://schemas.openxmlformats.org/drawingml/2006/main">
            <a:srgbClr val="0E7C86"/>
          </a:solidFill>
        </p:spPr>
      </p:sp>
      <p:pic>
        <p:nvPicPr>
          <p:cNvPr id="67" name="Image 3"/>
          <p:cNvPicPr>
            <a:picLocks xmlns:a="http://schemas.openxmlformats.org/drawingml/2006/main" noChangeAspect="1"/>
          </p:cNvPicPr>
          <p:nvPr/>
        </p:nvPicPr>
        <p:blipFill>
          <a:blip xmlns:r="http://schemas.openxmlformats.org/officeDocument/2006/relationships" xmlns:a="http://schemas.openxmlformats.org/drawingml/2006/main" r:embed="R3af34c96276c4e61"/>
          <a:stretch xmlns:a="http://schemas.openxmlformats.org/drawingml/2006/main">
            <a:fillRect l="0" t="0" r="0" b="0"/>
          </a:stretch>
        </p:blipFill>
        <p:spPr>
          <a:xfrm xmlns:a="http://schemas.openxmlformats.org/drawingml/2006/main">
            <a:off x="795162" y="4233306"/>
            <a:ext cx="201900" cy="201900"/>
          </a:xfrm>
          <a:prstGeom xmlns:a="http://schemas.openxmlformats.org/drawingml/2006/main" prst="rect">
            <a:avLst/>
          </a:prstGeom>
        </p:spPr>
      </p:pic>
      <p:sp>
        <p:nvSpPr>
          <p:cNvPr id="26" name="Text 20">
            <a:extLst xmlns:a="http://schemas.openxmlformats.org/drawingml/2006/main">
              <a:ext uri="{FF2B5EF4-FFF2-40B4-BE49-F238E27FC236}">
                <a16:creationId xmlns:a16="http://schemas.microsoft.com/office/drawing/2014/main" id="{F6249330-C062-4491-BB23-6776B8339523}"/>
              </a:ext>
            </a:extLst>
          </p:cNvPr>
          <p:cNvSpPr>
            <a:spLocks xmlns:a="http://schemas.openxmlformats.org/drawingml/2006/main" noGrp="1"/>
          </p:cNvSpPr>
          <p:nvPr/>
        </p:nvSpPr>
        <p:spPr>
          <a:xfrm xmlns:a="http://schemas.openxmlformats.org/drawingml/2006/main">
            <a:off x="1234440" y="4178808"/>
            <a:ext cx="2761488"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3140"/>
                </a:solidFill>
                <a:latin typeface="Cambria"/>
                <a:ea typeface="Cambria"/>
                <a:cs typeface="Cambria"/>
              </a:rPr>
              <a:t>Environment strategy</a:t>
            </a:r>
            <a:endParaRPr sz="1300"/>
          </a:p>
        </p:txBody>
      </p:sp>
      <p:sp>
        <p:nvSpPr>
          <p:cNvPr id="27" name="Text 21">
            <a:extLst xmlns:a="http://schemas.openxmlformats.org/drawingml/2006/main">
              <a:ext uri="{FF2B5EF4-FFF2-40B4-BE49-F238E27FC236}">
                <a16:creationId xmlns:a16="http://schemas.microsoft.com/office/drawing/2014/main" id="{F0973E1A-3782-48A0-85F8-2328C7579140}"/>
              </a:ext>
            </a:extLst>
          </p:cNvPr>
          <p:cNvSpPr>
            <a:spLocks xmlns:a="http://schemas.openxmlformats.org/drawingml/2006/main" noGrp="1"/>
          </p:cNvSpPr>
          <p:nvPr/>
        </p:nvSpPr>
        <p:spPr>
          <a:xfrm xmlns:a="http://schemas.openxmlformats.org/drawingml/2006/main">
            <a:off x="740664" y="4626864"/>
            <a:ext cx="3218688"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60">
                <a:solidFill>
                  <a:srgbClr val="24313A"/>
                </a:solidFill>
                <a:latin typeface="Calibri"/>
                <a:ea typeface="Calibri"/>
                <a:cs typeface="Calibri"/>
              </a:rPr>
              <a:t>Primary: local Jupyter (Anaconda). Fallback: Google Colab, no install. Verify both the week before; pin versions in environment.yml.</a:t>
            </a:r>
            <a:endParaRPr sz="1060"/>
          </a:p>
        </p:txBody>
      </p:sp>
      <p:sp>
        <p:nvSpPr>
          <p:cNvPr id="28" name="Shape 22">
            <a:extLst xmlns:a="http://schemas.openxmlformats.org/drawingml/2006/main">
              <a:ext uri="{FF2B5EF4-FFF2-40B4-BE49-F238E27FC236}">
                <a16:creationId xmlns:a16="http://schemas.microsoft.com/office/drawing/2014/main" id="{509B6E6A-F2A6-4D48-A9E7-06859E513608}"/>
              </a:ext>
            </a:extLst>
          </p:cNvPr>
          <p:cNvSpPr>
            <a:spLocks xmlns:a="http://schemas.openxmlformats.org/drawingml/2006/main" noGrp="1"/>
          </p:cNvSpPr>
          <p:nvPr/>
        </p:nvSpPr>
        <p:spPr>
          <a:xfrm xmlns:a="http://schemas.openxmlformats.org/drawingml/2006/main">
            <a:off x="4315968" y="3941064"/>
            <a:ext cx="3675888" cy="2011680"/>
          </a:xfrm>
          <a:prstGeom xmlns:a="http://schemas.openxmlformats.org/drawingml/2006/main" prst="roundRect">
            <a:avLst>
              <a:gd name="adj" fmla="val 4091"/>
            </a:avLst>
          </a:prstGeom>
          <a:solidFill xmlns:a="http://schemas.openxmlformats.org/drawingml/2006/main">
            <a:srgbClr val="F3F8F9"/>
          </a:solidFill>
        </p:spPr>
      </p:sp>
      <p:sp>
        <p:nvSpPr>
          <p:cNvPr id="29" name="Shape 23">
            <a:extLst xmlns:a="http://schemas.openxmlformats.org/drawingml/2006/main">
              <a:ext uri="{FF2B5EF4-FFF2-40B4-BE49-F238E27FC236}">
                <a16:creationId xmlns:a16="http://schemas.microsoft.com/office/drawing/2014/main" id="{0E709EDB-96BE-42C6-93FC-3FE472DBFA55}"/>
              </a:ext>
            </a:extLst>
          </p:cNvPr>
          <p:cNvSpPr>
            <a:spLocks xmlns:a="http://schemas.openxmlformats.org/drawingml/2006/main" noGrp="1"/>
          </p:cNvSpPr>
          <p:nvPr/>
        </p:nvSpPr>
        <p:spPr>
          <a:xfrm xmlns:a="http://schemas.openxmlformats.org/drawingml/2006/main">
            <a:off x="4498848" y="4123944"/>
            <a:ext cx="420624" cy="420624"/>
          </a:xfrm>
          <a:prstGeom xmlns:a="http://schemas.openxmlformats.org/drawingml/2006/main" prst="ellipse">
            <a:avLst/>
          </a:prstGeom>
          <a:solidFill xmlns:a="http://schemas.openxmlformats.org/drawingml/2006/main">
            <a:srgbClr val="0E7C86"/>
          </a:solidFill>
        </p:spPr>
      </p:sp>
      <p:pic>
        <p:nvPicPr>
          <p:cNvPr id="72" name="Image 4"/>
          <p:cNvPicPr>
            <a:picLocks xmlns:a="http://schemas.openxmlformats.org/drawingml/2006/main" noChangeAspect="1"/>
          </p:cNvPicPr>
          <p:nvPr/>
        </p:nvPicPr>
        <p:blipFill>
          <a:blip xmlns:r="http://schemas.openxmlformats.org/officeDocument/2006/relationships" xmlns:a="http://schemas.openxmlformats.org/drawingml/2006/main" r:embed="R0db47cbaee1a4b41"/>
          <a:stretch xmlns:a="http://schemas.openxmlformats.org/drawingml/2006/main">
            <a:fillRect l="0" t="0" r="0" b="0"/>
          </a:stretch>
        </p:blipFill>
        <p:spPr>
          <a:xfrm xmlns:a="http://schemas.openxmlformats.org/drawingml/2006/main">
            <a:off x="4608210" y="4233306"/>
            <a:ext cx="201900" cy="201900"/>
          </a:xfrm>
          <a:prstGeom xmlns:a="http://schemas.openxmlformats.org/drawingml/2006/main" prst="rect">
            <a:avLst/>
          </a:prstGeom>
        </p:spPr>
      </p:pic>
      <p:sp>
        <p:nvSpPr>
          <p:cNvPr id="31" name="Text 24">
            <a:extLst xmlns:a="http://schemas.openxmlformats.org/drawingml/2006/main">
              <a:ext uri="{FF2B5EF4-FFF2-40B4-BE49-F238E27FC236}">
                <a16:creationId xmlns:a16="http://schemas.microsoft.com/office/drawing/2014/main" id="{FDD89A98-5956-42DD-A995-392928C7232A}"/>
              </a:ext>
            </a:extLst>
          </p:cNvPr>
          <p:cNvSpPr>
            <a:spLocks xmlns:a="http://schemas.openxmlformats.org/drawingml/2006/main" noGrp="1"/>
          </p:cNvSpPr>
          <p:nvPr/>
        </p:nvSpPr>
        <p:spPr>
          <a:xfrm xmlns:a="http://schemas.openxmlformats.org/drawingml/2006/main">
            <a:off x="5047488" y="4178808"/>
            <a:ext cx="2761488"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3140"/>
                </a:solidFill>
                <a:latin typeface="Cambria"/>
                <a:ea typeface="Cambria"/>
                <a:cs typeface="Cambria"/>
              </a:rPr>
              <a:t>Bilingual terms, English code</a:t>
            </a:r>
            <a:endParaRPr sz="1300"/>
          </a:p>
        </p:txBody>
      </p:sp>
      <p:sp>
        <p:nvSpPr>
          <p:cNvPr id="32" name="Text 25">
            <a:extLst xmlns:a="http://schemas.openxmlformats.org/drawingml/2006/main">
              <a:ext uri="{FF2B5EF4-FFF2-40B4-BE49-F238E27FC236}">
                <a16:creationId xmlns:a16="http://schemas.microsoft.com/office/drawing/2014/main" id="{463D8324-CD4B-4BCC-9BF5-C23DC2461600}"/>
              </a:ext>
            </a:extLst>
          </p:cNvPr>
          <p:cNvSpPr>
            <a:spLocks xmlns:a="http://schemas.openxmlformats.org/drawingml/2006/main" noGrp="1"/>
          </p:cNvSpPr>
          <p:nvPr/>
        </p:nvSpPr>
        <p:spPr>
          <a:xfrm xmlns:a="http://schemas.openxmlformats.org/drawingml/2006/main">
            <a:off x="4553712" y="4626864"/>
            <a:ext cx="3218688"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60">
                <a:solidFill>
                  <a:srgbClr val="24313A"/>
                </a:solidFill>
                <a:latin typeface="Calibri"/>
                <a:ea typeface="Calibri"/>
                <a:cs typeface="Calibri"/>
              </a:rPr>
              <a:t>Deliver in English or Arabic; introduce statistical terms bilingually on first use. Keep all code and identifiers in English — the production convention.</a:t>
            </a:r>
            <a:endParaRPr sz="1060"/>
          </a:p>
        </p:txBody>
      </p:sp>
      <p:sp>
        <p:nvSpPr>
          <p:cNvPr id="33" name="Shape 26">
            <a:extLst xmlns:a="http://schemas.openxmlformats.org/drawingml/2006/main">
              <a:ext uri="{FF2B5EF4-FFF2-40B4-BE49-F238E27FC236}">
                <a16:creationId xmlns:a16="http://schemas.microsoft.com/office/drawing/2014/main" id="{30C26BE8-F677-4317-98CB-F19B7BAD3843}"/>
              </a:ext>
            </a:extLst>
          </p:cNvPr>
          <p:cNvSpPr>
            <a:spLocks xmlns:a="http://schemas.openxmlformats.org/drawingml/2006/main" noGrp="1"/>
          </p:cNvSpPr>
          <p:nvPr/>
        </p:nvSpPr>
        <p:spPr>
          <a:xfrm xmlns:a="http://schemas.openxmlformats.org/drawingml/2006/main">
            <a:off x="8138160" y="3941064"/>
            <a:ext cx="3520440" cy="2011680"/>
          </a:xfrm>
          <a:prstGeom xmlns:a="http://schemas.openxmlformats.org/drawingml/2006/main" prst="roundRect">
            <a:avLst>
              <a:gd name="adj" fmla="val 4091"/>
            </a:avLst>
          </a:prstGeom>
          <a:solidFill xmlns:a="http://schemas.openxmlformats.org/drawingml/2006/main">
            <a:srgbClr val="FBEEDD"/>
          </a:solidFill>
        </p:spPr>
      </p:sp>
      <p:sp>
        <p:nvSpPr>
          <p:cNvPr id="34" name="Shape 27">
            <a:extLst xmlns:a="http://schemas.openxmlformats.org/drawingml/2006/main">
              <a:ext uri="{FF2B5EF4-FFF2-40B4-BE49-F238E27FC236}">
                <a16:creationId xmlns:a16="http://schemas.microsoft.com/office/drawing/2014/main" id="{7B505844-E1E8-435E-9EBD-429A9302F70B}"/>
              </a:ext>
            </a:extLst>
          </p:cNvPr>
          <p:cNvSpPr>
            <a:spLocks xmlns:a="http://schemas.openxmlformats.org/drawingml/2006/main" noGrp="1"/>
          </p:cNvSpPr>
          <p:nvPr/>
        </p:nvSpPr>
        <p:spPr>
          <a:xfrm xmlns:a="http://schemas.openxmlformats.org/drawingml/2006/main">
            <a:off x="8321040" y="4123944"/>
            <a:ext cx="420624" cy="420624"/>
          </a:xfrm>
          <a:prstGeom xmlns:a="http://schemas.openxmlformats.org/drawingml/2006/main" prst="ellipse">
            <a:avLst/>
          </a:prstGeom>
          <a:solidFill xmlns:a="http://schemas.openxmlformats.org/drawingml/2006/main">
            <a:srgbClr val="C2660A"/>
          </a:solidFill>
        </p:spPr>
      </p:sp>
      <p:pic>
        <p:nvPicPr>
          <p:cNvPr id="77" name="Image 5"/>
          <p:cNvPicPr>
            <a:picLocks xmlns:a="http://schemas.openxmlformats.org/drawingml/2006/main" noChangeAspect="1"/>
          </p:cNvPicPr>
          <p:nvPr/>
        </p:nvPicPr>
        <p:blipFill>
          <a:blip xmlns:r="http://schemas.openxmlformats.org/officeDocument/2006/relationships" xmlns:a="http://schemas.openxmlformats.org/drawingml/2006/main" r:embed="R05551f0dc043494a"/>
          <a:stretch xmlns:a="http://schemas.openxmlformats.org/drawingml/2006/main">
            <a:fillRect l="0" t="0" r="0" b="0"/>
          </a:stretch>
        </p:blipFill>
        <p:spPr>
          <a:xfrm xmlns:a="http://schemas.openxmlformats.org/drawingml/2006/main">
            <a:off x="8430402" y="4233306"/>
            <a:ext cx="201900" cy="201900"/>
          </a:xfrm>
          <a:prstGeom xmlns:a="http://schemas.openxmlformats.org/drawingml/2006/main" prst="rect">
            <a:avLst/>
          </a:prstGeom>
        </p:spPr>
      </p:pic>
      <p:sp>
        <p:nvSpPr>
          <p:cNvPr id="36" name="Text 28">
            <a:extLst xmlns:a="http://schemas.openxmlformats.org/drawingml/2006/main">
              <a:ext uri="{FF2B5EF4-FFF2-40B4-BE49-F238E27FC236}">
                <a16:creationId xmlns:a16="http://schemas.microsoft.com/office/drawing/2014/main" id="{77A20E4F-CA91-4278-A402-37B20CB8EE84}"/>
              </a:ext>
            </a:extLst>
          </p:cNvPr>
          <p:cNvSpPr>
            <a:spLocks xmlns:a="http://schemas.openxmlformats.org/drawingml/2006/main" noGrp="1"/>
          </p:cNvSpPr>
          <p:nvPr/>
        </p:nvSpPr>
        <p:spPr>
          <a:xfrm xmlns:a="http://schemas.openxmlformats.org/drawingml/2006/main">
            <a:off x="8869680" y="4178808"/>
            <a:ext cx="2651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3140"/>
                </a:solidFill>
                <a:latin typeface="Cambria"/>
                <a:ea typeface="Cambria"/>
                <a:cs typeface="Cambria"/>
              </a:rPr>
              <a:t>Pace control</a:t>
            </a:r>
            <a:endParaRPr sz="1300"/>
          </a:p>
        </p:txBody>
      </p:sp>
      <p:sp>
        <p:nvSpPr>
          <p:cNvPr id="37" name="Text 29">
            <a:extLst xmlns:a="http://schemas.openxmlformats.org/drawingml/2006/main">
              <a:ext uri="{FF2B5EF4-FFF2-40B4-BE49-F238E27FC236}">
                <a16:creationId xmlns:a16="http://schemas.microsoft.com/office/drawing/2014/main" id="{6F00CFBC-69AA-4BCC-BF3C-0268CD9BB6E8}"/>
              </a:ext>
            </a:extLst>
          </p:cNvPr>
          <p:cNvSpPr>
            <a:spLocks xmlns:a="http://schemas.openxmlformats.org/drawingml/2006/main" noGrp="1"/>
          </p:cNvSpPr>
          <p:nvPr/>
        </p:nvSpPr>
        <p:spPr>
          <a:xfrm xmlns:a="http://schemas.openxmlformats.org/drawingml/2006/main">
            <a:off x="8375904" y="4626864"/>
            <a:ext cx="306324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60">
                <a:solidFill>
                  <a:srgbClr val="24313A"/>
                </a:solidFill>
                <a:latin typeface="Calibri"/>
                <a:ea typeface="Calibri"/>
                <a:cs typeface="Calibri"/>
              </a:rPr>
              <a:t>Labs 4 and 6 overrun most. Publish lab*_solution.ipynb so stragglers can fast-forward. Protect Labs 3, 5 and 7 at full length — they carry the three hardest ideas.</a:t>
            </a:r>
            <a:endParaRPr sz="1060"/>
          </a:p>
        </p:txBody>
      </p:sp>
    </p:spTree>
    <p:extLst>
      <p:ext uri="{BB962C8B-B14F-4D97-AF65-F5344CB8AC3E}">
        <p14:creationId xmlns:p14="http://schemas.microsoft.com/office/powerpoint/2010/main" val="429705064"/>
      </p:ext>
    </p:extLst>
  </p:cSld>
</p:sld>
</file>

<file path=ppt/slides/slide7.xml><?xml version="1.0" encoding="utf-8"?>
<p:sld xmlns:p="http://schemas.openxmlformats.org/presentationml/2006/main">
  <p:cSld>
    <p:bg>
      <p:bgPr>
        <a:solidFill xmlns:a="http://schemas.openxmlformats.org/drawingml/2006/main">
          <a:srgbClr val="0B314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F5239F6-35D6-45E9-BE5F-0C85A9DE922A}"/>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FA6AE"/>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CCAD2D03-A018-4589-B7AF-267E22A4956D}"/>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A6AE"/>
                </a:solidFill>
                <a:latin typeface="Calibri"/>
                <a:ea typeface="Calibri"/>
                <a:cs typeface="Calibri"/>
              </a:rPr>
              <a:t>7</a:t>
            </a:r>
            <a:endParaRPr sz="900"/>
          </a:p>
        </p:txBody>
      </p:sp>
      <p:sp>
        <p:nvSpPr>
          <p:cNvPr id="4" name="Text 2">
            <a:extLst xmlns:a="http://schemas.openxmlformats.org/drawingml/2006/main">
              <a:ext uri="{FF2B5EF4-FFF2-40B4-BE49-F238E27FC236}">
                <a16:creationId xmlns:a16="http://schemas.microsoft.com/office/drawing/2014/main" id="{77D26406-79CA-4CF9-954F-EF7505A4A7E9}"/>
              </a:ext>
            </a:extLst>
          </p:cNvPr>
          <p:cNvSpPr>
            <a:spLocks xmlns:a="http://schemas.openxmlformats.org/drawingml/2006/main" noGrp="1"/>
          </p:cNvSpPr>
          <p:nvPr/>
        </p:nvSpPr>
        <p:spPr>
          <a:xfrm xmlns:a="http://schemas.openxmlformats.org/drawingml/2006/main">
            <a:off x="731520" y="1051560"/>
            <a:ext cx="5486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6FB3BC"/>
                </a:solidFill>
                <a:latin typeface="Calibri"/>
                <a:ea typeface="Calibri"/>
                <a:cs typeface="Calibri"/>
              </a:rPr>
              <a:t>DAY 1</a:t>
            </a:r>
            <a:endParaRPr sz="1600"/>
          </a:p>
        </p:txBody>
      </p:sp>
      <p:sp>
        <p:nvSpPr>
          <p:cNvPr id="5" name="Text 3">
            <a:extLst xmlns:a="http://schemas.openxmlformats.org/drawingml/2006/main">
              <a:ext uri="{FF2B5EF4-FFF2-40B4-BE49-F238E27FC236}">
                <a16:creationId xmlns:a16="http://schemas.microsoft.com/office/drawing/2014/main" id="{945941C8-9517-4A7B-A47A-6220758CCF27}"/>
              </a:ext>
            </a:extLst>
          </p:cNvPr>
          <p:cNvSpPr>
            <a:spLocks xmlns:a="http://schemas.openxmlformats.org/drawingml/2006/main" noGrp="1"/>
          </p:cNvSpPr>
          <p:nvPr/>
        </p:nvSpPr>
        <p:spPr>
          <a:xfrm xmlns:a="http://schemas.openxmlformats.org/drawingml/2006/main">
            <a:off x="731520" y="1463040"/>
            <a:ext cx="87782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600" b="1">
                <a:solidFill>
                  <a:srgbClr val="FFFFFF"/>
                </a:solidFill>
                <a:latin typeface="Cambria"/>
                <a:ea typeface="Cambria"/>
                <a:cs typeface="Cambria"/>
              </a:rPr>
              <a:t>The language of uncertainty</a:t>
            </a:r>
            <a:endParaRPr sz="4600"/>
          </a:p>
        </p:txBody>
      </p:sp>
      <p:sp>
        <p:nvSpPr>
          <p:cNvPr id="6" name="Text 4">
            <a:extLst xmlns:a="http://schemas.openxmlformats.org/drawingml/2006/main">
              <a:ext uri="{FF2B5EF4-FFF2-40B4-BE49-F238E27FC236}">
                <a16:creationId xmlns:a16="http://schemas.microsoft.com/office/drawing/2014/main" id="{F29158A4-B49C-48B4-897B-207FF21CB0F2}"/>
              </a:ext>
            </a:extLst>
          </p:cNvPr>
          <p:cNvSpPr>
            <a:spLocks xmlns:a="http://schemas.openxmlformats.org/drawingml/2006/main" noGrp="1"/>
          </p:cNvSpPr>
          <p:nvPr/>
        </p:nvSpPr>
        <p:spPr>
          <a:xfrm xmlns:a="http://schemas.openxmlformats.org/drawingml/2006/main">
            <a:off x="731520" y="2606040"/>
            <a:ext cx="78638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i="1">
                <a:solidFill>
                  <a:srgbClr val="AECBD1"/>
                </a:solidFill>
                <a:latin typeface="Calibri"/>
                <a:ea typeface="Calibri"/>
                <a:cs typeface="Calibri"/>
              </a:rPr>
              <a:t>Bad statistics produces confident wrong decisions. Today we model no-shows and wait times as random processes — and learn why the data's shape decides everything downstream.</a:t>
            </a:r>
            <a:endParaRPr sz="1500"/>
          </a:p>
        </p:txBody>
      </p:sp>
      <p:sp>
        <p:nvSpPr>
          <p:cNvPr id="7" name="Shape 5">
            <a:extLst xmlns:a="http://schemas.openxmlformats.org/drawingml/2006/main">
              <a:ext uri="{FF2B5EF4-FFF2-40B4-BE49-F238E27FC236}">
                <a16:creationId xmlns:a16="http://schemas.microsoft.com/office/drawing/2014/main" id="{1E5BB9B5-0101-41D0-80ED-A4FAAFD7DF7B}"/>
              </a:ext>
            </a:extLst>
          </p:cNvPr>
          <p:cNvSpPr>
            <a:spLocks xmlns:a="http://schemas.openxmlformats.org/drawingml/2006/main" noGrp="1"/>
          </p:cNvSpPr>
          <p:nvPr/>
        </p:nvSpPr>
        <p:spPr>
          <a:xfrm xmlns:a="http://schemas.openxmlformats.org/drawingml/2006/main">
            <a:off x="731520" y="3749040"/>
            <a:ext cx="6675120" cy="2148840"/>
          </a:xfrm>
          <a:prstGeom xmlns:a="http://schemas.openxmlformats.org/drawingml/2006/main" prst="roundRect">
            <a:avLst>
              <a:gd name="adj" fmla="val 3830"/>
            </a:avLst>
          </a:prstGeom>
          <a:solidFill xmlns:a="http://schemas.openxmlformats.org/drawingml/2006/main">
            <a:srgbClr val="123F52"/>
          </a:solidFill>
        </p:spPr>
      </p:sp>
      <p:sp>
        <p:nvSpPr>
          <p:cNvPr id="8" name="Text 6">
            <a:extLst xmlns:a="http://schemas.openxmlformats.org/drawingml/2006/main">
              <a:ext uri="{FF2B5EF4-FFF2-40B4-BE49-F238E27FC236}">
                <a16:creationId xmlns:a16="http://schemas.microsoft.com/office/drawing/2014/main" id="{6B20DEC6-7439-4643-915D-D66F00E90CDC}"/>
              </a:ext>
            </a:extLst>
          </p:cNvPr>
          <p:cNvSpPr>
            <a:spLocks xmlns:a="http://schemas.openxmlformats.org/drawingml/2006/main" noGrp="1"/>
          </p:cNvSpPr>
          <p:nvPr/>
        </p:nvSpPr>
        <p:spPr>
          <a:xfrm xmlns:a="http://schemas.openxmlformats.org/drawingml/2006/main">
            <a:off x="1005840" y="397764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300">
                <a:solidFill>
                  <a:srgbClr val="6FB3BC"/>
                </a:solidFill>
                <a:latin typeface="Calibri"/>
                <a:ea typeface="Calibri"/>
                <a:cs typeface="Calibri"/>
              </a:rPr>
              <a:t>MODULES</a:t>
            </a:r>
            <a:endParaRPr sz="1050"/>
          </a:p>
        </p:txBody>
      </p:sp>
      <p:sp>
        <p:nvSpPr>
          <p:cNvPr id="9" name="Text 7">
            <a:extLst xmlns:a="http://schemas.openxmlformats.org/drawingml/2006/main">
              <a:ext uri="{FF2B5EF4-FFF2-40B4-BE49-F238E27FC236}">
                <a16:creationId xmlns:a16="http://schemas.microsoft.com/office/drawing/2014/main" id="{75CE7669-B361-4680-9958-D0CE64D9D7C8}"/>
              </a:ext>
            </a:extLst>
          </p:cNvPr>
          <p:cNvSpPr>
            <a:spLocks xmlns:a="http://schemas.openxmlformats.org/drawingml/2006/main" noGrp="1"/>
          </p:cNvSpPr>
          <p:nvPr/>
        </p:nvSpPr>
        <p:spPr>
          <a:xfrm xmlns:a="http://schemas.openxmlformats.org/drawingml/2006/main">
            <a:off x="1005840" y="4315968"/>
            <a:ext cx="62179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600"/>
              </a:spcAft>
              <a:buSzPct val="100000"/>
              <a:buChar char="•"/>
            </a:pPr>
            <a:r>
              <a:rPr sz="1350">
                <a:solidFill>
                  <a:srgbClr val="E8F1F2"/>
                </a:solidFill>
                <a:latin typeface="Calibri"/>
                <a:ea typeface="Calibri"/>
                <a:cs typeface="Calibri"/>
              </a:rPr>
              <a:t>M1 — Probability and common distributions</a:t>
            </a:r>
            <a:endParaRPr sz="1350"/>
          </a:p>
          <a:p xmlns:a="http://schemas.openxmlformats.org/drawingml/2006/main">
            <a:pPr marL="152400" indent="-152400">
              <a:lnSpc>
                <a:spcPct val="104000"/>
              </a:lnSpc>
              <a:spcAft>
                <a:spcPts val="600"/>
              </a:spcAft>
              <a:buSzPct val="100000"/>
              <a:buChar char="•"/>
            </a:pPr>
            <a:r>
              <a:rPr sz="1350">
                <a:solidFill>
                  <a:srgbClr val="E8F1F2"/>
                </a:solidFill>
                <a:latin typeface="Calibri"/>
                <a:ea typeface="Calibri"/>
                <a:cs typeface="Calibri"/>
              </a:rPr>
              <a:t>M2 — Descriptive statistics and sampling</a:t>
            </a:r>
            <a:endParaRPr sz="1350"/>
          </a:p>
        </p:txBody>
      </p:sp>
      <p:sp>
        <p:nvSpPr>
          <p:cNvPr id="10" name="Shape 8">
            <a:extLst xmlns:a="http://schemas.openxmlformats.org/drawingml/2006/main">
              <a:ext uri="{FF2B5EF4-FFF2-40B4-BE49-F238E27FC236}">
                <a16:creationId xmlns:a16="http://schemas.microsoft.com/office/drawing/2014/main" id="{4F4F2D37-352D-4863-B474-99486389AF26}"/>
              </a:ext>
            </a:extLst>
          </p:cNvPr>
          <p:cNvSpPr>
            <a:spLocks xmlns:a="http://schemas.openxmlformats.org/drawingml/2006/main" noGrp="1"/>
          </p:cNvSpPr>
          <p:nvPr/>
        </p:nvSpPr>
        <p:spPr>
          <a:xfrm xmlns:a="http://schemas.openxmlformats.org/drawingml/2006/main">
            <a:off x="7726680" y="3749040"/>
            <a:ext cx="3749040" cy="2148840"/>
          </a:xfrm>
          <a:prstGeom xmlns:a="http://schemas.openxmlformats.org/drawingml/2006/main" prst="roundRect">
            <a:avLst>
              <a:gd name="adj" fmla="val 3830"/>
            </a:avLst>
          </a:prstGeom>
          <a:solidFill xmlns:a="http://schemas.openxmlformats.org/drawingml/2006/main">
            <a:srgbClr val="0E7C86"/>
          </a:solidFill>
        </p:spPr>
      </p:sp>
      <p:sp>
        <p:nvSpPr>
          <p:cNvPr id="11" name="Text 9">
            <a:extLst xmlns:a="http://schemas.openxmlformats.org/drawingml/2006/main">
              <a:ext uri="{FF2B5EF4-FFF2-40B4-BE49-F238E27FC236}">
                <a16:creationId xmlns:a16="http://schemas.microsoft.com/office/drawing/2014/main" id="{29387656-8450-43A4-8671-09F971637AF3}"/>
              </a:ext>
            </a:extLst>
          </p:cNvPr>
          <p:cNvSpPr>
            <a:spLocks xmlns:a="http://schemas.openxmlformats.org/drawingml/2006/main" noGrp="1"/>
          </p:cNvSpPr>
          <p:nvPr/>
        </p:nvSpPr>
        <p:spPr>
          <a:xfrm xmlns:a="http://schemas.openxmlformats.org/drawingml/2006/main">
            <a:off x="8001000" y="397764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D3ECEF"/>
                </a:solidFill>
                <a:latin typeface="Calibri"/>
                <a:ea typeface="Calibri"/>
                <a:cs typeface="Calibri"/>
              </a:rPr>
              <a:t>END-OF-DAY DELIVERABLE</a:t>
            </a:r>
            <a:endParaRPr sz="1050"/>
          </a:p>
        </p:txBody>
      </p:sp>
      <p:sp>
        <p:nvSpPr>
          <p:cNvPr id="12" name="Text 10">
            <a:extLst xmlns:a="http://schemas.openxmlformats.org/drawingml/2006/main">
              <a:ext uri="{FF2B5EF4-FFF2-40B4-BE49-F238E27FC236}">
                <a16:creationId xmlns:a16="http://schemas.microsoft.com/office/drawing/2014/main" id="{74645B7A-C50C-47FE-8CD5-292961A58494}"/>
              </a:ext>
            </a:extLst>
          </p:cNvPr>
          <p:cNvSpPr>
            <a:spLocks xmlns:a="http://schemas.openxmlformats.org/drawingml/2006/main" noGrp="1"/>
          </p:cNvSpPr>
          <p:nvPr/>
        </p:nvSpPr>
        <p:spPr>
          <a:xfrm xmlns:a="http://schemas.openxmlformats.org/drawingml/2006/main">
            <a:off x="8001000" y="4315968"/>
            <a:ext cx="32461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Fitted no-show / wait-time distributions + a defensible stratified sample of clinics</a:t>
            </a:r>
            <a:endParaRPr sz="1300"/>
          </a:p>
        </p:txBody>
      </p:sp>
    </p:spTree>
    <p:extLst>
      <p:ext uri="{BB962C8B-B14F-4D97-AF65-F5344CB8AC3E}">
        <p14:creationId xmlns:p14="http://schemas.microsoft.com/office/powerpoint/2010/main" val="12196757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ADEFFF9-2AE5-4245-9FCB-9163587CC0BC}"/>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4451A6A2-6EF9-491E-82EB-50640D781292}"/>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8</a:t>
            </a:r>
            <a:endParaRPr sz="900"/>
          </a:p>
        </p:txBody>
      </p:sp>
      <p:sp>
        <p:nvSpPr>
          <p:cNvPr id="4" name="Shape 2">
            <a:extLst xmlns:a="http://schemas.openxmlformats.org/drawingml/2006/main">
              <a:ext uri="{FF2B5EF4-FFF2-40B4-BE49-F238E27FC236}">
                <a16:creationId xmlns:a16="http://schemas.microsoft.com/office/drawing/2014/main" id="{4699E078-4BBB-4168-AB3A-6905D13F24F6}"/>
              </a:ext>
            </a:extLst>
          </p:cNvPr>
          <p:cNvSpPr>
            <a:spLocks xmlns:a="http://schemas.openxmlformats.org/drawingml/2006/main" noGrp="1"/>
          </p:cNvSpPr>
          <p:nvPr/>
        </p:nvSpPr>
        <p:spPr>
          <a:xfrm xmlns:a="http://schemas.openxmlformats.org/drawingml/2006/main">
            <a:off x="502920" y="384048"/>
            <a:ext cx="1501445"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E9EC5F9B-F74F-4249-BD01-C169E9FF7F52}"/>
              </a:ext>
            </a:extLst>
          </p:cNvPr>
          <p:cNvSpPr>
            <a:spLocks xmlns:a="http://schemas.openxmlformats.org/drawingml/2006/main" noGrp="1"/>
          </p:cNvSpPr>
          <p:nvPr/>
        </p:nvSpPr>
        <p:spPr>
          <a:xfrm xmlns:a="http://schemas.openxmlformats.org/drawingml/2006/main">
            <a:off x="502920" y="384048"/>
            <a:ext cx="1501445"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DAY 1 · HOUR 1</a:t>
            </a:r>
            <a:endParaRPr sz="1050"/>
          </a:p>
        </p:txBody>
      </p:sp>
      <p:sp>
        <p:nvSpPr>
          <p:cNvPr id="6" name="Text 4">
            <a:extLst xmlns:a="http://schemas.openxmlformats.org/drawingml/2006/main">
              <a:ext uri="{FF2B5EF4-FFF2-40B4-BE49-F238E27FC236}">
                <a16:creationId xmlns:a16="http://schemas.microsoft.com/office/drawing/2014/main" id="{06B542D1-9B06-49F2-A1D2-5C4E2F4C99B1}"/>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Why statistics is the foundation</a:t>
            </a:r>
            <a:endParaRPr sz="2800"/>
          </a:p>
        </p:txBody>
      </p:sp>
      <p:sp>
        <p:nvSpPr>
          <p:cNvPr id="7" name="Text 5">
            <a:extLst xmlns:a="http://schemas.openxmlformats.org/drawingml/2006/main">
              <a:ext uri="{FF2B5EF4-FFF2-40B4-BE49-F238E27FC236}">
                <a16:creationId xmlns:a16="http://schemas.microsoft.com/office/drawing/2014/main" id="{B16BCFEF-4846-4AAB-A4F7-3A6AD295F8D1}"/>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Three decisions this course will dismantle — each one confidently made, each one wrong</a:t>
            </a:r>
            <a:endParaRPr sz="1350"/>
          </a:p>
        </p:txBody>
      </p:sp>
      <p:sp>
        <p:nvSpPr>
          <p:cNvPr id="8" name="Shape 6">
            <a:extLst xmlns:a="http://schemas.openxmlformats.org/drawingml/2006/main">
              <a:ext uri="{FF2B5EF4-FFF2-40B4-BE49-F238E27FC236}">
                <a16:creationId xmlns:a16="http://schemas.microsoft.com/office/drawing/2014/main" id="{D156328B-F445-429A-ABF1-E6416277A216}"/>
              </a:ext>
            </a:extLst>
          </p:cNvPr>
          <p:cNvSpPr>
            <a:spLocks xmlns:a="http://schemas.openxmlformats.org/drawingml/2006/main" noGrp="1"/>
          </p:cNvSpPr>
          <p:nvPr/>
        </p:nvSpPr>
        <p:spPr>
          <a:xfrm xmlns:a="http://schemas.openxmlformats.org/drawingml/2006/main">
            <a:off x="502920" y="1837944"/>
            <a:ext cx="3675888" cy="3291840"/>
          </a:xfrm>
          <a:prstGeom xmlns:a="http://schemas.openxmlformats.org/drawingml/2006/main" prst="roundRect">
            <a:avLst>
              <a:gd name="adj" fmla="val 2500"/>
            </a:avLst>
          </a:prstGeom>
          <a:solidFill xmlns:a="http://schemas.openxmlformats.org/drawingml/2006/main">
            <a:srgbClr val="F3F8F9"/>
          </a:solidFill>
        </p:spPr>
      </p:sp>
      <p:sp>
        <p:nvSpPr>
          <p:cNvPr id="9" name="Shape 7">
            <a:extLst xmlns:a="http://schemas.openxmlformats.org/drawingml/2006/main">
              <a:ext uri="{FF2B5EF4-FFF2-40B4-BE49-F238E27FC236}">
                <a16:creationId xmlns:a16="http://schemas.microsoft.com/office/drawing/2014/main" id="{78AABE7A-84A2-433F-AF3C-15F8AD4CF658}"/>
              </a:ext>
            </a:extLst>
          </p:cNvPr>
          <p:cNvSpPr>
            <a:spLocks xmlns:a="http://schemas.openxmlformats.org/drawingml/2006/main" noGrp="1"/>
          </p:cNvSpPr>
          <p:nvPr/>
        </p:nvSpPr>
        <p:spPr>
          <a:xfrm xmlns:a="http://schemas.openxmlformats.org/drawingml/2006/main">
            <a:off x="704088" y="2066544"/>
            <a:ext cx="512064" cy="512064"/>
          </a:xfrm>
          <a:prstGeom xmlns:a="http://schemas.openxmlformats.org/drawingml/2006/main" prst="ellipse">
            <a:avLst/>
          </a:prstGeom>
          <a:solidFill xmlns:a="http://schemas.openxmlformats.org/drawingml/2006/main">
            <a:srgbClr val="C2660A"/>
          </a:solidFill>
        </p:spPr>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dfaa51d041de4610"/>
          <a:stretch xmlns:a="http://schemas.openxmlformats.org/drawingml/2006/main">
            <a:fillRect l="0" t="0" r="0" b="0"/>
          </a:stretch>
        </p:blipFill>
        <p:spPr>
          <a:xfrm xmlns:a="http://schemas.openxmlformats.org/drawingml/2006/main">
            <a:off x="837225" y="2199681"/>
            <a:ext cx="245791" cy="245791"/>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DFC1CADC-A335-4DB4-8C26-C99052DE8D8B}"/>
              </a:ext>
            </a:extLst>
          </p:cNvPr>
          <p:cNvSpPr>
            <a:spLocks xmlns:a="http://schemas.openxmlformats.org/drawingml/2006/main" noGrp="1"/>
          </p:cNvSpPr>
          <p:nvPr/>
        </p:nvSpPr>
        <p:spPr>
          <a:xfrm xmlns:a="http://schemas.openxmlformats.org/drawingml/2006/main">
            <a:off x="740664" y="2706624"/>
            <a:ext cx="32004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i="1">
                <a:solidFill>
                  <a:srgbClr val="0B3140"/>
                </a:solidFill>
                <a:latin typeface="Cambria"/>
                <a:ea typeface="Cambria"/>
                <a:cs typeface="Cambria"/>
              </a:rPr>
              <a:t>“Overbook by the average.”</a:t>
            </a:r>
            <a:endParaRPr sz="1350"/>
          </a:p>
        </p:txBody>
      </p:sp>
      <p:sp>
        <p:nvSpPr>
          <p:cNvPr id="12" name="Text 9">
            <a:extLst xmlns:a="http://schemas.openxmlformats.org/drawingml/2006/main">
              <a:ext uri="{FF2B5EF4-FFF2-40B4-BE49-F238E27FC236}">
                <a16:creationId xmlns:a16="http://schemas.microsoft.com/office/drawing/2014/main" id="{108EFFDC-130E-4B02-872C-F88357FD84D8}"/>
              </a:ext>
            </a:extLst>
          </p:cNvPr>
          <p:cNvSpPr>
            <a:spLocks xmlns:a="http://schemas.openxmlformats.org/drawingml/2006/main" noGrp="1"/>
          </p:cNvSpPr>
          <p:nvPr/>
        </p:nvSpPr>
        <p:spPr>
          <a:xfrm xmlns:a="http://schemas.openxmlformats.org/drawingml/2006/main">
            <a:off x="740664" y="3529584"/>
            <a:ext cx="320040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24313A"/>
                </a:solidFill>
                <a:latin typeface="Calibri"/>
                <a:ea typeface="Calibri"/>
                <a:cs typeface="Calibri"/>
              </a:rPr>
              <a:t>A clinic cluster overbooks by the rounded mean no-show count — and still overflows one session in six. Averages hide distributions.</a:t>
            </a:r>
            <a:endParaRPr sz="1100"/>
          </a:p>
        </p:txBody>
      </p:sp>
      <p:sp>
        <p:nvSpPr>
          <p:cNvPr id="13" name="Shape 10">
            <a:extLst xmlns:a="http://schemas.openxmlformats.org/drawingml/2006/main">
              <a:ext uri="{FF2B5EF4-FFF2-40B4-BE49-F238E27FC236}">
                <a16:creationId xmlns:a16="http://schemas.microsoft.com/office/drawing/2014/main" id="{D400AF75-4B04-48F3-8CCB-43D6FF07EE31}"/>
              </a:ext>
            </a:extLst>
          </p:cNvPr>
          <p:cNvSpPr>
            <a:spLocks xmlns:a="http://schemas.openxmlformats.org/drawingml/2006/main" noGrp="1"/>
          </p:cNvSpPr>
          <p:nvPr/>
        </p:nvSpPr>
        <p:spPr>
          <a:xfrm xmlns:a="http://schemas.openxmlformats.org/drawingml/2006/main">
            <a:off x="740664" y="4599432"/>
            <a:ext cx="1691640" cy="292608"/>
          </a:xfrm>
          <a:prstGeom xmlns:a="http://schemas.openxmlformats.org/drawingml/2006/main" prst="roundRect">
            <a:avLst>
              <a:gd name="adj" fmla="val 50000"/>
            </a:avLst>
          </a:prstGeom>
          <a:solidFill xmlns:a="http://schemas.openxmlformats.org/drawingml/2006/main">
            <a:srgbClr val="0E7C86"/>
          </a:solidFill>
        </p:spPr>
      </p:sp>
      <p:sp>
        <p:nvSpPr>
          <p:cNvPr id="14" name="Text 11">
            <a:extLst xmlns:a="http://schemas.openxmlformats.org/drawingml/2006/main">
              <a:ext uri="{FF2B5EF4-FFF2-40B4-BE49-F238E27FC236}">
                <a16:creationId xmlns:a16="http://schemas.microsoft.com/office/drawing/2014/main" id="{95BA0174-A6F4-4ED1-B9FE-E56DBBF44EB1}"/>
              </a:ext>
            </a:extLst>
          </p:cNvPr>
          <p:cNvSpPr>
            <a:spLocks xmlns:a="http://schemas.openxmlformats.org/drawingml/2006/main" noGrp="1"/>
          </p:cNvSpPr>
          <p:nvPr/>
        </p:nvSpPr>
        <p:spPr>
          <a:xfrm xmlns:a="http://schemas.openxmlformats.org/drawingml/2006/main">
            <a:off x="740664" y="4599432"/>
            <a:ext cx="16916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Fixed in Module 1</a:t>
            </a:r>
            <a:endParaRPr sz="950"/>
          </a:p>
        </p:txBody>
      </p:sp>
      <p:sp>
        <p:nvSpPr>
          <p:cNvPr id="15" name="Shape 12">
            <a:extLst xmlns:a="http://schemas.openxmlformats.org/drawingml/2006/main">
              <a:ext uri="{FF2B5EF4-FFF2-40B4-BE49-F238E27FC236}">
                <a16:creationId xmlns:a16="http://schemas.microsoft.com/office/drawing/2014/main" id="{DCA91969-3E6B-400A-91B8-BF4B08159990}"/>
              </a:ext>
            </a:extLst>
          </p:cNvPr>
          <p:cNvSpPr>
            <a:spLocks xmlns:a="http://schemas.openxmlformats.org/drawingml/2006/main" noGrp="1"/>
          </p:cNvSpPr>
          <p:nvPr/>
        </p:nvSpPr>
        <p:spPr>
          <a:xfrm xmlns:a="http://schemas.openxmlformats.org/drawingml/2006/main">
            <a:off x="4315968" y="1837944"/>
            <a:ext cx="3675888" cy="3291840"/>
          </a:xfrm>
          <a:prstGeom xmlns:a="http://schemas.openxmlformats.org/drawingml/2006/main" prst="roundRect">
            <a:avLst>
              <a:gd name="adj" fmla="val 2500"/>
            </a:avLst>
          </a:prstGeom>
          <a:solidFill xmlns:a="http://schemas.openxmlformats.org/drawingml/2006/main">
            <a:srgbClr val="F3F8F9"/>
          </a:solidFill>
        </p:spPr>
      </p:sp>
      <p:sp>
        <p:nvSpPr>
          <p:cNvPr id="16" name="Shape 13">
            <a:extLst xmlns:a="http://schemas.openxmlformats.org/drawingml/2006/main">
              <a:ext uri="{FF2B5EF4-FFF2-40B4-BE49-F238E27FC236}">
                <a16:creationId xmlns:a16="http://schemas.microsoft.com/office/drawing/2014/main" id="{E98BEFEC-6DFB-472C-A39E-535668FDD250}"/>
              </a:ext>
            </a:extLst>
          </p:cNvPr>
          <p:cNvSpPr>
            <a:spLocks xmlns:a="http://schemas.openxmlformats.org/drawingml/2006/main" noGrp="1"/>
          </p:cNvSpPr>
          <p:nvPr/>
        </p:nvSpPr>
        <p:spPr>
          <a:xfrm xmlns:a="http://schemas.openxmlformats.org/drawingml/2006/main">
            <a:off x="4517136" y="2066544"/>
            <a:ext cx="512064" cy="512064"/>
          </a:xfrm>
          <a:prstGeom xmlns:a="http://schemas.openxmlformats.org/drawingml/2006/main" prst="ellipse">
            <a:avLst/>
          </a:prstGeom>
          <a:solidFill xmlns:a="http://schemas.openxmlformats.org/drawingml/2006/main">
            <a:srgbClr val="C2660A"/>
          </a:solidFill>
        </p:spPr>
      </p:sp>
      <p:pic>
        <p:nvPicPr>
          <p:cNvPr id="49" name="Image 1"/>
          <p:cNvPicPr>
            <a:picLocks xmlns:a="http://schemas.openxmlformats.org/drawingml/2006/main" noChangeAspect="1"/>
          </p:cNvPicPr>
          <p:nvPr/>
        </p:nvPicPr>
        <p:blipFill>
          <a:blip xmlns:r="http://schemas.openxmlformats.org/officeDocument/2006/relationships" xmlns:a="http://schemas.openxmlformats.org/drawingml/2006/main" r:embed="Rbe29cdaac215494d"/>
          <a:stretch xmlns:a="http://schemas.openxmlformats.org/drawingml/2006/main">
            <a:fillRect l="0" t="0" r="0" b="0"/>
          </a:stretch>
        </p:blipFill>
        <p:spPr>
          <a:xfrm xmlns:a="http://schemas.openxmlformats.org/drawingml/2006/main">
            <a:off x="4650273" y="2199681"/>
            <a:ext cx="245791" cy="245791"/>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62171CEB-DF07-45C3-893B-A5974F78EF70}"/>
              </a:ext>
            </a:extLst>
          </p:cNvPr>
          <p:cNvSpPr>
            <a:spLocks xmlns:a="http://schemas.openxmlformats.org/drawingml/2006/main" noGrp="1"/>
          </p:cNvSpPr>
          <p:nvPr/>
        </p:nvSpPr>
        <p:spPr>
          <a:xfrm xmlns:a="http://schemas.openxmlformats.org/drawingml/2006/main">
            <a:off x="4553712" y="2706624"/>
            <a:ext cx="32004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i="1">
                <a:solidFill>
                  <a:srgbClr val="0B3140"/>
                </a:solidFill>
                <a:latin typeface="Cambria"/>
                <a:ea typeface="Cambria"/>
                <a:cs typeface="Cambria"/>
              </a:rPr>
              <a:t>“Satisfaction is 4.6 / 5 — no action needed.”</a:t>
            </a:r>
            <a:endParaRPr sz="1350"/>
          </a:p>
        </p:txBody>
      </p:sp>
      <p:sp>
        <p:nvSpPr>
          <p:cNvPr id="19" name="Text 15">
            <a:extLst xmlns:a="http://schemas.openxmlformats.org/drawingml/2006/main">
              <a:ext uri="{FF2B5EF4-FFF2-40B4-BE49-F238E27FC236}">
                <a16:creationId xmlns:a16="http://schemas.microsoft.com/office/drawing/2014/main" id="{0A79176A-2503-4A87-B0C6-486EED979D63}"/>
              </a:ext>
            </a:extLst>
          </p:cNvPr>
          <p:cNvSpPr>
            <a:spLocks xmlns:a="http://schemas.openxmlformats.org/drawingml/2006/main" noGrp="1"/>
          </p:cNvSpPr>
          <p:nvPr/>
        </p:nvSpPr>
        <p:spPr>
          <a:xfrm xmlns:a="http://schemas.openxmlformats.org/drawingml/2006/main">
            <a:off x="4553712" y="3529584"/>
            <a:ext cx="320040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24313A"/>
                </a:solidFill>
                <a:latin typeface="Calibri"/>
                <a:ea typeface="Calibri"/>
                <a:cs typeface="Calibri"/>
              </a:rPr>
              <a:t>48,000 responses… from the 9% of patients who opted in. The dashboard's big n is the trap, not the reassurance. Bias is a property of the process, not the size.</a:t>
            </a:r>
            <a:endParaRPr sz="1100"/>
          </a:p>
        </p:txBody>
      </p:sp>
      <p:sp>
        <p:nvSpPr>
          <p:cNvPr id="20" name="Shape 16">
            <a:extLst xmlns:a="http://schemas.openxmlformats.org/drawingml/2006/main">
              <a:ext uri="{FF2B5EF4-FFF2-40B4-BE49-F238E27FC236}">
                <a16:creationId xmlns:a16="http://schemas.microsoft.com/office/drawing/2014/main" id="{4F3DDA8A-1618-4D22-AA77-38D745E529B7}"/>
              </a:ext>
            </a:extLst>
          </p:cNvPr>
          <p:cNvSpPr>
            <a:spLocks xmlns:a="http://schemas.openxmlformats.org/drawingml/2006/main" noGrp="1"/>
          </p:cNvSpPr>
          <p:nvPr/>
        </p:nvSpPr>
        <p:spPr>
          <a:xfrm xmlns:a="http://schemas.openxmlformats.org/drawingml/2006/main">
            <a:off x="4553712" y="4599432"/>
            <a:ext cx="1691640" cy="292608"/>
          </a:xfrm>
          <a:prstGeom xmlns:a="http://schemas.openxmlformats.org/drawingml/2006/main" prst="roundRect">
            <a:avLst>
              <a:gd name="adj" fmla="val 50000"/>
            </a:avLst>
          </a:prstGeom>
          <a:solidFill xmlns:a="http://schemas.openxmlformats.org/drawingml/2006/main">
            <a:srgbClr val="0E7C86"/>
          </a:solidFill>
        </p:spPr>
      </p:sp>
      <p:sp>
        <p:nvSpPr>
          <p:cNvPr id="21" name="Text 17">
            <a:extLst xmlns:a="http://schemas.openxmlformats.org/drawingml/2006/main">
              <a:ext uri="{FF2B5EF4-FFF2-40B4-BE49-F238E27FC236}">
                <a16:creationId xmlns:a16="http://schemas.microsoft.com/office/drawing/2014/main" id="{A91F37C5-2561-448E-A0C0-CAEEEF9A040B}"/>
              </a:ext>
            </a:extLst>
          </p:cNvPr>
          <p:cNvSpPr>
            <a:spLocks xmlns:a="http://schemas.openxmlformats.org/drawingml/2006/main" noGrp="1"/>
          </p:cNvSpPr>
          <p:nvPr/>
        </p:nvSpPr>
        <p:spPr>
          <a:xfrm xmlns:a="http://schemas.openxmlformats.org/drawingml/2006/main">
            <a:off x="4553712" y="4599432"/>
            <a:ext cx="16916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Fixed in Module 2</a:t>
            </a:r>
            <a:endParaRPr sz="950"/>
          </a:p>
        </p:txBody>
      </p:sp>
      <p:sp>
        <p:nvSpPr>
          <p:cNvPr id="22" name="Shape 18">
            <a:extLst xmlns:a="http://schemas.openxmlformats.org/drawingml/2006/main">
              <a:ext uri="{FF2B5EF4-FFF2-40B4-BE49-F238E27FC236}">
                <a16:creationId xmlns:a16="http://schemas.microsoft.com/office/drawing/2014/main" id="{24132EDF-DA65-41F2-A531-37549A02E7A1}"/>
              </a:ext>
            </a:extLst>
          </p:cNvPr>
          <p:cNvSpPr>
            <a:spLocks xmlns:a="http://schemas.openxmlformats.org/drawingml/2006/main" noGrp="1"/>
          </p:cNvSpPr>
          <p:nvPr/>
        </p:nvSpPr>
        <p:spPr>
          <a:xfrm xmlns:a="http://schemas.openxmlformats.org/drawingml/2006/main">
            <a:off x="8129016" y="1837944"/>
            <a:ext cx="3675888" cy="3291840"/>
          </a:xfrm>
          <a:prstGeom xmlns:a="http://schemas.openxmlformats.org/drawingml/2006/main" prst="roundRect">
            <a:avLst>
              <a:gd name="adj" fmla="val 2500"/>
            </a:avLst>
          </a:prstGeom>
          <a:solidFill xmlns:a="http://schemas.openxmlformats.org/drawingml/2006/main">
            <a:srgbClr val="F3F8F9"/>
          </a:solidFill>
        </p:spPr>
      </p:sp>
      <p:sp>
        <p:nvSpPr>
          <p:cNvPr id="23" name="Shape 19">
            <a:extLst xmlns:a="http://schemas.openxmlformats.org/drawingml/2006/main">
              <a:ext uri="{FF2B5EF4-FFF2-40B4-BE49-F238E27FC236}">
                <a16:creationId xmlns:a16="http://schemas.microsoft.com/office/drawing/2014/main" id="{435229DD-662C-4337-88B7-E4072EFFA57A}"/>
              </a:ext>
            </a:extLst>
          </p:cNvPr>
          <p:cNvSpPr>
            <a:spLocks xmlns:a="http://schemas.openxmlformats.org/drawingml/2006/main" noGrp="1"/>
          </p:cNvSpPr>
          <p:nvPr/>
        </p:nvSpPr>
        <p:spPr>
          <a:xfrm xmlns:a="http://schemas.openxmlformats.org/drawingml/2006/main">
            <a:off x="8330184" y="2066544"/>
            <a:ext cx="512064" cy="512064"/>
          </a:xfrm>
          <a:prstGeom xmlns:a="http://schemas.openxmlformats.org/drawingml/2006/main" prst="ellipse">
            <a:avLst/>
          </a:prstGeom>
          <a:solidFill xmlns:a="http://schemas.openxmlformats.org/drawingml/2006/main">
            <a:srgbClr val="C2660A"/>
          </a:solidFill>
        </p:spPr>
      </p:sp>
      <p:pic>
        <p:nvPicPr>
          <p:cNvPr id="56" name="Image 2"/>
          <p:cNvPicPr>
            <a:picLocks xmlns:a="http://schemas.openxmlformats.org/drawingml/2006/main" noChangeAspect="1"/>
          </p:cNvPicPr>
          <p:nvPr/>
        </p:nvPicPr>
        <p:blipFill>
          <a:blip xmlns:r="http://schemas.openxmlformats.org/officeDocument/2006/relationships" xmlns:a="http://schemas.openxmlformats.org/drawingml/2006/main" r:embed="R30eadf5663f54475"/>
          <a:stretch xmlns:a="http://schemas.openxmlformats.org/drawingml/2006/main">
            <a:fillRect l="0" t="0" r="0" b="0"/>
          </a:stretch>
        </p:blipFill>
        <p:spPr>
          <a:xfrm xmlns:a="http://schemas.openxmlformats.org/drawingml/2006/main">
            <a:off x="8463321" y="2199681"/>
            <a:ext cx="245791" cy="245791"/>
          </a:xfrm>
          <a:prstGeom xmlns:a="http://schemas.openxmlformats.org/drawingml/2006/main" prst="rect">
            <a:avLst/>
          </a:prstGeom>
        </p:spPr>
      </p:pic>
      <p:sp>
        <p:nvSpPr>
          <p:cNvPr id="25" name="Text 20">
            <a:extLst xmlns:a="http://schemas.openxmlformats.org/drawingml/2006/main">
              <a:ext uri="{FF2B5EF4-FFF2-40B4-BE49-F238E27FC236}">
                <a16:creationId xmlns:a16="http://schemas.microsoft.com/office/drawing/2014/main" id="{689E0DD9-87E7-4F37-A812-C4804082784D}"/>
              </a:ext>
            </a:extLst>
          </p:cNvPr>
          <p:cNvSpPr>
            <a:spLocks xmlns:a="http://schemas.openxmlformats.org/drawingml/2006/main" noGrp="1"/>
          </p:cNvSpPr>
          <p:nvPr/>
        </p:nvSpPr>
        <p:spPr>
          <a:xfrm xmlns:a="http://schemas.openxmlformats.org/drawingml/2006/main">
            <a:off x="8366760" y="2706624"/>
            <a:ext cx="32004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i="1">
                <a:solidFill>
                  <a:srgbClr val="0B3140"/>
                </a:solidFill>
                <a:latin typeface="Cambria"/>
                <a:ea typeface="Cambria"/>
                <a:cs typeface="Cambria"/>
              </a:rPr>
              <a:t>“Reminders make no-shows worse — cancel them.”</a:t>
            </a:r>
            <a:endParaRPr sz="1350"/>
          </a:p>
        </p:txBody>
      </p:sp>
      <p:sp>
        <p:nvSpPr>
          <p:cNvPr id="26" name="Text 21">
            <a:extLst xmlns:a="http://schemas.openxmlformats.org/drawingml/2006/main">
              <a:ext uri="{FF2B5EF4-FFF2-40B4-BE49-F238E27FC236}">
                <a16:creationId xmlns:a16="http://schemas.microsoft.com/office/drawing/2014/main" id="{95EFC890-E5C5-4122-8C37-4C16E47D8337}"/>
              </a:ext>
            </a:extLst>
          </p:cNvPr>
          <p:cNvSpPr>
            <a:spLocks xmlns:a="http://schemas.openxmlformats.org/drawingml/2006/main" noGrp="1"/>
          </p:cNvSpPr>
          <p:nvPr/>
        </p:nvSpPr>
        <p:spPr>
          <a:xfrm xmlns:a="http://schemas.openxmlformats.org/drawingml/2006/main">
            <a:off x="8366760" y="3529584"/>
            <a:ext cx="320040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24313A"/>
                </a:solidFill>
                <a:latin typeface="Calibri"/>
                <a:ea typeface="Calibri"/>
                <a:cs typeface="Calibri"/>
              </a:rPr>
              <a:t>In our own data, reminded patients no-show more (19.5% vs 17.5%). The correlation is real. The conclusion is catastrophically wrong.</a:t>
            </a:r>
            <a:endParaRPr sz="1100"/>
          </a:p>
        </p:txBody>
      </p:sp>
      <p:sp>
        <p:nvSpPr>
          <p:cNvPr id="27" name="Shape 22">
            <a:extLst xmlns:a="http://schemas.openxmlformats.org/drawingml/2006/main">
              <a:ext uri="{FF2B5EF4-FFF2-40B4-BE49-F238E27FC236}">
                <a16:creationId xmlns:a16="http://schemas.microsoft.com/office/drawing/2014/main" id="{72EB5143-46A1-4570-B2F1-F6FE612C90A8}"/>
              </a:ext>
            </a:extLst>
          </p:cNvPr>
          <p:cNvSpPr>
            <a:spLocks xmlns:a="http://schemas.openxmlformats.org/drawingml/2006/main" noGrp="1"/>
          </p:cNvSpPr>
          <p:nvPr/>
        </p:nvSpPr>
        <p:spPr>
          <a:xfrm xmlns:a="http://schemas.openxmlformats.org/drawingml/2006/main">
            <a:off x="8366760" y="4599432"/>
            <a:ext cx="1691640" cy="292608"/>
          </a:xfrm>
          <a:prstGeom xmlns:a="http://schemas.openxmlformats.org/drawingml/2006/main" prst="roundRect">
            <a:avLst>
              <a:gd name="adj" fmla="val 50000"/>
            </a:avLst>
          </a:prstGeom>
          <a:solidFill xmlns:a="http://schemas.openxmlformats.org/drawingml/2006/main">
            <a:srgbClr val="0E7C86"/>
          </a:solidFill>
        </p:spPr>
      </p:sp>
      <p:sp>
        <p:nvSpPr>
          <p:cNvPr id="28" name="Text 23">
            <a:extLst xmlns:a="http://schemas.openxmlformats.org/drawingml/2006/main">
              <a:ext uri="{FF2B5EF4-FFF2-40B4-BE49-F238E27FC236}">
                <a16:creationId xmlns:a16="http://schemas.microsoft.com/office/drawing/2014/main" id="{3AD0814E-9350-49F6-BA70-0CF65674BCF6}"/>
              </a:ext>
            </a:extLst>
          </p:cNvPr>
          <p:cNvSpPr>
            <a:spLocks xmlns:a="http://schemas.openxmlformats.org/drawingml/2006/main" noGrp="1"/>
          </p:cNvSpPr>
          <p:nvPr/>
        </p:nvSpPr>
        <p:spPr>
          <a:xfrm xmlns:a="http://schemas.openxmlformats.org/drawingml/2006/main">
            <a:off x="8366760" y="4599432"/>
            <a:ext cx="16916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Fixed in Module 5</a:t>
            </a:r>
            <a:endParaRPr sz="950"/>
          </a:p>
        </p:txBody>
      </p:sp>
      <p:sp>
        <p:nvSpPr>
          <p:cNvPr id="29" name="Shape 24">
            <a:extLst xmlns:a="http://schemas.openxmlformats.org/drawingml/2006/main">
              <a:ext uri="{FF2B5EF4-FFF2-40B4-BE49-F238E27FC236}">
                <a16:creationId xmlns:a16="http://schemas.microsoft.com/office/drawing/2014/main" id="{1A1146E8-4E57-4729-9F5B-8B18A0C190FA}"/>
              </a:ext>
            </a:extLst>
          </p:cNvPr>
          <p:cNvSpPr>
            <a:spLocks xmlns:a="http://schemas.openxmlformats.org/drawingml/2006/main" noGrp="1"/>
          </p:cNvSpPr>
          <p:nvPr/>
        </p:nvSpPr>
        <p:spPr>
          <a:xfrm xmlns:a="http://schemas.openxmlformats.org/drawingml/2006/main">
            <a:off x="502920" y="5358384"/>
            <a:ext cx="11201400" cy="868680"/>
          </a:xfrm>
          <a:prstGeom xmlns:a="http://schemas.openxmlformats.org/drawingml/2006/main" prst="roundRect">
            <a:avLst>
              <a:gd name="adj" fmla="val 9474"/>
            </a:avLst>
          </a:prstGeom>
          <a:solidFill xmlns:a="http://schemas.openxmlformats.org/drawingml/2006/main">
            <a:srgbClr val="0B3140"/>
          </a:solidFill>
        </p:spPr>
      </p:sp>
      <p:sp>
        <p:nvSpPr>
          <p:cNvPr id="30" name="Text 25">
            <a:extLst xmlns:a="http://schemas.openxmlformats.org/drawingml/2006/main">
              <a:ext uri="{FF2B5EF4-FFF2-40B4-BE49-F238E27FC236}">
                <a16:creationId xmlns:a16="http://schemas.microsoft.com/office/drawing/2014/main" id="{2E1B6FD1-D7F8-4E22-93F4-195FCF33937F}"/>
              </a:ext>
            </a:extLst>
          </p:cNvPr>
          <p:cNvSpPr>
            <a:spLocks xmlns:a="http://schemas.openxmlformats.org/drawingml/2006/main" noGrp="1"/>
          </p:cNvSpPr>
          <p:nvPr/>
        </p:nvSpPr>
        <p:spPr>
          <a:xfrm xmlns:a="http://schemas.openxmlformats.org/drawingml/2006/main">
            <a:off x="868680" y="5358384"/>
            <a:ext cx="10515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FFFFFF"/>
                </a:solidFill>
                <a:latin typeface="Calibri"/>
                <a:ea typeface="Calibri"/>
                <a:cs typeface="Calibri"/>
              </a:rPr>
              <a:t>The inferential judgement built here is exactly what the Specialist modules (SDA-DSC-112, SDA-DSC-211) assume you already have.</a:t>
            </a:r>
            <a:endParaRPr sz="1300"/>
          </a:p>
        </p:txBody>
      </p:sp>
    </p:spTree>
    <p:extLst>
      <p:ext uri="{BB962C8B-B14F-4D97-AF65-F5344CB8AC3E}">
        <p14:creationId xmlns:p14="http://schemas.microsoft.com/office/powerpoint/2010/main" val="402166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492C51-9643-4905-987A-41ABF4C60F1E}"/>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26436F5F-C86F-4083-ABF3-59226FB0872A}"/>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9</a:t>
            </a:r>
            <a:endParaRPr sz="900"/>
          </a:p>
        </p:txBody>
      </p:sp>
      <p:sp>
        <p:nvSpPr>
          <p:cNvPr id="4" name="Shape 2">
            <a:extLst xmlns:a="http://schemas.openxmlformats.org/drawingml/2006/main">
              <a:ext uri="{FF2B5EF4-FFF2-40B4-BE49-F238E27FC236}">
                <a16:creationId xmlns:a16="http://schemas.microsoft.com/office/drawing/2014/main" id="{756D176F-A861-483E-9111-675F3026BF1B}"/>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E654B4DC-DFFE-4225-9AF3-8202879CE753}"/>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1</a:t>
            </a:r>
            <a:endParaRPr sz="1050"/>
          </a:p>
        </p:txBody>
      </p:sp>
      <p:sp>
        <p:nvSpPr>
          <p:cNvPr id="6" name="Text 4">
            <a:extLst xmlns:a="http://schemas.openxmlformats.org/drawingml/2006/main">
              <a:ext uri="{FF2B5EF4-FFF2-40B4-BE49-F238E27FC236}">
                <a16:creationId xmlns:a16="http://schemas.microsoft.com/office/drawing/2014/main" id="{D85F542D-5EF8-462C-ABC1-6847802CD627}"/>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Probability and common distributions</a:t>
            </a:r>
            <a:endParaRPr sz="2800"/>
          </a:p>
        </p:txBody>
      </p:sp>
      <p:sp>
        <p:nvSpPr>
          <p:cNvPr id="7" name="Shape 5">
            <a:extLst xmlns:a="http://schemas.openxmlformats.org/drawingml/2006/main">
              <a:ext uri="{FF2B5EF4-FFF2-40B4-BE49-F238E27FC236}">
                <a16:creationId xmlns:a16="http://schemas.microsoft.com/office/drawing/2014/main" id="{53ADE1D9-F2E0-4297-AC86-96DAAC7B0D35}"/>
              </a:ext>
            </a:extLst>
          </p:cNvPr>
          <p:cNvSpPr>
            <a:spLocks xmlns:a="http://schemas.openxmlformats.org/drawingml/2006/main" noGrp="1"/>
          </p:cNvSpPr>
          <p:nvPr/>
        </p:nvSpPr>
        <p:spPr>
          <a:xfrm xmlns:a="http://schemas.openxmlformats.org/drawingml/2006/main">
            <a:off x="502920" y="1563624"/>
            <a:ext cx="6720840" cy="4892040"/>
          </a:xfrm>
          <a:prstGeom xmlns:a="http://schemas.openxmlformats.org/drawingml/2006/main" prst="roundRect">
            <a:avLst>
              <a:gd name="adj" fmla="val 1682"/>
            </a:avLst>
          </a:prstGeom>
          <a:solidFill xmlns:a="http://schemas.openxmlformats.org/drawingml/2006/main">
            <a:srgbClr val="F3F8F9"/>
          </a:solidFill>
        </p:spPr>
      </p:sp>
      <p:sp>
        <p:nvSpPr>
          <p:cNvPr id="8" name="Shape 6">
            <a:extLst xmlns:a="http://schemas.openxmlformats.org/drawingml/2006/main">
              <a:ext uri="{FF2B5EF4-FFF2-40B4-BE49-F238E27FC236}">
                <a16:creationId xmlns:a16="http://schemas.microsoft.com/office/drawing/2014/main" id="{C15A1027-AE7D-4C18-AF18-ADE45CE3B15B}"/>
              </a:ext>
            </a:extLst>
          </p:cNvPr>
          <p:cNvSpPr>
            <a:spLocks xmlns:a="http://schemas.openxmlformats.org/drawingml/2006/main" noGrp="1"/>
          </p:cNvSpPr>
          <p:nvPr/>
        </p:nvSpPr>
        <p:spPr>
          <a:xfrm xmlns:a="http://schemas.openxmlformats.org/drawingml/2006/main">
            <a:off x="868680" y="1929384"/>
            <a:ext cx="566928" cy="566928"/>
          </a:xfrm>
          <a:prstGeom xmlns:a="http://schemas.openxmlformats.org/drawingml/2006/main" prst="ellipse">
            <a:avLst/>
          </a:prstGeom>
          <a:solidFill xmlns:a="http://schemas.openxmlformats.org/drawingml/2006/main">
            <a:srgbClr val="0E7C86"/>
          </a:solidFill>
        </p:spPr>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6765eb67027744c3"/>
          <a:stretch xmlns:a="http://schemas.openxmlformats.org/drawingml/2006/main">
            <a:fillRect l="0" t="0" r="0" b="0"/>
          </a:stretch>
        </p:blipFill>
        <p:spPr>
          <a:xfrm xmlns:a="http://schemas.openxmlformats.org/drawingml/2006/main">
            <a:off x="1016081" y="2076785"/>
            <a:ext cx="272125" cy="272125"/>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03BD9AE2-DFF7-4434-8775-F52063E22B4F}"/>
              </a:ext>
            </a:extLst>
          </p:cNvPr>
          <p:cNvSpPr>
            <a:spLocks xmlns:a="http://schemas.openxmlformats.org/drawingml/2006/main" noGrp="1"/>
          </p:cNvSpPr>
          <p:nvPr/>
        </p:nvSpPr>
        <p:spPr>
          <a:xfrm xmlns:a="http://schemas.openxmlformats.org/drawingml/2006/main">
            <a:off x="1645920" y="1975104"/>
            <a:ext cx="5120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B3140"/>
                </a:solidFill>
                <a:latin typeface="Cambria"/>
                <a:ea typeface="Cambria"/>
                <a:cs typeface="Cambria"/>
              </a:rPr>
              <a:t>Why this module</a:t>
            </a:r>
            <a:endParaRPr sz="1600"/>
          </a:p>
        </p:txBody>
      </p:sp>
      <p:sp>
        <p:nvSpPr>
          <p:cNvPr id="11" name="Text 8">
            <a:extLst xmlns:a="http://schemas.openxmlformats.org/drawingml/2006/main">
              <a:ext uri="{FF2B5EF4-FFF2-40B4-BE49-F238E27FC236}">
                <a16:creationId xmlns:a16="http://schemas.microsoft.com/office/drawing/2014/main" id="{A389143F-0185-40AE-AA74-9E0B9300BE75}"/>
              </a:ext>
            </a:extLst>
          </p:cNvPr>
          <p:cNvSpPr>
            <a:spLocks xmlns:a="http://schemas.openxmlformats.org/drawingml/2006/main" noGrp="1"/>
          </p:cNvSpPr>
          <p:nvPr/>
        </p:nvSpPr>
        <p:spPr>
          <a:xfrm xmlns:a="http://schemas.openxmlformats.org/drawingml/2006/main">
            <a:off x="868680" y="2706624"/>
            <a:ext cx="6035040" cy="3566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250">
                <a:solidFill>
                  <a:srgbClr val="24313A"/>
                </a:solidFill>
                <a:latin typeface="Calibri"/>
                <a:ea typeface="Calibri"/>
                <a:cs typeface="Calibri"/>
              </a:rPr>
              <a:t>Every downstream idea in data science — a confidence interval, a p-value, a model's predicted probability — is a statement about a random process. This module builds the vocabulary and the catalogue of distributions needed to model uncertainty deliberately rather than treat it as noise.</a:t>
            </a:r>
            <a:endParaRPr sz="1250"/>
          </a:p>
          <a:p xmlns:a="http://schemas.openxmlformats.org/drawingml/2006/main">
            <a:pPr marL="0" indent="0">
              <a:lnSpc>
                <a:spcPct val="112000"/>
              </a:lnSpc>
              <a:buNone/>
            </a:pPr>
            <a:endParaRPr sz="1250"/>
          </a:p>
          <a:p xmlns:a="http://schemas.openxmlformats.org/drawingml/2006/main">
            <a:pPr marL="0" indent="0">
              <a:lnSpc>
                <a:spcPct val="112000"/>
              </a:lnSpc>
              <a:buNone/>
            </a:pPr>
            <a:r>
              <a:rPr sz="1250">
                <a:solidFill>
                  <a:srgbClr val="24313A"/>
                </a:solidFill>
                <a:latin typeface="Calibri"/>
                <a:ea typeface="Calibri"/>
                <a:cs typeface="Calibri"/>
              </a:rPr>
              <a:t>In Saudi public and private sectors, decisions increasingly rest on probabilistic claims: "the clinic will be over capacity with probability 0.3 next Tuesday." Organisations that cannot quantify uncertainty either freeze (over-caution) or over-commit (false confidence).</a:t>
            </a:r>
            <a:endParaRPr sz="1250"/>
          </a:p>
          <a:p xmlns:a="http://schemas.openxmlformats.org/drawingml/2006/main">
            <a:pPr marL="0" indent="0">
              <a:lnSpc>
                <a:spcPct val="112000"/>
              </a:lnSpc>
              <a:buNone/>
            </a:pPr>
            <a:endParaRPr sz="1250"/>
          </a:p>
          <a:p xmlns:a="http://schemas.openxmlformats.org/drawingml/2006/main">
            <a:pPr marL="0" indent="0">
              <a:lnSpc>
                <a:spcPct val="112000"/>
              </a:lnSpc>
              <a:buNone/>
            </a:pPr>
            <a:r>
              <a:rPr sz="1250">
                <a:solidFill>
                  <a:srgbClr val="24313A"/>
                </a:solidFill>
                <a:latin typeface="Calibri"/>
                <a:ea typeface="Calibri"/>
                <a:cs typeface="Calibri"/>
              </a:rPr>
              <a:t>For Mawid: no-shows are a Bernoulli process; wait times are a skewed continuous distribution. That framing is the precondition for every capacity and reminder-policy decision that follows.</a:t>
            </a:r>
            <a:endParaRPr sz="1250"/>
          </a:p>
        </p:txBody>
      </p:sp>
      <p:sp>
        <p:nvSpPr>
          <p:cNvPr id="12" name="Shape 9">
            <a:extLst xmlns:a="http://schemas.openxmlformats.org/drawingml/2006/main">
              <a:ext uri="{FF2B5EF4-FFF2-40B4-BE49-F238E27FC236}">
                <a16:creationId xmlns:a16="http://schemas.microsoft.com/office/drawing/2014/main" id="{E35FCE7C-714B-4BEF-89BC-83CC2588AF49}"/>
              </a:ext>
            </a:extLst>
          </p:cNvPr>
          <p:cNvSpPr>
            <a:spLocks xmlns:a="http://schemas.openxmlformats.org/drawingml/2006/main" noGrp="1"/>
          </p:cNvSpPr>
          <p:nvPr/>
        </p:nvSpPr>
        <p:spPr>
          <a:xfrm xmlns:a="http://schemas.openxmlformats.org/drawingml/2006/main">
            <a:off x="7498080" y="1563624"/>
            <a:ext cx="4160520" cy="4892040"/>
          </a:xfrm>
          <a:prstGeom xmlns:a="http://schemas.openxmlformats.org/drawingml/2006/main" prst="roundRect">
            <a:avLst>
              <a:gd name="adj" fmla="val 1978"/>
            </a:avLst>
          </a:prstGeom>
          <a:solidFill xmlns:a="http://schemas.openxmlformats.org/drawingml/2006/main">
            <a:srgbClr val="0B3140"/>
          </a:solidFill>
        </p:spPr>
      </p:sp>
      <p:sp>
        <p:nvSpPr>
          <p:cNvPr id="13" name="Text 10">
            <a:extLst xmlns:a="http://schemas.openxmlformats.org/drawingml/2006/main">
              <a:ext uri="{FF2B5EF4-FFF2-40B4-BE49-F238E27FC236}">
                <a16:creationId xmlns:a16="http://schemas.microsoft.com/office/drawing/2014/main" id="{4B06EA4C-33F4-4C66-9A5F-783667928882}"/>
              </a:ext>
            </a:extLst>
          </p:cNvPr>
          <p:cNvSpPr>
            <a:spLocks xmlns:a="http://schemas.openxmlformats.org/drawingml/2006/main" noGrp="1"/>
          </p:cNvSpPr>
          <p:nvPr/>
        </p:nvSpPr>
        <p:spPr>
          <a:xfrm xmlns:a="http://schemas.openxmlformats.org/drawingml/2006/main">
            <a:off x="7818120" y="1837944"/>
            <a:ext cx="3566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FB3BC"/>
                </a:solidFill>
                <a:latin typeface="Calibri"/>
                <a:ea typeface="Calibri"/>
                <a:cs typeface="Calibri"/>
              </a:rPr>
              <a:t>LEARNING OBJECTIVES</a:t>
            </a:r>
            <a:endParaRPr sz="1050"/>
          </a:p>
        </p:txBody>
      </p:sp>
      <p:sp>
        <p:nvSpPr>
          <p:cNvPr id="14" name="Shape 11">
            <a:extLst xmlns:a="http://schemas.openxmlformats.org/drawingml/2006/main">
              <a:ext uri="{FF2B5EF4-FFF2-40B4-BE49-F238E27FC236}">
                <a16:creationId xmlns:a16="http://schemas.microsoft.com/office/drawing/2014/main" id="{D619C0AD-8097-464B-B327-617DC199D60F}"/>
              </a:ext>
            </a:extLst>
          </p:cNvPr>
          <p:cNvSpPr>
            <a:spLocks xmlns:a="http://schemas.openxmlformats.org/drawingml/2006/main" noGrp="1"/>
          </p:cNvSpPr>
          <p:nvPr/>
        </p:nvSpPr>
        <p:spPr>
          <a:xfrm xmlns:a="http://schemas.openxmlformats.org/drawingml/2006/main">
            <a:off x="7818120" y="2267712"/>
            <a:ext cx="310896" cy="310896"/>
          </a:xfrm>
          <a:prstGeom xmlns:a="http://schemas.openxmlformats.org/drawingml/2006/main" prst="ellipse">
            <a:avLst/>
          </a:prstGeom>
          <a:solidFill xmlns:a="http://schemas.openxmlformats.org/drawingml/2006/main">
            <a:srgbClr val="0E7C86"/>
          </a:solidFill>
        </p:spPr>
      </p:sp>
      <p:sp>
        <p:nvSpPr>
          <p:cNvPr id="15" name="Text 12">
            <a:extLst xmlns:a="http://schemas.openxmlformats.org/drawingml/2006/main">
              <a:ext uri="{FF2B5EF4-FFF2-40B4-BE49-F238E27FC236}">
                <a16:creationId xmlns:a16="http://schemas.microsoft.com/office/drawing/2014/main" id="{C95FACF5-8C2A-4747-967F-EF828287385B}"/>
              </a:ext>
            </a:extLst>
          </p:cNvPr>
          <p:cNvSpPr>
            <a:spLocks xmlns:a="http://schemas.openxmlformats.org/drawingml/2006/main" noGrp="1"/>
          </p:cNvSpPr>
          <p:nvPr/>
        </p:nvSpPr>
        <p:spPr>
          <a:xfrm xmlns:a="http://schemas.openxmlformats.org/drawingml/2006/main">
            <a:off x="7818120" y="2267712"/>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1.1</a:t>
            </a:r>
            <a:endParaRPr sz="1100"/>
          </a:p>
        </p:txBody>
      </p:sp>
      <p:sp>
        <p:nvSpPr>
          <p:cNvPr id="16" name="Text 13">
            <a:extLst xmlns:a="http://schemas.openxmlformats.org/drawingml/2006/main">
              <a:ext uri="{FF2B5EF4-FFF2-40B4-BE49-F238E27FC236}">
                <a16:creationId xmlns:a16="http://schemas.microsoft.com/office/drawing/2014/main" id="{9563C3AD-1C8E-4D16-8A05-819DEE6E5169}"/>
              </a:ext>
            </a:extLst>
          </p:cNvPr>
          <p:cNvSpPr>
            <a:spLocks xmlns:a="http://schemas.openxmlformats.org/drawingml/2006/main" noGrp="1"/>
          </p:cNvSpPr>
          <p:nvPr/>
        </p:nvSpPr>
        <p:spPr>
          <a:xfrm xmlns:a="http://schemas.openxmlformats.org/drawingml/2006/main">
            <a:off x="8257032" y="2249424"/>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Apply probability axioms, conditional probability, and Bayes' theorem</a:t>
            </a:r>
            <a:endParaRPr sz="1150"/>
          </a:p>
        </p:txBody>
      </p:sp>
      <p:sp>
        <p:nvSpPr>
          <p:cNvPr id="17" name="Shape 14">
            <a:extLst xmlns:a="http://schemas.openxmlformats.org/drawingml/2006/main">
              <a:ext uri="{FF2B5EF4-FFF2-40B4-BE49-F238E27FC236}">
                <a16:creationId xmlns:a16="http://schemas.microsoft.com/office/drawing/2014/main" id="{B4846F33-2276-4F33-BA87-370121B3A22F}"/>
              </a:ext>
            </a:extLst>
          </p:cNvPr>
          <p:cNvSpPr>
            <a:spLocks xmlns:a="http://schemas.openxmlformats.org/drawingml/2006/main" noGrp="1"/>
          </p:cNvSpPr>
          <p:nvPr/>
        </p:nvSpPr>
        <p:spPr>
          <a:xfrm xmlns:a="http://schemas.openxmlformats.org/drawingml/2006/main">
            <a:off x="7818120" y="2926080"/>
            <a:ext cx="310896" cy="310896"/>
          </a:xfrm>
          <a:prstGeom xmlns:a="http://schemas.openxmlformats.org/drawingml/2006/main" prst="ellipse">
            <a:avLst/>
          </a:prstGeom>
          <a:solidFill xmlns:a="http://schemas.openxmlformats.org/drawingml/2006/main">
            <a:srgbClr val="0E7C86"/>
          </a:solidFill>
        </p:spPr>
      </p:sp>
      <p:sp>
        <p:nvSpPr>
          <p:cNvPr id="18" name="Text 15">
            <a:extLst xmlns:a="http://schemas.openxmlformats.org/drawingml/2006/main">
              <a:ext uri="{FF2B5EF4-FFF2-40B4-BE49-F238E27FC236}">
                <a16:creationId xmlns:a16="http://schemas.microsoft.com/office/drawing/2014/main" id="{43A65D0A-CCAE-4E86-8205-ADA16AECF9ED}"/>
              </a:ext>
            </a:extLst>
          </p:cNvPr>
          <p:cNvSpPr>
            <a:spLocks xmlns:a="http://schemas.openxmlformats.org/drawingml/2006/main" noGrp="1"/>
          </p:cNvSpPr>
          <p:nvPr/>
        </p:nvSpPr>
        <p:spPr>
          <a:xfrm xmlns:a="http://schemas.openxmlformats.org/drawingml/2006/main">
            <a:off x="7818120" y="2926080"/>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1.2</a:t>
            </a:r>
            <a:endParaRPr sz="1100"/>
          </a:p>
        </p:txBody>
      </p:sp>
      <p:sp>
        <p:nvSpPr>
          <p:cNvPr id="19" name="Text 16">
            <a:extLst xmlns:a="http://schemas.openxmlformats.org/drawingml/2006/main">
              <a:ext uri="{FF2B5EF4-FFF2-40B4-BE49-F238E27FC236}">
                <a16:creationId xmlns:a16="http://schemas.microsoft.com/office/drawing/2014/main" id="{18854380-69EB-4CA1-B3D7-6A5253CEB97A}"/>
              </a:ext>
            </a:extLst>
          </p:cNvPr>
          <p:cNvSpPr>
            <a:spLocks xmlns:a="http://schemas.openxmlformats.org/drawingml/2006/main" noGrp="1"/>
          </p:cNvSpPr>
          <p:nvPr/>
        </p:nvSpPr>
        <p:spPr>
          <a:xfrm xmlns:a="http://schemas.openxmlformats.org/drawingml/2006/main">
            <a:off x="8257032" y="2907792"/>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Distinguish discrete vs continuous variables; work with PMF / PDF / CDF</a:t>
            </a:r>
            <a:endParaRPr sz="1150"/>
          </a:p>
        </p:txBody>
      </p:sp>
      <p:sp>
        <p:nvSpPr>
          <p:cNvPr id="20" name="Shape 17">
            <a:extLst xmlns:a="http://schemas.openxmlformats.org/drawingml/2006/main">
              <a:ext uri="{FF2B5EF4-FFF2-40B4-BE49-F238E27FC236}">
                <a16:creationId xmlns:a16="http://schemas.microsoft.com/office/drawing/2014/main" id="{0629E8DA-6A64-46A8-84DF-44D1FED7F89D}"/>
              </a:ext>
            </a:extLst>
          </p:cNvPr>
          <p:cNvSpPr>
            <a:spLocks xmlns:a="http://schemas.openxmlformats.org/drawingml/2006/main" noGrp="1"/>
          </p:cNvSpPr>
          <p:nvPr/>
        </p:nvSpPr>
        <p:spPr>
          <a:xfrm xmlns:a="http://schemas.openxmlformats.org/drawingml/2006/main">
            <a:off x="7818120" y="3584448"/>
            <a:ext cx="310896" cy="310896"/>
          </a:xfrm>
          <a:prstGeom xmlns:a="http://schemas.openxmlformats.org/drawingml/2006/main" prst="ellipse">
            <a:avLst/>
          </a:prstGeom>
          <a:solidFill xmlns:a="http://schemas.openxmlformats.org/drawingml/2006/main">
            <a:srgbClr val="0E7C86"/>
          </a:solidFill>
        </p:spPr>
      </p:sp>
      <p:sp>
        <p:nvSpPr>
          <p:cNvPr id="21" name="Text 18">
            <a:extLst xmlns:a="http://schemas.openxmlformats.org/drawingml/2006/main">
              <a:ext uri="{FF2B5EF4-FFF2-40B4-BE49-F238E27FC236}">
                <a16:creationId xmlns:a16="http://schemas.microsoft.com/office/drawing/2014/main" id="{655E0E92-907F-41EF-AE26-358CAD9AFD67}"/>
              </a:ext>
            </a:extLst>
          </p:cNvPr>
          <p:cNvSpPr>
            <a:spLocks xmlns:a="http://schemas.openxmlformats.org/drawingml/2006/main" noGrp="1"/>
          </p:cNvSpPr>
          <p:nvPr/>
        </p:nvSpPr>
        <p:spPr>
          <a:xfrm xmlns:a="http://schemas.openxmlformats.org/drawingml/2006/main">
            <a:off x="7818120" y="358444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1.3</a:t>
            </a:r>
            <a:endParaRPr sz="1100"/>
          </a:p>
        </p:txBody>
      </p:sp>
      <p:sp>
        <p:nvSpPr>
          <p:cNvPr id="22" name="Text 19">
            <a:extLst xmlns:a="http://schemas.openxmlformats.org/drawingml/2006/main">
              <a:ext uri="{FF2B5EF4-FFF2-40B4-BE49-F238E27FC236}">
                <a16:creationId xmlns:a16="http://schemas.microsoft.com/office/drawing/2014/main" id="{35ED4092-769B-413C-A066-8664D07515E0}"/>
              </a:ext>
            </a:extLst>
          </p:cNvPr>
          <p:cNvSpPr>
            <a:spLocks xmlns:a="http://schemas.openxmlformats.org/drawingml/2006/main" noGrp="1"/>
          </p:cNvSpPr>
          <p:nvPr/>
        </p:nvSpPr>
        <p:spPr>
          <a:xfrm xmlns:a="http://schemas.openxmlformats.org/drawingml/2006/main">
            <a:off x="8257032" y="3566160"/>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Select and parameterise a named distribution for a real quantity</a:t>
            </a:r>
            <a:endParaRPr sz="1150"/>
          </a:p>
        </p:txBody>
      </p:sp>
      <p:sp>
        <p:nvSpPr>
          <p:cNvPr id="23" name="Shape 20">
            <a:extLst xmlns:a="http://schemas.openxmlformats.org/drawingml/2006/main">
              <a:ext uri="{FF2B5EF4-FFF2-40B4-BE49-F238E27FC236}">
                <a16:creationId xmlns:a16="http://schemas.microsoft.com/office/drawing/2014/main" id="{E36BA792-ECF3-41D5-B91B-37571889A264}"/>
              </a:ext>
            </a:extLst>
          </p:cNvPr>
          <p:cNvSpPr>
            <a:spLocks xmlns:a="http://schemas.openxmlformats.org/drawingml/2006/main" noGrp="1"/>
          </p:cNvSpPr>
          <p:nvPr/>
        </p:nvSpPr>
        <p:spPr>
          <a:xfrm xmlns:a="http://schemas.openxmlformats.org/drawingml/2006/main">
            <a:off x="7818120" y="4242816"/>
            <a:ext cx="310896" cy="310896"/>
          </a:xfrm>
          <a:prstGeom xmlns:a="http://schemas.openxmlformats.org/drawingml/2006/main" prst="ellipse">
            <a:avLst/>
          </a:prstGeom>
          <a:solidFill xmlns:a="http://schemas.openxmlformats.org/drawingml/2006/main">
            <a:srgbClr val="0E7C86"/>
          </a:solidFill>
        </p:spPr>
      </p:sp>
      <p:sp>
        <p:nvSpPr>
          <p:cNvPr id="24" name="Text 21">
            <a:extLst xmlns:a="http://schemas.openxmlformats.org/drawingml/2006/main">
              <a:ext uri="{FF2B5EF4-FFF2-40B4-BE49-F238E27FC236}">
                <a16:creationId xmlns:a16="http://schemas.microsoft.com/office/drawing/2014/main" id="{9BEB8336-51A4-49C3-BB41-70E33AB8A02D}"/>
              </a:ext>
            </a:extLst>
          </p:cNvPr>
          <p:cNvSpPr>
            <a:spLocks xmlns:a="http://schemas.openxmlformats.org/drawingml/2006/main" noGrp="1"/>
          </p:cNvSpPr>
          <p:nvPr/>
        </p:nvSpPr>
        <p:spPr>
          <a:xfrm xmlns:a="http://schemas.openxmlformats.org/drawingml/2006/main">
            <a:off x="7818120" y="4242816"/>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1.4</a:t>
            </a:r>
            <a:endParaRPr sz="1100"/>
          </a:p>
        </p:txBody>
      </p:sp>
      <p:sp>
        <p:nvSpPr>
          <p:cNvPr id="25" name="Text 22">
            <a:extLst xmlns:a="http://schemas.openxmlformats.org/drawingml/2006/main">
              <a:ext uri="{FF2B5EF4-FFF2-40B4-BE49-F238E27FC236}">
                <a16:creationId xmlns:a16="http://schemas.microsoft.com/office/drawing/2014/main" id="{943607BD-C2D5-4E00-846D-C9825DAFBD03}"/>
              </a:ext>
            </a:extLst>
          </p:cNvPr>
          <p:cNvSpPr>
            <a:spLocks xmlns:a="http://schemas.openxmlformats.org/drawingml/2006/main" noGrp="1"/>
          </p:cNvSpPr>
          <p:nvPr/>
        </p:nvSpPr>
        <p:spPr>
          <a:xfrm xmlns:a="http://schemas.openxmlformats.org/drawingml/2006/main">
            <a:off x="8257032" y="4224528"/>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Compute probabilities, expectations, variances with scipy.stats</a:t>
            </a:r>
            <a:endParaRPr sz="1150"/>
          </a:p>
        </p:txBody>
      </p:sp>
      <p:sp>
        <p:nvSpPr>
          <p:cNvPr id="26" name="Shape 23">
            <a:extLst xmlns:a="http://schemas.openxmlformats.org/drawingml/2006/main">
              <a:ext uri="{FF2B5EF4-FFF2-40B4-BE49-F238E27FC236}">
                <a16:creationId xmlns:a16="http://schemas.microsoft.com/office/drawing/2014/main" id="{85202BB2-987F-4BE6-8139-FBF1ED4A843B}"/>
              </a:ext>
            </a:extLst>
          </p:cNvPr>
          <p:cNvSpPr>
            <a:spLocks xmlns:a="http://schemas.openxmlformats.org/drawingml/2006/main" noGrp="1"/>
          </p:cNvSpPr>
          <p:nvPr/>
        </p:nvSpPr>
        <p:spPr>
          <a:xfrm xmlns:a="http://schemas.openxmlformats.org/drawingml/2006/main">
            <a:off x="7818120" y="4901184"/>
            <a:ext cx="310896" cy="310896"/>
          </a:xfrm>
          <a:prstGeom xmlns:a="http://schemas.openxmlformats.org/drawingml/2006/main" prst="ellipse">
            <a:avLst/>
          </a:prstGeom>
          <a:solidFill xmlns:a="http://schemas.openxmlformats.org/drawingml/2006/main">
            <a:srgbClr val="0E7C86"/>
          </a:solidFill>
        </p:spPr>
      </p:sp>
      <p:sp>
        <p:nvSpPr>
          <p:cNvPr id="27" name="Text 24">
            <a:extLst xmlns:a="http://schemas.openxmlformats.org/drawingml/2006/main">
              <a:ext uri="{FF2B5EF4-FFF2-40B4-BE49-F238E27FC236}">
                <a16:creationId xmlns:a16="http://schemas.microsoft.com/office/drawing/2014/main" id="{69610594-47E3-4023-9460-CCA6B48EF9BD}"/>
              </a:ext>
            </a:extLst>
          </p:cNvPr>
          <p:cNvSpPr>
            <a:spLocks xmlns:a="http://schemas.openxmlformats.org/drawingml/2006/main" noGrp="1"/>
          </p:cNvSpPr>
          <p:nvPr/>
        </p:nvSpPr>
        <p:spPr>
          <a:xfrm xmlns:a="http://schemas.openxmlformats.org/drawingml/2006/main">
            <a:off x="7818120" y="490118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1.5</a:t>
            </a:r>
            <a:endParaRPr sz="1100"/>
          </a:p>
        </p:txBody>
      </p:sp>
      <p:sp>
        <p:nvSpPr>
          <p:cNvPr id="28" name="Text 25">
            <a:extLst xmlns:a="http://schemas.openxmlformats.org/drawingml/2006/main">
              <a:ext uri="{FF2B5EF4-FFF2-40B4-BE49-F238E27FC236}">
                <a16:creationId xmlns:a16="http://schemas.microsoft.com/office/drawing/2014/main" id="{857EC38E-C46B-4C1C-88ED-D9A6F6ACA1D8}"/>
              </a:ext>
            </a:extLst>
          </p:cNvPr>
          <p:cNvSpPr>
            <a:spLocks xmlns:a="http://schemas.openxmlformats.org/drawingml/2006/main" noGrp="1"/>
          </p:cNvSpPr>
          <p:nvPr/>
        </p:nvSpPr>
        <p:spPr>
          <a:xfrm xmlns:a="http://schemas.openxmlformats.org/drawingml/2006/main">
            <a:off x="8257032" y="4882896"/>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Fit a distribution to data and evaluate goodness of fit</a:t>
            </a:r>
            <a:endParaRPr sz="1150"/>
          </a:p>
        </p:txBody>
      </p:sp>
    </p:spTree>
    <p:extLst>
      <p:ext uri="{BB962C8B-B14F-4D97-AF65-F5344CB8AC3E}">
        <p14:creationId xmlns:p14="http://schemas.microsoft.com/office/powerpoint/2010/main" val="115621916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44417C7-5E91-4EFA-9560-0C2F25C8D32C}"/>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F7EAF172-5810-4D7C-AF89-EE4D61504C9B}"/>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10</a:t>
            </a:r>
            <a:endParaRPr sz="900"/>
          </a:p>
        </p:txBody>
      </p:sp>
      <p:sp>
        <p:nvSpPr>
          <p:cNvPr id="4" name="Shape 2">
            <a:extLst xmlns:a="http://schemas.openxmlformats.org/drawingml/2006/main">
              <a:ext uri="{FF2B5EF4-FFF2-40B4-BE49-F238E27FC236}">
                <a16:creationId xmlns:a16="http://schemas.microsoft.com/office/drawing/2014/main" id="{9A9B637B-D2DC-461D-93F0-A9993EB921F0}"/>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738BD10C-0591-41D8-B2A8-D5569D733103}"/>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1</a:t>
            </a:r>
            <a:endParaRPr sz="1050"/>
          </a:p>
        </p:txBody>
      </p:sp>
      <p:sp>
        <p:nvSpPr>
          <p:cNvPr id="6" name="Text 4">
            <a:extLst xmlns:a="http://schemas.openxmlformats.org/drawingml/2006/main">
              <a:ext uri="{FF2B5EF4-FFF2-40B4-BE49-F238E27FC236}">
                <a16:creationId xmlns:a16="http://schemas.microsoft.com/office/drawing/2014/main" id="{9B1FC90A-EFD3-4290-AE13-4829AC5EF079}"/>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Probability foundations and conditional reasoning</a:t>
            </a:r>
            <a:endParaRPr sz="2800"/>
          </a:p>
        </p:txBody>
      </p:sp>
      <p:sp>
        <p:nvSpPr>
          <p:cNvPr id="7" name="Shape 5">
            <a:extLst xmlns:a="http://schemas.openxmlformats.org/drawingml/2006/main">
              <a:ext uri="{FF2B5EF4-FFF2-40B4-BE49-F238E27FC236}">
                <a16:creationId xmlns:a16="http://schemas.microsoft.com/office/drawing/2014/main" id="{BB657217-8CAE-4B2B-ADC8-2B2FD2825EB4}"/>
              </a:ext>
            </a:extLst>
          </p:cNvPr>
          <p:cNvSpPr>
            <a:spLocks xmlns:a="http://schemas.openxmlformats.org/drawingml/2006/main" noGrp="1"/>
          </p:cNvSpPr>
          <p:nvPr/>
        </p:nvSpPr>
        <p:spPr>
          <a:xfrm xmlns:a="http://schemas.openxmlformats.org/drawingml/2006/main">
            <a:off x="502920" y="1517904"/>
            <a:ext cx="5394960" cy="2194560"/>
          </a:xfrm>
          <a:prstGeom xmlns:a="http://schemas.openxmlformats.org/drawingml/2006/main" prst="roundRect">
            <a:avLst>
              <a:gd name="adj" fmla="val 3750"/>
            </a:avLst>
          </a:prstGeom>
          <a:solidFill xmlns:a="http://schemas.openxmlformats.org/drawingml/2006/main">
            <a:srgbClr val="F3F8F9"/>
          </a:solidFill>
        </p:spPr>
      </p:sp>
      <p:sp>
        <p:nvSpPr>
          <p:cNvPr id="8" name="Text 6">
            <a:extLst xmlns:a="http://schemas.openxmlformats.org/drawingml/2006/main">
              <a:ext uri="{FF2B5EF4-FFF2-40B4-BE49-F238E27FC236}">
                <a16:creationId xmlns:a16="http://schemas.microsoft.com/office/drawing/2014/main" id="{B6961AF9-255F-42AF-8DE4-4428849D8EF6}"/>
              </a:ext>
            </a:extLst>
          </p:cNvPr>
          <p:cNvSpPr>
            <a:spLocks xmlns:a="http://schemas.openxmlformats.org/drawingml/2006/main" noGrp="1"/>
          </p:cNvSpPr>
          <p:nvPr/>
        </p:nvSpPr>
        <p:spPr>
          <a:xfrm xmlns:a="http://schemas.openxmlformats.org/drawingml/2006/main">
            <a:off x="777240" y="1700784"/>
            <a:ext cx="4846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Three axioms (Kolmogorov) — everything else follows</a:t>
            </a:r>
            <a:endParaRPr sz="1350"/>
          </a:p>
        </p:txBody>
      </p:sp>
      <p:sp>
        <p:nvSpPr>
          <p:cNvPr id="9" name="Text 7">
            <a:extLst xmlns:a="http://schemas.openxmlformats.org/drawingml/2006/main">
              <a:ext uri="{FF2B5EF4-FFF2-40B4-BE49-F238E27FC236}">
                <a16:creationId xmlns:a16="http://schemas.microsoft.com/office/drawing/2014/main" id="{CC631154-507F-480F-B881-BDC717C78C0D}"/>
              </a:ext>
            </a:extLst>
          </p:cNvPr>
          <p:cNvSpPr>
            <a:spLocks xmlns:a="http://schemas.openxmlformats.org/drawingml/2006/main" noGrp="1"/>
          </p:cNvSpPr>
          <p:nvPr/>
        </p:nvSpPr>
        <p:spPr>
          <a:xfrm xmlns:a="http://schemas.openxmlformats.org/drawingml/2006/main">
            <a:off x="777240" y="2112264"/>
            <a:ext cx="489204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700"/>
              </a:spcAft>
              <a:buSzPct val="100000"/>
              <a:buChar char="•"/>
            </a:pPr>
            <a:r>
              <a:rPr sz="1200">
                <a:solidFill>
                  <a:srgbClr val="24313A"/>
                </a:solidFill>
                <a:latin typeface="Calibri"/>
                <a:ea typeface="Calibri"/>
                <a:cs typeface="Calibri"/>
              </a:rPr>
              <a:t>Non-negativity:  P(A) ≥ 0 for every event</a:t>
            </a:r>
            <a:endParaRPr sz="1200"/>
          </a:p>
          <a:p xmlns:a="http://schemas.openxmlformats.org/drawingml/2006/main">
            <a:pPr marL="152400" indent="-152400">
              <a:lnSpc>
                <a:spcPct val="104000"/>
              </a:lnSpc>
              <a:spcAft>
                <a:spcPts val="700"/>
              </a:spcAft>
              <a:buSzPct val="100000"/>
              <a:buChar char="•"/>
            </a:pPr>
            <a:r>
              <a:rPr sz="1200">
                <a:solidFill>
                  <a:srgbClr val="24313A"/>
                </a:solidFill>
                <a:latin typeface="Calibri"/>
                <a:ea typeface="Calibri"/>
                <a:cs typeface="Calibri"/>
              </a:rPr>
              <a:t>Certainty:  P(sample space) = 1</a:t>
            </a:r>
            <a:endParaRPr sz="1200"/>
          </a:p>
          <a:p xmlns:a="http://schemas.openxmlformats.org/drawingml/2006/main">
            <a:pPr marL="152400" indent="-152400">
              <a:lnSpc>
                <a:spcPct val="104000"/>
              </a:lnSpc>
              <a:spcAft>
                <a:spcPts val="700"/>
              </a:spcAft>
              <a:buSzPct val="100000"/>
              <a:buChar char="•"/>
            </a:pPr>
            <a:r>
              <a:rPr sz="1200">
                <a:solidFill>
                  <a:srgbClr val="24313A"/>
                </a:solidFill>
                <a:latin typeface="Calibri"/>
                <a:ea typeface="Calibri"/>
                <a:cs typeface="Calibri"/>
              </a:rPr>
              <a:t>Additivity:  P(A ∪ B) = P(A) + P(B) for mutually exclusive events</a:t>
            </a:r>
            <a:endParaRPr sz="1200"/>
          </a:p>
        </p:txBody>
      </p:sp>
      <p:sp>
        <p:nvSpPr>
          <p:cNvPr id="10" name="Shape 8">
            <a:extLst xmlns:a="http://schemas.openxmlformats.org/drawingml/2006/main">
              <a:ext uri="{FF2B5EF4-FFF2-40B4-BE49-F238E27FC236}">
                <a16:creationId xmlns:a16="http://schemas.microsoft.com/office/drawing/2014/main" id="{FB6827B3-6A18-46BC-99F8-E5FE2AA461DD}"/>
              </a:ext>
            </a:extLst>
          </p:cNvPr>
          <p:cNvSpPr>
            <a:spLocks xmlns:a="http://schemas.openxmlformats.org/drawingml/2006/main" noGrp="1"/>
          </p:cNvSpPr>
          <p:nvPr/>
        </p:nvSpPr>
        <p:spPr>
          <a:xfrm xmlns:a="http://schemas.openxmlformats.org/drawingml/2006/main">
            <a:off x="502920" y="3849624"/>
            <a:ext cx="5394960" cy="2331720"/>
          </a:xfrm>
          <a:prstGeom xmlns:a="http://schemas.openxmlformats.org/drawingml/2006/main" prst="roundRect">
            <a:avLst>
              <a:gd name="adj" fmla="val 3529"/>
            </a:avLst>
          </a:prstGeom>
          <a:solidFill xmlns:a="http://schemas.openxmlformats.org/drawingml/2006/main">
            <a:srgbClr val="E7F2F3"/>
          </a:solidFill>
        </p:spPr>
      </p:sp>
      <p:sp>
        <p:nvSpPr>
          <p:cNvPr id="11" name="Text 9">
            <a:extLst xmlns:a="http://schemas.openxmlformats.org/drawingml/2006/main">
              <a:ext uri="{FF2B5EF4-FFF2-40B4-BE49-F238E27FC236}">
                <a16:creationId xmlns:a16="http://schemas.microsoft.com/office/drawing/2014/main" id="{8D983BAE-C733-4861-B841-8117E82F535C}"/>
              </a:ext>
            </a:extLst>
          </p:cNvPr>
          <p:cNvSpPr>
            <a:spLocks xmlns:a="http://schemas.openxmlformats.org/drawingml/2006/main" noGrp="1"/>
          </p:cNvSpPr>
          <p:nvPr/>
        </p:nvSpPr>
        <p:spPr>
          <a:xfrm xmlns:a="http://schemas.openxmlformats.org/drawingml/2006/main">
            <a:off x="777240" y="4032504"/>
            <a:ext cx="4846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C64"/>
                </a:solidFill>
                <a:latin typeface="Cambria"/>
                <a:ea typeface="Cambria"/>
                <a:cs typeface="Cambria"/>
              </a:rPr>
              <a:t>The two ideas that pay off immediately</a:t>
            </a:r>
            <a:endParaRPr sz="1350"/>
          </a:p>
        </p:txBody>
      </p:sp>
      <p:sp>
        <p:nvSpPr>
          <p:cNvPr id="12" name="Text 10">
            <a:extLst xmlns:a="http://schemas.openxmlformats.org/drawingml/2006/main">
              <a:ext uri="{FF2B5EF4-FFF2-40B4-BE49-F238E27FC236}">
                <a16:creationId xmlns:a16="http://schemas.microsoft.com/office/drawing/2014/main" id="{EFB85506-015C-4AC4-A7BA-76350A84392D}"/>
              </a:ext>
            </a:extLst>
          </p:cNvPr>
          <p:cNvSpPr>
            <a:spLocks xmlns:a="http://schemas.openxmlformats.org/drawingml/2006/main" noGrp="1"/>
          </p:cNvSpPr>
          <p:nvPr/>
        </p:nvSpPr>
        <p:spPr>
          <a:xfrm xmlns:a="http://schemas.openxmlformats.org/drawingml/2006/main">
            <a:off x="777240" y="4443984"/>
            <a:ext cx="489204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400"/>
              </a:spcAft>
              <a:buSzPct val="100000"/>
              <a:buChar char="•"/>
            </a:pPr>
            <a:r>
              <a:rPr sz="1130" b="1">
                <a:solidFill>
                  <a:srgbClr val="24313A"/>
                </a:solidFill>
                <a:latin typeface="Calibri"/>
                <a:ea typeface="Calibri"/>
                <a:cs typeface="Calibri"/>
              </a:rPr>
              <a:t>Conditional probability — how data updates belief:</a:t>
            </a:r>
            <a:endParaRPr sz="1130"/>
          </a:p>
          <a:p xmlns:a="http://schemas.openxmlformats.org/drawingml/2006/main">
            <a:pPr marL="254000" lvl="1" indent="-127000">
              <a:lnSpc>
                <a:spcPct val="104000"/>
              </a:lnSpc>
              <a:spcAft>
                <a:spcPts val="400"/>
              </a:spcAft>
              <a:buSzPct val="100000"/>
              <a:buChar char="–"/>
            </a:pPr>
            <a:r>
              <a:rPr sz="1130">
                <a:solidFill>
                  <a:srgbClr val="24313A"/>
                </a:solidFill>
                <a:latin typeface="Calibri"/>
                <a:ea typeface="Calibri"/>
                <a:cs typeface="Calibri"/>
              </a:rPr>
              <a:t>P(A | B) = P(A ∩ B) / P(B).  "P(no-show | missed last visit)" beats the marginal rate.</a:t>
            </a:r>
            <a:endParaRPr sz="1130"/>
          </a:p>
          <a:p xmlns:a="http://schemas.openxmlformats.org/drawingml/2006/main">
            <a:pPr marL="152400" indent="-152400">
              <a:lnSpc>
                <a:spcPct val="104000"/>
              </a:lnSpc>
              <a:spcAft>
                <a:spcPts val="400"/>
              </a:spcAft>
              <a:buSzPct val="100000"/>
              <a:buChar char="•"/>
            </a:pPr>
            <a:r>
              <a:rPr sz="1130" b="1">
                <a:solidFill>
                  <a:srgbClr val="24313A"/>
                </a:solidFill>
                <a:latin typeface="Calibri"/>
                <a:ea typeface="Calibri"/>
                <a:cs typeface="Calibri"/>
              </a:rPr>
              <a:t>Independence — P(A ∩ B) = P(A)·P(B):</a:t>
            </a:r>
            <a:endParaRPr sz="1130"/>
          </a:p>
          <a:p xmlns:a="http://schemas.openxmlformats.org/drawingml/2006/main">
            <a:pPr marL="254000" lvl="1" indent="-127000">
              <a:lnSpc>
                <a:spcPct val="104000"/>
              </a:lnSpc>
              <a:spcAft>
                <a:spcPts val="400"/>
              </a:spcAft>
              <a:buSzPct val="100000"/>
              <a:buChar char="–"/>
            </a:pPr>
            <a:r>
              <a:rPr sz="1130">
                <a:solidFill>
                  <a:srgbClr val="24313A"/>
                </a:solidFill>
                <a:latin typeface="Calibri"/>
                <a:ea typeface="Calibri"/>
                <a:cs typeface="Calibri"/>
              </a:rPr>
              <a:t>Most health events are NOT independent. Assuming it falsely is a quiet, common error (M7 revisits this for the bootstrap).</a:t>
            </a:r>
            <a:endParaRPr sz="1130"/>
          </a:p>
        </p:txBody>
      </p:sp>
      <p:sp>
        <p:nvSpPr>
          <p:cNvPr id="13" name="Shape 11">
            <a:extLst xmlns:a="http://schemas.openxmlformats.org/drawingml/2006/main">
              <a:ext uri="{FF2B5EF4-FFF2-40B4-BE49-F238E27FC236}">
                <a16:creationId xmlns:a16="http://schemas.microsoft.com/office/drawing/2014/main" id="{2D4FBD9D-57AE-43A4-88D4-78A5BCDBCEA5}"/>
              </a:ext>
            </a:extLst>
          </p:cNvPr>
          <p:cNvSpPr>
            <a:spLocks xmlns:a="http://schemas.openxmlformats.org/drawingml/2006/main" noGrp="1"/>
          </p:cNvSpPr>
          <p:nvPr/>
        </p:nvSpPr>
        <p:spPr>
          <a:xfrm xmlns:a="http://schemas.openxmlformats.org/drawingml/2006/main">
            <a:off x="6080760" y="1517904"/>
            <a:ext cx="5577840" cy="4663440"/>
          </a:xfrm>
          <a:prstGeom xmlns:a="http://schemas.openxmlformats.org/drawingml/2006/main" prst="roundRect">
            <a:avLst>
              <a:gd name="adj" fmla="val 1765"/>
            </a:avLst>
          </a:prstGeom>
          <a:solidFill xmlns:a="http://schemas.openxmlformats.org/drawingml/2006/main">
            <a:srgbClr val="FFFFFF"/>
          </a:solidFill>
          <a:ln xmlns:a="http://schemas.openxmlformats.org/drawingml/2006/main" w="12700">
            <a:solidFill>
              <a:srgbClr val="D6E2E4"/>
            </a:solidFill>
            <a:prstDash val="solid"/>
          </a:ln>
        </p:spPr>
      </p:sp>
      <p:sp>
        <p:nvSpPr>
          <p:cNvPr id="14" name="Shape 12">
            <a:extLst xmlns:a="http://schemas.openxmlformats.org/drawingml/2006/main">
              <a:ext uri="{FF2B5EF4-FFF2-40B4-BE49-F238E27FC236}">
                <a16:creationId xmlns:a16="http://schemas.microsoft.com/office/drawing/2014/main" id="{4257C46C-F11F-4E76-A84F-22B7BD5E87B2}"/>
              </a:ext>
            </a:extLst>
          </p:cNvPr>
          <p:cNvSpPr>
            <a:spLocks xmlns:a="http://schemas.openxmlformats.org/drawingml/2006/main" noGrp="1"/>
          </p:cNvSpPr>
          <p:nvPr/>
        </p:nvSpPr>
        <p:spPr>
          <a:xfrm xmlns:a="http://schemas.openxmlformats.org/drawingml/2006/main">
            <a:off x="6355080" y="1746504"/>
            <a:ext cx="457200" cy="457200"/>
          </a:xfrm>
          <a:prstGeom xmlns:a="http://schemas.openxmlformats.org/drawingml/2006/main" prst="ellipse">
            <a:avLst/>
          </a:prstGeom>
          <a:solidFill xmlns:a="http://schemas.openxmlformats.org/drawingml/2006/main">
            <a:srgbClr val="C2660A"/>
          </a:solidFill>
        </p:spPr>
      </p:sp>
      <p:pic>
        <p:nvPicPr>
          <p:cNvPr id="34" name="Image 0"/>
          <p:cNvPicPr>
            <a:picLocks xmlns:a="http://schemas.openxmlformats.org/drawingml/2006/main" noChangeAspect="1"/>
          </p:cNvPicPr>
          <p:nvPr/>
        </p:nvPicPr>
        <p:blipFill>
          <a:blip xmlns:r="http://schemas.openxmlformats.org/officeDocument/2006/relationships" xmlns:a="http://schemas.openxmlformats.org/drawingml/2006/main" r:embed="R8ba895521f1f4bec"/>
          <a:stretch xmlns:a="http://schemas.openxmlformats.org/drawingml/2006/main">
            <a:fillRect l="0" t="0" r="0" b="0"/>
          </a:stretch>
        </p:blipFill>
        <p:spPr>
          <a:xfrm xmlns:a="http://schemas.openxmlformats.org/drawingml/2006/main">
            <a:off x="6473952" y="1865376"/>
            <a:ext cx="219456" cy="219456"/>
          </a:xfrm>
          <a:prstGeom xmlns:a="http://schemas.openxmlformats.org/drawingml/2006/main" prst="rect">
            <a:avLst/>
          </a:prstGeom>
        </p:spPr>
      </p:pic>
      <p:sp>
        <p:nvSpPr>
          <p:cNvPr id="16" name="Text 13">
            <a:extLst xmlns:a="http://schemas.openxmlformats.org/drawingml/2006/main">
              <a:ext uri="{FF2B5EF4-FFF2-40B4-BE49-F238E27FC236}">
                <a16:creationId xmlns:a16="http://schemas.microsoft.com/office/drawing/2014/main" id="{91874061-3E12-4343-9A70-7E081D5FAE91}"/>
              </a:ext>
            </a:extLst>
          </p:cNvPr>
          <p:cNvSpPr>
            <a:spLocks xmlns:a="http://schemas.openxmlformats.org/drawingml/2006/main" noGrp="1"/>
          </p:cNvSpPr>
          <p:nvPr/>
        </p:nvSpPr>
        <p:spPr>
          <a:xfrm xmlns:a="http://schemas.openxmlformats.org/drawingml/2006/main">
            <a:off x="6949440" y="1819656"/>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Worked on Mawid</a:t>
            </a:r>
            <a:endParaRPr sz="1350"/>
          </a:p>
        </p:txBody>
      </p:sp>
      <p:graphicFrame>
        <p:nvGraphicFramePr>
          <p:cNvPr id="36" name="Table 0"/>
          <p:cNvGraphicFramePr/>
          <p:nvPr/>
        </p:nvGraphicFramePr>
        <p:xfrm>
          <a:off xmlns:a="http://schemas.openxmlformats.org/drawingml/2006/main" x="6355080" y="2340864"/>
          <a:ext xmlns:a="http://schemas.openxmlformats.org/drawingml/2006/main" cx="5029200" cy="914400"/>
        </p:xfrm>
        <a:graphic xmlns:a="http://schemas.openxmlformats.org/drawingml/2006/main">
          <a:graphicData uri="http://schemas.openxmlformats.org/drawingml/2006/table">
            <a:tbl>
              <a:tblPr/>
              <a:tblGrid>
                <a:gridCol w="3017520"/>
                <a:gridCol w="2011680"/>
              </a:tblGrid>
              <a:tr h="384048">
                <a:tc>
                  <a:txBody>
                    <a:bodyPr/>
                    <a:lstStyle/>
                    <a:p>
                      <a:pPr marL="0" indent="0">
                        <a:buNone/>
                      </a:pPr>
                      <a:r>
                        <a:rPr sz="1100" b="1">
                          <a:solidFill>
                            <a:srgbClr val="FFFFFF"/>
                          </a:solidFill>
                          <a:latin typeface="Calibri"/>
                          <a:ea typeface="Calibri"/>
                          <a:cs typeface="Calibri"/>
                        </a:rPr>
                        <a:t>Quantity</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00" b="1">
                          <a:solidFill>
                            <a:srgbClr val="FFFFFF"/>
                          </a:solidFill>
                          <a:latin typeface="Calibri"/>
                          <a:ea typeface="Calibri"/>
                          <a:cs typeface="Calibri"/>
                        </a:rPr>
                        <a:t>Value in the data</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r>
              <a:tr h="384048">
                <a:tc>
                  <a:txBody>
                    <a:bodyPr/>
                    <a:lstStyle/>
                    <a:p>
                      <a:pPr marL="0" indent="0">
                        <a:buNone/>
                      </a:pPr>
                      <a:r>
                        <a:rPr sz="1100">
                          <a:solidFill>
                            <a:srgbClr val="24313A"/>
                          </a:solidFill>
                          <a:latin typeface="Calibri"/>
                          <a:ea typeface="Calibri"/>
                          <a:cs typeface="Calibri"/>
                        </a:rPr>
                        <a:t>P(no-show) — marginal base rate</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0.183</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384048">
                <a:tc>
                  <a:txBody>
                    <a:bodyPr/>
                    <a:lstStyle/>
                    <a:p>
                      <a:pPr marL="0" indent="0">
                        <a:buNone/>
                      </a:pPr>
                      <a:r>
                        <a:rPr sz="1100">
                          <a:solidFill>
                            <a:srgbClr val="24313A"/>
                          </a:solidFill>
                          <a:latin typeface="Calibri"/>
                          <a:ea typeface="Calibri"/>
                          <a:cs typeface="Calibri"/>
                        </a:rPr>
                        <a:t>P(no-show | prior_no_shows ≥ 1)</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0.259 — evidence updates belief</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384048">
                <a:tc>
                  <a:txBody>
                    <a:bodyPr/>
                    <a:lstStyle/>
                    <a:p>
                      <a:pPr marL="0" indent="0">
                        <a:buNone/>
                      </a:pPr>
                      <a:r>
                        <a:rPr sz="1100">
                          <a:solidFill>
                            <a:srgbClr val="24313A"/>
                          </a:solidFill>
                          <a:latin typeface="Calibri"/>
                          <a:ea typeface="Calibri"/>
                          <a:cs typeface="Calibri"/>
                        </a:rPr>
                        <a:t>P(no-show | risk band Q4, no reminder)</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0.304</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384048">
                <a:tc>
                  <a:txBody>
                    <a:bodyPr/>
                    <a:lstStyle/>
                    <a:p>
                      <a:pPr marL="0" indent="0">
                        <a:buNone/>
                      </a:pPr>
                      <a:r>
                        <a:rPr sz="1100">
                          <a:solidFill>
                            <a:srgbClr val="24313A"/>
                          </a:solidFill>
                          <a:latin typeface="Calibri"/>
                          <a:ea typeface="Calibri"/>
                          <a:cs typeface="Calibri"/>
                        </a:rPr>
                        <a:t>P(no-show | risk band Q1, no reminder)</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0.141</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bl>
          </a:graphicData>
        </a:graphic>
      </p:graphicFrame>
      <p:sp>
        <p:nvSpPr>
          <p:cNvPr id="18" name="Text 14">
            <a:extLst xmlns:a="http://schemas.openxmlformats.org/drawingml/2006/main">
              <a:ext uri="{FF2B5EF4-FFF2-40B4-BE49-F238E27FC236}">
                <a16:creationId xmlns:a16="http://schemas.microsoft.com/office/drawing/2014/main" id="{6731A4FC-B0AF-4D39-9187-7376C7748988}"/>
              </a:ext>
            </a:extLst>
          </p:cNvPr>
          <p:cNvSpPr>
            <a:spLocks xmlns:a="http://schemas.openxmlformats.org/drawingml/2006/main" noGrp="1"/>
          </p:cNvSpPr>
          <p:nvPr/>
        </p:nvSpPr>
        <p:spPr>
          <a:xfrm xmlns:a="http://schemas.openxmlformats.org/drawingml/2006/main">
            <a:off x="6355080" y="4672584"/>
            <a:ext cx="50292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150" b="1">
                <a:solidFill>
                  <a:srgbClr val="0A5C64"/>
                </a:solidFill>
                <a:latin typeface="Calibri"/>
                <a:ea typeface="Calibri"/>
                <a:cs typeface="Calibri"/>
              </a:rPr>
              <a:t>The habit to build:  </a:t>
            </a:r>
            <a:r>
              <a:rPr sz="1150">
                <a:solidFill>
                  <a:srgbClr val="24313A"/>
                </a:solidFill>
                <a:latin typeface="Calibri"/>
                <a:ea typeface="Calibri"/>
                <a:cs typeface="Calibri"/>
              </a:rPr>
              <a:t>state the random process in words before writing any code. "Each booked patient no-shows with some probability p, roughly independently" is a model — and models can be checked.</a:t>
            </a:r>
            <a:endParaRPr sz="1150"/>
          </a:p>
        </p:txBody>
      </p:sp>
    </p:spTree>
    <p:extLst>
      <p:ext uri="{BB962C8B-B14F-4D97-AF65-F5344CB8AC3E}">
        <p14:creationId xmlns:p14="http://schemas.microsoft.com/office/powerpoint/2010/main" val="177792316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0708104-9EF0-474C-836B-E40779A88A73}"/>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54FE94A1-BEED-4418-BA0D-B0262362CF37}"/>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11</a:t>
            </a:r>
            <a:endParaRPr sz="900"/>
          </a:p>
        </p:txBody>
      </p:sp>
      <p:sp>
        <p:nvSpPr>
          <p:cNvPr id="4" name="Shape 2">
            <a:extLst xmlns:a="http://schemas.openxmlformats.org/drawingml/2006/main">
              <a:ext uri="{FF2B5EF4-FFF2-40B4-BE49-F238E27FC236}">
                <a16:creationId xmlns:a16="http://schemas.microsoft.com/office/drawing/2014/main" id="{68751041-8F45-404F-84D5-3E6BDEDD0805}"/>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2C6A6621-41F3-49CB-8424-E3E8F84F8B62}"/>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1</a:t>
            </a:r>
            <a:endParaRPr sz="1050"/>
          </a:p>
        </p:txBody>
      </p:sp>
      <p:sp>
        <p:nvSpPr>
          <p:cNvPr id="6" name="Text 4">
            <a:extLst xmlns:a="http://schemas.openxmlformats.org/drawingml/2006/main">
              <a:ext uri="{FF2B5EF4-FFF2-40B4-BE49-F238E27FC236}">
                <a16:creationId xmlns:a16="http://schemas.microsoft.com/office/drawing/2014/main" id="{28A849ED-DE19-4451-AAED-0F23A85AFE16}"/>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Bayes' theorem — base rates make or break an alert list</a:t>
            </a:r>
            <a:endParaRPr sz="2800"/>
          </a:p>
        </p:txBody>
      </p:sp>
      <p:sp>
        <p:nvSpPr>
          <p:cNvPr id="7" name="Text 5">
            <a:extLst xmlns:a="http://schemas.openxmlformats.org/drawingml/2006/main">
              <a:ext uri="{FF2B5EF4-FFF2-40B4-BE49-F238E27FC236}">
                <a16:creationId xmlns:a16="http://schemas.microsoft.com/office/drawing/2014/main" id="{550F44FC-CCD1-46D2-86C4-D737C7EB26F2}"/>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P(H | D)  =  P(D | H) · P(H)  /  P(D)   —  converting "probability of data given hypothesis" into what decisions need</a:t>
            </a:r>
            <a:endParaRPr sz="1350"/>
          </a:p>
        </p:txBody>
      </p:sp>
      <p:sp>
        <p:nvSpPr>
          <p:cNvPr id="8" name="Shape 6">
            <a:extLst xmlns:a="http://schemas.openxmlformats.org/drawingml/2006/main">
              <a:ext uri="{FF2B5EF4-FFF2-40B4-BE49-F238E27FC236}">
                <a16:creationId xmlns:a16="http://schemas.microsoft.com/office/drawing/2014/main" id="{6A69FE0F-9B9A-465F-B1DF-F4CEAF19589E}"/>
              </a:ext>
            </a:extLst>
          </p:cNvPr>
          <p:cNvSpPr>
            <a:spLocks xmlns:a="http://schemas.openxmlformats.org/drawingml/2006/main" noGrp="1"/>
          </p:cNvSpPr>
          <p:nvPr/>
        </p:nvSpPr>
        <p:spPr>
          <a:xfrm xmlns:a="http://schemas.openxmlformats.org/drawingml/2006/main">
            <a:off x="640080" y="3300984"/>
            <a:ext cx="1463040" cy="777240"/>
          </a:xfrm>
          <a:prstGeom xmlns:a="http://schemas.openxmlformats.org/drawingml/2006/main" prst="roundRect">
            <a:avLst>
              <a:gd name="adj" fmla="val 10588"/>
            </a:avLst>
          </a:prstGeom>
          <a:solidFill xmlns:a="http://schemas.openxmlformats.org/drawingml/2006/main">
            <a:srgbClr val="0B3140"/>
          </a:solidFill>
        </p:spPr>
      </p:sp>
      <p:sp>
        <p:nvSpPr>
          <p:cNvPr id="9" name="Text 7">
            <a:extLst xmlns:a="http://schemas.openxmlformats.org/drawingml/2006/main">
              <a:ext uri="{FF2B5EF4-FFF2-40B4-BE49-F238E27FC236}">
                <a16:creationId xmlns:a16="http://schemas.microsoft.com/office/drawing/2014/main" id="{B3DDB035-321E-46C5-A9EF-73A7F14918AA}"/>
              </a:ext>
            </a:extLst>
          </p:cNvPr>
          <p:cNvSpPr>
            <a:spLocks xmlns:a="http://schemas.openxmlformats.org/drawingml/2006/main" noGrp="1"/>
          </p:cNvSpPr>
          <p:nvPr/>
        </p:nvSpPr>
        <p:spPr>
          <a:xfrm xmlns:a="http://schemas.openxmlformats.org/drawingml/2006/main">
            <a:off x="694944" y="3300984"/>
            <a:ext cx="135331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8000"/>
              </a:lnSpc>
              <a:buNone/>
            </a:pPr>
            <a:r>
              <a:rPr sz="1080" b="1">
                <a:solidFill>
                  <a:srgbClr val="FFFFFF"/>
                </a:solidFill>
                <a:latin typeface="Calibri"/>
                <a:ea typeface="Calibri"/>
                <a:cs typeface="Calibri"/>
              </a:rPr>
              <a:t>1,000</a:t>
            </a:r>
            <a:endParaRPr sz="1080"/>
          </a:p>
          <a:p xmlns:a="http://schemas.openxmlformats.org/drawingml/2006/main">
            <a:pPr marL="0" indent="0" algn="ctr">
              <a:lnSpc>
                <a:spcPct val="98000"/>
              </a:lnSpc>
              <a:buNone/>
            </a:pPr>
            <a:r>
              <a:rPr sz="1080" b="1">
                <a:solidFill>
                  <a:srgbClr val="FFFFFF"/>
                </a:solidFill>
                <a:latin typeface="Calibri"/>
                <a:ea typeface="Calibri"/>
                <a:cs typeface="Calibri"/>
              </a:rPr>
              <a:t>patients</a:t>
            </a:r>
            <a:endParaRPr sz="1080"/>
          </a:p>
        </p:txBody>
      </p:sp>
      <p:sp>
        <p:nvSpPr>
          <p:cNvPr id="10" name="Shape 8">
            <a:extLst xmlns:a="http://schemas.openxmlformats.org/drawingml/2006/main">
              <a:ext uri="{FF2B5EF4-FFF2-40B4-BE49-F238E27FC236}">
                <a16:creationId xmlns:a16="http://schemas.microsoft.com/office/drawing/2014/main" id="{A053A741-6F67-44E9-8260-6F518149AE9A}"/>
              </a:ext>
            </a:extLst>
          </p:cNvPr>
          <p:cNvSpPr>
            <a:spLocks xmlns:a="http://schemas.openxmlformats.org/drawingml/2006/main" noGrp="1"/>
          </p:cNvSpPr>
          <p:nvPr/>
        </p:nvSpPr>
        <p:spPr>
          <a:xfrm xmlns:a="http://schemas.openxmlformats.org/drawingml/2006/main">
            <a:off x="2743200" y="2386584"/>
            <a:ext cx="1600200" cy="731520"/>
          </a:xfrm>
          <a:prstGeom xmlns:a="http://schemas.openxmlformats.org/drawingml/2006/main" prst="roundRect">
            <a:avLst>
              <a:gd name="adj" fmla="val 11250"/>
            </a:avLst>
          </a:prstGeom>
          <a:solidFill xmlns:a="http://schemas.openxmlformats.org/drawingml/2006/main">
            <a:srgbClr val="FBEEDD"/>
          </a:solidFill>
        </p:spPr>
      </p:sp>
      <p:sp>
        <p:nvSpPr>
          <p:cNvPr id="11" name="Text 9">
            <a:extLst xmlns:a="http://schemas.openxmlformats.org/drawingml/2006/main">
              <a:ext uri="{FF2B5EF4-FFF2-40B4-BE49-F238E27FC236}">
                <a16:creationId xmlns:a16="http://schemas.microsoft.com/office/drawing/2014/main" id="{49D6D442-DD59-4869-BC2A-10F8A616F36E}"/>
              </a:ext>
            </a:extLst>
          </p:cNvPr>
          <p:cNvSpPr>
            <a:spLocks xmlns:a="http://schemas.openxmlformats.org/drawingml/2006/main" noGrp="1"/>
          </p:cNvSpPr>
          <p:nvPr/>
        </p:nvSpPr>
        <p:spPr>
          <a:xfrm xmlns:a="http://schemas.openxmlformats.org/drawingml/2006/main">
            <a:off x="2798064" y="2386584"/>
            <a:ext cx="14904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8000"/>
              </a:lnSpc>
              <a:buNone/>
            </a:pPr>
            <a:r>
              <a:rPr sz="1080" b="1">
                <a:solidFill>
                  <a:srgbClr val="24313A"/>
                </a:solidFill>
                <a:latin typeface="Calibri"/>
                <a:ea typeface="Calibri"/>
                <a:cs typeface="Calibri"/>
              </a:rPr>
              <a:t>183 no-show</a:t>
            </a:r>
            <a:endParaRPr sz="1080"/>
          </a:p>
          <a:p xmlns:a="http://schemas.openxmlformats.org/drawingml/2006/main">
            <a:pPr marL="0" indent="0" algn="ctr">
              <a:lnSpc>
                <a:spcPct val="98000"/>
              </a:lnSpc>
              <a:buNone/>
            </a:pPr>
            <a:r>
              <a:rPr sz="1080" b="1">
                <a:solidFill>
                  <a:srgbClr val="24313A"/>
                </a:solidFill>
                <a:latin typeface="Calibri"/>
                <a:ea typeface="Calibri"/>
                <a:cs typeface="Calibri"/>
              </a:rPr>
              <a:t>(base rate 18.3%)</a:t>
            </a:r>
            <a:endParaRPr sz="1080"/>
          </a:p>
        </p:txBody>
      </p:sp>
      <p:sp>
        <p:nvSpPr>
          <p:cNvPr id="12" name="Shape 10">
            <a:extLst xmlns:a="http://schemas.openxmlformats.org/drawingml/2006/main">
              <a:ext uri="{FF2B5EF4-FFF2-40B4-BE49-F238E27FC236}">
                <a16:creationId xmlns:a16="http://schemas.microsoft.com/office/drawing/2014/main" id="{02DFB6F4-303B-417E-A7DD-86D96CE764CB}"/>
              </a:ext>
            </a:extLst>
          </p:cNvPr>
          <p:cNvSpPr>
            <a:spLocks xmlns:a="http://schemas.openxmlformats.org/drawingml/2006/main" noGrp="1"/>
          </p:cNvSpPr>
          <p:nvPr/>
        </p:nvSpPr>
        <p:spPr>
          <a:xfrm xmlns:a="http://schemas.openxmlformats.org/drawingml/2006/main">
            <a:off x="2743200" y="4215384"/>
            <a:ext cx="1600200" cy="731520"/>
          </a:xfrm>
          <a:prstGeom xmlns:a="http://schemas.openxmlformats.org/drawingml/2006/main" prst="roundRect">
            <a:avLst>
              <a:gd name="adj" fmla="val 11250"/>
            </a:avLst>
          </a:prstGeom>
          <a:solidFill xmlns:a="http://schemas.openxmlformats.org/drawingml/2006/main">
            <a:srgbClr val="E7F2F3"/>
          </a:solidFill>
        </p:spPr>
      </p:sp>
      <p:sp>
        <p:nvSpPr>
          <p:cNvPr id="13" name="Text 11">
            <a:extLst xmlns:a="http://schemas.openxmlformats.org/drawingml/2006/main">
              <a:ext uri="{FF2B5EF4-FFF2-40B4-BE49-F238E27FC236}">
                <a16:creationId xmlns:a16="http://schemas.microsoft.com/office/drawing/2014/main" id="{B77F23DC-A423-4DAC-B500-5640FD1BFC2C}"/>
              </a:ext>
            </a:extLst>
          </p:cNvPr>
          <p:cNvSpPr>
            <a:spLocks xmlns:a="http://schemas.openxmlformats.org/drawingml/2006/main" noGrp="1"/>
          </p:cNvSpPr>
          <p:nvPr/>
        </p:nvSpPr>
        <p:spPr>
          <a:xfrm xmlns:a="http://schemas.openxmlformats.org/drawingml/2006/main">
            <a:off x="2798064" y="4215384"/>
            <a:ext cx="14904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8000"/>
              </a:lnSpc>
              <a:buNone/>
            </a:pPr>
            <a:r>
              <a:rPr sz="1080" b="1">
                <a:solidFill>
                  <a:srgbClr val="24313A"/>
                </a:solidFill>
                <a:latin typeface="Calibri"/>
                <a:ea typeface="Calibri"/>
                <a:cs typeface="Calibri"/>
              </a:rPr>
              <a:t>817 attend</a:t>
            </a:r>
            <a:endParaRPr sz="1080"/>
          </a:p>
        </p:txBody>
      </p:sp>
      <p:sp>
        <p:nvSpPr>
          <p:cNvPr id="14" name="Shape 12">
            <a:extLst xmlns:a="http://schemas.openxmlformats.org/drawingml/2006/main">
              <a:ext uri="{FF2B5EF4-FFF2-40B4-BE49-F238E27FC236}">
                <a16:creationId xmlns:a16="http://schemas.microsoft.com/office/drawing/2014/main" id="{B5F1E6B4-8CD5-452C-85BF-AA0F98ED6D32}"/>
              </a:ext>
            </a:extLst>
          </p:cNvPr>
          <p:cNvSpPr>
            <a:spLocks xmlns:a="http://schemas.openxmlformats.org/drawingml/2006/main" noGrp="1"/>
          </p:cNvSpPr>
          <p:nvPr/>
        </p:nvSpPr>
        <p:spPr>
          <a:xfrm xmlns:a="http://schemas.openxmlformats.org/drawingml/2006/main">
            <a:off x="4937760" y="2066544"/>
            <a:ext cx="1691640" cy="640080"/>
          </a:xfrm>
          <a:prstGeom xmlns:a="http://schemas.openxmlformats.org/drawingml/2006/main" prst="roundRect">
            <a:avLst>
              <a:gd name="adj" fmla="val 12857"/>
            </a:avLst>
          </a:prstGeom>
          <a:solidFill xmlns:a="http://schemas.openxmlformats.org/drawingml/2006/main">
            <a:srgbClr val="FBEEDD"/>
          </a:solidFill>
        </p:spPr>
      </p:sp>
      <p:sp>
        <p:nvSpPr>
          <p:cNvPr id="15" name="Text 13">
            <a:extLst xmlns:a="http://schemas.openxmlformats.org/drawingml/2006/main">
              <a:ext uri="{FF2B5EF4-FFF2-40B4-BE49-F238E27FC236}">
                <a16:creationId xmlns:a16="http://schemas.microsoft.com/office/drawing/2014/main" id="{E77E6F3F-F726-4922-940A-C36070B8C9C9}"/>
              </a:ext>
            </a:extLst>
          </p:cNvPr>
          <p:cNvSpPr>
            <a:spLocks xmlns:a="http://schemas.openxmlformats.org/drawingml/2006/main" noGrp="1"/>
          </p:cNvSpPr>
          <p:nvPr/>
        </p:nvSpPr>
        <p:spPr>
          <a:xfrm xmlns:a="http://schemas.openxmlformats.org/drawingml/2006/main">
            <a:off x="4992624" y="2066544"/>
            <a:ext cx="158191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8000"/>
              </a:lnSpc>
              <a:buNone/>
            </a:pPr>
            <a:r>
              <a:rPr sz="1080" b="1">
                <a:solidFill>
                  <a:srgbClr val="24313A"/>
                </a:solidFill>
                <a:latin typeface="Calibri"/>
                <a:ea typeface="Calibri"/>
                <a:cs typeface="Calibri"/>
              </a:rPr>
              <a:t>165 flagged ✓</a:t>
            </a:r>
            <a:endParaRPr sz="1080"/>
          </a:p>
          <a:p xmlns:a="http://schemas.openxmlformats.org/drawingml/2006/main">
            <a:pPr marL="0" indent="0" algn="ctr">
              <a:lnSpc>
                <a:spcPct val="98000"/>
              </a:lnSpc>
              <a:buNone/>
            </a:pPr>
            <a:r>
              <a:rPr sz="1080" b="1">
                <a:solidFill>
                  <a:srgbClr val="24313A"/>
                </a:solidFill>
                <a:latin typeface="Calibri"/>
                <a:ea typeface="Calibri"/>
                <a:cs typeface="Calibri"/>
              </a:rPr>
              <a:t>(sensitivity 90%)</a:t>
            </a:r>
            <a:endParaRPr sz="1080"/>
          </a:p>
        </p:txBody>
      </p:sp>
      <p:sp>
        <p:nvSpPr>
          <p:cNvPr id="16" name="Shape 14">
            <a:extLst xmlns:a="http://schemas.openxmlformats.org/drawingml/2006/main">
              <a:ext uri="{FF2B5EF4-FFF2-40B4-BE49-F238E27FC236}">
                <a16:creationId xmlns:a16="http://schemas.microsoft.com/office/drawing/2014/main" id="{F91FB924-FD02-4154-AA13-9EC643CB68AA}"/>
              </a:ext>
            </a:extLst>
          </p:cNvPr>
          <p:cNvSpPr>
            <a:spLocks xmlns:a="http://schemas.openxmlformats.org/drawingml/2006/main" noGrp="1"/>
          </p:cNvSpPr>
          <p:nvPr/>
        </p:nvSpPr>
        <p:spPr>
          <a:xfrm xmlns:a="http://schemas.openxmlformats.org/drawingml/2006/main">
            <a:off x="4937760" y="2843784"/>
            <a:ext cx="1691640" cy="548640"/>
          </a:xfrm>
          <a:prstGeom xmlns:a="http://schemas.openxmlformats.org/drawingml/2006/main" prst="roundRect">
            <a:avLst>
              <a:gd name="adj" fmla="val 15000"/>
            </a:avLst>
          </a:prstGeom>
          <a:solidFill xmlns:a="http://schemas.openxmlformats.org/drawingml/2006/main">
            <a:srgbClr val="F3F8F9"/>
          </a:solidFill>
        </p:spPr>
      </p:sp>
      <p:sp>
        <p:nvSpPr>
          <p:cNvPr id="17" name="Text 15">
            <a:extLst xmlns:a="http://schemas.openxmlformats.org/drawingml/2006/main">
              <a:ext uri="{FF2B5EF4-FFF2-40B4-BE49-F238E27FC236}">
                <a16:creationId xmlns:a16="http://schemas.microsoft.com/office/drawing/2014/main" id="{74E4FA4D-BF60-4B8B-B74E-D3CB90F49E30}"/>
              </a:ext>
            </a:extLst>
          </p:cNvPr>
          <p:cNvSpPr>
            <a:spLocks xmlns:a="http://schemas.openxmlformats.org/drawingml/2006/main" noGrp="1"/>
          </p:cNvSpPr>
          <p:nvPr/>
        </p:nvSpPr>
        <p:spPr>
          <a:xfrm xmlns:a="http://schemas.openxmlformats.org/drawingml/2006/main">
            <a:off x="4992624" y="2843784"/>
            <a:ext cx="15819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8000"/>
              </a:lnSpc>
              <a:buNone/>
            </a:pPr>
            <a:r>
              <a:rPr sz="1080" b="1">
                <a:solidFill>
                  <a:srgbClr val="24313A"/>
                </a:solidFill>
                <a:latin typeface="Calibri"/>
                <a:ea typeface="Calibri"/>
                <a:cs typeface="Calibri"/>
              </a:rPr>
              <a:t>18 missed</a:t>
            </a:r>
            <a:endParaRPr sz="1080"/>
          </a:p>
        </p:txBody>
      </p:sp>
      <p:sp>
        <p:nvSpPr>
          <p:cNvPr id="18" name="Shape 16">
            <a:extLst xmlns:a="http://schemas.openxmlformats.org/drawingml/2006/main">
              <a:ext uri="{FF2B5EF4-FFF2-40B4-BE49-F238E27FC236}">
                <a16:creationId xmlns:a16="http://schemas.microsoft.com/office/drawing/2014/main" id="{03D61708-A5C6-473C-ADC9-EB50BCA99D87}"/>
              </a:ext>
            </a:extLst>
          </p:cNvPr>
          <p:cNvSpPr>
            <a:spLocks xmlns:a="http://schemas.openxmlformats.org/drawingml/2006/main" noGrp="1"/>
          </p:cNvSpPr>
          <p:nvPr/>
        </p:nvSpPr>
        <p:spPr>
          <a:xfrm xmlns:a="http://schemas.openxmlformats.org/drawingml/2006/main">
            <a:off x="4937760" y="3895344"/>
            <a:ext cx="1691640" cy="640080"/>
          </a:xfrm>
          <a:prstGeom xmlns:a="http://schemas.openxmlformats.org/drawingml/2006/main" prst="roundRect">
            <a:avLst>
              <a:gd name="adj" fmla="val 12857"/>
            </a:avLst>
          </a:prstGeom>
          <a:solidFill xmlns:a="http://schemas.openxmlformats.org/drawingml/2006/main">
            <a:srgbClr val="F9E8E9"/>
          </a:solidFill>
        </p:spPr>
      </p:sp>
      <p:sp>
        <p:nvSpPr>
          <p:cNvPr id="19" name="Text 17">
            <a:extLst xmlns:a="http://schemas.openxmlformats.org/drawingml/2006/main">
              <a:ext uri="{FF2B5EF4-FFF2-40B4-BE49-F238E27FC236}">
                <a16:creationId xmlns:a16="http://schemas.microsoft.com/office/drawing/2014/main" id="{62EE6F7F-F305-4335-A216-BFCC680A5F52}"/>
              </a:ext>
            </a:extLst>
          </p:cNvPr>
          <p:cNvSpPr>
            <a:spLocks xmlns:a="http://schemas.openxmlformats.org/drawingml/2006/main" noGrp="1"/>
          </p:cNvSpPr>
          <p:nvPr/>
        </p:nvSpPr>
        <p:spPr>
          <a:xfrm xmlns:a="http://schemas.openxmlformats.org/drawingml/2006/main">
            <a:off x="4992624" y="3895344"/>
            <a:ext cx="158191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8000"/>
              </a:lnSpc>
              <a:buNone/>
            </a:pPr>
            <a:r>
              <a:rPr sz="1080" b="1">
                <a:solidFill>
                  <a:srgbClr val="24313A"/>
                </a:solidFill>
                <a:latin typeface="Calibri"/>
                <a:ea typeface="Calibri"/>
                <a:cs typeface="Calibri"/>
              </a:rPr>
              <a:t>82 flagged ✗</a:t>
            </a:r>
            <a:endParaRPr sz="1080"/>
          </a:p>
          <a:p xmlns:a="http://schemas.openxmlformats.org/drawingml/2006/main">
            <a:pPr marL="0" indent="0" algn="ctr">
              <a:lnSpc>
                <a:spcPct val="98000"/>
              </a:lnSpc>
              <a:buNone/>
            </a:pPr>
            <a:r>
              <a:rPr sz="1080" b="1">
                <a:solidFill>
                  <a:srgbClr val="24313A"/>
                </a:solidFill>
                <a:latin typeface="Calibri"/>
                <a:ea typeface="Calibri"/>
                <a:cs typeface="Calibri"/>
              </a:rPr>
              <a:t>(false alarms)</a:t>
            </a:r>
            <a:endParaRPr sz="1080"/>
          </a:p>
        </p:txBody>
      </p:sp>
      <p:sp>
        <p:nvSpPr>
          <p:cNvPr id="20" name="Shape 18">
            <a:extLst xmlns:a="http://schemas.openxmlformats.org/drawingml/2006/main">
              <a:ext uri="{FF2B5EF4-FFF2-40B4-BE49-F238E27FC236}">
                <a16:creationId xmlns:a16="http://schemas.microsoft.com/office/drawing/2014/main" id="{5E9517F8-5A6C-4A6C-8DDD-7E0075441BAE}"/>
              </a:ext>
            </a:extLst>
          </p:cNvPr>
          <p:cNvSpPr>
            <a:spLocks xmlns:a="http://schemas.openxmlformats.org/drawingml/2006/main" noGrp="1"/>
          </p:cNvSpPr>
          <p:nvPr/>
        </p:nvSpPr>
        <p:spPr>
          <a:xfrm xmlns:a="http://schemas.openxmlformats.org/drawingml/2006/main">
            <a:off x="4937760" y="4672584"/>
            <a:ext cx="1691640" cy="548640"/>
          </a:xfrm>
          <a:prstGeom xmlns:a="http://schemas.openxmlformats.org/drawingml/2006/main" prst="roundRect">
            <a:avLst>
              <a:gd name="adj" fmla="val 15000"/>
            </a:avLst>
          </a:prstGeom>
          <a:solidFill xmlns:a="http://schemas.openxmlformats.org/drawingml/2006/main">
            <a:srgbClr val="F3F8F9"/>
          </a:solidFill>
        </p:spPr>
      </p:sp>
      <p:sp>
        <p:nvSpPr>
          <p:cNvPr id="21" name="Text 19">
            <a:extLst xmlns:a="http://schemas.openxmlformats.org/drawingml/2006/main">
              <a:ext uri="{FF2B5EF4-FFF2-40B4-BE49-F238E27FC236}">
                <a16:creationId xmlns:a16="http://schemas.microsoft.com/office/drawing/2014/main" id="{1C5B3A5A-B0FD-4A3F-BB92-F729F809896A}"/>
              </a:ext>
            </a:extLst>
          </p:cNvPr>
          <p:cNvSpPr>
            <a:spLocks xmlns:a="http://schemas.openxmlformats.org/drawingml/2006/main" noGrp="1"/>
          </p:cNvSpPr>
          <p:nvPr/>
        </p:nvSpPr>
        <p:spPr>
          <a:xfrm xmlns:a="http://schemas.openxmlformats.org/drawingml/2006/main">
            <a:off x="4992624" y="4672584"/>
            <a:ext cx="15819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8000"/>
              </a:lnSpc>
              <a:buNone/>
            </a:pPr>
            <a:r>
              <a:rPr sz="1080" b="1">
                <a:solidFill>
                  <a:srgbClr val="24313A"/>
                </a:solidFill>
                <a:latin typeface="Calibri"/>
                <a:ea typeface="Calibri"/>
                <a:cs typeface="Calibri"/>
              </a:rPr>
              <a:t>735 cleared</a:t>
            </a:r>
            <a:endParaRPr sz="1080"/>
          </a:p>
          <a:p xmlns:a="http://schemas.openxmlformats.org/drawingml/2006/main">
            <a:pPr marL="0" indent="0" algn="ctr">
              <a:lnSpc>
                <a:spcPct val="98000"/>
              </a:lnSpc>
              <a:buNone/>
            </a:pPr>
            <a:r>
              <a:rPr sz="1080" b="1">
                <a:solidFill>
                  <a:srgbClr val="24313A"/>
                </a:solidFill>
                <a:latin typeface="Calibri"/>
                <a:ea typeface="Calibri"/>
                <a:cs typeface="Calibri"/>
              </a:rPr>
              <a:t>(specificity 90%)</a:t>
            </a:r>
            <a:endParaRPr sz="1080"/>
          </a:p>
        </p:txBody>
      </p:sp>
      <p:sp>
        <p:nvSpPr>
          <p:cNvPr id="22" name="Shape 20">
            <a:extLst xmlns:a="http://schemas.openxmlformats.org/drawingml/2006/main">
              <a:ext uri="{FF2B5EF4-FFF2-40B4-BE49-F238E27FC236}">
                <a16:creationId xmlns:a16="http://schemas.microsoft.com/office/drawing/2014/main" id="{64192CE5-F3D4-46B0-BC40-9E9341E9E64C}"/>
              </a:ext>
            </a:extLst>
          </p:cNvPr>
          <p:cNvSpPr>
            <a:spLocks xmlns:a="http://schemas.openxmlformats.org/drawingml/2006/main" noGrp="1"/>
          </p:cNvSpPr>
          <p:nvPr/>
        </p:nvSpPr>
        <p:spPr>
          <a:xfrm xmlns:a="http://schemas.openxmlformats.org/drawingml/2006/main">
            <a:off x="2103120" y="3685032"/>
            <a:ext cx="640080" cy="0"/>
          </a:xfrm>
          <a:prstGeom xmlns:a="http://schemas.openxmlformats.org/drawingml/2006/main" prst="line">
            <a:avLst/>
          </a:prstGeom>
          <a:noFill xmlns:a="http://schemas.openxmlformats.org/drawingml/2006/main"/>
          <a:ln xmlns:a="http://schemas.openxmlformats.org/drawingml/2006/main" w="15875">
            <a:solidFill>
              <a:srgbClr val="5B6B75"/>
            </a:solidFill>
            <a:prstDash val="solid"/>
          </a:ln>
        </p:spPr>
      </p:sp>
      <p:sp>
        <p:nvSpPr>
          <p:cNvPr id="23" name="Shape 21">
            <a:extLst xmlns:a="http://schemas.openxmlformats.org/drawingml/2006/main">
              <a:ext uri="{FF2B5EF4-FFF2-40B4-BE49-F238E27FC236}">
                <a16:creationId xmlns:a16="http://schemas.microsoft.com/office/drawing/2014/main" id="{213DA1C3-3813-4806-9670-3A688C061DF4}"/>
              </a:ext>
            </a:extLst>
          </p:cNvPr>
          <p:cNvSpPr>
            <a:spLocks xmlns:a="http://schemas.openxmlformats.org/drawingml/2006/main" noGrp="1"/>
          </p:cNvSpPr>
          <p:nvPr/>
        </p:nvSpPr>
        <p:spPr>
          <a:xfrm xmlns:a="http://schemas.openxmlformats.org/drawingml/2006/main">
            <a:off x="2103120" y="3685032"/>
            <a:ext cx="640080" cy="896112"/>
          </a:xfrm>
          <a:prstGeom xmlns:a="http://schemas.openxmlformats.org/drawingml/2006/main" prst="line">
            <a:avLst/>
          </a:prstGeom>
          <a:noFill xmlns:a="http://schemas.openxmlformats.org/drawingml/2006/main"/>
          <a:ln xmlns:a="http://schemas.openxmlformats.org/drawingml/2006/main" w="15875">
            <a:solidFill>
              <a:srgbClr val="5B6B75"/>
            </a:solidFill>
            <a:prstDash val="solid"/>
          </a:ln>
        </p:spPr>
      </p:sp>
      <p:sp>
        <p:nvSpPr>
          <p:cNvPr id="24" name="Shape 22">
            <a:extLst xmlns:a="http://schemas.openxmlformats.org/drawingml/2006/main">
              <a:ext uri="{FF2B5EF4-FFF2-40B4-BE49-F238E27FC236}">
                <a16:creationId xmlns:a16="http://schemas.microsoft.com/office/drawing/2014/main" id="{EAE78BA0-57DE-4B74-9D73-D0ED5A651E7C}"/>
              </a:ext>
            </a:extLst>
          </p:cNvPr>
          <p:cNvSpPr>
            <a:spLocks xmlns:a="http://schemas.openxmlformats.org/drawingml/2006/main" noGrp="1"/>
          </p:cNvSpPr>
          <p:nvPr/>
        </p:nvSpPr>
        <p:spPr>
          <a:xfrm xmlns:a="http://schemas.openxmlformats.org/drawingml/2006/main">
            <a:off x="4343400" y="2752344"/>
            <a:ext cx="594360" cy="0"/>
          </a:xfrm>
          <a:prstGeom xmlns:a="http://schemas.openxmlformats.org/drawingml/2006/main" prst="line">
            <a:avLst/>
          </a:prstGeom>
          <a:noFill xmlns:a="http://schemas.openxmlformats.org/drawingml/2006/main"/>
          <a:ln xmlns:a="http://schemas.openxmlformats.org/drawingml/2006/main" w="15875">
            <a:solidFill>
              <a:srgbClr val="5B6B75"/>
            </a:solidFill>
            <a:prstDash val="solid"/>
          </a:ln>
        </p:spPr>
      </p:sp>
      <p:sp>
        <p:nvSpPr>
          <p:cNvPr id="25" name="Shape 23">
            <a:extLst xmlns:a="http://schemas.openxmlformats.org/drawingml/2006/main">
              <a:ext uri="{FF2B5EF4-FFF2-40B4-BE49-F238E27FC236}">
                <a16:creationId xmlns:a16="http://schemas.microsoft.com/office/drawing/2014/main" id="{32BAA461-AEFC-4D98-BC7A-EE936D015966}"/>
              </a:ext>
            </a:extLst>
          </p:cNvPr>
          <p:cNvSpPr>
            <a:spLocks xmlns:a="http://schemas.openxmlformats.org/drawingml/2006/main" noGrp="1"/>
          </p:cNvSpPr>
          <p:nvPr/>
        </p:nvSpPr>
        <p:spPr>
          <a:xfrm xmlns:a="http://schemas.openxmlformats.org/drawingml/2006/main">
            <a:off x="4343400" y="2752344"/>
            <a:ext cx="594360" cy="365760"/>
          </a:xfrm>
          <a:prstGeom xmlns:a="http://schemas.openxmlformats.org/drawingml/2006/main" prst="line">
            <a:avLst/>
          </a:prstGeom>
          <a:noFill xmlns:a="http://schemas.openxmlformats.org/drawingml/2006/main"/>
          <a:ln xmlns:a="http://schemas.openxmlformats.org/drawingml/2006/main" w="15875">
            <a:solidFill>
              <a:srgbClr val="5B6B75"/>
            </a:solidFill>
            <a:prstDash val="solid"/>
          </a:ln>
        </p:spPr>
      </p:sp>
      <p:sp>
        <p:nvSpPr>
          <p:cNvPr id="26" name="Shape 24">
            <a:extLst xmlns:a="http://schemas.openxmlformats.org/drawingml/2006/main">
              <a:ext uri="{FF2B5EF4-FFF2-40B4-BE49-F238E27FC236}">
                <a16:creationId xmlns:a16="http://schemas.microsoft.com/office/drawing/2014/main" id="{86373A05-6091-4728-9783-E6ED4C296907}"/>
              </a:ext>
            </a:extLst>
          </p:cNvPr>
          <p:cNvSpPr>
            <a:spLocks xmlns:a="http://schemas.openxmlformats.org/drawingml/2006/main" noGrp="1"/>
          </p:cNvSpPr>
          <p:nvPr/>
        </p:nvSpPr>
        <p:spPr>
          <a:xfrm xmlns:a="http://schemas.openxmlformats.org/drawingml/2006/main">
            <a:off x="4343400" y="4581144"/>
            <a:ext cx="594360" cy="0"/>
          </a:xfrm>
          <a:prstGeom xmlns:a="http://schemas.openxmlformats.org/drawingml/2006/main" prst="line">
            <a:avLst/>
          </a:prstGeom>
          <a:noFill xmlns:a="http://schemas.openxmlformats.org/drawingml/2006/main"/>
          <a:ln xmlns:a="http://schemas.openxmlformats.org/drawingml/2006/main" w="15875">
            <a:solidFill>
              <a:srgbClr val="5B6B75"/>
            </a:solidFill>
            <a:prstDash val="solid"/>
          </a:ln>
        </p:spPr>
      </p:sp>
      <p:sp>
        <p:nvSpPr>
          <p:cNvPr id="27" name="Shape 25">
            <a:extLst xmlns:a="http://schemas.openxmlformats.org/drawingml/2006/main">
              <a:ext uri="{FF2B5EF4-FFF2-40B4-BE49-F238E27FC236}">
                <a16:creationId xmlns:a16="http://schemas.microsoft.com/office/drawing/2014/main" id="{82F149BB-3C21-43DA-8034-0BFF592A322D}"/>
              </a:ext>
            </a:extLst>
          </p:cNvPr>
          <p:cNvSpPr>
            <a:spLocks xmlns:a="http://schemas.openxmlformats.org/drawingml/2006/main" noGrp="1"/>
          </p:cNvSpPr>
          <p:nvPr/>
        </p:nvSpPr>
        <p:spPr>
          <a:xfrm xmlns:a="http://schemas.openxmlformats.org/drawingml/2006/main">
            <a:off x="4343400" y="4581144"/>
            <a:ext cx="594360" cy="365760"/>
          </a:xfrm>
          <a:prstGeom xmlns:a="http://schemas.openxmlformats.org/drawingml/2006/main" prst="line">
            <a:avLst/>
          </a:prstGeom>
          <a:noFill xmlns:a="http://schemas.openxmlformats.org/drawingml/2006/main"/>
          <a:ln xmlns:a="http://schemas.openxmlformats.org/drawingml/2006/main" w="15875">
            <a:solidFill>
              <a:srgbClr val="5B6B75"/>
            </a:solidFill>
            <a:prstDash val="solid"/>
          </a:ln>
        </p:spPr>
      </p:sp>
      <p:sp>
        <p:nvSpPr>
          <p:cNvPr id="28" name="Shape 26">
            <a:extLst xmlns:a="http://schemas.openxmlformats.org/drawingml/2006/main">
              <a:ext uri="{FF2B5EF4-FFF2-40B4-BE49-F238E27FC236}">
                <a16:creationId xmlns:a16="http://schemas.microsoft.com/office/drawing/2014/main" id="{C97C7F80-F748-4AEB-AA33-62494CE2E3BD}"/>
              </a:ext>
            </a:extLst>
          </p:cNvPr>
          <p:cNvSpPr>
            <a:spLocks xmlns:a="http://schemas.openxmlformats.org/drawingml/2006/main" noGrp="1"/>
          </p:cNvSpPr>
          <p:nvPr/>
        </p:nvSpPr>
        <p:spPr>
          <a:xfrm xmlns:a="http://schemas.openxmlformats.org/drawingml/2006/main">
            <a:off x="6949440" y="2066544"/>
            <a:ext cx="4709160" cy="3246120"/>
          </a:xfrm>
          <a:prstGeom xmlns:a="http://schemas.openxmlformats.org/drawingml/2006/main" prst="roundRect">
            <a:avLst>
              <a:gd name="adj" fmla="val 2535"/>
            </a:avLst>
          </a:prstGeom>
          <a:solidFill xmlns:a="http://schemas.openxmlformats.org/drawingml/2006/main">
            <a:srgbClr val="0B3140"/>
          </a:solidFill>
        </p:spPr>
      </p:sp>
      <p:sp>
        <p:nvSpPr>
          <p:cNvPr id="29" name="Text 27">
            <a:extLst xmlns:a="http://schemas.openxmlformats.org/drawingml/2006/main">
              <a:ext uri="{FF2B5EF4-FFF2-40B4-BE49-F238E27FC236}">
                <a16:creationId xmlns:a16="http://schemas.microsoft.com/office/drawing/2014/main" id="{DED030A2-1431-4791-8FEF-735A86627C6B}"/>
              </a:ext>
            </a:extLst>
          </p:cNvPr>
          <p:cNvSpPr>
            <a:spLocks xmlns:a="http://schemas.openxmlformats.org/drawingml/2006/main" noGrp="1"/>
          </p:cNvSpPr>
          <p:nvPr/>
        </p:nvSpPr>
        <p:spPr>
          <a:xfrm xmlns:a="http://schemas.openxmlformats.org/drawingml/2006/main">
            <a:off x="7269480" y="2295144"/>
            <a:ext cx="4114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mbria"/>
                <a:ea typeface="Cambria"/>
                <a:cs typeface="Cambria"/>
              </a:rPr>
              <a:t>So… P(no-show | flagged)?</a:t>
            </a:r>
            <a:endParaRPr sz="1500"/>
          </a:p>
        </p:txBody>
      </p:sp>
      <p:sp>
        <p:nvSpPr>
          <p:cNvPr id="30" name="Text 28">
            <a:extLst xmlns:a="http://schemas.openxmlformats.org/drawingml/2006/main">
              <a:ext uri="{FF2B5EF4-FFF2-40B4-BE49-F238E27FC236}">
                <a16:creationId xmlns:a16="http://schemas.microsoft.com/office/drawing/2014/main" id="{1A5D9B1D-6CA9-4BDD-A1FC-BB837FD68965}"/>
              </a:ext>
            </a:extLst>
          </p:cNvPr>
          <p:cNvSpPr>
            <a:spLocks xmlns:a="http://schemas.openxmlformats.org/drawingml/2006/main" noGrp="1"/>
          </p:cNvSpPr>
          <p:nvPr/>
        </p:nvSpPr>
        <p:spPr>
          <a:xfrm xmlns:a="http://schemas.openxmlformats.org/drawingml/2006/main">
            <a:off x="7269480" y="2752344"/>
            <a:ext cx="4114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AECBD1"/>
                </a:solidFill>
                <a:latin typeface="Courier New"/>
                <a:ea typeface="Courier New"/>
                <a:cs typeface="Courier New"/>
              </a:rPr>
              <a:t>165 / (165 + 82)</a:t>
            </a:r>
            <a:endParaRPr sz="1400"/>
          </a:p>
        </p:txBody>
      </p:sp>
      <p:sp>
        <p:nvSpPr>
          <p:cNvPr id="31" name="Text 29">
            <a:extLst xmlns:a="http://schemas.openxmlformats.org/drawingml/2006/main">
              <a:ext uri="{FF2B5EF4-FFF2-40B4-BE49-F238E27FC236}">
                <a16:creationId xmlns:a16="http://schemas.microsoft.com/office/drawing/2014/main" id="{21DC38FC-E339-4CD4-99C6-C95FE18377F3}"/>
              </a:ext>
            </a:extLst>
          </p:cNvPr>
          <p:cNvSpPr>
            <a:spLocks xmlns:a="http://schemas.openxmlformats.org/drawingml/2006/main" noGrp="1"/>
          </p:cNvSpPr>
          <p:nvPr/>
        </p:nvSpPr>
        <p:spPr>
          <a:xfrm xmlns:a="http://schemas.openxmlformats.org/drawingml/2006/main">
            <a:off x="7269480" y="3163824"/>
            <a:ext cx="41148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FFFFFF"/>
                </a:solidFill>
                <a:latin typeface="Cambria"/>
                <a:ea typeface="Cambria"/>
                <a:cs typeface="Cambria"/>
              </a:rPr>
              <a:t>= 67%,  not 90%</a:t>
            </a:r>
            <a:endParaRPr sz="3000"/>
          </a:p>
        </p:txBody>
      </p:sp>
      <p:sp>
        <p:nvSpPr>
          <p:cNvPr id="32" name="Text 30">
            <a:extLst xmlns:a="http://schemas.openxmlformats.org/drawingml/2006/main">
              <a:ext uri="{FF2B5EF4-FFF2-40B4-BE49-F238E27FC236}">
                <a16:creationId xmlns:a16="http://schemas.microsoft.com/office/drawing/2014/main" id="{4707B52A-6846-409F-A732-28E17FD5D20D}"/>
              </a:ext>
            </a:extLst>
          </p:cNvPr>
          <p:cNvSpPr>
            <a:spLocks xmlns:a="http://schemas.openxmlformats.org/drawingml/2006/main" noGrp="1"/>
          </p:cNvSpPr>
          <p:nvPr/>
        </p:nvSpPr>
        <p:spPr>
          <a:xfrm xmlns:a="http://schemas.openxmlformats.org/drawingml/2006/main">
            <a:off x="7269480" y="3712464"/>
            <a:ext cx="4114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AECBD1"/>
                </a:solidFill>
                <a:latin typeface="Calibri"/>
                <a:ea typeface="Calibri"/>
                <a:cs typeface="Calibri"/>
              </a:rPr>
              <a:t>Participants consistently guess ~90%. The gap is the lesson: base-rate neglect.</a:t>
            </a:r>
            <a:endParaRPr sz="1150"/>
          </a:p>
        </p:txBody>
      </p:sp>
      <p:sp>
        <p:nvSpPr>
          <p:cNvPr id="33" name="Text 31">
            <a:extLst xmlns:a="http://schemas.openxmlformats.org/drawingml/2006/main">
              <a:ext uri="{FF2B5EF4-FFF2-40B4-BE49-F238E27FC236}">
                <a16:creationId xmlns:a16="http://schemas.microsoft.com/office/drawing/2014/main" id="{1386418D-9AEB-45C0-B7E9-664A78F4DE87}"/>
              </a:ext>
            </a:extLst>
          </p:cNvPr>
          <p:cNvSpPr>
            <a:spLocks xmlns:a="http://schemas.openxmlformats.org/drawingml/2006/main" noGrp="1"/>
          </p:cNvSpPr>
          <p:nvPr/>
        </p:nvSpPr>
        <p:spPr>
          <a:xfrm xmlns:a="http://schemas.openxmlformats.org/drawingml/2006/main">
            <a:off x="7269480" y="4398264"/>
            <a:ext cx="41148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150" b="1">
                <a:solidFill>
                  <a:srgbClr val="6FB3BC"/>
                </a:solidFill>
                <a:latin typeface="Calibri"/>
                <a:ea typeface="Calibri"/>
                <a:cs typeface="Calibri"/>
              </a:rPr>
              <a:t>Why it matters:  </a:t>
            </a:r>
            <a:r>
              <a:rPr sz="1150">
                <a:solidFill>
                  <a:srgbClr val="E8F1F2"/>
                </a:solidFill>
                <a:latin typeface="Calibri"/>
                <a:ea typeface="Calibri"/>
                <a:cs typeface="Calibri"/>
              </a:rPr>
              <a:t>an alert list built on a strong signal but a rare event drowns staff in false positives — until they ignore it.</a:t>
            </a:r>
            <a:endParaRPr sz="1150"/>
          </a:p>
        </p:txBody>
      </p:sp>
      <p:sp>
        <p:nvSpPr>
          <p:cNvPr id="34" name="Text 32">
            <a:extLst xmlns:a="http://schemas.openxmlformats.org/drawingml/2006/main">
              <a:ext uri="{FF2B5EF4-FFF2-40B4-BE49-F238E27FC236}">
                <a16:creationId xmlns:a16="http://schemas.microsoft.com/office/drawing/2014/main" id="{FACF4C67-5F79-48FC-8BBE-89F58AC110AC}"/>
              </a:ext>
            </a:extLst>
          </p:cNvPr>
          <p:cNvSpPr>
            <a:spLocks xmlns:a="http://schemas.openxmlformats.org/drawingml/2006/main" noGrp="1"/>
          </p:cNvSpPr>
          <p:nvPr/>
        </p:nvSpPr>
        <p:spPr>
          <a:xfrm xmlns:a="http://schemas.openxmlformats.org/drawingml/2006/main">
            <a:off x="640080" y="5769864"/>
            <a:ext cx="109728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200" b="1">
                <a:solidFill>
                  <a:srgbClr val="0B3140"/>
                </a:solidFill>
                <a:latin typeface="Calibri"/>
                <a:ea typeface="Calibri"/>
                <a:cs typeface="Calibri"/>
              </a:rPr>
              <a:t>Structure every update as  prior → likelihood → posterior.  </a:t>
            </a:r>
            <a:r>
              <a:rPr sz="1200">
                <a:solidFill>
                  <a:srgbClr val="24313A"/>
                </a:solidFill>
                <a:latin typeface="Calibri"/>
                <a:ea typeface="Calibri"/>
                <a:cs typeface="Calibri"/>
              </a:rPr>
              <a:t>The recurring failure this prevents is base-rate neglect: judging a patient "likely to no-show" from a strong signal while ignoring that no-shows are rare to begin with.</a:t>
            </a:r>
            <a:endParaRPr sz="1200"/>
          </a:p>
        </p:txBody>
      </p:sp>
    </p:spTree>
    <p:extLst>
      <p:ext uri="{BB962C8B-B14F-4D97-AF65-F5344CB8AC3E}">
        <p14:creationId xmlns:p14="http://schemas.microsoft.com/office/powerpoint/2010/main" val="76777804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1FEB744-58FA-466A-9826-142488796301}"/>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47F916C8-ADA4-4CCD-8C08-9D311E962773}"/>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12</a:t>
            </a:r>
            <a:endParaRPr sz="900"/>
          </a:p>
        </p:txBody>
      </p:sp>
      <p:sp>
        <p:nvSpPr>
          <p:cNvPr id="4" name="Shape 2">
            <a:extLst xmlns:a="http://schemas.openxmlformats.org/drawingml/2006/main">
              <a:ext uri="{FF2B5EF4-FFF2-40B4-BE49-F238E27FC236}">
                <a16:creationId xmlns:a16="http://schemas.microsoft.com/office/drawing/2014/main" id="{343F1D3B-5C24-4DF0-BA8E-AC8AFC6B1065}"/>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0E55E93A-EAC3-4C19-8FAD-F04A87CB6E41}"/>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1</a:t>
            </a:r>
            <a:endParaRPr sz="1050"/>
          </a:p>
        </p:txBody>
      </p:sp>
      <p:sp>
        <p:nvSpPr>
          <p:cNvPr id="6" name="Text 4">
            <a:extLst xmlns:a="http://schemas.openxmlformats.org/drawingml/2006/main">
              <a:ext uri="{FF2B5EF4-FFF2-40B4-BE49-F238E27FC236}">
                <a16:creationId xmlns:a16="http://schemas.microsoft.com/office/drawing/2014/main" id="{163011E7-4F7D-41FE-AD99-90C3F09C8FB0}"/>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Random variables — PMF, PDF, and the workhorse CDF</a:t>
            </a:r>
            <a:endParaRPr sz="2800"/>
          </a:p>
        </p:txBody>
      </p:sp>
      <p:sp>
        <p:nvSpPr>
          <p:cNvPr id="7" name="Shape 5">
            <a:extLst xmlns:a="http://schemas.openxmlformats.org/drawingml/2006/main">
              <a:ext uri="{FF2B5EF4-FFF2-40B4-BE49-F238E27FC236}">
                <a16:creationId xmlns:a16="http://schemas.microsoft.com/office/drawing/2014/main" id="{1509F0B9-8AE2-4669-99C7-92A5250BB9F0}"/>
              </a:ext>
            </a:extLst>
          </p:cNvPr>
          <p:cNvSpPr>
            <a:spLocks xmlns:a="http://schemas.openxmlformats.org/drawingml/2006/main" noGrp="1"/>
          </p:cNvSpPr>
          <p:nvPr/>
        </p:nvSpPr>
        <p:spPr>
          <a:xfrm xmlns:a="http://schemas.openxmlformats.org/drawingml/2006/main">
            <a:off x="502920" y="1517904"/>
            <a:ext cx="5486400" cy="2880360"/>
          </a:xfrm>
          <a:prstGeom xmlns:a="http://schemas.openxmlformats.org/drawingml/2006/main" prst="roundRect">
            <a:avLst>
              <a:gd name="adj" fmla="val 2857"/>
            </a:avLst>
          </a:prstGeom>
          <a:solidFill xmlns:a="http://schemas.openxmlformats.org/drawingml/2006/main">
            <a:srgbClr val="F3F8F9"/>
          </a:solidFill>
        </p:spPr>
      </p:sp>
      <p:sp>
        <p:nvSpPr>
          <p:cNvPr id="8" name="Text 6">
            <a:extLst xmlns:a="http://schemas.openxmlformats.org/drawingml/2006/main">
              <a:ext uri="{FF2B5EF4-FFF2-40B4-BE49-F238E27FC236}">
                <a16:creationId xmlns:a16="http://schemas.microsoft.com/office/drawing/2014/main" id="{953E2A00-133E-408B-A53B-38AAD3F763AF}"/>
              </a:ext>
            </a:extLst>
          </p:cNvPr>
          <p:cNvSpPr>
            <a:spLocks xmlns:a="http://schemas.openxmlformats.org/drawingml/2006/main" noGrp="1"/>
          </p:cNvSpPr>
          <p:nvPr/>
        </p:nvSpPr>
        <p:spPr>
          <a:xfrm xmlns:a="http://schemas.openxmlformats.org/drawingml/2006/main">
            <a:off x="777240" y="1700784"/>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Discrete  →  probability mass function</a:t>
            </a:r>
            <a:endParaRPr sz="1350"/>
          </a:p>
        </p:txBody>
      </p:sp>
      <p:sp>
        <p:nvSpPr>
          <p:cNvPr id="9" name="Text 7">
            <a:extLst xmlns:a="http://schemas.openxmlformats.org/drawingml/2006/main">
              <a:ext uri="{FF2B5EF4-FFF2-40B4-BE49-F238E27FC236}">
                <a16:creationId xmlns:a16="http://schemas.microsoft.com/office/drawing/2014/main" id="{F43998B4-939C-4BD6-8D5E-1E03941911FE}"/>
              </a:ext>
            </a:extLst>
          </p:cNvPr>
          <p:cNvSpPr>
            <a:spLocks xmlns:a="http://schemas.openxmlformats.org/drawingml/2006/main" noGrp="1"/>
          </p:cNvSpPr>
          <p:nvPr/>
        </p:nvSpPr>
        <p:spPr>
          <a:xfrm xmlns:a="http://schemas.openxmlformats.org/drawingml/2006/main">
            <a:off x="777240" y="2093976"/>
            <a:ext cx="49834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500"/>
              </a:spcAft>
              <a:buSzPct val="100000"/>
              <a:buChar char="•"/>
            </a:pPr>
            <a:r>
              <a:rPr sz="1150">
                <a:solidFill>
                  <a:srgbClr val="24313A"/>
                </a:solidFill>
                <a:latin typeface="Calibri"/>
                <a:ea typeface="Calibri"/>
                <a:cs typeface="Calibri"/>
              </a:rPr>
              <a:t>p(x) = P(X = x) — bars you can sum</a:t>
            </a:r>
            <a:endParaRPr sz="1150"/>
          </a:p>
          <a:p xmlns:a="http://schemas.openxmlformats.org/drawingml/2006/main">
            <a:pPr marL="152400" indent="-152400">
              <a:lnSpc>
                <a:spcPct val="104000"/>
              </a:lnSpc>
              <a:spcAft>
                <a:spcPts val="500"/>
              </a:spcAft>
              <a:buSzPct val="100000"/>
              <a:buChar char="•"/>
            </a:pPr>
            <a:r>
              <a:rPr sz="1150">
                <a:solidFill>
                  <a:srgbClr val="24313A"/>
                </a:solidFill>
                <a:latin typeface="Calibri"/>
                <a:ea typeface="Calibri"/>
                <a:cs typeface="Calibri"/>
              </a:rPr>
              <a:t>Mawid: no_show ∈ {0,1}; no-shows in a 20-slot session ∈ {0…20}</a:t>
            </a:r>
            <a:endParaRPr sz="1150"/>
          </a:p>
        </p:txBody>
      </p:sp>
      <p:sp>
        <p:nvSpPr>
          <p:cNvPr id="10" name="Shape 8">
            <a:extLst xmlns:a="http://schemas.openxmlformats.org/drawingml/2006/main">
              <a:ext uri="{FF2B5EF4-FFF2-40B4-BE49-F238E27FC236}">
                <a16:creationId xmlns:a16="http://schemas.microsoft.com/office/drawing/2014/main" id="{9CB876EA-08F3-4672-98AE-620B50CE92CD}"/>
              </a:ext>
            </a:extLst>
          </p:cNvPr>
          <p:cNvSpPr>
            <a:spLocks xmlns:a="http://schemas.openxmlformats.org/drawingml/2006/main" noGrp="1"/>
          </p:cNvSpPr>
          <p:nvPr/>
        </p:nvSpPr>
        <p:spPr>
          <a:xfrm xmlns:a="http://schemas.openxmlformats.org/drawingml/2006/main">
            <a:off x="1051560" y="4002512"/>
            <a:ext cx="365760" cy="75712"/>
          </a:xfrm>
          <a:prstGeom xmlns:a="http://schemas.openxmlformats.org/drawingml/2006/main" prst="rect">
            <a:avLst/>
          </a:prstGeom>
          <a:solidFill xmlns:a="http://schemas.openxmlformats.org/drawingml/2006/main">
            <a:srgbClr val="0E7C86"/>
          </a:solidFill>
        </p:spPr>
      </p:sp>
      <p:sp>
        <p:nvSpPr>
          <p:cNvPr id="11" name="Text 9">
            <a:extLst xmlns:a="http://schemas.openxmlformats.org/drawingml/2006/main">
              <a:ext uri="{FF2B5EF4-FFF2-40B4-BE49-F238E27FC236}">
                <a16:creationId xmlns:a16="http://schemas.microsoft.com/office/drawing/2014/main" id="{B60FB928-6908-4DBE-B0F2-1987A423F29B}"/>
              </a:ext>
            </a:extLst>
          </p:cNvPr>
          <p:cNvSpPr>
            <a:spLocks xmlns:a="http://schemas.openxmlformats.org/drawingml/2006/main" noGrp="1"/>
          </p:cNvSpPr>
          <p:nvPr/>
        </p:nvSpPr>
        <p:spPr>
          <a:xfrm xmlns:a="http://schemas.openxmlformats.org/drawingml/2006/main">
            <a:off x="1051560" y="4096512"/>
            <a:ext cx="365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5B6B75"/>
                </a:solidFill>
                <a:latin typeface="Calibri"/>
                <a:ea typeface="Calibri"/>
                <a:cs typeface="Calibri"/>
              </a:rPr>
              <a:t>0</a:t>
            </a:r>
            <a:endParaRPr sz="850"/>
          </a:p>
        </p:txBody>
      </p:sp>
      <p:sp>
        <p:nvSpPr>
          <p:cNvPr id="12" name="Shape 10">
            <a:extLst xmlns:a="http://schemas.openxmlformats.org/drawingml/2006/main">
              <a:ext uri="{FF2B5EF4-FFF2-40B4-BE49-F238E27FC236}">
                <a16:creationId xmlns:a16="http://schemas.microsoft.com/office/drawing/2014/main" id="{292FC001-971A-4818-96ED-4E7BC043BB17}"/>
              </a:ext>
            </a:extLst>
          </p:cNvPr>
          <p:cNvSpPr>
            <a:spLocks xmlns:a="http://schemas.openxmlformats.org/drawingml/2006/main" noGrp="1"/>
          </p:cNvSpPr>
          <p:nvPr/>
        </p:nvSpPr>
        <p:spPr>
          <a:xfrm xmlns:a="http://schemas.openxmlformats.org/drawingml/2006/main">
            <a:off x="1581912" y="3745931"/>
            <a:ext cx="365760" cy="332293"/>
          </a:xfrm>
          <a:prstGeom xmlns:a="http://schemas.openxmlformats.org/drawingml/2006/main" prst="rect">
            <a:avLst/>
          </a:prstGeom>
          <a:solidFill xmlns:a="http://schemas.openxmlformats.org/drawingml/2006/main">
            <a:srgbClr val="0E7C86"/>
          </a:solidFill>
        </p:spPr>
      </p:sp>
      <p:sp>
        <p:nvSpPr>
          <p:cNvPr id="13" name="Text 11">
            <a:extLst xmlns:a="http://schemas.openxmlformats.org/drawingml/2006/main">
              <a:ext uri="{FF2B5EF4-FFF2-40B4-BE49-F238E27FC236}">
                <a16:creationId xmlns:a16="http://schemas.microsoft.com/office/drawing/2014/main" id="{6574DFB8-6966-4CD0-A86A-A8B8C6FB39E1}"/>
              </a:ext>
            </a:extLst>
          </p:cNvPr>
          <p:cNvSpPr>
            <a:spLocks xmlns:a="http://schemas.openxmlformats.org/drawingml/2006/main" noGrp="1"/>
          </p:cNvSpPr>
          <p:nvPr/>
        </p:nvSpPr>
        <p:spPr>
          <a:xfrm xmlns:a="http://schemas.openxmlformats.org/drawingml/2006/main">
            <a:off x="1581912" y="4096512"/>
            <a:ext cx="365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5B6B75"/>
                </a:solidFill>
                <a:latin typeface="Calibri"/>
                <a:ea typeface="Calibri"/>
                <a:cs typeface="Calibri"/>
              </a:rPr>
              <a:t>1</a:t>
            </a:r>
            <a:endParaRPr sz="850"/>
          </a:p>
        </p:txBody>
      </p:sp>
      <p:sp>
        <p:nvSpPr>
          <p:cNvPr id="14" name="Shape 12">
            <a:extLst xmlns:a="http://schemas.openxmlformats.org/drawingml/2006/main">
              <a:ext uri="{FF2B5EF4-FFF2-40B4-BE49-F238E27FC236}">
                <a16:creationId xmlns:a16="http://schemas.microsoft.com/office/drawing/2014/main" id="{DAF9410D-FECD-4880-86D3-B28B797FB2DA}"/>
              </a:ext>
            </a:extLst>
          </p:cNvPr>
          <p:cNvSpPr>
            <a:spLocks xmlns:a="http://schemas.openxmlformats.org/drawingml/2006/main" noGrp="1"/>
          </p:cNvSpPr>
          <p:nvPr/>
        </p:nvSpPr>
        <p:spPr>
          <a:xfrm xmlns:a="http://schemas.openxmlformats.org/drawingml/2006/main">
            <a:off x="2112264" y="3371576"/>
            <a:ext cx="365760" cy="706648"/>
          </a:xfrm>
          <a:prstGeom xmlns:a="http://schemas.openxmlformats.org/drawingml/2006/main" prst="rect">
            <a:avLst/>
          </a:prstGeom>
          <a:solidFill xmlns:a="http://schemas.openxmlformats.org/drawingml/2006/main">
            <a:srgbClr val="0E7C86"/>
          </a:solidFill>
        </p:spPr>
      </p:sp>
      <p:sp>
        <p:nvSpPr>
          <p:cNvPr id="15" name="Text 13">
            <a:extLst xmlns:a="http://schemas.openxmlformats.org/drawingml/2006/main">
              <a:ext uri="{FF2B5EF4-FFF2-40B4-BE49-F238E27FC236}">
                <a16:creationId xmlns:a16="http://schemas.microsoft.com/office/drawing/2014/main" id="{D6504557-8F9C-4672-B6B2-8715B52AAB96}"/>
              </a:ext>
            </a:extLst>
          </p:cNvPr>
          <p:cNvSpPr>
            <a:spLocks xmlns:a="http://schemas.openxmlformats.org/drawingml/2006/main" noGrp="1"/>
          </p:cNvSpPr>
          <p:nvPr/>
        </p:nvSpPr>
        <p:spPr>
          <a:xfrm xmlns:a="http://schemas.openxmlformats.org/drawingml/2006/main">
            <a:off x="2112264" y="4096512"/>
            <a:ext cx="365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5B6B75"/>
                </a:solidFill>
                <a:latin typeface="Calibri"/>
                <a:ea typeface="Calibri"/>
                <a:cs typeface="Calibri"/>
              </a:rPr>
              <a:t>2</a:t>
            </a:r>
            <a:endParaRPr sz="850"/>
          </a:p>
        </p:txBody>
      </p:sp>
      <p:sp>
        <p:nvSpPr>
          <p:cNvPr id="16" name="Shape 14">
            <a:extLst xmlns:a="http://schemas.openxmlformats.org/drawingml/2006/main">
              <a:ext uri="{FF2B5EF4-FFF2-40B4-BE49-F238E27FC236}">
                <a16:creationId xmlns:a16="http://schemas.microsoft.com/office/drawing/2014/main" id="{DB2E699F-A916-4AAA-BB6F-D605AC5D449C}"/>
              </a:ext>
            </a:extLst>
          </p:cNvPr>
          <p:cNvSpPr>
            <a:spLocks xmlns:a="http://schemas.openxmlformats.org/drawingml/2006/main" noGrp="1"/>
          </p:cNvSpPr>
          <p:nvPr/>
        </p:nvSpPr>
        <p:spPr>
          <a:xfrm xmlns:a="http://schemas.openxmlformats.org/drawingml/2006/main">
            <a:off x="2642616" y="3127614"/>
            <a:ext cx="365760" cy="950610"/>
          </a:xfrm>
          <a:prstGeom xmlns:a="http://schemas.openxmlformats.org/drawingml/2006/main" prst="rect">
            <a:avLst/>
          </a:prstGeom>
          <a:solidFill xmlns:a="http://schemas.openxmlformats.org/drawingml/2006/main">
            <a:srgbClr val="0E7C86"/>
          </a:solidFill>
        </p:spPr>
      </p:sp>
      <p:sp>
        <p:nvSpPr>
          <p:cNvPr id="17" name="Text 15">
            <a:extLst xmlns:a="http://schemas.openxmlformats.org/drawingml/2006/main">
              <a:ext uri="{FF2B5EF4-FFF2-40B4-BE49-F238E27FC236}">
                <a16:creationId xmlns:a16="http://schemas.microsoft.com/office/drawing/2014/main" id="{F5943680-62B6-42A2-8E6C-8598F75585FE}"/>
              </a:ext>
            </a:extLst>
          </p:cNvPr>
          <p:cNvSpPr>
            <a:spLocks xmlns:a="http://schemas.openxmlformats.org/drawingml/2006/main" noGrp="1"/>
          </p:cNvSpPr>
          <p:nvPr/>
        </p:nvSpPr>
        <p:spPr>
          <a:xfrm xmlns:a="http://schemas.openxmlformats.org/drawingml/2006/main">
            <a:off x="2642616" y="4096512"/>
            <a:ext cx="365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5B6B75"/>
                </a:solidFill>
                <a:latin typeface="Calibri"/>
                <a:ea typeface="Calibri"/>
                <a:cs typeface="Calibri"/>
              </a:rPr>
              <a:t>3</a:t>
            </a:r>
            <a:endParaRPr sz="850"/>
          </a:p>
        </p:txBody>
      </p:sp>
      <p:sp>
        <p:nvSpPr>
          <p:cNvPr id="18" name="Shape 16">
            <a:extLst xmlns:a="http://schemas.openxmlformats.org/drawingml/2006/main">
              <a:ext uri="{FF2B5EF4-FFF2-40B4-BE49-F238E27FC236}">
                <a16:creationId xmlns:a16="http://schemas.microsoft.com/office/drawing/2014/main" id="{BC8A11A5-2B37-4993-931B-F4C4C2CD1775}"/>
              </a:ext>
            </a:extLst>
          </p:cNvPr>
          <p:cNvSpPr>
            <a:spLocks xmlns:a="http://schemas.openxmlformats.org/drawingml/2006/main" noGrp="1"/>
          </p:cNvSpPr>
          <p:nvPr/>
        </p:nvSpPr>
        <p:spPr>
          <a:xfrm xmlns:a="http://schemas.openxmlformats.org/drawingml/2006/main">
            <a:off x="3172968" y="3173882"/>
            <a:ext cx="365760" cy="904342"/>
          </a:xfrm>
          <a:prstGeom xmlns:a="http://schemas.openxmlformats.org/drawingml/2006/main" prst="rect">
            <a:avLst/>
          </a:prstGeom>
          <a:solidFill xmlns:a="http://schemas.openxmlformats.org/drawingml/2006/main">
            <a:srgbClr val="C2660A"/>
          </a:solidFill>
        </p:spPr>
      </p:sp>
      <p:sp>
        <p:nvSpPr>
          <p:cNvPr id="19" name="Text 17">
            <a:extLst xmlns:a="http://schemas.openxmlformats.org/drawingml/2006/main">
              <a:ext uri="{FF2B5EF4-FFF2-40B4-BE49-F238E27FC236}">
                <a16:creationId xmlns:a16="http://schemas.microsoft.com/office/drawing/2014/main" id="{8A01AE17-7C96-4F27-838A-70AC557A470D}"/>
              </a:ext>
            </a:extLst>
          </p:cNvPr>
          <p:cNvSpPr>
            <a:spLocks xmlns:a="http://schemas.openxmlformats.org/drawingml/2006/main" noGrp="1"/>
          </p:cNvSpPr>
          <p:nvPr/>
        </p:nvSpPr>
        <p:spPr>
          <a:xfrm xmlns:a="http://schemas.openxmlformats.org/drawingml/2006/main">
            <a:off x="3172968" y="4096512"/>
            <a:ext cx="365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5B6B75"/>
                </a:solidFill>
                <a:latin typeface="Calibri"/>
                <a:ea typeface="Calibri"/>
                <a:cs typeface="Calibri"/>
              </a:rPr>
              <a:t>4</a:t>
            </a:r>
            <a:endParaRPr sz="850"/>
          </a:p>
        </p:txBody>
      </p:sp>
      <p:sp>
        <p:nvSpPr>
          <p:cNvPr id="20" name="Shape 18">
            <a:extLst xmlns:a="http://schemas.openxmlformats.org/drawingml/2006/main">
              <a:ext uri="{FF2B5EF4-FFF2-40B4-BE49-F238E27FC236}">
                <a16:creationId xmlns:a16="http://schemas.microsoft.com/office/drawing/2014/main" id="{E04862B8-1497-4BC5-BDDD-5E3E9D080ED3}"/>
              </a:ext>
            </a:extLst>
          </p:cNvPr>
          <p:cNvSpPr>
            <a:spLocks xmlns:a="http://schemas.openxmlformats.org/drawingml/2006/main" noGrp="1"/>
          </p:cNvSpPr>
          <p:nvPr/>
        </p:nvSpPr>
        <p:spPr>
          <a:xfrm xmlns:a="http://schemas.openxmlformats.org/drawingml/2006/main">
            <a:off x="3703320" y="3434669"/>
            <a:ext cx="365760" cy="643555"/>
          </a:xfrm>
          <a:prstGeom xmlns:a="http://schemas.openxmlformats.org/drawingml/2006/main" prst="rect">
            <a:avLst/>
          </a:prstGeom>
          <a:solidFill xmlns:a="http://schemas.openxmlformats.org/drawingml/2006/main">
            <a:srgbClr val="0E7C86"/>
          </a:solidFill>
        </p:spPr>
      </p:sp>
      <p:sp>
        <p:nvSpPr>
          <p:cNvPr id="21" name="Text 19">
            <a:extLst xmlns:a="http://schemas.openxmlformats.org/drawingml/2006/main">
              <a:ext uri="{FF2B5EF4-FFF2-40B4-BE49-F238E27FC236}">
                <a16:creationId xmlns:a16="http://schemas.microsoft.com/office/drawing/2014/main" id="{669BFA34-7755-4080-AEC9-43B2E114C33D}"/>
              </a:ext>
            </a:extLst>
          </p:cNvPr>
          <p:cNvSpPr>
            <a:spLocks xmlns:a="http://schemas.openxmlformats.org/drawingml/2006/main" noGrp="1"/>
          </p:cNvSpPr>
          <p:nvPr/>
        </p:nvSpPr>
        <p:spPr>
          <a:xfrm xmlns:a="http://schemas.openxmlformats.org/drawingml/2006/main">
            <a:off x="3703320" y="4096512"/>
            <a:ext cx="365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5B6B75"/>
                </a:solidFill>
                <a:latin typeface="Calibri"/>
                <a:ea typeface="Calibri"/>
                <a:cs typeface="Calibri"/>
              </a:rPr>
              <a:t>5</a:t>
            </a:r>
            <a:endParaRPr sz="850"/>
          </a:p>
        </p:txBody>
      </p:sp>
      <p:sp>
        <p:nvSpPr>
          <p:cNvPr id="22" name="Shape 20">
            <a:extLst xmlns:a="http://schemas.openxmlformats.org/drawingml/2006/main">
              <a:ext uri="{FF2B5EF4-FFF2-40B4-BE49-F238E27FC236}">
                <a16:creationId xmlns:a16="http://schemas.microsoft.com/office/drawing/2014/main" id="{4BCE7117-7AB9-438B-A27E-C0A8C2F68A59}"/>
              </a:ext>
            </a:extLst>
          </p:cNvPr>
          <p:cNvSpPr>
            <a:spLocks xmlns:a="http://schemas.openxmlformats.org/drawingml/2006/main" noGrp="1"/>
          </p:cNvSpPr>
          <p:nvPr/>
        </p:nvSpPr>
        <p:spPr>
          <a:xfrm xmlns:a="http://schemas.openxmlformats.org/drawingml/2006/main">
            <a:off x="4233672" y="3724900"/>
            <a:ext cx="365760" cy="353324"/>
          </a:xfrm>
          <a:prstGeom xmlns:a="http://schemas.openxmlformats.org/drawingml/2006/main" prst="rect">
            <a:avLst/>
          </a:prstGeom>
          <a:solidFill xmlns:a="http://schemas.openxmlformats.org/drawingml/2006/main">
            <a:srgbClr val="0E7C86"/>
          </a:solidFill>
        </p:spPr>
      </p:sp>
      <p:sp>
        <p:nvSpPr>
          <p:cNvPr id="23" name="Text 21">
            <a:extLst xmlns:a="http://schemas.openxmlformats.org/drawingml/2006/main">
              <a:ext uri="{FF2B5EF4-FFF2-40B4-BE49-F238E27FC236}">
                <a16:creationId xmlns:a16="http://schemas.microsoft.com/office/drawing/2014/main" id="{BF157C72-4032-481B-A683-CC9EC0A0F27F}"/>
              </a:ext>
            </a:extLst>
          </p:cNvPr>
          <p:cNvSpPr>
            <a:spLocks xmlns:a="http://schemas.openxmlformats.org/drawingml/2006/main" noGrp="1"/>
          </p:cNvSpPr>
          <p:nvPr/>
        </p:nvSpPr>
        <p:spPr>
          <a:xfrm xmlns:a="http://schemas.openxmlformats.org/drawingml/2006/main">
            <a:off x="4233672" y="4096512"/>
            <a:ext cx="365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5B6B75"/>
                </a:solidFill>
                <a:latin typeface="Calibri"/>
                <a:ea typeface="Calibri"/>
                <a:cs typeface="Calibri"/>
              </a:rPr>
              <a:t>6</a:t>
            </a:r>
            <a:endParaRPr sz="850"/>
          </a:p>
        </p:txBody>
      </p:sp>
      <p:sp>
        <p:nvSpPr>
          <p:cNvPr id="24" name="Shape 22">
            <a:extLst xmlns:a="http://schemas.openxmlformats.org/drawingml/2006/main">
              <a:ext uri="{FF2B5EF4-FFF2-40B4-BE49-F238E27FC236}">
                <a16:creationId xmlns:a16="http://schemas.microsoft.com/office/drawing/2014/main" id="{6A7F98C0-6C38-42CA-939B-9B7C5998607E}"/>
              </a:ext>
            </a:extLst>
          </p:cNvPr>
          <p:cNvSpPr>
            <a:spLocks xmlns:a="http://schemas.openxmlformats.org/drawingml/2006/main" noGrp="1"/>
          </p:cNvSpPr>
          <p:nvPr/>
        </p:nvSpPr>
        <p:spPr>
          <a:xfrm xmlns:a="http://schemas.openxmlformats.org/drawingml/2006/main">
            <a:off x="4764024" y="3922593"/>
            <a:ext cx="365760" cy="155631"/>
          </a:xfrm>
          <a:prstGeom xmlns:a="http://schemas.openxmlformats.org/drawingml/2006/main" prst="rect">
            <a:avLst/>
          </a:prstGeom>
          <a:solidFill xmlns:a="http://schemas.openxmlformats.org/drawingml/2006/main">
            <a:srgbClr val="0E7C86"/>
          </a:solidFill>
        </p:spPr>
      </p:sp>
      <p:sp>
        <p:nvSpPr>
          <p:cNvPr id="25" name="Text 23">
            <a:extLst xmlns:a="http://schemas.openxmlformats.org/drawingml/2006/main">
              <a:ext uri="{FF2B5EF4-FFF2-40B4-BE49-F238E27FC236}">
                <a16:creationId xmlns:a16="http://schemas.microsoft.com/office/drawing/2014/main" id="{7DB5ABF9-BE0A-479E-988C-F9060717CF8A}"/>
              </a:ext>
            </a:extLst>
          </p:cNvPr>
          <p:cNvSpPr>
            <a:spLocks xmlns:a="http://schemas.openxmlformats.org/drawingml/2006/main" noGrp="1"/>
          </p:cNvSpPr>
          <p:nvPr/>
        </p:nvSpPr>
        <p:spPr>
          <a:xfrm xmlns:a="http://schemas.openxmlformats.org/drawingml/2006/main">
            <a:off x="4764024" y="4096512"/>
            <a:ext cx="365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5B6B75"/>
                </a:solidFill>
                <a:latin typeface="Calibri"/>
                <a:ea typeface="Calibri"/>
                <a:cs typeface="Calibri"/>
              </a:rPr>
              <a:t>7</a:t>
            </a:r>
            <a:endParaRPr sz="850"/>
          </a:p>
        </p:txBody>
      </p:sp>
      <p:sp>
        <p:nvSpPr>
          <p:cNvPr id="26" name="Text 24">
            <a:extLst xmlns:a="http://schemas.openxmlformats.org/drawingml/2006/main">
              <a:ext uri="{FF2B5EF4-FFF2-40B4-BE49-F238E27FC236}">
                <a16:creationId xmlns:a16="http://schemas.microsoft.com/office/drawing/2014/main" id="{574EEAA4-DC52-4240-8E72-5BE2CC5200A4}"/>
              </a:ext>
            </a:extLst>
          </p:cNvPr>
          <p:cNvSpPr>
            <a:spLocks xmlns:a="http://schemas.openxmlformats.org/drawingml/2006/main" noGrp="1"/>
          </p:cNvSpPr>
          <p:nvPr/>
        </p:nvSpPr>
        <p:spPr>
          <a:xfrm xmlns:a="http://schemas.openxmlformats.org/drawingml/2006/main">
            <a:off x="777240" y="2953512"/>
            <a:ext cx="48463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5B6B75"/>
                </a:solidFill>
                <a:latin typeface="Calibri"/>
                <a:ea typeface="Calibri"/>
                <a:cs typeface="Calibri"/>
              </a:rPr>
              <a:t>Binomial(20, 0.183): no-shows per session</a:t>
            </a:r>
            <a:endParaRPr sz="950"/>
          </a:p>
        </p:txBody>
      </p:sp>
      <p:sp>
        <p:nvSpPr>
          <p:cNvPr id="27" name="Shape 25">
            <a:extLst xmlns:a="http://schemas.openxmlformats.org/drawingml/2006/main">
              <a:ext uri="{FF2B5EF4-FFF2-40B4-BE49-F238E27FC236}">
                <a16:creationId xmlns:a16="http://schemas.microsoft.com/office/drawing/2014/main" id="{D1EB8CF9-3C3C-4F9B-9ABD-52C8E255466C}"/>
              </a:ext>
            </a:extLst>
          </p:cNvPr>
          <p:cNvSpPr>
            <a:spLocks xmlns:a="http://schemas.openxmlformats.org/drawingml/2006/main" noGrp="1"/>
          </p:cNvSpPr>
          <p:nvPr/>
        </p:nvSpPr>
        <p:spPr>
          <a:xfrm xmlns:a="http://schemas.openxmlformats.org/drawingml/2006/main">
            <a:off x="6172200" y="1517904"/>
            <a:ext cx="5486400" cy="2880360"/>
          </a:xfrm>
          <a:prstGeom xmlns:a="http://schemas.openxmlformats.org/drawingml/2006/main" prst="roundRect">
            <a:avLst>
              <a:gd name="adj" fmla="val 2857"/>
            </a:avLst>
          </a:prstGeom>
          <a:solidFill xmlns:a="http://schemas.openxmlformats.org/drawingml/2006/main">
            <a:srgbClr val="F3F8F9"/>
          </a:solidFill>
        </p:spPr>
      </p:sp>
      <p:sp>
        <p:nvSpPr>
          <p:cNvPr id="28" name="Text 26">
            <a:extLst xmlns:a="http://schemas.openxmlformats.org/drawingml/2006/main">
              <a:ext uri="{FF2B5EF4-FFF2-40B4-BE49-F238E27FC236}">
                <a16:creationId xmlns:a16="http://schemas.microsoft.com/office/drawing/2014/main" id="{596548B8-5339-4741-B031-EAE998001151}"/>
              </a:ext>
            </a:extLst>
          </p:cNvPr>
          <p:cNvSpPr>
            <a:spLocks xmlns:a="http://schemas.openxmlformats.org/drawingml/2006/main" noGrp="1"/>
          </p:cNvSpPr>
          <p:nvPr/>
        </p:nvSpPr>
        <p:spPr>
          <a:xfrm xmlns:a="http://schemas.openxmlformats.org/drawingml/2006/main">
            <a:off x="6446520" y="1700784"/>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Continuous  →  probability density function</a:t>
            </a:r>
            <a:endParaRPr sz="1350"/>
          </a:p>
        </p:txBody>
      </p:sp>
      <p:sp>
        <p:nvSpPr>
          <p:cNvPr id="29" name="Text 27">
            <a:extLst xmlns:a="http://schemas.openxmlformats.org/drawingml/2006/main">
              <a:ext uri="{FF2B5EF4-FFF2-40B4-BE49-F238E27FC236}">
                <a16:creationId xmlns:a16="http://schemas.microsoft.com/office/drawing/2014/main" id="{4611D0B7-B085-45AC-B0C9-71A69847E587}"/>
              </a:ext>
            </a:extLst>
          </p:cNvPr>
          <p:cNvSpPr>
            <a:spLocks xmlns:a="http://schemas.openxmlformats.org/drawingml/2006/main" noGrp="1"/>
          </p:cNvSpPr>
          <p:nvPr/>
        </p:nvSpPr>
        <p:spPr>
          <a:xfrm xmlns:a="http://schemas.openxmlformats.org/drawingml/2006/main">
            <a:off x="6446520" y="2093976"/>
            <a:ext cx="49834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500"/>
              </a:spcAft>
              <a:buSzPct val="100000"/>
              <a:buChar char="•"/>
            </a:pPr>
            <a:r>
              <a:rPr sz="1150">
                <a:solidFill>
                  <a:srgbClr val="24313A"/>
                </a:solidFill>
                <a:latin typeface="Calibri"/>
                <a:ea typeface="Calibri"/>
                <a:cs typeface="Calibri"/>
              </a:rPr>
              <a:t>Probabilities are AREAS:  P(a ≤ X ≤ b) = ∫ f(x) dx</a:t>
            </a:r>
            <a:endParaRPr sz="1150"/>
          </a:p>
          <a:p xmlns:a="http://schemas.openxmlformats.org/drawingml/2006/main">
            <a:pPr marL="152400" indent="-152400">
              <a:lnSpc>
                <a:spcPct val="104000"/>
              </a:lnSpc>
              <a:spcAft>
                <a:spcPts val="500"/>
              </a:spcAft>
              <a:buSzPct val="100000"/>
              <a:buChar char="•"/>
            </a:pPr>
            <a:r>
              <a:rPr sz="1150">
                <a:solidFill>
                  <a:srgbClr val="24313A"/>
                </a:solidFill>
                <a:latin typeface="Calibri"/>
                <a:ea typeface="Calibri"/>
                <a:cs typeface="Calibri"/>
              </a:rPr>
              <a:t>Mawid: wait_time_min — right-skewed, long tail</a:t>
            </a:r>
            <a:endParaRPr sz="1150"/>
          </a:p>
        </p:txBody>
      </p:sp>
      <p:sp>
        <p:nvSpPr>
          <p:cNvPr id="30" name="Shape 28">
            <a:extLst xmlns:a="http://schemas.openxmlformats.org/drawingml/2006/main">
              <a:ext uri="{FF2B5EF4-FFF2-40B4-BE49-F238E27FC236}">
                <a16:creationId xmlns:a16="http://schemas.microsoft.com/office/drawing/2014/main" id="{6AD16B9E-4804-41AE-A42E-9EF938918652}"/>
              </a:ext>
            </a:extLst>
          </p:cNvPr>
          <p:cNvSpPr>
            <a:spLocks xmlns:a="http://schemas.openxmlformats.org/drawingml/2006/main" noGrp="1"/>
          </p:cNvSpPr>
          <p:nvPr/>
        </p:nvSpPr>
        <p:spPr>
          <a:xfrm xmlns:a="http://schemas.openxmlformats.org/drawingml/2006/main">
            <a:off x="6675120" y="3895344"/>
            <a:ext cx="274320" cy="182880"/>
          </a:xfrm>
          <a:prstGeom xmlns:a="http://schemas.openxmlformats.org/drawingml/2006/main" prst="rect">
            <a:avLst/>
          </a:prstGeom>
          <a:solidFill xmlns:a="http://schemas.openxmlformats.org/drawingml/2006/main">
            <a:srgbClr val="0E7C86"/>
          </a:solidFill>
        </p:spPr>
      </p:sp>
      <p:sp>
        <p:nvSpPr>
          <p:cNvPr id="31" name="Shape 29">
            <a:extLst xmlns:a="http://schemas.openxmlformats.org/drawingml/2006/main">
              <a:ext uri="{FF2B5EF4-FFF2-40B4-BE49-F238E27FC236}">
                <a16:creationId xmlns:a16="http://schemas.microsoft.com/office/drawing/2014/main" id="{7D1373BA-8817-433D-878D-578C2A5BC328}"/>
              </a:ext>
            </a:extLst>
          </p:cNvPr>
          <p:cNvSpPr>
            <a:spLocks xmlns:a="http://schemas.openxmlformats.org/drawingml/2006/main" noGrp="1"/>
          </p:cNvSpPr>
          <p:nvPr/>
        </p:nvSpPr>
        <p:spPr>
          <a:xfrm xmlns:a="http://schemas.openxmlformats.org/drawingml/2006/main">
            <a:off x="7004304" y="3575304"/>
            <a:ext cx="274320" cy="502920"/>
          </a:xfrm>
          <a:prstGeom xmlns:a="http://schemas.openxmlformats.org/drawingml/2006/main" prst="rect">
            <a:avLst/>
          </a:prstGeom>
          <a:solidFill xmlns:a="http://schemas.openxmlformats.org/drawingml/2006/main">
            <a:srgbClr val="0E7C86"/>
          </a:solidFill>
        </p:spPr>
      </p:sp>
      <p:sp>
        <p:nvSpPr>
          <p:cNvPr id="32" name="Shape 30">
            <a:extLst xmlns:a="http://schemas.openxmlformats.org/drawingml/2006/main">
              <a:ext uri="{FF2B5EF4-FFF2-40B4-BE49-F238E27FC236}">
                <a16:creationId xmlns:a16="http://schemas.microsoft.com/office/drawing/2014/main" id="{5B1D1024-505D-4F0E-8C25-DCB2A1124818}"/>
              </a:ext>
            </a:extLst>
          </p:cNvPr>
          <p:cNvSpPr>
            <a:spLocks xmlns:a="http://schemas.openxmlformats.org/drawingml/2006/main" noGrp="1"/>
          </p:cNvSpPr>
          <p:nvPr/>
        </p:nvSpPr>
        <p:spPr>
          <a:xfrm xmlns:a="http://schemas.openxmlformats.org/drawingml/2006/main">
            <a:off x="7333488" y="3255264"/>
            <a:ext cx="274320" cy="822960"/>
          </a:xfrm>
          <a:prstGeom xmlns:a="http://schemas.openxmlformats.org/drawingml/2006/main" prst="rect">
            <a:avLst/>
          </a:prstGeom>
          <a:solidFill xmlns:a="http://schemas.openxmlformats.org/drawingml/2006/main">
            <a:srgbClr val="0E7C86"/>
          </a:solidFill>
        </p:spPr>
      </p:sp>
      <p:sp>
        <p:nvSpPr>
          <p:cNvPr id="33" name="Shape 31">
            <a:extLst xmlns:a="http://schemas.openxmlformats.org/drawingml/2006/main">
              <a:ext uri="{FF2B5EF4-FFF2-40B4-BE49-F238E27FC236}">
                <a16:creationId xmlns:a16="http://schemas.microsoft.com/office/drawing/2014/main" id="{FE50CAB1-FB48-4E9C-88F3-E69B5CB750E4}"/>
              </a:ext>
            </a:extLst>
          </p:cNvPr>
          <p:cNvSpPr>
            <a:spLocks xmlns:a="http://schemas.openxmlformats.org/drawingml/2006/main" noGrp="1"/>
          </p:cNvSpPr>
          <p:nvPr/>
        </p:nvSpPr>
        <p:spPr>
          <a:xfrm xmlns:a="http://schemas.openxmlformats.org/drawingml/2006/main">
            <a:off x="7662672" y="3163824"/>
            <a:ext cx="274320" cy="914400"/>
          </a:xfrm>
          <a:prstGeom xmlns:a="http://schemas.openxmlformats.org/drawingml/2006/main" prst="rect">
            <a:avLst/>
          </a:prstGeom>
          <a:solidFill xmlns:a="http://schemas.openxmlformats.org/drawingml/2006/main">
            <a:srgbClr val="0E7C86"/>
          </a:solidFill>
        </p:spPr>
      </p:sp>
      <p:sp>
        <p:nvSpPr>
          <p:cNvPr id="34" name="Shape 32">
            <a:extLst xmlns:a="http://schemas.openxmlformats.org/drawingml/2006/main">
              <a:ext uri="{FF2B5EF4-FFF2-40B4-BE49-F238E27FC236}">
                <a16:creationId xmlns:a16="http://schemas.microsoft.com/office/drawing/2014/main" id="{6F94FCE7-12DB-46EB-8F65-0273AF5FAB5A}"/>
              </a:ext>
            </a:extLst>
          </p:cNvPr>
          <p:cNvSpPr>
            <a:spLocks xmlns:a="http://schemas.openxmlformats.org/drawingml/2006/main" noGrp="1"/>
          </p:cNvSpPr>
          <p:nvPr/>
        </p:nvSpPr>
        <p:spPr>
          <a:xfrm xmlns:a="http://schemas.openxmlformats.org/drawingml/2006/main">
            <a:off x="7991856" y="3236976"/>
            <a:ext cx="274320" cy="841248"/>
          </a:xfrm>
          <a:prstGeom xmlns:a="http://schemas.openxmlformats.org/drawingml/2006/main" prst="rect">
            <a:avLst/>
          </a:prstGeom>
          <a:solidFill xmlns:a="http://schemas.openxmlformats.org/drawingml/2006/main">
            <a:srgbClr val="0E7C86"/>
          </a:solidFill>
        </p:spPr>
      </p:sp>
      <p:sp>
        <p:nvSpPr>
          <p:cNvPr id="35" name="Shape 33">
            <a:extLst xmlns:a="http://schemas.openxmlformats.org/drawingml/2006/main">
              <a:ext uri="{FF2B5EF4-FFF2-40B4-BE49-F238E27FC236}">
                <a16:creationId xmlns:a16="http://schemas.microsoft.com/office/drawing/2014/main" id="{08CE24CD-EE22-4CCA-8ED1-F15EE67CCFD8}"/>
              </a:ext>
            </a:extLst>
          </p:cNvPr>
          <p:cNvSpPr>
            <a:spLocks xmlns:a="http://schemas.openxmlformats.org/drawingml/2006/main" noGrp="1"/>
          </p:cNvSpPr>
          <p:nvPr/>
        </p:nvSpPr>
        <p:spPr>
          <a:xfrm xmlns:a="http://schemas.openxmlformats.org/drawingml/2006/main">
            <a:off x="8321040" y="3364992"/>
            <a:ext cx="274320" cy="713232"/>
          </a:xfrm>
          <a:prstGeom xmlns:a="http://schemas.openxmlformats.org/drawingml/2006/main" prst="rect">
            <a:avLst/>
          </a:prstGeom>
          <a:solidFill xmlns:a="http://schemas.openxmlformats.org/drawingml/2006/main">
            <a:srgbClr val="0E7C86"/>
          </a:solidFill>
        </p:spPr>
      </p:sp>
      <p:sp>
        <p:nvSpPr>
          <p:cNvPr id="36" name="Shape 34">
            <a:extLst xmlns:a="http://schemas.openxmlformats.org/drawingml/2006/main">
              <a:ext uri="{FF2B5EF4-FFF2-40B4-BE49-F238E27FC236}">
                <a16:creationId xmlns:a16="http://schemas.microsoft.com/office/drawing/2014/main" id="{BCFE475E-A64F-45ED-B7B3-54C94552438A}"/>
              </a:ext>
            </a:extLst>
          </p:cNvPr>
          <p:cNvSpPr>
            <a:spLocks xmlns:a="http://schemas.openxmlformats.org/drawingml/2006/main" noGrp="1"/>
          </p:cNvSpPr>
          <p:nvPr/>
        </p:nvSpPr>
        <p:spPr>
          <a:xfrm xmlns:a="http://schemas.openxmlformats.org/drawingml/2006/main">
            <a:off x="8650224" y="3511296"/>
            <a:ext cx="274320" cy="566928"/>
          </a:xfrm>
          <a:prstGeom xmlns:a="http://schemas.openxmlformats.org/drawingml/2006/main" prst="rect">
            <a:avLst/>
          </a:prstGeom>
          <a:solidFill xmlns:a="http://schemas.openxmlformats.org/drawingml/2006/main">
            <a:srgbClr val="0E7C86"/>
          </a:solidFill>
        </p:spPr>
      </p:sp>
      <p:sp>
        <p:nvSpPr>
          <p:cNvPr id="37" name="Shape 35">
            <a:extLst xmlns:a="http://schemas.openxmlformats.org/drawingml/2006/main">
              <a:ext uri="{FF2B5EF4-FFF2-40B4-BE49-F238E27FC236}">
                <a16:creationId xmlns:a16="http://schemas.microsoft.com/office/drawing/2014/main" id="{A2522B8C-A364-4AA8-AB7B-CFCCA74DBB07}"/>
              </a:ext>
            </a:extLst>
          </p:cNvPr>
          <p:cNvSpPr>
            <a:spLocks xmlns:a="http://schemas.openxmlformats.org/drawingml/2006/main" noGrp="1"/>
          </p:cNvSpPr>
          <p:nvPr/>
        </p:nvSpPr>
        <p:spPr>
          <a:xfrm xmlns:a="http://schemas.openxmlformats.org/drawingml/2006/main">
            <a:off x="8979408" y="3639312"/>
            <a:ext cx="274320" cy="438912"/>
          </a:xfrm>
          <a:prstGeom xmlns:a="http://schemas.openxmlformats.org/drawingml/2006/main" prst="rect">
            <a:avLst/>
          </a:prstGeom>
          <a:solidFill xmlns:a="http://schemas.openxmlformats.org/drawingml/2006/main">
            <a:srgbClr val="0E7C86"/>
          </a:solidFill>
        </p:spPr>
      </p:sp>
      <p:sp>
        <p:nvSpPr>
          <p:cNvPr id="38" name="Shape 36">
            <a:extLst xmlns:a="http://schemas.openxmlformats.org/drawingml/2006/main">
              <a:ext uri="{FF2B5EF4-FFF2-40B4-BE49-F238E27FC236}">
                <a16:creationId xmlns:a16="http://schemas.microsoft.com/office/drawing/2014/main" id="{ECE2A557-B773-4ED7-95FE-0D6342446E71}"/>
              </a:ext>
            </a:extLst>
          </p:cNvPr>
          <p:cNvSpPr>
            <a:spLocks xmlns:a="http://schemas.openxmlformats.org/drawingml/2006/main" noGrp="1"/>
          </p:cNvSpPr>
          <p:nvPr/>
        </p:nvSpPr>
        <p:spPr>
          <a:xfrm xmlns:a="http://schemas.openxmlformats.org/drawingml/2006/main">
            <a:off x="9308592" y="3749040"/>
            <a:ext cx="274320" cy="329184"/>
          </a:xfrm>
          <a:prstGeom xmlns:a="http://schemas.openxmlformats.org/drawingml/2006/main" prst="rect">
            <a:avLst/>
          </a:prstGeom>
          <a:solidFill xmlns:a="http://schemas.openxmlformats.org/drawingml/2006/main">
            <a:srgbClr val="0E7C86"/>
          </a:solidFill>
        </p:spPr>
      </p:sp>
      <p:sp>
        <p:nvSpPr>
          <p:cNvPr id="39" name="Shape 37">
            <a:extLst xmlns:a="http://schemas.openxmlformats.org/drawingml/2006/main">
              <a:ext uri="{FF2B5EF4-FFF2-40B4-BE49-F238E27FC236}">
                <a16:creationId xmlns:a16="http://schemas.microsoft.com/office/drawing/2014/main" id="{4F82E6A0-6766-42AB-921E-BB6F8B437D27}"/>
              </a:ext>
            </a:extLst>
          </p:cNvPr>
          <p:cNvSpPr>
            <a:spLocks xmlns:a="http://schemas.openxmlformats.org/drawingml/2006/main" noGrp="1"/>
          </p:cNvSpPr>
          <p:nvPr/>
        </p:nvSpPr>
        <p:spPr>
          <a:xfrm xmlns:a="http://schemas.openxmlformats.org/drawingml/2006/main">
            <a:off x="9637776" y="3831336"/>
            <a:ext cx="274320" cy="246888"/>
          </a:xfrm>
          <a:prstGeom xmlns:a="http://schemas.openxmlformats.org/drawingml/2006/main" prst="rect">
            <a:avLst/>
          </a:prstGeom>
          <a:solidFill xmlns:a="http://schemas.openxmlformats.org/drawingml/2006/main">
            <a:srgbClr val="C2660A"/>
          </a:solidFill>
        </p:spPr>
      </p:sp>
      <p:sp>
        <p:nvSpPr>
          <p:cNvPr id="40" name="Shape 38">
            <a:extLst xmlns:a="http://schemas.openxmlformats.org/drawingml/2006/main">
              <a:ext uri="{FF2B5EF4-FFF2-40B4-BE49-F238E27FC236}">
                <a16:creationId xmlns:a16="http://schemas.microsoft.com/office/drawing/2014/main" id="{068692BC-D09A-49F1-B54C-24C20CF1FB8C}"/>
              </a:ext>
            </a:extLst>
          </p:cNvPr>
          <p:cNvSpPr>
            <a:spLocks xmlns:a="http://schemas.openxmlformats.org/drawingml/2006/main" noGrp="1"/>
          </p:cNvSpPr>
          <p:nvPr/>
        </p:nvSpPr>
        <p:spPr>
          <a:xfrm xmlns:a="http://schemas.openxmlformats.org/drawingml/2006/main">
            <a:off x="9966960" y="3895344"/>
            <a:ext cx="274320" cy="182880"/>
          </a:xfrm>
          <a:prstGeom xmlns:a="http://schemas.openxmlformats.org/drawingml/2006/main" prst="rect">
            <a:avLst/>
          </a:prstGeom>
          <a:solidFill xmlns:a="http://schemas.openxmlformats.org/drawingml/2006/main">
            <a:srgbClr val="C2660A"/>
          </a:solidFill>
        </p:spPr>
      </p:sp>
      <p:sp>
        <p:nvSpPr>
          <p:cNvPr id="41" name="Shape 39">
            <a:extLst xmlns:a="http://schemas.openxmlformats.org/drawingml/2006/main">
              <a:ext uri="{FF2B5EF4-FFF2-40B4-BE49-F238E27FC236}">
                <a16:creationId xmlns:a16="http://schemas.microsoft.com/office/drawing/2014/main" id="{DE431883-2B55-4548-9C11-0C8BE8AC1756}"/>
              </a:ext>
            </a:extLst>
          </p:cNvPr>
          <p:cNvSpPr>
            <a:spLocks xmlns:a="http://schemas.openxmlformats.org/drawingml/2006/main" noGrp="1"/>
          </p:cNvSpPr>
          <p:nvPr/>
        </p:nvSpPr>
        <p:spPr>
          <a:xfrm xmlns:a="http://schemas.openxmlformats.org/drawingml/2006/main">
            <a:off x="10296144" y="3941064"/>
            <a:ext cx="274320" cy="137160"/>
          </a:xfrm>
          <a:prstGeom xmlns:a="http://schemas.openxmlformats.org/drawingml/2006/main" prst="rect">
            <a:avLst/>
          </a:prstGeom>
          <a:solidFill xmlns:a="http://schemas.openxmlformats.org/drawingml/2006/main">
            <a:srgbClr val="C2660A"/>
          </a:solidFill>
        </p:spPr>
      </p:sp>
      <p:sp>
        <p:nvSpPr>
          <p:cNvPr id="42" name="Shape 40">
            <a:extLst xmlns:a="http://schemas.openxmlformats.org/drawingml/2006/main">
              <a:ext uri="{FF2B5EF4-FFF2-40B4-BE49-F238E27FC236}">
                <a16:creationId xmlns:a16="http://schemas.microsoft.com/office/drawing/2014/main" id="{8CFA7FFB-921F-49C7-ABD7-028F6D3A76AE}"/>
              </a:ext>
            </a:extLst>
          </p:cNvPr>
          <p:cNvSpPr>
            <a:spLocks xmlns:a="http://schemas.openxmlformats.org/drawingml/2006/main" noGrp="1"/>
          </p:cNvSpPr>
          <p:nvPr/>
        </p:nvSpPr>
        <p:spPr>
          <a:xfrm xmlns:a="http://schemas.openxmlformats.org/drawingml/2006/main">
            <a:off x="10625328" y="3977640"/>
            <a:ext cx="274320" cy="100584"/>
          </a:xfrm>
          <a:prstGeom xmlns:a="http://schemas.openxmlformats.org/drawingml/2006/main" prst="rect">
            <a:avLst/>
          </a:prstGeom>
          <a:solidFill xmlns:a="http://schemas.openxmlformats.org/drawingml/2006/main">
            <a:srgbClr val="C2660A"/>
          </a:solidFill>
        </p:spPr>
      </p:sp>
      <p:sp>
        <p:nvSpPr>
          <p:cNvPr id="43" name="Shape 41">
            <a:extLst xmlns:a="http://schemas.openxmlformats.org/drawingml/2006/main">
              <a:ext uri="{FF2B5EF4-FFF2-40B4-BE49-F238E27FC236}">
                <a16:creationId xmlns:a16="http://schemas.microsoft.com/office/drawing/2014/main" id="{5BD5DAAB-06C9-41DE-9710-3D5A86F0E840}"/>
              </a:ext>
            </a:extLst>
          </p:cNvPr>
          <p:cNvSpPr>
            <a:spLocks xmlns:a="http://schemas.openxmlformats.org/drawingml/2006/main" noGrp="1"/>
          </p:cNvSpPr>
          <p:nvPr/>
        </p:nvSpPr>
        <p:spPr>
          <a:xfrm xmlns:a="http://schemas.openxmlformats.org/drawingml/2006/main">
            <a:off x="10954512" y="4005072"/>
            <a:ext cx="274320" cy="73152"/>
          </a:xfrm>
          <a:prstGeom xmlns:a="http://schemas.openxmlformats.org/drawingml/2006/main" prst="rect">
            <a:avLst/>
          </a:prstGeom>
          <a:solidFill xmlns:a="http://schemas.openxmlformats.org/drawingml/2006/main">
            <a:srgbClr val="C2660A"/>
          </a:solidFill>
        </p:spPr>
      </p:sp>
      <p:sp>
        <p:nvSpPr>
          <p:cNvPr id="44" name="Text 42">
            <a:extLst xmlns:a="http://schemas.openxmlformats.org/drawingml/2006/main">
              <a:ext uri="{FF2B5EF4-FFF2-40B4-BE49-F238E27FC236}">
                <a16:creationId xmlns:a16="http://schemas.microsoft.com/office/drawing/2014/main" id="{9740A184-F6E7-4F1D-8290-E4C8596A7A05}"/>
              </a:ext>
            </a:extLst>
          </p:cNvPr>
          <p:cNvSpPr>
            <a:spLocks xmlns:a="http://schemas.openxmlformats.org/drawingml/2006/main" noGrp="1"/>
          </p:cNvSpPr>
          <p:nvPr/>
        </p:nvSpPr>
        <p:spPr>
          <a:xfrm xmlns:a="http://schemas.openxmlformats.org/drawingml/2006/main">
            <a:off x="6446520" y="2953512"/>
            <a:ext cx="4937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5B6B75"/>
                </a:solidFill>
                <a:latin typeface="Calibri"/>
                <a:ea typeface="Calibri"/>
                <a:cs typeface="Calibri"/>
              </a:rPr>
              <a:t>fitted lognormal for wait time — amber = the tail where risk lives</a:t>
            </a:r>
            <a:endParaRPr sz="950"/>
          </a:p>
        </p:txBody>
      </p:sp>
      <p:sp>
        <p:nvSpPr>
          <p:cNvPr id="45" name="Shape 43">
            <a:extLst xmlns:a="http://schemas.openxmlformats.org/drawingml/2006/main">
              <a:ext uri="{FF2B5EF4-FFF2-40B4-BE49-F238E27FC236}">
                <a16:creationId xmlns:a16="http://schemas.microsoft.com/office/drawing/2014/main" id="{C0EFDA25-F739-4C15-B5B8-99378A473ADD}"/>
              </a:ext>
            </a:extLst>
          </p:cNvPr>
          <p:cNvSpPr>
            <a:spLocks xmlns:a="http://schemas.openxmlformats.org/drawingml/2006/main" noGrp="1"/>
          </p:cNvSpPr>
          <p:nvPr/>
        </p:nvSpPr>
        <p:spPr>
          <a:xfrm xmlns:a="http://schemas.openxmlformats.org/drawingml/2006/main">
            <a:off x="502920" y="4581144"/>
            <a:ext cx="7315200" cy="1463040"/>
          </a:xfrm>
          <a:prstGeom xmlns:a="http://schemas.openxmlformats.org/drawingml/2006/main" prst="roundRect">
            <a:avLst>
              <a:gd name="adj" fmla="val 5625"/>
            </a:avLst>
          </a:prstGeom>
          <a:solidFill xmlns:a="http://schemas.openxmlformats.org/drawingml/2006/main">
            <a:srgbClr val="E7F2F3"/>
          </a:solidFill>
        </p:spPr>
      </p:sp>
      <p:sp>
        <p:nvSpPr>
          <p:cNvPr id="46" name="Text 44">
            <a:extLst xmlns:a="http://schemas.openxmlformats.org/drawingml/2006/main">
              <a:ext uri="{FF2B5EF4-FFF2-40B4-BE49-F238E27FC236}">
                <a16:creationId xmlns:a16="http://schemas.microsoft.com/office/drawing/2014/main" id="{201BA3CB-BE6D-4DD2-ADDE-67A981B0CF41}"/>
              </a:ext>
            </a:extLst>
          </p:cNvPr>
          <p:cNvSpPr>
            <a:spLocks xmlns:a="http://schemas.openxmlformats.org/drawingml/2006/main" noGrp="1"/>
          </p:cNvSpPr>
          <p:nvPr/>
        </p:nvSpPr>
        <p:spPr>
          <a:xfrm xmlns:a="http://schemas.openxmlformats.org/drawingml/2006/main">
            <a:off x="822960" y="4782312"/>
            <a:ext cx="667512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200" b="1">
                <a:solidFill>
                  <a:srgbClr val="0A5C64"/>
                </a:solidFill>
                <a:latin typeface="Calibri"/>
                <a:ea typeface="Calibri"/>
                <a:cs typeface="Calibri"/>
              </a:rPr>
              <a:t>The CDF  F(x) = P(X ≤ x)  is the practitioner's workhorse.  </a:t>
            </a:r>
            <a:r>
              <a:rPr sz="1200">
                <a:solidFill>
                  <a:srgbClr val="24313A"/>
                </a:solidFill>
                <a:latin typeface="Calibri"/>
                <a:ea typeface="Calibri"/>
                <a:cs typeface="Calibri"/>
              </a:rPr>
              <a:t>Percentiles, p-values, and "probability of waiting more than 30 minutes" are all CDF evaluations: P(wait &gt; 30) = 1 − F(30).</a:t>
            </a:r>
            <a:endParaRPr sz="1200"/>
          </a:p>
        </p:txBody>
      </p:sp>
      <p:sp>
        <p:nvSpPr>
          <p:cNvPr id="47" name="Shape 45">
            <a:extLst xmlns:a="http://schemas.openxmlformats.org/drawingml/2006/main">
              <a:ext uri="{FF2B5EF4-FFF2-40B4-BE49-F238E27FC236}">
                <a16:creationId xmlns:a16="http://schemas.microsoft.com/office/drawing/2014/main" id="{76D57F9B-B9C2-4683-B20C-2AFDA181451A}"/>
              </a:ext>
            </a:extLst>
          </p:cNvPr>
          <p:cNvSpPr>
            <a:spLocks xmlns:a="http://schemas.openxmlformats.org/drawingml/2006/main" noGrp="1"/>
          </p:cNvSpPr>
          <p:nvPr/>
        </p:nvSpPr>
        <p:spPr>
          <a:xfrm xmlns:a="http://schemas.openxmlformats.org/drawingml/2006/main">
            <a:off x="8001000" y="4581144"/>
            <a:ext cx="3657600" cy="1463040"/>
          </a:xfrm>
          <a:prstGeom xmlns:a="http://schemas.openxmlformats.org/drawingml/2006/main" prst="roundRect">
            <a:avLst>
              <a:gd name="adj" fmla="val 5625"/>
            </a:avLst>
          </a:prstGeom>
          <a:solidFill xmlns:a="http://schemas.openxmlformats.org/drawingml/2006/main">
            <a:srgbClr val="F9E8E9"/>
          </a:solidFill>
        </p:spPr>
      </p:sp>
      <p:sp>
        <p:nvSpPr>
          <p:cNvPr id="48" name="Shape 46">
            <a:extLst xmlns:a="http://schemas.openxmlformats.org/drawingml/2006/main">
              <a:ext uri="{FF2B5EF4-FFF2-40B4-BE49-F238E27FC236}">
                <a16:creationId xmlns:a16="http://schemas.microsoft.com/office/drawing/2014/main" id="{C6F6187A-1568-48B5-A732-409FB46765E2}"/>
              </a:ext>
            </a:extLst>
          </p:cNvPr>
          <p:cNvSpPr>
            <a:spLocks xmlns:a="http://schemas.openxmlformats.org/drawingml/2006/main" noGrp="1"/>
          </p:cNvSpPr>
          <p:nvPr/>
        </p:nvSpPr>
        <p:spPr>
          <a:xfrm xmlns:a="http://schemas.openxmlformats.org/drawingml/2006/main">
            <a:off x="8183880" y="4764024"/>
            <a:ext cx="365760" cy="365760"/>
          </a:xfrm>
          <a:prstGeom xmlns:a="http://schemas.openxmlformats.org/drawingml/2006/main" prst="ellipse">
            <a:avLst/>
          </a:prstGeom>
          <a:solidFill xmlns:a="http://schemas.openxmlformats.org/drawingml/2006/main">
            <a:srgbClr val="B4232A"/>
          </a:solidFill>
        </p:spPr>
      </p:sp>
      <p:pic>
        <p:nvPicPr>
          <p:cNvPr id="100" name="Image 0"/>
          <p:cNvPicPr>
            <a:picLocks xmlns:a="http://schemas.openxmlformats.org/drawingml/2006/main" noChangeAspect="1"/>
          </p:cNvPicPr>
          <p:nvPr/>
        </p:nvPicPr>
        <p:blipFill>
          <a:blip xmlns:r="http://schemas.openxmlformats.org/officeDocument/2006/relationships" xmlns:a="http://schemas.openxmlformats.org/drawingml/2006/main" r:embed="R017ddadf0359420c"/>
          <a:stretch xmlns:a="http://schemas.openxmlformats.org/drawingml/2006/main">
            <a:fillRect l="0" t="0" r="0" b="0"/>
          </a:stretch>
        </p:blipFill>
        <p:spPr>
          <a:xfrm xmlns:a="http://schemas.openxmlformats.org/drawingml/2006/main">
            <a:off x="8278978" y="4859122"/>
            <a:ext cx="175565" cy="175565"/>
          </a:xfrm>
          <a:prstGeom xmlns:a="http://schemas.openxmlformats.org/drawingml/2006/main" prst="rect">
            <a:avLst/>
          </a:prstGeom>
        </p:spPr>
      </p:pic>
      <p:sp>
        <p:nvSpPr>
          <p:cNvPr id="50" name="Text 47">
            <a:extLst xmlns:a="http://schemas.openxmlformats.org/drawingml/2006/main">
              <a:ext uri="{FF2B5EF4-FFF2-40B4-BE49-F238E27FC236}">
                <a16:creationId xmlns:a16="http://schemas.microsoft.com/office/drawing/2014/main" id="{36B0DB78-F3C2-45EC-9C9B-72A2EB2E409F}"/>
              </a:ext>
            </a:extLst>
          </p:cNvPr>
          <p:cNvSpPr>
            <a:spLocks xmlns:a="http://schemas.openxmlformats.org/drawingml/2006/main" noGrp="1"/>
          </p:cNvSpPr>
          <p:nvPr/>
        </p:nvSpPr>
        <p:spPr>
          <a:xfrm xmlns:a="http://schemas.openxmlformats.org/drawingml/2006/main">
            <a:off x="8668512" y="4718304"/>
            <a:ext cx="283464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80" b="1">
                <a:solidFill>
                  <a:srgbClr val="B4232A"/>
                </a:solidFill>
                <a:latin typeface="Calibri"/>
                <a:ea typeface="Calibri"/>
                <a:cs typeface="Calibri"/>
              </a:rPr>
              <a:t>Teach explicitly: </a:t>
            </a:r>
            <a:r>
              <a:rPr sz="1080">
                <a:solidFill>
                  <a:srgbClr val="24313A"/>
                </a:solidFill>
                <a:latin typeface="Calibri"/>
                <a:ea typeface="Calibri"/>
                <a:cs typeface="Calibri"/>
              </a:rPr>
              <a:t>f(x) is a density, not a probability — it can exceed 1, and P(X = exactly 12.000) = 0.</a:t>
            </a:r>
            <a:endParaRPr sz="1080"/>
          </a:p>
        </p:txBody>
      </p:sp>
      <p:sp>
        <p:nvSpPr>
          <p:cNvPr id="51" name="Text 48">
            <a:extLst xmlns:a="http://schemas.openxmlformats.org/drawingml/2006/main">
              <a:ext uri="{FF2B5EF4-FFF2-40B4-BE49-F238E27FC236}">
                <a16:creationId xmlns:a16="http://schemas.microsoft.com/office/drawing/2014/main" id="{20422D98-073A-46F0-948F-23762BAF705A}"/>
              </a:ext>
            </a:extLst>
          </p:cNvPr>
          <p:cNvSpPr>
            <a:spLocks xmlns:a="http://schemas.openxmlformats.org/drawingml/2006/main" noGrp="1"/>
          </p:cNvSpPr>
          <p:nvPr/>
        </p:nvSpPr>
        <p:spPr>
          <a:xfrm xmlns:a="http://schemas.openxmlformats.org/drawingml/2006/main">
            <a:off x="502920" y="6135624"/>
            <a:ext cx="11155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5B6B75"/>
                </a:solidFill>
                <a:latin typeface="Calibri"/>
                <a:ea typeface="Calibri"/>
                <a:cs typeface="Calibri"/>
              </a:rPr>
              <a:t>Also fix:  E[aX+b] = a·E[X]+b   and   Var(aX+b) = a²·Var(X) — shifting doesn't change spread; scaling changes it quadratically.</a:t>
            </a:r>
            <a:endParaRPr sz="1100"/>
          </a:p>
        </p:txBody>
      </p:sp>
    </p:spTree>
    <p:extLst>
      <p:ext uri="{BB962C8B-B14F-4D97-AF65-F5344CB8AC3E}">
        <p14:creationId xmlns:p14="http://schemas.microsoft.com/office/powerpoint/2010/main" val="105075710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B1509A6-42A0-4B90-A694-18EB8B89A487}"/>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BC1F6EE6-44A9-4F6A-B2E0-FFA02B78C6FD}"/>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13</a:t>
            </a:r>
            <a:endParaRPr sz="900"/>
          </a:p>
        </p:txBody>
      </p:sp>
      <p:sp>
        <p:nvSpPr>
          <p:cNvPr id="4" name="Shape 2">
            <a:extLst xmlns:a="http://schemas.openxmlformats.org/drawingml/2006/main">
              <a:ext uri="{FF2B5EF4-FFF2-40B4-BE49-F238E27FC236}">
                <a16:creationId xmlns:a16="http://schemas.microsoft.com/office/drawing/2014/main" id="{D6FF6685-3977-4E07-902A-7F08F07A16C2}"/>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E1517804-6231-4319-9BE8-452F0D59D1AB}"/>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1</a:t>
            </a:r>
            <a:endParaRPr sz="1050"/>
          </a:p>
        </p:txBody>
      </p:sp>
      <p:sp>
        <p:nvSpPr>
          <p:cNvPr id="6" name="Text 4">
            <a:extLst xmlns:a="http://schemas.openxmlformats.org/drawingml/2006/main">
              <a:ext uri="{FF2B5EF4-FFF2-40B4-BE49-F238E27FC236}">
                <a16:creationId xmlns:a16="http://schemas.microsoft.com/office/drawing/2014/main" id="{01AE607A-0DC7-4397-BC0A-6839AF4432CD}"/>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The discrete distribution zoo</a:t>
            </a:r>
            <a:endParaRPr sz="2800"/>
          </a:p>
        </p:txBody>
      </p:sp>
      <p:sp>
        <p:nvSpPr>
          <p:cNvPr id="7" name="Text 5">
            <a:extLst xmlns:a="http://schemas.openxmlformats.org/drawingml/2006/main">
              <a:ext uri="{FF2B5EF4-FFF2-40B4-BE49-F238E27FC236}">
                <a16:creationId xmlns:a16="http://schemas.microsoft.com/office/drawing/2014/main" id="{1E9CDC75-9914-43C2-A391-0AEEBE84DC54}"/>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Choose the model from the process that generated the data — then compute with scipy.stats</a:t>
            </a:r>
            <a:endParaRPr sz="1350"/>
          </a:p>
        </p:txBody>
      </p:sp>
      <p:graphicFrame>
        <p:nvGraphicFramePr>
          <p:cNvPr id="20" name="Table 0"/>
          <p:cNvGraphicFramePr/>
          <p:nvPr/>
        </p:nvGraphicFramePr>
        <p:xfrm>
          <a:off xmlns:a="http://schemas.openxmlformats.org/drawingml/2006/main" x="502920" y="1837944"/>
          <a:ext xmlns:a="http://schemas.openxmlformats.org/drawingml/2006/main" cx="11201400" cy="914400"/>
        </p:xfrm>
        <a:graphic xmlns:a="http://schemas.openxmlformats.org/drawingml/2006/main">
          <a:graphicData uri="http://schemas.openxmlformats.org/drawingml/2006/table">
            <a:tbl>
              <a:tblPr/>
              <a:tblGrid>
                <a:gridCol w="1554480"/>
                <a:gridCol w="2926080"/>
                <a:gridCol w="1188720"/>
                <a:gridCol w="1737360"/>
                <a:gridCol w="3794760"/>
              </a:tblGrid>
              <a:tr h="475488">
                <a:tc>
                  <a:txBody>
                    <a:bodyPr/>
                    <a:lstStyle/>
                    <a:p>
                      <a:pPr marL="0" indent="0">
                        <a:buNone/>
                      </a:pPr>
                      <a:r>
                        <a:rPr sz="1150" b="1">
                          <a:solidFill>
                            <a:srgbClr val="FFFFFF"/>
                          </a:solidFill>
                          <a:latin typeface="Calibri"/>
                          <a:ea typeface="Calibri"/>
                          <a:cs typeface="Calibri"/>
                        </a:rPr>
                        <a:t>Distribution</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50" b="1">
                          <a:solidFill>
                            <a:srgbClr val="FFFFFF"/>
                          </a:solidFill>
                          <a:latin typeface="Calibri"/>
                          <a:ea typeface="Calibri"/>
                          <a:cs typeface="Calibri"/>
                        </a:rPr>
                        <a:t>Models</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50" b="1">
                          <a:solidFill>
                            <a:srgbClr val="FFFFFF"/>
                          </a:solidFill>
                          <a:latin typeface="Calibri"/>
                          <a:ea typeface="Calibri"/>
                          <a:cs typeface="Calibri"/>
                        </a:rPr>
                        <a:t>Parameters</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50" b="1">
                          <a:solidFill>
                            <a:srgbClr val="FFFFFF"/>
                          </a:solidFill>
                          <a:latin typeface="Calibri"/>
                          <a:ea typeface="Calibri"/>
                          <a:cs typeface="Calibri"/>
                        </a:rPr>
                        <a:t>Mean / Var</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50" b="1">
                          <a:solidFill>
                            <a:srgbClr val="FFFFFF"/>
                          </a:solidFill>
                          <a:latin typeface="Calibri"/>
                          <a:ea typeface="Calibri"/>
                          <a:cs typeface="Calibri"/>
                        </a:rPr>
                        <a:t>Mawid example</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r>
              <a:tr h="475488">
                <a:tc>
                  <a:txBody>
                    <a:bodyPr/>
                    <a:lstStyle/>
                    <a:p>
                      <a:pPr marL="0" indent="0">
                        <a:buNone/>
                      </a:pPr>
                      <a:r>
                        <a:rPr sz="1150" b="1">
                          <a:solidFill>
                            <a:srgbClr val="24313A"/>
                          </a:solidFill>
                          <a:latin typeface="Calibri"/>
                          <a:ea typeface="Calibri"/>
                          <a:cs typeface="Calibri"/>
                        </a:rPr>
                        <a:t>Bernoulli</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One yes/no trial</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p</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p  /  p(1−p)</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A single appointment: no-show or not</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475488">
                <a:tc>
                  <a:txBody>
                    <a:bodyPr/>
                    <a:lstStyle/>
                    <a:p>
                      <a:pPr marL="0" indent="0">
                        <a:buNone/>
                      </a:pPr>
                      <a:r>
                        <a:rPr sz="1150" b="1">
                          <a:solidFill>
                            <a:srgbClr val="24313A"/>
                          </a:solidFill>
                          <a:latin typeface="Calibri"/>
                          <a:ea typeface="Calibri"/>
                          <a:cs typeface="Calibri"/>
                        </a:rPr>
                        <a:t>Binomial</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 successes in n independent trials</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n, p</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np  /  np(1−p)</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 no-shows among 20 booked slots</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475488">
                <a:tc>
                  <a:txBody>
                    <a:bodyPr/>
                    <a:lstStyle/>
                    <a:p>
                      <a:pPr marL="0" indent="0">
                        <a:buNone/>
                      </a:pPr>
                      <a:r>
                        <a:rPr sz="1150" b="1">
                          <a:solidFill>
                            <a:srgbClr val="24313A"/>
                          </a:solidFill>
                          <a:latin typeface="Calibri"/>
                          <a:ea typeface="Calibri"/>
                          <a:cs typeface="Calibri"/>
                        </a:rPr>
                        <a:t>Poisson</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 events in a fixed interval</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λ</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λ  /  λ</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 walk-ins per clinic per hour</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475488">
                <a:tc>
                  <a:txBody>
                    <a:bodyPr/>
                    <a:lstStyle/>
                    <a:p>
                      <a:pPr marL="0" indent="0">
                        <a:buNone/>
                      </a:pPr>
                      <a:r>
                        <a:rPr sz="1150" b="1">
                          <a:solidFill>
                            <a:srgbClr val="24313A"/>
                          </a:solidFill>
                          <a:latin typeface="Calibri"/>
                          <a:ea typeface="Calibri"/>
                          <a:cs typeface="Calibri"/>
                        </a:rPr>
                        <a:t>Geometric</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 trials until first success</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p</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1/p  /  (1−p)/p²</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 appointments until first no-show</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bl>
          </a:graphicData>
        </a:graphic>
      </p:graphicFrame>
      <p:sp>
        <p:nvSpPr>
          <p:cNvPr id="9" name="Shape 6">
            <a:extLst xmlns:a="http://schemas.openxmlformats.org/drawingml/2006/main">
              <a:ext uri="{FF2B5EF4-FFF2-40B4-BE49-F238E27FC236}">
                <a16:creationId xmlns:a16="http://schemas.microsoft.com/office/drawing/2014/main" id="{52E99BE1-62CE-41B4-9FBD-0135D4C54D30}"/>
              </a:ext>
            </a:extLst>
          </p:cNvPr>
          <p:cNvSpPr>
            <a:spLocks xmlns:a="http://schemas.openxmlformats.org/drawingml/2006/main" noGrp="1"/>
          </p:cNvSpPr>
          <p:nvPr/>
        </p:nvSpPr>
        <p:spPr>
          <a:xfrm xmlns:a="http://schemas.openxmlformats.org/drawingml/2006/main">
            <a:off x="502920" y="4489704"/>
            <a:ext cx="5486400" cy="1783080"/>
          </a:xfrm>
          <a:prstGeom xmlns:a="http://schemas.openxmlformats.org/drawingml/2006/main" prst="roundRect">
            <a:avLst>
              <a:gd name="adj" fmla="val 4615"/>
            </a:avLst>
          </a:prstGeom>
          <a:solidFill xmlns:a="http://schemas.openxmlformats.org/drawingml/2006/main">
            <a:srgbClr val="E7F2F3"/>
          </a:solidFill>
        </p:spPr>
      </p:sp>
      <p:sp>
        <p:nvSpPr>
          <p:cNvPr id="10" name="Text 7">
            <a:extLst xmlns:a="http://schemas.openxmlformats.org/drawingml/2006/main">
              <a:ext uri="{FF2B5EF4-FFF2-40B4-BE49-F238E27FC236}">
                <a16:creationId xmlns:a16="http://schemas.microsoft.com/office/drawing/2014/main" id="{A5C7329E-6EC3-498C-9923-0B69CA8897DE}"/>
              </a:ext>
            </a:extLst>
          </p:cNvPr>
          <p:cNvSpPr>
            <a:spLocks xmlns:a="http://schemas.openxmlformats.org/drawingml/2006/main" noGrp="1"/>
          </p:cNvSpPr>
          <p:nvPr/>
        </p:nvSpPr>
        <p:spPr>
          <a:xfrm xmlns:a="http://schemas.openxmlformats.org/drawingml/2006/main">
            <a:off x="822960" y="4690872"/>
            <a:ext cx="489204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150" b="1">
                <a:solidFill>
                  <a:srgbClr val="0A5C64"/>
                </a:solidFill>
                <a:latin typeface="Calibri"/>
                <a:ea typeface="Calibri"/>
                <a:cs typeface="Calibri"/>
              </a:rPr>
              <a:t>The Binomial is the golden thread's natural model.  </a:t>
            </a:r>
            <a:r>
              <a:rPr sz="1150">
                <a:solidFill>
                  <a:srgbClr val="24313A"/>
                </a:solidFill>
                <a:latin typeface="Calibri"/>
                <a:ea typeface="Calibri"/>
                <a:cs typeface="Calibri"/>
              </a:rPr>
              <a:t>If each of n booked patients no-shows independently with probability p, the number of empty slots is Binomial(n, p) — and overbooking becomes a tail-probability question.</a:t>
            </a:r>
            <a:endParaRPr sz="1150"/>
          </a:p>
        </p:txBody>
      </p:sp>
      <p:sp>
        <p:nvSpPr>
          <p:cNvPr id="11" name="Shape 8">
            <a:extLst xmlns:a="http://schemas.openxmlformats.org/drawingml/2006/main">
              <a:ext uri="{FF2B5EF4-FFF2-40B4-BE49-F238E27FC236}">
                <a16:creationId xmlns:a16="http://schemas.microsoft.com/office/drawing/2014/main" id="{FFCD7198-CE73-4C89-B3ED-EA7B5F7EC9CF}"/>
              </a:ext>
            </a:extLst>
          </p:cNvPr>
          <p:cNvSpPr>
            <a:spLocks xmlns:a="http://schemas.openxmlformats.org/drawingml/2006/main" noGrp="1"/>
          </p:cNvSpPr>
          <p:nvPr/>
        </p:nvSpPr>
        <p:spPr>
          <a:xfrm xmlns:a="http://schemas.openxmlformats.org/drawingml/2006/main">
            <a:off x="6172200" y="4489704"/>
            <a:ext cx="5532120" cy="1783080"/>
          </a:xfrm>
          <a:prstGeom xmlns:a="http://schemas.openxmlformats.org/drawingml/2006/main" prst="roundRect">
            <a:avLst>
              <a:gd name="adj" fmla="val 4615"/>
            </a:avLst>
          </a:prstGeom>
          <a:solidFill xmlns:a="http://schemas.openxmlformats.org/drawingml/2006/main">
            <a:srgbClr val="F3F8F9"/>
          </a:solidFill>
        </p:spPr>
      </p:sp>
      <p:sp>
        <p:nvSpPr>
          <p:cNvPr id="12" name="Text 9">
            <a:extLst xmlns:a="http://schemas.openxmlformats.org/drawingml/2006/main">
              <a:ext uri="{FF2B5EF4-FFF2-40B4-BE49-F238E27FC236}">
                <a16:creationId xmlns:a16="http://schemas.microsoft.com/office/drawing/2014/main" id="{BD581615-6DA2-4267-9FF0-A56B1A4093E5}"/>
              </a:ext>
            </a:extLst>
          </p:cNvPr>
          <p:cNvSpPr>
            <a:spLocks xmlns:a="http://schemas.openxmlformats.org/drawingml/2006/main" noGrp="1"/>
          </p:cNvSpPr>
          <p:nvPr/>
        </p:nvSpPr>
        <p:spPr>
          <a:xfrm xmlns:a="http://schemas.openxmlformats.org/drawingml/2006/main">
            <a:off x="6492240" y="4690872"/>
            <a:ext cx="493776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150" b="1">
                <a:solidFill>
                  <a:srgbClr val="0B3140"/>
                </a:solidFill>
                <a:latin typeface="Calibri"/>
                <a:ea typeface="Calibri"/>
                <a:cs typeface="Calibri"/>
              </a:rPr>
              <a:t>Poisson ≈ Binomial when n is large, p small (λ = np).  </a:t>
            </a:r>
            <a:r>
              <a:rPr sz="1150">
                <a:solidFill>
                  <a:srgbClr val="24313A"/>
                </a:solidFill>
                <a:latin typeface="Calibri"/>
                <a:ea typeface="Calibri"/>
                <a:cs typeface="Calibri"/>
              </a:rPr>
              <a:t>That is why rare-event counts — walk-ins, complaints, system errors — are Poisson-shaped. Simulate the convergence live: animate Binomial(n, λ/n) as n grows.</a:t>
            </a:r>
            <a:endParaRPr sz="1150"/>
          </a:p>
        </p:txBody>
      </p:sp>
    </p:spTree>
    <p:extLst>
      <p:ext uri="{BB962C8B-B14F-4D97-AF65-F5344CB8AC3E}">
        <p14:creationId xmlns:p14="http://schemas.microsoft.com/office/powerpoint/2010/main" val="100525550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7BFE948-9128-4D49-8C46-42909E93F350}"/>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E5BC25A7-49E6-4DA6-A3B7-ED033447EBC0}"/>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14</a:t>
            </a:r>
            <a:endParaRPr sz="900"/>
          </a:p>
        </p:txBody>
      </p:sp>
      <p:sp>
        <p:nvSpPr>
          <p:cNvPr id="4" name="Shape 2">
            <a:extLst xmlns:a="http://schemas.openxmlformats.org/drawingml/2006/main">
              <a:ext uri="{FF2B5EF4-FFF2-40B4-BE49-F238E27FC236}">
                <a16:creationId xmlns:a16="http://schemas.microsoft.com/office/drawing/2014/main" id="{7DD8662D-F90C-40CF-BD3D-AA0D1A80105B}"/>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FA806796-5B39-431A-979C-6A1BB4593148}"/>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1</a:t>
            </a:r>
            <a:endParaRPr sz="1050"/>
          </a:p>
        </p:txBody>
      </p:sp>
      <p:sp>
        <p:nvSpPr>
          <p:cNvPr id="6" name="Text 4">
            <a:extLst xmlns:a="http://schemas.openxmlformats.org/drawingml/2006/main">
              <a:ext uri="{FF2B5EF4-FFF2-40B4-BE49-F238E27FC236}">
                <a16:creationId xmlns:a16="http://schemas.microsoft.com/office/drawing/2014/main" id="{678CED1A-9CD7-49B2-9B36-8C45F27DA651}"/>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Continuous distributions — and why wait times are not Normal</a:t>
            </a:r>
            <a:endParaRPr sz="2800"/>
          </a:p>
        </p:txBody>
      </p:sp>
      <p:graphicFrame>
        <p:nvGraphicFramePr>
          <p:cNvPr id="22" name="Table 0"/>
          <p:cNvGraphicFramePr/>
          <p:nvPr/>
        </p:nvGraphicFramePr>
        <p:xfrm>
          <a:off xmlns:a="http://schemas.openxmlformats.org/drawingml/2006/main" x="502920" y="1563624"/>
          <a:ext xmlns:a="http://schemas.openxmlformats.org/drawingml/2006/main" cx="5577840" cy="914400"/>
        </p:xfrm>
        <a:graphic xmlns:a="http://schemas.openxmlformats.org/drawingml/2006/main">
          <a:graphicData uri="http://schemas.openxmlformats.org/drawingml/2006/table">
            <a:tbl>
              <a:tblPr/>
              <a:tblGrid>
                <a:gridCol w="1371600"/>
                <a:gridCol w="2377440"/>
                <a:gridCol w="1828800"/>
              </a:tblGrid>
              <a:tr h="457200">
                <a:tc>
                  <a:txBody>
                    <a:bodyPr/>
                    <a:lstStyle/>
                    <a:p>
                      <a:pPr marL="0" indent="0">
                        <a:buNone/>
                      </a:pPr>
                      <a:r>
                        <a:rPr sz="1080" b="1">
                          <a:solidFill>
                            <a:srgbClr val="FFFFFF"/>
                          </a:solidFill>
                          <a:latin typeface="Calibri"/>
                          <a:ea typeface="Calibri"/>
                          <a:cs typeface="Calibri"/>
                        </a:rPr>
                        <a:t>Distribution</a:t>
                      </a:r>
                      <a:endParaRPr sz="108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080" b="1">
                          <a:solidFill>
                            <a:srgbClr val="FFFFFF"/>
                          </a:solidFill>
                          <a:latin typeface="Calibri"/>
                          <a:ea typeface="Calibri"/>
                          <a:cs typeface="Calibri"/>
                        </a:rPr>
                        <a:t>Models</a:t>
                      </a:r>
                      <a:endParaRPr sz="108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080" b="1">
                          <a:solidFill>
                            <a:srgbClr val="FFFFFF"/>
                          </a:solidFill>
                          <a:latin typeface="Calibri"/>
                          <a:ea typeface="Calibri"/>
                          <a:cs typeface="Calibri"/>
                        </a:rPr>
                        <a:t>Notes</a:t>
                      </a:r>
                      <a:endParaRPr sz="108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r>
              <a:tr h="457200">
                <a:tc>
                  <a:txBody>
                    <a:bodyPr/>
                    <a:lstStyle/>
                    <a:p>
                      <a:pPr marL="0" indent="0">
                        <a:buNone/>
                      </a:pPr>
                      <a:r>
                        <a:rPr sz="1080" b="1">
                          <a:solidFill>
                            <a:srgbClr val="24313A"/>
                          </a:solidFill>
                          <a:latin typeface="Calibri"/>
                          <a:ea typeface="Calibri"/>
                          <a:cs typeface="Calibri"/>
                        </a:rPr>
                        <a:t>Uniform</a:t>
                      </a:r>
                      <a:endParaRPr sz="108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080">
                          <a:solidFill>
                            <a:srgbClr val="24313A"/>
                          </a:solidFill>
                          <a:latin typeface="Calibri"/>
                          <a:ea typeface="Calibri"/>
                          <a:cs typeface="Calibri"/>
                        </a:rPr>
                        <a:t>Equal density on [a, b]</a:t>
                      </a:r>
                      <a:endParaRPr sz="108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080">
                          <a:solidFill>
                            <a:srgbClr val="24313A"/>
                          </a:solidFill>
                          <a:latin typeface="Calibri"/>
                          <a:ea typeface="Calibri"/>
                          <a:cs typeface="Calibri"/>
                        </a:rPr>
                        <a:t>Baseline / random draws</a:t>
                      </a:r>
                      <a:endParaRPr sz="108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457200">
                <a:tc>
                  <a:txBody>
                    <a:bodyPr/>
                    <a:lstStyle/>
                    <a:p>
                      <a:pPr marL="0" indent="0">
                        <a:buNone/>
                      </a:pPr>
                      <a:r>
                        <a:rPr sz="1080" b="1">
                          <a:solidFill>
                            <a:srgbClr val="24313A"/>
                          </a:solidFill>
                          <a:latin typeface="Calibri"/>
                          <a:ea typeface="Calibri"/>
                          <a:cs typeface="Calibri"/>
                        </a:rPr>
                        <a:t>Normal</a:t>
                      </a:r>
                      <a:endParaRPr sz="108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080">
                          <a:solidFill>
                            <a:srgbClr val="24313A"/>
                          </a:solidFill>
                          <a:latin typeface="Calibri"/>
                          <a:ea typeface="Calibri"/>
                          <a:cs typeface="Calibri"/>
                        </a:rPr>
                        <a:t>Sums / averages of many small effects</a:t>
                      </a:r>
                      <a:endParaRPr sz="108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080">
                          <a:solidFill>
                            <a:srgbClr val="24313A"/>
                          </a:solidFill>
                          <a:latin typeface="Calibri"/>
                          <a:ea typeface="Calibri"/>
                          <a:cs typeface="Calibri"/>
                        </a:rPr>
                        <a:t>The CLT's limit; symmetric; z = (x−μ)/σ</a:t>
                      </a:r>
                      <a:endParaRPr sz="108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457200">
                <a:tc>
                  <a:txBody>
                    <a:bodyPr/>
                    <a:lstStyle/>
                    <a:p>
                      <a:pPr marL="0" indent="0">
                        <a:buNone/>
                      </a:pPr>
                      <a:r>
                        <a:rPr sz="1080" b="1">
                          <a:solidFill>
                            <a:srgbClr val="24313A"/>
                          </a:solidFill>
                          <a:latin typeface="Calibri"/>
                          <a:ea typeface="Calibri"/>
                          <a:cs typeface="Calibri"/>
                        </a:rPr>
                        <a:t>Exponential</a:t>
                      </a:r>
                      <a:endParaRPr sz="108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080">
                          <a:solidFill>
                            <a:srgbClr val="24313A"/>
                          </a:solidFill>
                          <a:latin typeface="Calibri"/>
                          <a:ea typeface="Calibri"/>
                          <a:cs typeface="Calibri"/>
                        </a:rPr>
                        <a:t>Time between Poisson events</a:t>
                      </a:r>
                      <a:endParaRPr sz="108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080">
                          <a:solidFill>
                            <a:srgbClr val="24313A"/>
                          </a:solidFill>
                          <a:latin typeface="Calibri"/>
                          <a:ea typeface="Calibri"/>
                          <a:cs typeface="Calibri"/>
                        </a:rPr>
                        <a:t>Memoryless; right-skewed</a:t>
                      </a:r>
                      <a:endParaRPr sz="108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457200">
                <a:tc>
                  <a:txBody>
                    <a:bodyPr/>
                    <a:lstStyle/>
                    <a:p>
                      <a:pPr marL="0" indent="0">
                        <a:buNone/>
                      </a:pPr>
                      <a:r>
                        <a:rPr sz="1080" b="1">
                          <a:solidFill>
                            <a:srgbClr val="24313A"/>
                          </a:solidFill>
                          <a:latin typeface="Calibri"/>
                          <a:ea typeface="Calibri"/>
                          <a:cs typeface="Calibri"/>
                        </a:rPr>
                        <a:t>Lognormal</a:t>
                      </a:r>
                      <a:endParaRPr sz="108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080">
                          <a:solidFill>
                            <a:srgbClr val="24313A"/>
                          </a:solidFill>
                          <a:latin typeface="Calibri"/>
                          <a:ea typeface="Calibri"/>
                          <a:cs typeface="Calibri"/>
                        </a:rPr>
                        <a:t>Positive, right-skewed quantities</a:t>
                      </a:r>
                      <a:endParaRPr sz="108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080">
                          <a:solidFill>
                            <a:srgbClr val="24313A"/>
                          </a:solidFill>
                          <a:latin typeface="Calibri"/>
                          <a:ea typeface="Calibri"/>
                          <a:cs typeface="Calibri"/>
                        </a:rPr>
                        <a:t>Wait times, incomes, durations</a:t>
                      </a:r>
                      <a:endParaRPr sz="108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bl>
          </a:graphicData>
        </a:graphic>
      </p:graphicFrame>
      <p:sp>
        <p:nvSpPr>
          <p:cNvPr id="8" name="Shape 5">
            <a:extLst xmlns:a="http://schemas.openxmlformats.org/drawingml/2006/main">
              <a:ext uri="{FF2B5EF4-FFF2-40B4-BE49-F238E27FC236}">
                <a16:creationId xmlns:a16="http://schemas.microsoft.com/office/drawing/2014/main" id="{1D93E435-1075-4A4E-8A54-3C88BCFC9391}"/>
              </a:ext>
            </a:extLst>
          </p:cNvPr>
          <p:cNvSpPr>
            <a:spLocks xmlns:a="http://schemas.openxmlformats.org/drawingml/2006/main" noGrp="1"/>
          </p:cNvSpPr>
          <p:nvPr/>
        </p:nvSpPr>
        <p:spPr>
          <a:xfrm xmlns:a="http://schemas.openxmlformats.org/drawingml/2006/main">
            <a:off x="502920" y="4169664"/>
            <a:ext cx="5577840" cy="1874520"/>
          </a:xfrm>
          <a:prstGeom xmlns:a="http://schemas.openxmlformats.org/drawingml/2006/main" prst="roundRect">
            <a:avLst>
              <a:gd name="adj" fmla="val 4390"/>
            </a:avLst>
          </a:prstGeom>
          <a:solidFill xmlns:a="http://schemas.openxmlformats.org/drawingml/2006/main">
            <a:srgbClr val="FBEEDD"/>
          </a:solidFill>
        </p:spPr>
      </p:sp>
      <p:sp>
        <p:nvSpPr>
          <p:cNvPr id="9" name="Shape 6">
            <a:extLst xmlns:a="http://schemas.openxmlformats.org/drawingml/2006/main">
              <a:ext uri="{FF2B5EF4-FFF2-40B4-BE49-F238E27FC236}">
                <a16:creationId xmlns:a16="http://schemas.microsoft.com/office/drawing/2014/main" id="{86350CAA-9528-4B6B-9EC5-6AC77837F3AA}"/>
              </a:ext>
            </a:extLst>
          </p:cNvPr>
          <p:cNvSpPr>
            <a:spLocks xmlns:a="http://schemas.openxmlformats.org/drawingml/2006/main" noGrp="1"/>
          </p:cNvSpPr>
          <p:nvPr/>
        </p:nvSpPr>
        <p:spPr>
          <a:xfrm xmlns:a="http://schemas.openxmlformats.org/drawingml/2006/main">
            <a:off x="713232" y="4352544"/>
            <a:ext cx="384048" cy="384048"/>
          </a:xfrm>
          <a:prstGeom xmlns:a="http://schemas.openxmlformats.org/drawingml/2006/main" prst="ellipse">
            <a:avLst/>
          </a:prstGeom>
          <a:solidFill xmlns:a="http://schemas.openxmlformats.org/drawingml/2006/main">
            <a:srgbClr val="C2660A"/>
          </a:solidFill>
        </p:spPr>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6ac4bf61490045a8"/>
          <a:stretch xmlns:a="http://schemas.openxmlformats.org/drawingml/2006/main">
            <a:fillRect l="0" t="0" r="0" b="0"/>
          </a:stretch>
        </p:blipFill>
        <p:spPr>
          <a:xfrm xmlns:a="http://schemas.openxmlformats.org/drawingml/2006/main">
            <a:off x="813084" y="4452396"/>
            <a:ext cx="184343" cy="184343"/>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ACAF28F7-5133-49A8-B602-1A488437EF7B}"/>
              </a:ext>
            </a:extLst>
          </p:cNvPr>
          <p:cNvSpPr>
            <a:spLocks xmlns:a="http://schemas.openxmlformats.org/drawingml/2006/main" noGrp="1"/>
          </p:cNvSpPr>
          <p:nvPr/>
        </p:nvSpPr>
        <p:spPr>
          <a:xfrm xmlns:a="http://schemas.openxmlformats.org/drawingml/2006/main">
            <a:off x="1207008" y="4325112"/>
            <a:ext cx="4663440" cy="1600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80" b="1">
                <a:solidFill>
                  <a:srgbClr val="C2660A"/>
                </a:solidFill>
                <a:latin typeface="Calibri"/>
                <a:ea typeface="Calibri"/>
                <a:cs typeface="Calibri"/>
              </a:rPr>
              <a:t>The module's highest-value correction: </a:t>
            </a:r>
            <a:r>
              <a:rPr sz="1080">
                <a:solidFill>
                  <a:srgbClr val="24313A"/>
                </a:solidFill>
                <a:latin typeface="Calibri"/>
                <a:ea typeface="Calibri"/>
                <a:cs typeface="Calibri"/>
              </a:rPr>
              <a:t>do not default to the Normal for every continuous variable. Forcing a symmetric model onto skewed data produces intervals that undercover the tail — exactly where operational risk lives. The Normal earns its place for averages (Module 2's CLT), not raw data.</a:t>
            </a:r>
            <a:endParaRPr sz="1080"/>
          </a:p>
        </p:txBody>
      </p:sp>
      <p:graphicFrame>
        <p:nvGraphicFramePr>
          <p:cNvPr id="27" name="Chart 0"/>
          <p:cNvGraphicFramePr/>
          <p:nvPr/>
        </p:nvGraphicFramePr>
        <p:xfrm>
          <a:off xmlns:a="http://schemas.openxmlformats.org/drawingml/2006/main" x="6355080" y="1563624"/>
          <a:ext xmlns:a="http://schemas.openxmlformats.org/drawingml/2006/main" cx="5349240" cy="3794760"/>
        </p:xfrm>
        <a:graphic xmlns:a="http://schemas.openxmlformats.org/drawingml/2006/main">
          <a:graphicData uri="http://schemas.openxmlformats.org/drawingml/2006/chart">
            <c:chart xmlns:r="http://schemas.openxmlformats.org/officeDocument/2006/relationships" xmlns:c="http://schemas.openxmlformats.org/drawingml/2006/chart" r:id="R6315528596a242ff"/>
          </a:graphicData>
        </a:graphic>
      </p:graphicFrame>
      <p:sp>
        <p:nvSpPr>
          <p:cNvPr id="13" name="Text 8">
            <a:extLst xmlns:a="http://schemas.openxmlformats.org/drawingml/2006/main">
              <a:ext uri="{FF2B5EF4-FFF2-40B4-BE49-F238E27FC236}">
                <a16:creationId xmlns:a16="http://schemas.microsoft.com/office/drawing/2014/main" id="{DD5B814D-F97C-4944-879A-5960008350FA}"/>
              </a:ext>
            </a:extLst>
          </p:cNvPr>
          <p:cNvSpPr>
            <a:spLocks xmlns:a="http://schemas.openxmlformats.org/drawingml/2006/main" noGrp="1"/>
          </p:cNvSpPr>
          <p:nvPr/>
        </p:nvSpPr>
        <p:spPr>
          <a:xfrm xmlns:a="http://schemas.openxmlformats.org/drawingml/2006/main">
            <a:off x="6355080" y="5449824"/>
            <a:ext cx="5349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5B6B75"/>
                </a:solidFill>
                <a:latin typeface="Calibri"/>
                <a:ea typeface="Calibri"/>
                <a:cs typeface="Calibri"/>
              </a:rPr>
              <a:t>The Normal misses both tails: too fat at 30, dangerously thin at 45 (1.7% vs the observed 3.8%). The lognormal tracks the data — the KS test and a Q–Q plot make the verdict numeric in Lab 1.</a:t>
            </a:r>
            <a:endParaRPr sz="1050"/>
          </a:p>
        </p:txBody>
      </p:sp>
    </p:spTree>
    <p:extLst>
      <p:ext uri="{BB962C8B-B14F-4D97-AF65-F5344CB8AC3E}">
        <p14:creationId xmlns:p14="http://schemas.microsoft.com/office/powerpoint/2010/main" val="10550630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14786A1-076F-4BBD-B900-6E5100D45789}"/>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7A0FE50A-6D7D-4C22-B4C3-585FB9115337}"/>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15</a:t>
            </a:r>
            <a:endParaRPr sz="900"/>
          </a:p>
        </p:txBody>
      </p:sp>
      <p:sp>
        <p:nvSpPr>
          <p:cNvPr id="4" name="Shape 2">
            <a:extLst xmlns:a="http://schemas.openxmlformats.org/drawingml/2006/main">
              <a:ext uri="{FF2B5EF4-FFF2-40B4-BE49-F238E27FC236}">
                <a16:creationId xmlns:a16="http://schemas.microsoft.com/office/drawing/2014/main" id="{F6E98C01-D0C5-4332-91C3-961B86B0C64E}"/>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B2D95FAA-BA98-4C8A-B01A-9C109A299E00}"/>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1</a:t>
            </a:r>
            <a:endParaRPr sz="1050"/>
          </a:p>
        </p:txBody>
      </p:sp>
      <p:sp>
        <p:nvSpPr>
          <p:cNvPr id="6" name="Text 4">
            <a:extLst xmlns:a="http://schemas.openxmlformats.org/drawingml/2006/main">
              <a:ext uri="{FF2B5EF4-FFF2-40B4-BE49-F238E27FC236}">
                <a16:creationId xmlns:a16="http://schemas.microsoft.com/office/drawing/2014/main" id="{86343256-5BF7-4573-9D8C-404716E473F5}"/>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From distribution to decision — the overbooking question</a:t>
            </a:r>
            <a:endParaRPr sz="2800"/>
          </a:p>
        </p:txBody>
      </p:sp>
      <p:sp>
        <p:nvSpPr>
          <p:cNvPr id="7" name="Text 5">
            <a:extLst xmlns:a="http://schemas.openxmlformats.org/drawingml/2006/main">
              <a:ext uri="{FF2B5EF4-FFF2-40B4-BE49-F238E27FC236}">
                <a16:creationId xmlns:a16="http://schemas.microsoft.com/office/drawing/2014/main" id="{72E43411-B400-4FC4-94DA-3E248CEB1F15}"/>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20-slot morning session · p̂ = 0.183 from the data · empty slots ~ Binomial(20, 0.183)</a:t>
            </a:r>
            <a:endParaRPr sz="1350"/>
          </a:p>
        </p:txBody>
      </p:sp>
      <p:sp>
        <p:nvSpPr>
          <p:cNvPr id="8" name="Text 6">
            <a:extLst xmlns:a="http://schemas.openxmlformats.org/drawingml/2006/main">
              <a:ext uri="{FF2B5EF4-FFF2-40B4-BE49-F238E27FC236}">
                <a16:creationId xmlns:a16="http://schemas.microsoft.com/office/drawing/2014/main" id="{2CF812B6-89C4-4D15-90B5-1F629267A2E9}"/>
              </a:ext>
            </a:extLst>
          </p:cNvPr>
          <p:cNvSpPr>
            <a:spLocks xmlns:a="http://schemas.openxmlformats.org/drawingml/2006/main" noGrp="1"/>
          </p:cNvSpPr>
          <p:nvPr/>
        </p:nvSpPr>
        <p:spPr>
          <a:xfrm xmlns:a="http://schemas.openxmlformats.org/drawingml/2006/main">
            <a:off x="502920" y="2066544"/>
            <a:ext cx="2743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0B3140"/>
                </a:solidFill>
                <a:latin typeface="Cambria"/>
                <a:ea typeface="Cambria"/>
                <a:cs typeface="Cambria"/>
              </a:rPr>
              <a:t>3.66</a:t>
            </a:r>
            <a:endParaRPr sz="4000"/>
          </a:p>
        </p:txBody>
      </p:sp>
      <p:sp>
        <p:nvSpPr>
          <p:cNvPr id="9" name="Text 7">
            <a:extLst xmlns:a="http://schemas.openxmlformats.org/drawingml/2006/main">
              <a:ext uri="{FF2B5EF4-FFF2-40B4-BE49-F238E27FC236}">
                <a16:creationId xmlns:a16="http://schemas.microsoft.com/office/drawing/2014/main" id="{7FCC261B-CB51-4DE7-A0D7-90609493DC5A}"/>
              </a:ext>
            </a:extLst>
          </p:cNvPr>
          <p:cNvSpPr>
            <a:spLocks xmlns:a="http://schemas.openxmlformats.org/drawingml/2006/main" noGrp="1"/>
          </p:cNvSpPr>
          <p:nvPr/>
        </p:nvSpPr>
        <p:spPr>
          <a:xfrm xmlns:a="http://schemas.openxmlformats.org/drawingml/2006/main">
            <a:off x="502920" y="2724912"/>
            <a:ext cx="2743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5B6B75"/>
                </a:solidFill>
                <a:latin typeface="Calibri"/>
                <a:ea typeface="Calibri"/>
                <a:cs typeface="Calibri"/>
              </a:rPr>
              <a:t>expected no-shows per session (np)</a:t>
            </a:r>
            <a:endParaRPr sz="1150"/>
          </a:p>
        </p:txBody>
      </p:sp>
      <p:sp>
        <p:nvSpPr>
          <p:cNvPr id="10" name="Text 8">
            <a:extLst xmlns:a="http://schemas.openxmlformats.org/drawingml/2006/main">
              <a:ext uri="{FF2B5EF4-FFF2-40B4-BE49-F238E27FC236}">
                <a16:creationId xmlns:a16="http://schemas.microsoft.com/office/drawing/2014/main" id="{C207C720-CFD4-439B-9C20-43E5CDB12600}"/>
              </a:ext>
            </a:extLst>
          </p:cNvPr>
          <p:cNvSpPr>
            <a:spLocks xmlns:a="http://schemas.openxmlformats.org/drawingml/2006/main" noGrp="1"/>
          </p:cNvSpPr>
          <p:nvPr/>
        </p:nvSpPr>
        <p:spPr>
          <a:xfrm xmlns:a="http://schemas.openxmlformats.org/drawingml/2006/main">
            <a:off x="3383280" y="2066544"/>
            <a:ext cx="2743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0E7C86"/>
                </a:solidFill>
                <a:latin typeface="Cambria"/>
                <a:ea typeface="Cambria"/>
                <a:cs typeface="Cambria"/>
              </a:rPr>
              <a:t>29.7%</a:t>
            </a:r>
            <a:endParaRPr sz="4000"/>
          </a:p>
        </p:txBody>
      </p:sp>
      <p:sp>
        <p:nvSpPr>
          <p:cNvPr id="11" name="Text 9">
            <a:extLst xmlns:a="http://schemas.openxmlformats.org/drawingml/2006/main">
              <a:ext uri="{FF2B5EF4-FFF2-40B4-BE49-F238E27FC236}">
                <a16:creationId xmlns:a16="http://schemas.microsoft.com/office/drawing/2014/main" id="{BE21DD50-3940-4FF2-BAE5-B163517F22C6}"/>
              </a:ext>
            </a:extLst>
          </p:cNvPr>
          <p:cNvSpPr>
            <a:spLocks xmlns:a="http://schemas.openxmlformats.org/drawingml/2006/main" noGrp="1"/>
          </p:cNvSpPr>
          <p:nvPr/>
        </p:nvSpPr>
        <p:spPr>
          <a:xfrm xmlns:a="http://schemas.openxmlformats.org/drawingml/2006/main">
            <a:off x="3383280" y="2724912"/>
            <a:ext cx="2743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5B6B75"/>
                </a:solidFill>
                <a:latin typeface="Calibri"/>
                <a:ea typeface="Calibri"/>
                <a:cs typeface="Calibri"/>
              </a:rPr>
              <a:t>P(5 or more no-shows) — the tail is fat</a:t>
            </a:r>
            <a:endParaRPr sz="1150"/>
          </a:p>
        </p:txBody>
      </p:sp>
      <p:sp>
        <p:nvSpPr>
          <p:cNvPr id="12" name="Text 10">
            <a:extLst xmlns:a="http://schemas.openxmlformats.org/drawingml/2006/main">
              <a:ext uri="{FF2B5EF4-FFF2-40B4-BE49-F238E27FC236}">
                <a16:creationId xmlns:a16="http://schemas.microsoft.com/office/drawing/2014/main" id="{3446F926-58C0-4289-B349-1AF297D7764B}"/>
              </a:ext>
            </a:extLst>
          </p:cNvPr>
          <p:cNvSpPr>
            <a:spLocks xmlns:a="http://schemas.openxmlformats.org/drawingml/2006/main" noGrp="1"/>
          </p:cNvSpPr>
          <p:nvPr/>
        </p:nvSpPr>
        <p:spPr>
          <a:xfrm xmlns:a="http://schemas.openxmlformats.org/drawingml/2006/main">
            <a:off x="6263640" y="2066544"/>
            <a:ext cx="2743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0E7C86"/>
                </a:solidFill>
                <a:latin typeface="Cambria"/>
                <a:ea typeface="Cambria"/>
                <a:cs typeface="Cambria"/>
              </a:rPr>
              <a:t>+2</a:t>
            </a:r>
            <a:endParaRPr sz="4000"/>
          </a:p>
        </p:txBody>
      </p:sp>
      <p:sp>
        <p:nvSpPr>
          <p:cNvPr id="13" name="Text 11">
            <a:extLst xmlns:a="http://schemas.openxmlformats.org/drawingml/2006/main">
              <a:ext uri="{FF2B5EF4-FFF2-40B4-BE49-F238E27FC236}">
                <a16:creationId xmlns:a16="http://schemas.microsoft.com/office/drawing/2014/main" id="{C6A836C5-268E-47F1-8DB5-6A2B9FF31EE8}"/>
              </a:ext>
            </a:extLst>
          </p:cNvPr>
          <p:cNvSpPr>
            <a:spLocks xmlns:a="http://schemas.openxmlformats.org/drawingml/2006/main" noGrp="1"/>
          </p:cNvSpPr>
          <p:nvPr/>
        </p:nvSpPr>
        <p:spPr>
          <a:xfrm xmlns:a="http://schemas.openxmlformats.org/drawingml/2006/main">
            <a:off x="6263640" y="2724912"/>
            <a:ext cx="2743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5B6B75"/>
                </a:solidFill>
                <a:latin typeface="Calibri"/>
                <a:ea typeface="Calibri"/>
                <a:cs typeface="Calibri"/>
              </a:rPr>
              <a:t>largest safe overbook with P(overflow) ≤ 10%</a:t>
            </a:r>
            <a:endParaRPr sz="1150"/>
          </a:p>
        </p:txBody>
      </p:sp>
      <p:sp>
        <p:nvSpPr>
          <p:cNvPr id="14" name="Text 12">
            <a:extLst xmlns:a="http://schemas.openxmlformats.org/drawingml/2006/main">
              <a:ext uri="{FF2B5EF4-FFF2-40B4-BE49-F238E27FC236}">
                <a16:creationId xmlns:a16="http://schemas.microsoft.com/office/drawing/2014/main" id="{4EEE5FAC-C705-4007-BEF7-6DBA1BD48BAE}"/>
              </a:ext>
            </a:extLst>
          </p:cNvPr>
          <p:cNvSpPr>
            <a:spLocks xmlns:a="http://schemas.openxmlformats.org/drawingml/2006/main" noGrp="1"/>
          </p:cNvSpPr>
          <p:nvPr/>
        </p:nvSpPr>
        <p:spPr>
          <a:xfrm xmlns:a="http://schemas.openxmlformats.org/drawingml/2006/main">
            <a:off x="9052560" y="2066544"/>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C2660A"/>
                </a:solidFill>
                <a:latin typeface="Cambria"/>
                <a:ea typeface="Cambria"/>
                <a:cs typeface="Cambria"/>
              </a:rPr>
              <a:t>9.7%</a:t>
            </a:r>
            <a:endParaRPr sz="4000"/>
          </a:p>
        </p:txBody>
      </p:sp>
      <p:sp>
        <p:nvSpPr>
          <p:cNvPr id="15" name="Text 13">
            <a:extLst xmlns:a="http://schemas.openxmlformats.org/drawingml/2006/main">
              <a:ext uri="{FF2B5EF4-FFF2-40B4-BE49-F238E27FC236}">
                <a16:creationId xmlns:a16="http://schemas.microsoft.com/office/drawing/2014/main" id="{2AEC00D0-C6D4-4E3C-9DAB-D75BC1566725}"/>
              </a:ext>
            </a:extLst>
          </p:cNvPr>
          <p:cNvSpPr>
            <a:spLocks xmlns:a="http://schemas.openxmlformats.org/drawingml/2006/main" noGrp="1"/>
          </p:cNvSpPr>
          <p:nvPr/>
        </p:nvSpPr>
        <p:spPr>
          <a:xfrm xmlns:a="http://schemas.openxmlformats.org/drawingml/2006/main">
            <a:off x="9052560" y="2724912"/>
            <a:ext cx="26517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5B6B75"/>
                </a:solidFill>
                <a:latin typeface="Calibri"/>
                <a:ea typeface="Calibri"/>
                <a:cs typeface="Calibri"/>
              </a:rPr>
              <a:t>overflow risk at +2 (vs ~1 in 6 for the mean-based rule)</a:t>
            </a:r>
            <a:endParaRPr sz="1150"/>
          </a:p>
        </p:txBody>
      </p:sp>
      <p:sp>
        <p:nvSpPr>
          <p:cNvPr id="16" name="Shape 14">
            <a:extLst xmlns:a="http://schemas.openxmlformats.org/drawingml/2006/main">
              <a:ext uri="{FF2B5EF4-FFF2-40B4-BE49-F238E27FC236}">
                <a16:creationId xmlns:a16="http://schemas.microsoft.com/office/drawing/2014/main" id="{3DF894A9-544C-4E5A-9504-8BE4D6033C51}"/>
              </a:ext>
            </a:extLst>
          </p:cNvPr>
          <p:cNvSpPr>
            <a:spLocks xmlns:a="http://schemas.openxmlformats.org/drawingml/2006/main" noGrp="1"/>
          </p:cNvSpPr>
          <p:nvPr/>
        </p:nvSpPr>
        <p:spPr>
          <a:xfrm xmlns:a="http://schemas.openxmlformats.org/drawingml/2006/main">
            <a:off x="502920" y="3575304"/>
            <a:ext cx="6949440" cy="2743200"/>
          </a:xfrm>
          <a:prstGeom xmlns:a="http://schemas.openxmlformats.org/drawingml/2006/main" prst="roundRect">
            <a:avLst>
              <a:gd name="adj" fmla="val 3000"/>
            </a:avLst>
          </a:prstGeom>
          <a:solidFill xmlns:a="http://schemas.openxmlformats.org/drawingml/2006/main">
            <a:srgbClr val="F3F8F9"/>
          </a:solidFill>
        </p:spPr>
      </p:sp>
      <p:sp>
        <p:nvSpPr>
          <p:cNvPr id="17" name="Text 15">
            <a:extLst xmlns:a="http://schemas.openxmlformats.org/drawingml/2006/main">
              <a:ext uri="{FF2B5EF4-FFF2-40B4-BE49-F238E27FC236}">
                <a16:creationId xmlns:a16="http://schemas.microsoft.com/office/drawing/2014/main" id="{76C731CD-C550-4CDF-B207-FD9526BE0057}"/>
              </a:ext>
            </a:extLst>
          </p:cNvPr>
          <p:cNvSpPr>
            <a:spLocks xmlns:a="http://schemas.openxmlformats.org/drawingml/2006/main" noGrp="1"/>
          </p:cNvSpPr>
          <p:nvPr/>
        </p:nvSpPr>
        <p:spPr>
          <a:xfrm xmlns:a="http://schemas.openxmlformats.org/drawingml/2006/main">
            <a:off x="822960" y="3758184"/>
            <a:ext cx="6309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B3140"/>
                </a:solidFill>
                <a:latin typeface="Cambria"/>
                <a:ea typeface="Cambria"/>
                <a:cs typeface="Cambria"/>
              </a:rPr>
              <a:t>Decide from the CDF tail, not the mean</a:t>
            </a:r>
            <a:endParaRPr sz="1400"/>
          </a:p>
        </p:txBody>
      </p:sp>
      <p:sp>
        <p:nvSpPr>
          <p:cNvPr id="18" name="Text 16">
            <a:extLst xmlns:a="http://schemas.openxmlformats.org/drawingml/2006/main">
              <a:ext uri="{FF2B5EF4-FFF2-40B4-BE49-F238E27FC236}">
                <a16:creationId xmlns:a16="http://schemas.microsoft.com/office/drawing/2014/main" id="{3CE465B3-1F1C-4432-BA1C-20C48164577D}"/>
              </a:ext>
            </a:extLst>
          </p:cNvPr>
          <p:cNvSpPr>
            <a:spLocks xmlns:a="http://schemas.openxmlformats.org/drawingml/2006/main" noGrp="1"/>
          </p:cNvSpPr>
          <p:nvPr/>
        </p:nvSpPr>
        <p:spPr>
          <a:xfrm xmlns:a="http://schemas.openxmlformats.org/drawingml/2006/main">
            <a:off x="822960" y="4169664"/>
            <a:ext cx="640080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700"/>
              </a:spcAft>
              <a:buSzPct val="100000"/>
              <a:buChar char="•"/>
            </a:pPr>
            <a:r>
              <a:rPr sz="1180">
                <a:solidFill>
                  <a:srgbClr val="24313A"/>
                </a:solidFill>
                <a:latin typeface="Calibri"/>
                <a:ea typeface="Calibri"/>
                <a:cs typeface="Calibri"/>
              </a:rPr>
              <a:t>Book x extra patients; the session overflows when no-shows &lt; x</a:t>
            </a:r>
            <a:endParaRPr sz="1180"/>
          </a:p>
          <a:p xmlns:a="http://schemas.openxmlformats.org/drawingml/2006/main">
            <a:pPr marL="152400" indent="-152400">
              <a:lnSpc>
                <a:spcPct val="104000"/>
              </a:lnSpc>
              <a:spcAft>
                <a:spcPts val="700"/>
              </a:spcAft>
              <a:buSzPct val="100000"/>
              <a:buChar char="•"/>
            </a:pPr>
            <a:r>
              <a:rPr sz="1180">
                <a:solidFill>
                  <a:srgbClr val="24313A"/>
                </a:solidFill>
                <a:latin typeface="Calibri"/>
                <a:ea typeface="Calibri"/>
                <a:cs typeface="Calibri"/>
              </a:rPr>
              <a:t>Find the largest x with P(overflow) = CDF(x−1) ≤ 0.10 — a risk tolerance, not an average</a:t>
            </a:r>
            <a:endParaRPr sz="1180"/>
          </a:p>
          <a:p xmlns:a="http://schemas.openxmlformats.org/drawingml/2006/main">
            <a:pPr marL="152400" indent="-152400">
              <a:lnSpc>
                <a:spcPct val="104000"/>
              </a:lnSpc>
              <a:spcAft>
                <a:spcPts val="700"/>
              </a:spcAft>
              <a:buSzPct val="100000"/>
              <a:buChar char="•"/>
            </a:pPr>
            <a:r>
              <a:rPr sz="1180">
                <a:solidFill>
                  <a:srgbClr val="24313A"/>
                </a:solidFill>
                <a:latin typeface="Calibri"/>
                <a:ea typeface="Calibri"/>
                <a:cs typeface="Calibri"/>
              </a:rPr>
              <a:t>The "+ rounded average" rule matches the mean and still overflows ~1 session in 6, because no-shows have real variance</a:t>
            </a:r>
            <a:endParaRPr sz="1180"/>
          </a:p>
          <a:p xmlns:a="http://schemas.openxmlformats.org/drawingml/2006/main">
            <a:pPr marL="152400" indent="-152400">
              <a:lnSpc>
                <a:spcPct val="104000"/>
              </a:lnSpc>
              <a:spcAft>
                <a:spcPts val="700"/>
              </a:spcAft>
              <a:buSzPct val="100000"/>
              <a:buChar char="•"/>
            </a:pPr>
            <a:r>
              <a:rPr sz="1180" b="1">
                <a:solidFill>
                  <a:srgbClr val="0A5C64"/>
                </a:solidFill>
                <a:latin typeface="Calibri"/>
                <a:ea typeface="Calibri"/>
                <a:cs typeface="Calibri"/>
              </a:rPr>
              <a:t>The fix was not more data — it was using the whole distribution instead of a single number.</a:t>
            </a:r>
            <a:endParaRPr sz="1180"/>
          </a:p>
        </p:txBody>
      </p:sp>
      <p:sp>
        <p:nvSpPr>
          <p:cNvPr id="19" name="Shape 17">
            <a:extLst xmlns:a="http://schemas.openxmlformats.org/drawingml/2006/main">
              <a:ext uri="{FF2B5EF4-FFF2-40B4-BE49-F238E27FC236}">
                <a16:creationId xmlns:a16="http://schemas.microsoft.com/office/drawing/2014/main" id="{A0070AE2-58A4-4330-B56A-2B51A5FE071A}"/>
              </a:ext>
            </a:extLst>
          </p:cNvPr>
          <p:cNvSpPr>
            <a:spLocks xmlns:a="http://schemas.openxmlformats.org/drawingml/2006/main" noGrp="1"/>
          </p:cNvSpPr>
          <p:nvPr/>
        </p:nvSpPr>
        <p:spPr>
          <a:xfrm xmlns:a="http://schemas.openxmlformats.org/drawingml/2006/main">
            <a:off x="7635240" y="3575304"/>
            <a:ext cx="4023360" cy="2743200"/>
          </a:xfrm>
          <a:prstGeom xmlns:a="http://schemas.openxmlformats.org/drawingml/2006/main" prst="roundRect">
            <a:avLst>
              <a:gd name="adj" fmla="val 3000"/>
            </a:avLst>
          </a:prstGeom>
          <a:solidFill xmlns:a="http://schemas.openxmlformats.org/drawingml/2006/main">
            <a:srgbClr val="0B3140"/>
          </a:solidFill>
        </p:spPr>
      </p:sp>
      <p:sp>
        <p:nvSpPr>
          <p:cNvPr id="20" name="Text 18">
            <a:extLst xmlns:a="http://schemas.openxmlformats.org/drawingml/2006/main">
              <a:ext uri="{FF2B5EF4-FFF2-40B4-BE49-F238E27FC236}">
                <a16:creationId xmlns:a16="http://schemas.microsoft.com/office/drawing/2014/main" id="{5507A10A-4B4A-4A87-B11A-05ACACC80F00}"/>
              </a:ext>
            </a:extLst>
          </p:cNvPr>
          <p:cNvSpPr>
            <a:spLocks xmlns:a="http://schemas.openxmlformats.org/drawingml/2006/main" noGrp="1"/>
          </p:cNvSpPr>
          <p:nvPr/>
        </p:nvSpPr>
        <p:spPr>
          <a:xfrm xmlns:a="http://schemas.openxmlformats.org/drawingml/2006/main">
            <a:off x="7955280" y="3758184"/>
            <a:ext cx="3474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100">
                <a:solidFill>
                  <a:srgbClr val="6FB3BC"/>
                </a:solidFill>
                <a:latin typeface="Calibri"/>
                <a:ea typeface="Calibri"/>
                <a:cs typeface="Calibri"/>
              </a:rPr>
              <a:t>scipy in three lines</a:t>
            </a:r>
            <a:endParaRPr sz="1100"/>
          </a:p>
        </p:txBody>
      </p:sp>
      <p:sp>
        <p:nvSpPr>
          <p:cNvPr id="21" name="Text 19">
            <a:extLst xmlns:a="http://schemas.openxmlformats.org/drawingml/2006/main">
              <a:ext uri="{FF2B5EF4-FFF2-40B4-BE49-F238E27FC236}">
                <a16:creationId xmlns:a16="http://schemas.microsoft.com/office/drawing/2014/main" id="{E0D16876-2BED-452F-B1D8-92772B9FA71A}"/>
              </a:ext>
            </a:extLst>
          </p:cNvPr>
          <p:cNvSpPr>
            <a:spLocks xmlns:a="http://schemas.openxmlformats.org/drawingml/2006/main" noGrp="1"/>
          </p:cNvSpPr>
          <p:nvPr/>
        </p:nvSpPr>
        <p:spPr>
          <a:xfrm xmlns:a="http://schemas.openxmlformats.org/drawingml/2006/main">
            <a:off x="7955280" y="4123944"/>
            <a:ext cx="35204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100">
                <a:solidFill>
                  <a:srgbClr val="E8F1F2"/>
                </a:solidFill>
                <a:latin typeface="Courier New"/>
                <a:ea typeface="Courier New"/>
                <a:cs typeface="Courier New"/>
              </a:rPr>
              <a:t>ns = stats.binom(n=20, p=0.183)</a:t>
            </a:r>
            <a:endParaRPr sz="1100"/>
          </a:p>
          <a:p xmlns:a="http://schemas.openxmlformats.org/drawingml/2006/main">
            <a:pPr marL="0" indent="0">
              <a:lnSpc>
                <a:spcPct val="125000"/>
              </a:lnSpc>
              <a:buNone/>
            </a:pPr>
            <a:r>
              <a:rPr sz="1100">
                <a:solidFill>
                  <a:srgbClr val="E8F1F2"/>
                </a:solidFill>
                <a:latin typeface="Courier New"/>
                <a:ea typeface="Courier New"/>
                <a:cs typeface="Courier New"/>
              </a:rPr>
              <a:t>ns.sf(4)        # P(&gt;=5) = 0.297</a:t>
            </a:r>
            <a:endParaRPr sz="1100"/>
          </a:p>
          <a:p xmlns:a="http://schemas.openxmlformats.org/drawingml/2006/main">
            <a:pPr marL="0" indent="0">
              <a:lnSpc>
                <a:spcPct val="125000"/>
              </a:lnSpc>
              <a:buNone/>
            </a:pPr>
            <a:r>
              <a:rPr sz="1100">
                <a:solidFill>
                  <a:srgbClr val="E8F1F2"/>
                </a:solidFill>
                <a:latin typeface="Courier New"/>
                <a:ea typeface="Courier New"/>
                <a:cs typeface="Courier New"/>
              </a:rPr>
              <a:t>ns.cdf(1)       # P(overflow at +2)</a:t>
            </a:r>
            <a:endParaRPr sz="1100"/>
          </a:p>
        </p:txBody>
      </p:sp>
      <p:sp>
        <p:nvSpPr>
          <p:cNvPr id="22" name="Text 20">
            <a:extLst xmlns:a="http://schemas.openxmlformats.org/drawingml/2006/main">
              <a:ext uri="{FF2B5EF4-FFF2-40B4-BE49-F238E27FC236}">
                <a16:creationId xmlns:a16="http://schemas.microsoft.com/office/drawing/2014/main" id="{BBCA6FD7-F1C0-47C5-A126-84AE642E33F6}"/>
              </a:ext>
            </a:extLst>
          </p:cNvPr>
          <p:cNvSpPr>
            <a:spLocks xmlns:a="http://schemas.openxmlformats.org/drawingml/2006/main" noGrp="1"/>
          </p:cNvSpPr>
          <p:nvPr/>
        </p:nvSpPr>
        <p:spPr>
          <a:xfrm xmlns:a="http://schemas.openxmlformats.org/drawingml/2006/main">
            <a:off x="7955280" y="5266944"/>
            <a:ext cx="35204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50">
                <a:solidFill>
                  <a:srgbClr val="AECBD1"/>
                </a:solidFill>
                <a:latin typeface="Calibri"/>
                <a:ea typeface="Calibri"/>
                <a:cs typeface="Calibri"/>
              </a:rPr>
              <a:t>Deliverable artefact: a one-page per-clinic lookup table (clinic → recommended overbook), built from each clinic's own p̂ in Lab 1.</a:t>
            </a:r>
            <a:endParaRPr sz="1050"/>
          </a:p>
        </p:txBody>
      </p:sp>
    </p:spTree>
    <p:extLst>
      <p:ext uri="{BB962C8B-B14F-4D97-AF65-F5344CB8AC3E}">
        <p14:creationId xmlns:p14="http://schemas.microsoft.com/office/powerpoint/2010/main" val="200554459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0931ECD-2FD3-439C-AF35-D5B01A63F7D0}"/>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08DB9BFE-C4B8-48BE-8B2B-6EAF704F6B7E}"/>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16</a:t>
            </a:r>
            <a:endParaRPr sz="900"/>
          </a:p>
        </p:txBody>
      </p:sp>
      <p:sp>
        <p:nvSpPr>
          <p:cNvPr id="4" name="Shape 2">
            <a:extLst xmlns:a="http://schemas.openxmlformats.org/drawingml/2006/main">
              <a:ext uri="{FF2B5EF4-FFF2-40B4-BE49-F238E27FC236}">
                <a16:creationId xmlns:a16="http://schemas.microsoft.com/office/drawing/2014/main" id="{4ABD8E02-5357-4DEB-A51B-9F48B4A69B03}"/>
              </a:ext>
            </a:extLst>
          </p:cNvPr>
          <p:cNvSpPr>
            <a:spLocks xmlns:a="http://schemas.openxmlformats.org/drawingml/2006/main" noGrp="1"/>
          </p:cNvSpPr>
          <p:nvPr/>
        </p:nvSpPr>
        <p:spPr>
          <a:xfrm xmlns:a="http://schemas.openxmlformats.org/drawingml/2006/main">
            <a:off x="502920" y="384048"/>
            <a:ext cx="2096719" cy="292608"/>
          </a:xfrm>
          <a:prstGeom xmlns:a="http://schemas.openxmlformats.org/drawingml/2006/main" prst="roundRect">
            <a:avLst>
              <a:gd name="adj" fmla="val 50000"/>
            </a:avLst>
          </a:prstGeom>
          <a:solidFill xmlns:a="http://schemas.openxmlformats.org/drawingml/2006/main">
            <a:srgbClr val="0B3140"/>
          </a:solidFill>
        </p:spPr>
      </p:sp>
      <p:sp>
        <p:nvSpPr>
          <p:cNvPr id="5" name="Text 3">
            <a:extLst xmlns:a="http://schemas.openxmlformats.org/drawingml/2006/main">
              <a:ext uri="{FF2B5EF4-FFF2-40B4-BE49-F238E27FC236}">
                <a16:creationId xmlns:a16="http://schemas.microsoft.com/office/drawing/2014/main" id="{9769166B-5849-4EF4-9020-18C21C1F2E88}"/>
              </a:ext>
            </a:extLst>
          </p:cNvPr>
          <p:cNvSpPr>
            <a:spLocks xmlns:a="http://schemas.openxmlformats.org/drawingml/2006/main" noGrp="1"/>
          </p:cNvSpPr>
          <p:nvPr/>
        </p:nvSpPr>
        <p:spPr>
          <a:xfrm xmlns:a="http://schemas.openxmlformats.org/drawingml/2006/main">
            <a:off x="502920" y="384048"/>
            <a:ext cx="209671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1 · CASE STUDY</a:t>
            </a:r>
            <a:endParaRPr sz="1050"/>
          </a:p>
        </p:txBody>
      </p:sp>
      <p:sp>
        <p:nvSpPr>
          <p:cNvPr id="6" name="Text 4">
            <a:extLst xmlns:a="http://schemas.openxmlformats.org/drawingml/2006/main">
              <a:ext uri="{FF2B5EF4-FFF2-40B4-BE49-F238E27FC236}">
                <a16:creationId xmlns:a16="http://schemas.microsoft.com/office/drawing/2014/main" id="{FD7EE9B9-44EA-4A4E-86E3-A8AE4B881845}"/>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Overbooking policy at a Riyadh primary-care cluster</a:t>
            </a:r>
            <a:endParaRPr sz="2800"/>
          </a:p>
        </p:txBody>
      </p:sp>
      <p:sp>
        <p:nvSpPr>
          <p:cNvPr id="7" name="Shape 5">
            <a:extLst xmlns:a="http://schemas.openxmlformats.org/drawingml/2006/main">
              <a:ext uri="{FF2B5EF4-FFF2-40B4-BE49-F238E27FC236}">
                <a16:creationId xmlns:a16="http://schemas.microsoft.com/office/drawing/2014/main" id="{F8F85191-8510-44DC-A21E-1F7EBE2A6E09}"/>
              </a:ext>
            </a:extLst>
          </p:cNvPr>
          <p:cNvSpPr>
            <a:spLocks xmlns:a="http://schemas.openxmlformats.org/drawingml/2006/main" noGrp="1"/>
          </p:cNvSpPr>
          <p:nvPr/>
        </p:nvSpPr>
        <p:spPr>
          <a:xfrm xmlns:a="http://schemas.openxmlformats.org/drawingml/2006/main">
            <a:off x="502920" y="1545336"/>
            <a:ext cx="5532120" cy="2240280"/>
          </a:xfrm>
          <a:prstGeom xmlns:a="http://schemas.openxmlformats.org/drawingml/2006/main" prst="roundRect">
            <a:avLst>
              <a:gd name="adj" fmla="val 3673"/>
            </a:avLst>
          </a:prstGeom>
          <a:solidFill xmlns:a="http://schemas.openxmlformats.org/drawingml/2006/main">
            <a:srgbClr val="F3F8F9"/>
          </a:solidFill>
        </p:spPr>
      </p:sp>
      <p:sp>
        <p:nvSpPr>
          <p:cNvPr id="8" name="Shape 6">
            <a:extLst xmlns:a="http://schemas.openxmlformats.org/drawingml/2006/main">
              <a:ext uri="{FF2B5EF4-FFF2-40B4-BE49-F238E27FC236}">
                <a16:creationId xmlns:a16="http://schemas.microsoft.com/office/drawing/2014/main" id="{260D6567-0BA8-47BC-BA98-9AD97447D388}"/>
              </a:ext>
            </a:extLst>
          </p:cNvPr>
          <p:cNvSpPr>
            <a:spLocks xmlns:a="http://schemas.openxmlformats.org/drawingml/2006/main" noGrp="1"/>
          </p:cNvSpPr>
          <p:nvPr/>
        </p:nvSpPr>
        <p:spPr>
          <a:xfrm xmlns:a="http://schemas.openxmlformats.org/drawingml/2006/main">
            <a:off x="704088" y="1728216"/>
            <a:ext cx="384048" cy="384048"/>
          </a:xfrm>
          <a:prstGeom xmlns:a="http://schemas.openxmlformats.org/drawingml/2006/main" prst="ellipse">
            <a:avLst/>
          </a:prstGeom>
          <a:solidFill xmlns:a="http://schemas.openxmlformats.org/drawingml/2006/main">
            <a:srgbClr val="0B3140"/>
          </a:solidFill>
        </p:spPr>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e591da6174f7490c"/>
          <a:stretch xmlns:a="http://schemas.openxmlformats.org/drawingml/2006/main">
            <a:fillRect l="0" t="0" r="0" b="0"/>
          </a:stretch>
        </p:blipFill>
        <p:spPr>
          <a:xfrm xmlns:a="http://schemas.openxmlformats.org/drawingml/2006/main">
            <a:off x="803940" y="1828068"/>
            <a:ext cx="184343" cy="184343"/>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78AAA7B0-11F2-4B45-A1E3-89D995958A94}"/>
              </a:ext>
            </a:extLst>
          </p:cNvPr>
          <p:cNvSpPr>
            <a:spLocks xmlns:a="http://schemas.openxmlformats.org/drawingml/2006/main" noGrp="1"/>
          </p:cNvSpPr>
          <p:nvPr/>
        </p:nvSpPr>
        <p:spPr>
          <a:xfrm xmlns:a="http://schemas.openxmlformats.org/drawingml/2006/main">
            <a:off x="1216152" y="1764792"/>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Scenario</a:t>
            </a:r>
            <a:endParaRPr sz="1350"/>
          </a:p>
        </p:txBody>
      </p:sp>
      <p:sp>
        <p:nvSpPr>
          <p:cNvPr id="11" name="Text 8">
            <a:extLst xmlns:a="http://schemas.openxmlformats.org/drawingml/2006/main">
              <a:ext uri="{FF2B5EF4-FFF2-40B4-BE49-F238E27FC236}">
                <a16:creationId xmlns:a16="http://schemas.microsoft.com/office/drawing/2014/main" id="{BF1B73F3-8FF6-406B-9497-E6AEA2E7CAAE}"/>
              </a:ext>
            </a:extLst>
          </p:cNvPr>
          <p:cNvSpPr>
            <a:spLocks xmlns:a="http://schemas.openxmlformats.org/drawingml/2006/main" noGrp="1"/>
          </p:cNvSpPr>
          <p:nvPr/>
        </p:nvSpPr>
        <p:spPr>
          <a:xfrm xmlns:a="http://schemas.openxmlformats.org/drawingml/2006/main">
            <a:off x="758952" y="2203704"/>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24313A"/>
                </a:solidFill>
                <a:latin typeface="Calibri"/>
                <a:ea typeface="Calibri"/>
                <a:cs typeface="Calibri"/>
              </a:rPr>
              <a:t>Eight clinics run 20-slot morning sessions. Management overbooks by the rounded average no-show count — and keeps getting burned by overflow days: patients arriving to find no capacity, staff overtime, complaints.</a:t>
            </a:r>
            <a:endParaRPr sz="1100"/>
          </a:p>
        </p:txBody>
      </p:sp>
      <p:sp>
        <p:nvSpPr>
          <p:cNvPr id="12" name="Shape 9">
            <a:extLst xmlns:a="http://schemas.openxmlformats.org/drawingml/2006/main">
              <a:ext uri="{FF2B5EF4-FFF2-40B4-BE49-F238E27FC236}">
                <a16:creationId xmlns:a16="http://schemas.microsoft.com/office/drawing/2014/main" id="{B3688DD0-415F-4EB2-BF3A-F7962547AD1E}"/>
              </a:ext>
            </a:extLst>
          </p:cNvPr>
          <p:cNvSpPr>
            <a:spLocks xmlns:a="http://schemas.openxmlformats.org/drawingml/2006/main" noGrp="1"/>
          </p:cNvSpPr>
          <p:nvPr/>
        </p:nvSpPr>
        <p:spPr>
          <a:xfrm xmlns:a="http://schemas.openxmlformats.org/drawingml/2006/main">
            <a:off x="6199632" y="1545336"/>
            <a:ext cx="5532120" cy="2240280"/>
          </a:xfrm>
          <a:prstGeom xmlns:a="http://schemas.openxmlformats.org/drawingml/2006/main" prst="roundRect">
            <a:avLst>
              <a:gd name="adj" fmla="val 3673"/>
            </a:avLst>
          </a:prstGeom>
          <a:solidFill xmlns:a="http://schemas.openxmlformats.org/drawingml/2006/main">
            <a:srgbClr val="FBEEDD"/>
          </a:solidFill>
        </p:spPr>
      </p:sp>
      <p:sp>
        <p:nvSpPr>
          <p:cNvPr id="13" name="Shape 10">
            <a:extLst xmlns:a="http://schemas.openxmlformats.org/drawingml/2006/main">
              <a:ext uri="{FF2B5EF4-FFF2-40B4-BE49-F238E27FC236}">
                <a16:creationId xmlns:a16="http://schemas.microsoft.com/office/drawing/2014/main" id="{79C47000-C2A6-48E9-BF5A-5F3284834427}"/>
              </a:ext>
            </a:extLst>
          </p:cNvPr>
          <p:cNvSpPr>
            <a:spLocks xmlns:a="http://schemas.openxmlformats.org/drawingml/2006/main" noGrp="1"/>
          </p:cNvSpPr>
          <p:nvPr/>
        </p:nvSpPr>
        <p:spPr>
          <a:xfrm xmlns:a="http://schemas.openxmlformats.org/drawingml/2006/main">
            <a:off x="6400800" y="1728216"/>
            <a:ext cx="384048" cy="384048"/>
          </a:xfrm>
          <a:prstGeom xmlns:a="http://schemas.openxmlformats.org/drawingml/2006/main" prst="ellipse">
            <a:avLst/>
          </a:prstGeom>
          <a:solidFill xmlns:a="http://schemas.openxmlformats.org/drawingml/2006/main">
            <a:srgbClr val="C2660A"/>
          </a:solidFill>
        </p:spPr>
      </p:sp>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f43000bc7f1a48b0"/>
          <a:stretch xmlns:a="http://schemas.openxmlformats.org/drawingml/2006/main">
            <a:fillRect l="0" t="0" r="0" b="0"/>
          </a:stretch>
        </p:blipFill>
        <p:spPr>
          <a:xfrm xmlns:a="http://schemas.openxmlformats.org/drawingml/2006/main">
            <a:off x="6500652" y="1828068"/>
            <a:ext cx="184343" cy="184343"/>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FC65C4BF-4A58-43B6-8A3E-136DD02875A9}"/>
              </a:ext>
            </a:extLst>
          </p:cNvPr>
          <p:cNvSpPr>
            <a:spLocks xmlns:a="http://schemas.openxmlformats.org/drawingml/2006/main" noGrp="1"/>
          </p:cNvSpPr>
          <p:nvPr/>
        </p:nvSpPr>
        <p:spPr>
          <a:xfrm xmlns:a="http://schemas.openxmlformats.org/drawingml/2006/main">
            <a:off x="6912864" y="1764792"/>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The technical challenge</a:t>
            </a:r>
            <a:endParaRPr sz="1350"/>
          </a:p>
        </p:txBody>
      </p:sp>
      <p:sp>
        <p:nvSpPr>
          <p:cNvPr id="16" name="Text 12">
            <a:extLst xmlns:a="http://schemas.openxmlformats.org/drawingml/2006/main">
              <a:ext uri="{FF2B5EF4-FFF2-40B4-BE49-F238E27FC236}">
                <a16:creationId xmlns:a16="http://schemas.microsoft.com/office/drawing/2014/main" id="{034E15E0-A121-42B0-BF82-107CAB30AF36}"/>
              </a:ext>
            </a:extLst>
          </p:cNvPr>
          <p:cNvSpPr>
            <a:spLocks xmlns:a="http://schemas.openxmlformats.org/drawingml/2006/main" noGrp="1"/>
          </p:cNvSpPr>
          <p:nvPr/>
        </p:nvSpPr>
        <p:spPr>
          <a:xfrm xmlns:a="http://schemas.openxmlformats.org/drawingml/2006/main">
            <a:off x="6455664" y="2203704"/>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24313A"/>
                </a:solidFill>
                <a:latin typeface="Calibri"/>
                <a:ea typeface="Calibri"/>
                <a:cs typeface="Calibri"/>
              </a:rPr>
              <a:t>Choose an overbooking level that respects a stated risk tolerance — P(overflow) ≤ 10% — rather than optimising the average. Constraints: p varies by clinic (0.12–0.26), chronic-illness sessions no-show less, and the policy must be explainable to non-statisticians.</a:t>
            </a:r>
            <a:endParaRPr sz="1100"/>
          </a:p>
        </p:txBody>
      </p:sp>
      <p:sp>
        <p:nvSpPr>
          <p:cNvPr id="17" name="Shape 13">
            <a:extLst xmlns:a="http://schemas.openxmlformats.org/drawingml/2006/main">
              <a:ext uri="{FF2B5EF4-FFF2-40B4-BE49-F238E27FC236}">
                <a16:creationId xmlns:a16="http://schemas.microsoft.com/office/drawing/2014/main" id="{5B0744AE-EE58-429B-92A8-F286D69C3624}"/>
              </a:ext>
            </a:extLst>
          </p:cNvPr>
          <p:cNvSpPr>
            <a:spLocks xmlns:a="http://schemas.openxmlformats.org/drawingml/2006/main" noGrp="1"/>
          </p:cNvSpPr>
          <p:nvPr/>
        </p:nvSpPr>
        <p:spPr>
          <a:xfrm xmlns:a="http://schemas.openxmlformats.org/drawingml/2006/main">
            <a:off x="502920" y="3950208"/>
            <a:ext cx="5532120" cy="2240280"/>
          </a:xfrm>
          <a:prstGeom xmlns:a="http://schemas.openxmlformats.org/drawingml/2006/main" prst="roundRect">
            <a:avLst>
              <a:gd name="adj" fmla="val 3673"/>
            </a:avLst>
          </a:prstGeom>
          <a:solidFill xmlns:a="http://schemas.openxmlformats.org/drawingml/2006/main">
            <a:srgbClr val="E7F2F3"/>
          </a:solidFill>
        </p:spPr>
      </p:sp>
      <p:sp>
        <p:nvSpPr>
          <p:cNvPr id="18" name="Shape 14">
            <a:extLst xmlns:a="http://schemas.openxmlformats.org/drawingml/2006/main">
              <a:ext uri="{FF2B5EF4-FFF2-40B4-BE49-F238E27FC236}">
                <a16:creationId xmlns:a16="http://schemas.microsoft.com/office/drawing/2014/main" id="{B9571CE6-97CB-4BDF-B603-80A6E3DC43B6}"/>
              </a:ext>
            </a:extLst>
          </p:cNvPr>
          <p:cNvSpPr>
            <a:spLocks xmlns:a="http://schemas.openxmlformats.org/drawingml/2006/main" noGrp="1"/>
          </p:cNvSpPr>
          <p:nvPr/>
        </p:nvSpPr>
        <p:spPr>
          <a:xfrm xmlns:a="http://schemas.openxmlformats.org/drawingml/2006/main">
            <a:off x="704088" y="4133088"/>
            <a:ext cx="384048" cy="384048"/>
          </a:xfrm>
          <a:prstGeom xmlns:a="http://schemas.openxmlformats.org/drawingml/2006/main" prst="ellipse">
            <a:avLst/>
          </a:prstGeom>
          <a:solidFill xmlns:a="http://schemas.openxmlformats.org/drawingml/2006/main">
            <a:srgbClr val="0A5C64"/>
          </a:solidFill>
        </p:spPr>
      </p:sp>
      <p:pic>
        <p:nvPicPr>
          <p:cNvPr id="48" name="Image 2"/>
          <p:cNvPicPr>
            <a:picLocks xmlns:a="http://schemas.openxmlformats.org/drawingml/2006/main" noChangeAspect="1"/>
          </p:cNvPicPr>
          <p:nvPr/>
        </p:nvPicPr>
        <p:blipFill>
          <a:blip xmlns:r="http://schemas.openxmlformats.org/officeDocument/2006/relationships" xmlns:a="http://schemas.openxmlformats.org/drawingml/2006/main" r:embed="R5b55804e018e4bd5"/>
          <a:stretch xmlns:a="http://schemas.openxmlformats.org/drawingml/2006/main">
            <a:fillRect l="0" t="0" r="0" b="0"/>
          </a:stretch>
        </p:blipFill>
        <p:spPr>
          <a:xfrm xmlns:a="http://schemas.openxmlformats.org/drawingml/2006/main">
            <a:off x="803940" y="4232940"/>
            <a:ext cx="184343" cy="184343"/>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659CD639-6F65-4361-84EE-508F8E163DAC}"/>
              </a:ext>
            </a:extLst>
          </p:cNvPr>
          <p:cNvSpPr>
            <a:spLocks xmlns:a="http://schemas.openxmlformats.org/drawingml/2006/main" noGrp="1"/>
          </p:cNvSpPr>
          <p:nvPr/>
        </p:nvSpPr>
        <p:spPr>
          <a:xfrm xmlns:a="http://schemas.openxmlformats.org/drawingml/2006/main">
            <a:off x="1216152" y="4169664"/>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Solution approach (facilitate, don't lecture)</a:t>
            </a:r>
            <a:endParaRPr sz="1350"/>
          </a:p>
        </p:txBody>
      </p:sp>
      <p:sp>
        <p:nvSpPr>
          <p:cNvPr id="21" name="Text 16">
            <a:extLst xmlns:a="http://schemas.openxmlformats.org/drawingml/2006/main">
              <a:ext uri="{FF2B5EF4-FFF2-40B4-BE49-F238E27FC236}">
                <a16:creationId xmlns:a16="http://schemas.microsoft.com/office/drawing/2014/main" id="{B5C6AAA1-085C-4A9A-8985-6EBA9EDA7048}"/>
              </a:ext>
            </a:extLst>
          </p:cNvPr>
          <p:cNvSpPr>
            <a:spLocks xmlns:a="http://schemas.openxmlformats.org/drawingml/2006/main" noGrp="1"/>
          </p:cNvSpPr>
          <p:nvPr/>
        </p:nvSpPr>
        <p:spPr>
          <a:xfrm xmlns:a="http://schemas.openxmlformats.org/drawingml/2006/main">
            <a:off x="758952" y="4608576"/>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Estimate p per clinic  →  model empty slots as Binomial(20, p)</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Pick the overbook level from the CDF at the 10% tail</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Show the average-based policy's true overflow risk for contrast</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Present as a one-page lookup table: clinic → recommended overbook</a:t>
            </a:r>
            <a:endParaRPr sz="1080"/>
          </a:p>
        </p:txBody>
      </p:sp>
      <p:sp>
        <p:nvSpPr>
          <p:cNvPr id="22" name="Shape 17">
            <a:extLst xmlns:a="http://schemas.openxmlformats.org/drawingml/2006/main">
              <a:ext uri="{FF2B5EF4-FFF2-40B4-BE49-F238E27FC236}">
                <a16:creationId xmlns:a16="http://schemas.microsoft.com/office/drawing/2014/main" id="{0DFA8B9C-BE92-430B-A5DB-AE07AA8E7EA5}"/>
              </a:ext>
            </a:extLst>
          </p:cNvPr>
          <p:cNvSpPr>
            <a:spLocks xmlns:a="http://schemas.openxmlformats.org/drawingml/2006/main" noGrp="1"/>
          </p:cNvSpPr>
          <p:nvPr/>
        </p:nvSpPr>
        <p:spPr>
          <a:xfrm xmlns:a="http://schemas.openxmlformats.org/drawingml/2006/main">
            <a:off x="6199632" y="3950208"/>
            <a:ext cx="5532120" cy="2240280"/>
          </a:xfrm>
          <a:prstGeom xmlns:a="http://schemas.openxmlformats.org/drawingml/2006/main" prst="roundRect">
            <a:avLst>
              <a:gd name="adj" fmla="val 3673"/>
            </a:avLst>
          </a:prstGeom>
          <a:solidFill xmlns:a="http://schemas.openxmlformats.org/drawingml/2006/main">
            <a:srgbClr val="F3F8F9"/>
          </a:solidFill>
        </p:spPr>
      </p:sp>
      <p:sp>
        <p:nvSpPr>
          <p:cNvPr id="23" name="Shape 18">
            <a:extLst xmlns:a="http://schemas.openxmlformats.org/drawingml/2006/main">
              <a:ext uri="{FF2B5EF4-FFF2-40B4-BE49-F238E27FC236}">
                <a16:creationId xmlns:a16="http://schemas.microsoft.com/office/drawing/2014/main" id="{7AEBC954-8BE0-4728-AB21-B77722A9189E}"/>
              </a:ext>
            </a:extLst>
          </p:cNvPr>
          <p:cNvSpPr>
            <a:spLocks xmlns:a="http://schemas.openxmlformats.org/drawingml/2006/main" noGrp="1"/>
          </p:cNvSpPr>
          <p:nvPr/>
        </p:nvSpPr>
        <p:spPr>
          <a:xfrm xmlns:a="http://schemas.openxmlformats.org/drawingml/2006/main">
            <a:off x="6400800" y="4133088"/>
            <a:ext cx="384048" cy="384048"/>
          </a:xfrm>
          <a:prstGeom xmlns:a="http://schemas.openxmlformats.org/drawingml/2006/main" prst="ellipse">
            <a:avLst/>
          </a:prstGeom>
          <a:solidFill xmlns:a="http://schemas.openxmlformats.org/drawingml/2006/main">
            <a:srgbClr val="0B3140"/>
          </a:solidFill>
        </p:spPr>
      </p:sp>
      <p:pic>
        <p:nvPicPr>
          <p:cNvPr id="53" name="Image 3"/>
          <p:cNvPicPr>
            <a:picLocks xmlns:a="http://schemas.openxmlformats.org/drawingml/2006/main" noChangeAspect="1"/>
          </p:cNvPicPr>
          <p:nvPr/>
        </p:nvPicPr>
        <p:blipFill>
          <a:blip xmlns:r="http://schemas.openxmlformats.org/officeDocument/2006/relationships" xmlns:a="http://schemas.openxmlformats.org/drawingml/2006/main" r:embed="R5904e84683a8420b"/>
          <a:stretch xmlns:a="http://schemas.openxmlformats.org/drawingml/2006/main">
            <a:fillRect l="0" t="0" r="0" b="0"/>
          </a:stretch>
        </p:blipFill>
        <p:spPr>
          <a:xfrm xmlns:a="http://schemas.openxmlformats.org/drawingml/2006/main">
            <a:off x="6500652" y="4232940"/>
            <a:ext cx="184343" cy="184343"/>
          </a:xfrm>
          <a:prstGeom xmlns:a="http://schemas.openxmlformats.org/drawingml/2006/main" prst="rect">
            <a:avLst/>
          </a:prstGeom>
        </p:spPr>
      </p:pic>
      <p:sp>
        <p:nvSpPr>
          <p:cNvPr id="25" name="Text 19">
            <a:extLst xmlns:a="http://schemas.openxmlformats.org/drawingml/2006/main">
              <a:ext uri="{FF2B5EF4-FFF2-40B4-BE49-F238E27FC236}">
                <a16:creationId xmlns:a16="http://schemas.microsoft.com/office/drawing/2014/main" id="{28829941-6FA2-47F3-B8C7-CE5F081D0978}"/>
              </a:ext>
            </a:extLst>
          </p:cNvPr>
          <p:cNvSpPr>
            <a:spLocks xmlns:a="http://schemas.openxmlformats.org/drawingml/2006/main" noGrp="1"/>
          </p:cNvSpPr>
          <p:nvPr/>
        </p:nvSpPr>
        <p:spPr>
          <a:xfrm xmlns:a="http://schemas.openxmlformats.org/drawingml/2006/main">
            <a:off x="6912864" y="4169664"/>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Discussion</a:t>
            </a:r>
            <a:endParaRPr sz="1350"/>
          </a:p>
        </p:txBody>
      </p:sp>
      <p:sp>
        <p:nvSpPr>
          <p:cNvPr id="26" name="Text 20">
            <a:extLst xmlns:a="http://schemas.openxmlformats.org/drawingml/2006/main">
              <a:ext uri="{FF2B5EF4-FFF2-40B4-BE49-F238E27FC236}">
                <a16:creationId xmlns:a16="http://schemas.microsoft.com/office/drawing/2014/main" id="{47AE0DD8-F36E-46CF-849D-99CB695DAF8B}"/>
              </a:ext>
            </a:extLst>
          </p:cNvPr>
          <p:cNvSpPr>
            <a:spLocks xmlns:a="http://schemas.openxmlformats.org/drawingml/2006/main" noGrp="1"/>
          </p:cNvSpPr>
          <p:nvPr/>
        </p:nvSpPr>
        <p:spPr>
          <a:xfrm xmlns:a="http://schemas.openxmlformats.org/drawingml/2006/main">
            <a:off x="6455664" y="4608576"/>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Why does the mean-based policy overflow so often despite "matching the average"?</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How do you communicate a probabilistic policy to staff who want one number?</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What breaks if no-shows within a session are NOT independent (a delayed bus affects many)?</a:t>
            </a:r>
            <a:endParaRPr sz="1080"/>
          </a:p>
        </p:txBody>
      </p:sp>
    </p:spTree>
    <p:extLst>
      <p:ext uri="{BB962C8B-B14F-4D97-AF65-F5344CB8AC3E}">
        <p14:creationId xmlns:p14="http://schemas.microsoft.com/office/powerpoint/2010/main" val="85850780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3FD5B7E-969A-4E49-AA87-2879FE3ABC40}"/>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AD2BEBBE-BD32-424E-914E-7556FB1BCB68}"/>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17</a:t>
            </a:r>
            <a:endParaRPr sz="900"/>
          </a:p>
        </p:txBody>
      </p:sp>
      <p:sp>
        <p:nvSpPr>
          <p:cNvPr id="4" name="Shape 2">
            <a:extLst xmlns:a="http://schemas.openxmlformats.org/drawingml/2006/main">
              <a:ext uri="{FF2B5EF4-FFF2-40B4-BE49-F238E27FC236}">
                <a16:creationId xmlns:a16="http://schemas.microsoft.com/office/drawing/2014/main" id="{D1BD3D00-DD2E-4989-86D4-8DAB143E8C81}"/>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oundRect">
            <a:avLst>
              <a:gd name="adj" fmla="val 50000"/>
            </a:avLst>
          </a:prstGeom>
          <a:solidFill xmlns:a="http://schemas.openxmlformats.org/drawingml/2006/main">
            <a:srgbClr val="C2660A"/>
          </a:solidFill>
        </p:spPr>
      </p:sp>
      <p:sp>
        <p:nvSpPr>
          <p:cNvPr id="5" name="Text 3">
            <a:extLst xmlns:a="http://schemas.openxmlformats.org/drawingml/2006/main">
              <a:ext uri="{FF2B5EF4-FFF2-40B4-BE49-F238E27FC236}">
                <a16:creationId xmlns:a16="http://schemas.microsoft.com/office/drawing/2014/main" id="{E2BDC2BD-3625-4C4D-B909-47451D5CE8DE}"/>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1 · HANDS-ON</a:t>
            </a:r>
            <a:endParaRPr sz="1050"/>
          </a:p>
        </p:txBody>
      </p:sp>
      <p:sp>
        <p:nvSpPr>
          <p:cNvPr id="6" name="Text 4">
            <a:extLst xmlns:a="http://schemas.openxmlformats.org/drawingml/2006/main">
              <a:ext uri="{FF2B5EF4-FFF2-40B4-BE49-F238E27FC236}">
                <a16:creationId xmlns:a16="http://schemas.microsoft.com/office/drawing/2014/main" id="{27CE6DD4-6E5F-4D23-AE83-0812E3FB04AB}"/>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Lab 1 — Model no-shows and wait times</a:t>
            </a:r>
            <a:endParaRPr sz="2800"/>
          </a:p>
        </p:txBody>
      </p:sp>
      <p:sp>
        <p:nvSpPr>
          <p:cNvPr id="7" name="Text 5">
            <a:extLst xmlns:a="http://schemas.openxmlformats.org/drawingml/2006/main">
              <a:ext uri="{FF2B5EF4-FFF2-40B4-BE49-F238E27FC236}">
                <a16:creationId xmlns:a16="http://schemas.microsoft.com/office/drawing/2014/main" id="{EBE7B81F-F981-451F-9711-8442BCB8D34D}"/>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50 minutes · pairs · data/clinic_visits.csv · lab1_start.ipynb</a:t>
            </a:r>
            <a:endParaRPr sz="1350"/>
          </a:p>
        </p:txBody>
      </p:sp>
      <p:sp>
        <p:nvSpPr>
          <p:cNvPr id="8" name="Shape 6">
            <a:extLst xmlns:a="http://schemas.openxmlformats.org/drawingml/2006/main">
              <a:ext uri="{FF2B5EF4-FFF2-40B4-BE49-F238E27FC236}">
                <a16:creationId xmlns:a16="http://schemas.microsoft.com/office/drawing/2014/main" id="{0563BD0B-932E-407A-B8E9-9A090500169F}"/>
              </a:ext>
            </a:extLst>
          </p:cNvPr>
          <p:cNvSpPr>
            <a:spLocks xmlns:a="http://schemas.openxmlformats.org/drawingml/2006/main" noGrp="1"/>
          </p:cNvSpPr>
          <p:nvPr/>
        </p:nvSpPr>
        <p:spPr>
          <a:xfrm xmlns:a="http://schemas.openxmlformats.org/drawingml/2006/main">
            <a:off x="502920" y="1792224"/>
            <a:ext cx="6858000" cy="4709160"/>
          </a:xfrm>
          <a:prstGeom xmlns:a="http://schemas.openxmlformats.org/drawingml/2006/main" prst="roundRect">
            <a:avLst>
              <a:gd name="adj" fmla="val 1748"/>
            </a:avLst>
          </a:prstGeom>
          <a:solidFill xmlns:a="http://schemas.openxmlformats.org/drawingml/2006/main">
            <a:srgbClr val="FFFFFF"/>
          </a:solidFill>
          <a:ln xmlns:a="http://schemas.openxmlformats.org/drawingml/2006/main" w="12700">
            <a:solidFill>
              <a:srgbClr val="D6E2E4"/>
            </a:solidFill>
            <a:prstDash val="solid"/>
          </a:ln>
        </p:spPr>
      </p:sp>
      <p:sp>
        <p:nvSpPr>
          <p:cNvPr id="9" name="Text 7">
            <a:extLst xmlns:a="http://schemas.openxmlformats.org/drawingml/2006/main">
              <a:ext uri="{FF2B5EF4-FFF2-40B4-BE49-F238E27FC236}">
                <a16:creationId xmlns:a16="http://schemas.microsoft.com/office/drawing/2014/main" id="{D9B019D9-4E0F-40A9-BD81-8201D978FA81}"/>
              </a:ext>
            </a:extLst>
          </p:cNvPr>
          <p:cNvSpPr>
            <a:spLocks xmlns:a="http://schemas.openxmlformats.org/drawingml/2006/main" noGrp="1"/>
          </p:cNvSpPr>
          <p:nvPr/>
        </p:nvSpPr>
        <p:spPr>
          <a:xfrm xmlns:a="http://schemas.openxmlformats.org/drawingml/2006/main">
            <a:off x="822960" y="1975104"/>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B3140"/>
                </a:solidFill>
                <a:latin typeface="Cambria"/>
                <a:ea typeface="Cambria"/>
                <a:cs typeface="Cambria"/>
              </a:rPr>
              <a:t>Tasks</a:t>
            </a:r>
            <a:endParaRPr sz="1400"/>
          </a:p>
        </p:txBody>
      </p:sp>
      <p:sp>
        <p:nvSpPr>
          <p:cNvPr id="10" name="Text 8">
            <a:extLst xmlns:a="http://schemas.openxmlformats.org/drawingml/2006/main">
              <a:ext uri="{FF2B5EF4-FFF2-40B4-BE49-F238E27FC236}">
                <a16:creationId xmlns:a16="http://schemas.microsoft.com/office/drawing/2014/main" id="{A136EE6B-A523-40EC-AE41-38F6B887848C}"/>
              </a:ext>
            </a:extLst>
          </p:cNvPr>
          <p:cNvSpPr>
            <a:spLocks xmlns:a="http://schemas.openxmlformats.org/drawingml/2006/main" noGrp="1"/>
          </p:cNvSpPr>
          <p:nvPr/>
        </p:nvSpPr>
        <p:spPr>
          <a:xfrm xmlns:a="http://schemas.openxmlformats.org/drawingml/2006/main">
            <a:off x="822960" y="2386584"/>
            <a:ext cx="6309360"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(5’) Load the data; report p̂ and mean / median / std of wait_time_min — note mean &gt; median</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(10’) Model per-session no-shows as Binomial(20, p̂): compute P(≥ 5) and the largest safe overbook with P(overflow) ≤ 0.10</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(15’) Fit lognormal AND normal to wait times; overlay both on the histogram; judge the tail with a KS test + Q–Q plot</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(10’) Bayes update: PPV at sensitivity 0.85 / specificity 0.80, then again for a high-risk subgroup (prior 0.35)</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(5’) Compute P(no-show | prior_no_shows ≥ 1) empirically and compare to the marginal rate</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(5’) Three-sentence conclusion: which model for wait time, and your overbooking recommendation</a:t>
            </a:r>
            <a:endParaRPr sz="1150"/>
          </a:p>
        </p:txBody>
      </p:sp>
      <p:sp>
        <p:nvSpPr>
          <p:cNvPr id="11" name="Shape 9">
            <a:extLst xmlns:a="http://schemas.openxmlformats.org/drawingml/2006/main">
              <a:ext uri="{FF2B5EF4-FFF2-40B4-BE49-F238E27FC236}">
                <a16:creationId xmlns:a16="http://schemas.microsoft.com/office/drawing/2014/main" id="{9456B06B-6F85-48EF-A468-5D74907911F5}"/>
              </a:ext>
            </a:extLst>
          </p:cNvPr>
          <p:cNvSpPr>
            <a:spLocks xmlns:a="http://schemas.openxmlformats.org/drawingml/2006/main" noGrp="1"/>
          </p:cNvSpPr>
          <p:nvPr/>
        </p:nvSpPr>
        <p:spPr>
          <a:xfrm xmlns:a="http://schemas.openxmlformats.org/drawingml/2006/main">
            <a:off x="7635240" y="1792224"/>
            <a:ext cx="4023360" cy="4709160"/>
          </a:xfrm>
          <a:prstGeom xmlns:a="http://schemas.openxmlformats.org/drawingml/2006/main" prst="roundRect">
            <a:avLst>
              <a:gd name="adj" fmla="val 2045"/>
            </a:avLst>
          </a:prstGeom>
          <a:solidFill xmlns:a="http://schemas.openxmlformats.org/drawingml/2006/main">
            <a:srgbClr val="E7F2F3"/>
          </a:solidFill>
        </p:spPr>
      </p:sp>
      <p:sp>
        <p:nvSpPr>
          <p:cNvPr id="12" name="Text 10">
            <a:extLst xmlns:a="http://schemas.openxmlformats.org/drawingml/2006/main">
              <a:ext uri="{FF2B5EF4-FFF2-40B4-BE49-F238E27FC236}">
                <a16:creationId xmlns:a16="http://schemas.microsoft.com/office/drawing/2014/main" id="{55FA2BDD-CDC4-4097-AD44-D7009FA44BED}"/>
              </a:ext>
            </a:extLst>
          </p:cNvPr>
          <p:cNvSpPr>
            <a:spLocks xmlns:a="http://schemas.openxmlformats.org/drawingml/2006/main" noGrp="1"/>
          </p:cNvSpPr>
          <p:nvPr/>
        </p:nvSpPr>
        <p:spPr>
          <a:xfrm xmlns:a="http://schemas.openxmlformats.org/drawingml/2006/main">
            <a:off x="7955280" y="1975104"/>
            <a:ext cx="3474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A5C64"/>
                </a:solidFill>
                <a:latin typeface="Cambria"/>
                <a:ea typeface="Cambria"/>
                <a:cs typeface="Cambria"/>
              </a:rPr>
              <a:t>Checkpoint outputs</a:t>
            </a:r>
            <a:endParaRPr sz="1400"/>
          </a:p>
        </p:txBody>
      </p:sp>
      <p:sp>
        <p:nvSpPr>
          <p:cNvPr id="13" name="Text 11">
            <a:extLst xmlns:a="http://schemas.openxmlformats.org/drawingml/2006/main">
              <a:ext uri="{FF2B5EF4-FFF2-40B4-BE49-F238E27FC236}">
                <a16:creationId xmlns:a16="http://schemas.microsoft.com/office/drawing/2014/main" id="{F6A2B73F-2F57-45A9-B917-9EBDA7AB323C}"/>
              </a:ext>
            </a:extLst>
          </p:cNvPr>
          <p:cNvSpPr>
            <a:spLocks xmlns:a="http://schemas.openxmlformats.org/drawingml/2006/main" noGrp="1"/>
          </p:cNvSpPr>
          <p:nvPr/>
        </p:nvSpPr>
        <p:spPr>
          <a:xfrm xmlns:a="http://schemas.openxmlformats.org/drawingml/2006/main">
            <a:off x="7955280" y="2386584"/>
            <a:ext cx="3429000"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700"/>
              </a:spcAft>
              <a:buSzPct val="100000"/>
              <a:buChar char="•"/>
            </a:pPr>
            <a:r>
              <a:rPr sz="1150" b="1">
                <a:solidFill>
                  <a:srgbClr val="24313A"/>
                </a:solidFill>
                <a:latin typeface="Calibri"/>
                <a:ea typeface="Calibri"/>
                <a:cs typeface="Calibri"/>
              </a:rPr>
              <a:t>p̂ = 0.183;  wait 20.5 / 18 / 11.6 min (right-skewed)</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P(≥5 no-shows) ≈ 0.30;  safe overbook +2 (risk 0.097)</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Lognormal tracks the tail; Normal rejected</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PPV: 0.49 at base 0.183 → 0.70 at base 0.35</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P(no-show | prior ≥ 1) = 0.259 vs 0.183 marginal</a:t>
            </a:r>
            <a:endParaRPr sz="1150"/>
          </a:p>
        </p:txBody>
      </p:sp>
    </p:spTree>
    <p:extLst>
      <p:ext uri="{BB962C8B-B14F-4D97-AF65-F5344CB8AC3E}">
        <p14:creationId xmlns:p14="http://schemas.microsoft.com/office/powerpoint/2010/main" val="165616224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27154EE-E942-4A64-B26F-4C2D9068EAB0}"/>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D56B0DBC-E85C-44C3-86A7-F77974045E6D}"/>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18</a:t>
            </a:r>
            <a:endParaRPr sz="900"/>
          </a:p>
        </p:txBody>
      </p:sp>
      <p:sp>
        <p:nvSpPr>
          <p:cNvPr id="4" name="Shape 2">
            <a:extLst xmlns:a="http://schemas.openxmlformats.org/drawingml/2006/main">
              <a:ext uri="{FF2B5EF4-FFF2-40B4-BE49-F238E27FC236}">
                <a16:creationId xmlns:a16="http://schemas.microsoft.com/office/drawing/2014/main" id="{C254C25B-2DB3-4737-A271-2813E1B074BD}"/>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94155DF1-E711-4558-B136-4FFADCC52062}"/>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2</a:t>
            </a:r>
            <a:endParaRPr sz="1050"/>
          </a:p>
        </p:txBody>
      </p:sp>
      <p:sp>
        <p:nvSpPr>
          <p:cNvPr id="6" name="Text 4">
            <a:extLst xmlns:a="http://schemas.openxmlformats.org/drawingml/2006/main">
              <a:ext uri="{FF2B5EF4-FFF2-40B4-BE49-F238E27FC236}">
                <a16:creationId xmlns:a16="http://schemas.microsoft.com/office/drawing/2014/main" id="{A5244C12-7182-4441-806F-C6EFE76439B7}"/>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Descriptive statistics and sampling</a:t>
            </a:r>
            <a:endParaRPr sz="2800"/>
          </a:p>
        </p:txBody>
      </p:sp>
      <p:sp>
        <p:nvSpPr>
          <p:cNvPr id="7" name="Shape 5">
            <a:extLst xmlns:a="http://schemas.openxmlformats.org/drawingml/2006/main">
              <a:ext uri="{FF2B5EF4-FFF2-40B4-BE49-F238E27FC236}">
                <a16:creationId xmlns:a16="http://schemas.microsoft.com/office/drawing/2014/main" id="{4A49D937-1D57-490E-BAF1-2B48279FB9AF}"/>
              </a:ext>
            </a:extLst>
          </p:cNvPr>
          <p:cNvSpPr>
            <a:spLocks xmlns:a="http://schemas.openxmlformats.org/drawingml/2006/main" noGrp="1"/>
          </p:cNvSpPr>
          <p:nvPr/>
        </p:nvSpPr>
        <p:spPr>
          <a:xfrm xmlns:a="http://schemas.openxmlformats.org/drawingml/2006/main">
            <a:off x="502920" y="1563624"/>
            <a:ext cx="6720840" cy="4892040"/>
          </a:xfrm>
          <a:prstGeom xmlns:a="http://schemas.openxmlformats.org/drawingml/2006/main" prst="roundRect">
            <a:avLst>
              <a:gd name="adj" fmla="val 1682"/>
            </a:avLst>
          </a:prstGeom>
          <a:solidFill xmlns:a="http://schemas.openxmlformats.org/drawingml/2006/main">
            <a:srgbClr val="F3F8F9"/>
          </a:solidFill>
        </p:spPr>
      </p:sp>
      <p:sp>
        <p:nvSpPr>
          <p:cNvPr id="8" name="Shape 6">
            <a:extLst xmlns:a="http://schemas.openxmlformats.org/drawingml/2006/main">
              <a:ext uri="{FF2B5EF4-FFF2-40B4-BE49-F238E27FC236}">
                <a16:creationId xmlns:a16="http://schemas.microsoft.com/office/drawing/2014/main" id="{655E20D3-C963-4AE6-BF1B-492C2A676F52}"/>
              </a:ext>
            </a:extLst>
          </p:cNvPr>
          <p:cNvSpPr>
            <a:spLocks xmlns:a="http://schemas.openxmlformats.org/drawingml/2006/main" noGrp="1"/>
          </p:cNvSpPr>
          <p:nvPr/>
        </p:nvSpPr>
        <p:spPr>
          <a:xfrm xmlns:a="http://schemas.openxmlformats.org/drawingml/2006/main">
            <a:off x="868680" y="1929384"/>
            <a:ext cx="566928" cy="566928"/>
          </a:xfrm>
          <a:prstGeom xmlns:a="http://schemas.openxmlformats.org/drawingml/2006/main" prst="ellipse">
            <a:avLst/>
          </a:prstGeom>
          <a:solidFill xmlns:a="http://schemas.openxmlformats.org/drawingml/2006/main">
            <a:srgbClr val="0E7C86"/>
          </a:solidFill>
        </p:spPr>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b0136f5f50c44ca5"/>
          <a:stretch xmlns:a="http://schemas.openxmlformats.org/drawingml/2006/main">
            <a:fillRect l="0" t="0" r="0" b="0"/>
          </a:stretch>
        </p:blipFill>
        <p:spPr>
          <a:xfrm xmlns:a="http://schemas.openxmlformats.org/drawingml/2006/main">
            <a:off x="1016081" y="2076785"/>
            <a:ext cx="272125" cy="272125"/>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BE0E91CA-24BA-4F4E-8EA5-39715B83AB86}"/>
              </a:ext>
            </a:extLst>
          </p:cNvPr>
          <p:cNvSpPr>
            <a:spLocks xmlns:a="http://schemas.openxmlformats.org/drawingml/2006/main" noGrp="1"/>
          </p:cNvSpPr>
          <p:nvPr/>
        </p:nvSpPr>
        <p:spPr>
          <a:xfrm xmlns:a="http://schemas.openxmlformats.org/drawingml/2006/main">
            <a:off x="1645920" y="1975104"/>
            <a:ext cx="5120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B3140"/>
                </a:solidFill>
                <a:latin typeface="Cambria"/>
                <a:ea typeface="Cambria"/>
                <a:cs typeface="Cambria"/>
              </a:rPr>
              <a:t>Why this module</a:t>
            </a:r>
            <a:endParaRPr sz="1600"/>
          </a:p>
        </p:txBody>
      </p:sp>
      <p:sp>
        <p:nvSpPr>
          <p:cNvPr id="11" name="Text 8">
            <a:extLst xmlns:a="http://schemas.openxmlformats.org/drawingml/2006/main">
              <a:ext uri="{FF2B5EF4-FFF2-40B4-BE49-F238E27FC236}">
                <a16:creationId xmlns:a16="http://schemas.microsoft.com/office/drawing/2014/main" id="{BF83A7B9-3A1A-4B63-95F1-F2252ED76E2A}"/>
              </a:ext>
            </a:extLst>
          </p:cNvPr>
          <p:cNvSpPr>
            <a:spLocks xmlns:a="http://schemas.openxmlformats.org/drawingml/2006/main" noGrp="1"/>
          </p:cNvSpPr>
          <p:nvPr/>
        </p:nvSpPr>
        <p:spPr>
          <a:xfrm xmlns:a="http://schemas.openxmlformats.org/drawingml/2006/main">
            <a:off x="868680" y="2706624"/>
            <a:ext cx="6035040" cy="3566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250">
                <a:solidFill>
                  <a:srgbClr val="24313A"/>
                </a:solidFill>
                <a:latin typeface="Calibri"/>
                <a:ea typeface="Calibri"/>
                <a:cs typeface="Calibri"/>
              </a:rPr>
              <a:t>Before any inference, a data scientist must summarise honestly and sample defensibly. When the summary is wrong for the shape (a mean on skewed wait times) or the sample is biased (only patients who answered a survey), the resulting decision is wrong in a way no downstream sophistication can repair.</a:t>
            </a:r>
            <a:endParaRPr sz="1250"/>
          </a:p>
          <a:p xmlns:a="http://schemas.openxmlformats.org/drawingml/2006/main">
            <a:pPr marL="0" indent="0">
              <a:lnSpc>
                <a:spcPct val="112000"/>
              </a:lnSpc>
              <a:buNone/>
            </a:pPr>
            <a:endParaRPr sz="1250"/>
          </a:p>
          <a:p xmlns:a="http://schemas.openxmlformats.org/drawingml/2006/main">
            <a:pPr marL="0" indent="0">
              <a:lnSpc>
                <a:spcPct val="112000"/>
              </a:lnSpc>
              <a:buNone/>
            </a:pPr>
            <a:r>
              <a:rPr sz="1250">
                <a:solidFill>
                  <a:srgbClr val="24313A"/>
                </a:solidFill>
                <a:latin typeface="Calibri"/>
                <a:ea typeface="Calibri"/>
                <a:cs typeface="Calibri"/>
              </a:rPr>
              <a:t>Almost every reported "average" in a government dashboard is a summary statistic computed on a sample. A national no-show rate quoted from easy-to-reach urban clinics would systematically mislead policy for rural regions.</a:t>
            </a:r>
            <a:endParaRPr sz="1250"/>
          </a:p>
          <a:p xmlns:a="http://schemas.openxmlformats.org/drawingml/2006/main">
            <a:pPr marL="0" indent="0">
              <a:lnSpc>
                <a:spcPct val="112000"/>
              </a:lnSpc>
              <a:buNone/>
            </a:pPr>
            <a:endParaRPr sz="1250"/>
          </a:p>
          <a:p xmlns:a="http://schemas.openxmlformats.org/drawingml/2006/main">
            <a:pPr marL="0" indent="0">
              <a:lnSpc>
                <a:spcPct val="112000"/>
              </a:lnSpc>
              <a:buNone/>
            </a:pPr>
            <a:r>
              <a:rPr sz="1250">
                <a:solidFill>
                  <a:srgbClr val="24313A"/>
                </a:solidFill>
                <a:latin typeface="Calibri"/>
                <a:ea typeface="Calibri"/>
                <a:cs typeface="Calibri"/>
              </a:rPr>
              <a:t>The module culminates in the Central Limit Theorem — the bridge that makes Days 2–4 possible.</a:t>
            </a:r>
            <a:endParaRPr sz="1250"/>
          </a:p>
        </p:txBody>
      </p:sp>
      <p:sp>
        <p:nvSpPr>
          <p:cNvPr id="12" name="Shape 9">
            <a:extLst xmlns:a="http://schemas.openxmlformats.org/drawingml/2006/main">
              <a:ext uri="{FF2B5EF4-FFF2-40B4-BE49-F238E27FC236}">
                <a16:creationId xmlns:a16="http://schemas.microsoft.com/office/drawing/2014/main" id="{A10C60C2-56EA-4679-B6B9-3C177BF19071}"/>
              </a:ext>
            </a:extLst>
          </p:cNvPr>
          <p:cNvSpPr>
            <a:spLocks xmlns:a="http://schemas.openxmlformats.org/drawingml/2006/main" noGrp="1"/>
          </p:cNvSpPr>
          <p:nvPr/>
        </p:nvSpPr>
        <p:spPr>
          <a:xfrm xmlns:a="http://schemas.openxmlformats.org/drawingml/2006/main">
            <a:off x="7498080" y="1563624"/>
            <a:ext cx="4160520" cy="4892040"/>
          </a:xfrm>
          <a:prstGeom xmlns:a="http://schemas.openxmlformats.org/drawingml/2006/main" prst="roundRect">
            <a:avLst>
              <a:gd name="adj" fmla="val 1978"/>
            </a:avLst>
          </a:prstGeom>
          <a:solidFill xmlns:a="http://schemas.openxmlformats.org/drawingml/2006/main">
            <a:srgbClr val="0B3140"/>
          </a:solidFill>
        </p:spPr>
      </p:sp>
      <p:sp>
        <p:nvSpPr>
          <p:cNvPr id="13" name="Text 10">
            <a:extLst xmlns:a="http://schemas.openxmlformats.org/drawingml/2006/main">
              <a:ext uri="{FF2B5EF4-FFF2-40B4-BE49-F238E27FC236}">
                <a16:creationId xmlns:a16="http://schemas.microsoft.com/office/drawing/2014/main" id="{AFE1FDB0-1E49-40B3-8C9F-40AFB1705479}"/>
              </a:ext>
            </a:extLst>
          </p:cNvPr>
          <p:cNvSpPr>
            <a:spLocks xmlns:a="http://schemas.openxmlformats.org/drawingml/2006/main" noGrp="1"/>
          </p:cNvSpPr>
          <p:nvPr/>
        </p:nvSpPr>
        <p:spPr>
          <a:xfrm xmlns:a="http://schemas.openxmlformats.org/drawingml/2006/main">
            <a:off x="7818120" y="1837944"/>
            <a:ext cx="3566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FB3BC"/>
                </a:solidFill>
                <a:latin typeface="Calibri"/>
                <a:ea typeface="Calibri"/>
                <a:cs typeface="Calibri"/>
              </a:rPr>
              <a:t>LEARNING OBJECTIVES</a:t>
            </a:r>
            <a:endParaRPr sz="1050"/>
          </a:p>
        </p:txBody>
      </p:sp>
      <p:sp>
        <p:nvSpPr>
          <p:cNvPr id="14" name="Shape 11">
            <a:extLst xmlns:a="http://schemas.openxmlformats.org/drawingml/2006/main">
              <a:ext uri="{FF2B5EF4-FFF2-40B4-BE49-F238E27FC236}">
                <a16:creationId xmlns:a16="http://schemas.microsoft.com/office/drawing/2014/main" id="{2616F037-B2B6-4C87-9EC9-BBE6466ABF19}"/>
              </a:ext>
            </a:extLst>
          </p:cNvPr>
          <p:cNvSpPr>
            <a:spLocks xmlns:a="http://schemas.openxmlformats.org/drawingml/2006/main" noGrp="1"/>
          </p:cNvSpPr>
          <p:nvPr/>
        </p:nvSpPr>
        <p:spPr>
          <a:xfrm xmlns:a="http://schemas.openxmlformats.org/drawingml/2006/main">
            <a:off x="7818120" y="2267712"/>
            <a:ext cx="310896" cy="310896"/>
          </a:xfrm>
          <a:prstGeom xmlns:a="http://schemas.openxmlformats.org/drawingml/2006/main" prst="ellipse">
            <a:avLst/>
          </a:prstGeom>
          <a:solidFill xmlns:a="http://schemas.openxmlformats.org/drawingml/2006/main">
            <a:srgbClr val="0E7C86"/>
          </a:solidFill>
        </p:spPr>
      </p:sp>
      <p:sp>
        <p:nvSpPr>
          <p:cNvPr id="15" name="Text 12">
            <a:extLst xmlns:a="http://schemas.openxmlformats.org/drawingml/2006/main">
              <a:ext uri="{FF2B5EF4-FFF2-40B4-BE49-F238E27FC236}">
                <a16:creationId xmlns:a16="http://schemas.microsoft.com/office/drawing/2014/main" id="{EF333A93-0E5E-4A3A-8B6B-8B2C7D64B357}"/>
              </a:ext>
            </a:extLst>
          </p:cNvPr>
          <p:cNvSpPr>
            <a:spLocks xmlns:a="http://schemas.openxmlformats.org/drawingml/2006/main" noGrp="1"/>
          </p:cNvSpPr>
          <p:nvPr/>
        </p:nvSpPr>
        <p:spPr>
          <a:xfrm xmlns:a="http://schemas.openxmlformats.org/drawingml/2006/main">
            <a:off x="7818120" y="2267712"/>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2.1</a:t>
            </a:r>
            <a:endParaRPr sz="1100"/>
          </a:p>
        </p:txBody>
      </p:sp>
      <p:sp>
        <p:nvSpPr>
          <p:cNvPr id="16" name="Text 13">
            <a:extLst xmlns:a="http://schemas.openxmlformats.org/drawingml/2006/main">
              <a:ext uri="{FF2B5EF4-FFF2-40B4-BE49-F238E27FC236}">
                <a16:creationId xmlns:a16="http://schemas.microsoft.com/office/drawing/2014/main" id="{82F565D1-C7BD-4F5B-9D55-28D50CEB0138}"/>
              </a:ext>
            </a:extLst>
          </p:cNvPr>
          <p:cNvSpPr>
            <a:spLocks xmlns:a="http://schemas.openxmlformats.org/drawingml/2006/main" noGrp="1"/>
          </p:cNvSpPr>
          <p:nvPr/>
        </p:nvSpPr>
        <p:spPr>
          <a:xfrm xmlns:a="http://schemas.openxmlformats.org/drawingml/2006/main">
            <a:off x="8257032" y="2249424"/>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Select shape-appropriate measures of centre and spread</a:t>
            </a:r>
            <a:endParaRPr sz="1150"/>
          </a:p>
        </p:txBody>
      </p:sp>
      <p:sp>
        <p:nvSpPr>
          <p:cNvPr id="17" name="Shape 14">
            <a:extLst xmlns:a="http://schemas.openxmlformats.org/drawingml/2006/main">
              <a:ext uri="{FF2B5EF4-FFF2-40B4-BE49-F238E27FC236}">
                <a16:creationId xmlns:a16="http://schemas.microsoft.com/office/drawing/2014/main" id="{72C10BC7-043A-4C16-B99D-B9223AC5A4F4}"/>
              </a:ext>
            </a:extLst>
          </p:cNvPr>
          <p:cNvSpPr>
            <a:spLocks xmlns:a="http://schemas.openxmlformats.org/drawingml/2006/main" noGrp="1"/>
          </p:cNvSpPr>
          <p:nvPr/>
        </p:nvSpPr>
        <p:spPr>
          <a:xfrm xmlns:a="http://schemas.openxmlformats.org/drawingml/2006/main">
            <a:off x="7818120" y="2926080"/>
            <a:ext cx="310896" cy="310896"/>
          </a:xfrm>
          <a:prstGeom xmlns:a="http://schemas.openxmlformats.org/drawingml/2006/main" prst="ellipse">
            <a:avLst/>
          </a:prstGeom>
          <a:solidFill xmlns:a="http://schemas.openxmlformats.org/drawingml/2006/main">
            <a:srgbClr val="0E7C86"/>
          </a:solidFill>
        </p:spPr>
      </p:sp>
      <p:sp>
        <p:nvSpPr>
          <p:cNvPr id="18" name="Text 15">
            <a:extLst xmlns:a="http://schemas.openxmlformats.org/drawingml/2006/main">
              <a:ext uri="{FF2B5EF4-FFF2-40B4-BE49-F238E27FC236}">
                <a16:creationId xmlns:a16="http://schemas.microsoft.com/office/drawing/2014/main" id="{9FD3DB12-71FF-4606-8E92-28EC2D01D10A}"/>
              </a:ext>
            </a:extLst>
          </p:cNvPr>
          <p:cNvSpPr>
            <a:spLocks xmlns:a="http://schemas.openxmlformats.org/drawingml/2006/main" noGrp="1"/>
          </p:cNvSpPr>
          <p:nvPr/>
        </p:nvSpPr>
        <p:spPr>
          <a:xfrm xmlns:a="http://schemas.openxmlformats.org/drawingml/2006/main">
            <a:off x="7818120" y="2926080"/>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2.2</a:t>
            </a:r>
            <a:endParaRPr sz="1100"/>
          </a:p>
        </p:txBody>
      </p:sp>
      <p:sp>
        <p:nvSpPr>
          <p:cNvPr id="19" name="Text 16">
            <a:extLst xmlns:a="http://schemas.openxmlformats.org/drawingml/2006/main">
              <a:ext uri="{FF2B5EF4-FFF2-40B4-BE49-F238E27FC236}">
                <a16:creationId xmlns:a16="http://schemas.microsoft.com/office/drawing/2014/main" id="{23A52D18-28D6-471D-9AC4-16A661BFCFF1}"/>
              </a:ext>
            </a:extLst>
          </p:cNvPr>
          <p:cNvSpPr>
            <a:spLocks xmlns:a="http://schemas.openxmlformats.org/drawingml/2006/main" noGrp="1"/>
          </p:cNvSpPr>
          <p:nvPr/>
        </p:nvSpPr>
        <p:spPr>
          <a:xfrm xmlns:a="http://schemas.openxmlformats.org/drawingml/2006/main">
            <a:off x="8257032" y="2907792"/>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Quantify skewness; identify outliers with robust methods</a:t>
            </a:r>
            <a:endParaRPr sz="1150"/>
          </a:p>
        </p:txBody>
      </p:sp>
      <p:sp>
        <p:nvSpPr>
          <p:cNvPr id="20" name="Shape 17">
            <a:extLst xmlns:a="http://schemas.openxmlformats.org/drawingml/2006/main">
              <a:ext uri="{FF2B5EF4-FFF2-40B4-BE49-F238E27FC236}">
                <a16:creationId xmlns:a16="http://schemas.microsoft.com/office/drawing/2014/main" id="{49C3C4BD-3A03-41B0-BA78-422B08C2A00F}"/>
              </a:ext>
            </a:extLst>
          </p:cNvPr>
          <p:cNvSpPr>
            <a:spLocks xmlns:a="http://schemas.openxmlformats.org/drawingml/2006/main" noGrp="1"/>
          </p:cNvSpPr>
          <p:nvPr/>
        </p:nvSpPr>
        <p:spPr>
          <a:xfrm xmlns:a="http://schemas.openxmlformats.org/drawingml/2006/main">
            <a:off x="7818120" y="3584448"/>
            <a:ext cx="310896" cy="310896"/>
          </a:xfrm>
          <a:prstGeom xmlns:a="http://schemas.openxmlformats.org/drawingml/2006/main" prst="ellipse">
            <a:avLst/>
          </a:prstGeom>
          <a:solidFill xmlns:a="http://schemas.openxmlformats.org/drawingml/2006/main">
            <a:srgbClr val="0E7C86"/>
          </a:solidFill>
        </p:spPr>
      </p:sp>
      <p:sp>
        <p:nvSpPr>
          <p:cNvPr id="21" name="Text 18">
            <a:extLst xmlns:a="http://schemas.openxmlformats.org/drawingml/2006/main">
              <a:ext uri="{FF2B5EF4-FFF2-40B4-BE49-F238E27FC236}">
                <a16:creationId xmlns:a16="http://schemas.microsoft.com/office/drawing/2014/main" id="{7954AFD1-462A-47E7-822F-0A4DA84C386D}"/>
              </a:ext>
            </a:extLst>
          </p:cNvPr>
          <p:cNvSpPr>
            <a:spLocks xmlns:a="http://schemas.openxmlformats.org/drawingml/2006/main" noGrp="1"/>
          </p:cNvSpPr>
          <p:nvPr/>
        </p:nvSpPr>
        <p:spPr>
          <a:xfrm xmlns:a="http://schemas.openxmlformats.org/drawingml/2006/main">
            <a:off x="7818120" y="358444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2.3</a:t>
            </a:r>
            <a:endParaRPr sz="1100"/>
          </a:p>
        </p:txBody>
      </p:sp>
      <p:sp>
        <p:nvSpPr>
          <p:cNvPr id="22" name="Text 19">
            <a:extLst xmlns:a="http://schemas.openxmlformats.org/drawingml/2006/main">
              <a:ext uri="{FF2B5EF4-FFF2-40B4-BE49-F238E27FC236}">
                <a16:creationId xmlns:a16="http://schemas.microsoft.com/office/drawing/2014/main" id="{B3877284-CA0A-4394-9345-71EB60ED8AA7}"/>
              </a:ext>
            </a:extLst>
          </p:cNvPr>
          <p:cNvSpPr>
            <a:spLocks xmlns:a="http://schemas.openxmlformats.org/drawingml/2006/main" noGrp="1"/>
          </p:cNvSpPr>
          <p:nvPr/>
        </p:nvSpPr>
        <p:spPr>
          <a:xfrm xmlns:a="http://schemas.openxmlformats.org/drawingml/2006/main">
            <a:off x="8257032" y="3566160"/>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Design SRS, stratified, cluster, and systematic samples</a:t>
            </a:r>
            <a:endParaRPr sz="1150"/>
          </a:p>
        </p:txBody>
      </p:sp>
      <p:sp>
        <p:nvSpPr>
          <p:cNvPr id="23" name="Shape 20">
            <a:extLst xmlns:a="http://schemas.openxmlformats.org/drawingml/2006/main">
              <a:ext uri="{FF2B5EF4-FFF2-40B4-BE49-F238E27FC236}">
                <a16:creationId xmlns:a16="http://schemas.microsoft.com/office/drawing/2014/main" id="{0E91B84A-B8DE-4279-9534-210D97F275F1}"/>
              </a:ext>
            </a:extLst>
          </p:cNvPr>
          <p:cNvSpPr>
            <a:spLocks xmlns:a="http://schemas.openxmlformats.org/drawingml/2006/main" noGrp="1"/>
          </p:cNvSpPr>
          <p:nvPr/>
        </p:nvSpPr>
        <p:spPr>
          <a:xfrm xmlns:a="http://schemas.openxmlformats.org/drawingml/2006/main">
            <a:off x="7818120" y="4242816"/>
            <a:ext cx="310896" cy="310896"/>
          </a:xfrm>
          <a:prstGeom xmlns:a="http://schemas.openxmlformats.org/drawingml/2006/main" prst="ellipse">
            <a:avLst/>
          </a:prstGeom>
          <a:solidFill xmlns:a="http://schemas.openxmlformats.org/drawingml/2006/main">
            <a:srgbClr val="0E7C86"/>
          </a:solidFill>
        </p:spPr>
      </p:sp>
      <p:sp>
        <p:nvSpPr>
          <p:cNvPr id="24" name="Text 21">
            <a:extLst xmlns:a="http://schemas.openxmlformats.org/drawingml/2006/main">
              <a:ext uri="{FF2B5EF4-FFF2-40B4-BE49-F238E27FC236}">
                <a16:creationId xmlns:a16="http://schemas.microsoft.com/office/drawing/2014/main" id="{64E2E6FF-7295-47F1-9386-66202DC0BA04}"/>
              </a:ext>
            </a:extLst>
          </p:cNvPr>
          <p:cNvSpPr>
            <a:spLocks xmlns:a="http://schemas.openxmlformats.org/drawingml/2006/main" noGrp="1"/>
          </p:cNvSpPr>
          <p:nvPr/>
        </p:nvSpPr>
        <p:spPr>
          <a:xfrm xmlns:a="http://schemas.openxmlformats.org/drawingml/2006/main">
            <a:off x="7818120" y="4242816"/>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2.4</a:t>
            </a:r>
            <a:endParaRPr sz="1100"/>
          </a:p>
        </p:txBody>
      </p:sp>
      <p:sp>
        <p:nvSpPr>
          <p:cNvPr id="25" name="Text 22">
            <a:extLst xmlns:a="http://schemas.openxmlformats.org/drawingml/2006/main">
              <a:ext uri="{FF2B5EF4-FFF2-40B4-BE49-F238E27FC236}">
                <a16:creationId xmlns:a16="http://schemas.microsoft.com/office/drawing/2014/main" id="{690FA6D2-BC23-45B8-BB78-502815B29B6A}"/>
              </a:ext>
            </a:extLst>
          </p:cNvPr>
          <p:cNvSpPr>
            <a:spLocks xmlns:a="http://schemas.openxmlformats.org/drawingml/2006/main" noGrp="1"/>
          </p:cNvSpPr>
          <p:nvPr/>
        </p:nvSpPr>
        <p:spPr>
          <a:xfrm xmlns:a="http://schemas.openxmlformats.org/drawingml/2006/main">
            <a:off x="8257032" y="4224528"/>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Reason about selection, non-response, and survivorship bias</a:t>
            </a:r>
            <a:endParaRPr sz="1150"/>
          </a:p>
        </p:txBody>
      </p:sp>
      <p:sp>
        <p:nvSpPr>
          <p:cNvPr id="26" name="Shape 23">
            <a:extLst xmlns:a="http://schemas.openxmlformats.org/drawingml/2006/main">
              <a:ext uri="{FF2B5EF4-FFF2-40B4-BE49-F238E27FC236}">
                <a16:creationId xmlns:a16="http://schemas.microsoft.com/office/drawing/2014/main" id="{9800C789-4C33-48D8-8CC1-E35A78A775E3}"/>
              </a:ext>
            </a:extLst>
          </p:cNvPr>
          <p:cNvSpPr>
            <a:spLocks xmlns:a="http://schemas.openxmlformats.org/drawingml/2006/main" noGrp="1"/>
          </p:cNvSpPr>
          <p:nvPr/>
        </p:nvSpPr>
        <p:spPr>
          <a:xfrm xmlns:a="http://schemas.openxmlformats.org/drawingml/2006/main">
            <a:off x="7818120" y="4901184"/>
            <a:ext cx="310896" cy="310896"/>
          </a:xfrm>
          <a:prstGeom xmlns:a="http://schemas.openxmlformats.org/drawingml/2006/main" prst="ellipse">
            <a:avLst/>
          </a:prstGeom>
          <a:solidFill xmlns:a="http://schemas.openxmlformats.org/drawingml/2006/main">
            <a:srgbClr val="0E7C86"/>
          </a:solidFill>
        </p:spPr>
      </p:sp>
      <p:sp>
        <p:nvSpPr>
          <p:cNvPr id="27" name="Text 24">
            <a:extLst xmlns:a="http://schemas.openxmlformats.org/drawingml/2006/main">
              <a:ext uri="{FF2B5EF4-FFF2-40B4-BE49-F238E27FC236}">
                <a16:creationId xmlns:a16="http://schemas.microsoft.com/office/drawing/2014/main" id="{40DB1A52-E412-435D-BFA4-62BF98813805}"/>
              </a:ext>
            </a:extLst>
          </p:cNvPr>
          <p:cNvSpPr>
            <a:spLocks xmlns:a="http://schemas.openxmlformats.org/drawingml/2006/main" noGrp="1"/>
          </p:cNvSpPr>
          <p:nvPr/>
        </p:nvSpPr>
        <p:spPr>
          <a:xfrm xmlns:a="http://schemas.openxmlformats.org/drawingml/2006/main">
            <a:off x="7818120" y="490118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2.5</a:t>
            </a:r>
            <a:endParaRPr sz="1100"/>
          </a:p>
        </p:txBody>
      </p:sp>
      <p:sp>
        <p:nvSpPr>
          <p:cNvPr id="28" name="Text 25">
            <a:extLst xmlns:a="http://schemas.openxmlformats.org/drawingml/2006/main">
              <a:ext uri="{FF2B5EF4-FFF2-40B4-BE49-F238E27FC236}">
                <a16:creationId xmlns:a16="http://schemas.microsoft.com/office/drawing/2014/main" id="{917FFD4B-E4CD-46DA-9907-9AB3FDC4C2D8}"/>
              </a:ext>
            </a:extLst>
          </p:cNvPr>
          <p:cNvSpPr>
            <a:spLocks xmlns:a="http://schemas.openxmlformats.org/drawingml/2006/main" noGrp="1"/>
          </p:cNvSpPr>
          <p:nvPr/>
        </p:nvSpPr>
        <p:spPr>
          <a:xfrm xmlns:a="http://schemas.openxmlformats.org/drawingml/2006/main">
            <a:off x="8257032" y="4882896"/>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Demonstrate the CLT and the √n law computationally</a:t>
            </a:r>
            <a:endParaRPr sz="1150"/>
          </a:p>
        </p:txBody>
      </p:sp>
    </p:spTree>
    <p:extLst>
      <p:ext uri="{BB962C8B-B14F-4D97-AF65-F5344CB8AC3E}">
        <p14:creationId xmlns:p14="http://schemas.microsoft.com/office/powerpoint/2010/main" val="190369337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1C4DE1D-71AE-4C24-A8AA-759755502177}"/>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0042209A-6B90-4ACD-912E-96101C76931E}"/>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19</a:t>
            </a:r>
            <a:endParaRPr sz="900"/>
          </a:p>
        </p:txBody>
      </p:sp>
      <p:sp>
        <p:nvSpPr>
          <p:cNvPr id="4" name="Shape 2">
            <a:extLst xmlns:a="http://schemas.openxmlformats.org/drawingml/2006/main">
              <a:ext uri="{FF2B5EF4-FFF2-40B4-BE49-F238E27FC236}">
                <a16:creationId xmlns:a16="http://schemas.microsoft.com/office/drawing/2014/main" id="{DDA841FD-9A8D-4367-A09F-EC5F34F53E79}"/>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B6B75A89-0A7E-4474-9EB1-521DBAE59522}"/>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2</a:t>
            </a:r>
            <a:endParaRPr sz="1050"/>
          </a:p>
        </p:txBody>
      </p:sp>
      <p:sp>
        <p:nvSpPr>
          <p:cNvPr id="6" name="Text 4">
            <a:extLst xmlns:a="http://schemas.openxmlformats.org/drawingml/2006/main">
              <a:ext uri="{FF2B5EF4-FFF2-40B4-BE49-F238E27FC236}">
                <a16:creationId xmlns:a16="http://schemas.microsoft.com/office/drawing/2014/main" id="{57A79963-4EB1-4397-A84A-01941B93CCC4}"/>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Match the summary to the shape</a:t>
            </a:r>
            <a:endParaRPr sz="2800"/>
          </a:p>
        </p:txBody>
      </p:sp>
      <p:graphicFrame>
        <p:nvGraphicFramePr>
          <p:cNvPr id="21" name="Table 0"/>
          <p:cNvGraphicFramePr/>
          <p:nvPr/>
        </p:nvGraphicFramePr>
        <p:xfrm>
          <a:off xmlns:a="http://schemas.openxmlformats.org/drawingml/2006/main" x="502920" y="1563624"/>
          <a:ext xmlns:a="http://schemas.openxmlformats.org/drawingml/2006/main" cx="11201400" cy="914400"/>
        </p:xfrm>
        <a:graphic xmlns:a="http://schemas.openxmlformats.org/drawingml/2006/main">
          <a:graphicData uri="http://schemas.openxmlformats.org/drawingml/2006/table">
            <a:tbl>
              <a:tblPr/>
              <a:tblGrid>
                <a:gridCol w="1645920"/>
                <a:gridCol w="3291840"/>
                <a:gridCol w="3337560"/>
                <a:gridCol w="2926080"/>
              </a:tblGrid>
              <a:tr h="512064">
                <a:tc>
                  <a:txBody>
                    <a:bodyPr/>
                    <a:lstStyle/>
                    <a:p>
                      <a:pPr marL="0" indent="0">
                        <a:buNone/>
                      </a:pP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30" b="1">
                          <a:solidFill>
                            <a:srgbClr val="FFFFFF"/>
                          </a:solidFill>
                          <a:latin typeface="Calibri"/>
                          <a:ea typeface="Calibri"/>
                          <a:cs typeface="Calibri"/>
                        </a:rPr>
                        <a:t>Mean  (± SD)</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30" b="1">
                          <a:solidFill>
                            <a:srgbClr val="FFFFFF"/>
                          </a:solidFill>
                          <a:latin typeface="Calibri"/>
                          <a:ea typeface="Calibri"/>
                          <a:cs typeface="Calibri"/>
                        </a:rPr>
                        <a:t>Median  (IQR)</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30" b="1">
                          <a:solidFill>
                            <a:srgbClr val="FFFFFF"/>
                          </a:solidFill>
                          <a:latin typeface="Calibri"/>
                          <a:ea typeface="Calibri"/>
                          <a:cs typeface="Calibri"/>
                        </a:rPr>
                        <a:t>Mode</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r>
              <a:tr h="512064">
                <a:tc>
                  <a:txBody>
                    <a:bodyPr/>
                    <a:lstStyle/>
                    <a:p>
                      <a:pPr marL="0" indent="0">
                        <a:buNone/>
                      </a:pPr>
                      <a:r>
                        <a:rPr sz="1130" b="1">
                          <a:solidFill>
                            <a:srgbClr val="24313A"/>
                          </a:solidFill>
                          <a:latin typeface="Calibri"/>
                          <a:ea typeface="Calibri"/>
                          <a:cs typeface="Calibri"/>
                        </a:rPr>
                        <a:t>Answers</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The balance point — uses every value</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The 50th percentile — the honest "typical"</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The most common value</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512064">
                <a:tc>
                  <a:txBody>
                    <a:bodyPr/>
                    <a:lstStyle/>
                    <a:p>
                      <a:pPr marL="0" indent="0">
                        <a:buNone/>
                      </a:pPr>
                      <a:r>
                        <a:rPr sz="1130" b="1">
                          <a:solidFill>
                            <a:srgbClr val="24313A"/>
                          </a:solidFill>
                          <a:latin typeface="Calibri"/>
                          <a:ea typeface="Calibri"/>
                          <a:cs typeface="Calibri"/>
                        </a:rPr>
                        <a:t>Breaks when</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Outliers and skew drag it</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 (robust)</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Continuous data</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512064">
                <a:tc>
                  <a:txBody>
                    <a:bodyPr/>
                    <a:lstStyle/>
                    <a:p>
                      <a:pPr marL="0" indent="0">
                        <a:buNone/>
                      </a:pPr>
                      <a:r>
                        <a:rPr sz="1130" b="1">
                          <a:solidFill>
                            <a:srgbClr val="24313A"/>
                          </a:solidFill>
                          <a:latin typeface="Calibri"/>
                          <a:ea typeface="Calibri"/>
                          <a:cs typeface="Calibri"/>
                        </a:rPr>
                        <a:t>Pair with</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Standard deviation</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IQR = Q3 − Q1, or MAD</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512064">
                <a:tc>
                  <a:txBody>
                    <a:bodyPr/>
                    <a:lstStyle/>
                    <a:p>
                      <a:pPr marL="0" indent="0">
                        <a:buNone/>
                      </a:pPr>
                      <a:r>
                        <a:rPr sz="1130" b="1">
                          <a:solidFill>
                            <a:srgbClr val="24313A"/>
                          </a:solidFill>
                          <a:latin typeface="Calibri"/>
                          <a:ea typeface="Calibri"/>
                          <a:cs typeface="Calibri"/>
                        </a:rPr>
                        <a:t>Use for</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Symmetric quantities (standardised age)</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b="1">
                          <a:solidFill>
                            <a:srgbClr val="0A5C64"/>
                          </a:solidFill>
                          <a:latin typeface="Calibri"/>
                          <a:ea typeface="Calibri"/>
                          <a:cs typeface="Calibri"/>
                        </a:rPr>
                        <a:t>Skewed quantities: wait time, income, durations</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Categorical (most common region)</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bl>
          </a:graphicData>
        </a:graphic>
      </p:graphicFrame>
      <p:sp>
        <p:nvSpPr>
          <p:cNvPr id="8" name="Shape 5">
            <a:extLst xmlns:a="http://schemas.openxmlformats.org/drawingml/2006/main">
              <a:ext uri="{FF2B5EF4-FFF2-40B4-BE49-F238E27FC236}">
                <a16:creationId xmlns:a16="http://schemas.microsoft.com/office/drawing/2014/main" id="{BF6926EA-E393-42A7-A7F4-218C5F12094E}"/>
              </a:ext>
            </a:extLst>
          </p:cNvPr>
          <p:cNvSpPr>
            <a:spLocks xmlns:a="http://schemas.openxmlformats.org/drawingml/2006/main" noGrp="1"/>
          </p:cNvSpPr>
          <p:nvPr/>
        </p:nvSpPr>
        <p:spPr>
          <a:xfrm xmlns:a="http://schemas.openxmlformats.org/drawingml/2006/main">
            <a:off x="502920" y="4443984"/>
            <a:ext cx="6903720" cy="1600200"/>
          </a:xfrm>
          <a:prstGeom xmlns:a="http://schemas.openxmlformats.org/drawingml/2006/main" prst="roundRect">
            <a:avLst>
              <a:gd name="adj" fmla="val 5143"/>
            </a:avLst>
          </a:prstGeom>
          <a:solidFill xmlns:a="http://schemas.openxmlformats.org/drawingml/2006/main">
            <a:srgbClr val="E7F2F3"/>
          </a:solidFill>
        </p:spPr>
      </p:sp>
      <p:sp>
        <p:nvSpPr>
          <p:cNvPr id="9" name="Text 6">
            <a:extLst xmlns:a="http://schemas.openxmlformats.org/drawingml/2006/main">
              <a:ext uri="{FF2B5EF4-FFF2-40B4-BE49-F238E27FC236}">
                <a16:creationId xmlns:a16="http://schemas.microsoft.com/office/drawing/2014/main" id="{EE15BECD-9E00-43AE-9A98-C91AD9BAA4F3}"/>
              </a:ext>
            </a:extLst>
          </p:cNvPr>
          <p:cNvSpPr>
            <a:spLocks xmlns:a="http://schemas.openxmlformats.org/drawingml/2006/main" noGrp="1"/>
          </p:cNvSpPr>
          <p:nvPr/>
        </p:nvSpPr>
        <p:spPr>
          <a:xfrm xmlns:a="http://schemas.openxmlformats.org/drawingml/2006/main">
            <a:off x="822960" y="4645152"/>
            <a:ext cx="630936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180" b="1">
                <a:solidFill>
                  <a:srgbClr val="0A5C64"/>
                </a:solidFill>
                <a:latin typeface="Calibri"/>
                <a:ea typeface="Calibri"/>
                <a:cs typeface="Calibri"/>
              </a:rPr>
              <a:t>The reporting rule for Mawid:  </a:t>
            </a:r>
            <a:r>
              <a:rPr sz="1180">
                <a:solidFill>
                  <a:srgbClr val="24313A"/>
                </a:solidFill>
                <a:latin typeface="Calibri"/>
                <a:ea typeface="Calibri"/>
                <a:cs typeface="Calibri"/>
              </a:rPr>
              <a:t>wait time is published as median (IQR): "18 min (IQR 12–26)" — never as mean ± SD, which implies a symmetric spread that does not exist and misleads every reader. The gap mean 20.5 vs median 18 is itself the skew diagnostic.</a:t>
            </a:r>
            <a:endParaRPr sz="1180"/>
          </a:p>
        </p:txBody>
      </p:sp>
      <p:sp>
        <p:nvSpPr>
          <p:cNvPr id="10" name="Shape 7">
            <a:extLst xmlns:a="http://schemas.openxmlformats.org/drawingml/2006/main">
              <a:ext uri="{FF2B5EF4-FFF2-40B4-BE49-F238E27FC236}">
                <a16:creationId xmlns:a16="http://schemas.microsoft.com/office/drawing/2014/main" id="{ACBF78ED-65BD-4222-8EFF-D0E0F846FD4A}"/>
              </a:ext>
            </a:extLst>
          </p:cNvPr>
          <p:cNvSpPr>
            <a:spLocks xmlns:a="http://schemas.openxmlformats.org/drawingml/2006/main" noGrp="1"/>
          </p:cNvSpPr>
          <p:nvPr/>
        </p:nvSpPr>
        <p:spPr>
          <a:xfrm xmlns:a="http://schemas.openxmlformats.org/drawingml/2006/main">
            <a:off x="7589520" y="4443984"/>
            <a:ext cx="4069080" cy="1600200"/>
          </a:xfrm>
          <a:prstGeom xmlns:a="http://schemas.openxmlformats.org/drawingml/2006/main" prst="roundRect">
            <a:avLst>
              <a:gd name="adj" fmla="val 5143"/>
            </a:avLst>
          </a:prstGeom>
          <a:solidFill xmlns:a="http://schemas.openxmlformats.org/drawingml/2006/main">
            <a:srgbClr val="F3F8F9"/>
          </a:solidFill>
        </p:spPr>
      </p:sp>
      <p:sp>
        <p:nvSpPr>
          <p:cNvPr id="11" name="Text 8">
            <a:extLst xmlns:a="http://schemas.openxmlformats.org/drawingml/2006/main">
              <a:ext uri="{FF2B5EF4-FFF2-40B4-BE49-F238E27FC236}">
                <a16:creationId xmlns:a16="http://schemas.microsoft.com/office/drawing/2014/main" id="{55255172-CA18-414B-AD93-7966849AF025}"/>
              </a:ext>
            </a:extLst>
          </p:cNvPr>
          <p:cNvSpPr>
            <a:spLocks xmlns:a="http://schemas.openxmlformats.org/drawingml/2006/main" noGrp="1"/>
          </p:cNvSpPr>
          <p:nvPr/>
        </p:nvSpPr>
        <p:spPr>
          <a:xfrm xmlns:a="http://schemas.openxmlformats.org/drawingml/2006/main">
            <a:off x="7726680" y="4599432"/>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C2660A"/>
                </a:solidFill>
                <a:latin typeface="Cambria"/>
                <a:ea typeface="Cambria"/>
                <a:cs typeface="Cambria"/>
              </a:rPr>
              <a:t>20.5</a:t>
            </a:r>
            <a:endParaRPr sz="3000"/>
          </a:p>
        </p:txBody>
      </p:sp>
      <p:sp>
        <p:nvSpPr>
          <p:cNvPr id="12" name="Text 9">
            <a:extLst xmlns:a="http://schemas.openxmlformats.org/drawingml/2006/main">
              <a:ext uri="{FF2B5EF4-FFF2-40B4-BE49-F238E27FC236}">
                <a16:creationId xmlns:a16="http://schemas.microsoft.com/office/drawing/2014/main" id="{6927EA96-60DD-46AC-AC3E-083D0B24369B}"/>
              </a:ext>
            </a:extLst>
          </p:cNvPr>
          <p:cNvSpPr>
            <a:spLocks xmlns:a="http://schemas.openxmlformats.org/drawingml/2006/main" noGrp="1"/>
          </p:cNvSpPr>
          <p:nvPr/>
        </p:nvSpPr>
        <p:spPr>
          <a:xfrm xmlns:a="http://schemas.openxmlformats.org/drawingml/2006/main">
            <a:off x="7726680" y="5102352"/>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5B6B75"/>
                </a:solidFill>
                <a:latin typeface="Calibri"/>
                <a:ea typeface="Calibri"/>
                <a:cs typeface="Calibri"/>
              </a:rPr>
              <a:t>mean wait — dragged up by the tail</a:t>
            </a:r>
            <a:endParaRPr sz="1000"/>
          </a:p>
        </p:txBody>
      </p:sp>
      <p:sp>
        <p:nvSpPr>
          <p:cNvPr id="13" name="Text 10">
            <a:extLst xmlns:a="http://schemas.openxmlformats.org/drawingml/2006/main">
              <a:ext uri="{FF2B5EF4-FFF2-40B4-BE49-F238E27FC236}">
                <a16:creationId xmlns:a16="http://schemas.microsoft.com/office/drawing/2014/main" id="{D28969DE-B0EF-41AC-B4BC-7156162B28AD}"/>
              </a:ext>
            </a:extLst>
          </p:cNvPr>
          <p:cNvSpPr>
            <a:spLocks xmlns:a="http://schemas.openxmlformats.org/drawingml/2006/main" noGrp="1"/>
          </p:cNvSpPr>
          <p:nvPr/>
        </p:nvSpPr>
        <p:spPr>
          <a:xfrm xmlns:a="http://schemas.openxmlformats.org/drawingml/2006/main">
            <a:off x="9692640" y="4599432"/>
            <a:ext cx="1828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0E7C86"/>
                </a:solidFill>
                <a:latin typeface="Cambria"/>
                <a:ea typeface="Cambria"/>
                <a:cs typeface="Cambria"/>
              </a:rPr>
              <a:t>18</a:t>
            </a:r>
            <a:endParaRPr sz="3000"/>
          </a:p>
        </p:txBody>
      </p:sp>
      <p:sp>
        <p:nvSpPr>
          <p:cNvPr id="14" name="Text 11">
            <a:extLst xmlns:a="http://schemas.openxmlformats.org/drawingml/2006/main">
              <a:ext uri="{FF2B5EF4-FFF2-40B4-BE49-F238E27FC236}">
                <a16:creationId xmlns:a16="http://schemas.microsoft.com/office/drawing/2014/main" id="{D0C8309A-01A3-44AE-B3B6-BAC2498D9402}"/>
              </a:ext>
            </a:extLst>
          </p:cNvPr>
          <p:cNvSpPr>
            <a:spLocks xmlns:a="http://schemas.openxmlformats.org/drawingml/2006/main" noGrp="1"/>
          </p:cNvSpPr>
          <p:nvPr/>
        </p:nvSpPr>
        <p:spPr>
          <a:xfrm xmlns:a="http://schemas.openxmlformats.org/drawingml/2006/main">
            <a:off x="9692640" y="5102352"/>
            <a:ext cx="1828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5B6B75"/>
                </a:solidFill>
                <a:latin typeface="Calibri"/>
                <a:ea typeface="Calibri"/>
                <a:cs typeface="Calibri"/>
              </a:rPr>
              <a:t>median wait — what to publish</a:t>
            </a:r>
            <a:endParaRPr sz="1000"/>
          </a:p>
        </p:txBody>
      </p:sp>
    </p:spTree>
    <p:extLst>
      <p:ext uri="{BB962C8B-B14F-4D97-AF65-F5344CB8AC3E}">
        <p14:creationId xmlns:p14="http://schemas.microsoft.com/office/powerpoint/2010/main" val="209394070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59A3529-C7F1-4C31-B035-FC51ECA2832D}"/>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77BBA28E-A2B3-4305-BAA3-0F4DF5E72015}"/>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20</a:t>
            </a:r>
            <a:endParaRPr sz="900"/>
          </a:p>
        </p:txBody>
      </p:sp>
      <p:sp>
        <p:nvSpPr>
          <p:cNvPr id="4" name="Shape 2">
            <a:extLst xmlns:a="http://schemas.openxmlformats.org/drawingml/2006/main">
              <a:ext uri="{FF2B5EF4-FFF2-40B4-BE49-F238E27FC236}">
                <a16:creationId xmlns:a16="http://schemas.microsoft.com/office/drawing/2014/main" id="{E3397056-37B9-4E1E-A72C-8B321E57CB2D}"/>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BC1F7AB4-D193-4AB6-9687-6C22E52029E9}"/>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2</a:t>
            </a:r>
            <a:endParaRPr sz="1050"/>
          </a:p>
        </p:txBody>
      </p:sp>
      <p:sp>
        <p:nvSpPr>
          <p:cNvPr id="6" name="Text 4">
            <a:extLst xmlns:a="http://schemas.openxmlformats.org/drawingml/2006/main">
              <a:ext uri="{FF2B5EF4-FFF2-40B4-BE49-F238E27FC236}">
                <a16:creationId xmlns:a16="http://schemas.microsoft.com/office/drawing/2014/main" id="{D0D45C5C-067C-4AE5-B656-D1C52DA7EEE0}"/>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Shape tools — skew, quantiles, and the outlier discipline</a:t>
            </a:r>
            <a:endParaRPr sz="2800"/>
          </a:p>
        </p:txBody>
      </p:sp>
      <p:sp>
        <p:nvSpPr>
          <p:cNvPr id="7" name="Shape 5">
            <a:extLst xmlns:a="http://schemas.openxmlformats.org/drawingml/2006/main">
              <a:ext uri="{FF2B5EF4-FFF2-40B4-BE49-F238E27FC236}">
                <a16:creationId xmlns:a16="http://schemas.microsoft.com/office/drawing/2014/main" id="{F3310610-9EB6-445F-A820-CE15A903BF00}"/>
              </a:ext>
            </a:extLst>
          </p:cNvPr>
          <p:cNvSpPr>
            <a:spLocks xmlns:a="http://schemas.openxmlformats.org/drawingml/2006/main" noGrp="1"/>
          </p:cNvSpPr>
          <p:nvPr/>
        </p:nvSpPr>
        <p:spPr>
          <a:xfrm xmlns:a="http://schemas.openxmlformats.org/drawingml/2006/main">
            <a:off x="502920" y="1563624"/>
            <a:ext cx="3675888" cy="2377440"/>
          </a:xfrm>
          <a:prstGeom xmlns:a="http://schemas.openxmlformats.org/drawingml/2006/main" prst="roundRect">
            <a:avLst>
              <a:gd name="adj" fmla="val 3462"/>
            </a:avLst>
          </a:prstGeom>
          <a:solidFill xmlns:a="http://schemas.openxmlformats.org/drawingml/2006/main">
            <a:srgbClr val="F3F8F9"/>
          </a:solidFill>
        </p:spPr>
      </p:sp>
      <p:sp>
        <p:nvSpPr>
          <p:cNvPr id="8" name="Shape 6">
            <a:extLst xmlns:a="http://schemas.openxmlformats.org/drawingml/2006/main">
              <a:ext uri="{FF2B5EF4-FFF2-40B4-BE49-F238E27FC236}">
                <a16:creationId xmlns:a16="http://schemas.microsoft.com/office/drawing/2014/main" id="{13AC641C-A948-4FC7-8724-79366C538C96}"/>
              </a:ext>
            </a:extLst>
          </p:cNvPr>
          <p:cNvSpPr>
            <a:spLocks xmlns:a="http://schemas.openxmlformats.org/drawingml/2006/main" noGrp="1"/>
          </p:cNvSpPr>
          <p:nvPr/>
        </p:nvSpPr>
        <p:spPr>
          <a:xfrm xmlns:a="http://schemas.openxmlformats.org/drawingml/2006/main">
            <a:off x="685800" y="1764792"/>
            <a:ext cx="457200" cy="457200"/>
          </a:xfrm>
          <a:prstGeom xmlns:a="http://schemas.openxmlformats.org/drawingml/2006/main" prst="ellipse">
            <a:avLst/>
          </a:prstGeom>
          <a:solidFill xmlns:a="http://schemas.openxmlformats.org/drawingml/2006/main">
            <a:srgbClr val="0E7C86"/>
          </a:solidFill>
        </p:spPr>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0a10f357c68348c8"/>
          <a:stretch xmlns:a="http://schemas.openxmlformats.org/drawingml/2006/main">
            <a:fillRect l="0" t="0" r="0" b="0"/>
          </a:stretch>
        </p:blipFill>
        <p:spPr>
          <a:xfrm xmlns:a="http://schemas.openxmlformats.org/drawingml/2006/main">
            <a:off x="804672" y="1883664"/>
            <a:ext cx="219456" cy="219456"/>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B95F964D-09F3-430C-9683-2DC3515B47E0}"/>
              </a:ext>
            </a:extLst>
          </p:cNvPr>
          <p:cNvSpPr>
            <a:spLocks xmlns:a="http://schemas.openxmlformats.org/drawingml/2006/main" noGrp="1"/>
          </p:cNvSpPr>
          <p:nvPr/>
        </p:nvSpPr>
        <p:spPr>
          <a:xfrm xmlns:a="http://schemas.openxmlformats.org/drawingml/2006/main">
            <a:off x="1280160" y="1837944"/>
            <a:ext cx="271576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3140"/>
                </a:solidFill>
                <a:latin typeface="Cambria"/>
                <a:ea typeface="Cambria"/>
                <a:cs typeface="Cambria"/>
              </a:rPr>
              <a:t>Skewness</a:t>
            </a:r>
            <a:endParaRPr sz="1300"/>
          </a:p>
        </p:txBody>
      </p:sp>
      <p:sp>
        <p:nvSpPr>
          <p:cNvPr id="11" name="Text 8">
            <a:extLst xmlns:a="http://schemas.openxmlformats.org/drawingml/2006/main">
              <a:ext uri="{FF2B5EF4-FFF2-40B4-BE49-F238E27FC236}">
                <a16:creationId xmlns:a16="http://schemas.microsoft.com/office/drawing/2014/main" id="{59FF98D6-2EE7-4973-96A4-7B304606AB41}"/>
              </a:ext>
            </a:extLst>
          </p:cNvPr>
          <p:cNvSpPr>
            <a:spLocks xmlns:a="http://schemas.openxmlformats.org/drawingml/2006/main" noGrp="1"/>
          </p:cNvSpPr>
          <p:nvPr/>
        </p:nvSpPr>
        <p:spPr>
          <a:xfrm xmlns:a="http://schemas.openxmlformats.org/drawingml/2006/main">
            <a:off x="740664" y="2432304"/>
            <a:ext cx="320040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80">
                <a:solidFill>
                  <a:srgbClr val="24313A"/>
                </a:solidFill>
                <a:latin typeface="Calibri"/>
                <a:ea typeface="Calibri"/>
                <a:cs typeface="Calibri"/>
              </a:rPr>
              <a:t>Positive (right) skew — a long right tail — is the signature of durations, counts, and money. Quick diagnostic: mean &gt; median. Our wait times: skew +1.7.</a:t>
            </a:r>
            <a:endParaRPr sz="1080"/>
          </a:p>
        </p:txBody>
      </p:sp>
      <p:sp>
        <p:nvSpPr>
          <p:cNvPr id="12" name="Shape 9">
            <a:extLst xmlns:a="http://schemas.openxmlformats.org/drawingml/2006/main">
              <a:ext uri="{FF2B5EF4-FFF2-40B4-BE49-F238E27FC236}">
                <a16:creationId xmlns:a16="http://schemas.microsoft.com/office/drawing/2014/main" id="{3B813221-1044-460E-BFD5-D20C177EF578}"/>
              </a:ext>
            </a:extLst>
          </p:cNvPr>
          <p:cNvSpPr>
            <a:spLocks xmlns:a="http://schemas.openxmlformats.org/drawingml/2006/main" noGrp="1"/>
          </p:cNvSpPr>
          <p:nvPr/>
        </p:nvSpPr>
        <p:spPr>
          <a:xfrm xmlns:a="http://schemas.openxmlformats.org/drawingml/2006/main">
            <a:off x="4315968" y="1563624"/>
            <a:ext cx="3675888" cy="2377440"/>
          </a:xfrm>
          <a:prstGeom xmlns:a="http://schemas.openxmlformats.org/drawingml/2006/main" prst="roundRect">
            <a:avLst>
              <a:gd name="adj" fmla="val 3462"/>
            </a:avLst>
          </a:prstGeom>
          <a:solidFill xmlns:a="http://schemas.openxmlformats.org/drawingml/2006/main">
            <a:srgbClr val="F3F8F9"/>
          </a:solidFill>
        </p:spPr>
      </p:sp>
      <p:sp>
        <p:nvSpPr>
          <p:cNvPr id="13" name="Shape 10">
            <a:extLst xmlns:a="http://schemas.openxmlformats.org/drawingml/2006/main">
              <a:ext uri="{FF2B5EF4-FFF2-40B4-BE49-F238E27FC236}">
                <a16:creationId xmlns:a16="http://schemas.microsoft.com/office/drawing/2014/main" id="{1B7DA897-E994-44E7-8D3F-B08FA8556BCA}"/>
              </a:ext>
            </a:extLst>
          </p:cNvPr>
          <p:cNvSpPr>
            <a:spLocks xmlns:a="http://schemas.openxmlformats.org/drawingml/2006/main" noGrp="1"/>
          </p:cNvSpPr>
          <p:nvPr/>
        </p:nvSpPr>
        <p:spPr>
          <a:xfrm xmlns:a="http://schemas.openxmlformats.org/drawingml/2006/main">
            <a:off x="4498848" y="1764792"/>
            <a:ext cx="457200" cy="457200"/>
          </a:xfrm>
          <a:prstGeom xmlns:a="http://schemas.openxmlformats.org/drawingml/2006/main" prst="ellipse">
            <a:avLst/>
          </a:prstGeom>
          <a:solidFill xmlns:a="http://schemas.openxmlformats.org/drawingml/2006/main">
            <a:srgbClr val="0E7C86"/>
          </a:solidFill>
        </p:spPr>
      </p:sp>
      <p:pic>
        <p:nvPicPr>
          <p:cNvPr id="42" name="Image 1"/>
          <p:cNvPicPr>
            <a:picLocks xmlns:a="http://schemas.openxmlformats.org/drawingml/2006/main" noChangeAspect="1"/>
          </p:cNvPicPr>
          <p:nvPr/>
        </p:nvPicPr>
        <p:blipFill>
          <a:blip xmlns:r="http://schemas.openxmlformats.org/officeDocument/2006/relationships" xmlns:a="http://schemas.openxmlformats.org/drawingml/2006/main" r:embed="Ra8546e867ca34cd7"/>
          <a:stretch xmlns:a="http://schemas.openxmlformats.org/drawingml/2006/main">
            <a:fillRect l="0" t="0" r="0" b="0"/>
          </a:stretch>
        </p:blipFill>
        <p:spPr>
          <a:xfrm xmlns:a="http://schemas.openxmlformats.org/drawingml/2006/main">
            <a:off x="4617720" y="1883664"/>
            <a:ext cx="219456" cy="219456"/>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D513C704-0A91-4051-AECD-C610D7288AAE}"/>
              </a:ext>
            </a:extLst>
          </p:cNvPr>
          <p:cNvSpPr>
            <a:spLocks xmlns:a="http://schemas.openxmlformats.org/drawingml/2006/main" noGrp="1"/>
          </p:cNvSpPr>
          <p:nvPr/>
        </p:nvSpPr>
        <p:spPr>
          <a:xfrm xmlns:a="http://schemas.openxmlformats.org/drawingml/2006/main">
            <a:off x="5093208" y="1837944"/>
            <a:ext cx="271576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3140"/>
                </a:solidFill>
                <a:latin typeface="Cambria"/>
                <a:ea typeface="Cambria"/>
                <a:cs typeface="Cambria"/>
              </a:rPr>
              <a:t>Quantiles &amp; the 1.5×IQR rule</a:t>
            </a:r>
            <a:endParaRPr sz="1300"/>
          </a:p>
        </p:txBody>
      </p:sp>
      <p:sp>
        <p:nvSpPr>
          <p:cNvPr id="16" name="Text 12">
            <a:extLst xmlns:a="http://schemas.openxmlformats.org/drawingml/2006/main">
              <a:ext uri="{FF2B5EF4-FFF2-40B4-BE49-F238E27FC236}">
                <a16:creationId xmlns:a16="http://schemas.microsoft.com/office/drawing/2014/main" id="{7DD2BC53-0413-469D-8E33-BD37DFBD6A35}"/>
              </a:ext>
            </a:extLst>
          </p:cNvPr>
          <p:cNvSpPr>
            <a:spLocks xmlns:a="http://schemas.openxmlformats.org/drawingml/2006/main" noGrp="1"/>
          </p:cNvSpPr>
          <p:nvPr/>
        </p:nvSpPr>
        <p:spPr>
          <a:xfrm xmlns:a="http://schemas.openxmlformats.org/drawingml/2006/main">
            <a:off x="4553712" y="2432304"/>
            <a:ext cx="320040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80">
                <a:solidFill>
                  <a:srgbClr val="24313A"/>
                </a:solidFill>
                <a:latin typeface="Calibri"/>
                <a:ea typeface="Calibri"/>
                <a:cs typeface="Calibri"/>
              </a:rPr>
              <a:t>Flag outliers reproducibly: below Q1 − 1.5·IQR or above Q3 + 1.5·IQR. On clinic_visits.csv: threshold 47 min → 1,284 waits flagged.</a:t>
            </a:r>
            <a:endParaRPr sz="1080"/>
          </a:p>
        </p:txBody>
      </p:sp>
      <p:sp>
        <p:nvSpPr>
          <p:cNvPr id="17" name="Shape 13">
            <a:extLst xmlns:a="http://schemas.openxmlformats.org/drawingml/2006/main">
              <a:ext uri="{FF2B5EF4-FFF2-40B4-BE49-F238E27FC236}">
                <a16:creationId xmlns:a16="http://schemas.microsoft.com/office/drawing/2014/main" id="{AB428C0D-A77A-4C2A-9D09-4E2E6FABB546}"/>
              </a:ext>
            </a:extLst>
          </p:cNvPr>
          <p:cNvSpPr>
            <a:spLocks xmlns:a="http://schemas.openxmlformats.org/drawingml/2006/main" noGrp="1"/>
          </p:cNvSpPr>
          <p:nvPr/>
        </p:nvSpPr>
        <p:spPr>
          <a:xfrm xmlns:a="http://schemas.openxmlformats.org/drawingml/2006/main">
            <a:off x="8129016" y="1563624"/>
            <a:ext cx="3675888" cy="2377440"/>
          </a:xfrm>
          <a:prstGeom xmlns:a="http://schemas.openxmlformats.org/drawingml/2006/main" prst="roundRect">
            <a:avLst>
              <a:gd name="adj" fmla="val 3462"/>
            </a:avLst>
          </a:prstGeom>
          <a:solidFill xmlns:a="http://schemas.openxmlformats.org/drawingml/2006/main">
            <a:srgbClr val="F3F8F9"/>
          </a:solidFill>
        </p:spPr>
      </p:sp>
      <p:sp>
        <p:nvSpPr>
          <p:cNvPr id="18" name="Shape 14">
            <a:extLst xmlns:a="http://schemas.openxmlformats.org/drawingml/2006/main">
              <a:ext uri="{FF2B5EF4-FFF2-40B4-BE49-F238E27FC236}">
                <a16:creationId xmlns:a16="http://schemas.microsoft.com/office/drawing/2014/main" id="{872B1576-8E83-48F4-8831-3C17253F04D8}"/>
              </a:ext>
            </a:extLst>
          </p:cNvPr>
          <p:cNvSpPr>
            <a:spLocks xmlns:a="http://schemas.openxmlformats.org/drawingml/2006/main" noGrp="1"/>
          </p:cNvSpPr>
          <p:nvPr/>
        </p:nvSpPr>
        <p:spPr>
          <a:xfrm xmlns:a="http://schemas.openxmlformats.org/drawingml/2006/main">
            <a:off x="8311896" y="1764792"/>
            <a:ext cx="457200" cy="457200"/>
          </a:xfrm>
          <a:prstGeom xmlns:a="http://schemas.openxmlformats.org/drawingml/2006/main" prst="ellipse">
            <a:avLst/>
          </a:prstGeom>
          <a:solidFill xmlns:a="http://schemas.openxmlformats.org/drawingml/2006/main">
            <a:srgbClr val="0E7C86"/>
          </a:solidFill>
        </p:spPr>
      </p:sp>
      <p:pic>
        <p:nvPicPr>
          <p:cNvPr id="47" name="Image 2"/>
          <p:cNvPicPr>
            <a:picLocks xmlns:a="http://schemas.openxmlformats.org/drawingml/2006/main" noChangeAspect="1"/>
          </p:cNvPicPr>
          <p:nvPr/>
        </p:nvPicPr>
        <p:blipFill>
          <a:blip xmlns:r="http://schemas.openxmlformats.org/officeDocument/2006/relationships" xmlns:a="http://schemas.openxmlformats.org/drawingml/2006/main" r:embed="R7b2f2d3c9f644b33"/>
          <a:stretch xmlns:a="http://schemas.openxmlformats.org/drawingml/2006/main">
            <a:fillRect l="0" t="0" r="0" b="0"/>
          </a:stretch>
        </p:blipFill>
        <p:spPr>
          <a:xfrm xmlns:a="http://schemas.openxmlformats.org/drawingml/2006/main">
            <a:off x="8430768" y="1883664"/>
            <a:ext cx="219456" cy="219456"/>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2EF82B52-D025-4412-8831-39C0FEAE5BF0}"/>
              </a:ext>
            </a:extLst>
          </p:cNvPr>
          <p:cNvSpPr>
            <a:spLocks xmlns:a="http://schemas.openxmlformats.org/drawingml/2006/main" noGrp="1"/>
          </p:cNvSpPr>
          <p:nvPr/>
        </p:nvSpPr>
        <p:spPr>
          <a:xfrm xmlns:a="http://schemas.openxmlformats.org/drawingml/2006/main">
            <a:off x="8906256" y="1837944"/>
            <a:ext cx="271576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3140"/>
                </a:solidFill>
                <a:latin typeface="Cambria"/>
                <a:ea typeface="Cambria"/>
                <a:cs typeface="Cambria"/>
              </a:rPr>
              <a:t>Kurtosis</a:t>
            </a:r>
            <a:endParaRPr sz="1300"/>
          </a:p>
        </p:txBody>
      </p:sp>
      <p:sp>
        <p:nvSpPr>
          <p:cNvPr id="21" name="Text 16">
            <a:extLst xmlns:a="http://schemas.openxmlformats.org/drawingml/2006/main">
              <a:ext uri="{FF2B5EF4-FFF2-40B4-BE49-F238E27FC236}">
                <a16:creationId xmlns:a16="http://schemas.microsoft.com/office/drawing/2014/main" id="{EA08A27C-CACC-412A-9B03-420EE03B84E3}"/>
              </a:ext>
            </a:extLst>
          </p:cNvPr>
          <p:cNvSpPr>
            <a:spLocks xmlns:a="http://schemas.openxmlformats.org/drawingml/2006/main" noGrp="1"/>
          </p:cNvSpPr>
          <p:nvPr/>
        </p:nvSpPr>
        <p:spPr>
          <a:xfrm xmlns:a="http://schemas.openxmlformats.org/drawingml/2006/main">
            <a:off x="8366760" y="2432304"/>
            <a:ext cx="320040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80">
                <a:solidFill>
                  <a:srgbClr val="24313A"/>
                </a:solidFill>
                <a:latin typeface="Calibri"/>
                <a:ea typeface="Calibri"/>
                <a:cs typeface="Calibri"/>
              </a:rPr>
              <a:t>Tail heaviness: high kurtosis means outliers are more common than a Normal predicts — directly relevant to risk.</a:t>
            </a:r>
            <a:endParaRPr sz="1080"/>
          </a:p>
        </p:txBody>
      </p:sp>
      <p:sp>
        <p:nvSpPr>
          <p:cNvPr id="22" name="Shape 17">
            <a:extLst xmlns:a="http://schemas.openxmlformats.org/drawingml/2006/main">
              <a:ext uri="{FF2B5EF4-FFF2-40B4-BE49-F238E27FC236}">
                <a16:creationId xmlns:a16="http://schemas.microsoft.com/office/drawing/2014/main" id="{0117B224-10E3-4CB0-AD2B-2D02F07BE32C}"/>
              </a:ext>
            </a:extLst>
          </p:cNvPr>
          <p:cNvSpPr>
            <a:spLocks xmlns:a="http://schemas.openxmlformats.org/drawingml/2006/main" noGrp="1"/>
          </p:cNvSpPr>
          <p:nvPr/>
        </p:nvSpPr>
        <p:spPr>
          <a:xfrm xmlns:a="http://schemas.openxmlformats.org/drawingml/2006/main">
            <a:off x="502920" y="4169664"/>
            <a:ext cx="11201400" cy="1874520"/>
          </a:xfrm>
          <a:prstGeom xmlns:a="http://schemas.openxmlformats.org/drawingml/2006/main" prst="roundRect">
            <a:avLst>
              <a:gd name="adj" fmla="val 4390"/>
            </a:avLst>
          </a:prstGeom>
          <a:solidFill xmlns:a="http://schemas.openxmlformats.org/drawingml/2006/main">
            <a:srgbClr val="FBEEDD"/>
          </a:solidFill>
        </p:spPr>
      </p:sp>
      <p:sp>
        <p:nvSpPr>
          <p:cNvPr id="23" name="Shape 18">
            <a:extLst xmlns:a="http://schemas.openxmlformats.org/drawingml/2006/main">
              <a:ext uri="{FF2B5EF4-FFF2-40B4-BE49-F238E27FC236}">
                <a16:creationId xmlns:a16="http://schemas.microsoft.com/office/drawing/2014/main" id="{B994D0E0-8C48-4F08-BE27-6C35CF2DE42E}"/>
              </a:ext>
            </a:extLst>
          </p:cNvPr>
          <p:cNvSpPr>
            <a:spLocks xmlns:a="http://schemas.openxmlformats.org/drawingml/2006/main" noGrp="1"/>
          </p:cNvSpPr>
          <p:nvPr/>
        </p:nvSpPr>
        <p:spPr>
          <a:xfrm xmlns:a="http://schemas.openxmlformats.org/drawingml/2006/main">
            <a:off x="777240" y="4443984"/>
            <a:ext cx="502920" cy="502920"/>
          </a:xfrm>
          <a:prstGeom xmlns:a="http://schemas.openxmlformats.org/drawingml/2006/main" prst="ellipse">
            <a:avLst/>
          </a:prstGeom>
          <a:solidFill xmlns:a="http://schemas.openxmlformats.org/drawingml/2006/main">
            <a:srgbClr val="C2660A"/>
          </a:solidFill>
        </p:spPr>
      </p:sp>
      <p:pic>
        <p:nvPicPr>
          <p:cNvPr id="52" name="Image 3"/>
          <p:cNvPicPr>
            <a:picLocks xmlns:a="http://schemas.openxmlformats.org/drawingml/2006/main" noChangeAspect="1"/>
          </p:cNvPicPr>
          <p:nvPr/>
        </p:nvPicPr>
        <p:blipFill>
          <a:blip xmlns:r="http://schemas.openxmlformats.org/officeDocument/2006/relationships" xmlns:a="http://schemas.openxmlformats.org/drawingml/2006/main" r:embed="Rc9d35acaf5f84c95"/>
          <a:stretch xmlns:a="http://schemas.openxmlformats.org/drawingml/2006/main">
            <a:fillRect l="0" t="0" r="0" b="0"/>
          </a:stretch>
        </p:blipFill>
        <p:spPr>
          <a:xfrm xmlns:a="http://schemas.openxmlformats.org/drawingml/2006/main">
            <a:off x="907999" y="4574743"/>
            <a:ext cx="241402" cy="241402"/>
          </a:xfrm>
          <a:prstGeom xmlns:a="http://schemas.openxmlformats.org/drawingml/2006/main" prst="rect">
            <a:avLst/>
          </a:prstGeom>
        </p:spPr>
      </p:pic>
      <p:sp>
        <p:nvSpPr>
          <p:cNvPr id="25" name="Text 19">
            <a:extLst xmlns:a="http://schemas.openxmlformats.org/drawingml/2006/main">
              <a:ext uri="{FF2B5EF4-FFF2-40B4-BE49-F238E27FC236}">
                <a16:creationId xmlns:a16="http://schemas.microsoft.com/office/drawing/2014/main" id="{17902D3B-2260-438E-92FC-F2FC89EF2E17}"/>
              </a:ext>
            </a:extLst>
          </p:cNvPr>
          <p:cNvSpPr>
            <a:spLocks xmlns:a="http://schemas.openxmlformats.org/drawingml/2006/main" noGrp="1"/>
          </p:cNvSpPr>
          <p:nvPr/>
        </p:nvSpPr>
        <p:spPr>
          <a:xfrm xmlns:a="http://schemas.openxmlformats.org/drawingml/2006/main">
            <a:off x="1463040" y="4398264"/>
            <a:ext cx="996696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400" b="1">
                <a:solidFill>
                  <a:srgbClr val="C2660A"/>
                </a:solidFill>
                <a:latin typeface="Calibri"/>
                <a:ea typeface="Calibri"/>
                <a:cs typeface="Calibri"/>
              </a:rPr>
              <a:t>An outlier is a question, not a verdict.  </a:t>
            </a:r>
            <a:r>
              <a:rPr sz="1250">
                <a:solidFill>
                  <a:srgbClr val="24313A"/>
                </a:solidFill>
                <a:latin typeface="Calibri"/>
                <a:ea typeface="Calibri"/>
                <a:cs typeface="Calibri"/>
              </a:rPr>
              <a:t>A 180-minute wait might be a data error, a genuine crisis day, or a mis-recorded unit. Investigate before deleting; silent outlier removal is a common way to manufacture a cleaner-but-wrong story. In Lab 2 participants inspect five flagged waits and document a keep/drop decision — the documentation is the skill.</a:t>
            </a:r>
            <a:endParaRPr sz="1400"/>
          </a:p>
        </p:txBody>
      </p:sp>
    </p:spTree>
    <p:extLst>
      <p:ext uri="{BB962C8B-B14F-4D97-AF65-F5344CB8AC3E}">
        <p14:creationId xmlns:p14="http://schemas.microsoft.com/office/powerpoint/2010/main" val="150111300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6B6DB24-A86E-4BE7-B605-65CA5DE20BA8}"/>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79D255E0-0BCF-4AE6-8732-B9603BA1EC4E}"/>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21</a:t>
            </a:r>
            <a:endParaRPr sz="900"/>
          </a:p>
        </p:txBody>
      </p:sp>
      <p:sp>
        <p:nvSpPr>
          <p:cNvPr id="4" name="Shape 2">
            <a:extLst xmlns:a="http://schemas.openxmlformats.org/drawingml/2006/main">
              <a:ext uri="{FF2B5EF4-FFF2-40B4-BE49-F238E27FC236}">
                <a16:creationId xmlns:a16="http://schemas.microsoft.com/office/drawing/2014/main" id="{1FAE65E2-6E1C-420A-A591-F98CCDE16934}"/>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9250B953-D40B-46B8-A7E3-6FCD68AAC08C}"/>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2</a:t>
            </a:r>
            <a:endParaRPr sz="1050"/>
          </a:p>
        </p:txBody>
      </p:sp>
      <p:sp>
        <p:nvSpPr>
          <p:cNvPr id="6" name="Text 4">
            <a:extLst xmlns:a="http://schemas.openxmlformats.org/drawingml/2006/main">
              <a:ext uri="{FF2B5EF4-FFF2-40B4-BE49-F238E27FC236}">
                <a16:creationId xmlns:a16="http://schemas.microsoft.com/office/drawing/2014/main" id="{CD167431-3C19-49DF-94EC-7EAE204C9236}"/>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Population → frame → sample: where bias sneaks in</a:t>
            </a:r>
            <a:endParaRPr sz="2800"/>
          </a:p>
        </p:txBody>
      </p:sp>
      <p:sp>
        <p:nvSpPr>
          <p:cNvPr id="7" name="Shape 5">
            <a:extLst xmlns:a="http://schemas.openxmlformats.org/drawingml/2006/main">
              <a:ext uri="{FF2B5EF4-FFF2-40B4-BE49-F238E27FC236}">
                <a16:creationId xmlns:a16="http://schemas.microsoft.com/office/drawing/2014/main" id="{1247BF23-705B-445E-A8D6-1DE845B03EF8}"/>
              </a:ext>
            </a:extLst>
          </p:cNvPr>
          <p:cNvSpPr>
            <a:spLocks xmlns:a="http://schemas.openxmlformats.org/drawingml/2006/main" noGrp="1"/>
          </p:cNvSpPr>
          <p:nvPr/>
        </p:nvSpPr>
        <p:spPr>
          <a:xfrm xmlns:a="http://schemas.openxmlformats.org/drawingml/2006/main">
            <a:off x="640080" y="1700784"/>
            <a:ext cx="5120640" cy="777240"/>
          </a:xfrm>
          <a:prstGeom xmlns:a="http://schemas.openxmlformats.org/drawingml/2006/main" prst="roundRect">
            <a:avLst>
              <a:gd name="adj" fmla="val 11765"/>
            </a:avLst>
          </a:prstGeom>
          <a:solidFill xmlns:a="http://schemas.openxmlformats.org/drawingml/2006/main">
            <a:srgbClr val="0B3140"/>
          </a:solidFill>
        </p:spPr>
      </p:sp>
      <p:sp>
        <p:nvSpPr>
          <p:cNvPr id="8" name="Text 6">
            <a:extLst xmlns:a="http://schemas.openxmlformats.org/drawingml/2006/main">
              <a:ext uri="{FF2B5EF4-FFF2-40B4-BE49-F238E27FC236}">
                <a16:creationId xmlns:a16="http://schemas.microsoft.com/office/drawing/2014/main" id="{D858E644-B2F5-4BE3-8DF3-477E3BC1A143}"/>
              </a:ext>
            </a:extLst>
          </p:cNvPr>
          <p:cNvSpPr>
            <a:spLocks xmlns:a="http://schemas.openxmlformats.org/drawingml/2006/main" noGrp="1"/>
          </p:cNvSpPr>
          <p:nvPr/>
        </p:nvSpPr>
        <p:spPr>
          <a:xfrm xmlns:a="http://schemas.openxmlformats.org/drawingml/2006/main">
            <a:off x="640080" y="1700784"/>
            <a:ext cx="51206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POPULATION — everyone the claim is about</a:t>
            </a:r>
            <a:endParaRPr sz="1100"/>
          </a:p>
        </p:txBody>
      </p:sp>
      <p:sp>
        <p:nvSpPr>
          <p:cNvPr id="9" name="Shape 7">
            <a:extLst xmlns:a="http://schemas.openxmlformats.org/drawingml/2006/main">
              <a:ext uri="{FF2B5EF4-FFF2-40B4-BE49-F238E27FC236}">
                <a16:creationId xmlns:a16="http://schemas.microsoft.com/office/drawing/2014/main" id="{3270FD29-031D-4042-8231-404959FDC7C5}"/>
              </a:ext>
            </a:extLst>
          </p:cNvPr>
          <p:cNvSpPr>
            <a:spLocks xmlns:a="http://schemas.openxmlformats.org/drawingml/2006/main" noGrp="1"/>
          </p:cNvSpPr>
          <p:nvPr/>
        </p:nvSpPr>
        <p:spPr>
          <a:xfrm xmlns:a="http://schemas.openxmlformats.org/drawingml/2006/main">
            <a:off x="1143000" y="2660904"/>
            <a:ext cx="4114800" cy="777240"/>
          </a:xfrm>
          <a:prstGeom xmlns:a="http://schemas.openxmlformats.org/drawingml/2006/main" prst="roundRect">
            <a:avLst>
              <a:gd name="adj" fmla="val 11765"/>
            </a:avLst>
          </a:prstGeom>
          <a:solidFill xmlns:a="http://schemas.openxmlformats.org/drawingml/2006/main">
            <a:srgbClr val="0E7C86"/>
          </a:solidFill>
        </p:spPr>
      </p:sp>
      <p:sp>
        <p:nvSpPr>
          <p:cNvPr id="10" name="Text 8">
            <a:extLst xmlns:a="http://schemas.openxmlformats.org/drawingml/2006/main">
              <a:ext uri="{FF2B5EF4-FFF2-40B4-BE49-F238E27FC236}">
                <a16:creationId xmlns:a16="http://schemas.microsoft.com/office/drawing/2014/main" id="{AEEEAD94-54D6-4031-ACC6-D7D0F2C5B23B}"/>
              </a:ext>
            </a:extLst>
          </p:cNvPr>
          <p:cNvSpPr>
            <a:spLocks xmlns:a="http://schemas.openxmlformats.org/drawingml/2006/main" noGrp="1"/>
          </p:cNvSpPr>
          <p:nvPr/>
        </p:nvSpPr>
        <p:spPr>
          <a:xfrm xmlns:a="http://schemas.openxmlformats.org/drawingml/2006/main">
            <a:off x="1143000" y="2660904"/>
            <a:ext cx="41148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SAMPLING FRAME — the list we can draw from</a:t>
            </a:r>
            <a:endParaRPr sz="1100"/>
          </a:p>
        </p:txBody>
      </p:sp>
      <p:sp>
        <p:nvSpPr>
          <p:cNvPr id="11" name="Shape 9">
            <a:extLst xmlns:a="http://schemas.openxmlformats.org/drawingml/2006/main">
              <a:ext uri="{FF2B5EF4-FFF2-40B4-BE49-F238E27FC236}">
                <a16:creationId xmlns:a16="http://schemas.microsoft.com/office/drawing/2014/main" id="{11CA3447-0365-4520-880A-0DD9BB9E394E}"/>
              </a:ext>
            </a:extLst>
          </p:cNvPr>
          <p:cNvSpPr>
            <a:spLocks xmlns:a="http://schemas.openxmlformats.org/drawingml/2006/main" noGrp="1"/>
          </p:cNvSpPr>
          <p:nvPr/>
        </p:nvSpPr>
        <p:spPr>
          <a:xfrm xmlns:a="http://schemas.openxmlformats.org/drawingml/2006/main">
            <a:off x="1645920" y="3621024"/>
            <a:ext cx="3108960" cy="777240"/>
          </a:xfrm>
          <a:prstGeom xmlns:a="http://schemas.openxmlformats.org/drawingml/2006/main" prst="roundRect">
            <a:avLst>
              <a:gd name="adj" fmla="val 11765"/>
            </a:avLst>
          </a:prstGeom>
          <a:solidFill xmlns:a="http://schemas.openxmlformats.org/drawingml/2006/main">
            <a:srgbClr val="E7F2F3"/>
          </a:solidFill>
        </p:spPr>
      </p:sp>
      <p:sp>
        <p:nvSpPr>
          <p:cNvPr id="12" name="Text 10">
            <a:extLst xmlns:a="http://schemas.openxmlformats.org/drawingml/2006/main">
              <a:ext uri="{FF2B5EF4-FFF2-40B4-BE49-F238E27FC236}">
                <a16:creationId xmlns:a16="http://schemas.microsoft.com/office/drawing/2014/main" id="{D7E0DD28-39BE-428B-A23C-B703C2D56CFE}"/>
              </a:ext>
            </a:extLst>
          </p:cNvPr>
          <p:cNvSpPr>
            <a:spLocks xmlns:a="http://schemas.openxmlformats.org/drawingml/2006/main" noGrp="1"/>
          </p:cNvSpPr>
          <p:nvPr/>
        </p:nvSpPr>
        <p:spPr>
          <a:xfrm xmlns:a="http://schemas.openxmlformats.org/drawingml/2006/main">
            <a:off x="1645920" y="3621024"/>
            <a:ext cx="31089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B3140"/>
                </a:solidFill>
                <a:latin typeface="Calibri"/>
                <a:ea typeface="Calibri"/>
                <a:cs typeface="Calibri"/>
              </a:rPr>
              <a:t>SAMPLE — who we actually measure</a:t>
            </a:r>
            <a:endParaRPr sz="1100"/>
          </a:p>
        </p:txBody>
      </p:sp>
      <p:sp>
        <p:nvSpPr>
          <p:cNvPr id="13" name="Text 11">
            <a:extLst xmlns:a="http://schemas.openxmlformats.org/drawingml/2006/main">
              <a:ext uri="{FF2B5EF4-FFF2-40B4-BE49-F238E27FC236}">
                <a16:creationId xmlns:a16="http://schemas.microsoft.com/office/drawing/2014/main" id="{7C6E2FA9-3015-4BF7-8922-C3EA728819DC}"/>
              </a:ext>
            </a:extLst>
          </p:cNvPr>
          <p:cNvSpPr>
            <a:spLocks xmlns:a="http://schemas.openxmlformats.org/drawingml/2006/main" noGrp="1"/>
          </p:cNvSpPr>
          <p:nvPr/>
        </p:nvSpPr>
        <p:spPr>
          <a:xfrm xmlns:a="http://schemas.openxmlformats.org/drawingml/2006/main">
            <a:off x="4983480" y="2569464"/>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B4232A"/>
                </a:solidFill>
                <a:latin typeface="Calibri"/>
                <a:ea typeface="Calibri"/>
                <a:cs typeface="Calibri"/>
              </a:rPr>
              <a:t>coverage gap →</a:t>
            </a:r>
            <a:endParaRPr sz="950"/>
          </a:p>
        </p:txBody>
      </p:sp>
      <p:sp>
        <p:nvSpPr>
          <p:cNvPr id="14" name="Text 12">
            <a:extLst xmlns:a="http://schemas.openxmlformats.org/drawingml/2006/main">
              <a:ext uri="{FF2B5EF4-FFF2-40B4-BE49-F238E27FC236}">
                <a16:creationId xmlns:a16="http://schemas.microsoft.com/office/drawing/2014/main" id="{2DFDF83C-D8A8-4C1E-9718-CB9B767B77C7}"/>
              </a:ext>
            </a:extLst>
          </p:cNvPr>
          <p:cNvSpPr>
            <a:spLocks xmlns:a="http://schemas.openxmlformats.org/drawingml/2006/main" noGrp="1"/>
          </p:cNvSpPr>
          <p:nvPr/>
        </p:nvSpPr>
        <p:spPr>
          <a:xfrm xmlns:a="http://schemas.openxmlformats.org/drawingml/2006/main">
            <a:off x="4617720" y="3529584"/>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B4232A"/>
                </a:solidFill>
                <a:latin typeface="Calibri"/>
                <a:ea typeface="Calibri"/>
                <a:cs typeface="Calibri"/>
              </a:rPr>
              <a:t>non-response gap →</a:t>
            </a:r>
            <a:endParaRPr sz="950"/>
          </a:p>
        </p:txBody>
      </p:sp>
      <p:sp>
        <p:nvSpPr>
          <p:cNvPr id="15" name="Shape 13">
            <a:extLst xmlns:a="http://schemas.openxmlformats.org/drawingml/2006/main">
              <a:ext uri="{FF2B5EF4-FFF2-40B4-BE49-F238E27FC236}">
                <a16:creationId xmlns:a16="http://schemas.microsoft.com/office/drawing/2014/main" id="{CA7883CF-54D6-4B36-B877-305203390936}"/>
              </a:ext>
            </a:extLst>
          </p:cNvPr>
          <p:cNvSpPr>
            <a:spLocks xmlns:a="http://schemas.openxmlformats.org/drawingml/2006/main" noGrp="1"/>
          </p:cNvSpPr>
          <p:nvPr/>
        </p:nvSpPr>
        <p:spPr>
          <a:xfrm xmlns:a="http://schemas.openxmlformats.org/drawingml/2006/main">
            <a:off x="6400800" y="1609344"/>
            <a:ext cx="5257800" cy="896112"/>
          </a:xfrm>
          <a:prstGeom xmlns:a="http://schemas.openxmlformats.org/drawingml/2006/main" prst="roundRect">
            <a:avLst>
              <a:gd name="adj" fmla="val 9184"/>
            </a:avLst>
          </a:prstGeom>
          <a:solidFill xmlns:a="http://schemas.openxmlformats.org/drawingml/2006/main">
            <a:srgbClr val="F3F8F9"/>
          </a:solidFill>
        </p:spPr>
      </p:sp>
      <p:sp>
        <p:nvSpPr>
          <p:cNvPr id="16" name="Text 14">
            <a:extLst xmlns:a="http://schemas.openxmlformats.org/drawingml/2006/main">
              <a:ext uri="{FF2B5EF4-FFF2-40B4-BE49-F238E27FC236}">
                <a16:creationId xmlns:a16="http://schemas.microsoft.com/office/drawing/2014/main" id="{46B20734-B8B2-4EEE-A445-A7434B73844A}"/>
              </a:ext>
            </a:extLst>
          </p:cNvPr>
          <p:cNvSpPr>
            <a:spLocks xmlns:a="http://schemas.openxmlformats.org/drawingml/2006/main" noGrp="1"/>
          </p:cNvSpPr>
          <p:nvPr/>
        </p:nvSpPr>
        <p:spPr>
          <a:xfrm xmlns:a="http://schemas.openxmlformats.org/drawingml/2006/main">
            <a:off x="6675120" y="1682496"/>
            <a:ext cx="47548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00" b="1">
                <a:solidFill>
                  <a:srgbClr val="0B3140"/>
                </a:solidFill>
                <a:latin typeface="Calibri"/>
                <a:ea typeface="Calibri"/>
                <a:cs typeface="Calibri"/>
              </a:rPr>
              <a:t>Coverage / selection:  </a:t>
            </a:r>
            <a:r>
              <a:rPr sz="1100">
                <a:solidFill>
                  <a:srgbClr val="24313A"/>
                </a:solidFill>
                <a:latin typeface="Calibri"/>
                <a:ea typeface="Calibri"/>
                <a:cs typeface="Calibri"/>
              </a:rPr>
              <a:t>The frame omits part of the population — an online survey misses patients without smartphones.</a:t>
            </a:r>
            <a:endParaRPr sz="1100"/>
          </a:p>
        </p:txBody>
      </p:sp>
      <p:sp>
        <p:nvSpPr>
          <p:cNvPr id="17" name="Shape 15">
            <a:extLst xmlns:a="http://schemas.openxmlformats.org/drawingml/2006/main">
              <a:ext uri="{FF2B5EF4-FFF2-40B4-BE49-F238E27FC236}">
                <a16:creationId xmlns:a16="http://schemas.microsoft.com/office/drawing/2014/main" id="{B3FC8A15-EF04-4658-BC25-5D203DCAE1FB}"/>
              </a:ext>
            </a:extLst>
          </p:cNvPr>
          <p:cNvSpPr>
            <a:spLocks xmlns:a="http://schemas.openxmlformats.org/drawingml/2006/main" noGrp="1"/>
          </p:cNvSpPr>
          <p:nvPr/>
        </p:nvSpPr>
        <p:spPr>
          <a:xfrm xmlns:a="http://schemas.openxmlformats.org/drawingml/2006/main">
            <a:off x="6400800" y="2615184"/>
            <a:ext cx="5257800" cy="896112"/>
          </a:xfrm>
          <a:prstGeom xmlns:a="http://schemas.openxmlformats.org/drawingml/2006/main" prst="roundRect">
            <a:avLst>
              <a:gd name="adj" fmla="val 9184"/>
            </a:avLst>
          </a:prstGeom>
          <a:solidFill xmlns:a="http://schemas.openxmlformats.org/drawingml/2006/main">
            <a:srgbClr val="F3F8F9"/>
          </a:solidFill>
        </p:spPr>
      </p:sp>
      <p:sp>
        <p:nvSpPr>
          <p:cNvPr id="18" name="Text 16">
            <a:extLst xmlns:a="http://schemas.openxmlformats.org/drawingml/2006/main">
              <a:ext uri="{FF2B5EF4-FFF2-40B4-BE49-F238E27FC236}">
                <a16:creationId xmlns:a16="http://schemas.microsoft.com/office/drawing/2014/main" id="{CC615DC5-D2A4-4D22-9741-851D025E7B51}"/>
              </a:ext>
            </a:extLst>
          </p:cNvPr>
          <p:cNvSpPr>
            <a:spLocks xmlns:a="http://schemas.openxmlformats.org/drawingml/2006/main" noGrp="1"/>
          </p:cNvSpPr>
          <p:nvPr/>
        </p:nvSpPr>
        <p:spPr>
          <a:xfrm xmlns:a="http://schemas.openxmlformats.org/drawingml/2006/main">
            <a:off x="6675120" y="2688336"/>
            <a:ext cx="47548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00" b="1">
                <a:solidFill>
                  <a:srgbClr val="0B3140"/>
                </a:solidFill>
                <a:latin typeface="Calibri"/>
                <a:ea typeface="Calibri"/>
                <a:cs typeface="Calibri"/>
              </a:rPr>
              <a:t>Non-response:  </a:t>
            </a:r>
            <a:r>
              <a:rPr sz="1100">
                <a:solidFill>
                  <a:srgbClr val="24313A"/>
                </a:solidFill>
                <a:latin typeface="Calibri"/>
                <a:ea typeface="Calibri"/>
                <a:cs typeface="Calibri"/>
              </a:rPr>
              <a:t>Responders differ from non-responders — satisfied patients answer satisfaction surveys more.</a:t>
            </a:r>
            <a:endParaRPr sz="1100"/>
          </a:p>
        </p:txBody>
      </p:sp>
      <p:sp>
        <p:nvSpPr>
          <p:cNvPr id="19" name="Shape 17">
            <a:extLst xmlns:a="http://schemas.openxmlformats.org/drawingml/2006/main">
              <a:ext uri="{FF2B5EF4-FFF2-40B4-BE49-F238E27FC236}">
                <a16:creationId xmlns:a16="http://schemas.microsoft.com/office/drawing/2014/main" id="{35EAAE4F-70F5-4684-BFB1-832E346161A5}"/>
              </a:ext>
            </a:extLst>
          </p:cNvPr>
          <p:cNvSpPr>
            <a:spLocks xmlns:a="http://schemas.openxmlformats.org/drawingml/2006/main" noGrp="1"/>
          </p:cNvSpPr>
          <p:nvPr/>
        </p:nvSpPr>
        <p:spPr>
          <a:xfrm xmlns:a="http://schemas.openxmlformats.org/drawingml/2006/main">
            <a:off x="6400800" y="3621024"/>
            <a:ext cx="5257800" cy="896112"/>
          </a:xfrm>
          <a:prstGeom xmlns:a="http://schemas.openxmlformats.org/drawingml/2006/main" prst="roundRect">
            <a:avLst>
              <a:gd name="adj" fmla="val 9184"/>
            </a:avLst>
          </a:prstGeom>
          <a:solidFill xmlns:a="http://schemas.openxmlformats.org/drawingml/2006/main">
            <a:srgbClr val="F3F8F9"/>
          </a:solidFill>
        </p:spPr>
      </p:sp>
      <p:sp>
        <p:nvSpPr>
          <p:cNvPr id="20" name="Text 18">
            <a:extLst xmlns:a="http://schemas.openxmlformats.org/drawingml/2006/main">
              <a:ext uri="{FF2B5EF4-FFF2-40B4-BE49-F238E27FC236}">
                <a16:creationId xmlns:a16="http://schemas.microsoft.com/office/drawing/2014/main" id="{304E3872-CEB9-466F-8F49-DE4AE97EA5A8}"/>
              </a:ext>
            </a:extLst>
          </p:cNvPr>
          <p:cNvSpPr>
            <a:spLocks xmlns:a="http://schemas.openxmlformats.org/drawingml/2006/main" noGrp="1"/>
          </p:cNvSpPr>
          <p:nvPr/>
        </p:nvSpPr>
        <p:spPr>
          <a:xfrm xmlns:a="http://schemas.openxmlformats.org/drawingml/2006/main">
            <a:off x="6675120" y="3694176"/>
            <a:ext cx="47548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00" b="1">
                <a:solidFill>
                  <a:srgbClr val="0B3140"/>
                </a:solidFill>
                <a:latin typeface="Calibri"/>
                <a:ea typeface="Calibri"/>
                <a:cs typeface="Calibri"/>
              </a:rPr>
              <a:t>Survivorship:  </a:t>
            </a:r>
            <a:r>
              <a:rPr sz="1100">
                <a:solidFill>
                  <a:srgbClr val="24313A"/>
                </a:solidFill>
                <a:latin typeface="Calibri"/>
                <a:ea typeface="Calibri"/>
                <a:cs typeface="Calibri"/>
              </a:rPr>
              <a:t>You only see units that "survived" to be observed — analysing only patients who attended tells you nothing reliable about no-shows.</a:t>
            </a:r>
            <a:endParaRPr sz="1100"/>
          </a:p>
        </p:txBody>
      </p:sp>
      <p:sp>
        <p:nvSpPr>
          <p:cNvPr id="21" name="Shape 19">
            <a:extLst xmlns:a="http://schemas.openxmlformats.org/drawingml/2006/main">
              <a:ext uri="{FF2B5EF4-FFF2-40B4-BE49-F238E27FC236}">
                <a16:creationId xmlns:a16="http://schemas.microsoft.com/office/drawing/2014/main" id="{8C6B80B2-A3F5-4693-A974-4EC890FD8201}"/>
              </a:ext>
            </a:extLst>
          </p:cNvPr>
          <p:cNvSpPr>
            <a:spLocks xmlns:a="http://schemas.openxmlformats.org/drawingml/2006/main" noGrp="1"/>
          </p:cNvSpPr>
          <p:nvPr/>
        </p:nvSpPr>
        <p:spPr>
          <a:xfrm xmlns:a="http://schemas.openxmlformats.org/drawingml/2006/main">
            <a:off x="502920" y="4809744"/>
            <a:ext cx="11201400" cy="1234440"/>
          </a:xfrm>
          <a:prstGeom xmlns:a="http://schemas.openxmlformats.org/drawingml/2006/main" prst="roundRect">
            <a:avLst>
              <a:gd name="adj" fmla="val 6667"/>
            </a:avLst>
          </a:prstGeom>
          <a:solidFill xmlns:a="http://schemas.openxmlformats.org/drawingml/2006/main">
            <a:srgbClr val="0B3140"/>
          </a:solidFill>
        </p:spPr>
      </p:sp>
      <p:sp>
        <p:nvSpPr>
          <p:cNvPr id="22" name="Text 20">
            <a:extLst xmlns:a="http://schemas.openxmlformats.org/drawingml/2006/main">
              <a:ext uri="{FF2B5EF4-FFF2-40B4-BE49-F238E27FC236}">
                <a16:creationId xmlns:a16="http://schemas.microsoft.com/office/drawing/2014/main" id="{0C9D8BB0-389C-42EB-B81D-F68167115DB8}"/>
              </a:ext>
            </a:extLst>
          </p:cNvPr>
          <p:cNvSpPr>
            <a:spLocks xmlns:a="http://schemas.openxmlformats.org/drawingml/2006/main" noGrp="1"/>
          </p:cNvSpPr>
          <p:nvPr/>
        </p:nvSpPr>
        <p:spPr>
          <a:xfrm xmlns:a="http://schemas.openxmlformats.org/drawingml/2006/main">
            <a:off x="868680" y="4992624"/>
            <a:ext cx="105156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300" b="1">
                <a:solidFill>
                  <a:srgbClr val="6FB3BC"/>
                </a:solidFill>
                <a:latin typeface="Calibri"/>
                <a:ea typeface="Calibri"/>
                <a:cs typeface="Calibri"/>
              </a:rPr>
              <a:t>The single most important idea of the module:  </a:t>
            </a:r>
            <a:r>
              <a:rPr sz="1300">
                <a:solidFill>
                  <a:srgbClr val="FFFFFF"/>
                </a:solidFill>
                <a:latin typeface="Calibri"/>
                <a:ea typeface="Calibri"/>
                <a:cs typeface="Calibri"/>
              </a:rPr>
              <a:t>no sample size fixes a biased frame. A biased estimate computed on a million records is still biased — it just has a tighter, falsely confident interval around the wrong number. Bias is a property of the process, not the size.</a:t>
            </a:r>
            <a:endParaRPr sz="1300"/>
          </a:p>
        </p:txBody>
      </p:sp>
    </p:spTree>
    <p:extLst>
      <p:ext uri="{BB962C8B-B14F-4D97-AF65-F5344CB8AC3E}">
        <p14:creationId xmlns:p14="http://schemas.microsoft.com/office/powerpoint/2010/main" val="103190071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2BCEDEF-6409-456F-BABC-28607A346553}"/>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DC7EDC60-7757-46C8-9182-BD4806CF4115}"/>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22</a:t>
            </a:r>
            <a:endParaRPr sz="900"/>
          </a:p>
        </p:txBody>
      </p:sp>
      <p:sp>
        <p:nvSpPr>
          <p:cNvPr id="4" name="Shape 2">
            <a:extLst xmlns:a="http://schemas.openxmlformats.org/drawingml/2006/main">
              <a:ext uri="{FF2B5EF4-FFF2-40B4-BE49-F238E27FC236}">
                <a16:creationId xmlns:a16="http://schemas.microsoft.com/office/drawing/2014/main" id="{BE1CBD83-8353-440E-9750-2780A0E9E8B8}"/>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D9CB5C3E-BDBA-4D4F-8233-B573D5C26AE4}"/>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2</a:t>
            </a:r>
            <a:endParaRPr sz="1050"/>
          </a:p>
        </p:txBody>
      </p:sp>
      <p:sp>
        <p:nvSpPr>
          <p:cNvPr id="6" name="Text 4">
            <a:extLst xmlns:a="http://schemas.openxmlformats.org/drawingml/2006/main">
              <a:ext uri="{FF2B5EF4-FFF2-40B4-BE49-F238E27FC236}">
                <a16:creationId xmlns:a16="http://schemas.microsoft.com/office/drawing/2014/main" id="{867B5E06-7056-4A08-9024-EC45FDB57002}"/>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Probability sampling designs — choose for the estimand</a:t>
            </a:r>
            <a:endParaRPr sz="2800"/>
          </a:p>
        </p:txBody>
      </p:sp>
      <p:graphicFrame>
        <p:nvGraphicFramePr>
          <p:cNvPr id="19" name="Table 0"/>
          <p:cNvGraphicFramePr/>
          <p:nvPr/>
        </p:nvGraphicFramePr>
        <p:xfrm>
          <a:off xmlns:a="http://schemas.openxmlformats.org/drawingml/2006/main" x="502920" y="1563624"/>
          <a:ext xmlns:a="http://schemas.openxmlformats.org/drawingml/2006/main" cx="11201400" cy="914400"/>
        </p:xfrm>
        <a:graphic xmlns:a="http://schemas.openxmlformats.org/drawingml/2006/main">
          <a:graphicData uri="http://schemas.openxmlformats.org/drawingml/2006/table">
            <a:tbl>
              <a:tblPr/>
              <a:tblGrid>
                <a:gridCol w="2103120"/>
                <a:gridCol w="3017520"/>
                <a:gridCol w="3200400"/>
                <a:gridCol w="2880360"/>
              </a:tblGrid>
              <a:tr h="512064">
                <a:tc>
                  <a:txBody>
                    <a:bodyPr/>
                    <a:lstStyle/>
                    <a:p>
                      <a:pPr marL="0" indent="0">
                        <a:buNone/>
                      </a:pPr>
                      <a:r>
                        <a:rPr sz="1150" b="1">
                          <a:solidFill>
                            <a:srgbClr val="FFFFFF"/>
                          </a:solidFill>
                          <a:latin typeface="Calibri"/>
                          <a:ea typeface="Calibri"/>
                          <a:cs typeface="Calibri"/>
                        </a:rPr>
                        <a:t>Design</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50" b="1">
                          <a:solidFill>
                            <a:srgbClr val="FFFFFF"/>
                          </a:solidFill>
                          <a:latin typeface="Calibri"/>
                          <a:ea typeface="Calibri"/>
                          <a:cs typeface="Calibri"/>
                        </a:rPr>
                        <a:t>How</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50" b="1">
                          <a:solidFill>
                            <a:srgbClr val="FFFFFF"/>
                          </a:solidFill>
                          <a:latin typeface="Calibri"/>
                          <a:ea typeface="Calibri"/>
                          <a:cs typeface="Calibri"/>
                        </a:rPr>
                        <a:t>When it shines</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50" b="1">
                          <a:solidFill>
                            <a:srgbClr val="FFFFFF"/>
                          </a:solidFill>
                          <a:latin typeface="Calibri"/>
                          <a:ea typeface="Calibri"/>
                          <a:cs typeface="Calibri"/>
                        </a:rPr>
                        <a:t>Risk</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r>
              <a:tr h="512064">
                <a:tc>
                  <a:txBody>
                    <a:bodyPr/>
                    <a:lstStyle/>
                    <a:p>
                      <a:pPr marL="0" indent="0">
                        <a:buNone/>
                      </a:pPr>
                      <a:r>
                        <a:rPr sz="1150" b="1">
                          <a:solidFill>
                            <a:srgbClr val="24313A"/>
                          </a:solidFill>
                          <a:latin typeface="Calibri"/>
                          <a:ea typeface="Calibri"/>
                          <a:cs typeface="Calibri"/>
                        </a:rPr>
                        <a:t>Simple random (SRS)</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Every unit equal chance</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Homogeneous population</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Small subgroups under-represented</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512064">
                <a:tc>
                  <a:txBody>
                    <a:bodyPr/>
                    <a:lstStyle/>
                    <a:p>
                      <a:pPr marL="0" indent="0">
                        <a:buNone/>
                      </a:pPr>
                      <a:r>
                        <a:rPr sz="1150" b="1">
                          <a:solidFill>
                            <a:srgbClr val="0A5C64"/>
                          </a:solidFill>
                          <a:latin typeface="Calibri"/>
                          <a:ea typeface="Calibri"/>
                          <a:cs typeface="Calibri"/>
                        </a:rPr>
                        <a:t>Stratified</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Split into strata; sample within each</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b="1">
                          <a:solidFill>
                            <a:srgbClr val="24313A"/>
                          </a:solidFill>
                          <a:latin typeface="Calibri"/>
                          <a:ea typeface="Calibri"/>
                          <a:cs typeface="Calibri"/>
                        </a:rPr>
                        <a:t>Subgroups carry the decision (regions)</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Needs strata info up front</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512064">
                <a:tc>
                  <a:txBody>
                    <a:bodyPr/>
                    <a:lstStyle/>
                    <a:p>
                      <a:pPr marL="0" indent="0">
                        <a:buNone/>
                      </a:pPr>
                      <a:r>
                        <a:rPr sz="1150" b="1">
                          <a:solidFill>
                            <a:srgbClr val="24313A"/>
                          </a:solidFill>
                          <a:latin typeface="Calibri"/>
                          <a:ea typeface="Calibri"/>
                          <a:cs typeface="Calibri"/>
                        </a:rPr>
                        <a:t>Cluster</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Randomly pick whole groups</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Cost / logistics — sample clinics, not patients</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Higher variance if clusters differ</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512064">
                <a:tc>
                  <a:txBody>
                    <a:bodyPr/>
                    <a:lstStyle/>
                    <a:p>
                      <a:pPr marL="0" indent="0">
                        <a:buNone/>
                      </a:pPr>
                      <a:r>
                        <a:rPr sz="1150" b="1">
                          <a:solidFill>
                            <a:srgbClr val="24313A"/>
                          </a:solidFill>
                          <a:latin typeface="Calibri"/>
                          <a:ea typeface="Calibri"/>
                          <a:cs typeface="Calibri"/>
                        </a:rPr>
                        <a:t>Systematic</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Every k-th unit</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Simple, ordered frames</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Hidden periodicity aligned with k</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bl>
          </a:graphicData>
        </a:graphic>
      </p:graphicFrame>
      <p:sp>
        <p:nvSpPr>
          <p:cNvPr id="8" name="Shape 5">
            <a:extLst xmlns:a="http://schemas.openxmlformats.org/drawingml/2006/main">
              <a:ext uri="{FF2B5EF4-FFF2-40B4-BE49-F238E27FC236}">
                <a16:creationId xmlns:a16="http://schemas.microsoft.com/office/drawing/2014/main" id="{6AB4BFF9-C2CE-428E-AD1B-A423B1DD928E}"/>
              </a:ext>
            </a:extLst>
          </p:cNvPr>
          <p:cNvSpPr>
            <a:spLocks xmlns:a="http://schemas.openxmlformats.org/drawingml/2006/main" noGrp="1"/>
          </p:cNvSpPr>
          <p:nvPr/>
        </p:nvSpPr>
        <p:spPr>
          <a:xfrm xmlns:a="http://schemas.openxmlformats.org/drawingml/2006/main">
            <a:off x="502920" y="4443984"/>
            <a:ext cx="11201400" cy="1645920"/>
          </a:xfrm>
          <a:prstGeom xmlns:a="http://schemas.openxmlformats.org/drawingml/2006/main" prst="roundRect">
            <a:avLst>
              <a:gd name="adj" fmla="val 5000"/>
            </a:avLst>
          </a:prstGeom>
          <a:solidFill xmlns:a="http://schemas.openxmlformats.org/drawingml/2006/main">
            <a:srgbClr val="E7F2F3"/>
          </a:solidFill>
        </p:spPr>
      </p:sp>
      <p:sp>
        <p:nvSpPr>
          <p:cNvPr id="9" name="Shape 6">
            <a:extLst xmlns:a="http://schemas.openxmlformats.org/drawingml/2006/main">
              <a:ext uri="{FF2B5EF4-FFF2-40B4-BE49-F238E27FC236}">
                <a16:creationId xmlns:a16="http://schemas.microsoft.com/office/drawing/2014/main" id="{F52EEB37-33DC-42EE-BF68-D34F20894020}"/>
              </a:ext>
            </a:extLst>
          </p:cNvPr>
          <p:cNvSpPr>
            <a:spLocks xmlns:a="http://schemas.openxmlformats.org/drawingml/2006/main" noGrp="1"/>
          </p:cNvSpPr>
          <p:nvPr/>
        </p:nvSpPr>
        <p:spPr>
          <a:xfrm xmlns:a="http://schemas.openxmlformats.org/drawingml/2006/main">
            <a:off x="777240" y="4690872"/>
            <a:ext cx="457200" cy="457200"/>
          </a:xfrm>
          <a:prstGeom xmlns:a="http://schemas.openxmlformats.org/drawingml/2006/main" prst="ellipse">
            <a:avLst/>
          </a:prstGeom>
          <a:solidFill xmlns:a="http://schemas.openxmlformats.org/drawingml/2006/main">
            <a:srgbClr val="0A5C64"/>
          </a:solidFill>
        </p:spPr>
      </p:sp>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f618e91883af4229"/>
          <a:stretch xmlns:a="http://schemas.openxmlformats.org/drawingml/2006/main">
            <a:fillRect l="0" t="0" r="0" b="0"/>
          </a:stretch>
        </p:blipFill>
        <p:spPr>
          <a:xfrm xmlns:a="http://schemas.openxmlformats.org/drawingml/2006/main">
            <a:off x="896112" y="4809744"/>
            <a:ext cx="219456" cy="219456"/>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10CD6DE5-9A6D-47D5-AACC-0C5EEB421118}"/>
              </a:ext>
            </a:extLst>
          </p:cNvPr>
          <p:cNvSpPr>
            <a:spLocks xmlns:a="http://schemas.openxmlformats.org/drawingml/2006/main" noGrp="1"/>
          </p:cNvSpPr>
          <p:nvPr/>
        </p:nvSpPr>
        <p:spPr>
          <a:xfrm xmlns:a="http://schemas.openxmlformats.org/drawingml/2006/main">
            <a:off x="1417320" y="4654296"/>
            <a:ext cx="100584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300" b="1">
                <a:solidFill>
                  <a:srgbClr val="0A5C64"/>
                </a:solidFill>
                <a:latin typeface="Calibri"/>
                <a:ea typeface="Calibri"/>
                <a:cs typeface="Calibri"/>
              </a:rPr>
              <a:t>For Mawid, stratify by region.  </a:t>
            </a:r>
            <a:r>
              <a:rPr sz="1250">
                <a:solidFill>
                  <a:srgbClr val="24313A"/>
                </a:solidFill>
                <a:latin typeface="Calibri"/>
                <a:ea typeface="Calibri"/>
                <a:cs typeface="Calibri"/>
              </a:rPr>
              <a:t>It guarantees representation for low-volume regions (Al-Jouf has ~0.8% of national volume — an SRS of 3,000 samples it ~25 times) and lets you weight back to national totals. In Lab 2, the stratified estimate for the smallest region lands far closer to its truth than a same-size SRS.</a:t>
            </a:r>
            <a:endParaRPr sz="1300"/>
          </a:p>
        </p:txBody>
      </p:sp>
    </p:spTree>
    <p:extLst>
      <p:ext uri="{BB962C8B-B14F-4D97-AF65-F5344CB8AC3E}">
        <p14:creationId xmlns:p14="http://schemas.microsoft.com/office/powerpoint/2010/main" val="36476771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FB552BB-CEAC-4D23-ABF6-3AA56E7D1956}"/>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13EBC584-5E2B-48F0-8319-C4124FD7283D}"/>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23</a:t>
            </a:r>
            <a:endParaRPr sz="900"/>
          </a:p>
        </p:txBody>
      </p:sp>
      <p:sp>
        <p:nvSpPr>
          <p:cNvPr id="4" name="Shape 2">
            <a:extLst xmlns:a="http://schemas.openxmlformats.org/drawingml/2006/main">
              <a:ext uri="{FF2B5EF4-FFF2-40B4-BE49-F238E27FC236}">
                <a16:creationId xmlns:a16="http://schemas.microsoft.com/office/drawing/2014/main" id="{8051D0A7-CFC1-4874-BCF9-5760A1FC47E8}"/>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FAFD577A-F518-4701-B6BD-1A0B3D3113CE}"/>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2 · KEYSTONE</a:t>
            </a:r>
            <a:endParaRPr sz="1050"/>
          </a:p>
        </p:txBody>
      </p:sp>
      <p:sp>
        <p:nvSpPr>
          <p:cNvPr id="6" name="Text 4">
            <a:extLst xmlns:a="http://schemas.openxmlformats.org/drawingml/2006/main">
              <a:ext uri="{FF2B5EF4-FFF2-40B4-BE49-F238E27FC236}">
                <a16:creationId xmlns:a16="http://schemas.microsoft.com/office/drawing/2014/main" id="{E9CD82BF-DFC4-406B-BBB0-A3EBCDAAFC16}"/>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The Central Limit Theorem and the √n law</a:t>
            </a:r>
            <a:endParaRPr sz="2800"/>
          </a:p>
        </p:txBody>
      </p:sp>
      <p:sp>
        <p:nvSpPr>
          <p:cNvPr id="7" name="Shape 5">
            <a:extLst xmlns:a="http://schemas.openxmlformats.org/drawingml/2006/main">
              <a:ext uri="{FF2B5EF4-FFF2-40B4-BE49-F238E27FC236}">
                <a16:creationId xmlns:a16="http://schemas.microsoft.com/office/drawing/2014/main" id="{8915F7ED-F206-451F-9A03-BD82C592BA1E}"/>
              </a:ext>
            </a:extLst>
          </p:cNvPr>
          <p:cNvSpPr>
            <a:spLocks xmlns:a="http://schemas.openxmlformats.org/drawingml/2006/main" noGrp="1"/>
          </p:cNvSpPr>
          <p:nvPr/>
        </p:nvSpPr>
        <p:spPr>
          <a:xfrm xmlns:a="http://schemas.openxmlformats.org/drawingml/2006/main">
            <a:off x="502920" y="1517904"/>
            <a:ext cx="5623560" cy="2743200"/>
          </a:xfrm>
          <a:prstGeom xmlns:a="http://schemas.openxmlformats.org/drawingml/2006/main" prst="roundRect">
            <a:avLst>
              <a:gd name="adj" fmla="val 3000"/>
            </a:avLst>
          </a:prstGeom>
          <a:solidFill xmlns:a="http://schemas.openxmlformats.org/drawingml/2006/main">
            <a:srgbClr val="F3F8F9"/>
          </a:solidFill>
        </p:spPr>
      </p:sp>
      <p:sp>
        <p:nvSpPr>
          <p:cNvPr id="8" name="Text 6">
            <a:extLst xmlns:a="http://schemas.openxmlformats.org/drawingml/2006/main">
              <a:ext uri="{FF2B5EF4-FFF2-40B4-BE49-F238E27FC236}">
                <a16:creationId xmlns:a16="http://schemas.microsoft.com/office/drawing/2014/main" id="{89FED8C9-59FC-4AE3-BEA7-DB239FF7FE4A}"/>
              </a:ext>
            </a:extLst>
          </p:cNvPr>
          <p:cNvSpPr>
            <a:spLocks xmlns:a="http://schemas.openxmlformats.org/drawingml/2006/main" noGrp="1"/>
          </p:cNvSpPr>
          <p:nvPr/>
        </p:nvSpPr>
        <p:spPr>
          <a:xfrm xmlns:a="http://schemas.openxmlformats.org/drawingml/2006/main">
            <a:off x="777240" y="1700784"/>
            <a:ext cx="5029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B3140"/>
                </a:solidFill>
                <a:latin typeface="Cambria"/>
                <a:ea typeface="Cambria"/>
                <a:cs typeface="Cambria"/>
              </a:rPr>
              <a:t>Fix the idea in three moves</a:t>
            </a:r>
            <a:endParaRPr sz="1400"/>
          </a:p>
        </p:txBody>
      </p:sp>
      <p:sp>
        <p:nvSpPr>
          <p:cNvPr id="9" name="Text 7">
            <a:extLst xmlns:a="http://schemas.openxmlformats.org/drawingml/2006/main">
              <a:ext uri="{FF2B5EF4-FFF2-40B4-BE49-F238E27FC236}">
                <a16:creationId xmlns:a16="http://schemas.microsoft.com/office/drawing/2014/main" id="{342C6114-1416-41AE-8B3B-E60E6D4DD569}"/>
              </a:ext>
            </a:extLst>
          </p:cNvPr>
          <p:cNvSpPr>
            <a:spLocks xmlns:a="http://schemas.openxmlformats.org/drawingml/2006/main" noGrp="1"/>
          </p:cNvSpPr>
          <p:nvPr/>
        </p:nvSpPr>
        <p:spPr>
          <a:xfrm xmlns:a="http://schemas.openxmlformats.org/drawingml/2006/main">
            <a:off x="777240" y="2112264"/>
            <a:ext cx="5120640" cy="2057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800"/>
              </a:spcAft>
              <a:buSzPct val="100000"/>
              <a:buChar char="•"/>
            </a:pPr>
            <a:r>
              <a:rPr sz="1180">
                <a:solidFill>
                  <a:srgbClr val="24313A"/>
                </a:solidFill>
                <a:latin typeface="Calibri"/>
                <a:ea typeface="Calibri"/>
                <a:cs typeface="Calibri"/>
              </a:rPr>
              <a:t>1.  A statistic (x̄) computed on a random sample is itself a random variable — a new sample gives a new x̄.</a:t>
            </a:r>
            <a:endParaRPr sz="1180"/>
          </a:p>
          <a:p xmlns:a="http://schemas.openxmlformats.org/drawingml/2006/main">
            <a:pPr marL="152400" indent="-152400">
              <a:lnSpc>
                <a:spcPct val="104000"/>
              </a:lnSpc>
              <a:spcAft>
                <a:spcPts val="800"/>
              </a:spcAft>
              <a:buSzPct val="100000"/>
              <a:buChar char="•"/>
            </a:pPr>
            <a:r>
              <a:rPr sz="1180">
                <a:solidFill>
                  <a:srgbClr val="24313A"/>
                </a:solidFill>
                <a:latin typeface="Calibri"/>
                <a:ea typeface="Calibri"/>
                <a:cs typeface="Calibri"/>
              </a:rPr>
              <a:t>2.  Its distribution over all possible samples is the sampling distribution.</a:t>
            </a:r>
            <a:endParaRPr sz="1180"/>
          </a:p>
          <a:p xmlns:a="http://schemas.openxmlformats.org/drawingml/2006/main">
            <a:pPr marL="152400" indent="-152400">
              <a:lnSpc>
                <a:spcPct val="104000"/>
              </a:lnSpc>
              <a:spcAft>
                <a:spcPts val="800"/>
              </a:spcAft>
              <a:buSzPct val="100000"/>
              <a:buChar char="•"/>
            </a:pPr>
            <a:r>
              <a:rPr sz="1180" b="1">
                <a:solidFill>
                  <a:srgbClr val="24313A"/>
                </a:solidFill>
                <a:latin typeface="Calibri"/>
                <a:ea typeface="Calibri"/>
                <a:cs typeface="Calibri"/>
              </a:rPr>
              <a:t>3.  CLT: for large n it is approximately Normal, centred on μ, with SD = σ/√n — regardless of the data's shape.</a:t>
            </a:r>
            <a:endParaRPr sz="1180"/>
          </a:p>
        </p:txBody>
      </p:sp>
      <p:sp>
        <p:nvSpPr>
          <p:cNvPr id="10" name="Shape 8">
            <a:extLst xmlns:a="http://schemas.openxmlformats.org/drawingml/2006/main">
              <a:ext uri="{FF2B5EF4-FFF2-40B4-BE49-F238E27FC236}">
                <a16:creationId xmlns:a16="http://schemas.microsoft.com/office/drawing/2014/main" id="{3BD3F12B-4542-470E-B8D8-69E5EBC51225}"/>
              </a:ext>
            </a:extLst>
          </p:cNvPr>
          <p:cNvSpPr>
            <a:spLocks xmlns:a="http://schemas.openxmlformats.org/drawingml/2006/main" noGrp="1"/>
          </p:cNvSpPr>
          <p:nvPr/>
        </p:nvSpPr>
        <p:spPr>
          <a:xfrm xmlns:a="http://schemas.openxmlformats.org/drawingml/2006/main">
            <a:off x="502920" y="4398264"/>
            <a:ext cx="5623560" cy="1691640"/>
          </a:xfrm>
          <a:prstGeom xmlns:a="http://schemas.openxmlformats.org/drawingml/2006/main" prst="roundRect">
            <a:avLst>
              <a:gd name="adj" fmla="val 4865"/>
            </a:avLst>
          </a:prstGeom>
          <a:solidFill xmlns:a="http://schemas.openxmlformats.org/drawingml/2006/main">
            <a:srgbClr val="0B3140"/>
          </a:solidFill>
        </p:spPr>
      </p:sp>
      <p:sp>
        <p:nvSpPr>
          <p:cNvPr id="11" name="Text 9">
            <a:extLst xmlns:a="http://schemas.openxmlformats.org/drawingml/2006/main">
              <a:ext uri="{FF2B5EF4-FFF2-40B4-BE49-F238E27FC236}">
                <a16:creationId xmlns:a16="http://schemas.microsoft.com/office/drawing/2014/main" id="{C0B99ED6-AFDC-4EC6-B6F6-DC82726ACC8E}"/>
              </a:ext>
            </a:extLst>
          </p:cNvPr>
          <p:cNvSpPr>
            <a:spLocks xmlns:a="http://schemas.openxmlformats.org/drawingml/2006/main" noGrp="1"/>
          </p:cNvSpPr>
          <p:nvPr/>
        </p:nvSpPr>
        <p:spPr>
          <a:xfrm xmlns:a="http://schemas.openxmlformats.org/drawingml/2006/main">
            <a:off x="822960" y="4599432"/>
            <a:ext cx="502920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200" b="1">
                <a:solidFill>
                  <a:srgbClr val="6FB3BC"/>
                </a:solidFill>
                <a:latin typeface="Calibri"/>
                <a:ea typeface="Calibri"/>
                <a:cs typeface="Calibri"/>
              </a:rPr>
              <a:t>That last clause is the whole game:  </a:t>
            </a:r>
            <a:r>
              <a:rPr sz="1200">
                <a:solidFill>
                  <a:srgbClr val="FFFFFF"/>
                </a:solidFill>
                <a:latin typeface="Calibri"/>
                <a:ea typeface="Calibri"/>
                <a:cs typeface="Calibri"/>
              </a:rPr>
              <a:t>raw wait times are NOT Normal — but their averages are. The standard error SE = σ/√n is what every confidence interval and t-test in Days 2–4 is built from.</a:t>
            </a:r>
            <a:endParaRPr sz="1200"/>
          </a:p>
        </p:txBody>
      </p:sp>
      <p:graphicFrame>
        <p:nvGraphicFramePr>
          <p:cNvPr id="26" name="Chart 0"/>
          <p:cNvGraphicFramePr/>
          <p:nvPr/>
        </p:nvGraphicFramePr>
        <p:xfrm>
          <a:off xmlns:a="http://schemas.openxmlformats.org/drawingml/2006/main" x="6400800" y="1563624"/>
          <a:ext xmlns:a="http://schemas.openxmlformats.org/drawingml/2006/main" cx="5303520" cy="3291840"/>
        </p:xfrm>
        <a:graphic xmlns:a="http://schemas.openxmlformats.org/drawingml/2006/main">
          <a:graphicData uri="http://schemas.openxmlformats.org/drawingml/2006/chart">
            <c:chart xmlns:r="http://schemas.openxmlformats.org/officeDocument/2006/relationships" xmlns:c="http://schemas.openxmlformats.org/drawingml/2006/chart" r:id="Rdf367759103140ba"/>
          </a:graphicData>
        </a:graphic>
      </p:graphicFrame>
      <p:sp>
        <p:nvSpPr>
          <p:cNvPr id="13" name="Shape 10">
            <a:extLst xmlns:a="http://schemas.openxmlformats.org/drawingml/2006/main">
              <a:ext uri="{FF2B5EF4-FFF2-40B4-BE49-F238E27FC236}">
                <a16:creationId xmlns:a16="http://schemas.microsoft.com/office/drawing/2014/main" id="{A4BFC992-68F1-47B9-ADB3-EE20CF68CF88}"/>
              </a:ext>
            </a:extLst>
          </p:cNvPr>
          <p:cNvSpPr>
            <a:spLocks xmlns:a="http://schemas.openxmlformats.org/drawingml/2006/main" noGrp="1"/>
          </p:cNvSpPr>
          <p:nvPr/>
        </p:nvSpPr>
        <p:spPr>
          <a:xfrm xmlns:a="http://schemas.openxmlformats.org/drawingml/2006/main">
            <a:off x="6400800" y="4946904"/>
            <a:ext cx="5303520" cy="1143000"/>
          </a:xfrm>
          <a:prstGeom xmlns:a="http://schemas.openxmlformats.org/drawingml/2006/main" prst="roundRect">
            <a:avLst>
              <a:gd name="adj" fmla="val 7200"/>
            </a:avLst>
          </a:prstGeom>
          <a:solidFill xmlns:a="http://schemas.openxmlformats.org/drawingml/2006/main">
            <a:srgbClr val="FBEEDD"/>
          </a:solidFill>
        </p:spPr>
      </p:sp>
      <p:sp>
        <p:nvSpPr>
          <p:cNvPr id="14" name="Text 11">
            <a:extLst xmlns:a="http://schemas.openxmlformats.org/drawingml/2006/main">
              <a:ext uri="{FF2B5EF4-FFF2-40B4-BE49-F238E27FC236}">
                <a16:creationId xmlns:a16="http://schemas.microsoft.com/office/drawing/2014/main" id="{9457C26D-B822-4830-858B-6BE36CEE833E}"/>
              </a:ext>
            </a:extLst>
          </p:cNvPr>
          <p:cNvSpPr>
            <a:spLocks xmlns:a="http://schemas.openxmlformats.org/drawingml/2006/main" noGrp="1"/>
          </p:cNvSpPr>
          <p:nvPr/>
        </p:nvSpPr>
        <p:spPr>
          <a:xfrm xmlns:a="http://schemas.openxmlformats.org/drawingml/2006/main">
            <a:off x="6675120" y="5084064"/>
            <a:ext cx="4754880"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30" b="1">
                <a:solidFill>
                  <a:srgbClr val="C2660A"/>
                </a:solidFill>
                <a:latin typeface="Calibri"/>
                <a:ea typeface="Calibri"/>
                <a:cs typeface="Calibri"/>
              </a:rPr>
              <a:t>The hard operational consequence:  </a:t>
            </a:r>
            <a:r>
              <a:rPr sz="1130">
                <a:solidFill>
                  <a:srgbClr val="24313A"/>
                </a:solidFill>
                <a:latin typeface="Calibri"/>
                <a:ea typeface="Calibri"/>
                <a:cs typeface="Calibri"/>
              </a:rPr>
              <a:t>to halve your uncertainty you must quadruple your sample. Participants who feel this in a simulation stop over-trusting small samples for the rest of their careers.</a:t>
            </a:r>
            <a:endParaRPr sz="1130"/>
          </a:p>
        </p:txBody>
      </p:sp>
    </p:spTree>
    <p:extLst>
      <p:ext uri="{BB962C8B-B14F-4D97-AF65-F5344CB8AC3E}">
        <p14:creationId xmlns:p14="http://schemas.microsoft.com/office/powerpoint/2010/main" val="63524303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2347699-26C1-4F2A-9B1B-166B57921E8F}"/>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0EC03A62-EBE8-4365-B0BE-DD5860CB2AD7}"/>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24</a:t>
            </a:r>
            <a:endParaRPr sz="900"/>
          </a:p>
        </p:txBody>
      </p:sp>
      <p:sp>
        <p:nvSpPr>
          <p:cNvPr id="4" name="Shape 2">
            <a:extLst xmlns:a="http://schemas.openxmlformats.org/drawingml/2006/main">
              <a:ext uri="{FF2B5EF4-FFF2-40B4-BE49-F238E27FC236}">
                <a16:creationId xmlns:a16="http://schemas.microsoft.com/office/drawing/2014/main" id="{0F07C72C-5896-44BF-B26F-A88FACCBC2B3}"/>
              </a:ext>
            </a:extLst>
          </p:cNvPr>
          <p:cNvSpPr>
            <a:spLocks xmlns:a="http://schemas.openxmlformats.org/drawingml/2006/main" noGrp="1"/>
          </p:cNvSpPr>
          <p:nvPr/>
        </p:nvSpPr>
        <p:spPr>
          <a:xfrm xmlns:a="http://schemas.openxmlformats.org/drawingml/2006/main">
            <a:off x="502920" y="384048"/>
            <a:ext cx="2096719" cy="292608"/>
          </a:xfrm>
          <a:prstGeom xmlns:a="http://schemas.openxmlformats.org/drawingml/2006/main" prst="roundRect">
            <a:avLst>
              <a:gd name="adj" fmla="val 50000"/>
            </a:avLst>
          </a:prstGeom>
          <a:solidFill xmlns:a="http://schemas.openxmlformats.org/drawingml/2006/main">
            <a:srgbClr val="0B3140"/>
          </a:solidFill>
        </p:spPr>
      </p:sp>
      <p:sp>
        <p:nvSpPr>
          <p:cNvPr id="5" name="Text 3">
            <a:extLst xmlns:a="http://schemas.openxmlformats.org/drawingml/2006/main">
              <a:ext uri="{FF2B5EF4-FFF2-40B4-BE49-F238E27FC236}">
                <a16:creationId xmlns:a16="http://schemas.microsoft.com/office/drawing/2014/main" id="{F93A6F32-9C31-4CDF-B683-584611F6640E}"/>
              </a:ext>
            </a:extLst>
          </p:cNvPr>
          <p:cNvSpPr>
            <a:spLocks xmlns:a="http://schemas.openxmlformats.org/drawingml/2006/main" noGrp="1"/>
          </p:cNvSpPr>
          <p:nvPr/>
        </p:nvSpPr>
        <p:spPr>
          <a:xfrm xmlns:a="http://schemas.openxmlformats.org/drawingml/2006/main">
            <a:off x="502920" y="384048"/>
            <a:ext cx="209671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2 · CASE STUDY</a:t>
            </a:r>
            <a:endParaRPr sz="1050"/>
          </a:p>
        </p:txBody>
      </p:sp>
      <p:sp>
        <p:nvSpPr>
          <p:cNvPr id="6" name="Text 4">
            <a:extLst xmlns:a="http://schemas.openxmlformats.org/drawingml/2006/main">
              <a:ext uri="{FF2B5EF4-FFF2-40B4-BE49-F238E27FC236}">
                <a16:creationId xmlns:a16="http://schemas.microsoft.com/office/drawing/2014/main" id="{B613DFB7-BB0A-4EF4-938B-9796B72BB5FF}"/>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The satisfaction score that lied</a:t>
            </a:r>
            <a:endParaRPr sz="2800"/>
          </a:p>
        </p:txBody>
      </p:sp>
      <p:sp>
        <p:nvSpPr>
          <p:cNvPr id="7" name="Shape 5">
            <a:extLst xmlns:a="http://schemas.openxmlformats.org/drawingml/2006/main">
              <a:ext uri="{FF2B5EF4-FFF2-40B4-BE49-F238E27FC236}">
                <a16:creationId xmlns:a16="http://schemas.microsoft.com/office/drawing/2014/main" id="{2F2AB7B8-3CDF-48E2-A964-287D28F8900B}"/>
              </a:ext>
            </a:extLst>
          </p:cNvPr>
          <p:cNvSpPr>
            <a:spLocks xmlns:a="http://schemas.openxmlformats.org/drawingml/2006/main" noGrp="1"/>
          </p:cNvSpPr>
          <p:nvPr/>
        </p:nvSpPr>
        <p:spPr>
          <a:xfrm xmlns:a="http://schemas.openxmlformats.org/drawingml/2006/main">
            <a:off x="502920" y="1545336"/>
            <a:ext cx="5532120" cy="2240280"/>
          </a:xfrm>
          <a:prstGeom xmlns:a="http://schemas.openxmlformats.org/drawingml/2006/main" prst="roundRect">
            <a:avLst>
              <a:gd name="adj" fmla="val 3673"/>
            </a:avLst>
          </a:prstGeom>
          <a:solidFill xmlns:a="http://schemas.openxmlformats.org/drawingml/2006/main">
            <a:srgbClr val="F3F8F9"/>
          </a:solidFill>
        </p:spPr>
      </p:sp>
      <p:sp>
        <p:nvSpPr>
          <p:cNvPr id="8" name="Shape 6">
            <a:extLst xmlns:a="http://schemas.openxmlformats.org/drawingml/2006/main">
              <a:ext uri="{FF2B5EF4-FFF2-40B4-BE49-F238E27FC236}">
                <a16:creationId xmlns:a16="http://schemas.microsoft.com/office/drawing/2014/main" id="{5BE256CD-C6B3-415C-8E68-1A19DE997ACB}"/>
              </a:ext>
            </a:extLst>
          </p:cNvPr>
          <p:cNvSpPr>
            <a:spLocks xmlns:a="http://schemas.openxmlformats.org/drawingml/2006/main" noGrp="1"/>
          </p:cNvSpPr>
          <p:nvPr/>
        </p:nvSpPr>
        <p:spPr>
          <a:xfrm xmlns:a="http://schemas.openxmlformats.org/drawingml/2006/main">
            <a:off x="704088" y="1728216"/>
            <a:ext cx="384048" cy="384048"/>
          </a:xfrm>
          <a:prstGeom xmlns:a="http://schemas.openxmlformats.org/drawingml/2006/main" prst="ellipse">
            <a:avLst/>
          </a:prstGeom>
          <a:solidFill xmlns:a="http://schemas.openxmlformats.org/drawingml/2006/main">
            <a:srgbClr val="0B3140"/>
          </a:solidFill>
        </p:spPr>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46f44118dd8341a0"/>
          <a:stretch xmlns:a="http://schemas.openxmlformats.org/drawingml/2006/main">
            <a:fillRect l="0" t="0" r="0" b="0"/>
          </a:stretch>
        </p:blipFill>
        <p:spPr>
          <a:xfrm xmlns:a="http://schemas.openxmlformats.org/drawingml/2006/main">
            <a:off x="803940" y="1828068"/>
            <a:ext cx="184343" cy="184343"/>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B9F24F9A-6750-4EFE-89E5-B25DCEE448CB}"/>
              </a:ext>
            </a:extLst>
          </p:cNvPr>
          <p:cNvSpPr>
            <a:spLocks xmlns:a="http://schemas.openxmlformats.org/drawingml/2006/main" noGrp="1"/>
          </p:cNvSpPr>
          <p:nvPr/>
        </p:nvSpPr>
        <p:spPr>
          <a:xfrm xmlns:a="http://schemas.openxmlformats.org/drawingml/2006/main">
            <a:off x="1216152" y="1764792"/>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Scenario</a:t>
            </a:r>
            <a:endParaRPr sz="1350"/>
          </a:p>
        </p:txBody>
      </p:sp>
      <p:sp>
        <p:nvSpPr>
          <p:cNvPr id="11" name="Text 8">
            <a:extLst xmlns:a="http://schemas.openxmlformats.org/drawingml/2006/main">
              <a:ext uri="{FF2B5EF4-FFF2-40B4-BE49-F238E27FC236}">
                <a16:creationId xmlns:a16="http://schemas.microsoft.com/office/drawing/2014/main" id="{EBD876DF-A8D0-4181-A162-547A3BF65ABD}"/>
              </a:ext>
            </a:extLst>
          </p:cNvPr>
          <p:cNvSpPr>
            <a:spLocks xmlns:a="http://schemas.openxmlformats.org/drawingml/2006/main" noGrp="1"/>
          </p:cNvSpPr>
          <p:nvPr/>
        </p:nvSpPr>
        <p:spPr>
          <a:xfrm xmlns:a="http://schemas.openxmlformats.org/drawingml/2006/main">
            <a:off x="758952" y="2203704"/>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24313A"/>
                </a:solidFill>
                <a:latin typeface="Calibri"/>
                <a:ea typeface="Calibri"/>
                <a:cs typeface="Calibri"/>
              </a:rPr>
              <a:t>An executive dashboard shows patient satisfaction of 4.6/5, computed from an opt-in SMS survey with 48,000 responses. Leadership plans to reallocate improvement budget away from this cluster — the big n makes the number feel unimpeachable.</a:t>
            </a:r>
            <a:endParaRPr sz="1100"/>
          </a:p>
        </p:txBody>
      </p:sp>
      <p:sp>
        <p:nvSpPr>
          <p:cNvPr id="12" name="Shape 9">
            <a:extLst xmlns:a="http://schemas.openxmlformats.org/drawingml/2006/main">
              <a:ext uri="{FF2B5EF4-FFF2-40B4-BE49-F238E27FC236}">
                <a16:creationId xmlns:a16="http://schemas.microsoft.com/office/drawing/2014/main" id="{58AD9374-64CE-42DE-B2CF-F0FA9D01A6AD}"/>
              </a:ext>
            </a:extLst>
          </p:cNvPr>
          <p:cNvSpPr>
            <a:spLocks xmlns:a="http://schemas.openxmlformats.org/drawingml/2006/main" noGrp="1"/>
          </p:cNvSpPr>
          <p:nvPr/>
        </p:nvSpPr>
        <p:spPr>
          <a:xfrm xmlns:a="http://schemas.openxmlformats.org/drawingml/2006/main">
            <a:off x="6199632" y="1545336"/>
            <a:ext cx="5532120" cy="2240280"/>
          </a:xfrm>
          <a:prstGeom xmlns:a="http://schemas.openxmlformats.org/drawingml/2006/main" prst="roundRect">
            <a:avLst>
              <a:gd name="adj" fmla="val 3673"/>
            </a:avLst>
          </a:prstGeom>
          <a:solidFill xmlns:a="http://schemas.openxmlformats.org/drawingml/2006/main">
            <a:srgbClr val="FBEEDD"/>
          </a:solidFill>
        </p:spPr>
      </p:sp>
      <p:sp>
        <p:nvSpPr>
          <p:cNvPr id="13" name="Shape 10">
            <a:extLst xmlns:a="http://schemas.openxmlformats.org/drawingml/2006/main">
              <a:ext uri="{FF2B5EF4-FFF2-40B4-BE49-F238E27FC236}">
                <a16:creationId xmlns:a16="http://schemas.microsoft.com/office/drawing/2014/main" id="{AD4164CB-1525-4FD9-AEA7-02E2F04AC8AC}"/>
              </a:ext>
            </a:extLst>
          </p:cNvPr>
          <p:cNvSpPr>
            <a:spLocks xmlns:a="http://schemas.openxmlformats.org/drawingml/2006/main" noGrp="1"/>
          </p:cNvSpPr>
          <p:nvPr/>
        </p:nvSpPr>
        <p:spPr>
          <a:xfrm xmlns:a="http://schemas.openxmlformats.org/drawingml/2006/main">
            <a:off x="6400800" y="1728216"/>
            <a:ext cx="384048" cy="384048"/>
          </a:xfrm>
          <a:prstGeom xmlns:a="http://schemas.openxmlformats.org/drawingml/2006/main" prst="ellipse">
            <a:avLst/>
          </a:prstGeom>
          <a:solidFill xmlns:a="http://schemas.openxmlformats.org/drawingml/2006/main">
            <a:srgbClr val="C2660A"/>
          </a:solidFill>
        </p:spPr>
      </p:sp>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71c3bade01d7463b"/>
          <a:stretch xmlns:a="http://schemas.openxmlformats.org/drawingml/2006/main">
            <a:fillRect l="0" t="0" r="0" b="0"/>
          </a:stretch>
        </p:blipFill>
        <p:spPr>
          <a:xfrm xmlns:a="http://schemas.openxmlformats.org/drawingml/2006/main">
            <a:off x="6500652" y="1828068"/>
            <a:ext cx="184343" cy="184343"/>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3492AE08-7C24-484F-A6EF-07847F5C9273}"/>
              </a:ext>
            </a:extLst>
          </p:cNvPr>
          <p:cNvSpPr>
            <a:spLocks xmlns:a="http://schemas.openxmlformats.org/drawingml/2006/main" noGrp="1"/>
          </p:cNvSpPr>
          <p:nvPr/>
        </p:nvSpPr>
        <p:spPr>
          <a:xfrm xmlns:a="http://schemas.openxmlformats.org/drawingml/2006/main">
            <a:off x="6912864" y="1764792"/>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The technical challenge</a:t>
            </a:r>
            <a:endParaRPr sz="1350"/>
          </a:p>
        </p:txBody>
      </p:sp>
      <p:sp>
        <p:nvSpPr>
          <p:cNvPr id="16" name="Text 12">
            <a:extLst xmlns:a="http://schemas.openxmlformats.org/drawingml/2006/main">
              <a:ext uri="{FF2B5EF4-FFF2-40B4-BE49-F238E27FC236}">
                <a16:creationId xmlns:a16="http://schemas.microsoft.com/office/drawing/2014/main" id="{E87BEACB-D671-4594-88CB-62867749B000}"/>
              </a:ext>
            </a:extLst>
          </p:cNvPr>
          <p:cNvSpPr>
            <a:spLocks xmlns:a="http://schemas.openxmlformats.org/drawingml/2006/main" noGrp="1"/>
          </p:cNvSpPr>
          <p:nvPr/>
        </p:nvSpPr>
        <p:spPr>
          <a:xfrm xmlns:a="http://schemas.openxmlformats.org/drawingml/2006/main">
            <a:off x="6455664" y="2203704"/>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24313A"/>
                </a:solidFill>
                <a:latin typeface="Calibri"/>
                <a:ea typeface="Calibri"/>
                <a:cs typeface="Calibri"/>
              </a:rPr>
              <a:t>Diagnose why a large-sample statistic can be badly biased (9% response rate, skewed to satisfied patients), and design a trustworthy estimate under a hard constraint: callbacks are limited to ~500.</a:t>
            </a:r>
            <a:endParaRPr sz="1100"/>
          </a:p>
        </p:txBody>
      </p:sp>
      <p:sp>
        <p:nvSpPr>
          <p:cNvPr id="17" name="Shape 13">
            <a:extLst xmlns:a="http://schemas.openxmlformats.org/drawingml/2006/main">
              <a:ext uri="{FF2B5EF4-FFF2-40B4-BE49-F238E27FC236}">
                <a16:creationId xmlns:a16="http://schemas.microsoft.com/office/drawing/2014/main" id="{E8DF959C-C229-44FD-8E7C-4C000221A232}"/>
              </a:ext>
            </a:extLst>
          </p:cNvPr>
          <p:cNvSpPr>
            <a:spLocks xmlns:a="http://schemas.openxmlformats.org/drawingml/2006/main" noGrp="1"/>
          </p:cNvSpPr>
          <p:nvPr/>
        </p:nvSpPr>
        <p:spPr>
          <a:xfrm xmlns:a="http://schemas.openxmlformats.org/drawingml/2006/main">
            <a:off x="502920" y="3950208"/>
            <a:ext cx="5532120" cy="2240280"/>
          </a:xfrm>
          <a:prstGeom xmlns:a="http://schemas.openxmlformats.org/drawingml/2006/main" prst="roundRect">
            <a:avLst>
              <a:gd name="adj" fmla="val 3673"/>
            </a:avLst>
          </a:prstGeom>
          <a:solidFill xmlns:a="http://schemas.openxmlformats.org/drawingml/2006/main">
            <a:srgbClr val="E7F2F3"/>
          </a:solidFill>
        </p:spPr>
      </p:sp>
      <p:sp>
        <p:nvSpPr>
          <p:cNvPr id="18" name="Shape 14">
            <a:extLst xmlns:a="http://schemas.openxmlformats.org/drawingml/2006/main">
              <a:ext uri="{FF2B5EF4-FFF2-40B4-BE49-F238E27FC236}">
                <a16:creationId xmlns:a16="http://schemas.microsoft.com/office/drawing/2014/main" id="{4409B9F9-4C65-4AA6-9294-0755BB990036}"/>
              </a:ext>
            </a:extLst>
          </p:cNvPr>
          <p:cNvSpPr>
            <a:spLocks xmlns:a="http://schemas.openxmlformats.org/drawingml/2006/main" noGrp="1"/>
          </p:cNvSpPr>
          <p:nvPr/>
        </p:nvSpPr>
        <p:spPr>
          <a:xfrm xmlns:a="http://schemas.openxmlformats.org/drawingml/2006/main">
            <a:off x="704088" y="4133088"/>
            <a:ext cx="384048" cy="384048"/>
          </a:xfrm>
          <a:prstGeom xmlns:a="http://schemas.openxmlformats.org/drawingml/2006/main" prst="ellipse">
            <a:avLst/>
          </a:prstGeom>
          <a:solidFill xmlns:a="http://schemas.openxmlformats.org/drawingml/2006/main">
            <a:srgbClr val="0A5C64"/>
          </a:solidFill>
        </p:spPr>
      </p:sp>
      <p:pic>
        <p:nvPicPr>
          <p:cNvPr id="48" name="Image 2"/>
          <p:cNvPicPr>
            <a:picLocks xmlns:a="http://schemas.openxmlformats.org/drawingml/2006/main" noChangeAspect="1"/>
          </p:cNvPicPr>
          <p:nvPr/>
        </p:nvPicPr>
        <p:blipFill>
          <a:blip xmlns:r="http://schemas.openxmlformats.org/officeDocument/2006/relationships" xmlns:a="http://schemas.openxmlformats.org/drawingml/2006/main" r:embed="R9ff6c2aa369c4820"/>
          <a:stretch xmlns:a="http://schemas.openxmlformats.org/drawingml/2006/main">
            <a:fillRect l="0" t="0" r="0" b="0"/>
          </a:stretch>
        </p:blipFill>
        <p:spPr>
          <a:xfrm xmlns:a="http://schemas.openxmlformats.org/drawingml/2006/main">
            <a:off x="803940" y="4232940"/>
            <a:ext cx="184343" cy="184343"/>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6B7BD0E5-7658-41C7-BD02-19A114BEC83B}"/>
              </a:ext>
            </a:extLst>
          </p:cNvPr>
          <p:cNvSpPr>
            <a:spLocks xmlns:a="http://schemas.openxmlformats.org/drawingml/2006/main" noGrp="1"/>
          </p:cNvSpPr>
          <p:nvPr/>
        </p:nvSpPr>
        <p:spPr>
          <a:xfrm xmlns:a="http://schemas.openxmlformats.org/drawingml/2006/main">
            <a:off x="1216152" y="4169664"/>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Solution approach (facilitate, don't lecture)</a:t>
            </a:r>
            <a:endParaRPr sz="1350"/>
          </a:p>
        </p:txBody>
      </p:sp>
      <p:sp>
        <p:nvSpPr>
          <p:cNvPr id="21" name="Text 16">
            <a:extLst xmlns:a="http://schemas.openxmlformats.org/drawingml/2006/main">
              <a:ext uri="{FF2B5EF4-FFF2-40B4-BE49-F238E27FC236}">
                <a16:creationId xmlns:a16="http://schemas.microsoft.com/office/drawing/2014/main" id="{4CBC0C1F-CD8E-48CC-86DB-EB5ED72C1F49}"/>
              </a:ext>
            </a:extLst>
          </p:cNvPr>
          <p:cNvSpPr>
            <a:spLocks xmlns:a="http://schemas.openxmlformats.org/drawingml/2006/main" noGrp="1"/>
          </p:cNvSpPr>
          <p:nvPr/>
        </p:nvSpPr>
        <p:spPr>
          <a:xfrm xmlns:a="http://schemas.openxmlformats.org/drawingml/2006/main">
            <a:off x="758952" y="4608576"/>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Recognise non-response bias in the 9% opt-in channel</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Draw a stratified random callback of non-responders (survey_responses.csv has both channels)</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Combine the channels with response-rate weighting; attach an honest interval (Module 3)</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Reveal: opt-in mean 4.59 vs callback mean 3.0 — the correction reverses the budget decision</a:t>
            </a:r>
            <a:endParaRPr sz="1080"/>
          </a:p>
        </p:txBody>
      </p:sp>
      <p:sp>
        <p:nvSpPr>
          <p:cNvPr id="22" name="Shape 17">
            <a:extLst xmlns:a="http://schemas.openxmlformats.org/drawingml/2006/main">
              <a:ext uri="{FF2B5EF4-FFF2-40B4-BE49-F238E27FC236}">
                <a16:creationId xmlns:a16="http://schemas.microsoft.com/office/drawing/2014/main" id="{1279A977-B542-4DAC-B867-19BEA8788AA5}"/>
              </a:ext>
            </a:extLst>
          </p:cNvPr>
          <p:cNvSpPr>
            <a:spLocks xmlns:a="http://schemas.openxmlformats.org/drawingml/2006/main" noGrp="1"/>
          </p:cNvSpPr>
          <p:nvPr/>
        </p:nvSpPr>
        <p:spPr>
          <a:xfrm xmlns:a="http://schemas.openxmlformats.org/drawingml/2006/main">
            <a:off x="6199632" y="3950208"/>
            <a:ext cx="5532120" cy="2240280"/>
          </a:xfrm>
          <a:prstGeom xmlns:a="http://schemas.openxmlformats.org/drawingml/2006/main" prst="roundRect">
            <a:avLst>
              <a:gd name="adj" fmla="val 3673"/>
            </a:avLst>
          </a:prstGeom>
          <a:solidFill xmlns:a="http://schemas.openxmlformats.org/drawingml/2006/main">
            <a:srgbClr val="F3F8F9"/>
          </a:solidFill>
        </p:spPr>
      </p:sp>
      <p:sp>
        <p:nvSpPr>
          <p:cNvPr id="23" name="Shape 18">
            <a:extLst xmlns:a="http://schemas.openxmlformats.org/drawingml/2006/main">
              <a:ext uri="{FF2B5EF4-FFF2-40B4-BE49-F238E27FC236}">
                <a16:creationId xmlns:a16="http://schemas.microsoft.com/office/drawing/2014/main" id="{CA4E3C5B-EE63-456C-944B-D55D6E451902}"/>
              </a:ext>
            </a:extLst>
          </p:cNvPr>
          <p:cNvSpPr>
            <a:spLocks xmlns:a="http://schemas.openxmlformats.org/drawingml/2006/main" noGrp="1"/>
          </p:cNvSpPr>
          <p:nvPr/>
        </p:nvSpPr>
        <p:spPr>
          <a:xfrm xmlns:a="http://schemas.openxmlformats.org/drawingml/2006/main">
            <a:off x="6400800" y="4133088"/>
            <a:ext cx="384048" cy="384048"/>
          </a:xfrm>
          <a:prstGeom xmlns:a="http://schemas.openxmlformats.org/drawingml/2006/main" prst="ellipse">
            <a:avLst/>
          </a:prstGeom>
          <a:solidFill xmlns:a="http://schemas.openxmlformats.org/drawingml/2006/main">
            <a:srgbClr val="0B3140"/>
          </a:solidFill>
        </p:spPr>
      </p:sp>
      <p:pic>
        <p:nvPicPr>
          <p:cNvPr id="53" name="Image 3"/>
          <p:cNvPicPr>
            <a:picLocks xmlns:a="http://schemas.openxmlformats.org/drawingml/2006/main" noChangeAspect="1"/>
          </p:cNvPicPr>
          <p:nvPr/>
        </p:nvPicPr>
        <p:blipFill>
          <a:blip xmlns:r="http://schemas.openxmlformats.org/officeDocument/2006/relationships" xmlns:a="http://schemas.openxmlformats.org/drawingml/2006/main" r:embed="Rb69c73ff0e1c4fd8"/>
          <a:stretch xmlns:a="http://schemas.openxmlformats.org/drawingml/2006/main">
            <a:fillRect l="0" t="0" r="0" b="0"/>
          </a:stretch>
        </p:blipFill>
        <p:spPr>
          <a:xfrm xmlns:a="http://schemas.openxmlformats.org/drawingml/2006/main">
            <a:off x="6500652" y="4232940"/>
            <a:ext cx="184343" cy="184343"/>
          </a:xfrm>
          <a:prstGeom xmlns:a="http://schemas.openxmlformats.org/drawingml/2006/main" prst="rect">
            <a:avLst/>
          </a:prstGeom>
        </p:spPr>
      </p:pic>
      <p:sp>
        <p:nvSpPr>
          <p:cNvPr id="25" name="Text 19">
            <a:extLst xmlns:a="http://schemas.openxmlformats.org/drawingml/2006/main">
              <a:ext uri="{FF2B5EF4-FFF2-40B4-BE49-F238E27FC236}">
                <a16:creationId xmlns:a16="http://schemas.microsoft.com/office/drawing/2014/main" id="{F8D02C47-1EBE-4C06-B7F9-99BA5FED4D6B}"/>
              </a:ext>
            </a:extLst>
          </p:cNvPr>
          <p:cNvSpPr>
            <a:spLocks xmlns:a="http://schemas.openxmlformats.org/drawingml/2006/main" noGrp="1"/>
          </p:cNvSpPr>
          <p:nvPr/>
        </p:nvSpPr>
        <p:spPr>
          <a:xfrm xmlns:a="http://schemas.openxmlformats.org/drawingml/2006/main">
            <a:off x="6912864" y="4169664"/>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Discussion</a:t>
            </a:r>
            <a:endParaRPr sz="1350"/>
          </a:p>
        </p:txBody>
      </p:sp>
      <p:sp>
        <p:nvSpPr>
          <p:cNvPr id="26" name="Text 20">
            <a:extLst xmlns:a="http://schemas.openxmlformats.org/drawingml/2006/main">
              <a:ext uri="{FF2B5EF4-FFF2-40B4-BE49-F238E27FC236}">
                <a16:creationId xmlns:a16="http://schemas.microsoft.com/office/drawing/2014/main" id="{9D42AA29-DFBD-490A-9694-2873B3045857}"/>
              </a:ext>
            </a:extLst>
          </p:cNvPr>
          <p:cNvSpPr>
            <a:spLocks xmlns:a="http://schemas.openxmlformats.org/drawingml/2006/main" noGrp="1"/>
          </p:cNvSpPr>
          <p:nvPr/>
        </p:nvSpPr>
        <p:spPr>
          <a:xfrm xmlns:a="http://schemas.openxmlformats.org/drawingml/2006/main">
            <a:off x="6455664" y="4608576"/>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Why does n = 48,000 provide false comfort here?</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Would doubling the SMS sample fix the problem? Why not?</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What one sentence on the dashboard would prevent this misuse?</a:t>
            </a:r>
            <a:endParaRPr sz="1080"/>
          </a:p>
        </p:txBody>
      </p:sp>
    </p:spTree>
    <p:extLst>
      <p:ext uri="{BB962C8B-B14F-4D97-AF65-F5344CB8AC3E}">
        <p14:creationId xmlns:p14="http://schemas.microsoft.com/office/powerpoint/2010/main" val="34760608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498E89F-86A0-44E1-863E-5D7D708D6C9E}"/>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FBBEF0EA-DA71-4793-A7ED-D426D8F6919C}"/>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25</a:t>
            </a:r>
            <a:endParaRPr sz="900"/>
          </a:p>
        </p:txBody>
      </p:sp>
      <p:sp>
        <p:nvSpPr>
          <p:cNvPr id="4" name="Shape 2">
            <a:extLst xmlns:a="http://schemas.openxmlformats.org/drawingml/2006/main">
              <a:ext uri="{FF2B5EF4-FFF2-40B4-BE49-F238E27FC236}">
                <a16:creationId xmlns:a16="http://schemas.microsoft.com/office/drawing/2014/main" id="{C14CE30C-EF9F-4CE8-B368-CABDAE33A96C}"/>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oundRect">
            <a:avLst>
              <a:gd name="adj" fmla="val 50000"/>
            </a:avLst>
          </a:prstGeom>
          <a:solidFill xmlns:a="http://schemas.openxmlformats.org/drawingml/2006/main">
            <a:srgbClr val="C2660A"/>
          </a:solidFill>
        </p:spPr>
      </p:sp>
      <p:sp>
        <p:nvSpPr>
          <p:cNvPr id="5" name="Text 3">
            <a:extLst xmlns:a="http://schemas.openxmlformats.org/drawingml/2006/main">
              <a:ext uri="{FF2B5EF4-FFF2-40B4-BE49-F238E27FC236}">
                <a16:creationId xmlns:a16="http://schemas.microsoft.com/office/drawing/2014/main" id="{50DB7CAD-2E10-4B0D-9CC5-17028EC39ED0}"/>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2 · HANDS-ON</a:t>
            </a:r>
            <a:endParaRPr sz="1050"/>
          </a:p>
        </p:txBody>
      </p:sp>
      <p:sp>
        <p:nvSpPr>
          <p:cNvPr id="6" name="Text 4">
            <a:extLst xmlns:a="http://schemas.openxmlformats.org/drawingml/2006/main">
              <a:ext uri="{FF2B5EF4-FFF2-40B4-BE49-F238E27FC236}">
                <a16:creationId xmlns:a16="http://schemas.microsoft.com/office/drawing/2014/main" id="{A9553462-3A14-4ACF-99CD-B6258A840979}"/>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Lab 2 — Describe, sample, and prove the CLT</a:t>
            </a:r>
            <a:endParaRPr sz="2800"/>
          </a:p>
        </p:txBody>
      </p:sp>
      <p:sp>
        <p:nvSpPr>
          <p:cNvPr id="7" name="Text 5">
            <a:extLst xmlns:a="http://schemas.openxmlformats.org/drawingml/2006/main">
              <a:ext uri="{FF2B5EF4-FFF2-40B4-BE49-F238E27FC236}">
                <a16:creationId xmlns:a16="http://schemas.microsoft.com/office/drawing/2014/main" id="{A95D1549-5026-42C6-B9A5-155A02EF9A76}"/>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~40 minutes (Day 1, Hour 5) · pairs · data/clinic_visits.csv · lab2_start.ipynb</a:t>
            </a:r>
            <a:endParaRPr sz="1350"/>
          </a:p>
        </p:txBody>
      </p:sp>
      <p:sp>
        <p:nvSpPr>
          <p:cNvPr id="8" name="Shape 6">
            <a:extLst xmlns:a="http://schemas.openxmlformats.org/drawingml/2006/main">
              <a:ext uri="{FF2B5EF4-FFF2-40B4-BE49-F238E27FC236}">
                <a16:creationId xmlns:a16="http://schemas.microsoft.com/office/drawing/2014/main" id="{57214451-7F85-4BDF-ACA6-554B1134FB0F}"/>
              </a:ext>
            </a:extLst>
          </p:cNvPr>
          <p:cNvSpPr>
            <a:spLocks xmlns:a="http://schemas.openxmlformats.org/drawingml/2006/main" noGrp="1"/>
          </p:cNvSpPr>
          <p:nvPr/>
        </p:nvSpPr>
        <p:spPr>
          <a:xfrm xmlns:a="http://schemas.openxmlformats.org/drawingml/2006/main">
            <a:off x="502920" y="1792224"/>
            <a:ext cx="6858000" cy="4709160"/>
          </a:xfrm>
          <a:prstGeom xmlns:a="http://schemas.openxmlformats.org/drawingml/2006/main" prst="roundRect">
            <a:avLst>
              <a:gd name="adj" fmla="val 1748"/>
            </a:avLst>
          </a:prstGeom>
          <a:solidFill xmlns:a="http://schemas.openxmlformats.org/drawingml/2006/main">
            <a:srgbClr val="FFFFFF"/>
          </a:solidFill>
          <a:ln xmlns:a="http://schemas.openxmlformats.org/drawingml/2006/main" w="12700">
            <a:solidFill>
              <a:srgbClr val="D6E2E4"/>
            </a:solidFill>
            <a:prstDash val="solid"/>
          </a:ln>
        </p:spPr>
      </p:sp>
      <p:sp>
        <p:nvSpPr>
          <p:cNvPr id="9" name="Text 7">
            <a:extLst xmlns:a="http://schemas.openxmlformats.org/drawingml/2006/main">
              <a:ext uri="{FF2B5EF4-FFF2-40B4-BE49-F238E27FC236}">
                <a16:creationId xmlns:a16="http://schemas.microsoft.com/office/drawing/2014/main" id="{64A66DF1-0CA7-4D3D-B637-D440A6D8ADD8}"/>
              </a:ext>
            </a:extLst>
          </p:cNvPr>
          <p:cNvSpPr>
            <a:spLocks xmlns:a="http://schemas.openxmlformats.org/drawingml/2006/main" noGrp="1"/>
          </p:cNvSpPr>
          <p:nvPr/>
        </p:nvSpPr>
        <p:spPr>
          <a:xfrm xmlns:a="http://schemas.openxmlformats.org/drawingml/2006/main">
            <a:off x="822960" y="1975104"/>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B3140"/>
                </a:solidFill>
                <a:latin typeface="Cambria"/>
                <a:ea typeface="Cambria"/>
                <a:cs typeface="Cambria"/>
              </a:rPr>
              <a:t>Tasks</a:t>
            </a:r>
            <a:endParaRPr sz="1400"/>
          </a:p>
        </p:txBody>
      </p:sp>
      <p:sp>
        <p:nvSpPr>
          <p:cNvPr id="10" name="Text 8">
            <a:extLst xmlns:a="http://schemas.openxmlformats.org/drawingml/2006/main">
              <a:ext uri="{FF2B5EF4-FFF2-40B4-BE49-F238E27FC236}">
                <a16:creationId xmlns:a16="http://schemas.microsoft.com/office/drawing/2014/main" id="{59EABB7B-B1C3-4BFA-AA5B-91321BFC855E}"/>
              </a:ext>
            </a:extLst>
          </p:cNvPr>
          <p:cNvSpPr>
            <a:spLocks xmlns:a="http://schemas.openxmlformats.org/drawingml/2006/main" noGrp="1"/>
          </p:cNvSpPr>
          <p:nvPr/>
        </p:nvSpPr>
        <p:spPr>
          <a:xfrm xmlns:a="http://schemas.openxmlformats.org/drawingml/2006/main">
            <a:off x="822960" y="2386584"/>
            <a:ext cx="6309360"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(8’) Summary table: wait → median (IQR) + skew; no_show → proportion; region → mode. Justify each choice in one line</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(8’) Apply the 1.5×IQR rule; inspect five flagged waits — data error or real? Decide and document (never silently drop)</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(12’) Draw a region-stratified sample (n ≈ 3,000, min 100/region); compare to a same-size SRS and the full-population truth for the smallest region</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(10’) CLT simulation: 5,000 sample means at n ∈ {5, 30, 100}; confirm observed SE ≈ σ/√n</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(2’) Three-line conclusion: which summary you'd publish, and why stratification mattered</a:t>
            </a:r>
            <a:endParaRPr sz="1150"/>
          </a:p>
        </p:txBody>
      </p:sp>
      <p:sp>
        <p:nvSpPr>
          <p:cNvPr id="11" name="Shape 9">
            <a:extLst xmlns:a="http://schemas.openxmlformats.org/drawingml/2006/main">
              <a:ext uri="{FF2B5EF4-FFF2-40B4-BE49-F238E27FC236}">
                <a16:creationId xmlns:a16="http://schemas.microsoft.com/office/drawing/2014/main" id="{FC7C933A-4CA3-434A-AAA1-BC6174B64EE7}"/>
              </a:ext>
            </a:extLst>
          </p:cNvPr>
          <p:cNvSpPr>
            <a:spLocks xmlns:a="http://schemas.openxmlformats.org/drawingml/2006/main" noGrp="1"/>
          </p:cNvSpPr>
          <p:nvPr/>
        </p:nvSpPr>
        <p:spPr>
          <a:xfrm xmlns:a="http://schemas.openxmlformats.org/drawingml/2006/main">
            <a:off x="7635240" y="1792224"/>
            <a:ext cx="4023360" cy="4709160"/>
          </a:xfrm>
          <a:prstGeom xmlns:a="http://schemas.openxmlformats.org/drawingml/2006/main" prst="roundRect">
            <a:avLst>
              <a:gd name="adj" fmla="val 2045"/>
            </a:avLst>
          </a:prstGeom>
          <a:solidFill xmlns:a="http://schemas.openxmlformats.org/drawingml/2006/main">
            <a:srgbClr val="E7F2F3"/>
          </a:solidFill>
        </p:spPr>
      </p:sp>
      <p:sp>
        <p:nvSpPr>
          <p:cNvPr id="12" name="Text 10">
            <a:extLst xmlns:a="http://schemas.openxmlformats.org/drawingml/2006/main">
              <a:ext uri="{FF2B5EF4-FFF2-40B4-BE49-F238E27FC236}">
                <a16:creationId xmlns:a16="http://schemas.microsoft.com/office/drawing/2014/main" id="{40C0C224-5985-49CB-84BC-BFAE7E04C9AB}"/>
              </a:ext>
            </a:extLst>
          </p:cNvPr>
          <p:cNvSpPr>
            <a:spLocks xmlns:a="http://schemas.openxmlformats.org/drawingml/2006/main" noGrp="1"/>
          </p:cNvSpPr>
          <p:nvPr/>
        </p:nvSpPr>
        <p:spPr>
          <a:xfrm xmlns:a="http://schemas.openxmlformats.org/drawingml/2006/main">
            <a:off x="7955280" y="1975104"/>
            <a:ext cx="3474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A5C64"/>
                </a:solidFill>
                <a:latin typeface="Cambria"/>
                <a:ea typeface="Cambria"/>
                <a:cs typeface="Cambria"/>
              </a:rPr>
              <a:t>Checkpoint outputs</a:t>
            </a:r>
            <a:endParaRPr sz="1400"/>
          </a:p>
        </p:txBody>
      </p:sp>
      <p:sp>
        <p:nvSpPr>
          <p:cNvPr id="13" name="Text 11">
            <a:extLst xmlns:a="http://schemas.openxmlformats.org/drawingml/2006/main">
              <a:ext uri="{FF2B5EF4-FFF2-40B4-BE49-F238E27FC236}">
                <a16:creationId xmlns:a16="http://schemas.microsoft.com/office/drawing/2014/main" id="{F1ECBD02-F32F-4DBD-AA6D-C13073FF0A18}"/>
              </a:ext>
            </a:extLst>
          </p:cNvPr>
          <p:cNvSpPr>
            <a:spLocks xmlns:a="http://schemas.openxmlformats.org/drawingml/2006/main" noGrp="1"/>
          </p:cNvSpPr>
          <p:nvPr/>
        </p:nvSpPr>
        <p:spPr>
          <a:xfrm xmlns:a="http://schemas.openxmlformats.org/drawingml/2006/main">
            <a:off x="7955280" y="2386584"/>
            <a:ext cx="3429000"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700"/>
              </a:spcAft>
              <a:buSzPct val="100000"/>
              <a:buChar char="•"/>
            </a:pPr>
            <a:r>
              <a:rPr sz="1150" b="1">
                <a:solidFill>
                  <a:srgbClr val="24313A"/>
                </a:solidFill>
                <a:latin typeface="Calibri"/>
                <a:ea typeface="Calibri"/>
                <a:cs typeface="Calibri"/>
              </a:rPr>
              <a:t>wait: median 18 (IQR 12–26), skew +1.7 → report median</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no-show rate 0.183; ~1,284 outliers flagged, inspected, kept</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Smallest region: stratified estimate beats the SRS</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CLT: n=30 observed SE ≈ predicted; histograms → Normal</a:t>
            </a:r>
            <a:endParaRPr sz="1150"/>
          </a:p>
        </p:txBody>
      </p:sp>
    </p:spTree>
    <p:extLst>
      <p:ext uri="{BB962C8B-B14F-4D97-AF65-F5344CB8AC3E}">
        <p14:creationId xmlns:p14="http://schemas.microsoft.com/office/powerpoint/2010/main" val="27853830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2BCEDEF-6409-456F-BABC-28607A346553}"/>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DC7EDC60-7757-46C8-9182-BD4806CF4115}"/>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26</a:t>
            </a:r>
            <a:endParaRPr sz="900"/>
          </a:p>
        </p:txBody>
      </p:sp>
      <p:sp>
        <p:nvSpPr>
          <p:cNvPr id="4" name="Shape 2">
            <a:extLst xmlns:a="http://schemas.openxmlformats.org/drawingml/2006/main">
              <a:ext uri="{FF2B5EF4-FFF2-40B4-BE49-F238E27FC236}">
                <a16:creationId xmlns:a16="http://schemas.microsoft.com/office/drawing/2014/main" id="{BE1CBD83-8353-440E-9750-2780A0E9E8B8}"/>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D9CB5C3E-BDBA-4D4F-8233-B573D5C26AE4}"/>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M2 · CDC</a:t>
            </a:r>
            <a:endParaRPr sz="1050"/>
          </a:p>
        </p:txBody>
      </p:sp>
      <p:sp>
        <p:nvSpPr>
          <p:cNvPr id="6" name="Text 4">
            <a:extLst xmlns:a="http://schemas.openxmlformats.org/drawingml/2006/main">
              <a:ext uri="{FF2B5EF4-FFF2-40B4-BE49-F238E27FC236}">
                <a16:creationId xmlns:a16="http://schemas.microsoft.com/office/drawing/2014/main" id="{867B5E06-7056-4A08-9024-EC45FDB57002}"/>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CDC NHCS: the file is a sample, not the population</a:t>
            </a:r>
            <a:endParaRPr sz="2800"/>
          </a:p>
        </p:txBody>
      </p:sp>
      <p:graphicFrame>
        <p:nvGraphicFramePr>
          <p:cNvPr id="19" name="Table 0"/>
          <p:cNvGraphicFramePr/>
          <p:nvPr/>
        </p:nvGraphicFramePr>
        <p:xfrm>
          <a:off xmlns:a="http://schemas.openxmlformats.org/drawingml/2006/main" x="502920" y="1563624"/>
          <a:ext xmlns:a="http://schemas.openxmlformats.org/drawingml/2006/main" cx="11201400" cy="914400"/>
        </p:xfrm>
        <a:graphic xmlns:a="http://schemas.openxmlformats.org/drawingml/2006/main">
          <a:graphicData uri="http://schemas.openxmlformats.org/drawingml/2006/table">
            <a:tbl>
              <a:tblPr/>
              <a:tblGrid>
                <a:gridCol w="2103120"/>
                <a:gridCol w="3017520"/>
                <a:gridCol w="3200400"/>
                <a:gridCol w="2880360"/>
              </a:tblGrid>
              <a:tr h="512064">
                <a:tc>
                  <a:txBody>
                    <a:bodyPr/>
                    <a:lstStyle/>
                    <a:p>
                      <a:pPr marL="0" indent="0">
                        <a:buNone/>
                      </a:pPr>
                      <a:r>
                        <a:rPr sz="1150" b="1">
                          <a:solidFill>
                            <a:srgbClr val="FFFFFF"/>
                          </a:solidFill>
                          <a:latin typeface="Calibri"/>
                          <a:ea typeface="Calibri"/>
                          <a:cs typeface="Calibri"/>
                        </a:rPr>
                        <a:t>NHCS layer</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50" b="1">
                          <a:solidFill>
                            <a:srgbClr val="FFFFFF"/>
                          </a:solidFill>
                          <a:latin typeface="Calibri"/>
                          <a:ea typeface="Calibri"/>
                          <a:cs typeface="Calibri"/>
                        </a:rPr>
                        <a:t>What was sampled</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50" b="1">
                          <a:solidFill>
                            <a:srgbClr val="FFFFFF"/>
                          </a:solidFill>
                          <a:latin typeface="Calibri"/>
                          <a:ea typeface="Calibri"/>
                          <a:cs typeface="Calibri"/>
                        </a:rPr>
                        <a:t>Why it matters</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50" b="1">
                          <a:solidFill>
                            <a:srgbClr val="FFFFFF"/>
                          </a:solidFill>
                          <a:latin typeface="Calibri"/>
                          <a:ea typeface="Calibri"/>
                          <a:cs typeface="Calibri"/>
                        </a:rPr>
                        <a:t>Learner check</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r>
              <a:tr h="512064">
                <a:tc>
                  <a:txBody>
                    <a:bodyPr/>
                    <a:lstStyle/>
                    <a:p>
                      <a:pPr marL="0" indent="0">
                        <a:buNone/>
                      </a:pPr>
                      <a:r>
                        <a:rPr sz="1150" b="1">
                          <a:solidFill>
                            <a:srgbClr val="24313A"/>
                          </a:solidFill>
                          <a:latin typeface="Calibri"/>
                          <a:ea typeface="Calibri"/>
                          <a:cs typeface="Calibri"/>
                        </a:rPr>
                        <a:t>Hospital frame</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608 in the 2022 base sample; 219 contributed to the public-use files</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Hospital selection and nonresponse shape the estimand</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Who is represented?</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512064">
                <a:tc>
                  <a:txBody>
                    <a:bodyPr/>
                    <a:lstStyle/>
                    <a:p>
                      <a:pPr marL="0" indent="0">
                        <a:buNone/>
                      </a:pPr>
                      <a:r>
                        <a:rPr sz="1150" b="1">
                          <a:solidFill>
                            <a:srgbClr val="0A5C64"/>
                          </a:solidFill>
                          <a:latin typeface="Calibri"/>
                          <a:ea typeface="Calibri"/>
                          <a:cs typeface="Calibri"/>
                        </a:rPr>
                        <a:t>Encounter file</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497,769 ED visits in the 2022 public-use file</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b="1">
                          <a:solidFill>
                            <a:srgbClr val="24313A"/>
                          </a:solidFill>
                          <a:latin typeface="Calibri"/>
                          <a:ea typeface="Calibri"/>
                          <a:cs typeface="Calibri"/>
                        </a:rPr>
                        <a:t>A 5% systematic sample within hospitals—not a census</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What is one row?</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512064">
                <a:tc>
                  <a:txBody>
                    <a:bodyPr/>
                    <a:lstStyle/>
                    <a:p>
                      <a:pPr marL="0" indent="0">
                        <a:buNone/>
                      </a:pPr>
                      <a:r>
                        <a:rPr sz="1150" b="1">
                          <a:solidFill>
                            <a:srgbClr val="24313A"/>
                          </a:solidFill>
                          <a:latin typeface="Calibri"/>
                          <a:ea typeface="Calibri"/>
                          <a:cs typeface="Calibri"/>
                        </a:rPr>
                        <a:t>Survey weights</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Encounter weight plus replicate weights</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Weights support national estimates; replicates support design-based SEs</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Which weight answers which question?</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512064">
                <a:tc>
                  <a:txBody>
                    <a:bodyPr/>
                    <a:lstStyle/>
                    <a:p>
                      <a:pPr marL="0" indent="0">
                        <a:buNone/>
                      </a:pPr>
                      <a:r>
                        <a:rPr sz="1150" b="1">
                          <a:solidFill>
                            <a:srgbClr val="24313A"/>
                          </a:solidFill>
                          <a:latin typeface="Calibri"/>
                          <a:ea typeface="Calibri"/>
                          <a:cs typeface="Calibri"/>
                        </a:rPr>
                        <a:t>Disclosure edits</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Masking, imputation, and explicit missing codes</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Public-use values are analysis-ready but not raw EHR data</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How will −9 be handled?</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bl>
          </a:graphicData>
        </a:graphic>
      </p:graphicFrame>
      <p:sp>
        <p:nvSpPr>
          <p:cNvPr id="8" name="Shape 5">
            <a:extLst xmlns:a="http://schemas.openxmlformats.org/drawingml/2006/main">
              <a:ext uri="{FF2B5EF4-FFF2-40B4-BE49-F238E27FC236}">
                <a16:creationId xmlns:a16="http://schemas.microsoft.com/office/drawing/2014/main" id="{6AB4BFF9-C2CE-428E-AD1B-A423B1DD928E}"/>
              </a:ext>
            </a:extLst>
          </p:cNvPr>
          <p:cNvSpPr>
            <a:spLocks xmlns:a="http://schemas.openxmlformats.org/drawingml/2006/main" noGrp="1"/>
          </p:cNvSpPr>
          <p:nvPr/>
        </p:nvSpPr>
        <p:spPr>
          <a:xfrm xmlns:a="http://schemas.openxmlformats.org/drawingml/2006/main">
            <a:off x="502920" y="4443984"/>
            <a:ext cx="11201400" cy="1645920"/>
          </a:xfrm>
          <a:prstGeom xmlns:a="http://schemas.openxmlformats.org/drawingml/2006/main" prst="roundRect">
            <a:avLst>
              <a:gd name="adj" fmla="val 5000"/>
            </a:avLst>
          </a:prstGeom>
          <a:solidFill xmlns:a="http://schemas.openxmlformats.org/drawingml/2006/main">
            <a:srgbClr val="E7F2F3"/>
          </a:solidFill>
        </p:spPr>
      </p:sp>
      <p:sp>
        <p:nvSpPr>
          <p:cNvPr id="9" name="Shape 6">
            <a:extLst xmlns:a="http://schemas.openxmlformats.org/drawingml/2006/main">
              <a:ext uri="{FF2B5EF4-FFF2-40B4-BE49-F238E27FC236}">
                <a16:creationId xmlns:a16="http://schemas.microsoft.com/office/drawing/2014/main" id="{F52EEB37-33DC-42EE-BF68-D34F20894020}"/>
              </a:ext>
            </a:extLst>
          </p:cNvPr>
          <p:cNvSpPr>
            <a:spLocks xmlns:a="http://schemas.openxmlformats.org/drawingml/2006/main" noGrp="1"/>
          </p:cNvSpPr>
          <p:nvPr/>
        </p:nvSpPr>
        <p:spPr>
          <a:xfrm xmlns:a="http://schemas.openxmlformats.org/drawingml/2006/main">
            <a:off x="777240" y="4690872"/>
            <a:ext cx="457200" cy="457200"/>
          </a:xfrm>
          <a:prstGeom xmlns:a="http://schemas.openxmlformats.org/drawingml/2006/main" prst="ellipse">
            <a:avLst/>
          </a:prstGeom>
          <a:solidFill xmlns:a="http://schemas.openxmlformats.org/drawingml/2006/main">
            <a:srgbClr val="0A5C64"/>
          </a:solidFill>
        </p:spPr>
      </p:sp>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4e603ac2542e4751"/>
          <a:stretch xmlns:a="http://schemas.openxmlformats.org/drawingml/2006/main">
            <a:fillRect l="0" t="0" r="0" b="0"/>
          </a:stretch>
        </p:blipFill>
        <p:spPr>
          <a:xfrm xmlns:a="http://schemas.openxmlformats.org/drawingml/2006/main">
            <a:off x="896112" y="4809744"/>
            <a:ext cx="219456" cy="219456"/>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10CD6DE5-9A6D-47D5-AACC-0C5EEB421118}"/>
              </a:ext>
            </a:extLst>
          </p:cNvPr>
          <p:cNvSpPr>
            <a:spLocks xmlns:a="http://schemas.openxmlformats.org/drawingml/2006/main" noGrp="1"/>
          </p:cNvSpPr>
          <p:nvPr/>
        </p:nvSpPr>
        <p:spPr>
          <a:xfrm xmlns:a="http://schemas.openxmlformats.org/drawingml/2006/main">
            <a:off x="1417320" y="4654296"/>
            <a:ext cx="100584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300" b="1">
                <a:solidFill>
                  <a:srgbClr val="0A5C64"/>
                </a:solidFill>
                <a:latin typeface="Calibri"/>
                <a:ea typeface="Calibri"/>
                <a:cs typeface="Calibri"/>
              </a:rPr>
              <a:t>Inference is design-based: an unweighted pandas mean describes the public-use file. A national claim requires the encounter weight, replicate weights, the target population, and the survey year.</a:t>
            </a:r>
            <a:endParaRPr sz="1300"/>
          </a:p>
        </p:txBody>
      </p:sp>
    </p:spTree>
    <p:extLst>
      <p:ext uri="{BB962C8B-B14F-4D97-AF65-F5344CB8AC3E}">
        <p14:creationId xmlns:p14="http://schemas.microsoft.com/office/powerpoint/2010/main" val="36476771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498E89F-86A0-44E1-863E-5D7D708D6C9E}"/>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FBBEF0EA-DA71-4793-A7ED-D426D8F6919C}"/>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27</a:t>
            </a:r>
            <a:endParaRPr sz="900"/>
          </a:p>
        </p:txBody>
      </p:sp>
      <p:sp>
        <p:nvSpPr>
          <p:cNvPr id="4" name="Shape 2">
            <a:extLst xmlns:a="http://schemas.openxmlformats.org/drawingml/2006/main">
              <a:ext uri="{FF2B5EF4-FFF2-40B4-BE49-F238E27FC236}">
                <a16:creationId xmlns:a16="http://schemas.microsoft.com/office/drawing/2014/main" id="{C14CE30C-EF9F-4CE8-B368-CABDAE33A96C}"/>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oundRect">
            <a:avLst>
              <a:gd name="adj" fmla="val 50000"/>
            </a:avLst>
          </a:prstGeom>
          <a:solidFill xmlns:a="http://schemas.openxmlformats.org/drawingml/2006/main">
            <a:srgbClr val="C2660A"/>
          </a:solidFill>
        </p:spPr>
      </p:sp>
      <p:sp>
        <p:nvSpPr>
          <p:cNvPr id="5" name="Text 3">
            <a:extLst xmlns:a="http://schemas.openxmlformats.org/drawingml/2006/main">
              <a:ext uri="{FF2B5EF4-FFF2-40B4-BE49-F238E27FC236}">
                <a16:creationId xmlns:a16="http://schemas.microsoft.com/office/drawing/2014/main" id="{50DB7CAD-2E10-4B0D-9CC5-17028EC39ED0}"/>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M2 · CDC EXTENSION</a:t>
            </a:r>
            <a:endParaRPr sz="1050"/>
          </a:p>
        </p:txBody>
      </p:sp>
      <p:sp>
        <p:nvSpPr>
          <p:cNvPr id="6" name="Text 4">
            <a:extLst xmlns:a="http://schemas.openxmlformats.org/drawingml/2006/main">
              <a:ext uri="{FF2B5EF4-FFF2-40B4-BE49-F238E27FC236}">
                <a16:creationId xmlns:a16="http://schemas.microsoft.com/office/drawing/2014/main" id="{A9553462-3A14-4ACF-99CD-B6258A840979}"/>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CDC NHCS official-statistics challenge</a:t>
            </a:r>
            <a:endParaRPr sz="2800"/>
          </a:p>
        </p:txBody>
      </p:sp>
      <p:sp>
        <p:nvSpPr>
          <p:cNvPr id="7" name="Text 5">
            <a:extLst xmlns:a="http://schemas.openxmlformats.org/drawingml/2006/main">
              <a:ext uri="{FF2B5EF4-FFF2-40B4-BE49-F238E27FC236}">
                <a16:creationId xmlns:a16="http://schemas.microsoft.com/office/drawing/2014/main" id="{A95D1549-5026-42C6-B9A5-155A02EF9A76}"/>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~45 minutes · pairs · 2022 ED documentation · enrichment_pack/data/cdc_nhcs_2022_ed_extract.csv</a:t>
            </a:r>
            <a:endParaRPr sz="1350"/>
          </a:p>
        </p:txBody>
      </p:sp>
      <p:sp>
        <p:nvSpPr>
          <p:cNvPr id="8" name="Shape 6">
            <a:extLst xmlns:a="http://schemas.openxmlformats.org/drawingml/2006/main">
              <a:ext uri="{FF2B5EF4-FFF2-40B4-BE49-F238E27FC236}">
                <a16:creationId xmlns:a16="http://schemas.microsoft.com/office/drawing/2014/main" id="{57214451-7F85-4BDF-ACA6-554B1134FB0F}"/>
              </a:ext>
            </a:extLst>
          </p:cNvPr>
          <p:cNvSpPr>
            <a:spLocks xmlns:a="http://schemas.openxmlformats.org/drawingml/2006/main" noGrp="1"/>
          </p:cNvSpPr>
          <p:nvPr/>
        </p:nvSpPr>
        <p:spPr>
          <a:xfrm xmlns:a="http://schemas.openxmlformats.org/drawingml/2006/main">
            <a:off x="502920" y="1792224"/>
            <a:ext cx="6858000" cy="4709160"/>
          </a:xfrm>
          <a:prstGeom xmlns:a="http://schemas.openxmlformats.org/drawingml/2006/main" prst="roundRect">
            <a:avLst>
              <a:gd name="adj" fmla="val 1748"/>
            </a:avLst>
          </a:prstGeom>
          <a:solidFill xmlns:a="http://schemas.openxmlformats.org/drawingml/2006/main">
            <a:srgbClr val="FFFFFF"/>
          </a:solidFill>
          <a:ln xmlns:a="http://schemas.openxmlformats.org/drawingml/2006/main" w="12700">
            <a:solidFill>
              <a:srgbClr val="D6E2E4"/>
            </a:solidFill>
            <a:prstDash val="solid"/>
          </a:ln>
        </p:spPr>
      </p:sp>
      <p:sp>
        <p:nvSpPr>
          <p:cNvPr id="9" name="Text 7">
            <a:extLst xmlns:a="http://schemas.openxmlformats.org/drawingml/2006/main">
              <a:ext uri="{FF2B5EF4-FFF2-40B4-BE49-F238E27FC236}">
                <a16:creationId xmlns:a16="http://schemas.microsoft.com/office/drawing/2014/main" id="{64A66DF1-0CA7-4D3D-B637-D440A6D8ADD8}"/>
              </a:ext>
            </a:extLst>
          </p:cNvPr>
          <p:cNvSpPr>
            <a:spLocks xmlns:a="http://schemas.openxmlformats.org/drawingml/2006/main" noGrp="1"/>
          </p:cNvSpPr>
          <p:nvPr/>
        </p:nvSpPr>
        <p:spPr>
          <a:xfrm xmlns:a="http://schemas.openxmlformats.org/drawingml/2006/main">
            <a:off x="822960" y="1975104"/>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B3140"/>
                </a:solidFill>
                <a:latin typeface="Cambria"/>
                <a:ea typeface="Cambria"/>
                <a:cs typeface="Cambria"/>
              </a:rPr>
              <a:t>Tasks</a:t>
            </a:r>
            <a:endParaRPr sz="1400"/>
          </a:p>
        </p:txBody>
      </p:sp>
      <p:sp>
        <p:nvSpPr>
          <p:cNvPr id="10" name="Text 8">
            <a:extLst xmlns:a="http://schemas.openxmlformats.org/drawingml/2006/main">
              <a:ext uri="{FF2B5EF4-FFF2-40B4-BE49-F238E27FC236}">
                <a16:creationId xmlns:a16="http://schemas.microsoft.com/office/drawing/2014/main" id="{59EABB7B-B1C3-4BFA-AA5B-91321BFC855E}"/>
              </a:ext>
            </a:extLst>
          </p:cNvPr>
          <p:cNvSpPr>
            <a:spLocks xmlns:a="http://schemas.openxmlformats.org/drawingml/2006/main" noGrp="1"/>
          </p:cNvSpPr>
          <p:nvPr/>
        </p:nvSpPr>
        <p:spPr>
          <a:xfrm xmlns:a="http://schemas.openxmlformats.org/drawingml/2006/main">
            <a:off x="822960" y="2386584"/>
            <a:ext cx="6309360"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(6’) Define target population and unit</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(8’) Recode −9 as missing; state the denominator</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(8’) Reproduce one Appendix A percentage</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(10’) Draft weighted-analysis pseudocode</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(8’) Write a result with year, setting, weight status, and caveat</a:t>
            </a:r>
            <a:endParaRPr sz="1150"/>
          </a:p>
        </p:txBody>
      </p:sp>
      <p:sp>
        <p:nvSpPr>
          <p:cNvPr id="11" name="Shape 9">
            <a:extLst xmlns:a="http://schemas.openxmlformats.org/drawingml/2006/main">
              <a:ext uri="{FF2B5EF4-FFF2-40B4-BE49-F238E27FC236}">
                <a16:creationId xmlns:a16="http://schemas.microsoft.com/office/drawing/2014/main" id="{FC7C933A-4CA3-434A-AAA1-BC6174B64EE7}"/>
              </a:ext>
            </a:extLst>
          </p:cNvPr>
          <p:cNvSpPr>
            <a:spLocks xmlns:a="http://schemas.openxmlformats.org/drawingml/2006/main" noGrp="1"/>
          </p:cNvSpPr>
          <p:nvPr/>
        </p:nvSpPr>
        <p:spPr>
          <a:xfrm xmlns:a="http://schemas.openxmlformats.org/drawingml/2006/main">
            <a:off x="7635240" y="1792224"/>
            <a:ext cx="4023360" cy="4709160"/>
          </a:xfrm>
          <a:prstGeom xmlns:a="http://schemas.openxmlformats.org/drawingml/2006/main" prst="roundRect">
            <a:avLst>
              <a:gd name="adj" fmla="val 2045"/>
            </a:avLst>
          </a:prstGeom>
          <a:solidFill xmlns:a="http://schemas.openxmlformats.org/drawingml/2006/main">
            <a:srgbClr val="E7F2F3"/>
          </a:solidFill>
        </p:spPr>
      </p:sp>
      <p:sp>
        <p:nvSpPr>
          <p:cNvPr id="12" name="Text 10">
            <a:extLst xmlns:a="http://schemas.openxmlformats.org/drawingml/2006/main">
              <a:ext uri="{FF2B5EF4-FFF2-40B4-BE49-F238E27FC236}">
                <a16:creationId xmlns:a16="http://schemas.microsoft.com/office/drawing/2014/main" id="{40C0C224-5985-49CB-84BC-BFAE7E04C9AB}"/>
              </a:ext>
            </a:extLst>
          </p:cNvPr>
          <p:cNvSpPr>
            <a:spLocks xmlns:a="http://schemas.openxmlformats.org/drawingml/2006/main" noGrp="1"/>
          </p:cNvSpPr>
          <p:nvPr/>
        </p:nvSpPr>
        <p:spPr>
          <a:xfrm xmlns:a="http://schemas.openxmlformats.org/drawingml/2006/main">
            <a:off x="7955280" y="1975104"/>
            <a:ext cx="3474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A5C64"/>
                </a:solidFill>
                <a:latin typeface="Cambria"/>
                <a:ea typeface="Cambria"/>
                <a:cs typeface="Cambria"/>
              </a:rPr>
              <a:t>Checkpoint outputs</a:t>
            </a:r>
            <a:endParaRPr sz="1400"/>
          </a:p>
        </p:txBody>
      </p:sp>
      <p:sp>
        <p:nvSpPr>
          <p:cNvPr id="13" name="Text 11">
            <a:extLst xmlns:a="http://schemas.openxmlformats.org/drawingml/2006/main">
              <a:ext uri="{FF2B5EF4-FFF2-40B4-BE49-F238E27FC236}">
                <a16:creationId xmlns:a16="http://schemas.microsoft.com/office/drawing/2014/main" id="{F1ECBD02-F32F-4DBD-AA6D-C13073FF0A18}"/>
              </a:ext>
            </a:extLst>
          </p:cNvPr>
          <p:cNvSpPr>
            <a:spLocks xmlns:a="http://schemas.openxmlformats.org/drawingml/2006/main" noGrp="1"/>
          </p:cNvSpPr>
          <p:nvPr/>
        </p:nvSpPr>
        <p:spPr>
          <a:xfrm xmlns:a="http://schemas.openxmlformats.org/drawingml/2006/main">
            <a:off x="7955280" y="2386584"/>
            <a:ext cx="3429000"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700"/>
              </a:spcAft>
              <a:buSzPct val="100000"/>
              <a:buChar char="•"/>
            </a:pPr>
            <a:r>
              <a:rPr sz="1150" b="1">
                <a:solidFill>
                  <a:srgbClr val="24313A"/>
                </a:solidFill>
                <a:latin typeface="Calibri"/>
                <a:ea typeface="Calibri"/>
                <a:cs typeface="Calibri"/>
              </a:rPr>
              <a:t>n = 497,769 public-use ED records</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Sex: 45.3% male; 53.6% female; 1.1% missing</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Routine-to-home: 82.9%; status missing: 6.0%</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“Unweighted public-use file” ≠ national estimate</a:t>
            </a:r>
            <a:endParaRPr sz="1150"/>
          </a:p>
        </p:txBody>
      </p:sp>
    </p:spTree>
    <p:extLst>
      <p:ext uri="{BB962C8B-B14F-4D97-AF65-F5344CB8AC3E}">
        <p14:creationId xmlns:p14="http://schemas.microsoft.com/office/powerpoint/2010/main" val="278538307"/>
      </p:ext>
    </p:extLst>
  </p:cSld>
</p:sld>
</file>

<file path=ppt/slides/slide28.xml><?xml version="1.0" encoding="utf-8"?>
<p:sld xmlns:p="http://schemas.openxmlformats.org/presentationml/2006/main">
  <p:cSld>
    <p:bg>
      <p:bgPr>
        <a:solidFill xmlns:a="http://schemas.openxmlformats.org/drawingml/2006/main">
          <a:srgbClr val="0B314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467A8FF-11F0-4367-8786-6DA931A9A90D}"/>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FA6AE"/>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664AA423-4E68-44B9-8171-1D505296EFB7}"/>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A6AE"/>
                </a:solidFill>
                <a:latin typeface="Calibri"/>
                <a:ea typeface="Calibri"/>
                <a:cs typeface="Calibri"/>
              </a:rPr>
              <a:t>28</a:t>
            </a:r>
            <a:endParaRPr sz="900"/>
          </a:p>
        </p:txBody>
      </p:sp>
      <p:sp>
        <p:nvSpPr>
          <p:cNvPr id="4" name="Text 2">
            <a:extLst xmlns:a="http://schemas.openxmlformats.org/drawingml/2006/main">
              <a:ext uri="{FF2B5EF4-FFF2-40B4-BE49-F238E27FC236}">
                <a16:creationId xmlns:a16="http://schemas.microsoft.com/office/drawing/2014/main" id="{5411D0F9-A24A-479D-B4D8-112FAC761EF7}"/>
              </a:ext>
            </a:extLst>
          </p:cNvPr>
          <p:cNvSpPr>
            <a:spLocks xmlns:a="http://schemas.openxmlformats.org/drawingml/2006/main" noGrp="1"/>
          </p:cNvSpPr>
          <p:nvPr/>
        </p:nvSpPr>
        <p:spPr>
          <a:xfrm xmlns:a="http://schemas.openxmlformats.org/drawingml/2006/main">
            <a:off x="731520" y="1051560"/>
            <a:ext cx="5486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6FB3BC"/>
                </a:solidFill>
                <a:latin typeface="Calibri"/>
                <a:ea typeface="Calibri"/>
                <a:cs typeface="Calibri"/>
              </a:rPr>
              <a:t>DAY 2</a:t>
            </a:r>
            <a:endParaRPr sz="1600"/>
          </a:p>
        </p:txBody>
      </p:sp>
      <p:sp>
        <p:nvSpPr>
          <p:cNvPr id="5" name="Text 3">
            <a:extLst xmlns:a="http://schemas.openxmlformats.org/drawingml/2006/main">
              <a:ext uri="{FF2B5EF4-FFF2-40B4-BE49-F238E27FC236}">
                <a16:creationId xmlns:a16="http://schemas.microsoft.com/office/drawing/2014/main" id="{B28D7F3D-0D45-488D-9A5D-4B8A7F77DE8D}"/>
              </a:ext>
            </a:extLst>
          </p:cNvPr>
          <p:cNvSpPr>
            <a:spLocks xmlns:a="http://schemas.openxmlformats.org/drawingml/2006/main" noGrp="1"/>
          </p:cNvSpPr>
          <p:nvPr/>
        </p:nvSpPr>
        <p:spPr>
          <a:xfrm xmlns:a="http://schemas.openxmlformats.org/drawingml/2006/main">
            <a:off x="731520" y="1463040"/>
            <a:ext cx="87782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600" b="1">
                <a:solidFill>
                  <a:srgbClr val="FFFFFF"/>
                </a:solidFill>
                <a:latin typeface="Cambria"/>
                <a:ea typeface="Cambria"/>
                <a:cs typeface="Cambria"/>
              </a:rPr>
              <a:t>From estimates to evidence</a:t>
            </a:r>
            <a:endParaRPr sz="4600"/>
          </a:p>
        </p:txBody>
      </p:sp>
      <p:sp>
        <p:nvSpPr>
          <p:cNvPr id="6" name="Text 4">
            <a:extLst xmlns:a="http://schemas.openxmlformats.org/drawingml/2006/main">
              <a:ext uri="{FF2B5EF4-FFF2-40B4-BE49-F238E27FC236}">
                <a16:creationId xmlns:a16="http://schemas.microsoft.com/office/drawing/2014/main" id="{B3BC6645-3CD7-485B-85F1-C3DFBDBDF14C}"/>
              </a:ext>
            </a:extLst>
          </p:cNvPr>
          <p:cNvSpPr>
            <a:spLocks xmlns:a="http://schemas.openxmlformats.org/drawingml/2006/main" noGrp="1"/>
          </p:cNvSpPr>
          <p:nvPr/>
        </p:nvSpPr>
        <p:spPr>
          <a:xfrm xmlns:a="http://schemas.openxmlformats.org/drawingml/2006/main">
            <a:off x="731520" y="2606040"/>
            <a:ext cx="78638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i="1">
                <a:solidFill>
                  <a:srgbClr val="AECBD1"/>
                </a:solidFill>
                <a:latin typeface="Calibri"/>
                <a:ea typeface="Calibri"/>
                <a:cs typeface="Calibri"/>
              </a:rPr>
              <a:t>Yesterday we described the data. Today we quantify what we can honestly claim about the population behind it — and put the SMS reminder on trial.</a:t>
            </a:r>
            <a:endParaRPr sz="1500"/>
          </a:p>
        </p:txBody>
      </p:sp>
      <p:sp>
        <p:nvSpPr>
          <p:cNvPr id="7" name="Shape 5">
            <a:extLst xmlns:a="http://schemas.openxmlformats.org/drawingml/2006/main">
              <a:ext uri="{FF2B5EF4-FFF2-40B4-BE49-F238E27FC236}">
                <a16:creationId xmlns:a16="http://schemas.microsoft.com/office/drawing/2014/main" id="{35F1D95C-D854-4979-961A-EC859ECB3C70}"/>
              </a:ext>
            </a:extLst>
          </p:cNvPr>
          <p:cNvSpPr>
            <a:spLocks xmlns:a="http://schemas.openxmlformats.org/drawingml/2006/main" noGrp="1"/>
          </p:cNvSpPr>
          <p:nvPr/>
        </p:nvSpPr>
        <p:spPr>
          <a:xfrm xmlns:a="http://schemas.openxmlformats.org/drawingml/2006/main">
            <a:off x="731520" y="3749040"/>
            <a:ext cx="6675120" cy="2148840"/>
          </a:xfrm>
          <a:prstGeom xmlns:a="http://schemas.openxmlformats.org/drawingml/2006/main" prst="roundRect">
            <a:avLst>
              <a:gd name="adj" fmla="val 3830"/>
            </a:avLst>
          </a:prstGeom>
          <a:solidFill xmlns:a="http://schemas.openxmlformats.org/drawingml/2006/main">
            <a:srgbClr val="123F52"/>
          </a:solidFill>
        </p:spPr>
      </p:sp>
      <p:sp>
        <p:nvSpPr>
          <p:cNvPr id="8" name="Text 6">
            <a:extLst xmlns:a="http://schemas.openxmlformats.org/drawingml/2006/main">
              <a:ext uri="{FF2B5EF4-FFF2-40B4-BE49-F238E27FC236}">
                <a16:creationId xmlns:a16="http://schemas.microsoft.com/office/drawing/2014/main" id="{A89FC5F2-3E54-475E-B303-3C14F44E8133}"/>
              </a:ext>
            </a:extLst>
          </p:cNvPr>
          <p:cNvSpPr>
            <a:spLocks xmlns:a="http://schemas.openxmlformats.org/drawingml/2006/main" noGrp="1"/>
          </p:cNvSpPr>
          <p:nvPr/>
        </p:nvSpPr>
        <p:spPr>
          <a:xfrm xmlns:a="http://schemas.openxmlformats.org/drawingml/2006/main">
            <a:off x="1005840" y="397764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300">
                <a:solidFill>
                  <a:srgbClr val="6FB3BC"/>
                </a:solidFill>
                <a:latin typeface="Calibri"/>
                <a:ea typeface="Calibri"/>
                <a:cs typeface="Calibri"/>
              </a:rPr>
              <a:t>MODULES</a:t>
            </a:r>
            <a:endParaRPr sz="1050"/>
          </a:p>
        </p:txBody>
      </p:sp>
      <p:sp>
        <p:nvSpPr>
          <p:cNvPr id="9" name="Text 7">
            <a:extLst xmlns:a="http://schemas.openxmlformats.org/drawingml/2006/main">
              <a:ext uri="{FF2B5EF4-FFF2-40B4-BE49-F238E27FC236}">
                <a16:creationId xmlns:a16="http://schemas.microsoft.com/office/drawing/2014/main" id="{1F412888-A3C0-4E6D-BB40-9D0EE7148D68}"/>
              </a:ext>
            </a:extLst>
          </p:cNvPr>
          <p:cNvSpPr>
            <a:spLocks xmlns:a="http://schemas.openxmlformats.org/drawingml/2006/main" noGrp="1"/>
          </p:cNvSpPr>
          <p:nvPr/>
        </p:nvSpPr>
        <p:spPr>
          <a:xfrm xmlns:a="http://schemas.openxmlformats.org/drawingml/2006/main">
            <a:off x="1005840" y="4315968"/>
            <a:ext cx="62179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600"/>
              </a:spcAft>
              <a:buSzPct val="100000"/>
              <a:buChar char="•"/>
            </a:pPr>
            <a:r>
              <a:rPr sz="1350">
                <a:solidFill>
                  <a:srgbClr val="E8F1F2"/>
                </a:solidFill>
                <a:latin typeface="Calibri"/>
                <a:ea typeface="Calibri"/>
                <a:cs typeface="Calibri"/>
              </a:rPr>
              <a:t>Module 3 — Estimation &amp; confidence intervals (2.5 h)</a:t>
            </a:r>
            <a:endParaRPr sz="1350"/>
          </a:p>
          <a:p xmlns:a="http://schemas.openxmlformats.org/drawingml/2006/main">
            <a:pPr marL="152400" indent="-152400">
              <a:lnSpc>
                <a:spcPct val="104000"/>
              </a:lnSpc>
              <a:spcAft>
                <a:spcPts val="600"/>
              </a:spcAft>
              <a:buSzPct val="100000"/>
              <a:buChar char="•"/>
            </a:pPr>
            <a:r>
              <a:rPr sz="1350">
                <a:solidFill>
                  <a:srgbClr val="E8F1F2"/>
                </a:solidFill>
                <a:latin typeface="Calibri"/>
                <a:ea typeface="Calibri"/>
                <a:cs typeface="Calibri"/>
              </a:rPr>
              <a:t>Module 4 — Hypothesis testing &amp; effect sizes (2.5 h)</a:t>
            </a:r>
            <a:endParaRPr sz="1350"/>
          </a:p>
        </p:txBody>
      </p:sp>
      <p:sp>
        <p:nvSpPr>
          <p:cNvPr id="10" name="Shape 8">
            <a:extLst xmlns:a="http://schemas.openxmlformats.org/drawingml/2006/main">
              <a:ext uri="{FF2B5EF4-FFF2-40B4-BE49-F238E27FC236}">
                <a16:creationId xmlns:a16="http://schemas.microsoft.com/office/drawing/2014/main" id="{F77E7730-1DD3-4EFC-B061-AA6E0E70AD9F}"/>
              </a:ext>
            </a:extLst>
          </p:cNvPr>
          <p:cNvSpPr>
            <a:spLocks xmlns:a="http://schemas.openxmlformats.org/drawingml/2006/main" noGrp="1"/>
          </p:cNvSpPr>
          <p:nvPr/>
        </p:nvSpPr>
        <p:spPr>
          <a:xfrm xmlns:a="http://schemas.openxmlformats.org/drawingml/2006/main">
            <a:off x="7726680" y="3749040"/>
            <a:ext cx="3749040" cy="2148840"/>
          </a:xfrm>
          <a:prstGeom xmlns:a="http://schemas.openxmlformats.org/drawingml/2006/main" prst="roundRect">
            <a:avLst>
              <a:gd name="adj" fmla="val 3830"/>
            </a:avLst>
          </a:prstGeom>
          <a:solidFill xmlns:a="http://schemas.openxmlformats.org/drawingml/2006/main">
            <a:srgbClr val="0E7C86"/>
          </a:solidFill>
        </p:spPr>
      </p:sp>
      <p:sp>
        <p:nvSpPr>
          <p:cNvPr id="11" name="Text 9">
            <a:extLst xmlns:a="http://schemas.openxmlformats.org/drawingml/2006/main">
              <a:ext uri="{FF2B5EF4-FFF2-40B4-BE49-F238E27FC236}">
                <a16:creationId xmlns:a16="http://schemas.microsoft.com/office/drawing/2014/main" id="{ED249663-A6A7-4D0D-BC8E-DD9D9E9222F8}"/>
              </a:ext>
            </a:extLst>
          </p:cNvPr>
          <p:cNvSpPr>
            <a:spLocks xmlns:a="http://schemas.openxmlformats.org/drawingml/2006/main" noGrp="1"/>
          </p:cNvSpPr>
          <p:nvPr/>
        </p:nvSpPr>
        <p:spPr>
          <a:xfrm xmlns:a="http://schemas.openxmlformats.org/drawingml/2006/main">
            <a:off x="8001000" y="397764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D3ECEF"/>
                </a:solidFill>
                <a:latin typeface="Calibri"/>
                <a:ea typeface="Calibri"/>
                <a:cs typeface="Calibri"/>
              </a:rPr>
              <a:t>END-OF-DAY DELIVERABLE</a:t>
            </a:r>
            <a:endParaRPr sz="1050"/>
          </a:p>
        </p:txBody>
      </p:sp>
      <p:sp>
        <p:nvSpPr>
          <p:cNvPr id="12" name="Text 10">
            <a:extLst xmlns:a="http://schemas.openxmlformats.org/drawingml/2006/main">
              <a:ext uri="{FF2B5EF4-FFF2-40B4-BE49-F238E27FC236}">
                <a16:creationId xmlns:a16="http://schemas.microsoft.com/office/drawing/2014/main" id="{4E16F425-76DF-4595-894F-2745A9DAD4CC}"/>
              </a:ext>
            </a:extLst>
          </p:cNvPr>
          <p:cNvSpPr>
            <a:spLocks xmlns:a="http://schemas.openxmlformats.org/drawingml/2006/main" noGrp="1"/>
          </p:cNvSpPr>
          <p:nvPr/>
        </p:nvSpPr>
        <p:spPr>
          <a:xfrm xmlns:a="http://schemas.openxmlformats.org/drawingml/2006/main">
            <a:off x="8001000" y="4315968"/>
            <a:ext cx="32461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A defensible answer to “which regions are really different?” and a verdict on the SMS pilot — with intervals and effect sizes attached.</a:t>
            </a:r>
            <a:endParaRPr sz="1300"/>
          </a:p>
        </p:txBody>
      </p:sp>
    </p:spTree>
    <p:extLst>
      <p:ext uri="{BB962C8B-B14F-4D97-AF65-F5344CB8AC3E}">
        <p14:creationId xmlns:p14="http://schemas.microsoft.com/office/powerpoint/2010/main" val="199750602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E561BC-4984-4FF7-A358-6FDE5DF7F26D}"/>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AA5F864F-A842-4B8D-83A5-31B45978AD9F}"/>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29</a:t>
            </a:r>
            <a:endParaRPr sz="900"/>
          </a:p>
        </p:txBody>
      </p:sp>
      <p:sp>
        <p:nvSpPr>
          <p:cNvPr id="4" name="Shape 2">
            <a:extLst xmlns:a="http://schemas.openxmlformats.org/drawingml/2006/main">
              <a:ext uri="{FF2B5EF4-FFF2-40B4-BE49-F238E27FC236}">
                <a16:creationId xmlns:a16="http://schemas.microsoft.com/office/drawing/2014/main" id="{34511FBE-8A45-4247-9DB3-A5E56ACFD779}"/>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8D2CDC23-F940-4DE8-AE67-9620B60CAEC2}"/>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3</a:t>
            </a:r>
            <a:endParaRPr sz="1050"/>
          </a:p>
        </p:txBody>
      </p:sp>
      <p:sp>
        <p:nvSpPr>
          <p:cNvPr id="6" name="Text 4">
            <a:extLst xmlns:a="http://schemas.openxmlformats.org/drawingml/2006/main">
              <a:ext uri="{FF2B5EF4-FFF2-40B4-BE49-F238E27FC236}">
                <a16:creationId xmlns:a16="http://schemas.microsoft.com/office/drawing/2014/main" id="{8ACDCBDE-0C44-47A6-99C8-BDDBADA33937}"/>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Estimation and confidence intervals</a:t>
            </a:r>
            <a:endParaRPr sz="2800"/>
          </a:p>
        </p:txBody>
      </p:sp>
      <p:sp>
        <p:nvSpPr>
          <p:cNvPr id="7" name="Shape 5">
            <a:extLst xmlns:a="http://schemas.openxmlformats.org/drawingml/2006/main">
              <a:ext uri="{FF2B5EF4-FFF2-40B4-BE49-F238E27FC236}">
                <a16:creationId xmlns:a16="http://schemas.microsoft.com/office/drawing/2014/main" id="{E3301E25-F8EE-435A-A5EA-57B4D1CFDA66}"/>
              </a:ext>
            </a:extLst>
          </p:cNvPr>
          <p:cNvSpPr>
            <a:spLocks xmlns:a="http://schemas.openxmlformats.org/drawingml/2006/main" noGrp="1"/>
          </p:cNvSpPr>
          <p:nvPr/>
        </p:nvSpPr>
        <p:spPr>
          <a:xfrm xmlns:a="http://schemas.openxmlformats.org/drawingml/2006/main">
            <a:off x="502920" y="1563624"/>
            <a:ext cx="6720840" cy="4892040"/>
          </a:xfrm>
          <a:prstGeom xmlns:a="http://schemas.openxmlformats.org/drawingml/2006/main" prst="roundRect">
            <a:avLst>
              <a:gd name="adj" fmla="val 1682"/>
            </a:avLst>
          </a:prstGeom>
          <a:solidFill xmlns:a="http://schemas.openxmlformats.org/drawingml/2006/main">
            <a:srgbClr val="F3F8F9"/>
          </a:solidFill>
        </p:spPr>
      </p:sp>
      <p:sp>
        <p:nvSpPr>
          <p:cNvPr id="8" name="Shape 6">
            <a:extLst xmlns:a="http://schemas.openxmlformats.org/drawingml/2006/main">
              <a:ext uri="{FF2B5EF4-FFF2-40B4-BE49-F238E27FC236}">
                <a16:creationId xmlns:a16="http://schemas.microsoft.com/office/drawing/2014/main" id="{319ACB2F-6254-4DC6-B92A-0083209C7630}"/>
              </a:ext>
            </a:extLst>
          </p:cNvPr>
          <p:cNvSpPr>
            <a:spLocks xmlns:a="http://schemas.openxmlformats.org/drawingml/2006/main" noGrp="1"/>
          </p:cNvSpPr>
          <p:nvPr/>
        </p:nvSpPr>
        <p:spPr>
          <a:xfrm xmlns:a="http://schemas.openxmlformats.org/drawingml/2006/main">
            <a:off x="868680" y="1929384"/>
            <a:ext cx="566928" cy="566928"/>
          </a:xfrm>
          <a:prstGeom xmlns:a="http://schemas.openxmlformats.org/drawingml/2006/main" prst="ellipse">
            <a:avLst/>
          </a:prstGeom>
          <a:solidFill xmlns:a="http://schemas.openxmlformats.org/drawingml/2006/main">
            <a:srgbClr val="0E7C86"/>
          </a:solidFill>
        </p:spPr>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2786ef6b57cc424b"/>
          <a:stretch xmlns:a="http://schemas.openxmlformats.org/drawingml/2006/main">
            <a:fillRect l="0" t="0" r="0" b="0"/>
          </a:stretch>
        </p:blipFill>
        <p:spPr>
          <a:xfrm xmlns:a="http://schemas.openxmlformats.org/drawingml/2006/main">
            <a:off x="1016081" y="2076785"/>
            <a:ext cx="272125" cy="272125"/>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6A70B52C-4C6A-4B4F-B271-5665ADAE56E8}"/>
              </a:ext>
            </a:extLst>
          </p:cNvPr>
          <p:cNvSpPr>
            <a:spLocks xmlns:a="http://schemas.openxmlformats.org/drawingml/2006/main" noGrp="1"/>
          </p:cNvSpPr>
          <p:nvPr/>
        </p:nvSpPr>
        <p:spPr>
          <a:xfrm xmlns:a="http://schemas.openxmlformats.org/drawingml/2006/main">
            <a:off x="1645920" y="1975104"/>
            <a:ext cx="5120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B3140"/>
                </a:solidFill>
                <a:latin typeface="Cambria"/>
                <a:ea typeface="Cambria"/>
                <a:cs typeface="Cambria"/>
              </a:rPr>
              <a:t>Why this module</a:t>
            </a:r>
            <a:endParaRPr sz="1600"/>
          </a:p>
        </p:txBody>
      </p:sp>
      <p:sp>
        <p:nvSpPr>
          <p:cNvPr id="11" name="Text 8">
            <a:extLst xmlns:a="http://schemas.openxmlformats.org/drawingml/2006/main">
              <a:ext uri="{FF2B5EF4-FFF2-40B4-BE49-F238E27FC236}">
                <a16:creationId xmlns:a16="http://schemas.microsoft.com/office/drawing/2014/main" id="{9B80B40C-FC3E-4DD7-8F3C-F8DD92F6A1BD}"/>
              </a:ext>
            </a:extLst>
          </p:cNvPr>
          <p:cNvSpPr>
            <a:spLocks xmlns:a="http://schemas.openxmlformats.org/drawingml/2006/main" noGrp="1"/>
          </p:cNvSpPr>
          <p:nvPr/>
        </p:nvSpPr>
        <p:spPr>
          <a:xfrm xmlns:a="http://schemas.openxmlformats.org/drawingml/2006/main">
            <a:off x="868680" y="2706624"/>
            <a:ext cx="6035040" cy="3566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250">
                <a:solidFill>
                  <a:srgbClr val="24313A"/>
                </a:solidFill>
                <a:latin typeface="Calibri"/>
                <a:ea typeface="Calibri"/>
                <a:cs typeface="Calibri"/>
              </a:rPr>
              <a:t>A point estimate without an interval is a guess wearing a suit. Module 3 gives participants the discipline the capstone memo is graded on: every number carries its uncertainty. The Ministry scenario makes it concrete — headquarters wants to name 'problem regions'. Which regional differences are signal, and which are the noise of small samples?</a:t>
            </a:r>
            <a:endParaRPr sz="1250"/>
          </a:p>
          <a:p xmlns:a="http://schemas.openxmlformats.org/drawingml/2006/main">
            <a:pPr marL="0" indent="0">
              <a:lnSpc>
                <a:spcPct val="112000"/>
              </a:lnSpc>
              <a:buNone/>
            </a:pPr>
            <a:endParaRPr sz="1250"/>
          </a:p>
          <a:p xmlns:a="http://schemas.openxmlformats.org/drawingml/2006/main">
            <a:pPr marL="0" indent="0">
              <a:lnSpc>
                <a:spcPct val="112000"/>
              </a:lnSpc>
              <a:buNone/>
            </a:pPr>
            <a:r>
              <a:rPr sz="1250">
                <a:solidFill>
                  <a:srgbClr val="24313A"/>
                </a:solidFill>
                <a:latin typeface="Calibri"/>
                <a:ea typeface="Calibri"/>
                <a:cs typeface="Calibri"/>
              </a:rPr>
              <a:t>The module's centre of gravity is judgement, not formulas: choosing the right interval (t for means, Wilson for proportions), reading it correctly in business language, and planning sample sizes before fieldwork instead of apologising after.</a:t>
            </a:r>
            <a:endParaRPr sz="1250"/>
          </a:p>
        </p:txBody>
      </p:sp>
      <p:sp>
        <p:nvSpPr>
          <p:cNvPr id="12" name="Shape 9">
            <a:extLst xmlns:a="http://schemas.openxmlformats.org/drawingml/2006/main">
              <a:ext uri="{FF2B5EF4-FFF2-40B4-BE49-F238E27FC236}">
                <a16:creationId xmlns:a16="http://schemas.microsoft.com/office/drawing/2014/main" id="{114A2B4B-DF81-4E6E-842E-3F9203464B71}"/>
              </a:ext>
            </a:extLst>
          </p:cNvPr>
          <p:cNvSpPr>
            <a:spLocks xmlns:a="http://schemas.openxmlformats.org/drawingml/2006/main" noGrp="1"/>
          </p:cNvSpPr>
          <p:nvPr/>
        </p:nvSpPr>
        <p:spPr>
          <a:xfrm xmlns:a="http://schemas.openxmlformats.org/drawingml/2006/main">
            <a:off x="7498080" y="1563624"/>
            <a:ext cx="4160520" cy="4892040"/>
          </a:xfrm>
          <a:prstGeom xmlns:a="http://schemas.openxmlformats.org/drawingml/2006/main" prst="roundRect">
            <a:avLst>
              <a:gd name="adj" fmla="val 1978"/>
            </a:avLst>
          </a:prstGeom>
          <a:solidFill xmlns:a="http://schemas.openxmlformats.org/drawingml/2006/main">
            <a:srgbClr val="0B3140"/>
          </a:solidFill>
        </p:spPr>
      </p:sp>
      <p:sp>
        <p:nvSpPr>
          <p:cNvPr id="13" name="Text 10">
            <a:extLst xmlns:a="http://schemas.openxmlformats.org/drawingml/2006/main">
              <a:ext uri="{FF2B5EF4-FFF2-40B4-BE49-F238E27FC236}">
                <a16:creationId xmlns:a16="http://schemas.microsoft.com/office/drawing/2014/main" id="{851202AF-9279-4F21-8DA5-BDF45C61385A}"/>
              </a:ext>
            </a:extLst>
          </p:cNvPr>
          <p:cNvSpPr>
            <a:spLocks xmlns:a="http://schemas.openxmlformats.org/drawingml/2006/main" noGrp="1"/>
          </p:cNvSpPr>
          <p:nvPr/>
        </p:nvSpPr>
        <p:spPr>
          <a:xfrm xmlns:a="http://schemas.openxmlformats.org/drawingml/2006/main">
            <a:off x="7818120" y="1837944"/>
            <a:ext cx="3566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FB3BC"/>
                </a:solidFill>
                <a:latin typeface="Calibri"/>
                <a:ea typeface="Calibri"/>
                <a:cs typeface="Calibri"/>
              </a:rPr>
              <a:t>LEARNING OBJECTIVES</a:t>
            </a:r>
            <a:endParaRPr sz="1050"/>
          </a:p>
        </p:txBody>
      </p:sp>
      <p:sp>
        <p:nvSpPr>
          <p:cNvPr id="14" name="Shape 11">
            <a:extLst xmlns:a="http://schemas.openxmlformats.org/drawingml/2006/main">
              <a:ext uri="{FF2B5EF4-FFF2-40B4-BE49-F238E27FC236}">
                <a16:creationId xmlns:a16="http://schemas.microsoft.com/office/drawing/2014/main" id="{5A5F0FBD-1E50-43DE-B780-8488FA62BAAF}"/>
              </a:ext>
            </a:extLst>
          </p:cNvPr>
          <p:cNvSpPr>
            <a:spLocks xmlns:a="http://schemas.openxmlformats.org/drawingml/2006/main" noGrp="1"/>
          </p:cNvSpPr>
          <p:nvPr/>
        </p:nvSpPr>
        <p:spPr>
          <a:xfrm xmlns:a="http://schemas.openxmlformats.org/drawingml/2006/main">
            <a:off x="7818120" y="2267712"/>
            <a:ext cx="310896" cy="310896"/>
          </a:xfrm>
          <a:prstGeom xmlns:a="http://schemas.openxmlformats.org/drawingml/2006/main" prst="ellipse">
            <a:avLst/>
          </a:prstGeom>
          <a:solidFill xmlns:a="http://schemas.openxmlformats.org/drawingml/2006/main">
            <a:srgbClr val="0E7C86"/>
          </a:solidFill>
        </p:spPr>
      </p:sp>
      <p:sp>
        <p:nvSpPr>
          <p:cNvPr id="15" name="Text 12">
            <a:extLst xmlns:a="http://schemas.openxmlformats.org/drawingml/2006/main">
              <a:ext uri="{FF2B5EF4-FFF2-40B4-BE49-F238E27FC236}">
                <a16:creationId xmlns:a16="http://schemas.microsoft.com/office/drawing/2014/main" id="{019B8776-5544-44CF-913D-CA05EFD67E60}"/>
              </a:ext>
            </a:extLst>
          </p:cNvPr>
          <p:cNvSpPr>
            <a:spLocks xmlns:a="http://schemas.openxmlformats.org/drawingml/2006/main" noGrp="1"/>
          </p:cNvSpPr>
          <p:nvPr/>
        </p:nvSpPr>
        <p:spPr>
          <a:xfrm xmlns:a="http://schemas.openxmlformats.org/drawingml/2006/main">
            <a:off x="7818120" y="2267712"/>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3.1</a:t>
            </a:r>
            <a:endParaRPr sz="1100"/>
          </a:p>
        </p:txBody>
      </p:sp>
      <p:sp>
        <p:nvSpPr>
          <p:cNvPr id="16" name="Text 13">
            <a:extLst xmlns:a="http://schemas.openxmlformats.org/drawingml/2006/main">
              <a:ext uri="{FF2B5EF4-FFF2-40B4-BE49-F238E27FC236}">
                <a16:creationId xmlns:a16="http://schemas.microsoft.com/office/drawing/2014/main" id="{28DCBCB9-1672-4B65-80BD-AE949D099CA4}"/>
              </a:ext>
            </a:extLst>
          </p:cNvPr>
          <p:cNvSpPr>
            <a:spLocks xmlns:a="http://schemas.openxmlformats.org/drawingml/2006/main" noGrp="1"/>
          </p:cNvSpPr>
          <p:nvPr/>
        </p:nvSpPr>
        <p:spPr>
          <a:xfrm xmlns:a="http://schemas.openxmlformats.org/drawingml/2006/main">
            <a:off x="8257032" y="2249424"/>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Explain sampling distributions and standard errors as the machinery behind every CI</a:t>
            </a:r>
            <a:endParaRPr sz="1150"/>
          </a:p>
        </p:txBody>
      </p:sp>
      <p:sp>
        <p:nvSpPr>
          <p:cNvPr id="17" name="Shape 14">
            <a:extLst xmlns:a="http://schemas.openxmlformats.org/drawingml/2006/main">
              <a:ext uri="{FF2B5EF4-FFF2-40B4-BE49-F238E27FC236}">
                <a16:creationId xmlns:a16="http://schemas.microsoft.com/office/drawing/2014/main" id="{E3362C10-9B52-4BD1-BEA4-073409BF8403}"/>
              </a:ext>
            </a:extLst>
          </p:cNvPr>
          <p:cNvSpPr>
            <a:spLocks xmlns:a="http://schemas.openxmlformats.org/drawingml/2006/main" noGrp="1"/>
          </p:cNvSpPr>
          <p:nvPr/>
        </p:nvSpPr>
        <p:spPr>
          <a:xfrm xmlns:a="http://schemas.openxmlformats.org/drawingml/2006/main">
            <a:off x="7818120" y="2926080"/>
            <a:ext cx="310896" cy="310896"/>
          </a:xfrm>
          <a:prstGeom xmlns:a="http://schemas.openxmlformats.org/drawingml/2006/main" prst="ellipse">
            <a:avLst/>
          </a:prstGeom>
          <a:solidFill xmlns:a="http://schemas.openxmlformats.org/drawingml/2006/main">
            <a:srgbClr val="0E7C86"/>
          </a:solidFill>
        </p:spPr>
      </p:sp>
      <p:sp>
        <p:nvSpPr>
          <p:cNvPr id="18" name="Text 15">
            <a:extLst xmlns:a="http://schemas.openxmlformats.org/drawingml/2006/main">
              <a:ext uri="{FF2B5EF4-FFF2-40B4-BE49-F238E27FC236}">
                <a16:creationId xmlns:a16="http://schemas.microsoft.com/office/drawing/2014/main" id="{C93BD189-82BC-450F-9192-D1E291F2EE46}"/>
              </a:ext>
            </a:extLst>
          </p:cNvPr>
          <p:cNvSpPr>
            <a:spLocks xmlns:a="http://schemas.openxmlformats.org/drawingml/2006/main" noGrp="1"/>
          </p:cNvSpPr>
          <p:nvPr/>
        </p:nvSpPr>
        <p:spPr>
          <a:xfrm xmlns:a="http://schemas.openxmlformats.org/drawingml/2006/main">
            <a:off x="7818120" y="2926080"/>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3.2</a:t>
            </a:r>
            <a:endParaRPr sz="1100"/>
          </a:p>
        </p:txBody>
      </p:sp>
      <p:sp>
        <p:nvSpPr>
          <p:cNvPr id="19" name="Text 16">
            <a:extLst xmlns:a="http://schemas.openxmlformats.org/drawingml/2006/main">
              <a:ext uri="{FF2B5EF4-FFF2-40B4-BE49-F238E27FC236}">
                <a16:creationId xmlns:a16="http://schemas.microsoft.com/office/drawing/2014/main" id="{945DC850-EFE7-4E67-8648-7D71890C56DB}"/>
              </a:ext>
            </a:extLst>
          </p:cNvPr>
          <p:cNvSpPr>
            <a:spLocks xmlns:a="http://schemas.openxmlformats.org/drawingml/2006/main" noGrp="1"/>
          </p:cNvSpPr>
          <p:nvPr/>
        </p:nvSpPr>
        <p:spPr>
          <a:xfrm xmlns:a="http://schemas.openxmlformats.org/drawingml/2006/main">
            <a:off x="8257032" y="2907792"/>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Construct t-intervals for means and Wilson intervals for proportions in Python</a:t>
            </a:r>
            <a:endParaRPr sz="1150"/>
          </a:p>
        </p:txBody>
      </p:sp>
      <p:sp>
        <p:nvSpPr>
          <p:cNvPr id="20" name="Shape 17">
            <a:extLst xmlns:a="http://schemas.openxmlformats.org/drawingml/2006/main">
              <a:ext uri="{FF2B5EF4-FFF2-40B4-BE49-F238E27FC236}">
                <a16:creationId xmlns:a16="http://schemas.microsoft.com/office/drawing/2014/main" id="{9440B4C3-50E8-4443-BA54-0C3AF854A5F1}"/>
              </a:ext>
            </a:extLst>
          </p:cNvPr>
          <p:cNvSpPr>
            <a:spLocks xmlns:a="http://schemas.openxmlformats.org/drawingml/2006/main" noGrp="1"/>
          </p:cNvSpPr>
          <p:nvPr/>
        </p:nvSpPr>
        <p:spPr>
          <a:xfrm xmlns:a="http://schemas.openxmlformats.org/drawingml/2006/main">
            <a:off x="7818120" y="3584448"/>
            <a:ext cx="310896" cy="310896"/>
          </a:xfrm>
          <a:prstGeom xmlns:a="http://schemas.openxmlformats.org/drawingml/2006/main" prst="ellipse">
            <a:avLst/>
          </a:prstGeom>
          <a:solidFill xmlns:a="http://schemas.openxmlformats.org/drawingml/2006/main">
            <a:srgbClr val="0E7C86"/>
          </a:solidFill>
        </p:spPr>
      </p:sp>
      <p:sp>
        <p:nvSpPr>
          <p:cNvPr id="21" name="Text 18">
            <a:extLst xmlns:a="http://schemas.openxmlformats.org/drawingml/2006/main">
              <a:ext uri="{FF2B5EF4-FFF2-40B4-BE49-F238E27FC236}">
                <a16:creationId xmlns:a16="http://schemas.microsoft.com/office/drawing/2014/main" id="{F32E394F-17A0-421E-97DD-5A6F95939C18}"/>
              </a:ext>
            </a:extLst>
          </p:cNvPr>
          <p:cNvSpPr>
            <a:spLocks xmlns:a="http://schemas.openxmlformats.org/drawingml/2006/main" noGrp="1"/>
          </p:cNvSpPr>
          <p:nvPr/>
        </p:nvSpPr>
        <p:spPr>
          <a:xfrm xmlns:a="http://schemas.openxmlformats.org/drawingml/2006/main">
            <a:off x="7818120" y="358444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3.3</a:t>
            </a:r>
            <a:endParaRPr sz="1100"/>
          </a:p>
        </p:txBody>
      </p:sp>
      <p:sp>
        <p:nvSpPr>
          <p:cNvPr id="22" name="Text 19">
            <a:extLst xmlns:a="http://schemas.openxmlformats.org/drawingml/2006/main">
              <a:ext uri="{FF2B5EF4-FFF2-40B4-BE49-F238E27FC236}">
                <a16:creationId xmlns:a16="http://schemas.microsoft.com/office/drawing/2014/main" id="{66F5B13B-8F86-4866-B7F6-DDC3A748931E}"/>
              </a:ext>
            </a:extLst>
          </p:cNvPr>
          <p:cNvSpPr>
            <a:spLocks xmlns:a="http://schemas.openxmlformats.org/drawingml/2006/main" noGrp="1"/>
          </p:cNvSpPr>
          <p:nvPr/>
        </p:nvSpPr>
        <p:spPr>
          <a:xfrm xmlns:a="http://schemas.openxmlformats.org/drawingml/2006/main">
            <a:off x="8257032" y="3566160"/>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Interpret intervals in decision language — and avoid the classic misreadings</a:t>
            </a:r>
            <a:endParaRPr sz="1150"/>
          </a:p>
        </p:txBody>
      </p:sp>
      <p:sp>
        <p:nvSpPr>
          <p:cNvPr id="23" name="Shape 20">
            <a:extLst xmlns:a="http://schemas.openxmlformats.org/drawingml/2006/main">
              <a:ext uri="{FF2B5EF4-FFF2-40B4-BE49-F238E27FC236}">
                <a16:creationId xmlns:a16="http://schemas.microsoft.com/office/drawing/2014/main" id="{619D02C6-F675-45B5-8440-7BE7C2C83745}"/>
              </a:ext>
            </a:extLst>
          </p:cNvPr>
          <p:cNvSpPr>
            <a:spLocks xmlns:a="http://schemas.openxmlformats.org/drawingml/2006/main" noGrp="1"/>
          </p:cNvSpPr>
          <p:nvPr/>
        </p:nvSpPr>
        <p:spPr>
          <a:xfrm xmlns:a="http://schemas.openxmlformats.org/drawingml/2006/main">
            <a:off x="7818120" y="4242816"/>
            <a:ext cx="310896" cy="310896"/>
          </a:xfrm>
          <a:prstGeom xmlns:a="http://schemas.openxmlformats.org/drawingml/2006/main" prst="ellipse">
            <a:avLst/>
          </a:prstGeom>
          <a:solidFill xmlns:a="http://schemas.openxmlformats.org/drawingml/2006/main">
            <a:srgbClr val="0E7C86"/>
          </a:solidFill>
        </p:spPr>
      </p:sp>
      <p:sp>
        <p:nvSpPr>
          <p:cNvPr id="24" name="Text 21">
            <a:extLst xmlns:a="http://schemas.openxmlformats.org/drawingml/2006/main">
              <a:ext uri="{FF2B5EF4-FFF2-40B4-BE49-F238E27FC236}">
                <a16:creationId xmlns:a16="http://schemas.microsoft.com/office/drawing/2014/main" id="{C592AA73-E5FF-41DB-8CD4-7A073E59517F}"/>
              </a:ext>
            </a:extLst>
          </p:cNvPr>
          <p:cNvSpPr>
            <a:spLocks xmlns:a="http://schemas.openxmlformats.org/drawingml/2006/main" noGrp="1"/>
          </p:cNvSpPr>
          <p:nvPr/>
        </p:nvSpPr>
        <p:spPr>
          <a:xfrm xmlns:a="http://schemas.openxmlformats.org/drawingml/2006/main">
            <a:off x="7818120" y="4242816"/>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3.4</a:t>
            </a:r>
            <a:endParaRPr sz="1100"/>
          </a:p>
        </p:txBody>
      </p:sp>
      <p:sp>
        <p:nvSpPr>
          <p:cNvPr id="25" name="Text 22">
            <a:extLst xmlns:a="http://schemas.openxmlformats.org/drawingml/2006/main">
              <a:ext uri="{FF2B5EF4-FFF2-40B4-BE49-F238E27FC236}">
                <a16:creationId xmlns:a16="http://schemas.microsoft.com/office/drawing/2014/main" id="{956862CD-7507-4F0C-AD89-9819C9435032}"/>
              </a:ext>
            </a:extLst>
          </p:cNvPr>
          <p:cNvSpPr>
            <a:spLocks xmlns:a="http://schemas.openxmlformats.org/drawingml/2006/main" noGrp="1"/>
          </p:cNvSpPr>
          <p:nvPr/>
        </p:nvSpPr>
        <p:spPr>
          <a:xfrm xmlns:a="http://schemas.openxmlformats.org/drawingml/2006/main">
            <a:off x="8257032" y="4224528"/>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Plan sample sizes from a target margin of error, and defend the cost trade-off</a:t>
            </a:r>
            <a:endParaRPr sz="1150"/>
          </a:p>
        </p:txBody>
      </p:sp>
      <p:sp>
        <p:nvSpPr>
          <p:cNvPr id="26" name="Shape 23">
            <a:extLst xmlns:a="http://schemas.openxmlformats.org/drawingml/2006/main">
              <a:ext uri="{FF2B5EF4-FFF2-40B4-BE49-F238E27FC236}">
                <a16:creationId xmlns:a16="http://schemas.microsoft.com/office/drawing/2014/main" id="{CA33462C-0855-4970-893F-81736F826DA8}"/>
              </a:ext>
            </a:extLst>
          </p:cNvPr>
          <p:cNvSpPr>
            <a:spLocks xmlns:a="http://schemas.openxmlformats.org/drawingml/2006/main" noGrp="1"/>
          </p:cNvSpPr>
          <p:nvPr/>
        </p:nvSpPr>
        <p:spPr>
          <a:xfrm xmlns:a="http://schemas.openxmlformats.org/drawingml/2006/main">
            <a:off x="7818120" y="4901184"/>
            <a:ext cx="310896" cy="310896"/>
          </a:xfrm>
          <a:prstGeom xmlns:a="http://schemas.openxmlformats.org/drawingml/2006/main" prst="ellipse">
            <a:avLst/>
          </a:prstGeom>
          <a:solidFill xmlns:a="http://schemas.openxmlformats.org/drawingml/2006/main">
            <a:srgbClr val="0E7C86"/>
          </a:solidFill>
        </p:spPr>
      </p:sp>
      <p:sp>
        <p:nvSpPr>
          <p:cNvPr id="27" name="Text 24">
            <a:extLst xmlns:a="http://schemas.openxmlformats.org/drawingml/2006/main">
              <a:ext uri="{FF2B5EF4-FFF2-40B4-BE49-F238E27FC236}">
                <a16:creationId xmlns:a16="http://schemas.microsoft.com/office/drawing/2014/main" id="{F1D12641-073D-41C6-B17D-462D88E1969C}"/>
              </a:ext>
            </a:extLst>
          </p:cNvPr>
          <p:cNvSpPr>
            <a:spLocks xmlns:a="http://schemas.openxmlformats.org/drawingml/2006/main" noGrp="1"/>
          </p:cNvSpPr>
          <p:nvPr/>
        </p:nvSpPr>
        <p:spPr>
          <a:xfrm xmlns:a="http://schemas.openxmlformats.org/drawingml/2006/main">
            <a:off x="7818120" y="490118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3.5</a:t>
            </a:r>
            <a:endParaRPr sz="1100"/>
          </a:p>
        </p:txBody>
      </p:sp>
      <p:sp>
        <p:nvSpPr>
          <p:cNvPr id="28" name="Text 25">
            <a:extLst xmlns:a="http://schemas.openxmlformats.org/drawingml/2006/main">
              <a:ext uri="{FF2B5EF4-FFF2-40B4-BE49-F238E27FC236}">
                <a16:creationId xmlns:a16="http://schemas.microsoft.com/office/drawing/2014/main" id="{E2D4DACB-9093-4322-98A1-FAC1F9CEE152}"/>
              </a:ext>
            </a:extLst>
          </p:cNvPr>
          <p:cNvSpPr>
            <a:spLocks xmlns:a="http://schemas.openxmlformats.org/drawingml/2006/main" noGrp="1"/>
          </p:cNvSpPr>
          <p:nvPr/>
        </p:nvSpPr>
        <p:spPr>
          <a:xfrm xmlns:a="http://schemas.openxmlformats.org/drawingml/2006/main">
            <a:off x="8257032" y="4882896"/>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Judge when regional differences are real vs artefacts of n</a:t>
            </a:r>
            <a:endParaRPr sz="1150"/>
          </a:p>
        </p:txBody>
      </p:sp>
    </p:spTree>
    <p:extLst>
      <p:ext uri="{BB962C8B-B14F-4D97-AF65-F5344CB8AC3E}">
        <p14:creationId xmlns:p14="http://schemas.microsoft.com/office/powerpoint/2010/main" val="204866540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390F4A2-7EA1-439E-906D-44D062D841E6}"/>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9BEE396B-6E87-404A-97A4-2EBD128D4D61}"/>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30</a:t>
            </a:r>
            <a:endParaRPr sz="900"/>
          </a:p>
        </p:txBody>
      </p:sp>
      <p:sp>
        <p:nvSpPr>
          <p:cNvPr id="4" name="Shape 2">
            <a:extLst xmlns:a="http://schemas.openxmlformats.org/drawingml/2006/main">
              <a:ext uri="{FF2B5EF4-FFF2-40B4-BE49-F238E27FC236}">
                <a16:creationId xmlns:a16="http://schemas.microsoft.com/office/drawing/2014/main" id="{498AC93C-97C5-4C4C-9413-CA9D251C29B8}"/>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2918155D-9239-4E9A-ABF5-57F77453A8BA}"/>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3</a:t>
            </a:r>
            <a:endParaRPr sz="1050"/>
          </a:p>
        </p:txBody>
      </p:sp>
      <p:sp>
        <p:nvSpPr>
          <p:cNvPr id="6" name="Text 4">
            <a:extLst xmlns:a="http://schemas.openxmlformats.org/drawingml/2006/main">
              <a:ext uri="{FF2B5EF4-FFF2-40B4-BE49-F238E27FC236}">
                <a16:creationId xmlns:a16="http://schemas.microsoft.com/office/drawing/2014/main" id="{B37778BF-AAE6-42A5-A82E-3CDA9C554AE5}"/>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Good estimators, and what “good” means</a:t>
            </a:r>
            <a:endParaRPr sz="2800"/>
          </a:p>
        </p:txBody>
      </p:sp>
      <p:sp>
        <p:nvSpPr>
          <p:cNvPr id="7" name="Text 5">
            <a:extLst xmlns:a="http://schemas.openxmlformats.org/drawingml/2006/main">
              <a:ext uri="{FF2B5EF4-FFF2-40B4-BE49-F238E27FC236}">
                <a16:creationId xmlns:a16="http://schemas.microsoft.com/office/drawing/2014/main" id="{60A5FB2C-089E-4F6E-91CD-DF9EFD64F0DD}"/>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Three properties instructors should name once, then use forever</a:t>
            </a:r>
            <a:endParaRPr sz="1350"/>
          </a:p>
        </p:txBody>
      </p:sp>
      <p:sp>
        <p:nvSpPr>
          <p:cNvPr id="8" name="Shape 6">
            <a:extLst xmlns:a="http://schemas.openxmlformats.org/drawingml/2006/main">
              <a:ext uri="{FF2B5EF4-FFF2-40B4-BE49-F238E27FC236}">
                <a16:creationId xmlns:a16="http://schemas.microsoft.com/office/drawing/2014/main" id="{BAD3714D-88B6-4434-B731-C3981BFD529D}"/>
              </a:ext>
            </a:extLst>
          </p:cNvPr>
          <p:cNvSpPr>
            <a:spLocks xmlns:a="http://schemas.openxmlformats.org/drawingml/2006/main" noGrp="1"/>
          </p:cNvSpPr>
          <p:nvPr/>
        </p:nvSpPr>
        <p:spPr>
          <a:xfrm xmlns:a="http://schemas.openxmlformats.org/drawingml/2006/main">
            <a:off x="502920" y="1837944"/>
            <a:ext cx="3685032" cy="2377440"/>
          </a:xfrm>
          <a:prstGeom xmlns:a="http://schemas.openxmlformats.org/drawingml/2006/main" prst="roundRect">
            <a:avLst>
              <a:gd name="adj" fmla="val 3462"/>
            </a:avLst>
          </a:prstGeom>
          <a:solidFill xmlns:a="http://schemas.openxmlformats.org/drawingml/2006/main">
            <a:srgbClr val="F3F8F9"/>
          </a:solidFill>
        </p:spPr>
      </p:sp>
      <p:sp>
        <p:nvSpPr>
          <p:cNvPr id="9" name="Shape 7">
            <a:extLst xmlns:a="http://schemas.openxmlformats.org/drawingml/2006/main">
              <a:ext uri="{FF2B5EF4-FFF2-40B4-BE49-F238E27FC236}">
                <a16:creationId xmlns:a16="http://schemas.microsoft.com/office/drawing/2014/main" id="{A9B4C489-520F-443E-815B-BAA34AFAC982}"/>
              </a:ext>
            </a:extLst>
          </p:cNvPr>
          <p:cNvSpPr>
            <a:spLocks xmlns:a="http://schemas.openxmlformats.org/drawingml/2006/main" noGrp="1"/>
          </p:cNvSpPr>
          <p:nvPr/>
        </p:nvSpPr>
        <p:spPr>
          <a:xfrm xmlns:a="http://schemas.openxmlformats.org/drawingml/2006/main">
            <a:off x="704088" y="2039112"/>
            <a:ext cx="457200" cy="457200"/>
          </a:xfrm>
          <a:prstGeom xmlns:a="http://schemas.openxmlformats.org/drawingml/2006/main" prst="ellipse">
            <a:avLst/>
          </a:prstGeom>
          <a:solidFill xmlns:a="http://schemas.openxmlformats.org/drawingml/2006/main">
            <a:srgbClr val="0E7C86"/>
          </a:solidFill>
        </p:spPr>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468087d725274b2e"/>
          <a:stretch xmlns:a="http://schemas.openxmlformats.org/drawingml/2006/main">
            <a:fillRect l="0" t="0" r="0" b="0"/>
          </a:stretch>
        </p:blipFill>
        <p:spPr>
          <a:xfrm xmlns:a="http://schemas.openxmlformats.org/drawingml/2006/main">
            <a:off x="822960" y="2157984"/>
            <a:ext cx="219456" cy="219456"/>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2404E7A0-2E54-45E9-A601-18102CEC1A46}"/>
              </a:ext>
            </a:extLst>
          </p:cNvPr>
          <p:cNvSpPr>
            <a:spLocks xmlns:a="http://schemas.openxmlformats.org/drawingml/2006/main" noGrp="1"/>
          </p:cNvSpPr>
          <p:nvPr/>
        </p:nvSpPr>
        <p:spPr>
          <a:xfrm xmlns:a="http://schemas.openxmlformats.org/drawingml/2006/main">
            <a:off x="1289304" y="2112264"/>
            <a:ext cx="27432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B3140"/>
                </a:solidFill>
                <a:latin typeface="Cambria"/>
                <a:ea typeface="Cambria"/>
                <a:cs typeface="Cambria"/>
              </a:rPr>
              <a:t>Unbiased</a:t>
            </a:r>
            <a:endParaRPr sz="1500"/>
          </a:p>
        </p:txBody>
      </p:sp>
      <p:sp>
        <p:nvSpPr>
          <p:cNvPr id="12" name="Text 9">
            <a:extLst xmlns:a="http://schemas.openxmlformats.org/drawingml/2006/main">
              <a:ext uri="{FF2B5EF4-FFF2-40B4-BE49-F238E27FC236}">
                <a16:creationId xmlns:a16="http://schemas.microsoft.com/office/drawing/2014/main" id="{6AB23AFA-4648-42DE-AAC1-2CD6D3DBECC0}"/>
              </a:ext>
            </a:extLst>
          </p:cNvPr>
          <p:cNvSpPr>
            <a:spLocks xmlns:a="http://schemas.openxmlformats.org/drawingml/2006/main" noGrp="1"/>
          </p:cNvSpPr>
          <p:nvPr/>
        </p:nvSpPr>
        <p:spPr>
          <a:xfrm xmlns:a="http://schemas.openxmlformats.org/drawingml/2006/main">
            <a:off x="758952" y="2615184"/>
            <a:ext cx="32004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24313A"/>
                </a:solidFill>
                <a:latin typeface="Calibri"/>
                <a:ea typeface="Calibri"/>
                <a:cs typeface="Calibri"/>
              </a:rPr>
              <a:t>Right on average across repeated samples. The sample mean and sample proportion are unbiased for their population targets — the opt-in survey mean is not, no matter how big n gets.</a:t>
            </a:r>
            <a:endParaRPr sz="1100"/>
          </a:p>
        </p:txBody>
      </p:sp>
      <p:sp>
        <p:nvSpPr>
          <p:cNvPr id="13" name="Shape 10">
            <a:extLst xmlns:a="http://schemas.openxmlformats.org/drawingml/2006/main">
              <a:ext uri="{FF2B5EF4-FFF2-40B4-BE49-F238E27FC236}">
                <a16:creationId xmlns:a16="http://schemas.microsoft.com/office/drawing/2014/main" id="{3A15C282-0556-4DD1-8D0B-7DF5C17255D7}"/>
              </a:ext>
            </a:extLst>
          </p:cNvPr>
          <p:cNvSpPr>
            <a:spLocks xmlns:a="http://schemas.openxmlformats.org/drawingml/2006/main" noGrp="1"/>
          </p:cNvSpPr>
          <p:nvPr/>
        </p:nvSpPr>
        <p:spPr>
          <a:xfrm xmlns:a="http://schemas.openxmlformats.org/drawingml/2006/main">
            <a:off x="4325112" y="1837944"/>
            <a:ext cx="3685032" cy="2377440"/>
          </a:xfrm>
          <a:prstGeom xmlns:a="http://schemas.openxmlformats.org/drawingml/2006/main" prst="roundRect">
            <a:avLst>
              <a:gd name="adj" fmla="val 3462"/>
            </a:avLst>
          </a:prstGeom>
          <a:solidFill xmlns:a="http://schemas.openxmlformats.org/drawingml/2006/main">
            <a:srgbClr val="F3F8F9"/>
          </a:solidFill>
        </p:spPr>
      </p:sp>
      <p:sp>
        <p:nvSpPr>
          <p:cNvPr id="14" name="Shape 11">
            <a:extLst xmlns:a="http://schemas.openxmlformats.org/drawingml/2006/main">
              <a:ext uri="{FF2B5EF4-FFF2-40B4-BE49-F238E27FC236}">
                <a16:creationId xmlns:a16="http://schemas.microsoft.com/office/drawing/2014/main" id="{6B7DC826-8104-490C-82D5-F2131F1899BB}"/>
              </a:ext>
            </a:extLst>
          </p:cNvPr>
          <p:cNvSpPr>
            <a:spLocks xmlns:a="http://schemas.openxmlformats.org/drawingml/2006/main" noGrp="1"/>
          </p:cNvSpPr>
          <p:nvPr/>
        </p:nvSpPr>
        <p:spPr>
          <a:xfrm xmlns:a="http://schemas.openxmlformats.org/drawingml/2006/main">
            <a:off x="4526280" y="2039112"/>
            <a:ext cx="457200" cy="457200"/>
          </a:xfrm>
          <a:prstGeom xmlns:a="http://schemas.openxmlformats.org/drawingml/2006/main" prst="ellipse">
            <a:avLst/>
          </a:prstGeom>
          <a:solidFill xmlns:a="http://schemas.openxmlformats.org/drawingml/2006/main">
            <a:srgbClr val="0E7C86"/>
          </a:solidFill>
        </p:spPr>
      </p:sp>
      <p:pic>
        <p:nvPicPr>
          <p:cNvPr id="42" name="Image 1"/>
          <p:cNvPicPr>
            <a:picLocks xmlns:a="http://schemas.openxmlformats.org/drawingml/2006/main" noChangeAspect="1"/>
          </p:cNvPicPr>
          <p:nvPr/>
        </p:nvPicPr>
        <p:blipFill>
          <a:blip xmlns:r="http://schemas.openxmlformats.org/officeDocument/2006/relationships" xmlns:a="http://schemas.openxmlformats.org/drawingml/2006/main" r:embed="R79dfdd1e1dac4996"/>
          <a:stretch xmlns:a="http://schemas.openxmlformats.org/drawingml/2006/main">
            <a:fillRect l="0" t="0" r="0" b="0"/>
          </a:stretch>
        </p:blipFill>
        <p:spPr>
          <a:xfrm xmlns:a="http://schemas.openxmlformats.org/drawingml/2006/main">
            <a:off x="4645152" y="2157984"/>
            <a:ext cx="219456" cy="219456"/>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222FF681-80FB-444D-9B9A-0A96394C0C8C}"/>
              </a:ext>
            </a:extLst>
          </p:cNvPr>
          <p:cNvSpPr>
            <a:spLocks xmlns:a="http://schemas.openxmlformats.org/drawingml/2006/main" noGrp="1"/>
          </p:cNvSpPr>
          <p:nvPr/>
        </p:nvSpPr>
        <p:spPr>
          <a:xfrm xmlns:a="http://schemas.openxmlformats.org/drawingml/2006/main">
            <a:off x="5111496" y="2112264"/>
            <a:ext cx="27432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B3140"/>
                </a:solidFill>
                <a:latin typeface="Cambria"/>
                <a:ea typeface="Cambria"/>
                <a:cs typeface="Cambria"/>
              </a:rPr>
              <a:t>Efficient</a:t>
            </a:r>
            <a:endParaRPr sz="1500"/>
          </a:p>
        </p:txBody>
      </p:sp>
      <p:sp>
        <p:nvSpPr>
          <p:cNvPr id="17" name="Text 13">
            <a:extLst xmlns:a="http://schemas.openxmlformats.org/drawingml/2006/main">
              <a:ext uri="{FF2B5EF4-FFF2-40B4-BE49-F238E27FC236}">
                <a16:creationId xmlns:a16="http://schemas.microsoft.com/office/drawing/2014/main" id="{1CFA1AD5-6F2A-4B67-BEBD-64FB5930AED9}"/>
              </a:ext>
            </a:extLst>
          </p:cNvPr>
          <p:cNvSpPr>
            <a:spLocks xmlns:a="http://schemas.openxmlformats.org/drawingml/2006/main" noGrp="1"/>
          </p:cNvSpPr>
          <p:nvPr/>
        </p:nvSpPr>
        <p:spPr>
          <a:xfrm xmlns:a="http://schemas.openxmlformats.org/drawingml/2006/main">
            <a:off x="4581144" y="2615184"/>
            <a:ext cx="32004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24313A"/>
                </a:solidFill>
                <a:latin typeface="Calibri"/>
                <a:ea typeface="Calibri"/>
                <a:cs typeface="Calibri"/>
              </a:rPr>
              <a:t>Smallest variance among the honest options. Stratified estimates beat SRS for regional rates (Lab 2's payoff) — same data budget, tighter answer.</a:t>
            </a:r>
            <a:endParaRPr sz="1100"/>
          </a:p>
        </p:txBody>
      </p:sp>
      <p:sp>
        <p:nvSpPr>
          <p:cNvPr id="18" name="Shape 14">
            <a:extLst xmlns:a="http://schemas.openxmlformats.org/drawingml/2006/main">
              <a:ext uri="{FF2B5EF4-FFF2-40B4-BE49-F238E27FC236}">
                <a16:creationId xmlns:a16="http://schemas.microsoft.com/office/drawing/2014/main" id="{71C2A90A-6B42-40C8-A941-D105E198264F}"/>
              </a:ext>
            </a:extLst>
          </p:cNvPr>
          <p:cNvSpPr>
            <a:spLocks xmlns:a="http://schemas.openxmlformats.org/drawingml/2006/main" noGrp="1"/>
          </p:cNvSpPr>
          <p:nvPr/>
        </p:nvSpPr>
        <p:spPr>
          <a:xfrm xmlns:a="http://schemas.openxmlformats.org/drawingml/2006/main">
            <a:off x="8147304" y="1837944"/>
            <a:ext cx="3685032" cy="2377440"/>
          </a:xfrm>
          <a:prstGeom xmlns:a="http://schemas.openxmlformats.org/drawingml/2006/main" prst="roundRect">
            <a:avLst>
              <a:gd name="adj" fmla="val 3462"/>
            </a:avLst>
          </a:prstGeom>
          <a:solidFill xmlns:a="http://schemas.openxmlformats.org/drawingml/2006/main">
            <a:srgbClr val="F3F8F9"/>
          </a:solidFill>
        </p:spPr>
      </p:sp>
      <p:sp>
        <p:nvSpPr>
          <p:cNvPr id="19" name="Shape 15">
            <a:extLst xmlns:a="http://schemas.openxmlformats.org/drawingml/2006/main">
              <a:ext uri="{FF2B5EF4-FFF2-40B4-BE49-F238E27FC236}">
                <a16:creationId xmlns:a16="http://schemas.microsoft.com/office/drawing/2014/main" id="{4751835F-1EC6-41A0-8F10-F1837EBDE0B8}"/>
              </a:ext>
            </a:extLst>
          </p:cNvPr>
          <p:cNvSpPr>
            <a:spLocks xmlns:a="http://schemas.openxmlformats.org/drawingml/2006/main" noGrp="1"/>
          </p:cNvSpPr>
          <p:nvPr/>
        </p:nvSpPr>
        <p:spPr>
          <a:xfrm xmlns:a="http://schemas.openxmlformats.org/drawingml/2006/main">
            <a:off x="8348472" y="2039112"/>
            <a:ext cx="457200" cy="457200"/>
          </a:xfrm>
          <a:prstGeom xmlns:a="http://schemas.openxmlformats.org/drawingml/2006/main" prst="ellipse">
            <a:avLst/>
          </a:prstGeom>
          <a:solidFill xmlns:a="http://schemas.openxmlformats.org/drawingml/2006/main">
            <a:srgbClr val="0E7C86"/>
          </a:solidFill>
        </p:spPr>
      </p:sp>
      <p:pic>
        <p:nvPicPr>
          <p:cNvPr id="47" name="Image 2"/>
          <p:cNvPicPr>
            <a:picLocks xmlns:a="http://schemas.openxmlformats.org/drawingml/2006/main" noChangeAspect="1"/>
          </p:cNvPicPr>
          <p:nvPr/>
        </p:nvPicPr>
        <p:blipFill>
          <a:blip xmlns:r="http://schemas.openxmlformats.org/officeDocument/2006/relationships" xmlns:a="http://schemas.openxmlformats.org/drawingml/2006/main" r:embed="R5ce89cdebbe04a49"/>
          <a:stretch xmlns:a="http://schemas.openxmlformats.org/drawingml/2006/main">
            <a:fillRect l="0" t="0" r="0" b="0"/>
          </a:stretch>
        </p:blipFill>
        <p:spPr>
          <a:xfrm xmlns:a="http://schemas.openxmlformats.org/drawingml/2006/main">
            <a:off x="8467344" y="2157984"/>
            <a:ext cx="219456" cy="219456"/>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0CAD1A73-C9E4-44B1-AD9B-3FD43A8552D6}"/>
              </a:ext>
            </a:extLst>
          </p:cNvPr>
          <p:cNvSpPr>
            <a:spLocks xmlns:a="http://schemas.openxmlformats.org/drawingml/2006/main" noGrp="1"/>
          </p:cNvSpPr>
          <p:nvPr/>
        </p:nvSpPr>
        <p:spPr>
          <a:xfrm xmlns:a="http://schemas.openxmlformats.org/drawingml/2006/main">
            <a:off x="8933688" y="2112264"/>
            <a:ext cx="27432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B3140"/>
                </a:solidFill>
                <a:latin typeface="Cambria"/>
                <a:ea typeface="Cambria"/>
                <a:cs typeface="Cambria"/>
              </a:rPr>
              <a:t>Consistent</a:t>
            </a:r>
            <a:endParaRPr sz="1500"/>
          </a:p>
        </p:txBody>
      </p:sp>
      <p:sp>
        <p:nvSpPr>
          <p:cNvPr id="22" name="Text 17">
            <a:extLst xmlns:a="http://schemas.openxmlformats.org/drawingml/2006/main">
              <a:ext uri="{FF2B5EF4-FFF2-40B4-BE49-F238E27FC236}">
                <a16:creationId xmlns:a16="http://schemas.microsoft.com/office/drawing/2014/main" id="{C8F2FD82-7994-4E44-B75E-26FA581D422A}"/>
              </a:ext>
            </a:extLst>
          </p:cNvPr>
          <p:cNvSpPr>
            <a:spLocks xmlns:a="http://schemas.openxmlformats.org/drawingml/2006/main" noGrp="1"/>
          </p:cNvSpPr>
          <p:nvPr/>
        </p:nvSpPr>
        <p:spPr>
          <a:xfrm xmlns:a="http://schemas.openxmlformats.org/drawingml/2006/main">
            <a:off x="8403336" y="2615184"/>
            <a:ext cx="32004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24313A"/>
                </a:solidFill>
                <a:latin typeface="Calibri"/>
                <a:ea typeface="Calibri"/>
                <a:cs typeface="Calibri"/>
              </a:rPr>
              <a:t>Converges on the truth as n grows. Consistency is why n = 50,000 is comforting — but only after bias is dealt with. Bias does not wash out with size.</a:t>
            </a:r>
            <a:endParaRPr sz="1100"/>
          </a:p>
        </p:txBody>
      </p:sp>
      <p:sp>
        <p:nvSpPr>
          <p:cNvPr id="23" name="Shape 18">
            <a:extLst xmlns:a="http://schemas.openxmlformats.org/drawingml/2006/main">
              <a:ext uri="{FF2B5EF4-FFF2-40B4-BE49-F238E27FC236}">
                <a16:creationId xmlns:a16="http://schemas.microsoft.com/office/drawing/2014/main" id="{CC4AA036-9B7C-4F71-8D36-33B581C5C352}"/>
              </a:ext>
            </a:extLst>
          </p:cNvPr>
          <p:cNvSpPr>
            <a:spLocks xmlns:a="http://schemas.openxmlformats.org/drawingml/2006/main" noGrp="1"/>
          </p:cNvSpPr>
          <p:nvPr/>
        </p:nvSpPr>
        <p:spPr>
          <a:xfrm xmlns:a="http://schemas.openxmlformats.org/drawingml/2006/main">
            <a:off x="502920" y="4443984"/>
            <a:ext cx="11201400" cy="1920240"/>
          </a:xfrm>
          <a:prstGeom xmlns:a="http://schemas.openxmlformats.org/drawingml/2006/main" prst="roundRect">
            <a:avLst>
              <a:gd name="adj" fmla="val 4286"/>
            </a:avLst>
          </a:prstGeom>
          <a:solidFill xmlns:a="http://schemas.openxmlformats.org/drawingml/2006/main">
            <a:srgbClr val="0B3140"/>
          </a:solidFill>
        </p:spPr>
      </p:sp>
      <p:sp>
        <p:nvSpPr>
          <p:cNvPr id="24" name="Text 19">
            <a:extLst xmlns:a="http://schemas.openxmlformats.org/drawingml/2006/main">
              <a:ext uri="{FF2B5EF4-FFF2-40B4-BE49-F238E27FC236}">
                <a16:creationId xmlns:a16="http://schemas.microsoft.com/office/drawing/2014/main" id="{99D0051B-4630-4379-B47D-4D57C55DF2AD}"/>
              </a:ext>
            </a:extLst>
          </p:cNvPr>
          <p:cNvSpPr>
            <a:spLocks xmlns:a="http://schemas.openxmlformats.org/drawingml/2006/main" noGrp="1"/>
          </p:cNvSpPr>
          <p:nvPr/>
        </p:nvSpPr>
        <p:spPr>
          <a:xfrm xmlns:a="http://schemas.openxmlformats.org/drawingml/2006/main">
            <a:off x="868680" y="4626864"/>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FB3BC"/>
                </a:solidFill>
                <a:latin typeface="Calibri"/>
                <a:ea typeface="Calibri"/>
                <a:cs typeface="Calibri"/>
              </a:rPr>
              <a:t>THE COURSE'S NUMBERS, AS ESTIMATES</a:t>
            </a:r>
            <a:endParaRPr sz="1050"/>
          </a:p>
        </p:txBody>
      </p:sp>
      <p:sp>
        <p:nvSpPr>
          <p:cNvPr id="25" name="Text 20">
            <a:extLst xmlns:a="http://schemas.openxmlformats.org/drawingml/2006/main">
              <a:ext uri="{FF2B5EF4-FFF2-40B4-BE49-F238E27FC236}">
                <a16:creationId xmlns:a16="http://schemas.microsoft.com/office/drawing/2014/main" id="{2FF891B1-DA92-4B00-8215-022A64D2104A}"/>
              </a:ext>
            </a:extLst>
          </p:cNvPr>
          <p:cNvSpPr>
            <a:spLocks xmlns:a="http://schemas.openxmlformats.org/drawingml/2006/main" noGrp="1"/>
          </p:cNvSpPr>
          <p:nvPr/>
        </p:nvSpPr>
        <p:spPr>
          <a:xfrm xmlns:a="http://schemas.openxmlformats.org/drawingml/2006/main">
            <a:off x="868680" y="4992624"/>
            <a:ext cx="10515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600"/>
              </a:spcAft>
              <a:buSzPct val="100000"/>
              <a:buChar char="•"/>
            </a:pPr>
            <a:r>
              <a:rPr sz="1200">
                <a:solidFill>
                  <a:srgbClr val="E8F1F2"/>
                </a:solidFill>
                <a:latin typeface="Calibri"/>
                <a:ea typeface="Calibri"/>
                <a:cs typeface="Calibri"/>
              </a:rPr>
              <a:t>p̂ = 0.183 — the national no-show proportion from 50,000 appointments. Estimate of what? The booking process, not this file.</a:t>
            </a:r>
            <a:endParaRPr sz="1200"/>
          </a:p>
          <a:p xmlns:a="http://schemas.openxmlformats.org/drawingml/2006/main">
            <a:pPr marL="152400" indent="-152400">
              <a:lnSpc>
                <a:spcPct val="104000"/>
              </a:lnSpc>
              <a:spcAft>
                <a:spcPts val="600"/>
              </a:spcAft>
              <a:buSzPct val="100000"/>
              <a:buChar char="•"/>
            </a:pPr>
            <a:r>
              <a:rPr sz="1200">
                <a:solidFill>
                  <a:srgbClr val="E8F1F2"/>
                </a:solidFill>
                <a:latin typeface="Calibri"/>
                <a:ea typeface="Calibri"/>
                <a:cs typeface="Calibri"/>
              </a:rPr>
              <a:t>x̄ = 20.5 min — the mean wait. Useful for capacity totals; the median 18 remains the patient-experience headline.</a:t>
            </a:r>
            <a:endParaRPr sz="1200"/>
          </a:p>
          <a:p xmlns:a="http://schemas.openxmlformats.org/drawingml/2006/main">
            <a:pPr marL="152400" indent="-152400">
              <a:lnSpc>
                <a:spcPct val="104000"/>
              </a:lnSpc>
              <a:spcAft>
                <a:spcPts val="600"/>
              </a:spcAft>
              <a:buSzPct val="100000"/>
              <a:buChar char="•"/>
            </a:pPr>
            <a:r>
              <a:rPr sz="1200" b="1">
                <a:solidFill>
                  <a:srgbClr val="FFFFFF"/>
                </a:solidFill>
                <a:latin typeface="Calibri"/>
                <a:ea typeface="Calibri"/>
                <a:cs typeface="Calibri"/>
              </a:rPr>
              <a:t>Both are point estimates. The rest of the module attaches the honesty interval.</a:t>
            </a:r>
            <a:endParaRPr sz="1200"/>
          </a:p>
        </p:txBody>
      </p:sp>
    </p:spTree>
    <p:extLst>
      <p:ext uri="{BB962C8B-B14F-4D97-AF65-F5344CB8AC3E}">
        <p14:creationId xmlns:p14="http://schemas.microsoft.com/office/powerpoint/2010/main" val="107811855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C7F904B-0405-41E0-A3DF-5253633D9719}"/>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BFB630A6-2824-488D-8DCC-0A7FB44C1C23}"/>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31</a:t>
            </a:r>
            <a:endParaRPr sz="900"/>
          </a:p>
        </p:txBody>
      </p:sp>
      <p:sp>
        <p:nvSpPr>
          <p:cNvPr id="4" name="Shape 2">
            <a:extLst xmlns:a="http://schemas.openxmlformats.org/drawingml/2006/main">
              <a:ext uri="{FF2B5EF4-FFF2-40B4-BE49-F238E27FC236}">
                <a16:creationId xmlns:a16="http://schemas.microsoft.com/office/drawing/2014/main" id="{D5BBA790-D75C-48FD-AD8E-438FB630F417}"/>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42382C69-B813-4894-8A29-4B6C5C3BE410}"/>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3</a:t>
            </a:r>
            <a:endParaRPr sz="1050"/>
          </a:p>
        </p:txBody>
      </p:sp>
      <p:sp>
        <p:nvSpPr>
          <p:cNvPr id="6" name="Text 4">
            <a:extLst xmlns:a="http://schemas.openxmlformats.org/drawingml/2006/main">
              <a:ext uri="{FF2B5EF4-FFF2-40B4-BE49-F238E27FC236}">
                <a16:creationId xmlns:a16="http://schemas.microsoft.com/office/drawing/2014/main" id="{BD567B54-2136-46B2-964B-529D8FD699F4}"/>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SD vs SE — the distinction that unlocks everything</a:t>
            </a:r>
            <a:endParaRPr sz="2800"/>
          </a:p>
        </p:txBody>
      </p:sp>
      <p:sp>
        <p:nvSpPr>
          <p:cNvPr id="7" name="Text 5">
            <a:extLst xmlns:a="http://schemas.openxmlformats.org/drawingml/2006/main">
              <a:ext uri="{FF2B5EF4-FFF2-40B4-BE49-F238E27FC236}">
                <a16:creationId xmlns:a16="http://schemas.microsoft.com/office/drawing/2014/main" id="{BF54D58D-3D1A-40B8-8FDF-B151A2C5DCE0}"/>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Half of all interval mistakes in the wild are this confusion</a:t>
            </a:r>
            <a:endParaRPr sz="1350"/>
          </a:p>
        </p:txBody>
      </p:sp>
      <p:sp>
        <p:nvSpPr>
          <p:cNvPr id="8" name="Shape 6">
            <a:extLst xmlns:a="http://schemas.openxmlformats.org/drawingml/2006/main">
              <a:ext uri="{FF2B5EF4-FFF2-40B4-BE49-F238E27FC236}">
                <a16:creationId xmlns:a16="http://schemas.microsoft.com/office/drawing/2014/main" id="{3589B79B-FA94-4E3B-814A-7955F48694EA}"/>
              </a:ext>
            </a:extLst>
          </p:cNvPr>
          <p:cNvSpPr>
            <a:spLocks xmlns:a="http://schemas.openxmlformats.org/drawingml/2006/main" noGrp="1"/>
          </p:cNvSpPr>
          <p:nvPr/>
        </p:nvSpPr>
        <p:spPr>
          <a:xfrm xmlns:a="http://schemas.openxmlformats.org/drawingml/2006/main">
            <a:off x="502920" y="1837944"/>
            <a:ext cx="5532120" cy="2148840"/>
          </a:xfrm>
          <a:prstGeom xmlns:a="http://schemas.openxmlformats.org/drawingml/2006/main" prst="roundRect">
            <a:avLst>
              <a:gd name="adj" fmla="val 3830"/>
            </a:avLst>
          </a:prstGeom>
          <a:solidFill xmlns:a="http://schemas.openxmlformats.org/drawingml/2006/main">
            <a:srgbClr val="F3F8F9"/>
          </a:solidFill>
        </p:spPr>
      </p:sp>
      <p:sp>
        <p:nvSpPr>
          <p:cNvPr id="9" name="Shape 7">
            <a:extLst xmlns:a="http://schemas.openxmlformats.org/drawingml/2006/main">
              <a:ext uri="{FF2B5EF4-FFF2-40B4-BE49-F238E27FC236}">
                <a16:creationId xmlns:a16="http://schemas.microsoft.com/office/drawing/2014/main" id="{E269EDF4-FD1E-41C6-AC18-951D2051310E}"/>
              </a:ext>
            </a:extLst>
          </p:cNvPr>
          <p:cNvSpPr>
            <a:spLocks xmlns:a="http://schemas.openxmlformats.org/drawingml/2006/main" noGrp="1"/>
          </p:cNvSpPr>
          <p:nvPr/>
        </p:nvSpPr>
        <p:spPr>
          <a:xfrm xmlns:a="http://schemas.openxmlformats.org/drawingml/2006/main">
            <a:off x="731520" y="2039112"/>
            <a:ext cx="457200" cy="457200"/>
          </a:xfrm>
          <a:prstGeom xmlns:a="http://schemas.openxmlformats.org/drawingml/2006/main" prst="ellipse">
            <a:avLst/>
          </a:prstGeom>
          <a:solidFill xmlns:a="http://schemas.openxmlformats.org/drawingml/2006/main">
            <a:srgbClr val="0B3140"/>
          </a:solidFill>
        </p:spPr>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9ff73f6ad2034344"/>
          <a:stretch xmlns:a="http://schemas.openxmlformats.org/drawingml/2006/main">
            <a:fillRect l="0" t="0" r="0" b="0"/>
          </a:stretch>
        </p:blipFill>
        <p:spPr>
          <a:xfrm xmlns:a="http://schemas.openxmlformats.org/drawingml/2006/main">
            <a:off x="850392" y="2157984"/>
            <a:ext cx="219456" cy="219456"/>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506967ED-79A5-4D4D-BDB3-0B9C0274FAB0}"/>
              </a:ext>
            </a:extLst>
          </p:cNvPr>
          <p:cNvSpPr>
            <a:spLocks xmlns:a="http://schemas.openxmlformats.org/drawingml/2006/main" noGrp="1"/>
          </p:cNvSpPr>
          <p:nvPr/>
        </p:nvSpPr>
        <p:spPr>
          <a:xfrm xmlns:a="http://schemas.openxmlformats.org/drawingml/2006/main">
            <a:off x="1325880" y="2112264"/>
            <a:ext cx="4480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B3140"/>
                </a:solidFill>
                <a:latin typeface="Cambria"/>
                <a:ea typeface="Cambria"/>
                <a:cs typeface="Cambria"/>
              </a:rPr>
              <a:t>Standard deviation (SD)</a:t>
            </a:r>
            <a:endParaRPr sz="1500"/>
          </a:p>
        </p:txBody>
      </p:sp>
      <p:sp>
        <p:nvSpPr>
          <p:cNvPr id="12" name="Text 9">
            <a:extLst xmlns:a="http://schemas.openxmlformats.org/drawingml/2006/main">
              <a:ext uri="{FF2B5EF4-FFF2-40B4-BE49-F238E27FC236}">
                <a16:creationId xmlns:a16="http://schemas.microsoft.com/office/drawing/2014/main" id="{19929F6E-1290-41B8-8513-896F0AD6CBC9}"/>
              </a:ext>
            </a:extLst>
          </p:cNvPr>
          <p:cNvSpPr>
            <a:spLocks xmlns:a="http://schemas.openxmlformats.org/drawingml/2006/main" noGrp="1"/>
          </p:cNvSpPr>
          <p:nvPr/>
        </p:nvSpPr>
        <p:spPr>
          <a:xfrm xmlns:a="http://schemas.openxmlformats.org/drawingml/2006/main">
            <a:off x="777240" y="2615184"/>
            <a:ext cx="50292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500"/>
              </a:spcAft>
              <a:buSzPct val="100000"/>
              <a:buChar char="•"/>
            </a:pPr>
            <a:r>
              <a:rPr sz="1150">
                <a:solidFill>
                  <a:srgbClr val="24313A"/>
                </a:solidFill>
                <a:latin typeface="Calibri"/>
                <a:ea typeface="Calibri"/>
                <a:cs typeface="Calibri"/>
              </a:rPr>
              <a:t>Spread of individual patients: σ ≈ 11.6 min</a:t>
            </a:r>
            <a:endParaRPr sz="1150"/>
          </a:p>
          <a:p xmlns:a="http://schemas.openxmlformats.org/drawingml/2006/main">
            <a:pPr marL="152400" indent="-152400">
              <a:lnSpc>
                <a:spcPct val="104000"/>
              </a:lnSpc>
              <a:spcAft>
                <a:spcPts val="500"/>
              </a:spcAft>
              <a:buSzPct val="100000"/>
              <a:buChar char="•"/>
            </a:pPr>
            <a:r>
              <a:rPr sz="1150">
                <a:solidFill>
                  <a:srgbClr val="24313A"/>
                </a:solidFill>
                <a:latin typeface="Calibri"/>
                <a:ea typeface="Calibri"/>
                <a:cs typeface="Calibri"/>
              </a:rPr>
              <a:t>Does not shrink as you collect more data</a:t>
            </a:r>
            <a:endParaRPr sz="1150"/>
          </a:p>
          <a:p xmlns:a="http://schemas.openxmlformats.org/drawingml/2006/main">
            <a:pPr marL="152400" indent="-152400">
              <a:lnSpc>
                <a:spcPct val="104000"/>
              </a:lnSpc>
              <a:spcAft>
                <a:spcPts val="500"/>
              </a:spcAft>
              <a:buSzPct val="100000"/>
              <a:buChar char="•"/>
            </a:pPr>
            <a:r>
              <a:rPr sz="1150">
                <a:solidFill>
                  <a:srgbClr val="24313A"/>
                </a:solidFill>
                <a:latin typeface="Calibri"/>
                <a:ea typeface="Calibri"/>
                <a:cs typeface="Calibri"/>
              </a:rPr>
              <a:t>Answers: “how variable is one visit's wait?”</a:t>
            </a:r>
            <a:endParaRPr sz="1150"/>
          </a:p>
        </p:txBody>
      </p:sp>
      <p:sp>
        <p:nvSpPr>
          <p:cNvPr id="13" name="Shape 10">
            <a:extLst xmlns:a="http://schemas.openxmlformats.org/drawingml/2006/main">
              <a:ext uri="{FF2B5EF4-FFF2-40B4-BE49-F238E27FC236}">
                <a16:creationId xmlns:a16="http://schemas.microsoft.com/office/drawing/2014/main" id="{136B1A6D-1BB6-4534-8EA2-34A2BEF505A9}"/>
              </a:ext>
            </a:extLst>
          </p:cNvPr>
          <p:cNvSpPr>
            <a:spLocks xmlns:a="http://schemas.openxmlformats.org/drawingml/2006/main" noGrp="1"/>
          </p:cNvSpPr>
          <p:nvPr/>
        </p:nvSpPr>
        <p:spPr>
          <a:xfrm xmlns:a="http://schemas.openxmlformats.org/drawingml/2006/main">
            <a:off x="6172200" y="1837944"/>
            <a:ext cx="5532120" cy="2148840"/>
          </a:xfrm>
          <a:prstGeom xmlns:a="http://schemas.openxmlformats.org/drawingml/2006/main" prst="roundRect">
            <a:avLst>
              <a:gd name="adj" fmla="val 3830"/>
            </a:avLst>
          </a:prstGeom>
          <a:solidFill xmlns:a="http://schemas.openxmlformats.org/drawingml/2006/main">
            <a:srgbClr val="E7F2F3"/>
          </a:solidFill>
        </p:spPr>
      </p:sp>
      <p:sp>
        <p:nvSpPr>
          <p:cNvPr id="14" name="Shape 11">
            <a:extLst xmlns:a="http://schemas.openxmlformats.org/drawingml/2006/main">
              <a:ext uri="{FF2B5EF4-FFF2-40B4-BE49-F238E27FC236}">
                <a16:creationId xmlns:a16="http://schemas.microsoft.com/office/drawing/2014/main" id="{2F0B3C59-DA97-4836-8B8D-FC1EFA363ADB}"/>
              </a:ext>
            </a:extLst>
          </p:cNvPr>
          <p:cNvSpPr>
            <a:spLocks xmlns:a="http://schemas.openxmlformats.org/drawingml/2006/main" noGrp="1"/>
          </p:cNvSpPr>
          <p:nvPr/>
        </p:nvSpPr>
        <p:spPr>
          <a:xfrm xmlns:a="http://schemas.openxmlformats.org/drawingml/2006/main">
            <a:off x="6400800" y="2039112"/>
            <a:ext cx="457200" cy="457200"/>
          </a:xfrm>
          <a:prstGeom xmlns:a="http://schemas.openxmlformats.org/drawingml/2006/main" prst="ellipse">
            <a:avLst/>
          </a:prstGeom>
          <a:solidFill xmlns:a="http://schemas.openxmlformats.org/drawingml/2006/main">
            <a:srgbClr val="0E7C86"/>
          </a:solidFill>
        </p:spPr>
      </p:sp>
      <p:pic>
        <p:nvPicPr>
          <p:cNvPr id="36" name="Image 1"/>
          <p:cNvPicPr>
            <a:picLocks xmlns:a="http://schemas.openxmlformats.org/drawingml/2006/main" noChangeAspect="1"/>
          </p:cNvPicPr>
          <p:nvPr/>
        </p:nvPicPr>
        <p:blipFill>
          <a:blip xmlns:r="http://schemas.openxmlformats.org/officeDocument/2006/relationships" xmlns:a="http://schemas.openxmlformats.org/drawingml/2006/main" r:embed="R46e3cb6a9e6940e4"/>
          <a:stretch xmlns:a="http://schemas.openxmlformats.org/drawingml/2006/main">
            <a:fillRect l="0" t="0" r="0" b="0"/>
          </a:stretch>
        </p:blipFill>
        <p:spPr>
          <a:xfrm xmlns:a="http://schemas.openxmlformats.org/drawingml/2006/main">
            <a:off x="6519672" y="2157984"/>
            <a:ext cx="219456" cy="219456"/>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244D046D-1578-44F0-AC58-B75BCD9B6065}"/>
              </a:ext>
            </a:extLst>
          </p:cNvPr>
          <p:cNvSpPr>
            <a:spLocks xmlns:a="http://schemas.openxmlformats.org/drawingml/2006/main" noGrp="1"/>
          </p:cNvSpPr>
          <p:nvPr/>
        </p:nvSpPr>
        <p:spPr>
          <a:xfrm xmlns:a="http://schemas.openxmlformats.org/drawingml/2006/main">
            <a:off x="6995160" y="2112264"/>
            <a:ext cx="4480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A5C64"/>
                </a:solidFill>
                <a:latin typeface="Cambria"/>
                <a:ea typeface="Cambria"/>
                <a:cs typeface="Cambria"/>
              </a:rPr>
              <a:t>Standard error (SE)</a:t>
            </a:r>
            <a:endParaRPr sz="1500"/>
          </a:p>
        </p:txBody>
      </p:sp>
      <p:sp>
        <p:nvSpPr>
          <p:cNvPr id="17" name="Text 13">
            <a:extLst xmlns:a="http://schemas.openxmlformats.org/drawingml/2006/main">
              <a:ext uri="{FF2B5EF4-FFF2-40B4-BE49-F238E27FC236}">
                <a16:creationId xmlns:a16="http://schemas.microsoft.com/office/drawing/2014/main" id="{71204BA4-AFCD-40D4-A811-E1A409252F6A}"/>
              </a:ext>
            </a:extLst>
          </p:cNvPr>
          <p:cNvSpPr>
            <a:spLocks xmlns:a="http://schemas.openxmlformats.org/drawingml/2006/main" noGrp="1"/>
          </p:cNvSpPr>
          <p:nvPr/>
        </p:nvSpPr>
        <p:spPr>
          <a:xfrm xmlns:a="http://schemas.openxmlformats.org/drawingml/2006/main">
            <a:off x="6446520" y="2615184"/>
            <a:ext cx="50292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500"/>
              </a:spcAft>
              <a:buSzPct val="100000"/>
              <a:buChar char="•"/>
            </a:pPr>
            <a:r>
              <a:rPr sz="1150">
                <a:solidFill>
                  <a:srgbClr val="24313A"/>
                </a:solidFill>
                <a:latin typeface="Calibri"/>
                <a:ea typeface="Calibri"/>
                <a:cs typeface="Calibri"/>
              </a:rPr>
              <a:t>Uncertainty of the estimate: SE = σ/√n</a:t>
            </a:r>
            <a:endParaRPr sz="1150"/>
          </a:p>
          <a:p xmlns:a="http://schemas.openxmlformats.org/drawingml/2006/main">
            <a:pPr marL="152400" indent="-152400">
              <a:lnSpc>
                <a:spcPct val="104000"/>
              </a:lnSpc>
              <a:spcAft>
                <a:spcPts val="500"/>
              </a:spcAft>
              <a:buSzPct val="100000"/>
              <a:buChar char="•"/>
            </a:pPr>
            <a:r>
              <a:rPr sz="1150">
                <a:solidFill>
                  <a:srgbClr val="24313A"/>
                </a:solidFill>
                <a:latin typeface="Calibri"/>
                <a:ea typeface="Calibri"/>
                <a:cs typeface="Calibri"/>
              </a:rPr>
              <a:t>Shrinks with n — at n = 50,000, SE ≈ 0.05 min</a:t>
            </a:r>
            <a:endParaRPr sz="1150"/>
          </a:p>
          <a:p xmlns:a="http://schemas.openxmlformats.org/drawingml/2006/main">
            <a:pPr marL="152400" indent="-152400">
              <a:lnSpc>
                <a:spcPct val="104000"/>
              </a:lnSpc>
              <a:spcAft>
                <a:spcPts val="500"/>
              </a:spcAft>
              <a:buSzPct val="100000"/>
              <a:buChar char="•"/>
            </a:pPr>
            <a:r>
              <a:rPr sz="1150">
                <a:solidFill>
                  <a:srgbClr val="24313A"/>
                </a:solidFill>
                <a:latin typeface="Calibri"/>
                <a:ea typeface="Calibri"/>
                <a:cs typeface="Calibri"/>
              </a:rPr>
              <a:t>Answers: “how sure are we about the mean?”</a:t>
            </a:r>
            <a:endParaRPr sz="1150"/>
          </a:p>
        </p:txBody>
      </p:sp>
      <p:sp>
        <p:nvSpPr>
          <p:cNvPr id="18" name="Shape 14">
            <a:extLst xmlns:a="http://schemas.openxmlformats.org/drawingml/2006/main">
              <a:ext uri="{FF2B5EF4-FFF2-40B4-BE49-F238E27FC236}">
                <a16:creationId xmlns:a16="http://schemas.microsoft.com/office/drawing/2014/main" id="{A95B101C-C87E-4AA1-BC63-619CAB691567}"/>
              </a:ext>
            </a:extLst>
          </p:cNvPr>
          <p:cNvSpPr>
            <a:spLocks xmlns:a="http://schemas.openxmlformats.org/drawingml/2006/main" noGrp="1"/>
          </p:cNvSpPr>
          <p:nvPr/>
        </p:nvSpPr>
        <p:spPr>
          <a:xfrm xmlns:a="http://schemas.openxmlformats.org/drawingml/2006/main">
            <a:off x="502920" y="4215384"/>
            <a:ext cx="11201400" cy="2103120"/>
          </a:xfrm>
          <a:prstGeom xmlns:a="http://schemas.openxmlformats.org/drawingml/2006/main" prst="roundRect">
            <a:avLst>
              <a:gd name="adj" fmla="val 3913"/>
            </a:avLst>
          </a:prstGeom>
          <a:solidFill xmlns:a="http://schemas.openxmlformats.org/drawingml/2006/main">
            <a:srgbClr val="FFFFFF"/>
          </a:solidFill>
          <a:ln xmlns:a="http://schemas.openxmlformats.org/drawingml/2006/main" w="12700">
            <a:solidFill>
              <a:srgbClr val="D6E2E4"/>
            </a:solidFill>
            <a:prstDash val="solid"/>
          </a:ln>
        </p:spPr>
      </p:sp>
      <p:sp>
        <p:nvSpPr>
          <p:cNvPr id="19" name="Text 15">
            <a:extLst xmlns:a="http://schemas.openxmlformats.org/drawingml/2006/main">
              <a:ext uri="{FF2B5EF4-FFF2-40B4-BE49-F238E27FC236}">
                <a16:creationId xmlns:a16="http://schemas.microsoft.com/office/drawing/2014/main" id="{CBA191D2-6D97-49CE-A932-6F75F835FD5C}"/>
              </a:ext>
            </a:extLst>
          </p:cNvPr>
          <p:cNvSpPr>
            <a:spLocks xmlns:a="http://schemas.openxmlformats.org/drawingml/2006/main" noGrp="1"/>
          </p:cNvSpPr>
          <p:nvPr/>
        </p:nvSpPr>
        <p:spPr>
          <a:xfrm xmlns:a="http://schemas.openxmlformats.org/drawingml/2006/main">
            <a:off x="822960" y="4398264"/>
            <a:ext cx="10515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B3140"/>
                </a:solidFill>
                <a:latin typeface="Cambria"/>
                <a:ea typeface="Cambria"/>
                <a:cs typeface="Cambria"/>
              </a:rPr>
              <a:t>The two sentences participants must be able to tell apart</a:t>
            </a:r>
            <a:endParaRPr sz="1400"/>
          </a:p>
        </p:txBody>
      </p:sp>
      <p:sp>
        <p:nvSpPr>
          <p:cNvPr id="20" name="Text 16">
            <a:extLst xmlns:a="http://schemas.openxmlformats.org/drawingml/2006/main">
              <a:ext uri="{FF2B5EF4-FFF2-40B4-BE49-F238E27FC236}">
                <a16:creationId xmlns:a16="http://schemas.microsoft.com/office/drawing/2014/main" id="{EE02F24C-528B-4CF2-A09B-8D45BBEE375C}"/>
              </a:ext>
            </a:extLst>
          </p:cNvPr>
          <p:cNvSpPr>
            <a:spLocks xmlns:a="http://schemas.openxmlformats.org/drawingml/2006/main" noGrp="1"/>
          </p:cNvSpPr>
          <p:nvPr/>
        </p:nvSpPr>
        <p:spPr>
          <a:xfrm xmlns:a="http://schemas.openxmlformats.org/drawingml/2006/main">
            <a:off x="822960" y="4809744"/>
            <a:ext cx="105156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700"/>
              </a:spcAft>
              <a:buSzPct val="100000"/>
              <a:buChar char="•"/>
            </a:pPr>
            <a:r>
              <a:rPr sz="1250">
                <a:solidFill>
                  <a:srgbClr val="24313A"/>
                </a:solidFill>
                <a:latin typeface="Calibri"/>
                <a:ea typeface="Calibri"/>
                <a:cs typeface="Calibri"/>
              </a:rPr>
              <a:t>“Patients typically wait 20.5 ± 11.6 minutes.”  → SD. A statement about people. Stays wide forever.</a:t>
            </a:r>
            <a:endParaRPr sz="1250"/>
          </a:p>
          <a:p xmlns:a="http://schemas.openxmlformats.org/drawingml/2006/main">
            <a:pPr marL="152400" indent="-152400">
              <a:lnSpc>
                <a:spcPct val="104000"/>
              </a:lnSpc>
              <a:spcAft>
                <a:spcPts val="700"/>
              </a:spcAft>
              <a:buSzPct val="100000"/>
              <a:buChar char="•"/>
            </a:pPr>
            <a:r>
              <a:rPr sz="1250">
                <a:solidFill>
                  <a:srgbClr val="24313A"/>
                </a:solidFill>
                <a:latin typeface="Calibri"/>
                <a:ea typeface="Calibri"/>
                <a:cs typeface="Calibri"/>
              </a:rPr>
              <a:t>“The mean wait is 20.5 ± 0.1 minutes.”  → SE. A statement about our knowledge. Tightens with data.</a:t>
            </a:r>
            <a:endParaRPr sz="1250"/>
          </a:p>
          <a:p xmlns:a="http://schemas.openxmlformats.org/drawingml/2006/main">
            <a:pPr marL="152400" indent="-152400">
              <a:lnSpc>
                <a:spcPct val="104000"/>
              </a:lnSpc>
              <a:spcAft>
                <a:spcPts val="700"/>
              </a:spcAft>
              <a:buSzPct val="100000"/>
              <a:buChar char="•"/>
            </a:pPr>
            <a:r>
              <a:rPr sz="1250" b="1">
                <a:solidFill>
                  <a:srgbClr val="B4232A"/>
                </a:solidFill>
                <a:latin typeface="Calibri"/>
                <a:ea typeface="Calibri"/>
                <a:cs typeface="Calibri"/>
              </a:rPr>
              <a:t>A dashboard that swaps them either terrifies management or lulls it. Both errors are career-limiting.</a:t>
            </a:r>
            <a:endParaRPr sz="1250"/>
          </a:p>
        </p:txBody>
      </p:sp>
    </p:spTree>
    <p:extLst>
      <p:ext uri="{BB962C8B-B14F-4D97-AF65-F5344CB8AC3E}">
        <p14:creationId xmlns:p14="http://schemas.microsoft.com/office/powerpoint/2010/main" val="179625001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36F4B6-E8A8-49BB-A151-9F97ACA7B9F6}"/>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89306379-75A9-4A11-817E-914AEA1FF27B}"/>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32</a:t>
            </a:r>
            <a:endParaRPr sz="900"/>
          </a:p>
        </p:txBody>
      </p:sp>
      <p:sp>
        <p:nvSpPr>
          <p:cNvPr id="4" name="Shape 2">
            <a:extLst xmlns:a="http://schemas.openxmlformats.org/drawingml/2006/main">
              <a:ext uri="{FF2B5EF4-FFF2-40B4-BE49-F238E27FC236}">
                <a16:creationId xmlns:a16="http://schemas.microsoft.com/office/drawing/2014/main" id="{CE291E8F-F6BB-44DB-8192-BA4B01DEC290}"/>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26851964-6340-4BAE-902B-97C0923B899C}"/>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3</a:t>
            </a:r>
            <a:endParaRPr sz="1050"/>
          </a:p>
        </p:txBody>
      </p:sp>
      <p:sp>
        <p:nvSpPr>
          <p:cNvPr id="6" name="Text 4">
            <a:extLst xmlns:a="http://schemas.openxmlformats.org/drawingml/2006/main">
              <a:ext uri="{FF2B5EF4-FFF2-40B4-BE49-F238E27FC236}">
                <a16:creationId xmlns:a16="http://schemas.microsoft.com/office/drawing/2014/main" id="{50EE6779-C0F9-4F38-AFD6-D114AC29231D}"/>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Building the intervals: t for means, Wilson for proportions</a:t>
            </a:r>
            <a:endParaRPr sz="2800"/>
          </a:p>
        </p:txBody>
      </p:sp>
      <p:sp>
        <p:nvSpPr>
          <p:cNvPr id="7" name="Text 5">
            <a:extLst xmlns:a="http://schemas.openxmlformats.org/drawingml/2006/main">
              <a:ext uri="{FF2B5EF4-FFF2-40B4-BE49-F238E27FC236}">
                <a16:creationId xmlns:a16="http://schemas.microsoft.com/office/drawing/2014/main" id="{F11E2AF4-AC1C-4F32-9693-A25EFEBD7125}"/>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And why this course never teaches the Wald proportion interval as a default</a:t>
            </a:r>
            <a:endParaRPr sz="1350"/>
          </a:p>
        </p:txBody>
      </p:sp>
      <p:sp>
        <p:nvSpPr>
          <p:cNvPr id="8" name="Shape 6">
            <a:extLst xmlns:a="http://schemas.openxmlformats.org/drawingml/2006/main">
              <a:ext uri="{FF2B5EF4-FFF2-40B4-BE49-F238E27FC236}">
                <a16:creationId xmlns:a16="http://schemas.microsoft.com/office/drawing/2014/main" id="{E90DFAF4-6F97-4D8F-8D17-4C1BE8AF2BA1}"/>
              </a:ext>
            </a:extLst>
          </p:cNvPr>
          <p:cNvSpPr>
            <a:spLocks xmlns:a="http://schemas.openxmlformats.org/drawingml/2006/main" noGrp="1"/>
          </p:cNvSpPr>
          <p:nvPr/>
        </p:nvSpPr>
        <p:spPr>
          <a:xfrm xmlns:a="http://schemas.openxmlformats.org/drawingml/2006/main">
            <a:off x="502920" y="1819656"/>
            <a:ext cx="5532120" cy="2286000"/>
          </a:xfrm>
          <a:prstGeom xmlns:a="http://schemas.openxmlformats.org/drawingml/2006/main" prst="roundRect">
            <a:avLst>
              <a:gd name="adj" fmla="val 3600"/>
            </a:avLst>
          </a:prstGeom>
          <a:solidFill xmlns:a="http://schemas.openxmlformats.org/drawingml/2006/main">
            <a:srgbClr val="F3F8F9"/>
          </a:solidFill>
        </p:spPr>
      </p:sp>
      <p:sp>
        <p:nvSpPr>
          <p:cNvPr id="9" name="Text 7">
            <a:extLst xmlns:a="http://schemas.openxmlformats.org/drawingml/2006/main">
              <a:ext uri="{FF2B5EF4-FFF2-40B4-BE49-F238E27FC236}">
                <a16:creationId xmlns:a16="http://schemas.microsoft.com/office/drawing/2014/main" id="{81CBAB8B-82EE-417B-BFD1-A3B18085E862}"/>
              </a:ext>
            </a:extLst>
          </p:cNvPr>
          <p:cNvSpPr>
            <a:spLocks xmlns:a="http://schemas.openxmlformats.org/drawingml/2006/main" noGrp="1"/>
          </p:cNvSpPr>
          <p:nvPr/>
        </p:nvSpPr>
        <p:spPr>
          <a:xfrm xmlns:a="http://schemas.openxmlformats.org/drawingml/2006/main">
            <a:off x="822960" y="2002536"/>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B3140"/>
                </a:solidFill>
                <a:latin typeface="Cambria"/>
                <a:ea typeface="Cambria"/>
                <a:cs typeface="Cambria"/>
              </a:rPr>
              <a:t>Means → t-interval</a:t>
            </a:r>
            <a:endParaRPr sz="1450"/>
          </a:p>
        </p:txBody>
      </p:sp>
      <p:sp>
        <p:nvSpPr>
          <p:cNvPr id="10" name="Text 8">
            <a:extLst xmlns:a="http://schemas.openxmlformats.org/drawingml/2006/main">
              <a:ext uri="{FF2B5EF4-FFF2-40B4-BE49-F238E27FC236}">
                <a16:creationId xmlns:a16="http://schemas.microsoft.com/office/drawing/2014/main" id="{13768800-85C2-4DF8-82DD-9613598B856F}"/>
              </a:ext>
            </a:extLst>
          </p:cNvPr>
          <p:cNvSpPr>
            <a:spLocks xmlns:a="http://schemas.openxmlformats.org/drawingml/2006/main" noGrp="1"/>
          </p:cNvSpPr>
          <p:nvPr/>
        </p:nvSpPr>
        <p:spPr>
          <a:xfrm xmlns:a="http://schemas.openxmlformats.org/drawingml/2006/main">
            <a:off x="822960" y="2368296"/>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A5C64"/>
                </a:solidFill>
                <a:latin typeface="Courier New"/>
                <a:ea typeface="Courier New"/>
                <a:cs typeface="Courier New"/>
              </a:rPr>
              <a:t>x̄ ± t₍n₋₁₎ · s/√n</a:t>
            </a:r>
            <a:endParaRPr sz="1500"/>
          </a:p>
        </p:txBody>
      </p:sp>
      <p:sp>
        <p:nvSpPr>
          <p:cNvPr id="11" name="Text 9">
            <a:extLst xmlns:a="http://schemas.openxmlformats.org/drawingml/2006/main">
              <a:ext uri="{FF2B5EF4-FFF2-40B4-BE49-F238E27FC236}">
                <a16:creationId xmlns:a16="http://schemas.microsoft.com/office/drawing/2014/main" id="{C937D741-A2E8-4468-8A29-657DE15CBF89}"/>
              </a:ext>
            </a:extLst>
          </p:cNvPr>
          <p:cNvSpPr>
            <a:spLocks xmlns:a="http://schemas.openxmlformats.org/drawingml/2006/main" noGrp="1"/>
          </p:cNvSpPr>
          <p:nvPr/>
        </p:nvSpPr>
        <p:spPr>
          <a:xfrm xmlns:a="http://schemas.openxmlformats.org/drawingml/2006/main">
            <a:off x="822960" y="2825496"/>
            <a:ext cx="49377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500"/>
              </a:spcAft>
              <a:buSzPct val="100000"/>
              <a:buChar char="•"/>
            </a:pPr>
            <a:r>
              <a:rPr sz="1100">
                <a:solidFill>
                  <a:srgbClr val="24313A"/>
                </a:solidFill>
                <a:latin typeface="Calibri"/>
                <a:ea typeface="Calibri"/>
                <a:cs typeface="Calibri"/>
              </a:rPr>
              <a:t>Mean wait: 20.5 → 95% CI [20.4, 20.6] min (n = 41k attended)</a:t>
            </a:r>
            <a:endParaRPr sz="1100"/>
          </a:p>
          <a:p xmlns:a="http://schemas.openxmlformats.org/drawingml/2006/main">
            <a:pPr marL="152400" indent="-152400">
              <a:lnSpc>
                <a:spcPct val="104000"/>
              </a:lnSpc>
              <a:spcAft>
                <a:spcPts val="500"/>
              </a:spcAft>
              <a:buSzPct val="100000"/>
              <a:buChar char="•"/>
            </a:pPr>
            <a:r>
              <a:rPr sz="1100">
                <a:solidFill>
                  <a:srgbClr val="24313A"/>
                </a:solidFill>
                <a:latin typeface="Calibri"/>
                <a:ea typeface="Calibri"/>
                <a:cs typeface="Calibri"/>
              </a:rPr>
              <a:t>t vs z matters below n ≈ 30; scipy.stats.t handles both</a:t>
            </a:r>
            <a:endParaRPr sz="1100"/>
          </a:p>
          <a:p xmlns:a="http://schemas.openxmlformats.org/drawingml/2006/main">
            <a:pPr marL="152400" indent="-152400">
              <a:lnSpc>
                <a:spcPct val="104000"/>
              </a:lnSpc>
              <a:spcAft>
                <a:spcPts val="500"/>
              </a:spcAft>
              <a:buSzPct val="100000"/>
              <a:buChar char="•"/>
            </a:pPr>
            <a:r>
              <a:rPr sz="1100">
                <a:solidFill>
                  <a:srgbClr val="24313A"/>
                </a:solidFill>
                <a:latin typeface="Calibri"/>
                <a:ea typeface="Calibri"/>
                <a:cs typeface="Calibri"/>
              </a:rPr>
              <a:t>CLT protects the interval even though raw waits are skewed</a:t>
            </a:r>
            <a:endParaRPr sz="1100"/>
          </a:p>
        </p:txBody>
      </p:sp>
      <p:sp>
        <p:nvSpPr>
          <p:cNvPr id="12" name="Shape 10">
            <a:extLst xmlns:a="http://schemas.openxmlformats.org/drawingml/2006/main">
              <a:ext uri="{FF2B5EF4-FFF2-40B4-BE49-F238E27FC236}">
                <a16:creationId xmlns:a16="http://schemas.microsoft.com/office/drawing/2014/main" id="{08314E3D-2EBC-458D-87AE-899C24EE3FE7}"/>
              </a:ext>
            </a:extLst>
          </p:cNvPr>
          <p:cNvSpPr>
            <a:spLocks xmlns:a="http://schemas.openxmlformats.org/drawingml/2006/main" noGrp="1"/>
          </p:cNvSpPr>
          <p:nvPr/>
        </p:nvSpPr>
        <p:spPr>
          <a:xfrm xmlns:a="http://schemas.openxmlformats.org/drawingml/2006/main">
            <a:off x="6172200" y="1819656"/>
            <a:ext cx="5532120" cy="2286000"/>
          </a:xfrm>
          <a:prstGeom xmlns:a="http://schemas.openxmlformats.org/drawingml/2006/main" prst="roundRect">
            <a:avLst>
              <a:gd name="adj" fmla="val 3600"/>
            </a:avLst>
          </a:prstGeom>
          <a:solidFill xmlns:a="http://schemas.openxmlformats.org/drawingml/2006/main">
            <a:srgbClr val="E7F2F3"/>
          </a:solidFill>
        </p:spPr>
      </p:sp>
      <p:sp>
        <p:nvSpPr>
          <p:cNvPr id="13" name="Text 11">
            <a:extLst xmlns:a="http://schemas.openxmlformats.org/drawingml/2006/main">
              <a:ext uri="{FF2B5EF4-FFF2-40B4-BE49-F238E27FC236}">
                <a16:creationId xmlns:a16="http://schemas.microsoft.com/office/drawing/2014/main" id="{6E2B3F3B-7CF5-42B0-B014-1DF4E2916D9B}"/>
              </a:ext>
            </a:extLst>
          </p:cNvPr>
          <p:cNvSpPr>
            <a:spLocks xmlns:a="http://schemas.openxmlformats.org/drawingml/2006/main" noGrp="1"/>
          </p:cNvSpPr>
          <p:nvPr/>
        </p:nvSpPr>
        <p:spPr>
          <a:xfrm xmlns:a="http://schemas.openxmlformats.org/drawingml/2006/main">
            <a:off x="6492240" y="2002536"/>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C64"/>
                </a:solidFill>
                <a:latin typeface="Cambria"/>
                <a:ea typeface="Cambria"/>
                <a:cs typeface="Cambria"/>
              </a:rPr>
              <a:t>Proportions → Wilson interval</a:t>
            </a:r>
            <a:endParaRPr sz="1450"/>
          </a:p>
        </p:txBody>
      </p:sp>
      <p:sp>
        <p:nvSpPr>
          <p:cNvPr id="14" name="Text 12">
            <a:extLst xmlns:a="http://schemas.openxmlformats.org/drawingml/2006/main">
              <a:ext uri="{FF2B5EF4-FFF2-40B4-BE49-F238E27FC236}">
                <a16:creationId xmlns:a16="http://schemas.microsoft.com/office/drawing/2014/main" id="{D9ACFD99-1B8B-403D-8E0B-144225CC91A9}"/>
              </a:ext>
            </a:extLst>
          </p:cNvPr>
          <p:cNvSpPr>
            <a:spLocks xmlns:a="http://schemas.openxmlformats.org/drawingml/2006/main" noGrp="1"/>
          </p:cNvSpPr>
          <p:nvPr/>
        </p:nvSpPr>
        <p:spPr>
          <a:xfrm xmlns:a="http://schemas.openxmlformats.org/drawingml/2006/main">
            <a:off x="6492240" y="2368296"/>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C64"/>
                </a:solidFill>
                <a:latin typeface="Courier New"/>
                <a:ea typeface="Courier New"/>
                <a:cs typeface="Courier New"/>
              </a:rPr>
              <a:t>proportion_confint(k, n, method='wilson')</a:t>
            </a:r>
            <a:endParaRPr sz="1250"/>
          </a:p>
        </p:txBody>
      </p:sp>
      <p:sp>
        <p:nvSpPr>
          <p:cNvPr id="15" name="Text 13">
            <a:extLst xmlns:a="http://schemas.openxmlformats.org/drawingml/2006/main">
              <a:ext uri="{FF2B5EF4-FFF2-40B4-BE49-F238E27FC236}">
                <a16:creationId xmlns:a16="http://schemas.microsoft.com/office/drawing/2014/main" id="{95CC85D7-C893-4CCC-B963-FDAF193D06FE}"/>
              </a:ext>
            </a:extLst>
          </p:cNvPr>
          <p:cNvSpPr>
            <a:spLocks xmlns:a="http://schemas.openxmlformats.org/drawingml/2006/main" noGrp="1"/>
          </p:cNvSpPr>
          <p:nvPr/>
        </p:nvSpPr>
        <p:spPr>
          <a:xfrm xmlns:a="http://schemas.openxmlformats.org/drawingml/2006/main">
            <a:off x="6492240" y="2825496"/>
            <a:ext cx="49377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500"/>
              </a:spcAft>
              <a:buSzPct val="100000"/>
              <a:buChar char="•"/>
            </a:pPr>
            <a:r>
              <a:rPr sz="1100" b="1">
                <a:solidFill>
                  <a:srgbClr val="24313A"/>
                </a:solidFill>
                <a:latin typeface="Calibri"/>
                <a:ea typeface="Calibri"/>
                <a:cs typeface="Calibri"/>
              </a:rPr>
              <a:t>National no-show: 0.183 → 95% CI [0.179, 0.186]</a:t>
            </a:r>
            <a:endParaRPr sz="1100"/>
          </a:p>
          <a:p xmlns:a="http://schemas.openxmlformats.org/drawingml/2006/main">
            <a:pPr marL="152400" indent="-152400">
              <a:lnSpc>
                <a:spcPct val="104000"/>
              </a:lnSpc>
              <a:spcAft>
                <a:spcPts val="500"/>
              </a:spcAft>
              <a:buSzPct val="100000"/>
              <a:buChar char="•"/>
            </a:pPr>
            <a:r>
              <a:rPr sz="1100">
                <a:solidFill>
                  <a:srgbClr val="24313A"/>
                </a:solidFill>
                <a:latin typeface="Calibri"/>
                <a:ea typeface="Calibri"/>
                <a:cs typeface="Calibri"/>
              </a:rPr>
              <a:t>Behaves near 0 and 1; never spills outside [0, 1]</a:t>
            </a:r>
            <a:endParaRPr sz="1100"/>
          </a:p>
          <a:p xmlns:a="http://schemas.openxmlformats.org/drawingml/2006/main">
            <a:pPr marL="152400" indent="-152400">
              <a:lnSpc>
                <a:spcPct val="104000"/>
              </a:lnSpc>
              <a:spcAft>
                <a:spcPts val="500"/>
              </a:spcAft>
              <a:buSzPct val="100000"/>
              <a:buChar char="•"/>
            </a:pPr>
            <a:r>
              <a:rPr sz="1100">
                <a:solidFill>
                  <a:srgbClr val="24313A"/>
                </a:solidFill>
                <a:latin typeface="Calibri"/>
                <a:ea typeface="Calibri"/>
                <a:cs typeface="Calibri"/>
              </a:rPr>
              <a:t>Good coverage at small n — where regions live</a:t>
            </a:r>
            <a:endParaRPr sz="1100"/>
          </a:p>
        </p:txBody>
      </p:sp>
      <p:sp>
        <p:nvSpPr>
          <p:cNvPr id="16" name="Shape 14">
            <a:extLst xmlns:a="http://schemas.openxmlformats.org/drawingml/2006/main">
              <a:ext uri="{FF2B5EF4-FFF2-40B4-BE49-F238E27FC236}">
                <a16:creationId xmlns:a16="http://schemas.microsoft.com/office/drawing/2014/main" id="{B803739D-1DEB-45DD-8A41-A122D8D3C354}"/>
              </a:ext>
            </a:extLst>
          </p:cNvPr>
          <p:cNvSpPr>
            <a:spLocks xmlns:a="http://schemas.openxmlformats.org/drawingml/2006/main" noGrp="1"/>
          </p:cNvSpPr>
          <p:nvPr/>
        </p:nvSpPr>
        <p:spPr>
          <a:xfrm xmlns:a="http://schemas.openxmlformats.org/drawingml/2006/main">
            <a:off x="502920" y="4261104"/>
            <a:ext cx="11201400" cy="2103120"/>
          </a:xfrm>
          <a:prstGeom xmlns:a="http://schemas.openxmlformats.org/drawingml/2006/main" prst="roundRect">
            <a:avLst>
              <a:gd name="adj" fmla="val 3913"/>
            </a:avLst>
          </a:prstGeom>
          <a:solidFill xmlns:a="http://schemas.openxmlformats.org/drawingml/2006/main">
            <a:srgbClr val="FBEEDD"/>
          </a:solidFill>
        </p:spPr>
      </p:sp>
      <p:sp>
        <p:nvSpPr>
          <p:cNvPr id="17" name="Shape 15">
            <a:extLst xmlns:a="http://schemas.openxmlformats.org/drawingml/2006/main">
              <a:ext uri="{FF2B5EF4-FFF2-40B4-BE49-F238E27FC236}">
                <a16:creationId xmlns:a16="http://schemas.microsoft.com/office/drawing/2014/main" id="{9203BE22-DE7A-41F2-A7B6-52C5E4E50760}"/>
              </a:ext>
            </a:extLst>
          </p:cNvPr>
          <p:cNvSpPr>
            <a:spLocks xmlns:a="http://schemas.openxmlformats.org/drawingml/2006/main" noGrp="1"/>
          </p:cNvSpPr>
          <p:nvPr/>
        </p:nvSpPr>
        <p:spPr>
          <a:xfrm xmlns:a="http://schemas.openxmlformats.org/drawingml/2006/main">
            <a:off x="731520" y="4462272"/>
            <a:ext cx="420624" cy="420624"/>
          </a:xfrm>
          <a:prstGeom xmlns:a="http://schemas.openxmlformats.org/drawingml/2006/main" prst="ellipse">
            <a:avLst/>
          </a:prstGeom>
          <a:solidFill xmlns:a="http://schemas.openxmlformats.org/drawingml/2006/main">
            <a:srgbClr val="C2660A"/>
          </a:solidFill>
        </p:spPr>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f5e5adea290648e1"/>
          <a:stretch xmlns:a="http://schemas.openxmlformats.org/drawingml/2006/main">
            <a:fillRect l="0" t="0" r="0" b="0"/>
          </a:stretch>
        </p:blipFill>
        <p:spPr>
          <a:xfrm xmlns:a="http://schemas.openxmlformats.org/drawingml/2006/main">
            <a:off x="840882" y="4571634"/>
            <a:ext cx="201900" cy="201900"/>
          </a:xfrm>
          <a:prstGeom xmlns:a="http://schemas.openxmlformats.org/drawingml/2006/main" prst="rect">
            <a:avLst/>
          </a:prstGeom>
        </p:spPr>
      </p:pic>
      <p:sp>
        <p:nvSpPr>
          <p:cNvPr id="19" name="Text 16">
            <a:extLst xmlns:a="http://schemas.openxmlformats.org/drawingml/2006/main">
              <a:ext uri="{FF2B5EF4-FFF2-40B4-BE49-F238E27FC236}">
                <a16:creationId xmlns:a16="http://schemas.microsoft.com/office/drawing/2014/main" id="{D3D31DE3-279E-4A88-8238-7E21D041B82B}"/>
              </a:ext>
            </a:extLst>
          </p:cNvPr>
          <p:cNvSpPr>
            <a:spLocks xmlns:a="http://schemas.openxmlformats.org/drawingml/2006/main" noGrp="1"/>
          </p:cNvSpPr>
          <p:nvPr/>
        </p:nvSpPr>
        <p:spPr>
          <a:xfrm xmlns:a="http://schemas.openxmlformats.org/drawingml/2006/main">
            <a:off x="1298448" y="4507992"/>
            <a:ext cx="5486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2660A"/>
                </a:solidFill>
                <a:latin typeface="Cambria"/>
                <a:ea typeface="Cambria"/>
                <a:cs typeface="Cambria"/>
              </a:rPr>
              <a:t>Why not Wald (p̂ ± 1.96·SE)?</a:t>
            </a:r>
            <a:endParaRPr sz="1400"/>
          </a:p>
        </p:txBody>
      </p:sp>
      <p:sp>
        <p:nvSpPr>
          <p:cNvPr id="20" name="Text 17">
            <a:extLst xmlns:a="http://schemas.openxmlformats.org/drawingml/2006/main">
              <a:ext uri="{FF2B5EF4-FFF2-40B4-BE49-F238E27FC236}">
                <a16:creationId xmlns:a16="http://schemas.microsoft.com/office/drawing/2014/main" id="{FFB7C898-CD19-45AC-A6A0-D3D33511BBEC}"/>
              </a:ext>
            </a:extLst>
          </p:cNvPr>
          <p:cNvSpPr>
            <a:spLocks xmlns:a="http://schemas.openxmlformats.org/drawingml/2006/main" noGrp="1"/>
          </p:cNvSpPr>
          <p:nvPr/>
        </p:nvSpPr>
        <p:spPr>
          <a:xfrm xmlns:a="http://schemas.openxmlformats.org/drawingml/2006/main">
            <a:off x="868680" y="4946904"/>
            <a:ext cx="1060704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600"/>
              </a:spcAft>
              <a:buSzPct val="100000"/>
              <a:buChar char="•"/>
            </a:pPr>
            <a:r>
              <a:rPr sz="1130">
                <a:solidFill>
                  <a:srgbClr val="24313A"/>
                </a:solidFill>
                <a:latin typeface="Calibri"/>
                <a:ea typeface="Calibri"/>
                <a:cs typeface="Calibri"/>
              </a:rPr>
              <a:t>Its real-world coverage at small n and extreme p is well below the advertised 95% — the interval lies about its own confidence</a:t>
            </a:r>
            <a:endParaRPr sz="1130"/>
          </a:p>
          <a:p xmlns:a="http://schemas.openxmlformats.org/drawingml/2006/main">
            <a:pPr marL="152400" indent="-152400">
              <a:lnSpc>
                <a:spcPct val="104000"/>
              </a:lnSpc>
              <a:spcAft>
                <a:spcPts val="600"/>
              </a:spcAft>
              <a:buSzPct val="100000"/>
              <a:buChar char="•"/>
            </a:pPr>
            <a:r>
              <a:rPr sz="1130">
                <a:solidFill>
                  <a:srgbClr val="24313A"/>
                </a:solidFill>
                <a:latin typeface="Calibri"/>
                <a:ea typeface="Calibri"/>
                <a:cs typeface="Calibri"/>
              </a:rPr>
              <a:t>It can produce impossible bounds (negative rates) for small clinics</a:t>
            </a:r>
            <a:endParaRPr sz="1130"/>
          </a:p>
          <a:p xmlns:a="http://schemas.openxmlformats.org/drawingml/2006/main">
            <a:pPr marL="152400" indent="-152400">
              <a:lnSpc>
                <a:spcPct val="104000"/>
              </a:lnSpc>
              <a:spcAft>
                <a:spcPts val="600"/>
              </a:spcAft>
              <a:buSzPct val="100000"/>
              <a:buChar char="•"/>
            </a:pPr>
            <a:r>
              <a:rPr sz="1130" b="1">
                <a:solidFill>
                  <a:srgbClr val="24313A"/>
                </a:solidFill>
                <a:latin typeface="Calibri"/>
                <a:ea typeface="Calibri"/>
                <a:cs typeface="Calibri"/>
              </a:rPr>
              <a:t>Module 7 closes the loop: participants simulate 2,000 samples and watch Wilson hold ~95% coverage while Wald slips (~93% at n = 50, p = 0.18)</a:t>
            </a:r>
            <a:endParaRPr sz="1130"/>
          </a:p>
        </p:txBody>
      </p:sp>
    </p:spTree>
    <p:extLst>
      <p:ext uri="{BB962C8B-B14F-4D97-AF65-F5344CB8AC3E}">
        <p14:creationId xmlns:p14="http://schemas.microsoft.com/office/powerpoint/2010/main" val="204521949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9EDE593-BBA1-4F48-9D68-4234D8E605AB}"/>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F51EFCA2-4CD0-49E6-A5D3-25435875D518}"/>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33</a:t>
            </a:r>
            <a:endParaRPr sz="900"/>
          </a:p>
        </p:txBody>
      </p:sp>
      <p:sp>
        <p:nvSpPr>
          <p:cNvPr id="4" name="Shape 2">
            <a:extLst xmlns:a="http://schemas.openxmlformats.org/drawingml/2006/main">
              <a:ext uri="{FF2B5EF4-FFF2-40B4-BE49-F238E27FC236}">
                <a16:creationId xmlns:a16="http://schemas.microsoft.com/office/drawing/2014/main" id="{508318E1-20BC-47A2-973C-4C4AD89C2EF7}"/>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ED8741FC-F606-4434-9AEB-373E79283EE8}"/>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3</a:t>
            </a:r>
            <a:endParaRPr sz="1050"/>
          </a:p>
        </p:txBody>
      </p:sp>
      <p:sp>
        <p:nvSpPr>
          <p:cNvPr id="6" name="Text 4">
            <a:extLst xmlns:a="http://schemas.openxmlformats.org/drawingml/2006/main">
              <a:ext uri="{FF2B5EF4-FFF2-40B4-BE49-F238E27FC236}">
                <a16:creationId xmlns:a16="http://schemas.microsoft.com/office/drawing/2014/main" id="{BFC8DF6A-BEC5-44A7-8955-B48D159996AC}"/>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Reading an interval out loud</a:t>
            </a:r>
            <a:endParaRPr sz="2800"/>
          </a:p>
        </p:txBody>
      </p:sp>
      <p:sp>
        <p:nvSpPr>
          <p:cNvPr id="7" name="Text 5">
            <a:extLst xmlns:a="http://schemas.openxmlformats.org/drawingml/2006/main">
              <a:ext uri="{FF2B5EF4-FFF2-40B4-BE49-F238E27FC236}">
                <a16:creationId xmlns:a16="http://schemas.microsoft.com/office/drawing/2014/main" id="{04ACBB4E-9166-4CEB-92A2-C12842D69DC3}"/>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The national no-show CI [0.179, 0.186] — what it does and does not say</a:t>
            </a:r>
            <a:endParaRPr sz="1350"/>
          </a:p>
        </p:txBody>
      </p:sp>
      <p:sp>
        <p:nvSpPr>
          <p:cNvPr id="8" name="Shape 6">
            <a:extLst xmlns:a="http://schemas.openxmlformats.org/drawingml/2006/main">
              <a:ext uri="{FF2B5EF4-FFF2-40B4-BE49-F238E27FC236}">
                <a16:creationId xmlns:a16="http://schemas.microsoft.com/office/drawing/2014/main" id="{E54E29A4-5817-4372-9FDB-56B23B696C93}"/>
              </a:ext>
            </a:extLst>
          </p:cNvPr>
          <p:cNvSpPr>
            <a:spLocks xmlns:a="http://schemas.openxmlformats.org/drawingml/2006/main" noGrp="1"/>
          </p:cNvSpPr>
          <p:nvPr/>
        </p:nvSpPr>
        <p:spPr>
          <a:xfrm xmlns:a="http://schemas.openxmlformats.org/drawingml/2006/main">
            <a:off x="502920" y="1837944"/>
            <a:ext cx="5532120" cy="4526280"/>
          </a:xfrm>
          <a:prstGeom xmlns:a="http://schemas.openxmlformats.org/drawingml/2006/main" prst="roundRect">
            <a:avLst>
              <a:gd name="adj" fmla="val 1818"/>
            </a:avLst>
          </a:prstGeom>
          <a:solidFill xmlns:a="http://schemas.openxmlformats.org/drawingml/2006/main">
            <a:srgbClr val="E6F2EC"/>
          </a:solidFill>
        </p:spPr>
      </p:sp>
      <p:sp>
        <p:nvSpPr>
          <p:cNvPr id="9" name="Shape 7">
            <a:extLst xmlns:a="http://schemas.openxmlformats.org/drawingml/2006/main">
              <a:ext uri="{FF2B5EF4-FFF2-40B4-BE49-F238E27FC236}">
                <a16:creationId xmlns:a16="http://schemas.microsoft.com/office/drawing/2014/main" id="{80229E01-12C2-4497-98BA-5B9724C34489}"/>
              </a:ext>
            </a:extLst>
          </p:cNvPr>
          <p:cNvSpPr>
            <a:spLocks xmlns:a="http://schemas.openxmlformats.org/drawingml/2006/main" noGrp="1"/>
          </p:cNvSpPr>
          <p:nvPr/>
        </p:nvSpPr>
        <p:spPr>
          <a:xfrm xmlns:a="http://schemas.openxmlformats.org/drawingml/2006/main">
            <a:off x="731520" y="2039112"/>
            <a:ext cx="457200" cy="457200"/>
          </a:xfrm>
          <a:prstGeom xmlns:a="http://schemas.openxmlformats.org/drawingml/2006/main" prst="ellipse">
            <a:avLst/>
          </a:prstGeom>
          <a:solidFill xmlns:a="http://schemas.openxmlformats.org/drawingml/2006/main">
            <a:srgbClr val="1E7B52"/>
          </a:solidFill>
        </p:spPr>
      </p:sp>
      <p:pic>
        <p:nvPicPr>
          <p:cNvPr id="28" name="Image 0"/>
          <p:cNvPicPr>
            <a:picLocks xmlns:a="http://schemas.openxmlformats.org/drawingml/2006/main" noChangeAspect="1"/>
          </p:cNvPicPr>
          <p:nvPr/>
        </p:nvPicPr>
        <p:blipFill>
          <a:blip xmlns:r="http://schemas.openxmlformats.org/officeDocument/2006/relationships" xmlns:a="http://schemas.openxmlformats.org/drawingml/2006/main" r:embed="R9421ddcbe8904f88"/>
          <a:stretch xmlns:a="http://schemas.openxmlformats.org/drawingml/2006/main">
            <a:fillRect l="0" t="0" r="0" b="0"/>
          </a:stretch>
        </p:blipFill>
        <p:spPr>
          <a:xfrm xmlns:a="http://schemas.openxmlformats.org/drawingml/2006/main">
            <a:off x="850392" y="2157984"/>
            <a:ext cx="219456" cy="219456"/>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22724136-F9E1-4C57-94F4-E54C9D27197B}"/>
              </a:ext>
            </a:extLst>
          </p:cNvPr>
          <p:cNvSpPr>
            <a:spLocks xmlns:a="http://schemas.openxmlformats.org/drawingml/2006/main" noGrp="1"/>
          </p:cNvSpPr>
          <p:nvPr/>
        </p:nvSpPr>
        <p:spPr>
          <a:xfrm xmlns:a="http://schemas.openxmlformats.org/drawingml/2006/main">
            <a:off x="1325880" y="2112264"/>
            <a:ext cx="41148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E7B52"/>
                </a:solidFill>
                <a:latin typeface="Cambria"/>
                <a:ea typeface="Cambria"/>
                <a:cs typeface="Cambria"/>
              </a:rPr>
              <a:t>Say this</a:t>
            </a:r>
            <a:endParaRPr sz="1500"/>
          </a:p>
        </p:txBody>
      </p:sp>
      <p:sp>
        <p:nvSpPr>
          <p:cNvPr id="12" name="Text 9">
            <a:extLst xmlns:a="http://schemas.openxmlformats.org/drawingml/2006/main">
              <a:ext uri="{FF2B5EF4-FFF2-40B4-BE49-F238E27FC236}">
                <a16:creationId xmlns:a16="http://schemas.microsoft.com/office/drawing/2014/main" id="{9E02D128-667A-4B68-A748-1938A7AF2B7A}"/>
              </a:ext>
            </a:extLst>
          </p:cNvPr>
          <p:cNvSpPr>
            <a:spLocks xmlns:a="http://schemas.openxmlformats.org/drawingml/2006/main" noGrp="1"/>
          </p:cNvSpPr>
          <p:nvPr/>
        </p:nvSpPr>
        <p:spPr>
          <a:xfrm xmlns:a="http://schemas.openxmlformats.org/drawingml/2006/main">
            <a:off x="777240" y="2660904"/>
            <a:ext cx="5029200" cy="3566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800"/>
              </a:spcAft>
              <a:buSzPct val="100000"/>
              <a:buChar char="•"/>
            </a:pPr>
            <a:r>
              <a:rPr sz="1180">
                <a:solidFill>
                  <a:srgbClr val="24313A"/>
                </a:solidFill>
                <a:latin typeface="Calibri"/>
                <a:ea typeface="Calibri"/>
                <a:cs typeface="Calibri"/>
              </a:rPr>
              <a:t>“We estimate the no-show rate at 18.3%; values between 17.9% and 18.6% are compatible with the data.”</a:t>
            </a:r>
            <a:endParaRPr sz="1180"/>
          </a:p>
          <a:p xmlns:a="http://schemas.openxmlformats.org/drawingml/2006/main">
            <a:pPr marL="152400" indent="-152400">
              <a:lnSpc>
                <a:spcPct val="104000"/>
              </a:lnSpc>
              <a:spcAft>
                <a:spcPts val="800"/>
              </a:spcAft>
              <a:buSzPct val="100000"/>
              <a:buChar char="•"/>
            </a:pPr>
            <a:r>
              <a:rPr sz="1180">
                <a:solidFill>
                  <a:srgbClr val="24313A"/>
                </a:solidFill>
                <a:latin typeface="Calibri"/>
                <a:ea typeface="Calibri"/>
                <a:cs typeface="Calibri"/>
              </a:rPr>
              <a:t>“The procedure we used captures the true rate in ~95% of samples like this one.”</a:t>
            </a:r>
            <a:endParaRPr sz="1180"/>
          </a:p>
          <a:p xmlns:a="http://schemas.openxmlformats.org/drawingml/2006/main">
            <a:pPr marL="152400" indent="-152400">
              <a:lnSpc>
                <a:spcPct val="104000"/>
              </a:lnSpc>
              <a:spcAft>
                <a:spcPts val="800"/>
              </a:spcAft>
              <a:buSzPct val="100000"/>
              <a:buChar char="•"/>
            </a:pPr>
            <a:r>
              <a:rPr sz="1180">
                <a:solidFill>
                  <a:srgbClr val="24313A"/>
                </a:solidFill>
                <a:latin typeface="Calibri"/>
                <a:ea typeface="Calibri"/>
                <a:cs typeface="Calibri"/>
              </a:rPr>
              <a:t>“The interval is narrow because n is large — the estimate is precise.”</a:t>
            </a:r>
            <a:endParaRPr sz="1180"/>
          </a:p>
          <a:p xmlns:a="http://schemas.openxmlformats.org/drawingml/2006/main">
            <a:pPr marL="152400" indent="-152400">
              <a:lnSpc>
                <a:spcPct val="104000"/>
              </a:lnSpc>
              <a:spcAft>
                <a:spcPts val="800"/>
              </a:spcAft>
              <a:buSzPct val="100000"/>
              <a:buChar char="•"/>
            </a:pPr>
            <a:r>
              <a:rPr sz="1180" b="1">
                <a:solidFill>
                  <a:srgbClr val="24313A"/>
                </a:solidFill>
                <a:latin typeface="Calibri"/>
                <a:ea typeface="Calibri"/>
                <a:cs typeface="Calibri"/>
              </a:rPr>
              <a:t>Decision form: “Even the optimistic end (17.9%) exceeds the 15% service target — action is warranted regardless of sampling noise.”</a:t>
            </a:r>
            <a:endParaRPr sz="1180"/>
          </a:p>
        </p:txBody>
      </p:sp>
      <p:sp>
        <p:nvSpPr>
          <p:cNvPr id="13" name="Shape 10">
            <a:extLst xmlns:a="http://schemas.openxmlformats.org/drawingml/2006/main">
              <a:ext uri="{FF2B5EF4-FFF2-40B4-BE49-F238E27FC236}">
                <a16:creationId xmlns:a16="http://schemas.microsoft.com/office/drawing/2014/main" id="{E3B306FB-4686-4170-9B49-07A4A13F6E19}"/>
              </a:ext>
            </a:extLst>
          </p:cNvPr>
          <p:cNvSpPr>
            <a:spLocks xmlns:a="http://schemas.openxmlformats.org/drawingml/2006/main" noGrp="1"/>
          </p:cNvSpPr>
          <p:nvPr/>
        </p:nvSpPr>
        <p:spPr>
          <a:xfrm xmlns:a="http://schemas.openxmlformats.org/drawingml/2006/main">
            <a:off x="6172200" y="1837944"/>
            <a:ext cx="5532120" cy="4526280"/>
          </a:xfrm>
          <a:prstGeom xmlns:a="http://schemas.openxmlformats.org/drawingml/2006/main" prst="roundRect">
            <a:avLst>
              <a:gd name="adj" fmla="val 1818"/>
            </a:avLst>
          </a:prstGeom>
          <a:solidFill xmlns:a="http://schemas.openxmlformats.org/drawingml/2006/main">
            <a:srgbClr val="F9E8E9"/>
          </a:solidFill>
        </p:spPr>
      </p:sp>
      <p:sp>
        <p:nvSpPr>
          <p:cNvPr id="14" name="Shape 11">
            <a:extLst xmlns:a="http://schemas.openxmlformats.org/drawingml/2006/main">
              <a:ext uri="{FF2B5EF4-FFF2-40B4-BE49-F238E27FC236}">
                <a16:creationId xmlns:a16="http://schemas.microsoft.com/office/drawing/2014/main" id="{EB9E50B6-E4CD-4027-850E-8535459C4D22}"/>
              </a:ext>
            </a:extLst>
          </p:cNvPr>
          <p:cNvSpPr>
            <a:spLocks xmlns:a="http://schemas.openxmlformats.org/drawingml/2006/main" noGrp="1"/>
          </p:cNvSpPr>
          <p:nvPr/>
        </p:nvSpPr>
        <p:spPr>
          <a:xfrm xmlns:a="http://schemas.openxmlformats.org/drawingml/2006/main">
            <a:off x="6400800" y="2039112"/>
            <a:ext cx="457200" cy="457200"/>
          </a:xfrm>
          <a:prstGeom xmlns:a="http://schemas.openxmlformats.org/drawingml/2006/main" prst="ellipse">
            <a:avLst/>
          </a:prstGeom>
          <a:solidFill xmlns:a="http://schemas.openxmlformats.org/drawingml/2006/main">
            <a:srgbClr val="B4232A"/>
          </a:solidFill>
        </p:spPr>
      </p:sp>
      <p:pic>
        <p:nvPicPr>
          <p:cNvPr id="33" name="Image 1"/>
          <p:cNvPicPr>
            <a:picLocks xmlns:a="http://schemas.openxmlformats.org/drawingml/2006/main" noChangeAspect="1"/>
          </p:cNvPicPr>
          <p:nvPr/>
        </p:nvPicPr>
        <p:blipFill>
          <a:blip xmlns:r="http://schemas.openxmlformats.org/officeDocument/2006/relationships" xmlns:a="http://schemas.openxmlformats.org/drawingml/2006/main" r:embed="R13485e28662542d6"/>
          <a:stretch xmlns:a="http://schemas.openxmlformats.org/drawingml/2006/main">
            <a:fillRect l="0" t="0" r="0" b="0"/>
          </a:stretch>
        </p:blipFill>
        <p:spPr>
          <a:xfrm xmlns:a="http://schemas.openxmlformats.org/drawingml/2006/main">
            <a:off x="6519672" y="2157984"/>
            <a:ext cx="219456" cy="219456"/>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F5471A27-FA15-433E-A09D-A9571FC930CA}"/>
              </a:ext>
            </a:extLst>
          </p:cNvPr>
          <p:cNvSpPr>
            <a:spLocks xmlns:a="http://schemas.openxmlformats.org/drawingml/2006/main" noGrp="1"/>
          </p:cNvSpPr>
          <p:nvPr/>
        </p:nvSpPr>
        <p:spPr>
          <a:xfrm xmlns:a="http://schemas.openxmlformats.org/drawingml/2006/main">
            <a:off x="6995160" y="2112264"/>
            <a:ext cx="41148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B4232A"/>
                </a:solidFill>
                <a:latin typeface="Cambria"/>
                <a:ea typeface="Cambria"/>
                <a:cs typeface="Cambria"/>
              </a:rPr>
              <a:t>Not this</a:t>
            </a:r>
            <a:endParaRPr sz="1500"/>
          </a:p>
        </p:txBody>
      </p:sp>
      <p:sp>
        <p:nvSpPr>
          <p:cNvPr id="17" name="Text 13">
            <a:extLst xmlns:a="http://schemas.openxmlformats.org/drawingml/2006/main">
              <a:ext uri="{FF2B5EF4-FFF2-40B4-BE49-F238E27FC236}">
                <a16:creationId xmlns:a16="http://schemas.microsoft.com/office/drawing/2014/main" id="{F6AE8FE7-688E-45EF-A494-3431CE0D232B}"/>
              </a:ext>
            </a:extLst>
          </p:cNvPr>
          <p:cNvSpPr>
            <a:spLocks xmlns:a="http://schemas.openxmlformats.org/drawingml/2006/main" noGrp="1"/>
          </p:cNvSpPr>
          <p:nvPr/>
        </p:nvSpPr>
        <p:spPr>
          <a:xfrm xmlns:a="http://schemas.openxmlformats.org/drawingml/2006/main">
            <a:off x="6446520" y="2660904"/>
            <a:ext cx="5029200" cy="3566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800"/>
              </a:spcAft>
              <a:buSzPct val="100000"/>
              <a:buChar char="•"/>
            </a:pPr>
            <a:r>
              <a:rPr sz="1180">
                <a:solidFill>
                  <a:srgbClr val="24313A"/>
                </a:solidFill>
                <a:latin typeface="Calibri"/>
                <a:ea typeface="Calibri"/>
                <a:cs typeface="Calibri"/>
              </a:rPr>
              <a:t>“There is a 95% probability the true rate is inside this interval.” (The truth is fixed; the interval is what varies.)</a:t>
            </a:r>
            <a:endParaRPr sz="1180"/>
          </a:p>
          <a:p xmlns:a="http://schemas.openxmlformats.org/drawingml/2006/main">
            <a:pPr marL="152400" indent="-152400">
              <a:lnSpc>
                <a:spcPct val="104000"/>
              </a:lnSpc>
              <a:spcAft>
                <a:spcPts val="800"/>
              </a:spcAft>
              <a:buSzPct val="100000"/>
              <a:buChar char="•"/>
            </a:pPr>
            <a:r>
              <a:rPr sz="1180">
                <a:solidFill>
                  <a:srgbClr val="24313A"/>
                </a:solidFill>
                <a:latin typeface="Calibri"/>
                <a:ea typeface="Calibri"/>
                <a:cs typeface="Calibri"/>
              </a:rPr>
              <a:t>“95% of appointments fall in this range.” (That confuses the CI with a data range — the SD/SE error again.)</a:t>
            </a:r>
            <a:endParaRPr sz="1180"/>
          </a:p>
          <a:p xmlns:a="http://schemas.openxmlformats.org/drawingml/2006/main">
            <a:pPr marL="152400" indent="-152400">
              <a:lnSpc>
                <a:spcPct val="104000"/>
              </a:lnSpc>
              <a:spcAft>
                <a:spcPts val="800"/>
              </a:spcAft>
              <a:buSzPct val="100000"/>
              <a:buChar char="•"/>
            </a:pPr>
            <a:r>
              <a:rPr sz="1180">
                <a:solidFill>
                  <a:srgbClr val="24313A"/>
                </a:solidFill>
                <a:latin typeface="Calibri"/>
                <a:ea typeface="Calibri"/>
                <a:cs typeface="Calibri"/>
              </a:rPr>
              <a:t>“A wider interval means the rate is more variable.” (It means we know less — usually a smaller n.)</a:t>
            </a:r>
            <a:endParaRPr sz="1180"/>
          </a:p>
          <a:p xmlns:a="http://schemas.openxmlformats.org/drawingml/2006/main">
            <a:pPr marL="152400" indent="-152400">
              <a:lnSpc>
                <a:spcPct val="104000"/>
              </a:lnSpc>
              <a:spcAft>
                <a:spcPts val="800"/>
              </a:spcAft>
              <a:buSzPct val="100000"/>
              <a:buChar char="•"/>
            </a:pPr>
            <a:r>
              <a:rPr sz="1180" b="1">
                <a:solidFill>
                  <a:srgbClr val="24313A"/>
                </a:solidFill>
                <a:latin typeface="Calibri"/>
                <a:ea typeface="Calibri"/>
                <a:cs typeface="Calibri"/>
              </a:rPr>
              <a:t>“The CI contains 18% so the rate IS 18%.” (Compatibility is not confirmation.)</a:t>
            </a:r>
            <a:endParaRPr sz="1180"/>
          </a:p>
        </p:txBody>
      </p:sp>
    </p:spTree>
    <p:extLst>
      <p:ext uri="{BB962C8B-B14F-4D97-AF65-F5344CB8AC3E}">
        <p14:creationId xmlns:p14="http://schemas.microsoft.com/office/powerpoint/2010/main" val="109315421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F55AC8E-CE6F-41A0-8107-B83ADF6093C7}"/>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695BA37A-9B18-4F08-A923-553E04F5FB61}"/>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34</a:t>
            </a:r>
            <a:endParaRPr sz="900"/>
          </a:p>
        </p:txBody>
      </p:sp>
      <p:sp>
        <p:nvSpPr>
          <p:cNvPr id="4" name="Shape 2">
            <a:extLst xmlns:a="http://schemas.openxmlformats.org/drawingml/2006/main">
              <a:ext uri="{FF2B5EF4-FFF2-40B4-BE49-F238E27FC236}">
                <a16:creationId xmlns:a16="http://schemas.microsoft.com/office/drawing/2014/main" id="{17838192-8047-4B4B-9E1E-24EDC9442416}"/>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572D6F42-6889-4A13-8106-430D75EB7C58}"/>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3</a:t>
            </a:r>
            <a:endParaRPr sz="1050"/>
          </a:p>
        </p:txBody>
      </p:sp>
      <p:sp>
        <p:nvSpPr>
          <p:cNvPr id="6" name="Text 4">
            <a:extLst xmlns:a="http://schemas.openxmlformats.org/drawingml/2006/main">
              <a:ext uri="{FF2B5EF4-FFF2-40B4-BE49-F238E27FC236}">
                <a16:creationId xmlns:a16="http://schemas.microsoft.com/office/drawing/2014/main" id="{9BD742D7-D742-406C-B83D-17857201EB82}"/>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Sample-size planning: precision has a price list</a:t>
            </a:r>
            <a:endParaRPr sz="2800"/>
          </a:p>
        </p:txBody>
      </p:sp>
      <p:sp>
        <p:nvSpPr>
          <p:cNvPr id="7" name="Text 5">
            <a:extLst xmlns:a="http://schemas.openxmlformats.org/drawingml/2006/main">
              <a:ext uri="{FF2B5EF4-FFF2-40B4-BE49-F238E27FC236}">
                <a16:creationId xmlns:a16="http://schemas.microsoft.com/office/drawing/2014/main" id="{3FA6C9DA-9D65-4CC1-8CE7-A275EFADE687}"/>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The Ministry patient-experience survey — how many responses for a ±1% margin?</a:t>
            </a:r>
            <a:endParaRPr sz="1350"/>
          </a:p>
        </p:txBody>
      </p:sp>
      <p:graphicFrame>
        <p:nvGraphicFramePr>
          <p:cNvPr id="22" name="Chart 0"/>
          <p:cNvGraphicFramePr/>
          <p:nvPr/>
        </p:nvGraphicFramePr>
        <p:xfrm>
          <a:off xmlns:a="http://schemas.openxmlformats.org/drawingml/2006/main" x="502920" y="1837944"/>
          <a:ext xmlns:a="http://schemas.openxmlformats.org/drawingml/2006/main" cx="5852160" cy="3840480"/>
        </p:xfrm>
        <a:graphic xmlns:a="http://schemas.openxmlformats.org/drawingml/2006/main">
          <a:graphicData uri="http://schemas.openxmlformats.org/drawingml/2006/chart">
            <c:chart xmlns:r="http://schemas.openxmlformats.org/officeDocument/2006/relationships" xmlns:c="http://schemas.openxmlformats.org/drawingml/2006/chart" r:id="Rb6b225bd4d0041ac"/>
          </a:graphicData>
        </a:graphic>
      </p:graphicFrame>
      <p:sp>
        <p:nvSpPr>
          <p:cNvPr id="9" name="Shape 6">
            <a:extLst xmlns:a="http://schemas.openxmlformats.org/drawingml/2006/main">
              <a:ext uri="{FF2B5EF4-FFF2-40B4-BE49-F238E27FC236}">
                <a16:creationId xmlns:a16="http://schemas.microsoft.com/office/drawing/2014/main" id="{A8E15DF1-26AB-4658-86B9-676629602C07}"/>
              </a:ext>
            </a:extLst>
          </p:cNvPr>
          <p:cNvSpPr>
            <a:spLocks xmlns:a="http://schemas.openxmlformats.org/drawingml/2006/main" noGrp="1"/>
          </p:cNvSpPr>
          <p:nvPr/>
        </p:nvSpPr>
        <p:spPr>
          <a:xfrm xmlns:a="http://schemas.openxmlformats.org/drawingml/2006/main">
            <a:off x="6537960" y="1837944"/>
            <a:ext cx="5166360" cy="2194560"/>
          </a:xfrm>
          <a:prstGeom xmlns:a="http://schemas.openxmlformats.org/drawingml/2006/main" prst="roundRect">
            <a:avLst>
              <a:gd name="adj" fmla="val 3750"/>
            </a:avLst>
          </a:prstGeom>
          <a:solidFill xmlns:a="http://schemas.openxmlformats.org/drawingml/2006/main">
            <a:srgbClr val="F3F8F9"/>
          </a:solidFill>
        </p:spPr>
      </p:sp>
      <p:sp>
        <p:nvSpPr>
          <p:cNvPr id="10" name="Text 7">
            <a:extLst xmlns:a="http://schemas.openxmlformats.org/drawingml/2006/main">
              <a:ext uri="{FF2B5EF4-FFF2-40B4-BE49-F238E27FC236}">
                <a16:creationId xmlns:a16="http://schemas.microsoft.com/office/drawing/2014/main" id="{CA284639-55F4-4413-B6E3-060AF69D0EE3}"/>
              </a:ext>
            </a:extLst>
          </p:cNvPr>
          <p:cNvSpPr>
            <a:spLocks xmlns:a="http://schemas.openxmlformats.org/drawingml/2006/main" noGrp="1"/>
          </p:cNvSpPr>
          <p:nvPr/>
        </p:nvSpPr>
        <p:spPr>
          <a:xfrm xmlns:a="http://schemas.openxmlformats.org/drawingml/2006/main">
            <a:off x="6858000" y="2020824"/>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B3140"/>
                </a:solidFill>
                <a:latin typeface="Cambria"/>
                <a:ea typeface="Cambria"/>
                <a:cs typeface="Cambria"/>
              </a:rPr>
              <a:t>The law behind the bars</a:t>
            </a:r>
            <a:endParaRPr sz="1400"/>
          </a:p>
        </p:txBody>
      </p:sp>
      <p:sp>
        <p:nvSpPr>
          <p:cNvPr id="11" name="Text 8">
            <a:extLst xmlns:a="http://schemas.openxmlformats.org/drawingml/2006/main">
              <a:ext uri="{FF2B5EF4-FFF2-40B4-BE49-F238E27FC236}">
                <a16:creationId xmlns:a16="http://schemas.microsoft.com/office/drawing/2014/main" id="{36565864-1328-4C14-B616-5A918EA52A53}"/>
              </a:ext>
            </a:extLst>
          </p:cNvPr>
          <p:cNvSpPr>
            <a:spLocks xmlns:a="http://schemas.openxmlformats.org/drawingml/2006/main" noGrp="1"/>
          </p:cNvSpPr>
          <p:nvPr/>
        </p:nvSpPr>
        <p:spPr>
          <a:xfrm xmlns:a="http://schemas.openxmlformats.org/drawingml/2006/main">
            <a:off x="6858000" y="2432304"/>
            <a:ext cx="452628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600"/>
              </a:spcAft>
              <a:buSzPct val="100000"/>
              <a:buChar char="•"/>
            </a:pPr>
            <a:r>
              <a:rPr sz="1130">
                <a:solidFill>
                  <a:srgbClr val="24313A"/>
                </a:solidFill>
                <a:latin typeface="Calibri"/>
                <a:ea typeface="Calibri"/>
                <a:cs typeface="Calibri"/>
              </a:rPr>
              <a:t>Halving the margin quadruples the sample — every time</a:t>
            </a:r>
            <a:endParaRPr sz="1130"/>
          </a:p>
          <a:p xmlns:a="http://schemas.openxmlformats.org/drawingml/2006/main">
            <a:pPr marL="152400" indent="-152400">
              <a:lnSpc>
                <a:spcPct val="104000"/>
              </a:lnSpc>
              <a:spcAft>
                <a:spcPts val="600"/>
              </a:spcAft>
              <a:buSzPct val="100000"/>
              <a:buChar char="•"/>
            </a:pPr>
            <a:r>
              <a:rPr sz="1130">
                <a:solidFill>
                  <a:srgbClr val="24313A"/>
                </a:solidFill>
                <a:latin typeface="Calibri"/>
                <a:ea typeface="Calibri"/>
                <a:cs typeface="Calibri"/>
              </a:rPr>
              <a:t>±1% needs 9,604; ±2% needs only 2,401</a:t>
            </a:r>
            <a:endParaRPr sz="1130"/>
          </a:p>
          <a:p xmlns:a="http://schemas.openxmlformats.org/drawingml/2006/main">
            <a:pPr marL="152400" indent="-152400">
              <a:lnSpc>
                <a:spcPct val="104000"/>
              </a:lnSpc>
              <a:spcAft>
                <a:spcPts val="600"/>
              </a:spcAft>
              <a:buSzPct val="100000"/>
              <a:buChar char="•"/>
            </a:pPr>
            <a:r>
              <a:rPr sz="1130">
                <a:solidFill>
                  <a:srgbClr val="24313A"/>
                </a:solidFill>
                <a:latin typeface="Calibri"/>
                <a:ea typeface="Calibri"/>
                <a:cs typeface="Calibri"/>
              </a:rPr>
              <a:t>Use p = 0.5 when unsure (worst case); a prior p̂ = 0.18 cuts n by ~40%</a:t>
            </a:r>
            <a:endParaRPr sz="1130"/>
          </a:p>
        </p:txBody>
      </p:sp>
      <p:sp>
        <p:nvSpPr>
          <p:cNvPr id="12" name="Shape 9">
            <a:extLst xmlns:a="http://schemas.openxmlformats.org/drawingml/2006/main">
              <a:ext uri="{FF2B5EF4-FFF2-40B4-BE49-F238E27FC236}">
                <a16:creationId xmlns:a16="http://schemas.microsoft.com/office/drawing/2014/main" id="{8C0E6798-49F5-4FFC-8309-343026A681B7}"/>
              </a:ext>
            </a:extLst>
          </p:cNvPr>
          <p:cNvSpPr>
            <a:spLocks xmlns:a="http://schemas.openxmlformats.org/drawingml/2006/main" noGrp="1"/>
          </p:cNvSpPr>
          <p:nvPr/>
        </p:nvSpPr>
        <p:spPr>
          <a:xfrm xmlns:a="http://schemas.openxmlformats.org/drawingml/2006/main">
            <a:off x="6537960" y="4169664"/>
            <a:ext cx="5166360" cy="2194560"/>
          </a:xfrm>
          <a:prstGeom xmlns:a="http://schemas.openxmlformats.org/drawingml/2006/main" prst="roundRect">
            <a:avLst>
              <a:gd name="adj" fmla="val 3750"/>
            </a:avLst>
          </a:prstGeom>
          <a:solidFill xmlns:a="http://schemas.openxmlformats.org/drawingml/2006/main">
            <a:srgbClr val="0B3140"/>
          </a:solidFill>
        </p:spPr>
      </p:sp>
      <p:sp>
        <p:nvSpPr>
          <p:cNvPr id="13" name="Text 10">
            <a:extLst xmlns:a="http://schemas.openxmlformats.org/drawingml/2006/main">
              <a:ext uri="{FF2B5EF4-FFF2-40B4-BE49-F238E27FC236}">
                <a16:creationId xmlns:a16="http://schemas.microsoft.com/office/drawing/2014/main" id="{43190459-68E5-4AFF-86B0-B7CEB79E5BC8}"/>
              </a:ext>
            </a:extLst>
          </p:cNvPr>
          <p:cNvSpPr>
            <a:spLocks xmlns:a="http://schemas.openxmlformats.org/drawingml/2006/main" noGrp="1"/>
          </p:cNvSpPr>
          <p:nvPr/>
        </p:nvSpPr>
        <p:spPr>
          <a:xfrm xmlns:a="http://schemas.openxmlformats.org/drawingml/2006/main">
            <a:off x="6858000" y="4352544"/>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FB3BC"/>
                </a:solidFill>
                <a:latin typeface="Calibri"/>
                <a:ea typeface="Calibri"/>
                <a:cs typeface="Calibri"/>
              </a:rPr>
              <a:t>THE CONSULTANT MOVE</a:t>
            </a:r>
            <a:endParaRPr sz="1050"/>
          </a:p>
        </p:txBody>
      </p:sp>
      <p:sp>
        <p:nvSpPr>
          <p:cNvPr id="14" name="Text 11">
            <a:extLst xmlns:a="http://schemas.openxmlformats.org/drawingml/2006/main">
              <a:ext uri="{FF2B5EF4-FFF2-40B4-BE49-F238E27FC236}">
                <a16:creationId xmlns:a16="http://schemas.microsoft.com/office/drawing/2014/main" id="{8D71FF5E-251E-4E2A-9F36-FCD2B325B3C6}"/>
              </a:ext>
            </a:extLst>
          </p:cNvPr>
          <p:cNvSpPr>
            <a:spLocks xmlns:a="http://schemas.openxmlformats.org/drawingml/2006/main" noGrp="1"/>
          </p:cNvSpPr>
          <p:nvPr/>
        </p:nvSpPr>
        <p:spPr>
          <a:xfrm xmlns:a="http://schemas.openxmlformats.org/drawingml/2006/main">
            <a:off x="6858000" y="4718304"/>
            <a:ext cx="45720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200">
                <a:solidFill>
                  <a:srgbClr val="FFFFFF"/>
                </a:solidFill>
                <a:latin typeface="Calibri"/>
                <a:ea typeface="Calibri"/>
                <a:cs typeface="Calibri"/>
              </a:rPr>
              <a:t>Never answer “what n do we need?” with a number. Answer with this chart and the question “what decision changes between ±1% and ±2%?” — if nothing changes, the Ministry just saved 7,200 survey responses.</a:t>
            </a:r>
            <a:endParaRPr sz="1200"/>
          </a:p>
        </p:txBody>
      </p:sp>
    </p:spTree>
    <p:extLst>
      <p:ext uri="{BB962C8B-B14F-4D97-AF65-F5344CB8AC3E}">
        <p14:creationId xmlns:p14="http://schemas.microsoft.com/office/powerpoint/2010/main" val="9823065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0A200D5-B69D-4F58-8220-EBF486EEBF1A}"/>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4D2EE906-6A63-4B95-BB54-DC642A30AF79}"/>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35</a:t>
            </a:r>
            <a:endParaRPr sz="900"/>
          </a:p>
        </p:txBody>
      </p:sp>
      <p:sp>
        <p:nvSpPr>
          <p:cNvPr id="4" name="Shape 2">
            <a:extLst xmlns:a="http://schemas.openxmlformats.org/drawingml/2006/main">
              <a:ext uri="{FF2B5EF4-FFF2-40B4-BE49-F238E27FC236}">
                <a16:creationId xmlns:a16="http://schemas.microsoft.com/office/drawing/2014/main" id="{3FB6691A-4558-44DA-B4C8-9FDB8B59E0F9}"/>
              </a:ext>
            </a:extLst>
          </p:cNvPr>
          <p:cNvSpPr>
            <a:spLocks xmlns:a="http://schemas.openxmlformats.org/drawingml/2006/main" noGrp="1"/>
          </p:cNvSpPr>
          <p:nvPr/>
        </p:nvSpPr>
        <p:spPr>
          <a:xfrm xmlns:a="http://schemas.openxmlformats.org/drawingml/2006/main">
            <a:off x="502920" y="384048"/>
            <a:ext cx="2096719"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9D3B7C9A-1128-4442-8E0C-6A57D81D9FBD}"/>
              </a:ext>
            </a:extLst>
          </p:cNvPr>
          <p:cNvSpPr>
            <a:spLocks xmlns:a="http://schemas.openxmlformats.org/drawingml/2006/main" noGrp="1"/>
          </p:cNvSpPr>
          <p:nvPr/>
        </p:nvSpPr>
        <p:spPr>
          <a:xfrm xmlns:a="http://schemas.openxmlformats.org/drawingml/2006/main">
            <a:off x="502920" y="384048"/>
            <a:ext cx="209671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3 · THE PAYOFF</a:t>
            </a:r>
            <a:endParaRPr sz="1050"/>
          </a:p>
        </p:txBody>
      </p:sp>
      <p:sp>
        <p:nvSpPr>
          <p:cNvPr id="6" name="Text 4">
            <a:extLst xmlns:a="http://schemas.openxmlformats.org/drawingml/2006/main">
              <a:ext uri="{FF2B5EF4-FFF2-40B4-BE49-F238E27FC236}">
                <a16:creationId xmlns:a16="http://schemas.microsoft.com/office/drawing/2014/main" id="{D627FBFE-30A7-4A88-95E9-D8E0CE11C29C}"/>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Thirteen regions, one honest chart</a:t>
            </a:r>
            <a:endParaRPr sz="2800"/>
          </a:p>
        </p:txBody>
      </p:sp>
      <p:sp>
        <p:nvSpPr>
          <p:cNvPr id="7" name="Text 5">
            <a:extLst xmlns:a="http://schemas.openxmlformats.org/drawingml/2006/main">
              <a:ext uri="{FF2B5EF4-FFF2-40B4-BE49-F238E27FC236}">
                <a16:creationId xmlns:a16="http://schemas.microsoft.com/office/drawing/2014/main" id="{2B033DE2-F2DD-4E25-8E55-C9297695E979}"/>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No-show rate with 95% Wilson intervals — which differences survive their error bars?</a:t>
            </a:r>
            <a:endParaRPr sz="1350"/>
          </a:p>
        </p:txBody>
      </p:sp>
      <p:sp>
        <p:nvSpPr>
          <p:cNvPr id="8" name="Shape 6">
            <a:extLst xmlns:a="http://schemas.openxmlformats.org/drawingml/2006/main">
              <a:ext uri="{FF2B5EF4-FFF2-40B4-BE49-F238E27FC236}">
                <a16:creationId xmlns:a16="http://schemas.microsoft.com/office/drawing/2014/main" id="{FD8983A5-3CD8-4225-BF1F-2169A74E7C4F}"/>
              </a:ext>
            </a:extLst>
          </p:cNvPr>
          <p:cNvSpPr>
            <a:spLocks xmlns:a="http://schemas.openxmlformats.org/drawingml/2006/main" noGrp="1"/>
          </p:cNvSpPr>
          <p:nvPr/>
        </p:nvSpPr>
        <p:spPr>
          <a:xfrm xmlns:a="http://schemas.openxmlformats.org/drawingml/2006/main">
            <a:off x="3691890" y="1837944"/>
            <a:ext cx="0" cy="4321454"/>
          </a:xfrm>
          <a:prstGeom xmlns:a="http://schemas.openxmlformats.org/drawingml/2006/main" prst="line">
            <a:avLst/>
          </a:prstGeom>
          <a:noFill xmlns:a="http://schemas.openxmlformats.org/drawingml/2006/main"/>
          <a:ln xmlns:a="http://schemas.openxmlformats.org/drawingml/2006/main" w="9525">
            <a:solidFill>
              <a:srgbClr val="E4ECEE"/>
            </a:solidFill>
            <a:prstDash val="solid"/>
          </a:ln>
        </p:spPr>
      </p:sp>
      <p:sp>
        <p:nvSpPr>
          <p:cNvPr id="9" name="Text 7">
            <a:extLst xmlns:a="http://schemas.openxmlformats.org/drawingml/2006/main">
              <a:ext uri="{FF2B5EF4-FFF2-40B4-BE49-F238E27FC236}">
                <a16:creationId xmlns:a16="http://schemas.microsoft.com/office/drawing/2014/main" id="{F9B52936-E412-4A2F-B13B-57C3EC24EDD1}"/>
              </a:ext>
            </a:extLst>
          </p:cNvPr>
          <p:cNvSpPr>
            <a:spLocks xmlns:a="http://schemas.openxmlformats.org/drawingml/2006/main" noGrp="1"/>
          </p:cNvSpPr>
          <p:nvPr/>
        </p:nvSpPr>
        <p:spPr>
          <a:xfrm xmlns:a="http://schemas.openxmlformats.org/drawingml/2006/main">
            <a:off x="3326130" y="6159398"/>
            <a:ext cx="7315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5B6B75"/>
                </a:solidFill>
                <a:latin typeface="Calibri"/>
                <a:ea typeface="Calibri"/>
                <a:cs typeface="Calibri"/>
              </a:rPr>
              <a:t>12%</a:t>
            </a:r>
            <a:endParaRPr sz="900"/>
          </a:p>
        </p:txBody>
      </p:sp>
      <p:sp>
        <p:nvSpPr>
          <p:cNvPr id="10" name="Shape 8">
            <a:extLst xmlns:a="http://schemas.openxmlformats.org/drawingml/2006/main">
              <a:ext uri="{FF2B5EF4-FFF2-40B4-BE49-F238E27FC236}">
                <a16:creationId xmlns:a16="http://schemas.microsoft.com/office/drawing/2014/main" id="{84933CF9-1DC9-423D-B72F-DBCB7CBA86BF}"/>
              </a:ext>
            </a:extLst>
          </p:cNvPr>
          <p:cNvSpPr>
            <a:spLocks xmlns:a="http://schemas.openxmlformats.org/drawingml/2006/main" noGrp="1"/>
          </p:cNvSpPr>
          <p:nvPr/>
        </p:nvSpPr>
        <p:spPr>
          <a:xfrm xmlns:a="http://schemas.openxmlformats.org/drawingml/2006/main">
            <a:off x="5406390" y="1837944"/>
            <a:ext cx="0" cy="4321454"/>
          </a:xfrm>
          <a:prstGeom xmlns:a="http://schemas.openxmlformats.org/drawingml/2006/main" prst="line">
            <a:avLst/>
          </a:prstGeom>
          <a:noFill xmlns:a="http://schemas.openxmlformats.org/drawingml/2006/main"/>
          <a:ln xmlns:a="http://schemas.openxmlformats.org/drawingml/2006/main" w="9525">
            <a:solidFill>
              <a:srgbClr val="E4ECEE"/>
            </a:solidFill>
            <a:prstDash val="solid"/>
          </a:ln>
        </p:spPr>
      </p:sp>
      <p:sp>
        <p:nvSpPr>
          <p:cNvPr id="11" name="Text 9">
            <a:extLst xmlns:a="http://schemas.openxmlformats.org/drawingml/2006/main">
              <a:ext uri="{FF2B5EF4-FFF2-40B4-BE49-F238E27FC236}">
                <a16:creationId xmlns:a16="http://schemas.microsoft.com/office/drawing/2014/main" id="{5ECDC4B4-19ED-4922-95FA-212C8FDC0FBF}"/>
              </a:ext>
            </a:extLst>
          </p:cNvPr>
          <p:cNvSpPr>
            <a:spLocks xmlns:a="http://schemas.openxmlformats.org/drawingml/2006/main" noGrp="1"/>
          </p:cNvSpPr>
          <p:nvPr/>
        </p:nvSpPr>
        <p:spPr>
          <a:xfrm xmlns:a="http://schemas.openxmlformats.org/drawingml/2006/main">
            <a:off x="5040630" y="6159398"/>
            <a:ext cx="7315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5B6B75"/>
                </a:solidFill>
                <a:latin typeface="Calibri"/>
                <a:ea typeface="Calibri"/>
                <a:cs typeface="Calibri"/>
              </a:rPr>
              <a:t>16%</a:t>
            </a:r>
            <a:endParaRPr sz="900"/>
          </a:p>
        </p:txBody>
      </p:sp>
      <p:sp>
        <p:nvSpPr>
          <p:cNvPr id="12" name="Shape 10">
            <a:extLst xmlns:a="http://schemas.openxmlformats.org/drawingml/2006/main">
              <a:ext uri="{FF2B5EF4-FFF2-40B4-BE49-F238E27FC236}">
                <a16:creationId xmlns:a16="http://schemas.microsoft.com/office/drawing/2014/main" id="{3D325420-3250-4B78-A117-9BF941F647BA}"/>
              </a:ext>
            </a:extLst>
          </p:cNvPr>
          <p:cNvSpPr>
            <a:spLocks xmlns:a="http://schemas.openxmlformats.org/drawingml/2006/main" noGrp="1"/>
          </p:cNvSpPr>
          <p:nvPr/>
        </p:nvSpPr>
        <p:spPr>
          <a:xfrm xmlns:a="http://schemas.openxmlformats.org/drawingml/2006/main">
            <a:off x="7120890" y="1837944"/>
            <a:ext cx="0" cy="4321454"/>
          </a:xfrm>
          <a:prstGeom xmlns:a="http://schemas.openxmlformats.org/drawingml/2006/main" prst="line">
            <a:avLst/>
          </a:prstGeom>
          <a:noFill xmlns:a="http://schemas.openxmlformats.org/drawingml/2006/main"/>
          <a:ln xmlns:a="http://schemas.openxmlformats.org/drawingml/2006/main" w="9525">
            <a:solidFill>
              <a:srgbClr val="E4ECEE"/>
            </a:solidFill>
            <a:prstDash val="solid"/>
          </a:ln>
        </p:spPr>
      </p:sp>
      <p:sp>
        <p:nvSpPr>
          <p:cNvPr id="13" name="Text 11">
            <a:extLst xmlns:a="http://schemas.openxmlformats.org/drawingml/2006/main">
              <a:ext uri="{FF2B5EF4-FFF2-40B4-BE49-F238E27FC236}">
                <a16:creationId xmlns:a16="http://schemas.microsoft.com/office/drawing/2014/main" id="{491905EB-D594-483C-B4F1-16571CF64D4F}"/>
              </a:ext>
            </a:extLst>
          </p:cNvPr>
          <p:cNvSpPr>
            <a:spLocks xmlns:a="http://schemas.openxmlformats.org/drawingml/2006/main" noGrp="1"/>
          </p:cNvSpPr>
          <p:nvPr/>
        </p:nvSpPr>
        <p:spPr>
          <a:xfrm xmlns:a="http://schemas.openxmlformats.org/drawingml/2006/main">
            <a:off x="6755130" y="6159398"/>
            <a:ext cx="7315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5B6B75"/>
                </a:solidFill>
                <a:latin typeface="Calibri"/>
                <a:ea typeface="Calibri"/>
                <a:cs typeface="Calibri"/>
              </a:rPr>
              <a:t>20%</a:t>
            </a:r>
            <a:endParaRPr sz="900"/>
          </a:p>
        </p:txBody>
      </p:sp>
      <p:sp>
        <p:nvSpPr>
          <p:cNvPr id="14" name="Shape 12">
            <a:extLst xmlns:a="http://schemas.openxmlformats.org/drawingml/2006/main">
              <a:ext uri="{FF2B5EF4-FFF2-40B4-BE49-F238E27FC236}">
                <a16:creationId xmlns:a16="http://schemas.microsoft.com/office/drawing/2014/main" id="{BF056932-4584-485C-ABC5-0622FEA35276}"/>
              </a:ext>
            </a:extLst>
          </p:cNvPr>
          <p:cNvSpPr>
            <a:spLocks xmlns:a="http://schemas.openxmlformats.org/drawingml/2006/main" noGrp="1"/>
          </p:cNvSpPr>
          <p:nvPr/>
        </p:nvSpPr>
        <p:spPr>
          <a:xfrm xmlns:a="http://schemas.openxmlformats.org/drawingml/2006/main">
            <a:off x="8835390" y="1837944"/>
            <a:ext cx="0" cy="4321454"/>
          </a:xfrm>
          <a:prstGeom xmlns:a="http://schemas.openxmlformats.org/drawingml/2006/main" prst="line">
            <a:avLst/>
          </a:prstGeom>
          <a:noFill xmlns:a="http://schemas.openxmlformats.org/drawingml/2006/main"/>
          <a:ln xmlns:a="http://schemas.openxmlformats.org/drawingml/2006/main" w="9525">
            <a:solidFill>
              <a:srgbClr val="E4ECEE"/>
            </a:solidFill>
            <a:prstDash val="solid"/>
          </a:ln>
        </p:spPr>
      </p:sp>
      <p:sp>
        <p:nvSpPr>
          <p:cNvPr id="15" name="Text 13">
            <a:extLst xmlns:a="http://schemas.openxmlformats.org/drawingml/2006/main">
              <a:ext uri="{FF2B5EF4-FFF2-40B4-BE49-F238E27FC236}">
                <a16:creationId xmlns:a16="http://schemas.microsoft.com/office/drawing/2014/main" id="{3714F8FD-569B-4344-884C-4087AF5DC7F0}"/>
              </a:ext>
            </a:extLst>
          </p:cNvPr>
          <p:cNvSpPr>
            <a:spLocks xmlns:a="http://schemas.openxmlformats.org/drawingml/2006/main" noGrp="1"/>
          </p:cNvSpPr>
          <p:nvPr/>
        </p:nvSpPr>
        <p:spPr>
          <a:xfrm xmlns:a="http://schemas.openxmlformats.org/drawingml/2006/main">
            <a:off x="8469630" y="6159398"/>
            <a:ext cx="7315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5B6B75"/>
                </a:solidFill>
                <a:latin typeface="Calibri"/>
                <a:ea typeface="Calibri"/>
                <a:cs typeface="Calibri"/>
              </a:rPr>
              <a:t>24%</a:t>
            </a:r>
            <a:endParaRPr sz="900"/>
          </a:p>
        </p:txBody>
      </p:sp>
      <p:sp>
        <p:nvSpPr>
          <p:cNvPr id="16" name="Shape 14">
            <a:extLst xmlns:a="http://schemas.openxmlformats.org/drawingml/2006/main">
              <a:ext uri="{FF2B5EF4-FFF2-40B4-BE49-F238E27FC236}">
                <a16:creationId xmlns:a16="http://schemas.microsoft.com/office/drawing/2014/main" id="{C34C7F6A-49AD-45AE-9554-F33C9CFF7953}"/>
              </a:ext>
            </a:extLst>
          </p:cNvPr>
          <p:cNvSpPr>
            <a:spLocks xmlns:a="http://schemas.openxmlformats.org/drawingml/2006/main" noGrp="1"/>
          </p:cNvSpPr>
          <p:nvPr/>
        </p:nvSpPr>
        <p:spPr>
          <a:xfrm xmlns:a="http://schemas.openxmlformats.org/drawingml/2006/main">
            <a:off x="6392228" y="1837944"/>
            <a:ext cx="0" cy="4321454"/>
          </a:xfrm>
          <a:prstGeom xmlns:a="http://schemas.openxmlformats.org/drawingml/2006/main" prst="line">
            <a:avLst/>
          </a:prstGeom>
          <a:noFill xmlns:a="http://schemas.openxmlformats.org/drawingml/2006/main"/>
          <a:ln xmlns:a="http://schemas.openxmlformats.org/drawingml/2006/main" w="19050">
            <a:solidFill>
              <a:srgbClr val="0B3140"/>
            </a:solidFill>
            <a:prstDash val="dash"/>
          </a:ln>
        </p:spPr>
      </p:sp>
      <p:sp>
        <p:nvSpPr>
          <p:cNvPr id="17" name="Text 15">
            <a:extLst xmlns:a="http://schemas.openxmlformats.org/drawingml/2006/main">
              <a:ext uri="{FF2B5EF4-FFF2-40B4-BE49-F238E27FC236}">
                <a16:creationId xmlns:a16="http://schemas.microsoft.com/office/drawing/2014/main" id="{FB8D60E4-7C4C-4C0A-9BA7-89C75EBD0B9B}"/>
              </a:ext>
            </a:extLst>
          </p:cNvPr>
          <p:cNvSpPr>
            <a:spLocks xmlns:a="http://schemas.openxmlformats.org/drawingml/2006/main" noGrp="1"/>
          </p:cNvSpPr>
          <p:nvPr/>
        </p:nvSpPr>
        <p:spPr>
          <a:xfrm xmlns:a="http://schemas.openxmlformats.org/drawingml/2006/main">
            <a:off x="5706428" y="1536192"/>
            <a:ext cx="1371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0B3140"/>
                </a:solidFill>
                <a:latin typeface="Calibri"/>
                <a:ea typeface="Calibri"/>
                <a:cs typeface="Calibri"/>
              </a:rPr>
              <a:t>national 18.3%</a:t>
            </a:r>
            <a:endParaRPr sz="950"/>
          </a:p>
        </p:txBody>
      </p:sp>
      <p:sp>
        <p:nvSpPr>
          <p:cNvPr id="18" name="Text 16">
            <a:extLst xmlns:a="http://schemas.openxmlformats.org/drawingml/2006/main">
              <a:ext uri="{FF2B5EF4-FFF2-40B4-BE49-F238E27FC236}">
                <a16:creationId xmlns:a16="http://schemas.microsoft.com/office/drawing/2014/main" id="{08C0731C-AB1D-478C-9E09-7C84973C3004}"/>
              </a:ext>
            </a:extLst>
          </p:cNvPr>
          <p:cNvSpPr>
            <a:spLocks xmlns:a="http://schemas.openxmlformats.org/drawingml/2006/main" noGrp="1"/>
          </p:cNvSpPr>
          <p:nvPr/>
        </p:nvSpPr>
        <p:spPr>
          <a:xfrm xmlns:a="http://schemas.openxmlformats.org/drawingml/2006/main">
            <a:off x="502920" y="1847088"/>
            <a:ext cx="2194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b="1">
                <a:solidFill>
                  <a:srgbClr val="B4232A"/>
                </a:solidFill>
                <a:latin typeface="Calibri"/>
                <a:ea typeface="Calibri"/>
                <a:cs typeface="Calibri"/>
              </a:rPr>
              <a:t>Makkah</a:t>
            </a:r>
            <a:endParaRPr sz="1000"/>
          </a:p>
        </p:txBody>
      </p:sp>
      <p:sp>
        <p:nvSpPr>
          <p:cNvPr id="19" name="Shape 17">
            <a:extLst xmlns:a="http://schemas.openxmlformats.org/drawingml/2006/main">
              <a:ext uri="{FF2B5EF4-FFF2-40B4-BE49-F238E27FC236}">
                <a16:creationId xmlns:a16="http://schemas.microsoft.com/office/drawing/2014/main" id="{AE5CE5F9-E441-4C4C-959C-A312081EDA34}"/>
              </a:ext>
            </a:extLst>
          </p:cNvPr>
          <p:cNvSpPr>
            <a:spLocks xmlns:a="http://schemas.openxmlformats.org/drawingml/2006/main" noGrp="1"/>
          </p:cNvSpPr>
          <p:nvPr/>
        </p:nvSpPr>
        <p:spPr>
          <a:xfrm xmlns:a="http://schemas.openxmlformats.org/drawingml/2006/main">
            <a:off x="7120890" y="1984248"/>
            <a:ext cx="685800" cy="0"/>
          </a:xfrm>
          <a:prstGeom xmlns:a="http://schemas.openxmlformats.org/drawingml/2006/main" prst="line">
            <a:avLst/>
          </a:prstGeom>
          <a:noFill xmlns:a="http://schemas.openxmlformats.org/drawingml/2006/main"/>
          <a:ln xmlns:a="http://schemas.openxmlformats.org/drawingml/2006/main" w="28575">
            <a:solidFill>
              <a:srgbClr val="B4232A"/>
            </a:solidFill>
            <a:prstDash val="solid"/>
          </a:ln>
        </p:spPr>
      </p:sp>
      <p:sp>
        <p:nvSpPr>
          <p:cNvPr id="20" name="Shape 18">
            <a:extLst xmlns:a="http://schemas.openxmlformats.org/drawingml/2006/main">
              <a:ext uri="{FF2B5EF4-FFF2-40B4-BE49-F238E27FC236}">
                <a16:creationId xmlns:a16="http://schemas.microsoft.com/office/drawing/2014/main" id="{873CDADD-C7E8-4FA9-9BF5-7881337064F1}"/>
              </a:ext>
            </a:extLst>
          </p:cNvPr>
          <p:cNvSpPr>
            <a:spLocks xmlns:a="http://schemas.openxmlformats.org/drawingml/2006/main" noGrp="1"/>
          </p:cNvSpPr>
          <p:nvPr/>
        </p:nvSpPr>
        <p:spPr>
          <a:xfrm xmlns:a="http://schemas.openxmlformats.org/drawingml/2006/main">
            <a:off x="7120890" y="1920240"/>
            <a:ext cx="0" cy="128016"/>
          </a:xfrm>
          <a:prstGeom xmlns:a="http://schemas.openxmlformats.org/drawingml/2006/main" prst="line">
            <a:avLst/>
          </a:prstGeom>
          <a:noFill xmlns:a="http://schemas.openxmlformats.org/drawingml/2006/main"/>
          <a:ln xmlns:a="http://schemas.openxmlformats.org/drawingml/2006/main" w="25400">
            <a:solidFill>
              <a:srgbClr val="B4232A"/>
            </a:solidFill>
            <a:prstDash val="solid"/>
          </a:ln>
        </p:spPr>
      </p:sp>
      <p:sp>
        <p:nvSpPr>
          <p:cNvPr id="21" name="Shape 19">
            <a:extLst xmlns:a="http://schemas.openxmlformats.org/drawingml/2006/main">
              <a:ext uri="{FF2B5EF4-FFF2-40B4-BE49-F238E27FC236}">
                <a16:creationId xmlns:a16="http://schemas.microsoft.com/office/drawing/2014/main" id="{8F2C7A4E-C282-45D1-97F3-6372274D3609}"/>
              </a:ext>
            </a:extLst>
          </p:cNvPr>
          <p:cNvSpPr>
            <a:spLocks xmlns:a="http://schemas.openxmlformats.org/drawingml/2006/main" noGrp="1"/>
          </p:cNvSpPr>
          <p:nvPr/>
        </p:nvSpPr>
        <p:spPr>
          <a:xfrm xmlns:a="http://schemas.openxmlformats.org/drawingml/2006/main">
            <a:off x="7806690" y="1920240"/>
            <a:ext cx="0" cy="128016"/>
          </a:xfrm>
          <a:prstGeom xmlns:a="http://schemas.openxmlformats.org/drawingml/2006/main" prst="line">
            <a:avLst/>
          </a:prstGeom>
          <a:noFill xmlns:a="http://schemas.openxmlformats.org/drawingml/2006/main"/>
          <a:ln xmlns:a="http://schemas.openxmlformats.org/drawingml/2006/main" w="25400">
            <a:solidFill>
              <a:srgbClr val="B4232A"/>
            </a:solidFill>
            <a:prstDash val="solid"/>
          </a:ln>
        </p:spPr>
      </p:sp>
      <p:sp>
        <p:nvSpPr>
          <p:cNvPr id="22" name="Shape 20">
            <a:extLst xmlns:a="http://schemas.openxmlformats.org/drawingml/2006/main">
              <a:ext uri="{FF2B5EF4-FFF2-40B4-BE49-F238E27FC236}">
                <a16:creationId xmlns:a16="http://schemas.microsoft.com/office/drawing/2014/main" id="{D24BBD76-8AFB-403A-9B8E-CECA1106F617}"/>
              </a:ext>
            </a:extLst>
          </p:cNvPr>
          <p:cNvSpPr>
            <a:spLocks xmlns:a="http://schemas.openxmlformats.org/drawingml/2006/main" noGrp="1"/>
          </p:cNvSpPr>
          <p:nvPr/>
        </p:nvSpPr>
        <p:spPr>
          <a:xfrm xmlns:a="http://schemas.openxmlformats.org/drawingml/2006/main">
            <a:off x="7413498" y="1933956"/>
            <a:ext cx="100584" cy="100584"/>
          </a:xfrm>
          <a:prstGeom xmlns:a="http://schemas.openxmlformats.org/drawingml/2006/main" prst="ellipse">
            <a:avLst/>
          </a:prstGeom>
          <a:solidFill xmlns:a="http://schemas.openxmlformats.org/drawingml/2006/main">
            <a:srgbClr val="B4232A"/>
          </a:solidFill>
          <a:ln xmlns:a="http://schemas.openxmlformats.org/drawingml/2006/main" w="9525">
            <a:solidFill>
              <a:srgbClr val="FFFFFF"/>
            </a:solidFill>
            <a:prstDash val="solid"/>
          </a:ln>
        </p:spPr>
      </p:sp>
      <p:sp>
        <p:nvSpPr>
          <p:cNvPr id="23" name="Text 21">
            <a:extLst xmlns:a="http://schemas.openxmlformats.org/drawingml/2006/main">
              <a:ext uri="{FF2B5EF4-FFF2-40B4-BE49-F238E27FC236}">
                <a16:creationId xmlns:a16="http://schemas.microsoft.com/office/drawing/2014/main" id="{2A9DA3F2-9043-430B-8C65-087945D0239A}"/>
              </a:ext>
            </a:extLst>
          </p:cNvPr>
          <p:cNvSpPr>
            <a:spLocks xmlns:a="http://schemas.openxmlformats.org/drawingml/2006/main" noGrp="1"/>
          </p:cNvSpPr>
          <p:nvPr/>
        </p:nvSpPr>
        <p:spPr>
          <a:xfrm xmlns:a="http://schemas.openxmlformats.org/drawingml/2006/main">
            <a:off x="9802368" y="1847088"/>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5B6B75"/>
                </a:solidFill>
                <a:latin typeface="Calibri"/>
                <a:ea typeface="Calibri"/>
                <a:cs typeface="Calibri"/>
              </a:rPr>
              <a:t>n=11,066</a:t>
            </a:r>
            <a:endParaRPr sz="850"/>
          </a:p>
        </p:txBody>
      </p:sp>
      <p:sp>
        <p:nvSpPr>
          <p:cNvPr id="24" name="Text 22">
            <a:extLst xmlns:a="http://schemas.openxmlformats.org/drawingml/2006/main">
              <a:ext uri="{FF2B5EF4-FFF2-40B4-BE49-F238E27FC236}">
                <a16:creationId xmlns:a16="http://schemas.microsoft.com/office/drawing/2014/main" id="{80987CC5-4A86-46F9-AB87-F5E0EBF88FE2}"/>
              </a:ext>
            </a:extLst>
          </p:cNvPr>
          <p:cNvSpPr>
            <a:spLocks xmlns:a="http://schemas.openxmlformats.org/drawingml/2006/main" noGrp="1"/>
          </p:cNvSpPr>
          <p:nvPr/>
        </p:nvSpPr>
        <p:spPr>
          <a:xfrm xmlns:a="http://schemas.openxmlformats.org/drawingml/2006/main">
            <a:off x="502920" y="2168957"/>
            <a:ext cx="2194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24313A"/>
                </a:solidFill>
                <a:latin typeface="Calibri"/>
                <a:ea typeface="Calibri"/>
                <a:cs typeface="Calibri"/>
              </a:rPr>
              <a:t>Northern Borders</a:t>
            </a:r>
            <a:endParaRPr sz="1000"/>
          </a:p>
        </p:txBody>
      </p:sp>
      <p:sp>
        <p:nvSpPr>
          <p:cNvPr id="25" name="Shape 23">
            <a:extLst xmlns:a="http://schemas.openxmlformats.org/drawingml/2006/main">
              <a:ext uri="{FF2B5EF4-FFF2-40B4-BE49-F238E27FC236}">
                <a16:creationId xmlns:a16="http://schemas.microsoft.com/office/drawing/2014/main" id="{C0BEAD76-3A7F-4588-99E7-C1933A343278}"/>
              </a:ext>
            </a:extLst>
          </p:cNvPr>
          <p:cNvSpPr>
            <a:spLocks xmlns:a="http://schemas.openxmlformats.org/drawingml/2006/main" noGrp="1"/>
          </p:cNvSpPr>
          <p:nvPr/>
        </p:nvSpPr>
        <p:spPr>
          <a:xfrm xmlns:a="http://schemas.openxmlformats.org/drawingml/2006/main">
            <a:off x="6006465" y="2306117"/>
            <a:ext cx="2743200" cy="0"/>
          </a:xfrm>
          <a:prstGeom xmlns:a="http://schemas.openxmlformats.org/drawingml/2006/main" prst="line">
            <a:avLst/>
          </a:prstGeom>
          <a:noFill xmlns:a="http://schemas.openxmlformats.org/drawingml/2006/main"/>
          <a:ln xmlns:a="http://schemas.openxmlformats.org/drawingml/2006/main" w="28575">
            <a:solidFill>
              <a:srgbClr val="0E7C86"/>
            </a:solidFill>
            <a:prstDash val="solid"/>
          </a:ln>
        </p:spPr>
      </p:sp>
      <p:sp>
        <p:nvSpPr>
          <p:cNvPr id="26" name="Shape 24">
            <a:extLst xmlns:a="http://schemas.openxmlformats.org/drawingml/2006/main">
              <a:ext uri="{FF2B5EF4-FFF2-40B4-BE49-F238E27FC236}">
                <a16:creationId xmlns:a16="http://schemas.microsoft.com/office/drawing/2014/main" id="{13289BD5-2738-4608-A446-78BA7330A3A2}"/>
              </a:ext>
            </a:extLst>
          </p:cNvPr>
          <p:cNvSpPr>
            <a:spLocks xmlns:a="http://schemas.openxmlformats.org/drawingml/2006/main" noGrp="1"/>
          </p:cNvSpPr>
          <p:nvPr/>
        </p:nvSpPr>
        <p:spPr>
          <a:xfrm xmlns:a="http://schemas.openxmlformats.org/drawingml/2006/main">
            <a:off x="6006465" y="2242109"/>
            <a:ext cx="0" cy="128016"/>
          </a:xfrm>
          <a:prstGeom xmlns:a="http://schemas.openxmlformats.org/drawingml/2006/main" prst="line">
            <a:avLst/>
          </a:prstGeom>
          <a:noFill xmlns:a="http://schemas.openxmlformats.org/drawingml/2006/main"/>
          <a:ln xmlns:a="http://schemas.openxmlformats.org/drawingml/2006/main" w="25400">
            <a:solidFill>
              <a:srgbClr val="0E7C86"/>
            </a:solidFill>
            <a:prstDash val="solid"/>
          </a:ln>
        </p:spPr>
      </p:sp>
      <p:sp>
        <p:nvSpPr>
          <p:cNvPr id="27" name="Shape 25">
            <a:extLst xmlns:a="http://schemas.openxmlformats.org/drawingml/2006/main">
              <a:ext uri="{FF2B5EF4-FFF2-40B4-BE49-F238E27FC236}">
                <a16:creationId xmlns:a16="http://schemas.microsoft.com/office/drawing/2014/main" id="{F5006567-343E-4D71-AB92-28F97A7F6AAF}"/>
              </a:ext>
            </a:extLst>
          </p:cNvPr>
          <p:cNvSpPr>
            <a:spLocks xmlns:a="http://schemas.openxmlformats.org/drawingml/2006/main" noGrp="1"/>
          </p:cNvSpPr>
          <p:nvPr/>
        </p:nvSpPr>
        <p:spPr>
          <a:xfrm xmlns:a="http://schemas.openxmlformats.org/drawingml/2006/main">
            <a:off x="8749665" y="2242109"/>
            <a:ext cx="0" cy="128016"/>
          </a:xfrm>
          <a:prstGeom xmlns:a="http://schemas.openxmlformats.org/drawingml/2006/main" prst="line">
            <a:avLst/>
          </a:prstGeom>
          <a:noFill xmlns:a="http://schemas.openxmlformats.org/drawingml/2006/main"/>
          <a:ln xmlns:a="http://schemas.openxmlformats.org/drawingml/2006/main" w="25400">
            <a:solidFill>
              <a:srgbClr val="0E7C86"/>
            </a:solidFill>
            <a:prstDash val="solid"/>
          </a:ln>
        </p:spPr>
      </p:sp>
      <p:sp>
        <p:nvSpPr>
          <p:cNvPr id="28" name="Shape 26">
            <a:extLst xmlns:a="http://schemas.openxmlformats.org/drawingml/2006/main">
              <a:ext uri="{FF2B5EF4-FFF2-40B4-BE49-F238E27FC236}">
                <a16:creationId xmlns:a16="http://schemas.microsoft.com/office/drawing/2014/main" id="{146C37E9-00B6-4566-8139-6A8D9DD4C858}"/>
              </a:ext>
            </a:extLst>
          </p:cNvPr>
          <p:cNvSpPr>
            <a:spLocks xmlns:a="http://schemas.openxmlformats.org/drawingml/2006/main" noGrp="1"/>
          </p:cNvSpPr>
          <p:nvPr/>
        </p:nvSpPr>
        <p:spPr>
          <a:xfrm xmlns:a="http://schemas.openxmlformats.org/drawingml/2006/main">
            <a:off x="7242048" y="2255825"/>
            <a:ext cx="100584" cy="100584"/>
          </a:xfrm>
          <a:prstGeom xmlns:a="http://schemas.openxmlformats.org/drawingml/2006/main" prst="ellipse">
            <a:avLst/>
          </a:prstGeom>
          <a:solidFill xmlns:a="http://schemas.openxmlformats.org/drawingml/2006/main">
            <a:srgbClr val="0E7C86"/>
          </a:solidFill>
          <a:ln xmlns:a="http://schemas.openxmlformats.org/drawingml/2006/main" w="9525">
            <a:solidFill>
              <a:srgbClr val="FFFFFF"/>
            </a:solidFill>
            <a:prstDash val="solid"/>
          </a:ln>
        </p:spPr>
      </p:sp>
      <p:sp>
        <p:nvSpPr>
          <p:cNvPr id="29" name="Text 27">
            <a:extLst xmlns:a="http://schemas.openxmlformats.org/drawingml/2006/main">
              <a:ext uri="{FF2B5EF4-FFF2-40B4-BE49-F238E27FC236}">
                <a16:creationId xmlns:a16="http://schemas.microsoft.com/office/drawing/2014/main" id="{739BFBC8-0C3B-48DD-B51D-B36A947D8608}"/>
              </a:ext>
            </a:extLst>
          </p:cNvPr>
          <p:cNvSpPr>
            <a:spLocks xmlns:a="http://schemas.openxmlformats.org/drawingml/2006/main" noGrp="1"/>
          </p:cNvSpPr>
          <p:nvPr/>
        </p:nvSpPr>
        <p:spPr>
          <a:xfrm xmlns:a="http://schemas.openxmlformats.org/drawingml/2006/main">
            <a:off x="9802368" y="2168957"/>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5B6B75"/>
                </a:solidFill>
                <a:latin typeface="Calibri"/>
                <a:ea typeface="Calibri"/>
                <a:cs typeface="Calibri"/>
              </a:rPr>
              <a:t>n=598</a:t>
            </a:r>
            <a:endParaRPr sz="850"/>
          </a:p>
        </p:txBody>
      </p:sp>
      <p:sp>
        <p:nvSpPr>
          <p:cNvPr id="30" name="Text 28">
            <a:extLst xmlns:a="http://schemas.openxmlformats.org/drawingml/2006/main">
              <a:ext uri="{FF2B5EF4-FFF2-40B4-BE49-F238E27FC236}">
                <a16:creationId xmlns:a16="http://schemas.microsoft.com/office/drawing/2014/main" id="{5453607B-28A5-44ED-A59F-A4D83365C64C}"/>
              </a:ext>
            </a:extLst>
          </p:cNvPr>
          <p:cNvSpPr>
            <a:spLocks xmlns:a="http://schemas.openxmlformats.org/drawingml/2006/main" noGrp="1"/>
          </p:cNvSpPr>
          <p:nvPr/>
        </p:nvSpPr>
        <p:spPr>
          <a:xfrm xmlns:a="http://schemas.openxmlformats.org/drawingml/2006/main">
            <a:off x="502920" y="2490826"/>
            <a:ext cx="2194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24313A"/>
                </a:solidFill>
                <a:latin typeface="Calibri"/>
                <a:ea typeface="Calibri"/>
                <a:cs typeface="Calibri"/>
              </a:rPr>
              <a:t>Hail</a:t>
            </a:r>
            <a:endParaRPr sz="1000"/>
          </a:p>
        </p:txBody>
      </p:sp>
      <p:sp>
        <p:nvSpPr>
          <p:cNvPr id="31" name="Shape 29">
            <a:extLst xmlns:a="http://schemas.openxmlformats.org/drawingml/2006/main">
              <a:ext uri="{FF2B5EF4-FFF2-40B4-BE49-F238E27FC236}">
                <a16:creationId xmlns:a16="http://schemas.microsoft.com/office/drawing/2014/main" id="{62B9C673-7278-4CA2-B7D3-B0B1ACE91454}"/>
              </a:ext>
            </a:extLst>
          </p:cNvPr>
          <p:cNvSpPr>
            <a:spLocks xmlns:a="http://schemas.openxmlformats.org/drawingml/2006/main" noGrp="1"/>
          </p:cNvSpPr>
          <p:nvPr/>
        </p:nvSpPr>
        <p:spPr>
          <a:xfrm xmlns:a="http://schemas.openxmlformats.org/drawingml/2006/main">
            <a:off x="5963603" y="2627986"/>
            <a:ext cx="1885950" cy="0"/>
          </a:xfrm>
          <a:prstGeom xmlns:a="http://schemas.openxmlformats.org/drawingml/2006/main" prst="line">
            <a:avLst/>
          </a:prstGeom>
          <a:noFill xmlns:a="http://schemas.openxmlformats.org/drawingml/2006/main"/>
          <a:ln xmlns:a="http://schemas.openxmlformats.org/drawingml/2006/main" w="28575">
            <a:solidFill>
              <a:srgbClr val="0E7C86"/>
            </a:solidFill>
            <a:prstDash val="solid"/>
          </a:ln>
        </p:spPr>
      </p:sp>
      <p:sp>
        <p:nvSpPr>
          <p:cNvPr id="32" name="Shape 30">
            <a:extLst xmlns:a="http://schemas.openxmlformats.org/drawingml/2006/main">
              <a:ext uri="{FF2B5EF4-FFF2-40B4-BE49-F238E27FC236}">
                <a16:creationId xmlns:a16="http://schemas.microsoft.com/office/drawing/2014/main" id="{F7C72768-26DE-4FAD-9989-AC2179C6C941}"/>
              </a:ext>
            </a:extLst>
          </p:cNvPr>
          <p:cNvSpPr>
            <a:spLocks xmlns:a="http://schemas.openxmlformats.org/drawingml/2006/main" noGrp="1"/>
          </p:cNvSpPr>
          <p:nvPr/>
        </p:nvSpPr>
        <p:spPr>
          <a:xfrm xmlns:a="http://schemas.openxmlformats.org/drawingml/2006/main">
            <a:off x="5963603" y="2563978"/>
            <a:ext cx="0" cy="128016"/>
          </a:xfrm>
          <a:prstGeom xmlns:a="http://schemas.openxmlformats.org/drawingml/2006/main" prst="line">
            <a:avLst/>
          </a:prstGeom>
          <a:noFill xmlns:a="http://schemas.openxmlformats.org/drawingml/2006/main"/>
          <a:ln xmlns:a="http://schemas.openxmlformats.org/drawingml/2006/main" w="25400">
            <a:solidFill>
              <a:srgbClr val="0E7C86"/>
            </a:solidFill>
            <a:prstDash val="solid"/>
          </a:ln>
        </p:spPr>
      </p:sp>
      <p:sp>
        <p:nvSpPr>
          <p:cNvPr id="33" name="Shape 31">
            <a:extLst xmlns:a="http://schemas.openxmlformats.org/drawingml/2006/main">
              <a:ext uri="{FF2B5EF4-FFF2-40B4-BE49-F238E27FC236}">
                <a16:creationId xmlns:a16="http://schemas.microsoft.com/office/drawing/2014/main" id="{E8163487-A0BD-43EE-BE3E-6AFCB600C4EB}"/>
              </a:ext>
            </a:extLst>
          </p:cNvPr>
          <p:cNvSpPr>
            <a:spLocks xmlns:a="http://schemas.openxmlformats.org/drawingml/2006/main" noGrp="1"/>
          </p:cNvSpPr>
          <p:nvPr/>
        </p:nvSpPr>
        <p:spPr>
          <a:xfrm xmlns:a="http://schemas.openxmlformats.org/drawingml/2006/main">
            <a:off x="7849553" y="2563978"/>
            <a:ext cx="0" cy="128016"/>
          </a:xfrm>
          <a:prstGeom xmlns:a="http://schemas.openxmlformats.org/drawingml/2006/main" prst="line">
            <a:avLst/>
          </a:prstGeom>
          <a:noFill xmlns:a="http://schemas.openxmlformats.org/drawingml/2006/main"/>
          <a:ln xmlns:a="http://schemas.openxmlformats.org/drawingml/2006/main" w="25400">
            <a:solidFill>
              <a:srgbClr val="0E7C86"/>
            </a:solidFill>
            <a:prstDash val="solid"/>
          </a:ln>
        </p:spPr>
      </p:sp>
      <p:sp>
        <p:nvSpPr>
          <p:cNvPr id="34" name="Shape 32">
            <a:extLst xmlns:a="http://schemas.openxmlformats.org/drawingml/2006/main">
              <a:ext uri="{FF2B5EF4-FFF2-40B4-BE49-F238E27FC236}">
                <a16:creationId xmlns:a16="http://schemas.microsoft.com/office/drawing/2014/main" id="{5DD46BFC-CDE8-49D2-81D6-AFDDEE3508AA}"/>
              </a:ext>
            </a:extLst>
          </p:cNvPr>
          <p:cNvSpPr>
            <a:spLocks xmlns:a="http://schemas.openxmlformats.org/drawingml/2006/main" noGrp="1"/>
          </p:cNvSpPr>
          <p:nvPr/>
        </p:nvSpPr>
        <p:spPr>
          <a:xfrm xmlns:a="http://schemas.openxmlformats.org/drawingml/2006/main">
            <a:off x="6813423" y="2577694"/>
            <a:ext cx="100584" cy="100584"/>
          </a:xfrm>
          <a:prstGeom xmlns:a="http://schemas.openxmlformats.org/drawingml/2006/main" prst="ellipse">
            <a:avLst/>
          </a:prstGeom>
          <a:solidFill xmlns:a="http://schemas.openxmlformats.org/drawingml/2006/main">
            <a:srgbClr val="0E7C86"/>
          </a:solidFill>
          <a:ln xmlns:a="http://schemas.openxmlformats.org/drawingml/2006/main" w="9525">
            <a:solidFill>
              <a:srgbClr val="FFFFFF"/>
            </a:solidFill>
            <a:prstDash val="solid"/>
          </a:ln>
        </p:spPr>
      </p:sp>
      <p:sp>
        <p:nvSpPr>
          <p:cNvPr id="35" name="Text 33">
            <a:extLst xmlns:a="http://schemas.openxmlformats.org/drawingml/2006/main">
              <a:ext uri="{FF2B5EF4-FFF2-40B4-BE49-F238E27FC236}">
                <a16:creationId xmlns:a16="http://schemas.microsoft.com/office/drawing/2014/main" id="{CF30A262-023E-4013-A5CF-3ADCE17253BA}"/>
              </a:ext>
            </a:extLst>
          </p:cNvPr>
          <p:cNvSpPr>
            <a:spLocks xmlns:a="http://schemas.openxmlformats.org/drawingml/2006/main" noGrp="1"/>
          </p:cNvSpPr>
          <p:nvPr/>
        </p:nvSpPr>
        <p:spPr>
          <a:xfrm xmlns:a="http://schemas.openxmlformats.org/drawingml/2006/main">
            <a:off x="9802368" y="2490826"/>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5B6B75"/>
                </a:solidFill>
                <a:latin typeface="Calibri"/>
                <a:ea typeface="Calibri"/>
                <a:cs typeface="Calibri"/>
              </a:rPr>
              <a:t>n=1,252</a:t>
            </a:r>
            <a:endParaRPr sz="850"/>
          </a:p>
        </p:txBody>
      </p:sp>
      <p:sp>
        <p:nvSpPr>
          <p:cNvPr id="36" name="Text 34">
            <a:extLst xmlns:a="http://schemas.openxmlformats.org/drawingml/2006/main">
              <a:ext uri="{FF2B5EF4-FFF2-40B4-BE49-F238E27FC236}">
                <a16:creationId xmlns:a16="http://schemas.microsoft.com/office/drawing/2014/main" id="{8A270E92-848A-44E6-82F3-F6D35D048588}"/>
              </a:ext>
            </a:extLst>
          </p:cNvPr>
          <p:cNvSpPr>
            <a:spLocks xmlns:a="http://schemas.openxmlformats.org/drawingml/2006/main" noGrp="1"/>
          </p:cNvSpPr>
          <p:nvPr/>
        </p:nvSpPr>
        <p:spPr>
          <a:xfrm xmlns:a="http://schemas.openxmlformats.org/drawingml/2006/main">
            <a:off x="502920" y="2812694"/>
            <a:ext cx="2194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24313A"/>
                </a:solidFill>
                <a:latin typeface="Calibri"/>
                <a:ea typeface="Calibri"/>
                <a:cs typeface="Calibri"/>
              </a:rPr>
              <a:t>Tabuk</a:t>
            </a:r>
            <a:endParaRPr sz="1000"/>
          </a:p>
        </p:txBody>
      </p:sp>
      <p:sp>
        <p:nvSpPr>
          <p:cNvPr id="37" name="Shape 35">
            <a:extLst xmlns:a="http://schemas.openxmlformats.org/drawingml/2006/main">
              <a:ext uri="{FF2B5EF4-FFF2-40B4-BE49-F238E27FC236}">
                <a16:creationId xmlns:a16="http://schemas.microsoft.com/office/drawing/2014/main" id="{692ACAF1-2769-4059-AA81-7259D6E2DF1B}"/>
              </a:ext>
            </a:extLst>
          </p:cNvPr>
          <p:cNvSpPr>
            <a:spLocks xmlns:a="http://schemas.openxmlformats.org/drawingml/2006/main" noGrp="1"/>
          </p:cNvSpPr>
          <p:nvPr/>
        </p:nvSpPr>
        <p:spPr>
          <a:xfrm xmlns:a="http://schemas.openxmlformats.org/drawingml/2006/main">
            <a:off x="6006465" y="2949854"/>
            <a:ext cx="1628775" cy="0"/>
          </a:xfrm>
          <a:prstGeom xmlns:a="http://schemas.openxmlformats.org/drawingml/2006/main" prst="line">
            <a:avLst/>
          </a:prstGeom>
          <a:noFill xmlns:a="http://schemas.openxmlformats.org/drawingml/2006/main"/>
          <a:ln xmlns:a="http://schemas.openxmlformats.org/drawingml/2006/main" w="28575">
            <a:solidFill>
              <a:srgbClr val="0E7C86"/>
            </a:solidFill>
            <a:prstDash val="solid"/>
          </a:ln>
        </p:spPr>
      </p:sp>
      <p:sp>
        <p:nvSpPr>
          <p:cNvPr id="38" name="Shape 36">
            <a:extLst xmlns:a="http://schemas.openxmlformats.org/drawingml/2006/main">
              <a:ext uri="{FF2B5EF4-FFF2-40B4-BE49-F238E27FC236}">
                <a16:creationId xmlns:a16="http://schemas.microsoft.com/office/drawing/2014/main" id="{A3427FB1-2CA2-4D3C-9776-CE17F2BDDD07}"/>
              </a:ext>
            </a:extLst>
          </p:cNvPr>
          <p:cNvSpPr>
            <a:spLocks xmlns:a="http://schemas.openxmlformats.org/drawingml/2006/main" noGrp="1"/>
          </p:cNvSpPr>
          <p:nvPr/>
        </p:nvSpPr>
        <p:spPr>
          <a:xfrm xmlns:a="http://schemas.openxmlformats.org/drawingml/2006/main">
            <a:off x="6006465" y="2885846"/>
            <a:ext cx="0" cy="128016"/>
          </a:xfrm>
          <a:prstGeom xmlns:a="http://schemas.openxmlformats.org/drawingml/2006/main" prst="line">
            <a:avLst/>
          </a:prstGeom>
          <a:noFill xmlns:a="http://schemas.openxmlformats.org/drawingml/2006/main"/>
          <a:ln xmlns:a="http://schemas.openxmlformats.org/drawingml/2006/main" w="25400">
            <a:solidFill>
              <a:srgbClr val="0E7C86"/>
            </a:solidFill>
            <a:prstDash val="solid"/>
          </a:ln>
        </p:spPr>
      </p:sp>
      <p:sp>
        <p:nvSpPr>
          <p:cNvPr id="39" name="Shape 37">
            <a:extLst xmlns:a="http://schemas.openxmlformats.org/drawingml/2006/main">
              <a:ext uri="{FF2B5EF4-FFF2-40B4-BE49-F238E27FC236}">
                <a16:creationId xmlns:a16="http://schemas.microsoft.com/office/drawing/2014/main" id="{3996580D-25E8-4E27-A5E9-34E21BD81D9B}"/>
              </a:ext>
            </a:extLst>
          </p:cNvPr>
          <p:cNvSpPr>
            <a:spLocks xmlns:a="http://schemas.openxmlformats.org/drawingml/2006/main" noGrp="1"/>
          </p:cNvSpPr>
          <p:nvPr/>
        </p:nvSpPr>
        <p:spPr>
          <a:xfrm xmlns:a="http://schemas.openxmlformats.org/drawingml/2006/main">
            <a:off x="7635240" y="2885846"/>
            <a:ext cx="0" cy="128016"/>
          </a:xfrm>
          <a:prstGeom xmlns:a="http://schemas.openxmlformats.org/drawingml/2006/main" prst="line">
            <a:avLst/>
          </a:prstGeom>
          <a:noFill xmlns:a="http://schemas.openxmlformats.org/drawingml/2006/main"/>
          <a:ln xmlns:a="http://schemas.openxmlformats.org/drawingml/2006/main" w="25400">
            <a:solidFill>
              <a:srgbClr val="0E7C86"/>
            </a:solidFill>
            <a:prstDash val="solid"/>
          </a:ln>
        </p:spPr>
      </p:sp>
      <p:sp>
        <p:nvSpPr>
          <p:cNvPr id="40" name="Shape 38">
            <a:extLst xmlns:a="http://schemas.openxmlformats.org/drawingml/2006/main">
              <a:ext uri="{FF2B5EF4-FFF2-40B4-BE49-F238E27FC236}">
                <a16:creationId xmlns:a16="http://schemas.microsoft.com/office/drawing/2014/main" id="{BB17DB4B-10EF-422F-94AA-CFF0F23E12C2}"/>
              </a:ext>
            </a:extLst>
          </p:cNvPr>
          <p:cNvSpPr>
            <a:spLocks xmlns:a="http://schemas.openxmlformats.org/drawingml/2006/main" noGrp="1"/>
          </p:cNvSpPr>
          <p:nvPr/>
        </p:nvSpPr>
        <p:spPr>
          <a:xfrm xmlns:a="http://schemas.openxmlformats.org/drawingml/2006/main">
            <a:off x="6727698" y="2899562"/>
            <a:ext cx="100584" cy="100584"/>
          </a:xfrm>
          <a:prstGeom xmlns:a="http://schemas.openxmlformats.org/drawingml/2006/main" prst="ellipse">
            <a:avLst/>
          </a:prstGeom>
          <a:solidFill xmlns:a="http://schemas.openxmlformats.org/drawingml/2006/main">
            <a:srgbClr val="0E7C86"/>
          </a:solidFill>
          <a:ln xmlns:a="http://schemas.openxmlformats.org/drawingml/2006/main" w="9525">
            <a:solidFill>
              <a:srgbClr val="FFFFFF"/>
            </a:solidFill>
            <a:prstDash val="solid"/>
          </a:ln>
        </p:spPr>
      </p:sp>
      <p:sp>
        <p:nvSpPr>
          <p:cNvPr id="41" name="Text 39">
            <a:extLst xmlns:a="http://schemas.openxmlformats.org/drawingml/2006/main">
              <a:ext uri="{FF2B5EF4-FFF2-40B4-BE49-F238E27FC236}">
                <a16:creationId xmlns:a16="http://schemas.microsoft.com/office/drawing/2014/main" id="{C43F04A7-07E5-4412-A10B-AC7520252E9D}"/>
              </a:ext>
            </a:extLst>
          </p:cNvPr>
          <p:cNvSpPr>
            <a:spLocks xmlns:a="http://schemas.openxmlformats.org/drawingml/2006/main" noGrp="1"/>
          </p:cNvSpPr>
          <p:nvPr/>
        </p:nvSpPr>
        <p:spPr>
          <a:xfrm xmlns:a="http://schemas.openxmlformats.org/drawingml/2006/main">
            <a:off x="9802368" y="2812694"/>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5B6B75"/>
                </a:solidFill>
                <a:latin typeface="Calibri"/>
                <a:ea typeface="Calibri"/>
                <a:cs typeface="Calibri"/>
              </a:rPr>
              <a:t>n=1,641</a:t>
            </a:r>
            <a:endParaRPr sz="850"/>
          </a:p>
        </p:txBody>
      </p:sp>
      <p:sp>
        <p:nvSpPr>
          <p:cNvPr id="42" name="Text 40">
            <a:extLst xmlns:a="http://schemas.openxmlformats.org/drawingml/2006/main">
              <a:ext uri="{FF2B5EF4-FFF2-40B4-BE49-F238E27FC236}">
                <a16:creationId xmlns:a16="http://schemas.microsoft.com/office/drawing/2014/main" id="{15DCD2A8-0AA6-4EB5-8044-7771A0BD9773}"/>
              </a:ext>
            </a:extLst>
          </p:cNvPr>
          <p:cNvSpPr>
            <a:spLocks xmlns:a="http://schemas.openxmlformats.org/drawingml/2006/main" noGrp="1"/>
          </p:cNvSpPr>
          <p:nvPr/>
        </p:nvSpPr>
        <p:spPr>
          <a:xfrm xmlns:a="http://schemas.openxmlformats.org/drawingml/2006/main">
            <a:off x="502920" y="3134563"/>
            <a:ext cx="2194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24313A"/>
                </a:solidFill>
                <a:latin typeface="Calibri"/>
                <a:ea typeface="Calibri"/>
                <a:cs typeface="Calibri"/>
              </a:rPr>
              <a:t>Qassim</a:t>
            </a:r>
            <a:endParaRPr sz="1000"/>
          </a:p>
        </p:txBody>
      </p:sp>
      <p:sp>
        <p:nvSpPr>
          <p:cNvPr id="43" name="Shape 41">
            <a:extLst xmlns:a="http://schemas.openxmlformats.org/drawingml/2006/main">
              <a:ext uri="{FF2B5EF4-FFF2-40B4-BE49-F238E27FC236}">
                <a16:creationId xmlns:a16="http://schemas.microsoft.com/office/drawing/2014/main" id="{8817BF2A-3B5A-4222-8470-F07AFE375B6B}"/>
              </a:ext>
            </a:extLst>
          </p:cNvPr>
          <p:cNvSpPr>
            <a:spLocks xmlns:a="http://schemas.openxmlformats.org/drawingml/2006/main" noGrp="1"/>
          </p:cNvSpPr>
          <p:nvPr/>
        </p:nvSpPr>
        <p:spPr>
          <a:xfrm xmlns:a="http://schemas.openxmlformats.org/drawingml/2006/main">
            <a:off x="5963603" y="3271723"/>
            <a:ext cx="1414463" cy="0"/>
          </a:xfrm>
          <a:prstGeom xmlns:a="http://schemas.openxmlformats.org/drawingml/2006/main" prst="line">
            <a:avLst/>
          </a:prstGeom>
          <a:noFill xmlns:a="http://schemas.openxmlformats.org/drawingml/2006/main"/>
          <a:ln xmlns:a="http://schemas.openxmlformats.org/drawingml/2006/main" w="28575">
            <a:solidFill>
              <a:srgbClr val="0E7C86"/>
            </a:solidFill>
            <a:prstDash val="solid"/>
          </a:ln>
        </p:spPr>
      </p:sp>
      <p:sp>
        <p:nvSpPr>
          <p:cNvPr id="44" name="Shape 42">
            <a:extLst xmlns:a="http://schemas.openxmlformats.org/drawingml/2006/main">
              <a:ext uri="{FF2B5EF4-FFF2-40B4-BE49-F238E27FC236}">
                <a16:creationId xmlns:a16="http://schemas.microsoft.com/office/drawing/2014/main" id="{A0261FD2-21AC-40F5-809D-5284FB713107}"/>
              </a:ext>
            </a:extLst>
          </p:cNvPr>
          <p:cNvSpPr>
            <a:spLocks xmlns:a="http://schemas.openxmlformats.org/drawingml/2006/main" noGrp="1"/>
          </p:cNvSpPr>
          <p:nvPr/>
        </p:nvSpPr>
        <p:spPr>
          <a:xfrm xmlns:a="http://schemas.openxmlformats.org/drawingml/2006/main">
            <a:off x="5963603" y="3207715"/>
            <a:ext cx="0" cy="128016"/>
          </a:xfrm>
          <a:prstGeom xmlns:a="http://schemas.openxmlformats.org/drawingml/2006/main" prst="line">
            <a:avLst/>
          </a:prstGeom>
          <a:noFill xmlns:a="http://schemas.openxmlformats.org/drawingml/2006/main"/>
          <a:ln xmlns:a="http://schemas.openxmlformats.org/drawingml/2006/main" w="25400">
            <a:solidFill>
              <a:srgbClr val="0E7C86"/>
            </a:solidFill>
            <a:prstDash val="solid"/>
          </a:ln>
        </p:spPr>
      </p:sp>
      <p:sp>
        <p:nvSpPr>
          <p:cNvPr id="45" name="Shape 43">
            <a:extLst xmlns:a="http://schemas.openxmlformats.org/drawingml/2006/main">
              <a:ext uri="{FF2B5EF4-FFF2-40B4-BE49-F238E27FC236}">
                <a16:creationId xmlns:a16="http://schemas.microsoft.com/office/drawing/2014/main" id="{0DED1201-B617-46BD-BC79-806CE504F6D6}"/>
              </a:ext>
            </a:extLst>
          </p:cNvPr>
          <p:cNvSpPr>
            <a:spLocks xmlns:a="http://schemas.openxmlformats.org/drawingml/2006/main" noGrp="1"/>
          </p:cNvSpPr>
          <p:nvPr/>
        </p:nvSpPr>
        <p:spPr>
          <a:xfrm xmlns:a="http://schemas.openxmlformats.org/drawingml/2006/main">
            <a:off x="7378065" y="3207715"/>
            <a:ext cx="0" cy="128016"/>
          </a:xfrm>
          <a:prstGeom xmlns:a="http://schemas.openxmlformats.org/drawingml/2006/main" prst="line">
            <a:avLst/>
          </a:prstGeom>
          <a:noFill xmlns:a="http://schemas.openxmlformats.org/drawingml/2006/main"/>
          <a:ln xmlns:a="http://schemas.openxmlformats.org/drawingml/2006/main" w="25400">
            <a:solidFill>
              <a:srgbClr val="0E7C86"/>
            </a:solidFill>
            <a:prstDash val="solid"/>
          </a:ln>
        </p:spPr>
      </p:sp>
      <p:sp>
        <p:nvSpPr>
          <p:cNvPr id="46" name="Shape 44">
            <a:extLst xmlns:a="http://schemas.openxmlformats.org/drawingml/2006/main">
              <a:ext uri="{FF2B5EF4-FFF2-40B4-BE49-F238E27FC236}">
                <a16:creationId xmlns:a16="http://schemas.microsoft.com/office/drawing/2014/main" id="{0A438FEA-FE6F-4288-920B-3A93ACB130AF}"/>
              </a:ext>
            </a:extLst>
          </p:cNvPr>
          <p:cNvSpPr>
            <a:spLocks xmlns:a="http://schemas.openxmlformats.org/drawingml/2006/main" noGrp="1"/>
          </p:cNvSpPr>
          <p:nvPr/>
        </p:nvSpPr>
        <p:spPr>
          <a:xfrm xmlns:a="http://schemas.openxmlformats.org/drawingml/2006/main">
            <a:off x="6599111" y="3221431"/>
            <a:ext cx="100584" cy="100584"/>
          </a:xfrm>
          <a:prstGeom xmlns:a="http://schemas.openxmlformats.org/drawingml/2006/main" prst="ellipse">
            <a:avLst/>
          </a:prstGeom>
          <a:solidFill xmlns:a="http://schemas.openxmlformats.org/drawingml/2006/main">
            <a:srgbClr val="0E7C86"/>
          </a:solidFill>
          <a:ln xmlns:a="http://schemas.openxmlformats.org/drawingml/2006/main" w="9525">
            <a:solidFill>
              <a:srgbClr val="FFFFFF"/>
            </a:solidFill>
            <a:prstDash val="solid"/>
          </a:ln>
        </p:spPr>
      </p:sp>
      <p:sp>
        <p:nvSpPr>
          <p:cNvPr id="47" name="Text 45">
            <a:extLst xmlns:a="http://schemas.openxmlformats.org/drawingml/2006/main">
              <a:ext uri="{FF2B5EF4-FFF2-40B4-BE49-F238E27FC236}">
                <a16:creationId xmlns:a16="http://schemas.microsoft.com/office/drawing/2014/main" id="{22730FB8-6F0C-45C7-8786-3B1B0AE13FE1}"/>
              </a:ext>
            </a:extLst>
          </p:cNvPr>
          <p:cNvSpPr>
            <a:spLocks xmlns:a="http://schemas.openxmlformats.org/drawingml/2006/main" noGrp="1"/>
          </p:cNvSpPr>
          <p:nvPr/>
        </p:nvSpPr>
        <p:spPr>
          <a:xfrm xmlns:a="http://schemas.openxmlformats.org/drawingml/2006/main">
            <a:off x="9802368" y="3134563"/>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5B6B75"/>
                </a:solidFill>
                <a:latin typeface="Calibri"/>
                <a:ea typeface="Calibri"/>
                <a:cs typeface="Calibri"/>
              </a:rPr>
              <a:t>n=2,198</a:t>
            </a:r>
            <a:endParaRPr sz="850"/>
          </a:p>
        </p:txBody>
      </p:sp>
      <p:sp>
        <p:nvSpPr>
          <p:cNvPr id="48" name="Text 46">
            <a:extLst xmlns:a="http://schemas.openxmlformats.org/drawingml/2006/main">
              <a:ext uri="{FF2B5EF4-FFF2-40B4-BE49-F238E27FC236}">
                <a16:creationId xmlns:a16="http://schemas.microsoft.com/office/drawing/2014/main" id="{8903A3C3-3F65-4452-9F4F-D7AB97193E85}"/>
              </a:ext>
            </a:extLst>
          </p:cNvPr>
          <p:cNvSpPr>
            <a:spLocks xmlns:a="http://schemas.openxmlformats.org/drawingml/2006/main" noGrp="1"/>
          </p:cNvSpPr>
          <p:nvPr/>
        </p:nvSpPr>
        <p:spPr>
          <a:xfrm xmlns:a="http://schemas.openxmlformats.org/drawingml/2006/main">
            <a:off x="502920" y="3456432"/>
            <a:ext cx="2194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24313A"/>
                </a:solidFill>
                <a:latin typeface="Calibri"/>
                <a:ea typeface="Calibri"/>
                <a:cs typeface="Calibri"/>
              </a:rPr>
              <a:t>Asir</a:t>
            </a:r>
            <a:endParaRPr sz="1000"/>
          </a:p>
        </p:txBody>
      </p:sp>
      <p:sp>
        <p:nvSpPr>
          <p:cNvPr id="49" name="Shape 47">
            <a:extLst xmlns:a="http://schemas.openxmlformats.org/drawingml/2006/main">
              <a:ext uri="{FF2B5EF4-FFF2-40B4-BE49-F238E27FC236}">
                <a16:creationId xmlns:a16="http://schemas.microsoft.com/office/drawing/2014/main" id="{1AEE3C30-62EA-4B51-AD69-2AA801536778}"/>
              </a:ext>
            </a:extLst>
          </p:cNvPr>
          <p:cNvSpPr>
            <a:spLocks xmlns:a="http://schemas.openxmlformats.org/drawingml/2006/main" noGrp="1"/>
          </p:cNvSpPr>
          <p:nvPr/>
        </p:nvSpPr>
        <p:spPr>
          <a:xfrm xmlns:a="http://schemas.openxmlformats.org/drawingml/2006/main">
            <a:off x="6006465" y="3593592"/>
            <a:ext cx="985838" cy="0"/>
          </a:xfrm>
          <a:prstGeom xmlns:a="http://schemas.openxmlformats.org/drawingml/2006/main" prst="line">
            <a:avLst/>
          </a:prstGeom>
          <a:noFill xmlns:a="http://schemas.openxmlformats.org/drawingml/2006/main"/>
          <a:ln xmlns:a="http://schemas.openxmlformats.org/drawingml/2006/main" w="28575">
            <a:solidFill>
              <a:srgbClr val="0E7C86"/>
            </a:solidFill>
            <a:prstDash val="solid"/>
          </a:ln>
        </p:spPr>
      </p:sp>
      <p:sp>
        <p:nvSpPr>
          <p:cNvPr id="50" name="Shape 48">
            <a:extLst xmlns:a="http://schemas.openxmlformats.org/drawingml/2006/main">
              <a:ext uri="{FF2B5EF4-FFF2-40B4-BE49-F238E27FC236}">
                <a16:creationId xmlns:a16="http://schemas.microsoft.com/office/drawing/2014/main" id="{85689395-9E32-456D-95B6-028B16D82A18}"/>
              </a:ext>
            </a:extLst>
          </p:cNvPr>
          <p:cNvSpPr>
            <a:spLocks xmlns:a="http://schemas.openxmlformats.org/drawingml/2006/main" noGrp="1"/>
          </p:cNvSpPr>
          <p:nvPr/>
        </p:nvSpPr>
        <p:spPr>
          <a:xfrm xmlns:a="http://schemas.openxmlformats.org/drawingml/2006/main">
            <a:off x="6006465" y="3529584"/>
            <a:ext cx="0" cy="128016"/>
          </a:xfrm>
          <a:prstGeom xmlns:a="http://schemas.openxmlformats.org/drawingml/2006/main" prst="line">
            <a:avLst/>
          </a:prstGeom>
          <a:noFill xmlns:a="http://schemas.openxmlformats.org/drawingml/2006/main"/>
          <a:ln xmlns:a="http://schemas.openxmlformats.org/drawingml/2006/main" w="25400">
            <a:solidFill>
              <a:srgbClr val="0E7C86"/>
            </a:solidFill>
            <a:prstDash val="solid"/>
          </a:ln>
        </p:spPr>
      </p:sp>
      <p:sp>
        <p:nvSpPr>
          <p:cNvPr id="51" name="Shape 49">
            <a:extLst xmlns:a="http://schemas.openxmlformats.org/drawingml/2006/main">
              <a:ext uri="{FF2B5EF4-FFF2-40B4-BE49-F238E27FC236}">
                <a16:creationId xmlns:a16="http://schemas.microsoft.com/office/drawing/2014/main" id="{3E2AFEA8-92BD-4589-9E81-CE88B7325769}"/>
              </a:ext>
            </a:extLst>
          </p:cNvPr>
          <p:cNvSpPr>
            <a:spLocks xmlns:a="http://schemas.openxmlformats.org/drawingml/2006/main" noGrp="1"/>
          </p:cNvSpPr>
          <p:nvPr/>
        </p:nvSpPr>
        <p:spPr>
          <a:xfrm xmlns:a="http://schemas.openxmlformats.org/drawingml/2006/main">
            <a:off x="6992303" y="3529584"/>
            <a:ext cx="0" cy="128016"/>
          </a:xfrm>
          <a:prstGeom xmlns:a="http://schemas.openxmlformats.org/drawingml/2006/main" prst="line">
            <a:avLst/>
          </a:prstGeom>
          <a:noFill xmlns:a="http://schemas.openxmlformats.org/drawingml/2006/main"/>
          <a:ln xmlns:a="http://schemas.openxmlformats.org/drawingml/2006/main" w="25400">
            <a:solidFill>
              <a:srgbClr val="0E7C86"/>
            </a:solidFill>
            <a:prstDash val="solid"/>
          </a:ln>
        </p:spPr>
      </p:sp>
      <p:sp>
        <p:nvSpPr>
          <p:cNvPr id="52" name="Shape 50">
            <a:extLst xmlns:a="http://schemas.openxmlformats.org/drawingml/2006/main">
              <a:ext uri="{FF2B5EF4-FFF2-40B4-BE49-F238E27FC236}">
                <a16:creationId xmlns:a16="http://schemas.microsoft.com/office/drawing/2014/main" id="{7071B6B8-E729-43E1-AEA7-69D4AA630368}"/>
              </a:ext>
            </a:extLst>
          </p:cNvPr>
          <p:cNvSpPr>
            <a:spLocks xmlns:a="http://schemas.openxmlformats.org/drawingml/2006/main" noGrp="1"/>
          </p:cNvSpPr>
          <p:nvPr/>
        </p:nvSpPr>
        <p:spPr>
          <a:xfrm xmlns:a="http://schemas.openxmlformats.org/drawingml/2006/main">
            <a:off x="6427661" y="3543300"/>
            <a:ext cx="100584" cy="100584"/>
          </a:xfrm>
          <a:prstGeom xmlns:a="http://schemas.openxmlformats.org/drawingml/2006/main" prst="ellipse">
            <a:avLst/>
          </a:prstGeom>
          <a:solidFill xmlns:a="http://schemas.openxmlformats.org/drawingml/2006/main">
            <a:srgbClr val="0E7C86"/>
          </a:solidFill>
          <a:ln xmlns:a="http://schemas.openxmlformats.org/drawingml/2006/main" w="9525">
            <a:solidFill>
              <a:srgbClr val="FFFFFF"/>
            </a:solidFill>
            <a:prstDash val="solid"/>
          </a:ln>
        </p:spPr>
      </p:sp>
      <p:sp>
        <p:nvSpPr>
          <p:cNvPr id="53" name="Text 51">
            <a:extLst xmlns:a="http://schemas.openxmlformats.org/drawingml/2006/main">
              <a:ext uri="{FF2B5EF4-FFF2-40B4-BE49-F238E27FC236}">
                <a16:creationId xmlns:a16="http://schemas.microsoft.com/office/drawing/2014/main" id="{58AC632A-18AD-42D3-A4CA-6C42D4A007E2}"/>
              </a:ext>
            </a:extLst>
          </p:cNvPr>
          <p:cNvSpPr>
            <a:spLocks xmlns:a="http://schemas.openxmlformats.org/drawingml/2006/main" noGrp="1"/>
          </p:cNvSpPr>
          <p:nvPr/>
        </p:nvSpPr>
        <p:spPr>
          <a:xfrm xmlns:a="http://schemas.openxmlformats.org/drawingml/2006/main">
            <a:off x="9802368" y="3456432"/>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5B6B75"/>
                </a:solidFill>
                <a:latin typeface="Calibri"/>
                <a:ea typeface="Calibri"/>
                <a:cs typeface="Calibri"/>
              </a:rPr>
              <a:t>n=4,204</a:t>
            </a:r>
            <a:endParaRPr sz="850"/>
          </a:p>
        </p:txBody>
      </p:sp>
      <p:sp>
        <p:nvSpPr>
          <p:cNvPr id="54" name="Text 52">
            <a:extLst xmlns:a="http://schemas.openxmlformats.org/drawingml/2006/main">
              <a:ext uri="{FF2B5EF4-FFF2-40B4-BE49-F238E27FC236}">
                <a16:creationId xmlns:a16="http://schemas.microsoft.com/office/drawing/2014/main" id="{8D148409-67E3-4AE0-AB09-E575A2DB5022}"/>
              </a:ext>
            </a:extLst>
          </p:cNvPr>
          <p:cNvSpPr>
            <a:spLocks xmlns:a="http://schemas.openxmlformats.org/drawingml/2006/main" noGrp="1"/>
          </p:cNvSpPr>
          <p:nvPr/>
        </p:nvSpPr>
        <p:spPr>
          <a:xfrm xmlns:a="http://schemas.openxmlformats.org/drawingml/2006/main">
            <a:off x="502920" y="3778301"/>
            <a:ext cx="2194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24313A"/>
                </a:solidFill>
                <a:latin typeface="Calibri"/>
                <a:ea typeface="Calibri"/>
                <a:cs typeface="Calibri"/>
              </a:rPr>
              <a:t>Madinah</a:t>
            </a:r>
            <a:endParaRPr sz="1000"/>
          </a:p>
        </p:txBody>
      </p:sp>
      <p:sp>
        <p:nvSpPr>
          <p:cNvPr id="55" name="Shape 53">
            <a:extLst xmlns:a="http://schemas.openxmlformats.org/drawingml/2006/main">
              <a:ext uri="{FF2B5EF4-FFF2-40B4-BE49-F238E27FC236}">
                <a16:creationId xmlns:a16="http://schemas.microsoft.com/office/drawing/2014/main" id="{0792AB6A-D243-4BCF-B56C-CC6F2DDDDAAE}"/>
              </a:ext>
            </a:extLst>
          </p:cNvPr>
          <p:cNvSpPr>
            <a:spLocks xmlns:a="http://schemas.openxmlformats.org/drawingml/2006/main" noGrp="1"/>
          </p:cNvSpPr>
          <p:nvPr/>
        </p:nvSpPr>
        <p:spPr>
          <a:xfrm xmlns:a="http://schemas.openxmlformats.org/drawingml/2006/main">
            <a:off x="5963603" y="3915461"/>
            <a:ext cx="1114425" cy="0"/>
          </a:xfrm>
          <a:prstGeom xmlns:a="http://schemas.openxmlformats.org/drawingml/2006/main" prst="line">
            <a:avLst/>
          </a:prstGeom>
          <a:noFill xmlns:a="http://schemas.openxmlformats.org/drawingml/2006/main"/>
          <a:ln xmlns:a="http://schemas.openxmlformats.org/drawingml/2006/main" w="28575">
            <a:solidFill>
              <a:srgbClr val="0E7C86"/>
            </a:solidFill>
            <a:prstDash val="solid"/>
          </a:ln>
        </p:spPr>
      </p:sp>
      <p:sp>
        <p:nvSpPr>
          <p:cNvPr id="56" name="Shape 54">
            <a:extLst xmlns:a="http://schemas.openxmlformats.org/drawingml/2006/main">
              <a:ext uri="{FF2B5EF4-FFF2-40B4-BE49-F238E27FC236}">
                <a16:creationId xmlns:a16="http://schemas.microsoft.com/office/drawing/2014/main" id="{F43E6D67-A46D-47B8-AB74-A19DF23648A7}"/>
              </a:ext>
            </a:extLst>
          </p:cNvPr>
          <p:cNvSpPr>
            <a:spLocks xmlns:a="http://schemas.openxmlformats.org/drawingml/2006/main" noGrp="1"/>
          </p:cNvSpPr>
          <p:nvPr/>
        </p:nvSpPr>
        <p:spPr>
          <a:xfrm xmlns:a="http://schemas.openxmlformats.org/drawingml/2006/main">
            <a:off x="5963603" y="3851453"/>
            <a:ext cx="0" cy="128016"/>
          </a:xfrm>
          <a:prstGeom xmlns:a="http://schemas.openxmlformats.org/drawingml/2006/main" prst="line">
            <a:avLst/>
          </a:prstGeom>
          <a:noFill xmlns:a="http://schemas.openxmlformats.org/drawingml/2006/main"/>
          <a:ln xmlns:a="http://schemas.openxmlformats.org/drawingml/2006/main" w="25400">
            <a:solidFill>
              <a:srgbClr val="0E7C86"/>
            </a:solidFill>
            <a:prstDash val="solid"/>
          </a:ln>
        </p:spPr>
      </p:sp>
      <p:sp>
        <p:nvSpPr>
          <p:cNvPr id="57" name="Shape 55">
            <a:extLst xmlns:a="http://schemas.openxmlformats.org/drawingml/2006/main">
              <a:ext uri="{FF2B5EF4-FFF2-40B4-BE49-F238E27FC236}">
                <a16:creationId xmlns:a16="http://schemas.microsoft.com/office/drawing/2014/main" id="{F11393CC-0337-4479-A66E-94E0991D73F9}"/>
              </a:ext>
            </a:extLst>
          </p:cNvPr>
          <p:cNvSpPr>
            <a:spLocks xmlns:a="http://schemas.openxmlformats.org/drawingml/2006/main" noGrp="1"/>
          </p:cNvSpPr>
          <p:nvPr/>
        </p:nvSpPr>
        <p:spPr>
          <a:xfrm xmlns:a="http://schemas.openxmlformats.org/drawingml/2006/main">
            <a:off x="7078028" y="3851453"/>
            <a:ext cx="0" cy="128016"/>
          </a:xfrm>
          <a:prstGeom xmlns:a="http://schemas.openxmlformats.org/drawingml/2006/main" prst="line">
            <a:avLst/>
          </a:prstGeom>
          <a:noFill xmlns:a="http://schemas.openxmlformats.org/drawingml/2006/main"/>
          <a:ln xmlns:a="http://schemas.openxmlformats.org/drawingml/2006/main" w="25400">
            <a:solidFill>
              <a:srgbClr val="0E7C86"/>
            </a:solidFill>
            <a:prstDash val="solid"/>
          </a:ln>
        </p:spPr>
      </p:sp>
      <p:sp>
        <p:nvSpPr>
          <p:cNvPr id="58" name="Shape 56">
            <a:extLst xmlns:a="http://schemas.openxmlformats.org/drawingml/2006/main">
              <a:ext uri="{FF2B5EF4-FFF2-40B4-BE49-F238E27FC236}">
                <a16:creationId xmlns:a16="http://schemas.microsoft.com/office/drawing/2014/main" id="{05F730EE-1122-4AD7-ADCD-F2144DB9D6B8}"/>
              </a:ext>
            </a:extLst>
          </p:cNvPr>
          <p:cNvSpPr>
            <a:spLocks xmlns:a="http://schemas.openxmlformats.org/drawingml/2006/main" noGrp="1"/>
          </p:cNvSpPr>
          <p:nvPr/>
        </p:nvSpPr>
        <p:spPr>
          <a:xfrm xmlns:a="http://schemas.openxmlformats.org/drawingml/2006/main">
            <a:off x="6427661" y="3865169"/>
            <a:ext cx="100584" cy="100584"/>
          </a:xfrm>
          <a:prstGeom xmlns:a="http://schemas.openxmlformats.org/drawingml/2006/main" prst="ellipse">
            <a:avLst/>
          </a:prstGeom>
          <a:solidFill xmlns:a="http://schemas.openxmlformats.org/drawingml/2006/main">
            <a:srgbClr val="0E7C86"/>
          </a:solidFill>
          <a:ln xmlns:a="http://schemas.openxmlformats.org/drawingml/2006/main" w="9525">
            <a:solidFill>
              <a:srgbClr val="FFFFFF"/>
            </a:solidFill>
            <a:prstDash val="solid"/>
          </a:ln>
        </p:spPr>
      </p:sp>
      <p:sp>
        <p:nvSpPr>
          <p:cNvPr id="59" name="Text 57">
            <a:extLst xmlns:a="http://schemas.openxmlformats.org/drawingml/2006/main">
              <a:ext uri="{FF2B5EF4-FFF2-40B4-BE49-F238E27FC236}">
                <a16:creationId xmlns:a16="http://schemas.microsoft.com/office/drawing/2014/main" id="{396AA98C-6F25-49E6-AE99-EEF76E26DEDC}"/>
              </a:ext>
            </a:extLst>
          </p:cNvPr>
          <p:cNvSpPr>
            <a:spLocks xmlns:a="http://schemas.openxmlformats.org/drawingml/2006/main" noGrp="1"/>
          </p:cNvSpPr>
          <p:nvPr/>
        </p:nvSpPr>
        <p:spPr>
          <a:xfrm xmlns:a="http://schemas.openxmlformats.org/drawingml/2006/main">
            <a:off x="9802368" y="3778301"/>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5B6B75"/>
                </a:solidFill>
                <a:latin typeface="Calibri"/>
                <a:ea typeface="Calibri"/>
                <a:cs typeface="Calibri"/>
              </a:rPr>
              <a:t>n=3,305</a:t>
            </a:r>
            <a:endParaRPr sz="850"/>
          </a:p>
        </p:txBody>
      </p:sp>
      <p:sp>
        <p:nvSpPr>
          <p:cNvPr id="60" name="Text 58">
            <a:extLst xmlns:a="http://schemas.openxmlformats.org/drawingml/2006/main">
              <a:ext uri="{FF2B5EF4-FFF2-40B4-BE49-F238E27FC236}">
                <a16:creationId xmlns:a16="http://schemas.microsoft.com/office/drawing/2014/main" id="{64AABAB2-11EF-456D-B4F8-2718E88F98AD}"/>
              </a:ext>
            </a:extLst>
          </p:cNvPr>
          <p:cNvSpPr>
            <a:spLocks xmlns:a="http://schemas.openxmlformats.org/drawingml/2006/main" noGrp="1"/>
          </p:cNvSpPr>
          <p:nvPr/>
        </p:nvSpPr>
        <p:spPr>
          <a:xfrm xmlns:a="http://schemas.openxmlformats.org/drawingml/2006/main">
            <a:off x="502920" y="4100170"/>
            <a:ext cx="2194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24313A"/>
                </a:solidFill>
                <a:latin typeface="Calibri"/>
                <a:ea typeface="Calibri"/>
                <a:cs typeface="Calibri"/>
              </a:rPr>
              <a:t>Riyadh</a:t>
            </a:r>
            <a:endParaRPr sz="1000"/>
          </a:p>
        </p:txBody>
      </p:sp>
      <p:sp>
        <p:nvSpPr>
          <p:cNvPr id="61" name="Shape 59">
            <a:extLst xmlns:a="http://schemas.openxmlformats.org/drawingml/2006/main">
              <a:ext uri="{FF2B5EF4-FFF2-40B4-BE49-F238E27FC236}">
                <a16:creationId xmlns:a16="http://schemas.microsoft.com/office/drawing/2014/main" id="{09643AC4-8D3B-4A40-B854-72E31E4A059F}"/>
              </a:ext>
            </a:extLst>
          </p:cNvPr>
          <p:cNvSpPr>
            <a:spLocks xmlns:a="http://schemas.openxmlformats.org/drawingml/2006/main" noGrp="1"/>
          </p:cNvSpPr>
          <p:nvPr/>
        </p:nvSpPr>
        <p:spPr>
          <a:xfrm xmlns:a="http://schemas.openxmlformats.org/drawingml/2006/main">
            <a:off x="5877878" y="4237330"/>
            <a:ext cx="557212" cy="0"/>
          </a:xfrm>
          <a:prstGeom xmlns:a="http://schemas.openxmlformats.org/drawingml/2006/main" prst="line">
            <a:avLst/>
          </a:prstGeom>
          <a:noFill xmlns:a="http://schemas.openxmlformats.org/drawingml/2006/main"/>
          <a:ln xmlns:a="http://schemas.openxmlformats.org/drawingml/2006/main" w="28575">
            <a:solidFill>
              <a:srgbClr val="0E7C86"/>
            </a:solidFill>
            <a:prstDash val="solid"/>
          </a:ln>
        </p:spPr>
      </p:sp>
      <p:sp>
        <p:nvSpPr>
          <p:cNvPr id="62" name="Shape 60">
            <a:extLst xmlns:a="http://schemas.openxmlformats.org/drawingml/2006/main">
              <a:ext uri="{FF2B5EF4-FFF2-40B4-BE49-F238E27FC236}">
                <a16:creationId xmlns:a16="http://schemas.microsoft.com/office/drawing/2014/main" id="{D35AD56C-9885-409D-A7F9-681903C41865}"/>
              </a:ext>
            </a:extLst>
          </p:cNvPr>
          <p:cNvSpPr>
            <a:spLocks xmlns:a="http://schemas.openxmlformats.org/drawingml/2006/main" noGrp="1"/>
          </p:cNvSpPr>
          <p:nvPr/>
        </p:nvSpPr>
        <p:spPr>
          <a:xfrm xmlns:a="http://schemas.openxmlformats.org/drawingml/2006/main">
            <a:off x="5877878" y="4173322"/>
            <a:ext cx="0" cy="128016"/>
          </a:xfrm>
          <a:prstGeom xmlns:a="http://schemas.openxmlformats.org/drawingml/2006/main" prst="line">
            <a:avLst/>
          </a:prstGeom>
          <a:noFill xmlns:a="http://schemas.openxmlformats.org/drawingml/2006/main"/>
          <a:ln xmlns:a="http://schemas.openxmlformats.org/drawingml/2006/main" w="25400">
            <a:solidFill>
              <a:srgbClr val="0E7C86"/>
            </a:solidFill>
            <a:prstDash val="solid"/>
          </a:ln>
        </p:spPr>
      </p:sp>
      <p:sp>
        <p:nvSpPr>
          <p:cNvPr id="63" name="Shape 61">
            <a:extLst xmlns:a="http://schemas.openxmlformats.org/drawingml/2006/main">
              <a:ext uri="{FF2B5EF4-FFF2-40B4-BE49-F238E27FC236}">
                <a16:creationId xmlns:a16="http://schemas.microsoft.com/office/drawing/2014/main" id="{A623D66F-C1A5-4E8F-94F5-86CFFCB50E05}"/>
              </a:ext>
            </a:extLst>
          </p:cNvPr>
          <p:cNvSpPr>
            <a:spLocks xmlns:a="http://schemas.openxmlformats.org/drawingml/2006/main" noGrp="1"/>
          </p:cNvSpPr>
          <p:nvPr/>
        </p:nvSpPr>
        <p:spPr>
          <a:xfrm xmlns:a="http://schemas.openxmlformats.org/drawingml/2006/main">
            <a:off x="6435090" y="4173322"/>
            <a:ext cx="0" cy="128016"/>
          </a:xfrm>
          <a:prstGeom xmlns:a="http://schemas.openxmlformats.org/drawingml/2006/main" prst="line">
            <a:avLst/>
          </a:prstGeom>
          <a:noFill xmlns:a="http://schemas.openxmlformats.org/drawingml/2006/main"/>
          <a:ln xmlns:a="http://schemas.openxmlformats.org/drawingml/2006/main" w="25400">
            <a:solidFill>
              <a:srgbClr val="0E7C86"/>
            </a:solidFill>
            <a:prstDash val="solid"/>
          </a:ln>
        </p:spPr>
      </p:sp>
      <p:sp>
        <p:nvSpPr>
          <p:cNvPr id="64" name="Shape 62">
            <a:extLst xmlns:a="http://schemas.openxmlformats.org/drawingml/2006/main">
              <a:ext uri="{FF2B5EF4-FFF2-40B4-BE49-F238E27FC236}">
                <a16:creationId xmlns:a16="http://schemas.microsoft.com/office/drawing/2014/main" id="{15C3512E-277C-4281-BAAF-341BC2443176}"/>
              </a:ext>
            </a:extLst>
          </p:cNvPr>
          <p:cNvSpPr>
            <a:spLocks xmlns:a="http://schemas.openxmlformats.org/drawingml/2006/main" noGrp="1"/>
          </p:cNvSpPr>
          <p:nvPr/>
        </p:nvSpPr>
        <p:spPr>
          <a:xfrm xmlns:a="http://schemas.openxmlformats.org/drawingml/2006/main">
            <a:off x="6127623" y="4187038"/>
            <a:ext cx="100584" cy="100584"/>
          </a:xfrm>
          <a:prstGeom xmlns:a="http://schemas.openxmlformats.org/drawingml/2006/main" prst="ellipse">
            <a:avLst/>
          </a:prstGeom>
          <a:solidFill xmlns:a="http://schemas.openxmlformats.org/drawingml/2006/main">
            <a:srgbClr val="0E7C86"/>
          </a:solidFill>
          <a:ln xmlns:a="http://schemas.openxmlformats.org/drawingml/2006/main" w="9525">
            <a:solidFill>
              <a:srgbClr val="FFFFFF"/>
            </a:solidFill>
            <a:prstDash val="solid"/>
          </a:ln>
        </p:spPr>
      </p:sp>
      <p:sp>
        <p:nvSpPr>
          <p:cNvPr id="65" name="Text 63">
            <a:extLst xmlns:a="http://schemas.openxmlformats.org/drawingml/2006/main">
              <a:ext uri="{FF2B5EF4-FFF2-40B4-BE49-F238E27FC236}">
                <a16:creationId xmlns:a16="http://schemas.microsoft.com/office/drawing/2014/main" id="{8A5466FB-79D7-4A34-9E59-768DA4AB9529}"/>
              </a:ext>
            </a:extLst>
          </p:cNvPr>
          <p:cNvSpPr>
            <a:spLocks xmlns:a="http://schemas.openxmlformats.org/drawingml/2006/main" noGrp="1"/>
          </p:cNvSpPr>
          <p:nvPr/>
        </p:nvSpPr>
        <p:spPr>
          <a:xfrm xmlns:a="http://schemas.openxmlformats.org/drawingml/2006/main">
            <a:off x="9802368" y="4100170"/>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5B6B75"/>
                </a:solidFill>
                <a:latin typeface="Calibri"/>
                <a:ea typeface="Calibri"/>
                <a:cs typeface="Calibri"/>
              </a:rPr>
              <a:t>n=12,816</a:t>
            </a:r>
            <a:endParaRPr sz="850"/>
          </a:p>
        </p:txBody>
      </p:sp>
      <p:sp>
        <p:nvSpPr>
          <p:cNvPr id="66" name="Text 64">
            <a:extLst xmlns:a="http://schemas.openxmlformats.org/drawingml/2006/main">
              <a:ext uri="{FF2B5EF4-FFF2-40B4-BE49-F238E27FC236}">
                <a16:creationId xmlns:a16="http://schemas.microsoft.com/office/drawing/2014/main" id="{6CA2BDF8-F5C7-4D25-ADA1-3CFF31E63706}"/>
              </a:ext>
            </a:extLst>
          </p:cNvPr>
          <p:cNvSpPr>
            <a:spLocks xmlns:a="http://schemas.openxmlformats.org/drawingml/2006/main" noGrp="1"/>
          </p:cNvSpPr>
          <p:nvPr/>
        </p:nvSpPr>
        <p:spPr>
          <a:xfrm xmlns:a="http://schemas.openxmlformats.org/drawingml/2006/main">
            <a:off x="502920" y="4422038"/>
            <a:ext cx="2194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24313A"/>
                </a:solidFill>
                <a:latin typeface="Calibri"/>
                <a:ea typeface="Calibri"/>
                <a:cs typeface="Calibri"/>
              </a:rPr>
              <a:t>Jazan</a:t>
            </a:r>
            <a:endParaRPr sz="1000"/>
          </a:p>
        </p:txBody>
      </p:sp>
      <p:sp>
        <p:nvSpPr>
          <p:cNvPr id="67" name="Shape 65">
            <a:extLst xmlns:a="http://schemas.openxmlformats.org/drawingml/2006/main">
              <a:ext uri="{FF2B5EF4-FFF2-40B4-BE49-F238E27FC236}">
                <a16:creationId xmlns:a16="http://schemas.microsoft.com/office/drawing/2014/main" id="{FB3F6FB7-0526-4318-B492-057BA8AFE147}"/>
              </a:ext>
            </a:extLst>
          </p:cNvPr>
          <p:cNvSpPr>
            <a:spLocks xmlns:a="http://schemas.openxmlformats.org/drawingml/2006/main" noGrp="1"/>
          </p:cNvSpPr>
          <p:nvPr/>
        </p:nvSpPr>
        <p:spPr>
          <a:xfrm xmlns:a="http://schemas.openxmlformats.org/drawingml/2006/main">
            <a:off x="5320665" y="4559198"/>
            <a:ext cx="1243013" cy="0"/>
          </a:xfrm>
          <a:prstGeom xmlns:a="http://schemas.openxmlformats.org/drawingml/2006/main" prst="line">
            <a:avLst/>
          </a:prstGeom>
          <a:noFill xmlns:a="http://schemas.openxmlformats.org/drawingml/2006/main"/>
          <a:ln xmlns:a="http://schemas.openxmlformats.org/drawingml/2006/main" w="28575">
            <a:solidFill>
              <a:srgbClr val="0E7C86"/>
            </a:solidFill>
            <a:prstDash val="solid"/>
          </a:ln>
        </p:spPr>
      </p:sp>
      <p:sp>
        <p:nvSpPr>
          <p:cNvPr id="68" name="Shape 66">
            <a:extLst xmlns:a="http://schemas.openxmlformats.org/drawingml/2006/main">
              <a:ext uri="{FF2B5EF4-FFF2-40B4-BE49-F238E27FC236}">
                <a16:creationId xmlns:a16="http://schemas.microsoft.com/office/drawing/2014/main" id="{A5BD54B7-837B-43CE-B58F-5B20C100D31D}"/>
              </a:ext>
            </a:extLst>
          </p:cNvPr>
          <p:cNvSpPr>
            <a:spLocks xmlns:a="http://schemas.openxmlformats.org/drawingml/2006/main" noGrp="1"/>
          </p:cNvSpPr>
          <p:nvPr/>
        </p:nvSpPr>
        <p:spPr>
          <a:xfrm xmlns:a="http://schemas.openxmlformats.org/drawingml/2006/main">
            <a:off x="5320665" y="4495190"/>
            <a:ext cx="0" cy="128016"/>
          </a:xfrm>
          <a:prstGeom xmlns:a="http://schemas.openxmlformats.org/drawingml/2006/main" prst="line">
            <a:avLst/>
          </a:prstGeom>
          <a:noFill xmlns:a="http://schemas.openxmlformats.org/drawingml/2006/main"/>
          <a:ln xmlns:a="http://schemas.openxmlformats.org/drawingml/2006/main" w="25400">
            <a:solidFill>
              <a:srgbClr val="0E7C86"/>
            </a:solidFill>
            <a:prstDash val="solid"/>
          </a:ln>
        </p:spPr>
      </p:sp>
      <p:sp>
        <p:nvSpPr>
          <p:cNvPr id="69" name="Shape 67">
            <a:extLst xmlns:a="http://schemas.openxmlformats.org/drawingml/2006/main">
              <a:ext uri="{FF2B5EF4-FFF2-40B4-BE49-F238E27FC236}">
                <a16:creationId xmlns:a16="http://schemas.microsoft.com/office/drawing/2014/main" id="{AD5B9CF8-22C1-41FD-BC33-B49E222016E3}"/>
              </a:ext>
            </a:extLst>
          </p:cNvPr>
          <p:cNvSpPr>
            <a:spLocks xmlns:a="http://schemas.openxmlformats.org/drawingml/2006/main" noGrp="1"/>
          </p:cNvSpPr>
          <p:nvPr/>
        </p:nvSpPr>
        <p:spPr>
          <a:xfrm xmlns:a="http://schemas.openxmlformats.org/drawingml/2006/main">
            <a:off x="6563678" y="4495190"/>
            <a:ext cx="0" cy="128016"/>
          </a:xfrm>
          <a:prstGeom xmlns:a="http://schemas.openxmlformats.org/drawingml/2006/main" prst="line">
            <a:avLst/>
          </a:prstGeom>
          <a:noFill xmlns:a="http://schemas.openxmlformats.org/drawingml/2006/main"/>
          <a:ln xmlns:a="http://schemas.openxmlformats.org/drawingml/2006/main" w="25400">
            <a:solidFill>
              <a:srgbClr val="0E7C86"/>
            </a:solidFill>
            <a:prstDash val="solid"/>
          </a:ln>
        </p:spPr>
      </p:sp>
      <p:sp>
        <p:nvSpPr>
          <p:cNvPr id="70" name="Shape 68">
            <a:extLst xmlns:a="http://schemas.openxmlformats.org/drawingml/2006/main">
              <a:ext uri="{FF2B5EF4-FFF2-40B4-BE49-F238E27FC236}">
                <a16:creationId xmlns:a16="http://schemas.microsoft.com/office/drawing/2014/main" id="{DE420010-63FB-47AD-AC1E-1A981421A8DC}"/>
              </a:ext>
            </a:extLst>
          </p:cNvPr>
          <p:cNvSpPr>
            <a:spLocks xmlns:a="http://schemas.openxmlformats.org/drawingml/2006/main" noGrp="1"/>
          </p:cNvSpPr>
          <p:nvPr/>
        </p:nvSpPr>
        <p:spPr>
          <a:xfrm xmlns:a="http://schemas.openxmlformats.org/drawingml/2006/main">
            <a:off x="5870448" y="4508906"/>
            <a:ext cx="100584" cy="100584"/>
          </a:xfrm>
          <a:prstGeom xmlns:a="http://schemas.openxmlformats.org/drawingml/2006/main" prst="ellipse">
            <a:avLst/>
          </a:prstGeom>
          <a:solidFill xmlns:a="http://schemas.openxmlformats.org/drawingml/2006/main">
            <a:srgbClr val="0E7C86"/>
          </a:solidFill>
          <a:ln xmlns:a="http://schemas.openxmlformats.org/drawingml/2006/main" w="9525">
            <a:solidFill>
              <a:srgbClr val="FFFFFF"/>
            </a:solidFill>
            <a:prstDash val="solid"/>
          </a:ln>
        </p:spPr>
      </p:sp>
      <p:sp>
        <p:nvSpPr>
          <p:cNvPr id="71" name="Text 69">
            <a:extLst xmlns:a="http://schemas.openxmlformats.org/drawingml/2006/main">
              <a:ext uri="{FF2B5EF4-FFF2-40B4-BE49-F238E27FC236}">
                <a16:creationId xmlns:a16="http://schemas.microsoft.com/office/drawing/2014/main" id="{1742F08E-F184-4F97-A83B-78E16DEB95AE}"/>
              </a:ext>
            </a:extLst>
          </p:cNvPr>
          <p:cNvSpPr>
            <a:spLocks xmlns:a="http://schemas.openxmlformats.org/drawingml/2006/main" noGrp="1"/>
          </p:cNvSpPr>
          <p:nvPr/>
        </p:nvSpPr>
        <p:spPr>
          <a:xfrm xmlns:a="http://schemas.openxmlformats.org/drawingml/2006/main">
            <a:off x="9802368" y="4422038"/>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5B6B75"/>
                </a:solidFill>
                <a:latin typeface="Calibri"/>
                <a:ea typeface="Calibri"/>
                <a:cs typeface="Calibri"/>
              </a:rPr>
              <a:t>n=2,656</a:t>
            </a:r>
            <a:endParaRPr sz="850"/>
          </a:p>
        </p:txBody>
      </p:sp>
      <p:sp>
        <p:nvSpPr>
          <p:cNvPr id="72" name="Text 70">
            <a:extLst xmlns:a="http://schemas.openxmlformats.org/drawingml/2006/main">
              <a:ext uri="{FF2B5EF4-FFF2-40B4-BE49-F238E27FC236}">
                <a16:creationId xmlns:a16="http://schemas.microsoft.com/office/drawing/2014/main" id="{AD3D8D1C-81B8-4E3C-B029-EC5B0B9D2BA5}"/>
              </a:ext>
            </a:extLst>
          </p:cNvPr>
          <p:cNvSpPr>
            <a:spLocks xmlns:a="http://schemas.openxmlformats.org/drawingml/2006/main" noGrp="1"/>
          </p:cNvSpPr>
          <p:nvPr/>
        </p:nvSpPr>
        <p:spPr>
          <a:xfrm xmlns:a="http://schemas.openxmlformats.org/drawingml/2006/main">
            <a:off x="502920" y="4743907"/>
            <a:ext cx="2194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24313A"/>
                </a:solidFill>
                <a:latin typeface="Calibri"/>
                <a:ea typeface="Calibri"/>
                <a:cs typeface="Calibri"/>
              </a:rPr>
              <a:t>Al-Bahah</a:t>
            </a:r>
            <a:endParaRPr sz="1000"/>
          </a:p>
        </p:txBody>
      </p:sp>
      <p:sp>
        <p:nvSpPr>
          <p:cNvPr id="73" name="Shape 71">
            <a:extLst xmlns:a="http://schemas.openxmlformats.org/drawingml/2006/main">
              <a:ext uri="{FF2B5EF4-FFF2-40B4-BE49-F238E27FC236}">
                <a16:creationId xmlns:a16="http://schemas.microsoft.com/office/drawing/2014/main" id="{CBA4C517-B4E2-4BDF-A33E-2CF609CD5A54}"/>
              </a:ext>
            </a:extLst>
          </p:cNvPr>
          <p:cNvSpPr>
            <a:spLocks xmlns:a="http://schemas.openxmlformats.org/drawingml/2006/main" noGrp="1"/>
          </p:cNvSpPr>
          <p:nvPr/>
        </p:nvSpPr>
        <p:spPr>
          <a:xfrm xmlns:a="http://schemas.openxmlformats.org/drawingml/2006/main">
            <a:off x="4806315" y="4881067"/>
            <a:ext cx="2185988" cy="0"/>
          </a:xfrm>
          <a:prstGeom xmlns:a="http://schemas.openxmlformats.org/drawingml/2006/main" prst="line">
            <a:avLst/>
          </a:prstGeom>
          <a:noFill xmlns:a="http://schemas.openxmlformats.org/drawingml/2006/main"/>
          <a:ln xmlns:a="http://schemas.openxmlformats.org/drawingml/2006/main" w="28575">
            <a:solidFill>
              <a:srgbClr val="0E7C86"/>
            </a:solidFill>
            <a:prstDash val="solid"/>
          </a:ln>
        </p:spPr>
      </p:sp>
      <p:sp>
        <p:nvSpPr>
          <p:cNvPr id="74" name="Shape 72">
            <a:extLst xmlns:a="http://schemas.openxmlformats.org/drawingml/2006/main">
              <a:ext uri="{FF2B5EF4-FFF2-40B4-BE49-F238E27FC236}">
                <a16:creationId xmlns:a16="http://schemas.microsoft.com/office/drawing/2014/main" id="{3092C023-E6E6-486C-A920-CC7CFE21C534}"/>
              </a:ext>
            </a:extLst>
          </p:cNvPr>
          <p:cNvSpPr>
            <a:spLocks xmlns:a="http://schemas.openxmlformats.org/drawingml/2006/main" noGrp="1"/>
          </p:cNvSpPr>
          <p:nvPr/>
        </p:nvSpPr>
        <p:spPr>
          <a:xfrm xmlns:a="http://schemas.openxmlformats.org/drawingml/2006/main">
            <a:off x="4806315" y="4817059"/>
            <a:ext cx="0" cy="128016"/>
          </a:xfrm>
          <a:prstGeom xmlns:a="http://schemas.openxmlformats.org/drawingml/2006/main" prst="line">
            <a:avLst/>
          </a:prstGeom>
          <a:noFill xmlns:a="http://schemas.openxmlformats.org/drawingml/2006/main"/>
          <a:ln xmlns:a="http://schemas.openxmlformats.org/drawingml/2006/main" w="25400">
            <a:solidFill>
              <a:srgbClr val="0E7C86"/>
            </a:solidFill>
            <a:prstDash val="solid"/>
          </a:ln>
        </p:spPr>
      </p:sp>
      <p:sp>
        <p:nvSpPr>
          <p:cNvPr id="75" name="Shape 73">
            <a:extLst xmlns:a="http://schemas.openxmlformats.org/drawingml/2006/main">
              <a:ext uri="{FF2B5EF4-FFF2-40B4-BE49-F238E27FC236}">
                <a16:creationId xmlns:a16="http://schemas.microsoft.com/office/drawing/2014/main" id="{0F138F03-E868-4720-9DED-02F1BCC7C34A}"/>
              </a:ext>
            </a:extLst>
          </p:cNvPr>
          <p:cNvSpPr>
            <a:spLocks xmlns:a="http://schemas.openxmlformats.org/drawingml/2006/main" noGrp="1"/>
          </p:cNvSpPr>
          <p:nvPr/>
        </p:nvSpPr>
        <p:spPr>
          <a:xfrm xmlns:a="http://schemas.openxmlformats.org/drawingml/2006/main">
            <a:off x="6992303" y="4817059"/>
            <a:ext cx="0" cy="128016"/>
          </a:xfrm>
          <a:prstGeom xmlns:a="http://schemas.openxmlformats.org/drawingml/2006/main" prst="line">
            <a:avLst/>
          </a:prstGeom>
          <a:noFill xmlns:a="http://schemas.openxmlformats.org/drawingml/2006/main"/>
          <a:ln xmlns:a="http://schemas.openxmlformats.org/drawingml/2006/main" w="25400">
            <a:solidFill>
              <a:srgbClr val="0E7C86"/>
            </a:solidFill>
            <a:prstDash val="solid"/>
          </a:ln>
        </p:spPr>
      </p:sp>
      <p:sp>
        <p:nvSpPr>
          <p:cNvPr id="76" name="Shape 74">
            <a:extLst xmlns:a="http://schemas.openxmlformats.org/drawingml/2006/main">
              <a:ext uri="{FF2B5EF4-FFF2-40B4-BE49-F238E27FC236}">
                <a16:creationId xmlns:a16="http://schemas.microsoft.com/office/drawing/2014/main" id="{FF66E42B-88B7-4361-A597-8734C39BB2C2}"/>
              </a:ext>
            </a:extLst>
          </p:cNvPr>
          <p:cNvSpPr>
            <a:spLocks xmlns:a="http://schemas.openxmlformats.org/drawingml/2006/main" noGrp="1"/>
          </p:cNvSpPr>
          <p:nvPr/>
        </p:nvSpPr>
        <p:spPr>
          <a:xfrm xmlns:a="http://schemas.openxmlformats.org/drawingml/2006/main">
            <a:off x="5784723" y="4830775"/>
            <a:ext cx="100584" cy="100584"/>
          </a:xfrm>
          <a:prstGeom xmlns:a="http://schemas.openxmlformats.org/drawingml/2006/main" prst="ellipse">
            <a:avLst/>
          </a:prstGeom>
          <a:solidFill xmlns:a="http://schemas.openxmlformats.org/drawingml/2006/main">
            <a:srgbClr val="0E7C86"/>
          </a:solidFill>
          <a:ln xmlns:a="http://schemas.openxmlformats.org/drawingml/2006/main" w="9525">
            <a:solidFill>
              <a:srgbClr val="FFFFFF"/>
            </a:solidFill>
            <a:prstDash val="solid"/>
          </a:ln>
        </p:spPr>
      </p:sp>
      <p:sp>
        <p:nvSpPr>
          <p:cNvPr id="77" name="Text 75">
            <a:extLst xmlns:a="http://schemas.openxmlformats.org/drawingml/2006/main">
              <a:ext uri="{FF2B5EF4-FFF2-40B4-BE49-F238E27FC236}">
                <a16:creationId xmlns:a16="http://schemas.microsoft.com/office/drawing/2014/main" id="{CCB3A122-289B-423F-BA84-B606EA5730DE}"/>
              </a:ext>
            </a:extLst>
          </p:cNvPr>
          <p:cNvSpPr>
            <a:spLocks xmlns:a="http://schemas.openxmlformats.org/drawingml/2006/main" noGrp="1"/>
          </p:cNvSpPr>
          <p:nvPr/>
        </p:nvSpPr>
        <p:spPr>
          <a:xfrm xmlns:a="http://schemas.openxmlformats.org/drawingml/2006/main">
            <a:off x="9802368" y="4743907"/>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5B6B75"/>
                </a:solidFill>
                <a:latin typeface="Calibri"/>
                <a:ea typeface="Calibri"/>
                <a:cs typeface="Calibri"/>
              </a:rPr>
              <a:t>n=835</a:t>
            </a:r>
            <a:endParaRPr sz="850"/>
          </a:p>
        </p:txBody>
      </p:sp>
      <p:sp>
        <p:nvSpPr>
          <p:cNvPr id="78" name="Text 76">
            <a:extLst xmlns:a="http://schemas.openxmlformats.org/drawingml/2006/main">
              <a:ext uri="{FF2B5EF4-FFF2-40B4-BE49-F238E27FC236}">
                <a16:creationId xmlns:a16="http://schemas.microsoft.com/office/drawing/2014/main" id="{1A3324B6-6BCC-485B-84F1-1041DFFC6212}"/>
              </a:ext>
            </a:extLst>
          </p:cNvPr>
          <p:cNvSpPr>
            <a:spLocks xmlns:a="http://schemas.openxmlformats.org/drawingml/2006/main" noGrp="1"/>
          </p:cNvSpPr>
          <p:nvPr/>
        </p:nvSpPr>
        <p:spPr>
          <a:xfrm xmlns:a="http://schemas.openxmlformats.org/drawingml/2006/main">
            <a:off x="502920" y="5065776"/>
            <a:ext cx="2194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24313A"/>
                </a:solidFill>
                <a:latin typeface="Calibri"/>
                <a:ea typeface="Calibri"/>
                <a:cs typeface="Calibri"/>
              </a:rPr>
              <a:t>Najran</a:t>
            </a:r>
            <a:endParaRPr sz="1000"/>
          </a:p>
        </p:txBody>
      </p:sp>
      <p:sp>
        <p:nvSpPr>
          <p:cNvPr id="79" name="Shape 77">
            <a:extLst xmlns:a="http://schemas.openxmlformats.org/drawingml/2006/main">
              <a:ext uri="{FF2B5EF4-FFF2-40B4-BE49-F238E27FC236}">
                <a16:creationId xmlns:a16="http://schemas.microsoft.com/office/drawing/2014/main" id="{9912ED0E-EBB8-4AC9-AD92-57E374146083}"/>
              </a:ext>
            </a:extLst>
          </p:cNvPr>
          <p:cNvSpPr>
            <a:spLocks xmlns:a="http://schemas.openxmlformats.org/drawingml/2006/main" noGrp="1"/>
          </p:cNvSpPr>
          <p:nvPr/>
        </p:nvSpPr>
        <p:spPr>
          <a:xfrm xmlns:a="http://schemas.openxmlformats.org/drawingml/2006/main">
            <a:off x="4592003" y="5202936"/>
            <a:ext cx="1885950" cy="0"/>
          </a:xfrm>
          <a:prstGeom xmlns:a="http://schemas.openxmlformats.org/drawingml/2006/main" prst="line">
            <a:avLst/>
          </a:prstGeom>
          <a:noFill xmlns:a="http://schemas.openxmlformats.org/drawingml/2006/main"/>
          <a:ln xmlns:a="http://schemas.openxmlformats.org/drawingml/2006/main" w="28575">
            <a:solidFill>
              <a:srgbClr val="0E7C86"/>
            </a:solidFill>
            <a:prstDash val="solid"/>
          </a:ln>
        </p:spPr>
      </p:sp>
      <p:sp>
        <p:nvSpPr>
          <p:cNvPr id="80" name="Shape 78">
            <a:extLst xmlns:a="http://schemas.openxmlformats.org/drawingml/2006/main">
              <a:ext uri="{FF2B5EF4-FFF2-40B4-BE49-F238E27FC236}">
                <a16:creationId xmlns:a16="http://schemas.microsoft.com/office/drawing/2014/main" id="{BB375138-86B1-4CC5-9514-A5EA0DB7BCC0}"/>
              </a:ext>
            </a:extLst>
          </p:cNvPr>
          <p:cNvSpPr>
            <a:spLocks xmlns:a="http://schemas.openxmlformats.org/drawingml/2006/main" noGrp="1"/>
          </p:cNvSpPr>
          <p:nvPr/>
        </p:nvSpPr>
        <p:spPr>
          <a:xfrm xmlns:a="http://schemas.openxmlformats.org/drawingml/2006/main">
            <a:off x="4592003" y="5138928"/>
            <a:ext cx="0" cy="128016"/>
          </a:xfrm>
          <a:prstGeom xmlns:a="http://schemas.openxmlformats.org/drawingml/2006/main" prst="line">
            <a:avLst/>
          </a:prstGeom>
          <a:noFill xmlns:a="http://schemas.openxmlformats.org/drawingml/2006/main"/>
          <a:ln xmlns:a="http://schemas.openxmlformats.org/drawingml/2006/main" w="25400">
            <a:solidFill>
              <a:srgbClr val="0E7C86"/>
            </a:solidFill>
            <a:prstDash val="solid"/>
          </a:ln>
        </p:spPr>
      </p:sp>
      <p:sp>
        <p:nvSpPr>
          <p:cNvPr id="81" name="Shape 79">
            <a:extLst xmlns:a="http://schemas.openxmlformats.org/drawingml/2006/main">
              <a:ext uri="{FF2B5EF4-FFF2-40B4-BE49-F238E27FC236}">
                <a16:creationId xmlns:a16="http://schemas.microsoft.com/office/drawing/2014/main" id="{196CA552-35F7-46F6-BA17-FA4D65E58D34}"/>
              </a:ext>
            </a:extLst>
          </p:cNvPr>
          <p:cNvSpPr>
            <a:spLocks xmlns:a="http://schemas.openxmlformats.org/drawingml/2006/main" noGrp="1"/>
          </p:cNvSpPr>
          <p:nvPr/>
        </p:nvSpPr>
        <p:spPr>
          <a:xfrm xmlns:a="http://schemas.openxmlformats.org/drawingml/2006/main">
            <a:off x="6477953" y="5138928"/>
            <a:ext cx="0" cy="128016"/>
          </a:xfrm>
          <a:prstGeom xmlns:a="http://schemas.openxmlformats.org/drawingml/2006/main" prst="line">
            <a:avLst/>
          </a:prstGeom>
          <a:noFill xmlns:a="http://schemas.openxmlformats.org/drawingml/2006/main"/>
          <a:ln xmlns:a="http://schemas.openxmlformats.org/drawingml/2006/main" w="25400">
            <a:solidFill>
              <a:srgbClr val="0E7C86"/>
            </a:solidFill>
            <a:prstDash val="solid"/>
          </a:ln>
        </p:spPr>
      </p:sp>
      <p:sp>
        <p:nvSpPr>
          <p:cNvPr id="82" name="Shape 80">
            <a:extLst xmlns:a="http://schemas.openxmlformats.org/drawingml/2006/main">
              <a:ext uri="{FF2B5EF4-FFF2-40B4-BE49-F238E27FC236}">
                <a16:creationId xmlns:a16="http://schemas.microsoft.com/office/drawing/2014/main" id="{1924D0AE-FFE3-45D0-8EC7-CE3A768E5E0F}"/>
              </a:ext>
            </a:extLst>
          </p:cNvPr>
          <p:cNvSpPr>
            <a:spLocks xmlns:a="http://schemas.openxmlformats.org/drawingml/2006/main" noGrp="1"/>
          </p:cNvSpPr>
          <p:nvPr/>
        </p:nvSpPr>
        <p:spPr>
          <a:xfrm xmlns:a="http://schemas.openxmlformats.org/drawingml/2006/main">
            <a:off x="5441823" y="5152644"/>
            <a:ext cx="100584" cy="100584"/>
          </a:xfrm>
          <a:prstGeom xmlns:a="http://schemas.openxmlformats.org/drawingml/2006/main" prst="ellipse">
            <a:avLst/>
          </a:prstGeom>
          <a:solidFill xmlns:a="http://schemas.openxmlformats.org/drawingml/2006/main">
            <a:srgbClr val="0E7C86"/>
          </a:solidFill>
          <a:ln xmlns:a="http://schemas.openxmlformats.org/drawingml/2006/main" w="9525">
            <a:solidFill>
              <a:srgbClr val="FFFFFF"/>
            </a:solidFill>
            <a:prstDash val="solid"/>
          </a:ln>
        </p:spPr>
      </p:sp>
      <p:sp>
        <p:nvSpPr>
          <p:cNvPr id="83" name="Text 81">
            <a:extLst xmlns:a="http://schemas.openxmlformats.org/drawingml/2006/main">
              <a:ext uri="{FF2B5EF4-FFF2-40B4-BE49-F238E27FC236}">
                <a16:creationId xmlns:a16="http://schemas.microsoft.com/office/drawing/2014/main" id="{45903FE9-8DBD-4CC1-A3B1-F8F9811D8857}"/>
              </a:ext>
            </a:extLst>
          </p:cNvPr>
          <p:cNvSpPr>
            <a:spLocks xmlns:a="http://schemas.openxmlformats.org/drawingml/2006/main" noGrp="1"/>
          </p:cNvSpPr>
          <p:nvPr/>
        </p:nvSpPr>
        <p:spPr>
          <a:xfrm xmlns:a="http://schemas.openxmlformats.org/drawingml/2006/main">
            <a:off x="9802368" y="5065776"/>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5B6B75"/>
                </a:solidFill>
                <a:latin typeface="Calibri"/>
                <a:ea typeface="Calibri"/>
                <a:cs typeface="Calibri"/>
              </a:rPr>
              <a:t>n=1,058</a:t>
            </a:r>
            <a:endParaRPr sz="850"/>
          </a:p>
        </p:txBody>
      </p:sp>
      <p:sp>
        <p:nvSpPr>
          <p:cNvPr id="84" name="Text 82">
            <a:extLst xmlns:a="http://schemas.openxmlformats.org/drawingml/2006/main">
              <a:ext uri="{FF2B5EF4-FFF2-40B4-BE49-F238E27FC236}">
                <a16:creationId xmlns:a16="http://schemas.microsoft.com/office/drawing/2014/main" id="{F035A3C5-A7BF-4BBA-9405-381AE382C5F2}"/>
              </a:ext>
            </a:extLst>
          </p:cNvPr>
          <p:cNvSpPr>
            <a:spLocks xmlns:a="http://schemas.openxmlformats.org/drawingml/2006/main" noGrp="1"/>
          </p:cNvSpPr>
          <p:nvPr/>
        </p:nvSpPr>
        <p:spPr>
          <a:xfrm xmlns:a="http://schemas.openxmlformats.org/drawingml/2006/main">
            <a:off x="502920" y="5387645"/>
            <a:ext cx="2194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b="1">
                <a:solidFill>
                  <a:srgbClr val="C2660A"/>
                </a:solidFill>
                <a:latin typeface="Calibri"/>
                <a:ea typeface="Calibri"/>
                <a:cs typeface="Calibri"/>
              </a:rPr>
              <a:t>Al-Jouf</a:t>
            </a:r>
            <a:endParaRPr sz="1000"/>
          </a:p>
        </p:txBody>
      </p:sp>
      <p:sp>
        <p:nvSpPr>
          <p:cNvPr id="85" name="Shape 83">
            <a:extLst xmlns:a="http://schemas.openxmlformats.org/drawingml/2006/main">
              <a:ext uri="{FF2B5EF4-FFF2-40B4-BE49-F238E27FC236}">
                <a16:creationId xmlns:a16="http://schemas.microsoft.com/office/drawing/2014/main" id="{459FEA20-79C8-41D7-9870-3C857746806A}"/>
              </a:ext>
            </a:extLst>
          </p:cNvPr>
          <p:cNvSpPr>
            <a:spLocks xmlns:a="http://schemas.openxmlformats.org/drawingml/2006/main" noGrp="1"/>
          </p:cNvSpPr>
          <p:nvPr/>
        </p:nvSpPr>
        <p:spPr>
          <a:xfrm xmlns:a="http://schemas.openxmlformats.org/drawingml/2006/main">
            <a:off x="3906202" y="5524805"/>
            <a:ext cx="3000375" cy="0"/>
          </a:xfrm>
          <a:prstGeom xmlns:a="http://schemas.openxmlformats.org/drawingml/2006/main" prst="line">
            <a:avLst/>
          </a:prstGeom>
          <a:noFill xmlns:a="http://schemas.openxmlformats.org/drawingml/2006/main"/>
          <a:ln xmlns:a="http://schemas.openxmlformats.org/drawingml/2006/main" w="28575">
            <a:solidFill>
              <a:srgbClr val="C2660A"/>
            </a:solidFill>
            <a:prstDash val="solid"/>
          </a:ln>
        </p:spPr>
      </p:sp>
      <p:sp>
        <p:nvSpPr>
          <p:cNvPr id="86" name="Shape 84">
            <a:extLst xmlns:a="http://schemas.openxmlformats.org/drawingml/2006/main">
              <a:ext uri="{FF2B5EF4-FFF2-40B4-BE49-F238E27FC236}">
                <a16:creationId xmlns:a16="http://schemas.microsoft.com/office/drawing/2014/main" id="{E7D25A00-6725-41D2-B6F6-E876B6CE3077}"/>
              </a:ext>
            </a:extLst>
          </p:cNvPr>
          <p:cNvSpPr>
            <a:spLocks xmlns:a="http://schemas.openxmlformats.org/drawingml/2006/main" noGrp="1"/>
          </p:cNvSpPr>
          <p:nvPr/>
        </p:nvSpPr>
        <p:spPr>
          <a:xfrm xmlns:a="http://schemas.openxmlformats.org/drawingml/2006/main">
            <a:off x="3906202" y="5460797"/>
            <a:ext cx="0" cy="128016"/>
          </a:xfrm>
          <a:prstGeom xmlns:a="http://schemas.openxmlformats.org/drawingml/2006/main" prst="line">
            <a:avLst/>
          </a:prstGeom>
          <a:noFill xmlns:a="http://schemas.openxmlformats.org/drawingml/2006/main"/>
          <a:ln xmlns:a="http://schemas.openxmlformats.org/drawingml/2006/main" w="25400">
            <a:solidFill>
              <a:srgbClr val="C2660A"/>
            </a:solidFill>
            <a:prstDash val="solid"/>
          </a:ln>
        </p:spPr>
      </p:sp>
      <p:sp>
        <p:nvSpPr>
          <p:cNvPr id="87" name="Shape 85">
            <a:extLst xmlns:a="http://schemas.openxmlformats.org/drawingml/2006/main">
              <a:ext uri="{FF2B5EF4-FFF2-40B4-BE49-F238E27FC236}">
                <a16:creationId xmlns:a16="http://schemas.microsoft.com/office/drawing/2014/main" id="{85E0B222-7B26-4640-900E-A987343571AA}"/>
              </a:ext>
            </a:extLst>
          </p:cNvPr>
          <p:cNvSpPr>
            <a:spLocks xmlns:a="http://schemas.openxmlformats.org/drawingml/2006/main" noGrp="1"/>
          </p:cNvSpPr>
          <p:nvPr/>
        </p:nvSpPr>
        <p:spPr>
          <a:xfrm xmlns:a="http://schemas.openxmlformats.org/drawingml/2006/main">
            <a:off x="6906578" y="5460797"/>
            <a:ext cx="0" cy="128016"/>
          </a:xfrm>
          <a:prstGeom xmlns:a="http://schemas.openxmlformats.org/drawingml/2006/main" prst="line">
            <a:avLst/>
          </a:prstGeom>
          <a:noFill xmlns:a="http://schemas.openxmlformats.org/drawingml/2006/main"/>
          <a:ln xmlns:a="http://schemas.openxmlformats.org/drawingml/2006/main" w="25400">
            <a:solidFill>
              <a:srgbClr val="C2660A"/>
            </a:solidFill>
            <a:prstDash val="solid"/>
          </a:ln>
        </p:spPr>
      </p:sp>
      <p:sp>
        <p:nvSpPr>
          <p:cNvPr id="88" name="Shape 86">
            <a:extLst xmlns:a="http://schemas.openxmlformats.org/drawingml/2006/main">
              <a:ext uri="{FF2B5EF4-FFF2-40B4-BE49-F238E27FC236}">
                <a16:creationId xmlns:a16="http://schemas.microsoft.com/office/drawing/2014/main" id="{A2909FE9-13A6-4CB6-8DD8-C40AF0623D1F}"/>
              </a:ext>
            </a:extLst>
          </p:cNvPr>
          <p:cNvSpPr>
            <a:spLocks xmlns:a="http://schemas.openxmlformats.org/drawingml/2006/main" noGrp="1"/>
          </p:cNvSpPr>
          <p:nvPr/>
        </p:nvSpPr>
        <p:spPr>
          <a:xfrm xmlns:a="http://schemas.openxmlformats.org/drawingml/2006/main">
            <a:off x="5227511" y="5474513"/>
            <a:ext cx="100584" cy="100584"/>
          </a:xfrm>
          <a:prstGeom xmlns:a="http://schemas.openxmlformats.org/drawingml/2006/main" prst="ellipse">
            <a:avLst/>
          </a:prstGeom>
          <a:solidFill xmlns:a="http://schemas.openxmlformats.org/drawingml/2006/main">
            <a:srgbClr val="C2660A"/>
          </a:solidFill>
          <a:ln xmlns:a="http://schemas.openxmlformats.org/drawingml/2006/main" w="9525">
            <a:solidFill>
              <a:srgbClr val="FFFFFF"/>
            </a:solidFill>
            <a:prstDash val="solid"/>
          </a:ln>
        </p:spPr>
      </p:sp>
      <p:sp>
        <p:nvSpPr>
          <p:cNvPr id="89" name="Text 87">
            <a:extLst xmlns:a="http://schemas.openxmlformats.org/drawingml/2006/main">
              <a:ext uri="{FF2B5EF4-FFF2-40B4-BE49-F238E27FC236}">
                <a16:creationId xmlns:a16="http://schemas.microsoft.com/office/drawing/2014/main" id="{9C24D935-B550-409F-987A-849D969B4F71}"/>
              </a:ext>
            </a:extLst>
          </p:cNvPr>
          <p:cNvSpPr>
            <a:spLocks xmlns:a="http://schemas.openxmlformats.org/drawingml/2006/main" noGrp="1"/>
          </p:cNvSpPr>
          <p:nvPr/>
        </p:nvSpPr>
        <p:spPr>
          <a:xfrm xmlns:a="http://schemas.openxmlformats.org/drawingml/2006/main">
            <a:off x="9802368" y="5387645"/>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5B6B75"/>
                </a:solidFill>
                <a:latin typeface="Calibri"/>
                <a:ea typeface="Calibri"/>
                <a:cs typeface="Calibri"/>
              </a:rPr>
              <a:t>n=414</a:t>
            </a:r>
            <a:endParaRPr sz="850"/>
          </a:p>
        </p:txBody>
      </p:sp>
      <p:sp>
        <p:nvSpPr>
          <p:cNvPr id="90" name="Text 88">
            <a:extLst xmlns:a="http://schemas.openxmlformats.org/drawingml/2006/main">
              <a:ext uri="{FF2B5EF4-FFF2-40B4-BE49-F238E27FC236}">
                <a16:creationId xmlns:a16="http://schemas.microsoft.com/office/drawing/2014/main" id="{AF118C82-B5D9-49A8-A8F9-2FBE4CB7C2A6}"/>
              </a:ext>
            </a:extLst>
          </p:cNvPr>
          <p:cNvSpPr>
            <a:spLocks xmlns:a="http://schemas.openxmlformats.org/drawingml/2006/main" noGrp="1"/>
          </p:cNvSpPr>
          <p:nvPr/>
        </p:nvSpPr>
        <p:spPr>
          <a:xfrm xmlns:a="http://schemas.openxmlformats.org/drawingml/2006/main">
            <a:off x="502920" y="5709514"/>
            <a:ext cx="2194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b="1">
                <a:solidFill>
                  <a:srgbClr val="1E7B52"/>
                </a:solidFill>
                <a:latin typeface="Calibri"/>
                <a:ea typeface="Calibri"/>
                <a:cs typeface="Calibri"/>
              </a:rPr>
              <a:t>Eastern Province</a:t>
            </a:r>
            <a:endParaRPr sz="1000"/>
          </a:p>
        </p:txBody>
      </p:sp>
      <p:sp>
        <p:nvSpPr>
          <p:cNvPr id="91" name="Shape 89">
            <a:extLst xmlns:a="http://schemas.openxmlformats.org/drawingml/2006/main">
              <a:ext uri="{FF2B5EF4-FFF2-40B4-BE49-F238E27FC236}">
                <a16:creationId xmlns:a16="http://schemas.microsoft.com/office/drawing/2014/main" id="{F607278F-C027-461B-BA19-72D882BF2E39}"/>
              </a:ext>
            </a:extLst>
          </p:cNvPr>
          <p:cNvSpPr>
            <a:spLocks xmlns:a="http://schemas.openxmlformats.org/drawingml/2006/main" noGrp="1"/>
          </p:cNvSpPr>
          <p:nvPr/>
        </p:nvSpPr>
        <p:spPr>
          <a:xfrm xmlns:a="http://schemas.openxmlformats.org/drawingml/2006/main">
            <a:off x="4892040" y="5846674"/>
            <a:ext cx="685800" cy="0"/>
          </a:xfrm>
          <a:prstGeom xmlns:a="http://schemas.openxmlformats.org/drawingml/2006/main" prst="line">
            <a:avLst/>
          </a:prstGeom>
          <a:noFill xmlns:a="http://schemas.openxmlformats.org/drawingml/2006/main"/>
          <a:ln xmlns:a="http://schemas.openxmlformats.org/drawingml/2006/main" w="28575">
            <a:solidFill>
              <a:srgbClr val="1E7B52"/>
            </a:solidFill>
            <a:prstDash val="solid"/>
          </a:ln>
        </p:spPr>
      </p:sp>
      <p:sp>
        <p:nvSpPr>
          <p:cNvPr id="92" name="Shape 90">
            <a:extLst xmlns:a="http://schemas.openxmlformats.org/drawingml/2006/main">
              <a:ext uri="{FF2B5EF4-FFF2-40B4-BE49-F238E27FC236}">
                <a16:creationId xmlns:a16="http://schemas.microsoft.com/office/drawing/2014/main" id="{2D305C06-25D2-49D6-810A-2BA570AFAD90}"/>
              </a:ext>
            </a:extLst>
          </p:cNvPr>
          <p:cNvSpPr>
            <a:spLocks xmlns:a="http://schemas.openxmlformats.org/drawingml/2006/main" noGrp="1"/>
          </p:cNvSpPr>
          <p:nvPr/>
        </p:nvSpPr>
        <p:spPr>
          <a:xfrm xmlns:a="http://schemas.openxmlformats.org/drawingml/2006/main">
            <a:off x="4892040" y="5782666"/>
            <a:ext cx="0" cy="128016"/>
          </a:xfrm>
          <a:prstGeom xmlns:a="http://schemas.openxmlformats.org/drawingml/2006/main" prst="line">
            <a:avLst/>
          </a:prstGeom>
          <a:noFill xmlns:a="http://schemas.openxmlformats.org/drawingml/2006/main"/>
          <a:ln xmlns:a="http://schemas.openxmlformats.org/drawingml/2006/main" w="25400">
            <a:solidFill>
              <a:srgbClr val="1E7B52"/>
            </a:solidFill>
            <a:prstDash val="solid"/>
          </a:ln>
        </p:spPr>
      </p:sp>
      <p:sp>
        <p:nvSpPr>
          <p:cNvPr id="93" name="Shape 91">
            <a:extLst xmlns:a="http://schemas.openxmlformats.org/drawingml/2006/main">
              <a:ext uri="{FF2B5EF4-FFF2-40B4-BE49-F238E27FC236}">
                <a16:creationId xmlns:a16="http://schemas.microsoft.com/office/drawing/2014/main" id="{88D66F3B-333E-4388-9A59-B22B6307F3A7}"/>
              </a:ext>
            </a:extLst>
          </p:cNvPr>
          <p:cNvSpPr>
            <a:spLocks xmlns:a="http://schemas.openxmlformats.org/drawingml/2006/main" noGrp="1"/>
          </p:cNvSpPr>
          <p:nvPr/>
        </p:nvSpPr>
        <p:spPr>
          <a:xfrm xmlns:a="http://schemas.openxmlformats.org/drawingml/2006/main">
            <a:off x="5577840" y="5782666"/>
            <a:ext cx="0" cy="128016"/>
          </a:xfrm>
          <a:prstGeom xmlns:a="http://schemas.openxmlformats.org/drawingml/2006/main" prst="line">
            <a:avLst/>
          </a:prstGeom>
          <a:noFill xmlns:a="http://schemas.openxmlformats.org/drawingml/2006/main"/>
          <a:ln xmlns:a="http://schemas.openxmlformats.org/drawingml/2006/main" w="25400">
            <a:solidFill>
              <a:srgbClr val="1E7B52"/>
            </a:solidFill>
            <a:prstDash val="solid"/>
          </a:ln>
        </p:spPr>
      </p:sp>
      <p:sp>
        <p:nvSpPr>
          <p:cNvPr id="94" name="Shape 92">
            <a:extLst xmlns:a="http://schemas.openxmlformats.org/drawingml/2006/main">
              <a:ext uri="{FF2B5EF4-FFF2-40B4-BE49-F238E27FC236}">
                <a16:creationId xmlns:a16="http://schemas.microsoft.com/office/drawing/2014/main" id="{61CF519B-8474-4B51-A362-45374E832C92}"/>
              </a:ext>
            </a:extLst>
          </p:cNvPr>
          <p:cNvSpPr>
            <a:spLocks xmlns:a="http://schemas.openxmlformats.org/drawingml/2006/main" noGrp="1"/>
          </p:cNvSpPr>
          <p:nvPr/>
        </p:nvSpPr>
        <p:spPr>
          <a:xfrm xmlns:a="http://schemas.openxmlformats.org/drawingml/2006/main">
            <a:off x="5184648" y="5796382"/>
            <a:ext cx="100584" cy="100584"/>
          </a:xfrm>
          <a:prstGeom xmlns:a="http://schemas.openxmlformats.org/drawingml/2006/main" prst="ellipse">
            <a:avLst/>
          </a:prstGeom>
          <a:solidFill xmlns:a="http://schemas.openxmlformats.org/drawingml/2006/main">
            <a:srgbClr val="1E7B52"/>
          </a:solidFill>
          <a:ln xmlns:a="http://schemas.openxmlformats.org/drawingml/2006/main" w="9525">
            <a:solidFill>
              <a:srgbClr val="FFFFFF"/>
            </a:solidFill>
            <a:prstDash val="solid"/>
          </a:ln>
        </p:spPr>
      </p:sp>
      <p:sp>
        <p:nvSpPr>
          <p:cNvPr id="95" name="Text 93">
            <a:extLst xmlns:a="http://schemas.openxmlformats.org/drawingml/2006/main">
              <a:ext uri="{FF2B5EF4-FFF2-40B4-BE49-F238E27FC236}">
                <a16:creationId xmlns:a16="http://schemas.microsoft.com/office/drawing/2014/main" id="{F6AE69E8-EE89-4C70-AC46-32F4757697FB}"/>
              </a:ext>
            </a:extLst>
          </p:cNvPr>
          <p:cNvSpPr>
            <a:spLocks xmlns:a="http://schemas.openxmlformats.org/drawingml/2006/main" noGrp="1"/>
          </p:cNvSpPr>
          <p:nvPr/>
        </p:nvSpPr>
        <p:spPr>
          <a:xfrm xmlns:a="http://schemas.openxmlformats.org/drawingml/2006/main">
            <a:off x="9802368" y="5709514"/>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5B6B75"/>
                </a:solidFill>
                <a:latin typeface="Calibri"/>
                <a:ea typeface="Calibri"/>
                <a:cs typeface="Calibri"/>
              </a:rPr>
              <a:t>n=7,957</a:t>
            </a:r>
            <a:endParaRPr sz="850"/>
          </a:p>
        </p:txBody>
      </p:sp>
      <p:sp>
        <p:nvSpPr>
          <p:cNvPr id="96" name="Shape 94">
            <a:extLst xmlns:a="http://schemas.openxmlformats.org/drawingml/2006/main">
              <a:ext uri="{FF2B5EF4-FFF2-40B4-BE49-F238E27FC236}">
                <a16:creationId xmlns:a16="http://schemas.microsoft.com/office/drawing/2014/main" id="{9A250998-5420-413D-9D65-774B0EE83AC5}"/>
              </a:ext>
            </a:extLst>
          </p:cNvPr>
          <p:cNvSpPr>
            <a:spLocks xmlns:a="http://schemas.openxmlformats.org/drawingml/2006/main" noGrp="1"/>
          </p:cNvSpPr>
          <p:nvPr/>
        </p:nvSpPr>
        <p:spPr>
          <a:xfrm xmlns:a="http://schemas.openxmlformats.org/drawingml/2006/main">
            <a:off x="10716768" y="1883664"/>
            <a:ext cx="969264" cy="4206240"/>
          </a:xfrm>
          <a:prstGeom xmlns:a="http://schemas.openxmlformats.org/drawingml/2006/main" prst="roundRect">
            <a:avLst>
              <a:gd name="adj" fmla="val 8491"/>
            </a:avLst>
          </a:prstGeom>
          <a:solidFill xmlns:a="http://schemas.openxmlformats.org/drawingml/2006/main">
            <a:srgbClr val="FFFFFF"/>
          </a:solidFill>
        </p:spPr>
      </p:sp>
      <p:sp>
        <p:nvSpPr>
          <p:cNvPr id="97" name="Text 95">
            <a:extLst xmlns:a="http://schemas.openxmlformats.org/drawingml/2006/main">
              <a:ext uri="{FF2B5EF4-FFF2-40B4-BE49-F238E27FC236}">
                <a16:creationId xmlns:a16="http://schemas.microsoft.com/office/drawing/2014/main" id="{220AED29-ADA1-4CA8-BBD9-68239462B199}"/>
              </a:ext>
            </a:extLst>
          </p:cNvPr>
          <p:cNvSpPr>
            <a:spLocks xmlns:a="http://schemas.openxmlformats.org/drawingml/2006/main" noGrp="1"/>
          </p:cNvSpPr>
          <p:nvPr/>
        </p:nvSpPr>
        <p:spPr>
          <a:xfrm xmlns:a="http://schemas.openxmlformats.org/drawingml/2006/main">
            <a:off x="10771632" y="1856232"/>
            <a:ext cx="896112"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b="1">
                <a:solidFill>
                  <a:srgbClr val="B4232A"/>
                </a:solidFill>
                <a:latin typeface="Calibri"/>
                <a:ea typeface="Calibri"/>
                <a:cs typeface="Calibri"/>
              </a:rPr>
              <a:t>Makkah: </a:t>
            </a:r>
            <a:r>
              <a:rPr sz="900">
                <a:solidFill>
                  <a:srgbClr val="24313A"/>
                </a:solidFill>
                <a:latin typeface="Calibri"/>
                <a:ea typeface="Calibri"/>
                <a:cs typeface="Calibri"/>
              </a:rPr>
              <a:t>20.8% — entire CI above national. Real.</a:t>
            </a:r>
            <a:endParaRPr sz="950"/>
          </a:p>
        </p:txBody>
      </p:sp>
      <p:sp>
        <p:nvSpPr>
          <p:cNvPr id="98" name="Text 96">
            <a:extLst xmlns:a="http://schemas.openxmlformats.org/drawingml/2006/main">
              <a:ext uri="{FF2B5EF4-FFF2-40B4-BE49-F238E27FC236}">
                <a16:creationId xmlns:a16="http://schemas.microsoft.com/office/drawing/2014/main" id="{E30E537C-55DC-4F34-AE1B-B3AD47EC9C39}"/>
              </a:ext>
            </a:extLst>
          </p:cNvPr>
          <p:cNvSpPr>
            <a:spLocks xmlns:a="http://schemas.openxmlformats.org/drawingml/2006/main" noGrp="1"/>
          </p:cNvSpPr>
          <p:nvPr/>
        </p:nvSpPr>
        <p:spPr>
          <a:xfrm xmlns:a="http://schemas.openxmlformats.org/drawingml/2006/main">
            <a:off x="10771632" y="3273552"/>
            <a:ext cx="896112"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b="1">
                <a:solidFill>
                  <a:srgbClr val="1E7B52"/>
                </a:solidFill>
                <a:latin typeface="Calibri"/>
                <a:ea typeface="Calibri"/>
                <a:cs typeface="Calibri"/>
              </a:rPr>
              <a:t>Eastern: </a:t>
            </a:r>
            <a:r>
              <a:rPr sz="900">
                <a:solidFill>
                  <a:srgbClr val="24313A"/>
                </a:solidFill>
                <a:latin typeface="Calibri"/>
                <a:ea typeface="Calibri"/>
                <a:cs typeface="Calibri"/>
              </a:rPr>
              <a:t>15.6% — entire CI below. Real.</a:t>
            </a:r>
            <a:endParaRPr sz="950"/>
          </a:p>
        </p:txBody>
      </p:sp>
      <p:sp>
        <p:nvSpPr>
          <p:cNvPr id="99" name="Text 97">
            <a:extLst xmlns:a="http://schemas.openxmlformats.org/drawingml/2006/main">
              <a:ext uri="{FF2B5EF4-FFF2-40B4-BE49-F238E27FC236}">
                <a16:creationId xmlns:a16="http://schemas.microsoft.com/office/drawing/2014/main" id="{BBAF45AA-461E-4754-8EA1-2B06983B10EF}"/>
              </a:ext>
            </a:extLst>
          </p:cNvPr>
          <p:cNvSpPr>
            <a:spLocks xmlns:a="http://schemas.openxmlformats.org/drawingml/2006/main" noGrp="1"/>
          </p:cNvSpPr>
          <p:nvPr/>
        </p:nvSpPr>
        <p:spPr>
          <a:xfrm xmlns:a="http://schemas.openxmlformats.org/drawingml/2006/main">
            <a:off x="10771632" y="4690872"/>
            <a:ext cx="896112"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b="1">
                <a:solidFill>
                  <a:srgbClr val="C2660A"/>
                </a:solidFill>
                <a:latin typeface="Calibri"/>
                <a:ea typeface="Calibri"/>
                <a:cs typeface="Calibri"/>
              </a:rPr>
              <a:t>Al-Jouf: </a:t>
            </a:r>
            <a:r>
              <a:rPr sz="900">
                <a:solidFill>
                  <a:srgbClr val="24313A"/>
                </a:solidFill>
                <a:latin typeface="Calibri"/>
                <a:ea typeface="Calibri"/>
                <a:cs typeface="Calibri"/>
              </a:rPr>
              <a:t>15.7% but n = 414 → CI [12.5, 19.5] straddles national. Noise.</a:t>
            </a:r>
            <a:endParaRPr sz="950"/>
          </a:p>
        </p:txBody>
      </p:sp>
    </p:spTree>
    <p:extLst>
      <p:ext uri="{BB962C8B-B14F-4D97-AF65-F5344CB8AC3E}">
        <p14:creationId xmlns:p14="http://schemas.microsoft.com/office/powerpoint/2010/main" val="147367069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921A26A-37C9-445D-86BD-61B92E4C6A28}"/>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24DB1CFE-52A8-42F8-9B40-1028CFA253C6}"/>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36</a:t>
            </a:r>
            <a:endParaRPr sz="900"/>
          </a:p>
        </p:txBody>
      </p:sp>
      <p:sp>
        <p:nvSpPr>
          <p:cNvPr id="4" name="Shape 2">
            <a:extLst xmlns:a="http://schemas.openxmlformats.org/drawingml/2006/main">
              <a:ext uri="{FF2B5EF4-FFF2-40B4-BE49-F238E27FC236}">
                <a16:creationId xmlns:a16="http://schemas.microsoft.com/office/drawing/2014/main" id="{F0E2897A-EB66-487A-BDC1-DAF44189326A}"/>
              </a:ext>
            </a:extLst>
          </p:cNvPr>
          <p:cNvSpPr>
            <a:spLocks xmlns:a="http://schemas.openxmlformats.org/drawingml/2006/main" noGrp="1"/>
          </p:cNvSpPr>
          <p:nvPr/>
        </p:nvSpPr>
        <p:spPr>
          <a:xfrm xmlns:a="http://schemas.openxmlformats.org/drawingml/2006/main">
            <a:off x="502920" y="384048"/>
            <a:ext cx="2096719" cy="292608"/>
          </a:xfrm>
          <a:prstGeom xmlns:a="http://schemas.openxmlformats.org/drawingml/2006/main" prst="roundRect">
            <a:avLst>
              <a:gd name="adj" fmla="val 50000"/>
            </a:avLst>
          </a:prstGeom>
          <a:solidFill xmlns:a="http://schemas.openxmlformats.org/drawingml/2006/main">
            <a:srgbClr val="0B3140"/>
          </a:solidFill>
        </p:spPr>
      </p:sp>
      <p:sp>
        <p:nvSpPr>
          <p:cNvPr id="5" name="Text 3">
            <a:extLst xmlns:a="http://schemas.openxmlformats.org/drawingml/2006/main">
              <a:ext uri="{FF2B5EF4-FFF2-40B4-BE49-F238E27FC236}">
                <a16:creationId xmlns:a16="http://schemas.microsoft.com/office/drawing/2014/main" id="{1212BA47-392A-473E-B7D0-81312513142B}"/>
              </a:ext>
            </a:extLst>
          </p:cNvPr>
          <p:cNvSpPr>
            <a:spLocks xmlns:a="http://schemas.openxmlformats.org/drawingml/2006/main" noGrp="1"/>
          </p:cNvSpPr>
          <p:nvPr/>
        </p:nvSpPr>
        <p:spPr>
          <a:xfrm xmlns:a="http://schemas.openxmlformats.org/drawingml/2006/main">
            <a:off x="502920" y="384048"/>
            <a:ext cx="209671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3 · CASE STUDY</a:t>
            </a:r>
            <a:endParaRPr sz="1050"/>
          </a:p>
        </p:txBody>
      </p:sp>
      <p:sp>
        <p:nvSpPr>
          <p:cNvPr id="6" name="Text 4">
            <a:extLst xmlns:a="http://schemas.openxmlformats.org/drawingml/2006/main">
              <a:ext uri="{FF2B5EF4-FFF2-40B4-BE49-F238E27FC236}">
                <a16:creationId xmlns:a16="http://schemas.microsoft.com/office/drawing/2014/main" id="{A5E044C8-2B3E-4E5E-A6DB-36214384BF49}"/>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The region that wasn't in crisis</a:t>
            </a:r>
            <a:endParaRPr sz="2800"/>
          </a:p>
        </p:txBody>
      </p:sp>
      <p:sp>
        <p:nvSpPr>
          <p:cNvPr id="7" name="Shape 5">
            <a:extLst xmlns:a="http://schemas.openxmlformats.org/drawingml/2006/main">
              <a:ext uri="{FF2B5EF4-FFF2-40B4-BE49-F238E27FC236}">
                <a16:creationId xmlns:a16="http://schemas.microsoft.com/office/drawing/2014/main" id="{133C75ED-F008-4187-9DFE-00BB3D87251F}"/>
              </a:ext>
            </a:extLst>
          </p:cNvPr>
          <p:cNvSpPr>
            <a:spLocks xmlns:a="http://schemas.openxmlformats.org/drawingml/2006/main" noGrp="1"/>
          </p:cNvSpPr>
          <p:nvPr/>
        </p:nvSpPr>
        <p:spPr>
          <a:xfrm xmlns:a="http://schemas.openxmlformats.org/drawingml/2006/main">
            <a:off x="502920" y="1545336"/>
            <a:ext cx="5532120" cy="2240280"/>
          </a:xfrm>
          <a:prstGeom xmlns:a="http://schemas.openxmlformats.org/drawingml/2006/main" prst="roundRect">
            <a:avLst>
              <a:gd name="adj" fmla="val 3673"/>
            </a:avLst>
          </a:prstGeom>
          <a:solidFill xmlns:a="http://schemas.openxmlformats.org/drawingml/2006/main">
            <a:srgbClr val="F3F8F9"/>
          </a:solidFill>
        </p:spPr>
      </p:sp>
      <p:sp>
        <p:nvSpPr>
          <p:cNvPr id="8" name="Shape 6">
            <a:extLst xmlns:a="http://schemas.openxmlformats.org/drawingml/2006/main">
              <a:ext uri="{FF2B5EF4-FFF2-40B4-BE49-F238E27FC236}">
                <a16:creationId xmlns:a16="http://schemas.microsoft.com/office/drawing/2014/main" id="{C4F32F21-954E-4C9A-955B-4DCEEA19B9E7}"/>
              </a:ext>
            </a:extLst>
          </p:cNvPr>
          <p:cNvSpPr>
            <a:spLocks xmlns:a="http://schemas.openxmlformats.org/drawingml/2006/main" noGrp="1"/>
          </p:cNvSpPr>
          <p:nvPr/>
        </p:nvSpPr>
        <p:spPr>
          <a:xfrm xmlns:a="http://schemas.openxmlformats.org/drawingml/2006/main">
            <a:off x="704088" y="1728216"/>
            <a:ext cx="384048" cy="384048"/>
          </a:xfrm>
          <a:prstGeom xmlns:a="http://schemas.openxmlformats.org/drawingml/2006/main" prst="ellipse">
            <a:avLst/>
          </a:prstGeom>
          <a:solidFill xmlns:a="http://schemas.openxmlformats.org/drawingml/2006/main">
            <a:srgbClr val="0B3140"/>
          </a:solidFill>
        </p:spPr>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c2116881522d48c2"/>
          <a:stretch xmlns:a="http://schemas.openxmlformats.org/drawingml/2006/main">
            <a:fillRect l="0" t="0" r="0" b="0"/>
          </a:stretch>
        </p:blipFill>
        <p:spPr>
          <a:xfrm xmlns:a="http://schemas.openxmlformats.org/drawingml/2006/main">
            <a:off x="803940" y="1828068"/>
            <a:ext cx="184343" cy="184343"/>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2DBD4818-1A98-43C8-90E8-6F7B7DBC7851}"/>
              </a:ext>
            </a:extLst>
          </p:cNvPr>
          <p:cNvSpPr>
            <a:spLocks xmlns:a="http://schemas.openxmlformats.org/drawingml/2006/main" noGrp="1"/>
          </p:cNvSpPr>
          <p:nvPr/>
        </p:nvSpPr>
        <p:spPr>
          <a:xfrm xmlns:a="http://schemas.openxmlformats.org/drawingml/2006/main">
            <a:off x="1216152" y="1764792"/>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Scenario</a:t>
            </a:r>
            <a:endParaRPr sz="1350"/>
          </a:p>
        </p:txBody>
      </p:sp>
      <p:sp>
        <p:nvSpPr>
          <p:cNvPr id="11" name="Text 8">
            <a:extLst xmlns:a="http://schemas.openxmlformats.org/drawingml/2006/main">
              <a:ext uri="{FF2B5EF4-FFF2-40B4-BE49-F238E27FC236}">
                <a16:creationId xmlns:a16="http://schemas.microsoft.com/office/drawing/2014/main" id="{C5D9B56E-2AB6-464D-9627-1FD6A3A042EF}"/>
              </a:ext>
            </a:extLst>
          </p:cNvPr>
          <p:cNvSpPr>
            <a:spLocks xmlns:a="http://schemas.openxmlformats.org/drawingml/2006/main" noGrp="1"/>
          </p:cNvSpPr>
          <p:nvPr/>
        </p:nvSpPr>
        <p:spPr>
          <a:xfrm xmlns:a="http://schemas.openxmlformats.org/drawingml/2006/main">
            <a:off x="758952" y="2203704"/>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24313A"/>
                </a:solidFill>
                <a:latin typeface="Calibri"/>
                <a:ea typeface="Calibri"/>
                <a:cs typeface="Calibri"/>
              </a:rPr>
              <a:t>A weekly ops report ranks regions by raw no-show rate. A small region tops the league table one week at 24%; leadership drafts an intervention and a press line. An analyst is asked to 'confirm the number'.</a:t>
            </a:r>
            <a:endParaRPr sz="1100"/>
          </a:p>
        </p:txBody>
      </p:sp>
      <p:sp>
        <p:nvSpPr>
          <p:cNvPr id="12" name="Shape 9">
            <a:extLst xmlns:a="http://schemas.openxmlformats.org/drawingml/2006/main">
              <a:ext uri="{FF2B5EF4-FFF2-40B4-BE49-F238E27FC236}">
                <a16:creationId xmlns:a16="http://schemas.microsoft.com/office/drawing/2014/main" id="{DE255213-D6B3-4AAE-9983-C1DE1456A778}"/>
              </a:ext>
            </a:extLst>
          </p:cNvPr>
          <p:cNvSpPr>
            <a:spLocks xmlns:a="http://schemas.openxmlformats.org/drawingml/2006/main" noGrp="1"/>
          </p:cNvSpPr>
          <p:nvPr/>
        </p:nvSpPr>
        <p:spPr>
          <a:xfrm xmlns:a="http://schemas.openxmlformats.org/drawingml/2006/main">
            <a:off x="6199632" y="1545336"/>
            <a:ext cx="5532120" cy="2240280"/>
          </a:xfrm>
          <a:prstGeom xmlns:a="http://schemas.openxmlformats.org/drawingml/2006/main" prst="roundRect">
            <a:avLst>
              <a:gd name="adj" fmla="val 3673"/>
            </a:avLst>
          </a:prstGeom>
          <a:solidFill xmlns:a="http://schemas.openxmlformats.org/drawingml/2006/main">
            <a:srgbClr val="FBEEDD"/>
          </a:solidFill>
        </p:spPr>
      </p:sp>
      <p:sp>
        <p:nvSpPr>
          <p:cNvPr id="13" name="Shape 10">
            <a:extLst xmlns:a="http://schemas.openxmlformats.org/drawingml/2006/main">
              <a:ext uri="{FF2B5EF4-FFF2-40B4-BE49-F238E27FC236}">
                <a16:creationId xmlns:a16="http://schemas.microsoft.com/office/drawing/2014/main" id="{27DCE082-5CDA-4D99-804F-4A84F1ED1BDF}"/>
              </a:ext>
            </a:extLst>
          </p:cNvPr>
          <p:cNvSpPr>
            <a:spLocks xmlns:a="http://schemas.openxmlformats.org/drawingml/2006/main" noGrp="1"/>
          </p:cNvSpPr>
          <p:nvPr/>
        </p:nvSpPr>
        <p:spPr>
          <a:xfrm xmlns:a="http://schemas.openxmlformats.org/drawingml/2006/main">
            <a:off x="6400800" y="1728216"/>
            <a:ext cx="384048" cy="384048"/>
          </a:xfrm>
          <a:prstGeom xmlns:a="http://schemas.openxmlformats.org/drawingml/2006/main" prst="ellipse">
            <a:avLst/>
          </a:prstGeom>
          <a:solidFill xmlns:a="http://schemas.openxmlformats.org/drawingml/2006/main">
            <a:srgbClr val="C2660A"/>
          </a:solidFill>
        </p:spPr>
      </p:sp>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4d24eb5b89cb4cd8"/>
          <a:stretch xmlns:a="http://schemas.openxmlformats.org/drawingml/2006/main">
            <a:fillRect l="0" t="0" r="0" b="0"/>
          </a:stretch>
        </p:blipFill>
        <p:spPr>
          <a:xfrm xmlns:a="http://schemas.openxmlformats.org/drawingml/2006/main">
            <a:off x="6500652" y="1828068"/>
            <a:ext cx="184343" cy="184343"/>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EA1C8D79-8D45-4A90-B855-3DB01A787F59}"/>
              </a:ext>
            </a:extLst>
          </p:cNvPr>
          <p:cNvSpPr>
            <a:spLocks xmlns:a="http://schemas.openxmlformats.org/drawingml/2006/main" noGrp="1"/>
          </p:cNvSpPr>
          <p:nvPr/>
        </p:nvSpPr>
        <p:spPr>
          <a:xfrm xmlns:a="http://schemas.openxmlformats.org/drawingml/2006/main">
            <a:off x="6912864" y="1764792"/>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The technical challenge</a:t>
            </a:r>
            <a:endParaRPr sz="1350"/>
          </a:p>
        </p:txBody>
      </p:sp>
      <p:sp>
        <p:nvSpPr>
          <p:cNvPr id="16" name="Text 12">
            <a:extLst xmlns:a="http://schemas.openxmlformats.org/drawingml/2006/main">
              <a:ext uri="{FF2B5EF4-FFF2-40B4-BE49-F238E27FC236}">
                <a16:creationId xmlns:a16="http://schemas.microsoft.com/office/drawing/2014/main" id="{072AF816-58FB-434F-8974-B0A1C2C10329}"/>
              </a:ext>
            </a:extLst>
          </p:cNvPr>
          <p:cNvSpPr>
            <a:spLocks xmlns:a="http://schemas.openxmlformats.org/drawingml/2006/main" noGrp="1"/>
          </p:cNvSpPr>
          <p:nvPr/>
        </p:nvSpPr>
        <p:spPr>
          <a:xfrm xmlns:a="http://schemas.openxmlformats.org/drawingml/2006/main">
            <a:off x="6455664" y="2203704"/>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24313A"/>
                </a:solidFill>
                <a:latin typeface="Calibri"/>
                <a:ea typeface="Calibri"/>
                <a:cs typeface="Calibri"/>
              </a:rPr>
              <a:t>The number is correct — and meaningless. With a few hundred appointments, a rate can swing ±4pp week to week from sampling noise alone. Ranking by point estimates guarantees small regions dominate both ends of the table.</a:t>
            </a:r>
            <a:endParaRPr sz="1100"/>
          </a:p>
        </p:txBody>
      </p:sp>
      <p:sp>
        <p:nvSpPr>
          <p:cNvPr id="17" name="Shape 13">
            <a:extLst xmlns:a="http://schemas.openxmlformats.org/drawingml/2006/main">
              <a:ext uri="{FF2B5EF4-FFF2-40B4-BE49-F238E27FC236}">
                <a16:creationId xmlns:a16="http://schemas.microsoft.com/office/drawing/2014/main" id="{73A29CD3-0A19-47C8-8FCA-A1A209164972}"/>
              </a:ext>
            </a:extLst>
          </p:cNvPr>
          <p:cNvSpPr>
            <a:spLocks xmlns:a="http://schemas.openxmlformats.org/drawingml/2006/main" noGrp="1"/>
          </p:cNvSpPr>
          <p:nvPr/>
        </p:nvSpPr>
        <p:spPr>
          <a:xfrm xmlns:a="http://schemas.openxmlformats.org/drawingml/2006/main">
            <a:off x="502920" y="3950208"/>
            <a:ext cx="5532120" cy="2240280"/>
          </a:xfrm>
          <a:prstGeom xmlns:a="http://schemas.openxmlformats.org/drawingml/2006/main" prst="roundRect">
            <a:avLst>
              <a:gd name="adj" fmla="val 3673"/>
            </a:avLst>
          </a:prstGeom>
          <a:solidFill xmlns:a="http://schemas.openxmlformats.org/drawingml/2006/main">
            <a:srgbClr val="E7F2F3"/>
          </a:solidFill>
        </p:spPr>
      </p:sp>
      <p:sp>
        <p:nvSpPr>
          <p:cNvPr id="18" name="Shape 14">
            <a:extLst xmlns:a="http://schemas.openxmlformats.org/drawingml/2006/main">
              <a:ext uri="{FF2B5EF4-FFF2-40B4-BE49-F238E27FC236}">
                <a16:creationId xmlns:a16="http://schemas.microsoft.com/office/drawing/2014/main" id="{7879EEEF-F6B0-4CCF-BDB7-EDAB5ED7EB9C}"/>
              </a:ext>
            </a:extLst>
          </p:cNvPr>
          <p:cNvSpPr>
            <a:spLocks xmlns:a="http://schemas.openxmlformats.org/drawingml/2006/main" noGrp="1"/>
          </p:cNvSpPr>
          <p:nvPr/>
        </p:nvSpPr>
        <p:spPr>
          <a:xfrm xmlns:a="http://schemas.openxmlformats.org/drawingml/2006/main">
            <a:off x="704088" y="4133088"/>
            <a:ext cx="384048" cy="384048"/>
          </a:xfrm>
          <a:prstGeom xmlns:a="http://schemas.openxmlformats.org/drawingml/2006/main" prst="ellipse">
            <a:avLst/>
          </a:prstGeom>
          <a:solidFill xmlns:a="http://schemas.openxmlformats.org/drawingml/2006/main">
            <a:srgbClr val="0A5C64"/>
          </a:solidFill>
        </p:spPr>
      </p:sp>
      <p:pic>
        <p:nvPicPr>
          <p:cNvPr id="48" name="Image 2"/>
          <p:cNvPicPr>
            <a:picLocks xmlns:a="http://schemas.openxmlformats.org/drawingml/2006/main" noChangeAspect="1"/>
          </p:cNvPicPr>
          <p:nvPr/>
        </p:nvPicPr>
        <p:blipFill>
          <a:blip xmlns:r="http://schemas.openxmlformats.org/officeDocument/2006/relationships" xmlns:a="http://schemas.openxmlformats.org/drawingml/2006/main" r:embed="R34b66909c93e467e"/>
          <a:stretch xmlns:a="http://schemas.openxmlformats.org/drawingml/2006/main">
            <a:fillRect l="0" t="0" r="0" b="0"/>
          </a:stretch>
        </p:blipFill>
        <p:spPr>
          <a:xfrm xmlns:a="http://schemas.openxmlformats.org/drawingml/2006/main">
            <a:off x="803940" y="4232940"/>
            <a:ext cx="184343" cy="184343"/>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3871FE71-2815-491F-BC24-1C34F46418BE}"/>
              </a:ext>
            </a:extLst>
          </p:cNvPr>
          <p:cNvSpPr>
            <a:spLocks xmlns:a="http://schemas.openxmlformats.org/drawingml/2006/main" noGrp="1"/>
          </p:cNvSpPr>
          <p:nvPr/>
        </p:nvSpPr>
        <p:spPr>
          <a:xfrm xmlns:a="http://schemas.openxmlformats.org/drawingml/2006/main">
            <a:off x="1216152" y="4169664"/>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Solution approach (facilitate, don't lecture)</a:t>
            </a:r>
            <a:endParaRPr sz="1350"/>
          </a:p>
        </p:txBody>
      </p:sp>
      <p:sp>
        <p:nvSpPr>
          <p:cNvPr id="21" name="Text 16">
            <a:extLst xmlns:a="http://schemas.openxmlformats.org/drawingml/2006/main">
              <a:ext uri="{FF2B5EF4-FFF2-40B4-BE49-F238E27FC236}">
                <a16:creationId xmlns:a16="http://schemas.microsoft.com/office/drawing/2014/main" id="{81CBEAAE-B423-4ED3-A3F1-A97E6A6BB229}"/>
              </a:ext>
            </a:extLst>
          </p:cNvPr>
          <p:cNvSpPr>
            <a:spLocks xmlns:a="http://schemas.openxmlformats.org/drawingml/2006/main" noGrp="1"/>
          </p:cNvSpPr>
          <p:nvPr/>
        </p:nvSpPr>
        <p:spPr>
          <a:xfrm xmlns:a="http://schemas.openxmlformats.org/drawingml/2006/main">
            <a:off x="758952" y="4608576"/>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Compute the Wilson CI for the flagged region and overlay the national line</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Rebuild last quarter's league table with intervals — watch small regions bounce</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Propose the fix: fund funnel plots / control limits, or shrink small-region estimates toward the national mean</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Escalate only regions whose whole interval clears the target</a:t>
            </a:r>
            <a:endParaRPr sz="1080"/>
          </a:p>
        </p:txBody>
      </p:sp>
      <p:sp>
        <p:nvSpPr>
          <p:cNvPr id="22" name="Shape 17">
            <a:extLst xmlns:a="http://schemas.openxmlformats.org/drawingml/2006/main">
              <a:ext uri="{FF2B5EF4-FFF2-40B4-BE49-F238E27FC236}">
                <a16:creationId xmlns:a16="http://schemas.microsoft.com/office/drawing/2014/main" id="{77BBC9F7-E7EE-4929-BF5C-A74A6B536FB1}"/>
              </a:ext>
            </a:extLst>
          </p:cNvPr>
          <p:cNvSpPr>
            <a:spLocks xmlns:a="http://schemas.openxmlformats.org/drawingml/2006/main" noGrp="1"/>
          </p:cNvSpPr>
          <p:nvPr/>
        </p:nvSpPr>
        <p:spPr>
          <a:xfrm xmlns:a="http://schemas.openxmlformats.org/drawingml/2006/main">
            <a:off x="6199632" y="3950208"/>
            <a:ext cx="5532120" cy="2240280"/>
          </a:xfrm>
          <a:prstGeom xmlns:a="http://schemas.openxmlformats.org/drawingml/2006/main" prst="roundRect">
            <a:avLst>
              <a:gd name="adj" fmla="val 3673"/>
            </a:avLst>
          </a:prstGeom>
          <a:solidFill xmlns:a="http://schemas.openxmlformats.org/drawingml/2006/main">
            <a:srgbClr val="F3F8F9"/>
          </a:solidFill>
        </p:spPr>
      </p:sp>
      <p:sp>
        <p:nvSpPr>
          <p:cNvPr id="23" name="Shape 18">
            <a:extLst xmlns:a="http://schemas.openxmlformats.org/drawingml/2006/main">
              <a:ext uri="{FF2B5EF4-FFF2-40B4-BE49-F238E27FC236}">
                <a16:creationId xmlns:a16="http://schemas.microsoft.com/office/drawing/2014/main" id="{63470385-7104-4DBE-86A8-43A885E29035}"/>
              </a:ext>
            </a:extLst>
          </p:cNvPr>
          <p:cNvSpPr>
            <a:spLocks xmlns:a="http://schemas.openxmlformats.org/drawingml/2006/main" noGrp="1"/>
          </p:cNvSpPr>
          <p:nvPr/>
        </p:nvSpPr>
        <p:spPr>
          <a:xfrm xmlns:a="http://schemas.openxmlformats.org/drawingml/2006/main">
            <a:off x="6400800" y="4133088"/>
            <a:ext cx="384048" cy="384048"/>
          </a:xfrm>
          <a:prstGeom xmlns:a="http://schemas.openxmlformats.org/drawingml/2006/main" prst="ellipse">
            <a:avLst/>
          </a:prstGeom>
          <a:solidFill xmlns:a="http://schemas.openxmlformats.org/drawingml/2006/main">
            <a:srgbClr val="0B3140"/>
          </a:solidFill>
        </p:spPr>
      </p:sp>
      <p:pic>
        <p:nvPicPr>
          <p:cNvPr id="53" name="Image 3"/>
          <p:cNvPicPr>
            <a:picLocks xmlns:a="http://schemas.openxmlformats.org/drawingml/2006/main" noChangeAspect="1"/>
          </p:cNvPicPr>
          <p:nvPr/>
        </p:nvPicPr>
        <p:blipFill>
          <a:blip xmlns:r="http://schemas.openxmlformats.org/officeDocument/2006/relationships" xmlns:a="http://schemas.openxmlformats.org/drawingml/2006/main" r:embed="R192cad9f1ca0484b"/>
          <a:stretch xmlns:a="http://schemas.openxmlformats.org/drawingml/2006/main">
            <a:fillRect l="0" t="0" r="0" b="0"/>
          </a:stretch>
        </p:blipFill>
        <p:spPr>
          <a:xfrm xmlns:a="http://schemas.openxmlformats.org/drawingml/2006/main">
            <a:off x="6500652" y="4232940"/>
            <a:ext cx="184343" cy="184343"/>
          </a:xfrm>
          <a:prstGeom xmlns:a="http://schemas.openxmlformats.org/drawingml/2006/main" prst="rect">
            <a:avLst/>
          </a:prstGeom>
        </p:spPr>
      </p:pic>
      <p:sp>
        <p:nvSpPr>
          <p:cNvPr id="25" name="Text 19">
            <a:extLst xmlns:a="http://schemas.openxmlformats.org/drawingml/2006/main">
              <a:ext uri="{FF2B5EF4-FFF2-40B4-BE49-F238E27FC236}">
                <a16:creationId xmlns:a16="http://schemas.microsoft.com/office/drawing/2014/main" id="{7BBDD381-80B4-47C3-B67E-926246244AB5}"/>
              </a:ext>
            </a:extLst>
          </p:cNvPr>
          <p:cNvSpPr>
            <a:spLocks xmlns:a="http://schemas.openxmlformats.org/drawingml/2006/main" noGrp="1"/>
          </p:cNvSpPr>
          <p:nvPr/>
        </p:nvSpPr>
        <p:spPr>
          <a:xfrm xmlns:a="http://schemas.openxmlformats.org/drawingml/2006/main">
            <a:off x="6912864" y="4169664"/>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Discussion</a:t>
            </a:r>
            <a:endParaRPr sz="1350"/>
          </a:p>
        </p:txBody>
      </p:sp>
      <p:sp>
        <p:nvSpPr>
          <p:cNvPr id="26" name="Text 20">
            <a:extLst xmlns:a="http://schemas.openxmlformats.org/drawingml/2006/main">
              <a:ext uri="{FF2B5EF4-FFF2-40B4-BE49-F238E27FC236}">
                <a16:creationId xmlns:a16="http://schemas.microsoft.com/office/drawing/2014/main" id="{9BA99109-93A9-49BD-BB6D-472F13274E7E}"/>
              </a:ext>
            </a:extLst>
          </p:cNvPr>
          <p:cNvSpPr>
            <a:spLocks xmlns:a="http://schemas.openxmlformats.org/drawingml/2006/main" noGrp="1"/>
          </p:cNvSpPr>
          <p:nvPr/>
        </p:nvSpPr>
        <p:spPr>
          <a:xfrm xmlns:a="http://schemas.openxmlformats.org/drawingml/2006/main">
            <a:off x="6455664" y="4608576"/>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Why do small regions dominate the top AND bottom of raw league tables?</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What is the cost of intervening on noise? Of ignoring a real signal?</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Rewrite the report's headline metric in one sentence.</a:t>
            </a:r>
            <a:endParaRPr sz="1080"/>
          </a:p>
        </p:txBody>
      </p:sp>
    </p:spTree>
    <p:extLst>
      <p:ext uri="{BB962C8B-B14F-4D97-AF65-F5344CB8AC3E}">
        <p14:creationId xmlns:p14="http://schemas.microsoft.com/office/powerpoint/2010/main" val="69533567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FB0ACF8-733D-4A47-BB97-5A7E3B97FAB5}"/>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48FE2A48-5F27-4FDA-B27C-82F450629CF0}"/>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37</a:t>
            </a:r>
            <a:endParaRPr sz="900"/>
          </a:p>
        </p:txBody>
      </p:sp>
      <p:sp>
        <p:nvSpPr>
          <p:cNvPr id="4" name="Shape 2">
            <a:extLst xmlns:a="http://schemas.openxmlformats.org/drawingml/2006/main">
              <a:ext uri="{FF2B5EF4-FFF2-40B4-BE49-F238E27FC236}">
                <a16:creationId xmlns:a16="http://schemas.microsoft.com/office/drawing/2014/main" id="{793C1877-5E09-4B3F-9D3C-BE5AF1875D32}"/>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oundRect">
            <a:avLst>
              <a:gd name="adj" fmla="val 50000"/>
            </a:avLst>
          </a:prstGeom>
          <a:solidFill xmlns:a="http://schemas.openxmlformats.org/drawingml/2006/main">
            <a:srgbClr val="C2660A"/>
          </a:solidFill>
        </p:spPr>
      </p:sp>
      <p:sp>
        <p:nvSpPr>
          <p:cNvPr id="5" name="Text 3">
            <a:extLst xmlns:a="http://schemas.openxmlformats.org/drawingml/2006/main">
              <a:ext uri="{FF2B5EF4-FFF2-40B4-BE49-F238E27FC236}">
                <a16:creationId xmlns:a16="http://schemas.microsoft.com/office/drawing/2014/main" id="{75DA1597-5BB2-409E-BA10-4A1D3D410C9D}"/>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3 · HANDS-ON</a:t>
            </a:r>
            <a:endParaRPr sz="1050"/>
          </a:p>
        </p:txBody>
      </p:sp>
      <p:sp>
        <p:nvSpPr>
          <p:cNvPr id="6" name="Text 4">
            <a:extLst xmlns:a="http://schemas.openxmlformats.org/drawingml/2006/main">
              <a:ext uri="{FF2B5EF4-FFF2-40B4-BE49-F238E27FC236}">
                <a16:creationId xmlns:a16="http://schemas.microsoft.com/office/drawing/2014/main" id="{371A7330-A051-432C-9CC0-E247A4D698E1}"/>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Lab 3 — Intervals that survive scrutiny</a:t>
            </a:r>
            <a:endParaRPr sz="2800"/>
          </a:p>
        </p:txBody>
      </p:sp>
      <p:sp>
        <p:nvSpPr>
          <p:cNvPr id="7" name="Text 5">
            <a:extLst xmlns:a="http://schemas.openxmlformats.org/drawingml/2006/main">
              <a:ext uri="{FF2B5EF4-FFF2-40B4-BE49-F238E27FC236}">
                <a16:creationId xmlns:a16="http://schemas.microsoft.com/office/drawing/2014/main" id="{9C3F041D-8EF5-45BD-9380-9FD9579CB1D7}"/>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~40 minutes (Day 2, Hour 2) · pairs · data/clinic_visits.csv · lab3_start.ipynb</a:t>
            </a:r>
            <a:endParaRPr sz="1350"/>
          </a:p>
        </p:txBody>
      </p:sp>
      <p:sp>
        <p:nvSpPr>
          <p:cNvPr id="8" name="Shape 6">
            <a:extLst xmlns:a="http://schemas.openxmlformats.org/drawingml/2006/main">
              <a:ext uri="{FF2B5EF4-FFF2-40B4-BE49-F238E27FC236}">
                <a16:creationId xmlns:a16="http://schemas.microsoft.com/office/drawing/2014/main" id="{3F1685B4-4534-494F-983B-73B7097E2ACF}"/>
              </a:ext>
            </a:extLst>
          </p:cNvPr>
          <p:cNvSpPr>
            <a:spLocks xmlns:a="http://schemas.openxmlformats.org/drawingml/2006/main" noGrp="1"/>
          </p:cNvSpPr>
          <p:nvPr/>
        </p:nvSpPr>
        <p:spPr>
          <a:xfrm xmlns:a="http://schemas.openxmlformats.org/drawingml/2006/main">
            <a:off x="502920" y="1792224"/>
            <a:ext cx="6858000" cy="4709160"/>
          </a:xfrm>
          <a:prstGeom xmlns:a="http://schemas.openxmlformats.org/drawingml/2006/main" prst="roundRect">
            <a:avLst>
              <a:gd name="adj" fmla="val 1748"/>
            </a:avLst>
          </a:prstGeom>
          <a:solidFill xmlns:a="http://schemas.openxmlformats.org/drawingml/2006/main">
            <a:srgbClr val="FFFFFF"/>
          </a:solidFill>
          <a:ln xmlns:a="http://schemas.openxmlformats.org/drawingml/2006/main" w="12700">
            <a:solidFill>
              <a:srgbClr val="D6E2E4"/>
            </a:solidFill>
            <a:prstDash val="solid"/>
          </a:ln>
        </p:spPr>
      </p:sp>
      <p:sp>
        <p:nvSpPr>
          <p:cNvPr id="9" name="Text 7">
            <a:extLst xmlns:a="http://schemas.openxmlformats.org/drawingml/2006/main">
              <a:ext uri="{FF2B5EF4-FFF2-40B4-BE49-F238E27FC236}">
                <a16:creationId xmlns:a16="http://schemas.microsoft.com/office/drawing/2014/main" id="{A0928D19-5DBF-4146-BD7A-33B4DD85E071}"/>
              </a:ext>
            </a:extLst>
          </p:cNvPr>
          <p:cNvSpPr>
            <a:spLocks xmlns:a="http://schemas.openxmlformats.org/drawingml/2006/main" noGrp="1"/>
          </p:cNvSpPr>
          <p:nvPr/>
        </p:nvSpPr>
        <p:spPr>
          <a:xfrm xmlns:a="http://schemas.openxmlformats.org/drawingml/2006/main">
            <a:off x="822960" y="1975104"/>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B3140"/>
                </a:solidFill>
                <a:latin typeface="Cambria"/>
                <a:ea typeface="Cambria"/>
                <a:cs typeface="Cambria"/>
              </a:rPr>
              <a:t>Tasks</a:t>
            </a:r>
            <a:endParaRPr sz="1400"/>
          </a:p>
        </p:txBody>
      </p:sp>
      <p:sp>
        <p:nvSpPr>
          <p:cNvPr id="10" name="Text 8">
            <a:extLst xmlns:a="http://schemas.openxmlformats.org/drawingml/2006/main">
              <a:ext uri="{FF2B5EF4-FFF2-40B4-BE49-F238E27FC236}">
                <a16:creationId xmlns:a16="http://schemas.microsoft.com/office/drawing/2014/main" id="{E9BF0717-F38C-4A72-8C44-5006F7864890}"/>
              </a:ext>
            </a:extLst>
          </p:cNvPr>
          <p:cNvSpPr>
            <a:spLocks xmlns:a="http://schemas.openxmlformats.org/drawingml/2006/main" noGrp="1"/>
          </p:cNvSpPr>
          <p:nvPr/>
        </p:nvSpPr>
        <p:spPr>
          <a:xfrm xmlns:a="http://schemas.openxmlformats.org/drawingml/2006/main">
            <a:off x="822960" y="2386584"/>
            <a:ext cx="6309360"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(6’) t-interval for mean wait (attended visits); Wilson interval for national no-show — one line each, statsmodels</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(12’) Loop over 13 regions → Wilson CI per region; rebuild the error-bar chart (matplotlib errorbar, sorted)</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(8’) Classify each region: above / below / straddling the national line; defend the three-way split in comments</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(8’) Sample-size table for the patient survey: margins ±0.5–3% at 95%; add a recommendation cell</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(6’) Write the two-sentence 'regions' paragraph for the capstone memo — estimates with intervals, no naked points</a:t>
            </a:r>
            <a:endParaRPr sz="1150"/>
          </a:p>
        </p:txBody>
      </p:sp>
      <p:sp>
        <p:nvSpPr>
          <p:cNvPr id="11" name="Shape 9">
            <a:extLst xmlns:a="http://schemas.openxmlformats.org/drawingml/2006/main">
              <a:ext uri="{FF2B5EF4-FFF2-40B4-BE49-F238E27FC236}">
                <a16:creationId xmlns:a16="http://schemas.microsoft.com/office/drawing/2014/main" id="{494316E3-C923-4B27-942D-CEE034C9D38F}"/>
              </a:ext>
            </a:extLst>
          </p:cNvPr>
          <p:cNvSpPr>
            <a:spLocks xmlns:a="http://schemas.openxmlformats.org/drawingml/2006/main" noGrp="1"/>
          </p:cNvSpPr>
          <p:nvPr/>
        </p:nvSpPr>
        <p:spPr>
          <a:xfrm xmlns:a="http://schemas.openxmlformats.org/drawingml/2006/main">
            <a:off x="7635240" y="1792224"/>
            <a:ext cx="4023360" cy="4709160"/>
          </a:xfrm>
          <a:prstGeom xmlns:a="http://schemas.openxmlformats.org/drawingml/2006/main" prst="roundRect">
            <a:avLst>
              <a:gd name="adj" fmla="val 2045"/>
            </a:avLst>
          </a:prstGeom>
          <a:solidFill xmlns:a="http://schemas.openxmlformats.org/drawingml/2006/main">
            <a:srgbClr val="E7F2F3"/>
          </a:solidFill>
        </p:spPr>
      </p:sp>
      <p:sp>
        <p:nvSpPr>
          <p:cNvPr id="12" name="Text 10">
            <a:extLst xmlns:a="http://schemas.openxmlformats.org/drawingml/2006/main">
              <a:ext uri="{FF2B5EF4-FFF2-40B4-BE49-F238E27FC236}">
                <a16:creationId xmlns:a16="http://schemas.microsoft.com/office/drawing/2014/main" id="{B436036A-998B-46B6-AC1C-DD52478591C2}"/>
              </a:ext>
            </a:extLst>
          </p:cNvPr>
          <p:cNvSpPr>
            <a:spLocks xmlns:a="http://schemas.openxmlformats.org/drawingml/2006/main" noGrp="1"/>
          </p:cNvSpPr>
          <p:nvPr/>
        </p:nvSpPr>
        <p:spPr>
          <a:xfrm xmlns:a="http://schemas.openxmlformats.org/drawingml/2006/main">
            <a:off x="7955280" y="1975104"/>
            <a:ext cx="3474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A5C64"/>
                </a:solidFill>
                <a:latin typeface="Cambria"/>
                <a:ea typeface="Cambria"/>
                <a:cs typeface="Cambria"/>
              </a:rPr>
              <a:t>Checkpoint outputs</a:t>
            </a:r>
            <a:endParaRPr sz="1400"/>
          </a:p>
        </p:txBody>
      </p:sp>
      <p:sp>
        <p:nvSpPr>
          <p:cNvPr id="13" name="Text 11">
            <a:extLst xmlns:a="http://schemas.openxmlformats.org/drawingml/2006/main">
              <a:ext uri="{FF2B5EF4-FFF2-40B4-BE49-F238E27FC236}">
                <a16:creationId xmlns:a16="http://schemas.microsoft.com/office/drawing/2014/main" id="{46E35ACC-1539-47DC-91DD-0DDA1F22D1CD}"/>
              </a:ext>
            </a:extLst>
          </p:cNvPr>
          <p:cNvSpPr>
            <a:spLocks xmlns:a="http://schemas.openxmlformats.org/drawingml/2006/main" noGrp="1"/>
          </p:cNvSpPr>
          <p:nvPr/>
        </p:nvSpPr>
        <p:spPr>
          <a:xfrm xmlns:a="http://schemas.openxmlformats.org/drawingml/2006/main">
            <a:off x="7955280" y="2386584"/>
            <a:ext cx="3429000"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700"/>
              </a:spcAft>
              <a:buSzPct val="100000"/>
              <a:buChar char="•"/>
            </a:pPr>
            <a:r>
              <a:rPr sz="1150" b="1">
                <a:solidFill>
                  <a:srgbClr val="24313A"/>
                </a:solidFill>
                <a:latin typeface="Calibri"/>
                <a:ea typeface="Calibri"/>
                <a:cs typeface="Calibri"/>
              </a:rPr>
              <a:t>National: 0.183 [0.179, 0.186]; mean wait 20.5 [20.4, 20.6]</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Chart: only Makkah (above) &amp; Eastern (below) clear the line</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Al-Jouf correctly labelled 'insufficient evidence' (n = 414)</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Survey rec: ±2% → n = 2,401 (±1% costs 4× for little gain)</a:t>
            </a:r>
            <a:endParaRPr sz="1150"/>
          </a:p>
        </p:txBody>
      </p:sp>
    </p:spTree>
    <p:extLst>
      <p:ext uri="{BB962C8B-B14F-4D97-AF65-F5344CB8AC3E}">
        <p14:creationId xmlns:p14="http://schemas.microsoft.com/office/powerpoint/2010/main" val="79512029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EB67F1B-4B42-41F7-B2B8-C07116AF296D}"/>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364097FC-352A-4D50-A68C-62ADAC141311}"/>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38</a:t>
            </a:r>
            <a:endParaRPr sz="900"/>
          </a:p>
        </p:txBody>
      </p:sp>
      <p:sp>
        <p:nvSpPr>
          <p:cNvPr id="4" name="Shape 2">
            <a:extLst xmlns:a="http://schemas.openxmlformats.org/drawingml/2006/main">
              <a:ext uri="{FF2B5EF4-FFF2-40B4-BE49-F238E27FC236}">
                <a16:creationId xmlns:a16="http://schemas.microsoft.com/office/drawing/2014/main" id="{7397255C-22D4-4A34-8471-E8844CCB2F57}"/>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5BE94602-63E3-4834-8F8E-9FD1C5B01F10}"/>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4</a:t>
            </a:r>
            <a:endParaRPr sz="1050"/>
          </a:p>
        </p:txBody>
      </p:sp>
      <p:sp>
        <p:nvSpPr>
          <p:cNvPr id="6" name="Text 4">
            <a:extLst xmlns:a="http://schemas.openxmlformats.org/drawingml/2006/main">
              <a:ext uri="{FF2B5EF4-FFF2-40B4-BE49-F238E27FC236}">
                <a16:creationId xmlns:a16="http://schemas.microsoft.com/office/drawing/2014/main" id="{CECFAD28-89FC-4F50-9759-E38A7CFA5A5D}"/>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Hypothesis testing and effect sizes</a:t>
            </a:r>
            <a:endParaRPr sz="2800"/>
          </a:p>
        </p:txBody>
      </p:sp>
      <p:sp>
        <p:nvSpPr>
          <p:cNvPr id="7" name="Shape 5">
            <a:extLst xmlns:a="http://schemas.openxmlformats.org/drawingml/2006/main">
              <a:ext uri="{FF2B5EF4-FFF2-40B4-BE49-F238E27FC236}">
                <a16:creationId xmlns:a16="http://schemas.microsoft.com/office/drawing/2014/main" id="{7E2ED5EF-C147-4A1C-BC22-C90EA31A1EDC}"/>
              </a:ext>
            </a:extLst>
          </p:cNvPr>
          <p:cNvSpPr>
            <a:spLocks xmlns:a="http://schemas.openxmlformats.org/drawingml/2006/main" noGrp="1"/>
          </p:cNvSpPr>
          <p:nvPr/>
        </p:nvSpPr>
        <p:spPr>
          <a:xfrm xmlns:a="http://schemas.openxmlformats.org/drawingml/2006/main">
            <a:off x="502920" y="1563624"/>
            <a:ext cx="6720840" cy="4892040"/>
          </a:xfrm>
          <a:prstGeom xmlns:a="http://schemas.openxmlformats.org/drawingml/2006/main" prst="roundRect">
            <a:avLst>
              <a:gd name="adj" fmla="val 1682"/>
            </a:avLst>
          </a:prstGeom>
          <a:solidFill xmlns:a="http://schemas.openxmlformats.org/drawingml/2006/main">
            <a:srgbClr val="F3F8F9"/>
          </a:solidFill>
        </p:spPr>
      </p:sp>
      <p:sp>
        <p:nvSpPr>
          <p:cNvPr id="8" name="Shape 6">
            <a:extLst xmlns:a="http://schemas.openxmlformats.org/drawingml/2006/main">
              <a:ext uri="{FF2B5EF4-FFF2-40B4-BE49-F238E27FC236}">
                <a16:creationId xmlns:a16="http://schemas.microsoft.com/office/drawing/2014/main" id="{47DDC063-7464-4AD8-A514-5FD8024CD9DF}"/>
              </a:ext>
            </a:extLst>
          </p:cNvPr>
          <p:cNvSpPr>
            <a:spLocks xmlns:a="http://schemas.openxmlformats.org/drawingml/2006/main" noGrp="1"/>
          </p:cNvSpPr>
          <p:nvPr/>
        </p:nvSpPr>
        <p:spPr>
          <a:xfrm xmlns:a="http://schemas.openxmlformats.org/drawingml/2006/main">
            <a:off x="868680" y="1929384"/>
            <a:ext cx="566928" cy="566928"/>
          </a:xfrm>
          <a:prstGeom xmlns:a="http://schemas.openxmlformats.org/drawingml/2006/main" prst="ellipse">
            <a:avLst/>
          </a:prstGeom>
          <a:solidFill xmlns:a="http://schemas.openxmlformats.org/drawingml/2006/main">
            <a:srgbClr val="0E7C86"/>
          </a:solidFill>
        </p:spPr>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3f70e9a558634080"/>
          <a:stretch xmlns:a="http://schemas.openxmlformats.org/drawingml/2006/main">
            <a:fillRect l="0" t="0" r="0" b="0"/>
          </a:stretch>
        </p:blipFill>
        <p:spPr>
          <a:xfrm xmlns:a="http://schemas.openxmlformats.org/drawingml/2006/main">
            <a:off x="1016081" y="2076785"/>
            <a:ext cx="272125" cy="272125"/>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752952D7-FC2C-4371-A59F-A912A2A7C4AA}"/>
              </a:ext>
            </a:extLst>
          </p:cNvPr>
          <p:cNvSpPr>
            <a:spLocks xmlns:a="http://schemas.openxmlformats.org/drawingml/2006/main" noGrp="1"/>
          </p:cNvSpPr>
          <p:nvPr/>
        </p:nvSpPr>
        <p:spPr>
          <a:xfrm xmlns:a="http://schemas.openxmlformats.org/drawingml/2006/main">
            <a:off x="1645920" y="1975104"/>
            <a:ext cx="5120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B3140"/>
                </a:solidFill>
                <a:latin typeface="Cambria"/>
                <a:ea typeface="Cambria"/>
                <a:cs typeface="Cambria"/>
              </a:rPr>
              <a:t>Why this module</a:t>
            </a:r>
            <a:endParaRPr sz="1600"/>
          </a:p>
        </p:txBody>
      </p:sp>
      <p:sp>
        <p:nvSpPr>
          <p:cNvPr id="11" name="Text 8">
            <a:extLst xmlns:a="http://schemas.openxmlformats.org/drawingml/2006/main">
              <a:ext uri="{FF2B5EF4-FFF2-40B4-BE49-F238E27FC236}">
                <a16:creationId xmlns:a16="http://schemas.microsoft.com/office/drawing/2014/main" id="{0CA05132-BE38-4F83-A3B2-5CB8E35F2D6E}"/>
              </a:ext>
            </a:extLst>
          </p:cNvPr>
          <p:cNvSpPr>
            <a:spLocks xmlns:a="http://schemas.openxmlformats.org/drawingml/2006/main" noGrp="1"/>
          </p:cNvSpPr>
          <p:nvPr/>
        </p:nvSpPr>
        <p:spPr>
          <a:xfrm xmlns:a="http://schemas.openxmlformats.org/drawingml/2006/main">
            <a:off x="868680" y="2706624"/>
            <a:ext cx="6035040" cy="3566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250">
                <a:solidFill>
                  <a:srgbClr val="24313A"/>
                </a:solidFill>
                <a:latin typeface="Calibri"/>
                <a:ea typeface="Calibri"/>
                <a:cs typeface="Calibri"/>
              </a:rPr>
              <a:t>The SMS reminder pilot is on trial. A properly randomized experiment ran in high-risk clinics: 8,000 appointments, reminder vs control. Module 4 gives participants the machinery to deliver a verdict that survives peer review — null and alternative stated before looking, the right test chosen from a decision table, a p-value read as evidence (not as truth), and, crucially, an effect size that tells the Ministry whether the effect is worth funding.</a:t>
            </a:r>
            <a:endParaRPr sz="1250"/>
          </a:p>
          <a:p xmlns:a="http://schemas.openxmlformats.org/drawingml/2006/main">
            <a:pPr marL="0" indent="0">
              <a:lnSpc>
                <a:spcPct val="112000"/>
              </a:lnSpc>
              <a:buNone/>
            </a:pPr>
            <a:endParaRPr sz="1250"/>
          </a:p>
          <a:p xmlns:a="http://schemas.openxmlformats.org/drawingml/2006/main">
            <a:pPr marL="0" indent="0">
              <a:lnSpc>
                <a:spcPct val="112000"/>
              </a:lnSpc>
              <a:buNone/>
            </a:pPr>
            <a:r>
              <a:rPr sz="1250">
                <a:solidFill>
                  <a:srgbClr val="24313A"/>
                </a:solidFill>
                <a:latin typeface="Calibri"/>
                <a:ea typeface="Calibri"/>
                <a:cs typeface="Calibri"/>
              </a:rPr>
              <a:t>The module also installs the guardrails: power analysis before the experiment, multiple-testing discipline after it, and a hard rule against peeking. These guardrails are what separate analysts whose 'wins' replicate from those whose wins evaporate.</a:t>
            </a:r>
            <a:endParaRPr sz="1250"/>
          </a:p>
        </p:txBody>
      </p:sp>
      <p:sp>
        <p:nvSpPr>
          <p:cNvPr id="12" name="Shape 9">
            <a:extLst xmlns:a="http://schemas.openxmlformats.org/drawingml/2006/main">
              <a:ext uri="{FF2B5EF4-FFF2-40B4-BE49-F238E27FC236}">
                <a16:creationId xmlns:a16="http://schemas.microsoft.com/office/drawing/2014/main" id="{FB013C42-04B8-485E-A708-47FE7F717F46}"/>
              </a:ext>
            </a:extLst>
          </p:cNvPr>
          <p:cNvSpPr>
            <a:spLocks xmlns:a="http://schemas.openxmlformats.org/drawingml/2006/main" noGrp="1"/>
          </p:cNvSpPr>
          <p:nvPr/>
        </p:nvSpPr>
        <p:spPr>
          <a:xfrm xmlns:a="http://schemas.openxmlformats.org/drawingml/2006/main">
            <a:off x="7498080" y="1563624"/>
            <a:ext cx="4160520" cy="4892040"/>
          </a:xfrm>
          <a:prstGeom xmlns:a="http://schemas.openxmlformats.org/drawingml/2006/main" prst="roundRect">
            <a:avLst>
              <a:gd name="adj" fmla="val 1978"/>
            </a:avLst>
          </a:prstGeom>
          <a:solidFill xmlns:a="http://schemas.openxmlformats.org/drawingml/2006/main">
            <a:srgbClr val="0B3140"/>
          </a:solidFill>
        </p:spPr>
      </p:sp>
      <p:sp>
        <p:nvSpPr>
          <p:cNvPr id="13" name="Text 10">
            <a:extLst xmlns:a="http://schemas.openxmlformats.org/drawingml/2006/main">
              <a:ext uri="{FF2B5EF4-FFF2-40B4-BE49-F238E27FC236}">
                <a16:creationId xmlns:a16="http://schemas.microsoft.com/office/drawing/2014/main" id="{57A2923E-692C-4922-936C-61C9976F13D2}"/>
              </a:ext>
            </a:extLst>
          </p:cNvPr>
          <p:cNvSpPr>
            <a:spLocks xmlns:a="http://schemas.openxmlformats.org/drawingml/2006/main" noGrp="1"/>
          </p:cNvSpPr>
          <p:nvPr/>
        </p:nvSpPr>
        <p:spPr>
          <a:xfrm xmlns:a="http://schemas.openxmlformats.org/drawingml/2006/main">
            <a:off x="7818120" y="1837944"/>
            <a:ext cx="3566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FB3BC"/>
                </a:solidFill>
                <a:latin typeface="Calibri"/>
                <a:ea typeface="Calibri"/>
                <a:cs typeface="Calibri"/>
              </a:rPr>
              <a:t>LEARNING OBJECTIVES</a:t>
            </a:r>
            <a:endParaRPr sz="1050"/>
          </a:p>
        </p:txBody>
      </p:sp>
      <p:sp>
        <p:nvSpPr>
          <p:cNvPr id="14" name="Shape 11">
            <a:extLst xmlns:a="http://schemas.openxmlformats.org/drawingml/2006/main">
              <a:ext uri="{FF2B5EF4-FFF2-40B4-BE49-F238E27FC236}">
                <a16:creationId xmlns:a16="http://schemas.microsoft.com/office/drawing/2014/main" id="{228F9DA6-D4CD-416A-95EC-6F97CE34B638}"/>
              </a:ext>
            </a:extLst>
          </p:cNvPr>
          <p:cNvSpPr>
            <a:spLocks xmlns:a="http://schemas.openxmlformats.org/drawingml/2006/main" noGrp="1"/>
          </p:cNvSpPr>
          <p:nvPr/>
        </p:nvSpPr>
        <p:spPr>
          <a:xfrm xmlns:a="http://schemas.openxmlformats.org/drawingml/2006/main">
            <a:off x="7818120" y="2267712"/>
            <a:ext cx="310896" cy="310896"/>
          </a:xfrm>
          <a:prstGeom xmlns:a="http://schemas.openxmlformats.org/drawingml/2006/main" prst="ellipse">
            <a:avLst/>
          </a:prstGeom>
          <a:solidFill xmlns:a="http://schemas.openxmlformats.org/drawingml/2006/main">
            <a:srgbClr val="0E7C86"/>
          </a:solidFill>
        </p:spPr>
      </p:sp>
      <p:sp>
        <p:nvSpPr>
          <p:cNvPr id="15" name="Text 12">
            <a:extLst xmlns:a="http://schemas.openxmlformats.org/drawingml/2006/main">
              <a:ext uri="{FF2B5EF4-FFF2-40B4-BE49-F238E27FC236}">
                <a16:creationId xmlns:a16="http://schemas.microsoft.com/office/drawing/2014/main" id="{845B465B-7FB8-4F21-B6C1-4FDC46E8D159}"/>
              </a:ext>
            </a:extLst>
          </p:cNvPr>
          <p:cNvSpPr>
            <a:spLocks xmlns:a="http://schemas.openxmlformats.org/drawingml/2006/main" noGrp="1"/>
          </p:cNvSpPr>
          <p:nvPr/>
        </p:nvSpPr>
        <p:spPr>
          <a:xfrm xmlns:a="http://schemas.openxmlformats.org/drawingml/2006/main">
            <a:off x="7818120" y="2267712"/>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4.1</a:t>
            </a:r>
            <a:endParaRPr sz="1100"/>
          </a:p>
        </p:txBody>
      </p:sp>
      <p:sp>
        <p:nvSpPr>
          <p:cNvPr id="16" name="Text 13">
            <a:extLst xmlns:a="http://schemas.openxmlformats.org/drawingml/2006/main">
              <a:ext uri="{FF2B5EF4-FFF2-40B4-BE49-F238E27FC236}">
                <a16:creationId xmlns:a16="http://schemas.microsoft.com/office/drawing/2014/main" id="{C9640A2B-A704-4F39-821D-5B49160406A6}"/>
              </a:ext>
            </a:extLst>
          </p:cNvPr>
          <p:cNvSpPr>
            <a:spLocks xmlns:a="http://schemas.openxmlformats.org/drawingml/2006/main" noGrp="1"/>
          </p:cNvSpPr>
          <p:nvPr/>
        </p:nvSpPr>
        <p:spPr>
          <a:xfrm xmlns:a="http://schemas.openxmlformats.org/drawingml/2006/main">
            <a:off x="8257032" y="2249424"/>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Frame H₀/H₁ and Type I/II errors in operational language</a:t>
            </a:r>
            <a:endParaRPr sz="1150"/>
          </a:p>
        </p:txBody>
      </p:sp>
      <p:sp>
        <p:nvSpPr>
          <p:cNvPr id="17" name="Shape 14">
            <a:extLst xmlns:a="http://schemas.openxmlformats.org/drawingml/2006/main">
              <a:ext uri="{FF2B5EF4-FFF2-40B4-BE49-F238E27FC236}">
                <a16:creationId xmlns:a16="http://schemas.microsoft.com/office/drawing/2014/main" id="{49E0152B-99E9-47E5-8933-6F57F499F223}"/>
              </a:ext>
            </a:extLst>
          </p:cNvPr>
          <p:cNvSpPr>
            <a:spLocks xmlns:a="http://schemas.openxmlformats.org/drawingml/2006/main" noGrp="1"/>
          </p:cNvSpPr>
          <p:nvPr/>
        </p:nvSpPr>
        <p:spPr>
          <a:xfrm xmlns:a="http://schemas.openxmlformats.org/drawingml/2006/main">
            <a:off x="7818120" y="2926080"/>
            <a:ext cx="310896" cy="310896"/>
          </a:xfrm>
          <a:prstGeom xmlns:a="http://schemas.openxmlformats.org/drawingml/2006/main" prst="ellipse">
            <a:avLst/>
          </a:prstGeom>
          <a:solidFill xmlns:a="http://schemas.openxmlformats.org/drawingml/2006/main">
            <a:srgbClr val="0E7C86"/>
          </a:solidFill>
        </p:spPr>
      </p:sp>
      <p:sp>
        <p:nvSpPr>
          <p:cNvPr id="18" name="Text 15">
            <a:extLst xmlns:a="http://schemas.openxmlformats.org/drawingml/2006/main">
              <a:ext uri="{FF2B5EF4-FFF2-40B4-BE49-F238E27FC236}">
                <a16:creationId xmlns:a16="http://schemas.microsoft.com/office/drawing/2014/main" id="{88D04BF4-6A79-43D3-A677-93B073D0D239}"/>
              </a:ext>
            </a:extLst>
          </p:cNvPr>
          <p:cNvSpPr>
            <a:spLocks xmlns:a="http://schemas.openxmlformats.org/drawingml/2006/main" noGrp="1"/>
          </p:cNvSpPr>
          <p:nvPr/>
        </p:nvSpPr>
        <p:spPr>
          <a:xfrm xmlns:a="http://schemas.openxmlformats.org/drawingml/2006/main">
            <a:off x="7818120" y="2926080"/>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4.2</a:t>
            </a:r>
            <a:endParaRPr sz="1100"/>
          </a:p>
        </p:txBody>
      </p:sp>
      <p:sp>
        <p:nvSpPr>
          <p:cNvPr id="19" name="Text 16">
            <a:extLst xmlns:a="http://schemas.openxmlformats.org/drawingml/2006/main">
              <a:ext uri="{FF2B5EF4-FFF2-40B4-BE49-F238E27FC236}">
                <a16:creationId xmlns:a16="http://schemas.microsoft.com/office/drawing/2014/main" id="{1B474E03-87A1-44D9-99F5-34E2A5566451}"/>
              </a:ext>
            </a:extLst>
          </p:cNvPr>
          <p:cNvSpPr>
            <a:spLocks xmlns:a="http://schemas.openxmlformats.org/drawingml/2006/main" noGrp="1"/>
          </p:cNvSpPr>
          <p:nvPr/>
        </p:nvSpPr>
        <p:spPr>
          <a:xfrm xmlns:a="http://schemas.openxmlformats.org/drawingml/2006/main">
            <a:off x="8257032" y="2907792"/>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Choose the correct test from data types — and run it in SciPy/statsmodels</a:t>
            </a:r>
            <a:endParaRPr sz="1150"/>
          </a:p>
        </p:txBody>
      </p:sp>
      <p:sp>
        <p:nvSpPr>
          <p:cNvPr id="20" name="Shape 17">
            <a:extLst xmlns:a="http://schemas.openxmlformats.org/drawingml/2006/main">
              <a:ext uri="{FF2B5EF4-FFF2-40B4-BE49-F238E27FC236}">
                <a16:creationId xmlns:a16="http://schemas.microsoft.com/office/drawing/2014/main" id="{E3484F21-7497-48C1-A7B9-95ABE35C831A}"/>
              </a:ext>
            </a:extLst>
          </p:cNvPr>
          <p:cNvSpPr>
            <a:spLocks xmlns:a="http://schemas.openxmlformats.org/drawingml/2006/main" noGrp="1"/>
          </p:cNvSpPr>
          <p:nvPr/>
        </p:nvSpPr>
        <p:spPr>
          <a:xfrm xmlns:a="http://schemas.openxmlformats.org/drawingml/2006/main">
            <a:off x="7818120" y="3584448"/>
            <a:ext cx="310896" cy="310896"/>
          </a:xfrm>
          <a:prstGeom xmlns:a="http://schemas.openxmlformats.org/drawingml/2006/main" prst="ellipse">
            <a:avLst/>
          </a:prstGeom>
          <a:solidFill xmlns:a="http://schemas.openxmlformats.org/drawingml/2006/main">
            <a:srgbClr val="0E7C86"/>
          </a:solidFill>
        </p:spPr>
      </p:sp>
      <p:sp>
        <p:nvSpPr>
          <p:cNvPr id="21" name="Text 18">
            <a:extLst xmlns:a="http://schemas.openxmlformats.org/drawingml/2006/main">
              <a:ext uri="{FF2B5EF4-FFF2-40B4-BE49-F238E27FC236}">
                <a16:creationId xmlns:a16="http://schemas.microsoft.com/office/drawing/2014/main" id="{2B60789C-8A47-4290-8EB2-3BD97DE99384}"/>
              </a:ext>
            </a:extLst>
          </p:cNvPr>
          <p:cNvSpPr>
            <a:spLocks xmlns:a="http://schemas.openxmlformats.org/drawingml/2006/main" noGrp="1"/>
          </p:cNvSpPr>
          <p:nvPr/>
        </p:nvSpPr>
        <p:spPr>
          <a:xfrm xmlns:a="http://schemas.openxmlformats.org/drawingml/2006/main">
            <a:off x="7818120" y="358444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4.3</a:t>
            </a:r>
            <a:endParaRPr sz="1100"/>
          </a:p>
        </p:txBody>
      </p:sp>
      <p:sp>
        <p:nvSpPr>
          <p:cNvPr id="22" name="Text 19">
            <a:extLst xmlns:a="http://schemas.openxmlformats.org/drawingml/2006/main">
              <a:ext uri="{FF2B5EF4-FFF2-40B4-BE49-F238E27FC236}">
                <a16:creationId xmlns:a16="http://schemas.microsoft.com/office/drawing/2014/main" id="{118EEE38-D953-42B9-9906-58E12B86C7DD}"/>
              </a:ext>
            </a:extLst>
          </p:cNvPr>
          <p:cNvSpPr>
            <a:spLocks xmlns:a="http://schemas.openxmlformats.org/drawingml/2006/main" noGrp="1"/>
          </p:cNvSpPr>
          <p:nvPr/>
        </p:nvSpPr>
        <p:spPr>
          <a:xfrm xmlns:a="http://schemas.openxmlformats.org/drawingml/2006/main">
            <a:off x="8257032" y="3566160"/>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Interpret p-values correctly; never confuse them with importance</a:t>
            </a:r>
            <a:endParaRPr sz="1150"/>
          </a:p>
        </p:txBody>
      </p:sp>
      <p:sp>
        <p:nvSpPr>
          <p:cNvPr id="23" name="Shape 20">
            <a:extLst xmlns:a="http://schemas.openxmlformats.org/drawingml/2006/main">
              <a:ext uri="{FF2B5EF4-FFF2-40B4-BE49-F238E27FC236}">
                <a16:creationId xmlns:a16="http://schemas.microsoft.com/office/drawing/2014/main" id="{310CD378-82C5-424C-B766-1900AC745743}"/>
              </a:ext>
            </a:extLst>
          </p:cNvPr>
          <p:cNvSpPr>
            <a:spLocks xmlns:a="http://schemas.openxmlformats.org/drawingml/2006/main" noGrp="1"/>
          </p:cNvSpPr>
          <p:nvPr/>
        </p:nvSpPr>
        <p:spPr>
          <a:xfrm xmlns:a="http://schemas.openxmlformats.org/drawingml/2006/main">
            <a:off x="7818120" y="4242816"/>
            <a:ext cx="310896" cy="310896"/>
          </a:xfrm>
          <a:prstGeom xmlns:a="http://schemas.openxmlformats.org/drawingml/2006/main" prst="ellipse">
            <a:avLst/>
          </a:prstGeom>
          <a:solidFill xmlns:a="http://schemas.openxmlformats.org/drawingml/2006/main">
            <a:srgbClr val="0E7C86"/>
          </a:solidFill>
        </p:spPr>
      </p:sp>
      <p:sp>
        <p:nvSpPr>
          <p:cNvPr id="24" name="Text 21">
            <a:extLst xmlns:a="http://schemas.openxmlformats.org/drawingml/2006/main">
              <a:ext uri="{FF2B5EF4-FFF2-40B4-BE49-F238E27FC236}">
                <a16:creationId xmlns:a16="http://schemas.microsoft.com/office/drawing/2014/main" id="{56025A3B-AE35-4E34-8353-220D5AF1CE60}"/>
              </a:ext>
            </a:extLst>
          </p:cNvPr>
          <p:cNvSpPr>
            <a:spLocks xmlns:a="http://schemas.openxmlformats.org/drawingml/2006/main" noGrp="1"/>
          </p:cNvSpPr>
          <p:nvPr/>
        </p:nvSpPr>
        <p:spPr>
          <a:xfrm xmlns:a="http://schemas.openxmlformats.org/drawingml/2006/main">
            <a:off x="7818120" y="4242816"/>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4.4</a:t>
            </a:r>
            <a:endParaRPr sz="1100"/>
          </a:p>
        </p:txBody>
      </p:sp>
      <p:sp>
        <p:nvSpPr>
          <p:cNvPr id="25" name="Text 22">
            <a:extLst xmlns:a="http://schemas.openxmlformats.org/drawingml/2006/main">
              <a:ext uri="{FF2B5EF4-FFF2-40B4-BE49-F238E27FC236}">
                <a16:creationId xmlns:a16="http://schemas.microsoft.com/office/drawing/2014/main" id="{1FA2AA61-207A-4A98-B3B9-975EF9D76618}"/>
              </a:ext>
            </a:extLst>
          </p:cNvPr>
          <p:cNvSpPr>
            <a:spLocks xmlns:a="http://schemas.openxmlformats.org/drawingml/2006/main" noGrp="1"/>
          </p:cNvSpPr>
          <p:nvPr/>
        </p:nvSpPr>
        <p:spPr>
          <a:xfrm xmlns:a="http://schemas.openxmlformats.org/drawingml/2006/main">
            <a:off x="8257032" y="4224528"/>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Report effect sizes (difference, Cohen's d, OR) alongside every p-value</a:t>
            </a:r>
            <a:endParaRPr sz="1150"/>
          </a:p>
        </p:txBody>
      </p:sp>
      <p:sp>
        <p:nvSpPr>
          <p:cNvPr id="26" name="Shape 23">
            <a:extLst xmlns:a="http://schemas.openxmlformats.org/drawingml/2006/main">
              <a:ext uri="{FF2B5EF4-FFF2-40B4-BE49-F238E27FC236}">
                <a16:creationId xmlns:a16="http://schemas.microsoft.com/office/drawing/2014/main" id="{3C011A10-D8BE-4F97-A449-10E57B3B8941}"/>
              </a:ext>
            </a:extLst>
          </p:cNvPr>
          <p:cNvSpPr>
            <a:spLocks xmlns:a="http://schemas.openxmlformats.org/drawingml/2006/main" noGrp="1"/>
          </p:cNvSpPr>
          <p:nvPr/>
        </p:nvSpPr>
        <p:spPr>
          <a:xfrm xmlns:a="http://schemas.openxmlformats.org/drawingml/2006/main">
            <a:off x="7818120" y="4901184"/>
            <a:ext cx="310896" cy="310896"/>
          </a:xfrm>
          <a:prstGeom xmlns:a="http://schemas.openxmlformats.org/drawingml/2006/main" prst="ellipse">
            <a:avLst/>
          </a:prstGeom>
          <a:solidFill xmlns:a="http://schemas.openxmlformats.org/drawingml/2006/main">
            <a:srgbClr val="0E7C86"/>
          </a:solidFill>
        </p:spPr>
      </p:sp>
      <p:sp>
        <p:nvSpPr>
          <p:cNvPr id="27" name="Text 24">
            <a:extLst xmlns:a="http://schemas.openxmlformats.org/drawingml/2006/main">
              <a:ext uri="{FF2B5EF4-FFF2-40B4-BE49-F238E27FC236}">
                <a16:creationId xmlns:a16="http://schemas.microsoft.com/office/drawing/2014/main" id="{416CAC03-3960-4B03-9605-9EE60F881E38}"/>
              </a:ext>
            </a:extLst>
          </p:cNvPr>
          <p:cNvSpPr>
            <a:spLocks xmlns:a="http://schemas.openxmlformats.org/drawingml/2006/main" noGrp="1"/>
          </p:cNvSpPr>
          <p:nvPr/>
        </p:nvSpPr>
        <p:spPr>
          <a:xfrm xmlns:a="http://schemas.openxmlformats.org/drawingml/2006/main">
            <a:off x="7818120" y="490118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4.5</a:t>
            </a:r>
            <a:endParaRPr sz="1100"/>
          </a:p>
        </p:txBody>
      </p:sp>
      <p:sp>
        <p:nvSpPr>
          <p:cNvPr id="28" name="Text 25">
            <a:extLst xmlns:a="http://schemas.openxmlformats.org/drawingml/2006/main">
              <a:ext uri="{FF2B5EF4-FFF2-40B4-BE49-F238E27FC236}">
                <a16:creationId xmlns:a16="http://schemas.microsoft.com/office/drawing/2014/main" id="{7A3C1CB6-28A3-4D8B-BDFA-DB24F3248B69}"/>
              </a:ext>
            </a:extLst>
          </p:cNvPr>
          <p:cNvSpPr>
            <a:spLocks xmlns:a="http://schemas.openxmlformats.org/drawingml/2006/main" noGrp="1"/>
          </p:cNvSpPr>
          <p:nvPr/>
        </p:nvSpPr>
        <p:spPr>
          <a:xfrm xmlns:a="http://schemas.openxmlformats.org/drawingml/2006/main">
            <a:off x="8257032" y="4882896"/>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Apply power analysis and multiple-comparison corrections; explain why peeking invalidates p-values</a:t>
            </a:r>
            <a:endParaRPr sz="1150"/>
          </a:p>
        </p:txBody>
      </p:sp>
    </p:spTree>
    <p:extLst>
      <p:ext uri="{BB962C8B-B14F-4D97-AF65-F5344CB8AC3E}">
        <p14:creationId xmlns:p14="http://schemas.microsoft.com/office/powerpoint/2010/main" val="130733915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3534B3B-1BDE-47E6-AC4C-C3C51F33393A}"/>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3850189A-9213-4D7B-BF16-AAA1F7C81DD9}"/>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39</a:t>
            </a:r>
            <a:endParaRPr sz="900"/>
          </a:p>
        </p:txBody>
      </p:sp>
      <p:sp>
        <p:nvSpPr>
          <p:cNvPr id="4" name="Shape 2">
            <a:extLst xmlns:a="http://schemas.openxmlformats.org/drawingml/2006/main">
              <a:ext uri="{FF2B5EF4-FFF2-40B4-BE49-F238E27FC236}">
                <a16:creationId xmlns:a16="http://schemas.microsoft.com/office/drawing/2014/main" id="{C1875532-ADA2-436B-A3A7-CBF7BDC58E55}"/>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D741B697-4389-43D1-A7BB-B16FDFC8D364}"/>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4</a:t>
            </a:r>
            <a:endParaRPr sz="1050"/>
          </a:p>
        </p:txBody>
      </p:sp>
      <p:sp>
        <p:nvSpPr>
          <p:cNvPr id="6" name="Text 4">
            <a:extLst xmlns:a="http://schemas.openxmlformats.org/drawingml/2006/main">
              <a:ext uri="{FF2B5EF4-FFF2-40B4-BE49-F238E27FC236}">
                <a16:creationId xmlns:a16="http://schemas.microsoft.com/office/drawing/2014/main" id="{FDBD4DCB-D004-4286-A36D-DBF59AC03615}"/>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The trial: hypotheses and the two ways to be wrong</a:t>
            </a:r>
            <a:endParaRPr sz="2800"/>
          </a:p>
        </p:txBody>
      </p:sp>
      <p:sp>
        <p:nvSpPr>
          <p:cNvPr id="7" name="Text 5">
            <a:extLst xmlns:a="http://schemas.openxmlformats.org/drawingml/2006/main">
              <a:ext uri="{FF2B5EF4-FFF2-40B4-BE49-F238E27FC236}">
                <a16:creationId xmlns:a16="http://schemas.microsoft.com/office/drawing/2014/main" id="{9F45BB84-F331-4505-A31B-5053446A3B35}"/>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Statistical testing as a courtroom the Ministry can follow</a:t>
            </a:r>
            <a:endParaRPr sz="1350"/>
          </a:p>
        </p:txBody>
      </p:sp>
      <p:sp>
        <p:nvSpPr>
          <p:cNvPr id="8" name="Shape 6">
            <a:extLst xmlns:a="http://schemas.openxmlformats.org/drawingml/2006/main">
              <a:ext uri="{FF2B5EF4-FFF2-40B4-BE49-F238E27FC236}">
                <a16:creationId xmlns:a16="http://schemas.microsoft.com/office/drawing/2014/main" id="{902C2EAC-1965-41AB-83DC-8B2BA6024D00}"/>
              </a:ext>
            </a:extLst>
          </p:cNvPr>
          <p:cNvSpPr>
            <a:spLocks xmlns:a="http://schemas.openxmlformats.org/drawingml/2006/main" noGrp="1"/>
          </p:cNvSpPr>
          <p:nvPr/>
        </p:nvSpPr>
        <p:spPr>
          <a:xfrm xmlns:a="http://schemas.openxmlformats.org/drawingml/2006/main">
            <a:off x="502920" y="1819656"/>
            <a:ext cx="5486400" cy="1737360"/>
          </a:xfrm>
          <a:prstGeom xmlns:a="http://schemas.openxmlformats.org/drawingml/2006/main" prst="roundRect">
            <a:avLst>
              <a:gd name="adj" fmla="val 4737"/>
            </a:avLst>
          </a:prstGeom>
          <a:solidFill xmlns:a="http://schemas.openxmlformats.org/drawingml/2006/main">
            <a:srgbClr val="F3F8F9"/>
          </a:solidFill>
        </p:spPr>
      </p:sp>
      <p:sp>
        <p:nvSpPr>
          <p:cNvPr id="9" name="Text 7">
            <a:extLst xmlns:a="http://schemas.openxmlformats.org/drawingml/2006/main">
              <a:ext uri="{FF2B5EF4-FFF2-40B4-BE49-F238E27FC236}">
                <a16:creationId xmlns:a16="http://schemas.microsoft.com/office/drawing/2014/main" id="{F5F36032-3860-4F9C-A3C9-1FDE52745823}"/>
              </a:ext>
            </a:extLst>
          </p:cNvPr>
          <p:cNvSpPr>
            <a:spLocks xmlns:a="http://schemas.openxmlformats.org/drawingml/2006/main" noGrp="1"/>
          </p:cNvSpPr>
          <p:nvPr/>
        </p:nvSpPr>
        <p:spPr>
          <a:xfrm xmlns:a="http://schemas.openxmlformats.org/drawingml/2006/main">
            <a:off x="822960" y="2020824"/>
            <a:ext cx="48920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300" b="1">
                <a:solidFill>
                  <a:srgbClr val="0B3140"/>
                </a:solidFill>
                <a:latin typeface="Calibri"/>
                <a:ea typeface="Calibri"/>
                <a:cs typeface="Calibri"/>
              </a:rPr>
              <a:t>H₀ (presumed innocent):  </a:t>
            </a:r>
            <a:r>
              <a:rPr sz="1250">
                <a:solidFill>
                  <a:srgbClr val="24313A"/>
                </a:solidFill>
                <a:latin typeface="Calibri"/>
                <a:ea typeface="Calibri"/>
                <a:cs typeface="Calibri"/>
              </a:rPr>
              <a:t>the SMS reminder does nothing — p(reminder) = p(control).
</a:t>
            </a:r>
            <a:r>
              <a:rPr sz="1300" b="1">
                <a:solidFill>
                  <a:srgbClr val="0E7C86"/>
                </a:solidFill>
                <a:latin typeface="Calibri"/>
                <a:ea typeface="Calibri"/>
                <a:cs typeface="Calibri"/>
              </a:rPr>
              <a:t>H₁:  </a:t>
            </a:r>
            <a:r>
              <a:rPr sz="1250">
                <a:solidFill>
                  <a:srgbClr val="24313A"/>
                </a:solidFill>
                <a:latin typeface="Calibri"/>
                <a:ea typeface="Calibri"/>
                <a:cs typeface="Calibri"/>
              </a:rPr>
              <a:t>the rates differ (two-sided — we'd also want to know if reminders backfire).</a:t>
            </a:r>
            <a:endParaRPr sz="1300"/>
          </a:p>
        </p:txBody>
      </p:sp>
      <p:sp>
        <p:nvSpPr>
          <p:cNvPr id="10" name="Shape 8">
            <a:extLst xmlns:a="http://schemas.openxmlformats.org/drawingml/2006/main">
              <a:ext uri="{FF2B5EF4-FFF2-40B4-BE49-F238E27FC236}">
                <a16:creationId xmlns:a16="http://schemas.microsoft.com/office/drawing/2014/main" id="{0A6E3C50-4D7A-494C-B706-5C2DC996DAD3}"/>
              </a:ext>
            </a:extLst>
          </p:cNvPr>
          <p:cNvSpPr>
            <a:spLocks xmlns:a="http://schemas.openxmlformats.org/drawingml/2006/main" noGrp="1"/>
          </p:cNvSpPr>
          <p:nvPr/>
        </p:nvSpPr>
        <p:spPr>
          <a:xfrm xmlns:a="http://schemas.openxmlformats.org/drawingml/2006/main">
            <a:off x="502920" y="3712464"/>
            <a:ext cx="5486400" cy="2651760"/>
          </a:xfrm>
          <a:prstGeom xmlns:a="http://schemas.openxmlformats.org/drawingml/2006/main" prst="roundRect">
            <a:avLst>
              <a:gd name="adj" fmla="val 3103"/>
            </a:avLst>
          </a:prstGeom>
          <a:solidFill xmlns:a="http://schemas.openxmlformats.org/drawingml/2006/main">
            <a:srgbClr val="0B3140"/>
          </a:solidFill>
        </p:spPr>
      </p:sp>
      <p:sp>
        <p:nvSpPr>
          <p:cNvPr id="11" name="Text 9">
            <a:extLst xmlns:a="http://schemas.openxmlformats.org/drawingml/2006/main">
              <a:ext uri="{FF2B5EF4-FFF2-40B4-BE49-F238E27FC236}">
                <a16:creationId xmlns:a16="http://schemas.microsoft.com/office/drawing/2014/main" id="{F16C0AB0-30FB-4DEA-B3AE-423A8AAA060B}"/>
              </a:ext>
            </a:extLst>
          </p:cNvPr>
          <p:cNvSpPr>
            <a:spLocks xmlns:a="http://schemas.openxmlformats.org/drawingml/2006/main" noGrp="1"/>
          </p:cNvSpPr>
          <p:nvPr/>
        </p:nvSpPr>
        <p:spPr>
          <a:xfrm xmlns:a="http://schemas.openxmlformats.org/drawingml/2006/main">
            <a:off x="822960" y="3895344"/>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FB3BC"/>
                </a:solidFill>
                <a:latin typeface="Calibri"/>
                <a:ea typeface="Calibri"/>
                <a:cs typeface="Calibri"/>
              </a:rPr>
              <a:t>STATE THEM BEFORE LOOKING</a:t>
            </a:r>
            <a:endParaRPr sz="1050"/>
          </a:p>
        </p:txBody>
      </p:sp>
      <p:sp>
        <p:nvSpPr>
          <p:cNvPr id="12" name="Text 10">
            <a:extLst xmlns:a="http://schemas.openxmlformats.org/drawingml/2006/main">
              <a:ext uri="{FF2B5EF4-FFF2-40B4-BE49-F238E27FC236}">
                <a16:creationId xmlns:a16="http://schemas.microsoft.com/office/drawing/2014/main" id="{1E9DF5B6-AEEE-4D68-AF24-F74FF26281B2}"/>
              </a:ext>
            </a:extLst>
          </p:cNvPr>
          <p:cNvSpPr>
            <a:spLocks xmlns:a="http://schemas.openxmlformats.org/drawingml/2006/main" noGrp="1"/>
          </p:cNvSpPr>
          <p:nvPr/>
        </p:nvSpPr>
        <p:spPr>
          <a:xfrm xmlns:a="http://schemas.openxmlformats.org/drawingml/2006/main">
            <a:off x="822960" y="4261104"/>
            <a:ext cx="480060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200">
                <a:solidFill>
                  <a:srgbClr val="FFFFFF"/>
                </a:solidFill>
                <a:latin typeface="Calibri"/>
                <a:ea typeface="Calibri"/>
                <a:cs typeface="Calibri"/>
              </a:rPr>
              <a:t>Hypotheses written after seeing the data are predictions of the past. The pre-registration habit — hypotheses, test, α, and n fixed in the analysis plan first — is what makes Thursday's result mean something on Friday. The capstone requires an analysis-plan cell at the top of the notebook.</a:t>
            </a:r>
            <a:endParaRPr sz="1200"/>
          </a:p>
        </p:txBody>
      </p:sp>
      <p:sp>
        <p:nvSpPr>
          <p:cNvPr id="13" name="Text 11">
            <a:extLst xmlns:a="http://schemas.openxmlformats.org/drawingml/2006/main">
              <a:ext uri="{FF2B5EF4-FFF2-40B4-BE49-F238E27FC236}">
                <a16:creationId xmlns:a16="http://schemas.microsoft.com/office/drawing/2014/main" id="{9D36B9D7-FD1E-43C4-A0B1-50C0FAA51A1A}"/>
              </a:ext>
            </a:extLst>
          </p:cNvPr>
          <p:cNvSpPr>
            <a:spLocks xmlns:a="http://schemas.openxmlformats.org/drawingml/2006/main" noGrp="1"/>
          </p:cNvSpPr>
          <p:nvPr/>
        </p:nvSpPr>
        <p:spPr>
          <a:xfrm xmlns:a="http://schemas.openxmlformats.org/drawingml/2006/main">
            <a:off x="6263640" y="1819656"/>
            <a:ext cx="14630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i="1">
                <a:solidFill>
                  <a:srgbClr val="5B6B75"/>
                </a:solidFill>
                <a:latin typeface="Calibri"/>
                <a:ea typeface="Calibri"/>
                <a:cs typeface="Calibri"/>
              </a:rPr>
              <a:t>Decision ↓ · Truth →</a:t>
            </a:r>
            <a:endParaRPr sz="900"/>
          </a:p>
        </p:txBody>
      </p:sp>
      <p:sp>
        <p:nvSpPr>
          <p:cNvPr id="14" name="Text 12">
            <a:extLst xmlns:a="http://schemas.openxmlformats.org/drawingml/2006/main">
              <a:ext uri="{FF2B5EF4-FFF2-40B4-BE49-F238E27FC236}">
                <a16:creationId xmlns:a16="http://schemas.microsoft.com/office/drawing/2014/main" id="{702CD53D-73A7-48A0-A463-22A670F0280E}"/>
              </a:ext>
            </a:extLst>
          </p:cNvPr>
          <p:cNvSpPr>
            <a:spLocks xmlns:a="http://schemas.openxmlformats.org/drawingml/2006/main" noGrp="1"/>
          </p:cNvSpPr>
          <p:nvPr/>
        </p:nvSpPr>
        <p:spPr>
          <a:xfrm xmlns:a="http://schemas.openxmlformats.org/drawingml/2006/main">
            <a:off x="7680960" y="1911096"/>
            <a:ext cx="1783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0B3140"/>
                </a:solidFill>
                <a:latin typeface="Calibri"/>
                <a:ea typeface="Calibri"/>
                <a:cs typeface="Calibri"/>
              </a:rPr>
              <a:t>H₀ true (no effect)</a:t>
            </a:r>
            <a:endParaRPr sz="1000"/>
          </a:p>
        </p:txBody>
      </p:sp>
      <p:sp>
        <p:nvSpPr>
          <p:cNvPr id="15" name="Text 13">
            <a:extLst xmlns:a="http://schemas.openxmlformats.org/drawingml/2006/main">
              <a:ext uri="{FF2B5EF4-FFF2-40B4-BE49-F238E27FC236}">
                <a16:creationId xmlns:a16="http://schemas.microsoft.com/office/drawing/2014/main" id="{079F2862-07A4-496A-A8FD-2E5D748B26F3}"/>
              </a:ext>
            </a:extLst>
          </p:cNvPr>
          <p:cNvSpPr>
            <a:spLocks xmlns:a="http://schemas.openxmlformats.org/drawingml/2006/main" noGrp="1"/>
          </p:cNvSpPr>
          <p:nvPr/>
        </p:nvSpPr>
        <p:spPr>
          <a:xfrm xmlns:a="http://schemas.openxmlformats.org/drawingml/2006/main">
            <a:off x="9573768" y="1911096"/>
            <a:ext cx="1783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0B3140"/>
                </a:solidFill>
                <a:latin typeface="Calibri"/>
                <a:ea typeface="Calibri"/>
                <a:cs typeface="Calibri"/>
              </a:rPr>
              <a:t>H₀ false (real effect)</a:t>
            </a:r>
            <a:endParaRPr sz="1000"/>
          </a:p>
        </p:txBody>
      </p:sp>
      <p:sp>
        <p:nvSpPr>
          <p:cNvPr id="16" name="Text 14">
            <a:extLst xmlns:a="http://schemas.openxmlformats.org/drawingml/2006/main">
              <a:ext uri="{FF2B5EF4-FFF2-40B4-BE49-F238E27FC236}">
                <a16:creationId xmlns:a16="http://schemas.microsoft.com/office/drawing/2014/main" id="{BE965A8C-F4C9-4236-B417-9FA2ECCA213B}"/>
              </a:ext>
            </a:extLst>
          </p:cNvPr>
          <p:cNvSpPr>
            <a:spLocks xmlns:a="http://schemas.openxmlformats.org/drawingml/2006/main" noGrp="1"/>
          </p:cNvSpPr>
          <p:nvPr/>
        </p:nvSpPr>
        <p:spPr>
          <a:xfrm xmlns:a="http://schemas.openxmlformats.org/drawingml/2006/main">
            <a:off x="6217920" y="2322576"/>
            <a:ext cx="1371600" cy="1481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0B3140"/>
                </a:solidFill>
                <a:latin typeface="Calibri"/>
                <a:ea typeface="Calibri"/>
                <a:cs typeface="Calibri"/>
              </a:rPr>
              <a:t>Reject H₀</a:t>
            </a:r>
            <a:endParaRPr sz="950"/>
          </a:p>
          <a:p xmlns:a="http://schemas.openxmlformats.org/drawingml/2006/main">
            <a:pPr marL="0" indent="0">
              <a:buNone/>
            </a:pPr>
            <a:r>
              <a:rPr sz="950" b="1">
                <a:solidFill>
                  <a:srgbClr val="0B3140"/>
                </a:solidFill>
                <a:latin typeface="Calibri"/>
                <a:ea typeface="Calibri"/>
                <a:cs typeface="Calibri"/>
              </a:rPr>
              <a:t>(“it works!”)</a:t>
            </a:r>
            <a:endParaRPr sz="950"/>
          </a:p>
        </p:txBody>
      </p:sp>
      <p:sp>
        <p:nvSpPr>
          <p:cNvPr id="17" name="Shape 15">
            <a:extLst xmlns:a="http://schemas.openxmlformats.org/drawingml/2006/main">
              <a:ext uri="{FF2B5EF4-FFF2-40B4-BE49-F238E27FC236}">
                <a16:creationId xmlns:a16="http://schemas.microsoft.com/office/drawing/2014/main" id="{430CC83C-FF48-474D-B058-462FED5D83A7}"/>
              </a:ext>
            </a:extLst>
          </p:cNvPr>
          <p:cNvSpPr>
            <a:spLocks xmlns:a="http://schemas.openxmlformats.org/drawingml/2006/main" noGrp="1"/>
          </p:cNvSpPr>
          <p:nvPr/>
        </p:nvSpPr>
        <p:spPr>
          <a:xfrm xmlns:a="http://schemas.openxmlformats.org/drawingml/2006/main">
            <a:off x="7680960" y="2322576"/>
            <a:ext cx="1783080" cy="1481328"/>
          </a:xfrm>
          <a:prstGeom xmlns:a="http://schemas.openxmlformats.org/drawingml/2006/main" prst="roundRect">
            <a:avLst>
              <a:gd name="adj" fmla="val 5556"/>
            </a:avLst>
          </a:prstGeom>
          <a:solidFill xmlns:a="http://schemas.openxmlformats.org/drawingml/2006/main">
            <a:srgbClr val="F9E8E9"/>
          </a:solidFill>
        </p:spPr>
      </p:sp>
      <p:sp>
        <p:nvSpPr>
          <p:cNvPr id="18" name="Text 16">
            <a:extLst xmlns:a="http://schemas.openxmlformats.org/drawingml/2006/main">
              <a:ext uri="{FF2B5EF4-FFF2-40B4-BE49-F238E27FC236}">
                <a16:creationId xmlns:a16="http://schemas.microsoft.com/office/drawing/2014/main" id="{9C5030EE-CEB0-49C0-8A69-1EA9716FC072}"/>
              </a:ext>
            </a:extLst>
          </p:cNvPr>
          <p:cNvSpPr>
            <a:spLocks xmlns:a="http://schemas.openxmlformats.org/drawingml/2006/main" noGrp="1"/>
          </p:cNvSpPr>
          <p:nvPr/>
        </p:nvSpPr>
        <p:spPr>
          <a:xfrm xmlns:a="http://schemas.openxmlformats.org/drawingml/2006/main">
            <a:off x="7790688" y="2414016"/>
            <a:ext cx="1563624"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930">
                <a:solidFill>
                  <a:srgbClr val="B4232A"/>
                </a:solidFill>
                <a:latin typeface="Calibri"/>
                <a:ea typeface="Calibri"/>
                <a:cs typeface="Calibri"/>
              </a:rPr>
              <a:t>Type I — false alarm</a:t>
            </a:r>
            <a:endParaRPr sz="930"/>
          </a:p>
          <a:p xmlns:a="http://schemas.openxmlformats.org/drawingml/2006/main">
            <a:pPr marL="0" indent="0">
              <a:lnSpc>
                <a:spcPct val="104000"/>
              </a:lnSpc>
              <a:buNone/>
            </a:pPr>
            <a:r>
              <a:rPr sz="930">
                <a:solidFill>
                  <a:srgbClr val="B4232A"/>
                </a:solidFill>
                <a:latin typeface="Calibri"/>
                <a:ea typeface="Calibri"/>
                <a:cs typeface="Calibri"/>
              </a:rPr>
              <a:t>α = 0.05 by design</a:t>
            </a:r>
            <a:endParaRPr sz="930"/>
          </a:p>
          <a:p xmlns:a="http://schemas.openxmlformats.org/drawingml/2006/main">
            <a:pPr marL="0" indent="0">
              <a:lnSpc>
                <a:spcPct val="104000"/>
              </a:lnSpc>
              <a:buNone/>
            </a:pPr>
            <a:r>
              <a:rPr sz="930">
                <a:solidFill>
                  <a:srgbClr val="B4232A"/>
                </a:solidFill>
                <a:latin typeface="Calibri"/>
                <a:ea typeface="Calibri"/>
                <a:cs typeface="Calibri"/>
              </a:rPr>
              <a:t>Ministry funds a placebo</a:t>
            </a:r>
            <a:endParaRPr sz="930"/>
          </a:p>
        </p:txBody>
      </p:sp>
      <p:sp>
        <p:nvSpPr>
          <p:cNvPr id="19" name="Shape 17">
            <a:extLst xmlns:a="http://schemas.openxmlformats.org/drawingml/2006/main">
              <a:ext uri="{FF2B5EF4-FFF2-40B4-BE49-F238E27FC236}">
                <a16:creationId xmlns:a16="http://schemas.microsoft.com/office/drawing/2014/main" id="{925B9EB5-904D-4D4B-95A8-E24F0625CCB1}"/>
              </a:ext>
            </a:extLst>
          </p:cNvPr>
          <p:cNvSpPr>
            <a:spLocks xmlns:a="http://schemas.openxmlformats.org/drawingml/2006/main" noGrp="1"/>
          </p:cNvSpPr>
          <p:nvPr/>
        </p:nvSpPr>
        <p:spPr>
          <a:xfrm xmlns:a="http://schemas.openxmlformats.org/drawingml/2006/main">
            <a:off x="9573768" y="2322576"/>
            <a:ext cx="1783080" cy="1481328"/>
          </a:xfrm>
          <a:prstGeom xmlns:a="http://schemas.openxmlformats.org/drawingml/2006/main" prst="roundRect">
            <a:avLst>
              <a:gd name="adj" fmla="val 5556"/>
            </a:avLst>
          </a:prstGeom>
          <a:solidFill xmlns:a="http://schemas.openxmlformats.org/drawingml/2006/main">
            <a:srgbClr val="E6F2EC"/>
          </a:solidFill>
        </p:spPr>
      </p:sp>
      <p:sp>
        <p:nvSpPr>
          <p:cNvPr id="20" name="Text 18">
            <a:extLst xmlns:a="http://schemas.openxmlformats.org/drawingml/2006/main">
              <a:ext uri="{FF2B5EF4-FFF2-40B4-BE49-F238E27FC236}">
                <a16:creationId xmlns:a16="http://schemas.microsoft.com/office/drawing/2014/main" id="{31E9422C-5020-4943-8E08-5D65303A7C42}"/>
              </a:ext>
            </a:extLst>
          </p:cNvPr>
          <p:cNvSpPr>
            <a:spLocks xmlns:a="http://schemas.openxmlformats.org/drawingml/2006/main" noGrp="1"/>
          </p:cNvSpPr>
          <p:nvPr/>
        </p:nvSpPr>
        <p:spPr>
          <a:xfrm xmlns:a="http://schemas.openxmlformats.org/drawingml/2006/main">
            <a:off x="9683496" y="2414016"/>
            <a:ext cx="1563624"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930">
                <a:solidFill>
                  <a:srgbClr val="1E7B52"/>
                </a:solidFill>
                <a:latin typeface="Calibri"/>
                <a:ea typeface="Calibri"/>
                <a:cs typeface="Calibri"/>
              </a:rPr>
              <a:t>Correct — power (1−β)</a:t>
            </a:r>
            <a:endParaRPr sz="930"/>
          </a:p>
          <a:p xmlns:a="http://schemas.openxmlformats.org/drawingml/2006/main">
            <a:pPr marL="0" indent="0">
              <a:lnSpc>
                <a:spcPct val="104000"/>
              </a:lnSpc>
              <a:buNone/>
            </a:pPr>
            <a:r>
              <a:rPr sz="930">
                <a:solidFill>
                  <a:srgbClr val="1E7B52"/>
                </a:solidFill>
                <a:latin typeface="Calibri"/>
                <a:ea typeface="Calibri"/>
                <a:cs typeface="Calibri"/>
              </a:rPr>
              <a:t>The pilot detects a real effect</a:t>
            </a:r>
            <a:endParaRPr sz="930"/>
          </a:p>
          <a:p xmlns:a="http://schemas.openxmlformats.org/drawingml/2006/main">
            <a:pPr marL="0" indent="0">
              <a:lnSpc>
                <a:spcPct val="104000"/>
              </a:lnSpc>
              <a:buNone/>
            </a:pPr>
            <a:r>
              <a:rPr sz="930">
                <a:solidFill>
                  <a:srgbClr val="1E7B52"/>
                </a:solidFill>
                <a:latin typeface="Calibri"/>
                <a:ea typeface="Calibri"/>
                <a:cs typeface="Calibri"/>
              </a:rPr>
              <a:t>Target: ≥ 0.80</a:t>
            </a:r>
            <a:endParaRPr sz="930"/>
          </a:p>
        </p:txBody>
      </p:sp>
      <p:sp>
        <p:nvSpPr>
          <p:cNvPr id="21" name="Text 19">
            <a:extLst xmlns:a="http://schemas.openxmlformats.org/drawingml/2006/main">
              <a:ext uri="{FF2B5EF4-FFF2-40B4-BE49-F238E27FC236}">
                <a16:creationId xmlns:a16="http://schemas.microsoft.com/office/drawing/2014/main" id="{5FBC2368-B9C4-4DC9-A5BC-28E56157939F}"/>
              </a:ext>
            </a:extLst>
          </p:cNvPr>
          <p:cNvSpPr>
            <a:spLocks xmlns:a="http://schemas.openxmlformats.org/drawingml/2006/main" noGrp="1"/>
          </p:cNvSpPr>
          <p:nvPr/>
        </p:nvSpPr>
        <p:spPr>
          <a:xfrm xmlns:a="http://schemas.openxmlformats.org/drawingml/2006/main">
            <a:off x="6217920" y="3913632"/>
            <a:ext cx="1371600" cy="1481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0B3140"/>
                </a:solidFill>
                <a:latin typeface="Calibri"/>
                <a:ea typeface="Calibri"/>
                <a:cs typeface="Calibri"/>
              </a:rPr>
              <a:t>Fail to reject</a:t>
            </a:r>
            <a:endParaRPr sz="950"/>
          </a:p>
          <a:p xmlns:a="http://schemas.openxmlformats.org/drawingml/2006/main">
            <a:pPr marL="0" indent="0">
              <a:buNone/>
            </a:pPr>
            <a:r>
              <a:rPr sz="950" b="1">
                <a:solidFill>
                  <a:srgbClr val="0B3140"/>
                </a:solidFill>
                <a:latin typeface="Calibri"/>
                <a:ea typeface="Calibri"/>
                <a:cs typeface="Calibri"/>
              </a:rPr>
              <a:t>(“not proven”)</a:t>
            </a:r>
            <a:endParaRPr sz="950"/>
          </a:p>
        </p:txBody>
      </p:sp>
      <p:sp>
        <p:nvSpPr>
          <p:cNvPr id="22" name="Shape 20">
            <a:extLst xmlns:a="http://schemas.openxmlformats.org/drawingml/2006/main">
              <a:ext uri="{FF2B5EF4-FFF2-40B4-BE49-F238E27FC236}">
                <a16:creationId xmlns:a16="http://schemas.microsoft.com/office/drawing/2014/main" id="{A409F5C0-C2B3-4869-AE74-14CDD023EB27}"/>
              </a:ext>
            </a:extLst>
          </p:cNvPr>
          <p:cNvSpPr>
            <a:spLocks xmlns:a="http://schemas.openxmlformats.org/drawingml/2006/main" noGrp="1"/>
          </p:cNvSpPr>
          <p:nvPr/>
        </p:nvSpPr>
        <p:spPr>
          <a:xfrm xmlns:a="http://schemas.openxmlformats.org/drawingml/2006/main">
            <a:off x="7680960" y="3913632"/>
            <a:ext cx="1783080" cy="1481328"/>
          </a:xfrm>
          <a:prstGeom xmlns:a="http://schemas.openxmlformats.org/drawingml/2006/main" prst="roundRect">
            <a:avLst>
              <a:gd name="adj" fmla="val 5556"/>
            </a:avLst>
          </a:prstGeom>
          <a:solidFill xmlns:a="http://schemas.openxmlformats.org/drawingml/2006/main">
            <a:srgbClr val="E6F2EC"/>
          </a:solidFill>
        </p:spPr>
      </p:sp>
      <p:sp>
        <p:nvSpPr>
          <p:cNvPr id="23" name="Text 21">
            <a:extLst xmlns:a="http://schemas.openxmlformats.org/drawingml/2006/main">
              <a:ext uri="{FF2B5EF4-FFF2-40B4-BE49-F238E27FC236}">
                <a16:creationId xmlns:a16="http://schemas.microsoft.com/office/drawing/2014/main" id="{BCB6869B-3CDD-4AB5-888E-8A889A0074A4}"/>
              </a:ext>
            </a:extLst>
          </p:cNvPr>
          <p:cNvSpPr>
            <a:spLocks xmlns:a="http://schemas.openxmlformats.org/drawingml/2006/main" noGrp="1"/>
          </p:cNvSpPr>
          <p:nvPr/>
        </p:nvSpPr>
        <p:spPr>
          <a:xfrm xmlns:a="http://schemas.openxmlformats.org/drawingml/2006/main">
            <a:off x="7790688" y="4005072"/>
            <a:ext cx="1563624"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930">
                <a:solidFill>
                  <a:srgbClr val="1E7B52"/>
                </a:solidFill>
                <a:latin typeface="Calibri"/>
                <a:ea typeface="Calibri"/>
                <a:cs typeface="Calibri"/>
              </a:rPr>
              <a:t>Correct</a:t>
            </a:r>
            <a:endParaRPr sz="930"/>
          </a:p>
          <a:p xmlns:a="http://schemas.openxmlformats.org/drawingml/2006/main">
            <a:pPr marL="0" indent="0">
              <a:lnSpc>
                <a:spcPct val="104000"/>
              </a:lnSpc>
              <a:buNone/>
            </a:pPr>
            <a:r>
              <a:rPr sz="930">
                <a:solidFill>
                  <a:srgbClr val="1E7B52"/>
                </a:solidFill>
                <a:latin typeface="Calibri"/>
                <a:ea typeface="Calibri"/>
                <a:cs typeface="Calibri"/>
              </a:rPr>
              <a:t>No effect, none claimed</a:t>
            </a:r>
            <a:endParaRPr sz="930"/>
          </a:p>
        </p:txBody>
      </p:sp>
      <p:sp>
        <p:nvSpPr>
          <p:cNvPr id="24" name="Shape 22">
            <a:extLst xmlns:a="http://schemas.openxmlformats.org/drawingml/2006/main">
              <a:ext uri="{FF2B5EF4-FFF2-40B4-BE49-F238E27FC236}">
                <a16:creationId xmlns:a16="http://schemas.microsoft.com/office/drawing/2014/main" id="{58A8C90D-0A9E-4649-8287-C1F25742198E}"/>
              </a:ext>
            </a:extLst>
          </p:cNvPr>
          <p:cNvSpPr>
            <a:spLocks xmlns:a="http://schemas.openxmlformats.org/drawingml/2006/main" noGrp="1"/>
          </p:cNvSpPr>
          <p:nvPr/>
        </p:nvSpPr>
        <p:spPr>
          <a:xfrm xmlns:a="http://schemas.openxmlformats.org/drawingml/2006/main">
            <a:off x="9573768" y="3913632"/>
            <a:ext cx="1783080" cy="1481328"/>
          </a:xfrm>
          <a:prstGeom xmlns:a="http://schemas.openxmlformats.org/drawingml/2006/main" prst="roundRect">
            <a:avLst>
              <a:gd name="adj" fmla="val 5556"/>
            </a:avLst>
          </a:prstGeom>
          <a:solidFill xmlns:a="http://schemas.openxmlformats.org/drawingml/2006/main">
            <a:srgbClr val="FBEEDD"/>
          </a:solidFill>
        </p:spPr>
      </p:sp>
      <p:sp>
        <p:nvSpPr>
          <p:cNvPr id="25" name="Text 23">
            <a:extLst xmlns:a="http://schemas.openxmlformats.org/drawingml/2006/main">
              <a:ext uri="{FF2B5EF4-FFF2-40B4-BE49-F238E27FC236}">
                <a16:creationId xmlns:a16="http://schemas.microsoft.com/office/drawing/2014/main" id="{F03DF436-036E-4E2B-B72D-C812FD0E8873}"/>
              </a:ext>
            </a:extLst>
          </p:cNvPr>
          <p:cNvSpPr>
            <a:spLocks xmlns:a="http://schemas.openxmlformats.org/drawingml/2006/main" noGrp="1"/>
          </p:cNvSpPr>
          <p:nvPr/>
        </p:nvSpPr>
        <p:spPr>
          <a:xfrm xmlns:a="http://schemas.openxmlformats.org/drawingml/2006/main">
            <a:off x="9683496" y="4005072"/>
            <a:ext cx="1563624"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930">
                <a:solidFill>
                  <a:srgbClr val="C2660A"/>
                </a:solidFill>
                <a:latin typeface="Calibri"/>
                <a:ea typeface="Calibri"/>
                <a:cs typeface="Calibri"/>
              </a:rPr>
              <a:t>Type II — missed effect</a:t>
            </a:r>
            <a:endParaRPr sz="930"/>
          </a:p>
          <a:p xmlns:a="http://schemas.openxmlformats.org/drawingml/2006/main">
            <a:pPr marL="0" indent="0">
              <a:lnSpc>
                <a:spcPct val="104000"/>
              </a:lnSpc>
              <a:buNone/>
            </a:pPr>
            <a:r>
              <a:rPr sz="930">
                <a:solidFill>
                  <a:srgbClr val="C2660A"/>
                </a:solidFill>
                <a:latin typeface="Calibri"/>
                <a:ea typeface="Calibri"/>
                <a:cs typeface="Calibri"/>
              </a:rPr>
              <a:t>β; driven by n and effect size</a:t>
            </a:r>
            <a:endParaRPr sz="930"/>
          </a:p>
          <a:p xmlns:a="http://schemas.openxmlformats.org/drawingml/2006/main">
            <a:pPr marL="0" indent="0">
              <a:lnSpc>
                <a:spcPct val="104000"/>
              </a:lnSpc>
              <a:buNone/>
            </a:pPr>
            <a:r>
              <a:rPr sz="930">
                <a:solidFill>
                  <a:srgbClr val="C2660A"/>
                </a:solidFill>
                <a:latin typeface="Calibri"/>
                <a:ea typeface="Calibri"/>
                <a:cs typeface="Calibri"/>
              </a:rPr>
              <a:t>A working tool goes unfunded</a:t>
            </a:r>
            <a:endParaRPr sz="930"/>
          </a:p>
        </p:txBody>
      </p:sp>
      <p:sp>
        <p:nvSpPr>
          <p:cNvPr id="26" name="Text 24">
            <a:extLst xmlns:a="http://schemas.openxmlformats.org/drawingml/2006/main">
              <a:ext uri="{FF2B5EF4-FFF2-40B4-BE49-F238E27FC236}">
                <a16:creationId xmlns:a16="http://schemas.microsoft.com/office/drawing/2014/main" id="{A5432454-866A-4D51-9603-C3A06F163030}"/>
              </a:ext>
            </a:extLst>
          </p:cNvPr>
          <p:cNvSpPr>
            <a:spLocks xmlns:a="http://schemas.openxmlformats.org/drawingml/2006/main" noGrp="1"/>
          </p:cNvSpPr>
          <p:nvPr/>
        </p:nvSpPr>
        <p:spPr>
          <a:xfrm xmlns:a="http://schemas.openxmlformats.org/drawingml/2006/main">
            <a:off x="6263640" y="5559552"/>
            <a:ext cx="52120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5B6B75"/>
                </a:solidFill>
                <a:latin typeface="Calibri"/>
                <a:ea typeface="Calibri"/>
                <a:cs typeface="Calibri"/>
              </a:rPr>
              <a:t>α and β trade off at fixed n. The only free lunch is a bigger sample or a bigger true effect.</a:t>
            </a:r>
            <a:endParaRPr sz="1050"/>
          </a:p>
        </p:txBody>
      </p:sp>
    </p:spTree>
    <p:extLst>
      <p:ext uri="{BB962C8B-B14F-4D97-AF65-F5344CB8AC3E}">
        <p14:creationId xmlns:p14="http://schemas.microsoft.com/office/powerpoint/2010/main" val="140340540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FF23B7D-7F92-4E90-B907-4EF908F6C5AC}"/>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F635E483-FA47-4C67-9905-12CA091F514C}"/>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40</a:t>
            </a:r>
            <a:endParaRPr sz="900"/>
          </a:p>
        </p:txBody>
      </p:sp>
      <p:sp>
        <p:nvSpPr>
          <p:cNvPr id="4" name="Shape 2">
            <a:extLst xmlns:a="http://schemas.openxmlformats.org/drawingml/2006/main">
              <a:ext uri="{FF2B5EF4-FFF2-40B4-BE49-F238E27FC236}">
                <a16:creationId xmlns:a16="http://schemas.microsoft.com/office/drawing/2014/main" id="{45AEC4EC-F0D9-4212-83CB-5BF97F47AC55}"/>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C01BFC9C-69FC-493C-8FF8-A22A8422B753}"/>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4</a:t>
            </a:r>
            <a:endParaRPr sz="1050"/>
          </a:p>
        </p:txBody>
      </p:sp>
      <p:sp>
        <p:nvSpPr>
          <p:cNvPr id="6" name="Text 4">
            <a:extLst xmlns:a="http://schemas.openxmlformats.org/drawingml/2006/main">
              <a:ext uri="{FF2B5EF4-FFF2-40B4-BE49-F238E27FC236}">
                <a16:creationId xmlns:a16="http://schemas.microsoft.com/office/drawing/2014/main" id="{E88B360F-28D8-42CC-ACE4-756EA4163FBF}"/>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The p-value: what it measures, what it doesn't</a:t>
            </a:r>
            <a:endParaRPr sz="2800"/>
          </a:p>
        </p:txBody>
      </p:sp>
      <p:sp>
        <p:nvSpPr>
          <p:cNvPr id="7" name="Text 5">
            <a:extLst xmlns:a="http://schemas.openxmlformats.org/drawingml/2006/main">
              <a:ext uri="{FF2B5EF4-FFF2-40B4-BE49-F238E27FC236}">
                <a16:creationId xmlns:a16="http://schemas.microsoft.com/office/drawing/2014/main" id="{AD6423A9-123A-4826-99DA-3BD8AED35B90}"/>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One correct definition, three fatal misreadings</a:t>
            </a:r>
            <a:endParaRPr sz="1350"/>
          </a:p>
        </p:txBody>
      </p:sp>
      <p:sp>
        <p:nvSpPr>
          <p:cNvPr id="8" name="Shape 6">
            <a:extLst xmlns:a="http://schemas.openxmlformats.org/drawingml/2006/main">
              <a:ext uri="{FF2B5EF4-FFF2-40B4-BE49-F238E27FC236}">
                <a16:creationId xmlns:a16="http://schemas.microsoft.com/office/drawing/2014/main" id="{E1884AB9-47D5-4587-867D-058FCEBBF249}"/>
              </a:ext>
            </a:extLst>
          </p:cNvPr>
          <p:cNvSpPr>
            <a:spLocks xmlns:a="http://schemas.openxmlformats.org/drawingml/2006/main" noGrp="1"/>
          </p:cNvSpPr>
          <p:nvPr/>
        </p:nvSpPr>
        <p:spPr>
          <a:xfrm xmlns:a="http://schemas.openxmlformats.org/drawingml/2006/main">
            <a:off x="502920" y="1837944"/>
            <a:ext cx="11201400" cy="1325880"/>
          </a:xfrm>
          <a:prstGeom xmlns:a="http://schemas.openxmlformats.org/drawingml/2006/main" prst="roundRect">
            <a:avLst>
              <a:gd name="adj" fmla="val 6207"/>
            </a:avLst>
          </a:prstGeom>
          <a:solidFill xmlns:a="http://schemas.openxmlformats.org/drawingml/2006/main">
            <a:srgbClr val="0B3140"/>
          </a:solidFill>
        </p:spPr>
      </p:sp>
      <p:sp>
        <p:nvSpPr>
          <p:cNvPr id="9" name="Text 7">
            <a:extLst xmlns:a="http://schemas.openxmlformats.org/drawingml/2006/main">
              <a:ext uri="{FF2B5EF4-FFF2-40B4-BE49-F238E27FC236}">
                <a16:creationId xmlns:a16="http://schemas.microsoft.com/office/drawing/2014/main" id="{A89E04E6-D9A8-4DB5-B8C4-42C3E91407D3}"/>
              </a:ext>
            </a:extLst>
          </p:cNvPr>
          <p:cNvSpPr>
            <a:spLocks xmlns:a="http://schemas.openxmlformats.org/drawingml/2006/main" noGrp="1"/>
          </p:cNvSpPr>
          <p:nvPr/>
        </p:nvSpPr>
        <p:spPr>
          <a:xfrm xmlns:a="http://schemas.openxmlformats.org/drawingml/2006/main">
            <a:off x="868680" y="2039112"/>
            <a:ext cx="105156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400" b="1">
                <a:solidFill>
                  <a:srgbClr val="6FB3BC"/>
                </a:solidFill>
                <a:latin typeface="Calibri"/>
                <a:ea typeface="Calibri"/>
                <a:cs typeface="Calibri"/>
              </a:rPr>
              <a:t>Definition — </a:t>
            </a:r>
            <a:r>
              <a:rPr sz="1400">
                <a:solidFill>
                  <a:srgbClr val="FFFFFF"/>
                </a:solidFill>
                <a:latin typeface="Calibri"/>
                <a:ea typeface="Calibri"/>
                <a:cs typeface="Calibri"/>
              </a:rPr>
              <a:t>the probability of observing evidence at least this extreme, if H₀ were true.  It measures surprise under the null — nothing else.</a:t>
            </a:r>
            <a:endParaRPr sz="1400"/>
          </a:p>
        </p:txBody>
      </p:sp>
      <p:sp>
        <p:nvSpPr>
          <p:cNvPr id="10" name="Shape 8">
            <a:extLst xmlns:a="http://schemas.openxmlformats.org/drawingml/2006/main">
              <a:ext uri="{FF2B5EF4-FFF2-40B4-BE49-F238E27FC236}">
                <a16:creationId xmlns:a16="http://schemas.microsoft.com/office/drawing/2014/main" id="{567600CF-515E-4E9C-8696-C01400CD2549}"/>
              </a:ext>
            </a:extLst>
          </p:cNvPr>
          <p:cNvSpPr>
            <a:spLocks xmlns:a="http://schemas.openxmlformats.org/drawingml/2006/main" noGrp="1"/>
          </p:cNvSpPr>
          <p:nvPr/>
        </p:nvSpPr>
        <p:spPr>
          <a:xfrm xmlns:a="http://schemas.openxmlformats.org/drawingml/2006/main">
            <a:off x="502920" y="3346704"/>
            <a:ext cx="3685032" cy="3017520"/>
          </a:xfrm>
          <a:prstGeom xmlns:a="http://schemas.openxmlformats.org/drawingml/2006/main" prst="roundRect">
            <a:avLst>
              <a:gd name="adj" fmla="val 2727"/>
            </a:avLst>
          </a:prstGeom>
          <a:solidFill xmlns:a="http://schemas.openxmlformats.org/drawingml/2006/main">
            <a:srgbClr val="F9E8E9"/>
          </a:solidFill>
        </p:spPr>
      </p:sp>
      <p:sp>
        <p:nvSpPr>
          <p:cNvPr id="11" name="Shape 9">
            <a:extLst xmlns:a="http://schemas.openxmlformats.org/drawingml/2006/main">
              <a:ext uri="{FF2B5EF4-FFF2-40B4-BE49-F238E27FC236}">
                <a16:creationId xmlns:a16="http://schemas.microsoft.com/office/drawing/2014/main" id="{D56AD9EF-0243-4D33-987D-DE892BA82599}"/>
              </a:ext>
            </a:extLst>
          </p:cNvPr>
          <p:cNvSpPr>
            <a:spLocks xmlns:a="http://schemas.openxmlformats.org/drawingml/2006/main" noGrp="1"/>
          </p:cNvSpPr>
          <p:nvPr/>
        </p:nvSpPr>
        <p:spPr>
          <a:xfrm xmlns:a="http://schemas.openxmlformats.org/drawingml/2006/main">
            <a:off x="704088" y="3547872"/>
            <a:ext cx="402336" cy="402336"/>
          </a:xfrm>
          <a:prstGeom xmlns:a="http://schemas.openxmlformats.org/drawingml/2006/main" prst="ellipse">
            <a:avLst/>
          </a:prstGeom>
          <a:solidFill xmlns:a="http://schemas.openxmlformats.org/drawingml/2006/main">
            <a:srgbClr val="B4232A"/>
          </a:solidFill>
        </p:spPr>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72918c0e6a6848ff"/>
          <a:stretch xmlns:a="http://schemas.openxmlformats.org/drawingml/2006/main">
            <a:fillRect l="0" t="0" r="0" b="0"/>
          </a:stretch>
        </p:blipFill>
        <p:spPr>
          <a:xfrm xmlns:a="http://schemas.openxmlformats.org/drawingml/2006/main">
            <a:off x="808695" y="3652479"/>
            <a:ext cx="193121" cy="193121"/>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7BEC7FB5-214B-47C4-A0D0-B89100B8DAF4}"/>
              </a:ext>
            </a:extLst>
          </p:cNvPr>
          <p:cNvSpPr>
            <a:spLocks xmlns:a="http://schemas.openxmlformats.org/drawingml/2006/main" noGrp="1"/>
          </p:cNvSpPr>
          <p:nvPr/>
        </p:nvSpPr>
        <p:spPr>
          <a:xfrm xmlns:a="http://schemas.openxmlformats.org/drawingml/2006/main">
            <a:off x="722376" y="4078224"/>
            <a:ext cx="32918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0B3140"/>
                </a:solidFill>
                <a:latin typeface="Cambria"/>
                <a:ea typeface="Cambria"/>
                <a:cs typeface="Cambria"/>
              </a:rPr>
              <a:t>“p is the probability H₀ is true”</a:t>
            </a:r>
            <a:endParaRPr sz="1250"/>
          </a:p>
        </p:txBody>
      </p:sp>
      <p:sp>
        <p:nvSpPr>
          <p:cNvPr id="14" name="Text 11">
            <a:extLst xmlns:a="http://schemas.openxmlformats.org/drawingml/2006/main">
              <a:ext uri="{FF2B5EF4-FFF2-40B4-BE49-F238E27FC236}">
                <a16:creationId xmlns:a16="http://schemas.microsoft.com/office/drawing/2014/main" id="{77CC5783-C69A-400B-9CB8-F29A87EF826B}"/>
              </a:ext>
            </a:extLst>
          </p:cNvPr>
          <p:cNvSpPr>
            <a:spLocks xmlns:a="http://schemas.openxmlformats.org/drawingml/2006/main" noGrp="1"/>
          </p:cNvSpPr>
          <p:nvPr/>
        </p:nvSpPr>
        <p:spPr>
          <a:xfrm xmlns:a="http://schemas.openxmlformats.org/drawingml/2006/main">
            <a:off x="722376" y="4809744"/>
            <a:ext cx="329184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80">
                <a:solidFill>
                  <a:srgbClr val="24313A"/>
                </a:solidFill>
                <a:latin typeface="Calibri"/>
                <a:ea typeface="Calibri"/>
                <a:cs typeface="Calibri"/>
              </a:rPr>
              <a:t>No. p is computed assuming H₀ is true — it cannot also grade that assumption. P(data|H₀) ≠ P(H₀|data): the Bayes lesson from Day 1.</a:t>
            </a:r>
            <a:endParaRPr sz="1080"/>
          </a:p>
        </p:txBody>
      </p:sp>
      <p:sp>
        <p:nvSpPr>
          <p:cNvPr id="15" name="Shape 12">
            <a:extLst xmlns:a="http://schemas.openxmlformats.org/drawingml/2006/main">
              <a:ext uri="{FF2B5EF4-FFF2-40B4-BE49-F238E27FC236}">
                <a16:creationId xmlns:a16="http://schemas.microsoft.com/office/drawing/2014/main" id="{373FB0AD-B39A-4648-8476-044D62E438C3}"/>
              </a:ext>
            </a:extLst>
          </p:cNvPr>
          <p:cNvSpPr>
            <a:spLocks xmlns:a="http://schemas.openxmlformats.org/drawingml/2006/main" noGrp="1"/>
          </p:cNvSpPr>
          <p:nvPr/>
        </p:nvSpPr>
        <p:spPr>
          <a:xfrm xmlns:a="http://schemas.openxmlformats.org/drawingml/2006/main">
            <a:off x="4325112" y="3346704"/>
            <a:ext cx="3685032" cy="3017520"/>
          </a:xfrm>
          <a:prstGeom xmlns:a="http://schemas.openxmlformats.org/drawingml/2006/main" prst="roundRect">
            <a:avLst>
              <a:gd name="adj" fmla="val 2727"/>
            </a:avLst>
          </a:prstGeom>
          <a:solidFill xmlns:a="http://schemas.openxmlformats.org/drawingml/2006/main">
            <a:srgbClr val="F9E8E9"/>
          </a:solidFill>
        </p:spPr>
      </p:sp>
      <p:sp>
        <p:nvSpPr>
          <p:cNvPr id="16" name="Shape 13">
            <a:extLst xmlns:a="http://schemas.openxmlformats.org/drawingml/2006/main">
              <a:ext uri="{FF2B5EF4-FFF2-40B4-BE49-F238E27FC236}">
                <a16:creationId xmlns:a16="http://schemas.microsoft.com/office/drawing/2014/main" id="{F621CD3C-1B14-446D-BEFD-73CD5C056E48}"/>
              </a:ext>
            </a:extLst>
          </p:cNvPr>
          <p:cNvSpPr>
            <a:spLocks xmlns:a="http://schemas.openxmlformats.org/drawingml/2006/main" noGrp="1"/>
          </p:cNvSpPr>
          <p:nvPr/>
        </p:nvSpPr>
        <p:spPr>
          <a:xfrm xmlns:a="http://schemas.openxmlformats.org/drawingml/2006/main">
            <a:off x="4526280" y="3547872"/>
            <a:ext cx="402336" cy="402336"/>
          </a:xfrm>
          <a:prstGeom xmlns:a="http://schemas.openxmlformats.org/drawingml/2006/main" prst="ellipse">
            <a:avLst/>
          </a:prstGeom>
          <a:solidFill xmlns:a="http://schemas.openxmlformats.org/drawingml/2006/main">
            <a:srgbClr val="B4232A"/>
          </a:solidFill>
        </p:spPr>
      </p:sp>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72918c0e6a6848ff"/>
          <a:stretch xmlns:a="http://schemas.openxmlformats.org/drawingml/2006/main">
            <a:fillRect l="0" t="0" r="0" b="0"/>
          </a:stretch>
        </p:blipFill>
        <p:spPr>
          <a:xfrm xmlns:a="http://schemas.openxmlformats.org/drawingml/2006/main">
            <a:off x="4630887" y="3652479"/>
            <a:ext cx="193121" cy="193121"/>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60CE4C2E-8AA7-4C0C-84A6-511D66E9D5FF}"/>
              </a:ext>
            </a:extLst>
          </p:cNvPr>
          <p:cNvSpPr>
            <a:spLocks xmlns:a="http://schemas.openxmlformats.org/drawingml/2006/main" noGrp="1"/>
          </p:cNvSpPr>
          <p:nvPr/>
        </p:nvSpPr>
        <p:spPr>
          <a:xfrm xmlns:a="http://schemas.openxmlformats.org/drawingml/2006/main">
            <a:off x="4544568" y="4078224"/>
            <a:ext cx="32918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0B3140"/>
                </a:solidFill>
                <a:latin typeface="Cambria"/>
                <a:ea typeface="Cambria"/>
                <a:cs typeface="Cambria"/>
              </a:rPr>
              <a:t>“p = 0.049 is a discovery; p = 0.051 is nothing”</a:t>
            </a:r>
            <a:endParaRPr sz="1250"/>
          </a:p>
        </p:txBody>
      </p:sp>
      <p:sp>
        <p:nvSpPr>
          <p:cNvPr id="19" name="Text 15">
            <a:extLst xmlns:a="http://schemas.openxmlformats.org/drawingml/2006/main">
              <a:ext uri="{FF2B5EF4-FFF2-40B4-BE49-F238E27FC236}">
                <a16:creationId xmlns:a16="http://schemas.microsoft.com/office/drawing/2014/main" id="{01E40BB4-05E4-476F-81EA-0830D2824BDC}"/>
              </a:ext>
            </a:extLst>
          </p:cNvPr>
          <p:cNvSpPr>
            <a:spLocks xmlns:a="http://schemas.openxmlformats.org/drawingml/2006/main" noGrp="1"/>
          </p:cNvSpPr>
          <p:nvPr/>
        </p:nvSpPr>
        <p:spPr>
          <a:xfrm xmlns:a="http://schemas.openxmlformats.org/drawingml/2006/main">
            <a:off x="4544568" y="4809744"/>
            <a:ext cx="329184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80">
                <a:solidFill>
                  <a:srgbClr val="24313A"/>
                </a:solidFill>
                <a:latin typeface="Calibri"/>
                <a:ea typeface="Calibri"/>
                <a:cs typeface="Calibri"/>
              </a:rPr>
              <a:t>No. Evidence is continuous; α = 0.05 is a decision convention. Report the p-value and the CI — never just the verdict stamp.</a:t>
            </a:r>
            <a:endParaRPr sz="1080"/>
          </a:p>
        </p:txBody>
      </p:sp>
      <p:sp>
        <p:nvSpPr>
          <p:cNvPr id="20" name="Shape 16">
            <a:extLst xmlns:a="http://schemas.openxmlformats.org/drawingml/2006/main">
              <a:ext uri="{FF2B5EF4-FFF2-40B4-BE49-F238E27FC236}">
                <a16:creationId xmlns:a16="http://schemas.microsoft.com/office/drawing/2014/main" id="{D843EE44-4F3B-4FCF-8D56-607AFA35938C}"/>
              </a:ext>
            </a:extLst>
          </p:cNvPr>
          <p:cNvSpPr>
            <a:spLocks xmlns:a="http://schemas.openxmlformats.org/drawingml/2006/main" noGrp="1"/>
          </p:cNvSpPr>
          <p:nvPr/>
        </p:nvSpPr>
        <p:spPr>
          <a:xfrm xmlns:a="http://schemas.openxmlformats.org/drawingml/2006/main">
            <a:off x="8147304" y="3346704"/>
            <a:ext cx="3685032" cy="3017520"/>
          </a:xfrm>
          <a:prstGeom xmlns:a="http://schemas.openxmlformats.org/drawingml/2006/main" prst="roundRect">
            <a:avLst>
              <a:gd name="adj" fmla="val 2727"/>
            </a:avLst>
          </a:prstGeom>
          <a:solidFill xmlns:a="http://schemas.openxmlformats.org/drawingml/2006/main">
            <a:srgbClr val="F9E8E9"/>
          </a:solidFill>
        </p:spPr>
      </p:sp>
      <p:sp>
        <p:nvSpPr>
          <p:cNvPr id="21" name="Shape 17">
            <a:extLst xmlns:a="http://schemas.openxmlformats.org/drawingml/2006/main">
              <a:ext uri="{FF2B5EF4-FFF2-40B4-BE49-F238E27FC236}">
                <a16:creationId xmlns:a16="http://schemas.microsoft.com/office/drawing/2014/main" id="{9AF0CEB4-E42E-4BD3-AB0F-C43F82893A57}"/>
              </a:ext>
            </a:extLst>
          </p:cNvPr>
          <p:cNvSpPr>
            <a:spLocks xmlns:a="http://schemas.openxmlformats.org/drawingml/2006/main" noGrp="1"/>
          </p:cNvSpPr>
          <p:nvPr/>
        </p:nvSpPr>
        <p:spPr>
          <a:xfrm xmlns:a="http://schemas.openxmlformats.org/drawingml/2006/main">
            <a:off x="8348472" y="3547872"/>
            <a:ext cx="402336" cy="402336"/>
          </a:xfrm>
          <a:prstGeom xmlns:a="http://schemas.openxmlformats.org/drawingml/2006/main" prst="ellipse">
            <a:avLst/>
          </a:prstGeom>
          <a:solidFill xmlns:a="http://schemas.openxmlformats.org/drawingml/2006/main">
            <a:srgbClr val="B4232A"/>
          </a:solidFill>
        </p:spPr>
      </p:sp>
      <p:pic>
        <p:nvPicPr>
          <p:cNvPr id="48" name="Image 2"/>
          <p:cNvPicPr>
            <a:picLocks xmlns:a="http://schemas.openxmlformats.org/drawingml/2006/main" noChangeAspect="1"/>
          </p:cNvPicPr>
          <p:nvPr/>
        </p:nvPicPr>
        <p:blipFill>
          <a:blip xmlns:r="http://schemas.openxmlformats.org/officeDocument/2006/relationships" xmlns:a="http://schemas.openxmlformats.org/drawingml/2006/main" r:embed="R72918c0e6a6848ff"/>
          <a:stretch xmlns:a="http://schemas.openxmlformats.org/drawingml/2006/main">
            <a:fillRect l="0" t="0" r="0" b="0"/>
          </a:stretch>
        </p:blipFill>
        <p:spPr>
          <a:xfrm xmlns:a="http://schemas.openxmlformats.org/drawingml/2006/main">
            <a:off x="8453079" y="3652479"/>
            <a:ext cx="193121" cy="193121"/>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05777D16-41CA-497E-97B6-AEDDA7CB4E08}"/>
              </a:ext>
            </a:extLst>
          </p:cNvPr>
          <p:cNvSpPr>
            <a:spLocks xmlns:a="http://schemas.openxmlformats.org/drawingml/2006/main" noGrp="1"/>
          </p:cNvSpPr>
          <p:nvPr/>
        </p:nvSpPr>
        <p:spPr>
          <a:xfrm xmlns:a="http://schemas.openxmlformats.org/drawingml/2006/main">
            <a:off x="8366760" y="4078224"/>
            <a:ext cx="32918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0B3140"/>
                </a:solidFill>
                <a:latin typeface="Cambria"/>
                <a:ea typeface="Cambria"/>
                <a:cs typeface="Cambria"/>
              </a:rPr>
              <a:t>“Tiny p means a big, important effect”</a:t>
            </a:r>
            <a:endParaRPr sz="1250"/>
          </a:p>
        </p:txBody>
      </p:sp>
      <p:sp>
        <p:nvSpPr>
          <p:cNvPr id="24" name="Text 19">
            <a:extLst xmlns:a="http://schemas.openxmlformats.org/drawingml/2006/main">
              <a:ext uri="{FF2B5EF4-FFF2-40B4-BE49-F238E27FC236}">
                <a16:creationId xmlns:a16="http://schemas.microsoft.com/office/drawing/2014/main" id="{6FBB1504-ECE5-4AC5-B46B-4CCBFBDC1AC3}"/>
              </a:ext>
            </a:extLst>
          </p:cNvPr>
          <p:cNvSpPr>
            <a:spLocks xmlns:a="http://schemas.openxmlformats.org/drawingml/2006/main" noGrp="1"/>
          </p:cNvSpPr>
          <p:nvPr/>
        </p:nvSpPr>
        <p:spPr>
          <a:xfrm xmlns:a="http://schemas.openxmlformats.org/drawingml/2006/main">
            <a:off x="8366760" y="4809744"/>
            <a:ext cx="329184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80">
                <a:solidFill>
                  <a:srgbClr val="24313A"/>
                </a:solidFill>
                <a:latin typeface="Calibri"/>
                <a:ea typeface="Calibri"/>
                <a:cs typeface="Calibri"/>
              </a:rPr>
              <a:t>No. With n = 50,000, a trivial 0.4pp difference earns p &lt; 0.001. Significance is about detectability; importance is the effect size's job.</a:t>
            </a:r>
            <a:endParaRPr sz="1080"/>
          </a:p>
        </p:txBody>
      </p:sp>
    </p:spTree>
    <p:extLst>
      <p:ext uri="{BB962C8B-B14F-4D97-AF65-F5344CB8AC3E}">
        <p14:creationId xmlns:p14="http://schemas.microsoft.com/office/powerpoint/2010/main" val="137283779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04EB075-30EE-4B5C-9E00-4C8ECD4E521B}"/>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11F9342B-0891-415B-A126-EC7DF3F892D0}"/>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41</a:t>
            </a:r>
            <a:endParaRPr sz="900"/>
          </a:p>
        </p:txBody>
      </p:sp>
      <p:sp>
        <p:nvSpPr>
          <p:cNvPr id="4" name="Shape 2">
            <a:extLst xmlns:a="http://schemas.openxmlformats.org/drawingml/2006/main">
              <a:ext uri="{FF2B5EF4-FFF2-40B4-BE49-F238E27FC236}">
                <a16:creationId xmlns:a16="http://schemas.microsoft.com/office/drawing/2014/main" id="{BC51D965-8878-439E-B692-5CA01992E117}"/>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A16DAD53-E767-4DAD-9CB1-4DE3B787A943}"/>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4</a:t>
            </a:r>
            <a:endParaRPr sz="1050"/>
          </a:p>
        </p:txBody>
      </p:sp>
      <p:sp>
        <p:nvSpPr>
          <p:cNvPr id="6" name="Text 4">
            <a:extLst xmlns:a="http://schemas.openxmlformats.org/drawingml/2006/main">
              <a:ext uri="{FF2B5EF4-FFF2-40B4-BE49-F238E27FC236}">
                <a16:creationId xmlns:a16="http://schemas.microsoft.com/office/drawing/2014/main" id="{DD223FCD-176D-4004-ACD1-00533F9CFB24}"/>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Choosing the test: a decision table, not a memory test</a:t>
            </a:r>
            <a:endParaRPr sz="2800"/>
          </a:p>
        </p:txBody>
      </p:sp>
      <p:sp>
        <p:nvSpPr>
          <p:cNvPr id="7" name="Text 5">
            <a:extLst xmlns:a="http://schemas.openxmlformats.org/drawingml/2006/main">
              <a:ext uri="{FF2B5EF4-FFF2-40B4-BE49-F238E27FC236}">
                <a16:creationId xmlns:a16="http://schemas.microsoft.com/office/drawing/2014/main" id="{25D54AEC-DC52-46DF-95A5-6D41CCB9EE67}"/>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Data types in, test out — with the SciPy/statsmodels call</a:t>
            </a:r>
            <a:endParaRPr sz="1350"/>
          </a:p>
        </p:txBody>
      </p:sp>
      <p:graphicFrame>
        <p:nvGraphicFramePr>
          <p:cNvPr id="18" name="Table 0"/>
          <p:cNvGraphicFramePr/>
          <p:nvPr/>
        </p:nvGraphicFramePr>
        <p:xfrm>
          <a:off xmlns:a="http://schemas.openxmlformats.org/drawingml/2006/main" x="502920" y="1837944"/>
          <a:ext xmlns:a="http://schemas.openxmlformats.org/drawingml/2006/main" cx="11201400" cy="914400"/>
        </p:xfrm>
        <a:graphic xmlns:a="http://schemas.openxmlformats.org/drawingml/2006/main">
          <a:graphicData uri="http://schemas.openxmlformats.org/drawingml/2006/table">
            <a:tbl>
              <a:tblPr/>
              <a:tblGrid>
                <a:gridCol w="2514600"/>
                <a:gridCol w="2651760"/>
                <a:gridCol w="2834640"/>
                <a:gridCol w="3200400"/>
              </a:tblGrid>
              <a:tr h="475488">
                <a:tc>
                  <a:txBody>
                    <a:bodyPr/>
                    <a:lstStyle/>
                    <a:p>
                      <a:pPr marL="0" indent="0">
                        <a:buNone/>
                      </a:pPr>
                      <a:r>
                        <a:rPr sz="1100" b="1">
                          <a:solidFill>
                            <a:srgbClr val="FFFFFF"/>
                          </a:solidFill>
                          <a:latin typeface="Calibri"/>
                          <a:ea typeface="Calibri"/>
                          <a:cs typeface="Calibri"/>
                        </a:rPr>
                        <a:t>Question shape</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00" b="1">
                          <a:solidFill>
                            <a:srgbClr val="FFFFFF"/>
                          </a:solidFill>
                          <a:latin typeface="Calibri"/>
                          <a:ea typeface="Calibri"/>
                          <a:cs typeface="Calibri"/>
                        </a:rPr>
                        <a:t>Test</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00" b="1">
                          <a:solidFill>
                            <a:srgbClr val="FFFFFF"/>
                          </a:solidFill>
                          <a:latin typeface="Calibri"/>
                          <a:ea typeface="Calibri"/>
                          <a:cs typeface="Calibri"/>
                        </a:rPr>
                        <a:t>Call</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00" b="1">
                          <a:solidFill>
                            <a:srgbClr val="FFFFFF"/>
                          </a:solidFill>
                          <a:latin typeface="Calibri"/>
                          <a:ea typeface="Calibri"/>
                          <a:cs typeface="Calibri"/>
                        </a:rPr>
                        <a:t>Mawid example</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r>
              <a:tr h="475488">
                <a:tc>
                  <a:txBody>
                    <a:bodyPr/>
                    <a:lstStyle/>
                    <a:p>
                      <a:pPr marL="0" indent="0">
                        <a:buNone/>
                      </a:pPr>
                      <a:r>
                        <a:rPr sz="1100">
                          <a:solidFill>
                            <a:srgbClr val="24313A"/>
                          </a:solidFill>
                          <a:latin typeface="Calibri"/>
                          <a:ea typeface="Calibri"/>
                          <a:cs typeface="Calibri"/>
                        </a:rPr>
                        <a:t>Two proportions</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Two-proportion z</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proportions_ztest</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SMS pilot: reminder vs control no-show</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475488">
                <a:tc>
                  <a:txBody>
                    <a:bodyPr/>
                    <a:lstStyle/>
                    <a:p>
                      <a:pPr marL="0" indent="0">
                        <a:buNone/>
                      </a:pPr>
                      <a:r>
                        <a:rPr sz="1100">
                          <a:solidFill>
                            <a:srgbClr val="24313A"/>
                          </a:solidFill>
                          <a:latin typeface="Calibri"/>
                          <a:ea typeface="Calibri"/>
                          <a:cs typeface="Calibri"/>
                        </a:rPr>
                        <a:t>Two means, independent</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Welch's t (default)</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ttest_ind(equal_var=False)</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Mean wait: urban vs rural clinics</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475488">
                <a:tc>
                  <a:txBody>
                    <a:bodyPr/>
                    <a:lstStyle/>
                    <a:p>
                      <a:pPr marL="0" indent="0">
                        <a:buNone/>
                      </a:pPr>
                      <a:r>
                        <a:rPr sz="1100">
                          <a:solidFill>
                            <a:srgbClr val="24313A"/>
                          </a:solidFill>
                          <a:latin typeface="Calibri"/>
                          <a:ea typeface="Calibri"/>
                          <a:cs typeface="Calibri"/>
                        </a:rPr>
                        <a:t>Two means, paired</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Paired t</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ttest_rel</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Clinic wait before vs after staffing change</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475488">
                <a:tc>
                  <a:txBody>
                    <a:bodyPr/>
                    <a:lstStyle/>
                    <a:p>
                      <a:pPr marL="0" indent="0">
                        <a:buNone/>
                      </a:pPr>
                      <a:r>
                        <a:rPr sz="1100">
                          <a:solidFill>
                            <a:srgbClr val="24313A"/>
                          </a:solidFill>
                          <a:latin typeface="Calibri"/>
                          <a:ea typeface="Calibri"/>
                          <a:cs typeface="Calibri"/>
                        </a:rPr>
                        <a:t>3+ group means</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One-way ANOVA (+ post-hoc)</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f_oneway → Tukey HSD</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Wait across clinic types</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475488">
                <a:tc>
                  <a:txBody>
                    <a:bodyPr/>
                    <a:lstStyle/>
                    <a:p>
                      <a:pPr marL="0" indent="0">
                        <a:buNone/>
                      </a:pPr>
                      <a:r>
                        <a:rPr sz="1100">
                          <a:solidFill>
                            <a:srgbClr val="24313A"/>
                          </a:solidFill>
                          <a:latin typeface="Calibri"/>
                          <a:ea typeface="Calibri"/>
                          <a:cs typeface="Calibri"/>
                        </a:rPr>
                        <a:t>Two categoricals</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Chi-square independence</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chi2_contingency</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Region × no-show association</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475488">
                <a:tc>
                  <a:txBody>
                    <a:bodyPr/>
                    <a:lstStyle/>
                    <a:p>
                      <a:pPr marL="0" indent="0">
                        <a:buNone/>
                      </a:pPr>
                      <a:r>
                        <a:rPr sz="1100">
                          <a:solidFill>
                            <a:srgbClr val="24313A"/>
                          </a:solidFill>
                          <a:latin typeface="Calibri"/>
                          <a:ea typeface="Calibri"/>
                          <a:cs typeface="Calibri"/>
                        </a:rPr>
                        <a:t>Skewed / ordinal, 2 groups</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Mann-Whitney U</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mannwhitneyu</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Raw wait distributions (skew +1.7)</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bl>
          </a:graphicData>
        </a:graphic>
      </p:graphicFrame>
      <p:sp>
        <p:nvSpPr>
          <p:cNvPr id="9" name="Shape 6">
            <a:extLst xmlns:a="http://schemas.openxmlformats.org/drawingml/2006/main">
              <a:ext uri="{FF2B5EF4-FFF2-40B4-BE49-F238E27FC236}">
                <a16:creationId xmlns:a16="http://schemas.microsoft.com/office/drawing/2014/main" id="{FE6B7B64-21AE-42ED-A74B-FC6507B4A4B4}"/>
              </a:ext>
            </a:extLst>
          </p:cNvPr>
          <p:cNvSpPr>
            <a:spLocks xmlns:a="http://schemas.openxmlformats.org/drawingml/2006/main" noGrp="1"/>
          </p:cNvSpPr>
          <p:nvPr/>
        </p:nvSpPr>
        <p:spPr>
          <a:xfrm xmlns:a="http://schemas.openxmlformats.org/drawingml/2006/main">
            <a:off x="502920" y="5266944"/>
            <a:ext cx="11201400" cy="1143000"/>
          </a:xfrm>
          <a:prstGeom xmlns:a="http://schemas.openxmlformats.org/drawingml/2006/main" prst="roundRect">
            <a:avLst>
              <a:gd name="adj" fmla="val 7200"/>
            </a:avLst>
          </a:prstGeom>
          <a:solidFill xmlns:a="http://schemas.openxmlformats.org/drawingml/2006/main">
            <a:srgbClr val="E7F2F3"/>
          </a:solidFill>
        </p:spPr>
      </p:sp>
      <p:sp>
        <p:nvSpPr>
          <p:cNvPr id="10" name="Text 7">
            <a:extLst xmlns:a="http://schemas.openxmlformats.org/drawingml/2006/main">
              <a:ext uri="{FF2B5EF4-FFF2-40B4-BE49-F238E27FC236}">
                <a16:creationId xmlns:a16="http://schemas.microsoft.com/office/drawing/2014/main" id="{9E9E6F48-6900-4EA4-AE7C-CE344299341D}"/>
              </a:ext>
            </a:extLst>
          </p:cNvPr>
          <p:cNvSpPr>
            <a:spLocks xmlns:a="http://schemas.openxmlformats.org/drawingml/2006/main" noGrp="1"/>
          </p:cNvSpPr>
          <p:nvPr/>
        </p:nvSpPr>
        <p:spPr>
          <a:xfrm xmlns:a="http://schemas.openxmlformats.org/drawingml/2006/main">
            <a:off x="868680" y="5449824"/>
            <a:ext cx="10515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150" b="1">
                <a:solidFill>
                  <a:srgbClr val="0A5C64"/>
                </a:solidFill>
                <a:latin typeface="Calibri"/>
                <a:ea typeface="Calibri"/>
                <a:cs typeface="Calibri"/>
              </a:rPr>
              <a:t>Assumption checks are part of the test:  </a:t>
            </a:r>
            <a:r>
              <a:rPr sz="1150">
                <a:solidFill>
                  <a:srgbClr val="24313A"/>
                </a:solidFill>
                <a:latin typeface="Calibri"/>
                <a:ea typeface="Calibri"/>
                <a:cs typeface="Calibri"/>
              </a:rPr>
              <a:t>independence (the big one — Day 4's cluster bootstrap shows what its violation costs), expected counts ≥ 5 for χ², and normality-of-means via CLT. When in doubt between t and Mann-Whitney on skewed data: run both; if they disagree, trust the one whose assumptions you can defend.</a:t>
            </a:r>
            <a:endParaRPr sz="1150"/>
          </a:p>
        </p:txBody>
      </p:sp>
    </p:spTree>
    <p:extLst>
      <p:ext uri="{BB962C8B-B14F-4D97-AF65-F5344CB8AC3E}">
        <p14:creationId xmlns:p14="http://schemas.microsoft.com/office/powerpoint/2010/main" val="116050523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B9EF8-CA0C-4E26-9AEE-4E39596E2D35}"/>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A8B5BFA5-713F-4886-AD5F-0211241CFE0B}"/>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42</a:t>
            </a:r>
            <a:endParaRPr sz="900"/>
          </a:p>
        </p:txBody>
      </p:sp>
      <p:sp>
        <p:nvSpPr>
          <p:cNvPr id="4" name="Shape 2">
            <a:extLst xmlns:a="http://schemas.openxmlformats.org/drawingml/2006/main">
              <a:ext uri="{FF2B5EF4-FFF2-40B4-BE49-F238E27FC236}">
                <a16:creationId xmlns:a16="http://schemas.microsoft.com/office/drawing/2014/main" id="{5A325F39-73D9-4E3C-B128-0F1D4501F120}"/>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1ECE3ED9-917D-48CC-8E2E-97ADED323C92}"/>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4</a:t>
            </a:r>
            <a:endParaRPr sz="1050"/>
          </a:p>
        </p:txBody>
      </p:sp>
      <p:sp>
        <p:nvSpPr>
          <p:cNvPr id="6" name="Text 4">
            <a:extLst xmlns:a="http://schemas.openxmlformats.org/drawingml/2006/main">
              <a:ext uri="{FF2B5EF4-FFF2-40B4-BE49-F238E27FC236}">
                <a16:creationId xmlns:a16="http://schemas.microsoft.com/office/drawing/2014/main" id="{1E3232E0-0AF3-4F95-AE89-C885107D34EE}"/>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Effect sizes: the number the Ministry actually funds</a:t>
            </a:r>
            <a:endParaRPr sz="2800"/>
          </a:p>
        </p:txBody>
      </p:sp>
      <p:sp>
        <p:nvSpPr>
          <p:cNvPr id="7" name="Text 5">
            <a:extLst xmlns:a="http://schemas.openxmlformats.org/drawingml/2006/main">
              <a:ext uri="{FF2B5EF4-FFF2-40B4-BE49-F238E27FC236}">
                <a16:creationId xmlns:a16="http://schemas.microsoft.com/office/drawing/2014/main" id="{82C9C9C5-32F6-4657-972B-9F26BFC2B7FB}"/>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With 50,000 rows, p-values are cheap — magnitude is the scarce commodity</a:t>
            </a:r>
            <a:endParaRPr sz="1350"/>
          </a:p>
        </p:txBody>
      </p:sp>
      <p:sp>
        <p:nvSpPr>
          <p:cNvPr id="8" name="Shape 6">
            <a:extLst xmlns:a="http://schemas.openxmlformats.org/drawingml/2006/main">
              <a:ext uri="{FF2B5EF4-FFF2-40B4-BE49-F238E27FC236}">
                <a16:creationId xmlns:a16="http://schemas.microsoft.com/office/drawing/2014/main" id="{C0CA26E1-52B2-4B7E-9913-C24905E35BCB}"/>
              </a:ext>
            </a:extLst>
          </p:cNvPr>
          <p:cNvSpPr>
            <a:spLocks xmlns:a="http://schemas.openxmlformats.org/drawingml/2006/main" noGrp="1"/>
          </p:cNvSpPr>
          <p:nvPr/>
        </p:nvSpPr>
        <p:spPr>
          <a:xfrm xmlns:a="http://schemas.openxmlformats.org/drawingml/2006/main">
            <a:off x="502920" y="1837944"/>
            <a:ext cx="3685032" cy="2880360"/>
          </a:xfrm>
          <a:prstGeom xmlns:a="http://schemas.openxmlformats.org/drawingml/2006/main" prst="roundRect">
            <a:avLst>
              <a:gd name="adj" fmla="val 2857"/>
            </a:avLst>
          </a:prstGeom>
          <a:solidFill xmlns:a="http://schemas.openxmlformats.org/drawingml/2006/main">
            <a:srgbClr val="F3F8F9"/>
          </a:solidFill>
        </p:spPr>
      </p:sp>
      <p:sp>
        <p:nvSpPr>
          <p:cNvPr id="9" name="Shape 7">
            <a:extLst xmlns:a="http://schemas.openxmlformats.org/drawingml/2006/main">
              <a:ext uri="{FF2B5EF4-FFF2-40B4-BE49-F238E27FC236}">
                <a16:creationId xmlns:a16="http://schemas.microsoft.com/office/drawing/2014/main" id="{F6AFCAE2-09AE-4D06-98FA-78359641232E}"/>
              </a:ext>
            </a:extLst>
          </p:cNvPr>
          <p:cNvSpPr>
            <a:spLocks xmlns:a="http://schemas.openxmlformats.org/drawingml/2006/main" noGrp="1"/>
          </p:cNvSpPr>
          <p:nvPr/>
        </p:nvSpPr>
        <p:spPr>
          <a:xfrm xmlns:a="http://schemas.openxmlformats.org/drawingml/2006/main">
            <a:off x="704088" y="2020824"/>
            <a:ext cx="457200" cy="457200"/>
          </a:xfrm>
          <a:prstGeom xmlns:a="http://schemas.openxmlformats.org/drawingml/2006/main" prst="ellipse">
            <a:avLst/>
          </a:prstGeom>
          <a:solidFill xmlns:a="http://schemas.openxmlformats.org/drawingml/2006/main">
            <a:srgbClr val="0E7C86"/>
          </a:solidFill>
        </p:spPr>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bf4b1251da5a4def"/>
          <a:stretch xmlns:a="http://schemas.openxmlformats.org/drawingml/2006/main">
            <a:fillRect l="0" t="0" r="0" b="0"/>
          </a:stretch>
        </p:blipFill>
        <p:spPr>
          <a:xfrm xmlns:a="http://schemas.openxmlformats.org/drawingml/2006/main">
            <a:off x="822960" y="2139696"/>
            <a:ext cx="219456" cy="219456"/>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6FF52F2B-843D-4A04-BA3F-D14B73132BE4}"/>
              </a:ext>
            </a:extLst>
          </p:cNvPr>
          <p:cNvSpPr>
            <a:spLocks xmlns:a="http://schemas.openxmlformats.org/drawingml/2006/main" noGrp="1"/>
          </p:cNvSpPr>
          <p:nvPr/>
        </p:nvSpPr>
        <p:spPr>
          <a:xfrm xmlns:a="http://schemas.openxmlformats.org/drawingml/2006/main">
            <a:off x="1289304" y="2093976"/>
            <a:ext cx="2834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350" b="1">
                <a:solidFill>
                  <a:srgbClr val="0B3140"/>
                </a:solidFill>
                <a:latin typeface="Cambria"/>
                <a:ea typeface="Cambria"/>
                <a:cs typeface="Cambria"/>
              </a:rPr>
              <a:t>Difference in proportions</a:t>
            </a:r>
            <a:endParaRPr sz="1350"/>
          </a:p>
        </p:txBody>
      </p:sp>
      <p:sp>
        <p:nvSpPr>
          <p:cNvPr id="12" name="Text 9">
            <a:extLst xmlns:a="http://schemas.openxmlformats.org/drawingml/2006/main">
              <a:ext uri="{FF2B5EF4-FFF2-40B4-BE49-F238E27FC236}">
                <a16:creationId xmlns:a16="http://schemas.microsoft.com/office/drawing/2014/main" id="{77E48B3C-4631-43BC-A8A8-6D4B8CFA293E}"/>
              </a:ext>
            </a:extLst>
          </p:cNvPr>
          <p:cNvSpPr>
            <a:spLocks xmlns:a="http://schemas.openxmlformats.org/drawingml/2006/main" noGrp="1"/>
          </p:cNvSpPr>
          <p:nvPr/>
        </p:nvSpPr>
        <p:spPr>
          <a:xfrm xmlns:a="http://schemas.openxmlformats.org/drawingml/2006/main">
            <a:off x="722376" y="2706624"/>
            <a:ext cx="32918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A5C64"/>
                </a:solidFill>
                <a:latin typeface="Courier New"/>
                <a:ea typeface="Courier New"/>
                <a:cs typeface="Courier New"/>
              </a:rPr>
              <a:t>−6.8pp (pilot: 22.3% → 15.5%)</a:t>
            </a:r>
            <a:endParaRPr sz="1150"/>
          </a:p>
        </p:txBody>
      </p:sp>
      <p:sp>
        <p:nvSpPr>
          <p:cNvPr id="13" name="Text 10">
            <a:extLst xmlns:a="http://schemas.openxmlformats.org/drawingml/2006/main">
              <a:ext uri="{FF2B5EF4-FFF2-40B4-BE49-F238E27FC236}">
                <a16:creationId xmlns:a16="http://schemas.microsoft.com/office/drawing/2014/main" id="{9EA7571B-5A53-4918-AA30-36D2551D480D}"/>
              </a:ext>
            </a:extLst>
          </p:cNvPr>
          <p:cNvSpPr>
            <a:spLocks xmlns:a="http://schemas.openxmlformats.org/drawingml/2006/main" noGrp="1"/>
          </p:cNvSpPr>
          <p:nvPr/>
        </p:nvSpPr>
        <p:spPr>
          <a:xfrm xmlns:a="http://schemas.openxmlformats.org/drawingml/2006/main">
            <a:off x="722376" y="3163824"/>
            <a:ext cx="329184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80">
                <a:solidFill>
                  <a:srgbClr val="24313A"/>
                </a:solidFill>
                <a:latin typeface="Calibri"/>
                <a:ea typeface="Calibri"/>
                <a:cs typeface="Calibri"/>
              </a:rPr>
              <a:t>The Ministry-facing number. Multiply by appointment volume → visits saved per month. Always report with its CI.</a:t>
            </a:r>
            <a:endParaRPr sz="1080"/>
          </a:p>
        </p:txBody>
      </p:sp>
      <p:sp>
        <p:nvSpPr>
          <p:cNvPr id="14" name="Shape 11">
            <a:extLst xmlns:a="http://schemas.openxmlformats.org/drawingml/2006/main">
              <a:ext uri="{FF2B5EF4-FFF2-40B4-BE49-F238E27FC236}">
                <a16:creationId xmlns:a16="http://schemas.microsoft.com/office/drawing/2014/main" id="{B7D90EED-4210-4041-8415-EBB093521DB3}"/>
              </a:ext>
            </a:extLst>
          </p:cNvPr>
          <p:cNvSpPr>
            <a:spLocks xmlns:a="http://schemas.openxmlformats.org/drawingml/2006/main" noGrp="1"/>
          </p:cNvSpPr>
          <p:nvPr/>
        </p:nvSpPr>
        <p:spPr>
          <a:xfrm xmlns:a="http://schemas.openxmlformats.org/drawingml/2006/main">
            <a:off x="4325112" y="1837944"/>
            <a:ext cx="3685032" cy="2880360"/>
          </a:xfrm>
          <a:prstGeom xmlns:a="http://schemas.openxmlformats.org/drawingml/2006/main" prst="roundRect">
            <a:avLst>
              <a:gd name="adj" fmla="val 2857"/>
            </a:avLst>
          </a:prstGeom>
          <a:solidFill xmlns:a="http://schemas.openxmlformats.org/drawingml/2006/main">
            <a:srgbClr val="F3F8F9"/>
          </a:solidFill>
        </p:spPr>
      </p:sp>
      <p:sp>
        <p:nvSpPr>
          <p:cNvPr id="15" name="Shape 12">
            <a:extLst xmlns:a="http://schemas.openxmlformats.org/drawingml/2006/main">
              <a:ext uri="{FF2B5EF4-FFF2-40B4-BE49-F238E27FC236}">
                <a16:creationId xmlns:a16="http://schemas.microsoft.com/office/drawing/2014/main" id="{EAA3C5A4-F6D7-440A-9B39-CE7A7C791B87}"/>
              </a:ext>
            </a:extLst>
          </p:cNvPr>
          <p:cNvSpPr>
            <a:spLocks xmlns:a="http://schemas.openxmlformats.org/drawingml/2006/main" noGrp="1"/>
          </p:cNvSpPr>
          <p:nvPr/>
        </p:nvSpPr>
        <p:spPr>
          <a:xfrm xmlns:a="http://schemas.openxmlformats.org/drawingml/2006/main">
            <a:off x="4526280" y="2020824"/>
            <a:ext cx="457200" cy="457200"/>
          </a:xfrm>
          <a:prstGeom xmlns:a="http://schemas.openxmlformats.org/drawingml/2006/main" prst="ellipse">
            <a:avLst/>
          </a:prstGeom>
          <a:solidFill xmlns:a="http://schemas.openxmlformats.org/drawingml/2006/main">
            <a:srgbClr val="0E7C86"/>
          </a:solidFill>
        </p:spPr>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2da0ac9a7c0641aa"/>
          <a:stretch xmlns:a="http://schemas.openxmlformats.org/drawingml/2006/main">
            <a:fillRect l="0" t="0" r="0" b="0"/>
          </a:stretch>
        </p:blipFill>
        <p:spPr>
          <a:xfrm xmlns:a="http://schemas.openxmlformats.org/drawingml/2006/main">
            <a:off x="4645152" y="2139696"/>
            <a:ext cx="219456" cy="219456"/>
          </a:xfrm>
          <a:prstGeom xmlns:a="http://schemas.openxmlformats.org/drawingml/2006/main" prst="rect">
            <a:avLst/>
          </a:prstGeom>
        </p:spPr>
      </p:pic>
      <p:sp>
        <p:nvSpPr>
          <p:cNvPr id="17" name="Text 13">
            <a:extLst xmlns:a="http://schemas.openxmlformats.org/drawingml/2006/main">
              <a:ext uri="{FF2B5EF4-FFF2-40B4-BE49-F238E27FC236}">
                <a16:creationId xmlns:a16="http://schemas.microsoft.com/office/drawing/2014/main" id="{A58DA1AD-C032-4683-B14B-E368F29A74AD}"/>
              </a:ext>
            </a:extLst>
          </p:cNvPr>
          <p:cNvSpPr>
            <a:spLocks xmlns:a="http://schemas.openxmlformats.org/drawingml/2006/main" noGrp="1"/>
          </p:cNvSpPr>
          <p:nvPr/>
        </p:nvSpPr>
        <p:spPr>
          <a:xfrm xmlns:a="http://schemas.openxmlformats.org/drawingml/2006/main">
            <a:off x="5111496" y="2093976"/>
            <a:ext cx="2834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350" b="1">
                <a:solidFill>
                  <a:srgbClr val="0B3140"/>
                </a:solidFill>
                <a:latin typeface="Cambria"/>
                <a:ea typeface="Cambria"/>
                <a:cs typeface="Cambria"/>
              </a:rPr>
              <a:t>Cohen's d</a:t>
            </a:r>
            <a:endParaRPr sz="1350"/>
          </a:p>
        </p:txBody>
      </p:sp>
      <p:sp>
        <p:nvSpPr>
          <p:cNvPr id="18" name="Text 14">
            <a:extLst xmlns:a="http://schemas.openxmlformats.org/drawingml/2006/main">
              <a:ext uri="{FF2B5EF4-FFF2-40B4-BE49-F238E27FC236}">
                <a16:creationId xmlns:a16="http://schemas.microsoft.com/office/drawing/2014/main" id="{23DF4AC0-3F6E-4839-A10B-B02C1B651661}"/>
              </a:ext>
            </a:extLst>
          </p:cNvPr>
          <p:cNvSpPr>
            <a:spLocks xmlns:a="http://schemas.openxmlformats.org/drawingml/2006/main" noGrp="1"/>
          </p:cNvSpPr>
          <p:nvPr/>
        </p:nvSpPr>
        <p:spPr>
          <a:xfrm xmlns:a="http://schemas.openxmlformats.org/drawingml/2006/main">
            <a:off x="4544568" y="2706624"/>
            <a:ext cx="32918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A5C64"/>
                </a:solidFill>
                <a:latin typeface="Courier New"/>
                <a:ea typeface="Courier New"/>
                <a:cs typeface="Courier New"/>
              </a:rPr>
              <a:t>d = (x̄₁−x̄₂)/s_pooled</a:t>
            </a:r>
            <a:endParaRPr sz="1150"/>
          </a:p>
        </p:txBody>
      </p:sp>
      <p:sp>
        <p:nvSpPr>
          <p:cNvPr id="19" name="Text 15">
            <a:extLst xmlns:a="http://schemas.openxmlformats.org/drawingml/2006/main">
              <a:ext uri="{FF2B5EF4-FFF2-40B4-BE49-F238E27FC236}">
                <a16:creationId xmlns:a16="http://schemas.microsoft.com/office/drawing/2014/main" id="{6E4E07EB-6741-4E7C-989C-2FD5832CD408}"/>
              </a:ext>
            </a:extLst>
          </p:cNvPr>
          <p:cNvSpPr>
            <a:spLocks xmlns:a="http://schemas.openxmlformats.org/drawingml/2006/main" noGrp="1"/>
          </p:cNvSpPr>
          <p:nvPr/>
        </p:nvSpPr>
        <p:spPr>
          <a:xfrm xmlns:a="http://schemas.openxmlformats.org/drawingml/2006/main">
            <a:off x="4544568" y="3163824"/>
            <a:ext cx="329184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80">
                <a:solidFill>
                  <a:srgbClr val="24313A"/>
                </a:solidFill>
                <a:latin typeface="Calibri"/>
                <a:ea typeface="Calibri"/>
                <a:cs typeface="Calibri"/>
              </a:rPr>
              <a:t>Standardised mean difference for waits &amp; scores. Benchmarks 0.2 / 0.5 / 0.8 — but domain context beats benchmarks.</a:t>
            </a:r>
            <a:endParaRPr sz="1080"/>
          </a:p>
        </p:txBody>
      </p:sp>
      <p:sp>
        <p:nvSpPr>
          <p:cNvPr id="20" name="Shape 16">
            <a:extLst xmlns:a="http://schemas.openxmlformats.org/drawingml/2006/main">
              <a:ext uri="{FF2B5EF4-FFF2-40B4-BE49-F238E27FC236}">
                <a16:creationId xmlns:a16="http://schemas.microsoft.com/office/drawing/2014/main" id="{7CD97925-76BB-4536-B3FF-8CE172971DA1}"/>
              </a:ext>
            </a:extLst>
          </p:cNvPr>
          <p:cNvSpPr>
            <a:spLocks xmlns:a="http://schemas.openxmlformats.org/drawingml/2006/main" noGrp="1"/>
          </p:cNvSpPr>
          <p:nvPr/>
        </p:nvSpPr>
        <p:spPr>
          <a:xfrm xmlns:a="http://schemas.openxmlformats.org/drawingml/2006/main">
            <a:off x="8147304" y="1837944"/>
            <a:ext cx="3685032" cy="2880360"/>
          </a:xfrm>
          <a:prstGeom xmlns:a="http://schemas.openxmlformats.org/drawingml/2006/main" prst="roundRect">
            <a:avLst>
              <a:gd name="adj" fmla="val 2857"/>
            </a:avLst>
          </a:prstGeom>
          <a:solidFill xmlns:a="http://schemas.openxmlformats.org/drawingml/2006/main">
            <a:srgbClr val="F3F8F9"/>
          </a:solidFill>
        </p:spPr>
      </p:sp>
      <p:sp>
        <p:nvSpPr>
          <p:cNvPr id="21" name="Shape 17">
            <a:extLst xmlns:a="http://schemas.openxmlformats.org/drawingml/2006/main">
              <a:ext uri="{FF2B5EF4-FFF2-40B4-BE49-F238E27FC236}">
                <a16:creationId xmlns:a16="http://schemas.microsoft.com/office/drawing/2014/main" id="{301DC40C-B2B3-4000-8467-36ABC91AE141}"/>
              </a:ext>
            </a:extLst>
          </p:cNvPr>
          <p:cNvSpPr>
            <a:spLocks xmlns:a="http://schemas.openxmlformats.org/drawingml/2006/main" noGrp="1"/>
          </p:cNvSpPr>
          <p:nvPr/>
        </p:nvSpPr>
        <p:spPr>
          <a:xfrm xmlns:a="http://schemas.openxmlformats.org/drawingml/2006/main">
            <a:off x="8348472" y="2020824"/>
            <a:ext cx="457200" cy="457200"/>
          </a:xfrm>
          <a:prstGeom xmlns:a="http://schemas.openxmlformats.org/drawingml/2006/main" prst="ellipse">
            <a:avLst/>
          </a:prstGeom>
          <a:solidFill xmlns:a="http://schemas.openxmlformats.org/drawingml/2006/main">
            <a:srgbClr val="0E7C86"/>
          </a:solidFill>
        </p:spPr>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1ad4f517203c430e"/>
          <a:stretch xmlns:a="http://schemas.openxmlformats.org/drawingml/2006/main">
            <a:fillRect l="0" t="0" r="0" b="0"/>
          </a:stretch>
        </p:blipFill>
        <p:spPr>
          <a:xfrm xmlns:a="http://schemas.openxmlformats.org/drawingml/2006/main">
            <a:off x="8467344" y="2139696"/>
            <a:ext cx="219456" cy="21945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1FDD6226-50CA-4A32-AB9E-A8AF1A3BEFC2}"/>
              </a:ext>
            </a:extLst>
          </p:cNvPr>
          <p:cNvSpPr>
            <a:spLocks xmlns:a="http://schemas.openxmlformats.org/drawingml/2006/main" noGrp="1"/>
          </p:cNvSpPr>
          <p:nvPr/>
        </p:nvSpPr>
        <p:spPr>
          <a:xfrm xmlns:a="http://schemas.openxmlformats.org/drawingml/2006/main">
            <a:off x="8933688" y="2093976"/>
            <a:ext cx="2834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350" b="1">
                <a:solidFill>
                  <a:srgbClr val="0B3140"/>
                </a:solidFill>
                <a:latin typeface="Cambria"/>
                <a:ea typeface="Cambria"/>
                <a:cs typeface="Cambria"/>
              </a:rPr>
              <a:t>Odds ratio</a:t>
            </a:r>
            <a:endParaRPr sz="1350"/>
          </a:p>
        </p:txBody>
      </p:sp>
      <p:sp>
        <p:nvSpPr>
          <p:cNvPr id="24" name="Text 19">
            <a:extLst xmlns:a="http://schemas.openxmlformats.org/drawingml/2006/main">
              <a:ext uri="{FF2B5EF4-FFF2-40B4-BE49-F238E27FC236}">
                <a16:creationId xmlns:a16="http://schemas.microsoft.com/office/drawing/2014/main" id="{F1D6FD52-139E-41FF-B85C-6DA60CA9E6DC}"/>
              </a:ext>
            </a:extLst>
          </p:cNvPr>
          <p:cNvSpPr>
            <a:spLocks xmlns:a="http://schemas.openxmlformats.org/drawingml/2006/main" noGrp="1"/>
          </p:cNvSpPr>
          <p:nvPr/>
        </p:nvSpPr>
        <p:spPr>
          <a:xfrm xmlns:a="http://schemas.openxmlformats.org/drawingml/2006/main">
            <a:off x="8366760" y="2706624"/>
            <a:ext cx="32918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A5C64"/>
                </a:solidFill>
                <a:latin typeface="Courier New"/>
                <a:ea typeface="Courier New"/>
                <a:cs typeface="Courier New"/>
              </a:rPr>
              <a:t>OR = 0.64 (pilot)</a:t>
            </a:r>
            <a:endParaRPr sz="1150"/>
          </a:p>
        </p:txBody>
      </p:sp>
      <p:sp>
        <p:nvSpPr>
          <p:cNvPr id="25" name="Text 20">
            <a:extLst xmlns:a="http://schemas.openxmlformats.org/drawingml/2006/main">
              <a:ext uri="{FF2B5EF4-FFF2-40B4-BE49-F238E27FC236}">
                <a16:creationId xmlns:a16="http://schemas.microsoft.com/office/drawing/2014/main" id="{37AC97AB-A941-40F5-B1E6-40A7A7D9508D}"/>
              </a:ext>
            </a:extLst>
          </p:cNvPr>
          <p:cNvSpPr>
            <a:spLocks xmlns:a="http://schemas.openxmlformats.org/drawingml/2006/main" noGrp="1"/>
          </p:cNvSpPr>
          <p:nvPr/>
        </p:nvSpPr>
        <p:spPr>
          <a:xfrm xmlns:a="http://schemas.openxmlformats.org/drawingml/2006/main">
            <a:off x="8366760" y="3163824"/>
            <a:ext cx="329184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80">
                <a:solidFill>
                  <a:srgbClr val="24313A"/>
                </a:solidFill>
                <a:latin typeface="Calibri"/>
                <a:ea typeface="Calibri"/>
                <a:cs typeface="Calibri"/>
              </a:rPr>
              <a:t>The regression-ready effect measure; Module 6 estimates it adjusted. OR &lt; 1 = protective. Not a risk ratio when outcomes are common — say so.</a:t>
            </a:r>
            <a:endParaRPr sz="1080"/>
          </a:p>
        </p:txBody>
      </p:sp>
      <p:sp>
        <p:nvSpPr>
          <p:cNvPr id="26" name="Shape 21">
            <a:extLst xmlns:a="http://schemas.openxmlformats.org/drawingml/2006/main">
              <a:ext uri="{FF2B5EF4-FFF2-40B4-BE49-F238E27FC236}">
                <a16:creationId xmlns:a16="http://schemas.microsoft.com/office/drawing/2014/main" id="{CB305A61-870A-4727-A137-20A08B93A71E}"/>
              </a:ext>
            </a:extLst>
          </p:cNvPr>
          <p:cNvSpPr>
            <a:spLocks xmlns:a="http://schemas.openxmlformats.org/drawingml/2006/main" noGrp="1"/>
          </p:cNvSpPr>
          <p:nvPr/>
        </p:nvSpPr>
        <p:spPr>
          <a:xfrm xmlns:a="http://schemas.openxmlformats.org/drawingml/2006/main">
            <a:off x="502920" y="4946904"/>
            <a:ext cx="11201400" cy="1463040"/>
          </a:xfrm>
          <a:prstGeom xmlns:a="http://schemas.openxmlformats.org/drawingml/2006/main" prst="roundRect">
            <a:avLst>
              <a:gd name="adj" fmla="val 5625"/>
            </a:avLst>
          </a:prstGeom>
          <a:solidFill xmlns:a="http://schemas.openxmlformats.org/drawingml/2006/main">
            <a:srgbClr val="FBEEDD"/>
          </a:solidFill>
        </p:spPr>
      </p:sp>
      <p:sp>
        <p:nvSpPr>
          <p:cNvPr id="27" name="Shape 22">
            <a:extLst xmlns:a="http://schemas.openxmlformats.org/drawingml/2006/main">
              <a:ext uri="{FF2B5EF4-FFF2-40B4-BE49-F238E27FC236}">
                <a16:creationId xmlns:a16="http://schemas.microsoft.com/office/drawing/2014/main" id="{FFD8A391-F489-49F2-B0FD-7DA04A2E09DC}"/>
              </a:ext>
            </a:extLst>
          </p:cNvPr>
          <p:cNvSpPr>
            <a:spLocks xmlns:a="http://schemas.openxmlformats.org/drawingml/2006/main" noGrp="1"/>
          </p:cNvSpPr>
          <p:nvPr/>
        </p:nvSpPr>
        <p:spPr>
          <a:xfrm xmlns:a="http://schemas.openxmlformats.org/drawingml/2006/main">
            <a:off x="731520" y="5148072"/>
            <a:ext cx="420624" cy="420624"/>
          </a:xfrm>
          <a:prstGeom xmlns:a="http://schemas.openxmlformats.org/drawingml/2006/main" prst="ellipse">
            <a:avLst/>
          </a:prstGeom>
          <a:solidFill xmlns:a="http://schemas.openxmlformats.org/drawingml/2006/main">
            <a:srgbClr val="C2660A"/>
          </a:solidFill>
        </p:spPr>
      </p:sp>
      <p:pic>
        <p:nvPicPr>
          <p:cNvPr id="60" name="Image 3"/>
          <p:cNvPicPr>
            <a:picLocks xmlns:a="http://schemas.openxmlformats.org/drawingml/2006/main" noChangeAspect="1"/>
          </p:cNvPicPr>
          <p:nvPr/>
        </p:nvPicPr>
        <p:blipFill>
          <a:blip xmlns:r="http://schemas.openxmlformats.org/officeDocument/2006/relationships" xmlns:a="http://schemas.openxmlformats.org/drawingml/2006/main" r:embed="R9ba0cb2412c3488d"/>
          <a:stretch xmlns:a="http://schemas.openxmlformats.org/drawingml/2006/main">
            <a:fillRect l="0" t="0" r="0" b="0"/>
          </a:stretch>
        </p:blipFill>
        <p:spPr>
          <a:xfrm xmlns:a="http://schemas.openxmlformats.org/drawingml/2006/main">
            <a:off x="840882" y="5257434"/>
            <a:ext cx="201900" cy="201900"/>
          </a:xfrm>
          <a:prstGeom xmlns:a="http://schemas.openxmlformats.org/drawingml/2006/main" prst="rect">
            <a:avLst/>
          </a:prstGeom>
        </p:spPr>
      </p:pic>
      <p:sp>
        <p:nvSpPr>
          <p:cNvPr id="29" name="Text 23">
            <a:extLst xmlns:a="http://schemas.openxmlformats.org/drawingml/2006/main">
              <a:ext uri="{FF2B5EF4-FFF2-40B4-BE49-F238E27FC236}">
                <a16:creationId xmlns:a16="http://schemas.microsoft.com/office/drawing/2014/main" id="{F8B34135-9C86-4BD3-A946-D8AA2BF70395}"/>
              </a:ext>
            </a:extLst>
          </p:cNvPr>
          <p:cNvSpPr>
            <a:spLocks xmlns:a="http://schemas.openxmlformats.org/drawingml/2006/main" noGrp="1"/>
          </p:cNvSpPr>
          <p:nvPr/>
        </p:nvSpPr>
        <p:spPr>
          <a:xfrm xmlns:a="http://schemas.openxmlformats.org/drawingml/2006/main">
            <a:off x="1298448" y="5111496"/>
            <a:ext cx="101498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180" b="1">
                <a:solidFill>
                  <a:srgbClr val="C2660A"/>
                </a:solidFill>
                <a:latin typeface="Calibri"/>
                <a:ea typeface="Calibri"/>
                <a:cs typeface="Calibri"/>
              </a:rPr>
              <a:t>Statistically significant ≠ practically important.  </a:t>
            </a:r>
            <a:r>
              <a:rPr sz="1180">
                <a:solidFill>
                  <a:srgbClr val="24313A"/>
                </a:solidFill>
                <a:latin typeface="Calibri"/>
                <a:ea typeface="Calibri"/>
                <a:cs typeface="Calibri"/>
              </a:rPr>
              <a:t>A 0.4pp improvement at p &lt; 0.001 is real and probably not worth an SMS contract; a 5pp improvement at p = 0.08 in a small pilot may deserve a bigger trial, not a bin. Every result in the capstone memo must carry: estimate + CI + p + effect size + one sentence on operational meaning.</a:t>
            </a:r>
            <a:endParaRPr sz="1180"/>
          </a:p>
        </p:txBody>
      </p:sp>
    </p:spTree>
    <p:extLst>
      <p:ext uri="{BB962C8B-B14F-4D97-AF65-F5344CB8AC3E}">
        <p14:creationId xmlns:p14="http://schemas.microsoft.com/office/powerpoint/2010/main" val="1247984060"/>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3EE7FE6-8A10-49B1-921F-D1CE439E33EE}"/>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3449787F-3825-4C9E-AC53-6E1795005DFE}"/>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43</a:t>
            </a:r>
            <a:endParaRPr sz="900"/>
          </a:p>
        </p:txBody>
      </p:sp>
      <p:sp>
        <p:nvSpPr>
          <p:cNvPr id="4" name="Shape 2">
            <a:extLst xmlns:a="http://schemas.openxmlformats.org/drawingml/2006/main">
              <a:ext uri="{FF2B5EF4-FFF2-40B4-BE49-F238E27FC236}">
                <a16:creationId xmlns:a16="http://schemas.microsoft.com/office/drawing/2014/main" id="{0162DEEF-B01D-4902-8518-1B638BB8B19B}"/>
              </a:ext>
            </a:extLst>
          </p:cNvPr>
          <p:cNvSpPr>
            <a:spLocks xmlns:a="http://schemas.openxmlformats.org/drawingml/2006/main" noGrp="1"/>
          </p:cNvSpPr>
          <p:nvPr/>
        </p:nvSpPr>
        <p:spPr>
          <a:xfrm xmlns:a="http://schemas.openxmlformats.org/drawingml/2006/main">
            <a:off x="502920" y="384048"/>
            <a:ext cx="2096719"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833D2F5F-A193-4C47-B1C1-C2BE3FA9BCD9}"/>
              </a:ext>
            </a:extLst>
          </p:cNvPr>
          <p:cNvSpPr>
            <a:spLocks xmlns:a="http://schemas.openxmlformats.org/drawingml/2006/main" noGrp="1"/>
          </p:cNvSpPr>
          <p:nvPr/>
        </p:nvSpPr>
        <p:spPr>
          <a:xfrm xmlns:a="http://schemas.openxmlformats.org/drawingml/2006/main">
            <a:off x="502920" y="384048"/>
            <a:ext cx="209671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4 · GUARDRAILS</a:t>
            </a:r>
            <a:endParaRPr sz="1050"/>
          </a:p>
        </p:txBody>
      </p:sp>
      <p:sp>
        <p:nvSpPr>
          <p:cNvPr id="6" name="Text 4">
            <a:extLst xmlns:a="http://schemas.openxmlformats.org/drawingml/2006/main">
              <a:ext uri="{FF2B5EF4-FFF2-40B4-BE49-F238E27FC236}">
                <a16:creationId xmlns:a16="http://schemas.microsoft.com/office/drawing/2014/main" id="{C1C7B04D-ACDF-4E13-A302-3C6B9B9A9986}"/>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Power before, corrections after, no peeking during</a:t>
            </a:r>
            <a:endParaRPr sz="2800"/>
          </a:p>
        </p:txBody>
      </p:sp>
      <p:sp>
        <p:nvSpPr>
          <p:cNvPr id="7" name="Text 5">
            <a:extLst xmlns:a="http://schemas.openxmlformats.org/drawingml/2006/main">
              <a:ext uri="{FF2B5EF4-FFF2-40B4-BE49-F238E27FC236}">
                <a16:creationId xmlns:a16="http://schemas.microsoft.com/office/drawing/2014/main" id="{31EE9004-B0D3-4519-B5BB-1FBE5F3791CE}"/>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The three habits that keep pilot 'wins' from evaporating</a:t>
            </a:r>
            <a:endParaRPr sz="1350"/>
          </a:p>
        </p:txBody>
      </p:sp>
      <p:sp>
        <p:nvSpPr>
          <p:cNvPr id="8" name="Shape 6">
            <a:extLst xmlns:a="http://schemas.openxmlformats.org/drawingml/2006/main">
              <a:ext uri="{FF2B5EF4-FFF2-40B4-BE49-F238E27FC236}">
                <a16:creationId xmlns:a16="http://schemas.microsoft.com/office/drawing/2014/main" id="{CBFF3D2A-2C4F-4B67-A04E-C007A56D78C3}"/>
              </a:ext>
            </a:extLst>
          </p:cNvPr>
          <p:cNvSpPr>
            <a:spLocks xmlns:a="http://schemas.openxmlformats.org/drawingml/2006/main" noGrp="1"/>
          </p:cNvSpPr>
          <p:nvPr/>
        </p:nvSpPr>
        <p:spPr>
          <a:xfrm xmlns:a="http://schemas.openxmlformats.org/drawingml/2006/main">
            <a:off x="502920" y="1837944"/>
            <a:ext cx="3685032" cy="4526280"/>
          </a:xfrm>
          <a:prstGeom xmlns:a="http://schemas.openxmlformats.org/drawingml/2006/main" prst="roundRect">
            <a:avLst>
              <a:gd name="adj" fmla="val 2233"/>
            </a:avLst>
          </a:prstGeom>
          <a:solidFill xmlns:a="http://schemas.openxmlformats.org/drawingml/2006/main">
            <a:srgbClr val="F3F8F9"/>
          </a:solidFill>
        </p:spPr>
      </p:sp>
      <p:sp>
        <p:nvSpPr>
          <p:cNvPr id="9" name="Shape 7">
            <a:extLst xmlns:a="http://schemas.openxmlformats.org/drawingml/2006/main">
              <a:ext uri="{FF2B5EF4-FFF2-40B4-BE49-F238E27FC236}">
                <a16:creationId xmlns:a16="http://schemas.microsoft.com/office/drawing/2014/main" id="{4E9D35C8-3418-45EA-8315-D8B5B308FE9E}"/>
              </a:ext>
            </a:extLst>
          </p:cNvPr>
          <p:cNvSpPr>
            <a:spLocks xmlns:a="http://schemas.openxmlformats.org/drawingml/2006/main" noGrp="1"/>
          </p:cNvSpPr>
          <p:nvPr/>
        </p:nvSpPr>
        <p:spPr>
          <a:xfrm xmlns:a="http://schemas.openxmlformats.org/drawingml/2006/main">
            <a:off x="704088" y="2020824"/>
            <a:ext cx="457200" cy="457200"/>
          </a:xfrm>
          <a:prstGeom xmlns:a="http://schemas.openxmlformats.org/drawingml/2006/main" prst="ellipse">
            <a:avLst/>
          </a:prstGeom>
          <a:solidFill xmlns:a="http://schemas.openxmlformats.org/drawingml/2006/main">
            <a:srgbClr val="0E7C86"/>
          </a:solidFill>
        </p:spPr>
      </p:sp>
      <p:pic>
        <p:nvPicPr>
          <p:cNvPr id="34" name="Image 0"/>
          <p:cNvPicPr>
            <a:picLocks xmlns:a="http://schemas.openxmlformats.org/drawingml/2006/main" noChangeAspect="1"/>
          </p:cNvPicPr>
          <p:nvPr/>
        </p:nvPicPr>
        <p:blipFill>
          <a:blip xmlns:r="http://schemas.openxmlformats.org/officeDocument/2006/relationships" xmlns:a="http://schemas.openxmlformats.org/drawingml/2006/main" r:embed="R586925407c424ed0"/>
          <a:stretch xmlns:a="http://schemas.openxmlformats.org/drawingml/2006/main">
            <a:fillRect l="0" t="0" r="0" b="0"/>
          </a:stretch>
        </p:blipFill>
        <p:spPr>
          <a:xfrm xmlns:a="http://schemas.openxmlformats.org/drawingml/2006/main">
            <a:off x="822960" y="2139696"/>
            <a:ext cx="219456" cy="219456"/>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A2F028BD-D31F-4E74-8910-EA17F0A30BBA}"/>
              </a:ext>
            </a:extLst>
          </p:cNvPr>
          <p:cNvSpPr>
            <a:spLocks xmlns:a="http://schemas.openxmlformats.org/drawingml/2006/main" noGrp="1"/>
          </p:cNvSpPr>
          <p:nvPr/>
        </p:nvSpPr>
        <p:spPr>
          <a:xfrm xmlns:a="http://schemas.openxmlformats.org/drawingml/2006/main">
            <a:off x="1289304" y="2112264"/>
            <a:ext cx="2834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300" b="1">
                <a:solidFill>
                  <a:srgbClr val="0B3140"/>
                </a:solidFill>
                <a:latin typeface="Cambria"/>
                <a:ea typeface="Cambria"/>
                <a:cs typeface="Cambria"/>
              </a:rPr>
              <a:t>Power analysis — BEFORE</a:t>
            </a:r>
            <a:endParaRPr sz="1300"/>
          </a:p>
        </p:txBody>
      </p:sp>
      <p:sp>
        <p:nvSpPr>
          <p:cNvPr id="12" name="Text 9">
            <a:extLst xmlns:a="http://schemas.openxmlformats.org/drawingml/2006/main">
              <a:ext uri="{FF2B5EF4-FFF2-40B4-BE49-F238E27FC236}">
                <a16:creationId xmlns:a16="http://schemas.microsoft.com/office/drawing/2014/main" id="{93EFA6DB-C686-48D7-AB25-351FC974709A}"/>
              </a:ext>
            </a:extLst>
          </p:cNvPr>
          <p:cNvSpPr>
            <a:spLocks xmlns:a="http://schemas.openxmlformats.org/drawingml/2006/main" noGrp="1"/>
          </p:cNvSpPr>
          <p:nvPr/>
        </p:nvSpPr>
        <p:spPr>
          <a:xfrm xmlns:a="http://schemas.openxmlformats.org/drawingml/2006/main">
            <a:off x="722376" y="2752344"/>
            <a:ext cx="3310128"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700"/>
              </a:spcAft>
              <a:buSzPct val="100000"/>
              <a:buChar char="•"/>
            </a:pPr>
            <a:r>
              <a:rPr sz="1060" b="1">
                <a:solidFill>
                  <a:srgbClr val="24313A"/>
                </a:solidFill>
                <a:latin typeface="Calibri"/>
                <a:ea typeface="Calibri"/>
                <a:cs typeface="Calibri"/>
              </a:rPr>
              <a:t>To detect a 3pp drop (18% → 15%) at α = .05, power .80: ~1,890 per arm</a:t>
            </a:r>
            <a:endParaRPr sz="1060"/>
          </a:p>
          <a:p xmlns:a="http://schemas.openxmlformats.org/drawingml/2006/main">
            <a:pPr marL="152400" indent="-152400">
              <a:lnSpc>
                <a:spcPct val="104000"/>
              </a:lnSpc>
              <a:spcAft>
                <a:spcPts val="700"/>
              </a:spcAft>
              <a:buSzPct val="100000"/>
              <a:buChar char="•"/>
            </a:pPr>
            <a:r>
              <a:rPr sz="1060">
                <a:solidFill>
                  <a:srgbClr val="24313A"/>
                </a:solidFill>
                <a:latin typeface="Calibri"/>
                <a:ea typeface="Calibri"/>
                <a:cs typeface="Calibri"/>
              </a:rPr>
              <a:t>The pilot's 4,000/arm gives power ≈ 0.98 — deliberately over-powered</a:t>
            </a:r>
            <a:endParaRPr sz="1060"/>
          </a:p>
          <a:p xmlns:a="http://schemas.openxmlformats.org/drawingml/2006/main">
            <a:pPr marL="152400" indent="-152400">
              <a:lnSpc>
                <a:spcPct val="104000"/>
              </a:lnSpc>
              <a:spcAft>
                <a:spcPts val="700"/>
              </a:spcAft>
              <a:buSzPct val="100000"/>
              <a:buChar char="•"/>
            </a:pPr>
            <a:r>
              <a:rPr sz="1060">
                <a:solidFill>
                  <a:srgbClr val="24313A"/>
                </a:solidFill>
                <a:latin typeface="Calibri"/>
                <a:ea typeface="Calibri"/>
                <a:cs typeface="Calibri"/>
              </a:rPr>
              <a:t>An underpowered pilot is a decision to learn nothing, made in advance</a:t>
            </a:r>
            <a:endParaRPr sz="1060"/>
          </a:p>
          <a:p xmlns:a="http://schemas.openxmlformats.org/drawingml/2006/main">
            <a:pPr marL="152400" indent="-152400">
              <a:lnSpc>
                <a:spcPct val="104000"/>
              </a:lnSpc>
              <a:spcAft>
                <a:spcPts val="700"/>
              </a:spcAft>
              <a:buSzPct val="100000"/>
              <a:buChar char="•"/>
            </a:pPr>
            <a:r>
              <a:rPr sz="1060">
                <a:solidFill>
                  <a:srgbClr val="24313A"/>
                </a:solidFill>
                <a:latin typeface="Calibri"/>
                <a:ea typeface="Calibri"/>
                <a:cs typeface="Calibri"/>
              </a:rPr>
              <a:t>statsmodels: NormalIndPower().solve_power(...)</a:t>
            </a:r>
            <a:endParaRPr sz="1060"/>
          </a:p>
        </p:txBody>
      </p:sp>
      <p:sp>
        <p:nvSpPr>
          <p:cNvPr id="13" name="Shape 10">
            <a:extLst xmlns:a="http://schemas.openxmlformats.org/drawingml/2006/main">
              <a:ext uri="{FF2B5EF4-FFF2-40B4-BE49-F238E27FC236}">
                <a16:creationId xmlns:a16="http://schemas.microsoft.com/office/drawing/2014/main" id="{61768CA9-7786-4A61-8855-1AC4566B8349}"/>
              </a:ext>
            </a:extLst>
          </p:cNvPr>
          <p:cNvSpPr>
            <a:spLocks xmlns:a="http://schemas.openxmlformats.org/drawingml/2006/main" noGrp="1"/>
          </p:cNvSpPr>
          <p:nvPr/>
        </p:nvSpPr>
        <p:spPr>
          <a:xfrm xmlns:a="http://schemas.openxmlformats.org/drawingml/2006/main">
            <a:off x="4325112" y="1837944"/>
            <a:ext cx="3685032" cy="4526280"/>
          </a:xfrm>
          <a:prstGeom xmlns:a="http://schemas.openxmlformats.org/drawingml/2006/main" prst="roundRect">
            <a:avLst>
              <a:gd name="adj" fmla="val 2233"/>
            </a:avLst>
          </a:prstGeom>
          <a:solidFill xmlns:a="http://schemas.openxmlformats.org/drawingml/2006/main">
            <a:srgbClr val="F3F8F9"/>
          </a:solidFill>
        </p:spPr>
      </p:sp>
      <p:sp>
        <p:nvSpPr>
          <p:cNvPr id="14" name="Shape 11">
            <a:extLst xmlns:a="http://schemas.openxmlformats.org/drawingml/2006/main">
              <a:ext uri="{FF2B5EF4-FFF2-40B4-BE49-F238E27FC236}">
                <a16:creationId xmlns:a16="http://schemas.microsoft.com/office/drawing/2014/main" id="{5C37578C-BFB1-4311-AE3D-B71CA3F5B5ED}"/>
              </a:ext>
            </a:extLst>
          </p:cNvPr>
          <p:cNvSpPr>
            <a:spLocks xmlns:a="http://schemas.openxmlformats.org/drawingml/2006/main" noGrp="1"/>
          </p:cNvSpPr>
          <p:nvPr/>
        </p:nvSpPr>
        <p:spPr>
          <a:xfrm xmlns:a="http://schemas.openxmlformats.org/drawingml/2006/main">
            <a:off x="4526280" y="2020824"/>
            <a:ext cx="457200" cy="457200"/>
          </a:xfrm>
          <a:prstGeom xmlns:a="http://schemas.openxmlformats.org/drawingml/2006/main" prst="ellipse">
            <a:avLst/>
          </a:prstGeom>
          <a:solidFill xmlns:a="http://schemas.openxmlformats.org/drawingml/2006/main">
            <a:srgbClr val="0E7C86"/>
          </a:solidFill>
        </p:spPr>
      </p:sp>
      <p:pic>
        <p:nvPicPr>
          <p:cNvPr id="39" name="Image 1"/>
          <p:cNvPicPr>
            <a:picLocks xmlns:a="http://schemas.openxmlformats.org/drawingml/2006/main" noChangeAspect="1"/>
          </p:cNvPicPr>
          <p:nvPr/>
        </p:nvPicPr>
        <p:blipFill>
          <a:blip xmlns:r="http://schemas.openxmlformats.org/officeDocument/2006/relationships" xmlns:a="http://schemas.openxmlformats.org/drawingml/2006/main" r:embed="R7b5a617ff1004891"/>
          <a:stretch xmlns:a="http://schemas.openxmlformats.org/drawingml/2006/main">
            <a:fillRect l="0" t="0" r="0" b="0"/>
          </a:stretch>
        </p:blipFill>
        <p:spPr>
          <a:xfrm xmlns:a="http://schemas.openxmlformats.org/drawingml/2006/main">
            <a:off x="4645152" y="2139696"/>
            <a:ext cx="219456" cy="219456"/>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805D85C8-9893-4AD3-9788-72EE63EF9A25}"/>
              </a:ext>
            </a:extLst>
          </p:cNvPr>
          <p:cNvSpPr>
            <a:spLocks xmlns:a="http://schemas.openxmlformats.org/drawingml/2006/main" noGrp="1"/>
          </p:cNvSpPr>
          <p:nvPr/>
        </p:nvSpPr>
        <p:spPr>
          <a:xfrm xmlns:a="http://schemas.openxmlformats.org/drawingml/2006/main">
            <a:off x="5111496" y="2112264"/>
            <a:ext cx="2834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300" b="1">
                <a:solidFill>
                  <a:srgbClr val="0B3140"/>
                </a:solidFill>
                <a:latin typeface="Cambria"/>
                <a:ea typeface="Cambria"/>
                <a:cs typeface="Cambria"/>
              </a:rPr>
              <a:t>Multiple testing — AFTER</a:t>
            </a:r>
            <a:endParaRPr sz="1300"/>
          </a:p>
        </p:txBody>
      </p:sp>
      <p:sp>
        <p:nvSpPr>
          <p:cNvPr id="17" name="Text 13">
            <a:extLst xmlns:a="http://schemas.openxmlformats.org/drawingml/2006/main">
              <a:ext uri="{FF2B5EF4-FFF2-40B4-BE49-F238E27FC236}">
                <a16:creationId xmlns:a16="http://schemas.microsoft.com/office/drawing/2014/main" id="{E62CBD49-9F5D-4BF4-A7A8-C2F362F133A0}"/>
              </a:ext>
            </a:extLst>
          </p:cNvPr>
          <p:cNvSpPr>
            <a:spLocks xmlns:a="http://schemas.openxmlformats.org/drawingml/2006/main" noGrp="1"/>
          </p:cNvSpPr>
          <p:nvPr/>
        </p:nvSpPr>
        <p:spPr>
          <a:xfrm xmlns:a="http://schemas.openxmlformats.org/drawingml/2006/main">
            <a:off x="4544568" y="2752344"/>
            <a:ext cx="3310128"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700"/>
              </a:spcAft>
              <a:buSzPct val="100000"/>
              <a:buChar char="•"/>
            </a:pPr>
            <a:r>
              <a:rPr sz="1060">
                <a:solidFill>
                  <a:srgbClr val="24313A"/>
                </a:solidFill>
                <a:latin typeface="Calibri"/>
                <a:ea typeface="Calibri"/>
                <a:cs typeface="Calibri"/>
              </a:rPr>
              <a:t>Test 13 regions at α = .05 → P(≥1 false alarm) ≈ 49% under H₀</a:t>
            </a:r>
            <a:endParaRPr sz="1060"/>
          </a:p>
          <a:p xmlns:a="http://schemas.openxmlformats.org/drawingml/2006/main">
            <a:pPr marL="152400" indent="-152400">
              <a:lnSpc>
                <a:spcPct val="104000"/>
              </a:lnSpc>
              <a:spcAft>
                <a:spcPts val="700"/>
              </a:spcAft>
              <a:buSzPct val="100000"/>
              <a:buChar char="•"/>
            </a:pPr>
            <a:r>
              <a:rPr sz="1060" b="1">
                <a:solidFill>
                  <a:srgbClr val="24313A"/>
                </a:solidFill>
                <a:latin typeface="Calibri"/>
                <a:ea typeface="Calibri"/>
                <a:cs typeface="Calibri"/>
              </a:rPr>
              <a:t>Course default: Benjamini–Hochberg FDR (multipletests(method='fdr_bh'))</a:t>
            </a:r>
            <a:endParaRPr sz="1060"/>
          </a:p>
          <a:p xmlns:a="http://schemas.openxmlformats.org/drawingml/2006/main">
            <a:pPr marL="152400" indent="-152400">
              <a:lnSpc>
                <a:spcPct val="104000"/>
              </a:lnSpc>
              <a:spcAft>
                <a:spcPts val="700"/>
              </a:spcAft>
              <a:buSzPct val="100000"/>
              <a:buChar char="•"/>
            </a:pPr>
            <a:r>
              <a:rPr sz="1060">
                <a:solidFill>
                  <a:srgbClr val="24313A"/>
                </a:solidFill>
                <a:latin typeface="Calibri"/>
                <a:ea typeface="Calibri"/>
                <a:cs typeface="Calibri"/>
              </a:rPr>
              <a:t>Bonferroni for the few-tests, must-not-false-alarm setting</a:t>
            </a:r>
            <a:endParaRPr sz="1060"/>
          </a:p>
          <a:p xmlns:a="http://schemas.openxmlformats.org/drawingml/2006/main">
            <a:pPr marL="152400" indent="-152400">
              <a:lnSpc>
                <a:spcPct val="104000"/>
              </a:lnSpc>
              <a:spcAft>
                <a:spcPts val="700"/>
              </a:spcAft>
              <a:buSzPct val="100000"/>
              <a:buChar char="•"/>
            </a:pPr>
            <a:r>
              <a:rPr sz="1060">
                <a:solidFill>
                  <a:srgbClr val="24313A"/>
                </a:solidFill>
                <a:latin typeface="Calibri"/>
                <a:ea typeface="Calibri"/>
                <a:cs typeface="Calibri"/>
              </a:rPr>
              <a:t>Rule: count every test you ran — including the ones you discarded</a:t>
            </a:r>
            <a:endParaRPr sz="1060"/>
          </a:p>
        </p:txBody>
      </p:sp>
      <p:sp>
        <p:nvSpPr>
          <p:cNvPr id="18" name="Shape 14">
            <a:extLst xmlns:a="http://schemas.openxmlformats.org/drawingml/2006/main">
              <a:ext uri="{FF2B5EF4-FFF2-40B4-BE49-F238E27FC236}">
                <a16:creationId xmlns:a16="http://schemas.microsoft.com/office/drawing/2014/main" id="{49B122B6-C6D7-4EB2-B143-731FA9C46FD2}"/>
              </a:ext>
            </a:extLst>
          </p:cNvPr>
          <p:cNvSpPr>
            <a:spLocks xmlns:a="http://schemas.openxmlformats.org/drawingml/2006/main" noGrp="1"/>
          </p:cNvSpPr>
          <p:nvPr/>
        </p:nvSpPr>
        <p:spPr>
          <a:xfrm xmlns:a="http://schemas.openxmlformats.org/drawingml/2006/main">
            <a:off x="8147304" y="1837944"/>
            <a:ext cx="3685032" cy="4526280"/>
          </a:xfrm>
          <a:prstGeom xmlns:a="http://schemas.openxmlformats.org/drawingml/2006/main" prst="roundRect">
            <a:avLst>
              <a:gd name="adj" fmla="val 2233"/>
            </a:avLst>
          </a:prstGeom>
          <a:solidFill xmlns:a="http://schemas.openxmlformats.org/drawingml/2006/main">
            <a:srgbClr val="FBEEDD"/>
          </a:solidFill>
        </p:spPr>
      </p:sp>
      <p:sp>
        <p:nvSpPr>
          <p:cNvPr id="19" name="Shape 15">
            <a:extLst xmlns:a="http://schemas.openxmlformats.org/drawingml/2006/main">
              <a:ext uri="{FF2B5EF4-FFF2-40B4-BE49-F238E27FC236}">
                <a16:creationId xmlns:a16="http://schemas.microsoft.com/office/drawing/2014/main" id="{93A5C809-18BA-4873-8D0F-0A7B8E628F4E}"/>
              </a:ext>
            </a:extLst>
          </p:cNvPr>
          <p:cNvSpPr>
            <a:spLocks xmlns:a="http://schemas.openxmlformats.org/drawingml/2006/main" noGrp="1"/>
          </p:cNvSpPr>
          <p:nvPr/>
        </p:nvSpPr>
        <p:spPr>
          <a:xfrm xmlns:a="http://schemas.openxmlformats.org/drawingml/2006/main">
            <a:off x="8348472" y="2020824"/>
            <a:ext cx="457200" cy="457200"/>
          </a:xfrm>
          <a:prstGeom xmlns:a="http://schemas.openxmlformats.org/drawingml/2006/main" prst="ellipse">
            <a:avLst/>
          </a:prstGeom>
          <a:solidFill xmlns:a="http://schemas.openxmlformats.org/drawingml/2006/main">
            <a:srgbClr val="C2660A"/>
          </a:solidFill>
        </p:spPr>
      </p:sp>
      <p:pic>
        <p:nvPicPr>
          <p:cNvPr id="44" name="Image 2"/>
          <p:cNvPicPr>
            <a:picLocks xmlns:a="http://schemas.openxmlformats.org/drawingml/2006/main" noChangeAspect="1"/>
          </p:cNvPicPr>
          <p:nvPr/>
        </p:nvPicPr>
        <p:blipFill>
          <a:blip xmlns:r="http://schemas.openxmlformats.org/officeDocument/2006/relationships" xmlns:a="http://schemas.openxmlformats.org/drawingml/2006/main" r:embed="Rc9ecaf0f6a794c9b"/>
          <a:stretch xmlns:a="http://schemas.openxmlformats.org/drawingml/2006/main">
            <a:fillRect l="0" t="0" r="0" b="0"/>
          </a:stretch>
        </p:blipFill>
        <p:spPr>
          <a:xfrm xmlns:a="http://schemas.openxmlformats.org/drawingml/2006/main">
            <a:off x="8467344" y="2139696"/>
            <a:ext cx="219456" cy="219456"/>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F969A681-6358-4F3D-BF29-7CC34DB45256}"/>
              </a:ext>
            </a:extLst>
          </p:cNvPr>
          <p:cNvSpPr>
            <a:spLocks xmlns:a="http://schemas.openxmlformats.org/drawingml/2006/main" noGrp="1"/>
          </p:cNvSpPr>
          <p:nvPr/>
        </p:nvSpPr>
        <p:spPr>
          <a:xfrm xmlns:a="http://schemas.openxmlformats.org/drawingml/2006/main">
            <a:off x="8933688" y="2112264"/>
            <a:ext cx="2834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300" b="1">
                <a:solidFill>
                  <a:srgbClr val="0B3140"/>
                </a:solidFill>
                <a:latin typeface="Cambria"/>
                <a:ea typeface="Cambria"/>
                <a:cs typeface="Cambria"/>
              </a:rPr>
              <a:t>Peeking — NEVER</a:t>
            </a:r>
            <a:endParaRPr sz="1300"/>
          </a:p>
        </p:txBody>
      </p:sp>
      <p:sp>
        <p:nvSpPr>
          <p:cNvPr id="22" name="Text 17">
            <a:extLst xmlns:a="http://schemas.openxmlformats.org/drawingml/2006/main">
              <a:ext uri="{FF2B5EF4-FFF2-40B4-BE49-F238E27FC236}">
                <a16:creationId xmlns:a16="http://schemas.microsoft.com/office/drawing/2014/main" id="{6B0BD106-7FEC-443D-9BB1-5AEB8FDD72CD}"/>
              </a:ext>
            </a:extLst>
          </p:cNvPr>
          <p:cNvSpPr>
            <a:spLocks xmlns:a="http://schemas.openxmlformats.org/drawingml/2006/main" noGrp="1"/>
          </p:cNvSpPr>
          <p:nvPr/>
        </p:nvSpPr>
        <p:spPr>
          <a:xfrm xmlns:a="http://schemas.openxmlformats.org/drawingml/2006/main">
            <a:off x="8366760" y="2752344"/>
            <a:ext cx="3310128"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700"/>
              </a:spcAft>
              <a:buSzPct val="100000"/>
              <a:buChar char="•"/>
            </a:pPr>
            <a:r>
              <a:rPr sz="1060">
                <a:solidFill>
                  <a:srgbClr val="24313A"/>
                </a:solidFill>
                <a:latin typeface="Calibri"/>
                <a:ea typeface="Calibri"/>
                <a:cs typeface="Calibri"/>
              </a:rPr>
              <a:t>Checking daily and stopping at p &lt; .05 can triple the real false-alarm rate</a:t>
            </a:r>
            <a:endParaRPr sz="1060"/>
          </a:p>
          <a:p xmlns:a="http://schemas.openxmlformats.org/drawingml/2006/main">
            <a:pPr marL="152400" indent="-152400">
              <a:lnSpc>
                <a:spcPct val="104000"/>
              </a:lnSpc>
              <a:spcAft>
                <a:spcPts val="700"/>
              </a:spcAft>
              <a:buSzPct val="100000"/>
              <a:buChar char="•"/>
            </a:pPr>
            <a:r>
              <a:rPr sz="1060" b="1">
                <a:solidFill>
                  <a:srgbClr val="24313A"/>
                </a:solidFill>
                <a:latin typeface="Calibri"/>
                <a:ea typeface="Calibri"/>
                <a:cs typeface="Calibri"/>
              </a:rPr>
              <a:t>The published p assumes ONE look; ten looks make it a different (invalid) number</a:t>
            </a:r>
            <a:endParaRPr sz="1060"/>
          </a:p>
          <a:p xmlns:a="http://schemas.openxmlformats.org/drawingml/2006/main">
            <a:pPr marL="152400" indent="-152400">
              <a:lnSpc>
                <a:spcPct val="104000"/>
              </a:lnSpc>
              <a:spcAft>
                <a:spcPts val="700"/>
              </a:spcAft>
              <a:buSzPct val="100000"/>
              <a:buChar char="•"/>
            </a:pPr>
            <a:r>
              <a:rPr sz="1060">
                <a:solidFill>
                  <a:srgbClr val="24313A"/>
                </a:solidFill>
                <a:latin typeface="Calibri"/>
                <a:ea typeface="Calibri"/>
                <a:cs typeface="Calibri"/>
              </a:rPr>
              <a:t>Fix n in advance — or use sequential designs with spending functions (pointer only)</a:t>
            </a:r>
            <a:endParaRPr sz="1060"/>
          </a:p>
          <a:p xmlns:a="http://schemas.openxmlformats.org/drawingml/2006/main">
            <a:pPr marL="152400" indent="-152400">
              <a:lnSpc>
                <a:spcPct val="104000"/>
              </a:lnSpc>
              <a:spcAft>
                <a:spcPts val="700"/>
              </a:spcAft>
              <a:buSzPct val="100000"/>
              <a:buChar char="•"/>
            </a:pPr>
            <a:r>
              <a:rPr sz="1060">
                <a:solidFill>
                  <a:srgbClr val="24313A"/>
                </a:solidFill>
                <a:latin typeface="Calibri"/>
                <a:ea typeface="Calibri"/>
                <a:cs typeface="Calibri"/>
              </a:rPr>
              <a:t>Full story: today's case study</a:t>
            </a:r>
            <a:endParaRPr sz="1060"/>
          </a:p>
        </p:txBody>
      </p:sp>
    </p:spTree>
    <p:extLst>
      <p:ext uri="{BB962C8B-B14F-4D97-AF65-F5344CB8AC3E}">
        <p14:creationId xmlns:p14="http://schemas.microsoft.com/office/powerpoint/2010/main" val="80044678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8F158C3-39B2-4D7E-B84D-D0E97E8096F3}"/>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37AB0858-032F-4EAD-B7FF-A3DBBC3C52FE}"/>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44</a:t>
            </a:r>
            <a:endParaRPr sz="900"/>
          </a:p>
        </p:txBody>
      </p:sp>
      <p:sp>
        <p:nvSpPr>
          <p:cNvPr id="4" name="Shape 2">
            <a:extLst xmlns:a="http://schemas.openxmlformats.org/drawingml/2006/main">
              <a:ext uri="{FF2B5EF4-FFF2-40B4-BE49-F238E27FC236}">
                <a16:creationId xmlns:a16="http://schemas.microsoft.com/office/drawing/2014/main" id="{1C32D88A-3583-408E-9DDE-31415B00B535}"/>
              </a:ext>
            </a:extLst>
          </p:cNvPr>
          <p:cNvSpPr>
            <a:spLocks xmlns:a="http://schemas.openxmlformats.org/drawingml/2006/main" noGrp="1"/>
          </p:cNvSpPr>
          <p:nvPr/>
        </p:nvSpPr>
        <p:spPr>
          <a:xfrm xmlns:a="http://schemas.openxmlformats.org/drawingml/2006/main">
            <a:off x="502920" y="384048"/>
            <a:ext cx="2181758"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A4ED45CC-1F0E-489F-903C-F24656DF4584}"/>
              </a:ext>
            </a:extLst>
          </p:cNvPr>
          <p:cNvSpPr>
            <a:spLocks xmlns:a="http://schemas.openxmlformats.org/drawingml/2006/main" noGrp="1"/>
          </p:cNvSpPr>
          <p:nvPr/>
        </p:nvSpPr>
        <p:spPr>
          <a:xfrm xmlns:a="http://schemas.openxmlformats.org/drawingml/2006/main">
            <a:off x="502920" y="384048"/>
            <a:ext cx="218175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4 · THE VERDICT</a:t>
            </a:r>
            <a:endParaRPr sz="1050"/>
          </a:p>
        </p:txBody>
      </p:sp>
      <p:sp>
        <p:nvSpPr>
          <p:cNvPr id="6" name="Text 4">
            <a:extLst xmlns:a="http://schemas.openxmlformats.org/drawingml/2006/main">
              <a:ext uri="{FF2B5EF4-FFF2-40B4-BE49-F238E27FC236}">
                <a16:creationId xmlns:a16="http://schemas.microsoft.com/office/drawing/2014/main" id="{73DD13F3-4C9A-455B-B2BD-F9F473C2FF13}"/>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The SMS pilot: a clean randomized result</a:t>
            </a:r>
            <a:endParaRPr sz="2800"/>
          </a:p>
        </p:txBody>
      </p:sp>
      <p:sp>
        <p:nvSpPr>
          <p:cNvPr id="7" name="Text 5">
            <a:extLst xmlns:a="http://schemas.openxmlformats.org/drawingml/2006/main">
              <a:ext uri="{FF2B5EF4-FFF2-40B4-BE49-F238E27FC236}">
                <a16:creationId xmlns:a16="http://schemas.microsoft.com/office/drawing/2014/main" id="{C6A3EBFF-0401-422D-8757-BE133966307D}"/>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8,000 appointments in the randomized pilot (ab_pilot = 1) — high-risk clinics, coin-flip assignment</a:t>
            </a:r>
            <a:endParaRPr sz="1350"/>
          </a:p>
        </p:txBody>
      </p:sp>
      <p:graphicFrame>
        <p:nvGraphicFramePr>
          <p:cNvPr id="34" name="Chart 0"/>
          <p:cNvGraphicFramePr/>
          <p:nvPr/>
        </p:nvGraphicFramePr>
        <p:xfrm>
          <a:off xmlns:a="http://schemas.openxmlformats.org/drawingml/2006/main" x="502920" y="1837944"/>
          <a:ext xmlns:a="http://schemas.openxmlformats.org/drawingml/2006/main" cx="5120640" cy="3749040"/>
        </p:xfrm>
        <a:graphic xmlns:a="http://schemas.openxmlformats.org/drawingml/2006/main">
          <a:graphicData uri="http://schemas.openxmlformats.org/drawingml/2006/chart">
            <c:chart xmlns:r="http://schemas.openxmlformats.org/officeDocument/2006/relationships" xmlns:c="http://schemas.openxmlformats.org/drawingml/2006/chart" r:id="R6be860f44b5f4d74"/>
          </a:graphicData>
        </a:graphic>
      </p:graphicFrame>
      <p:sp>
        <p:nvSpPr>
          <p:cNvPr id="9" name="Shape 6">
            <a:extLst xmlns:a="http://schemas.openxmlformats.org/drawingml/2006/main">
              <a:ext uri="{FF2B5EF4-FFF2-40B4-BE49-F238E27FC236}">
                <a16:creationId xmlns:a16="http://schemas.microsoft.com/office/drawing/2014/main" id="{853E6E76-A801-40F5-9F07-D16039E164AD}"/>
              </a:ext>
            </a:extLst>
          </p:cNvPr>
          <p:cNvSpPr>
            <a:spLocks xmlns:a="http://schemas.openxmlformats.org/drawingml/2006/main" noGrp="1"/>
          </p:cNvSpPr>
          <p:nvPr/>
        </p:nvSpPr>
        <p:spPr>
          <a:xfrm xmlns:a="http://schemas.openxmlformats.org/drawingml/2006/main">
            <a:off x="5897880" y="1837944"/>
            <a:ext cx="5806440" cy="932688"/>
          </a:xfrm>
          <a:prstGeom xmlns:a="http://schemas.openxmlformats.org/drawingml/2006/main" prst="roundRect">
            <a:avLst>
              <a:gd name="adj" fmla="val 8824"/>
            </a:avLst>
          </a:prstGeom>
          <a:solidFill xmlns:a="http://schemas.openxmlformats.org/drawingml/2006/main">
            <a:srgbClr val="F3F8F9"/>
          </a:solidFill>
        </p:spPr>
      </p:sp>
      <p:sp>
        <p:nvSpPr>
          <p:cNvPr id="10" name="Text 7">
            <a:extLst xmlns:a="http://schemas.openxmlformats.org/drawingml/2006/main">
              <a:ext uri="{FF2B5EF4-FFF2-40B4-BE49-F238E27FC236}">
                <a16:creationId xmlns:a16="http://schemas.microsoft.com/office/drawing/2014/main" id="{FC609134-8921-4C31-8712-ED4ADD4AF698}"/>
              </a:ext>
            </a:extLst>
          </p:cNvPr>
          <p:cNvSpPr>
            <a:spLocks xmlns:a="http://schemas.openxmlformats.org/drawingml/2006/main" noGrp="1"/>
          </p:cNvSpPr>
          <p:nvPr/>
        </p:nvSpPr>
        <p:spPr>
          <a:xfrm xmlns:a="http://schemas.openxmlformats.org/drawingml/2006/main">
            <a:off x="6126480" y="194767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5B6B75"/>
                </a:solidFill>
                <a:latin typeface="Calibri"/>
                <a:ea typeface="Calibri"/>
                <a:cs typeface="Calibri"/>
              </a:rPr>
              <a:t>Difference</a:t>
            </a:r>
            <a:endParaRPr sz="1050"/>
          </a:p>
        </p:txBody>
      </p:sp>
      <p:sp>
        <p:nvSpPr>
          <p:cNvPr id="11" name="Text 8">
            <a:extLst xmlns:a="http://schemas.openxmlformats.org/drawingml/2006/main">
              <a:ext uri="{FF2B5EF4-FFF2-40B4-BE49-F238E27FC236}">
                <a16:creationId xmlns:a16="http://schemas.microsoft.com/office/drawing/2014/main" id="{B60D7A6A-02E4-4304-873B-E95BF01928C9}"/>
              </a:ext>
            </a:extLst>
          </p:cNvPr>
          <p:cNvSpPr>
            <a:spLocks xmlns:a="http://schemas.openxmlformats.org/drawingml/2006/main" noGrp="1"/>
          </p:cNvSpPr>
          <p:nvPr/>
        </p:nvSpPr>
        <p:spPr>
          <a:xfrm xmlns:a="http://schemas.openxmlformats.org/drawingml/2006/main">
            <a:off x="6126480" y="2203704"/>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A5C64"/>
                </a:solidFill>
                <a:latin typeface="Cambria"/>
                <a:ea typeface="Cambria"/>
                <a:cs typeface="Cambria"/>
              </a:rPr>
              <a:t>−6.8 pp</a:t>
            </a:r>
            <a:endParaRPr sz="1600"/>
          </a:p>
        </p:txBody>
      </p:sp>
      <p:sp>
        <p:nvSpPr>
          <p:cNvPr id="12" name="Text 9">
            <a:extLst xmlns:a="http://schemas.openxmlformats.org/drawingml/2006/main">
              <a:ext uri="{FF2B5EF4-FFF2-40B4-BE49-F238E27FC236}">
                <a16:creationId xmlns:a16="http://schemas.microsoft.com/office/drawing/2014/main" id="{FF18CE78-A1CE-473F-9C49-CA3B89F4155E}"/>
              </a:ext>
            </a:extLst>
          </p:cNvPr>
          <p:cNvSpPr>
            <a:spLocks xmlns:a="http://schemas.openxmlformats.org/drawingml/2006/main" noGrp="1"/>
          </p:cNvSpPr>
          <p:nvPr/>
        </p:nvSpPr>
        <p:spPr>
          <a:xfrm xmlns:a="http://schemas.openxmlformats.org/drawingml/2006/main">
            <a:off x="8549640" y="1947672"/>
            <a:ext cx="30175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24313A"/>
                </a:solidFill>
                <a:latin typeface="Calibri"/>
                <a:ea typeface="Calibri"/>
                <a:cs typeface="Calibri"/>
              </a:rPr>
              <a:t>22.3% → 15.5%: nearly a third of no-shows in the pilot population removed</a:t>
            </a:r>
            <a:endParaRPr sz="1000"/>
          </a:p>
        </p:txBody>
      </p:sp>
      <p:sp>
        <p:nvSpPr>
          <p:cNvPr id="13" name="Shape 10">
            <a:extLst xmlns:a="http://schemas.openxmlformats.org/drawingml/2006/main">
              <a:ext uri="{FF2B5EF4-FFF2-40B4-BE49-F238E27FC236}">
                <a16:creationId xmlns:a16="http://schemas.microsoft.com/office/drawing/2014/main" id="{1CD46D27-7047-4692-B9CA-69C5E8C9205E}"/>
              </a:ext>
            </a:extLst>
          </p:cNvPr>
          <p:cNvSpPr>
            <a:spLocks xmlns:a="http://schemas.openxmlformats.org/drawingml/2006/main" noGrp="1"/>
          </p:cNvSpPr>
          <p:nvPr/>
        </p:nvSpPr>
        <p:spPr>
          <a:xfrm xmlns:a="http://schemas.openxmlformats.org/drawingml/2006/main">
            <a:off x="5897880" y="2862072"/>
            <a:ext cx="5806440" cy="932688"/>
          </a:xfrm>
          <a:prstGeom xmlns:a="http://schemas.openxmlformats.org/drawingml/2006/main" prst="roundRect">
            <a:avLst>
              <a:gd name="adj" fmla="val 8824"/>
            </a:avLst>
          </a:prstGeom>
          <a:solidFill xmlns:a="http://schemas.openxmlformats.org/drawingml/2006/main">
            <a:srgbClr val="F3F8F9"/>
          </a:solidFill>
        </p:spPr>
      </p:sp>
      <p:sp>
        <p:nvSpPr>
          <p:cNvPr id="14" name="Text 11">
            <a:extLst xmlns:a="http://schemas.openxmlformats.org/drawingml/2006/main">
              <a:ext uri="{FF2B5EF4-FFF2-40B4-BE49-F238E27FC236}">
                <a16:creationId xmlns:a16="http://schemas.microsoft.com/office/drawing/2014/main" id="{BC4DD9BE-CA8D-42EB-99EB-6EB428DF3860}"/>
              </a:ext>
            </a:extLst>
          </p:cNvPr>
          <p:cNvSpPr>
            <a:spLocks xmlns:a="http://schemas.openxmlformats.org/drawingml/2006/main" noGrp="1"/>
          </p:cNvSpPr>
          <p:nvPr/>
        </p:nvSpPr>
        <p:spPr>
          <a:xfrm xmlns:a="http://schemas.openxmlformats.org/drawingml/2006/main">
            <a:off x="6126480" y="2971800"/>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5B6B75"/>
                </a:solidFill>
                <a:latin typeface="Calibri"/>
                <a:ea typeface="Calibri"/>
                <a:cs typeface="Calibri"/>
              </a:rPr>
              <a:t>Test</a:t>
            </a:r>
            <a:endParaRPr sz="1050"/>
          </a:p>
        </p:txBody>
      </p:sp>
      <p:sp>
        <p:nvSpPr>
          <p:cNvPr id="15" name="Text 12">
            <a:extLst xmlns:a="http://schemas.openxmlformats.org/drawingml/2006/main">
              <a:ext uri="{FF2B5EF4-FFF2-40B4-BE49-F238E27FC236}">
                <a16:creationId xmlns:a16="http://schemas.microsoft.com/office/drawing/2014/main" id="{D75E18AE-D97F-4FE9-AD40-F6B5FF92001A}"/>
              </a:ext>
            </a:extLst>
          </p:cNvPr>
          <p:cNvSpPr>
            <a:spLocks xmlns:a="http://schemas.openxmlformats.org/drawingml/2006/main" noGrp="1"/>
          </p:cNvSpPr>
          <p:nvPr/>
        </p:nvSpPr>
        <p:spPr>
          <a:xfrm xmlns:a="http://schemas.openxmlformats.org/drawingml/2006/main">
            <a:off x="6126480" y="3227832"/>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A5C64"/>
                </a:solidFill>
                <a:latin typeface="Cambria"/>
                <a:ea typeface="Cambria"/>
                <a:cs typeface="Cambria"/>
              </a:rPr>
              <a:t>z = −7.7,  p ≈ 5×10⁻¹⁵</a:t>
            </a:r>
            <a:endParaRPr sz="1600"/>
          </a:p>
        </p:txBody>
      </p:sp>
      <p:sp>
        <p:nvSpPr>
          <p:cNvPr id="16" name="Text 13">
            <a:extLst xmlns:a="http://schemas.openxmlformats.org/drawingml/2006/main">
              <a:ext uri="{FF2B5EF4-FFF2-40B4-BE49-F238E27FC236}">
                <a16:creationId xmlns:a16="http://schemas.microsoft.com/office/drawing/2014/main" id="{DE18633D-6E2B-41B3-9362-C218A1976E77}"/>
              </a:ext>
            </a:extLst>
          </p:cNvPr>
          <p:cNvSpPr>
            <a:spLocks xmlns:a="http://schemas.openxmlformats.org/drawingml/2006/main" noGrp="1"/>
          </p:cNvSpPr>
          <p:nvPr/>
        </p:nvSpPr>
        <p:spPr>
          <a:xfrm xmlns:a="http://schemas.openxmlformats.org/drawingml/2006/main">
            <a:off x="8549640" y="2971800"/>
            <a:ext cx="30175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24313A"/>
                </a:solidFill>
                <a:latin typeface="Calibri"/>
                <a:ea typeface="Calibri"/>
                <a:cs typeface="Calibri"/>
              </a:rPr>
              <a:t>proportions_ztest; far beyond any α convention</a:t>
            </a:r>
            <a:endParaRPr sz="1000"/>
          </a:p>
        </p:txBody>
      </p:sp>
      <p:sp>
        <p:nvSpPr>
          <p:cNvPr id="17" name="Shape 14">
            <a:extLst xmlns:a="http://schemas.openxmlformats.org/drawingml/2006/main">
              <a:ext uri="{FF2B5EF4-FFF2-40B4-BE49-F238E27FC236}">
                <a16:creationId xmlns:a16="http://schemas.microsoft.com/office/drawing/2014/main" id="{45FB76F1-ADDD-47F7-A813-BCF5B49FC146}"/>
              </a:ext>
            </a:extLst>
          </p:cNvPr>
          <p:cNvSpPr>
            <a:spLocks xmlns:a="http://schemas.openxmlformats.org/drawingml/2006/main" noGrp="1"/>
          </p:cNvSpPr>
          <p:nvPr/>
        </p:nvSpPr>
        <p:spPr>
          <a:xfrm xmlns:a="http://schemas.openxmlformats.org/drawingml/2006/main">
            <a:off x="5897880" y="3886200"/>
            <a:ext cx="5806440" cy="932688"/>
          </a:xfrm>
          <a:prstGeom xmlns:a="http://schemas.openxmlformats.org/drawingml/2006/main" prst="roundRect">
            <a:avLst>
              <a:gd name="adj" fmla="val 8824"/>
            </a:avLst>
          </a:prstGeom>
          <a:solidFill xmlns:a="http://schemas.openxmlformats.org/drawingml/2006/main">
            <a:srgbClr val="F3F8F9"/>
          </a:solidFill>
        </p:spPr>
      </p:sp>
      <p:sp>
        <p:nvSpPr>
          <p:cNvPr id="18" name="Text 15">
            <a:extLst xmlns:a="http://schemas.openxmlformats.org/drawingml/2006/main">
              <a:ext uri="{FF2B5EF4-FFF2-40B4-BE49-F238E27FC236}">
                <a16:creationId xmlns:a16="http://schemas.microsoft.com/office/drawing/2014/main" id="{5C364BDF-4538-4CC8-8677-6AE0DDEBBB79}"/>
              </a:ext>
            </a:extLst>
          </p:cNvPr>
          <p:cNvSpPr>
            <a:spLocks xmlns:a="http://schemas.openxmlformats.org/drawingml/2006/main" noGrp="1"/>
          </p:cNvSpPr>
          <p:nvPr/>
        </p:nvSpPr>
        <p:spPr>
          <a:xfrm xmlns:a="http://schemas.openxmlformats.org/drawingml/2006/main">
            <a:off x="6126480" y="3995928"/>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5B6B75"/>
                </a:solidFill>
                <a:latin typeface="Calibri"/>
                <a:ea typeface="Calibri"/>
                <a:cs typeface="Calibri"/>
              </a:rPr>
              <a:t>Effect size</a:t>
            </a:r>
            <a:endParaRPr sz="1050"/>
          </a:p>
        </p:txBody>
      </p:sp>
      <p:sp>
        <p:nvSpPr>
          <p:cNvPr id="19" name="Text 16">
            <a:extLst xmlns:a="http://schemas.openxmlformats.org/drawingml/2006/main">
              <a:ext uri="{FF2B5EF4-FFF2-40B4-BE49-F238E27FC236}">
                <a16:creationId xmlns:a16="http://schemas.microsoft.com/office/drawing/2014/main" id="{69A58820-0939-47DF-98AE-D8BC033387C8}"/>
              </a:ext>
            </a:extLst>
          </p:cNvPr>
          <p:cNvSpPr>
            <a:spLocks xmlns:a="http://schemas.openxmlformats.org/drawingml/2006/main" noGrp="1"/>
          </p:cNvSpPr>
          <p:nvPr/>
        </p:nvSpPr>
        <p:spPr>
          <a:xfrm xmlns:a="http://schemas.openxmlformats.org/drawingml/2006/main">
            <a:off x="6126480" y="4251960"/>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A5C64"/>
                </a:solidFill>
                <a:latin typeface="Cambria"/>
                <a:ea typeface="Cambria"/>
                <a:cs typeface="Cambria"/>
              </a:rPr>
              <a:t>OR = 0.64</a:t>
            </a:r>
            <a:endParaRPr sz="1600"/>
          </a:p>
        </p:txBody>
      </p:sp>
      <p:sp>
        <p:nvSpPr>
          <p:cNvPr id="20" name="Text 17">
            <a:extLst xmlns:a="http://schemas.openxmlformats.org/drawingml/2006/main">
              <a:ext uri="{FF2B5EF4-FFF2-40B4-BE49-F238E27FC236}">
                <a16:creationId xmlns:a16="http://schemas.microsoft.com/office/drawing/2014/main" id="{A90A7743-A6FB-4339-81BC-3A01534124DC}"/>
              </a:ext>
            </a:extLst>
          </p:cNvPr>
          <p:cNvSpPr>
            <a:spLocks xmlns:a="http://schemas.openxmlformats.org/drawingml/2006/main" noGrp="1"/>
          </p:cNvSpPr>
          <p:nvPr/>
        </p:nvSpPr>
        <p:spPr>
          <a:xfrm xmlns:a="http://schemas.openxmlformats.org/drawingml/2006/main">
            <a:off x="8549640" y="3995928"/>
            <a:ext cx="30175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24313A"/>
                </a:solidFill>
                <a:latin typeface="Calibri"/>
                <a:ea typeface="Calibri"/>
                <a:cs typeface="Calibri"/>
              </a:rPr>
              <a:t>Odds of no-show cut by about a third</a:t>
            </a:r>
            <a:endParaRPr sz="1000"/>
          </a:p>
        </p:txBody>
      </p:sp>
      <p:sp>
        <p:nvSpPr>
          <p:cNvPr id="21" name="Shape 18">
            <a:extLst xmlns:a="http://schemas.openxmlformats.org/drawingml/2006/main">
              <a:ext uri="{FF2B5EF4-FFF2-40B4-BE49-F238E27FC236}">
                <a16:creationId xmlns:a16="http://schemas.microsoft.com/office/drawing/2014/main" id="{2E79DD32-FD61-4E24-A26B-2681E21551D3}"/>
              </a:ext>
            </a:extLst>
          </p:cNvPr>
          <p:cNvSpPr>
            <a:spLocks xmlns:a="http://schemas.openxmlformats.org/drawingml/2006/main" noGrp="1"/>
          </p:cNvSpPr>
          <p:nvPr/>
        </p:nvSpPr>
        <p:spPr>
          <a:xfrm xmlns:a="http://schemas.openxmlformats.org/drawingml/2006/main">
            <a:off x="5897880" y="4910328"/>
            <a:ext cx="5806440" cy="932688"/>
          </a:xfrm>
          <a:prstGeom xmlns:a="http://schemas.openxmlformats.org/drawingml/2006/main" prst="roundRect">
            <a:avLst>
              <a:gd name="adj" fmla="val 8824"/>
            </a:avLst>
          </a:prstGeom>
          <a:solidFill xmlns:a="http://schemas.openxmlformats.org/drawingml/2006/main">
            <a:srgbClr val="F3F8F9"/>
          </a:solidFill>
        </p:spPr>
      </p:sp>
      <p:sp>
        <p:nvSpPr>
          <p:cNvPr id="22" name="Text 19">
            <a:extLst xmlns:a="http://schemas.openxmlformats.org/drawingml/2006/main">
              <a:ext uri="{FF2B5EF4-FFF2-40B4-BE49-F238E27FC236}">
                <a16:creationId xmlns:a16="http://schemas.microsoft.com/office/drawing/2014/main" id="{09781455-77F3-4A39-A591-846FBB0BFD71}"/>
              </a:ext>
            </a:extLst>
          </p:cNvPr>
          <p:cNvSpPr>
            <a:spLocks xmlns:a="http://schemas.openxmlformats.org/drawingml/2006/main" noGrp="1"/>
          </p:cNvSpPr>
          <p:nvPr/>
        </p:nvSpPr>
        <p:spPr>
          <a:xfrm xmlns:a="http://schemas.openxmlformats.org/drawingml/2006/main">
            <a:off x="6126480" y="5020056"/>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5B6B75"/>
                </a:solidFill>
                <a:latin typeface="Calibri"/>
                <a:ea typeface="Calibri"/>
                <a:cs typeface="Calibri"/>
              </a:rPr>
              <a:t>Power (post-hoc view)</a:t>
            </a:r>
            <a:endParaRPr sz="1050"/>
          </a:p>
        </p:txBody>
      </p:sp>
      <p:sp>
        <p:nvSpPr>
          <p:cNvPr id="23" name="Text 20">
            <a:extLst xmlns:a="http://schemas.openxmlformats.org/drawingml/2006/main">
              <a:ext uri="{FF2B5EF4-FFF2-40B4-BE49-F238E27FC236}">
                <a16:creationId xmlns:a16="http://schemas.microsoft.com/office/drawing/2014/main" id="{01DBF3C6-2314-4953-8566-37B6AC88482F}"/>
              </a:ext>
            </a:extLst>
          </p:cNvPr>
          <p:cNvSpPr>
            <a:spLocks xmlns:a="http://schemas.openxmlformats.org/drawingml/2006/main" noGrp="1"/>
          </p:cNvSpPr>
          <p:nvPr/>
        </p:nvSpPr>
        <p:spPr>
          <a:xfrm xmlns:a="http://schemas.openxmlformats.org/drawingml/2006/main">
            <a:off x="6126480" y="5276088"/>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A5C64"/>
                </a:solidFill>
                <a:latin typeface="Cambria"/>
                <a:ea typeface="Cambria"/>
                <a:cs typeface="Cambria"/>
              </a:rPr>
              <a:t>0.98 at 4,000/arm</a:t>
            </a:r>
            <a:endParaRPr sz="1600"/>
          </a:p>
        </p:txBody>
      </p:sp>
      <p:sp>
        <p:nvSpPr>
          <p:cNvPr id="24" name="Text 21">
            <a:extLst xmlns:a="http://schemas.openxmlformats.org/drawingml/2006/main">
              <a:ext uri="{FF2B5EF4-FFF2-40B4-BE49-F238E27FC236}">
                <a16:creationId xmlns:a16="http://schemas.microsoft.com/office/drawing/2014/main" id="{F4CBA9B5-F1FC-49E5-AF6C-1AA3FEDFB443}"/>
              </a:ext>
            </a:extLst>
          </p:cNvPr>
          <p:cNvSpPr>
            <a:spLocks xmlns:a="http://schemas.openxmlformats.org/drawingml/2006/main" noGrp="1"/>
          </p:cNvSpPr>
          <p:nvPr/>
        </p:nvSpPr>
        <p:spPr>
          <a:xfrm xmlns:a="http://schemas.openxmlformats.org/drawingml/2006/main">
            <a:off x="8549640" y="5020056"/>
            <a:ext cx="30175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24313A"/>
                </a:solidFill>
                <a:latin typeface="Calibri"/>
                <a:ea typeface="Calibri"/>
                <a:cs typeface="Calibri"/>
              </a:rPr>
              <a:t>Design was capable of finding much smaller effects</a:t>
            </a:r>
            <a:endParaRPr sz="1000"/>
          </a:p>
        </p:txBody>
      </p:sp>
      <p:sp>
        <p:nvSpPr>
          <p:cNvPr id="25" name="Shape 22">
            <a:extLst xmlns:a="http://schemas.openxmlformats.org/drawingml/2006/main">
              <a:ext uri="{FF2B5EF4-FFF2-40B4-BE49-F238E27FC236}">
                <a16:creationId xmlns:a16="http://schemas.microsoft.com/office/drawing/2014/main" id="{8CE82A55-7535-47B1-B55D-0B9EFDECEAC4}"/>
              </a:ext>
            </a:extLst>
          </p:cNvPr>
          <p:cNvSpPr>
            <a:spLocks xmlns:a="http://schemas.openxmlformats.org/drawingml/2006/main" noGrp="1"/>
          </p:cNvSpPr>
          <p:nvPr/>
        </p:nvSpPr>
        <p:spPr>
          <a:xfrm xmlns:a="http://schemas.openxmlformats.org/drawingml/2006/main">
            <a:off x="502920" y="5724144"/>
            <a:ext cx="11201400" cy="777240"/>
          </a:xfrm>
          <a:prstGeom xmlns:a="http://schemas.openxmlformats.org/drawingml/2006/main" prst="roundRect">
            <a:avLst>
              <a:gd name="adj" fmla="val 10588"/>
            </a:avLst>
          </a:prstGeom>
          <a:solidFill xmlns:a="http://schemas.openxmlformats.org/drawingml/2006/main">
            <a:srgbClr val="0B3140"/>
          </a:solidFill>
        </p:spPr>
      </p:sp>
      <p:sp>
        <p:nvSpPr>
          <p:cNvPr id="26" name="Text 23">
            <a:extLst xmlns:a="http://schemas.openxmlformats.org/drawingml/2006/main">
              <a:ext uri="{FF2B5EF4-FFF2-40B4-BE49-F238E27FC236}">
                <a16:creationId xmlns:a16="http://schemas.microsoft.com/office/drawing/2014/main" id="{385A2405-4016-422A-995A-9D17674CE75C}"/>
              </a:ext>
            </a:extLst>
          </p:cNvPr>
          <p:cNvSpPr>
            <a:spLocks xmlns:a="http://schemas.openxmlformats.org/drawingml/2006/main" noGrp="1"/>
          </p:cNvSpPr>
          <p:nvPr/>
        </p:nvSpPr>
        <p:spPr>
          <a:xfrm xmlns:a="http://schemas.openxmlformats.org/drawingml/2006/main">
            <a:off x="868680" y="5815584"/>
            <a:ext cx="1051560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2660A"/>
                </a:solidFill>
                <a:latin typeface="Calibri"/>
                <a:ea typeface="Calibri"/>
                <a:cs typeface="Calibri"/>
              </a:rPr>
              <a:t>Hold that thought:  </a:t>
            </a:r>
            <a:r>
              <a:rPr sz="1200">
                <a:solidFill>
                  <a:srgbClr val="FFFFFF"/>
                </a:solidFill>
                <a:latin typeface="Calibri"/>
                <a:ea typeface="Calibri"/>
                <a:cs typeface="Calibri"/>
              </a:rPr>
              <a:t>tomorrow the full observational dataset will appear to say reminders make no-shows WORSE. One of the course's defining moments — the same intervention, two opposite answers, and the tools to know which to trust.</a:t>
            </a:r>
            <a:endParaRPr sz="1200"/>
          </a:p>
        </p:txBody>
      </p:sp>
    </p:spTree>
    <p:extLst>
      <p:ext uri="{BB962C8B-B14F-4D97-AF65-F5344CB8AC3E}">
        <p14:creationId xmlns:p14="http://schemas.microsoft.com/office/powerpoint/2010/main" val="181767707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8F158C3-39B2-4D7E-B84D-D0E97E8096F3}"/>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37AB0858-032F-4EAD-B7FF-A3DBBC3C52FE}"/>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45</a:t>
            </a:r>
            <a:endParaRPr sz="900"/>
          </a:p>
        </p:txBody>
      </p:sp>
      <p:sp>
        <p:nvSpPr>
          <p:cNvPr id="4" name="Shape 2">
            <a:extLst xmlns:a="http://schemas.openxmlformats.org/drawingml/2006/main">
              <a:ext uri="{FF2B5EF4-FFF2-40B4-BE49-F238E27FC236}">
                <a16:creationId xmlns:a16="http://schemas.microsoft.com/office/drawing/2014/main" id="{1C32D88A-3583-408E-9DDE-31415B00B535}"/>
              </a:ext>
            </a:extLst>
          </p:cNvPr>
          <p:cNvSpPr>
            <a:spLocks xmlns:a="http://schemas.openxmlformats.org/drawingml/2006/main" noGrp="1"/>
          </p:cNvSpPr>
          <p:nvPr/>
        </p:nvSpPr>
        <p:spPr>
          <a:xfrm xmlns:a="http://schemas.openxmlformats.org/drawingml/2006/main">
            <a:off x="502920" y="384048"/>
            <a:ext cx="2181758"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A4ED45CC-1F0E-489F-903C-F24656DF4584}"/>
              </a:ext>
            </a:extLst>
          </p:cNvPr>
          <p:cNvSpPr>
            <a:spLocks xmlns:a="http://schemas.openxmlformats.org/drawingml/2006/main" noGrp="1"/>
          </p:cNvSpPr>
          <p:nvPr/>
        </p:nvSpPr>
        <p:spPr>
          <a:xfrm xmlns:a="http://schemas.openxmlformats.org/drawingml/2006/main">
            <a:off x="502920" y="384048"/>
            <a:ext cx="218175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SAUDI RCT · PUBLISHED</a:t>
            </a:r>
            <a:endParaRPr sz="1050"/>
          </a:p>
        </p:txBody>
      </p:sp>
      <p:sp>
        <p:nvSpPr>
          <p:cNvPr id="6" name="Text 4">
            <a:extLst xmlns:a="http://schemas.openxmlformats.org/drawingml/2006/main">
              <a:ext uri="{FF2B5EF4-FFF2-40B4-BE49-F238E27FC236}">
                <a16:creationId xmlns:a16="http://schemas.microsoft.com/office/drawing/2014/main" id="{73DD13F3-4C9A-455B-B2BD-F9F473C2FF13}"/>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Saudi RCT: one extra attendance per 7 reminders</a:t>
            </a:r>
            <a:endParaRPr sz="2800"/>
          </a:p>
        </p:txBody>
      </p:sp>
      <p:sp>
        <p:nvSpPr>
          <p:cNvPr id="7" name="Text 5">
            <a:extLst xmlns:a="http://schemas.openxmlformats.org/drawingml/2006/main">
              <a:ext uri="{FF2B5EF4-FFF2-40B4-BE49-F238E27FC236}">
                <a16:creationId xmlns:a16="http://schemas.microsoft.com/office/drawing/2014/main" id="{C6A3EBFF-0401-422D-8757-BE133966307D}"/>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Randomized trial · Eastern Province · internal medicine outpatient clinic · 2011 · n = 502 (251 per arm)</a:t>
            </a:r>
            <a:endParaRPr sz="1350"/>
          </a:p>
        </p:txBody>
      </p:sp>
      <p:graphicFrame>
        <p:nvGraphicFramePr>
          <p:cNvPr id="34" name="Chart 0"/>
          <p:cNvGraphicFramePr/>
          <p:nvPr/>
        </p:nvGraphicFramePr>
        <p:xfrm>
          <a:off xmlns:a="http://schemas.openxmlformats.org/drawingml/2006/main" x="502920" y="1837944"/>
          <a:ext xmlns:a="http://schemas.openxmlformats.org/drawingml/2006/main" cx="5120640" cy="3749040"/>
        </p:xfrm>
        <a:graphic xmlns:a="http://schemas.openxmlformats.org/drawingml/2006/main">
          <a:graphicData uri="http://schemas.openxmlformats.org/drawingml/2006/chart">
            <c:chart xmlns:r="http://schemas.openxmlformats.org/officeDocument/2006/relationships" xmlns:c="http://schemas.openxmlformats.org/drawingml/2006/chart" r:id="Rec5f69c80324436e"/>
          </a:graphicData>
        </a:graphic>
      </p:graphicFrame>
      <p:sp>
        <p:nvSpPr>
          <p:cNvPr id="9" name="Shape 6">
            <a:extLst xmlns:a="http://schemas.openxmlformats.org/drawingml/2006/main">
              <a:ext uri="{FF2B5EF4-FFF2-40B4-BE49-F238E27FC236}">
                <a16:creationId xmlns:a16="http://schemas.microsoft.com/office/drawing/2014/main" id="{853E6E76-A801-40F5-9F07-D16039E164AD}"/>
              </a:ext>
            </a:extLst>
          </p:cNvPr>
          <p:cNvSpPr>
            <a:spLocks xmlns:a="http://schemas.openxmlformats.org/drawingml/2006/main" noGrp="1"/>
          </p:cNvSpPr>
          <p:nvPr/>
        </p:nvSpPr>
        <p:spPr>
          <a:xfrm xmlns:a="http://schemas.openxmlformats.org/drawingml/2006/main">
            <a:off x="5897880" y="1837944"/>
            <a:ext cx="5806440" cy="932688"/>
          </a:xfrm>
          <a:prstGeom xmlns:a="http://schemas.openxmlformats.org/drawingml/2006/main" prst="roundRect">
            <a:avLst>
              <a:gd name="adj" fmla="val 8824"/>
            </a:avLst>
          </a:prstGeom>
          <a:solidFill xmlns:a="http://schemas.openxmlformats.org/drawingml/2006/main">
            <a:srgbClr val="F3F8F9"/>
          </a:solidFill>
        </p:spPr>
      </p:sp>
      <p:sp>
        <p:nvSpPr>
          <p:cNvPr id="10" name="Text 7">
            <a:extLst xmlns:a="http://schemas.openxmlformats.org/drawingml/2006/main">
              <a:ext uri="{FF2B5EF4-FFF2-40B4-BE49-F238E27FC236}">
                <a16:creationId xmlns:a16="http://schemas.microsoft.com/office/drawing/2014/main" id="{FC609134-8921-4C31-8712-ED4ADD4AF698}"/>
              </a:ext>
            </a:extLst>
          </p:cNvPr>
          <p:cNvSpPr>
            <a:spLocks xmlns:a="http://schemas.openxmlformats.org/drawingml/2006/main" noGrp="1"/>
          </p:cNvSpPr>
          <p:nvPr/>
        </p:nvSpPr>
        <p:spPr>
          <a:xfrm xmlns:a="http://schemas.openxmlformats.org/drawingml/2006/main">
            <a:off x="6126480" y="194767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5B6B75"/>
                </a:solidFill>
                <a:latin typeface="Calibri"/>
                <a:ea typeface="Calibri"/>
                <a:cs typeface="Calibri"/>
              </a:rPr>
              <a:t>Difference</a:t>
            </a:r>
            <a:endParaRPr sz="1050"/>
          </a:p>
        </p:txBody>
      </p:sp>
      <p:sp>
        <p:nvSpPr>
          <p:cNvPr id="11" name="Text 8">
            <a:extLst xmlns:a="http://schemas.openxmlformats.org/drawingml/2006/main">
              <a:ext uri="{FF2B5EF4-FFF2-40B4-BE49-F238E27FC236}">
                <a16:creationId xmlns:a16="http://schemas.microsoft.com/office/drawing/2014/main" id="{B60D7A6A-02E4-4304-873B-E95BF01928C9}"/>
              </a:ext>
            </a:extLst>
          </p:cNvPr>
          <p:cNvSpPr>
            <a:spLocks xmlns:a="http://schemas.openxmlformats.org/drawingml/2006/main" noGrp="1"/>
          </p:cNvSpPr>
          <p:nvPr/>
        </p:nvSpPr>
        <p:spPr>
          <a:xfrm xmlns:a="http://schemas.openxmlformats.org/drawingml/2006/main">
            <a:off x="6126480" y="2203704"/>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A5C64"/>
                </a:solidFill>
                <a:latin typeface="Cambria"/>
                <a:ea typeface="Cambria"/>
                <a:cs typeface="Cambria"/>
              </a:rPr>
              <a:t>−13.5 pp</a:t>
            </a:r>
            <a:endParaRPr sz="1600"/>
          </a:p>
        </p:txBody>
      </p:sp>
      <p:sp>
        <p:nvSpPr>
          <p:cNvPr id="12" name="Text 9">
            <a:extLst xmlns:a="http://schemas.openxmlformats.org/drawingml/2006/main">
              <a:ext uri="{FF2B5EF4-FFF2-40B4-BE49-F238E27FC236}">
                <a16:creationId xmlns:a16="http://schemas.microsoft.com/office/drawing/2014/main" id="{FF18CE78-A1CE-473F-9C49-CA3B89F4155E}"/>
              </a:ext>
            </a:extLst>
          </p:cNvPr>
          <p:cNvSpPr>
            <a:spLocks xmlns:a="http://schemas.openxmlformats.org/drawingml/2006/main" noGrp="1"/>
          </p:cNvSpPr>
          <p:nvPr/>
        </p:nvSpPr>
        <p:spPr>
          <a:xfrm xmlns:a="http://schemas.openxmlformats.org/drawingml/2006/main">
            <a:off x="8549640" y="1947672"/>
            <a:ext cx="30175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24313A"/>
                </a:solidFill>
                <a:latin typeface="Calibri"/>
                <a:ea typeface="Calibri"/>
                <a:cs typeface="Calibri"/>
              </a:rPr>
              <a:t>39.8% → 26.3%; 95% CI for the difference: −21.5 to −5.3 pp</a:t>
            </a:r>
            <a:endParaRPr sz="1000"/>
          </a:p>
        </p:txBody>
      </p:sp>
      <p:sp>
        <p:nvSpPr>
          <p:cNvPr id="13" name="Shape 10">
            <a:extLst xmlns:a="http://schemas.openxmlformats.org/drawingml/2006/main">
              <a:ext uri="{FF2B5EF4-FFF2-40B4-BE49-F238E27FC236}">
                <a16:creationId xmlns:a16="http://schemas.microsoft.com/office/drawing/2014/main" id="{1CD46D27-7047-4692-B9CA-69C5E8C9205E}"/>
              </a:ext>
            </a:extLst>
          </p:cNvPr>
          <p:cNvSpPr>
            <a:spLocks xmlns:a="http://schemas.openxmlformats.org/drawingml/2006/main" noGrp="1"/>
          </p:cNvSpPr>
          <p:nvPr/>
        </p:nvSpPr>
        <p:spPr>
          <a:xfrm xmlns:a="http://schemas.openxmlformats.org/drawingml/2006/main">
            <a:off x="5897880" y="2862072"/>
            <a:ext cx="5806440" cy="932688"/>
          </a:xfrm>
          <a:prstGeom xmlns:a="http://schemas.openxmlformats.org/drawingml/2006/main" prst="roundRect">
            <a:avLst>
              <a:gd name="adj" fmla="val 8824"/>
            </a:avLst>
          </a:prstGeom>
          <a:solidFill xmlns:a="http://schemas.openxmlformats.org/drawingml/2006/main">
            <a:srgbClr val="F3F8F9"/>
          </a:solidFill>
        </p:spPr>
      </p:sp>
      <p:sp>
        <p:nvSpPr>
          <p:cNvPr id="14" name="Text 11">
            <a:extLst xmlns:a="http://schemas.openxmlformats.org/drawingml/2006/main">
              <a:ext uri="{FF2B5EF4-FFF2-40B4-BE49-F238E27FC236}">
                <a16:creationId xmlns:a16="http://schemas.microsoft.com/office/drawing/2014/main" id="{BC4DD9BE-CA8D-42EB-99EB-6EB428DF3860}"/>
              </a:ext>
            </a:extLst>
          </p:cNvPr>
          <p:cNvSpPr>
            <a:spLocks xmlns:a="http://schemas.openxmlformats.org/drawingml/2006/main" noGrp="1"/>
          </p:cNvSpPr>
          <p:nvPr/>
        </p:nvSpPr>
        <p:spPr>
          <a:xfrm xmlns:a="http://schemas.openxmlformats.org/drawingml/2006/main">
            <a:off x="6126480" y="2971800"/>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5B6B75"/>
                </a:solidFill>
                <a:latin typeface="Calibri"/>
                <a:ea typeface="Calibri"/>
                <a:cs typeface="Calibri"/>
              </a:rPr>
              <a:t>Test</a:t>
            </a:r>
            <a:endParaRPr sz="1050"/>
          </a:p>
        </p:txBody>
      </p:sp>
      <p:sp>
        <p:nvSpPr>
          <p:cNvPr id="15" name="Text 12">
            <a:extLst xmlns:a="http://schemas.openxmlformats.org/drawingml/2006/main">
              <a:ext uri="{FF2B5EF4-FFF2-40B4-BE49-F238E27FC236}">
                <a16:creationId xmlns:a16="http://schemas.microsoft.com/office/drawing/2014/main" id="{D75E18AE-D97F-4FE9-AD40-F6B5FF92001A}"/>
              </a:ext>
            </a:extLst>
          </p:cNvPr>
          <p:cNvSpPr>
            <a:spLocks xmlns:a="http://schemas.openxmlformats.org/drawingml/2006/main" noGrp="1"/>
          </p:cNvSpPr>
          <p:nvPr/>
        </p:nvSpPr>
        <p:spPr>
          <a:xfrm xmlns:a="http://schemas.openxmlformats.org/drawingml/2006/main">
            <a:off x="6126480" y="3227832"/>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A5C64"/>
                </a:solidFill>
                <a:latin typeface="Cambria"/>
                <a:ea typeface="Cambria"/>
                <a:cs typeface="Cambria"/>
              </a:rPr>
              <a:t>z = −3.23,  p = 0.0013</a:t>
            </a:r>
            <a:endParaRPr sz="1600"/>
          </a:p>
        </p:txBody>
      </p:sp>
      <p:sp>
        <p:nvSpPr>
          <p:cNvPr id="16" name="Text 13">
            <a:extLst xmlns:a="http://schemas.openxmlformats.org/drawingml/2006/main">
              <a:ext uri="{FF2B5EF4-FFF2-40B4-BE49-F238E27FC236}">
                <a16:creationId xmlns:a16="http://schemas.microsoft.com/office/drawing/2014/main" id="{DE18633D-6E2B-41B3-9362-C218A1976E77}"/>
              </a:ext>
            </a:extLst>
          </p:cNvPr>
          <p:cNvSpPr>
            <a:spLocks xmlns:a="http://schemas.openxmlformats.org/drawingml/2006/main" noGrp="1"/>
          </p:cNvSpPr>
          <p:nvPr/>
        </p:nvSpPr>
        <p:spPr>
          <a:xfrm xmlns:a="http://schemas.openxmlformats.org/drawingml/2006/main">
            <a:off x="8549640" y="2971800"/>
            <a:ext cx="30175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24313A"/>
                </a:solidFill>
                <a:latin typeface="Calibri"/>
                <a:ea typeface="Calibri"/>
                <a:cs typeface="Calibri"/>
              </a:rPr>
              <a:t>Two-sided two-proportion z-test; H₀: pSMS − pcontrol = 0</a:t>
            </a:r>
            <a:endParaRPr sz="1000"/>
          </a:p>
        </p:txBody>
      </p:sp>
      <p:sp>
        <p:nvSpPr>
          <p:cNvPr id="17" name="Shape 14">
            <a:extLst xmlns:a="http://schemas.openxmlformats.org/drawingml/2006/main">
              <a:ext uri="{FF2B5EF4-FFF2-40B4-BE49-F238E27FC236}">
                <a16:creationId xmlns:a16="http://schemas.microsoft.com/office/drawing/2014/main" id="{45FB76F1-ADDD-47F7-A813-BCF5B49FC146}"/>
              </a:ext>
            </a:extLst>
          </p:cNvPr>
          <p:cNvSpPr>
            <a:spLocks xmlns:a="http://schemas.openxmlformats.org/drawingml/2006/main" noGrp="1"/>
          </p:cNvSpPr>
          <p:nvPr/>
        </p:nvSpPr>
        <p:spPr>
          <a:xfrm xmlns:a="http://schemas.openxmlformats.org/drawingml/2006/main">
            <a:off x="5897880" y="3886200"/>
            <a:ext cx="5806440" cy="932688"/>
          </a:xfrm>
          <a:prstGeom xmlns:a="http://schemas.openxmlformats.org/drawingml/2006/main" prst="roundRect">
            <a:avLst>
              <a:gd name="adj" fmla="val 8824"/>
            </a:avLst>
          </a:prstGeom>
          <a:solidFill xmlns:a="http://schemas.openxmlformats.org/drawingml/2006/main">
            <a:srgbClr val="F3F8F9"/>
          </a:solidFill>
        </p:spPr>
      </p:sp>
      <p:sp>
        <p:nvSpPr>
          <p:cNvPr id="18" name="Text 15">
            <a:extLst xmlns:a="http://schemas.openxmlformats.org/drawingml/2006/main">
              <a:ext uri="{FF2B5EF4-FFF2-40B4-BE49-F238E27FC236}">
                <a16:creationId xmlns:a16="http://schemas.microsoft.com/office/drawing/2014/main" id="{5C364BDF-4538-4CC8-8677-6AE0DDEBBB79}"/>
              </a:ext>
            </a:extLst>
          </p:cNvPr>
          <p:cNvSpPr>
            <a:spLocks xmlns:a="http://schemas.openxmlformats.org/drawingml/2006/main" noGrp="1"/>
          </p:cNvSpPr>
          <p:nvPr/>
        </p:nvSpPr>
        <p:spPr>
          <a:xfrm xmlns:a="http://schemas.openxmlformats.org/drawingml/2006/main">
            <a:off x="6126480" y="3995928"/>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5B6B75"/>
                </a:solidFill>
                <a:latin typeface="Calibri"/>
                <a:ea typeface="Calibri"/>
                <a:cs typeface="Calibri"/>
              </a:rPr>
              <a:t>Effect size</a:t>
            </a:r>
            <a:endParaRPr sz="1050"/>
          </a:p>
        </p:txBody>
      </p:sp>
      <p:sp>
        <p:nvSpPr>
          <p:cNvPr id="19" name="Text 16">
            <a:extLst xmlns:a="http://schemas.openxmlformats.org/drawingml/2006/main">
              <a:ext uri="{FF2B5EF4-FFF2-40B4-BE49-F238E27FC236}">
                <a16:creationId xmlns:a16="http://schemas.microsoft.com/office/drawing/2014/main" id="{69A58820-0939-47DF-98AE-D8BC033387C8}"/>
              </a:ext>
            </a:extLst>
          </p:cNvPr>
          <p:cNvSpPr>
            <a:spLocks xmlns:a="http://schemas.openxmlformats.org/drawingml/2006/main" noGrp="1"/>
          </p:cNvSpPr>
          <p:nvPr/>
        </p:nvSpPr>
        <p:spPr>
          <a:xfrm xmlns:a="http://schemas.openxmlformats.org/drawingml/2006/main">
            <a:off x="6126480" y="4251960"/>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A5C64"/>
                </a:solidFill>
                <a:latin typeface="Cambria"/>
                <a:ea typeface="Cambria"/>
                <a:cs typeface="Cambria"/>
              </a:rPr>
              <a:t>RR = 0.66</a:t>
            </a:r>
            <a:endParaRPr sz="1600"/>
          </a:p>
        </p:txBody>
      </p:sp>
      <p:sp>
        <p:nvSpPr>
          <p:cNvPr id="20" name="Text 17">
            <a:extLst xmlns:a="http://schemas.openxmlformats.org/drawingml/2006/main">
              <a:ext uri="{FF2B5EF4-FFF2-40B4-BE49-F238E27FC236}">
                <a16:creationId xmlns:a16="http://schemas.microsoft.com/office/drawing/2014/main" id="{A90A7743-A6FB-4339-81BC-3A01534124DC}"/>
              </a:ext>
            </a:extLst>
          </p:cNvPr>
          <p:cNvSpPr>
            <a:spLocks xmlns:a="http://schemas.openxmlformats.org/drawingml/2006/main" noGrp="1"/>
          </p:cNvSpPr>
          <p:nvPr/>
        </p:nvSpPr>
        <p:spPr>
          <a:xfrm xmlns:a="http://schemas.openxmlformats.org/drawingml/2006/main">
            <a:off x="8549640" y="3995928"/>
            <a:ext cx="30175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24313A"/>
                </a:solidFill>
                <a:latin typeface="Calibri"/>
                <a:ea typeface="Calibri"/>
                <a:cs typeface="Calibri"/>
              </a:rPr>
              <a:t>34% relative reduction in non-attendance; 95% CI 0.51–0.85</a:t>
            </a:r>
            <a:endParaRPr sz="1000"/>
          </a:p>
        </p:txBody>
      </p:sp>
      <p:sp>
        <p:nvSpPr>
          <p:cNvPr id="21" name="Shape 18">
            <a:extLst xmlns:a="http://schemas.openxmlformats.org/drawingml/2006/main">
              <a:ext uri="{FF2B5EF4-FFF2-40B4-BE49-F238E27FC236}">
                <a16:creationId xmlns:a16="http://schemas.microsoft.com/office/drawing/2014/main" id="{2E79DD32-FD61-4E24-A26B-2681E21551D3}"/>
              </a:ext>
            </a:extLst>
          </p:cNvPr>
          <p:cNvSpPr>
            <a:spLocks xmlns:a="http://schemas.openxmlformats.org/drawingml/2006/main" noGrp="1"/>
          </p:cNvSpPr>
          <p:nvPr/>
        </p:nvSpPr>
        <p:spPr>
          <a:xfrm xmlns:a="http://schemas.openxmlformats.org/drawingml/2006/main">
            <a:off x="5897880" y="4910328"/>
            <a:ext cx="5806440" cy="932688"/>
          </a:xfrm>
          <a:prstGeom xmlns:a="http://schemas.openxmlformats.org/drawingml/2006/main" prst="roundRect">
            <a:avLst>
              <a:gd name="adj" fmla="val 8824"/>
            </a:avLst>
          </a:prstGeom>
          <a:solidFill xmlns:a="http://schemas.openxmlformats.org/drawingml/2006/main">
            <a:srgbClr val="F3F8F9"/>
          </a:solidFill>
        </p:spPr>
      </p:sp>
      <p:sp>
        <p:nvSpPr>
          <p:cNvPr id="22" name="Text 19">
            <a:extLst xmlns:a="http://schemas.openxmlformats.org/drawingml/2006/main">
              <a:ext uri="{FF2B5EF4-FFF2-40B4-BE49-F238E27FC236}">
                <a16:creationId xmlns:a16="http://schemas.microsoft.com/office/drawing/2014/main" id="{09781455-77F3-4A39-A591-846FBB0BFD71}"/>
              </a:ext>
            </a:extLst>
          </p:cNvPr>
          <p:cNvSpPr>
            <a:spLocks xmlns:a="http://schemas.openxmlformats.org/drawingml/2006/main" noGrp="1"/>
          </p:cNvSpPr>
          <p:nvPr/>
        </p:nvSpPr>
        <p:spPr>
          <a:xfrm xmlns:a="http://schemas.openxmlformats.org/drawingml/2006/main">
            <a:off x="6126480" y="5020056"/>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5B6B75"/>
                </a:solidFill>
                <a:latin typeface="Calibri"/>
                <a:ea typeface="Calibri"/>
                <a:cs typeface="Calibri"/>
              </a:rPr>
              <a:t>Number needed to remind</a:t>
            </a:r>
            <a:endParaRPr sz="1050"/>
          </a:p>
        </p:txBody>
      </p:sp>
      <p:sp>
        <p:nvSpPr>
          <p:cNvPr id="23" name="Text 20">
            <a:extLst xmlns:a="http://schemas.openxmlformats.org/drawingml/2006/main">
              <a:ext uri="{FF2B5EF4-FFF2-40B4-BE49-F238E27FC236}">
                <a16:creationId xmlns:a16="http://schemas.microsoft.com/office/drawing/2014/main" id="{01DBF3C6-2314-4953-8566-37B6AC88482F}"/>
              </a:ext>
            </a:extLst>
          </p:cNvPr>
          <p:cNvSpPr>
            <a:spLocks xmlns:a="http://schemas.openxmlformats.org/drawingml/2006/main" noGrp="1"/>
          </p:cNvSpPr>
          <p:nvPr/>
        </p:nvSpPr>
        <p:spPr>
          <a:xfrm xmlns:a="http://schemas.openxmlformats.org/drawingml/2006/main">
            <a:off x="6126480" y="5276088"/>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A5C64"/>
                </a:solidFill>
                <a:latin typeface="Cambria"/>
                <a:ea typeface="Cambria"/>
                <a:cs typeface="Cambria"/>
              </a:rPr>
              <a:t>≈ 7.4 patients</a:t>
            </a:r>
            <a:endParaRPr sz="1600"/>
          </a:p>
        </p:txBody>
      </p:sp>
      <p:sp>
        <p:nvSpPr>
          <p:cNvPr id="24" name="Text 21">
            <a:extLst xmlns:a="http://schemas.openxmlformats.org/drawingml/2006/main">
              <a:ext uri="{FF2B5EF4-FFF2-40B4-BE49-F238E27FC236}">
                <a16:creationId xmlns:a16="http://schemas.microsoft.com/office/drawing/2014/main" id="{F4CBA9B5-F1FC-49E5-AF6C-1AA3FEDFB443}"/>
              </a:ext>
            </a:extLst>
          </p:cNvPr>
          <p:cNvSpPr>
            <a:spLocks xmlns:a="http://schemas.openxmlformats.org/drawingml/2006/main" noGrp="1"/>
          </p:cNvSpPr>
          <p:nvPr/>
        </p:nvSpPr>
        <p:spPr>
          <a:xfrm xmlns:a="http://schemas.openxmlformats.org/drawingml/2006/main">
            <a:off x="8549640" y="5020056"/>
            <a:ext cx="30175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24313A"/>
                </a:solidFill>
                <a:latin typeface="Calibri"/>
                <a:ea typeface="Calibri"/>
                <a:cs typeface="Calibri"/>
              </a:rPr>
              <a:t>About 1 additional attendance per 7–8 SMS reminders</a:t>
            </a:r>
            <a:endParaRPr sz="1000"/>
          </a:p>
        </p:txBody>
      </p:sp>
      <p:sp>
        <p:nvSpPr>
          <p:cNvPr id="25" name="Shape 22">
            <a:extLst xmlns:a="http://schemas.openxmlformats.org/drawingml/2006/main">
              <a:ext uri="{FF2B5EF4-FFF2-40B4-BE49-F238E27FC236}">
                <a16:creationId xmlns:a16="http://schemas.microsoft.com/office/drawing/2014/main" id="{8CE82A55-7535-47B1-B55D-0B9EFDECEAC4}"/>
              </a:ext>
            </a:extLst>
          </p:cNvPr>
          <p:cNvSpPr>
            <a:spLocks xmlns:a="http://schemas.openxmlformats.org/drawingml/2006/main" noGrp="1"/>
          </p:cNvSpPr>
          <p:nvPr/>
        </p:nvSpPr>
        <p:spPr>
          <a:xfrm xmlns:a="http://schemas.openxmlformats.org/drawingml/2006/main">
            <a:off x="502920" y="5724144"/>
            <a:ext cx="11201400" cy="777240"/>
          </a:xfrm>
          <a:prstGeom xmlns:a="http://schemas.openxmlformats.org/drawingml/2006/main" prst="roundRect">
            <a:avLst>
              <a:gd name="adj" fmla="val 10588"/>
            </a:avLst>
          </a:prstGeom>
          <a:solidFill xmlns:a="http://schemas.openxmlformats.org/drawingml/2006/main">
            <a:srgbClr val="0B3140"/>
          </a:solidFill>
        </p:spPr>
      </p:sp>
      <p:sp>
        <p:nvSpPr>
          <p:cNvPr id="26" name="Text 23">
            <a:extLst xmlns:a="http://schemas.openxmlformats.org/drawingml/2006/main">
              <a:ext uri="{FF2B5EF4-FFF2-40B4-BE49-F238E27FC236}">
                <a16:creationId xmlns:a16="http://schemas.microsoft.com/office/drawing/2014/main" id="{385A2405-4016-422A-995A-9D17674CE75C}"/>
              </a:ext>
            </a:extLst>
          </p:cNvPr>
          <p:cNvSpPr>
            <a:spLocks xmlns:a="http://schemas.openxmlformats.org/drawingml/2006/main" noGrp="1"/>
          </p:cNvSpPr>
          <p:nvPr/>
        </p:nvSpPr>
        <p:spPr>
          <a:xfrm xmlns:a="http://schemas.openxmlformats.org/drawingml/2006/main">
            <a:off x="868680" y="5815584"/>
            <a:ext cx="1051560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2660A"/>
                </a:solidFill>
                <a:latin typeface="Calibri"/>
                <a:ea typeface="Calibri"/>
                <a:cs typeface="Calibri"/>
              </a:rPr>
              <a:t>Published counts: SMS 66/251 no-shows; control 100/251. Use risk difference for operational impact, RR/OR for comparison, and always name the outcome and contrast.</a:t>
            </a:r>
            <a:endParaRPr sz="1200"/>
          </a:p>
        </p:txBody>
      </p:sp>
    </p:spTree>
    <p:extLst>
      <p:ext uri="{BB962C8B-B14F-4D97-AF65-F5344CB8AC3E}">
        <p14:creationId xmlns:p14="http://schemas.microsoft.com/office/powerpoint/2010/main" val="1817677074"/>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B9EF8-CA0C-4E26-9AEE-4E39596E2D35}"/>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A8B5BFA5-713F-4886-AD5F-0211241CFE0B}"/>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46</a:t>
            </a:r>
            <a:endParaRPr sz="900"/>
          </a:p>
        </p:txBody>
      </p:sp>
      <p:sp>
        <p:nvSpPr>
          <p:cNvPr id="4" name="Shape 2">
            <a:extLst xmlns:a="http://schemas.openxmlformats.org/drawingml/2006/main">
              <a:ext uri="{FF2B5EF4-FFF2-40B4-BE49-F238E27FC236}">
                <a16:creationId xmlns:a16="http://schemas.microsoft.com/office/drawing/2014/main" id="{5A325F39-73D9-4E3C-B128-0F1D4501F120}"/>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1ECE3ED9-917D-48CC-8E2E-97ADED323C92}"/>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SAUDI RCT</a:t>
            </a:r>
            <a:endParaRPr sz="1050"/>
          </a:p>
        </p:txBody>
      </p:sp>
      <p:sp>
        <p:nvSpPr>
          <p:cNvPr id="6" name="Text 4">
            <a:extLst xmlns:a="http://schemas.openxmlformats.org/drawingml/2006/main">
              <a:ext uri="{FF2B5EF4-FFF2-40B4-BE49-F238E27FC236}">
                <a16:creationId xmlns:a16="http://schemas.microsoft.com/office/drawing/2014/main" id="{1E3232E0-0AF3-4F95-AE89-C885107D34EE}"/>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One result, three effect measures — correct, but not interchangeable</a:t>
            </a:r>
            <a:endParaRPr sz="2800"/>
          </a:p>
        </p:txBody>
      </p:sp>
      <p:sp>
        <p:nvSpPr>
          <p:cNvPr id="7" name="Text 5">
            <a:extLst xmlns:a="http://schemas.openxmlformats.org/drawingml/2006/main">
              <a:ext uri="{FF2B5EF4-FFF2-40B4-BE49-F238E27FC236}">
                <a16:creationId xmlns:a16="http://schemas.microsoft.com/office/drawing/2014/main" id="{82C9C9C5-32F6-4657-972B-9F26BFC2B7FB}"/>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Published counts: SMS 66/251 no-shows; no reminder 100/251</a:t>
            </a:r>
            <a:endParaRPr sz="1350"/>
          </a:p>
        </p:txBody>
      </p:sp>
      <p:sp>
        <p:nvSpPr>
          <p:cNvPr id="8" name="Shape 6">
            <a:extLst xmlns:a="http://schemas.openxmlformats.org/drawingml/2006/main">
              <a:ext uri="{FF2B5EF4-FFF2-40B4-BE49-F238E27FC236}">
                <a16:creationId xmlns:a16="http://schemas.microsoft.com/office/drawing/2014/main" id="{C0CA26E1-52B2-4B7E-9913-C24905E35BCB}"/>
              </a:ext>
            </a:extLst>
          </p:cNvPr>
          <p:cNvSpPr>
            <a:spLocks xmlns:a="http://schemas.openxmlformats.org/drawingml/2006/main" noGrp="1"/>
          </p:cNvSpPr>
          <p:nvPr/>
        </p:nvSpPr>
        <p:spPr>
          <a:xfrm xmlns:a="http://schemas.openxmlformats.org/drawingml/2006/main">
            <a:off x="502920" y="1837944"/>
            <a:ext cx="3685032" cy="2880360"/>
          </a:xfrm>
          <a:prstGeom xmlns:a="http://schemas.openxmlformats.org/drawingml/2006/main" prst="roundRect">
            <a:avLst>
              <a:gd name="adj" fmla="val 2857"/>
            </a:avLst>
          </a:prstGeom>
          <a:solidFill xmlns:a="http://schemas.openxmlformats.org/drawingml/2006/main">
            <a:srgbClr val="F3F8F9"/>
          </a:solidFill>
        </p:spPr>
      </p:sp>
      <p:sp>
        <p:nvSpPr>
          <p:cNvPr id="9" name="Shape 7">
            <a:extLst xmlns:a="http://schemas.openxmlformats.org/drawingml/2006/main">
              <a:ext uri="{FF2B5EF4-FFF2-40B4-BE49-F238E27FC236}">
                <a16:creationId xmlns:a16="http://schemas.microsoft.com/office/drawing/2014/main" id="{F6AFCAE2-09AE-4D06-98FA-78359641232E}"/>
              </a:ext>
            </a:extLst>
          </p:cNvPr>
          <p:cNvSpPr>
            <a:spLocks xmlns:a="http://schemas.openxmlformats.org/drawingml/2006/main" noGrp="1"/>
          </p:cNvSpPr>
          <p:nvPr/>
        </p:nvSpPr>
        <p:spPr>
          <a:xfrm xmlns:a="http://schemas.openxmlformats.org/drawingml/2006/main">
            <a:off x="704088" y="2020824"/>
            <a:ext cx="457200" cy="457200"/>
          </a:xfrm>
          <a:prstGeom xmlns:a="http://schemas.openxmlformats.org/drawingml/2006/main" prst="ellipse">
            <a:avLst/>
          </a:prstGeom>
          <a:solidFill xmlns:a="http://schemas.openxmlformats.org/drawingml/2006/main">
            <a:srgbClr val="0E7C86"/>
          </a:solidFill>
        </p:spPr>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409595cc23ea469f"/>
          <a:stretch xmlns:a="http://schemas.openxmlformats.org/drawingml/2006/main">
            <a:fillRect l="0" t="0" r="0" b="0"/>
          </a:stretch>
        </p:blipFill>
        <p:spPr>
          <a:xfrm xmlns:a="http://schemas.openxmlformats.org/drawingml/2006/main">
            <a:off x="822960" y="2139696"/>
            <a:ext cx="219456" cy="219456"/>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6FF52F2B-843D-4A04-BA3F-D14B73132BE4}"/>
              </a:ext>
            </a:extLst>
          </p:cNvPr>
          <p:cNvSpPr>
            <a:spLocks xmlns:a="http://schemas.openxmlformats.org/drawingml/2006/main" noGrp="1"/>
          </p:cNvSpPr>
          <p:nvPr/>
        </p:nvSpPr>
        <p:spPr>
          <a:xfrm xmlns:a="http://schemas.openxmlformats.org/drawingml/2006/main">
            <a:off x="1289304" y="2093976"/>
            <a:ext cx="2834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350" b="1">
                <a:solidFill>
                  <a:srgbClr val="0B3140"/>
                </a:solidFill>
                <a:latin typeface="Cambria"/>
                <a:ea typeface="Cambria"/>
                <a:cs typeface="Cambria"/>
              </a:rPr>
              <a:t>Difference in proportions</a:t>
            </a:r>
            <a:endParaRPr sz="1350"/>
          </a:p>
        </p:txBody>
      </p:sp>
      <p:sp>
        <p:nvSpPr>
          <p:cNvPr id="12" name="Text 9">
            <a:extLst xmlns:a="http://schemas.openxmlformats.org/drawingml/2006/main">
              <a:ext uri="{FF2B5EF4-FFF2-40B4-BE49-F238E27FC236}">
                <a16:creationId xmlns:a16="http://schemas.microsoft.com/office/drawing/2014/main" id="{77E48B3C-4631-43BC-A8A8-6D4B8CFA293E}"/>
              </a:ext>
            </a:extLst>
          </p:cNvPr>
          <p:cNvSpPr>
            <a:spLocks xmlns:a="http://schemas.openxmlformats.org/drawingml/2006/main" noGrp="1"/>
          </p:cNvSpPr>
          <p:nvPr/>
        </p:nvSpPr>
        <p:spPr>
          <a:xfrm xmlns:a="http://schemas.openxmlformats.org/drawingml/2006/main">
            <a:off x="722376" y="2706624"/>
            <a:ext cx="32918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A5C64"/>
                </a:solidFill>
                <a:latin typeface="Courier New"/>
                <a:ea typeface="Courier New"/>
                <a:cs typeface="Courier New"/>
              </a:rPr>
              <a:t>−13.5 pp; 95% CI −21.5 to −5.3</a:t>
            </a:r>
            <a:endParaRPr sz="1150"/>
          </a:p>
        </p:txBody>
      </p:sp>
      <p:sp>
        <p:nvSpPr>
          <p:cNvPr id="13" name="Text 10">
            <a:extLst xmlns:a="http://schemas.openxmlformats.org/drawingml/2006/main">
              <a:ext uri="{FF2B5EF4-FFF2-40B4-BE49-F238E27FC236}">
                <a16:creationId xmlns:a16="http://schemas.microsoft.com/office/drawing/2014/main" id="{9EA7571B-5A53-4918-AA30-36D2551D480D}"/>
              </a:ext>
            </a:extLst>
          </p:cNvPr>
          <p:cNvSpPr>
            <a:spLocks xmlns:a="http://schemas.openxmlformats.org/drawingml/2006/main" noGrp="1"/>
          </p:cNvSpPr>
          <p:nvPr/>
        </p:nvSpPr>
        <p:spPr>
          <a:xfrm xmlns:a="http://schemas.openxmlformats.org/drawingml/2006/main">
            <a:off x="722376" y="3163824"/>
            <a:ext cx="329184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80">
                <a:solidFill>
                  <a:srgbClr val="24313A"/>
                </a:solidFill>
                <a:latin typeface="Calibri"/>
                <a:ea typeface="Calibri"/>
                <a:cs typeface="Calibri"/>
              </a:rPr>
              <a:t>Absolute effect: the clearest bridge from evidence to clinic capacity and avoided missed visits.</a:t>
            </a:r>
            <a:endParaRPr sz="1080"/>
          </a:p>
        </p:txBody>
      </p:sp>
      <p:sp>
        <p:nvSpPr>
          <p:cNvPr id="14" name="Shape 11">
            <a:extLst xmlns:a="http://schemas.openxmlformats.org/drawingml/2006/main">
              <a:ext uri="{FF2B5EF4-FFF2-40B4-BE49-F238E27FC236}">
                <a16:creationId xmlns:a16="http://schemas.microsoft.com/office/drawing/2014/main" id="{B7D90EED-4210-4041-8415-EBB093521DB3}"/>
              </a:ext>
            </a:extLst>
          </p:cNvPr>
          <p:cNvSpPr>
            <a:spLocks xmlns:a="http://schemas.openxmlformats.org/drawingml/2006/main" noGrp="1"/>
          </p:cNvSpPr>
          <p:nvPr/>
        </p:nvSpPr>
        <p:spPr>
          <a:xfrm xmlns:a="http://schemas.openxmlformats.org/drawingml/2006/main">
            <a:off x="4325112" y="1837944"/>
            <a:ext cx="3685032" cy="2880360"/>
          </a:xfrm>
          <a:prstGeom xmlns:a="http://schemas.openxmlformats.org/drawingml/2006/main" prst="roundRect">
            <a:avLst>
              <a:gd name="adj" fmla="val 2857"/>
            </a:avLst>
          </a:prstGeom>
          <a:solidFill xmlns:a="http://schemas.openxmlformats.org/drawingml/2006/main">
            <a:srgbClr val="F3F8F9"/>
          </a:solidFill>
        </p:spPr>
      </p:sp>
      <p:sp>
        <p:nvSpPr>
          <p:cNvPr id="15" name="Shape 12">
            <a:extLst xmlns:a="http://schemas.openxmlformats.org/drawingml/2006/main">
              <a:ext uri="{FF2B5EF4-FFF2-40B4-BE49-F238E27FC236}">
                <a16:creationId xmlns:a16="http://schemas.microsoft.com/office/drawing/2014/main" id="{EAA3C5A4-F6D7-440A-9B39-CE7A7C791B87}"/>
              </a:ext>
            </a:extLst>
          </p:cNvPr>
          <p:cNvSpPr>
            <a:spLocks xmlns:a="http://schemas.openxmlformats.org/drawingml/2006/main" noGrp="1"/>
          </p:cNvSpPr>
          <p:nvPr/>
        </p:nvSpPr>
        <p:spPr>
          <a:xfrm xmlns:a="http://schemas.openxmlformats.org/drawingml/2006/main">
            <a:off x="4526280" y="2020824"/>
            <a:ext cx="457200" cy="457200"/>
          </a:xfrm>
          <a:prstGeom xmlns:a="http://schemas.openxmlformats.org/drawingml/2006/main" prst="ellipse">
            <a:avLst/>
          </a:prstGeom>
          <a:solidFill xmlns:a="http://schemas.openxmlformats.org/drawingml/2006/main">
            <a:srgbClr val="0E7C86"/>
          </a:solidFill>
        </p:spPr>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b82539fb38cd4528"/>
          <a:stretch xmlns:a="http://schemas.openxmlformats.org/drawingml/2006/main">
            <a:fillRect l="0" t="0" r="0" b="0"/>
          </a:stretch>
        </p:blipFill>
        <p:spPr>
          <a:xfrm xmlns:a="http://schemas.openxmlformats.org/drawingml/2006/main">
            <a:off x="4645152" y="2139696"/>
            <a:ext cx="219456" cy="219456"/>
          </a:xfrm>
          <a:prstGeom xmlns:a="http://schemas.openxmlformats.org/drawingml/2006/main" prst="rect">
            <a:avLst/>
          </a:prstGeom>
        </p:spPr>
      </p:pic>
      <p:sp>
        <p:nvSpPr>
          <p:cNvPr id="17" name="Text 13">
            <a:extLst xmlns:a="http://schemas.openxmlformats.org/drawingml/2006/main">
              <a:ext uri="{FF2B5EF4-FFF2-40B4-BE49-F238E27FC236}">
                <a16:creationId xmlns:a16="http://schemas.microsoft.com/office/drawing/2014/main" id="{A58DA1AD-C032-4683-B14B-E368F29A74AD}"/>
              </a:ext>
            </a:extLst>
          </p:cNvPr>
          <p:cNvSpPr>
            <a:spLocks xmlns:a="http://schemas.openxmlformats.org/drawingml/2006/main" noGrp="1"/>
          </p:cNvSpPr>
          <p:nvPr/>
        </p:nvSpPr>
        <p:spPr>
          <a:xfrm xmlns:a="http://schemas.openxmlformats.org/drawingml/2006/main">
            <a:off x="5111496" y="2093976"/>
            <a:ext cx="2834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350" b="1">
                <a:solidFill>
                  <a:srgbClr val="0B3140"/>
                </a:solidFill>
                <a:latin typeface="Cambria"/>
                <a:ea typeface="Cambria"/>
                <a:cs typeface="Cambria"/>
              </a:rPr>
              <a:t>Risk ratio</a:t>
            </a:r>
            <a:endParaRPr sz="1350"/>
          </a:p>
        </p:txBody>
      </p:sp>
      <p:sp>
        <p:nvSpPr>
          <p:cNvPr id="18" name="Text 14">
            <a:extLst xmlns:a="http://schemas.openxmlformats.org/drawingml/2006/main">
              <a:ext uri="{FF2B5EF4-FFF2-40B4-BE49-F238E27FC236}">
                <a16:creationId xmlns:a16="http://schemas.microsoft.com/office/drawing/2014/main" id="{23DF4AC0-3F6E-4839-A10B-B02C1B651661}"/>
              </a:ext>
            </a:extLst>
          </p:cNvPr>
          <p:cNvSpPr>
            <a:spLocks xmlns:a="http://schemas.openxmlformats.org/drawingml/2006/main" noGrp="1"/>
          </p:cNvSpPr>
          <p:nvPr/>
        </p:nvSpPr>
        <p:spPr>
          <a:xfrm xmlns:a="http://schemas.openxmlformats.org/drawingml/2006/main">
            <a:off x="4544568" y="2706624"/>
            <a:ext cx="32918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A5C64"/>
                </a:solidFill>
                <a:latin typeface="Courier New"/>
                <a:ea typeface="Courier New"/>
                <a:cs typeface="Courier New"/>
              </a:rPr>
              <a:t>RR = 0.66; 95% CI 0.51–0.85</a:t>
            </a:r>
            <a:endParaRPr sz="1150"/>
          </a:p>
        </p:txBody>
      </p:sp>
      <p:sp>
        <p:nvSpPr>
          <p:cNvPr id="19" name="Text 15">
            <a:extLst xmlns:a="http://schemas.openxmlformats.org/drawingml/2006/main">
              <a:ext uri="{FF2B5EF4-FFF2-40B4-BE49-F238E27FC236}">
                <a16:creationId xmlns:a16="http://schemas.microsoft.com/office/drawing/2014/main" id="{6E4E07EB-6741-4E7C-989C-2FD5832CD408}"/>
              </a:ext>
            </a:extLst>
          </p:cNvPr>
          <p:cNvSpPr>
            <a:spLocks xmlns:a="http://schemas.openxmlformats.org/drawingml/2006/main" noGrp="1"/>
          </p:cNvSpPr>
          <p:nvPr/>
        </p:nvSpPr>
        <p:spPr>
          <a:xfrm xmlns:a="http://schemas.openxmlformats.org/drawingml/2006/main">
            <a:off x="4544568" y="3163824"/>
            <a:ext cx="329184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80">
                <a:solidFill>
                  <a:srgbClr val="24313A"/>
                </a:solidFill>
                <a:latin typeface="Calibri"/>
                <a:ea typeface="Calibri"/>
                <a:cs typeface="Calibri"/>
              </a:rPr>
              <a:t>Relative effect: patients assigned SMS had about 34% lower risk of non-attendance.</a:t>
            </a:r>
            <a:endParaRPr sz="1080"/>
          </a:p>
        </p:txBody>
      </p:sp>
      <p:sp>
        <p:nvSpPr>
          <p:cNvPr id="20" name="Shape 16">
            <a:extLst xmlns:a="http://schemas.openxmlformats.org/drawingml/2006/main">
              <a:ext uri="{FF2B5EF4-FFF2-40B4-BE49-F238E27FC236}">
                <a16:creationId xmlns:a16="http://schemas.microsoft.com/office/drawing/2014/main" id="{7CD97925-76BB-4536-B3FF-8CE172971DA1}"/>
              </a:ext>
            </a:extLst>
          </p:cNvPr>
          <p:cNvSpPr>
            <a:spLocks xmlns:a="http://schemas.openxmlformats.org/drawingml/2006/main" noGrp="1"/>
          </p:cNvSpPr>
          <p:nvPr/>
        </p:nvSpPr>
        <p:spPr>
          <a:xfrm xmlns:a="http://schemas.openxmlformats.org/drawingml/2006/main">
            <a:off x="8147304" y="1837944"/>
            <a:ext cx="3685032" cy="2880360"/>
          </a:xfrm>
          <a:prstGeom xmlns:a="http://schemas.openxmlformats.org/drawingml/2006/main" prst="roundRect">
            <a:avLst>
              <a:gd name="adj" fmla="val 2857"/>
            </a:avLst>
          </a:prstGeom>
          <a:solidFill xmlns:a="http://schemas.openxmlformats.org/drawingml/2006/main">
            <a:srgbClr val="F3F8F9"/>
          </a:solidFill>
        </p:spPr>
      </p:sp>
      <p:sp>
        <p:nvSpPr>
          <p:cNvPr id="21" name="Shape 17">
            <a:extLst xmlns:a="http://schemas.openxmlformats.org/drawingml/2006/main">
              <a:ext uri="{FF2B5EF4-FFF2-40B4-BE49-F238E27FC236}">
                <a16:creationId xmlns:a16="http://schemas.microsoft.com/office/drawing/2014/main" id="{301DC40C-B2B3-4000-8467-36ABC91AE141}"/>
              </a:ext>
            </a:extLst>
          </p:cNvPr>
          <p:cNvSpPr>
            <a:spLocks xmlns:a="http://schemas.openxmlformats.org/drawingml/2006/main" noGrp="1"/>
          </p:cNvSpPr>
          <p:nvPr/>
        </p:nvSpPr>
        <p:spPr>
          <a:xfrm xmlns:a="http://schemas.openxmlformats.org/drawingml/2006/main">
            <a:off x="8348472" y="2020824"/>
            <a:ext cx="457200" cy="457200"/>
          </a:xfrm>
          <a:prstGeom xmlns:a="http://schemas.openxmlformats.org/drawingml/2006/main" prst="ellipse">
            <a:avLst/>
          </a:prstGeom>
          <a:solidFill xmlns:a="http://schemas.openxmlformats.org/drawingml/2006/main">
            <a:srgbClr val="0E7C86"/>
          </a:solidFill>
        </p:spPr>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c03f6ce8c9ed4d64"/>
          <a:stretch xmlns:a="http://schemas.openxmlformats.org/drawingml/2006/main">
            <a:fillRect l="0" t="0" r="0" b="0"/>
          </a:stretch>
        </p:blipFill>
        <p:spPr>
          <a:xfrm xmlns:a="http://schemas.openxmlformats.org/drawingml/2006/main">
            <a:off x="8467344" y="2139696"/>
            <a:ext cx="219456" cy="21945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1FDD6226-50CA-4A32-AB9E-A8AF1A3BEFC2}"/>
              </a:ext>
            </a:extLst>
          </p:cNvPr>
          <p:cNvSpPr>
            <a:spLocks xmlns:a="http://schemas.openxmlformats.org/drawingml/2006/main" noGrp="1"/>
          </p:cNvSpPr>
          <p:nvPr/>
        </p:nvSpPr>
        <p:spPr>
          <a:xfrm xmlns:a="http://schemas.openxmlformats.org/drawingml/2006/main">
            <a:off x="8933688" y="2093976"/>
            <a:ext cx="2834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350" b="1">
                <a:solidFill>
                  <a:srgbClr val="0B3140"/>
                </a:solidFill>
                <a:latin typeface="Cambria"/>
                <a:ea typeface="Cambria"/>
                <a:cs typeface="Cambria"/>
              </a:rPr>
              <a:t>Odds ratio</a:t>
            </a:r>
            <a:endParaRPr sz="1350"/>
          </a:p>
        </p:txBody>
      </p:sp>
      <p:sp>
        <p:nvSpPr>
          <p:cNvPr id="24" name="Text 19">
            <a:extLst xmlns:a="http://schemas.openxmlformats.org/drawingml/2006/main">
              <a:ext uri="{FF2B5EF4-FFF2-40B4-BE49-F238E27FC236}">
                <a16:creationId xmlns:a16="http://schemas.microsoft.com/office/drawing/2014/main" id="{F1D6FD52-139E-41FF-B85C-6DA60CA9E6DC}"/>
              </a:ext>
            </a:extLst>
          </p:cNvPr>
          <p:cNvSpPr>
            <a:spLocks xmlns:a="http://schemas.openxmlformats.org/drawingml/2006/main" noGrp="1"/>
          </p:cNvSpPr>
          <p:nvPr/>
        </p:nvSpPr>
        <p:spPr>
          <a:xfrm xmlns:a="http://schemas.openxmlformats.org/drawingml/2006/main">
            <a:off x="8366760" y="2706624"/>
            <a:ext cx="32918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A5C64"/>
                </a:solidFill>
                <a:latin typeface="Courier New"/>
                <a:ea typeface="Courier New"/>
                <a:cs typeface="Courier New"/>
              </a:rPr>
              <a:t>OR = 0.54; 95% CI 0.37–0.79</a:t>
            </a:r>
            <a:endParaRPr sz="1150"/>
          </a:p>
        </p:txBody>
      </p:sp>
      <p:sp>
        <p:nvSpPr>
          <p:cNvPr id="25" name="Text 20">
            <a:extLst xmlns:a="http://schemas.openxmlformats.org/drawingml/2006/main">
              <a:ext uri="{FF2B5EF4-FFF2-40B4-BE49-F238E27FC236}">
                <a16:creationId xmlns:a16="http://schemas.microsoft.com/office/drawing/2014/main" id="{37AC97AB-A941-40F5-B1E6-40A7A7D9508D}"/>
              </a:ext>
            </a:extLst>
          </p:cNvPr>
          <p:cNvSpPr>
            <a:spLocks xmlns:a="http://schemas.openxmlformats.org/drawingml/2006/main" noGrp="1"/>
          </p:cNvSpPr>
          <p:nvPr/>
        </p:nvSpPr>
        <p:spPr>
          <a:xfrm xmlns:a="http://schemas.openxmlformats.org/drawingml/2006/main">
            <a:off x="8366760" y="3163824"/>
            <a:ext cx="329184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80">
                <a:solidFill>
                  <a:srgbClr val="24313A"/>
                </a:solidFill>
                <a:latin typeface="Calibri"/>
                <a:ea typeface="Calibri"/>
                <a:cs typeface="Calibri"/>
              </a:rPr>
              <a:t>Regression-ready, but farther from probability. Because no-shows are common, OR and RR are meaningfully different.</a:t>
            </a:r>
            <a:endParaRPr sz="1080"/>
          </a:p>
        </p:txBody>
      </p:sp>
      <p:sp>
        <p:nvSpPr>
          <p:cNvPr id="26" name="Shape 21">
            <a:extLst xmlns:a="http://schemas.openxmlformats.org/drawingml/2006/main">
              <a:ext uri="{FF2B5EF4-FFF2-40B4-BE49-F238E27FC236}">
                <a16:creationId xmlns:a16="http://schemas.microsoft.com/office/drawing/2014/main" id="{CB305A61-870A-4727-A137-20A08B93A71E}"/>
              </a:ext>
            </a:extLst>
          </p:cNvPr>
          <p:cNvSpPr>
            <a:spLocks xmlns:a="http://schemas.openxmlformats.org/drawingml/2006/main" noGrp="1"/>
          </p:cNvSpPr>
          <p:nvPr/>
        </p:nvSpPr>
        <p:spPr>
          <a:xfrm xmlns:a="http://schemas.openxmlformats.org/drawingml/2006/main">
            <a:off x="502920" y="4946904"/>
            <a:ext cx="11201400" cy="1463040"/>
          </a:xfrm>
          <a:prstGeom xmlns:a="http://schemas.openxmlformats.org/drawingml/2006/main" prst="roundRect">
            <a:avLst>
              <a:gd name="adj" fmla="val 5625"/>
            </a:avLst>
          </a:prstGeom>
          <a:solidFill xmlns:a="http://schemas.openxmlformats.org/drawingml/2006/main">
            <a:srgbClr val="FBEEDD"/>
          </a:solidFill>
        </p:spPr>
      </p:sp>
      <p:sp>
        <p:nvSpPr>
          <p:cNvPr id="27" name="Shape 22">
            <a:extLst xmlns:a="http://schemas.openxmlformats.org/drawingml/2006/main">
              <a:ext uri="{FF2B5EF4-FFF2-40B4-BE49-F238E27FC236}">
                <a16:creationId xmlns:a16="http://schemas.microsoft.com/office/drawing/2014/main" id="{FFD8A391-F489-49F2-B0FD-7DA04A2E09DC}"/>
              </a:ext>
            </a:extLst>
          </p:cNvPr>
          <p:cNvSpPr>
            <a:spLocks xmlns:a="http://schemas.openxmlformats.org/drawingml/2006/main" noGrp="1"/>
          </p:cNvSpPr>
          <p:nvPr/>
        </p:nvSpPr>
        <p:spPr>
          <a:xfrm xmlns:a="http://schemas.openxmlformats.org/drawingml/2006/main">
            <a:off x="731520" y="5148072"/>
            <a:ext cx="420624" cy="420624"/>
          </a:xfrm>
          <a:prstGeom xmlns:a="http://schemas.openxmlformats.org/drawingml/2006/main" prst="ellipse">
            <a:avLst/>
          </a:prstGeom>
          <a:solidFill xmlns:a="http://schemas.openxmlformats.org/drawingml/2006/main">
            <a:srgbClr val="C2660A"/>
          </a:solidFill>
        </p:spPr>
      </p:sp>
      <p:pic>
        <p:nvPicPr>
          <p:cNvPr id="60" name="Image 3"/>
          <p:cNvPicPr>
            <a:picLocks xmlns:a="http://schemas.openxmlformats.org/drawingml/2006/main" noChangeAspect="1"/>
          </p:cNvPicPr>
          <p:nvPr/>
        </p:nvPicPr>
        <p:blipFill>
          <a:blip xmlns:r="http://schemas.openxmlformats.org/officeDocument/2006/relationships" xmlns:a="http://schemas.openxmlformats.org/drawingml/2006/main" r:embed="Rde5a1a3d4ae34586"/>
          <a:stretch xmlns:a="http://schemas.openxmlformats.org/drawingml/2006/main">
            <a:fillRect l="0" t="0" r="0" b="0"/>
          </a:stretch>
        </p:blipFill>
        <p:spPr>
          <a:xfrm xmlns:a="http://schemas.openxmlformats.org/drawingml/2006/main">
            <a:off x="840882" y="5257434"/>
            <a:ext cx="201900" cy="201900"/>
          </a:xfrm>
          <a:prstGeom xmlns:a="http://schemas.openxmlformats.org/drawingml/2006/main" prst="rect">
            <a:avLst/>
          </a:prstGeom>
        </p:spPr>
      </p:pic>
      <p:sp>
        <p:nvSpPr>
          <p:cNvPr id="29" name="Text 23">
            <a:extLst xmlns:a="http://schemas.openxmlformats.org/drawingml/2006/main">
              <a:ext uri="{FF2B5EF4-FFF2-40B4-BE49-F238E27FC236}">
                <a16:creationId xmlns:a16="http://schemas.microsoft.com/office/drawing/2014/main" id="{F8B34135-9C86-4BD3-A946-D8AA2BF70395}"/>
              </a:ext>
            </a:extLst>
          </p:cNvPr>
          <p:cNvSpPr>
            <a:spLocks xmlns:a="http://schemas.openxmlformats.org/drawingml/2006/main" noGrp="1"/>
          </p:cNvSpPr>
          <p:nvPr/>
        </p:nvSpPr>
        <p:spPr>
          <a:xfrm xmlns:a="http://schemas.openxmlformats.org/drawingml/2006/main">
            <a:off x="1298448" y="5111496"/>
            <a:ext cx="101498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180" b="1">
                <a:solidFill>
                  <a:srgbClr val="C2660A"/>
                </a:solidFill>
                <a:latin typeface="Calibri"/>
                <a:ea typeface="Calibri"/>
                <a:cs typeface="Calibri"/>
              </a:rPr>
              <a:t>Number needed to remind ≈ 7.4. Which effect would you put in a Ministry decision memo—and which would you retain for the methods appendix?</a:t>
            </a:r>
            <a:endParaRPr sz="1180"/>
          </a:p>
        </p:txBody>
      </p:sp>
    </p:spTree>
    <p:extLst>
      <p:ext uri="{BB962C8B-B14F-4D97-AF65-F5344CB8AC3E}">
        <p14:creationId xmlns:p14="http://schemas.microsoft.com/office/powerpoint/2010/main" val="1247984060"/>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27F7924-0629-49F8-929F-A32A8B523C0A}"/>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4E480CD3-248A-475E-815E-A9763D07B33B}"/>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47</a:t>
            </a:r>
            <a:endParaRPr sz="900"/>
          </a:p>
        </p:txBody>
      </p:sp>
      <p:sp>
        <p:nvSpPr>
          <p:cNvPr id="4" name="Shape 2">
            <a:extLst xmlns:a="http://schemas.openxmlformats.org/drawingml/2006/main">
              <a:ext uri="{FF2B5EF4-FFF2-40B4-BE49-F238E27FC236}">
                <a16:creationId xmlns:a16="http://schemas.microsoft.com/office/drawing/2014/main" id="{D23272C0-544E-4FBA-BDBC-B644BFC67B5B}"/>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oundRect">
            <a:avLst>
              <a:gd name="adj" fmla="val 50000"/>
            </a:avLst>
          </a:prstGeom>
          <a:solidFill xmlns:a="http://schemas.openxmlformats.org/drawingml/2006/main">
            <a:srgbClr val="C2660A"/>
          </a:solidFill>
        </p:spPr>
      </p:sp>
      <p:sp>
        <p:nvSpPr>
          <p:cNvPr id="5" name="Text 3">
            <a:extLst xmlns:a="http://schemas.openxmlformats.org/drawingml/2006/main">
              <a:ext uri="{FF2B5EF4-FFF2-40B4-BE49-F238E27FC236}">
                <a16:creationId xmlns:a16="http://schemas.microsoft.com/office/drawing/2014/main" id="{F661C532-DC86-4F9F-B1E2-19E5BEBD7399}"/>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SAUDI CASE · 20 MIN</a:t>
            </a:r>
            <a:endParaRPr sz="1050"/>
          </a:p>
        </p:txBody>
      </p:sp>
      <p:sp>
        <p:nvSpPr>
          <p:cNvPr id="6" name="Text 4">
            <a:extLst xmlns:a="http://schemas.openxmlformats.org/drawingml/2006/main">
              <a:ext uri="{FF2B5EF4-FFF2-40B4-BE49-F238E27FC236}">
                <a16:creationId xmlns:a16="http://schemas.microsoft.com/office/drawing/2014/main" id="{658757B2-0F1E-46C5-9725-53D85E1A7D91}"/>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Saudi case sprint — estimate, test, and explain</a:t>
            </a:r>
            <a:endParaRPr sz="2800"/>
          </a:p>
        </p:txBody>
      </p:sp>
      <p:sp>
        <p:nvSpPr>
          <p:cNvPr id="7" name="Text 5">
            <a:extLst xmlns:a="http://schemas.openxmlformats.org/drawingml/2006/main">
              <a:ext uri="{FF2B5EF4-FFF2-40B4-BE49-F238E27FC236}">
                <a16:creationId xmlns:a16="http://schemas.microsoft.com/office/drawing/2014/main" id="{C25E32D1-B6A2-4704-951F-5B65B45A58A9}"/>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~20 minutes · groups of 3 · enrichment_pack/data/saudi_sms_rct_aggregate.csv · no coding required</a:t>
            </a:r>
            <a:endParaRPr sz="1350"/>
          </a:p>
        </p:txBody>
      </p:sp>
      <p:sp>
        <p:nvSpPr>
          <p:cNvPr id="8" name="Shape 6">
            <a:extLst xmlns:a="http://schemas.openxmlformats.org/drawingml/2006/main">
              <a:ext uri="{FF2B5EF4-FFF2-40B4-BE49-F238E27FC236}">
                <a16:creationId xmlns:a16="http://schemas.microsoft.com/office/drawing/2014/main" id="{4199A83C-3F53-4704-9891-843DB345324E}"/>
              </a:ext>
            </a:extLst>
          </p:cNvPr>
          <p:cNvSpPr>
            <a:spLocks xmlns:a="http://schemas.openxmlformats.org/drawingml/2006/main" noGrp="1"/>
          </p:cNvSpPr>
          <p:nvPr/>
        </p:nvSpPr>
        <p:spPr>
          <a:xfrm xmlns:a="http://schemas.openxmlformats.org/drawingml/2006/main">
            <a:off x="502920" y="1792224"/>
            <a:ext cx="6858000" cy="4709160"/>
          </a:xfrm>
          <a:prstGeom xmlns:a="http://schemas.openxmlformats.org/drawingml/2006/main" prst="roundRect">
            <a:avLst>
              <a:gd name="adj" fmla="val 1748"/>
            </a:avLst>
          </a:prstGeom>
          <a:solidFill xmlns:a="http://schemas.openxmlformats.org/drawingml/2006/main">
            <a:srgbClr val="FFFFFF"/>
          </a:solidFill>
          <a:ln xmlns:a="http://schemas.openxmlformats.org/drawingml/2006/main" w="12700">
            <a:solidFill>
              <a:srgbClr val="D6E2E4"/>
            </a:solidFill>
            <a:prstDash val="solid"/>
          </a:ln>
        </p:spPr>
      </p:sp>
      <p:sp>
        <p:nvSpPr>
          <p:cNvPr id="9" name="Text 7">
            <a:extLst xmlns:a="http://schemas.openxmlformats.org/drawingml/2006/main">
              <a:ext uri="{FF2B5EF4-FFF2-40B4-BE49-F238E27FC236}">
                <a16:creationId xmlns:a16="http://schemas.microsoft.com/office/drawing/2014/main" id="{7CC40B2A-0840-40A5-85FE-7143A6691DD5}"/>
              </a:ext>
            </a:extLst>
          </p:cNvPr>
          <p:cNvSpPr>
            <a:spLocks xmlns:a="http://schemas.openxmlformats.org/drawingml/2006/main" noGrp="1"/>
          </p:cNvSpPr>
          <p:nvPr/>
        </p:nvSpPr>
        <p:spPr>
          <a:xfrm xmlns:a="http://schemas.openxmlformats.org/drawingml/2006/main">
            <a:off x="822960" y="1975104"/>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B3140"/>
                </a:solidFill>
                <a:latin typeface="Cambria"/>
                <a:ea typeface="Cambria"/>
                <a:cs typeface="Cambria"/>
              </a:rPr>
              <a:t>Tasks</a:t>
            </a:r>
            <a:endParaRPr sz="1400"/>
          </a:p>
        </p:txBody>
      </p:sp>
      <p:sp>
        <p:nvSpPr>
          <p:cNvPr id="10" name="Text 8">
            <a:extLst xmlns:a="http://schemas.openxmlformats.org/drawingml/2006/main">
              <a:ext uri="{FF2B5EF4-FFF2-40B4-BE49-F238E27FC236}">
                <a16:creationId xmlns:a16="http://schemas.microsoft.com/office/drawing/2014/main" id="{3D272E03-CCBD-479A-B2F0-E853B6456874}"/>
              </a:ext>
            </a:extLst>
          </p:cNvPr>
          <p:cNvSpPr>
            <a:spLocks xmlns:a="http://schemas.openxmlformats.org/drawingml/2006/main" noGrp="1"/>
          </p:cNvSpPr>
          <p:nvPr/>
        </p:nvSpPr>
        <p:spPr>
          <a:xfrm xmlns:a="http://schemas.openxmlformats.org/drawingml/2006/main">
            <a:off x="822960" y="2386584"/>
            <a:ext cx="6309360"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(3’) Rebuild the 2×2 table: 66/251 vs 100/251</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(3’) State H₀ and H₁ before computing</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(5’) Risk difference + 95% CI + z test</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(4’) RR, OR, and number needed to remind</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(3’) One causal sentence; justify randomization</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(2’) Name one external-validity limit</a:t>
            </a:r>
            <a:endParaRPr sz="1150"/>
          </a:p>
        </p:txBody>
      </p:sp>
      <p:sp>
        <p:nvSpPr>
          <p:cNvPr id="11" name="Shape 9">
            <a:extLst xmlns:a="http://schemas.openxmlformats.org/drawingml/2006/main">
              <a:ext uri="{FF2B5EF4-FFF2-40B4-BE49-F238E27FC236}">
                <a16:creationId xmlns:a16="http://schemas.microsoft.com/office/drawing/2014/main" id="{DD80D47F-5ED1-4545-8A7B-21D1CD9046FA}"/>
              </a:ext>
            </a:extLst>
          </p:cNvPr>
          <p:cNvSpPr>
            <a:spLocks xmlns:a="http://schemas.openxmlformats.org/drawingml/2006/main" noGrp="1"/>
          </p:cNvSpPr>
          <p:nvPr/>
        </p:nvSpPr>
        <p:spPr>
          <a:xfrm xmlns:a="http://schemas.openxmlformats.org/drawingml/2006/main">
            <a:off x="7635240" y="1792224"/>
            <a:ext cx="4023360" cy="4709160"/>
          </a:xfrm>
          <a:prstGeom xmlns:a="http://schemas.openxmlformats.org/drawingml/2006/main" prst="roundRect">
            <a:avLst>
              <a:gd name="adj" fmla="val 2045"/>
            </a:avLst>
          </a:prstGeom>
          <a:solidFill xmlns:a="http://schemas.openxmlformats.org/drawingml/2006/main">
            <a:srgbClr val="E7F2F3"/>
          </a:solidFill>
        </p:spPr>
      </p:sp>
      <p:sp>
        <p:nvSpPr>
          <p:cNvPr id="12" name="Text 10">
            <a:extLst xmlns:a="http://schemas.openxmlformats.org/drawingml/2006/main">
              <a:ext uri="{FF2B5EF4-FFF2-40B4-BE49-F238E27FC236}">
                <a16:creationId xmlns:a16="http://schemas.microsoft.com/office/drawing/2014/main" id="{41AD4521-DA85-4079-A85B-02F1B1AD383D}"/>
              </a:ext>
            </a:extLst>
          </p:cNvPr>
          <p:cNvSpPr>
            <a:spLocks xmlns:a="http://schemas.openxmlformats.org/drawingml/2006/main" noGrp="1"/>
          </p:cNvSpPr>
          <p:nvPr/>
        </p:nvSpPr>
        <p:spPr>
          <a:xfrm xmlns:a="http://schemas.openxmlformats.org/drawingml/2006/main">
            <a:off x="7955280" y="1975104"/>
            <a:ext cx="3474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A5C64"/>
                </a:solidFill>
                <a:latin typeface="Cambria"/>
                <a:ea typeface="Cambria"/>
                <a:cs typeface="Cambria"/>
              </a:rPr>
              <a:t>Checkpoint outputs</a:t>
            </a:r>
            <a:endParaRPr sz="1400"/>
          </a:p>
        </p:txBody>
      </p:sp>
      <p:sp>
        <p:nvSpPr>
          <p:cNvPr id="13" name="Text 11">
            <a:extLst xmlns:a="http://schemas.openxmlformats.org/drawingml/2006/main">
              <a:ext uri="{FF2B5EF4-FFF2-40B4-BE49-F238E27FC236}">
                <a16:creationId xmlns:a16="http://schemas.microsoft.com/office/drawing/2014/main" id="{74BF7942-6654-41D3-86CB-96181ACF7353}"/>
              </a:ext>
            </a:extLst>
          </p:cNvPr>
          <p:cNvSpPr>
            <a:spLocks xmlns:a="http://schemas.openxmlformats.org/drawingml/2006/main" noGrp="1"/>
          </p:cNvSpPr>
          <p:nvPr/>
        </p:nvSpPr>
        <p:spPr>
          <a:xfrm xmlns:a="http://schemas.openxmlformats.org/drawingml/2006/main">
            <a:off x="7955280" y="2386584"/>
            <a:ext cx="3429000"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700"/>
              </a:spcAft>
              <a:buSzPct val="100000"/>
              <a:buChar char="•"/>
            </a:pPr>
            <a:r>
              <a:rPr sz="1150" b="1">
                <a:solidFill>
                  <a:srgbClr val="24313A"/>
                </a:solidFill>
                <a:latin typeface="Calibri"/>
                <a:ea typeface="Calibri"/>
                <a:cs typeface="Calibri"/>
              </a:rPr>
              <a:t>26.3% vs 39.8%</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Difference −13.5 pp; 95% CI [−21.5, −5.3]</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z≈−3.23, p≈0.0013</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RR 0.66; crude OR 0.54; NNR≈7</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Claim scoped to eligible patients and this clinic</a:t>
            </a:r>
            <a:endParaRPr sz="1150"/>
          </a:p>
        </p:txBody>
      </p:sp>
    </p:spTree>
    <p:extLst>
      <p:ext uri="{BB962C8B-B14F-4D97-AF65-F5344CB8AC3E}">
        <p14:creationId xmlns:p14="http://schemas.microsoft.com/office/powerpoint/2010/main" val="155933337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2D50A8F-0194-4F84-B425-068BEEA058F8}"/>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90C38967-1384-46BB-9343-BF14F41577F4}"/>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48</a:t>
            </a:r>
            <a:endParaRPr sz="900"/>
          </a:p>
        </p:txBody>
      </p:sp>
      <p:sp>
        <p:nvSpPr>
          <p:cNvPr id="4" name="Shape 2">
            <a:extLst xmlns:a="http://schemas.openxmlformats.org/drawingml/2006/main">
              <a:ext uri="{FF2B5EF4-FFF2-40B4-BE49-F238E27FC236}">
                <a16:creationId xmlns:a16="http://schemas.microsoft.com/office/drawing/2014/main" id="{0BCD090E-86DC-45E8-8290-C578828EA6C0}"/>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DB6F952D-3DFE-4B01-B597-1B2E7922B3B6}"/>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M5 · RCT</a:t>
            </a:r>
            <a:endParaRPr sz="1050"/>
          </a:p>
        </p:txBody>
      </p:sp>
      <p:sp>
        <p:nvSpPr>
          <p:cNvPr id="6" name="Text 4">
            <a:extLst xmlns:a="http://schemas.openxmlformats.org/drawingml/2006/main">
              <a:ext uri="{FF2B5EF4-FFF2-40B4-BE49-F238E27FC236}">
                <a16:creationId xmlns:a16="http://schemas.microsoft.com/office/drawing/2014/main" id="{2BEBD595-BB79-4F8E-A7E4-9251B01FDE48}"/>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Randomization changes the sentence you are allowed to say</a:t>
            </a:r>
            <a:endParaRPr sz="2800"/>
          </a:p>
        </p:txBody>
      </p:sp>
      <p:sp>
        <p:nvSpPr>
          <p:cNvPr id="7" name="Text 5">
            <a:extLst xmlns:a="http://schemas.openxmlformats.org/drawingml/2006/main">
              <a:ext uri="{FF2B5EF4-FFF2-40B4-BE49-F238E27FC236}">
                <a16:creationId xmlns:a16="http://schemas.microsoft.com/office/drawing/2014/main" id="{411C620C-86B9-43F5-8386-178D4822F862}"/>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The design—not the p-value—does the causal work</a:t>
            </a:r>
            <a:endParaRPr sz="1350"/>
          </a:p>
        </p:txBody>
      </p:sp>
      <p:sp>
        <p:nvSpPr>
          <p:cNvPr id="8" name="Shape 6">
            <a:extLst xmlns:a="http://schemas.openxmlformats.org/drawingml/2006/main">
              <a:ext uri="{FF2B5EF4-FFF2-40B4-BE49-F238E27FC236}">
                <a16:creationId xmlns:a16="http://schemas.microsoft.com/office/drawing/2014/main" id="{8AC751B6-F85A-4F62-A003-27716F06BC50}"/>
              </a:ext>
            </a:extLst>
          </p:cNvPr>
          <p:cNvSpPr>
            <a:spLocks xmlns:a="http://schemas.openxmlformats.org/drawingml/2006/main" noGrp="1"/>
          </p:cNvSpPr>
          <p:nvPr/>
        </p:nvSpPr>
        <p:spPr>
          <a:xfrm xmlns:a="http://schemas.openxmlformats.org/drawingml/2006/main">
            <a:off x="502920" y="1819656"/>
            <a:ext cx="5532120" cy="1463040"/>
          </a:xfrm>
          <a:prstGeom xmlns:a="http://schemas.openxmlformats.org/drawingml/2006/main" prst="roundRect">
            <a:avLst>
              <a:gd name="adj" fmla="val 5625"/>
            </a:avLst>
          </a:prstGeom>
          <a:solidFill xmlns:a="http://schemas.openxmlformats.org/drawingml/2006/main">
            <a:srgbClr val="E7F2F3"/>
          </a:solidFill>
        </p:spPr>
      </p:sp>
      <p:sp>
        <p:nvSpPr>
          <p:cNvPr id="9" name="Shape 7">
            <a:extLst xmlns:a="http://schemas.openxmlformats.org/drawingml/2006/main">
              <a:ext uri="{FF2B5EF4-FFF2-40B4-BE49-F238E27FC236}">
                <a16:creationId xmlns:a16="http://schemas.microsoft.com/office/drawing/2014/main" id="{A702BA89-5033-4A7B-99E9-67A8836DCD32}"/>
              </a:ext>
            </a:extLst>
          </p:cNvPr>
          <p:cNvSpPr>
            <a:spLocks xmlns:a="http://schemas.openxmlformats.org/drawingml/2006/main" noGrp="1"/>
          </p:cNvSpPr>
          <p:nvPr/>
        </p:nvSpPr>
        <p:spPr>
          <a:xfrm xmlns:a="http://schemas.openxmlformats.org/drawingml/2006/main">
            <a:off x="704088" y="2002536"/>
            <a:ext cx="420624" cy="420624"/>
          </a:xfrm>
          <a:prstGeom xmlns:a="http://schemas.openxmlformats.org/drawingml/2006/main" prst="ellipse">
            <a:avLst/>
          </a:prstGeom>
          <a:solidFill xmlns:a="http://schemas.openxmlformats.org/drawingml/2006/main">
            <a:srgbClr val="0A5C64"/>
          </a:solidFill>
        </p:spPr>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1f2d12a7dc4f44a9"/>
          <a:stretch xmlns:a="http://schemas.openxmlformats.org/drawingml/2006/main">
            <a:fillRect l="0" t="0" r="0" b="0"/>
          </a:stretch>
        </p:blipFill>
        <p:spPr>
          <a:xfrm xmlns:a="http://schemas.openxmlformats.org/drawingml/2006/main">
            <a:off x="813450" y="2111898"/>
            <a:ext cx="201900" cy="201900"/>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46BAB54C-D816-4B00-8A63-BB0509EBBF55}"/>
              </a:ext>
            </a:extLst>
          </p:cNvPr>
          <p:cNvSpPr>
            <a:spLocks xmlns:a="http://schemas.openxmlformats.org/drawingml/2006/main" noGrp="1"/>
          </p:cNvSpPr>
          <p:nvPr/>
        </p:nvSpPr>
        <p:spPr>
          <a:xfrm xmlns:a="http://schemas.openxmlformats.org/drawingml/2006/main">
            <a:off x="1252728" y="2020824"/>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Assignment precedes the outcome</a:t>
            </a:r>
            <a:endParaRPr sz="1350"/>
          </a:p>
        </p:txBody>
      </p:sp>
      <p:sp>
        <p:nvSpPr>
          <p:cNvPr id="12" name="Text 9">
            <a:extLst xmlns:a="http://schemas.openxmlformats.org/drawingml/2006/main">
              <a:ext uri="{FF2B5EF4-FFF2-40B4-BE49-F238E27FC236}">
                <a16:creationId xmlns:a16="http://schemas.microsoft.com/office/drawing/2014/main" id="{F1DAFEC5-8C0C-4456-A5E7-AABE9122331F}"/>
              </a:ext>
            </a:extLst>
          </p:cNvPr>
          <p:cNvSpPr>
            <a:spLocks xmlns:a="http://schemas.openxmlformats.org/drawingml/2006/main" noGrp="1"/>
          </p:cNvSpPr>
          <p:nvPr/>
        </p:nvSpPr>
        <p:spPr>
          <a:xfrm xmlns:a="http://schemas.openxmlformats.org/drawingml/2006/main">
            <a:off x="777240" y="2386584"/>
            <a:ext cx="5029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80">
                <a:solidFill>
                  <a:srgbClr val="24313A"/>
                </a:solidFill>
                <a:latin typeface="Calibri"/>
                <a:ea typeface="Calibri"/>
                <a:cs typeface="Calibri"/>
              </a:rPr>
              <a:t>SMS allocation occurred before the appointment outcome, blocking reverse causation.</a:t>
            </a:r>
            <a:endParaRPr sz="1080"/>
          </a:p>
        </p:txBody>
      </p:sp>
      <p:sp>
        <p:nvSpPr>
          <p:cNvPr id="13" name="Shape 10">
            <a:extLst xmlns:a="http://schemas.openxmlformats.org/drawingml/2006/main">
              <a:ext uri="{FF2B5EF4-FFF2-40B4-BE49-F238E27FC236}">
                <a16:creationId xmlns:a16="http://schemas.microsoft.com/office/drawing/2014/main" id="{A18BF775-0C4D-4855-BA50-8EB6D624EC7E}"/>
              </a:ext>
            </a:extLst>
          </p:cNvPr>
          <p:cNvSpPr>
            <a:spLocks xmlns:a="http://schemas.openxmlformats.org/drawingml/2006/main" noGrp="1"/>
          </p:cNvSpPr>
          <p:nvPr/>
        </p:nvSpPr>
        <p:spPr>
          <a:xfrm xmlns:a="http://schemas.openxmlformats.org/drawingml/2006/main">
            <a:off x="6172200" y="1819656"/>
            <a:ext cx="5532120" cy="1463040"/>
          </a:xfrm>
          <a:prstGeom xmlns:a="http://schemas.openxmlformats.org/drawingml/2006/main" prst="roundRect">
            <a:avLst>
              <a:gd name="adj" fmla="val 5625"/>
            </a:avLst>
          </a:prstGeom>
          <a:solidFill xmlns:a="http://schemas.openxmlformats.org/drawingml/2006/main">
            <a:srgbClr val="F3F8F9"/>
          </a:solidFill>
        </p:spPr>
      </p:sp>
      <p:sp>
        <p:nvSpPr>
          <p:cNvPr id="14" name="Shape 11">
            <a:extLst xmlns:a="http://schemas.openxmlformats.org/drawingml/2006/main">
              <a:ext uri="{FF2B5EF4-FFF2-40B4-BE49-F238E27FC236}">
                <a16:creationId xmlns:a16="http://schemas.microsoft.com/office/drawing/2014/main" id="{6BE1D7DC-FF3A-463B-BE89-4B9F345C1444}"/>
              </a:ext>
            </a:extLst>
          </p:cNvPr>
          <p:cNvSpPr>
            <a:spLocks xmlns:a="http://schemas.openxmlformats.org/drawingml/2006/main" noGrp="1"/>
          </p:cNvSpPr>
          <p:nvPr/>
        </p:nvSpPr>
        <p:spPr>
          <a:xfrm xmlns:a="http://schemas.openxmlformats.org/drawingml/2006/main">
            <a:off x="6373368" y="2002536"/>
            <a:ext cx="420624" cy="420624"/>
          </a:xfrm>
          <a:prstGeom xmlns:a="http://schemas.openxmlformats.org/drawingml/2006/main" prst="ellipse">
            <a:avLst/>
          </a:prstGeom>
          <a:solidFill xmlns:a="http://schemas.openxmlformats.org/drawingml/2006/main">
            <a:srgbClr val="0B3140"/>
          </a:solidFill>
        </p:spPr>
      </p:sp>
      <p:pic>
        <p:nvPicPr>
          <p:cNvPr id="47" name="Image 1"/>
          <p:cNvPicPr>
            <a:picLocks xmlns:a="http://schemas.openxmlformats.org/drawingml/2006/main" noChangeAspect="1"/>
          </p:cNvPicPr>
          <p:nvPr/>
        </p:nvPicPr>
        <p:blipFill>
          <a:blip xmlns:r="http://schemas.openxmlformats.org/officeDocument/2006/relationships" xmlns:a="http://schemas.openxmlformats.org/drawingml/2006/main" r:embed="Rc377a5f83eff4b3b"/>
          <a:stretch xmlns:a="http://schemas.openxmlformats.org/drawingml/2006/main">
            <a:fillRect l="0" t="0" r="0" b="0"/>
          </a:stretch>
        </p:blipFill>
        <p:spPr>
          <a:xfrm xmlns:a="http://schemas.openxmlformats.org/drawingml/2006/main">
            <a:off x="6482730" y="2111898"/>
            <a:ext cx="201900" cy="201900"/>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FD2B9C43-6564-4740-8B82-0E0D2592F26D}"/>
              </a:ext>
            </a:extLst>
          </p:cNvPr>
          <p:cNvSpPr>
            <a:spLocks xmlns:a="http://schemas.openxmlformats.org/drawingml/2006/main" noGrp="1"/>
          </p:cNvSpPr>
          <p:nvPr/>
        </p:nvSpPr>
        <p:spPr>
          <a:xfrm xmlns:a="http://schemas.openxmlformats.org/drawingml/2006/main">
            <a:off x="6922008" y="2020824"/>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Confounders balance in expectation</a:t>
            </a:r>
            <a:endParaRPr sz="1350"/>
          </a:p>
        </p:txBody>
      </p:sp>
      <p:sp>
        <p:nvSpPr>
          <p:cNvPr id="17" name="Text 13">
            <a:extLst xmlns:a="http://schemas.openxmlformats.org/drawingml/2006/main">
              <a:ext uri="{FF2B5EF4-FFF2-40B4-BE49-F238E27FC236}">
                <a16:creationId xmlns:a16="http://schemas.microsoft.com/office/drawing/2014/main" id="{77EA65C8-45E6-48F3-AC27-55F8C7355529}"/>
              </a:ext>
            </a:extLst>
          </p:cNvPr>
          <p:cNvSpPr>
            <a:spLocks xmlns:a="http://schemas.openxmlformats.org/drawingml/2006/main" noGrp="1"/>
          </p:cNvSpPr>
          <p:nvPr/>
        </p:nvSpPr>
        <p:spPr>
          <a:xfrm xmlns:a="http://schemas.openxmlformats.org/drawingml/2006/main">
            <a:off x="6446520" y="2386584"/>
            <a:ext cx="5029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80">
                <a:solidFill>
                  <a:srgbClr val="24313A"/>
                </a:solidFill>
                <a:latin typeface="Calibri"/>
                <a:ea typeface="Calibri"/>
                <a:cs typeface="Calibri"/>
              </a:rPr>
              <a:t>Random assignment is independent of measured and unmeasured baseline characteristics, although chance imbalance can remain.</a:t>
            </a:r>
            <a:endParaRPr sz="1080"/>
          </a:p>
        </p:txBody>
      </p:sp>
      <p:sp>
        <p:nvSpPr>
          <p:cNvPr id="18" name="Shape 14">
            <a:extLst xmlns:a="http://schemas.openxmlformats.org/drawingml/2006/main">
              <a:ext uri="{FF2B5EF4-FFF2-40B4-BE49-F238E27FC236}">
                <a16:creationId xmlns:a16="http://schemas.microsoft.com/office/drawing/2014/main" id="{BE69F498-8A6F-4827-BCD9-9938DF0F068A}"/>
              </a:ext>
            </a:extLst>
          </p:cNvPr>
          <p:cNvSpPr>
            <a:spLocks xmlns:a="http://schemas.openxmlformats.org/drawingml/2006/main" noGrp="1"/>
          </p:cNvSpPr>
          <p:nvPr/>
        </p:nvSpPr>
        <p:spPr>
          <a:xfrm xmlns:a="http://schemas.openxmlformats.org/drawingml/2006/main">
            <a:off x="502920" y="3419856"/>
            <a:ext cx="5532120" cy="1463040"/>
          </a:xfrm>
          <a:prstGeom xmlns:a="http://schemas.openxmlformats.org/drawingml/2006/main" prst="roundRect">
            <a:avLst>
              <a:gd name="adj" fmla="val 5625"/>
            </a:avLst>
          </a:prstGeom>
          <a:solidFill xmlns:a="http://schemas.openxmlformats.org/drawingml/2006/main">
            <a:srgbClr val="FBEEDD"/>
          </a:solidFill>
        </p:spPr>
      </p:sp>
      <p:sp>
        <p:nvSpPr>
          <p:cNvPr id="19" name="Shape 15">
            <a:extLst xmlns:a="http://schemas.openxmlformats.org/drawingml/2006/main">
              <a:ext uri="{FF2B5EF4-FFF2-40B4-BE49-F238E27FC236}">
                <a16:creationId xmlns:a16="http://schemas.microsoft.com/office/drawing/2014/main" id="{67C99275-2EAE-4940-A2A2-BB547887A538}"/>
              </a:ext>
            </a:extLst>
          </p:cNvPr>
          <p:cNvSpPr>
            <a:spLocks xmlns:a="http://schemas.openxmlformats.org/drawingml/2006/main" noGrp="1"/>
          </p:cNvSpPr>
          <p:nvPr/>
        </p:nvSpPr>
        <p:spPr>
          <a:xfrm xmlns:a="http://schemas.openxmlformats.org/drawingml/2006/main">
            <a:off x="704088" y="3602736"/>
            <a:ext cx="420624" cy="420624"/>
          </a:xfrm>
          <a:prstGeom xmlns:a="http://schemas.openxmlformats.org/drawingml/2006/main" prst="ellipse">
            <a:avLst/>
          </a:prstGeom>
          <a:solidFill xmlns:a="http://schemas.openxmlformats.org/drawingml/2006/main">
            <a:srgbClr val="C2660A"/>
          </a:solidFill>
        </p:spPr>
      </p:sp>
      <p:pic>
        <p:nvPicPr>
          <p:cNvPr id="52" name="Image 2"/>
          <p:cNvPicPr>
            <a:picLocks xmlns:a="http://schemas.openxmlformats.org/drawingml/2006/main" noChangeAspect="1"/>
          </p:cNvPicPr>
          <p:nvPr/>
        </p:nvPicPr>
        <p:blipFill>
          <a:blip xmlns:r="http://schemas.openxmlformats.org/officeDocument/2006/relationships" xmlns:a="http://schemas.openxmlformats.org/drawingml/2006/main" r:embed="Rd900c9abed6d4cb6"/>
          <a:stretch xmlns:a="http://schemas.openxmlformats.org/drawingml/2006/main">
            <a:fillRect l="0" t="0" r="0" b="0"/>
          </a:stretch>
        </p:blipFill>
        <p:spPr>
          <a:xfrm xmlns:a="http://schemas.openxmlformats.org/drawingml/2006/main">
            <a:off x="813450" y="3712098"/>
            <a:ext cx="201900" cy="201900"/>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A1A285AF-03A3-4832-BB37-1024C1C832FC}"/>
              </a:ext>
            </a:extLst>
          </p:cNvPr>
          <p:cNvSpPr>
            <a:spLocks xmlns:a="http://schemas.openxmlformats.org/drawingml/2006/main" noGrp="1"/>
          </p:cNvSpPr>
          <p:nvPr/>
        </p:nvSpPr>
        <p:spPr>
          <a:xfrm xmlns:a="http://schemas.openxmlformats.org/drawingml/2006/main">
            <a:off x="1252728" y="3621024"/>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Estimate intention to treat</a:t>
            </a:r>
            <a:endParaRPr sz="1350"/>
          </a:p>
        </p:txBody>
      </p:sp>
      <p:sp>
        <p:nvSpPr>
          <p:cNvPr id="22" name="Text 17">
            <a:extLst xmlns:a="http://schemas.openxmlformats.org/drawingml/2006/main">
              <a:ext uri="{FF2B5EF4-FFF2-40B4-BE49-F238E27FC236}">
                <a16:creationId xmlns:a16="http://schemas.microsoft.com/office/drawing/2014/main" id="{85EA2ECE-17F9-4BA3-B847-A08C5D2A43C0}"/>
              </a:ext>
            </a:extLst>
          </p:cNvPr>
          <p:cNvSpPr>
            <a:spLocks xmlns:a="http://schemas.openxmlformats.org/drawingml/2006/main" noGrp="1"/>
          </p:cNvSpPr>
          <p:nvPr/>
        </p:nvSpPr>
        <p:spPr>
          <a:xfrm xmlns:a="http://schemas.openxmlformats.org/drawingml/2006/main">
            <a:off x="777240" y="3986784"/>
            <a:ext cx="5029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80">
                <a:solidFill>
                  <a:srgbClr val="24313A"/>
                </a:solidFill>
                <a:latin typeface="Calibri"/>
                <a:ea typeface="Calibri"/>
                <a:cs typeface="Calibri"/>
              </a:rPr>
              <a:t>Compare patients as allocated. Message delivery and adherence are implementation features, not reasons to break randomization.</a:t>
            </a:r>
            <a:endParaRPr sz="1080"/>
          </a:p>
        </p:txBody>
      </p:sp>
      <p:sp>
        <p:nvSpPr>
          <p:cNvPr id="23" name="Shape 18">
            <a:extLst xmlns:a="http://schemas.openxmlformats.org/drawingml/2006/main">
              <a:ext uri="{FF2B5EF4-FFF2-40B4-BE49-F238E27FC236}">
                <a16:creationId xmlns:a16="http://schemas.microsoft.com/office/drawing/2014/main" id="{E87552FA-FB38-407C-AA09-1EC2DE60D201}"/>
              </a:ext>
            </a:extLst>
          </p:cNvPr>
          <p:cNvSpPr>
            <a:spLocks xmlns:a="http://schemas.openxmlformats.org/drawingml/2006/main" noGrp="1"/>
          </p:cNvSpPr>
          <p:nvPr/>
        </p:nvSpPr>
        <p:spPr>
          <a:xfrm xmlns:a="http://schemas.openxmlformats.org/drawingml/2006/main">
            <a:off x="6172200" y="3419856"/>
            <a:ext cx="5532120" cy="1463040"/>
          </a:xfrm>
          <a:prstGeom xmlns:a="http://schemas.openxmlformats.org/drawingml/2006/main" prst="roundRect">
            <a:avLst>
              <a:gd name="adj" fmla="val 5625"/>
            </a:avLst>
          </a:prstGeom>
          <a:solidFill xmlns:a="http://schemas.openxmlformats.org/drawingml/2006/main">
            <a:srgbClr val="F3F8F9"/>
          </a:solidFill>
        </p:spPr>
      </p:sp>
      <p:sp>
        <p:nvSpPr>
          <p:cNvPr id="24" name="Shape 19">
            <a:extLst xmlns:a="http://schemas.openxmlformats.org/drawingml/2006/main">
              <a:ext uri="{FF2B5EF4-FFF2-40B4-BE49-F238E27FC236}">
                <a16:creationId xmlns:a16="http://schemas.microsoft.com/office/drawing/2014/main" id="{4464BE35-4BEB-4509-B4A2-F53F47E5E33D}"/>
              </a:ext>
            </a:extLst>
          </p:cNvPr>
          <p:cNvSpPr>
            <a:spLocks xmlns:a="http://schemas.openxmlformats.org/drawingml/2006/main" noGrp="1"/>
          </p:cNvSpPr>
          <p:nvPr/>
        </p:nvSpPr>
        <p:spPr>
          <a:xfrm xmlns:a="http://schemas.openxmlformats.org/drawingml/2006/main">
            <a:off x="6373368" y="3602736"/>
            <a:ext cx="420624" cy="420624"/>
          </a:xfrm>
          <a:prstGeom xmlns:a="http://schemas.openxmlformats.org/drawingml/2006/main" prst="ellipse">
            <a:avLst/>
          </a:prstGeom>
          <a:solidFill xmlns:a="http://schemas.openxmlformats.org/drawingml/2006/main">
            <a:srgbClr val="0B3140"/>
          </a:solidFill>
        </p:spPr>
      </p:sp>
      <p:pic>
        <p:nvPicPr>
          <p:cNvPr id="57" name="Image 3"/>
          <p:cNvPicPr>
            <a:picLocks xmlns:a="http://schemas.openxmlformats.org/drawingml/2006/main" noChangeAspect="1"/>
          </p:cNvPicPr>
          <p:nvPr/>
        </p:nvPicPr>
        <p:blipFill>
          <a:blip xmlns:r="http://schemas.openxmlformats.org/officeDocument/2006/relationships" xmlns:a="http://schemas.openxmlformats.org/drawingml/2006/main" r:embed="Rdd21af4d852249af"/>
          <a:stretch xmlns:a="http://schemas.openxmlformats.org/drawingml/2006/main">
            <a:fillRect l="0" t="0" r="0" b="0"/>
          </a:stretch>
        </p:blipFill>
        <p:spPr>
          <a:xfrm xmlns:a="http://schemas.openxmlformats.org/drawingml/2006/main">
            <a:off x="6482730" y="3712098"/>
            <a:ext cx="201900" cy="201900"/>
          </a:xfrm>
          <a:prstGeom xmlns:a="http://schemas.openxmlformats.org/drawingml/2006/main" prst="rect">
            <a:avLst/>
          </a:prstGeom>
        </p:spPr>
      </p:pic>
      <p:sp>
        <p:nvSpPr>
          <p:cNvPr id="26" name="Text 20">
            <a:extLst xmlns:a="http://schemas.openxmlformats.org/drawingml/2006/main">
              <a:ext uri="{FF2B5EF4-FFF2-40B4-BE49-F238E27FC236}">
                <a16:creationId xmlns:a16="http://schemas.microsoft.com/office/drawing/2014/main" id="{D94D1DA9-4D03-4D8C-96E4-F2672509086A}"/>
              </a:ext>
            </a:extLst>
          </p:cNvPr>
          <p:cNvSpPr>
            <a:spLocks xmlns:a="http://schemas.openxmlformats.org/drawingml/2006/main" noGrp="1"/>
          </p:cNvSpPr>
          <p:nvPr/>
        </p:nvSpPr>
        <p:spPr>
          <a:xfrm xmlns:a="http://schemas.openxmlformats.org/drawingml/2006/main">
            <a:off x="6922008" y="3621024"/>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Causality still has boundaries</a:t>
            </a:r>
            <a:endParaRPr sz="1350"/>
          </a:p>
        </p:txBody>
      </p:sp>
      <p:sp>
        <p:nvSpPr>
          <p:cNvPr id="27" name="Text 21">
            <a:extLst xmlns:a="http://schemas.openxmlformats.org/drawingml/2006/main">
              <a:ext uri="{FF2B5EF4-FFF2-40B4-BE49-F238E27FC236}">
                <a16:creationId xmlns:a16="http://schemas.microsoft.com/office/drawing/2014/main" id="{EC24E1C8-D59D-4654-9876-06F648083A3A}"/>
              </a:ext>
            </a:extLst>
          </p:cNvPr>
          <p:cNvSpPr>
            <a:spLocks xmlns:a="http://schemas.openxmlformats.org/drawingml/2006/main" noGrp="1"/>
          </p:cNvSpPr>
          <p:nvPr/>
        </p:nvSpPr>
        <p:spPr>
          <a:xfrm xmlns:a="http://schemas.openxmlformats.org/drawingml/2006/main">
            <a:off x="6446520" y="3986784"/>
            <a:ext cx="5029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80">
                <a:solidFill>
                  <a:srgbClr val="24313A"/>
                </a:solidFill>
                <a:latin typeface="Calibri"/>
                <a:ea typeface="Calibri"/>
                <a:cs typeface="Calibri"/>
              </a:rPr>
              <a:t>Single clinic, internal medicine, Arabic SMS, 2011: transportability and present-day implementation remain open questions.</a:t>
            </a:r>
            <a:endParaRPr sz="1080"/>
          </a:p>
        </p:txBody>
      </p:sp>
      <p:sp>
        <p:nvSpPr>
          <p:cNvPr id="28" name="Shape 22">
            <a:extLst xmlns:a="http://schemas.openxmlformats.org/drawingml/2006/main">
              <a:ext uri="{FF2B5EF4-FFF2-40B4-BE49-F238E27FC236}">
                <a16:creationId xmlns:a16="http://schemas.microsoft.com/office/drawing/2014/main" id="{862EDC81-484C-446F-BC25-D288C2C76279}"/>
              </a:ext>
            </a:extLst>
          </p:cNvPr>
          <p:cNvSpPr>
            <a:spLocks xmlns:a="http://schemas.openxmlformats.org/drawingml/2006/main" noGrp="1"/>
          </p:cNvSpPr>
          <p:nvPr/>
        </p:nvSpPr>
        <p:spPr>
          <a:xfrm xmlns:a="http://schemas.openxmlformats.org/drawingml/2006/main">
            <a:off x="502920" y="5056632"/>
            <a:ext cx="11201400" cy="1371600"/>
          </a:xfrm>
          <a:prstGeom xmlns:a="http://schemas.openxmlformats.org/drawingml/2006/main" prst="roundRect">
            <a:avLst>
              <a:gd name="adj" fmla="val 6000"/>
            </a:avLst>
          </a:prstGeom>
          <a:solidFill xmlns:a="http://schemas.openxmlformats.org/drawingml/2006/main">
            <a:srgbClr val="0B3140"/>
          </a:solidFill>
        </p:spPr>
      </p:sp>
      <p:sp>
        <p:nvSpPr>
          <p:cNvPr id="29" name="Text 23">
            <a:extLst xmlns:a="http://schemas.openxmlformats.org/drawingml/2006/main">
              <a:ext uri="{FF2B5EF4-FFF2-40B4-BE49-F238E27FC236}">
                <a16:creationId xmlns:a16="http://schemas.microsoft.com/office/drawing/2014/main" id="{147EFE08-9FD2-41AD-B713-485339EE0BED}"/>
              </a:ext>
            </a:extLst>
          </p:cNvPr>
          <p:cNvSpPr>
            <a:spLocks xmlns:a="http://schemas.openxmlformats.org/drawingml/2006/main" noGrp="1"/>
          </p:cNvSpPr>
          <p:nvPr/>
        </p:nvSpPr>
        <p:spPr>
          <a:xfrm xmlns:a="http://schemas.openxmlformats.org/drawingml/2006/main">
            <a:off x="868680" y="5239512"/>
            <a:ext cx="1042416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3000"/>
              </a:lnSpc>
              <a:buNone/>
            </a:pPr>
            <a:r>
              <a:rPr sz="1250" b="1">
                <a:solidFill>
                  <a:srgbClr val="6FB3BC"/>
                </a:solidFill>
                <a:latin typeface="Calibri"/>
                <a:ea typeface="Calibri"/>
                <a:cs typeface="Calibri"/>
              </a:rPr>
              <a:t>Defensible claim: for eligible patients at this clinic, assignment to an SMS reminder reduced non-attendance. A wider Saudi rollout still needs external-validity, cost, and delivery evidence.</a:t>
            </a:r>
            <a:endParaRPr sz="1250"/>
          </a:p>
        </p:txBody>
      </p:sp>
    </p:spTree>
    <p:extLst>
      <p:ext uri="{BB962C8B-B14F-4D97-AF65-F5344CB8AC3E}">
        <p14:creationId xmlns:p14="http://schemas.microsoft.com/office/powerpoint/2010/main" val="304264911"/>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0CA00C8-CA55-4E16-8B29-2398A6FB86B9}"/>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6CEFC9D3-CF4A-40C2-B7E7-F2ED6CE6FC49}"/>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49</a:t>
            </a:r>
            <a:endParaRPr sz="900"/>
          </a:p>
        </p:txBody>
      </p:sp>
      <p:sp>
        <p:nvSpPr>
          <p:cNvPr id="4" name="Shape 2">
            <a:extLst xmlns:a="http://schemas.openxmlformats.org/drawingml/2006/main">
              <a:ext uri="{FF2B5EF4-FFF2-40B4-BE49-F238E27FC236}">
                <a16:creationId xmlns:a16="http://schemas.microsoft.com/office/drawing/2014/main" id="{BC1189A3-D1A2-425D-A25E-180FBD278276}"/>
              </a:ext>
            </a:extLst>
          </p:cNvPr>
          <p:cNvSpPr>
            <a:spLocks xmlns:a="http://schemas.openxmlformats.org/drawingml/2006/main" noGrp="1"/>
          </p:cNvSpPr>
          <p:nvPr/>
        </p:nvSpPr>
        <p:spPr>
          <a:xfrm xmlns:a="http://schemas.openxmlformats.org/drawingml/2006/main">
            <a:off x="502920" y="384048"/>
            <a:ext cx="2777033"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F308D83F-8C55-4ECE-B82D-3B2041CF915D}"/>
              </a:ext>
            </a:extLst>
          </p:cNvPr>
          <p:cNvSpPr>
            <a:spLocks xmlns:a="http://schemas.openxmlformats.org/drawingml/2006/main" noGrp="1"/>
          </p:cNvSpPr>
          <p:nvPr/>
        </p:nvSpPr>
        <p:spPr>
          <a:xfrm xmlns:a="http://schemas.openxmlformats.org/drawingml/2006/main">
            <a:off x="502920" y="384048"/>
            <a:ext cx="2777033"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6 · SAUDI RCT</a:t>
            </a:r>
            <a:endParaRPr sz="1050"/>
          </a:p>
        </p:txBody>
      </p:sp>
      <p:sp>
        <p:nvSpPr>
          <p:cNvPr id="6" name="Text 4">
            <a:extLst xmlns:a="http://schemas.openxmlformats.org/drawingml/2006/main">
              <a:ext uri="{FF2B5EF4-FFF2-40B4-BE49-F238E27FC236}">
                <a16:creationId xmlns:a16="http://schemas.microsoft.com/office/drawing/2014/main" id="{34717C84-411D-45FA-BCBF-62E6E1F2875F}"/>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Adjusted and unadjusted estimates answer different questions</a:t>
            </a:r>
            <a:endParaRPr sz="2800"/>
          </a:p>
        </p:txBody>
      </p:sp>
      <p:sp>
        <p:nvSpPr>
          <p:cNvPr id="7" name="Text 5">
            <a:extLst xmlns:a="http://schemas.openxmlformats.org/drawingml/2006/main">
              <a:ext uri="{FF2B5EF4-FFF2-40B4-BE49-F238E27FC236}">
                <a16:creationId xmlns:a16="http://schemas.microsoft.com/office/drawing/2014/main" id="{2B671717-DA02-4807-AB42-09156357C3EF}"/>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Published model adjusts for age, sex, nationality, and visit type; report the outcome, contrast, OR, CI, and whether the estimate is crude or adjusted</a:t>
            </a:r>
            <a:endParaRPr sz="1350"/>
          </a:p>
        </p:txBody>
      </p:sp>
      <p:graphicFrame>
        <p:nvGraphicFramePr>
          <p:cNvPr id="25" name="Table 0"/>
          <p:cNvGraphicFramePr/>
          <p:nvPr/>
        </p:nvGraphicFramePr>
        <p:xfrm>
          <a:off xmlns:a="http://schemas.openxmlformats.org/drawingml/2006/main" x="502920" y="1837944"/>
          <a:ext xmlns:a="http://schemas.openxmlformats.org/drawingml/2006/main" cx="11201400" cy="914400"/>
        </p:xfrm>
        <a:graphic xmlns:a="http://schemas.openxmlformats.org/drawingml/2006/main">
          <a:graphicData uri="http://schemas.openxmlformats.org/drawingml/2006/table">
            <a:tbl>
              <a:tblPr/>
              <a:tblGrid>
                <a:gridCol w="2651760"/>
                <a:gridCol w="914400"/>
                <a:gridCol w="1737360"/>
                <a:gridCol w="5897880"/>
              </a:tblGrid>
              <a:tr h="530352">
                <a:tc>
                  <a:txBody>
                    <a:bodyPr/>
                    <a:lstStyle/>
                    <a:p>
                      <a:pPr marL="0" indent="0">
                        <a:buNone/>
                      </a:pPr>
                      <a:r>
                        <a:rPr sz="1130" b="1">
                          <a:solidFill>
                            <a:srgbClr val="FFFFFF"/>
                          </a:solidFill>
                          <a:latin typeface="Calibri"/>
                          <a:ea typeface="Calibri"/>
                          <a:cs typeface="Calibri"/>
                        </a:rPr>
                        <a:t>Estimate</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30" b="1">
                          <a:solidFill>
                            <a:srgbClr val="FFFFFF"/>
                          </a:solidFill>
                          <a:latin typeface="Calibri"/>
                          <a:ea typeface="Calibri"/>
                          <a:cs typeface="Calibri"/>
                        </a:rPr>
                        <a:t>OR / effect</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30" b="1">
                          <a:solidFill>
                            <a:srgbClr val="FFFFFF"/>
                          </a:solidFill>
                          <a:latin typeface="Calibri"/>
                          <a:ea typeface="Calibri"/>
                          <a:cs typeface="Calibri"/>
                        </a:rPr>
                        <a:t>95% CI</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30" b="1">
                          <a:solidFill>
                            <a:srgbClr val="FFFFFF"/>
                          </a:solidFill>
                          <a:latin typeface="Calibri"/>
                          <a:ea typeface="Calibri"/>
                          <a:cs typeface="Calibri"/>
                        </a:rPr>
                        <a:t>Reading</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r>
              <a:tr h="530352">
                <a:tc>
                  <a:txBody>
                    <a:bodyPr/>
                    <a:lstStyle/>
                    <a:p>
                      <a:pPr marL="0" indent="0">
                        <a:buNone/>
                      </a:pPr>
                      <a:r>
                        <a:rPr sz="1130" b="1">
                          <a:solidFill>
                            <a:srgbClr val="24313A"/>
                          </a:solidFill>
                          <a:latin typeface="Calibri"/>
                          <a:ea typeface="Calibri"/>
                          <a:cs typeface="Calibri"/>
                        </a:rPr>
                        <a:t>Crude risk difference</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b="1">
                          <a:solidFill>
                            <a:srgbClr val="0A5C64"/>
                          </a:solidFill>
                          <a:latin typeface="Calibri"/>
                          <a:ea typeface="Calibri"/>
                          <a:cs typeface="Calibri"/>
                        </a:rPr>
                        <a:t>−13.5 pp</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[−21.5, −5.3]</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Absolute randomized effect on non-attendance</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530352">
                <a:tc>
                  <a:txBody>
                    <a:bodyPr/>
                    <a:lstStyle/>
                    <a:p>
                      <a:pPr marL="0" indent="0">
                        <a:buNone/>
                      </a:pPr>
                      <a:r>
                        <a:rPr sz="1130">
                          <a:solidFill>
                            <a:srgbClr val="24313A"/>
                          </a:solidFill>
                          <a:latin typeface="Calibri"/>
                          <a:ea typeface="Calibri"/>
                          <a:cs typeface="Calibri"/>
                        </a:rPr>
                        <a:t>Crude odds ratio</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0.54</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[0.37, 0.79]</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SMS vs control odds of non-attendance</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530352">
                <a:tc>
                  <a:txBody>
                    <a:bodyPr/>
                    <a:lstStyle/>
                    <a:p>
                      <a:pPr marL="0" indent="0">
                        <a:buNone/>
                      </a:pPr>
                      <a:r>
                        <a:rPr sz="1130">
                          <a:solidFill>
                            <a:srgbClr val="24313A"/>
                          </a:solidFill>
                          <a:latin typeface="Calibri"/>
                          <a:ea typeface="Calibri"/>
                          <a:cs typeface="Calibri"/>
                        </a:rPr>
                        <a:t>Published adjusted SMS OR</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0.56</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[0.38, 0.82]</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SMS vs no SMS, adjusted for patient characteristics</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530352">
                <a:tc>
                  <a:txBody>
                    <a:bodyPr/>
                    <a:lstStyle/>
                    <a:p>
                      <a:pPr marL="0" indent="0">
                        <a:buNone/>
                      </a:pPr>
                      <a:r>
                        <a:rPr sz="1130">
                          <a:solidFill>
                            <a:srgbClr val="24313A"/>
                          </a:solidFill>
                          <a:latin typeface="Calibri"/>
                          <a:ea typeface="Calibri"/>
                          <a:cs typeface="Calibri"/>
                        </a:rPr>
                        <a:t>Published first-visit OR</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7.40</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[3.20, 17.1]</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First visit vs prior contact: strong no-show predictor</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bl>
          </a:graphicData>
        </a:graphic>
      </p:graphicFrame>
      <p:sp>
        <p:nvSpPr>
          <p:cNvPr id="9" name="Shape 6">
            <a:extLst xmlns:a="http://schemas.openxmlformats.org/drawingml/2006/main">
              <a:ext uri="{FF2B5EF4-FFF2-40B4-BE49-F238E27FC236}">
                <a16:creationId xmlns:a16="http://schemas.microsoft.com/office/drawing/2014/main" id="{EA459F67-DF2A-4E6F-B7CE-221A73563768}"/>
              </a:ext>
            </a:extLst>
          </p:cNvPr>
          <p:cNvSpPr>
            <a:spLocks xmlns:a="http://schemas.openxmlformats.org/drawingml/2006/main" noGrp="1"/>
          </p:cNvSpPr>
          <p:nvPr/>
        </p:nvSpPr>
        <p:spPr>
          <a:xfrm xmlns:a="http://schemas.openxmlformats.org/drawingml/2006/main">
            <a:off x="502920" y="4809744"/>
            <a:ext cx="3685032" cy="1234440"/>
          </a:xfrm>
          <a:prstGeom xmlns:a="http://schemas.openxmlformats.org/drawingml/2006/main" prst="roundRect">
            <a:avLst>
              <a:gd name="adj" fmla="val 6667"/>
            </a:avLst>
          </a:prstGeom>
          <a:solidFill xmlns:a="http://schemas.openxmlformats.org/drawingml/2006/main">
            <a:srgbClr val="F3F8F9"/>
          </a:solidFill>
        </p:spPr>
      </p:sp>
      <p:sp>
        <p:nvSpPr>
          <p:cNvPr id="10" name="Text 7">
            <a:extLst xmlns:a="http://schemas.openxmlformats.org/drawingml/2006/main">
              <a:ext uri="{FF2B5EF4-FFF2-40B4-BE49-F238E27FC236}">
                <a16:creationId xmlns:a16="http://schemas.microsoft.com/office/drawing/2014/main" id="{1B505049-7C84-4D63-8ACF-D3C7C8FC25EF}"/>
              </a:ext>
            </a:extLst>
          </p:cNvPr>
          <p:cNvSpPr>
            <a:spLocks xmlns:a="http://schemas.openxmlformats.org/drawingml/2006/main" noGrp="1"/>
          </p:cNvSpPr>
          <p:nvPr/>
        </p:nvSpPr>
        <p:spPr>
          <a:xfrm xmlns:a="http://schemas.openxmlformats.org/drawingml/2006/main">
            <a:off x="502920" y="4901184"/>
            <a:ext cx="368503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0E7C86"/>
                </a:solidFill>
                <a:latin typeface="Cambria"/>
                <a:ea typeface="Cambria"/>
                <a:cs typeface="Cambria"/>
              </a:rPr>
              <a:t>0.56</a:t>
            </a:r>
            <a:endParaRPr sz="3000"/>
          </a:p>
        </p:txBody>
      </p:sp>
      <p:sp>
        <p:nvSpPr>
          <p:cNvPr id="11" name="Text 8">
            <a:extLst xmlns:a="http://schemas.openxmlformats.org/drawingml/2006/main">
              <a:ext uri="{FF2B5EF4-FFF2-40B4-BE49-F238E27FC236}">
                <a16:creationId xmlns:a16="http://schemas.microsoft.com/office/drawing/2014/main" id="{0A964D41-1496-456A-BE0B-E2323AEE54AF}"/>
              </a:ext>
            </a:extLst>
          </p:cNvPr>
          <p:cNvSpPr>
            <a:spLocks xmlns:a="http://schemas.openxmlformats.org/drawingml/2006/main" noGrp="1"/>
          </p:cNvSpPr>
          <p:nvPr/>
        </p:nvSpPr>
        <p:spPr>
          <a:xfrm xmlns:a="http://schemas.openxmlformats.org/drawingml/2006/main">
            <a:off x="502920" y="5404104"/>
            <a:ext cx="368503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B6B75"/>
                </a:solidFill>
                <a:latin typeface="Calibri"/>
                <a:ea typeface="Calibri"/>
                <a:cs typeface="Calibri"/>
              </a:rPr>
              <a:t>adjusted OR for non-attendance with SMS</a:t>
            </a:r>
            <a:endParaRPr sz="1050"/>
          </a:p>
        </p:txBody>
      </p:sp>
      <p:sp>
        <p:nvSpPr>
          <p:cNvPr id="12" name="Shape 9">
            <a:extLst xmlns:a="http://schemas.openxmlformats.org/drawingml/2006/main">
              <a:ext uri="{FF2B5EF4-FFF2-40B4-BE49-F238E27FC236}">
                <a16:creationId xmlns:a16="http://schemas.microsoft.com/office/drawing/2014/main" id="{C9AB8438-6C43-4E70-B1C2-B856E610714D}"/>
              </a:ext>
            </a:extLst>
          </p:cNvPr>
          <p:cNvSpPr>
            <a:spLocks xmlns:a="http://schemas.openxmlformats.org/drawingml/2006/main" noGrp="1"/>
          </p:cNvSpPr>
          <p:nvPr/>
        </p:nvSpPr>
        <p:spPr>
          <a:xfrm xmlns:a="http://schemas.openxmlformats.org/drawingml/2006/main">
            <a:off x="4325112" y="4809744"/>
            <a:ext cx="3685032" cy="1234440"/>
          </a:xfrm>
          <a:prstGeom xmlns:a="http://schemas.openxmlformats.org/drawingml/2006/main" prst="roundRect">
            <a:avLst>
              <a:gd name="adj" fmla="val 6667"/>
            </a:avLst>
          </a:prstGeom>
          <a:solidFill xmlns:a="http://schemas.openxmlformats.org/drawingml/2006/main">
            <a:srgbClr val="F3F8F9"/>
          </a:solidFill>
        </p:spPr>
      </p:sp>
      <p:sp>
        <p:nvSpPr>
          <p:cNvPr id="13" name="Text 10">
            <a:extLst xmlns:a="http://schemas.openxmlformats.org/drawingml/2006/main">
              <a:ext uri="{FF2B5EF4-FFF2-40B4-BE49-F238E27FC236}">
                <a16:creationId xmlns:a16="http://schemas.microsoft.com/office/drawing/2014/main" id="{A6E45640-703D-46DD-892F-E83721C6662C}"/>
              </a:ext>
            </a:extLst>
          </p:cNvPr>
          <p:cNvSpPr>
            <a:spLocks xmlns:a="http://schemas.openxmlformats.org/drawingml/2006/main" noGrp="1"/>
          </p:cNvSpPr>
          <p:nvPr/>
        </p:nvSpPr>
        <p:spPr>
          <a:xfrm xmlns:a="http://schemas.openxmlformats.org/drawingml/2006/main">
            <a:off x="4325112" y="4901184"/>
            <a:ext cx="368503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0E7C86"/>
                </a:solidFill>
                <a:latin typeface="Cambria"/>
                <a:ea typeface="Cambria"/>
                <a:cs typeface="Cambria"/>
              </a:rPr>
              <a:t>×7.4</a:t>
            </a:r>
            <a:endParaRPr sz="3000"/>
          </a:p>
        </p:txBody>
      </p:sp>
      <p:sp>
        <p:nvSpPr>
          <p:cNvPr id="14" name="Text 11">
            <a:extLst xmlns:a="http://schemas.openxmlformats.org/drawingml/2006/main">
              <a:ext uri="{FF2B5EF4-FFF2-40B4-BE49-F238E27FC236}">
                <a16:creationId xmlns:a16="http://schemas.microsoft.com/office/drawing/2014/main" id="{4A2571BA-8C04-4A8F-9F93-F94D9E0EDBBF}"/>
              </a:ext>
            </a:extLst>
          </p:cNvPr>
          <p:cNvSpPr>
            <a:spLocks xmlns:a="http://schemas.openxmlformats.org/drawingml/2006/main" noGrp="1"/>
          </p:cNvSpPr>
          <p:nvPr/>
        </p:nvSpPr>
        <p:spPr>
          <a:xfrm xmlns:a="http://schemas.openxmlformats.org/drawingml/2006/main">
            <a:off x="4325112" y="5404104"/>
            <a:ext cx="368503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B6B75"/>
                </a:solidFill>
                <a:latin typeface="Calibri"/>
                <a:ea typeface="Calibri"/>
                <a:cs typeface="Calibri"/>
              </a:rPr>
              <a:t>odds of no-show: first visit vs prior contact</a:t>
            </a:r>
            <a:endParaRPr sz="1050"/>
          </a:p>
        </p:txBody>
      </p:sp>
      <p:sp>
        <p:nvSpPr>
          <p:cNvPr id="15" name="Shape 12">
            <a:extLst xmlns:a="http://schemas.openxmlformats.org/drawingml/2006/main">
              <a:ext uri="{FF2B5EF4-FFF2-40B4-BE49-F238E27FC236}">
                <a16:creationId xmlns:a16="http://schemas.microsoft.com/office/drawing/2014/main" id="{7CF8D87E-1294-4371-96F8-E4AFE50AD8D3}"/>
              </a:ext>
            </a:extLst>
          </p:cNvPr>
          <p:cNvSpPr>
            <a:spLocks xmlns:a="http://schemas.openxmlformats.org/drawingml/2006/main" noGrp="1"/>
          </p:cNvSpPr>
          <p:nvPr/>
        </p:nvSpPr>
        <p:spPr>
          <a:xfrm xmlns:a="http://schemas.openxmlformats.org/drawingml/2006/main">
            <a:off x="8147304" y="4809744"/>
            <a:ext cx="3685032" cy="1234440"/>
          </a:xfrm>
          <a:prstGeom xmlns:a="http://schemas.openxmlformats.org/drawingml/2006/main" prst="roundRect">
            <a:avLst>
              <a:gd name="adj" fmla="val 6667"/>
            </a:avLst>
          </a:prstGeom>
          <a:solidFill xmlns:a="http://schemas.openxmlformats.org/drawingml/2006/main">
            <a:srgbClr val="F3F8F9"/>
          </a:solidFill>
        </p:spPr>
      </p:sp>
      <p:sp>
        <p:nvSpPr>
          <p:cNvPr id="16" name="Text 13">
            <a:extLst xmlns:a="http://schemas.openxmlformats.org/drawingml/2006/main">
              <a:ext uri="{FF2B5EF4-FFF2-40B4-BE49-F238E27FC236}">
                <a16:creationId xmlns:a16="http://schemas.microsoft.com/office/drawing/2014/main" id="{4EABFE90-B939-4424-A45E-B80698F63E01}"/>
              </a:ext>
            </a:extLst>
          </p:cNvPr>
          <p:cNvSpPr>
            <a:spLocks xmlns:a="http://schemas.openxmlformats.org/drawingml/2006/main" noGrp="1"/>
          </p:cNvSpPr>
          <p:nvPr/>
        </p:nvSpPr>
        <p:spPr>
          <a:xfrm xmlns:a="http://schemas.openxmlformats.org/drawingml/2006/main">
            <a:off x="8147304" y="4901184"/>
            <a:ext cx="368503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C2660A"/>
                </a:solidFill>
                <a:latin typeface="Cambria"/>
                <a:ea typeface="Cambria"/>
                <a:cs typeface="Cambria"/>
              </a:rPr>
              <a:t>≈ 7</a:t>
            </a:r>
            <a:endParaRPr sz="3000"/>
          </a:p>
        </p:txBody>
      </p:sp>
      <p:sp>
        <p:nvSpPr>
          <p:cNvPr id="17" name="Text 14">
            <a:extLst xmlns:a="http://schemas.openxmlformats.org/drawingml/2006/main">
              <a:ext uri="{FF2B5EF4-FFF2-40B4-BE49-F238E27FC236}">
                <a16:creationId xmlns:a16="http://schemas.microsoft.com/office/drawing/2014/main" id="{376ACD17-56C8-4D12-B8F3-D3433D6B491B}"/>
              </a:ext>
            </a:extLst>
          </p:cNvPr>
          <p:cNvSpPr>
            <a:spLocks xmlns:a="http://schemas.openxmlformats.org/drawingml/2006/main" noGrp="1"/>
          </p:cNvSpPr>
          <p:nvPr/>
        </p:nvSpPr>
        <p:spPr>
          <a:xfrm xmlns:a="http://schemas.openxmlformats.org/drawingml/2006/main">
            <a:off x="8147304" y="5404104"/>
            <a:ext cx="368503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B6B75"/>
                </a:solidFill>
                <a:latin typeface="Calibri"/>
                <a:ea typeface="Calibri"/>
                <a:cs typeface="Calibri"/>
              </a:rPr>
              <a:t>SMS reminders per additional attendance</a:t>
            </a:r>
            <a:endParaRPr sz="1050"/>
          </a:p>
        </p:txBody>
      </p:sp>
    </p:spTree>
    <p:extLst>
      <p:ext uri="{BB962C8B-B14F-4D97-AF65-F5344CB8AC3E}">
        <p14:creationId xmlns:p14="http://schemas.microsoft.com/office/powerpoint/2010/main" val="353769926"/>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1E85F33-B0C8-4716-929C-FC472AE75101}"/>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FCB563E7-2A3B-4CCB-A7F8-CEE4CE846215}"/>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50</a:t>
            </a:r>
            <a:endParaRPr sz="900"/>
          </a:p>
        </p:txBody>
      </p:sp>
      <p:sp>
        <p:nvSpPr>
          <p:cNvPr id="4" name="Shape 2">
            <a:extLst xmlns:a="http://schemas.openxmlformats.org/drawingml/2006/main">
              <a:ext uri="{FF2B5EF4-FFF2-40B4-BE49-F238E27FC236}">
                <a16:creationId xmlns:a16="http://schemas.microsoft.com/office/drawing/2014/main" id="{846A3992-51E8-42F4-ABFE-FD71A2C11E74}"/>
              </a:ext>
            </a:extLst>
          </p:cNvPr>
          <p:cNvSpPr>
            <a:spLocks xmlns:a="http://schemas.openxmlformats.org/drawingml/2006/main" noGrp="1"/>
          </p:cNvSpPr>
          <p:nvPr/>
        </p:nvSpPr>
        <p:spPr>
          <a:xfrm xmlns:a="http://schemas.openxmlformats.org/drawingml/2006/main">
            <a:off x="502920" y="384048"/>
            <a:ext cx="2096719" cy="292608"/>
          </a:xfrm>
          <a:prstGeom xmlns:a="http://schemas.openxmlformats.org/drawingml/2006/main" prst="roundRect">
            <a:avLst>
              <a:gd name="adj" fmla="val 50000"/>
            </a:avLst>
          </a:prstGeom>
          <a:solidFill xmlns:a="http://schemas.openxmlformats.org/drawingml/2006/main">
            <a:srgbClr val="0B3140"/>
          </a:solidFill>
        </p:spPr>
      </p:sp>
      <p:sp>
        <p:nvSpPr>
          <p:cNvPr id="5" name="Text 3">
            <a:extLst xmlns:a="http://schemas.openxmlformats.org/drawingml/2006/main">
              <a:ext uri="{FF2B5EF4-FFF2-40B4-BE49-F238E27FC236}">
                <a16:creationId xmlns:a16="http://schemas.microsoft.com/office/drawing/2014/main" id="{9AC59057-3BF2-43BD-B55C-3133C21834B8}"/>
              </a:ext>
            </a:extLst>
          </p:cNvPr>
          <p:cNvSpPr>
            <a:spLocks xmlns:a="http://schemas.openxmlformats.org/drawingml/2006/main" noGrp="1"/>
          </p:cNvSpPr>
          <p:nvPr/>
        </p:nvSpPr>
        <p:spPr>
          <a:xfrm xmlns:a="http://schemas.openxmlformats.org/drawingml/2006/main">
            <a:off x="502920" y="384048"/>
            <a:ext cx="209671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4 · CASE STUDY</a:t>
            </a:r>
            <a:endParaRPr sz="1050"/>
          </a:p>
        </p:txBody>
      </p:sp>
      <p:sp>
        <p:nvSpPr>
          <p:cNvPr id="6" name="Text 4">
            <a:extLst xmlns:a="http://schemas.openxmlformats.org/drawingml/2006/main">
              <a:ext uri="{FF2B5EF4-FFF2-40B4-BE49-F238E27FC236}">
                <a16:creationId xmlns:a16="http://schemas.microsoft.com/office/drawing/2014/main" id="{B663066A-19F4-4033-8738-8EA314E284E4}"/>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The analyst who peeked</a:t>
            </a:r>
            <a:endParaRPr sz="2800"/>
          </a:p>
        </p:txBody>
      </p:sp>
      <p:sp>
        <p:nvSpPr>
          <p:cNvPr id="7" name="Shape 5">
            <a:extLst xmlns:a="http://schemas.openxmlformats.org/drawingml/2006/main">
              <a:ext uri="{FF2B5EF4-FFF2-40B4-BE49-F238E27FC236}">
                <a16:creationId xmlns:a16="http://schemas.microsoft.com/office/drawing/2014/main" id="{33A656A8-C95F-4FE2-BF1B-19AAD2787372}"/>
              </a:ext>
            </a:extLst>
          </p:cNvPr>
          <p:cNvSpPr>
            <a:spLocks xmlns:a="http://schemas.openxmlformats.org/drawingml/2006/main" noGrp="1"/>
          </p:cNvSpPr>
          <p:nvPr/>
        </p:nvSpPr>
        <p:spPr>
          <a:xfrm xmlns:a="http://schemas.openxmlformats.org/drawingml/2006/main">
            <a:off x="502920" y="1545336"/>
            <a:ext cx="5532120" cy="2240280"/>
          </a:xfrm>
          <a:prstGeom xmlns:a="http://schemas.openxmlformats.org/drawingml/2006/main" prst="roundRect">
            <a:avLst>
              <a:gd name="adj" fmla="val 3673"/>
            </a:avLst>
          </a:prstGeom>
          <a:solidFill xmlns:a="http://schemas.openxmlformats.org/drawingml/2006/main">
            <a:srgbClr val="F3F8F9"/>
          </a:solidFill>
        </p:spPr>
      </p:sp>
      <p:sp>
        <p:nvSpPr>
          <p:cNvPr id="8" name="Shape 6">
            <a:extLst xmlns:a="http://schemas.openxmlformats.org/drawingml/2006/main">
              <a:ext uri="{FF2B5EF4-FFF2-40B4-BE49-F238E27FC236}">
                <a16:creationId xmlns:a16="http://schemas.microsoft.com/office/drawing/2014/main" id="{4EE8F3A8-CC5E-4888-93E8-50E16F7F05C5}"/>
              </a:ext>
            </a:extLst>
          </p:cNvPr>
          <p:cNvSpPr>
            <a:spLocks xmlns:a="http://schemas.openxmlformats.org/drawingml/2006/main" noGrp="1"/>
          </p:cNvSpPr>
          <p:nvPr/>
        </p:nvSpPr>
        <p:spPr>
          <a:xfrm xmlns:a="http://schemas.openxmlformats.org/drawingml/2006/main">
            <a:off x="704088" y="1728216"/>
            <a:ext cx="384048" cy="384048"/>
          </a:xfrm>
          <a:prstGeom xmlns:a="http://schemas.openxmlformats.org/drawingml/2006/main" prst="ellipse">
            <a:avLst/>
          </a:prstGeom>
          <a:solidFill xmlns:a="http://schemas.openxmlformats.org/drawingml/2006/main">
            <a:srgbClr val="0B3140"/>
          </a:solidFill>
        </p:spPr>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1536220263f74a6e"/>
          <a:stretch xmlns:a="http://schemas.openxmlformats.org/drawingml/2006/main">
            <a:fillRect l="0" t="0" r="0" b="0"/>
          </a:stretch>
        </p:blipFill>
        <p:spPr>
          <a:xfrm xmlns:a="http://schemas.openxmlformats.org/drawingml/2006/main">
            <a:off x="803940" y="1828068"/>
            <a:ext cx="184343" cy="184343"/>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87E5C767-EB99-4FA2-9162-C9AF31667D65}"/>
              </a:ext>
            </a:extLst>
          </p:cNvPr>
          <p:cNvSpPr>
            <a:spLocks xmlns:a="http://schemas.openxmlformats.org/drawingml/2006/main" noGrp="1"/>
          </p:cNvSpPr>
          <p:nvPr/>
        </p:nvSpPr>
        <p:spPr>
          <a:xfrm xmlns:a="http://schemas.openxmlformats.org/drawingml/2006/main">
            <a:off x="1216152" y="1764792"/>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Scenario</a:t>
            </a:r>
            <a:endParaRPr sz="1350"/>
          </a:p>
        </p:txBody>
      </p:sp>
      <p:sp>
        <p:nvSpPr>
          <p:cNvPr id="11" name="Text 8">
            <a:extLst xmlns:a="http://schemas.openxmlformats.org/drawingml/2006/main">
              <a:ext uri="{FF2B5EF4-FFF2-40B4-BE49-F238E27FC236}">
                <a16:creationId xmlns:a16="http://schemas.microsoft.com/office/drawing/2014/main" id="{79AFADA9-4B4A-4225-A562-A28135E1BF18}"/>
              </a:ext>
            </a:extLst>
          </p:cNvPr>
          <p:cNvSpPr>
            <a:spLocks xmlns:a="http://schemas.openxmlformats.org/drawingml/2006/main" noGrp="1"/>
          </p:cNvSpPr>
          <p:nvPr/>
        </p:nvSpPr>
        <p:spPr>
          <a:xfrm xmlns:a="http://schemas.openxmlformats.org/drawingml/2006/main">
            <a:off x="758952" y="2203704"/>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24313A"/>
                </a:solidFill>
                <a:latin typeface="Calibri"/>
                <a:ea typeface="Calibri"/>
                <a:cs typeface="Calibri"/>
              </a:rPr>
              <a:t>A product team runs a 3-week A/B test on a rebooking flow. The analyst checks the dashboard every morning and stops the test on day 9, the first day p dips under 0.05, announcing a win. Three weeks after full rollout, the metric is flat.</a:t>
            </a:r>
            <a:endParaRPr sz="1100"/>
          </a:p>
        </p:txBody>
      </p:sp>
      <p:sp>
        <p:nvSpPr>
          <p:cNvPr id="12" name="Shape 9">
            <a:extLst xmlns:a="http://schemas.openxmlformats.org/drawingml/2006/main">
              <a:ext uri="{FF2B5EF4-FFF2-40B4-BE49-F238E27FC236}">
                <a16:creationId xmlns:a16="http://schemas.microsoft.com/office/drawing/2014/main" id="{21B21F75-6D98-4885-BAF4-674EE9AA534A}"/>
              </a:ext>
            </a:extLst>
          </p:cNvPr>
          <p:cNvSpPr>
            <a:spLocks xmlns:a="http://schemas.openxmlformats.org/drawingml/2006/main" noGrp="1"/>
          </p:cNvSpPr>
          <p:nvPr/>
        </p:nvSpPr>
        <p:spPr>
          <a:xfrm xmlns:a="http://schemas.openxmlformats.org/drawingml/2006/main">
            <a:off x="6199632" y="1545336"/>
            <a:ext cx="5532120" cy="2240280"/>
          </a:xfrm>
          <a:prstGeom xmlns:a="http://schemas.openxmlformats.org/drawingml/2006/main" prst="roundRect">
            <a:avLst>
              <a:gd name="adj" fmla="val 3673"/>
            </a:avLst>
          </a:prstGeom>
          <a:solidFill xmlns:a="http://schemas.openxmlformats.org/drawingml/2006/main">
            <a:srgbClr val="FBEEDD"/>
          </a:solidFill>
        </p:spPr>
      </p:sp>
      <p:sp>
        <p:nvSpPr>
          <p:cNvPr id="13" name="Shape 10">
            <a:extLst xmlns:a="http://schemas.openxmlformats.org/drawingml/2006/main">
              <a:ext uri="{FF2B5EF4-FFF2-40B4-BE49-F238E27FC236}">
                <a16:creationId xmlns:a16="http://schemas.microsoft.com/office/drawing/2014/main" id="{9E7A98E4-D10A-4745-A4F6-8F219B13BD82}"/>
              </a:ext>
            </a:extLst>
          </p:cNvPr>
          <p:cNvSpPr>
            <a:spLocks xmlns:a="http://schemas.openxmlformats.org/drawingml/2006/main" noGrp="1"/>
          </p:cNvSpPr>
          <p:nvPr/>
        </p:nvSpPr>
        <p:spPr>
          <a:xfrm xmlns:a="http://schemas.openxmlformats.org/drawingml/2006/main">
            <a:off x="6400800" y="1728216"/>
            <a:ext cx="384048" cy="384048"/>
          </a:xfrm>
          <a:prstGeom xmlns:a="http://schemas.openxmlformats.org/drawingml/2006/main" prst="ellipse">
            <a:avLst/>
          </a:prstGeom>
          <a:solidFill xmlns:a="http://schemas.openxmlformats.org/drawingml/2006/main">
            <a:srgbClr val="C2660A"/>
          </a:solidFill>
        </p:spPr>
      </p:sp>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1b9168a22c4e4e3e"/>
          <a:stretch xmlns:a="http://schemas.openxmlformats.org/drawingml/2006/main">
            <a:fillRect l="0" t="0" r="0" b="0"/>
          </a:stretch>
        </p:blipFill>
        <p:spPr>
          <a:xfrm xmlns:a="http://schemas.openxmlformats.org/drawingml/2006/main">
            <a:off x="6500652" y="1828068"/>
            <a:ext cx="184343" cy="184343"/>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3FAAAE92-7A15-47BD-83A7-C99508CA70F4}"/>
              </a:ext>
            </a:extLst>
          </p:cNvPr>
          <p:cNvSpPr>
            <a:spLocks xmlns:a="http://schemas.openxmlformats.org/drawingml/2006/main" noGrp="1"/>
          </p:cNvSpPr>
          <p:nvPr/>
        </p:nvSpPr>
        <p:spPr>
          <a:xfrm xmlns:a="http://schemas.openxmlformats.org/drawingml/2006/main">
            <a:off x="6912864" y="1764792"/>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The technical challenge</a:t>
            </a:r>
            <a:endParaRPr sz="1350"/>
          </a:p>
        </p:txBody>
      </p:sp>
      <p:sp>
        <p:nvSpPr>
          <p:cNvPr id="16" name="Text 12">
            <a:extLst xmlns:a="http://schemas.openxmlformats.org/drawingml/2006/main">
              <a:ext uri="{FF2B5EF4-FFF2-40B4-BE49-F238E27FC236}">
                <a16:creationId xmlns:a16="http://schemas.microsoft.com/office/drawing/2014/main" id="{643E53E4-C501-4EB4-B52A-ABDB34B3D953}"/>
              </a:ext>
            </a:extLst>
          </p:cNvPr>
          <p:cNvSpPr>
            <a:spLocks xmlns:a="http://schemas.openxmlformats.org/drawingml/2006/main" noGrp="1"/>
          </p:cNvSpPr>
          <p:nvPr/>
        </p:nvSpPr>
        <p:spPr>
          <a:xfrm xmlns:a="http://schemas.openxmlformats.org/drawingml/2006/main">
            <a:off x="6455664" y="2203704"/>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24313A"/>
                </a:solidFill>
                <a:latin typeface="Calibri"/>
                <a:ea typeface="Calibri"/>
                <a:cs typeface="Calibri"/>
              </a:rPr>
              <a:t>Each daily look is another lottery ticket for a false positive. With ~20 looks at α = 0.05, the chance of at least one 'significant' day under a true null is far above 5% — the stopping rule silently changed the test being run.</a:t>
            </a:r>
            <a:endParaRPr sz="1100"/>
          </a:p>
        </p:txBody>
      </p:sp>
      <p:sp>
        <p:nvSpPr>
          <p:cNvPr id="17" name="Shape 13">
            <a:extLst xmlns:a="http://schemas.openxmlformats.org/drawingml/2006/main">
              <a:ext uri="{FF2B5EF4-FFF2-40B4-BE49-F238E27FC236}">
                <a16:creationId xmlns:a16="http://schemas.microsoft.com/office/drawing/2014/main" id="{E013CCE3-6E92-4AE4-9EA5-1EB6582BFA32}"/>
              </a:ext>
            </a:extLst>
          </p:cNvPr>
          <p:cNvSpPr>
            <a:spLocks xmlns:a="http://schemas.openxmlformats.org/drawingml/2006/main" noGrp="1"/>
          </p:cNvSpPr>
          <p:nvPr/>
        </p:nvSpPr>
        <p:spPr>
          <a:xfrm xmlns:a="http://schemas.openxmlformats.org/drawingml/2006/main">
            <a:off x="502920" y="3950208"/>
            <a:ext cx="5532120" cy="2240280"/>
          </a:xfrm>
          <a:prstGeom xmlns:a="http://schemas.openxmlformats.org/drawingml/2006/main" prst="roundRect">
            <a:avLst>
              <a:gd name="adj" fmla="val 3673"/>
            </a:avLst>
          </a:prstGeom>
          <a:solidFill xmlns:a="http://schemas.openxmlformats.org/drawingml/2006/main">
            <a:srgbClr val="E7F2F3"/>
          </a:solidFill>
        </p:spPr>
      </p:sp>
      <p:sp>
        <p:nvSpPr>
          <p:cNvPr id="18" name="Shape 14">
            <a:extLst xmlns:a="http://schemas.openxmlformats.org/drawingml/2006/main">
              <a:ext uri="{FF2B5EF4-FFF2-40B4-BE49-F238E27FC236}">
                <a16:creationId xmlns:a16="http://schemas.microsoft.com/office/drawing/2014/main" id="{11D4AEB0-86A2-4A7D-A6B5-06FC66EA6EA6}"/>
              </a:ext>
            </a:extLst>
          </p:cNvPr>
          <p:cNvSpPr>
            <a:spLocks xmlns:a="http://schemas.openxmlformats.org/drawingml/2006/main" noGrp="1"/>
          </p:cNvSpPr>
          <p:nvPr/>
        </p:nvSpPr>
        <p:spPr>
          <a:xfrm xmlns:a="http://schemas.openxmlformats.org/drawingml/2006/main">
            <a:off x="704088" y="4133088"/>
            <a:ext cx="384048" cy="384048"/>
          </a:xfrm>
          <a:prstGeom xmlns:a="http://schemas.openxmlformats.org/drawingml/2006/main" prst="ellipse">
            <a:avLst/>
          </a:prstGeom>
          <a:solidFill xmlns:a="http://schemas.openxmlformats.org/drawingml/2006/main">
            <a:srgbClr val="0A5C64"/>
          </a:solidFill>
        </p:spPr>
      </p:sp>
      <p:pic>
        <p:nvPicPr>
          <p:cNvPr id="48" name="Image 2"/>
          <p:cNvPicPr>
            <a:picLocks xmlns:a="http://schemas.openxmlformats.org/drawingml/2006/main" noChangeAspect="1"/>
          </p:cNvPicPr>
          <p:nvPr/>
        </p:nvPicPr>
        <p:blipFill>
          <a:blip xmlns:r="http://schemas.openxmlformats.org/officeDocument/2006/relationships" xmlns:a="http://schemas.openxmlformats.org/drawingml/2006/main" r:embed="R7557f537f44c49bd"/>
          <a:stretch xmlns:a="http://schemas.openxmlformats.org/drawingml/2006/main">
            <a:fillRect l="0" t="0" r="0" b="0"/>
          </a:stretch>
        </p:blipFill>
        <p:spPr>
          <a:xfrm xmlns:a="http://schemas.openxmlformats.org/drawingml/2006/main">
            <a:off x="803940" y="4232940"/>
            <a:ext cx="184343" cy="184343"/>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01DB05A4-21A8-4F1A-84D3-B2EFE79279A5}"/>
              </a:ext>
            </a:extLst>
          </p:cNvPr>
          <p:cNvSpPr>
            <a:spLocks xmlns:a="http://schemas.openxmlformats.org/drawingml/2006/main" noGrp="1"/>
          </p:cNvSpPr>
          <p:nvPr/>
        </p:nvSpPr>
        <p:spPr>
          <a:xfrm xmlns:a="http://schemas.openxmlformats.org/drawingml/2006/main">
            <a:off x="1216152" y="4169664"/>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Solution approach (facilitate, don't lecture)</a:t>
            </a:r>
            <a:endParaRPr sz="1350"/>
          </a:p>
        </p:txBody>
      </p:sp>
      <p:sp>
        <p:nvSpPr>
          <p:cNvPr id="21" name="Text 16">
            <a:extLst xmlns:a="http://schemas.openxmlformats.org/drawingml/2006/main">
              <a:ext uri="{FF2B5EF4-FFF2-40B4-BE49-F238E27FC236}">
                <a16:creationId xmlns:a16="http://schemas.microsoft.com/office/drawing/2014/main" id="{DE95A2C8-EF8F-418A-A99D-0C21E686C13C}"/>
              </a:ext>
            </a:extLst>
          </p:cNvPr>
          <p:cNvSpPr>
            <a:spLocks xmlns:a="http://schemas.openxmlformats.org/drawingml/2006/main" noGrp="1"/>
          </p:cNvSpPr>
          <p:nvPr/>
        </p:nvSpPr>
        <p:spPr>
          <a:xfrm xmlns:a="http://schemas.openxmlformats.org/drawingml/2006/main">
            <a:off x="758952" y="4608576"/>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Simulate it: 1,000 null A/B tests with daily peeking over 21 days; count how many ever cross p &lt; .05 (ab_daily_log.csv mirrors the setup)</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Contrast with the fixed-n analysis of the same data</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Show the honest alternatives: pre-registered n, or group-sequential bounds</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Rewrite the team's test policy in three bullet points</a:t>
            </a:r>
            <a:endParaRPr sz="1080"/>
          </a:p>
        </p:txBody>
      </p:sp>
      <p:sp>
        <p:nvSpPr>
          <p:cNvPr id="22" name="Shape 17">
            <a:extLst xmlns:a="http://schemas.openxmlformats.org/drawingml/2006/main">
              <a:ext uri="{FF2B5EF4-FFF2-40B4-BE49-F238E27FC236}">
                <a16:creationId xmlns:a16="http://schemas.microsoft.com/office/drawing/2014/main" id="{B7A887D8-0FA0-4366-8373-324B8540F274}"/>
              </a:ext>
            </a:extLst>
          </p:cNvPr>
          <p:cNvSpPr>
            <a:spLocks xmlns:a="http://schemas.openxmlformats.org/drawingml/2006/main" noGrp="1"/>
          </p:cNvSpPr>
          <p:nvPr/>
        </p:nvSpPr>
        <p:spPr>
          <a:xfrm xmlns:a="http://schemas.openxmlformats.org/drawingml/2006/main">
            <a:off x="6199632" y="3950208"/>
            <a:ext cx="5532120" cy="2240280"/>
          </a:xfrm>
          <a:prstGeom xmlns:a="http://schemas.openxmlformats.org/drawingml/2006/main" prst="roundRect">
            <a:avLst>
              <a:gd name="adj" fmla="val 3673"/>
            </a:avLst>
          </a:prstGeom>
          <a:solidFill xmlns:a="http://schemas.openxmlformats.org/drawingml/2006/main">
            <a:srgbClr val="F3F8F9"/>
          </a:solidFill>
        </p:spPr>
      </p:sp>
      <p:sp>
        <p:nvSpPr>
          <p:cNvPr id="23" name="Shape 18">
            <a:extLst xmlns:a="http://schemas.openxmlformats.org/drawingml/2006/main">
              <a:ext uri="{FF2B5EF4-FFF2-40B4-BE49-F238E27FC236}">
                <a16:creationId xmlns:a16="http://schemas.microsoft.com/office/drawing/2014/main" id="{56982717-7F79-4164-A4D5-F7712FD67275}"/>
              </a:ext>
            </a:extLst>
          </p:cNvPr>
          <p:cNvSpPr>
            <a:spLocks xmlns:a="http://schemas.openxmlformats.org/drawingml/2006/main" noGrp="1"/>
          </p:cNvSpPr>
          <p:nvPr/>
        </p:nvSpPr>
        <p:spPr>
          <a:xfrm xmlns:a="http://schemas.openxmlformats.org/drawingml/2006/main">
            <a:off x="6400800" y="4133088"/>
            <a:ext cx="384048" cy="384048"/>
          </a:xfrm>
          <a:prstGeom xmlns:a="http://schemas.openxmlformats.org/drawingml/2006/main" prst="ellipse">
            <a:avLst/>
          </a:prstGeom>
          <a:solidFill xmlns:a="http://schemas.openxmlformats.org/drawingml/2006/main">
            <a:srgbClr val="0B3140"/>
          </a:solidFill>
        </p:spPr>
      </p:sp>
      <p:pic>
        <p:nvPicPr>
          <p:cNvPr id="53" name="Image 3"/>
          <p:cNvPicPr>
            <a:picLocks xmlns:a="http://schemas.openxmlformats.org/drawingml/2006/main" noChangeAspect="1"/>
          </p:cNvPicPr>
          <p:nvPr/>
        </p:nvPicPr>
        <p:blipFill>
          <a:blip xmlns:r="http://schemas.openxmlformats.org/officeDocument/2006/relationships" xmlns:a="http://schemas.openxmlformats.org/drawingml/2006/main" r:embed="Rc9b17ab39a8247e1"/>
          <a:stretch xmlns:a="http://schemas.openxmlformats.org/drawingml/2006/main">
            <a:fillRect l="0" t="0" r="0" b="0"/>
          </a:stretch>
        </p:blipFill>
        <p:spPr>
          <a:xfrm xmlns:a="http://schemas.openxmlformats.org/drawingml/2006/main">
            <a:off x="6500652" y="4232940"/>
            <a:ext cx="184343" cy="184343"/>
          </a:xfrm>
          <a:prstGeom xmlns:a="http://schemas.openxmlformats.org/drawingml/2006/main" prst="rect">
            <a:avLst/>
          </a:prstGeom>
        </p:spPr>
      </p:pic>
      <p:sp>
        <p:nvSpPr>
          <p:cNvPr id="25" name="Text 19">
            <a:extLst xmlns:a="http://schemas.openxmlformats.org/drawingml/2006/main">
              <a:ext uri="{FF2B5EF4-FFF2-40B4-BE49-F238E27FC236}">
                <a16:creationId xmlns:a16="http://schemas.microsoft.com/office/drawing/2014/main" id="{B4AFEDD3-D526-4C1A-B80E-F464D613F54F}"/>
              </a:ext>
            </a:extLst>
          </p:cNvPr>
          <p:cNvSpPr>
            <a:spLocks xmlns:a="http://schemas.openxmlformats.org/drawingml/2006/main" noGrp="1"/>
          </p:cNvSpPr>
          <p:nvPr/>
        </p:nvSpPr>
        <p:spPr>
          <a:xfrm xmlns:a="http://schemas.openxmlformats.org/drawingml/2006/main">
            <a:off x="6912864" y="4169664"/>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Discussion</a:t>
            </a:r>
            <a:endParaRPr sz="1350"/>
          </a:p>
        </p:txBody>
      </p:sp>
      <p:sp>
        <p:nvSpPr>
          <p:cNvPr id="26" name="Text 20">
            <a:extLst xmlns:a="http://schemas.openxmlformats.org/drawingml/2006/main">
              <a:ext uri="{FF2B5EF4-FFF2-40B4-BE49-F238E27FC236}">
                <a16:creationId xmlns:a16="http://schemas.microsoft.com/office/drawing/2014/main" id="{A833E7D0-1C0A-4CD0-AFBB-02DFD9952114}"/>
              </a:ext>
            </a:extLst>
          </p:cNvPr>
          <p:cNvSpPr>
            <a:spLocks xmlns:a="http://schemas.openxmlformats.org/drawingml/2006/main" noGrp="1"/>
          </p:cNvSpPr>
          <p:nvPr/>
        </p:nvSpPr>
        <p:spPr>
          <a:xfrm xmlns:a="http://schemas.openxmlformats.org/drawingml/2006/main">
            <a:off x="6455664" y="4608576"/>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Why does the calendar-day p-value not mean what the dashboard implies?</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What incentive structures make peeking almost irresistible?</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Would a bigger effect have 'survived' peeking — and does that excuse the method?</a:t>
            </a:r>
            <a:endParaRPr sz="1080"/>
          </a:p>
        </p:txBody>
      </p:sp>
    </p:spTree>
    <p:extLst>
      <p:ext uri="{BB962C8B-B14F-4D97-AF65-F5344CB8AC3E}">
        <p14:creationId xmlns:p14="http://schemas.microsoft.com/office/powerpoint/2010/main" val="833557988"/>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27F7924-0629-49F8-929F-A32A8B523C0A}"/>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4E480CD3-248A-475E-815E-A9763D07B33B}"/>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51</a:t>
            </a:r>
            <a:endParaRPr sz="900"/>
          </a:p>
        </p:txBody>
      </p:sp>
      <p:sp>
        <p:nvSpPr>
          <p:cNvPr id="4" name="Shape 2">
            <a:extLst xmlns:a="http://schemas.openxmlformats.org/drawingml/2006/main">
              <a:ext uri="{FF2B5EF4-FFF2-40B4-BE49-F238E27FC236}">
                <a16:creationId xmlns:a16="http://schemas.microsoft.com/office/drawing/2014/main" id="{D23272C0-544E-4FBA-BDBC-B644BFC67B5B}"/>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oundRect">
            <a:avLst>
              <a:gd name="adj" fmla="val 50000"/>
            </a:avLst>
          </a:prstGeom>
          <a:solidFill xmlns:a="http://schemas.openxmlformats.org/drawingml/2006/main">
            <a:srgbClr val="C2660A"/>
          </a:solidFill>
        </p:spPr>
      </p:sp>
      <p:sp>
        <p:nvSpPr>
          <p:cNvPr id="5" name="Text 3">
            <a:extLst xmlns:a="http://schemas.openxmlformats.org/drawingml/2006/main">
              <a:ext uri="{FF2B5EF4-FFF2-40B4-BE49-F238E27FC236}">
                <a16:creationId xmlns:a16="http://schemas.microsoft.com/office/drawing/2014/main" id="{F661C532-DC86-4F9F-B1E2-19E5BEBD7399}"/>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4 · HANDS-ON</a:t>
            </a:r>
            <a:endParaRPr sz="1050"/>
          </a:p>
        </p:txBody>
      </p:sp>
      <p:sp>
        <p:nvSpPr>
          <p:cNvPr id="6" name="Text 4">
            <a:extLst xmlns:a="http://schemas.openxmlformats.org/drawingml/2006/main">
              <a:ext uri="{FF2B5EF4-FFF2-40B4-BE49-F238E27FC236}">
                <a16:creationId xmlns:a16="http://schemas.microsoft.com/office/drawing/2014/main" id="{658757B2-0F1E-46C5-9725-53D85E1A7D91}"/>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Lab 4 — Put the SMS pilot on trial</a:t>
            </a:r>
            <a:endParaRPr sz="2800"/>
          </a:p>
        </p:txBody>
      </p:sp>
      <p:sp>
        <p:nvSpPr>
          <p:cNvPr id="7" name="Text 5">
            <a:extLst xmlns:a="http://schemas.openxmlformats.org/drawingml/2006/main">
              <a:ext uri="{FF2B5EF4-FFF2-40B4-BE49-F238E27FC236}">
                <a16:creationId xmlns:a16="http://schemas.microsoft.com/office/drawing/2014/main" id="{C25E32D1-B6A2-4704-951F-5B65B45A58A9}"/>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~40 minutes (Day 2, Hour 5) · pairs · data/clinic_visits.csv · lab4_start.ipynb</a:t>
            </a:r>
            <a:endParaRPr sz="1350"/>
          </a:p>
        </p:txBody>
      </p:sp>
      <p:sp>
        <p:nvSpPr>
          <p:cNvPr id="8" name="Shape 6">
            <a:extLst xmlns:a="http://schemas.openxmlformats.org/drawingml/2006/main">
              <a:ext uri="{FF2B5EF4-FFF2-40B4-BE49-F238E27FC236}">
                <a16:creationId xmlns:a16="http://schemas.microsoft.com/office/drawing/2014/main" id="{4199A83C-3F53-4704-9891-843DB345324E}"/>
              </a:ext>
            </a:extLst>
          </p:cNvPr>
          <p:cNvSpPr>
            <a:spLocks xmlns:a="http://schemas.openxmlformats.org/drawingml/2006/main" noGrp="1"/>
          </p:cNvSpPr>
          <p:nvPr/>
        </p:nvSpPr>
        <p:spPr>
          <a:xfrm xmlns:a="http://schemas.openxmlformats.org/drawingml/2006/main">
            <a:off x="502920" y="1792224"/>
            <a:ext cx="6858000" cy="4709160"/>
          </a:xfrm>
          <a:prstGeom xmlns:a="http://schemas.openxmlformats.org/drawingml/2006/main" prst="roundRect">
            <a:avLst>
              <a:gd name="adj" fmla="val 1748"/>
            </a:avLst>
          </a:prstGeom>
          <a:solidFill xmlns:a="http://schemas.openxmlformats.org/drawingml/2006/main">
            <a:srgbClr val="FFFFFF"/>
          </a:solidFill>
          <a:ln xmlns:a="http://schemas.openxmlformats.org/drawingml/2006/main" w="12700">
            <a:solidFill>
              <a:srgbClr val="D6E2E4"/>
            </a:solidFill>
            <a:prstDash val="solid"/>
          </a:ln>
        </p:spPr>
      </p:sp>
      <p:sp>
        <p:nvSpPr>
          <p:cNvPr id="9" name="Text 7">
            <a:extLst xmlns:a="http://schemas.openxmlformats.org/drawingml/2006/main">
              <a:ext uri="{FF2B5EF4-FFF2-40B4-BE49-F238E27FC236}">
                <a16:creationId xmlns:a16="http://schemas.microsoft.com/office/drawing/2014/main" id="{7CC40B2A-0840-40A5-85FE-7143A6691DD5}"/>
              </a:ext>
            </a:extLst>
          </p:cNvPr>
          <p:cNvSpPr>
            <a:spLocks xmlns:a="http://schemas.openxmlformats.org/drawingml/2006/main" noGrp="1"/>
          </p:cNvSpPr>
          <p:nvPr/>
        </p:nvSpPr>
        <p:spPr>
          <a:xfrm xmlns:a="http://schemas.openxmlformats.org/drawingml/2006/main">
            <a:off x="822960" y="1975104"/>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B3140"/>
                </a:solidFill>
                <a:latin typeface="Cambria"/>
                <a:ea typeface="Cambria"/>
                <a:cs typeface="Cambria"/>
              </a:rPr>
              <a:t>Tasks</a:t>
            </a:r>
            <a:endParaRPr sz="1400"/>
          </a:p>
        </p:txBody>
      </p:sp>
      <p:sp>
        <p:nvSpPr>
          <p:cNvPr id="10" name="Text 8">
            <a:extLst xmlns:a="http://schemas.openxmlformats.org/drawingml/2006/main">
              <a:ext uri="{FF2B5EF4-FFF2-40B4-BE49-F238E27FC236}">
                <a16:creationId xmlns:a16="http://schemas.microsoft.com/office/drawing/2014/main" id="{3D272E03-CCBD-479A-B2F0-E853B6456874}"/>
              </a:ext>
            </a:extLst>
          </p:cNvPr>
          <p:cNvSpPr>
            <a:spLocks xmlns:a="http://schemas.openxmlformats.org/drawingml/2006/main" noGrp="1"/>
          </p:cNvSpPr>
          <p:nvPr/>
        </p:nvSpPr>
        <p:spPr>
          <a:xfrm xmlns:a="http://schemas.openxmlformats.org/drawingml/2006/main">
            <a:off x="822960" y="2386584"/>
            <a:ext cx="6309360"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(4’) Filter to the randomized pilot: df[df.ab_pilot == 1] — 8,000 rows; confirm arm balance on age, rural share, risk band</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(8’) State H₀/H₁, α, and the test in an analysis-plan cell BEFORE computing anything</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(8’) Two-proportion z-test: rates, difference with 95% CI, z, p; then OR as the effect size</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(8’) Power check: n per arm for a 3pp effect at 0.80 — was this pilot over- or under-powered?</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(8’) Region sweep on the full data: 13 tests vs national rate → apply Benjamini–Hochberg; compare verdicts before/after</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(4’) Verdict paragraph: estimate + CI + p + effect size + operational meaning (the five-part sentence)</a:t>
            </a:r>
            <a:endParaRPr sz="1150"/>
          </a:p>
        </p:txBody>
      </p:sp>
      <p:sp>
        <p:nvSpPr>
          <p:cNvPr id="11" name="Shape 9">
            <a:extLst xmlns:a="http://schemas.openxmlformats.org/drawingml/2006/main">
              <a:ext uri="{FF2B5EF4-FFF2-40B4-BE49-F238E27FC236}">
                <a16:creationId xmlns:a16="http://schemas.microsoft.com/office/drawing/2014/main" id="{DD80D47F-5ED1-4545-8A7B-21D1CD9046FA}"/>
              </a:ext>
            </a:extLst>
          </p:cNvPr>
          <p:cNvSpPr>
            <a:spLocks xmlns:a="http://schemas.openxmlformats.org/drawingml/2006/main" noGrp="1"/>
          </p:cNvSpPr>
          <p:nvPr/>
        </p:nvSpPr>
        <p:spPr>
          <a:xfrm xmlns:a="http://schemas.openxmlformats.org/drawingml/2006/main">
            <a:off x="7635240" y="1792224"/>
            <a:ext cx="4023360" cy="4709160"/>
          </a:xfrm>
          <a:prstGeom xmlns:a="http://schemas.openxmlformats.org/drawingml/2006/main" prst="roundRect">
            <a:avLst>
              <a:gd name="adj" fmla="val 2045"/>
            </a:avLst>
          </a:prstGeom>
          <a:solidFill xmlns:a="http://schemas.openxmlformats.org/drawingml/2006/main">
            <a:srgbClr val="E7F2F3"/>
          </a:solidFill>
        </p:spPr>
      </p:sp>
      <p:sp>
        <p:nvSpPr>
          <p:cNvPr id="12" name="Text 10">
            <a:extLst xmlns:a="http://schemas.openxmlformats.org/drawingml/2006/main">
              <a:ext uri="{FF2B5EF4-FFF2-40B4-BE49-F238E27FC236}">
                <a16:creationId xmlns:a16="http://schemas.microsoft.com/office/drawing/2014/main" id="{41AD4521-DA85-4079-A85B-02F1B1AD383D}"/>
              </a:ext>
            </a:extLst>
          </p:cNvPr>
          <p:cNvSpPr>
            <a:spLocks xmlns:a="http://schemas.openxmlformats.org/drawingml/2006/main" noGrp="1"/>
          </p:cNvSpPr>
          <p:nvPr/>
        </p:nvSpPr>
        <p:spPr>
          <a:xfrm xmlns:a="http://schemas.openxmlformats.org/drawingml/2006/main">
            <a:off x="7955280" y="1975104"/>
            <a:ext cx="3474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A5C64"/>
                </a:solidFill>
                <a:latin typeface="Cambria"/>
                <a:ea typeface="Cambria"/>
                <a:cs typeface="Cambria"/>
              </a:rPr>
              <a:t>Checkpoint outputs</a:t>
            </a:r>
            <a:endParaRPr sz="1400"/>
          </a:p>
        </p:txBody>
      </p:sp>
      <p:sp>
        <p:nvSpPr>
          <p:cNvPr id="13" name="Text 11">
            <a:extLst xmlns:a="http://schemas.openxmlformats.org/drawingml/2006/main">
              <a:ext uri="{FF2B5EF4-FFF2-40B4-BE49-F238E27FC236}">
                <a16:creationId xmlns:a16="http://schemas.microsoft.com/office/drawing/2014/main" id="{74BF7942-6654-41D3-86CB-96181ACF7353}"/>
              </a:ext>
            </a:extLst>
          </p:cNvPr>
          <p:cNvSpPr>
            <a:spLocks xmlns:a="http://schemas.openxmlformats.org/drawingml/2006/main" noGrp="1"/>
          </p:cNvSpPr>
          <p:nvPr/>
        </p:nvSpPr>
        <p:spPr>
          <a:xfrm xmlns:a="http://schemas.openxmlformats.org/drawingml/2006/main">
            <a:off x="7955280" y="2386584"/>
            <a:ext cx="3429000"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700"/>
              </a:spcAft>
              <a:buSzPct val="100000"/>
              <a:buChar char="•"/>
            </a:pPr>
            <a:r>
              <a:rPr sz="1150" b="1">
                <a:solidFill>
                  <a:srgbClr val="24313A"/>
                </a:solidFill>
                <a:latin typeface="Calibri"/>
                <a:ea typeface="Calibri"/>
                <a:cs typeface="Calibri"/>
              </a:rPr>
              <a:t>Pilot: 22.3% vs 15.5%, diff −6.8pp, z = −7.7, p ≈ 5e-15, OR 0.64</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Balance table ≈ equal across arms (randomization worked)</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Power: 1,890/arm needed; 4,000/arm supplied → 0.98</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BH keeps Makkah &amp; Eastern; drops borderline regions</a:t>
            </a:r>
            <a:endParaRPr sz="1150"/>
          </a:p>
        </p:txBody>
      </p:sp>
    </p:spTree>
    <p:extLst>
      <p:ext uri="{BB962C8B-B14F-4D97-AF65-F5344CB8AC3E}">
        <p14:creationId xmlns:p14="http://schemas.microsoft.com/office/powerpoint/2010/main" val="1559333377"/>
      </p:ext>
    </p:extLst>
  </p:cSld>
</p:sld>
</file>

<file path=ppt/slides/slide52.xml><?xml version="1.0" encoding="utf-8"?>
<p:sld xmlns:p="http://schemas.openxmlformats.org/presentationml/2006/main">
  <p:cSld>
    <p:bg>
      <p:bgPr>
        <a:solidFill xmlns:a="http://schemas.openxmlformats.org/drawingml/2006/main">
          <a:srgbClr val="0B314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6F25333-CAC8-4779-8BDF-129BB5971929}"/>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FA6AE"/>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162C32AF-2E19-4D66-995D-4E07C2B2AFF4}"/>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A6AE"/>
                </a:solidFill>
                <a:latin typeface="Calibri"/>
                <a:ea typeface="Calibri"/>
                <a:cs typeface="Calibri"/>
              </a:rPr>
              <a:t>52</a:t>
            </a:r>
            <a:endParaRPr sz="900"/>
          </a:p>
        </p:txBody>
      </p:sp>
      <p:sp>
        <p:nvSpPr>
          <p:cNvPr id="4" name="Text 2">
            <a:extLst xmlns:a="http://schemas.openxmlformats.org/drawingml/2006/main">
              <a:ext uri="{FF2B5EF4-FFF2-40B4-BE49-F238E27FC236}">
                <a16:creationId xmlns:a16="http://schemas.microsoft.com/office/drawing/2014/main" id="{6A5448D6-79CC-4633-85D0-0110492BB96A}"/>
              </a:ext>
            </a:extLst>
          </p:cNvPr>
          <p:cNvSpPr>
            <a:spLocks xmlns:a="http://schemas.openxmlformats.org/drawingml/2006/main" noGrp="1"/>
          </p:cNvSpPr>
          <p:nvPr/>
        </p:nvSpPr>
        <p:spPr>
          <a:xfrm xmlns:a="http://schemas.openxmlformats.org/drawingml/2006/main">
            <a:off x="731520" y="1051560"/>
            <a:ext cx="5486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6FB3BC"/>
                </a:solidFill>
                <a:latin typeface="Calibri"/>
                <a:ea typeface="Calibri"/>
                <a:cs typeface="Calibri"/>
              </a:rPr>
              <a:t>DAY 3</a:t>
            </a:r>
            <a:endParaRPr sz="1600"/>
          </a:p>
        </p:txBody>
      </p:sp>
      <p:sp>
        <p:nvSpPr>
          <p:cNvPr id="5" name="Text 3">
            <a:extLst xmlns:a="http://schemas.openxmlformats.org/drawingml/2006/main">
              <a:ext uri="{FF2B5EF4-FFF2-40B4-BE49-F238E27FC236}">
                <a16:creationId xmlns:a16="http://schemas.microsoft.com/office/drawing/2014/main" id="{6C7897DD-41B1-4B93-B7BA-A8E7C8E04AC9}"/>
              </a:ext>
            </a:extLst>
          </p:cNvPr>
          <p:cNvSpPr>
            <a:spLocks xmlns:a="http://schemas.openxmlformats.org/drawingml/2006/main" noGrp="1"/>
          </p:cNvSpPr>
          <p:nvPr/>
        </p:nvSpPr>
        <p:spPr>
          <a:xfrm xmlns:a="http://schemas.openxmlformats.org/drawingml/2006/main">
            <a:off x="731520" y="1463040"/>
            <a:ext cx="87782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600" b="1">
                <a:solidFill>
                  <a:srgbClr val="FFFFFF"/>
                </a:solidFill>
                <a:latin typeface="Cambria"/>
                <a:ea typeface="Cambria"/>
                <a:cs typeface="Cambria"/>
              </a:rPr>
              <a:t>Relationships, traps, and models</a:t>
            </a:r>
            <a:endParaRPr sz="4600"/>
          </a:p>
        </p:txBody>
      </p:sp>
      <p:sp>
        <p:nvSpPr>
          <p:cNvPr id="6" name="Text 4">
            <a:extLst xmlns:a="http://schemas.openxmlformats.org/drawingml/2006/main">
              <a:ext uri="{FF2B5EF4-FFF2-40B4-BE49-F238E27FC236}">
                <a16:creationId xmlns:a16="http://schemas.microsoft.com/office/drawing/2014/main" id="{925C3F69-27EC-48BC-9C5B-7013C1845D4B}"/>
              </a:ext>
            </a:extLst>
          </p:cNvPr>
          <p:cNvSpPr>
            <a:spLocks xmlns:a="http://schemas.openxmlformats.org/drawingml/2006/main" noGrp="1"/>
          </p:cNvSpPr>
          <p:nvPr/>
        </p:nvSpPr>
        <p:spPr>
          <a:xfrm xmlns:a="http://schemas.openxmlformats.org/drawingml/2006/main">
            <a:off x="731520" y="2606040"/>
            <a:ext cx="78638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i="1">
                <a:solidFill>
                  <a:srgbClr val="AECBD1"/>
                </a:solidFill>
                <a:latin typeface="Calibri"/>
                <a:ea typeface="Calibri"/>
                <a:cs typeface="Calibri"/>
              </a:rPr>
              <a:t>Yesterday's pilot said reminders work. Today the full dataset will say the opposite. Resolving that contradiction is the most important thing this course teaches.</a:t>
            </a:r>
            <a:endParaRPr sz="1500"/>
          </a:p>
        </p:txBody>
      </p:sp>
      <p:sp>
        <p:nvSpPr>
          <p:cNvPr id="7" name="Shape 5">
            <a:extLst xmlns:a="http://schemas.openxmlformats.org/drawingml/2006/main">
              <a:ext uri="{FF2B5EF4-FFF2-40B4-BE49-F238E27FC236}">
                <a16:creationId xmlns:a16="http://schemas.microsoft.com/office/drawing/2014/main" id="{B18C2E16-3EC1-4A2A-BA6D-AF11E0258434}"/>
              </a:ext>
            </a:extLst>
          </p:cNvPr>
          <p:cNvSpPr>
            <a:spLocks xmlns:a="http://schemas.openxmlformats.org/drawingml/2006/main" noGrp="1"/>
          </p:cNvSpPr>
          <p:nvPr/>
        </p:nvSpPr>
        <p:spPr>
          <a:xfrm xmlns:a="http://schemas.openxmlformats.org/drawingml/2006/main">
            <a:off x="731520" y="3749040"/>
            <a:ext cx="6675120" cy="2148840"/>
          </a:xfrm>
          <a:prstGeom xmlns:a="http://schemas.openxmlformats.org/drawingml/2006/main" prst="roundRect">
            <a:avLst>
              <a:gd name="adj" fmla="val 3830"/>
            </a:avLst>
          </a:prstGeom>
          <a:solidFill xmlns:a="http://schemas.openxmlformats.org/drawingml/2006/main">
            <a:srgbClr val="123F52"/>
          </a:solidFill>
        </p:spPr>
      </p:sp>
      <p:sp>
        <p:nvSpPr>
          <p:cNvPr id="8" name="Text 6">
            <a:extLst xmlns:a="http://schemas.openxmlformats.org/drawingml/2006/main">
              <a:ext uri="{FF2B5EF4-FFF2-40B4-BE49-F238E27FC236}">
                <a16:creationId xmlns:a16="http://schemas.microsoft.com/office/drawing/2014/main" id="{14827B7F-248E-4C39-A019-8FAAE4C9F168}"/>
              </a:ext>
            </a:extLst>
          </p:cNvPr>
          <p:cNvSpPr>
            <a:spLocks xmlns:a="http://schemas.openxmlformats.org/drawingml/2006/main" noGrp="1"/>
          </p:cNvSpPr>
          <p:nvPr/>
        </p:nvSpPr>
        <p:spPr>
          <a:xfrm xmlns:a="http://schemas.openxmlformats.org/drawingml/2006/main">
            <a:off x="1005840" y="397764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300">
                <a:solidFill>
                  <a:srgbClr val="6FB3BC"/>
                </a:solidFill>
                <a:latin typeface="Calibri"/>
                <a:ea typeface="Calibri"/>
                <a:cs typeface="Calibri"/>
              </a:rPr>
              <a:t>MODULES</a:t>
            </a:r>
            <a:endParaRPr sz="1050"/>
          </a:p>
        </p:txBody>
      </p:sp>
      <p:sp>
        <p:nvSpPr>
          <p:cNvPr id="9" name="Text 7">
            <a:extLst xmlns:a="http://schemas.openxmlformats.org/drawingml/2006/main">
              <a:ext uri="{FF2B5EF4-FFF2-40B4-BE49-F238E27FC236}">
                <a16:creationId xmlns:a16="http://schemas.microsoft.com/office/drawing/2014/main" id="{2CEADD62-D798-40D0-BA96-F840C33D9BD7}"/>
              </a:ext>
            </a:extLst>
          </p:cNvPr>
          <p:cNvSpPr>
            <a:spLocks xmlns:a="http://schemas.openxmlformats.org/drawingml/2006/main" noGrp="1"/>
          </p:cNvSpPr>
          <p:nvPr/>
        </p:nvSpPr>
        <p:spPr>
          <a:xfrm xmlns:a="http://schemas.openxmlformats.org/drawingml/2006/main">
            <a:off x="1005840" y="4315968"/>
            <a:ext cx="62179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600"/>
              </a:spcAft>
              <a:buSzPct val="100000"/>
              <a:buChar char="•"/>
            </a:pPr>
            <a:r>
              <a:rPr sz="1350">
                <a:solidFill>
                  <a:srgbClr val="E8F1F2"/>
                </a:solidFill>
                <a:latin typeface="Calibri"/>
                <a:ea typeface="Calibri"/>
                <a:cs typeface="Calibri"/>
              </a:rPr>
              <a:t>Module 5 — Correlation, causation &amp; Simpson's paradox (2.5 h)</a:t>
            </a:r>
            <a:endParaRPr sz="1350"/>
          </a:p>
          <a:p xmlns:a="http://schemas.openxmlformats.org/drawingml/2006/main">
            <a:pPr marL="152400" indent="-152400">
              <a:lnSpc>
                <a:spcPct val="104000"/>
              </a:lnSpc>
              <a:spcAft>
                <a:spcPts val="600"/>
              </a:spcAft>
              <a:buSzPct val="100000"/>
              <a:buChar char="•"/>
            </a:pPr>
            <a:r>
              <a:rPr sz="1350">
                <a:solidFill>
                  <a:srgbClr val="E8F1F2"/>
                </a:solidFill>
                <a:latin typeface="Calibri"/>
                <a:ea typeface="Calibri"/>
                <a:cs typeface="Calibri"/>
              </a:rPr>
              <a:t>Module 6 — Regression: linear &amp; logistic (2.5 h)</a:t>
            </a:r>
            <a:endParaRPr sz="1350"/>
          </a:p>
        </p:txBody>
      </p:sp>
      <p:sp>
        <p:nvSpPr>
          <p:cNvPr id="10" name="Shape 8">
            <a:extLst xmlns:a="http://schemas.openxmlformats.org/drawingml/2006/main">
              <a:ext uri="{FF2B5EF4-FFF2-40B4-BE49-F238E27FC236}">
                <a16:creationId xmlns:a16="http://schemas.microsoft.com/office/drawing/2014/main" id="{B9A90AE1-DCED-4A3B-9EBE-7A4E57BF9CE1}"/>
              </a:ext>
            </a:extLst>
          </p:cNvPr>
          <p:cNvSpPr>
            <a:spLocks xmlns:a="http://schemas.openxmlformats.org/drawingml/2006/main" noGrp="1"/>
          </p:cNvSpPr>
          <p:nvPr/>
        </p:nvSpPr>
        <p:spPr>
          <a:xfrm xmlns:a="http://schemas.openxmlformats.org/drawingml/2006/main">
            <a:off x="7726680" y="3749040"/>
            <a:ext cx="3749040" cy="2148840"/>
          </a:xfrm>
          <a:prstGeom xmlns:a="http://schemas.openxmlformats.org/drawingml/2006/main" prst="roundRect">
            <a:avLst>
              <a:gd name="adj" fmla="val 3830"/>
            </a:avLst>
          </a:prstGeom>
          <a:solidFill xmlns:a="http://schemas.openxmlformats.org/drawingml/2006/main">
            <a:srgbClr val="0E7C86"/>
          </a:solidFill>
        </p:spPr>
      </p:sp>
      <p:sp>
        <p:nvSpPr>
          <p:cNvPr id="11" name="Text 9">
            <a:extLst xmlns:a="http://schemas.openxmlformats.org/drawingml/2006/main">
              <a:ext uri="{FF2B5EF4-FFF2-40B4-BE49-F238E27FC236}">
                <a16:creationId xmlns:a16="http://schemas.microsoft.com/office/drawing/2014/main" id="{E9C8183F-E2C8-4036-988C-F90C0F8AAD7F}"/>
              </a:ext>
            </a:extLst>
          </p:cNvPr>
          <p:cNvSpPr>
            <a:spLocks xmlns:a="http://schemas.openxmlformats.org/drawingml/2006/main" noGrp="1"/>
          </p:cNvSpPr>
          <p:nvPr/>
        </p:nvSpPr>
        <p:spPr>
          <a:xfrm xmlns:a="http://schemas.openxmlformats.org/drawingml/2006/main">
            <a:off x="8001000" y="397764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D3ECEF"/>
                </a:solidFill>
                <a:latin typeface="Calibri"/>
                <a:ea typeface="Calibri"/>
                <a:cs typeface="Calibri"/>
              </a:rPr>
              <a:t>END-OF-DAY DELIVERABLE</a:t>
            </a:r>
            <a:endParaRPr sz="1050"/>
          </a:p>
        </p:txBody>
      </p:sp>
      <p:sp>
        <p:nvSpPr>
          <p:cNvPr id="12" name="Text 10">
            <a:extLst xmlns:a="http://schemas.openxmlformats.org/drawingml/2006/main">
              <a:ext uri="{FF2B5EF4-FFF2-40B4-BE49-F238E27FC236}">
                <a16:creationId xmlns:a16="http://schemas.microsoft.com/office/drawing/2014/main" id="{6FB9BE03-7F50-45D5-9BB8-9D5FEE225E9E}"/>
              </a:ext>
            </a:extLst>
          </p:cNvPr>
          <p:cNvSpPr>
            <a:spLocks xmlns:a="http://schemas.openxmlformats.org/drawingml/2006/main" noGrp="1"/>
          </p:cNvSpPr>
          <p:nvPr/>
        </p:nvSpPr>
        <p:spPr>
          <a:xfrm xmlns:a="http://schemas.openxmlformats.org/drawingml/2006/main">
            <a:off x="8001000" y="4315968"/>
            <a:ext cx="32461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The paradox resolved with the data's own numbers, plus a driver model of waits and a risk model of no-shows — the analytical core of the capstone memo.</a:t>
            </a:r>
            <a:endParaRPr sz="1300"/>
          </a:p>
        </p:txBody>
      </p:sp>
    </p:spTree>
    <p:extLst>
      <p:ext uri="{BB962C8B-B14F-4D97-AF65-F5344CB8AC3E}">
        <p14:creationId xmlns:p14="http://schemas.microsoft.com/office/powerpoint/2010/main" val="318460927"/>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196BAC0-6E72-4629-8BC2-C283FD684EA0}"/>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4109ADC0-5BBF-4E67-B679-1B01133FE2C3}"/>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53</a:t>
            </a:r>
            <a:endParaRPr sz="900"/>
          </a:p>
        </p:txBody>
      </p:sp>
      <p:sp>
        <p:nvSpPr>
          <p:cNvPr id="4" name="Shape 2">
            <a:extLst xmlns:a="http://schemas.openxmlformats.org/drawingml/2006/main">
              <a:ext uri="{FF2B5EF4-FFF2-40B4-BE49-F238E27FC236}">
                <a16:creationId xmlns:a16="http://schemas.microsoft.com/office/drawing/2014/main" id="{4EB71D94-2117-44FE-B8B5-68931ACF0F83}"/>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A57A14A7-D685-4D03-A9C2-4512C78B8524}"/>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5</a:t>
            </a:r>
            <a:endParaRPr sz="1050"/>
          </a:p>
        </p:txBody>
      </p:sp>
      <p:sp>
        <p:nvSpPr>
          <p:cNvPr id="6" name="Text 4">
            <a:extLst xmlns:a="http://schemas.openxmlformats.org/drawingml/2006/main">
              <a:ext uri="{FF2B5EF4-FFF2-40B4-BE49-F238E27FC236}">
                <a16:creationId xmlns:a16="http://schemas.microsoft.com/office/drawing/2014/main" id="{91151A45-3BFC-46EB-85EC-0B840FA0348E}"/>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Correlation, causation, and Simpson's paradox</a:t>
            </a:r>
            <a:endParaRPr sz="2800"/>
          </a:p>
        </p:txBody>
      </p:sp>
      <p:sp>
        <p:nvSpPr>
          <p:cNvPr id="7" name="Shape 5">
            <a:extLst xmlns:a="http://schemas.openxmlformats.org/drawingml/2006/main">
              <a:ext uri="{FF2B5EF4-FFF2-40B4-BE49-F238E27FC236}">
                <a16:creationId xmlns:a16="http://schemas.microsoft.com/office/drawing/2014/main" id="{771F258D-DB23-4BBF-83ED-6B431762E4F3}"/>
              </a:ext>
            </a:extLst>
          </p:cNvPr>
          <p:cNvSpPr>
            <a:spLocks xmlns:a="http://schemas.openxmlformats.org/drawingml/2006/main" noGrp="1"/>
          </p:cNvSpPr>
          <p:nvPr/>
        </p:nvSpPr>
        <p:spPr>
          <a:xfrm xmlns:a="http://schemas.openxmlformats.org/drawingml/2006/main">
            <a:off x="502920" y="1563624"/>
            <a:ext cx="6720840" cy="4892040"/>
          </a:xfrm>
          <a:prstGeom xmlns:a="http://schemas.openxmlformats.org/drawingml/2006/main" prst="roundRect">
            <a:avLst>
              <a:gd name="adj" fmla="val 1682"/>
            </a:avLst>
          </a:prstGeom>
          <a:solidFill xmlns:a="http://schemas.openxmlformats.org/drawingml/2006/main">
            <a:srgbClr val="F3F8F9"/>
          </a:solidFill>
        </p:spPr>
      </p:sp>
      <p:sp>
        <p:nvSpPr>
          <p:cNvPr id="8" name="Shape 6">
            <a:extLst xmlns:a="http://schemas.openxmlformats.org/drawingml/2006/main">
              <a:ext uri="{FF2B5EF4-FFF2-40B4-BE49-F238E27FC236}">
                <a16:creationId xmlns:a16="http://schemas.microsoft.com/office/drawing/2014/main" id="{7807DB39-D70B-4144-A885-74E4CB70B3CC}"/>
              </a:ext>
            </a:extLst>
          </p:cNvPr>
          <p:cNvSpPr>
            <a:spLocks xmlns:a="http://schemas.openxmlformats.org/drawingml/2006/main" noGrp="1"/>
          </p:cNvSpPr>
          <p:nvPr/>
        </p:nvSpPr>
        <p:spPr>
          <a:xfrm xmlns:a="http://schemas.openxmlformats.org/drawingml/2006/main">
            <a:off x="868680" y="1929384"/>
            <a:ext cx="566928" cy="566928"/>
          </a:xfrm>
          <a:prstGeom xmlns:a="http://schemas.openxmlformats.org/drawingml/2006/main" prst="ellipse">
            <a:avLst/>
          </a:prstGeom>
          <a:solidFill xmlns:a="http://schemas.openxmlformats.org/drawingml/2006/main">
            <a:srgbClr val="0E7C86"/>
          </a:solidFill>
        </p:spPr>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f828ee0ec09e4e3d"/>
          <a:stretch xmlns:a="http://schemas.openxmlformats.org/drawingml/2006/main">
            <a:fillRect l="0" t="0" r="0" b="0"/>
          </a:stretch>
        </p:blipFill>
        <p:spPr>
          <a:xfrm xmlns:a="http://schemas.openxmlformats.org/drawingml/2006/main">
            <a:off x="1016081" y="2076785"/>
            <a:ext cx="272125" cy="272125"/>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3CEA63CD-BDD2-4277-9831-F5CFD97B1C80}"/>
              </a:ext>
            </a:extLst>
          </p:cNvPr>
          <p:cNvSpPr>
            <a:spLocks xmlns:a="http://schemas.openxmlformats.org/drawingml/2006/main" noGrp="1"/>
          </p:cNvSpPr>
          <p:nvPr/>
        </p:nvSpPr>
        <p:spPr>
          <a:xfrm xmlns:a="http://schemas.openxmlformats.org/drawingml/2006/main">
            <a:off x="1645920" y="1975104"/>
            <a:ext cx="5120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B3140"/>
                </a:solidFill>
                <a:latin typeface="Cambria"/>
                <a:ea typeface="Cambria"/>
                <a:cs typeface="Cambria"/>
              </a:rPr>
              <a:t>Why this module</a:t>
            </a:r>
            <a:endParaRPr sz="1600"/>
          </a:p>
        </p:txBody>
      </p:sp>
      <p:sp>
        <p:nvSpPr>
          <p:cNvPr id="11" name="Text 8">
            <a:extLst xmlns:a="http://schemas.openxmlformats.org/drawingml/2006/main">
              <a:ext uri="{FF2B5EF4-FFF2-40B4-BE49-F238E27FC236}">
                <a16:creationId xmlns:a16="http://schemas.microsoft.com/office/drawing/2014/main" id="{451C6C2B-26C9-4D17-A8E6-7EB91D915D91}"/>
              </a:ext>
            </a:extLst>
          </p:cNvPr>
          <p:cNvSpPr>
            <a:spLocks xmlns:a="http://schemas.openxmlformats.org/drawingml/2006/main" noGrp="1"/>
          </p:cNvSpPr>
          <p:nvPr/>
        </p:nvSpPr>
        <p:spPr>
          <a:xfrm xmlns:a="http://schemas.openxmlformats.org/drawingml/2006/main">
            <a:off x="868680" y="2706624"/>
            <a:ext cx="6035040" cy="3566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250">
                <a:solidFill>
                  <a:srgbClr val="24313A"/>
                </a:solidFill>
                <a:latin typeface="Calibri"/>
                <a:ea typeface="Calibri"/>
                <a:cs typeface="Calibri"/>
              </a:rPr>
              <a:t>This module exists because of one meeting that happens in every organisation: a crude comparison lands on an executive's desk and points the wrong way. In our data, patients who received reminders no-show MORE than patients who didn't — because reminders were targeted at exactly the patients most likely to miss. Module 5 teaches participants to see that structure: correlation measures, the four explanations for any association, confounding drawn as a DAG, Simpson's paradox live in the Mawid data, and standardization to compute what the crude comparison should have said.</a:t>
            </a:r>
            <a:endParaRPr sz="1250"/>
          </a:p>
          <a:p xmlns:a="http://schemas.openxmlformats.org/drawingml/2006/main">
            <a:pPr marL="0" indent="0">
              <a:lnSpc>
                <a:spcPct val="112000"/>
              </a:lnSpc>
              <a:buNone/>
            </a:pPr>
            <a:endParaRPr sz="1250"/>
          </a:p>
          <a:p xmlns:a="http://schemas.openxmlformats.org/drawingml/2006/main">
            <a:pPr marL="0" indent="0">
              <a:lnSpc>
                <a:spcPct val="112000"/>
              </a:lnSpc>
              <a:buNone/>
            </a:pPr>
            <a:r>
              <a:rPr sz="1250">
                <a:solidFill>
                  <a:srgbClr val="24313A"/>
                </a:solidFill>
                <a:latin typeface="Calibri"/>
                <a:ea typeface="Calibri"/>
                <a:cs typeface="Calibri"/>
              </a:rPr>
              <a:t>It is the intellectual peak of the course; everything before builds to it and the capstone is graded on it.</a:t>
            </a:r>
            <a:endParaRPr sz="1250"/>
          </a:p>
        </p:txBody>
      </p:sp>
      <p:sp>
        <p:nvSpPr>
          <p:cNvPr id="12" name="Shape 9">
            <a:extLst xmlns:a="http://schemas.openxmlformats.org/drawingml/2006/main">
              <a:ext uri="{FF2B5EF4-FFF2-40B4-BE49-F238E27FC236}">
                <a16:creationId xmlns:a16="http://schemas.microsoft.com/office/drawing/2014/main" id="{EFC652E1-D49F-4AC5-A007-BE4851690A0F}"/>
              </a:ext>
            </a:extLst>
          </p:cNvPr>
          <p:cNvSpPr>
            <a:spLocks xmlns:a="http://schemas.openxmlformats.org/drawingml/2006/main" noGrp="1"/>
          </p:cNvSpPr>
          <p:nvPr/>
        </p:nvSpPr>
        <p:spPr>
          <a:xfrm xmlns:a="http://schemas.openxmlformats.org/drawingml/2006/main">
            <a:off x="7498080" y="1563624"/>
            <a:ext cx="4160520" cy="4892040"/>
          </a:xfrm>
          <a:prstGeom xmlns:a="http://schemas.openxmlformats.org/drawingml/2006/main" prst="roundRect">
            <a:avLst>
              <a:gd name="adj" fmla="val 1978"/>
            </a:avLst>
          </a:prstGeom>
          <a:solidFill xmlns:a="http://schemas.openxmlformats.org/drawingml/2006/main">
            <a:srgbClr val="0B3140"/>
          </a:solidFill>
        </p:spPr>
      </p:sp>
      <p:sp>
        <p:nvSpPr>
          <p:cNvPr id="13" name="Text 10">
            <a:extLst xmlns:a="http://schemas.openxmlformats.org/drawingml/2006/main">
              <a:ext uri="{FF2B5EF4-FFF2-40B4-BE49-F238E27FC236}">
                <a16:creationId xmlns:a16="http://schemas.microsoft.com/office/drawing/2014/main" id="{E06C7D66-1DE0-4CAB-A9BD-92272CB7F34D}"/>
              </a:ext>
            </a:extLst>
          </p:cNvPr>
          <p:cNvSpPr>
            <a:spLocks xmlns:a="http://schemas.openxmlformats.org/drawingml/2006/main" noGrp="1"/>
          </p:cNvSpPr>
          <p:nvPr/>
        </p:nvSpPr>
        <p:spPr>
          <a:xfrm xmlns:a="http://schemas.openxmlformats.org/drawingml/2006/main">
            <a:off x="7818120" y="1837944"/>
            <a:ext cx="3566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FB3BC"/>
                </a:solidFill>
                <a:latin typeface="Calibri"/>
                <a:ea typeface="Calibri"/>
                <a:cs typeface="Calibri"/>
              </a:rPr>
              <a:t>LEARNING OBJECTIVES</a:t>
            </a:r>
            <a:endParaRPr sz="1050"/>
          </a:p>
        </p:txBody>
      </p:sp>
      <p:sp>
        <p:nvSpPr>
          <p:cNvPr id="14" name="Shape 11">
            <a:extLst xmlns:a="http://schemas.openxmlformats.org/drawingml/2006/main">
              <a:ext uri="{FF2B5EF4-FFF2-40B4-BE49-F238E27FC236}">
                <a16:creationId xmlns:a16="http://schemas.microsoft.com/office/drawing/2014/main" id="{5F9028CC-2C7A-408A-836A-2514F5F5895C}"/>
              </a:ext>
            </a:extLst>
          </p:cNvPr>
          <p:cNvSpPr>
            <a:spLocks xmlns:a="http://schemas.openxmlformats.org/drawingml/2006/main" noGrp="1"/>
          </p:cNvSpPr>
          <p:nvPr/>
        </p:nvSpPr>
        <p:spPr>
          <a:xfrm xmlns:a="http://schemas.openxmlformats.org/drawingml/2006/main">
            <a:off x="7818120" y="2267712"/>
            <a:ext cx="310896" cy="310896"/>
          </a:xfrm>
          <a:prstGeom xmlns:a="http://schemas.openxmlformats.org/drawingml/2006/main" prst="ellipse">
            <a:avLst/>
          </a:prstGeom>
          <a:solidFill xmlns:a="http://schemas.openxmlformats.org/drawingml/2006/main">
            <a:srgbClr val="0E7C86"/>
          </a:solidFill>
        </p:spPr>
      </p:sp>
      <p:sp>
        <p:nvSpPr>
          <p:cNvPr id="15" name="Text 12">
            <a:extLst xmlns:a="http://schemas.openxmlformats.org/drawingml/2006/main">
              <a:ext uri="{FF2B5EF4-FFF2-40B4-BE49-F238E27FC236}">
                <a16:creationId xmlns:a16="http://schemas.microsoft.com/office/drawing/2014/main" id="{884F7831-BEE5-4D18-95E2-35974F4D2651}"/>
              </a:ext>
            </a:extLst>
          </p:cNvPr>
          <p:cNvSpPr>
            <a:spLocks xmlns:a="http://schemas.openxmlformats.org/drawingml/2006/main" noGrp="1"/>
          </p:cNvSpPr>
          <p:nvPr/>
        </p:nvSpPr>
        <p:spPr>
          <a:xfrm xmlns:a="http://schemas.openxmlformats.org/drawingml/2006/main">
            <a:off x="7818120" y="2267712"/>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5.1</a:t>
            </a:r>
            <a:endParaRPr sz="1100"/>
          </a:p>
        </p:txBody>
      </p:sp>
      <p:sp>
        <p:nvSpPr>
          <p:cNvPr id="16" name="Text 13">
            <a:extLst xmlns:a="http://schemas.openxmlformats.org/drawingml/2006/main">
              <a:ext uri="{FF2B5EF4-FFF2-40B4-BE49-F238E27FC236}">
                <a16:creationId xmlns:a16="http://schemas.microsoft.com/office/drawing/2014/main" id="{D2C53612-AA8D-4E37-BED4-E6980A77E710}"/>
              </a:ext>
            </a:extLst>
          </p:cNvPr>
          <p:cNvSpPr>
            <a:spLocks xmlns:a="http://schemas.openxmlformats.org/drawingml/2006/main" noGrp="1"/>
          </p:cNvSpPr>
          <p:nvPr/>
        </p:nvSpPr>
        <p:spPr>
          <a:xfrm xmlns:a="http://schemas.openxmlformats.org/drawingml/2006/main">
            <a:off x="8257032" y="2249424"/>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Compute and interpret Pearson and Spearman correlations — and know when each applies</a:t>
            </a:r>
            <a:endParaRPr sz="1150"/>
          </a:p>
        </p:txBody>
      </p:sp>
      <p:sp>
        <p:nvSpPr>
          <p:cNvPr id="17" name="Shape 14">
            <a:extLst xmlns:a="http://schemas.openxmlformats.org/drawingml/2006/main">
              <a:ext uri="{FF2B5EF4-FFF2-40B4-BE49-F238E27FC236}">
                <a16:creationId xmlns:a16="http://schemas.microsoft.com/office/drawing/2014/main" id="{EDD2EE14-C3B0-45A7-9282-AB86FFFDF851}"/>
              </a:ext>
            </a:extLst>
          </p:cNvPr>
          <p:cNvSpPr>
            <a:spLocks xmlns:a="http://schemas.openxmlformats.org/drawingml/2006/main" noGrp="1"/>
          </p:cNvSpPr>
          <p:nvPr/>
        </p:nvSpPr>
        <p:spPr>
          <a:xfrm xmlns:a="http://schemas.openxmlformats.org/drawingml/2006/main">
            <a:off x="7818120" y="2926080"/>
            <a:ext cx="310896" cy="310896"/>
          </a:xfrm>
          <a:prstGeom xmlns:a="http://schemas.openxmlformats.org/drawingml/2006/main" prst="ellipse">
            <a:avLst/>
          </a:prstGeom>
          <a:solidFill xmlns:a="http://schemas.openxmlformats.org/drawingml/2006/main">
            <a:srgbClr val="0E7C86"/>
          </a:solidFill>
        </p:spPr>
      </p:sp>
      <p:sp>
        <p:nvSpPr>
          <p:cNvPr id="18" name="Text 15">
            <a:extLst xmlns:a="http://schemas.openxmlformats.org/drawingml/2006/main">
              <a:ext uri="{FF2B5EF4-FFF2-40B4-BE49-F238E27FC236}">
                <a16:creationId xmlns:a16="http://schemas.microsoft.com/office/drawing/2014/main" id="{059CA3EA-4FD4-437C-A796-46A93C7D476A}"/>
              </a:ext>
            </a:extLst>
          </p:cNvPr>
          <p:cNvSpPr>
            <a:spLocks xmlns:a="http://schemas.openxmlformats.org/drawingml/2006/main" noGrp="1"/>
          </p:cNvSpPr>
          <p:nvPr/>
        </p:nvSpPr>
        <p:spPr>
          <a:xfrm xmlns:a="http://schemas.openxmlformats.org/drawingml/2006/main">
            <a:off x="7818120" y="2926080"/>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5.2</a:t>
            </a:r>
            <a:endParaRPr sz="1100"/>
          </a:p>
        </p:txBody>
      </p:sp>
      <p:sp>
        <p:nvSpPr>
          <p:cNvPr id="19" name="Text 16">
            <a:extLst xmlns:a="http://schemas.openxmlformats.org/drawingml/2006/main">
              <a:ext uri="{FF2B5EF4-FFF2-40B4-BE49-F238E27FC236}">
                <a16:creationId xmlns:a16="http://schemas.microsoft.com/office/drawing/2014/main" id="{2BEE2B69-3900-49A7-A922-95F72E607585}"/>
              </a:ext>
            </a:extLst>
          </p:cNvPr>
          <p:cNvSpPr>
            <a:spLocks xmlns:a="http://schemas.openxmlformats.org/drawingml/2006/main" noGrp="1"/>
          </p:cNvSpPr>
          <p:nvPr/>
        </p:nvSpPr>
        <p:spPr>
          <a:xfrm xmlns:a="http://schemas.openxmlformats.org/drawingml/2006/main">
            <a:off x="8257032" y="2907792"/>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List the four explanations for any observed association before accepting one</a:t>
            </a:r>
            <a:endParaRPr sz="1150"/>
          </a:p>
        </p:txBody>
      </p:sp>
      <p:sp>
        <p:nvSpPr>
          <p:cNvPr id="20" name="Shape 17">
            <a:extLst xmlns:a="http://schemas.openxmlformats.org/drawingml/2006/main">
              <a:ext uri="{FF2B5EF4-FFF2-40B4-BE49-F238E27FC236}">
                <a16:creationId xmlns:a16="http://schemas.microsoft.com/office/drawing/2014/main" id="{FA50B1E0-1887-46F8-95EB-6E9EC1ABFDA9}"/>
              </a:ext>
            </a:extLst>
          </p:cNvPr>
          <p:cNvSpPr>
            <a:spLocks xmlns:a="http://schemas.openxmlformats.org/drawingml/2006/main" noGrp="1"/>
          </p:cNvSpPr>
          <p:nvPr/>
        </p:nvSpPr>
        <p:spPr>
          <a:xfrm xmlns:a="http://schemas.openxmlformats.org/drawingml/2006/main">
            <a:off x="7818120" y="3584448"/>
            <a:ext cx="310896" cy="310896"/>
          </a:xfrm>
          <a:prstGeom xmlns:a="http://schemas.openxmlformats.org/drawingml/2006/main" prst="ellipse">
            <a:avLst/>
          </a:prstGeom>
          <a:solidFill xmlns:a="http://schemas.openxmlformats.org/drawingml/2006/main">
            <a:srgbClr val="0E7C86"/>
          </a:solidFill>
        </p:spPr>
      </p:sp>
      <p:sp>
        <p:nvSpPr>
          <p:cNvPr id="21" name="Text 18">
            <a:extLst xmlns:a="http://schemas.openxmlformats.org/drawingml/2006/main">
              <a:ext uri="{FF2B5EF4-FFF2-40B4-BE49-F238E27FC236}">
                <a16:creationId xmlns:a16="http://schemas.microsoft.com/office/drawing/2014/main" id="{B4D73027-03AE-4459-9AF9-FE97E59B7CE4}"/>
              </a:ext>
            </a:extLst>
          </p:cNvPr>
          <p:cNvSpPr>
            <a:spLocks xmlns:a="http://schemas.openxmlformats.org/drawingml/2006/main" noGrp="1"/>
          </p:cNvSpPr>
          <p:nvPr/>
        </p:nvSpPr>
        <p:spPr>
          <a:xfrm xmlns:a="http://schemas.openxmlformats.org/drawingml/2006/main">
            <a:off x="7818120" y="358444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5.3</a:t>
            </a:r>
            <a:endParaRPr sz="1100"/>
          </a:p>
        </p:txBody>
      </p:sp>
      <p:sp>
        <p:nvSpPr>
          <p:cNvPr id="22" name="Text 19">
            <a:extLst xmlns:a="http://schemas.openxmlformats.org/drawingml/2006/main">
              <a:ext uri="{FF2B5EF4-FFF2-40B4-BE49-F238E27FC236}">
                <a16:creationId xmlns:a16="http://schemas.microsoft.com/office/drawing/2014/main" id="{9B666216-7199-4BC2-BDF4-34E5FB763F6A}"/>
              </a:ext>
            </a:extLst>
          </p:cNvPr>
          <p:cNvSpPr>
            <a:spLocks xmlns:a="http://schemas.openxmlformats.org/drawingml/2006/main" noGrp="1"/>
          </p:cNvSpPr>
          <p:nvPr/>
        </p:nvSpPr>
        <p:spPr>
          <a:xfrm xmlns:a="http://schemas.openxmlformats.org/drawingml/2006/main">
            <a:off x="8257032" y="3566160"/>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Read and draw simple DAGs: confounder, mediator, collider</a:t>
            </a:r>
            <a:endParaRPr sz="1150"/>
          </a:p>
        </p:txBody>
      </p:sp>
      <p:sp>
        <p:nvSpPr>
          <p:cNvPr id="23" name="Shape 20">
            <a:extLst xmlns:a="http://schemas.openxmlformats.org/drawingml/2006/main">
              <a:ext uri="{FF2B5EF4-FFF2-40B4-BE49-F238E27FC236}">
                <a16:creationId xmlns:a16="http://schemas.microsoft.com/office/drawing/2014/main" id="{E38EC3C3-1CAA-40AB-BE11-FF6097B91854}"/>
              </a:ext>
            </a:extLst>
          </p:cNvPr>
          <p:cNvSpPr>
            <a:spLocks xmlns:a="http://schemas.openxmlformats.org/drawingml/2006/main" noGrp="1"/>
          </p:cNvSpPr>
          <p:nvPr/>
        </p:nvSpPr>
        <p:spPr>
          <a:xfrm xmlns:a="http://schemas.openxmlformats.org/drawingml/2006/main">
            <a:off x="7818120" y="4242816"/>
            <a:ext cx="310896" cy="310896"/>
          </a:xfrm>
          <a:prstGeom xmlns:a="http://schemas.openxmlformats.org/drawingml/2006/main" prst="ellipse">
            <a:avLst/>
          </a:prstGeom>
          <a:solidFill xmlns:a="http://schemas.openxmlformats.org/drawingml/2006/main">
            <a:srgbClr val="0E7C86"/>
          </a:solidFill>
        </p:spPr>
      </p:sp>
      <p:sp>
        <p:nvSpPr>
          <p:cNvPr id="24" name="Text 21">
            <a:extLst xmlns:a="http://schemas.openxmlformats.org/drawingml/2006/main">
              <a:ext uri="{FF2B5EF4-FFF2-40B4-BE49-F238E27FC236}">
                <a16:creationId xmlns:a16="http://schemas.microsoft.com/office/drawing/2014/main" id="{719FCE18-444A-48AC-8908-D03210267ACC}"/>
              </a:ext>
            </a:extLst>
          </p:cNvPr>
          <p:cNvSpPr>
            <a:spLocks xmlns:a="http://schemas.openxmlformats.org/drawingml/2006/main" noGrp="1"/>
          </p:cNvSpPr>
          <p:nvPr/>
        </p:nvSpPr>
        <p:spPr>
          <a:xfrm xmlns:a="http://schemas.openxmlformats.org/drawingml/2006/main">
            <a:off x="7818120" y="4242816"/>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5.4</a:t>
            </a:r>
            <a:endParaRPr sz="1100"/>
          </a:p>
        </p:txBody>
      </p:sp>
      <p:sp>
        <p:nvSpPr>
          <p:cNvPr id="25" name="Text 22">
            <a:extLst xmlns:a="http://schemas.openxmlformats.org/drawingml/2006/main">
              <a:ext uri="{FF2B5EF4-FFF2-40B4-BE49-F238E27FC236}">
                <a16:creationId xmlns:a16="http://schemas.microsoft.com/office/drawing/2014/main" id="{40DE11AF-22E9-4ABF-8832-82BDE936D496}"/>
              </a:ext>
            </a:extLst>
          </p:cNvPr>
          <p:cNvSpPr>
            <a:spLocks xmlns:a="http://schemas.openxmlformats.org/drawingml/2006/main" noGrp="1"/>
          </p:cNvSpPr>
          <p:nvPr/>
        </p:nvSpPr>
        <p:spPr>
          <a:xfrm xmlns:a="http://schemas.openxmlformats.org/drawingml/2006/main">
            <a:off x="8257032" y="4224528"/>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Demonstrate Simpson's paradox in real data and explain its mechanism</a:t>
            </a:r>
            <a:endParaRPr sz="1150"/>
          </a:p>
        </p:txBody>
      </p:sp>
      <p:sp>
        <p:nvSpPr>
          <p:cNvPr id="26" name="Shape 23">
            <a:extLst xmlns:a="http://schemas.openxmlformats.org/drawingml/2006/main">
              <a:ext uri="{FF2B5EF4-FFF2-40B4-BE49-F238E27FC236}">
                <a16:creationId xmlns:a16="http://schemas.microsoft.com/office/drawing/2014/main" id="{474FFEAA-F1BD-473D-ABF3-1766E5BBBC52}"/>
              </a:ext>
            </a:extLst>
          </p:cNvPr>
          <p:cNvSpPr>
            <a:spLocks xmlns:a="http://schemas.openxmlformats.org/drawingml/2006/main" noGrp="1"/>
          </p:cNvSpPr>
          <p:nvPr/>
        </p:nvSpPr>
        <p:spPr>
          <a:xfrm xmlns:a="http://schemas.openxmlformats.org/drawingml/2006/main">
            <a:off x="7818120" y="4901184"/>
            <a:ext cx="310896" cy="310896"/>
          </a:xfrm>
          <a:prstGeom xmlns:a="http://schemas.openxmlformats.org/drawingml/2006/main" prst="ellipse">
            <a:avLst/>
          </a:prstGeom>
          <a:solidFill xmlns:a="http://schemas.openxmlformats.org/drawingml/2006/main">
            <a:srgbClr val="0E7C86"/>
          </a:solidFill>
        </p:spPr>
      </p:sp>
      <p:sp>
        <p:nvSpPr>
          <p:cNvPr id="27" name="Text 24">
            <a:extLst xmlns:a="http://schemas.openxmlformats.org/drawingml/2006/main">
              <a:ext uri="{FF2B5EF4-FFF2-40B4-BE49-F238E27FC236}">
                <a16:creationId xmlns:a16="http://schemas.microsoft.com/office/drawing/2014/main" id="{8EEC1845-B24D-40E9-B327-8523449A49A5}"/>
              </a:ext>
            </a:extLst>
          </p:cNvPr>
          <p:cNvSpPr>
            <a:spLocks xmlns:a="http://schemas.openxmlformats.org/drawingml/2006/main" noGrp="1"/>
          </p:cNvSpPr>
          <p:nvPr/>
        </p:nvSpPr>
        <p:spPr>
          <a:xfrm xmlns:a="http://schemas.openxmlformats.org/drawingml/2006/main">
            <a:off x="7818120" y="490118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5.5</a:t>
            </a:r>
            <a:endParaRPr sz="1100"/>
          </a:p>
        </p:txBody>
      </p:sp>
      <p:sp>
        <p:nvSpPr>
          <p:cNvPr id="28" name="Text 25">
            <a:extLst xmlns:a="http://schemas.openxmlformats.org/drawingml/2006/main">
              <a:ext uri="{FF2B5EF4-FFF2-40B4-BE49-F238E27FC236}">
                <a16:creationId xmlns:a16="http://schemas.microsoft.com/office/drawing/2014/main" id="{2D094553-3FD8-46A9-AF2D-F66B04EDF062}"/>
              </a:ext>
            </a:extLst>
          </p:cNvPr>
          <p:cNvSpPr>
            <a:spLocks xmlns:a="http://schemas.openxmlformats.org/drawingml/2006/main" noGrp="1"/>
          </p:cNvSpPr>
          <p:nvPr/>
        </p:nvSpPr>
        <p:spPr>
          <a:xfrm xmlns:a="http://schemas.openxmlformats.org/drawingml/2006/main">
            <a:off x="8257032" y="4882896"/>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Apply stratification and standardization to recover an adjusted comparison</a:t>
            </a:r>
            <a:endParaRPr sz="1150"/>
          </a:p>
        </p:txBody>
      </p:sp>
    </p:spTree>
    <p:extLst>
      <p:ext uri="{BB962C8B-B14F-4D97-AF65-F5344CB8AC3E}">
        <p14:creationId xmlns:p14="http://schemas.microsoft.com/office/powerpoint/2010/main" val="1321176320"/>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5943048-A8A1-4038-A915-521ACF374FCA}"/>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1461596B-A0EC-4D32-BA53-336E66447329}"/>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54</a:t>
            </a:r>
            <a:endParaRPr sz="900"/>
          </a:p>
        </p:txBody>
      </p:sp>
      <p:sp>
        <p:nvSpPr>
          <p:cNvPr id="4" name="Shape 2">
            <a:extLst xmlns:a="http://schemas.openxmlformats.org/drawingml/2006/main">
              <a:ext uri="{FF2B5EF4-FFF2-40B4-BE49-F238E27FC236}">
                <a16:creationId xmlns:a16="http://schemas.microsoft.com/office/drawing/2014/main" id="{1BE3738E-2C0A-4586-9EC2-0D7826B429E9}"/>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A6745BE6-FF1C-4A75-8AD4-0EF1210D6D92}"/>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5</a:t>
            </a:r>
            <a:endParaRPr sz="1050"/>
          </a:p>
        </p:txBody>
      </p:sp>
      <p:sp>
        <p:nvSpPr>
          <p:cNvPr id="6" name="Text 4">
            <a:extLst xmlns:a="http://schemas.openxmlformats.org/drawingml/2006/main">
              <a:ext uri="{FF2B5EF4-FFF2-40B4-BE49-F238E27FC236}">
                <a16:creationId xmlns:a16="http://schemas.microsoft.com/office/drawing/2014/main" id="{565CFB60-EA26-41CA-A0CB-FC84DE42508B}"/>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Measuring association: Pearson, Spearman, and their blind spots</a:t>
            </a:r>
            <a:endParaRPr sz="2800"/>
          </a:p>
        </p:txBody>
      </p:sp>
      <p:sp>
        <p:nvSpPr>
          <p:cNvPr id="7" name="Text 5">
            <a:extLst xmlns:a="http://schemas.openxmlformats.org/drawingml/2006/main">
              <a:ext uri="{FF2B5EF4-FFF2-40B4-BE49-F238E27FC236}">
                <a16:creationId xmlns:a16="http://schemas.microsoft.com/office/drawing/2014/main" id="{749561F2-1684-4582-BB0F-446F1D410A6D}"/>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A number that summarises a scatterplot — and only honestly if you look at the scatterplot</a:t>
            </a:r>
            <a:endParaRPr sz="1350"/>
          </a:p>
        </p:txBody>
      </p:sp>
      <p:sp>
        <p:nvSpPr>
          <p:cNvPr id="8" name="Shape 6">
            <a:extLst xmlns:a="http://schemas.openxmlformats.org/drawingml/2006/main">
              <a:ext uri="{FF2B5EF4-FFF2-40B4-BE49-F238E27FC236}">
                <a16:creationId xmlns:a16="http://schemas.microsoft.com/office/drawing/2014/main" id="{AD59EB69-CB14-4B0B-8DB3-3CA05A9EADC9}"/>
              </a:ext>
            </a:extLst>
          </p:cNvPr>
          <p:cNvSpPr>
            <a:spLocks xmlns:a="http://schemas.openxmlformats.org/drawingml/2006/main" noGrp="1"/>
          </p:cNvSpPr>
          <p:nvPr/>
        </p:nvSpPr>
        <p:spPr>
          <a:xfrm xmlns:a="http://schemas.openxmlformats.org/drawingml/2006/main">
            <a:off x="502920" y="1819656"/>
            <a:ext cx="5532120" cy="1965960"/>
          </a:xfrm>
          <a:prstGeom xmlns:a="http://schemas.openxmlformats.org/drawingml/2006/main" prst="roundRect">
            <a:avLst>
              <a:gd name="adj" fmla="val 4186"/>
            </a:avLst>
          </a:prstGeom>
          <a:solidFill xmlns:a="http://schemas.openxmlformats.org/drawingml/2006/main">
            <a:srgbClr val="F3F8F9"/>
          </a:solidFill>
        </p:spPr>
      </p:sp>
      <p:sp>
        <p:nvSpPr>
          <p:cNvPr id="9" name="Text 7">
            <a:extLst xmlns:a="http://schemas.openxmlformats.org/drawingml/2006/main">
              <a:ext uri="{FF2B5EF4-FFF2-40B4-BE49-F238E27FC236}">
                <a16:creationId xmlns:a16="http://schemas.microsoft.com/office/drawing/2014/main" id="{1F1F1D88-D875-4D8D-98B0-B7A707DE30A9}"/>
              </a:ext>
            </a:extLst>
          </p:cNvPr>
          <p:cNvSpPr>
            <a:spLocks xmlns:a="http://schemas.openxmlformats.org/drawingml/2006/main" noGrp="1"/>
          </p:cNvSpPr>
          <p:nvPr/>
        </p:nvSpPr>
        <p:spPr>
          <a:xfrm xmlns:a="http://schemas.openxmlformats.org/drawingml/2006/main">
            <a:off x="777240" y="2002536"/>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C64"/>
                </a:solidFill>
                <a:latin typeface="Cambria"/>
                <a:ea typeface="Cambria"/>
                <a:cs typeface="Cambria"/>
              </a:rPr>
              <a:t>Pearson r</a:t>
            </a:r>
            <a:endParaRPr sz="1450"/>
          </a:p>
        </p:txBody>
      </p:sp>
      <p:sp>
        <p:nvSpPr>
          <p:cNvPr id="10" name="Text 8">
            <a:extLst xmlns:a="http://schemas.openxmlformats.org/drawingml/2006/main">
              <a:ext uri="{FF2B5EF4-FFF2-40B4-BE49-F238E27FC236}">
                <a16:creationId xmlns:a16="http://schemas.microsoft.com/office/drawing/2014/main" id="{E5B570DD-7EFE-491C-8CC6-0086205E0357}"/>
              </a:ext>
            </a:extLst>
          </p:cNvPr>
          <p:cNvSpPr>
            <a:spLocks xmlns:a="http://schemas.openxmlformats.org/drawingml/2006/main" noGrp="1"/>
          </p:cNvSpPr>
          <p:nvPr/>
        </p:nvSpPr>
        <p:spPr>
          <a:xfrm xmlns:a="http://schemas.openxmlformats.org/drawingml/2006/main">
            <a:off x="777240" y="2386584"/>
            <a:ext cx="50292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30">
                <a:solidFill>
                  <a:srgbClr val="24313A"/>
                </a:solidFill>
                <a:latin typeface="Calibri"/>
                <a:ea typeface="Calibri"/>
                <a:cs typeface="Calibri"/>
              </a:rPr>
              <a:t>Linear association of two numeric variables. Sensitive to outliers and only sees straight lines.</a:t>
            </a:r>
            <a:endParaRPr sz="1130"/>
          </a:p>
        </p:txBody>
      </p:sp>
      <p:sp>
        <p:nvSpPr>
          <p:cNvPr id="11" name="Text 9">
            <a:extLst xmlns:a="http://schemas.openxmlformats.org/drawingml/2006/main">
              <a:ext uri="{FF2B5EF4-FFF2-40B4-BE49-F238E27FC236}">
                <a16:creationId xmlns:a16="http://schemas.microsoft.com/office/drawing/2014/main" id="{E98DC247-0248-439A-954C-3C82FC49A59C}"/>
              </a:ext>
            </a:extLst>
          </p:cNvPr>
          <p:cNvSpPr>
            <a:spLocks xmlns:a="http://schemas.openxmlformats.org/drawingml/2006/main" noGrp="1"/>
          </p:cNvSpPr>
          <p:nvPr/>
        </p:nvSpPr>
        <p:spPr>
          <a:xfrm xmlns:a="http://schemas.openxmlformats.org/drawingml/2006/main">
            <a:off x="777240" y="3118104"/>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80" i="1">
                <a:solidFill>
                  <a:srgbClr val="5B6B75"/>
                </a:solidFill>
                <a:latin typeface="Calibri"/>
                <a:ea typeface="Calibri"/>
                <a:cs typeface="Calibri"/>
              </a:rPr>
              <a:t>lead_time_days × no_show: r ≈ +0.09 — weak linear signal, real operational meaning at scale</a:t>
            </a:r>
            <a:endParaRPr sz="1080"/>
          </a:p>
        </p:txBody>
      </p:sp>
      <p:sp>
        <p:nvSpPr>
          <p:cNvPr id="12" name="Shape 10">
            <a:extLst xmlns:a="http://schemas.openxmlformats.org/drawingml/2006/main">
              <a:ext uri="{FF2B5EF4-FFF2-40B4-BE49-F238E27FC236}">
                <a16:creationId xmlns:a16="http://schemas.microsoft.com/office/drawing/2014/main" id="{ECCAABCB-5032-4106-81EA-7959E532A805}"/>
              </a:ext>
            </a:extLst>
          </p:cNvPr>
          <p:cNvSpPr>
            <a:spLocks xmlns:a="http://schemas.openxmlformats.org/drawingml/2006/main" noGrp="1"/>
          </p:cNvSpPr>
          <p:nvPr/>
        </p:nvSpPr>
        <p:spPr>
          <a:xfrm xmlns:a="http://schemas.openxmlformats.org/drawingml/2006/main">
            <a:off x="6172200" y="1819656"/>
            <a:ext cx="5532120" cy="1965960"/>
          </a:xfrm>
          <a:prstGeom xmlns:a="http://schemas.openxmlformats.org/drawingml/2006/main" prst="roundRect">
            <a:avLst>
              <a:gd name="adj" fmla="val 4186"/>
            </a:avLst>
          </a:prstGeom>
          <a:solidFill xmlns:a="http://schemas.openxmlformats.org/drawingml/2006/main">
            <a:srgbClr val="F3F8F9"/>
          </a:solidFill>
        </p:spPr>
      </p:sp>
      <p:sp>
        <p:nvSpPr>
          <p:cNvPr id="13" name="Text 11">
            <a:extLst xmlns:a="http://schemas.openxmlformats.org/drawingml/2006/main">
              <a:ext uri="{FF2B5EF4-FFF2-40B4-BE49-F238E27FC236}">
                <a16:creationId xmlns:a16="http://schemas.microsoft.com/office/drawing/2014/main" id="{EA543EE7-970C-4CB2-80A6-D550B1612099}"/>
              </a:ext>
            </a:extLst>
          </p:cNvPr>
          <p:cNvSpPr>
            <a:spLocks xmlns:a="http://schemas.openxmlformats.org/drawingml/2006/main" noGrp="1"/>
          </p:cNvSpPr>
          <p:nvPr/>
        </p:nvSpPr>
        <p:spPr>
          <a:xfrm xmlns:a="http://schemas.openxmlformats.org/drawingml/2006/main">
            <a:off x="6446520" y="2002536"/>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C64"/>
                </a:solidFill>
                <a:latin typeface="Cambria"/>
                <a:ea typeface="Cambria"/>
                <a:cs typeface="Cambria"/>
              </a:rPr>
              <a:t>Spearman ρ</a:t>
            </a:r>
            <a:endParaRPr sz="1450"/>
          </a:p>
        </p:txBody>
      </p:sp>
      <p:sp>
        <p:nvSpPr>
          <p:cNvPr id="14" name="Text 12">
            <a:extLst xmlns:a="http://schemas.openxmlformats.org/drawingml/2006/main">
              <a:ext uri="{FF2B5EF4-FFF2-40B4-BE49-F238E27FC236}">
                <a16:creationId xmlns:a16="http://schemas.microsoft.com/office/drawing/2014/main" id="{57DDF9FE-BCD2-439A-962C-4BCAE8545DDD}"/>
              </a:ext>
            </a:extLst>
          </p:cNvPr>
          <p:cNvSpPr>
            <a:spLocks xmlns:a="http://schemas.openxmlformats.org/drawingml/2006/main" noGrp="1"/>
          </p:cNvSpPr>
          <p:nvPr/>
        </p:nvSpPr>
        <p:spPr>
          <a:xfrm xmlns:a="http://schemas.openxmlformats.org/drawingml/2006/main">
            <a:off x="6446520" y="2386584"/>
            <a:ext cx="50292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30">
                <a:solidFill>
                  <a:srgbClr val="24313A"/>
                </a:solidFill>
                <a:latin typeface="Calibri"/>
                <a:ea typeface="Calibri"/>
                <a:cs typeface="Calibri"/>
              </a:rPr>
              <a:t>Rank-based; monotone association. Robust to outliers and skew — the safer default for wait times.</a:t>
            </a:r>
            <a:endParaRPr sz="1130"/>
          </a:p>
        </p:txBody>
      </p:sp>
      <p:sp>
        <p:nvSpPr>
          <p:cNvPr id="15" name="Text 13">
            <a:extLst xmlns:a="http://schemas.openxmlformats.org/drawingml/2006/main">
              <a:ext uri="{FF2B5EF4-FFF2-40B4-BE49-F238E27FC236}">
                <a16:creationId xmlns:a16="http://schemas.microsoft.com/office/drawing/2014/main" id="{22B8CE87-412A-4A30-B6F6-01501464FCAD}"/>
              </a:ext>
            </a:extLst>
          </p:cNvPr>
          <p:cNvSpPr>
            <a:spLocks xmlns:a="http://schemas.openxmlformats.org/drawingml/2006/main" noGrp="1"/>
          </p:cNvSpPr>
          <p:nvPr/>
        </p:nvSpPr>
        <p:spPr>
          <a:xfrm xmlns:a="http://schemas.openxmlformats.org/drawingml/2006/main">
            <a:off x="6446520" y="3118104"/>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80" i="1">
                <a:solidFill>
                  <a:srgbClr val="5B6B75"/>
                </a:solidFill>
                <a:latin typeface="Calibri"/>
                <a:ea typeface="Calibri"/>
                <a:cs typeface="Calibri"/>
              </a:rPr>
              <a:t>staff_on_shift × wait_time: ρ ≈ −0.19 — more staff, shorter waits, not perfectly linear</a:t>
            </a:r>
            <a:endParaRPr sz="1080"/>
          </a:p>
        </p:txBody>
      </p:sp>
      <p:sp>
        <p:nvSpPr>
          <p:cNvPr id="16" name="Shape 14">
            <a:extLst xmlns:a="http://schemas.openxmlformats.org/drawingml/2006/main">
              <a:ext uri="{FF2B5EF4-FFF2-40B4-BE49-F238E27FC236}">
                <a16:creationId xmlns:a16="http://schemas.microsoft.com/office/drawing/2014/main" id="{3490E370-80B3-4CC3-B23C-6D3EA0745CFC}"/>
              </a:ext>
            </a:extLst>
          </p:cNvPr>
          <p:cNvSpPr>
            <a:spLocks xmlns:a="http://schemas.openxmlformats.org/drawingml/2006/main" noGrp="1"/>
          </p:cNvSpPr>
          <p:nvPr/>
        </p:nvSpPr>
        <p:spPr>
          <a:xfrm xmlns:a="http://schemas.openxmlformats.org/drawingml/2006/main">
            <a:off x="502920" y="3986784"/>
            <a:ext cx="11201400" cy="2377440"/>
          </a:xfrm>
          <a:prstGeom xmlns:a="http://schemas.openxmlformats.org/drawingml/2006/main" prst="roundRect">
            <a:avLst>
              <a:gd name="adj" fmla="val 3462"/>
            </a:avLst>
          </a:prstGeom>
          <a:solidFill xmlns:a="http://schemas.openxmlformats.org/drawingml/2006/main">
            <a:srgbClr val="0B3140"/>
          </a:solidFill>
        </p:spPr>
      </p:sp>
      <p:sp>
        <p:nvSpPr>
          <p:cNvPr id="17" name="Text 15">
            <a:extLst xmlns:a="http://schemas.openxmlformats.org/drawingml/2006/main">
              <a:ext uri="{FF2B5EF4-FFF2-40B4-BE49-F238E27FC236}">
                <a16:creationId xmlns:a16="http://schemas.microsoft.com/office/drawing/2014/main" id="{2DF8C82D-25C8-4AC3-89E3-ED161F48ACCF}"/>
              </a:ext>
            </a:extLst>
          </p:cNvPr>
          <p:cNvSpPr>
            <a:spLocks xmlns:a="http://schemas.openxmlformats.org/drawingml/2006/main" noGrp="1"/>
          </p:cNvSpPr>
          <p:nvPr/>
        </p:nvSpPr>
        <p:spPr>
          <a:xfrm xmlns:a="http://schemas.openxmlformats.org/drawingml/2006/main">
            <a:off x="868680" y="4169664"/>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FB3BC"/>
                </a:solidFill>
                <a:latin typeface="Calibri"/>
                <a:ea typeface="Calibri"/>
                <a:cs typeface="Calibri"/>
              </a:rPr>
              <a:t>ANSCOMBE'S WARNING (LIVE DEMO)</a:t>
            </a:r>
            <a:endParaRPr sz="1050"/>
          </a:p>
        </p:txBody>
      </p:sp>
      <p:sp>
        <p:nvSpPr>
          <p:cNvPr id="18" name="Text 16">
            <a:extLst xmlns:a="http://schemas.openxmlformats.org/drawingml/2006/main">
              <a:ext uri="{FF2B5EF4-FFF2-40B4-BE49-F238E27FC236}">
                <a16:creationId xmlns:a16="http://schemas.microsoft.com/office/drawing/2014/main" id="{5521E33A-F74B-49B5-AF7F-1E9B8EDDD22E}"/>
              </a:ext>
            </a:extLst>
          </p:cNvPr>
          <p:cNvSpPr>
            <a:spLocks xmlns:a="http://schemas.openxmlformats.org/drawingml/2006/main" noGrp="1"/>
          </p:cNvSpPr>
          <p:nvPr/>
        </p:nvSpPr>
        <p:spPr>
          <a:xfrm xmlns:a="http://schemas.openxmlformats.org/drawingml/2006/main">
            <a:off x="868680" y="4535424"/>
            <a:ext cx="10424160" cy="1691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700"/>
              </a:spcAft>
              <a:buSzPct val="100000"/>
              <a:buChar char="•"/>
            </a:pPr>
            <a:r>
              <a:rPr sz="1220">
                <a:solidFill>
                  <a:srgbClr val="E8F1F2"/>
                </a:solidFill>
                <a:latin typeface="Calibri"/>
                <a:ea typeface="Calibri"/>
                <a:cs typeface="Calibri"/>
              </a:rPr>
              <a:t>Four datasets, identical r ≈ 0.816: a clean line, a curve, an outlier-driven line, and a vertical stack with one point.</a:t>
            </a:r>
            <a:endParaRPr sz="1220"/>
          </a:p>
          <a:p xmlns:a="http://schemas.openxmlformats.org/drawingml/2006/main">
            <a:pPr marL="152400" indent="-152400">
              <a:lnSpc>
                <a:spcPct val="104000"/>
              </a:lnSpc>
              <a:spcAft>
                <a:spcPts val="700"/>
              </a:spcAft>
              <a:buSzPct val="100000"/>
              <a:buChar char="•"/>
            </a:pPr>
            <a:r>
              <a:rPr sz="1220">
                <a:solidFill>
                  <a:srgbClr val="E8F1F2"/>
                </a:solidFill>
                <a:latin typeface="Calibri"/>
                <a:ea typeface="Calibri"/>
                <a:cs typeface="Calibri"/>
              </a:rPr>
              <a:t>Same summary statistic, four different stories — the correlation coefficient compresses away exactly what you need to see.</a:t>
            </a:r>
            <a:endParaRPr sz="1220"/>
          </a:p>
          <a:p xmlns:a="http://schemas.openxmlformats.org/drawingml/2006/main">
            <a:pPr marL="152400" indent="-152400">
              <a:lnSpc>
                <a:spcPct val="104000"/>
              </a:lnSpc>
              <a:spcAft>
                <a:spcPts val="700"/>
              </a:spcAft>
              <a:buSzPct val="100000"/>
              <a:buChar char="•"/>
            </a:pPr>
            <a:r>
              <a:rPr sz="1220" b="1">
                <a:solidFill>
                  <a:srgbClr val="FFFFFF"/>
                </a:solidFill>
                <a:latin typeface="Calibri"/>
                <a:ea typeface="Calibri"/>
                <a:cs typeface="Calibri"/>
              </a:rPr>
              <a:t>Course rule: no correlation is reported without its scatterplot having been looked at.</a:t>
            </a:r>
            <a:endParaRPr sz="1220"/>
          </a:p>
        </p:txBody>
      </p:sp>
    </p:spTree>
    <p:extLst>
      <p:ext uri="{BB962C8B-B14F-4D97-AF65-F5344CB8AC3E}">
        <p14:creationId xmlns:p14="http://schemas.microsoft.com/office/powerpoint/2010/main" val="995589069"/>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2D50A8F-0194-4F84-B425-068BEEA058F8}"/>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90C38967-1384-46BB-9343-BF14F41577F4}"/>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55</a:t>
            </a:r>
            <a:endParaRPr sz="900"/>
          </a:p>
        </p:txBody>
      </p:sp>
      <p:sp>
        <p:nvSpPr>
          <p:cNvPr id="4" name="Shape 2">
            <a:extLst xmlns:a="http://schemas.openxmlformats.org/drawingml/2006/main">
              <a:ext uri="{FF2B5EF4-FFF2-40B4-BE49-F238E27FC236}">
                <a16:creationId xmlns:a16="http://schemas.microsoft.com/office/drawing/2014/main" id="{0BCD090E-86DC-45E8-8290-C578828EA6C0}"/>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DB6F952D-3DFE-4B01-B597-1B2E7922B3B6}"/>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5</a:t>
            </a:r>
            <a:endParaRPr sz="1050"/>
          </a:p>
        </p:txBody>
      </p:sp>
      <p:sp>
        <p:nvSpPr>
          <p:cNvPr id="6" name="Text 4">
            <a:extLst xmlns:a="http://schemas.openxmlformats.org/drawingml/2006/main">
              <a:ext uri="{FF2B5EF4-FFF2-40B4-BE49-F238E27FC236}">
                <a16:creationId xmlns:a16="http://schemas.microsoft.com/office/drawing/2014/main" id="{2BEBD595-BB79-4F8E-A7E4-9251B01FDE48}"/>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An association has four possible explanations</a:t>
            </a:r>
            <a:endParaRPr sz="2800"/>
          </a:p>
        </p:txBody>
      </p:sp>
      <p:sp>
        <p:nvSpPr>
          <p:cNvPr id="7" name="Text 5">
            <a:extLst xmlns:a="http://schemas.openxmlformats.org/drawingml/2006/main">
              <a:ext uri="{FF2B5EF4-FFF2-40B4-BE49-F238E27FC236}">
                <a16:creationId xmlns:a16="http://schemas.microsoft.com/office/drawing/2014/main" id="{411C620C-86B9-43F5-8386-178D4822F862}"/>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Discipline: list all four before believing any one</a:t>
            </a:r>
            <a:endParaRPr sz="1350"/>
          </a:p>
        </p:txBody>
      </p:sp>
      <p:sp>
        <p:nvSpPr>
          <p:cNvPr id="8" name="Shape 6">
            <a:extLst xmlns:a="http://schemas.openxmlformats.org/drawingml/2006/main">
              <a:ext uri="{FF2B5EF4-FFF2-40B4-BE49-F238E27FC236}">
                <a16:creationId xmlns:a16="http://schemas.microsoft.com/office/drawing/2014/main" id="{8AC751B6-F85A-4F62-A003-27716F06BC50}"/>
              </a:ext>
            </a:extLst>
          </p:cNvPr>
          <p:cNvSpPr>
            <a:spLocks xmlns:a="http://schemas.openxmlformats.org/drawingml/2006/main" noGrp="1"/>
          </p:cNvSpPr>
          <p:nvPr/>
        </p:nvSpPr>
        <p:spPr>
          <a:xfrm xmlns:a="http://schemas.openxmlformats.org/drawingml/2006/main">
            <a:off x="502920" y="1819656"/>
            <a:ext cx="5532120" cy="1463040"/>
          </a:xfrm>
          <a:prstGeom xmlns:a="http://schemas.openxmlformats.org/drawingml/2006/main" prst="roundRect">
            <a:avLst>
              <a:gd name="adj" fmla="val 5625"/>
            </a:avLst>
          </a:prstGeom>
          <a:solidFill xmlns:a="http://schemas.openxmlformats.org/drawingml/2006/main">
            <a:srgbClr val="E7F2F3"/>
          </a:solidFill>
        </p:spPr>
      </p:sp>
      <p:sp>
        <p:nvSpPr>
          <p:cNvPr id="9" name="Shape 7">
            <a:extLst xmlns:a="http://schemas.openxmlformats.org/drawingml/2006/main">
              <a:ext uri="{FF2B5EF4-FFF2-40B4-BE49-F238E27FC236}">
                <a16:creationId xmlns:a16="http://schemas.microsoft.com/office/drawing/2014/main" id="{A702BA89-5033-4A7B-99E9-67A8836DCD32}"/>
              </a:ext>
            </a:extLst>
          </p:cNvPr>
          <p:cNvSpPr>
            <a:spLocks xmlns:a="http://schemas.openxmlformats.org/drawingml/2006/main" noGrp="1"/>
          </p:cNvSpPr>
          <p:nvPr/>
        </p:nvSpPr>
        <p:spPr>
          <a:xfrm xmlns:a="http://schemas.openxmlformats.org/drawingml/2006/main">
            <a:off x="704088" y="2002536"/>
            <a:ext cx="420624" cy="420624"/>
          </a:xfrm>
          <a:prstGeom xmlns:a="http://schemas.openxmlformats.org/drawingml/2006/main" prst="ellipse">
            <a:avLst/>
          </a:prstGeom>
          <a:solidFill xmlns:a="http://schemas.openxmlformats.org/drawingml/2006/main">
            <a:srgbClr val="0A5C64"/>
          </a:solidFill>
        </p:spPr>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6c080f6ac1a94cb1"/>
          <a:stretch xmlns:a="http://schemas.openxmlformats.org/drawingml/2006/main">
            <a:fillRect l="0" t="0" r="0" b="0"/>
          </a:stretch>
        </p:blipFill>
        <p:spPr>
          <a:xfrm xmlns:a="http://schemas.openxmlformats.org/drawingml/2006/main">
            <a:off x="813450" y="2111898"/>
            <a:ext cx="201900" cy="201900"/>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46BAB54C-D816-4B00-8A63-BB0509EBBF55}"/>
              </a:ext>
            </a:extLst>
          </p:cNvPr>
          <p:cNvSpPr>
            <a:spLocks xmlns:a="http://schemas.openxmlformats.org/drawingml/2006/main" noGrp="1"/>
          </p:cNvSpPr>
          <p:nvPr/>
        </p:nvSpPr>
        <p:spPr>
          <a:xfrm xmlns:a="http://schemas.openxmlformats.org/drawingml/2006/main">
            <a:off x="1252728" y="2020824"/>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X causes Y</a:t>
            </a:r>
            <a:endParaRPr sz="1350"/>
          </a:p>
        </p:txBody>
      </p:sp>
      <p:sp>
        <p:nvSpPr>
          <p:cNvPr id="12" name="Text 9">
            <a:extLst xmlns:a="http://schemas.openxmlformats.org/drawingml/2006/main">
              <a:ext uri="{FF2B5EF4-FFF2-40B4-BE49-F238E27FC236}">
                <a16:creationId xmlns:a16="http://schemas.microsoft.com/office/drawing/2014/main" id="{F1DAFEC5-8C0C-4456-A5E7-AABE9122331F}"/>
              </a:ext>
            </a:extLst>
          </p:cNvPr>
          <p:cNvSpPr>
            <a:spLocks xmlns:a="http://schemas.openxmlformats.org/drawingml/2006/main" noGrp="1"/>
          </p:cNvSpPr>
          <p:nvPr/>
        </p:nvSpPr>
        <p:spPr>
          <a:xfrm xmlns:a="http://schemas.openxmlformats.org/drawingml/2006/main">
            <a:off x="777240" y="2386584"/>
            <a:ext cx="5029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80">
                <a:solidFill>
                  <a:srgbClr val="24313A"/>
                </a:solidFill>
                <a:latin typeface="Calibri"/>
                <a:ea typeface="Calibri"/>
                <a:cs typeface="Calibri"/>
              </a:rPr>
              <a:t>Reminder → attendance. Possible — it's why the pilot was run.</a:t>
            </a:r>
            <a:endParaRPr sz="1080"/>
          </a:p>
        </p:txBody>
      </p:sp>
      <p:sp>
        <p:nvSpPr>
          <p:cNvPr id="13" name="Shape 10">
            <a:extLst xmlns:a="http://schemas.openxmlformats.org/drawingml/2006/main">
              <a:ext uri="{FF2B5EF4-FFF2-40B4-BE49-F238E27FC236}">
                <a16:creationId xmlns:a16="http://schemas.microsoft.com/office/drawing/2014/main" id="{A18BF775-0C4D-4855-BA50-8EB6D624EC7E}"/>
              </a:ext>
            </a:extLst>
          </p:cNvPr>
          <p:cNvSpPr>
            <a:spLocks xmlns:a="http://schemas.openxmlformats.org/drawingml/2006/main" noGrp="1"/>
          </p:cNvSpPr>
          <p:nvPr/>
        </p:nvSpPr>
        <p:spPr>
          <a:xfrm xmlns:a="http://schemas.openxmlformats.org/drawingml/2006/main">
            <a:off x="6172200" y="1819656"/>
            <a:ext cx="5532120" cy="1463040"/>
          </a:xfrm>
          <a:prstGeom xmlns:a="http://schemas.openxmlformats.org/drawingml/2006/main" prst="roundRect">
            <a:avLst>
              <a:gd name="adj" fmla="val 5625"/>
            </a:avLst>
          </a:prstGeom>
          <a:solidFill xmlns:a="http://schemas.openxmlformats.org/drawingml/2006/main">
            <a:srgbClr val="F3F8F9"/>
          </a:solidFill>
        </p:spPr>
      </p:sp>
      <p:sp>
        <p:nvSpPr>
          <p:cNvPr id="14" name="Shape 11">
            <a:extLst xmlns:a="http://schemas.openxmlformats.org/drawingml/2006/main">
              <a:ext uri="{FF2B5EF4-FFF2-40B4-BE49-F238E27FC236}">
                <a16:creationId xmlns:a16="http://schemas.microsoft.com/office/drawing/2014/main" id="{6BE1D7DC-FF3A-463B-BE89-4B9F345C1444}"/>
              </a:ext>
            </a:extLst>
          </p:cNvPr>
          <p:cNvSpPr>
            <a:spLocks xmlns:a="http://schemas.openxmlformats.org/drawingml/2006/main" noGrp="1"/>
          </p:cNvSpPr>
          <p:nvPr/>
        </p:nvSpPr>
        <p:spPr>
          <a:xfrm xmlns:a="http://schemas.openxmlformats.org/drawingml/2006/main">
            <a:off x="6373368" y="2002536"/>
            <a:ext cx="420624" cy="420624"/>
          </a:xfrm>
          <a:prstGeom xmlns:a="http://schemas.openxmlformats.org/drawingml/2006/main" prst="ellipse">
            <a:avLst/>
          </a:prstGeom>
          <a:solidFill xmlns:a="http://schemas.openxmlformats.org/drawingml/2006/main">
            <a:srgbClr val="0B3140"/>
          </a:solidFill>
        </p:spPr>
      </p:sp>
      <p:pic>
        <p:nvPicPr>
          <p:cNvPr id="47" name="Image 1"/>
          <p:cNvPicPr>
            <a:picLocks xmlns:a="http://schemas.openxmlformats.org/drawingml/2006/main" noChangeAspect="1"/>
          </p:cNvPicPr>
          <p:nvPr/>
        </p:nvPicPr>
        <p:blipFill>
          <a:blip xmlns:r="http://schemas.openxmlformats.org/officeDocument/2006/relationships" xmlns:a="http://schemas.openxmlformats.org/drawingml/2006/main" r:embed="R0439b5cb2bc746bd"/>
          <a:stretch xmlns:a="http://schemas.openxmlformats.org/drawingml/2006/main">
            <a:fillRect l="0" t="0" r="0" b="0"/>
          </a:stretch>
        </p:blipFill>
        <p:spPr>
          <a:xfrm xmlns:a="http://schemas.openxmlformats.org/drawingml/2006/main">
            <a:off x="6482730" y="2111898"/>
            <a:ext cx="201900" cy="201900"/>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FD2B9C43-6564-4740-8B82-0E0D2592F26D}"/>
              </a:ext>
            </a:extLst>
          </p:cNvPr>
          <p:cNvSpPr>
            <a:spLocks xmlns:a="http://schemas.openxmlformats.org/drawingml/2006/main" noGrp="1"/>
          </p:cNvSpPr>
          <p:nvPr/>
        </p:nvSpPr>
        <p:spPr>
          <a:xfrm xmlns:a="http://schemas.openxmlformats.org/drawingml/2006/main">
            <a:off x="6922008" y="2020824"/>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Y causes X</a:t>
            </a:r>
            <a:endParaRPr sz="1350"/>
          </a:p>
        </p:txBody>
      </p:sp>
      <p:sp>
        <p:nvSpPr>
          <p:cNvPr id="17" name="Text 13">
            <a:extLst xmlns:a="http://schemas.openxmlformats.org/drawingml/2006/main">
              <a:ext uri="{FF2B5EF4-FFF2-40B4-BE49-F238E27FC236}">
                <a16:creationId xmlns:a16="http://schemas.microsoft.com/office/drawing/2014/main" id="{77EA65C8-45E6-48F3-AC27-55F8C7355529}"/>
              </a:ext>
            </a:extLst>
          </p:cNvPr>
          <p:cNvSpPr>
            <a:spLocks xmlns:a="http://schemas.openxmlformats.org/drawingml/2006/main" noGrp="1"/>
          </p:cNvSpPr>
          <p:nvPr/>
        </p:nvSpPr>
        <p:spPr>
          <a:xfrm xmlns:a="http://schemas.openxmlformats.org/drawingml/2006/main">
            <a:off x="6446520" y="2386584"/>
            <a:ext cx="5029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80">
                <a:solidFill>
                  <a:srgbClr val="24313A"/>
                </a:solidFill>
                <a:latin typeface="Calibri"/>
                <a:ea typeface="Calibri"/>
                <a:cs typeface="Calibri"/>
              </a:rPr>
              <a:t>Reverse causation. Patients who often no-show trigger the clinic to send reminders — the arrow runs backwards.</a:t>
            </a:r>
            <a:endParaRPr sz="1080"/>
          </a:p>
        </p:txBody>
      </p:sp>
      <p:sp>
        <p:nvSpPr>
          <p:cNvPr id="18" name="Shape 14">
            <a:extLst xmlns:a="http://schemas.openxmlformats.org/drawingml/2006/main">
              <a:ext uri="{FF2B5EF4-FFF2-40B4-BE49-F238E27FC236}">
                <a16:creationId xmlns:a16="http://schemas.microsoft.com/office/drawing/2014/main" id="{BE69F498-8A6F-4827-BCD9-9938DF0F068A}"/>
              </a:ext>
            </a:extLst>
          </p:cNvPr>
          <p:cNvSpPr>
            <a:spLocks xmlns:a="http://schemas.openxmlformats.org/drawingml/2006/main" noGrp="1"/>
          </p:cNvSpPr>
          <p:nvPr/>
        </p:nvSpPr>
        <p:spPr>
          <a:xfrm xmlns:a="http://schemas.openxmlformats.org/drawingml/2006/main">
            <a:off x="502920" y="3419856"/>
            <a:ext cx="5532120" cy="1463040"/>
          </a:xfrm>
          <a:prstGeom xmlns:a="http://schemas.openxmlformats.org/drawingml/2006/main" prst="roundRect">
            <a:avLst>
              <a:gd name="adj" fmla="val 5625"/>
            </a:avLst>
          </a:prstGeom>
          <a:solidFill xmlns:a="http://schemas.openxmlformats.org/drawingml/2006/main">
            <a:srgbClr val="FBEEDD"/>
          </a:solidFill>
        </p:spPr>
      </p:sp>
      <p:sp>
        <p:nvSpPr>
          <p:cNvPr id="19" name="Shape 15">
            <a:extLst xmlns:a="http://schemas.openxmlformats.org/drawingml/2006/main">
              <a:ext uri="{FF2B5EF4-FFF2-40B4-BE49-F238E27FC236}">
                <a16:creationId xmlns:a16="http://schemas.microsoft.com/office/drawing/2014/main" id="{67C99275-2EAE-4940-A2A2-BB547887A538}"/>
              </a:ext>
            </a:extLst>
          </p:cNvPr>
          <p:cNvSpPr>
            <a:spLocks xmlns:a="http://schemas.openxmlformats.org/drawingml/2006/main" noGrp="1"/>
          </p:cNvSpPr>
          <p:nvPr/>
        </p:nvSpPr>
        <p:spPr>
          <a:xfrm xmlns:a="http://schemas.openxmlformats.org/drawingml/2006/main">
            <a:off x="704088" y="3602736"/>
            <a:ext cx="420624" cy="420624"/>
          </a:xfrm>
          <a:prstGeom xmlns:a="http://schemas.openxmlformats.org/drawingml/2006/main" prst="ellipse">
            <a:avLst/>
          </a:prstGeom>
          <a:solidFill xmlns:a="http://schemas.openxmlformats.org/drawingml/2006/main">
            <a:srgbClr val="C2660A"/>
          </a:solidFill>
        </p:spPr>
      </p:sp>
      <p:pic>
        <p:nvPicPr>
          <p:cNvPr id="52" name="Image 2"/>
          <p:cNvPicPr>
            <a:picLocks xmlns:a="http://schemas.openxmlformats.org/drawingml/2006/main" noChangeAspect="1"/>
          </p:cNvPicPr>
          <p:nvPr/>
        </p:nvPicPr>
        <p:blipFill>
          <a:blip xmlns:r="http://schemas.openxmlformats.org/officeDocument/2006/relationships" xmlns:a="http://schemas.openxmlformats.org/drawingml/2006/main" r:embed="Rbf11d5b535d442e2"/>
          <a:stretch xmlns:a="http://schemas.openxmlformats.org/drawingml/2006/main">
            <a:fillRect l="0" t="0" r="0" b="0"/>
          </a:stretch>
        </p:blipFill>
        <p:spPr>
          <a:xfrm xmlns:a="http://schemas.openxmlformats.org/drawingml/2006/main">
            <a:off x="813450" y="3712098"/>
            <a:ext cx="201900" cy="201900"/>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A1A285AF-03A3-4832-BB37-1024C1C832FC}"/>
              </a:ext>
            </a:extLst>
          </p:cNvPr>
          <p:cNvSpPr>
            <a:spLocks xmlns:a="http://schemas.openxmlformats.org/drawingml/2006/main" noGrp="1"/>
          </p:cNvSpPr>
          <p:nvPr/>
        </p:nvSpPr>
        <p:spPr>
          <a:xfrm xmlns:a="http://schemas.openxmlformats.org/drawingml/2006/main">
            <a:off x="1252728" y="3621024"/>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Z causes both</a:t>
            </a:r>
            <a:endParaRPr sz="1350"/>
          </a:p>
        </p:txBody>
      </p:sp>
      <p:sp>
        <p:nvSpPr>
          <p:cNvPr id="22" name="Text 17">
            <a:extLst xmlns:a="http://schemas.openxmlformats.org/drawingml/2006/main">
              <a:ext uri="{FF2B5EF4-FFF2-40B4-BE49-F238E27FC236}">
                <a16:creationId xmlns:a16="http://schemas.microsoft.com/office/drawing/2014/main" id="{85EA2ECE-17F9-4BA3-B847-A08C5D2A43C0}"/>
              </a:ext>
            </a:extLst>
          </p:cNvPr>
          <p:cNvSpPr>
            <a:spLocks xmlns:a="http://schemas.openxmlformats.org/drawingml/2006/main" noGrp="1"/>
          </p:cNvSpPr>
          <p:nvPr/>
        </p:nvSpPr>
        <p:spPr>
          <a:xfrm xmlns:a="http://schemas.openxmlformats.org/drawingml/2006/main">
            <a:off x="777240" y="3986784"/>
            <a:ext cx="5029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80">
                <a:solidFill>
                  <a:srgbClr val="24313A"/>
                </a:solidFill>
                <a:latin typeface="Calibri"/>
                <a:ea typeface="Calibri"/>
                <a:cs typeface="Calibri"/>
              </a:rPr>
              <a:t>Confounding. High-risk status causes BOTH receiving a reminder AND no-showing. The crude comparison sums the two paths.</a:t>
            </a:r>
            <a:endParaRPr sz="1080"/>
          </a:p>
        </p:txBody>
      </p:sp>
      <p:sp>
        <p:nvSpPr>
          <p:cNvPr id="23" name="Shape 18">
            <a:extLst xmlns:a="http://schemas.openxmlformats.org/drawingml/2006/main">
              <a:ext uri="{FF2B5EF4-FFF2-40B4-BE49-F238E27FC236}">
                <a16:creationId xmlns:a16="http://schemas.microsoft.com/office/drawing/2014/main" id="{E87552FA-FB38-407C-AA09-1EC2DE60D201}"/>
              </a:ext>
            </a:extLst>
          </p:cNvPr>
          <p:cNvSpPr>
            <a:spLocks xmlns:a="http://schemas.openxmlformats.org/drawingml/2006/main" noGrp="1"/>
          </p:cNvSpPr>
          <p:nvPr/>
        </p:nvSpPr>
        <p:spPr>
          <a:xfrm xmlns:a="http://schemas.openxmlformats.org/drawingml/2006/main">
            <a:off x="6172200" y="3419856"/>
            <a:ext cx="5532120" cy="1463040"/>
          </a:xfrm>
          <a:prstGeom xmlns:a="http://schemas.openxmlformats.org/drawingml/2006/main" prst="roundRect">
            <a:avLst>
              <a:gd name="adj" fmla="val 5625"/>
            </a:avLst>
          </a:prstGeom>
          <a:solidFill xmlns:a="http://schemas.openxmlformats.org/drawingml/2006/main">
            <a:srgbClr val="F3F8F9"/>
          </a:solidFill>
        </p:spPr>
      </p:sp>
      <p:sp>
        <p:nvSpPr>
          <p:cNvPr id="24" name="Shape 19">
            <a:extLst xmlns:a="http://schemas.openxmlformats.org/drawingml/2006/main">
              <a:ext uri="{FF2B5EF4-FFF2-40B4-BE49-F238E27FC236}">
                <a16:creationId xmlns:a16="http://schemas.microsoft.com/office/drawing/2014/main" id="{4464BE35-4BEB-4509-B4A2-F53F47E5E33D}"/>
              </a:ext>
            </a:extLst>
          </p:cNvPr>
          <p:cNvSpPr>
            <a:spLocks xmlns:a="http://schemas.openxmlformats.org/drawingml/2006/main" noGrp="1"/>
          </p:cNvSpPr>
          <p:nvPr/>
        </p:nvSpPr>
        <p:spPr>
          <a:xfrm xmlns:a="http://schemas.openxmlformats.org/drawingml/2006/main">
            <a:off x="6373368" y="3602736"/>
            <a:ext cx="420624" cy="420624"/>
          </a:xfrm>
          <a:prstGeom xmlns:a="http://schemas.openxmlformats.org/drawingml/2006/main" prst="ellipse">
            <a:avLst/>
          </a:prstGeom>
          <a:solidFill xmlns:a="http://schemas.openxmlformats.org/drawingml/2006/main">
            <a:srgbClr val="0B3140"/>
          </a:solidFill>
        </p:spPr>
      </p:sp>
      <p:pic>
        <p:nvPicPr>
          <p:cNvPr id="57" name="Image 3"/>
          <p:cNvPicPr>
            <a:picLocks xmlns:a="http://schemas.openxmlformats.org/drawingml/2006/main" noChangeAspect="1"/>
          </p:cNvPicPr>
          <p:nvPr/>
        </p:nvPicPr>
        <p:blipFill>
          <a:blip xmlns:r="http://schemas.openxmlformats.org/officeDocument/2006/relationships" xmlns:a="http://schemas.openxmlformats.org/drawingml/2006/main" r:embed="R3608334b96c442f2"/>
          <a:stretch xmlns:a="http://schemas.openxmlformats.org/drawingml/2006/main">
            <a:fillRect l="0" t="0" r="0" b="0"/>
          </a:stretch>
        </p:blipFill>
        <p:spPr>
          <a:xfrm xmlns:a="http://schemas.openxmlformats.org/drawingml/2006/main">
            <a:off x="6482730" y="3712098"/>
            <a:ext cx="201900" cy="201900"/>
          </a:xfrm>
          <a:prstGeom xmlns:a="http://schemas.openxmlformats.org/drawingml/2006/main" prst="rect">
            <a:avLst/>
          </a:prstGeom>
        </p:spPr>
      </p:pic>
      <p:sp>
        <p:nvSpPr>
          <p:cNvPr id="26" name="Text 20">
            <a:extLst xmlns:a="http://schemas.openxmlformats.org/drawingml/2006/main">
              <a:ext uri="{FF2B5EF4-FFF2-40B4-BE49-F238E27FC236}">
                <a16:creationId xmlns:a16="http://schemas.microsoft.com/office/drawing/2014/main" id="{D94D1DA9-4D03-4D8C-96E4-F2672509086A}"/>
              </a:ext>
            </a:extLst>
          </p:cNvPr>
          <p:cNvSpPr>
            <a:spLocks xmlns:a="http://schemas.openxmlformats.org/drawingml/2006/main" noGrp="1"/>
          </p:cNvSpPr>
          <p:nvPr/>
        </p:nvSpPr>
        <p:spPr>
          <a:xfrm xmlns:a="http://schemas.openxmlformats.org/drawingml/2006/main">
            <a:off x="6922008" y="3621024"/>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Chance</a:t>
            </a:r>
            <a:endParaRPr sz="1350"/>
          </a:p>
        </p:txBody>
      </p:sp>
      <p:sp>
        <p:nvSpPr>
          <p:cNvPr id="27" name="Text 21">
            <a:extLst xmlns:a="http://schemas.openxmlformats.org/drawingml/2006/main">
              <a:ext uri="{FF2B5EF4-FFF2-40B4-BE49-F238E27FC236}">
                <a16:creationId xmlns:a16="http://schemas.microsoft.com/office/drawing/2014/main" id="{EC24E1C8-D59D-4654-9876-06F648083A3A}"/>
              </a:ext>
            </a:extLst>
          </p:cNvPr>
          <p:cNvSpPr>
            <a:spLocks xmlns:a="http://schemas.openxmlformats.org/drawingml/2006/main" noGrp="1"/>
          </p:cNvSpPr>
          <p:nvPr/>
        </p:nvSpPr>
        <p:spPr>
          <a:xfrm xmlns:a="http://schemas.openxmlformats.org/drawingml/2006/main">
            <a:off x="6446520" y="3986784"/>
            <a:ext cx="5029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80">
                <a:solidFill>
                  <a:srgbClr val="24313A"/>
                </a:solidFill>
                <a:latin typeface="Calibri"/>
                <a:ea typeface="Calibri"/>
                <a:cs typeface="Calibri"/>
              </a:rPr>
              <a:t>Sampling noise — tamed by Day 2's intervals and tests, but never fully absent.</a:t>
            </a:r>
            <a:endParaRPr sz="1080"/>
          </a:p>
        </p:txBody>
      </p:sp>
      <p:sp>
        <p:nvSpPr>
          <p:cNvPr id="28" name="Shape 22">
            <a:extLst xmlns:a="http://schemas.openxmlformats.org/drawingml/2006/main">
              <a:ext uri="{FF2B5EF4-FFF2-40B4-BE49-F238E27FC236}">
                <a16:creationId xmlns:a16="http://schemas.microsoft.com/office/drawing/2014/main" id="{862EDC81-484C-446F-BC25-D288C2C76279}"/>
              </a:ext>
            </a:extLst>
          </p:cNvPr>
          <p:cNvSpPr>
            <a:spLocks xmlns:a="http://schemas.openxmlformats.org/drawingml/2006/main" noGrp="1"/>
          </p:cNvSpPr>
          <p:nvPr/>
        </p:nvSpPr>
        <p:spPr>
          <a:xfrm xmlns:a="http://schemas.openxmlformats.org/drawingml/2006/main">
            <a:off x="502920" y="5056632"/>
            <a:ext cx="11201400" cy="1371600"/>
          </a:xfrm>
          <a:prstGeom xmlns:a="http://schemas.openxmlformats.org/drawingml/2006/main" prst="roundRect">
            <a:avLst>
              <a:gd name="adj" fmla="val 6000"/>
            </a:avLst>
          </a:prstGeom>
          <a:solidFill xmlns:a="http://schemas.openxmlformats.org/drawingml/2006/main">
            <a:srgbClr val="0B3140"/>
          </a:solidFill>
        </p:spPr>
      </p:sp>
      <p:sp>
        <p:nvSpPr>
          <p:cNvPr id="29" name="Text 23">
            <a:extLst xmlns:a="http://schemas.openxmlformats.org/drawingml/2006/main">
              <a:ext uri="{FF2B5EF4-FFF2-40B4-BE49-F238E27FC236}">
                <a16:creationId xmlns:a16="http://schemas.microsoft.com/office/drawing/2014/main" id="{147EFE08-9FD2-41AD-B713-485339EE0BED}"/>
              </a:ext>
            </a:extLst>
          </p:cNvPr>
          <p:cNvSpPr>
            <a:spLocks xmlns:a="http://schemas.openxmlformats.org/drawingml/2006/main" noGrp="1"/>
          </p:cNvSpPr>
          <p:nvPr/>
        </p:nvSpPr>
        <p:spPr>
          <a:xfrm xmlns:a="http://schemas.openxmlformats.org/drawingml/2006/main">
            <a:off x="868680" y="5239512"/>
            <a:ext cx="1042416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3000"/>
              </a:lnSpc>
              <a:buNone/>
            </a:pPr>
            <a:r>
              <a:rPr sz="1250" b="1">
                <a:solidFill>
                  <a:srgbClr val="6FB3BC"/>
                </a:solidFill>
                <a:latin typeface="Calibri"/>
                <a:ea typeface="Calibri"/>
                <a:cs typeface="Calibri"/>
              </a:rPr>
              <a:t>Why randomization is the gold standard:  </a:t>
            </a:r>
            <a:r>
              <a:rPr sz="1250">
                <a:solidFill>
                  <a:srgbClr val="FFFFFF"/>
                </a:solidFill>
                <a:latin typeface="Calibri"/>
                <a:ea typeface="Calibri"/>
                <a:cs typeface="Calibri"/>
              </a:rPr>
              <a:t>a coin flip cannot be caused by patient risk, and cuts every arrow INTO the treatment. That single design choice deletes explanations 2 and 3 at once — which is exactly why yesterday's pilot verdict was clean, and why today's observational comparison won't be.</a:t>
            </a:r>
            <a:endParaRPr sz="1250"/>
          </a:p>
        </p:txBody>
      </p:sp>
    </p:spTree>
    <p:extLst>
      <p:ext uri="{BB962C8B-B14F-4D97-AF65-F5344CB8AC3E}">
        <p14:creationId xmlns:p14="http://schemas.microsoft.com/office/powerpoint/2010/main" val="30426491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B5793B2-AF69-4B50-9FA6-94FC0E8CEBC1}"/>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C60B0F59-72C5-4FA1-9A40-45EAD2B1907A}"/>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56</a:t>
            </a:r>
            <a:endParaRPr sz="900"/>
          </a:p>
        </p:txBody>
      </p:sp>
      <p:sp>
        <p:nvSpPr>
          <p:cNvPr id="4" name="Shape 2">
            <a:extLst xmlns:a="http://schemas.openxmlformats.org/drawingml/2006/main">
              <a:ext uri="{FF2B5EF4-FFF2-40B4-BE49-F238E27FC236}">
                <a16:creationId xmlns:a16="http://schemas.microsoft.com/office/drawing/2014/main" id="{105F8B7D-38A3-4DAA-AD36-CD696A77EE99}"/>
              </a:ext>
            </a:extLst>
          </p:cNvPr>
          <p:cNvSpPr>
            <a:spLocks xmlns:a="http://schemas.openxmlformats.org/drawingml/2006/main" noGrp="1"/>
          </p:cNvSpPr>
          <p:nvPr/>
        </p:nvSpPr>
        <p:spPr>
          <a:xfrm xmlns:a="http://schemas.openxmlformats.org/drawingml/2006/main">
            <a:off x="502920" y="384048"/>
            <a:ext cx="2096719"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48017AAE-E48F-4C80-B5B7-6E3E6CF6AADD}"/>
              </a:ext>
            </a:extLst>
          </p:cNvPr>
          <p:cNvSpPr>
            <a:spLocks xmlns:a="http://schemas.openxmlformats.org/drawingml/2006/main" noGrp="1"/>
          </p:cNvSpPr>
          <p:nvPr/>
        </p:nvSpPr>
        <p:spPr>
          <a:xfrm xmlns:a="http://schemas.openxmlformats.org/drawingml/2006/main">
            <a:off x="502920" y="384048"/>
            <a:ext cx="209671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5 · THE REVEAL</a:t>
            </a:r>
            <a:endParaRPr sz="1050"/>
          </a:p>
        </p:txBody>
      </p:sp>
      <p:sp>
        <p:nvSpPr>
          <p:cNvPr id="6" name="Text 4">
            <a:extLst xmlns:a="http://schemas.openxmlformats.org/drawingml/2006/main">
              <a:ext uri="{FF2B5EF4-FFF2-40B4-BE49-F238E27FC236}">
                <a16:creationId xmlns:a16="http://schemas.microsoft.com/office/drawing/2014/main" id="{D5A83711-6C9D-4242-8B41-FA50FE8B5039}"/>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Simpson's paradox, live in clinic_visits.csv</a:t>
            </a:r>
            <a:endParaRPr sz="2800"/>
          </a:p>
        </p:txBody>
      </p:sp>
      <p:sp>
        <p:nvSpPr>
          <p:cNvPr id="7" name="Text 5">
            <a:extLst xmlns:a="http://schemas.openxmlformats.org/drawingml/2006/main">
              <a:ext uri="{FF2B5EF4-FFF2-40B4-BE49-F238E27FC236}">
                <a16:creationId xmlns:a16="http://schemas.microsoft.com/office/drawing/2014/main" id="{0968D7F1-9C20-42AD-8876-95E8F1F81F20}"/>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Crude: reminders look harmful (+2.0pp). Within EVERY stratum: reminders help. Both computations are correct.</a:t>
            </a:r>
            <a:endParaRPr sz="1350"/>
          </a:p>
        </p:txBody>
      </p:sp>
      <p:graphicFrame>
        <p:nvGraphicFramePr>
          <p:cNvPr id="24" name="Chart 0"/>
          <p:cNvGraphicFramePr/>
          <p:nvPr/>
        </p:nvGraphicFramePr>
        <p:xfrm>
          <a:off xmlns:a="http://schemas.openxmlformats.org/drawingml/2006/main" x="502920" y="1837944"/>
          <a:ext xmlns:a="http://schemas.openxmlformats.org/drawingml/2006/main" cx="6583680" cy="3977640"/>
        </p:xfrm>
        <a:graphic xmlns:a="http://schemas.openxmlformats.org/drawingml/2006/main">
          <a:graphicData uri="http://schemas.openxmlformats.org/drawingml/2006/chart">
            <c:chart xmlns:r="http://schemas.openxmlformats.org/officeDocument/2006/relationships" xmlns:c="http://schemas.openxmlformats.org/drawingml/2006/chart" r:id="Re27f158bab704ee8"/>
          </a:graphicData>
        </a:graphic>
      </p:graphicFrame>
      <p:sp>
        <p:nvSpPr>
          <p:cNvPr id="9" name="Shape 6">
            <a:extLst xmlns:a="http://schemas.openxmlformats.org/drawingml/2006/main">
              <a:ext uri="{FF2B5EF4-FFF2-40B4-BE49-F238E27FC236}">
                <a16:creationId xmlns:a16="http://schemas.microsoft.com/office/drawing/2014/main" id="{537FA89F-8480-43B5-B847-3778152E279C}"/>
              </a:ext>
            </a:extLst>
          </p:cNvPr>
          <p:cNvSpPr>
            <a:spLocks xmlns:a="http://schemas.openxmlformats.org/drawingml/2006/main" noGrp="1"/>
          </p:cNvSpPr>
          <p:nvPr/>
        </p:nvSpPr>
        <p:spPr>
          <a:xfrm xmlns:a="http://schemas.openxmlformats.org/drawingml/2006/main">
            <a:off x="7315200" y="1837944"/>
            <a:ext cx="4389120" cy="1783080"/>
          </a:xfrm>
          <a:prstGeom xmlns:a="http://schemas.openxmlformats.org/drawingml/2006/main" prst="roundRect">
            <a:avLst>
              <a:gd name="adj" fmla="val 4615"/>
            </a:avLst>
          </a:prstGeom>
          <a:solidFill xmlns:a="http://schemas.openxmlformats.org/drawingml/2006/main">
            <a:srgbClr val="F9E8E9"/>
          </a:solidFill>
        </p:spPr>
      </p:sp>
      <p:sp>
        <p:nvSpPr>
          <p:cNvPr id="10" name="Text 7">
            <a:extLst xmlns:a="http://schemas.openxmlformats.org/drawingml/2006/main">
              <a:ext uri="{FF2B5EF4-FFF2-40B4-BE49-F238E27FC236}">
                <a16:creationId xmlns:a16="http://schemas.microsoft.com/office/drawing/2014/main" id="{46C15F95-5FF4-4FC9-8731-DA803C399CC1}"/>
              </a:ext>
            </a:extLst>
          </p:cNvPr>
          <p:cNvSpPr>
            <a:spLocks xmlns:a="http://schemas.openxmlformats.org/drawingml/2006/main" noGrp="1"/>
          </p:cNvSpPr>
          <p:nvPr/>
        </p:nvSpPr>
        <p:spPr>
          <a:xfrm xmlns:a="http://schemas.openxmlformats.org/drawingml/2006/main">
            <a:off x="7589520" y="2020824"/>
            <a:ext cx="38404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B4232A"/>
                </a:solidFill>
                <a:latin typeface="Cambria"/>
                <a:ea typeface="Cambria"/>
                <a:cs typeface="Cambria"/>
              </a:rPr>
              <a:t>The crude comparison</a:t>
            </a:r>
            <a:endParaRPr sz="1350"/>
          </a:p>
        </p:txBody>
      </p:sp>
      <p:sp>
        <p:nvSpPr>
          <p:cNvPr id="11" name="Text 8">
            <a:extLst xmlns:a="http://schemas.openxmlformats.org/drawingml/2006/main">
              <a:ext uri="{FF2B5EF4-FFF2-40B4-BE49-F238E27FC236}">
                <a16:creationId xmlns:a16="http://schemas.microsoft.com/office/drawing/2014/main" id="{CAA104A3-FB87-4AB4-B01C-A73DB6C10B76}"/>
              </a:ext>
            </a:extLst>
          </p:cNvPr>
          <p:cNvSpPr>
            <a:spLocks xmlns:a="http://schemas.openxmlformats.org/drawingml/2006/main" noGrp="1"/>
          </p:cNvSpPr>
          <p:nvPr/>
        </p:nvSpPr>
        <p:spPr>
          <a:xfrm xmlns:a="http://schemas.openxmlformats.org/drawingml/2006/main">
            <a:off x="7589520" y="2386584"/>
            <a:ext cx="388620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100">
                <a:solidFill>
                  <a:srgbClr val="24313A"/>
                </a:solidFill>
                <a:latin typeface="Calibri"/>
                <a:ea typeface="Calibri"/>
                <a:cs typeface="Calibri"/>
              </a:rPr>
              <a:t>Reminded 19.5% vs not-reminded 17.5%. A dashboard would print: “reminders increase no-shows by 2 points.” The sign is wrong — but the arithmetic is flawless.</a:t>
            </a:r>
            <a:endParaRPr sz="1100"/>
          </a:p>
        </p:txBody>
      </p:sp>
      <p:sp>
        <p:nvSpPr>
          <p:cNvPr id="12" name="Shape 9">
            <a:extLst xmlns:a="http://schemas.openxmlformats.org/drawingml/2006/main">
              <a:ext uri="{FF2B5EF4-FFF2-40B4-BE49-F238E27FC236}">
                <a16:creationId xmlns:a16="http://schemas.microsoft.com/office/drawing/2014/main" id="{5ED9DD81-E1D6-4E7A-A039-06BED7A8ED45}"/>
              </a:ext>
            </a:extLst>
          </p:cNvPr>
          <p:cNvSpPr>
            <a:spLocks xmlns:a="http://schemas.openxmlformats.org/drawingml/2006/main" noGrp="1"/>
          </p:cNvSpPr>
          <p:nvPr/>
        </p:nvSpPr>
        <p:spPr>
          <a:xfrm xmlns:a="http://schemas.openxmlformats.org/drawingml/2006/main">
            <a:off x="7315200" y="3758184"/>
            <a:ext cx="4389120" cy="2057400"/>
          </a:xfrm>
          <a:prstGeom xmlns:a="http://schemas.openxmlformats.org/drawingml/2006/main" prst="roundRect">
            <a:avLst>
              <a:gd name="adj" fmla="val 4000"/>
            </a:avLst>
          </a:prstGeom>
          <a:solidFill xmlns:a="http://schemas.openxmlformats.org/drawingml/2006/main">
            <a:srgbClr val="E6F2EC"/>
          </a:solidFill>
        </p:spPr>
      </p:sp>
      <p:sp>
        <p:nvSpPr>
          <p:cNvPr id="13" name="Text 10">
            <a:extLst xmlns:a="http://schemas.openxmlformats.org/drawingml/2006/main">
              <a:ext uri="{FF2B5EF4-FFF2-40B4-BE49-F238E27FC236}">
                <a16:creationId xmlns:a16="http://schemas.microsoft.com/office/drawing/2014/main" id="{8260D41C-8D83-4BA8-9AB0-68CF06E54EA1}"/>
              </a:ext>
            </a:extLst>
          </p:cNvPr>
          <p:cNvSpPr>
            <a:spLocks xmlns:a="http://schemas.openxmlformats.org/drawingml/2006/main" noGrp="1"/>
          </p:cNvSpPr>
          <p:nvPr/>
        </p:nvSpPr>
        <p:spPr>
          <a:xfrm xmlns:a="http://schemas.openxmlformats.org/drawingml/2006/main">
            <a:off x="7589520" y="3941064"/>
            <a:ext cx="38404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E7B52"/>
                </a:solidFill>
                <a:latin typeface="Cambria"/>
                <a:ea typeface="Cambria"/>
                <a:cs typeface="Cambria"/>
              </a:rPr>
              <a:t>Within every stratum</a:t>
            </a:r>
            <a:endParaRPr sz="1350"/>
          </a:p>
        </p:txBody>
      </p:sp>
      <p:sp>
        <p:nvSpPr>
          <p:cNvPr id="14" name="Text 11">
            <a:extLst xmlns:a="http://schemas.openxmlformats.org/drawingml/2006/main">
              <a:ext uri="{FF2B5EF4-FFF2-40B4-BE49-F238E27FC236}">
                <a16:creationId xmlns:a16="http://schemas.microsoft.com/office/drawing/2014/main" id="{FB404B5E-7639-4680-9C66-583FCF68E12E}"/>
              </a:ext>
            </a:extLst>
          </p:cNvPr>
          <p:cNvSpPr>
            <a:spLocks xmlns:a="http://schemas.openxmlformats.org/drawingml/2006/main" noGrp="1"/>
          </p:cNvSpPr>
          <p:nvPr/>
        </p:nvSpPr>
        <p:spPr>
          <a:xfrm xmlns:a="http://schemas.openxmlformats.org/drawingml/2006/main">
            <a:off x="7589520" y="4306824"/>
            <a:ext cx="388620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500"/>
              </a:spcAft>
              <a:buSzPct val="100000"/>
              <a:buChar char="•"/>
            </a:pPr>
            <a:r>
              <a:rPr sz="1100">
                <a:solidFill>
                  <a:srgbClr val="24313A"/>
                </a:solidFill>
                <a:latin typeface="Calibri"/>
                <a:ea typeface="Calibri"/>
                <a:cs typeface="Calibri"/>
              </a:rPr>
              <a:t>Urban: 12.4% vs 16.2% → helps</a:t>
            </a:r>
            <a:endParaRPr sz="1100"/>
          </a:p>
          <a:p xmlns:a="http://schemas.openxmlformats.org/drawingml/2006/main">
            <a:pPr marL="152400" indent="-152400">
              <a:lnSpc>
                <a:spcPct val="104000"/>
              </a:lnSpc>
              <a:spcAft>
                <a:spcPts val="500"/>
              </a:spcAft>
              <a:buSzPct val="100000"/>
              <a:buChar char="•"/>
            </a:pPr>
            <a:r>
              <a:rPr sz="1100">
                <a:solidFill>
                  <a:srgbClr val="24313A"/>
                </a:solidFill>
                <a:latin typeface="Calibri"/>
                <a:ea typeface="Calibri"/>
                <a:cs typeface="Calibri"/>
              </a:rPr>
              <a:t>Rural: 25.7% vs 30.3% → helps</a:t>
            </a:r>
            <a:endParaRPr sz="1100"/>
          </a:p>
          <a:p xmlns:a="http://schemas.openxmlformats.org/drawingml/2006/main">
            <a:pPr marL="152400" indent="-152400">
              <a:lnSpc>
                <a:spcPct val="104000"/>
              </a:lnSpc>
              <a:spcAft>
                <a:spcPts val="500"/>
              </a:spcAft>
              <a:buSzPct val="100000"/>
              <a:buChar char="•"/>
            </a:pPr>
            <a:r>
              <a:rPr sz="1000">
                <a:solidFill>
                  <a:srgbClr val="24313A"/>
                </a:solidFill>
                <a:latin typeface="Calibri"/>
                <a:ea typeface="Calibri"/>
                <a:cs typeface="Calibri"/>
              </a:rPr>
              <a:t>All four risk bands: Q1 8.9/14.1 · Q2 12.3/16.7 · Q3 14.7/19.7 · Q4 25.3/30.4 — helps in each</a:t>
            </a:r>
            <a:endParaRPr sz="1100"/>
          </a:p>
        </p:txBody>
      </p:sp>
      <p:sp>
        <p:nvSpPr>
          <p:cNvPr id="15" name="Shape 12">
            <a:extLst xmlns:a="http://schemas.openxmlformats.org/drawingml/2006/main">
              <a:ext uri="{FF2B5EF4-FFF2-40B4-BE49-F238E27FC236}">
                <a16:creationId xmlns:a16="http://schemas.microsoft.com/office/drawing/2014/main" id="{82CE9F97-35F6-437D-99FC-3767B9B66717}"/>
              </a:ext>
            </a:extLst>
          </p:cNvPr>
          <p:cNvSpPr>
            <a:spLocks xmlns:a="http://schemas.openxmlformats.org/drawingml/2006/main" noGrp="1"/>
          </p:cNvSpPr>
          <p:nvPr/>
        </p:nvSpPr>
        <p:spPr>
          <a:xfrm xmlns:a="http://schemas.openxmlformats.org/drawingml/2006/main">
            <a:off x="502920" y="5907024"/>
            <a:ext cx="11201400" cy="566928"/>
          </a:xfrm>
          <a:prstGeom xmlns:a="http://schemas.openxmlformats.org/drawingml/2006/main" prst="roundRect">
            <a:avLst>
              <a:gd name="adj" fmla="val 14516"/>
            </a:avLst>
          </a:prstGeom>
          <a:solidFill xmlns:a="http://schemas.openxmlformats.org/drawingml/2006/main">
            <a:srgbClr val="0B3140"/>
          </a:solidFill>
        </p:spPr>
      </p:sp>
      <p:sp>
        <p:nvSpPr>
          <p:cNvPr id="16" name="Text 13">
            <a:extLst xmlns:a="http://schemas.openxmlformats.org/drawingml/2006/main">
              <a:ext uri="{FF2B5EF4-FFF2-40B4-BE49-F238E27FC236}">
                <a16:creationId xmlns:a16="http://schemas.microsoft.com/office/drawing/2014/main" id="{2D978ED5-A6F3-4C75-BD88-D307707DEBA0}"/>
              </a:ext>
            </a:extLst>
          </p:cNvPr>
          <p:cNvSpPr>
            <a:spLocks xmlns:a="http://schemas.openxmlformats.org/drawingml/2006/main" noGrp="1"/>
          </p:cNvSpPr>
          <p:nvPr/>
        </p:nvSpPr>
        <p:spPr>
          <a:xfrm xmlns:a="http://schemas.openxmlformats.org/drawingml/2006/main">
            <a:off x="868680" y="5907024"/>
            <a:ext cx="1042416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i="1">
                <a:solidFill>
                  <a:srgbClr val="FFFFFF"/>
                </a:solidFill>
                <a:latin typeface="Cambria"/>
                <a:ea typeface="Cambria"/>
                <a:cs typeface="Cambria"/>
              </a:rPr>
              <a:t>Same data. Opposite conclusions. Nothing is miscomputed — something is mis-compared.</a:t>
            </a:r>
            <a:endParaRPr sz="1400"/>
          </a:p>
        </p:txBody>
      </p:sp>
    </p:spTree>
    <p:extLst>
      <p:ext uri="{BB962C8B-B14F-4D97-AF65-F5344CB8AC3E}">
        <p14:creationId xmlns:p14="http://schemas.microsoft.com/office/powerpoint/2010/main" val="491311464"/>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1627DF7-A9EB-4A9F-9F86-3AD77FCC5387}"/>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2FB5A213-D522-4811-B1E4-15034A8E7D6A}"/>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57</a:t>
            </a:r>
            <a:endParaRPr sz="900"/>
          </a:p>
        </p:txBody>
      </p:sp>
      <p:sp>
        <p:nvSpPr>
          <p:cNvPr id="4" name="Shape 2">
            <a:extLst xmlns:a="http://schemas.openxmlformats.org/drawingml/2006/main">
              <a:ext uri="{FF2B5EF4-FFF2-40B4-BE49-F238E27FC236}">
                <a16:creationId xmlns:a16="http://schemas.microsoft.com/office/drawing/2014/main" id="{3D64F8EE-2053-4825-8205-0550EFCD4C19}"/>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A0495F99-9413-4DCF-AA59-8B04DDA108F8}"/>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5</a:t>
            </a:r>
            <a:endParaRPr sz="1050"/>
          </a:p>
        </p:txBody>
      </p:sp>
      <p:sp>
        <p:nvSpPr>
          <p:cNvPr id="6" name="Text 4">
            <a:extLst xmlns:a="http://schemas.openxmlformats.org/drawingml/2006/main">
              <a:ext uri="{FF2B5EF4-FFF2-40B4-BE49-F238E27FC236}">
                <a16:creationId xmlns:a16="http://schemas.microsoft.com/office/drawing/2014/main" id="{58A5B9BC-1E9E-4B49-96D2-47A555E5A83A}"/>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The mechanism, and the repair</a:t>
            </a:r>
            <a:endParaRPr sz="2800"/>
          </a:p>
        </p:txBody>
      </p:sp>
      <p:sp>
        <p:nvSpPr>
          <p:cNvPr id="7" name="Text 5">
            <a:extLst xmlns:a="http://schemas.openxmlformats.org/drawingml/2006/main">
              <a:ext uri="{FF2B5EF4-FFF2-40B4-BE49-F238E27FC236}">
                <a16:creationId xmlns:a16="http://schemas.microsoft.com/office/drawing/2014/main" id="{6C351344-D7A4-48FE-91D4-BEB2DBBD4607}"/>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Why the crude comparison lies, and what to report instead</a:t>
            </a:r>
            <a:endParaRPr sz="1350"/>
          </a:p>
        </p:txBody>
      </p:sp>
      <p:sp>
        <p:nvSpPr>
          <p:cNvPr id="8" name="Shape 6">
            <a:extLst xmlns:a="http://schemas.openxmlformats.org/drawingml/2006/main">
              <a:ext uri="{FF2B5EF4-FFF2-40B4-BE49-F238E27FC236}">
                <a16:creationId xmlns:a16="http://schemas.microsoft.com/office/drawing/2014/main" id="{0B6F0583-8DF8-425B-A2C6-016A2A4799EF}"/>
              </a:ext>
            </a:extLst>
          </p:cNvPr>
          <p:cNvSpPr>
            <a:spLocks xmlns:a="http://schemas.openxmlformats.org/drawingml/2006/main" noGrp="1"/>
          </p:cNvSpPr>
          <p:nvPr/>
        </p:nvSpPr>
        <p:spPr>
          <a:xfrm xmlns:a="http://schemas.openxmlformats.org/drawingml/2006/main">
            <a:off x="502920" y="1819656"/>
            <a:ext cx="5532120" cy="2286000"/>
          </a:xfrm>
          <a:prstGeom xmlns:a="http://schemas.openxmlformats.org/drawingml/2006/main" prst="roundRect">
            <a:avLst>
              <a:gd name="adj" fmla="val 3600"/>
            </a:avLst>
          </a:prstGeom>
          <a:solidFill xmlns:a="http://schemas.openxmlformats.org/drawingml/2006/main">
            <a:srgbClr val="FBEEDD"/>
          </a:solidFill>
        </p:spPr>
      </p:sp>
      <p:sp>
        <p:nvSpPr>
          <p:cNvPr id="9" name="Shape 7">
            <a:extLst xmlns:a="http://schemas.openxmlformats.org/drawingml/2006/main">
              <a:ext uri="{FF2B5EF4-FFF2-40B4-BE49-F238E27FC236}">
                <a16:creationId xmlns:a16="http://schemas.microsoft.com/office/drawing/2014/main" id="{65AE9724-8209-4A5A-867D-17F13D15A28F}"/>
              </a:ext>
            </a:extLst>
          </p:cNvPr>
          <p:cNvSpPr>
            <a:spLocks xmlns:a="http://schemas.openxmlformats.org/drawingml/2006/main" noGrp="1"/>
          </p:cNvSpPr>
          <p:nvPr/>
        </p:nvSpPr>
        <p:spPr>
          <a:xfrm xmlns:a="http://schemas.openxmlformats.org/drawingml/2006/main">
            <a:off x="731520" y="2020824"/>
            <a:ext cx="420624" cy="420624"/>
          </a:xfrm>
          <a:prstGeom xmlns:a="http://schemas.openxmlformats.org/drawingml/2006/main" prst="ellipse">
            <a:avLst/>
          </a:prstGeom>
          <a:solidFill xmlns:a="http://schemas.openxmlformats.org/drawingml/2006/main">
            <a:srgbClr val="C2660A"/>
          </a:solidFill>
        </p:spPr>
      </p:sp>
      <p:pic>
        <p:nvPicPr>
          <p:cNvPr id="47" name="Image 0"/>
          <p:cNvPicPr>
            <a:picLocks xmlns:a="http://schemas.openxmlformats.org/drawingml/2006/main" noChangeAspect="1"/>
          </p:cNvPicPr>
          <p:nvPr/>
        </p:nvPicPr>
        <p:blipFill>
          <a:blip xmlns:r="http://schemas.openxmlformats.org/officeDocument/2006/relationships" xmlns:a="http://schemas.openxmlformats.org/drawingml/2006/main" r:embed="Rf85c08061d66457a"/>
          <a:stretch xmlns:a="http://schemas.openxmlformats.org/drawingml/2006/main">
            <a:fillRect l="0" t="0" r="0" b="0"/>
          </a:stretch>
        </p:blipFill>
        <p:spPr>
          <a:xfrm xmlns:a="http://schemas.openxmlformats.org/drawingml/2006/main">
            <a:off x="840882" y="2130186"/>
            <a:ext cx="201900" cy="201900"/>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E8893616-7B64-43A2-BF93-C4C5E38E1819}"/>
              </a:ext>
            </a:extLst>
          </p:cNvPr>
          <p:cNvSpPr>
            <a:spLocks xmlns:a="http://schemas.openxmlformats.org/drawingml/2006/main" noGrp="1"/>
          </p:cNvSpPr>
          <p:nvPr/>
        </p:nvSpPr>
        <p:spPr>
          <a:xfrm xmlns:a="http://schemas.openxmlformats.org/drawingml/2006/main">
            <a:off x="1298448" y="2066544"/>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C2660A"/>
                </a:solidFill>
                <a:latin typeface="Cambria"/>
                <a:ea typeface="Cambria"/>
                <a:cs typeface="Cambria"/>
              </a:rPr>
              <a:t>Mechanism: targeted allocation</a:t>
            </a:r>
            <a:endParaRPr sz="1350"/>
          </a:p>
        </p:txBody>
      </p:sp>
      <p:sp>
        <p:nvSpPr>
          <p:cNvPr id="12" name="Text 9">
            <a:extLst xmlns:a="http://schemas.openxmlformats.org/drawingml/2006/main">
              <a:ext uri="{FF2B5EF4-FFF2-40B4-BE49-F238E27FC236}">
                <a16:creationId xmlns:a16="http://schemas.microsoft.com/office/drawing/2014/main" id="{1FA0A273-2EC3-4B11-B9FC-DB10108BDC21}"/>
              </a:ext>
            </a:extLst>
          </p:cNvPr>
          <p:cNvSpPr>
            <a:spLocks xmlns:a="http://schemas.openxmlformats.org/drawingml/2006/main" noGrp="1"/>
          </p:cNvSpPr>
          <p:nvPr/>
        </p:nvSpPr>
        <p:spPr>
          <a:xfrm xmlns:a="http://schemas.openxmlformats.org/drawingml/2006/main">
            <a:off x="822960" y="2523744"/>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500"/>
              </a:spcAft>
              <a:buSzPct val="100000"/>
              <a:buChar char="•"/>
            </a:pPr>
            <a:r>
              <a:rPr sz="1080" b="1">
                <a:solidFill>
                  <a:srgbClr val="24313A"/>
                </a:solidFill>
                <a:latin typeface="Calibri"/>
                <a:ea typeface="Calibri"/>
                <a:cs typeface="Calibri"/>
              </a:rPr>
              <a:t>Reminders went where risk was: 78% of rural vs 25% of urban appointments got SMS</a:t>
            </a:r>
            <a:endParaRPr sz="1080"/>
          </a:p>
          <a:p xmlns:a="http://schemas.openxmlformats.org/drawingml/2006/main">
            <a:pPr marL="152400" indent="-152400">
              <a:lnSpc>
                <a:spcPct val="104000"/>
              </a:lnSpc>
              <a:spcAft>
                <a:spcPts val="500"/>
              </a:spcAft>
              <a:buSzPct val="100000"/>
              <a:buChar char="•"/>
            </a:pPr>
            <a:r>
              <a:rPr sz="1080">
                <a:solidFill>
                  <a:srgbClr val="24313A"/>
                </a:solidFill>
                <a:latin typeface="Calibri"/>
                <a:ea typeface="Calibri"/>
                <a:cs typeface="Calibri"/>
              </a:rPr>
              <a:t>High risk-band patients were reminded far more often</a:t>
            </a:r>
            <a:endParaRPr sz="1080"/>
          </a:p>
          <a:p xmlns:a="http://schemas.openxmlformats.org/drawingml/2006/main">
            <a:pPr marL="152400" indent="-152400">
              <a:lnSpc>
                <a:spcPct val="104000"/>
              </a:lnSpc>
              <a:spcAft>
                <a:spcPts val="500"/>
              </a:spcAft>
              <a:buSzPct val="100000"/>
              <a:buChar char="•"/>
            </a:pPr>
            <a:r>
              <a:rPr sz="1080">
                <a:solidFill>
                  <a:srgbClr val="24313A"/>
                </a:solidFill>
                <a:latin typeface="Calibri"/>
                <a:ea typeface="Calibri"/>
                <a:cs typeface="Calibri"/>
              </a:rPr>
              <a:t>The 'reminded' group is loaded with hard cases — its raw rate is high because of WHO is in it, not what SMS did</a:t>
            </a:r>
            <a:endParaRPr sz="1080"/>
          </a:p>
        </p:txBody>
      </p:sp>
      <p:sp>
        <p:nvSpPr>
          <p:cNvPr id="13" name="Shape 10">
            <a:extLst xmlns:a="http://schemas.openxmlformats.org/drawingml/2006/main">
              <a:ext uri="{FF2B5EF4-FFF2-40B4-BE49-F238E27FC236}">
                <a16:creationId xmlns:a16="http://schemas.microsoft.com/office/drawing/2014/main" id="{82BC0D5C-5768-43B8-8A92-37F361F97125}"/>
              </a:ext>
            </a:extLst>
          </p:cNvPr>
          <p:cNvSpPr>
            <a:spLocks xmlns:a="http://schemas.openxmlformats.org/drawingml/2006/main" noGrp="1"/>
          </p:cNvSpPr>
          <p:nvPr/>
        </p:nvSpPr>
        <p:spPr>
          <a:xfrm xmlns:a="http://schemas.openxmlformats.org/drawingml/2006/main">
            <a:off x="6172200" y="1819656"/>
            <a:ext cx="5532120" cy="2286000"/>
          </a:xfrm>
          <a:prstGeom xmlns:a="http://schemas.openxmlformats.org/drawingml/2006/main" prst="roundRect">
            <a:avLst>
              <a:gd name="adj" fmla="val 3600"/>
            </a:avLst>
          </a:prstGeom>
          <a:solidFill xmlns:a="http://schemas.openxmlformats.org/drawingml/2006/main">
            <a:srgbClr val="E7F2F3"/>
          </a:solidFill>
        </p:spPr>
      </p:sp>
      <p:sp>
        <p:nvSpPr>
          <p:cNvPr id="14" name="Shape 11">
            <a:extLst xmlns:a="http://schemas.openxmlformats.org/drawingml/2006/main">
              <a:ext uri="{FF2B5EF4-FFF2-40B4-BE49-F238E27FC236}">
                <a16:creationId xmlns:a16="http://schemas.microsoft.com/office/drawing/2014/main" id="{47DA138E-D368-414C-847A-9A88D27A3E43}"/>
              </a:ext>
            </a:extLst>
          </p:cNvPr>
          <p:cNvSpPr>
            <a:spLocks xmlns:a="http://schemas.openxmlformats.org/drawingml/2006/main" noGrp="1"/>
          </p:cNvSpPr>
          <p:nvPr/>
        </p:nvSpPr>
        <p:spPr>
          <a:xfrm xmlns:a="http://schemas.openxmlformats.org/drawingml/2006/main">
            <a:off x="6400800" y="2020824"/>
            <a:ext cx="420624" cy="420624"/>
          </a:xfrm>
          <a:prstGeom xmlns:a="http://schemas.openxmlformats.org/drawingml/2006/main" prst="ellipse">
            <a:avLst/>
          </a:prstGeom>
          <a:solidFill xmlns:a="http://schemas.openxmlformats.org/drawingml/2006/main">
            <a:srgbClr val="0A5C64"/>
          </a:solidFill>
        </p:spPr>
      </p:sp>
      <p:pic>
        <p:nvPicPr>
          <p:cNvPr id="52" name="Image 1"/>
          <p:cNvPicPr>
            <a:picLocks xmlns:a="http://schemas.openxmlformats.org/drawingml/2006/main" noChangeAspect="1"/>
          </p:cNvPicPr>
          <p:nvPr/>
        </p:nvPicPr>
        <p:blipFill>
          <a:blip xmlns:r="http://schemas.openxmlformats.org/officeDocument/2006/relationships" xmlns:a="http://schemas.openxmlformats.org/drawingml/2006/main" r:embed="R5c00eba81fc34d90"/>
          <a:stretch xmlns:a="http://schemas.openxmlformats.org/drawingml/2006/main">
            <a:fillRect l="0" t="0" r="0" b="0"/>
          </a:stretch>
        </p:blipFill>
        <p:spPr>
          <a:xfrm xmlns:a="http://schemas.openxmlformats.org/drawingml/2006/main">
            <a:off x="6510162" y="2130186"/>
            <a:ext cx="201900" cy="201900"/>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7CCB982A-BEB8-47A7-8EF3-332C8E934127}"/>
              </a:ext>
            </a:extLst>
          </p:cNvPr>
          <p:cNvSpPr>
            <a:spLocks xmlns:a="http://schemas.openxmlformats.org/drawingml/2006/main" noGrp="1"/>
          </p:cNvSpPr>
          <p:nvPr/>
        </p:nvSpPr>
        <p:spPr>
          <a:xfrm xmlns:a="http://schemas.openxmlformats.org/drawingml/2006/main">
            <a:off x="6967728" y="2066544"/>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C64"/>
                </a:solidFill>
                <a:latin typeface="Cambria"/>
                <a:ea typeface="Cambria"/>
                <a:cs typeface="Cambria"/>
              </a:rPr>
              <a:t>Repair: stratify, then standardize</a:t>
            </a:r>
            <a:endParaRPr sz="1350"/>
          </a:p>
        </p:txBody>
      </p:sp>
      <p:sp>
        <p:nvSpPr>
          <p:cNvPr id="17" name="Text 13">
            <a:extLst xmlns:a="http://schemas.openxmlformats.org/drawingml/2006/main">
              <a:ext uri="{FF2B5EF4-FFF2-40B4-BE49-F238E27FC236}">
                <a16:creationId xmlns:a16="http://schemas.microsoft.com/office/drawing/2014/main" id="{816B2806-2D2C-415D-B9E6-686F45BBA562}"/>
              </a:ext>
            </a:extLst>
          </p:cNvPr>
          <p:cNvSpPr>
            <a:spLocks xmlns:a="http://schemas.openxmlformats.org/drawingml/2006/main" noGrp="1"/>
          </p:cNvSpPr>
          <p:nvPr/>
        </p:nvSpPr>
        <p:spPr>
          <a:xfrm xmlns:a="http://schemas.openxmlformats.org/drawingml/2006/main">
            <a:off x="6492240" y="2523744"/>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500"/>
              </a:spcAft>
              <a:buSzPct val="100000"/>
              <a:buChar char="•"/>
            </a:pPr>
            <a:r>
              <a:rPr sz="1080">
                <a:solidFill>
                  <a:srgbClr val="24313A"/>
                </a:solidFill>
                <a:latin typeface="Calibri"/>
                <a:ea typeface="Calibri"/>
                <a:cs typeface="Calibri"/>
              </a:rPr>
              <a:t>Compare like with like inside each stratum</a:t>
            </a:r>
            <a:endParaRPr sz="1080"/>
          </a:p>
          <a:p xmlns:a="http://schemas.openxmlformats.org/drawingml/2006/main">
            <a:pPr marL="152400" indent="-152400">
              <a:lnSpc>
                <a:spcPct val="104000"/>
              </a:lnSpc>
              <a:spcAft>
                <a:spcPts val="500"/>
              </a:spcAft>
              <a:buSzPct val="100000"/>
              <a:buChar char="•"/>
            </a:pPr>
            <a:r>
              <a:rPr sz="1080">
                <a:solidFill>
                  <a:srgbClr val="24313A"/>
                </a:solidFill>
                <a:latin typeface="Calibri"/>
                <a:ea typeface="Calibri"/>
                <a:cs typeface="Calibri"/>
              </a:rPr>
              <a:t>Re-average stratum effects with POPULATION weights</a:t>
            </a:r>
            <a:endParaRPr sz="1080"/>
          </a:p>
          <a:p xmlns:a="http://schemas.openxmlformats.org/drawingml/2006/main">
            <a:pPr marL="152400" indent="-152400">
              <a:lnSpc>
                <a:spcPct val="104000"/>
              </a:lnSpc>
              <a:spcAft>
                <a:spcPts val="500"/>
              </a:spcAft>
              <a:buSzPct val="100000"/>
              <a:buChar char="•"/>
            </a:pPr>
            <a:r>
              <a:rPr sz="1080" b="1">
                <a:solidFill>
                  <a:srgbClr val="24313A"/>
                </a:solidFill>
                <a:latin typeface="Calibri"/>
                <a:ea typeface="Calibri"/>
                <a:cs typeface="Calibri"/>
              </a:rPr>
              <a:t>Adjusted effect: −5.0pp (bootstrap 95% CI [−5.8, −4.1]) — reminders help</a:t>
            </a:r>
            <a:endParaRPr sz="1080"/>
          </a:p>
        </p:txBody>
      </p:sp>
      <p:sp>
        <p:nvSpPr>
          <p:cNvPr id="18" name="Shape 14">
            <a:extLst xmlns:a="http://schemas.openxmlformats.org/drawingml/2006/main">
              <a:ext uri="{FF2B5EF4-FFF2-40B4-BE49-F238E27FC236}">
                <a16:creationId xmlns:a16="http://schemas.microsoft.com/office/drawing/2014/main" id="{25234503-C71D-43BC-9938-F4730BB2FD0C}"/>
              </a:ext>
            </a:extLst>
          </p:cNvPr>
          <p:cNvSpPr>
            <a:spLocks xmlns:a="http://schemas.openxmlformats.org/drawingml/2006/main" noGrp="1"/>
          </p:cNvSpPr>
          <p:nvPr/>
        </p:nvSpPr>
        <p:spPr>
          <a:xfrm xmlns:a="http://schemas.openxmlformats.org/drawingml/2006/main">
            <a:off x="502920" y="4261104"/>
            <a:ext cx="11201400" cy="123444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2700">
            <a:solidFill>
              <a:srgbClr val="D6E2E4"/>
            </a:solidFill>
            <a:prstDash val="solid"/>
          </a:ln>
        </p:spPr>
      </p:sp>
      <p:sp>
        <p:nvSpPr>
          <p:cNvPr id="19" name="Shape 15">
            <a:extLst xmlns:a="http://schemas.openxmlformats.org/drawingml/2006/main">
              <a:ext uri="{FF2B5EF4-FFF2-40B4-BE49-F238E27FC236}">
                <a16:creationId xmlns:a16="http://schemas.microsoft.com/office/drawing/2014/main" id="{401FF98C-A02F-456F-86B0-4AD242F7F5F1}"/>
              </a:ext>
            </a:extLst>
          </p:cNvPr>
          <p:cNvSpPr>
            <a:spLocks xmlns:a="http://schemas.openxmlformats.org/drawingml/2006/main" noGrp="1"/>
          </p:cNvSpPr>
          <p:nvPr/>
        </p:nvSpPr>
        <p:spPr>
          <a:xfrm xmlns:a="http://schemas.openxmlformats.org/drawingml/2006/main">
            <a:off x="1463040" y="4992624"/>
            <a:ext cx="9509760" cy="0"/>
          </a:xfrm>
          <a:prstGeom xmlns:a="http://schemas.openxmlformats.org/drawingml/2006/main" prst="line">
            <a:avLst/>
          </a:prstGeom>
          <a:noFill xmlns:a="http://schemas.openxmlformats.org/drawingml/2006/main"/>
          <a:ln xmlns:a="http://schemas.openxmlformats.org/drawingml/2006/main" w="19050">
            <a:solidFill>
              <a:srgbClr val="D6E2E4"/>
            </a:solidFill>
            <a:prstDash val="solid"/>
          </a:ln>
        </p:spPr>
      </p:sp>
      <p:sp>
        <p:nvSpPr>
          <p:cNvPr id="20" name="Shape 16">
            <a:extLst xmlns:a="http://schemas.openxmlformats.org/drawingml/2006/main">
              <a:ext uri="{FF2B5EF4-FFF2-40B4-BE49-F238E27FC236}">
                <a16:creationId xmlns:a16="http://schemas.microsoft.com/office/drawing/2014/main" id="{7568EA57-A17D-45C0-A096-54D96A5A50AC}"/>
              </a:ext>
            </a:extLst>
          </p:cNvPr>
          <p:cNvSpPr>
            <a:spLocks xmlns:a="http://schemas.openxmlformats.org/drawingml/2006/main" noGrp="1"/>
          </p:cNvSpPr>
          <p:nvPr/>
        </p:nvSpPr>
        <p:spPr>
          <a:xfrm xmlns:a="http://schemas.openxmlformats.org/drawingml/2006/main">
            <a:off x="2327564" y="4946904"/>
            <a:ext cx="0" cy="91440"/>
          </a:xfrm>
          <a:prstGeom xmlns:a="http://schemas.openxmlformats.org/drawingml/2006/main" prst="line">
            <a:avLst/>
          </a:prstGeom>
          <a:noFill xmlns:a="http://schemas.openxmlformats.org/drawingml/2006/main"/>
          <a:ln xmlns:a="http://schemas.openxmlformats.org/drawingml/2006/main" w="12700">
            <a:solidFill>
              <a:srgbClr val="5B6B75"/>
            </a:solidFill>
            <a:prstDash val="solid"/>
          </a:ln>
        </p:spPr>
      </p:sp>
      <p:sp>
        <p:nvSpPr>
          <p:cNvPr id="21" name="Text 17">
            <a:extLst xmlns:a="http://schemas.openxmlformats.org/drawingml/2006/main">
              <a:ext uri="{FF2B5EF4-FFF2-40B4-BE49-F238E27FC236}">
                <a16:creationId xmlns:a16="http://schemas.microsoft.com/office/drawing/2014/main" id="{C2363D53-DFD4-4FE4-A0C2-90149C588196}"/>
              </a:ext>
            </a:extLst>
          </p:cNvPr>
          <p:cNvSpPr>
            <a:spLocks xmlns:a="http://schemas.openxmlformats.org/drawingml/2006/main" noGrp="1"/>
          </p:cNvSpPr>
          <p:nvPr/>
        </p:nvSpPr>
        <p:spPr>
          <a:xfrm xmlns:a="http://schemas.openxmlformats.org/drawingml/2006/main">
            <a:off x="1961804" y="5084064"/>
            <a:ext cx="7315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5B6B75"/>
                </a:solidFill>
                <a:latin typeface="Calibri"/>
                <a:ea typeface="Calibri"/>
                <a:cs typeface="Calibri"/>
              </a:rPr>
              <a:t>-6pp</a:t>
            </a:r>
            <a:endParaRPr sz="900"/>
          </a:p>
        </p:txBody>
      </p:sp>
      <p:sp>
        <p:nvSpPr>
          <p:cNvPr id="22" name="Shape 18">
            <a:extLst xmlns:a="http://schemas.openxmlformats.org/drawingml/2006/main">
              <a:ext uri="{FF2B5EF4-FFF2-40B4-BE49-F238E27FC236}">
                <a16:creationId xmlns:a16="http://schemas.microsoft.com/office/drawing/2014/main" id="{54F51E41-DBF8-4785-B2E1-3B46F5292097}"/>
              </a:ext>
            </a:extLst>
          </p:cNvPr>
          <p:cNvSpPr>
            <a:spLocks xmlns:a="http://schemas.openxmlformats.org/drawingml/2006/main" noGrp="1"/>
          </p:cNvSpPr>
          <p:nvPr/>
        </p:nvSpPr>
        <p:spPr>
          <a:xfrm xmlns:a="http://schemas.openxmlformats.org/drawingml/2006/main">
            <a:off x="4056611" y="4946904"/>
            <a:ext cx="0" cy="91440"/>
          </a:xfrm>
          <a:prstGeom xmlns:a="http://schemas.openxmlformats.org/drawingml/2006/main" prst="line">
            <a:avLst/>
          </a:prstGeom>
          <a:noFill xmlns:a="http://schemas.openxmlformats.org/drawingml/2006/main"/>
          <a:ln xmlns:a="http://schemas.openxmlformats.org/drawingml/2006/main" w="12700">
            <a:solidFill>
              <a:srgbClr val="5B6B75"/>
            </a:solidFill>
            <a:prstDash val="solid"/>
          </a:ln>
        </p:spPr>
      </p:sp>
      <p:sp>
        <p:nvSpPr>
          <p:cNvPr id="23" name="Text 19">
            <a:extLst xmlns:a="http://schemas.openxmlformats.org/drawingml/2006/main">
              <a:ext uri="{FF2B5EF4-FFF2-40B4-BE49-F238E27FC236}">
                <a16:creationId xmlns:a16="http://schemas.microsoft.com/office/drawing/2014/main" id="{3C8A03BD-512F-4467-B995-C6F722F916F2}"/>
              </a:ext>
            </a:extLst>
          </p:cNvPr>
          <p:cNvSpPr>
            <a:spLocks xmlns:a="http://schemas.openxmlformats.org/drawingml/2006/main" noGrp="1"/>
          </p:cNvSpPr>
          <p:nvPr/>
        </p:nvSpPr>
        <p:spPr>
          <a:xfrm xmlns:a="http://schemas.openxmlformats.org/drawingml/2006/main">
            <a:off x="3690851" y="5084064"/>
            <a:ext cx="7315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5B6B75"/>
                </a:solidFill>
                <a:latin typeface="Calibri"/>
                <a:ea typeface="Calibri"/>
                <a:cs typeface="Calibri"/>
              </a:rPr>
              <a:t>-4pp</a:t>
            </a:r>
            <a:endParaRPr sz="900"/>
          </a:p>
        </p:txBody>
      </p:sp>
      <p:sp>
        <p:nvSpPr>
          <p:cNvPr id="24" name="Shape 20">
            <a:extLst xmlns:a="http://schemas.openxmlformats.org/drawingml/2006/main">
              <a:ext uri="{FF2B5EF4-FFF2-40B4-BE49-F238E27FC236}">
                <a16:creationId xmlns:a16="http://schemas.microsoft.com/office/drawing/2014/main" id="{2A1EC6BA-EDB1-4046-B073-96C60D66D16D}"/>
              </a:ext>
            </a:extLst>
          </p:cNvPr>
          <p:cNvSpPr>
            <a:spLocks xmlns:a="http://schemas.openxmlformats.org/drawingml/2006/main" noGrp="1"/>
          </p:cNvSpPr>
          <p:nvPr/>
        </p:nvSpPr>
        <p:spPr>
          <a:xfrm xmlns:a="http://schemas.openxmlformats.org/drawingml/2006/main">
            <a:off x="5785658" y="4946904"/>
            <a:ext cx="0" cy="91440"/>
          </a:xfrm>
          <a:prstGeom xmlns:a="http://schemas.openxmlformats.org/drawingml/2006/main" prst="line">
            <a:avLst/>
          </a:prstGeom>
          <a:noFill xmlns:a="http://schemas.openxmlformats.org/drawingml/2006/main"/>
          <a:ln xmlns:a="http://schemas.openxmlformats.org/drawingml/2006/main" w="12700">
            <a:solidFill>
              <a:srgbClr val="5B6B75"/>
            </a:solidFill>
            <a:prstDash val="solid"/>
          </a:ln>
        </p:spPr>
      </p:sp>
      <p:sp>
        <p:nvSpPr>
          <p:cNvPr id="25" name="Text 21">
            <a:extLst xmlns:a="http://schemas.openxmlformats.org/drawingml/2006/main">
              <a:ext uri="{FF2B5EF4-FFF2-40B4-BE49-F238E27FC236}">
                <a16:creationId xmlns:a16="http://schemas.microsoft.com/office/drawing/2014/main" id="{36CBC2AE-43B8-465C-A55B-7CB56FB16138}"/>
              </a:ext>
            </a:extLst>
          </p:cNvPr>
          <p:cNvSpPr>
            <a:spLocks xmlns:a="http://schemas.openxmlformats.org/drawingml/2006/main" noGrp="1"/>
          </p:cNvSpPr>
          <p:nvPr/>
        </p:nvSpPr>
        <p:spPr>
          <a:xfrm xmlns:a="http://schemas.openxmlformats.org/drawingml/2006/main">
            <a:off x="5419898" y="5084064"/>
            <a:ext cx="7315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5B6B75"/>
                </a:solidFill>
                <a:latin typeface="Calibri"/>
                <a:ea typeface="Calibri"/>
                <a:cs typeface="Calibri"/>
              </a:rPr>
              <a:t>-2pp</a:t>
            </a:r>
            <a:endParaRPr sz="900"/>
          </a:p>
        </p:txBody>
      </p:sp>
      <p:sp>
        <p:nvSpPr>
          <p:cNvPr id="26" name="Shape 22">
            <a:extLst xmlns:a="http://schemas.openxmlformats.org/drawingml/2006/main">
              <a:ext uri="{FF2B5EF4-FFF2-40B4-BE49-F238E27FC236}">
                <a16:creationId xmlns:a16="http://schemas.microsoft.com/office/drawing/2014/main" id="{5E1544E3-3DBD-4FE8-83D2-8F8D0E8360AC}"/>
              </a:ext>
            </a:extLst>
          </p:cNvPr>
          <p:cNvSpPr>
            <a:spLocks xmlns:a="http://schemas.openxmlformats.org/drawingml/2006/main" noGrp="1"/>
          </p:cNvSpPr>
          <p:nvPr/>
        </p:nvSpPr>
        <p:spPr>
          <a:xfrm xmlns:a="http://schemas.openxmlformats.org/drawingml/2006/main">
            <a:off x="7514705" y="4946904"/>
            <a:ext cx="0" cy="91440"/>
          </a:xfrm>
          <a:prstGeom xmlns:a="http://schemas.openxmlformats.org/drawingml/2006/main" prst="line">
            <a:avLst/>
          </a:prstGeom>
          <a:noFill xmlns:a="http://schemas.openxmlformats.org/drawingml/2006/main"/>
          <a:ln xmlns:a="http://schemas.openxmlformats.org/drawingml/2006/main" w="12700">
            <a:solidFill>
              <a:srgbClr val="5B6B75"/>
            </a:solidFill>
            <a:prstDash val="solid"/>
          </a:ln>
        </p:spPr>
      </p:sp>
      <p:sp>
        <p:nvSpPr>
          <p:cNvPr id="27" name="Text 23">
            <a:extLst xmlns:a="http://schemas.openxmlformats.org/drawingml/2006/main">
              <a:ext uri="{FF2B5EF4-FFF2-40B4-BE49-F238E27FC236}">
                <a16:creationId xmlns:a16="http://schemas.microsoft.com/office/drawing/2014/main" id="{1ED6BCC6-8DD4-4D70-ACA2-F76E01A6ECD8}"/>
              </a:ext>
            </a:extLst>
          </p:cNvPr>
          <p:cNvSpPr>
            <a:spLocks xmlns:a="http://schemas.openxmlformats.org/drawingml/2006/main" noGrp="1"/>
          </p:cNvSpPr>
          <p:nvPr/>
        </p:nvSpPr>
        <p:spPr>
          <a:xfrm xmlns:a="http://schemas.openxmlformats.org/drawingml/2006/main">
            <a:off x="7148945" y="5084064"/>
            <a:ext cx="7315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5B6B75"/>
                </a:solidFill>
                <a:latin typeface="Calibri"/>
                <a:ea typeface="Calibri"/>
                <a:cs typeface="Calibri"/>
              </a:rPr>
              <a:t>0pp</a:t>
            </a:r>
            <a:endParaRPr sz="900"/>
          </a:p>
        </p:txBody>
      </p:sp>
      <p:sp>
        <p:nvSpPr>
          <p:cNvPr id="28" name="Shape 24">
            <a:extLst xmlns:a="http://schemas.openxmlformats.org/drawingml/2006/main">
              <a:ext uri="{FF2B5EF4-FFF2-40B4-BE49-F238E27FC236}">
                <a16:creationId xmlns:a16="http://schemas.microsoft.com/office/drawing/2014/main" id="{17824A5D-02B2-4A3B-8E0D-C30C39CCB3CC}"/>
              </a:ext>
            </a:extLst>
          </p:cNvPr>
          <p:cNvSpPr>
            <a:spLocks xmlns:a="http://schemas.openxmlformats.org/drawingml/2006/main" noGrp="1"/>
          </p:cNvSpPr>
          <p:nvPr/>
        </p:nvSpPr>
        <p:spPr>
          <a:xfrm xmlns:a="http://schemas.openxmlformats.org/drawingml/2006/main">
            <a:off x="9243753" y="4946904"/>
            <a:ext cx="0" cy="91440"/>
          </a:xfrm>
          <a:prstGeom xmlns:a="http://schemas.openxmlformats.org/drawingml/2006/main" prst="line">
            <a:avLst/>
          </a:prstGeom>
          <a:noFill xmlns:a="http://schemas.openxmlformats.org/drawingml/2006/main"/>
          <a:ln xmlns:a="http://schemas.openxmlformats.org/drawingml/2006/main" w="12700">
            <a:solidFill>
              <a:srgbClr val="5B6B75"/>
            </a:solidFill>
            <a:prstDash val="solid"/>
          </a:ln>
        </p:spPr>
      </p:sp>
      <p:sp>
        <p:nvSpPr>
          <p:cNvPr id="29" name="Text 25">
            <a:extLst xmlns:a="http://schemas.openxmlformats.org/drawingml/2006/main">
              <a:ext uri="{FF2B5EF4-FFF2-40B4-BE49-F238E27FC236}">
                <a16:creationId xmlns:a16="http://schemas.microsoft.com/office/drawing/2014/main" id="{6ABD3861-AB27-41F4-BD5D-81D207F98EF8}"/>
              </a:ext>
            </a:extLst>
          </p:cNvPr>
          <p:cNvSpPr>
            <a:spLocks xmlns:a="http://schemas.openxmlformats.org/drawingml/2006/main" noGrp="1"/>
          </p:cNvSpPr>
          <p:nvPr/>
        </p:nvSpPr>
        <p:spPr>
          <a:xfrm xmlns:a="http://schemas.openxmlformats.org/drawingml/2006/main">
            <a:off x="8877993" y="5084064"/>
            <a:ext cx="7315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5B6B75"/>
                </a:solidFill>
                <a:latin typeface="Calibri"/>
                <a:ea typeface="Calibri"/>
                <a:cs typeface="Calibri"/>
              </a:rPr>
              <a:t>+2pp</a:t>
            </a:r>
            <a:endParaRPr sz="900"/>
          </a:p>
        </p:txBody>
      </p:sp>
      <p:sp>
        <p:nvSpPr>
          <p:cNvPr id="30" name="Shape 26">
            <a:extLst xmlns:a="http://schemas.openxmlformats.org/drawingml/2006/main">
              <a:ext uri="{FF2B5EF4-FFF2-40B4-BE49-F238E27FC236}">
                <a16:creationId xmlns:a16="http://schemas.microsoft.com/office/drawing/2014/main" id="{4DA0DEE7-E5EE-49A5-A3CA-44877DD77E93}"/>
              </a:ext>
            </a:extLst>
          </p:cNvPr>
          <p:cNvSpPr>
            <a:spLocks xmlns:a="http://schemas.openxmlformats.org/drawingml/2006/main" noGrp="1"/>
          </p:cNvSpPr>
          <p:nvPr/>
        </p:nvSpPr>
        <p:spPr>
          <a:xfrm xmlns:a="http://schemas.openxmlformats.org/drawingml/2006/main">
            <a:off x="9161457" y="4910328"/>
            <a:ext cx="164592" cy="164592"/>
          </a:xfrm>
          <a:prstGeom xmlns:a="http://schemas.openxmlformats.org/drawingml/2006/main" prst="ellipse">
            <a:avLst/>
          </a:prstGeom>
          <a:solidFill xmlns:a="http://schemas.openxmlformats.org/drawingml/2006/main">
            <a:srgbClr val="B4232A"/>
          </a:solidFill>
        </p:spPr>
      </p:sp>
      <p:sp>
        <p:nvSpPr>
          <p:cNvPr id="31" name="Text 27">
            <a:extLst xmlns:a="http://schemas.openxmlformats.org/drawingml/2006/main">
              <a:ext uri="{FF2B5EF4-FFF2-40B4-BE49-F238E27FC236}">
                <a16:creationId xmlns:a16="http://schemas.microsoft.com/office/drawing/2014/main" id="{FC658DFF-3556-40A4-83EE-4FE445142033}"/>
              </a:ext>
            </a:extLst>
          </p:cNvPr>
          <p:cNvSpPr>
            <a:spLocks xmlns:a="http://schemas.openxmlformats.org/drawingml/2006/main" noGrp="1"/>
          </p:cNvSpPr>
          <p:nvPr/>
        </p:nvSpPr>
        <p:spPr>
          <a:xfrm xmlns:a="http://schemas.openxmlformats.org/drawingml/2006/main">
            <a:off x="8237913" y="4517136"/>
            <a:ext cx="2011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B4232A"/>
                </a:solidFill>
                <a:latin typeface="Calibri"/>
                <a:ea typeface="Calibri"/>
                <a:cs typeface="Calibri"/>
              </a:rPr>
              <a:t>crude +2.0pp (“harmful”)</a:t>
            </a:r>
            <a:endParaRPr sz="1000"/>
          </a:p>
        </p:txBody>
      </p:sp>
      <p:sp>
        <p:nvSpPr>
          <p:cNvPr id="32" name="Shape 28">
            <a:extLst xmlns:a="http://schemas.openxmlformats.org/drawingml/2006/main">
              <a:ext uri="{FF2B5EF4-FFF2-40B4-BE49-F238E27FC236}">
                <a16:creationId xmlns:a16="http://schemas.microsoft.com/office/drawing/2014/main" id="{8DF0E410-DDA8-4C90-97F5-D361B8870B00}"/>
              </a:ext>
            </a:extLst>
          </p:cNvPr>
          <p:cNvSpPr>
            <a:spLocks xmlns:a="http://schemas.openxmlformats.org/drawingml/2006/main" noGrp="1"/>
          </p:cNvSpPr>
          <p:nvPr/>
        </p:nvSpPr>
        <p:spPr>
          <a:xfrm xmlns:a="http://schemas.openxmlformats.org/drawingml/2006/main">
            <a:off x="2500468" y="4992624"/>
            <a:ext cx="1469690" cy="0"/>
          </a:xfrm>
          <a:prstGeom xmlns:a="http://schemas.openxmlformats.org/drawingml/2006/main" prst="line">
            <a:avLst/>
          </a:prstGeom>
          <a:noFill xmlns:a="http://schemas.openxmlformats.org/drawingml/2006/main"/>
          <a:ln xmlns:a="http://schemas.openxmlformats.org/drawingml/2006/main" w="38100">
            <a:solidFill>
              <a:srgbClr val="1E7B52"/>
            </a:solidFill>
            <a:prstDash val="solid"/>
          </a:ln>
        </p:spPr>
      </p:sp>
      <p:sp>
        <p:nvSpPr>
          <p:cNvPr id="33" name="Shape 29">
            <a:extLst xmlns:a="http://schemas.openxmlformats.org/drawingml/2006/main">
              <a:ext uri="{FF2B5EF4-FFF2-40B4-BE49-F238E27FC236}">
                <a16:creationId xmlns:a16="http://schemas.microsoft.com/office/drawing/2014/main" id="{693F33F6-CAF3-4070-953F-E0801BC6D9F8}"/>
              </a:ext>
            </a:extLst>
          </p:cNvPr>
          <p:cNvSpPr>
            <a:spLocks xmlns:a="http://schemas.openxmlformats.org/drawingml/2006/main" noGrp="1"/>
          </p:cNvSpPr>
          <p:nvPr/>
        </p:nvSpPr>
        <p:spPr>
          <a:xfrm xmlns:a="http://schemas.openxmlformats.org/drawingml/2006/main">
            <a:off x="3109791" y="4910328"/>
            <a:ext cx="164592" cy="164592"/>
          </a:xfrm>
          <a:prstGeom xmlns:a="http://schemas.openxmlformats.org/drawingml/2006/main" prst="ellipse">
            <a:avLst/>
          </a:prstGeom>
          <a:solidFill xmlns:a="http://schemas.openxmlformats.org/drawingml/2006/main">
            <a:srgbClr val="1E7B52"/>
          </a:solidFill>
        </p:spPr>
      </p:sp>
      <p:sp>
        <p:nvSpPr>
          <p:cNvPr id="34" name="Text 30">
            <a:extLst xmlns:a="http://schemas.openxmlformats.org/drawingml/2006/main">
              <a:ext uri="{FF2B5EF4-FFF2-40B4-BE49-F238E27FC236}">
                <a16:creationId xmlns:a16="http://schemas.microsoft.com/office/drawing/2014/main" id="{99B5B8BB-501C-4E7A-98C1-AB602181F3C8}"/>
              </a:ext>
            </a:extLst>
          </p:cNvPr>
          <p:cNvSpPr>
            <a:spLocks xmlns:a="http://schemas.openxmlformats.org/drawingml/2006/main" noGrp="1"/>
          </p:cNvSpPr>
          <p:nvPr/>
        </p:nvSpPr>
        <p:spPr>
          <a:xfrm xmlns:a="http://schemas.openxmlformats.org/drawingml/2006/main">
            <a:off x="2186247" y="4517136"/>
            <a:ext cx="2011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E7B52"/>
                </a:solidFill>
                <a:latin typeface="Calibri"/>
                <a:ea typeface="Calibri"/>
                <a:cs typeface="Calibri"/>
              </a:rPr>
              <a:t>adjusted −5.0pp (helps)</a:t>
            </a:r>
            <a:endParaRPr sz="1000"/>
          </a:p>
        </p:txBody>
      </p:sp>
      <p:sp>
        <p:nvSpPr>
          <p:cNvPr id="35" name="Shape 31">
            <a:extLst xmlns:a="http://schemas.openxmlformats.org/drawingml/2006/main">
              <a:ext uri="{FF2B5EF4-FFF2-40B4-BE49-F238E27FC236}">
                <a16:creationId xmlns:a16="http://schemas.microsoft.com/office/drawing/2014/main" id="{66C9F130-92AE-40AA-BF65-06FED4A90EED}"/>
              </a:ext>
            </a:extLst>
          </p:cNvPr>
          <p:cNvSpPr>
            <a:spLocks xmlns:a="http://schemas.openxmlformats.org/drawingml/2006/main" noGrp="1"/>
          </p:cNvSpPr>
          <p:nvPr/>
        </p:nvSpPr>
        <p:spPr>
          <a:xfrm xmlns:a="http://schemas.openxmlformats.org/drawingml/2006/main">
            <a:off x="502920" y="5678424"/>
            <a:ext cx="11201400" cy="731520"/>
          </a:xfrm>
          <a:prstGeom xmlns:a="http://schemas.openxmlformats.org/drawingml/2006/main" prst="roundRect">
            <a:avLst>
              <a:gd name="adj" fmla="val 11250"/>
            </a:avLst>
          </a:prstGeom>
          <a:solidFill xmlns:a="http://schemas.openxmlformats.org/drawingml/2006/main">
            <a:srgbClr val="0B3140"/>
          </a:solidFill>
        </p:spPr>
      </p:sp>
      <p:sp>
        <p:nvSpPr>
          <p:cNvPr id="36" name="Text 32">
            <a:extLst xmlns:a="http://schemas.openxmlformats.org/drawingml/2006/main">
              <a:ext uri="{FF2B5EF4-FFF2-40B4-BE49-F238E27FC236}">
                <a16:creationId xmlns:a16="http://schemas.microsoft.com/office/drawing/2014/main" id="{5A5C7CCA-F278-4DCA-8BDB-F1C38BE8EF98}"/>
              </a:ext>
            </a:extLst>
          </p:cNvPr>
          <p:cNvSpPr>
            <a:spLocks xmlns:a="http://schemas.openxmlformats.org/drawingml/2006/main" noGrp="1"/>
          </p:cNvSpPr>
          <p:nvPr/>
        </p:nvSpPr>
        <p:spPr>
          <a:xfrm xmlns:a="http://schemas.openxmlformats.org/drawingml/2006/main">
            <a:off x="868680" y="5788152"/>
            <a:ext cx="1042416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6FB3BC"/>
                </a:solidFill>
                <a:latin typeface="Calibri"/>
                <a:ea typeface="Calibri"/>
                <a:cs typeface="Calibri"/>
              </a:rPr>
              <a:t>And the sanity check:  </a:t>
            </a:r>
            <a:r>
              <a:rPr sz="1200">
                <a:solidFill>
                  <a:srgbClr val="FFFFFF"/>
                </a:solidFill>
                <a:latin typeface="Calibri"/>
                <a:ea typeface="Calibri"/>
                <a:cs typeface="Calibri"/>
              </a:rPr>
              <a:t>the adjusted −5.0pp sits beside the randomized pilot's −6.8pp — two independent routes to the same conclusion. When observational-adjusted and experimental answers agree, you may finally start to believe both.</a:t>
            </a:r>
            <a:endParaRPr sz="1200"/>
          </a:p>
        </p:txBody>
      </p:sp>
    </p:spTree>
    <p:extLst>
      <p:ext uri="{BB962C8B-B14F-4D97-AF65-F5344CB8AC3E}">
        <p14:creationId xmlns:p14="http://schemas.microsoft.com/office/powerpoint/2010/main" val="877874550"/>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205EA73-4842-4DD6-9A59-E96F63397C6B}"/>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772BE2F2-295D-4115-8E34-E22C884040BD}"/>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58</a:t>
            </a:r>
            <a:endParaRPr sz="900"/>
          </a:p>
        </p:txBody>
      </p:sp>
      <p:sp>
        <p:nvSpPr>
          <p:cNvPr id="4" name="Shape 2">
            <a:extLst xmlns:a="http://schemas.openxmlformats.org/drawingml/2006/main">
              <a:ext uri="{FF2B5EF4-FFF2-40B4-BE49-F238E27FC236}">
                <a16:creationId xmlns:a16="http://schemas.microsoft.com/office/drawing/2014/main" id="{99AE5EB3-751A-4C2C-BE28-89BE5AA45CD4}"/>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FD5F2E16-7D73-4545-BC77-3BB30D0BCDB1}"/>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5</a:t>
            </a:r>
            <a:endParaRPr sz="1050"/>
          </a:p>
        </p:txBody>
      </p:sp>
      <p:sp>
        <p:nvSpPr>
          <p:cNvPr id="6" name="Text 4">
            <a:extLst xmlns:a="http://schemas.openxmlformats.org/drawingml/2006/main">
              <a:ext uri="{FF2B5EF4-FFF2-40B4-BE49-F238E27FC236}">
                <a16:creationId xmlns:a16="http://schemas.microsoft.com/office/drawing/2014/main" id="{E902AE6A-BAB9-44A8-B808-BB1F92D37876}"/>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Three arrow patterns — and only one calls for adjustment</a:t>
            </a:r>
            <a:endParaRPr sz="2800"/>
          </a:p>
        </p:txBody>
      </p:sp>
      <p:sp>
        <p:nvSpPr>
          <p:cNvPr id="7" name="Text 5">
            <a:extLst xmlns:a="http://schemas.openxmlformats.org/drawingml/2006/main">
              <a:ext uri="{FF2B5EF4-FFF2-40B4-BE49-F238E27FC236}">
                <a16:creationId xmlns:a16="http://schemas.microsoft.com/office/drawing/2014/main" id="{54A705ED-8D1D-4DBF-8FA8-A7D2D0318977}"/>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The five-minute DAG literacy every analyst needs before touching regression</a:t>
            </a:r>
            <a:endParaRPr sz="1350"/>
          </a:p>
        </p:txBody>
      </p:sp>
      <p:sp>
        <p:nvSpPr>
          <p:cNvPr id="8" name="Shape 6">
            <a:extLst xmlns:a="http://schemas.openxmlformats.org/drawingml/2006/main">
              <a:ext uri="{FF2B5EF4-FFF2-40B4-BE49-F238E27FC236}">
                <a16:creationId xmlns:a16="http://schemas.microsoft.com/office/drawing/2014/main" id="{7121B426-C6D8-43E2-8DB8-932B6D4A7AAA}"/>
              </a:ext>
            </a:extLst>
          </p:cNvPr>
          <p:cNvSpPr>
            <a:spLocks xmlns:a="http://schemas.openxmlformats.org/drawingml/2006/main" noGrp="1"/>
          </p:cNvSpPr>
          <p:nvPr/>
        </p:nvSpPr>
        <p:spPr>
          <a:xfrm xmlns:a="http://schemas.openxmlformats.org/drawingml/2006/main">
            <a:off x="502920" y="1819656"/>
            <a:ext cx="3685032" cy="3383280"/>
          </a:xfrm>
          <a:prstGeom xmlns:a="http://schemas.openxmlformats.org/drawingml/2006/main" prst="roundRect">
            <a:avLst>
              <a:gd name="adj" fmla="val 2432"/>
            </a:avLst>
          </a:prstGeom>
          <a:solidFill xmlns:a="http://schemas.openxmlformats.org/drawingml/2006/main">
            <a:srgbClr val="FFFFFF"/>
          </a:solidFill>
          <a:ln xmlns:a="http://schemas.openxmlformats.org/drawingml/2006/main" w="12700">
            <a:solidFill>
              <a:srgbClr val="D6E2E4"/>
            </a:solidFill>
            <a:prstDash val="solid"/>
          </a:ln>
        </p:spPr>
      </p:sp>
      <p:sp>
        <p:nvSpPr>
          <p:cNvPr id="9" name="Text 7">
            <a:extLst xmlns:a="http://schemas.openxmlformats.org/drawingml/2006/main">
              <a:ext uri="{FF2B5EF4-FFF2-40B4-BE49-F238E27FC236}">
                <a16:creationId xmlns:a16="http://schemas.microsoft.com/office/drawing/2014/main" id="{51AC3247-70EC-4AF5-A1BD-CC05E591A5F1}"/>
              </a:ext>
            </a:extLst>
          </p:cNvPr>
          <p:cNvSpPr>
            <a:spLocks xmlns:a="http://schemas.openxmlformats.org/drawingml/2006/main" noGrp="1"/>
          </p:cNvSpPr>
          <p:nvPr/>
        </p:nvSpPr>
        <p:spPr>
          <a:xfrm xmlns:a="http://schemas.openxmlformats.org/drawingml/2006/main">
            <a:off x="685800" y="1975104"/>
            <a:ext cx="3337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0B3140"/>
                </a:solidFill>
                <a:latin typeface="Cambria"/>
                <a:ea typeface="Cambria"/>
                <a:cs typeface="Cambria"/>
              </a:rPr>
              <a:t>Confounder</a:t>
            </a:r>
            <a:endParaRPr sz="1350"/>
          </a:p>
        </p:txBody>
      </p:sp>
      <p:sp>
        <p:nvSpPr>
          <p:cNvPr id="10" name="Shape 8">
            <a:extLst xmlns:a="http://schemas.openxmlformats.org/drawingml/2006/main">
              <a:ext uri="{FF2B5EF4-FFF2-40B4-BE49-F238E27FC236}">
                <a16:creationId xmlns:a16="http://schemas.microsoft.com/office/drawing/2014/main" id="{EA63A17A-95EE-4D23-8F11-CB9CFB9DFBD0}"/>
              </a:ext>
            </a:extLst>
          </p:cNvPr>
          <p:cNvSpPr>
            <a:spLocks xmlns:a="http://schemas.openxmlformats.org/drawingml/2006/main" noGrp="1"/>
          </p:cNvSpPr>
          <p:nvPr/>
        </p:nvSpPr>
        <p:spPr>
          <a:xfrm xmlns:a="http://schemas.openxmlformats.org/drawingml/2006/main">
            <a:off x="2057400" y="2523744"/>
            <a:ext cx="566928" cy="566928"/>
          </a:xfrm>
          <a:prstGeom xmlns:a="http://schemas.openxmlformats.org/drawingml/2006/main" prst="ellipse">
            <a:avLst/>
          </a:prstGeom>
          <a:solidFill xmlns:a="http://schemas.openxmlformats.org/drawingml/2006/main">
            <a:srgbClr val="C2660A"/>
          </a:solidFill>
        </p:spPr>
      </p:sp>
      <p:sp>
        <p:nvSpPr>
          <p:cNvPr id="11" name="Text 9">
            <a:extLst xmlns:a="http://schemas.openxmlformats.org/drawingml/2006/main">
              <a:ext uri="{FF2B5EF4-FFF2-40B4-BE49-F238E27FC236}">
                <a16:creationId xmlns:a16="http://schemas.microsoft.com/office/drawing/2014/main" id="{1B313383-EAC9-4231-99B4-F71A025B3075}"/>
              </a:ext>
            </a:extLst>
          </p:cNvPr>
          <p:cNvSpPr>
            <a:spLocks xmlns:a="http://schemas.openxmlformats.org/drawingml/2006/main" noGrp="1"/>
          </p:cNvSpPr>
          <p:nvPr/>
        </p:nvSpPr>
        <p:spPr>
          <a:xfrm xmlns:a="http://schemas.openxmlformats.org/drawingml/2006/main">
            <a:off x="1737360" y="3127248"/>
            <a:ext cx="120700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24313A"/>
                </a:solidFill>
                <a:latin typeface="Calibri"/>
                <a:ea typeface="Calibri"/>
                <a:cs typeface="Calibri"/>
              </a:rPr>
              <a:t>Risk band</a:t>
            </a:r>
            <a:endParaRPr sz="900"/>
          </a:p>
        </p:txBody>
      </p:sp>
      <p:sp>
        <p:nvSpPr>
          <p:cNvPr id="12" name="Shape 10">
            <a:extLst xmlns:a="http://schemas.openxmlformats.org/drawingml/2006/main">
              <a:ext uri="{FF2B5EF4-FFF2-40B4-BE49-F238E27FC236}">
                <a16:creationId xmlns:a16="http://schemas.microsoft.com/office/drawing/2014/main" id="{F392F055-AA6C-4EB7-8FE9-97AB71374D5D}"/>
              </a:ext>
            </a:extLst>
          </p:cNvPr>
          <p:cNvSpPr>
            <a:spLocks xmlns:a="http://schemas.openxmlformats.org/drawingml/2006/main" noGrp="1"/>
          </p:cNvSpPr>
          <p:nvPr/>
        </p:nvSpPr>
        <p:spPr>
          <a:xfrm xmlns:a="http://schemas.openxmlformats.org/drawingml/2006/main">
            <a:off x="1005840" y="3849624"/>
            <a:ext cx="566928" cy="566928"/>
          </a:xfrm>
          <a:prstGeom xmlns:a="http://schemas.openxmlformats.org/drawingml/2006/main" prst="ellipse">
            <a:avLst/>
          </a:prstGeom>
          <a:solidFill xmlns:a="http://schemas.openxmlformats.org/drawingml/2006/main">
            <a:srgbClr val="0B3140"/>
          </a:solidFill>
        </p:spPr>
      </p:sp>
      <p:sp>
        <p:nvSpPr>
          <p:cNvPr id="13" name="Text 11">
            <a:extLst xmlns:a="http://schemas.openxmlformats.org/drawingml/2006/main">
              <a:ext uri="{FF2B5EF4-FFF2-40B4-BE49-F238E27FC236}">
                <a16:creationId xmlns:a16="http://schemas.microsoft.com/office/drawing/2014/main" id="{2EFD2C00-7EFD-40EF-8B29-A284F8EC5776}"/>
              </a:ext>
            </a:extLst>
          </p:cNvPr>
          <p:cNvSpPr>
            <a:spLocks xmlns:a="http://schemas.openxmlformats.org/drawingml/2006/main" noGrp="1"/>
          </p:cNvSpPr>
          <p:nvPr/>
        </p:nvSpPr>
        <p:spPr>
          <a:xfrm xmlns:a="http://schemas.openxmlformats.org/drawingml/2006/main">
            <a:off x="923544" y="3849624"/>
            <a:ext cx="731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SMS</a:t>
            </a:r>
            <a:endParaRPr sz="900"/>
          </a:p>
        </p:txBody>
      </p:sp>
      <p:sp>
        <p:nvSpPr>
          <p:cNvPr id="14" name="Shape 12">
            <a:extLst xmlns:a="http://schemas.openxmlformats.org/drawingml/2006/main">
              <a:ext uri="{FF2B5EF4-FFF2-40B4-BE49-F238E27FC236}">
                <a16:creationId xmlns:a16="http://schemas.microsoft.com/office/drawing/2014/main" id="{ADA82681-F67F-4208-BB9F-41058EB9BEA5}"/>
              </a:ext>
            </a:extLst>
          </p:cNvPr>
          <p:cNvSpPr>
            <a:spLocks xmlns:a="http://schemas.openxmlformats.org/drawingml/2006/main" noGrp="1"/>
          </p:cNvSpPr>
          <p:nvPr/>
        </p:nvSpPr>
        <p:spPr>
          <a:xfrm xmlns:a="http://schemas.openxmlformats.org/drawingml/2006/main">
            <a:off x="3108960" y="3849624"/>
            <a:ext cx="566928" cy="566928"/>
          </a:xfrm>
          <a:prstGeom xmlns:a="http://schemas.openxmlformats.org/drawingml/2006/main" prst="ellipse">
            <a:avLst/>
          </a:prstGeom>
          <a:solidFill xmlns:a="http://schemas.openxmlformats.org/drawingml/2006/main">
            <a:srgbClr val="0B3140"/>
          </a:solidFill>
        </p:spPr>
      </p:sp>
      <p:sp>
        <p:nvSpPr>
          <p:cNvPr id="15" name="Text 13">
            <a:extLst xmlns:a="http://schemas.openxmlformats.org/drawingml/2006/main">
              <a:ext uri="{FF2B5EF4-FFF2-40B4-BE49-F238E27FC236}">
                <a16:creationId xmlns:a16="http://schemas.microsoft.com/office/drawing/2014/main" id="{1CFE5FD4-4E74-4DC8-9B02-5CB9531D7C43}"/>
              </a:ext>
            </a:extLst>
          </p:cNvPr>
          <p:cNvSpPr>
            <a:spLocks xmlns:a="http://schemas.openxmlformats.org/drawingml/2006/main" noGrp="1"/>
          </p:cNvSpPr>
          <p:nvPr/>
        </p:nvSpPr>
        <p:spPr>
          <a:xfrm xmlns:a="http://schemas.openxmlformats.org/drawingml/2006/main">
            <a:off x="3026664" y="3849624"/>
            <a:ext cx="731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50" b="1">
                <a:solidFill>
                  <a:srgbClr val="FFFFFF"/>
                </a:solidFill>
                <a:latin typeface="Calibri"/>
                <a:ea typeface="Calibri"/>
                <a:cs typeface="Calibri"/>
              </a:rPr>
              <a:t>No-show</a:t>
            </a:r>
            <a:endParaRPr sz="750"/>
          </a:p>
        </p:txBody>
      </p:sp>
      <p:sp>
        <p:nvSpPr>
          <p:cNvPr id="16" name="Shape 14">
            <a:extLst xmlns:a="http://schemas.openxmlformats.org/drawingml/2006/main">
              <a:ext uri="{FF2B5EF4-FFF2-40B4-BE49-F238E27FC236}">
                <a16:creationId xmlns:a16="http://schemas.microsoft.com/office/drawing/2014/main" id="{4C2D0423-DD7E-4007-81EA-4B0C03A6CDF5}"/>
              </a:ext>
            </a:extLst>
          </p:cNvPr>
          <p:cNvSpPr>
            <a:spLocks xmlns:a="http://schemas.openxmlformats.org/drawingml/2006/main" noGrp="1"/>
          </p:cNvSpPr>
          <p:nvPr/>
        </p:nvSpPr>
        <p:spPr>
          <a:xfrm xmlns:a="http://schemas.openxmlformats.org/drawingml/2006/main">
            <a:off x="2194560" y="3090672"/>
            <a:ext cx="0" cy="758952"/>
          </a:xfrm>
          <a:prstGeom xmlns:a="http://schemas.openxmlformats.org/drawingml/2006/main" prst="line">
            <a:avLst/>
          </a:prstGeom>
          <a:noFill xmlns:a="http://schemas.openxmlformats.org/drawingml/2006/main"/>
          <a:ln xmlns:a="http://schemas.openxmlformats.org/drawingml/2006/main" w="25400">
            <a:solidFill>
              <a:srgbClr val="5B6B75"/>
            </a:solidFill>
            <a:prstDash val="solid"/>
            <a:tailEnd type="triangle"/>
          </a:ln>
        </p:spPr>
      </p:sp>
      <p:sp>
        <p:nvSpPr>
          <p:cNvPr id="17" name="Shape 15">
            <a:extLst xmlns:a="http://schemas.openxmlformats.org/drawingml/2006/main">
              <a:ext uri="{FF2B5EF4-FFF2-40B4-BE49-F238E27FC236}">
                <a16:creationId xmlns:a16="http://schemas.microsoft.com/office/drawing/2014/main" id="{B14821DA-809E-4AF9-B394-15F63CC3E751}"/>
              </a:ext>
            </a:extLst>
          </p:cNvPr>
          <p:cNvSpPr>
            <a:spLocks xmlns:a="http://schemas.openxmlformats.org/drawingml/2006/main" noGrp="1"/>
          </p:cNvSpPr>
          <p:nvPr/>
        </p:nvSpPr>
        <p:spPr>
          <a:xfrm xmlns:a="http://schemas.openxmlformats.org/drawingml/2006/main">
            <a:off x="2761488" y="3090672"/>
            <a:ext cx="566928" cy="758952"/>
          </a:xfrm>
          <a:prstGeom xmlns:a="http://schemas.openxmlformats.org/drawingml/2006/main" prst="line">
            <a:avLst/>
          </a:prstGeom>
          <a:noFill xmlns:a="http://schemas.openxmlformats.org/drawingml/2006/main"/>
          <a:ln xmlns:a="http://schemas.openxmlformats.org/drawingml/2006/main" w="25400">
            <a:solidFill>
              <a:srgbClr val="5B6B75"/>
            </a:solidFill>
            <a:prstDash val="solid"/>
            <a:tailEnd type="triangle"/>
          </a:ln>
        </p:spPr>
      </p:sp>
      <p:sp>
        <p:nvSpPr>
          <p:cNvPr id="18" name="Shape 16">
            <a:extLst xmlns:a="http://schemas.openxmlformats.org/drawingml/2006/main">
              <a:ext uri="{FF2B5EF4-FFF2-40B4-BE49-F238E27FC236}">
                <a16:creationId xmlns:a16="http://schemas.microsoft.com/office/drawing/2014/main" id="{48433ACC-C097-45AC-9F5C-7A1F3A17EAA4}"/>
              </a:ext>
            </a:extLst>
          </p:cNvPr>
          <p:cNvSpPr>
            <a:spLocks xmlns:a="http://schemas.openxmlformats.org/drawingml/2006/main" noGrp="1"/>
          </p:cNvSpPr>
          <p:nvPr/>
        </p:nvSpPr>
        <p:spPr>
          <a:xfrm xmlns:a="http://schemas.openxmlformats.org/drawingml/2006/main">
            <a:off x="667512" y="4489704"/>
            <a:ext cx="3355848" cy="566928"/>
          </a:xfrm>
          <a:prstGeom xmlns:a="http://schemas.openxmlformats.org/drawingml/2006/main" prst="roundRect">
            <a:avLst>
              <a:gd name="adj" fmla="val 14516"/>
            </a:avLst>
          </a:prstGeom>
          <a:solidFill xmlns:a="http://schemas.openxmlformats.org/drawingml/2006/main">
            <a:srgbClr val="E6F2EC"/>
          </a:solidFill>
        </p:spPr>
      </p:sp>
      <p:sp>
        <p:nvSpPr>
          <p:cNvPr id="19" name="Text 17">
            <a:extLst xmlns:a="http://schemas.openxmlformats.org/drawingml/2006/main">
              <a:ext uri="{FF2B5EF4-FFF2-40B4-BE49-F238E27FC236}">
                <a16:creationId xmlns:a16="http://schemas.microsoft.com/office/drawing/2014/main" id="{2F5155BE-C5AC-4E41-BF45-FC49970B7290}"/>
              </a:ext>
            </a:extLst>
          </p:cNvPr>
          <p:cNvSpPr>
            <a:spLocks xmlns:a="http://schemas.openxmlformats.org/drawingml/2006/main" noGrp="1"/>
          </p:cNvSpPr>
          <p:nvPr/>
        </p:nvSpPr>
        <p:spPr>
          <a:xfrm xmlns:a="http://schemas.openxmlformats.org/drawingml/2006/main">
            <a:off x="777240" y="4489704"/>
            <a:ext cx="31546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1E7B52"/>
                </a:solidFill>
                <a:latin typeface="Calibri"/>
                <a:ea typeface="Calibri"/>
                <a:cs typeface="Calibri"/>
              </a:rPr>
              <a:t>ADJUST for it (stratify / add to model)</a:t>
            </a:r>
            <a:endParaRPr sz="1050"/>
          </a:p>
        </p:txBody>
      </p:sp>
      <p:sp>
        <p:nvSpPr>
          <p:cNvPr id="20" name="Text 18">
            <a:extLst xmlns:a="http://schemas.openxmlformats.org/drawingml/2006/main">
              <a:ext uri="{FF2B5EF4-FFF2-40B4-BE49-F238E27FC236}">
                <a16:creationId xmlns:a16="http://schemas.microsoft.com/office/drawing/2014/main" id="{9A98687C-5F6F-491F-9515-C6AC8E8C70E0}"/>
              </a:ext>
            </a:extLst>
          </p:cNvPr>
          <p:cNvSpPr>
            <a:spLocks xmlns:a="http://schemas.openxmlformats.org/drawingml/2006/main" noGrp="1"/>
          </p:cNvSpPr>
          <p:nvPr/>
        </p:nvSpPr>
        <p:spPr>
          <a:xfrm xmlns:a="http://schemas.openxmlformats.org/drawingml/2006/main">
            <a:off x="685800" y="5266944"/>
            <a:ext cx="333756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00">
                <a:solidFill>
                  <a:srgbClr val="24313A"/>
                </a:solidFill>
                <a:latin typeface="Calibri"/>
                <a:ea typeface="Calibri"/>
                <a:cs typeface="Calibri"/>
              </a:rPr>
              <a:t>Risk drives both who gets SMS and who no-shows. Left unadjusted it manufactured our +2.0pp illusion.</a:t>
            </a:r>
            <a:endParaRPr sz="1000"/>
          </a:p>
        </p:txBody>
      </p:sp>
      <p:sp>
        <p:nvSpPr>
          <p:cNvPr id="21" name="Shape 19">
            <a:extLst xmlns:a="http://schemas.openxmlformats.org/drawingml/2006/main">
              <a:ext uri="{FF2B5EF4-FFF2-40B4-BE49-F238E27FC236}">
                <a16:creationId xmlns:a16="http://schemas.microsoft.com/office/drawing/2014/main" id="{F2145D3E-6033-47A5-B08B-B55B2DE643BE}"/>
              </a:ext>
            </a:extLst>
          </p:cNvPr>
          <p:cNvSpPr>
            <a:spLocks xmlns:a="http://schemas.openxmlformats.org/drawingml/2006/main" noGrp="1"/>
          </p:cNvSpPr>
          <p:nvPr/>
        </p:nvSpPr>
        <p:spPr>
          <a:xfrm xmlns:a="http://schemas.openxmlformats.org/drawingml/2006/main">
            <a:off x="4325112" y="1819656"/>
            <a:ext cx="3685032" cy="3383280"/>
          </a:xfrm>
          <a:prstGeom xmlns:a="http://schemas.openxmlformats.org/drawingml/2006/main" prst="roundRect">
            <a:avLst>
              <a:gd name="adj" fmla="val 2432"/>
            </a:avLst>
          </a:prstGeom>
          <a:solidFill xmlns:a="http://schemas.openxmlformats.org/drawingml/2006/main">
            <a:srgbClr val="FFFFFF"/>
          </a:solidFill>
          <a:ln xmlns:a="http://schemas.openxmlformats.org/drawingml/2006/main" w="12700">
            <a:solidFill>
              <a:srgbClr val="D6E2E4"/>
            </a:solidFill>
            <a:prstDash val="solid"/>
          </a:ln>
        </p:spPr>
      </p:sp>
      <p:sp>
        <p:nvSpPr>
          <p:cNvPr id="22" name="Text 20">
            <a:extLst xmlns:a="http://schemas.openxmlformats.org/drawingml/2006/main">
              <a:ext uri="{FF2B5EF4-FFF2-40B4-BE49-F238E27FC236}">
                <a16:creationId xmlns:a16="http://schemas.microsoft.com/office/drawing/2014/main" id="{8FDBE90E-54F4-45CC-A0F5-06F75A8AFB90}"/>
              </a:ext>
            </a:extLst>
          </p:cNvPr>
          <p:cNvSpPr>
            <a:spLocks xmlns:a="http://schemas.openxmlformats.org/drawingml/2006/main" noGrp="1"/>
          </p:cNvSpPr>
          <p:nvPr/>
        </p:nvSpPr>
        <p:spPr>
          <a:xfrm xmlns:a="http://schemas.openxmlformats.org/drawingml/2006/main">
            <a:off x="4507992" y="1975104"/>
            <a:ext cx="3337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0B3140"/>
                </a:solidFill>
                <a:latin typeface="Cambria"/>
                <a:ea typeface="Cambria"/>
                <a:cs typeface="Cambria"/>
              </a:rPr>
              <a:t>Mediator</a:t>
            </a:r>
            <a:endParaRPr sz="1350"/>
          </a:p>
        </p:txBody>
      </p:sp>
      <p:sp>
        <p:nvSpPr>
          <p:cNvPr id="23" name="Shape 21">
            <a:extLst xmlns:a="http://schemas.openxmlformats.org/drawingml/2006/main">
              <a:ext uri="{FF2B5EF4-FFF2-40B4-BE49-F238E27FC236}">
                <a16:creationId xmlns:a16="http://schemas.microsoft.com/office/drawing/2014/main" id="{DEC7D664-0EE9-4E98-8F37-E77CF863C68E}"/>
              </a:ext>
            </a:extLst>
          </p:cNvPr>
          <p:cNvSpPr>
            <a:spLocks xmlns:a="http://schemas.openxmlformats.org/drawingml/2006/main" noGrp="1"/>
          </p:cNvSpPr>
          <p:nvPr/>
        </p:nvSpPr>
        <p:spPr>
          <a:xfrm xmlns:a="http://schemas.openxmlformats.org/drawingml/2006/main">
            <a:off x="5879592" y="2523744"/>
            <a:ext cx="566928" cy="566928"/>
          </a:xfrm>
          <a:prstGeom xmlns:a="http://schemas.openxmlformats.org/drawingml/2006/main" prst="ellipse">
            <a:avLst/>
          </a:prstGeom>
          <a:solidFill xmlns:a="http://schemas.openxmlformats.org/drawingml/2006/main">
            <a:srgbClr val="0E7C86"/>
          </a:solidFill>
        </p:spPr>
      </p:sp>
      <p:sp>
        <p:nvSpPr>
          <p:cNvPr id="24" name="Text 22">
            <a:extLst xmlns:a="http://schemas.openxmlformats.org/drawingml/2006/main">
              <a:ext uri="{FF2B5EF4-FFF2-40B4-BE49-F238E27FC236}">
                <a16:creationId xmlns:a16="http://schemas.microsoft.com/office/drawing/2014/main" id="{4CA49BA8-DE5C-4AF6-80B8-B8056DAA4244}"/>
              </a:ext>
            </a:extLst>
          </p:cNvPr>
          <p:cNvSpPr>
            <a:spLocks xmlns:a="http://schemas.openxmlformats.org/drawingml/2006/main" noGrp="1"/>
          </p:cNvSpPr>
          <p:nvPr/>
        </p:nvSpPr>
        <p:spPr>
          <a:xfrm xmlns:a="http://schemas.openxmlformats.org/drawingml/2006/main">
            <a:off x="5559552" y="3127248"/>
            <a:ext cx="120700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24313A"/>
                </a:solidFill>
                <a:latin typeface="Calibri"/>
                <a:ea typeface="Calibri"/>
                <a:cs typeface="Calibri"/>
              </a:rPr>
              <a:t>Rescheduled</a:t>
            </a:r>
            <a:endParaRPr sz="900"/>
          </a:p>
        </p:txBody>
      </p:sp>
      <p:sp>
        <p:nvSpPr>
          <p:cNvPr id="25" name="Shape 23">
            <a:extLst xmlns:a="http://schemas.openxmlformats.org/drawingml/2006/main">
              <a:ext uri="{FF2B5EF4-FFF2-40B4-BE49-F238E27FC236}">
                <a16:creationId xmlns:a16="http://schemas.microsoft.com/office/drawing/2014/main" id="{10CCD887-846C-48BB-BF06-FCF030949960}"/>
              </a:ext>
            </a:extLst>
          </p:cNvPr>
          <p:cNvSpPr>
            <a:spLocks xmlns:a="http://schemas.openxmlformats.org/drawingml/2006/main" noGrp="1"/>
          </p:cNvSpPr>
          <p:nvPr/>
        </p:nvSpPr>
        <p:spPr>
          <a:xfrm xmlns:a="http://schemas.openxmlformats.org/drawingml/2006/main">
            <a:off x="4828032" y="3849624"/>
            <a:ext cx="566928" cy="566928"/>
          </a:xfrm>
          <a:prstGeom xmlns:a="http://schemas.openxmlformats.org/drawingml/2006/main" prst="ellipse">
            <a:avLst/>
          </a:prstGeom>
          <a:solidFill xmlns:a="http://schemas.openxmlformats.org/drawingml/2006/main">
            <a:srgbClr val="0B3140"/>
          </a:solidFill>
        </p:spPr>
      </p:sp>
      <p:sp>
        <p:nvSpPr>
          <p:cNvPr id="26" name="Text 24">
            <a:extLst xmlns:a="http://schemas.openxmlformats.org/drawingml/2006/main">
              <a:ext uri="{FF2B5EF4-FFF2-40B4-BE49-F238E27FC236}">
                <a16:creationId xmlns:a16="http://schemas.microsoft.com/office/drawing/2014/main" id="{26C91B96-20D2-4D37-B498-4C3B43C6033C}"/>
              </a:ext>
            </a:extLst>
          </p:cNvPr>
          <p:cNvSpPr>
            <a:spLocks xmlns:a="http://schemas.openxmlformats.org/drawingml/2006/main" noGrp="1"/>
          </p:cNvSpPr>
          <p:nvPr/>
        </p:nvSpPr>
        <p:spPr>
          <a:xfrm xmlns:a="http://schemas.openxmlformats.org/drawingml/2006/main">
            <a:off x="4745736" y="3849624"/>
            <a:ext cx="731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SMS</a:t>
            </a:r>
            <a:endParaRPr sz="900"/>
          </a:p>
        </p:txBody>
      </p:sp>
      <p:sp>
        <p:nvSpPr>
          <p:cNvPr id="27" name="Shape 25">
            <a:extLst xmlns:a="http://schemas.openxmlformats.org/drawingml/2006/main">
              <a:ext uri="{FF2B5EF4-FFF2-40B4-BE49-F238E27FC236}">
                <a16:creationId xmlns:a16="http://schemas.microsoft.com/office/drawing/2014/main" id="{A6596FA3-4196-4737-9A13-CD44014E5123}"/>
              </a:ext>
            </a:extLst>
          </p:cNvPr>
          <p:cNvSpPr>
            <a:spLocks xmlns:a="http://schemas.openxmlformats.org/drawingml/2006/main" noGrp="1"/>
          </p:cNvSpPr>
          <p:nvPr/>
        </p:nvSpPr>
        <p:spPr>
          <a:xfrm xmlns:a="http://schemas.openxmlformats.org/drawingml/2006/main">
            <a:off x="6931152" y="3849624"/>
            <a:ext cx="566928" cy="566928"/>
          </a:xfrm>
          <a:prstGeom xmlns:a="http://schemas.openxmlformats.org/drawingml/2006/main" prst="ellipse">
            <a:avLst/>
          </a:prstGeom>
          <a:solidFill xmlns:a="http://schemas.openxmlformats.org/drawingml/2006/main">
            <a:srgbClr val="0B3140"/>
          </a:solidFill>
        </p:spPr>
      </p:sp>
      <p:sp>
        <p:nvSpPr>
          <p:cNvPr id="28" name="Text 26">
            <a:extLst xmlns:a="http://schemas.openxmlformats.org/drawingml/2006/main">
              <a:ext uri="{FF2B5EF4-FFF2-40B4-BE49-F238E27FC236}">
                <a16:creationId xmlns:a16="http://schemas.microsoft.com/office/drawing/2014/main" id="{F14981FC-2E0C-468F-93F7-97F2B0AE7942}"/>
              </a:ext>
            </a:extLst>
          </p:cNvPr>
          <p:cNvSpPr>
            <a:spLocks xmlns:a="http://schemas.openxmlformats.org/drawingml/2006/main" noGrp="1"/>
          </p:cNvSpPr>
          <p:nvPr/>
        </p:nvSpPr>
        <p:spPr>
          <a:xfrm xmlns:a="http://schemas.openxmlformats.org/drawingml/2006/main">
            <a:off x="6848856" y="3849624"/>
            <a:ext cx="731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50" b="1">
                <a:solidFill>
                  <a:srgbClr val="FFFFFF"/>
                </a:solidFill>
                <a:latin typeface="Calibri"/>
                <a:ea typeface="Calibri"/>
                <a:cs typeface="Calibri"/>
              </a:rPr>
              <a:t>No-show</a:t>
            </a:r>
            <a:endParaRPr sz="750"/>
          </a:p>
        </p:txBody>
      </p:sp>
      <p:sp>
        <p:nvSpPr>
          <p:cNvPr id="29" name="Shape 27">
            <a:extLst xmlns:a="http://schemas.openxmlformats.org/drawingml/2006/main">
              <a:ext uri="{FF2B5EF4-FFF2-40B4-BE49-F238E27FC236}">
                <a16:creationId xmlns:a16="http://schemas.microsoft.com/office/drawing/2014/main" id="{555769B4-C081-4757-B842-F3056A39B7DC}"/>
              </a:ext>
            </a:extLst>
          </p:cNvPr>
          <p:cNvSpPr>
            <a:spLocks xmlns:a="http://schemas.openxmlformats.org/drawingml/2006/main" noGrp="1"/>
          </p:cNvSpPr>
          <p:nvPr/>
        </p:nvSpPr>
        <p:spPr>
          <a:xfrm xmlns:a="http://schemas.openxmlformats.org/drawingml/2006/main">
            <a:off x="5239512" y="3895344"/>
            <a:ext cx="658368" cy="0"/>
          </a:xfrm>
          <a:prstGeom xmlns:a="http://schemas.openxmlformats.org/drawingml/2006/main" prst="line">
            <a:avLst/>
          </a:prstGeom>
          <a:noFill xmlns:a="http://schemas.openxmlformats.org/drawingml/2006/main"/>
          <a:ln xmlns:a="http://schemas.openxmlformats.org/drawingml/2006/main" w="25400">
            <a:solidFill>
              <a:srgbClr val="5B6B75"/>
            </a:solidFill>
            <a:prstDash val="solid"/>
            <a:tailEnd type="triangle"/>
          </a:ln>
        </p:spPr>
      </p:sp>
      <p:sp>
        <p:nvSpPr>
          <p:cNvPr id="30" name="Shape 28">
            <a:extLst xmlns:a="http://schemas.openxmlformats.org/drawingml/2006/main">
              <a:ext uri="{FF2B5EF4-FFF2-40B4-BE49-F238E27FC236}">
                <a16:creationId xmlns:a16="http://schemas.microsoft.com/office/drawing/2014/main" id="{F4A67E8A-1F02-49C3-AB53-A322B706E355}"/>
              </a:ext>
            </a:extLst>
          </p:cNvPr>
          <p:cNvSpPr>
            <a:spLocks xmlns:a="http://schemas.openxmlformats.org/drawingml/2006/main" noGrp="1"/>
          </p:cNvSpPr>
          <p:nvPr/>
        </p:nvSpPr>
        <p:spPr>
          <a:xfrm xmlns:a="http://schemas.openxmlformats.org/drawingml/2006/main">
            <a:off x="6382512" y="3163824"/>
            <a:ext cx="658368" cy="713232"/>
          </a:xfrm>
          <a:prstGeom xmlns:a="http://schemas.openxmlformats.org/drawingml/2006/main" prst="line">
            <a:avLst/>
          </a:prstGeom>
          <a:noFill xmlns:a="http://schemas.openxmlformats.org/drawingml/2006/main"/>
          <a:ln xmlns:a="http://schemas.openxmlformats.org/drawingml/2006/main" w="25400">
            <a:solidFill>
              <a:srgbClr val="5B6B75"/>
            </a:solidFill>
            <a:prstDash val="solid"/>
            <a:tailEnd type="triangle"/>
          </a:ln>
        </p:spPr>
      </p:sp>
      <p:sp>
        <p:nvSpPr>
          <p:cNvPr id="31" name="Shape 29">
            <a:extLst xmlns:a="http://schemas.openxmlformats.org/drawingml/2006/main">
              <a:ext uri="{FF2B5EF4-FFF2-40B4-BE49-F238E27FC236}">
                <a16:creationId xmlns:a16="http://schemas.microsoft.com/office/drawing/2014/main" id="{086D070D-FD53-46B7-97E8-3A3A5AC15303}"/>
              </a:ext>
            </a:extLst>
          </p:cNvPr>
          <p:cNvSpPr>
            <a:spLocks xmlns:a="http://schemas.openxmlformats.org/drawingml/2006/main" noGrp="1"/>
          </p:cNvSpPr>
          <p:nvPr/>
        </p:nvSpPr>
        <p:spPr>
          <a:xfrm xmlns:a="http://schemas.openxmlformats.org/drawingml/2006/main">
            <a:off x="4489704" y="4489704"/>
            <a:ext cx="3355848" cy="566928"/>
          </a:xfrm>
          <a:prstGeom xmlns:a="http://schemas.openxmlformats.org/drawingml/2006/main" prst="roundRect">
            <a:avLst>
              <a:gd name="adj" fmla="val 14516"/>
            </a:avLst>
          </a:prstGeom>
          <a:solidFill xmlns:a="http://schemas.openxmlformats.org/drawingml/2006/main">
            <a:srgbClr val="F9E8E9"/>
          </a:solidFill>
        </p:spPr>
      </p:sp>
      <p:sp>
        <p:nvSpPr>
          <p:cNvPr id="32" name="Text 30">
            <a:extLst xmlns:a="http://schemas.openxmlformats.org/drawingml/2006/main">
              <a:ext uri="{FF2B5EF4-FFF2-40B4-BE49-F238E27FC236}">
                <a16:creationId xmlns:a16="http://schemas.microsoft.com/office/drawing/2014/main" id="{A5D068AE-7482-4451-AF45-681584D648C8}"/>
              </a:ext>
            </a:extLst>
          </p:cNvPr>
          <p:cNvSpPr>
            <a:spLocks xmlns:a="http://schemas.openxmlformats.org/drawingml/2006/main" noGrp="1"/>
          </p:cNvSpPr>
          <p:nvPr/>
        </p:nvSpPr>
        <p:spPr>
          <a:xfrm xmlns:a="http://schemas.openxmlformats.org/drawingml/2006/main">
            <a:off x="4599432" y="4489704"/>
            <a:ext cx="31546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B4232A"/>
                </a:solidFill>
                <a:latin typeface="Calibri"/>
                <a:ea typeface="Calibri"/>
                <a:cs typeface="Calibri"/>
              </a:rPr>
              <a:t>DO NOT adjust (it's part of the effect)</a:t>
            </a:r>
            <a:endParaRPr sz="1050"/>
          </a:p>
        </p:txBody>
      </p:sp>
      <p:sp>
        <p:nvSpPr>
          <p:cNvPr id="33" name="Text 31">
            <a:extLst xmlns:a="http://schemas.openxmlformats.org/drawingml/2006/main">
              <a:ext uri="{FF2B5EF4-FFF2-40B4-BE49-F238E27FC236}">
                <a16:creationId xmlns:a16="http://schemas.microsoft.com/office/drawing/2014/main" id="{4E1BB7FA-91CC-4642-B482-F8A209534BE6}"/>
              </a:ext>
            </a:extLst>
          </p:cNvPr>
          <p:cNvSpPr>
            <a:spLocks xmlns:a="http://schemas.openxmlformats.org/drawingml/2006/main" noGrp="1"/>
          </p:cNvSpPr>
          <p:nvPr/>
        </p:nvSpPr>
        <p:spPr>
          <a:xfrm xmlns:a="http://schemas.openxmlformats.org/drawingml/2006/main">
            <a:off x="4507992" y="5266944"/>
            <a:ext cx="333756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00">
                <a:solidFill>
                  <a:srgbClr val="24313A"/>
                </a:solidFill>
                <a:latin typeface="Calibri"/>
                <a:ea typeface="Calibri"/>
                <a:cs typeface="Calibri"/>
              </a:rPr>
              <a:t>SMS works partly BY prompting reschedules (15% vs 2%). Controlling for rescheduled deletes the pathway you're trying to measure.</a:t>
            </a:r>
            <a:endParaRPr sz="1000"/>
          </a:p>
        </p:txBody>
      </p:sp>
      <p:sp>
        <p:nvSpPr>
          <p:cNvPr id="34" name="Shape 32">
            <a:extLst xmlns:a="http://schemas.openxmlformats.org/drawingml/2006/main">
              <a:ext uri="{FF2B5EF4-FFF2-40B4-BE49-F238E27FC236}">
                <a16:creationId xmlns:a16="http://schemas.microsoft.com/office/drawing/2014/main" id="{2B368A2E-4E95-4D02-B648-2D25A2FFBCAE}"/>
              </a:ext>
            </a:extLst>
          </p:cNvPr>
          <p:cNvSpPr>
            <a:spLocks xmlns:a="http://schemas.openxmlformats.org/drawingml/2006/main" noGrp="1"/>
          </p:cNvSpPr>
          <p:nvPr/>
        </p:nvSpPr>
        <p:spPr>
          <a:xfrm xmlns:a="http://schemas.openxmlformats.org/drawingml/2006/main">
            <a:off x="8147304" y="1819656"/>
            <a:ext cx="3685032" cy="3383280"/>
          </a:xfrm>
          <a:prstGeom xmlns:a="http://schemas.openxmlformats.org/drawingml/2006/main" prst="roundRect">
            <a:avLst>
              <a:gd name="adj" fmla="val 2432"/>
            </a:avLst>
          </a:prstGeom>
          <a:solidFill xmlns:a="http://schemas.openxmlformats.org/drawingml/2006/main">
            <a:srgbClr val="FFFFFF"/>
          </a:solidFill>
          <a:ln xmlns:a="http://schemas.openxmlformats.org/drawingml/2006/main" w="12700">
            <a:solidFill>
              <a:srgbClr val="D6E2E4"/>
            </a:solidFill>
            <a:prstDash val="solid"/>
          </a:ln>
        </p:spPr>
      </p:sp>
      <p:sp>
        <p:nvSpPr>
          <p:cNvPr id="35" name="Text 33">
            <a:extLst xmlns:a="http://schemas.openxmlformats.org/drawingml/2006/main">
              <a:ext uri="{FF2B5EF4-FFF2-40B4-BE49-F238E27FC236}">
                <a16:creationId xmlns:a16="http://schemas.microsoft.com/office/drawing/2014/main" id="{8C72175B-E5FE-47B4-A3AC-B6C1727D3E08}"/>
              </a:ext>
            </a:extLst>
          </p:cNvPr>
          <p:cNvSpPr>
            <a:spLocks xmlns:a="http://schemas.openxmlformats.org/drawingml/2006/main" noGrp="1"/>
          </p:cNvSpPr>
          <p:nvPr/>
        </p:nvSpPr>
        <p:spPr>
          <a:xfrm xmlns:a="http://schemas.openxmlformats.org/drawingml/2006/main">
            <a:off x="8330184" y="1975104"/>
            <a:ext cx="3337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0B3140"/>
                </a:solidFill>
                <a:latin typeface="Cambria"/>
                <a:ea typeface="Cambria"/>
                <a:cs typeface="Cambria"/>
              </a:rPr>
              <a:t>Collider</a:t>
            </a:r>
            <a:endParaRPr sz="1350"/>
          </a:p>
        </p:txBody>
      </p:sp>
      <p:sp>
        <p:nvSpPr>
          <p:cNvPr id="36" name="Shape 34">
            <a:extLst xmlns:a="http://schemas.openxmlformats.org/drawingml/2006/main">
              <a:ext uri="{FF2B5EF4-FFF2-40B4-BE49-F238E27FC236}">
                <a16:creationId xmlns:a16="http://schemas.microsoft.com/office/drawing/2014/main" id="{73C55422-109F-4DEC-B504-0FCD728F8224}"/>
              </a:ext>
            </a:extLst>
          </p:cNvPr>
          <p:cNvSpPr>
            <a:spLocks xmlns:a="http://schemas.openxmlformats.org/drawingml/2006/main" noGrp="1"/>
          </p:cNvSpPr>
          <p:nvPr/>
        </p:nvSpPr>
        <p:spPr>
          <a:xfrm xmlns:a="http://schemas.openxmlformats.org/drawingml/2006/main">
            <a:off x="9701784" y="2523744"/>
            <a:ext cx="566928" cy="566928"/>
          </a:xfrm>
          <a:prstGeom xmlns:a="http://schemas.openxmlformats.org/drawingml/2006/main" prst="ellipse">
            <a:avLst/>
          </a:prstGeom>
          <a:solidFill xmlns:a="http://schemas.openxmlformats.org/drawingml/2006/main">
            <a:srgbClr val="5B6B75"/>
          </a:solidFill>
        </p:spPr>
      </p:sp>
      <p:sp>
        <p:nvSpPr>
          <p:cNvPr id="37" name="Text 35">
            <a:extLst xmlns:a="http://schemas.openxmlformats.org/drawingml/2006/main">
              <a:ext uri="{FF2B5EF4-FFF2-40B4-BE49-F238E27FC236}">
                <a16:creationId xmlns:a16="http://schemas.microsoft.com/office/drawing/2014/main" id="{3CB27266-1453-4A0F-B281-4192F210758C}"/>
              </a:ext>
            </a:extLst>
          </p:cNvPr>
          <p:cNvSpPr>
            <a:spLocks xmlns:a="http://schemas.openxmlformats.org/drawingml/2006/main" noGrp="1"/>
          </p:cNvSpPr>
          <p:nvPr/>
        </p:nvSpPr>
        <p:spPr>
          <a:xfrm xmlns:a="http://schemas.openxmlformats.org/drawingml/2006/main">
            <a:off x="9381744" y="3127248"/>
            <a:ext cx="120700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24313A"/>
                </a:solidFill>
                <a:latin typeface="Calibri"/>
                <a:ea typeface="Calibri"/>
                <a:cs typeface="Calibri"/>
              </a:rPr>
              <a:t>Complaint filed</a:t>
            </a:r>
            <a:endParaRPr sz="900"/>
          </a:p>
        </p:txBody>
      </p:sp>
      <p:sp>
        <p:nvSpPr>
          <p:cNvPr id="38" name="Shape 36">
            <a:extLst xmlns:a="http://schemas.openxmlformats.org/drawingml/2006/main">
              <a:ext uri="{FF2B5EF4-FFF2-40B4-BE49-F238E27FC236}">
                <a16:creationId xmlns:a16="http://schemas.microsoft.com/office/drawing/2014/main" id="{A8A7588C-A3D8-4405-8125-626FA6B4FF7C}"/>
              </a:ext>
            </a:extLst>
          </p:cNvPr>
          <p:cNvSpPr>
            <a:spLocks xmlns:a="http://schemas.openxmlformats.org/drawingml/2006/main" noGrp="1"/>
          </p:cNvSpPr>
          <p:nvPr/>
        </p:nvSpPr>
        <p:spPr>
          <a:xfrm xmlns:a="http://schemas.openxmlformats.org/drawingml/2006/main">
            <a:off x="8650224" y="3849624"/>
            <a:ext cx="566928" cy="566928"/>
          </a:xfrm>
          <a:prstGeom xmlns:a="http://schemas.openxmlformats.org/drawingml/2006/main" prst="ellipse">
            <a:avLst/>
          </a:prstGeom>
          <a:solidFill xmlns:a="http://schemas.openxmlformats.org/drawingml/2006/main">
            <a:srgbClr val="0B3140"/>
          </a:solidFill>
        </p:spPr>
      </p:sp>
      <p:sp>
        <p:nvSpPr>
          <p:cNvPr id="39" name="Text 37">
            <a:extLst xmlns:a="http://schemas.openxmlformats.org/drawingml/2006/main">
              <a:ext uri="{FF2B5EF4-FFF2-40B4-BE49-F238E27FC236}">
                <a16:creationId xmlns:a16="http://schemas.microsoft.com/office/drawing/2014/main" id="{6698A168-3CDA-4FA2-9934-26FF19A3318A}"/>
              </a:ext>
            </a:extLst>
          </p:cNvPr>
          <p:cNvSpPr>
            <a:spLocks xmlns:a="http://schemas.openxmlformats.org/drawingml/2006/main" noGrp="1"/>
          </p:cNvSpPr>
          <p:nvPr/>
        </p:nvSpPr>
        <p:spPr>
          <a:xfrm xmlns:a="http://schemas.openxmlformats.org/drawingml/2006/main">
            <a:off x="8567928" y="3849624"/>
            <a:ext cx="731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SMS</a:t>
            </a:r>
            <a:endParaRPr sz="900"/>
          </a:p>
        </p:txBody>
      </p:sp>
      <p:sp>
        <p:nvSpPr>
          <p:cNvPr id="40" name="Shape 38">
            <a:extLst xmlns:a="http://schemas.openxmlformats.org/drawingml/2006/main">
              <a:ext uri="{FF2B5EF4-FFF2-40B4-BE49-F238E27FC236}">
                <a16:creationId xmlns:a16="http://schemas.microsoft.com/office/drawing/2014/main" id="{9A2BF8F1-22D7-491A-8F50-ADAA3E415EE1}"/>
              </a:ext>
            </a:extLst>
          </p:cNvPr>
          <p:cNvSpPr>
            <a:spLocks xmlns:a="http://schemas.openxmlformats.org/drawingml/2006/main" noGrp="1"/>
          </p:cNvSpPr>
          <p:nvPr/>
        </p:nvSpPr>
        <p:spPr>
          <a:xfrm xmlns:a="http://schemas.openxmlformats.org/drawingml/2006/main">
            <a:off x="10753344" y="3849624"/>
            <a:ext cx="566928" cy="566928"/>
          </a:xfrm>
          <a:prstGeom xmlns:a="http://schemas.openxmlformats.org/drawingml/2006/main" prst="ellipse">
            <a:avLst/>
          </a:prstGeom>
          <a:solidFill xmlns:a="http://schemas.openxmlformats.org/drawingml/2006/main">
            <a:srgbClr val="0B3140"/>
          </a:solidFill>
        </p:spPr>
      </p:sp>
      <p:sp>
        <p:nvSpPr>
          <p:cNvPr id="41" name="Text 39">
            <a:extLst xmlns:a="http://schemas.openxmlformats.org/drawingml/2006/main">
              <a:ext uri="{FF2B5EF4-FFF2-40B4-BE49-F238E27FC236}">
                <a16:creationId xmlns:a16="http://schemas.microsoft.com/office/drawing/2014/main" id="{9A5A144B-B63F-4B6C-8A39-AECDCCC31F51}"/>
              </a:ext>
            </a:extLst>
          </p:cNvPr>
          <p:cNvSpPr>
            <a:spLocks xmlns:a="http://schemas.openxmlformats.org/drawingml/2006/main" noGrp="1"/>
          </p:cNvSpPr>
          <p:nvPr/>
        </p:nvSpPr>
        <p:spPr>
          <a:xfrm xmlns:a="http://schemas.openxmlformats.org/drawingml/2006/main">
            <a:off x="10671048" y="3849624"/>
            <a:ext cx="731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50" b="1">
                <a:solidFill>
                  <a:srgbClr val="FFFFFF"/>
                </a:solidFill>
                <a:latin typeface="Calibri"/>
                <a:ea typeface="Calibri"/>
                <a:cs typeface="Calibri"/>
              </a:rPr>
              <a:t>No-show</a:t>
            </a:r>
            <a:endParaRPr sz="750"/>
          </a:p>
        </p:txBody>
      </p:sp>
      <p:sp>
        <p:nvSpPr>
          <p:cNvPr id="42" name="Shape 40">
            <a:extLst xmlns:a="http://schemas.openxmlformats.org/drawingml/2006/main">
              <a:ext uri="{FF2B5EF4-FFF2-40B4-BE49-F238E27FC236}">
                <a16:creationId xmlns:a16="http://schemas.microsoft.com/office/drawing/2014/main" id="{E8591468-A8A9-437B-95A6-CF2DFE62EF10}"/>
              </a:ext>
            </a:extLst>
          </p:cNvPr>
          <p:cNvSpPr>
            <a:spLocks xmlns:a="http://schemas.openxmlformats.org/drawingml/2006/main" noGrp="1"/>
          </p:cNvSpPr>
          <p:nvPr/>
        </p:nvSpPr>
        <p:spPr>
          <a:xfrm xmlns:a="http://schemas.openxmlformats.org/drawingml/2006/main">
            <a:off x="9061704" y="3895344"/>
            <a:ext cx="658368" cy="0"/>
          </a:xfrm>
          <a:prstGeom xmlns:a="http://schemas.openxmlformats.org/drawingml/2006/main" prst="line">
            <a:avLst/>
          </a:prstGeom>
          <a:noFill xmlns:a="http://schemas.openxmlformats.org/drawingml/2006/main"/>
          <a:ln xmlns:a="http://schemas.openxmlformats.org/drawingml/2006/main" w="25400">
            <a:solidFill>
              <a:srgbClr val="5B6B75"/>
            </a:solidFill>
            <a:prstDash val="solid"/>
            <a:tailEnd type="triangle"/>
          </a:ln>
        </p:spPr>
      </p:sp>
      <p:sp>
        <p:nvSpPr>
          <p:cNvPr id="43" name="Shape 41">
            <a:extLst xmlns:a="http://schemas.openxmlformats.org/drawingml/2006/main">
              <a:ext uri="{FF2B5EF4-FFF2-40B4-BE49-F238E27FC236}">
                <a16:creationId xmlns:a16="http://schemas.microsoft.com/office/drawing/2014/main" id="{CAEECD42-C185-4A8B-B26F-CA741708B68E}"/>
              </a:ext>
            </a:extLst>
          </p:cNvPr>
          <p:cNvSpPr>
            <a:spLocks xmlns:a="http://schemas.openxmlformats.org/drawingml/2006/main" noGrp="1"/>
          </p:cNvSpPr>
          <p:nvPr/>
        </p:nvSpPr>
        <p:spPr>
          <a:xfrm xmlns:a="http://schemas.openxmlformats.org/drawingml/2006/main">
            <a:off x="10936224" y="3895344"/>
            <a:ext cx="0" cy="0"/>
          </a:xfrm>
          <a:prstGeom xmlns:a="http://schemas.openxmlformats.org/drawingml/2006/main" prst="line">
            <a:avLst/>
          </a:prstGeom>
          <a:noFill xmlns:a="http://schemas.openxmlformats.org/drawingml/2006/main"/>
          <a:ln xmlns:a="http://schemas.openxmlformats.org/drawingml/2006/main" w="25400">
            <a:solidFill>
              <a:srgbClr val="5B6B75"/>
            </a:solidFill>
            <a:prstDash val="solid"/>
            <a:tailEnd type="triangle"/>
          </a:ln>
        </p:spPr>
      </p:sp>
      <p:sp>
        <p:nvSpPr>
          <p:cNvPr id="44" name="Shape 42">
            <a:extLst xmlns:a="http://schemas.openxmlformats.org/drawingml/2006/main">
              <a:ext uri="{FF2B5EF4-FFF2-40B4-BE49-F238E27FC236}">
                <a16:creationId xmlns:a16="http://schemas.microsoft.com/office/drawing/2014/main" id="{602FED43-1AB1-4311-948A-FEC17BDEBBE6}"/>
              </a:ext>
            </a:extLst>
          </p:cNvPr>
          <p:cNvSpPr>
            <a:spLocks xmlns:a="http://schemas.openxmlformats.org/drawingml/2006/main" noGrp="1"/>
          </p:cNvSpPr>
          <p:nvPr/>
        </p:nvSpPr>
        <p:spPr>
          <a:xfrm xmlns:a="http://schemas.openxmlformats.org/drawingml/2006/main">
            <a:off x="8311896" y="4489704"/>
            <a:ext cx="3355848" cy="566928"/>
          </a:xfrm>
          <a:prstGeom xmlns:a="http://schemas.openxmlformats.org/drawingml/2006/main" prst="roundRect">
            <a:avLst>
              <a:gd name="adj" fmla="val 14516"/>
            </a:avLst>
          </a:prstGeom>
          <a:solidFill xmlns:a="http://schemas.openxmlformats.org/drawingml/2006/main">
            <a:srgbClr val="F9E8E9"/>
          </a:solidFill>
        </p:spPr>
      </p:sp>
      <p:sp>
        <p:nvSpPr>
          <p:cNvPr id="45" name="Text 43">
            <a:extLst xmlns:a="http://schemas.openxmlformats.org/drawingml/2006/main">
              <a:ext uri="{FF2B5EF4-FFF2-40B4-BE49-F238E27FC236}">
                <a16:creationId xmlns:a16="http://schemas.microsoft.com/office/drawing/2014/main" id="{C413D870-2583-4479-9E06-483D8CD749EF}"/>
              </a:ext>
            </a:extLst>
          </p:cNvPr>
          <p:cNvSpPr>
            <a:spLocks xmlns:a="http://schemas.openxmlformats.org/drawingml/2006/main" noGrp="1"/>
          </p:cNvSpPr>
          <p:nvPr/>
        </p:nvSpPr>
        <p:spPr>
          <a:xfrm xmlns:a="http://schemas.openxmlformats.org/drawingml/2006/main">
            <a:off x="8421624" y="4489704"/>
            <a:ext cx="31546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B4232A"/>
                </a:solidFill>
                <a:latin typeface="Calibri"/>
                <a:ea typeface="Calibri"/>
                <a:cs typeface="Calibri"/>
              </a:rPr>
              <a:t>DO NOT adjust (adjusting CREATES bias)</a:t>
            </a:r>
            <a:endParaRPr sz="1050"/>
          </a:p>
        </p:txBody>
      </p:sp>
      <p:sp>
        <p:nvSpPr>
          <p:cNvPr id="46" name="Text 44">
            <a:extLst xmlns:a="http://schemas.openxmlformats.org/drawingml/2006/main">
              <a:ext uri="{FF2B5EF4-FFF2-40B4-BE49-F238E27FC236}">
                <a16:creationId xmlns:a16="http://schemas.microsoft.com/office/drawing/2014/main" id="{35C518B9-C6D0-4925-951B-41E7A379EC7D}"/>
              </a:ext>
            </a:extLst>
          </p:cNvPr>
          <p:cNvSpPr>
            <a:spLocks xmlns:a="http://schemas.openxmlformats.org/drawingml/2006/main" noGrp="1"/>
          </p:cNvSpPr>
          <p:nvPr/>
        </p:nvSpPr>
        <p:spPr>
          <a:xfrm xmlns:a="http://schemas.openxmlformats.org/drawingml/2006/main">
            <a:off x="8330184" y="5266944"/>
            <a:ext cx="333756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00">
                <a:solidFill>
                  <a:srgbClr val="24313A"/>
                </a:solidFill>
                <a:latin typeface="Calibri"/>
                <a:ea typeface="Calibri"/>
                <a:cs typeface="Calibri"/>
              </a:rPr>
              <a:t>Both SMS and no-shows can trigger complaints. Filtering or controlling on the common effect induces a spurious link between its causes.</a:t>
            </a:r>
            <a:endParaRPr sz="1000"/>
          </a:p>
        </p:txBody>
      </p:sp>
    </p:spTree>
    <p:extLst>
      <p:ext uri="{BB962C8B-B14F-4D97-AF65-F5344CB8AC3E}">
        <p14:creationId xmlns:p14="http://schemas.microsoft.com/office/powerpoint/2010/main" val="807641906"/>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749AF82-3537-4F81-AC58-33DC39A000F4}"/>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D4462C2F-1D5D-4010-AF2B-A6219F5232A0}"/>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59</a:t>
            </a:r>
            <a:endParaRPr sz="900"/>
          </a:p>
        </p:txBody>
      </p:sp>
      <p:sp>
        <p:nvSpPr>
          <p:cNvPr id="4" name="Shape 2">
            <a:extLst xmlns:a="http://schemas.openxmlformats.org/drawingml/2006/main">
              <a:ext uri="{FF2B5EF4-FFF2-40B4-BE49-F238E27FC236}">
                <a16:creationId xmlns:a16="http://schemas.microsoft.com/office/drawing/2014/main" id="{4873D388-CE3A-459E-955B-BB1270ACF8C7}"/>
              </a:ext>
            </a:extLst>
          </p:cNvPr>
          <p:cNvSpPr>
            <a:spLocks xmlns:a="http://schemas.openxmlformats.org/drawingml/2006/main" noGrp="1"/>
          </p:cNvSpPr>
          <p:nvPr/>
        </p:nvSpPr>
        <p:spPr>
          <a:xfrm xmlns:a="http://schemas.openxmlformats.org/drawingml/2006/main">
            <a:off x="502920" y="384048"/>
            <a:ext cx="2096719" cy="292608"/>
          </a:xfrm>
          <a:prstGeom xmlns:a="http://schemas.openxmlformats.org/drawingml/2006/main" prst="roundRect">
            <a:avLst>
              <a:gd name="adj" fmla="val 50000"/>
            </a:avLst>
          </a:prstGeom>
          <a:solidFill xmlns:a="http://schemas.openxmlformats.org/drawingml/2006/main">
            <a:srgbClr val="0B3140"/>
          </a:solidFill>
        </p:spPr>
      </p:sp>
      <p:sp>
        <p:nvSpPr>
          <p:cNvPr id="5" name="Text 3">
            <a:extLst xmlns:a="http://schemas.openxmlformats.org/drawingml/2006/main">
              <a:ext uri="{FF2B5EF4-FFF2-40B4-BE49-F238E27FC236}">
                <a16:creationId xmlns:a16="http://schemas.microsoft.com/office/drawing/2014/main" id="{10E25A04-F693-4BAC-BC44-A1905B1D4EB3}"/>
              </a:ext>
            </a:extLst>
          </p:cNvPr>
          <p:cNvSpPr>
            <a:spLocks xmlns:a="http://schemas.openxmlformats.org/drawingml/2006/main" noGrp="1"/>
          </p:cNvSpPr>
          <p:nvPr/>
        </p:nvSpPr>
        <p:spPr>
          <a:xfrm xmlns:a="http://schemas.openxmlformats.org/drawingml/2006/main">
            <a:off x="502920" y="384048"/>
            <a:ext cx="209671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5 · CASE STUDY</a:t>
            </a:r>
            <a:endParaRPr sz="1050"/>
          </a:p>
        </p:txBody>
      </p:sp>
      <p:sp>
        <p:nvSpPr>
          <p:cNvPr id="6" name="Text 4">
            <a:extLst xmlns:a="http://schemas.openxmlformats.org/drawingml/2006/main">
              <a:ext uri="{FF2B5EF4-FFF2-40B4-BE49-F238E27FC236}">
                <a16:creationId xmlns:a16="http://schemas.microsoft.com/office/drawing/2014/main" id="{74E61FEE-D2DD-4963-9017-D1F254ABA140}"/>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The dashboard that nearly killed the program</a:t>
            </a:r>
            <a:endParaRPr sz="2800"/>
          </a:p>
        </p:txBody>
      </p:sp>
      <p:sp>
        <p:nvSpPr>
          <p:cNvPr id="7" name="Shape 5">
            <a:extLst xmlns:a="http://schemas.openxmlformats.org/drawingml/2006/main">
              <a:ext uri="{FF2B5EF4-FFF2-40B4-BE49-F238E27FC236}">
                <a16:creationId xmlns:a16="http://schemas.microsoft.com/office/drawing/2014/main" id="{692FDB9F-4344-4679-A4BA-882DA994605B}"/>
              </a:ext>
            </a:extLst>
          </p:cNvPr>
          <p:cNvSpPr>
            <a:spLocks xmlns:a="http://schemas.openxmlformats.org/drawingml/2006/main" noGrp="1"/>
          </p:cNvSpPr>
          <p:nvPr/>
        </p:nvSpPr>
        <p:spPr>
          <a:xfrm xmlns:a="http://schemas.openxmlformats.org/drawingml/2006/main">
            <a:off x="502920" y="1545336"/>
            <a:ext cx="5532120" cy="2240280"/>
          </a:xfrm>
          <a:prstGeom xmlns:a="http://schemas.openxmlformats.org/drawingml/2006/main" prst="roundRect">
            <a:avLst>
              <a:gd name="adj" fmla="val 3673"/>
            </a:avLst>
          </a:prstGeom>
          <a:solidFill xmlns:a="http://schemas.openxmlformats.org/drawingml/2006/main">
            <a:srgbClr val="F3F8F9"/>
          </a:solidFill>
        </p:spPr>
      </p:sp>
      <p:sp>
        <p:nvSpPr>
          <p:cNvPr id="8" name="Shape 6">
            <a:extLst xmlns:a="http://schemas.openxmlformats.org/drawingml/2006/main">
              <a:ext uri="{FF2B5EF4-FFF2-40B4-BE49-F238E27FC236}">
                <a16:creationId xmlns:a16="http://schemas.microsoft.com/office/drawing/2014/main" id="{C8B1A52E-6FC7-4413-81D0-1928A949EA43}"/>
              </a:ext>
            </a:extLst>
          </p:cNvPr>
          <p:cNvSpPr>
            <a:spLocks xmlns:a="http://schemas.openxmlformats.org/drawingml/2006/main" noGrp="1"/>
          </p:cNvSpPr>
          <p:nvPr/>
        </p:nvSpPr>
        <p:spPr>
          <a:xfrm xmlns:a="http://schemas.openxmlformats.org/drawingml/2006/main">
            <a:off x="704088" y="1728216"/>
            <a:ext cx="384048" cy="384048"/>
          </a:xfrm>
          <a:prstGeom xmlns:a="http://schemas.openxmlformats.org/drawingml/2006/main" prst="ellipse">
            <a:avLst/>
          </a:prstGeom>
          <a:solidFill xmlns:a="http://schemas.openxmlformats.org/drawingml/2006/main">
            <a:srgbClr val="0B3140"/>
          </a:solidFill>
        </p:spPr>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9ead64fe0f2f42ca"/>
          <a:stretch xmlns:a="http://schemas.openxmlformats.org/drawingml/2006/main">
            <a:fillRect l="0" t="0" r="0" b="0"/>
          </a:stretch>
        </p:blipFill>
        <p:spPr>
          <a:xfrm xmlns:a="http://schemas.openxmlformats.org/drawingml/2006/main">
            <a:off x="803940" y="1828068"/>
            <a:ext cx="184343" cy="184343"/>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969945C2-E3E0-4123-94C7-6DACC1F1BE71}"/>
              </a:ext>
            </a:extLst>
          </p:cNvPr>
          <p:cNvSpPr>
            <a:spLocks xmlns:a="http://schemas.openxmlformats.org/drawingml/2006/main" noGrp="1"/>
          </p:cNvSpPr>
          <p:nvPr/>
        </p:nvSpPr>
        <p:spPr>
          <a:xfrm xmlns:a="http://schemas.openxmlformats.org/drawingml/2006/main">
            <a:off x="1216152" y="1764792"/>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Scenario</a:t>
            </a:r>
            <a:endParaRPr sz="1350"/>
          </a:p>
        </p:txBody>
      </p:sp>
      <p:sp>
        <p:nvSpPr>
          <p:cNvPr id="11" name="Text 8">
            <a:extLst xmlns:a="http://schemas.openxmlformats.org/drawingml/2006/main">
              <a:ext uri="{FF2B5EF4-FFF2-40B4-BE49-F238E27FC236}">
                <a16:creationId xmlns:a16="http://schemas.microsoft.com/office/drawing/2014/main" id="{29817BDE-A5D1-4A4C-AE12-9AF68649AB7B}"/>
              </a:ext>
            </a:extLst>
          </p:cNvPr>
          <p:cNvSpPr>
            <a:spLocks xmlns:a="http://schemas.openxmlformats.org/drawingml/2006/main" noGrp="1"/>
          </p:cNvSpPr>
          <p:nvPr/>
        </p:nvSpPr>
        <p:spPr>
          <a:xfrm xmlns:a="http://schemas.openxmlformats.org/drawingml/2006/main">
            <a:off x="758952" y="2203704"/>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24313A"/>
                </a:solidFill>
                <a:latin typeface="Calibri"/>
                <a:ea typeface="Calibri"/>
                <a:cs typeface="Calibri"/>
              </a:rPr>
              <a:t>Three months into the reminder rollout, a BI dashboard adds a tile: no-show rate by reminder status. It reads 19.5% vs 17.5%. A cost-cutting review flags the SMS contract for cancellation, citing 'data showing reminders don't work'.</a:t>
            </a:r>
            <a:endParaRPr sz="1100"/>
          </a:p>
        </p:txBody>
      </p:sp>
      <p:sp>
        <p:nvSpPr>
          <p:cNvPr id="12" name="Shape 9">
            <a:extLst xmlns:a="http://schemas.openxmlformats.org/drawingml/2006/main">
              <a:ext uri="{FF2B5EF4-FFF2-40B4-BE49-F238E27FC236}">
                <a16:creationId xmlns:a16="http://schemas.microsoft.com/office/drawing/2014/main" id="{3F16288D-4743-4E3C-B426-362EBDFCEBA8}"/>
              </a:ext>
            </a:extLst>
          </p:cNvPr>
          <p:cNvSpPr>
            <a:spLocks xmlns:a="http://schemas.openxmlformats.org/drawingml/2006/main" noGrp="1"/>
          </p:cNvSpPr>
          <p:nvPr/>
        </p:nvSpPr>
        <p:spPr>
          <a:xfrm xmlns:a="http://schemas.openxmlformats.org/drawingml/2006/main">
            <a:off x="6199632" y="1545336"/>
            <a:ext cx="5532120" cy="2240280"/>
          </a:xfrm>
          <a:prstGeom xmlns:a="http://schemas.openxmlformats.org/drawingml/2006/main" prst="roundRect">
            <a:avLst>
              <a:gd name="adj" fmla="val 3673"/>
            </a:avLst>
          </a:prstGeom>
          <a:solidFill xmlns:a="http://schemas.openxmlformats.org/drawingml/2006/main">
            <a:srgbClr val="FBEEDD"/>
          </a:solidFill>
        </p:spPr>
      </p:sp>
      <p:sp>
        <p:nvSpPr>
          <p:cNvPr id="13" name="Shape 10">
            <a:extLst xmlns:a="http://schemas.openxmlformats.org/drawingml/2006/main">
              <a:ext uri="{FF2B5EF4-FFF2-40B4-BE49-F238E27FC236}">
                <a16:creationId xmlns:a16="http://schemas.microsoft.com/office/drawing/2014/main" id="{6A01A60C-F3C2-4E1C-B9AC-D4D3C5D8837C}"/>
              </a:ext>
            </a:extLst>
          </p:cNvPr>
          <p:cNvSpPr>
            <a:spLocks xmlns:a="http://schemas.openxmlformats.org/drawingml/2006/main" noGrp="1"/>
          </p:cNvSpPr>
          <p:nvPr/>
        </p:nvSpPr>
        <p:spPr>
          <a:xfrm xmlns:a="http://schemas.openxmlformats.org/drawingml/2006/main">
            <a:off x="6400800" y="1728216"/>
            <a:ext cx="384048" cy="384048"/>
          </a:xfrm>
          <a:prstGeom xmlns:a="http://schemas.openxmlformats.org/drawingml/2006/main" prst="ellipse">
            <a:avLst/>
          </a:prstGeom>
          <a:solidFill xmlns:a="http://schemas.openxmlformats.org/drawingml/2006/main">
            <a:srgbClr val="C2660A"/>
          </a:solidFill>
        </p:spPr>
      </p:sp>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ebd6c68273b1497f"/>
          <a:stretch xmlns:a="http://schemas.openxmlformats.org/drawingml/2006/main">
            <a:fillRect l="0" t="0" r="0" b="0"/>
          </a:stretch>
        </p:blipFill>
        <p:spPr>
          <a:xfrm xmlns:a="http://schemas.openxmlformats.org/drawingml/2006/main">
            <a:off x="6500652" y="1828068"/>
            <a:ext cx="184343" cy="184343"/>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692D9824-2C67-499A-9AFA-414507C02146}"/>
              </a:ext>
            </a:extLst>
          </p:cNvPr>
          <p:cNvSpPr>
            <a:spLocks xmlns:a="http://schemas.openxmlformats.org/drawingml/2006/main" noGrp="1"/>
          </p:cNvSpPr>
          <p:nvPr/>
        </p:nvSpPr>
        <p:spPr>
          <a:xfrm xmlns:a="http://schemas.openxmlformats.org/drawingml/2006/main">
            <a:off x="6912864" y="1764792"/>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The technical challenge</a:t>
            </a:r>
            <a:endParaRPr sz="1350"/>
          </a:p>
        </p:txBody>
      </p:sp>
      <p:sp>
        <p:nvSpPr>
          <p:cNvPr id="16" name="Text 12">
            <a:extLst xmlns:a="http://schemas.openxmlformats.org/drawingml/2006/main">
              <a:ext uri="{FF2B5EF4-FFF2-40B4-BE49-F238E27FC236}">
                <a16:creationId xmlns:a16="http://schemas.microsoft.com/office/drawing/2014/main" id="{FC25994B-BE0F-4516-9E44-1D134F152B64}"/>
              </a:ext>
            </a:extLst>
          </p:cNvPr>
          <p:cNvSpPr>
            <a:spLocks xmlns:a="http://schemas.openxmlformats.org/drawingml/2006/main" noGrp="1"/>
          </p:cNvSpPr>
          <p:nvPr/>
        </p:nvSpPr>
        <p:spPr>
          <a:xfrm xmlns:a="http://schemas.openxmlformats.org/drawingml/2006/main">
            <a:off x="6455664" y="2203704"/>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24313A"/>
                </a:solidFill>
                <a:latin typeface="Calibri"/>
                <a:ea typeface="Calibri"/>
                <a:cs typeface="Calibri"/>
              </a:rPr>
              <a:t>The tile is a crude comparison of self-selected groups under risk-targeted allocation — a confounder walks straight through it. Cancelling would remove a tool the randomized pilot proved cuts no-shows by a third.</a:t>
            </a:r>
            <a:endParaRPr sz="1100"/>
          </a:p>
        </p:txBody>
      </p:sp>
      <p:sp>
        <p:nvSpPr>
          <p:cNvPr id="17" name="Shape 13">
            <a:extLst xmlns:a="http://schemas.openxmlformats.org/drawingml/2006/main">
              <a:ext uri="{FF2B5EF4-FFF2-40B4-BE49-F238E27FC236}">
                <a16:creationId xmlns:a16="http://schemas.microsoft.com/office/drawing/2014/main" id="{5D5763D9-EC96-42C6-BAC0-948CC8E695FE}"/>
              </a:ext>
            </a:extLst>
          </p:cNvPr>
          <p:cNvSpPr>
            <a:spLocks xmlns:a="http://schemas.openxmlformats.org/drawingml/2006/main" noGrp="1"/>
          </p:cNvSpPr>
          <p:nvPr/>
        </p:nvSpPr>
        <p:spPr>
          <a:xfrm xmlns:a="http://schemas.openxmlformats.org/drawingml/2006/main">
            <a:off x="502920" y="3950208"/>
            <a:ext cx="5532120" cy="2240280"/>
          </a:xfrm>
          <a:prstGeom xmlns:a="http://schemas.openxmlformats.org/drawingml/2006/main" prst="roundRect">
            <a:avLst>
              <a:gd name="adj" fmla="val 3673"/>
            </a:avLst>
          </a:prstGeom>
          <a:solidFill xmlns:a="http://schemas.openxmlformats.org/drawingml/2006/main">
            <a:srgbClr val="E7F2F3"/>
          </a:solidFill>
        </p:spPr>
      </p:sp>
      <p:sp>
        <p:nvSpPr>
          <p:cNvPr id="18" name="Shape 14">
            <a:extLst xmlns:a="http://schemas.openxmlformats.org/drawingml/2006/main">
              <a:ext uri="{FF2B5EF4-FFF2-40B4-BE49-F238E27FC236}">
                <a16:creationId xmlns:a16="http://schemas.microsoft.com/office/drawing/2014/main" id="{E270BECB-BFD2-4EBE-B546-39B3B506BC7F}"/>
              </a:ext>
            </a:extLst>
          </p:cNvPr>
          <p:cNvSpPr>
            <a:spLocks xmlns:a="http://schemas.openxmlformats.org/drawingml/2006/main" noGrp="1"/>
          </p:cNvSpPr>
          <p:nvPr/>
        </p:nvSpPr>
        <p:spPr>
          <a:xfrm xmlns:a="http://schemas.openxmlformats.org/drawingml/2006/main">
            <a:off x="704088" y="4133088"/>
            <a:ext cx="384048" cy="384048"/>
          </a:xfrm>
          <a:prstGeom xmlns:a="http://schemas.openxmlformats.org/drawingml/2006/main" prst="ellipse">
            <a:avLst/>
          </a:prstGeom>
          <a:solidFill xmlns:a="http://schemas.openxmlformats.org/drawingml/2006/main">
            <a:srgbClr val="0A5C64"/>
          </a:solidFill>
        </p:spPr>
      </p:sp>
      <p:pic>
        <p:nvPicPr>
          <p:cNvPr id="48" name="Image 2"/>
          <p:cNvPicPr>
            <a:picLocks xmlns:a="http://schemas.openxmlformats.org/drawingml/2006/main" noChangeAspect="1"/>
          </p:cNvPicPr>
          <p:nvPr/>
        </p:nvPicPr>
        <p:blipFill>
          <a:blip xmlns:r="http://schemas.openxmlformats.org/officeDocument/2006/relationships" xmlns:a="http://schemas.openxmlformats.org/drawingml/2006/main" r:embed="R7b7885cda5124dc0"/>
          <a:stretch xmlns:a="http://schemas.openxmlformats.org/drawingml/2006/main">
            <a:fillRect l="0" t="0" r="0" b="0"/>
          </a:stretch>
        </p:blipFill>
        <p:spPr>
          <a:xfrm xmlns:a="http://schemas.openxmlformats.org/drawingml/2006/main">
            <a:off x="803940" y="4232940"/>
            <a:ext cx="184343" cy="184343"/>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4A940E49-50C5-4898-A7F7-5051CF816F01}"/>
              </a:ext>
            </a:extLst>
          </p:cNvPr>
          <p:cNvSpPr>
            <a:spLocks xmlns:a="http://schemas.openxmlformats.org/drawingml/2006/main" noGrp="1"/>
          </p:cNvSpPr>
          <p:nvPr/>
        </p:nvSpPr>
        <p:spPr>
          <a:xfrm xmlns:a="http://schemas.openxmlformats.org/drawingml/2006/main">
            <a:off x="1216152" y="4169664"/>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Solution approach (facilitate, don't lecture)</a:t>
            </a:r>
            <a:endParaRPr sz="1350"/>
          </a:p>
        </p:txBody>
      </p:sp>
      <p:sp>
        <p:nvSpPr>
          <p:cNvPr id="21" name="Text 16">
            <a:extLst xmlns:a="http://schemas.openxmlformats.org/drawingml/2006/main">
              <a:ext uri="{FF2B5EF4-FFF2-40B4-BE49-F238E27FC236}">
                <a16:creationId xmlns:a16="http://schemas.microsoft.com/office/drawing/2014/main" id="{CA56090B-EE19-48ED-9AA6-52F96AEAF362}"/>
              </a:ext>
            </a:extLst>
          </p:cNvPr>
          <p:cNvSpPr>
            <a:spLocks xmlns:a="http://schemas.openxmlformats.org/drawingml/2006/main" noGrp="1"/>
          </p:cNvSpPr>
          <p:nvPr/>
        </p:nvSpPr>
        <p:spPr>
          <a:xfrm xmlns:a="http://schemas.openxmlformats.org/drawingml/2006/main">
            <a:off x="758952" y="4608576"/>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Reproduce the tile's number, then the stratified rates — show the sign flip</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Draw the DAG: risk band → SMS, risk band → no-show</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Compute the standardized effect (−5.0pp) and put the pilot's −6.8pp beside it</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Draft the one-slide rebuttal for the review meeting</a:t>
            </a:r>
            <a:endParaRPr sz="1080"/>
          </a:p>
        </p:txBody>
      </p:sp>
      <p:sp>
        <p:nvSpPr>
          <p:cNvPr id="22" name="Shape 17">
            <a:extLst xmlns:a="http://schemas.openxmlformats.org/drawingml/2006/main">
              <a:ext uri="{FF2B5EF4-FFF2-40B4-BE49-F238E27FC236}">
                <a16:creationId xmlns:a16="http://schemas.microsoft.com/office/drawing/2014/main" id="{A07FF7A8-6FD9-4C10-91FB-BAEC23C31319}"/>
              </a:ext>
            </a:extLst>
          </p:cNvPr>
          <p:cNvSpPr>
            <a:spLocks xmlns:a="http://schemas.openxmlformats.org/drawingml/2006/main" noGrp="1"/>
          </p:cNvSpPr>
          <p:nvPr/>
        </p:nvSpPr>
        <p:spPr>
          <a:xfrm xmlns:a="http://schemas.openxmlformats.org/drawingml/2006/main">
            <a:off x="6199632" y="3950208"/>
            <a:ext cx="5532120" cy="2240280"/>
          </a:xfrm>
          <a:prstGeom xmlns:a="http://schemas.openxmlformats.org/drawingml/2006/main" prst="roundRect">
            <a:avLst>
              <a:gd name="adj" fmla="val 3673"/>
            </a:avLst>
          </a:prstGeom>
          <a:solidFill xmlns:a="http://schemas.openxmlformats.org/drawingml/2006/main">
            <a:srgbClr val="F3F8F9"/>
          </a:solidFill>
        </p:spPr>
      </p:sp>
      <p:sp>
        <p:nvSpPr>
          <p:cNvPr id="23" name="Shape 18">
            <a:extLst xmlns:a="http://schemas.openxmlformats.org/drawingml/2006/main">
              <a:ext uri="{FF2B5EF4-FFF2-40B4-BE49-F238E27FC236}">
                <a16:creationId xmlns:a16="http://schemas.microsoft.com/office/drawing/2014/main" id="{86DE839D-FBDE-4D66-B9C3-984EAB7AAA6F}"/>
              </a:ext>
            </a:extLst>
          </p:cNvPr>
          <p:cNvSpPr>
            <a:spLocks xmlns:a="http://schemas.openxmlformats.org/drawingml/2006/main" noGrp="1"/>
          </p:cNvSpPr>
          <p:nvPr/>
        </p:nvSpPr>
        <p:spPr>
          <a:xfrm xmlns:a="http://schemas.openxmlformats.org/drawingml/2006/main">
            <a:off x="6400800" y="4133088"/>
            <a:ext cx="384048" cy="384048"/>
          </a:xfrm>
          <a:prstGeom xmlns:a="http://schemas.openxmlformats.org/drawingml/2006/main" prst="ellipse">
            <a:avLst/>
          </a:prstGeom>
          <a:solidFill xmlns:a="http://schemas.openxmlformats.org/drawingml/2006/main">
            <a:srgbClr val="0B3140"/>
          </a:solidFill>
        </p:spPr>
      </p:sp>
      <p:pic>
        <p:nvPicPr>
          <p:cNvPr id="53" name="Image 3"/>
          <p:cNvPicPr>
            <a:picLocks xmlns:a="http://schemas.openxmlformats.org/drawingml/2006/main" noChangeAspect="1"/>
          </p:cNvPicPr>
          <p:nvPr/>
        </p:nvPicPr>
        <p:blipFill>
          <a:blip xmlns:r="http://schemas.openxmlformats.org/officeDocument/2006/relationships" xmlns:a="http://schemas.openxmlformats.org/drawingml/2006/main" r:embed="R1af0469ca26044dc"/>
          <a:stretch xmlns:a="http://schemas.openxmlformats.org/drawingml/2006/main">
            <a:fillRect l="0" t="0" r="0" b="0"/>
          </a:stretch>
        </p:blipFill>
        <p:spPr>
          <a:xfrm xmlns:a="http://schemas.openxmlformats.org/drawingml/2006/main">
            <a:off x="6500652" y="4232940"/>
            <a:ext cx="184343" cy="184343"/>
          </a:xfrm>
          <a:prstGeom xmlns:a="http://schemas.openxmlformats.org/drawingml/2006/main" prst="rect">
            <a:avLst/>
          </a:prstGeom>
        </p:spPr>
      </p:pic>
      <p:sp>
        <p:nvSpPr>
          <p:cNvPr id="25" name="Text 19">
            <a:extLst xmlns:a="http://schemas.openxmlformats.org/drawingml/2006/main">
              <a:ext uri="{FF2B5EF4-FFF2-40B4-BE49-F238E27FC236}">
                <a16:creationId xmlns:a16="http://schemas.microsoft.com/office/drawing/2014/main" id="{8C26417F-5624-412B-B2DD-3D7CBEDB7A5A}"/>
              </a:ext>
            </a:extLst>
          </p:cNvPr>
          <p:cNvSpPr>
            <a:spLocks xmlns:a="http://schemas.openxmlformats.org/drawingml/2006/main" noGrp="1"/>
          </p:cNvSpPr>
          <p:nvPr/>
        </p:nvSpPr>
        <p:spPr>
          <a:xfrm xmlns:a="http://schemas.openxmlformats.org/drawingml/2006/main">
            <a:off x="6912864" y="4169664"/>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Discussion</a:t>
            </a:r>
            <a:endParaRPr sz="1350"/>
          </a:p>
        </p:txBody>
      </p:sp>
      <p:sp>
        <p:nvSpPr>
          <p:cNvPr id="26" name="Text 20">
            <a:extLst xmlns:a="http://schemas.openxmlformats.org/drawingml/2006/main">
              <a:ext uri="{FF2B5EF4-FFF2-40B4-BE49-F238E27FC236}">
                <a16:creationId xmlns:a16="http://schemas.microsoft.com/office/drawing/2014/main" id="{0CCDDEB4-4608-464F-BE69-2BCE9D18A1A4}"/>
              </a:ext>
            </a:extLst>
          </p:cNvPr>
          <p:cNvSpPr>
            <a:spLocks xmlns:a="http://schemas.openxmlformats.org/drawingml/2006/main" noGrp="1"/>
          </p:cNvSpPr>
          <p:nvPr/>
        </p:nvSpPr>
        <p:spPr>
          <a:xfrm xmlns:a="http://schemas.openxmlformats.org/drawingml/2006/main">
            <a:off x="6455664" y="4608576"/>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Who is accountable when a dashboard tile misleads: the analyst, the BI team, or the reader?</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What single caption on the tile would have prevented this?</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When is a crude comparison acceptable to publish?</a:t>
            </a:r>
            <a:endParaRPr sz="1080"/>
          </a:p>
        </p:txBody>
      </p:sp>
    </p:spTree>
    <p:extLst>
      <p:ext uri="{BB962C8B-B14F-4D97-AF65-F5344CB8AC3E}">
        <p14:creationId xmlns:p14="http://schemas.microsoft.com/office/powerpoint/2010/main" val="173389485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D7B2AD-E8F9-4BD7-B245-86AAB6DC7D7D}"/>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6052D742-7BF5-4619-9CD4-9161E737CC52}"/>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60</a:t>
            </a:r>
            <a:endParaRPr sz="900"/>
          </a:p>
        </p:txBody>
      </p:sp>
      <p:sp>
        <p:nvSpPr>
          <p:cNvPr id="4" name="Shape 2">
            <a:extLst xmlns:a="http://schemas.openxmlformats.org/drawingml/2006/main">
              <a:ext uri="{FF2B5EF4-FFF2-40B4-BE49-F238E27FC236}">
                <a16:creationId xmlns:a16="http://schemas.microsoft.com/office/drawing/2014/main" id="{50D47AB9-ACE2-4611-AF55-1ADB946D4F6C}"/>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oundRect">
            <a:avLst>
              <a:gd name="adj" fmla="val 50000"/>
            </a:avLst>
          </a:prstGeom>
          <a:solidFill xmlns:a="http://schemas.openxmlformats.org/drawingml/2006/main">
            <a:srgbClr val="C2660A"/>
          </a:solidFill>
        </p:spPr>
      </p:sp>
      <p:sp>
        <p:nvSpPr>
          <p:cNvPr id="5" name="Text 3">
            <a:extLst xmlns:a="http://schemas.openxmlformats.org/drawingml/2006/main">
              <a:ext uri="{FF2B5EF4-FFF2-40B4-BE49-F238E27FC236}">
                <a16:creationId xmlns:a16="http://schemas.microsoft.com/office/drawing/2014/main" id="{833376FA-9592-4203-B9CD-CE1134BBD4B3}"/>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5 · HANDS-ON</a:t>
            </a:r>
            <a:endParaRPr sz="1050"/>
          </a:p>
        </p:txBody>
      </p:sp>
      <p:sp>
        <p:nvSpPr>
          <p:cNvPr id="6" name="Text 4">
            <a:extLst xmlns:a="http://schemas.openxmlformats.org/drawingml/2006/main">
              <a:ext uri="{FF2B5EF4-FFF2-40B4-BE49-F238E27FC236}">
                <a16:creationId xmlns:a16="http://schemas.microsoft.com/office/drawing/2014/main" id="{7BBC92FB-EE1C-4078-B504-97A7518F99F1}"/>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Lab 5 — Untangle the paradox</a:t>
            </a:r>
            <a:endParaRPr sz="2800"/>
          </a:p>
        </p:txBody>
      </p:sp>
      <p:sp>
        <p:nvSpPr>
          <p:cNvPr id="7" name="Text 5">
            <a:extLst xmlns:a="http://schemas.openxmlformats.org/drawingml/2006/main">
              <a:ext uri="{FF2B5EF4-FFF2-40B4-BE49-F238E27FC236}">
                <a16:creationId xmlns:a16="http://schemas.microsoft.com/office/drawing/2014/main" id="{1A806873-BC3F-42FC-93DD-AB5AE8B6A562}"/>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~40 minutes (Day 3, Hour 2) · pairs · data/clinic_visits.csv · lab5_start.ipynb</a:t>
            </a:r>
            <a:endParaRPr sz="1350"/>
          </a:p>
        </p:txBody>
      </p:sp>
      <p:sp>
        <p:nvSpPr>
          <p:cNvPr id="8" name="Shape 6">
            <a:extLst xmlns:a="http://schemas.openxmlformats.org/drawingml/2006/main">
              <a:ext uri="{FF2B5EF4-FFF2-40B4-BE49-F238E27FC236}">
                <a16:creationId xmlns:a16="http://schemas.microsoft.com/office/drawing/2014/main" id="{2875846C-CD87-455B-9711-75592D7012A0}"/>
              </a:ext>
            </a:extLst>
          </p:cNvPr>
          <p:cNvSpPr>
            <a:spLocks xmlns:a="http://schemas.openxmlformats.org/drawingml/2006/main" noGrp="1"/>
          </p:cNvSpPr>
          <p:nvPr/>
        </p:nvSpPr>
        <p:spPr>
          <a:xfrm xmlns:a="http://schemas.openxmlformats.org/drawingml/2006/main">
            <a:off x="502920" y="1792224"/>
            <a:ext cx="6858000" cy="4709160"/>
          </a:xfrm>
          <a:prstGeom xmlns:a="http://schemas.openxmlformats.org/drawingml/2006/main" prst="roundRect">
            <a:avLst>
              <a:gd name="adj" fmla="val 1748"/>
            </a:avLst>
          </a:prstGeom>
          <a:solidFill xmlns:a="http://schemas.openxmlformats.org/drawingml/2006/main">
            <a:srgbClr val="FFFFFF"/>
          </a:solidFill>
          <a:ln xmlns:a="http://schemas.openxmlformats.org/drawingml/2006/main" w="12700">
            <a:solidFill>
              <a:srgbClr val="D6E2E4"/>
            </a:solidFill>
            <a:prstDash val="solid"/>
          </a:ln>
        </p:spPr>
      </p:sp>
      <p:sp>
        <p:nvSpPr>
          <p:cNvPr id="9" name="Text 7">
            <a:extLst xmlns:a="http://schemas.openxmlformats.org/drawingml/2006/main">
              <a:ext uri="{FF2B5EF4-FFF2-40B4-BE49-F238E27FC236}">
                <a16:creationId xmlns:a16="http://schemas.microsoft.com/office/drawing/2014/main" id="{2C2790B6-E640-4E08-8961-E04424D27C2B}"/>
              </a:ext>
            </a:extLst>
          </p:cNvPr>
          <p:cNvSpPr>
            <a:spLocks xmlns:a="http://schemas.openxmlformats.org/drawingml/2006/main" noGrp="1"/>
          </p:cNvSpPr>
          <p:nvPr/>
        </p:nvSpPr>
        <p:spPr>
          <a:xfrm xmlns:a="http://schemas.openxmlformats.org/drawingml/2006/main">
            <a:off x="822960" y="1975104"/>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B3140"/>
                </a:solidFill>
                <a:latin typeface="Cambria"/>
                <a:ea typeface="Cambria"/>
                <a:cs typeface="Cambria"/>
              </a:rPr>
              <a:t>Tasks</a:t>
            </a:r>
            <a:endParaRPr sz="1400"/>
          </a:p>
        </p:txBody>
      </p:sp>
      <p:sp>
        <p:nvSpPr>
          <p:cNvPr id="10" name="Text 8">
            <a:extLst xmlns:a="http://schemas.openxmlformats.org/drawingml/2006/main">
              <a:ext uri="{FF2B5EF4-FFF2-40B4-BE49-F238E27FC236}">
                <a16:creationId xmlns:a16="http://schemas.microsoft.com/office/drawing/2014/main" id="{F2BDAB31-360B-4FEC-90D9-24D6937EEB7B}"/>
              </a:ext>
            </a:extLst>
          </p:cNvPr>
          <p:cNvSpPr>
            <a:spLocks xmlns:a="http://schemas.openxmlformats.org/drawingml/2006/main" noGrp="1"/>
          </p:cNvSpPr>
          <p:nvPr/>
        </p:nvSpPr>
        <p:spPr>
          <a:xfrm xmlns:a="http://schemas.openxmlformats.org/drawingml/2006/main">
            <a:off x="822960" y="2386584"/>
            <a:ext cx="6309360"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(6’) Correlation sweep: Pearson &amp; Spearman on numeric pairs; pick the 2 you'd report and defend the choice</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(6’) Crude comparison: no-show by sms_reminder on all 50k rows — reproduce the 'harmful' +2.0pp</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(10’) Stratify by urban/rural and by risk_band — show reversal in every stratum; check allocation rates (78% vs 25%)</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(8’) Standardize over risk bands with population weights → adjusted effect ≈ −5.0pp; bootstrap its CI if time allows</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(6’) The mediator trap: add rescheduled as a control and watch the SMS effect shrink — explain in two lines why this is wrong</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(4’) Write the reconciliation paragraph: crude vs stratified vs pilot, and which number belongs in the memo</a:t>
            </a:r>
            <a:endParaRPr sz="1150"/>
          </a:p>
        </p:txBody>
      </p:sp>
      <p:sp>
        <p:nvSpPr>
          <p:cNvPr id="11" name="Shape 9">
            <a:extLst xmlns:a="http://schemas.openxmlformats.org/drawingml/2006/main">
              <a:ext uri="{FF2B5EF4-FFF2-40B4-BE49-F238E27FC236}">
                <a16:creationId xmlns:a16="http://schemas.microsoft.com/office/drawing/2014/main" id="{D6F8C912-7F78-44C8-899A-C019240569B1}"/>
              </a:ext>
            </a:extLst>
          </p:cNvPr>
          <p:cNvSpPr>
            <a:spLocks xmlns:a="http://schemas.openxmlformats.org/drawingml/2006/main" noGrp="1"/>
          </p:cNvSpPr>
          <p:nvPr/>
        </p:nvSpPr>
        <p:spPr>
          <a:xfrm xmlns:a="http://schemas.openxmlformats.org/drawingml/2006/main">
            <a:off x="7635240" y="1792224"/>
            <a:ext cx="4023360" cy="4709160"/>
          </a:xfrm>
          <a:prstGeom xmlns:a="http://schemas.openxmlformats.org/drawingml/2006/main" prst="roundRect">
            <a:avLst>
              <a:gd name="adj" fmla="val 2045"/>
            </a:avLst>
          </a:prstGeom>
          <a:solidFill xmlns:a="http://schemas.openxmlformats.org/drawingml/2006/main">
            <a:srgbClr val="E7F2F3"/>
          </a:solidFill>
        </p:spPr>
      </p:sp>
      <p:sp>
        <p:nvSpPr>
          <p:cNvPr id="12" name="Text 10">
            <a:extLst xmlns:a="http://schemas.openxmlformats.org/drawingml/2006/main">
              <a:ext uri="{FF2B5EF4-FFF2-40B4-BE49-F238E27FC236}">
                <a16:creationId xmlns:a16="http://schemas.microsoft.com/office/drawing/2014/main" id="{249C291C-E6D9-4743-BC9C-C21A0C624C0A}"/>
              </a:ext>
            </a:extLst>
          </p:cNvPr>
          <p:cNvSpPr>
            <a:spLocks xmlns:a="http://schemas.openxmlformats.org/drawingml/2006/main" noGrp="1"/>
          </p:cNvSpPr>
          <p:nvPr/>
        </p:nvSpPr>
        <p:spPr>
          <a:xfrm xmlns:a="http://schemas.openxmlformats.org/drawingml/2006/main">
            <a:off x="7955280" y="1975104"/>
            <a:ext cx="3474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A5C64"/>
                </a:solidFill>
                <a:latin typeface="Cambria"/>
                <a:ea typeface="Cambria"/>
                <a:cs typeface="Cambria"/>
              </a:rPr>
              <a:t>Checkpoint outputs</a:t>
            </a:r>
            <a:endParaRPr sz="1400"/>
          </a:p>
        </p:txBody>
      </p:sp>
      <p:sp>
        <p:nvSpPr>
          <p:cNvPr id="13" name="Text 11">
            <a:extLst xmlns:a="http://schemas.openxmlformats.org/drawingml/2006/main">
              <a:ext uri="{FF2B5EF4-FFF2-40B4-BE49-F238E27FC236}">
                <a16:creationId xmlns:a16="http://schemas.microsoft.com/office/drawing/2014/main" id="{ACB2F5B5-BA93-4F45-99C3-5DC1D22C3611}"/>
              </a:ext>
            </a:extLst>
          </p:cNvPr>
          <p:cNvSpPr>
            <a:spLocks xmlns:a="http://schemas.openxmlformats.org/drawingml/2006/main" noGrp="1"/>
          </p:cNvSpPr>
          <p:nvPr/>
        </p:nvSpPr>
        <p:spPr>
          <a:xfrm xmlns:a="http://schemas.openxmlformats.org/drawingml/2006/main">
            <a:off x="7955280" y="2386584"/>
            <a:ext cx="3429000"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700"/>
              </a:spcAft>
              <a:buSzPct val="100000"/>
              <a:buChar char="•"/>
            </a:pPr>
            <a:r>
              <a:rPr sz="1150" b="1">
                <a:solidFill>
                  <a:srgbClr val="24313A"/>
                </a:solidFill>
                <a:latin typeface="Calibri"/>
                <a:ea typeface="Calibri"/>
                <a:cs typeface="Calibri"/>
              </a:rPr>
              <a:t>Crude +2.0pp → stratified: helps in all strata → standardized −5.0pp</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Allocation table proves targeting (rural 78% / urban 25%)</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Mediator demo: SMS coefficient attenuates when rescheduled is added</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Reconciliation paragraph names the confounder explicitly</a:t>
            </a:r>
            <a:endParaRPr sz="1150"/>
          </a:p>
        </p:txBody>
      </p:sp>
    </p:spTree>
    <p:extLst>
      <p:ext uri="{BB962C8B-B14F-4D97-AF65-F5344CB8AC3E}">
        <p14:creationId xmlns:p14="http://schemas.microsoft.com/office/powerpoint/2010/main" val="1243184954"/>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27DF6F7-5B4A-4473-A444-AD00745ED85A}"/>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F8B79C70-A97A-44DE-968E-17F6852E4D7F}"/>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61</a:t>
            </a:r>
            <a:endParaRPr sz="900"/>
          </a:p>
        </p:txBody>
      </p:sp>
      <p:sp>
        <p:nvSpPr>
          <p:cNvPr id="4" name="Shape 2">
            <a:extLst xmlns:a="http://schemas.openxmlformats.org/drawingml/2006/main">
              <a:ext uri="{FF2B5EF4-FFF2-40B4-BE49-F238E27FC236}">
                <a16:creationId xmlns:a16="http://schemas.microsoft.com/office/drawing/2014/main" id="{EB3387E5-374B-47F3-8B5E-D5333F6003C7}"/>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AE876B2B-1BD5-4FDF-9391-399047167BD7}"/>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6</a:t>
            </a:r>
            <a:endParaRPr sz="1050"/>
          </a:p>
        </p:txBody>
      </p:sp>
      <p:sp>
        <p:nvSpPr>
          <p:cNvPr id="6" name="Text 4">
            <a:extLst xmlns:a="http://schemas.openxmlformats.org/drawingml/2006/main">
              <a:ext uri="{FF2B5EF4-FFF2-40B4-BE49-F238E27FC236}">
                <a16:creationId xmlns:a16="http://schemas.microsoft.com/office/drawing/2014/main" id="{3859001F-1BCF-4E75-B3E6-482EE76D74F8}"/>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Regression: from lines to log-odds</a:t>
            </a:r>
            <a:endParaRPr sz="2800"/>
          </a:p>
        </p:txBody>
      </p:sp>
      <p:sp>
        <p:nvSpPr>
          <p:cNvPr id="7" name="Shape 5">
            <a:extLst xmlns:a="http://schemas.openxmlformats.org/drawingml/2006/main">
              <a:ext uri="{FF2B5EF4-FFF2-40B4-BE49-F238E27FC236}">
                <a16:creationId xmlns:a16="http://schemas.microsoft.com/office/drawing/2014/main" id="{D57029D1-E6F4-41FC-B281-834057766533}"/>
              </a:ext>
            </a:extLst>
          </p:cNvPr>
          <p:cNvSpPr>
            <a:spLocks xmlns:a="http://schemas.openxmlformats.org/drawingml/2006/main" noGrp="1"/>
          </p:cNvSpPr>
          <p:nvPr/>
        </p:nvSpPr>
        <p:spPr>
          <a:xfrm xmlns:a="http://schemas.openxmlformats.org/drawingml/2006/main">
            <a:off x="502920" y="1563624"/>
            <a:ext cx="6720840" cy="4892040"/>
          </a:xfrm>
          <a:prstGeom xmlns:a="http://schemas.openxmlformats.org/drawingml/2006/main" prst="roundRect">
            <a:avLst>
              <a:gd name="adj" fmla="val 1682"/>
            </a:avLst>
          </a:prstGeom>
          <a:solidFill xmlns:a="http://schemas.openxmlformats.org/drawingml/2006/main">
            <a:srgbClr val="F3F8F9"/>
          </a:solidFill>
        </p:spPr>
      </p:sp>
      <p:sp>
        <p:nvSpPr>
          <p:cNvPr id="8" name="Shape 6">
            <a:extLst xmlns:a="http://schemas.openxmlformats.org/drawingml/2006/main">
              <a:ext uri="{FF2B5EF4-FFF2-40B4-BE49-F238E27FC236}">
                <a16:creationId xmlns:a16="http://schemas.microsoft.com/office/drawing/2014/main" id="{05B82E76-D03F-4906-8674-2EBFAAD77E37}"/>
              </a:ext>
            </a:extLst>
          </p:cNvPr>
          <p:cNvSpPr>
            <a:spLocks xmlns:a="http://schemas.openxmlformats.org/drawingml/2006/main" noGrp="1"/>
          </p:cNvSpPr>
          <p:nvPr/>
        </p:nvSpPr>
        <p:spPr>
          <a:xfrm xmlns:a="http://schemas.openxmlformats.org/drawingml/2006/main">
            <a:off x="868680" y="1929384"/>
            <a:ext cx="566928" cy="566928"/>
          </a:xfrm>
          <a:prstGeom xmlns:a="http://schemas.openxmlformats.org/drawingml/2006/main" prst="ellipse">
            <a:avLst/>
          </a:prstGeom>
          <a:solidFill xmlns:a="http://schemas.openxmlformats.org/drawingml/2006/main">
            <a:srgbClr val="0E7C86"/>
          </a:solidFill>
        </p:spPr>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f740c4e00eca409f"/>
          <a:stretch xmlns:a="http://schemas.openxmlformats.org/drawingml/2006/main">
            <a:fillRect l="0" t="0" r="0" b="0"/>
          </a:stretch>
        </p:blipFill>
        <p:spPr>
          <a:xfrm xmlns:a="http://schemas.openxmlformats.org/drawingml/2006/main">
            <a:off x="1016081" y="2076785"/>
            <a:ext cx="272125" cy="272125"/>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04EBFBE9-5A24-438F-8765-0D0B382E80D2}"/>
              </a:ext>
            </a:extLst>
          </p:cNvPr>
          <p:cNvSpPr>
            <a:spLocks xmlns:a="http://schemas.openxmlformats.org/drawingml/2006/main" noGrp="1"/>
          </p:cNvSpPr>
          <p:nvPr/>
        </p:nvSpPr>
        <p:spPr>
          <a:xfrm xmlns:a="http://schemas.openxmlformats.org/drawingml/2006/main">
            <a:off x="1645920" y="1975104"/>
            <a:ext cx="5120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B3140"/>
                </a:solidFill>
                <a:latin typeface="Cambria"/>
                <a:ea typeface="Cambria"/>
                <a:cs typeface="Cambria"/>
              </a:rPr>
              <a:t>Why this module</a:t>
            </a:r>
            <a:endParaRPr sz="1600"/>
          </a:p>
        </p:txBody>
      </p:sp>
      <p:sp>
        <p:nvSpPr>
          <p:cNvPr id="11" name="Text 8">
            <a:extLst xmlns:a="http://schemas.openxmlformats.org/drawingml/2006/main">
              <a:ext uri="{FF2B5EF4-FFF2-40B4-BE49-F238E27FC236}">
                <a16:creationId xmlns:a16="http://schemas.microsoft.com/office/drawing/2014/main" id="{F05723BE-D359-478C-B77C-C6FB439644DA}"/>
              </a:ext>
            </a:extLst>
          </p:cNvPr>
          <p:cNvSpPr>
            <a:spLocks xmlns:a="http://schemas.openxmlformats.org/drawingml/2006/main" noGrp="1"/>
          </p:cNvSpPr>
          <p:nvPr/>
        </p:nvSpPr>
        <p:spPr>
          <a:xfrm xmlns:a="http://schemas.openxmlformats.org/drawingml/2006/main">
            <a:off x="868680" y="2706624"/>
            <a:ext cx="6035040" cy="3566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250">
                <a:solidFill>
                  <a:srgbClr val="24313A"/>
                </a:solidFill>
                <a:latin typeface="Calibri"/>
                <a:ea typeface="Calibri"/>
                <a:cs typeface="Calibri"/>
              </a:rPr>
              <a:t>Stratification breaks down when there are five confounders instead of one — every cell goes empty. Regression is stratification's industrial-strength successor: adjust for many variables at once, read each coefficient as 'holding the others fixed', and quantify how well the model explains the outcome.</a:t>
            </a:r>
            <a:endParaRPr sz="1250"/>
          </a:p>
          <a:p xmlns:a="http://schemas.openxmlformats.org/drawingml/2006/main">
            <a:pPr marL="0" indent="0">
              <a:lnSpc>
                <a:spcPct val="112000"/>
              </a:lnSpc>
              <a:buNone/>
            </a:pPr>
            <a:endParaRPr sz="1250"/>
          </a:p>
          <a:p xmlns:a="http://schemas.openxmlformats.org/drawingml/2006/main">
            <a:pPr marL="0" indent="0">
              <a:lnSpc>
                <a:spcPct val="112000"/>
              </a:lnSpc>
              <a:buNone/>
            </a:pPr>
            <a:r>
              <a:rPr sz="1250">
                <a:solidFill>
                  <a:srgbClr val="24313A"/>
                </a:solidFill>
                <a:latin typeface="Calibri"/>
                <a:ea typeface="Calibri"/>
                <a:cs typeface="Calibri"/>
              </a:rPr>
              <a:t>Two models carry the Mawid analysis: an OLS model of log wait times (what drives waiting?) and a logistic model of no-shows (who is at risk, and does SMS still matter after adjustment?). The logistic model's odds ratios are the capstone's centrepiece table, and its predicted probabilities feed the targeting recommendation.</a:t>
            </a:r>
            <a:endParaRPr sz="1250"/>
          </a:p>
        </p:txBody>
      </p:sp>
      <p:sp>
        <p:nvSpPr>
          <p:cNvPr id="12" name="Shape 9">
            <a:extLst xmlns:a="http://schemas.openxmlformats.org/drawingml/2006/main">
              <a:ext uri="{FF2B5EF4-FFF2-40B4-BE49-F238E27FC236}">
                <a16:creationId xmlns:a16="http://schemas.microsoft.com/office/drawing/2014/main" id="{464B0CF2-9B32-4843-BD3B-0A0904739E80}"/>
              </a:ext>
            </a:extLst>
          </p:cNvPr>
          <p:cNvSpPr>
            <a:spLocks xmlns:a="http://schemas.openxmlformats.org/drawingml/2006/main" noGrp="1"/>
          </p:cNvSpPr>
          <p:nvPr/>
        </p:nvSpPr>
        <p:spPr>
          <a:xfrm xmlns:a="http://schemas.openxmlformats.org/drawingml/2006/main">
            <a:off x="7498080" y="1563624"/>
            <a:ext cx="4160520" cy="4892040"/>
          </a:xfrm>
          <a:prstGeom xmlns:a="http://schemas.openxmlformats.org/drawingml/2006/main" prst="roundRect">
            <a:avLst>
              <a:gd name="adj" fmla="val 1978"/>
            </a:avLst>
          </a:prstGeom>
          <a:solidFill xmlns:a="http://schemas.openxmlformats.org/drawingml/2006/main">
            <a:srgbClr val="0B3140"/>
          </a:solidFill>
        </p:spPr>
      </p:sp>
      <p:sp>
        <p:nvSpPr>
          <p:cNvPr id="13" name="Text 10">
            <a:extLst xmlns:a="http://schemas.openxmlformats.org/drawingml/2006/main">
              <a:ext uri="{FF2B5EF4-FFF2-40B4-BE49-F238E27FC236}">
                <a16:creationId xmlns:a16="http://schemas.microsoft.com/office/drawing/2014/main" id="{D13C1D6B-07F0-4CF6-A687-4D73E7D2BF75}"/>
              </a:ext>
            </a:extLst>
          </p:cNvPr>
          <p:cNvSpPr>
            <a:spLocks xmlns:a="http://schemas.openxmlformats.org/drawingml/2006/main" noGrp="1"/>
          </p:cNvSpPr>
          <p:nvPr/>
        </p:nvSpPr>
        <p:spPr>
          <a:xfrm xmlns:a="http://schemas.openxmlformats.org/drawingml/2006/main">
            <a:off x="7818120" y="1837944"/>
            <a:ext cx="3566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FB3BC"/>
                </a:solidFill>
                <a:latin typeface="Calibri"/>
                <a:ea typeface="Calibri"/>
                <a:cs typeface="Calibri"/>
              </a:rPr>
              <a:t>LEARNING OBJECTIVES</a:t>
            </a:r>
            <a:endParaRPr sz="1050"/>
          </a:p>
        </p:txBody>
      </p:sp>
      <p:sp>
        <p:nvSpPr>
          <p:cNvPr id="14" name="Shape 11">
            <a:extLst xmlns:a="http://schemas.openxmlformats.org/drawingml/2006/main">
              <a:ext uri="{FF2B5EF4-FFF2-40B4-BE49-F238E27FC236}">
                <a16:creationId xmlns:a16="http://schemas.microsoft.com/office/drawing/2014/main" id="{281110FF-1CC1-4454-BE3E-0133EBBE5A60}"/>
              </a:ext>
            </a:extLst>
          </p:cNvPr>
          <p:cNvSpPr>
            <a:spLocks xmlns:a="http://schemas.openxmlformats.org/drawingml/2006/main" noGrp="1"/>
          </p:cNvSpPr>
          <p:nvPr/>
        </p:nvSpPr>
        <p:spPr>
          <a:xfrm xmlns:a="http://schemas.openxmlformats.org/drawingml/2006/main">
            <a:off x="7818120" y="2267712"/>
            <a:ext cx="310896" cy="310896"/>
          </a:xfrm>
          <a:prstGeom xmlns:a="http://schemas.openxmlformats.org/drawingml/2006/main" prst="ellipse">
            <a:avLst/>
          </a:prstGeom>
          <a:solidFill xmlns:a="http://schemas.openxmlformats.org/drawingml/2006/main">
            <a:srgbClr val="0E7C86"/>
          </a:solidFill>
        </p:spPr>
      </p:sp>
      <p:sp>
        <p:nvSpPr>
          <p:cNvPr id="15" name="Text 12">
            <a:extLst xmlns:a="http://schemas.openxmlformats.org/drawingml/2006/main">
              <a:ext uri="{FF2B5EF4-FFF2-40B4-BE49-F238E27FC236}">
                <a16:creationId xmlns:a16="http://schemas.microsoft.com/office/drawing/2014/main" id="{75497B04-4135-41A7-A3B3-618C4373124E}"/>
              </a:ext>
            </a:extLst>
          </p:cNvPr>
          <p:cNvSpPr>
            <a:spLocks xmlns:a="http://schemas.openxmlformats.org/drawingml/2006/main" noGrp="1"/>
          </p:cNvSpPr>
          <p:nvPr/>
        </p:nvSpPr>
        <p:spPr>
          <a:xfrm xmlns:a="http://schemas.openxmlformats.org/drawingml/2006/main">
            <a:off x="7818120" y="2267712"/>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6.1</a:t>
            </a:r>
            <a:endParaRPr sz="1100"/>
          </a:p>
        </p:txBody>
      </p:sp>
      <p:sp>
        <p:nvSpPr>
          <p:cNvPr id="16" name="Text 13">
            <a:extLst xmlns:a="http://schemas.openxmlformats.org/drawingml/2006/main">
              <a:ext uri="{FF2B5EF4-FFF2-40B4-BE49-F238E27FC236}">
                <a16:creationId xmlns:a16="http://schemas.microsoft.com/office/drawing/2014/main" id="{FAE56919-0F36-40CA-9091-A06909B06011}"/>
              </a:ext>
            </a:extLst>
          </p:cNvPr>
          <p:cNvSpPr>
            <a:spLocks xmlns:a="http://schemas.openxmlformats.org/drawingml/2006/main" noGrp="1"/>
          </p:cNvSpPr>
          <p:nvPr/>
        </p:nvSpPr>
        <p:spPr>
          <a:xfrm xmlns:a="http://schemas.openxmlformats.org/drawingml/2006/main">
            <a:off x="8257032" y="2249424"/>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Fit and interpret multiple linear regression with statsmodels (coefficients, CIs, R², diagnostics)</a:t>
            </a:r>
            <a:endParaRPr sz="1150"/>
          </a:p>
        </p:txBody>
      </p:sp>
      <p:sp>
        <p:nvSpPr>
          <p:cNvPr id="17" name="Shape 14">
            <a:extLst xmlns:a="http://schemas.openxmlformats.org/drawingml/2006/main">
              <a:ext uri="{FF2B5EF4-FFF2-40B4-BE49-F238E27FC236}">
                <a16:creationId xmlns:a16="http://schemas.microsoft.com/office/drawing/2014/main" id="{AA1FA62B-7AA5-4285-BEE0-2169CF4B14E3}"/>
              </a:ext>
            </a:extLst>
          </p:cNvPr>
          <p:cNvSpPr>
            <a:spLocks xmlns:a="http://schemas.openxmlformats.org/drawingml/2006/main" noGrp="1"/>
          </p:cNvSpPr>
          <p:nvPr/>
        </p:nvSpPr>
        <p:spPr>
          <a:xfrm xmlns:a="http://schemas.openxmlformats.org/drawingml/2006/main">
            <a:off x="7818120" y="2926080"/>
            <a:ext cx="310896" cy="310896"/>
          </a:xfrm>
          <a:prstGeom xmlns:a="http://schemas.openxmlformats.org/drawingml/2006/main" prst="ellipse">
            <a:avLst/>
          </a:prstGeom>
          <a:solidFill xmlns:a="http://schemas.openxmlformats.org/drawingml/2006/main">
            <a:srgbClr val="0E7C86"/>
          </a:solidFill>
        </p:spPr>
      </p:sp>
      <p:sp>
        <p:nvSpPr>
          <p:cNvPr id="18" name="Text 15">
            <a:extLst xmlns:a="http://schemas.openxmlformats.org/drawingml/2006/main">
              <a:ext uri="{FF2B5EF4-FFF2-40B4-BE49-F238E27FC236}">
                <a16:creationId xmlns:a16="http://schemas.microsoft.com/office/drawing/2014/main" id="{B6595D02-5A9E-4453-A041-B603C64BA565}"/>
              </a:ext>
            </a:extLst>
          </p:cNvPr>
          <p:cNvSpPr>
            <a:spLocks xmlns:a="http://schemas.openxmlformats.org/drawingml/2006/main" noGrp="1"/>
          </p:cNvSpPr>
          <p:nvPr/>
        </p:nvSpPr>
        <p:spPr>
          <a:xfrm xmlns:a="http://schemas.openxmlformats.org/drawingml/2006/main">
            <a:off x="7818120" y="2926080"/>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6.2</a:t>
            </a:r>
            <a:endParaRPr sz="1100"/>
          </a:p>
        </p:txBody>
      </p:sp>
      <p:sp>
        <p:nvSpPr>
          <p:cNvPr id="19" name="Text 16">
            <a:extLst xmlns:a="http://schemas.openxmlformats.org/drawingml/2006/main">
              <a:ext uri="{FF2B5EF4-FFF2-40B4-BE49-F238E27FC236}">
                <a16:creationId xmlns:a16="http://schemas.microsoft.com/office/drawing/2014/main" id="{ED6D4DEE-3DFC-462A-AAFA-51CD64F2E850}"/>
              </a:ext>
            </a:extLst>
          </p:cNvPr>
          <p:cNvSpPr>
            <a:spLocks xmlns:a="http://schemas.openxmlformats.org/drawingml/2006/main" noGrp="1"/>
          </p:cNvSpPr>
          <p:nvPr/>
        </p:nvSpPr>
        <p:spPr>
          <a:xfrm xmlns:a="http://schemas.openxmlformats.org/drawingml/2006/main">
            <a:off x="8257032" y="2907792"/>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Know when to log-transform a skewed outcome — and how to interpret coefficients afterwards</a:t>
            </a:r>
            <a:endParaRPr sz="1150"/>
          </a:p>
        </p:txBody>
      </p:sp>
      <p:sp>
        <p:nvSpPr>
          <p:cNvPr id="20" name="Shape 17">
            <a:extLst xmlns:a="http://schemas.openxmlformats.org/drawingml/2006/main">
              <a:ext uri="{FF2B5EF4-FFF2-40B4-BE49-F238E27FC236}">
                <a16:creationId xmlns:a16="http://schemas.microsoft.com/office/drawing/2014/main" id="{2A117AC8-C620-4266-9023-89AC90FA4501}"/>
              </a:ext>
            </a:extLst>
          </p:cNvPr>
          <p:cNvSpPr>
            <a:spLocks xmlns:a="http://schemas.openxmlformats.org/drawingml/2006/main" noGrp="1"/>
          </p:cNvSpPr>
          <p:nvPr/>
        </p:nvSpPr>
        <p:spPr>
          <a:xfrm xmlns:a="http://schemas.openxmlformats.org/drawingml/2006/main">
            <a:off x="7818120" y="3584448"/>
            <a:ext cx="310896" cy="310896"/>
          </a:xfrm>
          <a:prstGeom xmlns:a="http://schemas.openxmlformats.org/drawingml/2006/main" prst="ellipse">
            <a:avLst/>
          </a:prstGeom>
          <a:solidFill xmlns:a="http://schemas.openxmlformats.org/drawingml/2006/main">
            <a:srgbClr val="0E7C86"/>
          </a:solidFill>
        </p:spPr>
      </p:sp>
      <p:sp>
        <p:nvSpPr>
          <p:cNvPr id="21" name="Text 18">
            <a:extLst xmlns:a="http://schemas.openxmlformats.org/drawingml/2006/main">
              <a:ext uri="{FF2B5EF4-FFF2-40B4-BE49-F238E27FC236}">
                <a16:creationId xmlns:a16="http://schemas.microsoft.com/office/drawing/2014/main" id="{1B4C601E-61B6-4DA9-AE5C-57B7FAE99FE3}"/>
              </a:ext>
            </a:extLst>
          </p:cNvPr>
          <p:cNvSpPr>
            <a:spLocks xmlns:a="http://schemas.openxmlformats.org/drawingml/2006/main" noGrp="1"/>
          </p:cNvSpPr>
          <p:nvPr/>
        </p:nvSpPr>
        <p:spPr>
          <a:xfrm xmlns:a="http://schemas.openxmlformats.org/drawingml/2006/main">
            <a:off x="7818120" y="358444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6.3</a:t>
            </a:r>
            <a:endParaRPr sz="1100"/>
          </a:p>
        </p:txBody>
      </p:sp>
      <p:sp>
        <p:nvSpPr>
          <p:cNvPr id="22" name="Text 19">
            <a:extLst xmlns:a="http://schemas.openxmlformats.org/drawingml/2006/main">
              <a:ext uri="{FF2B5EF4-FFF2-40B4-BE49-F238E27FC236}">
                <a16:creationId xmlns:a16="http://schemas.microsoft.com/office/drawing/2014/main" id="{E039D905-F8EA-411B-860C-085148878FDB}"/>
              </a:ext>
            </a:extLst>
          </p:cNvPr>
          <p:cNvSpPr>
            <a:spLocks xmlns:a="http://schemas.openxmlformats.org/drawingml/2006/main" noGrp="1"/>
          </p:cNvSpPr>
          <p:nvPr/>
        </p:nvSpPr>
        <p:spPr>
          <a:xfrm xmlns:a="http://schemas.openxmlformats.org/drawingml/2006/main">
            <a:off x="8257032" y="3566160"/>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Fit logistic regression; convert log-odds to odds ratios with CIs</a:t>
            </a:r>
            <a:endParaRPr sz="1150"/>
          </a:p>
        </p:txBody>
      </p:sp>
      <p:sp>
        <p:nvSpPr>
          <p:cNvPr id="23" name="Shape 20">
            <a:extLst xmlns:a="http://schemas.openxmlformats.org/drawingml/2006/main">
              <a:ext uri="{FF2B5EF4-FFF2-40B4-BE49-F238E27FC236}">
                <a16:creationId xmlns:a16="http://schemas.microsoft.com/office/drawing/2014/main" id="{A00B4BE6-903F-4753-8380-D8397F49BC09}"/>
              </a:ext>
            </a:extLst>
          </p:cNvPr>
          <p:cNvSpPr>
            <a:spLocks xmlns:a="http://schemas.openxmlformats.org/drawingml/2006/main" noGrp="1"/>
          </p:cNvSpPr>
          <p:nvPr/>
        </p:nvSpPr>
        <p:spPr>
          <a:xfrm xmlns:a="http://schemas.openxmlformats.org/drawingml/2006/main">
            <a:off x="7818120" y="4242816"/>
            <a:ext cx="310896" cy="310896"/>
          </a:xfrm>
          <a:prstGeom xmlns:a="http://schemas.openxmlformats.org/drawingml/2006/main" prst="ellipse">
            <a:avLst/>
          </a:prstGeom>
          <a:solidFill xmlns:a="http://schemas.openxmlformats.org/drawingml/2006/main">
            <a:srgbClr val="0E7C86"/>
          </a:solidFill>
        </p:spPr>
      </p:sp>
      <p:sp>
        <p:nvSpPr>
          <p:cNvPr id="24" name="Text 21">
            <a:extLst xmlns:a="http://schemas.openxmlformats.org/drawingml/2006/main">
              <a:ext uri="{FF2B5EF4-FFF2-40B4-BE49-F238E27FC236}">
                <a16:creationId xmlns:a16="http://schemas.microsoft.com/office/drawing/2014/main" id="{466FC828-13A4-4A75-8902-6ADD41193D25}"/>
              </a:ext>
            </a:extLst>
          </p:cNvPr>
          <p:cNvSpPr>
            <a:spLocks xmlns:a="http://schemas.openxmlformats.org/drawingml/2006/main" noGrp="1"/>
          </p:cNvSpPr>
          <p:nvPr/>
        </p:nvSpPr>
        <p:spPr>
          <a:xfrm xmlns:a="http://schemas.openxmlformats.org/drawingml/2006/main">
            <a:off x="7818120" y="4242816"/>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6.4</a:t>
            </a:r>
            <a:endParaRPr sz="1100"/>
          </a:p>
        </p:txBody>
      </p:sp>
      <p:sp>
        <p:nvSpPr>
          <p:cNvPr id="25" name="Text 22">
            <a:extLst xmlns:a="http://schemas.openxmlformats.org/drawingml/2006/main">
              <a:ext uri="{FF2B5EF4-FFF2-40B4-BE49-F238E27FC236}">
                <a16:creationId xmlns:a16="http://schemas.microsoft.com/office/drawing/2014/main" id="{DEEB68D9-1B94-4FC2-89FB-0C6C94A476B4}"/>
              </a:ext>
            </a:extLst>
          </p:cNvPr>
          <p:cNvSpPr>
            <a:spLocks xmlns:a="http://schemas.openxmlformats.org/drawingml/2006/main" noGrp="1"/>
          </p:cNvSpPr>
          <p:nvPr/>
        </p:nvSpPr>
        <p:spPr>
          <a:xfrm xmlns:a="http://schemas.openxmlformats.org/drawingml/2006/main">
            <a:off x="8257032" y="4224528"/>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Evaluate a classifier honestly: AUC, calibration, and a capacity-driven threshold</a:t>
            </a:r>
            <a:endParaRPr sz="1150"/>
          </a:p>
        </p:txBody>
      </p:sp>
      <p:sp>
        <p:nvSpPr>
          <p:cNvPr id="26" name="Shape 23">
            <a:extLst xmlns:a="http://schemas.openxmlformats.org/drawingml/2006/main">
              <a:ext uri="{FF2B5EF4-FFF2-40B4-BE49-F238E27FC236}">
                <a16:creationId xmlns:a16="http://schemas.microsoft.com/office/drawing/2014/main" id="{4FC1C749-47B0-4D64-9ADF-7F2D46CF492F}"/>
              </a:ext>
            </a:extLst>
          </p:cNvPr>
          <p:cNvSpPr>
            <a:spLocks xmlns:a="http://schemas.openxmlformats.org/drawingml/2006/main" noGrp="1"/>
          </p:cNvSpPr>
          <p:nvPr/>
        </p:nvSpPr>
        <p:spPr>
          <a:xfrm xmlns:a="http://schemas.openxmlformats.org/drawingml/2006/main">
            <a:off x="7818120" y="4901184"/>
            <a:ext cx="310896" cy="310896"/>
          </a:xfrm>
          <a:prstGeom xmlns:a="http://schemas.openxmlformats.org/drawingml/2006/main" prst="ellipse">
            <a:avLst/>
          </a:prstGeom>
          <a:solidFill xmlns:a="http://schemas.openxmlformats.org/drawingml/2006/main">
            <a:srgbClr val="0E7C86"/>
          </a:solidFill>
        </p:spPr>
      </p:sp>
      <p:sp>
        <p:nvSpPr>
          <p:cNvPr id="27" name="Text 24">
            <a:extLst xmlns:a="http://schemas.openxmlformats.org/drawingml/2006/main">
              <a:ext uri="{FF2B5EF4-FFF2-40B4-BE49-F238E27FC236}">
                <a16:creationId xmlns:a16="http://schemas.microsoft.com/office/drawing/2014/main" id="{1E3647DA-B85C-4E12-AF84-FDFDBAADF566}"/>
              </a:ext>
            </a:extLst>
          </p:cNvPr>
          <p:cNvSpPr>
            <a:spLocks xmlns:a="http://schemas.openxmlformats.org/drawingml/2006/main" noGrp="1"/>
          </p:cNvSpPr>
          <p:nvPr/>
        </p:nvSpPr>
        <p:spPr>
          <a:xfrm xmlns:a="http://schemas.openxmlformats.org/drawingml/2006/main">
            <a:off x="7818120" y="490118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6.5</a:t>
            </a:r>
            <a:endParaRPr sz="1100"/>
          </a:p>
        </p:txBody>
      </p:sp>
      <p:sp>
        <p:nvSpPr>
          <p:cNvPr id="28" name="Text 25">
            <a:extLst xmlns:a="http://schemas.openxmlformats.org/drawingml/2006/main">
              <a:ext uri="{FF2B5EF4-FFF2-40B4-BE49-F238E27FC236}">
                <a16:creationId xmlns:a16="http://schemas.microsoft.com/office/drawing/2014/main" id="{C5F889C5-F84B-4DAD-BC56-8025CD694026}"/>
              </a:ext>
            </a:extLst>
          </p:cNvPr>
          <p:cNvSpPr>
            <a:spLocks xmlns:a="http://schemas.openxmlformats.org/drawingml/2006/main" noGrp="1"/>
          </p:cNvSpPr>
          <p:nvPr/>
        </p:nvSpPr>
        <p:spPr>
          <a:xfrm xmlns:a="http://schemas.openxmlformats.org/drawingml/2006/main">
            <a:off x="8257032" y="4882896"/>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Use robust (HC3) standard errors as the default for observational data</a:t>
            </a:r>
            <a:endParaRPr sz="1150"/>
          </a:p>
        </p:txBody>
      </p:sp>
    </p:spTree>
    <p:extLst>
      <p:ext uri="{BB962C8B-B14F-4D97-AF65-F5344CB8AC3E}">
        <p14:creationId xmlns:p14="http://schemas.microsoft.com/office/powerpoint/2010/main" val="1361710328"/>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678367D-3C41-4331-BBE0-A52621E8CCC0}"/>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15AB8F71-C8A3-436B-8ADC-7B02D2DC8EED}"/>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62</a:t>
            </a:r>
            <a:endParaRPr sz="900"/>
          </a:p>
        </p:txBody>
      </p:sp>
      <p:sp>
        <p:nvSpPr>
          <p:cNvPr id="4" name="Shape 2">
            <a:extLst xmlns:a="http://schemas.openxmlformats.org/drawingml/2006/main">
              <a:ext uri="{FF2B5EF4-FFF2-40B4-BE49-F238E27FC236}">
                <a16:creationId xmlns:a16="http://schemas.microsoft.com/office/drawing/2014/main" id="{D984807A-52BC-4C38-8737-229B3E9782B0}"/>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A1E3C152-6B1C-4CF2-8422-98102EDA0695}"/>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6</a:t>
            </a:r>
            <a:endParaRPr sz="1050"/>
          </a:p>
        </p:txBody>
      </p:sp>
      <p:sp>
        <p:nvSpPr>
          <p:cNvPr id="6" name="Text 4">
            <a:extLst xmlns:a="http://schemas.openxmlformats.org/drawingml/2006/main">
              <a:ext uri="{FF2B5EF4-FFF2-40B4-BE49-F238E27FC236}">
                <a16:creationId xmlns:a16="http://schemas.microsoft.com/office/drawing/2014/main" id="{6890A39B-C41D-4471-9275-822CB48A4371}"/>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What drives waiting? OLS on log(wait)</a:t>
            </a:r>
            <a:endParaRPr sz="2800"/>
          </a:p>
        </p:txBody>
      </p:sp>
      <p:sp>
        <p:nvSpPr>
          <p:cNvPr id="7" name="Text 5">
            <a:extLst xmlns:a="http://schemas.openxmlformats.org/drawingml/2006/main">
              <a:ext uri="{FF2B5EF4-FFF2-40B4-BE49-F238E27FC236}">
                <a16:creationId xmlns:a16="http://schemas.microsoft.com/office/drawing/2014/main" id="{2A3B7A83-9936-400C-A954-84B8B66A30BC}"/>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smf.ols('np.log(wait_time_min) ~ is_peak_hour + staff_on_shift + rural + clinic_type', …).fit(cov_type='HC3')</a:t>
            </a:r>
            <a:endParaRPr sz="1350"/>
          </a:p>
        </p:txBody>
      </p:sp>
      <p:graphicFrame>
        <p:nvGraphicFramePr>
          <p:cNvPr id="23" name="Table 0"/>
          <p:cNvGraphicFramePr/>
          <p:nvPr/>
        </p:nvGraphicFramePr>
        <p:xfrm>
          <a:off xmlns:a="http://schemas.openxmlformats.org/drawingml/2006/main" x="502920" y="1837944"/>
          <a:ext xmlns:a="http://schemas.openxmlformats.org/drawingml/2006/main" cx="6675120" cy="914400"/>
        </p:xfrm>
        <a:graphic xmlns:a="http://schemas.openxmlformats.org/drawingml/2006/main">
          <a:graphicData uri="http://schemas.openxmlformats.org/drawingml/2006/table">
            <a:tbl>
              <a:tblPr/>
              <a:tblGrid>
                <a:gridCol w="2286000"/>
                <a:gridCol w="1554480"/>
                <a:gridCol w="2834640"/>
              </a:tblGrid>
              <a:tr h="512064">
                <a:tc>
                  <a:txBody>
                    <a:bodyPr/>
                    <a:lstStyle/>
                    <a:p>
                      <a:pPr marL="0" indent="0">
                        <a:buNone/>
                      </a:pPr>
                      <a:r>
                        <a:rPr sz="1100" b="1">
                          <a:solidFill>
                            <a:srgbClr val="FFFFFF"/>
                          </a:solidFill>
                          <a:latin typeface="Calibri"/>
                          <a:ea typeface="Calibri"/>
                          <a:cs typeface="Calibri"/>
                        </a:rPr>
                        <a:t>Term</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00" b="1">
                          <a:solidFill>
                            <a:srgbClr val="FFFFFF"/>
                          </a:solidFill>
                          <a:latin typeface="Calibri"/>
                          <a:ea typeface="Calibri"/>
                          <a:cs typeface="Calibri"/>
                        </a:rPr>
                        <a:t>Coef (log scale)</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00" b="1">
                          <a:solidFill>
                            <a:srgbClr val="FFFFFF"/>
                          </a:solidFill>
                          <a:latin typeface="Calibri"/>
                          <a:ea typeface="Calibri"/>
                          <a:cs typeface="Calibri"/>
                        </a:rPr>
                        <a:t>Plain-language effect</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r>
              <a:tr h="512064">
                <a:tc>
                  <a:txBody>
                    <a:bodyPr/>
                    <a:lstStyle/>
                    <a:p>
                      <a:pPr marL="0" indent="0">
                        <a:buNone/>
                      </a:pPr>
                      <a:r>
                        <a:rPr sz="1100">
                          <a:solidFill>
                            <a:srgbClr val="24313A"/>
                          </a:solidFill>
                          <a:latin typeface="Calibri"/>
                          <a:ea typeface="Calibri"/>
                          <a:cs typeface="Calibri"/>
                        </a:rPr>
                        <a:t>Peak hour</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+0.22</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 +25% longer waits during peak (e^0.22)</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512064">
                <a:tc>
                  <a:txBody>
                    <a:bodyPr/>
                    <a:lstStyle/>
                    <a:p>
                      <a:pPr marL="0" indent="0">
                        <a:buNone/>
                      </a:pPr>
                      <a:r>
                        <a:rPr sz="1100">
                          <a:solidFill>
                            <a:srgbClr val="24313A"/>
                          </a:solidFill>
                          <a:latin typeface="Calibri"/>
                          <a:ea typeface="Calibri"/>
                          <a:cs typeface="Calibri"/>
                        </a:rPr>
                        <a:t>Staff on shift (per person)</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−0.09</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 −9% wait per additional staff member</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512064">
                <a:tc>
                  <a:txBody>
                    <a:bodyPr/>
                    <a:lstStyle/>
                    <a:p>
                      <a:pPr marL="0" indent="0">
                        <a:buNone/>
                      </a:pPr>
                      <a:r>
                        <a:rPr sz="1100">
                          <a:solidFill>
                            <a:srgbClr val="24313A"/>
                          </a:solidFill>
                          <a:latin typeface="Calibri"/>
                          <a:ea typeface="Calibri"/>
                          <a:cs typeface="Calibri"/>
                        </a:rPr>
                        <a:t>Rural clinic</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+0.10</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 +11% longer waits in rural clinics</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512064">
                <a:tc>
                  <a:txBody>
                    <a:bodyPr/>
                    <a:lstStyle/>
                    <a:p>
                      <a:pPr marL="0" indent="0">
                        <a:buNone/>
                      </a:pPr>
                      <a:r>
                        <a:rPr sz="1100">
                          <a:solidFill>
                            <a:srgbClr val="24313A"/>
                          </a:solidFill>
                          <a:latin typeface="Calibri"/>
                          <a:ea typeface="Calibri"/>
                          <a:cs typeface="Calibri"/>
                        </a:rPr>
                        <a:t>Adjusted R²</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0.22</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00">
                          <a:solidFill>
                            <a:srgbClr val="24313A"/>
                          </a:solidFill>
                          <a:latin typeface="Calibri"/>
                          <a:ea typeface="Calibri"/>
                          <a:cs typeface="Calibri"/>
                        </a:rPr>
                        <a:t>Structure explains ~22% of variance — waits are mostly idiosyncratic</a:t>
                      </a:r>
                      <a:endParaRPr sz="110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bl>
          </a:graphicData>
        </a:graphic>
      </p:graphicFrame>
      <p:sp>
        <p:nvSpPr>
          <p:cNvPr id="9" name="Shape 6">
            <a:extLst xmlns:a="http://schemas.openxmlformats.org/drawingml/2006/main">
              <a:ext uri="{FF2B5EF4-FFF2-40B4-BE49-F238E27FC236}">
                <a16:creationId xmlns:a16="http://schemas.microsoft.com/office/drawing/2014/main" id="{5E4EA429-1147-4A21-9CB9-771D93222C29}"/>
              </a:ext>
            </a:extLst>
          </p:cNvPr>
          <p:cNvSpPr>
            <a:spLocks xmlns:a="http://schemas.openxmlformats.org/drawingml/2006/main" noGrp="1"/>
          </p:cNvSpPr>
          <p:nvPr/>
        </p:nvSpPr>
        <p:spPr>
          <a:xfrm xmlns:a="http://schemas.openxmlformats.org/drawingml/2006/main">
            <a:off x="502920" y="4672584"/>
            <a:ext cx="6675120" cy="1737360"/>
          </a:xfrm>
          <a:prstGeom xmlns:a="http://schemas.openxmlformats.org/drawingml/2006/main" prst="roundRect">
            <a:avLst>
              <a:gd name="adj" fmla="val 4737"/>
            </a:avLst>
          </a:prstGeom>
          <a:solidFill xmlns:a="http://schemas.openxmlformats.org/drawingml/2006/main">
            <a:srgbClr val="F3F8F9"/>
          </a:solidFill>
        </p:spPr>
      </p:sp>
      <p:sp>
        <p:nvSpPr>
          <p:cNvPr id="10" name="Text 7">
            <a:extLst xmlns:a="http://schemas.openxmlformats.org/drawingml/2006/main">
              <a:ext uri="{FF2B5EF4-FFF2-40B4-BE49-F238E27FC236}">
                <a16:creationId xmlns:a16="http://schemas.microsoft.com/office/drawing/2014/main" id="{EBFFBD7D-043B-4854-9835-792046744989}"/>
              </a:ext>
            </a:extLst>
          </p:cNvPr>
          <p:cNvSpPr>
            <a:spLocks xmlns:a="http://schemas.openxmlformats.org/drawingml/2006/main" noGrp="1"/>
          </p:cNvSpPr>
          <p:nvPr/>
        </p:nvSpPr>
        <p:spPr>
          <a:xfrm xmlns:a="http://schemas.openxmlformats.org/drawingml/2006/main">
            <a:off x="822960" y="4855464"/>
            <a:ext cx="5943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Why log(wait)?</a:t>
            </a:r>
            <a:endParaRPr sz="1350"/>
          </a:p>
        </p:txBody>
      </p:sp>
      <p:sp>
        <p:nvSpPr>
          <p:cNvPr id="11" name="Text 8">
            <a:extLst xmlns:a="http://schemas.openxmlformats.org/drawingml/2006/main">
              <a:ext uri="{FF2B5EF4-FFF2-40B4-BE49-F238E27FC236}">
                <a16:creationId xmlns:a16="http://schemas.microsoft.com/office/drawing/2014/main" id="{1F2F6406-A2ED-43F7-B561-EB1F5C00026C}"/>
              </a:ext>
            </a:extLst>
          </p:cNvPr>
          <p:cNvSpPr>
            <a:spLocks xmlns:a="http://schemas.openxmlformats.org/drawingml/2006/main" noGrp="1"/>
          </p:cNvSpPr>
          <p:nvPr/>
        </p:nvSpPr>
        <p:spPr>
          <a:xfrm xmlns:a="http://schemas.openxmlformats.org/drawingml/2006/main">
            <a:off x="822960" y="5221224"/>
            <a:ext cx="60350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500"/>
              </a:spcAft>
              <a:buSzPct val="100000"/>
              <a:buChar char="•"/>
            </a:pPr>
            <a:r>
              <a:rPr sz="1080">
                <a:solidFill>
                  <a:srgbClr val="24313A"/>
                </a:solidFill>
                <a:latin typeface="Calibri"/>
                <a:ea typeface="Calibri"/>
                <a:cs typeface="Calibri"/>
              </a:rPr>
              <a:t>Raw waits are right-skewed (+1.7); residuals on the raw scale violate the model's assumptions in the tail</a:t>
            </a:r>
            <a:endParaRPr sz="1080"/>
          </a:p>
          <a:p xmlns:a="http://schemas.openxmlformats.org/drawingml/2006/main">
            <a:pPr marL="152400" indent="-152400">
              <a:lnSpc>
                <a:spcPct val="104000"/>
              </a:lnSpc>
              <a:spcAft>
                <a:spcPts val="500"/>
              </a:spcAft>
              <a:buSzPct val="100000"/>
              <a:buChar char="•"/>
            </a:pPr>
            <a:r>
              <a:rPr sz="1080">
                <a:solidFill>
                  <a:srgbClr val="24313A"/>
                </a:solidFill>
                <a:latin typeface="Calibri"/>
                <a:ea typeface="Calibri"/>
                <a:cs typeface="Calibri"/>
              </a:rPr>
              <a:t>On the log scale effects are multiplicative — '9% faster per staff member' is how operations actually thinks</a:t>
            </a:r>
            <a:endParaRPr sz="1080"/>
          </a:p>
        </p:txBody>
      </p:sp>
      <p:sp>
        <p:nvSpPr>
          <p:cNvPr id="12" name="Shape 9">
            <a:extLst xmlns:a="http://schemas.openxmlformats.org/drawingml/2006/main">
              <a:ext uri="{FF2B5EF4-FFF2-40B4-BE49-F238E27FC236}">
                <a16:creationId xmlns:a16="http://schemas.microsoft.com/office/drawing/2014/main" id="{9160207E-F540-4C6E-BB5D-0DFD3F0B270F}"/>
              </a:ext>
            </a:extLst>
          </p:cNvPr>
          <p:cNvSpPr>
            <a:spLocks xmlns:a="http://schemas.openxmlformats.org/drawingml/2006/main" noGrp="1"/>
          </p:cNvSpPr>
          <p:nvPr/>
        </p:nvSpPr>
        <p:spPr>
          <a:xfrm xmlns:a="http://schemas.openxmlformats.org/drawingml/2006/main">
            <a:off x="7406640" y="1837944"/>
            <a:ext cx="4297680" cy="4572000"/>
          </a:xfrm>
          <a:prstGeom xmlns:a="http://schemas.openxmlformats.org/drawingml/2006/main" prst="roundRect">
            <a:avLst>
              <a:gd name="adj" fmla="val 1915"/>
            </a:avLst>
          </a:prstGeom>
          <a:solidFill xmlns:a="http://schemas.openxmlformats.org/drawingml/2006/main">
            <a:srgbClr val="0B3140"/>
          </a:solidFill>
        </p:spPr>
      </p:sp>
      <p:sp>
        <p:nvSpPr>
          <p:cNvPr id="13" name="Text 10">
            <a:extLst xmlns:a="http://schemas.openxmlformats.org/drawingml/2006/main">
              <a:ext uri="{FF2B5EF4-FFF2-40B4-BE49-F238E27FC236}">
                <a16:creationId xmlns:a16="http://schemas.microsoft.com/office/drawing/2014/main" id="{41248700-ACE1-4594-BDFD-4D2745CD2E47}"/>
              </a:ext>
            </a:extLst>
          </p:cNvPr>
          <p:cNvSpPr>
            <a:spLocks xmlns:a="http://schemas.openxmlformats.org/drawingml/2006/main" noGrp="1"/>
          </p:cNvSpPr>
          <p:nvPr/>
        </p:nvSpPr>
        <p:spPr>
          <a:xfrm xmlns:a="http://schemas.openxmlformats.org/drawingml/2006/main">
            <a:off x="7726680" y="2066544"/>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FB3BC"/>
                </a:solidFill>
                <a:latin typeface="Calibri"/>
                <a:ea typeface="Calibri"/>
                <a:cs typeface="Calibri"/>
              </a:rPr>
              <a:t>READ A COEFFICIENT LIKE A PRO</a:t>
            </a:r>
            <a:endParaRPr sz="1050"/>
          </a:p>
        </p:txBody>
      </p:sp>
      <p:sp>
        <p:nvSpPr>
          <p:cNvPr id="14" name="Text 11">
            <a:extLst xmlns:a="http://schemas.openxmlformats.org/drawingml/2006/main">
              <a:ext uri="{FF2B5EF4-FFF2-40B4-BE49-F238E27FC236}">
                <a16:creationId xmlns:a16="http://schemas.microsoft.com/office/drawing/2014/main" id="{94A0A096-0750-4484-BCB8-2D2B335455C9}"/>
              </a:ext>
            </a:extLst>
          </p:cNvPr>
          <p:cNvSpPr>
            <a:spLocks xmlns:a="http://schemas.openxmlformats.org/drawingml/2006/main" noGrp="1"/>
          </p:cNvSpPr>
          <p:nvPr/>
        </p:nvSpPr>
        <p:spPr>
          <a:xfrm xmlns:a="http://schemas.openxmlformats.org/drawingml/2006/main">
            <a:off x="7726680" y="2478024"/>
            <a:ext cx="370332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800"/>
              </a:spcAft>
              <a:buSzPct val="100000"/>
              <a:buChar char="•"/>
            </a:pPr>
            <a:r>
              <a:rPr sz="1130">
                <a:solidFill>
                  <a:srgbClr val="E8F1F2"/>
                </a:solidFill>
                <a:latin typeface="Calibri"/>
                <a:ea typeface="Calibri"/>
                <a:cs typeface="Calibri"/>
              </a:rPr>
              <a:t>“Holding the other terms fixed…” — every interpretation starts here</a:t>
            </a:r>
            <a:endParaRPr sz="1130"/>
          </a:p>
          <a:p xmlns:a="http://schemas.openxmlformats.org/drawingml/2006/main">
            <a:pPr marL="152400" indent="-152400">
              <a:lnSpc>
                <a:spcPct val="104000"/>
              </a:lnSpc>
              <a:spcAft>
                <a:spcPts val="800"/>
              </a:spcAft>
              <a:buSzPct val="100000"/>
              <a:buChar char="•"/>
            </a:pPr>
            <a:r>
              <a:rPr sz="1130">
                <a:solidFill>
                  <a:srgbClr val="E8F1F2"/>
                </a:solidFill>
                <a:latin typeface="Calibri"/>
                <a:ea typeface="Calibri"/>
                <a:cs typeface="Calibri"/>
              </a:rPr>
              <a:t>Adjustment ≠ causation: the model equalises only what's IN it</a:t>
            </a:r>
            <a:endParaRPr sz="1130"/>
          </a:p>
          <a:p xmlns:a="http://schemas.openxmlformats.org/drawingml/2006/main">
            <a:pPr marL="152400" indent="-152400">
              <a:lnSpc>
                <a:spcPct val="104000"/>
              </a:lnSpc>
              <a:spcAft>
                <a:spcPts val="800"/>
              </a:spcAft>
              <a:buSzPct val="100000"/>
              <a:buChar char="•"/>
            </a:pPr>
            <a:r>
              <a:rPr sz="1130">
                <a:solidFill>
                  <a:srgbClr val="E8F1F2"/>
                </a:solidFill>
                <a:latin typeface="Calibri"/>
                <a:ea typeface="Calibri"/>
                <a:cs typeface="Calibri"/>
              </a:rPr>
              <a:t>HC3 robust SEs by default — heteroskedastic service data punishes the classical formula</a:t>
            </a:r>
            <a:endParaRPr sz="1130"/>
          </a:p>
          <a:p xmlns:a="http://schemas.openxmlformats.org/drawingml/2006/main">
            <a:pPr marL="152400" indent="-152400">
              <a:lnSpc>
                <a:spcPct val="104000"/>
              </a:lnSpc>
              <a:spcAft>
                <a:spcPts val="800"/>
              </a:spcAft>
              <a:buSzPct val="100000"/>
              <a:buChar char="•"/>
            </a:pPr>
            <a:r>
              <a:rPr sz="1130">
                <a:solidFill>
                  <a:srgbClr val="E8F1F2"/>
                </a:solidFill>
                <a:latin typeface="Calibri"/>
                <a:ea typeface="Calibri"/>
                <a:cs typeface="Calibri"/>
              </a:rPr>
              <a:t>R² = 0.22 is honest, not embarrassing: human-behaviour outcomes live here</a:t>
            </a:r>
            <a:endParaRPr sz="1130"/>
          </a:p>
        </p:txBody>
      </p:sp>
      <p:sp>
        <p:nvSpPr>
          <p:cNvPr id="15" name="Text 12">
            <a:extLst xmlns:a="http://schemas.openxmlformats.org/drawingml/2006/main">
              <a:ext uri="{FF2B5EF4-FFF2-40B4-BE49-F238E27FC236}">
                <a16:creationId xmlns:a16="http://schemas.microsoft.com/office/drawing/2014/main" id="{880BD3D1-CB3E-481B-9C83-8B364EAB9D06}"/>
              </a:ext>
            </a:extLst>
          </p:cNvPr>
          <p:cNvSpPr>
            <a:spLocks xmlns:a="http://schemas.openxmlformats.org/drawingml/2006/main" noGrp="1"/>
          </p:cNvSpPr>
          <p:nvPr/>
        </p:nvSpPr>
        <p:spPr>
          <a:xfrm xmlns:a="http://schemas.openxmlformats.org/drawingml/2006/main">
            <a:off x="7726680" y="5449824"/>
            <a:ext cx="37033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50" i="1">
                <a:solidFill>
                  <a:srgbClr val="AECBD1"/>
                </a:solidFill>
                <a:latin typeface="Calibri"/>
                <a:ea typeface="Calibri"/>
                <a:cs typeface="Calibri"/>
              </a:rPr>
              <a:t>Diagnostics ritual: residuals-vs-fitted, Q–Q plot, and a leverage glance — 90 seconds per model, every model.</a:t>
            </a:r>
            <a:endParaRPr sz="1050"/>
          </a:p>
        </p:txBody>
      </p:sp>
    </p:spTree>
    <p:extLst>
      <p:ext uri="{BB962C8B-B14F-4D97-AF65-F5344CB8AC3E}">
        <p14:creationId xmlns:p14="http://schemas.microsoft.com/office/powerpoint/2010/main" val="1642036981"/>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157F881-2941-44FF-A86A-34F27238018C}"/>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D54DBFB4-1C14-4EB7-AEA7-74BD8B0F3724}"/>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63</a:t>
            </a:r>
            <a:endParaRPr sz="900"/>
          </a:p>
        </p:txBody>
      </p:sp>
      <p:sp>
        <p:nvSpPr>
          <p:cNvPr id="4" name="Shape 2">
            <a:extLst xmlns:a="http://schemas.openxmlformats.org/drawingml/2006/main">
              <a:ext uri="{FF2B5EF4-FFF2-40B4-BE49-F238E27FC236}">
                <a16:creationId xmlns:a16="http://schemas.microsoft.com/office/drawing/2014/main" id="{A81EB95D-E384-4DBD-ABE3-AE86483BEA52}"/>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85B14370-147D-4917-9648-A6B71C766F87}"/>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6</a:t>
            </a:r>
            <a:endParaRPr sz="1050"/>
          </a:p>
        </p:txBody>
      </p:sp>
      <p:sp>
        <p:nvSpPr>
          <p:cNvPr id="6" name="Text 4">
            <a:extLst xmlns:a="http://schemas.openxmlformats.org/drawingml/2006/main">
              <a:ext uri="{FF2B5EF4-FFF2-40B4-BE49-F238E27FC236}">
                <a16:creationId xmlns:a16="http://schemas.microsoft.com/office/drawing/2014/main" id="{96202142-A6A3-40CB-8497-A01E63601631}"/>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Modelling the no-show: logistic regression</a:t>
            </a:r>
            <a:endParaRPr sz="2800"/>
          </a:p>
        </p:txBody>
      </p:sp>
      <p:sp>
        <p:nvSpPr>
          <p:cNvPr id="7" name="Text 5">
            <a:extLst xmlns:a="http://schemas.openxmlformats.org/drawingml/2006/main">
              <a:ext uri="{FF2B5EF4-FFF2-40B4-BE49-F238E27FC236}">
                <a16:creationId xmlns:a16="http://schemas.microsoft.com/office/drawing/2014/main" id="{825C31EC-630A-4259-9CA3-6C65981CB137}"/>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Why not a straight line — and how a coefficient becomes an odds ratio</a:t>
            </a:r>
            <a:endParaRPr sz="1350"/>
          </a:p>
        </p:txBody>
      </p:sp>
      <p:sp>
        <p:nvSpPr>
          <p:cNvPr id="8" name="Shape 6">
            <a:extLst xmlns:a="http://schemas.openxmlformats.org/drawingml/2006/main">
              <a:ext uri="{FF2B5EF4-FFF2-40B4-BE49-F238E27FC236}">
                <a16:creationId xmlns:a16="http://schemas.microsoft.com/office/drawing/2014/main" id="{8B07B02B-94DB-44A7-9052-CEE8EB8530FA}"/>
              </a:ext>
            </a:extLst>
          </p:cNvPr>
          <p:cNvSpPr>
            <a:spLocks xmlns:a="http://schemas.openxmlformats.org/drawingml/2006/main" noGrp="1"/>
          </p:cNvSpPr>
          <p:nvPr/>
        </p:nvSpPr>
        <p:spPr>
          <a:xfrm xmlns:a="http://schemas.openxmlformats.org/drawingml/2006/main">
            <a:off x="502920" y="1819656"/>
            <a:ext cx="5486400" cy="2240280"/>
          </a:xfrm>
          <a:prstGeom xmlns:a="http://schemas.openxmlformats.org/drawingml/2006/main" prst="roundRect">
            <a:avLst>
              <a:gd name="adj" fmla="val 3673"/>
            </a:avLst>
          </a:prstGeom>
          <a:solidFill xmlns:a="http://schemas.openxmlformats.org/drawingml/2006/main">
            <a:srgbClr val="F3F8F9"/>
          </a:solidFill>
        </p:spPr>
      </p:sp>
      <p:sp>
        <p:nvSpPr>
          <p:cNvPr id="9" name="Text 7">
            <a:extLst xmlns:a="http://schemas.openxmlformats.org/drawingml/2006/main">
              <a:ext uri="{FF2B5EF4-FFF2-40B4-BE49-F238E27FC236}">
                <a16:creationId xmlns:a16="http://schemas.microsoft.com/office/drawing/2014/main" id="{F6F24005-ACD0-429B-921E-E48D50279D6E}"/>
              </a:ext>
            </a:extLst>
          </p:cNvPr>
          <p:cNvSpPr>
            <a:spLocks xmlns:a="http://schemas.openxmlformats.org/drawingml/2006/main" noGrp="1"/>
          </p:cNvSpPr>
          <p:nvPr/>
        </p:nvSpPr>
        <p:spPr>
          <a:xfrm xmlns:a="http://schemas.openxmlformats.org/drawingml/2006/main">
            <a:off x="822960" y="2002536"/>
            <a:ext cx="4572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Why logistic</a:t>
            </a:r>
            <a:endParaRPr sz="1350"/>
          </a:p>
        </p:txBody>
      </p:sp>
      <p:sp>
        <p:nvSpPr>
          <p:cNvPr id="10" name="Text 8">
            <a:extLst xmlns:a="http://schemas.openxmlformats.org/drawingml/2006/main">
              <a:ext uri="{FF2B5EF4-FFF2-40B4-BE49-F238E27FC236}">
                <a16:creationId xmlns:a16="http://schemas.microsoft.com/office/drawing/2014/main" id="{F17C3DD6-B514-4339-B265-F4751C27B03F}"/>
              </a:ext>
            </a:extLst>
          </p:cNvPr>
          <p:cNvSpPr>
            <a:spLocks xmlns:a="http://schemas.openxmlformats.org/drawingml/2006/main" noGrp="1"/>
          </p:cNvSpPr>
          <p:nvPr/>
        </p:nvSpPr>
        <p:spPr>
          <a:xfrm xmlns:a="http://schemas.openxmlformats.org/drawingml/2006/main">
            <a:off x="822960" y="2386584"/>
            <a:ext cx="49377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600"/>
              </a:spcAft>
              <a:buSzPct val="100000"/>
              <a:buChar char="•"/>
            </a:pPr>
            <a:r>
              <a:rPr sz="1100">
                <a:solidFill>
                  <a:srgbClr val="24313A"/>
                </a:solidFill>
                <a:latin typeface="Calibri"/>
                <a:ea typeface="Calibri"/>
                <a:cs typeface="Calibri"/>
              </a:rPr>
              <a:t>Outcome is 0/1 — a line predicts probabilities below 0 and above 1</a:t>
            </a:r>
            <a:endParaRPr sz="1100"/>
          </a:p>
          <a:p xmlns:a="http://schemas.openxmlformats.org/drawingml/2006/main">
            <a:pPr marL="152400" indent="-152400">
              <a:lnSpc>
                <a:spcPct val="104000"/>
              </a:lnSpc>
              <a:spcAft>
                <a:spcPts val="600"/>
              </a:spcAft>
              <a:buSzPct val="100000"/>
              <a:buChar char="•"/>
            </a:pPr>
            <a:r>
              <a:rPr sz="1100">
                <a:solidFill>
                  <a:srgbClr val="24313A"/>
                </a:solidFill>
                <a:latin typeface="Calibri"/>
                <a:ea typeface="Calibri"/>
                <a:cs typeface="Calibri"/>
              </a:rPr>
              <a:t>The S-curve maps any score into (0, 1)</a:t>
            </a:r>
            <a:endParaRPr sz="1100"/>
          </a:p>
          <a:p xmlns:a="http://schemas.openxmlformats.org/drawingml/2006/main">
            <a:pPr marL="152400" indent="-152400">
              <a:lnSpc>
                <a:spcPct val="104000"/>
              </a:lnSpc>
              <a:spcAft>
                <a:spcPts val="600"/>
              </a:spcAft>
              <a:buSzPct val="100000"/>
              <a:buChar char="•"/>
            </a:pPr>
            <a:r>
              <a:rPr sz="1100">
                <a:solidFill>
                  <a:srgbClr val="24313A"/>
                </a:solidFill>
                <a:latin typeface="Calibri"/>
                <a:ea typeface="Calibri"/>
                <a:cs typeface="Calibri"/>
              </a:rPr>
              <a:t>Coefficients live on the log-odds scale: logit(p) = β₀ + β₁x₁ + …</a:t>
            </a:r>
            <a:endParaRPr sz="1100"/>
          </a:p>
        </p:txBody>
      </p:sp>
      <p:sp>
        <p:nvSpPr>
          <p:cNvPr id="11" name="Shape 9">
            <a:extLst xmlns:a="http://schemas.openxmlformats.org/drawingml/2006/main">
              <a:ext uri="{FF2B5EF4-FFF2-40B4-BE49-F238E27FC236}">
                <a16:creationId xmlns:a16="http://schemas.microsoft.com/office/drawing/2014/main" id="{5B9D228C-B271-46D2-9E73-DF74CD04C5BE}"/>
              </a:ext>
            </a:extLst>
          </p:cNvPr>
          <p:cNvSpPr>
            <a:spLocks xmlns:a="http://schemas.openxmlformats.org/drawingml/2006/main" noGrp="1"/>
          </p:cNvSpPr>
          <p:nvPr/>
        </p:nvSpPr>
        <p:spPr>
          <a:xfrm xmlns:a="http://schemas.openxmlformats.org/drawingml/2006/main">
            <a:off x="502920" y="4197096"/>
            <a:ext cx="5486400" cy="2240280"/>
          </a:xfrm>
          <a:prstGeom xmlns:a="http://schemas.openxmlformats.org/drawingml/2006/main" prst="roundRect">
            <a:avLst>
              <a:gd name="adj" fmla="val 3673"/>
            </a:avLst>
          </a:prstGeom>
          <a:solidFill xmlns:a="http://schemas.openxmlformats.org/drawingml/2006/main">
            <a:srgbClr val="E7F2F3"/>
          </a:solidFill>
        </p:spPr>
      </p:sp>
      <p:sp>
        <p:nvSpPr>
          <p:cNvPr id="12" name="Text 10">
            <a:extLst xmlns:a="http://schemas.openxmlformats.org/drawingml/2006/main">
              <a:ext uri="{FF2B5EF4-FFF2-40B4-BE49-F238E27FC236}">
                <a16:creationId xmlns:a16="http://schemas.microsoft.com/office/drawing/2014/main" id="{023602AC-AE52-436B-9BCE-5B54AF4F3745}"/>
              </a:ext>
            </a:extLst>
          </p:cNvPr>
          <p:cNvSpPr>
            <a:spLocks xmlns:a="http://schemas.openxmlformats.org/drawingml/2006/main" noGrp="1"/>
          </p:cNvSpPr>
          <p:nvPr/>
        </p:nvSpPr>
        <p:spPr>
          <a:xfrm xmlns:a="http://schemas.openxmlformats.org/drawingml/2006/main">
            <a:off x="822960" y="4379976"/>
            <a:ext cx="4754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C64"/>
                </a:solidFill>
                <a:latin typeface="Cambria"/>
                <a:ea typeface="Cambria"/>
                <a:cs typeface="Cambria"/>
              </a:rPr>
              <a:t>The bridge: coefficient → odds ratio</a:t>
            </a:r>
            <a:endParaRPr sz="1350"/>
          </a:p>
        </p:txBody>
      </p:sp>
      <p:sp>
        <p:nvSpPr>
          <p:cNvPr id="13" name="Text 11">
            <a:extLst xmlns:a="http://schemas.openxmlformats.org/drawingml/2006/main">
              <a:ext uri="{FF2B5EF4-FFF2-40B4-BE49-F238E27FC236}">
                <a16:creationId xmlns:a16="http://schemas.microsoft.com/office/drawing/2014/main" id="{65D04791-D6EF-4E73-BC13-44D9C6D6664B}"/>
              </a:ext>
            </a:extLst>
          </p:cNvPr>
          <p:cNvSpPr>
            <a:spLocks xmlns:a="http://schemas.openxmlformats.org/drawingml/2006/main" noGrp="1"/>
          </p:cNvSpPr>
          <p:nvPr/>
        </p:nvSpPr>
        <p:spPr>
          <a:xfrm xmlns:a="http://schemas.openxmlformats.org/drawingml/2006/main">
            <a:off x="822960" y="4764024"/>
            <a:ext cx="47548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C64"/>
                </a:solidFill>
                <a:latin typeface="Courier New"/>
                <a:ea typeface="Courier New"/>
                <a:cs typeface="Courier New"/>
              </a:rPr>
              <a:t>β(SMS) = −0.34   →   OR = e^(−0.34) = 0.71</a:t>
            </a:r>
            <a:endParaRPr sz="1350"/>
          </a:p>
        </p:txBody>
      </p:sp>
      <p:sp>
        <p:nvSpPr>
          <p:cNvPr id="14" name="Text 12">
            <a:extLst xmlns:a="http://schemas.openxmlformats.org/drawingml/2006/main">
              <a:ext uri="{FF2B5EF4-FFF2-40B4-BE49-F238E27FC236}">
                <a16:creationId xmlns:a16="http://schemas.microsoft.com/office/drawing/2014/main" id="{B40680DD-D304-4CA1-9C6D-DC3F0ECC16FA}"/>
              </a:ext>
            </a:extLst>
          </p:cNvPr>
          <p:cNvSpPr>
            <a:spLocks xmlns:a="http://schemas.openxmlformats.org/drawingml/2006/main" noGrp="1"/>
          </p:cNvSpPr>
          <p:nvPr/>
        </p:nvSpPr>
        <p:spPr>
          <a:xfrm xmlns:a="http://schemas.openxmlformats.org/drawingml/2006/main">
            <a:off x="822960" y="5202936"/>
            <a:ext cx="493776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500"/>
              </a:spcAft>
              <a:buSzPct val="100000"/>
              <a:buChar char="•"/>
            </a:pPr>
            <a:r>
              <a:rPr sz="1080">
                <a:solidFill>
                  <a:srgbClr val="24313A"/>
                </a:solidFill>
                <a:latin typeface="Calibri"/>
                <a:ea typeface="Calibri"/>
                <a:cs typeface="Calibri"/>
              </a:rPr>
              <a:t>“Adjusted for risk, geography, and lead time, SMS cuts the odds of a no-show by ~29%”</a:t>
            </a:r>
            <a:endParaRPr sz="1080"/>
          </a:p>
          <a:p xmlns:a="http://schemas.openxmlformats.org/drawingml/2006/main">
            <a:pPr marL="152400" indent="-152400">
              <a:lnSpc>
                <a:spcPct val="104000"/>
              </a:lnSpc>
              <a:spcAft>
                <a:spcPts val="500"/>
              </a:spcAft>
              <a:buSzPct val="100000"/>
              <a:buChar char="•"/>
            </a:pPr>
            <a:r>
              <a:rPr sz="1080">
                <a:solidFill>
                  <a:srgbClr val="24313A"/>
                </a:solidFill>
                <a:latin typeface="Calibri"/>
                <a:ea typeface="Calibri"/>
                <a:cs typeface="Calibri"/>
              </a:rPr>
              <a:t>OR &gt; 1 raises risk, OR &lt; 1 lowers it; CI excluding 1 ⇔ p &lt; .05</a:t>
            </a:r>
            <a:endParaRPr sz="1080"/>
          </a:p>
        </p:txBody>
      </p:sp>
      <p:sp>
        <p:nvSpPr>
          <p:cNvPr id="15" name="Shape 13">
            <a:extLst xmlns:a="http://schemas.openxmlformats.org/drawingml/2006/main">
              <a:ext uri="{FF2B5EF4-FFF2-40B4-BE49-F238E27FC236}">
                <a16:creationId xmlns:a16="http://schemas.microsoft.com/office/drawing/2014/main" id="{AD596D75-0869-49CE-9594-F1BA5ABA07DE}"/>
              </a:ext>
            </a:extLst>
          </p:cNvPr>
          <p:cNvSpPr>
            <a:spLocks xmlns:a="http://schemas.openxmlformats.org/drawingml/2006/main" noGrp="1"/>
          </p:cNvSpPr>
          <p:nvPr/>
        </p:nvSpPr>
        <p:spPr>
          <a:xfrm xmlns:a="http://schemas.openxmlformats.org/drawingml/2006/main">
            <a:off x="6263640" y="1819656"/>
            <a:ext cx="5440680" cy="4617720"/>
          </a:xfrm>
          <a:prstGeom xmlns:a="http://schemas.openxmlformats.org/drawingml/2006/main" prst="roundRect">
            <a:avLst>
              <a:gd name="adj" fmla="val 1782"/>
            </a:avLst>
          </a:prstGeom>
          <a:solidFill xmlns:a="http://schemas.openxmlformats.org/drawingml/2006/main">
            <a:srgbClr val="FFFFFF"/>
          </a:solidFill>
          <a:ln xmlns:a="http://schemas.openxmlformats.org/drawingml/2006/main" w="12700">
            <a:solidFill>
              <a:srgbClr val="D6E2E4"/>
            </a:solidFill>
            <a:prstDash val="solid"/>
          </a:ln>
        </p:spPr>
      </p:sp>
      <p:sp>
        <p:nvSpPr>
          <p:cNvPr id="16" name="Text 14">
            <a:extLst xmlns:a="http://schemas.openxmlformats.org/drawingml/2006/main">
              <a:ext uri="{FF2B5EF4-FFF2-40B4-BE49-F238E27FC236}">
                <a16:creationId xmlns:a16="http://schemas.microsoft.com/office/drawing/2014/main" id="{196D1404-C9AA-4499-AB48-0DE1F8DBD95D}"/>
              </a:ext>
            </a:extLst>
          </p:cNvPr>
          <p:cNvSpPr>
            <a:spLocks xmlns:a="http://schemas.openxmlformats.org/drawingml/2006/main" noGrp="1"/>
          </p:cNvSpPr>
          <p:nvPr/>
        </p:nvSpPr>
        <p:spPr>
          <a:xfrm xmlns:a="http://schemas.openxmlformats.org/drawingml/2006/main">
            <a:off x="6492240" y="1975104"/>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B3140"/>
                </a:solidFill>
                <a:latin typeface="Calibri"/>
                <a:ea typeface="Calibri"/>
                <a:cs typeface="Calibri"/>
              </a:rPr>
              <a:t>P(no-show) vs risk score (illustrative logistic curve)</a:t>
            </a:r>
            <a:endParaRPr sz="1100"/>
          </a:p>
        </p:txBody>
      </p:sp>
      <p:sp>
        <p:nvSpPr>
          <p:cNvPr id="17" name="Shape 15">
            <a:extLst xmlns:a="http://schemas.openxmlformats.org/drawingml/2006/main">
              <a:ext uri="{FF2B5EF4-FFF2-40B4-BE49-F238E27FC236}">
                <a16:creationId xmlns:a16="http://schemas.microsoft.com/office/drawing/2014/main" id="{B0839449-A475-4E6C-9EB5-163C426829AF}"/>
              </a:ext>
            </a:extLst>
          </p:cNvPr>
          <p:cNvSpPr>
            <a:spLocks xmlns:a="http://schemas.openxmlformats.org/drawingml/2006/main" noGrp="1"/>
          </p:cNvSpPr>
          <p:nvPr/>
        </p:nvSpPr>
        <p:spPr>
          <a:xfrm xmlns:a="http://schemas.openxmlformats.org/drawingml/2006/main">
            <a:off x="6720840" y="5952744"/>
            <a:ext cx="4663440" cy="0"/>
          </a:xfrm>
          <a:prstGeom xmlns:a="http://schemas.openxmlformats.org/drawingml/2006/main" prst="line">
            <a:avLst/>
          </a:prstGeom>
          <a:noFill xmlns:a="http://schemas.openxmlformats.org/drawingml/2006/main"/>
          <a:ln xmlns:a="http://schemas.openxmlformats.org/drawingml/2006/main" w="15875">
            <a:solidFill>
              <a:srgbClr val="5B6B75"/>
            </a:solidFill>
            <a:prstDash val="solid"/>
          </a:ln>
        </p:spPr>
      </p:sp>
      <p:sp>
        <p:nvSpPr>
          <p:cNvPr id="18" name="Shape 16">
            <a:extLst xmlns:a="http://schemas.openxmlformats.org/drawingml/2006/main">
              <a:ext uri="{FF2B5EF4-FFF2-40B4-BE49-F238E27FC236}">
                <a16:creationId xmlns:a16="http://schemas.microsoft.com/office/drawing/2014/main" id="{BA98F514-18CB-43A2-AAD9-24C6A41E0FA2}"/>
              </a:ext>
            </a:extLst>
          </p:cNvPr>
          <p:cNvSpPr>
            <a:spLocks xmlns:a="http://schemas.openxmlformats.org/drawingml/2006/main" noGrp="1"/>
          </p:cNvSpPr>
          <p:nvPr/>
        </p:nvSpPr>
        <p:spPr>
          <a:xfrm xmlns:a="http://schemas.openxmlformats.org/drawingml/2006/main">
            <a:off x="6720840" y="2432304"/>
            <a:ext cx="0" cy="3520440"/>
          </a:xfrm>
          <a:prstGeom xmlns:a="http://schemas.openxmlformats.org/drawingml/2006/main" prst="line">
            <a:avLst/>
          </a:prstGeom>
          <a:noFill xmlns:a="http://schemas.openxmlformats.org/drawingml/2006/main"/>
          <a:ln xmlns:a="http://schemas.openxmlformats.org/drawingml/2006/main" w="15875">
            <a:solidFill>
              <a:srgbClr val="5B6B75"/>
            </a:solidFill>
            <a:prstDash val="solid"/>
          </a:ln>
        </p:spPr>
      </p:sp>
      <p:sp>
        <p:nvSpPr>
          <p:cNvPr id="19" name="Text 17">
            <a:extLst xmlns:a="http://schemas.openxmlformats.org/drawingml/2006/main">
              <a:ext uri="{FF2B5EF4-FFF2-40B4-BE49-F238E27FC236}">
                <a16:creationId xmlns:a16="http://schemas.microsoft.com/office/drawing/2014/main" id="{275E65DB-03E3-458A-8F7B-0C1487D61513}"/>
              </a:ext>
            </a:extLst>
          </p:cNvPr>
          <p:cNvSpPr>
            <a:spLocks xmlns:a="http://schemas.openxmlformats.org/drawingml/2006/main" noGrp="1"/>
          </p:cNvSpPr>
          <p:nvPr/>
        </p:nvSpPr>
        <p:spPr>
          <a:xfrm xmlns:a="http://schemas.openxmlformats.org/drawingml/2006/main">
            <a:off x="6263640" y="5843016"/>
            <a:ext cx="365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B75"/>
                </a:solidFill>
                <a:latin typeface="Calibri"/>
                <a:ea typeface="Calibri"/>
                <a:cs typeface="Calibri"/>
              </a:rPr>
              <a:t>0</a:t>
            </a:r>
            <a:endParaRPr sz="900"/>
          </a:p>
        </p:txBody>
      </p:sp>
      <p:sp>
        <p:nvSpPr>
          <p:cNvPr id="20" name="Text 18">
            <a:extLst xmlns:a="http://schemas.openxmlformats.org/drawingml/2006/main">
              <a:ext uri="{FF2B5EF4-FFF2-40B4-BE49-F238E27FC236}">
                <a16:creationId xmlns:a16="http://schemas.microsoft.com/office/drawing/2014/main" id="{A10CEE0A-18A3-4F5F-B6D9-4D3DBE011D8B}"/>
              </a:ext>
            </a:extLst>
          </p:cNvPr>
          <p:cNvSpPr>
            <a:spLocks xmlns:a="http://schemas.openxmlformats.org/drawingml/2006/main" noGrp="1"/>
          </p:cNvSpPr>
          <p:nvPr/>
        </p:nvSpPr>
        <p:spPr>
          <a:xfrm xmlns:a="http://schemas.openxmlformats.org/drawingml/2006/main">
            <a:off x="6263640" y="4082796"/>
            <a:ext cx="365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B75"/>
                </a:solidFill>
                <a:latin typeface="Calibri"/>
                <a:ea typeface="Calibri"/>
                <a:cs typeface="Calibri"/>
              </a:rPr>
              <a:t>0.5</a:t>
            </a:r>
            <a:endParaRPr sz="900"/>
          </a:p>
        </p:txBody>
      </p:sp>
      <p:sp>
        <p:nvSpPr>
          <p:cNvPr id="21" name="Text 19">
            <a:extLst xmlns:a="http://schemas.openxmlformats.org/drawingml/2006/main">
              <a:ext uri="{FF2B5EF4-FFF2-40B4-BE49-F238E27FC236}">
                <a16:creationId xmlns:a16="http://schemas.microsoft.com/office/drawing/2014/main" id="{2F31927F-6F21-4CDC-8993-0748645F23BC}"/>
              </a:ext>
            </a:extLst>
          </p:cNvPr>
          <p:cNvSpPr>
            <a:spLocks xmlns:a="http://schemas.openxmlformats.org/drawingml/2006/main" noGrp="1"/>
          </p:cNvSpPr>
          <p:nvPr/>
        </p:nvSpPr>
        <p:spPr>
          <a:xfrm xmlns:a="http://schemas.openxmlformats.org/drawingml/2006/main">
            <a:off x="6263640" y="2322576"/>
            <a:ext cx="365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B75"/>
                </a:solidFill>
                <a:latin typeface="Calibri"/>
                <a:ea typeface="Calibri"/>
                <a:cs typeface="Calibri"/>
              </a:rPr>
              <a:t>1</a:t>
            </a:r>
            <a:endParaRPr sz="900"/>
          </a:p>
        </p:txBody>
      </p:sp>
      <p:sp>
        <p:nvSpPr>
          <p:cNvPr id="22" name="Shape 20">
            <a:extLst xmlns:a="http://schemas.openxmlformats.org/drawingml/2006/main">
              <a:ext uri="{FF2B5EF4-FFF2-40B4-BE49-F238E27FC236}">
                <a16:creationId xmlns:a16="http://schemas.microsoft.com/office/drawing/2014/main" id="{57E15FDC-83C0-4C28-A78B-6DBB1ADD0FA0}"/>
              </a:ext>
            </a:extLst>
          </p:cNvPr>
          <p:cNvSpPr>
            <a:spLocks xmlns:a="http://schemas.openxmlformats.org/drawingml/2006/main" noGrp="1"/>
          </p:cNvSpPr>
          <p:nvPr/>
        </p:nvSpPr>
        <p:spPr>
          <a:xfrm xmlns:a="http://schemas.openxmlformats.org/drawingml/2006/main" flipV="1">
            <a:off x="6720840" y="5941004"/>
            <a:ext cx="116586" cy="3035"/>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23" name="Shape 21">
            <a:extLst xmlns:a="http://schemas.openxmlformats.org/drawingml/2006/main">
              <a:ext uri="{FF2B5EF4-FFF2-40B4-BE49-F238E27FC236}">
                <a16:creationId xmlns:a16="http://schemas.microsoft.com/office/drawing/2014/main" id="{74B81DCC-6341-47F0-9FF9-D87EF20EE155}"/>
              </a:ext>
            </a:extLst>
          </p:cNvPr>
          <p:cNvSpPr>
            <a:spLocks xmlns:a="http://schemas.openxmlformats.org/drawingml/2006/main" noGrp="1"/>
          </p:cNvSpPr>
          <p:nvPr/>
        </p:nvSpPr>
        <p:spPr>
          <a:xfrm xmlns:a="http://schemas.openxmlformats.org/drawingml/2006/main" flipV="1">
            <a:off x="6837426" y="5936915"/>
            <a:ext cx="116586" cy="4089"/>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24" name="Shape 22">
            <a:extLst xmlns:a="http://schemas.openxmlformats.org/drawingml/2006/main">
              <a:ext uri="{FF2B5EF4-FFF2-40B4-BE49-F238E27FC236}">
                <a16:creationId xmlns:a16="http://schemas.microsoft.com/office/drawing/2014/main" id="{EF087056-EA82-46C1-94FC-2E498259F24D}"/>
              </a:ext>
            </a:extLst>
          </p:cNvPr>
          <p:cNvSpPr>
            <a:spLocks xmlns:a="http://schemas.openxmlformats.org/drawingml/2006/main" noGrp="1"/>
          </p:cNvSpPr>
          <p:nvPr/>
        </p:nvSpPr>
        <p:spPr>
          <a:xfrm xmlns:a="http://schemas.openxmlformats.org/drawingml/2006/main" flipV="1">
            <a:off x="6954012" y="5931411"/>
            <a:ext cx="116586" cy="5504"/>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25" name="Shape 23">
            <a:extLst xmlns:a="http://schemas.openxmlformats.org/drawingml/2006/main">
              <a:ext uri="{FF2B5EF4-FFF2-40B4-BE49-F238E27FC236}">
                <a16:creationId xmlns:a16="http://schemas.microsoft.com/office/drawing/2014/main" id="{2E657BB0-8493-4672-B399-7BBB230C4462}"/>
              </a:ext>
            </a:extLst>
          </p:cNvPr>
          <p:cNvSpPr>
            <a:spLocks xmlns:a="http://schemas.openxmlformats.org/drawingml/2006/main" noGrp="1"/>
          </p:cNvSpPr>
          <p:nvPr/>
        </p:nvSpPr>
        <p:spPr>
          <a:xfrm xmlns:a="http://schemas.openxmlformats.org/drawingml/2006/main" flipV="1">
            <a:off x="7070598" y="5924008"/>
            <a:ext cx="116586" cy="7403"/>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26" name="Shape 24">
            <a:extLst xmlns:a="http://schemas.openxmlformats.org/drawingml/2006/main">
              <a:ext uri="{FF2B5EF4-FFF2-40B4-BE49-F238E27FC236}">
                <a16:creationId xmlns:a16="http://schemas.microsoft.com/office/drawing/2014/main" id="{DAD357CD-910E-49BB-98CF-3681F9D1A8FE}"/>
              </a:ext>
            </a:extLst>
          </p:cNvPr>
          <p:cNvSpPr>
            <a:spLocks xmlns:a="http://schemas.openxmlformats.org/drawingml/2006/main" noGrp="1"/>
          </p:cNvSpPr>
          <p:nvPr/>
        </p:nvSpPr>
        <p:spPr>
          <a:xfrm xmlns:a="http://schemas.openxmlformats.org/drawingml/2006/main" flipV="1">
            <a:off x="7187184" y="5914065"/>
            <a:ext cx="116586" cy="9943"/>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27" name="Shape 25">
            <a:extLst xmlns:a="http://schemas.openxmlformats.org/drawingml/2006/main">
              <a:ext uri="{FF2B5EF4-FFF2-40B4-BE49-F238E27FC236}">
                <a16:creationId xmlns:a16="http://schemas.microsoft.com/office/drawing/2014/main" id="{D9758EFA-3797-4C2D-A4B8-EFFB9C086E41}"/>
              </a:ext>
            </a:extLst>
          </p:cNvPr>
          <p:cNvSpPr>
            <a:spLocks xmlns:a="http://schemas.openxmlformats.org/drawingml/2006/main" noGrp="1"/>
          </p:cNvSpPr>
          <p:nvPr/>
        </p:nvSpPr>
        <p:spPr>
          <a:xfrm xmlns:a="http://schemas.openxmlformats.org/drawingml/2006/main" flipV="1">
            <a:off x="7303770" y="5900733"/>
            <a:ext cx="116586" cy="13332"/>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28" name="Shape 26">
            <a:extLst xmlns:a="http://schemas.openxmlformats.org/drawingml/2006/main">
              <a:ext uri="{FF2B5EF4-FFF2-40B4-BE49-F238E27FC236}">
                <a16:creationId xmlns:a16="http://schemas.microsoft.com/office/drawing/2014/main" id="{9D57753E-E276-432A-89B2-48F5A7CBE453}"/>
              </a:ext>
            </a:extLst>
          </p:cNvPr>
          <p:cNvSpPr>
            <a:spLocks xmlns:a="http://schemas.openxmlformats.org/drawingml/2006/main" noGrp="1"/>
          </p:cNvSpPr>
          <p:nvPr/>
        </p:nvSpPr>
        <p:spPr>
          <a:xfrm xmlns:a="http://schemas.openxmlformats.org/drawingml/2006/main" flipV="1">
            <a:off x="7420356" y="5882897"/>
            <a:ext cx="116586" cy="17836"/>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29" name="Shape 27">
            <a:extLst xmlns:a="http://schemas.openxmlformats.org/drawingml/2006/main">
              <a:ext uri="{FF2B5EF4-FFF2-40B4-BE49-F238E27FC236}">
                <a16:creationId xmlns:a16="http://schemas.microsoft.com/office/drawing/2014/main" id="{5704ECF3-3A50-404C-912C-558C7101FF3C}"/>
              </a:ext>
            </a:extLst>
          </p:cNvPr>
          <p:cNvSpPr>
            <a:spLocks xmlns:a="http://schemas.openxmlformats.org/drawingml/2006/main" noGrp="1"/>
          </p:cNvSpPr>
          <p:nvPr/>
        </p:nvSpPr>
        <p:spPr>
          <a:xfrm xmlns:a="http://schemas.openxmlformats.org/drawingml/2006/main" flipV="1">
            <a:off x="7536942" y="5859111"/>
            <a:ext cx="116586" cy="23787"/>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30" name="Shape 28">
            <a:extLst xmlns:a="http://schemas.openxmlformats.org/drawingml/2006/main">
              <a:ext uri="{FF2B5EF4-FFF2-40B4-BE49-F238E27FC236}">
                <a16:creationId xmlns:a16="http://schemas.microsoft.com/office/drawing/2014/main" id="{1C4151C1-3411-49D8-BAB0-54330790D1D0}"/>
              </a:ext>
            </a:extLst>
          </p:cNvPr>
          <p:cNvSpPr>
            <a:spLocks xmlns:a="http://schemas.openxmlformats.org/drawingml/2006/main" noGrp="1"/>
          </p:cNvSpPr>
          <p:nvPr/>
        </p:nvSpPr>
        <p:spPr>
          <a:xfrm xmlns:a="http://schemas.openxmlformats.org/drawingml/2006/main" flipV="1">
            <a:off x="7653528" y="5827518"/>
            <a:ext cx="116586" cy="31593"/>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31" name="Shape 29">
            <a:extLst xmlns:a="http://schemas.openxmlformats.org/drawingml/2006/main">
              <a:ext uri="{FF2B5EF4-FFF2-40B4-BE49-F238E27FC236}">
                <a16:creationId xmlns:a16="http://schemas.microsoft.com/office/drawing/2014/main" id="{8055D8BB-E568-495C-8BBF-66B5E6A3E43C}"/>
              </a:ext>
            </a:extLst>
          </p:cNvPr>
          <p:cNvSpPr>
            <a:spLocks xmlns:a="http://schemas.openxmlformats.org/drawingml/2006/main" noGrp="1"/>
          </p:cNvSpPr>
          <p:nvPr/>
        </p:nvSpPr>
        <p:spPr>
          <a:xfrm xmlns:a="http://schemas.openxmlformats.org/drawingml/2006/main" flipV="1">
            <a:off x="7770114" y="5785784"/>
            <a:ext cx="116586" cy="41734"/>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32" name="Shape 30">
            <a:extLst xmlns:a="http://schemas.openxmlformats.org/drawingml/2006/main">
              <a:ext uri="{FF2B5EF4-FFF2-40B4-BE49-F238E27FC236}">
                <a16:creationId xmlns:a16="http://schemas.microsoft.com/office/drawing/2014/main" id="{8F08D94D-6152-415A-AAD7-E3AEB1B3D7F9}"/>
              </a:ext>
            </a:extLst>
          </p:cNvPr>
          <p:cNvSpPr>
            <a:spLocks xmlns:a="http://schemas.openxmlformats.org/drawingml/2006/main" noGrp="1"/>
          </p:cNvSpPr>
          <p:nvPr/>
        </p:nvSpPr>
        <p:spPr>
          <a:xfrm xmlns:a="http://schemas.openxmlformats.org/drawingml/2006/main" flipV="1">
            <a:off x="7886700" y="5731050"/>
            <a:ext cx="116586" cy="54734"/>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33" name="Shape 31">
            <a:extLst xmlns:a="http://schemas.openxmlformats.org/drawingml/2006/main">
              <a:ext uri="{FF2B5EF4-FFF2-40B4-BE49-F238E27FC236}">
                <a16:creationId xmlns:a16="http://schemas.microsoft.com/office/drawing/2014/main" id="{7113E795-BFC7-4CFB-AC86-B11255E6D5E7}"/>
              </a:ext>
            </a:extLst>
          </p:cNvPr>
          <p:cNvSpPr>
            <a:spLocks xmlns:a="http://schemas.openxmlformats.org/drawingml/2006/main" noGrp="1"/>
          </p:cNvSpPr>
          <p:nvPr/>
        </p:nvSpPr>
        <p:spPr>
          <a:xfrm xmlns:a="http://schemas.openxmlformats.org/drawingml/2006/main" flipV="1">
            <a:off x="8003286" y="5659940"/>
            <a:ext cx="116586" cy="71111"/>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34" name="Shape 32">
            <a:extLst xmlns:a="http://schemas.openxmlformats.org/drawingml/2006/main">
              <a:ext uri="{FF2B5EF4-FFF2-40B4-BE49-F238E27FC236}">
                <a16:creationId xmlns:a16="http://schemas.microsoft.com/office/drawing/2014/main" id="{F2E12D63-9391-424D-B661-93D4001D21B6}"/>
              </a:ext>
            </a:extLst>
          </p:cNvPr>
          <p:cNvSpPr>
            <a:spLocks xmlns:a="http://schemas.openxmlformats.org/drawingml/2006/main" noGrp="1"/>
          </p:cNvSpPr>
          <p:nvPr/>
        </p:nvSpPr>
        <p:spPr>
          <a:xfrm xmlns:a="http://schemas.openxmlformats.org/drawingml/2006/main" flipV="1">
            <a:off x="8119872" y="5568675"/>
            <a:ext cx="116586" cy="91264"/>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35" name="Shape 33">
            <a:extLst xmlns:a="http://schemas.openxmlformats.org/drawingml/2006/main">
              <a:ext uri="{FF2B5EF4-FFF2-40B4-BE49-F238E27FC236}">
                <a16:creationId xmlns:a16="http://schemas.microsoft.com/office/drawing/2014/main" id="{B5C35031-D7F3-49AD-9753-3DE93BC10136}"/>
              </a:ext>
            </a:extLst>
          </p:cNvPr>
          <p:cNvSpPr>
            <a:spLocks xmlns:a="http://schemas.openxmlformats.org/drawingml/2006/main" noGrp="1"/>
          </p:cNvSpPr>
          <p:nvPr/>
        </p:nvSpPr>
        <p:spPr>
          <a:xfrm xmlns:a="http://schemas.openxmlformats.org/drawingml/2006/main" flipV="1">
            <a:off x="8236458" y="5453366"/>
            <a:ext cx="116586" cy="115309"/>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36" name="Shape 34">
            <a:extLst xmlns:a="http://schemas.openxmlformats.org/drawingml/2006/main">
              <a:ext uri="{FF2B5EF4-FFF2-40B4-BE49-F238E27FC236}">
                <a16:creationId xmlns:a16="http://schemas.microsoft.com/office/drawing/2014/main" id="{0317B555-91B4-4BC3-8D21-D4D60C3E4112}"/>
              </a:ext>
            </a:extLst>
          </p:cNvPr>
          <p:cNvSpPr>
            <a:spLocks xmlns:a="http://schemas.openxmlformats.org/drawingml/2006/main" noGrp="1"/>
          </p:cNvSpPr>
          <p:nvPr/>
        </p:nvSpPr>
        <p:spPr>
          <a:xfrm xmlns:a="http://schemas.openxmlformats.org/drawingml/2006/main" flipV="1">
            <a:off x="8353044" y="5310526"/>
            <a:ext cx="116586" cy="142840"/>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37" name="Shape 35">
            <a:extLst xmlns:a="http://schemas.openxmlformats.org/drawingml/2006/main">
              <a:ext uri="{FF2B5EF4-FFF2-40B4-BE49-F238E27FC236}">
                <a16:creationId xmlns:a16="http://schemas.microsoft.com/office/drawing/2014/main" id="{98692C4E-899A-42EF-8B93-CB3FDEA216D0}"/>
              </a:ext>
            </a:extLst>
          </p:cNvPr>
          <p:cNvSpPr>
            <a:spLocks xmlns:a="http://schemas.openxmlformats.org/drawingml/2006/main" noGrp="1"/>
          </p:cNvSpPr>
          <p:nvPr/>
        </p:nvSpPr>
        <p:spPr>
          <a:xfrm xmlns:a="http://schemas.openxmlformats.org/drawingml/2006/main" flipV="1">
            <a:off x="8469630" y="5137849"/>
            <a:ext cx="116586" cy="172677"/>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38" name="Shape 36">
            <a:extLst xmlns:a="http://schemas.openxmlformats.org/drawingml/2006/main">
              <a:ext uri="{FF2B5EF4-FFF2-40B4-BE49-F238E27FC236}">
                <a16:creationId xmlns:a16="http://schemas.microsoft.com/office/drawing/2014/main" id="{AF95391E-565C-4BA4-BAD7-FAF5435B82F7}"/>
              </a:ext>
            </a:extLst>
          </p:cNvPr>
          <p:cNvSpPr>
            <a:spLocks xmlns:a="http://schemas.openxmlformats.org/drawingml/2006/main" noGrp="1"/>
          </p:cNvSpPr>
          <p:nvPr/>
        </p:nvSpPr>
        <p:spPr>
          <a:xfrm xmlns:a="http://schemas.openxmlformats.org/drawingml/2006/main" flipV="1">
            <a:off x="8586216" y="4935159"/>
            <a:ext cx="116586" cy="202690"/>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39" name="Shape 37">
            <a:extLst xmlns:a="http://schemas.openxmlformats.org/drawingml/2006/main">
              <a:ext uri="{FF2B5EF4-FFF2-40B4-BE49-F238E27FC236}">
                <a16:creationId xmlns:a16="http://schemas.microsoft.com/office/drawing/2014/main" id="{5D905BE2-7604-4A81-9437-C016D967C598}"/>
              </a:ext>
            </a:extLst>
          </p:cNvPr>
          <p:cNvSpPr>
            <a:spLocks xmlns:a="http://schemas.openxmlformats.org/drawingml/2006/main" noGrp="1"/>
          </p:cNvSpPr>
          <p:nvPr/>
        </p:nvSpPr>
        <p:spPr>
          <a:xfrm xmlns:a="http://schemas.openxmlformats.org/drawingml/2006/main" flipV="1">
            <a:off x="8702802" y="4705298"/>
            <a:ext cx="116586" cy="229861"/>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40" name="Shape 38">
            <a:extLst xmlns:a="http://schemas.openxmlformats.org/drawingml/2006/main">
              <a:ext uri="{FF2B5EF4-FFF2-40B4-BE49-F238E27FC236}">
                <a16:creationId xmlns:a16="http://schemas.microsoft.com/office/drawing/2014/main" id="{E0FF386B-2A6A-4859-B0F3-34DB36B6D2DF}"/>
              </a:ext>
            </a:extLst>
          </p:cNvPr>
          <p:cNvSpPr>
            <a:spLocks xmlns:a="http://schemas.openxmlformats.org/drawingml/2006/main" noGrp="1"/>
          </p:cNvSpPr>
          <p:nvPr/>
        </p:nvSpPr>
        <p:spPr>
          <a:xfrm xmlns:a="http://schemas.openxmlformats.org/drawingml/2006/main" flipV="1">
            <a:off x="8819388" y="4454594"/>
            <a:ext cx="116586" cy="250704"/>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41" name="Shape 39">
            <a:extLst xmlns:a="http://schemas.openxmlformats.org/drawingml/2006/main">
              <a:ext uri="{FF2B5EF4-FFF2-40B4-BE49-F238E27FC236}">
                <a16:creationId xmlns:a16="http://schemas.microsoft.com/office/drawing/2014/main" id="{2A3F3C60-DCFF-4788-A9A6-340DE6139BF2}"/>
              </a:ext>
            </a:extLst>
          </p:cNvPr>
          <p:cNvSpPr>
            <a:spLocks xmlns:a="http://schemas.openxmlformats.org/drawingml/2006/main" noGrp="1"/>
          </p:cNvSpPr>
          <p:nvPr/>
        </p:nvSpPr>
        <p:spPr>
          <a:xfrm xmlns:a="http://schemas.openxmlformats.org/drawingml/2006/main" flipV="1">
            <a:off x="8935974" y="4192524"/>
            <a:ext cx="116586" cy="262070"/>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42" name="Shape 40">
            <a:extLst xmlns:a="http://schemas.openxmlformats.org/drawingml/2006/main">
              <a:ext uri="{FF2B5EF4-FFF2-40B4-BE49-F238E27FC236}">
                <a16:creationId xmlns:a16="http://schemas.microsoft.com/office/drawing/2014/main" id="{61576F47-8C6E-4581-885B-5940C5B9E0A9}"/>
              </a:ext>
            </a:extLst>
          </p:cNvPr>
          <p:cNvSpPr>
            <a:spLocks xmlns:a="http://schemas.openxmlformats.org/drawingml/2006/main" noGrp="1"/>
          </p:cNvSpPr>
          <p:nvPr/>
        </p:nvSpPr>
        <p:spPr>
          <a:xfrm xmlns:a="http://schemas.openxmlformats.org/drawingml/2006/main" flipV="1">
            <a:off x="9052560" y="3930454"/>
            <a:ext cx="116586" cy="262070"/>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43" name="Shape 41">
            <a:extLst xmlns:a="http://schemas.openxmlformats.org/drawingml/2006/main">
              <a:ext uri="{FF2B5EF4-FFF2-40B4-BE49-F238E27FC236}">
                <a16:creationId xmlns:a16="http://schemas.microsoft.com/office/drawing/2014/main" id="{67B08D2E-B912-4056-B4D8-FBC7B97BB8C6}"/>
              </a:ext>
            </a:extLst>
          </p:cNvPr>
          <p:cNvSpPr>
            <a:spLocks xmlns:a="http://schemas.openxmlformats.org/drawingml/2006/main" noGrp="1"/>
          </p:cNvSpPr>
          <p:nvPr/>
        </p:nvSpPr>
        <p:spPr>
          <a:xfrm xmlns:a="http://schemas.openxmlformats.org/drawingml/2006/main" flipV="1">
            <a:off x="9169146" y="3679750"/>
            <a:ext cx="116586" cy="250704"/>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44" name="Shape 42">
            <a:extLst xmlns:a="http://schemas.openxmlformats.org/drawingml/2006/main">
              <a:ext uri="{FF2B5EF4-FFF2-40B4-BE49-F238E27FC236}">
                <a16:creationId xmlns:a16="http://schemas.microsoft.com/office/drawing/2014/main" id="{0D134907-95FA-48AC-9216-02CCDAA9186E}"/>
              </a:ext>
            </a:extLst>
          </p:cNvPr>
          <p:cNvSpPr>
            <a:spLocks xmlns:a="http://schemas.openxmlformats.org/drawingml/2006/main" noGrp="1"/>
          </p:cNvSpPr>
          <p:nvPr/>
        </p:nvSpPr>
        <p:spPr>
          <a:xfrm xmlns:a="http://schemas.openxmlformats.org/drawingml/2006/main" flipV="1">
            <a:off x="9285732" y="3449889"/>
            <a:ext cx="116586" cy="229861"/>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45" name="Shape 43">
            <a:extLst xmlns:a="http://schemas.openxmlformats.org/drawingml/2006/main">
              <a:ext uri="{FF2B5EF4-FFF2-40B4-BE49-F238E27FC236}">
                <a16:creationId xmlns:a16="http://schemas.microsoft.com/office/drawing/2014/main" id="{BE37E4CB-98C3-4A03-8B7B-7A7069C0AB7B}"/>
              </a:ext>
            </a:extLst>
          </p:cNvPr>
          <p:cNvSpPr>
            <a:spLocks xmlns:a="http://schemas.openxmlformats.org/drawingml/2006/main" noGrp="1"/>
          </p:cNvSpPr>
          <p:nvPr/>
        </p:nvSpPr>
        <p:spPr>
          <a:xfrm xmlns:a="http://schemas.openxmlformats.org/drawingml/2006/main" flipV="1">
            <a:off x="9402318" y="3247199"/>
            <a:ext cx="116586" cy="202690"/>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46" name="Shape 44">
            <a:extLst xmlns:a="http://schemas.openxmlformats.org/drawingml/2006/main">
              <a:ext uri="{FF2B5EF4-FFF2-40B4-BE49-F238E27FC236}">
                <a16:creationId xmlns:a16="http://schemas.microsoft.com/office/drawing/2014/main" id="{7AB42A42-25FD-4028-9032-1AE6268ED6C0}"/>
              </a:ext>
            </a:extLst>
          </p:cNvPr>
          <p:cNvSpPr>
            <a:spLocks xmlns:a="http://schemas.openxmlformats.org/drawingml/2006/main" noGrp="1"/>
          </p:cNvSpPr>
          <p:nvPr/>
        </p:nvSpPr>
        <p:spPr>
          <a:xfrm xmlns:a="http://schemas.openxmlformats.org/drawingml/2006/main" flipV="1">
            <a:off x="9518904" y="3074522"/>
            <a:ext cx="116586" cy="172677"/>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47" name="Shape 45">
            <a:extLst xmlns:a="http://schemas.openxmlformats.org/drawingml/2006/main">
              <a:ext uri="{FF2B5EF4-FFF2-40B4-BE49-F238E27FC236}">
                <a16:creationId xmlns:a16="http://schemas.microsoft.com/office/drawing/2014/main" id="{F1F4EB61-1A87-4180-B16D-19E33131EF2C}"/>
              </a:ext>
            </a:extLst>
          </p:cNvPr>
          <p:cNvSpPr>
            <a:spLocks xmlns:a="http://schemas.openxmlformats.org/drawingml/2006/main" noGrp="1"/>
          </p:cNvSpPr>
          <p:nvPr/>
        </p:nvSpPr>
        <p:spPr>
          <a:xfrm xmlns:a="http://schemas.openxmlformats.org/drawingml/2006/main" flipV="1">
            <a:off x="9635490" y="2931682"/>
            <a:ext cx="116586" cy="142840"/>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48" name="Shape 46">
            <a:extLst xmlns:a="http://schemas.openxmlformats.org/drawingml/2006/main">
              <a:ext uri="{FF2B5EF4-FFF2-40B4-BE49-F238E27FC236}">
                <a16:creationId xmlns:a16="http://schemas.microsoft.com/office/drawing/2014/main" id="{2EE88EB7-A7D9-408F-9D63-E11D7B14A8E3}"/>
              </a:ext>
            </a:extLst>
          </p:cNvPr>
          <p:cNvSpPr>
            <a:spLocks xmlns:a="http://schemas.openxmlformats.org/drawingml/2006/main" noGrp="1"/>
          </p:cNvSpPr>
          <p:nvPr/>
        </p:nvSpPr>
        <p:spPr>
          <a:xfrm xmlns:a="http://schemas.openxmlformats.org/drawingml/2006/main" flipV="1">
            <a:off x="9752076" y="2816373"/>
            <a:ext cx="116586" cy="115309"/>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49" name="Shape 47">
            <a:extLst xmlns:a="http://schemas.openxmlformats.org/drawingml/2006/main">
              <a:ext uri="{FF2B5EF4-FFF2-40B4-BE49-F238E27FC236}">
                <a16:creationId xmlns:a16="http://schemas.microsoft.com/office/drawing/2014/main" id="{33A0795D-90BB-4AA7-A3A1-F229B21B57EF}"/>
              </a:ext>
            </a:extLst>
          </p:cNvPr>
          <p:cNvSpPr>
            <a:spLocks xmlns:a="http://schemas.openxmlformats.org/drawingml/2006/main" noGrp="1"/>
          </p:cNvSpPr>
          <p:nvPr/>
        </p:nvSpPr>
        <p:spPr>
          <a:xfrm xmlns:a="http://schemas.openxmlformats.org/drawingml/2006/main" flipV="1">
            <a:off x="9868662" y="2725108"/>
            <a:ext cx="116586" cy="91264"/>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50" name="Shape 48">
            <a:extLst xmlns:a="http://schemas.openxmlformats.org/drawingml/2006/main">
              <a:ext uri="{FF2B5EF4-FFF2-40B4-BE49-F238E27FC236}">
                <a16:creationId xmlns:a16="http://schemas.microsoft.com/office/drawing/2014/main" id="{268266C5-5CA8-4D4D-8A75-7490EF0576FE}"/>
              </a:ext>
            </a:extLst>
          </p:cNvPr>
          <p:cNvSpPr>
            <a:spLocks xmlns:a="http://schemas.openxmlformats.org/drawingml/2006/main" noGrp="1"/>
          </p:cNvSpPr>
          <p:nvPr/>
        </p:nvSpPr>
        <p:spPr>
          <a:xfrm xmlns:a="http://schemas.openxmlformats.org/drawingml/2006/main" flipV="1">
            <a:off x="9985248" y="2653998"/>
            <a:ext cx="116586" cy="71111"/>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51" name="Shape 49">
            <a:extLst xmlns:a="http://schemas.openxmlformats.org/drawingml/2006/main">
              <a:ext uri="{FF2B5EF4-FFF2-40B4-BE49-F238E27FC236}">
                <a16:creationId xmlns:a16="http://schemas.microsoft.com/office/drawing/2014/main" id="{DA84CA55-4D60-45D0-8BD0-753DDAD7D326}"/>
              </a:ext>
            </a:extLst>
          </p:cNvPr>
          <p:cNvSpPr>
            <a:spLocks xmlns:a="http://schemas.openxmlformats.org/drawingml/2006/main" noGrp="1"/>
          </p:cNvSpPr>
          <p:nvPr/>
        </p:nvSpPr>
        <p:spPr>
          <a:xfrm xmlns:a="http://schemas.openxmlformats.org/drawingml/2006/main" flipV="1">
            <a:off x="10101834" y="2599264"/>
            <a:ext cx="116586" cy="54734"/>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52" name="Shape 50">
            <a:extLst xmlns:a="http://schemas.openxmlformats.org/drawingml/2006/main">
              <a:ext uri="{FF2B5EF4-FFF2-40B4-BE49-F238E27FC236}">
                <a16:creationId xmlns:a16="http://schemas.microsoft.com/office/drawing/2014/main" id="{82556AB9-C51D-4797-9E05-49CABD184798}"/>
              </a:ext>
            </a:extLst>
          </p:cNvPr>
          <p:cNvSpPr>
            <a:spLocks xmlns:a="http://schemas.openxmlformats.org/drawingml/2006/main" noGrp="1"/>
          </p:cNvSpPr>
          <p:nvPr/>
        </p:nvSpPr>
        <p:spPr>
          <a:xfrm xmlns:a="http://schemas.openxmlformats.org/drawingml/2006/main" flipV="1">
            <a:off x="10218420" y="2557530"/>
            <a:ext cx="116586" cy="41734"/>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53" name="Shape 51">
            <a:extLst xmlns:a="http://schemas.openxmlformats.org/drawingml/2006/main">
              <a:ext uri="{FF2B5EF4-FFF2-40B4-BE49-F238E27FC236}">
                <a16:creationId xmlns:a16="http://schemas.microsoft.com/office/drawing/2014/main" id="{99288E80-4ACF-43D0-8FA1-2CDBBAB79B9F}"/>
              </a:ext>
            </a:extLst>
          </p:cNvPr>
          <p:cNvSpPr>
            <a:spLocks xmlns:a="http://schemas.openxmlformats.org/drawingml/2006/main" noGrp="1"/>
          </p:cNvSpPr>
          <p:nvPr/>
        </p:nvSpPr>
        <p:spPr>
          <a:xfrm xmlns:a="http://schemas.openxmlformats.org/drawingml/2006/main" flipV="1">
            <a:off x="10335006" y="2525937"/>
            <a:ext cx="116586" cy="31593"/>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54" name="Shape 52">
            <a:extLst xmlns:a="http://schemas.openxmlformats.org/drawingml/2006/main">
              <a:ext uri="{FF2B5EF4-FFF2-40B4-BE49-F238E27FC236}">
                <a16:creationId xmlns:a16="http://schemas.microsoft.com/office/drawing/2014/main" id="{18E0C10E-6028-4AB8-8F85-C098A64B4F48}"/>
              </a:ext>
            </a:extLst>
          </p:cNvPr>
          <p:cNvSpPr>
            <a:spLocks xmlns:a="http://schemas.openxmlformats.org/drawingml/2006/main" noGrp="1"/>
          </p:cNvSpPr>
          <p:nvPr/>
        </p:nvSpPr>
        <p:spPr>
          <a:xfrm xmlns:a="http://schemas.openxmlformats.org/drawingml/2006/main" flipV="1">
            <a:off x="10451592" y="2502151"/>
            <a:ext cx="116586" cy="23787"/>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55" name="Shape 53">
            <a:extLst xmlns:a="http://schemas.openxmlformats.org/drawingml/2006/main">
              <a:ext uri="{FF2B5EF4-FFF2-40B4-BE49-F238E27FC236}">
                <a16:creationId xmlns:a16="http://schemas.microsoft.com/office/drawing/2014/main" id="{BAB94AA4-BEC6-4D4A-942E-A3EE8CF78848}"/>
              </a:ext>
            </a:extLst>
          </p:cNvPr>
          <p:cNvSpPr>
            <a:spLocks xmlns:a="http://schemas.openxmlformats.org/drawingml/2006/main" noGrp="1"/>
          </p:cNvSpPr>
          <p:nvPr/>
        </p:nvSpPr>
        <p:spPr>
          <a:xfrm xmlns:a="http://schemas.openxmlformats.org/drawingml/2006/main" flipV="1">
            <a:off x="10568178" y="2484315"/>
            <a:ext cx="116586" cy="17836"/>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56" name="Shape 54">
            <a:extLst xmlns:a="http://schemas.openxmlformats.org/drawingml/2006/main">
              <a:ext uri="{FF2B5EF4-FFF2-40B4-BE49-F238E27FC236}">
                <a16:creationId xmlns:a16="http://schemas.microsoft.com/office/drawing/2014/main" id="{BC04C70F-80BC-4B44-9DD1-F27F0B8716DC}"/>
              </a:ext>
            </a:extLst>
          </p:cNvPr>
          <p:cNvSpPr>
            <a:spLocks xmlns:a="http://schemas.openxmlformats.org/drawingml/2006/main" noGrp="1"/>
          </p:cNvSpPr>
          <p:nvPr/>
        </p:nvSpPr>
        <p:spPr>
          <a:xfrm xmlns:a="http://schemas.openxmlformats.org/drawingml/2006/main" flipV="1">
            <a:off x="10684764" y="2470983"/>
            <a:ext cx="116586" cy="13332"/>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57" name="Shape 55">
            <a:extLst xmlns:a="http://schemas.openxmlformats.org/drawingml/2006/main">
              <a:ext uri="{FF2B5EF4-FFF2-40B4-BE49-F238E27FC236}">
                <a16:creationId xmlns:a16="http://schemas.microsoft.com/office/drawing/2014/main" id="{9BA92C2F-17F6-457F-95FD-11D529B8E065}"/>
              </a:ext>
            </a:extLst>
          </p:cNvPr>
          <p:cNvSpPr>
            <a:spLocks xmlns:a="http://schemas.openxmlformats.org/drawingml/2006/main" noGrp="1"/>
          </p:cNvSpPr>
          <p:nvPr/>
        </p:nvSpPr>
        <p:spPr>
          <a:xfrm xmlns:a="http://schemas.openxmlformats.org/drawingml/2006/main" flipV="1">
            <a:off x="10801350" y="2461040"/>
            <a:ext cx="116586" cy="9943"/>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58" name="Shape 56">
            <a:extLst xmlns:a="http://schemas.openxmlformats.org/drawingml/2006/main">
              <a:ext uri="{FF2B5EF4-FFF2-40B4-BE49-F238E27FC236}">
                <a16:creationId xmlns:a16="http://schemas.microsoft.com/office/drawing/2014/main" id="{F7EF9456-379C-4EB1-B9B4-2944460A155D}"/>
              </a:ext>
            </a:extLst>
          </p:cNvPr>
          <p:cNvSpPr>
            <a:spLocks xmlns:a="http://schemas.openxmlformats.org/drawingml/2006/main" noGrp="1"/>
          </p:cNvSpPr>
          <p:nvPr/>
        </p:nvSpPr>
        <p:spPr>
          <a:xfrm xmlns:a="http://schemas.openxmlformats.org/drawingml/2006/main" flipV="1">
            <a:off x="10917936" y="2453637"/>
            <a:ext cx="116586" cy="7403"/>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59" name="Shape 57">
            <a:extLst xmlns:a="http://schemas.openxmlformats.org/drawingml/2006/main">
              <a:ext uri="{FF2B5EF4-FFF2-40B4-BE49-F238E27FC236}">
                <a16:creationId xmlns:a16="http://schemas.microsoft.com/office/drawing/2014/main" id="{38213553-6A86-4313-B3E8-B94920D1F8B2}"/>
              </a:ext>
            </a:extLst>
          </p:cNvPr>
          <p:cNvSpPr>
            <a:spLocks xmlns:a="http://schemas.openxmlformats.org/drawingml/2006/main" noGrp="1"/>
          </p:cNvSpPr>
          <p:nvPr/>
        </p:nvSpPr>
        <p:spPr>
          <a:xfrm xmlns:a="http://schemas.openxmlformats.org/drawingml/2006/main" flipV="1">
            <a:off x="11034522" y="2448133"/>
            <a:ext cx="116586" cy="5504"/>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60" name="Shape 58">
            <a:extLst xmlns:a="http://schemas.openxmlformats.org/drawingml/2006/main">
              <a:ext uri="{FF2B5EF4-FFF2-40B4-BE49-F238E27FC236}">
                <a16:creationId xmlns:a16="http://schemas.microsoft.com/office/drawing/2014/main" id="{28A99680-6CB2-4CCA-B488-DF89BF0F9B8F}"/>
              </a:ext>
            </a:extLst>
          </p:cNvPr>
          <p:cNvSpPr>
            <a:spLocks xmlns:a="http://schemas.openxmlformats.org/drawingml/2006/main" noGrp="1"/>
          </p:cNvSpPr>
          <p:nvPr/>
        </p:nvSpPr>
        <p:spPr>
          <a:xfrm xmlns:a="http://schemas.openxmlformats.org/drawingml/2006/main" flipV="1">
            <a:off x="11151108" y="2444044"/>
            <a:ext cx="116586" cy="4089"/>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61" name="Shape 59">
            <a:extLst xmlns:a="http://schemas.openxmlformats.org/drawingml/2006/main">
              <a:ext uri="{FF2B5EF4-FFF2-40B4-BE49-F238E27FC236}">
                <a16:creationId xmlns:a16="http://schemas.microsoft.com/office/drawing/2014/main" id="{1A9B16A2-225C-4C82-AC35-FA6AFD27EFEA}"/>
              </a:ext>
            </a:extLst>
          </p:cNvPr>
          <p:cNvSpPr>
            <a:spLocks xmlns:a="http://schemas.openxmlformats.org/drawingml/2006/main" noGrp="1"/>
          </p:cNvSpPr>
          <p:nvPr/>
        </p:nvSpPr>
        <p:spPr>
          <a:xfrm xmlns:a="http://schemas.openxmlformats.org/drawingml/2006/main" flipV="1">
            <a:off x="11267694" y="2441009"/>
            <a:ext cx="116586" cy="3035"/>
          </a:xfrm>
          <a:prstGeom xmlns:a="http://schemas.openxmlformats.org/drawingml/2006/main" prst="line">
            <a:avLst/>
          </a:prstGeom>
          <a:noFill xmlns:a="http://schemas.openxmlformats.org/drawingml/2006/main"/>
          <a:ln xmlns:a="http://schemas.openxmlformats.org/drawingml/2006/main" w="31750">
            <a:solidFill>
              <a:srgbClr val="0E7C86"/>
            </a:solidFill>
            <a:prstDash val="solid"/>
          </a:ln>
        </p:spPr>
      </p:sp>
      <p:sp>
        <p:nvSpPr>
          <p:cNvPr id="62" name="Shape 60">
            <a:extLst xmlns:a="http://schemas.openxmlformats.org/drawingml/2006/main">
              <a:ext uri="{FF2B5EF4-FFF2-40B4-BE49-F238E27FC236}">
                <a16:creationId xmlns:a16="http://schemas.microsoft.com/office/drawing/2014/main" id="{CFAA0302-7F91-4137-910F-6DA77EACCFD0}"/>
              </a:ext>
            </a:extLst>
          </p:cNvPr>
          <p:cNvSpPr>
            <a:spLocks xmlns:a="http://schemas.openxmlformats.org/drawingml/2006/main" noGrp="1"/>
          </p:cNvSpPr>
          <p:nvPr/>
        </p:nvSpPr>
        <p:spPr>
          <a:xfrm xmlns:a="http://schemas.openxmlformats.org/drawingml/2006/main">
            <a:off x="6720840" y="4192524"/>
            <a:ext cx="4663440" cy="0"/>
          </a:xfrm>
          <a:prstGeom xmlns:a="http://schemas.openxmlformats.org/drawingml/2006/main" prst="line">
            <a:avLst/>
          </a:prstGeom>
          <a:noFill xmlns:a="http://schemas.openxmlformats.org/drawingml/2006/main"/>
          <a:ln xmlns:a="http://schemas.openxmlformats.org/drawingml/2006/main" w="9525">
            <a:solidFill>
              <a:srgbClr val="D6E2E4"/>
            </a:solidFill>
            <a:prstDash val="dash"/>
          </a:ln>
        </p:spPr>
      </p:sp>
      <p:sp>
        <p:nvSpPr>
          <p:cNvPr id="63" name="Text 61">
            <a:extLst xmlns:a="http://schemas.openxmlformats.org/drawingml/2006/main">
              <a:ext uri="{FF2B5EF4-FFF2-40B4-BE49-F238E27FC236}">
                <a16:creationId xmlns:a16="http://schemas.microsoft.com/office/drawing/2014/main" id="{A279DEA5-C14D-4682-9892-E5A2672F0C25}"/>
              </a:ext>
            </a:extLst>
          </p:cNvPr>
          <p:cNvSpPr>
            <a:spLocks xmlns:a="http://schemas.openxmlformats.org/drawingml/2006/main" noGrp="1"/>
          </p:cNvSpPr>
          <p:nvPr/>
        </p:nvSpPr>
        <p:spPr>
          <a:xfrm xmlns:a="http://schemas.openxmlformats.org/drawingml/2006/main">
            <a:off x="6492240" y="6062472"/>
            <a:ext cx="5120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5B6B75"/>
                </a:solidFill>
                <a:latin typeface="Calibri"/>
                <a:ea typeface="Calibri"/>
                <a:cs typeface="Calibri"/>
              </a:rPr>
              <a:t>linear in log-odds → S-shaped in probability; steepest near p = 0.5, compressed at the extremes</a:t>
            </a:r>
            <a:endParaRPr sz="950"/>
          </a:p>
        </p:txBody>
      </p:sp>
    </p:spTree>
    <p:extLst>
      <p:ext uri="{BB962C8B-B14F-4D97-AF65-F5344CB8AC3E}">
        <p14:creationId xmlns:p14="http://schemas.microsoft.com/office/powerpoint/2010/main" val="401471822"/>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0CA00C8-CA55-4E16-8B29-2398A6FB86B9}"/>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6CEFC9D3-CF4A-40C2-B7E7-F2ED6CE6FC49}"/>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64</a:t>
            </a:r>
            <a:endParaRPr sz="900"/>
          </a:p>
        </p:txBody>
      </p:sp>
      <p:sp>
        <p:nvSpPr>
          <p:cNvPr id="4" name="Shape 2">
            <a:extLst xmlns:a="http://schemas.openxmlformats.org/drawingml/2006/main">
              <a:ext uri="{FF2B5EF4-FFF2-40B4-BE49-F238E27FC236}">
                <a16:creationId xmlns:a16="http://schemas.microsoft.com/office/drawing/2014/main" id="{BC1189A3-D1A2-425D-A25E-180FBD278276}"/>
              </a:ext>
            </a:extLst>
          </p:cNvPr>
          <p:cNvSpPr>
            <a:spLocks xmlns:a="http://schemas.openxmlformats.org/drawingml/2006/main" noGrp="1"/>
          </p:cNvSpPr>
          <p:nvPr/>
        </p:nvSpPr>
        <p:spPr>
          <a:xfrm xmlns:a="http://schemas.openxmlformats.org/drawingml/2006/main">
            <a:off x="502920" y="384048"/>
            <a:ext cx="2777033"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F308D83F-8C55-4ECE-B82D-3B2041CF915D}"/>
              </a:ext>
            </a:extLst>
          </p:cNvPr>
          <p:cNvSpPr>
            <a:spLocks xmlns:a="http://schemas.openxmlformats.org/drawingml/2006/main" noGrp="1"/>
          </p:cNvSpPr>
          <p:nvPr/>
        </p:nvSpPr>
        <p:spPr>
          <a:xfrm xmlns:a="http://schemas.openxmlformats.org/drawingml/2006/main">
            <a:off x="502920" y="384048"/>
            <a:ext cx="2777033"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6 · THE CAPSTONE TABLE</a:t>
            </a:r>
            <a:endParaRPr sz="1050"/>
          </a:p>
        </p:txBody>
      </p:sp>
      <p:sp>
        <p:nvSpPr>
          <p:cNvPr id="6" name="Text 4">
            <a:extLst xmlns:a="http://schemas.openxmlformats.org/drawingml/2006/main">
              <a:ext uri="{FF2B5EF4-FFF2-40B4-BE49-F238E27FC236}">
                <a16:creationId xmlns:a16="http://schemas.microsoft.com/office/drawing/2014/main" id="{34717C84-411D-45FA-BCBF-62E6E1F2875F}"/>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The adjusted no-show model — measured on clinic_visits.csv</a:t>
            </a:r>
            <a:endParaRPr sz="2800"/>
          </a:p>
        </p:txBody>
      </p:sp>
      <p:sp>
        <p:nvSpPr>
          <p:cNvPr id="7" name="Text 5">
            <a:extLst xmlns:a="http://schemas.openxmlformats.org/drawingml/2006/main">
              <a:ext uri="{FF2B5EF4-FFF2-40B4-BE49-F238E27FC236}">
                <a16:creationId xmlns:a16="http://schemas.microsoft.com/office/drawing/2014/main" id="{2B671717-DA02-4807-AB42-09156357C3EF}"/>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smf.logit('no_show ~ sms_reminder + prior_no_shows + lead_time_days + patient_age + rural + risk_band', …)</a:t>
            </a:r>
            <a:endParaRPr sz="1350"/>
          </a:p>
        </p:txBody>
      </p:sp>
      <p:graphicFrame>
        <p:nvGraphicFramePr>
          <p:cNvPr id="25" name="Table 0"/>
          <p:cNvGraphicFramePr/>
          <p:nvPr/>
        </p:nvGraphicFramePr>
        <p:xfrm>
          <a:off xmlns:a="http://schemas.openxmlformats.org/drawingml/2006/main" x="502920" y="1837944"/>
          <a:ext xmlns:a="http://schemas.openxmlformats.org/drawingml/2006/main" cx="11201400" cy="914400"/>
        </p:xfrm>
        <a:graphic xmlns:a="http://schemas.openxmlformats.org/drawingml/2006/main">
          <a:graphicData uri="http://schemas.openxmlformats.org/drawingml/2006/table">
            <a:tbl>
              <a:tblPr/>
              <a:tblGrid>
                <a:gridCol w="2651760"/>
                <a:gridCol w="914400"/>
                <a:gridCol w="1737360"/>
                <a:gridCol w="5897880"/>
              </a:tblGrid>
              <a:tr h="530352">
                <a:tc>
                  <a:txBody>
                    <a:bodyPr/>
                    <a:lstStyle/>
                    <a:p>
                      <a:pPr marL="0" indent="0">
                        <a:buNone/>
                      </a:pPr>
                      <a:r>
                        <a:rPr sz="1130" b="1">
                          <a:solidFill>
                            <a:srgbClr val="FFFFFF"/>
                          </a:solidFill>
                          <a:latin typeface="Calibri"/>
                          <a:ea typeface="Calibri"/>
                          <a:cs typeface="Calibri"/>
                        </a:rPr>
                        <a:t>Term</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30" b="1">
                          <a:solidFill>
                            <a:srgbClr val="FFFFFF"/>
                          </a:solidFill>
                          <a:latin typeface="Calibri"/>
                          <a:ea typeface="Calibri"/>
                          <a:cs typeface="Calibri"/>
                        </a:rPr>
                        <a:t>OR</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30" b="1">
                          <a:solidFill>
                            <a:srgbClr val="FFFFFF"/>
                          </a:solidFill>
                          <a:latin typeface="Calibri"/>
                          <a:ea typeface="Calibri"/>
                          <a:cs typeface="Calibri"/>
                        </a:rPr>
                        <a:t>95% CI</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30" b="1">
                          <a:solidFill>
                            <a:srgbClr val="FFFFFF"/>
                          </a:solidFill>
                          <a:latin typeface="Calibri"/>
                          <a:ea typeface="Calibri"/>
                          <a:cs typeface="Calibri"/>
                        </a:rPr>
                        <a:t>Reading</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r>
              <a:tr h="530352">
                <a:tc>
                  <a:txBody>
                    <a:bodyPr/>
                    <a:lstStyle/>
                    <a:p>
                      <a:pPr marL="0" indent="0">
                        <a:buNone/>
                      </a:pPr>
                      <a:r>
                        <a:rPr sz="1130" b="1">
                          <a:solidFill>
                            <a:srgbClr val="24313A"/>
                          </a:solidFill>
                          <a:latin typeface="Calibri"/>
                          <a:ea typeface="Calibri"/>
                          <a:cs typeface="Calibri"/>
                        </a:rPr>
                        <a:t>SMS reminder</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b="1">
                          <a:solidFill>
                            <a:srgbClr val="0A5C64"/>
                          </a:solidFill>
                          <a:latin typeface="Calibri"/>
                          <a:ea typeface="Calibri"/>
                          <a:cs typeface="Calibri"/>
                        </a:rPr>
                        <a:t>0.71</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[0.67, 0.75]</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Protective after adjustment — the paradox, closed in one row</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530352">
                <a:tc>
                  <a:txBody>
                    <a:bodyPr/>
                    <a:lstStyle/>
                    <a:p>
                      <a:pPr marL="0" indent="0">
                        <a:buNone/>
                      </a:pPr>
                      <a:r>
                        <a:rPr sz="1130">
                          <a:solidFill>
                            <a:srgbClr val="24313A"/>
                          </a:solidFill>
                          <a:latin typeface="Calibri"/>
                          <a:ea typeface="Calibri"/>
                          <a:cs typeface="Calibri"/>
                        </a:rPr>
                        <a:t>Prior no-shows (per event)</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1.80</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[1.75, 1.86]</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The dominant risk marker; P(no-show | ≥1 prior) ≈ 0.26</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530352">
                <a:tc>
                  <a:txBody>
                    <a:bodyPr/>
                    <a:lstStyle/>
                    <a:p>
                      <a:pPr marL="0" indent="0">
                        <a:buNone/>
                      </a:pPr>
                      <a:r>
                        <a:rPr sz="1130">
                          <a:solidFill>
                            <a:srgbClr val="24313A"/>
                          </a:solidFill>
                          <a:latin typeface="Calibri"/>
                          <a:ea typeface="Calibri"/>
                          <a:cs typeface="Calibri"/>
                        </a:rPr>
                        <a:t>Lead time (per day)</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1.03</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[1.03, 1.04]</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Compounds: +7 days ≈ ×1.24 odds — book sooner, lose fewer</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530352">
                <a:tc>
                  <a:txBody>
                    <a:bodyPr/>
                    <a:lstStyle/>
                    <a:p>
                      <a:pPr marL="0" indent="0">
                        <a:buNone/>
                      </a:pPr>
                      <a:r>
                        <a:rPr sz="1130">
                          <a:solidFill>
                            <a:srgbClr val="24313A"/>
                          </a:solidFill>
                          <a:latin typeface="Calibri"/>
                          <a:ea typeface="Calibri"/>
                          <a:cs typeface="Calibri"/>
                        </a:rPr>
                        <a:t>Patient age (per year)</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0.99</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[0.986, 0.988]</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Older patients miss less</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bl>
          </a:graphicData>
        </a:graphic>
      </p:graphicFrame>
      <p:sp>
        <p:nvSpPr>
          <p:cNvPr id="9" name="Shape 6">
            <a:extLst xmlns:a="http://schemas.openxmlformats.org/drawingml/2006/main">
              <a:ext uri="{FF2B5EF4-FFF2-40B4-BE49-F238E27FC236}">
                <a16:creationId xmlns:a16="http://schemas.microsoft.com/office/drawing/2014/main" id="{EA459F67-DF2A-4E6F-B7CE-221A73563768}"/>
              </a:ext>
            </a:extLst>
          </p:cNvPr>
          <p:cNvSpPr>
            <a:spLocks xmlns:a="http://schemas.openxmlformats.org/drawingml/2006/main" noGrp="1"/>
          </p:cNvSpPr>
          <p:nvPr/>
        </p:nvSpPr>
        <p:spPr>
          <a:xfrm xmlns:a="http://schemas.openxmlformats.org/drawingml/2006/main">
            <a:off x="502920" y="4809744"/>
            <a:ext cx="3685032" cy="1234440"/>
          </a:xfrm>
          <a:prstGeom xmlns:a="http://schemas.openxmlformats.org/drawingml/2006/main" prst="roundRect">
            <a:avLst>
              <a:gd name="adj" fmla="val 6667"/>
            </a:avLst>
          </a:prstGeom>
          <a:solidFill xmlns:a="http://schemas.openxmlformats.org/drawingml/2006/main">
            <a:srgbClr val="F3F8F9"/>
          </a:solidFill>
        </p:spPr>
      </p:sp>
      <p:sp>
        <p:nvSpPr>
          <p:cNvPr id="10" name="Text 7">
            <a:extLst xmlns:a="http://schemas.openxmlformats.org/drawingml/2006/main">
              <a:ext uri="{FF2B5EF4-FFF2-40B4-BE49-F238E27FC236}">
                <a16:creationId xmlns:a16="http://schemas.microsoft.com/office/drawing/2014/main" id="{1B505049-7C84-4D63-8ACF-D3C7C8FC25EF}"/>
              </a:ext>
            </a:extLst>
          </p:cNvPr>
          <p:cNvSpPr>
            <a:spLocks xmlns:a="http://schemas.openxmlformats.org/drawingml/2006/main" noGrp="1"/>
          </p:cNvSpPr>
          <p:nvPr/>
        </p:nvSpPr>
        <p:spPr>
          <a:xfrm xmlns:a="http://schemas.openxmlformats.org/drawingml/2006/main">
            <a:off x="502920" y="4901184"/>
            <a:ext cx="368503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0E7C86"/>
                </a:solidFill>
                <a:latin typeface="Cambria"/>
                <a:ea typeface="Cambria"/>
                <a:cs typeface="Cambria"/>
              </a:rPr>
              <a:t>0.66</a:t>
            </a:r>
            <a:endParaRPr sz="3000"/>
          </a:p>
        </p:txBody>
      </p:sp>
      <p:sp>
        <p:nvSpPr>
          <p:cNvPr id="11" name="Text 8">
            <a:extLst xmlns:a="http://schemas.openxmlformats.org/drawingml/2006/main">
              <a:ext uri="{FF2B5EF4-FFF2-40B4-BE49-F238E27FC236}">
                <a16:creationId xmlns:a16="http://schemas.microsoft.com/office/drawing/2014/main" id="{0A964D41-1496-456A-BE0B-E2323AEE54AF}"/>
              </a:ext>
            </a:extLst>
          </p:cNvPr>
          <p:cNvSpPr>
            <a:spLocks xmlns:a="http://schemas.openxmlformats.org/drawingml/2006/main" noGrp="1"/>
          </p:cNvSpPr>
          <p:nvPr/>
        </p:nvSpPr>
        <p:spPr>
          <a:xfrm xmlns:a="http://schemas.openxmlformats.org/drawingml/2006/main">
            <a:off x="502920" y="5404104"/>
            <a:ext cx="368503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B6B75"/>
                </a:solidFill>
                <a:latin typeface="Calibri"/>
                <a:ea typeface="Calibri"/>
                <a:cs typeface="Calibri"/>
              </a:rPr>
              <a:t>ROC AUC — useful, not oracular</a:t>
            </a:r>
            <a:endParaRPr sz="1050"/>
          </a:p>
        </p:txBody>
      </p:sp>
      <p:sp>
        <p:nvSpPr>
          <p:cNvPr id="12" name="Shape 9">
            <a:extLst xmlns:a="http://schemas.openxmlformats.org/drawingml/2006/main">
              <a:ext uri="{FF2B5EF4-FFF2-40B4-BE49-F238E27FC236}">
                <a16:creationId xmlns:a16="http://schemas.microsoft.com/office/drawing/2014/main" id="{C9AB8438-6C43-4E70-B1C2-B856E610714D}"/>
              </a:ext>
            </a:extLst>
          </p:cNvPr>
          <p:cNvSpPr>
            <a:spLocks xmlns:a="http://schemas.openxmlformats.org/drawingml/2006/main" noGrp="1"/>
          </p:cNvSpPr>
          <p:nvPr/>
        </p:nvSpPr>
        <p:spPr>
          <a:xfrm xmlns:a="http://schemas.openxmlformats.org/drawingml/2006/main">
            <a:off x="4325112" y="4809744"/>
            <a:ext cx="3685032" cy="1234440"/>
          </a:xfrm>
          <a:prstGeom xmlns:a="http://schemas.openxmlformats.org/drawingml/2006/main" prst="roundRect">
            <a:avLst>
              <a:gd name="adj" fmla="val 6667"/>
            </a:avLst>
          </a:prstGeom>
          <a:solidFill xmlns:a="http://schemas.openxmlformats.org/drawingml/2006/main">
            <a:srgbClr val="F3F8F9"/>
          </a:solidFill>
        </p:spPr>
      </p:sp>
      <p:sp>
        <p:nvSpPr>
          <p:cNvPr id="13" name="Text 10">
            <a:extLst xmlns:a="http://schemas.openxmlformats.org/drawingml/2006/main">
              <a:ext uri="{FF2B5EF4-FFF2-40B4-BE49-F238E27FC236}">
                <a16:creationId xmlns:a16="http://schemas.microsoft.com/office/drawing/2014/main" id="{A6E45640-703D-46DD-892F-E83721C6662C}"/>
              </a:ext>
            </a:extLst>
          </p:cNvPr>
          <p:cNvSpPr>
            <a:spLocks xmlns:a="http://schemas.openxmlformats.org/drawingml/2006/main" noGrp="1"/>
          </p:cNvSpPr>
          <p:nvPr/>
        </p:nvSpPr>
        <p:spPr>
          <a:xfrm xmlns:a="http://schemas.openxmlformats.org/drawingml/2006/main">
            <a:off x="4325112" y="4901184"/>
            <a:ext cx="368503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0E7C86"/>
                </a:solidFill>
                <a:latin typeface="Cambria"/>
                <a:ea typeface="Cambria"/>
                <a:cs typeface="Cambria"/>
              </a:rPr>
              <a:t>×2.1</a:t>
            </a:r>
            <a:endParaRPr sz="3000"/>
          </a:p>
        </p:txBody>
      </p:sp>
      <p:sp>
        <p:nvSpPr>
          <p:cNvPr id="14" name="Text 11">
            <a:extLst xmlns:a="http://schemas.openxmlformats.org/drawingml/2006/main">
              <a:ext uri="{FF2B5EF4-FFF2-40B4-BE49-F238E27FC236}">
                <a16:creationId xmlns:a16="http://schemas.microsoft.com/office/drawing/2014/main" id="{4A2571BA-8C04-4A8F-9F93-F94D9E0EDBBF}"/>
              </a:ext>
            </a:extLst>
          </p:cNvPr>
          <p:cNvSpPr>
            <a:spLocks xmlns:a="http://schemas.openxmlformats.org/drawingml/2006/main" noGrp="1"/>
          </p:cNvSpPr>
          <p:nvPr/>
        </p:nvSpPr>
        <p:spPr>
          <a:xfrm xmlns:a="http://schemas.openxmlformats.org/drawingml/2006/main">
            <a:off x="4325112" y="5404104"/>
            <a:ext cx="368503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B6B75"/>
                </a:solidFill>
                <a:latin typeface="Calibri"/>
                <a:ea typeface="Calibri"/>
                <a:cs typeface="Calibri"/>
              </a:rPr>
              <a:t>lift in top-20% risk decile vs base</a:t>
            </a:r>
            <a:endParaRPr sz="1050"/>
          </a:p>
        </p:txBody>
      </p:sp>
      <p:sp>
        <p:nvSpPr>
          <p:cNvPr id="15" name="Shape 12">
            <a:extLst xmlns:a="http://schemas.openxmlformats.org/drawingml/2006/main">
              <a:ext uri="{FF2B5EF4-FFF2-40B4-BE49-F238E27FC236}">
                <a16:creationId xmlns:a16="http://schemas.microsoft.com/office/drawing/2014/main" id="{7CF8D87E-1294-4371-96F8-E4AFE50AD8D3}"/>
              </a:ext>
            </a:extLst>
          </p:cNvPr>
          <p:cNvSpPr>
            <a:spLocks xmlns:a="http://schemas.openxmlformats.org/drawingml/2006/main" noGrp="1"/>
          </p:cNvSpPr>
          <p:nvPr/>
        </p:nvSpPr>
        <p:spPr>
          <a:xfrm xmlns:a="http://schemas.openxmlformats.org/drawingml/2006/main">
            <a:off x="8147304" y="4809744"/>
            <a:ext cx="3685032" cy="1234440"/>
          </a:xfrm>
          <a:prstGeom xmlns:a="http://schemas.openxmlformats.org/drawingml/2006/main" prst="roundRect">
            <a:avLst>
              <a:gd name="adj" fmla="val 6667"/>
            </a:avLst>
          </a:prstGeom>
          <a:solidFill xmlns:a="http://schemas.openxmlformats.org/drawingml/2006/main">
            <a:srgbClr val="F3F8F9"/>
          </a:solidFill>
        </p:spPr>
      </p:sp>
      <p:sp>
        <p:nvSpPr>
          <p:cNvPr id="16" name="Text 13">
            <a:extLst xmlns:a="http://schemas.openxmlformats.org/drawingml/2006/main">
              <a:ext uri="{FF2B5EF4-FFF2-40B4-BE49-F238E27FC236}">
                <a16:creationId xmlns:a16="http://schemas.microsoft.com/office/drawing/2014/main" id="{4EABFE90-B939-4424-A45E-B80698F63E01}"/>
              </a:ext>
            </a:extLst>
          </p:cNvPr>
          <p:cNvSpPr>
            <a:spLocks xmlns:a="http://schemas.openxmlformats.org/drawingml/2006/main" noGrp="1"/>
          </p:cNvSpPr>
          <p:nvPr/>
        </p:nvSpPr>
        <p:spPr>
          <a:xfrm xmlns:a="http://schemas.openxmlformats.org/drawingml/2006/main">
            <a:off x="8147304" y="4901184"/>
            <a:ext cx="368503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C2660A"/>
                </a:solidFill>
                <a:latin typeface="Cambria"/>
                <a:ea typeface="Cambria"/>
                <a:cs typeface="Cambria"/>
              </a:rPr>
              <a:t>0.26</a:t>
            </a:r>
            <a:endParaRPr sz="3000"/>
          </a:p>
        </p:txBody>
      </p:sp>
      <p:sp>
        <p:nvSpPr>
          <p:cNvPr id="17" name="Text 14">
            <a:extLst xmlns:a="http://schemas.openxmlformats.org/drawingml/2006/main">
              <a:ext uri="{FF2B5EF4-FFF2-40B4-BE49-F238E27FC236}">
                <a16:creationId xmlns:a16="http://schemas.microsoft.com/office/drawing/2014/main" id="{376ACD17-56C8-4D12-B8F3-D3433D6B491B}"/>
              </a:ext>
            </a:extLst>
          </p:cNvPr>
          <p:cNvSpPr>
            <a:spLocks xmlns:a="http://schemas.openxmlformats.org/drawingml/2006/main" noGrp="1"/>
          </p:cNvSpPr>
          <p:nvPr/>
        </p:nvSpPr>
        <p:spPr>
          <a:xfrm xmlns:a="http://schemas.openxmlformats.org/drawingml/2006/main">
            <a:off x="8147304" y="5404104"/>
            <a:ext cx="368503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B6B75"/>
                </a:solidFill>
                <a:latin typeface="Calibri"/>
                <a:ea typeface="Calibri"/>
                <a:cs typeface="Calibri"/>
              </a:rPr>
              <a:t>P(no-show) if any prior miss</a:t>
            </a:r>
            <a:endParaRPr sz="1050"/>
          </a:p>
        </p:txBody>
      </p:sp>
    </p:spTree>
    <p:extLst>
      <p:ext uri="{BB962C8B-B14F-4D97-AF65-F5344CB8AC3E}">
        <p14:creationId xmlns:p14="http://schemas.microsoft.com/office/powerpoint/2010/main" val="353769926"/>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EE79C1D-409B-4039-9E27-012FC4DF89D6}"/>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0E287403-7866-4BBA-B331-D023094B1220}"/>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65</a:t>
            </a:r>
            <a:endParaRPr sz="900"/>
          </a:p>
        </p:txBody>
      </p:sp>
      <p:sp>
        <p:nvSpPr>
          <p:cNvPr id="4" name="Shape 2">
            <a:extLst xmlns:a="http://schemas.openxmlformats.org/drawingml/2006/main">
              <a:ext uri="{FF2B5EF4-FFF2-40B4-BE49-F238E27FC236}">
                <a16:creationId xmlns:a16="http://schemas.microsoft.com/office/drawing/2014/main" id="{8DB7B6A2-37D0-4E9E-88A6-9B3B72E2F369}"/>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2005AB61-02EC-48D6-B300-E359C52D53D3}"/>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6</a:t>
            </a:r>
            <a:endParaRPr sz="1050"/>
          </a:p>
        </p:txBody>
      </p:sp>
      <p:sp>
        <p:nvSpPr>
          <p:cNvPr id="6" name="Text 4">
            <a:extLst xmlns:a="http://schemas.openxmlformats.org/drawingml/2006/main">
              <a:ext uri="{FF2B5EF4-FFF2-40B4-BE49-F238E27FC236}">
                <a16:creationId xmlns:a16="http://schemas.microsoft.com/office/drawing/2014/main" id="{E35513C2-929D-48D0-8424-692B35704BB7}"/>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Evaluating the risk model like an operator, not a Kaggler</a:t>
            </a:r>
            <a:endParaRPr sz="2800"/>
          </a:p>
        </p:txBody>
      </p:sp>
      <p:sp>
        <p:nvSpPr>
          <p:cNvPr id="7" name="Text 5">
            <a:extLst xmlns:a="http://schemas.openxmlformats.org/drawingml/2006/main">
              <a:ext uri="{FF2B5EF4-FFF2-40B4-BE49-F238E27FC236}">
                <a16:creationId xmlns:a16="http://schemas.microsoft.com/office/drawing/2014/main" id="{DA57E9BA-149E-441F-9E9B-EF5924765536}"/>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Accuracy is the wrong question when 18% of the class is positive and capacity is fixed</a:t>
            </a:r>
            <a:endParaRPr sz="1350"/>
          </a:p>
        </p:txBody>
      </p:sp>
      <p:sp>
        <p:nvSpPr>
          <p:cNvPr id="8" name="Shape 6">
            <a:extLst xmlns:a="http://schemas.openxmlformats.org/drawingml/2006/main">
              <a:ext uri="{FF2B5EF4-FFF2-40B4-BE49-F238E27FC236}">
                <a16:creationId xmlns:a16="http://schemas.microsoft.com/office/drawing/2014/main" id="{F7EFDAC8-F4E0-4995-A896-13CA22FA62F4}"/>
              </a:ext>
            </a:extLst>
          </p:cNvPr>
          <p:cNvSpPr>
            <a:spLocks xmlns:a="http://schemas.openxmlformats.org/drawingml/2006/main" noGrp="1"/>
          </p:cNvSpPr>
          <p:nvPr/>
        </p:nvSpPr>
        <p:spPr>
          <a:xfrm xmlns:a="http://schemas.openxmlformats.org/drawingml/2006/main">
            <a:off x="502920" y="1837944"/>
            <a:ext cx="3685032" cy="3154680"/>
          </a:xfrm>
          <a:prstGeom xmlns:a="http://schemas.openxmlformats.org/drawingml/2006/main" prst="roundRect">
            <a:avLst>
              <a:gd name="adj" fmla="val 2609"/>
            </a:avLst>
          </a:prstGeom>
          <a:solidFill xmlns:a="http://schemas.openxmlformats.org/drawingml/2006/main">
            <a:srgbClr val="F3F8F9"/>
          </a:solidFill>
        </p:spPr>
      </p:sp>
      <p:sp>
        <p:nvSpPr>
          <p:cNvPr id="9" name="Shape 7">
            <a:extLst xmlns:a="http://schemas.openxmlformats.org/drawingml/2006/main">
              <a:ext uri="{FF2B5EF4-FFF2-40B4-BE49-F238E27FC236}">
                <a16:creationId xmlns:a16="http://schemas.microsoft.com/office/drawing/2014/main" id="{18DC2899-13EB-4F00-B03A-D92CB8D0E493}"/>
              </a:ext>
            </a:extLst>
          </p:cNvPr>
          <p:cNvSpPr>
            <a:spLocks xmlns:a="http://schemas.openxmlformats.org/drawingml/2006/main" noGrp="1"/>
          </p:cNvSpPr>
          <p:nvPr/>
        </p:nvSpPr>
        <p:spPr>
          <a:xfrm xmlns:a="http://schemas.openxmlformats.org/drawingml/2006/main">
            <a:off x="704088" y="2020824"/>
            <a:ext cx="457200" cy="457200"/>
          </a:xfrm>
          <a:prstGeom xmlns:a="http://schemas.openxmlformats.org/drawingml/2006/main" prst="ellipse">
            <a:avLst/>
          </a:prstGeom>
          <a:solidFill xmlns:a="http://schemas.openxmlformats.org/drawingml/2006/main">
            <a:srgbClr val="0E7C86"/>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3b5a8c0fd41d463a"/>
          <a:stretch xmlns:a="http://schemas.openxmlformats.org/drawingml/2006/main">
            <a:fillRect l="0" t="0" r="0" b="0"/>
          </a:stretch>
        </p:blipFill>
        <p:spPr>
          <a:xfrm xmlns:a="http://schemas.openxmlformats.org/drawingml/2006/main">
            <a:off x="822960" y="2139696"/>
            <a:ext cx="219456" cy="219456"/>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73E07EFB-07A0-437A-A516-84EB3E0C06EF}"/>
              </a:ext>
            </a:extLst>
          </p:cNvPr>
          <p:cNvSpPr>
            <a:spLocks xmlns:a="http://schemas.openxmlformats.org/drawingml/2006/main" noGrp="1"/>
          </p:cNvSpPr>
          <p:nvPr/>
        </p:nvSpPr>
        <p:spPr>
          <a:xfrm xmlns:a="http://schemas.openxmlformats.org/drawingml/2006/main">
            <a:off x="1289304" y="2075688"/>
            <a:ext cx="283464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250" b="1">
                <a:solidFill>
                  <a:srgbClr val="0B3140"/>
                </a:solidFill>
                <a:latin typeface="Cambria"/>
                <a:ea typeface="Cambria"/>
                <a:cs typeface="Cambria"/>
              </a:rPr>
              <a:t>Discrimination — AUC 0.66</a:t>
            </a:r>
            <a:endParaRPr sz="1250"/>
          </a:p>
        </p:txBody>
      </p:sp>
      <p:sp>
        <p:nvSpPr>
          <p:cNvPr id="12" name="Text 9">
            <a:extLst xmlns:a="http://schemas.openxmlformats.org/drawingml/2006/main">
              <a:ext uri="{FF2B5EF4-FFF2-40B4-BE49-F238E27FC236}">
                <a16:creationId xmlns:a16="http://schemas.microsoft.com/office/drawing/2014/main" id="{336FF2BC-9EF9-453D-B9E5-269596AAED7D}"/>
              </a:ext>
            </a:extLst>
          </p:cNvPr>
          <p:cNvSpPr>
            <a:spLocks xmlns:a="http://schemas.openxmlformats.org/drawingml/2006/main" noGrp="1"/>
          </p:cNvSpPr>
          <p:nvPr/>
        </p:nvSpPr>
        <p:spPr>
          <a:xfrm xmlns:a="http://schemas.openxmlformats.org/drawingml/2006/main">
            <a:off x="722376" y="2752344"/>
            <a:ext cx="3291840" cy="2148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60">
                <a:solidFill>
                  <a:srgbClr val="24313A"/>
                </a:solidFill>
                <a:latin typeface="Calibri"/>
                <a:ea typeface="Calibri"/>
                <a:cs typeface="Calibri"/>
              </a:rPr>
              <a:t>P(random no-show scores above random attender) = 0.66. Meaningfully better than coin-flip, far from deterministic. Human behaviour caps AUC well below 1 — say this out loud before anyone is disappointed.</a:t>
            </a:r>
            <a:endParaRPr sz="1060"/>
          </a:p>
        </p:txBody>
      </p:sp>
      <p:sp>
        <p:nvSpPr>
          <p:cNvPr id="13" name="Shape 10">
            <a:extLst xmlns:a="http://schemas.openxmlformats.org/drawingml/2006/main">
              <a:ext uri="{FF2B5EF4-FFF2-40B4-BE49-F238E27FC236}">
                <a16:creationId xmlns:a16="http://schemas.microsoft.com/office/drawing/2014/main" id="{A08F3FC7-0A4F-4E5E-82A0-036D4711E486}"/>
              </a:ext>
            </a:extLst>
          </p:cNvPr>
          <p:cNvSpPr>
            <a:spLocks xmlns:a="http://schemas.openxmlformats.org/drawingml/2006/main" noGrp="1"/>
          </p:cNvSpPr>
          <p:nvPr/>
        </p:nvSpPr>
        <p:spPr>
          <a:xfrm xmlns:a="http://schemas.openxmlformats.org/drawingml/2006/main">
            <a:off x="4325112" y="1837944"/>
            <a:ext cx="3685032" cy="3154680"/>
          </a:xfrm>
          <a:prstGeom xmlns:a="http://schemas.openxmlformats.org/drawingml/2006/main" prst="roundRect">
            <a:avLst>
              <a:gd name="adj" fmla="val 2609"/>
            </a:avLst>
          </a:prstGeom>
          <a:solidFill xmlns:a="http://schemas.openxmlformats.org/drawingml/2006/main">
            <a:srgbClr val="E7F2F3"/>
          </a:solidFill>
        </p:spPr>
      </p:sp>
      <p:sp>
        <p:nvSpPr>
          <p:cNvPr id="14" name="Shape 11">
            <a:extLst xmlns:a="http://schemas.openxmlformats.org/drawingml/2006/main">
              <a:ext uri="{FF2B5EF4-FFF2-40B4-BE49-F238E27FC236}">
                <a16:creationId xmlns:a16="http://schemas.microsoft.com/office/drawing/2014/main" id="{35EA0F68-ABBB-402E-BD93-09E156134965}"/>
              </a:ext>
            </a:extLst>
          </p:cNvPr>
          <p:cNvSpPr>
            <a:spLocks xmlns:a="http://schemas.openxmlformats.org/drawingml/2006/main" noGrp="1"/>
          </p:cNvSpPr>
          <p:nvPr/>
        </p:nvSpPr>
        <p:spPr>
          <a:xfrm xmlns:a="http://schemas.openxmlformats.org/drawingml/2006/main">
            <a:off x="4526280" y="2020824"/>
            <a:ext cx="457200" cy="457200"/>
          </a:xfrm>
          <a:prstGeom xmlns:a="http://schemas.openxmlformats.org/drawingml/2006/main" prst="ellipse">
            <a:avLst/>
          </a:prstGeom>
          <a:solidFill xmlns:a="http://schemas.openxmlformats.org/drawingml/2006/main">
            <a:srgbClr val="0E7C86"/>
          </a:solidFill>
        </p:spPr>
      </p:sp>
      <p:pic>
        <p:nvPicPr>
          <p:cNvPr id="44" name="Image 1"/>
          <p:cNvPicPr>
            <a:picLocks xmlns:a="http://schemas.openxmlformats.org/drawingml/2006/main" noChangeAspect="1"/>
          </p:cNvPicPr>
          <p:nvPr/>
        </p:nvPicPr>
        <p:blipFill>
          <a:blip xmlns:r="http://schemas.openxmlformats.org/officeDocument/2006/relationships" xmlns:a="http://schemas.openxmlformats.org/drawingml/2006/main" r:embed="Rfe2eb55d67954a72"/>
          <a:stretch xmlns:a="http://schemas.openxmlformats.org/drawingml/2006/main">
            <a:fillRect l="0" t="0" r="0" b="0"/>
          </a:stretch>
        </p:blipFill>
        <p:spPr>
          <a:xfrm xmlns:a="http://schemas.openxmlformats.org/drawingml/2006/main">
            <a:off x="4645152" y="2139696"/>
            <a:ext cx="219456" cy="219456"/>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542CC533-7113-40F2-B245-6AD2D8819588}"/>
              </a:ext>
            </a:extLst>
          </p:cNvPr>
          <p:cNvSpPr>
            <a:spLocks xmlns:a="http://schemas.openxmlformats.org/drawingml/2006/main" noGrp="1"/>
          </p:cNvSpPr>
          <p:nvPr/>
        </p:nvSpPr>
        <p:spPr>
          <a:xfrm xmlns:a="http://schemas.openxmlformats.org/drawingml/2006/main">
            <a:off x="5111496" y="2075688"/>
            <a:ext cx="283464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250" b="1">
                <a:solidFill>
                  <a:srgbClr val="0B3140"/>
                </a:solidFill>
                <a:latin typeface="Cambria"/>
                <a:ea typeface="Cambria"/>
                <a:cs typeface="Cambria"/>
              </a:rPr>
              <a:t>Threshold from capacity, not 0.5</a:t>
            </a:r>
            <a:endParaRPr sz="1250"/>
          </a:p>
        </p:txBody>
      </p:sp>
      <p:sp>
        <p:nvSpPr>
          <p:cNvPr id="17" name="Text 13">
            <a:extLst xmlns:a="http://schemas.openxmlformats.org/drawingml/2006/main">
              <a:ext uri="{FF2B5EF4-FFF2-40B4-BE49-F238E27FC236}">
                <a16:creationId xmlns:a16="http://schemas.microsoft.com/office/drawing/2014/main" id="{5462F896-31C9-48FA-9F8A-FC3AAD4AEFFB}"/>
              </a:ext>
            </a:extLst>
          </p:cNvPr>
          <p:cNvSpPr>
            <a:spLocks xmlns:a="http://schemas.openxmlformats.org/drawingml/2006/main" noGrp="1"/>
          </p:cNvSpPr>
          <p:nvPr/>
        </p:nvSpPr>
        <p:spPr>
          <a:xfrm xmlns:a="http://schemas.openxmlformats.org/drawingml/2006/main">
            <a:off x="4544568" y="2752344"/>
            <a:ext cx="3291840" cy="2148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60">
                <a:solidFill>
                  <a:srgbClr val="24313A"/>
                </a:solidFill>
                <a:latin typeface="Calibri"/>
                <a:ea typeface="Calibri"/>
                <a:cs typeface="Calibri"/>
              </a:rPr>
              <a:t>The call centre can handle the top 20% of risk. Set the cutoff there: it catches ~2.1× more no-shows per call than random outreach. The threshold is an operations decision wearing a statistics costume.</a:t>
            </a:r>
            <a:endParaRPr sz="1060"/>
          </a:p>
        </p:txBody>
      </p:sp>
      <p:sp>
        <p:nvSpPr>
          <p:cNvPr id="18" name="Shape 14">
            <a:extLst xmlns:a="http://schemas.openxmlformats.org/drawingml/2006/main">
              <a:ext uri="{FF2B5EF4-FFF2-40B4-BE49-F238E27FC236}">
                <a16:creationId xmlns:a16="http://schemas.microsoft.com/office/drawing/2014/main" id="{DF356B79-CF2A-43C3-B4A1-F308D48E5B2E}"/>
              </a:ext>
            </a:extLst>
          </p:cNvPr>
          <p:cNvSpPr>
            <a:spLocks xmlns:a="http://schemas.openxmlformats.org/drawingml/2006/main" noGrp="1"/>
          </p:cNvSpPr>
          <p:nvPr/>
        </p:nvSpPr>
        <p:spPr>
          <a:xfrm xmlns:a="http://schemas.openxmlformats.org/drawingml/2006/main">
            <a:off x="8147304" y="1837944"/>
            <a:ext cx="3685032" cy="3154680"/>
          </a:xfrm>
          <a:prstGeom xmlns:a="http://schemas.openxmlformats.org/drawingml/2006/main" prst="roundRect">
            <a:avLst>
              <a:gd name="adj" fmla="val 2609"/>
            </a:avLst>
          </a:prstGeom>
          <a:solidFill xmlns:a="http://schemas.openxmlformats.org/drawingml/2006/main">
            <a:srgbClr val="F3F8F9"/>
          </a:solidFill>
        </p:spPr>
      </p:sp>
      <p:sp>
        <p:nvSpPr>
          <p:cNvPr id="19" name="Shape 15">
            <a:extLst xmlns:a="http://schemas.openxmlformats.org/drawingml/2006/main">
              <a:ext uri="{FF2B5EF4-FFF2-40B4-BE49-F238E27FC236}">
                <a16:creationId xmlns:a16="http://schemas.microsoft.com/office/drawing/2014/main" id="{40931795-81DB-4862-B6B4-51FAAD2131E7}"/>
              </a:ext>
            </a:extLst>
          </p:cNvPr>
          <p:cNvSpPr>
            <a:spLocks xmlns:a="http://schemas.openxmlformats.org/drawingml/2006/main" noGrp="1"/>
          </p:cNvSpPr>
          <p:nvPr/>
        </p:nvSpPr>
        <p:spPr>
          <a:xfrm xmlns:a="http://schemas.openxmlformats.org/drawingml/2006/main">
            <a:off x="8348472" y="2020824"/>
            <a:ext cx="457200" cy="457200"/>
          </a:xfrm>
          <a:prstGeom xmlns:a="http://schemas.openxmlformats.org/drawingml/2006/main" prst="ellipse">
            <a:avLst/>
          </a:prstGeom>
          <a:solidFill xmlns:a="http://schemas.openxmlformats.org/drawingml/2006/main">
            <a:srgbClr val="0E7C86"/>
          </a:solidFill>
        </p:spPr>
      </p:sp>
      <p:pic>
        <p:nvPicPr>
          <p:cNvPr id="49" name="Image 2"/>
          <p:cNvPicPr>
            <a:picLocks xmlns:a="http://schemas.openxmlformats.org/drawingml/2006/main" noChangeAspect="1"/>
          </p:cNvPicPr>
          <p:nvPr/>
        </p:nvPicPr>
        <p:blipFill>
          <a:blip xmlns:r="http://schemas.openxmlformats.org/officeDocument/2006/relationships" xmlns:a="http://schemas.openxmlformats.org/drawingml/2006/main" r:embed="Rf15e6de06a2a40f2"/>
          <a:stretch xmlns:a="http://schemas.openxmlformats.org/drawingml/2006/main">
            <a:fillRect l="0" t="0" r="0" b="0"/>
          </a:stretch>
        </p:blipFill>
        <p:spPr>
          <a:xfrm xmlns:a="http://schemas.openxmlformats.org/drawingml/2006/main">
            <a:off x="8467344" y="2139696"/>
            <a:ext cx="219456" cy="219456"/>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5D1E9AA8-10F6-4844-9735-47C4A11E48E6}"/>
              </a:ext>
            </a:extLst>
          </p:cNvPr>
          <p:cNvSpPr>
            <a:spLocks xmlns:a="http://schemas.openxmlformats.org/drawingml/2006/main" noGrp="1"/>
          </p:cNvSpPr>
          <p:nvPr/>
        </p:nvSpPr>
        <p:spPr>
          <a:xfrm xmlns:a="http://schemas.openxmlformats.org/drawingml/2006/main">
            <a:off x="8933688" y="2075688"/>
            <a:ext cx="283464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250" b="1">
                <a:solidFill>
                  <a:srgbClr val="0B3140"/>
                </a:solidFill>
                <a:latin typeface="Cambria"/>
                <a:ea typeface="Cambria"/>
                <a:cs typeface="Cambria"/>
              </a:rPr>
              <a:t>Calibration — the memo's currency</a:t>
            </a:r>
            <a:endParaRPr sz="1250"/>
          </a:p>
        </p:txBody>
      </p:sp>
      <p:sp>
        <p:nvSpPr>
          <p:cNvPr id="22" name="Text 17">
            <a:extLst xmlns:a="http://schemas.openxmlformats.org/drawingml/2006/main">
              <a:ext uri="{FF2B5EF4-FFF2-40B4-BE49-F238E27FC236}">
                <a16:creationId xmlns:a16="http://schemas.microsoft.com/office/drawing/2014/main" id="{A0F339F3-FD35-4F41-A7A5-0605619347AD}"/>
              </a:ext>
            </a:extLst>
          </p:cNvPr>
          <p:cNvSpPr>
            <a:spLocks xmlns:a="http://schemas.openxmlformats.org/drawingml/2006/main" noGrp="1"/>
          </p:cNvSpPr>
          <p:nvPr/>
        </p:nvSpPr>
        <p:spPr>
          <a:xfrm xmlns:a="http://schemas.openxmlformats.org/drawingml/2006/main">
            <a:off x="8366760" y="2752344"/>
            <a:ext cx="3291840" cy="2148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60">
                <a:solidFill>
                  <a:srgbClr val="24313A"/>
                </a:solidFill>
                <a:latin typeface="Calibri"/>
                <a:ea typeface="Calibri"/>
                <a:cs typeface="Calibri"/>
              </a:rPr>
              <a:t>When the model says 30%, do ~30% no-show? Bin predictions into deciles and compare. A well-calibrated 0.66-AUC model beats an overconfident 0.70 — planners consume probabilities, not rankings.</a:t>
            </a:r>
            <a:endParaRPr sz="1060"/>
          </a:p>
        </p:txBody>
      </p:sp>
      <p:sp>
        <p:nvSpPr>
          <p:cNvPr id="23" name="Shape 18">
            <a:extLst xmlns:a="http://schemas.openxmlformats.org/drawingml/2006/main">
              <a:ext uri="{FF2B5EF4-FFF2-40B4-BE49-F238E27FC236}">
                <a16:creationId xmlns:a16="http://schemas.microsoft.com/office/drawing/2014/main" id="{11A1CB3B-7DD4-4CA6-8028-40AC022CDD35}"/>
              </a:ext>
            </a:extLst>
          </p:cNvPr>
          <p:cNvSpPr>
            <a:spLocks xmlns:a="http://schemas.openxmlformats.org/drawingml/2006/main" noGrp="1"/>
          </p:cNvSpPr>
          <p:nvPr/>
        </p:nvSpPr>
        <p:spPr>
          <a:xfrm xmlns:a="http://schemas.openxmlformats.org/drawingml/2006/main">
            <a:off x="502920" y="5175504"/>
            <a:ext cx="11201400" cy="1234440"/>
          </a:xfrm>
          <a:prstGeom xmlns:a="http://schemas.openxmlformats.org/drawingml/2006/main" prst="roundRect">
            <a:avLst>
              <a:gd name="adj" fmla="val 6667"/>
            </a:avLst>
          </a:prstGeom>
          <a:solidFill xmlns:a="http://schemas.openxmlformats.org/drawingml/2006/main">
            <a:srgbClr val="FBEEDD"/>
          </a:solidFill>
        </p:spPr>
      </p:sp>
      <p:sp>
        <p:nvSpPr>
          <p:cNvPr id="24" name="Shape 19">
            <a:extLst xmlns:a="http://schemas.openxmlformats.org/drawingml/2006/main">
              <a:ext uri="{FF2B5EF4-FFF2-40B4-BE49-F238E27FC236}">
                <a16:creationId xmlns:a16="http://schemas.microsoft.com/office/drawing/2014/main" id="{3E9DBB91-B246-469A-AEA1-4A493E6A2578}"/>
              </a:ext>
            </a:extLst>
          </p:cNvPr>
          <p:cNvSpPr>
            <a:spLocks xmlns:a="http://schemas.openxmlformats.org/drawingml/2006/main" noGrp="1"/>
          </p:cNvSpPr>
          <p:nvPr/>
        </p:nvSpPr>
        <p:spPr>
          <a:xfrm xmlns:a="http://schemas.openxmlformats.org/drawingml/2006/main">
            <a:off x="731520" y="5358384"/>
            <a:ext cx="420624" cy="420624"/>
          </a:xfrm>
          <a:prstGeom xmlns:a="http://schemas.openxmlformats.org/drawingml/2006/main" prst="ellipse">
            <a:avLst/>
          </a:prstGeom>
          <a:solidFill xmlns:a="http://schemas.openxmlformats.org/drawingml/2006/main">
            <a:srgbClr val="C2660A"/>
          </a:solidFill>
        </p:spPr>
      </p:sp>
      <p:pic>
        <p:nvPicPr>
          <p:cNvPr id="54" name="Image 3"/>
          <p:cNvPicPr>
            <a:picLocks xmlns:a="http://schemas.openxmlformats.org/drawingml/2006/main" noChangeAspect="1"/>
          </p:cNvPicPr>
          <p:nvPr/>
        </p:nvPicPr>
        <p:blipFill>
          <a:blip xmlns:r="http://schemas.openxmlformats.org/officeDocument/2006/relationships" xmlns:a="http://schemas.openxmlformats.org/drawingml/2006/main" r:embed="Rb97020a09261425d"/>
          <a:stretch xmlns:a="http://schemas.openxmlformats.org/drawingml/2006/main">
            <a:fillRect l="0" t="0" r="0" b="0"/>
          </a:stretch>
        </p:blipFill>
        <p:spPr>
          <a:xfrm xmlns:a="http://schemas.openxmlformats.org/drawingml/2006/main">
            <a:off x="840882" y="5467746"/>
            <a:ext cx="201900" cy="201900"/>
          </a:xfrm>
          <a:prstGeom xmlns:a="http://schemas.openxmlformats.org/drawingml/2006/main" prst="rect">
            <a:avLst/>
          </a:prstGeom>
        </p:spPr>
      </p:pic>
      <p:sp>
        <p:nvSpPr>
          <p:cNvPr id="26" name="Text 20">
            <a:extLst xmlns:a="http://schemas.openxmlformats.org/drawingml/2006/main">
              <a:ext uri="{FF2B5EF4-FFF2-40B4-BE49-F238E27FC236}">
                <a16:creationId xmlns:a16="http://schemas.microsoft.com/office/drawing/2014/main" id="{F888EE90-DD3E-453C-B39E-54A059DA85FA}"/>
              </a:ext>
            </a:extLst>
          </p:cNvPr>
          <p:cNvSpPr>
            <a:spLocks xmlns:a="http://schemas.openxmlformats.org/drawingml/2006/main" noGrp="1"/>
          </p:cNvSpPr>
          <p:nvPr/>
        </p:nvSpPr>
        <p:spPr>
          <a:xfrm xmlns:a="http://schemas.openxmlformats.org/drawingml/2006/main">
            <a:off x="1298448" y="5330952"/>
            <a:ext cx="1014984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180" b="1">
                <a:solidFill>
                  <a:srgbClr val="C2660A"/>
                </a:solidFill>
                <a:latin typeface="Calibri"/>
                <a:ea typeface="Calibri"/>
                <a:cs typeface="Calibri"/>
              </a:rPr>
              <a:t>The accuracy trap:  </a:t>
            </a:r>
            <a:r>
              <a:rPr sz="1180">
                <a:solidFill>
                  <a:srgbClr val="24313A"/>
                </a:solidFill>
                <a:latin typeface="Calibri"/>
                <a:ea typeface="Calibri"/>
                <a:cs typeface="Calibri"/>
              </a:rPr>
              <a:t>predicting 'shows up' for everyone scores 81.7% accuracy and saves zero appointments. Any metric that a useless model can ace is the wrong metric. Evaluate against the decision: calls available, no-shows caught, waits avoided.</a:t>
            </a:r>
            <a:endParaRPr sz="1180"/>
          </a:p>
        </p:txBody>
      </p:sp>
    </p:spTree>
    <p:extLst>
      <p:ext uri="{BB962C8B-B14F-4D97-AF65-F5344CB8AC3E}">
        <p14:creationId xmlns:p14="http://schemas.microsoft.com/office/powerpoint/2010/main" val="1596369082"/>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CCC9C1-143A-4DE1-91EA-729C3EF28871}"/>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EC7AC41E-F948-406E-B3CF-729B4C34B1B8}"/>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66</a:t>
            </a:r>
            <a:endParaRPr sz="900"/>
          </a:p>
        </p:txBody>
      </p:sp>
      <p:sp>
        <p:nvSpPr>
          <p:cNvPr id="4" name="Shape 2">
            <a:extLst xmlns:a="http://schemas.openxmlformats.org/drawingml/2006/main">
              <a:ext uri="{FF2B5EF4-FFF2-40B4-BE49-F238E27FC236}">
                <a16:creationId xmlns:a16="http://schemas.microsoft.com/office/drawing/2014/main" id="{6EC15ABA-2CF2-4267-882D-804F1E9EB067}"/>
              </a:ext>
            </a:extLst>
          </p:cNvPr>
          <p:cNvSpPr>
            <a:spLocks xmlns:a="http://schemas.openxmlformats.org/drawingml/2006/main" noGrp="1"/>
          </p:cNvSpPr>
          <p:nvPr/>
        </p:nvSpPr>
        <p:spPr>
          <a:xfrm xmlns:a="http://schemas.openxmlformats.org/drawingml/2006/main">
            <a:off x="502920" y="384048"/>
            <a:ext cx="2096719" cy="292608"/>
          </a:xfrm>
          <a:prstGeom xmlns:a="http://schemas.openxmlformats.org/drawingml/2006/main" prst="roundRect">
            <a:avLst>
              <a:gd name="adj" fmla="val 50000"/>
            </a:avLst>
          </a:prstGeom>
          <a:solidFill xmlns:a="http://schemas.openxmlformats.org/drawingml/2006/main">
            <a:srgbClr val="0B3140"/>
          </a:solidFill>
        </p:spPr>
      </p:sp>
      <p:sp>
        <p:nvSpPr>
          <p:cNvPr id="5" name="Text 3">
            <a:extLst xmlns:a="http://schemas.openxmlformats.org/drawingml/2006/main">
              <a:ext uri="{FF2B5EF4-FFF2-40B4-BE49-F238E27FC236}">
                <a16:creationId xmlns:a16="http://schemas.microsoft.com/office/drawing/2014/main" id="{21A1901B-76B4-4683-B4C8-5DC92ED2B698}"/>
              </a:ext>
            </a:extLst>
          </p:cNvPr>
          <p:cNvSpPr>
            <a:spLocks xmlns:a="http://schemas.openxmlformats.org/drawingml/2006/main" noGrp="1"/>
          </p:cNvSpPr>
          <p:nvPr/>
        </p:nvSpPr>
        <p:spPr>
          <a:xfrm xmlns:a="http://schemas.openxmlformats.org/drawingml/2006/main">
            <a:off x="502920" y="384048"/>
            <a:ext cx="209671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6 · CASE STUDY</a:t>
            </a:r>
            <a:endParaRPr sz="1050"/>
          </a:p>
        </p:txBody>
      </p:sp>
      <p:sp>
        <p:nvSpPr>
          <p:cNvPr id="6" name="Text 4">
            <a:extLst xmlns:a="http://schemas.openxmlformats.org/drawingml/2006/main">
              <a:ext uri="{FF2B5EF4-FFF2-40B4-BE49-F238E27FC236}">
                <a16:creationId xmlns:a16="http://schemas.microsoft.com/office/drawing/2014/main" id="{E297B956-59B4-4EE5-B1E1-BD753D0817A4}"/>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The model that was 'too good'</a:t>
            </a:r>
            <a:endParaRPr sz="2800"/>
          </a:p>
        </p:txBody>
      </p:sp>
      <p:sp>
        <p:nvSpPr>
          <p:cNvPr id="7" name="Shape 5">
            <a:extLst xmlns:a="http://schemas.openxmlformats.org/drawingml/2006/main">
              <a:ext uri="{FF2B5EF4-FFF2-40B4-BE49-F238E27FC236}">
                <a16:creationId xmlns:a16="http://schemas.microsoft.com/office/drawing/2014/main" id="{3FB005D7-F2E2-44B9-A849-1F715C8977AD}"/>
              </a:ext>
            </a:extLst>
          </p:cNvPr>
          <p:cNvSpPr>
            <a:spLocks xmlns:a="http://schemas.openxmlformats.org/drawingml/2006/main" noGrp="1"/>
          </p:cNvSpPr>
          <p:nvPr/>
        </p:nvSpPr>
        <p:spPr>
          <a:xfrm xmlns:a="http://schemas.openxmlformats.org/drawingml/2006/main">
            <a:off x="502920" y="1545336"/>
            <a:ext cx="5532120" cy="2240280"/>
          </a:xfrm>
          <a:prstGeom xmlns:a="http://schemas.openxmlformats.org/drawingml/2006/main" prst="roundRect">
            <a:avLst>
              <a:gd name="adj" fmla="val 3673"/>
            </a:avLst>
          </a:prstGeom>
          <a:solidFill xmlns:a="http://schemas.openxmlformats.org/drawingml/2006/main">
            <a:srgbClr val="F3F8F9"/>
          </a:solidFill>
        </p:spPr>
      </p:sp>
      <p:sp>
        <p:nvSpPr>
          <p:cNvPr id="8" name="Shape 6">
            <a:extLst xmlns:a="http://schemas.openxmlformats.org/drawingml/2006/main">
              <a:ext uri="{FF2B5EF4-FFF2-40B4-BE49-F238E27FC236}">
                <a16:creationId xmlns:a16="http://schemas.microsoft.com/office/drawing/2014/main" id="{86B8CD52-BEA5-453F-8BD2-43D4C79F04AF}"/>
              </a:ext>
            </a:extLst>
          </p:cNvPr>
          <p:cNvSpPr>
            <a:spLocks xmlns:a="http://schemas.openxmlformats.org/drawingml/2006/main" noGrp="1"/>
          </p:cNvSpPr>
          <p:nvPr/>
        </p:nvSpPr>
        <p:spPr>
          <a:xfrm xmlns:a="http://schemas.openxmlformats.org/drawingml/2006/main">
            <a:off x="704088" y="1728216"/>
            <a:ext cx="384048" cy="384048"/>
          </a:xfrm>
          <a:prstGeom xmlns:a="http://schemas.openxmlformats.org/drawingml/2006/main" prst="ellipse">
            <a:avLst/>
          </a:prstGeom>
          <a:solidFill xmlns:a="http://schemas.openxmlformats.org/drawingml/2006/main">
            <a:srgbClr val="0B3140"/>
          </a:solidFill>
        </p:spPr>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0b207b32aff14de3"/>
          <a:stretch xmlns:a="http://schemas.openxmlformats.org/drawingml/2006/main">
            <a:fillRect l="0" t="0" r="0" b="0"/>
          </a:stretch>
        </p:blipFill>
        <p:spPr>
          <a:xfrm xmlns:a="http://schemas.openxmlformats.org/drawingml/2006/main">
            <a:off x="803940" y="1828068"/>
            <a:ext cx="184343" cy="184343"/>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C8DD02E9-7113-42C9-B89B-48EF6DC4078B}"/>
              </a:ext>
            </a:extLst>
          </p:cNvPr>
          <p:cNvSpPr>
            <a:spLocks xmlns:a="http://schemas.openxmlformats.org/drawingml/2006/main" noGrp="1"/>
          </p:cNvSpPr>
          <p:nvPr/>
        </p:nvSpPr>
        <p:spPr>
          <a:xfrm xmlns:a="http://schemas.openxmlformats.org/drawingml/2006/main">
            <a:off x="1216152" y="1764792"/>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Scenario</a:t>
            </a:r>
            <a:endParaRPr sz="1350"/>
          </a:p>
        </p:txBody>
      </p:sp>
      <p:sp>
        <p:nvSpPr>
          <p:cNvPr id="11" name="Text 8">
            <a:extLst xmlns:a="http://schemas.openxmlformats.org/drawingml/2006/main">
              <a:ext uri="{FF2B5EF4-FFF2-40B4-BE49-F238E27FC236}">
                <a16:creationId xmlns:a16="http://schemas.microsoft.com/office/drawing/2014/main" id="{94DB71CB-F7A2-4413-A1E4-1833942CA03D}"/>
              </a:ext>
            </a:extLst>
          </p:cNvPr>
          <p:cNvSpPr>
            <a:spLocks xmlns:a="http://schemas.openxmlformats.org/drawingml/2006/main" noGrp="1"/>
          </p:cNvSpPr>
          <p:nvPr/>
        </p:nvSpPr>
        <p:spPr>
          <a:xfrm xmlns:a="http://schemas.openxmlformats.org/drawingml/2006/main">
            <a:off x="758952" y="2203704"/>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24313A"/>
                </a:solidFill>
                <a:latin typeface="Calibri"/>
                <a:ea typeface="Calibri"/>
                <a:cs typeface="Calibri"/>
              </a:rPr>
              <a:t>A junior analyst reports a no-show classifier with AUC 0.91 — spectacular for behaviour prediction. The team wants to ship it into the booking system next sprint. A reviewer asks for the feature list.</a:t>
            </a:r>
            <a:endParaRPr sz="1100"/>
          </a:p>
        </p:txBody>
      </p:sp>
      <p:sp>
        <p:nvSpPr>
          <p:cNvPr id="12" name="Shape 9">
            <a:extLst xmlns:a="http://schemas.openxmlformats.org/drawingml/2006/main">
              <a:ext uri="{FF2B5EF4-FFF2-40B4-BE49-F238E27FC236}">
                <a16:creationId xmlns:a16="http://schemas.microsoft.com/office/drawing/2014/main" id="{D5F7B740-7F83-4C71-B5DC-75DB550F3A13}"/>
              </a:ext>
            </a:extLst>
          </p:cNvPr>
          <p:cNvSpPr>
            <a:spLocks xmlns:a="http://schemas.openxmlformats.org/drawingml/2006/main" noGrp="1"/>
          </p:cNvSpPr>
          <p:nvPr/>
        </p:nvSpPr>
        <p:spPr>
          <a:xfrm xmlns:a="http://schemas.openxmlformats.org/drawingml/2006/main">
            <a:off x="6199632" y="1545336"/>
            <a:ext cx="5532120" cy="2240280"/>
          </a:xfrm>
          <a:prstGeom xmlns:a="http://schemas.openxmlformats.org/drawingml/2006/main" prst="roundRect">
            <a:avLst>
              <a:gd name="adj" fmla="val 3673"/>
            </a:avLst>
          </a:prstGeom>
          <a:solidFill xmlns:a="http://schemas.openxmlformats.org/drawingml/2006/main">
            <a:srgbClr val="FBEEDD"/>
          </a:solidFill>
        </p:spPr>
      </p:sp>
      <p:sp>
        <p:nvSpPr>
          <p:cNvPr id="13" name="Shape 10">
            <a:extLst xmlns:a="http://schemas.openxmlformats.org/drawingml/2006/main">
              <a:ext uri="{FF2B5EF4-FFF2-40B4-BE49-F238E27FC236}">
                <a16:creationId xmlns:a16="http://schemas.microsoft.com/office/drawing/2014/main" id="{14782F62-321F-47A4-AB9B-76A6C8A51AB0}"/>
              </a:ext>
            </a:extLst>
          </p:cNvPr>
          <p:cNvSpPr>
            <a:spLocks xmlns:a="http://schemas.openxmlformats.org/drawingml/2006/main" noGrp="1"/>
          </p:cNvSpPr>
          <p:nvPr/>
        </p:nvSpPr>
        <p:spPr>
          <a:xfrm xmlns:a="http://schemas.openxmlformats.org/drawingml/2006/main">
            <a:off x="6400800" y="1728216"/>
            <a:ext cx="384048" cy="384048"/>
          </a:xfrm>
          <a:prstGeom xmlns:a="http://schemas.openxmlformats.org/drawingml/2006/main" prst="ellipse">
            <a:avLst/>
          </a:prstGeom>
          <a:solidFill xmlns:a="http://schemas.openxmlformats.org/drawingml/2006/main">
            <a:srgbClr val="C2660A"/>
          </a:solidFill>
        </p:spPr>
      </p:sp>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878f313d64b343a6"/>
          <a:stretch xmlns:a="http://schemas.openxmlformats.org/drawingml/2006/main">
            <a:fillRect l="0" t="0" r="0" b="0"/>
          </a:stretch>
        </p:blipFill>
        <p:spPr>
          <a:xfrm xmlns:a="http://schemas.openxmlformats.org/drawingml/2006/main">
            <a:off x="6500652" y="1828068"/>
            <a:ext cx="184343" cy="184343"/>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9856EC17-DEFD-498C-86BD-569ECFA87F9B}"/>
              </a:ext>
            </a:extLst>
          </p:cNvPr>
          <p:cNvSpPr>
            <a:spLocks xmlns:a="http://schemas.openxmlformats.org/drawingml/2006/main" noGrp="1"/>
          </p:cNvSpPr>
          <p:nvPr/>
        </p:nvSpPr>
        <p:spPr>
          <a:xfrm xmlns:a="http://schemas.openxmlformats.org/drawingml/2006/main">
            <a:off x="6912864" y="1764792"/>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The technical challenge</a:t>
            </a:r>
            <a:endParaRPr sz="1350"/>
          </a:p>
        </p:txBody>
      </p:sp>
      <p:sp>
        <p:nvSpPr>
          <p:cNvPr id="16" name="Text 12">
            <a:extLst xmlns:a="http://schemas.openxmlformats.org/drawingml/2006/main">
              <a:ext uri="{FF2B5EF4-FFF2-40B4-BE49-F238E27FC236}">
                <a16:creationId xmlns:a16="http://schemas.microsoft.com/office/drawing/2014/main" id="{154C40B1-74D1-40AC-B67D-2DE877CE8C04}"/>
              </a:ext>
            </a:extLst>
          </p:cNvPr>
          <p:cNvSpPr>
            <a:spLocks xmlns:a="http://schemas.openxmlformats.org/drawingml/2006/main" noGrp="1"/>
          </p:cNvSpPr>
          <p:nvPr/>
        </p:nvSpPr>
        <p:spPr>
          <a:xfrm xmlns:a="http://schemas.openxmlformats.org/drawingml/2006/main">
            <a:off x="6455664" y="2203704"/>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24313A"/>
                </a:solidFill>
                <a:latin typeface="Calibri"/>
                <a:ea typeface="Calibri"/>
                <a:cs typeface="Calibri"/>
              </a:rPr>
              <a:t>The feature set includes rescheduled — which is recorded largely AFTER the reminder interaction — and clinic-week aggregate no-show rates computed over the full dataset, leaking the outcome into the features. In deployment, neither is available at prediction time.</a:t>
            </a:r>
            <a:endParaRPr sz="1100"/>
          </a:p>
        </p:txBody>
      </p:sp>
      <p:sp>
        <p:nvSpPr>
          <p:cNvPr id="17" name="Shape 13">
            <a:extLst xmlns:a="http://schemas.openxmlformats.org/drawingml/2006/main">
              <a:ext uri="{FF2B5EF4-FFF2-40B4-BE49-F238E27FC236}">
                <a16:creationId xmlns:a16="http://schemas.microsoft.com/office/drawing/2014/main" id="{8200D74E-76FF-4B3A-9402-71897E112F7B}"/>
              </a:ext>
            </a:extLst>
          </p:cNvPr>
          <p:cNvSpPr>
            <a:spLocks xmlns:a="http://schemas.openxmlformats.org/drawingml/2006/main" noGrp="1"/>
          </p:cNvSpPr>
          <p:nvPr/>
        </p:nvSpPr>
        <p:spPr>
          <a:xfrm xmlns:a="http://schemas.openxmlformats.org/drawingml/2006/main">
            <a:off x="502920" y="3950208"/>
            <a:ext cx="5532120" cy="2240280"/>
          </a:xfrm>
          <a:prstGeom xmlns:a="http://schemas.openxmlformats.org/drawingml/2006/main" prst="roundRect">
            <a:avLst>
              <a:gd name="adj" fmla="val 3673"/>
            </a:avLst>
          </a:prstGeom>
          <a:solidFill xmlns:a="http://schemas.openxmlformats.org/drawingml/2006/main">
            <a:srgbClr val="E7F2F3"/>
          </a:solidFill>
        </p:spPr>
      </p:sp>
      <p:sp>
        <p:nvSpPr>
          <p:cNvPr id="18" name="Shape 14">
            <a:extLst xmlns:a="http://schemas.openxmlformats.org/drawingml/2006/main">
              <a:ext uri="{FF2B5EF4-FFF2-40B4-BE49-F238E27FC236}">
                <a16:creationId xmlns:a16="http://schemas.microsoft.com/office/drawing/2014/main" id="{5563CE3C-F7F3-47C4-BFF0-3AD2200F0D91}"/>
              </a:ext>
            </a:extLst>
          </p:cNvPr>
          <p:cNvSpPr>
            <a:spLocks xmlns:a="http://schemas.openxmlformats.org/drawingml/2006/main" noGrp="1"/>
          </p:cNvSpPr>
          <p:nvPr/>
        </p:nvSpPr>
        <p:spPr>
          <a:xfrm xmlns:a="http://schemas.openxmlformats.org/drawingml/2006/main">
            <a:off x="704088" y="4133088"/>
            <a:ext cx="384048" cy="384048"/>
          </a:xfrm>
          <a:prstGeom xmlns:a="http://schemas.openxmlformats.org/drawingml/2006/main" prst="ellipse">
            <a:avLst/>
          </a:prstGeom>
          <a:solidFill xmlns:a="http://schemas.openxmlformats.org/drawingml/2006/main">
            <a:srgbClr val="0A5C64"/>
          </a:solidFill>
        </p:spPr>
      </p:sp>
      <p:pic>
        <p:nvPicPr>
          <p:cNvPr id="48" name="Image 2"/>
          <p:cNvPicPr>
            <a:picLocks xmlns:a="http://schemas.openxmlformats.org/drawingml/2006/main" noChangeAspect="1"/>
          </p:cNvPicPr>
          <p:nvPr/>
        </p:nvPicPr>
        <p:blipFill>
          <a:blip xmlns:r="http://schemas.openxmlformats.org/officeDocument/2006/relationships" xmlns:a="http://schemas.openxmlformats.org/drawingml/2006/main" r:embed="Rc1441faa4c3b4fe5"/>
          <a:stretch xmlns:a="http://schemas.openxmlformats.org/drawingml/2006/main">
            <a:fillRect l="0" t="0" r="0" b="0"/>
          </a:stretch>
        </p:blipFill>
        <p:spPr>
          <a:xfrm xmlns:a="http://schemas.openxmlformats.org/drawingml/2006/main">
            <a:off x="803940" y="4232940"/>
            <a:ext cx="184343" cy="184343"/>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E42563ED-B868-4CFE-828D-D4B2EB6596B9}"/>
              </a:ext>
            </a:extLst>
          </p:cNvPr>
          <p:cNvSpPr>
            <a:spLocks xmlns:a="http://schemas.openxmlformats.org/drawingml/2006/main" noGrp="1"/>
          </p:cNvSpPr>
          <p:nvPr/>
        </p:nvSpPr>
        <p:spPr>
          <a:xfrm xmlns:a="http://schemas.openxmlformats.org/drawingml/2006/main">
            <a:off x="1216152" y="4169664"/>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Solution approach (facilitate, don't lecture)</a:t>
            </a:r>
            <a:endParaRPr sz="1350"/>
          </a:p>
        </p:txBody>
      </p:sp>
      <p:sp>
        <p:nvSpPr>
          <p:cNvPr id="21" name="Text 16">
            <a:extLst xmlns:a="http://schemas.openxmlformats.org/drawingml/2006/main">
              <a:ext uri="{FF2B5EF4-FFF2-40B4-BE49-F238E27FC236}">
                <a16:creationId xmlns:a16="http://schemas.microsoft.com/office/drawing/2014/main" id="{752CCB79-59CB-4360-AAA5-809BB8258301}"/>
              </a:ext>
            </a:extLst>
          </p:cNvPr>
          <p:cNvSpPr>
            <a:spLocks xmlns:a="http://schemas.openxmlformats.org/drawingml/2006/main" noGrp="1"/>
          </p:cNvSpPr>
          <p:nvPr/>
        </p:nvSpPr>
        <p:spPr>
          <a:xfrm xmlns:a="http://schemas.openxmlformats.org/drawingml/2006/main">
            <a:off x="758952" y="4608576"/>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Recompute AUC using only booking-time features → it falls to ~0.66</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Define the prediction timestamp and audit every feature against it</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Rebuild with a time-based train/test split, not a random one</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Add a leakage checklist to the team's model-review template</a:t>
            </a:r>
            <a:endParaRPr sz="1080"/>
          </a:p>
        </p:txBody>
      </p:sp>
      <p:sp>
        <p:nvSpPr>
          <p:cNvPr id="22" name="Shape 17">
            <a:extLst xmlns:a="http://schemas.openxmlformats.org/drawingml/2006/main">
              <a:ext uri="{FF2B5EF4-FFF2-40B4-BE49-F238E27FC236}">
                <a16:creationId xmlns:a16="http://schemas.microsoft.com/office/drawing/2014/main" id="{D7D3E7E0-42B1-4678-994F-1D8F3DAADE8D}"/>
              </a:ext>
            </a:extLst>
          </p:cNvPr>
          <p:cNvSpPr>
            <a:spLocks xmlns:a="http://schemas.openxmlformats.org/drawingml/2006/main" noGrp="1"/>
          </p:cNvSpPr>
          <p:nvPr/>
        </p:nvSpPr>
        <p:spPr>
          <a:xfrm xmlns:a="http://schemas.openxmlformats.org/drawingml/2006/main">
            <a:off x="6199632" y="3950208"/>
            <a:ext cx="5532120" cy="2240280"/>
          </a:xfrm>
          <a:prstGeom xmlns:a="http://schemas.openxmlformats.org/drawingml/2006/main" prst="roundRect">
            <a:avLst>
              <a:gd name="adj" fmla="val 3673"/>
            </a:avLst>
          </a:prstGeom>
          <a:solidFill xmlns:a="http://schemas.openxmlformats.org/drawingml/2006/main">
            <a:srgbClr val="F3F8F9"/>
          </a:solidFill>
        </p:spPr>
      </p:sp>
      <p:sp>
        <p:nvSpPr>
          <p:cNvPr id="23" name="Shape 18">
            <a:extLst xmlns:a="http://schemas.openxmlformats.org/drawingml/2006/main">
              <a:ext uri="{FF2B5EF4-FFF2-40B4-BE49-F238E27FC236}">
                <a16:creationId xmlns:a16="http://schemas.microsoft.com/office/drawing/2014/main" id="{35B2B4AE-CC18-42CC-8975-327FA61F1EF5}"/>
              </a:ext>
            </a:extLst>
          </p:cNvPr>
          <p:cNvSpPr>
            <a:spLocks xmlns:a="http://schemas.openxmlformats.org/drawingml/2006/main" noGrp="1"/>
          </p:cNvSpPr>
          <p:nvPr/>
        </p:nvSpPr>
        <p:spPr>
          <a:xfrm xmlns:a="http://schemas.openxmlformats.org/drawingml/2006/main">
            <a:off x="6400800" y="4133088"/>
            <a:ext cx="384048" cy="384048"/>
          </a:xfrm>
          <a:prstGeom xmlns:a="http://schemas.openxmlformats.org/drawingml/2006/main" prst="ellipse">
            <a:avLst/>
          </a:prstGeom>
          <a:solidFill xmlns:a="http://schemas.openxmlformats.org/drawingml/2006/main">
            <a:srgbClr val="0B3140"/>
          </a:solidFill>
        </p:spPr>
      </p:sp>
      <p:pic>
        <p:nvPicPr>
          <p:cNvPr id="53" name="Image 3"/>
          <p:cNvPicPr>
            <a:picLocks xmlns:a="http://schemas.openxmlformats.org/drawingml/2006/main" noChangeAspect="1"/>
          </p:cNvPicPr>
          <p:nvPr/>
        </p:nvPicPr>
        <p:blipFill>
          <a:blip xmlns:r="http://schemas.openxmlformats.org/officeDocument/2006/relationships" xmlns:a="http://schemas.openxmlformats.org/drawingml/2006/main" r:embed="Rb8de207cfb584d75"/>
          <a:stretch xmlns:a="http://schemas.openxmlformats.org/drawingml/2006/main">
            <a:fillRect l="0" t="0" r="0" b="0"/>
          </a:stretch>
        </p:blipFill>
        <p:spPr>
          <a:xfrm xmlns:a="http://schemas.openxmlformats.org/drawingml/2006/main">
            <a:off x="6500652" y="4232940"/>
            <a:ext cx="184343" cy="184343"/>
          </a:xfrm>
          <a:prstGeom xmlns:a="http://schemas.openxmlformats.org/drawingml/2006/main" prst="rect">
            <a:avLst/>
          </a:prstGeom>
        </p:spPr>
      </p:pic>
      <p:sp>
        <p:nvSpPr>
          <p:cNvPr id="25" name="Text 19">
            <a:extLst xmlns:a="http://schemas.openxmlformats.org/drawingml/2006/main">
              <a:ext uri="{FF2B5EF4-FFF2-40B4-BE49-F238E27FC236}">
                <a16:creationId xmlns:a16="http://schemas.microsoft.com/office/drawing/2014/main" id="{59CF85D7-51AF-445F-A727-7E0B13DDDFC3}"/>
              </a:ext>
            </a:extLst>
          </p:cNvPr>
          <p:cNvSpPr>
            <a:spLocks xmlns:a="http://schemas.openxmlformats.org/drawingml/2006/main" noGrp="1"/>
          </p:cNvSpPr>
          <p:nvPr/>
        </p:nvSpPr>
        <p:spPr>
          <a:xfrm xmlns:a="http://schemas.openxmlformats.org/drawingml/2006/main">
            <a:off x="6912864" y="4169664"/>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Discussion</a:t>
            </a:r>
            <a:endParaRPr sz="1350"/>
          </a:p>
        </p:txBody>
      </p:sp>
      <p:sp>
        <p:nvSpPr>
          <p:cNvPr id="26" name="Text 20">
            <a:extLst xmlns:a="http://schemas.openxmlformats.org/drawingml/2006/main">
              <a:ext uri="{FF2B5EF4-FFF2-40B4-BE49-F238E27FC236}">
                <a16:creationId xmlns:a16="http://schemas.microsoft.com/office/drawing/2014/main" id="{71B44F92-4530-44FA-844F-3F6B79849DE7}"/>
              </a:ext>
            </a:extLst>
          </p:cNvPr>
          <p:cNvSpPr>
            <a:spLocks xmlns:a="http://schemas.openxmlformats.org/drawingml/2006/main" noGrp="1"/>
          </p:cNvSpPr>
          <p:nvPr/>
        </p:nvSpPr>
        <p:spPr>
          <a:xfrm xmlns:a="http://schemas.openxmlformats.org/drawingml/2006/main">
            <a:off x="6455664" y="4608576"/>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Why does random splitting hide leakage that time-based splitting exposes?</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Which of OUR 15 columns are legitimately known at booking time?</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What organisational pressure produced the 0.91 in the first place?</a:t>
            </a:r>
            <a:endParaRPr sz="1080"/>
          </a:p>
        </p:txBody>
      </p:sp>
    </p:spTree>
    <p:extLst>
      <p:ext uri="{BB962C8B-B14F-4D97-AF65-F5344CB8AC3E}">
        <p14:creationId xmlns:p14="http://schemas.microsoft.com/office/powerpoint/2010/main" val="595792339"/>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569D3F3-E2EB-472B-A105-4F4CAE6BB3F2}"/>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75C9FAF0-4DB6-49B5-95C6-38111E5CAA86}"/>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67</a:t>
            </a:r>
            <a:endParaRPr sz="900"/>
          </a:p>
        </p:txBody>
      </p:sp>
      <p:sp>
        <p:nvSpPr>
          <p:cNvPr id="4" name="Shape 2">
            <a:extLst xmlns:a="http://schemas.openxmlformats.org/drawingml/2006/main">
              <a:ext uri="{FF2B5EF4-FFF2-40B4-BE49-F238E27FC236}">
                <a16:creationId xmlns:a16="http://schemas.microsoft.com/office/drawing/2014/main" id="{4C386070-0C9E-4476-AA0A-065F49401C82}"/>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oundRect">
            <a:avLst>
              <a:gd name="adj" fmla="val 50000"/>
            </a:avLst>
          </a:prstGeom>
          <a:solidFill xmlns:a="http://schemas.openxmlformats.org/drawingml/2006/main">
            <a:srgbClr val="C2660A"/>
          </a:solidFill>
        </p:spPr>
      </p:sp>
      <p:sp>
        <p:nvSpPr>
          <p:cNvPr id="5" name="Text 3">
            <a:extLst xmlns:a="http://schemas.openxmlformats.org/drawingml/2006/main">
              <a:ext uri="{FF2B5EF4-FFF2-40B4-BE49-F238E27FC236}">
                <a16:creationId xmlns:a16="http://schemas.microsoft.com/office/drawing/2014/main" id="{3168E4FD-D65C-4BCF-8AFC-A5C683525CE0}"/>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6 · HANDS-ON</a:t>
            </a:r>
            <a:endParaRPr sz="1050"/>
          </a:p>
        </p:txBody>
      </p:sp>
      <p:sp>
        <p:nvSpPr>
          <p:cNvPr id="6" name="Text 4">
            <a:extLst xmlns:a="http://schemas.openxmlformats.org/drawingml/2006/main">
              <a:ext uri="{FF2B5EF4-FFF2-40B4-BE49-F238E27FC236}">
                <a16:creationId xmlns:a16="http://schemas.microsoft.com/office/drawing/2014/main" id="{D9037B08-7350-4ED7-9990-789973F98DCF}"/>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Lab 6 — Model the drivers, score the risk</a:t>
            </a:r>
            <a:endParaRPr sz="2800"/>
          </a:p>
        </p:txBody>
      </p:sp>
      <p:sp>
        <p:nvSpPr>
          <p:cNvPr id="7" name="Text 5">
            <a:extLst xmlns:a="http://schemas.openxmlformats.org/drawingml/2006/main">
              <a:ext uri="{FF2B5EF4-FFF2-40B4-BE49-F238E27FC236}">
                <a16:creationId xmlns:a16="http://schemas.microsoft.com/office/drawing/2014/main" id="{28BD5EB9-3839-40B5-B99F-3039D3F1818D}"/>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~40 minutes (Day 3, Hour 5) · pairs · data/clinic_visits.csv · lab6_start.ipynb</a:t>
            </a:r>
            <a:endParaRPr sz="1350"/>
          </a:p>
        </p:txBody>
      </p:sp>
      <p:sp>
        <p:nvSpPr>
          <p:cNvPr id="8" name="Shape 6">
            <a:extLst xmlns:a="http://schemas.openxmlformats.org/drawingml/2006/main">
              <a:ext uri="{FF2B5EF4-FFF2-40B4-BE49-F238E27FC236}">
                <a16:creationId xmlns:a16="http://schemas.microsoft.com/office/drawing/2014/main" id="{3B3E8103-2606-41B6-AA46-531503EBC056}"/>
              </a:ext>
            </a:extLst>
          </p:cNvPr>
          <p:cNvSpPr>
            <a:spLocks xmlns:a="http://schemas.openxmlformats.org/drawingml/2006/main" noGrp="1"/>
          </p:cNvSpPr>
          <p:nvPr/>
        </p:nvSpPr>
        <p:spPr>
          <a:xfrm xmlns:a="http://schemas.openxmlformats.org/drawingml/2006/main">
            <a:off x="502920" y="1792224"/>
            <a:ext cx="6858000" cy="4709160"/>
          </a:xfrm>
          <a:prstGeom xmlns:a="http://schemas.openxmlformats.org/drawingml/2006/main" prst="roundRect">
            <a:avLst>
              <a:gd name="adj" fmla="val 1748"/>
            </a:avLst>
          </a:prstGeom>
          <a:solidFill xmlns:a="http://schemas.openxmlformats.org/drawingml/2006/main">
            <a:srgbClr val="FFFFFF"/>
          </a:solidFill>
          <a:ln xmlns:a="http://schemas.openxmlformats.org/drawingml/2006/main" w="12700">
            <a:solidFill>
              <a:srgbClr val="D6E2E4"/>
            </a:solidFill>
            <a:prstDash val="solid"/>
          </a:ln>
        </p:spPr>
      </p:sp>
      <p:sp>
        <p:nvSpPr>
          <p:cNvPr id="9" name="Text 7">
            <a:extLst xmlns:a="http://schemas.openxmlformats.org/drawingml/2006/main">
              <a:ext uri="{FF2B5EF4-FFF2-40B4-BE49-F238E27FC236}">
                <a16:creationId xmlns:a16="http://schemas.microsoft.com/office/drawing/2014/main" id="{24DE060E-EB80-47D1-A897-B423BFEF085A}"/>
              </a:ext>
            </a:extLst>
          </p:cNvPr>
          <p:cNvSpPr>
            <a:spLocks xmlns:a="http://schemas.openxmlformats.org/drawingml/2006/main" noGrp="1"/>
          </p:cNvSpPr>
          <p:nvPr/>
        </p:nvSpPr>
        <p:spPr>
          <a:xfrm xmlns:a="http://schemas.openxmlformats.org/drawingml/2006/main">
            <a:off x="822960" y="1975104"/>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B3140"/>
                </a:solidFill>
                <a:latin typeface="Cambria"/>
                <a:ea typeface="Cambria"/>
                <a:cs typeface="Cambria"/>
              </a:rPr>
              <a:t>Tasks</a:t>
            </a:r>
            <a:endParaRPr sz="1400"/>
          </a:p>
        </p:txBody>
      </p:sp>
      <p:sp>
        <p:nvSpPr>
          <p:cNvPr id="10" name="Text 8">
            <a:extLst xmlns:a="http://schemas.openxmlformats.org/drawingml/2006/main">
              <a:ext uri="{FF2B5EF4-FFF2-40B4-BE49-F238E27FC236}">
                <a16:creationId xmlns:a16="http://schemas.microsoft.com/office/drawing/2014/main" id="{ABBE5B03-2E6A-4522-9A4A-16801846C409}"/>
              </a:ext>
            </a:extLst>
          </p:cNvPr>
          <p:cNvSpPr>
            <a:spLocks xmlns:a="http://schemas.openxmlformats.org/drawingml/2006/main" noGrp="1"/>
          </p:cNvSpPr>
          <p:nvPr/>
        </p:nvSpPr>
        <p:spPr>
          <a:xfrm xmlns:a="http://schemas.openxmlformats.org/drawingml/2006/main">
            <a:off x="822960" y="2386584"/>
            <a:ext cx="6309360"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(10’) OLS on log(wait): peak, staff, rural, clinic type with HC3 SEs; run the 90-second diagnostics ritual; interpret two coefficients in %</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(10’) Logistic no-show model (booking-time features only); export the OR table with CIs via np.exp(res.params / conf_int)</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(8’) Confirm the paradox closure: SMS OR ≈ 0.71 adjusted — write the one-sentence reconciliation with Lab 5</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(8’) Evaluate: AUC, decile calibration table, and the top-20%-capacity threshold with its lift</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(4’) Draft the targeting recommendation: who gets a call, expected no-shows caught per 100 calls</a:t>
            </a:r>
            <a:endParaRPr sz="1150"/>
          </a:p>
        </p:txBody>
      </p:sp>
      <p:sp>
        <p:nvSpPr>
          <p:cNvPr id="11" name="Shape 9">
            <a:extLst xmlns:a="http://schemas.openxmlformats.org/drawingml/2006/main">
              <a:ext uri="{FF2B5EF4-FFF2-40B4-BE49-F238E27FC236}">
                <a16:creationId xmlns:a16="http://schemas.microsoft.com/office/drawing/2014/main" id="{EE86493A-C06C-4C42-80F6-0D9F26AAB7DE}"/>
              </a:ext>
            </a:extLst>
          </p:cNvPr>
          <p:cNvSpPr>
            <a:spLocks xmlns:a="http://schemas.openxmlformats.org/drawingml/2006/main" noGrp="1"/>
          </p:cNvSpPr>
          <p:nvPr/>
        </p:nvSpPr>
        <p:spPr>
          <a:xfrm xmlns:a="http://schemas.openxmlformats.org/drawingml/2006/main">
            <a:off x="7635240" y="1792224"/>
            <a:ext cx="4023360" cy="4709160"/>
          </a:xfrm>
          <a:prstGeom xmlns:a="http://schemas.openxmlformats.org/drawingml/2006/main" prst="roundRect">
            <a:avLst>
              <a:gd name="adj" fmla="val 2045"/>
            </a:avLst>
          </a:prstGeom>
          <a:solidFill xmlns:a="http://schemas.openxmlformats.org/drawingml/2006/main">
            <a:srgbClr val="E7F2F3"/>
          </a:solidFill>
        </p:spPr>
      </p:sp>
      <p:sp>
        <p:nvSpPr>
          <p:cNvPr id="12" name="Text 10">
            <a:extLst xmlns:a="http://schemas.openxmlformats.org/drawingml/2006/main">
              <a:ext uri="{FF2B5EF4-FFF2-40B4-BE49-F238E27FC236}">
                <a16:creationId xmlns:a16="http://schemas.microsoft.com/office/drawing/2014/main" id="{B19C956E-9E39-4AB2-BC58-DBB2ADB2D7DA}"/>
              </a:ext>
            </a:extLst>
          </p:cNvPr>
          <p:cNvSpPr>
            <a:spLocks xmlns:a="http://schemas.openxmlformats.org/drawingml/2006/main" noGrp="1"/>
          </p:cNvSpPr>
          <p:nvPr/>
        </p:nvSpPr>
        <p:spPr>
          <a:xfrm xmlns:a="http://schemas.openxmlformats.org/drawingml/2006/main">
            <a:off x="7955280" y="1975104"/>
            <a:ext cx="3474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A5C64"/>
                </a:solidFill>
                <a:latin typeface="Cambria"/>
                <a:ea typeface="Cambria"/>
                <a:cs typeface="Cambria"/>
              </a:rPr>
              <a:t>Checkpoint outputs</a:t>
            </a:r>
            <a:endParaRPr sz="1400"/>
          </a:p>
        </p:txBody>
      </p:sp>
      <p:sp>
        <p:nvSpPr>
          <p:cNvPr id="13" name="Text 11">
            <a:extLst xmlns:a="http://schemas.openxmlformats.org/drawingml/2006/main">
              <a:ext uri="{FF2B5EF4-FFF2-40B4-BE49-F238E27FC236}">
                <a16:creationId xmlns:a16="http://schemas.microsoft.com/office/drawing/2014/main" id="{44A0E126-C14D-4088-BB10-7E33898E9735}"/>
              </a:ext>
            </a:extLst>
          </p:cNvPr>
          <p:cNvSpPr>
            <a:spLocks xmlns:a="http://schemas.openxmlformats.org/drawingml/2006/main" noGrp="1"/>
          </p:cNvSpPr>
          <p:nvPr/>
        </p:nvSpPr>
        <p:spPr>
          <a:xfrm xmlns:a="http://schemas.openxmlformats.org/drawingml/2006/main">
            <a:off x="7955280" y="2386584"/>
            <a:ext cx="3429000"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700"/>
              </a:spcAft>
              <a:buSzPct val="100000"/>
              <a:buChar char="•"/>
            </a:pPr>
            <a:r>
              <a:rPr sz="1150" b="1">
                <a:solidFill>
                  <a:srgbClr val="24313A"/>
                </a:solidFill>
                <a:latin typeface="Calibri"/>
                <a:ea typeface="Calibri"/>
                <a:cs typeface="Calibri"/>
              </a:rPr>
              <a:t>OLS: peak +0.22, staff −0.09, adj R² ≈ 0.22</a:t>
            </a:r>
            <a:endParaRPr sz="1150"/>
          </a:p>
          <a:p xmlns:a="http://schemas.openxmlformats.org/drawingml/2006/main">
            <a:pPr marL="152400" indent="-152400">
              <a:lnSpc>
                <a:spcPct val="104000"/>
              </a:lnSpc>
              <a:spcAft>
                <a:spcPts val="700"/>
              </a:spcAft>
              <a:buSzPct val="100000"/>
              <a:buChar char="•"/>
            </a:pPr>
            <a:r>
              <a:rPr sz="1150" b="1">
                <a:solidFill>
                  <a:srgbClr val="24313A"/>
                </a:solidFill>
                <a:latin typeface="Calibri"/>
                <a:ea typeface="Calibri"/>
                <a:cs typeface="Calibri"/>
              </a:rPr>
              <a:t>Logit ORs: SMS 0.71 · prior 1.80 · lead 1.03/day</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AUC ≈ 0.66; calibration deciles roughly on the diagonal</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Targeting: top-20% risk ≈ 2.1× lift over random outreach</a:t>
            </a:r>
            <a:endParaRPr sz="1150"/>
          </a:p>
        </p:txBody>
      </p:sp>
    </p:spTree>
    <p:extLst>
      <p:ext uri="{BB962C8B-B14F-4D97-AF65-F5344CB8AC3E}">
        <p14:creationId xmlns:p14="http://schemas.microsoft.com/office/powerpoint/2010/main" val="1376019804"/>
      </p:ext>
    </p:extLst>
  </p:cSld>
</p:sld>
</file>

<file path=ppt/slides/slide68.xml><?xml version="1.0" encoding="utf-8"?>
<p:sld xmlns:p="http://schemas.openxmlformats.org/presentationml/2006/main">
  <p:cSld>
    <p:bg>
      <p:bgPr>
        <a:solidFill xmlns:a="http://schemas.openxmlformats.org/drawingml/2006/main">
          <a:srgbClr val="0B314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D896427-5887-4C64-9384-F04963897F5A}"/>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FA6AE"/>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4E8528BE-989C-4059-98BA-349E390C906F}"/>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A6AE"/>
                </a:solidFill>
                <a:latin typeface="Calibri"/>
                <a:ea typeface="Calibri"/>
                <a:cs typeface="Calibri"/>
              </a:rPr>
              <a:t>68</a:t>
            </a:r>
            <a:endParaRPr sz="900"/>
          </a:p>
        </p:txBody>
      </p:sp>
      <p:sp>
        <p:nvSpPr>
          <p:cNvPr id="4" name="Text 2">
            <a:extLst xmlns:a="http://schemas.openxmlformats.org/drawingml/2006/main">
              <a:ext uri="{FF2B5EF4-FFF2-40B4-BE49-F238E27FC236}">
                <a16:creationId xmlns:a16="http://schemas.microsoft.com/office/drawing/2014/main" id="{7A2E873A-D9DC-4489-B006-50EA6F92ABE8}"/>
              </a:ext>
            </a:extLst>
          </p:cNvPr>
          <p:cNvSpPr>
            <a:spLocks xmlns:a="http://schemas.openxmlformats.org/drawingml/2006/main" noGrp="1"/>
          </p:cNvSpPr>
          <p:nvPr/>
        </p:nvSpPr>
        <p:spPr>
          <a:xfrm xmlns:a="http://schemas.openxmlformats.org/drawingml/2006/main">
            <a:off x="731520" y="1051560"/>
            <a:ext cx="5486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6FB3BC"/>
                </a:solidFill>
                <a:latin typeface="Calibri"/>
                <a:ea typeface="Calibri"/>
                <a:cs typeface="Calibri"/>
              </a:rPr>
              <a:t>DAY 4</a:t>
            </a:r>
            <a:endParaRPr sz="1600"/>
          </a:p>
        </p:txBody>
      </p:sp>
      <p:sp>
        <p:nvSpPr>
          <p:cNvPr id="5" name="Text 3">
            <a:extLst xmlns:a="http://schemas.openxmlformats.org/drawingml/2006/main">
              <a:ext uri="{FF2B5EF4-FFF2-40B4-BE49-F238E27FC236}">
                <a16:creationId xmlns:a16="http://schemas.microsoft.com/office/drawing/2014/main" id="{6E06F688-ACD4-4E2C-AFA5-75F7830E2255}"/>
              </a:ext>
            </a:extLst>
          </p:cNvPr>
          <p:cNvSpPr>
            <a:spLocks xmlns:a="http://schemas.openxmlformats.org/drawingml/2006/main" noGrp="1"/>
          </p:cNvSpPr>
          <p:nvPr/>
        </p:nvSpPr>
        <p:spPr>
          <a:xfrm xmlns:a="http://schemas.openxmlformats.org/drawingml/2006/main">
            <a:off x="731520" y="1463040"/>
            <a:ext cx="87782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600" b="1">
                <a:solidFill>
                  <a:srgbClr val="FFFFFF"/>
                </a:solidFill>
                <a:latin typeface="Cambria"/>
                <a:ea typeface="Cambria"/>
                <a:cs typeface="Cambria"/>
              </a:rPr>
              <a:t>Prove it, then say it</a:t>
            </a:r>
            <a:endParaRPr sz="4600"/>
          </a:p>
        </p:txBody>
      </p:sp>
      <p:sp>
        <p:nvSpPr>
          <p:cNvPr id="6" name="Text 4">
            <a:extLst xmlns:a="http://schemas.openxmlformats.org/drawingml/2006/main">
              <a:ext uri="{FF2B5EF4-FFF2-40B4-BE49-F238E27FC236}">
                <a16:creationId xmlns:a16="http://schemas.microsoft.com/office/drawing/2014/main" id="{2B77682D-43AC-4753-86CC-8E979A2195AA}"/>
              </a:ext>
            </a:extLst>
          </p:cNvPr>
          <p:cNvSpPr>
            <a:spLocks xmlns:a="http://schemas.openxmlformats.org/drawingml/2006/main" noGrp="1"/>
          </p:cNvSpPr>
          <p:nvPr/>
        </p:nvSpPr>
        <p:spPr>
          <a:xfrm xmlns:a="http://schemas.openxmlformats.org/drawingml/2006/main">
            <a:off x="731520" y="2606040"/>
            <a:ext cx="78638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i="1">
                <a:solidFill>
                  <a:srgbClr val="AECBD1"/>
                </a:solidFill>
                <a:latin typeface="Calibri"/>
                <a:ea typeface="Calibri"/>
                <a:cs typeface="Calibri"/>
              </a:rPr>
              <a:t>Everything so far leaned on formulas. Today: when formulas run out, simulate. Then assemble four days of evidence into one page that changes a decision.</a:t>
            </a:r>
            <a:endParaRPr sz="1500"/>
          </a:p>
        </p:txBody>
      </p:sp>
      <p:sp>
        <p:nvSpPr>
          <p:cNvPr id="7" name="Shape 5">
            <a:extLst xmlns:a="http://schemas.openxmlformats.org/drawingml/2006/main">
              <a:ext uri="{FF2B5EF4-FFF2-40B4-BE49-F238E27FC236}">
                <a16:creationId xmlns:a16="http://schemas.microsoft.com/office/drawing/2014/main" id="{5B891B42-CB69-40F7-BE28-7D8F067F9149}"/>
              </a:ext>
            </a:extLst>
          </p:cNvPr>
          <p:cNvSpPr>
            <a:spLocks xmlns:a="http://schemas.openxmlformats.org/drawingml/2006/main" noGrp="1"/>
          </p:cNvSpPr>
          <p:nvPr/>
        </p:nvSpPr>
        <p:spPr>
          <a:xfrm xmlns:a="http://schemas.openxmlformats.org/drawingml/2006/main">
            <a:off x="731520" y="3749040"/>
            <a:ext cx="6675120" cy="2148840"/>
          </a:xfrm>
          <a:prstGeom xmlns:a="http://schemas.openxmlformats.org/drawingml/2006/main" prst="roundRect">
            <a:avLst>
              <a:gd name="adj" fmla="val 3830"/>
            </a:avLst>
          </a:prstGeom>
          <a:solidFill xmlns:a="http://schemas.openxmlformats.org/drawingml/2006/main">
            <a:srgbClr val="123F52"/>
          </a:solidFill>
        </p:spPr>
      </p:sp>
      <p:sp>
        <p:nvSpPr>
          <p:cNvPr id="8" name="Text 6">
            <a:extLst xmlns:a="http://schemas.openxmlformats.org/drawingml/2006/main">
              <a:ext uri="{FF2B5EF4-FFF2-40B4-BE49-F238E27FC236}">
                <a16:creationId xmlns:a16="http://schemas.microsoft.com/office/drawing/2014/main" id="{0692001E-B8DA-4F59-B7B7-1ECCCB4F8C8A}"/>
              </a:ext>
            </a:extLst>
          </p:cNvPr>
          <p:cNvSpPr>
            <a:spLocks xmlns:a="http://schemas.openxmlformats.org/drawingml/2006/main" noGrp="1"/>
          </p:cNvSpPr>
          <p:nvPr/>
        </p:nvSpPr>
        <p:spPr>
          <a:xfrm xmlns:a="http://schemas.openxmlformats.org/drawingml/2006/main">
            <a:off x="1005840" y="397764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300">
                <a:solidFill>
                  <a:srgbClr val="6FB3BC"/>
                </a:solidFill>
                <a:latin typeface="Calibri"/>
                <a:ea typeface="Calibri"/>
                <a:cs typeface="Calibri"/>
              </a:rPr>
              <a:t>MODULES</a:t>
            </a:r>
            <a:endParaRPr sz="1050"/>
          </a:p>
        </p:txBody>
      </p:sp>
      <p:sp>
        <p:nvSpPr>
          <p:cNvPr id="9" name="Text 7">
            <a:extLst xmlns:a="http://schemas.openxmlformats.org/drawingml/2006/main">
              <a:ext uri="{FF2B5EF4-FFF2-40B4-BE49-F238E27FC236}">
                <a16:creationId xmlns:a16="http://schemas.microsoft.com/office/drawing/2014/main" id="{054F6308-5DDC-4FB3-A236-ECDDF04BFC4C}"/>
              </a:ext>
            </a:extLst>
          </p:cNvPr>
          <p:cNvSpPr>
            <a:spLocks xmlns:a="http://schemas.openxmlformats.org/drawingml/2006/main" noGrp="1"/>
          </p:cNvSpPr>
          <p:nvPr/>
        </p:nvSpPr>
        <p:spPr>
          <a:xfrm xmlns:a="http://schemas.openxmlformats.org/drawingml/2006/main">
            <a:off x="1005840" y="4315968"/>
            <a:ext cx="62179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600"/>
              </a:spcAft>
              <a:buSzPct val="100000"/>
              <a:buChar char="•"/>
            </a:pPr>
            <a:r>
              <a:rPr sz="1350">
                <a:solidFill>
                  <a:srgbClr val="E8F1F2"/>
                </a:solidFill>
                <a:latin typeface="Calibri"/>
                <a:ea typeface="Calibri"/>
                <a:cs typeface="Calibri"/>
              </a:rPr>
              <a:t>Module 7 — Simulation &amp; resampling (2 h)</a:t>
            </a:r>
            <a:endParaRPr sz="1350"/>
          </a:p>
          <a:p xmlns:a="http://schemas.openxmlformats.org/drawingml/2006/main">
            <a:pPr marL="152400" indent="-152400">
              <a:lnSpc>
                <a:spcPct val="104000"/>
              </a:lnSpc>
              <a:spcAft>
                <a:spcPts val="600"/>
              </a:spcAft>
              <a:buSzPct val="100000"/>
              <a:buChar char="•"/>
            </a:pPr>
            <a:r>
              <a:rPr sz="1350">
                <a:solidFill>
                  <a:srgbClr val="E8F1F2"/>
                </a:solidFill>
                <a:latin typeface="Calibri"/>
                <a:ea typeface="Calibri"/>
                <a:cs typeface="Calibri"/>
              </a:rPr>
              <a:t>Capstone — The Mawid No-Show Decision (2.5 h) + wrap</a:t>
            </a:r>
            <a:endParaRPr sz="1350"/>
          </a:p>
        </p:txBody>
      </p:sp>
      <p:sp>
        <p:nvSpPr>
          <p:cNvPr id="10" name="Shape 8">
            <a:extLst xmlns:a="http://schemas.openxmlformats.org/drawingml/2006/main">
              <a:ext uri="{FF2B5EF4-FFF2-40B4-BE49-F238E27FC236}">
                <a16:creationId xmlns:a16="http://schemas.microsoft.com/office/drawing/2014/main" id="{392C073C-F7D0-4697-927C-76BBA024DEC3}"/>
              </a:ext>
            </a:extLst>
          </p:cNvPr>
          <p:cNvSpPr>
            <a:spLocks xmlns:a="http://schemas.openxmlformats.org/drawingml/2006/main" noGrp="1"/>
          </p:cNvSpPr>
          <p:nvPr/>
        </p:nvSpPr>
        <p:spPr>
          <a:xfrm xmlns:a="http://schemas.openxmlformats.org/drawingml/2006/main">
            <a:off x="7726680" y="3749040"/>
            <a:ext cx="3749040" cy="2148840"/>
          </a:xfrm>
          <a:prstGeom xmlns:a="http://schemas.openxmlformats.org/drawingml/2006/main" prst="roundRect">
            <a:avLst>
              <a:gd name="adj" fmla="val 3830"/>
            </a:avLst>
          </a:prstGeom>
          <a:solidFill xmlns:a="http://schemas.openxmlformats.org/drawingml/2006/main">
            <a:srgbClr val="0E7C86"/>
          </a:solidFill>
        </p:spPr>
      </p:sp>
      <p:sp>
        <p:nvSpPr>
          <p:cNvPr id="11" name="Text 9">
            <a:extLst xmlns:a="http://schemas.openxmlformats.org/drawingml/2006/main">
              <a:ext uri="{FF2B5EF4-FFF2-40B4-BE49-F238E27FC236}">
                <a16:creationId xmlns:a16="http://schemas.microsoft.com/office/drawing/2014/main" id="{E89C7D9D-9DEB-4E5E-A20B-1BEA339D0EF9}"/>
              </a:ext>
            </a:extLst>
          </p:cNvPr>
          <p:cNvSpPr>
            <a:spLocks xmlns:a="http://schemas.openxmlformats.org/drawingml/2006/main" noGrp="1"/>
          </p:cNvSpPr>
          <p:nvPr/>
        </p:nvSpPr>
        <p:spPr>
          <a:xfrm xmlns:a="http://schemas.openxmlformats.org/drawingml/2006/main">
            <a:off x="8001000" y="397764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D3ECEF"/>
                </a:solidFill>
                <a:latin typeface="Calibri"/>
                <a:ea typeface="Calibri"/>
                <a:cs typeface="Calibri"/>
              </a:rPr>
              <a:t>END-OF-DAY DELIVERABLE</a:t>
            </a:r>
            <a:endParaRPr sz="1050"/>
          </a:p>
        </p:txBody>
      </p:sp>
      <p:sp>
        <p:nvSpPr>
          <p:cNvPr id="12" name="Text 10">
            <a:extLst xmlns:a="http://schemas.openxmlformats.org/drawingml/2006/main">
              <a:ext uri="{FF2B5EF4-FFF2-40B4-BE49-F238E27FC236}">
                <a16:creationId xmlns:a16="http://schemas.microsoft.com/office/drawing/2014/main" id="{444DB8A0-D53A-4D12-BF15-8B99877E91A6}"/>
              </a:ext>
            </a:extLst>
          </p:cNvPr>
          <p:cNvSpPr>
            <a:spLocks xmlns:a="http://schemas.openxmlformats.org/drawingml/2006/main" noGrp="1"/>
          </p:cNvSpPr>
          <p:nvPr/>
        </p:nvSpPr>
        <p:spPr>
          <a:xfrm xmlns:a="http://schemas.openxmlformats.org/drawingml/2006/main">
            <a:off x="8001000" y="4315968"/>
            <a:ext cx="32461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A validated, reproducible analysis and a one-page decision memo the Deputy Minister could act on — presented and defended.</a:t>
            </a:r>
            <a:endParaRPr sz="1300"/>
          </a:p>
        </p:txBody>
      </p:sp>
    </p:spTree>
    <p:extLst>
      <p:ext uri="{BB962C8B-B14F-4D97-AF65-F5344CB8AC3E}">
        <p14:creationId xmlns:p14="http://schemas.microsoft.com/office/powerpoint/2010/main" val="1341714812"/>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5242E2F-0527-408C-A42A-6122214E64B9}"/>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7DF88871-0E97-4923-96A4-BA53987EF3A5}"/>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69</a:t>
            </a:r>
            <a:endParaRPr sz="900"/>
          </a:p>
        </p:txBody>
      </p:sp>
      <p:sp>
        <p:nvSpPr>
          <p:cNvPr id="4" name="Shape 2">
            <a:extLst xmlns:a="http://schemas.openxmlformats.org/drawingml/2006/main">
              <a:ext uri="{FF2B5EF4-FFF2-40B4-BE49-F238E27FC236}">
                <a16:creationId xmlns:a16="http://schemas.microsoft.com/office/drawing/2014/main" id="{8AB9C8D3-65D7-4752-8AF4-99682BA32701}"/>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E97804BC-430E-4EC3-A49C-D574639B56F1}"/>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7</a:t>
            </a:r>
            <a:endParaRPr sz="1050"/>
          </a:p>
        </p:txBody>
      </p:sp>
      <p:sp>
        <p:nvSpPr>
          <p:cNvPr id="6" name="Text 4">
            <a:extLst xmlns:a="http://schemas.openxmlformats.org/drawingml/2006/main">
              <a:ext uri="{FF2B5EF4-FFF2-40B4-BE49-F238E27FC236}">
                <a16:creationId xmlns:a16="http://schemas.microsoft.com/office/drawing/2014/main" id="{770E9BD3-83F2-475B-820C-B1448A282478}"/>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Simulation and resampling</a:t>
            </a:r>
            <a:endParaRPr sz="2800"/>
          </a:p>
        </p:txBody>
      </p:sp>
      <p:sp>
        <p:nvSpPr>
          <p:cNvPr id="7" name="Shape 5">
            <a:extLst xmlns:a="http://schemas.openxmlformats.org/drawingml/2006/main">
              <a:ext uri="{FF2B5EF4-FFF2-40B4-BE49-F238E27FC236}">
                <a16:creationId xmlns:a16="http://schemas.microsoft.com/office/drawing/2014/main" id="{38F5BB1B-0A32-46EE-93B4-EEAF18EBFB23}"/>
              </a:ext>
            </a:extLst>
          </p:cNvPr>
          <p:cNvSpPr>
            <a:spLocks xmlns:a="http://schemas.openxmlformats.org/drawingml/2006/main" noGrp="1"/>
          </p:cNvSpPr>
          <p:nvPr/>
        </p:nvSpPr>
        <p:spPr>
          <a:xfrm xmlns:a="http://schemas.openxmlformats.org/drawingml/2006/main">
            <a:off x="502920" y="1563624"/>
            <a:ext cx="6720840" cy="4892040"/>
          </a:xfrm>
          <a:prstGeom xmlns:a="http://schemas.openxmlformats.org/drawingml/2006/main" prst="roundRect">
            <a:avLst>
              <a:gd name="adj" fmla="val 1682"/>
            </a:avLst>
          </a:prstGeom>
          <a:solidFill xmlns:a="http://schemas.openxmlformats.org/drawingml/2006/main">
            <a:srgbClr val="F3F8F9"/>
          </a:solidFill>
        </p:spPr>
      </p:sp>
      <p:sp>
        <p:nvSpPr>
          <p:cNvPr id="8" name="Shape 6">
            <a:extLst xmlns:a="http://schemas.openxmlformats.org/drawingml/2006/main">
              <a:ext uri="{FF2B5EF4-FFF2-40B4-BE49-F238E27FC236}">
                <a16:creationId xmlns:a16="http://schemas.microsoft.com/office/drawing/2014/main" id="{72CFBA27-F94D-4D9D-AD55-0BCA93BC27EB}"/>
              </a:ext>
            </a:extLst>
          </p:cNvPr>
          <p:cNvSpPr>
            <a:spLocks xmlns:a="http://schemas.openxmlformats.org/drawingml/2006/main" noGrp="1"/>
          </p:cNvSpPr>
          <p:nvPr/>
        </p:nvSpPr>
        <p:spPr>
          <a:xfrm xmlns:a="http://schemas.openxmlformats.org/drawingml/2006/main">
            <a:off x="868680" y="1929384"/>
            <a:ext cx="566928" cy="566928"/>
          </a:xfrm>
          <a:prstGeom xmlns:a="http://schemas.openxmlformats.org/drawingml/2006/main" prst="ellipse">
            <a:avLst/>
          </a:prstGeom>
          <a:solidFill xmlns:a="http://schemas.openxmlformats.org/drawingml/2006/main">
            <a:srgbClr val="0E7C86"/>
          </a:solidFill>
        </p:spPr>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f3ac88bda5544c8b"/>
          <a:stretch xmlns:a="http://schemas.openxmlformats.org/drawingml/2006/main">
            <a:fillRect l="0" t="0" r="0" b="0"/>
          </a:stretch>
        </p:blipFill>
        <p:spPr>
          <a:xfrm xmlns:a="http://schemas.openxmlformats.org/drawingml/2006/main">
            <a:off x="1016081" y="2076785"/>
            <a:ext cx="272125" cy="272125"/>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87560DDB-36C3-4D8F-9F91-12A1E7AB3B14}"/>
              </a:ext>
            </a:extLst>
          </p:cNvPr>
          <p:cNvSpPr>
            <a:spLocks xmlns:a="http://schemas.openxmlformats.org/drawingml/2006/main" noGrp="1"/>
          </p:cNvSpPr>
          <p:nvPr/>
        </p:nvSpPr>
        <p:spPr>
          <a:xfrm xmlns:a="http://schemas.openxmlformats.org/drawingml/2006/main">
            <a:off x="1645920" y="1975104"/>
            <a:ext cx="5120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B3140"/>
                </a:solidFill>
                <a:latin typeface="Cambria"/>
                <a:ea typeface="Cambria"/>
                <a:cs typeface="Cambria"/>
              </a:rPr>
              <a:t>Why this module</a:t>
            </a:r>
            <a:endParaRPr sz="1600"/>
          </a:p>
        </p:txBody>
      </p:sp>
      <p:sp>
        <p:nvSpPr>
          <p:cNvPr id="11" name="Text 8">
            <a:extLst xmlns:a="http://schemas.openxmlformats.org/drawingml/2006/main">
              <a:ext uri="{FF2B5EF4-FFF2-40B4-BE49-F238E27FC236}">
                <a16:creationId xmlns:a16="http://schemas.microsoft.com/office/drawing/2014/main" id="{53132C17-6AAA-4C21-BA2F-2DC538C37DDC}"/>
              </a:ext>
            </a:extLst>
          </p:cNvPr>
          <p:cNvSpPr>
            <a:spLocks xmlns:a="http://schemas.openxmlformats.org/drawingml/2006/main" noGrp="1"/>
          </p:cNvSpPr>
          <p:nvPr/>
        </p:nvSpPr>
        <p:spPr>
          <a:xfrm xmlns:a="http://schemas.openxmlformats.org/drawingml/2006/main">
            <a:off x="868680" y="2706624"/>
            <a:ext cx="6035040" cy="3566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250">
                <a:solidFill>
                  <a:srgbClr val="24313A"/>
                </a:solidFill>
                <a:latin typeface="Calibri"/>
                <a:ea typeface="Calibri"/>
                <a:cs typeface="Calibri"/>
              </a:rPr>
              <a:t>Formulas cover the cases textbooks chose; simulation covers yours. Module 7 turns the computer into an inference engine: Monte Carlo to test whether our intervals actually hold their advertised coverage, the bootstrap for statistics with no clean formula (the median wait; the standardized effect), permutation tests that assume almost nothing, and — the professional's edge — the cluster bootstrap for data where patients share clinics and rows are not independent.</a:t>
            </a:r>
            <a:endParaRPr sz="1250"/>
          </a:p>
          <a:p xmlns:a="http://schemas.openxmlformats.org/drawingml/2006/main">
            <a:pPr marL="0" indent="0">
              <a:lnSpc>
                <a:spcPct val="112000"/>
              </a:lnSpc>
              <a:buNone/>
            </a:pPr>
            <a:endParaRPr sz="1250"/>
          </a:p>
          <a:p xmlns:a="http://schemas.openxmlformats.org/drawingml/2006/main">
            <a:pPr marL="0" indent="0">
              <a:lnSpc>
                <a:spcPct val="112000"/>
              </a:lnSpc>
              <a:buNone/>
            </a:pPr>
            <a:r>
              <a:rPr sz="1250">
                <a:solidFill>
                  <a:srgbClr val="24313A"/>
                </a:solidFill>
                <a:latin typeface="Calibri"/>
                <a:ea typeface="Calibri"/>
                <a:cs typeface="Calibri"/>
              </a:rPr>
              <a:t>It closes with the habit that underwrites everything else: seeded, reproducible pipelines. In a Ministry context, 'I get the same numbers every run' is not hygiene — it is auditability.</a:t>
            </a:r>
            <a:endParaRPr sz="1250"/>
          </a:p>
        </p:txBody>
      </p:sp>
      <p:sp>
        <p:nvSpPr>
          <p:cNvPr id="12" name="Shape 9">
            <a:extLst xmlns:a="http://schemas.openxmlformats.org/drawingml/2006/main">
              <a:ext uri="{FF2B5EF4-FFF2-40B4-BE49-F238E27FC236}">
                <a16:creationId xmlns:a16="http://schemas.microsoft.com/office/drawing/2014/main" id="{79134994-1602-402C-A5A9-77E15DF337AD}"/>
              </a:ext>
            </a:extLst>
          </p:cNvPr>
          <p:cNvSpPr>
            <a:spLocks xmlns:a="http://schemas.openxmlformats.org/drawingml/2006/main" noGrp="1"/>
          </p:cNvSpPr>
          <p:nvPr/>
        </p:nvSpPr>
        <p:spPr>
          <a:xfrm xmlns:a="http://schemas.openxmlformats.org/drawingml/2006/main">
            <a:off x="7498080" y="1563624"/>
            <a:ext cx="4160520" cy="4892040"/>
          </a:xfrm>
          <a:prstGeom xmlns:a="http://schemas.openxmlformats.org/drawingml/2006/main" prst="roundRect">
            <a:avLst>
              <a:gd name="adj" fmla="val 1978"/>
            </a:avLst>
          </a:prstGeom>
          <a:solidFill xmlns:a="http://schemas.openxmlformats.org/drawingml/2006/main">
            <a:srgbClr val="0B3140"/>
          </a:solidFill>
        </p:spPr>
      </p:sp>
      <p:sp>
        <p:nvSpPr>
          <p:cNvPr id="13" name="Text 10">
            <a:extLst xmlns:a="http://schemas.openxmlformats.org/drawingml/2006/main">
              <a:ext uri="{FF2B5EF4-FFF2-40B4-BE49-F238E27FC236}">
                <a16:creationId xmlns:a16="http://schemas.microsoft.com/office/drawing/2014/main" id="{776C2BE3-573F-4082-81D4-0851298C2061}"/>
              </a:ext>
            </a:extLst>
          </p:cNvPr>
          <p:cNvSpPr>
            <a:spLocks xmlns:a="http://schemas.openxmlformats.org/drawingml/2006/main" noGrp="1"/>
          </p:cNvSpPr>
          <p:nvPr/>
        </p:nvSpPr>
        <p:spPr>
          <a:xfrm xmlns:a="http://schemas.openxmlformats.org/drawingml/2006/main">
            <a:off x="7818120" y="1837944"/>
            <a:ext cx="3566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FB3BC"/>
                </a:solidFill>
                <a:latin typeface="Calibri"/>
                <a:ea typeface="Calibri"/>
                <a:cs typeface="Calibri"/>
              </a:rPr>
              <a:t>LEARNING OBJECTIVES</a:t>
            </a:r>
            <a:endParaRPr sz="1050"/>
          </a:p>
        </p:txBody>
      </p:sp>
      <p:sp>
        <p:nvSpPr>
          <p:cNvPr id="14" name="Shape 11">
            <a:extLst xmlns:a="http://schemas.openxmlformats.org/drawingml/2006/main">
              <a:ext uri="{FF2B5EF4-FFF2-40B4-BE49-F238E27FC236}">
                <a16:creationId xmlns:a16="http://schemas.microsoft.com/office/drawing/2014/main" id="{4185692D-EDE8-4B1F-84FA-5832A6A8DDDB}"/>
              </a:ext>
            </a:extLst>
          </p:cNvPr>
          <p:cNvSpPr>
            <a:spLocks xmlns:a="http://schemas.openxmlformats.org/drawingml/2006/main" noGrp="1"/>
          </p:cNvSpPr>
          <p:nvPr/>
        </p:nvSpPr>
        <p:spPr>
          <a:xfrm xmlns:a="http://schemas.openxmlformats.org/drawingml/2006/main">
            <a:off x="7818120" y="2267712"/>
            <a:ext cx="310896" cy="310896"/>
          </a:xfrm>
          <a:prstGeom xmlns:a="http://schemas.openxmlformats.org/drawingml/2006/main" prst="ellipse">
            <a:avLst/>
          </a:prstGeom>
          <a:solidFill xmlns:a="http://schemas.openxmlformats.org/drawingml/2006/main">
            <a:srgbClr val="0E7C86"/>
          </a:solidFill>
        </p:spPr>
      </p:sp>
      <p:sp>
        <p:nvSpPr>
          <p:cNvPr id="15" name="Text 12">
            <a:extLst xmlns:a="http://schemas.openxmlformats.org/drawingml/2006/main">
              <a:ext uri="{FF2B5EF4-FFF2-40B4-BE49-F238E27FC236}">
                <a16:creationId xmlns:a16="http://schemas.microsoft.com/office/drawing/2014/main" id="{1072F180-E4E9-4CEC-A100-723AE15F0820}"/>
              </a:ext>
            </a:extLst>
          </p:cNvPr>
          <p:cNvSpPr>
            <a:spLocks xmlns:a="http://schemas.openxmlformats.org/drawingml/2006/main" noGrp="1"/>
          </p:cNvSpPr>
          <p:nvPr/>
        </p:nvSpPr>
        <p:spPr>
          <a:xfrm xmlns:a="http://schemas.openxmlformats.org/drawingml/2006/main">
            <a:off x="7818120" y="2267712"/>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7.1</a:t>
            </a:r>
            <a:endParaRPr sz="1100"/>
          </a:p>
        </p:txBody>
      </p:sp>
      <p:sp>
        <p:nvSpPr>
          <p:cNvPr id="16" name="Text 13">
            <a:extLst xmlns:a="http://schemas.openxmlformats.org/drawingml/2006/main">
              <a:ext uri="{FF2B5EF4-FFF2-40B4-BE49-F238E27FC236}">
                <a16:creationId xmlns:a16="http://schemas.microsoft.com/office/drawing/2014/main" id="{2013588D-E874-45AF-8FBF-B1F01787EF09}"/>
              </a:ext>
            </a:extLst>
          </p:cNvPr>
          <p:cNvSpPr>
            <a:spLocks xmlns:a="http://schemas.openxmlformats.org/drawingml/2006/main" noGrp="1"/>
          </p:cNvSpPr>
          <p:nvPr/>
        </p:nvSpPr>
        <p:spPr>
          <a:xfrm xmlns:a="http://schemas.openxmlformats.org/drawingml/2006/main">
            <a:off x="8257032" y="2249424"/>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Write seeded, reproducible simulations with numpy Generators</a:t>
            </a:r>
            <a:endParaRPr sz="1150"/>
          </a:p>
        </p:txBody>
      </p:sp>
      <p:sp>
        <p:nvSpPr>
          <p:cNvPr id="17" name="Shape 14">
            <a:extLst xmlns:a="http://schemas.openxmlformats.org/drawingml/2006/main">
              <a:ext uri="{FF2B5EF4-FFF2-40B4-BE49-F238E27FC236}">
                <a16:creationId xmlns:a16="http://schemas.microsoft.com/office/drawing/2014/main" id="{CDDA91B4-3DFC-4018-BBB4-21B1BEB5A7DD}"/>
              </a:ext>
            </a:extLst>
          </p:cNvPr>
          <p:cNvSpPr>
            <a:spLocks xmlns:a="http://schemas.openxmlformats.org/drawingml/2006/main" noGrp="1"/>
          </p:cNvSpPr>
          <p:nvPr/>
        </p:nvSpPr>
        <p:spPr>
          <a:xfrm xmlns:a="http://schemas.openxmlformats.org/drawingml/2006/main">
            <a:off x="7818120" y="2926080"/>
            <a:ext cx="310896" cy="310896"/>
          </a:xfrm>
          <a:prstGeom xmlns:a="http://schemas.openxmlformats.org/drawingml/2006/main" prst="ellipse">
            <a:avLst/>
          </a:prstGeom>
          <a:solidFill xmlns:a="http://schemas.openxmlformats.org/drawingml/2006/main">
            <a:srgbClr val="0E7C86"/>
          </a:solidFill>
        </p:spPr>
      </p:sp>
      <p:sp>
        <p:nvSpPr>
          <p:cNvPr id="18" name="Text 15">
            <a:extLst xmlns:a="http://schemas.openxmlformats.org/drawingml/2006/main">
              <a:ext uri="{FF2B5EF4-FFF2-40B4-BE49-F238E27FC236}">
                <a16:creationId xmlns:a16="http://schemas.microsoft.com/office/drawing/2014/main" id="{EA888AD2-DFE4-4FE3-9D6D-407878F9FAB7}"/>
              </a:ext>
            </a:extLst>
          </p:cNvPr>
          <p:cNvSpPr>
            <a:spLocks xmlns:a="http://schemas.openxmlformats.org/drawingml/2006/main" noGrp="1"/>
          </p:cNvSpPr>
          <p:nvPr/>
        </p:nvSpPr>
        <p:spPr>
          <a:xfrm xmlns:a="http://schemas.openxmlformats.org/drawingml/2006/main">
            <a:off x="7818120" y="2926080"/>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7.2</a:t>
            </a:r>
            <a:endParaRPr sz="1100"/>
          </a:p>
        </p:txBody>
      </p:sp>
      <p:sp>
        <p:nvSpPr>
          <p:cNvPr id="19" name="Text 16">
            <a:extLst xmlns:a="http://schemas.openxmlformats.org/drawingml/2006/main">
              <a:ext uri="{FF2B5EF4-FFF2-40B4-BE49-F238E27FC236}">
                <a16:creationId xmlns:a16="http://schemas.microsoft.com/office/drawing/2014/main" id="{9C0776FE-45B7-48BE-ADE4-6ABC63781EBE}"/>
              </a:ext>
            </a:extLst>
          </p:cNvPr>
          <p:cNvSpPr>
            <a:spLocks xmlns:a="http://schemas.openxmlformats.org/drawingml/2006/main" noGrp="1"/>
          </p:cNvSpPr>
          <p:nvPr/>
        </p:nvSpPr>
        <p:spPr>
          <a:xfrm xmlns:a="http://schemas.openxmlformats.org/drawingml/2006/main">
            <a:off x="8257032" y="2907792"/>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Run Monte Carlo studies of estimator behaviour (CI coverage)</a:t>
            </a:r>
            <a:endParaRPr sz="1150"/>
          </a:p>
        </p:txBody>
      </p:sp>
      <p:sp>
        <p:nvSpPr>
          <p:cNvPr id="20" name="Shape 17">
            <a:extLst xmlns:a="http://schemas.openxmlformats.org/drawingml/2006/main">
              <a:ext uri="{FF2B5EF4-FFF2-40B4-BE49-F238E27FC236}">
                <a16:creationId xmlns:a16="http://schemas.microsoft.com/office/drawing/2014/main" id="{24A6283C-7A61-4FE3-B938-FE7873233116}"/>
              </a:ext>
            </a:extLst>
          </p:cNvPr>
          <p:cNvSpPr>
            <a:spLocks xmlns:a="http://schemas.openxmlformats.org/drawingml/2006/main" noGrp="1"/>
          </p:cNvSpPr>
          <p:nvPr/>
        </p:nvSpPr>
        <p:spPr>
          <a:xfrm xmlns:a="http://schemas.openxmlformats.org/drawingml/2006/main">
            <a:off x="7818120" y="3584448"/>
            <a:ext cx="310896" cy="310896"/>
          </a:xfrm>
          <a:prstGeom xmlns:a="http://schemas.openxmlformats.org/drawingml/2006/main" prst="ellipse">
            <a:avLst/>
          </a:prstGeom>
          <a:solidFill xmlns:a="http://schemas.openxmlformats.org/drawingml/2006/main">
            <a:srgbClr val="0E7C86"/>
          </a:solidFill>
        </p:spPr>
      </p:sp>
      <p:sp>
        <p:nvSpPr>
          <p:cNvPr id="21" name="Text 18">
            <a:extLst xmlns:a="http://schemas.openxmlformats.org/drawingml/2006/main">
              <a:ext uri="{FF2B5EF4-FFF2-40B4-BE49-F238E27FC236}">
                <a16:creationId xmlns:a16="http://schemas.microsoft.com/office/drawing/2014/main" id="{36CA25F8-3869-46E6-A97B-A59A44E96274}"/>
              </a:ext>
            </a:extLst>
          </p:cNvPr>
          <p:cNvSpPr>
            <a:spLocks xmlns:a="http://schemas.openxmlformats.org/drawingml/2006/main" noGrp="1"/>
          </p:cNvSpPr>
          <p:nvPr/>
        </p:nvSpPr>
        <p:spPr>
          <a:xfrm xmlns:a="http://schemas.openxmlformats.org/drawingml/2006/main">
            <a:off x="7818120" y="358444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7.3</a:t>
            </a:r>
            <a:endParaRPr sz="1100"/>
          </a:p>
        </p:txBody>
      </p:sp>
      <p:sp>
        <p:nvSpPr>
          <p:cNvPr id="22" name="Text 19">
            <a:extLst xmlns:a="http://schemas.openxmlformats.org/drawingml/2006/main">
              <a:ext uri="{FF2B5EF4-FFF2-40B4-BE49-F238E27FC236}">
                <a16:creationId xmlns:a16="http://schemas.microsoft.com/office/drawing/2014/main" id="{C81052DB-E62F-493E-BF77-C9F78D30322C}"/>
              </a:ext>
            </a:extLst>
          </p:cNvPr>
          <p:cNvSpPr>
            <a:spLocks xmlns:a="http://schemas.openxmlformats.org/drawingml/2006/main" noGrp="1"/>
          </p:cNvSpPr>
          <p:nvPr/>
        </p:nvSpPr>
        <p:spPr>
          <a:xfrm xmlns:a="http://schemas.openxmlformats.org/drawingml/2006/main">
            <a:off x="8257032" y="3566160"/>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Bootstrap confidence intervals for arbitrary statistics</a:t>
            </a:r>
            <a:endParaRPr sz="1150"/>
          </a:p>
        </p:txBody>
      </p:sp>
      <p:sp>
        <p:nvSpPr>
          <p:cNvPr id="23" name="Shape 20">
            <a:extLst xmlns:a="http://schemas.openxmlformats.org/drawingml/2006/main">
              <a:ext uri="{FF2B5EF4-FFF2-40B4-BE49-F238E27FC236}">
                <a16:creationId xmlns:a16="http://schemas.microsoft.com/office/drawing/2014/main" id="{BA3FE065-BE99-46AA-86FF-C0E0EC45C357}"/>
              </a:ext>
            </a:extLst>
          </p:cNvPr>
          <p:cNvSpPr>
            <a:spLocks xmlns:a="http://schemas.openxmlformats.org/drawingml/2006/main" noGrp="1"/>
          </p:cNvSpPr>
          <p:nvPr/>
        </p:nvSpPr>
        <p:spPr>
          <a:xfrm xmlns:a="http://schemas.openxmlformats.org/drawingml/2006/main">
            <a:off x="7818120" y="4242816"/>
            <a:ext cx="310896" cy="310896"/>
          </a:xfrm>
          <a:prstGeom xmlns:a="http://schemas.openxmlformats.org/drawingml/2006/main" prst="ellipse">
            <a:avLst/>
          </a:prstGeom>
          <a:solidFill xmlns:a="http://schemas.openxmlformats.org/drawingml/2006/main">
            <a:srgbClr val="0E7C86"/>
          </a:solidFill>
        </p:spPr>
      </p:sp>
      <p:sp>
        <p:nvSpPr>
          <p:cNvPr id="24" name="Text 21">
            <a:extLst xmlns:a="http://schemas.openxmlformats.org/drawingml/2006/main">
              <a:ext uri="{FF2B5EF4-FFF2-40B4-BE49-F238E27FC236}">
                <a16:creationId xmlns:a16="http://schemas.microsoft.com/office/drawing/2014/main" id="{C6CFDDF7-489E-4D2C-A9FE-DAF5F66EA6CE}"/>
              </a:ext>
            </a:extLst>
          </p:cNvPr>
          <p:cNvSpPr>
            <a:spLocks xmlns:a="http://schemas.openxmlformats.org/drawingml/2006/main" noGrp="1"/>
          </p:cNvSpPr>
          <p:nvPr/>
        </p:nvSpPr>
        <p:spPr>
          <a:xfrm xmlns:a="http://schemas.openxmlformats.org/drawingml/2006/main">
            <a:off x="7818120" y="4242816"/>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7.4</a:t>
            </a:r>
            <a:endParaRPr sz="1100"/>
          </a:p>
        </p:txBody>
      </p:sp>
      <p:sp>
        <p:nvSpPr>
          <p:cNvPr id="25" name="Text 22">
            <a:extLst xmlns:a="http://schemas.openxmlformats.org/drawingml/2006/main">
              <a:ext uri="{FF2B5EF4-FFF2-40B4-BE49-F238E27FC236}">
                <a16:creationId xmlns:a16="http://schemas.microsoft.com/office/drawing/2014/main" id="{BCA19296-D8C6-4633-8F99-BB2B0E4BDA48}"/>
              </a:ext>
            </a:extLst>
          </p:cNvPr>
          <p:cNvSpPr>
            <a:spLocks xmlns:a="http://schemas.openxmlformats.org/drawingml/2006/main" noGrp="1"/>
          </p:cNvSpPr>
          <p:nvPr/>
        </p:nvSpPr>
        <p:spPr>
          <a:xfrm xmlns:a="http://schemas.openxmlformats.org/drawingml/2006/main">
            <a:off x="8257032" y="4224528"/>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Build permutation tests from scratch and know when they shine</a:t>
            </a:r>
            <a:endParaRPr sz="1150"/>
          </a:p>
        </p:txBody>
      </p:sp>
      <p:sp>
        <p:nvSpPr>
          <p:cNvPr id="26" name="Shape 23">
            <a:extLst xmlns:a="http://schemas.openxmlformats.org/drawingml/2006/main">
              <a:ext uri="{FF2B5EF4-FFF2-40B4-BE49-F238E27FC236}">
                <a16:creationId xmlns:a16="http://schemas.microsoft.com/office/drawing/2014/main" id="{9990352D-8627-4046-855E-58A21C3B251E}"/>
              </a:ext>
            </a:extLst>
          </p:cNvPr>
          <p:cNvSpPr>
            <a:spLocks xmlns:a="http://schemas.openxmlformats.org/drawingml/2006/main" noGrp="1"/>
          </p:cNvSpPr>
          <p:nvPr/>
        </p:nvSpPr>
        <p:spPr>
          <a:xfrm xmlns:a="http://schemas.openxmlformats.org/drawingml/2006/main">
            <a:off x="7818120" y="4901184"/>
            <a:ext cx="310896" cy="310896"/>
          </a:xfrm>
          <a:prstGeom xmlns:a="http://schemas.openxmlformats.org/drawingml/2006/main" prst="ellipse">
            <a:avLst/>
          </a:prstGeom>
          <a:solidFill xmlns:a="http://schemas.openxmlformats.org/drawingml/2006/main">
            <a:srgbClr val="0E7C86"/>
          </a:solidFill>
        </p:spPr>
      </p:sp>
      <p:sp>
        <p:nvSpPr>
          <p:cNvPr id="27" name="Text 24">
            <a:extLst xmlns:a="http://schemas.openxmlformats.org/drawingml/2006/main">
              <a:ext uri="{FF2B5EF4-FFF2-40B4-BE49-F238E27FC236}">
                <a16:creationId xmlns:a16="http://schemas.microsoft.com/office/drawing/2014/main" id="{AA85B303-4284-45A3-9E84-125EF31DCE38}"/>
              </a:ext>
            </a:extLst>
          </p:cNvPr>
          <p:cNvSpPr>
            <a:spLocks xmlns:a="http://schemas.openxmlformats.org/drawingml/2006/main" noGrp="1"/>
          </p:cNvSpPr>
          <p:nvPr/>
        </p:nvSpPr>
        <p:spPr>
          <a:xfrm xmlns:a="http://schemas.openxmlformats.org/drawingml/2006/main">
            <a:off x="7818120" y="490118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7.5</a:t>
            </a:r>
            <a:endParaRPr sz="1100"/>
          </a:p>
        </p:txBody>
      </p:sp>
      <p:sp>
        <p:nvSpPr>
          <p:cNvPr id="28" name="Text 25">
            <a:extLst xmlns:a="http://schemas.openxmlformats.org/drawingml/2006/main">
              <a:ext uri="{FF2B5EF4-FFF2-40B4-BE49-F238E27FC236}">
                <a16:creationId xmlns:a16="http://schemas.microsoft.com/office/drawing/2014/main" id="{21D93D2D-797A-452F-AF3B-D372B5FE5B2B}"/>
              </a:ext>
            </a:extLst>
          </p:cNvPr>
          <p:cNvSpPr>
            <a:spLocks xmlns:a="http://schemas.openxmlformats.org/drawingml/2006/main" noGrp="1"/>
          </p:cNvSpPr>
          <p:nvPr/>
        </p:nvSpPr>
        <p:spPr>
          <a:xfrm xmlns:a="http://schemas.openxmlformats.org/drawingml/2006/main">
            <a:off x="8257032" y="4882896"/>
            <a:ext cx="317296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E8F1F2"/>
                </a:solidFill>
                <a:latin typeface="Calibri"/>
                <a:ea typeface="Calibri"/>
                <a:cs typeface="Calibri"/>
              </a:rPr>
              <a:t>Respect dependence: cluster bootstrap for clinic-grouped data</a:t>
            </a:r>
            <a:endParaRPr sz="1150"/>
          </a:p>
        </p:txBody>
      </p:sp>
    </p:spTree>
    <p:extLst>
      <p:ext uri="{BB962C8B-B14F-4D97-AF65-F5344CB8AC3E}">
        <p14:creationId xmlns:p14="http://schemas.microsoft.com/office/powerpoint/2010/main" val="1223215273"/>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1E94476-5844-4303-A5F8-42145BE9D747}"/>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4A9221BF-38CC-433B-B76C-648B5C67DCC9}"/>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70</a:t>
            </a:r>
            <a:endParaRPr sz="900"/>
          </a:p>
        </p:txBody>
      </p:sp>
      <p:sp>
        <p:nvSpPr>
          <p:cNvPr id="4" name="Shape 2">
            <a:extLst xmlns:a="http://schemas.openxmlformats.org/drawingml/2006/main">
              <a:ext uri="{FF2B5EF4-FFF2-40B4-BE49-F238E27FC236}">
                <a16:creationId xmlns:a16="http://schemas.microsoft.com/office/drawing/2014/main" id="{D223752D-B265-423B-B8EF-86AAB425B3F9}"/>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1B6525A4-7F29-4986-AEA4-D2F2BA29425A}"/>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7</a:t>
            </a:r>
            <a:endParaRPr sz="1050"/>
          </a:p>
        </p:txBody>
      </p:sp>
      <p:sp>
        <p:nvSpPr>
          <p:cNvPr id="6" name="Text 4">
            <a:extLst xmlns:a="http://schemas.openxmlformats.org/drawingml/2006/main">
              <a:ext uri="{FF2B5EF4-FFF2-40B4-BE49-F238E27FC236}">
                <a16:creationId xmlns:a16="http://schemas.microsoft.com/office/drawing/2014/main" id="{65AA5E28-856D-4216-96AB-1FC6E0FC2D5D}"/>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Reproducibility is a deliverable</a:t>
            </a:r>
            <a:endParaRPr sz="2800"/>
          </a:p>
        </p:txBody>
      </p:sp>
      <p:sp>
        <p:nvSpPr>
          <p:cNvPr id="7" name="Text 5">
            <a:extLst xmlns:a="http://schemas.openxmlformats.org/drawingml/2006/main">
              <a:ext uri="{FF2B5EF4-FFF2-40B4-BE49-F238E27FC236}">
                <a16:creationId xmlns:a16="http://schemas.microsoft.com/office/drawing/2014/main" id="{BB32B55A-7670-4F8C-A438-3036FA092DE3}"/>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rng = np.random.default_rng(42) — the least glamorous line in the course, and the most audited</a:t>
            </a:r>
            <a:endParaRPr sz="1350"/>
          </a:p>
        </p:txBody>
      </p:sp>
      <p:sp>
        <p:nvSpPr>
          <p:cNvPr id="8" name="Shape 6">
            <a:extLst xmlns:a="http://schemas.openxmlformats.org/drawingml/2006/main">
              <a:ext uri="{FF2B5EF4-FFF2-40B4-BE49-F238E27FC236}">
                <a16:creationId xmlns:a16="http://schemas.microsoft.com/office/drawing/2014/main" id="{B68F2386-C054-4D50-A75B-33E2335E2528}"/>
              </a:ext>
            </a:extLst>
          </p:cNvPr>
          <p:cNvSpPr>
            <a:spLocks xmlns:a="http://schemas.openxmlformats.org/drawingml/2006/main" noGrp="1"/>
          </p:cNvSpPr>
          <p:nvPr/>
        </p:nvSpPr>
        <p:spPr>
          <a:xfrm xmlns:a="http://schemas.openxmlformats.org/drawingml/2006/main">
            <a:off x="502920" y="1819656"/>
            <a:ext cx="5486400" cy="4572000"/>
          </a:xfrm>
          <a:prstGeom xmlns:a="http://schemas.openxmlformats.org/drawingml/2006/main" prst="roundRect">
            <a:avLst>
              <a:gd name="adj" fmla="val 1800"/>
            </a:avLst>
          </a:prstGeom>
          <a:solidFill xmlns:a="http://schemas.openxmlformats.org/drawingml/2006/main">
            <a:srgbClr val="F3F8F9"/>
          </a:solidFill>
        </p:spPr>
      </p:sp>
      <p:sp>
        <p:nvSpPr>
          <p:cNvPr id="9" name="Text 7">
            <a:extLst xmlns:a="http://schemas.openxmlformats.org/drawingml/2006/main">
              <a:ext uri="{FF2B5EF4-FFF2-40B4-BE49-F238E27FC236}">
                <a16:creationId xmlns:a16="http://schemas.microsoft.com/office/drawing/2014/main" id="{2FFEA1B9-18D8-4E92-9AA2-C101DEBB5F86}"/>
              </a:ext>
            </a:extLst>
          </p:cNvPr>
          <p:cNvSpPr>
            <a:spLocks xmlns:a="http://schemas.openxmlformats.org/drawingml/2006/main" noGrp="1"/>
          </p:cNvSpPr>
          <p:nvPr/>
        </p:nvSpPr>
        <p:spPr>
          <a:xfrm xmlns:a="http://schemas.openxmlformats.org/drawingml/2006/main">
            <a:off x="822960" y="2020824"/>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B3140"/>
                </a:solidFill>
                <a:latin typeface="Cambria"/>
                <a:ea typeface="Cambria"/>
                <a:cs typeface="Cambria"/>
              </a:rPr>
              <a:t>The rules of the house</a:t>
            </a:r>
            <a:endParaRPr sz="1450"/>
          </a:p>
        </p:txBody>
      </p:sp>
      <p:sp>
        <p:nvSpPr>
          <p:cNvPr id="10" name="Text 8">
            <a:extLst xmlns:a="http://schemas.openxmlformats.org/drawingml/2006/main">
              <a:ext uri="{FF2B5EF4-FFF2-40B4-BE49-F238E27FC236}">
                <a16:creationId xmlns:a16="http://schemas.microsoft.com/office/drawing/2014/main" id="{DEB3ED40-B9DE-4EAE-B756-2149EA39C3D2}"/>
              </a:ext>
            </a:extLst>
          </p:cNvPr>
          <p:cNvSpPr>
            <a:spLocks xmlns:a="http://schemas.openxmlformats.org/drawingml/2006/main" noGrp="1"/>
          </p:cNvSpPr>
          <p:nvPr/>
        </p:nvSpPr>
        <p:spPr>
          <a:xfrm xmlns:a="http://schemas.openxmlformats.org/drawingml/2006/main">
            <a:off x="822960" y="2459736"/>
            <a:ext cx="4937760" cy="3749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900"/>
              </a:spcAft>
              <a:buSzPct val="100000"/>
              <a:buChar char="•"/>
            </a:pPr>
            <a:r>
              <a:rPr sz="1180" b="1">
                <a:solidFill>
                  <a:srgbClr val="24313A"/>
                </a:solidFill>
                <a:latin typeface="Calibri"/>
                <a:ea typeface="Calibri"/>
                <a:cs typeface="Calibri"/>
              </a:rPr>
              <a:t>One Generator, passed around — never global np.random.seed() scattered through cells</a:t>
            </a:r>
            <a:endParaRPr sz="1180"/>
          </a:p>
          <a:p xmlns:a="http://schemas.openxmlformats.org/drawingml/2006/main">
            <a:pPr marL="152400" indent="-152400">
              <a:lnSpc>
                <a:spcPct val="104000"/>
              </a:lnSpc>
              <a:spcAft>
                <a:spcPts val="900"/>
              </a:spcAft>
              <a:buSzPct val="100000"/>
              <a:buChar char="•"/>
            </a:pPr>
            <a:r>
              <a:rPr sz="1180">
                <a:solidFill>
                  <a:srgbClr val="24313A"/>
                </a:solidFill>
                <a:latin typeface="Calibri"/>
                <a:ea typeface="Calibri"/>
                <a:cs typeface="Calibri"/>
              </a:rPr>
              <a:t>Seed declared at the top of every notebook, next to the analysis plan</a:t>
            </a:r>
            <a:endParaRPr sz="1180"/>
          </a:p>
          <a:p xmlns:a="http://schemas.openxmlformats.org/drawingml/2006/main">
            <a:pPr marL="152400" indent="-152400">
              <a:lnSpc>
                <a:spcPct val="104000"/>
              </a:lnSpc>
              <a:spcAft>
                <a:spcPts val="900"/>
              </a:spcAft>
              <a:buSzPct val="100000"/>
              <a:buChar char="•"/>
            </a:pPr>
            <a:r>
              <a:rPr sz="1180">
                <a:solidFill>
                  <a:srgbClr val="24313A"/>
                </a:solidFill>
                <a:latin typeface="Calibri"/>
                <a:ea typeface="Calibri"/>
                <a:cs typeface="Calibri"/>
              </a:rPr>
              <a:t>Restart-and-run-all must reproduce every number in the memo before submission</a:t>
            </a:r>
            <a:endParaRPr sz="1180"/>
          </a:p>
          <a:p xmlns:a="http://schemas.openxmlformats.org/drawingml/2006/main">
            <a:pPr marL="152400" indent="-152400">
              <a:lnSpc>
                <a:spcPct val="104000"/>
              </a:lnSpc>
              <a:spcAft>
                <a:spcPts val="900"/>
              </a:spcAft>
              <a:buSzPct val="100000"/>
              <a:buChar char="•"/>
            </a:pPr>
            <a:r>
              <a:rPr sz="1180">
                <a:solidFill>
                  <a:srgbClr val="24313A"/>
                </a:solidFill>
                <a:latin typeface="Calibri"/>
                <a:ea typeface="Calibri"/>
                <a:cs typeface="Calibri"/>
              </a:rPr>
              <a:t>Simulation results reported with their n_sims and seed</a:t>
            </a:r>
            <a:endParaRPr sz="1180"/>
          </a:p>
          <a:p xmlns:a="http://schemas.openxmlformats.org/drawingml/2006/main">
            <a:pPr marL="152400" indent="-152400">
              <a:lnSpc>
                <a:spcPct val="104000"/>
              </a:lnSpc>
              <a:spcAft>
                <a:spcPts val="900"/>
              </a:spcAft>
              <a:buSzPct val="100000"/>
              <a:buChar char="•"/>
            </a:pPr>
            <a:r>
              <a:rPr sz="1180">
                <a:solidFill>
                  <a:srgbClr val="24313A"/>
                </a:solidFill>
                <a:latin typeface="Calibri"/>
                <a:ea typeface="Calibri"/>
                <a:cs typeface="Calibri"/>
              </a:rPr>
              <a:t>Environment pinned: environment.yml ships with the data pack</a:t>
            </a:r>
            <a:endParaRPr sz="1180"/>
          </a:p>
        </p:txBody>
      </p:sp>
      <p:sp>
        <p:nvSpPr>
          <p:cNvPr id="11" name="Shape 9">
            <a:extLst xmlns:a="http://schemas.openxmlformats.org/drawingml/2006/main">
              <a:ext uri="{FF2B5EF4-FFF2-40B4-BE49-F238E27FC236}">
                <a16:creationId xmlns:a16="http://schemas.microsoft.com/office/drawing/2014/main" id="{48B9BF2B-32CB-4087-A681-74CD0CD5FBC8}"/>
              </a:ext>
            </a:extLst>
          </p:cNvPr>
          <p:cNvSpPr>
            <a:spLocks xmlns:a="http://schemas.openxmlformats.org/drawingml/2006/main" noGrp="1"/>
          </p:cNvSpPr>
          <p:nvPr/>
        </p:nvSpPr>
        <p:spPr>
          <a:xfrm xmlns:a="http://schemas.openxmlformats.org/drawingml/2006/main">
            <a:off x="6172200" y="1819656"/>
            <a:ext cx="5532120" cy="2194560"/>
          </a:xfrm>
          <a:prstGeom xmlns:a="http://schemas.openxmlformats.org/drawingml/2006/main" prst="roundRect">
            <a:avLst>
              <a:gd name="adj" fmla="val 3750"/>
            </a:avLst>
          </a:prstGeom>
          <a:solidFill xmlns:a="http://schemas.openxmlformats.org/drawingml/2006/main">
            <a:srgbClr val="0B3140"/>
          </a:solidFill>
        </p:spPr>
      </p:sp>
      <p:sp>
        <p:nvSpPr>
          <p:cNvPr id="12" name="Text 10">
            <a:extLst xmlns:a="http://schemas.openxmlformats.org/drawingml/2006/main">
              <a:ext uri="{FF2B5EF4-FFF2-40B4-BE49-F238E27FC236}">
                <a16:creationId xmlns:a16="http://schemas.microsoft.com/office/drawing/2014/main" id="{E7916A21-6B62-42DA-BB1B-6570F61DDB85}"/>
              </a:ext>
            </a:extLst>
          </p:cNvPr>
          <p:cNvSpPr>
            <a:spLocks xmlns:a="http://schemas.openxmlformats.org/drawingml/2006/main" noGrp="1"/>
          </p:cNvSpPr>
          <p:nvPr/>
        </p:nvSpPr>
        <p:spPr>
          <a:xfrm xmlns:a="http://schemas.openxmlformats.org/drawingml/2006/main">
            <a:off x="6492240" y="2020824"/>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FB3BC"/>
                </a:solidFill>
                <a:latin typeface="Calibri"/>
                <a:ea typeface="Calibri"/>
                <a:cs typeface="Calibri"/>
              </a:rPr>
              <a:t>WHY A MINISTRY CARES</a:t>
            </a:r>
            <a:endParaRPr sz="1050"/>
          </a:p>
        </p:txBody>
      </p:sp>
      <p:sp>
        <p:nvSpPr>
          <p:cNvPr id="13" name="Text 11">
            <a:extLst xmlns:a="http://schemas.openxmlformats.org/drawingml/2006/main">
              <a:ext uri="{FF2B5EF4-FFF2-40B4-BE49-F238E27FC236}">
                <a16:creationId xmlns:a16="http://schemas.microsoft.com/office/drawing/2014/main" id="{A5E440AC-93DF-4363-9C71-FE510D865210}"/>
              </a:ext>
            </a:extLst>
          </p:cNvPr>
          <p:cNvSpPr>
            <a:spLocks xmlns:a="http://schemas.openxmlformats.org/drawingml/2006/main" noGrp="1"/>
          </p:cNvSpPr>
          <p:nvPr/>
        </p:nvSpPr>
        <p:spPr>
          <a:xfrm xmlns:a="http://schemas.openxmlformats.org/drawingml/2006/main">
            <a:off x="6492240" y="2386584"/>
            <a:ext cx="489204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250">
                <a:solidFill>
                  <a:srgbClr val="FFFFFF"/>
                </a:solidFill>
                <a:latin typeface="Calibri"/>
                <a:ea typeface="Calibri"/>
                <a:cs typeface="Calibri"/>
              </a:rPr>
              <a:t>A decision memo that cannot be regenerated cannot be audited, handed over, or defended a year later when the program is reviewed. Reproducibility converts 'trust me' into 'run it'.</a:t>
            </a:r>
            <a:endParaRPr sz="1250"/>
          </a:p>
        </p:txBody>
      </p:sp>
      <p:sp>
        <p:nvSpPr>
          <p:cNvPr id="14" name="Shape 12">
            <a:extLst xmlns:a="http://schemas.openxmlformats.org/drawingml/2006/main">
              <a:ext uri="{FF2B5EF4-FFF2-40B4-BE49-F238E27FC236}">
                <a16:creationId xmlns:a16="http://schemas.microsoft.com/office/drawing/2014/main" id="{E0F6F56A-35E8-422E-9CCF-B723F48337C0}"/>
              </a:ext>
            </a:extLst>
          </p:cNvPr>
          <p:cNvSpPr>
            <a:spLocks xmlns:a="http://schemas.openxmlformats.org/drawingml/2006/main" noGrp="1"/>
          </p:cNvSpPr>
          <p:nvPr/>
        </p:nvSpPr>
        <p:spPr>
          <a:xfrm xmlns:a="http://schemas.openxmlformats.org/drawingml/2006/main">
            <a:off x="6172200" y="4169664"/>
            <a:ext cx="5532120" cy="2221992"/>
          </a:xfrm>
          <a:prstGeom xmlns:a="http://schemas.openxmlformats.org/drawingml/2006/main" prst="roundRect">
            <a:avLst>
              <a:gd name="adj" fmla="val 3704"/>
            </a:avLst>
          </a:prstGeom>
          <a:solidFill xmlns:a="http://schemas.openxmlformats.org/drawingml/2006/main">
            <a:srgbClr val="FBEEDD"/>
          </a:solidFill>
        </p:spPr>
      </p:sp>
      <p:sp>
        <p:nvSpPr>
          <p:cNvPr id="15" name="Shape 13">
            <a:extLst xmlns:a="http://schemas.openxmlformats.org/drawingml/2006/main">
              <a:ext uri="{FF2B5EF4-FFF2-40B4-BE49-F238E27FC236}">
                <a16:creationId xmlns:a16="http://schemas.microsoft.com/office/drawing/2014/main" id="{C231CDFF-1650-4266-A517-22337FB8AF58}"/>
              </a:ext>
            </a:extLst>
          </p:cNvPr>
          <p:cNvSpPr>
            <a:spLocks xmlns:a="http://schemas.openxmlformats.org/drawingml/2006/main" noGrp="1"/>
          </p:cNvSpPr>
          <p:nvPr/>
        </p:nvSpPr>
        <p:spPr>
          <a:xfrm xmlns:a="http://schemas.openxmlformats.org/drawingml/2006/main">
            <a:off x="6400800" y="4352544"/>
            <a:ext cx="420624" cy="420624"/>
          </a:xfrm>
          <a:prstGeom xmlns:a="http://schemas.openxmlformats.org/drawingml/2006/main" prst="ellipse">
            <a:avLst/>
          </a:prstGeom>
          <a:solidFill xmlns:a="http://schemas.openxmlformats.org/drawingml/2006/main">
            <a:srgbClr val="C2660A"/>
          </a:solidFill>
        </p:spPr>
      </p:sp>
      <p:pic>
        <p:nvPicPr>
          <p:cNvPr id="34" name="Image 0"/>
          <p:cNvPicPr>
            <a:picLocks xmlns:a="http://schemas.openxmlformats.org/drawingml/2006/main" noChangeAspect="1"/>
          </p:cNvPicPr>
          <p:nvPr/>
        </p:nvPicPr>
        <p:blipFill>
          <a:blip xmlns:r="http://schemas.openxmlformats.org/officeDocument/2006/relationships" xmlns:a="http://schemas.openxmlformats.org/drawingml/2006/main" r:embed="Rb48bfe2459944297"/>
          <a:stretch xmlns:a="http://schemas.openxmlformats.org/drawingml/2006/main">
            <a:fillRect l="0" t="0" r="0" b="0"/>
          </a:stretch>
        </p:blipFill>
        <p:spPr>
          <a:xfrm xmlns:a="http://schemas.openxmlformats.org/drawingml/2006/main">
            <a:off x="6510162" y="4461906"/>
            <a:ext cx="201900" cy="201900"/>
          </a:xfrm>
          <a:prstGeom xmlns:a="http://schemas.openxmlformats.org/drawingml/2006/main" prst="rect">
            <a:avLst/>
          </a:prstGeom>
        </p:spPr>
      </p:pic>
      <p:sp>
        <p:nvSpPr>
          <p:cNvPr id="17" name="Text 14">
            <a:extLst xmlns:a="http://schemas.openxmlformats.org/drawingml/2006/main">
              <a:ext uri="{FF2B5EF4-FFF2-40B4-BE49-F238E27FC236}">
                <a16:creationId xmlns:a16="http://schemas.microsoft.com/office/drawing/2014/main" id="{9D1DB3DD-61DF-4B61-8D61-09C00C2E9D39}"/>
              </a:ext>
            </a:extLst>
          </p:cNvPr>
          <p:cNvSpPr>
            <a:spLocks xmlns:a="http://schemas.openxmlformats.org/drawingml/2006/main" noGrp="1"/>
          </p:cNvSpPr>
          <p:nvPr/>
        </p:nvSpPr>
        <p:spPr>
          <a:xfrm xmlns:a="http://schemas.openxmlformats.org/drawingml/2006/main">
            <a:off x="6967728" y="4398264"/>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C2660A"/>
                </a:solidFill>
                <a:latin typeface="Cambria"/>
                <a:ea typeface="Cambria"/>
                <a:cs typeface="Cambria"/>
              </a:rPr>
              <a:t>Instructor note: per-student seeds</a:t>
            </a:r>
            <a:endParaRPr sz="1300"/>
          </a:p>
        </p:txBody>
      </p:sp>
      <p:sp>
        <p:nvSpPr>
          <p:cNvPr id="18" name="Text 15">
            <a:extLst xmlns:a="http://schemas.openxmlformats.org/drawingml/2006/main">
              <a:ext uri="{FF2B5EF4-FFF2-40B4-BE49-F238E27FC236}">
                <a16:creationId xmlns:a16="http://schemas.microsoft.com/office/drawing/2014/main" id="{4B6270F0-E2B0-4D54-AE40-AF2F97040ED2}"/>
              </a:ext>
            </a:extLst>
          </p:cNvPr>
          <p:cNvSpPr>
            <a:spLocks xmlns:a="http://schemas.openxmlformats.org/drawingml/2006/main" noGrp="1"/>
          </p:cNvSpPr>
          <p:nvPr/>
        </p:nvSpPr>
        <p:spPr>
          <a:xfrm xmlns:a="http://schemas.openxmlformats.org/drawingml/2006/main">
            <a:off x="6492240" y="4809744"/>
            <a:ext cx="489204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130">
                <a:solidFill>
                  <a:srgbClr val="24313A"/>
                </a:solidFill>
                <a:latin typeface="Calibri"/>
                <a:ea typeface="Calibri"/>
                <a:cs typeface="Calibri"/>
              </a:rPr>
              <a:t>Labs use the course seed 42 so checkpoints match the slides. The capstone assigns each participant seed = 1000 + student_id for their simulation sections — answers stay comparable but not copyable, and graders can regenerate any submission exactly.</a:t>
            </a:r>
            <a:endParaRPr sz="1130"/>
          </a:p>
        </p:txBody>
      </p:sp>
    </p:spTree>
    <p:extLst>
      <p:ext uri="{BB962C8B-B14F-4D97-AF65-F5344CB8AC3E}">
        <p14:creationId xmlns:p14="http://schemas.microsoft.com/office/powerpoint/2010/main" val="339640102"/>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A3C56BB-6BD5-4DEC-BCD1-75534AE02597}"/>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8356D791-1005-443E-9A52-96A650FB869E}"/>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71</a:t>
            </a:r>
            <a:endParaRPr sz="900"/>
          </a:p>
        </p:txBody>
      </p:sp>
      <p:sp>
        <p:nvSpPr>
          <p:cNvPr id="4" name="Shape 2">
            <a:extLst xmlns:a="http://schemas.openxmlformats.org/drawingml/2006/main">
              <a:ext uri="{FF2B5EF4-FFF2-40B4-BE49-F238E27FC236}">
                <a16:creationId xmlns:a16="http://schemas.microsoft.com/office/drawing/2014/main" id="{66A8796C-858F-46CA-A23F-337CF8A76AE1}"/>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59BD28A7-AD20-4713-BD08-061293C6A158}"/>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7</a:t>
            </a:r>
            <a:endParaRPr sz="1050"/>
          </a:p>
        </p:txBody>
      </p:sp>
      <p:sp>
        <p:nvSpPr>
          <p:cNvPr id="6" name="Text 4">
            <a:extLst xmlns:a="http://schemas.openxmlformats.org/drawingml/2006/main">
              <a:ext uri="{FF2B5EF4-FFF2-40B4-BE49-F238E27FC236}">
                <a16:creationId xmlns:a16="http://schemas.microsoft.com/office/drawing/2014/main" id="{31967957-9490-4494-851E-EC4B826F22F2}"/>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Monte Carlo: audit your own tools</a:t>
            </a:r>
            <a:endParaRPr sz="2800"/>
          </a:p>
        </p:txBody>
      </p:sp>
      <p:sp>
        <p:nvSpPr>
          <p:cNvPr id="7" name="Text 5">
            <a:extLst xmlns:a="http://schemas.openxmlformats.org/drawingml/2006/main">
              <a:ext uri="{FF2B5EF4-FFF2-40B4-BE49-F238E27FC236}">
                <a16:creationId xmlns:a16="http://schemas.microsoft.com/office/drawing/2014/main" id="{5826F183-F8F4-473A-BB69-4AE77684B697}"/>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Does a '95%' interval actually cover 95%? Simulate 2,000 samples and count.</a:t>
            </a:r>
            <a:endParaRPr sz="1350"/>
          </a:p>
        </p:txBody>
      </p:sp>
      <p:graphicFrame>
        <p:nvGraphicFramePr>
          <p:cNvPr id="33" name="Table 0"/>
          <p:cNvGraphicFramePr/>
          <p:nvPr/>
        </p:nvGraphicFramePr>
        <p:xfrm>
          <a:off xmlns:a="http://schemas.openxmlformats.org/drawingml/2006/main" x="502920" y="1837944"/>
          <a:ext xmlns:a="http://schemas.openxmlformats.org/drawingml/2006/main" cx="11201400" cy="914400"/>
        </p:xfrm>
        <a:graphic xmlns:a="http://schemas.openxmlformats.org/drawingml/2006/main">
          <a:graphicData uri="http://schemas.openxmlformats.org/drawingml/2006/table">
            <a:tbl>
              <a:tblPr/>
              <a:tblGrid>
                <a:gridCol w="2011680"/>
                <a:gridCol w="2377440"/>
                <a:gridCol w="2011680"/>
                <a:gridCol w="4800600"/>
              </a:tblGrid>
              <a:tr h="548640">
                <a:tc>
                  <a:txBody>
                    <a:bodyPr/>
                    <a:lstStyle/>
                    <a:p>
                      <a:pPr marL="0" indent="0">
                        <a:buNone/>
                      </a:pPr>
                      <a:r>
                        <a:rPr sz="1150" b="1">
                          <a:solidFill>
                            <a:srgbClr val="FFFFFF"/>
                          </a:solidFill>
                          <a:latin typeface="Calibri"/>
                          <a:ea typeface="Calibri"/>
                          <a:cs typeface="Calibri"/>
                        </a:rPr>
                        <a:t>Interval</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50" b="1">
                          <a:solidFill>
                            <a:srgbClr val="FFFFFF"/>
                          </a:solidFill>
                          <a:latin typeface="Calibri"/>
                          <a:ea typeface="Calibri"/>
                          <a:cs typeface="Calibri"/>
                        </a:rPr>
                        <a:t>n = 50, p = 0.18</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50" b="1">
                          <a:solidFill>
                            <a:srgbClr val="FFFFFF"/>
                          </a:solidFill>
                          <a:latin typeface="Calibri"/>
                          <a:ea typeface="Calibri"/>
                          <a:cs typeface="Calibri"/>
                        </a:rPr>
                        <a:t>n = 500</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50" b="1">
                          <a:solidFill>
                            <a:srgbClr val="FFFFFF"/>
                          </a:solidFill>
                          <a:latin typeface="Calibri"/>
                          <a:ea typeface="Calibri"/>
                          <a:cs typeface="Calibri"/>
                        </a:rPr>
                        <a:t>Verdict</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r>
              <a:tr h="548640">
                <a:tc>
                  <a:txBody>
                    <a:bodyPr/>
                    <a:lstStyle/>
                    <a:p>
                      <a:pPr marL="0" indent="0">
                        <a:buNone/>
                      </a:pPr>
                      <a:r>
                        <a:rPr sz="1150" b="1">
                          <a:solidFill>
                            <a:srgbClr val="24313A"/>
                          </a:solidFill>
                          <a:latin typeface="Calibri"/>
                          <a:ea typeface="Calibri"/>
                          <a:cs typeface="Calibri"/>
                        </a:rPr>
                        <a:t>Wilson</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b="1">
                          <a:solidFill>
                            <a:srgbClr val="1E7B52"/>
                          </a:solidFill>
                          <a:latin typeface="Calibri"/>
                          <a:ea typeface="Calibri"/>
                          <a:cs typeface="Calibri"/>
                        </a:rPr>
                        <a:t>≈ 0.95</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b="1">
                          <a:solidFill>
                            <a:srgbClr val="1E7B52"/>
                          </a:solidFill>
                          <a:latin typeface="Calibri"/>
                          <a:ea typeface="Calibri"/>
                          <a:cs typeface="Calibri"/>
                        </a:rPr>
                        <a:t>≈ 0.95</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Holds its promise at both sizes — the course default, vindicated</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548640">
                <a:tc>
                  <a:txBody>
                    <a:bodyPr/>
                    <a:lstStyle/>
                    <a:p>
                      <a:pPr marL="0" indent="0">
                        <a:buNone/>
                      </a:pPr>
                      <a:r>
                        <a:rPr sz="1150">
                          <a:solidFill>
                            <a:srgbClr val="24313A"/>
                          </a:solidFill>
                          <a:latin typeface="Calibri"/>
                          <a:ea typeface="Calibri"/>
                          <a:cs typeface="Calibri"/>
                        </a:rPr>
                        <a:t>Wald</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b="1">
                          <a:solidFill>
                            <a:srgbClr val="B4232A"/>
                          </a:solidFill>
                          <a:latin typeface="Calibri"/>
                          <a:ea typeface="Calibri"/>
                          <a:cs typeface="Calibri"/>
                        </a:rPr>
                        <a:t>≈ 0.93</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 0.95</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50">
                          <a:solidFill>
                            <a:srgbClr val="24313A"/>
                          </a:solidFill>
                          <a:latin typeface="Calibri"/>
                          <a:ea typeface="Calibri"/>
                          <a:cs typeface="Calibri"/>
                        </a:rPr>
                        <a:t>Under-covers at small n — its '95%' is marketing</a:t>
                      </a:r>
                      <a:endParaRPr sz="115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bl>
          </a:graphicData>
        </a:graphic>
      </p:graphicFrame>
      <p:sp>
        <p:nvSpPr>
          <p:cNvPr id="9" name="Shape 6">
            <a:extLst xmlns:a="http://schemas.openxmlformats.org/drawingml/2006/main">
              <a:ext uri="{FF2B5EF4-FFF2-40B4-BE49-F238E27FC236}">
                <a16:creationId xmlns:a16="http://schemas.microsoft.com/office/drawing/2014/main" id="{0663BF9B-14A5-464F-86BC-9D32F6F7DA80}"/>
              </a:ext>
            </a:extLst>
          </p:cNvPr>
          <p:cNvSpPr>
            <a:spLocks xmlns:a="http://schemas.openxmlformats.org/drawingml/2006/main" noGrp="1"/>
          </p:cNvSpPr>
          <p:nvPr/>
        </p:nvSpPr>
        <p:spPr>
          <a:xfrm xmlns:a="http://schemas.openxmlformats.org/drawingml/2006/main">
            <a:off x="502920" y="3895344"/>
            <a:ext cx="2724912" cy="1143000"/>
          </a:xfrm>
          <a:prstGeom xmlns:a="http://schemas.openxmlformats.org/drawingml/2006/main" prst="roundRect">
            <a:avLst>
              <a:gd name="adj" fmla="val 7200"/>
            </a:avLst>
          </a:prstGeom>
          <a:solidFill xmlns:a="http://schemas.openxmlformats.org/drawingml/2006/main">
            <a:srgbClr val="F3F8F9"/>
          </a:solidFill>
        </p:spPr>
      </p:sp>
      <p:sp>
        <p:nvSpPr>
          <p:cNvPr id="10" name="Text 7">
            <a:extLst xmlns:a="http://schemas.openxmlformats.org/drawingml/2006/main">
              <a:ext uri="{FF2B5EF4-FFF2-40B4-BE49-F238E27FC236}">
                <a16:creationId xmlns:a16="http://schemas.microsoft.com/office/drawing/2014/main" id="{EA7FB483-378F-406E-8E4D-3489F5B4BD4F}"/>
              </a:ext>
            </a:extLst>
          </p:cNvPr>
          <p:cNvSpPr>
            <a:spLocks xmlns:a="http://schemas.openxmlformats.org/drawingml/2006/main" noGrp="1"/>
          </p:cNvSpPr>
          <p:nvPr/>
        </p:nvSpPr>
        <p:spPr>
          <a:xfrm xmlns:a="http://schemas.openxmlformats.org/drawingml/2006/main">
            <a:off x="630936" y="4005072"/>
            <a:ext cx="365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E7C86"/>
                </a:solidFill>
                <a:latin typeface="Cambria"/>
                <a:ea typeface="Cambria"/>
                <a:cs typeface="Cambria"/>
              </a:rPr>
              <a:t>1</a:t>
            </a:r>
            <a:endParaRPr sz="1600"/>
          </a:p>
        </p:txBody>
      </p:sp>
      <p:sp>
        <p:nvSpPr>
          <p:cNvPr id="11" name="Text 8">
            <a:extLst xmlns:a="http://schemas.openxmlformats.org/drawingml/2006/main">
              <a:ext uri="{FF2B5EF4-FFF2-40B4-BE49-F238E27FC236}">
                <a16:creationId xmlns:a16="http://schemas.microsoft.com/office/drawing/2014/main" id="{1A131B06-B907-4106-B350-44E9D3320D83}"/>
              </a:ext>
            </a:extLst>
          </p:cNvPr>
          <p:cNvSpPr>
            <a:spLocks xmlns:a="http://schemas.openxmlformats.org/drawingml/2006/main" noGrp="1"/>
          </p:cNvSpPr>
          <p:nvPr/>
        </p:nvSpPr>
        <p:spPr>
          <a:xfrm xmlns:a="http://schemas.openxmlformats.org/drawingml/2006/main">
            <a:off x="1005840" y="4032504"/>
            <a:ext cx="21488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30">
                <a:solidFill>
                  <a:srgbClr val="24313A"/>
                </a:solidFill>
                <a:latin typeface="Calibri"/>
                <a:ea typeface="Calibri"/>
                <a:cs typeface="Calibri"/>
              </a:rPr>
              <a:t>Draw a sample from a known truth (p = 0.18)</a:t>
            </a:r>
            <a:endParaRPr sz="1030"/>
          </a:p>
        </p:txBody>
      </p:sp>
      <p:sp>
        <p:nvSpPr>
          <p:cNvPr id="12" name="Text 9">
            <a:extLst xmlns:a="http://schemas.openxmlformats.org/drawingml/2006/main">
              <a:ext uri="{FF2B5EF4-FFF2-40B4-BE49-F238E27FC236}">
                <a16:creationId xmlns:a16="http://schemas.microsoft.com/office/drawing/2014/main" id="{9DD3CB04-FCC3-49D3-AE79-BEF71E5ED415}"/>
              </a:ext>
            </a:extLst>
          </p:cNvPr>
          <p:cNvSpPr>
            <a:spLocks xmlns:a="http://schemas.openxmlformats.org/drawingml/2006/main" noGrp="1"/>
          </p:cNvSpPr>
          <p:nvPr/>
        </p:nvSpPr>
        <p:spPr>
          <a:xfrm xmlns:a="http://schemas.openxmlformats.org/drawingml/2006/main">
            <a:off x="3191256" y="4261104"/>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5B6B75"/>
                </a:solidFill>
                <a:latin typeface="Calibri"/>
                <a:ea typeface="Calibri"/>
                <a:cs typeface="Calibri"/>
              </a:rPr>
              <a:t>→</a:t>
            </a:r>
            <a:endParaRPr sz="1600"/>
          </a:p>
        </p:txBody>
      </p:sp>
      <p:sp>
        <p:nvSpPr>
          <p:cNvPr id="13" name="Shape 10">
            <a:extLst xmlns:a="http://schemas.openxmlformats.org/drawingml/2006/main">
              <a:ext uri="{FF2B5EF4-FFF2-40B4-BE49-F238E27FC236}">
                <a16:creationId xmlns:a16="http://schemas.microsoft.com/office/drawing/2014/main" id="{102534E3-E824-4F41-A6CA-5C811FF3EA9B}"/>
              </a:ext>
            </a:extLst>
          </p:cNvPr>
          <p:cNvSpPr>
            <a:spLocks xmlns:a="http://schemas.openxmlformats.org/drawingml/2006/main" noGrp="1"/>
          </p:cNvSpPr>
          <p:nvPr/>
        </p:nvSpPr>
        <p:spPr>
          <a:xfrm xmlns:a="http://schemas.openxmlformats.org/drawingml/2006/main">
            <a:off x="3374136" y="3895344"/>
            <a:ext cx="2724912" cy="1143000"/>
          </a:xfrm>
          <a:prstGeom xmlns:a="http://schemas.openxmlformats.org/drawingml/2006/main" prst="roundRect">
            <a:avLst>
              <a:gd name="adj" fmla="val 7200"/>
            </a:avLst>
          </a:prstGeom>
          <a:solidFill xmlns:a="http://schemas.openxmlformats.org/drawingml/2006/main">
            <a:srgbClr val="F3F8F9"/>
          </a:solidFill>
        </p:spPr>
      </p:sp>
      <p:sp>
        <p:nvSpPr>
          <p:cNvPr id="14" name="Text 11">
            <a:extLst xmlns:a="http://schemas.openxmlformats.org/drawingml/2006/main">
              <a:ext uri="{FF2B5EF4-FFF2-40B4-BE49-F238E27FC236}">
                <a16:creationId xmlns:a16="http://schemas.microsoft.com/office/drawing/2014/main" id="{290DE758-83D8-4691-B95C-D818F7EFE6CC}"/>
              </a:ext>
            </a:extLst>
          </p:cNvPr>
          <p:cNvSpPr>
            <a:spLocks xmlns:a="http://schemas.openxmlformats.org/drawingml/2006/main" noGrp="1"/>
          </p:cNvSpPr>
          <p:nvPr/>
        </p:nvSpPr>
        <p:spPr>
          <a:xfrm xmlns:a="http://schemas.openxmlformats.org/drawingml/2006/main">
            <a:off x="3502152" y="4005072"/>
            <a:ext cx="365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E7C86"/>
                </a:solidFill>
                <a:latin typeface="Cambria"/>
                <a:ea typeface="Cambria"/>
                <a:cs typeface="Cambria"/>
              </a:rPr>
              <a:t>2</a:t>
            </a:r>
            <a:endParaRPr sz="1600"/>
          </a:p>
        </p:txBody>
      </p:sp>
      <p:sp>
        <p:nvSpPr>
          <p:cNvPr id="15" name="Text 12">
            <a:extLst xmlns:a="http://schemas.openxmlformats.org/drawingml/2006/main">
              <a:ext uri="{FF2B5EF4-FFF2-40B4-BE49-F238E27FC236}">
                <a16:creationId xmlns:a16="http://schemas.microsoft.com/office/drawing/2014/main" id="{F7F0C5EB-633D-44D2-8204-6C89A8B744FC}"/>
              </a:ext>
            </a:extLst>
          </p:cNvPr>
          <p:cNvSpPr>
            <a:spLocks xmlns:a="http://schemas.openxmlformats.org/drawingml/2006/main" noGrp="1"/>
          </p:cNvSpPr>
          <p:nvPr/>
        </p:nvSpPr>
        <p:spPr>
          <a:xfrm xmlns:a="http://schemas.openxmlformats.org/drawingml/2006/main">
            <a:off x="3877056" y="4032504"/>
            <a:ext cx="21488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30">
                <a:solidFill>
                  <a:srgbClr val="24313A"/>
                </a:solidFill>
                <a:latin typeface="Calibri"/>
                <a:ea typeface="Calibri"/>
                <a:cs typeface="Calibri"/>
              </a:rPr>
              <a:t>Compute the 95% CI both ways</a:t>
            </a:r>
            <a:endParaRPr sz="1030"/>
          </a:p>
        </p:txBody>
      </p:sp>
      <p:sp>
        <p:nvSpPr>
          <p:cNvPr id="16" name="Text 13">
            <a:extLst xmlns:a="http://schemas.openxmlformats.org/drawingml/2006/main">
              <a:ext uri="{FF2B5EF4-FFF2-40B4-BE49-F238E27FC236}">
                <a16:creationId xmlns:a16="http://schemas.microsoft.com/office/drawing/2014/main" id="{79304EA4-BED1-487E-A4ED-5927FA1C7BB6}"/>
              </a:ext>
            </a:extLst>
          </p:cNvPr>
          <p:cNvSpPr>
            <a:spLocks xmlns:a="http://schemas.openxmlformats.org/drawingml/2006/main" noGrp="1"/>
          </p:cNvSpPr>
          <p:nvPr/>
        </p:nvSpPr>
        <p:spPr>
          <a:xfrm xmlns:a="http://schemas.openxmlformats.org/drawingml/2006/main">
            <a:off x="6062472" y="4261104"/>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5B6B75"/>
                </a:solidFill>
                <a:latin typeface="Calibri"/>
                <a:ea typeface="Calibri"/>
                <a:cs typeface="Calibri"/>
              </a:rPr>
              <a:t>→</a:t>
            </a:r>
            <a:endParaRPr sz="1600"/>
          </a:p>
        </p:txBody>
      </p:sp>
      <p:sp>
        <p:nvSpPr>
          <p:cNvPr id="17" name="Shape 14">
            <a:extLst xmlns:a="http://schemas.openxmlformats.org/drawingml/2006/main">
              <a:ext uri="{FF2B5EF4-FFF2-40B4-BE49-F238E27FC236}">
                <a16:creationId xmlns:a16="http://schemas.microsoft.com/office/drawing/2014/main" id="{085A5E5C-7BDB-486C-BDF3-CE32B281FA41}"/>
              </a:ext>
            </a:extLst>
          </p:cNvPr>
          <p:cNvSpPr>
            <a:spLocks xmlns:a="http://schemas.openxmlformats.org/drawingml/2006/main" noGrp="1"/>
          </p:cNvSpPr>
          <p:nvPr/>
        </p:nvSpPr>
        <p:spPr>
          <a:xfrm xmlns:a="http://schemas.openxmlformats.org/drawingml/2006/main">
            <a:off x="6245352" y="3895344"/>
            <a:ext cx="2724912" cy="1143000"/>
          </a:xfrm>
          <a:prstGeom xmlns:a="http://schemas.openxmlformats.org/drawingml/2006/main" prst="roundRect">
            <a:avLst>
              <a:gd name="adj" fmla="val 7200"/>
            </a:avLst>
          </a:prstGeom>
          <a:solidFill xmlns:a="http://schemas.openxmlformats.org/drawingml/2006/main">
            <a:srgbClr val="F3F8F9"/>
          </a:solidFill>
        </p:spPr>
      </p:sp>
      <p:sp>
        <p:nvSpPr>
          <p:cNvPr id="18" name="Text 15">
            <a:extLst xmlns:a="http://schemas.openxmlformats.org/drawingml/2006/main">
              <a:ext uri="{FF2B5EF4-FFF2-40B4-BE49-F238E27FC236}">
                <a16:creationId xmlns:a16="http://schemas.microsoft.com/office/drawing/2014/main" id="{33C41107-270D-4CFF-9E99-15BA4BCD9590}"/>
              </a:ext>
            </a:extLst>
          </p:cNvPr>
          <p:cNvSpPr>
            <a:spLocks xmlns:a="http://schemas.openxmlformats.org/drawingml/2006/main" noGrp="1"/>
          </p:cNvSpPr>
          <p:nvPr/>
        </p:nvSpPr>
        <p:spPr>
          <a:xfrm xmlns:a="http://schemas.openxmlformats.org/drawingml/2006/main">
            <a:off x="6373368" y="4005072"/>
            <a:ext cx="365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E7C86"/>
                </a:solidFill>
                <a:latin typeface="Cambria"/>
                <a:ea typeface="Cambria"/>
                <a:cs typeface="Cambria"/>
              </a:rPr>
              <a:t>3</a:t>
            </a:r>
            <a:endParaRPr sz="1600"/>
          </a:p>
        </p:txBody>
      </p:sp>
      <p:sp>
        <p:nvSpPr>
          <p:cNvPr id="19" name="Text 16">
            <a:extLst xmlns:a="http://schemas.openxmlformats.org/drawingml/2006/main">
              <a:ext uri="{FF2B5EF4-FFF2-40B4-BE49-F238E27FC236}">
                <a16:creationId xmlns:a16="http://schemas.microsoft.com/office/drawing/2014/main" id="{A83AB181-A8AB-4658-8872-960E7FC398FC}"/>
              </a:ext>
            </a:extLst>
          </p:cNvPr>
          <p:cNvSpPr>
            <a:spLocks xmlns:a="http://schemas.openxmlformats.org/drawingml/2006/main" noGrp="1"/>
          </p:cNvSpPr>
          <p:nvPr/>
        </p:nvSpPr>
        <p:spPr>
          <a:xfrm xmlns:a="http://schemas.openxmlformats.org/drawingml/2006/main">
            <a:off x="6748272" y="4032504"/>
            <a:ext cx="21488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30">
                <a:solidFill>
                  <a:srgbClr val="24313A"/>
                </a:solidFill>
                <a:latin typeface="Calibri"/>
                <a:ea typeface="Calibri"/>
                <a:cs typeface="Calibri"/>
              </a:rPr>
              <a:t>Record: did each interval contain 0.18?</a:t>
            </a:r>
            <a:endParaRPr sz="1030"/>
          </a:p>
        </p:txBody>
      </p:sp>
      <p:sp>
        <p:nvSpPr>
          <p:cNvPr id="20" name="Text 17">
            <a:extLst xmlns:a="http://schemas.openxmlformats.org/drawingml/2006/main">
              <a:ext uri="{FF2B5EF4-FFF2-40B4-BE49-F238E27FC236}">
                <a16:creationId xmlns:a16="http://schemas.microsoft.com/office/drawing/2014/main" id="{475B9C27-995F-4F06-A572-69B22B6C9A37}"/>
              </a:ext>
            </a:extLst>
          </p:cNvPr>
          <p:cNvSpPr>
            <a:spLocks xmlns:a="http://schemas.openxmlformats.org/drawingml/2006/main" noGrp="1"/>
          </p:cNvSpPr>
          <p:nvPr/>
        </p:nvSpPr>
        <p:spPr>
          <a:xfrm xmlns:a="http://schemas.openxmlformats.org/drawingml/2006/main">
            <a:off x="8933688" y="4261104"/>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5B6B75"/>
                </a:solidFill>
                <a:latin typeface="Calibri"/>
                <a:ea typeface="Calibri"/>
                <a:cs typeface="Calibri"/>
              </a:rPr>
              <a:t>→</a:t>
            </a:r>
            <a:endParaRPr sz="1600"/>
          </a:p>
        </p:txBody>
      </p:sp>
      <p:sp>
        <p:nvSpPr>
          <p:cNvPr id="21" name="Shape 18">
            <a:extLst xmlns:a="http://schemas.openxmlformats.org/drawingml/2006/main">
              <a:ext uri="{FF2B5EF4-FFF2-40B4-BE49-F238E27FC236}">
                <a16:creationId xmlns:a16="http://schemas.microsoft.com/office/drawing/2014/main" id="{3F110771-B2C0-4156-A95C-98885EEB6486}"/>
              </a:ext>
            </a:extLst>
          </p:cNvPr>
          <p:cNvSpPr>
            <a:spLocks xmlns:a="http://schemas.openxmlformats.org/drawingml/2006/main" noGrp="1"/>
          </p:cNvSpPr>
          <p:nvPr/>
        </p:nvSpPr>
        <p:spPr>
          <a:xfrm xmlns:a="http://schemas.openxmlformats.org/drawingml/2006/main">
            <a:off x="9116568" y="3895344"/>
            <a:ext cx="2724912" cy="1143000"/>
          </a:xfrm>
          <a:prstGeom xmlns:a="http://schemas.openxmlformats.org/drawingml/2006/main" prst="roundRect">
            <a:avLst>
              <a:gd name="adj" fmla="val 7200"/>
            </a:avLst>
          </a:prstGeom>
          <a:solidFill xmlns:a="http://schemas.openxmlformats.org/drawingml/2006/main">
            <a:srgbClr val="0E7C86"/>
          </a:solidFill>
        </p:spPr>
      </p:sp>
      <p:sp>
        <p:nvSpPr>
          <p:cNvPr id="22" name="Text 19">
            <a:extLst xmlns:a="http://schemas.openxmlformats.org/drawingml/2006/main">
              <a:ext uri="{FF2B5EF4-FFF2-40B4-BE49-F238E27FC236}">
                <a16:creationId xmlns:a16="http://schemas.microsoft.com/office/drawing/2014/main" id="{81D48985-9FB2-4EDC-AE67-24A95DE74D0F}"/>
              </a:ext>
            </a:extLst>
          </p:cNvPr>
          <p:cNvSpPr>
            <a:spLocks xmlns:a="http://schemas.openxmlformats.org/drawingml/2006/main" noGrp="1"/>
          </p:cNvSpPr>
          <p:nvPr/>
        </p:nvSpPr>
        <p:spPr>
          <a:xfrm xmlns:a="http://schemas.openxmlformats.org/drawingml/2006/main">
            <a:off x="9244584" y="4005072"/>
            <a:ext cx="365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FFFFF"/>
                </a:solidFill>
                <a:latin typeface="Cambria"/>
                <a:ea typeface="Cambria"/>
                <a:cs typeface="Cambria"/>
              </a:rPr>
              <a:t>4</a:t>
            </a:r>
            <a:endParaRPr sz="1600"/>
          </a:p>
        </p:txBody>
      </p:sp>
      <p:sp>
        <p:nvSpPr>
          <p:cNvPr id="23" name="Text 20">
            <a:extLst xmlns:a="http://schemas.openxmlformats.org/drawingml/2006/main">
              <a:ext uri="{FF2B5EF4-FFF2-40B4-BE49-F238E27FC236}">
                <a16:creationId xmlns:a16="http://schemas.microsoft.com/office/drawing/2014/main" id="{8A6B8734-2DA9-4E91-B73D-95D889FD7554}"/>
              </a:ext>
            </a:extLst>
          </p:cNvPr>
          <p:cNvSpPr>
            <a:spLocks xmlns:a="http://schemas.openxmlformats.org/drawingml/2006/main" noGrp="1"/>
          </p:cNvSpPr>
          <p:nvPr/>
        </p:nvSpPr>
        <p:spPr>
          <a:xfrm xmlns:a="http://schemas.openxmlformats.org/drawingml/2006/main">
            <a:off x="9619488" y="4032504"/>
            <a:ext cx="21488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30">
                <a:solidFill>
                  <a:srgbClr val="FFFFFF"/>
                </a:solidFill>
                <a:latin typeface="Calibri"/>
                <a:ea typeface="Calibri"/>
                <a:cs typeface="Calibri"/>
              </a:rPr>
              <a:t>Repeat 2,000× · coverage = hit rate</a:t>
            </a:r>
            <a:endParaRPr sz="1030"/>
          </a:p>
        </p:txBody>
      </p:sp>
      <p:sp>
        <p:nvSpPr>
          <p:cNvPr id="24" name="Shape 21">
            <a:extLst xmlns:a="http://schemas.openxmlformats.org/drawingml/2006/main">
              <a:ext uri="{FF2B5EF4-FFF2-40B4-BE49-F238E27FC236}">
                <a16:creationId xmlns:a16="http://schemas.microsoft.com/office/drawing/2014/main" id="{67CFDC09-10CE-4AEA-B3AA-50DA29E6EFAE}"/>
              </a:ext>
            </a:extLst>
          </p:cNvPr>
          <p:cNvSpPr>
            <a:spLocks xmlns:a="http://schemas.openxmlformats.org/drawingml/2006/main" noGrp="1"/>
          </p:cNvSpPr>
          <p:nvPr/>
        </p:nvSpPr>
        <p:spPr>
          <a:xfrm xmlns:a="http://schemas.openxmlformats.org/drawingml/2006/main">
            <a:off x="502920" y="5266944"/>
            <a:ext cx="11201400" cy="1143000"/>
          </a:xfrm>
          <a:prstGeom xmlns:a="http://schemas.openxmlformats.org/drawingml/2006/main" prst="roundRect">
            <a:avLst>
              <a:gd name="adj" fmla="val 7200"/>
            </a:avLst>
          </a:prstGeom>
          <a:solidFill xmlns:a="http://schemas.openxmlformats.org/drawingml/2006/main">
            <a:srgbClr val="0B3140"/>
          </a:solidFill>
        </p:spPr>
      </p:sp>
      <p:sp>
        <p:nvSpPr>
          <p:cNvPr id="25" name="Text 22">
            <a:extLst xmlns:a="http://schemas.openxmlformats.org/drawingml/2006/main">
              <a:ext uri="{FF2B5EF4-FFF2-40B4-BE49-F238E27FC236}">
                <a16:creationId xmlns:a16="http://schemas.microsoft.com/office/drawing/2014/main" id="{555160BA-2312-4C0D-81A2-A798B5A81CBD}"/>
              </a:ext>
            </a:extLst>
          </p:cNvPr>
          <p:cNvSpPr>
            <a:spLocks xmlns:a="http://schemas.openxmlformats.org/drawingml/2006/main" noGrp="1"/>
          </p:cNvSpPr>
          <p:nvPr/>
        </p:nvSpPr>
        <p:spPr>
          <a:xfrm xmlns:a="http://schemas.openxmlformats.org/drawingml/2006/main">
            <a:off x="868680" y="5449824"/>
            <a:ext cx="104241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200" b="1">
                <a:solidFill>
                  <a:srgbClr val="6FB3BC"/>
                </a:solidFill>
                <a:latin typeface="Calibri"/>
                <a:ea typeface="Calibri"/>
                <a:cs typeface="Calibri"/>
              </a:rPr>
              <a:t>The generalisable move:  </a:t>
            </a:r>
            <a:r>
              <a:rPr sz="1200">
                <a:solidFill>
                  <a:srgbClr val="FFFFFF"/>
                </a:solidFill>
                <a:latin typeface="Calibri"/>
                <a:ea typeface="Calibri"/>
                <a:cs typeface="Calibri"/>
              </a:rPr>
              <a:t>any procedure's real operating characteristics — coverage, false-alarm rate, power, the peeking inflation from Day 2 — can be measured by simulating a world where you know the truth. When theory and your data's quirks disagree, simulation referees.</a:t>
            </a:r>
            <a:endParaRPr sz="1200"/>
          </a:p>
        </p:txBody>
      </p:sp>
    </p:spTree>
    <p:extLst>
      <p:ext uri="{BB962C8B-B14F-4D97-AF65-F5344CB8AC3E}">
        <p14:creationId xmlns:p14="http://schemas.microsoft.com/office/powerpoint/2010/main" val="520452487"/>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115ED70-1F1A-407F-A92E-AC5540F6FAB4}"/>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F1E8588A-C6C2-45D2-9DB1-7DDACD393CF7}"/>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72</a:t>
            </a:r>
            <a:endParaRPr sz="900"/>
          </a:p>
        </p:txBody>
      </p:sp>
      <p:sp>
        <p:nvSpPr>
          <p:cNvPr id="4" name="Shape 2">
            <a:extLst xmlns:a="http://schemas.openxmlformats.org/drawingml/2006/main">
              <a:ext uri="{FF2B5EF4-FFF2-40B4-BE49-F238E27FC236}">
                <a16:creationId xmlns:a16="http://schemas.microsoft.com/office/drawing/2014/main" id="{B91851E9-B652-4996-8AC1-8ED7D7E2F8B2}"/>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5B17E9C6-DD7F-4449-BB13-F4BB9239E0AC}"/>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7</a:t>
            </a:r>
            <a:endParaRPr sz="1050"/>
          </a:p>
        </p:txBody>
      </p:sp>
      <p:sp>
        <p:nvSpPr>
          <p:cNvPr id="6" name="Text 4">
            <a:extLst xmlns:a="http://schemas.openxmlformats.org/drawingml/2006/main">
              <a:ext uri="{FF2B5EF4-FFF2-40B4-BE49-F238E27FC236}">
                <a16:creationId xmlns:a16="http://schemas.microsoft.com/office/drawing/2014/main" id="{48A2FCFD-EC09-44B5-A8D3-865CDA8A38E3}"/>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The bootstrap: intervals without formulas</a:t>
            </a:r>
            <a:endParaRPr sz="2800"/>
          </a:p>
        </p:txBody>
      </p:sp>
      <p:sp>
        <p:nvSpPr>
          <p:cNvPr id="7" name="Text 5">
            <a:extLst xmlns:a="http://schemas.openxmlformats.org/drawingml/2006/main">
              <a:ext uri="{FF2B5EF4-FFF2-40B4-BE49-F238E27FC236}">
                <a16:creationId xmlns:a16="http://schemas.microsoft.com/office/drawing/2014/main" id="{4C7F4C28-AEA6-42F6-B515-179195CE0549}"/>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Resample the sample, WITH replacement, same n — the data stands in for the population</a:t>
            </a:r>
            <a:endParaRPr sz="1350"/>
          </a:p>
        </p:txBody>
      </p:sp>
      <p:sp>
        <p:nvSpPr>
          <p:cNvPr id="8" name="Shape 6">
            <a:extLst xmlns:a="http://schemas.openxmlformats.org/drawingml/2006/main">
              <a:ext uri="{FF2B5EF4-FFF2-40B4-BE49-F238E27FC236}">
                <a16:creationId xmlns:a16="http://schemas.microsoft.com/office/drawing/2014/main" id="{94EE2701-72CF-4260-BA8B-A443C17B7CE2}"/>
              </a:ext>
            </a:extLst>
          </p:cNvPr>
          <p:cNvSpPr>
            <a:spLocks xmlns:a="http://schemas.openxmlformats.org/drawingml/2006/main" noGrp="1"/>
          </p:cNvSpPr>
          <p:nvPr/>
        </p:nvSpPr>
        <p:spPr>
          <a:xfrm xmlns:a="http://schemas.openxmlformats.org/drawingml/2006/main">
            <a:off x="502920" y="1837944"/>
            <a:ext cx="2157984" cy="1371600"/>
          </a:xfrm>
          <a:prstGeom xmlns:a="http://schemas.openxmlformats.org/drawingml/2006/main" prst="roundRect">
            <a:avLst>
              <a:gd name="adj" fmla="val 6000"/>
            </a:avLst>
          </a:prstGeom>
          <a:solidFill xmlns:a="http://schemas.openxmlformats.org/drawingml/2006/main">
            <a:srgbClr val="F3F8F9"/>
          </a:solidFill>
        </p:spPr>
      </p:sp>
      <p:sp>
        <p:nvSpPr>
          <p:cNvPr id="9" name="Text 7">
            <a:extLst xmlns:a="http://schemas.openxmlformats.org/drawingml/2006/main">
              <a:ext uri="{FF2B5EF4-FFF2-40B4-BE49-F238E27FC236}">
                <a16:creationId xmlns:a16="http://schemas.microsoft.com/office/drawing/2014/main" id="{2295635C-F88D-4D4F-BA63-62E1B7B80A5E}"/>
              </a:ext>
            </a:extLst>
          </p:cNvPr>
          <p:cNvSpPr>
            <a:spLocks xmlns:a="http://schemas.openxmlformats.org/drawingml/2006/main" noGrp="1"/>
          </p:cNvSpPr>
          <p:nvPr/>
        </p:nvSpPr>
        <p:spPr>
          <a:xfrm xmlns:a="http://schemas.openxmlformats.org/drawingml/2006/main">
            <a:off x="649224" y="1947672"/>
            <a:ext cx="1874520" cy="11704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20">
                <a:solidFill>
                  <a:srgbClr val="24313A"/>
                </a:solidFill>
                <a:latin typeface="Calibri"/>
                <a:ea typeface="Calibri"/>
                <a:cs typeface="Calibri"/>
              </a:rPr>
              <a:t>Original sample (n rows)</a:t>
            </a:r>
            <a:endParaRPr sz="1020"/>
          </a:p>
        </p:txBody>
      </p:sp>
      <p:sp>
        <p:nvSpPr>
          <p:cNvPr id="10" name="Text 8">
            <a:extLst xmlns:a="http://schemas.openxmlformats.org/drawingml/2006/main">
              <a:ext uri="{FF2B5EF4-FFF2-40B4-BE49-F238E27FC236}">
                <a16:creationId xmlns:a16="http://schemas.microsoft.com/office/drawing/2014/main" id="{67574288-64CD-4B45-8C25-9679B010B966}"/>
              </a:ext>
            </a:extLst>
          </p:cNvPr>
          <p:cNvSpPr>
            <a:spLocks xmlns:a="http://schemas.openxmlformats.org/drawingml/2006/main" noGrp="1"/>
          </p:cNvSpPr>
          <p:nvPr/>
        </p:nvSpPr>
        <p:spPr>
          <a:xfrm xmlns:a="http://schemas.openxmlformats.org/drawingml/2006/main">
            <a:off x="2633472" y="2313432"/>
            <a:ext cx="228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5B6B75"/>
                </a:solidFill>
                <a:latin typeface="Calibri"/>
                <a:ea typeface="Calibri"/>
                <a:cs typeface="Calibri"/>
              </a:rPr>
              <a:t>→</a:t>
            </a:r>
            <a:endParaRPr sz="1500"/>
          </a:p>
        </p:txBody>
      </p:sp>
      <p:sp>
        <p:nvSpPr>
          <p:cNvPr id="11" name="Shape 9">
            <a:extLst xmlns:a="http://schemas.openxmlformats.org/drawingml/2006/main">
              <a:ext uri="{FF2B5EF4-FFF2-40B4-BE49-F238E27FC236}">
                <a16:creationId xmlns:a16="http://schemas.microsoft.com/office/drawing/2014/main" id="{0A318778-25CE-4331-A333-E7AAB1E7136E}"/>
              </a:ext>
            </a:extLst>
          </p:cNvPr>
          <p:cNvSpPr>
            <a:spLocks xmlns:a="http://schemas.openxmlformats.org/drawingml/2006/main" noGrp="1"/>
          </p:cNvSpPr>
          <p:nvPr/>
        </p:nvSpPr>
        <p:spPr>
          <a:xfrm xmlns:a="http://schemas.openxmlformats.org/drawingml/2006/main">
            <a:off x="2798064" y="1837944"/>
            <a:ext cx="2157984" cy="1371600"/>
          </a:xfrm>
          <a:prstGeom xmlns:a="http://schemas.openxmlformats.org/drawingml/2006/main" prst="roundRect">
            <a:avLst>
              <a:gd name="adj" fmla="val 6000"/>
            </a:avLst>
          </a:prstGeom>
          <a:solidFill xmlns:a="http://schemas.openxmlformats.org/drawingml/2006/main">
            <a:srgbClr val="F3F8F9"/>
          </a:solidFill>
        </p:spPr>
      </p:sp>
      <p:sp>
        <p:nvSpPr>
          <p:cNvPr id="12" name="Text 10">
            <a:extLst xmlns:a="http://schemas.openxmlformats.org/drawingml/2006/main">
              <a:ext uri="{FF2B5EF4-FFF2-40B4-BE49-F238E27FC236}">
                <a16:creationId xmlns:a16="http://schemas.microsoft.com/office/drawing/2014/main" id="{39CB0D5F-6B96-481E-A647-6D63DE644700}"/>
              </a:ext>
            </a:extLst>
          </p:cNvPr>
          <p:cNvSpPr>
            <a:spLocks xmlns:a="http://schemas.openxmlformats.org/drawingml/2006/main" noGrp="1"/>
          </p:cNvSpPr>
          <p:nvPr/>
        </p:nvSpPr>
        <p:spPr>
          <a:xfrm xmlns:a="http://schemas.openxmlformats.org/drawingml/2006/main">
            <a:off x="2944368" y="1947672"/>
            <a:ext cx="1874520" cy="11704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20">
                <a:solidFill>
                  <a:srgbClr val="24313A"/>
                </a:solidFill>
                <a:latin typeface="Calibri"/>
                <a:ea typeface="Calibri"/>
                <a:cs typeface="Calibri"/>
              </a:rPr>
              <a:t>Resample n rows with replacement</a:t>
            </a:r>
            <a:endParaRPr sz="1020"/>
          </a:p>
        </p:txBody>
      </p:sp>
      <p:sp>
        <p:nvSpPr>
          <p:cNvPr id="13" name="Text 11">
            <a:extLst xmlns:a="http://schemas.openxmlformats.org/drawingml/2006/main">
              <a:ext uri="{FF2B5EF4-FFF2-40B4-BE49-F238E27FC236}">
                <a16:creationId xmlns:a16="http://schemas.microsoft.com/office/drawing/2014/main" id="{91BCFF7E-5FB7-4CBB-90DC-947B80DE6045}"/>
              </a:ext>
            </a:extLst>
          </p:cNvPr>
          <p:cNvSpPr>
            <a:spLocks xmlns:a="http://schemas.openxmlformats.org/drawingml/2006/main" noGrp="1"/>
          </p:cNvSpPr>
          <p:nvPr/>
        </p:nvSpPr>
        <p:spPr>
          <a:xfrm xmlns:a="http://schemas.openxmlformats.org/drawingml/2006/main">
            <a:off x="4928616" y="2313432"/>
            <a:ext cx="228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5B6B75"/>
                </a:solidFill>
                <a:latin typeface="Calibri"/>
                <a:ea typeface="Calibri"/>
                <a:cs typeface="Calibri"/>
              </a:rPr>
              <a:t>→</a:t>
            </a:r>
            <a:endParaRPr sz="1500"/>
          </a:p>
        </p:txBody>
      </p:sp>
      <p:sp>
        <p:nvSpPr>
          <p:cNvPr id="14" name="Shape 12">
            <a:extLst xmlns:a="http://schemas.openxmlformats.org/drawingml/2006/main">
              <a:ext uri="{FF2B5EF4-FFF2-40B4-BE49-F238E27FC236}">
                <a16:creationId xmlns:a16="http://schemas.microsoft.com/office/drawing/2014/main" id="{2BC8BCFD-9D09-4BF0-9ABB-B39E2818B61F}"/>
              </a:ext>
            </a:extLst>
          </p:cNvPr>
          <p:cNvSpPr>
            <a:spLocks xmlns:a="http://schemas.openxmlformats.org/drawingml/2006/main" noGrp="1"/>
          </p:cNvSpPr>
          <p:nvPr/>
        </p:nvSpPr>
        <p:spPr>
          <a:xfrm xmlns:a="http://schemas.openxmlformats.org/drawingml/2006/main">
            <a:off x="5093208" y="1837944"/>
            <a:ext cx="2157984" cy="1371600"/>
          </a:xfrm>
          <a:prstGeom xmlns:a="http://schemas.openxmlformats.org/drawingml/2006/main" prst="roundRect">
            <a:avLst>
              <a:gd name="adj" fmla="val 6000"/>
            </a:avLst>
          </a:prstGeom>
          <a:solidFill xmlns:a="http://schemas.openxmlformats.org/drawingml/2006/main">
            <a:srgbClr val="F3F8F9"/>
          </a:solidFill>
        </p:spPr>
      </p:sp>
      <p:sp>
        <p:nvSpPr>
          <p:cNvPr id="15" name="Text 13">
            <a:extLst xmlns:a="http://schemas.openxmlformats.org/drawingml/2006/main">
              <a:ext uri="{FF2B5EF4-FFF2-40B4-BE49-F238E27FC236}">
                <a16:creationId xmlns:a16="http://schemas.microsoft.com/office/drawing/2014/main" id="{6FFC7E2A-51C7-4429-95D6-CF85B1EB41B5}"/>
              </a:ext>
            </a:extLst>
          </p:cNvPr>
          <p:cNvSpPr>
            <a:spLocks xmlns:a="http://schemas.openxmlformats.org/drawingml/2006/main" noGrp="1"/>
          </p:cNvSpPr>
          <p:nvPr/>
        </p:nvSpPr>
        <p:spPr>
          <a:xfrm xmlns:a="http://schemas.openxmlformats.org/drawingml/2006/main">
            <a:off x="5239512" y="1947672"/>
            <a:ext cx="1874520" cy="11704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20">
                <a:solidFill>
                  <a:srgbClr val="24313A"/>
                </a:solidFill>
                <a:latin typeface="Calibri"/>
                <a:ea typeface="Calibri"/>
                <a:cs typeface="Calibri"/>
              </a:rPr>
              <a:t>Compute the statistic (median, ratio, adjusted effect…)</a:t>
            </a:r>
            <a:endParaRPr sz="1020"/>
          </a:p>
        </p:txBody>
      </p:sp>
      <p:sp>
        <p:nvSpPr>
          <p:cNvPr id="16" name="Text 14">
            <a:extLst xmlns:a="http://schemas.openxmlformats.org/drawingml/2006/main">
              <a:ext uri="{FF2B5EF4-FFF2-40B4-BE49-F238E27FC236}">
                <a16:creationId xmlns:a16="http://schemas.microsoft.com/office/drawing/2014/main" id="{C04AF17B-B211-4031-8956-1AC992EDB8B2}"/>
              </a:ext>
            </a:extLst>
          </p:cNvPr>
          <p:cNvSpPr>
            <a:spLocks xmlns:a="http://schemas.openxmlformats.org/drawingml/2006/main" noGrp="1"/>
          </p:cNvSpPr>
          <p:nvPr/>
        </p:nvSpPr>
        <p:spPr>
          <a:xfrm xmlns:a="http://schemas.openxmlformats.org/drawingml/2006/main">
            <a:off x="7223760" y="2313432"/>
            <a:ext cx="228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5B6B75"/>
                </a:solidFill>
                <a:latin typeface="Calibri"/>
                <a:ea typeface="Calibri"/>
                <a:cs typeface="Calibri"/>
              </a:rPr>
              <a:t>→</a:t>
            </a:r>
            <a:endParaRPr sz="1500"/>
          </a:p>
        </p:txBody>
      </p:sp>
      <p:sp>
        <p:nvSpPr>
          <p:cNvPr id="17" name="Shape 15">
            <a:extLst xmlns:a="http://schemas.openxmlformats.org/drawingml/2006/main">
              <a:ext uri="{FF2B5EF4-FFF2-40B4-BE49-F238E27FC236}">
                <a16:creationId xmlns:a16="http://schemas.microsoft.com/office/drawing/2014/main" id="{681EE6D9-3580-43AC-BA5C-89A170DCC388}"/>
              </a:ext>
            </a:extLst>
          </p:cNvPr>
          <p:cNvSpPr>
            <a:spLocks xmlns:a="http://schemas.openxmlformats.org/drawingml/2006/main" noGrp="1"/>
          </p:cNvSpPr>
          <p:nvPr/>
        </p:nvSpPr>
        <p:spPr>
          <a:xfrm xmlns:a="http://schemas.openxmlformats.org/drawingml/2006/main">
            <a:off x="7388352" y="1837944"/>
            <a:ext cx="2157984" cy="1371600"/>
          </a:xfrm>
          <a:prstGeom xmlns:a="http://schemas.openxmlformats.org/drawingml/2006/main" prst="roundRect">
            <a:avLst>
              <a:gd name="adj" fmla="val 6000"/>
            </a:avLst>
          </a:prstGeom>
          <a:solidFill xmlns:a="http://schemas.openxmlformats.org/drawingml/2006/main">
            <a:srgbClr val="F3F8F9"/>
          </a:solidFill>
        </p:spPr>
      </p:sp>
      <p:sp>
        <p:nvSpPr>
          <p:cNvPr id="18" name="Text 16">
            <a:extLst xmlns:a="http://schemas.openxmlformats.org/drawingml/2006/main">
              <a:ext uri="{FF2B5EF4-FFF2-40B4-BE49-F238E27FC236}">
                <a16:creationId xmlns:a16="http://schemas.microsoft.com/office/drawing/2014/main" id="{020BC316-C301-4C52-9664-A8A225351241}"/>
              </a:ext>
            </a:extLst>
          </p:cNvPr>
          <p:cNvSpPr>
            <a:spLocks xmlns:a="http://schemas.openxmlformats.org/drawingml/2006/main" noGrp="1"/>
          </p:cNvSpPr>
          <p:nvPr/>
        </p:nvSpPr>
        <p:spPr>
          <a:xfrm xmlns:a="http://schemas.openxmlformats.org/drawingml/2006/main">
            <a:off x="7534656" y="1947672"/>
            <a:ext cx="1874520" cy="11704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20">
                <a:solidFill>
                  <a:srgbClr val="24313A"/>
                </a:solidFill>
                <a:latin typeface="Calibri"/>
                <a:ea typeface="Calibri"/>
                <a:cs typeface="Calibri"/>
              </a:rPr>
              <a:t>Repeat 5,000× → distribution</a:t>
            </a:r>
            <a:endParaRPr sz="1020"/>
          </a:p>
        </p:txBody>
      </p:sp>
      <p:sp>
        <p:nvSpPr>
          <p:cNvPr id="19" name="Text 17">
            <a:extLst xmlns:a="http://schemas.openxmlformats.org/drawingml/2006/main">
              <a:ext uri="{FF2B5EF4-FFF2-40B4-BE49-F238E27FC236}">
                <a16:creationId xmlns:a16="http://schemas.microsoft.com/office/drawing/2014/main" id="{FF1F1721-E9BC-4A27-B70C-F99DA5396B22}"/>
              </a:ext>
            </a:extLst>
          </p:cNvPr>
          <p:cNvSpPr>
            <a:spLocks xmlns:a="http://schemas.openxmlformats.org/drawingml/2006/main" noGrp="1"/>
          </p:cNvSpPr>
          <p:nvPr/>
        </p:nvSpPr>
        <p:spPr>
          <a:xfrm xmlns:a="http://schemas.openxmlformats.org/drawingml/2006/main">
            <a:off x="9518904" y="2313432"/>
            <a:ext cx="228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5B6B75"/>
                </a:solidFill>
                <a:latin typeface="Calibri"/>
                <a:ea typeface="Calibri"/>
                <a:cs typeface="Calibri"/>
              </a:rPr>
              <a:t>→</a:t>
            </a:r>
            <a:endParaRPr sz="1500"/>
          </a:p>
        </p:txBody>
      </p:sp>
      <p:sp>
        <p:nvSpPr>
          <p:cNvPr id="20" name="Shape 18">
            <a:extLst xmlns:a="http://schemas.openxmlformats.org/drawingml/2006/main">
              <a:ext uri="{FF2B5EF4-FFF2-40B4-BE49-F238E27FC236}">
                <a16:creationId xmlns:a16="http://schemas.microsoft.com/office/drawing/2014/main" id="{1C042CBF-E2EB-47C6-8AF3-B0CB83018FD4}"/>
              </a:ext>
            </a:extLst>
          </p:cNvPr>
          <p:cNvSpPr>
            <a:spLocks xmlns:a="http://schemas.openxmlformats.org/drawingml/2006/main" noGrp="1"/>
          </p:cNvSpPr>
          <p:nvPr/>
        </p:nvSpPr>
        <p:spPr>
          <a:xfrm xmlns:a="http://schemas.openxmlformats.org/drawingml/2006/main">
            <a:off x="9683496" y="1837944"/>
            <a:ext cx="2157984" cy="1371600"/>
          </a:xfrm>
          <a:prstGeom xmlns:a="http://schemas.openxmlformats.org/drawingml/2006/main" prst="roundRect">
            <a:avLst>
              <a:gd name="adj" fmla="val 6000"/>
            </a:avLst>
          </a:prstGeom>
          <a:solidFill xmlns:a="http://schemas.openxmlformats.org/drawingml/2006/main">
            <a:srgbClr val="0E7C86"/>
          </a:solidFill>
        </p:spPr>
      </p:sp>
      <p:sp>
        <p:nvSpPr>
          <p:cNvPr id="21" name="Text 19">
            <a:extLst xmlns:a="http://schemas.openxmlformats.org/drawingml/2006/main">
              <a:ext uri="{FF2B5EF4-FFF2-40B4-BE49-F238E27FC236}">
                <a16:creationId xmlns:a16="http://schemas.microsoft.com/office/drawing/2014/main" id="{3EC44EAC-6184-4481-80BE-A987AA060759}"/>
              </a:ext>
            </a:extLst>
          </p:cNvPr>
          <p:cNvSpPr>
            <a:spLocks xmlns:a="http://schemas.openxmlformats.org/drawingml/2006/main" noGrp="1"/>
          </p:cNvSpPr>
          <p:nvPr/>
        </p:nvSpPr>
        <p:spPr>
          <a:xfrm xmlns:a="http://schemas.openxmlformats.org/drawingml/2006/main">
            <a:off x="9829800" y="1947672"/>
            <a:ext cx="1874520" cy="11704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20">
                <a:solidFill>
                  <a:srgbClr val="FFFFFF"/>
                </a:solidFill>
                <a:latin typeface="Calibri"/>
                <a:ea typeface="Calibri"/>
                <a:cs typeface="Calibri"/>
              </a:rPr>
              <a:t>CI = 2.5th–97.5th percentiles</a:t>
            </a:r>
            <a:endParaRPr sz="1020"/>
          </a:p>
        </p:txBody>
      </p:sp>
      <p:sp>
        <p:nvSpPr>
          <p:cNvPr id="22" name="Shape 20">
            <a:extLst xmlns:a="http://schemas.openxmlformats.org/drawingml/2006/main">
              <a:ext uri="{FF2B5EF4-FFF2-40B4-BE49-F238E27FC236}">
                <a16:creationId xmlns:a16="http://schemas.microsoft.com/office/drawing/2014/main" id="{B94810D0-E5ED-41BB-B369-2D2EFCAA0BAF}"/>
              </a:ext>
            </a:extLst>
          </p:cNvPr>
          <p:cNvSpPr>
            <a:spLocks xmlns:a="http://schemas.openxmlformats.org/drawingml/2006/main" noGrp="1"/>
          </p:cNvSpPr>
          <p:nvPr/>
        </p:nvSpPr>
        <p:spPr>
          <a:xfrm xmlns:a="http://schemas.openxmlformats.org/drawingml/2006/main">
            <a:off x="502920" y="3438144"/>
            <a:ext cx="5486400" cy="2926080"/>
          </a:xfrm>
          <a:prstGeom xmlns:a="http://schemas.openxmlformats.org/drawingml/2006/main" prst="roundRect">
            <a:avLst>
              <a:gd name="adj" fmla="val 2813"/>
            </a:avLst>
          </a:prstGeom>
          <a:solidFill xmlns:a="http://schemas.openxmlformats.org/drawingml/2006/main">
            <a:srgbClr val="E7F2F3"/>
          </a:solidFill>
        </p:spPr>
      </p:sp>
      <p:sp>
        <p:nvSpPr>
          <p:cNvPr id="23" name="Text 21">
            <a:extLst xmlns:a="http://schemas.openxmlformats.org/drawingml/2006/main">
              <a:ext uri="{FF2B5EF4-FFF2-40B4-BE49-F238E27FC236}">
                <a16:creationId xmlns:a16="http://schemas.microsoft.com/office/drawing/2014/main" id="{3035F1A7-6B42-462C-9ABA-080AE9D1BD87}"/>
              </a:ext>
            </a:extLst>
          </p:cNvPr>
          <p:cNvSpPr>
            <a:spLocks xmlns:a="http://schemas.openxmlformats.org/drawingml/2006/main" noGrp="1"/>
          </p:cNvSpPr>
          <p:nvPr/>
        </p:nvSpPr>
        <p:spPr>
          <a:xfrm xmlns:a="http://schemas.openxmlformats.org/drawingml/2006/main">
            <a:off x="822960" y="3621024"/>
            <a:ext cx="47548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C64"/>
                </a:solidFill>
                <a:latin typeface="Cambria"/>
                <a:ea typeface="Cambria"/>
                <a:cs typeface="Cambria"/>
              </a:rPr>
              <a:t>Where it earns its keep in Mawid</a:t>
            </a:r>
            <a:endParaRPr sz="1350"/>
          </a:p>
        </p:txBody>
      </p:sp>
      <p:sp>
        <p:nvSpPr>
          <p:cNvPr id="24" name="Text 22">
            <a:extLst xmlns:a="http://schemas.openxmlformats.org/drawingml/2006/main">
              <a:ext uri="{FF2B5EF4-FFF2-40B4-BE49-F238E27FC236}">
                <a16:creationId xmlns:a16="http://schemas.microsoft.com/office/drawing/2014/main" id="{01D6A93F-2143-427C-812D-E3F30772496E}"/>
              </a:ext>
            </a:extLst>
          </p:cNvPr>
          <p:cNvSpPr>
            <a:spLocks xmlns:a="http://schemas.openxmlformats.org/drawingml/2006/main" noGrp="1"/>
          </p:cNvSpPr>
          <p:nvPr/>
        </p:nvSpPr>
        <p:spPr>
          <a:xfrm xmlns:a="http://schemas.openxmlformats.org/drawingml/2006/main">
            <a:off x="822960" y="4032504"/>
            <a:ext cx="493776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700"/>
              </a:spcAft>
              <a:buSzPct val="100000"/>
              <a:buChar char="•"/>
            </a:pPr>
            <a:r>
              <a:rPr sz="1100" b="1">
                <a:solidFill>
                  <a:srgbClr val="24313A"/>
                </a:solidFill>
                <a:latin typeface="Calibri"/>
                <a:ea typeface="Calibri"/>
                <a:cs typeface="Calibri"/>
              </a:rPr>
              <a:t>Median wait: 18 min — no clean SE formula exists; bootstrap doesn't care</a:t>
            </a:r>
            <a:endParaRPr sz="1100"/>
          </a:p>
          <a:p xmlns:a="http://schemas.openxmlformats.org/drawingml/2006/main">
            <a:pPr marL="152400" indent="-152400">
              <a:lnSpc>
                <a:spcPct val="104000"/>
              </a:lnSpc>
              <a:spcAft>
                <a:spcPts val="700"/>
              </a:spcAft>
              <a:buSzPct val="100000"/>
              <a:buChar char="•"/>
            </a:pPr>
            <a:r>
              <a:rPr sz="1100" b="1">
                <a:solidFill>
                  <a:srgbClr val="24313A"/>
                </a:solidFill>
                <a:latin typeface="Calibri"/>
                <a:ea typeface="Calibri"/>
                <a:cs typeface="Calibri"/>
              </a:rPr>
              <a:t>The standardized SMS effect from Lab 5: bootstrap gave its CI [−5.8, −4.1]pp</a:t>
            </a:r>
            <a:endParaRPr sz="1100"/>
          </a:p>
          <a:p xmlns:a="http://schemas.openxmlformats.org/drawingml/2006/main">
            <a:pPr marL="152400" indent="-152400">
              <a:lnSpc>
                <a:spcPct val="104000"/>
              </a:lnSpc>
              <a:spcAft>
                <a:spcPts val="700"/>
              </a:spcAft>
              <a:buSzPct val="100000"/>
              <a:buChar char="•"/>
            </a:pPr>
            <a:r>
              <a:rPr sz="1100">
                <a:solidFill>
                  <a:srgbClr val="24313A"/>
                </a:solidFill>
                <a:latin typeface="Calibri"/>
                <a:ea typeface="Calibri"/>
                <a:cs typeface="Calibri"/>
              </a:rPr>
              <a:t>P(wait &gt; 30): a tail probability with an interval attached</a:t>
            </a:r>
            <a:endParaRPr sz="1100"/>
          </a:p>
          <a:p xmlns:a="http://schemas.openxmlformats.org/drawingml/2006/main">
            <a:pPr marL="152400" indent="-152400">
              <a:lnSpc>
                <a:spcPct val="104000"/>
              </a:lnSpc>
              <a:spcAft>
                <a:spcPts val="700"/>
              </a:spcAft>
              <a:buSzPct val="100000"/>
              <a:buChar char="•"/>
            </a:pPr>
            <a:r>
              <a:rPr sz="1100">
                <a:solidFill>
                  <a:srgbClr val="24313A"/>
                </a:solidFill>
                <a:latin typeface="Calibri"/>
                <a:ea typeface="Calibri"/>
                <a:cs typeface="Calibri"/>
              </a:rPr>
              <a:t>Rule of thumb: 5,000 resamples; seeded, obviously</a:t>
            </a:r>
            <a:endParaRPr sz="1100"/>
          </a:p>
        </p:txBody>
      </p:sp>
      <p:sp>
        <p:nvSpPr>
          <p:cNvPr id="25" name="Shape 23">
            <a:extLst xmlns:a="http://schemas.openxmlformats.org/drawingml/2006/main">
              <a:ext uri="{FF2B5EF4-FFF2-40B4-BE49-F238E27FC236}">
                <a16:creationId xmlns:a16="http://schemas.microsoft.com/office/drawing/2014/main" id="{555131D1-DFE6-4A01-A5CE-C7DDF3899DD1}"/>
              </a:ext>
            </a:extLst>
          </p:cNvPr>
          <p:cNvSpPr>
            <a:spLocks xmlns:a="http://schemas.openxmlformats.org/drawingml/2006/main" noGrp="1"/>
          </p:cNvSpPr>
          <p:nvPr/>
        </p:nvSpPr>
        <p:spPr>
          <a:xfrm xmlns:a="http://schemas.openxmlformats.org/drawingml/2006/main">
            <a:off x="6172200" y="3438144"/>
            <a:ext cx="5532120" cy="2926080"/>
          </a:xfrm>
          <a:prstGeom xmlns:a="http://schemas.openxmlformats.org/drawingml/2006/main" prst="roundRect">
            <a:avLst>
              <a:gd name="adj" fmla="val 2813"/>
            </a:avLst>
          </a:prstGeom>
          <a:solidFill xmlns:a="http://schemas.openxmlformats.org/drawingml/2006/main">
            <a:srgbClr val="FBEEDD"/>
          </a:solidFill>
        </p:spPr>
      </p:sp>
      <p:sp>
        <p:nvSpPr>
          <p:cNvPr id="26" name="Shape 24">
            <a:extLst xmlns:a="http://schemas.openxmlformats.org/drawingml/2006/main">
              <a:ext uri="{FF2B5EF4-FFF2-40B4-BE49-F238E27FC236}">
                <a16:creationId xmlns:a16="http://schemas.microsoft.com/office/drawing/2014/main" id="{4BA869DF-4BC8-4A08-9D18-B06B47F86066}"/>
              </a:ext>
            </a:extLst>
          </p:cNvPr>
          <p:cNvSpPr>
            <a:spLocks xmlns:a="http://schemas.openxmlformats.org/drawingml/2006/main" noGrp="1"/>
          </p:cNvSpPr>
          <p:nvPr/>
        </p:nvSpPr>
        <p:spPr>
          <a:xfrm xmlns:a="http://schemas.openxmlformats.org/drawingml/2006/main">
            <a:off x="6400800" y="3621024"/>
            <a:ext cx="420624" cy="420624"/>
          </a:xfrm>
          <a:prstGeom xmlns:a="http://schemas.openxmlformats.org/drawingml/2006/main" prst="ellipse">
            <a:avLst/>
          </a:prstGeom>
          <a:solidFill xmlns:a="http://schemas.openxmlformats.org/drawingml/2006/main">
            <a:srgbClr val="C2660A"/>
          </a:solidFill>
        </p:spPr>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c0405183a87f4ada"/>
          <a:stretch xmlns:a="http://schemas.openxmlformats.org/drawingml/2006/main">
            <a:fillRect l="0" t="0" r="0" b="0"/>
          </a:stretch>
        </p:blipFill>
        <p:spPr>
          <a:xfrm xmlns:a="http://schemas.openxmlformats.org/drawingml/2006/main">
            <a:off x="6510162" y="3730386"/>
            <a:ext cx="201900" cy="20190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D22CBBB6-9AC2-4773-855C-8749C87E71AB}"/>
              </a:ext>
            </a:extLst>
          </p:cNvPr>
          <p:cNvSpPr>
            <a:spLocks xmlns:a="http://schemas.openxmlformats.org/drawingml/2006/main" noGrp="1"/>
          </p:cNvSpPr>
          <p:nvPr/>
        </p:nvSpPr>
        <p:spPr>
          <a:xfrm xmlns:a="http://schemas.openxmlformats.org/drawingml/2006/main">
            <a:off x="6967728" y="3666744"/>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C2660A"/>
                </a:solidFill>
                <a:latin typeface="Cambria"/>
                <a:ea typeface="Cambria"/>
                <a:cs typeface="Cambria"/>
              </a:rPr>
              <a:t>Honest limits</a:t>
            </a:r>
            <a:endParaRPr sz="1350"/>
          </a:p>
        </p:txBody>
      </p:sp>
      <p:sp>
        <p:nvSpPr>
          <p:cNvPr id="29" name="Text 26">
            <a:extLst xmlns:a="http://schemas.openxmlformats.org/drawingml/2006/main">
              <a:ext uri="{FF2B5EF4-FFF2-40B4-BE49-F238E27FC236}">
                <a16:creationId xmlns:a16="http://schemas.microsoft.com/office/drawing/2014/main" id="{A2300410-1C84-4D42-9259-1B70EA7FB026}"/>
              </a:ext>
            </a:extLst>
          </p:cNvPr>
          <p:cNvSpPr>
            <a:spLocks xmlns:a="http://schemas.openxmlformats.org/drawingml/2006/main" noGrp="1"/>
          </p:cNvSpPr>
          <p:nvPr/>
        </p:nvSpPr>
        <p:spPr>
          <a:xfrm xmlns:a="http://schemas.openxmlformats.org/drawingml/2006/main">
            <a:off x="6492240" y="4078224"/>
            <a:ext cx="4937760" cy="2103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700"/>
              </a:spcAft>
              <a:buSzPct val="100000"/>
              <a:buChar char="•"/>
            </a:pPr>
            <a:r>
              <a:rPr sz="1100">
                <a:solidFill>
                  <a:srgbClr val="24313A"/>
                </a:solidFill>
                <a:latin typeface="Calibri"/>
                <a:ea typeface="Calibri"/>
                <a:cs typeface="Calibri"/>
              </a:rPr>
              <a:t>It cannot fix bias: bootstrap the opt-in survey and you get a beautifully precise interval around the wrong answer</a:t>
            </a:r>
            <a:endParaRPr sz="1100"/>
          </a:p>
          <a:p xmlns:a="http://schemas.openxmlformats.org/drawingml/2006/main">
            <a:pPr marL="152400" indent="-152400">
              <a:lnSpc>
                <a:spcPct val="104000"/>
              </a:lnSpc>
              <a:spcAft>
                <a:spcPts val="700"/>
              </a:spcAft>
              <a:buSzPct val="100000"/>
              <a:buChar char="•"/>
            </a:pPr>
            <a:r>
              <a:rPr sz="1100">
                <a:solidFill>
                  <a:srgbClr val="24313A"/>
                </a:solidFill>
                <a:latin typeface="Calibri"/>
                <a:ea typeface="Calibri"/>
                <a:cs typeface="Calibri"/>
              </a:rPr>
              <a:t>It inherits the sample's blind spots — extreme tails, tiny n</a:t>
            </a:r>
            <a:endParaRPr sz="1100"/>
          </a:p>
          <a:p xmlns:a="http://schemas.openxmlformats.org/drawingml/2006/main">
            <a:pPr marL="152400" indent="-152400">
              <a:lnSpc>
                <a:spcPct val="104000"/>
              </a:lnSpc>
              <a:spcAft>
                <a:spcPts val="700"/>
              </a:spcAft>
              <a:buSzPct val="100000"/>
              <a:buChar char="•"/>
            </a:pPr>
            <a:r>
              <a:rPr sz="1100" b="1">
                <a:solidFill>
                  <a:srgbClr val="24313A"/>
                </a:solidFill>
                <a:latin typeface="Calibri"/>
                <a:ea typeface="Calibri"/>
                <a:cs typeface="Calibri"/>
              </a:rPr>
              <a:t>And it assumes rows are independent… which ours are not. Next slide.</a:t>
            </a:r>
            <a:endParaRPr sz="1100"/>
          </a:p>
        </p:txBody>
      </p:sp>
    </p:spTree>
    <p:extLst>
      <p:ext uri="{BB962C8B-B14F-4D97-AF65-F5344CB8AC3E}">
        <p14:creationId xmlns:p14="http://schemas.microsoft.com/office/powerpoint/2010/main" val="2121525225"/>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A72B145-F440-40A6-9248-684D63633260}"/>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AD1A82BD-B0DC-4CF2-B54D-29D2DD97DC84}"/>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73</a:t>
            </a:r>
            <a:endParaRPr sz="900"/>
          </a:p>
        </p:txBody>
      </p:sp>
      <p:sp>
        <p:nvSpPr>
          <p:cNvPr id="4" name="Shape 2">
            <a:extLst xmlns:a="http://schemas.openxmlformats.org/drawingml/2006/main">
              <a:ext uri="{FF2B5EF4-FFF2-40B4-BE49-F238E27FC236}">
                <a16:creationId xmlns:a16="http://schemas.microsoft.com/office/drawing/2014/main" id="{4234F29D-6BF9-4AFB-B70E-FC0B27BF7782}"/>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47C5AC0D-1E1B-4FF9-A619-9574D4ECFDAF}"/>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7</a:t>
            </a:r>
            <a:endParaRPr sz="1050"/>
          </a:p>
        </p:txBody>
      </p:sp>
      <p:sp>
        <p:nvSpPr>
          <p:cNvPr id="6" name="Text 4">
            <a:extLst xmlns:a="http://schemas.openxmlformats.org/drawingml/2006/main">
              <a:ext uri="{FF2B5EF4-FFF2-40B4-BE49-F238E27FC236}">
                <a16:creationId xmlns:a16="http://schemas.microsoft.com/office/drawing/2014/main" id="{10713E1E-71EF-48D1-AEB9-6DC400881D8D}"/>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Permutation tests: the null, enacted</a:t>
            </a:r>
            <a:endParaRPr sz="2800"/>
          </a:p>
        </p:txBody>
      </p:sp>
      <p:sp>
        <p:nvSpPr>
          <p:cNvPr id="7" name="Text 5">
            <a:extLst xmlns:a="http://schemas.openxmlformats.org/drawingml/2006/main">
              <a:ext uri="{FF2B5EF4-FFF2-40B4-BE49-F238E27FC236}">
                <a16:creationId xmlns:a16="http://schemas.microsoft.com/office/drawing/2014/main" id="{23BC13EA-1B94-4574-B2AC-582142AD5F6B}"/>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If treatment labels don't matter, shuffling them shouldn't matter either</a:t>
            </a:r>
            <a:endParaRPr sz="1350"/>
          </a:p>
        </p:txBody>
      </p:sp>
      <p:sp>
        <p:nvSpPr>
          <p:cNvPr id="8" name="Shape 6">
            <a:extLst xmlns:a="http://schemas.openxmlformats.org/drawingml/2006/main">
              <a:ext uri="{FF2B5EF4-FFF2-40B4-BE49-F238E27FC236}">
                <a16:creationId xmlns:a16="http://schemas.microsoft.com/office/drawing/2014/main" id="{AAFBFD85-49CE-4DCD-8CD4-D6B0E2795294}"/>
              </a:ext>
            </a:extLst>
          </p:cNvPr>
          <p:cNvSpPr>
            <a:spLocks xmlns:a="http://schemas.openxmlformats.org/drawingml/2006/main" noGrp="1"/>
          </p:cNvSpPr>
          <p:nvPr/>
        </p:nvSpPr>
        <p:spPr>
          <a:xfrm xmlns:a="http://schemas.openxmlformats.org/drawingml/2006/main">
            <a:off x="502920" y="1819656"/>
            <a:ext cx="6675120" cy="2651760"/>
          </a:xfrm>
          <a:prstGeom xmlns:a="http://schemas.openxmlformats.org/drawingml/2006/main" prst="roundRect">
            <a:avLst>
              <a:gd name="adj" fmla="val 3103"/>
            </a:avLst>
          </a:prstGeom>
          <a:solidFill xmlns:a="http://schemas.openxmlformats.org/drawingml/2006/main">
            <a:srgbClr val="F3F8F9"/>
          </a:solidFill>
        </p:spPr>
      </p:sp>
      <p:sp>
        <p:nvSpPr>
          <p:cNvPr id="9" name="Text 7">
            <a:extLst xmlns:a="http://schemas.openxmlformats.org/drawingml/2006/main">
              <a:ext uri="{FF2B5EF4-FFF2-40B4-BE49-F238E27FC236}">
                <a16:creationId xmlns:a16="http://schemas.microsoft.com/office/drawing/2014/main" id="{70AFFF03-1D64-4698-A540-807FEE86E612}"/>
              </a:ext>
            </a:extLst>
          </p:cNvPr>
          <p:cNvSpPr>
            <a:spLocks xmlns:a="http://schemas.openxmlformats.org/drawingml/2006/main" noGrp="1"/>
          </p:cNvSpPr>
          <p:nvPr/>
        </p:nvSpPr>
        <p:spPr>
          <a:xfrm xmlns:a="http://schemas.openxmlformats.org/drawingml/2006/main">
            <a:off x="822960" y="2066544"/>
            <a:ext cx="612648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800"/>
              </a:spcAft>
              <a:buSzPct val="100000"/>
              <a:buChar char="•"/>
            </a:pPr>
            <a:r>
              <a:rPr sz="1150" b="1">
                <a:solidFill>
                  <a:srgbClr val="24313A"/>
                </a:solidFill>
                <a:latin typeface="Calibri"/>
                <a:ea typeface="Calibri"/>
                <a:cs typeface="Calibri"/>
              </a:rPr>
              <a:t>Observed pilot difference: −6.8pp (reminder vs control)</a:t>
            </a:r>
            <a:endParaRPr sz="1150"/>
          </a:p>
          <a:p xmlns:a="http://schemas.openxmlformats.org/drawingml/2006/main">
            <a:pPr marL="152400" indent="-152400">
              <a:lnSpc>
                <a:spcPct val="104000"/>
              </a:lnSpc>
              <a:spcAft>
                <a:spcPts val="800"/>
              </a:spcAft>
              <a:buSzPct val="100000"/>
              <a:buChar char="•"/>
            </a:pPr>
            <a:r>
              <a:rPr sz="1150">
                <a:solidFill>
                  <a:srgbClr val="24313A"/>
                </a:solidFill>
                <a:latin typeface="Calibri"/>
                <a:ea typeface="Calibri"/>
                <a:cs typeface="Calibri"/>
              </a:rPr>
              <a:t>Shuffle the reminder labels across the 8,000 pilot rows; recompute the difference</a:t>
            </a:r>
            <a:endParaRPr sz="1150"/>
          </a:p>
          <a:p xmlns:a="http://schemas.openxmlformats.org/drawingml/2006/main">
            <a:pPr marL="152400" indent="-152400">
              <a:lnSpc>
                <a:spcPct val="104000"/>
              </a:lnSpc>
              <a:spcAft>
                <a:spcPts val="800"/>
              </a:spcAft>
              <a:buSzPct val="100000"/>
              <a:buChar char="•"/>
            </a:pPr>
            <a:r>
              <a:rPr sz="1150">
                <a:solidFill>
                  <a:srgbClr val="24313A"/>
                </a:solidFill>
                <a:latin typeface="Calibri"/>
                <a:ea typeface="Calibri"/>
                <a:cs typeface="Calibri"/>
              </a:rPr>
              <a:t>Repeat 10,000× → the distribution of differences under a world where SMS does nothing</a:t>
            </a:r>
            <a:endParaRPr sz="1150"/>
          </a:p>
          <a:p xmlns:a="http://schemas.openxmlformats.org/drawingml/2006/main">
            <a:pPr marL="152400" indent="-152400">
              <a:lnSpc>
                <a:spcPct val="104000"/>
              </a:lnSpc>
              <a:spcAft>
                <a:spcPts val="800"/>
              </a:spcAft>
              <a:buSzPct val="100000"/>
              <a:buChar char="•"/>
            </a:pPr>
            <a:r>
              <a:rPr sz="1150" b="1">
                <a:solidFill>
                  <a:srgbClr val="24313A"/>
                </a:solidFill>
                <a:latin typeface="Calibri"/>
                <a:ea typeface="Calibri"/>
                <a:cs typeface="Calibri"/>
              </a:rPr>
              <a:t>p = share of shuffled differences at least as extreme as −6.8pp → ≈ 0 (nothing close, 10,000 shuffles)</a:t>
            </a:r>
            <a:endParaRPr sz="1150"/>
          </a:p>
          <a:p xmlns:a="http://schemas.openxmlformats.org/drawingml/2006/main">
            <a:pPr marL="152400" indent="-152400">
              <a:lnSpc>
                <a:spcPct val="104000"/>
              </a:lnSpc>
              <a:spcAft>
                <a:spcPts val="800"/>
              </a:spcAft>
              <a:buSzPct val="100000"/>
              <a:buChar char="•"/>
            </a:pPr>
            <a:r>
              <a:rPr sz="1150">
                <a:solidFill>
                  <a:srgbClr val="24313A"/>
                </a:solidFill>
                <a:latin typeface="Calibri"/>
                <a:ea typeface="Calibri"/>
                <a:cs typeface="Calibri"/>
              </a:rPr>
              <a:t>Agrees with Day 2's z-test — same verdict, built from almost no assumptions</a:t>
            </a:r>
            <a:endParaRPr sz="1150"/>
          </a:p>
        </p:txBody>
      </p:sp>
      <p:sp>
        <p:nvSpPr>
          <p:cNvPr id="10" name="Shape 8">
            <a:extLst xmlns:a="http://schemas.openxmlformats.org/drawingml/2006/main">
              <a:ext uri="{FF2B5EF4-FFF2-40B4-BE49-F238E27FC236}">
                <a16:creationId xmlns:a16="http://schemas.microsoft.com/office/drawing/2014/main" id="{654E02B1-5684-4707-A1A0-B425FCB3C2D0}"/>
              </a:ext>
            </a:extLst>
          </p:cNvPr>
          <p:cNvSpPr>
            <a:spLocks xmlns:a="http://schemas.openxmlformats.org/drawingml/2006/main" noGrp="1"/>
          </p:cNvSpPr>
          <p:nvPr/>
        </p:nvSpPr>
        <p:spPr>
          <a:xfrm xmlns:a="http://schemas.openxmlformats.org/drawingml/2006/main">
            <a:off x="7360920" y="1819656"/>
            <a:ext cx="4343400" cy="2651760"/>
          </a:xfrm>
          <a:prstGeom xmlns:a="http://schemas.openxmlformats.org/drawingml/2006/main" prst="roundRect">
            <a:avLst>
              <a:gd name="adj" fmla="val 3103"/>
            </a:avLst>
          </a:prstGeom>
          <a:solidFill xmlns:a="http://schemas.openxmlformats.org/drawingml/2006/main">
            <a:srgbClr val="0B3140"/>
          </a:solidFill>
        </p:spPr>
      </p:sp>
      <p:sp>
        <p:nvSpPr>
          <p:cNvPr id="11" name="Text 9">
            <a:extLst xmlns:a="http://schemas.openxmlformats.org/drawingml/2006/main">
              <a:ext uri="{FF2B5EF4-FFF2-40B4-BE49-F238E27FC236}">
                <a16:creationId xmlns:a16="http://schemas.microsoft.com/office/drawing/2014/main" id="{93B767D8-11AB-4F8B-A6FD-8C2AC1C07627}"/>
              </a:ext>
            </a:extLst>
          </p:cNvPr>
          <p:cNvSpPr>
            <a:spLocks xmlns:a="http://schemas.openxmlformats.org/drawingml/2006/main" noGrp="1"/>
          </p:cNvSpPr>
          <p:nvPr/>
        </p:nvSpPr>
        <p:spPr>
          <a:xfrm xmlns:a="http://schemas.openxmlformats.org/drawingml/2006/main">
            <a:off x="7680960" y="2020824"/>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FB3BC"/>
                </a:solidFill>
                <a:latin typeface="Calibri"/>
                <a:ea typeface="Calibri"/>
                <a:cs typeface="Calibri"/>
              </a:rPr>
              <a:t>WHEN PERMUTATION SHINES</a:t>
            </a:r>
            <a:endParaRPr sz="1050"/>
          </a:p>
        </p:txBody>
      </p:sp>
      <p:sp>
        <p:nvSpPr>
          <p:cNvPr id="12" name="Text 10">
            <a:extLst xmlns:a="http://schemas.openxmlformats.org/drawingml/2006/main">
              <a:ext uri="{FF2B5EF4-FFF2-40B4-BE49-F238E27FC236}">
                <a16:creationId xmlns:a16="http://schemas.microsoft.com/office/drawing/2014/main" id="{2BC090AA-302A-4304-8CC2-AF5BEDA98FD0}"/>
              </a:ext>
            </a:extLst>
          </p:cNvPr>
          <p:cNvSpPr>
            <a:spLocks xmlns:a="http://schemas.openxmlformats.org/drawingml/2006/main" noGrp="1"/>
          </p:cNvSpPr>
          <p:nvPr/>
        </p:nvSpPr>
        <p:spPr>
          <a:xfrm xmlns:a="http://schemas.openxmlformats.org/drawingml/2006/main">
            <a:off x="7680960" y="2404872"/>
            <a:ext cx="3703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700"/>
              </a:spcAft>
              <a:buSzPct val="100000"/>
              <a:buChar char="•"/>
            </a:pPr>
            <a:r>
              <a:rPr sz="1130">
                <a:solidFill>
                  <a:srgbClr val="E8F1F2"/>
                </a:solidFill>
                <a:latin typeface="Calibri"/>
                <a:ea typeface="Calibri"/>
                <a:cs typeface="Calibri"/>
              </a:rPr>
              <a:t>Weird statistics (medians, ratios, custom KPIs)</a:t>
            </a:r>
            <a:endParaRPr sz="1130"/>
          </a:p>
          <a:p xmlns:a="http://schemas.openxmlformats.org/drawingml/2006/main">
            <a:pPr marL="152400" indent="-152400">
              <a:lnSpc>
                <a:spcPct val="104000"/>
              </a:lnSpc>
              <a:spcAft>
                <a:spcPts val="700"/>
              </a:spcAft>
              <a:buSzPct val="100000"/>
              <a:buChar char="•"/>
            </a:pPr>
            <a:r>
              <a:rPr sz="1130">
                <a:solidFill>
                  <a:srgbClr val="E8F1F2"/>
                </a:solidFill>
                <a:latin typeface="Calibri"/>
                <a:ea typeface="Calibri"/>
                <a:cs typeface="Calibri"/>
              </a:rPr>
              <a:t>Small samples where CLT feels like a stretch</a:t>
            </a:r>
            <a:endParaRPr sz="1130"/>
          </a:p>
          <a:p xmlns:a="http://schemas.openxmlformats.org/drawingml/2006/main">
            <a:pPr marL="152400" indent="-152400">
              <a:lnSpc>
                <a:spcPct val="104000"/>
              </a:lnSpc>
              <a:spcAft>
                <a:spcPts val="700"/>
              </a:spcAft>
              <a:buSzPct val="100000"/>
              <a:buChar char="•"/>
            </a:pPr>
            <a:r>
              <a:rPr sz="1130">
                <a:solidFill>
                  <a:srgbClr val="E8F1F2"/>
                </a:solidFill>
                <a:latin typeface="Calibri"/>
                <a:ea typeface="Calibri"/>
                <a:cs typeface="Calibri"/>
              </a:rPr>
              <a:t>Audiences that distrust formulas but trust 'we shuffled it 10,000 times'</a:t>
            </a:r>
            <a:endParaRPr sz="1130"/>
          </a:p>
        </p:txBody>
      </p:sp>
      <p:sp>
        <p:nvSpPr>
          <p:cNvPr id="13" name="Shape 11">
            <a:extLst xmlns:a="http://schemas.openxmlformats.org/drawingml/2006/main">
              <a:ext uri="{FF2B5EF4-FFF2-40B4-BE49-F238E27FC236}">
                <a16:creationId xmlns:a16="http://schemas.microsoft.com/office/drawing/2014/main" id="{1956390F-30B3-456C-8DA9-55FFB8136477}"/>
              </a:ext>
            </a:extLst>
          </p:cNvPr>
          <p:cNvSpPr>
            <a:spLocks xmlns:a="http://schemas.openxmlformats.org/drawingml/2006/main" noGrp="1"/>
          </p:cNvSpPr>
          <p:nvPr/>
        </p:nvSpPr>
        <p:spPr>
          <a:xfrm xmlns:a="http://schemas.openxmlformats.org/drawingml/2006/main">
            <a:off x="502920" y="4672584"/>
            <a:ext cx="11201400" cy="1691640"/>
          </a:xfrm>
          <a:prstGeom xmlns:a="http://schemas.openxmlformats.org/drawingml/2006/main" prst="roundRect">
            <a:avLst>
              <a:gd name="adj" fmla="val 4865"/>
            </a:avLst>
          </a:prstGeom>
          <a:solidFill xmlns:a="http://schemas.openxmlformats.org/drawingml/2006/main">
            <a:srgbClr val="FFFFFF"/>
          </a:solidFill>
          <a:ln xmlns:a="http://schemas.openxmlformats.org/drawingml/2006/main" w="12700">
            <a:solidFill>
              <a:srgbClr val="D6E2E4"/>
            </a:solidFill>
            <a:prstDash val="solid"/>
          </a:ln>
        </p:spPr>
      </p:sp>
      <p:sp>
        <p:nvSpPr>
          <p:cNvPr id="14" name="Text 12">
            <a:extLst xmlns:a="http://schemas.openxmlformats.org/drawingml/2006/main">
              <a:ext uri="{FF2B5EF4-FFF2-40B4-BE49-F238E27FC236}">
                <a16:creationId xmlns:a16="http://schemas.microsoft.com/office/drawing/2014/main" id="{FFD18885-DA18-4997-8C68-52D018A4925D}"/>
              </a:ext>
            </a:extLst>
          </p:cNvPr>
          <p:cNvSpPr>
            <a:spLocks xmlns:a="http://schemas.openxmlformats.org/drawingml/2006/main" noGrp="1"/>
          </p:cNvSpPr>
          <p:nvPr/>
        </p:nvSpPr>
        <p:spPr>
          <a:xfrm xmlns:a="http://schemas.openxmlformats.org/drawingml/2006/main">
            <a:off x="822960" y="4855464"/>
            <a:ext cx="7315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The teaching contrast worth naming</a:t>
            </a:r>
            <a:endParaRPr sz="1350"/>
          </a:p>
        </p:txBody>
      </p:sp>
      <p:sp>
        <p:nvSpPr>
          <p:cNvPr id="15" name="Text 13">
            <a:extLst xmlns:a="http://schemas.openxmlformats.org/drawingml/2006/main">
              <a:ext uri="{FF2B5EF4-FFF2-40B4-BE49-F238E27FC236}">
                <a16:creationId xmlns:a16="http://schemas.microsoft.com/office/drawing/2014/main" id="{DC02A24C-B6D2-4644-9730-000CBCA6ADE6}"/>
              </a:ext>
            </a:extLst>
          </p:cNvPr>
          <p:cNvSpPr>
            <a:spLocks xmlns:a="http://schemas.openxmlformats.org/drawingml/2006/main" noGrp="1"/>
          </p:cNvSpPr>
          <p:nvPr/>
        </p:nvSpPr>
        <p:spPr>
          <a:xfrm xmlns:a="http://schemas.openxmlformats.org/drawingml/2006/main">
            <a:off x="822960" y="5221224"/>
            <a:ext cx="1051560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180">
                <a:solidFill>
                  <a:srgbClr val="24313A"/>
                </a:solidFill>
                <a:latin typeface="Calibri"/>
                <a:ea typeface="Calibri"/>
                <a:cs typeface="Calibri"/>
              </a:rPr>
              <a:t>Bootstrap answers “how uncertain is my estimate?” (resample WITH replacement, keep labels).  Permutation answers “could this difference be nothing?” (shuffle labels, keep rows).  </a:t>
            </a:r>
            <a:r>
              <a:rPr sz="1180" b="1">
                <a:solidFill>
                  <a:srgbClr val="24313A"/>
                </a:solidFill>
                <a:latin typeface="Calibri"/>
                <a:ea typeface="Calibri"/>
                <a:cs typeface="Calibri"/>
              </a:rPr>
              <a:t>Different questions, different resampling — teams that conflate them lose points on the capstone's validation section.</a:t>
            </a:r>
            <a:endParaRPr sz="1180"/>
          </a:p>
        </p:txBody>
      </p:sp>
    </p:spTree>
    <p:extLst>
      <p:ext uri="{BB962C8B-B14F-4D97-AF65-F5344CB8AC3E}">
        <p14:creationId xmlns:p14="http://schemas.microsoft.com/office/powerpoint/2010/main" val="516850943"/>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4510775-FCAA-4BEA-B936-C3D2A958A242}"/>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6B51F6A8-FE07-4CFA-AEC2-D05BB633601F}"/>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74</a:t>
            </a:r>
            <a:endParaRPr sz="900"/>
          </a:p>
        </p:txBody>
      </p:sp>
      <p:sp>
        <p:nvSpPr>
          <p:cNvPr id="4" name="Shape 2">
            <a:extLst xmlns:a="http://schemas.openxmlformats.org/drawingml/2006/main">
              <a:ext uri="{FF2B5EF4-FFF2-40B4-BE49-F238E27FC236}">
                <a16:creationId xmlns:a16="http://schemas.microsoft.com/office/drawing/2014/main" id="{BCEAD564-EFF0-41F4-8F0C-3AF14416F1EA}"/>
              </a:ext>
            </a:extLst>
          </p:cNvPr>
          <p:cNvSpPr>
            <a:spLocks xmlns:a="http://schemas.openxmlformats.org/drawingml/2006/main" noGrp="1"/>
          </p:cNvSpPr>
          <p:nvPr/>
        </p:nvSpPr>
        <p:spPr>
          <a:xfrm xmlns:a="http://schemas.openxmlformats.org/drawingml/2006/main">
            <a:off x="502920" y="384048"/>
            <a:ext cx="303215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36843B6D-744E-4C62-9EB9-50EF61CA9CDD}"/>
              </a:ext>
            </a:extLst>
          </p:cNvPr>
          <p:cNvSpPr>
            <a:spLocks xmlns:a="http://schemas.openxmlformats.org/drawingml/2006/main" noGrp="1"/>
          </p:cNvSpPr>
          <p:nvPr/>
        </p:nvSpPr>
        <p:spPr>
          <a:xfrm xmlns:a="http://schemas.openxmlformats.org/drawingml/2006/main">
            <a:off x="502920" y="384048"/>
            <a:ext cx="303215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7 · THE PROFESSIONAL EDGE</a:t>
            </a:r>
            <a:endParaRPr sz="1050"/>
          </a:p>
        </p:txBody>
      </p:sp>
      <p:sp>
        <p:nvSpPr>
          <p:cNvPr id="6" name="Text 4">
            <a:extLst xmlns:a="http://schemas.openxmlformats.org/drawingml/2006/main">
              <a:ext uri="{FF2B5EF4-FFF2-40B4-BE49-F238E27FC236}">
                <a16:creationId xmlns:a16="http://schemas.microsoft.com/office/drawing/2014/main" id="{A3BA75A4-EC5E-4668-9916-49E0A40714F3}"/>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Rows are not independent: the cluster bootstrap</a:t>
            </a:r>
            <a:endParaRPr sz="2800"/>
          </a:p>
        </p:txBody>
      </p:sp>
      <p:sp>
        <p:nvSpPr>
          <p:cNvPr id="7" name="Text 5">
            <a:extLst xmlns:a="http://schemas.openxmlformats.org/drawingml/2006/main">
              <a:ext uri="{FF2B5EF4-FFF2-40B4-BE49-F238E27FC236}">
                <a16:creationId xmlns:a16="http://schemas.microsoft.com/office/drawing/2014/main" id="{C4A2B411-011F-428A-9873-7A36281E126D}"/>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Patients share clinics; clinics have their own weather. Resample CLINICS, not rows.</a:t>
            </a:r>
            <a:endParaRPr sz="1350"/>
          </a:p>
        </p:txBody>
      </p:sp>
      <p:sp>
        <p:nvSpPr>
          <p:cNvPr id="8" name="Shape 6">
            <a:extLst xmlns:a="http://schemas.openxmlformats.org/drawingml/2006/main">
              <a:ext uri="{FF2B5EF4-FFF2-40B4-BE49-F238E27FC236}">
                <a16:creationId xmlns:a16="http://schemas.microsoft.com/office/drawing/2014/main" id="{71E78C8C-F2B9-4912-81D2-DB3555E236DC}"/>
              </a:ext>
            </a:extLst>
          </p:cNvPr>
          <p:cNvSpPr>
            <a:spLocks xmlns:a="http://schemas.openxmlformats.org/drawingml/2006/main" noGrp="1"/>
          </p:cNvSpPr>
          <p:nvPr/>
        </p:nvSpPr>
        <p:spPr>
          <a:xfrm xmlns:a="http://schemas.openxmlformats.org/drawingml/2006/main">
            <a:off x="502920" y="1837944"/>
            <a:ext cx="6720840" cy="3017520"/>
          </a:xfrm>
          <a:prstGeom xmlns:a="http://schemas.openxmlformats.org/drawingml/2006/main" prst="roundRect">
            <a:avLst>
              <a:gd name="adj" fmla="val 2727"/>
            </a:avLst>
          </a:prstGeom>
          <a:solidFill xmlns:a="http://schemas.openxmlformats.org/drawingml/2006/main">
            <a:srgbClr val="FFFFFF"/>
          </a:solidFill>
          <a:ln xmlns:a="http://schemas.openxmlformats.org/drawingml/2006/main" w="12700">
            <a:solidFill>
              <a:srgbClr val="D6E2E4"/>
            </a:solidFill>
            <a:prstDash val="solid"/>
          </a:ln>
        </p:spPr>
      </p:sp>
      <p:sp>
        <p:nvSpPr>
          <p:cNvPr id="9" name="Text 7">
            <a:extLst xmlns:a="http://schemas.openxmlformats.org/drawingml/2006/main">
              <a:ext uri="{FF2B5EF4-FFF2-40B4-BE49-F238E27FC236}">
                <a16:creationId xmlns:a16="http://schemas.microsoft.com/office/drawing/2014/main" id="{B261EEC1-4779-45A6-9CFF-263E27334A93}"/>
              </a:ext>
            </a:extLst>
          </p:cNvPr>
          <p:cNvSpPr>
            <a:spLocks xmlns:a="http://schemas.openxmlformats.org/drawingml/2006/main" noGrp="1"/>
          </p:cNvSpPr>
          <p:nvPr/>
        </p:nvSpPr>
        <p:spPr>
          <a:xfrm xmlns:a="http://schemas.openxmlformats.org/drawingml/2006/main">
            <a:off x="822960" y="2020824"/>
            <a:ext cx="60350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B3140"/>
                </a:solidFill>
                <a:latin typeface="Calibri"/>
                <a:ea typeface="Calibri"/>
                <a:cs typeface="Calibri"/>
              </a:rPr>
              <a:t>95% bootstrap CI for the national mean wait (min)</a:t>
            </a:r>
            <a:endParaRPr sz="1200"/>
          </a:p>
        </p:txBody>
      </p:sp>
      <p:sp>
        <p:nvSpPr>
          <p:cNvPr id="10" name="Shape 8">
            <a:extLst xmlns:a="http://schemas.openxmlformats.org/drawingml/2006/main">
              <a:ext uri="{FF2B5EF4-FFF2-40B4-BE49-F238E27FC236}">
                <a16:creationId xmlns:a16="http://schemas.microsoft.com/office/drawing/2014/main" id="{E607C4C8-4195-419E-A6BD-0D477490C838}"/>
              </a:ext>
            </a:extLst>
          </p:cNvPr>
          <p:cNvSpPr>
            <a:spLocks xmlns:a="http://schemas.openxmlformats.org/drawingml/2006/main" noGrp="1"/>
          </p:cNvSpPr>
          <p:nvPr/>
        </p:nvSpPr>
        <p:spPr>
          <a:xfrm xmlns:a="http://schemas.openxmlformats.org/drawingml/2006/main">
            <a:off x="1234440" y="2523744"/>
            <a:ext cx="0" cy="1874520"/>
          </a:xfrm>
          <a:prstGeom xmlns:a="http://schemas.openxmlformats.org/drawingml/2006/main" prst="line">
            <a:avLst/>
          </a:prstGeom>
          <a:noFill xmlns:a="http://schemas.openxmlformats.org/drawingml/2006/main"/>
          <a:ln xmlns:a="http://schemas.openxmlformats.org/drawingml/2006/main" w="9525">
            <a:solidFill>
              <a:srgbClr val="EDF2F3"/>
            </a:solidFill>
            <a:prstDash val="solid"/>
          </a:ln>
        </p:spPr>
      </p:sp>
      <p:sp>
        <p:nvSpPr>
          <p:cNvPr id="11" name="Text 9">
            <a:extLst xmlns:a="http://schemas.openxmlformats.org/drawingml/2006/main">
              <a:ext uri="{FF2B5EF4-FFF2-40B4-BE49-F238E27FC236}">
                <a16:creationId xmlns:a16="http://schemas.microsoft.com/office/drawing/2014/main" id="{B48CF8AD-6A7D-40A9-A128-344C6160B18F}"/>
              </a:ext>
            </a:extLst>
          </p:cNvPr>
          <p:cNvSpPr>
            <a:spLocks xmlns:a="http://schemas.openxmlformats.org/drawingml/2006/main" noGrp="1"/>
          </p:cNvSpPr>
          <p:nvPr/>
        </p:nvSpPr>
        <p:spPr>
          <a:xfrm xmlns:a="http://schemas.openxmlformats.org/drawingml/2006/main">
            <a:off x="914400" y="4443984"/>
            <a:ext cx="640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5B6B75"/>
                </a:solidFill>
                <a:latin typeface="Calibri"/>
                <a:ea typeface="Calibri"/>
                <a:cs typeface="Calibri"/>
              </a:rPr>
              <a:t>19.5</a:t>
            </a:r>
            <a:endParaRPr sz="850"/>
          </a:p>
        </p:txBody>
      </p:sp>
      <p:sp>
        <p:nvSpPr>
          <p:cNvPr id="12" name="Shape 10">
            <a:extLst xmlns:a="http://schemas.openxmlformats.org/drawingml/2006/main">
              <a:ext uri="{FF2B5EF4-FFF2-40B4-BE49-F238E27FC236}">
                <a16:creationId xmlns:a16="http://schemas.microsoft.com/office/drawing/2014/main" id="{6F750B29-C74E-4426-9ADF-47204CC5C636}"/>
              </a:ext>
            </a:extLst>
          </p:cNvPr>
          <p:cNvSpPr>
            <a:spLocks xmlns:a="http://schemas.openxmlformats.org/drawingml/2006/main" noGrp="1"/>
          </p:cNvSpPr>
          <p:nvPr/>
        </p:nvSpPr>
        <p:spPr>
          <a:xfrm xmlns:a="http://schemas.openxmlformats.org/drawingml/2006/main">
            <a:off x="2540726" y="2523744"/>
            <a:ext cx="0" cy="1874520"/>
          </a:xfrm>
          <a:prstGeom xmlns:a="http://schemas.openxmlformats.org/drawingml/2006/main" prst="line">
            <a:avLst/>
          </a:prstGeom>
          <a:noFill xmlns:a="http://schemas.openxmlformats.org/drawingml/2006/main"/>
          <a:ln xmlns:a="http://schemas.openxmlformats.org/drawingml/2006/main" w="9525">
            <a:solidFill>
              <a:srgbClr val="EDF2F3"/>
            </a:solidFill>
            <a:prstDash val="solid"/>
          </a:ln>
        </p:spPr>
      </p:sp>
      <p:sp>
        <p:nvSpPr>
          <p:cNvPr id="13" name="Text 11">
            <a:extLst xmlns:a="http://schemas.openxmlformats.org/drawingml/2006/main">
              <a:ext uri="{FF2B5EF4-FFF2-40B4-BE49-F238E27FC236}">
                <a16:creationId xmlns:a16="http://schemas.microsoft.com/office/drawing/2014/main" id="{917397C7-31F9-4C12-B1DC-ED75DB8FF184}"/>
              </a:ext>
            </a:extLst>
          </p:cNvPr>
          <p:cNvSpPr>
            <a:spLocks xmlns:a="http://schemas.openxmlformats.org/drawingml/2006/main" noGrp="1"/>
          </p:cNvSpPr>
          <p:nvPr/>
        </p:nvSpPr>
        <p:spPr>
          <a:xfrm xmlns:a="http://schemas.openxmlformats.org/drawingml/2006/main">
            <a:off x="2220686" y="4443984"/>
            <a:ext cx="640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5B6B75"/>
                </a:solidFill>
                <a:latin typeface="Calibri"/>
                <a:ea typeface="Calibri"/>
                <a:cs typeface="Calibri"/>
              </a:rPr>
              <a:t>20.0</a:t>
            </a:r>
            <a:endParaRPr sz="850"/>
          </a:p>
        </p:txBody>
      </p:sp>
      <p:sp>
        <p:nvSpPr>
          <p:cNvPr id="14" name="Shape 12">
            <a:extLst xmlns:a="http://schemas.openxmlformats.org/drawingml/2006/main">
              <a:ext uri="{FF2B5EF4-FFF2-40B4-BE49-F238E27FC236}">
                <a16:creationId xmlns:a16="http://schemas.microsoft.com/office/drawing/2014/main" id="{399F74BE-C67B-484F-ADFD-78C9832734B6}"/>
              </a:ext>
            </a:extLst>
          </p:cNvPr>
          <p:cNvSpPr>
            <a:spLocks xmlns:a="http://schemas.openxmlformats.org/drawingml/2006/main" noGrp="1"/>
          </p:cNvSpPr>
          <p:nvPr/>
        </p:nvSpPr>
        <p:spPr>
          <a:xfrm xmlns:a="http://schemas.openxmlformats.org/drawingml/2006/main">
            <a:off x="3847011" y="2523744"/>
            <a:ext cx="0" cy="1874520"/>
          </a:xfrm>
          <a:prstGeom xmlns:a="http://schemas.openxmlformats.org/drawingml/2006/main" prst="line">
            <a:avLst/>
          </a:prstGeom>
          <a:noFill xmlns:a="http://schemas.openxmlformats.org/drawingml/2006/main"/>
          <a:ln xmlns:a="http://schemas.openxmlformats.org/drawingml/2006/main" w="9525">
            <a:solidFill>
              <a:srgbClr val="EDF2F3"/>
            </a:solidFill>
            <a:prstDash val="solid"/>
          </a:ln>
        </p:spPr>
      </p:sp>
      <p:sp>
        <p:nvSpPr>
          <p:cNvPr id="15" name="Text 13">
            <a:extLst xmlns:a="http://schemas.openxmlformats.org/drawingml/2006/main">
              <a:ext uri="{FF2B5EF4-FFF2-40B4-BE49-F238E27FC236}">
                <a16:creationId xmlns:a16="http://schemas.microsoft.com/office/drawing/2014/main" id="{44E8F029-6AAD-4B60-A3FF-9618D6DEE79E}"/>
              </a:ext>
            </a:extLst>
          </p:cNvPr>
          <p:cNvSpPr>
            <a:spLocks xmlns:a="http://schemas.openxmlformats.org/drawingml/2006/main" noGrp="1"/>
          </p:cNvSpPr>
          <p:nvPr/>
        </p:nvSpPr>
        <p:spPr>
          <a:xfrm xmlns:a="http://schemas.openxmlformats.org/drawingml/2006/main">
            <a:off x="3526971" y="4443984"/>
            <a:ext cx="640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5B6B75"/>
                </a:solidFill>
                <a:latin typeface="Calibri"/>
                <a:ea typeface="Calibri"/>
                <a:cs typeface="Calibri"/>
              </a:rPr>
              <a:t>20.5</a:t>
            </a:r>
            <a:endParaRPr sz="850"/>
          </a:p>
        </p:txBody>
      </p:sp>
      <p:sp>
        <p:nvSpPr>
          <p:cNvPr id="16" name="Shape 14">
            <a:extLst xmlns:a="http://schemas.openxmlformats.org/drawingml/2006/main">
              <a:ext uri="{FF2B5EF4-FFF2-40B4-BE49-F238E27FC236}">
                <a16:creationId xmlns:a16="http://schemas.microsoft.com/office/drawing/2014/main" id="{72FEBB4A-9BB7-427D-A611-079A32796E25}"/>
              </a:ext>
            </a:extLst>
          </p:cNvPr>
          <p:cNvSpPr>
            <a:spLocks xmlns:a="http://schemas.openxmlformats.org/drawingml/2006/main" noGrp="1"/>
          </p:cNvSpPr>
          <p:nvPr/>
        </p:nvSpPr>
        <p:spPr>
          <a:xfrm xmlns:a="http://schemas.openxmlformats.org/drawingml/2006/main">
            <a:off x="5153297" y="2523744"/>
            <a:ext cx="0" cy="1874520"/>
          </a:xfrm>
          <a:prstGeom xmlns:a="http://schemas.openxmlformats.org/drawingml/2006/main" prst="line">
            <a:avLst/>
          </a:prstGeom>
          <a:noFill xmlns:a="http://schemas.openxmlformats.org/drawingml/2006/main"/>
          <a:ln xmlns:a="http://schemas.openxmlformats.org/drawingml/2006/main" w="9525">
            <a:solidFill>
              <a:srgbClr val="EDF2F3"/>
            </a:solidFill>
            <a:prstDash val="solid"/>
          </a:ln>
        </p:spPr>
      </p:sp>
      <p:sp>
        <p:nvSpPr>
          <p:cNvPr id="17" name="Text 15">
            <a:extLst xmlns:a="http://schemas.openxmlformats.org/drawingml/2006/main">
              <a:ext uri="{FF2B5EF4-FFF2-40B4-BE49-F238E27FC236}">
                <a16:creationId xmlns:a16="http://schemas.microsoft.com/office/drawing/2014/main" id="{14A91F58-08FE-4CAF-B16D-51CCFB4FFABD}"/>
              </a:ext>
            </a:extLst>
          </p:cNvPr>
          <p:cNvSpPr>
            <a:spLocks xmlns:a="http://schemas.openxmlformats.org/drawingml/2006/main" noGrp="1"/>
          </p:cNvSpPr>
          <p:nvPr/>
        </p:nvSpPr>
        <p:spPr>
          <a:xfrm xmlns:a="http://schemas.openxmlformats.org/drawingml/2006/main">
            <a:off x="4833257" y="4443984"/>
            <a:ext cx="640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5B6B75"/>
                </a:solidFill>
                <a:latin typeface="Calibri"/>
                <a:ea typeface="Calibri"/>
                <a:cs typeface="Calibri"/>
              </a:rPr>
              <a:t>21.0</a:t>
            </a:r>
            <a:endParaRPr sz="850"/>
          </a:p>
        </p:txBody>
      </p:sp>
      <p:sp>
        <p:nvSpPr>
          <p:cNvPr id="18" name="Shape 16">
            <a:extLst xmlns:a="http://schemas.openxmlformats.org/drawingml/2006/main">
              <a:ext uri="{FF2B5EF4-FFF2-40B4-BE49-F238E27FC236}">
                <a16:creationId xmlns:a16="http://schemas.microsoft.com/office/drawing/2014/main" id="{883CBA9D-B547-469B-A25F-1BB92A61CFDA}"/>
              </a:ext>
            </a:extLst>
          </p:cNvPr>
          <p:cNvSpPr>
            <a:spLocks xmlns:a="http://schemas.openxmlformats.org/drawingml/2006/main" noGrp="1"/>
          </p:cNvSpPr>
          <p:nvPr/>
        </p:nvSpPr>
        <p:spPr>
          <a:xfrm xmlns:a="http://schemas.openxmlformats.org/drawingml/2006/main">
            <a:off x="6459583" y="2523744"/>
            <a:ext cx="0" cy="1874520"/>
          </a:xfrm>
          <a:prstGeom xmlns:a="http://schemas.openxmlformats.org/drawingml/2006/main" prst="line">
            <a:avLst/>
          </a:prstGeom>
          <a:noFill xmlns:a="http://schemas.openxmlformats.org/drawingml/2006/main"/>
          <a:ln xmlns:a="http://schemas.openxmlformats.org/drawingml/2006/main" w="9525">
            <a:solidFill>
              <a:srgbClr val="EDF2F3"/>
            </a:solidFill>
            <a:prstDash val="solid"/>
          </a:ln>
        </p:spPr>
      </p:sp>
      <p:sp>
        <p:nvSpPr>
          <p:cNvPr id="19" name="Text 17">
            <a:extLst xmlns:a="http://schemas.openxmlformats.org/drawingml/2006/main">
              <a:ext uri="{FF2B5EF4-FFF2-40B4-BE49-F238E27FC236}">
                <a16:creationId xmlns:a16="http://schemas.microsoft.com/office/drawing/2014/main" id="{34600683-E885-490F-9645-6300C5273076}"/>
              </a:ext>
            </a:extLst>
          </p:cNvPr>
          <p:cNvSpPr>
            <a:spLocks xmlns:a="http://schemas.openxmlformats.org/drawingml/2006/main" noGrp="1"/>
          </p:cNvSpPr>
          <p:nvPr/>
        </p:nvSpPr>
        <p:spPr>
          <a:xfrm xmlns:a="http://schemas.openxmlformats.org/drawingml/2006/main">
            <a:off x="6139543" y="4443984"/>
            <a:ext cx="640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5B6B75"/>
                </a:solidFill>
                <a:latin typeface="Calibri"/>
                <a:ea typeface="Calibri"/>
                <a:cs typeface="Calibri"/>
              </a:rPr>
              <a:t>21.5</a:t>
            </a:r>
            <a:endParaRPr sz="850"/>
          </a:p>
        </p:txBody>
      </p:sp>
      <p:sp>
        <p:nvSpPr>
          <p:cNvPr id="20" name="Text 18">
            <a:extLst xmlns:a="http://schemas.openxmlformats.org/drawingml/2006/main">
              <a:ext uri="{FF2B5EF4-FFF2-40B4-BE49-F238E27FC236}">
                <a16:creationId xmlns:a16="http://schemas.microsoft.com/office/drawing/2014/main" id="{2AAAC936-E379-486E-A531-5F9471D60EB9}"/>
              </a:ext>
            </a:extLst>
          </p:cNvPr>
          <p:cNvSpPr>
            <a:spLocks xmlns:a="http://schemas.openxmlformats.org/drawingml/2006/main" noGrp="1"/>
          </p:cNvSpPr>
          <p:nvPr/>
        </p:nvSpPr>
        <p:spPr>
          <a:xfrm xmlns:a="http://schemas.openxmlformats.org/drawingml/2006/main">
            <a:off x="566928" y="2770632"/>
            <a:ext cx="12344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95000"/>
              </a:lnSpc>
              <a:buNone/>
            </a:pPr>
            <a:r>
              <a:rPr sz="950" b="1">
                <a:solidFill>
                  <a:srgbClr val="0B3140"/>
                </a:solidFill>
                <a:latin typeface="Calibri"/>
                <a:ea typeface="Calibri"/>
                <a:cs typeface="Calibri"/>
              </a:rPr>
              <a:t>Row bootstrap</a:t>
            </a:r>
            <a:endParaRPr sz="950"/>
          </a:p>
          <a:p xmlns:a="http://schemas.openxmlformats.org/drawingml/2006/main">
            <a:pPr marL="0" indent="0" algn="l">
              <a:lnSpc>
                <a:spcPct val="95000"/>
              </a:lnSpc>
              <a:buNone/>
            </a:pPr>
            <a:r>
              <a:rPr sz="950" b="1">
                <a:solidFill>
                  <a:srgbClr val="0B3140"/>
                </a:solidFill>
                <a:latin typeface="Calibri"/>
                <a:ea typeface="Calibri"/>
                <a:cs typeface="Calibri"/>
              </a:rPr>
              <a:t>(naïve)</a:t>
            </a:r>
            <a:endParaRPr sz="950"/>
          </a:p>
        </p:txBody>
      </p:sp>
      <p:sp>
        <p:nvSpPr>
          <p:cNvPr id="21" name="Shape 19">
            <a:extLst xmlns:a="http://schemas.openxmlformats.org/drawingml/2006/main">
              <a:ext uri="{FF2B5EF4-FFF2-40B4-BE49-F238E27FC236}">
                <a16:creationId xmlns:a16="http://schemas.microsoft.com/office/drawing/2014/main" id="{BC492C67-3B43-4FF2-A42F-E3CB43B45B58}"/>
              </a:ext>
            </a:extLst>
          </p:cNvPr>
          <p:cNvSpPr>
            <a:spLocks xmlns:a="http://schemas.openxmlformats.org/drawingml/2006/main" noGrp="1"/>
          </p:cNvSpPr>
          <p:nvPr/>
        </p:nvSpPr>
        <p:spPr>
          <a:xfrm xmlns:a="http://schemas.openxmlformats.org/drawingml/2006/main">
            <a:off x="3507377" y="2980944"/>
            <a:ext cx="574766" cy="0"/>
          </a:xfrm>
          <a:prstGeom xmlns:a="http://schemas.openxmlformats.org/drawingml/2006/main" prst="line">
            <a:avLst/>
          </a:prstGeom>
          <a:noFill xmlns:a="http://schemas.openxmlformats.org/drawingml/2006/main"/>
          <a:ln xmlns:a="http://schemas.openxmlformats.org/drawingml/2006/main" w="63500">
            <a:solidFill>
              <a:srgbClr val="0B3140"/>
            </a:solidFill>
            <a:prstDash val="solid"/>
          </a:ln>
        </p:spPr>
      </p:sp>
      <p:sp>
        <p:nvSpPr>
          <p:cNvPr id="22" name="Text 20">
            <a:extLst xmlns:a="http://schemas.openxmlformats.org/drawingml/2006/main">
              <a:ext uri="{FF2B5EF4-FFF2-40B4-BE49-F238E27FC236}">
                <a16:creationId xmlns:a16="http://schemas.microsoft.com/office/drawing/2014/main" id="{839C72F4-2696-42C4-A35C-D1F2BB0DA0E4}"/>
              </a:ext>
            </a:extLst>
          </p:cNvPr>
          <p:cNvSpPr>
            <a:spLocks xmlns:a="http://schemas.openxmlformats.org/drawingml/2006/main" noGrp="1"/>
          </p:cNvSpPr>
          <p:nvPr/>
        </p:nvSpPr>
        <p:spPr>
          <a:xfrm xmlns:a="http://schemas.openxmlformats.org/drawingml/2006/main">
            <a:off x="4191871" y="2843784"/>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0B3140"/>
                </a:solidFill>
                <a:latin typeface="Calibri"/>
                <a:ea typeface="Calibri"/>
                <a:cs typeface="Calibri"/>
              </a:rPr>
              <a:t>[20.37, 20.59] — width 0.22</a:t>
            </a:r>
            <a:endParaRPr sz="950"/>
          </a:p>
        </p:txBody>
      </p:sp>
      <p:sp>
        <p:nvSpPr>
          <p:cNvPr id="23" name="Text 21">
            <a:extLst xmlns:a="http://schemas.openxmlformats.org/drawingml/2006/main">
              <a:ext uri="{FF2B5EF4-FFF2-40B4-BE49-F238E27FC236}">
                <a16:creationId xmlns:a16="http://schemas.microsoft.com/office/drawing/2014/main" id="{523DC184-56D8-46DD-817D-277AEBC1048A}"/>
              </a:ext>
            </a:extLst>
          </p:cNvPr>
          <p:cNvSpPr>
            <a:spLocks xmlns:a="http://schemas.openxmlformats.org/drawingml/2006/main" noGrp="1"/>
          </p:cNvSpPr>
          <p:nvPr/>
        </p:nvSpPr>
        <p:spPr>
          <a:xfrm xmlns:a="http://schemas.openxmlformats.org/drawingml/2006/main">
            <a:off x="566928" y="3593592"/>
            <a:ext cx="1371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95000"/>
              </a:lnSpc>
              <a:buNone/>
            </a:pPr>
            <a:r>
              <a:rPr sz="950" b="1">
                <a:solidFill>
                  <a:srgbClr val="0E7C86"/>
                </a:solidFill>
                <a:latin typeface="Calibri"/>
                <a:ea typeface="Calibri"/>
                <a:cs typeface="Calibri"/>
              </a:rPr>
              <a:t>Cluster bootstrap</a:t>
            </a:r>
            <a:endParaRPr sz="950"/>
          </a:p>
          <a:p xmlns:a="http://schemas.openxmlformats.org/drawingml/2006/main">
            <a:pPr marL="0" indent="0" algn="l">
              <a:lnSpc>
                <a:spcPct val="95000"/>
              </a:lnSpc>
              <a:buNone/>
            </a:pPr>
            <a:r>
              <a:rPr sz="950" b="1">
                <a:solidFill>
                  <a:srgbClr val="0E7C86"/>
                </a:solidFill>
                <a:latin typeface="Calibri"/>
                <a:ea typeface="Calibri"/>
                <a:cs typeface="Calibri"/>
              </a:rPr>
              <a:t>(resample clinics)</a:t>
            </a:r>
            <a:endParaRPr sz="950"/>
          </a:p>
        </p:txBody>
      </p:sp>
      <p:sp>
        <p:nvSpPr>
          <p:cNvPr id="24" name="Shape 22">
            <a:extLst xmlns:a="http://schemas.openxmlformats.org/drawingml/2006/main">
              <a:ext uri="{FF2B5EF4-FFF2-40B4-BE49-F238E27FC236}">
                <a16:creationId xmlns:a16="http://schemas.microsoft.com/office/drawing/2014/main" id="{87A98093-C6C8-4E7F-94D0-CFF9226FBD58}"/>
              </a:ext>
            </a:extLst>
          </p:cNvPr>
          <p:cNvSpPr>
            <a:spLocks xmlns:a="http://schemas.openxmlformats.org/drawingml/2006/main" noGrp="1"/>
          </p:cNvSpPr>
          <p:nvPr/>
        </p:nvSpPr>
        <p:spPr>
          <a:xfrm xmlns:a="http://schemas.openxmlformats.org/drawingml/2006/main">
            <a:off x="1835331" y="3803904"/>
            <a:ext cx="4101737" cy="0"/>
          </a:xfrm>
          <a:prstGeom xmlns:a="http://schemas.openxmlformats.org/drawingml/2006/main" prst="line">
            <a:avLst/>
          </a:prstGeom>
          <a:noFill xmlns:a="http://schemas.openxmlformats.org/drawingml/2006/main"/>
          <a:ln xmlns:a="http://schemas.openxmlformats.org/drawingml/2006/main" w="63500">
            <a:solidFill>
              <a:srgbClr val="0E7C86"/>
            </a:solidFill>
            <a:prstDash val="solid"/>
          </a:ln>
        </p:spPr>
      </p:sp>
      <p:sp>
        <p:nvSpPr>
          <p:cNvPr id="25" name="Text 23">
            <a:extLst xmlns:a="http://schemas.openxmlformats.org/drawingml/2006/main">
              <a:ext uri="{FF2B5EF4-FFF2-40B4-BE49-F238E27FC236}">
                <a16:creationId xmlns:a16="http://schemas.microsoft.com/office/drawing/2014/main" id="{DFCA1FB6-D5D3-451D-A0A0-C21FC5FD2C68}"/>
              </a:ext>
            </a:extLst>
          </p:cNvPr>
          <p:cNvSpPr>
            <a:spLocks xmlns:a="http://schemas.openxmlformats.org/drawingml/2006/main" noGrp="1"/>
          </p:cNvSpPr>
          <p:nvPr/>
        </p:nvSpPr>
        <p:spPr>
          <a:xfrm xmlns:a="http://schemas.openxmlformats.org/drawingml/2006/main">
            <a:off x="3833949" y="39593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a:solidFill>
                  <a:srgbClr val="0A5C64"/>
                </a:solidFill>
                <a:latin typeface="Calibri"/>
                <a:ea typeface="Calibri"/>
                <a:cs typeface="Calibri"/>
              </a:rPr>
              <a:t>[19.73, 21.30] — width 1.57</a:t>
            </a:r>
            <a:endParaRPr sz="950"/>
          </a:p>
        </p:txBody>
      </p:sp>
      <p:sp>
        <p:nvSpPr>
          <p:cNvPr id="26" name="Text 24">
            <a:extLst xmlns:a="http://schemas.openxmlformats.org/drawingml/2006/main">
              <a:ext uri="{FF2B5EF4-FFF2-40B4-BE49-F238E27FC236}">
                <a16:creationId xmlns:a16="http://schemas.microsoft.com/office/drawing/2014/main" id="{E5AFB16E-46CE-489C-9F04-94355587C790}"/>
              </a:ext>
            </a:extLst>
          </p:cNvPr>
          <p:cNvSpPr>
            <a:spLocks xmlns:a="http://schemas.openxmlformats.org/drawingml/2006/main" noGrp="1"/>
          </p:cNvSpPr>
          <p:nvPr/>
        </p:nvSpPr>
        <p:spPr>
          <a:xfrm xmlns:a="http://schemas.openxmlformats.org/drawingml/2006/main">
            <a:off x="822960" y="4142232"/>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i="1">
                <a:solidFill>
                  <a:srgbClr val="B4232A"/>
                </a:solidFill>
                <a:latin typeface="Calibri"/>
                <a:ea typeface="Calibri"/>
                <a:cs typeface="Calibri"/>
              </a:rPr>
              <a:t>≈ 7× wider — and the honest one</a:t>
            </a:r>
            <a:endParaRPr sz="1100"/>
          </a:p>
        </p:txBody>
      </p:sp>
      <p:sp>
        <p:nvSpPr>
          <p:cNvPr id="27" name="Shape 25">
            <a:extLst xmlns:a="http://schemas.openxmlformats.org/drawingml/2006/main">
              <a:ext uri="{FF2B5EF4-FFF2-40B4-BE49-F238E27FC236}">
                <a16:creationId xmlns:a16="http://schemas.microsoft.com/office/drawing/2014/main" id="{9B98C95A-6245-4265-AEDB-29A2526ACD60}"/>
              </a:ext>
            </a:extLst>
          </p:cNvPr>
          <p:cNvSpPr>
            <a:spLocks xmlns:a="http://schemas.openxmlformats.org/drawingml/2006/main" noGrp="1"/>
          </p:cNvSpPr>
          <p:nvPr/>
        </p:nvSpPr>
        <p:spPr>
          <a:xfrm xmlns:a="http://schemas.openxmlformats.org/drawingml/2006/main">
            <a:off x="7406640" y="1837944"/>
            <a:ext cx="4297680" cy="3017520"/>
          </a:xfrm>
          <a:prstGeom xmlns:a="http://schemas.openxmlformats.org/drawingml/2006/main" prst="roundRect">
            <a:avLst>
              <a:gd name="adj" fmla="val 2727"/>
            </a:avLst>
          </a:prstGeom>
          <a:solidFill xmlns:a="http://schemas.openxmlformats.org/drawingml/2006/main">
            <a:srgbClr val="F3F8F9"/>
          </a:solidFill>
        </p:spPr>
      </p:sp>
      <p:sp>
        <p:nvSpPr>
          <p:cNvPr id="28" name="Text 26">
            <a:extLst xmlns:a="http://schemas.openxmlformats.org/drawingml/2006/main">
              <a:ext uri="{FF2B5EF4-FFF2-40B4-BE49-F238E27FC236}">
                <a16:creationId xmlns:a16="http://schemas.microsoft.com/office/drawing/2014/main" id="{9DC46D72-752C-489C-957D-89D07072C4F5}"/>
              </a:ext>
            </a:extLst>
          </p:cNvPr>
          <p:cNvSpPr>
            <a:spLocks xmlns:a="http://schemas.openxmlformats.org/drawingml/2006/main" noGrp="1"/>
          </p:cNvSpPr>
          <p:nvPr/>
        </p:nvSpPr>
        <p:spPr>
          <a:xfrm xmlns:a="http://schemas.openxmlformats.org/drawingml/2006/main">
            <a:off x="7726680" y="2020824"/>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Why the naïve CI lies</a:t>
            </a:r>
            <a:endParaRPr sz="1350"/>
          </a:p>
        </p:txBody>
      </p:sp>
      <p:sp>
        <p:nvSpPr>
          <p:cNvPr id="29" name="Text 27">
            <a:extLst xmlns:a="http://schemas.openxmlformats.org/drawingml/2006/main">
              <a:ext uri="{FF2B5EF4-FFF2-40B4-BE49-F238E27FC236}">
                <a16:creationId xmlns:a16="http://schemas.microsoft.com/office/drawing/2014/main" id="{4E00EA12-ADBF-45FD-A6B6-5B4A289961E8}"/>
              </a:ext>
            </a:extLst>
          </p:cNvPr>
          <p:cNvSpPr>
            <a:spLocks xmlns:a="http://schemas.openxmlformats.org/drawingml/2006/main" noGrp="1"/>
          </p:cNvSpPr>
          <p:nvPr/>
        </p:nvSpPr>
        <p:spPr>
          <a:xfrm xmlns:a="http://schemas.openxmlformats.org/drawingml/2006/main">
            <a:off x="7726680" y="2432304"/>
            <a:ext cx="370332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600"/>
              </a:spcAft>
              <a:buSzPct val="100000"/>
              <a:buChar char="•"/>
            </a:pPr>
            <a:r>
              <a:rPr sz="1080">
                <a:solidFill>
                  <a:srgbClr val="24313A"/>
                </a:solidFill>
                <a:latin typeface="Calibri"/>
                <a:ea typeface="Calibri"/>
                <a:cs typeface="Calibri"/>
              </a:rPr>
              <a:t>Clinic effects make same-clinic waits move together</a:t>
            </a:r>
            <a:endParaRPr sz="1080"/>
          </a:p>
          <a:p xmlns:a="http://schemas.openxmlformats.org/drawingml/2006/main">
            <a:pPr marL="152400" indent="-152400">
              <a:lnSpc>
                <a:spcPct val="104000"/>
              </a:lnSpc>
              <a:spcAft>
                <a:spcPts val="600"/>
              </a:spcAft>
              <a:buSzPct val="100000"/>
              <a:buChar char="•"/>
            </a:pPr>
            <a:r>
              <a:rPr sz="1080">
                <a:solidFill>
                  <a:srgbClr val="24313A"/>
                </a:solidFill>
                <a:latin typeface="Calibri"/>
                <a:ea typeface="Calibri"/>
                <a:cs typeface="Calibri"/>
              </a:rPr>
              <a:t>50,000 correlated rows carry the information of far fewer independent ones</a:t>
            </a:r>
            <a:endParaRPr sz="1080"/>
          </a:p>
          <a:p xmlns:a="http://schemas.openxmlformats.org/drawingml/2006/main">
            <a:pPr marL="152400" indent="-152400">
              <a:lnSpc>
                <a:spcPct val="104000"/>
              </a:lnSpc>
              <a:spcAft>
                <a:spcPts val="600"/>
              </a:spcAft>
              <a:buSzPct val="100000"/>
              <a:buChar char="•"/>
            </a:pPr>
            <a:r>
              <a:rPr sz="1080">
                <a:solidFill>
                  <a:srgbClr val="24313A"/>
                </a:solidFill>
                <a:latin typeface="Calibri"/>
                <a:ea typeface="Calibri"/>
                <a:cs typeface="Calibri"/>
              </a:rPr>
              <a:t>Row resampling treats every row as fresh news → CI shrinks illegitimately</a:t>
            </a:r>
            <a:endParaRPr sz="1080"/>
          </a:p>
          <a:p xmlns:a="http://schemas.openxmlformats.org/drawingml/2006/main">
            <a:pPr marL="152400" indent="-152400">
              <a:lnSpc>
                <a:spcPct val="104000"/>
              </a:lnSpc>
              <a:spcAft>
                <a:spcPts val="600"/>
              </a:spcAft>
              <a:buSzPct val="100000"/>
              <a:buChar char="•"/>
            </a:pPr>
            <a:r>
              <a:rPr sz="1080" b="1">
                <a:solidFill>
                  <a:srgbClr val="24313A"/>
                </a:solidFill>
                <a:latin typeface="Calibri"/>
                <a:ea typeface="Calibri"/>
                <a:cs typeface="Calibri"/>
              </a:rPr>
              <a:t>Fix: resample the 120 clinics with replacement, keep each clinic's rows intact</a:t>
            </a:r>
            <a:endParaRPr sz="1080"/>
          </a:p>
        </p:txBody>
      </p:sp>
      <p:sp>
        <p:nvSpPr>
          <p:cNvPr id="30" name="Shape 28">
            <a:extLst xmlns:a="http://schemas.openxmlformats.org/drawingml/2006/main">
              <a:ext uri="{FF2B5EF4-FFF2-40B4-BE49-F238E27FC236}">
                <a16:creationId xmlns:a16="http://schemas.microsoft.com/office/drawing/2014/main" id="{4484A475-264F-4EB7-914A-B5713433B296}"/>
              </a:ext>
            </a:extLst>
          </p:cNvPr>
          <p:cNvSpPr>
            <a:spLocks xmlns:a="http://schemas.openxmlformats.org/drawingml/2006/main" noGrp="1"/>
          </p:cNvSpPr>
          <p:nvPr/>
        </p:nvSpPr>
        <p:spPr>
          <a:xfrm xmlns:a="http://schemas.openxmlformats.org/drawingml/2006/main">
            <a:off x="502920" y="5038344"/>
            <a:ext cx="11201400" cy="1371600"/>
          </a:xfrm>
          <a:prstGeom xmlns:a="http://schemas.openxmlformats.org/drawingml/2006/main" prst="roundRect">
            <a:avLst>
              <a:gd name="adj" fmla="val 6000"/>
            </a:avLst>
          </a:prstGeom>
          <a:solidFill xmlns:a="http://schemas.openxmlformats.org/drawingml/2006/main">
            <a:srgbClr val="0B3140"/>
          </a:solidFill>
        </p:spPr>
      </p:sp>
      <p:sp>
        <p:nvSpPr>
          <p:cNvPr id="31" name="Text 29">
            <a:extLst xmlns:a="http://schemas.openxmlformats.org/drawingml/2006/main">
              <a:ext uri="{FF2B5EF4-FFF2-40B4-BE49-F238E27FC236}">
                <a16:creationId xmlns:a16="http://schemas.microsoft.com/office/drawing/2014/main" id="{DBB47016-E48A-49DD-BB3F-D91311BB67C2}"/>
              </a:ext>
            </a:extLst>
          </p:cNvPr>
          <p:cNvSpPr>
            <a:spLocks xmlns:a="http://schemas.openxmlformats.org/drawingml/2006/main" noGrp="1"/>
          </p:cNvSpPr>
          <p:nvPr/>
        </p:nvSpPr>
        <p:spPr>
          <a:xfrm xmlns:a="http://schemas.openxmlformats.org/drawingml/2006/main">
            <a:off x="868680" y="5221224"/>
            <a:ext cx="1042416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3000"/>
              </a:lnSpc>
              <a:buNone/>
            </a:pPr>
            <a:r>
              <a:rPr sz="1230" b="1">
                <a:solidFill>
                  <a:srgbClr val="6FB3BC"/>
                </a:solidFill>
                <a:latin typeface="Calibri"/>
                <a:ea typeface="Calibri"/>
                <a:cs typeface="Calibri"/>
              </a:rPr>
              <a:t>This is the most common silent error in national-scale analytics:  </a:t>
            </a:r>
            <a:r>
              <a:rPr sz="1230">
                <a:solidFill>
                  <a:srgbClr val="FFFFFF"/>
                </a:solidFill>
                <a:latin typeface="Calibri"/>
                <a:ea typeface="Calibri"/>
                <a:cs typeface="Calibri"/>
              </a:rPr>
              <a:t>intervals and p-values computed as if administrative rows were independent draws. Everything looks certain; little of it is. One question — “what is the sampling unit?” — is the mark of a statistician in the room.</a:t>
            </a:r>
            <a:endParaRPr sz="1230"/>
          </a:p>
        </p:txBody>
      </p:sp>
    </p:spTree>
    <p:extLst>
      <p:ext uri="{BB962C8B-B14F-4D97-AF65-F5344CB8AC3E}">
        <p14:creationId xmlns:p14="http://schemas.microsoft.com/office/powerpoint/2010/main" val="1704402441"/>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2D42E9F-AEF7-4E62-812F-3D0B8288F171}"/>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02025FC9-019E-4969-8060-6958099569F8}"/>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75</a:t>
            </a:r>
            <a:endParaRPr sz="900"/>
          </a:p>
        </p:txBody>
      </p:sp>
      <p:sp>
        <p:nvSpPr>
          <p:cNvPr id="4" name="Shape 2">
            <a:extLst xmlns:a="http://schemas.openxmlformats.org/drawingml/2006/main">
              <a:ext uri="{FF2B5EF4-FFF2-40B4-BE49-F238E27FC236}">
                <a16:creationId xmlns:a16="http://schemas.microsoft.com/office/drawing/2014/main" id="{0AB46251-1BE3-491E-B34C-C156D85AE798}"/>
              </a:ext>
            </a:extLst>
          </p:cNvPr>
          <p:cNvSpPr>
            <a:spLocks xmlns:a="http://schemas.openxmlformats.org/drawingml/2006/main" noGrp="1"/>
          </p:cNvSpPr>
          <p:nvPr/>
        </p:nvSpPr>
        <p:spPr>
          <a:xfrm xmlns:a="http://schemas.openxmlformats.org/drawingml/2006/main">
            <a:off x="502920" y="384048"/>
            <a:ext cx="2096719" cy="292608"/>
          </a:xfrm>
          <a:prstGeom xmlns:a="http://schemas.openxmlformats.org/drawingml/2006/main" prst="roundRect">
            <a:avLst>
              <a:gd name="adj" fmla="val 50000"/>
            </a:avLst>
          </a:prstGeom>
          <a:solidFill xmlns:a="http://schemas.openxmlformats.org/drawingml/2006/main">
            <a:srgbClr val="0B3140"/>
          </a:solidFill>
        </p:spPr>
      </p:sp>
      <p:sp>
        <p:nvSpPr>
          <p:cNvPr id="5" name="Text 3">
            <a:extLst xmlns:a="http://schemas.openxmlformats.org/drawingml/2006/main">
              <a:ext uri="{FF2B5EF4-FFF2-40B4-BE49-F238E27FC236}">
                <a16:creationId xmlns:a16="http://schemas.microsoft.com/office/drawing/2014/main" id="{7648AB89-5976-45FF-AC6E-085F584B2E1C}"/>
              </a:ext>
            </a:extLst>
          </p:cNvPr>
          <p:cNvSpPr>
            <a:spLocks xmlns:a="http://schemas.openxmlformats.org/drawingml/2006/main" noGrp="1"/>
          </p:cNvSpPr>
          <p:nvPr/>
        </p:nvSpPr>
        <p:spPr>
          <a:xfrm xmlns:a="http://schemas.openxmlformats.org/drawingml/2006/main">
            <a:off x="502920" y="384048"/>
            <a:ext cx="209671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7 · CASE STUDY</a:t>
            </a:r>
            <a:endParaRPr sz="1050"/>
          </a:p>
        </p:txBody>
      </p:sp>
      <p:sp>
        <p:nvSpPr>
          <p:cNvPr id="6" name="Text 4">
            <a:extLst xmlns:a="http://schemas.openxmlformats.org/drawingml/2006/main">
              <a:ext uri="{FF2B5EF4-FFF2-40B4-BE49-F238E27FC236}">
                <a16:creationId xmlns:a16="http://schemas.microsoft.com/office/drawing/2014/main" id="{8175471A-1DAE-40E0-B1AB-9C79566F1063}"/>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The interval that was too good to be true</a:t>
            </a:r>
            <a:endParaRPr sz="2800"/>
          </a:p>
        </p:txBody>
      </p:sp>
      <p:sp>
        <p:nvSpPr>
          <p:cNvPr id="7" name="Shape 5">
            <a:extLst xmlns:a="http://schemas.openxmlformats.org/drawingml/2006/main">
              <a:ext uri="{FF2B5EF4-FFF2-40B4-BE49-F238E27FC236}">
                <a16:creationId xmlns:a16="http://schemas.microsoft.com/office/drawing/2014/main" id="{1C5A0EE4-FFDE-48E5-A89A-E5F5916A32A2}"/>
              </a:ext>
            </a:extLst>
          </p:cNvPr>
          <p:cNvSpPr>
            <a:spLocks xmlns:a="http://schemas.openxmlformats.org/drawingml/2006/main" noGrp="1"/>
          </p:cNvSpPr>
          <p:nvPr/>
        </p:nvSpPr>
        <p:spPr>
          <a:xfrm xmlns:a="http://schemas.openxmlformats.org/drawingml/2006/main">
            <a:off x="502920" y="1545336"/>
            <a:ext cx="5532120" cy="2240280"/>
          </a:xfrm>
          <a:prstGeom xmlns:a="http://schemas.openxmlformats.org/drawingml/2006/main" prst="roundRect">
            <a:avLst>
              <a:gd name="adj" fmla="val 3673"/>
            </a:avLst>
          </a:prstGeom>
          <a:solidFill xmlns:a="http://schemas.openxmlformats.org/drawingml/2006/main">
            <a:srgbClr val="F3F8F9"/>
          </a:solidFill>
        </p:spPr>
      </p:sp>
      <p:sp>
        <p:nvSpPr>
          <p:cNvPr id="8" name="Shape 6">
            <a:extLst xmlns:a="http://schemas.openxmlformats.org/drawingml/2006/main">
              <a:ext uri="{FF2B5EF4-FFF2-40B4-BE49-F238E27FC236}">
                <a16:creationId xmlns:a16="http://schemas.microsoft.com/office/drawing/2014/main" id="{940FEF07-707E-49DB-950D-36A9BB424612}"/>
              </a:ext>
            </a:extLst>
          </p:cNvPr>
          <p:cNvSpPr>
            <a:spLocks xmlns:a="http://schemas.openxmlformats.org/drawingml/2006/main" noGrp="1"/>
          </p:cNvSpPr>
          <p:nvPr/>
        </p:nvSpPr>
        <p:spPr>
          <a:xfrm xmlns:a="http://schemas.openxmlformats.org/drawingml/2006/main">
            <a:off x="704088" y="1728216"/>
            <a:ext cx="384048" cy="384048"/>
          </a:xfrm>
          <a:prstGeom xmlns:a="http://schemas.openxmlformats.org/drawingml/2006/main" prst="ellipse">
            <a:avLst/>
          </a:prstGeom>
          <a:solidFill xmlns:a="http://schemas.openxmlformats.org/drawingml/2006/main">
            <a:srgbClr val="0B3140"/>
          </a:solidFill>
        </p:spPr>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74595da7181e49f5"/>
          <a:stretch xmlns:a="http://schemas.openxmlformats.org/drawingml/2006/main">
            <a:fillRect l="0" t="0" r="0" b="0"/>
          </a:stretch>
        </p:blipFill>
        <p:spPr>
          <a:xfrm xmlns:a="http://schemas.openxmlformats.org/drawingml/2006/main">
            <a:off x="803940" y="1828068"/>
            <a:ext cx="184343" cy="184343"/>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9AE7379F-0163-47F8-8AB4-95B3E43C07D9}"/>
              </a:ext>
            </a:extLst>
          </p:cNvPr>
          <p:cNvSpPr>
            <a:spLocks xmlns:a="http://schemas.openxmlformats.org/drawingml/2006/main" noGrp="1"/>
          </p:cNvSpPr>
          <p:nvPr/>
        </p:nvSpPr>
        <p:spPr>
          <a:xfrm xmlns:a="http://schemas.openxmlformats.org/drawingml/2006/main">
            <a:off x="1216152" y="1764792"/>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Scenario</a:t>
            </a:r>
            <a:endParaRPr sz="1350"/>
          </a:p>
        </p:txBody>
      </p:sp>
      <p:sp>
        <p:nvSpPr>
          <p:cNvPr id="11" name="Text 8">
            <a:extLst xmlns:a="http://schemas.openxmlformats.org/drawingml/2006/main">
              <a:ext uri="{FF2B5EF4-FFF2-40B4-BE49-F238E27FC236}">
                <a16:creationId xmlns:a16="http://schemas.microsoft.com/office/drawing/2014/main" id="{82AA40A7-23D8-4E5A-9385-3B84F7908C77}"/>
              </a:ext>
            </a:extLst>
          </p:cNvPr>
          <p:cNvSpPr>
            <a:spLocks xmlns:a="http://schemas.openxmlformats.org/drawingml/2006/main" noGrp="1"/>
          </p:cNvSpPr>
          <p:nvPr/>
        </p:nvSpPr>
        <p:spPr>
          <a:xfrm xmlns:a="http://schemas.openxmlformats.org/drawingml/2006/main">
            <a:off x="758952" y="2203704"/>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24313A"/>
                </a:solidFill>
                <a:latin typeface="Calibri"/>
                <a:ea typeface="Calibri"/>
                <a:cs typeface="Calibri"/>
              </a:rPr>
              <a:t>An analytics unit reports the national mean wait as 20.5 ± 0.1 minutes and regional gaps 'significant at p &lt; 0.001 across the board'. A visiting statistician asks one question: what was the sampling unit?</a:t>
            </a:r>
            <a:endParaRPr sz="1100"/>
          </a:p>
        </p:txBody>
      </p:sp>
      <p:sp>
        <p:nvSpPr>
          <p:cNvPr id="12" name="Shape 9">
            <a:extLst xmlns:a="http://schemas.openxmlformats.org/drawingml/2006/main">
              <a:ext uri="{FF2B5EF4-FFF2-40B4-BE49-F238E27FC236}">
                <a16:creationId xmlns:a16="http://schemas.microsoft.com/office/drawing/2014/main" id="{D56CB0FF-4268-4898-AB06-E8AAD905CA33}"/>
              </a:ext>
            </a:extLst>
          </p:cNvPr>
          <p:cNvSpPr>
            <a:spLocks xmlns:a="http://schemas.openxmlformats.org/drawingml/2006/main" noGrp="1"/>
          </p:cNvSpPr>
          <p:nvPr/>
        </p:nvSpPr>
        <p:spPr>
          <a:xfrm xmlns:a="http://schemas.openxmlformats.org/drawingml/2006/main">
            <a:off x="6199632" y="1545336"/>
            <a:ext cx="5532120" cy="2240280"/>
          </a:xfrm>
          <a:prstGeom xmlns:a="http://schemas.openxmlformats.org/drawingml/2006/main" prst="roundRect">
            <a:avLst>
              <a:gd name="adj" fmla="val 3673"/>
            </a:avLst>
          </a:prstGeom>
          <a:solidFill xmlns:a="http://schemas.openxmlformats.org/drawingml/2006/main">
            <a:srgbClr val="FBEEDD"/>
          </a:solidFill>
        </p:spPr>
      </p:sp>
      <p:sp>
        <p:nvSpPr>
          <p:cNvPr id="13" name="Shape 10">
            <a:extLst xmlns:a="http://schemas.openxmlformats.org/drawingml/2006/main">
              <a:ext uri="{FF2B5EF4-FFF2-40B4-BE49-F238E27FC236}">
                <a16:creationId xmlns:a16="http://schemas.microsoft.com/office/drawing/2014/main" id="{B604FBDD-C4EE-4A3F-B1D8-69C90F096AF3}"/>
              </a:ext>
            </a:extLst>
          </p:cNvPr>
          <p:cNvSpPr>
            <a:spLocks xmlns:a="http://schemas.openxmlformats.org/drawingml/2006/main" noGrp="1"/>
          </p:cNvSpPr>
          <p:nvPr/>
        </p:nvSpPr>
        <p:spPr>
          <a:xfrm xmlns:a="http://schemas.openxmlformats.org/drawingml/2006/main">
            <a:off x="6400800" y="1728216"/>
            <a:ext cx="384048" cy="384048"/>
          </a:xfrm>
          <a:prstGeom xmlns:a="http://schemas.openxmlformats.org/drawingml/2006/main" prst="ellipse">
            <a:avLst/>
          </a:prstGeom>
          <a:solidFill xmlns:a="http://schemas.openxmlformats.org/drawingml/2006/main">
            <a:srgbClr val="C2660A"/>
          </a:solidFill>
        </p:spPr>
      </p:sp>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db0ac45cd1984688"/>
          <a:stretch xmlns:a="http://schemas.openxmlformats.org/drawingml/2006/main">
            <a:fillRect l="0" t="0" r="0" b="0"/>
          </a:stretch>
        </p:blipFill>
        <p:spPr>
          <a:xfrm xmlns:a="http://schemas.openxmlformats.org/drawingml/2006/main">
            <a:off x="6500652" y="1828068"/>
            <a:ext cx="184343" cy="184343"/>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645302DC-AB5C-4861-98B1-5714E7721CED}"/>
              </a:ext>
            </a:extLst>
          </p:cNvPr>
          <p:cNvSpPr>
            <a:spLocks xmlns:a="http://schemas.openxmlformats.org/drawingml/2006/main" noGrp="1"/>
          </p:cNvSpPr>
          <p:nvPr/>
        </p:nvSpPr>
        <p:spPr>
          <a:xfrm xmlns:a="http://schemas.openxmlformats.org/drawingml/2006/main">
            <a:off x="6912864" y="1764792"/>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The technical challenge</a:t>
            </a:r>
            <a:endParaRPr sz="1350"/>
          </a:p>
        </p:txBody>
      </p:sp>
      <p:sp>
        <p:nvSpPr>
          <p:cNvPr id="16" name="Text 12">
            <a:extLst xmlns:a="http://schemas.openxmlformats.org/drawingml/2006/main">
              <a:ext uri="{FF2B5EF4-FFF2-40B4-BE49-F238E27FC236}">
                <a16:creationId xmlns:a16="http://schemas.microsoft.com/office/drawing/2014/main" id="{27AF516F-CFBE-4D7E-8F4D-F05C0F2539B3}"/>
              </a:ext>
            </a:extLst>
          </p:cNvPr>
          <p:cNvSpPr>
            <a:spLocks xmlns:a="http://schemas.openxmlformats.org/drawingml/2006/main" noGrp="1"/>
          </p:cNvSpPr>
          <p:nvPr/>
        </p:nvSpPr>
        <p:spPr>
          <a:xfrm xmlns:a="http://schemas.openxmlformats.org/drawingml/2006/main">
            <a:off x="6455664" y="2203704"/>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24313A"/>
                </a:solidFill>
                <a:latin typeface="Calibri"/>
                <a:ea typeface="Calibri"/>
                <a:cs typeface="Calibri"/>
              </a:rPr>
              <a:t>All inference treated 50,000 clinic-clustered rows as independent. With clinic-level effects, the effective sample size is far smaller; the honest cluster-aware CI is ~7× wider, and several 'significant' regional gaps dissolve.</a:t>
            </a:r>
            <a:endParaRPr sz="1100"/>
          </a:p>
        </p:txBody>
      </p:sp>
      <p:sp>
        <p:nvSpPr>
          <p:cNvPr id="17" name="Shape 13">
            <a:extLst xmlns:a="http://schemas.openxmlformats.org/drawingml/2006/main">
              <a:ext uri="{FF2B5EF4-FFF2-40B4-BE49-F238E27FC236}">
                <a16:creationId xmlns:a16="http://schemas.microsoft.com/office/drawing/2014/main" id="{A68C4DD6-8764-40B9-AC56-22D6397AE141}"/>
              </a:ext>
            </a:extLst>
          </p:cNvPr>
          <p:cNvSpPr>
            <a:spLocks xmlns:a="http://schemas.openxmlformats.org/drawingml/2006/main" noGrp="1"/>
          </p:cNvSpPr>
          <p:nvPr/>
        </p:nvSpPr>
        <p:spPr>
          <a:xfrm xmlns:a="http://schemas.openxmlformats.org/drawingml/2006/main">
            <a:off x="502920" y="3950208"/>
            <a:ext cx="5532120" cy="2240280"/>
          </a:xfrm>
          <a:prstGeom xmlns:a="http://schemas.openxmlformats.org/drawingml/2006/main" prst="roundRect">
            <a:avLst>
              <a:gd name="adj" fmla="val 3673"/>
            </a:avLst>
          </a:prstGeom>
          <a:solidFill xmlns:a="http://schemas.openxmlformats.org/drawingml/2006/main">
            <a:srgbClr val="E7F2F3"/>
          </a:solidFill>
        </p:spPr>
      </p:sp>
      <p:sp>
        <p:nvSpPr>
          <p:cNvPr id="18" name="Shape 14">
            <a:extLst xmlns:a="http://schemas.openxmlformats.org/drawingml/2006/main">
              <a:ext uri="{FF2B5EF4-FFF2-40B4-BE49-F238E27FC236}">
                <a16:creationId xmlns:a16="http://schemas.microsoft.com/office/drawing/2014/main" id="{C8DD8E93-CD45-4284-AC27-11ECA0087AC5}"/>
              </a:ext>
            </a:extLst>
          </p:cNvPr>
          <p:cNvSpPr>
            <a:spLocks xmlns:a="http://schemas.openxmlformats.org/drawingml/2006/main" noGrp="1"/>
          </p:cNvSpPr>
          <p:nvPr/>
        </p:nvSpPr>
        <p:spPr>
          <a:xfrm xmlns:a="http://schemas.openxmlformats.org/drawingml/2006/main">
            <a:off x="704088" y="4133088"/>
            <a:ext cx="384048" cy="384048"/>
          </a:xfrm>
          <a:prstGeom xmlns:a="http://schemas.openxmlformats.org/drawingml/2006/main" prst="ellipse">
            <a:avLst/>
          </a:prstGeom>
          <a:solidFill xmlns:a="http://schemas.openxmlformats.org/drawingml/2006/main">
            <a:srgbClr val="0A5C64"/>
          </a:solidFill>
        </p:spPr>
      </p:sp>
      <p:pic>
        <p:nvPicPr>
          <p:cNvPr id="48" name="Image 2"/>
          <p:cNvPicPr>
            <a:picLocks xmlns:a="http://schemas.openxmlformats.org/drawingml/2006/main" noChangeAspect="1"/>
          </p:cNvPicPr>
          <p:nvPr/>
        </p:nvPicPr>
        <p:blipFill>
          <a:blip xmlns:r="http://schemas.openxmlformats.org/officeDocument/2006/relationships" xmlns:a="http://schemas.openxmlformats.org/drawingml/2006/main" r:embed="Rc180f382f1854ab8"/>
          <a:stretch xmlns:a="http://schemas.openxmlformats.org/drawingml/2006/main">
            <a:fillRect l="0" t="0" r="0" b="0"/>
          </a:stretch>
        </p:blipFill>
        <p:spPr>
          <a:xfrm xmlns:a="http://schemas.openxmlformats.org/drawingml/2006/main">
            <a:off x="803940" y="4232940"/>
            <a:ext cx="184343" cy="184343"/>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E4F16C9A-8DA6-4279-AAAC-125AFE498E95}"/>
              </a:ext>
            </a:extLst>
          </p:cNvPr>
          <p:cNvSpPr>
            <a:spLocks xmlns:a="http://schemas.openxmlformats.org/drawingml/2006/main" noGrp="1"/>
          </p:cNvSpPr>
          <p:nvPr/>
        </p:nvSpPr>
        <p:spPr>
          <a:xfrm xmlns:a="http://schemas.openxmlformats.org/drawingml/2006/main">
            <a:off x="1216152" y="4169664"/>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Solution approach (facilitate, don't lecture)</a:t>
            </a:r>
            <a:endParaRPr sz="1350"/>
          </a:p>
        </p:txBody>
      </p:sp>
      <p:sp>
        <p:nvSpPr>
          <p:cNvPr id="21" name="Text 16">
            <a:extLst xmlns:a="http://schemas.openxmlformats.org/drawingml/2006/main">
              <a:ext uri="{FF2B5EF4-FFF2-40B4-BE49-F238E27FC236}">
                <a16:creationId xmlns:a16="http://schemas.microsoft.com/office/drawing/2014/main" id="{539364D3-47E0-488D-83C0-6A60A7DFF990}"/>
              </a:ext>
            </a:extLst>
          </p:cNvPr>
          <p:cNvSpPr>
            <a:spLocks xmlns:a="http://schemas.openxmlformats.org/drawingml/2006/main" noGrp="1"/>
          </p:cNvSpPr>
          <p:nvPr/>
        </p:nvSpPr>
        <p:spPr>
          <a:xfrm xmlns:a="http://schemas.openxmlformats.org/drawingml/2006/main">
            <a:off x="758952" y="4608576"/>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Reproduce both CIs (row vs cluster bootstrap) on the same statistic</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Estimate the design effect and effective n from the width ratio</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Re-run the flagship regional comparison cluster-aware; report which survive</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Add 'declare the sampling unit' to the unit's reporting standard</a:t>
            </a:r>
            <a:endParaRPr sz="1080"/>
          </a:p>
        </p:txBody>
      </p:sp>
      <p:sp>
        <p:nvSpPr>
          <p:cNvPr id="22" name="Shape 17">
            <a:extLst xmlns:a="http://schemas.openxmlformats.org/drawingml/2006/main">
              <a:ext uri="{FF2B5EF4-FFF2-40B4-BE49-F238E27FC236}">
                <a16:creationId xmlns:a16="http://schemas.microsoft.com/office/drawing/2014/main" id="{4FDC1AC8-5125-43FA-9F9E-E19DDB0F476C}"/>
              </a:ext>
            </a:extLst>
          </p:cNvPr>
          <p:cNvSpPr>
            <a:spLocks xmlns:a="http://schemas.openxmlformats.org/drawingml/2006/main" noGrp="1"/>
          </p:cNvSpPr>
          <p:nvPr/>
        </p:nvSpPr>
        <p:spPr>
          <a:xfrm xmlns:a="http://schemas.openxmlformats.org/drawingml/2006/main">
            <a:off x="6199632" y="3950208"/>
            <a:ext cx="5532120" cy="2240280"/>
          </a:xfrm>
          <a:prstGeom xmlns:a="http://schemas.openxmlformats.org/drawingml/2006/main" prst="roundRect">
            <a:avLst>
              <a:gd name="adj" fmla="val 3673"/>
            </a:avLst>
          </a:prstGeom>
          <a:solidFill xmlns:a="http://schemas.openxmlformats.org/drawingml/2006/main">
            <a:srgbClr val="F3F8F9"/>
          </a:solidFill>
        </p:spPr>
      </p:sp>
      <p:sp>
        <p:nvSpPr>
          <p:cNvPr id="23" name="Shape 18">
            <a:extLst xmlns:a="http://schemas.openxmlformats.org/drawingml/2006/main">
              <a:ext uri="{FF2B5EF4-FFF2-40B4-BE49-F238E27FC236}">
                <a16:creationId xmlns:a16="http://schemas.microsoft.com/office/drawing/2014/main" id="{3DC57591-E890-4865-B9FA-95E7C3414478}"/>
              </a:ext>
            </a:extLst>
          </p:cNvPr>
          <p:cNvSpPr>
            <a:spLocks xmlns:a="http://schemas.openxmlformats.org/drawingml/2006/main" noGrp="1"/>
          </p:cNvSpPr>
          <p:nvPr/>
        </p:nvSpPr>
        <p:spPr>
          <a:xfrm xmlns:a="http://schemas.openxmlformats.org/drawingml/2006/main">
            <a:off x="6400800" y="4133088"/>
            <a:ext cx="384048" cy="384048"/>
          </a:xfrm>
          <a:prstGeom xmlns:a="http://schemas.openxmlformats.org/drawingml/2006/main" prst="ellipse">
            <a:avLst/>
          </a:prstGeom>
          <a:solidFill xmlns:a="http://schemas.openxmlformats.org/drawingml/2006/main">
            <a:srgbClr val="0B3140"/>
          </a:solidFill>
        </p:spPr>
      </p:sp>
      <p:pic>
        <p:nvPicPr>
          <p:cNvPr id="53" name="Image 3"/>
          <p:cNvPicPr>
            <a:picLocks xmlns:a="http://schemas.openxmlformats.org/drawingml/2006/main" noChangeAspect="1"/>
          </p:cNvPicPr>
          <p:nvPr/>
        </p:nvPicPr>
        <p:blipFill>
          <a:blip xmlns:r="http://schemas.openxmlformats.org/officeDocument/2006/relationships" xmlns:a="http://schemas.openxmlformats.org/drawingml/2006/main" r:embed="R8012c33003af4b51"/>
          <a:stretch xmlns:a="http://schemas.openxmlformats.org/drawingml/2006/main">
            <a:fillRect l="0" t="0" r="0" b="0"/>
          </a:stretch>
        </p:blipFill>
        <p:spPr>
          <a:xfrm xmlns:a="http://schemas.openxmlformats.org/drawingml/2006/main">
            <a:off x="6500652" y="4232940"/>
            <a:ext cx="184343" cy="184343"/>
          </a:xfrm>
          <a:prstGeom xmlns:a="http://schemas.openxmlformats.org/drawingml/2006/main" prst="rect">
            <a:avLst/>
          </a:prstGeom>
        </p:spPr>
      </p:pic>
      <p:sp>
        <p:nvSpPr>
          <p:cNvPr id="25" name="Text 19">
            <a:extLst xmlns:a="http://schemas.openxmlformats.org/drawingml/2006/main">
              <a:ext uri="{FF2B5EF4-FFF2-40B4-BE49-F238E27FC236}">
                <a16:creationId xmlns:a16="http://schemas.microsoft.com/office/drawing/2014/main" id="{01FD2D4A-0DA8-4761-A89F-3657519FAF5E}"/>
              </a:ext>
            </a:extLst>
          </p:cNvPr>
          <p:cNvSpPr>
            <a:spLocks xmlns:a="http://schemas.openxmlformats.org/drawingml/2006/main" noGrp="1"/>
          </p:cNvSpPr>
          <p:nvPr/>
        </p:nvSpPr>
        <p:spPr>
          <a:xfrm xmlns:a="http://schemas.openxmlformats.org/drawingml/2006/main">
            <a:off x="6912864" y="4169664"/>
            <a:ext cx="4617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3140"/>
                </a:solidFill>
                <a:latin typeface="Cambria"/>
                <a:ea typeface="Cambria"/>
                <a:cs typeface="Cambria"/>
              </a:rPr>
              <a:t>Discussion</a:t>
            </a:r>
            <a:endParaRPr sz="1350"/>
          </a:p>
        </p:txBody>
      </p:sp>
      <p:sp>
        <p:nvSpPr>
          <p:cNvPr id="26" name="Text 20">
            <a:extLst xmlns:a="http://schemas.openxmlformats.org/drawingml/2006/main">
              <a:ext uri="{FF2B5EF4-FFF2-40B4-BE49-F238E27FC236}">
                <a16:creationId xmlns:a16="http://schemas.microsoft.com/office/drawing/2014/main" id="{CB1C4960-7775-4F4F-8F78-2192DC90301F}"/>
              </a:ext>
            </a:extLst>
          </p:cNvPr>
          <p:cNvSpPr>
            <a:spLocks xmlns:a="http://schemas.openxmlformats.org/drawingml/2006/main" noGrp="1"/>
          </p:cNvSpPr>
          <p:nvPr/>
        </p:nvSpPr>
        <p:spPr>
          <a:xfrm xmlns:a="http://schemas.openxmlformats.org/drawingml/2006/main">
            <a:off x="6455664" y="4608576"/>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Why does more correlated data buy less certainty than it appears to?</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Which of this course's OWN headline numbers should carry the cluster caveat?</a:t>
            </a:r>
            <a:endParaRPr sz="1080"/>
          </a:p>
          <a:p xmlns:a="http://schemas.openxmlformats.org/drawingml/2006/main">
            <a:pPr marL="152400" indent="-152400">
              <a:lnSpc>
                <a:spcPct val="104000"/>
              </a:lnSpc>
              <a:spcAft>
                <a:spcPts val="400"/>
              </a:spcAft>
              <a:buSzPct val="100000"/>
              <a:buChar char="•"/>
            </a:pPr>
            <a:r>
              <a:rPr sz="1080">
                <a:solidFill>
                  <a:srgbClr val="24313A"/>
                </a:solidFill>
                <a:latin typeface="Calibri"/>
                <a:ea typeface="Calibri"/>
                <a:cs typeface="Calibri"/>
              </a:rPr>
              <a:t>How would you explain a 7×-wider interval to a director who liked the old one?</a:t>
            </a:r>
            <a:endParaRPr sz="1080"/>
          </a:p>
        </p:txBody>
      </p:sp>
    </p:spTree>
    <p:extLst>
      <p:ext uri="{BB962C8B-B14F-4D97-AF65-F5344CB8AC3E}">
        <p14:creationId xmlns:p14="http://schemas.microsoft.com/office/powerpoint/2010/main" val="301069269"/>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E4E106-7E88-412E-9473-7E32545F5218}"/>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E1656E14-E702-40CE-8E2F-AA0B771C093C}"/>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76</a:t>
            </a:r>
            <a:endParaRPr sz="900"/>
          </a:p>
        </p:txBody>
      </p:sp>
      <p:sp>
        <p:nvSpPr>
          <p:cNvPr id="4" name="Shape 2">
            <a:extLst xmlns:a="http://schemas.openxmlformats.org/drawingml/2006/main">
              <a:ext uri="{FF2B5EF4-FFF2-40B4-BE49-F238E27FC236}">
                <a16:creationId xmlns:a16="http://schemas.microsoft.com/office/drawing/2014/main" id="{FE63C2C3-922F-40F0-A899-7BF42C89E9F4}"/>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oundRect">
            <a:avLst>
              <a:gd name="adj" fmla="val 50000"/>
            </a:avLst>
          </a:prstGeom>
          <a:solidFill xmlns:a="http://schemas.openxmlformats.org/drawingml/2006/main">
            <a:srgbClr val="C2660A"/>
          </a:solidFill>
        </p:spPr>
      </p:sp>
      <p:sp>
        <p:nvSpPr>
          <p:cNvPr id="5" name="Text 3">
            <a:extLst xmlns:a="http://schemas.openxmlformats.org/drawingml/2006/main">
              <a:ext uri="{FF2B5EF4-FFF2-40B4-BE49-F238E27FC236}">
                <a16:creationId xmlns:a16="http://schemas.microsoft.com/office/drawing/2014/main" id="{9A244AD7-2C03-44F4-B5DC-D50C13D710CD}"/>
              </a:ext>
            </a:extLst>
          </p:cNvPr>
          <p:cNvSpPr>
            <a:spLocks xmlns:a="http://schemas.openxmlformats.org/drawingml/2006/main" noGrp="1"/>
          </p:cNvSpPr>
          <p:nvPr/>
        </p:nvSpPr>
        <p:spPr>
          <a:xfrm xmlns:a="http://schemas.openxmlformats.org/drawingml/2006/main">
            <a:off x="502920" y="384048"/>
            <a:ext cx="1926641"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MODULE 7 · HANDS-ON</a:t>
            </a:r>
            <a:endParaRPr sz="1050"/>
          </a:p>
        </p:txBody>
      </p:sp>
      <p:sp>
        <p:nvSpPr>
          <p:cNvPr id="6" name="Text 4">
            <a:extLst xmlns:a="http://schemas.openxmlformats.org/drawingml/2006/main">
              <a:ext uri="{FF2B5EF4-FFF2-40B4-BE49-F238E27FC236}">
                <a16:creationId xmlns:a16="http://schemas.microsoft.com/office/drawing/2014/main" id="{C29CCFD5-9A2F-403F-A79A-00A1EAF7B73F}"/>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Lab 7 — Validate everything</a:t>
            </a:r>
            <a:endParaRPr sz="2800"/>
          </a:p>
        </p:txBody>
      </p:sp>
      <p:sp>
        <p:nvSpPr>
          <p:cNvPr id="7" name="Text 5">
            <a:extLst xmlns:a="http://schemas.openxmlformats.org/drawingml/2006/main">
              <a:ext uri="{FF2B5EF4-FFF2-40B4-BE49-F238E27FC236}">
                <a16:creationId xmlns:a16="http://schemas.microsoft.com/office/drawing/2014/main" id="{D0A82A83-A429-4DF3-981B-07DDAB33BBD5}"/>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~35 minutes (Day 4, Hour 2) · pairs · data/clinic_visits.csv · lab7_start.ipynb</a:t>
            </a:r>
            <a:endParaRPr sz="1350"/>
          </a:p>
        </p:txBody>
      </p:sp>
      <p:sp>
        <p:nvSpPr>
          <p:cNvPr id="8" name="Shape 6">
            <a:extLst xmlns:a="http://schemas.openxmlformats.org/drawingml/2006/main">
              <a:ext uri="{FF2B5EF4-FFF2-40B4-BE49-F238E27FC236}">
                <a16:creationId xmlns:a16="http://schemas.microsoft.com/office/drawing/2014/main" id="{0F79D72B-B351-417F-8F9D-155DABA169AD}"/>
              </a:ext>
            </a:extLst>
          </p:cNvPr>
          <p:cNvSpPr>
            <a:spLocks xmlns:a="http://schemas.openxmlformats.org/drawingml/2006/main" noGrp="1"/>
          </p:cNvSpPr>
          <p:nvPr/>
        </p:nvSpPr>
        <p:spPr>
          <a:xfrm xmlns:a="http://schemas.openxmlformats.org/drawingml/2006/main">
            <a:off x="502920" y="1792224"/>
            <a:ext cx="6858000" cy="4709160"/>
          </a:xfrm>
          <a:prstGeom xmlns:a="http://schemas.openxmlformats.org/drawingml/2006/main" prst="roundRect">
            <a:avLst>
              <a:gd name="adj" fmla="val 1748"/>
            </a:avLst>
          </a:prstGeom>
          <a:solidFill xmlns:a="http://schemas.openxmlformats.org/drawingml/2006/main">
            <a:srgbClr val="FFFFFF"/>
          </a:solidFill>
          <a:ln xmlns:a="http://schemas.openxmlformats.org/drawingml/2006/main" w="12700">
            <a:solidFill>
              <a:srgbClr val="D6E2E4"/>
            </a:solidFill>
            <a:prstDash val="solid"/>
          </a:ln>
        </p:spPr>
      </p:sp>
      <p:sp>
        <p:nvSpPr>
          <p:cNvPr id="9" name="Text 7">
            <a:extLst xmlns:a="http://schemas.openxmlformats.org/drawingml/2006/main">
              <a:ext uri="{FF2B5EF4-FFF2-40B4-BE49-F238E27FC236}">
                <a16:creationId xmlns:a16="http://schemas.microsoft.com/office/drawing/2014/main" id="{7803388C-67C2-4DEA-9C75-D79BF6902B6D}"/>
              </a:ext>
            </a:extLst>
          </p:cNvPr>
          <p:cNvSpPr>
            <a:spLocks xmlns:a="http://schemas.openxmlformats.org/drawingml/2006/main" noGrp="1"/>
          </p:cNvSpPr>
          <p:nvPr/>
        </p:nvSpPr>
        <p:spPr>
          <a:xfrm xmlns:a="http://schemas.openxmlformats.org/drawingml/2006/main">
            <a:off x="822960" y="1975104"/>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B3140"/>
                </a:solidFill>
                <a:latin typeface="Cambria"/>
                <a:ea typeface="Cambria"/>
                <a:cs typeface="Cambria"/>
              </a:rPr>
              <a:t>Tasks</a:t>
            </a:r>
            <a:endParaRPr sz="1400"/>
          </a:p>
        </p:txBody>
      </p:sp>
      <p:sp>
        <p:nvSpPr>
          <p:cNvPr id="10" name="Text 8">
            <a:extLst xmlns:a="http://schemas.openxmlformats.org/drawingml/2006/main">
              <a:ext uri="{FF2B5EF4-FFF2-40B4-BE49-F238E27FC236}">
                <a16:creationId xmlns:a16="http://schemas.microsoft.com/office/drawing/2014/main" id="{52EA0DD4-5899-4A2C-8069-AB479A906DF3}"/>
              </a:ext>
            </a:extLst>
          </p:cNvPr>
          <p:cNvSpPr>
            <a:spLocks xmlns:a="http://schemas.openxmlformats.org/drawingml/2006/main" noGrp="1"/>
          </p:cNvSpPr>
          <p:nvPr/>
        </p:nvSpPr>
        <p:spPr>
          <a:xfrm xmlns:a="http://schemas.openxmlformats.org/drawingml/2006/main">
            <a:off x="822960" y="2386584"/>
            <a:ext cx="6309360"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(8’) MC coverage study: 2,000 simulated samples at n = 50, p = 0.18 → Wilson vs Wald coverage (seeded)</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(8’) Bootstrap (5,000×): CI for median wait and for P(wait &gt; 30); histogram of the bootstrap distribution</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(7’) Permutation test (10,000 shuffles) of the pilot difference; compare p with Day 2's z-test</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(8’) Cluster bootstrap: resample 120 clinics → CI for mean wait; compute the width ratio vs row bootstrap</a:t>
            </a:r>
            <a:endParaRPr sz="1150"/>
          </a:p>
          <a:p xmlns:a="http://schemas.openxmlformats.org/drawingml/2006/main">
            <a:pPr marL="152400" indent="-152400">
              <a:lnSpc>
                <a:spcPct val="104000"/>
              </a:lnSpc>
              <a:spcAft>
                <a:spcPts val="600"/>
              </a:spcAft>
              <a:buSzPct val="100000"/>
              <a:buChar char="•"/>
            </a:pPr>
            <a:r>
              <a:rPr sz="1150">
                <a:solidFill>
                  <a:srgbClr val="24313A"/>
                </a:solidFill>
                <a:latin typeface="Calibri"/>
                <a:ea typeface="Calibri"/>
                <a:cs typeface="Calibri"/>
              </a:rPr>
              <a:t>(4’) Validation summary cell: what was checked, what held, what carries a caveat into the memo</a:t>
            </a:r>
            <a:endParaRPr sz="1150"/>
          </a:p>
        </p:txBody>
      </p:sp>
      <p:sp>
        <p:nvSpPr>
          <p:cNvPr id="11" name="Shape 9">
            <a:extLst xmlns:a="http://schemas.openxmlformats.org/drawingml/2006/main">
              <a:ext uri="{FF2B5EF4-FFF2-40B4-BE49-F238E27FC236}">
                <a16:creationId xmlns:a16="http://schemas.microsoft.com/office/drawing/2014/main" id="{EB27FD16-7CF7-42A8-B388-36BEFDD97950}"/>
              </a:ext>
            </a:extLst>
          </p:cNvPr>
          <p:cNvSpPr>
            <a:spLocks xmlns:a="http://schemas.openxmlformats.org/drawingml/2006/main" noGrp="1"/>
          </p:cNvSpPr>
          <p:nvPr/>
        </p:nvSpPr>
        <p:spPr>
          <a:xfrm xmlns:a="http://schemas.openxmlformats.org/drawingml/2006/main">
            <a:off x="7635240" y="1792224"/>
            <a:ext cx="4023360" cy="4709160"/>
          </a:xfrm>
          <a:prstGeom xmlns:a="http://schemas.openxmlformats.org/drawingml/2006/main" prst="roundRect">
            <a:avLst>
              <a:gd name="adj" fmla="val 2045"/>
            </a:avLst>
          </a:prstGeom>
          <a:solidFill xmlns:a="http://schemas.openxmlformats.org/drawingml/2006/main">
            <a:srgbClr val="E7F2F3"/>
          </a:solidFill>
        </p:spPr>
      </p:sp>
      <p:sp>
        <p:nvSpPr>
          <p:cNvPr id="12" name="Text 10">
            <a:extLst xmlns:a="http://schemas.openxmlformats.org/drawingml/2006/main">
              <a:ext uri="{FF2B5EF4-FFF2-40B4-BE49-F238E27FC236}">
                <a16:creationId xmlns:a16="http://schemas.microsoft.com/office/drawing/2014/main" id="{899BF330-7A06-4A6C-8383-CC56ECEE460B}"/>
              </a:ext>
            </a:extLst>
          </p:cNvPr>
          <p:cNvSpPr>
            <a:spLocks xmlns:a="http://schemas.openxmlformats.org/drawingml/2006/main" noGrp="1"/>
          </p:cNvSpPr>
          <p:nvPr/>
        </p:nvSpPr>
        <p:spPr>
          <a:xfrm xmlns:a="http://schemas.openxmlformats.org/drawingml/2006/main">
            <a:off x="7955280" y="1975104"/>
            <a:ext cx="3474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A5C64"/>
                </a:solidFill>
                <a:latin typeface="Cambria"/>
                <a:ea typeface="Cambria"/>
                <a:cs typeface="Cambria"/>
              </a:rPr>
              <a:t>Checkpoint outputs</a:t>
            </a:r>
            <a:endParaRPr sz="1400"/>
          </a:p>
        </p:txBody>
      </p:sp>
      <p:sp>
        <p:nvSpPr>
          <p:cNvPr id="13" name="Text 11">
            <a:extLst xmlns:a="http://schemas.openxmlformats.org/drawingml/2006/main">
              <a:ext uri="{FF2B5EF4-FFF2-40B4-BE49-F238E27FC236}">
                <a16:creationId xmlns:a16="http://schemas.microsoft.com/office/drawing/2014/main" id="{56CDFBAB-1DB2-4BA7-B537-3F99629A7C3B}"/>
              </a:ext>
            </a:extLst>
          </p:cNvPr>
          <p:cNvSpPr>
            <a:spLocks xmlns:a="http://schemas.openxmlformats.org/drawingml/2006/main" noGrp="1"/>
          </p:cNvSpPr>
          <p:nvPr/>
        </p:nvSpPr>
        <p:spPr>
          <a:xfrm xmlns:a="http://schemas.openxmlformats.org/drawingml/2006/main">
            <a:off x="7955280" y="2386584"/>
            <a:ext cx="3429000"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700"/>
              </a:spcAft>
              <a:buSzPct val="100000"/>
              <a:buChar char="•"/>
            </a:pPr>
            <a:r>
              <a:rPr sz="1150" b="1">
                <a:solidFill>
                  <a:srgbClr val="24313A"/>
                </a:solidFill>
                <a:latin typeface="Calibri"/>
                <a:ea typeface="Calibri"/>
                <a:cs typeface="Calibri"/>
              </a:rPr>
              <a:t>Coverage: Wilson ≈ 0.95, Wald ≈ 0.93 at n = 50</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Median wait CI ≈ [18, 18]-adjacent (tight; integer data — discuss!)</a:t>
            </a:r>
            <a:endParaRPr sz="1150"/>
          </a:p>
          <a:p xmlns:a="http://schemas.openxmlformats.org/drawingml/2006/main">
            <a:pPr marL="152400" indent="-152400">
              <a:lnSpc>
                <a:spcPct val="104000"/>
              </a:lnSpc>
              <a:spcAft>
                <a:spcPts val="700"/>
              </a:spcAft>
              <a:buSzPct val="100000"/>
              <a:buChar char="•"/>
            </a:pPr>
            <a:r>
              <a:rPr sz="1150">
                <a:solidFill>
                  <a:srgbClr val="24313A"/>
                </a:solidFill>
                <a:latin typeface="Calibri"/>
                <a:ea typeface="Calibri"/>
                <a:cs typeface="Calibri"/>
              </a:rPr>
              <a:t>Permutation p ≈ 0 — agrees with z-test</a:t>
            </a:r>
            <a:endParaRPr sz="1150"/>
          </a:p>
          <a:p xmlns:a="http://schemas.openxmlformats.org/drawingml/2006/main">
            <a:pPr marL="152400" indent="-152400">
              <a:lnSpc>
                <a:spcPct val="104000"/>
              </a:lnSpc>
              <a:spcAft>
                <a:spcPts val="700"/>
              </a:spcAft>
              <a:buSzPct val="100000"/>
              <a:buChar char="•"/>
            </a:pPr>
            <a:r>
              <a:rPr sz="1150" b="1">
                <a:solidFill>
                  <a:srgbClr val="24313A"/>
                </a:solidFill>
                <a:latin typeface="Calibri"/>
                <a:ea typeface="Calibri"/>
                <a:cs typeface="Calibri"/>
              </a:rPr>
              <a:t>Cluster CI [19.73, 21.30] vs row [20.37, 20.59] — ratio ≈ 7×</a:t>
            </a:r>
            <a:endParaRPr sz="1150"/>
          </a:p>
        </p:txBody>
      </p:sp>
    </p:spTree>
    <p:extLst>
      <p:ext uri="{BB962C8B-B14F-4D97-AF65-F5344CB8AC3E}">
        <p14:creationId xmlns:p14="http://schemas.microsoft.com/office/powerpoint/2010/main" val="1459350084"/>
      </p:ext>
    </p:extLst>
  </p:cSld>
</p:sld>
</file>

<file path=ppt/slides/slide77.xml><?xml version="1.0" encoding="utf-8"?>
<p:sld xmlns:p="http://schemas.openxmlformats.org/presentationml/2006/main">
  <p:cSld>
    <p:bg>
      <p:bgPr>
        <a:solidFill xmlns:a="http://schemas.openxmlformats.org/drawingml/2006/main">
          <a:srgbClr val="0B314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409B8EE-C3A8-4445-8AB0-BE759DAD632D}"/>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FA6AE"/>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1BE2ECC0-4E3C-4645-8611-5C43B57E5DE8}"/>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A6AE"/>
                </a:solidFill>
                <a:latin typeface="Calibri"/>
                <a:ea typeface="Calibri"/>
                <a:cs typeface="Calibri"/>
              </a:rPr>
              <a:t>77</a:t>
            </a:r>
            <a:endParaRPr sz="900"/>
          </a:p>
        </p:txBody>
      </p:sp>
      <p:sp>
        <p:nvSpPr>
          <p:cNvPr id="4" name="Text 2">
            <a:extLst xmlns:a="http://schemas.openxmlformats.org/drawingml/2006/main">
              <a:ext uri="{FF2B5EF4-FFF2-40B4-BE49-F238E27FC236}">
                <a16:creationId xmlns:a16="http://schemas.microsoft.com/office/drawing/2014/main" id="{A70EFDB7-8B00-4906-ABAF-B49DA6556214}"/>
              </a:ext>
            </a:extLst>
          </p:cNvPr>
          <p:cNvSpPr>
            <a:spLocks xmlns:a="http://schemas.openxmlformats.org/drawingml/2006/main" noGrp="1"/>
          </p:cNvSpPr>
          <p:nvPr/>
        </p:nvSpPr>
        <p:spPr>
          <a:xfrm xmlns:a="http://schemas.openxmlformats.org/drawingml/2006/main">
            <a:off x="731520" y="914400"/>
            <a:ext cx="5486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400">
                <a:solidFill>
                  <a:srgbClr val="6FB3BC"/>
                </a:solidFill>
                <a:latin typeface="Calibri"/>
                <a:ea typeface="Calibri"/>
                <a:cs typeface="Calibri"/>
              </a:rPr>
              <a:t>CAPSTONE · 2.5 HOURS</a:t>
            </a:r>
            <a:endParaRPr sz="1500"/>
          </a:p>
        </p:txBody>
      </p:sp>
      <p:sp>
        <p:nvSpPr>
          <p:cNvPr id="5" name="Text 3">
            <a:extLst xmlns:a="http://schemas.openxmlformats.org/drawingml/2006/main">
              <a:ext uri="{FF2B5EF4-FFF2-40B4-BE49-F238E27FC236}">
                <a16:creationId xmlns:a16="http://schemas.microsoft.com/office/drawing/2014/main" id="{5BAAE5AC-AB86-4F92-801E-2C083578E320}"/>
              </a:ext>
            </a:extLst>
          </p:cNvPr>
          <p:cNvSpPr>
            <a:spLocks xmlns:a="http://schemas.openxmlformats.org/drawingml/2006/main" noGrp="1"/>
          </p:cNvSpPr>
          <p:nvPr/>
        </p:nvSpPr>
        <p:spPr>
          <a:xfrm xmlns:a="http://schemas.openxmlformats.org/drawingml/2006/main">
            <a:off x="731520" y="1325880"/>
            <a:ext cx="10607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200" b="1">
                <a:solidFill>
                  <a:srgbClr val="FFFFFF"/>
                </a:solidFill>
                <a:latin typeface="Cambria"/>
                <a:ea typeface="Cambria"/>
                <a:cs typeface="Cambria"/>
              </a:rPr>
              <a:t>The Mawid No-Show Decision</a:t>
            </a:r>
            <a:endParaRPr sz="4200"/>
          </a:p>
        </p:txBody>
      </p:sp>
      <p:sp>
        <p:nvSpPr>
          <p:cNvPr id="6" name="Text 4">
            <a:extLst xmlns:a="http://schemas.openxmlformats.org/drawingml/2006/main">
              <a:ext uri="{FF2B5EF4-FFF2-40B4-BE49-F238E27FC236}">
                <a16:creationId xmlns:a16="http://schemas.microsoft.com/office/drawing/2014/main" id="{EF1276F1-9EB4-4EBF-9F99-6A0E92314A11}"/>
              </a:ext>
            </a:extLst>
          </p:cNvPr>
          <p:cNvSpPr>
            <a:spLocks xmlns:a="http://schemas.openxmlformats.org/drawingml/2006/main" noGrp="1"/>
          </p:cNvSpPr>
          <p:nvPr/>
        </p:nvSpPr>
        <p:spPr>
          <a:xfrm xmlns:a="http://schemas.openxmlformats.org/drawingml/2006/main">
            <a:off x="731520" y="2286000"/>
            <a:ext cx="98755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i="1">
                <a:solidFill>
                  <a:srgbClr val="AECBD1"/>
                </a:solidFill>
                <a:latin typeface="Cambria"/>
                <a:ea typeface="Cambria"/>
                <a:cs typeface="Cambria"/>
              </a:rPr>
              <a:t>“How should the Ministry cut appointment no-shows — without harming access?”</a:t>
            </a:r>
            <a:endParaRPr sz="1700"/>
          </a:p>
        </p:txBody>
      </p:sp>
      <p:sp>
        <p:nvSpPr>
          <p:cNvPr id="7" name="Shape 5">
            <a:extLst xmlns:a="http://schemas.openxmlformats.org/drawingml/2006/main">
              <a:ext uri="{FF2B5EF4-FFF2-40B4-BE49-F238E27FC236}">
                <a16:creationId xmlns:a16="http://schemas.microsoft.com/office/drawing/2014/main" id="{A5BC7CE5-A015-4E0C-B218-C36DBA0DDD58}"/>
              </a:ext>
            </a:extLst>
          </p:cNvPr>
          <p:cNvSpPr>
            <a:spLocks xmlns:a="http://schemas.openxmlformats.org/drawingml/2006/main" noGrp="1"/>
          </p:cNvSpPr>
          <p:nvPr/>
        </p:nvSpPr>
        <p:spPr>
          <a:xfrm xmlns:a="http://schemas.openxmlformats.org/drawingml/2006/main">
            <a:off x="731520" y="3108960"/>
            <a:ext cx="3566160" cy="2377440"/>
          </a:xfrm>
          <a:prstGeom xmlns:a="http://schemas.openxmlformats.org/drawingml/2006/main" prst="roundRect">
            <a:avLst>
              <a:gd name="adj" fmla="val 3462"/>
            </a:avLst>
          </a:prstGeom>
          <a:solidFill xmlns:a="http://schemas.openxmlformats.org/drawingml/2006/main">
            <a:srgbClr val="123F52"/>
          </a:solidFill>
        </p:spPr>
      </p:sp>
      <p:sp>
        <p:nvSpPr>
          <p:cNvPr id="8" name="Shape 6">
            <a:extLst xmlns:a="http://schemas.openxmlformats.org/drawingml/2006/main">
              <a:ext uri="{FF2B5EF4-FFF2-40B4-BE49-F238E27FC236}">
                <a16:creationId xmlns:a16="http://schemas.microsoft.com/office/drawing/2014/main" id="{682317D1-EA5E-4373-AB3A-F56A8364E56E}"/>
              </a:ext>
            </a:extLst>
          </p:cNvPr>
          <p:cNvSpPr>
            <a:spLocks xmlns:a="http://schemas.openxmlformats.org/drawingml/2006/main" noGrp="1"/>
          </p:cNvSpPr>
          <p:nvPr/>
        </p:nvSpPr>
        <p:spPr>
          <a:xfrm xmlns:a="http://schemas.openxmlformats.org/drawingml/2006/main">
            <a:off x="932688" y="3310128"/>
            <a:ext cx="457200" cy="457200"/>
          </a:xfrm>
          <a:prstGeom xmlns:a="http://schemas.openxmlformats.org/drawingml/2006/main" prst="ellipse">
            <a:avLst/>
          </a:prstGeom>
          <a:solidFill xmlns:a="http://schemas.openxmlformats.org/drawingml/2006/main">
            <a:srgbClr val="0E7C86"/>
          </a:solidFill>
        </p:spPr>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8cdc7dd454c24dd2"/>
          <a:stretch xmlns:a="http://schemas.openxmlformats.org/drawingml/2006/main">
            <a:fillRect l="0" t="0" r="0" b="0"/>
          </a:stretch>
        </p:blipFill>
        <p:spPr>
          <a:xfrm xmlns:a="http://schemas.openxmlformats.org/drawingml/2006/main">
            <a:off x="1051560" y="3429000"/>
            <a:ext cx="219456" cy="219456"/>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310A273E-C79F-4327-8DD0-705B9E1B014A}"/>
              </a:ext>
            </a:extLst>
          </p:cNvPr>
          <p:cNvSpPr>
            <a:spLocks xmlns:a="http://schemas.openxmlformats.org/drawingml/2006/main" noGrp="1"/>
          </p:cNvSpPr>
          <p:nvPr/>
        </p:nvSpPr>
        <p:spPr>
          <a:xfrm xmlns:a="http://schemas.openxmlformats.org/drawingml/2006/main">
            <a:off x="1517904" y="3383280"/>
            <a:ext cx="2697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300" b="1">
                <a:solidFill>
                  <a:srgbClr val="FFFFFF"/>
                </a:solidFill>
                <a:latin typeface="Cambria"/>
                <a:ea typeface="Cambria"/>
                <a:cs typeface="Cambria"/>
              </a:rPr>
              <a:t>Deliverable 1 — the memo</a:t>
            </a:r>
            <a:endParaRPr sz="1300"/>
          </a:p>
        </p:txBody>
      </p:sp>
      <p:sp>
        <p:nvSpPr>
          <p:cNvPr id="11" name="Text 8">
            <a:extLst xmlns:a="http://schemas.openxmlformats.org/drawingml/2006/main">
              <a:ext uri="{FF2B5EF4-FFF2-40B4-BE49-F238E27FC236}">
                <a16:creationId xmlns:a16="http://schemas.microsoft.com/office/drawing/2014/main" id="{5E17FAEB-36AC-4BCD-B4FA-B568B5B09975}"/>
              </a:ext>
            </a:extLst>
          </p:cNvPr>
          <p:cNvSpPr>
            <a:spLocks xmlns:a="http://schemas.openxmlformats.org/drawingml/2006/main" noGrp="1"/>
          </p:cNvSpPr>
          <p:nvPr/>
        </p:nvSpPr>
        <p:spPr>
          <a:xfrm xmlns:a="http://schemas.openxmlformats.org/drawingml/2006/main">
            <a:off x="960120" y="4023360"/>
            <a:ext cx="315468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60">
                <a:solidFill>
                  <a:srgbClr val="D9E6E9"/>
                </a:solidFill>
                <a:latin typeface="Calibri"/>
                <a:ea typeface="Calibri"/>
                <a:cs typeface="Calibri"/>
              </a:rPr>
              <a:t>One page, for the Deputy Minister. A recommendation with quantified evidence: effect sizes with intervals, the paradox reconciled, targeting plan, costs of being wrong, limitations.</a:t>
            </a:r>
            <a:endParaRPr sz="1060"/>
          </a:p>
        </p:txBody>
      </p:sp>
      <p:sp>
        <p:nvSpPr>
          <p:cNvPr id="12" name="Shape 9">
            <a:extLst xmlns:a="http://schemas.openxmlformats.org/drawingml/2006/main">
              <a:ext uri="{FF2B5EF4-FFF2-40B4-BE49-F238E27FC236}">
                <a16:creationId xmlns:a16="http://schemas.microsoft.com/office/drawing/2014/main" id="{8096F931-402E-470B-B7AA-7B3C150CDFC6}"/>
              </a:ext>
            </a:extLst>
          </p:cNvPr>
          <p:cNvSpPr>
            <a:spLocks xmlns:a="http://schemas.openxmlformats.org/drawingml/2006/main" noGrp="1"/>
          </p:cNvSpPr>
          <p:nvPr/>
        </p:nvSpPr>
        <p:spPr>
          <a:xfrm xmlns:a="http://schemas.openxmlformats.org/drawingml/2006/main">
            <a:off x="4434840" y="3108960"/>
            <a:ext cx="3566160" cy="2377440"/>
          </a:xfrm>
          <a:prstGeom xmlns:a="http://schemas.openxmlformats.org/drawingml/2006/main" prst="roundRect">
            <a:avLst>
              <a:gd name="adj" fmla="val 3462"/>
            </a:avLst>
          </a:prstGeom>
          <a:solidFill xmlns:a="http://schemas.openxmlformats.org/drawingml/2006/main">
            <a:srgbClr val="123F52"/>
          </a:solidFill>
        </p:spPr>
      </p:sp>
      <p:sp>
        <p:nvSpPr>
          <p:cNvPr id="13" name="Shape 10">
            <a:extLst xmlns:a="http://schemas.openxmlformats.org/drawingml/2006/main">
              <a:ext uri="{FF2B5EF4-FFF2-40B4-BE49-F238E27FC236}">
                <a16:creationId xmlns:a16="http://schemas.microsoft.com/office/drawing/2014/main" id="{103D2B42-EBC2-4F89-A004-CD14C72DB80E}"/>
              </a:ext>
            </a:extLst>
          </p:cNvPr>
          <p:cNvSpPr>
            <a:spLocks xmlns:a="http://schemas.openxmlformats.org/drawingml/2006/main" noGrp="1"/>
          </p:cNvSpPr>
          <p:nvPr/>
        </p:nvSpPr>
        <p:spPr>
          <a:xfrm xmlns:a="http://schemas.openxmlformats.org/drawingml/2006/main">
            <a:off x="4636008" y="3310128"/>
            <a:ext cx="457200" cy="457200"/>
          </a:xfrm>
          <a:prstGeom xmlns:a="http://schemas.openxmlformats.org/drawingml/2006/main" prst="ellipse">
            <a:avLst/>
          </a:prstGeom>
          <a:solidFill xmlns:a="http://schemas.openxmlformats.org/drawingml/2006/main">
            <a:srgbClr val="0E7C86"/>
          </a:solidFill>
        </p:spPr>
      </p:sp>
      <p:pic>
        <p:nvPicPr>
          <p:cNvPr id="38" name="Image 1"/>
          <p:cNvPicPr>
            <a:picLocks xmlns:a="http://schemas.openxmlformats.org/drawingml/2006/main" noChangeAspect="1"/>
          </p:cNvPicPr>
          <p:nvPr/>
        </p:nvPicPr>
        <p:blipFill>
          <a:blip xmlns:r="http://schemas.openxmlformats.org/officeDocument/2006/relationships" xmlns:a="http://schemas.openxmlformats.org/drawingml/2006/main" r:embed="Rff7d156fb3294809"/>
          <a:stretch xmlns:a="http://schemas.openxmlformats.org/drawingml/2006/main">
            <a:fillRect l="0" t="0" r="0" b="0"/>
          </a:stretch>
        </p:blipFill>
        <p:spPr>
          <a:xfrm xmlns:a="http://schemas.openxmlformats.org/drawingml/2006/main">
            <a:off x="4754880" y="3429000"/>
            <a:ext cx="219456" cy="219456"/>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2398815C-5241-4A46-A5ED-DA1C0EF01FC3}"/>
              </a:ext>
            </a:extLst>
          </p:cNvPr>
          <p:cNvSpPr>
            <a:spLocks xmlns:a="http://schemas.openxmlformats.org/drawingml/2006/main" noGrp="1"/>
          </p:cNvSpPr>
          <p:nvPr/>
        </p:nvSpPr>
        <p:spPr>
          <a:xfrm xmlns:a="http://schemas.openxmlformats.org/drawingml/2006/main">
            <a:off x="5221224" y="3383280"/>
            <a:ext cx="2697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300" b="1">
                <a:solidFill>
                  <a:srgbClr val="FFFFFF"/>
                </a:solidFill>
                <a:latin typeface="Cambria"/>
                <a:ea typeface="Cambria"/>
                <a:cs typeface="Cambria"/>
              </a:rPr>
              <a:t>Deliverable 2 — the notebook</a:t>
            </a:r>
            <a:endParaRPr sz="1300"/>
          </a:p>
        </p:txBody>
      </p:sp>
      <p:sp>
        <p:nvSpPr>
          <p:cNvPr id="16" name="Text 12">
            <a:extLst xmlns:a="http://schemas.openxmlformats.org/drawingml/2006/main">
              <a:ext uri="{FF2B5EF4-FFF2-40B4-BE49-F238E27FC236}">
                <a16:creationId xmlns:a16="http://schemas.microsoft.com/office/drawing/2014/main" id="{1C7C654E-7544-4278-B5D7-7376D993AB3D}"/>
              </a:ext>
            </a:extLst>
          </p:cNvPr>
          <p:cNvSpPr>
            <a:spLocks xmlns:a="http://schemas.openxmlformats.org/drawingml/2006/main" noGrp="1"/>
          </p:cNvSpPr>
          <p:nvPr/>
        </p:nvSpPr>
        <p:spPr>
          <a:xfrm xmlns:a="http://schemas.openxmlformats.org/drawingml/2006/main">
            <a:off x="4663440" y="4023360"/>
            <a:ext cx="315468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60">
                <a:solidFill>
                  <a:srgbClr val="D9E6E9"/>
                </a:solidFill>
                <a:latin typeface="Calibri"/>
                <a:ea typeface="Calibri"/>
                <a:cs typeface="Calibri"/>
              </a:rPr>
              <a:t>Restart-and-run-all reproducible; analysis plan at top; seeded simulations (per-student seed); every memo number traceable to a cell.</a:t>
            </a:r>
            <a:endParaRPr sz="1060"/>
          </a:p>
        </p:txBody>
      </p:sp>
      <p:sp>
        <p:nvSpPr>
          <p:cNvPr id="17" name="Shape 13">
            <a:extLst xmlns:a="http://schemas.openxmlformats.org/drawingml/2006/main">
              <a:ext uri="{FF2B5EF4-FFF2-40B4-BE49-F238E27FC236}">
                <a16:creationId xmlns:a16="http://schemas.microsoft.com/office/drawing/2014/main" id="{80A7F4C7-7970-44AF-990D-CED2A8C02EA5}"/>
              </a:ext>
            </a:extLst>
          </p:cNvPr>
          <p:cNvSpPr>
            <a:spLocks xmlns:a="http://schemas.openxmlformats.org/drawingml/2006/main" noGrp="1"/>
          </p:cNvSpPr>
          <p:nvPr/>
        </p:nvSpPr>
        <p:spPr>
          <a:xfrm xmlns:a="http://schemas.openxmlformats.org/drawingml/2006/main">
            <a:off x="8138160" y="3108960"/>
            <a:ext cx="3566160" cy="2377440"/>
          </a:xfrm>
          <a:prstGeom xmlns:a="http://schemas.openxmlformats.org/drawingml/2006/main" prst="roundRect">
            <a:avLst>
              <a:gd name="adj" fmla="val 3462"/>
            </a:avLst>
          </a:prstGeom>
          <a:solidFill xmlns:a="http://schemas.openxmlformats.org/drawingml/2006/main">
            <a:srgbClr val="123F52"/>
          </a:solidFill>
        </p:spPr>
      </p:sp>
      <p:sp>
        <p:nvSpPr>
          <p:cNvPr id="18" name="Shape 14">
            <a:extLst xmlns:a="http://schemas.openxmlformats.org/drawingml/2006/main">
              <a:ext uri="{FF2B5EF4-FFF2-40B4-BE49-F238E27FC236}">
                <a16:creationId xmlns:a16="http://schemas.microsoft.com/office/drawing/2014/main" id="{269D9569-6467-4645-A347-3DBE2391E429}"/>
              </a:ext>
            </a:extLst>
          </p:cNvPr>
          <p:cNvSpPr>
            <a:spLocks xmlns:a="http://schemas.openxmlformats.org/drawingml/2006/main" noGrp="1"/>
          </p:cNvSpPr>
          <p:nvPr/>
        </p:nvSpPr>
        <p:spPr>
          <a:xfrm xmlns:a="http://schemas.openxmlformats.org/drawingml/2006/main">
            <a:off x="8339328" y="3310128"/>
            <a:ext cx="457200" cy="457200"/>
          </a:xfrm>
          <a:prstGeom xmlns:a="http://schemas.openxmlformats.org/drawingml/2006/main" prst="ellipse">
            <a:avLst/>
          </a:prstGeom>
          <a:solidFill xmlns:a="http://schemas.openxmlformats.org/drawingml/2006/main">
            <a:srgbClr val="0E7C86"/>
          </a:solidFill>
        </p:spPr>
      </p:sp>
      <p:pic>
        <p:nvPicPr>
          <p:cNvPr id="43" name="Image 2"/>
          <p:cNvPicPr>
            <a:picLocks xmlns:a="http://schemas.openxmlformats.org/drawingml/2006/main" noChangeAspect="1"/>
          </p:cNvPicPr>
          <p:nvPr/>
        </p:nvPicPr>
        <p:blipFill>
          <a:blip xmlns:r="http://schemas.openxmlformats.org/officeDocument/2006/relationships" xmlns:a="http://schemas.openxmlformats.org/drawingml/2006/main" r:embed="R4390f690070f449d"/>
          <a:stretch xmlns:a="http://schemas.openxmlformats.org/drawingml/2006/main">
            <a:fillRect l="0" t="0" r="0" b="0"/>
          </a:stretch>
        </p:blipFill>
        <p:spPr>
          <a:xfrm xmlns:a="http://schemas.openxmlformats.org/drawingml/2006/main">
            <a:off x="8458200" y="3429000"/>
            <a:ext cx="219456" cy="219456"/>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62A7DD3B-423F-45FB-8C90-DF98D9395D5A}"/>
              </a:ext>
            </a:extLst>
          </p:cNvPr>
          <p:cNvSpPr>
            <a:spLocks xmlns:a="http://schemas.openxmlformats.org/drawingml/2006/main" noGrp="1"/>
          </p:cNvSpPr>
          <p:nvPr/>
        </p:nvSpPr>
        <p:spPr>
          <a:xfrm xmlns:a="http://schemas.openxmlformats.org/drawingml/2006/main">
            <a:off x="8924544" y="3383280"/>
            <a:ext cx="2697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300" b="1">
                <a:solidFill>
                  <a:srgbClr val="FFFFFF"/>
                </a:solidFill>
                <a:latin typeface="Cambria"/>
                <a:ea typeface="Cambria"/>
                <a:cs typeface="Cambria"/>
              </a:rPr>
              <a:t>Deliverable 3 — the defence</a:t>
            </a:r>
            <a:endParaRPr sz="1300"/>
          </a:p>
        </p:txBody>
      </p:sp>
      <p:sp>
        <p:nvSpPr>
          <p:cNvPr id="21" name="Text 16">
            <a:extLst xmlns:a="http://schemas.openxmlformats.org/drawingml/2006/main">
              <a:ext uri="{FF2B5EF4-FFF2-40B4-BE49-F238E27FC236}">
                <a16:creationId xmlns:a16="http://schemas.microsoft.com/office/drawing/2014/main" id="{F5BE5B3C-C740-441C-A000-D88FE9C8C1C0}"/>
              </a:ext>
            </a:extLst>
          </p:cNvPr>
          <p:cNvSpPr>
            <a:spLocks xmlns:a="http://schemas.openxmlformats.org/drawingml/2006/main" noGrp="1"/>
          </p:cNvSpPr>
          <p:nvPr/>
        </p:nvSpPr>
        <p:spPr>
          <a:xfrm xmlns:a="http://schemas.openxmlformats.org/drawingml/2006/main">
            <a:off x="8366760" y="4023360"/>
            <a:ext cx="315468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60">
                <a:solidFill>
                  <a:srgbClr val="D9E6E9"/>
                </a:solidFill>
                <a:latin typeface="Calibri"/>
                <a:ea typeface="Calibri"/>
                <a:cs typeface="Calibri"/>
              </a:rPr>
              <a:t>5-minute presentation + 5 minutes of hostile-but-fair questions. Instructors play the sceptical director from the Module 5 case.</a:t>
            </a:r>
            <a:endParaRPr sz="1060"/>
          </a:p>
        </p:txBody>
      </p:sp>
      <p:sp>
        <p:nvSpPr>
          <p:cNvPr id="22" name="Text 17">
            <a:extLst xmlns:a="http://schemas.openxmlformats.org/drawingml/2006/main">
              <a:ext uri="{FF2B5EF4-FFF2-40B4-BE49-F238E27FC236}">
                <a16:creationId xmlns:a16="http://schemas.microsoft.com/office/drawing/2014/main" id="{A5F8E7E9-C3C6-4D22-8D3E-1FBBC9A3090A}"/>
              </a:ext>
            </a:extLst>
          </p:cNvPr>
          <p:cNvSpPr>
            <a:spLocks xmlns:a="http://schemas.openxmlformats.org/drawingml/2006/main" noGrp="1"/>
          </p:cNvSpPr>
          <p:nvPr/>
        </p:nvSpPr>
        <p:spPr>
          <a:xfrm xmlns:a="http://schemas.openxmlformats.org/drawingml/2006/main">
            <a:off x="731520" y="5715000"/>
            <a:ext cx="10058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i="1">
                <a:solidFill>
                  <a:srgbClr val="AECBD1"/>
                </a:solidFill>
                <a:latin typeface="Calibri"/>
                <a:ea typeface="Calibri"/>
                <a:cs typeface="Calibri"/>
              </a:rPr>
              <a:t>Individual work, peer-reviewed drafts at the half-way mark. 40% of the course grade.</a:t>
            </a:r>
            <a:endParaRPr sz="1250"/>
          </a:p>
        </p:txBody>
      </p:sp>
    </p:spTree>
    <p:extLst>
      <p:ext uri="{BB962C8B-B14F-4D97-AF65-F5344CB8AC3E}">
        <p14:creationId xmlns:p14="http://schemas.microsoft.com/office/powerpoint/2010/main" val="1718480450"/>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0E00350-AD4B-48E2-88BB-D647ADE9A409}"/>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D1B64645-CA22-4245-87D5-8933E4693FF5}"/>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78</a:t>
            </a:r>
            <a:endParaRPr sz="900"/>
          </a:p>
        </p:txBody>
      </p:sp>
      <p:sp>
        <p:nvSpPr>
          <p:cNvPr id="4" name="Shape 2">
            <a:extLst xmlns:a="http://schemas.openxmlformats.org/drawingml/2006/main">
              <a:ext uri="{FF2B5EF4-FFF2-40B4-BE49-F238E27FC236}">
                <a16:creationId xmlns:a16="http://schemas.microsoft.com/office/drawing/2014/main" id="{A842C000-E588-436F-802D-1AAC540209F6}"/>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0E4FA419-B4C1-4527-AFA8-3E0048D11C76}"/>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CAPSTONE</a:t>
            </a:r>
            <a:endParaRPr sz="1050"/>
          </a:p>
        </p:txBody>
      </p:sp>
      <p:sp>
        <p:nvSpPr>
          <p:cNvPr id="6" name="Text 4">
            <a:extLst xmlns:a="http://schemas.openxmlformats.org/drawingml/2006/main">
              <a:ext uri="{FF2B5EF4-FFF2-40B4-BE49-F238E27FC236}">
                <a16:creationId xmlns:a16="http://schemas.microsoft.com/office/drawing/2014/main" id="{2D69A2B0-A876-42F5-9650-7209D73F2CD4}"/>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The memo assembles itself — if the labs were done</a:t>
            </a:r>
            <a:endParaRPr sz="2800"/>
          </a:p>
        </p:txBody>
      </p:sp>
      <p:sp>
        <p:nvSpPr>
          <p:cNvPr id="7" name="Text 5">
            <a:extLst xmlns:a="http://schemas.openxmlformats.org/drawingml/2006/main">
              <a:ext uri="{FF2B5EF4-FFF2-40B4-BE49-F238E27FC236}">
                <a16:creationId xmlns:a16="http://schemas.microsoft.com/office/drawing/2014/main" id="{3595BF9C-F8B5-43C5-9D78-FB66C9F1204C}"/>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Every required section maps to evidence participants already produced</a:t>
            </a:r>
            <a:endParaRPr sz="1350"/>
          </a:p>
        </p:txBody>
      </p:sp>
      <p:sp>
        <p:nvSpPr>
          <p:cNvPr id="8" name="Shape 6">
            <a:extLst xmlns:a="http://schemas.openxmlformats.org/drawingml/2006/main">
              <a:ext uri="{FF2B5EF4-FFF2-40B4-BE49-F238E27FC236}">
                <a16:creationId xmlns:a16="http://schemas.microsoft.com/office/drawing/2014/main" id="{90BF51FF-66FE-463C-96CE-01E152EA6D4D}"/>
              </a:ext>
            </a:extLst>
          </p:cNvPr>
          <p:cNvSpPr>
            <a:spLocks xmlns:a="http://schemas.openxmlformats.org/drawingml/2006/main" noGrp="1"/>
          </p:cNvSpPr>
          <p:nvPr/>
        </p:nvSpPr>
        <p:spPr>
          <a:xfrm xmlns:a="http://schemas.openxmlformats.org/drawingml/2006/main">
            <a:off x="502920" y="1837944"/>
            <a:ext cx="3685032" cy="2194560"/>
          </a:xfrm>
          <a:prstGeom xmlns:a="http://schemas.openxmlformats.org/drawingml/2006/main" prst="roundRect">
            <a:avLst>
              <a:gd name="adj" fmla="val 3750"/>
            </a:avLst>
          </a:prstGeom>
          <a:solidFill xmlns:a="http://schemas.openxmlformats.org/drawingml/2006/main">
            <a:srgbClr val="F3F8F9"/>
          </a:solidFill>
        </p:spPr>
      </p:sp>
      <p:sp>
        <p:nvSpPr>
          <p:cNvPr id="9" name="Shape 7">
            <a:extLst xmlns:a="http://schemas.openxmlformats.org/drawingml/2006/main">
              <a:ext uri="{FF2B5EF4-FFF2-40B4-BE49-F238E27FC236}">
                <a16:creationId xmlns:a16="http://schemas.microsoft.com/office/drawing/2014/main" id="{60475E89-C2D2-46C6-A6F8-4D57B873C56A}"/>
              </a:ext>
            </a:extLst>
          </p:cNvPr>
          <p:cNvSpPr>
            <a:spLocks xmlns:a="http://schemas.openxmlformats.org/drawingml/2006/main" noGrp="1"/>
          </p:cNvSpPr>
          <p:nvPr/>
        </p:nvSpPr>
        <p:spPr>
          <a:xfrm xmlns:a="http://schemas.openxmlformats.org/drawingml/2006/main">
            <a:off x="685800" y="2020824"/>
            <a:ext cx="960120" cy="310896"/>
          </a:xfrm>
          <a:prstGeom xmlns:a="http://schemas.openxmlformats.org/drawingml/2006/main" prst="roundRect">
            <a:avLst>
              <a:gd name="adj" fmla="val 50000"/>
            </a:avLst>
          </a:prstGeom>
          <a:solidFill xmlns:a="http://schemas.openxmlformats.org/drawingml/2006/main">
            <a:srgbClr val="0B3140"/>
          </a:solidFill>
        </p:spPr>
      </p:sp>
      <p:sp>
        <p:nvSpPr>
          <p:cNvPr id="10" name="Text 8">
            <a:extLst xmlns:a="http://schemas.openxmlformats.org/drawingml/2006/main">
              <a:ext uri="{FF2B5EF4-FFF2-40B4-BE49-F238E27FC236}">
                <a16:creationId xmlns:a16="http://schemas.microsoft.com/office/drawing/2014/main" id="{0328C7C9-794B-430F-840A-FC9D858A9857}"/>
              </a:ext>
            </a:extLst>
          </p:cNvPr>
          <p:cNvSpPr>
            <a:spLocks xmlns:a="http://schemas.openxmlformats.org/drawingml/2006/main" noGrp="1"/>
          </p:cNvSpPr>
          <p:nvPr/>
        </p:nvSpPr>
        <p:spPr>
          <a:xfrm xmlns:a="http://schemas.openxmlformats.org/drawingml/2006/main">
            <a:off x="685800" y="2020824"/>
            <a:ext cx="960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M2–M3</a:t>
            </a:r>
            <a:endParaRPr sz="1050"/>
          </a:p>
        </p:txBody>
      </p:sp>
      <p:sp>
        <p:nvSpPr>
          <p:cNvPr id="11" name="Text 9">
            <a:extLst xmlns:a="http://schemas.openxmlformats.org/drawingml/2006/main">
              <a:ext uri="{FF2B5EF4-FFF2-40B4-BE49-F238E27FC236}">
                <a16:creationId xmlns:a16="http://schemas.microsoft.com/office/drawing/2014/main" id="{54523137-B00F-493A-AFC2-A350FC9B20A1}"/>
              </a:ext>
            </a:extLst>
          </p:cNvPr>
          <p:cNvSpPr>
            <a:spLocks xmlns:a="http://schemas.openxmlformats.org/drawingml/2006/main" noGrp="1"/>
          </p:cNvSpPr>
          <p:nvPr/>
        </p:nvSpPr>
        <p:spPr>
          <a:xfrm xmlns:a="http://schemas.openxmlformats.org/drawingml/2006/main">
            <a:off x="1783080" y="2029968"/>
            <a:ext cx="22860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3140"/>
                </a:solidFill>
                <a:latin typeface="Cambria"/>
                <a:ea typeface="Cambria"/>
                <a:cs typeface="Cambria"/>
              </a:rPr>
              <a:t>State of play</a:t>
            </a:r>
            <a:endParaRPr sz="1300"/>
          </a:p>
        </p:txBody>
      </p:sp>
      <p:sp>
        <p:nvSpPr>
          <p:cNvPr id="12" name="Text 10">
            <a:extLst xmlns:a="http://schemas.openxmlformats.org/drawingml/2006/main">
              <a:ext uri="{FF2B5EF4-FFF2-40B4-BE49-F238E27FC236}">
                <a16:creationId xmlns:a16="http://schemas.microsoft.com/office/drawing/2014/main" id="{FDB1ED4B-94EC-4FF7-A3AE-8722A6E9A28B}"/>
              </a:ext>
            </a:extLst>
          </p:cNvPr>
          <p:cNvSpPr>
            <a:spLocks xmlns:a="http://schemas.openxmlformats.org/drawingml/2006/main" noGrp="1"/>
          </p:cNvSpPr>
          <p:nvPr/>
        </p:nvSpPr>
        <p:spPr>
          <a:xfrm xmlns:a="http://schemas.openxmlformats.org/drawingml/2006/main">
            <a:off x="722376" y="2496312"/>
            <a:ext cx="329184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60">
                <a:solidFill>
                  <a:srgbClr val="24313A"/>
                </a:solidFill>
                <a:latin typeface="Calibri"/>
                <a:ea typeface="Calibri"/>
                <a:cs typeface="Calibri"/>
              </a:rPr>
              <a:t>No-show 18.3% [17.9, 18.6]; median wait 18 (IQR 12–26); honest summaries of skewed data</a:t>
            </a:r>
            <a:endParaRPr sz="1060"/>
          </a:p>
        </p:txBody>
      </p:sp>
      <p:sp>
        <p:nvSpPr>
          <p:cNvPr id="13" name="Shape 11">
            <a:extLst xmlns:a="http://schemas.openxmlformats.org/drawingml/2006/main">
              <a:ext uri="{FF2B5EF4-FFF2-40B4-BE49-F238E27FC236}">
                <a16:creationId xmlns:a16="http://schemas.microsoft.com/office/drawing/2014/main" id="{51F43789-7C4A-4AC5-9986-E0F35BB0F62D}"/>
              </a:ext>
            </a:extLst>
          </p:cNvPr>
          <p:cNvSpPr>
            <a:spLocks xmlns:a="http://schemas.openxmlformats.org/drawingml/2006/main" noGrp="1"/>
          </p:cNvSpPr>
          <p:nvPr/>
        </p:nvSpPr>
        <p:spPr>
          <a:xfrm xmlns:a="http://schemas.openxmlformats.org/drawingml/2006/main">
            <a:off x="4325112" y="1837944"/>
            <a:ext cx="3685032" cy="2194560"/>
          </a:xfrm>
          <a:prstGeom xmlns:a="http://schemas.openxmlformats.org/drawingml/2006/main" prst="roundRect">
            <a:avLst>
              <a:gd name="adj" fmla="val 3750"/>
            </a:avLst>
          </a:prstGeom>
          <a:solidFill xmlns:a="http://schemas.openxmlformats.org/drawingml/2006/main">
            <a:srgbClr val="F3F8F9"/>
          </a:solidFill>
        </p:spPr>
      </p:sp>
      <p:sp>
        <p:nvSpPr>
          <p:cNvPr id="14" name="Shape 12">
            <a:extLst xmlns:a="http://schemas.openxmlformats.org/drawingml/2006/main">
              <a:ext uri="{FF2B5EF4-FFF2-40B4-BE49-F238E27FC236}">
                <a16:creationId xmlns:a16="http://schemas.microsoft.com/office/drawing/2014/main" id="{4F2AA37A-EBAE-4308-8A6A-FF2682C4CC9C}"/>
              </a:ext>
            </a:extLst>
          </p:cNvPr>
          <p:cNvSpPr>
            <a:spLocks xmlns:a="http://schemas.openxmlformats.org/drawingml/2006/main" noGrp="1"/>
          </p:cNvSpPr>
          <p:nvPr/>
        </p:nvSpPr>
        <p:spPr>
          <a:xfrm xmlns:a="http://schemas.openxmlformats.org/drawingml/2006/main">
            <a:off x="4507992" y="2020824"/>
            <a:ext cx="960120" cy="310896"/>
          </a:xfrm>
          <a:prstGeom xmlns:a="http://schemas.openxmlformats.org/drawingml/2006/main" prst="roundRect">
            <a:avLst>
              <a:gd name="adj" fmla="val 50000"/>
            </a:avLst>
          </a:prstGeom>
          <a:solidFill xmlns:a="http://schemas.openxmlformats.org/drawingml/2006/main">
            <a:srgbClr val="0B3140"/>
          </a:solidFill>
        </p:spPr>
      </p:sp>
      <p:sp>
        <p:nvSpPr>
          <p:cNvPr id="15" name="Text 13">
            <a:extLst xmlns:a="http://schemas.openxmlformats.org/drawingml/2006/main">
              <a:ext uri="{FF2B5EF4-FFF2-40B4-BE49-F238E27FC236}">
                <a16:creationId xmlns:a16="http://schemas.microsoft.com/office/drawing/2014/main" id="{A779363C-5E06-41CD-9B30-B005AD5C77AE}"/>
              </a:ext>
            </a:extLst>
          </p:cNvPr>
          <p:cNvSpPr>
            <a:spLocks xmlns:a="http://schemas.openxmlformats.org/drawingml/2006/main" noGrp="1"/>
          </p:cNvSpPr>
          <p:nvPr/>
        </p:nvSpPr>
        <p:spPr>
          <a:xfrm xmlns:a="http://schemas.openxmlformats.org/drawingml/2006/main">
            <a:off x="4507992" y="2020824"/>
            <a:ext cx="960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M3</a:t>
            </a:r>
            <a:endParaRPr sz="1050"/>
          </a:p>
        </p:txBody>
      </p:sp>
      <p:sp>
        <p:nvSpPr>
          <p:cNvPr id="16" name="Text 14">
            <a:extLst xmlns:a="http://schemas.openxmlformats.org/drawingml/2006/main">
              <a:ext uri="{FF2B5EF4-FFF2-40B4-BE49-F238E27FC236}">
                <a16:creationId xmlns:a16="http://schemas.microsoft.com/office/drawing/2014/main" id="{CB0B8094-4B4B-462B-88BB-E78840182D90}"/>
              </a:ext>
            </a:extLst>
          </p:cNvPr>
          <p:cNvSpPr>
            <a:spLocks xmlns:a="http://schemas.openxmlformats.org/drawingml/2006/main" noGrp="1"/>
          </p:cNvSpPr>
          <p:nvPr/>
        </p:nvSpPr>
        <p:spPr>
          <a:xfrm xmlns:a="http://schemas.openxmlformats.org/drawingml/2006/main">
            <a:off x="5605272" y="2029968"/>
            <a:ext cx="22860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3140"/>
                </a:solidFill>
                <a:latin typeface="Cambria"/>
                <a:ea typeface="Cambria"/>
                <a:cs typeface="Cambria"/>
              </a:rPr>
              <a:t>Where it's worst</a:t>
            </a:r>
            <a:endParaRPr sz="1300"/>
          </a:p>
        </p:txBody>
      </p:sp>
      <p:sp>
        <p:nvSpPr>
          <p:cNvPr id="17" name="Text 15">
            <a:extLst xmlns:a="http://schemas.openxmlformats.org/drawingml/2006/main">
              <a:ext uri="{FF2B5EF4-FFF2-40B4-BE49-F238E27FC236}">
                <a16:creationId xmlns:a16="http://schemas.microsoft.com/office/drawing/2014/main" id="{74E97A03-7820-4995-85B1-923748AFF976}"/>
              </a:ext>
            </a:extLst>
          </p:cNvPr>
          <p:cNvSpPr>
            <a:spLocks xmlns:a="http://schemas.openxmlformats.org/drawingml/2006/main" noGrp="1"/>
          </p:cNvSpPr>
          <p:nvPr/>
        </p:nvSpPr>
        <p:spPr>
          <a:xfrm xmlns:a="http://schemas.openxmlformats.org/drawingml/2006/main">
            <a:off x="4544568" y="2496312"/>
            <a:ext cx="329184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60">
                <a:solidFill>
                  <a:srgbClr val="24313A"/>
                </a:solidFill>
                <a:latin typeface="Calibri"/>
                <a:ea typeface="Calibri"/>
                <a:cs typeface="Calibri"/>
              </a:rPr>
              <a:t>Makkah high, Eastern low — by interval, not league table; Al-Jouf: insufficient evidence</a:t>
            </a:r>
            <a:endParaRPr sz="1060"/>
          </a:p>
        </p:txBody>
      </p:sp>
      <p:sp>
        <p:nvSpPr>
          <p:cNvPr id="18" name="Shape 16">
            <a:extLst xmlns:a="http://schemas.openxmlformats.org/drawingml/2006/main">
              <a:ext uri="{FF2B5EF4-FFF2-40B4-BE49-F238E27FC236}">
                <a16:creationId xmlns:a16="http://schemas.microsoft.com/office/drawing/2014/main" id="{7FE99F73-F179-438F-8592-B6C4BF722E12}"/>
              </a:ext>
            </a:extLst>
          </p:cNvPr>
          <p:cNvSpPr>
            <a:spLocks xmlns:a="http://schemas.openxmlformats.org/drawingml/2006/main" noGrp="1"/>
          </p:cNvSpPr>
          <p:nvPr/>
        </p:nvSpPr>
        <p:spPr>
          <a:xfrm xmlns:a="http://schemas.openxmlformats.org/drawingml/2006/main">
            <a:off x="8147304" y="1837944"/>
            <a:ext cx="3685032" cy="2194560"/>
          </a:xfrm>
          <a:prstGeom xmlns:a="http://schemas.openxmlformats.org/drawingml/2006/main" prst="roundRect">
            <a:avLst>
              <a:gd name="adj" fmla="val 3750"/>
            </a:avLst>
          </a:prstGeom>
          <a:solidFill xmlns:a="http://schemas.openxmlformats.org/drawingml/2006/main">
            <a:srgbClr val="F3F8F9"/>
          </a:solidFill>
        </p:spPr>
      </p:sp>
      <p:sp>
        <p:nvSpPr>
          <p:cNvPr id="19" name="Shape 17">
            <a:extLst xmlns:a="http://schemas.openxmlformats.org/drawingml/2006/main">
              <a:ext uri="{FF2B5EF4-FFF2-40B4-BE49-F238E27FC236}">
                <a16:creationId xmlns:a16="http://schemas.microsoft.com/office/drawing/2014/main" id="{A437120F-27FB-4DD4-B1F1-5AF646DBAA6C}"/>
              </a:ext>
            </a:extLst>
          </p:cNvPr>
          <p:cNvSpPr>
            <a:spLocks xmlns:a="http://schemas.openxmlformats.org/drawingml/2006/main" noGrp="1"/>
          </p:cNvSpPr>
          <p:nvPr/>
        </p:nvSpPr>
        <p:spPr>
          <a:xfrm xmlns:a="http://schemas.openxmlformats.org/drawingml/2006/main">
            <a:off x="8330184" y="2020824"/>
            <a:ext cx="960120" cy="310896"/>
          </a:xfrm>
          <a:prstGeom xmlns:a="http://schemas.openxmlformats.org/drawingml/2006/main" prst="roundRect">
            <a:avLst>
              <a:gd name="adj" fmla="val 50000"/>
            </a:avLst>
          </a:prstGeom>
          <a:solidFill xmlns:a="http://schemas.openxmlformats.org/drawingml/2006/main">
            <a:srgbClr val="0B3140"/>
          </a:solidFill>
        </p:spPr>
      </p:sp>
      <p:sp>
        <p:nvSpPr>
          <p:cNvPr id="20" name="Text 18">
            <a:extLst xmlns:a="http://schemas.openxmlformats.org/drawingml/2006/main">
              <a:ext uri="{FF2B5EF4-FFF2-40B4-BE49-F238E27FC236}">
                <a16:creationId xmlns:a16="http://schemas.microsoft.com/office/drawing/2014/main" id="{28CB540F-CA66-4B23-9941-AF36CB2EE949}"/>
              </a:ext>
            </a:extLst>
          </p:cNvPr>
          <p:cNvSpPr>
            <a:spLocks xmlns:a="http://schemas.openxmlformats.org/drawingml/2006/main" noGrp="1"/>
          </p:cNvSpPr>
          <p:nvPr/>
        </p:nvSpPr>
        <p:spPr>
          <a:xfrm xmlns:a="http://schemas.openxmlformats.org/drawingml/2006/main">
            <a:off x="8330184" y="2020824"/>
            <a:ext cx="960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M4</a:t>
            </a:r>
            <a:endParaRPr sz="1050"/>
          </a:p>
        </p:txBody>
      </p:sp>
      <p:sp>
        <p:nvSpPr>
          <p:cNvPr id="21" name="Text 19">
            <a:extLst xmlns:a="http://schemas.openxmlformats.org/drawingml/2006/main">
              <a:ext uri="{FF2B5EF4-FFF2-40B4-BE49-F238E27FC236}">
                <a16:creationId xmlns:a16="http://schemas.microsoft.com/office/drawing/2014/main" id="{815118C5-BF68-412B-A96A-F6BE24E40373}"/>
              </a:ext>
            </a:extLst>
          </p:cNvPr>
          <p:cNvSpPr>
            <a:spLocks xmlns:a="http://schemas.openxmlformats.org/drawingml/2006/main" noGrp="1"/>
          </p:cNvSpPr>
          <p:nvPr/>
        </p:nvSpPr>
        <p:spPr>
          <a:xfrm xmlns:a="http://schemas.openxmlformats.org/drawingml/2006/main">
            <a:off x="9427464" y="2029968"/>
            <a:ext cx="22860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3140"/>
                </a:solidFill>
                <a:latin typeface="Cambria"/>
                <a:ea typeface="Cambria"/>
                <a:cs typeface="Cambria"/>
              </a:rPr>
              <a:t>Does SMS work?</a:t>
            </a:r>
            <a:endParaRPr sz="1300"/>
          </a:p>
        </p:txBody>
      </p:sp>
      <p:sp>
        <p:nvSpPr>
          <p:cNvPr id="22" name="Text 20">
            <a:extLst xmlns:a="http://schemas.openxmlformats.org/drawingml/2006/main">
              <a:ext uri="{FF2B5EF4-FFF2-40B4-BE49-F238E27FC236}">
                <a16:creationId xmlns:a16="http://schemas.microsoft.com/office/drawing/2014/main" id="{67012C36-EEFA-46DB-A5CB-13550883E77B}"/>
              </a:ext>
            </a:extLst>
          </p:cNvPr>
          <p:cNvSpPr>
            <a:spLocks xmlns:a="http://schemas.openxmlformats.org/drawingml/2006/main" noGrp="1"/>
          </p:cNvSpPr>
          <p:nvPr/>
        </p:nvSpPr>
        <p:spPr>
          <a:xfrm xmlns:a="http://schemas.openxmlformats.org/drawingml/2006/main">
            <a:off x="8366760" y="2496312"/>
            <a:ext cx="329184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60">
                <a:solidFill>
                  <a:srgbClr val="24313A"/>
                </a:solidFill>
                <a:latin typeface="Calibri"/>
                <a:ea typeface="Calibri"/>
                <a:cs typeface="Calibri"/>
              </a:rPr>
              <a:t>Randomized pilot: −6.8pp, p ≈ 5e-15, OR 0.64, over-powered design</a:t>
            </a:r>
            <a:endParaRPr sz="1060"/>
          </a:p>
        </p:txBody>
      </p:sp>
      <p:sp>
        <p:nvSpPr>
          <p:cNvPr id="23" name="Shape 21">
            <a:extLst xmlns:a="http://schemas.openxmlformats.org/drawingml/2006/main">
              <a:ext uri="{FF2B5EF4-FFF2-40B4-BE49-F238E27FC236}">
                <a16:creationId xmlns:a16="http://schemas.microsoft.com/office/drawing/2014/main" id="{D362F58B-623B-4D45-911D-A2CE3CC1FCDB}"/>
              </a:ext>
            </a:extLst>
          </p:cNvPr>
          <p:cNvSpPr>
            <a:spLocks xmlns:a="http://schemas.openxmlformats.org/drawingml/2006/main" noGrp="1"/>
          </p:cNvSpPr>
          <p:nvPr/>
        </p:nvSpPr>
        <p:spPr>
          <a:xfrm xmlns:a="http://schemas.openxmlformats.org/drawingml/2006/main">
            <a:off x="502920" y="4169664"/>
            <a:ext cx="3685032" cy="2194560"/>
          </a:xfrm>
          <a:prstGeom xmlns:a="http://schemas.openxmlformats.org/drawingml/2006/main" prst="roundRect">
            <a:avLst>
              <a:gd name="adj" fmla="val 3750"/>
            </a:avLst>
          </a:prstGeom>
          <a:solidFill xmlns:a="http://schemas.openxmlformats.org/drawingml/2006/main">
            <a:srgbClr val="E7F2F3"/>
          </a:solidFill>
        </p:spPr>
      </p:sp>
      <p:sp>
        <p:nvSpPr>
          <p:cNvPr id="24" name="Shape 22">
            <a:extLst xmlns:a="http://schemas.openxmlformats.org/drawingml/2006/main">
              <a:ext uri="{FF2B5EF4-FFF2-40B4-BE49-F238E27FC236}">
                <a16:creationId xmlns:a16="http://schemas.microsoft.com/office/drawing/2014/main" id="{613DC29A-F43E-47E2-B839-49C9D47947B7}"/>
              </a:ext>
            </a:extLst>
          </p:cNvPr>
          <p:cNvSpPr>
            <a:spLocks xmlns:a="http://schemas.openxmlformats.org/drawingml/2006/main" noGrp="1"/>
          </p:cNvSpPr>
          <p:nvPr/>
        </p:nvSpPr>
        <p:spPr>
          <a:xfrm xmlns:a="http://schemas.openxmlformats.org/drawingml/2006/main">
            <a:off x="685800" y="4352544"/>
            <a:ext cx="960120" cy="310896"/>
          </a:xfrm>
          <a:prstGeom xmlns:a="http://schemas.openxmlformats.org/drawingml/2006/main" prst="roundRect">
            <a:avLst>
              <a:gd name="adj" fmla="val 50000"/>
            </a:avLst>
          </a:prstGeom>
          <a:solidFill xmlns:a="http://schemas.openxmlformats.org/drawingml/2006/main">
            <a:srgbClr val="0B3140"/>
          </a:solidFill>
        </p:spPr>
      </p:sp>
      <p:sp>
        <p:nvSpPr>
          <p:cNvPr id="25" name="Text 23">
            <a:extLst xmlns:a="http://schemas.openxmlformats.org/drawingml/2006/main">
              <a:ext uri="{FF2B5EF4-FFF2-40B4-BE49-F238E27FC236}">
                <a16:creationId xmlns:a16="http://schemas.microsoft.com/office/drawing/2014/main" id="{8695532F-510E-4598-9950-56B96D1F2A86}"/>
              </a:ext>
            </a:extLst>
          </p:cNvPr>
          <p:cNvSpPr>
            <a:spLocks xmlns:a="http://schemas.openxmlformats.org/drawingml/2006/main" noGrp="1"/>
          </p:cNvSpPr>
          <p:nvPr/>
        </p:nvSpPr>
        <p:spPr>
          <a:xfrm xmlns:a="http://schemas.openxmlformats.org/drawingml/2006/main">
            <a:off x="685800" y="4352544"/>
            <a:ext cx="960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M5</a:t>
            </a:r>
            <a:endParaRPr sz="1050"/>
          </a:p>
        </p:txBody>
      </p:sp>
      <p:sp>
        <p:nvSpPr>
          <p:cNvPr id="26" name="Text 24">
            <a:extLst xmlns:a="http://schemas.openxmlformats.org/drawingml/2006/main">
              <a:ext uri="{FF2B5EF4-FFF2-40B4-BE49-F238E27FC236}">
                <a16:creationId xmlns:a16="http://schemas.microsoft.com/office/drawing/2014/main" id="{C09BBBE7-B130-4354-A81E-631439613C51}"/>
              </a:ext>
            </a:extLst>
          </p:cNvPr>
          <p:cNvSpPr>
            <a:spLocks xmlns:a="http://schemas.openxmlformats.org/drawingml/2006/main" noGrp="1"/>
          </p:cNvSpPr>
          <p:nvPr/>
        </p:nvSpPr>
        <p:spPr>
          <a:xfrm xmlns:a="http://schemas.openxmlformats.org/drawingml/2006/main">
            <a:off x="1783080" y="4361688"/>
            <a:ext cx="22860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3140"/>
                </a:solidFill>
                <a:latin typeface="Cambria"/>
                <a:ea typeface="Cambria"/>
                <a:cs typeface="Cambria"/>
              </a:rPr>
              <a:t>Reconcile the dashboard</a:t>
            </a:r>
            <a:endParaRPr sz="1300"/>
          </a:p>
        </p:txBody>
      </p:sp>
      <p:sp>
        <p:nvSpPr>
          <p:cNvPr id="27" name="Text 25">
            <a:extLst xmlns:a="http://schemas.openxmlformats.org/drawingml/2006/main">
              <a:ext uri="{FF2B5EF4-FFF2-40B4-BE49-F238E27FC236}">
                <a16:creationId xmlns:a16="http://schemas.microsoft.com/office/drawing/2014/main" id="{769C4AAE-1723-435F-B489-290E017192C6}"/>
              </a:ext>
            </a:extLst>
          </p:cNvPr>
          <p:cNvSpPr>
            <a:spLocks xmlns:a="http://schemas.openxmlformats.org/drawingml/2006/main" noGrp="1"/>
          </p:cNvSpPr>
          <p:nvPr/>
        </p:nvSpPr>
        <p:spPr>
          <a:xfrm xmlns:a="http://schemas.openxmlformats.org/drawingml/2006/main">
            <a:off x="722376" y="4828032"/>
            <a:ext cx="329184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60">
                <a:solidFill>
                  <a:srgbClr val="24313A"/>
                </a:solidFill>
                <a:latin typeface="Calibri"/>
                <a:ea typeface="Calibri"/>
                <a:cs typeface="Calibri"/>
              </a:rPr>
              <a:t>Crude +2.0pp is confounded targeting; standardized −5.0pp [−5.8, −4.1] agrees with pilot</a:t>
            </a:r>
            <a:endParaRPr sz="1060"/>
          </a:p>
        </p:txBody>
      </p:sp>
      <p:sp>
        <p:nvSpPr>
          <p:cNvPr id="28" name="Shape 26">
            <a:extLst xmlns:a="http://schemas.openxmlformats.org/drawingml/2006/main">
              <a:ext uri="{FF2B5EF4-FFF2-40B4-BE49-F238E27FC236}">
                <a16:creationId xmlns:a16="http://schemas.microsoft.com/office/drawing/2014/main" id="{9974D544-D91B-4DC8-B7C0-ADF21FB73074}"/>
              </a:ext>
            </a:extLst>
          </p:cNvPr>
          <p:cNvSpPr>
            <a:spLocks xmlns:a="http://schemas.openxmlformats.org/drawingml/2006/main" noGrp="1"/>
          </p:cNvSpPr>
          <p:nvPr/>
        </p:nvSpPr>
        <p:spPr>
          <a:xfrm xmlns:a="http://schemas.openxmlformats.org/drawingml/2006/main">
            <a:off x="4325112" y="4169664"/>
            <a:ext cx="3685032" cy="2194560"/>
          </a:xfrm>
          <a:prstGeom xmlns:a="http://schemas.openxmlformats.org/drawingml/2006/main" prst="roundRect">
            <a:avLst>
              <a:gd name="adj" fmla="val 3750"/>
            </a:avLst>
          </a:prstGeom>
          <a:solidFill xmlns:a="http://schemas.openxmlformats.org/drawingml/2006/main">
            <a:srgbClr val="F3F8F9"/>
          </a:solidFill>
        </p:spPr>
      </p:sp>
      <p:sp>
        <p:nvSpPr>
          <p:cNvPr id="29" name="Shape 27">
            <a:extLst xmlns:a="http://schemas.openxmlformats.org/drawingml/2006/main">
              <a:ext uri="{FF2B5EF4-FFF2-40B4-BE49-F238E27FC236}">
                <a16:creationId xmlns:a16="http://schemas.microsoft.com/office/drawing/2014/main" id="{E7E8BF90-4878-4A85-9DA4-2AEF1333ED76}"/>
              </a:ext>
            </a:extLst>
          </p:cNvPr>
          <p:cNvSpPr>
            <a:spLocks xmlns:a="http://schemas.openxmlformats.org/drawingml/2006/main" noGrp="1"/>
          </p:cNvSpPr>
          <p:nvPr/>
        </p:nvSpPr>
        <p:spPr>
          <a:xfrm xmlns:a="http://schemas.openxmlformats.org/drawingml/2006/main">
            <a:off x="4507992" y="4352544"/>
            <a:ext cx="960120" cy="310896"/>
          </a:xfrm>
          <a:prstGeom xmlns:a="http://schemas.openxmlformats.org/drawingml/2006/main" prst="roundRect">
            <a:avLst>
              <a:gd name="adj" fmla="val 50000"/>
            </a:avLst>
          </a:prstGeom>
          <a:solidFill xmlns:a="http://schemas.openxmlformats.org/drawingml/2006/main">
            <a:srgbClr val="0B3140"/>
          </a:solidFill>
        </p:spPr>
      </p:sp>
      <p:sp>
        <p:nvSpPr>
          <p:cNvPr id="30" name="Text 28">
            <a:extLst xmlns:a="http://schemas.openxmlformats.org/drawingml/2006/main">
              <a:ext uri="{FF2B5EF4-FFF2-40B4-BE49-F238E27FC236}">
                <a16:creationId xmlns:a16="http://schemas.microsoft.com/office/drawing/2014/main" id="{C235AAD4-BD9B-49E6-8957-A0316AB4D7DC}"/>
              </a:ext>
            </a:extLst>
          </p:cNvPr>
          <p:cNvSpPr>
            <a:spLocks xmlns:a="http://schemas.openxmlformats.org/drawingml/2006/main" noGrp="1"/>
          </p:cNvSpPr>
          <p:nvPr/>
        </p:nvSpPr>
        <p:spPr>
          <a:xfrm xmlns:a="http://schemas.openxmlformats.org/drawingml/2006/main">
            <a:off x="4507992" y="4352544"/>
            <a:ext cx="960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M6</a:t>
            </a:r>
            <a:endParaRPr sz="1050"/>
          </a:p>
        </p:txBody>
      </p:sp>
      <p:sp>
        <p:nvSpPr>
          <p:cNvPr id="31" name="Text 29">
            <a:extLst xmlns:a="http://schemas.openxmlformats.org/drawingml/2006/main">
              <a:ext uri="{FF2B5EF4-FFF2-40B4-BE49-F238E27FC236}">
                <a16:creationId xmlns:a16="http://schemas.microsoft.com/office/drawing/2014/main" id="{B50CD616-27C1-4A5D-BE8C-EBECA7ADA6FB}"/>
              </a:ext>
            </a:extLst>
          </p:cNvPr>
          <p:cNvSpPr>
            <a:spLocks xmlns:a="http://schemas.openxmlformats.org/drawingml/2006/main" noGrp="1"/>
          </p:cNvSpPr>
          <p:nvPr/>
        </p:nvSpPr>
        <p:spPr>
          <a:xfrm xmlns:a="http://schemas.openxmlformats.org/drawingml/2006/main">
            <a:off x="5605272" y="4361688"/>
            <a:ext cx="22860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3140"/>
                </a:solidFill>
                <a:latin typeface="Cambria"/>
                <a:ea typeface="Cambria"/>
                <a:cs typeface="Cambria"/>
              </a:rPr>
              <a:t>Who to target</a:t>
            </a:r>
            <a:endParaRPr sz="1300"/>
          </a:p>
        </p:txBody>
      </p:sp>
      <p:sp>
        <p:nvSpPr>
          <p:cNvPr id="32" name="Text 30">
            <a:extLst xmlns:a="http://schemas.openxmlformats.org/drawingml/2006/main">
              <a:ext uri="{FF2B5EF4-FFF2-40B4-BE49-F238E27FC236}">
                <a16:creationId xmlns:a16="http://schemas.microsoft.com/office/drawing/2014/main" id="{8B8D19B5-1ACB-4F36-A21B-79DB8E3E5E6E}"/>
              </a:ext>
            </a:extLst>
          </p:cNvPr>
          <p:cNvSpPr>
            <a:spLocks xmlns:a="http://schemas.openxmlformats.org/drawingml/2006/main" noGrp="1"/>
          </p:cNvSpPr>
          <p:nvPr/>
        </p:nvSpPr>
        <p:spPr>
          <a:xfrm xmlns:a="http://schemas.openxmlformats.org/drawingml/2006/main">
            <a:off x="4544568" y="4828032"/>
            <a:ext cx="329184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60">
                <a:solidFill>
                  <a:srgbClr val="24313A"/>
                </a:solidFill>
                <a:latin typeface="Calibri"/>
                <a:ea typeface="Calibri"/>
                <a:cs typeface="Calibri"/>
              </a:rPr>
              <a:t>Adjusted ORs (prior 1.80, lead 1.03/day, SMS 0.71); top-20% risk → 2.1× lift</a:t>
            </a:r>
            <a:endParaRPr sz="1060"/>
          </a:p>
        </p:txBody>
      </p:sp>
      <p:sp>
        <p:nvSpPr>
          <p:cNvPr id="33" name="Shape 31">
            <a:extLst xmlns:a="http://schemas.openxmlformats.org/drawingml/2006/main">
              <a:ext uri="{FF2B5EF4-FFF2-40B4-BE49-F238E27FC236}">
                <a16:creationId xmlns:a16="http://schemas.microsoft.com/office/drawing/2014/main" id="{58CE0668-540B-49F6-B9EC-AF58E04DA0DD}"/>
              </a:ext>
            </a:extLst>
          </p:cNvPr>
          <p:cNvSpPr>
            <a:spLocks xmlns:a="http://schemas.openxmlformats.org/drawingml/2006/main" noGrp="1"/>
          </p:cNvSpPr>
          <p:nvPr/>
        </p:nvSpPr>
        <p:spPr>
          <a:xfrm xmlns:a="http://schemas.openxmlformats.org/drawingml/2006/main">
            <a:off x="8147304" y="4169664"/>
            <a:ext cx="3685032" cy="2194560"/>
          </a:xfrm>
          <a:prstGeom xmlns:a="http://schemas.openxmlformats.org/drawingml/2006/main" prst="roundRect">
            <a:avLst>
              <a:gd name="adj" fmla="val 3750"/>
            </a:avLst>
          </a:prstGeom>
          <a:solidFill xmlns:a="http://schemas.openxmlformats.org/drawingml/2006/main">
            <a:srgbClr val="F3F8F9"/>
          </a:solidFill>
        </p:spPr>
      </p:sp>
      <p:sp>
        <p:nvSpPr>
          <p:cNvPr id="34" name="Shape 32">
            <a:extLst xmlns:a="http://schemas.openxmlformats.org/drawingml/2006/main">
              <a:ext uri="{FF2B5EF4-FFF2-40B4-BE49-F238E27FC236}">
                <a16:creationId xmlns:a16="http://schemas.microsoft.com/office/drawing/2014/main" id="{2772B3F8-AF3F-4123-9F06-4E69CD3AF4B5}"/>
              </a:ext>
            </a:extLst>
          </p:cNvPr>
          <p:cNvSpPr>
            <a:spLocks xmlns:a="http://schemas.openxmlformats.org/drawingml/2006/main" noGrp="1"/>
          </p:cNvSpPr>
          <p:nvPr/>
        </p:nvSpPr>
        <p:spPr>
          <a:xfrm xmlns:a="http://schemas.openxmlformats.org/drawingml/2006/main">
            <a:off x="8330184" y="4352544"/>
            <a:ext cx="960120" cy="310896"/>
          </a:xfrm>
          <a:prstGeom xmlns:a="http://schemas.openxmlformats.org/drawingml/2006/main" prst="roundRect">
            <a:avLst>
              <a:gd name="adj" fmla="val 50000"/>
            </a:avLst>
          </a:prstGeom>
          <a:solidFill xmlns:a="http://schemas.openxmlformats.org/drawingml/2006/main">
            <a:srgbClr val="0B3140"/>
          </a:solidFill>
        </p:spPr>
      </p:sp>
      <p:sp>
        <p:nvSpPr>
          <p:cNvPr id="35" name="Text 33">
            <a:extLst xmlns:a="http://schemas.openxmlformats.org/drawingml/2006/main">
              <a:ext uri="{FF2B5EF4-FFF2-40B4-BE49-F238E27FC236}">
                <a16:creationId xmlns:a16="http://schemas.microsoft.com/office/drawing/2014/main" id="{DA6AF8D3-1610-4EC1-A9A8-B61BCEF77159}"/>
              </a:ext>
            </a:extLst>
          </p:cNvPr>
          <p:cNvSpPr>
            <a:spLocks xmlns:a="http://schemas.openxmlformats.org/drawingml/2006/main" noGrp="1"/>
          </p:cNvSpPr>
          <p:nvPr/>
        </p:nvSpPr>
        <p:spPr>
          <a:xfrm xmlns:a="http://schemas.openxmlformats.org/drawingml/2006/main">
            <a:off x="8330184" y="4352544"/>
            <a:ext cx="960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M7</a:t>
            </a:r>
            <a:endParaRPr sz="1050"/>
          </a:p>
        </p:txBody>
      </p:sp>
      <p:sp>
        <p:nvSpPr>
          <p:cNvPr id="36" name="Text 34">
            <a:extLst xmlns:a="http://schemas.openxmlformats.org/drawingml/2006/main">
              <a:ext uri="{FF2B5EF4-FFF2-40B4-BE49-F238E27FC236}">
                <a16:creationId xmlns:a16="http://schemas.microsoft.com/office/drawing/2014/main" id="{E4F543BC-CA86-44A4-8E8D-39802D4FE52C}"/>
              </a:ext>
            </a:extLst>
          </p:cNvPr>
          <p:cNvSpPr>
            <a:spLocks xmlns:a="http://schemas.openxmlformats.org/drawingml/2006/main" noGrp="1"/>
          </p:cNvSpPr>
          <p:nvPr/>
        </p:nvSpPr>
        <p:spPr>
          <a:xfrm xmlns:a="http://schemas.openxmlformats.org/drawingml/2006/main">
            <a:off x="9427464" y="4361688"/>
            <a:ext cx="22860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3140"/>
                </a:solidFill>
                <a:latin typeface="Cambria"/>
                <a:ea typeface="Cambria"/>
                <a:cs typeface="Cambria"/>
              </a:rPr>
              <a:t>Why trust it</a:t>
            </a:r>
            <a:endParaRPr sz="1300"/>
          </a:p>
        </p:txBody>
      </p:sp>
      <p:sp>
        <p:nvSpPr>
          <p:cNvPr id="37" name="Text 35">
            <a:extLst xmlns:a="http://schemas.openxmlformats.org/drawingml/2006/main">
              <a:ext uri="{FF2B5EF4-FFF2-40B4-BE49-F238E27FC236}">
                <a16:creationId xmlns:a16="http://schemas.microsoft.com/office/drawing/2014/main" id="{DBF10617-45D8-4A2C-BF31-9A282C4B9409}"/>
              </a:ext>
            </a:extLst>
          </p:cNvPr>
          <p:cNvSpPr>
            <a:spLocks xmlns:a="http://schemas.openxmlformats.org/drawingml/2006/main" noGrp="1"/>
          </p:cNvSpPr>
          <p:nvPr/>
        </p:nvSpPr>
        <p:spPr>
          <a:xfrm xmlns:a="http://schemas.openxmlformats.org/drawingml/2006/main">
            <a:off x="8366760" y="4828032"/>
            <a:ext cx="329184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60">
                <a:solidFill>
                  <a:srgbClr val="24313A"/>
                </a:solidFill>
                <a:latin typeface="Calibri"/>
                <a:ea typeface="Calibri"/>
                <a:cs typeface="Calibri"/>
              </a:rPr>
              <a:t>Seeded pipeline; bootstrap/permutation checks; cluster caveat declared</a:t>
            </a:r>
            <a:endParaRPr sz="1060"/>
          </a:p>
        </p:txBody>
      </p:sp>
    </p:spTree>
    <p:extLst>
      <p:ext uri="{BB962C8B-B14F-4D97-AF65-F5344CB8AC3E}">
        <p14:creationId xmlns:p14="http://schemas.microsoft.com/office/powerpoint/2010/main" val="630021417"/>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10BA4BD-2835-4CB9-BDA9-0243EA37F2AA}"/>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91D956CB-91AD-44A5-B27A-00996D00022C}"/>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79</a:t>
            </a:r>
            <a:endParaRPr sz="900"/>
          </a:p>
        </p:txBody>
      </p:sp>
      <p:sp>
        <p:nvSpPr>
          <p:cNvPr id="4" name="Shape 2">
            <a:extLst xmlns:a="http://schemas.openxmlformats.org/drawingml/2006/main">
              <a:ext uri="{FF2B5EF4-FFF2-40B4-BE49-F238E27FC236}">
                <a16:creationId xmlns:a16="http://schemas.microsoft.com/office/drawing/2014/main" id="{A101AB11-EE91-418A-ADAC-8773A6B59FF4}"/>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C0491CA7-98F6-4F4D-B1B1-D5C448F2AE3C}"/>
              </a:ext>
            </a:extLst>
          </p:cNvPr>
          <p:cNvSpPr>
            <a:spLocks xmlns:a="http://schemas.openxmlformats.org/drawingml/2006/main" noGrp="1"/>
          </p:cNvSpPr>
          <p:nvPr/>
        </p:nvSpPr>
        <p:spPr>
          <a:xfrm xmlns:a="http://schemas.openxmlformats.org/drawingml/2006/main">
            <a:off x="502920" y="384048"/>
            <a:ext cx="99121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CAPSTONE</a:t>
            </a:r>
            <a:endParaRPr sz="1050"/>
          </a:p>
        </p:txBody>
      </p:sp>
      <p:sp>
        <p:nvSpPr>
          <p:cNvPr id="6" name="Text 4">
            <a:extLst xmlns:a="http://schemas.openxmlformats.org/drawingml/2006/main">
              <a:ext uri="{FF2B5EF4-FFF2-40B4-BE49-F238E27FC236}">
                <a16:creationId xmlns:a16="http://schemas.microsoft.com/office/drawing/2014/main" id="{CFFE7123-C9FD-43D8-A2CC-7D29F6055D74}"/>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How the 40% is graded</a:t>
            </a:r>
            <a:endParaRPr sz="2800"/>
          </a:p>
        </p:txBody>
      </p:sp>
      <p:sp>
        <p:nvSpPr>
          <p:cNvPr id="7" name="Text 5">
            <a:extLst xmlns:a="http://schemas.openxmlformats.org/drawingml/2006/main">
              <a:ext uri="{FF2B5EF4-FFF2-40B4-BE49-F238E27FC236}">
                <a16:creationId xmlns:a16="http://schemas.microsoft.com/office/drawing/2014/main" id="{DE42949F-F809-4C1B-9AC2-FA42563B7E58}"/>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Rubric shared with participants before they start — no surprises</a:t>
            </a:r>
            <a:endParaRPr sz="1350"/>
          </a:p>
        </p:txBody>
      </p:sp>
      <p:graphicFrame>
        <p:nvGraphicFramePr>
          <p:cNvPr id="18" name="Table 0"/>
          <p:cNvGraphicFramePr/>
          <p:nvPr/>
        </p:nvGraphicFramePr>
        <p:xfrm>
          <a:off xmlns:a="http://schemas.openxmlformats.org/drawingml/2006/main" x="502920" y="1837944"/>
          <a:ext xmlns:a="http://schemas.openxmlformats.org/drawingml/2006/main" cx="11201400" cy="914400"/>
        </p:xfrm>
        <a:graphic xmlns:a="http://schemas.openxmlformats.org/drawingml/2006/main">
          <a:graphicData uri="http://schemas.openxmlformats.org/drawingml/2006/table">
            <a:tbl>
              <a:tblPr/>
              <a:tblGrid>
                <a:gridCol w="3017520"/>
                <a:gridCol w="1005840"/>
                <a:gridCol w="7178040"/>
              </a:tblGrid>
              <a:tr h="621792">
                <a:tc>
                  <a:txBody>
                    <a:bodyPr/>
                    <a:lstStyle/>
                    <a:p>
                      <a:pPr marL="0" indent="0">
                        <a:buNone/>
                      </a:pPr>
                      <a:r>
                        <a:rPr sz="1130" b="1">
                          <a:solidFill>
                            <a:srgbClr val="FFFFFF"/>
                          </a:solidFill>
                          <a:latin typeface="Calibri"/>
                          <a:ea typeface="Calibri"/>
                          <a:cs typeface="Calibri"/>
                        </a:rPr>
                        <a:t>Criterion</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30" b="1">
                          <a:solidFill>
                            <a:srgbClr val="FFFFFF"/>
                          </a:solidFill>
                          <a:latin typeface="Calibri"/>
                          <a:ea typeface="Calibri"/>
                          <a:cs typeface="Calibri"/>
                        </a:rPr>
                        <a:t>Weight</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c>
                  <a:txBody>
                    <a:bodyPr/>
                    <a:lstStyle/>
                    <a:p>
                      <a:pPr marL="0" indent="0">
                        <a:buNone/>
                      </a:pPr>
                      <a:r>
                        <a:rPr sz="1130" b="1">
                          <a:solidFill>
                            <a:srgbClr val="FFFFFF"/>
                          </a:solidFill>
                          <a:latin typeface="Calibri"/>
                          <a:ea typeface="Calibri"/>
                          <a:cs typeface="Calibri"/>
                        </a:rPr>
                        <a:t>Full marks looks like</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solidFill>
                      <a:srgbClr val="0B3140"/>
                    </a:solidFill>
                  </a:tcPr>
                </a:tc>
              </a:tr>
              <a:tr h="621792">
                <a:tc>
                  <a:txBody>
                    <a:bodyPr/>
                    <a:lstStyle/>
                    <a:p>
                      <a:pPr marL="0" indent="0">
                        <a:buNone/>
                      </a:pPr>
                      <a:r>
                        <a:rPr sz="1130">
                          <a:solidFill>
                            <a:srgbClr val="24313A"/>
                          </a:solidFill>
                          <a:latin typeface="Calibri"/>
                          <a:ea typeface="Calibri"/>
                          <a:cs typeface="Calibri"/>
                        </a:rPr>
                        <a:t>Statistical correctness</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30%</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Right methods, right execution: Wilson CIs, correct test, adjusted comparison, seeded simulations</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621792">
                <a:tc>
                  <a:txBody>
                    <a:bodyPr/>
                    <a:lstStyle/>
                    <a:p>
                      <a:pPr marL="0" indent="0">
                        <a:buNone/>
                      </a:pPr>
                      <a:r>
                        <a:rPr sz="1130" b="1">
                          <a:solidFill>
                            <a:srgbClr val="24313A"/>
                          </a:solidFill>
                          <a:latin typeface="Calibri"/>
                          <a:ea typeface="Calibri"/>
                          <a:cs typeface="Calibri"/>
                        </a:rPr>
                        <a:t>Causal reasoning &amp; reconciliation</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b="1">
                          <a:solidFill>
                            <a:srgbClr val="0A5C64"/>
                          </a:solidFill>
                          <a:latin typeface="Calibri"/>
                          <a:ea typeface="Calibri"/>
                          <a:cs typeface="Calibri"/>
                        </a:rPr>
                        <a:t>25%</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Names the confounder, shows the sign flip, weighs pilot vs adjusted-observational evidence — the course's heart</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621792">
                <a:tc>
                  <a:txBody>
                    <a:bodyPr/>
                    <a:lstStyle/>
                    <a:p>
                      <a:pPr marL="0" indent="0">
                        <a:buNone/>
                      </a:pPr>
                      <a:r>
                        <a:rPr sz="1130">
                          <a:solidFill>
                            <a:srgbClr val="24313A"/>
                          </a:solidFill>
                          <a:latin typeface="Calibri"/>
                          <a:ea typeface="Calibri"/>
                          <a:cs typeface="Calibri"/>
                        </a:rPr>
                        <a:t>Decision communication</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20%</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One page a non-statistician could act on; every number carries uncertainty and operational meaning</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621792">
                <a:tc>
                  <a:txBody>
                    <a:bodyPr/>
                    <a:lstStyle/>
                    <a:p>
                      <a:pPr marL="0" indent="0">
                        <a:buNone/>
                      </a:pPr>
                      <a:r>
                        <a:rPr sz="1130">
                          <a:solidFill>
                            <a:srgbClr val="24313A"/>
                          </a:solidFill>
                          <a:latin typeface="Calibri"/>
                          <a:ea typeface="Calibri"/>
                          <a:cs typeface="Calibri"/>
                        </a:rPr>
                        <a:t>Reproducibility</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15%</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Restart-and-run-all clean; memo numbers traceable; environment declared</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r h="621792">
                <a:tc>
                  <a:txBody>
                    <a:bodyPr/>
                    <a:lstStyle/>
                    <a:p>
                      <a:pPr marL="0" indent="0">
                        <a:buNone/>
                      </a:pPr>
                      <a:r>
                        <a:rPr sz="1130">
                          <a:solidFill>
                            <a:srgbClr val="24313A"/>
                          </a:solidFill>
                          <a:latin typeface="Calibri"/>
                          <a:ea typeface="Calibri"/>
                          <a:cs typeface="Calibri"/>
                        </a:rPr>
                        <a:t>Limitations &amp; intellectual honesty</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10%</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c>
                  <a:txBody>
                    <a:bodyPr/>
                    <a:lstStyle/>
                    <a:p>
                      <a:pPr marL="0" indent="0">
                        <a:buNone/>
                      </a:pPr>
                      <a:r>
                        <a:rPr sz="1130">
                          <a:solidFill>
                            <a:srgbClr val="24313A"/>
                          </a:solidFill>
                          <a:latin typeface="Calibri"/>
                          <a:ea typeface="Calibri"/>
                          <a:cs typeface="Calibri"/>
                        </a:rPr>
                        <a:t>Clustering caveat, external validity of the pilot, what the data cannot say (Al-Jouf)</a:t>
                      </a:r>
                      <a:endParaRPr sz="1130">
                        <a:latin typeface="Calibri"/>
                        <a:ea typeface="Calibri"/>
                        <a:cs typeface="Calibri"/>
                      </a:endParaRPr>
                    </a:p>
                  </a:txBody>
                  <a:tcPr marL="91440" marR="91440" marT="45720" marB="45720" anchor="ctr">
                    <a:lnL w="9525" cmpd="sng">
                      <a:solidFill>
                        <a:srgbClr val="D6E2E4"/>
                      </a:solidFill>
                      <a:prstDash val="solid"/>
                    </a:lnL>
                    <a:lnR w="9525" cmpd="sng">
                      <a:solidFill>
                        <a:srgbClr val="D6E2E4"/>
                      </a:solidFill>
                      <a:prstDash val="solid"/>
                    </a:lnR>
                    <a:lnT w="9525" cmpd="sng">
                      <a:solidFill>
                        <a:srgbClr val="D6E2E4"/>
                      </a:solidFill>
                      <a:prstDash val="solid"/>
                    </a:lnT>
                    <a:lnB w="9525" cmpd="sng">
                      <a:solidFill>
                        <a:srgbClr val="D6E2E4"/>
                      </a:solidFill>
                      <a:prstDash val="solid"/>
                    </a:lnB>
                  </a:tcPr>
                </a:tc>
              </a:tr>
            </a:tbl>
          </a:graphicData>
        </a:graphic>
      </p:graphicFrame>
      <p:sp>
        <p:nvSpPr>
          <p:cNvPr id="9" name="Shape 6">
            <a:extLst xmlns:a="http://schemas.openxmlformats.org/drawingml/2006/main">
              <a:ext uri="{FF2B5EF4-FFF2-40B4-BE49-F238E27FC236}">
                <a16:creationId xmlns:a16="http://schemas.microsoft.com/office/drawing/2014/main" id="{4E05C15E-C07C-459D-B59E-A008DED17646}"/>
              </a:ext>
            </a:extLst>
          </p:cNvPr>
          <p:cNvSpPr>
            <a:spLocks xmlns:a="http://schemas.openxmlformats.org/drawingml/2006/main" noGrp="1"/>
          </p:cNvSpPr>
          <p:nvPr/>
        </p:nvSpPr>
        <p:spPr>
          <a:xfrm xmlns:a="http://schemas.openxmlformats.org/drawingml/2006/main">
            <a:off x="502920" y="5815584"/>
            <a:ext cx="11201400" cy="640080"/>
          </a:xfrm>
          <a:prstGeom xmlns:a="http://schemas.openxmlformats.org/drawingml/2006/main" prst="roundRect">
            <a:avLst>
              <a:gd name="adj" fmla="val 12857"/>
            </a:avLst>
          </a:prstGeom>
          <a:solidFill xmlns:a="http://schemas.openxmlformats.org/drawingml/2006/main">
            <a:srgbClr val="FBEEDD"/>
          </a:solidFill>
        </p:spPr>
      </p:sp>
      <p:sp>
        <p:nvSpPr>
          <p:cNvPr id="10" name="Text 7">
            <a:extLst xmlns:a="http://schemas.openxmlformats.org/drawingml/2006/main">
              <a:ext uri="{FF2B5EF4-FFF2-40B4-BE49-F238E27FC236}">
                <a16:creationId xmlns:a16="http://schemas.microsoft.com/office/drawing/2014/main" id="{26C6FE07-3193-4276-ADAD-5AFD6E904F7D}"/>
              </a:ext>
            </a:extLst>
          </p:cNvPr>
          <p:cNvSpPr>
            <a:spLocks xmlns:a="http://schemas.openxmlformats.org/drawingml/2006/main" noGrp="1"/>
          </p:cNvSpPr>
          <p:nvPr/>
        </p:nvSpPr>
        <p:spPr>
          <a:xfrm xmlns:a="http://schemas.openxmlformats.org/drawingml/2006/main">
            <a:off x="868680" y="5815584"/>
            <a:ext cx="10424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80" b="1">
                <a:solidFill>
                  <a:srgbClr val="C2660A"/>
                </a:solidFill>
                <a:latin typeface="Calibri"/>
                <a:ea typeface="Calibri"/>
                <a:cs typeface="Calibri"/>
              </a:rPr>
              <a:t>Automatic deductions:  </a:t>
            </a:r>
            <a:r>
              <a:rPr sz="1180">
                <a:solidFill>
                  <a:srgbClr val="24313A"/>
                </a:solidFill>
                <a:latin typeface="Calibri"/>
                <a:ea typeface="Calibri"/>
                <a:cs typeface="Calibri"/>
              </a:rPr>
              <a:t>a naked point estimate anywhere in the memo (−5%) · leakage features in the model (−10%) · non-reproducing notebook (−15%).</a:t>
            </a:r>
            <a:endParaRPr sz="1180"/>
          </a:p>
        </p:txBody>
      </p:sp>
    </p:spTree>
    <p:extLst>
      <p:ext uri="{BB962C8B-B14F-4D97-AF65-F5344CB8AC3E}">
        <p14:creationId xmlns:p14="http://schemas.microsoft.com/office/powerpoint/2010/main" val="2103740540"/>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7B02626-EAEA-4D3F-9A68-05905AB6E940}"/>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D03A8BFF-CFC7-49A4-8F7C-E7009CA34A9A}"/>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80</a:t>
            </a:r>
            <a:endParaRPr sz="900"/>
          </a:p>
        </p:txBody>
      </p:sp>
      <p:sp>
        <p:nvSpPr>
          <p:cNvPr id="4" name="Shape 2">
            <a:extLst xmlns:a="http://schemas.openxmlformats.org/drawingml/2006/main">
              <a:ext uri="{FF2B5EF4-FFF2-40B4-BE49-F238E27FC236}">
                <a16:creationId xmlns:a16="http://schemas.microsoft.com/office/drawing/2014/main" id="{B5B099F9-660B-4CBA-8C81-63869099F03C}"/>
              </a:ext>
            </a:extLst>
          </p:cNvPr>
          <p:cNvSpPr>
            <a:spLocks xmlns:a="http://schemas.openxmlformats.org/drawingml/2006/main" noGrp="1"/>
          </p:cNvSpPr>
          <p:nvPr/>
        </p:nvSpPr>
        <p:spPr>
          <a:xfrm xmlns:a="http://schemas.openxmlformats.org/drawingml/2006/main">
            <a:off x="502920" y="384048"/>
            <a:ext cx="1161288"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32739087-FC20-4386-9B72-E65EECBC4B0B}"/>
              </a:ext>
            </a:extLst>
          </p:cNvPr>
          <p:cNvSpPr>
            <a:spLocks xmlns:a="http://schemas.openxmlformats.org/drawingml/2006/main" noGrp="1"/>
          </p:cNvSpPr>
          <p:nvPr/>
        </p:nvSpPr>
        <p:spPr>
          <a:xfrm xmlns:a="http://schemas.openxmlformats.org/drawingml/2006/main">
            <a:off x="502920" y="384048"/>
            <a:ext cx="11612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ASSESSMENT</a:t>
            </a:r>
            <a:endParaRPr sz="1050"/>
          </a:p>
        </p:txBody>
      </p:sp>
      <p:sp>
        <p:nvSpPr>
          <p:cNvPr id="6" name="Text 4">
            <a:extLst xmlns:a="http://schemas.openxmlformats.org/drawingml/2006/main">
              <a:ext uri="{FF2B5EF4-FFF2-40B4-BE49-F238E27FC236}">
                <a16:creationId xmlns:a16="http://schemas.microsoft.com/office/drawing/2014/main" id="{A9A42627-797B-4D9D-9508-D2CC071BAEA7}"/>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Grading architecture and the Core Statistics badge</a:t>
            </a:r>
            <a:endParaRPr sz="2800"/>
          </a:p>
        </p:txBody>
      </p:sp>
      <p:sp>
        <p:nvSpPr>
          <p:cNvPr id="7" name="Shape 5">
            <a:extLst xmlns:a="http://schemas.openxmlformats.org/drawingml/2006/main">
              <a:ext uri="{FF2B5EF4-FFF2-40B4-BE49-F238E27FC236}">
                <a16:creationId xmlns:a16="http://schemas.microsoft.com/office/drawing/2014/main" id="{1AF5FE0D-37E4-4802-BC81-766CDF1033A7}"/>
              </a:ext>
            </a:extLst>
          </p:cNvPr>
          <p:cNvSpPr>
            <a:spLocks xmlns:a="http://schemas.openxmlformats.org/drawingml/2006/main" noGrp="1"/>
          </p:cNvSpPr>
          <p:nvPr/>
        </p:nvSpPr>
        <p:spPr>
          <a:xfrm xmlns:a="http://schemas.openxmlformats.org/drawingml/2006/main">
            <a:off x="502920" y="1563624"/>
            <a:ext cx="2724912" cy="2286000"/>
          </a:xfrm>
          <a:prstGeom xmlns:a="http://schemas.openxmlformats.org/drawingml/2006/main" prst="roundRect">
            <a:avLst>
              <a:gd name="adj" fmla="val 3600"/>
            </a:avLst>
          </a:prstGeom>
          <a:solidFill xmlns:a="http://schemas.openxmlformats.org/drawingml/2006/main">
            <a:srgbClr val="F3F8F9"/>
          </a:solidFill>
        </p:spPr>
      </p:sp>
      <p:sp>
        <p:nvSpPr>
          <p:cNvPr id="8" name="Text 6">
            <a:extLst xmlns:a="http://schemas.openxmlformats.org/drawingml/2006/main">
              <a:ext uri="{FF2B5EF4-FFF2-40B4-BE49-F238E27FC236}">
                <a16:creationId xmlns:a16="http://schemas.microsoft.com/office/drawing/2014/main" id="{78CEC2D7-072A-4090-8DAF-B6DA5A64F01C}"/>
              </a:ext>
            </a:extLst>
          </p:cNvPr>
          <p:cNvSpPr>
            <a:spLocks xmlns:a="http://schemas.openxmlformats.org/drawingml/2006/main" noGrp="1"/>
          </p:cNvSpPr>
          <p:nvPr/>
        </p:nvSpPr>
        <p:spPr>
          <a:xfrm xmlns:a="http://schemas.openxmlformats.org/drawingml/2006/main">
            <a:off x="640080" y="1746504"/>
            <a:ext cx="245059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0E7C86"/>
                </a:solidFill>
                <a:latin typeface="Cambria"/>
                <a:ea typeface="Cambria"/>
                <a:cs typeface="Cambria"/>
              </a:rPr>
              <a:t>30%</a:t>
            </a:r>
            <a:endParaRPr sz="3400"/>
          </a:p>
        </p:txBody>
      </p:sp>
      <p:sp>
        <p:nvSpPr>
          <p:cNvPr id="9" name="Text 7">
            <a:extLst xmlns:a="http://schemas.openxmlformats.org/drawingml/2006/main">
              <a:ext uri="{FF2B5EF4-FFF2-40B4-BE49-F238E27FC236}">
                <a16:creationId xmlns:a16="http://schemas.microsoft.com/office/drawing/2014/main" id="{747AFB12-07FB-4D48-B8E2-1D2C0CC1F8A1}"/>
              </a:ext>
            </a:extLst>
          </p:cNvPr>
          <p:cNvSpPr>
            <a:spLocks xmlns:a="http://schemas.openxmlformats.org/drawingml/2006/main" noGrp="1"/>
          </p:cNvSpPr>
          <p:nvPr/>
        </p:nvSpPr>
        <p:spPr>
          <a:xfrm xmlns:a="http://schemas.openxmlformats.org/drawingml/2006/main">
            <a:off x="640080" y="2432304"/>
            <a:ext cx="245059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0B3140"/>
                </a:solidFill>
                <a:latin typeface="Cambria"/>
                <a:ea typeface="Cambria"/>
                <a:cs typeface="Cambria"/>
              </a:rPr>
              <a:t>7 labs</a:t>
            </a:r>
            <a:endParaRPr sz="1350"/>
          </a:p>
        </p:txBody>
      </p:sp>
      <p:sp>
        <p:nvSpPr>
          <p:cNvPr id="10" name="Text 8">
            <a:extLst xmlns:a="http://schemas.openxmlformats.org/drawingml/2006/main">
              <a:ext uri="{FF2B5EF4-FFF2-40B4-BE49-F238E27FC236}">
                <a16:creationId xmlns:a16="http://schemas.microsoft.com/office/drawing/2014/main" id="{E1175EEF-7FCE-4FF7-8136-16D88959994F}"/>
              </a:ext>
            </a:extLst>
          </p:cNvPr>
          <p:cNvSpPr>
            <a:spLocks xmlns:a="http://schemas.openxmlformats.org/drawingml/2006/main" noGrp="1"/>
          </p:cNvSpPr>
          <p:nvPr/>
        </p:nvSpPr>
        <p:spPr>
          <a:xfrm xmlns:a="http://schemas.openxmlformats.org/drawingml/2006/main">
            <a:off x="704088" y="2798064"/>
            <a:ext cx="23317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1030">
                <a:solidFill>
                  <a:srgbClr val="5B6B75"/>
                </a:solidFill>
                <a:latin typeface="Calibri"/>
                <a:ea typeface="Calibri"/>
                <a:cs typeface="Calibri"/>
              </a:rPr>
              <a:t>completion + checkpoint accuracy; lowest lab dropped</a:t>
            </a:r>
            <a:endParaRPr sz="1030"/>
          </a:p>
        </p:txBody>
      </p:sp>
      <p:sp>
        <p:nvSpPr>
          <p:cNvPr id="11" name="Shape 9">
            <a:extLst xmlns:a="http://schemas.openxmlformats.org/drawingml/2006/main">
              <a:ext uri="{FF2B5EF4-FFF2-40B4-BE49-F238E27FC236}">
                <a16:creationId xmlns:a16="http://schemas.microsoft.com/office/drawing/2014/main" id="{165EA753-A2EC-4B25-9769-3AEBF1B23CCB}"/>
              </a:ext>
            </a:extLst>
          </p:cNvPr>
          <p:cNvSpPr>
            <a:spLocks xmlns:a="http://schemas.openxmlformats.org/drawingml/2006/main" noGrp="1"/>
          </p:cNvSpPr>
          <p:nvPr/>
        </p:nvSpPr>
        <p:spPr>
          <a:xfrm xmlns:a="http://schemas.openxmlformats.org/drawingml/2006/main">
            <a:off x="3374136" y="1563624"/>
            <a:ext cx="2724912" cy="2286000"/>
          </a:xfrm>
          <a:prstGeom xmlns:a="http://schemas.openxmlformats.org/drawingml/2006/main" prst="roundRect">
            <a:avLst>
              <a:gd name="adj" fmla="val 3600"/>
            </a:avLst>
          </a:prstGeom>
          <a:solidFill xmlns:a="http://schemas.openxmlformats.org/drawingml/2006/main">
            <a:srgbClr val="F3F8F9"/>
          </a:solidFill>
        </p:spPr>
      </p:sp>
      <p:sp>
        <p:nvSpPr>
          <p:cNvPr id="12" name="Text 10">
            <a:extLst xmlns:a="http://schemas.openxmlformats.org/drawingml/2006/main">
              <a:ext uri="{FF2B5EF4-FFF2-40B4-BE49-F238E27FC236}">
                <a16:creationId xmlns:a16="http://schemas.microsoft.com/office/drawing/2014/main" id="{25B7E02B-C38A-41E2-AD52-AA3DD3A9A7D0}"/>
              </a:ext>
            </a:extLst>
          </p:cNvPr>
          <p:cNvSpPr>
            <a:spLocks xmlns:a="http://schemas.openxmlformats.org/drawingml/2006/main" noGrp="1"/>
          </p:cNvSpPr>
          <p:nvPr/>
        </p:nvSpPr>
        <p:spPr>
          <a:xfrm xmlns:a="http://schemas.openxmlformats.org/drawingml/2006/main">
            <a:off x="3511296" y="1746504"/>
            <a:ext cx="245059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0E7C86"/>
                </a:solidFill>
                <a:latin typeface="Cambria"/>
                <a:ea typeface="Cambria"/>
                <a:cs typeface="Cambria"/>
              </a:rPr>
              <a:t>20%</a:t>
            </a:r>
            <a:endParaRPr sz="3400"/>
          </a:p>
        </p:txBody>
      </p:sp>
      <p:sp>
        <p:nvSpPr>
          <p:cNvPr id="13" name="Text 11">
            <a:extLst xmlns:a="http://schemas.openxmlformats.org/drawingml/2006/main">
              <a:ext uri="{FF2B5EF4-FFF2-40B4-BE49-F238E27FC236}">
                <a16:creationId xmlns:a16="http://schemas.microsoft.com/office/drawing/2014/main" id="{FE6A67F8-436F-44DA-AB5D-4AF28EAA9943}"/>
              </a:ext>
            </a:extLst>
          </p:cNvPr>
          <p:cNvSpPr>
            <a:spLocks xmlns:a="http://schemas.openxmlformats.org/drawingml/2006/main" noGrp="1"/>
          </p:cNvSpPr>
          <p:nvPr/>
        </p:nvSpPr>
        <p:spPr>
          <a:xfrm xmlns:a="http://schemas.openxmlformats.org/drawingml/2006/main">
            <a:off x="3511296" y="2432304"/>
            <a:ext cx="245059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0B3140"/>
                </a:solidFill>
                <a:latin typeface="Cambria"/>
                <a:ea typeface="Cambria"/>
                <a:cs typeface="Cambria"/>
              </a:rPr>
              <a:t>2 practical assessments</a:t>
            </a:r>
            <a:endParaRPr sz="1350"/>
          </a:p>
        </p:txBody>
      </p:sp>
      <p:sp>
        <p:nvSpPr>
          <p:cNvPr id="14" name="Text 12">
            <a:extLst xmlns:a="http://schemas.openxmlformats.org/drawingml/2006/main">
              <a:ext uri="{FF2B5EF4-FFF2-40B4-BE49-F238E27FC236}">
                <a16:creationId xmlns:a16="http://schemas.microsoft.com/office/drawing/2014/main" id="{245280B2-AB96-4B4F-8C1A-6195C5351B1E}"/>
              </a:ext>
            </a:extLst>
          </p:cNvPr>
          <p:cNvSpPr>
            <a:spLocks xmlns:a="http://schemas.openxmlformats.org/drawingml/2006/main" noGrp="1"/>
          </p:cNvSpPr>
          <p:nvPr/>
        </p:nvSpPr>
        <p:spPr>
          <a:xfrm xmlns:a="http://schemas.openxmlformats.org/drawingml/2006/main">
            <a:off x="3575304" y="2798064"/>
            <a:ext cx="23317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1030">
                <a:solidFill>
                  <a:srgbClr val="5B6B75"/>
                </a:solidFill>
                <a:latin typeface="Calibri"/>
                <a:ea typeface="Calibri"/>
                <a:cs typeface="Calibri"/>
              </a:rPr>
              <a:t>end of Day 2 &amp; Day 3; fresh data subsets, same pipeline</a:t>
            </a:r>
            <a:endParaRPr sz="1030"/>
          </a:p>
        </p:txBody>
      </p:sp>
      <p:sp>
        <p:nvSpPr>
          <p:cNvPr id="15" name="Shape 13">
            <a:extLst xmlns:a="http://schemas.openxmlformats.org/drawingml/2006/main">
              <a:ext uri="{FF2B5EF4-FFF2-40B4-BE49-F238E27FC236}">
                <a16:creationId xmlns:a16="http://schemas.microsoft.com/office/drawing/2014/main" id="{45D6C771-3F29-43A3-BBFA-4B9294725902}"/>
              </a:ext>
            </a:extLst>
          </p:cNvPr>
          <p:cNvSpPr>
            <a:spLocks xmlns:a="http://schemas.openxmlformats.org/drawingml/2006/main" noGrp="1"/>
          </p:cNvSpPr>
          <p:nvPr/>
        </p:nvSpPr>
        <p:spPr>
          <a:xfrm xmlns:a="http://schemas.openxmlformats.org/drawingml/2006/main">
            <a:off x="6245352" y="1563624"/>
            <a:ext cx="2724912" cy="2286000"/>
          </a:xfrm>
          <a:prstGeom xmlns:a="http://schemas.openxmlformats.org/drawingml/2006/main" prst="roundRect">
            <a:avLst>
              <a:gd name="adj" fmla="val 3600"/>
            </a:avLst>
          </a:prstGeom>
          <a:solidFill xmlns:a="http://schemas.openxmlformats.org/drawingml/2006/main">
            <a:srgbClr val="F3F8F9"/>
          </a:solidFill>
        </p:spPr>
      </p:sp>
      <p:sp>
        <p:nvSpPr>
          <p:cNvPr id="16" name="Text 14">
            <a:extLst xmlns:a="http://schemas.openxmlformats.org/drawingml/2006/main">
              <a:ext uri="{FF2B5EF4-FFF2-40B4-BE49-F238E27FC236}">
                <a16:creationId xmlns:a16="http://schemas.microsoft.com/office/drawing/2014/main" id="{EB7DEC6F-79E1-46DE-AFCE-3D8EF2C4EE1C}"/>
              </a:ext>
            </a:extLst>
          </p:cNvPr>
          <p:cNvSpPr>
            <a:spLocks xmlns:a="http://schemas.openxmlformats.org/drawingml/2006/main" noGrp="1"/>
          </p:cNvSpPr>
          <p:nvPr/>
        </p:nvSpPr>
        <p:spPr>
          <a:xfrm xmlns:a="http://schemas.openxmlformats.org/drawingml/2006/main">
            <a:off x="6382512" y="1746504"/>
            <a:ext cx="245059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0E7C86"/>
                </a:solidFill>
                <a:latin typeface="Cambria"/>
                <a:ea typeface="Cambria"/>
                <a:cs typeface="Cambria"/>
              </a:rPr>
              <a:t>10%</a:t>
            </a:r>
            <a:endParaRPr sz="3400"/>
          </a:p>
        </p:txBody>
      </p:sp>
      <p:sp>
        <p:nvSpPr>
          <p:cNvPr id="17" name="Text 15">
            <a:extLst xmlns:a="http://schemas.openxmlformats.org/drawingml/2006/main">
              <a:ext uri="{FF2B5EF4-FFF2-40B4-BE49-F238E27FC236}">
                <a16:creationId xmlns:a16="http://schemas.microsoft.com/office/drawing/2014/main" id="{5CE2BA11-03FA-4E17-A40B-67A40B6D744C}"/>
              </a:ext>
            </a:extLst>
          </p:cNvPr>
          <p:cNvSpPr>
            <a:spLocks xmlns:a="http://schemas.openxmlformats.org/drawingml/2006/main" noGrp="1"/>
          </p:cNvSpPr>
          <p:nvPr/>
        </p:nvSpPr>
        <p:spPr>
          <a:xfrm xmlns:a="http://schemas.openxmlformats.org/drawingml/2006/main">
            <a:off x="6382512" y="2432304"/>
            <a:ext cx="245059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0B3140"/>
                </a:solidFill>
                <a:latin typeface="Cambria"/>
                <a:ea typeface="Cambria"/>
                <a:cs typeface="Cambria"/>
              </a:rPr>
              <a:t>concept quiz</a:t>
            </a:r>
            <a:endParaRPr sz="1350"/>
          </a:p>
        </p:txBody>
      </p:sp>
      <p:sp>
        <p:nvSpPr>
          <p:cNvPr id="18" name="Text 16">
            <a:extLst xmlns:a="http://schemas.openxmlformats.org/drawingml/2006/main">
              <a:ext uri="{FF2B5EF4-FFF2-40B4-BE49-F238E27FC236}">
                <a16:creationId xmlns:a16="http://schemas.microsoft.com/office/drawing/2014/main" id="{677037C4-7B8A-4050-9DEF-9533383A210C}"/>
              </a:ext>
            </a:extLst>
          </p:cNvPr>
          <p:cNvSpPr>
            <a:spLocks xmlns:a="http://schemas.openxmlformats.org/drawingml/2006/main" noGrp="1"/>
          </p:cNvSpPr>
          <p:nvPr/>
        </p:nvSpPr>
        <p:spPr>
          <a:xfrm xmlns:a="http://schemas.openxmlformats.org/drawingml/2006/main">
            <a:off x="6446520" y="2798064"/>
            <a:ext cx="23317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1030">
                <a:solidFill>
                  <a:srgbClr val="5B6B75"/>
                </a:solidFill>
                <a:latin typeface="Calibri"/>
                <a:ea typeface="Calibri"/>
                <a:cs typeface="Calibri"/>
              </a:rPr>
              <a:t>Day 4 morning; targets the misreadings, not formulas</a:t>
            </a:r>
            <a:endParaRPr sz="1030"/>
          </a:p>
        </p:txBody>
      </p:sp>
      <p:sp>
        <p:nvSpPr>
          <p:cNvPr id="19" name="Shape 17">
            <a:extLst xmlns:a="http://schemas.openxmlformats.org/drawingml/2006/main">
              <a:ext uri="{FF2B5EF4-FFF2-40B4-BE49-F238E27FC236}">
                <a16:creationId xmlns:a16="http://schemas.microsoft.com/office/drawing/2014/main" id="{9A5CC6EE-C3CC-411F-AC61-96A756DC8F2B}"/>
              </a:ext>
            </a:extLst>
          </p:cNvPr>
          <p:cNvSpPr>
            <a:spLocks xmlns:a="http://schemas.openxmlformats.org/drawingml/2006/main" noGrp="1"/>
          </p:cNvSpPr>
          <p:nvPr/>
        </p:nvSpPr>
        <p:spPr>
          <a:xfrm xmlns:a="http://schemas.openxmlformats.org/drawingml/2006/main">
            <a:off x="9116568" y="1563624"/>
            <a:ext cx="2724912" cy="2286000"/>
          </a:xfrm>
          <a:prstGeom xmlns:a="http://schemas.openxmlformats.org/drawingml/2006/main" prst="roundRect">
            <a:avLst>
              <a:gd name="adj" fmla="val 3600"/>
            </a:avLst>
          </a:prstGeom>
          <a:solidFill xmlns:a="http://schemas.openxmlformats.org/drawingml/2006/main">
            <a:srgbClr val="F3F8F9"/>
          </a:solidFill>
        </p:spPr>
      </p:sp>
      <p:sp>
        <p:nvSpPr>
          <p:cNvPr id="20" name="Text 18">
            <a:extLst xmlns:a="http://schemas.openxmlformats.org/drawingml/2006/main">
              <a:ext uri="{FF2B5EF4-FFF2-40B4-BE49-F238E27FC236}">
                <a16:creationId xmlns:a16="http://schemas.microsoft.com/office/drawing/2014/main" id="{C83737C1-019B-4C93-9148-89002291E807}"/>
              </a:ext>
            </a:extLst>
          </p:cNvPr>
          <p:cNvSpPr>
            <a:spLocks xmlns:a="http://schemas.openxmlformats.org/drawingml/2006/main" noGrp="1"/>
          </p:cNvSpPr>
          <p:nvPr/>
        </p:nvSpPr>
        <p:spPr>
          <a:xfrm xmlns:a="http://schemas.openxmlformats.org/drawingml/2006/main">
            <a:off x="9253728" y="1746504"/>
            <a:ext cx="245059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0B3140"/>
                </a:solidFill>
                <a:latin typeface="Cambria"/>
                <a:ea typeface="Cambria"/>
                <a:cs typeface="Cambria"/>
              </a:rPr>
              <a:t>40%</a:t>
            </a:r>
            <a:endParaRPr sz="3400"/>
          </a:p>
        </p:txBody>
      </p:sp>
      <p:sp>
        <p:nvSpPr>
          <p:cNvPr id="21" name="Text 19">
            <a:extLst xmlns:a="http://schemas.openxmlformats.org/drawingml/2006/main">
              <a:ext uri="{FF2B5EF4-FFF2-40B4-BE49-F238E27FC236}">
                <a16:creationId xmlns:a16="http://schemas.microsoft.com/office/drawing/2014/main" id="{2D8885BC-853E-4F16-9043-37F44C04C31E}"/>
              </a:ext>
            </a:extLst>
          </p:cNvPr>
          <p:cNvSpPr>
            <a:spLocks xmlns:a="http://schemas.openxmlformats.org/drawingml/2006/main" noGrp="1"/>
          </p:cNvSpPr>
          <p:nvPr/>
        </p:nvSpPr>
        <p:spPr>
          <a:xfrm xmlns:a="http://schemas.openxmlformats.org/drawingml/2006/main">
            <a:off x="9253728" y="2432304"/>
            <a:ext cx="245059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0B3140"/>
                </a:solidFill>
                <a:latin typeface="Cambria"/>
                <a:ea typeface="Cambria"/>
                <a:cs typeface="Cambria"/>
              </a:rPr>
              <a:t>capstone</a:t>
            </a:r>
            <a:endParaRPr sz="1350"/>
          </a:p>
        </p:txBody>
      </p:sp>
      <p:sp>
        <p:nvSpPr>
          <p:cNvPr id="22" name="Text 20">
            <a:extLst xmlns:a="http://schemas.openxmlformats.org/drawingml/2006/main">
              <a:ext uri="{FF2B5EF4-FFF2-40B4-BE49-F238E27FC236}">
                <a16:creationId xmlns:a16="http://schemas.microsoft.com/office/drawing/2014/main" id="{10D84463-643B-4868-923F-A67D0CD3691F}"/>
              </a:ext>
            </a:extLst>
          </p:cNvPr>
          <p:cNvSpPr>
            <a:spLocks xmlns:a="http://schemas.openxmlformats.org/drawingml/2006/main" noGrp="1"/>
          </p:cNvSpPr>
          <p:nvPr/>
        </p:nvSpPr>
        <p:spPr>
          <a:xfrm xmlns:a="http://schemas.openxmlformats.org/drawingml/2006/main">
            <a:off x="9317736" y="2798064"/>
            <a:ext cx="23317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1030">
                <a:solidFill>
                  <a:srgbClr val="5B6B75"/>
                </a:solidFill>
                <a:latin typeface="Calibri"/>
                <a:ea typeface="Calibri"/>
                <a:cs typeface="Calibri"/>
              </a:rPr>
              <a:t>memo + notebook + defence, rubric on previous slide</a:t>
            </a:r>
            <a:endParaRPr sz="1030"/>
          </a:p>
        </p:txBody>
      </p:sp>
      <p:sp>
        <p:nvSpPr>
          <p:cNvPr id="23" name="Shape 21">
            <a:extLst xmlns:a="http://schemas.openxmlformats.org/drawingml/2006/main">
              <a:ext uri="{FF2B5EF4-FFF2-40B4-BE49-F238E27FC236}">
                <a16:creationId xmlns:a16="http://schemas.microsoft.com/office/drawing/2014/main" id="{6D75BE74-CDBC-4F12-A51B-841781D55F19}"/>
              </a:ext>
            </a:extLst>
          </p:cNvPr>
          <p:cNvSpPr>
            <a:spLocks xmlns:a="http://schemas.openxmlformats.org/drawingml/2006/main" noGrp="1"/>
          </p:cNvSpPr>
          <p:nvPr/>
        </p:nvSpPr>
        <p:spPr>
          <a:xfrm xmlns:a="http://schemas.openxmlformats.org/drawingml/2006/main">
            <a:off x="502920" y="4078224"/>
            <a:ext cx="11201400" cy="2011680"/>
          </a:xfrm>
          <a:prstGeom xmlns:a="http://schemas.openxmlformats.org/drawingml/2006/main" prst="roundRect">
            <a:avLst>
              <a:gd name="adj" fmla="val 4091"/>
            </a:avLst>
          </a:prstGeom>
          <a:solidFill xmlns:a="http://schemas.openxmlformats.org/drawingml/2006/main">
            <a:srgbClr val="0B3140"/>
          </a:solidFill>
        </p:spPr>
      </p:sp>
      <p:sp>
        <p:nvSpPr>
          <p:cNvPr id="24" name="Shape 22">
            <a:extLst xmlns:a="http://schemas.openxmlformats.org/drawingml/2006/main">
              <a:ext uri="{FF2B5EF4-FFF2-40B4-BE49-F238E27FC236}">
                <a16:creationId xmlns:a16="http://schemas.microsoft.com/office/drawing/2014/main" id="{14C69D42-8E98-4765-9F94-2917FB014D33}"/>
              </a:ext>
            </a:extLst>
          </p:cNvPr>
          <p:cNvSpPr>
            <a:spLocks xmlns:a="http://schemas.openxmlformats.org/drawingml/2006/main" noGrp="1"/>
          </p:cNvSpPr>
          <p:nvPr/>
        </p:nvSpPr>
        <p:spPr>
          <a:xfrm xmlns:a="http://schemas.openxmlformats.org/drawingml/2006/main">
            <a:off x="868680" y="4443984"/>
            <a:ext cx="658368" cy="658368"/>
          </a:xfrm>
          <a:prstGeom xmlns:a="http://schemas.openxmlformats.org/drawingml/2006/main" prst="ellipse">
            <a:avLst/>
          </a:prstGeom>
          <a:solidFill xmlns:a="http://schemas.openxmlformats.org/drawingml/2006/main">
            <a:srgbClr val="C2660A"/>
          </a:solidFill>
        </p:spPr>
      </p:sp>
      <p:pic>
        <p:nvPicPr>
          <p:cNvPr id="52" name="Image 0"/>
          <p:cNvPicPr>
            <a:picLocks xmlns:a="http://schemas.openxmlformats.org/drawingml/2006/main" noChangeAspect="1"/>
          </p:cNvPicPr>
          <p:nvPr/>
        </p:nvPicPr>
        <p:blipFill>
          <a:blip xmlns:r="http://schemas.openxmlformats.org/officeDocument/2006/relationships" xmlns:a="http://schemas.openxmlformats.org/drawingml/2006/main" r:embed="R512c22be8638430e"/>
          <a:stretch xmlns:a="http://schemas.openxmlformats.org/drawingml/2006/main">
            <a:fillRect l="0" t="0" r="0" b="0"/>
          </a:stretch>
        </p:blipFill>
        <p:spPr>
          <a:xfrm xmlns:a="http://schemas.openxmlformats.org/drawingml/2006/main">
            <a:off x="1039856" y="4615160"/>
            <a:ext cx="316017" cy="316017"/>
          </a:xfrm>
          <a:prstGeom xmlns:a="http://schemas.openxmlformats.org/drawingml/2006/main" prst="rect">
            <a:avLst/>
          </a:prstGeom>
        </p:spPr>
      </p:pic>
      <p:sp>
        <p:nvSpPr>
          <p:cNvPr id="26" name="Text 23">
            <a:extLst xmlns:a="http://schemas.openxmlformats.org/drawingml/2006/main">
              <a:ext uri="{FF2B5EF4-FFF2-40B4-BE49-F238E27FC236}">
                <a16:creationId xmlns:a16="http://schemas.microsoft.com/office/drawing/2014/main" id="{6CAF4EE6-B476-4B82-A1E5-7BD2C45B15F0}"/>
              </a:ext>
            </a:extLst>
          </p:cNvPr>
          <p:cNvSpPr>
            <a:spLocks xmlns:a="http://schemas.openxmlformats.org/drawingml/2006/main" noGrp="1"/>
          </p:cNvSpPr>
          <p:nvPr/>
        </p:nvSpPr>
        <p:spPr>
          <a:xfrm xmlns:a="http://schemas.openxmlformats.org/drawingml/2006/main">
            <a:off x="1783080" y="4352544"/>
            <a:ext cx="9144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FFFFF"/>
                </a:solidFill>
                <a:latin typeface="Cambria"/>
                <a:ea typeface="Cambria"/>
                <a:cs typeface="Cambria"/>
              </a:rPr>
              <a:t>Core Statistics badge — awarded at ≥ 70 overall</a:t>
            </a:r>
            <a:endParaRPr sz="1700"/>
          </a:p>
        </p:txBody>
      </p:sp>
      <p:sp>
        <p:nvSpPr>
          <p:cNvPr id="27" name="Text 24">
            <a:extLst xmlns:a="http://schemas.openxmlformats.org/drawingml/2006/main">
              <a:ext uri="{FF2B5EF4-FFF2-40B4-BE49-F238E27FC236}">
                <a16:creationId xmlns:a16="http://schemas.microsoft.com/office/drawing/2014/main" id="{9F617809-CB60-4A67-8BE4-7AE6464F2988}"/>
              </a:ext>
            </a:extLst>
          </p:cNvPr>
          <p:cNvSpPr>
            <a:spLocks xmlns:a="http://schemas.openxmlformats.org/drawingml/2006/main" noGrp="1"/>
          </p:cNvSpPr>
          <p:nvPr/>
        </p:nvSpPr>
        <p:spPr>
          <a:xfrm xmlns:a="http://schemas.openxmlformats.org/drawingml/2006/main">
            <a:off x="1783080" y="4809744"/>
            <a:ext cx="941832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600"/>
              </a:spcAft>
              <a:buSzPct val="100000"/>
              <a:buChar char="•"/>
            </a:pPr>
            <a:r>
              <a:rPr sz="1200">
                <a:solidFill>
                  <a:srgbClr val="E8F1F2"/>
                </a:solidFill>
                <a:latin typeface="Calibri"/>
                <a:ea typeface="Calibri"/>
                <a:cs typeface="Calibri"/>
              </a:rPr>
              <a:t>Prerequisite credential for all Specialist-level Data Scientist modules</a:t>
            </a:r>
            <a:endParaRPr sz="1200"/>
          </a:p>
          <a:p xmlns:a="http://schemas.openxmlformats.org/drawingml/2006/main">
            <a:pPr marL="152400" indent="-152400">
              <a:lnSpc>
                <a:spcPct val="104000"/>
              </a:lnSpc>
              <a:spcAft>
                <a:spcPts val="600"/>
              </a:spcAft>
              <a:buSzPct val="100000"/>
              <a:buChar char="•"/>
            </a:pPr>
            <a:r>
              <a:rPr sz="1200">
                <a:solidFill>
                  <a:srgbClr val="E8F1F2"/>
                </a:solidFill>
                <a:latin typeface="Calibri"/>
                <a:ea typeface="Calibri"/>
                <a:cs typeface="Calibri"/>
              </a:rPr>
              <a:t>Recorded in the Academy's stackable-pathway transcript; re-attempt policy: one capstone resubmission within 2 weeks</a:t>
            </a:r>
            <a:endParaRPr sz="1200"/>
          </a:p>
        </p:txBody>
      </p:sp>
    </p:spTree>
    <p:extLst>
      <p:ext uri="{BB962C8B-B14F-4D97-AF65-F5344CB8AC3E}">
        <p14:creationId xmlns:p14="http://schemas.microsoft.com/office/powerpoint/2010/main" val="466820230"/>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5060ED9-9CEE-4826-866D-2EE542012030}"/>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3931EC9D-6983-48C4-9ECD-01EAA7C07F52}"/>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81</a:t>
            </a:r>
            <a:endParaRPr sz="900"/>
          </a:p>
        </p:txBody>
      </p:sp>
      <p:sp>
        <p:nvSpPr>
          <p:cNvPr id="4" name="Shape 2">
            <a:extLst xmlns:a="http://schemas.openxmlformats.org/drawingml/2006/main">
              <a:ext uri="{FF2B5EF4-FFF2-40B4-BE49-F238E27FC236}">
                <a16:creationId xmlns:a16="http://schemas.microsoft.com/office/drawing/2014/main" id="{F1E0050A-402D-48D3-96CD-C1EF9FE18DCA}"/>
              </a:ext>
            </a:extLst>
          </p:cNvPr>
          <p:cNvSpPr>
            <a:spLocks xmlns:a="http://schemas.openxmlformats.org/drawingml/2006/main" noGrp="1"/>
          </p:cNvSpPr>
          <p:nvPr/>
        </p:nvSpPr>
        <p:spPr>
          <a:xfrm xmlns:a="http://schemas.openxmlformats.org/drawingml/2006/main">
            <a:off x="502920" y="384048"/>
            <a:ext cx="90617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80853F20-E3C1-4AF5-A686-B86FCCAC500C}"/>
              </a:ext>
            </a:extLst>
          </p:cNvPr>
          <p:cNvSpPr>
            <a:spLocks xmlns:a="http://schemas.openxmlformats.org/drawingml/2006/main" noGrp="1"/>
          </p:cNvSpPr>
          <p:nvPr/>
        </p:nvSpPr>
        <p:spPr>
          <a:xfrm xmlns:a="http://schemas.openxmlformats.org/drawingml/2006/main">
            <a:off x="502920" y="384048"/>
            <a:ext cx="90617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WRAP-UP</a:t>
            </a:r>
            <a:endParaRPr sz="1050"/>
          </a:p>
        </p:txBody>
      </p:sp>
      <p:sp>
        <p:nvSpPr>
          <p:cNvPr id="6" name="Text 4">
            <a:extLst xmlns:a="http://schemas.openxmlformats.org/drawingml/2006/main">
              <a:ext uri="{FF2B5EF4-FFF2-40B4-BE49-F238E27FC236}">
                <a16:creationId xmlns:a16="http://schemas.microsoft.com/office/drawing/2014/main" id="{C265E8D5-2EF7-456A-8A0E-34BDFC99E1F1}"/>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What participants leave with — and where they go next</a:t>
            </a:r>
            <a:endParaRPr sz="2800"/>
          </a:p>
        </p:txBody>
      </p:sp>
      <p:sp>
        <p:nvSpPr>
          <p:cNvPr id="7" name="Shape 5">
            <a:extLst xmlns:a="http://schemas.openxmlformats.org/drawingml/2006/main">
              <a:ext uri="{FF2B5EF4-FFF2-40B4-BE49-F238E27FC236}">
                <a16:creationId xmlns:a16="http://schemas.microsoft.com/office/drawing/2014/main" id="{19852BD8-E03F-43B7-A25E-FD0A4A27E008}"/>
              </a:ext>
            </a:extLst>
          </p:cNvPr>
          <p:cNvSpPr>
            <a:spLocks xmlns:a="http://schemas.openxmlformats.org/drawingml/2006/main" noGrp="1"/>
          </p:cNvSpPr>
          <p:nvPr/>
        </p:nvSpPr>
        <p:spPr>
          <a:xfrm xmlns:a="http://schemas.openxmlformats.org/drawingml/2006/main">
            <a:off x="502920" y="1563624"/>
            <a:ext cx="5486400" cy="4526280"/>
          </a:xfrm>
          <a:prstGeom xmlns:a="http://schemas.openxmlformats.org/drawingml/2006/main" prst="roundRect">
            <a:avLst>
              <a:gd name="adj" fmla="val 1818"/>
            </a:avLst>
          </a:prstGeom>
          <a:solidFill xmlns:a="http://schemas.openxmlformats.org/drawingml/2006/main">
            <a:srgbClr val="F3F8F9"/>
          </a:solidFill>
        </p:spPr>
      </p:sp>
      <p:sp>
        <p:nvSpPr>
          <p:cNvPr id="8" name="Text 6">
            <a:extLst xmlns:a="http://schemas.openxmlformats.org/drawingml/2006/main">
              <a:ext uri="{FF2B5EF4-FFF2-40B4-BE49-F238E27FC236}">
                <a16:creationId xmlns:a16="http://schemas.microsoft.com/office/drawing/2014/main" id="{C334ABD8-FC60-4259-A408-CA65EB35D4C6}"/>
              </a:ext>
            </a:extLst>
          </p:cNvPr>
          <p:cNvSpPr>
            <a:spLocks xmlns:a="http://schemas.openxmlformats.org/drawingml/2006/main" noGrp="1"/>
          </p:cNvSpPr>
          <p:nvPr/>
        </p:nvSpPr>
        <p:spPr>
          <a:xfrm xmlns:a="http://schemas.openxmlformats.org/drawingml/2006/main">
            <a:off x="822960" y="1764792"/>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B3140"/>
                </a:solidFill>
                <a:latin typeface="Cambria"/>
                <a:ea typeface="Cambria"/>
                <a:cs typeface="Cambria"/>
              </a:rPr>
              <a:t>Seven durable habits</a:t>
            </a:r>
            <a:endParaRPr sz="1450"/>
          </a:p>
        </p:txBody>
      </p:sp>
      <p:sp>
        <p:nvSpPr>
          <p:cNvPr id="9" name="Text 7">
            <a:extLst xmlns:a="http://schemas.openxmlformats.org/drawingml/2006/main">
              <a:ext uri="{FF2B5EF4-FFF2-40B4-BE49-F238E27FC236}">
                <a16:creationId xmlns:a16="http://schemas.microsoft.com/office/drawing/2014/main" id="{F25D4313-7F37-428F-B714-0D9DCE28814B}"/>
              </a:ext>
            </a:extLst>
          </p:cNvPr>
          <p:cNvSpPr>
            <a:spLocks xmlns:a="http://schemas.openxmlformats.org/drawingml/2006/main" noGrp="1"/>
          </p:cNvSpPr>
          <p:nvPr/>
        </p:nvSpPr>
        <p:spPr>
          <a:xfrm xmlns:a="http://schemas.openxmlformats.org/drawingml/2006/main">
            <a:off x="822960" y="2203704"/>
            <a:ext cx="4937760" cy="3749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ct val="104000"/>
              </a:lnSpc>
              <a:spcAft>
                <a:spcPts val="700"/>
              </a:spcAft>
              <a:buSzPct val="100000"/>
              <a:buChar char="•"/>
            </a:pPr>
            <a:r>
              <a:rPr sz="1180">
                <a:solidFill>
                  <a:srgbClr val="24313A"/>
                </a:solidFill>
                <a:latin typeface="Calibri"/>
                <a:ea typeface="Calibri"/>
                <a:cs typeface="Calibri"/>
              </a:rPr>
              <a:t>Model the process before trusting the numbers (M1)</a:t>
            </a:r>
            <a:endParaRPr sz="1180"/>
          </a:p>
          <a:p xmlns:a="http://schemas.openxmlformats.org/drawingml/2006/main">
            <a:pPr marL="152400" indent="-152400">
              <a:lnSpc>
                <a:spcPct val="104000"/>
              </a:lnSpc>
              <a:spcAft>
                <a:spcPts val="700"/>
              </a:spcAft>
              <a:buSzPct val="100000"/>
              <a:buChar char="•"/>
            </a:pPr>
            <a:r>
              <a:rPr sz="1180">
                <a:solidFill>
                  <a:srgbClr val="24313A"/>
                </a:solidFill>
                <a:latin typeface="Calibri"/>
                <a:ea typeface="Calibri"/>
                <a:cs typeface="Calibri"/>
              </a:rPr>
              <a:t>Ask how data was sampled before asking what it says (M2)</a:t>
            </a:r>
            <a:endParaRPr sz="1180"/>
          </a:p>
          <a:p xmlns:a="http://schemas.openxmlformats.org/drawingml/2006/main">
            <a:pPr marL="152400" indent="-152400">
              <a:lnSpc>
                <a:spcPct val="104000"/>
              </a:lnSpc>
              <a:spcAft>
                <a:spcPts val="700"/>
              </a:spcAft>
              <a:buSzPct val="100000"/>
              <a:buChar char="•"/>
            </a:pPr>
            <a:r>
              <a:rPr sz="1180">
                <a:solidFill>
                  <a:srgbClr val="24313A"/>
                </a:solidFill>
                <a:latin typeface="Calibri"/>
                <a:ea typeface="Calibri"/>
                <a:cs typeface="Calibri"/>
              </a:rPr>
              <a:t>No estimate without its interval (M3)</a:t>
            </a:r>
            <a:endParaRPr sz="1180"/>
          </a:p>
          <a:p xmlns:a="http://schemas.openxmlformats.org/drawingml/2006/main">
            <a:pPr marL="152400" indent="-152400">
              <a:lnSpc>
                <a:spcPct val="104000"/>
              </a:lnSpc>
              <a:spcAft>
                <a:spcPts val="700"/>
              </a:spcAft>
              <a:buSzPct val="100000"/>
              <a:buChar char="•"/>
            </a:pPr>
            <a:r>
              <a:rPr sz="1180">
                <a:solidFill>
                  <a:srgbClr val="24313A"/>
                </a:solidFill>
                <a:latin typeface="Calibri"/>
                <a:ea typeface="Calibri"/>
                <a:cs typeface="Calibri"/>
              </a:rPr>
              <a:t>No p-value without its effect size (M4)</a:t>
            </a:r>
            <a:endParaRPr sz="1180"/>
          </a:p>
          <a:p xmlns:a="http://schemas.openxmlformats.org/drawingml/2006/main">
            <a:pPr marL="152400" indent="-152400">
              <a:lnSpc>
                <a:spcPct val="104000"/>
              </a:lnSpc>
              <a:spcAft>
                <a:spcPts val="700"/>
              </a:spcAft>
              <a:buSzPct val="100000"/>
              <a:buChar char="•"/>
            </a:pPr>
            <a:r>
              <a:rPr sz="1180">
                <a:solidFill>
                  <a:srgbClr val="24313A"/>
                </a:solidFill>
                <a:latin typeface="Calibri"/>
                <a:ea typeface="Calibri"/>
                <a:cs typeface="Calibri"/>
              </a:rPr>
              <a:t>No crude comparison without asking who's in each group (M5)</a:t>
            </a:r>
            <a:endParaRPr sz="1180"/>
          </a:p>
          <a:p xmlns:a="http://schemas.openxmlformats.org/drawingml/2006/main">
            <a:pPr marL="152400" indent="-152400">
              <a:lnSpc>
                <a:spcPct val="104000"/>
              </a:lnSpc>
              <a:spcAft>
                <a:spcPts val="700"/>
              </a:spcAft>
              <a:buSzPct val="100000"/>
              <a:buChar char="•"/>
            </a:pPr>
            <a:r>
              <a:rPr sz="1180">
                <a:solidFill>
                  <a:srgbClr val="24313A"/>
                </a:solidFill>
                <a:latin typeface="Calibri"/>
                <a:ea typeface="Calibri"/>
                <a:cs typeface="Calibri"/>
              </a:rPr>
              <a:t>Adjust with models; interpret with humility (M6)</a:t>
            </a:r>
            <a:endParaRPr sz="1180"/>
          </a:p>
          <a:p xmlns:a="http://schemas.openxmlformats.org/drawingml/2006/main">
            <a:pPr marL="152400" indent="-152400">
              <a:lnSpc>
                <a:spcPct val="104000"/>
              </a:lnSpc>
              <a:spcAft>
                <a:spcPts val="700"/>
              </a:spcAft>
              <a:buSzPct val="100000"/>
              <a:buChar char="•"/>
            </a:pPr>
            <a:r>
              <a:rPr sz="1180">
                <a:solidFill>
                  <a:srgbClr val="24313A"/>
                </a:solidFill>
                <a:latin typeface="Calibri"/>
                <a:ea typeface="Calibri"/>
                <a:cs typeface="Calibri"/>
              </a:rPr>
              <a:t>When in doubt, simulate — with a seed (M7)</a:t>
            </a:r>
            <a:endParaRPr sz="1180"/>
          </a:p>
        </p:txBody>
      </p:sp>
      <p:sp>
        <p:nvSpPr>
          <p:cNvPr id="10" name="Shape 8">
            <a:extLst xmlns:a="http://schemas.openxmlformats.org/drawingml/2006/main">
              <a:ext uri="{FF2B5EF4-FFF2-40B4-BE49-F238E27FC236}">
                <a16:creationId xmlns:a16="http://schemas.microsoft.com/office/drawing/2014/main" id="{570768D5-CA1E-4783-9051-C3A24976A259}"/>
              </a:ext>
            </a:extLst>
          </p:cNvPr>
          <p:cNvSpPr>
            <a:spLocks xmlns:a="http://schemas.openxmlformats.org/drawingml/2006/main" noGrp="1"/>
          </p:cNvSpPr>
          <p:nvPr/>
        </p:nvSpPr>
        <p:spPr>
          <a:xfrm xmlns:a="http://schemas.openxmlformats.org/drawingml/2006/main">
            <a:off x="6172200" y="1563624"/>
            <a:ext cx="5532120" cy="4526280"/>
          </a:xfrm>
          <a:prstGeom xmlns:a="http://schemas.openxmlformats.org/drawingml/2006/main" prst="roundRect">
            <a:avLst>
              <a:gd name="adj" fmla="val 1818"/>
            </a:avLst>
          </a:prstGeom>
          <a:solidFill xmlns:a="http://schemas.openxmlformats.org/drawingml/2006/main">
            <a:srgbClr val="0B3140"/>
          </a:solidFill>
        </p:spPr>
      </p:sp>
      <p:sp>
        <p:nvSpPr>
          <p:cNvPr id="11" name="Text 9">
            <a:extLst xmlns:a="http://schemas.openxmlformats.org/drawingml/2006/main">
              <a:ext uri="{FF2B5EF4-FFF2-40B4-BE49-F238E27FC236}">
                <a16:creationId xmlns:a16="http://schemas.microsoft.com/office/drawing/2014/main" id="{A0E6C9AA-82C3-431B-A938-E4E2B7E051CA}"/>
              </a:ext>
            </a:extLst>
          </p:cNvPr>
          <p:cNvSpPr>
            <a:spLocks xmlns:a="http://schemas.openxmlformats.org/drawingml/2006/main" noGrp="1"/>
          </p:cNvSpPr>
          <p:nvPr/>
        </p:nvSpPr>
        <p:spPr>
          <a:xfrm xmlns:a="http://schemas.openxmlformats.org/drawingml/2006/main">
            <a:off x="6492240" y="1764792"/>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FB3BC"/>
                </a:solidFill>
                <a:latin typeface="Calibri"/>
                <a:ea typeface="Calibri"/>
                <a:cs typeface="Calibri"/>
              </a:rPr>
              <a:t>THE PATHWAY CONTINUES</a:t>
            </a:r>
            <a:endParaRPr sz="1050"/>
          </a:p>
        </p:txBody>
      </p:sp>
      <p:sp>
        <p:nvSpPr>
          <p:cNvPr id="12" name="Shape 10">
            <a:extLst xmlns:a="http://schemas.openxmlformats.org/drawingml/2006/main">
              <a:ext uri="{FF2B5EF4-FFF2-40B4-BE49-F238E27FC236}">
                <a16:creationId xmlns:a16="http://schemas.microsoft.com/office/drawing/2014/main" id="{B41986A0-8106-48D8-A7D3-FB882DC23572}"/>
              </a:ext>
            </a:extLst>
          </p:cNvPr>
          <p:cNvSpPr>
            <a:spLocks xmlns:a="http://schemas.openxmlformats.org/drawingml/2006/main" noGrp="1"/>
          </p:cNvSpPr>
          <p:nvPr/>
        </p:nvSpPr>
        <p:spPr>
          <a:xfrm xmlns:a="http://schemas.openxmlformats.org/drawingml/2006/main">
            <a:off x="6492240" y="2203704"/>
            <a:ext cx="4892040" cy="841248"/>
          </a:xfrm>
          <a:prstGeom xmlns:a="http://schemas.openxmlformats.org/drawingml/2006/main" prst="roundRect">
            <a:avLst>
              <a:gd name="adj" fmla="val 9783"/>
            </a:avLst>
          </a:prstGeom>
          <a:solidFill xmlns:a="http://schemas.openxmlformats.org/drawingml/2006/main">
            <a:srgbClr val="123F52"/>
          </a:solidFill>
        </p:spPr>
      </p:sp>
      <p:sp>
        <p:nvSpPr>
          <p:cNvPr id="13" name="Text 11">
            <a:extLst xmlns:a="http://schemas.openxmlformats.org/drawingml/2006/main">
              <a:ext uri="{FF2B5EF4-FFF2-40B4-BE49-F238E27FC236}">
                <a16:creationId xmlns:a16="http://schemas.microsoft.com/office/drawing/2014/main" id="{4DA82BD7-4810-4952-BEBB-250D7FD5ED7D}"/>
              </a:ext>
            </a:extLst>
          </p:cNvPr>
          <p:cNvSpPr>
            <a:spLocks xmlns:a="http://schemas.openxmlformats.org/drawingml/2006/main" noGrp="1"/>
          </p:cNvSpPr>
          <p:nvPr/>
        </p:nvSpPr>
        <p:spPr>
          <a:xfrm xmlns:a="http://schemas.openxmlformats.org/drawingml/2006/main">
            <a:off x="6675120" y="2295144"/>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6FB3BC"/>
                </a:solidFill>
                <a:latin typeface="Courier New"/>
                <a:ea typeface="Courier New"/>
                <a:cs typeface="Courier New"/>
              </a:rPr>
              <a:t>SDA-DSC-112</a:t>
            </a:r>
            <a:endParaRPr sz="1100"/>
          </a:p>
        </p:txBody>
      </p:sp>
      <p:sp>
        <p:nvSpPr>
          <p:cNvPr id="14" name="Text 12">
            <a:extLst xmlns:a="http://schemas.openxmlformats.org/drawingml/2006/main">
              <a:ext uri="{FF2B5EF4-FFF2-40B4-BE49-F238E27FC236}">
                <a16:creationId xmlns:a16="http://schemas.microsoft.com/office/drawing/2014/main" id="{55186FC5-4035-4657-AC82-15B0182A1F1C}"/>
              </a:ext>
            </a:extLst>
          </p:cNvPr>
          <p:cNvSpPr>
            <a:spLocks xmlns:a="http://schemas.openxmlformats.org/drawingml/2006/main" noGrp="1"/>
          </p:cNvSpPr>
          <p:nvPr/>
        </p:nvSpPr>
        <p:spPr>
          <a:xfrm xmlns:a="http://schemas.openxmlformats.org/drawingml/2006/main">
            <a:off x="6675120" y="2551176"/>
            <a:ext cx="4572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FFFF"/>
                </a:solidFill>
                <a:latin typeface="Cambria"/>
                <a:ea typeface="Cambria"/>
                <a:cs typeface="Cambria"/>
              </a:rPr>
              <a:t>Machine Learning Foundations</a:t>
            </a:r>
            <a:endParaRPr sz="1200"/>
          </a:p>
        </p:txBody>
      </p:sp>
      <p:sp>
        <p:nvSpPr>
          <p:cNvPr id="15" name="Text 13">
            <a:extLst xmlns:a="http://schemas.openxmlformats.org/drawingml/2006/main">
              <a:ext uri="{FF2B5EF4-FFF2-40B4-BE49-F238E27FC236}">
                <a16:creationId xmlns:a16="http://schemas.microsoft.com/office/drawing/2014/main" id="{FD888784-2BE2-43F8-A775-0D8B2AC84A4B}"/>
              </a:ext>
            </a:extLst>
          </p:cNvPr>
          <p:cNvSpPr>
            <a:spLocks xmlns:a="http://schemas.openxmlformats.org/drawingml/2006/main" noGrp="1"/>
          </p:cNvSpPr>
          <p:nvPr/>
        </p:nvSpPr>
        <p:spPr>
          <a:xfrm xmlns:a="http://schemas.openxmlformats.org/drawingml/2006/main">
            <a:off x="8321040" y="2295144"/>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i="1">
                <a:solidFill>
                  <a:srgbClr val="AECBD1"/>
                </a:solidFill>
                <a:latin typeface="Calibri"/>
                <a:ea typeface="Calibri"/>
                <a:cs typeface="Calibri"/>
              </a:rPr>
              <a:t>the risk model, industrialised</a:t>
            </a:r>
            <a:endParaRPr sz="950"/>
          </a:p>
        </p:txBody>
      </p:sp>
      <p:sp>
        <p:nvSpPr>
          <p:cNvPr id="16" name="Shape 14">
            <a:extLst xmlns:a="http://schemas.openxmlformats.org/drawingml/2006/main">
              <a:ext uri="{FF2B5EF4-FFF2-40B4-BE49-F238E27FC236}">
                <a16:creationId xmlns:a16="http://schemas.microsoft.com/office/drawing/2014/main" id="{2DCC6DC1-D2F1-4DBA-8106-D23714D5A0B6}"/>
              </a:ext>
            </a:extLst>
          </p:cNvPr>
          <p:cNvSpPr>
            <a:spLocks xmlns:a="http://schemas.openxmlformats.org/drawingml/2006/main" noGrp="1"/>
          </p:cNvSpPr>
          <p:nvPr/>
        </p:nvSpPr>
        <p:spPr>
          <a:xfrm xmlns:a="http://schemas.openxmlformats.org/drawingml/2006/main">
            <a:off x="6492240" y="3136392"/>
            <a:ext cx="4892040" cy="841248"/>
          </a:xfrm>
          <a:prstGeom xmlns:a="http://schemas.openxmlformats.org/drawingml/2006/main" prst="roundRect">
            <a:avLst>
              <a:gd name="adj" fmla="val 9783"/>
            </a:avLst>
          </a:prstGeom>
          <a:solidFill xmlns:a="http://schemas.openxmlformats.org/drawingml/2006/main">
            <a:srgbClr val="123F52"/>
          </a:solidFill>
        </p:spPr>
      </p:sp>
      <p:sp>
        <p:nvSpPr>
          <p:cNvPr id="17" name="Text 15">
            <a:extLst xmlns:a="http://schemas.openxmlformats.org/drawingml/2006/main">
              <a:ext uri="{FF2B5EF4-FFF2-40B4-BE49-F238E27FC236}">
                <a16:creationId xmlns:a16="http://schemas.microsoft.com/office/drawing/2014/main" id="{6A0104F9-C57E-4589-BFA3-813CBB954BE8}"/>
              </a:ext>
            </a:extLst>
          </p:cNvPr>
          <p:cNvSpPr>
            <a:spLocks xmlns:a="http://schemas.openxmlformats.org/drawingml/2006/main" noGrp="1"/>
          </p:cNvSpPr>
          <p:nvPr/>
        </p:nvSpPr>
        <p:spPr>
          <a:xfrm xmlns:a="http://schemas.openxmlformats.org/drawingml/2006/main">
            <a:off x="6675120" y="3227832"/>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6FB3BC"/>
                </a:solidFill>
                <a:latin typeface="Courier New"/>
                <a:ea typeface="Courier New"/>
                <a:cs typeface="Courier New"/>
              </a:rPr>
              <a:t>SDA-DSC-211</a:t>
            </a:r>
            <a:endParaRPr sz="1100"/>
          </a:p>
        </p:txBody>
      </p:sp>
      <p:sp>
        <p:nvSpPr>
          <p:cNvPr id="18" name="Text 16">
            <a:extLst xmlns:a="http://schemas.openxmlformats.org/drawingml/2006/main">
              <a:ext uri="{FF2B5EF4-FFF2-40B4-BE49-F238E27FC236}">
                <a16:creationId xmlns:a16="http://schemas.microsoft.com/office/drawing/2014/main" id="{EBE4630D-E641-4763-9269-FE202B512F7F}"/>
              </a:ext>
            </a:extLst>
          </p:cNvPr>
          <p:cNvSpPr>
            <a:spLocks xmlns:a="http://schemas.openxmlformats.org/drawingml/2006/main" noGrp="1"/>
          </p:cNvSpPr>
          <p:nvPr/>
        </p:nvSpPr>
        <p:spPr>
          <a:xfrm xmlns:a="http://schemas.openxmlformats.org/drawingml/2006/main">
            <a:off x="6675120" y="3483864"/>
            <a:ext cx="4572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FFFF"/>
                </a:solidFill>
                <a:latin typeface="Cambria"/>
                <a:ea typeface="Cambria"/>
                <a:cs typeface="Cambria"/>
              </a:rPr>
              <a:t>Experimental Design &amp; Causal Inference</a:t>
            </a:r>
            <a:endParaRPr sz="1200"/>
          </a:p>
        </p:txBody>
      </p:sp>
      <p:sp>
        <p:nvSpPr>
          <p:cNvPr id="19" name="Text 17">
            <a:extLst xmlns:a="http://schemas.openxmlformats.org/drawingml/2006/main">
              <a:ext uri="{FF2B5EF4-FFF2-40B4-BE49-F238E27FC236}">
                <a16:creationId xmlns:a16="http://schemas.microsoft.com/office/drawing/2014/main" id="{D6E16CAF-1511-4DE2-816A-9D2FFD1AAEB4}"/>
              </a:ext>
            </a:extLst>
          </p:cNvPr>
          <p:cNvSpPr>
            <a:spLocks xmlns:a="http://schemas.openxmlformats.org/drawingml/2006/main" noGrp="1"/>
          </p:cNvSpPr>
          <p:nvPr/>
        </p:nvSpPr>
        <p:spPr>
          <a:xfrm xmlns:a="http://schemas.openxmlformats.org/drawingml/2006/main">
            <a:off x="8321040" y="322783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i="1">
                <a:solidFill>
                  <a:srgbClr val="AECBD1"/>
                </a:solidFill>
                <a:latin typeface="Calibri"/>
                <a:ea typeface="Calibri"/>
                <a:cs typeface="Calibri"/>
              </a:rPr>
              <a:t>beyond stratification: matching, DiD, IVs</a:t>
            </a:r>
            <a:endParaRPr sz="950"/>
          </a:p>
        </p:txBody>
      </p:sp>
      <p:sp>
        <p:nvSpPr>
          <p:cNvPr id="20" name="Shape 18">
            <a:extLst xmlns:a="http://schemas.openxmlformats.org/drawingml/2006/main">
              <a:ext uri="{FF2B5EF4-FFF2-40B4-BE49-F238E27FC236}">
                <a16:creationId xmlns:a16="http://schemas.microsoft.com/office/drawing/2014/main" id="{5316CBB3-2A33-4B8E-8D05-867C5061EF9A}"/>
              </a:ext>
            </a:extLst>
          </p:cNvPr>
          <p:cNvSpPr>
            <a:spLocks xmlns:a="http://schemas.openxmlformats.org/drawingml/2006/main" noGrp="1"/>
          </p:cNvSpPr>
          <p:nvPr/>
        </p:nvSpPr>
        <p:spPr>
          <a:xfrm xmlns:a="http://schemas.openxmlformats.org/drawingml/2006/main">
            <a:off x="6492240" y="4069080"/>
            <a:ext cx="4892040" cy="841248"/>
          </a:xfrm>
          <a:prstGeom xmlns:a="http://schemas.openxmlformats.org/drawingml/2006/main" prst="roundRect">
            <a:avLst>
              <a:gd name="adj" fmla="val 9783"/>
            </a:avLst>
          </a:prstGeom>
          <a:solidFill xmlns:a="http://schemas.openxmlformats.org/drawingml/2006/main">
            <a:srgbClr val="123F52"/>
          </a:solidFill>
        </p:spPr>
      </p:sp>
      <p:sp>
        <p:nvSpPr>
          <p:cNvPr id="21" name="Text 19">
            <a:extLst xmlns:a="http://schemas.openxmlformats.org/drawingml/2006/main">
              <a:ext uri="{FF2B5EF4-FFF2-40B4-BE49-F238E27FC236}">
                <a16:creationId xmlns:a16="http://schemas.microsoft.com/office/drawing/2014/main" id="{24176EFE-A796-4A5A-9701-446676834A52}"/>
              </a:ext>
            </a:extLst>
          </p:cNvPr>
          <p:cNvSpPr>
            <a:spLocks xmlns:a="http://schemas.openxmlformats.org/drawingml/2006/main" noGrp="1"/>
          </p:cNvSpPr>
          <p:nvPr/>
        </p:nvSpPr>
        <p:spPr>
          <a:xfrm xmlns:a="http://schemas.openxmlformats.org/drawingml/2006/main">
            <a:off x="6675120" y="4160520"/>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6FB3BC"/>
                </a:solidFill>
                <a:latin typeface="Courier New"/>
                <a:ea typeface="Courier New"/>
                <a:cs typeface="Courier New"/>
              </a:rPr>
              <a:t>SDA-DSC-213</a:t>
            </a:r>
            <a:endParaRPr sz="1100"/>
          </a:p>
        </p:txBody>
      </p:sp>
      <p:sp>
        <p:nvSpPr>
          <p:cNvPr id="22" name="Text 20">
            <a:extLst xmlns:a="http://schemas.openxmlformats.org/drawingml/2006/main">
              <a:ext uri="{FF2B5EF4-FFF2-40B4-BE49-F238E27FC236}">
                <a16:creationId xmlns:a16="http://schemas.microsoft.com/office/drawing/2014/main" id="{561D826A-2868-4A1A-A58B-7DB28B645131}"/>
              </a:ext>
            </a:extLst>
          </p:cNvPr>
          <p:cNvSpPr>
            <a:spLocks xmlns:a="http://schemas.openxmlformats.org/drawingml/2006/main" noGrp="1"/>
          </p:cNvSpPr>
          <p:nvPr/>
        </p:nvSpPr>
        <p:spPr>
          <a:xfrm xmlns:a="http://schemas.openxmlformats.org/drawingml/2006/main">
            <a:off x="6675120" y="4416552"/>
            <a:ext cx="4572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FFFF"/>
                </a:solidFill>
                <a:latin typeface="Cambria"/>
                <a:ea typeface="Cambria"/>
                <a:cs typeface="Cambria"/>
              </a:rPr>
              <a:t>Bayesian Methods</a:t>
            </a:r>
            <a:endParaRPr sz="1200"/>
          </a:p>
        </p:txBody>
      </p:sp>
      <p:sp>
        <p:nvSpPr>
          <p:cNvPr id="23" name="Text 21">
            <a:extLst xmlns:a="http://schemas.openxmlformats.org/drawingml/2006/main">
              <a:ext uri="{FF2B5EF4-FFF2-40B4-BE49-F238E27FC236}">
                <a16:creationId xmlns:a16="http://schemas.microsoft.com/office/drawing/2014/main" id="{A211C0D6-8AE8-471A-BE7A-1ADA61B2E5F2}"/>
              </a:ext>
            </a:extLst>
          </p:cNvPr>
          <p:cNvSpPr>
            <a:spLocks xmlns:a="http://schemas.openxmlformats.org/drawingml/2006/main" noGrp="1"/>
          </p:cNvSpPr>
          <p:nvPr/>
        </p:nvSpPr>
        <p:spPr>
          <a:xfrm xmlns:a="http://schemas.openxmlformats.org/drawingml/2006/main">
            <a:off x="8321040" y="4160520"/>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i="1">
                <a:solidFill>
                  <a:srgbClr val="AECBD1"/>
                </a:solidFill>
                <a:latin typeface="Calibri"/>
                <a:ea typeface="Calibri"/>
                <a:cs typeface="Calibri"/>
              </a:rPr>
              <a:t>the Day-1 Bayes seed, grown</a:t>
            </a:r>
            <a:endParaRPr sz="950"/>
          </a:p>
        </p:txBody>
      </p:sp>
      <p:sp>
        <p:nvSpPr>
          <p:cNvPr id="24" name="Shape 22">
            <a:extLst xmlns:a="http://schemas.openxmlformats.org/drawingml/2006/main">
              <a:ext uri="{FF2B5EF4-FFF2-40B4-BE49-F238E27FC236}">
                <a16:creationId xmlns:a16="http://schemas.microsoft.com/office/drawing/2014/main" id="{AC92409A-C8DF-4F74-9DF4-3305AD4C8ACA}"/>
              </a:ext>
            </a:extLst>
          </p:cNvPr>
          <p:cNvSpPr>
            <a:spLocks xmlns:a="http://schemas.openxmlformats.org/drawingml/2006/main" noGrp="1"/>
          </p:cNvSpPr>
          <p:nvPr/>
        </p:nvSpPr>
        <p:spPr>
          <a:xfrm xmlns:a="http://schemas.openxmlformats.org/drawingml/2006/main">
            <a:off x="6492240" y="5001768"/>
            <a:ext cx="4892040" cy="841248"/>
          </a:xfrm>
          <a:prstGeom xmlns:a="http://schemas.openxmlformats.org/drawingml/2006/main" prst="roundRect">
            <a:avLst>
              <a:gd name="adj" fmla="val 9783"/>
            </a:avLst>
          </a:prstGeom>
          <a:solidFill xmlns:a="http://schemas.openxmlformats.org/drawingml/2006/main">
            <a:srgbClr val="123F52"/>
          </a:solidFill>
        </p:spPr>
      </p:sp>
      <p:sp>
        <p:nvSpPr>
          <p:cNvPr id="25" name="Text 23">
            <a:extLst xmlns:a="http://schemas.openxmlformats.org/drawingml/2006/main">
              <a:ext uri="{FF2B5EF4-FFF2-40B4-BE49-F238E27FC236}">
                <a16:creationId xmlns:a16="http://schemas.microsoft.com/office/drawing/2014/main" id="{BE38AA99-91DA-429E-A9C3-B2EBDAC1DCEE}"/>
              </a:ext>
            </a:extLst>
          </p:cNvPr>
          <p:cNvSpPr>
            <a:spLocks xmlns:a="http://schemas.openxmlformats.org/drawingml/2006/main" noGrp="1"/>
          </p:cNvSpPr>
          <p:nvPr/>
        </p:nvSpPr>
        <p:spPr>
          <a:xfrm xmlns:a="http://schemas.openxmlformats.org/drawingml/2006/main">
            <a:off x="6675120" y="5093208"/>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6FB3BC"/>
                </a:solidFill>
                <a:latin typeface="Courier New"/>
                <a:ea typeface="Courier New"/>
                <a:cs typeface="Courier New"/>
              </a:rPr>
              <a:t>SDA-AIE-111</a:t>
            </a:r>
            <a:endParaRPr sz="1100"/>
          </a:p>
        </p:txBody>
      </p:sp>
      <p:sp>
        <p:nvSpPr>
          <p:cNvPr id="26" name="Text 24">
            <a:extLst xmlns:a="http://schemas.openxmlformats.org/drawingml/2006/main">
              <a:ext uri="{FF2B5EF4-FFF2-40B4-BE49-F238E27FC236}">
                <a16:creationId xmlns:a16="http://schemas.microsoft.com/office/drawing/2014/main" id="{553D18D9-C63E-4F9B-BFD1-0306D3B82598}"/>
              </a:ext>
            </a:extLst>
          </p:cNvPr>
          <p:cNvSpPr>
            <a:spLocks xmlns:a="http://schemas.openxmlformats.org/drawingml/2006/main" noGrp="1"/>
          </p:cNvSpPr>
          <p:nvPr/>
        </p:nvSpPr>
        <p:spPr>
          <a:xfrm xmlns:a="http://schemas.openxmlformats.org/drawingml/2006/main">
            <a:off x="6675120" y="5349240"/>
            <a:ext cx="4572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FFFF"/>
                </a:solidFill>
                <a:latin typeface="Cambria"/>
                <a:ea typeface="Cambria"/>
                <a:cs typeface="Cambria"/>
              </a:rPr>
              <a:t>AI Engineering Foundations</a:t>
            </a:r>
            <a:endParaRPr sz="1200"/>
          </a:p>
        </p:txBody>
      </p:sp>
      <p:sp>
        <p:nvSpPr>
          <p:cNvPr id="27" name="Text 25">
            <a:extLst xmlns:a="http://schemas.openxmlformats.org/drawingml/2006/main">
              <a:ext uri="{FF2B5EF4-FFF2-40B4-BE49-F238E27FC236}">
                <a16:creationId xmlns:a16="http://schemas.microsoft.com/office/drawing/2014/main" id="{1B8EDA76-F4F3-4BA5-B061-A3275B463FBC}"/>
              </a:ext>
            </a:extLst>
          </p:cNvPr>
          <p:cNvSpPr>
            <a:spLocks xmlns:a="http://schemas.openxmlformats.org/drawingml/2006/main" noGrp="1"/>
          </p:cNvSpPr>
          <p:nvPr/>
        </p:nvSpPr>
        <p:spPr>
          <a:xfrm xmlns:a="http://schemas.openxmlformats.org/drawingml/2006/main">
            <a:off x="8321040" y="5093208"/>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i="1">
                <a:solidFill>
                  <a:srgbClr val="AECBD1"/>
                </a:solidFill>
                <a:latin typeface="Calibri"/>
                <a:ea typeface="Calibri"/>
                <a:cs typeface="Calibri"/>
              </a:rPr>
              <a:t>for the deployment-curious</a:t>
            </a:r>
            <a:endParaRPr sz="950"/>
          </a:p>
        </p:txBody>
      </p:sp>
    </p:spTree>
    <p:extLst>
      <p:ext uri="{BB962C8B-B14F-4D97-AF65-F5344CB8AC3E}">
        <p14:creationId xmlns:p14="http://schemas.microsoft.com/office/powerpoint/2010/main" val="498742005"/>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0179D52-B6F4-41F8-88F5-DBD87E447A9A}"/>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C7DE6DB6-DD1D-4511-8FD0-2439F3867358}"/>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82</a:t>
            </a:r>
            <a:endParaRPr sz="900"/>
          </a:p>
        </p:txBody>
      </p:sp>
      <p:sp>
        <p:nvSpPr>
          <p:cNvPr id="4" name="Shape 2">
            <a:extLst xmlns:a="http://schemas.openxmlformats.org/drawingml/2006/main">
              <a:ext uri="{FF2B5EF4-FFF2-40B4-BE49-F238E27FC236}">
                <a16:creationId xmlns:a16="http://schemas.microsoft.com/office/drawing/2014/main" id="{988D8694-E73A-4850-87B5-483CE73FA8FC}"/>
              </a:ext>
            </a:extLst>
          </p:cNvPr>
          <p:cNvSpPr>
            <a:spLocks xmlns:a="http://schemas.openxmlformats.org/drawingml/2006/main" noGrp="1"/>
          </p:cNvSpPr>
          <p:nvPr/>
        </p:nvSpPr>
        <p:spPr>
          <a:xfrm xmlns:a="http://schemas.openxmlformats.org/drawingml/2006/main">
            <a:off x="502920" y="384048"/>
            <a:ext cx="201168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526D1A70-E9F0-4A73-B2E5-9E0BDDD81881}"/>
              </a:ext>
            </a:extLst>
          </p:cNvPr>
          <p:cNvSpPr>
            <a:spLocks xmlns:a="http://schemas.openxmlformats.org/drawingml/2006/main" noGrp="1"/>
          </p:cNvSpPr>
          <p:nvPr/>
        </p:nvSpPr>
        <p:spPr>
          <a:xfrm xmlns:a="http://schemas.openxmlformats.org/drawingml/2006/main">
            <a:off x="502920" y="384048"/>
            <a:ext cx="2011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INSTRUCTOR LOGISTICS</a:t>
            </a:r>
            <a:endParaRPr sz="1050"/>
          </a:p>
        </p:txBody>
      </p:sp>
      <p:sp>
        <p:nvSpPr>
          <p:cNvPr id="6" name="Text 4">
            <a:extLst xmlns:a="http://schemas.openxmlformats.org/drawingml/2006/main">
              <a:ext uri="{FF2B5EF4-FFF2-40B4-BE49-F238E27FC236}">
                <a16:creationId xmlns:a16="http://schemas.microsoft.com/office/drawing/2014/main" id="{29C92C24-15CA-4B21-8BB4-9E9001C8DA40}"/>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The Mawid data pack — everything ships together</a:t>
            </a:r>
            <a:endParaRPr sz="2800"/>
          </a:p>
        </p:txBody>
      </p:sp>
      <p:sp>
        <p:nvSpPr>
          <p:cNvPr id="7" name="Text 5">
            <a:extLst xmlns:a="http://schemas.openxmlformats.org/drawingml/2006/main">
              <a:ext uri="{FF2B5EF4-FFF2-40B4-BE49-F238E27FC236}">
                <a16:creationId xmlns:a16="http://schemas.microsoft.com/office/drawing/2014/main" id="{5CF66B8A-BDA0-4DB6-8970-ABCC247073AC}"/>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Distribute before Day 1; verify environments in the opening half-hour</a:t>
            </a:r>
            <a:endParaRPr sz="1350"/>
          </a:p>
        </p:txBody>
      </p:sp>
      <p:sp>
        <p:nvSpPr>
          <p:cNvPr id="8" name="Shape 6">
            <a:extLst xmlns:a="http://schemas.openxmlformats.org/drawingml/2006/main">
              <a:ext uri="{FF2B5EF4-FFF2-40B4-BE49-F238E27FC236}">
                <a16:creationId xmlns:a16="http://schemas.microsoft.com/office/drawing/2014/main" id="{FE1D730D-60FF-45FA-812C-5990E9E0EA2D}"/>
              </a:ext>
            </a:extLst>
          </p:cNvPr>
          <p:cNvSpPr>
            <a:spLocks xmlns:a="http://schemas.openxmlformats.org/drawingml/2006/main" noGrp="1"/>
          </p:cNvSpPr>
          <p:nvPr/>
        </p:nvSpPr>
        <p:spPr>
          <a:xfrm xmlns:a="http://schemas.openxmlformats.org/drawingml/2006/main">
            <a:off x="502920" y="1837944"/>
            <a:ext cx="11201400" cy="603504"/>
          </a:xfrm>
          <a:prstGeom xmlns:a="http://schemas.openxmlformats.org/drawingml/2006/main" prst="roundRect">
            <a:avLst>
              <a:gd name="adj" fmla="val 13636"/>
            </a:avLst>
          </a:prstGeom>
          <a:solidFill xmlns:a="http://schemas.openxmlformats.org/drawingml/2006/main">
            <a:srgbClr val="F3F8F9"/>
          </a:solidFill>
        </p:spPr>
      </p:sp>
      <p:sp>
        <p:nvSpPr>
          <p:cNvPr id="9" name="Text 7">
            <a:extLst xmlns:a="http://schemas.openxmlformats.org/drawingml/2006/main">
              <a:ext uri="{FF2B5EF4-FFF2-40B4-BE49-F238E27FC236}">
                <a16:creationId xmlns:a16="http://schemas.microsoft.com/office/drawing/2014/main" id="{6E65B7DD-75F5-4EFB-A34D-ACAB1345D783}"/>
              </a:ext>
            </a:extLst>
          </p:cNvPr>
          <p:cNvSpPr>
            <a:spLocks xmlns:a="http://schemas.openxmlformats.org/drawingml/2006/main" noGrp="1"/>
          </p:cNvSpPr>
          <p:nvPr/>
        </p:nvSpPr>
        <p:spPr>
          <a:xfrm xmlns:a="http://schemas.openxmlformats.org/drawingml/2006/main">
            <a:off x="777240" y="1911096"/>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A5C64"/>
                </a:solidFill>
                <a:latin typeface="Courier New"/>
                <a:ea typeface="Courier New"/>
                <a:cs typeface="Courier New"/>
              </a:rPr>
              <a:t>clinic_visits.csv</a:t>
            </a:r>
            <a:endParaRPr sz="1150"/>
          </a:p>
        </p:txBody>
      </p:sp>
      <p:sp>
        <p:nvSpPr>
          <p:cNvPr id="10" name="Text 8">
            <a:extLst xmlns:a="http://schemas.openxmlformats.org/drawingml/2006/main">
              <a:ext uri="{FF2B5EF4-FFF2-40B4-BE49-F238E27FC236}">
                <a16:creationId xmlns:a16="http://schemas.microsoft.com/office/drawing/2014/main" id="{FDA6CF46-CAD9-4B36-9A68-591E568ED99C}"/>
              </a:ext>
            </a:extLst>
          </p:cNvPr>
          <p:cNvSpPr>
            <a:spLocks xmlns:a="http://schemas.openxmlformats.org/drawingml/2006/main" noGrp="1"/>
          </p:cNvSpPr>
          <p:nvPr/>
        </p:nvSpPr>
        <p:spPr>
          <a:xfrm xmlns:a="http://schemas.openxmlformats.org/drawingml/2006/main">
            <a:off x="5074920" y="1911096"/>
            <a:ext cx="6446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80">
                <a:solidFill>
                  <a:srgbClr val="24313A"/>
                </a:solidFill>
                <a:latin typeface="Calibri"/>
                <a:ea typeface="Calibri"/>
                <a:cs typeface="Calibri"/>
              </a:rPr>
              <a:t>50,000 × 15 — the golden thread; includes ab_pilot flag for the randomized subset</a:t>
            </a:r>
            <a:endParaRPr sz="1080"/>
          </a:p>
        </p:txBody>
      </p:sp>
      <p:sp>
        <p:nvSpPr>
          <p:cNvPr id="11" name="Shape 9">
            <a:extLst xmlns:a="http://schemas.openxmlformats.org/drawingml/2006/main">
              <a:ext uri="{FF2B5EF4-FFF2-40B4-BE49-F238E27FC236}">
                <a16:creationId xmlns:a16="http://schemas.microsoft.com/office/drawing/2014/main" id="{7125CEB0-7FCB-4CF1-842A-DA99BC0E8057}"/>
              </a:ext>
            </a:extLst>
          </p:cNvPr>
          <p:cNvSpPr>
            <a:spLocks xmlns:a="http://schemas.openxmlformats.org/drawingml/2006/main" noGrp="1"/>
          </p:cNvSpPr>
          <p:nvPr/>
        </p:nvSpPr>
        <p:spPr>
          <a:xfrm xmlns:a="http://schemas.openxmlformats.org/drawingml/2006/main">
            <a:off x="502920" y="2514600"/>
            <a:ext cx="11201400" cy="603504"/>
          </a:xfrm>
          <a:prstGeom xmlns:a="http://schemas.openxmlformats.org/drawingml/2006/main" prst="roundRect">
            <a:avLst>
              <a:gd name="adj" fmla="val 13636"/>
            </a:avLst>
          </a:prstGeom>
          <a:solidFill xmlns:a="http://schemas.openxmlformats.org/drawingml/2006/main">
            <a:srgbClr val="F3F8F9"/>
          </a:solidFill>
        </p:spPr>
      </p:sp>
      <p:sp>
        <p:nvSpPr>
          <p:cNvPr id="12" name="Text 10">
            <a:extLst xmlns:a="http://schemas.openxmlformats.org/drawingml/2006/main">
              <a:ext uri="{FF2B5EF4-FFF2-40B4-BE49-F238E27FC236}">
                <a16:creationId xmlns:a16="http://schemas.microsoft.com/office/drawing/2014/main" id="{3B22D46F-134D-43FE-9382-6C127DFA11B4}"/>
              </a:ext>
            </a:extLst>
          </p:cNvPr>
          <p:cNvSpPr>
            <a:spLocks xmlns:a="http://schemas.openxmlformats.org/drawingml/2006/main" noGrp="1"/>
          </p:cNvSpPr>
          <p:nvPr/>
        </p:nvSpPr>
        <p:spPr>
          <a:xfrm xmlns:a="http://schemas.openxmlformats.org/drawingml/2006/main">
            <a:off x="777240" y="2587752"/>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A5C64"/>
                </a:solidFill>
                <a:latin typeface="Courier New"/>
                <a:ea typeface="Courier New"/>
                <a:cs typeface="Courier New"/>
              </a:rPr>
              <a:t>ab_daily_log.csv</a:t>
            </a:r>
            <a:endParaRPr sz="1150"/>
          </a:p>
        </p:txBody>
      </p:sp>
      <p:sp>
        <p:nvSpPr>
          <p:cNvPr id="13" name="Text 11">
            <a:extLst xmlns:a="http://schemas.openxmlformats.org/drawingml/2006/main">
              <a:ext uri="{FF2B5EF4-FFF2-40B4-BE49-F238E27FC236}">
                <a16:creationId xmlns:a16="http://schemas.microsoft.com/office/drawing/2014/main" id="{F4C39C1E-096C-46AB-A8CA-F938F502BF6E}"/>
              </a:ext>
            </a:extLst>
          </p:cNvPr>
          <p:cNvSpPr>
            <a:spLocks xmlns:a="http://schemas.openxmlformats.org/drawingml/2006/main" noGrp="1"/>
          </p:cNvSpPr>
          <p:nvPr/>
        </p:nvSpPr>
        <p:spPr>
          <a:xfrm xmlns:a="http://schemas.openxmlformats.org/drawingml/2006/main">
            <a:off x="5074920" y="2587752"/>
            <a:ext cx="6446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80">
                <a:solidFill>
                  <a:srgbClr val="24313A"/>
                </a:solidFill>
                <a:latin typeface="Calibri"/>
                <a:ea typeface="Calibri"/>
                <a:cs typeface="Calibri"/>
              </a:rPr>
              <a:t>21 days of pilot accrual — powers the peeking case</a:t>
            </a:r>
            <a:endParaRPr sz="1080"/>
          </a:p>
        </p:txBody>
      </p:sp>
      <p:sp>
        <p:nvSpPr>
          <p:cNvPr id="14" name="Shape 12">
            <a:extLst xmlns:a="http://schemas.openxmlformats.org/drawingml/2006/main">
              <a:ext uri="{FF2B5EF4-FFF2-40B4-BE49-F238E27FC236}">
                <a16:creationId xmlns:a16="http://schemas.microsoft.com/office/drawing/2014/main" id="{B09CF10C-4DBC-4D7D-B11E-C895FDC876FA}"/>
              </a:ext>
            </a:extLst>
          </p:cNvPr>
          <p:cNvSpPr>
            <a:spLocks xmlns:a="http://schemas.openxmlformats.org/drawingml/2006/main" noGrp="1"/>
          </p:cNvSpPr>
          <p:nvPr/>
        </p:nvSpPr>
        <p:spPr>
          <a:xfrm xmlns:a="http://schemas.openxmlformats.org/drawingml/2006/main">
            <a:off x="502920" y="3191256"/>
            <a:ext cx="11201400" cy="603504"/>
          </a:xfrm>
          <a:prstGeom xmlns:a="http://schemas.openxmlformats.org/drawingml/2006/main" prst="roundRect">
            <a:avLst>
              <a:gd name="adj" fmla="val 13636"/>
            </a:avLst>
          </a:prstGeom>
          <a:solidFill xmlns:a="http://schemas.openxmlformats.org/drawingml/2006/main">
            <a:srgbClr val="F3F8F9"/>
          </a:solidFill>
        </p:spPr>
      </p:sp>
      <p:sp>
        <p:nvSpPr>
          <p:cNvPr id="15" name="Text 13">
            <a:extLst xmlns:a="http://schemas.openxmlformats.org/drawingml/2006/main">
              <a:ext uri="{FF2B5EF4-FFF2-40B4-BE49-F238E27FC236}">
                <a16:creationId xmlns:a16="http://schemas.microsoft.com/office/drawing/2014/main" id="{5CC7F421-8054-46E3-BD21-9FEE4557F904}"/>
              </a:ext>
            </a:extLst>
          </p:cNvPr>
          <p:cNvSpPr>
            <a:spLocks xmlns:a="http://schemas.openxmlformats.org/drawingml/2006/main" noGrp="1"/>
          </p:cNvSpPr>
          <p:nvPr/>
        </p:nvSpPr>
        <p:spPr>
          <a:xfrm xmlns:a="http://schemas.openxmlformats.org/drawingml/2006/main">
            <a:off x="777240" y="3264408"/>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A5C64"/>
                </a:solidFill>
                <a:latin typeface="Courier New"/>
                <a:ea typeface="Courier New"/>
                <a:cs typeface="Courier New"/>
              </a:rPr>
              <a:t>survey_responses.csv</a:t>
            </a:r>
            <a:endParaRPr sz="1150"/>
          </a:p>
        </p:txBody>
      </p:sp>
      <p:sp>
        <p:nvSpPr>
          <p:cNvPr id="16" name="Text 14">
            <a:extLst xmlns:a="http://schemas.openxmlformats.org/drawingml/2006/main">
              <a:ext uri="{FF2B5EF4-FFF2-40B4-BE49-F238E27FC236}">
                <a16:creationId xmlns:a16="http://schemas.microsoft.com/office/drawing/2014/main" id="{D3698903-2CB8-4325-99E1-655E4124414B}"/>
              </a:ext>
            </a:extLst>
          </p:cNvPr>
          <p:cNvSpPr>
            <a:spLocks xmlns:a="http://schemas.openxmlformats.org/drawingml/2006/main" noGrp="1"/>
          </p:cNvSpPr>
          <p:nvPr/>
        </p:nvSpPr>
        <p:spPr>
          <a:xfrm xmlns:a="http://schemas.openxmlformats.org/drawingml/2006/main">
            <a:off x="5074920" y="3264408"/>
            <a:ext cx="6446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80">
                <a:solidFill>
                  <a:srgbClr val="24313A"/>
                </a:solidFill>
                <a:latin typeface="Calibri"/>
                <a:ea typeface="Calibri"/>
                <a:cs typeface="Calibri"/>
              </a:rPr>
              <a:t>48k opt-in + callback sample — the bias case (means 4.6 vs 3.0)</a:t>
            </a:r>
            <a:endParaRPr sz="1080"/>
          </a:p>
        </p:txBody>
      </p:sp>
      <p:sp>
        <p:nvSpPr>
          <p:cNvPr id="17" name="Shape 15">
            <a:extLst xmlns:a="http://schemas.openxmlformats.org/drawingml/2006/main">
              <a:ext uri="{FF2B5EF4-FFF2-40B4-BE49-F238E27FC236}">
                <a16:creationId xmlns:a16="http://schemas.microsoft.com/office/drawing/2014/main" id="{8E48D0CA-D301-40BB-BD95-2E9DE15DC090}"/>
              </a:ext>
            </a:extLst>
          </p:cNvPr>
          <p:cNvSpPr>
            <a:spLocks xmlns:a="http://schemas.openxmlformats.org/drawingml/2006/main" noGrp="1"/>
          </p:cNvSpPr>
          <p:nvPr/>
        </p:nvSpPr>
        <p:spPr>
          <a:xfrm xmlns:a="http://schemas.openxmlformats.org/drawingml/2006/main">
            <a:off x="502920" y="3867912"/>
            <a:ext cx="11201400" cy="603504"/>
          </a:xfrm>
          <a:prstGeom xmlns:a="http://schemas.openxmlformats.org/drawingml/2006/main" prst="roundRect">
            <a:avLst>
              <a:gd name="adj" fmla="val 13636"/>
            </a:avLst>
          </a:prstGeom>
          <a:solidFill xmlns:a="http://schemas.openxmlformats.org/drawingml/2006/main">
            <a:srgbClr val="F3F8F9"/>
          </a:solidFill>
        </p:spPr>
      </p:sp>
      <p:sp>
        <p:nvSpPr>
          <p:cNvPr id="18" name="Text 16">
            <a:extLst xmlns:a="http://schemas.openxmlformats.org/drawingml/2006/main">
              <a:ext uri="{FF2B5EF4-FFF2-40B4-BE49-F238E27FC236}">
                <a16:creationId xmlns:a16="http://schemas.microsoft.com/office/drawing/2014/main" id="{DFE71A9F-831A-4A4C-A3F4-1B4BD06E7C82}"/>
              </a:ext>
            </a:extLst>
          </p:cNvPr>
          <p:cNvSpPr>
            <a:spLocks xmlns:a="http://schemas.openxmlformats.org/drawingml/2006/main" noGrp="1"/>
          </p:cNvSpPr>
          <p:nvPr/>
        </p:nvSpPr>
        <p:spPr>
          <a:xfrm xmlns:a="http://schemas.openxmlformats.org/drawingml/2006/main">
            <a:off x="777240" y="3941064"/>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A5C64"/>
                </a:solidFill>
                <a:latin typeface="Courier New"/>
                <a:ea typeface="Courier New"/>
                <a:cs typeface="Courier New"/>
              </a:rPr>
              <a:t>clinic_reference.csv / region_reference.csv</a:t>
            </a:r>
            <a:endParaRPr sz="1150"/>
          </a:p>
        </p:txBody>
      </p:sp>
      <p:sp>
        <p:nvSpPr>
          <p:cNvPr id="19" name="Text 17">
            <a:extLst xmlns:a="http://schemas.openxmlformats.org/drawingml/2006/main">
              <a:ext uri="{FF2B5EF4-FFF2-40B4-BE49-F238E27FC236}">
                <a16:creationId xmlns:a16="http://schemas.microsoft.com/office/drawing/2014/main" id="{06FD6887-3BC9-4F4F-A9FE-9F1FA6B4F14D}"/>
              </a:ext>
            </a:extLst>
          </p:cNvPr>
          <p:cNvSpPr>
            <a:spLocks xmlns:a="http://schemas.openxmlformats.org/drawingml/2006/main" noGrp="1"/>
          </p:cNvSpPr>
          <p:nvPr/>
        </p:nvSpPr>
        <p:spPr>
          <a:xfrm xmlns:a="http://schemas.openxmlformats.org/drawingml/2006/main">
            <a:off x="5074920" y="3941064"/>
            <a:ext cx="6446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80">
                <a:solidFill>
                  <a:srgbClr val="24313A"/>
                </a:solidFill>
                <a:latin typeface="Calibri"/>
                <a:ea typeface="Calibri"/>
                <a:cs typeface="Calibri"/>
              </a:rPr>
              <a:t>120 clinics; 13 regions with Arabic names</a:t>
            </a:r>
            <a:endParaRPr sz="1080"/>
          </a:p>
        </p:txBody>
      </p:sp>
      <p:sp>
        <p:nvSpPr>
          <p:cNvPr id="20" name="Shape 18">
            <a:extLst xmlns:a="http://schemas.openxmlformats.org/drawingml/2006/main">
              <a:ext uri="{FF2B5EF4-FFF2-40B4-BE49-F238E27FC236}">
                <a16:creationId xmlns:a16="http://schemas.microsoft.com/office/drawing/2014/main" id="{E0F161E7-84B0-4613-BCCA-FDEEF40BF817}"/>
              </a:ext>
            </a:extLst>
          </p:cNvPr>
          <p:cNvSpPr>
            <a:spLocks xmlns:a="http://schemas.openxmlformats.org/drawingml/2006/main" noGrp="1"/>
          </p:cNvSpPr>
          <p:nvPr/>
        </p:nvSpPr>
        <p:spPr>
          <a:xfrm xmlns:a="http://schemas.openxmlformats.org/drawingml/2006/main">
            <a:off x="502920" y="4544568"/>
            <a:ext cx="11201400" cy="603504"/>
          </a:xfrm>
          <a:prstGeom xmlns:a="http://schemas.openxmlformats.org/drawingml/2006/main" prst="roundRect">
            <a:avLst>
              <a:gd name="adj" fmla="val 13636"/>
            </a:avLst>
          </a:prstGeom>
          <a:solidFill xmlns:a="http://schemas.openxmlformats.org/drawingml/2006/main">
            <a:srgbClr val="F3F8F9"/>
          </a:solidFill>
        </p:spPr>
      </p:sp>
      <p:sp>
        <p:nvSpPr>
          <p:cNvPr id="21" name="Text 19">
            <a:extLst xmlns:a="http://schemas.openxmlformats.org/drawingml/2006/main">
              <a:ext uri="{FF2B5EF4-FFF2-40B4-BE49-F238E27FC236}">
                <a16:creationId xmlns:a16="http://schemas.microsoft.com/office/drawing/2014/main" id="{234F3406-E194-4E11-8B22-E703C3855010}"/>
              </a:ext>
            </a:extLst>
          </p:cNvPr>
          <p:cNvSpPr>
            <a:spLocks xmlns:a="http://schemas.openxmlformats.org/drawingml/2006/main" noGrp="1"/>
          </p:cNvSpPr>
          <p:nvPr/>
        </p:nvSpPr>
        <p:spPr>
          <a:xfrm xmlns:a="http://schemas.openxmlformats.org/drawingml/2006/main">
            <a:off x="777240" y="461772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A5C64"/>
                </a:solidFill>
                <a:latin typeface="Courier New"/>
                <a:ea typeface="Courier New"/>
                <a:cs typeface="Courier New"/>
              </a:rPr>
              <a:t>small_pilot.csv</a:t>
            </a:r>
            <a:endParaRPr sz="1150"/>
          </a:p>
        </p:txBody>
      </p:sp>
      <p:sp>
        <p:nvSpPr>
          <p:cNvPr id="22" name="Text 20">
            <a:extLst xmlns:a="http://schemas.openxmlformats.org/drawingml/2006/main">
              <a:ext uri="{FF2B5EF4-FFF2-40B4-BE49-F238E27FC236}">
                <a16:creationId xmlns:a16="http://schemas.microsoft.com/office/drawing/2014/main" id="{BC6259B9-C02B-4F75-B5D3-173A71FDD3A2}"/>
              </a:ext>
            </a:extLst>
          </p:cNvPr>
          <p:cNvSpPr>
            <a:spLocks xmlns:a="http://schemas.openxmlformats.org/drawingml/2006/main" noGrp="1"/>
          </p:cNvSpPr>
          <p:nvPr/>
        </p:nvSpPr>
        <p:spPr>
          <a:xfrm xmlns:a="http://schemas.openxmlformats.org/drawingml/2006/main">
            <a:off x="5074920" y="4617720"/>
            <a:ext cx="6446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80">
                <a:solidFill>
                  <a:srgbClr val="24313A"/>
                </a:solidFill>
                <a:latin typeface="Calibri"/>
                <a:ea typeface="Calibri"/>
                <a:cs typeface="Calibri"/>
              </a:rPr>
              <a:t>25 rows — small-sample exercises</a:t>
            </a:r>
            <a:endParaRPr sz="1080"/>
          </a:p>
        </p:txBody>
      </p:sp>
      <p:sp>
        <p:nvSpPr>
          <p:cNvPr id="23" name="Shape 21">
            <a:extLst xmlns:a="http://schemas.openxmlformats.org/drawingml/2006/main">
              <a:ext uri="{FF2B5EF4-FFF2-40B4-BE49-F238E27FC236}">
                <a16:creationId xmlns:a16="http://schemas.microsoft.com/office/drawing/2014/main" id="{F7712603-DE9B-4F53-AAC7-F3C2F1C52202}"/>
              </a:ext>
            </a:extLst>
          </p:cNvPr>
          <p:cNvSpPr>
            <a:spLocks xmlns:a="http://schemas.openxmlformats.org/drawingml/2006/main" noGrp="1"/>
          </p:cNvSpPr>
          <p:nvPr/>
        </p:nvSpPr>
        <p:spPr>
          <a:xfrm xmlns:a="http://schemas.openxmlformats.org/drawingml/2006/main">
            <a:off x="502920" y="5221224"/>
            <a:ext cx="11201400" cy="603504"/>
          </a:xfrm>
          <a:prstGeom xmlns:a="http://schemas.openxmlformats.org/drawingml/2006/main" prst="roundRect">
            <a:avLst>
              <a:gd name="adj" fmla="val 13636"/>
            </a:avLst>
          </a:prstGeom>
          <a:solidFill xmlns:a="http://schemas.openxmlformats.org/drawingml/2006/main">
            <a:srgbClr val="F3F8F9"/>
          </a:solidFill>
        </p:spPr>
      </p:sp>
      <p:sp>
        <p:nvSpPr>
          <p:cNvPr id="24" name="Text 22">
            <a:extLst xmlns:a="http://schemas.openxmlformats.org/drawingml/2006/main">
              <a:ext uri="{FF2B5EF4-FFF2-40B4-BE49-F238E27FC236}">
                <a16:creationId xmlns:a16="http://schemas.microsoft.com/office/drawing/2014/main" id="{ACDB5D95-4813-4180-8E54-1ED4624AD440}"/>
              </a:ext>
            </a:extLst>
          </p:cNvPr>
          <p:cNvSpPr>
            <a:spLocks xmlns:a="http://schemas.openxmlformats.org/drawingml/2006/main" noGrp="1"/>
          </p:cNvSpPr>
          <p:nvPr/>
        </p:nvSpPr>
        <p:spPr>
          <a:xfrm xmlns:a="http://schemas.openxmlformats.org/drawingml/2006/main">
            <a:off x="777240" y="5294376"/>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A5C64"/>
                </a:solidFill>
                <a:latin typeface="Courier New"/>
                <a:ea typeface="Courier New"/>
                <a:cs typeface="Courier New"/>
              </a:rPr>
              <a:t>data_dictionary.md</a:t>
            </a:r>
            <a:endParaRPr sz="1150"/>
          </a:p>
        </p:txBody>
      </p:sp>
      <p:sp>
        <p:nvSpPr>
          <p:cNvPr id="25" name="Text 23">
            <a:extLst xmlns:a="http://schemas.openxmlformats.org/drawingml/2006/main">
              <a:ext uri="{FF2B5EF4-FFF2-40B4-BE49-F238E27FC236}">
                <a16:creationId xmlns:a16="http://schemas.microsoft.com/office/drawing/2014/main" id="{139A945D-027C-413C-B373-9BC9DB08C8AF}"/>
              </a:ext>
            </a:extLst>
          </p:cNvPr>
          <p:cNvSpPr>
            <a:spLocks xmlns:a="http://schemas.openxmlformats.org/drawingml/2006/main" noGrp="1"/>
          </p:cNvSpPr>
          <p:nvPr/>
        </p:nvSpPr>
        <p:spPr>
          <a:xfrm xmlns:a="http://schemas.openxmlformats.org/drawingml/2006/main">
            <a:off x="5074920" y="5294376"/>
            <a:ext cx="6446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80">
                <a:solidFill>
                  <a:srgbClr val="24313A"/>
                </a:solidFill>
                <a:latin typeface="Calibri"/>
                <a:ea typeface="Calibri"/>
                <a:cs typeface="Calibri"/>
              </a:rPr>
              <a:t>column definitions + reference-values table + design notes</a:t>
            </a:r>
            <a:endParaRPr sz="1080"/>
          </a:p>
        </p:txBody>
      </p:sp>
      <p:sp>
        <p:nvSpPr>
          <p:cNvPr id="26" name="Shape 24">
            <a:extLst xmlns:a="http://schemas.openxmlformats.org/drawingml/2006/main">
              <a:ext uri="{FF2B5EF4-FFF2-40B4-BE49-F238E27FC236}">
                <a16:creationId xmlns:a16="http://schemas.microsoft.com/office/drawing/2014/main" id="{D9F11F7B-E717-4F65-8D4E-BB6C1D3BCAE5}"/>
              </a:ext>
            </a:extLst>
          </p:cNvPr>
          <p:cNvSpPr>
            <a:spLocks xmlns:a="http://schemas.openxmlformats.org/drawingml/2006/main" noGrp="1"/>
          </p:cNvSpPr>
          <p:nvPr/>
        </p:nvSpPr>
        <p:spPr>
          <a:xfrm xmlns:a="http://schemas.openxmlformats.org/drawingml/2006/main">
            <a:off x="502920" y="5897880"/>
            <a:ext cx="11201400" cy="603504"/>
          </a:xfrm>
          <a:prstGeom xmlns:a="http://schemas.openxmlformats.org/drawingml/2006/main" prst="roundRect">
            <a:avLst>
              <a:gd name="adj" fmla="val 13636"/>
            </a:avLst>
          </a:prstGeom>
          <a:solidFill xmlns:a="http://schemas.openxmlformats.org/drawingml/2006/main">
            <a:srgbClr val="F3F8F9"/>
          </a:solidFill>
        </p:spPr>
      </p:sp>
      <p:sp>
        <p:nvSpPr>
          <p:cNvPr id="27" name="Text 25">
            <a:extLst xmlns:a="http://schemas.openxmlformats.org/drawingml/2006/main">
              <a:ext uri="{FF2B5EF4-FFF2-40B4-BE49-F238E27FC236}">
                <a16:creationId xmlns:a16="http://schemas.microsoft.com/office/drawing/2014/main" id="{A0E9B63D-0CB9-4447-B734-4D5482236CA4}"/>
              </a:ext>
            </a:extLst>
          </p:cNvPr>
          <p:cNvSpPr>
            <a:spLocks xmlns:a="http://schemas.openxmlformats.org/drawingml/2006/main" noGrp="1"/>
          </p:cNvSpPr>
          <p:nvPr/>
        </p:nvSpPr>
        <p:spPr>
          <a:xfrm xmlns:a="http://schemas.openxmlformats.org/drawingml/2006/main">
            <a:off x="777240" y="5971032"/>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A5C64"/>
                </a:solidFill>
                <a:latin typeface="Courier New"/>
                <a:ea typeface="Courier New"/>
                <a:cs typeface="Courier New"/>
              </a:rPr>
              <a:t>environment.yml + generate_data.py</a:t>
            </a:r>
            <a:endParaRPr sz="1150"/>
          </a:p>
        </p:txBody>
      </p:sp>
      <p:sp>
        <p:nvSpPr>
          <p:cNvPr id="28" name="Text 26">
            <a:extLst xmlns:a="http://schemas.openxmlformats.org/drawingml/2006/main">
              <a:ext uri="{FF2B5EF4-FFF2-40B4-BE49-F238E27FC236}">
                <a16:creationId xmlns:a16="http://schemas.microsoft.com/office/drawing/2014/main" id="{D7CEDEE1-56BB-4323-850D-98D66023EFF8}"/>
              </a:ext>
            </a:extLst>
          </p:cNvPr>
          <p:cNvSpPr>
            <a:spLocks xmlns:a="http://schemas.openxmlformats.org/drawingml/2006/main" noGrp="1"/>
          </p:cNvSpPr>
          <p:nvPr/>
        </p:nvSpPr>
        <p:spPr>
          <a:xfrm xmlns:a="http://schemas.openxmlformats.org/drawingml/2006/main">
            <a:off x="5074920" y="5971032"/>
            <a:ext cx="6446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80">
                <a:solidFill>
                  <a:srgbClr val="24313A"/>
                </a:solidFill>
                <a:latin typeface="Calibri"/>
                <a:ea typeface="Calibri"/>
                <a:cs typeface="Calibri"/>
              </a:rPr>
              <a:t>pinned conda env; full generator, seed 42 — the dataset is reproducible end to end</a:t>
            </a:r>
            <a:endParaRPr sz="1080"/>
          </a:p>
        </p:txBody>
      </p:sp>
    </p:spTree>
    <p:extLst>
      <p:ext uri="{BB962C8B-B14F-4D97-AF65-F5344CB8AC3E}">
        <p14:creationId xmlns:p14="http://schemas.microsoft.com/office/powerpoint/2010/main" val="256764690"/>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0179D52-B6F4-41F8-88F5-DBD87E447A9A}"/>
              </a:ext>
            </a:extLst>
          </p:cNvPr>
          <p:cNvSpPr>
            <a:spLocks xmlns:a="http://schemas.openxmlformats.org/drawingml/2006/main" noGrp="1"/>
          </p:cNvSpPr>
          <p:nvPr/>
        </p:nvSpPr>
        <p:spPr>
          <a:xfrm xmlns:a="http://schemas.openxmlformats.org/drawingml/2006/main">
            <a:off x="502920" y="647395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9AAAB2"/>
                </a:solidFill>
                <a:latin typeface="Calibri"/>
                <a:ea typeface="Calibri"/>
                <a:cs typeface="Calibri"/>
              </a:rPr>
              <a:t>SDA-DSC-111 · Statistical Foundations for Data Science — SDAIA Academy</a:t>
            </a:r>
            <a:endParaRPr sz="900"/>
          </a:p>
        </p:txBody>
      </p:sp>
      <p:sp>
        <p:nvSpPr>
          <p:cNvPr id="3" name="Text 1">
            <a:extLst xmlns:a="http://schemas.openxmlformats.org/drawingml/2006/main">
              <a:ext uri="{FF2B5EF4-FFF2-40B4-BE49-F238E27FC236}">
                <a16:creationId xmlns:a16="http://schemas.microsoft.com/office/drawing/2014/main" id="{C7DE6DB6-DD1D-4511-8FD0-2439F3867358}"/>
              </a:ext>
            </a:extLst>
          </p:cNvPr>
          <p:cNvSpPr>
            <a:spLocks xmlns:a="http://schemas.openxmlformats.org/drawingml/2006/main" noGrp="1"/>
          </p:cNvSpPr>
          <p:nvPr/>
        </p:nvSpPr>
        <p:spPr>
          <a:xfrm xmlns:a="http://schemas.openxmlformats.org/drawingml/2006/main">
            <a:off x="11277295"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AB2"/>
                </a:solidFill>
                <a:latin typeface="Calibri"/>
                <a:ea typeface="Calibri"/>
                <a:cs typeface="Calibri"/>
              </a:rPr>
              <a:t>83</a:t>
            </a:r>
            <a:endParaRPr sz="900"/>
          </a:p>
        </p:txBody>
      </p:sp>
      <p:sp>
        <p:nvSpPr>
          <p:cNvPr id="4" name="Shape 2">
            <a:extLst xmlns:a="http://schemas.openxmlformats.org/drawingml/2006/main">
              <a:ext uri="{FF2B5EF4-FFF2-40B4-BE49-F238E27FC236}">
                <a16:creationId xmlns:a16="http://schemas.microsoft.com/office/drawing/2014/main" id="{988D8694-E73A-4850-87B5-483CE73FA8FC}"/>
              </a:ext>
            </a:extLst>
          </p:cNvPr>
          <p:cNvSpPr>
            <a:spLocks xmlns:a="http://schemas.openxmlformats.org/drawingml/2006/main" noGrp="1"/>
          </p:cNvSpPr>
          <p:nvPr/>
        </p:nvSpPr>
        <p:spPr>
          <a:xfrm xmlns:a="http://schemas.openxmlformats.org/drawingml/2006/main">
            <a:off x="502920" y="384048"/>
            <a:ext cx="2011680" cy="292608"/>
          </a:xfrm>
          <a:prstGeom xmlns:a="http://schemas.openxmlformats.org/drawingml/2006/main" prst="roundRect">
            <a:avLst>
              <a:gd name="adj" fmla="val 50000"/>
            </a:avLst>
          </a:prstGeom>
          <a:solidFill xmlns:a="http://schemas.openxmlformats.org/drawingml/2006/main">
            <a:srgbClr val="0E7C86"/>
          </a:solidFill>
        </p:spPr>
      </p:sp>
      <p:sp>
        <p:nvSpPr>
          <p:cNvPr id="5" name="Text 3">
            <a:extLst xmlns:a="http://schemas.openxmlformats.org/drawingml/2006/main">
              <a:ext uri="{FF2B5EF4-FFF2-40B4-BE49-F238E27FC236}">
                <a16:creationId xmlns:a16="http://schemas.microsoft.com/office/drawing/2014/main" id="{526D1A70-E9F0-4A73-B2E5-9E0BDDD81881}"/>
              </a:ext>
            </a:extLst>
          </p:cNvPr>
          <p:cNvSpPr>
            <a:spLocks xmlns:a="http://schemas.openxmlformats.org/drawingml/2006/main" noGrp="1"/>
          </p:cNvSpPr>
          <p:nvPr/>
        </p:nvSpPr>
        <p:spPr>
          <a:xfrm xmlns:a="http://schemas.openxmlformats.org/drawingml/2006/main">
            <a:off x="502920" y="384048"/>
            <a:ext cx="2011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200">
                <a:solidFill>
                  <a:srgbClr val="FFFFFF"/>
                </a:solidFill>
                <a:latin typeface="Calibri"/>
                <a:ea typeface="Calibri"/>
                <a:cs typeface="Calibri"/>
              </a:rPr>
              <a:t>ENRICHMENT PACK</a:t>
            </a:r>
            <a:endParaRPr sz="1050"/>
          </a:p>
        </p:txBody>
      </p:sp>
      <p:sp>
        <p:nvSpPr>
          <p:cNvPr id="6" name="Text 4">
            <a:extLst xmlns:a="http://schemas.openxmlformats.org/drawingml/2006/main">
              <a:ext uri="{FF2B5EF4-FFF2-40B4-BE49-F238E27FC236}">
                <a16:creationId xmlns:a16="http://schemas.microsoft.com/office/drawing/2014/main" id="{29C92C24-15CA-4B21-8BB4-9E9001C8DA40}"/>
              </a:ext>
            </a:extLst>
          </p:cNvPr>
          <p:cNvSpPr>
            <a:spLocks xmlns:a="http://schemas.openxmlformats.org/drawingml/2006/main" noGrp="1"/>
          </p:cNvSpPr>
          <p:nvPr/>
        </p:nvSpPr>
        <p:spPr>
          <a:xfrm xmlns:a="http://schemas.openxmlformats.org/drawingml/2006/main">
            <a:off x="502920" y="786384"/>
            <a:ext cx="1118585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3140"/>
                </a:solidFill>
                <a:latin typeface="Cambria"/>
                <a:ea typeface="Cambria"/>
                <a:cs typeface="Cambria"/>
              </a:rPr>
              <a:t>The enrichment pack — real cases, ready to teach</a:t>
            </a:r>
            <a:endParaRPr sz="2800"/>
          </a:p>
        </p:txBody>
      </p:sp>
      <p:sp>
        <p:nvSpPr>
          <p:cNvPr id="7" name="Text 5">
            <a:extLst xmlns:a="http://schemas.openxmlformats.org/drawingml/2006/main">
              <a:ext uri="{FF2B5EF4-FFF2-40B4-BE49-F238E27FC236}">
                <a16:creationId xmlns:a16="http://schemas.microsoft.com/office/drawing/2014/main" id="{5CF66B8A-BDA0-4DB6-8970-ABCC247073AC}"/>
              </a:ext>
            </a:extLst>
          </p:cNvPr>
          <p:cNvSpPr>
            <a:spLocks xmlns:a="http://schemas.openxmlformats.org/drawingml/2006/main" noGrp="1"/>
          </p:cNvSpPr>
          <p:nvPr/>
        </p:nvSpPr>
        <p:spPr>
          <a:xfrm xmlns:a="http://schemas.openxmlformats.org/drawingml/2006/main">
            <a:off x="502920" y="1316736"/>
            <a:ext cx="111858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5B6B75"/>
                </a:solidFill>
                <a:latin typeface="Calibri"/>
                <a:ea typeface="Calibri"/>
                <a:cs typeface="Calibri"/>
              </a:rPr>
              <a:t>Use selectively in M2 and M4–M6; every file labels source, estimand, and limitations</a:t>
            </a:r>
            <a:endParaRPr sz="1350"/>
          </a:p>
        </p:txBody>
      </p:sp>
      <p:sp>
        <p:nvSpPr>
          <p:cNvPr id="8" name="Shape 6">
            <a:extLst xmlns:a="http://schemas.openxmlformats.org/drawingml/2006/main">
              <a:ext uri="{FF2B5EF4-FFF2-40B4-BE49-F238E27FC236}">
                <a16:creationId xmlns:a16="http://schemas.microsoft.com/office/drawing/2014/main" id="{FE1D730D-60FF-45FA-812C-5990E9E0EA2D}"/>
              </a:ext>
            </a:extLst>
          </p:cNvPr>
          <p:cNvSpPr>
            <a:spLocks xmlns:a="http://schemas.openxmlformats.org/drawingml/2006/main" noGrp="1"/>
          </p:cNvSpPr>
          <p:nvPr/>
        </p:nvSpPr>
        <p:spPr>
          <a:xfrm xmlns:a="http://schemas.openxmlformats.org/drawingml/2006/main">
            <a:off x="502920" y="1837944"/>
            <a:ext cx="11201400" cy="603504"/>
          </a:xfrm>
          <a:prstGeom xmlns:a="http://schemas.openxmlformats.org/drawingml/2006/main" prst="roundRect">
            <a:avLst>
              <a:gd name="adj" fmla="val 13636"/>
            </a:avLst>
          </a:prstGeom>
          <a:solidFill xmlns:a="http://schemas.openxmlformats.org/drawingml/2006/main">
            <a:srgbClr val="F3F8F9"/>
          </a:solidFill>
        </p:spPr>
      </p:sp>
      <p:sp>
        <p:nvSpPr>
          <p:cNvPr id="9" name="Text 7">
            <a:extLst xmlns:a="http://schemas.openxmlformats.org/drawingml/2006/main">
              <a:ext uri="{FF2B5EF4-FFF2-40B4-BE49-F238E27FC236}">
                <a16:creationId xmlns:a16="http://schemas.microsoft.com/office/drawing/2014/main" id="{6E65B7DD-75F5-4EFB-A34D-ACAB1345D783}"/>
              </a:ext>
            </a:extLst>
          </p:cNvPr>
          <p:cNvSpPr>
            <a:spLocks xmlns:a="http://schemas.openxmlformats.org/drawingml/2006/main" noGrp="1"/>
          </p:cNvSpPr>
          <p:nvPr/>
        </p:nvSpPr>
        <p:spPr>
          <a:xfrm xmlns:a="http://schemas.openxmlformats.org/drawingml/2006/main">
            <a:off x="777240" y="1911096"/>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A5C64"/>
                </a:solidFill>
                <a:latin typeface="Courier New"/>
                <a:ea typeface="Courier New"/>
                <a:cs typeface="Courier New"/>
              </a:rPr>
              <a:t>saudi_sms_rct_aggregate.csv</a:t>
            </a:r>
            <a:endParaRPr sz="1150"/>
          </a:p>
        </p:txBody>
      </p:sp>
      <p:sp>
        <p:nvSpPr>
          <p:cNvPr id="10" name="Text 8">
            <a:extLst xmlns:a="http://schemas.openxmlformats.org/drawingml/2006/main">
              <a:ext uri="{FF2B5EF4-FFF2-40B4-BE49-F238E27FC236}">
                <a16:creationId xmlns:a16="http://schemas.microsoft.com/office/drawing/2014/main" id="{FDA6CF46-CAD9-4B36-9A68-591E568ED99C}"/>
              </a:ext>
            </a:extLst>
          </p:cNvPr>
          <p:cNvSpPr>
            <a:spLocks xmlns:a="http://schemas.openxmlformats.org/drawingml/2006/main" noGrp="1"/>
          </p:cNvSpPr>
          <p:nvPr/>
        </p:nvSpPr>
        <p:spPr>
          <a:xfrm xmlns:a="http://schemas.openxmlformats.org/drawingml/2006/main">
            <a:off x="5074920" y="1911096"/>
            <a:ext cx="6446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80">
                <a:solidFill>
                  <a:srgbClr val="24313A"/>
                </a:solidFill>
                <a:latin typeface="Calibri"/>
                <a:ea typeface="Calibri"/>
                <a:cs typeface="Calibri"/>
              </a:rPr>
              <a:t>Published 2×2 counts: 502 randomized patients; exact input for difference, CI, RR, OR, and NNT</a:t>
            </a:r>
            <a:endParaRPr sz="1080"/>
          </a:p>
        </p:txBody>
      </p:sp>
      <p:sp>
        <p:nvSpPr>
          <p:cNvPr id="11" name="Shape 9">
            <a:extLst xmlns:a="http://schemas.openxmlformats.org/drawingml/2006/main">
              <a:ext uri="{FF2B5EF4-FFF2-40B4-BE49-F238E27FC236}">
                <a16:creationId xmlns:a16="http://schemas.microsoft.com/office/drawing/2014/main" id="{7125CEB0-7FCB-4CF1-842A-DA99BC0E8057}"/>
              </a:ext>
            </a:extLst>
          </p:cNvPr>
          <p:cNvSpPr>
            <a:spLocks xmlns:a="http://schemas.openxmlformats.org/drawingml/2006/main" noGrp="1"/>
          </p:cNvSpPr>
          <p:nvPr/>
        </p:nvSpPr>
        <p:spPr>
          <a:xfrm xmlns:a="http://schemas.openxmlformats.org/drawingml/2006/main">
            <a:off x="502920" y="2514600"/>
            <a:ext cx="11201400" cy="603504"/>
          </a:xfrm>
          <a:prstGeom xmlns:a="http://schemas.openxmlformats.org/drawingml/2006/main" prst="roundRect">
            <a:avLst>
              <a:gd name="adj" fmla="val 13636"/>
            </a:avLst>
          </a:prstGeom>
          <a:solidFill xmlns:a="http://schemas.openxmlformats.org/drawingml/2006/main">
            <a:srgbClr val="F3F8F9"/>
          </a:solidFill>
        </p:spPr>
      </p:sp>
      <p:sp>
        <p:nvSpPr>
          <p:cNvPr id="12" name="Text 10">
            <a:extLst xmlns:a="http://schemas.openxmlformats.org/drawingml/2006/main">
              <a:ext uri="{FF2B5EF4-FFF2-40B4-BE49-F238E27FC236}">
                <a16:creationId xmlns:a16="http://schemas.microsoft.com/office/drawing/2014/main" id="{3B22D46F-134D-43FE-9382-6C127DFA11B4}"/>
              </a:ext>
            </a:extLst>
          </p:cNvPr>
          <p:cNvSpPr>
            <a:spLocks xmlns:a="http://schemas.openxmlformats.org/drawingml/2006/main" noGrp="1"/>
          </p:cNvSpPr>
          <p:nvPr/>
        </p:nvSpPr>
        <p:spPr>
          <a:xfrm xmlns:a="http://schemas.openxmlformats.org/drawingml/2006/main">
            <a:off x="777240" y="2587752"/>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A5C64"/>
                </a:solidFill>
                <a:latin typeface="Courier New"/>
                <a:ea typeface="Courier New"/>
                <a:cs typeface="Courier New"/>
              </a:rPr>
              <a:t>saudi_sms_rct_published_model.csv</a:t>
            </a:r>
            <a:endParaRPr sz="1150"/>
          </a:p>
        </p:txBody>
      </p:sp>
      <p:sp>
        <p:nvSpPr>
          <p:cNvPr id="13" name="Text 11">
            <a:extLst xmlns:a="http://schemas.openxmlformats.org/drawingml/2006/main">
              <a:ext uri="{FF2B5EF4-FFF2-40B4-BE49-F238E27FC236}">
                <a16:creationId xmlns:a16="http://schemas.microsoft.com/office/drawing/2014/main" id="{F4C39C1E-096C-46AB-A8CA-F938F502BF6E}"/>
              </a:ext>
            </a:extLst>
          </p:cNvPr>
          <p:cNvSpPr>
            <a:spLocks xmlns:a="http://schemas.openxmlformats.org/drawingml/2006/main" noGrp="1"/>
          </p:cNvSpPr>
          <p:nvPr/>
        </p:nvSpPr>
        <p:spPr>
          <a:xfrm xmlns:a="http://schemas.openxmlformats.org/drawingml/2006/main">
            <a:off x="5074920" y="2587752"/>
            <a:ext cx="6446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80">
                <a:solidFill>
                  <a:srgbClr val="24313A"/>
                </a:solidFill>
                <a:latin typeface="Calibri"/>
                <a:ea typeface="Calibri"/>
                <a:cs typeface="Calibri"/>
              </a:rPr>
              <a:t>Published adjusted odds ratios and confidence intervals; no invented patient-level data</a:t>
            </a:r>
            <a:endParaRPr sz="1080"/>
          </a:p>
        </p:txBody>
      </p:sp>
      <p:sp>
        <p:nvSpPr>
          <p:cNvPr id="14" name="Shape 12">
            <a:extLst xmlns:a="http://schemas.openxmlformats.org/drawingml/2006/main">
              <a:ext uri="{FF2B5EF4-FFF2-40B4-BE49-F238E27FC236}">
                <a16:creationId xmlns:a16="http://schemas.microsoft.com/office/drawing/2014/main" id="{B09CF10C-4DBC-4D7D-B11E-C895FDC876FA}"/>
              </a:ext>
            </a:extLst>
          </p:cNvPr>
          <p:cNvSpPr>
            <a:spLocks xmlns:a="http://schemas.openxmlformats.org/drawingml/2006/main" noGrp="1"/>
          </p:cNvSpPr>
          <p:nvPr/>
        </p:nvSpPr>
        <p:spPr>
          <a:xfrm xmlns:a="http://schemas.openxmlformats.org/drawingml/2006/main">
            <a:off x="502920" y="3191256"/>
            <a:ext cx="11201400" cy="603504"/>
          </a:xfrm>
          <a:prstGeom xmlns:a="http://schemas.openxmlformats.org/drawingml/2006/main" prst="roundRect">
            <a:avLst>
              <a:gd name="adj" fmla="val 13636"/>
            </a:avLst>
          </a:prstGeom>
          <a:solidFill xmlns:a="http://schemas.openxmlformats.org/drawingml/2006/main">
            <a:srgbClr val="F3F8F9"/>
          </a:solidFill>
        </p:spPr>
      </p:sp>
      <p:sp>
        <p:nvSpPr>
          <p:cNvPr id="15" name="Text 13">
            <a:extLst xmlns:a="http://schemas.openxmlformats.org/drawingml/2006/main">
              <a:ext uri="{FF2B5EF4-FFF2-40B4-BE49-F238E27FC236}">
                <a16:creationId xmlns:a16="http://schemas.microsoft.com/office/drawing/2014/main" id="{5CC7F421-8054-46E3-BD21-9FEE4557F904}"/>
              </a:ext>
            </a:extLst>
          </p:cNvPr>
          <p:cNvSpPr>
            <a:spLocks xmlns:a="http://schemas.openxmlformats.org/drawingml/2006/main" noGrp="1"/>
          </p:cNvSpPr>
          <p:nvPr/>
        </p:nvSpPr>
        <p:spPr>
          <a:xfrm xmlns:a="http://schemas.openxmlformats.org/drawingml/2006/main">
            <a:off x="777240" y="3264408"/>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A5C64"/>
                </a:solidFill>
                <a:latin typeface="Courier New"/>
                <a:ea typeface="Courier New"/>
                <a:cs typeface="Courier New"/>
              </a:rPr>
              <a:t>cdc_nhcs_2022_ed_extract.csv</a:t>
            </a:r>
            <a:endParaRPr sz="1150"/>
          </a:p>
        </p:txBody>
      </p:sp>
      <p:sp>
        <p:nvSpPr>
          <p:cNvPr id="16" name="Text 14">
            <a:extLst xmlns:a="http://schemas.openxmlformats.org/drawingml/2006/main">
              <a:ext uri="{FF2B5EF4-FFF2-40B4-BE49-F238E27FC236}">
                <a16:creationId xmlns:a16="http://schemas.microsoft.com/office/drawing/2014/main" id="{D3698903-2CB8-4325-99E1-655E4124414B}"/>
              </a:ext>
            </a:extLst>
          </p:cNvPr>
          <p:cNvSpPr>
            <a:spLocks xmlns:a="http://schemas.openxmlformats.org/drawingml/2006/main" noGrp="1"/>
          </p:cNvSpPr>
          <p:nvPr/>
        </p:nvSpPr>
        <p:spPr>
          <a:xfrm xmlns:a="http://schemas.openxmlformats.org/drawingml/2006/main">
            <a:off x="5074920" y="3264408"/>
            <a:ext cx="6446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80">
                <a:solidFill>
                  <a:srgbClr val="24313A"/>
                </a:solidFill>
                <a:latin typeface="Calibri"/>
                <a:ea typeface="Calibri"/>
                <a:cs typeface="Calibri"/>
              </a:rPr>
              <a:t>Official Appendix A counts for denominator, missing-code, and honest-description practice</a:t>
            </a:r>
            <a:endParaRPr sz="1080"/>
          </a:p>
        </p:txBody>
      </p:sp>
      <p:sp>
        <p:nvSpPr>
          <p:cNvPr id="17" name="Shape 15">
            <a:extLst xmlns:a="http://schemas.openxmlformats.org/drawingml/2006/main">
              <a:ext uri="{FF2B5EF4-FFF2-40B4-BE49-F238E27FC236}">
                <a16:creationId xmlns:a16="http://schemas.microsoft.com/office/drawing/2014/main" id="{8E48D0CA-D301-40BB-BD95-2E9DE15DC090}"/>
              </a:ext>
            </a:extLst>
          </p:cNvPr>
          <p:cNvSpPr>
            <a:spLocks xmlns:a="http://schemas.openxmlformats.org/drawingml/2006/main" noGrp="1"/>
          </p:cNvSpPr>
          <p:nvPr/>
        </p:nvSpPr>
        <p:spPr>
          <a:xfrm xmlns:a="http://schemas.openxmlformats.org/drawingml/2006/main">
            <a:off x="502920" y="3867912"/>
            <a:ext cx="11201400" cy="603504"/>
          </a:xfrm>
          <a:prstGeom xmlns:a="http://schemas.openxmlformats.org/drawingml/2006/main" prst="roundRect">
            <a:avLst>
              <a:gd name="adj" fmla="val 13636"/>
            </a:avLst>
          </a:prstGeom>
          <a:solidFill xmlns:a="http://schemas.openxmlformats.org/drawingml/2006/main">
            <a:srgbClr val="F3F8F9"/>
          </a:solidFill>
        </p:spPr>
      </p:sp>
      <p:sp>
        <p:nvSpPr>
          <p:cNvPr id="18" name="Text 16">
            <a:extLst xmlns:a="http://schemas.openxmlformats.org/drawingml/2006/main">
              <a:ext uri="{FF2B5EF4-FFF2-40B4-BE49-F238E27FC236}">
                <a16:creationId xmlns:a16="http://schemas.microsoft.com/office/drawing/2014/main" id="{DFE71A9F-831A-4A4C-A3F4-1B4BD06E7C82}"/>
              </a:ext>
            </a:extLst>
          </p:cNvPr>
          <p:cNvSpPr>
            <a:spLocks xmlns:a="http://schemas.openxmlformats.org/drawingml/2006/main" noGrp="1"/>
          </p:cNvSpPr>
          <p:nvPr/>
        </p:nvSpPr>
        <p:spPr>
          <a:xfrm xmlns:a="http://schemas.openxmlformats.org/drawingml/2006/main">
            <a:off x="777240" y="3941064"/>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A5C64"/>
                </a:solidFill>
                <a:latin typeface="Courier New"/>
                <a:ea typeface="Courier New"/>
                <a:cs typeface="Courier New"/>
              </a:rPr>
              <a:t>SAUDI_SMS_RCT_CASE.md</a:t>
            </a:r>
            <a:endParaRPr sz="1150"/>
          </a:p>
        </p:txBody>
      </p:sp>
      <p:sp>
        <p:nvSpPr>
          <p:cNvPr id="19" name="Text 17">
            <a:extLst xmlns:a="http://schemas.openxmlformats.org/drawingml/2006/main">
              <a:ext uri="{FF2B5EF4-FFF2-40B4-BE49-F238E27FC236}">
                <a16:creationId xmlns:a16="http://schemas.microsoft.com/office/drawing/2014/main" id="{06FD6887-3BC9-4F4F-A9FE-9F1FA6B4F14D}"/>
              </a:ext>
            </a:extLst>
          </p:cNvPr>
          <p:cNvSpPr>
            <a:spLocks xmlns:a="http://schemas.openxmlformats.org/drawingml/2006/main" noGrp="1"/>
          </p:cNvSpPr>
          <p:nvPr/>
        </p:nvSpPr>
        <p:spPr>
          <a:xfrm xmlns:a="http://schemas.openxmlformats.org/drawingml/2006/main">
            <a:off x="5074920" y="3941064"/>
            <a:ext cx="6446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80">
                <a:solidFill>
                  <a:srgbClr val="24313A"/>
                </a:solidFill>
                <a:latin typeface="Calibri"/>
                <a:ea typeface="Calibri"/>
                <a:cs typeface="Calibri"/>
              </a:rPr>
              <a:t>20-minute instructor-led M4–M6 worksheet with staged answer key</a:t>
            </a:r>
            <a:endParaRPr sz="1080"/>
          </a:p>
        </p:txBody>
      </p:sp>
      <p:sp>
        <p:nvSpPr>
          <p:cNvPr id="20" name="Shape 18">
            <a:extLst xmlns:a="http://schemas.openxmlformats.org/drawingml/2006/main">
              <a:ext uri="{FF2B5EF4-FFF2-40B4-BE49-F238E27FC236}">
                <a16:creationId xmlns:a16="http://schemas.microsoft.com/office/drawing/2014/main" id="{E0F161E7-84B0-4613-BCCA-FDEEF40BF817}"/>
              </a:ext>
            </a:extLst>
          </p:cNvPr>
          <p:cNvSpPr>
            <a:spLocks xmlns:a="http://schemas.openxmlformats.org/drawingml/2006/main" noGrp="1"/>
          </p:cNvSpPr>
          <p:nvPr/>
        </p:nvSpPr>
        <p:spPr>
          <a:xfrm xmlns:a="http://schemas.openxmlformats.org/drawingml/2006/main">
            <a:off x="502920" y="4544568"/>
            <a:ext cx="11201400" cy="603504"/>
          </a:xfrm>
          <a:prstGeom xmlns:a="http://schemas.openxmlformats.org/drawingml/2006/main" prst="roundRect">
            <a:avLst>
              <a:gd name="adj" fmla="val 13636"/>
            </a:avLst>
          </a:prstGeom>
          <a:solidFill xmlns:a="http://schemas.openxmlformats.org/drawingml/2006/main">
            <a:srgbClr val="F3F8F9"/>
          </a:solidFill>
        </p:spPr>
      </p:sp>
      <p:sp>
        <p:nvSpPr>
          <p:cNvPr id="21" name="Text 19">
            <a:extLst xmlns:a="http://schemas.openxmlformats.org/drawingml/2006/main">
              <a:ext uri="{FF2B5EF4-FFF2-40B4-BE49-F238E27FC236}">
                <a16:creationId xmlns:a16="http://schemas.microsoft.com/office/drawing/2014/main" id="{234F3406-E194-4E11-8B22-E703C3855010}"/>
              </a:ext>
            </a:extLst>
          </p:cNvPr>
          <p:cNvSpPr>
            <a:spLocks xmlns:a="http://schemas.openxmlformats.org/drawingml/2006/main" noGrp="1"/>
          </p:cNvSpPr>
          <p:nvPr/>
        </p:nvSpPr>
        <p:spPr>
          <a:xfrm xmlns:a="http://schemas.openxmlformats.org/drawingml/2006/main">
            <a:off x="777240" y="461772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A5C64"/>
                </a:solidFill>
                <a:latin typeface="Courier New"/>
                <a:ea typeface="Courier New"/>
                <a:cs typeface="Courier New"/>
              </a:rPr>
              <a:t>CDC_NHCS_EXTENSION.md</a:t>
            </a:r>
            <a:endParaRPr sz="1150"/>
          </a:p>
        </p:txBody>
      </p:sp>
      <p:sp>
        <p:nvSpPr>
          <p:cNvPr id="22" name="Text 20">
            <a:extLst xmlns:a="http://schemas.openxmlformats.org/drawingml/2006/main">
              <a:ext uri="{FF2B5EF4-FFF2-40B4-BE49-F238E27FC236}">
                <a16:creationId xmlns:a16="http://schemas.microsoft.com/office/drawing/2014/main" id="{BC6259B9-C02B-4F75-B5D3-173A71FDD3A2}"/>
              </a:ext>
            </a:extLst>
          </p:cNvPr>
          <p:cNvSpPr>
            <a:spLocks xmlns:a="http://schemas.openxmlformats.org/drawingml/2006/main" noGrp="1"/>
          </p:cNvSpPr>
          <p:nvPr/>
        </p:nvSpPr>
        <p:spPr>
          <a:xfrm xmlns:a="http://schemas.openxmlformats.org/drawingml/2006/main">
            <a:off x="5074920" y="4617720"/>
            <a:ext cx="6446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80">
                <a:solidFill>
                  <a:srgbClr val="24313A"/>
                </a:solidFill>
                <a:latin typeface="Calibri"/>
                <a:ea typeface="Calibri"/>
                <a:cs typeface="Calibri"/>
              </a:rPr>
              <a:t>45–60 minute extension on survey design, weights, replicate weights, and reporting</a:t>
            </a:r>
            <a:endParaRPr sz="1080"/>
          </a:p>
        </p:txBody>
      </p:sp>
      <p:sp>
        <p:nvSpPr>
          <p:cNvPr id="23" name="Shape 21">
            <a:extLst xmlns:a="http://schemas.openxmlformats.org/drawingml/2006/main">
              <a:ext uri="{FF2B5EF4-FFF2-40B4-BE49-F238E27FC236}">
                <a16:creationId xmlns:a16="http://schemas.microsoft.com/office/drawing/2014/main" id="{F7712603-DE9B-4F53-AAC7-F3C2F1C52202}"/>
              </a:ext>
            </a:extLst>
          </p:cNvPr>
          <p:cNvSpPr>
            <a:spLocks xmlns:a="http://schemas.openxmlformats.org/drawingml/2006/main" noGrp="1"/>
          </p:cNvSpPr>
          <p:nvPr/>
        </p:nvSpPr>
        <p:spPr>
          <a:xfrm xmlns:a="http://schemas.openxmlformats.org/drawingml/2006/main">
            <a:off x="502920" y="5221224"/>
            <a:ext cx="11201400" cy="603504"/>
          </a:xfrm>
          <a:prstGeom xmlns:a="http://schemas.openxmlformats.org/drawingml/2006/main" prst="roundRect">
            <a:avLst>
              <a:gd name="adj" fmla="val 13636"/>
            </a:avLst>
          </a:prstGeom>
          <a:solidFill xmlns:a="http://schemas.openxmlformats.org/drawingml/2006/main">
            <a:srgbClr val="F3F8F9"/>
          </a:solidFill>
        </p:spPr>
      </p:sp>
      <p:sp>
        <p:nvSpPr>
          <p:cNvPr id="24" name="Text 22">
            <a:extLst xmlns:a="http://schemas.openxmlformats.org/drawingml/2006/main">
              <a:ext uri="{FF2B5EF4-FFF2-40B4-BE49-F238E27FC236}">
                <a16:creationId xmlns:a16="http://schemas.microsoft.com/office/drawing/2014/main" id="{ACDB5D95-4813-4180-8E54-1ED4624AD440}"/>
              </a:ext>
            </a:extLst>
          </p:cNvPr>
          <p:cNvSpPr>
            <a:spLocks xmlns:a="http://schemas.openxmlformats.org/drawingml/2006/main" noGrp="1"/>
          </p:cNvSpPr>
          <p:nvPr/>
        </p:nvSpPr>
        <p:spPr>
          <a:xfrm xmlns:a="http://schemas.openxmlformats.org/drawingml/2006/main">
            <a:off x="777240" y="5294376"/>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A5C64"/>
                </a:solidFill>
                <a:latin typeface="Courier New"/>
                <a:ea typeface="Courier New"/>
                <a:cs typeface="Courier New"/>
              </a:rPr>
              <a:t>notebooks/saudi_sms_case_start.ipynb + solution</a:t>
            </a:r>
            <a:endParaRPr sz="1150"/>
          </a:p>
        </p:txBody>
      </p:sp>
      <p:sp>
        <p:nvSpPr>
          <p:cNvPr id="25" name="Text 23">
            <a:extLst xmlns:a="http://schemas.openxmlformats.org/drawingml/2006/main">
              <a:ext uri="{FF2B5EF4-FFF2-40B4-BE49-F238E27FC236}">
                <a16:creationId xmlns:a16="http://schemas.microsoft.com/office/drawing/2014/main" id="{139A945D-027C-413C-B373-9BC9DB08C8AF}"/>
              </a:ext>
            </a:extLst>
          </p:cNvPr>
          <p:cNvSpPr>
            <a:spLocks xmlns:a="http://schemas.openxmlformats.org/drawingml/2006/main" noGrp="1"/>
          </p:cNvSpPr>
          <p:nvPr/>
        </p:nvSpPr>
        <p:spPr>
          <a:xfrm xmlns:a="http://schemas.openxmlformats.org/drawingml/2006/main">
            <a:off x="5074920" y="5294376"/>
            <a:ext cx="6446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80">
                <a:solidFill>
                  <a:srgbClr val="24313A"/>
                </a:solidFill>
                <a:latin typeface="Calibri"/>
                <a:ea typeface="Calibri"/>
                <a:cs typeface="Calibri"/>
              </a:rPr>
              <a:t>Runnable Python practice; calculations are derived only from published aggregate counts</a:t>
            </a:r>
            <a:endParaRPr sz="1080"/>
          </a:p>
        </p:txBody>
      </p:sp>
      <p:sp>
        <p:nvSpPr>
          <p:cNvPr id="26" name="Shape 24">
            <a:extLst xmlns:a="http://schemas.openxmlformats.org/drawingml/2006/main">
              <a:ext uri="{FF2B5EF4-FFF2-40B4-BE49-F238E27FC236}">
                <a16:creationId xmlns:a16="http://schemas.microsoft.com/office/drawing/2014/main" id="{D9F11F7B-E717-4F65-8D4E-BB6C1D3BCAE5}"/>
              </a:ext>
            </a:extLst>
          </p:cNvPr>
          <p:cNvSpPr>
            <a:spLocks xmlns:a="http://schemas.openxmlformats.org/drawingml/2006/main" noGrp="1"/>
          </p:cNvSpPr>
          <p:nvPr/>
        </p:nvSpPr>
        <p:spPr>
          <a:xfrm xmlns:a="http://schemas.openxmlformats.org/drawingml/2006/main">
            <a:off x="502920" y="5897880"/>
            <a:ext cx="11201400" cy="603504"/>
          </a:xfrm>
          <a:prstGeom xmlns:a="http://schemas.openxmlformats.org/drawingml/2006/main" prst="roundRect">
            <a:avLst>
              <a:gd name="adj" fmla="val 13636"/>
            </a:avLst>
          </a:prstGeom>
          <a:solidFill xmlns:a="http://schemas.openxmlformats.org/drawingml/2006/main">
            <a:srgbClr val="F3F8F9"/>
          </a:solidFill>
        </p:spPr>
      </p:sp>
      <p:sp>
        <p:nvSpPr>
          <p:cNvPr id="27" name="Text 25">
            <a:extLst xmlns:a="http://schemas.openxmlformats.org/drawingml/2006/main">
              <a:ext uri="{FF2B5EF4-FFF2-40B4-BE49-F238E27FC236}">
                <a16:creationId xmlns:a16="http://schemas.microsoft.com/office/drawing/2014/main" id="{A0E9B63D-0CB9-4447-B734-4D5482236CA4}"/>
              </a:ext>
            </a:extLst>
          </p:cNvPr>
          <p:cNvSpPr>
            <a:spLocks xmlns:a="http://schemas.openxmlformats.org/drawingml/2006/main" noGrp="1"/>
          </p:cNvSpPr>
          <p:nvPr/>
        </p:nvSpPr>
        <p:spPr>
          <a:xfrm xmlns:a="http://schemas.openxmlformats.org/drawingml/2006/main">
            <a:off x="777240" y="5971032"/>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A5C64"/>
                </a:solidFill>
                <a:latin typeface="Courier New"/>
                <a:ea typeface="Courier New"/>
                <a:cs typeface="Courier New"/>
              </a:rPr>
              <a:t>references/OPEN_RESOURCES.md + SOURCES.md</a:t>
            </a:r>
            <a:endParaRPr sz="1150"/>
          </a:p>
        </p:txBody>
      </p:sp>
      <p:sp>
        <p:nvSpPr>
          <p:cNvPr id="28" name="Text 26">
            <a:extLst xmlns:a="http://schemas.openxmlformats.org/drawingml/2006/main">
              <a:ext uri="{FF2B5EF4-FFF2-40B4-BE49-F238E27FC236}">
                <a16:creationId xmlns:a16="http://schemas.microsoft.com/office/drawing/2014/main" id="{D7CEDEE1-56BB-4323-850D-98D66023EFF8}"/>
              </a:ext>
            </a:extLst>
          </p:cNvPr>
          <p:cNvSpPr>
            <a:spLocks xmlns:a="http://schemas.openxmlformats.org/drawingml/2006/main" noGrp="1"/>
          </p:cNvSpPr>
          <p:nvPr/>
        </p:nvSpPr>
        <p:spPr>
          <a:xfrm xmlns:a="http://schemas.openxmlformats.org/drawingml/2006/main">
            <a:off x="5074920" y="5971032"/>
            <a:ext cx="6446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80">
                <a:solidFill>
                  <a:srgbClr val="24313A"/>
                </a:solidFill>
                <a:latin typeface="Calibri"/>
                <a:ea typeface="Calibri"/>
                <a:cs typeface="Calibri"/>
              </a:rPr>
              <a:t>Module map to WHO/PubMed, CDC, ModernDive, OpenStax, Stanford, and Penn State</a:t>
            </a:r>
            <a:endParaRPr sz="1080"/>
          </a:p>
        </p:txBody>
      </p:sp>
    </p:spTree>
    <p:extLst>
      <p:ext uri="{BB962C8B-B14F-4D97-AF65-F5344CB8AC3E}">
        <p14:creationId xmlns:p14="http://schemas.microsoft.com/office/powerpoint/2010/main" val="256764690"/>
      </p:ext>
    </p:extLst>
  </p:cSld>
</p:sld>
</file>

<file path=ppt/slides/slide84.xml><?xml version="1.0" encoding="utf-8"?>
<p:sld xmlns:p="http://schemas.openxmlformats.org/presentationml/2006/main">
  <p:cSld>
    <p:bg>
      <p:bgPr>
        <a:solidFill xmlns:a="http://schemas.openxmlformats.org/drawingml/2006/main">
          <a:srgbClr val="0B314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ACA172C-5300-46FE-A984-B6C69D8A63E4}"/>
              </a:ext>
            </a:extLst>
          </p:cNvPr>
          <p:cNvSpPr>
            <a:spLocks xmlns:a="http://schemas.openxmlformats.org/drawingml/2006/main" noGrp="1"/>
          </p:cNvSpPr>
          <p:nvPr/>
        </p:nvSpPr>
        <p:spPr>
          <a:xfrm xmlns:a="http://schemas.openxmlformats.org/drawingml/2006/main">
            <a:off x="9692640" y="640080"/>
            <a:ext cx="146304" cy="146304"/>
          </a:xfrm>
          <a:prstGeom xmlns:a="http://schemas.openxmlformats.org/drawingml/2006/main" prst="ellipse">
            <a:avLst/>
          </a:prstGeom>
          <a:solidFill xmlns:a="http://schemas.openxmlformats.org/drawingml/2006/main">
            <a:srgbClr val="16525C"/>
          </a:solidFill>
        </p:spPr>
      </p:sp>
      <p:sp>
        <p:nvSpPr>
          <p:cNvPr id="3" name="Shape 1">
            <a:extLst xmlns:a="http://schemas.openxmlformats.org/drawingml/2006/main">
              <a:ext uri="{FF2B5EF4-FFF2-40B4-BE49-F238E27FC236}">
                <a16:creationId xmlns:a16="http://schemas.microsoft.com/office/drawing/2014/main" id="{BFD41300-80D3-4497-9EFD-45040DFB4C8A}"/>
              </a:ext>
            </a:extLst>
          </p:cNvPr>
          <p:cNvSpPr>
            <a:spLocks xmlns:a="http://schemas.openxmlformats.org/drawingml/2006/main" noGrp="1"/>
          </p:cNvSpPr>
          <p:nvPr/>
        </p:nvSpPr>
        <p:spPr>
          <a:xfrm xmlns:a="http://schemas.openxmlformats.org/drawingml/2006/main">
            <a:off x="10378440" y="640080"/>
            <a:ext cx="146304" cy="146304"/>
          </a:xfrm>
          <a:prstGeom xmlns:a="http://schemas.openxmlformats.org/drawingml/2006/main" prst="ellipse">
            <a:avLst/>
          </a:prstGeom>
          <a:solidFill xmlns:a="http://schemas.openxmlformats.org/drawingml/2006/main">
            <a:srgbClr val="16525C"/>
          </a:solidFill>
        </p:spPr>
      </p:sp>
      <p:sp>
        <p:nvSpPr>
          <p:cNvPr id="4" name="Shape 2">
            <a:extLst xmlns:a="http://schemas.openxmlformats.org/drawingml/2006/main">
              <a:ext uri="{FF2B5EF4-FFF2-40B4-BE49-F238E27FC236}">
                <a16:creationId xmlns:a16="http://schemas.microsoft.com/office/drawing/2014/main" id="{1297FE94-6343-461D-9F9D-9BC169695E6E}"/>
              </a:ext>
            </a:extLst>
          </p:cNvPr>
          <p:cNvSpPr>
            <a:spLocks xmlns:a="http://schemas.openxmlformats.org/drawingml/2006/main" noGrp="1"/>
          </p:cNvSpPr>
          <p:nvPr/>
        </p:nvSpPr>
        <p:spPr>
          <a:xfrm xmlns:a="http://schemas.openxmlformats.org/drawingml/2006/main">
            <a:off x="11064240" y="640080"/>
            <a:ext cx="146304" cy="146304"/>
          </a:xfrm>
          <a:prstGeom xmlns:a="http://schemas.openxmlformats.org/drawingml/2006/main" prst="ellipse">
            <a:avLst/>
          </a:prstGeom>
          <a:solidFill xmlns:a="http://schemas.openxmlformats.org/drawingml/2006/main">
            <a:srgbClr val="16525C"/>
          </a:solidFill>
        </p:spPr>
      </p:sp>
      <p:sp>
        <p:nvSpPr>
          <p:cNvPr id="5" name="Shape 3">
            <a:extLst xmlns:a="http://schemas.openxmlformats.org/drawingml/2006/main">
              <a:ext uri="{FF2B5EF4-FFF2-40B4-BE49-F238E27FC236}">
                <a16:creationId xmlns:a16="http://schemas.microsoft.com/office/drawing/2014/main" id="{2A08E3FC-AEFF-40F5-AAFE-9592B4B39C43}"/>
              </a:ext>
            </a:extLst>
          </p:cNvPr>
          <p:cNvSpPr>
            <a:spLocks xmlns:a="http://schemas.openxmlformats.org/drawingml/2006/main" noGrp="1"/>
          </p:cNvSpPr>
          <p:nvPr/>
        </p:nvSpPr>
        <p:spPr>
          <a:xfrm xmlns:a="http://schemas.openxmlformats.org/drawingml/2006/main">
            <a:off x="9692640" y="1325880"/>
            <a:ext cx="146304" cy="146304"/>
          </a:xfrm>
          <a:prstGeom xmlns:a="http://schemas.openxmlformats.org/drawingml/2006/main" prst="ellipse">
            <a:avLst/>
          </a:prstGeom>
          <a:solidFill xmlns:a="http://schemas.openxmlformats.org/drawingml/2006/main">
            <a:srgbClr val="C2660A"/>
          </a:solidFill>
        </p:spPr>
      </p:sp>
      <p:sp>
        <p:nvSpPr>
          <p:cNvPr id="6" name="Shape 4">
            <a:extLst xmlns:a="http://schemas.openxmlformats.org/drawingml/2006/main">
              <a:ext uri="{FF2B5EF4-FFF2-40B4-BE49-F238E27FC236}">
                <a16:creationId xmlns:a16="http://schemas.microsoft.com/office/drawing/2014/main" id="{CAD84434-33CD-455C-A9A5-A8E47C3046E1}"/>
              </a:ext>
            </a:extLst>
          </p:cNvPr>
          <p:cNvSpPr>
            <a:spLocks xmlns:a="http://schemas.openxmlformats.org/drawingml/2006/main" noGrp="1"/>
          </p:cNvSpPr>
          <p:nvPr/>
        </p:nvSpPr>
        <p:spPr>
          <a:xfrm xmlns:a="http://schemas.openxmlformats.org/drawingml/2006/main">
            <a:off x="10378440" y="1325880"/>
            <a:ext cx="146304" cy="146304"/>
          </a:xfrm>
          <a:prstGeom xmlns:a="http://schemas.openxmlformats.org/drawingml/2006/main" prst="ellipse">
            <a:avLst/>
          </a:prstGeom>
          <a:solidFill xmlns:a="http://schemas.openxmlformats.org/drawingml/2006/main">
            <a:srgbClr val="16525C"/>
          </a:solidFill>
        </p:spPr>
      </p:sp>
      <p:sp>
        <p:nvSpPr>
          <p:cNvPr id="7" name="Shape 5">
            <a:extLst xmlns:a="http://schemas.openxmlformats.org/drawingml/2006/main">
              <a:ext uri="{FF2B5EF4-FFF2-40B4-BE49-F238E27FC236}">
                <a16:creationId xmlns:a16="http://schemas.microsoft.com/office/drawing/2014/main" id="{72E723B3-50A1-4C1F-BC12-53B7CA78B082}"/>
              </a:ext>
            </a:extLst>
          </p:cNvPr>
          <p:cNvSpPr>
            <a:spLocks xmlns:a="http://schemas.openxmlformats.org/drawingml/2006/main" noGrp="1"/>
          </p:cNvSpPr>
          <p:nvPr/>
        </p:nvSpPr>
        <p:spPr>
          <a:xfrm xmlns:a="http://schemas.openxmlformats.org/drawingml/2006/main">
            <a:off x="11064240" y="1325880"/>
            <a:ext cx="146304" cy="146304"/>
          </a:xfrm>
          <a:prstGeom xmlns:a="http://schemas.openxmlformats.org/drawingml/2006/main" prst="ellipse">
            <a:avLst/>
          </a:prstGeom>
          <a:solidFill xmlns:a="http://schemas.openxmlformats.org/drawingml/2006/main">
            <a:srgbClr val="16525C"/>
          </a:solidFill>
        </p:spPr>
      </p:sp>
      <p:sp>
        <p:nvSpPr>
          <p:cNvPr id="8" name="Shape 6">
            <a:extLst xmlns:a="http://schemas.openxmlformats.org/drawingml/2006/main">
              <a:ext uri="{FF2B5EF4-FFF2-40B4-BE49-F238E27FC236}">
                <a16:creationId xmlns:a16="http://schemas.microsoft.com/office/drawing/2014/main" id="{BE739404-3D5E-4EFB-9228-6FB2C8801FB5}"/>
              </a:ext>
            </a:extLst>
          </p:cNvPr>
          <p:cNvSpPr>
            <a:spLocks xmlns:a="http://schemas.openxmlformats.org/drawingml/2006/main" noGrp="1"/>
          </p:cNvSpPr>
          <p:nvPr/>
        </p:nvSpPr>
        <p:spPr>
          <a:xfrm xmlns:a="http://schemas.openxmlformats.org/drawingml/2006/main">
            <a:off x="9692640" y="2011680"/>
            <a:ext cx="146304" cy="146304"/>
          </a:xfrm>
          <a:prstGeom xmlns:a="http://schemas.openxmlformats.org/drawingml/2006/main" prst="ellipse">
            <a:avLst/>
          </a:prstGeom>
          <a:solidFill xmlns:a="http://schemas.openxmlformats.org/drawingml/2006/main">
            <a:srgbClr val="16525C"/>
          </a:solidFill>
        </p:spPr>
      </p:sp>
      <p:sp>
        <p:nvSpPr>
          <p:cNvPr id="9" name="Text 7">
            <a:extLst xmlns:a="http://schemas.openxmlformats.org/drawingml/2006/main">
              <a:ext uri="{FF2B5EF4-FFF2-40B4-BE49-F238E27FC236}">
                <a16:creationId xmlns:a16="http://schemas.microsoft.com/office/drawing/2014/main" id="{AE66AC86-C124-4D04-921D-0EB6B565C102}"/>
              </a:ext>
            </a:extLst>
          </p:cNvPr>
          <p:cNvSpPr>
            <a:spLocks xmlns:a="http://schemas.openxmlformats.org/drawingml/2006/main" noGrp="1"/>
          </p:cNvSpPr>
          <p:nvPr/>
        </p:nvSpPr>
        <p:spPr>
          <a:xfrm xmlns:a="http://schemas.openxmlformats.org/drawingml/2006/main">
            <a:off x="822960" y="2103120"/>
            <a:ext cx="10058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300">
                <a:solidFill>
                  <a:srgbClr val="6FB3BC"/>
                </a:solidFill>
                <a:latin typeface="Calibri"/>
                <a:ea typeface="Calibri"/>
                <a:cs typeface="Calibri"/>
              </a:rPr>
              <a:t>SDA-DSC-111 · INSTRUCTOR TRAINING DECK</a:t>
            </a:r>
            <a:endParaRPr sz="1300"/>
          </a:p>
        </p:txBody>
      </p:sp>
      <p:sp>
        <p:nvSpPr>
          <p:cNvPr id="10" name="Text 8">
            <a:extLst xmlns:a="http://schemas.openxmlformats.org/drawingml/2006/main">
              <a:ext uri="{FF2B5EF4-FFF2-40B4-BE49-F238E27FC236}">
                <a16:creationId xmlns:a16="http://schemas.microsoft.com/office/drawing/2014/main" id="{E637BB2D-1595-4B15-B506-BA6789BB5212}"/>
              </a:ext>
            </a:extLst>
          </p:cNvPr>
          <p:cNvSpPr>
            <a:spLocks xmlns:a="http://schemas.openxmlformats.org/drawingml/2006/main" noGrp="1"/>
          </p:cNvSpPr>
          <p:nvPr/>
        </p:nvSpPr>
        <p:spPr>
          <a:xfrm xmlns:a="http://schemas.openxmlformats.org/drawingml/2006/main">
            <a:off x="82296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FFFFF"/>
                </a:solidFill>
                <a:latin typeface="Cambria"/>
                <a:ea typeface="Cambria"/>
                <a:cs typeface="Cambria"/>
              </a:rPr>
              <a:t>Teach the question,</a:t>
            </a:r>
            <a:endParaRPr sz="4400"/>
          </a:p>
          <a:p xmlns:a="http://schemas.openxmlformats.org/drawingml/2006/main">
            <a:pPr marL="0" indent="0">
              <a:buNone/>
            </a:pPr>
            <a:r>
              <a:rPr sz="4400" b="1">
                <a:solidFill>
                  <a:srgbClr val="FFFFFF"/>
                </a:solidFill>
                <a:latin typeface="Cambria"/>
                <a:ea typeface="Cambria"/>
                <a:cs typeface="Cambria"/>
              </a:rPr>
              <a:t>not the formula.</a:t>
            </a:r>
            <a:endParaRPr sz="4400"/>
          </a:p>
        </p:txBody>
      </p:sp>
      <p:sp>
        <p:nvSpPr>
          <p:cNvPr id="11" name="Text 9">
            <a:extLst xmlns:a="http://schemas.openxmlformats.org/drawingml/2006/main">
              <a:ext uri="{FF2B5EF4-FFF2-40B4-BE49-F238E27FC236}">
                <a16:creationId xmlns:a16="http://schemas.microsoft.com/office/drawing/2014/main" id="{9D48DDE8-DB64-43CB-9C15-E52D57C845D2}"/>
              </a:ext>
            </a:extLst>
          </p:cNvPr>
          <p:cNvSpPr>
            <a:spLocks xmlns:a="http://schemas.openxmlformats.org/drawingml/2006/main" noGrp="1"/>
          </p:cNvSpPr>
          <p:nvPr/>
        </p:nvSpPr>
        <p:spPr>
          <a:xfrm xmlns:a="http://schemas.openxmlformats.org/drawingml/2006/main">
            <a:off x="822960" y="4572000"/>
            <a:ext cx="10058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AECBD1"/>
                </a:solidFill>
                <a:latin typeface="Calibri"/>
                <a:ea typeface="Calibri"/>
                <a:cs typeface="Calibri"/>
              </a:rPr>
              <a:t>شكراً — SDAIA Academy · Capacity Building Sector</a:t>
            </a:r>
            <a:endParaRPr sz="1600"/>
          </a:p>
        </p:txBody>
      </p:sp>
    </p:spTree>
    <p:extLst>
      <p:ext uri="{BB962C8B-B14F-4D97-AF65-F5344CB8AC3E}">
        <p14:creationId xmlns:p14="http://schemas.microsoft.com/office/powerpoint/2010/main" val="161235606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2026-08-29T01:10:24.0200000Z</dcterms:created>
  <dcterms:modified xsi:type="dcterms:W3CDTF">2026-08-29T01:10:24.0200000Z</dcterms:modified>
</coreProperties>
</file>