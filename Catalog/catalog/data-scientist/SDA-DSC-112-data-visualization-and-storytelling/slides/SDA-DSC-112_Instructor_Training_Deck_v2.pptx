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406" r:id="rId157"/>
    <p:sldId id="407" r:id="rId158"/>
    <p:sldId id="408" r:id="rId159"/>
    <p:sldId id="409" r:id="rId160"/>
    <p:sldId id="410" r:id="rId161"/>
    <p:sldId id="271" r:id="rId17"/>
    <p:sldId id="272" r:id="rId18"/>
    <p:sldId id="273" r:id="rId19"/>
    <p:sldId id="274" r:id="rId20"/>
    <p:sldId id="275" r:id="rId21"/>
    <p:sldId id="276" r:id="rId22"/>
    <p:sldId id="277" r:id="rId23"/>
    <p:sldId id="278" r:id="rId24"/>
    <p:sldId id="279" r:id="rId25"/>
    <p:sldId id="280" r:id="rId26"/>
    <p:sldId id="281" r:id="rId27"/>
    <p:sldId id="282" r:id="rId28"/>
    <p:sldId id="411" r:id="rId162"/>
    <p:sldId id="412" r:id="rId163"/>
    <p:sldId id="413" r:id="rId164"/>
    <p:sldId id="414" r:id="rId165"/>
    <p:sldId id="283" r:id="rId29"/>
    <p:sldId id="284" r:id="rId30"/>
    <p:sldId id="285" r:id="rId31"/>
    <p:sldId id="286" r:id="rId32"/>
    <p:sldId id="415" r:id="rId166"/>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416" r:id="rId167"/>
    <p:sldId id="417" r:id="rId168"/>
    <p:sldId id="418" r:id="rId169"/>
    <p:sldId id="303" r:id="rId49"/>
    <p:sldId id="304" r:id="rId50"/>
    <p:sldId id="305" r:id="rId51"/>
    <p:sldId id="306" r:id="rId52"/>
    <p:sldId id="307" r:id="rId53"/>
    <p:sldId id="308" r:id="rId54"/>
    <p:sldId id="419" r:id="rId170"/>
    <p:sldId id="420" r:id="rId171"/>
    <p:sldId id="421" r:id="rId172"/>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422" r:id="rId173"/>
    <p:sldId id="423" r:id="rId174"/>
    <p:sldId id="323" r:id="rId69"/>
    <p:sldId id="324" r:id="rId70"/>
    <p:sldId id="325" r:id="rId71"/>
    <p:sldId id="326" r:id="rId72"/>
    <p:sldId id="327" r:id="rId73"/>
    <p:sldId id="328" r:id="rId74"/>
    <p:sldId id="424" r:id="rId175"/>
    <p:sldId id="425" r:id="rId176"/>
    <p:sldId id="426" r:id="rId177"/>
    <p:sldId id="427" r:id="rId178"/>
    <p:sldId id="329" r:id="rId75"/>
    <p:sldId id="330" r:id="rId76"/>
    <p:sldId id="331" r:id="rId77"/>
    <p:sldId id="332" r:id="rId78"/>
    <p:sldId id="333" r:id="rId79"/>
    <p:sldId id="334" r:id="rId80"/>
    <p:sldId id="335" r:id="rId81"/>
    <p:sldId id="336" r:id="rId82"/>
    <p:sldId id="337" r:id="rId83"/>
    <p:sldId id="338" r:id="rId84"/>
    <p:sldId id="339" r:id="rId85"/>
    <p:sldId id="340" r:id="rId86"/>
    <p:sldId id="428" r:id="rId179"/>
    <p:sldId id="429" r:id="rId180"/>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430" r:id="rId181"/>
    <p:sldId id="431" r:id="rId182"/>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432" r:id="rId183"/>
    <p:sldId id="433" r:id="rId184"/>
    <p:sldId id="434" r:id="rId185"/>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35" r:id="rId186"/>
    <p:sldId id="436" r:id="rId187"/>
    <p:sldId id="402" r:id="rId148"/>
    <p:sldId id="403" r:id="rId149"/>
    <p:sldId id="404" r:id="rId150"/>
    <p:sldId id="405" r:id="rId1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notesMaster" Target="notesMasters/notesMaster1.xml"/><Relationship Id="rId153" Type="http://schemas.openxmlformats.org/officeDocument/2006/relationships/presProps" Target="presProps.xml"/><Relationship Id="rId154" Type="http://schemas.openxmlformats.org/officeDocument/2006/relationships/viewProps" Target="viewProps.xml"/><Relationship Id="rId155" Type="http://schemas.openxmlformats.org/officeDocument/2006/relationships/theme" Target="theme/theme1.xml"/><Relationship Id="rId156" Type="http://schemas.openxmlformats.org/officeDocument/2006/relationships/tableStyles" Target="tableStyles.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5882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promise of the course: this is a craft module about turning correct analysis into decisions.
Point to the chips — three days, fifteen hours, practitioner level, tools they will actually use.
Set the tone that communication, not new analysis, is what gets graded across all three days.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as the thesis of the whole course.
Ask participants for a time their analysis was right but ignored — most will have one.
Frame the three days as closing the gap between analytical work and organisational decisions.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align expectations before the first lecture.
Confirm everyone has cleared the SDA-FND-104 prerequisite so no one is lost on the tooling.
Flag early that assessment is a dashboard plus a storytelling presentation, not a written exam.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word craft — this is skill practice, not a theory lecture.
The three bullets preview the arc: perception, honesty, then decision-ready delivery.
Reassure analysts that they already have the analytical skill; here they learn to make it land.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design choice of the course — one dataset carried through every lab.
Never introduce a throwaway example; always evolve the Tayseer artefact so the capstone stays achievable.
The SAR 40 million investment question is the exact deliverable shape their workplace expects.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outcome quickly and tie it to the module that delivers it.
Note that LO1–LO2 land on Day 1, LO3 on Day 2, and LO4–LO6 across Day 3.
Return to these at the wrap-up so participants can self-assess against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environment strategy up front so no one stalls on setup.
Primary path is local Jupyter with Plotly plus a BI tool; Colab and Tableau Public are the fallbacks.
Verify licences and both paths the week before delivery — do not discover a gap in the room.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the course — each module hands its output to the next.
Emphasise that the analysis is done early; the later modules only sharpen the communication.
Point out that every module contains a critique exercise, not just the storytelling ones.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the theory-to-lab ratio shifts each day: 45/55, then 40/60, then 30/70.
By Day 3 almost all time is hands-on because the skill being built is delivery under pressure.
Each day produces a concrete artefact that feeds directly into the capstone.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 1 sets culture: run the 'worst chart you've seen' discussion and establish critique norms.
Hours 2–3 are the perception core — use live demos so the encoding-accuracy ranking is felt, not told.
Hours 4–5 move from seeing to choosing; the first honest Tayseer chart is built in matplotlib or Plotly.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is the most lab-heavy — watch Lab 3 and Lab 4b, the two most overrun-prone sessions.
Publish starter notebooks and .pbix/.twbx files so stragglers fast-forward without losing the narrative.
By end of day each pair should have a working multi-view dashboard with filters and drill-down.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is deliberately presentation-heavy and low on new theory — protect the rehearsal time.
Collect dashboards and decks at the end of Hour 4 so you can pre-load them for live scoring in Hour 5.
Record the 7-minute presentations with consent; self-review is the strongest feedback in M6.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notes protect the flow of the whole course.
The golden thread is what makes the Day 3 capstone achievable — guard it against improvised examples.
Rotating pairs daily is deliberate: the exchange between 'can build it' and 'can see it' is the craft.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Saudi executive audience will notice a mirrored Arabic axis immediately — teach RTL ordering explicitly in M3.
Respect the prayer and break rhythm; the buffer minutes keep the day from slipping.
Critique culture is a prerequisite, not a nicety — the next slide expands on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two norms yourself in the first critique so participants copy the tone.
Insisting on a proposed fix keeps critique constructive and turns it into design practice.
A room that feels safe to be critiqued in is what makes the Day 3 peer review honest and useful.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divider hands off from the front matter into the first teaching module.
Preview that Module 1 covers pre-attentive attributes, encoding channels, and their honesty.
It leads directly into Lab 1, the perception audit on the Tayseer dataset.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reframing charting away from aesthetics: the question is never 'is it pretty' but 'does the eye decode it correctly'. Set expectation that this module is the bedrock everything else stands on. The aha: no amount of colour or polish saves a chart that encodes the signal in a channel the eye reads poorly.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stakes in the room's reality: these participants build dashboards that ministers and deputy ministers act on. Emphasise the glance-not-work behaviour of executives — the design must survive a three-second read. This motivates why perception, not preference, drives the rest of the course.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task, not a chart type: the task dictates the channel. Note the peripheral-vision case is where motion earns its place. These recur later, so plant them now as concrete anchors for the accuracy hierarchy.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the exit criteria for the module — each maps directly to a lab task and a benchmark. Tell participants they will be timed and audited against these, so they are outcomes, not aspirations. Return to this slide at the module close for a quick self-check.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are the spine of the module; every slide, code cell, and lab step serves one of them. Note 1.3 is the only one touching LO2 (design principles) and 1.5 the only one touching LO5 (governance/ethics). Point participants to which objective each upcoming section addresses.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'find the 3' demo here: a grid of grey 3s and 8s, then the same grid with the 3s in red. Time the room — the gasp when the red version resolves instantly is the lesson. The design consequence is the single most quoted line of the course: spend pre-attentive channels on the signal, not the chrome.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this is the salience list, not the accuracy list — a channel can grab attention yet be terrible for reading exact values (colour is the prime example). Have the room shout out which of these a typical dashboard wastes on gridlines. This grid doubles as a printable A4 reference poster.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table in the course — tell them so and make them copy it. The operational rule matters more than the ranks: use position for precise ranking, saturation only when the gestalt 'hot vs cold' is the actual task. The error to forbid is a low-accuracy channel (bubble area) for a high-precision task (budget figures).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inevitable defence 'but executives like pies': reframe it — they like understanding quickly, and a sorted bar wins that race. The dual-axis point is the subtlest: the crossing is an artefact of axis choice, not data. Make participants articulate the perceptual failure, not just say the chart is bad.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home that the same dataset supports many charts — the question picks the encoding. Use the Tayseer example: a map shows where well but how-much poorly, because area and colour dominate, so it is the wrong primary view for a ranking task. This table is the Lab 1 and Module 2 bridge.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bar-vs-line truncation distinction is the single point that confuses almost everyone — teach it explicitly and test it. Frame honesty as governance, not just ethics: in an audited decision pack a distorted chart is a finding. The lie factor is measurable, which you will demonstrate in code next.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this in five minutes: the committee argued whether branch usage was 'about a third or a quarter' because the 3D perspective made it ambiguous, then inferred a false cause-effect because the dual axis was scaled to make the lines cross. Same numbers, different encoding, opposite decision. This module is the reason the redesign worked — it is also the case study later.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Live-build this in under six minutes — the moment the sorted bar renders and the room can instantly rank the regions is the message. Point out the golden-thread rule: every chart in the notebook states the task it serves in a comment. Don't dwell on matplotlib syntax; the contrast is the whole point.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turns 'distortion is bad' into a number participants can compute. Run it, then move the ylim baseline up and watch the lie factor climb while the data stays put — distortion is a design choice, and it is measurable. Contrast with a line chart, where truncation is legitimate because slope, not length, is the encoding.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intended aha is that the sorted bar — the least flashy chart — wins, because it matches channel accuracy to task. Walk the room and find someone who ranked the heatmap #1, then use them kindly to surface the salience-vs-accuracy confusion for everyone. Fast finishers add a single red-laggard highlight as a bridge to Module 3.</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fast cold-call or think-pair-share; the benchmark target is at least 4 of 5. Question 3 is the discriminator — expect it to catch people, so linger on the bar-vs-line reasoning. Pair with the chart-critique exercise on the 3D exploded pie if time allows.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have pairs name the failures before you reveal them. Key discussion: why does the indexed-line redesign remove the false-causality reading the dual axis created? Constraints matter too: ~15 minutes, static slides, Arabic and English versions, and the numbers may not change — only the encoding.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measurable exit criteria — tie each back to the competencies slide. The 5-second ranking test and the computed lie factor are the two you should actually run in the room. Anything short of these means the encoding or honesty lesson did not land, so remediate before Module 2.</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the shape of the deliverable participants produce in the lab. The heatmap 'partial / supporting view' row is deliberate — it is not banned, it is scoped to pattern-only tasks. Use it to reinforce that verdicts follow task-match and decode accuracy, not personal taste.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staircase diagram as the anchor image reused across the whole course — commission it first. The 'find the 3' pair is the opening-gasp asset, so it must be ready for the very start of the module. All labs depend on tayseer_services.csv and its data dictionary being distributed in advance.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module as the bridge from Module 1's perception rules to a concrete decision procedure. The promise: choose the right chart in ten seconds, then make it readable with five principles. Tell participants this is where 'what looks nice?' is replaced by 'what does the comparison require?'.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reframing: the module replaces decoration with argument. The recurring aha is that the chart is chosen by the question, not by what is visually attractive. Preview that the two-step procedure plus five principles are the whole toolkit for the module.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stakes in the room's reality: chart selection is a trust signal to a committee. Contrast the analyst who ships the right chart per question with the one who ships default pies. The business payoff is a pace of analysis that keeps up with the pace of decisions.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task that dictates the chart: trend needs a line, ranking needs a sorted dot plot, distribution needs a box. Stress the health case — an average bar hides the outliers that drive the decision. These three motivate the question-type table that follows.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the exit criteria: six question types, five principles, zero anti-patterns, four honest builds. Each maps to a lab task and a benchmark, so they are outcomes, not aspirations. Return to this slide at the module close for a fast self-check.</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are the spine of the module; every slide and lab step serves one. Note 2.1 is the selection skill (LO1) while 2.2–2.4 are design (LO2), and 2.5 unites both in code. Point participants to which objective each upcoming section addresses.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Step 1 before anything: naming the question is what prevents re-styling the wrong chart. The subtle move is Step 3 — 'too many' (like Tayseer's 13 regional lines) is a signal to facet, not to draw a denser chart. Have the room name the six question types aloud.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reference for Lab 2 — have participants copy it. The columns encode the escalation: as categories or series grow, the answer is faceting or highlight-one, never a denser single chart. Note geospatial 'how-much' leads with a sorted bar and uses the map only as support.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are non-negotiable for every chart the course produces. Principle 4 is the one that converts analysis into decision-support: a reference line makes 'above/below target' readable. Tell participants the lab audits each chart against all five as a checklist.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workhorse: small multiples trade a little space for an enormous gain in comparability. The three rules — shared scales, consistent ordering, one highlight colour — are what make the grid readable. Preview the live demo where you convert the spaghetti chart in under seven minutes.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participants name the perceptual failure, not just dislike the chart. The stacked-bar point is subtle — only the bottom segment shares a baseline, so middle segments cannot be compared. Each of these six appears deliberately in a Lab 2 starter for them to diagnose.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habits do the most work here: banking to 45° so the trend reads honestly, and titling with the takeaway rather than the topic. Flag RTL as a frequent, avoidable error in Saudi bilingual decks — the time axis and bar order must mirror for Arabic. The takeaway-title habit beats any styling for executive comprehension.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the shared library, not the matplotlib: analysts call sorted_bar() instead of raw plotting so consistency is automatic. Walk the inline comments — each maps to one of the five principles. This is the visual analogue of a shared feature module and pays off exactly as much.</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 dual axis manufactures a crossing; indexing both series to a common base of 100 makes them honestly comparable on one axis. Note the direct labels at the last point — no legend. Contrast with the original satisfaction-vs-cost dual axis that invented a false relationship.</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picks: Q1 sorted bar, Q2 line, Q3 box, Q4 scatter. The highest-value moment is Q3 — many default to a bar of averages and are surprised a box plot reveals a completely different story via the outliers. Let that surprise land: the chart choice changes the conclusion. Fast finishers facet the Q1 sorted bar by channel.</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fast cold-call or think-pair-share; the benchmark target is at least 4 of 5. Question 4 is the conceptual one — a reference line is what turns numbers into judgements. Pair with the chart-critique on the 6×13 clustered bar if time allows.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have pairs propose fixes before you reveal the solution. The key insight is the shared region order across all four panels: it enables the 'good here, bad there' reading four independent charts destroy. Push the 'lower is better' handling for cost and completion time so all columns read consistently, and keep it colour-blind-safe.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measurable exit criteria — tie each back to the competencies slide. The two to actually run in the room are the &lt; 8 s laggard-finding test on the small multiples and the anti-pattern audit at zero. Anything short means selection or design did not land, so remediate before Module 3.</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the shape of the deliverable participants produce. The Q3 row is deliberately not 5/5 — a box plot without value labels is close but needs a revision pass. Verdicts follow principle-compliance and anti-pattern avoidance, not personal taste.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Commission the decision tree first — it is the module's spine and reused throughout. The spaghetti-to-small-multiples split and the anti-pattern gallery are the two recognition-training anchors. All labs depend on tayseer_services.csv, lab2_questions.md, and the charts.py starter being distributed in advance.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module as where a technically-correct chart becomes a persuasive one. Tell the room this is where the largest, cheapest gains in clarity live — decluttering and annotation beat any change of chart type. Set up that M2 chose the chart; M3 finishes it.</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these are the cheapest, highest-yield moves in the whole course — they cost minutes and beat re-picking a chart type. The aha: a persuasive chart is a correct chart plus meaning-bearing colour, one explicit annotation, and nothing else. Preview that colour is the most abused channel in enterprise reporting.</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it in the room: red/green that excludes ~1 in 12 men is both a comprehension failure and, in a national-program context, a compliance one. The forwarding point matters — the annotated 'this is the point' is what lets a chart survive being emailed onward without you there to narrate it. Tie the abuse column to charts they have all shipped.</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as a task the colour must serve: exception-spotting, public bilingual accessibility, and pre-attentive above/below. The scorecard case is the single accent + grey discipline they will apply all module. The dashboard case previews the target-centred diverging palette shown in code later.</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the module's exit criteria — each maps to a lab step and a benchmark. Note that palette choice and accessibility are the two most testable, and localisation is the one Saudi-specific competency examiners will look for. Return to this slide at close for a self-check.</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five objectives serve LO2 (design principles); 3.3 also touches LO4 (storytelling) because annotation is where design and narrative meet. Point participants to which objective each upcoming section addresses. These are the spine of the module.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memorise the three-way mapping; this is the colour equivalent of M1's accuracy hierarchy. Stress the diverging rule: the neutral colour must sit at the meaningful midpoint (the target), not at the data mean, or the 'above/below' shifts. The two failure columns are the two colour lies expanded on next.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 figure is the number that ends the argument — say it, then show that redundancy (a second channel) is the fix, not just a nicer palette. The brand trap is common: teams use the full five-colour brand palette as a categorical scheme and spend all salience on chrome. Reserve the accent for the one signal.</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failures worth naming aloud so participants catch them in the wild. The rainbow-on-ordered lie invents breaks; the sequential-on-centred lie hides the meaningful midpoint. Both map straight back to the three-family table — the fix is always to match the palette to the data type.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 junk first, then lighten, and never remove data ink. Give them the test: remove an element; if the chart still answers its question, the element was junk. Warn that decluttering is not minimalism for its own sake; the goal is attention on the data, not a bare chart.</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rule to enforce: annotate the point you are making, not everything. Highlight the callout as the workhorse — a short text plus a leader line at the specific evidence. Executives are the exception on value labels: they want both the exact number and the shape, so direct labels earn their ink.</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Saudi-audience slide — a left-to-right time axis reads backwards to an Arabic-first reader, so the whole axis must mirror, not just the labels. Note the house-style split: government analytics often use Western Arabic numerals but Arabic-Indic in formal text. The rendering trap (broken glyphs) catches almost everyone in the lab.</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Okabe–Ito is a published colour-blind-safe categorical palette, so accessibility is a default, not a per-chart decision. The theme bakes in the decluttering ladder — spines off, faint grid, left-aligned bold title. highlight_palette is the M1 pop expressed in colour: one accent, grey for the rest.</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line that matters is vcenter=TARGET — set it to the data mean and the whole above/below reading shifts, which is the most common diverging mistake. Below target is blue (good), above is red, so the five over-target regions pop pre-attentively. The takeaway title states the conclusion, not the axis.</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module's signature exercise and the highest-satisfaction moment of the course — participants routinely photograph their before/after. Enforce the one-callout rule strictly; the instinct is to annotate everything, which recreates the clutter. Budget floater support for the Arabic-rendering step — it catches almost everyone the first time.</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fast cold-call or think-pair-share. Question 1 is the discriminator — 'centred on the target' is the part people forget. Pair with the palette-match card game if time allows: mismatches like rainbow-on-sequential are the teaching moments.</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have pairs name the fixes before you reveal them. The sharpest discussion question: why must the entire time axis mirror, not just the translated labels? Constraints matter: matched Arabic and English editions, provably identical message, brand palette, house-style numerals, and it must render in the PDF and web pipeline.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measurable exit criteria — tie each back to the competencies slide. The two to actually run in the room are the colour-blind simulator pass and the before/after element count. Annotations target is 1–2, deliberately not 0 and not 20.</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the shape of the deliverable the lab produces. The time-to-takeaway drop from 14s to 4s is the number participants feel — a peer reads the redesigned chart in a quarter of the time. Every figure here is measurable, which is the point: accessibility and clarity are testable, not matters of taste.</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cluttered_m3.png before/after pair as the anchor assets — the whole lab and the highest-satisfaction moment depend on them being ready. The Arabic font bundle is easy to forget and blocks the RTL step, so distribute it in advance. The palette decision chart doubles as a printable reference poster.</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shift: Modules 1–3 composed single honest static views; this module composes a whole system. A dashboard is not a slide with more charts on it — it is a small piece of software with a job, an audience, and a known failure mode. Set the golden thread: everything here builds one Tayseer executive dashboard.</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reframing: a dashboard is not more charts on a slide, it is a small piece of software with a job. Name the golden-thread question early so the whole module has a target. The 'argument with controls' line is the module's thesis — repeat it.</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stakes: these participants build dashboards ministries act on weekly. Stress the failure economics — shelfware in a fortnight is the default outcome, not the exception. The punchline: in a room full of Vision 2030 dashboards, design is the only differentiator, because everyone has the same data.</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job with an audience and a cadence, not a chart type. The first card is the whole module in one sentence — one number, one trend, three laggards, above the fold. The third card previews RLS and mobile, which decide whether a government dashboard can be shared at all.</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exit criteria, not aspirations — each is timed or audited in the lab. The last one, the usability test, is the module's real proof: a dashboard the builder can read is not the goal; one a non-analyst can read is. Return here at module close for a self-check.</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are the spine of the module; every slide and lab step serves one. Note 4.3 is the only one touching LO2 (design) and 4.6 the only one touching LO5 (evaluation/iteration). Point participants to which objective each upcoming section addresses.</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room write the one-sentence brief before any chart — audience, decision, cadence. The wall of gauges fails for the Module 1 reason: no hierarchy, no entry point. Land the inverse: a dashboard is an argument with controls, not a data dump with chrome.</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to memorise: the top answers the question, the bottom explains it. A user who reads only the top band should already know whether to worry. Tie the Z/F eye-path and RTL mirror back to Module 3 — the same discipline scales from a single axis to a whole layout.</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commonest self-service bug is not a broken chart — it is a user misreading a filtered view as the whole. So the design discipline is legibility: every active filter shown as text, every drill level a breadcrumb, every selection obviously selected. Have the room match five real tasks to these four patterns.</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stance: the design principles are identical across tools; only the mechanics differ. A star schema and a DAX measure is the same idea as a tidy dataframe and an aggregation. Participants build once in Plotly to own the logic, then reproduce in a BI tool to meet the organisation where it is.</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the single most common BI defect: a hard-coded national average that does not re-compute under a filter. The additivity point is the highest-value idea in the module — percentages are non-additive and must be recomputed from unique_users. The lab makes them print both numbers to feel it.</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recurring theme: the dashboard must answer its question before any click — interaction refines an answer, it is not required to get one. RLS is a sharing gate in government, not a nicety. Note the common mistakes list closes the loop with Modules 1–2: donuts and gauges are still wrong inside a dashboard.</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Live-build this in under six minutes; the message is the moment the KPI, trend and laggard bar resolve into one screen. Point at national_adoption(): the percentage is recomputed from unique_users because it is non-additive. Stress every measure is computed at query time so filters stay honest.</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cross-filter callback is the aha: one click re-scopes every view, and the selected region is echoed into the title so state is legible. Protect this in the lab — it is the most overrun-prone task. Note the toggle only shows the 65% target line on the adoption measure, or the meaning would change without relabelling.</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 to this straight after the Plotly build to show the identical logic as a BI measure — same non-additive recompute, tool-agnostic then tool-specific. The RLS role is the government-sharing gate: a region director resolves to their own region via USERPRINCIPALNAME. Emphasise the measure re-computes under every filter.</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averages-of-averages task is the highest-value moment — most participants have shipped that bug in production; make them print both numbers. The second aha is watching a naive peer answer 'which two regions need intervention?' The cross-filter task overruns — protect it. Fast finishers add a mobile-stacked layout.</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fast cold-call or think-pair-share; benchmark target is at least 4 of 5. Question 3 is the discriminator — linger on why percentages are non-additive. Pair with the interaction-pattern match exercise: five tasks, label each filter/cross-filter/drill/toggle.</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have pairs name why the sorted laggard bar belongs above the fold but the 18-metric detail does not. Key discussion: how do you prevent a filtered view being misread as national? (surface state). The deepest question: moving from monthly PDF to weekly dashboard changes who makes the intervention decision — surface whether that is intended.</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measurable exit criteria — tie each back to the competencies slide. The two to actually run in the room are the 15-second naive-user test and the non-additive correctness check. Anything short means the hierarchy or non-additivity lesson did not land; remediate before Module 5.</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the shape of the deliverable the lab produces. The 61.2% vs 63.8% row is the averages-of-averages bug made concrete — the naive mean and the recomputed value genuinely diverge. Drive home that every improvement here is design, not data: identical numbers, opposite usability.</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inverted-pyramid diagram as the module's spine — commission it first, with the Arabic RTL mirror. The averages-of-averages demonstrator notebook is the highest-value simulation; it must be ready for the lab. All lab tasks depend on tayseer_services.csv and the BI starter model being distributed in advance.</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module by naming the through-line: Modules 1–4 built the visual and interactive craft, and this module supplies the missing structure. Preview the arc of the module — framing, the Big Idea, arcs, scenes, BLUF, and the seven-slide storyboard. The Tayseer dashboard now becomes a seven-slide case for where to invest the next SAR 40 million.</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storytelling away from decoration: it is the deliberate sequencing of evidence, not charts made pretty. Draw the exploration-vs-story contrast — open and analyst-driven versus linear and author-controlled. The aha is that the story exists to make the recommendation feel inevitable by the final slide.</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stakes in the room's reality: committees and decision memos reward a clear Big Idea and punish a data dump. The line to land is that the difference between making charts and being in the decision is narrative structure. Frame storytelling here not as a soft skill but as the mechanism that turns analysis into policy.</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decision the narrative must serve, not a chart type. The memo case foreshadows BLUF; the wait-times case foreshadows sequencing the 'so what' first. These three recur through the module as concrete anchors.</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the module's exit criteria — each maps to a lab task and a benchmark. Flag self-editing as the one participants resist most: subtraction is the storytelling. Return to this slide at the module close for a self-check.</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are the spine of the module; every slide and lab step serves one. Note 5.4 reaches back to LO2 (annotation) and 5.5 forward to LO6 (executive communication). Point participants to which objective each section addresses.</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foundational distinction of the module: open and non-linear for finding, closed and linear for receiving. Name the failure explicitly — dumping the exploratory dashboard on the committee and narrating every filter. The move is to explore privately, then throw almost all of it away.</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framing is the highest-leverage step in the whole module — a technically perfect deck aimed at the wrong belief or decision fails completely. Use the Tayseer options concretely: three named uses of the SAR 40 million. The fourth question plants the anticipated objection ('aren't those regions just small?') so its rebuttal can be seated in the arc.</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sentence aloud, then read a topic version back to back ('here is our Q3 adoption data') — the difference is the lesson. Have the room point to the point of view, the stakes, and the implied action inside it. This one sentence becomes the BLUF and the presentation's opening line.</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three-part test explicitly: point of view, what's at stake, implied action. The operational rule is the peer-restatement test — if a neighbour cannot restate the recommendation from the sentence alone, it is a topic, not an idea. Every slide in the deck lives or dies by whether it builds toward this sentence.</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arc as the skeleton and the charts as the flesh hung on it. The default for an executive investment decision is SCR because it matches how committees actually decide: shared context, one clear complication, resolution to the ask. Map each to Tayseer — SCR for the recommendation, What-is/could-be to contrast 63.8% versus 65%+, chronological for how the March outage created the Najran plateau.</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a scene from an exhibit: a scene makes one point and carries a takeaway title. The progressive-reveal idea is the aha — build the chart in layers so the audience thinks one thought at a time rather than decoding a dense chart cold. Close on 'sequence is argument': the order of scenes is itself the reasoning.</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BLUF inverts the analyst's instinct (methodology → results → conclusion) into the decision-maker's need (conclusion → evidence → method-on-request). Walk the seven scenes as a reusable course template, noting the appendix holds the dashboard for Q&amp;A. Land the ruthless-editing test: if a slide does not advance the decision, it goes to the appendix — a seven-slide deck beats a thirty-slide one.</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this in under eight minutes — the point is that the same regional bar becomes three scenes by changing only the highlight and the takeaway title. Show the situation, complication, and evidence versions back to back so the room sees sequence as argument. This is Modules 1 and 3 (highlight/mute, callouts) applied at the deck level.</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here is that structure is checkable, not vibes: the audit asserts BLUF leads, the deck is at most seven scenes, and every scene advances the decision. Run it against a weak storyboard live so the room sees it fail. Each Scene declares the one sentence the audience should think — that message is the slide title.</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peer-restatement test on the Big Idea (task 2) is make-or-break — do not let pairs proceed until a neighbour can restate the recommendation from the sentence alone. The second high-value moment is the appendix cut (task 6); technical participants resist cutting good analysis and must feel that subtraction is the storytelling. Fast finishers build the What-is/could-be version and compare which arc lands harder.</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fast cold-call or think-pair-share. Question 2 (POV / stakes / action) and question 5 (the advance-the-decision test) are the two that anchor the whole module — linger on them. Pair with the Big-Idea slam: participants read their sentence and the room votes idea or topic.</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have pairs explain why exporting the dashboard fails even though every chart is individually good (no Big Idea, no sequence, no BLUF). The key discussion is where the 'those regions are just small' objection belongs and that a per-capita evidence scene retires it. Close on how BLUF changes the committee's experience of the same fifteen minutes.</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the shape of the before/after participants produce in the lab: 22 slides with the recommendation buried on slide 22 versus 7 slides with BLUF first. The row that matters most is peer time to grasp the ask — from 'did not finish' to 70 seconds from the BLUF alone. Tie each row back to a benchmark: peer-restatement, slide count, and the storyboard audit.</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exploration-to-explanation funnel as the anchor image — it carries the module's core distinction with 'throw most of it away' at the neck. The before/after deck (22 vs 7 slides) is the whole module in one image, so commission it early. All lab work depends on tayseer_services.csv, the M4 findings, and the story/ starter being distributed in advance.</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shift: everything so far was design; this module is delivery, and it is a lab, not a lecture. Executive delivery improves only through reps and recorded feedback — never through slides about delivery. Tell the room they will be recorded, critiqued, and asked to iterate across two rounds today.</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reframe: the craft here is different from everything before — it is delivery, not design. Stress the scarcity of the moment: three minutes of partial attention is all you get. The aha they will feel today is that watching their own recording teaches more than any critique.</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stakes in the room's reality: these participants brief ministers and deputy ministers who act on their charts. Make the contrast vivid — same analysis, opposite outcome, decided purely on delivery. The trusted advisor is the one invited back; that is the prize.</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delivery situation, not a chart. The middle case shows the discipline scales down — a corridor top-line is still recommendation-first. The third previews the Q&amp;A technique that anchors the module: separate the number from the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exit criteria: each maps to a lab task and a benchmark today. The last one is the module's engine — measurable improvement across two recorded rounds, where the delta is the grade. Return to this slide at close for a self-check.</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are the spine of the module; every section serves one. Note 6.3 reaches back to LO4 (chart craft) and 6.6 to LO5 (the storytelling arc being delivered). All map to LO6, executive communication — this is where the course's outcome is proven.</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Module 5's BLUF, now a delivery behaviour. Hammer the second point: front-loading is insurance against the interruption you cannot control. The common misconception is that depth persuades — it survives scrutiny, but the top-line is what actually decides.</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clock aloud so the room feels how little time each beat gets. The say-the-ask-twice rule is the single most portable takeaway — write it on the board. Everything in the middle exists only to earn permission for the second ask.</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'orient before assert' live with a Tayseer bar chart — say the axes, pause, then the point. The most common failure is reading the chart aloud, treating the title as a script. The title is the takeaway; the presenter supplies the why and the so-what.</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hostile row is the one to drill: separating the challenged number from the recommendation is the move that keeps composure. Stress that a prepared Q&amp;A appendix — the cut slides from Module 5 — is what makes calm answers possible. Never bluff a number; one unravelled figure sinks everything.</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decision culture to the self-contained annotated scenes of Modules 3 and 5 — your recommendation must survive being discussed without you in the room. Reframe the BLUF as courtesy, not just technique: brevity respects senior time. Read the real decision flow, which may run through aides.</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common mistakes: burying the ask, reading slides, defending a challenged number to the death, running over, apologising for a busy slide. The reliable aha is the Round-1 to Round-2 delta — seeing improvement on video converts skeptics. Obtain recording consent up front and reassure the room the videos are theirs.</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so the room sees the ask printed at both 0:00 and the close. The assert is the point: if the total exceeds seven minutes it forces a cut, not a rush. Tie it back to the say-the-ask-twice rule and the 'cut to the ask' move for a halved slot.</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is the lesson: every entry ends in a bridge, so no answer leaves the recommendation behind. Insist on at least one hostile and one 'your data is wrong' question, each reconciled honestly to the appendix. Preparing this matrix is what turns a frozen presenter into a calm one.</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recording is non-negotiable and is the module's engine — get consent up front and reassure the room the videos are theirs. The reliable aha is the delta: almost everyone jumps 20–40 points by leading with the ask and holding time. Play the tough committee member yourself for one pair to model the hostile-question bridge.</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fast cold-call or think-pair-share. Question 3 is the discriminator — expect it to catch people who default to defending the number rather than separating it. Pair with the bridge drill: fire off-topic and hostile questions rapid-fire, one bridge per breath.</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Facilitate, don't lecture — have pairs diagnose why three minutes of accurate history still loses the room before revealing it. Key discussion: how the challenged adoption number, reconciled honestly, strengthens rather than derails the briefing. Constraints matter: bilingual, protocol-sensitive, static slides with a Q&amp;A appendix, slot may be halved on the spot.</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measurable exit criteria — tie each back to the competencies slide. The improvement row is the one that matters most: at least +15 points between rounds, computed by the rubric scorer. Anything short means the BLUF or time lesson did not land; remediate before the capstone.</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the shape of the deliverable — the before/after is the grade, not the absolute Round 2 score. Point out the biggest mover is almost always the opening: leading with the ask lifts the whole briefing. The 50% to 87% jump is what converts skeptics when they see it on their own recording.</a:t>
            </a:r>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attention-decay curve as the module's anchor image — it justifies front-loading in one glance. The hostile-committee bot and halved-slot drill are the two simulations that make Q&amp;A prepared rather than improvised. All assets depend on the M5 storyboard and recording-consent forms being ready before the lab.</a:t>
            </a:r>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divider hands off from Module 6 into the graded capstone and the course close.
Preview the shape of Day 3: assemble the artefact, rehearse it, then present live for a rubric score.
Remind the room the analysis is already done — only the communication is being assembled and graded.</a:t>
            </a:r>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capstone as the convergence point: perception, chart choice, colour, dashboard, and narrative all feed this one briefing.
Stress that the SAR 40 million allocation is the exact deliverable shape the workplace expects, not an academic exercise.
The golden thread makes this achievable — the analysis was carried through every lab, so today is communication only.</a:t>
            </a:r>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concrete artefact the participant leaves the room owning.
Note the dashboard and the presentation are the two graded pieces — the storyboard is the plan that produces the presentation.
Collect the files at the end of Hour 4 so you can pre-load them and score live during the final hour.</a:t>
            </a:r>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recaps Module 5's arc as the Module 6 delivery template: three supporting beats sit between two statements of the ask.
The single most important rule is 'say the ask twice' — once as the BLUF, once to close; everything between earns the second ask.
Point out the time boxes sum to seven minutes, so cutting is a design choice under pressure, not rushing.</a:t>
            </a:r>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clear the course is graded on two artefacts, not a written exam — a dashboard and a delivered story.
The logistics matter: collect files at the end of Hour 4 so the final hour is all presentations and live scoring.
Record the presentations with consent — reviewing one's own delivery is the single most effective feedback in M6.</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fixed rubric applied to two recorded rounds — the reliable aha is the Round-1 to Round-2 delta.
Almost everyone jumps 20–40 points simply by leading with the ask and holding time; seeing it on the rubric converts skeptics.
Keep critique specific and kind — critique the delivery, not the person, and pair one fix with every criticism.</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span the course from encoding accuracy through to delivery — tie each back to the module that owns it.
The 5-second ranking test, the computed lie factor, and the 30-second ask are the ones to actually run live.
Anything short of these means the lesson did not land — remediate before moving on rather than papering over it.</a:t>
            </a:r>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notes protect the flow of Day 3, the most presentation-heavy and time-pressured day.
A Saudi executive audience notices a mirrored Arabic axis immediately, so the RTL discipline is not optional.
Verify both environment paths and licences the week before — do not discover a gap live in the room.</a:t>
            </a:r>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 clear default so no one stalls on setup: Jupyter + Plotly plus a BI tool.
Power BI is the Windows path; Tableau Public is the cross-platform fallback for the BI labs.
The week-before verification of both paths and licences is the instructor's job, not the participant's.</a:t>
            </a:r>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stackability: this course is a required step toward the Practitioner certificate.
Name the communication badge as a concrete credential earned by completing the course.
Point participants to SDA-DSC-211 as the next course so the path forward is explicit.</a:t>
            </a:r>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single spine: encoding accuracy, chart choice, declutter, dashboard, narrative, delivery.
Each module handed its output to the next — the same Tayseer artefact, sharpened at every stage.
The point of the whole course is the last mile: a correct analysis either changes a decision or dies in a slide nobody understood.</a:t>
            </a:r>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as the one line participants carry out of the room.
It reframes the whole course: their analytical skill is not in question — making it land is the craft they practised.
In a Vision 2030 delivery unit, this is the difference between analytics that informs decisions and analytics that decorates them.</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and point them to the path forward: the badge, the Practitioner certificate, and SDA-DSC-211.
Remind them the recordings are theirs — reviewing their own delivery is the most durable feedback they leave with.
Close on the thesis: they now close the last mile between analysis and the decisions it should change.</a:t>
            </a:r>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Hold this slide up at the start of Day 1 and again at the close. The point is not to assign homework — it is to show that every rule in this course has a source, and that the instructor can be challenged on any of them. Flag the 10th-anniversary edition explicitly: the mapping on the next slide is verified against the 2015 first edition, and the 2025 edition is 336 pages against 288 with 'expanded content', so its chapter list may differ — check a participant's copy rather than asserting. Either way, say 'six lessons, ten chapters' rather than 'six chapters', which is the common error.</a:t>
            </a:r>
          </a:p>
        </p:txBody>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exists because the commonest question from a participant who has read the book is 'so what is this course for?'. The answer is on the right-hand column: the book tells you what good looks like; this course makes you produce it under the constraints of a government programme — a real dataset, an accessibility standard, a bilingual audience and a committee at the end. Say 'six lessons, ten chapters' — lessons 1–5 are chapters 1–5 one-to-one, lesson 6 is chapter 7.</a:t>
            </a:r>
          </a:p>
        </p:txBody>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Introduce all three on Day 1 Hour 1, then let them surface where they belong: Case C in M2 (normalisation and ranking), Case B in M3 and M4 (annotation, KPI design, dashboards), Case A everywhere. The framing that lands with a government audience is the last box: honesty is not a constraint on influence, it is what makes influence survive the next meeting.</a:t>
            </a:r>
          </a:p>
        </p:txBody>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Two things to say out loud. First, that the KPI appendix in a VRP annual report is the single most useful artefact in this list — it is a real, published, baseline/target/actual table, and it is the exact shape of the scorecard participants will be asked to build. Second, that GASTAT's use policy is genuinely permissive: a participant can build on GASTAT data for a real deliverable, with attribution, and that is unusual enough to be worth naming.</a:t>
            </a:r>
          </a:p>
        </p:txBody>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Run this as a five-minute instructor briefing, not a taught slide — or hand it out. If you are short of time, the two that matter for the room are the dead census portal (because somebody will try to open it live) and the two-DGA-indices point (because getting that wrong in front of a SDAIA audience costs you the room).</a:t>
            </a:r>
          </a:p>
        </p:txBody>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Set the expectation now: we will criticise every one of these, including the ones on the posters. Two of them — Snow and Nightingale — are routinely taught as flawless, and both have documented problems that are more instructive than their virtues. Say explicitly that criticising a canonical work is not disrespect; it is the only way to learn to read one. They ship as critique_canon.csv with the encodings, the claim, the flaw and two critique questions each — ten rows, but note the rows bundle differently from this list: CAN-08 covers both NYT pieces and CAN-09 covers both FT items, and 'How the Virus Got Out' has its own row (CAN-07) rather than a number here.</a:t>
            </a:r>
          </a:p>
        </p:txBody>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Run the first critique yourself, out loud, at this pace: two minutes of silent looking, then the six questions, then ninety seconds of open floor. After that, participants run it in pairs. The discipline that matters is question 2 — force them to name the channel rather than say 'it's confusing'. Question 6 is not a nicety: a critique culture that never produces a usable technique dies by Day 2.</a:t>
            </a:r>
          </a:p>
        </p:txBody>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critical correction to make, because almost every course gets it backwards: the famous rose is NOT the chart with the area-versus-radius error. That was her earlier 1858 'bat's wing'; she spotted the mistake, issued an erratum slip, and replaced it with this area-correct version. Her own printed legend says the areas are what is measured. The legitimate critique is different and better: even correctly encoded, area is low on the Cleveland–McGill ranking, so the rose exaggerates at the extremes — and the wedges are superimposed, not stacked, which almost every modern recreation gets wrong and thereby overstates total mortality. Hugh Small argues her plain Lines diagram was probably the more influential of the two. Land the point: the persuasive chart and the accurate chart were different charts, and she made both.</a:t>
            </a:r>
          </a:p>
        </p:txBody>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Use this for two opposite purposes in the same five minutes. First as the high-water mark of encoding density: six variables, no legend, no gridlines, and the temperature curve narratively subordinated below so the reader couples cold to collapse without being told to. Then as a warning. The retreat leg is drawn displaced southward — Minard rejected 'the tyranny of precise geographical position'. The straight taper between Vilnius and Vitebsk hides roughly 165,000 deaths, more than the entire retreat. The band briefly gets THICKER on the retreat near longitude 26.4. And the temperature is in Réaumur, not Celsius: °C = °Ré × 1.25, so the true minimum is −37.5 °C, not −30. Almost every popular reproduction relabels that axis as Celsius and understates the cold by a quarter. Ask the room: what are the units on your dashboard's cost measure, and who last checked?</a:t>
            </a:r>
          </a:p>
        </p:txBody>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highest-yield twenty-five minutes on Day 1 and it is worth protecting when you are running late. Two facilitation notes. Enforce 'one new finding' — it forces later groups past the obvious and into the encoding. And put the two spun Tayseer charts in the rotation WITHOUT telling anyone they are spun: the moment a group discovers the truncated axis on their own is the moment the ethics content of Day 2 becomes theirs rather than yours. If the room is under twelve people, run it as one moving group with the instructor facilitating at each chart.</a:t>
            </a:r>
          </a:p>
        </p:txBody>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Teach it as a chart-selection case first: the question was spatial, so the chart is spatial. Nothing else would have shown that the deaths ring one pump, and the anomalies carry the argument — the brewery workers on a beer allowance who did not die, the workhouse with its own well. That is chart choice doing real work. Then the three flaws, in this order. It has no population denominator — it is a raw-count map, and three quarters of the residents had already fled, so the denominator was moving. The stacked bars conflate a death with a death at an address, inflating large tenements. And the timing: the map was drawn after the outbreak and first shown in December 1854; attacks had fallen from 143 a day on 1 September to 12 by the 8th, when the handle came off. Snow himself wrote that it was impossible to decide whether the well was still infective. The map is a rhetorical and confirmatory graphic, not a discovery tool — and his stronger evidence was the water-company comparison. Bridge to Case C: the denominator problem in this 1854 map is the same one in a 2026 regional performance map.</a:t>
            </a:r>
          </a:p>
        </p:txBody>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exercise that makes this stick takes three minutes: read out the five Lab 2 questions from lab2_questions.csv and have the room call out the CATEGORY before anyone names a chart. They will be right about the category and wrong about the chart, which is exactly the point — the category constrains the chart, and the data shape then refines it. The poster and this course's chart_chooser.csv agree on eight of the nine — the chooser has no counterpart for Magnitude, which it folds into comparison/ranking. Otherwise the chooser is the same idea with the many-categories and many-series escalation rules attached.</a:t>
            </a:r>
          </a:p>
        </p:txBody>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Why the log scale was right: a virus spreads exponentially, so on a log scale the SLOPE is the growth rate and the reader's task becomes comparing slopes against the doubling-time guides — the epidemiologically meaningful comparison. On a linear scale every country not yet in crisis is squashed into the bottom-left corner and invisible. Aligning on the 100th case removes 'when it started' so that 'how fast' is comparable. Why it was contested: Romano, Sotis, Dominioni and Guidi (Health Economics 2020) found that showing COVID deaths on a log scale left people with a LESS accurate understanding of how the pandemic had developed, and shifted their policy preferences — they recommended linear as the default for general audiences. Do not resolve this into a rule. The honest lesson is that the same well-designed chart is correct or misleading depending on the question the reader brought, so the question comes before the scale. Ask the room which scale the Tayseer steering committee needs, and make them justify it from the committee's decision, not from their own preference.</a:t>
            </a:r>
          </a:p>
        </p:txBody>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committee's line — 'those regions are just small' — is the single most likely objection to the capstone recommendation, so this case is rehearsal for Day 3. The rebuttal is arithmetic, not rhetoric: 15.8% of the population, digital transactions per capita 12% below national, and the highest unit cost at 24.6 against 14.6 SAR. Keep the last box's honesty: computing a Gini here returns 0.037, which is nearly perfect equality, because transaction VOLUME is roughly proportional to population. The inequality is in the LEVEL of adoption. A participant who reports the Gini as the finding has chosen a chart that does not answer the question — and noticing that is worth more than the Gini.</a:t>
            </a:r>
          </a:p>
        </p:txBody>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Walk the three panels left to right and let the inversion land before you explain it. Jazan is seventh of thirteen on raw digital volume and last per capita. Makkah is second on volume and eighth per capita. Northern Borders runs the other way — last on volume, mid-table per capita — which is the part that stops this being a simple 'small regions are underserved' story and makes it a real analysis. The Lorenz panel is deliberately anticlimactic. Ask why it is flat before you answer. The answer — volume tracks population, so concentration is not the phenomenon — is the chart-selection lesson of the case: a technically correct chart aimed at the wrong question tells you nothing, and saying so out loud is the analyst's job.</a:t>
            </a:r>
          </a:p>
        </p:txBody>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Task 3 is the one that teaches. A choropleth of raw counts is, to a very good approximation, a population map — so the honest answer to 'what is this a map of?' is 'where people live'. Participants find this genuinely startling, and it inoculates them against the single commonest map error in government reporting. Task 6 is a cheap and reliable test of a subtitle: if the partner cannot reconstruct the chart from it, the subtitle is decoration. Solutions in lab2_chart_selection_solution.ipynb; the reference figures land in notebooks/out/.</a:t>
            </a:r>
          </a:p>
        </p:txBody>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Four moves separate the panels, and participants should be able to name all four before you do: the legend is replaced by direct labels at the line ends; every series but one is muted to grey so a single accent carries the signal; the argument is written on the chart as a sentence rather than left for the reader to derive; and the source and licence are stated on the chart itself. Say why the last one matters in a government context: a chart that travels — and they all travel, screenshotted into other people's decks — must carry its own provenance, because the slide around it will not survive. Licensing, worth knowing: OWID's charts, articles and their own data are CC BY, so you may reproduce them with attribution. Third-party data inside a grapher chart keeps the third party's licence. And the Grapher source code is no longer MIT — you may study it, not fork it, whatever Wikipedia still says.</a:t>
            </a:r>
          </a:p>
        </p:txBody>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original set a thousand names and one-line obituary fragments as continuous type across the entire front page, with no chart, no axis and no aggregation. The stated intent was to convey the vastness and variety of the tragedies by personalising them, countering data fatigue. Pair it directly with the excess-deaths chart two modules later: the same event, one rendered as a quantity and one as a thousand people. The professional skill is knowing which job you are doing. Then bring it home, because this is not an abstract point for this audience: a slide of beneficiary counts is a slide about people who could not complete a service. Aggregation is the right tool for a budget decision and the wrong tool for a mandate. Participants should leave able to say, in a real meeting, 'this one should not be a chart' — and be right.</a:t>
            </a:r>
          </a:p>
        </p:txBody>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framing that keeps this case out of cynicism: almost nobody builds a misleading dashboard on purpose. They inherit a measure definition, accept a tool default, and pick the axis range that makes the chart look like the others. That is why the fix is a method, not a virtue — and why every technique on the next slide is paired with the exact operation that produces it. An analyst who can name the operation can decline it in a meeting without accusing anyone of dishonesty.</a:t>
            </a:r>
          </a:p>
        </p:txBody>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Do not read the table. Pick three and make the room find them: the averages-of-averages one, because it is invisible and it is the course's founding example; the RAG threshold, because it is trivially easy to spot once named and nobody ever looks; and the transactions-as-citizens one, because it is the error most likely to be sitting in their own reporting right now. Note that five of the thirteen carry a negative gap, and three of those — the averages-of-averages, the unweighted CSAT and the rounding — actually UNDERSTATE the programme's result. That is deliberate and it is the argument against treating this as a list of tricks: the rule is 'always weight', not 'weight when it helps'.</a:t>
            </a:r>
          </a:p>
        </p:txBody>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Show the left panel alone first and ask the room to read the programme's status. They will say it is going well, because it is. Then reveal the middle panel. The gasp is the truncated axis, but the more important difference is the headline number: 61.2 against 63.8, from the same rows, because one averaged a non-additive rate. The right panel is the one to leave up. A bar encodes length from zero, so truncating the axis changes the quantity the mark represents — that is not a style preference, it is a category error. And no single national number, honest or otherwise, can say that nine of thirteen regions sit below target. The distribution is not a supporting detail; for this decision it is the finding.</a:t>
            </a:r>
          </a:p>
        </p:txBody>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scoring asymmetry — two points for an unpredicted technique — is what makes teams reach past the obvious truncated axis into measure definitions and coverage filters, which is where the real distortion lives. Task 4 is the deliverable that matters and it is worth the time: a single annotated sentence stating the denominator, the window and the target closes most of the attack surface at once. Collect those sentences; several usually belong in the capstone decks. If the room is small, run it instructor-versus-room with you as red team — it works, and it is fun.</a:t>
            </a:r>
          </a:p>
        </p:txBody>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Rosling's chart is the best-known data visualization of the century and it is a PRESENTATION artefact. Its attention is carried by a narrator. Take the narrator away and comparison becomes a change-blindness problem: the viewer must hold earlier positions in working memory, and cannot compare two non-adjacent years at all. Robertson and colleagues (IEEE TVCG 2008) measured exactly this, explicitly motivated by Trendalyzer and the TED talks. For analysis: small multiples 45.7 seconds, traces 55.0, animation 83.1 — and small multiples significantly more accurate, p below .001. For presentation the order reverses: animation 15.8 seconds, small multiples 25.3. The dashboard consequence is direct and it is the reason this sits in Module 4: a play button on a dashboard optimises for the demo and penalises every subsequent use. If the audience will explore it themselves, small multiples. If you are standing next to it talking, animation. Decide which, and build only that one.</a:t>
            </a:r>
          </a:p>
        </p:txBody>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Two facilitation warnings. Make the comparison question require two NON-ADJACENT time points: an animation handles 'what happened next' perfectly well and only fails on 'compare then with then'. And do not tell them the expected result beforehand — the surprise is the whole mechanism, and a participant who has personally failed to answer a question from their own animation never over-uses one again. Close by connecting it to the dashboard they are building: every interaction pattern should be chosen this way, by the task, exactly as encoding channels were in Module 1.</a:t>
            </a:r>
          </a:p>
        </p:txBody>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most important slide in Module 5 for a government audience, because almost every claim they will make in a briefing is a comparison against a counterfactual — against last year, against the plan, against what would have happened anyway. Point at the left panel and note that a reader who accepts the picture has already accepted the baseline, without ever having seen it. Then the right panel: shifting a baseline nobody looks at by five percent moves the headline by fifty to sixty thousand deaths, and the full plus-or-minus-five-percent span covers 108,000. The NYT's own method — a linear fit to roughly 2015–2019 with a time trend and a seasonality spline — is careful and clearly documented, and they state the limitation themselves: the expected count is not adjusted for how non-Covid deaths may have changed during the outbreak. The scene-construction lesson: if your evidence scene rests on a counterfactual, the counterfactual gets its own annotation, its own sentence, and ideally its own backup slide — because that is the first thing a sharp committee member will attack.</a:t>
            </a:r>
          </a:p>
        </p:txBody>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bridge from the web piece to a PowerPoint deck is the progressive build, and it is worth demonstrating live with the Module 5 scene code: same chart, four states — all grey, then the national line, then the laggards highlighted, then one region annotated. The room will recognise it as the thing good presenters do and will not have thought of it as sequencing. The last point is the one to press: if the recommendation would have been accepted on slide one, the other six slides were self-indulgence. That test is uncomfortable and it is the fastest way to cut a deck in half.</a:t>
            </a:r>
          </a:p>
        </p:txBody>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Get the mechanic right, because it is usually told as a mistake and it was not. The jitter was not decoration and not random noise around a point: the needle's range was fixed between the 25th and 75th percentile of the simulated outcomes, driven by Perlin noise so it looked organic, and the amplitude narrowed as the forecast tightened. The wobble WAS the uncertainty. Formally it is a Hypothetical Outcome Plot — the display family Hullman, Resnick and Adar introduced in 2015, and the formal justification for animating the uncertainty. (Their measured advantage over error bars and violin plots was on bivariate and trivariate judgements; on a univariate probability like this one, HOPs were comparable rather than better.) It failed anyway, and the reason is a design lesson rather than a statistics one. A gauge is a metaphor for a measured present value — speedometers and thermometers do not jitter — so viewers read the movement as a malfunction or as live returns arriving. Aisch's own concession was that the piece lacked explicit static annotation saying what it was doing. The rule for this room: when you encode uncertainty, the encoding needs a sentence next to it saying that is what it is. An unexplained uncertainty display is read as noise or as news.</a:t>
            </a:r>
          </a:p>
        </p:txBody>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In 2016 FiveThirtyEight gave Trump 29% — the LEAST confident mainstream forecast, against HuffPost's 1.7% — and was the outlet widely described as wrong. Everything in their 2020 presentation was a response to that: the histogram of forty thousand simulated outcomes, the frequency framing, the snake chart. The evidence for frequency framing is strong: fifty-dot quantile dotplots (Fernandes et al., CHI 2018) produced transit decisions at 97% of optimal expected payoff and were measurably more consistent than the control, because people can count dots but cannot decode a probability. Two housekeeping points. FiveThirtyEight was shut down on 5 March 2025 and its archive now redirects away from the domain, so every 538 link on any slide must go through web.archive.org — the successors are Silver Bulletin and Strength in Numbers. And the cone-of-uncertainty critique is not theirs; attribute it to Broad et al. (BAMS 2007) and to Alberto Cairo.</a:t>
            </a:r>
          </a:p>
        </p:txBody>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Rehearse the last one explicitly in the delivery clinic — have every participant say out loud 'I would change this recommendation if…' for their own capstone. It is the sentence that converts an analyst from an advocate into an adviser, and senior Saudi government audiences respond to it strongly: it signals that the analysis is a tool for their decision rather than a position being defended. Two questions in qa_bank.csv bear directly on this — QA-04, 'what happens if we do nothing?', and QA-10, 'when would we see the first evidence?'. Both are typed Clarifying rather than Hostile, which is itself worth naming: the uncertainty questions are usually the polite ones.</a:t>
            </a:r>
          </a:p>
        </p:txBody>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Say the second sentence of the lede out loud, because it is unusual and it changes how an instructor prepares: every figure quoted in this deck — 63.8 against 61.2, the 34% cost fall, the five regions, the 54-to-86% rehearsal improvement — is asserted in a notebook cell that fails if the data changes. If you edit the data, the notebooks tell you what you broke.</a:t>
            </a:r>
          </a:p>
        </p:txBody>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Arabic check is the one people skip and then regret at nine in the morning: if the font is missing, matplotlib renders disconnected letters or empty boxes in front of a room that reads Arabic natively, and the credibility cost is immediate and total. The pace warning is from delivery experience — Lab 3 and Lab 4b are the two that overrun every time, and the fix is not to hurry the room but to say at the start of the lab that the solution notebook is open and a stuck pair may take one cell from it. The INSTRUCTOR_PACKAGE recommends publishing dedicated checkpoint notebooks; those are not built yet, and the solutions serve the same purpose.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8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1051560"/>
          </a:xfrm>
          <a:prstGeom prst="rect">
            <a:avLst/>
          </a:prstGeom>
          <a:solidFill>
            <a:schemeClr val="accent1">
              <a:lumMod val="40000"/>
              <a:lumOff val="60000"/>
            </a:schemeClr>
          </a:solidFill>
          <a:ln/>
        </p:spPr>
      </p:sp>
      <p:sp>
        <p:nvSpPr>
          <p:cNvPr id="4" name="Shape 2"/>
          <p:cNvSpPr/>
          <p:nvPr/>
        </p:nvSpPr>
        <p:spPr>
          <a:xfrm>
            <a:off x="0" y="6355080"/>
            <a:ext cx="12191695" cy="502920"/>
          </a:xfrm>
          <a:prstGeom prst="rect">
            <a:avLst/>
          </a:prstGeom>
          <a:solidFill>
            <a:srgbClr val="1D2A5C"/>
          </a:solidFill>
          <a:ln/>
        </p:spPr>
      </p:sp>
      <p:sp>
        <p:nvSpPr>
          <p:cNvPr id="5" name="Shape 3"/>
          <p:cNvSpPr/>
          <p:nvPr/>
        </p:nvSpPr>
        <p:spPr>
          <a:xfrm>
            <a:off x="0" y="1051560"/>
            <a:ext cx="12191695" cy="82296"/>
          </a:xfrm>
          <a:prstGeom prst="rect">
            <a:avLst/>
          </a:prstGeom>
          <a:solidFill>
            <a:srgbClr val="00A79D"/>
          </a:solidFill>
          <a:ln/>
        </p:spPr>
      </p:sp>
      <p:pic>
        <p:nvPicPr>
          <p:cNvPr id="6" name="Image 0" descr="/sessions/loving-funny-ritchie/mnt/outputs/deckbuild/assets/logo.png"/>
          <p:cNvPicPr>
            <a:picLocks noChangeAspect="1"/>
          </p:cNvPicPr>
          <p:nvPr/>
        </p:nvPicPr>
        <p:blipFill>
          <a:blip r:embed="rId3"/>
          <a:stretch>
            <a:fillRect/>
          </a:stretch>
        </p:blipFill>
        <p:spPr>
          <a:xfrm>
            <a:off x="548640" y="310896"/>
            <a:ext cx="1965960" cy="480060"/>
          </a:xfrm>
          <a:prstGeom prst="rect">
            <a:avLst/>
          </a:prstGeom>
        </p:spPr>
      </p:pic>
      <p:sp>
        <p:nvSpPr>
          <p:cNvPr id="7" name="Text 4"/>
          <p:cNvSpPr/>
          <p:nvPr/>
        </p:nvSpPr>
        <p:spPr>
          <a:xfrm>
            <a:off x="7985455" y="420624"/>
            <a:ext cx="3657600" cy="274320"/>
          </a:xfrm>
          <a:prstGeom prst="rect">
            <a:avLst/>
          </a:prstGeom>
          <a:noFill/>
          <a:ln/>
        </p:spPr>
        <p:txBody>
          <a:bodyPr wrap="square" rtlCol="0" anchor="ctr"/>
          <a:lstStyle/>
          <a:p>
            <a:pPr marL="0" indent="0" algn="r">
              <a:buNone/>
            </a:pPr>
            <a:r>
              <a:rPr lang="en-US" sz="1100" b="1" kern="0" spc="200" dirty="0">
                <a:latin typeface="Arial" pitchFamily="34" charset="0"/>
                <a:ea typeface="Arial" pitchFamily="34" charset="-122"/>
                <a:cs typeface="Arial" pitchFamily="34" charset="-120"/>
              </a:rPr>
              <a:t>INSTRUCTOR-LED TRAINING</a:t>
            </a:r>
            <a:endParaRPr lang="en-US" sz="1100" dirty="0"/>
          </a:p>
        </p:txBody>
      </p:sp>
      <p:sp>
        <p:nvSpPr>
          <p:cNvPr id="8" name="Shape 5"/>
          <p:cNvSpPr/>
          <p:nvPr/>
        </p:nvSpPr>
        <p:spPr>
          <a:xfrm>
            <a:off x="548640" y="1874520"/>
            <a:ext cx="457200" cy="777240"/>
          </a:xfrm>
          <a:prstGeom prst="triangle">
            <a:avLst/>
          </a:prstGeom>
          <a:solidFill>
            <a:srgbClr val="2E5AAC"/>
          </a:solidFill>
          <a:ln/>
        </p:spPr>
      </p:sp>
      <p:sp>
        <p:nvSpPr>
          <p:cNvPr id="9" name="Shape 6"/>
          <p:cNvSpPr/>
          <p:nvPr/>
        </p:nvSpPr>
        <p:spPr>
          <a:xfrm rot="10800000">
            <a:off x="932688" y="1874520"/>
            <a:ext cx="457200" cy="777240"/>
          </a:xfrm>
          <a:prstGeom prst="triangle">
            <a:avLst/>
          </a:prstGeom>
          <a:solidFill>
            <a:srgbClr val="00A79D"/>
          </a:solidFill>
          <a:ln/>
        </p:spPr>
      </p:sp>
      <p:sp>
        <p:nvSpPr>
          <p:cNvPr id="10" name="Shape 7"/>
          <p:cNvSpPr/>
          <p:nvPr/>
        </p:nvSpPr>
        <p:spPr>
          <a:xfrm>
            <a:off x="1316736" y="1874520"/>
            <a:ext cx="457200" cy="777240"/>
          </a:xfrm>
          <a:prstGeom prst="triangle">
            <a:avLst/>
          </a:prstGeom>
          <a:solidFill>
            <a:srgbClr val="E8833A"/>
          </a:solidFill>
          <a:ln/>
        </p:spPr>
      </p:sp>
      <p:sp>
        <p:nvSpPr>
          <p:cNvPr id="11" name="Shape 8"/>
          <p:cNvSpPr/>
          <p:nvPr/>
        </p:nvSpPr>
        <p:spPr>
          <a:xfrm rot="10800000">
            <a:off x="1700784" y="1874520"/>
            <a:ext cx="457200" cy="777240"/>
          </a:xfrm>
          <a:prstGeom prst="triangle">
            <a:avLst/>
          </a:prstGeom>
          <a:solidFill>
            <a:srgbClr val="6C4FA1"/>
          </a:solidFill>
          <a:ln/>
        </p:spPr>
      </p:sp>
      <p:sp>
        <p:nvSpPr>
          <p:cNvPr id="12" name="Shape 9"/>
          <p:cNvSpPr/>
          <p:nvPr/>
        </p:nvSpPr>
        <p:spPr>
          <a:xfrm>
            <a:off x="2084832" y="1874520"/>
            <a:ext cx="457200" cy="777240"/>
          </a:xfrm>
          <a:prstGeom prst="triangle">
            <a:avLst/>
          </a:prstGeom>
          <a:solidFill>
            <a:srgbClr val="3FAE5A"/>
          </a:solidFill>
          <a:ln/>
        </p:spPr>
      </p:sp>
      <p:sp>
        <p:nvSpPr>
          <p:cNvPr id="13" name="Shape 10"/>
          <p:cNvSpPr/>
          <p:nvPr/>
        </p:nvSpPr>
        <p:spPr>
          <a:xfrm rot="10800000">
            <a:off x="2468880" y="1874520"/>
            <a:ext cx="457200" cy="777240"/>
          </a:xfrm>
          <a:prstGeom prst="triangle">
            <a:avLst/>
          </a:prstGeom>
          <a:solidFill>
            <a:srgbClr val="29ABE2"/>
          </a:solidFill>
          <a:ln/>
        </p:spPr>
      </p:sp>
      <p:sp>
        <p:nvSpPr>
          <p:cNvPr id="14" name="Text 11"/>
          <p:cNvSpPr/>
          <p:nvPr/>
        </p:nvSpPr>
        <p:spPr>
          <a:xfrm>
            <a:off x="548640" y="2788920"/>
            <a:ext cx="10424160" cy="1371600"/>
          </a:xfrm>
          <a:prstGeom prst="rect">
            <a:avLst/>
          </a:prstGeom>
          <a:noFill/>
          <a:ln/>
        </p:spPr>
        <p:txBody>
          <a:bodyPr wrap="square" rtlCol="0" anchor="t"/>
          <a:lstStyle/>
          <a:p>
            <a:pPr marL="0" indent="0" algn="l">
              <a:buNone/>
            </a:pPr>
            <a:r>
              <a:rPr lang="en-US" sz="4400" b="1" dirty="0">
                <a:solidFill>
                  <a:srgbClr val="1D2A5C"/>
                </a:solidFill>
                <a:latin typeface="Arial" pitchFamily="34" charset="0"/>
                <a:ea typeface="Arial" pitchFamily="34" charset="-122"/>
                <a:cs typeface="Arial" pitchFamily="34" charset="-120"/>
              </a:rPr>
              <a:t>Data Visualization and Storytelling</a:t>
            </a:r>
            <a:endParaRPr lang="en-US" sz="4400" dirty="0"/>
          </a:p>
        </p:txBody>
      </p:sp>
      <p:sp>
        <p:nvSpPr>
          <p:cNvPr id="15" name="Text 12"/>
          <p:cNvSpPr/>
          <p:nvPr/>
        </p:nvSpPr>
        <p:spPr>
          <a:xfrm>
            <a:off x="548640" y="4160520"/>
            <a:ext cx="10424160" cy="548640"/>
          </a:xfrm>
          <a:prstGeom prst="rect">
            <a:avLst/>
          </a:prstGeom>
          <a:noFill/>
          <a:ln/>
        </p:spPr>
        <p:txBody>
          <a:bodyPr wrap="square" rtlCol="0" anchor="ctr"/>
          <a:lstStyle/>
          <a:p>
            <a:pPr marL="0" indent="0" algn="l">
              <a:buNone/>
            </a:pPr>
            <a:r>
              <a:rPr lang="en-US" sz="2200" dirty="0">
                <a:solidFill>
                  <a:srgbClr val="00A79D"/>
                </a:solidFill>
                <a:latin typeface="Arial" pitchFamily="34" charset="0"/>
                <a:ea typeface="Arial" pitchFamily="34" charset="-122"/>
                <a:cs typeface="Arial" pitchFamily="34" charset="-120"/>
              </a:rPr>
              <a:t>تصور البيانات وسرد القصص</a:t>
            </a:r>
            <a:endParaRPr lang="en-US" sz="2200" dirty="0"/>
          </a:p>
        </p:txBody>
      </p:sp>
      <p:sp>
        <p:nvSpPr>
          <p:cNvPr id="16" name="Text 13"/>
          <p:cNvSpPr/>
          <p:nvPr/>
        </p:nvSpPr>
        <p:spPr>
          <a:xfrm>
            <a:off x="548640" y="4800600"/>
            <a:ext cx="10607040" cy="457200"/>
          </a:xfrm>
          <a:prstGeom prst="rect">
            <a:avLst/>
          </a:prstGeom>
          <a:noFill/>
          <a:ln/>
        </p:spPr>
        <p:txBody>
          <a:bodyPr wrap="square" rtlCol="0" anchor="ctr"/>
          <a:lstStyle/>
          <a:p>
            <a:pPr marL="0" indent="0" algn="l">
              <a:buNone/>
            </a:pPr>
            <a:r>
              <a:rPr lang="en-US" sz="1400" dirty="0">
                <a:solidFill>
                  <a:srgbClr val="6B7280"/>
                </a:solidFill>
                <a:latin typeface="Arial" pitchFamily="34" charset="0"/>
                <a:ea typeface="Arial" pitchFamily="34" charset="-122"/>
                <a:cs typeface="Arial" pitchFamily="34" charset="-120"/>
              </a:rPr>
              <a:t>Turning analysis into influence</a:t>
            </a:r>
            <a:endParaRPr lang="en-US" sz="1400" dirty="0"/>
          </a:p>
        </p:txBody>
      </p:sp>
      <p:sp>
        <p:nvSpPr>
          <p:cNvPr id="17" name="Shape 14"/>
          <p:cNvSpPr/>
          <p:nvPr/>
        </p:nvSpPr>
        <p:spPr>
          <a:xfrm>
            <a:off x="548640" y="5532120"/>
            <a:ext cx="1907438" cy="402336"/>
          </a:xfrm>
          <a:prstGeom prst="roundRect">
            <a:avLst>
              <a:gd name="adj" fmla="val 18182"/>
            </a:avLst>
          </a:prstGeom>
          <a:solidFill>
            <a:srgbClr val="EAF0FA"/>
          </a:solidFill>
          <a:ln w="12700">
            <a:solidFill>
              <a:srgbClr val="2E5AAC"/>
            </a:solidFill>
            <a:prstDash val="solid"/>
          </a:ln>
        </p:spPr>
      </p:sp>
      <p:sp>
        <p:nvSpPr>
          <p:cNvPr id="18" name="Text 15"/>
          <p:cNvSpPr/>
          <p:nvPr/>
        </p:nvSpPr>
        <p:spPr>
          <a:xfrm>
            <a:off x="548640" y="5532120"/>
            <a:ext cx="1907438" cy="402336"/>
          </a:xfrm>
          <a:prstGeom prst="rect">
            <a:avLst/>
          </a:prstGeom>
          <a:noFill/>
          <a:ln/>
        </p:spPr>
        <p:txBody>
          <a:bodyPr wrap="square" rtlCol="0" anchor="ctr"/>
          <a:lstStyle/>
          <a:p>
            <a:pPr marL="0" indent="0" algn="ctr">
              <a:buNone/>
            </a:pPr>
            <a:r>
              <a:rPr lang="en-US" sz="1050" b="1" dirty="0">
                <a:solidFill>
                  <a:srgbClr val="1D2A5C"/>
                </a:solidFill>
                <a:latin typeface="Arial" pitchFamily="34" charset="0"/>
                <a:ea typeface="Arial" pitchFamily="34" charset="-122"/>
                <a:cs typeface="Arial" pitchFamily="34" charset="-120"/>
              </a:rPr>
              <a:t>3 days · 15 hours</a:t>
            </a:r>
            <a:endParaRPr lang="en-US" sz="1050" dirty="0"/>
          </a:p>
        </p:txBody>
      </p:sp>
      <p:sp>
        <p:nvSpPr>
          <p:cNvPr id="19" name="Shape 16"/>
          <p:cNvSpPr/>
          <p:nvPr/>
        </p:nvSpPr>
        <p:spPr>
          <a:xfrm>
            <a:off x="2602382" y="5532120"/>
            <a:ext cx="1459382" cy="402336"/>
          </a:xfrm>
          <a:prstGeom prst="roundRect">
            <a:avLst>
              <a:gd name="adj" fmla="val 18182"/>
            </a:avLst>
          </a:prstGeom>
          <a:solidFill>
            <a:srgbClr val="E6F5F4"/>
          </a:solidFill>
          <a:ln w="12700">
            <a:solidFill>
              <a:srgbClr val="00A79D"/>
            </a:solidFill>
            <a:prstDash val="solid"/>
          </a:ln>
        </p:spPr>
      </p:sp>
      <p:sp>
        <p:nvSpPr>
          <p:cNvPr id="20" name="Text 17"/>
          <p:cNvSpPr/>
          <p:nvPr/>
        </p:nvSpPr>
        <p:spPr>
          <a:xfrm>
            <a:off x="2602382" y="5532120"/>
            <a:ext cx="1459382" cy="402336"/>
          </a:xfrm>
          <a:prstGeom prst="rect">
            <a:avLst/>
          </a:prstGeom>
          <a:noFill/>
          <a:ln/>
        </p:spPr>
        <p:txBody>
          <a:bodyPr wrap="square" rtlCol="0" anchor="ctr"/>
          <a:lstStyle/>
          <a:p>
            <a:pPr marL="0" indent="0" algn="ctr">
              <a:buNone/>
            </a:pPr>
            <a:r>
              <a:rPr lang="en-US" sz="1050" b="1" dirty="0">
                <a:solidFill>
                  <a:srgbClr val="1D2A5C"/>
                </a:solidFill>
                <a:latin typeface="Arial" pitchFamily="34" charset="0"/>
                <a:ea typeface="Arial" pitchFamily="34" charset="-122"/>
                <a:cs typeface="Arial" pitchFamily="34" charset="-120"/>
              </a:rPr>
              <a:t>Practitioner</a:t>
            </a:r>
            <a:endParaRPr lang="en-US" sz="1050" dirty="0"/>
          </a:p>
        </p:txBody>
      </p:sp>
      <p:sp>
        <p:nvSpPr>
          <p:cNvPr id="21" name="Shape 18"/>
          <p:cNvSpPr/>
          <p:nvPr/>
        </p:nvSpPr>
        <p:spPr>
          <a:xfrm>
            <a:off x="4208069" y="5532120"/>
            <a:ext cx="2176272" cy="402336"/>
          </a:xfrm>
          <a:prstGeom prst="roundRect">
            <a:avLst>
              <a:gd name="adj" fmla="val 18182"/>
            </a:avLst>
          </a:prstGeom>
          <a:solidFill>
            <a:srgbClr val="FCF0E6"/>
          </a:solidFill>
          <a:ln w="12700">
            <a:solidFill>
              <a:srgbClr val="E8833A"/>
            </a:solidFill>
            <a:prstDash val="solid"/>
          </a:ln>
        </p:spPr>
      </p:sp>
      <p:sp>
        <p:nvSpPr>
          <p:cNvPr id="22" name="Text 19"/>
          <p:cNvSpPr/>
          <p:nvPr/>
        </p:nvSpPr>
        <p:spPr>
          <a:xfrm>
            <a:off x="4208069" y="5532120"/>
            <a:ext cx="2176272" cy="402336"/>
          </a:xfrm>
          <a:prstGeom prst="rect">
            <a:avLst/>
          </a:prstGeom>
          <a:noFill/>
          <a:ln/>
        </p:spPr>
        <p:txBody>
          <a:bodyPr wrap="square" rtlCol="0" anchor="ctr"/>
          <a:lstStyle/>
          <a:p>
            <a:pPr marL="0" indent="0" algn="ctr">
              <a:buNone/>
            </a:pPr>
            <a:r>
              <a:rPr lang="en-US" sz="1050" b="1" dirty="0">
                <a:solidFill>
                  <a:srgbClr val="1D2A5C"/>
                </a:solidFill>
                <a:latin typeface="Arial" pitchFamily="34" charset="0"/>
                <a:ea typeface="Arial" pitchFamily="34" charset="-122"/>
                <a:cs typeface="Arial" pitchFamily="34" charset="-120"/>
              </a:rPr>
              <a:t>Data Scientist Track</a:t>
            </a:r>
            <a:endParaRPr lang="en-US" sz="1050" dirty="0"/>
          </a:p>
        </p:txBody>
      </p:sp>
      <p:sp>
        <p:nvSpPr>
          <p:cNvPr id="23" name="Shape 20"/>
          <p:cNvSpPr/>
          <p:nvPr/>
        </p:nvSpPr>
        <p:spPr>
          <a:xfrm>
            <a:off x="6530645" y="5532120"/>
            <a:ext cx="1907438" cy="402336"/>
          </a:xfrm>
          <a:prstGeom prst="roundRect">
            <a:avLst>
              <a:gd name="adj" fmla="val 18182"/>
            </a:avLst>
          </a:prstGeom>
          <a:solidFill>
            <a:srgbClr val="EFEBF6"/>
          </a:solidFill>
          <a:ln w="12700">
            <a:solidFill>
              <a:srgbClr val="6C4FA1"/>
            </a:solidFill>
            <a:prstDash val="solid"/>
          </a:ln>
        </p:spPr>
      </p:sp>
      <p:sp>
        <p:nvSpPr>
          <p:cNvPr id="24" name="Text 21"/>
          <p:cNvSpPr/>
          <p:nvPr/>
        </p:nvSpPr>
        <p:spPr>
          <a:xfrm>
            <a:off x="6530645" y="5532120"/>
            <a:ext cx="1907438" cy="402336"/>
          </a:xfrm>
          <a:prstGeom prst="rect">
            <a:avLst/>
          </a:prstGeom>
          <a:noFill/>
          <a:ln/>
        </p:spPr>
        <p:txBody>
          <a:bodyPr wrap="square" rtlCol="0" anchor="ctr"/>
          <a:lstStyle/>
          <a:p>
            <a:pPr marL="0" indent="0" algn="ctr">
              <a:buNone/>
            </a:pPr>
            <a:r>
              <a:rPr lang="en-US" sz="1050" b="1" dirty="0">
                <a:solidFill>
                  <a:srgbClr val="1D2A5C"/>
                </a:solidFill>
                <a:latin typeface="Arial" pitchFamily="34" charset="0"/>
                <a:ea typeface="Arial" pitchFamily="34" charset="-122"/>
                <a:cs typeface="Arial" pitchFamily="34" charset="-120"/>
              </a:rPr>
              <a:t>Plotly · Power BI</a:t>
            </a:r>
            <a:endParaRPr lang="en-US" sz="1050" dirty="0"/>
          </a:p>
        </p:txBody>
      </p:sp>
      <p:sp>
        <p:nvSpPr>
          <p:cNvPr id="25" name="Text 22"/>
          <p:cNvSpPr/>
          <p:nvPr/>
        </p:nvSpPr>
        <p:spPr>
          <a:xfrm>
            <a:off x="548640" y="6400800"/>
            <a:ext cx="8229600" cy="365760"/>
          </a:xfrm>
          <a:prstGeom prst="rect">
            <a:avLst/>
          </a:prstGeom>
          <a:noFill/>
          <a:ln/>
        </p:spPr>
        <p:txBody>
          <a:bodyPr wrap="square" rtlCol="0" anchor="ctr"/>
          <a:lstStyle/>
          <a:p>
            <a:pPr marL="0" indent="0" algn="l">
              <a:buNone/>
            </a:pPr>
            <a:r>
              <a:rPr lang="en-US" sz="1100" b="1" dirty="0">
                <a:solidFill>
                  <a:srgbClr val="FFFFFF"/>
                </a:solidFill>
                <a:latin typeface="Arial" pitchFamily="34" charset="0"/>
                <a:ea typeface="Arial" pitchFamily="34" charset="-122"/>
                <a:cs typeface="Arial" pitchFamily="34" charset="-120"/>
              </a:rPr>
              <a:t>SDAIA Academy  ·  SDA-DSC-112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B"/>
          </a:solidFill>
          <a:ln/>
        </p:spPr>
      </p:sp>
      <p:sp>
        <p:nvSpPr>
          <p:cNvPr id="3" name="Shape 1"/>
          <p:cNvSpPr/>
          <p:nvPr/>
        </p:nvSpPr>
        <p:spPr>
          <a:xfrm>
            <a:off x="0" y="0"/>
            <a:ext cx="12191695" cy="146304"/>
          </a:xfrm>
          <a:prstGeom prst="rect">
            <a:avLst/>
          </a:prstGeom>
          <a:solidFill>
            <a:srgbClr val="00A79D"/>
          </a:solidFill>
          <a:ln/>
        </p:spPr>
      </p:sp>
      <p:pic>
        <p:nvPicPr>
          <p:cNvPr id="4"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5" name="Shape 2"/>
          <p:cNvSpPr/>
          <p:nvPr/>
        </p:nvSpPr>
        <p:spPr>
          <a:xfrm>
            <a:off x="548640" y="6382512"/>
            <a:ext cx="11094415" cy="0"/>
          </a:xfrm>
          <a:prstGeom prst="line">
            <a:avLst/>
          </a:prstGeom>
          <a:noFill/>
          <a:ln w="12700">
            <a:solidFill>
              <a:srgbClr val="D9DEE8"/>
            </a:solidFill>
            <a:prstDash val="solid"/>
          </a:ln>
        </p:spPr>
      </p:sp>
      <p:sp>
        <p:nvSpPr>
          <p:cNvPr id="6" name="Text 3"/>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7" name="Text 4"/>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2</a:t>
            </a:r>
            <a:endParaRPr lang="en-US" sz="800" dirty="0"/>
          </a:p>
        </p:txBody>
      </p:sp>
      <p:sp>
        <p:nvSpPr>
          <p:cNvPr id="8" name="Text 5"/>
          <p:cNvSpPr/>
          <p:nvPr/>
        </p:nvSpPr>
        <p:spPr>
          <a:xfrm>
            <a:off x="548640" y="1188720"/>
            <a:ext cx="1828800" cy="1463040"/>
          </a:xfrm>
          <a:prstGeom prst="rect">
            <a:avLst/>
          </a:prstGeom>
          <a:noFill/>
          <a:ln/>
        </p:spPr>
        <p:txBody>
          <a:bodyPr wrap="square" rtlCol="0" anchor="t"/>
          <a:lstStyle/>
          <a:p>
            <a:pPr marL="0" indent="0" algn="l">
              <a:buNone/>
            </a:pPr>
            <a:r>
              <a:rPr lang="en-US" sz="12000" b="1" dirty="0">
                <a:solidFill>
                  <a:srgbClr val="00A79D"/>
                </a:solidFill>
                <a:latin typeface="Georgia" pitchFamily="34" charset="0"/>
                <a:ea typeface="Georgia" pitchFamily="34" charset="-122"/>
                <a:cs typeface="Georgia" pitchFamily="34" charset="-120"/>
              </a:rPr>
              <a:t>“</a:t>
            </a:r>
            <a:endParaRPr lang="en-US" sz="12000" dirty="0"/>
          </a:p>
        </p:txBody>
      </p:sp>
      <p:sp>
        <p:nvSpPr>
          <p:cNvPr id="9" name="Text 6"/>
          <p:cNvSpPr/>
          <p:nvPr/>
        </p:nvSpPr>
        <p:spPr>
          <a:xfrm>
            <a:off x="1371600" y="2468880"/>
            <a:ext cx="9448495" cy="2194560"/>
          </a:xfrm>
          <a:prstGeom prst="rect">
            <a:avLst/>
          </a:prstGeom>
          <a:noFill/>
          <a:ln/>
        </p:spPr>
        <p:txBody>
          <a:bodyPr wrap="square" rtlCol="0" anchor="ctr"/>
          <a:lstStyle/>
          <a:p>
            <a:pPr marL="0" indent="0" algn="ctr">
              <a:lnSpc>
                <a:spcPct val="110000"/>
              </a:lnSpc>
              <a:buNone/>
            </a:pPr>
            <a:r>
              <a:rPr lang="en-US" sz="2600" b="1" dirty="0">
                <a:solidFill>
                  <a:srgbClr val="1D2A5C"/>
                </a:solidFill>
                <a:latin typeface="Arial" pitchFamily="34" charset="0"/>
                <a:ea typeface="Arial" pitchFamily="34" charset="-122"/>
                <a:cs typeface="Arial" pitchFamily="34" charset="-120"/>
              </a:rPr>
              <a:t>A correct analysis either changes a decision or dies in a slide nobody understood. This course closes that last mile.</a:t>
            </a:r>
            <a:endParaRPr lang="en-US" sz="2600" dirty="0"/>
          </a:p>
        </p:txBody>
      </p:sp>
      <p:sp>
        <p:nvSpPr>
          <p:cNvPr id="10" name="Text 7"/>
          <p:cNvSpPr/>
          <p:nvPr/>
        </p:nvSpPr>
        <p:spPr>
          <a:xfrm>
            <a:off x="1371600" y="4846320"/>
            <a:ext cx="9448495" cy="457200"/>
          </a:xfrm>
          <a:prstGeom prst="rect">
            <a:avLst/>
          </a:prstGeom>
          <a:noFill/>
          <a:ln/>
        </p:spPr>
        <p:txBody>
          <a:bodyPr wrap="square" rtlCol="0" anchor="ctr"/>
          <a:lstStyle/>
          <a:p>
            <a:pPr marL="0" indent="0" algn="ctr">
              <a:buNone/>
            </a:pPr>
            <a:r>
              <a:rPr lang="en-US" sz="1400" dirty="0">
                <a:solidFill>
                  <a:srgbClr val="6B7280"/>
                </a:solidFill>
                <a:latin typeface="Arial" pitchFamily="34" charset="0"/>
                <a:ea typeface="Arial" pitchFamily="34" charset="-122"/>
                <a:cs typeface="Arial" pitchFamily="34" charset="-120"/>
              </a:rPr>
              <a:t>— Course Description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AT A GLANCE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Course facts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3</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3968496"/>
        </p:xfrm>
        <a:graphic>
          <a:graphicData uri="http://schemas.openxmlformats.org/drawingml/2006/table">
            <a:tbl>
              <a:tblPr/>
              <a:tblGrid>
                <a:gridCol w="329184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Field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Details</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43484">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Course Title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Data Visualization and Storytelling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3484">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Course Code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SDA-DSC-112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43484">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Track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Data Scientist (عالم البيانات)</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3484">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Level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Practitioner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43484">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Duration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3 days × 5 hours = 15 hours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3484">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Audience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Data scientists, analysts, BI professionals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r h="443484">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Prerequisites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SDA-FND-104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43484">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Assessment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Dashboard project; storytelling presentation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COURSE DESCRIPTION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Turning analysis into influence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4</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A craft-focused module on turning analysis into influence. Participants apply perception science to design honest, compelling visualisations, build interactive dashboards, and structure data narratives for executive audiences.</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The last mile:  </a:t>
            </a:r>
            <a:r>
              <a:rPr lang="en-US" sz="1250" dirty="0">
                <a:solidFill>
                  <a:srgbClr val="343A4E"/>
                </a:solidFill>
                <a:latin typeface="Arial" pitchFamily="34" charset="0"/>
                <a:ea typeface="Arial" pitchFamily="34" charset="-122"/>
                <a:cs typeface="Arial" pitchFamily="34" charset="-120"/>
              </a:rPr>
              <a:t>Closes the gap between a correct analysis and the organisational decision it should change.</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Perception first:  </a:t>
            </a:r>
            <a:r>
              <a:rPr lang="en-US" sz="1250" dirty="0">
                <a:solidFill>
                  <a:srgbClr val="343A4E"/>
                </a:solidFill>
                <a:latin typeface="Arial" pitchFamily="34" charset="0"/>
                <a:ea typeface="Arial" pitchFamily="34" charset="-122"/>
                <a:cs typeface="Arial" pitchFamily="34" charset="-120"/>
              </a:rPr>
              <a:t>Design honest, compelling visualisations grounded in how people actually see.</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Decision-ready:  </a:t>
            </a:r>
            <a:r>
              <a:rPr lang="en-US" sz="1250" dirty="0">
                <a:solidFill>
                  <a:srgbClr val="343A4E"/>
                </a:solidFill>
                <a:latin typeface="Arial" pitchFamily="34" charset="0"/>
                <a:ea typeface="Arial" pitchFamily="34" charset="-122"/>
                <a:cs typeface="Arial" pitchFamily="34" charset="-120"/>
              </a:rPr>
              <a:t>Build interactive dashboards and narratives aimed at executive audiences.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GOLDEN THREAD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Tayseer dataset</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5</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The course is built around one evolving artefact: the Tayseer (تيسير) National Digital Services Program, a Vision 2030 initiative moving government service delivery from branches to digital channels.</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One dataset:  </a:t>
            </a:r>
            <a:r>
              <a:rPr lang="en-US" sz="1250" dirty="0">
                <a:solidFill>
                  <a:srgbClr val="343A4E"/>
                </a:solidFill>
                <a:latin typeface="Arial" pitchFamily="34" charset="0"/>
                <a:ea typeface="Arial" pitchFamily="34" charset="-122"/>
                <a:cs typeface="Arial" pitchFamily="34" charset="-120"/>
              </a:rPr>
              <a:t>tayseer_services.csv — monthly service metrics across the 13 administrative regions of Saudi Arabia.</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Carried through:  </a:t>
            </a:r>
            <a:r>
              <a:rPr lang="en-US" sz="1250" dirty="0">
                <a:solidFill>
                  <a:srgbClr val="343A4E"/>
                </a:solidFill>
                <a:latin typeface="Arial" pitchFamily="34" charset="0"/>
                <a:ea typeface="Arial" pitchFamily="34" charset="-122"/>
                <a:cs typeface="Arial" pitchFamily="34" charset="-120"/>
              </a:rPr>
              <a:t>M1 audits perception, M2 chooses charts, M3 declutters, M4 dashboards, M5 narrates, M6 delivers.</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SAR 40M decision:  </a:t>
            </a:r>
            <a:r>
              <a:rPr lang="en-US" sz="1250" dirty="0">
                <a:solidFill>
                  <a:srgbClr val="343A4E"/>
                </a:solidFill>
                <a:latin typeface="Arial" pitchFamily="34" charset="0"/>
                <a:ea typeface="Arial" pitchFamily="34" charset="-122"/>
                <a:cs typeface="Arial" pitchFamily="34" charset="-120"/>
              </a:rPr>
              <a:t>Each participant ends with a decision-ready dashboard and a 7-minute story on the next SAR 40M.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LEARNING OUTCOMES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What you will be able to do</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6</a:t>
            </a:r>
            <a:endParaRPr lang="en-US" sz="800" dirty="0"/>
          </a:p>
        </p:txBody>
      </p:sp>
      <p:sp>
        <p:nvSpPr>
          <p:cNvPr id="14" name="Shape 11"/>
          <p:cNvSpPr/>
          <p:nvPr/>
        </p:nvSpPr>
        <p:spPr>
          <a:xfrm>
            <a:off x="548640" y="2103120"/>
            <a:ext cx="11094415" cy="551688"/>
          </a:xfrm>
          <a:prstGeom prst="roundRect">
            <a:avLst>
              <a:gd name="adj" fmla="val 9945"/>
            </a:avLst>
          </a:prstGeom>
          <a:solidFill>
            <a:srgbClr val="FFFFFF"/>
          </a:solidFill>
          <a:ln w="9525">
            <a:solidFill>
              <a:srgbClr val="D9DEE8"/>
            </a:solidFill>
            <a:prstDash val="solid"/>
          </a:ln>
        </p:spPr>
      </p:sp>
      <p:sp>
        <p:nvSpPr>
          <p:cNvPr id="15" name="Shape 12"/>
          <p:cNvSpPr/>
          <p:nvPr/>
        </p:nvSpPr>
        <p:spPr>
          <a:xfrm>
            <a:off x="658368" y="2194560"/>
            <a:ext cx="658368" cy="368808"/>
          </a:xfrm>
          <a:prstGeom prst="roundRect">
            <a:avLst>
              <a:gd name="adj" fmla="val 12397"/>
            </a:avLst>
          </a:prstGeom>
          <a:solidFill>
            <a:srgbClr val="2E5AAC"/>
          </a:solidFill>
          <a:ln/>
        </p:spPr>
      </p:sp>
      <p:sp>
        <p:nvSpPr>
          <p:cNvPr id="16" name="Text 13"/>
          <p:cNvSpPr/>
          <p:nvPr/>
        </p:nvSpPr>
        <p:spPr>
          <a:xfrm>
            <a:off x="658368" y="2194560"/>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LO1</a:t>
            </a:r>
            <a:endParaRPr lang="en-US" sz="1200" dirty="0"/>
          </a:p>
        </p:txBody>
      </p:sp>
      <p:sp>
        <p:nvSpPr>
          <p:cNvPr id="17" name="Text 14"/>
          <p:cNvSpPr/>
          <p:nvPr/>
        </p:nvSpPr>
        <p:spPr>
          <a:xfrm>
            <a:off x="1463040" y="2066544"/>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Apply visual-perception principles to select effective chart types</a:t>
            </a:r>
            <a:endParaRPr lang="en-US" sz="1200" dirty="0"/>
          </a:p>
        </p:txBody>
      </p:sp>
      <p:sp>
        <p:nvSpPr>
          <p:cNvPr id="18" name="Shape 15"/>
          <p:cNvSpPr/>
          <p:nvPr/>
        </p:nvSpPr>
        <p:spPr>
          <a:xfrm>
            <a:off x="10317175" y="2232660"/>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32660"/>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Perception</a:t>
            </a:r>
            <a:endParaRPr lang="en-US" sz="950" dirty="0"/>
          </a:p>
        </p:txBody>
      </p:sp>
      <p:sp>
        <p:nvSpPr>
          <p:cNvPr id="20" name="Shape 17"/>
          <p:cNvSpPr/>
          <p:nvPr/>
        </p:nvSpPr>
        <p:spPr>
          <a:xfrm>
            <a:off x="548640" y="2764536"/>
            <a:ext cx="11094415" cy="551688"/>
          </a:xfrm>
          <a:prstGeom prst="roundRect">
            <a:avLst>
              <a:gd name="adj" fmla="val 9945"/>
            </a:avLst>
          </a:prstGeom>
          <a:solidFill>
            <a:srgbClr val="F4F6FB"/>
          </a:solidFill>
          <a:ln w="9525">
            <a:solidFill>
              <a:srgbClr val="D9DEE8"/>
            </a:solidFill>
            <a:prstDash val="solid"/>
          </a:ln>
        </p:spPr>
      </p:sp>
      <p:sp>
        <p:nvSpPr>
          <p:cNvPr id="21" name="Shape 18"/>
          <p:cNvSpPr/>
          <p:nvPr/>
        </p:nvSpPr>
        <p:spPr>
          <a:xfrm>
            <a:off x="658368" y="2855976"/>
            <a:ext cx="658368" cy="368808"/>
          </a:xfrm>
          <a:prstGeom prst="roundRect">
            <a:avLst>
              <a:gd name="adj" fmla="val 12397"/>
            </a:avLst>
          </a:prstGeom>
          <a:solidFill>
            <a:srgbClr val="00A79D"/>
          </a:solidFill>
          <a:ln/>
        </p:spPr>
      </p:sp>
      <p:sp>
        <p:nvSpPr>
          <p:cNvPr id="22" name="Text 19"/>
          <p:cNvSpPr/>
          <p:nvPr/>
        </p:nvSpPr>
        <p:spPr>
          <a:xfrm>
            <a:off x="658368" y="2855976"/>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LO2</a:t>
            </a:r>
            <a:endParaRPr lang="en-US" sz="1200" dirty="0"/>
          </a:p>
        </p:txBody>
      </p:sp>
      <p:sp>
        <p:nvSpPr>
          <p:cNvPr id="23" name="Text 20"/>
          <p:cNvSpPr/>
          <p:nvPr/>
        </p:nvSpPr>
        <p:spPr>
          <a:xfrm>
            <a:off x="1463040" y="2727960"/>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Design clear, honest visualisations that avoid distortion and clutter</a:t>
            </a:r>
            <a:endParaRPr lang="en-US" sz="1200" dirty="0"/>
          </a:p>
        </p:txBody>
      </p:sp>
      <p:sp>
        <p:nvSpPr>
          <p:cNvPr id="24" name="Shape 21"/>
          <p:cNvSpPr/>
          <p:nvPr/>
        </p:nvSpPr>
        <p:spPr>
          <a:xfrm>
            <a:off x="10317175" y="2894076"/>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2894076"/>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Honesty</a:t>
            </a:r>
            <a:endParaRPr lang="en-US" sz="950" dirty="0"/>
          </a:p>
        </p:txBody>
      </p:sp>
      <p:sp>
        <p:nvSpPr>
          <p:cNvPr id="26" name="Shape 23"/>
          <p:cNvSpPr/>
          <p:nvPr/>
        </p:nvSpPr>
        <p:spPr>
          <a:xfrm>
            <a:off x="548640" y="3425952"/>
            <a:ext cx="11094415" cy="551688"/>
          </a:xfrm>
          <a:prstGeom prst="roundRect">
            <a:avLst>
              <a:gd name="adj" fmla="val 9945"/>
            </a:avLst>
          </a:prstGeom>
          <a:solidFill>
            <a:srgbClr val="FFFFFF"/>
          </a:solidFill>
          <a:ln w="9525">
            <a:solidFill>
              <a:srgbClr val="D9DEE8"/>
            </a:solidFill>
            <a:prstDash val="solid"/>
          </a:ln>
        </p:spPr>
      </p:sp>
      <p:sp>
        <p:nvSpPr>
          <p:cNvPr id="27" name="Shape 24"/>
          <p:cNvSpPr/>
          <p:nvPr/>
        </p:nvSpPr>
        <p:spPr>
          <a:xfrm>
            <a:off x="658368" y="3517392"/>
            <a:ext cx="658368" cy="368808"/>
          </a:xfrm>
          <a:prstGeom prst="roundRect">
            <a:avLst>
              <a:gd name="adj" fmla="val 12397"/>
            </a:avLst>
          </a:prstGeom>
          <a:solidFill>
            <a:srgbClr val="E8833A"/>
          </a:solidFill>
          <a:ln/>
        </p:spPr>
      </p:sp>
      <p:sp>
        <p:nvSpPr>
          <p:cNvPr id="28" name="Text 25"/>
          <p:cNvSpPr/>
          <p:nvPr/>
        </p:nvSpPr>
        <p:spPr>
          <a:xfrm>
            <a:off x="658368" y="3517392"/>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LO3</a:t>
            </a:r>
            <a:endParaRPr lang="en-US" sz="1200" dirty="0"/>
          </a:p>
        </p:txBody>
      </p:sp>
      <p:sp>
        <p:nvSpPr>
          <p:cNvPr id="29" name="Text 26"/>
          <p:cNvSpPr/>
          <p:nvPr/>
        </p:nvSpPr>
        <p:spPr>
          <a:xfrm>
            <a:off x="1463040" y="3389376"/>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Develop interactive dashboards for self-service exploration</a:t>
            </a:r>
            <a:endParaRPr lang="en-US" sz="1200" dirty="0"/>
          </a:p>
        </p:txBody>
      </p:sp>
      <p:sp>
        <p:nvSpPr>
          <p:cNvPr id="30" name="Shape 27"/>
          <p:cNvSpPr/>
          <p:nvPr/>
        </p:nvSpPr>
        <p:spPr>
          <a:xfrm>
            <a:off x="10317175" y="355549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555492"/>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Dashboards</a:t>
            </a:r>
            <a:endParaRPr lang="en-US" sz="950" dirty="0"/>
          </a:p>
        </p:txBody>
      </p:sp>
      <p:sp>
        <p:nvSpPr>
          <p:cNvPr id="32" name="Shape 29"/>
          <p:cNvSpPr/>
          <p:nvPr/>
        </p:nvSpPr>
        <p:spPr>
          <a:xfrm>
            <a:off x="548640" y="4087368"/>
            <a:ext cx="11094415" cy="551688"/>
          </a:xfrm>
          <a:prstGeom prst="roundRect">
            <a:avLst>
              <a:gd name="adj" fmla="val 9945"/>
            </a:avLst>
          </a:prstGeom>
          <a:solidFill>
            <a:srgbClr val="F4F6FB"/>
          </a:solidFill>
          <a:ln w="9525">
            <a:solidFill>
              <a:srgbClr val="D9DEE8"/>
            </a:solidFill>
            <a:prstDash val="solid"/>
          </a:ln>
        </p:spPr>
      </p:sp>
      <p:sp>
        <p:nvSpPr>
          <p:cNvPr id="33" name="Shape 30"/>
          <p:cNvSpPr/>
          <p:nvPr/>
        </p:nvSpPr>
        <p:spPr>
          <a:xfrm>
            <a:off x="658368" y="4178808"/>
            <a:ext cx="658368" cy="368808"/>
          </a:xfrm>
          <a:prstGeom prst="roundRect">
            <a:avLst>
              <a:gd name="adj" fmla="val 12397"/>
            </a:avLst>
          </a:prstGeom>
          <a:solidFill>
            <a:srgbClr val="6C4FA1"/>
          </a:solidFill>
          <a:ln/>
        </p:spPr>
      </p:sp>
      <p:sp>
        <p:nvSpPr>
          <p:cNvPr id="34" name="Text 31"/>
          <p:cNvSpPr/>
          <p:nvPr/>
        </p:nvSpPr>
        <p:spPr>
          <a:xfrm>
            <a:off x="658368" y="4178808"/>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LO4</a:t>
            </a:r>
            <a:endParaRPr lang="en-US" sz="1200" dirty="0"/>
          </a:p>
        </p:txBody>
      </p:sp>
      <p:sp>
        <p:nvSpPr>
          <p:cNvPr id="35" name="Text 32"/>
          <p:cNvSpPr/>
          <p:nvPr/>
        </p:nvSpPr>
        <p:spPr>
          <a:xfrm>
            <a:off x="1463040" y="4050792"/>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Construct data narratives structured around audience and decision</a:t>
            </a:r>
            <a:endParaRPr lang="en-US" sz="1200" dirty="0"/>
          </a:p>
        </p:txBody>
      </p:sp>
      <p:sp>
        <p:nvSpPr>
          <p:cNvPr id="36" name="Shape 33"/>
          <p:cNvSpPr/>
          <p:nvPr/>
        </p:nvSpPr>
        <p:spPr>
          <a:xfrm>
            <a:off x="10317175" y="4216908"/>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216908"/>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Narrative</a:t>
            </a:r>
            <a:endParaRPr lang="en-US" sz="950" dirty="0"/>
          </a:p>
        </p:txBody>
      </p:sp>
      <p:sp>
        <p:nvSpPr>
          <p:cNvPr id="38" name="Shape 35"/>
          <p:cNvSpPr/>
          <p:nvPr/>
        </p:nvSpPr>
        <p:spPr>
          <a:xfrm>
            <a:off x="548640" y="4748784"/>
            <a:ext cx="11094415" cy="551688"/>
          </a:xfrm>
          <a:prstGeom prst="roundRect">
            <a:avLst>
              <a:gd name="adj" fmla="val 9945"/>
            </a:avLst>
          </a:prstGeom>
          <a:solidFill>
            <a:srgbClr val="FFFFFF"/>
          </a:solidFill>
          <a:ln w="9525">
            <a:solidFill>
              <a:srgbClr val="D9DEE8"/>
            </a:solidFill>
            <a:prstDash val="solid"/>
          </a:ln>
        </p:spPr>
      </p:sp>
      <p:sp>
        <p:nvSpPr>
          <p:cNvPr id="39" name="Shape 36"/>
          <p:cNvSpPr/>
          <p:nvPr/>
        </p:nvSpPr>
        <p:spPr>
          <a:xfrm>
            <a:off x="658368" y="4840224"/>
            <a:ext cx="658368" cy="368808"/>
          </a:xfrm>
          <a:prstGeom prst="roundRect">
            <a:avLst>
              <a:gd name="adj" fmla="val 12397"/>
            </a:avLst>
          </a:prstGeom>
          <a:solidFill>
            <a:srgbClr val="3FAE5A"/>
          </a:solidFill>
          <a:ln/>
        </p:spPr>
      </p:sp>
      <p:sp>
        <p:nvSpPr>
          <p:cNvPr id="40" name="Text 37"/>
          <p:cNvSpPr/>
          <p:nvPr/>
        </p:nvSpPr>
        <p:spPr>
          <a:xfrm>
            <a:off x="658368" y="4840224"/>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LO5</a:t>
            </a:r>
            <a:endParaRPr lang="en-US" sz="1200" dirty="0"/>
          </a:p>
        </p:txBody>
      </p:sp>
      <p:sp>
        <p:nvSpPr>
          <p:cNvPr id="41" name="Text 38"/>
          <p:cNvSpPr/>
          <p:nvPr/>
        </p:nvSpPr>
        <p:spPr>
          <a:xfrm>
            <a:off x="1463040" y="4712208"/>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Evaluate visualisations through critique and iterative refinement</a:t>
            </a:r>
            <a:endParaRPr lang="en-US" sz="1200" dirty="0"/>
          </a:p>
        </p:txBody>
      </p:sp>
      <p:sp>
        <p:nvSpPr>
          <p:cNvPr id="42" name="Shape 39"/>
          <p:cNvSpPr/>
          <p:nvPr/>
        </p:nvSpPr>
        <p:spPr>
          <a:xfrm>
            <a:off x="10317175" y="4878324"/>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4878324"/>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Critique</a:t>
            </a:r>
            <a:endParaRPr lang="en-US" sz="950" dirty="0"/>
          </a:p>
        </p:txBody>
      </p:sp>
      <p:sp>
        <p:nvSpPr>
          <p:cNvPr id="44" name="Shape 41"/>
          <p:cNvSpPr/>
          <p:nvPr/>
        </p:nvSpPr>
        <p:spPr>
          <a:xfrm>
            <a:off x="548640" y="5410200"/>
            <a:ext cx="11094415" cy="551688"/>
          </a:xfrm>
          <a:prstGeom prst="roundRect">
            <a:avLst>
              <a:gd name="adj" fmla="val 9945"/>
            </a:avLst>
          </a:prstGeom>
          <a:solidFill>
            <a:srgbClr val="F4F6FB"/>
          </a:solidFill>
          <a:ln w="9525">
            <a:solidFill>
              <a:srgbClr val="D9DEE8"/>
            </a:solidFill>
            <a:prstDash val="solid"/>
          </a:ln>
        </p:spPr>
      </p:sp>
      <p:sp>
        <p:nvSpPr>
          <p:cNvPr id="45" name="Shape 42"/>
          <p:cNvSpPr/>
          <p:nvPr/>
        </p:nvSpPr>
        <p:spPr>
          <a:xfrm>
            <a:off x="658368" y="5501640"/>
            <a:ext cx="658368" cy="368808"/>
          </a:xfrm>
          <a:prstGeom prst="roundRect">
            <a:avLst>
              <a:gd name="adj" fmla="val 12397"/>
            </a:avLst>
          </a:prstGeom>
          <a:solidFill>
            <a:srgbClr val="29ABE2"/>
          </a:solidFill>
          <a:ln/>
        </p:spPr>
      </p:sp>
      <p:sp>
        <p:nvSpPr>
          <p:cNvPr id="46" name="Text 43"/>
          <p:cNvSpPr/>
          <p:nvPr/>
        </p:nvSpPr>
        <p:spPr>
          <a:xfrm>
            <a:off x="658368" y="5501640"/>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LO6</a:t>
            </a:r>
            <a:endParaRPr lang="en-US" sz="1200" dirty="0"/>
          </a:p>
        </p:txBody>
      </p:sp>
      <p:sp>
        <p:nvSpPr>
          <p:cNvPr id="47" name="Text 44"/>
          <p:cNvSpPr/>
          <p:nvPr/>
        </p:nvSpPr>
        <p:spPr>
          <a:xfrm>
            <a:off x="1463040" y="5373624"/>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Present analytical findings persuasively to executive stakeholders</a:t>
            </a:r>
            <a:endParaRPr lang="en-US" sz="1200" dirty="0"/>
          </a:p>
        </p:txBody>
      </p:sp>
      <p:sp>
        <p:nvSpPr>
          <p:cNvPr id="48" name="Shape 45"/>
          <p:cNvSpPr/>
          <p:nvPr/>
        </p:nvSpPr>
        <p:spPr>
          <a:xfrm>
            <a:off x="10317175" y="5539740"/>
            <a:ext cx="1170432" cy="329184"/>
          </a:xfrm>
          <a:prstGeom prst="roundRect">
            <a:avLst>
              <a:gd name="adj" fmla="val 16667"/>
            </a:avLst>
          </a:prstGeom>
          <a:solidFill>
            <a:srgbClr val="E6F5F4"/>
          </a:solidFill>
          <a:ln w="9525">
            <a:solidFill>
              <a:srgbClr val="00A79D"/>
            </a:solidFill>
            <a:prstDash val="solid"/>
          </a:ln>
        </p:spPr>
      </p:sp>
      <p:sp>
        <p:nvSpPr>
          <p:cNvPr id="49" name="Text 46"/>
          <p:cNvSpPr/>
          <p:nvPr/>
        </p:nvSpPr>
        <p:spPr>
          <a:xfrm>
            <a:off x="10317175" y="5539740"/>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Delivery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TOOLS &amp; PLATFORMS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What each tool is for</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7</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Text 13"/>
          <p:cNvSpPr/>
          <p:nvPr/>
        </p:nvSpPr>
        <p:spPr>
          <a:xfrm>
            <a:off x="731520" y="224942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Plotly</a:t>
            </a:r>
            <a:endParaRPr lang="en-US" sz="1300" dirty="0"/>
          </a:p>
        </p:txBody>
      </p:sp>
      <p:sp>
        <p:nvSpPr>
          <p:cNvPr id="17" name="Text 14"/>
          <p:cNvSpPr/>
          <p:nvPr/>
        </p:nvSpPr>
        <p:spPr>
          <a:xfrm>
            <a:off x="731520" y="2615184"/>
            <a:ext cx="3149498" cy="1353312"/>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Python interactive charting and the primary lab tool for building the Tayseer dashboard views.</a:t>
            </a:r>
            <a:endParaRPr lang="en-US" sz="1050" dirty="0"/>
          </a:p>
        </p:txBody>
      </p:sp>
      <p:sp>
        <p:nvSpPr>
          <p:cNvPr id="18" name="Shape 15"/>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19" name="Shape 16"/>
          <p:cNvSpPr/>
          <p:nvPr/>
        </p:nvSpPr>
        <p:spPr>
          <a:xfrm>
            <a:off x="4338218" y="2066544"/>
            <a:ext cx="3515258" cy="82296"/>
          </a:xfrm>
          <a:prstGeom prst="rect">
            <a:avLst/>
          </a:prstGeom>
          <a:solidFill>
            <a:srgbClr val="00A79D"/>
          </a:solidFill>
          <a:ln/>
        </p:spPr>
      </p:sp>
      <p:sp>
        <p:nvSpPr>
          <p:cNvPr id="20" name="Text 17"/>
          <p:cNvSpPr/>
          <p:nvPr/>
        </p:nvSpPr>
        <p:spPr>
          <a:xfrm>
            <a:off x="4521098" y="224942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Power BI / Tableau</a:t>
            </a:r>
            <a:endParaRPr lang="en-US" sz="1300" dirty="0"/>
          </a:p>
        </p:txBody>
      </p:sp>
      <p:sp>
        <p:nvSpPr>
          <p:cNvPr id="21" name="Text 18"/>
          <p:cNvSpPr/>
          <p:nvPr/>
        </p:nvSpPr>
        <p:spPr>
          <a:xfrm>
            <a:off x="4521098" y="2615184"/>
            <a:ext cx="3149498" cy="1353312"/>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BI platforms for self-service dashboards — Power BI on Windows, Tableau Public cross-platform.</a:t>
            </a:r>
            <a:endParaRPr lang="en-US" sz="1050" dirty="0"/>
          </a:p>
        </p:txBody>
      </p:sp>
      <p:sp>
        <p:nvSpPr>
          <p:cNvPr id="22" name="Shape 19"/>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3" name="Shape 20"/>
          <p:cNvSpPr/>
          <p:nvPr/>
        </p:nvSpPr>
        <p:spPr>
          <a:xfrm>
            <a:off x="8127797" y="2066544"/>
            <a:ext cx="3515258" cy="82296"/>
          </a:xfrm>
          <a:prstGeom prst="rect">
            <a:avLst/>
          </a:prstGeom>
          <a:solidFill>
            <a:srgbClr val="E8833A"/>
          </a:solidFill>
          <a:ln/>
        </p:spPr>
      </p:sp>
      <p:sp>
        <p:nvSpPr>
          <p:cNvPr id="24" name="Text 21"/>
          <p:cNvSpPr/>
          <p:nvPr/>
        </p:nvSpPr>
        <p:spPr>
          <a:xfrm>
            <a:off x="8310677" y="224942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Matplotlib / Seaborn</a:t>
            </a:r>
            <a:endParaRPr lang="en-US" sz="1300" dirty="0"/>
          </a:p>
        </p:txBody>
      </p:sp>
      <p:sp>
        <p:nvSpPr>
          <p:cNvPr id="25" name="Text 22"/>
          <p:cNvSpPr/>
          <p:nvPr/>
        </p:nvSpPr>
        <p:spPr>
          <a:xfrm>
            <a:off x="8310677" y="2615184"/>
            <a:ext cx="3149498" cy="1353312"/>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Static Python plotting for the first honest charts and the before/after redesign work.</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THE MODULE JOURNEY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Six craft skills, six modules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8</a:t>
            </a:r>
            <a:endParaRPr lang="en-US" sz="800" dirty="0"/>
          </a:p>
        </p:txBody>
      </p:sp>
      <p:sp>
        <p:nvSpPr>
          <p:cNvPr id="14" name="Shape 11"/>
          <p:cNvSpPr/>
          <p:nvPr/>
        </p:nvSpPr>
        <p:spPr>
          <a:xfrm>
            <a:off x="548640" y="2295144"/>
            <a:ext cx="1589989" cy="2926080"/>
          </a:xfrm>
          <a:prstGeom prst="roundRect">
            <a:avLst>
              <a:gd name="adj" fmla="val 5751"/>
            </a:avLst>
          </a:prstGeom>
          <a:solidFill>
            <a:srgbClr val="EAF0FA"/>
          </a:solidFill>
          <a:ln w="15875">
            <a:solidFill>
              <a:srgbClr val="2E5AAC"/>
            </a:solidFill>
            <a:prstDash val="solid"/>
          </a:ln>
        </p:spPr>
      </p:sp>
      <p:sp>
        <p:nvSpPr>
          <p:cNvPr id="15" name="Shape 12"/>
          <p:cNvSpPr/>
          <p:nvPr/>
        </p:nvSpPr>
        <p:spPr>
          <a:xfrm>
            <a:off x="1087603" y="2496312"/>
            <a:ext cx="512064" cy="512064"/>
          </a:xfrm>
          <a:prstGeom prst="ellipse">
            <a:avLst/>
          </a:prstGeom>
          <a:solidFill>
            <a:srgbClr val="2E5AAC"/>
          </a:solidFill>
          <a:ln/>
        </p:spPr>
      </p:sp>
      <p:sp>
        <p:nvSpPr>
          <p:cNvPr id="16" name="Text 13"/>
          <p:cNvSpPr/>
          <p:nvPr/>
        </p:nvSpPr>
        <p:spPr>
          <a:xfrm>
            <a:off x="1087603" y="249631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7" name="Text 14"/>
          <p:cNvSpPr/>
          <p:nvPr/>
        </p:nvSpPr>
        <p:spPr>
          <a:xfrm>
            <a:off x="658368" y="3136392"/>
            <a:ext cx="1370533"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M1 · Perception</a:t>
            </a:r>
            <a:endParaRPr lang="en-US" sz="1300" dirty="0"/>
          </a:p>
        </p:txBody>
      </p:sp>
      <p:sp>
        <p:nvSpPr>
          <p:cNvPr id="18" name="Text 15"/>
          <p:cNvSpPr/>
          <p:nvPr/>
        </p:nvSpPr>
        <p:spPr>
          <a:xfrm>
            <a:off x="676656" y="3666744"/>
            <a:ext cx="1333957"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Read visual encoding: pre-attentive attributes and the encoding-accuracy ranking.</a:t>
            </a:r>
            <a:endParaRPr lang="en-US" sz="1050" dirty="0"/>
          </a:p>
        </p:txBody>
      </p:sp>
      <p:sp>
        <p:nvSpPr>
          <p:cNvPr id="19" name="Text 16"/>
          <p:cNvSpPr/>
          <p:nvPr/>
        </p:nvSpPr>
        <p:spPr>
          <a:xfrm>
            <a:off x="2156917" y="343814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0" name="Shape 17"/>
          <p:cNvSpPr/>
          <p:nvPr/>
        </p:nvSpPr>
        <p:spPr>
          <a:xfrm>
            <a:off x="2449525" y="2295144"/>
            <a:ext cx="1589989" cy="2926080"/>
          </a:xfrm>
          <a:prstGeom prst="roundRect">
            <a:avLst>
              <a:gd name="adj" fmla="val 5751"/>
            </a:avLst>
          </a:prstGeom>
          <a:solidFill>
            <a:srgbClr val="E6F5F4"/>
          </a:solidFill>
          <a:ln w="15875">
            <a:solidFill>
              <a:srgbClr val="00A79D"/>
            </a:solidFill>
            <a:prstDash val="solid"/>
          </a:ln>
        </p:spPr>
      </p:sp>
      <p:sp>
        <p:nvSpPr>
          <p:cNvPr id="21" name="Shape 18"/>
          <p:cNvSpPr/>
          <p:nvPr/>
        </p:nvSpPr>
        <p:spPr>
          <a:xfrm>
            <a:off x="2988488" y="2496312"/>
            <a:ext cx="512064" cy="512064"/>
          </a:xfrm>
          <a:prstGeom prst="ellipse">
            <a:avLst/>
          </a:prstGeom>
          <a:solidFill>
            <a:srgbClr val="00A79D"/>
          </a:solidFill>
          <a:ln/>
        </p:spPr>
      </p:sp>
      <p:sp>
        <p:nvSpPr>
          <p:cNvPr id="22" name="Text 19"/>
          <p:cNvSpPr/>
          <p:nvPr/>
        </p:nvSpPr>
        <p:spPr>
          <a:xfrm>
            <a:off x="2988488" y="249631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3" name="Text 20"/>
          <p:cNvSpPr/>
          <p:nvPr/>
        </p:nvSpPr>
        <p:spPr>
          <a:xfrm>
            <a:off x="2559253" y="3136392"/>
            <a:ext cx="1370533"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M2 · Chart choice</a:t>
            </a:r>
            <a:endParaRPr lang="en-US" sz="1300" dirty="0"/>
          </a:p>
        </p:txBody>
      </p:sp>
      <p:sp>
        <p:nvSpPr>
          <p:cNvPr id="24" name="Text 21"/>
          <p:cNvSpPr/>
          <p:nvPr/>
        </p:nvSpPr>
        <p:spPr>
          <a:xfrm>
            <a:off x="2577541" y="3666744"/>
            <a:ext cx="1333957"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Match question-type to an honest chart; apply the design-principles checklist.</a:t>
            </a:r>
            <a:endParaRPr lang="en-US" sz="1050" dirty="0"/>
          </a:p>
        </p:txBody>
      </p:sp>
      <p:sp>
        <p:nvSpPr>
          <p:cNvPr id="25" name="Text 22"/>
          <p:cNvSpPr/>
          <p:nvPr/>
        </p:nvSpPr>
        <p:spPr>
          <a:xfrm>
            <a:off x="4057802" y="343814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6" name="Shape 23"/>
          <p:cNvSpPr/>
          <p:nvPr/>
        </p:nvSpPr>
        <p:spPr>
          <a:xfrm>
            <a:off x="4350410" y="2295144"/>
            <a:ext cx="1589989" cy="2926080"/>
          </a:xfrm>
          <a:prstGeom prst="roundRect">
            <a:avLst>
              <a:gd name="adj" fmla="val 5751"/>
            </a:avLst>
          </a:prstGeom>
          <a:solidFill>
            <a:srgbClr val="FCF0E6"/>
          </a:solidFill>
          <a:ln w="15875">
            <a:solidFill>
              <a:srgbClr val="E8833A"/>
            </a:solidFill>
            <a:prstDash val="solid"/>
          </a:ln>
        </p:spPr>
      </p:sp>
      <p:sp>
        <p:nvSpPr>
          <p:cNvPr id="27" name="Shape 24"/>
          <p:cNvSpPr/>
          <p:nvPr/>
        </p:nvSpPr>
        <p:spPr>
          <a:xfrm>
            <a:off x="4889373" y="2496312"/>
            <a:ext cx="512064" cy="512064"/>
          </a:xfrm>
          <a:prstGeom prst="ellipse">
            <a:avLst/>
          </a:prstGeom>
          <a:solidFill>
            <a:srgbClr val="E8833A"/>
          </a:solidFill>
          <a:ln/>
        </p:spPr>
      </p:sp>
      <p:sp>
        <p:nvSpPr>
          <p:cNvPr id="28" name="Text 25"/>
          <p:cNvSpPr/>
          <p:nvPr/>
        </p:nvSpPr>
        <p:spPr>
          <a:xfrm>
            <a:off x="4889373" y="249631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9" name="Text 26"/>
          <p:cNvSpPr/>
          <p:nvPr/>
        </p:nvSpPr>
        <p:spPr>
          <a:xfrm>
            <a:off x="4460138" y="3136392"/>
            <a:ext cx="1370533"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M3 · Declutter</a:t>
            </a:r>
            <a:endParaRPr lang="en-US" sz="1300" dirty="0"/>
          </a:p>
        </p:txBody>
      </p:sp>
      <p:sp>
        <p:nvSpPr>
          <p:cNvPr id="30" name="Text 27"/>
          <p:cNvSpPr/>
          <p:nvPr/>
        </p:nvSpPr>
        <p:spPr>
          <a:xfrm>
            <a:off x="4478426" y="3666744"/>
            <a:ext cx="1333957"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Colour semantics, the data-ink ratio, and annotation as the argument.</a:t>
            </a:r>
            <a:endParaRPr lang="en-US" sz="1050" dirty="0"/>
          </a:p>
        </p:txBody>
      </p:sp>
      <p:sp>
        <p:nvSpPr>
          <p:cNvPr id="31" name="Text 28"/>
          <p:cNvSpPr/>
          <p:nvPr/>
        </p:nvSpPr>
        <p:spPr>
          <a:xfrm>
            <a:off x="5958688" y="343814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2" name="Shape 29"/>
          <p:cNvSpPr/>
          <p:nvPr/>
        </p:nvSpPr>
        <p:spPr>
          <a:xfrm>
            <a:off x="6251296" y="2295144"/>
            <a:ext cx="1589989" cy="2926080"/>
          </a:xfrm>
          <a:prstGeom prst="roundRect">
            <a:avLst>
              <a:gd name="adj" fmla="val 5751"/>
            </a:avLst>
          </a:prstGeom>
          <a:solidFill>
            <a:srgbClr val="EFEBF6"/>
          </a:solidFill>
          <a:ln w="15875">
            <a:solidFill>
              <a:srgbClr val="6C4FA1"/>
            </a:solidFill>
            <a:prstDash val="solid"/>
          </a:ln>
        </p:spPr>
      </p:sp>
      <p:sp>
        <p:nvSpPr>
          <p:cNvPr id="33" name="Shape 30"/>
          <p:cNvSpPr/>
          <p:nvPr/>
        </p:nvSpPr>
        <p:spPr>
          <a:xfrm>
            <a:off x="6790258" y="2496312"/>
            <a:ext cx="512064" cy="512064"/>
          </a:xfrm>
          <a:prstGeom prst="ellipse">
            <a:avLst/>
          </a:prstGeom>
          <a:solidFill>
            <a:srgbClr val="6C4FA1"/>
          </a:solidFill>
          <a:ln/>
        </p:spPr>
      </p:sp>
      <p:sp>
        <p:nvSpPr>
          <p:cNvPr id="34" name="Text 31"/>
          <p:cNvSpPr/>
          <p:nvPr/>
        </p:nvSpPr>
        <p:spPr>
          <a:xfrm>
            <a:off x="6790258" y="249631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5" name="Text 32"/>
          <p:cNvSpPr/>
          <p:nvPr/>
        </p:nvSpPr>
        <p:spPr>
          <a:xfrm>
            <a:off x="6361024" y="3136392"/>
            <a:ext cx="1370533"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M4 · Dashboard</a:t>
            </a:r>
            <a:endParaRPr lang="en-US" sz="1300" dirty="0"/>
          </a:p>
        </p:txBody>
      </p:sp>
      <p:sp>
        <p:nvSpPr>
          <p:cNvPr id="36" name="Text 33"/>
          <p:cNvSpPr/>
          <p:nvPr/>
        </p:nvSpPr>
        <p:spPr>
          <a:xfrm>
            <a:off x="6379312" y="3666744"/>
            <a:ext cx="1333957"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Compose an interactive multi-view dashboard with filters and drill-down.</a:t>
            </a:r>
            <a:endParaRPr lang="en-US" sz="1050" dirty="0"/>
          </a:p>
        </p:txBody>
      </p:sp>
      <p:sp>
        <p:nvSpPr>
          <p:cNvPr id="37" name="Text 34"/>
          <p:cNvSpPr/>
          <p:nvPr/>
        </p:nvSpPr>
        <p:spPr>
          <a:xfrm>
            <a:off x="7859573" y="343814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8" name="Shape 35"/>
          <p:cNvSpPr/>
          <p:nvPr/>
        </p:nvSpPr>
        <p:spPr>
          <a:xfrm>
            <a:off x="8152181" y="2295144"/>
            <a:ext cx="1589989" cy="2926080"/>
          </a:xfrm>
          <a:prstGeom prst="roundRect">
            <a:avLst>
              <a:gd name="adj" fmla="val 5751"/>
            </a:avLst>
          </a:prstGeom>
          <a:solidFill>
            <a:srgbClr val="E9F5EC"/>
          </a:solidFill>
          <a:ln w="15875">
            <a:solidFill>
              <a:srgbClr val="3FAE5A"/>
            </a:solidFill>
            <a:prstDash val="solid"/>
          </a:ln>
        </p:spPr>
      </p:sp>
      <p:sp>
        <p:nvSpPr>
          <p:cNvPr id="39" name="Shape 36"/>
          <p:cNvSpPr/>
          <p:nvPr/>
        </p:nvSpPr>
        <p:spPr>
          <a:xfrm>
            <a:off x="8691143" y="2496312"/>
            <a:ext cx="512064" cy="512064"/>
          </a:xfrm>
          <a:prstGeom prst="ellipse">
            <a:avLst/>
          </a:prstGeom>
          <a:solidFill>
            <a:srgbClr val="3FAE5A"/>
          </a:solidFill>
          <a:ln/>
        </p:spPr>
      </p:sp>
      <p:sp>
        <p:nvSpPr>
          <p:cNvPr id="40" name="Text 37"/>
          <p:cNvSpPr/>
          <p:nvPr/>
        </p:nvSpPr>
        <p:spPr>
          <a:xfrm>
            <a:off x="8691143" y="249631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41" name="Text 38"/>
          <p:cNvSpPr/>
          <p:nvPr/>
        </p:nvSpPr>
        <p:spPr>
          <a:xfrm>
            <a:off x="8261909" y="3136392"/>
            <a:ext cx="1370533"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M5 · Narrative</a:t>
            </a:r>
            <a:endParaRPr lang="en-US" sz="1300" dirty="0"/>
          </a:p>
        </p:txBody>
      </p:sp>
      <p:sp>
        <p:nvSpPr>
          <p:cNvPr id="42" name="Text 39"/>
          <p:cNvSpPr/>
          <p:nvPr/>
        </p:nvSpPr>
        <p:spPr>
          <a:xfrm>
            <a:off x="8280197" y="3666744"/>
            <a:ext cx="1333957"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Wrap findings in a story: audience-decision framing and one Big Idea.</a:t>
            </a:r>
            <a:endParaRPr lang="en-US" sz="1050" dirty="0"/>
          </a:p>
        </p:txBody>
      </p:sp>
      <p:sp>
        <p:nvSpPr>
          <p:cNvPr id="43" name="Text 40"/>
          <p:cNvSpPr/>
          <p:nvPr/>
        </p:nvSpPr>
        <p:spPr>
          <a:xfrm>
            <a:off x="9760458" y="343814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44" name="Shape 41"/>
          <p:cNvSpPr/>
          <p:nvPr/>
        </p:nvSpPr>
        <p:spPr>
          <a:xfrm>
            <a:off x="10053066" y="2295144"/>
            <a:ext cx="1589989" cy="2926080"/>
          </a:xfrm>
          <a:prstGeom prst="roundRect">
            <a:avLst>
              <a:gd name="adj" fmla="val 5751"/>
            </a:avLst>
          </a:prstGeom>
          <a:solidFill>
            <a:srgbClr val="E7F5FC"/>
          </a:solidFill>
          <a:ln w="15875">
            <a:solidFill>
              <a:srgbClr val="29ABE2"/>
            </a:solidFill>
            <a:prstDash val="solid"/>
          </a:ln>
        </p:spPr>
      </p:sp>
      <p:sp>
        <p:nvSpPr>
          <p:cNvPr id="45" name="Shape 42"/>
          <p:cNvSpPr/>
          <p:nvPr/>
        </p:nvSpPr>
        <p:spPr>
          <a:xfrm>
            <a:off x="10592029" y="2496312"/>
            <a:ext cx="512064" cy="512064"/>
          </a:xfrm>
          <a:prstGeom prst="ellipse">
            <a:avLst/>
          </a:prstGeom>
          <a:solidFill>
            <a:srgbClr val="29ABE2"/>
          </a:solidFill>
          <a:ln/>
        </p:spPr>
      </p:sp>
      <p:sp>
        <p:nvSpPr>
          <p:cNvPr id="46" name="Text 43"/>
          <p:cNvSpPr/>
          <p:nvPr/>
        </p:nvSpPr>
        <p:spPr>
          <a:xfrm>
            <a:off x="10592029" y="249631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47" name="Text 44"/>
          <p:cNvSpPr/>
          <p:nvPr/>
        </p:nvSpPr>
        <p:spPr>
          <a:xfrm>
            <a:off x="10162794" y="3136392"/>
            <a:ext cx="1370533"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M6 · Delivery</a:t>
            </a:r>
            <a:endParaRPr lang="en-US" sz="1300" dirty="0"/>
          </a:p>
        </p:txBody>
      </p:sp>
      <p:sp>
        <p:nvSpPr>
          <p:cNvPr id="48" name="Text 45"/>
          <p:cNvSpPr/>
          <p:nvPr/>
        </p:nvSpPr>
        <p:spPr>
          <a:xfrm>
            <a:off x="10181082" y="3666744"/>
            <a:ext cx="1333957"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Deliver to a simulated Steering Committee: BLUF, slide craft, and Q&amp;A.</a:t>
            </a:r>
            <a:endParaRPr lang="en-US" sz="1050" dirty="0"/>
          </a:p>
        </p:txBody>
      </p:sp>
      <p:sp>
        <p:nvSpPr>
          <p:cNvPr id="49" name="Text 46"/>
          <p:cNvSpPr/>
          <p:nvPr/>
        </p:nvSpPr>
        <p:spPr>
          <a:xfrm>
            <a:off x="548640" y="5330952"/>
            <a:ext cx="11094415" cy="365760"/>
          </a:xfrm>
          <a:prstGeom prst="rect">
            <a:avLst/>
          </a:prstGeom>
          <a:noFill/>
          <a:ln/>
        </p:spPr>
        <p:txBody>
          <a:bodyPr wrap="square" rtlCol="0" anchor="t"/>
          <a:lstStyle/>
          <a:p>
            <a:pPr marL="0" indent="0" algn="l">
              <a:buNone/>
            </a:pPr>
            <a:r>
              <a:rPr lang="en-US" sz="1100" i="1" dirty="0">
                <a:solidFill>
                  <a:srgbClr val="6B7280"/>
                </a:solidFill>
                <a:latin typeface="Arial" pitchFamily="34" charset="0"/>
                <a:ea typeface="Arial" pitchFamily="34" charset="-122"/>
                <a:cs typeface="Arial" pitchFamily="34" charset="-120"/>
              </a:rPr>
              <a:t>Each step evolves the same Tayseer artefact.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DELIVERY PLAN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Day-by-day schedule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9</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1847088"/>
        </p:xfrm>
        <a:graphic>
          <a:graphicData uri="http://schemas.openxmlformats.org/drawingml/2006/table">
            <a:tbl>
              <a:tblPr/>
              <a:tblGrid>
                <a:gridCol w="14630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649224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Day</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Theme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Deliverable at end of day</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Day 1</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Seeing clearly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 perception audit + a defensible, honestly-drawn chart-choice set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Day 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Craft &amp; interactivity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 before/after redesign pair + a working interactive Tayseer dashboard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Day 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Narrative &amp; the room</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 storyboarded narrative + a rehearsed 7-minute presentation + capstone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HOUR BY HOUR</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Day 1 — Seeing clearly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10</a:t>
            </a:r>
            <a:endParaRPr lang="en-US" sz="800" dirty="0"/>
          </a:p>
        </p:txBody>
      </p:sp>
      <p:sp>
        <p:nvSpPr>
          <p:cNvPr id="14" name="Shape 11"/>
          <p:cNvSpPr/>
          <p:nvPr/>
        </p:nvSpPr>
        <p:spPr>
          <a:xfrm>
            <a:off x="548640" y="2066544"/>
            <a:ext cx="11094415" cy="691286"/>
          </a:xfrm>
          <a:prstGeom prst="roundRect">
            <a:avLst>
              <a:gd name="adj" fmla="val 9259"/>
            </a:avLst>
          </a:prstGeom>
          <a:solidFill>
            <a:srgbClr val="FFFFFF"/>
          </a:solidFill>
          <a:ln w="12700">
            <a:solidFill>
              <a:srgbClr val="D9DEE8"/>
            </a:solidFill>
            <a:prstDash val="solid"/>
          </a:ln>
        </p:spPr>
      </p:sp>
      <p:sp>
        <p:nvSpPr>
          <p:cNvPr id="15" name="Shape 12"/>
          <p:cNvSpPr/>
          <p:nvPr/>
        </p:nvSpPr>
        <p:spPr>
          <a:xfrm>
            <a:off x="548640" y="2066544"/>
            <a:ext cx="1051560" cy="691286"/>
          </a:xfrm>
          <a:prstGeom prst="roundRect">
            <a:avLst>
              <a:gd name="adj" fmla="val 9259"/>
            </a:avLst>
          </a:prstGeom>
          <a:solidFill>
            <a:srgbClr val="2E5AAC"/>
          </a:solidFill>
          <a:ln/>
        </p:spPr>
      </p:sp>
      <p:sp>
        <p:nvSpPr>
          <p:cNvPr id="16" name="Shape 13"/>
          <p:cNvSpPr/>
          <p:nvPr/>
        </p:nvSpPr>
        <p:spPr>
          <a:xfrm>
            <a:off x="1508760" y="2066544"/>
            <a:ext cx="91440" cy="691286"/>
          </a:xfrm>
          <a:prstGeom prst="rect">
            <a:avLst/>
          </a:prstGeom>
          <a:solidFill>
            <a:srgbClr val="2E5AAC"/>
          </a:solidFill>
          <a:ln/>
        </p:spPr>
      </p:sp>
      <p:sp>
        <p:nvSpPr>
          <p:cNvPr id="17" name="Text 14"/>
          <p:cNvSpPr/>
          <p:nvPr/>
        </p:nvSpPr>
        <p:spPr>
          <a:xfrm>
            <a:off x="548640" y="2066544"/>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H1</a:t>
            </a:r>
            <a:endParaRPr lang="en-US" sz="1500" dirty="0"/>
          </a:p>
        </p:txBody>
      </p:sp>
      <p:sp>
        <p:nvSpPr>
          <p:cNvPr id="18" name="Text 15"/>
          <p:cNvSpPr/>
          <p:nvPr/>
        </p:nvSpPr>
        <p:spPr>
          <a:xfrm>
            <a:off x="1783080" y="2121408"/>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Why most dashboards fail + kickoff + Tayseer dataset tour</a:t>
            </a:r>
            <a:endParaRPr lang="en-US" sz="1250" dirty="0"/>
          </a:p>
        </p:txBody>
      </p:sp>
      <p:sp>
        <p:nvSpPr>
          <p:cNvPr id="19" name="Shape 16"/>
          <p:cNvSpPr/>
          <p:nvPr/>
        </p:nvSpPr>
        <p:spPr>
          <a:xfrm>
            <a:off x="10408615" y="2247595"/>
            <a:ext cx="1078992" cy="329184"/>
          </a:xfrm>
          <a:prstGeom prst="roundRect">
            <a:avLst>
              <a:gd name="adj" fmla="val 16667"/>
            </a:avLst>
          </a:prstGeom>
          <a:solidFill>
            <a:srgbClr val="EAF0FA"/>
          </a:solidFill>
          <a:ln w="9525">
            <a:solidFill>
              <a:srgbClr val="2E5AAC"/>
            </a:solidFill>
            <a:prstDash val="solid"/>
          </a:ln>
        </p:spPr>
      </p:sp>
      <p:sp>
        <p:nvSpPr>
          <p:cNvPr id="20" name="Text 17"/>
          <p:cNvSpPr/>
          <p:nvPr/>
        </p:nvSpPr>
        <p:spPr>
          <a:xfrm>
            <a:off x="10408615" y="2247595"/>
            <a:ext cx="1078992" cy="329184"/>
          </a:xfrm>
          <a:prstGeom prst="rect">
            <a:avLst/>
          </a:prstGeom>
          <a:noFill/>
          <a:ln/>
        </p:spPr>
        <p:txBody>
          <a:bodyPr wrap="square" rtlCol="0" anchor="ctr"/>
          <a:lstStyle/>
          <a:p>
            <a:pPr marL="0" indent="0" algn="ctr">
              <a:buNone/>
            </a:pPr>
            <a:r>
              <a:rPr lang="en-US" sz="950" b="1" dirty="0">
                <a:solidFill>
                  <a:srgbClr val="2E5AAC"/>
                </a:solidFill>
                <a:latin typeface="Arial" pitchFamily="34" charset="0"/>
                <a:ea typeface="Arial" pitchFamily="34" charset="-122"/>
                <a:cs typeface="Arial" pitchFamily="34" charset="-120"/>
              </a:rPr>
              <a:t>80/20</a:t>
            </a:r>
            <a:endParaRPr lang="en-US" sz="950" dirty="0"/>
          </a:p>
        </p:txBody>
      </p:sp>
      <p:sp>
        <p:nvSpPr>
          <p:cNvPr id="21" name="Shape 18"/>
          <p:cNvSpPr/>
          <p:nvPr/>
        </p:nvSpPr>
        <p:spPr>
          <a:xfrm>
            <a:off x="548640" y="2885846"/>
            <a:ext cx="11094415" cy="691286"/>
          </a:xfrm>
          <a:prstGeom prst="roundRect">
            <a:avLst>
              <a:gd name="adj" fmla="val 9259"/>
            </a:avLst>
          </a:prstGeom>
          <a:solidFill>
            <a:srgbClr val="FFFFFF"/>
          </a:solidFill>
          <a:ln w="12700">
            <a:solidFill>
              <a:srgbClr val="D9DEE8"/>
            </a:solidFill>
            <a:prstDash val="solid"/>
          </a:ln>
        </p:spPr>
      </p:sp>
      <p:sp>
        <p:nvSpPr>
          <p:cNvPr id="22" name="Shape 19"/>
          <p:cNvSpPr/>
          <p:nvPr/>
        </p:nvSpPr>
        <p:spPr>
          <a:xfrm>
            <a:off x="548640" y="2885846"/>
            <a:ext cx="1051560" cy="691286"/>
          </a:xfrm>
          <a:prstGeom prst="roundRect">
            <a:avLst>
              <a:gd name="adj" fmla="val 9259"/>
            </a:avLst>
          </a:prstGeom>
          <a:solidFill>
            <a:srgbClr val="00A79D"/>
          </a:solidFill>
          <a:ln/>
        </p:spPr>
      </p:sp>
      <p:sp>
        <p:nvSpPr>
          <p:cNvPr id="23" name="Shape 20"/>
          <p:cNvSpPr/>
          <p:nvPr/>
        </p:nvSpPr>
        <p:spPr>
          <a:xfrm>
            <a:off x="1508760" y="2885846"/>
            <a:ext cx="91440" cy="691286"/>
          </a:xfrm>
          <a:prstGeom prst="rect">
            <a:avLst/>
          </a:prstGeom>
          <a:solidFill>
            <a:srgbClr val="00A79D"/>
          </a:solidFill>
          <a:ln/>
        </p:spPr>
      </p:sp>
      <p:sp>
        <p:nvSpPr>
          <p:cNvPr id="24" name="Text 21"/>
          <p:cNvSpPr/>
          <p:nvPr/>
        </p:nvSpPr>
        <p:spPr>
          <a:xfrm>
            <a:off x="548640" y="2885846"/>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H2</a:t>
            </a:r>
            <a:endParaRPr lang="en-US" sz="1500" dirty="0"/>
          </a:p>
        </p:txBody>
      </p:sp>
      <p:sp>
        <p:nvSpPr>
          <p:cNvPr id="25" name="Text 22"/>
          <p:cNvSpPr/>
          <p:nvPr/>
        </p:nvSpPr>
        <p:spPr>
          <a:xfrm>
            <a:off x="1783080" y="2940710"/>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Perception science and visual encoding (M1)</a:t>
            </a:r>
            <a:endParaRPr lang="en-US" sz="1250" dirty="0"/>
          </a:p>
        </p:txBody>
      </p:sp>
      <p:sp>
        <p:nvSpPr>
          <p:cNvPr id="26" name="Shape 23"/>
          <p:cNvSpPr/>
          <p:nvPr/>
        </p:nvSpPr>
        <p:spPr>
          <a:xfrm>
            <a:off x="10408615" y="3066898"/>
            <a:ext cx="1078992" cy="329184"/>
          </a:xfrm>
          <a:prstGeom prst="roundRect">
            <a:avLst>
              <a:gd name="adj" fmla="val 16667"/>
            </a:avLst>
          </a:prstGeom>
          <a:solidFill>
            <a:srgbClr val="E6F5F4"/>
          </a:solidFill>
          <a:ln w="9525">
            <a:solidFill>
              <a:srgbClr val="00A79D"/>
            </a:solidFill>
            <a:prstDash val="solid"/>
          </a:ln>
        </p:spPr>
      </p:sp>
      <p:sp>
        <p:nvSpPr>
          <p:cNvPr id="27" name="Text 24"/>
          <p:cNvSpPr/>
          <p:nvPr/>
        </p:nvSpPr>
        <p:spPr>
          <a:xfrm>
            <a:off x="10408615" y="3066898"/>
            <a:ext cx="107899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70/30</a:t>
            </a:r>
            <a:endParaRPr lang="en-US" sz="950" dirty="0"/>
          </a:p>
        </p:txBody>
      </p:sp>
      <p:sp>
        <p:nvSpPr>
          <p:cNvPr id="28" name="Shape 25"/>
          <p:cNvSpPr/>
          <p:nvPr/>
        </p:nvSpPr>
        <p:spPr>
          <a:xfrm>
            <a:off x="548640" y="3705149"/>
            <a:ext cx="11094415" cy="691286"/>
          </a:xfrm>
          <a:prstGeom prst="roundRect">
            <a:avLst>
              <a:gd name="adj" fmla="val 9259"/>
            </a:avLst>
          </a:prstGeom>
          <a:solidFill>
            <a:srgbClr val="FFFFFF"/>
          </a:solidFill>
          <a:ln w="12700">
            <a:solidFill>
              <a:srgbClr val="D9DEE8"/>
            </a:solidFill>
            <a:prstDash val="solid"/>
          </a:ln>
        </p:spPr>
      </p:sp>
      <p:sp>
        <p:nvSpPr>
          <p:cNvPr id="29" name="Shape 26"/>
          <p:cNvSpPr/>
          <p:nvPr/>
        </p:nvSpPr>
        <p:spPr>
          <a:xfrm>
            <a:off x="548640" y="3705149"/>
            <a:ext cx="1051560" cy="691286"/>
          </a:xfrm>
          <a:prstGeom prst="roundRect">
            <a:avLst>
              <a:gd name="adj" fmla="val 9259"/>
            </a:avLst>
          </a:prstGeom>
          <a:solidFill>
            <a:srgbClr val="E8833A"/>
          </a:solidFill>
          <a:ln/>
        </p:spPr>
      </p:sp>
      <p:sp>
        <p:nvSpPr>
          <p:cNvPr id="30" name="Shape 27"/>
          <p:cNvSpPr/>
          <p:nvPr/>
        </p:nvSpPr>
        <p:spPr>
          <a:xfrm>
            <a:off x="1508760" y="3705149"/>
            <a:ext cx="91440" cy="691286"/>
          </a:xfrm>
          <a:prstGeom prst="rect">
            <a:avLst/>
          </a:prstGeom>
          <a:solidFill>
            <a:srgbClr val="E8833A"/>
          </a:solidFill>
          <a:ln/>
        </p:spPr>
      </p:sp>
      <p:sp>
        <p:nvSpPr>
          <p:cNvPr id="31" name="Text 28"/>
          <p:cNvSpPr/>
          <p:nvPr/>
        </p:nvSpPr>
        <p:spPr>
          <a:xfrm>
            <a:off x="548640" y="3705149"/>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H3</a:t>
            </a:r>
            <a:endParaRPr lang="en-US" sz="1500" dirty="0"/>
          </a:p>
        </p:txBody>
      </p:sp>
      <p:sp>
        <p:nvSpPr>
          <p:cNvPr id="32" name="Text 29"/>
          <p:cNvSpPr/>
          <p:nvPr/>
        </p:nvSpPr>
        <p:spPr>
          <a:xfrm>
            <a:off x="1783080" y="3760013"/>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Lab 1 — Perception audit &amp; five encodings</a:t>
            </a:r>
            <a:endParaRPr lang="en-US" sz="1250" dirty="0"/>
          </a:p>
        </p:txBody>
      </p:sp>
      <p:sp>
        <p:nvSpPr>
          <p:cNvPr id="33" name="Shape 30"/>
          <p:cNvSpPr/>
          <p:nvPr/>
        </p:nvSpPr>
        <p:spPr>
          <a:xfrm>
            <a:off x="10408615" y="3886200"/>
            <a:ext cx="1078992" cy="329184"/>
          </a:xfrm>
          <a:prstGeom prst="roundRect">
            <a:avLst>
              <a:gd name="adj" fmla="val 16667"/>
            </a:avLst>
          </a:prstGeom>
          <a:solidFill>
            <a:srgbClr val="FCF0E6"/>
          </a:solidFill>
          <a:ln w="9525">
            <a:solidFill>
              <a:srgbClr val="E8833A"/>
            </a:solidFill>
            <a:prstDash val="solid"/>
          </a:ln>
        </p:spPr>
      </p:sp>
      <p:sp>
        <p:nvSpPr>
          <p:cNvPr id="34" name="Text 31"/>
          <p:cNvSpPr/>
          <p:nvPr/>
        </p:nvSpPr>
        <p:spPr>
          <a:xfrm>
            <a:off x="10408615" y="3886200"/>
            <a:ext cx="1078992" cy="329184"/>
          </a:xfrm>
          <a:prstGeom prst="rect">
            <a:avLst/>
          </a:prstGeom>
          <a:noFill/>
          <a:ln/>
        </p:spPr>
        <p:txBody>
          <a:bodyPr wrap="square" rtlCol="0" anchor="ctr"/>
          <a:lstStyle/>
          <a:p>
            <a:pPr marL="0" indent="0" algn="ctr">
              <a:buNone/>
            </a:pPr>
            <a:r>
              <a:rPr lang="en-US" sz="950" b="1" dirty="0">
                <a:solidFill>
                  <a:srgbClr val="E8833A"/>
                </a:solidFill>
                <a:latin typeface="Arial" pitchFamily="34" charset="0"/>
                <a:ea typeface="Arial" pitchFamily="34" charset="-122"/>
                <a:cs typeface="Arial" pitchFamily="34" charset="-120"/>
              </a:rPr>
              <a:t>15/85</a:t>
            </a:r>
            <a:endParaRPr lang="en-US" sz="950" dirty="0"/>
          </a:p>
        </p:txBody>
      </p:sp>
      <p:sp>
        <p:nvSpPr>
          <p:cNvPr id="35" name="Shape 32"/>
          <p:cNvSpPr/>
          <p:nvPr/>
        </p:nvSpPr>
        <p:spPr>
          <a:xfrm>
            <a:off x="548640" y="4524451"/>
            <a:ext cx="11094415" cy="691286"/>
          </a:xfrm>
          <a:prstGeom prst="roundRect">
            <a:avLst>
              <a:gd name="adj" fmla="val 9259"/>
            </a:avLst>
          </a:prstGeom>
          <a:solidFill>
            <a:srgbClr val="FFFFFF"/>
          </a:solidFill>
          <a:ln w="12700">
            <a:solidFill>
              <a:srgbClr val="D9DEE8"/>
            </a:solidFill>
            <a:prstDash val="solid"/>
          </a:ln>
        </p:spPr>
      </p:sp>
      <p:sp>
        <p:nvSpPr>
          <p:cNvPr id="36" name="Shape 33"/>
          <p:cNvSpPr/>
          <p:nvPr/>
        </p:nvSpPr>
        <p:spPr>
          <a:xfrm>
            <a:off x="548640" y="4524451"/>
            <a:ext cx="1051560" cy="691286"/>
          </a:xfrm>
          <a:prstGeom prst="roundRect">
            <a:avLst>
              <a:gd name="adj" fmla="val 9259"/>
            </a:avLst>
          </a:prstGeom>
          <a:solidFill>
            <a:srgbClr val="6C4FA1"/>
          </a:solidFill>
          <a:ln/>
        </p:spPr>
      </p:sp>
      <p:sp>
        <p:nvSpPr>
          <p:cNvPr id="37" name="Shape 34"/>
          <p:cNvSpPr/>
          <p:nvPr/>
        </p:nvSpPr>
        <p:spPr>
          <a:xfrm>
            <a:off x="1508760" y="4524451"/>
            <a:ext cx="91440" cy="691286"/>
          </a:xfrm>
          <a:prstGeom prst="rect">
            <a:avLst/>
          </a:prstGeom>
          <a:solidFill>
            <a:srgbClr val="6C4FA1"/>
          </a:solidFill>
          <a:ln/>
        </p:spPr>
      </p:sp>
      <p:sp>
        <p:nvSpPr>
          <p:cNvPr id="38" name="Text 35"/>
          <p:cNvSpPr/>
          <p:nvPr/>
        </p:nvSpPr>
        <p:spPr>
          <a:xfrm>
            <a:off x="548640" y="4524451"/>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H4</a:t>
            </a:r>
            <a:endParaRPr lang="en-US" sz="1500" dirty="0"/>
          </a:p>
        </p:txBody>
      </p:sp>
      <p:sp>
        <p:nvSpPr>
          <p:cNvPr id="39" name="Text 36"/>
          <p:cNvSpPr/>
          <p:nvPr/>
        </p:nvSpPr>
        <p:spPr>
          <a:xfrm>
            <a:off x="1783080" y="4579315"/>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Chart selection and design principles (M2)</a:t>
            </a:r>
            <a:endParaRPr lang="en-US" sz="1250" dirty="0"/>
          </a:p>
        </p:txBody>
      </p:sp>
      <p:sp>
        <p:nvSpPr>
          <p:cNvPr id="40" name="Shape 37"/>
          <p:cNvSpPr/>
          <p:nvPr/>
        </p:nvSpPr>
        <p:spPr>
          <a:xfrm>
            <a:off x="10408615" y="4705502"/>
            <a:ext cx="1078992" cy="329184"/>
          </a:xfrm>
          <a:prstGeom prst="roundRect">
            <a:avLst>
              <a:gd name="adj" fmla="val 16667"/>
            </a:avLst>
          </a:prstGeom>
          <a:solidFill>
            <a:srgbClr val="EFEBF6"/>
          </a:solidFill>
          <a:ln w="9525">
            <a:solidFill>
              <a:srgbClr val="6C4FA1"/>
            </a:solidFill>
            <a:prstDash val="solid"/>
          </a:ln>
        </p:spPr>
      </p:sp>
      <p:sp>
        <p:nvSpPr>
          <p:cNvPr id="41" name="Text 38"/>
          <p:cNvSpPr/>
          <p:nvPr/>
        </p:nvSpPr>
        <p:spPr>
          <a:xfrm>
            <a:off x="10408615" y="4705502"/>
            <a:ext cx="1078992" cy="329184"/>
          </a:xfrm>
          <a:prstGeom prst="rect">
            <a:avLst/>
          </a:prstGeom>
          <a:noFill/>
          <a:ln/>
        </p:spPr>
        <p:txBody>
          <a:bodyPr wrap="square" rtlCol="0" anchor="ctr"/>
          <a:lstStyle/>
          <a:p>
            <a:pPr marL="0" indent="0" algn="ctr">
              <a:buNone/>
            </a:pPr>
            <a:r>
              <a:rPr lang="en-US" sz="950" b="1" dirty="0">
                <a:solidFill>
                  <a:srgbClr val="6C4FA1"/>
                </a:solidFill>
                <a:latin typeface="Arial" pitchFamily="34" charset="0"/>
                <a:ea typeface="Arial" pitchFamily="34" charset="-122"/>
                <a:cs typeface="Arial" pitchFamily="34" charset="-120"/>
              </a:rPr>
              <a:t>70/30</a:t>
            </a:r>
            <a:endParaRPr lang="en-US" sz="950" dirty="0"/>
          </a:p>
        </p:txBody>
      </p:sp>
      <p:sp>
        <p:nvSpPr>
          <p:cNvPr id="42" name="Shape 39"/>
          <p:cNvSpPr/>
          <p:nvPr/>
        </p:nvSpPr>
        <p:spPr>
          <a:xfrm>
            <a:off x="548640" y="5343754"/>
            <a:ext cx="11094415" cy="691286"/>
          </a:xfrm>
          <a:prstGeom prst="roundRect">
            <a:avLst>
              <a:gd name="adj" fmla="val 9259"/>
            </a:avLst>
          </a:prstGeom>
          <a:solidFill>
            <a:srgbClr val="FFFFFF"/>
          </a:solidFill>
          <a:ln w="12700">
            <a:solidFill>
              <a:srgbClr val="D9DEE8"/>
            </a:solidFill>
            <a:prstDash val="solid"/>
          </a:ln>
        </p:spPr>
      </p:sp>
      <p:sp>
        <p:nvSpPr>
          <p:cNvPr id="43" name="Shape 40"/>
          <p:cNvSpPr/>
          <p:nvPr/>
        </p:nvSpPr>
        <p:spPr>
          <a:xfrm>
            <a:off x="548640" y="5343754"/>
            <a:ext cx="1051560" cy="691286"/>
          </a:xfrm>
          <a:prstGeom prst="roundRect">
            <a:avLst>
              <a:gd name="adj" fmla="val 9259"/>
            </a:avLst>
          </a:prstGeom>
          <a:solidFill>
            <a:srgbClr val="3FAE5A"/>
          </a:solidFill>
          <a:ln/>
        </p:spPr>
      </p:sp>
      <p:sp>
        <p:nvSpPr>
          <p:cNvPr id="44" name="Shape 41"/>
          <p:cNvSpPr/>
          <p:nvPr/>
        </p:nvSpPr>
        <p:spPr>
          <a:xfrm>
            <a:off x="1508760" y="5343754"/>
            <a:ext cx="91440" cy="691286"/>
          </a:xfrm>
          <a:prstGeom prst="rect">
            <a:avLst/>
          </a:prstGeom>
          <a:solidFill>
            <a:srgbClr val="3FAE5A"/>
          </a:solidFill>
          <a:ln/>
        </p:spPr>
      </p:sp>
      <p:sp>
        <p:nvSpPr>
          <p:cNvPr id="45" name="Text 42"/>
          <p:cNvSpPr/>
          <p:nvPr/>
        </p:nvSpPr>
        <p:spPr>
          <a:xfrm>
            <a:off x="548640" y="5343754"/>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H5</a:t>
            </a:r>
            <a:endParaRPr lang="en-US" sz="1500" dirty="0"/>
          </a:p>
        </p:txBody>
      </p:sp>
      <p:sp>
        <p:nvSpPr>
          <p:cNvPr id="46" name="Text 43"/>
          <p:cNvSpPr/>
          <p:nvPr/>
        </p:nvSpPr>
        <p:spPr>
          <a:xfrm>
            <a:off x="1783080" y="5398618"/>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Lab 2 — Chart chooser + first honest chart</a:t>
            </a:r>
            <a:endParaRPr lang="en-US" sz="1250" dirty="0"/>
          </a:p>
        </p:txBody>
      </p:sp>
      <p:sp>
        <p:nvSpPr>
          <p:cNvPr id="47" name="Shape 44"/>
          <p:cNvSpPr/>
          <p:nvPr/>
        </p:nvSpPr>
        <p:spPr>
          <a:xfrm>
            <a:off x="10408615" y="5524805"/>
            <a:ext cx="1078992" cy="329184"/>
          </a:xfrm>
          <a:prstGeom prst="roundRect">
            <a:avLst>
              <a:gd name="adj" fmla="val 16667"/>
            </a:avLst>
          </a:prstGeom>
          <a:solidFill>
            <a:srgbClr val="E9F5EC"/>
          </a:solidFill>
          <a:ln w="9525">
            <a:solidFill>
              <a:srgbClr val="3FAE5A"/>
            </a:solidFill>
            <a:prstDash val="solid"/>
          </a:ln>
        </p:spPr>
      </p:sp>
      <p:sp>
        <p:nvSpPr>
          <p:cNvPr id="48" name="Text 45"/>
          <p:cNvSpPr/>
          <p:nvPr/>
        </p:nvSpPr>
        <p:spPr>
          <a:xfrm>
            <a:off x="10408615" y="5524805"/>
            <a:ext cx="1078992" cy="329184"/>
          </a:xfrm>
          <a:prstGeom prst="rect">
            <a:avLst/>
          </a:prstGeom>
          <a:noFill/>
          <a:ln/>
        </p:spPr>
        <p:txBody>
          <a:bodyPr wrap="square" rtlCol="0" anchor="ctr"/>
          <a:lstStyle/>
          <a:p>
            <a:pPr marL="0" indent="0" algn="ctr">
              <a:buNone/>
            </a:pPr>
            <a:r>
              <a:rPr lang="en-US" sz="950" b="1" dirty="0">
                <a:solidFill>
                  <a:srgbClr val="3FAE5A"/>
                </a:solidFill>
                <a:latin typeface="Arial" pitchFamily="34" charset="0"/>
                <a:ea typeface="Arial" pitchFamily="34" charset="-122"/>
                <a:cs typeface="Arial" pitchFamily="34" charset="-120"/>
              </a:rPr>
              <a:t>10/90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HOUR BY HOUR</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Day 2 — Craft and interactivity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11</a:t>
            </a:r>
            <a:endParaRPr lang="en-US" sz="800" dirty="0"/>
          </a:p>
        </p:txBody>
      </p:sp>
      <p:sp>
        <p:nvSpPr>
          <p:cNvPr id="14" name="Shape 11"/>
          <p:cNvSpPr/>
          <p:nvPr/>
        </p:nvSpPr>
        <p:spPr>
          <a:xfrm>
            <a:off x="548640" y="2066544"/>
            <a:ext cx="11094415" cy="691286"/>
          </a:xfrm>
          <a:prstGeom prst="roundRect">
            <a:avLst>
              <a:gd name="adj" fmla="val 9259"/>
            </a:avLst>
          </a:prstGeom>
          <a:solidFill>
            <a:srgbClr val="FFFFFF"/>
          </a:solidFill>
          <a:ln w="12700">
            <a:solidFill>
              <a:srgbClr val="D9DEE8"/>
            </a:solidFill>
            <a:prstDash val="solid"/>
          </a:ln>
        </p:spPr>
      </p:sp>
      <p:sp>
        <p:nvSpPr>
          <p:cNvPr id="15" name="Shape 12"/>
          <p:cNvSpPr/>
          <p:nvPr/>
        </p:nvSpPr>
        <p:spPr>
          <a:xfrm>
            <a:off x="548640" y="2066544"/>
            <a:ext cx="1051560" cy="691286"/>
          </a:xfrm>
          <a:prstGeom prst="roundRect">
            <a:avLst>
              <a:gd name="adj" fmla="val 9259"/>
            </a:avLst>
          </a:prstGeom>
          <a:solidFill>
            <a:srgbClr val="2E5AAC"/>
          </a:solidFill>
          <a:ln/>
        </p:spPr>
      </p:sp>
      <p:sp>
        <p:nvSpPr>
          <p:cNvPr id="16" name="Shape 13"/>
          <p:cNvSpPr/>
          <p:nvPr/>
        </p:nvSpPr>
        <p:spPr>
          <a:xfrm>
            <a:off x="1508760" y="2066544"/>
            <a:ext cx="91440" cy="691286"/>
          </a:xfrm>
          <a:prstGeom prst="rect">
            <a:avLst/>
          </a:prstGeom>
          <a:solidFill>
            <a:srgbClr val="2E5AAC"/>
          </a:solidFill>
          <a:ln/>
        </p:spPr>
      </p:sp>
      <p:sp>
        <p:nvSpPr>
          <p:cNvPr id="17" name="Text 14"/>
          <p:cNvSpPr/>
          <p:nvPr/>
        </p:nvSpPr>
        <p:spPr>
          <a:xfrm>
            <a:off x="548640" y="2066544"/>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H1</a:t>
            </a:r>
            <a:endParaRPr lang="en-US" sz="1500" dirty="0"/>
          </a:p>
        </p:txBody>
      </p:sp>
      <p:sp>
        <p:nvSpPr>
          <p:cNvPr id="18" name="Text 15"/>
          <p:cNvSpPr/>
          <p:nvPr/>
        </p:nvSpPr>
        <p:spPr>
          <a:xfrm>
            <a:off x="1783080" y="2121408"/>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Colour, annotation, and decluttering (M3)</a:t>
            </a:r>
            <a:endParaRPr lang="en-US" sz="1250" dirty="0"/>
          </a:p>
        </p:txBody>
      </p:sp>
      <p:sp>
        <p:nvSpPr>
          <p:cNvPr id="19" name="Shape 16"/>
          <p:cNvSpPr/>
          <p:nvPr/>
        </p:nvSpPr>
        <p:spPr>
          <a:xfrm>
            <a:off x="10408615" y="2247595"/>
            <a:ext cx="1078992" cy="329184"/>
          </a:xfrm>
          <a:prstGeom prst="roundRect">
            <a:avLst>
              <a:gd name="adj" fmla="val 16667"/>
            </a:avLst>
          </a:prstGeom>
          <a:solidFill>
            <a:srgbClr val="EAF0FA"/>
          </a:solidFill>
          <a:ln w="9525">
            <a:solidFill>
              <a:srgbClr val="2E5AAC"/>
            </a:solidFill>
            <a:prstDash val="solid"/>
          </a:ln>
        </p:spPr>
      </p:sp>
      <p:sp>
        <p:nvSpPr>
          <p:cNvPr id="20" name="Text 17"/>
          <p:cNvSpPr/>
          <p:nvPr/>
        </p:nvSpPr>
        <p:spPr>
          <a:xfrm>
            <a:off x="10408615" y="2247595"/>
            <a:ext cx="1078992" cy="329184"/>
          </a:xfrm>
          <a:prstGeom prst="rect">
            <a:avLst/>
          </a:prstGeom>
          <a:noFill/>
          <a:ln/>
        </p:spPr>
        <p:txBody>
          <a:bodyPr wrap="square" rtlCol="0" anchor="ctr"/>
          <a:lstStyle/>
          <a:p>
            <a:pPr marL="0" indent="0" algn="ctr">
              <a:buNone/>
            </a:pPr>
            <a:r>
              <a:rPr lang="en-US" sz="950" b="1" dirty="0">
                <a:solidFill>
                  <a:srgbClr val="2E5AAC"/>
                </a:solidFill>
                <a:latin typeface="Arial" pitchFamily="34" charset="0"/>
                <a:ea typeface="Arial" pitchFamily="34" charset="-122"/>
                <a:cs typeface="Arial" pitchFamily="34" charset="-120"/>
              </a:rPr>
              <a:t>65/35</a:t>
            </a:r>
            <a:endParaRPr lang="en-US" sz="950" dirty="0"/>
          </a:p>
        </p:txBody>
      </p:sp>
      <p:sp>
        <p:nvSpPr>
          <p:cNvPr id="21" name="Shape 18"/>
          <p:cNvSpPr/>
          <p:nvPr/>
        </p:nvSpPr>
        <p:spPr>
          <a:xfrm>
            <a:off x="548640" y="2885846"/>
            <a:ext cx="11094415" cy="691286"/>
          </a:xfrm>
          <a:prstGeom prst="roundRect">
            <a:avLst>
              <a:gd name="adj" fmla="val 9259"/>
            </a:avLst>
          </a:prstGeom>
          <a:solidFill>
            <a:srgbClr val="FFFFFF"/>
          </a:solidFill>
          <a:ln w="12700">
            <a:solidFill>
              <a:srgbClr val="D9DEE8"/>
            </a:solidFill>
            <a:prstDash val="solid"/>
          </a:ln>
        </p:spPr>
      </p:sp>
      <p:sp>
        <p:nvSpPr>
          <p:cNvPr id="22" name="Shape 19"/>
          <p:cNvSpPr/>
          <p:nvPr/>
        </p:nvSpPr>
        <p:spPr>
          <a:xfrm>
            <a:off x="548640" y="2885846"/>
            <a:ext cx="1051560" cy="691286"/>
          </a:xfrm>
          <a:prstGeom prst="roundRect">
            <a:avLst>
              <a:gd name="adj" fmla="val 9259"/>
            </a:avLst>
          </a:prstGeom>
          <a:solidFill>
            <a:srgbClr val="00A79D"/>
          </a:solidFill>
          <a:ln/>
        </p:spPr>
      </p:sp>
      <p:sp>
        <p:nvSpPr>
          <p:cNvPr id="23" name="Shape 20"/>
          <p:cNvSpPr/>
          <p:nvPr/>
        </p:nvSpPr>
        <p:spPr>
          <a:xfrm>
            <a:off x="1508760" y="2885846"/>
            <a:ext cx="91440" cy="691286"/>
          </a:xfrm>
          <a:prstGeom prst="rect">
            <a:avLst/>
          </a:prstGeom>
          <a:solidFill>
            <a:srgbClr val="00A79D"/>
          </a:solidFill>
          <a:ln/>
        </p:spPr>
      </p:sp>
      <p:sp>
        <p:nvSpPr>
          <p:cNvPr id="24" name="Text 21"/>
          <p:cNvSpPr/>
          <p:nvPr/>
        </p:nvSpPr>
        <p:spPr>
          <a:xfrm>
            <a:off x="548640" y="2885846"/>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H2</a:t>
            </a:r>
            <a:endParaRPr lang="en-US" sz="1500" dirty="0"/>
          </a:p>
        </p:txBody>
      </p:sp>
      <p:sp>
        <p:nvSpPr>
          <p:cNvPr id="25" name="Text 22"/>
          <p:cNvSpPr/>
          <p:nvPr/>
        </p:nvSpPr>
        <p:spPr>
          <a:xfrm>
            <a:off x="1783080" y="2940710"/>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Lab 3 — Before/after redesign</a:t>
            </a:r>
            <a:endParaRPr lang="en-US" sz="1250" dirty="0"/>
          </a:p>
        </p:txBody>
      </p:sp>
      <p:sp>
        <p:nvSpPr>
          <p:cNvPr id="26" name="Shape 23"/>
          <p:cNvSpPr/>
          <p:nvPr/>
        </p:nvSpPr>
        <p:spPr>
          <a:xfrm>
            <a:off x="10408615" y="3066898"/>
            <a:ext cx="1078992" cy="329184"/>
          </a:xfrm>
          <a:prstGeom prst="roundRect">
            <a:avLst>
              <a:gd name="adj" fmla="val 16667"/>
            </a:avLst>
          </a:prstGeom>
          <a:solidFill>
            <a:srgbClr val="E6F5F4"/>
          </a:solidFill>
          <a:ln w="9525">
            <a:solidFill>
              <a:srgbClr val="00A79D"/>
            </a:solidFill>
            <a:prstDash val="solid"/>
          </a:ln>
        </p:spPr>
      </p:sp>
      <p:sp>
        <p:nvSpPr>
          <p:cNvPr id="27" name="Text 24"/>
          <p:cNvSpPr/>
          <p:nvPr/>
        </p:nvSpPr>
        <p:spPr>
          <a:xfrm>
            <a:off x="10408615" y="3066898"/>
            <a:ext cx="107899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10/90</a:t>
            </a:r>
            <a:endParaRPr lang="en-US" sz="950" dirty="0"/>
          </a:p>
        </p:txBody>
      </p:sp>
      <p:sp>
        <p:nvSpPr>
          <p:cNvPr id="28" name="Shape 25"/>
          <p:cNvSpPr/>
          <p:nvPr/>
        </p:nvSpPr>
        <p:spPr>
          <a:xfrm>
            <a:off x="548640" y="3705149"/>
            <a:ext cx="11094415" cy="691286"/>
          </a:xfrm>
          <a:prstGeom prst="roundRect">
            <a:avLst>
              <a:gd name="adj" fmla="val 9259"/>
            </a:avLst>
          </a:prstGeom>
          <a:solidFill>
            <a:srgbClr val="FFFFFF"/>
          </a:solidFill>
          <a:ln w="12700">
            <a:solidFill>
              <a:srgbClr val="D9DEE8"/>
            </a:solidFill>
            <a:prstDash val="solid"/>
          </a:ln>
        </p:spPr>
      </p:sp>
      <p:sp>
        <p:nvSpPr>
          <p:cNvPr id="29" name="Shape 26"/>
          <p:cNvSpPr/>
          <p:nvPr/>
        </p:nvSpPr>
        <p:spPr>
          <a:xfrm>
            <a:off x="548640" y="3705149"/>
            <a:ext cx="1051560" cy="691286"/>
          </a:xfrm>
          <a:prstGeom prst="roundRect">
            <a:avLst>
              <a:gd name="adj" fmla="val 9259"/>
            </a:avLst>
          </a:prstGeom>
          <a:solidFill>
            <a:srgbClr val="E8833A"/>
          </a:solidFill>
          <a:ln/>
        </p:spPr>
      </p:sp>
      <p:sp>
        <p:nvSpPr>
          <p:cNvPr id="30" name="Shape 27"/>
          <p:cNvSpPr/>
          <p:nvPr/>
        </p:nvSpPr>
        <p:spPr>
          <a:xfrm>
            <a:off x="1508760" y="3705149"/>
            <a:ext cx="91440" cy="691286"/>
          </a:xfrm>
          <a:prstGeom prst="rect">
            <a:avLst/>
          </a:prstGeom>
          <a:solidFill>
            <a:srgbClr val="E8833A"/>
          </a:solidFill>
          <a:ln/>
        </p:spPr>
      </p:sp>
      <p:sp>
        <p:nvSpPr>
          <p:cNvPr id="31" name="Text 28"/>
          <p:cNvSpPr/>
          <p:nvPr/>
        </p:nvSpPr>
        <p:spPr>
          <a:xfrm>
            <a:off x="548640" y="3705149"/>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H3</a:t>
            </a:r>
            <a:endParaRPr lang="en-US" sz="1500" dirty="0"/>
          </a:p>
        </p:txBody>
      </p:sp>
      <p:sp>
        <p:nvSpPr>
          <p:cNvPr id="32" name="Text 29"/>
          <p:cNvSpPr/>
          <p:nvPr/>
        </p:nvSpPr>
        <p:spPr>
          <a:xfrm>
            <a:off x="1783080" y="3760013"/>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Interactive dashboards and BI tools (M4)</a:t>
            </a:r>
            <a:endParaRPr lang="en-US" sz="1250" dirty="0"/>
          </a:p>
        </p:txBody>
      </p:sp>
      <p:sp>
        <p:nvSpPr>
          <p:cNvPr id="33" name="Shape 30"/>
          <p:cNvSpPr/>
          <p:nvPr/>
        </p:nvSpPr>
        <p:spPr>
          <a:xfrm>
            <a:off x="10408615" y="3886200"/>
            <a:ext cx="1078992" cy="329184"/>
          </a:xfrm>
          <a:prstGeom prst="roundRect">
            <a:avLst>
              <a:gd name="adj" fmla="val 16667"/>
            </a:avLst>
          </a:prstGeom>
          <a:solidFill>
            <a:srgbClr val="FCF0E6"/>
          </a:solidFill>
          <a:ln w="9525">
            <a:solidFill>
              <a:srgbClr val="E8833A"/>
            </a:solidFill>
            <a:prstDash val="solid"/>
          </a:ln>
        </p:spPr>
      </p:sp>
      <p:sp>
        <p:nvSpPr>
          <p:cNvPr id="34" name="Text 31"/>
          <p:cNvSpPr/>
          <p:nvPr/>
        </p:nvSpPr>
        <p:spPr>
          <a:xfrm>
            <a:off x="10408615" y="3886200"/>
            <a:ext cx="1078992" cy="329184"/>
          </a:xfrm>
          <a:prstGeom prst="rect">
            <a:avLst/>
          </a:prstGeom>
          <a:noFill/>
          <a:ln/>
        </p:spPr>
        <p:txBody>
          <a:bodyPr wrap="square" rtlCol="0" anchor="ctr"/>
          <a:lstStyle/>
          <a:p>
            <a:pPr marL="0" indent="0" algn="ctr">
              <a:buNone/>
            </a:pPr>
            <a:r>
              <a:rPr lang="en-US" sz="950" b="1" dirty="0">
                <a:solidFill>
                  <a:srgbClr val="E8833A"/>
                </a:solidFill>
                <a:latin typeface="Arial" pitchFamily="34" charset="0"/>
                <a:ea typeface="Arial" pitchFamily="34" charset="-122"/>
                <a:cs typeface="Arial" pitchFamily="34" charset="-120"/>
              </a:rPr>
              <a:t>60/40</a:t>
            </a:r>
            <a:endParaRPr lang="en-US" sz="950" dirty="0"/>
          </a:p>
        </p:txBody>
      </p:sp>
      <p:sp>
        <p:nvSpPr>
          <p:cNvPr id="35" name="Shape 32"/>
          <p:cNvSpPr/>
          <p:nvPr/>
        </p:nvSpPr>
        <p:spPr>
          <a:xfrm>
            <a:off x="548640" y="4524451"/>
            <a:ext cx="11094415" cy="691286"/>
          </a:xfrm>
          <a:prstGeom prst="roundRect">
            <a:avLst>
              <a:gd name="adj" fmla="val 9259"/>
            </a:avLst>
          </a:prstGeom>
          <a:solidFill>
            <a:srgbClr val="FFFFFF"/>
          </a:solidFill>
          <a:ln w="12700">
            <a:solidFill>
              <a:srgbClr val="D9DEE8"/>
            </a:solidFill>
            <a:prstDash val="solid"/>
          </a:ln>
        </p:spPr>
      </p:sp>
      <p:sp>
        <p:nvSpPr>
          <p:cNvPr id="36" name="Shape 33"/>
          <p:cNvSpPr/>
          <p:nvPr/>
        </p:nvSpPr>
        <p:spPr>
          <a:xfrm>
            <a:off x="548640" y="4524451"/>
            <a:ext cx="1051560" cy="691286"/>
          </a:xfrm>
          <a:prstGeom prst="roundRect">
            <a:avLst>
              <a:gd name="adj" fmla="val 9259"/>
            </a:avLst>
          </a:prstGeom>
          <a:solidFill>
            <a:srgbClr val="6C4FA1"/>
          </a:solidFill>
          <a:ln/>
        </p:spPr>
      </p:sp>
      <p:sp>
        <p:nvSpPr>
          <p:cNvPr id="37" name="Shape 34"/>
          <p:cNvSpPr/>
          <p:nvPr/>
        </p:nvSpPr>
        <p:spPr>
          <a:xfrm>
            <a:off x="1508760" y="4524451"/>
            <a:ext cx="91440" cy="691286"/>
          </a:xfrm>
          <a:prstGeom prst="rect">
            <a:avLst/>
          </a:prstGeom>
          <a:solidFill>
            <a:srgbClr val="6C4FA1"/>
          </a:solidFill>
          <a:ln/>
        </p:spPr>
      </p:sp>
      <p:sp>
        <p:nvSpPr>
          <p:cNvPr id="38" name="Text 35"/>
          <p:cNvSpPr/>
          <p:nvPr/>
        </p:nvSpPr>
        <p:spPr>
          <a:xfrm>
            <a:off x="548640" y="4524451"/>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H4</a:t>
            </a:r>
            <a:endParaRPr lang="en-US" sz="1500" dirty="0"/>
          </a:p>
        </p:txBody>
      </p:sp>
      <p:sp>
        <p:nvSpPr>
          <p:cNvPr id="39" name="Text 36"/>
          <p:cNvSpPr/>
          <p:nvPr/>
        </p:nvSpPr>
        <p:spPr>
          <a:xfrm>
            <a:off x="1783080" y="4579315"/>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Lab 4a — Build the Tayseer dashboard</a:t>
            </a:r>
            <a:endParaRPr lang="en-US" sz="1250" dirty="0"/>
          </a:p>
        </p:txBody>
      </p:sp>
      <p:sp>
        <p:nvSpPr>
          <p:cNvPr id="40" name="Shape 37"/>
          <p:cNvSpPr/>
          <p:nvPr/>
        </p:nvSpPr>
        <p:spPr>
          <a:xfrm>
            <a:off x="10408615" y="4705502"/>
            <a:ext cx="1078992" cy="329184"/>
          </a:xfrm>
          <a:prstGeom prst="roundRect">
            <a:avLst>
              <a:gd name="adj" fmla="val 16667"/>
            </a:avLst>
          </a:prstGeom>
          <a:solidFill>
            <a:srgbClr val="EFEBF6"/>
          </a:solidFill>
          <a:ln w="9525">
            <a:solidFill>
              <a:srgbClr val="6C4FA1"/>
            </a:solidFill>
            <a:prstDash val="solid"/>
          </a:ln>
        </p:spPr>
      </p:sp>
      <p:sp>
        <p:nvSpPr>
          <p:cNvPr id="41" name="Text 38"/>
          <p:cNvSpPr/>
          <p:nvPr/>
        </p:nvSpPr>
        <p:spPr>
          <a:xfrm>
            <a:off x="10408615" y="4705502"/>
            <a:ext cx="1078992" cy="329184"/>
          </a:xfrm>
          <a:prstGeom prst="rect">
            <a:avLst/>
          </a:prstGeom>
          <a:noFill/>
          <a:ln/>
        </p:spPr>
        <p:txBody>
          <a:bodyPr wrap="square" rtlCol="0" anchor="ctr"/>
          <a:lstStyle/>
          <a:p>
            <a:pPr marL="0" indent="0" algn="ctr">
              <a:buNone/>
            </a:pPr>
            <a:r>
              <a:rPr lang="en-US" sz="950" b="1" dirty="0">
                <a:solidFill>
                  <a:srgbClr val="6C4FA1"/>
                </a:solidFill>
                <a:latin typeface="Arial" pitchFamily="34" charset="0"/>
                <a:ea typeface="Arial" pitchFamily="34" charset="-122"/>
                <a:cs typeface="Arial" pitchFamily="34" charset="-120"/>
              </a:rPr>
              <a:t>10/90</a:t>
            </a:r>
            <a:endParaRPr lang="en-US" sz="950" dirty="0"/>
          </a:p>
        </p:txBody>
      </p:sp>
      <p:sp>
        <p:nvSpPr>
          <p:cNvPr id="42" name="Shape 39"/>
          <p:cNvSpPr/>
          <p:nvPr/>
        </p:nvSpPr>
        <p:spPr>
          <a:xfrm>
            <a:off x="548640" y="5343754"/>
            <a:ext cx="11094415" cy="691286"/>
          </a:xfrm>
          <a:prstGeom prst="roundRect">
            <a:avLst>
              <a:gd name="adj" fmla="val 9259"/>
            </a:avLst>
          </a:prstGeom>
          <a:solidFill>
            <a:srgbClr val="FFFFFF"/>
          </a:solidFill>
          <a:ln w="12700">
            <a:solidFill>
              <a:srgbClr val="D9DEE8"/>
            </a:solidFill>
            <a:prstDash val="solid"/>
          </a:ln>
        </p:spPr>
      </p:sp>
      <p:sp>
        <p:nvSpPr>
          <p:cNvPr id="43" name="Shape 40"/>
          <p:cNvSpPr/>
          <p:nvPr/>
        </p:nvSpPr>
        <p:spPr>
          <a:xfrm>
            <a:off x="548640" y="5343754"/>
            <a:ext cx="1051560" cy="691286"/>
          </a:xfrm>
          <a:prstGeom prst="roundRect">
            <a:avLst>
              <a:gd name="adj" fmla="val 9259"/>
            </a:avLst>
          </a:prstGeom>
          <a:solidFill>
            <a:srgbClr val="3FAE5A"/>
          </a:solidFill>
          <a:ln/>
        </p:spPr>
      </p:sp>
      <p:sp>
        <p:nvSpPr>
          <p:cNvPr id="44" name="Shape 41"/>
          <p:cNvSpPr/>
          <p:nvPr/>
        </p:nvSpPr>
        <p:spPr>
          <a:xfrm>
            <a:off x="1508760" y="5343754"/>
            <a:ext cx="91440" cy="691286"/>
          </a:xfrm>
          <a:prstGeom prst="rect">
            <a:avLst/>
          </a:prstGeom>
          <a:solidFill>
            <a:srgbClr val="3FAE5A"/>
          </a:solidFill>
          <a:ln/>
        </p:spPr>
      </p:sp>
      <p:sp>
        <p:nvSpPr>
          <p:cNvPr id="45" name="Text 42"/>
          <p:cNvSpPr/>
          <p:nvPr/>
        </p:nvSpPr>
        <p:spPr>
          <a:xfrm>
            <a:off x="548640" y="5343754"/>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H5</a:t>
            </a:r>
            <a:endParaRPr lang="en-US" sz="1500" dirty="0"/>
          </a:p>
        </p:txBody>
      </p:sp>
      <p:sp>
        <p:nvSpPr>
          <p:cNvPr id="46" name="Text 43"/>
          <p:cNvSpPr/>
          <p:nvPr/>
        </p:nvSpPr>
        <p:spPr>
          <a:xfrm>
            <a:off x="1783080" y="5398618"/>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Lab 4b — Interactivity &amp; drill-down</a:t>
            </a:r>
            <a:endParaRPr lang="en-US" sz="1250" dirty="0"/>
          </a:p>
        </p:txBody>
      </p:sp>
      <p:sp>
        <p:nvSpPr>
          <p:cNvPr id="47" name="Shape 44"/>
          <p:cNvSpPr/>
          <p:nvPr/>
        </p:nvSpPr>
        <p:spPr>
          <a:xfrm>
            <a:off x="10408615" y="5524805"/>
            <a:ext cx="1078992" cy="329184"/>
          </a:xfrm>
          <a:prstGeom prst="roundRect">
            <a:avLst>
              <a:gd name="adj" fmla="val 16667"/>
            </a:avLst>
          </a:prstGeom>
          <a:solidFill>
            <a:srgbClr val="E9F5EC"/>
          </a:solidFill>
          <a:ln w="9525">
            <a:solidFill>
              <a:srgbClr val="3FAE5A"/>
            </a:solidFill>
            <a:prstDash val="solid"/>
          </a:ln>
        </p:spPr>
      </p:sp>
      <p:sp>
        <p:nvSpPr>
          <p:cNvPr id="48" name="Text 45"/>
          <p:cNvSpPr/>
          <p:nvPr/>
        </p:nvSpPr>
        <p:spPr>
          <a:xfrm>
            <a:off x="10408615" y="5524805"/>
            <a:ext cx="1078992" cy="329184"/>
          </a:xfrm>
          <a:prstGeom prst="rect">
            <a:avLst/>
          </a:prstGeom>
          <a:noFill/>
          <a:ln/>
        </p:spPr>
        <p:txBody>
          <a:bodyPr wrap="square" rtlCol="0" anchor="ctr"/>
          <a:lstStyle/>
          <a:p>
            <a:pPr marL="0" indent="0" algn="ctr">
              <a:buNone/>
            </a:pPr>
            <a:r>
              <a:rPr lang="en-US" sz="950" b="1" dirty="0">
                <a:solidFill>
                  <a:srgbClr val="3FAE5A"/>
                </a:solidFill>
                <a:latin typeface="Arial" pitchFamily="34" charset="0"/>
                <a:ea typeface="Arial" pitchFamily="34" charset="-122"/>
                <a:cs typeface="Arial" pitchFamily="34" charset="-120"/>
              </a:rPr>
              <a:t>10/90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HOUR BY HOUR</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Day 3 — Narrative and the room</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12</a:t>
            </a:r>
            <a:endParaRPr lang="en-US" sz="800" dirty="0"/>
          </a:p>
        </p:txBody>
      </p:sp>
      <p:sp>
        <p:nvSpPr>
          <p:cNvPr id="14" name="Shape 11"/>
          <p:cNvSpPr/>
          <p:nvPr/>
        </p:nvSpPr>
        <p:spPr>
          <a:xfrm>
            <a:off x="548640" y="2066544"/>
            <a:ext cx="11094415" cy="691286"/>
          </a:xfrm>
          <a:prstGeom prst="roundRect">
            <a:avLst>
              <a:gd name="adj" fmla="val 9259"/>
            </a:avLst>
          </a:prstGeom>
          <a:solidFill>
            <a:srgbClr val="FFFFFF"/>
          </a:solidFill>
          <a:ln w="12700">
            <a:solidFill>
              <a:srgbClr val="D9DEE8"/>
            </a:solidFill>
            <a:prstDash val="solid"/>
          </a:ln>
        </p:spPr>
      </p:sp>
      <p:sp>
        <p:nvSpPr>
          <p:cNvPr id="15" name="Shape 12"/>
          <p:cNvSpPr/>
          <p:nvPr/>
        </p:nvSpPr>
        <p:spPr>
          <a:xfrm>
            <a:off x="548640" y="2066544"/>
            <a:ext cx="1051560" cy="691286"/>
          </a:xfrm>
          <a:prstGeom prst="roundRect">
            <a:avLst>
              <a:gd name="adj" fmla="val 9259"/>
            </a:avLst>
          </a:prstGeom>
          <a:solidFill>
            <a:srgbClr val="2E5AAC"/>
          </a:solidFill>
          <a:ln/>
        </p:spPr>
      </p:sp>
      <p:sp>
        <p:nvSpPr>
          <p:cNvPr id="16" name="Shape 13"/>
          <p:cNvSpPr/>
          <p:nvPr/>
        </p:nvSpPr>
        <p:spPr>
          <a:xfrm>
            <a:off x="1508760" y="2066544"/>
            <a:ext cx="91440" cy="691286"/>
          </a:xfrm>
          <a:prstGeom prst="rect">
            <a:avLst/>
          </a:prstGeom>
          <a:solidFill>
            <a:srgbClr val="2E5AAC"/>
          </a:solidFill>
          <a:ln/>
        </p:spPr>
      </p:sp>
      <p:sp>
        <p:nvSpPr>
          <p:cNvPr id="17" name="Text 14"/>
          <p:cNvSpPr/>
          <p:nvPr/>
        </p:nvSpPr>
        <p:spPr>
          <a:xfrm>
            <a:off x="548640" y="2066544"/>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H1</a:t>
            </a:r>
            <a:endParaRPr lang="en-US" sz="1500" dirty="0"/>
          </a:p>
        </p:txBody>
      </p:sp>
      <p:sp>
        <p:nvSpPr>
          <p:cNvPr id="18" name="Text 15"/>
          <p:cNvSpPr/>
          <p:nvPr/>
        </p:nvSpPr>
        <p:spPr>
          <a:xfrm>
            <a:off x="1783080" y="2121408"/>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Data storytelling structure and flow (M5)</a:t>
            </a:r>
            <a:endParaRPr lang="en-US" sz="1250" dirty="0"/>
          </a:p>
        </p:txBody>
      </p:sp>
      <p:sp>
        <p:nvSpPr>
          <p:cNvPr id="19" name="Shape 16"/>
          <p:cNvSpPr/>
          <p:nvPr/>
        </p:nvSpPr>
        <p:spPr>
          <a:xfrm>
            <a:off x="10408615" y="2247595"/>
            <a:ext cx="1078992" cy="329184"/>
          </a:xfrm>
          <a:prstGeom prst="roundRect">
            <a:avLst>
              <a:gd name="adj" fmla="val 16667"/>
            </a:avLst>
          </a:prstGeom>
          <a:solidFill>
            <a:srgbClr val="EAF0FA"/>
          </a:solidFill>
          <a:ln w="9525">
            <a:solidFill>
              <a:srgbClr val="2E5AAC"/>
            </a:solidFill>
            <a:prstDash val="solid"/>
          </a:ln>
        </p:spPr>
      </p:sp>
      <p:sp>
        <p:nvSpPr>
          <p:cNvPr id="20" name="Text 17"/>
          <p:cNvSpPr/>
          <p:nvPr/>
        </p:nvSpPr>
        <p:spPr>
          <a:xfrm>
            <a:off x="10408615" y="2247595"/>
            <a:ext cx="1078992" cy="329184"/>
          </a:xfrm>
          <a:prstGeom prst="rect">
            <a:avLst/>
          </a:prstGeom>
          <a:noFill/>
          <a:ln/>
        </p:spPr>
        <p:txBody>
          <a:bodyPr wrap="square" rtlCol="0" anchor="ctr"/>
          <a:lstStyle/>
          <a:p>
            <a:pPr marL="0" indent="0" algn="ctr">
              <a:buNone/>
            </a:pPr>
            <a:r>
              <a:rPr lang="en-US" sz="950" b="1" dirty="0">
                <a:solidFill>
                  <a:srgbClr val="2E5AAC"/>
                </a:solidFill>
                <a:latin typeface="Arial" pitchFamily="34" charset="0"/>
                <a:ea typeface="Arial" pitchFamily="34" charset="-122"/>
                <a:cs typeface="Arial" pitchFamily="34" charset="-120"/>
              </a:rPr>
              <a:t>60/40</a:t>
            </a:r>
            <a:endParaRPr lang="en-US" sz="950" dirty="0"/>
          </a:p>
        </p:txBody>
      </p:sp>
      <p:sp>
        <p:nvSpPr>
          <p:cNvPr id="21" name="Shape 18"/>
          <p:cNvSpPr/>
          <p:nvPr/>
        </p:nvSpPr>
        <p:spPr>
          <a:xfrm>
            <a:off x="548640" y="2885846"/>
            <a:ext cx="11094415" cy="691286"/>
          </a:xfrm>
          <a:prstGeom prst="roundRect">
            <a:avLst>
              <a:gd name="adj" fmla="val 9259"/>
            </a:avLst>
          </a:prstGeom>
          <a:solidFill>
            <a:srgbClr val="FFFFFF"/>
          </a:solidFill>
          <a:ln w="12700">
            <a:solidFill>
              <a:srgbClr val="D9DEE8"/>
            </a:solidFill>
            <a:prstDash val="solid"/>
          </a:ln>
        </p:spPr>
      </p:sp>
      <p:sp>
        <p:nvSpPr>
          <p:cNvPr id="22" name="Shape 19"/>
          <p:cNvSpPr/>
          <p:nvPr/>
        </p:nvSpPr>
        <p:spPr>
          <a:xfrm>
            <a:off x="548640" y="2885846"/>
            <a:ext cx="1051560" cy="691286"/>
          </a:xfrm>
          <a:prstGeom prst="roundRect">
            <a:avLst>
              <a:gd name="adj" fmla="val 9259"/>
            </a:avLst>
          </a:prstGeom>
          <a:solidFill>
            <a:srgbClr val="00A79D"/>
          </a:solidFill>
          <a:ln/>
        </p:spPr>
      </p:sp>
      <p:sp>
        <p:nvSpPr>
          <p:cNvPr id="23" name="Shape 20"/>
          <p:cNvSpPr/>
          <p:nvPr/>
        </p:nvSpPr>
        <p:spPr>
          <a:xfrm>
            <a:off x="1508760" y="2885846"/>
            <a:ext cx="91440" cy="691286"/>
          </a:xfrm>
          <a:prstGeom prst="rect">
            <a:avLst/>
          </a:prstGeom>
          <a:solidFill>
            <a:srgbClr val="00A79D"/>
          </a:solidFill>
          <a:ln/>
        </p:spPr>
      </p:sp>
      <p:sp>
        <p:nvSpPr>
          <p:cNvPr id="24" name="Text 21"/>
          <p:cNvSpPr/>
          <p:nvPr/>
        </p:nvSpPr>
        <p:spPr>
          <a:xfrm>
            <a:off x="548640" y="2885846"/>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H2</a:t>
            </a:r>
            <a:endParaRPr lang="en-US" sz="1500" dirty="0"/>
          </a:p>
        </p:txBody>
      </p:sp>
      <p:sp>
        <p:nvSpPr>
          <p:cNvPr id="25" name="Text 22"/>
          <p:cNvSpPr/>
          <p:nvPr/>
        </p:nvSpPr>
        <p:spPr>
          <a:xfrm>
            <a:off x="1783080" y="2940710"/>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Lab 5 — Storyboard the Tayseer narrative</a:t>
            </a:r>
            <a:endParaRPr lang="en-US" sz="1250" dirty="0"/>
          </a:p>
        </p:txBody>
      </p:sp>
      <p:sp>
        <p:nvSpPr>
          <p:cNvPr id="26" name="Shape 23"/>
          <p:cNvSpPr/>
          <p:nvPr/>
        </p:nvSpPr>
        <p:spPr>
          <a:xfrm>
            <a:off x="10408615" y="3066898"/>
            <a:ext cx="1078992" cy="329184"/>
          </a:xfrm>
          <a:prstGeom prst="roundRect">
            <a:avLst>
              <a:gd name="adj" fmla="val 16667"/>
            </a:avLst>
          </a:prstGeom>
          <a:solidFill>
            <a:srgbClr val="E6F5F4"/>
          </a:solidFill>
          <a:ln w="9525">
            <a:solidFill>
              <a:srgbClr val="00A79D"/>
            </a:solidFill>
            <a:prstDash val="solid"/>
          </a:ln>
        </p:spPr>
      </p:sp>
      <p:sp>
        <p:nvSpPr>
          <p:cNvPr id="27" name="Text 24"/>
          <p:cNvSpPr/>
          <p:nvPr/>
        </p:nvSpPr>
        <p:spPr>
          <a:xfrm>
            <a:off x="10408615" y="3066898"/>
            <a:ext cx="107899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15/85</a:t>
            </a:r>
            <a:endParaRPr lang="en-US" sz="950" dirty="0"/>
          </a:p>
        </p:txBody>
      </p:sp>
      <p:sp>
        <p:nvSpPr>
          <p:cNvPr id="28" name="Shape 25"/>
          <p:cNvSpPr/>
          <p:nvPr/>
        </p:nvSpPr>
        <p:spPr>
          <a:xfrm>
            <a:off x="548640" y="3705149"/>
            <a:ext cx="11094415" cy="691286"/>
          </a:xfrm>
          <a:prstGeom prst="roundRect">
            <a:avLst>
              <a:gd name="adj" fmla="val 9259"/>
            </a:avLst>
          </a:prstGeom>
          <a:solidFill>
            <a:srgbClr val="FFFFFF"/>
          </a:solidFill>
          <a:ln w="12700">
            <a:solidFill>
              <a:srgbClr val="D9DEE8"/>
            </a:solidFill>
            <a:prstDash val="solid"/>
          </a:ln>
        </p:spPr>
      </p:sp>
      <p:sp>
        <p:nvSpPr>
          <p:cNvPr id="29" name="Shape 26"/>
          <p:cNvSpPr/>
          <p:nvPr/>
        </p:nvSpPr>
        <p:spPr>
          <a:xfrm>
            <a:off x="548640" y="3705149"/>
            <a:ext cx="1051560" cy="691286"/>
          </a:xfrm>
          <a:prstGeom prst="roundRect">
            <a:avLst>
              <a:gd name="adj" fmla="val 9259"/>
            </a:avLst>
          </a:prstGeom>
          <a:solidFill>
            <a:srgbClr val="E8833A"/>
          </a:solidFill>
          <a:ln/>
        </p:spPr>
      </p:sp>
      <p:sp>
        <p:nvSpPr>
          <p:cNvPr id="30" name="Shape 27"/>
          <p:cNvSpPr/>
          <p:nvPr/>
        </p:nvSpPr>
        <p:spPr>
          <a:xfrm>
            <a:off x="1508760" y="3705149"/>
            <a:ext cx="91440" cy="691286"/>
          </a:xfrm>
          <a:prstGeom prst="rect">
            <a:avLst/>
          </a:prstGeom>
          <a:solidFill>
            <a:srgbClr val="E8833A"/>
          </a:solidFill>
          <a:ln/>
        </p:spPr>
      </p:sp>
      <p:sp>
        <p:nvSpPr>
          <p:cNvPr id="31" name="Text 28"/>
          <p:cNvSpPr/>
          <p:nvPr/>
        </p:nvSpPr>
        <p:spPr>
          <a:xfrm>
            <a:off x="548640" y="3705149"/>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H3</a:t>
            </a:r>
            <a:endParaRPr lang="en-US" sz="1500" dirty="0"/>
          </a:p>
        </p:txBody>
      </p:sp>
      <p:sp>
        <p:nvSpPr>
          <p:cNvPr id="32" name="Text 29"/>
          <p:cNvSpPr/>
          <p:nvPr/>
        </p:nvSpPr>
        <p:spPr>
          <a:xfrm>
            <a:off x="1783080" y="3760013"/>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Executive communication (M6)</a:t>
            </a:r>
            <a:endParaRPr lang="en-US" sz="1250" dirty="0"/>
          </a:p>
        </p:txBody>
      </p:sp>
      <p:sp>
        <p:nvSpPr>
          <p:cNvPr id="33" name="Shape 30"/>
          <p:cNvSpPr/>
          <p:nvPr/>
        </p:nvSpPr>
        <p:spPr>
          <a:xfrm>
            <a:off x="10408615" y="3886200"/>
            <a:ext cx="1078992" cy="329184"/>
          </a:xfrm>
          <a:prstGeom prst="roundRect">
            <a:avLst>
              <a:gd name="adj" fmla="val 16667"/>
            </a:avLst>
          </a:prstGeom>
          <a:solidFill>
            <a:srgbClr val="FCF0E6"/>
          </a:solidFill>
          <a:ln w="9525">
            <a:solidFill>
              <a:srgbClr val="E8833A"/>
            </a:solidFill>
            <a:prstDash val="solid"/>
          </a:ln>
        </p:spPr>
      </p:sp>
      <p:sp>
        <p:nvSpPr>
          <p:cNvPr id="34" name="Text 31"/>
          <p:cNvSpPr/>
          <p:nvPr/>
        </p:nvSpPr>
        <p:spPr>
          <a:xfrm>
            <a:off x="10408615" y="3886200"/>
            <a:ext cx="1078992" cy="329184"/>
          </a:xfrm>
          <a:prstGeom prst="rect">
            <a:avLst/>
          </a:prstGeom>
          <a:noFill/>
          <a:ln/>
        </p:spPr>
        <p:txBody>
          <a:bodyPr wrap="square" rtlCol="0" anchor="ctr"/>
          <a:lstStyle/>
          <a:p>
            <a:pPr marL="0" indent="0" algn="ctr">
              <a:buNone/>
            </a:pPr>
            <a:r>
              <a:rPr lang="en-US" sz="950" b="1" dirty="0">
                <a:solidFill>
                  <a:srgbClr val="E8833A"/>
                </a:solidFill>
                <a:latin typeface="Arial" pitchFamily="34" charset="0"/>
                <a:ea typeface="Arial" pitchFamily="34" charset="-122"/>
                <a:cs typeface="Arial" pitchFamily="34" charset="-120"/>
              </a:rPr>
              <a:t>50/50</a:t>
            </a:r>
            <a:endParaRPr lang="en-US" sz="950" dirty="0"/>
          </a:p>
        </p:txBody>
      </p:sp>
      <p:sp>
        <p:nvSpPr>
          <p:cNvPr id="35" name="Shape 32"/>
          <p:cNvSpPr/>
          <p:nvPr/>
        </p:nvSpPr>
        <p:spPr>
          <a:xfrm>
            <a:off x="548640" y="4524451"/>
            <a:ext cx="11094415" cy="691286"/>
          </a:xfrm>
          <a:prstGeom prst="roundRect">
            <a:avLst>
              <a:gd name="adj" fmla="val 9259"/>
            </a:avLst>
          </a:prstGeom>
          <a:solidFill>
            <a:srgbClr val="FFFFFF"/>
          </a:solidFill>
          <a:ln w="12700">
            <a:solidFill>
              <a:srgbClr val="D9DEE8"/>
            </a:solidFill>
            <a:prstDash val="solid"/>
          </a:ln>
        </p:spPr>
      </p:sp>
      <p:sp>
        <p:nvSpPr>
          <p:cNvPr id="36" name="Shape 33"/>
          <p:cNvSpPr/>
          <p:nvPr/>
        </p:nvSpPr>
        <p:spPr>
          <a:xfrm>
            <a:off x="548640" y="4524451"/>
            <a:ext cx="1051560" cy="691286"/>
          </a:xfrm>
          <a:prstGeom prst="roundRect">
            <a:avLst>
              <a:gd name="adj" fmla="val 9259"/>
            </a:avLst>
          </a:prstGeom>
          <a:solidFill>
            <a:srgbClr val="6C4FA1"/>
          </a:solidFill>
          <a:ln/>
        </p:spPr>
      </p:sp>
      <p:sp>
        <p:nvSpPr>
          <p:cNvPr id="37" name="Shape 34"/>
          <p:cNvSpPr/>
          <p:nvPr/>
        </p:nvSpPr>
        <p:spPr>
          <a:xfrm>
            <a:off x="1508760" y="4524451"/>
            <a:ext cx="91440" cy="691286"/>
          </a:xfrm>
          <a:prstGeom prst="rect">
            <a:avLst/>
          </a:prstGeom>
          <a:solidFill>
            <a:srgbClr val="6C4FA1"/>
          </a:solidFill>
          <a:ln/>
        </p:spPr>
      </p:sp>
      <p:sp>
        <p:nvSpPr>
          <p:cNvPr id="38" name="Text 35"/>
          <p:cNvSpPr/>
          <p:nvPr/>
        </p:nvSpPr>
        <p:spPr>
          <a:xfrm>
            <a:off x="548640" y="4524451"/>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H4</a:t>
            </a:r>
            <a:endParaRPr lang="en-US" sz="1500" dirty="0"/>
          </a:p>
        </p:txBody>
      </p:sp>
      <p:sp>
        <p:nvSpPr>
          <p:cNvPr id="39" name="Text 36"/>
          <p:cNvSpPr/>
          <p:nvPr/>
        </p:nvSpPr>
        <p:spPr>
          <a:xfrm>
            <a:off x="1783080" y="4579315"/>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Capstone assembly — integrate, rehearse, critique</a:t>
            </a:r>
            <a:endParaRPr lang="en-US" sz="1250" dirty="0"/>
          </a:p>
        </p:txBody>
      </p:sp>
      <p:sp>
        <p:nvSpPr>
          <p:cNvPr id="40" name="Shape 37"/>
          <p:cNvSpPr/>
          <p:nvPr/>
        </p:nvSpPr>
        <p:spPr>
          <a:xfrm>
            <a:off x="10408615" y="4705502"/>
            <a:ext cx="1078992" cy="329184"/>
          </a:xfrm>
          <a:prstGeom prst="roundRect">
            <a:avLst>
              <a:gd name="adj" fmla="val 16667"/>
            </a:avLst>
          </a:prstGeom>
          <a:solidFill>
            <a:srgbClr val="EFEBF6"/>
          </a:solidFill>
          <a:ln w="9525">
            <a:solidFill>
              <a:srgbClr val="6C4FA1"/>
            </a:solidFill>
            <a:prstDash val="solid"/>
          </a:ln>
        </p:spPr>
      </p:sp>
      <p:sp>
        <p:nvSpPr>
          <p:cNvPr id="41" name="Text 38"/>
          <p:cNvSpPr/>
          <p:nvPr/>
        </p:nvSpPr>
        <p:spPr>
          <a:xfrm>
            <a:off x="10408615" y="4705502"/>
            <a:ext cx="1078992" cy="329184"/>
          </a:xfrm>
          <a:prstGeom prst="rect">
            <a:avLst/>
          </a:prstGeom>
          <a:noFill/>
          <a:ln/>
        </p:spPr>
        <p:txBody>
          <a:bodyPr wrap="square" rtlCol="0" anchor="ctr"/>
          <a:lstStyle/>
          <a:p>
            <a:pPr marL="0" indent="0" algn="ctr">
              <a:buNone/>
            </a:pPr>
            <a:r>
              <a:rPr lang="en-US" sz="950" b="1" dirty="0">
                <a:solidFill>
                  <a:srgbClr val="6C4FA1"/>
                </a:solidFill>
                <a:latin typeface="Arial" pitchFamily="34" charset="0"/>
                <a:ea typeface="Arial" pitchFamily="34" charset="-122"/>
                <a:cs typeface="Arial" pitchFamily="34" charset="-120"/>
              </a:rPr>
              <a:t>0/100</a:t>
            </a:r>
            <a:endParaRPr lang="en-US" sz="950" dirty="0"/>
          </a:p>
        </p:txBody>
      </p:sp>
      <p:sp>
        <p:nvSpPr>
          <p:cNvPr id="42" name="Shape 39"/>
          <p:cNvSpPr/>
          <p:nvPr/>
        </p:nvSpPr>
        <p:spPr>
          <a:xfrm>
            <a:off x="548640" y="5343754"/>
            <a:ext cx="11094415" cy="691286"/>
          </a:xfrm>
          <a:prstGeom prst="roundRect">
            <a:avLst>
              <a:gd name="adj" fmla="val 9259"/>
            </a:avLst>
          </a:prstGeom>
          <a:solidFill>
            <a:srgbClr val="FFFFFF"/>
          </a:solidFill>
          <a:ln w="12700">
            <a:solidFill>
              <a:srgbClr val="D9DEE8"/>
            </a:solidFill>
            <a:prstDash val="solid"/>
          </a:ln>
        </p:spPr>
      </p:sp>
      <p:sp>
        <p:nvSpPr>
          <p:cNvPr id="43" name="Shape 40"/>
          <p:cNvSpPr/>
          <p:nvPr/>
        </p:nvSpPr>
        <p:spPr>
          <a:xfrm>
            <a:off x="548640" y="5343754"/>
            <a:ext cx="1051560" cy="691286"/>
          </a:xfrm>
          <a:prstGeom prst="roundRect">
            <a:avLst>
              <a:gd name="adj" fmla="val 9259"/>
            </a:avLst>
          </a:prstGeom>
          <a:solidFill>
            <a:srgbClr val="3FAE5A"/>
          </a:solidFill>
          <a:ln/>
        </p:spPr>
      </p:sp>
      <p:sp>
        <p:nvSpPr>
          <p:cNvPr id="44" name="Shape 41"/>
          <p:cNvSpPr/>
          <p:nvPr/>
        </p:nvSpPr>
        <p:spPr>
          <a:xfrm>
            <a:off x="1508760" y="5343754"/>
            <a:ext cx="91440" cy="691286"/>
          </a:xfrm>
          <a:prstGeom prst="rect">
            <a:avLst/>
          </a:prstGeom>
          <a:solidFill>
            <a:srgbClr val="3FAE5A"/>
          </a:solidFill>
          <a:ln/>
        </p:spPr>
      </p:sp>
      <p:sp>
        <p:nvSpPr>
          <p:cNvPr id="45" name="Text 42"/>
          <p:cNvSpPr/>
          <p:nvPr/>
        </p:nvSpPr>
        <p:spPr>
          <a:xfrm>
            <a:off x="548640" y="5343754"/>
            <a:ext cx="1051560" cy="691286"/>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H5</a:t>
            </a:r>
            <a:endParaRPr lang="en-US" sz="1500" dirty="0"/>
          </a:p>
        </p:txBody>
      </p:sp>
      <p:sp>
        <p:nvSpPr>
          <p:cNvPr id="46" name="Text 43"/>
          <p:cNvSpPr/>
          <p:nvPr/>
        </p:nvSpPr>
        <p:spPr>
          <a:xfrm>
            <a:off x="1783080" y="5398618"/>
            <a:ext cx="7680960" cy="599846"/>
          </a:xfrm>
          <a:prstGeom prst="rect">
            <a:avLst/>
          </a:prstGeom>
          <a:noFill/>
          <a:ln/>
        </p:spPr>
        <p:txBody>
          <a:bodyPr wrap="square" rtlCol="0" anchor="ctr"/>
          <a:lstStyle/>
          <a:p>
            <a:pPr marL="0" indent="0">
              <a:lnSpc>
                <a:spcPct val="95000"/>
              </a:lnSpc>
              <a:buNone/>
            </a:pPr>
            <a:r>
              <a:rPr lang="en-US" sz="1250" b="1" dirty="0">
                <a:solidFill>
                  <a:srgbClr val="1D2A5C"/>
                </a:solidFill>
                <a:latin typeface="Arial" pitchFamily="34" charset="0"/>
                <a:ea typeface="Arial" pitchFamily="34" charset="-122"/>
                <a:cs typeface="Arial" pitchFamily="34" charset="-120"/>
              </a:rPr>
              <a:t>Capstone presentations + assessment + wrap-up</a:t>
            </a:r>
            <a:endParaRPr lang="en-US" sz="1250" dirty="0"/>
          </a:p>
        </p:txBody>
      </p:sp>
      <p:sp>
        <p:nvSpPr>
          <p:cNvPr id="47" name="Shape 44"/>
          <p:cNvSpPr/>
          <p:nvPr/>
        </p:nvSpPr>
        <p:spPr>
          <a:xfrm>
            <a:off x="10408615" y="5524805"/>
            <a:ext cx="1078992" cy="329184"/>
          </a:xfrm>
          <a:prstGeom prst="roundRect">
            <a:avLst>
              <a:gd name="adj" fmla="val 16667"/>
            </a:avLst>
          </a:prstGeom>
          <a:solidFill>
            <a:srgbClr val="E9F5EC"/>
          </a:solidFill>
          <a:ln w="9525">
            <a:solidFill>
              <a:srgbClr val="3FAE5A"/>
            </a:solidFill>
            <a:prstDash val="solid"/>
          </a:ln>
        </p:spPr>
      </p:sp>
      <p:sp>
        <p:nvSpPr>
          <p:cNvPr id="48" name="Text 45"/>
          <p:cNvSpPr/>
          <p:nvPr/>
        </p:nvSpPr>
        <p:spPr>
          <a:xfrm>
            <a:off x="10408615" y="5524805"/>
            <a:ext cx="1078992" cy="329184"/>
          </a:xfrm>
          <a:prstGeom prst="rect">
            <a:avLst/>
          </a:prstGeom>
          <a:noFill/>
          <a:ln/>
        </p:spPr>
        <p:txBody>
          <a:bodyPr wrap="square" rtlCol="0" anchor="ctr"/>
          <a:lstStyle/>
          <a:p>
            <a:pPr marL="0" indent="0" algn="ctr">
              <a:buNone/>
            </a:pPr>
            <a:r>
              <a:rPr lang="en-US" sz="950" b="1" dirty="0">
                <a:solidFill>
                  <a:srgbClr val="3FAE5A"/>
                </a:solidFill>
                <a:latin typeface="Arial" pitchFamily="34" charset="0"/>
                <a:ea typeface="Arial" pitchFamily="34" charset="-122"/>
                <a:cs typeface="Arial" pitchFamily="34" charset="-120"/>
              </a:rPr>
              <a:t>20/80</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INSTRUCTOR GUIDANCE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Running the course (1 of 2)</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13</a:t>
            </a:r>
            <a:endParaRPr lang="en-US" sz="800" dirty="0"/>
          </a:p>
        </p:txBody>
      </p:sp>
      <p:sp>
        <p:nvSpPr>
          <p:cNvPr id="14" name="Shape 11"/>
          <p:cNvSpPr/>
          <p:nvPr/>
        </p:nvSpPr>
        <p:spPr>
          <a:xfrm>
            <a:off x="548640" y="2066544"/>
            <a:ext cx="5410048" cy="1865376"/>
          </a:xfrm>
          <a:prstGeom prst="roundRect">
            <a:avLst>
              <a:gd name="adj" fmla="val 3922"/>
            </a:avLst>
          </a:prstGeom>
          <a:solidFill>
            <a:srgbClr val="FFFFFF"/>
          </a:solidFill>
          <a:ln w="12700">
            <a:solidFill>
              <a:srgbClr val="D9DEE8"/>
            </a:solidFill>
            <a:prstDash val="solid"/>
          </a:ln>
        </p:spPr>
      </p:sp>
      <p:sp>
        <p:nvSpPr>
          <p:cNvPr id="15" name="Shape 12"/>
          <p:cNvSpPr/>
          <p:nvPr/>
        </p:nvSpPr>
        <p:spPr>
          <a:xfrm>
            <a:off x="548640" y="2066544"/>
            <a:ext cx="5410048" cy="82296"/>
          </a:xfrm>
          <a:prstGeom prst="rect">
            <a:avLst/>
          </a:prstGeom>
          <a:solidFill>
            <a:srgbClr val="2E5AAC"/>
          </a:solidFill>
          <a:ln/>
        </p:spPr>
      </p:sp>
      <p:sp>
        <p:nvSpPr>
          <p:cNvPr id="16" name="Text 13"/>
          <p:cNvSpPr/>
          <p:nvPr/>
        </p:nvSpPr>
        <p:spPr>
          <a:xfrm>
            <a:off x="731520" y="224942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Golden thread</a:t>
            </a:r>
            <a:endParaRPr lang="en-US" sz="1300" dirty="0"/>
          </a:p>
        </p:txBody>
      </p:sp>
      <p:sp>
        <p:nvSpPr>
          <p:cNvPr id="17" name="Text 14"/>
          <p:cNvSpPr/>
          <p:nvPr/>
        </p:nvSpPr>
        <p:spPr>
          <a:xfrm>
            <a:off x="731520" y="261518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Every module evolves the same Tayseer artefact — never a throwaway dataset. Only the communication is graded.</a:t>
            </a:r>
            <a:endParaRPr lang="en-US" sz="1050" dirty="0"/>
          </a:p>
        </p:txBody>
      </p:sp>
      <p:sp>
        <p:nvSpPr>
          <p:cNvPr id="18" name="Shape 15"/>
          <p:cNvSpPr/>
          <p:nvPr/>
        </p:nvSpPr>
        <p:spPr>
          <a:xfrm>
            <a:off x="6233008" y="2066544"/>
            <a:ext cx="5410048" cy="1865376"/>
          </a:xfrm>
          <a:prstGeom prst="roundRect">
            <a:avLst>
              <a:gd name="adj" fmla="val 3922"/>
            </a:avLst>
          </a:prstGeom>
          <a:solidFill>
            <a:srgbClr val="FFFFFF"/>
          </a:solidFill>
          <a:ln w="12700">
            <a:solidFill>
              <a:srgbClr val="D9DEE8"/>
            </a:solidFill>
            <a:prstDash val="solid"/>
          </a:ln>
        </p:spPr>
      </p:sp>
      <p:sp>
        <p:nvSpPr>
          <p:cNvPr id="19" name="Shape 16"/>
          <p:cNvSpPr/>
          <p:nvPr/>
        </p:nvSpPr>
        <p:spPr>
          <a:xfrm>
            <a:off x="6233008" y="2066544"/>
            <a:ext cx="5410048" cy="82296"/>
          </a:xfrm>
          <a:prstGeom prst="rect">
            <a:avLst/>
          </a:prstGeom>
          <a:solidFill>
            <a:srgbClr val="00A79D"/>
          </a:solidFill>
          <a:ln/>
        </p:spPr>
      </p:sp>
      <p:sp>
        <p:nvSpPr>
          <p:cNvPr id="20" name="Text 17"/>
          <p:cNvSpPr/>
          <p:nvPr/>
        </p:nvSpPr>
        <p:spPr>
          <a:xfrm>
            <a:off x="6415888" y="224942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Pace control</a:t>
            </a:r>
            <a:endParaRPr lang="en-US" sz="1300" dirty="0"/>
          </a:p>
        </p:txBody>
      </p:sp>
      <p:sp>
        <p:nvSpPr>
          <p:cNvPr id="21" name="Text 18"/>
          <p:cNvSpPr/>
          <p:nvPr/>
        </p:nvSpPr>
        <p:spPr>
          <a:xfrm>
            <a:off x="6415888" y="261518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Lab 3 and Lab 4b overrun most. Publish checkpoint notebooks and .pbix/.twbx starters so stragglers catch up.</a:t>
            </a:r>
            <a:endParaRPr lang="en-US" sz="1050" dirty="0"/>
          </a:p>
        </p:txBody>
      </p:sp>
      <p:sp>
        <p:nvSpPr>
          <p:cNvPr id="22" name="Shape 19"/>
          <p:cNvSpPr/>
          <p:nvPr/>
        </p:nvSpPr>
        <p:spPr>
          <a:xfrm>
            <a:off x="548640" y="4169664"/>
            <a:ext cx="5410048" cy="1865376"/>
          </a:xfrm>
          <a:prstGeom prst="roundRect">
            <a:avLst>
              <a:gd name="adj" fmla="val 3922"/>
            </a:avLst>
          </a:prstGeom>
          <a:solidFill>
            <a:srgbClr val="FFFFFF"/>
          </a:solidFill>
          <a:ln w="12700">
            <a:solidFill>
              <a:srgbClr val="D9DEE8"/>
            </a:solidFill>
            <a:prstDash val="solid"/>
          </a:ln>
        </p:spPr>
      </p:sp>
      <p:sp>
        <p:nvSpPr>
          <p:cNvPr id="23" name="Shape 20"/>
          <p:cNvSpPr/>
          <p:nvPr/>
        </p:nvSpPr>
        <p:spPr>
          <a:xfrm>
            <a:off x="548640" y="4169664"/>
            <a:ext cx="5410048" cy="82296"/>
          </a:xfrm>
          <a:prstGeom prst="rect">
            <a:avLst/>
          </a:prstGeom>
          <a:solidFill>
            <a:srgbClr val="E8833A"/>
          </a:solidFill>
          <a:ln/>
        </p:spPr>
      </p:sp>
      <p:sp>
        <p:nvSpPr>
          <p:cNvPr id="24" name="Text 21"/>
          <p:cNvSpPr/>
          <p:nvPr/>
        </p:nvSpPr>
        <p:spPr>
          <a:xfrm>
            <a:off x="731520" y="43525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Pairing</a:t>
            </a:r>
            <a:endParaRPr lang="en-US" sz="1300" dirty="0"/>
          </a:p>
        </p:txBody>
      </p:sp>
      <p:sp>
        <p:nvSpPr>
          <p:cNvPr id="25" name="Text 22"/>
          <p:cNvSpPr/>
          <p:nvPr/>
        </p:nvSpPr>
        <p:spPr>
          <a:xfrm>
            <a:off x="731520" y="471830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Rotate pairs each day. Pair a strong coder with a strong design sense — that skill transfer is the point.</a:t>
            </a:r>
            <a:endParaRPr lang="en-US" sz="1050" dirty="0"/>
          </a:p>
        </p:txBody>
      </p:sp>
      <p:sp>
        <p:nvSpPr>
          <p:cNvPr id="26" name="Shape 23"/>
          <p:cNvSpPr/>
          <p:nvPr/>
        </p:nvSpPr>
        <p:spPr>
          <a:xfrm>
            <a:off x="6233008" y="4169664"/>
            <a:ext cx="5410048" cy="1865376"/>
          </a:xfrm>
          <a:prstGeom prst="roundRect">
            <a:avLst>
              <a:gd name="adj" fmla="val 3922"/>
            </a:avLst>
          </a:prstGeom>
          <a:solidFill>
            <a:srgbClr val="FFFFFF"/>
          </a:solidFill>
          <a:ln w="12700">
            <a:solidFill>
              <a:srgbClr val="D9DEE8"/>
            </a:solidFill>
            <a:prstDash val="solid"/>
          </a:ln>
        </p:spPr>
      </p:sp>
      <p:sp>
        <p:nvSpPr>
          <p:cNvPr id="27" name="Shape 24"/>
          <p:cNvSpPr/>
          <p:nvPr/>
        </p:nvSpPr>
        <p:spPr>
          <a:xfrm>
            <a:off x="6233008" y="4169664"/>
            <a:ext cx="5410048" cy="82296"/>
          </a:xfrm>
          <a:prstGeom prst="rect">
            <a:avLst/>
          </a:prstGeom>
          <a:solidFill>
            <a:srgbClr val="6C4FA1"/>
          </a:solidFill>
          <a:ln/>
        </p:spPr>
      </p:sp>
      <p:sp>
        <p:nvSpPr>
          <p:cNvPr id="28" name="Text 25"/>
          <p:cNvSpPr/>
          <p:nvPr/>
        </p:nvSpPr>
        <p:spPr>
          <a:xfrm>
            <a:off x="6415888" y="43525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Environment</a:t>
            </a:r>
            <a:endParaRPr lang="en-US" sz="1300" dirty="0"/>
          </a:p>
        </p:txBody>
      </p:sp>
      <p:sp>
        <p:nvSpPr>
          <p:cNvPr id="29" name="Text 26"/>
          <p:cNvSpPr/>
          <p:nvPr/>
        </p:nvSpPr>
        <p:spPr>
          <a:xfrm>
            <a:off x="6415888" y="471830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Primary: local Jupyter + Plotly + a BI tool. Fallback: Colab and Tableau Public. Verify both paths beforehand.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INSTRUCTOR GUIDANCE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Running the course (2 of 2)</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14</a:t>
            </a:r>
            <a:endParaRPr lang="en-US" sz="800" dirty="0"/>
          </a:p>
        </p:txBody>
      </p:sp>
      <p:sp>
        <p:nvSpPr>
          <p:cNvPr id="14" name="Shape 11"/>
          <p:cNvSpPr/>
          <p:nvPr/>
        </p:nvSpPr>
        <p:spPr>
          <a:xfrm>
            <a:off x="548640" y="2066544"/>
            <a:ext cx="5410048" cy="1865376"/>
          </a:xfrm>
          <a:prstGeom prst="roundRect">
            <a:avLst>
              <a:gd name="adj" fmla="val 3922"/>
            </a:avLst>
          </a:prstGeom>
          <a:solidFill>
            <a:srgbClr val="FFFFFF"/>
          </a:solidFill>
          <a:ln w="12700">
            <a:solidFill>
              <a:srgbClr val="D9DEE8"/>
            </a:solidFill>
            <a:prstDash val="solid"/>
          </a:ln>
        </p:spPr>
      </p:sp>
      <p:sp>
        <p:nvSpPr>
          <p:cNvPr id="15" name="Shape 12"/>
          <p:cNvSpPr/>
          <p:nvPr/>
        </p:nvSpPr>
        <p:spPr>
          <a:xfrm>
            <a:off x="548640" y="2066544"/>
            <a:ext cx="5410048" cy="82296"/>
          </a:xfrm>
          <a:prstGeom prst="rect">
            <a:avLst/>
          </a:prstGeom>
          <a:solidFill>
            <a:srgbClr val="2E5AAC"/>
          </a:solidFill>
          <a:ln/>
        </p:spPr>
      </p:sp>
      <p:sp>
        <p:nvSpPr>
          <p:cNvPr id="16" name="Text 13"/>
          <p:cNvSpPr/>
          <p:nvPr/>
        </p:nvSpPr>
        <p:spPr>
          <a:xfrm>
            <a:off x="731520" y="224942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Language &amp; RTL</a:t>
            </a:r>
            <a:endParaRPr lang="en-US" sz="1300" dirty="0"/>
          </a:p>
        </p:txBody>
      </p:sp>
      <p:sp>
        <p:nvSpPr>
          <p:cNvPr id="17" name="Text 14"/>
          <p:cNvSpPr/>
          <p:nvPr/>
        </p:nvSpPr>
        <p:spPr>
          <a:xfrm>
            <a:off x="731520" y="261518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Deliver in English or Arabic; keep code and column names in English. Teach right-to-left axis ordering for Arabic charts (M3).</a:t>
            </a:r>
            <a:endParaRPr lang="en-US" sz="1050" dirty="0"/>
          </a:p>
        </p:txBody>
      </p:sp>
      <p:sp>
        <p:nvSpPr>
          <p:cNvPr id="18" name="Shape 15"/>
          <p:cNvSpPr/>
          <p:nvPr/>
        </p:nvSpPr>
        <p:spPr>
          <a:xfrm>
            <a:off x="6233008" y="2066544"/>
            <a:ext cx="5410048" cy="1865376"/>
          </a:xfrm>
          <a:prstGeom prst="roundRect">
            <a:avLst>
              <a:gd name="adj" fmla="val 3922"/>
            </a:avLst>
          </a:prstGeom>
          <a:solidFill>
            <a:srgbClr val="FFFFFF"/>
          </a:solidFill>
          <a:ln w="12700">
            <a:solidFill>
              <a:srgbClr val="D9DEE8"/>
            </a:solidFill>
            <a:prstDash val="solid"/>
          </a:ln>
        </p:spPr>
      </p:sp>
      <p:sp>
        <p:nvSpPr>
          <p:cNvPr id="19" name="Shape 16"/>
          <p:cNvSpPr/>
          <p:nvPr/>
        </p:nvSpPr>
        <p:spPr>
          <a:xfrm>
            <a:off x="6233008" y="2066544"/>
            <a:ext cx="5410048" cy="82296"/>
          </a:xfrm>
          <a:prstGeom prst="rect">
            <a:avLst/>
          </a:prstGeom>
          <a:solidFill>
            <a:srgbClr val="00A79D"/>
          </a:solidFill>
          <a:ln/>
        </p:spPr>
      </p:sp>
      <p:sp>
        <p:nvSpPr>
          <p:cNvPr id="20" name="Text 17"/>
          <p:cNvSpPr/>
          <p:nvPr/>
        </p:nvSpPr>
        <p:spPr>
          <a:xfrm>
            <a:off x="6415888" y="224942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Prayer &amp; breaks</a:t>
            </a:r>
            <a:endParaRPr lang="en-US" sz="1300" dirty="0"/>
          </a:p>
        </p:txBody>
      </p:sp>
      <p:sp>
        <p:nvSpPr>
          <p:cNvPr id="21" name="Text 18"/>
          <p:cNvSpPr/>
          <p:nvPr/>
        </p:nvSpPr>
        <p:spPr>
          <a:xfrm>
            <a:off x="6415888" y="261518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Each hour is 50 min instruction + 10 min buffer; schedule the long break around Dhuhr. Day 3 afternoon is presentation-heavy.</a:t>
            </a:r>
            <a:endParaRPr lang="en-US" sz="1050" dirty="0"/>
          </a:p>
        </p:txBody>
      </p:sp>
      <p:sp>
        <p:nvSpPr>
          <p:cNvPr id="22" name="Shape 19"/>
          <p:cNvSpPr/>
          <p:nvPr/>
        </p:nvSpPr>
        <p:spPr>
          <a:xfrm>
            <a:off x="548640" y="4169664"/>
            <a:ext cx="5410048" cy="1865376"/>
          </a:xfrm>
          <a:prstGeom prst="roundRect">
            <a:avLst>
              <a:gd name="adj" fmla="val 3922"/>
            </a:avLst>
          </a:prstGeom>
          <a:solidFill>
            <a:srgbClr val="FFFFFF"/>
          </a:solidFill>
          <a:ln w="12700">
            <a:solidFill>
              <a:srgbClr val="D9DEE8"/>
            </a:solidFill>
            <a:prstDash val="solid"/>
          </a:ln>
        </p:spPr>
      </p:sp>
      <p:sp>
        <p:nvSpPr>
          <p:cNvPr id="23" name="Shape 20"/>
          <p:cNvSpPr/>
          <p:nvPr/>
        </p:nvSpPr>
        <p:spPr>
          <a:xfrm>
            <a:off x="548640" y="4169664"/>
            <a:ext cx="5410048" cy="82296"/>
          </a:xfrm>
          <a:prstGeom prst="rect">
            <a:avLst/>
          </a:prstGeom>
          <a:solidFill>
            <a:srgbClr val="E8833A"/>
          </a:solidFill>
          <a:ln/>
        </p:spPr>
      </p:sp>
      <p:sp>
        <p:nvSpPr>
          <p:cNvPr id="24" name="Text 21"/>
          <p:cNvSpPr/>
          <p:nvPr/>
        </p:nvSpPr>
        <p:spPr>
          <a:xfrm>
            <a:off x="731520" y="43525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Assessment logistics</a:t>
            </a:r>
            <a:endParaRPr lang="en-US" sz="1300" dirty="0"/>
          </a:p>
        </p:txBody>
      </p:sp>
      <p:sp>
        <p:nvSpPr>
          <p:cNvPr id="25" name="Text 22"/>
          <p:cNvSpPr/>
          <p:nvPr/>
        </p:nvSpPr>
        <p:spPr>
          <a:xfrm>
            <a:off x="731520" y="471830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Collect dashboards and decks at end of Day 3 Hour 4 to pre-load; score live in Hour 5. Record presentations with consent.</a:t>
            </a:r>
            <a:endParaRPr lang="en-US" sz="1050" dirty="0"/>
          </a:p>
        </p:txBody>
      </p:sp>
      <p:sp>
        <p:nvSpPr>
          <p:cNvPr id="26" name="Shape 23"/>
          <p:cNvSpPr/>
          <p:nvPr/>
        </p:nvSpPr>
        <p:spPr>
          <a:xfrm>
            <a:off x="6233008" y="4169664"/>
            <a:ext cx="5410048" cy="1865376"/>
          </a:xfrm>
          <a:prstGeom prst="roundRect">
            <a:avLst>
              <a:gd name="adj" fmla="val 3922"/>
            </a:avLst>
          </a:prstGeom>
          <a:solidFill>
            <a:srgbClr val="FFFFFF"/>
          </a:solidFill>
          <a:ln w="12700">
            <a:solidFill>
              <a:srgbClr val="D9DEE8"/>
            </a:solidFill>
            <a:prstDash val="solid"/>
          </a:ln>
        </p:spPr>
      </p:sp>
      <p:sp>
        <p:nvSpPr>
          <p:cNvPr id="27" name="Shape 24"/>
          <p:cNvSpPr/>
          <p:nvPr/>
        </p:nvSpPr>
        <p:spPr>
          <a:xfrm>
            <a:off x="6233008" y="4169664"/>
            <a:ext cx="5410048" cy="82296"/>
          </a:xfrm>
          <a:prstGeom prst="rect">
            <a:avLst/>
          </a:prstGeom>
          <a:solidFill>
            <a:srgbClr val="6C4FA1"/>
          </a:solidFill>
          <a:ln/>
        </p:spPr>
      </p:sp>
      <p:sp>
        <p:nvSpPr>
          <p:cNvPr id="28" name="Text 25"/>
          <p:cNvSpPr/>
          <p:nvPr/>
        </p:nvSpPr>
        <p:spPr>
          <a:xfrm>
            <a:off x="6415888" y="43525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Critique culture</a:t>
            </a:r>
            <a:endParaRPr lang="en-US" sz="1300" dirty="0"/>
          </a:p>
        </p:txBody>
      </p:sp>
      <p:sp>
        <p:nvSpPr>
          <p:cNvPr id="29" name="Text 26"/>
          <p:cNvSpPr/>
          <p:nvPr/>
        </p:nvSpPr>
        <p:spPr>
          <a:xfrm>
            <a:off x="6415888" y="471830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Set norms in Day 1 Hour 1: critique the chart, not the person; propose a fix with every criticism.</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HOW TO USE THIS PACKAGE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Critique culture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15</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A safe critique culture is a prerequisite, not a nicety. Establish the norms in Day 1 Hour 1 and carry them through every module — each one contains a critique exercise.</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Critique the chart:  </a:t>
            </a:r>
            <a:r>
              <a:rPr lang="en-US" sz="1250" dirty="0">
                <a:solidFill>
                  <a:srgbClr val="343A4E"/>
                </a:solidFill>
                <a:latin typeface="Arial" pitchFamily="34" charset="0"/>
                <a:ea typeface="Arial" pitchFamily="34" charset="-122"/>
                <a:cs typeface="Arial" pitchFamily="34" charset="-120"/>
              </a:rPr>
              <a:t>Direct feedback at the artefact, never at the person who made it.</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Fix with every note:  </a:t>
            </a:r>
            <a:r>
              <a:rPr lang="en-US" sz="1250" dirty="0">
                <a:solidFill>
                  <a:srgbClr val="343A4E"/>
                </a:solidFill>
                <a:latin typeface="Arial" pitchFamily="34" charset="0"/>
                <a:ea typeface="Arial" pitchFamily="34" charset="-122"/>
                <a:cs typeface="Arial" pitchFamily="34" charset="-120"/>
              </a:rPr>
              <a:t>Pair every criticism with a concrete, proposed improvement.</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Critique every module:  </a:t>
            </a:r>
            <a:r>
              <a:rPr lang="en-US" sz="1250" dirty="0">
                <a:solidFill>
                  <a:srgbClr val="343A4E"/>
                </a:solidFill>
                <a:latin typeface="Arial" pitchFamily="34" charset="0"/>
                <a:ea typeface="Arial" pitchFamily="34" charset="-122"/>
                <a:cs typeface="Arial" pitchFamily="34" charset="-120"/>
              </a:rPr>
              <a:t>The habit compounds: each module repeats the exercise on Tayseer.</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marL="0" indent="0" algn="l">
              <a:buNone/>
            </a:pPr>
            <a:r>
              <a:rPr lang="en-US" sz="15000" b="1" dirty="0">
                <a:solidFill>
                  <a:srgbClr val="27345F"/>
                </a:solidFill>
                <a:latin typeface="Arial" pitchFamily="34" charset="0"/>
                <a:ea typeface="Arial" pitchFamily="34" charset="-122"/>
                <a:cs typeface="Arial" pitchFamily="34" charset="-120"/>
              </a:rPr>
              <a:t>01</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marL="0" indent="0">
              <a:buNone/>
            </a:pPr>
            <a:r>
              <a:rPr lang="en-US" sz="1400" b="1" kern="0" spc="300" dirty="0">
                <a:solidFill>
                  <a:srgbClr val="00A79D"/>
                </a:solidFill>
                <a:latin typeface="Arial" pitchFamily="34" charset="0"/>
                <a:ea typeface="Arial" pitchFamily="34" charset="-122"/>
                <a:cs typeface="Arial" pitchFamily="34" charset="-120"/>
              </a:rPr>
              <a:t>MODULE 1</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marL="0" indent="0">
              <a:buNone/>
            </a:pPr>
            <a:r>
              <a:rPr lang="en-US" sz="3400" b="1" dirty="0">
                <a:solidFill>
                  <a:srgbClr val="FFFFFF"/>
                </a:solidFill>
                <a:latin typeface="Arial" pitchFamily="34" charset="0"/>
                <a:ea typeface="Arial" pitchFamily="34" charset="-122"/>
                <a:cs typeface="Arial" pitchFamily="34" charset="-120"/>
              </a:rPr>
              <a:t>Perception Science and Visual Encoding</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marL="0" indent="0">
              <a:buNone/>
            </a:pPr>
            <a:r>
              <a:rPr lang="en-US" sz="1800" dirty="0">
                <a:solidFill>
                  <a:srgbClr val="C9D3EA"/>
                </a:solidFill>
                <a:latin typeface="Arial" pitchFamily="34" charset="0"/>
                <a:ea typeface="Arial" pitchFamily="34" charset="-122"/>
                <a:cs typeface="Arial" pitchFamily="34" charset="-120"/>
              </a:rPr>
              <a:t>علم الإدراك والترميز البصري</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marL="0" indent="0">
              <a:buNone/>
            </a:pPr>
            <a:r>
              <a:rPr lang="en-US" sz="1250" dirty="0">
                <a:solidFill>
                  <a:srgbClr val="AEB8D0"/>
                </a:solidFill>
                <a:latin typeface="Arial" pitchFamily="34" charset="0"/>
                <a:ea typeface="Arial" pitchFamily="34" charset="-122"/>
                <a:cs typeface="Arial" pitchFamily="34" charset="-120"/>
              </a:rPr>
              <a:t>How the eye decodes data — pre-attentive attributes and the encoding-accuracy ranking that make a chart honest.</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MODULE OVERVIEW</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A visualisation is a machine for cognition</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الإدراك البصري</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22</a:t>
            </a:r>
            <a:endParaRPr lang="en-US" sz="800" dirty="0"/>
          </a:p>
        </p:txBody>
      </p:sp>
      <p:sp>
        <p:nvSpPr>
          <p:cNvPr id="15" name="Text 12"/>
          <p:cNvSpPr/>
          <p:nvPr/>
        </p:nvSpPr>
        <p:spPr>
          <a:xfrm>
            <a:off x="548640" y="2377440"/>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Whether a chart works is not a matter of taste — it is a matter of how human perception decodes marks on a screen.</a:t>
            </a:r>
            <a:endParaRPr lang="en-US" sz="1300" dirty="0"/>
          </a:p>
        </p:txBody>
      </p:sp>
      <p:sp>
        <p:nvSpPr>
          <p:cNvPr id="16" name="Shape 13"/>
          <p:cNvSpPr/>
          <p:nvPr/>
        </p:nvSpPr>
        <p:spPr>
          <a:xfrm>
            <a:off x="548640" y="3209544"/>
            <a:ext cx="100584" cy="420624"/>
          </a:xfrm>
          <a:prstGeom prst="rect">
            <a:avLst/>
          </a:prstGeom>
          <a:solidFill>
            <a:srgbClr val="2E5AAC"/>
          </a:solidFill>
          <a:ln/>
        </p:spPr>
      </p:sp>
      <p:sp>
        <p:nvSpPr>
          <p:cNvPr id="17" name="Text 14"/>
          <p:cNvSpPr/>
          <p:nvPr/>
        </p:nvSpPr>
        <p:spPr>
          <a:xfrm>
            <a:off x="804672" y="315468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Offload cognition:  </a:t>
            </a:r>
            <a:r>
              <a:rPr lang="en-US" sz="1250" dirty="0">
                <a:solidFill>
                  <a:srgbClr val="343A4E"/>
                </a:solidFill>
                <a:latin typeface="Arial" pitchFamily="34" charset="0"/>
                <a:ea typeface="Arial" pitchFamily="34" charset="-122"/>
                <a:cs typeface="Arial" pitchFamily="34" charset="-120"/>
              </a:rPr>
              <a:t>A chart hands thinking to the visual system; its job is to be read, not admired.</a:t>
            </a:r>
            <a:endParaRPr lang="en-US" sz="1250" dirty="0"/>
          </a:p>
        </p:txBody>
      </p:sp>
      <p:sp>
        <p:nvSpPr>
          <p:cNvPr id="18" name="Shape 15"/>
          <p:cNvSpPr/>
          <p:nvPr/>
        </p:nvSpPr>
        <p:spPr>
          <a:xfrm>
            <a:off x="548640" y="3776472"/>
            <a:ext cx="100584" cy="420624"/>
          </a:xfrm>
          <a:prstGeom prst="rect">
            <a:avLst/>
          </a:prstGeom>
          <a:solidFill>
            <a:srgbClr val="00A79D"/>
          </a:solidFill>
          <a:ln/>
        </p:spPr>
      </p:sp>
      <p:sp>
        <p:nvSpPr>
          <p:cNvPr id="19" name="Text 16"/>
          <p:cNvSpPr/>
          <p:nvPr/>
        </p:nvSpPr>
        <p:spPr>
          <a:xfrm>
            <a:off x="804672" y="372160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Channel accuracy:  </a:t>
            </a:r>
            <a:r>
              <a:rPr lang="en-US" sz="1250" dirty="0">
                <a:solidFill>
                  <a:srgbClr val="343A4E"/>
                </a:solidFill>
                <a:latin typeface="Arial" pitchFamily="34" charset="0"/>
                <a:ea typeface="Arial" pitchFamily="34" charset="-122"/>
                <a:cs typeface="Arial" pitchFamily="34" charset="-120"/>
              </a:rPr>
              <a:t>Some channels the eye reads precisely, some approximately, some barely at all.</a:t>
            </a:r>
            <a:endParaRPr lang="en-US" sz="1250" dirty="0"/>
          </a:p>
        </p:txBody>
      </p:sp>
      <p:sp>
        <p:nvSpPr>
          <p:cNvPr id="20" name="Shape 17"/>
          <p:cNvSpPr/>
          <p:nvPr/>
        </p:nvSpPr>
        <p:spPr>
          <a:xfrm>
            <a:off x="548640" y="4343400"/>
            <a:ext cx="100584" cy="420624"/>
          </a:xfrm>
          <a:prstGeom prst="rect">
            <a:avLst/>
          </a:prstGeom>
          <a:solidFill>
            <a:srgbClr val="E8833A"/>
          </a:solidFill>
          <a:ln/>
        </p:spPr>
      </p:sp>
      <p:sp>
        <p:nvSpPr>
          <p:cNvPr id="21" name="Text 18"/>
          <p:cNvSpPr/>
          <p:nvPr/>
        </p:nvSpPr>
        <p:spPr>
          <a:xfrm>
            <a:off x="804672" y="4288536"/>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Foundation:  </a:t>
            </a:r>
            <a:r>
              <a:rPr lang="en-US" sz="1250" dirty="0">
                <a:solidFill>
                  <a:srgbClr val="343A4E"/>
                </a:solidFill>
                <a:latin typeface="Arial" pitchFamily="34" charset="0"/>
                <a:ea typeface="Arial" pitchFamily="34" charset="-122"/>
                <a:cs typeface="Arial" pitchFamily="34" charset="-120"/>
              </a:rPr>
              <a:t>Every later design decision — colour, layout, story — rests on this perceptual base.</a:t>
            </a:r>
            <a:endParaRPr lang="en-US" sz="1250" dirty="0"/>
          </a:p>
        </p:txBody>
      </p:sp>
      <p:sp>
        <p:nvSpPr>
          <p:cNvPr id="22" name="Shape 19"/>
          <p:cNvSpPr/>
          <p:nvPr/>
        </p:nvSpPr>
        <p:spPr>
          <a:xfrm>
            <a:off x="548640" y="4910328"/>
            <a:ext cx="100584" cy="420624"/>
          </a:xfrm>
          <a:prstGeom prst="rect">
            <a:avLst/>
          </a:prstGeom>
          <a:solidFill>
            <a:srgbClr val="6C4FA1"/>
          </a:solidFill>
          <a:ln/>
        </p:spPr>
      </p:sp>
      <p:sp>
        <p:nvSpPr>
          <p:cNvPr id="23" name="Text 20"/>
          <p:cNvSpPr/>
          <p:nvPr/>
        </p:nvSpPr>
        <p:spPr>
          <a:xfrm>
            <a:off x="804672" y="485546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Get it right:  </a:t>
            </a:r>
            <a:r>
              <a:rPr lang="en-US" sz="1250" dirty="0">
                <a:solidFill>
                  <a:srgbClr val="343A4E"/>
                </a:solidFill>
                <a:latin typeface="Arial" pitchFamily="34" charset="0"/>
                <a:ea typeface="Arial" pitchFamily="34" charset="-122"/>
                <a:cs typeface="Arial" pitchFamily="34" charset="-120"/>
              </a:rPr>
              <a:t>Honest, effective design becomes almost mechanical once encoding is understood.</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BUSINESS RELEVANCE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cost of a misperceived chart is a bad decision</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23</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Under Vision 2030, Saudi organisations push analytics into executive and ministerial decisions — busy executives glance at charts, they do not work at them.</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Three-second read:  </a:t>
            </a:r>
            <a:r>
              <a:rPr lang="en-US" sz="1250" dirty="0">
                <a:solidFill>
                  <a:srgbClr val="343A4E"/>
                </a:solidFill>
                <a:latin typeface="Arial" pitchFamily="34" charset="0"/>
                <a:ea typeface="Arial" pitchFamily="34" charset="-122"/>
                <a:cs typeface="Arial" pitchFamily="34" charset="-120"/>
              </a:rPr>
              <a:t>Teams who understand encoding ship dashboards read correctly at a glance.</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Decoration is ignored:  </a:t>
            </a:r>
            <a:r>
              <a:rPr lang="en-US" sz="1250" dirty="0">
                <a:solidFill>
                  <a:srgbClr val="343A4E"/>
                </a:solidFill>
                <a:latin typeface="Arial" pitchFamily="34" charset="0"/>
                <a:ea typeface="Arial" pitchFamily="34" charset="-122"/>
                <a:cs typeface="Arial" pitchFamily="34" charset="-120"/>
              </a:rPr>
              <a:t>Teams who do not ship polish that gets skipped or, worse, misread.</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Wrong channel = risk:  </a:t>
            </a:r>
            <a:r>
              <a:rPr lang="en-US" sz="1250" dirty="0">
                <a:solidFill>
                  <a:srgbClr val="343A4E"/>
                </a:solidFill>
                <a:latin typeface="Arial" pitchFamily="34" charset="0"/>
                <a:ea typeface="Arial" pitchFamily="34" charset="-122"/>
                <a:cs typeface="Arial" pitchFamily="34" charset="-120"/>
              </a:rPr>
              <a:t>Encoding the key comparison as a pie angle or colour forces the reader to work.</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Governance:  </a:t>
            </a:r>
            <a:r>
              <a:rPr lang="en-US" sz="1250" dirty="0">
                <a:solidFill>
                  <a:srgbClr val="343A4E"/>
                </a:solidFill>
                <a:latin typeface="Arial" pitchFamily="34" charset="0"/>
                <a:ea typeface="Arial" pitchFamily="34" charset="-122"/>
                <a:cs typeface="Arial" pitchFamily="34" charset="-120"/>
              </a:rPr>
              <a:t>In audited decision packs, a misleading chart is a public-money issue, not cosmetics.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INDUSTRY USE CASES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Where encoding accuracy decides the outcome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24</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marL="0" indent="0" algn="ctr">
              <a:buNone/>
            </a:pPr>
            <a:r>
              <a:rPr lang="en-US" sz="1000" b="1" dirty="0">
                <a:solidFill>
                  <a:srgbClr val="2E5AAC"/>
                </a:solidFill>
                <a:latin typeface="Arial" pitchFamily="34" charset="0"/>
                <a:ea typeface="Arial" pitchFamily="34" charset="-122"/>
                <a:cs typeface="Arial" pitchFamily="34" charset="-120"/>
              </a:rPr>
              <a:t>Gov</a:t>
            </a:r>
            <a:endParaRPr lang="en-US" sz="1000" dirty="0"/>
          </a:p>
        </p:txBody>
      </p:sp>
      <p:sp>
        <p:nvSpPr>
          <p:cNvPr id="18" name="Text 15"/>
          <p:cNvSpPr/>
          <p:nvPr/>
        </p:nvSpPr>
        <p:spPr>
          <a:xfrm>
            <a:off x="731520"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National program office</a:t>
            </a:r>
            <a:endParaRPr lang="en-US" sz="1300" dirty="0"/>
          </a:p>
        </p:txBody>
      </p:sp>
      <p:sp>
        <p:nvSpPr>
          <p:cNvPr id="19" name="Text 16"/>
          <p:cNvSpPr/>
          <p:nvPr/>
        </p:nvSpPr>
        <p:spPr>
          <a:xfrm>
            <a:off x="731520"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 Deputy Minister must grasp at a glance that three regions lag on digital adoption — a position/length comparison, not colour.</a:t>
            </a:r>
            <a:endParaRPr lang="en-US" sz="1050" dirty="0"/>
          </a:p>
        </p:txBody>
      </p:sp>
      <p:sp>
        <p:nvSpPr>
          <p:cNvPr id="20" name="Shape 17"/>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21" name="Shape 18"/>
          <p:cNvSpPr/>
          <p:nvPr/>
        </p:nvSpPr>
        <p:spPr>
          <a:xfrm>
            <a:off x="4338218" y="2066544"/>
            <a:ext cx="3515258" cy="82296"/>
          </a:xfrm>
          <a:prstGeom prst="rect">
            <a:avLst/>
          </a:prstGeom>
          <a:solidFill>
            <a:srgbClr val="00A79D"/>
          </a:solidFill>
          <a:ln/>
        </p:spPr>
      </p:sp>
      <p:sp>
        <p:nvSpPr>
          <p:cNvPr id="22" name="Shape 19"/>
          <p:cNvSpPr/>
          <p:nvPr/>
        </p:nvSpPr>
        <p:spPr>
          <a:xfrm>
            <a:off x="4521098" y="2249424"/>
            <a:ext cx="822960" cy="292608"/>
          </a:xfrm>
          <a:prstGeom prst="roundRect">
            <a:avLst>
              <a:gd name="adj" fmla="val 18750"/>
            </a:avLst>
          </a:prstGeom>
          <a:solidFill>
            <a:srgbClr val="E6F5F4"/>
          </a:solidFill>
          <a:ln/>
        </p:spPr>
      </p:sp>
      <p:sp>
        <p:nvSpPr>
          <p:cNvPr id="23" name="Text 20"/>
          <p:cNvSpPr/>
          <p:nvPr/>
        </p:nvSpPr>
        <p:spPr>
          <a:xfrm>
            <a:off x="4521098" y="2249424"/>
            <a:ext cx="822960" cy="292608"/>
          </a:xfrm>
          <a:prstGeom prst="rect">
            <a:avLst/>
          </a:prstGeom>
          <a:noFill/>
          <a:ln/>
        </p:spPr>
        <p:txBody>
          <a:bodyPr wrap="square" rtlCol="0" anchor="ctr"/>
          <a:lstStyle/>
          <a:p>
            <a:pPr marL="0" indent="0" algn="ctr">
              <a:buNone/>
            </a:pPr>
            <a:r>
              <a:rPr lang="en-US" sz="1000" b="1" dirty="0">
                <a:solidFill>
                  <a:srgbClr val="00A79D"/>
                </a:solidFill>
                <a:latin typeface="Arial" pitchFamily="34" charset="0"/>
                <a:ea typeface="Arial" pitchFamily="34" charset="-122"/>
                <a:cs typeface="Arial" pitchFamily="34" charset="-120"/>
              </a:rPr>
              <a:t>Bank</a:t>
            </a:r>
            <a:endParaRPr lang="en-US" sz="1000" dirty="0"/>
          </a:p>
        </p:txBody>
      </p:sp>
      <p:sp>
        <p:nvSpPr>
          <p:cNvPr id="24" name="Text 21"/>
          <p:cNvSpPr/>
          <p:nvPr/>
        </p:nvSpPr>
        <p:spPr>
          <a:xfrm>
            <a:off x="4521098"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Risk dashboard outlier</a:t>
            </a:r>
            <a:endParaRPr lang="en-US" sz="1300" dirty="0"/>
          </a:p>
        </p:txBody>
      </p:sp>
      <p:sp>
        <p:nvSpPr>
          <p:cNvPr id="25" name="Text 22"/>
          <p:cNvSpPr/>
          <p:nvPr/>
        </p:nvSpPr>
        <p:spPr>
          <a:xfrm>
            <a:off x="4521098"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An analyst must spot the one branch of 400 that is an outlier — only a good position encoding or a pre-attentive colour pop enables it.</a:t>
            </a:r>
            <a:endParaRPr lang="en-US" sz="1050" dirty="0"/>
          </a:p>
        </p:txBody>
      </p:sp>
      <p:sp>
        <p:nvSpPr>
          <p:cNvPr id="26" name="Shape 23"/>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7" name="Shape 24"/>
          <p:cNvSpPr/>
          <p:nvPr/>
        </p:nvSpPr>
        <p:spPr>
          <a:xfrm>
            <a:off x="8127797" y="2066544"/>
            <a:ext cx="3515258" cy="82296"/>
          </a:xfrm>
          <a:prstGeom prst="rect">
            <a:avLst/>
          </a:prstGeom>
          <a:solidFill>
            <a:srgbClr val="E8833A"/>
          </a:solidFill>
          <a:ln/>
        </p:spPr>
      </p:sp>
      <p:sp>
        <p:nvSpPr>
          <p:cNvPr id="28" name="Shape 25"/>
          <p:cNvSpPr/>
          <p:nvPr/>
        </p:nvSpPr>
        <p:spPr>
          <a:xfrm>
            <a:off x="8310677" y="2249424"/>
            <a:ext cx="822960" cy="292608"/>
          </a:xfrm>
          <a:prstGeom prst="roundRect">
            <a:avLst>
              <a:gd name="adj" fmla="val 18750"/>
            </a:avLst>
          </a:prstGeom>
          <a:solidFill>
            <a:srgbClr val="FCF0E6"/>
          </a:solidFill>
          <a:ln/>
        </p:spPr>
      </p:sp>
      <p:sp>
        <p:nvSpPr>
          <p:cNvPr id="29" name="Text 26"/>
          <p:cNvSpPr/>
          <p:nvPr/>
        </p:nvSpPr>
        <p:spPr>
          <a:xfrm>
            <a:off x="8310677" y="2249424"/>
            <a:ext cx="822960" cy="292608"/>
          </a:xfrm>
          <a:prstGeom prst="rect">
            <a:avLst/>
          </a:prstGeom>
          <a:noFill/>
          <a:ln/>
        </p:spPr>
        <p:txBody>
          <a:bodyPr wrap="square" rtlCol="0" anchor="ctr"/>
          <a:lstStyle/>
          <a:p>
            <a:pPr marL="0" indent="0" algn="ctr">
              <a:buNone/>
            </a:pPr>
            <a:r>
              <a:rPr lang="en-US" sz="1000" b="1" dirty="0">
                <a:solidFill>
                  <a:srgbClr val="E8833A"/>
                </a:solidFill>
                <a:latin typeface="Arial" pitchFamily="34" charset="0"/>
                <a:ea typeface="Arial" pitchFamily="34" charset="-122"/>
                <a:cs typeface="Arial" pitchFamily="34" charset="-120"/>
              </a:rPr>
              <a:t>Health</a:t>
            </a:r>
            <a:endParaRPr lang="en-US" sz="1000" dirty="0"/>
          </a:p>
        </p:txBody>
      </p:sp>
      <p:sp>
        <p:nvSpPr>
          <p:cNvPr id="30" name="Text 27"/>
          <p:cNvSpPr/>
          <p:nvPr/>
        </p:nvSpPr>
        <p:spPr>
          <a:xfrm>
            <a:off x="8310677"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Hospital operations screen</a:t>
            </a:r>
            <a:endParaRPr lang="en-US" sz="1300" dirty="0"/>
          </a:p>
        </p:txBody>
      </p:sp>
      <p:sp>
        <p:nvSpPr>
          <p:cNvPr id="31" name="Text 28"/>
          <p:cNvSpPr/>
          <p:nvPr/>
        </p:nvSpPr>
        <p:spPr>
          <a:xfrm>
            <a:off x="8310677"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Nurses must read 'wait times are rising' in peripheral vision — motion and position, never a data table.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EXPECTED COMPETENCIES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What a participant can do after Module 1</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25</a:t>
            </a:r>
            <a:endParaRPr lang="en-US" sz="800" dirty="0"/>
          </a:p>
        </p:txBody>
      </p:sp>
      <p:sp>
        <p:nvSpPr>
          <p:cNvPr id="14" name="Shape 11"/>
          <p:cNvSpPr/>
          <p:nvPr/>
        </p:nvSpPr>
        <p:spPr>
          <a:xfrm>
            <a:off x="548640" y="2121408"/>
            <a:ext cx="100584" cy="420624"/>
          </a:xfrm>
          <a:prstGeom prst="rect">
            <a:avLst/>
          </a:prstGeom>
          <a:solidFill>
            <a:srgbClr val="2E5AAC"/>
          </a:solidFill>
          <a:ln/>
        </p:spPr>
      </p:sp>
      <p:sp>
        <p:nvSpPr>
          <p:cNvPr id="15" name="Text 12"/>
          <p:cNvSpPr/>
          <p:nvPr/>
        </p:nvSpPr>
        <p:spPr>
          <a:xfrm>
            <a:off x="804672" y="206654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Name attributes:  </a:t>
            </a:r>
            <a:r>
              <a:rPr lang="en-US" sz="1250" dirty="0">
                <a:solidFill>
                  <a:srgbClr val="343A4E"/>
                </a:solidFill>
                <a:latin typeface="Arial" pitchFamily="34" charset="0"/>
                <a:ea typeface="Arial" pitchFamily="34" charset="-122"/>
                <a:cs typeface="Arial" pitchFamily="34" charset="-120"/>
              </a:rPr>
              <a:t>List the pre-attentive visual attributes and use them to direct attention.</a:t>
            </a:r>
            <a:endParaRPr lang="en-US" sz="1250" dirty="0"/>
          </a:p>
        </p:txBody>
      </p:sp>
      <p:sp>
        <p:nvSpPr>
          <p:cNvPr id="16" name="Shape 13"/>
          <p:cNvSpPr/>
          <p:nvPr/>
        </p:nvSpPr>
        <p:spPr>
          <a:xfrm>
            <a:off x="548640" y="2688336"/>
            <a:ext cx="100584" cy="420624"/>
          </a:xfrm>
          <a:prstGeom prst="rect">
            <a:avLst/>
          </a:prstGeom>
          <a:solidFill>
            <a:srgbClr val="00A79D"/>
          </a:solidFill>
          <a:ln/>
        </p:spPr>
      </p:sp>
      <p:sp>
        <p:nvSpPr>
          <p:cNvPr id="17" name="Text 14"/>
          <p:cNvSpPr/>
          <p:nvPr/>
        </p:nvSpPr>
        <p:spPr>
          <a:xfrm>
            <a:off x="804672" y="263347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Rank channels:  </a:t>
            </a:r>
            <a:r>
              <a:rPr lang="en-US" sz="1250" dirty="0">
                <a:solidFill>
                  <a:srgbClr val="343A4E"/>
                </a:solidFill>
                <a:latin typeface="Arial" pitchFamily="34" charset="0"/>
                <a:ea typeface="Arial" pitchFamily="34" charset="-122"/>
                <a:cs typeface="Arial" pitchFamily="34" charset="-120"/>
              </a:rPr>
              <a:t>Order the common encoding channels by decoding accuracy (Cleveland–McGill).</a:t>
            </a:r>
            <a:endParaRPr lang="en-US" sz="1250" dirty="0"/>
          </a:p>
        </p:txBody>
      </p:sp>
      <p:sp>
        <p:nvSpPr>
          <p:cNvPr id="18" name="Shape 15"/>
          <p:cNvSpPr/>
          <p:nvPr/>
        </p:nvSpPr>
        <p:spPr>
          <a:xfrm>
            <a:off x="548640" y="3255264"/>
            <a:ext cx="100584" cy="420624"/>
          </a:xfrm>
          <a:prstGeom prst="rect">
            <a:avLst/>
          </a:prstGeom>
          <a:solidFill>
            <a:srgbClr val="E8833A"/>
          </a:solidFill>
          <a:ln/>
        </p:spPr>
      </p:sp>
      <p:sp>
        <p:nvSpPr>
          <p:cNvPr id="19" name="Text 16"/>
          <p:cNvSpPr/>
          <p:nvPr/>
        </p:nvSpPr>
        <p:spPr>
          <a:xfrm>
            <a:off x="804672" y="320040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Predict the chart:  </a:t>
            </a:r>
            <a:r>
              <a:rPr lang="en-US" sz="1250" dirty="0">
                <a:solidFill>
                  <a:srgbClr val="343A4E"/>
                </a:solidFill>
                <a:latin typeface="Arial" pitchFamily="34" charset="0"/>
                <a:ea typeface="Arial" pitchFamily="34" charset="-122"/>
                <a:cs typeface="Arial" pitchFamily="34" charset="-120"/>
              </a:rPr>
              <a:t>Say which chart a given comparison task demands, from the task alone.</a:t>
            </a:r>
            <a:endParaRPr lang="en-US" sz="1250" dirty="0"/>
          </a:p>
        </p:txBody>
      </p:sp>
      <p:sp>
        <p:nvSpPr>
          <p:cNvPr id="20" name="Shape 17"/>
          <p:cNvSpPr/>
          <p:nvPr/>
        </p:nvSpPr>
        <p:spPr>
          <a:xfrm>
            <a:off x="548640" y="3822192"/>
            <a:ext cx="100584" cy="420624"/>
          </a:xfrm>
          <a:prstGeom prst="rect">
            <a:avLst/>
          </a:prstGeom>
          <a:solidFill>
            <a:srgbClr val="6C4FA1"/>
          </a:solidFill>
          <a:ln/>
        </p:spPr>
      </p:sp>
      <p:sp>
        <p:nvSpPr>
          <p:cNvPr id="21" name="Text 18"/>
          <p:cNvSpPr/>
          <p:nvPr/>
        </p:nvSpPr>
        <p:spPr>
          <a:xfrm>
            <a:off x="804672" y="376732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Explain failures:  </a:t>
            </a:r>
            <a:r>
              <a:rPr lang="en-US" sz="1250" dirty="0">
                <a:solidFill>
                  <a:srgbClr val="343A4E"/>
                </a:solidFill>
                <a:latin typeface="Arial" pitchFamily="34" charset="0"/>
                <a:ea typeface="Arial" pitchFamily="34" charset="-122"/>
                <a:cs typeface="Arial" pitchFamily="34" charset="-120"/>
              </a:rPr>
              <a:t>Articulate why pie, 3D, and dual-axis charts systematically mislead.</a:t>
            </a:r>
            <a:endParaRPr lang="en-US" sz="1250" dirty="0"/>
          </a:p>
        </p:txBody>
      </p:sp>
      <p:sp>
        <p:nvSpPr>
          <p:cNvPr id="22" name="Shape 19"/>
          <p:cNvSpPr/>
          <p:nvPr/>
        </p:nvSpPr>
        <p:spPr>
          <a:xfrm>
            <a:off x="548640" y="4389120"/>
            <a:ext cx="100584" cy="420624"/>
          </a:xfrm>
          <a:prstGeom prst="rect">
            <a:avLst/>
          </a:prstGeom>
          <a:solidFill>
            <a:srgbClr val="3FAE5A"/>
          </a:solidFill>
          <a:ln/>
        </p:spPr>
      </p:sp>
      <p:sp>
        <p:nvSpPr>
          <p:cNvPr id="23" name="Text 20"/>
          <p:cNvSpPr/>
          <p:nvPr/>
        </p:nvSpPr>
        <p:spPr>
          <a:xfrm>
            <a:off x="804672" y="4334256"/>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Audit honesty:  </a:t>
            </a:r>
            <a:r>
              <a:rPr lang="en-US" sz="1250" dirty="0">
                <a:solidFill>
                  <a:srgbClr val="343A4E"/>
                </a:solidFill>
                <a:latin typeface="Arial" pitchFamily="34" charset="0"/>
                <a:ea typeface="Arial" pitchFamily="34" charset="-122"/>
                <a:cs typeface="Arial" pitchFamily="34" charset="-120"/>
              </a:rPr>
              <a:t>Inspect an existing chart for perceptual accuracy and honesty.</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LEARNING OBJECTIVES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Objectives mapped to course outcomes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26</a:t>
            </a:r>
            <a:endParaRPr lang="en-US" sz="800" dirty="0"/>
          </a:p>
        </p:txBody>
      </p:sp>
      <p:sp>
        <p:nvSpPr>
          <p:cNvPr id="14" name="Shape 11"/>
          <p:cNvSpPr/>
          <p:nvPr/>
        </p:nvSpPr>
        <p:spPr>
          <a:xfrm>
            <a:off x="548640" y="2103120"/>
            <a:ext cx="11094415" cy="640080"/>
          </a:xfrm>
          <a:prstGeom prst="roundRect">
            <a:avLst>
              <a:gd name="adj" fmla="val 8571"/>
            </a:avLst>
          </a:prstGeom>
          <a:solidFill>
            <a:srgbClr val="FFFFFF"/>
          </a:solidFill>
          <a:ln w="9525">
            <a:solidFill>
              <a:srgbClr val="D9DEE8"/>
            </a:solidFill>
            <a:prstDash val="solid"/>
          </a:ln>
        </p:spPr>
      </p:sp>
      <p:sp>
        <p:nvSpPr>
          <p:cNvPr id="15" name="Shape 12"/>
          <p:cNvSpPr/>
          <p:nvPr/>
        </p:nvSpPr>
        <p:spPr>
          <a:xfrm>
            <a:off x="658368" y="2194560"/>
            <a:ext cx="658368" cy="457200"/>
          </a:xfrm>
          <a:prstGeom prst="roundRect">
            <a:avLst>
              <a:gd name="adj" fmla="val 10000"/>
            </a:avLst>
          </a:prstGeom>
          <a:solidFill>
            <a:srgbClr val="2E5AAC"/>
          </a:solidFill>
          <a:ln/>
        </p:spPr>
      </p:sp>
      <p:sp>
        <p:nvSpPr>
          <p:cNvPr id="16" name="Text 13"/>
          <p:cNvSpPr/>
          <p:nvPr/>
        </p:nvSpPr>
        <p:spPr>
          <a:xfrm>
            <a:off x="658368" y="2194560"/>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1.1</a:t>
            </a:r>
            <a:endParaRPr lang="en-US" sz="1200" dirty="0"/>
          </a:p>
        </p:txBody>
      </p:sp>
      <p:sp>
        <p:nvSpPr>
          <p:cNvPr id="17" name="Text 14"/>
          <p:cNvSpPr/>
          <p:nvPr/>
        </p:nvSpPr>
        <p:spPr>
          <a:xfrm>
            <a:off x="1463040" y="2066544"/>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Identify pre-attentive visual attributes and use them to direct attention</a:t>
            </a:r>
            <a:endParaRPr lang="en-US" sz="1200" dirty="0"/>
          </a:p>
        </p:txBody>
      </p:sp>
      <p:sp>
        <p:nvSpPr>
          <p:cNvPr id="18" name="Shape 15"/>
          <p:cNvSpPr/>
          <p:nvPr/>
        </p:nvSpPr>
        <p:spPr>
          <a:xfrm>
            <a:off x="10317175" y="2276856"/>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76856"/>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LO1</a:t>
            </a:r>
            <a:endParaRPr lang="en-US" sz="950" dirty="0"/>
          </a:p>
        </p:txBody>
      </p:sp>
      <p:sp>
        <p:nvSpPr>
          <p:cNvPr id="20" name="Shape 17"/>
          <p:cNvSpPr/>
          <p:nvPr/>
        </p:nvSpPr>
        <p:spPr>
          <a:xfrm>
            <a:off x="548640" y="2852928"/>
            <a:ext cx="11094415" cy="640080"/>
          </a:xfrm>
          <a:prstGeom prst="roundRect">
            <a:avLst>
              <a:gd name="adj" fmla="val 8571"/>
            </a:avLst>
          </a:prstGeom>
          <a:solidFill>
            <a:srgbClr val="F4F6FB"/>
          </a:solidFill>
          <a:ln w="9525">
            <a:solidFill>
              <a:srgbClr val="D9DEE8"/>
            </a:solidFill>
            <a:prstDash val="solid"/>
          </a:ln>
        </p:spPr>
      </p:sp>
      <p:sp>
        <p:nvSpPr>
          <p:cNvPr id="21" name="Shape 18"/>
          <p:cNvSpPr/>
          <p:nvPr/>
        </p:nvSpPr>
        <p:spPr>
          <a:xfrm>
            <a:off x="658368" y="2944368"/>
            <a:ext cx="658368" cy="457200"/>
          </a:xfrm>
          <a:prstGeom prst="roundRect">
            <a:avLst>
              <a:gd name="adj" fmla="val 10000"/>
            </a:avLst>
          </a:prstGeom>
          <a:solidFill>
            <a:srgbClr val="00A79D"/>
          </a:solidFill>
          <a:ln/>
        </p:spPr>
      </p:sp>
      <p:sp>
        <p:nvSpPr>
          <p:cNvPr id="22" name="Text 19"/>
          <p:cNvSpPr/>
          <p:nvPr/>
        </p:nvSpPr>
        <p:spPr>
          <a:xfrm>
            <a:off x="658368" y="2944368"/>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1.2</a:t>
            </a:r>
            <a:endParaRPr lang="en-US" sz="1200" dirty="0"/>
          </a:p>
        </p:txBody>
      </p:sp>
      <p:sp>
        <p:nvSpPr>
          <p:cNvPr id="23" name="Text 20"/>
          <p:cNvSpPr/>
          <p:nvPr/>
        </p:nvSpPr>
        <p:spPr>
          <a:xfrm>
            <a:off x="1463040" y="2816352"/>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Rank encoding channels by decoding accuracy and choose accordingly</a:t>
            </a:r>
            <a:endParaRPr lang="en-US" sz="1200" dirty="0"/>
          </a:p>
        </p:txBody>
      </p:sp>
      <p:sp>
        <p:nvSpPr>
          <p:cNvPr id="24" name="Shape 21"/>
          <p:cNvSpPr/>
          <p:nvPr/>
        </p:nvSpPr>
        <p:spPr>
          <a:xfrm>
            <a:off x="10317175" y="3026664"/>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3026664"/>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LO1</a:t>
            </a:r>
            <a:endParaRPr lang="en-US" sz="950" dirty="0"/>
          </a:p>
        </p:txBody>
      </p:sp>
      <p:sp>
        <p:nvSpPr>
          <p:cNvPr id="26" name="Shape 23"/>
          <p:cNvSpPr/>
          <p:nvPr/>
        </p:nvSpPr>
        <p:spPr>
          <a:xfrm>
            <a:off x="548640" y="3602736"/>
            <a:ext cx="11094415" cy="640080"/>
          </a:xfrm>
          <a:prstGeom prst="roundRect">
            <a:avLst>
              <a:gd name="adj" fmla="val 8571"/>
            </a:avLst>
          </a:prstGeom>
          <a:solidFill>
            <a:srgbClr val="FFFFFF"/>
          </a:solidFill>
          <a:ln w="9525">
            <a:solidFill>
              <a:srgbClr val="D9DEE8"/>
            </a:solidFill>
            <a:prstDash val="solid"/>
          </a:ln>
        </p:spPr>
      </p:sp>
      <p:sp>
        <p:nvSpPr>
          <p:cNvPr id="27" name="Shape 24"/>
          <p:cNvSpPr/>
          <p:nvPr/>
        </p:nvSpPr>
        <p:spPr>
          <a:xfrm>
            <a:off x="658368" y="3694176"/>
            <a:ext cx="658368" cy="457200"/>
          </a:xfrm>
          <a:prstGeom prst="roundRect">
            <a:avLst>
              <a:gd name="adj" fmla="val 10000"/>
            </a:avLst>
          </a:prstGeom>
          <a:solidFill>
            <a:srgbClr val="E8833A"/>
          </a:solidFill>
          <a:ln/>
        </p:spPr>
      </p:sp>
      <p:sp>
        <p:nvSpPr>
          <p:cNvPr id="28" name="Text 25"/>
          <p:cNvSpPr/>
          <p:nvPr/>
        </p:nvSpPr>
        <p:spPr>
          <a:xfrm>
            <a:off x="658368" y="3694176"/>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1.3</a:t>
            </a:r>
            <a:endParaRPr lang="en-US" sz="1200" dirty="0"/>
          </a:p>
        </p:txBody>
      </p:sp>
      <p:sp>
        <p:nvSpPr>
          <p:cNvPr id="29" name="Text 26"/>
          <p:cNvSpPr/>
          <p:nvPr/>
        </p:nvSpPr>
        <p:spPr>
          <a:xfrm>
            <a:off x="1463040" y="3566160"/>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Explain why pie, 3D, and dual-axis charts systematically mislead</a:t>
            </a:r>
            <a:endParaRPr lang="en-US" sz="1200" dirty="0"/>
          </a:p>
        </p:txBody>
      </p:sp>
      <p:sp>
        <p:nvSpPr>
          <p:cNvPr id="30" name="Shape 27"/>
          <p:cNvSpPr/>
          <p:nvPr/>
        </p:nvSpPr>
        <p:spPr>
          <a:xfrm>
            <a:off x="10317175" y="377647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776472"/>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LO1, LO2</a:t>
            </a:r>
            <a:endParaRPr lang="en-US" sz="950" dirty="0"/>
          </a:p>
        </p:txBody>
      </p:sp>
      <p:sp>
        <p:nvSpPr>
          <p:cNvPr id="32" name="Shape 29"/>
          <p:cNvSpPr/>
          <p:nvPr/>
        </p:nvSpPr>
        <p:spPr>
          <a:xfrm>
            <a:off x="548640" y="4352544"/>
            <a:ext cx="11094415" cy="640080"/>
          </a:xfrm>
          <a:prstGeom prst="roundRect">
            <a:avLst>
              <a:gd name="adj" fmla="val 8571"/>
            </a:avLst>
          </a:prstGeom>
          <a:solidFill>
            <a:srgbClr val="F4F6FB"/>
          </a:solidFill>
          <a:ln w="9525">
            <a:solidFill>
              <a:srgbClr val="D9DEE8"/>
            </a:solidFill>
            <a:prstDash val="solid"/>
          </a:ln>
        </p:spPr>
      </p:sp>
      <p:sp>
        <p:nvSpPr>
          <p:cNvPr id="33" name="Shape 30"/>
          <p:cNvSpPr/>
          <p:nvPr/>
        </p:nvSpPr>
        <p:spPr>
          <a:xfrm>
            <a:off x="658368" y="4443984"/>
            <a:ext cx="658368" cy="457200"/>
          </a:xfrm>
          <a:prstGeom prst="roundRect">
            <a:avLst>
              <a:gd name="adj" fmla="val 10000"/>
            </a:avLst>
          </a:prstGeom>
          <a:solidFill>
            <a:srgbClr val="6C4FA1"/>
          </a:solidFill>
          <a:ln/>
        </p:spPr>
      </p:sp>
      <p:sp>
        <p:nvSpPr>
          <p:cNvPr id="34" name="Text 31"/>
          <p:cNvSpPr/>
          <p:nvPr/>
        </p:nvSpPr>
        <p:spPr>
          <a:xfrm>
            <a:off x="658368" y="4443984"/>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1.4</a:t>
            </a:r>
            <a:endParaRPr lang="en-US" sz="1200" dirty="0"/>
          </a:p>
        </p:txBody>
      </p:sp>
      <p:sp>
        <p:nvSpPr>
          <p:cNvPr id="35" name="Text 32"/>
          <p:cNvSpPr/>
          <p:nvPr/>
        </p:nvSpPr>
        <p:spPr>
          <a:xfrm>
            <a:off x="1463040" y="4315968"/>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Match a comparison task to the visual channel that supports it</a:t>
            </a:r>
            <a:endParaRPr lang="en-US" sz="1200" dirty="0"/>
          </a:p>
        </p:txBody>
      </p:sp>
      <p:sp>
        <p:nvSpPr>
          <p:cNvPr id="36" name="Shape 33"/>
          <p:cNvSpPr/>
          <p:nvPr/>
        </p:nvSpPr>
        <p:spPr>
          <a:xfrm>
            <a:off x="10317175" y="4526280"/>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526280"/>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LO1</a:t>
            </a:r>
            <a:endParaRPr lang="en-US" sz="950" dirty="0"/>
          </a:p>
        </p:txBody>
      </p:sp>
      <p:sp>
        <p:nvSpPr>
          <p:cNvPr id="38" name="Shape 35"/>
          <p:cNvSpPr/>
          <p:nvPr/>
        </p:nvSpPr>
        <p:spPr>
          <a:xfrm>
            <a:off x="548640" y="5102352"/>
            <a:ext cx="11094415" cy="640080"/>
          </a:xfrm>
          <a:prstGeom prst="roundRect">
            <a:avLst>
              <a:gd name="adj" fmla="val 8571"/>
            </a:avLst>
          </a:prstGeom>
          <a:solidFill>
            <a:srgbClr val="FFFFFF"/>
          </a:solidFill>
          <a:ln w="9525">
            <a:solidFill>
              <a:srgbClr val="D9DEE8"/>
            </a:solidFill>
            <a:prstDash val="solid"/>
          </a:ln>
        </p:spPr>
      </p:sp>
      <p:sp>
        <p:nvSpPr>
          <p:cNvPr id="39" name="Shape 36"/>
          <p:cNvSpPr/>
          <p:nvPr/>
        </p:nvSpPr>
        <p:spPr>
          <a:xfrm>
            <a:off x="658368" y="5193792"/>
            <a:ext cx="658368" cy="457200"/>
          </a:xfrm>
          <a:prstGeom prst="roundRect">
            <a:avLst>
              <a:gd name="adj" fmla="val 10000"/>
            </a:avLst>
          </a:prstGeom>
          <a:solidFill>
            <a:srgbClr val="3FAE5A"/>
          </a:solidFill>
          <a:ln/>
        </p:spPr>
      </p:sp>
      <p:sp>
        <p:nvSpPr>
          <p:cNvPr id="40" name="Text 37"/>
          <p:cNvSpPr/>
          <p:nvPr/>
        </p:nvSpPr>
        <p:spPr>
          <a:xfrm>
            <a:off x="658368" y="5193792"/>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1.5</a:t>
            </a:r>
            <a:endParaRPr lang="en-US" sz="1200" dirty="0"/>
          </a:p>
        </p:txBody>
      </p:sp>
      <p:sp>
        <p:nvSpPr>
          <p:cNvPr id="41" name="Text 38"/>
          <p:cNvSpPr/>
          <p:nvPr/>
        </p:nvSpPr>
        <p:spPr>
          <a:xfrm>
            <a:off x="1463040" y="5065776"/>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Audit an existing visualisation for perceptual accuracy and honesty</a:t>
            </a:r>
            <a:endParaRPr lang="en-US" sz="1200" dirty="0"/>
          </a:p>
        </p:txBody>
      </p:sp>
      <p:sp>
        <p:nvSpPr>
          <p:cNvPr id="42" name="Shape 39"/>
          <p:cNvSpPr/>
          <p:nvPr/>
        </p:nvSpPr>
        <p:spPr>
          <a:xfrm>
            <a:off x="10317175" y="5276088"/>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5276088"/>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LO5</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HOW THE EYE READS A CHART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Two stages of perception — design exploits both</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27</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Encode the thing you want noticed in a pre-attentive channel; encode everything else quietly.</a:t>
            </a:r>
            <a:endParaRPr lang="en-US" sz="1250" dirty="0"/>
          </a:p>
        </p:txBody>
      </p:sp>
      <p:sp>
        <p:nvSpPr>
          <p:cNvPr id="15" name="Shape 12"/>
          <p:cNvSpPr/>
          <p:nvPr/>
        </p:nvSpPr>
        <p:spPr>
          <a:xfrm>
            <a:off x="548640" y="2569464"/>
            <a:ext cx="5391760" cy="3465576"/>
          </a:xfrm>
          <a:prstGeom prst="roundRect">
            <a:avLst>
              <a:gd name="adj" fmla="val 2639"/>
            </a:avLst>
          </a:prstGeom>
          <a:solidFill>
            <a:srgbClr val="FFFFFF"/>
          </a:solidFill>
          <a:ln w="17780">
            <a:solidFill>
              <a:srgbClr val="2E5AAC"/>
            </a:solidFill>
            <a:prstDash val="solid"/>
          </a:ln>
        </p:spPr>
      </p:sp>
      <p:sp>
        <p:nvSpPr>
          <p:cNvPr id="16" name="Shape 13"/>
          <p:cNvSpPr/>
          <p:nvPr/>
        </p:nvSpPr>
        <p:spPr>
          <a:xfrm>
            <a:off x="548640" y="2569464"/>
            <a:ext cx="5391760" cy="566928"/>
          </a:xfrm>
          <a:prstGeom prst="roundRect">
            <a:avLst>
              <a:gd name="adj" fmla="val 16129"/>
            </a:avLst>
          </a:prstGeom>
          <a:solidFill>
            <a:srgbClr val="2E5AAC"/>
          </a:solidFill>
          <a:ln/>
        </p:spPr>
      </p:sp>
      <p:sp>
        <p:nvSpPr>
          <p:cNvPr id="17" name="Shape 14"/>
          <p:cNvSpPr/>
          <p:nvPr/>
        </p:nvSpPr>
        <p:spPr>
          <a:xfrm>
            <a:off x="548640" y="2852928"/>
            <a:ext cx="5391760" cy="283464"/>
          </a:xfrm>
          <a:prstGeom prst="rect">
            <a:avLst/>
          </a:prstGeom>
          <a:solidFill>
            <a:srgbClr val="2E5AAC"/>
          </a:solidFill>
          <a:ln/>
        </p:spPr>
      </p:sp>
      <p:sp>
        <p:nvSpPr>
          <p:cNvPr id="18" name="Text 15"/>
          <p:cNvSpPr/>
          <p:nvPr/>
        </p:nvSpPr>
        <p:spPr>
          <a:xfrm>
            <a:off x="640080" y="2569464"/>
            <a:ext cx="5208880"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Pre-attentive processing</a:t>
            </a:r>
            <a:endParaRPr lang="en-US" sz="1400" dirty="0"/>
          </a:p>
        </p:txBody>
      </p:sp>
      <p:sp>
        <p:nvSpPr>
          <p:cNvPr id="19" name="Text 16"/>
          <p:cNvSpPr/>
          <p:nvPr/>
        </p:nvSpPr>
        <p:spPr>
          <a:xfrm>
            <a:off x="749808" y="3300984"/>
            <a:ext cx="5007712"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Parallel &amp; instant </a:t>
            </a:r>
            <a:r>
              <a:rPr lang="en-US" sz="1100" dirty="0">
                <a:solidFill>
                  <a:srgbClr val="343A4E"/>
                </a:solidFill>
                <a:latin typeface="Arial" pitchFamily="34" charset="0"/>
                <a:ea typeface="Arial" pitchFamily="34" charset="-122"/>
                <a:cs typeface="Arial" pitchFamily="34" charset="-120"/>
              </a:rPr>
              <a:t>Massively parallel, sub-250-millisecond stage before you consciously look.</a:t>
            </a:r>
            <a:endParaRPr lang="en-US" sz="1100" dirty="0"/>
          </a:p>
        </p:txBody>
      </p:sp>
      <p:sp>
        <p:nvSpPr>
          <p:cNvPr id="20" name="Text 17"/>
          <p:cNvSpPr/>
          <p:nvPr/>
        </p:nvSpPr>
        <p:spPr>
          <a:xfrm>
            <a:off x="749808" y="3977640"/>
            <a:ext cx="5007712"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Registers channels </a:t>
            </a:r>
            <a:r>
              <a:rPr lang="en-US" sz="1100" dirty="0">
                <a:solidFill>
                  <a:srgbClr val="343A4E"/>
                </a:solidFill>
                <a:latin typeface="Arial" pitchFamily="34" charset="0"/>
                <a:ea typeface="Arial" pitchFamily="34" charset="-122"/>
                <a:cs typeface="Arial" pitchFamily="34" charset="-120"/>
              </a:rPr>
              <a:t>Hue, orientation, size, motion and a few others, across the whole field at once.</a:t>
            </a:r>
            <a:endParaRPr lang="en-US" sz="1100" dirty="0"/>
          </a:p>
        </p:txBody>
      </p:sp>
      <p:sp>
        <p:nvSpPr>
          <p:cNvPr id="21" name="Text 18"/>
          <p:cNvSpPr/>
          <p:nvPr/>
        </p:nvSpPr>
        <p:spPr>
          <a:xfrm>
            <a:off x="749808" y="4654296"/>
            <a:ext cx="5007712"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Pop-out </a:t>
            </a:r>
            <a:r>
              <a:rPr lang="en-US" sz="1100" dirty="0">
                <a:solidFill>
                  <a:srgbClr val="343A4E"/>
                </a:solidFill>
                <a:latin typeface="Arial" pitchFamily="34" charset="0"/>
                <a:ea typeface="Arial" pitchFamily="34" charset="-122"/>
                <a:cs typeface="Arial" pitchFamily="34" charset="-120"/>
              </a:rPr>
              <a:t>One red dot among grey dots pops with zero effort.</a:t>
            </a:r>
            <a:endParaRPr lang="en-US" sz="1100" dirty="0"/>
          </a:p>
        </p:txBody>
      </p:sp>
      <p:sp>
        <p:nvSpPr>
          <p:cNvPr id="22" name="Shape 19"/>
          <p:cNvSpPr/>
          <p:nvPr/>
        </p:nvSpPr>
        <p:spPr>
          <a:xfrm>
            <a:off x="6251296" y="2569464"/>
            <a:ext cx="5391760" cy="3465576"/>
          </a:xfrm>
          <a:prstGeom prst="roundRect">
            <a:avLst>
              <a:gd name="adj" fmla="val 2639"/>
            </a:avLst>
          </a:prstGeom>
          <a:solidFill>
            <a:srgbClr val="FFFFFF"/>
          </a:solidFill>
          <a:ln w="17780">
            <a:solidFill>
              <a:srgbClr val="00A79D"/>
            </a:solidFill>
            <a:prstDash val="solid"/>
          </a:ln>
        </p:spPr>
      </p:sp>
      <p:sp>
        <p:nvSpPr>
          <p:cNvPr id="23" name="Shape 20"/>
          <p:cNvSpPr/>
          <p:nvPr/>
        </p:nvSpPr>
        <p:spPr>
          <a:xfrm>
            <a:off x="6251296" y="2569464"/>
            <a:ext cx="5391760" cy="566928"/>
          </a:xfrm>
          <a:prstGeom prst="roundRect">
            <a:avLst>
              <a:gd name="adj" fmla="val 16129"/>
            </a:avLst>
          </a:prstGeom>
          <a:solidFill>
            <a:srgbClr val="00A79D"/>
          </a:solidFill>
          <a:ln/>
        </p:spPr>
      </p:sp>
      <p:sp>
        <p:nvSpPr>
          <p:cNvPr id="24" name="Shape 21"/>
          <p:cNvSpPr/>
          <p:nvPr/>
        </p:nvSpPr>
        <p:spPr>
          <a:xfrm>
            <a:off x="6251296" y="2852928"/>
            <a:ext cx="5391760" cy="283464"/>
          </a:xfrm>
          <a:prstGeom prst="rect">
            <a:avLst/>
          </a:prstGeom>
          <a:solidFill>
            <a:srgbClr val="00A79D"/>
          </a:solidFill>
          <a:ln/>
        </p:spPr>
      </p:sp>
      <p:sp>
        <p:nvSpPr>
          <p:cNvPr id="25" name="Text 22"/>
          <p:cNvSpPr/>
          <p:nvPr/>
        </p:nvSpPr>
        <p:spPr>
          <a:xfrm>
            <a:off x="6342736" y="2569464"/>
            <a:ext cx="5208880"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Attentive processing</a:t>
            </a:r>
            <a:endParaRPr lang="en-US" sz="1400" dirty="0"/>
          </a:p>
        </p:txBody>
      </p:sp>
      <p:sp>
        <p:nvSpPr>
          <p:cNvPr id="26" name="Text 23"/>
          <p:cNvSpPr/>
          <p:nvPr/>
        </p:nvSpPr>
        <p:spPr>
          <a:xfrm>
            <a:off x="6452464" y="3300984"/>
            <a:ext cx="5007712"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Slow &amp; serial </a:t>
            </a:r>
            <a:r>
              <a:rPr lang="en-US" sz="1100" dirty="0">
                <a:solidFill>
                  <a:srgbClr val="343A4E"/>
                </a:solidFill>
                <a:latin typeface="Arial" pitchFamily="34" charset="0"/>
                <a:ea typeface="Arial" pitchFamily="34" charset="-122"/>
                <a:cs typeface="Arial" pitchFamily="34" charset="-120"/>
              </a:rPr>
              <a:t>Effortful stage: reading text, comparing exact values, following a legend.</a:t>
            </a:r>
            <a:endParaRPr lang="en-US" sz="1100" dirty="0"/>
          </a:p>
        </p:txBody>
      </p:sp>
      <p:sp>
        <p:nvSpPr>
          <p:cNvPr id="27" name="Text 24"/>
          <p:cNvSpPr/>
          <p:nvPr/>
        </p:nvSpPr>
        <p:spPr>
          <a:xfrm>
            <a:off x="6452464" y="3977640"/>
            <a:ext cx="5007712"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Serial search </a:t>
            </a:r>
            <a:r>
              <a:rPr lang="en-US" sz="1100" dirty="0">
                <a:solidFill>
                  <a:srgbClr val="343A4E"/>
                </a:solidFill>
                <a:latin typeface="Arial" pitchFamily="34" charset="0"/>
                <a:ea typeface="Arial" pitchFamily="34" charset="-122"/>
                <a:cs typeface="Arial" pitchFamily="34" charset="-120"/>
              </a:rPr>
              <a:t>Finding the digit 5 among other digits requires slow serial hunting.</a:t>
            </a:r>
            <a:endParaRPr lang="en-US" sz="1100" dirty="0"/>
          </a:p>
        </p:txBody>
      </p:sp>
      <p:sp>
        <p:nvSpPr>
          <p:cNvPr id="28" name="Text 25"/>
          <p:cNvSpPr/>
          <p:nvPr/>
        </p:nvSpPr>
        <p:spPr>
          <a:xfrm>
            <a:off x="6452464" y="4654296"/>
            <a:ext cx="5007712"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Common failure </a:t>
            </a:r>
            <a:r>
              <a:rPr lang="en-US" sz="1100" dirty="0">
                <a:solidFill>
                  <a:srgbClr val="343A4E"/>
                </a:solidFill>
                <a:latin typeface="Arial" pitchFamily="34" charset="0"/>
                <a:ea typeface="Arial" pitchFamily="34" charset="-122"/>
                <a:cs typeface="Arial" pitchFamily="34" charset="-120"/>
              </a:rPr>
              <a:t>Dashboards spend bright colour and 3D on chrome, leaving the signal to be searched for.</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PRE-ATTENTIVE ATTRIBUTES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channels the eye reads in parallel</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28</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Worth naming in class — salience here is a different question from accuracy, ranked next.</a:t>
            </a:r>
            <a:endParaRPr lang="en-US" sz="1250" dirty="0"/>
          </a:p>
        </p:txBody>
      </p:sp>
      <p:sp>
        <p:nvSpPr>
          <p:cNvPr id="15" name="Shape 12"/>
          <p:cNvSpPr/>
          <p:nvPr/>
        </p:nvSpPr>
        <p:spPr>
          <a:xfrm>
            <a:off x="548640" y="2569464"/>
            <a:ext cx="3515258" cy="996696"/>
          </a:xfrm>
          <a:prstGeom prst="roundRect">
            <a:avLst>
              <a:gd name="adj" fmla="val 7339"/>
            </a:avLst>
          </a:prstGeom>
          <a:solidFill>
            <a:srgbClr val="FFFFFF"/>
          </a:solidFill>
          <a:ln w="12700">
            <a:solidFill>
              <a:srgbClr val="D9DEE8"/>
            </a:solidFill>
            <a:prstDash val="solid"/>
          </a:ln>
        </p:spPr>
      </p:sp>
      <p:sp>
        <p:nvSpPr>
          <p:cNvPr id="16" name="Shape 13"/>
          <p:cNvSpPr/>
          <p:nvPr/>
        </p:nvSpPr>
        <p:spPr>
          <a:xfrm>
            <a:off x="548640" y="2569464"/>
            <a:ext cx="3515258" cy="82296"/>
          </a:xfrm>
          <a:prstGeom prst="rect">
            <a:avLst/>
          </a:prstGeom>
          <a:solidFill>
            <a:srgbClr val="2E5AAC"/>
          </a:solidFill>
          <a:ln/>
        </p:spPr>
      </p:sp>
      <p:sp>
        <p:nvSpPr>
          <p:cNvPr id="17" name="Text 14"/>
          <p:cNvSpPr/>
          <p:nvPr/>
        </p:nvSpPr>
        <p:spPr>
          <a:xfrm>
            <a:off x="731520" y="275234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Hue</a:t>
            </a:r>
            <a:endParaRPr lang="en-US" sz="1300" dirty="0"/>
          </a:p>
        </p:txBody>
      </p:sp>
      <p:sp>
        <p:nvSpPr>
          <p:cNvPr id="18" name="Text 15"/>
          <p:cNvSpPr/>
          <p:nvPr/>
        </p:nvSpPr>
        <p:spPr>
          <a:xfrm>
            <a:off x="731520" y="3118104"/>
            <a:ext cx="314949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Colour category — the classic red-among-grey pop-out.</a:t>
            </a:r>
            <a:endParaRPr lang="en-US" sz="1050" dirty="0"/>
          </a:p>
        </p:txBody>
      </p:sp>
      <p:sp>
        <p:nvSpPr>
          <p:cNvPr id="19" name="Shape 16"/>
          <p:cNvSpPr/>
          <p:nvPr/>
        </p:nvSpPr>
        <p:spPr>
          <a:xfrm>
            <a:off x="4338218" y="2569464"/>
            <a:ext cx="3515258" cy="996696"/>
          </a:xfrm>
          <a:prstGeom prst="roundRect">
            <a:avLst>
              <a:gd name="adj" fmla="val 7339"/>
            </a:avLst>
          </a:prstGeom>
          <a:solidFill>
            <a:srgbClr val="FFFFFF"/>
          </a:solidFill>
          <a:ln w="12700">
            <a:solidFill>
              <a:srgbClr val="D9DEE8"/>
            </a:solidFill>
            <a:prstDash val="solid"/>
          </a:ln>
        </p:spPr>
      </p:sp>
      <p:sp>
        <p:nvSpPr>
          <p:cNvPr id="20" name="Shape 17"/>
          <p:cNvSpPr/>
          <p:nvPr/>
        </p:nvSpPr>
        <p:spPr>
          <a:xfrm>
            <a:off x="4338218" y="2569464"/>
            <a:ext cx="3515258" cy="82296"/>
          </a:xfrm>
          <a:prstGeom prst="rect">
            <a:avLst/>
          </a:prstGeom>
          <a:solidFill>
            <a:srgbClr val="00A79D"/>
          </a:solidFill>
          <a:ln/>
        </p:spPr>
      </p:sp>
      <p:sp>
        <p:nvSpPr>
          <p:cNvPr id="21" name="Text 18"/>
          <p:cNvSpPr/>
          <p:nvPr/>
        </p:nvSpPr>
        <p:spPr>
          <a:xfrm>
            <a:off x="4521098" y="275234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Intensity / saturation</a:t>
            </a:r>
            <a:endParaRPr lang="en-US" sz="1300" dirty="0"/>
          </a:p>
        </p:txBody>
      </p:sp>
      <p:sp>
        <p:nvSpPr>
          <p:cNvPr id="22" name="Text 19"/>
          <p:cNvSpPr/>
          <p:nvPr/>
        </p:nvSpPr>
        <p:spPr>
          <a:xfrm>
            <a:off x="4521098" y="3118104"/>
            <a:ext cx="314949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Colour strength; good for pattern, weak for exact values.</a:t>
            </a:r>
            <a:endParaRPr lang="en-US" sz="1050" dirty="0"/>
          </a:p>
        </p:txBody>
      </p:sp>
      <p:sp>
        <p:nvSpPr>
          <p:cNvPr id="23" name="Shape 20"/>
          <p:cNvSpPr/>
          <p:nvPr/>
        </p:nvSpPr>
        <p:spPr>
          <a:xfrm>
            <a:off x="8127797" y="2569464"/>
            <a:ext cx="3515258" cy="996696"/>
          </a:xfrm>
          <a:prstGeom prst="roundRect">
            <a:avLst>
              <a:gd name="adj" fmla="val 7339"/>
            </a:avLst>
          </a:prstGeom>
          <a:solidFill>
            <a:srgbClr val="FFFFFF"/>
          </a:solidFill>
          <a:ln w="12700">
            <a:solidFill>
              <a:srgbClr val="D9DEE8"/>
            </a:solidFill>
            <a:prstDash val="solid"/>
          </a:ln>
        </p:spPr>
      </p:sp>
      <p:sp>
        <p:nvSpPr>
          <p:cNvPr id="24" name="Shape 21"/>
          <p:cNvSpPr/>
          <p:nvPr/>
        </p:nvSpPr>
        <p:spPr>
          <a:xfrm>
            <a:off x="8127797" y="2569464"/>
            <a:ext cx="3515258" cy="82296"/>
          </a:xfrm>
          <a:prstGeom prst="rect">
            <a:avLst/>
          </a:prstGeom>
          <a:solidFill>
            <a:srgbClr val="E8833A"/>
          </a:solidFill>
          <a:ln/>
        </p:spPr>
      </p:sp>
      <p:sp>
        <p:nvSpPr>
          <p:cNvPr id="25" name="Text 22"/>
          <p:cNvSpPr/>
          <p:nvPr/>
        </p:nvSpPr>
        <p:spPr>
          <a:xfrm>
            <a:off x="8310677" y="275234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Size</a:t>
            </a:r>
            <a:endParaRPr lang="en-US" sz="1300" dirty="0"/>
          </a:p>
        </p:txBody>
      </p:sp>
      <p:sp>
        <p:nvSpPr>
          <p:cNvPr id="26" name="Text 23"/>
          <p:cNvSpPr/>
          <p:nvPr/>
        </p:nvSpPr>
        <p:spPr>
          <a:xfrm>
            <a:off x="8310677" y="3118104"/>
            <a:ext cx="314949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Overall mark size, read approximately.</a:t>
            </a:r>
            <a:endParaRPr lang="en-US" sz="1050" dirty="0"/>
          </a:p>
        </p:txBody>
      </p:sp>
      <p:sp>
        <p:nvSpPr>
          <p:cNvPr id="27" name="Shape 24"/>
          <p:cNvSpPr/>
          <p:nvPr/>
        </p:nvSpPr>
        <p:spPr>
          <a:xfrm>
            <a:off x="548640" y="3803904"/>
            <a:ext cx="3515258" cy="996696"/>
          </a:xfrm>
          <a:prstGeom prst="roundRect">
            <a:avLst>
              <a:gd name="adj" fmla="val 7339"/>
            </a:avLst>
          </a:prstGeom>
          <a:solidFill>
            <a:srgbClr val="FFFFFF"/>
          </a:solidFill>
          <a:ln w="12700">
            <a:solidFill>
              <a:srgbClr val="D9DEE8"/>
            </a:solidFill>
            <a:prstDash val="solid"/>
          </a:ln>
        </p:spPr>
      </p:sp>
      <p:sp>
        <p:nvSpPr>
          <p:cNvPr id="28" name="Shape 25"/>
          <p:cNvSpPr/>
          <p:nvPr/>
        </p:nvSpPr>
        <p:spPr>
          <a:xfrm>
            <a:off x="548640" y="3803904"/>
            <a:ext cx="3515258" cy="82296"/>
          </a:xfrm>
          <a:prstGeom prst="rect">
            <a:avLst/>
          </a:prstGeom>
          <a:solidFill>
            <a:srgbClr val="6C4FA1"/>
          </a:solidFill>
          <a:ln/>
        </p:spPr>
      </p:sp>
      <p:sp>
        <p:nvSpPr>
          <p:cNvPr id="29" name="Text 26"/>
          <p:cNvSpPr/>
          <p:nvPr/>
        </p:nvSpPr>
        <p:spPr>
          <a:xfrm>
            <a:off x="731520" y="398678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Orientation / angle</a:t>
            </a:r>
            <a:endParaRPr lang="en-US" sz="1300" dirty="0"/>
          </a:p>
        </p:txBody>
      </p:sp>
      <p:sp>
        <p:nvSpPr>
          <p:cNvPr id="30" name="Text 27"/>
          <p:cNvSpPr/>
          <p:nvPr/>
        </p:nvSpPr>
        <p:spPr>
          <a:xfrm>
            <a:off x="731520" y="4352544"/>
            <a:ext cx="314949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Tilt or slope of a mark.</a:t>
            </a:r>
            <a:endParaRPr lang="en-US" sz="1050" dirty="0"/>
          </a:p>
        </p:txBody>
      </p:sp>
      <p:sp>
        <p:nvSpPr>
          <p:cNvPr id="31" name="Shape 28"/>
          <p:cNvSpPr/>
          <p:nvPr/>
        </p:nvSpPr>
        <p:spPr>
          <a:xfrm>
            <a:off x="4338218" y="3803904"/>
            <a:ext cx="3515258" cy="996696"/>
          </a:xfrm>
          <a:prstGeom prst="roundRect">
            <a:avLst>
              <a:gd name="adj" fmla="val 7339"/>
            </a:avLst>
          </a:prstGeom>
          <a:solidFill>
            <a:srgbClr val="FFFFFF"/>
          </a:solidFill>
          <a:ln w="12700">
            <a:solidFill>
              <a:srgbClr val="D9DEE8"/>
            </a:solidFill>
            <a:prstDash val="solid"/>
          </a:ln>
        </p:spPr>
      </p:sp>
      <p:sp>
        <p:nvSpPr>
          <p:cNvPr id="32" name="Shape 29"/>
          <p:cNvSpPr/>
          <p:nvPr/>
        </p:nvSpPr>
        <p:spPr>
          <a:xfrm>
            <a:off x="4338218" y="3803904"/>
            <a:ext cx="3515258" cy="82296"/>
          </a:xfrm>
          <a:prstGeom prst="rect">
            <a:avLst/>
          </a:prstGeom>
          <a:solidFill>
            <a:srgbClr val="3FAE5A"/>
          </a:solidFill>
          <a:ln/>
        </p:spPr>
      </p:sp>
      <p:sp>
        <p:nvSpPr>
          <p:cNvPr id="33" name="Text 30"/>
          <p:cNvSpPr/>
          <p:nvPr/>
        </p:nvSpPr>
        <p:spPr>
          <a:xfrm>
            <a:off x="4521098" y="398678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Length</a:t>
            </a:r>
            <a:endParaRPr lang="en-US" sz="1300" dirty="0"/>
          </a:p>
        </p:txBody>
      </p:sp>
      <p:sp>
        <p:nvSpPr>
          <p:cNvPr id="34" name="Text 31"/>
          <p:cNvSpPr/>
          <p:nvPr/>
        </p:nvSpPr>
        <p:spPr>
          <a:xfrm>
            <a:off x="4521098" y="4352544"/>
            <a:ext cx="314949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Extent of a bar or line.</a:t>
            </a:r>
            <a:endParaRPr lang="en-US" sz="1050" dirty="0"/>
          </a:p>
        </p:txBody>
      </p:sp>
      <p:sp>
        <p:nvSpPr>
          <p:cNvPr id="35" name="Shape 32"/>
          <p:cNvSpPr/>
          <p:nvPr/>
        </p:nvSpPr>
        <p:spPr>
          <a:xfrm>
            <a:off x="8127797" y="3803904"/>
            <a:ext cx="3515258" cy="996696"/>
          </a:xfrm>
          <a:prstGeom prst="roundRect">
            <a:avLst>
              <a:gd name="adj" fmla="val 7339"/>
            </a:avLst>
          </a:prstGeom>
          <a:solidFill>
            <a:srgbClr val="FFFFFF"/>
          </a:solidFill>
          <a:ln w="12700">
            <a:solidFill>
              <a:srgbClr val="D9DEE8"/>
            </a:solidFill>
            <a:prstDash val="solid"/>
          </a:ln>
        </p:spPr>
      </p:sp>
      <p:sp>
        <p:nvSpPr>
          <p:cNvPr id="36" name="Shape 33"/>
          <p:cNvSpPr/>
          <p:nvPr/>
        </p:nvSpPr>
        <p:spPr>
          <a:xfrm>
            <a:off x="8127797" y="3803904"/>
            <a:ext cx="3515258" cy="82296"/>
          </a:xfrm>
          <a:prstGeom prst="rect">
            <a:avLst/>
          </a:prstGeom>
          <a:solidFill>
            <a:srgbClr val="29ABE2"/>
          </a:solidFill>
          <a:ln/>
        </p:spPr>
      </p:sp>
      <p:sp>
        <p:nvSpPr>
          <p:cNvPr id="37" name="Text 34"/>
          <p:cNvSpPr/>
          <p:nvPr/>
        </p:nvSpPr>
        <p:spPr>
          <a:xfrm>
            <a:off x="8310677" y="398678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Position (2D)</a:t>
            </a:r>
            <a:endParaRPr lang="en-US" sz="1300" dirty="0"/>
          </a:p>
        </p:txBody>
      </p:sp>
      <p:sp>
        <p:nvSpPr>
          <p:cNvPr id="38" name="Text 35"/>
          <p:cNvSpPr/>
          <p:nvPr/>
        </p:nvSpPr>
        <p:spPr>
          <a:xfrm>
            <a:off x="8310677" y="4352544"/>
            <a:ext cx="314949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Location in the plane — the most accurate of all.</a:t>
            </a:r>
            <a:endParaRPr lang="en-US" sz="1050" dirty="0"/>
          </a:p>
        </p:txBody>
      </p:sp>
      <p:sp>
        <p:nvSpPr>
          <p:cNvPr id="39" name="Shape 36"/>
          <p:cNvSpPr/>
          <p:nvPr/>
        </p:nvSpPr>
        <p:spPr>
          <a:xfrm>
            <a:off x="548640" y="5038344"/>
            <a:ext cx="3515258" cy="996696"/>
          </a:xfrm>
          <a:prstGeom prst="roundRect">
            <a:avLst>
              <a:gd name="adj" fmla="val 7339"/>
            </a:avLst>
          </a:prstGeom>
          <a:solidFill>
            <a:srgbClr val="FFFFFF"/>
          </a:solidFill>
          <a:ln w="12700">
            <a:solidFill>
              <a:srgbClr val="D9DEE8"/>
            </a:solidFill>
            <a:prstDash val="solid"/>
          </a:ln>
        </p:spPr>
      </p:sp>
      <p:sp>
        <p:nvSpPr>
          <p:cNvPr id="40" name="Shape 37"/>
          <p:cNvSpPr/>
          <p:nvPr/>
        </p:nvSpPr>
        <p:spPr>
          <a:xfrm>
            <a:off x="548640" y="5038344"/>
            <a:ext cx="3515258" cy="82296"/>
          </a:xfrm>
          <a:prstGeom prst="rect">
            <a:avLst/>
          </a:prstGeom>
          <a:solidFill>
            <a:srgbClr val="D9534F"/>
          </a:solidFill>
          <a:ln/>
        </p:spPr>
      </p:sp>
      <p:sp>
        <p:nvSpPr>
          <p:cNvPr id="41" name="Text 38"/>
          <p:cNvSpPr/>
          <p:nvPr/>
        </p:nvSpPr>
        <p:spPr>
          <a:xfrm>
            <a:off x="731520" y="522122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Shape</a:t>
            </a:r>
            <a:endParaRPr lang="en-US" sz="1300" dirty="0"/>
          </a:p>
        </p:txBody>
      </p:sp>
      <p:sp>
        <p:nvSpPr>
          <p:cNvPr id="42" name="Text 39"/>
          <p:cNvSpPr/>
          <p:nvPr/>
        </p:nvSpPr>
        <p:spPr>
          <a:xfrm>
            <a:off x="731520" y="5586984"/>
            <a:ext cx="314949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Glyph form; categorical, not quantitative.</a:t>
            </a:r>
            <a:endParaRPr lang="en-US" sz="1050" dirty="0"/>
          </a:p>
        </p:txBody>
      </p:sp>
      <p:sp>
        <p:nvSpPr>
          <p:cNvPr id="43" name="Shape 40"/>
          <p:cNvSpPr/>
          <p:nvPr/>
        </p:nvSpPr>
        <p:spPr>
          <a:xfrm>
            <a:off x="4338218" y="5038344"/>
            <a:ext cx="3515258" cy="996696"/>
          </a:xfrm>
          <a:prstGeom prst="roundRect">
            <a:avLst>
              <a:gd name="adj" fmla="val 7339"/>
            </a:avLst>
          </a:prstGeom>
          <a:solidFill>
            <a:srgbClr val="FFFFFF"/>
          </a:solidFill>
          <a:ln w="12700">
            <a:solidFill>
              <a:srgbClr val="D9DEE8"/>
            </a:solidFill>
            <a:prstDash val="solid"/>
          </a:ln>
        </p:spPr>
      </p:sp>
      <p:sp>
        <p:nvSpPr>
          <p:cNvPr id="44" name="Shape 41"/>
          <p:cNvSpPr/>
          <p:nvPr/>
        </p:nvSpPr>
        <p:spPr>
          <a:xfrm>
            <a:off x="4338218" y="5038344"/>
            <a:ext cx="3515258" cy="82296"/>
          </a:xfrm>
          <a:prstGeom prst="rect">
            <a:avLst/>
          </a:prstGeom>
          <a:solidFill>
            <a:srgbClr val="E6B325"/>
          </a:solidFill>
          <a:ln/>
        </p:spPr>
      </p:sp>
      <p:sp>
        <p:nvSpPr>
          <p:cNvPr id="45" name="Text 42"/>
          <p:cNvSpPr/>
          <p:nvPr/>
        </p:nvSpPr>
        <p:spPr>
          <a:xfrm>
            <a:off x="4521098" y="522122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Enclosure</a:t>
            </a:r>
            <a:endParaRPr lang="en-US" sz="1300" dirty="0"/>
          </a:p>
        </p:txBody>
      </p:sp>
      <p:sp>
        <p:nvSpPr>
          <p:cNvPr id="46" name="Text 43"/>
          <p:cNvSpPr/>
          <p:nvPr/>
        </p:nvSpPr>
        <p:spPr>
          <a:xfrm>
            <a:off x="4521098" y="5586984"/>
            <a:ext cx="314949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Boxing or grouping marks to bind them.</a:t>
            </a:r>
            <a:endParaRPr lang="en-US" sz="1050" dirty="0"/>
          </a:p>
        </p:txBody>
      </p:sp>
      <p:sp>
        <p:nvSpPr>
          <p:cNvPr id="47" name="Shape 44"/>
          <p:cNvSpPr/>
          <p:nvPr/>
        </p:nvSpPr>
        <p:spPr>
          <a:xfrm>
            <a:off x="8127797" y="5038344"/>
            <a:ext cx="3515258" cy="996696"/>
          </a:xfrm>
          <a:prstGeom prst="roundRect">
            <a:avLst>
              <a:gd name="adj" fmla="val 7339"/>
            </a:avLst>
          </a:prstGeom>
          <a:solidFill>
            <a:srgbClr val="FFFFFF"/>
          </a:solidFill>
          <a:ln w="12700">
            <a:solidFill>
              <a:srgbClr val="D9DEE8"/>
            </a:solidFill>
            <a:prstDash val="solid"/>
          </a:ln>
        </p:spPr>
      </p:sp>
      <p:sp>
        <p:nvSpPr>
          <p:cNvPr id="48" name="Shape 45"/>
          <p:cNvSpPr/>
          <p:nvPr/>
        </p:nvSpPr>
        <p:spPr>
          <a:xfrm>
            <a:off x="8127797" y="5038344"/>
            <a:ext cx="3515258" cy="82296"/>
          </a:xfrm>
          <a:prstGeom prst="rect">
            <a:avLst/>
          </a:prstGeom>
          <a:solidFill>
            <a:srgbClr val="2E5AAC"/>
          </a:solidFill>
          <a:ln/>
        </p:spPr>
      </p:sp>
      <p:sp>
        <p:nvSpPr>
          <p:cNvPr id="49" name="Text 46"/>
          <p:cNvSpPr/>
          <p:nvPr/>
        </p:nvSpPr>
        <p:spPr>
          <a:xfrm>
            <a:off x="8310677" y="522122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Added marks &amp; motion</a:t>
            </a:r>
            <a:endParaRPr lang="en-US" sz="1300" dirty="0"/>
          </a:p>
        </p:txBody>
      </p:sp>
      <p:sp>
        <p:nvSpPr>
          <p:cNvPr id="50" name="Text 47"/>
          <p:cNvSpPr/>
          <p:nvPr/>
        </p:nvSpPr>
        <p:spPr>
          <a:xfrm>
            <a:off x="8310677" y="5586984"/>
            <a:ext cx="314949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Extra marks, and movement — powerful in peripheral vision.</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ENCODING-ACCURACY HIERARCHY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Cleveland–McGill: the key table of the course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29</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00" dirty="0">
                <a:solidFill>
                  <a:srgbClr val="343A4E"/>
                </a:solidFill>
                <a:latin typeface="Arial" pitchFamily="34" charset="0"/>
                <a:ea typeface="Arial" pitchFamily="34" charset="-122"/>
                <a:cs typeface="Arial" pitchFamily="34" charset="-120"/>
              </a:rPr>
              <a:t>Measured in 1984 — how accurately people decode quantitative values from each channel, most to least accurate.</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11064240" cy="3493008"/>
        </p:xfrm>
        <a:graphic>
          <a:graphicData uri="http://schemas.openxmlformats.org/drawingml/2006/table">
            <a:tbl>
              <a:tblPr/>
              <a:tblGrid>
                <a:gridCol w="19202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Rank</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Channel</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Decoding accuracy</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Position on a common scale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Best — use for your key comparison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Position on non-aligned scales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Very good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Length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Good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Angle / slope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Moderate — routinely misjudged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Area</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Poor — perceived as ~0.7 power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6</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Volume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Worse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7</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Colour saturation / intensity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Worst for exact values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6" name="Text 12"/>
          <p:cNvSpPr/>
          <p:nvPr/>
        </p:nvSpPr>
        <p:spPr>
          <a:xfrm>
            <a:off x="548640" y="6126480"/>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Rule: match the channel's accuracy to the precision the task requires.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CHARTS THAT MISLEAD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Why pie, 3D, and dual-axis fail — perceptually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30</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Each fails for a reason participants must be able to name, not just dislike.</a:t>
            </a:r>
            <a:endParaRPr lang="en-US" sz="1250" dirty="0"/>
          </a:p>
        </p:txBody>
      </p:sp>
      <p:sp>
        <p:nvSpPr>
          <p:cNvPr id="15" name="Shape 12"/>
          <p:cNvSpPr/>
          <p:nvPr/>
        </p:nvSpPr>
        <p:spPr>
          <a:xfrm>
            <a:off x="548640" y="2569464"/>
            <a:ext cx="3515258" cy="2011680"/>
          </a:xfrm>
          <a:prstGeom prst="roundRect">
            <a:avLst>
              <a:gd name="adj" fmla="val 3636"/>
            </a:avLst>
          </a:prstGeom>
          <a:solidFill>
            <a:srgbClr val="FFFFFF"/>
          </a:solidFill>
          <a:ln w="12700">
            <a:solidFill>
              <a:srgbClr val="D9DEE8"/>
            </a:solidFill>
            <a:prstDash val="solid"/>
          </a:ln>
        </p:spPr>
      </p:sp>
      <p:sp>
        <p:nvSpPr>
          <p:cNvPr id="16" name="Shape 13"/>
          <p:cNvSpPr/>
          <p:nvPr/>
        </p:nvSpPr>
        <p:spPr>
          <a:xfrm>
            <a:off x="548640" y="2569464"/>
            <a:ext cx="3515258" cy="82296"/>
          </a:xfrm>
          <a:prstGeom prst="rect">
            <a:avLst/>
          </a:prstGeom>
          <a:solidFill>
            <a:srgbClr val="2E5AAC"/>
          </a:solidFill>
          <a:ln/>
        </p:spPr>
      </p:sp>
      <p:sp>
        <p:nvSpPr>
          <p:cNvPr id="17" name="Shape 14"/>
          <p:cNvSpPr/>
          <p:nvPr/>
        </p:nvSpPr>
        <p:spPr>
          <a:xfrm>
            <a:off x="731520" y="2752344"/>
            <a:ext cx="822960" cy="292608"/>
          </a:xfrm>
          <a:prstGeom prst="roundRect">
            <a:avLst>
              <a:gd name="adj" fmla="val 18750"/>
            </a:avLst>
          </a:prstGeom>
          <a:solidFill>
            <a:srgbClr val="EAF0FA"/>
          </a:solidFill>
          <a:ln/>
        </p:spPr>
      </p:sp>
      <p:sp>
        <p:nvSpPr>
          <p:cNvPr id="18" name="Text 15"/>
          <p:cNvSpPr/>
          <p:nvPr/>
        </p:nvSpPr>
        <p:spPr>
          <a:xfrm>
            <a:off x="731520" y="2752344"/>
            <a:ext cx="822960" cy="292608"/>
          </a:xfrm>
          <a:prstGeom prst="rect">
            <a:avLst/>
          </a:prstGeom>
          <a:noFill/>
          <a:ln/>
        </p:spPr>
        <p:txBody>
          <a:bodyPr wrap="square" rtlCol="0" anchor="ctr"/>
          <a:lstStyle/>
          <a:p>
            <a:pPr marL="0" indent="0" algn="ctr">
              <a:buNone/>
            </a:pPr>
            <a:r>
              <a:rPr lang="en-US" sz="1000" b="1" dirty="0">
                <a:solidFill>
                  <a:srgbClr val="2E5AAC"/>
                </a:solidFill>
                <a:latin typeface="Arial" pitchFamily="34" charset="0"/>
                <a:ea typeface="Arial" pitchFamily="34" charset="-122"/>
                <a:cs typeface="Arial" pitchFamily="34" charset="-120"/>
              </a:rPr>
              <a:t>Pie</a:t>
            </a:r>
            <a:endParaRPr lang="en-US" sz="1000" dirty="0"/>
          </a:p>
        </p:txBody>
      </p:sp>
      <p:sp>
        <p:nvSpPr>
          <p:cNvPr id="19" name="Text 16"/>
          <p:cNvSpPr/>
          <p:nvPr/>
        </p:nvSpPr>
        <p:spPr>
          <a:xfrm>
            <a:off x="731520" y="313639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Angle/area for part-to-whole</a:t>
            </a:r>
            <a:endParaRPr lang="en-US" sz="1300" dirty="0"/>
          </a:p>
        </p:txBody>
      </p:sp>
      <p:sp>
        <p:nvSpPr>
          <p:cNvPr id="20" name="Text 17"/>
          <p:cNvSpPr/>
          <p:nvPr/>
        </p:nvSpPr>
        <p:spPr>
          <a:xfrm>
            <a:off x="731520" y="3703320"/>
            <a:ext cx="3149498" cy="768096"/>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Forces rank 4–5 decoding for what a sorted bar (rank 1) serves. Unreadable past ~5 slices; hopeless to compare two side by side.</a:t>
            </a:r>
            <a:endParaRPr lang="en-US" sz="1050" dirty="0"/>
          </a:p>
        </p:txBody>
      </p:sp>
      <p:sp>
        <p:nvSpPr>
          <p:cNvPr id="21" name="Shape 18"/>
          <p:cNvSpPr/>
          <p:nvPr/>
        </p:nvSpPr>
        <p:spPr>
          <a:xfrm>
            <a:off x="4338218" y="2569464"/>
            <a:ext cx="3515258" cy="2011680"/>
          </a:xfrm>
          <a:prstGeom prst="roundRect">
            <a:avLst>
              <a:gd name="adj" fmla="val 3636"/>
            </a:avLst>
          </a:prstGeom>
          <a:solidFill>
            <a:srgbClr val="FFFFFF"/>
          </a:solidFill>
          <a:ln w="12700">
            <a:solidFill>
              <a:srgbClr val="D9DEE8"/>
            </a:solidFill>
            <a:prstDash val="solid"/>
          </a:ln>
        </p:spPr>
      </p:sp>
      <p:sp>
        <p:nvSpPr>
          <p:cNvPr id="22" name="Shape 19"/>
          <p:cNvSpPr/>
          <p:nvPr/>
        </p:nvSpPr>
        <p:spPr>
          <a:xfrm>
            <a:off x="4338218" y="2569464"/>
            <a:ext cx="3515258" cy="82296"/>
          </a:xfrm>
          <a:prstGeom prst="rect">
            <a:avLst/>
          </a:prstGeom>
          <a:solidFill>
            <a:srgbClr val="00A79D"/>
          </a:solidFill>
          <a:ln/>
        </p:spPr>
      </p:sp>
      <p:sp>
        <p:nvSpPr>
          <p:cNvPr id="23" name="Shape 20"/>
          <p:cNvSpPr/>
          <p:nvPr/>
        </p:nvSpPr>
        <p:spPr>
          <a:xfrm>
            <a:off x="4521098" y="2752344"/>
            <a:ext cx="822960" cy="292608"/>
          </a:xfrm>
          <a:prstGeom prst="roundRect">
            <a:avLst>
              <a:gd name="adj" fmla="val 18750"/>
            </a:avLst>
          </a:prstGeom>
          <a:solidFill>
            <a:srgbClr val="E6F5F4"/>
          </a:solidFill>
          <a:ln/>
        </p:spPr>
      </p:sp>
      <p:sp>
        <p:nvSpPr>
          <p:cNvPr id="24" name="Text 21"/>
          <p:cNvSpPr/>
          <p:nvPr/>
        </p:nvSpPr>
        <p:spPr>
          <a:xfrm>
            <a:off x="4521098" y="2752344"/>
            <a:ext cx="822960" cy="292608"/>
          </a:xfrm>
          <a:prstGeom prst="rect">
            <a:avLst/>
          </a:prstGeom>
          <a:noFill/>
          <a:ln/>
        </p:spPr>
        <p:txBody>
          <a:bodyPr wrap="square" rtlCol="0" anchor="ctr"/>
          <a:lstStyle/>
          <a:p>
            <a:pPr marL="0" indent="0" algn="ctr">
              <a:buNone/>
            </a:pPr>
            <a:r>
              <a:rPr lang="en-US" sz="1000" b="1" dirty="0">
                <a:solidFill>
                  <a:srgbClr val="00A79D"/>
                </a:solidFill>
                <a:latin typeface="Arial" pitchFamily="34" charset="0"/>
                <a:ea typeface="Arial" pitchFamily="34" charset="-122"/>
                <a:cs typeface="Arial" pitchFamily="34" charset="-120"/>
              </a:rPr>
              <a:t>3D</a:t>
            </a:r>
            <a:endParaRPr lang="en-US" sz="1000" dirty="0"/>
          </a:p>
        </p:txBody>
      </p:sp>
      <p:sp>
        <p:nvSpPr>
          <p:cNvPr id="25" name="Text 22"/>
          <p:cNvSpPr/>
          <p:nvPr/>
        </p:nvSpPr>
        <p:spPr>
          <a:xfrm>
            <a:off x="4521098" y="313639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Volume &amp; perspective distortion</a:t>
            </a:r>
            <a:endParaRPr lang="en-US" sz="1300" dirty="0"/>
          </a:p>
        </p:txBody>
      </p:sp>
      <p:sp>
        <p:nvSpPr>
          <p:cNvPr id="26" name="Text 23"/>
          <p:cNvSpPr/>
          <p:nvPr/>
        </p:nvSpPr>
        <p:spPr>
          <a:xfrm>
            <a:off x="4521098" y="3703320"/>
            <a:ext cx="3149498" cy="768096"/>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Apparent values change with viewing angle; back bars foreshorten, occlusion hides data, depth encodes nothing. No honest use — ban them.</a:t>
            </a:r>
            <a:endParaRPr lang="en-US" sz="1050" dirty="0"/>
          </a:p>
        </p:txBody>
      </p:sp>
      <p:sp>
        <p:nvSpPr>
          <p:cNvPr id="27" name="Shape 24"/>
          <p:cNvSpPr/>
          <p:nvPr/>
        </p:nvSpPr>
        <p:spPr>
          <a:xfrm>
            <a:off x="8127797" y="2569464"/>
            <a:ext cx="3515258" cy="2011680"/>
          </a:xfrm>
          <a:prstGeom prst="roundRect">
            <a:avLst>
              <a:gd name="adj" fmla="val 3636"/>
            </a:avLst>
          </a:prstGeom>
          <a:solidFill>
            <a:srgbClr val="FFFFFF"/>
          </a:solidFill>
          <a:ln w="12700">
            <a:solidFill>
              <a:srgbClr val="D9DEE8"/>
            </a:solidFill>
            <a:prstDash val="solid"/>
          </a:ln>
        </p:spPr>
      </p:sp>
      <p:sp>
        <p:nvSpPr>
          <p:cNvPr id="28" name="Shape 25"/>
          <p:cNvSpPr/>
          <p:nvPr/>
        </p:nvSpPr>
        <p:spPr>
          <a:xfrm>
            <a:off x="8127797" y="2569464"/>
            <a:ext cx="3515258" cy="82296"/>
          </a:xfrm>
          <a:prstGeom prst="rect">
            <a:avLst/>
          </a:prstGeom>
          <a:solidFill>
            <a:srgbClr val="E8833A"/>
          </a:solidFill>
          <a:ln/>
        </p:spPr>
      </p:sp>
      <p:sp>
        <p:nvSpPr>
          <p:cNvPr id="29" name="Shape 26"/>
          <p:cNvSpPr/>
          <p:nvPr/>
        </p:nvSpPr>
        <p:spPr>
          <a:xfrm>
            <a:off x="8310677" y="2752344"/>
            <a:ext cx="822960" cy="292608"/>
          </a:xfrm>
          <a:prstGeom prst="roundRect">
            <a:avLst>
              <a:gd name="adj" fmla="val 18750"/>
            </a:avLst>
          </a:prstGeom>
          <a:solidFill>
            <a:srgbClr val="FCF0E6"/>
          </a:solidFill>
          <a:ln/>
        </p:spPr>
      </p:sp>
      <p:sp>
        <p:nvSpPr>
          <p:cNvPr id="30" name="Text 27"/>
          <p:cNvSpPr/>
          <p:nvPr/>
        </p:nvSpPr>
        <p:spPr>
          <a:xfrm>
            <a:off x="8310677" y="2752344"/>
            <a:ext cx="822960" cy="292608"/>
          </a:xfrm>
          <a:prstGeom prst="rect">
            <a:avLst/>
          </a:prstGeom>
          <a:noFill/>
          <a:ln/>
        </p:spPr>
        <p:txBody>
          <a:bodyPr wrap="square" rtlCol="0" anchor="ctr"/>
          <a:lstStyle/>
          <a:p>
            <a:pPr marL="0" indent="0" algn="ctr">
              <a:buNone/>
            </a:pPr>
            <a:r>
              <a:rPr lang="en-US" sz="1000" b="1" dirty="0">
                <a:solidFill>
                  <a:srgbClr val="E8833A"/>
                </a:solidFill>
                <a:latin typeface="Arial" pitchFamily="34" charset="0"/>
                <a:ea typeface="Arial" pitchFamily="34" charset="-122"/>
                <a:cs typeface="Arial" pitchFamily="34" charset="-120"/>
              </a:rPr>
              <a:t>Dual</a:t>
            </a:r>
            <a:endParaRPr lang="en-US" sz="1000" dirty="0"/>
          </a:p>
        </p:txBody>
      </p:sp>
      <p:sp>
        <p:nvSpPr>
          <p:cNvPr id="31" name="Text 28"/>
          <p:cNvSpPr/>
          <p:nvPr/>
        </p:nvSpPr>
        <p:spPr>
          <a:xfrm>
            <a:off x="8310677" y="313639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Manufactured correlation</a:t>
            </a:r>
            <a:endParaRPr lang="en-US" sz="1300" dirty="0"/>
          </a:p>
        </p:txBody>
      </p:sp>
      <p:sp>
        <p:nvSpPr>
          <p:cNvPr id="32" name="Text 29"/>
          <p:cNvSpPr/>
          <p:nvPr/>
        </p:nvSpPr>
        <p:spPr>
          <a:xfrm>
            <a:off x="8310677" y="350215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Two Y-axes let the designer scale a crossing into existence. Prefer indexed lines (both to base = 100) or two small multiples.</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TASK → CHANNEL</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Encoding is chosen by the question, not the data</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31</a:t>
            </a:r>
            <a:endParaRPr lang="en-US" sz="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3749040"/>
        </p:xfrm>
        <a:graphic>
          <a:graphicData uri="http://schemas.openxmlformats.org/drawingml/2006/table">
            <a:tbl>
              <a:tblPr/>
              <a:tblGrid>
                <a:gridCol w="50292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Analytical question</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Best encoding</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Typical chart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How do these categories rank?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Position, common scale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Sorted bar / dot plot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How has this changed over time?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Position on X + line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Line chart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How is this distributed?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Position + density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Histogram / box</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How do two variables relate?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Position (X, 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Scatter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Where is this, geographically?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Position on a map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Choropleth (carefully)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What is the part-to-whole split?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Length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Stacked / 100% bar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What is the pattern in a matrix?</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Colour saturation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Heatmap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5" name="Text 11"/>
          <p:cNvSpPr/>
          <p:nvPr/>
        </p:nvSpPr>
        <p:spPr>
          <a:xfrm>
            <a:off x="548640" y="5907024"/>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Tayseer's 'which regions lag?' is a ranking question → sorted bar, never a choropleth as primary.</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PERCEPTUAL HONESTY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lie factor and sources of distortion</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32</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A chart is honest when the ratio of visual effect to data effect is 1. Lie factor = effect shown ÷ effect in data.</a:t>
            </a:r>
            <a:endParaRPr lang="en-US" sz="1250" dirty="0"/>
          </a:p>
        </p:txBody>
      </p:sp>
      <p:sp>
        <p:nvSpPr>
          <p:cNvPr id="15" name="Shape 12"/>
          <p:cNvSpPr/>
          <p:nvPr/>
        </p:nvSpPr>
        <p:spPr>
          <a:xfrm>
            <a:off x="548640" y="2615184"/>
            <a:ext cx="1970166" cy="2926080"/>
          </a:xfrm>
          <a:prstGeom prst="roundRect">
            <a:avLst>
              <a:gd name="adj" fmla="val 4641"/>
            </a:avLst>
          </a:prstGeom>
          <a:solidFill>
            <a:srgbClr val="EAF0FA"/>
          </a:solidFill>
          <a:ln w="15875">
            <a:solidFill>
              <a:srgbClr val="2E5AAC"/>
            </a:solidFill>
            <a:prstDash val="solid"/>
          </a:ln>
        </p:spPr>
      </p:sp>
      <p:sp>
        <p:nvSpPr>
          <p:cNvPr id="16" name="Shape 13"/>
          <p:cNvSpPr/>
          <p:nvPr/>
        </p:nvSpPr>
        <p:spPr>
          <a:xfrm>
            <a:off x="1277691" y="2816352"/>
            <a:ext cx="512064" cy="512064"/>
          </a:xfrm>
          <a:prstGeom prst="ellipse">
            <a:avLst/>
          </a:prstGeom>
          <a:solidFill>
            <a:srgbClr val="2E5AAC"/>
          </a:solidFill>
          <a:ln/>
        </p:spPr>
      </p:sp>
      <p:sp>
        <p:nvSpPr>
          <p:cNvPr id="17" name="Text 14"/>
          <p:cNvSpPr/>
          <p:nvPr/>
        </p:nvSpPr>
        <p:spPr>
          <a:xfrm>
            <a:off x="1277691"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658368" y="3456432"/>
            <a:ext cx="1750710"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Truncated bar axes</a:t>
            </a:r>
            <a:endParaRPr lang="en-US" sz="1300" dirty="0"/>
          </a:p>
        </p:txBody>
      </p:sp>
      <p:sp>
        <p:nvSpPr>
          <p:cNvPr id="19" name="Text 16"/>
          <p:cNvSpPr/>
          <p:nvPr/>
        </p:nvSpPr>
        <p:spPr>
          <a:xfrm>
            <a:off x="676656" y="3986784"/>
            <a:ext cx="1714134"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Bars encode length from zero; starting at 60 multiplies the apparent difference. Forbid it.</a:t>
            </a:r>
            <a:endParaRPr lang="en-US" sz="1050" dirty="0"/>
          </a:p>
        </p:txBody>
      </p:sp>
      <p:sp>
        <p:nvSpPr>
          <p:cNvPr id="20" name="Text 17"/>
          <p:cNvSpPr/>
          <p:nvPr/>
        </p:nvSpPr>
        <p:spPr>
          <a:xfrm>
            <a:off x="2537094"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1" name="Shape 18"/>
          <p:cNvSpPr/>
          <p:nvPr/>
        </p:nvSpPr>
        <p:spPr>
          <a:xfrm>
            <a:off x="2829702" y="2615184"/>
            <a:ext cx="1970166" cy="2926080"/>
          </a:xfrm>
          <a:prstGeom prst="roundRect">
            <a:avLst>
              <a:gd name="adj" fmla="val 4641"/>
            </a:avLst>
          </a:prstGeom>
          <a:solidFill>
            <a:srgbClr val="E6F5F4"/>
          </a:solidFill>
          <a:ln w="15875">
            <a:solidFill>
              <a:srgbClr val="00A79D"/>
            </a:solidFill>
            <a:prstDash val="solid"/>
          </a:ln>
        </p:spPr>
      </p:sp>
      <p:sp>
        <p:nvSpPr>
          <p:cNvPr id="22" name="Shape 19"/>
          <p:cNvSpPr/>
          <p:nvPr/>
        </p:nvSpPr>
        <p:spPr>
          <a:xfrm>
            <a:off x="3558753" y="2816352"/>
            <a:ext cx="512064" cy="512064"/>
          </a:xfrm>
          <a:prstGeom prst="ellipse">
            <a:avLst/>
          </a:prstGeom>
          <a:solidFill>
            <a:srgbClr val="00A79D"/>
          </a:solidFill>
          <a:ln/>
        </p:spPr>
      </p:sp>
      <p:sp>
        <p:nvSpPr>
          <p:cNvPr id="23" name="Text 20"/>
          <p:cNvSpPr/>
          <p:nvPr/>
        </p:nvSpPr>
        <p:spPr>
          <a:xfrm>
            <a:off x="3558753"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4" name="Text 21"/>
          <p:cNvSpPr/>
          <p:nvPr/>
        </p:nvSpPr>
        <p:spPr>
          <a:xfrm>
            <a:off x="2939430" y="3456432"/>
            <a:ext cx="1750710"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Lines may truncate</a:t>
            </a:r>
            <a:endParaRPr lang="en-US" sz="1300" dirty="0"/>
          </a:p>
        </p:txBody>
      </p:sp>
      <p:sp>
        <p:nvSpPr>
          <p:cNvPr id="25" name="Text 22"/>
          <p:cNvSpPr/>
          <p:nvPr/>
        </p:nvSpPr>
        <p:spPr>
          <a:xfrm>
            <a:off x="2957718" y="3986784"/>
            <a:ext cx="1714134"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Lines encode slope/position, so the baseline is not part of the encoding — this trips up almost everyone.</a:t>
            </a:r>
            <a:endParaRPr lang="en-US" sz="1050" dirty="0"/>
          </a:p>
        </p:txBody>
      </p:sp>
      <p:sp>
        <p:nvSpPr>
          <p:cNvPr id="26" name="Text 23"/>
          <p:cNvSpPr/>
          <p:nvPr/>
        </p:nvSpPr>
        <p:spPr>
          <a:xfrm>
            <a:off x="4818156"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7" name="Shape 24"/>
          <p:cNvSpPr/>
          <p:nvPr/>
        </p:nvSpPr>
        <p:spPr>
          <a:xfrm>
            <a:off x="5110764" y="2615184"/>
            <a:ext cx="1970166" cy="2926080"/>
          </a:xfrm>
          <a:prstGeom prst="roundRect">
            <a:avLst>
              <a:gd name="adj" fmla="val 4641"/>
            </a:avLst>
          </a:prstGeom>
          <a:solidFill>
            <a:srgbClr val="FCF0E6"/>
          </a:solidFill>
          <a:ln w="15875">
            <a:solidFill>
              <a:srgbClr val="E8833A"/>
            </a:solidFill>
            <a:prstDash val="solid"/>
          </a:ln>
        </p:spPr>
      </p:sp>
      <p:sp>
        <p:nvSpPr>
          <p:cNvPr id="28" name="Shape 25"/>
          <p:cNvSpPr/>
          <p:nvPr/>
        </p:nvSpPr>
        <p:spPr>
          <a:xfrm>
            <a:off x="5839816" y="2816352"/>
            <a:ext cx="512064" cy="512064"/>
          </a:xfrm>
          <a:prstGeom prst="ellipse">
            <a:avLst/>
          </a:prstGeom>
          <a:solidFill>
            <a:srgbClr val="E8833A"/>
          </a:solidFill>
          <a:ln/>
        </p:spPr>
      </p:sp>
      <p:sp>
        <p:nvSpPr>
          <p:cNvPr id="29" name="Text 26"/>
          <p:cNvSpPr/>
          <p:nvPr/>
        </p:nvSpPr>
        <p:spPr>
          <a:xfrm>
            <a:off x="5839816"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0" name="Text 27"/>
          <p:cNvSpPr/>
          <p:nvPr/>
        </p:nvSpPr>
        <p:spPr>
          <a:xfrm>
            <a:off x="5220492" y="3456432"/>
            <a:ext cx="1750710"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Reversed / dual scales</a:t>
            </a:r>
            <a:endParaRPr lang="en-US" sz="1300" dirty="0"/>
          </a:p>
        </p:txBody>
      </p:sp>
      <p:sp>
        <p:nvSpPr>
          <p:cNvPr id="31" name="Text 28"/>
          <p:cNvSpPr/>
          <p:nvPr/>
        </p:nvSpPr>
        <p:spPr>
          <a:xfrm>
            <a:off x="5238780" y="3986784"/>
            <a:ext cx="1714134"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Inconsistent, reversed, or dual axes, and cumulative-vs-rate switches mid-chart.</a:t>
            </a:r>
            <a:endParaRPr lang="en-US" sz="1050" dirty="0"/>
          </a:p>
        </p:txBody>
      </p:sp>
      <p:sp>
        <p:nvSpPr>
          <p:cNvPr id="32" name="Text 29"/>
          <p:cNvSpPr/>
          <p:nvPr/>
        </p:nvSpPr>
        <p:spPr>
          <a:xfrm>
            <a:off x="7099219"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3" name="Shape 30"/>
          <p:cNvSpPr/>
          <p:nvPr/>
        </p:nvSpPr>
        <p:spPr>
          <a:xfrm>
            <a:off x="7391827" y="2615184"/>
            <a:ext cx="1970166" cy="2926080"/>
          </a:xfrm>
          <a:prstGeom prst="roundRect">
            <a:avLst>
              <a:gd name="adj" fmla="val 4641"/>
            </a:avLst>
          </a:prstGeom>
          <a:solidFill>
            <a:srgbClr val="EFEBF6"/>
          </a:solidFill>
          <a:ln w="15875">
            <a:solidFill>
              <a:srgbClr val="6C4FA1"/>
            </a:solidFill>
            <a:prstDash val="solid"/>
          </a:ln>
        </p:spPr>
      </p:sp>
      <p:sp>
        <p:nvSpPr>
          <p:cNvPr id="34" name="Shape 31"/>
          <p:cNvSpPr/>
          <p:nvPr/>
        </p:nvSpPr>
        <p:spPr>
          <a:xfrm>
            <a:off x="8120878" y="2816352"/>
            <a:ext cx="512064" cy="512064"/>
          </a:xfrm>
          <a:prstGeom prst="ellipse">
            <a:avLst/>
          </a:prstGeom>
          <a:solidFill>
            <a:srgbClr val="6C4FA1"/>
          </a:solidFill>
          <a:ln/>
        </p:spPr>
      </p:sp>
      <p:sp>
        <p:nvSpPr>
          <p:cNvPr id="35" name="Text 32"/>
          <p:cNvSpPr/>
          <p:nvPr/>
        </p:nvSpPr>
        <p:spPr>
          <a:xfrm>
            <a:off x="8120878"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6" name="Text 33"/>
          <p:cNvSpPr/>
          <p:nvPr/>
        </p:nvSpPr>
        <p:spPr>
          <a:xfrm>
            <a:off x="7501555" y="3456432"/>
            <a:ext cx="1750710"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Radius-scaled area</a:t>
            </a:r>
            <a:endParaRPr lang="en-US" sz="1300" dirty="0"/>
          </a:p>
        </p:txBody>
      </p:sp>
      <p:sp>
        <p:nvSpPr>
          <p:cNvPr id="37" name="Text 34"/>
          <p:cNvSpPr/>
          <p:nvPr/>
        </p:nvSpPr>
        <p:spPr>
          <a:xfrm>
            <a:off x="7519843" y="3986784"/>
            <a:ext cx="1714134"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Scaling radius by value quadruples the area when the value doubles — distort area, not radius.</a:t>
            </a:r>
            <a:endParaRPr lang="en-US" sz="1050" dirty="0"/>
          </a:p>
        </p:txBody>
      </p:sp>
      <p:sp>
        <p:nvSpPr>
          <p:cNvPr id="38" name="Text 35"/>
          <p:cNvSpPr/>
          <p:nvPr/>
        </p:nvSpPr>
        <p:spPr>
          <a:xfrm>
            <a:off x="9380281"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9" name="Shape 36"/>
          <p:cNvSpPr/>
          <p:nvPr/>
        </p:nvSpPr>
        <p:spPr>
          <a:xfrm>
            <a:off x="9672889" y="2615184"/>
            <a:ext cx="1970166" cy="2926080"/>
          </a:xfrm>
          <a:prstGeom prst="roundRect">
            <a:avLst>
              <a:gd name="adj" fmla="val 4641"/>
            </a:avLst>
          </a:prstGeom>
          <a:solidFill>
            <a:srgbClr val="E9F5EC"/>
          </a:solidFill>
          <a:ln w="15875">
            <a:solidFill>
              <a:srgbClr val="3FAE5A"/>
            </a:solidFill>
            <a:prstDash val="solid"/>
          </a:ln>
        </p:spPr>
      </p:sp>
      <p:sp>
        <p:nvSpPr>
          <p:cNvPr id="40" name="Shape 37"/>
          <p:cNvSpPr/>
          <p:nvPr/>
        </p:nvSpPr>
        <p:spPr>
          <a:xfrm>
            <a:off x="10401940" y="2816352"/>
            <a:ext cx="512064" cy="512064"/>
          </a:xfrm>
          <a:prstGeom prst="ellipse">
            <a:avLst/>
          </a:prstGeom>
          <a:solidFill>
            <a:srgbClr val="3FAE5A"/>
          </a:solidFill>
          <a:ln/>
        </p:spPr>
      </p:sp>
      <p:sp>
        <p:nvSpPr>
          <p:cNvPr id="41" name="Text 38"/>
          <p:cNvSpPr/>
          <p:nvPr/>
        </p:nvSpPr>
        <p:spPr>
          <a:xfrm>
            <a:off x="10401940"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42" name="Text 39"/>
          <p:cNvSpPr/>
          <p:nvPr/>
        </p:nvSpPr>
        <p:spPr>
          <a:xfrm>
            <a:off x="9782617" y="3456432"/>
            <a:ext cx="1750710"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Cherry-picked windows</a:t>
            </a:r>
            <a:endParaRPr lang="en-US" sz="1300" dirty="0"/>
          </a:p>
        </p:txBody>
      </p:sp>
      <p:sp>
        <p:nvSpPr>
          <p:cNvPr id="43" name="Text 40"/>
          <p:cNvSpPr/>
          <p:nvPr/>
        </p:nvSpPr>
        <p:spPr>
          <a:xfrm>
            <a:off x="9800905" y="3986784"/>
            <a:ext cx="1714134"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Time windows chosen to hide the trend before the start point.</a:t>
            </a:r>
            <a:endParaRPr lang="en-US" sz="1050" dirty="0"/>
          </a:p>
        </p:txBody>
      </p:sp>
      <p:sp>
        <p:nvSpPr>
          <p:cNvPr id="44" name="Text 41"/>
          <p:cNvSpPr/>
          <p:nvPr/>
        </p:nvSpPr>
        <p:spPr>
          <a:xfrm>
            <a:off x="548640" y="5650992"/>
            <a:ext cx="11094415" cy="365760"/>
          </a:xfrm>
          <a:prstGeom prst="rect">
            <a:avLst/>
          </a:prstGeom>
          <a:noFill/>
          <a:ln/>
        </p:spPr>
        <p:txBody>
          <a:bodyPr wrap="square" rtlCol="0" anchor="t"/>
          <a:lstStyle/>
          <a:p>
            <a:pPr marL="0" indent="0" algn="l">
              <a:buNone/>
            </a:pPr>
            <a:r>
              <a:rPr lang="en-US" sz="1100" i="1" dirty="0">
                <a:solidFill>
                  <a:srgbClr val="6B7280"/>
                </a:solidFill>
                <a:latin typeface="Arial" pitchFamily="34" charset="0"/>
                <a:ea typeface="Arial" pitchFamily="34" charset="-122"/>
                <a:cs typeface="Arial" pitchFamily="34" charset="-120"/>
              </a:rPr>
              <a:t>In a SAMA- or government-audited context, a distorted chart is a governance finding.</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B"/>
          </a:solidFill>
          <a:ln/>
        </p:spPr>
      </p:sp>
      <p:sp>
        <p:nvSpPr>
          <p:cNvPr id="3" name="Shape 1"/>
          <p:cNvSpPr/>
          <p:nvPr/>
        </p:nvSpPr>
        <p:spPr>
          <a:xfrm>
            <a:off x="0" y="0"/>
            <a:ext cx="12191695" cy="146304"/>
          </a:xfrm>
          <a:prstGeom prst="rect">
            <a:avLst/>
          </a:prstGeom>
          <a:solidFill>
            <a:srgbClr val="00A79D"/>
          </a:solidFill>
          <a:ln/>
        </p:spPr>
      </p:sp>
      <p:pic>
        <p:nvPicPr>
          <p:cNvPr id="4"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5" name="Shape 2"/>
          <p:cNvSpPr/>
          <p:nvPr/>
        </p:nvSpPr>
        <p:spPr>
          <a:xfrm>
            <a:off x="548640" y="6382512"/>
            <a:ext cx="11094415" cy="0"/>
          </a:xfrm>
          <a:prstGeom prst="line">
            <a:avLst/>
          </a:prstGeom>
          <a:noFill/>
          <a:ln w="12700">
            <a:solidFill>
              <a:srgbClr val="D9DEE8"/>
            </a:solidFill>
            <a:prstDash val="solid"/>
          </a:ln>
        </p:spPr>
      </p:sp>
      <p:sp>
        <p:nvSpPr>
          <p:cNvPr id="6" name="Text 3"/>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7" name="Text 4"/>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37</a:t>
            </a:r>
            <a:endParaRPr lang="en-US" sz="800" dirty="0"/>
          </a:p>
        </p:txBody>
      </p:sp>
      <p:sp>
        <p:nvSpPr>
          <p:cNvPr id="8" name="Text 5"/>
          <p:cNvSpPr/>
          <p:nvPr/>
        </p:nvSpPr>
        <p:spPr>
          <a:xfrm>
            <a:off x="548640" y="1188720"/>
            <a:ext cx="1828800" cy="1463040"/>
          </a:xfrm>
          <a:prstGeom prst="rect">
            <a:avLst/>
          </a:prstGeom>
          <a:noFill/>
          <a:ln/>
        </p:spPr>
        <p:txBody>
          <a:bodyPr wrap="square" rtlCol="0" anchor="t"/>
          <a:lstStyle/>
          <a:p>
            <a:pPr marL="0" indent="0" algn="l">
              <a:buNone/>
            </a:pPr>
            <a:r>
              <a:rPr lang="en-US" sz="12000" b="1" dirty="0">
                <a:solidFill>
                  <a:srgbClr val="00A79D"/>
                </a:solidFill>
                <a:latin typeface="Georgia" pitchFamily="34" charset="0"/>
                <a:ea typeface="Georgia" pitchFamily="34" charset="-122"/>
                <a:cs typeface="Georgia" pitchFamily="34" charset="-120"/>
              </a:rPr>
              <a:t>“</a:t>
            </a:r>
            <a:endParaRPr lang="en-US" sz="12000" dirty="0"/>
          </a:p>
        </p:txBody>
      </p:sp>
      <p:sp>
        <p:nvSpPr>
          <p:cNvPr id="9" name="Text 6"/>
          <p:cNvSpPr/>
          <p:nvPr/>
        </p:nvSpPr>
        <p:spPr>
          <a:xfrm>
            <a:off x="1371600" y="2468880"/>
            <a:ext cx="9448495" cy="2194560"/>
          </a:xfrm>
          <a:prstGeom prst="rect">
            <a:avLst/>
          </a:prstGeom>
          <a:noFill/>
          <a:ln/>
        </p:spPr>
        <p:txBody>
          <a:bodyPr wrap="square" rtlCol="0" anchor="ctr"/>
          <a:lstStyle/>
          <a:p>
            <a:pPr marL="0" indent="0" algn="ctr">
              <a:lnSpc>
                <a:spcPct val="110000"/>
              </a:lnSpc>
              <a:buNone/>
            </a:pPr>
            <a:r>
              <a:rPr lang="en-US" sz="2600" b="1" dirty="0">
                <a:solidFill>
                  <a:srgbClr val="1D2A5C"/>
                </a:solidFill>
                <a:latin typeface="Arial" pitchFamily="34" charset="0"/>
                <a:ea typeface="Arial" pitchFamily="34" charset="-122"/>
                <a:cs typeface="Arial" pitchFamily="34" charset="-120"/>
              </a:rPr>
              <a:t>A 3D pie and a dual-axis line derailed Tayseer's quarterly review for eight minutes; the redesign — one sorted bar and two indexed lines — settled it in ninety seconds and reversed the conclusion.</a:t>
            </a:r>
            <a:endParaRPr lang="en-US" sz="2600" dirty="0"/>
          </a:p>
        </p:txBody>
      </p:sp>
      <p:sp>
        <p:nvSpPr>
          <p:cNvPr id="10" name="Text 7"/>
          <p:cNvSpPr/>
          <p:nvPr/>
        </p:nvSpPr>
        <p:spPr>
          <a:xfrm>
            <a:off x="1371600" y="4846320"/>
            <a:ext cx="9448495" cy="457200"/>
          </a:xfrm>
          <a:prstGeom prst="rect">
            <a:avLst/>
          </a:prstGeom>
          <a:noFill/>
          <a:ln/>
        </p:spPr>
        <p:txBody>
          <a:bodyPr wrap="square" rtlCol="0" anchor="ctr"/>
          <a:lstStyle/>
          <a:p>
            <a:pPr marL="0" indent="0" algn="ctr">
              <a:buNone/>
            </a:pPr>
            <a:r>
              <a:rPr lang="en-US" sz="1400" dirty="0">
                <a:solidFill>
                  <a:srgbClr val="6B7280"/>
                </a:solidFill>
                <a:latin typeface="Arial" pitchFamily="34" charset="0"/>
                <a:ea typeface="Arial" pitchFamily="34" charset="-122"/>
                <a:cs typeface="Arial" pitchFamily="34" charset="-120"/>
              </a:rPr>
              <a:t>— Module 1 real-world walkthrough — same data, different perception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PRE-ATTENTIVE DEMO</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Same ranking: colour (hard) vs position (easy)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38</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notebooks/m1_perception.ipynb</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latest = (df[df.month == df.month.max()]</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.groupby("region", as_index=False)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["digital_adoption_pct"].mean())</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fig, axes = plt.subplots(1, 2, figsize=(12, 5))</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LEFT — colour saturation (rank 7): ranking is slow.</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axes[0].scatter(range(len(latest)), np.ones(len(latest)),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c=latest["digital_adoption_pct"], cmap="Blues", s=600)</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axes[0].set_title("Encoded as colour - rank the regions")</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axes[0].axis("off")</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RIGHT — position on common scale (rank 1): instant.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s = latest.sort_values("digital_adoption_pct")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axes[1].barh(s["region"], s["digital_adoption_pct"])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axes[1].set_title("Encoded as position - ranking easy")</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axes[1].set_xlabel("Digital adoption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plt.tight_layout()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plt.savefig("out/m1_encoding_contrast.png", dpi=150)</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The right panel lets the room rank all regions pre-attentively.</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LIE FACTOR</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Measure the distortion of a truncated axis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39</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notebooks/m1_perception.ipynb</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two = s[s["region"].isin(</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[worst, s.iloc[-1]["region"]])].reset_index(drop=True)</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 b = two["digital_adoption_pct"]</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data_ratio = b / a          # true ratio in the data</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fig, ax = plt.subplots(1, 2, figsize=(10, 4))</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ax[0].bar(two["region"], two["digital_adoption_pct"])</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ax[0].set_ylim(0, 100)</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ax[0].set_title("Honest: baseline at 0")</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ax[1].bar(two["region"], two["digital_adoption_pct"])</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ax[1].set_ylim(55, 75)</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ax[1].set_title("Distorted: truncated baseline")</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t>
            </a:r>
            <a:endParaRPr lang="en-US" sz="950" dirty="0"/>
          </a:p>
          <a:p>
            <a:pPr marL="0" indent="0">
              <a:lnSpc>
                <a:spcPct val="102000"/>
              </a:lnSpc>
              <a:buNone/>
            </a:pPr>
            <a:r>
              <a:rPr lang="en-US" sz="950" dirty="0">
                <a:solidFill>
                  <a:srgbClr val="7F9CC4"/>
                </a:solidFill>
                <a:latin typeface="Courier New" pitchFamily="34" charset="0"/>
                <a:ea typeface="Courier New" pitchFamily="34" charset="-122"/>
                <a:cs typeface="Courier New" pitchFamily="34" charset="-120"/>
              </a:rPr>
              <a:t># Visual ratio above the clipped baseline:</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vis_ratio = (b - 55) / (a - 55)</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print(f"data={data_ratio:.2f} "</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f"lie factor={vis_ratio / data_ratio:.1f}x")</a:t>
            </a:r>
            <a:endParaRPr lang="en-US" sz="95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The truncated panel balloons the gap while the data is unchanged.</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HANDS-ON LAB</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Lab 1 — Perception Audit and Five Encodings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تدقيق الإدراك</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40</a:t>
            </a:r>
            <a:endParaRPr lang="en-US" sz="800" dirty="0"/>
          </a:p>
        </p:txBody>
      </p:sp>
      <p:sp>
        <p:nvSpPr>
          <p:cNvPr id="15" name="Shape 12"/>
          <p:cNvSpPr/>
          <p:nvPr/>
        </p:nvSpPr>
        <p:spPr>
          <a:xfrm>
            <a:off x="548640" y="2331720"/>
            <a:ext cx="11094415" cy="1234440"/>
          </a:xfrm>
          <a:prstGeom prst="roundRect">
            <a:avLst>
              <a:gd name="adj" fmla="val 5926"/>
            </a:avLst>
          </a:prstGeom>
          <a:solidFill>
            <a:srgbClr val="EAF0FA"/>
          </a:solidFill>
          <a:ln w="12700">
            <a:solidFill>
              <a:srgbClr val="2E5AAC"/>
            </a:solidFill>
            <a:prstDash val="solid"/>
          </a:ln>
        </p:spPr>
      </p:sp>
      <p:sp>
        <p:nvSpPr>
          <p:cNvPr id="16" name="Text 13"/>
          <p:cNvSpPr/>
          <p:nvPr/>
        </p:nvSpPr>
        <p:spPr>
          <a:xfrm>
            <a:off x="777240" y="2450592"/>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OBJECTIVE  </a:t>
            </a:r>
            <a:r>
              <a:rPr lang="en-US" sz="1100" dirty="0">
                <a:solidFill>
                  <a:srgbClr val="343A4E"/>
                </a:solidFill>
                <a:latin typeface="Arial" pitchFamily="34" charset="0"/>
                <a:ea typeface="Arial" pitchFamily="34" charset="-122"/>
                <a:cs typeface="Arial" pitchFamily="34" charset="-120"/>
              </a:rPr>
              <a:t>Encode one Tayseer metric five ways, rank the encodings by decoding accuracy for a stated task, and audit a supplied 'bad' dashboard.</a:t>
            </a:r>
            <a:endParaRPr lang="en-US" sz="1100" dirty="0"/>
          </a:p>
        </p:txBody>
      </p:sp>
      <p:sp>
        <p:nvSpPr>
          <p:cNvPr id="17" name="Text 14"/>
          <p:cNvSpPr/>
          <p:nvPr/>
        </p:nvSpPr>
        <p:spPr>
          <a:xfrm>
            <a:off x="777240" y="2907792"/>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DURATION  </a:t>
            </a:r>
            <a:r>
              <a:rPr lang="en-US" sz="1100" dirty="0">
                <a:solidFill>
                  <a:srgbClr val="343A4E"/>
                </a:solidFill>
                <a:latin typeface="Arial" pitchFamily="34" charset="0"/>
                <a:ea typeface="Arial" pitchFamily="34" charset="-122"/>
                <a:cs typeface="Arial" pitchFamily="34" charset="-120"/>
              </a:rPr>
              <a:t>50 minutes</a:t>
            </a:r>
            <a:endParaRPr lang="en-US" sz="1100" dirty="0"/>
          </a:p>
        </p:txBody>
      </p:sp>
      <p:sp>
        <p:nvSpPr>
          <p:cNvPr id="18" name="Text 15"/>
          <p:cNvSpPr/>
          <p:nvPr/>
        </p:nvSpPr>
        <p:spPr>
          <a:xfrm>
            <a:off x="777240" y="3255264"/>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SETUP  </a:t>
            </a:r>
            <a:r>
              <a:rPr lang="en-US" sz="1100" dirty="0">
                <a:solidFill>
                  <a:srgbClr val="343A4E"/>
                </a:solidFill>
                <a:latin typeface="Arial" pitchFamily="34" charset="0"/>
                <a:ea typeface="Arial" pitchFamily="34" charset="-122"/>
                <a:cs typeface="Arial" pitchFamily="34" charset="-120"/>
              </a:rPr>
              <a:t>Python 3.12, Jupyter, pandas/matplotlib/seaborn; tayseer_services.csv and bad_dashboard_m1.png provided; open lab1_start.ipynb.</a:t>
            </a:r>
            <a:endParaRPr lang="en-US" sz="1100" dirty="0"/>
          </a:p>
        </p:txBody>
      </p:sp>
      <p:sp>
        <p:nvSpPr>
          <p:cNvPr id="19" name="Text 16"/>
          <p:cNvSpPr/>
          <p:nvPr/>
        </p:nvSpPr>
        <p:spPr>
          <a:xfrm>
            <a:off x="548640" y="3703320"/>
            <a:ext cx="4572000" cy="274320"/>
          </a:xfrm>
          <a:prstGeom prst="rect">
            <a:avLst/>
          </a:prstGeom>
          <a:noFill/>
          <a:ln/>
        </p:spPr>
        <p:txBody>
          <a:bodyPr wrap="square" rtlCol="0" anchor="ctr"/>
          <a:lstStyle/>
          <a:p>
            <a:pPr marL="0" indent="0">
              <a:buNone/>
            </a:pPr>
            <a:r>
              <a:rPr lang="en-US" sz="1200" b="1" kern="0" spc="100" dirty="0">
                <a:solidFill>
                  <a:srgbClr val="1D2A5C"/>
                </a:solidFill>
                <a:latin typeface="Arial" pitchFamily="34" charset="0"/>
                <a:ea typeface="Arial" pitchFamily="34" charset="-122"/>
                <a:cs typeface="Arial" pitchFamily="34" charset="-120"/>
              </a:rPr>
              <a:t>TASKS</a:t>
            </a:r>
            <a:endParaRPr lang="en-US" sz="1200" dirty="0"/>
          </a:p>
        </p:txBody>
      </p:sp>
      <p:sp>
        <p:nvSpPr>
          <p:cNvPr id="20" name="Shape 17"/>
          <p:cNvSpPr/>
          <p:nvPr/>
        </p:nvSpPr>
        <p:spPr>
          <a:xfrm>
            <a:off x="548640" y="4087368"/>
            <a:ext cx="292608" cy="292608"/>
          </a:xfrm>
          <a:prstGeom prst="ellipse">
            <a:avLst/>
          </a:prstGeom>
          <a:solidFill>
            <a:srgbClr val="2E5AAC"/>
          </a:solidFill>
          <a:ln/>
        </p:spPr>
      </p:sp>
      <p:sp>
        <p:nvSpPr>
          <p:cNvPr id="21" name="Text 18"/>
          <p:cNvSpPr/>
          <p:nvPr/>
        </p:nvSpPr>
        <p:spPr>
          <a:xfrm>
            <a:off x="548640" y="408736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19"/>
          <p:cNvSpPr/>
          <p:nvPr/>
        </p:nvSpPr>
        <p:spPr>
          <a:xfrm>
            <a:off x="960120" y="4069080"/>
            <a:ext cx="10637215" cy="327660"/>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Load the CSV; compute latest-month digital_adoption_pct by region. State the task in one sentence.</a:t>
            </a:r>
            <a:endParaRPr lang="en-US" sz="1100" dirty="0"/>
          </a:p>
        </p:txBody>
      </p:sp>
      <p:sp>
        <p:nvSpPr>
          <p:cNvPr id="23" name="Shape 20"/>
          <p:cNvSpPr/>
          <p:nvPr/>
        </p:nvSpPr>
        <p:spPr>
          <a:xfrm>
            <a:off x="548640" y="4415028"/>
            <a:ext cx="292608" cy="292608"/>
          </a:xfrm>
          <a:prstGeom prst="ellipse">
            <a:avLst/>
          </a:prstGeom>
          <a:solidFill>
            <a:srgbClr val="00A79D"/>
          </a:solidFill>
          <a:ln/>
        </p:spPr>
      </p:sp>
      <p:sp>
        <p:nvSpPr>
          <p:cNvPr id="24" name="Text 21"/>
          <p:cNvSpPr/>
          <p:nvPr/>
        </p:nvSpPr>
        <p:spPr>
          <a:xfrm>
            <a:off x="548640" y="441502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2"/>
          <p:cNvSpPr/>
          <p:nvPr/>
        </p:nvSpPr>
        <p:spPr>
          <a:xfrm>
            <a:off x="960120" y="4396740"/>
            <a:ext cx="10637215" cy="327660"/>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(15 min) </a:t>
            </a:r>
            <a:r>
              <a:rPr lang="en-US" sz="1100" dirty="0">
                <a:solidFill>
                  <a:srgbClr val="343A4E"/>
                </a:solidFill>
                <a:latin typeface="Arial" pitchFamily="34" charset="0"/>
                <a:ea typeface="Arial" pitchFamily="34" charset="-122"/>
                <a:cs typeface="Arial" pitchFamily="34" charset="-120"/>
              </a:rPr>
              <a:t>Encode the series five ways: sorted bar, unsorted bar, pie, bubble/area, single-row heatmap. Save all five.</a:t>
            </a:r>
            <a:endParaRPr lang="en-US" sz="1100" dirty="0"/>
          </a:p>
        </p:txBody>
      </p:sp>
      <p:sp>
        <p:nvSpPr>
          <p:cNvPr id="26" name="Shape 23"/>
          <p:cNvSpPr/>
          <p:nvPr/>
        </p:nvSpPr>
        <p:spPr>
          <a:xfrm>
            <a:off x="548640" y="4742688"/>
            <a:ext cx="292608" cy="292608"/>
          </a:xfrm>
          <a:prstGeom prst="ellipse">
            <a:avLst/>
          </a:prstGeom>
          <a:solidFill>
            <a:srgbClr val="E8833A"/>
          </a:solidFill>
          <a:ln/>
        </p:spPr>
      </p:sp>
      <p:sp>
        <p:nvSpPr>
          <p:cNvPr id="27" name="Text 24"/>
          <p:cNvSpPr/>
          <p:nvPr/>
        </p:nvSpPr>
        <p:spPr>
          <a:xfrm>
            <a:off x="548640" y="474268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5"/>
          <p:cNvSpPr/>
          <p:nvPr/>
        </p:nvSpPr>
        <p:spPr>
          <a:xfrm>
            <a:off x="960120" y="4724400"/>
            <a:ext cx="10637215" cy="327660"/>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Rank your five charts best-to-worst for the task; justify each with the Cleveland–McGill hierarchy.</a:t>
            </a:r>
            <a:endParaRPr lang="en-US" sz="1100" dirty="0"/>
          </a:p>
        </p:txBody>
      </p:sp>
      <p:sp>
        <p:nvSpPr>
          <p:cNvPr id="29" name="Shape 26"/>
          <p:cNvSpPr/>
          <p:nvPr/>
        </p:nvSpPr>
        <p:spPr>
          <a:xfrm>
            <a:off x="548640" y="5070348"/>
            <a:ext cx="292608" cy="292608"/>
          </a:xfrm>
          <a:prstGeom prst="ellipse">
            <a:avLst/>
          </a:prstGeom>
          <a:solidFill>
            <a:srgbClr val="6C4FA1"/>
          </a:solidFill>
          <a:ln/>
        </p:spPr>
      </p:sp>
      <p:sp>
        <p:nvSpPr>
          <p:cNvPr id="30" name="Text 27"/>
          <p:cNvSpPr/>
          <p:nvPr/>
        </p:nvSpPr>
        <p:spPr>
          <a:xfrm>
            <a:off x="548640" y="507034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1" name="Text 28"/>
          <p:cNvSpPr/>
          <p:nvPr/>
        </p:nvSpPr>
        <p:spPr>
          <a:xfrm>
            <a:off x="960120" y="5052060"/>
            <a:ext cx="10637215" cy="327660"/>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Audit bad_dashboard_m1.png: list every wasted pre-attentive channel and every under-encoded signal.</a:t>
            </a:r>
            <a:endParaRPr lang="en-US" sz="1100" dirty="0"/>
          </a:p>
        </p:txBody>
      </p:sp>
      <p:sp>
        <p:nvSpPr>
          <p:cNvPr id="32" name="Shape 29"/>
          <p:cNvSpPr/>
          <p:nvPr/>
        </p:nvSpPr>
        <p:spPr>
          <a:xfrm>
            <a:off x="548640" y="5398008"/>
            <a:ext cx="292608" cy="292608"/>
          </a:xfrm>
          <a:prstGeom prst="ellipse">
            <a:avLst/>
          </a:prstGeom>
          <a:solidFill>
            <a:srgbClr val="3FAE5A"/>
          </a:solidFill>
          <a:ln/>
        </p:spPr>
      </p:sp>
      <p:sp>
        <p:nvSpPr>
          <p:cNvPr id="33" name="Text 30"/>
          <p:cNvSpPr/>
          <p:nvPr/>
        </p:nvSpPr>
        <p:spPr>
          <a:xfrm>
            <a:off x="548640" y="539800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p:nvPr/>
        </p:nvSpPr>
        <p:spPr>
          <a:xfrm>
            <a:off x="960120" y="5379720"/>
            <a:ext cx="10637215" cy="327660"/>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Produce one corrected chart that spends exactly one pre-attentive pop on the real message.</a:t>
            </a:r>
            <a:endParaRPr lang="en-US" sz="1100" dirty="0"/>
          </a:p>
        </p:txBody>
      </p:sp>
      <p:sp>
        <p:nvSpPr>
          <p:cNvPr id="35" name="Shape 32"/>
          <p:cNvSpPr/>
          <p:nvPr/>
        </p:nvSpPr>
        <p:spPr>
          <a:xfrm>
            <a:off x="548640" y="5725668"/>
            <a:ext cx="292608" cy="292608"/>
          </a:xfrm>
          <a:prstGeom prst="ellipse">
            <a:avLst/>
          </a:prstGeom>
          <a:solidFill>
            <a:srgbClr val="29ABE2"/>
          </a:solidFill>
          <a:ln/>
        </p:spPr>
      </p:sp>
      <p:sp>
        <p:nvSpPr>
          <p:cNvPr id="36" name="Text 33"/>
          <p:cNvSpPr/>
          <p:nvPr/>
        </p:nvSpPr>
        <p:spPr>
          <a:xfrm>
            <a:off x="548640" y="572566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p:nvPr/>
        </p:nvSpPr>
        <p:spPr>
          <a:xfrm>
            <a:off x="960120" y="5707380"/>
            <a:ext cx="10637215" cy="327660"/>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Commit / save the notebook as lab1_solution.ipynb.</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KNOWLEDGE CHECK</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Mini Exercises — Quick Check</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تمارين قصيرة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42</a:t>
            </a:r>
            <a:endParaRPr lang="en-US" sz="800" dirty="0"/>
          </a:p>
        </p:txBody>
      </p:sp>
      <p:sp>
        <p:nvSpPr>
          <p:cNvPr id="15" name="Shape 12"/>
          <p:cNvSpPr/>
          <p:nvPr/>
        </p:nvSpPr>
        <p:spPr>
          <a:xfrm>
            <a:off x="548640" y="2377440"/>
            <a:ext cx="11094415" cy="614477"/>
          </a:xfrm>
          <a:prstGeom prst="roundRect">
            <a:avLst>
              <a:gd name="adj" fmla="val 10417"/>
            </a:avLst>
          </a:prstGeom>
          <a:solidFill>
            <a:srgbClr val="FFFFFF"/>
          </a:solidFill>
          <a:ln w="12700">
            <a:solidFill>
              <a:srgbClr val="D9DEE8"/>
            </a:solidFill>
            <a:prstDash val="solid"/>
          </a:ln>
        </p:spPr>
      </p:sp>
      <p:sp>
        <p:nvSpPr>
          <p:cNvPr id="16" name="Shape 13"/>
          <p:cNvSpPr/>
          <p:nvPr/>
        </p:nvSpPr>
        <p:spPr>
          <a:xfrm>
            <a:off x="548640" y="2377440"/>
            <a:ext cx="91440" cy="614477"/>
          </a:xfrm>
          <a:prstGeom prst="rect">
            <a:avLst/>
          </a:prstGeom>
          <a:solidFill>
            <a:srgbClr val="2E5AAC"/>
          </a:solidFill>
          <a:ln/>
        </p:spPr>
      </p:sp>
      <p:sp>
        <p:nvSpPr>
          <p:cNvPr id="17" name="Text 14"/>
          <p:cNvSpPr/>
          <p:nvPr/>
        </p:nvSpPr>
        <p:spPr>
          <a:xfrm>
            <a:off x="804672" y="2450592"/>
            <a:ext cx="10637215" cy="307238"/>
          </a:xfrm>
          <a:prstGeom prst="rect">
            <a:avLst/>
          </a:prstGeom>
          <a:noFill/>
          <a:ln/>
        </p:spPr>
        <p:txBody>
          <a:bodyPr wrap="square" rtlCol="0" anchor="t"/>
          <a:lstStyle/>
          <a:p>
            <a:pPr marL="0" indent="0">
              <a:lnSpc>
                <a:spcPct val="98000"/>
              </a:lnSpc>
              <a:buNone/>
            </a:pPr>
            <a:r>
              <a:rPr lang="en-US" sz="1150" b="1" dirty="0">
                <a:solidFill>
                  <a:srgbClr val="2E5AAC"/>
                </a:solidFill>
                <a:latin typeface="Arial" pitchFamily="34" charset="0"/>
                <a:ea typeface="Arial" pitchFamily="34" charset="-122"/>
                <a:cs typeface="Arial" pitchFamily="34" charset="-120"/>
              </a:rPr>
              <a:t>Q1  </a:t>
            </a:r>
            <a:r>
              <a:rPr lang="en-US" sz="1150" b="1" dirty="0">
                <a:solidFill>
                  <a:srgbClr val="1D2A5C"/>
                </a:solidFill>
                <a:latin typeface="Arial" pitchFamily="34" charset="0"/>
                <a:ea typeface="Arial" pitchFamily="34" charset="-122"/>
                <a:cs typeface="Arial" pitchFamily="34" charset="-120"/>
              </a:rPr>
              <a:t>Rank by decoding accuracy for exact values: area, position, angle, length.</a:t>
            </a:r>
            <a:endParaRPr lang="en-US" sz="1150" dirty="0"/>
          </a:p>
        </p:txBody>
      </p:sp>
      <p:sp>
        <p:nvSpPr>
          <p:cNvPr id="18" name="Text 15"/>
          <p:cNvSpPr/>
          <p:nvPr/>
        </p:nvSpPr>
        <p:spPr>
          <a:xfrm>
            <a:off x="804672" y="2666390"/>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Position &gt; length &gt; angle &gt; area.</a:t>
            </a:r>
            <a:endParaRPr lang="en-US" sz="1100" dirty="0"/>
          </a:p>
        </p:txBody>
      </p:sp>
      <p:sp>
        <p:nvSpPr>
          <p:cNvPr id="19" name="Shape 16"/>
          <p:cNvSpPr/>
          <p:nvPr/>
        </p:nvSpPr>
        <p:spPr>
          <a:xfrm>
            <a:off x="548640" y="3138221"/>
            <a:ext cx="11094415" cy="614477"/>
          </a:xfrm>
          <a:prstGeom prst="roundRect">
            <a:avLst>
              <a:gd name="adj" fmla="val 10417"/>
            </a:avLst>
          </a:prstGeom>
          <a:solidFill>
            <a:srgbClr val="FFFFFF"/>
          </a:solidFill>
          <a:ln w="12700">
            <a:solidFill>
              <a:srgbClr val="D9DEE8"/>
            </a:solidFill>
            <a:prstDash val="solid"/>
          </a:ln>
        </p:spPr>
      </p:sp>
      <p:sp>
        <p:nvSpPr>
          <p:cNvPr id="20" name="Shape 17"/>
          <p:cNvSpPr/>
          <p:nvPr/>
        </p:nvSpPr>
        <p:spPr>
          <a:xfrm>
            <a:off x="548640" y="3138221"/>
            <a:ext cx="91440" cy="614477"/>
          </a:xfrm>
          <a:prstGeom prst="rect">
            <a:avLst/>
          </a:prstGeom>
          <a:solidFill>
            <a:srgbClr val="00A79D"/>
          </a:solidFill>
          <a:ln/>
        </p:spPr>
      </p:sp>
      <p:sp>
        <p:nvSpPr>
          <p:cNvPr id="21" name="Text 18"/>
          <p:cNvSpPr/>
          <p:nvPr/>
        </p:nvSpPr>
        <p:spPr>
          <a:xfrm>
            <a:off x="804672" y="3211373"/>
            <a:ext cx="10637215" cy="307238"/>
          </a:xfrm>
          <a:prstGeom prst="rect">
            <a:avLst/>
          </a:prstGeom>
          <a:noFill/>
          <a:ln/>
        </p:spPr>
        <p:txBody>
          <a:bodyPr wrap="square" rtlCol="0" anchor="t"/>
          <a:lstStyle/>
          <a:p>
            <a:pPr marL="0" indent="0">
              <a:lnSpc>
                <a:spcPct val="98000"/>
              </a:lnSpc>
              <a:buNone/>
            </a:pPr>
            <a:r>
              <a:rPr lang="en-US" sz="1150" b="1" dirty="0">
                <a:solidFill>
                  <a:srgbClr val="00A79D"/>
                </a:solidFill>
                <a:latin typeface="Arial" pitchFamily="34" charset="0"/>
                <a:ea typeface="Arial" pitchFamily="34" charset="-122"/>
                <a:cs typeface="Arial" pitchFamily="34" charset="-120"/>
              </a:rPr>
              <a:t>Q2  </a:t>
            </a:r>
            <a:r>
              <a:rPr lang="en-US" sz="1150" b="1" dirty="0">
                <a:solidFill>
                  <a:srgbClr val="1D2A5C"/>
                </a:solidFill>
                <a:latin typeface="Arial" pitchFamily="34" charset="0"/>
                <a:ea typeface="Arial" pitchFamily="34" charset="-122"/>
                <a:cs typeface="Arial" pitchFamily="34" charset="-120"/>
              </a:rPr>
              <a:t>Which processing stage finds one red dot among grey instantly?</a:t>
            </a:r>
            <a:endParaRPr lang="en-US" sz="1150" dirty="0"/>
          </a:p>
        </p:txBody>
      </p:sp>
      <p:sp>
        <p:nvSpPr>
          <p:cNvPr id="22" name="Text 19"/>
          <p:cNvSpPr/>
          <p:nvPr/>
        </p:nvSpPr>
        <p:spPr>
          <a:xfrm>
            <a:off x="804672" y="3427171"/>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Pre-attentive processing.</a:t>
            </a:r>
            <a:endParaRPr lang="en-US" sz="1100" dirty="0"/>
          </a:p>
        </p:txBody>
      </p:sp>
      <p:sp>
        <p:nvSpPr>
          <p:cNvPr id="23" name="Shape 20"/>
          <p:cNvSpPr/>
          <p:nvPr/>
        </p:nvSpPr>
        <p:spPr>
          <a:xfrm>
            <a:off x="548640" y="3899002"/>
            <a:ext cx="11094415" cy="614477"/>
          </a:xfrm>
          <a:prstGeom prst="roundRect">
            <a:avLst>
              <a:gd name="adj" fmla="val 10417"/>
            </a:avLst>
          </a:prstGeom>
          <a:solidFill>
            <a:srgbClr val="FFFFFF"/>
          </a:solidFill>
          <a:ln w="12700">
            <a:solidFill>
              <a:srgbClr val="D9DEE8"/>
            </a:solidFill>
            <a:prstDash val="solid"/>
          </a:ln>
        </p:spPr>
      </p:sp>
      <p:sp>
        <p:nvSpPr>
          <p:cNvPr id="24" name="Shape 21"/>
          <p:cNvSpPr/>
          <p:nvPr/>
        </p:nvSpPr>
        <p:spPr>
          <a:xfrm>
            <a:off x="548640" y="3899002"/>
            <a:ext cx="91440" cy="614477"/>
          </a:xfrm>
          <a:prstGeom prst="rect">
            <a:avLst/>
          </a:prstGeom>
          <a:solidFill>
            <a:srgbClr val="E8833A"/>
          </a:solidFill>
          <a:ln/>
        </p:spPr>
      </p:sp>
      <p:sp>
        <p:nvSpPr>
          <p:cNvPr id="25" name="Text 22"/>
          <p:cNvSpPr/>
          <p:nvPr/>
        </p:nvSpPr>
        <p:spPr>
          <a:xfrm>
            <a:off x="804672" y="3972154"/>
            <a:ext cx="10637215" cy="307238"/>
          </a:xfrm>
          <a:prstGeom prst="rect">
            <a:avLst/>
          </a:prstGeom>
          <a:noFill/>
          <a:ln/>
        </p:spPr>
        <p:txBody>
          <a:bodyPr wrap="square" rtlCol="0" anchor="t"/>
          <a:lstStyle/>
          <a:p>
            <a:pPr marL="0" indent="0">
              <a:lnSpc>
                <a:spcPct val="98000"/>
              </a:lnSpc>
              <a:buNone/>
            </a:pPr>
            <a:r>
              <a:rPr lang="en-US" sz="1150" b="1" dirty="0">
                <a:solidFill>
                  <a:srgbClr val="E8833A"/>
                </a:solidFill>
                <a:latin typeface="Arial" pitchFamily="34" charset="0"/>
                <a:ea typeface="Arial" pitchFamily="34" charset="-122"/>
                <a:cs typeface="Arial" pitchFamily="34" charset="-120"/>
              </a:rPr>
              <a:t>Q3  </a:t>
            </a:r>
            <a:r>
              <a:rPr lang="en-US" sz="1150" b="1" dirty="0">
                <a:solidFill>
                  <a:srgbClr val="1D2A5C"/>
                </a:solidFill>
                <a:latin typeface="Arial" pitchFamily="34" charset="0"/>
                <a:ea typeface="Arial" pitchFamily="34" charset="-122"/>
                <a:cs typeface="Arial" pitchFamily="34" charset="-120"/>
              </a:rPr>
              <a:t>May a line chart truncate its Y axis? A bar chart?</a:t>
            </a:r>
            <a:endParaRPr lang="en-US" sz="1150" dirty="0"/>
          </a:p>
        </p:txBody>
      </p:sp>
      <p:sp>
        <p:nvSpPr>
          <p:cNvPr id="26" name="Text 23"/>
          <p:cNvSpPr/>
          <p:nvPr/>
        </p:nvSpPr>
        <p:spPr>
          <a:xfrm>
            <a:off x="804672" y="4187952"/>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Line yes (encodes slope/position); bar no (encodes length from zero).</a:t>
            </a:r>
            <a:endParaRPr lang="en-US" sz="1100" dirty="0"/>
          </a:p>
        </p:txBody>
      </p:sp>
      <p:sp>
        <p:nvSpPr>
          <p:cNvPr id="27" name="Shape 24"/>
          <p:cNvSpPr/>
          <p:nvPr/>
        </p:nvSpPr>
        <p:spPr>
          <a:xfrm>
            <a:off x="548640" y="4659782"/>
            <a:ext cx="11094415" cy="614477"/>
          </a:xfrm>
          <a:prstGeom prst="roundRect">
            <a:avLst>
              <a:gd name="adj" fmla="val 10417"/>
            </a:avLst>
          </a:prstGeom>
          <a:solidFill>
            <a:srgbClr val="FFFFFF"/>
          </a:solidFill>
          <a:ln w="12700">
            <a:solidFill>
              <a:srgbClr val="D9DEE8"/>
            </a:solidFill>
            <a:prstDash val="solid"/>
          </a:ln>
        </p:spPr>
      </p:sp>
      <p:sp>
        <p:nvSpPr>
          <p:cNvPr id="28" name="Shape 25"/>
          <p:cNvSpPr/>
          <p:nvPr/>
        </p:nvSpPr>
        <p:spPr>
          <a:xfrm>
            <a:off x="548640" y="4659782"/>
            <a:ext cx="91440" cy="614477"/>
          </a:xfrm>
          <a:prstGeom prst="rect">
            <a:avLst/>
          </a:prstGeom>
          <a:solidFill>
            <a:srgbClr val="6C4FA1"/>
          </a:solidFill>
          <a:ln/>
        </p:spPr>
      </p:sp>
      <p:sp>
        <p:nvSpPr>
          <p:cNvPr id="29" name="Text 26"/>
          <p:cNvSpPr/>
          <p:nvPr/>
        </p:nvSpPr>
        <p:spPr>
          <a:xfrm>
            <a:off x="804672" y="4732934"/>
            <a:ext cx="10637215" cy="307238"/>
          </a:xfrm>
          <a:prstGeom prst="rect">
            <a:avLst/>
          </a:prstGeom>
          <a:noFill/>
          <a:ln/>
        </p:spPr>
        <p:txBody>
          <a:bodyPr wrap="square" rtlCol="0" anchor="t"/>
          <a:lstStyle/>
          <a:p>
            <a:pPr marL="0" indent="0">
              <a:lnSpc>
                <a:spcPct val="98000"/>
              </a:lnSpc>
              <a:buNone/>
            </a:pPr>
            <a:r>
              <a:rPr lang="en-US" sz="1150" b="1" dirty="0">
                <a:solidFill>
                  <a:srgbClr val="6C4FA1"/>
                </a:solidFill>
                <a:latin typeface="Arial" pitchFamily="34" charset="0"/>
                <a:ea typeface="Arial" pitchFamily="34" charset="-122"/>
                <a:cs typeface="Arial" pitchFamily="34" charset="-120"/>
              </a:rPr>
              <a:t>Q4  </a:t>
            </a:r>
            <a:r>
              <a:rPr lang="en-US" sz="1150" b="1" dirty="0">
                <a:solidFill>
                  <a:srgbClr val="1D2A5C"/>
                </a:solidFill>
                <a:latin typeface="Arial" pitchFamily="34" charset="0"/>
                <a:ea typeface="Arial" pitchFamily="34" charset="-122"/>
                <a:cs typeface="Arial" pitchFamily="34" charset="-120"/>
              </a:rPr>
              <a:t>Why is a 3D bar chart never acceptable in analytics?</a:t>
            </a:r>
            <a:endParaRPr lang="en-US" sz="1150" dirty="0"/>
          </a:p>
        </p:txBody>
      </p:sp>
      <p:sp>
        <p:nvSpPr>
          <p:cNvPr id="30" name="Text 27"/>
          <p:cNvSpPr/>
          <p:nvPr/>
        </p:nvSpPr>
        <p:spPr>
          <a:xfrm>
            <a:off x="804672" y="4948733"/>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Perspective/volume distortion changes apparent value with angle; depth encodes nothing.</a:t>
            </a:r>
            <a:endParaRPr lang="en-US" sz="1100" dirty="0"/>
          </a:p>
        </p:txBody>
      </p:sp>
      <p:sp>
        <p:nvSpPr>
          <p:cNvPr id="31" name="Shape 28"/>
          <p:cNvSpPr/>
          <p:nvPr/>
        </p:nvSpPr>
        <p:spPr>
          <a:xfrm>
            <a:off x="548640" y="5420563"/>
            <a:ext cx="11094415" cy="614477"/>
          </a:xfrm>
          <a:prstGeom prst="roundRect">
            <a:avLst>
              <a:gd name="adj" fmla="val 10417"/>
            </a:avLst>
          </a:prstGeom>
          <a:solidFill>
            <a:srgbClr val="FFFFFF"/>
          </a:solidFill>
          <a:ln w="12700">
            <a:solidFill>
              <a:srgbClr val="D9DEE8"/>
            </a:solidFill>
            <a:prstDash val="solid"/>
          </a:ln>
        </p:spPr>
      </p:sp>
      <p:sp>
        <p:nvSpPr>
          <p:cNvPr id="32" name="Shape 29"/>
          <p:cNvSpPr/>
          <p:nvPr/>
        </p:nvSpPr>
        <p:spPr>
          <a:xfrm>
            <a:off x="548640" y="5420563"/>
            <a:ext cx="91440" cy="614477"/>
          </a:xfrm>
          <a:prstGeom prst="rect">
            <a:avLst/>
          </a:prstGeom>
          <a:solidFill>
            <a:srgbClr val="3FAE5A"/>
          </a:solidFill>
          <a:ln/>
        </p:spPr>
      </p:sp>
      <p:sp>
        <p:nvSpPr>
          <p:cNvPr id="33" name="Text 30"/>
          <p:cNvSpPr/>
          <p:nvPr/>
        </p:nvSpPr>
        <p:spPr>
          <a:xfrm>
            <a:off x="804672" y="5493715"/>
            <a:ext cx="10637215" cy="307238"/>
          </a:xfrm>
          <a:prstGeom prst="rect">
            <a:avLst/>
          </a:prstGeom>
          <a:noFill/>
          <a:ln/>
        </p:spPr>
        <p:txBody>
          <a:bodyPr wrap="square" rtlCol="0" anchor="t"/>
          <a:lstStyle/>
          <a:p>
            <a:pPr marL="0" indent="0">
              <a:lnSpc>
                <a:spcPct val="98000"/>
              </a:lnSpc>
              <a:buNone/>
            </a:pPr>
            <a:r>
              <a:rPr lang="en-US" sz="1150" b="1" dirty="0">
                <a:solidFill>
                  <a:srgbClr val="3FAE5A"/>
                </a:solidFill>
                <a:latin typeface="Arial" pitchFamily="34" charset="0"/>
                <a:ea typeface="Arial" pitchFamily="34" charset="-122"/>
                <a:cs typeface="Arial" pitchFamily="34" charset="-120"/>
              </a:rPr>
              <a:t>Q5  </a:t>
            </a:r>
            <a:r>
              <a:rPr lang="en-US" sz="1150" b="1" dirty="0">
                <a:solidFill>
                  <a:srgbClr val="1D2A5C"/>
                </a:solidFill>
                <a:latin typeface="Arial" pitchFamily="34" charset="0"/>
                <a:ea typeface="Arial" pitchFamily="34" charset="-122"/>
                <a:cs typeface="Arial" pitchFamily="34" charset="-120"/>
              </a:rPr>
              <a:t>A task needs only 'hot vs cold across a 13×6 matrix.' Is a heatmap legitimate?</a:t>
            </a:r>
            <a:endParaRPr lang="en-US" sz="1150" dirty="0"/>
          </a:p>
        </p:txBody>
      </p:sp>
      <p:sp>
        <p:nvSpPr>
          <p:cNvPr id="34" name="Text 31"/>
          <p:cNvSpPr/>
          <p:nvPr/>
        </p:nvSpPr>
        <p:spPr>
          <a:xfrm>
            <a:off x="804672" y="5709514"/>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Yes — exact decoding is not the task; saturation conveys pattern.</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CASE STUDY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Case Study — The Misread Quarterly Review</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مراجعة ربع سنوية مضللة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43</a:t>
            </a:r>
            <a:endParaRPr lang="en-US" sz="800" dirty="0"/>
          </a:p>
        </p:txBody>
      </p:sp>
      <p:sp>
        <p:nvSpPr>
          <p:cNvPr id="15" name="Shape 12"/>
          <p:cNvSpPr/>
          <p:nvPr/>
        </p:nvSpPr>
        <p:spPr>
          <a:xfrm>
            <a:off x="548640" y="2331720"/>
            <a:ext cx="5410048" cy="1751076"/>
          </a:xfrm>
          <a:prstGeom prst="roundRect">
            <a:avLst>
              <a:gd name="adj" fmla="val 4178"/>
            </a:avLst>
          </a:prstGeom>
          <a:solidFill>
            <a:srgbClr val="EAF0FA"/>
          </a:solidFill>
          <a:ln w="12700">
            <a:solidFill>
              <a:srgbClr val="2E5AAC"/>
            </a:solidFill>
            <a:prstDash val="solid"/>
          </a:ln>
        </p:spPr>
      </p:sp>
      <p:sp>
        <p:nvSpPr>
          <p:cNvPr id="16" name="Text 13"/>
          <p:cNvSpPr/>
          <p:nvPr/>
        </p:nvSpPr>
        <p:spPr>
          <a:xfrm>
            <a:off x="749808" y="2459736"/>
            <a:ext cx="5044288" cy="274320"/>
          </a:xfrm>
          <a:prstGeom prst="rect">
            <a:avLst/>
          </a:prstGeom>
          <a:noFill/>
          <a:ln/>
        </p:spPr>
        <p:txBody>
          <a:bodyPr wrap="square" rtlCol="0" anchor="ctr"/>
          <a:lstStyle/>
          <a:p>
            <a:pPr marL="0" indent="0">
              <a:buNone/>
            </a:pPr>
            <a:r>
              <a:rPr lang="en-US" sz="1100" b="1" kern="0" spc="100" dirty="0">
                <a:solidFill>
                  <a:srgbClr val="2E5AAC"/>
                </a:solidFill>
                <a:latin typeface="Arial" pitchFamily="34" charset="0"/>
                <a:ea typeface="Arial" pitchFamily="34" charset="-122"/>
                <a:cs typeface="Arial" pitchFamily="34" charset="-120"/>
              </a:rPr>
              <a:t>SCENARIO</a:t>
            </a:r>
            <a:endParaRPr lang="en-US" sz="1100" dirty="0"/>
          </a:p>
        </p:txBody>
      </p:sp>
      <p:sp>
        <p:nvSpPr>
          <p:cNvPr id="17" name="Text 14"/>
          <p:cNvSpPr/>
          <p:nvPr/>
        </p:nvSpPr>
        <p:spPr>
          <a:xfrm>
            <a:off x="749808" y="2788920"/>
            <a:ext cx="5007712" cy="1184148"/>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The Tayseer office presents quarterly to a Deputy-Minister-chaired committee. A 3D exploded pie and a dual-axis satisfaction-vs-cost line led it to misjudge branch usage and infer a false cost→satisfaction link, nearly approving a budget rise for the wrong reason.</a:t>
            </a:r>
            <a:endParaRPr lang="en-US" sz="1100" dirty="0"/>
          </a:p>
        </p:txBody>
      </p:sp>
      <p:sp>
        <p:nvSpPr>
          <p:cNvPr id="18" name="Shape 15"/>
          <p:cNvSpPr/>
          <p:nvPr/>
        </p:nvSpPr>
        <p:spPr>
          <a:xfrm>
            <a:off x="6233008" y="2331720"/>
            <a:ext cx="5410048" cy="1751076"/>
          </a:xfrm>
          <a:prstGeom prst="roundRect">
            <a:avLst>
              <a:gd name="adj" fmla="val 4178"/>
            </a:avLst>
          </a:prstGeom>
          <a:solidFill>
            <a:srgbClr val="E6F5F4"/>
          </a:solidFill>
          <a:ln w="12700">
            <a:solidFill>
              <a:srgbClr val="00A79D"/>
            </a:solidFill>
            <a:prstDash val="solid"/>
          </a:ln>
        </p:spPr>
      </p:sp>
      <p:sp>
        <p:nvSpPr>
          <p:cNvPr id="19" name="Text 16"/>
          <p:cNvSpPr/>
          <p:nvPr/>
        </p:nvSpPr>
        <p:spPr>
          <a:xfrm>
            <a:off x="6434176" y="2459736"/>
            <a:ext cx="5044288" cy="274320"/>
          </a:xfrm>
          <a:prstGeom prst="rect">
            <a:avLst/>
          </a:prstGeom>
          <a:noFill/>
          <a:ln/>
        </p:spPr>
        <p:txBody>
          <a:bodyPr wrap="square" rtlCol="0" anchor="ctr"/>
          <a:lstStyle/>
          <a:p>
            <a:pPr marL="0" indent="0">
              <a:buNone/>
            </a:pPr>
            <a:r>
              <a:rPr lang="en-US" sz="1100" b="1" kern="0" spc="100" dirty="0">
                <a:solidFill>
                  <a:srgbClr val="00A79D"/>
                </a:solidFill>
                <a:latin typeface="Arial" pitchFamily="34" charset="0"/>
                <a:ea typeface="Arial" pitchFamily="34" charset="-122"/>
                <a:cs typeface="Arial" pitchFamily="34" charset="-120"/>
              </a:rPr>
              <a:t>BUSINESS CONTEXT</a:t>
            </a:r>
            <a:endParaRPr lang="en-US" sz="1100" dirty="0"/>
          </a:p>
        </p:txBody>
      </p:sp>
      <p:sp>
        <p:nvSpPr>
          <p:cNvPr id="20" name="Text 17"/>
          <p:cNvSpPr/>
          <p:nvPr/>
        </p:nvSpPr>
        <p:spPr>
          <a:xfrm>
            <a:off x="6434176" y="2788920"/>
            <a:ext cx="5007712" cy="1184148"/>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A Vision 2030 flagship whose budget re-allocations move tens of millions of riyals and are audited. A chart that misleads the committee is a governance and public-money issue, not a cosmetic one.</a:t>
            </a:r>
            <a:endParaRPr lang="en-US" sz="1100" dirty="0"/>
          </a:p>
        </p:txBody>
      </p:sp>
      <p:sp>
        <p:nvSpPr>
          <p:cNvPr id="21" name="Shape 18"/>
          <p:cNvSpPr/>
          <p:nvPr/>
        </p:nvSpPr>
        <p:spPr>
          <a:xfrm>
            <a:off x="548640" y="4283964"/>
            <a:ext cx="5410048" cy="1751076"/>
          </a:xfrm>
          <a:prstGeom prst="roundRect">
            <a:avLst>
              <a:gd name="adj" fmla="val 4178"/>
            </a:avLst>
          </a:prstGeom>
          <a:solidFill>
            <a:srgbClr val="FCF0E6"/>
          </a:solidFill>
          <a:ln w="12700">
            <a:solidFill>
              <a:srgbClr val="E8833A"/>
            </a:solidFill>
            <a:prstDash val="solid"/>
          </a:ln>
        </p:spPr>
      </p:sp>
      <p:sp>
        <p:nvSpPr>
          <p:cNvPr id="22" name="Text 19"/>
          <p:cNvSpPr/>
          <p:nvPr/>
        </p:nvSpPr>
        <p:spPr>
          <a:xfrm>
            <a:off x="749808" y="4411980"/>
            <a:ext cx="5044288" cy="274320"/>
          </a:xfrm>
          <a:prstGeom prst="rect">
            <a:avLst/>
          </a:prstGeom>
          <a:noFill/>
          <a:ln/>
        </p:spPr>
        <p:txBody>
          <a:bodyPr wrap="square" rtlCol="0" anchor="ctr"/>
          <a:lstStyle/>
          <a:p>
            <a:pPr marL="0" indent="0">
              <a:buNone/>
            </a:pPr>
            <a:r>
              <a:rPr lang="en-US" sz="1100" b="1" kern="0" spc="100" dirty="0">
                <a:solidFill>
                  <a:srgbClr val="E8833A"/>
                </a:solidFill>
                <a:latin typeface="Arial" pitchFamily="34" charset="0"/>
                <a:ea typeface="Arial" pitchFamily="34" charset="-122"/>
                <a:cs typeface="Arial" pitchFamily="34" charset="-120"/>
              </a:rPr>
              <a:t>CHALLENGE</a:t>
            </a:r>
            <a:endParaRPr lang="en-US" sz="1100" dirty="0"/>
          </a:p>
        </p:txBody>
      </p:sp>
      <p:sp>
        <p:nvSpPr>
          <p:cNvPr id="23" name="Text 20"/>
          <p:cNvSpPr/>
          <p:nvPr/>
        </p:nvSpPr>
        <p:spPr>
          <a:xfrm>
            <a:off x="749808" y="4741164"/>
            <a:ext cx="5007712" cy="1184148"/>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Diagnose why each chart misled — perceptually, not stylistically — and specify honest replacements a non-technical committee reads correctly in seconds.</a:t>
            </a:r>
            <a:endParaRPr lang="en-US" sz="1100" dirty="0"/>
          </a:p>
        </p:txBody>
      </p:sp>
      <p:sp>
        <p:nvSpPr>
          <p:cNvPr id="24" name="Shape 21"/>
          <p:cNvSpPr/>
          <p:nvPr/>
        </p:nvSpPr>
        <p:spPr>
          <a:xfrm>
            <a:off x="6233008" y="4283964"/>
            <a:ext cx="5410048" cy="1751076"/>
          </a:xfrm>
          <a:prstGeom prst="roundRect">
            <a:avLst>
              <a:gd name="adj" fmla="val 4178"/>
            </a:avLst>
          </a:prstGeom>
          <a:solidFill>
            <a:srgbClr val="EFEBF6"/>
          </a:solidFill>
          <a:ln w="12700">
            <a:solidFill>
              <a:srgbClr val="6C4FA1"/>
            </a:solidFill>
            <a:prstDash val="solid"/>
          </a:ln>
        </p:spPr>
      </p:sp>
      <p:sp>
        <p:nvSpPr>
          <p:cNvPr id="25" name="Text 22"/>
          <p:cNvSpPr/>
          <p:nvPr/>
        </p:nvSpPr>
        <p:spPr>
          <a:xfrm>
            <a:off x="6434176" y="4411980"/>
            <a:ext cx="5044288" cy="274320"/>
          </a:xfrm>
          <a:prstGeom prst="rect">
            <a:avLst/>
          </a:prstGeom>
          <a:noFill/>
          <a:ln/>
        </p:spPr>
        <p:txBody>
          <a:bodyPr wrap="square" rtlCol="0" anchor="ctr"/>
          <a:lstStyle/>
          <a:p>
            <a:pPr marL="0" indent="0">
              <a:buNone/>
            </a:pPr>
            <a:r>
              <a:rPr lang="en-US" sz="1100" b="1" kern="0" spc="100" dirty="0">
                <a:solidFill>
                  <a:srgbClr val="6C4FA1"/>
                </a:solidFill>
                <a:latin typeface="Arial" pitchFamily="34" charset="0"/>
                <a:ea typeface="Arial" pitchFamily="34" charset="-122"/>
                <a:cs typeface="Arial" pitchFamily="34" charset="-120"/>
              </a:rPr>
              <a:t>APPROACH</a:t>
            </a:r>
            <a:endParaRPr lang="en-US" sz="1100" dirty="0"/>
          </a:p>
        </p:txBody>
      </p:sp>
      <p:sp>
        <p:nvSpPr>
          <p:cNvPr id="26" name="Text 23"/>
          <p:cNvSpPr/>
          <p:nvPr/>
        </p:nvSpPr>
        <p:spPr>
          <a:xfrm>
            <a:off x="6434176" y="4741164"/>
            <a:ext cx="5007712" cy="1184148"/>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Name each perceptual failure via the accuracy hierarchy; replace the pie with a sorted bar and the dual axis with two indexed lines (base = 100); move the message into the title; verify with a 5-second comprehension test.</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Targets to reach after Module 1</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44</a:t>
            </a:r>
            <a:endParaRPr lang="en-US" sz="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2798064"/>
        </p:xfrm>
        <a:graphic>
          <a:graphicData uri="http://schemas.openxmlformats.org/drawingml/2006/table">
            <a:tbl>
              <a:tblPr/>
              <a:tblGrid>
                <a:gridCol w="4937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How measured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Rank top-3 laggard regions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&lt; 5 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Stopwatch peer test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Encoding-accuracy quiz score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 4/5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Quiz</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Wasted pre-attentive channels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Instructor audit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Lie factor of final chart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1.0 (±0.05)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Computed in notebook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Axis-truncation rule applied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Lab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Example benchmark table filled during the lab</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45</a:t>
            </a:r>
            <a:endParaRPr lang="en-US" sz="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1847088"/>
        </p:xfrm>
        <a:graphic>
          <a:graphicData uri="http://schemas.openxmlformats.org/drawingml/2006/table">
            <a:tbl>
              <a:tblPr/>
              <a:tblGrid>
                <a:gridCol w="32918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Chart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Task-match</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Rank</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5-sec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Verdict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3D exploded pie (original)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poor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5–6</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fail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reject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Sorted horizontal bar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excellent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ship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Single-row heatmap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pattern-only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7</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partial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support 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Text 11"/>
          <p:cNvSpPr/>
          <p:nvPr/>
        </p:nvSpPr>
        <p:spPr>
          <a:xfrm>
            <a:off x="548640" y="4005072"/>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Same data, three encodings — task-match and decode rank decide the verdict.</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TRAINING ASSETS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Required Visuals &amp; Training Assets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الأصول التدريبية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46</a:t>
            </a:r>
            <a:endParaRPr lang="en-US" sz="800" dirty="0"/>
          </a:p>
        </p:txBody>
      </p:sp>
      <p:sp>
        <p:nvSpPr>
          <p:cNvPr id="15" name="Shape 12"/>
          <p:cNvSpPr/>
          <p:nvPr/>
        </p:nvSpPr>
        <p:spPr>
          <a:xfrm>
            <a:off x="548640" y="2377440"/>
            <a:ext cx="3515258" cy="3657600"/>
          </a:xfrm>
          <a:prstGeom prst="roundRect">
            <a:avLst>
              <a:gd name="adj" fmla="val 2341"/>
            </a:avLst>
          </a:prstGeom>
          <a:solidFill>
            <a:srgbClr val="FFFFFF"/>
          </a:solidFill>
          <a:ln w="12700">
            <a:solidFill>
              <a:srgbClr val="D9DEE8"/>
            </a:solidFill>
            <a:prstDash val="solid"/>
          </a:ln>
        </p:spPr>
      </p:sp>
      <p:sp>
        <p:nvSpPr>
          <p:cNvPr id="16" name="Shape 13"/>
          <p:cNvSpPr/>
          <p:nvPr/>
        </p:nvSpPr>
        <p:spPr>
          <a:xfrm>
            <a:off x="548640" y="2377440"/>
            <a:ext cx="3515258" cy="457200"/>
          </a:xfrm>
          <a:prstGeom prst="roundRect">
            <a:avLst>
              <a:gd name="adj" fmla="val 18000"/>
            </a:avLst>
          </a:prstGeom>
          <a:solidFill>
            <a:srgbClr val="2E5AAC"/>
          </a:solidFill>
          <a:ln/>
        </p:spPr>
      </p:sp>
      <p:sp>
        <p:nvSpPr>
          <p:cNvPr id="17" name="Shape 14"/>
          <p:cNvSpPr/>
          <p:nvPr/>
        </p:nvSpPr>
        <p:spPr>
          <a:xfrm>
            <a:off x="548640" y="2606040"/>
            <a:ext cx="3515258" cy="228600"/>
          </a:xfrm>
          <a:prstGeom prst="rect">
            <a:avLst/>
          </a:prstGeom>
          <a:solidFill>
            <a:srgbClr val="2E5AAC"/>
          </a:solidFill>
          <a:ln/>
        </p:spPr>
      </p:sp>
      <p:sp>
        <p:nvSpPr>
          <p:cNvPr id="18" name="Text 15"/>
          <p:cNvSpPr/>
          <p:nvPr/>
        </p:nvSpPr>
        <p:spPr>
          <a:xfrm>
            <a:off x="640080"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Diagrams</a:t>
            </a:r>
            <a:endParaRPr lang="en-US" sz="1250" dirty="0"/>
          </a:p>
        </p:txBody>
      </p:sp>
      <p:sp>
        <p:nvSpPr>
          <p:cNvPr id="19" name="Text 16"/>
          <p:cNvSpPr/>
          <p:nvPr/>
        </p:nvSpPr>
        <p:spPr>
          <a:xfrm>
            <a:off x="713232" y="2971800"/>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Encoding-accuracy staircase (course anchor)</a:t>
            </a:r>
            <a:endParaRPr lang="en-US" sz="1050" dirty="0"/>
          </a:p>
        </p:txBody>
      </p:sp>
      <p:sp>
        <p:nvSpPr>
          <p:cNvPr id="20" name="Text 17"/>
          <p:cNvSpPr/>
          <p:nvPr/>
        </p:nvSpPr>
        <p:spPr>
          <a:xfrm>
            <a:off x="713232" y="3392424"/>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Pre-attentive attributes grid (A4 poster)</a:t>
            </a:r>
            <a:endParaRPr lang="en-US" sz="1050" dirty="0"/>
          </a:p>
        </p:txBody>
      </p:sp>
      <p:sp>
        <p:nvSpPr>
          <p:cNvPr id="21" name="Text 18"/>
          <p:cNvSpPr/>
          <p:nvPr/>
        </p:nvSpPr>
        <p:spPr>
          <a:xfrm>
            <a:off x="713232" y="3813048"/>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Lie-factor before/after split panel</a:t>
            </a:r>
            <a:endParaRPr lang="en-US" sz="1050" dirty="0"/>
          </a:p>
        </p:txBody>
      </p:sp>
      <p:sp>
        <p:nvSpPr>
          <p:cNvPr id="22" name="Text 19"/>
          <p:cNvSpPr/>
          <p:nvPr/>
        </p:nvSpPr>
        <p:spPr>
          <a:xfrm>
            <a:off x="713232" y="4233672"/>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Task-to-channel decision strip</a:t>
            </a:r>
            <a:endParaRPr lang="en-US" sz="1050" dirty="0"/>
          </a:p>
        </p:txBody>
      </p:sp>
      <p:sp>
        <p:nvSpPr>
          <p:cNvPr id="23" name="Shape 20"/>
          <p:cNvSpPr/>
          <p:nvPr/>
        </p:nvSpPr>
        <p:spPr>
          <a:xfrm>
            <a:off x="4338218" y="2377440"/>
            <a:ext cx="3515258" cy="3657600"/>
          </a:xfrm>
          <a:prstGeom prst="roundRect">
            <a:avLst>
              <a:gd name="adj" fmla="val 2341"/>
            </a:avLst>
          </a:prstGeom>
          <a:solidFill>
            <a:srgbClr val="FFFFFF"/>
          </a:solidFill>
          <a:ln w="12700">
            <a:solidFill>
              <a:srgbClr val="D9DEE8"/>
            </a:solidFill>
            <a:prstDash val="solid"/>
          </a:ln>
        </p:spPr>
      </p:sp>
      <p:sp>
        <p:nvSpPr>
          <p:cNvPr id="24" name="Shape 21"/>
          <p:cNvSpPr/>
          <p:nvPr/>
        </p:nvSpPr>
        <p:spPr>
          <a:xfrm>
            <a:off x="4338218" y="2377440"/>
            <a:ext cx="3515258" cy="457200"/>
          </a:xfrm>
          <a:prstGeom prst="roundRect">
            <a:avLst>
              <a:gd name="adj" fmla="val 18000"/>
            </a:avLst>
          </a:prstGeom>
          <a:solidFill>
            <a:srgbClr val="00A79D"/>
          </a:solidFill>
          <a:ln/>
        </p:spPr>
      </p:sp>
      <p:sp>
        <p:nvSpPr>
          <p:cNvPr id="25" name="Shape 22"/>
          <p:cNvSpPr/>
          <p:nvPr/>
        </p:nvSpPr>
        <p:spPr>
          <a:xfrm>
            <a:off x="4338218" y="2606040"/>
            <a:ext cx="3515258" cy="228600"/>
          </a:xfrm>
          <a:prstGeom prst="rect">
            <a:avLst/>
          </a:prstGeom>
          <a:solidFill>
            <a:srgbClr val="00A79D"/>
          </a:solidFill>
          <a:ln/>
        </p:spPr>
      </p:sp>
      <p:sp>
        <p:nvSpPr>
          <p:cNvPr id="26" name="Text 23"/>
          <p:cNvSpPr/>
          <p:nvPr/>
        </p:nvSpPr>
        <p:spPr>
          <a:xfrm>
            <a:off x="4429658"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Images</a:t>
            </a:r>
            <a:endParaRPr lang="en-US" sz="1250" dirty="0"/>
          </a:p>
        </p:txBody>
      </p:sp>
      <p:sp>
        <p:nvSpPr>
          <p:cNvPr id="27" name="Text 24"/>
          <p:cNvSpPr/>
          <p:nvPr/>
        </p:nvSpPr>
        <p:spPr>
          <a:xfrm>
            <a:off x="4502810" y="2971800"/>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'Find the 3' demo — plain vs highlighted</a:t>
            </a:r>
            <a:endParaRPr lang="en-US" sz="1050" dirty="0"/>
          </a:p>
        </p:txBody>
      </p:sp>
      <p:sp>
        <p:nvSpPr>
          <p:cNvPr id="28" name="Text 25"/>
          <p:cNvSpPr/>
          <p:nvPr/>
        </p:nvSpPr>
        <p:spPr>
          <a:xfrm>
            <a:off x="4502810" y="3392424"/>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m1_encoding_contrast.png output</a:t>
            </a:r>
            <a:endParaRPr lang="en-US" sz="1050" dirty="0"/>
          </a:p>
        </p:txBody>
      </p:sp>
      <p:sp>
        <p:nvSpPr>
          <p:cNvPr id="29" name="Text 26"/>
          <p:cNvSpPr/>
          <p:nvPr/>
        </p:nvSpPr>
        <p:spPr>
          <a:xfrm>
            <a:off x="4502810" y="3813048"/>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bad_dashboard_m1.png (audit target)</a:t>
            </a:r>
            <a:endParaRPr lang="en-US" sz="1050" dirty="0"/>
          </a:p>
        </p:txBody>
      </p:sp>
      <p:sp>
        <p:nvSpPr>
          <p:cNvPr id="30" name="Text 27"/>
          <p:cNvSpPr/>
          <p:nvPr/>
        </p:nvSpPr>
        <p:spPr>
          <a:xfrm>
            <a:off x="4502810" y="4233672"/>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m1_attention_pop.png (single honest pop)</a:t>
            </a:r>
            <a:endParaRPr lang="en-US" sz="1050" dirty="0"/>
          </a:p>
        </p:txBody>
      </p:sp>
      <p:sp>
        <p:nvSpPr>
          <p:cNvPr id="31" name="Shape 28"/>
          <p:cNvSpPr/>
          <p:nvPr/>
        </p:nvSpPr>
        <p:spPr>
          <a:xfrm>
            <a:off x="8127797" y="2377440"/>
            <a:ext cx="3515258" cy="3657600"/>
          </a:xfrm>
          <a:prstGeom prst="roundRect">
            <a:avLst>
              <a:gd name="adj" fmla="val 2341"/>
            </a:avLst>
          </a:prstGeom>
          <a:solidFill>
            <a:srgbClr val="FFFFFF"/>
          </a:solidFill>
          <a:ln w="12700">
            <a:solidFill>
              <a:srgbClr val="D9DEE8"/>
            </a:solidFill>
            <a:prstDash val="solid"/>
          </a:ln>
        </p:spPr>
      </p:sp>
      <p:sp>
        <p:nvSpPr>
          <p:cNvPr id="32" name="Shape 29"/>
          <p:cNvSpPr/>
          <p:nvPr/>
        </p:nvSpPr>
        <p:spPr>
          <a:xfrm>
            <a:off x="8127797" y="2377440"/>
            <a:ext cx="3515258" cy="457200"/>
          </a:xfrm>
          <a:prstGeom prst="roundRect">
            <a:avLst>
              <a:gd name="adj" fmla="val 18000"/>
            </a:avLst>
          </a:prstGeom>
          <a:solidFill>
            <a:srgbClr val="E8833A"/>
          </a:solidFill>
          <a:ln/>
        </p:spPr>
      </p:sp>
      <p:sp>
        <p:nvSpPr>
          <p:cNvPr id="33" name="Shape 30"/>
          <p:cNvSpPr/>
          <p:nvPr/>
        </p:nvSpPr>
        <p:spPr>
          <a:xfrm>
            <a:off x="8127797" y="2606040"/>
            <a:ext cx="3515258" cy="228600"/>
          </a:xfrm>
          <a:prstGeom prst="rect">
            <a:avLst/>
          </a:prstGeom>
          <a:solidFill>
            <a:srgbClr val="E8833A"/>
          </a:solidFill>
          <a:ln/>
        </p:spPr>
      </p:sp>
      <p:sp>
        <p:nvSpPr>
          <p:cNvPr id="34" name="Text 31"/>
          <p:cNvSpPr/>
          <p:nvPr/>
        </p:nvSpPr>
        <p:spPr>
          <a:xfrm>
            <a:off x="8219237"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Datasets</a:t>
            </a:r>
            <a:endParaRPr lang="en-US" sz="1250" dirty="0"/>
          </a:p>
        </p:txBody>
      </p:sp>
      <p:sp>
        <p:nvSpPr>
          <p:cNvPr id="35" name="Text 32"/>
          <p:cNvSpPr/>
          <p:nvPr/>
        </p:nvSpPr>
        <p:spPr>
          <a:xfrm>
            <a:off x="8292389" y="2971800"/>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tayseer_services.csv (~28k rows × 12 cols)</a:t>
            </a:r>
            <a:endParaRPr lang="en-US" sz="1050" dirty="0"/>
          </a:p>
        </p:txBody>
      </p:sp>
      <p:sp>
        <p:nvSpPr>
          <p:cNvPr id="36" name="Text 33"/>
          <p:cNvSpPr/>
          <p:nvPr/>
        </p:nvSpPr>
        <p:spPr>
          <a:xfrm>
            <a:off x="8292389" y="3392424"/>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bad_dashboard_m1.png (over-decorated)</a:t>
            </a:r>
            <a:endParaRPr lang="en-US" sz="1050" dirty="0"/>
          </a:p>
        </p:txBody>
      </p:sp>
      <p:sp>
        <p:nvSpPr>
          <p:cNvPr id="37" name="Text 34"/>
          <p:cNvSpPr/>
          <p:nvPr/>
        </p:nvSpPr>
        <p:spPr>
          <a:xfrm>
            <a:off x="8292389" y="3813048"/>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data_dictionary.md (columns &amp; seasonality)</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marL="0" indent="0" algn="l">
              <a:buNone/>
            </a:pPr>
            <a:r>
              <a:rPr lang="en-US" sz="15000" b="1" dirty="0">
                <a:solidFill>
                  <a:srgbClr val="27345F"/>
                </a:solidFill>
                <a:latin typeface="Arial" pitchFamily="34" charset="0"/>
                <a:ea typeface="Arial" pitchFamily="34" charset="-122"/>
                <a:cs typeface="Arial" pitchFamily="34" charset="-120"/>
              </a:rPr>
              <a:t>02</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marL="0" indent="0">
              <a:buNone/>
            </a:pPr>
            <a:r>
              <a:rPr lang="en-US" sz="1400" b="1" kern="0" spc="300" dirty="0">
                <a:solidFill>
                  <a:srgbClr val="00A79D"/>
                </a:solidFill>
                <a:latin typeface="Arial" pitchFamily="34" charset="0"/>
                <a:ea typeface="Arial" pitchFamily="34" charset="-122"/>
                <a:cs typeface="Arial" pitchFamily="34" charset="-120"/>
              </a:rPr>
              <a:t>MODULE 2</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marL="0" indent="0">
              <a:buNone/>
            </a:pPr>
            <a:r>
              <a:rPr lang="en-US" sz="3400" b="1" dirty="0">
                <a:solidFill>
                  <a:srgbClr val="FFFFFF"/>
                </a:solidFill>
                <a:latin typeface="Arial" pitchFamily="34" charset="0"/>
                <a:ea typeface="Arial" pitchFamily="34" charset="-122"/>
                <a:cs typeface="Arial" pitchFamily="34" charset="-120"/>
              </a:rPr>
              <a:t>Chart Selection and Design Principles</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marL="0" indent="0">
              <a:buNone/>
            </a:pPr>
            <a:r>
              <a:rPr lang="en-US" sz="1800" dirty="0">
                <a:solidFill>
                  <a:srgbClr val="C9D3EA"/>
                </a:solidFill>
                <a:latin typeface="Arial" pitchFamily="34" charset="0"/>
                <a:ea typeface="Arial" pitchFamily="34" charset="-122"/>
                <a:cs typeface="Arial" pitchFamily="34" charset="-120"/>
              </a:rPr>
              <a:t>اختيار الرسوم ومبادئ التصميم</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marL="0" indent="0">
              <a:buNone/>
            </a:pPr>
            <a:r>
              <a:rPr lang="en-US" sz="1250" dirty="0">
                <a:solidFill>
                  <a:srgbClr val="AEB8D0"/>
                </a:solidFill>
                <a:latin typeface="Arial" pitchFamily="34" charset="0"/>
                <a:ea typeface="Arial" pitchFamily="34" charset="-122"/>
                <a:cs typeface="Arial" pitchFamily="34" charset="-120"/>
              </a:rPr>
              <a:t>Turn perception into a repeatable decision: pick the chart the question requires, then let data carry the meaning.</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MODULE OVERVIEW</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From decoration to argument</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من الزخرفة إلى الحجة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48</a:t>
            </a:r>
            <a:endParaRPr lang="en-US" sz="800" dirty="0"/>
          </a:p>
        </p:txBody>
      </p:sp>
      <p:sp>
        <p:nvSpPr>
          <p:cNvPr id="15" name="Text 12"/>
          <p:cNvSpPr/>
          <p:nvPr/>
        </p:nvSpPr>
        <p:spPr>
          <a:xfrm>
            <a:off x="548640" y="2377440"/>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Module 1 established how the eye decodes marks; this module turns that into a repeatable decision procedure — from 'what chart looks nice?' to 'what chart does this comparison require?'.</a:t>
            </a:r>
            <a:endParaRPr lang="en-US" sz="1300" dirty="0"/>
          </a:p>
        </p:txBody>
      </p:sp>
      <p:sp>
        <p:nvSpPr>
          <p:cNvPr id="16" name="Shape 13"/>
          <p:cNvSpPr/>
          <p:nvPr/>
        </p:nvSpPr>
        <p:spPr>
          <a:xfrm>
            <a:off x="548640" y="3209544"/>
            <a:ext cx="100584" cy="420624"/>
          </a:xfrm>
          <a:prstGeom prst="rect">
            <a:avLst/>
          </a:prstGeom>
          <a:solidFill>
            <a:srgbClr val="2E5AAC"/>
          </a:solidFill>
          <a:ln/>
        </p:spPr>
      </p:sp>
      <p:sp>
        <p:nvSpPr>
          <p:cNvPr id="17" name="Text 14"/>
          <p:cNvSpPr/>
          <p:nvPr/>
        </p:nvSpPr>
        <p:spPr>
          <a:xfrm>
            <a:off x="804672" y="315468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Question, not taste:  </a:t>
            </a:r>
            <a:r>
              <a:rPr lang="en-US" sz="1250" dirty="0">
                <a:solidFill>
                  <a:srgbClr val="343A4E"/>
                </a:solidFill>
                <a:latin typeface="Arial" pitchFamily="34" charset="0"/>
                <a:ea typeface="Arial" pitchFamily="34" charset="-122"/>
                <a:cs typeface="Arial" pitchFamily="34" charset="-120"/>
              </a:rPr>
              <a:t>Chart choice is a function of the analytical question, moderated by the data shape.</a:t>
            </a:r>
            <a:endParaRPr lang="en-US" sz="1250" dirty="0"/>
          </a:p>
        </p:txBody>
      </p:sp>
      <p:sp>
        <p:nvSpPr>
          <p:cNvPr id="18" name="Shape 15"/>
          <p:cNvSpPr/>
          <p:nvPr/>
        </p:nvSpPr>
        <p:spPr>
          <a:xfrm>
            <a:off x="548640" y="3776472"/>
            <a:ext cx="100584" cy="420624"/>
          </a:xfrm>
          <a:prstGeom prst="rect">
            <a:avLst/>
          </a:prstGeom>
          <a:solidFill>
            <a:srgbClr val="00A79D"/>
          </a:solidFill>
          <a:ln/>
        </p:spPr>
      </p:sp>
      <p:sp>
        <p:nvSpPr>
          <p:cNvPr id="19" name="Text 16"/>
          <p:cNvSpPr/>
          <p:nvPr/>
        </p:nvSpPr>
        <p:spPr>
          <a:xfrm>
            <a:off x="804672" y="372160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Decision over gallery:  </a:t>
            </a:r>
            <a:r>
              <a:rPr lang="en-US" sz="1250" dirty="0">
                <a:solidFill>
                  <a:srgbClr val="343A4E"/>
                </a:solidFill>
                <a:latin typeface="Arial" pitchFamily="34" charset="0"/>
                <a:ea typeface="Arial" pitchFamily="34" charset="-122"/>
                <a:cs typeface="Arial" pitchFamily="34" charset="-120"/>
              </a:rPr>
              <a:t>Teach a two-step lookup, not a gallery of pretty chart pictures to browse.</a:t>
            </a:r>
            <a:endParaRPr lang="en-US" sz="1250" dirty="0"/>
          </a:p>
        </p:txBody>
      </p:sp>
      <p:sp>
        <p:nvSpPr>
          <p:cNvPr id="20" name="Shape 17"/>
          <p:cNvSpPr/>
          <p:nvPr/>
        </p:nvSpPr>
        <p:spPr>
          <a:xfrm>
            <a:off x="548640" y="4343400"/>
            <a:ext cx="100584" cy="420624"/>
          </a:xfrm>
          <a:prstGeom prst="rect">
            <a:avLst/>
          </a:prstGeom>
          <a:solidFill>
            <a:srgbClr val="E8833A"/>
          </a:solidFill>
          <a:ln/>
        </p:spPr>
      </p:sp>
      <p:sp>
        <p:nvSpPr>
          <p:cNvPr id="21" name="Text 18"/>
          <p:cNvSpPr/>
          <p:nvPr/>
        </p:nvSpPr>
        <p:spPr>
          <a:xfrm>
            <a:off x="804672" y="4288536"/>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Not decoration:  </a:t>
            </a:r>
            <a:r>
              <a:rPr lang="en-US" sz="1250" dirty="0">
                <a:solidFill>
                  <a:srgbClr val="343A4E"/>
                </a:solidFill>
                <a:latin typeface="Arial" pitchFamily="34" charset="0"/>
                <a:ea typeface="Arial" pitchFamily="34" charset="-122"/>
                <a:cs typeface="Arial" pitchFamily="34" charset="-120"/>
              </a:rPr>
              <a:t>The shift is from styling a chart to making the data carry the argument.</a:t>
            </a:r>
            <a:endParaRPr lang="en-US" sz="1250" dirty="0"/>
          </a:p>
        </p:txBody>
      </p:sp>
      <p:sp>
        <p:nvSpPr>
          <p:cNvPr id="22" name="Shape 19"/>
          <p:cNvSpPr/>
          <p:nvPr/>
        </p:nvSpPr>
        <p:spPr>
          <a:xfrm>
            <a:off x="548640" y="4910328"/>
            <a:ext cx="100584" cy="420624"/>
          </a:xfrm>
          <a:prstGeom prst="rect">
            <a:avLst/>
          </a:prstGeom>
          <a:solidFill>
            <a:srgbClr val="6C4FA1"/>
          </a:solidFill>
          <a:ln/>
        </p:spPr>
      </p:sp>
      <p:sp>
        <p:nvSpPr>
          <p:cNvPr id="23" name="Text 20"/>
          <p:cNvSpPr/>
          <p:nvPr/>
        </p:nvSpPr>
        <p:spPr>
          <a:xfrm>
            <a:off x="804672" y="485546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Principles help:  </a:t>
            </a:r>
            <a:r>
              <a:rPr lang="en-US" sz="1250" dirty="0">
                <a:solidFill>
                  <a:srgbClr val="343A4E"/>
                </a:solidFill>
                <a:latin typeface="Arial" pitchFamily="34" charset="0"/>
                <a:ea typeface="Arial" pitchFamily="34" charset="-122"/>
                <a:cs typeface="Arial" pitchFamily="34" charset="-120"/>
              </a:rPr>
              <a:t>Five design principles make any chart readable once the type is chosen.</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BUSINESS RELEVANCE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right chart in ten seconds is a trust signal</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49</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Analysts waste enormous time re-styling the wrong chart. Choosing right fast keeps analysis at the pace of decisions — and in a national program it is a trust signal.</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Ship at pace:  </a:t>
            </a:r>
            <a:r>
              <a:rPr lang="en-US" sz="1250" dirty="0">
                <a:solidFill>
                  <a:srgbClr val="343A4E"/>
                </a:solidFill>
                <a:latin typeface="Arial" pitchFamily="34" charset="0"/>
                <a:ea typeface="Arial" pitchFamily="34" charset="-122"/>
                <a:cs typeface="Arial" pitchFamily="34" charset="-120"/>
              </a:rPr>
              <a:t>Choose the right chart in ten seconds and keep up with the decisions it feeds.</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Trust signal:  </a:t>
            </a:r>
            <a:r>
              <a:rPr lang="en-US" sz="1250" dirty="0">
                <a:solidFill>
                  <a:srgbClr val="343A4E"/>
                </a:solidFill>
                <a:latin typeface="Arial" pitchFamily="34" charset="0"/>
                <a:ea typeface="Arial" pitchFamily="34" charset="-122"/>
                <a:cs typeface="Arial" pitchFamily="34" charset="-120"/>
              </a:rPr>
              <a:t>A committee that sees the right chart per question learns to trust the analyst.</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Default pies erode it:  </a:t>
            </a:r>
            <a:r>
              <a:rPr lang="en-US" sz="1250" dirty="0">
                <a:solidFill>
                  <a:srgbClr val="343A4E"/>
                </a:solidFill>
                <a:latin typeface="Arial" pitchFamily="34" charset="0"/>
                <a:ea typeface="Arial" pitchFamily="34" charset="-122"/>
                <a:cs typeface="Arial" pitchFamily="34" charset="-120"/>
              </a:rPr>
              <a:t>A wall of default Excel pies teaches the committee to discount the analysis.</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Less re-styling:  </a:t>
            </a:r>
            <a:r>
              <a:rPr lang="en-US" sz="1250" dirty="0">
                <a:solidFill>
                  <a:srgbClr val="343A4E"/>
                </a:solidFill>
                <a:latin typeface="Arial" pitchFamily="34" charset="0"/>
                <a:ea typeface="Arial" pitchFamily="34" charset="-122"/>
                <a:cs typeface="Arial" pitchFamily="34" charset="-120"/>
              </a:rPr>
              <a:t>Knowing the type up front removes hours lost re-styling the wrong chart.</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INDUSTRY USE CASES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Where the right chart decides the outcome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50</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marL="0" indent="0" algn="ctr">
              <a:buNone/>
            </a:pPr>
            <a:r>
              <a:rPr lang="en-US" sz="1000" b="1" dirty="0">
                <a:solidFill>
                  <a:srgbClr val="2E5AAC"/>
                </a:solidFill>
                <a:latin typeface="Arial" pitchFamily="34" charset="0"/>
                <a:ea typeface="Arial" pitchFamily="34" charset="-122"/>
                <a:cs typeface="Arial" pitchFamily="34" charset="-120"/>
              </a:rPr>
              <a:t>Plan</a:t>
            </a:r>
            <a:endParaRPr lang="en-US" sz="1000" dirty="0"/>
          </a:p>
        </p:txBody>
      </p:sp>
      <p:sp>
        <p:nvSpPr>
          <p:cNvPr id="18" name="Text 15"/>
          <p:cNvSpPr/>
          <p:nvPr/>
        </p:nvSpPr>
        <p:spPr>
          <a:xfrm>
            <a:off x="731520"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Demand planning</a:t>
            </a:r>
            <a:endParaRPr lang="en-US" sz="1300" dirty="0"/>
          </a:p>
        </p:txBody>
      </p:sp>
      <p:sp>
        <p:nvSpPr>
          <p:cNvPr id="19" name="Text 16"/>
          <p:cNvSpPr/>
          <p:nvPr/>
        </p:nvSpPr>
        <p:spPr>
          <a:xfrm>
            <a:off x="731520"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Forecast vs actual over 24 months reads as a line chart with a clear reference band — never clustered bars.</a:t>
            </a:r>
            <a:endParaRPr lang="en-US" sz="1050" dirty="0"/>
          </a:p>
        </p:txBody>
      </p:sp>
      <p:sp>
        <p:nvSpPr>
          <p:cNvPr id="20" name="Shape 17"/>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21" name="Shape 18"/>
          <p:cNvSpPr/>
          <p:nvPr/>
        </p:nvSpPr>
        <p:spPr>
          <a:xfrm>
            <a:off x="4338218" y="2066544"/>
            <a:ext cx="3515258" cy="82296"/>
          </a:xfrm>
          <a:prstGeom prst="rect">
            <a:avLst/>
          </a:prstGeom>
          <a:solidFill>
            <a:srgbClr val="00A79D"/>
          </a:solidFill>
          <a:ln/>
        </p:spPr>
      </p:sp>
      <p:sp>
        <p:nvSpPr>
          <p:cNvPr id="22" name="Shape 19"/>
          <p:cNvSpPr/>
          <p:nvPr/>
        </p:nvSpPr>
        <p:spPr>
          <a:xfrm>
            <a:off x="4521098" y="2249424"/>
            <a:ext cx="822960" cy="292608"/>
          </a:xfrm>
          <a:prstGeom prst="roundRect">
            <a:avLst>
              <a:gd name="adj" fmla="val 18750"/>
            </a:avLst>
          </a:prstGeom>
          <a:solidFill>
            <a:srgbClr val="E6F5F4"/>
          </a:solidFill>
          <a:ln/>
        </p:spPr>
      </p:sp>
      <p:sp>
        <p:nvSpPr>
          <p:cNvPr id="23" name="Text 20"/>
          <p:cNvSpPr/>
          <p:nvPr/>
        </p:nvSpPr>
        <p:spPr>
          <a:xfrm>
            <a:off x="4521098" y="2249424"/>
            <a:ext cx="822960" cy="292608"/>
          </a:xfrm>
          <a:prstGeom prst="rect">
            <a:avLst/>
          </a:prstGeom>
          <a:noFill/>
          <a:ln/>
        </p:spPr>
        <p:txBody>
          <a:bodyPr wrap="square" rtlCol="0" anchor="ctr"/>
          <a:lstStyle/>
          <a:p>
            <a:pPr marL="0" indent="0" algn="ctr">
              <a:buNone/>
            </a:pPr>
            <a:r>
              <a:rPr lang="en-US" sz="1000" b="1" dirty="0">
                <a:solidFill>
                  <a:srgbClr val="00A79D"/>
                </a:solidFill>
                <a:latin typeface="Arial" pitchFamily="34" charset="0"/>
                <a:ea typeface="Arial" pitchFamily="34" charset="-122"/>
                <a:cs typeface="Arial" pitchFamily="34" charset="-120"/>
              </a:rPr>
              <a:t>Retail</a:t>
            </a:r>
            <a:endParaRPr lang="en-US" sz="1000" dirty="0"/>
          </a:p>
        </p:txBody>
      </p:sp>
      <p:sp>
        <p:nvSpPr>
          <p:cNvPr id="24" name="Text 21"/>
          <p:cNvSpPr/>
          <p:nvPr/>
        </p:nvSpPr>
        <p:spPr>
          <a:xfrm>
            <a:off x="4521098"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Conversion across 40 stores</a:t>
            </a:r>
            <a:endParaRPr lang="en-US" sz="1300" dirty="0"/>
          </a:p>
        </p:txBody>
      </p:sp>
      <p:sp>
        <p:nvSpPr>
          <p:cNvPr id="25" name="Text 22"/>
          <p:cNvSpPr/>
          <p:nvPr/>
        </p:nvSpPr>
        <p:spPr>
          <a:xfrm>
            <a:off x="4521098" y="3200400"/>
            <a:ext cx="3149498" cy="768096"/>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 sorted dot plot ranks 40 stores at a glance; a 40-slice pie or rainbow bar hides the ranking.</a:t>
            </a:r>
            <a:endParaRPr lang="en-US" sz="1050" dirty="0"/>
          </a:p>
        </p:txBody>
      </p:sp>
      <p:sp>
        <p:nvSpPr>
          <p:cNvPr id="26" name="Shape 23"/>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7" name="Shape 24"/>
          <p:cNvSpPr/>
          <p:nvPr/>
        </p:nvSpPr>
        <p:spPr>
          <a:xfrm>
            <a:off x="8127797" y="2066544"/>
            <a:ext cx="3515258" cy="82296"/>
          </a:xfrm>
          <a:prstGeom prst="rect">
            <a:avLst/>
          </a:prstGeom>
          <a:solidFill>
            <a:srgbClr val="E8833A"/>
          </a:solidFill>
          <a:ln/>
        </p:spPr>
      </p:sp>
      <p:sp>
        <p:nvSpPr>
          <p:cNvPr id="28" name="Shape 25"/>
          <p:cNvSpPr/>
          <p:nvPr/>
        </p:nvSpPr>
        <p:spPr>
          <a:xfrm>
            <a:off x="8310677" y="2249424"/>
            <a:ext cx="822960" cy="292608"/>
          </a:xfrm>
          <a:prstGeom prst="roundRect">
            <a:avLst>
              <a:gd name="adj" fmla="val 18750"/>
            </a:avLst>
          </a:prstGeom>
          <a:solidFill>
            <a:srgbClr val="FCF0E6"/>
          </a:solidFill>
          <a:ln/>
        </p:spPr>
      </p:sp>
      <p:sp>
        <p:nvSpPr>
          <p:cNvPr id="29" name="Text 26"/>
          <p:cNvSpPr/>
          <p:nvPr/>
        </p:nvSpPr>
        <p:spPr>
          <a:xfrm>
            <a:off x="8310677" y="2249424"/>
            <a:ext cx="822960" cy="292608"/>
          </a:xfrm>
          <a:prstGeom prst="rect">
            <a:avLst/>
          </a:prstGeom>
          <a:noFill/>
          <a:ln/>
        </p:spPr>
        <p:txBody>
          <a:bodyPr wrap="square" rtlCol="0" anchor="ctr"/>
          <a:lstStyle/>
          <a:p>
            <a:pPr marL="0" indent="0" algn="ctr">
              <a:buNone/>
            </a:pPr>
            <a:r>
              <a:rPr lang="en-US" sz="1000" b="1" dirty="0">
                <a:solidFill>
                  <a:srgbClr val="E8833A"/>
                </a:solidFill>
                <a:latin typeface="Arial" pitchFamily="34" charset="0"/>
                <a:ea typeface="Arial" pitchFamily="34" charset="-122"/>
                <a:cs typeface="Arial" pitchFamily="34" charset="-120"/>
              </a:rPr>
              <a:t>Health</a:t>
            </a:r>
            <a:endParaRPr lang="en-US" sz="1000" dirty="0"/>
          </a:p>
        </p:txBody>
      </p:sp>
      <p:sp>
        <p:nvSpPr>
          <p:cNvPr id="30" name="Text 27"/>
          <p:cNvSpPr/>
          <p:nvPr/>
        </p:nvSpPr>
        <p:spPr>
          <a:xfrm>
            <a:off x="8310677"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Clinic wait-time spread</a:t>
            </a:r>
            <a:endParaRPr lang="en-US" sz="1300" dirty="0"/>
          </a:p>
        </p:txBody>
      </p:sp>
      <p:sp>
        <p:nvSpPr>
          <p:cNvPr id="31" name="Text 28"/>
          <p:cNvSpPr/>
          <p:nvPr/>
        </p:nvSpPr>
        <p:spPr>
          <a:xfrm>
            <a:off x="8310677"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 box or strip plot reveals spread and outliers; a single average bar hides the very thing that matters.</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EXPECTED COMPETENCIES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What a participant can do after Module 2</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51</a:t>
            </a:r>
            <a:endParaRPr lang="en-US" sz="800" dirty="0"/>
          </a:p>
        </p:txBody>
      </p:sp>
      <p:sp>
        <p:nvSpPr>
          <p:cNvPr id="14" name="Shape 11"/>
          <p:cNvSpPr/>
          <p:nvPr/>
        </p:nvSpPr>
        <p:spPr>
          <a:xfrm>
            <a:off x="548640" y="2295144"/>
            <a:ext cx="2567864" cy="2286000"/>
          </a:xfrm>
          <a:prstGeom prst="roundRect">
            <a:avLst>
              <a:gd name="adj" fmla="val 4000"/>
            </a:avLst>
          </a:prstGeom>
          <a:solidFill>
            <a:srgbClr val="EAF0FA"/>
          </a:solidFill>
          <a:ln w="15240">
            <a:solidFill>
              <a:srgbClr val="2E5AAC"/>
            </a:solidFill>
            <a:prstDash val="solid"/>
          </a:ln>
        </p:spPr>
      </p:sp>
      <p:sp>
        <p:nvSpPr>
          <p:cNvPr id="15" name="Text 12"/>
          <p:cNvSpPr/>
          <p:nvPr/>
        </p:nvSpPr>
        <p:spPr>
          <a:xfrm>
            <a:off x="640080" y="2569464"/>
            <a:ext cx="2384984" cy="914400"/>
          </a:xfrm>
          <a:prstGeom prst="rect">
            <a:avLst/>
          </a:prstGeom>
          <a:noFill/>
          <a:ln/>
        </p:spPr>
        <p:txBody>
          <a:bodyPr wrap="square" rtlCol="0" anchor="ctr"/>
          <a:lstStyle/>
          <a:p>
            <a:pPr marL="0" indent="0" algn="ctr">
              <a:buNone/>
            </a:pPr>
            <a:r>
              <a:rPr lang="en-US" sz="4400" b="1" dirty="0">
                <a:solidFill>
                  <a:srgbClr val="2E5AAC"/>
                </a:solidFill>
                <a:latin typeface="Arial" pitchFamily="34" charset="0"/>
                <a:ea typeface="Arial" pitchFamily="34" charset="-122"/>
                <a:cs typeface="Arial" pitchFamily="34" charset="-120"/>
              </a:rPr>
              <a:t>6</a:t>
            </a:r>
            <a:endParaRPr lang="en-US" sz="4400" dirty="0"/>
          </a:p>
        </p:txBody>
      </p:sp>
      <p:sp>
        <p:nvSpPr>
          <p:cNvPr id="16" name="Text 13"/>
          <p:cNvSpPr/>
          <p:nvPr/>
        </p:nvSpPr>
        <p:spPr>
          <a:xfrm>
            <a:off x="658368" y="3502152"/>
            <a:ext cx="2348408"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Question types</a:t>
            </a:r>
            <a:endParaRPr lang="en-US" sz="1250" dirty="0"/>
          </a:p>
        </p:txBody>
      </p:sp>
      <p:sp>
        <p:nvSpPr>
          <p:cNvPr id="17" name="Text 14"/>
          <p:cNvSpPr/>
          <p:nvPr/>
        </p:nvSpPr>
        <p:spPr>
          <a:xfrm>
            <a:off x="676656" y="3867912"/>
            <a:ext cx="2311832"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Map any analytical question to its correct chart family</a:t>
            </a:r>
            <a:endParaRPr lang="en-US" sz="1000" dirty="0"/>
          </a:p>
        </p:txBody>
      </p:sp>
      <p:sp>
        <p:nvSpPr>
          <p:cNvPr id="18" name="Shape 15"/>
          <p:cNvSpPr/>
          <p:nvPr/>
        </p:nvSpPr>
        <p:spPr>
          <a:xfrm>
            <a:off x="3390824" y="2295144"/>
            <a:ext cx="2567864" cy="2286000"/>
          </a:xfrm>
          <a:prstGeom prst="roundRect">
            <a:avLst>
              <a:gd name="adj" fmla="val 4000"/>
            </a:avLst>
          </a:prstGeom>
          <a:solidFill>
            <a:srgbClr val="E6F5F4"/>
          </a:solidFill>
          <a:ln w="15240">
            <a:solidFill>
              <a:srgbClr val="00A79D"/>
            </a:solidFill>
            <a:prstDash val="solid"/>
          </a:ln>
        </p:spPr>
      </p:sp>
      <p:sp>
        <p:nvSpPr>
          <p:cNvPr id="19" name="Text 16"/>
          <p:cNvSpPr/>
          <p:nvPr/>
        </p:nvSpPr>
        <p:spPr>
          <a:xfrm>
            <a:off x="3482264" y="2569464"/>
            <a:ext cx="2384984" cy="914400"/>
          </a:xfrm>
          <a:prstGeom prst="rect">
            <a:avLst/>
          </a:prstGeom>
          <a:noFill/>
          <a:ln/>
        </p:spPr>
        <p:txBody>
          <a:bodyPr wrap="square" rtlCol="0" anchor="ctr"/>
          <a:lstStyle/>
          <a:p>
            <a:pPr marL="0" indent="0" algn="ctr">
              <a:buNone/>
            </a:pPr>
            <a:r>
              <a:rPr lang="en-US" sz="4400" b="1" dirty="0">
                <a:solidFill>
                  <a:srgbClr val="00A79D"/>
                </a:solidFill>
                <a:latin typeface="Arial" pitchFamily="34" charset="0"/>
                <a:ea typeface="Arial" pitchFamily="34" charset="-122"/>
                <a:cs typeface="Arial" pitchFamily="34" charset="-120"/>
              </a:rPr>
              <a:t>5</a:t>
            </a:r>
            <a:endParaRPr lang="en-US" sz="4400" dirty="0"/>
          </a:p>
        </p:txBody>
      </p:sp>
      <p:sp>
        <p:nvSpPr>
          <p:cNvPr id="20" name="Text 17"/>
          <p:cNvSpPr/>
          <p:nvPr/>
        </p:nvSpPr>
        <p:spPr>
          <a:xfrm>
            <a:off x="3500552" y="3502152"/>
            <a:ext cx="2348408"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Design principles</a:t>
            </a:r>
            <a:endParaRPr lang="en-US" sz="1250" dirty="0"/>
          </a:p>
        </p:txBody>
      </p:sp>
      <p:sp>
        <p:nvSpPr>
          <p:cNvPr id="21" name="Text 18"/>
          <p:cNvSpPr/>
          <p:nvPr/>
        </p:nvSpPr>
        <p:spPr>
          <a:xfrm>
            <a:off x="3518840" y="3867912"/>
            <a:ext cx="2311832"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Baseline, sort, direct label, reference, small multiples</a:t>
            </a:r>
            <a:endParaRPr lang="en-US" sz="1000" dirty="0"/>
          </a:p>
        </p:txBody>
      </p:sp>
      <p:sp>
        <p:nvSpPr>
          <p:cNvPr id="22" name="Shape 19"/>
          <p:cNvSpPr/>
          <p:nvPr/>
        </p:nvSpPr>
        <p:spPr>
          <a:xfrm>
            <a:off x="6233008" y="2295144"/>
            <a:ext cx="2567864" cy="2286000"/>
          </a:xfrm>
          <a:prstGeom prst="roundRect">
            <a:avLst>
              <a:gd name="adj" fmla="val 4000"/>
            </a:avLst>
          </a:prstGeom>
          <a:solidFill>
            <a:srgbClr val="FCF0E6"/>
          </a:solidFill>
          <a:ln w="15240">
            <a:solidFill>
              <a:srgbClr val="E8833A"/>
            </a:solidFill>
            <a:prstDash val="solid"/>
          </a:ln>
        </p:spPr>
      </p:sp>
      <p:sp>
        <p:nvSpPr>
          <p:cNvPr id="23" name="Text 20"/>
          <p:cNvSpPr/>
          <p:nvPr/>
        </p:nvSpPr>
        <p:spPr>
          <a:xfrm>
            <a:off x="6324448" y="2569464"/>
            <a:ext cx="2384984" cy="914400"/>
          </a:xfrm>
          <a:prstGeom prst="rect">
            <a:avLst/>
          </a:prstGeom>
          <a:noFill/>
          <a:ln/>
        </p:spPr>
        <p:txBody>
          <a:bodyPr wrap="square" rtlCol="0" anchor="ctr"/>
          <a:lstStyle/>
          <a:p>
            <a:pPr marL="0" indent="0" algn="ctr">
              <a:buNone/>
            </a:pPr>
            <a:r>
              <a:rPr lang="en-US" sz="4400" b="1" dirty="0">
                <a:solidFill>
                  <a:srgbClr val="E8833A"/>
                </a:solidFill>
                <a:latin typeface="Arial" pitchFamily="34" charset="0"/>
                <a:ea typeface="Arial" pitchFamily="34" charset="-122"/>
                <a:cs typeface="Arial" pitchFamily="34" charset="-120"/>
              </a:rPr>
              <a:t>0</a:t>
            </a:r>
            <a:endParaRPr lang="en-US" sz="4400" dirty="0"/>
          </a:p>
        </p:txBody>
      </p:sp>
      <p:sp>
        <p:nvSpPr>
          <p:cNvPr id="24" name="Text 21"/>
          <p:cNvSpPr/>
          <p:nvPr/>
        </p:nvSpPr>
        <p:spPr>
          <a:xfrm>
            <a:off x="6342736" y="3502152"/>
            <a:ext cx="2348408"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Anti-patterns</a:t>
            </a:r>
            <a:endParaRPr lang="en-US" sz="1250" dirty="0"/>
          </a:p>
        </p:txBody>
      </p:sp>
      <p:sp>
        <p:nvSpPr>
          <p:cNvPr id="25" name="Text 22"/>
          <p:cNvSpPr/>
          <p:nvPr/>
        </p:nvSpPr>
        <p:spPr>
          <a:xfrm>
            <a:off x="6361024" y="3867912"/>
            <a:ext cx="2311832"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Recognise and avoid the classic chart-selection traps</a:t>
            </a:r>
            <a:endParaRPr lang="en-US" sz="1000" dirty="0"/>
          </a:p>
        </p:txBody>
      </p:sp>
      <p:sp>
        <p:nvSpPr>
          <p:cNvPr id="26" name="Shape 23"/>
          <p:cNvSpPr/>
          <p:nvPr/>
        </p:nvSpPr>
        <p:spPr>
          <a:xfrm>
            <a:off x="9075191" y="2295144"/>
            <a:ext cx="2567864" cy="2286000"/>
          </a:xfrm>
          <a:prstGeom prst="roundRect">
            <a:avLst>
              <a:gd name="adj" fmla="val 4000"/>
            </a:avLst>
          </a:prstGeom>
          <a:solidFill>
            <a:srgbClr val="EFEBF6"/>
          </a:solidFill>
          <a:ln w="15240">
            <a:solidFill>
              <a:srgbClr val="6C4FA1"/>
            </a:solidFill>
            <a:prstDash val="solid"/>
          </a:ln>
        </p:spPr>
      </p:sp>
      <p:sp>
        <p:nvSpPr>
          <p:cNvPr id="27" name="Text 24"/>
          <p:cNvSpPr/>
          <p:nvPr/>
        </p:nvSpPr>
        <p:spPr>
          <a:xfrm>
            <a:off x="9166631" y="2569464"/>
            <a:ext cx="2384984" cy="914400"/>
          </a:xfrm>
          <a:prstGeom prst="rect">
            <a:avLst/>
          </a:prstGeom>
          <a:noFill/>
          <a:ln/>
        </p:spPr>
        <p:txBody>
          <a:bodyPr wrap="square" rtlCol="0" anchor="ctr"/>
          <a:lstStyle/>
          <a:p>
            <a:pPr marL="0" indent="0" algn="ctr">
              <a:buNone/>
            </a:pPr>
            <a:r>
              <a:rPr lang="en-US" sz="4400" b="1" dirty="0">
                <a:solidFill>
                  <a:srgbClr val="6C4FA1"/>
                </a:solidFill>
                <a:latin typeface="Arial" pitchFamily="34" charset="0"/>
                <a:ea typeface="Arial" pitchFamily="34" charset="-122"/>
                <a:cs typeface="Arial" pitchFamily="34" charset="-120"/>
              </a:rPr>
              <a:t>4/4</a:t>
            </a:r>
            <a:endParaRPr lang="en-US" sz="4400" dirty="0"/>
          </a:p>
        </p:txBody>
      </p:sp>
      <p:sp>
        <p:nvSpPr>
          <p:cNvPr id="28" name="Text 25"/>
          <p:cNvSpPr/>
          <p:nvPr/>
        </p:nvSpPr>
        <p:spPr>
          <a:xfrm>
            <a:off x="9184919" y="3502152"/>
            <a:ext cx="2348408"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Built honestly</a:t>
            </a:r>
            <a:endParaRPr lang="en-US" sz="1250" dirty="0"/>
          </a:p>
        </p:txBody>
      </p:sp>
      <p:sp>
        <p:nvSpPr>
          <p:cNvPr id="29" name="Text 26"/>
          <p:cNvSpPr/>
          <p:nvPr/>
        </p:nvSpPr>
        <p:spPr>
          <a:xfrm>
            <a:off x="9203207" y="3867912"/>
            <a:ext cx="2311832"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Construct the chosen chart correctly in matplotlib/Plotly</a:t>
            </a:r>
            <a:endParaRPr lang="en-US" sz="1000" dirty="0"/>
          </a:p>
        </p:txBody>
      </p:sp>
      <p:sp>
        <p:nvSpPr>
          <p:cNvPr id="30" name="Text 27"/>
          <p:cNvSpPr/>
          <p:nvPr/>
        </p:nvSpPr>
        <p:spPr>
          <a:xfrm>
            <a:off x="548640" y="4709160"/>
            <a:ext cx="11094415" cy="365760"/>
          </a:xfrm>
          <a:prstGeom prst="rect">
            <a:avLst/>
          </a:prstGeom>
          <a:noFill/>
          <a:ln/>
        </p:spPr>
        <p:txBody>
          <a:bodyPr wrap="square" rtlCol="0" anchor="ctr"/>
          <a:lstStyle/>
          <a:p>
            <a:pPr marL="0" indent="0" algn="ctr">
              <a:buNone/>
            </a:pPr>
            <a:r>
              <a:rPr lang="en-US" sz="1100" i="1" dirty="0">
                <a:solidFill>
                  <a:srgbClr val="6B7280"/>
                </a:solidFill>
                <a:latin typeface="Arial" pitchFamily="34" charset="0"/>
                <a:ea typeface="Arial" pitchFamily="34" charset="-122"/>
                <a:cs typeface="Arial" pitchFamily="34" charset="-120"/>
              </a:rPr>
              <a:t>These are the module's measurable exit criteria — tie each back at the close.</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LEARNING OBJECTIVES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Objectives mapped to course outcomes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52</a:t>
            </a:r>
            <a:endParaRPr lang="en-US" sz="800" dirty="0"/>
          </a:p>
        </p:txBody>
      </p:sp>
      <p:sp>
        <p:nvSpPr>
          <p:cNvPr id="14" name="Shape 11"/>
          <p:cNvSpPr/>
          <p:nvPr/>
        </p:nvSpPr>
        <p:spPr>
          <a:xfrm>
            <a:off x="548640" y="2103120"/>
            <a:ext cx="11094415" cy="640080"/>
          </a:xfrm>
          <a:prstGeom prst="roundRect">
            <a:avLst>
              <a:gd name="adj" fmla="val 8571"/>
            </a:avLst>
          </a:prstGeom>
          <a:solidFill>
            <a:srgbClr val="FFFFFF"/>
          </a:solidFill>
          <a:ln w="9525">
            <a:solidFill>
              <a:srgbClr val="D9DEE8"/>
            </a:solidFill>
            <a:prstDash val="solid"/>
          </a:ln>
        </p:spPr>
      </p:sp>
      <p:sp>
        <p:nvSpPr>
          <p:cNvPr id="15" name="Shape 12"/>
          <p:cNvSpPr/>
          <p:nvPr/>
        </p:nvSpPr>
        <p:spPr>
          <a:xfrm>
            <a:off x="658368" y="2194560"/>
            <a:ext cx="658368" cy="457200"/>
          </a:xfrm>
          <a:prstGeom prst="roundRect">
            <a:avLst>
              <a:gd name="adj" fmla="val 10000"/>
            </a:avLst>
          </a:prstGeom>
          <a:solidFill>
            <a:srgbClr val="2E5AAC"/>
          </a:solidFill>
          <a:ln/>
        </p:spPr>
      </p:sp>
      <p:sp>
        <p:nvSpPr>
          <p:cNvPr id="16" name="Text 13"/>
          <p:cNvSpPr/>
          <p:nvPr/>
        </p:nvSpPr>
        <p:spPr>
          <a:xfrm>
            <a:off x="658368" y="2194560"/>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2.1</a:t>
            </a:r>
            <a:endParaRPr lang="en-US" sz="1200" dirty="0"/>
          </a:p>
        </p:txBody>
      </p:sp>
      <p:sp>
        <p:nvSpPr>
          <p:cNvPr id="17" name="Text 14"/>
          <p:cNvSpPr/>
          <p:nvPr/>
        </p:nvSpPr>
        <p:spPr>
          <a:xfrm>
            <a:off x="1463040" y="2066544"/>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Map an analytical question to the correct chart family</a:t>
            </a:r>
            <a:endParaRPr lang="en-US" sz="1200" dirty="0"/>
          </a:p>
        </p:txBody>
      </p:sp>
      <p:sp>
        <p:nvSpPr>
          <p:cNvPr id="18" name="Shape 15"/>
          <p:cNvSpPr/>
          <p:nvPr/>
        </p:nvSpPr>
        <p:spPr>
          <a:xfrm>
            <a:off x="10317175" y="2276856"/>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76856"/>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LO1</a:t>
            </a:r>
            <a:endParaRPr lang="en-US" sz="950" dirty="0"/>
          </a:p>
        </p:txBody>
      </p:sp>
      <p:sp>
        <p:nvSpPr>
          <p:cNvPr id="20" name="Shape 17"/>
          <p:cNvSpPr/>
          <p:nvPr/>
        </p:nvSpPr>
        <p:spPr>
          <a:xfrm>
            <a:off x="548640" y="2852928"/>
            <a:ext cx="11094415" cy="640080"/>
          </a:xfrm>
          <a:prstGeom prst="roundRect">
            <a:avLst>
              <a:gd name="adj" fmla="val 8571"/>
            </a:avLst>
          </a:prstGeom>
          <a:solidFill>
            <a:srgbClr val="F4F6FB"/>
          </a:solidFill>
          <a:ln w="9525">
            <a:solidFill>
              <a:srgbClr val="D9DEE8"/>
            </a:solidFill>
            <a:prstDash val="solid"/>
          </a:ln>
        </p:spPr>
      </p:sp>
      <p:sp>
        <p:nvSpPr>
          <p:cNvPr id="21" name="Shape 18"/>
          <p:cNvSpPr/>
          <p:nvPr/>
        </p:nvSpPr>
        <p:spPr>
          <a:xfrm>
            <a:off x="658368" y="2944368"/>
            <a:ext cx="658368" cy="457200"/>
          </a:xfrm>
          <a:prstGeom prst="roundRect">
            <a:avLst>
              <a:gd name="adj" fmla="val 10000"/>
            </a:avLst>
          </a:prstGeom>
          <a:solidFill>
            <a:srgbClr val="00A79D"/>
          </a:solidFill>
          <a:ln/>
        </p:spPr>
      </p:sp>
      <p:sp>
        <p:nvSpPr>
          <p:cNvPr id="22" name="Text 19"/>
          <p:cNvSpPr/>
          <p:nvPr/>
        </p:nvSpPr>
        <p:spPr>
          <a:xfrm>
            <a:off x="658368" y="2944368"/>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2.2</a:t>
            </a:r>
            <a:endParaRPr lang="en-US" sz="1200" dirty="0"/>
          </a:p>
        </p:txBody>
      </p:sp>
      <p:sp>
        <p:nvSpPr>
          <p:cNvPr id="23" name="Text 20"/>
          <p:cNvSpPr/>
          <p:nvPr/>
        </p:nvSpPr>
        <p:spPr>
          <a:xfrm>
            <a:off x="1463040" y="2816352"/>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Apply the five core design principles to any chart</a:t>
            </a:r>
            <a:endParaRPr lang="en-US" sz="1200" dirty="0"/>
          </a:p>
        </p:txBody>
      </p:sp>
      <p:sp>
        <p:nvSpPr>
          <p:cNvPr id="24" name="Shape 21"/>
          <p:cNvSpPr/>
          <p:nvPr/>
        </p:nvSpPr>
        <p:spPr>
          <a:xfrm>
            <a:off x="10317175" y="3026664"/>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3026664"/>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
        <p:nvSpPr>
          <p:cNvPr id="26" name="Shape 23"/>
          <p:cNvSpPr/>
          <p:nvPr/>
        </p:nvSpPr>
        <p:spPr>
          <a:xfrm>
            <a:off x="548640" y="3602736"/>
            <a:ext cx="11094415" cy="640080"/>
          </a:xfrm>
          <a:prstGeom prst="roundRect">
            <a:avLst>
              <a:gd name="adj" fmla="val 8571"/>
            </a:avLst>
          </a:prstGeom>
          <a:solidFill>
            <a:srgbClr val="FFFFFF"/>
          </a:solidFill>
          <a:ln w="9525">
            <a:solidFill>
              <a:srgbClr val="D9DEE8"/>
            </a:solidFill>
            <a:prstDash val="solid"/>
          </a:ln>
        </p:spPr>
      </p:sp>
      <p:sp>
        <p:nvSpPr>
          <p:cNvPr id="27" name="Shape 24"/>
          <p:cNvSpPr/>
          <p:nvPr/>
        </p:nvSpPr>
        <p:spPr>
          <a:xfrm>
            <a:off x="658368" y="3694176"/>
            <a:ext cx="658368" cy="457200"/>
          </a:xfrm>
          <a:prstGeom prst="roundRect">
            <a:avLst>
              <a:gd name="adj" fmla="val 10000"/>
            </a:avLst>
          </a:prstGeom>
          <a:solidFill>
            <a:srgbClr val="E8833A"/>
          </a:solidFill>
          <a:ln/>
        </p:spPr>
      </p:sp>
      <p:sp>
        <p:nvSpPr>
          <p:cNvPr id="28" name="Text 25"/>
          <p:cNvSpPr/>
          <p:nvPr/>
        </p:nvSpPr>
        <p:spPr>
          <a:xfrm>
            <a:off x="658368" y="3694176"/>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2.3</a:t>
            </a:r>
            <a:endParaRPr lang="en-US" sz="1200" dirty="0"/>
          </a:p>
        </p:txBody>
      </p:sp>
      <p:sp>
        <p:nvSpPr>
          <p:cNvPr id="29" name="Text 26"/>
          <p:cNvSpPr/>
          <p:nvPr/>
        </p:nvSpPr>
        <p:spPr>
          <a:xfrm>
            <a:off x="1463040" y="3566160"/>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Use small multiples to compare across a dimension without clutter</a:t>
            </a:r>
            <a:endParaRPr lang="en-US" sz="1200" dirty="0"/>
          </a:p>
        </p:txBody>
      </p:sp>
      <p:sp>
        <p:nvSpPr>
          <p:cNvPr id="30" name="Shape 27"/>
          <p:cNvSpPr/>
          <p:nvPr/>
        </p:nvSpPr>
        <p:spPr>
          <a:xfrm>
            <a:off x="10317175" y="377647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776472"/>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
        <p:nvSpPr>
          <p:cNvPr id="32" name="Shape 29"/>
          <p:cNvSpPr/>
          <p:nvPr/>
        </p:nvSpPr>
        <p:spPr>
          <a:xfrm>
            <a:off x="548640" y="4352544"/>
            <a:ext cx="11094415" cy="640080"/>
          </a:xfrm>
          <a:prstGeom prst="roundRect">
            <a:avLst>
              <a:gd name="adj" fmla="val 8571"/>
            </a:avLst>
          </a:prstGeom>
          <a:solidFill>
            <a:srgbClr val="F4F6FB"/>
          </a:solidFill>
          <a:ln w="9525">
            <a:solidFill>
              <a:srgbClr val="D9DEE8"/>
            </a:solidFill>
            <a:prstDash val="solid"/>
          </a:ln>
        </p:spPr>
      </p:sp>
      <p:sp>
        <p:nvSpPr>
          <p:cNvPr id="33" name="Shape 30"/>
          <p:cNvSpPr/>
          <p:nvPr/>
        </p:nvSpPr>
        <p:spPr>
          <a:xfrm>
            <a:off x="658368" y="4443984"/>
            <a:ext cx="658368" cy="457200"/>
          </a:xfrm>
          <a:prstGeom prst="roundRect">
            <a:avLst>
              <a:gd name="adj" fmla="val 10000"/>
            </a:avLst>
          </a:prstGeom>
          <a:solidFill>
            <a:srgbClr val="6C4FA1"/>
          </a:solidFill>
          <a:ln/>
        </p:spPr>
      </p:sp>
      <p:sp>
        <p:nvSpPr>
          <p:cNvPr id="34" name="Text 31"/>
          <p:cNvSpPr/>
          <p:nvPr/>
        </p:nvSpPr>
        <p:spPr>
          <a:xfrm>
            <a:off x="658368" y="4443984"/>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2.4</a:t>
            </a:r>
            <a:endParaRPr lang="en-US" sz="1200" dirty="0"/>
          </a:p>
        </p:txBody>
      </p:sp>
      <p:sp>
        <p:nvSpPr>
          <p:cNvPr id="35" name="Text 32"/>
          <p:cNvSpPr/>
          <p:nvPr/>
        </p:nvSpPr>
        <p:spPr>
          <a:xfrm>
            <a:off x="1463040" y="4315968"/>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Avoid anti-patterns: clustered bars, spaghetti lines, dual axes</a:t>
            </a:r>
            <a:endParaRPr lang="en-US" sz="1200" dirty="0"/>
          </a:p>
        </p:txBody>
      </p:sp>
      <p:sp>
        <p:nvSpPr>
          <p:cNvPr id="36" name="Shape 33"/>
          <p:cNvSpPr/>
          <p:nvPr/>
        </p:nvSpPr>
        <p:spPr>
          <a:xfrm>
            <a:off x="10317175" y="4526280"/>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526280"/>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
        <p:nvSpPr>
          <p:cNvPr id="38" name="Shape 35"/>
          <p:cNvSpPr/>
          <p:nvPr/>
        </p:nvSpPr>
        <p:spPr>
          <a:xfrm>
            <a:off x="548640" y="5102352"/>
            <a:ext cx="11094415" cy="640080"/>
          </a:xfrm>
          <a:prstGeom prst="roundRect">
            <a:avLst>
              <a:gd name="adj" fmla="val 8571"/>
            </a:avLst>
          </a:prstGeom>
          <a:solidFill>
            <a:srgbClr val="FFFFFF"/>
          </a:solidFill>
          <a:ln w="9525">
            <a:solidFill>
              <a:srgbClr val="D9DEE8"/>
            </a:solidFill>
            <a:prstDash val="solid"/>
          </a:ln>
        </p:spPr>
      </p:sp>
      <p:sp>
        <p:nvSpPr>
          <p:cNvPr id="39" name="Shape 36"/>
          <p:cNvSpPr/>
          <p:nvPr/>
        </p:nvSpPr>
        <p:spPr>
          <a:xfrm>
            <a:off x="658368" y="5193792"/>
            <a:ext cx="658368" cy="457200"/>
          </a:xfrm>
          <a:prstGeom prst="roundRect">
            <a:avLst>
              <a:gd name="adj" fmla="val 10000"/>
            </a:avLst>
          </a:prstGeom>
          <a:solidFill>
            <a:srgbClr val="3FAE5A"/>
          </a:solidFill>
          <a:ln/>
        </p:spPr>
      </p:sp>
      <p:sp>
        <p:nvSpPr>
          <p:cNvPr id="40" name="Text 37"/>
          <p:cNvSpPr/>
          <p:nvPr/>
        </p:nvSpPr>
        <p:spPr>
          <a:xfrm>
            <a:off x="658368" y="5193792"/>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2.5</a:t>
            </a:r>
            <a:endParaRPr lang="en-US" sz="1200" dirty="0"/>
          </a:p>
        </p:txBody>
      </p:sp>
      <p:sp>
        <p:nvSpPr>
          <p:cNvPr id="41" name="Text 38"/>
          <p:cNvSpPr/>
          <p:nvPr/>
        </p:nvSpPr>
        <p:spPr>
          <a:xfrm>
            <a:off x="1463040" y="5065776"/>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Build the selected chart correctly and honestly in code</a:t>
            </a:r>
            <a:endParaRPr lang="en-US" sz="1200" dirty="0"/>
          </a:p>
        </p:txBody>
      </p:sp>
      <p:sp>
        <p:nvSpPr>
          <p:cNvPr id="42" name="Shape 39"/>
          <p:cNvSpPr/>
          <p:nvPr/>
        </p:nvSpPr>
        <p:spPr>
          <a:xfrm>
            <a:off x="10317175" y="5276088"/>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5276088"/>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LO1, LO2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SELECTION PROCEDURE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Chart choice is a two-step lookup, not a gallery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53</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Chart choice is a function of the question, moderated by the data shape. Teach it as a two-step lookup.</a:t>
            </a:r>
            <a:endParaRPr lang="en-US" sz="1250" dirty="0"/>
          </a:p>
        </p:txBody>
      </p:sp>
      <p:sp>
        <p:nvSpPr>
          <p:cNvPr id="15" name="Shape 12"/>
          <p:cNvSpPr/>
          <p:nvPr/>
        </p:nvSpPr>
        <p:spPr>
          <a:xfrm>
            <a:off x="548640" y="2615184"/>
            <a:ext cx="3490874" cy="2926080"/>
          </a:xfrm>
          <a:prstGeom prst="roundRect">
            <a:avLst>
              <a:gd name="adj" fmla="val 3125"/>
            </a:avLst>
          </a:prstGeom>
          <a:solidFill>
            <a:srgbClr val="EAF0FA"/>
          </a:solidFill>
          <a:ln w="15875">
            <a:solidFill>
              <a:srgbClr val="2E5AAC"/>
            </a:solidFill>
            <a:prstDash val="solid"/>
          </a:ln>
        </p:spPr>
      </p:sp>
      <p:sp>
        <p:nvSpPr>
          <p:cNvPr id="16" name="Shape 13"/>
          <p:cNvSpPr/>
          <p:nvPr/>
        </p:nvSpPr>
        <p:spPr>
          <a:xfrm>
            <a:off x="2038045" y="2816352"/>
            <a:ext cx="512064" cy="512064"/>
          </a:xfrm>
          <a:prstGeom prst="ellipse">
            <a:avLst/>
          </a:prstGeom>
          <a:solidFill>
            <a:srgbClr val="2E5AAC"/>
          </a:solidFill>
          <a:ln/>
        </p:spPr>
      </p:sp>
      <p:sp>
        <p:nvSpPr>
          <p:cNvPr id="17" name="Text 14"/>
          <p:cNvSpPr/>
          <p:nvPr/>
        </p:nvSpPr>
        <p:spPr>
          <a:xfrm>
            <a:off x="2038045"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658368" y="3456432"/>
            <a:ext cx="3271418"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Name the question</a:t>
            </a:r>
            <a:endParaRPr lang="en-US" sz="1300" dirty="0"/>
          </a:p>
        </p:txBody>
      </p:sp>
      <p:sp>
        <p:nvSpPr>
          <p:cNvPr id="19" name="Text 16"/>
          <p:cNvSpPr/>
          <p:nvPr/>
        </p:nvSpPr>
        <p:spPr>
          <a:xfrm>
            <a:off x="676656" y="3986784"/>
            <a:ext cx="3234842"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Comparison, trend over time, distribution, relationship, part-to-whole, or geospatial.</a:t>
            </a:r>
            <a:endParaRPr lang="en-US" sz="1050" dirty="0"/>
          </a:p>
        </p:txBody>
      </p:sp>
      <p:sp>
        <p:nvSpPr>
          <p:cNvPr id="20" name="Text 17"/>
          <p:cNvSpPr/>
          <p:nvPr/>
        </p:nvSpPr>
        <p:spPr>
          <a:xfrm>
            <a:off x="4057802"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1" name="Shape 18"/>
          <p:cNvSpPr/>
          <p:nvPr/>
        </p:nvSpPr>
        <p:spPr>
          <a:xfrm>
            <a:off x="4350410" y="2615184"/>
            <a:ext cx="3490874" cy="2926080"/>
          </a:xfrm>
          <a:prstGeom prst="roundRect">
            <a:avLst>
              <a:gd name="adj" fmla="val 3125"/>
            </a:avLst>
          </a:prstGeom>
          <a:solidFill>
            <a:srgbClr val="E6F5F4"/>
          </a:solidFill>
          <a:ln w="15875">
            <a:solidFill>
              <a:srgbClr val="00A79D"/>
            </a:solidFill>
            <a:prstDash val="solid"/>
          </a:ln>
        </p:spPr>
      </p:sp>
      <p:sp>
        <p:nvSpPr>
          <p:cNvPr id="22" name="Shape 19"/>
          <p:cNvSpPr/>
          <p:nvPr/>
        </p:nvSpPr>
        <p:spPr>
          <a:xfrm>
            <a:off x="5839816" y="2816352"/>
            <a:ext cx="512064" cy="512064"/>
          </a:xfrm>
          <a:prstGeom prst="ellipse">
            <a:avLst/>
          </a:prstGeom>
          <a:solidFill>
            <a:srgbClr val="00A79D"/>
          </a:solidFill>
          <a:ln/>
        </p:spPr>
      </p:sp>
      <p:sp>
        <p:nvSpPr>
          <p:cNvPr id="23" name="Text 20"/>
          <p:cNvSpPr/>
          <p:nvPr/>
        </p:nvSpPr>
        <p:spPr>
          <a:xfrm>
            <a:off x="5839816"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4" name="Text 21"/>
          <p:cNvSpPr/>
          <p:nvPr/>
        </p:nvSpPr>
        <p:spPr>
          <a:xfrm>
            <a:off x="4460138" y="3456432"/>
            <a:ext cx="3271418"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Apply the data shape</a:t>
            </a:r>
            <a:endParaRPr lang="en-US" sz="1300" dirty="0"/>
          </a:p>
        </p:txBody>
      </p:sp>
      <p:sp>
        <p:nvSpPr>
          <p:cNvPr id="25" name="Text 22"/>
          <p:cNvSpPr/>
          <p:nvPr/>
        </p:nvSpPr>
        <p:spPr>
          <a:xfrm>
            <a:off x="4478426" y="3986784"/>
            <a:ext cx="3234842"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How many categories, series, and points? This picks the chart within the family.</a:t>
            </a:r>
            <a:endParaRPr lang="en-US" sz="1050" dirty="0"/>
          </a:p>
        </p:txBody>
      </p:sp>
      <p:sp>
        <p:nvSpPr>
          <p:cNvPr id="26" name="Text 23"/>
          <p:cNvSpPr/>
          <p:nvPr/>
        </p:nvSpPr>
        <p:spPr>
          <a:xfrm>
            <a:off x="7859573"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7" name="Shape 24"/>
          <p:cNvSpPr/>
          <p:nvPr/>
        </p:nvSpPr>
        <p:spPr>
          <a:xfrm>
            <a:off x="8152181" y="2615184"/>
            <a:ext cx="3490874" cy="2926080"/>
          </a:xfrm>
          <a:prstGeom prst="roundRect">
            <a:avLst>
              <a:gd name="adj" fmla="val 3125"/>
            </a:avLst>
          </a:prstGeom>
          <a:solidFill>
            <a:srgbClr val="FCF0E6"/>
          </a:solidFill>
          <a:ln w="15875">
            <a:solidFill>
              <a:srgbClr val="E8833A"/>
            </a:solidFill>
            <a:prstDash val="solid"/>
          </a:ln>
        </p:spPr>
      </p:sp>
      <p:sp>
        <p:nvSpPr>
          <p:cNvPr id="28" name="Shape 25"/>
          <p:cNvSpPr/>
          <p:nvPr/>
        </p:nvSpPr>
        <p:spPr>
          <a:xfrm>
            <a:off x="9641586" y="2816352"/>
            <a:ext cx="512064" cy="512064"/>
          </a:xfrm>
          <a:prstGeom prst="ellipse">
            <a:avLst/>
          </a:prstGeom>
          <a:solidFill>
            <a:srgbClr val="E8833A"/>
          </a:solidFill>
          <a:ln/>
        </p:spPr>
      </p:sp>
      <p:sp>
        <p:nvSpPr>
          <p:cNvPr id="29" name="Text 26"/>
          <p:cNvSpPr/>
          <p:nvPr/>
        </p:nvSpPr>
        <p:spPr>
          <a:xfrm>
            <a:off x="9641586"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0" name="Text 27"/>
          <p:cNvSpPr/>
          <p:nvPr/>
        </p:nvSpPr>
        <p:spPr>
          <a:xfrm>
            <a:off x="8261909" y="3456432"/>
            <a:ext cx="3271418"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'Too many' is a signal</a:t>
            </a:r>
            <a:endParaRPr lang="en-US" sz="1300" dirty="0"/>
          </a:p>
        </p:txBody>
      </p:sp>
      <p:sp>
        <p:nvSpPr>
          <p:cNvPr id="31" name="Text 28"/>
          <p:cNvSpPr/>
          <p:nvPr/>
        </p:nvSpPr>
        <p:spPr>
          <a:xfrm>
            <a:off x="8280197" y="3986784"/>
            <a:ext cx="3234842"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40 categories or 13 series is a design signal — small multiples or highlight-one, never a denser chart.</a:t>
            </a:r>
            <a:endParaRPr lang="en-US" sz="1050" dirty="0"/>
          </a:p>
        </p:txBody>
      </p:sp>
      <p:sp>
        <p:nvSpPr>
          <p:cNvPr id="32" name="Text 29"/>
          <p:cNvSpPr/>
          <p:nvPr/>
        </p:nvSpPr>
        <p:spPr>
          <a:xfrm>
            <a:off x="548640" y="5650992"/>
            <a:ext cx="11094415" cy="365760"/>
          </a:xfrm>
          <a:prstGeom prst="rect">
            <a:avLst/>
          </a:prstGeom>
          <a:noFill/>
          <a:ln/>
        </p:spPr>
        <p:txBody>
          <a:bodyPr wrap="square" rtlCol="0" anchor="t"/>
          <a:lstStyle/>
          <a:p>
            <a:pPr marL="0" indent="0" algn="l">
              <a:buNone/>
            </a:pPr>
            <a:r>
              <a:rPr lang="en-US" sz="1100" i="1" dirty="0">
                <a:solidFill>
                  <a:srgbClr val="6B7280"/>
                </a:solidFill>
                <a:latin typeface="Arial" pitchFamily="34" charset="0"/>
                <a:ea typeface="Arial" pitchFamily="34" charset="-122"/>
                <a:cs typeface="Arial" pitchFamily="34" charset="-120"/>
              </a:rPr>
              <a:t>"Too many" is a design signal, not a licence to cram more into one chart.</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QUESTION -&gt; CHART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Question type picks the chart; data shape refines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54</a:t>
            </a:r>
            <a:endParaRPr lang="en-US" sz="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3273552"/>
        </p:xfrm>
        <a:graphic>
          <a:graphicData uri="http://schemas.openxmlformats.org/drawingml/2006/table">
            <a:tbl>
              <a:tblPr/>
              <a:tblGrid>
                <a:gridCol w="30175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Question type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Default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If many categories</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If many series</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Comparison (ranking)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Sorted bar / dot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Dot plot (compact)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Small multiples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Trend over time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Line chart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Small multiples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Highlight one, grey rest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Distribution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Histogram / box</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Violin / strip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Ridgeline / faceted box</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Relationship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Scatter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Scatter + trend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Faceted scatter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Part-to-whole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100% stacked bar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Treemap (careful)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Small-multiple stacks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Geospatial how-much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Sorted bar first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Bar + supporting map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bl>
          </a:graphicData>
        </a:graphic>
      </p:graphicFrame>
      <p:sp>
        <p:nvSpPr>
          <p:cNvPr id="15" name="Text 11"/>
          <p:cNvSpPr/>
          <p:nvPr/>
        </p:nvSpPr>
        <p:spPr>
          <a:xfrm>
            <a:off x="548640" y="5431536"/>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Tayseer's 13 overlapping regional lines resolve to small multiples or highlight-one.</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DESIGN PRINCIPLES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five core design principles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55</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Every chart in this course obeys five principles — the design equivalent of Module 1's encoding rules.</a:t>
            </a:r>
            <a:endParaRPr lang="en-US" sz="1250" dirty="0"/>
          </a:p>
        </p:txBody>
      </p:sp>
      <p:sp>
        <p:nvSpPr>
          <p:cNvPr id="15" name="Shape 12"/>
          <p:cNvSpPr/>
          <p:nvPr/>
        </p:nvSpPr>
        <p:spPr>
          <a:xfrm>
            <a:off x="548640" y="2542032"/>
            <a:ext cx="11094415" cy="596189"/>
          </a:xfrm>
          <a:prstGeom prst="roundRect">
            <a:avLst>
              <a:gd name="adj" fmla="val 10736"/>
            </a:avLst>
          </a:prstGeom>
          <a:solidFill>
            <a:srgbClr val="EAF0FA"/>
          </a:solidFill>
          <a:ln w="15240">
            <a:solidFill>
              <a:srgbClr val="2E5AAC"/>
            </a:solidFill>
            <a:prstDash val="solid"/>
          </a:ln>
        </p:spPr>
      </p:sp>
      <p:sp>
        <p:nvSpPr>
          <p:cNvPr id="16" name="Shape 13"/>
          <p:cNvSpPr/>
          <p:nvPr/>
        </p:nvSpPr>
        <p:spPr>
          <a:xfrm>
            <a:off x="694944" y="2657246"/>
            <a:ext cx="365760" cy="365760"/>
          </a:xfrm>
          <a:prstGeom prst="ellipse">
            <a:avLst/>
          </a:prstGeom>
          <a:solidFill>
            <a:srgbClr val="2E5AAC"/>
          </a:solidFill>
          <a:ln/>
        </p:spPr>
      </p:sp>
      <p:sp>
        <p:nvSpPr>
          <p:cNvPr id="17" name="Text 14"/>
          <p:cNvSpPr/>
          <p:nvPr/>
        </p:nvSpPr>
        <p:spPr>
          <a:xfrm>
            <a:off x="694944" y="2657246"/>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8" name="Text 15"/>
          <p:cNvSpPr/>
          <p:nvPr/>
        </p:nvSpPr>
        <p:spPr>
          <a:xfrm>
            <a:off x="1188720" y="2542032"/>
            <a:ext cx="10271455" cy="596189"/>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Honest baseline  </a:t>
            </a:r>
            <a:r>
              <a:rPr lang="en-US" sz="1150" dirty="0">
                <a:solidFill>
                  <a:srgbClr val="343A4E"/>
                </a:solidFill>
                <a:latin typeface="Arial" pitchFamily="34" charset="0"/>
                <a:ea typeface="Arial" pitchFamily="34" charset="-122"/>
                <a:cs typeface="Arial" pitchFamily="34" charset="-120"/>
              </a:rPr>
              <a:t>Bars start at zero; to show small gaps use a dot plot or line, never truncate a bar.</a:t>
            </a:r>
            <a:endParaRPr lang="en-US" sz="1300" dirty="0"/>
          </a:p>
        </p:txBody>
      </p:sp>
      <p:sp>
        <p:nvSpPr>
          <p:cNvPr id="19" name="Shape 16"/>
          <p:cNvSpPr/>
          <p:nvPr/>
        </p:nvSpPr>
        <p:spPr>
          <a:xfrm>
            <a:off x="548640" y="3266237"/>
            <a:ext cx="11094415" cy="596189"/>
          </a:xfrm>
          <a:prstGeom prst="roundRect">
            <a:avLst>
              <a:gd name="adj" fmla="val 10736"/>
            </a:avLst>
          </a:prstGeom>
          <a:solidFill>
            <a:srgbClr val="E6F5F4"/>
          </a:solidFill>
          <a:ln w="15240">
            <a:solidFill>
              <a:srgbClr val="00A79D"/>
            </a:solidFill>
            <a:prstDash val="solid"/>
          </a:ln>
        </p:spPr>
      </p:sp>
      <p:sp>
        <p:nvSpPr>
          <p:cNvPr id="20" name="Shape 17"/>
          <p:cNvSpPr/>
          <p:nvPr/>
        </p:nvSpPr>
        <p:spPr>
          <a:xfrm>
            <a:off x="694944" y="3381451"/>
            <a:ext cx="365760" cy="365760"/>
          </a:xfrm>
          <a:prstGeom prst="ellipse">
            <a:avLst/>
          </a:prstGeom>
          <a:solidFill>
            <a:srgbClr val="00A79D"/>
          </a:solidFill>
          <a:ln/>
        </p:spPr>
      </p:sp>
      <p:sp>
        <p:nvSpPr>
          <p:cNvPr id="21" name="Text 18"/>
          <p:cNvSpPr/>
          <p:nvPr/>
        </p:nvSpPr>
        <p:spPr>
          <a:xfrm>
            <a:off x="694944" y="3381451"/>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Text 19"/>
          <p:cNvSpPr/>
          <p:nvPr/>
        </p:nvSpPr>
        <p:spPr>
          <a:xfrm>
            <a:off x="1188720" y="3266237"/>
            <a:ext cx="10271455" cy="596189"/>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Sort by value  </a:t>
            </a:r>
            <a:r>
              <a:rPr lang="en-US" sz="1150" dirty="0">
                <a:solidFill>
                  <a:srgbClr val="343A4E"/>
                </a:solidFill>
                <a:latin typeface="Arial" pitchFamily="34" charset="0"/>
                <a:ea typeface="Arial" pitchFamily="34" charset="-122"/>
                <a:cs typeface="Arial" pitchFamily="34" charset="-120"/>
              </a:rPr>
              <a:t>A sorted bar makes ranking free; sort unless the category has an inherent order.</a:t>
            </a:r>
            <a:endParaRPr lang="en-US" sz="1300" dirty="0"/>
          </a:p>
        </p:txBody>
      </p:sp>
      <p:sp>
        <p:nvSpPr>
          <p:cNvPr id="23" name="Shape 20"/>
          <p:cNvSpPr/>
          <p:nvPr/>
        </p:nvSpPr>
        <p:spPr>
          <a:xfrm>
            <a:off x="548640" y="3990442"/>
            <a:ext cx="11094415" cy="596189"/>
          </a:xfrm>
          <a:prstGeom prst="roundRect">
            <a:avLst>
              <a:gd name="adj" fmla="val 10736"/>
            </a:avLst>
          </a:prstGeom>
          <a:solidFill>
            <a:srgbClr val="FCF0E6"/>
          </a:solidFill>
          <a:ln w="15240">
            <a:solidFill>
              <a:srgbClr val="E8833A"/>
            </a:solidFill>
            <a:prstDash val="solid"/>
          </a:ln>
        </p:spPr>
      </p:sp>
      <p:sp>
        <p:nvSpPr>
          <p:cNvPr id="24" name="Shape 21"/>
          <p:cNvSpPr/>
          <p:nvPr/>
        </p:nvSpPr>
        <p:spPr>
          <a:xfrm>
            <a:off x="694944" y="4105656"/>
            <a:ext cx="365760" cy="365760"/>
          </a:xfrm>
          <a:prstGeom prst="ellipse">
            <a:avLst/>
          </a:prstGeom>
          <a:solidFill>
            <a:srgbClr val="E8833A"/>
          </a:solidFill>
          <a:ln/>
        </p:spPr>
      </p:sp>
      <p:sp>
        <p:nvSpPr>
          <p:cNvPr id="25" name="Text 22"/>
          <p:cNvSpPr/>
          <p:nvPr/>
        </p:nvSpPr>
        <p:spPr>
          <a:xfrm>
            <a:off x="694944" y="4105656"/>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3"/>
          <p:cNvSpPr/>
          <p:nvPr/>
        </p:nvSpPr>
        <p:spPr>
          <a:xfrm>
            <a:off x="1188720" y="3990442"/>
            <a:ext cx="10271455" cy="596189"/>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Direct labelling  </a:t>
            </a:r>
            <a:r>
              <a:rPr lang="en-US" sz="1150" dirty="0">
                <a:solidFill>
                  <a:srgbClr val="343A4E"/>
                </a:solidFill>
                <a:latin typeface="Arial" pitchFamily="34" charset="0"/>
                <a:ea typeface="Arial" pitchFamily="34" charset="-122"/>
                <a:cs typeface="Arial" pitchFamily="34" charset="-120"/>
              </a:rPr>
              <a:t>Put the series name at the end of its line and kill the legend's round trip.</a:t>
            </a:r>
            <a:endParaRPr lang="en-US" sz="1300" dirty="0"/>
          </a:p>
        </p:txBody>
      </p:sp>
      <p:sp>
        <p:nvSpPr>
          <p:cNvPr id="27" name="Shape 24"/>
          <p:cNvSpPr/>
          <p:nvPr/>
        </p:nvSpPr>
        <p:spPr>
          <a:xfrm>
            <a:off x="548640" y="4714646"/>
            <a:ext cx="11094415" cy="596189"/>
          </a:xfrm>
          <a:prstGeom prst="roundRect">
            <a:avLst>
              <a:gd name="adj" fmla="val 10736"/>
            </a:avLst>
          </a:prstGeom>
          <a:solidFill>
            <a:srgbClr val="EFEBF6"/>
          </a:solidFill>
          <a:ln w="15240">
            <a:solidFill>
              <a:srgbClr val="6C4FA1"/>
            </a:solidFill>
            <a:prstDash val="solid"/>
          </a:ln>
        </p:spPr>
      </p:sp>
      <p:sp>
        <p:nvSpPr>
          <p:cNvPr id="28" name="Shape 25"/>
          <p:cNvSpPr/>
          <p:nvPr/>
        </p:nvSpPr>
        <p:spPr>
          <a:xfrm>
            <a:off x="694944" y="4829861"/>
            <a:ext cx="365760" cy="365760"/>
          </a:xfrm>
          <a:prstGeom prst="ellipse">
            <a:avLst/>
          </a:prstGeom>
          <a:solidFill>
            <a:srgbClr val="6C4FA1"/>
          </a:solidFill>
          <a:ln/>
        </p:spPr>
      </p:sp>
      <p:sp>
        <p:nvSpPr>
          <p:cNvPr id="29" name="Text 26"/>
          <p:cNvSpPr/>
          <p:nvPr/>
        </p:nvSpPr>
        <p:spPr>
          <a:xfrm>
            <a:off x="694944" y="4829861"/>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7"/>
          <p:cNvSpPr/>
          <p:nvPr/>
        </p:nvSpPr>
        <p:spPr>
          <a:xfrm>
            <a:off x="1188720" y="4714646"/>
            <a:ext cx="10271455" cy="596189"/>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Reference lines  </a:t>
            </a:r>
            <a:r>
              <a:rPr lang="en-US" sz="1150" dirty="0">
                <a:solidFill>
                  <a:srgbClr val="343A4E"/>
                </a:solidFill>
                <a:latin typeface="Arial" pitchFamily="34" charset="0"/>
                <a:ea typeface="Arial" pitchFamily="34" charset="-122"/>
                <a:cs typeface="Arial" pitchFamily="34" charset="-120"/>
              </a:rPr>
              <a:t>A target or national mean turns a chart of numbers into a chart of judgements.</a:t>
            </a:r>
            <a:endParaRPr lang="en-US" sz="1300" dirty="0"/>
          </a:p>
        </p:txBody>
      </p:sp>
      <p:sp>
        <p:nvSpPr>
          <p:cNvPr id="31" name="Shape 28"/>
          <p:cNvSpPr/>
          <p:nvPr/>
        </p:nvSpPr>
        <p:spPr>
          <a:xfrm>
            <a:off x="548640" y="5438851"/>
            <a:ext cx="11094415" cy="596189"/>
          </a:xfrm>
          <a:prstGeom prst="roundRect">
            <a:avLst>
              <a:gd name="adj" fmla="val 10736"/>
            </a:avLst>
          </a:prstGeom>
          <a:solidFill>
            <a:srgbClr val="E9F5EC"/>
          </a:solidFill>
          <a:ln w="15240">
            <a:solidFill>
              <a:srgbClr val="3FAE5A"/>
            </a:solidFill>
            <a:prstDash val="solid"/>
          </a:ln>
        </p:spPr>
      </p:sp>
      <p:sp>
        <p:nvSpPr>
          <p:cNvPr id="32" name="Shape 29"/>
          <p:cNvSpPr/>
          <p:nvPr/>
        </p:nvSpPr>
        <p:spPr>
          <a:xfrm>
            <a:off x="694944" y="5554066"/>
            <a:ext cx="365760" cy="365760"/>
          </a:xfrm>
          <a:prstGeom prst="ellipse">
            <a:avLst/>
          </a:prstGeom>
          <a:solidFill>
            <a:srgbClr val="3FAE5A"/>
          </a:solidFill>
          <a:ln/>
        </p:spPr>
      </p:sp>
      <p:sp>
        <p:nvSpPr>
          <p:cNvPr id="33" name="Text 30"/>
          <p:cNvSpPr/>
          <p:nvPr/>
        </p:nvSpPr>
        <p:spPr>
          <a:xfrm>
            <a:off x="694944" y="5554066"/>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4" name="Text 31"/>
          <p:cNvSpPr/>
          <p:nvPr/>
        </p:nvSpPr>
        <p:spPr>
          <a:xfrm>
            <a:off x="1188720" y="5438851"/>
            <a:ext cx="10271455" cy="596189"/>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Small multiples  </a:t>
            </a:r>
            <a:r>
              <a:rPr lang="en-US" sz="1150" dirty="0">
                <a:solidFill>
                  <a:srgbClr val="343A4E"/>
                </a:solidFill>
                <a:latin typeface="Arial" pitchFamily="34" charset="0"/>
                <a:ea typeface="Arial" pitchFamily="34" charset="-122"/>
                <a:cs typeface="Arial" pitchFamily="34" charset="-120"/>
              </a:rPr>
              <a:t>Repeat a small chart across one dimension; the eye compares shapes on a grid.</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SMALL MULTIPLES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Spaghetti lines vs small multiples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56</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Same data, thirteen regions: one chart with all lines overlaid is unreadable; a grid of identical panels is instantly legible.</a:t>
            </a:r>
            <a:endParaRPr lang="en-US" sz="1250" dirty="0"/>
          </a:p>
        </p:txBody>
      </p:sp>
      <p:sp>
        <p:nvSpPr>
          <p:cNvPr id="15" name="Shape 12"/>
          <p:cNvSpPr/>
          <p:nvPr/>
        </p:nvSpPr>
        <p:spPr>
          <a:xfrm>
            <a:off x="548640" y="2569464"/>
            <a:ext cx="5391760" cy="3465576"/>
          </a:xfrm>
          <a:prstGeom prst="roundRect">
            <a:avLst>
              <a:gd name="adj" fmla="val 2639"/>
            </a:avLst>
          </a:prstGeom>
          <a:solidFill>
            <a:srgbClr val="FFFFFF"/>
          </a:solidFill>
          <a:ln w="17780">
            <a:solidFill>
              <a:srgbClr val="2E5AAC"/>
            </a:solidFill>
            <a:prstDash val="solid"/>
          </a:ln>
        </p:spPr>
      </p:sp>
      <p:sp>
        <p:nvSpPr>
          <p:cNvPr id="16" name="Shape 13"/>
          <p:cNvSpPr/>
          <p:nvPr/>
        </p:nvSpPr>
        <p:spPr>
          <a:xfrm>
            <a:off x="548640" y="2569464"/>
            <a:ext cx="5391760" cy="566928"/>
          </a:xfrm>
          <a:prstGeom prst="roundRect">
            <a:avLst>
              <a:gd name="adj" fmla="val 16129"/>
            </a:avLst>
          </a:prstGeom>
          <a:solidFill>
            <a:srgbClr val="2E5AAC"/>
          </a:solidFill>
          <a:ln/>
        </p:spPr>
      </p:sp>
      <p:sp>
        <p:nvSpPr>
          <p:cNvPr id="17" name="Shape 14"/>
          <p:cNvSpPr/>
          <p:nvPr/>
        </p:nvSpPr>
        <p:spPr>
          <a:xfrm>
            <a:off x="548640" y="2852928"/>
            <a:ext cx="5391760" cy="283464"/>
          </a:xfrm>
          <a:prstGeom prst="rect">
            <a:avLst/>
          </a:prstGeom>
          <a:solidFill>
            <a:srgbClr val="2E5AAC"/>
          </a:solidFill>
          <a:ln/>
        </p:spPr>
      </p:sp>
      <p:sp>
        <p:nvSpPr>
          <p:cNvPr id="18" name="Text 15"/>
          <p:cNvSpPr/>
          <p:nvPr/>
        </p:nvSpPr>
        <p:spPr>
          <a:xfrm>
            <a:off x="640080" y="2569464"/>
            <a:ext cx="5208880"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13 overlapping lines (spaghetti)</a:t>
            </a:r>
            <a:endParaRPr lang="en-US" sz="1400" dirty="0"/>
          </a:p>
        </p:txBody>
      </p:sp>
      <p:sp>
        <p:nvSpPr>
          <p:cNvPr id="19" name="Text 16"/>
          <p:cNvSpPr/>
          <p:nvPr/>
        </p:nvSpPr>
        <p:spPr>
          <a:xfrm>
            <a:off x="749808" y="3300984"/>
            <a:ext cx="5007712" cy="640080"/>
          </a:xfrm>
          <a:prstGeom prst="rect">
            <a:avLst/>
          </a:prstGeom>
          <a:noFill/>
          <a:ln/>
        </p:spPr>
        <p:txBody>
          <a:bodyPr wrap="square" rtlCol="0" anchor="t"/>
          <a:lstStyle/>
          <a:p>
            <a:pPr marL="0" indent="0">
              <a:lnSpc>
                <a:spcPct val="100000"/>
              </a:lnSpc>
              <a:buNone/>
            </a:pPr>
            <a:r>
              <a:rPr lang="en-US" sz="1100" b="1" dirty="0">
                <a:solidFill>
                  <a:srgbClr val="D9534F"/>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Tangled </a:t>
            </a:r>
            <a:r>
              <a:rPr lang="en-US" sz="1100" dirty="0">
                <a:solidFill>
                  <a:srgbClr val="343A4E"/>
                </a:solidFill>
                <a:latin typeface="Arial" pitchFamily="34" charset="0"/>
                <a:ea typeface="Arial" pitchFamily="34" charset="-122"/>
                <a:cs typeface="Arial" pitchFamily="34" charset="-120"/>
              </a:rPr>
              <a:t>Thirteen regional lines cross and occlude; no single line is followable.</a:t>
            </a:r>
            <a:endParaRPr lang="en-US" sz="1100" dirty="0"/>
          </a:p>
        </p:txBody>
      </p:sp>
      <p:sp>
        <p:nvSpPr>
          <p:cNvPr id="20" name="Text 17"/>
          <p:cNvSpPr/>
          <p:nvPr/>
        </p:nvSpPr>
        <p:spPr>
          <a:xfrm>
            <a:off x="749808" y="3977640"/>
            <a:ext cx="5007712" cy="640080"/>
          </a:xfrm>
          <a:prstGeom prst="rect">
            <a:avLst/>
          </a:prstGeom>
          <a:noFill/>
          <a:ln/>
        </p:spPr>
        <p:txBody>
          <a:bodyPr wrap="square" rtlCol="0" anchor="t"/>
          <a:lstStyle/>
          <a:p>
            <a:pPr marL="0" indent="0">
              <a:lnSpc>
                <a:spcPct val="100000"/>
              </a:lnSpc>
              <a:buNone/>
            </a:pPr>
            <a:r>
              <a:rPr lang="en-US" sz="1100" b="1" dirty="0">
                <a:solidFill>
                  <a:srgbClr val="D9534F"/>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No ranking </a:t>
            </a:r>
            <a:r>
              <a:rPr lang="en-US" sz="1100" dirty="0">
                <a:solidFill>
                  <a:srgbClr val="343A4E"/>
                </a:solidFill>
                <a:latin typeface="Arial" pitchFamily="34" charset="0"/>
                <a:ea typeface="Arial" pitchFamily="34" charset="-122"/>
                <a:cs typeface="Arial" pitchFamily="34" charset="-120"/>
              </a:rPr>
              <a:t>The eye cannot rank regions or find the laggard.</a:t>
            </a:r>
            <a:endParaRPr lang="en-US" sz="1100" dirty="0"/>
          </a:p>
        </p:txBody>
      </p:sp>
      <p:sp>
        <p:nvSpPr>
          <p:cNvPr id="21" name="Text 18"/>
          <p:cNvSpPr/>
          <p:nvPr/>
        </p:nvSpPr>
        <p:spPr>
          <a:xfrm>
            <a:off x="749808" y="4453128"/>
            <a:ext cx="5007712" cy="640080"/>
          </a:xfrm>
          <a:prstGeom prst="rect">
            <a:avLst/>
          </a:prstGeom>
          <a:noFill/>
          <a:ln/>
        </p:spPr>
        <p:txBody>
          <a:bodyPr wrap="square" rtlCol="0" anchor="t"/>
          <a:lstStyle/>
          <a:p>
            <a:pPr marL="0" indent="0">
              <a:lnSpc>
                <a:spcPct val="100000"/>
              </a:lnSpc>
              <a:buNone/>
            </a:pPr>
            <a:r>
              <a:rPr lang="en-US" sz="1100" b="1" dirty="0">
                <a:solidFill>
                  <a:srgbClr val="D9534F"/>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Colour overload </a:t>
            </a:r>
            <a:r>
              <a:rPr lang="en-US" sz="1100" dirty="0">
                <a:solidFill>
                  <a:srgbClr val="343A4E"/>
                </a:solidFill>
                <a:latin typeface="Arial" pitchFamily="34" charset="0"/>
                <a:ea typeface="Arial" pitchFamily="34" charset="-122"/>
                <a:cs typeface="Arial" pitchFamily="34" charset="-120"/>
              </a:rPr>
              <a:t>Thirteen hues exhaust the legend and the reader.</a:t>
            </a:r>
            <a:endParaRPr lang="en-US" sz="1100" dirty="0"/>
          </a:p>
        </p:txBody>
      </p:sp>
      <p:sp>
        <p:nvSpPr>
          <p:cNvPr id="22" name="Shape 19"/>
          <p:cNvSpPr/>
          <p:nvPr/>
        </p:nvSpPr>
        <p:spPr>
          <a:xfrm>
            <a:off x="6251296" y="2569464"/>
            <a:ext cx="5391760" cy="3465576"/>
          </a:xfrm>
          <a:prstGeom prst="roundRect">
            <a:avLst>
              <a:gd name="adj" fmla="val 2639"/>
            </a:avLst>
          </a:prstGeom>
          <a:solidFill>
            <a:srgbClr val="FFFFFF"/>
          </a:solidFill>
          <a:ln w="17780">
            <a:solidFill>
              <a:srgbClr val="00A79D"/>
            </a:solidFill>
            <a:prstDash val="solid"/>
          </a:ln>
        </p:spPr>
      </p:sp>
      <p:sp>
        <p:nvSpPr>
          <p:cNvPr id="23" name="Shape 20"/>
          <p:cNvSpPr/>
          <p:nvPr/>
        </p:nvSpPr>
        <p:spPr>
          <a:xfrm>
            <a:off x="6251296" y="2569464"/>
            <a:ext cx="5391760" cy="566928"/>
          </a:xfrm>
          <a:prstGeom prst="roundRect">
            <a:avLst>
              <a:gd name="adj" fmla="val 16129"/>
            </a:avLst>
          </a:prstGeom>
          <a:solidFill>
            <a:srgbClr val="00A79D"/>
          </a:solidFill>
          <a:ln/>
        </p:spPr>
      </p:sp>
      <p:sp>
        <p:nvSpPr>
          <p:cNvPr id="24" name="Shape 21"/>
          <p:cNvSpPr/>
          <p:nvPr/>
        </p:nvSpPr>
        <p:spPr>
          <a:xfrm>
            <a:off x="6251296" y="2852928"/>
            <a:ext cx="5391760" cy="283464"/>
          </a:xfrm>
          <a:prstGeom prst="rect">
            <a:avLst/>
          </a:prstGeom>
          <a:solidFill>
            <a:srgbClr val="00A79D"/>
          </a:solidFill>
          <a:ln/>
        </p:spPr>
      </p:sp>
      <p:sp>
        <p:nvSpPr>
          <p:cNvPr id="25" name="Text 22"/>
          <p:cNvSpPr/>
          <p:nvPr/>
        </p:nvSpPr>
        <p:spPr>
          <a:xfrm>
            <a:off x="6342736" y="2569464"/>
            <a:ext cx="5208880"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13-panel small multiples</a:t>
            </a:r>
            <a:endParaRPr lang="en-US" sz="1400" dirty="0"/>
          </a:p>
        </p:txBody>
      </p:sp>
      <p:sp>
        <p:nvSpPr>
          <p:cNvPr id="26" name="Text 23"/>
          <p:cNvSpPr/>
          <p:nvPr/>
        </p:nvSpPr>
        <p:spPr>
          <a:xfrm>
            <a:off x="6452464" y="3300984"/>
            <a:ext cx="5007712"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Shared scales </a:t>
            </a:r>
            <a:r>
              <a:rPr lang="en-US" sz="1100" dirty="0">
                <a:solidFill>
                  <a:srgbClr val="343A4E"/>
                </a:solidFill>
                <a:latin typeface="Arial" pitchFamily="34" charset="0"/>
                <a:ea typeface="Arial" pitchFamily="34" charset="-122"/>
                <a:cs typeface="Arial" pitchFamily="34" charset="-120"/>
              </a:rPr>
              <a:t>One shared Y-axis makes every panel directly comparable.</a:t>
            </a:r>
            <a:endParaRPr lang="en-US" sz="1100" dirty="0"/>
          </a:p>
        </p:txBody>
      </p:sp>
      <p:sp>
        <p:nvSpPr>
          <p:cNvPr id="27" name="Text 24"/>
          <p:cNvSpPr/>
          <p:nvPr/>
        </p:nvSpPr>
        <p:spPr>
          <a:xfrm>
            <a:off x="6452464" y="3977640"/>
            <a:ext cx="5007712"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Sorted panels </a:t>
            </a:r>
            <a:r>
              <a:rPr lang="en-US" sz="1100" dirty="0">
                <a:solidFill>
                  <a:srgbClr val="343A4E"/>
                </a:solidFill>
                <a:latin typeface="Arial" pitchFamily="34" charset="0"/>
                <a:ea typeface="Arial" pitchFamily="34" charset="-122"/>
                <a:cs typeface="Arial" pitchFamily="34" charset="-120"/>
              </a:rPr>
              <a:t>Order panels by latest value so the grid itself encodes ranking.</a:t>
            </a:r>
            <a:endParaRPr lang="en-US" sz="1100" dirty="0"/>
          </a:p>
        </p:txBody>
      </p:sp>
      <p:sp>
        <p:nvSpPr>
          <p:cNvPr id="28" name="Text 25"/>
          <p:cNvSpPr/>
          <p:nvPr/>
        </p:nvSpPr>
        <p:spPr>
          <a:xfrm>
            <a:off x="6452464" y="4654296"/>
            <a:ext cx="5007712"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One highlight </a:t>
            </a:r>
            <a:r>
              <a:rPr lang="en-US" sz="1100" dirty="0">
                <a:solidFill>
                  <a:srgbClr val="343A4E"/>
                </a:solidFill>
                <a:latin typeface="Arial" pitchFamily="34" charset="0"/>
                <a:ea typeface="Arial" pitchFamily="34" charset="-122"/>
                <a:cs typeface="Arial" pitchFamily="34" charset="-120"/>
              </a:rPr>
              <a:t>A single reference colour — national mean or target — if one is needed.</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ANTI-PATTERNS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Anti-patterns to name and forbid</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57</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Name and forbid each explicitly; every one appears in a Lab 2 starter chart deliberately.</a:t>
            </a:r>
            <a:endParaRPr lang="en-US" sz="1250" dirty="0"/>
          </a:p>
        </p:txBody>
      </p:sp>
      <p:sp>
        <p:nvSpPr>
          <p:cNvPr id="15" name="Shape 12"/>
          <p:cNvSpPr/>
          <p:nvPr/>
        </p:nvSpPr>
        <p:spPr>
          <a:xfrm>
            <a:off x="548640" y="2569464"/>
            <a:ext cx="351525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3515258" cy="82296"/>
          </a:xfrm>
          <a:prstGeom prst="rect">
            <a:avLst/>
          </a:prstGeom>
          <a:solidFill>
            <a:srgbClr val="2E5AAC"/>
          </a:solidFill>
          <a:ln/>
        </p:spPr>
      </p:sp>
      <p:sp>
        <p:nvSpPr>
          <p:cNvPr id="17" name="Shape 14"/>
          <p:cNvSpPr/>
          <p:nvPr/>
        </p:nvSpPr>
        <p:spPr>
          <a:xfrm>
            <a:off x="731520" y="2752344"/>
            <a:ext cx="822960" cy="292608"/>
          </a:xfrm>
          <a:prstGeom prst="roundRect">
            <a:avLst>
              <a:gd name="adj" fmla="val 18750"/>
            </a:avLst>
          </a:prstGeom>
          <a:solidFill>
            <a:srgbClr val="EAF0FA"/>
          </a:solidFill>
          <a:ln/>
        </p:spPr>
      </p:sp>
      <p:sp>
        <p:nvSpPr>
          <p:cNvPr id="18" name="Text 15"/>
          <p:cNvSpPr/>
          <p:nvPr/>
        </p:nvSpPr>
        <p:spPr>
          <a:xfrm>
            <a:off x="731520" y="2752344"/>
            <a:ext cx="822960" cy="292608"/>
          </a:xfrm>
          <a:prstGeom prst="rect">
            <a:avLst/>
          </a:prstGeom>
          <a:noFill/>
          <a:ln/>
        </p:spPr>
        <p:txBody>
          <a:bodyPr wrap="square" rtlCol="0" anchor="ctr"/>
          <a:lstStyle/>
          <a:p>
            <a:pPr marL="0" indent="0" algn="ctr">
              <a:buNone/>
            </a:pPr>
            <a:r>
              <a:rPr lang="en-US" sz="1000" b="1" dirty="0">
                <a:solidFill>
                  <a:srgbClr val="2E5AAC"/>
                </a:solidFill>
                <a:latin typeface="Arial" pitchFamily="34" charset="0"/>
                <a:ea typeface="Arial" pitchFamily="34" charset="-122"/>
                <a:cs typeface="Arial" pitchFamily="34" charset="-120"/>
              </a:rPr>
              <a:t>Bars</a:t>
            </a:r>
            <a:endParaRPr lang="en-US" sz="1000" dirty="0"/>
          </a:p>
        </p:txBody>
      </p:sp>
      <p:sp>
        <p:nvSpPr>
          <p:cNvPr id="19" name="Text 16"/>
          <p:cNvSpPr/>
          <p:nvPr/>
        </p:nvSpPr>
        <p:spPr>
          <a:xfrm>
            <a:off x="731520" y="313639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Clustered bars &gt; 2–3 series</a:t>
            </a:r>
            <a:endParaRPr lang="en-US" sz="1300" dirty="0"/>
          </a:p>
        </p:txBody>
      </p:sp>
      <p:sp>
        <p:nvSpPr>
          <p:cNvPr id="20" name="Text 17"/>
          <p:cNvSpPr/>
          <p:nvPr/>
        </p:nvSpPr>
        <p:spPr>
          <a:xfrm>
            <a:off x="731520" y="3703320"/>
            <a:ext cx="3149498" cy="370332"/>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The eye cannot track a category across clusters. Use small multiples or a slope chart.</a:t>
            </a:r>
            <a:endParaRPr lang="en-US" sz="1050" dirty="0"/>
          </a:p>
        </p:txBody>
      </p:sp>
      <p:sp>
        <p:nvSpPr>
          <p:cNvPr id="21" name="Shape 18"/>
          <p:cNvSpPr/>
          <p:nvPr/>
        </p:nvSpPr>
        <p:spPr>
          <a:xfrm>
            <a:off x="4338218" y="2569464"/>
            <a:ext cx="3515258" cy="1613916"/>
          </a:xfrm>
          <a:prstGeom prst="roundRect">
            <a:avLst>
              <a:gd name="adj" fmla="val 4533"/>
            </a:avLst>
          </a:prstGeom>
          <a:solidFill>
            <a:srgbClr val="FFFFFF"/>
          </a:solidFill>
          <a:ln w="12700">
            <a:solidFill>
              <a:srgbClr val="D9DEE8"/>
            </a:solidFill>
            <a:prstDash val="solid"/>
          </a:ln>
        </p:spPr>
      </p:sp>
      <p:sp>
        <p:nvSpPr>
          <p:cNvPr id="22" name="Shape 19"/>
          <p:cNvSpPr/>
          <p:nvPr/>
        </p:nvSpPr>
        <p:spPr>
          <a:xfrm>
            <a:off x="4338218" y="2569464"/>
            <a:ext cx="3515258" cy="82296"/>
          </a:xfrm>
          <a:prstGeom prst="rect">
            <a:avLst/>
          </a:prstGeom>
          <a:solidFill>
            <a:srgbClr val="00A79D"/>
          </a:solidFill>
          <a:ln/>
        </p:spPr>
      </p:sp>
      <p:sp>
        <p:nvSpPr>
          <p:cNvPr id="23" name="Shape 20"/>
          <p:cNvSpPr/>
          <p:nvPr/>
        </p:nvSpPr>
        <p:spPr>
          <a:xfrm>
            <a:off x="4521098" y="2752344"/>
            <a:ext cx="822960" cy="292608"/>
          </a:xfrm>
          <a:prstGeom prst="roundRect">
            <a:avLst>
              <a:gd name="adj" fmla="val 18750"/>
            </a:avLst>
          </a:prstGeom>
          <a:solidFill>
            <a:srgbClr val="E6F5F4"/>
          </a:solidFill>
          <a:ln/>
        </p:spPr>
      </p:sp>
      <p:sp>
        <p:nvSpPr>
          <p:cNvPr id="24" name="Text 21"/>
          <p:cNvSpPr/>
          <p:nvPr/>
        </p:nvSpPr>
        <p:spPr>
          <a:xfrm>
            <a:off x="4521098" y="2752344"/>
            <a:ext cx="822960" cy="292608"/>
          </a:xfrm>
          <a:prstGeom prst="rect">
            <a:avLst/>
          </a:prstGeom>
          <a:noFill/>
          <a:ln/>
        </p:spPr>
        <p:txBody>
          <a:bodyPr wrap="square" rtlCol="0" anchor="ctr"/>
          <a:lstStyle/>
          <a:p>
            <a:pPr marL="0" indent="0" algn="ctr">
              <a:buNone/>
            </a:pPr>
            <a:r>
              <a:rPr lang="en-US" sz="1000" b="1" dirty="0">
                <a:solidFill>
                  <a:srgbClr val="00A79D"/>
                </a:solidFill>
                <a:latin typeface="Arial" pitchFamily="34" charset="0"/>
                <a:ea typeface="Arial" pitchFamily="34" charset="-122"/>
                <a:cs typeface="Arial" pitchFamily="34" charset="-120"/>
              </a:rPr>
              <a:t>Lines</a:t>
            </a:r>
            <a:endParaRPr lang="en-US" sz="1000" dirty="0"/>
          </a:p>
        </p:txBody>
      </p:sp>
      <p:sp>
        <p:nvSpPr>
          <p:cNvPr id="25" name="Text 22"/>
          <p:cNvSpPr/>
          <p:nvPr/>
        </p:nvSpPr>
        <p:spPr>
          <a:xfrm>
            <a:off x="4521098" y="313639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Spaghetti line charts</a:t>
            </a:r>
            <a:endParaRPr lang="en-US" sz="1300" dirty="0"/>
          </a:p>
        </p:txBody>
      </p:sp>
      <p:sp>
        <p:nvSpPr>
          <p:cNvPr id="26" name="Text 23"/>
          <p:cNvSpPr/>
          <p:nvPr/>
        </p:nvSpPr>
        <p:spPr>
          <a:xfrm>
            <a:off x="4521098" y="3502152"/>
            <a:ext cx="3149498" cy="571500"/>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More than five overlapping lines. Highlight one and grey the rest, or facet.</a:t>
            </a:r>
            <a:endParaRPr lang="en-US" sz="1050" dirty="0"/>
          </a:p>
        </p:txBody>
      </p:sp>
      <p:sp>
        <p:nvSpPr>
          <p:cNvPr id="27" name="Shape 24"/>
          <p:cNvSpPr/>
          <p:nvPr/>
        </p:nvSpPr>
        <p:spPr>
          <a:xfrm>
            <a:off x="8127797" y="2569464"/>
            <a:ext cx="351525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8127797" y="2569464"/>
            <a:ext cx="3515258" cy="82296"/>
          </a:xfrm>
          <a:prstGeom prst="rect">
            <a:avLst/>
          </a:prstGeom>
          <a:solidFill>
            <a:srgbClr val="E8833A"/>
          </a:solidFill>
          <a:ln/>
        </p:spPr>
      </p:sp>
      <p:sp>
        <p:nvSpPr>
          <p:cNvPr id="29" name="Shape 26"/>
          <p:cNvSpPr/>
          <p:nvPr/>
        </p:nvSpPr>
        <p:spPr>
          <a:xfrm>
            <a:off x="8310677" y="2752344"/>
            <a:ext cx="822960" cy="292608"/>
          </a:xfrm>
          <a:prstGeom prst="roundRect">
            <a:avLst>
              <a:gd name="adj" fmla="val 18750"/>
            </a:avLst>
          </a:prstGeom>
          <a:solidFill>
            <a:srgbClr val="FCF0E6"/>
          </a:solidFill>
          <a:ln/>
        </p:spPr>
      </p:sp>
      <p:sp>
        <p:nvSpPr>
          <p:cNvPr id="30" name="Text 27"/>
          <p:cNvSpPr/>
          <p:nvPr/>
        </p:nvSpPr>
        <p:spPr>
          <a:xfrm>
            <a:off x="8310677" y="2752344"/>
            <a:ext cx="822960" cy="292608"/>
          </a:xfrm>
          <a:prstGeom prst="rect">
            <a:avLst/>
          </a:prstGeom>
          <a:noFill/>
          <a:ln/>
        </p:spPr>
        <p:txBody>
          <a:bodyPr wrap="square" rtlCol="0" anchor="ctr"/>
          <a:lstStyle/>
          <a:p>
            <a:pPr marL="0" indent="0" algn="ctr">
              <a:buNone/>
            </a:pPr>
            <a:r>
              <a:rPr lang="en-US" sz="1000" b="1" dirty="0">
                <a:solidFill>
                  <a:srgbClr val="E8833A"/>
                </a:solidFill>
                <a:latin typeface="Arial" pitchFamily="34" charset="0"/>
                <a:ea typeface="Arial" pitchFamily="34" charset="-122"/>
                <a:cs typeface="Arial" pitchFamily="34" charset="-120"/>
              </a:rPr>
              <a:t>Axes</a:t>
            </a:r>
            <a:endParaRPr lang="en-US" sz="1000" dirty="0"/>
          </a:p>
        </p:txBody>
      </p:sp>
      <p:sp>
        <p:nvSpPr>
          <p:cNvPr id="31" name="Text 28"/>
          <p:cNvSpPr/>
          <p:nvPr/>
        </p:nvSpPr>
        <p:spPr>
          <a:xfrm>
            <a:off x="8310677" y="313639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Dual-axis charts</a:t>
            </a:r>
            <a:endParaRPr lang="en-US" sz="1300" dirty="0"/>
          </a:p>
        </p:txBody>
      </p:sp>
      <p:sp>
        <p:nvSpPr>
          <p:cNvPr id="32" name="Text 29"/>
          <p:cNvSpPr/>
          <p:nvPr/>
        </p:nvSpPr>
        <p:spPr>
          <a:xfrm>
            <a:off x="8310677" y="3502152"/>
            <a:ext cx="3149498" cy="571500"/>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Two Y-axes manufacture a crossing. Index both series to a common base of 100.</a:t>
            </a:r>
            <a:endParaRPr lang="en-US" sz="1050" dirty="0"/>
          </a:p>
        </p:txBody>
      </p:sp>
      <p:sp>
        <p:nvSpPr>
          <p:cNvPr id="33" name="Shape 30"/>
          <p:cNvSpPr/>
          <p:nvPr/>
        </p:nvSpPr>
        <p:spPr>
          <a:xfrm>
            <a:off x="548640" y="4421124"/>
            <a:ext cx="3515258" cy="1613916"/>
          </a:xfrm>
          <a:prstGeom prst="roundRect">
            <a:avLst>
              <a:gd name="adj" fmla="val 4533"/>
            </a:avLst>
          </a:prstGeom>
          <a:solidFill>
            <a:srgbClr val="FFFFFF"/>
          </a:solidFill>
          <a:ln w="12700">
            <a:solidFill>
              <a:srgbClr val="D9DEE8"/>
            </a:solidFill>
            <a:prstDash val="solid"/>
          </a:ln>
        </p:spPr>
      </p:sp>
      <p:sp>
        <p:nvSpPr>
          <p:cNvPr id="34" name="Shape 31"/>
          <p:cNvSpPr/>
          <p:nvPr/>
        </p:nvSpPr>
        <p:spPr>
          <a:xfrm>
            <a:off x="548640" y="4421124"/>
            <a:ext cx="3515258" cy="82296"/>
          </a:xfrm>
          <a:prstGeom prst="rect">
            <a:avLst/>
          </a:prstGeom>
          <a:solidFill>
            <a:srgbClr val="6C4FA1"/>
          </a:solidFill>
          <a:ln/>
        </p:spPr>
      </p:sp>
      <p:sp>
        <p:nvSpPr>
          <p:cNvPr id="35" name="Shape 32"/>
          <p:cNvSpPr/>
          <p:nvPr/>
        </p:nvSpPr>
        <p:spPr>
          <a:xfrm>
            <a:off x="731520" y="4604004"/>
            <a:ext cx="822960" cy="292608"/>
          </a:xfrm>
          <a:prstGeom prst="roundRect">
            <a:avLst>
              <a:gd name="adj" fmla="val 18750"/>
            </a:avLst>
          </a:prstGeom>
          <a:solidFill>
            <a:srgbClr val="EFEBF6"/>
          </a:solidFill>
          <a:ln/>
        </p:spPr>
      </p:sp>
      <p:sp>
        <p:nvSpPr>
          <p:cNvPr id="36" name="Text 33"/>
          <p:cNvSpPr/>
          <p:nvPr/>
        </p:nvSpPr>
        <p:spPr>
          <a:xfrm>
            <a:off x="731520" y="4604004"/>
            <a:ext cx="822960" cy="292608"/>
          </a:xfrm>
          <a:prstGeom prst="rect">
            <a:avLst/>
          </a:prstGeom>
          <a:noFill/>
          <a:ln/>
        </p:spPr>
        <p:txBody>
          <a:bodyPr wrap="square" rtlCol="0" anchor="ctr"/>
          <a:lstStyle/>
          <a:p>
            <a:pPr marL="0" indent="0" algn="ctr">
              <a:buNone/>
            </a:pPr>
            <a:r>
              <a:rPr lang="en-US" sz="1000" b="1" dirty="0">
                <a:solidFill>
                  <a:srgbClr val="6C4FA1"/>
                </a:solidFill>
                <a:latin typeface="Arial" pitchFamily="34" charset="0"/>
                <a:ea typeface="Arial" pitchFamily="34" charset="-122"/>
                <a:cs typeface="Arial" pitchFamily="34" charset="-120"/>
              </a:rPr>
              <a:t>Stack</a:t>
            </a:r>
            <a:endParaRPr lang="en-US" sz="1000" dirty="0"/>
          </a:p>
        </p:txBody>
      </p:sp>
      <p:sp>
        <p:nvSpPr>
          <p:cNvPr id="37" name="Text 34"/>
          <p:cNvSpPr/>
          <p:nvPr/>
        </p:nvSpPr>
        <p:spPr>
          <a:xfrm>
            <a:off x="731520" y="498805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Stacked bars to compare</a:t>
            </a:r>
            <a:endParaRPr lang="en-US" sz="1300" dirty="0"/>
          </a:p>
        </p:txBody>
      </p:sp>
      <p:sp>
        <p:nvSpPr>
          <p:cNvPr id="38" name="Text 35"/>
          <p:cNvSpPr/>
          <p:nvPr/>
        </p:nvSpPr>
        <p:spPr>
          <a:xfrm>
            <a:off x="731520" y="5353812"/>
            <a:ext cx="3149498" cy="571500"/>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Only the bottom segment sits on a baseline; middle segments float and cannot be compared.</a:t>
            </a:r>
            <a:endParaRPr lang="en-US" sz="1050" dirty="0"/>
          </a:p>
        </p:txBody>
      </p:sp>
      <p:sp>
        <p:nvSpPr>
          <p:cNvPr id="39" name="Shape 36"/>
          <p:cNvSpPr/>
          <p:nvPr/>
        </p:nvSpPr>
        <p:spPr>
          <a:xfrm>
            <a:off x="4338218" y="4421124"/>
            <a:ext cx="3515258" cy="1613916"/>
          </a:xfrm>
          <a:prstGeom prst="roundRect">
            <a:avLst>
              <a:gd name="adj" fmla="val 4533"/>
            </a:avLst>
          </a:prstGeom>
          <a:solidFill>
            <a:srgbClr val="FFFFFF"/>
          </a:solidFill>
          <a:ln w="12700">
            <a:solidFill>
              <a:srgbClr val="D9DEE8"/>
            </a:solidFill>
            <a:prstDash val="solid"/>
          </a:ln>
        </p:spPr>
      </p:sp>
      <p:sp>
        <p:nvSpPr>
          <p:cNvPr id="40" name="Shape 37"/>
          <p:cNvSpPr/>
          <p:nvPr/>
        </p:nvSpPr>
        <p:spPr>
          <a:xfrm>
            <a:off x="4338218" y="4421124"/>
            <a:ext cx="3515258" cy="82296"/>
          </a:xfrm>
          <a:prstGeom prst="rect">
            <a:avLst/>
          </a:prstGeom>
          <a:solidFill>
            <a:srgbClr val="3FAE5A"/>
          </a:solidFill>
          <a:ln/>
        </p:spPr>
      </p:sp>
      <p:sp>
        <p:nvSpPr>
          <p:cNvPr id="41" name="Shape 38"/>
          <p:cNvSpPr/>
          <p:nvPr/>
        </p:nvSpPr>
        <p:spPr>
          <a:xfrm>
            <a:off x="4521098" y="4604004"/>
            <a:ext cx="822960" cy="292608"/>
          </a:xfrm>
          <a:prstGeom prst="roundRect">
            <a:avLst>
              <a:gd name="adj" fmla="val 18750"/>
            </a:avLst>
          </a:prstGeom>
          <a:solidFill>
            <a:srgbClr val="E9F5EC"/>
          </a:solidFill>
          <a:ln/>
        </p:spPr>
      </p:sp>
      <p:sp>
        <p:nvSpPr>
          <p:cNvPr id="42" name="Text 39"/>
          <p:cNvSpPr/>
          <p:nvPr/>
        </p:nvSpPr>
        <p:spPr>
          <a:xfrm>
            <a:off x="4521098" y="4604004"/>
            <a:ext cx="822960" cy="292608"/>
          </a:xfrm>
          <a:prstGeom prst="rect">
            <a:avLst/>
          </a:prstGeom>
          <a:noFill/>
          <a:ln/>
        </p:spPr>
        <p:txBody>
          <a:bodyPr wrap="square" rtlCol="0" anchor="ctr"/>
          <a:lstStyle/>
          <a:p>
            <a:pPr marL="0" indent="0" algn="ctr">
              <a:buNone/>
            </a:pPr>
            <a:r>
              <a:rPr lang="en-US" sz="1000" b="1" dirty="0">
                <a:solidFill>
                  <a:srgbClr val="3FAE5A"/>
                </a:solidFill>
                <a:latin typeface="Arial" pitchFamily="34" charset="0"/>
                <a:ea typeface="Arial" pitchFamily="34" charset="-122"/>
                <a:cs typeface="Arial" pitchFamily="34" charset="-120"/>
              </a:rPr>
              <a:t>Pie</a:t>
            </a:r>
            <a:endParaRPr lang="en-US" sz="1000" dirty="0"/>
          </a:p>
        </p:txBody>
      </p:sp>
      <p:sp>
        <p:nvSpPr>
          <p:cNvPr id="43" name="Text 40"/>
          <p:cNvSpPr/>
          <p:nvPr/>
        </p:nvSpPr>
        <p:spPr>
          <a:xfrm>
            <a:off x="4521098" y="498805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Pie beyond half-vs-rest</a:t>
            </a:r>
            <a:endParaRPr lang="en-US" sz="1300" dirty="0"/>
          </a:p>
        </p:txBody>
      </p:sp>
      <p:sp>
        <p:nvSpPr>
          <p:cNvPr id="44" name="Text 41"/>
          <p:cNvSpPr/>
          <p:nvPr/>
        </p:nvSpPr>
        <p:spPr>
          <a:xfrm>
            <a:off x="4521098" y="5353812"/>
            <a:ext cx="3149498" cy="571500"/>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Fine only for a single half-versus-rest split; anything more needs a sorted bar.</a:t>
            </a:r>
            <a:endParaRPr lang="en-US" sz="1050" dirty="0"/>
          </a:p>
        </p:txBody>
      </p:sp>
      <p:sp>
        <p:nvSpPr>
          <p:cNvPr id="45" name="Shape 42"/>
          <p:cNvSpPr/>
          <p:nvPr/>
        </p:nvSpPr>
        <p:spPr>
          <a:xfrm>
            <a:off x="8127797" y="4421124"/>
            <a:ext cx="3515258" cy="1613916"/>
          </a:xfrm>
          <a:prstGeom prst="roundRect">
            <a:avLst>
              <a:gd name="adj" fmla="val 4533"/>
            </a:avLst>
          </a:prstGeom>
          <a:solidFill>
            <a:srgbClr val="FFFFFF"/>
          </a:solidFill>
          <a:ln w="12700">
            <a:solidFill>
              <a:srgbClr val="D9DEE8"/>
            </a:solidFill>
            <a:prstDash val="solid"/>
          </a:ln>
        </p:spPr>
      </p:sp>
      <p:sp>
        <p:nvSpPr>
          <p:cNvPr id="46" name="Shape 43"/>
          <p:cNvSpPr/>
          <p:nvPr/>
        </p:nvSpPr>
        <p:spPr>
          <a:xfrm>
            <a:off x="8127797" y="4421124"/>
            <a:ext cx="3515258" cy="82296"/>
          </a:xfrm>
          <a:prstGeom prst="rect">
            <a:avLst/>
          </a:prstGeom>
          <a:solidFill>
            <a:srgbClr val="29ABE2"/>
          </a:solidFill>
          <a:ln/>
        </p:spPr>
      </p:sp>
      <p:sp>
        <p:nvSpPr>
          <p:cNvPr id="47" name="Shape 44"/>
          <p:cNvSpPr/>
          <p:nvPr/>
        </p:nvSpPr>
        <p:spPr>
          <a:xfrm>
            <a:off x="8310677" y="4604004"/>
            <a:ext cx="822960" cy="292608"/>
          </a:xfrm>
          <a:prstGeom prst="roundRect">
            <a:avLst>
              <a:gd name="adj" fmla="val 18750"/>
            </a:avLst>
          </a:prstGeom>
          <a:solidFill>
            <a:srgbClr val="E7F5FC"/>
          </a:solidFill>
          <a:ln/>
        </p:spPr>
      </p:sp>
      <p:sp>
        <p:nvSpPr>
          <p:cNvPr id="48" name="Text 45"/>
          <p:cNvSpPr/>
          <p:nvPr/>
        </p:nvSpPr>
        <p:spPr>
          <a:xfrm>
            <a:off x="8310677" y="4604004"/>
            <a:ext cx="822960" cy="292608"/>
          </a:xfrm>
          <a:prstGeom prst="rect">
            <a:avLst/>
          </a:prstGeom>
          <a:noFill/>
          <a:ln/>
        </p:spPr>
        <p:txBody>
          <a:bodyPr wrap="square" rtlCol="0" anchor="ctr"/>
          <a:lstStyle/>
          <a:p>
            <a:pPr marL="0" indent="0" algn="ctr">
              <a:buNone/>
            </a:pPr>
            <a:r>
              <a:rPr lang="en-US" sz="1000" b="1" dirty="0">
                <a:solidFill>
                  <a:srgbClr val="29ABE2"/>
                </a:solidFill>
                <a:latin typeface="Arial" pitchFamily="34" charset="0"/>
                <a:ea typeface="Arial" pitchFamily="34" charset="-122"/>
                <a:cs typeface="Arial" pitchFamily="34" charset="-120"/>
              </a:rPr>
              <a:t>Map</a:t>
            </a:r>
            <a:endParaRPr lang="en-US" sz="1000" dirty="0"/>
          </a:p>
        </p:txBody>
      </p:sp>
      <p:sp>
        <p:nvSpPr>
          <p:cNvPr id="49" name="Text 46"/>
          <p:cNvSpPr/>
          <p:nvPr/>
        </p:nvSpPr>
        <p:spPr>
          <a:xfrm>
            <a:off x="8310677" y="498805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Choropleth as primary how-much</a:t>
            </a:r>
            <a:endParaRPr lang="en-US" sz="1300" dirty="0"/>
          </a:p>
        </p:txBody>
      </p:sp>
      <p:sp>
        <p:nvSpPr>
          <p:cNvPr id="50" name="Text 47"/>
          <p:cNvSpPr/>
          <p:nvPr/>
        </p:nvSpPr>
        <p:spPr>
          <a:xfrm>
            <a:off x="8310677" y="5554980"/>
            <a:ext cx="3149498" cy="370332"/>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Area and colour let big empty regions shout. Lead with a sorted bar; use the map to locate.</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COMPOSITION &amp; RTL</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Composition, reading path, and RTL</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61</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Beyond the single chart, composition guides the eye — and in bilingual decks, direction matters.</a:t>
            </a:r>
            <a:endParaRPr lang="en-US" sz="1250" dirty="0"/>
          </a:p>
        </p:txBody>
      </p:sp>
      <p:sp>
        <p:nvSpPr>
          <p:cNvPr id="15" name="Shape 12"/>
          <p:cNvSpPr/>
          <p:nvPr/>
        </p:nvSpPr>
        <p:spPr>
          <a:xfrm>
            <a:off x="548640" y="2569464"/>
            <a:ext cx="541004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5410048" cy="82296"/>
          </a:xfrm>
          <a:prstGeom prst="rect">
            <a:avLst/>
          </a:prstGeom>
          <a:solidFill>
            <a:srgbClr val="2E5AAC"/>
          </a:solidFill>
          <a:ln/>
        </p:spPr>
      </p:sp>
      <p:sp>
        <p:nvSpPr>
          <p:cNvPr id="17" name="Text 14"/>
          <p:cNvSpPr/>
          <p:nvPr/>
        </p:nvSpPr>
        <p:spPr>
          <a:xfrm>
            <a:off x="731520" y="27523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Aspect ratio — bank to 45°</a:t>
            </a:r>
            <a:endParaRPr lang="en-US" sz="1300" dirty="0"/>
          </a:p>
        </p:txBody>
      </p:sp>
      <p:sp>
        <p:nvSpPr>
          <p:cNvPr id="18" name="Text 15"/>
          <p:cNvSpPr/>
          <p:nvPr/>
        </p:nvSpPr>
        <p:spPr>
          <a:xfrm>
            <a:off x="731520" y="311810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Line trends read truest when the average slope is near 45°; too flat or too tall hides or exaggerates the trend.</a:t>
            </a:r>
            <a:endParaRPr lang="en-US" sz="1050" dirty="0"/>
          </a:p>
        </p:txBody>
      </p:sp>
      <p:sp>
        <p:nvSpPr>
          <p:cNvPr id="19" name="Shape 16"/>
          <p:cNvSpPr/>
          <p:nvPr/>
        </p:nvSpPr>
        <p:spPr>
          <a:xfrm>
            <a:off x="6233008" y="2569464"/>
            <a:ext cx="5410048" cy="1613916"/>
          </a:xfrm>
          <a:prstGeom prst="roundRect">
            <a:avLst>
              <a:gd name="adj" fmla="val 4533"/>
            </a:avLst>
          </a:prstGeom>
          <a:solidFill>
            <a:srgbClr val="FFFFFF"/>
          </a:solidFill>
          <a:ln w="12700">
            <a:solidFill>
              <a:srgbClr val="D9DEE8"/>
            </a:solidFill>
            <a:prstDash val="solid"/>
          </a:ln>
        </p:spPr>
      </p:sp>
      <p:sp>
        <p:nvSpPr>
          <p:cNvPr id="20" name="Shape 17"/>
          <p:cNvSpPr/>
          <p:nvPr/>
        </p:nvSpPr>
        <p:spPr>
          <a:xfrm>
            <a:off x="6233008" y="2569464"/>
            <a:ext cx="5410048" cy="82296"/>
          </a:xfrm>
          <a:prstGeom prst="rect">
            <a:avLst/>
          </a:prstGeom>
          <a:solidFill>
            <a:srgbClr val="00A79D"/>
          </a:solidFill>
          <a:ln/>
        </p:spPr>
      </p:sp>
      <p:sp>
        <p:nvSpPr>
          <p:cNvPr id="21" name="Text 18"/>
          <p:cNvSpPr/>
          <p:nvPr/>
        </p:nvSpPr>
        <p:spPr>
          <a:xfrm>
            <a:off x="6415888" y="27523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Single reading direction</a:t>
            </a:r>
            <a:endParaRPr lang="en-US" sz="1300" dirty="0"/>
          </a:p>
        </p:txBody>
      </p:sp>
      <p:sp>
        <p:nvSpPr>
          <p:cNvPr id="22" name="Text 19"/>
          <p:cNvSpPr/>
          <p:nvPr/>
        </p:nvSpPr>
        <p:spPr>
          <a:xfrm>
            <a:off x="6415888" y="311810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Left-to-right, top-to-bottom for LTR decks; right-to-left for Arabic — including bar order and the time axis.</a:t>
            </a:r>
            <a:endParaRPr lang="en-US" sz="1050" dirty="0"/>
          </a:p>
        </p:txBody>
      </p:sp>
      <p:sp>
        <p:nvSpPr>
          <p:cNvPr id="23" name="Shape 20"/>
          <p:cNvSpPr/>
          <p:nvPr/>
        </p:nvSpPr>
        <p:spPr>
          <a:xfrm>
            <a:off x="548640" y="4421124"/>
            <a:ext cx="5410048" cy="1613916"/>
          </a:xfrm>
          <a:prstGeom prst="roundRect">
            <a:avLst>
              <a:gd name="adj" fmla="val 4533"/>
            </a:avLst>
          </a:prstGeom>
          <a:solidFill>
            <a:srgbClr val="FFFFFF"/>
          </a:solidFill>
          <a:ln w="12700">
            <a:solidFill>
              <a:srgbClr val="D9DEE8"/>
            </a:solidFill>
            <a:prstDash val="solid"/>
          </a:ln>
        </p:spPr>
      </p:sp>
      <p:sp>
        <p:nvSpPr>
          <p:cNvPr id="24" name="Shape 21"/>
          <p:cNvSpPr/>
          <p:nvPr/>
        </p:nvSpPr>
        <p:spPr>
          <a:xfrm>
            <a:off x="548640" y="4421124"/>
            <a:ext cx="5410048" cy="82296"/>
          </a:xfrm>
          <a:prstGeom prst="rect">
            <a:avLst/>
          </a:prstGeom>
          <a:solidFill>
            <a:srgbClr val="E8833A"/>
          </a:solidFill>
          <a:ln/>
        </p:spPr>
      </p:sp>
      <p:sp>
        <p:nvSpPr>
          <p:cNvPr id="25" name="Text 22"/>
          <p:cNvSpPr/>
          <p:nvPr/>
        </p:nvSpPr>
        <p:spPr>
          <a:xfrm>
            <a:off x="731520" y="460400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RTL is a frequent error</a:t>
            </a:r>
            <a:endParaRPr lang="en-US" sz="1300" dirty="0"/>
          </a:p>
        </p:txBody>
      </p:sp>
      <p:sp>
        <p:nvSpPr>
          <p:cNvPr id="26" name="Text 23"/>
          <p:cNvSpPr/>
          <p:nvPr/>
        </p:nvSpPr>
        <p:spPr>
          <a:xfrm>
            <a:off x="731520" y="496976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 left-to-right time axis reads backwards in an Arabic slide; mirror it for bilingual Saudi decks.</a:t>
            </a:r>
            <a:endParaRPr lang="en-US" sz="1050" dirty="0"/>
          </a:p>
        </p:txBody>
      </p:sp>
      <p:sp>
        <p:nvSpPr>
          <p:cNvPr id="27" name="Shape 24"/>
          <p:cNvSpPr/>
          <p:nvPr/>
        </p:nvSpPr>
        <p:spPr>
          <a:xfrm>
            <a:off x="6233008" y="4421124"/>
            <a:ext cx="541004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6233008" y="4421124"/>
            <a:ext cx="5410048" cy="82296"/>
          </a:xfrm>
          <a:prstGeom prst="rect">
            <a:avLst/>
          </a:prstGeom>
          <a:solidFill>
            <a:srgbClr val="6C4FA1"/>
          </a:solidFill>
          <a:ln/>
        </p:spPr>
      </p:sp>
      <p:sp>
        <p:nvSpPr>
          <p:cNvPr id="29" name="Text 26"/>
          <p:cNvSpPr/>
          <p:nvPr/>
        </p:nvSpPr>
        <p:spPr>
          <a:xfrm>
            <a:off x="6415888" y="460400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Title as the takeaway</a:t>
            </a:r>
            <a:endParaRPr lang="en-US" sz="1300" dirty="0"/>
          </a:p>
        </p:txBody>
      </p:sp>
      <p:sp>
        <p:nvSpPr>
          <p:cNvPr id="30" name="Text 27"/>
          <p:cNvSpPr/>
          <p:nvPr/>
        </p:nvSpPr>
        <p:spPr>
          <a:xfrm>
            <a:off x="6415888" y="496976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State the conclusion ('adoption crossed 65%, three regions stalled'), not the topic ('adoption by region').</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CHART LIBRARY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A reusable, principle-compliant sorted bar</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62</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src/viz/charts.py</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def sorted_bar(data, cat, val, *, highlight=None,</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title="", reference=None, ax=None):</a:t>
            </a:r>
            <a:endParaRPr lang="en-US" sz="950" dirty="0"/>
          </a:p>
          <a:p>
            <a:pPr marL="0" indent="0">
              <a:lnSpc>
                <a:spcPct val="102000"/>
              </a:lnSpc>
              <a:buNone/>
            </a:pPr>
            <a:r>
              <a:rPr lang="en-US" sz="950" dirty="0">
                <a:solidFill>
                  <a:srgbClr val="7F9CC4"/>
                </a:solidFill>
                <a:latin typeface="Courier New" pitchFamily="34" charset="0"/>
                <a:ea typeface="Courier New" pitchFamily="34" charset="-122"/>
                <a:cs typeface="Courier New" pitchFamily="34" charset="-120"/>
              </a:rPr>
              <a:t>    """Sorted bar: honest baseline, direct labels,</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optional highlight and reference line."""</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d = data.sort_values(val)</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ax = ax or plt.subplots(figsize=(8, 5))[1]</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ax.barh(d[cat], d[val])              # principle 1</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ax.set_xlim(0, max(d[val]) * 1.15)   # baseline 0</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for y, v in enumerate(d[val]):       # principle 3</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ax.text(v, y, f"{v:.0f}", va="center")</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if reference is not None:            # principle 4</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ax.axvline(reference, ls="--", lw=1)</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ax.text(reference, len(d) - .3, "nat. mean")</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ax.set_title(title, loc="left", weight="bold")</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ax.spines[["top", "right"]].set_visible(False)</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return ax</a:t>
            </a:r>
            <a:endParaRPr lang="en-US" sz="95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One function bakes in baseline, sorting, labels and a reference line.</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DUAL-AXIS FIX</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Killing a dual axis with indexed lines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63</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notebooks/m2_chart_selection.ipynb</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nat = df.groupby("month")[["csat",</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"cost_per_txn_sar"]].mean()</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idx = nat / nat.iloc[0] * 100      # common base 100</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fig, ax = plt.subplots(figsize=(9, 5))</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ax.plot(idx.index, idx["csat"], lw=2)</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ax.plot(idx.index, idx["cost_per_txn_sar"], lw=2)</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ax.text(idx.index[-1], idx["csat"].iloc[-1],</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 Satisfaction", weight="bold")</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ax.text(idx.index[-1],</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idx["cost_per_txn_sar"].iloc[-1],</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 Cost/txn", weight="bold")</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ax.axhline(100, lw=0.8)            # shared baseline</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ax.set_title("Satisfaction +12%, cost/txn -34%",</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loc="left", weight="bold")</a:t>
            </a:r>
            <a:endParaRPr lang="en-US" sz="950" dirty="0"/>
          </a:p>
          <a:p>
            <a:pPr marL="0" indent="0">
              <a:lnSpc>
                <a:spcPct val="102000"/>
              </a:lnSpc>
              <a:buNone/>
            </a:pPr>
            <a:r>
              <a:rPr lang="en-US" sz="950" dirty="0">
                <a:solidFill>
                  <a:srgbClr val="7F9CC4"/>
                </a:solidFill>
                <a:latin typeface="Courier New" pitchFamily="34" charset="0"/>
                <a:ea typeface="Courier New" pitchFamily="34" charset="-122"/>
                <a:cs typeface="Courier New" pitchFamily="34" charset="-120"/>
              </a:rPr>
              <a:t># Indexing makes both series honest on ONE axis.</a:t>
            </a:r>
            <a:endParaRPr lang="en-US" sz="95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Index both series to 100 instead of forcing two Y-axes to cross.</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HANDS-ON LAB</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Lab 2 — Chart Chooser and First Honest Charts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اختيار الرسم البياني</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64</a:t>
            </a:r>
            <a:endParaRPr lang="en-US" sz="800" dirty="0"/>
          </a:p>
        </p:txBody>
      </p:sp>
      <p:sp>
        <p:nvSpPr>
          <p:cNvPr id="15" name="Shape 12"/>
          <p:cNvSpPr/>
          <p:nvPr/>
        </p:nvSpPr>
        <p:spPr>
          <a:xfrm>
            <a:off x="548640" y="2331720"/>
            <a:ext cx="11094415" cy="1234440"/>
          </a:xfrm>
          <a:prstGeom prst="roundRect">
            <a:avLst>
              <a:gd name="adj" fmla="val 5926"/>
            </a:avLst>
          </a:prstGeom>
          <a:solidFill>
            <a:srgbClr val="EAF0FA"/>
          </a:solidFill>
          <a:ln w="12700">
            <a:solidFill>
              <a:srgbClr val="2E5AAC"/>
            </a:solidFill>
            <a:prstDash val="solid"/>
          </a:ln>
        </p:spPr>
      </p:sp>
      <p:sp>
        <p:nvSpPr>
          <p:cNvPr id="16" name="Text 13"/>
          <p:cNvSpPr/>
          <p:nvPr/>
        </p:nvSpPr>
        <p:spPr>
          <a:xfrm>
            <a:off x="777240" y="2450592"/>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OBJECTIVE  </a:t>
            </a:r>
            <a:r>
              <a:rPr lang="en-US" sz="1100" dirty="0">
                <a:solidFill>
                  <a:srgbClr val="343A4E"/>
                </a:solidFill>
                <a:latin typeface="Arial" pitchFamily="34" charset="0"/>
                <a:ea typeface="Arial" pitchFamily="34" charset="-122"/>
                <a:cs typeface="Arial" pitchFamily="34" charset="-120"/>
              </a:rPr>
              <a:t>For four real Tayseer questions, select the correct chart via the decision procedure and build each honestly using the course chart library.</a:t>
            </a:r>
            <a:endParaRPr lang="en-US" sz="1100" dirty="0"/>
          </a:p>
        </p:txBody>
      </p:sp>
      <p:sp>
        <p:nvSpPr>
          <p:cNvPr id="17" name="Text 14"/>
          <p:cNvSpPr/>
          <p:nvPr/>
        </p:nvSpPr>
        <p:spPr>
          <a:xfrm>
            <a:off x="777240" y="2907792"/>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DURATION  </a:t>
            </a:r>
            <a:r>
              <a:rPr lang="en-US" sz="1100" dirty="0">
                <a:solidFill>
                  <a:srgbClr val="343A4E"/>
                </a:solidFill>
                <a:latin typeface="Arial" pitchFamily="34" charset="0"/>
                <a:ea typeface="Arial" pitchFamily="34" charset="-122"/>
                <a:cs typeface="Arial" pitchFamily="34" charset="-120"/>
              </a:rPr>
              <a:t>50 minutes</a:t>
            </a:r>
            <a:endParaRPr lang="en-US" sz="1100" dirty="0"/>
          </a:p>
        </p:txBody>
      </p:sp>
      <p:sp>
        <p:nvSpPr>
          <p:cNvPr id="18" name="Text 15"/>
          <p:cNvSpPr/>
          <p:nvPr/>
        </p:nvSpPr>
        <p:spPr>
          <a:xfrm>
            <a:off x="777240" y="3255264"/>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SETUP  </a:t>
            </a:r>
            <a:r>
              <a:rPr lang="en-US" sz="1100" dirty="0">
                <a:solidFill>
                  <a:srgbClr val="343A4E"/>
                </a:solidFill>
                <a:latin typeface="Arial" pitchFamily="34" charset="0"/>
                <a:ea typeface="Arial" pitchFamily="34" charset="-122"/>
                <a:cs typeface="Arial" pitchFamily="34" charset="-120"/>
              </a:rPr>
              <a:t>pip install pandas matplotlib seaborn plotly; src/viz/charts.py starter provided; git checkout lab2_start.</a:t>
            </a:r>
            <a:endParaRPr lang="en-US" sz="1100" dirty="0"/>
          </a:p>
        </p:txBody>
      </p:sp>
      <p:sp>
        <p:nvSpPr>
          <p:cNvPr id="19" name="Text 16"/>
          <p:cNvSpPr/>
          <p:nvPr/>
        </p:nvSpPr>
        <p:spPr>
          <a:xfrm>
            <a:off x="548640" y="3703320"/>
            <a:ext cx="4572000" cy="274320"/>
          </a:xfrm>
          <a:prstGeom prst="rect">
            <a:avLst/>
          </a:prstGeom>
          <a:noFill/>
          <a:ln/>
        </p:spPr>
        <p:txBody>
          <a:bodyPr wrap="square" rtlCol="0" anchor="ctr"/>
          <a:lstStyle/>
          <a:p>
            <a:pPr marL="0" indent="0">
              <a:buNone/>
            </a:pPr>
            <a:r>
              <a:rPr lang="en-US" sz="1200" b="1" kern="0" spc="100" dirty="0">
                <a:solidFill>
                  <a:srgbClr val="1D2A5C"/>
                </a:solidFill>
                <a:latin typeface="Arial" pitchFamily="34" charset="0"/>
                <a:ea typeface="Arial" pitchFamily="34" charset="-122"/>
                <a:cs typeface="Arial" pitchFamily="34" charset="-120"/>
              </a:rPr>
              <a:t>TASKS</a:t>
            </a:r>
            <a:endParaRPr lang="en-US" sz="1200" dirty="0"/>
          </a:p>
        </p:txBody>
      </p:sp>
      <p:sp>
        <p:nvSpPr>
          <p:cNvPr id="20" name="Shape 17"/>
          <p:cNvSpPr/>
          <p:nvPr/>
        </p:nvSpPr>
        <p:spPr>
          <a:xfrm>
            <a:off x="548640" y="4087368"/>
            <a:ext cx="292608" cy="292608"/>
          </a:xfrm>
          <a:prstGeom prst="ellipse">
            <a:avLst/>
          </a:prstGeom>
          <a:solidFill>
            <a:srgbClr val="2E5AAC"/>
          </a:solidFill>
          <a:ln/>
        </p:spPr>
      </p:sp>
      <p:sp>
        <p:nvSpPr>
          <p:cNvPr id="21" name="Text 18"/>
          <p:cNvSpPr/>
          <p:nvPr/>
        </p:nvSpPr>
        <p:spPr>
          <a:xfrm>
            <a:off x="548640" y="408736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19"/>
          <p:cNvSpPr/>
          <p:nvPr/>
        </p:nvSpPr>
        <p:spPr>
          <a:xfrm>
            <a:off x="960120" y="4069080"/>
            <a:ext cx="10637215" cy="327660"/>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Read the four questions: regions lagging, national trend, completion time by category, satisfaction vs cost.</a:t>
            </a:r>
            <a:endParaRPr lang="en-US" sz="1100" dirty="0"/>
          </a:p>
        </p:txBody>
      </p:sp>
      <p:sp>
        <p:nvSpPr>
          <p:cNvPr id="23" name="Shape 20"/>
          <p:cNvSpPr/>
          <p:nvPr/>
        </p:nvSpPr>
        <p:spPr>
          <a:xfrm>
            <a:off x="548640" y="4415028"/>
            <a:ext cx="292608" cy="292608"/>
          </a:xfrm>
          <a:prstGeom prst="ellipse">
            <a:avLst/>
          </a:prstGeom>
          <a:solidFill>
            <a:srgbClr val="00A79D"/>
          </a:solidFill>
          <a:ln/>
        </p:spPr>
      </p:sp>
      <p:sp>
        <p:nvSpPr>
          <p:cNvPr id="24" name="Text 21"/>
          <p:cNvSpPr/>
          <p:nvPr/>
        </p:nvSpPr>
        <p:spPr>
          <a:xfrm>
            <a:off x="548640" y="441502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2"/>
          <p:cNvSpPr/>
          <p:nvPr/>
        </p:nvSpPr>
        <p:spPr>
          <a:xfrm>
            <a:off x="960120" y="4396740"/>
            <a:ext cx="10637215" cy="327660"/>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For each, name the question type and chosen chart, justified by the decision table.</a:t>
            </a:r>
            <a:endParaRPr lang="en-US" sz="1100" dirty="0"/>
          </a:p>
        </p:txBody>
      </p:sp>
      <p:sp>
        <p:nvSpPr>
          <p:cNvPr id="26" name="Shape 23"/>
          <p:cNvSpPr/>
          <p:nvPr/>
        </p:nvSpPr>
        <p:spPr>
          <a:xfrm>
            <a:off x="548640" y="4742688"/>
            <a:ext cx="292608" cy="292608"/>
          </a:xfrm>
          <a:prstGeom prst="ellipse">
            <a:avLst/>
          </a:prstGeom>
          <a:solidFill>
            <a:srgbClr val="E8833A"/>
          </a:solidFill>
          <a:ln/>
        </p:spPr>
      </p:sp>
      <p:sp>
        <p:nvSpPr>
          <p:cNvPr id="27" name="Text 24"/>
          <p:cNvSpPr/>
          <p:nvPr/>
        </p:nvSpPr>
        <p:spPr>
          <a:xfrm>
            <a:off x="548640" y="474268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5"/>
          <p:cNvSpPr/>
          <p:nvPr/>
        </p:nvSpPr>
        <p:spPr>
          <a:xfrm>
            <a:off x="960120" y="4724400"/>
            <a:ext cx="10637215" cy="327660"/>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(20 min) </a:t>
            </a:r>
            <a:r>
              <a:rPr lang="en-US" sz="1100" dirty="0">
                <a:solidFill>
                  <a:srgbClr val="343A4E"/>
                </a:solidFill>
                <a:latin typeface="Arial" pitchFamily="34" charset="0"/>
                <a:ea typeface="Arial" pitchFamily="34" charset="-122"/>
                <a:cs typeface="Arial" pitchFamily="34" charset="-120"/>
              </a:rPr>
              <a:t>Build all four using charts.py; apply the five design principles; give each a takeaway title.</a:t>
            </a:r>
            <a:endParaRPr lang="en-US" sz="1100" dirty="0"/>
          </a:p>
        </p:txBody>
      </p:sp>
      <p:sp>
        <p:nvSpPr>
          <p:cNvPr id="29" name="Shape 26"/>
          <p:cNvSpPr/>
          <p:nvPr/>
        </p:nvSpPr>
        <p:spPr>
          <a:xfrm>
            <a:off x="548640" y="5070348"/>
            <a:ext cx="292608" cy="292608"/>
          </a:xfrm>
          <a:prstGeom prst="ellipse">
            <a:avLst/>
          </a:prstGeom>
          <a:solidFill>
            <a:srgbClr val="6C4FA1"/>
          </a:solidFill>
          <a:ln/>
        </p:spPr>
      </p:sp>
      <p:sp>
        <p:nvSpPr>
          <p:cNvPr id="30" name="Text 27"/>
          <p:cNvSpPr/>
          <p:nvPr/>
        </p:nvSpPr>
        <p:spPr>
          <a:xfrm>
            <a:off x="548640" y="507034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1" name="Text 28"/>
          <p:cNvSpPr/>
          <p:nvPr/>
        </p:nvSpPr>
        <p:spPr>
          <a:xfrm>
            <a:off x="960120" y="5052060"/>
            <a:ext cx="10637215" cy="327660"/>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Add a reference line to Q1 (national mean) and Q2 (target of 65%).</a:t>
            </a:r>
            <a:endParaRPr lang="en-US" sz="1100" dirty="0"/>
          </a:p>
        </p:txBody>
      </p:sp>
      <p:sp>
        <p:nvSpPr>
          <p:cNvPr id="32" name="Shape 29"/>
          <p:cNvSpPr/>
          <p:nvPr/>
        </p:nvSpPr>
        <p:spPr>
          <a:xfrm>
            <a:off x="548640" y="5398008"/>
            <a:ext cx="292608" cy="292608"/>
          </a:xfrm>
          <a:prstGeom prst="ellipse">
            <a:avLst/>
          </a:prstGeom>
          <a:solidFill>
            <a:srgbClr val="3FAE5A"/>
          </a:solidFill>
          <a:ln/>
        </p:spPr>
      </p:sp>
      <p:sp>
        <p:nvSpPr>
          <p:cNvPr id="33" name="Text 30"/>
          <p:cNvSpPr/>
          <p:nvPr/>
        </p:nvSpPr>
        <p:spPr>
          <a:xfrm>
            <a:off x="548640" y="539800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p:nvPr/>
        </p:nvSpPr>
        <p:spPr>
          <a:xfrm>
            <a:off x="960120" y="5379720"/>
            <a:ext cx="10637215" cy="327660"/>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Convert Q2 to an interactive Plotly line as a preview of Module 4; hover shows the value.</a:t>
            </a:r>
            <a:endParaRPr lang="en-US" sz="1100" dirty="0"/>
          </a:p>
        </p:txBody>
      </p:sp>
      <p:sp>
        <p:nvSpPr>
          <p:cNvPr id="35" name="Shape 32"/>
          <p:cNvSpPr/>
          <p:nvPr/>
        </p:nvSpPr>
        <p:spPr>
          <a:xfrm>
            <a:off x="548640" y="5725668"/>
            <a:ext cx="292608" cy="292608"/>
          </a:xfrm>
          <a:prstGeom prst="ellipse">
            <a:avLst/>
          </a:prstGeom>
          <a:solidFill>
            <a:srgbClr val="29ABE2"/>
          </a:solidFill>
          <a:ln/>
        </p:spPr>
      </p:sp>
      <p:sp>
        <p:nvSpPr>
          <p:cNvPr id="36" name="Text 33"/>
          <p:cNvSpPr/>
          <p:nvPr/>
        </p:nvSpPr>
        <p:spPr>
          <a:xfrm>
            <a:off x="548640" y="572566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p:nvPr/>
        </p:nvSpPr>
        <p:spPr>
          <a:xfrm>
            <a:off x="960120" y="5707380"/>
            <a:ext cx="10637215" cy="327660"/>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Save as lab2_solution.ipynb and export the four charts to out/.</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KNOWLEDGE CHECK</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Mini Exercises — Quick Check</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تمارين قصيرة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65</a:t>
            </a:r>
            <a:endParaRPr lang="en-US" sz="800" dirty="0"/>
          </a:p>
        </p:txBody>
      </p:sp>
      <p:sp>
        <p:nvSpPr>
          <p:cNvPr id="15" name="Shape 12"/>
          <p:cNvSpPr/>
          <p:nvPr/>
        </p:nvSpPr>
        <p:spPr>
          <a:xfrm>
            <a:off x="548640" y="2377440"/>
            <a:ext cx="11094415" cy="614477"/>
          </a:xfrm>
          <a:prstGeom prst="roundRect">
            <a:avLst>
              <a:gd name="adj" fmla="val 10417"/>
            </a:avLst>
          </a:prstGeom>
          <a:solidFill>
            <a:srgbClr val="FFFFFF"/>
          </a:solidFill>
          <a:ln w="12700">
            <a:solidFill>
              <a:srgbClr val="D9DEE8"/>
            </a:solidFill>
            <a:prstDash val="solid"/>
          </a:ln>
        </p:spPr>
      </p:sp>
      <p:sp>
        <p:nvSpPr>
          <p:cNvPr id="16" name="Shape 13"/>
          <p:cNvSpPr/>
          <p:nvPr/>
        </p:nvSpPr>
        <p:spPr>
          <a:xfrm>
            <a:off x="548640" y="2377440"/>
            <a:ext cx="91440" cy="614477"/>
          </a:xfrm>
          <a:prstGeom prst="rect">
            <a:avLst/>
          </a:prstGeom>
          <a:solidFill>
            <a:srgbClr val="2E5AAC"/>
          </a:solidFill>
          <a:ln/>
        </p:spPr>
      </p:sp>
      <p:sp>
        <p:nvSpPr>
          <p:cNvPr id="17" name="Text 14"/>
          <p:cNvSpPr/>
          <p:nvPr/>
        </p:nvSpPr>
        <p:spPr>
          <a:xfrm>
            <a:off x="804672" y="2450592"/>
            <a:ext cx="10637215" cy="307238"/>
          </a:xfrm>
          <a:prstGeom prst="rect">
            <a:avLst/>
          </a:prstGeom>
          <a:noFill/>
          <a:ln/>
        </p:spPr>
        <p:txBody>
          <a:bodyPr wrap="square" rtlCol="0" anchor="t"/>
          <a:lstStyle/>
          <a:p>
            <a:pPr marL="0" indent="0">
              <a:lnSpc>
                <a:spcPct val="98000"/>
              </a:lnSpc>
              <a:buNone/>
            </a:pPr>
            <a:r>
              <a:rPr lang="en-US" sz="1150" b="1" dirty="0">
                <a:solidFill>
                  <a:srgbClr val="2E5AAC"/>
                </a:solidFill>
                <a:latin typeface="Arial" pitchFamily="34" charset="0"/>
                <a:ea typeface="Arial" pitchFamily="34" charset="-122"/>
                <a:cs typeface="Arial" pitchFamily="34" charset="-120"/>
              </a:rPr>
              <a:t>Q1  </a:t>
            </a:r>
            <a:r>
              <a:rPr lang="en-US" sz="1150" b="1" dirty="0">
                <a:solidFill>
                  <a:srgbClr val="1D2A5C"/>
                </a:solidFill>
                <a:latin typeface="Arial" pitchFamily="34" charset="0"/>
                <a:ea typeface="Arial" pitchFamily="34" charset="-122"/>
                <a:cs typeface="Arial" pitchFamily="34" charset="-120"/>
              </a:rPr>
              <a:t>Compare 40 store conversion rates — which chart?</a:t>
            </a:r>
            <a:endParaRPr lang="en-US" sz="1150" dirty="0"/>
          </a:p>
        </p:txBody>
      </p:sp>
      <p:sp>
        <p:nvSpPr>
          <p:cNvPr id="18" name="Text 15"/>
          <p:cNvSpPr/>
          <p:nvPr/>
        </p:nvSpPr>
        <p:spPr>
          <a:xfrm>
            <a:off x="804672" y="2666390"/>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A sorted dot plot (compact ranking), not a pie or a clustered bar.</a:t>
            </a:r>
            <a:endParaRPr lang="en-US" sz="1100" dirty="0"/>
          </a:p>
        </p:txBody>
      </p:sp>
      <p:sp>
        <p:nvSpPr>
          <p:cNvPr id="19" name="Shape 16"/>
          <p:cNvSpPr/>
          <p:nvPr/>
        </p:nvSpPr>
        <p:spPr>
          <a:xfrm>
            <a:off x="548640" y="3138221"/>
            <a:ext cx="11094415" cy="614477"/>
          </a:xfrm>
          <a:prstGeom prst="roundRect">
            <a:avLst>
              <a:gd name="adj" fmla="val 10417"/>
            </a:avLst>
          </a:prstGeom>
          <a:solidFill>
            <a:srgbClr val="FFFFFF"/>
          </a:solidFill>
          <a:ln w="12700">
            <a:solidFill>
              <a:srgbClr val="D9DEE8"/>
            </a:solidFill>
            <a:prstDash val="solid"/>
          </a:ln>
        </p:spPr>
      </p:sp>
      <p:sp>
        <p:nvSpPr>
          <p:cNvPr id="20" name="Shape 17"/>
          <p:cNvSpPr/>
          <p:nvPr/>
        </p:nvSpPr>
        <p:spPr>
          <a:xfrm>
            <a:off x="548640" y="3138221"/>
            <a:ext cx="91440" cy="614477"/>
          </a:xfrm>
          <a:prstGeom prst="rect">
            <a:avLst/>
          </a:prstGeom>
          <a:solidFill>
            <a:srgbClr val="00A79D"/>
          </a:solidFill>
          <a:ln/>
        </p:spPr>
      </p:sp>
      <p:sp>
        <p:nvSpPr>
          <p:cNvPr id="21" name="Text 18"/>
          <p:cNvSpPr/>
          <p:nvPr/>
        </p:nvSpPr>
        <p:spPr>
          <a:xfrm>
            <a:off x="804672" y="3211373"/>
            <a:ext cx="10637215" cy="307238"/>
          </a:xfrm>
          <a:prstGeom prst="rect">
            <a:avLst/>
          </a:prstGeom>
          <a:noFill/>
          <a:ln/>
        </p:spPr>
        <p:txBody>
          <a:bodyPr wrap="square" rtlCol="0" anchor="t"/>
          <a:lstStyle/>
          <a:p>
            <a:pPr marL="0" indent="0">
              <a:lnSpc>
                <a:spcPct val="98000"/>
              </a:lnSpc>
              <a:buNone/>
            </a:pPr>
            <a:r>
              <a:rPr lang="en-US" sz="1150" b="1" dirty="0">
                <a:solidFill>
                  <a:srgbClr val="00A79D"/>
                </a:solidFill>
                <a:latin typeface="Arial" pitchFamily="34" charset="0"/>
                <a:ea typeface="Arial" pitchFamily="34" charset="-122"/>
                <a:cs typeface="Arial" pitchFamily="34" charset="-120"/>
              </a:rPr>
              <a:t>Q2  </a:t>
            </a:r>
            <a:r>
              <a:rPr lang="en-US" sz="1150" b="1" dirty="0">
                <a:solidFill>
                  <a:srgbClr val="1D2A5C"/>
                </a:solidFill>
                <a:latin typeface="Arial" pitchFamily="34" charset="0"/>
                <a:ea typeface="Arial" pitchFamily="34" charset="-122"/>
                <a:cs typeface="Arial" pitchFamily="34" charset="-120"/>
              </a:rPr>
              <a:t>When are clustered bars acceptable?</a:t>
            </a:r>
            <a:endParaRPr lang="en-US" sz="1150" dirty="0"/>
          </a:p>
        </p:txBody>
      </p:sp>
      <p:sp>
        <p:nvSpPr>
          <p:cNvPr id="22" name="Text 19"/>
          <p:cNvSpPr/>
          <p:nvPr/>
        </p:nvSpPr>
        <p:spPr>
          <a:xfrm>
            <a:off x="804672" y="3427171"/>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Two to three series at most; beyond that use small multiples or slope charts.</a:t>
            </a:r>
            <a:endParaRPr lang="en-US" sz="1100" dirty="0"/>
          </a:p>
        </p:txBody>
      </p:sp>
      <p:sp>
        <p:nvSpPr>
          <p:cNvPr id="23" name="Shape 20"/>
          <p:cNvSpPr/>
          <p:nvPr/>
        </p:nvSpPr>
        <p:spPr>
          <a:xfrm>
            <a:off x="548640" y="3899002"/>
            <a:ext cx="11094415" cy="614477"/>
          </a:xfrm>
          <a:prstGeom prst="roundRect">
            <a:avLst>
              <a:gd name="adj" fmla="val 10417"/>
            </a:avLst>
          </a:prstGeom>
          <a:solidFill>
            <a:srgbClr val="FFFFFF"/>
          </a:solidFill>
          <a:ln w="12700">
            <a:solidFill>
              <a:srgbClr val="D9DEE8"/>
            </a:solidFill>
            <a:prstDash val="solid"/>
          </a:ln>
        </p:spPr>
      </p:sp>
      <p:sp>
        <p:nvSpPr>
          <p:cNvPr id="24" name="Shape 21"/>
          <p:cNvSpPr/>
          <p:nvPr/>
        </p:nvSpPr>
        <p:spPr>
          <a:xfrm>
            <a:off x="548640" y="3899002"/>
            <a:ext cx="91440" cy="614477"/>
          </a:xfrm>
          <a:prstGeom prst="rect">
            <a:avLst/>
          </a:prstGeom>
          <a:solidFill>
            <a:srgbClr val="E8833A"/>
          </a:solidFill>
          <a:ln/>
        </p:spPr>
      </p:sp>
      <p:sp>
        <p:nvSpPr>
          <p:cNvPr id="25" name="Text 22"/>
          <p:cNvSpPr/>
          <p:nvPr/>
        </p:nvSpPr>
        <p:spPr>
          <a:xfrm>
            <a:off x="804672" y="3972154"/>
            <a:ext cx="10637215" cy="307238"/>
          </a:xfrm>
          <a:prstGeom prst="rect">
            <a:avLst/>
          </a:prstGeom>
          <a:noFill/>
          <a:ln/>
        </p:spPr>
        <p:txBody>
          <a:bodyPr wrap="square" rtlCol="0" anchor="t"/>
          <a:lstStyle/>
          <a:p>
            <a:pPr marL="0" indent="0">
              <a:lnSpc>
                <a:spcPct val="98000"/>
              </a:lnSpc>
              <a:buNone/>
            </a:pPr>
            <a:r>
              <a:rPr lang="en-US" sz="1150" b="1" dirty="0">
                <a:solidFill>
                  <a:srgbClr val="E8833A"/>
                </a:solidFill>
                <a:latin typeface="Arial" pitchFamily="34" charset="0"/>
                <a:ea typeface="Arial" pitchFamily="34" charset="-122"/>
                <a:cs typeface="Arial" pitchFamily="34" charset="-120"/>
              </a:rPr>
              <a:t>Q3  </a:t>
            </a:r>
            <a:r>
              <a:rPr lang="en-US" sz="1150" b="1" dirty="0">
                <a:solidFill>
                  <a:srgbClr val="1D2A5C"/>
                </a:solidFill>
                <a:latin typeface="Arial" pitchFamily="34" charset="0"/>
                <a:ea typeface="Arial" pitchFamily="34" charset="-122"/>
                <a:cs typeface="Arial" pitchFamily="34" charset="-120"/>
              </a:rPr>
              <a:t>Why direct-label instead of using a legend?</a:t>
            </a:r>
            <a:endParaRPr lang="en-US" sz="1150" dirty="0"/>
          </a:p>
        </p:txBody>
      </p:sp>
      <p:sp>
        <p:nvSpPr>
          <p:cNvPr id="26" name="Text 23"/>
          <p:cNvSpPr/>
          <p:nvPr/>
        </p:nvSpPr>
        <p:spPr>
          <a:xfrm>
            <a:off x="804672" y="4187952"/>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It removes the eye's round trip between the legend and the data.</a:t>
            </a:r>
            <a:endParaRPr lang="en-US" sz="1100" dirty="0"/>
          </a:p>
        </p:txBody>
      </p:sp>
      <p:sp>
        <p:nvSpPr>
          <p:cNvPr id="27" name="Shape 24"/>
          <p:cNvSpPr/>
          <p:nvPr/>
        </p:nvSpPr>
        <p:spPr>
          <a:xfrm>
            <a:off x="548640" y="4659782"/>
            <a:ext cx="11094415" cy="614477"/>
          </a:xfrm>
          <a:prstGeom prst="roundRect">
            <a:avLst>
              <a:gd name="adj" fmla="val 10417"/>
            </a:avLst>
          </a:prstGeom>
          <a:solidFill>
            <a:srgbClr val="FFFFFF"/>
          </a:solidFill>
          <a:ln w="12700">
            <a:solidFill>
              <a:srgbClr val="D9DEE8"/>
            </a:solidFill>
            <a:prstDash val="solid"/>
          </a:ln>
        </p:spPr>
      </p:sp>
      <p:sp>
        <p:nvSpPr>
          <p:cNvPr id="28" name="Shape 25"/>
          <p:cNvSpPr/>
          <p:nvPr/>
        </p:nvSpPr>
        <p:spPr>
          <a:xfrm>
            <a:off x="548640" y="4659782"/>
            <a:ext cx="91440" cy="614477"/>
          </a:xfrm>
          <a:prstGeom prst="rect">
            <a:avLst/>
          </a:prstGeom>
          <a:solidFill>
            <a:srgbClr val="6C4FA1"/>
          </a:solidFill>
          <a:ln/>
        </p:spPr>
      </p:sp>
      <p:sp>
        <p:nvSpPr>
          <p:cNvPr id="29" name="Text 26"/>
          <p:cNvSpPr/>
          <p:nvPr/>
        </p:nvSpPr>
        <p:spPr>
          <a:xfrm>
            <a:off x="804672" y="4732934"/>
            <a:ext cx="10637215" cy="307238"/>
          </a:xfrm>
          <a:prstGeom prst="rect">
            <a:avLst/>
          </a:prstGeom>
          <a:noFill/>
          <a:ln/>
        </p:spPr>
        <p:txBody>
          <a:bodyPr wrap="square" rtlCol="0" anchor="t"/>
          <a:lstStyle/>
          <a:p>
            <a:pPr marL="0" indent="0">
              <a:lnSpc>
                <a:spcPct val="98000"/>
              </a:lnSpc>
              <a:buNone/>
            </a:pPr>
            <a:r>
              <a:rPr lang="en-US" sz="1150" b="1" dirty="0">
                <a:solidFill>
                  <a:srgbClr val="6C4FA1"/>
                </a:solidFill>
                <a:latin typeface="Arial" pitchFamily="34" charset="0"/>
                <a:ea typeface="Arial" pitchFamily="34" charset="-122"/>
                <a:cs typeface="Arial" pitchFamily="34" charset="-120"/>
              </a:rPr>
              <a:t>Q4  </a:t>
            </a:r>
            <a:r>
              <a:rPr lang="en-US" sz="1150" b="1" dirty="0">
                <a:solidFill>
                  <a:srgbClr val="1D2A5C"/>
                </a:solidFill>
                <a:latin typeface="Arial" pitchFamily="34" charset="0"/>
                <a:ea typeface="Arial" pitchFamily="34" charset="-122"/>
                <a:cs typeface="Arial" pitchFamily="34" charset="-120"/>
              </a:rPr>
              <a:t>What does a reference line convert a chart into?</a:t>
            </a:r>
            <a:endParaRPr lang="en-US" sz="1150" dirty="0"/>
          </a:p>
        </p:txBody>
      </p:sp>
      <p:sp>
        <p:nvSpPr>
          <p:cNvPr id="30" name="Text 27"/>
          <p:cNvSpPr/>
          <p:nvPr/>
        </p:nvSpPr>
        <p:spPr>
          <a:xfrm>
            <a:off x="804672" y="4948733"/>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A chart of judgements — above or below target — i.e. decision-support.</a:t>
            </a:r>
            <a:endParaRPr lang="en-US" sz="1100" dirty="0"/>
          </a:p>
        </p:txBody>
      </p:sp>
      <p:sp>
        <p:nvSpPr>
          <p:cNvPr id="31" name="Shape 28"/>
          <p:cNvSpPr/>
          <p:nvPr/>
        </p:nvSpPr>
        <p:spPr>
          <a:xfrm>
            <a:off x="548640" y="5420563"/>
            <a:ext cx="11094415" cy="614477"/>
          </a:xfrm>
          <a:prstGeom prst="roundRect">
            <a:avLst>
              <a:gd name="adj" fmla="val 10417"/>
            </a:avLst>
          </a:prstGeom>
          <a:solidFill>
            <a:srgbClr val="FFFFFF"/>
          </a:solidFill>
          <a:ln w="12700">
            <a:solidFill>
              <a:srgbClr val="D9DEE8"/>
            </a:solidFill>
            <a:prstDash val="solid"/>
          </a:ln>
        </p:spPr>
      </p:sp>
      <p:sp>
        <p:nvSpPr>
          <p:cNvPr id="32" name="Shape 29"/>
          <p:cNvSpPr/>
          <p:nvPr/>
        </p:nvSpPr>
        <p:spPr>
          <a:xfrm>
            <a:off x="548640" y="5420563"/>
            <a:ext cx="91440" cy="614477"/>
          </a:xfrm>
          <a:prstGeom prst="rect">
            <a:avLst/>
          </a:prstGeom>
          <a:solidFill>
            <a:srgbClr val="3FAE5A"/>
          </a:solidFill>
          <a:ln/>
        </p:spPr>
      </p:sp>
      <p:sp>
        <p:nvSpPr>
          <p:cNvPr id="33" name="Text 30"/>
          <p:cNvSpPr/>
          <p:nvPr/>
        </p:nvSpPr>
        <p:spPr>
          <a:xfrm>
            <a:off x="804672" y="5493715"/>
            <a:ext cx="10637215" cy="307238"/>
          </a:xfrm>
          <a:prstGeom prst="rect">
            <a:avLst/>
          </a:prstGeom>
          <a:noFill/>
          <a:ln/>
        </p:spPr>
        <p:txBody>
          <a:bodyPr wrap="square" rtlCol="0" anchor="t"/>
          <a:lstStyle/>
          <a:p>
            <a:pPr marL="0" indent="0">
              <a:lnSpc>
                <a:spcPct val="98000"/>
              </a:lnSpc>
              <a:buNone/>
            </a:pPr>
            <a:r>
              <a:rPr lang="en-US" sz="1150" b="1" dirty="0">
                <a:solidFill>
                  <a:srgbClr val="3FAE5A"/>
                </a:solidFill>
                <a:latin typeface="Arial" pitchFamily="34" charset="0"/>
                <a:ea typeface="Arial" pitchFamily="34" charset="-122"/>
                <a:cs typeface="Arial" pitchFamily="34" charset="-120"/>
              </a:rPr>
              <a:t>Q5  </a:t>
            </a:r>
            <a:r>
              <a:rPr lang="en-US" sz="1150" b="1" dirty="0">
                <a:solidFill>
                  <a:srgbClr val="1D2A5C"/>
                </a:solidFill>
                <a:latin typeface="Arial" pitchFamily="34" charset="0"/>
                <a:ea typeface="Arial" pitchFamily="34" charset="-122"/>
                <a:cs typeface="Arial" pitchFamily="34" charset="-120"/>
              </a:rPr>
              <a:t>Thirteen overlapping regional lines — the fix?</a:t>
            </a:r>
            <a:endParaRPr lang="en-US" sz="1150" dirty="0"/>
          </a:p>
        </p:txBody>
      </p:sp>
      <p:sp>
        <p:nvSpPr>
          <p:cNvPr id="34" name="Text 31"/>
          <p:cNvSpPr/>
          <p:nvPr/>
        </p:nvSpPr>
        <p:spPr>
          <a:xfrm>
            <a:off x="804672" y="5709514"/>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Small multiples (shared scale, sorted panels) or highlight-one.</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CASE STUDY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Case Study — Regional Performance Review</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مراجعة أداء المناطق</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66</a:t>
            </a:r>
            <a:endParaRPr lang="en-US" sz="800" dirty="0"/>
          </a:p>
        </p:txBody>
      </p:sp>
      <p:sp>
        <p:nvSpPr>
          <p:cNvPr id="15" name="Shape 12"/>
          <p:cNvSpPr/>
          <p:nvPr/>
        </p:nvSpPr>
        <p:spPr>
          <a:xfrm>
            <a:off x="548640" y="2331720"/>
            <a:ext cx="5410048" cy="1100328"/>
          </a:xfrm>
          <a:prstGeom prst="roundRect">
            <a:avLst>
              <a:gd name="adj" fmla="val 6648"/>
            </a:avLst>
          </a:prstGeom>
          <a:solidFill>
            <a:srgbClr val="EAF0FA"/>
          </a:solidFill>
          <a:ln w="12700">
            <a:solidFill>
              <a:srgbClr val="2E5AAC"/>
            </a:solidFill>
            <a:prstDash val="solid"/>
          </a:ln>
        </p:spPr>
      </p:sp>
      <p:sp>
        <p:nvSpPr>
          <p:cNvPr id="16" name="Text 13"/>
          <p:cNvSpPr/>
          <p:nvPr/>
        </p:nvSpPr>
        <p:spPr>
          <a:xfrm>
            <a:off x="749808" y="2459736"/>
            <a:ext cx="5044288" cy="274320"/>
          </a:xfrm>
          <a:prstGeom prst="rect">
            <a:avLst/>
          </a:prstGeom>
          <a:noFill/>
          <a:ln/>
        </p:spPr>
        <p:txBody>
          <a:bodyPr wrap="square" rtlCol="0" anchor="ctr"/>
          <a:lstStyle/>
          <a:p>
            <a:pPr marL="0" indent="0">
              <a:buNone/>
            </a:pPr>
            <a:r>
              <a:rPr lang="en-US" sz="1100" b="1" kern="0" spc="100" dirty="0">
                <a:solidFill>
                  <a:srgbClr val="2E5AAC"/>
                </a:solidFill>
                <a:latin typeface="Arial" pitchFamily="34" charset="0"/>
                <a:ea typeface="Arial" pitchFamily="34" charset="-122"/>
                <a:cs typeface="Arial" pitchFamily="34" charset="-120"/>
              </a:rPr>
              <a:t>SCENARIO</a:t>
            </a:r>
            <a:endParaRPr lang="en-US" sz="1100" dirty="0"/>
          </a:p>
        </p:txBody>
      </p:sp>
      <p:sp>
        <p:nvSpPr>
          <p:cNvPr id="17" name="Text 14"/>
          <p:cNvSpPr/>
          <p:nvPr/>
        </p:nvSpPr>
        <p:spPr>
          <a:xfrm>
            <a:off x="749808" y="2788920"/>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The Tayseer team must produce a one-page regional review comparing all 13 regions across four metrics (adoption, satisfaction, completion time, cost). The first draft is four clustered bar charts — visually loud, analytically unreadable.</a:t>
            </a:r>
            <a:endParaRPr lang="en-US" sz="1100" dirty="0"/>
          </a:p>
        </p:txBody>
      </p:sp>
      <p:sp>
        <p:nvSpPr>
          <p:cNvPr id="18" name="Shape 15"/>
          <p:cNvSpPr/>
          <p:nvPr/>
        </p:nvSpPr>
        <p:spPr>
          <a:xfrm>
            <a:off x="6233008" y="2331720"/>
            <a:ext cx="5410048" cy="1100328"/>
          </a:xfrm>
          <a:prstGeom prst="roundRect">
            <a:avLst>
              <a:gd name="adj" fmla="val 6648"/>
            </a:avLst>
          </a:prstGeom>
          <a:solidFill>
            <a:srgbClr val="E6F5F4"/>
          </a:solidFill>
          <a:ln w="12700">
            <a:solidFill>
              <a:srgbClr val="00A79D"/>
            </a:solidFill>
            <a:prstDash val="solid"/>
          </a:ln>
        </p:spPr>
      </p:sp>
      <p:sp>
        <p:nvSpPr>
          <p:cNvPr id="19" name="Text 16"/>
          <p:cNvSpPr/>
          <p:nvPr/>
        </p:nvSpPr>
        <p:spPr>
          <a:xfrm>
            <a:off x="6434176" y="2459736"/>
            <a:ext cx="5044288" cy="274320"/>
          </a:xfrm>
          <a:prstGeom prst="rect">
            <a:avLst/>
          </a:prstGeom>
          <a:noFill/>
          <a:ln/>
        </p:spPr>
        <p:txBody>
          <a:bodyPr wrap="square" rtlCol="0" anchor="ctr"/>
          <a:lstStyle/>
          <a:p>
            <a:pPr marL="0" indent="0">
              <a:buNone/>
            </a:pPr>
            <a:r>
              <a:rPr lang="en-US" sz="1100" b="1" kern="0" spc="100" dirty="0">
                <a:solidFill>
                  <a:srgbClr val="00A79D"/>
                </a:solidFill>
                <a:latin typeface="Arial" pitchFamily="34" charset="0"/>
                <a:ea typeface="Arial" pitchFamily="34" charset="-122"/>
                <a:cs typeface="Arial" pitchFamily="34" charset="-120"/>
              </a:rPr>
              <a:t>BUSINESS CONTEXT</a:t>
            </a:r>
            <a:endParaRPr lang="en-US" sz="1100" dirty="0"/>
          </a:p>
        </p:txBody>
      </p:sp>
      <p:sp>
        <p:nvSpPr>
          <p:cNvPr id="20" name="Text 17"/>
          <p:cNvSpPr/>
          <p:nvPr/>
        </p:nvSpPr>
        <p:spPr>
          <a:xfrm>
            <a:off x="6434176" y="2788920"/>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The operations directorate uses this page monthly to decide where to send improvement teams. If it is unreadable, the decision defaults to 'wherever complained loudest', not to where the data points.</a:t>
            </a:r>
            <a:endParaRPr lang="en-US" sz="1100" dirty="0"/>
          </a:p>
        </p:txBody>
      </p:sp>
      <p:sp>
        <p:nvSpPr>
          <p:cNvPr id="21" name="Shape 18"/>
          <p:cNvSpPr/>
          <p:nvPr/>
        </p:nvSpPr>
        <p:spPr>
          <a:xfrm>
            <a:off x="548640" y="3633216"/>
            <a:ext cx="5410048" cy="1100328"/>
          </a:xfrm>
          <a:prstGeom prst="roundRect">
            <a:avLst>
              <a:gd name="adj" fmla="val 6648"/>
            </a:avLst>
          </a:prstGeom>
          <a:solidFill>
            <a:srgbClr val="FCF0E6"/>
          </a:solidFill>
          <a:ln w="12700">
            <a:solidFill>
              <a:srgbClr val="E8833A"/>
            </a:solidFill>
            <a:prstDash val="solid"/>
          </a:ln>
        </p:spPr>
      </p:sp>
      <p:sp>
        <p:nvSpPr>
          <p:cNvPr id="22" name="Text 19"/>
          <p:cNvSpPr/>
          <p:nvPr/>
        </p:nvSpPr>
        <p:spPr>
          <a:xfrm>
            <a:off x="749808" y="3761232"/>
            <a:ext cx="5044288" cy="274320"/>
          </a:xfrm>
          <a:prstGeom prst="rect">
            <a:avLst/>
          </a:prstGeom>
          <a:noFill/>
          <a:ln/>
        </p:spPr>
        <p:txBody>
          <a:bodyPr wrap="square" rtlCol="0" anchor="ctr"/>
          <a:lstStyle/>
          <a:p>
            <a:pPr marL="0" indent="0">
              <a:buNone/>
            </a:pPr>
            <a:r>
              <a:rPr lang="en-US" sz="1100" b="1" kern="0" spc="100" dirty="0">
                <a:solidFill>
                  <a:srgbClr val="E8833A"/>
                </a:solidFill>
                <a:latin typeface="Arial" pitchFamily="34" charset="0"/>
                <a:ea typeface="Arial" pitchFamily="34" charset="-122"/>
                <a:cs typeface="Arial" pitchFamily="34" charset="-120"/>
              </a:rPr>
              <a:t>CHALLENGE</a:t>
            </a:r>
            <a:endParaRPr lang="en-US" sz="1100" dirty="0"/>
          </a:p>
        </p:txBody>
      </p:sp>
      <p:sp>
        <p:nvSpPr>
          <p:cNvPr id="23" name="Text 20"/>
          <p:cNvSpPr/>
          <p:nvPr/>
        </p:nvSpPr>
        <p:spPr>
          <a:xfrm>
            <a:off x="749808" y="4090416"/>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Show four metrics across 13 regions on one page so a reader can rank regions on any metric and spot a region good on one metric but bad on another — all in under a minute.</a:t>
            </a:r>
            <a:endParaRPr lang="en-US" sz="1100" dirty="0"/>
          </a:p>
        </p:txBody>
      </p:sp>
      <p:sp>
        <p:nvSpPr>
          <p:cNvPr id="24" name="Shape 21"/>
          <p:cNvSpPr/>
          <p:nvPr/>
        </p:nvSpPr>
        <p:spPr>
          <a:xfrm>
            <a:off x="6233008" y="3633216"/>
            <a:ext cx="5410048" cy="1100328"/>
          </a:xfrm>
          <a:prstGeom prst="roundRect">
            <a:avLst>
              <a:gd name="adj" fmla="val 6648"/>
            </a:avLst>
          </a:prstGeom>
          <a:solidFill>
            <a:srgbClr val="EFEBF6"/>
          </a:solidFill>
          <a:ln w="12700">
            <a:solidFill>
              <a:srgbClr val="6C4FA1"/>
            </a:solidFill>
            <a:prstDash val="solid"/>
          </a:ln>
        </p:spPr>
      </p:sp>
      <p:sp>
        <p:nvSpPr>
          <p:cNvPr id="25" name="Text 22"/>
          <p:cNvSpPr/>
          <p:nvPr/>
        </p:nvSpPr>
        <p:spPr>
          <a:xfrm>
            <a:off x="6434176" y="3761232"/>
            <a:ext cx="5044288" cy="274320"/>
          </a:xfrm>
          <a:prstGeom prst="rect">
            <a:avLst/>
          </a:prstGeom>
          <a:noFill/>
          <a:ln/>
        </p:spPr>
        <p:txBody>
          <a:bodyPr wrap="square" rtlCol="0" anchor="ctr"/>
          <a:lstStyle/>
          <a:p>
            <a:pPr marL="0" indent="0">
              <a:buNone/>
            </a:pPr>
            <a:r>
              <a:rPr lang="en-US" sz="1100" b="1" kern="0" spc="100" dirty="0">
                <a:solidFill>
                  <a:srgbClr val="6C4FA1"/>
                </a:solidFill>
                <a:latin typeface="Arial" pitchFamily="34" charset="0"/>
                <a:ea typeface="Arial" pitchFamily="34" charset="-122"/>
                <a:cs typeface="Arial" pitchFamily="34" charset="-120"/>
              </a:rPr>
              <a:t>CONSTRAINTS</a:t>
            </a:r>
            <a:endParaRPr lang="en-US" sz="1100" dirty="0"/>
          </a:p>
        </p:txBody>
      </p:sp>
      <p:sp>
        <p:nvSpPr>
          <p:cNvPr id="26" name="Text 23"/>
          <p:cNvSpPr/>
          <p:nvPr/>
        </p:nvSpPr>
        <p:spPr>
          <a:xfrm>
            <a:off x="6434176" y="4090416"/>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One page for print and screen; works in Arabic and English; no interactivity; colour-blind-safe; the four metrics differ in unit and direction (lower cost is good, higher satisfaction is good).</a:t>
            </a:r>
            <a:endParaRPr lang="en-US" sz="1100" dirty="0"/>
          </a:p>
        </p:txBody>
      </p:sp>
      <p:sp>
        <p:nvSpPr>
          <p:cNvPr id="27" name="Shape 24"/>
          <p:cNvSpPr/>
          <p:nvPr/>
        </p:nvSpPr>
        <p:spPr>
          <a:xfrm>
            <a:off x="548640" y="4934712"/>
            <a:ext cx="5410048" cy="1100328"/>
          </a:xfrm>
          <a:prstGeom prst="roundRect">
            <a:avLst>
              <a:gd name="adj" fmla="val 6648"/>
            </a:avLst>
          </a:prstGeom>
          <a:solidFill>
            <a:srgbClr val="E9F5EC"/>
          </a:solidFill>
          <a:ln w="12700">
            <a:solidFill>
              <a:srgbClr val="3FAE5A"/>
            </a:solidFill>
            <a:prstDash val="solid"/>
          </a:ln>
        </p:spPr>
      </p:sp>
      <p:sp>
        <p:nvSpPr>
          <p:cNvPr id="28" name="Text 25"/>
          <p:cNvSpPr/>
          <p:nvPr/>
        </p:nvSpPr>
        <p:spPr>
          <a:xfrm>
            <a:off x="749808" y="5062728"/>
            <a:ext cx="5044288" cy="274320"/>
          </a:xfrm>
          <a:prstGeom prst="rect">
            <a:avLst/>
          </a:prstGeom>
          <a:noFill/>
          <a:ln/>
        </p:spPr>
        <p:txBody>
          <a:bodyPr wrap="square" rtlCol="0" anchor="ctr"/>
          <a:lstStyle/>
          <a:p>
            <a:pPr marL="0" indent="0">
              <a:buNone/>
            </a:pPr>
            <a:r>
              <a:rPr lang="en-US" sz="1100" b="1" kern="0" spc="100" dirty="0">
                <a:solidFill>
                  <a:srgbClr val="3FAE5A"/>
                </a:solidFill>
                <a:latin typeface="Arial" pitchFamily="34" charset="0"/>
                <a:ea typeface="Arial" pitchFamily="34" charset="-122"/>
                <a:cs typeface="Arial" pitchFamily="34" charset="-120"/>
              </a:rPr>
              <a:t>SOLUTION</a:t>
            </a:r>
            <a:endParaRPr lang="en-US" sz="1100" dirty="0"/>
          </a:p>
        </p:txBody>
      </p:sp>
      <p:sp>
        <p:nvSpPr>
          <p:cNvPr id="29" name="Text 26"/>
          <p:cNvSpPr/>
          <p:nvPr/>
        </p:nvSpPr>
        <p:spPr>
          <a:xfrm>
            <a:off x="749808" y="5391912"/>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Replace the four clustered bars with four small-multiple columns of sorted dot plots on a shared region order; add a national-mean line to each; encode good/bad direction; one takeaway title per column.</a:t>
            </a:r>
            <a:endParaRPr lang="en-US" sz="1100" dirty="0"/>
          </a:p>
        </p:txBody>
      </p:sp>
      <p:sp>
        <p:nvSpPr>
          <p:cNvPr id="30" name="Shape 27"/>
          <p:cNvSpPr/>
          <p:nvPr/>
        </p:nvSpPr>
        <p:spPr>
          <a:xfrm>
            <a:off x="6233008" y="4934712"/>
            <a:ext cx="5410048" cy="1100328"/>
          </a:xfrm>
          <a:prstGeom prst="roundRect">
            <a:avLst>
              <a:gd name="adj" fmla="val 6648"/>
            </a:avLst>
          </a:prstGeom>
          <a:solidFill>
            <a:srgbClr val="E7F5FC"/>
          </a:solidFill>
          <a:ln w="12700">
            <a:solidFill>
              <a:srgbClr val="29ABE2"/>
            </a:solidFill>
            <a:prstDash val="solid"/>
          </a:ln>
        </p:spPr>
      </p:sp>
      <p:sp>
        <p:nvSpPr>
          <p:cNvPr id="31" name="Text 28"/>
          <p:cNvSpPr/>
          <p:nvPr/>
        </p:nvSpPr>
        <p:spPr>
          <a:xfrm>
            <a:off x="6434176" y="5062728"/>
            <a:ext cx="5044288" cy="274320"/>
          </a:xfrm>
          <a:prstGeom prst="rect">
            <a:avLst/>
          </a:prstGeom>
          <a:noFill/>
          <a:ln/>
        </p:spPr>
        <p:txBody>
          <a:bodyPr wrap="square" rtlCol="0" anchor="ctr"/>
          <a:lstStyle/>
          <a:p>
            <a:pPr marL="0" indent="0">
              <a:buNone/>
            </a:pPr>
            <a:r>
              <a:rPr lang="en-US" sz="1100" b="1" kern="0" spc="100" dirty="0">
                <a:solidFill>
                  <a:srgbClr val="29ABE2"/>
                </a:solidFill>
                <a:latin typeface="Arial" pitchFamily="34" charset="0"/>
                <a:ea typeface="Arial" pitchFamily="34" charset="-122"/>
                <a:cs typeface="Arial" pitchFamily="34" charset="-120"/>
              </a:rPr>
              <a:t>PAYOFF</a:t>
            </a:r>
            <a:endParaRPr lang="en-US" sz="1100" dirty="0"/>
          </a:p>
        </p:txBody>
      </p:sp>
      <p:sp>
        <p:nvSpPr>
          <p:cNvPr id="32" name="Text 29"/>
          <p:cNvSpPr/>
          <p:nvPr/>
        </p:nvSpPr>
        <p:spPr>
          <a:xfrm>
            <a:off x="6434176" y="5391912"/>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The shared row order lets the eye scan a region's four dots to read its whole profile — the 'good here, bad there' reading that four independent charts destroy.</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Targets to reach after Module 2</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70</a:t>
            </a:r>
            <a:endParaRPr lang="en-US" sz="8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2798064"/>
        </p:xfrm>
        <a:graphic>
          <a:graphicData uri="http://schemas.openxmlformats.org/drawingml/2006/table">
            <a:tbl>
              <a:tblPr/>
              <a:tblGrid>
                <a:gridCol w="39319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Category</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How measured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Correct chart family for 4 questions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Selection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4/4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Lab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Design principles applied per chart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Design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5/5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Checklist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Time to find laggard region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Comprehension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&lt; 8 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Peer stopwatch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Charts with a takeaway title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Communication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Instructor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Anti-patterns present in final charts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Design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Audit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Example benchmark table filled in the lab</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71</a:t>
            </a:r>
            <a:endParaRPr lang="en-US" sz="8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2322576"/>
        </p:xfrm>
        <a:graphic>
          <a:graphicData uri="http://schemas.openxmlformats.org/drawingml/2006/table">
            <a:tbl>
              <a:tblPr/>
              <a:tblGrid>
                <a:gridCol w="23774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Chosen chart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Principles</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Anti-pattern</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Verdict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Q1 ranking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Sorted bar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5/5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not a pie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ship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Q2 trend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Line + target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5/5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not clustered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ship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Q3 distribution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Box plot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4/5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not a mean bar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revise labels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Q4 relationship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Scatter + trend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5/5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not dual-axis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ship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bl>
          </a:graphicData>
        </a:graphic>
      </p:graphicFrame>
      <p:sp>
        <p:nvSpPr>
          <p:cNvPr id="15" name="Text 11"/>
          <p:cNvSpPr/>
          <p:nvPr/>
        </p:nvSpPr>
        <p:spPr>
          <a:xfrm>
            <a:off x="548640" y="4480560"/>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The Q3 '4/5, revise labels' row shows a real verdict — add the missing labels, then ship.</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TRAINING ASSETS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Required Visuals &amp; Training Assets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الأصول التدريبية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72</a:t>
            </a:r>
            <a:endParaRPr lang="en-US" sz="800" dirty="0"/>
          </a:p>
        </p:txBody>
      </p:sp>
      <p:sp>
        <p:nvSpPr>
          <p:cNvPr id="15" name="Shape 12"/>
          <p:cNvSpPr/>
          <p:nvPr/>
        </p:nvSpPr>
        <p:spPr>
          <a:xfrm>
            <a:off x="548640" y="2377440"/>
            <a:ext cx="3515258" cy="3657600"/>
          </a:xfrm>
          <a:prstGeom prst="roundRect">
            <a:avLst>
              <a:gd name="adj" fmla="val 2341"/>
            </a:avLst>
          </a:prstGeom>
          <a:solidFill>
            <a:srgbClr val="FFFFFF"/>
          </a:solidFill>
          <a:ln w="12700">
            <a:solidFill>
              <a:srgbClr val="D9DEE8"/>
            </a:solidFill>
            <a:prstDash val="solid"/>
          </a:ln>
        </p:spPr>
      </p:sp>
      <p:sp>
        <p:nvSpPr>
          <p:cNvPr id="16" name="Shape 13"/>
          <p:cNvSpPr/>
          <p:nvPr/>
        </p:nvSpPr>
        <p:spPr>
          <a:xfrm>
            <a:off x="548640" y="2377440"/>
            <a:ext cx="3515258" cy="457200"/>
          </a:xfrm>
          <a:prstGeom prst="roundRect">
            <a:avLst>
              <a:gd name="adj" fmla="val 18000"/>
            </a:avLst>
          </a:prstGeom>
          <a:solidFill>
            <a:srgbClr val="2E5AAC"/>
          </a:solidFill>
          <a:ln/>
        </p:spPr>
      </p:sp>
      <p:sp>
        <p:nvSpPr>
          <p:cNvPr id="17" name="Shape 14"/>
          <p:cNvSpPr/>
          <p:nvPr/>
        </p:nvSpPr>
        <p:spPr>
          <a:xfrm>
            <a:off x="548640" y="2606040"/>
            <a:ext cx="3515258" cy="228600"/>
          </a:xfrm>
          <a:prstGeom prst="rect">
            <a:avLst/>
          </a:prstGeom>
          <a:solidFill>
            <a:srgbClr val="2E5AAC"/>
          </a:solidFill>
          <a:ln/>
        </p:spPr>
      </p:sp>
      <p:sp>
        <p:nvSpPr>
          <p:cNvPr id="18" name="Text 15"/>
          <p:cNvSpPr/>
          <p:nvPr/>
        </p:nvSpPr>
        <p:spPr>
          <a:xfrm>
            <a:off x="640080"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Diagrams</a:t>
            </a:r>
            <a:endParaRPr lang="en-US" sz="1250" dirty="0"/>
          </a:p>
        </p:txBody>
      </p:sp>
      <p:sp>
        <p:nvSpPr>
          <p:cNvPr id="19" name="Text 16"/>
          <p:cNvSpPr/>
          <p:nvPr/>
        </p:nvSpPr>
        <p:spPr>
          <a:xfrm>
            <a:off x="713232" y="2971800"/>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Chart-selection decision tree (module spine)</a:t>
            </a:r>
            <a:endParaRPr lang="en-US" sz="1050" dirty="0"/>
          </a:p>
        </p:txBody>
      </p:sp>
      <p:sp>
        <p:nvSpPr>
          <p:cNvPr id="20" name="Text 17"/>
          <p:cNvSpPr/>
          <p:nvPr/>
        </p:nvSpPr>
        <p:spPr>
          <a:xfrm>
            <a:off x="713232" y="3392424"/>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Five design principles poster (A4)</a:t>
            </a:r>
            <a:endParaRPr lang="en-US" sz="1050" dirty="0"/>
          </a:p>
        </p:txBody>
      </p:sp>
      <p:sp>
        <p:nvSpPr>
          <p:cNvPr id="21" name="Text 18"/>
          <p:cNvSpPr/>
          <p:nvPr/>
        </p:nvSpPr>
        <p:spPr>
          <a:xfrm>
            <a:off x="713232" y="3813048"/>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Spaghetti -&gt; small multiples split panel</a:t>
            </a:r>
            <a:endParaRPr lang="en-US" sz="1050" dirty="0"/>
          </a:p>
        </p:txBody>
      </p:sp>
      <p:sp>
        <p:nvSpPr>
          <p:cNvPr id="22" name="Text 19"/>
          <p:cNvSpPr/>
          <p:nvPr/>
        </p:nvSpPr>
        <p:spPr>
          <a:xfrm>
            <a:off x="713232" y="4233672"/>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Anti-pattern rogues' gallery (grid of six)</a:t>
            </a:r>
            <a:endParaRPr lang="en-US" sz="1050" dirty="0"/>
          </a:p>
        </p:txBody>
      </p:sp>
      <p:sp>
        <p:nvSpPr>
          <p:cNvPr id="23" name="Shape 20"/>
          <p:cNvSpPr/>
          <p:nvPr/>
        </p:nvSpPr>
        <p:spPr>
          <a:xfrm>
            <a:off x="4338218" y="2377440"/>
            <a:ext cx="3515258" cy="3657600"/>
          </a:xfrm>
          <a:prstGeom prst="roundRect">
            <a:avLst>
              <a:gd name="adj" fmla="val 2341"/>
            </a:avLst>
          </a:prstGeom>
          <a:solidFill>
            <a:srgbClr val="FFFFFF"/>
          </a:solidFill>
          <a:ln w="12700">
            <a:solidFill>
              <a:srgbClr val="D9DEE8"/>
            </a:solidFill>
            <a:prstDash val="solid"/>
          </a:ln>
        </p:spPr>
      </p:sp>
      <p:sp>
        <p:nvSpPr>
          <p:cNvPr id="24" name="Shape 21"/>
          <p:cNvSpPr/>
          <p:nvPr/>
        </p:nvSpPr>
        <p:spPr>
          <a:xfrm>
            <a:off x="4338218" y="2377440"/>
            <a:ext cx="3515258" cy="457200"/>
          </a:xfrm>
          <a:prstGeom prst="roundRect">
            <a:avLst>
              <a:gd name="adj" fmla="val 18000"/>
            </a:avLst>
          </a:prstGeom>
          <a:solidFill>
            <a:srgbClr val="00A79D"/>
          </a:solidFill>
          <a:ln/>
        </p:spPr>
      </p:sp>
      <p:sp>
        <p:nvSpPr>
          <p:cNvPr id="25" name="Shape 22"/>
          <p:cNvSpPr/>
          <p:nvPr/>
        </p:nvSpPr>
        <p:spPr>
          <a:xfrm>
            <a:off x="4338218" y="2606040"/>
            <a:ext cx="3515258" cy="228600"/>
          </a:xfrm>
          <a:prstGeom prst="rect">
            <a:avLst/>
          </a:prstGeom>
          <a:solidFill>
            <a:srgbClr val="00A79D"/>
          </a:solidFill>
          <a:ln/>
        </p:spPr>
      </p:sp>
      <p:sp>
        <p:nvSpPr>
          <p:cNvPr id="26" name="Text 23"/>
          <p:cNvSpPr/>
          <p:nvPr/>
        </p:nvSpPr>
        <p:spPr>
          <a:xfrm>
            <a:off x="4429658"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Images</a:t>
            </a:r>
            <a:endParaRPr lang="en-US" sz="1250" dirty="0"/>
          </a:p>
        </p:txBody>
      </p:sp>
      <p:sp>
        <p:nvSpPr>
          <p:cNvPr id="27" name="Text 24"/>
          <p:cNvSpPr/>
          <p:nvPr/>
        </p:nvSpPr>
        <p:spPr>
          <a:xfrm>
            <a:off x="4502810" y="2971800"/>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m2_small_multiples.png — 13-panel grid</a:t>
            </a:r>
            <a:endParaRPr lang="en-US" sz="1050" dirty="0"/>
          </a:p>
        </p:txBody>
      </p:sp>
      <p:sp>
        <p:nvSpPr>
          <p:cNvPr id="28" name="Text 25"/>
          <p:cNvSpPr/>
          <p:nvPr/>
        </p:nvSpPr>
        <p:spPr>
          <a:xfrm>
            <a:off x="4502810" y="3392424"/>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m2_indexed_lines.png — dual-axis fix</a:t>
            </a:r>
            <a:endParaRPr lang="en-US" sz="1050" dirty="0"/>
          </a:p>
        </p:txBody>
      </p:sp>
      <p:sp>
        <p:nvSpPr>
          <p:cNvPr id="29" name="Text 26"/>
          <p:cNvSpPr/>
          <p:nvPr/>
        </p:nvSpPr>
        <p:spPr>
          <a:xfrm>
            <a:off x="4502810" y="3813048"/>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critique_m2.png — 6x13 clustered bar</a:t>
            </a:r>
            <a:endParaRPr lang="en-US" sz="1050" dirty="0"/>
          </a:p>
        </p:txBody>
      </p:sp>
      <p:sp>
        <p:nvSpPr>
          <p:cNvPr id="30" name="Text 27"/>
          <p:cNvSpPr/>
          <p:nvPr/>
        </p:nvSpPr>
        <p:spPr>
          <a:xfrm>
            <a:off x="4502810" y="4233672"/>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Four-panel regional review (solution)</a:t>
            </a:r>
            <a:endParaRPr lang="en-US" sz="1050" dirty="0"/>
          </a:p>
        </p:txBody>
      </p:sp>
      <p:sp>
        <p:nvSpPr>
          <p:cNvPr id="31" name="Shape 28"/>
          <p:cNvSpPr/>
          <p:nvPr/>
        </p:nvSpPr>
        <p:spPr>
          <a:xfrm>
            <a:off x="8127797" y="2377440"/>
            <a:ext cx="3515258" cy="3657600"/>
          </a:xfrm>
          <a:prstGeom prst="roundRect">
            <a:avLst>
              <a:gd name="adj" fmla="val 2341"/>
            </a:avLst>
          </a:prstGeom>
          <a:solidFill>
            <a:srgbClr val="FFFFFF"/>
          </a:solidFill>
          <a:ln w="12700">
            <a:solidFill>
              <a:srgbClr val="D9DEE8"/>
            </a:solidFill>
            <a:prstDash val="solid"/>
          </a:ln>
        </p:spPr>
      </p:sp>
      <p:sp>
        <p:nvSpPr>
          <p:cNvPr id="32" name="Shape 29"/>
          <p:cNvSpPr/>
          <p:nvPr/>
        </p:nvSpPr>
        <p:spPr>
          <a:xfrm>
            <a:off x="8127797" y="2377440"/>
            <a:ext cx="3515258" cy="457200"/>
          </a:xfrm>
          <a:prstGeom prst="roundRect">
            <a:avLst>
              <a:gd name="adj" fmla="val 18000"/>
            </a:avLst>
          </a:prstGeom>
          <a:solidFill>
            <a:srgbClr val="E8833A"/>
          </a:solidFill>
          <a:ln/>
        </p:spPr>
      </p:sp>
      <p:sp>
        <p:nvSpPr>
          <p:cNvPr id="33" name="Shape 30"/>
          <p:cNvSpPr/>
          <p:nvPr/>
        </p:nvSpPr>
        <p:spPr>
          <a:xfrm>
            <a:off x="8127797" y="2606040"/>
            <a:ext cx="3515258" cy="228600"/>
          </a:xfrm>
          <a:prstGeom prst="rect">
            <a:avLst/>
          </a:prstGeom>
          <a:solidFill>
            <a:srgbClr val="E8833A"/>
          </a:solidFill>
          <a:ln/>
        </p:spPr>
      </p:sp>
      <p:sp>
        <p:nvSpPr>
          <p:cNvPr id="34" name="Text 31"/>
          <p:cNvSpPr/>
          <p:nvPr/>
        </p:nvSpPr>
        <p:spPr>
          <a:xfrm>
            <a:off x="8219237"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Datasets</a:t>
            </a:r>
            <a:endParaRPr lang="en-US" sz="1250" dirty="0"/>
          </a:p>
        </p:txBody>
      </p:sp>
      <p:sp>
        <p:nvSpPr>
          <p:cNvPr id="35" name="Text 32"/>
          <p:cNvSpPr/>
          <p:nvPr/>
        </p:nvSpPr>
        <p:spPr>
          <a:xfrm>
            <a:off x="8292389" y="2971800"/>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tayseer_services.csv (~28k rows)</a:t>
            </a:r>
            <a:endParaRPr lang="en-US" sz="1050" dirty="0"/>
          </a:p>
        </p:txBody>
      </p:sp>
      <p:sp>
        <p:nvSpPr>
          <p:cNvPr id="36" name="Text 33"/>
          <p:cNvSpPr/>
          <p:nvPr/>
        </p:nvSpPr>
        <p:spPr>
          <a:xfrm>
            <a:off x="8292389" y="3392424"/>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lab2_questions.md (four questions)</a:t>
            </a:r>
            <a:endParaRPr lang="en-US" sz="1050" dirty="0"/>
          </a:p>
        </p:txBody>
      </p:sp>
      <p:sp>
        <p:nvSpPr>
          <p:cNvPr id="37" name="Text 34"/>
          <p:cNvSpPr/>
          <p:nvPr/>
        </p:nvSpPr>
        <p:spPr>
          <a:xfrm>
            <a:off x="8292389" y="3813048"/>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src/viz/charts.py (chart library)</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marL="0" indent="0" algn="l">
              <a:buNone/>
            </a:pPr>
            <a:r>
              <a:rPr lang="en-US" sz="15000" b="1" dirty="0">
                <a:solidFill>
                  <a:srgbClr val="27345F"/>
                </a:solidFill>
                <a:latin typeface="Arial" pitchFamily="34" charset="0"/>
                <a:ea typeface="Arial" pitchFamily="34" charset="-122"/>
                <a:cs typeface="Arial" pitchFamily="34" charset="-120"/>
              </a:rPr>
              <a:t>03</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marL="0" indent="0">
              <a:buNone/>
            </a:pPr>
            <a:r>
              <a:rPr lang="en-US" sz="1400" b="1" kern="0" spc="300" dirty="0">
                <a:solidFill>
                  <a:srgbClr val="00A79D"/>
                </a:solidFill>
                <a:latin typeface="Arial" pitchFamily="34" charset="0"/>
                <a:ea typeface="Arial" pitchFamily="34" charset="-122"/>
                <a:cs typeface="Arial" pitchFamily="34" charset="-120"/>
              </a:rPr>
              <a:t>MODULE 3</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marL="0" indent="0">
              <a:buNone/>
            </a:pPr>
            <a:r>
              <a:rPr lang="en-US" sz="3400" b="1" dirty="0">
                <a:solidFill>
                  <a:srgbClr val="FFFFFF"/>
                </a:solidFill>
                <a:latin typeface="Arial" pitchFamily="34" charset="0"/>
                <a:ea typeface="Arial" pitchFamily="34" charset="-122"/>
                <a:cs typeface="Arial" pitchFamily="34" charset="-120"/>
              </a:rPr>
              <a:t>Colour, Annotation, and Decluttering</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marL="0" indent="0">
              <a:buNone/>
            </a:pPr>
            <a:r>
              <a:rPr lang="en-US" sz="1800" dirty="0">
                <a:solidFill>
                  <a:srgbClr val="C9D3EA"/>
                </a:solidFill>
                <a:latin typeface="Arial" pitchFamily="34" charset="0"/>
                <a:ea typeface="Arial" pitchFamily="34" charset="-122"/>
                <a:cs typeface="Arial" pitchFamily="34" charset="-120"/>
              </a:rPr>
              <a:t>اللون والتعليق وإزالة الفوضى</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marL="0" indent="0">
              <a:buNone/>
            </a:pPr>
            <a:r>
              <a:rPr lang="en-US" sz="1250" dirty="0">
                <a:solidFill>
                  <a:srgbClr val="AEB8D0"/>
                </a:solidFill>
                <a:latin typeface="Arial" pitchFamily="34" charset="0"/>
                <a:ea typeface="Arial" pitchFamily="34" charset="-122"/>
                <a:cs typeface="Arial" pitchFamily="34" charset="-120"/>
              </a:rPr>
              <a:t>Finishing craft: colour as meaning, annotation that states the point, and stripping every non-data mark.</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MODULE OVERVIEW</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From a correct chart to a persuasive one</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من الصحيح إلى المقنع</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74</a:t>
            </a:r>
            <a:endParaRPr lang="en-US" sz="800" dirty="0"/>
          </a:p>
        </p:txBody>
      </p:sp>
      <p:sp>
        <p:nvSpPr>
          <p:cNvPr id="15" name="Text 12"/>
          <p:cNvSpPr/>
          <p:nvPr/>
        </p:nvSpPr>
        <p:spPr>
          <a:xfrm>
            <a:off x="548640" y="2377440"/>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With the right chart chosen in M2, this module is finishing craft — and the largest, cheapest gains in clarity live here.</a:t>
            </a:r>
            <a:endParaRPr lang="en-US" sz="1300" dirty="0"/>
          </a:p>
        </p:txBody>
      </p:sp>
      <p:sp>
        <p:nvSpPr>
          <p:cNvPr id="16" name="Shape 13"/>
          <p:cNvSpPr/>
          <p:nvPr/>
        </p:nvSpPr>
        <p:spPr>
          <a:xfrm>
            <a:off x="548640" y="3209544"/>
            <a:ext cx="100584" cy="420624"/>
          </a:xfrm>
          <a:prstGeom prst="rect">
            <a:avLst/>
          </a:prstGeom>
          <a:solidFill>
            <a:srgbClr val="2E5AAC"/>
          </a:solidFill>
          <a:ln/>
        </p:spPr>
      </p:sp>
      <p:sp>
        <p:nvSpPr>
          <p:cNvPr id="17" name="Text 14"/>
          <p:cNvSpPr/>
          <p:nvPr/>
        </p:nvSpPr>
        <p:spPr>
          <a:xfrm>
            <a:off x="804672" y="315468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Colour as meaning:  </a:t>
            </a:r>
            <a:r>
              <a:rPr lang="en-US" sz="1250" dirty="0">
                <a:solidFill>
                  <a:srgbClr val="343A4E"/>
                </a:solidFill>
                <a:latin typeface="Arial" pitchFamily="34" charset="0"/>
                <a:ea typeface="Arial" pitchFamily="34" charset="-122"/>
                <a:cs typeface="Arial" pitchFamily="34" charset="-120"/>
              </a:rPr>
              <a:t>Use colour to carry information, never as decoration.</a:t>
            </a:r>
            <a:endParaRPr lang="en-US" sz="1250" dirty="0"/>
          </a:p>
        </p:txBody>
      </p:sp>
      <p:sp>
        <p:nvSpPr>
          <p:cNvPr id="18" name="Shape 15"/>
          <p:cNvSpPr/>
          <p:nvPr/>
        </p:nvSpPr>
        <p:spPr>
          <a:xfrm>
            <a:off x="548640" y="3776472"/>
            <a:ext cx="100584" cy="420624"/>
          </a:xfrm>
          <a:prstGeom prst="rect">
            <a:avLst/>
          </a:prstGeom>
          <a:solidFill>
            <a:srgbClr val="00A79D"/>
          </a:solidFill>
          <a:ln/>
        </p:spPr>
      </p:sp>
      <p:sp>
        <p:nvSpPr>
          <p:cNvPr id="19" name="Text 16"/>
          <p:cNvSpPr/>
          <p:nvPr/>
        </p:nvSpPr>
        <p:spPr>
          <a:xfrm>
            <a:off x="804672" y="372160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Explicit argument:  </a:t>
            </a:r>
            <a:r>
              <a:rPr lang="en-US" sz="1250" dirty="0">
                <a:solidFill>
                  <a:srgbClr val="343A4E"/>
                </a:solidFill>
                <a:latin typeface="Arial" pitchFamily="34" charset="0"/>
                <a:ea typeface="Arial" pitchFamily="34" charset="-122"/>
                <a:cs typeface="Arial" pitchFamily="34" charset="-120"/>
              </a:rPr>
              <a:t>Annotation puts 'this is the point' on the chart itself.</a:t>
            </a:r>
            <a:endParaRPr lang="en-US" sz="1250" dirty="0"/>
          </a:p>
        </p:txBody>
      </p:sp>
      <p:sp>
        <p:nvSpPr>
          <p:cNvPr id="20" name="Shape 17"/>
          <p:cNvSpPr/>
          <p:nvPr/>
        </p:nvSpPr>
        <p:spPr>
          <a:xfrm>
            <a:off x="548640" y="4343400"/>
            <a:ext cx="100584" cy="420624"/>
          </a:xfrm>
          <a:prstGeom prst="rect">
            <a:avLst/>
          </a:prstGeom>
          <a:solidFill>
            <a:srgbClr val="E8833A"/>
          </a:solidFill>
          <a:ln/>
        </p:spPr>
      </p:sp>
      <p:sp>
        <p:nvSpPr>
          <p:cNvPr id="21" name="Text 18"/>
          <p:cNvSpPr/>
          <p:nvPr/>
        </p:nvSpPr>
        <p:spPr>
          <a:xfrm>
            <a:off x="804672" y="4288536"/>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Strip the rest:  </a:t>
            </a:r>
            <a:r>
              <a:rPr lang="en-US" sz="1250" dirty="0">
                <a:solidFill>
                  <a:srgbClr val="343A4E"/>
                </a:solidFill>
                <a:latin typeface="Arial" pitchFamily="34" charset="0"/>
                <a:ea typeface="Arial" pitchFamily="34" charset="-122"/>
                <a:cs typeface="Arial" pitchFamily="34" charset="-120"/>
              </a:rPr>
              <a:t>Remove everything that does not carry information.</a:t>
            </a:r>
            <a:endParaRPr lang="en-US" sz="1250" dirty="0"/>
          </a:p>
        </p:txBody>
      </p:sp>
      <p:sp>
        <p:nvSpPr>
          <p:cNvPr id="22" name="Shape 19"/>
          <p:cNvSpPr/>
          <p:nvPr/>
        </p:nvSpPr>
        <p:spPr>
          <a:xfrm>
            <a:off x="548640" y="4910328"/>
            <a:ext cx="100584" cy="420624"/>
          </a:xfrm>
          <a:prstGeom prst="rect">
            <a:avLst/>
          </a:prstGeom>
          <a:solidFill>
            <a:srgbClr val="6C4FA1"/>
          </a:solidFill>
          <a:ln/>
        </p:spPr>
      </p:sp>
      <p:sp>
        <p:nvSpPr>
          <p:cNvPr id="23" name="Text 20"/>
          <p:cNvSpPr/>
          <p:nvPr/>
        </p:nvSpPr>
        <p:spPr>
          <a:xfrm>
            <a:off x="804672" y="485546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Biggest wins:  </a:t>
            </a:r>
            <a:r>
              <a:rPr lang="en-US" sz="1250" dirty="0">
                <a:solidFill>
                  <a:srgbClr val="343A4E"/>
                </a:solidFill>
                <a:latin typeface="Arial" pitchFamily="34" charset="0"/>
                <a:ea typeface="Arial" pitchFamily="34" charset="-122"/>
                <a:cs typeface="Arial" pitchFamily="34" charset="-120"/>
              </a:rPr>
              <a:t>Decluttering and annotation raise comprehension more than any chart-type change.</a:t>
            </a:r>
            <a:endParaRPr lang="en-US" sz="12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BUSINESS RELEVANCE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most abused channel — now a compliance issue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75</a:t>
            </a:r>
            <a:endParaRPr lang="en-US" sz="800" dirty="0"/>
          </a:p>
        </p:txBody>
      </p:sp>
      <p:sp>
        <p:nvSpPr>
          <p:cNvPr id="14" name="Text 11"/>
          <p:cNvSpPr/>
          <p:nvPr/>
        </p:nvSpPr>
        <p:spPr>
          <a:xfrm>
            <a:off x="548640" y="1975104"/>
            <a:ext cx="11094415" cy="50292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Colour is the most abused channel in enterprise reporting; in Saudi government or banking a colour or accessibility failure is now compliance, not cosmetics.</a:t>
            </a:r>
            <a:endParaRPr lang="en-US" sz="1250" dirty="0"/>
          </a:p>
        </p:txBody>
      </p:sp>
      <p:sp>
        <p:nvSpPr>
          <p:cNvPr id="15" name="Shape 12"/>
          <p:cNvSpPr/>
          <p:nvPr/>
        </p:nvSpPr>
        <p:spPr>
          <a:xfrm>
            <a:off x="548640" y="2542032"/>
            <a:ext cx="5364328" cy="3538728"/>
          </a:xfrm>
          <a:prstGeom prst="roundRect">
            <a:avLst>
              <a:gd name="adj" fmla="val 2326"/>
            </a:avLst>
          </a:prstGeom>
          <a:solidFill>
            <a:srgbClr val="EAF0FA"/>
          </a:solidFill>
          <a:ln w="12700">
            <a:solidFill>
              <a:srgbClr val="2E5AAC"/>
            </a:solidFill>
            <a:prstDash val="solid"/>
          </a:ln>
        </p:spPr>
      </p:sp>
      <p:sp>
        <p:nvSpPr>
          <p:cNvPr id="16" name="Text 13"/>
          <p:cNvSpPr/>
          <p:nvPr/>
        </p:nvSpPr>
        <p:spPr>
          <a:xfrm>
            <a:off x="777240" y="2706624"/>
            <a:ext cx="4907128" cy="365760"/>
          </a:xfrm>
          <a:prstGeom prst="rect">
            <a:avLst/>
          </a:prstGeom>
          <a:noFill/>
          <a:ln/>
        </p:spPr>
        <p:txBody>
          <a:bodyPr wrap="square" rtlCol="0" anchor="ctr"/>
          <a:lstStyle/>
          <a:p>
            <a:pPr marL="0" indent="0">
              <a:buNone/>
            </a:pPr>
            <a:r>
              <a:rPr lang="en-US" sz="1300" b="1" kern="0" spc="100" dirty="0">
                <a:solidFill>
                  <a:srgbClr val="2E5AAC"/>
                </a:solidFill>
                <a:latin typeface="Arial" pitchFamily="34" charset="0"/>
                <a:ea typeface="Arial" pitchFamily="34" charset="-122"/>
                <a:cs typeface="Arial" pitchFamily="34" charset="-120"/>
              </a:rPr>
              <a:t>THE ABUSE</a:t>
            </a:r>
            <a:endParaRPr lang="en-US" sz="1300" dirty="0"/>
          </a:p>
        </p:txBody>
      </p:sp>
      <p:sp>
        <p:nvSpPr>
          <p:cNvPr id="17" name="Text 14"/>
          <p:cNvSpPr/>
          <p:nvPr/>
        </p:nvSpPr>
        <p:spPr>
          <a:xfrm>
            <a:off x="777240" y="3182112"/>
            <a:ext cx="4907128" cy="640080"/>
          </a:xfrm>
          <a:prstGeom prst="rect">
            <a:avLst/>
          </a:prstGeom>
          <a:noFill/>
          <a:ln/>
        </p:spPr>
        <p:txBody>
          <a:bodyPr wrap="square" rtlCol="0" anchor="t"/>
          <a:lstStyle/>
          <a:p>
            <a:pPr marL="0" indent="0">
              <a:lnSpc>
                <a:spcPct val="100000"/>
              </a:lnSpc>
              <a:buNone/>
            </a:pPr>
            <a:r>
              <a:rPr lang="en-US" sz="1150" b="1" dirty="0">
                <a:solidFill>
                  <a:srgbClr val="2E5AAC"/>
                </a:solidFill>
                <a:latin typeface="Arial" pitchFamily="34" charset="0"/>
                <a:ea typeface="Arial" pitchFamily="34" charset="-122"/>
                <a:cs typeface="Arial" pitchFamily="34" charset="-120"/>
              </a:rPr>
              <a:t>▸ </a:t>
            </a:r>
            <a:r>
              <a:rPr lang="en-US" sz="1150" b="1" dirty="0">
                <a:solidFill>
                  <a:srgbClr val="1D2A5C"/>
                </a:solidFill>
                <a:latin typeface="Arial" pitchFamily="34" charset="0"/>
                <a:ea typeface="Arial" pitchFamily="34" charset="-122"/>
                <a:cs typeface="Arial" pitchFamily="34" charset="-120"/>
              </a:rPr>
              <a:t>Rainbow palettes </a:t>
            </a:r>
            <a:r>
              <a:rPr lang="en-US" sz="1150" dirty="0">
                <a:solidFill>
                  <a:srgbClr val="343A4E"/>
                </a:solidFill>
                <a:latin typeface="Arial" pitchFamily="34" charset="0"/>
                <a:ea typeface="Arial" pitchFamily="34" charset="-122"/>
                <a:cs typeface="Arial" pitchFamily="34" charset="-120"/>
              </a:rPr>
              <a:t>Categorical rainbows thrown at ordered data.</a:t>
            </a:r>
            <a:endParaRPr lang="en-US" sz="1150" dirty="0"/>
          </a:p>
        </p:txBody>
      </p:sp>
      <p:sp>
        <p:nvSpPr>
          <p:cNvPr id="18" name="Text 15"/>
          <p:cNvSpPr/>
          <p:nvPr/>
        </p:nvSpPr>
        <p:spPr>
          <a:xfrm>
            <a:off x="777240" y="3694176"/>
            <a:ext cx="4907128" cy="640080"/>
          </a:xfrm>
          <a:prstGeom prst="rect">
            <a:avLst/>
          </a:prstGeom>
          <a:noFill/>
          <a:ln/>
        </p:spPr>
        <p:txBody>
          <a:bodyPr wrap="square" rtlCol="0" anchor="t"/>
          <a:lstStyle/>
          <a:p>
            <a:pPr marL="0" indent="0">
              <a:lnSpc>
                <a:spcPct val="100000"/>
              </a:lnSpc>
              <a:buNone/>
            </a:pPr>
            <a:r>
              <a:rPr lang="en-US" sz="1150" b="1" dirty="0">
                <a:solidFill>
                  <a:srgbClr val="2E5AAC"/>
                </a:solidFill>
                <a:latin typeface="Arial" pitchFamily="34" charset="0"/>
                <a:ea typeface="Arial" pitchFamily="34" charset="-122"/>
                <a:cs typeface="Arial" pitchFamily="34" charset="-120"/>
              </a:rPr>
              <a:t>▸ </a:t>
            </a:r>
            <a:r>
              <a:rPr lang="en-US" sz="1150" b="1" dirty="0">
                <a:solidFill>
                  <a:srgbClr val="1D2A5C"/>
                </a:solidFill>
                <a:latin typeface="Arial" pitchFamily="34" charset="0"/>
                <a:ea typeface="Arial" pitchFamily="34" charset="-122"/>
                <a:cs typeface="Arial" pitchFamily="34" charset="-120"/>
              </a:rPr>
              <a:t>Red/green </a:t>
            </a:r>
            <a:r>
              <a:rPr lang="en-US" sz="1150" dirty="0">
                <a:solidFill>
                  <a:srgbClr val="343A4E"/>
                </a:solidFill>
                <a:latin typeface="Arial" pitchFamily="34" charset="0"/>
                <a:ea typeface="Arial" pitchFamily="34" charset="-122"/>
                <a:cs typeface="Arial" pitchFamily="34" charset="-120"/>
              </a:rPr>
              <a:t>Excludes roughly 1 in 12 men who are colour-blind.</a:t>
            </a:r>
            <a:endParaRPr lang="en-US" sz="1150" dirty="0"/>
          </a:p>
        </p:txBody>
      </p:sp>
      <p:sp>
        <p:nvSpPr>
          <p:cNvPr id="19" name="Text 16"/>
          <p:cNvSpPr/>
          <p:nvPr/>
        </p:nvSpPr>
        <p:spPr>
          <a:xfrm>
            <a:off x="777240" y="4206240"/>
            <a:ext cx="4907128" cy="640080"/>
          </a:xfrm>
          <a:prstGeom prst="rect">
            <a:avLst/>
          </a:prstGeom>
          <a:noFill/>
          <a:ln/>
        </p:spPr>
        <p:txBody>
          <a:bodyPr wrap="square" rtlCol="0" anchor="t"/>
          <a:lstStyle/>
          <a:p>
            <a:pPr marL="0" indent="0">
              <a:lnSpc>
                <a:spcPct val="100000"/>
              </a:lnSpc>
              <a:buNone/>
            </a:pPr>
            <a:r>
              <a:rPr lang="en-US" sz="1150" b="1" dirty="0">
                <a:solidFill>
                  <a:srgbClr val="2E5AAC"/>
                </a:solidFill>
                <a:latin typeface="Arial" pitchFamily="34" charset="0"/>
                <a:ea typeface="Arial" pitchFamily="34" charset="-122"/>
                <a:cs typeface="Arial" pitchFamily="34" charset="-120"/>
              </a:rPr>
              <a:t>▸ </a:t>
            </a:r>
            <a:r>
              <a:rPr lang="en-US" sz="1150" b="1" dirty="0">
                <a:solidFill>
                  <a:srgbClr val="1D2A5C"/>
                </a:solidFill>
                <a:latin typeface="Arial" pitchFamily="34" charset="0"/>
                <a:ea typeface="Arial" pitchFamily="34" charset="-122"/>
                <a:cs typeface="Arial" pitchFamily="34" charset="-120"/>
              </a:rPr>
              <a:t>Decorative saturation </a:t>
            </a:r>
            <a:r>
              <a:rPr lang="en-US" sz="1150" dirty="0">
                <a:solidFill>
                  <a:srgbClr val="343A4E"/>
                </a:solidFill>
                <a:latin typeface="Arial" pitchFamily="34" charset="0"/>
                <a:ea typeface="Arial" pitchFamily="34" charset="-122"/>
                <a:cs typeface="Arial" pitchFamily="34" charset="-120"/>
              </a:rPr>
              <a:t>Colour strength spent on chrome, not signal.</a:t>
            </a:r>
            <a:endParaRPr lang="en-US" sz="1150" dirty="0"/>
          </a:p>
        </p:txBody>
      </p:sp>
      <p:sp>
        <p:nvSpPr>
          <p:cNvPr id="20" name="Shape 17"/>
          <p:cNvSpPr/>
          <p:nvPr/>
        </p:nvSpPr>
        <p:spPr>
          <a:xfrm>
            <a:off x="6278728" y="2542032"/>
            <a:ext cx="5364328" cy="3538728"/>
          </a:xfrm>
          <a:prstGeom prst="roundRect">
            <a:avLst>
              <a:gd name="adj" fmla="val 2326"/>
            </a:avLst>
          </a:prstGeom>
          <a:solidFill>
            <a:srgbClr val="E6F5F4"/>
          </a:solidFill>
          <a:ln w="12700">
            <a:solidFill>
              <a:srgbClr val="00A79D"/>
            </a:solidFill>
            <a:prstDash val="solid"/>
          </a:ln>
        </p:spPr>
      </p:sp>
      <p:sp>
        <p:nvSpPr>
          <p:cNvPr id="21" name="Text 18"/>
          <p:cNvSpPr/>
          <p:nvPr/>
        </p:nvSpPr>
        <p:spPr>
          <a:xfrm>
            <a:off x="6507328" y="2706624"/>
            <a:ext cx="4907128" cy="365760"/>
          </a:xfrm>
          <a:prstGeom prst="rect">
            <a:avLst/>
          </a:prstGeom>
          <a:noFill/>
          <a:ln/>
        </p:spPr>
        <p:txBody>
          <a:bodyPr wrap="square" rtlCol="0" anchor="ctr"/>
          <a:lstStyle/>
          <a:p>
            <a:pPr marL="0" indent="0">
              <a:buNone/>
            </a:pPr>
            <a:r>
              <a:rPr lang="en-US" sz="1300" b="1" kern="0" spc="100" dirty="0">
                <a:solidFill>
                  <a:srgbClr val="00A79D"/>
                </a:solidFill>
                <a:latin typeface="Arial" pitchFamily="34" charset="0"/>
                <a:ea typeface="Arial" pitchFamily="34" charset="-122"/>
                <a:cs typeface="Arial" pitchFamily="34" charset="-120"/>
              </a:rPr>
              <a:t>THE STAKES</a:t>
            </a:r>
            <a:endParaRPr lang="en-US" sz="1300" dirty="0"/>
          </a:p>
        </p:txBody>
      </p:sp>
      <p:sp>
        <p:nvSpPr>
          <p:cNvPr id="22" name="Text 19"/>
          <p:cNvSpPr/>
          <p:nvPr/>
        </p:nvSpPr>
        <p:spPr>
          <a:xfrm>
            <a:off x="6507328" y="3182112"/>
            <a:ext cx="4907128" cy="640080"/>
          </a:xfrm>
          <a:prstGeom prst="rect">
            <a:avLst/>
          </a:prstGeom>
          <a:noFill/>
          <a:ln/>
        </p:spPr>
        <p:txBody>
          <a:bodyPr wrap="square" rtlCol="0" anchor="t"/>
          <a:lstStyle/>
          <a:p>
            <a:pPr marL="0" indent="0">
              <a:lnSpc>
                <a:spcPct val="100000"/>
              </a:lnSpc>
              <a:buNone/>
            </a:pPr>
            <a:r>
              <a:rPr lang="en-US" sz="1150" b="1" dirty="0">
                <a:solidFill>
                  <a:srgbClr val="00A79D"/>
                </a:solidFill>
                <a:latin typeface="Arial" pitchFamily="34" charset="0"/>
                <a:ea typeface="Arial" pitchFamily="34" charset="-122"/>
                <a:cs typeface="Arial" pitchFamily="34" charset="-120"/>
              </a:rPr>
              <a:t>▸ </a:t>
            </a:r>
            <a:r>
              <a:rPr lang="en-US" sz="1150" b="1" dirty="0">
                <a:solidFill>
                  <a:srgbClr val="1D2A5C"/>
                </a:solidFill>
                <a:latin typeface="Arial" pitchFamily="34" charset="0"/>
                <a:ea typeface="Arial" pitchFamily="34" charset="-122"/>
                <a:cs typeface="Arial" pitchFamily="34" charset="-120"/>
              </a:rPr>
              <a:t>Comprehension </a:t>
            </a:r>
            <a:r>
              <a:rPr lang="en-US" sz="1150" dirty="0">
                <a:solidFill>
                  <a:srgbClr val="343A4E"/>
                </a:solidFill>
                <a:latin typeface="Arial" pitchFamily="34" charset="0"/>
                <a:ea typeface="Arial" pitchFamily="34" charset="-122"/>
                <a:cs typeface="Arial" pitchFamily="34" charset="-120"/>
              </a:rPr>
              <a:t>A mis-signalling chart is first a comprehension failure.</a:t>
            </a:r>
            <a:endParaRPr lang="en-US" sz="1150" dirty="0"/>
          </a:p>
        </p:txBody>
      </p:sp>
      <p:sp>
        <p:nvSpPr>
          <p:cNvPr id="23" name="Text 20"/>
          <p:cNvSpPr/>
          <p:nvPr/>
        </p:nvSpPr>
        <p:spPr>
          <a:xfrm>
            <a:off x="6507328" y="3694176"/>
            <a:ext cx="4907128" cy="640080"/>
          </a:xfrm>
          <a:prstGeom prst="rect">
            <a:avLst/>
          </a:prstGeom>
          <a:noFill/>
          <a:ln/>
        </p:spPr>
        <p:txBody>
          <a:bodyPr wrap="square" rtlCol="0" anchor="t"/>
          <a:lstStyle/>
          <a:p>
            <a:pPr marL="0" indent="0">
              <a:lnSpc>
                <a:spcPct val="100000"/>
              </a:lnSpc>
              <a:buNone/>
            </a:pPr>
            <a:r>
              <a:rPr lang="en-US" sz="1150" b="1" dirty="0">
                <a:solidFill>
                  <a:srgbClr val="00A79D"/>
                </a:solidFill>
                <a:latin typeface="Arial" pitchFamily="34" charset="0"/>
                <a:ea typeface="Arial" pitchFamily="34" charset="-122"/>
                <a:cs typeface="Arial" pitchFamily="34" charset="-120"/>
              </a:rPr>
              <a:t>▸ </a:t>
            </a:r>
            <a:r>
              <a:rPr lang="en-US" sz="1150" b="1" dirty="0">
                <a:solidFill>
                  <a:srgbClr val="1D2A5C"/>
                </a:solidFill>
                <a:latin typeface="Arial" pitchFamily="34" charset="0"/>
                <a:ea typeface="Arial" pitchFamily="34" charset="-122"/>
                <a:cs typeface="Arial" pitchFamily="34" charset="-120"/>
              </a:rPr>
              <a:t>Compliance </a:t>
            </a:r>
            <a:r>
              <a:rPr lang="en-US" sz="1150" dirty="0">
                <a:solidFill>
                  <a:srgbClr val="343A4E"/>
                </a:solidFill>
                <a:latin typeface="Arial" pitchFamily="34" charset="0"/>
                <a:ea typeface="Arial" pitchFamily="34" charset="-122"/>
                <a:cs typeface="Arial" pitchFamily="34" charset="-120"/>
              </a:rPr>
              <a:t>In gov and banking it is increasingly a compliance failure too.</a:t>
            </a:r>
            <a:endParaRPr lang="en-US" sz="1150" dirty="0"/>
          </a:p>
        </p:txBody>
      </p:sp>
      <p:sp>
        <p:nvSpPr>
          <p:cNvPr id="24" name="Text 21"/>
          <p:cNvSpPr/>
          <p:nvPr/>
        </p:nvSpPr>
        <p:spPr>
          <a:xfrm>
            <a:off x="6507328" y="4407408"/>
            <a:ext cx="4907128" cy="640080"/>
          </a:xfrm>
          <a:prstGeom prst="rect">
            <a:avLst/>
          </a:prstGeom>
          <a:noFill/>
          <a:ln/>
        </p:spPr>
        <p:txBody>
          <a:bodyPr wrap="square" rtlCol="0" anchor="t"/>
          <a:lstStyle/>
          <a:p>
            <a:pPr marL="0" indent="0">
              <a:lnSpc>
                <a:spcPct val="100000"/>
              </a:lnSpc>
              <a:buNone/>
            </a:pPr>
            <a:r>
              <a:rPr lang="en-US" sz="1150" b="1" dirty="0">
                <a:solidFill>
                  <a:srgbClr val="00A79D"/>
                </a:solidFill>
                <a:latin typeface="Arial" pitchFamily="34" charset="0"/>
                <a:ea typeface="Arial" pitchFamily="34" charset="-122"/>
                <a:cs typeface="Arial" pitchFamily="34" charset="-120"/>
              </a:rPr>
              <a:t>▸ </a:t>
            </a:r>
            <a:r>
              <a:rPr lang="en-US" sz="1150" b="1" dirty="0">
                <a:solidFill>
                  <a:srgbClr val="1D2A5C"/>
                </a:solidFill>
                <a:latin typeface="Arial" pitchFamily="34" charset="0"/>
                <a:ea typeface="Arial" pitchFamily="34" charset="-122"/>
                <a:cs typeface="Arial" pitchFamily="34" charset="-120"/>
              </a:rPr>
              <a:t>Survives forwarding </a:t>
            </a:r>
            <a:r>
              <a:rPr lang="en-US" sz="1150" dirty="0">
                <a:solidFill>
                  <a:srgbClr val="343A4E"/>
                </a:solidFill>
                <a:latin typeface="Arial" pitchFamily="34" charset="0"/>
                <a:ea typeface="Arial" pitchFamily="34" charset="-122"/>
                <a:cs typeface="Arial" pitchFamily="34" charset="-120"/>
              </a:rPr>
              <a:t>Annotation lets a chart travel without its presenter.</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INDUSTRY USE CASES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Where colour and annotation decide the read</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76</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marL="0" indent="0" algn="ctr">
              <a:buNone/>
            </a:pPr>
            <a:r>
              <a:rPr lang="en-US" sz="1000" b="1" dirty="0">
                <a:solidFill>
                  <a:srgbClr val="2E5AAC"/>
                </a:solidFill>
                <a:latin typeface="Arial" pitchFamily="34" charset="0"/>
                <a:ea typeface="Arial" pitchFamily="34" charset="-122"/>
                <a:cs typeface="Arial" pitchFamily="34" charset="-120"/>
              </a:rPr>
              <a:t>Exec</a:t>
            </a:r>
            <a:endParaRPr lang="en-US" sz="1000" dirty="0"/>
          </a:p>
        </p:txBody>
      </p:sp>
      <p:sp>
        <p:nvSpPr>
          <p:cNvPr id="18" name="Text 15"/>
          <p:cNvSpPr/>
          <p:nvPr/>
        </p:nvSpPr>
        <p:spPr>
          <a:xfrm>
            <a:off x="731520"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Executive scorecard</a:t>
            </a:r>
            <a:endParaRPr lang="en-US" sz="1300" dirty="0"/>
          </a:p>
        </p:txBody>
      </p:sp>
      <p:sp>
        <p:nvSpPr>
          <p:cNvPr id="19" name="Text 16"/>
          <p:cNvSpPr/>
          <p:nvPr/>
        </p:nvSpPr>
        <p:spPr>
          <a:xfrm>
            <a:off x="731520"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One accent colour for 'needs attention', grey for everything else, so the eye lands on the exception.</a:t>
            </a:r>
            <a:endParaRPr lang="en-US" sz="1050" dirty="0"/>
          </a:p>
        </p:txBody>
      </p:sp>
      <p:sp>
        <p:nvSpPr>
          <p:cNvPr id="20" name="Shape 17"/>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21" name="Shape 18"/>
          <p:cNvSpPr/>
          <p:nvPr/>
        </p:nvSpPr>
        <p:spPr>
          <a:xfrm>
            <a:off x="4338218" y="2066544"/>
            <a:ext cx="3515258" cy="82296"/>
          </a:xfrm>
          <a:prstGeom prst="rect">
            <a:avLst/>
          </a:prstGeom>
          <a:solidFill>
            <a:srgbClr val="00A79D"/>
          </a:solidFill>
          <a:ln/>
        </p:spPr>
      </p:sp>
      <p:sp>
        <p:nvSpPr>
          <p:cNvPr id="22" name="Shape 19"/>
          <p:cNvSpPr/>
          <p:nvPr/>
        </p:nvSpPr>
        <p:spPr>
          <a:xfrm>
            <a:off x="4521098" y="2249424"/>
            <a:ext cx="822960" cy="292608"/>
          </a:xfrm>
          <a:prstGeom prst="roundRect">
            <a:avLst>
              <a:gd name="adj" fmla="val 18750"/>
            </a:avLst>
          </a:prstGeom>
          <a:solidFill>
            <a:srgbClr val="E6F5F4"/>
          </a:solidFill>
          <a:ln/>
        </p:spPr>
      </p:sp>
      <p:sp>
        <p:nvSpPr>
          <p:cNvPr id="23" name="Text 20"/>
          <p:cNvSpPr/>
          <p:nvPr/>
        </p:nvSpPr>
        <p:spPr>
          <a:xfrm>
            <a:off x="4521098" y="2249424"/>
            <a:ext cx="822960" cy="292608"/>
          </a:xfrm>
          <a:prstGeom prst="rect">
            <a:avLst/>
          </a:prstGeom>
          <a:noFill/>
          <a:ln/>
        </p:spPr>
        <p:txBody>
          <a:bodyPr wrap="square" rtlCol="0" anchor="ctr"/>
          <a:lstStyle/>
          <a:p>
            <a:pPr marL="0" indent="0" algn="ctr">
              <a:buNone/>
            </a:pPr>
            <a:r>
              <a:rPr lang="en-US" sz="1000" b="1" dirty="0">
                <a:solidFill>
                  <a:srgbClr val="00A79D"/>
                </a:solidFill>
                <a:latin typeface="Arial" pitchFamily="34" charset="0"/>
                <a:ea typeface="Arial" pitchFamily="34" charset="-122"/>
                <a:cs typeface="Arial" pitchFamily="34" charset="-120"/>
              </a:rPr>
              <a:t>Gov</a:t>
            </a:r>
            <a:endParaRPr lang="en-US" sz="1000" dirty="0"/>
          </a:p>
        </p:txBody>
      </p:sp>
      <p:sp>
        <p:nvSpPr>
          <p:cNvPr id="24" name="Text 21"/>
          <p:cNvSpPr/>
          <p:nvPr/>
        </p:nvSpPr>
        <p:spPr>
          <a:xfrm>
            <a:off x="4521098"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Vision 2030 progress chart</a:t>
            </a:r>
            <a:endParaRPr lang="en-US" sz="1300" dirty="0"/>
          </a:p>
        </p:txBody>
      </p:sp>
      <p:sp>
        <p:nvSpPr>
          <p:cNvPr id="25" name="Text 22"/>
          <p:cNvSpPr/>
          <p:nvPr/>
        </p:nvSpPr>
        <p:spPr>
          <a:xfrm>
            <a:off x="4521098"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Public-facing, must be colour-blind-safe and readable in both Arabic and English.</a:t>
            </a:r>
            <a:endParaRPr lang="en-US" sz="1050" dirty="0"/>
          </a:p>
        </p:txBody>
      </p:sp>
      <p:sp>
        <p:nvSpPr>
          <p:cNvPr id="26" name="Shape 23"/>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7" name="Shape 24"/>
          <p:cNvSpPr/>
          <p:nvPr/>
        </p:nvSpPr>
        <p:spPr>
          <a:xfrm>
            <a:off x="8127797" y="2066544"/>
            <a:ext cx="3515258" cy="82296"/>
          </a:xfrm>
          <a:prstGeom prst="rect">
            <a:avLst/>
          </a:prstGeom>
          <a:solidFill>
            <a:srgbClr val="E8833A"/>
          </a:solidFill>
          <a:ln/>
        </p:spPr>
      </p:sp>
      <p:sp>
        <p:nvSpPr>
          <p:cNvPr id="28" name="Shape 25"/>
          <p:cNvSpPr/>
          <p:nvPr/>
        </p:nvSpPr>
        <p:spPr>
          <a:xfrm>
            <a:off x="8310677" y="2249424"/>
            <a:ext cx="822960" cy="292608"/>
          </a:xfrm>
          <a:prstGeom prst="roundRect">
            <a:avLst>
              <a:gd name="adj" fmla="val 18750"/>
            </a:avLst>
          </a:prstGeom>
          <a:solidFill>
            <a:srgbClr val="FCF0E6"/>
          </a:solidFill>
          <a:ln/>
        </p:spPr>
      </p:sp>
      <p:sp>
        <p:nvSpPr>
          <p:cNvPr id="29" name="Text 26"/>
          <p:cNvSpPr/>
          <p:nvPr/>
        </p:nvSpPr>
        <p:spPr>
          <a:xfrm>
            <a:off x="8310677" y="2249424"/>
            <a:ext cx="822960" cy="292608"/>
          </a:xfrm>
          <a:prstGeom prst="rect">
            <a:avLst/>
          </a:prstGeom>
          <a:noFill/>
          <a:ln/>
        </p:spPr>
        <p:txBody>
          <a:bodyPr wrap="square" rtlCol="0" anchor="ctr"/>
          <a:lstStyle/>
          <a:p>
            <a:pPr marL="0" indent="0" algn="ctr">
              <a:buNone/>
            </a:pPr>
            <a:r>
              <a:rPr lang="en-US" sz="1000" b="1" dirty="0">
                <a:solidFill>
                  <a:srgbClr val="E8833A"/>
                </a:solidFill>
                <a:latin typeface="Arial" pitchFamily="34" charset="0"/>
                <a:ea typeface="Arial" pitchFamily="34" charset="-122"/>
                <a:cs typeface="Arial" pitchFamily="34" charset="-120"/>
              </a:rPr>
              <a:t>Ops</a:t>
            </a:r>
            <a:endParaRPr lang="en-US" sz="1000" dirty="0"/>
          </a:p>
        </p:txBody>
      </p:sp>
      <p:sp>
        <p:nvSpPr>
          <p:cNvPr id="30" name="Text 27"/>
          <p:cNvSpPr/>
          <p:nvPr/>
        </p:nvSpPr>
        <p:spPr>
          <a:xfrm>
            <a:off x="8310677"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Monitoring dashboard</a:t>
            </a:r>
            <a:endParaRPr lang="en-US" sz="1300" dirty="0"/>
          </a:p>
        </p:txBody>
      </p:sp>
      <p:sp>
        <p:nvSpPr>
          <p:cNvPr id="31" name="Text 28"/>
          <p:cNvSpPr/>
          <p:nvPr/>
        </p:nvSpPr>
        <p:spPr>
          <a:xfrm>
            <a:off x="8310677"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 diverging palette centred on the SLA target makes 'above/below' pre-attentive.</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EXPECTED COMPETENCIES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What a participant can do after Module 3</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77</a:t>
            </a:r>
            <a:endParaRPr lang="en-US" sz="800" dirty="0"/>
          </a:p>
        </p:txBody>
      </p:sp>
      <p:sp>
        <p:nvSpPr>
          <p:cNvPr id="14" name="Shape 11"/>
          <p:cNvSpPr/>
          <p:nvPr/>
        </p:nvSpPr>
        <p:spPr>
          <a:xfrm>
            <a:off x="548640" y="2121408"/>
            <a:ext cx="100584" cy="420624"/>
          </a:xfrm>
          <a:prstGeom prst="rect">
            <a:avLst/>
          </a:prstGeom>
          <a:solidFill>
            <a:srgbClr val="2E5AAC"/>
          </a:solidFill>
          <a:ln/>
        </p:spPr>
      </p:sp>
      <p:sp>
        <p:nvSpPr>
          <p:cNvPr id="15" name="Text 12"/>
          <p:cNvSpPr/>
          <p:nvPr/>
        </p:nvSpPr>
        <p:spPr>
          <a:xfrm>
            <a:off x="804672" y="206654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Choose palette:  </a:t>
            </a:r>
            <a:r>
              <a:rPr lang="en-US" sz="1250" dirty="0">
                <a:solidFill>
                  <a:srgbClr val="343A4E"/>
                </a:solidFill>
                <a:latin typeface="Arial" pitchFamily="34" charset="0"/>
                <a:ea typeface="Arial" pitchFamily="34" charset="-122"/>
                <a:cs typeface="Arial" pitchFamily="34" charset="-120"/>
              </a:rPr>
              <a:t>Pick categorical, sequential, or diverging by the data type.</a:t>
            </a:r>
            <a:endParaRPr lang="en-US" sz="1250" dirty="0"/>
          </a:p>
        </p:txBody>
      </p:sp>
      <p:sp>
        <p:nvSpPr>
          <p:cNvPr id="16" name="Shape 13"/>
          <p:cNvSpPr/>
          <p:nvPr/>
        </p:nvSpPr>
        <p:spPr>
          <a:xfrm>
            <a:off x="548640" y="2688336"/>
            <a:ext cx="100584" cy="420624"/>
          </a:xfrm>
          <a:prstGeom prst="rect">
            <a:avLst/>
          </a:prstGeom>
          <a:solidFill>
            <a:srgbClr val="00A79D"/>
          </a:solidFill>
          <a:ln/>
        </p:spPr>
      </p:sp>
      <p:sp>
        <p:nvSpPr>
          <p:cNvPr id="17" name="Text 14"/>
          <p:cNvSpPr/>
          <p:nvPr/>
        </p:nvSpPr>
        <p:spPr>
          <a:xfrm>
            <a:off x="804672" y="263347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Build safe palettes:  </a:t>
            </a:r>
            <a:r>
              <a:rPr lang="en-US" sz="1250" dirty="0">
                <a:solidFill>
                  <a:srgbClr val="343A4E"/>
                </a:solidFill>
                <a:latin typeface="Arial" pitchFamily="34" charset="0"/>
                <a:ea typeface="Arial" pitchFamily="34" charset="-122"/>
                <a:cs typeface="Arial" pitchFamily="34" charset="-120"/>
              </a:rPr>
              <a:t>Make colour-blind-safe, accessible, brand-aligned palettes.</a:t>
            </a:r>
            <a:endParaRPr lang="en-US" sz="1250" dirty="0"/>
          </a:p>
        </p:txBody>
      </p:sp>
      <p:sp>
        <p:nvSpPr>
          <p:cNvPr id="18" name="Shape 15"/>
          <p:cNvSpPr/>
          <p:nvPr/>
        </p:nvSpPr>
        <p:spPr>
          <a:xfrm>
            <a:off x="548640" y="3255264"/>
            <a:ext cx="100584" cy="420624"/>
          </a:xfrm>
          <a:prstGeom prst="rect">
            <a:avLst/>
          </a:prstGeom>
          <a:solidFill>
            <a:srgbClr val="E8833A"/>
          </a:solidFill>
          <a:ln/>
        </p:spPr>
      </p:sp>
      <p:sp>
        <p:nvSpPr>
          <p:cNvPr id="19" name="Text 16"/>
          <p:cNvSpPr/>
          <p:nvPr/>
        </p:nvSpPr>
        <p:spPr>
          <a:xfrm>
            <a:off x="804672" y="320040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State the takeaway:  </a:t>
            </a:r>
            <a:r>
              <a:rPr lang="en-US" sz="1250" dirty="0">
                <a:solidFill>
                  <a:srgbClr val="343A4E"/>
                </a:solidFill>
                <a:latin typeface="Arial" pitchFamily="34" charset="0"/>
                <a:ea typeface="Arial" pitchFamily="34" charset="-122"/>
                <a:cs typeface="Arial" pitchFamily="34" charset="-120"/>
              </a:rPr>
              <a:t>Apply annotation to put the conclusion on the chart.</a:t>
            </a:r>
            <a:endParaRPr lang="en-US" sz="1250" dirty="0"/>
          </a:p>
        </p:txBody>
      </p:sp>
      <p:sp>
        <p:nvSpPr>
          <p:cNvPr id="20" name="Shape 17"/>
          <p:cNvSpPr/>
          <p:nvPr/>
        </p:nvSpPr>
        <p:spPr>
          <a:xfrm>
            <a:off x="548640" y="3822192"/>
            <a:ext cx="100584" cy="420624"/>
          </a:xfrm>
          <a:prstGeom prst="rect">
            <a:avLst/>
          </a:prstGeom>
          <a:solidFill>
            <a:srgbClr val="6C4FA1"/>
          </a:solidFill>
          <a:ln/>
        </p:spPr>
      </p:sp>
      <p:sp>
        <p:nvSpPr>
          <p:cNvPr id="21" name="Text 18"/>
          <p:cNvSpPr/>
          <p:nvPr/>
        </p:nvSpPr>
        <p:spPr>
          <a:xfrm>
            <a:off x="804672" y="376732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Raise data-ink:  </a:t>
            </a:r>
            <a:r>
              <a:rPr lang="en-US" sz="1250" dirty="0">
                <a:solidFill>
                  <a:srgbClr val="343A4E"/>
                </a:solidFill>
                <a:latin typeface="Arial" pitchFamily="34" charset="0"/>
                <a:ea typeface="Arial" pitchFamily="34" charset="-122"/>
                <a:cs typeface="Arial" pitchFamily="34" charset="-120"/>
              </a:rPr>
              <a:t>Compute and improve the data-ink ratio.</a:t>
            </a:r>
            <a:endParaRPr lang="en-US" sz="1250" dirty="0"/>
          </a:p>
        </p:txBody>
      </p:sp>
      <p:sp>
        <p:nvSpPr>
          <p:cNvPr id="22" name="Shape 19"/>
          <p:cNvSpPr/>
          <p:nvPr/>
        </p:nvSpPr>
        <p:spPr>
          <a:xfrm>
            <a:off x="548640" y="4389120"/>
            <a:ext cx="100584" cy="420624"/>
          </a:xfrm>
          <a:prstGeom prst="rect">
            <a:avLst/>
          </a:prstGeom>
          <a:solidFill>
            <a:srgbClr val="3FAE5A"/>
          </a:solidFill>
          <a:ln/>
        </p:spPr>
      </p:sp>
      <p:sp>
        <p:nvSpPr>
          <p:cNvPr id="23" name="Text 20"/>
          <p:cNvSpPr/>
          <p:nvPr/>
        </p:nvSpPr>
        <p:spPr>
          <a:xfrm>
            <a:off x="804672" y="4334256"/>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Localise:  </a:t>
            </a:r>
            <a:r>
              <a:rPr lang="en-US" sz="1250" dirty="0">
                <a:solidFill>
                  <a:srgbClr val="343A4E"/>
                </a:solidFill>
                <a:latin typeface="Arial" pitchFamily="34" charset="0"/>
                <a:ea typeface="Arial" pitchFamily="34" charset="-122"/>
                <a:cs typeface="Arial" pitchFamily="34" charset="-120"/>
              </a:rPr>
              <a:t>Handle Arabic/RTL and numeral conventions correctly.</a:t>
            </a:r>
            <a:endParaRPr lang="en-US" sz="12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LEARNING OBJECTIVES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Objectives mapped to course outcomes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78</a:t>
            </a:r>
            <a:endParaRPr lang="en-US" sz="800" dirty="0"/>
          </a:p>
        </p:txBody>
      </p:sp>
      <p:sp>
        <p:nvSpPr>
          <p:cNvPr id="14" name="Shape 11"/>
          <p:cNvSpPr/>
          <p:nvPr/>
        </p:nvSpPr>
        <p:spPr>
          <a:xfrm>
            <a:off x="548640" y="2103120"/>
            <a:ext cx="11094415" cy="640080"/>
          </a:xfrm>
          <a:prstGeom prst="roundRect">
            <a:avLst>
              <a:gd name="adj" fmla="val 8571"/>
            </a:avLst>
          </a:prstGeom>
          <a:solidFill>
            <a:srgbClr val="FFFFFF"/>
          </a:solidFill>
          <a:ln w="9525">
            <a:solidFill>
              <a:srgbClr val="D9DEE8"/>
            </a:solidFill>
            <a:prstDash val="solid"/>
          </a:ln>
        </p:spPr>
      </p:sp>
      <p:sp>
        <p:nvSpPr>
          <p:cNvPr id="15" name="Shape 12"/>
          <p:cNvSpPr/>
          <p:nvPr/>
        </p:nvSpPr>
        <p:spPr>
          <a:xfrm>
            <a:off x="658368" y="2194560"/>
            <a:ext cx="658368" cy="457200"/>
          </a:xfrm>
          <a:prstGeom prst="roundRect">
            <a:avLst>
              <a:gd name="adj" fmla="val 10000"/>
            </a:avLst>
          </a:prstGeom>
          <a:solidFill>
            <a:srgbClr val="2E5AAC"/>
          </a:solidFill>
          <a:ln/>
        </p:spPr>
      </p:sp>
      <p:sp>
        <p:nvSpPr>
          <p:cNvPr id="16" name="Text 13"/>
          <p:cNvSpPr/>
          <p:nvPr/>
        </p:nvSpPr>
        <p:spPr>
          <a:xfrm>
            <a:off x="658368" y="2194560"/>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3.1</a:t>
            </a:r>
            <a:endParaRPr lang="en-US" sz="1200" dirty="0"/>
          </a:p>
        </p:txBody>
      </p:sp>
      <p:sp>
        <p:nvSpPr>
          <p:cNvPr id="17" name="Text 14"/>
          <p:cNvSpPr/>
          <p:nvPr/>
        </p:nvSpPr>
        <p:spPr>
          <a:xfrm>
            <a:off x="1463040" y="2066544"/>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Choose the correct palette type (categorical/sequential/diverging) for the data</a:t>
            </a:r>
            <a:endParaRPr lang="en-US" sz="1200" dirty="0"/>
          </a:p>
        </p:txBody>
      </p:sp>
      <p:sp>
        <p:nvSpPr>
          <p:cNvPr id="18" name="Shape 15"/>
          <p:cNvSpPr/>
          <p:nvPr/>
        </p:nvSpPr>
        <p:spPr>
          <a:xfrm>
            <a:off x="10317175" y="2276856"/>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76856"/>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
        <p:nvSpPr>
          <p:cNvPr id="20" name="Shape 17"/>
          <p:cNvSpPr/>
          <p:nvPr/>
        </p:nvSpPr>
        <p:spPr>
          <a:xfrm>
            <a:off x="548640" y="2852928"/>
            <a:ext cx="11094415" cy="640080"/>
          </a:xfrm>
          <a:prstGeom prst="roundRect">
            <a:avLst>
              <a:gd name="adj" fmla="val 8571"/>
            </a:avLst>
          </a:prstGeom>
          <a:solidFill>
            <a:srgbClr val="F4F6FB"/>
          </a:solidFill>
          <a:ln w="9525">
            <a:solidFill>
              <a:srgbClr val="D9DEE8"/>
            </a:solidFill>
            <a:prstDash val="solid"/>
          </a:ln>
        </p:spPr>
      </p:sp>
      <p:sp>
        <p:nvSpPr>
          <p:cNvPr id="21" name="Shape 18"/>
          <p:cNvSpPr/>
          <p:nvPr/>
        </p:nvSpPr>
        <p:spPr>
          <a:xfrm>
            <a:off x="658368" y="2944368"/>
            <a:ext cx="658368" cy="457200"/>
          </a:xfrm>
          <a:prstGeom prst="roundRect">
            <a:avLst>
              <a:gd name="adj" fmla="val 10000"/>
            </a:avLst>
          </a:prstGeom>
          <a:solidFill>
            <a:srgbClr val="00A79D"/>
          </a:solidFill>
          <a:ln/>
        </p:spPr>
      </p:sp>
      <p:sp>
        <p:nvSpPr>
          <p:cNvPr id="22" name="Text 19"/>
          <p:cNvSpPr/>
          <p:nvPr/>
        </p:nvSpPr>
        <p:spPr>
          <a:xfrm>
            <a:off x="658368" y="2944368"/>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3.2</a:t>
            </a:r>
            <a:endParaRPr lang="en-US" sz="1200" dirty="0"/>
          </a:p>
        </p:txBody>
      </p:sp>
      <p:sp>
        <p:nvSpPr>
          <p:cNvPr id="23" name="Text 20"/>
          <p:cNvSpPr/>
          <p:nvPr/>
        </p:nvSpPr>
        <p:spPr>
          <a:xfrm>
            <a:off x="1463040" y="2816352"/>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Build colour-blind-safe, accessible, brand-aligned palettes</a:t>
            </a:r>
            <a:endParaRPr lang="en-US" sz="1200" dirty="0"/>
          </a:p>
        </p:txBody>
      </p:sp>
      <p:sp>
        <p:nvSpPr>
          <p:cNvPr id="24" name="Shape 21"/>
          <p:cNvSpPr/>
          <p:nvPr/>
        </p:nvSpPr>
        <p:spPr>
          <a:xfrm>
            <a:off x="10317175" y="3026664"/>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3026664"/>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
        <p:nvSpPr>
          <p:cNvPr id="26" name="Shape 23"/>
          <p:cNvSpPr/>
          <p:nvPr/>
        </p:nvSpPr>
        <p:spPr>
          <a:xfrm>
            <a:off x="548640" y="3602736"/>
            <a:ext cx="11094415" cy="640080"/>
          </a:xfrm>
          <a:prstGeom prst="roundRect">
            <a:avLst>
              <a:gd name="adj" fmla="val 8571"/>
            </a:avLst>
          </a:prstGeom>
          <a:solidFill>
            <a:srgbClr val="FFFFFF"/>
          </a:solidFill>
          <a:ln w="9525">
            <a:solidFill>
              <a:srgbClr val="D9DEE8"/>
            </a:solidFill>
            <a:prstDash val="solid"/>
          </a:ln>
        </p:spPr>
      </p:sp>
      <p:sp>
        <p:nvSpPr>
          <p:cNvPr id="27" name="Shape 24"/>
          <p:cNvSpPr/>
          <p:nvPr/>
        </p:nvSpPr>
        <p:spPr>
          <a:xfrm>
            <a:off x="658368" y="3694176"/>
            <a:ext cx="658368" cy="457200"/>
          </a:xfrm>
          <a:prstGeom prst="roundRect">
            <a:avLst>
              <a:gd name="adj" fmla="val 10000"/>
            </a:avLst>
          </a:prstGeom>
          <a:solidFill>
            <a:srgbClr val="E8833A"/>
          </a:solidFill>
          <a:ln/>
        </p:spPr>
      </p:sp>
      <p:sp>
        <p:nvSpPr>
          <p:cNvPr id="28" name="Text 25"/>
          <p:cNvSpPr/>
          <p:nvPr/>
        </p:nvSpPr>
        <p:spPr>
          <a:xfrm>
            <a:off x="658368" y="3694176"/>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3.3</a:t>
            </a:r>
            <a:endParaRPr lang="en-US" sz="1200" dirty="0"/>
          </a:p>
        </p:txBody>
      </p:sp>
      <p:sp>
        <p:nvSpPr>
          <p:cNvPr id="29" name="Text 26"/>
          <p:cNvSpPr/>
          <p:nvPr/>
        </p:nvSpPr>
        <p:spPr>
          <a:xfrm>
            <a:off x="1463040" y="3566160"/>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Use annotation to make a chart's argument explicit</a:t>
            </a:r>
            <a:endParaRPr lang="en-US" sz="1200" dirty="0"/>
          </a:p>
        </p:txBody>
      </p:sp>
      <p:sp>
        <p:nvSpPr>
          <p:cNvPr id="30" name="Shape 27"/>
          <p:cNvSpPr/>
          <p:nvPr/>
        </p:nvSpPr>
        <p:spPr>
          <a:xfrm>
            <a:off x="10317175" y="377647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776472"/>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LO2, LO4</a:t>
            </a:r>
            <a:endParaRPr lang="en-US" sz="950" dirty="0"/>
          </a:p>
        </p:txBody>
      </p:sp>
      <p:sp>
        <p:nvSpPr>
          <p:cNvPr id="32" name="Shape 29"/>
          <p:cNvSpPr/>
          <p:nvPr/>
        </p:nvSpPr>
        <p:spPr>
          <a:xfrm>
            <a:off x="548640" y="4352544"/>
            <a:ext cx="11094415" cy="640080"/>
          </a:xfrm>
          <a:prstGeom prst="roundRect">
            <a:avLst>
              <a:gd name="adj" fmla="val 8571"/>
            </a:avLst>
          </a:prstGeom>
          <a:solidFill>
            <a:srgbClr val="F4F6FB"/>
          </a:solidFill>
          <a:ln w="9525">
            <a:solidFill>
              <a:srgbClr val="D9DEE8"/>
            </a:solidFill>
            <a:prstDash val="solid"/>
          </a:ln>
        </p:spPr>
      </p:sp>
      <p:sp>
        <p:nvSpPr>
          <p:cNvPr id="33" name="Shape 30"/>
          <p:cNvSpPr/>
          <p:nvPr/>
        </p:nvSpPr>
        <p:spPr>
          <a:xfrm>
            <a:off x="658368" y="4443984"/>
            <a:ext cx="658368" cy="457200"/>
          </a:xfrm>
          <a:prstGeom prst="roundRect">
            <a:avLst>
              <a:gd name="adj" fmla="val 10000"/>
            </a:avLst>
          </a:prstGeom>
          <a:solidFill>
            <a:srgbClr val="6C4FA1"/>
          </a:solidFill>
          <a:ln/>
        </p:spPr>
      </p:sp>
      <p:sp>
        <p:nvSpPr>
          <p:cNvPr id="34" name="Text 31"/>
          <p:cNvSpPr/>
          <p:nvPr/>
        </p:nvSpPr>
        <p:spPr>
          <a:xfrm>
            <a:off x="658368" y="4443984"/>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3.4</a:t>
            </a:r>
            <a:endParaRPr lang="en-US" sz="1200" dirty="0"/>
          </a:p>
        </p:txBody>
      </p:sp>
      <p:sp>
        <p:nvSpPr>
          <p:cNvPr id="35" name="Text 32"/>
          <p:cNvSpPr/>
          <p:nvPr/>
        </p:nvSpPr>
        <p:spPr>
          <a:xfrm>
            <a:off x="1463040" y="4315968"/>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Increase the data-ink ratio by removing non-data ink</a:t>
            </a:r>
            <a:endParaRPr lang="en-US" sz="1200" dirty="0"/>
          </a:p>
        </p:txBody>
      </p:sp>
      <p:sp>
        <p:nvSpPr>
          <p:cNvPr id="36" name="Shape 33"/>
          <p:cNvSpPr/>
          <p:nvPr/>
        </p:nvSpPr>
        <p:spPr>
          <a:xfrm>
            <a:off x="10317175" y="4526280"/>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526280"/>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
        <p:nvSpPr>
          <p:cNvPr id="38" name="Shape 35"/>
          <p:cNvSpPr/>
          <p:nvPr/>
        </p:nvSpPr>
        <p:spPr>
          <a:xfrm>
            <a:off x="548640" y="5102352"/>
            <a:ext cx="11094415" cy="640080"/>
          </a:xfrm>
          <a:prstGeom prst="roundRect">
            <a:avLst>
              <a:gd name="adj" fmla="val 8571"/>
            </a:avLst>
          </a:prstGeom>
          <a:solidFill>
            <a:srgbClr val="FFFFFF"/>
          </a:solidFill>
          <a:ln w="9525">
            <a:solidFill>
              <a:srgbClr val="D9DEE8"/>
            </a:solidFill>
            <a:prstDash val="solid"/>
          </a:ln>
        </p:spPr>
      </p:sp>
      <p:sp>
        <p:nvSpPr>
          <p:cNvPr id="39" name="Shape 36"/>
          <p:cNvSpPr/>
          <p:nvPr/>
        </p:nvSpPr>
        <p:spPr>
          <a:xfrm>
            <a:off x="658368" y="5193792"/>
            <a:ext cx="658368" cy="457200"/>
          </a:xfrm>
          <a:prstGeom prst="roundRect">
            <a:avLst>
              <a:gd name="adj" fmla="val 10000"/>
            </a:avLst>
          </a:prstGeom>
          <a:solidFill>
            <a:srgbClr val="3FAE5A"/>
          </a:solidFill>
          <a:ln/>
        </p:spPr>
      </p:sp>
      <p:sp>
        <p:nvSpPr>
          <p:cNvPr id="40" name="Text 37"/>
          <p:cNvSpPr/>
          <p:nvPr/>
        </p:nvSpPr>
        <p:spPr>
          <a:xfrm>
            <a:off x="658368" y="5193792"/>
            <a:ext cx="658368" cy="45720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3.5</a:t>
            </a:r>
            <a:endParaRPr lang="en-US" sz="1200" dirty="0"/>
          </a:p>
        </p:txBody>
      </p:sp>
      <p:sp>
        <p:nvSpPr>
          <p:cNvPr id="41" name="Text 38"/>
          <p:cNvSpPr/>
          <p:nvPr/>
        </p:nvSpPr>
        <p:spPr>
          <a:xfrm>
            <a:off x="1463040" y="5065776"/>
            <a:ext cx="8716975" cy="749808"/>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Apply Arabic/RTL layout and numeral conventions correctly</a:t>
            </a:r>
            <a:endParaRPr lang="en-US" sz="1200" dirty="0"/>
          </a:p>
        </p:txBody>
      </p:sp>
      <p:sp>
        <p:nvSpPr>
          <p:cNvPr id="42" name="Shape 39"/>
          <p:cNvSpPr/>
          <p:nvPr/>
        </p:nvSpPr>
        <p:spPr>
          <a:xfrm>
            <a:off x="10317175" y="5276088"/>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5276088"/>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LO2</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COLOUR AS MEANING</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Three palette families — choose by data type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79</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00" dirty="0">
                <a:solidFill>
                  <a:srgbClr val="343A4E"/>
                </a:solidFill>
                <a:latin typeface="Arial" pitchFamily="34" charset="0"/>
                <a:ea typeface="Arial" pitchFamily="34" charset="-122"/>
                <a:cs typeface="Arial" pitchFamily="34" charset="-120"/>
              </a:rPr>
              <a:t>Colour must be chosen by the data type, not by aesthetics. There are exactly three families, and the wrong one lies to the reader.</a:t>
            </a:r>
            <a:endParaRPr lang="en-US" sz="12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11064240" cy="1847088"/>
        </p:xfrm>
        <a:graphic>
          <a:graphicData uri="http://schemas.openxmlformats.org/drawingml/2006/table">
            <a:tbl>
              <a:tblPr/>
              <a:tblGrid>
                <a:gridCol w="29260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Data type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Palette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Failure if wrong</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Categorical (regions)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Distinct hues, ≤ 7</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 sequential palette implies false order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Sequential (0 → high)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One hue, light → dark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 rainbow invents false category breaks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Diverging (below ↔ above)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Two hues from neutral centre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 sequential palette hides the midpoint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Text 12"/>
          <p:cNvSpPr/>
          <p:nvPr/>
        </p:nvSpPr>
        <p:spPr>
          <a:xfrm>
            <a:off x="548640" y="4480560"/>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Centre a diverging palette on the meaningful value — for Tayseer cost, the neutral sits at the target, not the mean.</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ACCESSIBILITY &amp; BRAND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Colour must be accessible and disciplined</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80</a:t>
            </a:r>
            <a:endParaRPr lang="en-US" sz="800" dirty="0"/>
          </a:p>
        </p:txBody>
      </p:sp>
      <p:sp>
        <p:nvSpPr>
          <p:cNvPr id="14" name="Shape 11"/>
          <p:cNvSpPr/>
          <p:nvPr/>
        </p:nvSpPr>
        <p:spPr>
          <a:xfrm>
            <a:off x="548640" y="2066544"/>
            <a:ext cx="5410048" cy="1865376"/>
          </a:xfrm>
          <a:prstGeom prst="roundRect">
            <a:avLst>
              <a:gd name="adj" fmla="val 3922"/>
            </a:avLst>
          </a:prstGeom>
          <a:solidFill>
            <a:srgbClr val="FFFFFF"/>
          </a:solidFill>
          <a:ln w="12700">
            <a:solidFill>
              <a:srgbClr val="D9DEE8"/>
            </a:solidFill>
            <a:prstDash val="solid"/>
          </a:ln>
        </p:spPr>
      </p:sp>
      <p:sp>
        <p:nvSpPr>
          <p:cNvPr id="15" name="Shape 12"/>
          <p:cNvSpPr/>
          <p:nvPr/>
        </p:nvSpPr>
        <p:spPr>
          <a:xfrm>
            <a:off x="548640" y="2066544"/>
            <a:ext cx="541004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marL="0" indent="0" algn="ctr">
              <a:buNone/>
            </a:pPr>
            <a:r>
              <a:rPr lang="en-US" sz="1000" b="1" dirty="0">
                <a:solidFill>
                  <a:srgbClr val="2E5AAC"/>
                </a:solidFill>
                <a:latin typeface="Arial" pitchFamily="34" charset="0"/>
                <a:ea typeface="Arial" pitchFamily="34" charset="-122"/>
                <a:cs typeface="Arial" pitchFamily="34" charset="-120"/>
              </a:rPr>
              <a:t>~8%</a:t>
            </a:r>
            <a:endParaRPr lang="en-US" sz="1000" dirty="0"/>
          </a:p>
        </p:txBody>
      </p:sp>
      <p:sp>
        <p:nvSpPr>
          <p:cNvPr id="18" name="Text 15"/>
          <p:cNvSpPr/>
          <p:nvPr/>
        </p:nvSpPr>
        <p:spPr>
          <a:xfrm>
            <a:off x="731520" y="2633472"/>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Colour-blind safety</a:t>
            </a:r>
            <a:endParaRPr lang="en-US" sz="1300" dirty="0"/>
          </a:p>
        </p:txBody>
      </p:sp>
      <p:sp>
        <p:nvSpPr>
          <p:cNvPr id="19" name="Text 16"/>
          <p:cNvSpPr/>
          <p:nvPr/>
        </p:nvSpPr>
        <p:spPr>
          <a:xfrm>
            <a:off x="731520" y="2999232"/>
            <a:ext cx="5044288" cy="822960"/>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~8% of men have red-green deficiency. Never encode by red-vs-green alone; add position, shape, or label, or use Okabe–Ito or viridis. Test with a simulator.</a:t>
            </a:r>
            <a:endParaRPr lang="en-US" sz="1050" dirty="0"/>
          </a:p>
        </p:txBody>
      </p:sp>
      <p:sp>
        <p:nvSpPr>
          <p:cNvPr id="20" name="Shape 17"/>
          <p:cNvSpPr/>
          <p:nvPr/>
        </p:nvSpPr>
        <p:spPr>
          <a:xfrm>
            <a:off x="6233008" y="2066544"/>
            <a:ext cx="5410048" cy="1865376"/>
          </a:xfrm>
          <a:prstGeom prst="roundRect">
            <a:avLst>
              <a:gd name="adj" fmla="val 3922"/>
            </a:avLst>
          </a:prstGeom>
          <a:solidFill>
            <a:srgbClr val="FFFFFF"/>
          </a:solidFill>
          <a:ln w="12700">
            <a:solidFill>
              <a:srgbClr val="D9DEE8"/>
            </a:solidFill>
            <a:prstDash val="solid"/>
          </a:ln>
        </p:spPr>
      </p:sp>
      <p:sp>
        <p:nvSpPr>
          <p:cNvPr id="21" name="Shape 18"/>
          <p:cNvSpPr/>
          <p:nvPr/>
        </p:nvSpPr>
        <p:spPr>
          <a:xfrm>
            <a:off x="6233008" y="2066544"/>
            <a:ext cx="5410048" cy="82296"/>
          </a:xfrm>
          <a:prstGeom prst="rect">
            <a:avLst/>
          </a:prstGeom>
          <a:solidFill>
            <a:srgbClr val="00A79D"/>
          </a:solidFill>
          <a:ln/>
        </p:spPr>
      </p:sp>
      <p:sp>
        <p:nvSpPr>
          <p:cNvPr id="22" name="Text 19"/>
          <p:cNvSpPr/>
          <p:nvPr/>
        </p:nvSpPr>
        <p:spPr>
          <a:xfrm>
            <a:off x="6415888" y="224942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Never colour alone</a:t>
            </a:r>
            <a:endParaRPr lang="en-US" sz="1300" dirty="0"/>
          </a:p>
        </p:txBody>
      </p:sp>
      <p:sp>
        <p:nvSpPr>
          <p:cNvPr id="23" name="Text 20"/>
          <p:cNvSpPr/>
          <p:nvPr/>
        </p:nvSpPr>
        <p:spPr>
          <a:xfrm>
            <a:off x="6415888" y="261518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Colour must be redundant with another cue for any critical distinction — the WCAG principle applied to charts.</a:t>
            </a:r>
            <a:endParaRPr lang="en-US" sz="1050" dirty="0"/>
          </a:p>
        </p:txBody>
      </p:sp>
      <p:sp>
        <p:nvSpPr>
          <p:cNvPr id="24" name="Shape 21"/>
          <p:cNvSpPr/>
          <p:nvPr/>
        </p:nvSpPr>
        <p:spPr>
          <a:xfrm>
            <a:off x="548640" y="4169664"/>
            <a:ext cx="5410048" cy="1865376"/>
          </a:xfrm>
          <a:prstGeom prst="roundRect">
            <a:avLst>
              <a:gd name="adj" fmla="val 3922"/>
            </a:avLst>
          </a:prstGeom>
          <a:solidFill>
            <a:srgbClr val="FFFFFF"/>
          </a:solidFill>
          <a:ln w="12700">
            <a:solidFill>
              <a:srgbClr val="D9DEE8"/>
            </a:solidFill>
            <a:prstDash val="solid"/>
          </a:ln>
        </p:spPr>
      </p:sp>
      <p:sp>
        <p:nvSpPr>
          <p:cNvPr id="25" name="Shape 22"/>
          <p:cNvSpPr/>
          <p:nvPr/>
        </p:nvSpPr>
        <p:spPr>
          <a:xfrm>
            <a:off x="548640" y="4169664"/>
            <a:ext cx="5410048" cy="82296"/>
          </a:xfrm>
          <a:prstGeom prst="rect">
            <a:avLst/>
          </a:prstGeom>
          <a:solidFill>
            <a:srgbClr val="E8833A"/>
          </a:solidFill>
          <a:ln/>
        </p:spPr>
      </p:sp>
      <p:sp>
        <p:nvSpPr>
          <p:cNvPr id="26" name="Text 23"/>
          <p:cNvSpPr/>
          <p:nvPr/>
        </p:nvSpPr>
        <p:spPr>
          <a:xfrm>
            <a:off x="731520" y="43525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Sufficient contrast</a:t>
            </a:r>
            <a:endParaRPr lang="en-US" sz="1300" dirty="0"/>
          </a:p>
        </p:txBody>
      </p:sp>
      <p:sp>
        <p:nvSpPr>
          <p:cNvPr id="27" name="Text 24"/>
          <p:cNvSpPr/>
          <p:nvPr/>
        </p:nvSpPr>
        <p:spPr>
          <a:xfrm>
            <a:off x="731520" y="471830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Text and key marks need enough contrast against the background.</a:t>
            </a:r>
            <a:endParaRPr lang="en-US" sz="1050" dirty="0"/>
          </a:p>
        </p:txBody>
      </p:sp>
      <p:sp>
        <p:nvSpPr>
          <p:cNvPr id="28" name="Shape 25"/>
          <p:cNvSpPr/>
          <p:nvPr/>
        </p:nvSpPr>
        <p:spPr>
          <a:xfrm>
            <a:off x="6233008" y="4169664"/>
            <a:ext cx="5410048" cy="1865376"/>
          </a:xfrm>
          <a:prstGeom prst="roundRect">
            <a:avLst>
              <a:gd name="adj" fmla="val 3922"/>
            </a:avLst>
          </a:prstGeom>
          <a:solidFill>
            <a:srgbClr val="FFFFFF"/>
          </a:solidFill>
          <a:ln w="12700">
            <a:solidFill>
              <a:srgbClr val="D9DEE8"/>
            </a:solidFill>
            <a:prstDash val="solid"/>
          </a:ln>
        </p:spPr>
      </p:sp>
      <p:sp>
        <p:nvSpPr>
          <p:cNvPr id="29" name="Shape 26"/>
          <p:cNvSpPr/>
          <p:nvPr/>
        </p:nvSpPr>
        <p:spPr>
          <a:xfrm>
            <a:off x="6233008" y="4169664"/>
            <a:ext cx="5410048" cy="82296"/>
          </a:xfrm>
          <a:prstGeom prst="rect">
            <a:avLst/>
          </a:prstGeom>
          <a:solidFill>
            <a:srgbClr val="6C4FA1"/>
          </a:solidFill>
          <a:ln/>
        </p:spPr>
      </p:sp>
      <p:sp>
        <p:nvSpPr>
          <p:cNvPr id="30" name="Text 27"/>
          <p:cNvSpPr/>
          <p:nvPr/>
        </p:nvSpPr>
        <p:spPr>
          <a:xfrm>
            <a:off x="6415888" y="43525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Brand ≠ override</a:t>
            </a:r>
            <a:endParaRPr lang="en-US" sz="1300" dirty="0"/>
          </a:p>
        </p:txBody>
      </p:sp>
      <p:sp>
        <p:nvSpPr>
          <p:cNvPr id="31" name="Text 28"/>
          <p:cNvSpPr/>
          <p:nvPr/>
        </p:nvSpPr>
        <p:spPr>
          <a:xfrm>
            <a:off x="6415888" y="471830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Reserve the brand accent for the signal; use greys for context. Don't spend all five brand colours as categories.</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TWO COLOUR LIES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two most common colour lies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81</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Both invent structure the data does not have — and both are everywhere in enterprise reporting.</a:t>
            </a:r>
            <a:endParaRPr lang="en-US" sz="1250" dirty="0"/>
          </a:p>
        </p:txBody>
      </p:sp>
      <p:sp>
        <p:nvSpPr>
          <p:cNvPr id="15" name="Shape 12"/>
          <p:cNvSpPr/>
          <p:nvPr/>
        </p:nvSpPr>
        <p:spPr>
          <a:xfrm>
            <a:off x="548640" y="2569464"/>
            <a:ext cx="5391760" cy="3465576"/>
          </a:xfrm>
          <a:prstGeom prst="roundRect">
            <a:avLst>
              <a:gd name="adj" fmla="val 2639"/>
            </a:avLst>
          </a:prstGeom>
          <a:solidFill>
            <a:srgbClr val="FFFFFF"/>
          </a:solidFill>
          <a:ln w="17780">
            <a:solidFill>
              <a:srgbClr val="2E5AAC"/>
            </a:solidFill>
            <a:prstDash val="solid"/>
          </a:ln>
        </p:spPr>
      </p:sp>
      <p:sp>
        <p:nvSpPr>
          <p:cNvPr id="16" name="Shape 13"/>
          <p:cNvSpPr/>
          <p:nvPr/>
        </p:nvSpPr>
        <p:spPr>
          <a:xfrm>
            <a:off x="548640" y="2569464"/>
            <a:ext cx="5391760" cy="566928"/>
          </a:xfrm>
          <a:prstGeom prst="roundRect">
            <a:avLst>
              <a:gd name="adj" fmla="val 16129"/>
            </a:avLst>
          </a:prstGeom>
          <a:solidFill>
            <a:srgbClr val="2E5AAC"/>
          </a:solidFill>
          <a:ln/>
        </p:spPr>
      </p:sp>
      <p:sp>
        <p:nvSpPr>
          <p:cNvPr id="17" name="Shape 14"/>
          <p:cNvSpPr/>
          <p:nvPr/>
        </p:nvSpPr>
        <p:spPr>
          <a:xfrm>
            <a:off x="548640" y="2852928"/>
            <a:ext cx="5391760" cy="283464"/>
          </a:xfrm>
          <a:prstGeom prst="rect">
            <a:avLst/>
          </a:prstGeom>
          <a:solidFill>
            <a:srgbClr val="2E5AAC"/>
          </a:solidFill>
          <a:ln/>
        </p:spPr>
      </p:sp>
      <p:sp>
        <p:nvSpPr>
          <p:cNvPr id="18" name="Text 15"/>
          <p:cNvSpPr/>
          <p:nvPr/>
        </p:nvSpPr>
        <p:spPr>
          <a:xfrm>
            <a:off x="640080" y="2569464"/>
            <a:ext cx="5208880"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Rainbow on ordered data</a:t>
            </a:r>
            <a:endParaRPr lang="en-US" sz="1400" dirty="0"/>
          </a:p>
        </p:txBody>
      </p:sp>
      <p:sp>
        <p:nvSpPr>
          <p:cNvPr id="19" name="Text 16"/>
          <p:cNvSpPr/>
          <p:nvPr/>
        </p:nvSpPr>
        <p:spPr>
          <a:xfrm>
            <a:off x="749808" y="3300984"/>
            <a:ext cx="5007712"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What happens </a:t>
            </a:r>
            <a:r>
              <a:rPr lang="en-US" sz="1100" dirty="0">
                <a:solidFill>
                  <a:srgbClr val="343A4E"/>
                </a:solidFill>
                <a:latin typeface="Arial" pitchFamily="34" charset="0"/>
                <a:ea typeface="Arial" pitchFamily="34" charset="-122"/>
                <a:cs typeface="Arial" pitchFamily="34" charset="-120"/>
              </a:rPr>
              <a:t>A categorical rainbow is used on sequential data.</a:t>
            </a:r>
            <a:endParaRPr lang="en-US" sz="1100" dirty="0"/>
          </a:p>
        </p:txBody>
      </p:sp>
      <p:sp>
        <p:nvSpPr>
          <p:cNvPr id="20" name="Text 17"/>
          <p:cNvSpPr/>
          <p:nvPr/>
        </p:nvSpPr>
        <p:spPr>
          <a:xfrm>
            <a:off x="749808" y="3776472"/>
            <a:ext cx="5007712"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The lie </a:t>
            </a:r>
            <a:r>
              <a:rPr lang="en-US" sz="1100" dirty="0">
                <a:solidFill>
                  <a:srgbClr val="343A4E"/>
                </a:solidFill>
                <a:latin typeface="Arial" pitchFamily="34" charset="0"/>
                <a:ea typeface="Arial" pitchFamily="34" charset="-122"/>
                <a:cs typeface="Arial" pitchFamily="34" charset="-120"/>
              </a:rPr>
              <a:t>It invents category boundaries the data does not have.</a:t>
            </a:r>
            <a:endParaRPr lang="en-US" sz="1100" dirty="0"/>
          </a:p>
        </p:txBody>
      </p:sp>
      <p:sp>
        <p:nvSpPr>
          <p:cNvPr id="21" name="Text 18"/>
          <p:cNvSpPr/>
          <p:nvPr/>
        </p:nvSpPr>
        <p:spPr>
          <a:xfrm>
            <a:off x="749808" y="4453128"/>
            <a:ext cx="5007712"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Fix </a:t>
            </a:r>
            <a:r>
              <a:rPr lang="en-US" sz="1100" dirty="0">
                <a:solidFill>
                  <a:srgbClr val="343A4E"/>
                </a:solidFill>
                <a:latin typeface="Arial" pitchFamily="34" charset="0"/>
                <a:ea typeface="Arial" pitchFamily="34" charset="-122"/>
                <a:cs typeface="Arial" pitchFamily="34" charset="-120"/>
              </a:rPr>
              <a:t>Use one hue, light → dark.</a:t>
            </a:r>
            <a:endParaRPr lang="en-US" sz="1100" dirty="0"/>
          </a:p>
        </p:txBody>
      </p:sp>
      <p:sp>
        <p:nvSpPr>
          <p:cNvPr id="22" name="Shape 19"/>
          <p:cNvSpPr/>
          <p:nvPr/>
        </p:nvSpPr>
        <p:spPr>
          <a:xfrm>
            <a:off x="6251296" y="2569464"/>
            <a:ext cx="5391760" cy="3465576"/>
          </a:xfrm>
          <a:prstGeom prst="roundRect">
            <a:avLst>
              <a:gd name="adj" fmla="val 2639"/>
            </a:avLst>
          </a:prstGeom>
          <a:solidFill>
            <a:srgbClr val="FFFFFF"/>
          </a:solidFill>
          <a:ln w="17780">
            <a:solidFill>
              <a:srgbClr val="00A79D"/>
            </a:solidFill>
            <a:prstDash val="solid"/>
          </a:ln>
        </p:spPr>
      </p:sp>
      <p:sp>
        <p:nvSpPr>
          <p:cNvPr id="23" name="Shape 20"/>
          <p:cNvSpPr/>
          <p:nvPr/>
        </p:nvSpPr>
        <p:spPr>
          <a:xfrm>
            <a:off x="6251296" y="2569464"/>
            <a:ext cx="5391760" cy="566928"/>
          </a:xfrm>
          <a:prstGeom prst="roundRect">
            <a:avLst>
              <a:gd name="adj" fmla="val 16129"/>
            </a:avLst>
          </a:prstGeom>
          <a:solidFill>
            <a:srgbClr val="00A79D"/>
          </a:solidFill>
          <a:ln/>
        </p:spPr>
      </p:sp>
      <p:sp>
        <p:nvSpPr>
          <p:cNvPr id="24" name="Shape 21"/>
          <p:cNvSpPr/>
          <p:nvPr/>
        </p:nvSpPr>
        <p:spPr>
          <a:xfrm>
            <a:off x="6251296" y="2852928"/>
            <a:ext cx="5391760" cy="283464"/>
          </a:xfrm>
          <a:prstGeom prst="rect">
            <a:avLst/>
          </a:prstGeom>
          <a:solidFill>
            <a:srgbClr val="00A79D"/>
          </a:solidFill>
          <a:ln/>
        </p:spPr>
      </p:sp>
      <p:sp>
        <p:nvSpPr>
          <p:cNvPr id="25" name="Text 22"/>
          <p:cNvSpPr/>
          <p:nvPr/>
        </p:nvSpPr>
        <p:spPr>
          <a:xfrm>
            <a:off x="6342736" y="2569464"/>
            <a:ext cx="5208880"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Sequential on centred data</a:t>
            </a:r>
            <a:endParaRPr lang="en-US" sz="1400" dirty="0"/>
          </a:p>
        </p:txBody>
      </p:sp>
      <p:sp>
        <p:nvSpPr>
          <p:cNvPr id="26" name="Text 23"/>
          <p:cNvSpPr/>
          <p:nvPr/>
        </p:nvSpPr>
        <p:spPr>
          <a:xfrm>
            <a:off x="6452464" y="3300984"/>
            <a:ext cx="5007712"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What happens </a:t>
            </a:r>
            <a:r>
              <a:rPr lang="en-US" sz="1100" dirty="0">
                <a:solidFill>
                  <a:srgbClr val="343A4E"/>
                </a:solidFill>
                <a:latin typeface="Arial" pitchFamily="34" charset="0"/>
                <a:ea typeface="Arial" pitchFamily="34" charset="-122"/>
                <a:cs typeface="Arial" pitchFamily="34" charset="-120"/>
              </a:rPr>
              <a:t>A sequential palette is used on variance-from-target.</a:t>
            </a:r>
            <a:endParaRPr lang="en-US" sz="1100" dirty="0"/>
          </a:p>
        </p:txBody>
      </p:sp>
      <p:sp>
        <p:nvSpPr>
          <p:cNvPr id="27" name="Text 24"/>
          <p:cNvSpPr/>
          <p:nvPr/>
        </p:nvSpPr>
        <p:spPr>
          <a:xfrm>
            <a:off x="6452464" y="3977640"/>
            <a:ext cx="5007712"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The lie </a:t>
            </a:r>
            <a:r>
              <a:rPr lang="en-US" sz="1100" dirty="0">
                <a:solidFill>
                  <a:srgbClr val="343A4E"/>
                </a:solidFill>
                <a:latin typeface="Arial" pitchFamily="34" charset="0"/>
                <a:ea typeface="Arial" pitchFamily="34" charset="-122"/>
                <a:cs typeface="Arial" pitchFamily="34" charset="-120"/>
              </a:rPr>
              <a:t>It hides the above/below that is the entire point.</a:t>
            </a:r>
            <a:endParaRPr lang="en-US" sz="1100" dirty="0"/>
          </a:p>
        </p:txBody>
      </p:sp>
      <p:sp>
        <p:nvSpPr>
          <p:cNvPr id="28" name="Text 25"/>
          <p:cNvSpPr/>
          <p:nvPr/>
        </p:nvSpPr>
        <p:spPr>
          <a:xfrm>
            <a:off x="6452464" y="4453128"/>
            <a:ext cx="5007712"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Fix </a:t>
            </a:r>
            <a:r>
              <a:rPr lang="en-US" sz="1100" dirty="0">
                <a:solidFill>
                  <a:srgbClr val="343A4E"/>
                </a:solidFill>
                <a:latin typeface="Arial" pitchFamily="34" charset="0"/>
                <a:ea typeface="Arial" pitchFamily="34" charset="-122"/>
                <a:cs typeface="Arial" pitchFamily="34" charset="-120"/>
              </a:rPr>
              <a:t>Use a diverging palette centred on the target.</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DECLUTTERING</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decluttering ladder — erase non-data ink in order</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82</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Data-ink ratio = data-ink ÷ total ink. Maximise it by working top to bottom; every erased element frees attention for the data.</a:t>
            </a:r>
            <a:endParaRPr lang="en-US" sz="1250" dirty="0"/>
          </a:p>
        </p:txBody>
      </p:sp>
      <p:sp>
        <p:nvSpPr>
          <p:cNvPr id="15" name="Shape 12"/>
          <p:cNvSpPr/>
          <p:nvPr/>
        </p:nvSpPr>
        <p:spPr>
          <a:xfrm>
            <a:off x="548640" y="2542032"/>
            <a:ext cx="11094415" cy="475488"/>
          </a:xfrm>
          <a:prstGeom prst="roundRect">
            <a:avLst>
              <a:gd name="adj" fmla="val 13462"/>
            </a:avLst>
          </a:prstGeom>
          <a:solidFill>
            <a:srgbClr val="EAF0FA"/>
          </a:solidFill>
          <a:ln w="15240">
            <a:solidFill>
              <a:srgbClr val="2E5AAC"/>
            </a:solidFill>
            <a:prstDash val="solid"/>
          </a:ln>
        </p:spPr>
      </p:sp>
      <p:sp>
        <p:nvSpPr>
          <p:cNvPr id="16" name="Shape 13"/>
          <p:cNvSpPr/>
          <p:nvPr/>
        </p:nvSpPr>
        <p:spPr>
          <a:xfrm>
            <a:off x="694944" y="2596896"/>
            <a:ext cx="365760" cy="365760"/>
          </a:xfrm>
          <a:prstGeom prst="ellipse">
            <a:avLst/>
          </a:prstGeom>
          <a:solidFill>
            <a:srgbClr val="2E5AAC"/>
          </a:solidFill>
          <a:ln/>
        </p:spPr>
      </p:sp>
      <p:sp>
        <p:nvSpPr>
          <p:cNvPr id="17" name="Text 14"/>
          <p:cNvSpPr/>
          <p:nvPr/>
        </p:nvSpPr>
        <p:spPr>
          <a:xfrm>
            <a:off x="694944" y="2596896"/>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8" name="Text 15"/>
          <p:cNvSpPr/>
          <p:nvPr/>
        </p:nvSpPr>
        <p:spPr>
          <a:xfrm>
            <a:off x="1188720" y="2542032"/>
            <a:ext cx="10271455" cy="475488"/>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Remove chart junk  </a:t>
            </a:r>
            <a:r>
              <a:rPr lang="en-US" sz="1150" dirty="0">
                <a:solidFill>
                  <a:srgbClr val="343A4E"/>
                </a:solidFill>
                <a:latin typeface="Arial" pitchFamily="34" charset="0"/>
                <a:ea typeface="Arial" pitchFamily="34" charset="-122"/>
                <a:cs typeface="Arial" pitchFamily="34" charset="-120"/>
              </a:rPr>
              <a:t>3D, gradients, drop shadows, background images.</a:t>
            </a:r>
            <a:endParaRPr lang="en-US" sz="1300" dirty="0"/>
          </a:p>
        </p:txBody>
      </p:sp>
      <p:sp>
        <p:nvSpPr>
          <p:cNvPr id="19" name="Shape 16"/>
          <p:cNvSpPr/>
          <p:nvPr/>
        </p:nvSpPr>
        <p:spPr>
          <a:xfrm>
            <a:off x="548640" y="3145536"/>
            <a:ext cx="11094415" cy="475488"/>
          </a:xfrm>
          <a:prstGeom prst="roundRect">
            <a:avLst>
              <a:gd name="adj" fmla="val 13462"/>
            </a:avLst>
          </a:prstGeom>
          <a:solidFill>
            <a:srgbClr val="E6F5F4"/>
          </a:solidFill>
          <a:ln w="15240">
            <a:solidFill>
              <a:srgbClr val="00A79D"/>
            </a:solidFill>
            <a:prstDash val="solid"/>
          </a:ln>
        </p:spPr>
      </p:sp>
      <p:sp>
        <p:nvSpPr>
          <p:cNvPr id="20" name="Shape 17"/>
          <p:cNvSpPr/>
          <p:nvPr/>
        </p:nvSpPr>
        <p:spPr>
          <a:xfrm>
            <a:off x="694944" y="3200400"/>
            <a:ext cx="365760" cy="365760"/>
          </a:xfrm>
          <a:prstGeom prst="ellipse">
            <a:avLst/>
          </a:prstGeom>
          <a:solidFill>
            <a:srgbClr val="00A79D"/>
          </a:solidFill>
          <a:ln/>
        </p:spPr>
      </p:sp>
      <p:sp>
        <p:nvSpPr>
          <p:cNvPr id="21" name="Text 18"/>
          <p:cNvSpPr/>
          <p:nvPr/>
        </p:nvSpPr>
        <p:spPr>
          <a:xfrm>
            <a:off x="694944" y="3200400"/>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Text 19"/>
          <p:cNvSpPr/>
          <p:nvPr/>
        </p:nvSpPr>
        <p:spPr>
          <a:xfrm>
            <a:off x="1188720" y="3145536"/>
            <a:ext cx="10271455" cy="475488"/>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Lighten gridlines  </a:t>
            </a:r>
            <a:r>
              <a:rPr lang="en-US" sz="1150" dirty="0">
                <a:solidFill>
                  <a:srgbClr val="343A4E"/>
                </a:solidFill>
                <a:latin typeface="Arial" pitchFamily="34" charset="0"/>
                <a:ea typeface="Arial" pitchFamily="34" charset="-122"/>
                <a:cs typeface="Arial" pitchFamily="34" charset="-120"/>
              </a:rPr>
              <a:t>Remove or lighten; keep at most faint horizontal guides.</a:t>
            </a:r>
            <a:endParaRPr lang="en-US" sz="1300" dirty="0"/>
          </a:p>
        </p:txBody>
      </p:sp>
      <p:sp>
        <p:nvSpPr>
          <p:cNvPr id="23" name="Shape 20"/>
          <p:cNvSpPr/>
          <p:nvPr/>
        </p:nvSpPr>
        <p:spPr>
          <a:xfrm>
            <a:off x="548640" y="3749040"/>
            <a:ext cx="11094415" cy="475488"/>
          </a:xfrm>
          <a:prstGeom prst="roundRect">
            <a:avLst>
              <a:gd name="adj" fmla="val 13462"/>
            </a:avLst>
          </a:prstGeom>
          <a:solidFill>
            <a:srgbClr val="FCF0E6"/>
          </a:solidFill>
          <a:ln w="15240">
            <a:solidFill>
              <a:srgbClr val="E8833A"/>
            </a:solidFill>
            <a:prstDash val="solid"/>
          </a:ln>
        </p:spPr>
      </p:sp>
      <p:sp>
        <p:nvSpPr>
          <p:cNvPr id="24" name="Shape 21"/>
          <p:cNvSpPr/>
          <p:nvPr/>
        </p:nvSpPr>
        <p:spPr>
          <a:xfrm>
            <a:off x="694944" y="3803904"/>
            <a:ext cx="365760" cy="365760"/>
          </a:xfrm>
          <a:prstGeom prst="ellipse">
            <a:avLst/>
          </a:prstGeom>
          <a:solidFill>
            <a:srgbClr val="E8833A"/>
          </a:solidFill>
          <a:ln/>
        </p:spPr>
      </p:sp>
      <p:sp>
        <p:nvSpPr>
          <p:cNvPr id="25" name="Text 22"/>
          <p:cNvSpPr/>
          <p:nvPr/>
        </p:nvSpPr>
        <p:spPr>
          <a:xfrm>
            <a:off x="694944" y="3803904"/>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3"/>
          <p:cNvSpPr/>
          <p:nvPr/>
        </p:nvSpPr>
        <p:spPr>
          <a:xfrm>
            <a:off x="1188720" y="3749040"/>
            <a:ext cx="10271455" cy="475488"/>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Drop the plot border  </a:t>
            </a:r>
            <a:r>
              <a:rPr lang="en-US" sz="1150" dirty="0">
                <a:solidFill>
                  <a:srgbClr val="343A4E"/>
                </a:solidFill>
                <a:latin typeface="Arial" pitchFamily="34" charset="0"/>
                <a:ea typeface="Arial" pitchFamily="34" charset="-122"/>
                <a:cs typeface="Arial" pitchFamily="34" charset="-120"/>
              </a:rPr>
              <a:t>Remove the box; drop the top and right spines.</a:t>
            </a:r>
            <a:endParaRPr lang="en-US" sz="1300" dirty="0"/>
          </a:p>
        </p:txBody>
      </p:sp>
      <p:sp>
        <p:nvSpPr>
          <p:cNvPr id="27" name="Shape 24"/>
          <p:cNvSpPr/>
          <p:nvPr/>
        </p:nvSpPr>
        <p:spPr>
          <a:xfrm>
            <a:off x="548640" y="4352544"/>
            <a:ext cx="11094415" cy="475488"/>
          </a:xfrm>
          <a:prstGeom prst="roundRect">
            <a:avLst>
              <a:gd name="adj" fmla="val 13462"/>
            </a:avLst>
          </a:prstGeom>
          <a:solidFill>
            <a:srgbClr val="EFEBF6"/>
          </a:solidFill>
          <a:ln w="15240">
            <a:solidFill>
              <a:srgbClr val="6C4FA1"/>
            </a:solidFill>
            <a:prstDash val="solid"/>
          </a:ln>
        </p:spPr>
      </p:sp>
      <p:sp>
        <p:nvSpPr>
          <p:cNvPr id="28" name="Shape 25"/>
          <p:cNvSpPr/>
          <p:nvPr/>
        </p:nvSpPr>
        <p:spPr>
          <a:xfrm>
            <a:off x="694944" y="4407408"/>
            <a:ext cx="365760" cy="365760"/>
          </a:xfrm>
          <a:prstGeom prst="ellipse">
            <a:avLst/>
          </a:prstGeom>
          <a:solidFill>
            <a:srgbClr val="6C4FA1"/>
          </a:solidFill>
          <a:ln/>
        </p:spPr>
      </p:sp>
      <p:sp>
        <p:nvSpPr>
          <p:cNvPr id="29" name="Text 26"/>
          <p:cNvSpPr/>
          <p:nvPr/>
        </p:nvSpPr>
        <p:spPr>
          <a:xfrm>
            <a:off x="694944" y="440740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7"/>
          <p:cNvSpPr/>
          <p:nvPr/>
        </p:nvSpPr>
        <p:spPr>
          <a:xfrm>
            <a:off x="1188720" y="4352544"/>
            <a:ext cx="10271455" cy="475488"/>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Cut redundant axes  </a:t>
            </a:r>
            <a:r>
              <a:rPr lang="en-US" sz="1150" dirty="0">
                <a:solidFill>
                  <a:srgbClr val="343A4E"/>
                </a:solidFill>
                <a:latin typeface="Arial" pitchFamily="34" charset="0"/>
                <a:ea typeface="Arial" pitchFamily="34" charset="-122"/>
                <a:cs typeface="Arial" pitchFamily="34" charset="-120"/>
              </a:rPr>
              <a:t>Remove duplicate axes and tick marks; label directly.</a:t>
            </a:r>
            <a:endParaRPr lang="en-US" sz="1300" dirty="0"/>
          </a:p>
        </p:txBody>
      </p:sp>
      <p:sp>
        <p:nvSpPr>
          <p:cNvPr id="31" name="Shape 28"/>
          <p:cNvSpPr/>
          <p:nvPr/>
        </p:nvSpPr>
        <p:spPr>
          <a:xfrm>
            <a:off x="548640" y="4956048"/>
            <a:ext cx="11094415" cy="475488"/>
          </a:xfrm>
          <a:prstGeom prst="roundRect">
            <a:avLst>
              <a:gd name="adj" fmla="val 13462"/>
            </a:avLst>
          </a:prstGeom>
          <a:solidFill>
            <a:srgbClr val="E9F5EC"/>
          </a:solidFill>
          <a:ln w="15240">
            <a:solidFill>
              <a:srgbClr val="3FAE5A"/>
            </a:solidFill>
            <a:prstDash val="solid"/>
          </a:ln>
        </p:spPr>
      </p:sp>
      <p:sp>
        <p:nvSpPr>
          <p:cNvPr id="32" name="Shape 29"/>
          <p:cNvSpPr/>
          <p:nvPr/>
        </p:nvSpPr>
        <p:spPr>
          <a:xfrm>
            <a:off x="694944" y="5010912"/>
            <a:ext cx="365760" cy="365760"/>
          </a:xfrm>
          <a:prstGeom prst="ellipse">
            <a:avLst/>
          </a:prstGeom>
          <a:solidFill>
            <a:srgbClr val="3FAE5A"/>
          </a:solidFill>
          <a:ln/>
        </p:spPr>
      </p:sp>
      <p:sp>
        <p:nvSpPr>
          <p:cNvPr id="33" name="Text 30"/>
          <p:cNvSpPr/>
          <p:nvPr/>
        </p:nvSpPr>
        <p:spPr>
          <a:xfrm>
            <a:off x="694944" y="5010912"/>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4" name="Text 31"/>
          <p:cNvSpPr/>
          <p:nvPr/>
        </p:nvSpPr>
        <p:spPr>
          <a:xfrm>
            <a:off x="1188720" y="4956048"/>
            <a:ext cx="10271455" cy="475488"/>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Remove the legend  </a:t>
            </a:r>
            <a:r>
              <a:rPr lang="en-US" sz="1150" dirty="0">
                <a:solidFill>
                  <a:srgbClr val="343A4E"/>
                </a:solidFill>
                <a:latin typeface="Arial" pitchFamily="34" charset="0"/>
                <a:ea typeface="Arial" pitchFamily="34" charset="-122"/>
                <a:cs typeface="Arial" pitchFamily="34" charset="-120"/>
              </a:rPr>
              <a:t>Direct-label the series instead.</a:t>
            </a:r>
            <a:endParaRPr lang="en-US" sz="1300" dirty="0"/>
          </a:p>
        </p:txBody>
      </p:sp>
      <p:sp>
        <p:nvSpPr>
          <p:cNvPr id="35" name="Shape 32"/>
          <p:cNvSpPr/>
          <p:nvPr/>
        </p:nvSpPr>
        <p:spPr>
          <a:xfrm>
            <a:off x="548640" y="5559552"/>
            <a:ext cx="11094415" cy="475488"/>
          </a:xfrm>
          <a:prstGeom prst="roundRect">
            <a:avLst>
              <a:gd name="adj" fmla="val 13462"/>
            </a:avLst>
          </a:prstGeom>
          <a:solidFill>
            <a:srgbClr val="E7F5FC"/>
          </a:solidFill>
          <a:ln w="15240">
            <a:solidFill>
              <a:srgbClr val="29ABE2"/>
            </a:solidFill>
            <a:prstDash val="solid"/>
          </a:ln>
        </p:spPr>
      </p:sp>
      <p:sp>
        <p:nvSpPr>
          <p:cNvPr id="36" name="Shape 33"/>
          <p:cNvSpPr/>
          <p:nvPr/>
        </p:nvSpPr>
        <p:spPr>
          <a:xfrm>
            <a:off x="694944" y="5614416"/>
            <a:ext cx="365760" cy="365760"/>
          </a:xfrm>
          <a:prstGeom prst="ellipse">
            <a:avLst/>
          </a:prstGeom>
          <a:solidFill>
            <a:srgbClr val="29ABE2"/>
          </a:solidFill>
          <a:ln/>
        </p:spPr>
      </p:sp>
      <p:sp>
        <p:nvSpPr>
          <p:cNvPr id="37" name="Text 34"/>
          <p:cNvSpPr/>
          <p:nvPr/>
        </p:nvSpPr>
        <p:spPr>
          <a:xfrm>
            <a:off x="694944" y="5614416"/>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8" name="Text 35"/>
          <p:cNvSpPr/>
          <p:nvPr/>
        </p:nvSpPr>
        <p:spPr>
          <a:xfrm>
            <a:off x="1188720" y="5559552"/>
            <a:ext cx="10271455" cy="475488"/>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Mute context to grey  </a:t>
            </a:r>
            <a:r>
              <a:rPr lang="en-US" sz="1150" dirty="0">
                <a:solidFill>
                  <a:srgbClr val="343A4E"/>
                </a:solidFill>
                <a:latin typeface="Arial" pitchFamily="34" charset="0"/>
                <a:ea typeface="Arial" pitchFamily="34" charset="-122"/>
                <a:cs typeface="Arial" pitchFamily="34" charset="-120"/>
              </a:rPr>
              <a:t>Grey everything that is context; reserve saturation for the signal.</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ANNOTATION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Annotation: making the argument explicit</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83</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An unannotated chart says 'here is some data'; an annotated chart says 'here is what it means.'</a:t>
            </a:r>
            <a:endParaRPr lang="en-US" sz="1250" dirty="0"/>
          </a:p>
        </p:txBody>
      </p:sp>
      <p:sp>
        <p:nvSpPr>
          <p:cNvPr id="15" name="Shape 12"/>
          <p:cNvSpPr/>
          <p:nvPr/>
        </p:nvSpPr>
        <p:spPr>
          <a:xfrm>
            <a:off x="548640" y="2569464"/>
            <a:ext cx="351525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3515258" cy="82296"/>
          </a:xfrm>
          <a:prstGeom prst="rect">
            <a:avLst/>
          </a:prstGeom>
          <a:solidFill>
            <a:srgbClr val="2E5AAC"/>
          </a:solidFill>
          <a:ln/>
        </p:spPr>
      </p:sp>
      <p:sp>
        <p:nvSpPr>
          <p:cNvPr id="17" name="Text 14"/>
          <p:cNvSpPr/>
          <p:nvPr/>
        </p:nvSpPr>
        <p:spPr>
          <a:xfrm>
            <a:off x="731520" y="275234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Takeaway title</a:t>
            </a:r>
            <a:endParaRPr lang="en-US" sz="1300" dirty="0"/>
          </a:p>
        </p:txBody>
      </p:sp>
      <p:sp>
        <p:nvSpPr>
          <p:cNvPr id="18" name="Text 15"/>
          <p:cNvSpPr/>
          <p:nvPr/>
        </p:nvSpPr>
        <p:spPr>
          <a:xfrm>
            <a:off x="731520" y="3118104"/>
            <a:ext cx="314949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The conclusion, top-left, bold — carried over from M2.</a:t>
            </a:r>
            <a:endParaRPr lang="en-US" sz="1050" dirty="0"/>
          </a:p>
        </p:txBody>
      </p:sp>
      <p:sp>
        <p:nvSpPr>
          <p:cNvPr id="19" name="Shape 16"/>
          <p:cNvSpPr/>
          <p:nvPr/>
        </p:nvSpPr>
        <p:spPr>
          <a:xfrm>
            <a:off x="4338218" y="2569464"/>
            <a:ext cx="3515258" cy="1613916"/>
          </a:xfrm>
          <a:prstGeom prst="roundRect">
            <a:avLst>
              <a:gd name="adj" fmla="val 4533"/>
            </a:avLst>
          </a:prstGeom>
          <a:solidFill>
            <a:srgbClr val="FFFFFF"/>
          </a:solidFill>
          <a:ln w="12700">
            <a:solidFill>
              <a:srgbClr val="D9DEE8"/>
            </a:solidFill>
            <a:prstDash val="solid"/>
          </a:ln>
        </p:spPr>
      </p:sp>
      <p:sp>
        <p:nvSpPr>
          <p:cNvPr id="20" name="Shape 17"/>
          <p:cNvSpPr/>
          <p:nvPr/>
        </p:nvSpPr>
        <p:spPr>
          <a:xfrm>
            <a:off x="4338218" y="2569464"/>
            <a:ext cx="3515258" cy="82296"/>
          </a:xfrm>
          <a:prstGeom prst="rect">
            <a:avLst/>
          </a:prstGeom>
          <a:solidFill>
            <a:srgbClr val="00A79D"/>
          </a:solidFill>
          <a:ln/>
        </p:spPr>
      </p:sp>
      <p:sp>
        <p:nvSpPr>
          <p:cNvPr id="21" name="Text 18"/>
          <p:cNvSpPr/>
          <p:nvPr/>
        </p:nvSpPr>
        <p:spPr>
          <a:xfrm>
            <a:off x="4521098" y="275234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Callout + leader</a:t>
            </a:r>
            <a:endParaRPr lang="en-US" sz="1300" dirty="0"/>
          </a:p>
        </p:txBody>
      </p:sp>
      <p:sp>
        <p:nvSpPr>
          <p:cNvPr id="22" name="Text 19"/>
          <p:cNvSpPr/>
          <p:nvPr/>
        </p:nvSpPr>
        <p:spPr>
          <a:xfrm>
            <a:off x="4521098" y="3118104"/>
            <a:ext cx="314949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Short text and a leader line at the point that carries the argument: 'Najran plateaued after the March outage'.</a:t>
            </a:r>
            <a:endParaRPr lang="en-US" sz="1050" dirty="0"/>
          </a:p>
        </p:txBody>
      </p:sp>
      <p:sp>
        <p:nvSpPr>
          <p:cNvPr id="23" name="Shape 20"/>
          <p:cNvSpPr/>
          <p:nvPr/>
        </p:nvSpPr>
        <p:spPr>
          <a:xfrm>
            <a:off x="8127797" y="2569464"/>
            <a:ext cx="3515258" cy="1613916"/>
          </a:xfrm>
          <a:prstGeom prst="roundRect">
            <a:avLst>
              <a:gd name="adj" fmla="val 4533"/>
            </a:avLst>
          </a:prstGeom>
          <a:solidFill>
            <a:srgbClr val="FFFFFF"/>
          </a:solidFill>
          <a:ln w="12700">
            <a:solidFill>
              <a:srgbClr val="D9DEE8"/>
            </a:solidFill>
            <a:prstDash val="solid"/>
          </a:ln>
        </p:spPr>
      </p:sp>
      <p:sp>
        <p:nvSpPr>
          <p:cNvPr id="24" name="Shape 21"/>
          <p:cNvSpPr/>
          <p:nvPr/>
        </p:nvSpPr>
        <p:spPr>
          <a:xfrm>
            <a:off x="8127797" y="2569464"/>
            <a:ext cx="3515258" cy="82296"/>
          </a:xfrm>
          <a:prstGeom prst="rect">
            <a:avLst/>
          </a:prstGeom>
          <a:solidFill>
            <a:srgbClr val="E8833A"/>
          </a:solidFill>
          <a:ln/>
        </p:spPr>
      </p:sp>
      <p:sp>
        <p:nvSpPr>
          <p:cNvPr id="25" name="Text 22"/>
          <p:cNvSpPr/>
          <p:nvPr/>
        </p:nvSpPr>
        <p:spPr>
          <a:xfrm>
            <a:off x="8310677" y="275234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Reference lines/bands</a:t>
            </a:r>
            <a:endParaRPr lang="en-US" sz="1300" dirty="0"/>
          </a:p>
        </p:txBody>
      </p:sp>
      <p:sp>
        <p:nvSpPr>
          <p:cNvPr id="26" name="Text 23"/>
          <p:cNvSpPr/>
          <p:nvPr/>
        </p:nvSpPr>
        <p:spPr>
          <a:xfrm>
            <a:off x="8310677" y="3118104"/>
            <a:ext cx="314949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Target, average, or an acceptable range.</a:t>
            </a:r>
            <a:endParaRPr lang="en-US" sz="1050" dirty="0"/>
          </a:p>
        </p:txBody>
      </p:sp>
      <p:sp>
        <p:nvSpPr>
          <p:cNvPr id="27" name="Shape 24"/>
          <p:cNvSpPr/>
          <p:nvPr/>
        </p:nvSpPr>
        <p:spPr>
          <a:xfrm>
            <a:off x="548640" y="4421124"/>
            <a:ext cx="351525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548640" y="4421124"/>
            <a:ext cx="3515258" cy="82296"/>
          </a:xfrm>
          <a:prstGeom prst="rect">
            <a:avLst/>
          </a:prstGeom>
          <a:solidFill>
            <a:srgbClr val="6C4FA1"/>
          </a:solidFill>
          <a:ln/>
        </p:spPr>
      </p:sp>
      <p:sp>
        <p:nvSpPr>
          <p:cNvPr id="29" name="Text 26"/>
          <p:cNvSpPr/>
          <p:nvPr/>
        </p:nvSpPr>
        <p:spPr>
          <a:xfrm>
            <a:off x="731520" y="460400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Highlight + mute</a:t>
            </a:r>
            <a:endParaRPr lang="en-US" sz="1300" dirty="0"/>
          </a:p>
        </p:txBody>
      </p:sp>
      <p:sp>
        <p:nvSpPr>
          <p:cNvPr id="30" name="Text 27"/>
          <p:cNvSpPr/>
          <p:nvPr/>
        </p:nvSpPr>
        <p:spPr>
          <a:xfrm>
            <a:off x="731520" y="4969764"/>
            <a:ext cx="314949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One series in colour, the rest grey, plus a label — the pre-attentive pop from M1.</a:t>
            </a:r>
            <a:endParaRPr lang="en-US" sz="1050" dirty="0"/>
          </a:p>
        </p:txBody>
      </p:sp>
      <p:sp>
        <p:nvSpPr>
          <p:cNvPr id="31" name="Shape 28"/>
          <p:cNvSpPr/>
          <p:nvPr/>
        </p:nvSpPr>
        <p:spPr>
          <a:xfrm>
            <a:off x="4338218" y="4421124"/>
            <a:ext cx="3515258" cy="1613916"/>
          </a:xfrm>
          <a:prstGeom prst="roundRect">
            <a:avLst>
              <a:gd name="adj" fmla="val 4533"/>
            </a:avLst>
          </a:prstGeom>
          <a:solidFill>
            <a:srgbClr val="FFFFFF"/>
          </a:solidFill>
          <a:ln w="12700">
            <a:solidFill>
              <a:srgbClr val="D9DEE8"/>
            </a:solidFill>
            <a:prstDash val="solid"/>
          </a:ln>
        </p:spPr>
      </p:sp>
      <p:sp>
        <p:nvSpPr>
          <p:cNvPr id="32" name="Shape 29"/>
          <p:cNvSpPr/>
          <p:nvPr/>
        </p:nvSpPr>
        <p:spPr>
          <a:xfrm>
            <a:off x="4338218" y="4421124"/>
            <a:ext cx="3515258" cy="82296"/>
          </a:xfrm>
          <a:prstGeom prst="rect">
            <a:avLst/>
          </a:prstGeom>
          <a:solidFill>
            <a:srgbClr val="3FAE5A"/>
          </a:solidFill>
          <a:ln/>
        </p:spPr>
      </p:sp>
      <p:sp>
        <p:nvSpPr>
          <p:cNvPr id="33" name="Text 30"/>
          <p:cNvSpPr/>
          <p:nvPr/>
        </p:nvSpPr>
        <p:spPr>
          <a:xfrm>
            <a:off x="4521098" y="460400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Direct value labels</a:t>
            </a:r>
            <a:endParaRPr lang="en-US" sz="1300" dirty="0"/>
          </a:p>
        </p:txBody>
      </p:sp>
      <p:sp>
        <p:nvSpPr>
          <p:cNvPr id="34" name="Text 31"/>
          <p:cNvSpPr/>
          <p:nvPr/>
        </p:nvSpPr>
        <p:spPr>
          <a:xfrm>
            <a:off x="4521098" y="4969764"/>
            <a:ext cx="314949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Exact numbers where they matter; executives want the number and the shape.</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ARABIC &amp; RTL</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Arabic, RTL, and numeral conventions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86</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For a Saudi executive audience this is not optional polish — mixing directions is the tell of a rushed job.</a:t>
            </a:r>
            <a:endParaRPr lang="en-US" sz="1250" dirty="0"/>
          </a:p>
        </p:txBody>
      </p:sp>
      <p:sp>
        <p:nvSpPr>
          <p:cNvPr id="15" name="Shape 12"/>
          <p:cNvSpPr/>
          <p:nvPr/>
        </p:nvSpPr>
        <p:spPr>
          <a:xfrm>
            <a:off x="548640" y="2569464"/>
            <a:ext cx="541004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5410048" cy="82296"/>
          </a:xfrm>
          <a:prstGeom prst="rect">
            <a:avLst/>
          </a:prstGeom>
          <a:solidFill>
            <a:srgbClr val="2E5AAC"/>
          </a:solidFill>
          <a:ln/>
        </p:spPr>
      </p:sp>
      <p:sp>
        <p:nvSpPr>
          <p:cNvPr id="17" name="Text 14"/>
          <p:cNvSpPr/>
          <p:nvPr/>
        </p:nvSpPr>
        <p:spPr>
          <a:xfrm>
            <a:off x="731520" y="27523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Right-to-left order</a:t>
            </a:r>
            <a:endParaRPr lang="en-US" sz="1300" dirty="0"/>
          </a:p>
        </p:txBody>
      </p:sp>
      <p:sp>
        <p:nvSpPr>
          <p:cNvPr id="18" name="Text 15"/>
          <p:cNvSpPr/>
          <p:nvPr/>
        </p:nvSpPr>
        <p:spPr>
          <a:xfrm>
            <a:off x="731520" y="311810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The natural scan is right-to-left; put 'first/best' on the right and run the time axis right-to-left (earliest on the right).</a:t>
            </a:r>
            <a:endParaRPr lang="en-US" sz="1050" dirty="0"/>
          </a:p>
        </p:txBody>
      </p:sp>
      <p:sp>
        <p:nvSpPr>
          <p:cNvPr id="19" name="Shape 16"/>
          <p:cNvSpPr/>
          <p:nvPr/>
        </p:nvSpPr>
        <p:spPr>
          <a:xfrm>
            <a:off x="6233008" y="2569464"/>
            <a:ext cx="5410048" cy="1613916"/>
          </a:xfrm>
          <a:prstGeom prst="roundRect">
            <a:avLst>
              <a:gd name="adj" fmla="val 4533"/>
            </a:avLst>
          </a:prstGeom>
          <a:solidFill>
            <a:srgbClr val="FFFFFF"/>
          </a:solidFill>
          <a:ln w="12700">
            <a:solidFill>
              <a:srgbClr val="D9DEE8"/>
            </a:solidFill>
            <a:prstDash val="solid"/>
          </a:ln>
        </p:spPr>
      </p:sp>
      <p:sp>
        <p:nvSpPr>
          <p:cNvPr id="20" name="Shape 17"/>
          <p:cNvSpPr/>
          <p:nvPr/>
        </p:nvSpPr>
        <p:spPr>
          <a:xfrm>
            <a:off x="6233008" y="2569464"/>
            <a:ext cx="5410048" cy="82296"/>
          </a:xfrm>
          <a:prstGeom prst="rect">
            <a:avLst/>
          </a:prstGeom>
          <a:solidFill>
            <a:srgbClr val="00A79D"/>
          </a:solidFill>
          <a:ln/>
        </p:spPr>
      </p:sp>
      <p:sp>
        <p:nvSpPr>
          <p:cNvPr id="21" name="Text 18"/>
          <p:cNvSpPr/>
          <p:nvPr/>
        </p:nvSpPr>
        <p:spPr>
          <a:xfrm>
            <a:off x="6415888" y="27523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Bilingual labelling</a:t>
            </a:r>
            <a:endParaRPr lang="en-US" sz="1300" dirty="0"/>
          </a:p>
        </p:txBody>
      </p:sp>
      <p:sp>
        <p:nvSpPr>
          <p:cNvPr id="22" name="Text 19"/>
          <p:cNvSpPr/>
          <p:nvPr/>
        </p:nvSpPr>
        <p:spPr>
          <a:xfrm>
            <a:off x="6415888" y="311810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Pick one convention — Arabic primary with English secondary, or matched pairs — and apply it consistently.</a:t>
            </a:r>
            <a:endParaRPr lang="en-US" sz="1050" dirty="0"/>
          </a:p>
        </p:txBody>
      </p:sp>
      <p:sp>
        <p:nvSpPr>
          <p:cNvPr id="23" name="Shape 20"/>
          <p:cNvSpPr/>
          <p:nvPr/>
        </p:nvSpPr>
        <p:spPr>
          <a:xfrm>
            <a:off x="548640" y="4421124"/>
            <a:ext cx="5410048" cy="1613916"/>
          </a:xfrm>
          <a:prstGeom prst="roundRect">
            <a:avLst>
              <a:gd name="adj" fmla="val 4533"/>
            </a:avLst>
          </a:prstGeom>
          <a:solidFill>
            <a:srgbClr val="FFFFFF"/>
          </a:solidFill>
          <a:ln w="12700">
            <a:solidFill>
              <a:srgbClr val="D9DEE8"/>
            </a:solidFill>
            <a:prstDash val="solid"/>
          </a:ln>
        </p:spPr>
      </p:sp>
      <p:sp>
        <p:nvSpPr>
          <p:cNvPr id="24" name="Shape 21"/>
          <p:cNvSpPr/>
          <p:nvPr/>
        </p:nvSpPr>
        <p:spPr>
          <a:xfrm>
            <a:off x="548640" y="4421124"/>
            <a:ext cx="5410048" cy="82296"/>
          </a:xfrm>
          <a:prstGeom prst="rect">
            <a:avLst/>
          </a:prstGeom>
          <a:solidFill>
            <a:srgbClr val="E8833A"/>
          </a:solidFill>
          <a:ln/>
        </p:spPr>
      </p:sp>
      <p:sp>
        <p:nvSpPr>
          <p:cNvPr id="25" name="Text 22"/>
          <p:cNvSpPr/>
          <p:nvPr/>
        </p:nvSpPr>
        <p:spPr>
          <a:xfrm>
            <a:off x="731520" y="460400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Numerals</a:t>
            </a:r>
            <a:endParaRPr lang="en-US" sz="1300" dirty="0"/>
          </a:p>
        </p:txBody>
      </p:sp>
      <p:sp>
        <p:nvSpPr>
          <p:cNvPr id="26" name="Text 23"/>
          <p:cNvSpPr/>
          <p:nvPr/>
        </p:nvSpPr>
        <p:spPr>
          <a:xfrm>
            <a:off x="731520" y="496976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Choose Arabic-Indic (٠١٢٣) or Western Arabic (0123) deliberately; confirm the house style.</a:t>
            </a:r>
            <a:endParaRPr lang="en-US" sz="1050" dirty="0"/>
          </a:p>
        </p:txBody>
      </p:sp>
      <p:sp>
        <p:nvSpPr>
          <p:cNvPr id="27" name="Shape 24"/>
          <p:cNvSpPr/>
          <p:nvPr/>
        </p:nvSpPr>
        <p:spPr>
          <a:xfrm>
            <a:off x="6233008" y="4421124"/>
            <a:ext cx="541004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6233008" y="4421124"/>
            <a:ext cx="5410048" cy="82296"/>
          </a:xfrm>
          <a:prstGeom prst="rect">
            <a:avLst/>
          </a:prstGeom>
          <a:solidFill>
            <a:srgbClr val="6C4FA1"/>
          </a:solidFill>
          <a:ln/>
        </p:spPr>
      </p:sp>
      <p:sp>
        <p:nvSpPr>
          <p:cNvPr id="29" name="Text 26"/>
          <p:cNvSpPr/>
          <p:nvPr/>
        </p:nvSpPr>
        <p:spPr>
          <a:xfrm>
            <a:off x="6415888" y="460400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Fonts &amp; rendering</a:t>
            </a:r>
            <a:endParaRPr lang="en-US" sz="1300" dirty="0"/>
          </a:p>
        </p:txBody>
      </p:sp>
      <p:sp>
        <p:nvSpPr>
          <p:cNvPr id="30" name="Text 27"/>
          <p:cNvSpPr/>
          <p:nvPr/>
        </p:nvSpPr>
        <p:spPr>
          <a:xfrm>
            <a:off x="6415888" y="496976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matplotlib needs an Arabic-capable font plus a reshaper/bidi step; broken glyphs are worse than English-only.</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ACCESSIBLE THEME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A colour-blind-safe theme and palette helpers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87</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src/viz/theme.py</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CATEGORICAL = ["#0072B2", "#E69F00", "#009E73",  # Okabe-Ito</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"#CC79A7", "#56B4E9", "#D55E00", "#F0E442"]</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GREY = "#B8B8B8"      # context colour</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ACCENT = "#D55E00"    # reserve for the ONE signal</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SEQUENTIAL = "Blues"  # single-hue, light -&gt; dark</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DIVERGING = "RdBu_r"  # two-hue, centre on midpoint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def apply_theme():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plt.rcParams.update({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"axes.spines.top": False,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"axes.spines.right": False,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"axes.grid": True, "grid.color": "#EEEEEE",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"axes.titlelocation": "left",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"axes.titleweight": "bold", "font.size": 11,</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def highlight_palette(categories, signal):</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"""One accent for the signal, grey for context."""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return [ACCENT if c == signal else GREY</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for c in categories]</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Set once; every chart inherits brand + accessibility defaults.</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DIVERGING PALETTE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Diverging palette centred on the target</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88</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notebooks/m3_colour_declutter.ipynb</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TARGET = 18.0    # SAR per transaction, program target</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s = latest.sort_values("cost_per_txn_sar")</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t>
            </a:r>
            <a:endParaRPr lang="en-US" sz="950" dirty="0"/>
          </a:p>
          <a:p>
            <a:pPr marL="0" indent="0">
              <a:lnSpc>
                <a:spcPct val="102000"/>
              </a:lnSpc>
              <a:buNone/>
            </a:pPr>
            <a:r>
              <a:rPr lang="en-US" sz="950" dirty="0">
                <a:solidFill>
                  <a:srgbClr val="7F9CC4"/>
                </a:solidFill>
                <a:latin typeface="Courier New" pitchFamily="34" charset="0"/>
                <a:ea typeface="Courier New" pitchFamily="34" charset="-122"/>
                <a:cs typeface="Courier New" pitchFamily="34" charset="-120"/>
              </a:rPr>
              <a:t># Diverging colour CENTRED on target, not the mean.</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norm = mcolors.TwoSlopeNorm(</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vmin=s.cost_per_txn_sar.min(),</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vcenter=TARGET,</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vmax=s.cost_per_txn_sar.max())</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cmap = plt.get_cmap(DIVERGING)</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colors = [cmap(norm(v)) for v in s.cost_per_txn_sar]</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fig, ax = plt.subplots(figsize=(8, 5))</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ax.barh(s.region, s.cost_per_txn_sar, color=colors)</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ax.axvline(TARGET, color="#333", ls="--", lw=1)</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ax.text(TARGET, len(s) - 0.4, " target 18 SAR")</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ax.set_title(</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    "Five regions still exceed the 18 SAR target")</a:t>
            </a:r>
            <a:endParaRPr lang="en-US" sz="950" dirty="0"/>
          </a:p>
          <a:p>
            <a:pPr marL="0" indent="0">
              <a:lnSpc>
                <a:spcPct val="102000"/>
              </a:lnSpc>
              <a:buNone/>
            </a:pPr>
            <a:r>
              <a:rPr lang="en-US" sz="950" dirty="0">
                <a:solidFill>
                  <a:srgbClr val="E8ECF5"/>
                </a:solidFill>
                <a:latin typeface="Courier New" pitchFamily="34" charset="0"/>
                <a:ea typeface="Courier New" pitchFamily="34" charset="-122"/>
                <a:cs typeface="Courier New" pitchFamily="34" charset="-120"/>
              </a:rPr>
              <a:t>fig.savefig("out/m3_diverging_cost.png", dpi=150)</a:t>
            </a:r>
            <a:endParaRPr lang="en-US" sz="95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TwoSlopeNorm(vcenter=TARGET) puts the neutral colour on the target.</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HANDS-ON LAB</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Lab 3 — Before/After Redesign</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إعادة تصميم: قبل وبعد</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89</a:t>
            </a:r>
            <a:endParaRPr lang="en-US" sz="800" dirty="0"/>
          </a:p>
        </p:txBody>
      </p:sp>
      <p:sp>
        <p:nvSpPr>
          <p:cNvPr id="15" name="Shape 12"/>
          <p:cNvSpPr/>
          <p:nvPr/>
        </p:nvSpPr>
        <p:spPr>
          <a:xfrm>
            <a:off x="548640" y="2331720"/>
            <a:ext cx="11094415" cy="1234440"/>
          </a:xfrm>
          <a:prstGeom prst="roundRect">
            <a:avLst>
              <a:gd name="adj" fmla="val 5926"/>
            </a:avLst>
          </a:prstGeom>
          <a:solidFill>
            <a:srgbClr val="EAF0FA"/>
          </a:solidFill>
          <a:ln w="12700">
            <a:solidFill>
              <a:srgbClr val="2E5AAC"/>
            </a:solidFill>
            <a:prstDash val="solid"/>
          </a:ln>
        </p:spPr>
      </p:sp>
      <p:sp>
        <p:nvSpPr>
          <p:cNvPr id="16" name="Text 13"/>
          <p:cNvSpPr/>
          <p:nvPr/>
        </p:nvSpPr>
        <p:spPr>
          <a:xfrm>
            <a:off x="777240" y="2450592"/>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OBJECTIVE  </a:t>
            </a:r>
            <a:r>
              <a:rPr lang="en-US" sz="1100" dirty="0">
                <a:solidFill>
                  <a:srgbClr val="343A4E"/>
                </a:solidFill>
                <a:latin typeface="Arial" pitchFamily="34" charset="0"/>
                <a:ea typeface="Arial" pitchFamily="34" charset="-122"/>
                <a:cs typeface="Arial" pitchFamily="34" charset="-120"/>
              </a:rPr>
              <a:t>Take a cluttered, mis-coloured Tayseer chart and redesign it — correct palette, decluttered, annotated with the takeaway — then measure the gain.</a:t>
            </a:r>
            <a:endParaRPr lang="en-US" sz="1100" dirty="0"/>
          </a:p>
        </p:txBody>
      </p:sp>
      <p:sp>
        <p:nvSpPr>
          <p:cNvPr id="17" name="Text 14"/>
          <p:cNvSpPr/>
          <p:nvPr/>
        </p:nvSpPr>
        <p:spPr>
          <a:xfrm>
            <a:off x="777240" y="2907792"/>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DURATION  </a:t>
            </a:r>
            <a:r>
              <a:rPr lang="en-US" sz="1100" dirty="0">
                <a:solidFill>
                  <a:srgbClr val="343A4E"/>
                </a:solidFill>
                <a:latin typeface="Arial" pitchFamily="34" charset="0"/>
                <a:ea typeface="Arial" pitchFamily="34" charset="-122"/>
                <a:cs typeface="Arial" pitchFamily="34" charset="-120"/>
              </a:rPr>
              <a:t>50 minutes</a:t>
            </a:r>
            <a:endParaRPr lang="en-US" sz="1100" dirty="0"/>
          </a:p>
        </p:txBody>
      </p:sp>
      <p:sp>
        <p:nvSpPr>
          <p:cNvPr id="18" name="Text 15"/>
          <p:cNvSpPr/>
          <p:nvPr/>
        </p:nvSpPr>
        <p:spPr>
          <a:xfrm>
            <a:off x="777240" y="3255264"/>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SETUP  </a:t>
            </a:r>
            <a:r>
              <a:rPr lang="en-US" sz="1100" dirty="0">
                <a:solidFill>
                  <a:srgbClr val="343A4E"/>
                </a:solidFill>
                <a:latin typeface="Arial" pitchFamily="34" charset="0"/>
                <a:ea typeface="Arial" pitchFamily="34" charset="-122"/>
                <a:cs typeface="Arial" pitchFamily="34" charset="-120"/>
              </a:rPr>
              <a:t>apply_theme() from src/viz/theme.py; cluttered_m3.png and its source data provided; git checkout lab3_start.</a:t>
            </a:r>
            <a:endParaRPr lang="en-US" sz="1100" dirty="0"/>
          </a:p>
        </p:txBody>
      </p:sp>
      <p:sp>
        <p:nvSpPr>
          <p:cNvPr id="19" name="Text 16"/>
          <p:cNvSpPr/>
          <p:nvPr/>
        </p:nvSpPr>
        <p:spPr>
          <a:xfrm>
            <a:off x="548640" y="3703320"/>
            <a:ext cx="4572000" cy="274320"/>
          </a:xfrm>
          <a:prstGeom prst="rect">
            <a:avLst/>
          </a:prstGeom>
          <a:noFill/>
          <a:ln/>
        </p:spPr>
        <p:txBody>
          <a:bodyPr wrap="square" rtlCol="0" anchor="ctr"/>
          <a:lstStyle/>
          <a:p>
            <a:pPr marL="0" indent="0">
              <a:buNone/>
            </a:pPr>
            <a:r>
              <a:rPr lang="en-US" sz="1200" b="1" kern="0" spc="100" dirty="0">
                <a:solidFill>
                  <a:srgbClr val="1D2A5C"/>
                </a:solidFill>
                <a:latin typeface="Arial" pitchFamily="34" charset="0"/>
                <a:ea typeface="Arial" pitchFamily="34" charset="-122"/>
                <a:cs typeface="Arial" pitchFamily="34" charset="-120"/>
              </a:rPr>
              <a:t>TASKS</a:t>
            </a:r>
            <a:endParaRPr lang="en-US" sz="1200" dirty="0"/>
          </a:p>
        </p:txBody>
      </p:sp>
      <p:sp>
        <p:nvSpPr>
          <p:cNvPr id="20" name="Shape 17"/>
          <p:cNvSpPr/>
          <p:nvPr/>
        </p:nvSpPr>
        <p:spPr>
          <a:xfrm>
            <a:off x="548640" y="4087368"/>
            <a:ext cx="292608" cy="292608"/>
          </a:xfrm>
          <a:prstGeom prst="ellipse">
            <a:avLst/>
          </a:prstGeom>
          <a:solidFill>
            <a:srgbClr val="2E5AAC"/>
          </a:solidFill>
          <a:ln/>
        </p:spPr>
      </p:sp>
      <p:sp>
        <p:nvSpPr>
          <p:cNvPr id="21" name="Text 18"/>
          <p:cNvSpPr/>
          <p:nvPr/>
        </p:nvSpPr>
        <p:spPr>
          <a:xfrm>
            <a:off x="548640" y="408736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19"/>
          <p:cNvSpPr/>
          <p:nvPr/>
        </p:nvSpPr>
        <p:spPr>
          <a:xfrm>
            <a:off x="960120" y="4069080"/>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Study cluttered_m3.png; list every violation (3D, rainbow, red/green, legend overlap, no title).</a:t>
            </a:r>
            <a:endParaRPr lang="en-US" sz="1100" dirty="0"/>
          </a:p>
        </p:txBody>
      </p:sp>
      <p:sp>
        <p:nvSpPr>
          <p:cNvPr id="23" name="Shape 20"/>
          <p:cNvSpPr/>
          <p:nvPr/>
        </p:nvSpPr>
        <p:spPr>
          <a:xfrm>
            <a:off x="548640" y="4368219"/>
            <a:ext cx="292608" cy="292608"/>
          </a:xfrm>
          <a:prstGeom prst="ellipse">
            <a:avLst/>
          </a:prstGeom>
          <a:solidFill>
            <a:srgbClr val="00A79D"/>
          </a:solidFill>
          <a:ln/>
        </p:spPr>
      </p:sp>
      <p:sp>
        <p:nvSpPr>
          <p:cNvPr id="24" name="Text 21"/>
          <p:cNvSpPr/>
          <p:nvPr/>
        </p:nvSpPr>
        <p:spPr>
          <a:xfrm>
            <a:off x="548640" y="4368219"/>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2"/>
          <p:cNvSpPr/>
          <p:nvPr/>
        </p:nvSpPr>
        <p:spPr>
          <a:xfrm>
            <a:off x="960120" y="4349931"/>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Rebuild honestly: choose the correct palette type; fix sequential or diverging data.</a:t>
            </a:r>
            <a:endParaRPr lang="en-US" sz="1100" dirty="0"/>
          </a:p>
        </p:txBody>
      </p:sp>
      <p:sp>
        <p:nvSpPr>
          <p:cNvPr id="26" name="Shape 23"/>
          <p:cNvSpPr/>
          <p:nvPr/>
        </p:nvSpPr>
        <p:spPr>
          <a:xfrm>
            <a:off x="548640" y="4649071"/>
            <a:ext cx="292608" cy="292608"/>
          </a:xfrm>
          <a:prstGeom prst="ellipse">
            <a:avLst/>
          </a:prstGeom>
          <a:solidFill>
            <a:srgbClr val="E8833A"/>
          </a:solidFill>
          <a:ln/>
        </p:spPr>
      </p:sp>
      <p:sp>
        <p:nvSpPr>
          <p:cNvPr id="27" name="Text 24"/>
          <p:cNvSpPr/>
          <p:nvPr/>
        </p:nvSpPr>
        <p:spPr>
          <a:xfrm>
            <a:off x="548640" y="4649071"/>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5"/>
          <p:cNvSpPr/>
          <p:nvPr/>
        </p:nvSpPr>
        <p:spPr>
          <a:xfrm>
            <a:off x="960120" y="4630783"/>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Apply the decluttering ladder: junk, gridlines, spines, legend via direct labels.</a:t>
            </a:r>
            <a:endParaRPr lang="en-US" sz="1100" dirty="0"/>
          </a:p>
        </p:txBody>
      </p:sp>
      <p:sp>
        <p:nvSpPr>
          <p:cNvPr id="29" name="Shape 26"/>
          <p:cNvSpPr/>
          <p:nvPr/>
        </p:nvSpPr>
        <p:spPr>
          <a:xfrm>
            <a:off x="548640" y="4929922"/>
            <a:ext cx="292608" cy="292608"/>
          </a:xfrm>
          <a:prstGeom prst="ellipse">
            <a:avLst/>
          </a:prstGeom>
          <a:solidFill>
            <a:srgbClr val="6C4FA1"/>
          </a:solidFill>
          <a:ln/>
        </p:spPr>
      </p:sp>
      <p:sp>
        <p:nvSpPr>
          <p:cNvPr id="30" name="Text 27"/>
          <p:cNvSpPr/>
          <p:nvPr/>
        </p:nvSpPr>
        <p:spPr>
          <a:xfrm>
            <a:off x="548640" y="4929922"/>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1" name="Text 28"/>
          <p:cNvSpPr/>
          <p:nvPr/>
        </p:nvSpPr>
        <p:spPr>
          <a:xfrm>
            <a:off x="960120" y="4911634"/>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Add annotation: a takeaway title and exactly one callout at the argument.</a:t>
            </a:r>
            <a:endParaRPr lang="en-US" sz="1100" dirty="0"/>
          </a:p>
        </p:txBody>
      </p:sp>
      <p:sp>
        <p:nvSpPr>
          <p:cNvPr id="32" name="Shape 29"/>
          <p:cNvSpPr/>
          <p:nvPr/>
        </p:nvSpPr>
        <p:spPr>
          <a:xfrm>
            <a:off x="548640" y="5210774"/>
            <a:ext cx="292608" cy="292608"/>
          </a:xfrm>
          <a:prstGeom prst="ellipse">
            <a:avLst/>
          </a:prstGeom>
          <a:solidFill>
            <a:srgbClr val="3FAE5A"/>
          </a:solidFill>
          <a:ln/>
        </p:spPr>
      </p:sp>
      <p:sp>
        <p:nvSpPr>
          <p:cNvPr id="33" name="Text 30"/>
          <p:cNvSpPr/>
          <p:nvPr/>
        </p:nvSpPr>
        <p:spPr>
          <a:xfrm>
            <a:off x="548640" y="5210774"/>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p:nvPr/>
        </p:nvSpPr>
        <p:spPr>
          <a:xfrm>
            <a:off x="960120" y="5192486"/>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Run a colour-blind simulation (cvd_sim.py); fix any red/green-only distinction.</a:t>
            </a:r>
            <a:endParaRPr lang="en-US" sz="1100" dirty="0"/>
          </a:p>
        </p:txBody>
      </p:sp>
      <p:sp>
        <p:nvSpPr>
          <p:cNvPr id="35" name="Shape 32"/>
          <p:cNvSpPr/>
          <p:nvPr/>
        </p:nvSpPr>
        <p:spPr>
          <a:xfrm>
            <a:off x="548640" y="5491625"/>
            <a:ext cx="292608" cy="292608"/>
          </a:xfrm>
          <a:prstGeom prst="ellipse">
            <a:avLst/>
          </a:prstGeom>
          <a:solidFill>
            <a:srgbClr val="29ABE2"/>
          </a:solidFill>
          <a:ln/>
        </p:spPr>
      </p:sp>
      <p:sp>
        <p:nvSpPr>
          <p:cNvPr id="36" name="Text 33"/>
          <p:cNvSpPr/>
          <p:nvPr/>
        </p:nvSpPr>
        <p:spPr>
          <a:xfrm>
            <a:off x="548640" y="5491625"/>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p:nvPr/>
        </p:nvSpPr>
        <p:spPr>
          <a:xfrm>
            <a:off x="960120" y="5473337"/>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Produce an Arabic version with RTL axis order and a correctly-rendered title.</a:t>
            </a:r>
            <a:endParaRPr lang="en-US" sz="1100" dirty="0"/>
          </a:p>
        </p:txBody>
      </p:sp>
      <p:sp>
        <p:nvSpPr>
          <p:cNvPr id="38" name="Shape 35"/>
          <p:cNvSpPr/>
          <p:nvPr/>
        </p:nvSpPr>
        <p:spPr>
          <a:xfrm>
            <a:off x="548640" y="5772477"/>
            <a:ext cx="292608" cy="292608"/>
          </a:xfrm>
          <a:prstGeom prst="ellipse">
            <a:avLst/>
          </a:prstGeom>
          <a:solidFill>
            <a:srgbClr val="D9534F"/>
          </a:solidFill>
          <a:ln/>
        </p:spPr>
      </p:sp>
      <p:sp>
        <p:nvSpPr>
          <p:cNvPr id="39" name="Text 36"/>
          <p:cNvSpPr/>
          <p:nvPr/>
        </p:nvSpPr>
        <p:spPr>
          <a:xfrm>
            <a:off x="548640" y="5772477"/>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40" name="Text 37"/>
          <p:cNvSpPr/>
          <p:nvPr/>
        </p:nvSpPr>
        <p:spPr>
          <a:xfrm>
            <a:off x="960120" y="5754189"/>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Count data-ink vs total-ink before/after; note the time-to-takeaway change.</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KNOWLEDGE CHECK</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Mini Exercises — Quick Check</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تمارين قصيرة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90</a:t>
            </a:r>
            <a:endParaRPr lang="en-US" sz="800" dirty="0"/>
          </a:p>
        </p:txBody>
      </p:sp>
      <p:sp>
        <p:nvSpPr>
          <p:cNvPr id="15" name="Shape 12"/>
          <p:cNvSpPr/>
          <p:nvPr/>
        </p:nvSpPr>
        <p:spPr>
          <a:xfrm>
            <a:off x="548640" y="2377440"/>
            <a:ext cx="11094415" cy="614477"/>
          </a:xfrm>
          <a:prstGeom prst="roundRect">
            <a:avLst>
              <a:gd name="adj" fmla="val 10417"/>
            </a:avLst>
          </a:prstGeom>
          <a:solidFill>
            <a:srgbClr val="FFFFFF"/>
          </a:solidFill>
          <a:ln w="12700">
            <a:solidFill>
              <a:srgbClr val="D9DEE8"/>
            </a:solidFill>
            <a:prstDash val="solid"/>
          </a:ln>
        </p:spPr>
      </p:sp>
      <p:sp>
        <p:nvSpPr>
          <p:cNvPr id="16" name="Shape 13"/>
          <p:cNvSpPr/>
          <p:nvPr/>
        </p:nvSpPr>
        <p:spPr>
          <a:xfrm>
            <a:off x="548640" y="2377440"/>
            <a:ext cx="91440" cy="614477"/>
          </a:xfrm>
          <a:prstGeom prst="rect">
            <a:avLst/>
          </a:prstGeom>
          <a:solidFill>
            <a:srgbClr val="2E5AAC"/>
          </a:solidFill>
          <a:ln/>
        </p:spPr>
      </p:sp>
      <p:sp>
        <p:nvSpPr>
          <p:cNvPr id="17" name="Text 14"/>
          <p:cNvSpPr/>
          <p:nvPr/>
        </p:nvSpPr>
        <p:spPr>
          <a:xfrm>
            <a:off x="804672" y="2450592"/>
            <a:ext cx="10637215" cy="307238"/>
          </a:xfrm>
          <a:prstGeom prst="rect">
            <a:avLst/>
          </a:prstGeom>
          <a:noFill/>
          <a:ln/>
        </p:spPr>
        <p:txBody>
          <a:bodyPr wrap="square" rtlCol="0" anchor="t"/>
          <a:lstStyle/>
          <a:p>
            <a:pPr marL="0" indent="0">
              <a:lnSpc>
                <a:spcPct val="98000"/>
              </a:lnSpc>
              <a:buNone/>
            </a:pPr>
            <a:r>
              <a:rPr lang="en-US" sz="1150" b="1" dirty="0">
                <a:solidFill>
                  <a:srgbClr val="2E5AAC"/>
                </a:solidFill>
                <a:latin typeface="Arial" pitchFamily="34" charset="0"/>
                <a:ea typeface="Arial" pitchFamily="34" charset="-122"/>
                <a:cs typeface="Arial" pitchFamily="34" charset="-120"/>
              </a:rPr>
              <a:t>Q1  </a:t>
            </a:r>
            <a:r>
              <a:rPr lang="en-US" sz="1150" b="1" dirty="0">
                <a:solidFill>
                  <a:srgbClr val="1D2A5C"/>
                </a:solidFill>
                <a:latin typeface="Arial" pitchFamily="34" charset="0"/>
                <a:ea typeface="Arial" pitchFamily="34" charset="-122"/>
                <a:cs typeface="Arial" pitchFamily="34" charset="-120"/>
              </a:rPr>
              <a:t>Data is 'variance from target.' Which palette?</a:t>
            </a:r>
            <a:endParaRPr lang="en-US" sz="1150" dirty="0"/>
          </a:p>
        </p:txBody>
      </p:sp>
      <p:sp>
        <p:nvSpPr>
          <p:cNvPr id="18" name="Text 15"/>
          <p:cNvSpPr/>
          <p:nvPr/>
        </p:nvSpPr>
        <p:spPr>
          <a:xfrm>
            <a:off x="804672" y="2666390"/>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Diverging, centred on the target.</a:t>
            </a:r>
            <a:endParaRPr lang="en-US" sz="1100" dirty="0"/>
          </a:p>
        </p:txBody>
      </p:sp>
      <p:sp>
        <p:nvSpPr>
          <p:cNvPr id="19" name="Shape 16"/>
          <p:cNvSpPr/>
          <p:nvPr/>
        </p:nvSpPr>
        <p:spPr>
          <a:xfrm>
            <a:off x="548640" y="3138221"/>
            <a:ext cx="11094415" cy="614477"/>
          </a:xfrm>
          <a:prstGeom prst="roundRect">
            <a:avLst>
              <a:gd name="adj" fmla="val 10417"/>
            </a:avLst>
          </a:prstGeom>
          <a:solidFill>
            <a:srgbClr val="FFFFFF"/>
          </a:solidFill>
          <a:ln w="12700">
            <a:solidFill>
              <a:srgbClr val="D9DEE8"/>
            </a:solidFill>
            <a:prstDash val="solid"/>
          </a:ln>
        </p:spPr>
      </p:sp>
      <p:sp>
        <p:nvSpPr>
          <p:cNvPr id="20" name="Shape 17"/>
          <p:cNvSpPr/>
          <p:nvPr/>
        </p:nvSpPr>
        <p:spPr>
          <a:xfrm>
            <a:off x="548640" y="3138221"/>
            <a:ext cx="91440" cy="614477"/>
          </a:xfrm>
          <a:prstGeom prst="rect">
            <a:avLst/>
          </a:prstGeom>
          <a:solidFill>
            <a:srgbClr val="00A79D"/>
          </a:solidFill>
          <a:ln/>
        </p:spPr>
      </p:sp>
      <p:sp>
        <p:nvSpPr>
          <p:cNvPr id="21" name="Text 18"/>
          <p:cNvSpPr/>
          <p:nvPr/>
        </p:nvSpPr>
        <p:spPr>
          <a:xfrm>
            <a:off x="804672" y="3211373"/>
            <a:ext cx="10637215" cy="307238"/>
          </a:xfrm>
          <a:prstGeom prst="rect">
            <a:avLst/>
          </a:prstGeom>
          <a:noFill/>
          <a:ln/>
        </p:spPr>
        <p:txBody>
          <a:bodyPr wrap="square" rtlCol="0" anchor="t"/>
          <a:lstStyle/>
          <a:p>
            <a:pPr marL="0" indent="0">
              <a:lnSpc>
                <a:spcPct val="98000"/>
              </a:lnSpc>
              <a:buNone/>
            </a:pPr>
            <a:r>
              <a:rPr lang="en-US" sz="1150" b="1" dirty="0">
                <a:solidFill>
                  <a:srgbClr val="00A79D"/>
                </a:solidFill>
                <a:latin typeface="Arial" pitchFamily="34" charset="0"/>
                <a:ea typeface="Arial" pitchFamily="34" charset="-122"/>
                <a:cs typeface="Arial" pitchFamily="34" charset="-120"/>
              </a:rPr>
              <a:t>Q2  </a:t>
            </a:r>
            <a:r>
              <a:rPr lang="en-US" sz="1150" b="1" dirty="0">
                <a:solidFill>
                  <a:srgbClr val="1D2A5C"/>
                </a:solidFill>
                <a:latin typeface="Arial" pitchFamily="34" charset="0"/>
                <a:ea typeface="Arial" pitchFamily="34" charset="-122"/>
                <a:cs typeface="Arial" pitchFamily="34" charset="-120"/>
              </a:rPr>
              <a:t>Why is red/green-only encoding a defect?</a:t>
            </a:r>
            <a:endParaRPr lang="en-US" sz="1150" dirty="0"/>
          </a:p>
        </p:txBody>
      </p:sp>
      <p:sp>
        <p:nvSpPr>
          <p:cNvPr id="22" name="Text 19"/>
          <p:cNvSpPr/>
          <p:nvPr/>
        </p:nvSpPr>
        <p:spPr>
          <a:xfrm>
            <a:off x="804672" y="3427171"/>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Excludes ~8% of men (colour-blindness); violates redundancy.</a:t>
            </a:r>
            <a:endParaRPr lang="en-US" sz="1100" dirty="0"/>
          </a:p>
        </p:txBody>
      </p:sp>
      <p:sp>
        <p:nvSpPr>
          <p:cNvPr id="23" name="Shape 20"/>
          <p:cNvSpPr/>
          <p:nvPr/>
        </p:nvSpPr>
        <p:spPr>
          <a:xfrm>
            <a:off x="548640" y="3899002"/>
            <a:ext cx="11094415" cy="614477"/>
          </a:xfrm>
          <a:prstGeom prst="roundRect">
            <a:avLst>
              <a:gd name="adj" fmla="val 10417"/>
            </a:avLst>
          </a:prstGeom>
          <a:solidFill>
            <a:srgbClr val="FFFFFF"/>
          </a:solidFill>
          <a:ln w="12700">
            <a:solidFill>
              <a:srgbClr val="D9DEE8"/>
            </a:solidFill>
            <a:prstDash val="solid"/>
          </a:ln>
        </p:spPr>
      </p:sp>
      <p:sp>
        <p:nvSpPr>
          <p:cNvPr id="24" name="Shape 21"/>
          <p:cNvSpPr/>
          <p:nvPr/>
        </p:nvSpPr>
        <p:spPr>
          <a:xfrm>
            <a:off x="548640" y="3899002"/>
            <a:ext cx="91440" cy="614477"/>
          </a:xfrm>
          <a:prstGeom prst="rect">
            <a:avLst/>
          </a:prstGeom>
          <a:solidFill>
            <a:srgbClr val="E8833A"/>
          </a:solidFill>
          <a:ln/>
        </p:spPr>
      </p:sp>
      <p:sp>
        <p:nvSpPr>
          <p:cNvPr id="25" name="Text 22"/>
          <p:cNvSpPr/>
          <p:nvPr/>
        </p:nvSpPr>
        <p:spPr>
          <a:xfrm>
            <a:off x="804672" y="3972154"/>
            <a:ext cx="10637215" cy="307238"/>
          </a:xfrm>
          <a:prstGeom prst="rect">
            <a:avLst/>
          </a:prstGeom>
          <a:noFill/>
          <a:ln/>
        </p:spPr>
        <p:txBody>
          <a:bodyPr wrap="square" rtlCol="0" anchor="t"/>
          <a:lstStyle/>
          <a:p>
            <a:pPr marL="0" indent="0">
              <a:lnSpc>
                <a:spcPct val="98000"/>
              </a:lnSpc>
              <a:buNone/>
            </a:pPr>
            <a:r>
              <a:rPr lang="en-US" sz="1150" b="1" dirty="0">
                <a:solidFill>
                  <a:srgbClr val="E8833A"/>
                </a:solidFill>
                <a:latin typeface="Arial" pitchFamily="34" charset="0"/>
                <a:ea typeface="Arial" pitchFamily="34" charset="-122"/>
                <a:cs typeface="Arial" pitchFamily="34" charset="-120"/>
              </a:rPr>
              <a:t>Q3  </a:t>
            </a:r>
            <a:r>
              <a:rPr lang="en-US" sz="1150" b="1" dirty="0">
                <a:solidFill>
                  <a:srgbClr val="1D2A5C"/>
                </a:solidFill>
                <a:latin typeface="Arial" pitchFamily="34" charset="0"/>
                <a:ea typeface="Arial" pitchFamily="34" charset="-122"/>
                <a:cs typeface="Arial" pitchFamily="34" charset="-120"/>
              </a:rPr>
              <a:t>How do you raise the data-ink ratio?</a:t>
            </a:r>
            <a:endParaRPr lang="en-US" sz="1150" dirty="0"/>
          </a:p>
        </p:txBody>
      </p:sp>
      <p:sp>
        <p:nvSpPr>
          <p:cNvPr id="26" name="Text 23"/>
          <p:cNvSpPr/>
          <p:nvPr/>
        </p:nvSpPr>
        <p:spPr>
          <a:xfrm>
            <a:off x="804672" y="4187952"/>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Remove non-data ink (junk, gridlines, borders, legend) without touching data ink.</a:t>
            </a:r>
            <a:endParaRPr lang="en-US" sz="1100" dirty="0"/>
          </a:p>
        </p:txBody>
      </p:sp>
      <p:sp>
        <p:nvSpPr>
          <p:cNvPr id="27" name="Shape 24"/>
          <p:cNvSpPr/>
          <p:nvPr/>
        </p:nvSpPr>
        <p:spPr>
          <a:xfrm>
            <a:off x="548640" y="4659782"/>
            <a:ext cx="11094415" cy="614477"/>
          </a:xfrm>
          <a:prstGeom prst="roundRect">
            <a:avLst>
              <a:gd name="adj" fmla="val 10417"/>
            </a:avLst>
          </a:prstGeom>
          <a:solidFill>
            <a:srgbClr val="FFFFFF"/>
          </a:solidFill>
          <a:ln w="12700">
            <a:solidFill>
              <a:srgbClr val="D9DEE8"/>
            </a:solidFill>
            <a:prstDash val="solid"/>
          </a:ln>
        </p:spPr>
      </p:sp>
      <p:sp>
        <p:nvSpPr>
          <p:cNvPr id="28" name="Shape 25"/>
          <p:cNvSpPr/>
          <p:nvPr/>
        </p:nvSpPr>
        <p:spPr>
          <a:xfrm>
            <a:off x="548640" y="4659782"/>
            <a:ext cx="91440" cy="614477"/>
          </a:xfrm>
          <a:prstGeom prst="rect">
            <a:avLst/>
          </a:prstGeom>
          <a:solidFill>
            <a:srgbClr val="6C4FA1"/>
          </a:solidFill>
          <a:ln/>
        </p:spPr>
      </p:sp>
      <p:sp>
        <p:nvSpPr>
          <p:cNvPr id="29" name="Text 26"/>
          <p:cNvSpPr/>
          <p:nvPr/>
        </p:nvSpPr>
        <p:spPr>
          <a:xfrm>
            <a:off x="804672" y="4732934"/>
            <a:ext cx="10637215" cy="307238"/>
          </a:xfrm>
          <a:prstGeom prst="rect">
            <a:avLst/>
          </a:prstGeom>
          <a:noFill/>
          <a:ln/>
        </p:spPr>
        <p:txBody>
          <a:bodyPr wrap="square" rtlCol="0" anchor="t"/>
          <a:lstStyle/>
          <a:p>
            <a:pPr marL="0" indent="0">
              <a:lnSpc>
                <a:spcPct val="98000"/>
              </a:lnSpc>
              <a:buNone/>
            </a:pPr>
            <a:r>
              <a:rPr lang="en-US" sz="1150" b="1" dirty="0">
                <a:solidFill>
                  <a:srgbClr val="6C4FA1"/>
                </a:solidFill>
                <a:latin typeface="Arial" pitchFamily="34" charset="0"/>
                <a:ea typeface="Arial" pitchFamily="34" charset="-122"/>
                <a:cs typeface="Arial" pitchFamily="34" charset="-120"/>
              </a:rPr>
              <a:t>Q4  </a:t>
            </a:r>
            <a:r>
              <a:rPr lang="en-US" sz="1150" b="1" dirty="0">
                <a:solidFill>
                  <a:srgbClr val="1D2A5C"/>
                </a:solidFill>
                <a:latin typeface="Arial" pitchFamily="34" charset="0"/>
                <a:ea typeface="Arial" pitchFamily="34" charset="-122"/>
                <a:cs typeface="Arial" pitchFamily="34" charset="-120"/>
              </a:rPr>
              <a:t>How many callout annotations should carry the argument?</a:t>
            </a:r>
            <a:endParaRPr lang="en-US" sz="1150" dirty="0"/>
          </a:p>
        </p:txBody>
      </p:sp>
      <p:sp>
        <p:nvSpPr>
          <p:cNvPr id="30" name="Text 27"/>
          <p:cNvSpPr/>
          <p:nvPr/>
        </p:nvSpPr>
        <p:spPr>
          <a:xfrm>
            <a:off x="804672" y="4948733"/>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One, maybe two — state the point, don't restate the axis.</a:t>
            </a:r>
            <a:endParaRPr lang="en-US" sz="1100" dirty="0"/>
          </a:p>
        </p:txBody>
      </p:sp>
      <p:sp>
        <p:nvSpPr>
          <p:cNvPr id="31" name="Shape 28"/>
          <p:cNvSpPr/>
          <p:nvPr/>
        </p:nvSpPr>
        <p:spPr>
          <a:xfrm>
            <a:off x="548640" y="5420563"/>
            <a:ext cx="11094415" cy="614477"/>
          </a:xfrm>
          <a:prstGeom prst="roundRect">
            <a:avLst>
              <a:gd name="adj" fmla="val 10417"/>
            </a:avLst>
          </a:prstGeom>
          <a:solidFill>
            <a:srgbClr val="FFFFFF"/>
          </a:solidFill>
          <a:ln w="12700">
            <a:solidFill>
              <a:srgbClr val="D9DEE8"/>
            </a:solidFill>
            <a:prstDash val="solid"/>
          </a:ln>
        </p:spPr>
      </p:sp>
      <p:sp>
        <p:nvSpPr>
          <p:cNvPr id="32" name="Shape 29"/>
          <p:cNvSpPr/>
          <p:nvPr/>
        </p:nvSpPr>
        <p:spPr>
          <a:xfrm>
            <a:off x="548640" y="5420563"/>
            <a:ext cx="91440" cy="614477"/>
          </a:xfrm>
          <a:prstGeom prst="rect">
            <a:avLst/>
          </a:prstGeom>
          <a:solidFill>
            <a:srgbClr val="3FAE5A"/>
          </a:solidFill>
          <a:ln/>
        </p:spPr>
      </p:sp>
      <p:sp>
        <p:nvSpPr>
          <p:cNvPr id="33" name="Text 30"/>
          <p:cNvSpPr/>
          <p:nvPr/>
        </p:nvSpPr>
        <p:spPr>
          <a:xfrm>
            <a:off x="804672" y="5493715"/>
            <a:ext cx="10637215" cy="307238"/>
          </a:xfrm>
          <a:prstGeom prst="rect">
            <a:avLst/>
          </a:prstGeom>
          <a:noFill/>
          <a:ln/>
        </p:spPr>
        <p:txBody>
          <a:bodyPr wrap="square" rtlCol="0" anchor="t"/>
          <a:lstStyle/>
          <a:p>
            <a:pPr marL="0" indent="0">
              <a:lnSpc>
                <a:spcPct val="98000"/>
              </a:lnSpc>
              <a:buNone/>
            </a:pPr>
            <a:r>
              <a:rPr lang="en-US" sz="1150" b="1" dirty="0">
                <a:solidFill>
                  <a:srgbClr val="3FAE5A"/>
                </a:solidFill>
                <a:latin typeface="Arial" pitchFamily="34" charset="0"/>
                <a:ea typeface="Arial" pitchFamily="34" charset="-122"/>
                <a:cs typeface="Arial" pitchFamily="34" charset="-120"/>
              </a:rPr>
              <a:t>Q5  </a:t>
            </a:r>
            <a:r>
              <a:rPr lang="en-US" sz="1150" b="1" dirty="0">
                <a:solidFill>
                  <a:srgbClr val="1D2A5C"/>
                </a:solidFill>
                <a:latin typeface="Arial" pitchFamily="34" charset="0"/>
                <a:ea typeface="Arial" pitchFamily="34" charset="-122"/>
                <a:cs typeface="Arial" pitchFamily="34" charset="-120"/>
              </a:rPr>
              <a:t>In an Arabic chart, which way does the time axis run?</a:t>
            </a:r>
            <a:endParaRPr lang="en-US" sz="1150" dirty="0"/>
          </a:p>
        </p:txBody>
      </p:sp>
      <p:sp>
        <p:nvSpPr>
          <p:cNvPr id="34" name="Text 31"/>
          <p:cNvSpPr/>
          <p:nvPr/>
        </p:nvSpPr>
        <p:spPr>
          <a:xfrm>
            <a:off x="804672" y="5709514"/>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Right-to-left (earliest on the right).</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CASE STUDY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Case Study — Accessible, Bilingual Progress Chart</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مخطط التقدم الوطني: متاح وثنائي اللغة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91</a:t>
            </a:r>
            <a:endParaRPr lang="en-US" sz="800" dirty="0"/>
          </a:p>
        </p:txBody>
      </p:sp>
      <p:sp>
        <p:nvSpPr>
          <p:cNvPr id="15" name="Shape 12"/>
          <p:cNvSpPr/>
          <p:nvPr/>
        </p:nvSpPr>
        <p:spPr>
          <a:xfrm>
            <a:off x="548640" y="2331720"/>
            <a:ext cx="5410048" cy="1751076"/>
          </a:xfrm>
          <a:prstGeom prst="roundRect">
            <a:avLst>
              <a:gd name="adj" fmla="val 4178"/>
            </a:avLst>
          </a:prstGeom>
          <a:solidFill>
            <a:srgbClr val="EAF0FA"/>
          </a:solidFill>
          <a:ln w="12700">
            <a:solidFill>
              <a:srgbClr val="2E5AAC"/>
            </a:solidFill>
            <a:prstDash val="solid"/>
          </a:ln>
        </p:spPr>
      </p:sp>
      <p:sp>
        <p:nvSpPr>
          <p:cNvPr id="16" name="Text 13"/>
          <p:cNvSpPr/>
          <p:nvPr/>
        </p:nvSpPr>
        <p:spPr>
          <a:xfrm>
            <a:off x="749808" y="2459736"/>
            <a:ext cx="5044288" cy="274320"/>
          </a:xfrm>
          <a:prstGeom prst="rect">
            <a:avLst/>
          </a:prstGeom>
          <a:noFill/>
          <a:ln/>
        </p:spPr>
        <p:txBody>
          <a:bodyPr wrap="square" rtlCol="0" anchor="ctr"/>
          <a:lstStyle/>
          <a:p>
            <a:pPr marL="0" indent="0">
              <a:buNone/>
            </a:pPr>
            <a:r>
              <a:rPr lang="en-US" sz="1100" b="1" kern="0" spc="100" dirty="0">
                <a:solidFill>
                  <a:srgbClr val="2E5AAC"/>
                </a:solidFill>
                <a:latin typeface="Arial" pitchFamily="34" charset="0"/>
                <a:ea typeface="Arial" pitchFamily="34" charset="-122"/>
                <a:cs typeface="Arial" pitchFamily="34" charset="-120"/>
              </a:rPr>
              <a:t>SCENARIO</a:t>
            </a:r>
            <a:endParaRPr lang="en-US" sz="1100" dirty="0"/>
          </a:p>
        </p:txBody>
      </p:sp>
      <p:sp>
        <p:nvSpPr>
          <p:cNvPr id="17" name="Text 14"/>
          <p:cNvSpPr/>
          <p:nvPr/>
        </p:nvSpPr>
        <p:spPr>
          <a:xfrm>
            <a:off x="749808" y="2788920"/>
            <a:ext cx="5007712" cy="1184148"/>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Tayseer's flagship national digital-adoption chart appears in a public Vision 2030 update, in Arabic and English. It uses a red-to-green gradient and a left-to-right time axis in the Arabic edition — flagged by an accessibility review and an Arabic-first stakeholder.</a:t>
            </a:r>
            <a:endParaRPr lang="en-US" sz="1100" dirty="0"/>
          </a:p>
        </p:txBody>
      </p:sp>
      <p:sp>
        <p:nvSpPr>
          <p:cNvPr id="18" name="Shape 15"/>
          <p:cNvSpPr/>
          <p:nvPr/>
        </p:nvSpPr>
        <p:spPr>
          <a:xfrm>
            <a:off x="6233008" y="2331720"/>
            <a:ext cx="5410048" cy="1751076"/>
          </a:xfrm>
          <a:prstGeom prst="roundRect">
            <a:avLst>
              <a:gd name="adj" fmla="val 4178"/>
            </a:avLst>
          </a:prstGeom>
          <a:solidFill>
            <a:srgbClr val="E6F5F4"/>
          </a:solidFill>
          <a:ln w="12700">
            <a:solidFill>
              <a:srgbClr val="00A79D"/>
            </a:solidFill>
            <a:prstDash val="solid"/>
          </a:ln>
        </p:spPr>
      </p:sp>
      <p:sp>
        <p:nvSpPr>
          <p:cNvPr id="19" name="Text 16"/>
          <p:cNvSpPr/>
          <p:nvPr/>
        </p:nvSpPr>
        <p:spPr>
          <a:xfrm>
            <a:off x="6434176" y="2459736"/>
            <a:ext cx="5044288" cy="274320"/>
          </a:xfrm>
          <a:prstGeom prst="rect">
            <a:avLst/>
          </a:prstGeom>
          <a:noFill/>
          <a:ln/>
        </p:spPr>
        <p:txBody>
          <a:bodyPr wrap="square" rtlCol="0" anchor="ctr"/>
          <a:lstStyle/>
          <a:p>
            <a:pPr marL="0" indent="0">
              <a:buNone/>
            </a:pPr>
            <a:r>
              <a:rPr lang="en-US" sz="1100" b="1" kern="0" spc="100" dirty="0">
                <a:solidFill>
                  <a:srgbClr val="00A79D"/>
                </a:solidFill>
                <a:latin typeface="Arial" pitchFamily="34" charset="0"/>
                <a:ea typeface="Arial" pitchFamily="34" charset="-122"/>
                <a:cs typeface="Arial" pitchFamily="34" charset="-120"/>
              </a:rPr>
              <a:t>BUSINESS CONTEXT</a:t>
            </a:r>
            <a:endParaRPr lang="en-US" sz="1100" dirty="0"/>
          </a:p>
        </p:txBody>
      </p:sp>
      <p:sp>
        <p:nvSpPr>
          <p:cNvPr id="20" name="Text 17"/>
          <p:cNvSpPr/>
          <p:nvPr/>
        </p:nvSpPr>
        <p:spPr>
          <a:xfrm>
            <a:off x="6434176" y="2788920"/>
            <a:ext cx="5007712" cy="1184148"/>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A public-facing artefact tied to a national program's credibility. An inaccessible or awkwardly-localised chart in a Vision 2030 communication is a reputational issue, not just a design nit.</a:t>
            </a:r>
            <a:endParaRPr lang="en-US" sz="1100" dirty="0"/>
          </a:p>
        </p:txBody>
      </p:sp>
      <p:sp>
        <p:nvSpPr>
          <p:cNvPr id="21" name="Shape 18"/>
          <p:cNvSpPr/>
          <p:nvPr/>
        </p:nvSpPr>
        <p:spPr>
          <a:xfrm>
            <a:off x="548640" y="4283964"/>
            <a:ext cx="5410048" cy="1751076"/>
          </a:xfrm>
          <a:prstGeom prst="roundRect">
            <a:avLst>
              <a:gd name="adj" fmla="val 4178"/>
            </a:avLst>
          </a:prstGeom>
          <a:solidFill>
            <a:srgbClr val="FCF0E6"/>
          </a:solidFill>
          <a:ln w="12700">
            <a:solidFill>
              <a:srgbClr val="E8833A"/>
            </a:solidFill>
            <a:prstDash val="solid"/>
          </a:ln>
        </p:spPr>
      </p:sp>
      <p:sp>
        <p:nvSpPr>
          <p:cNvPr id="22" name="Text 19"/>
          <p:cNvSpPr/>
          <p:nvPr/>
        </p:nvSpPr>
        <p:spPr>
          <a:xfrm>
            <a:off x="749808" y="4411980"/>
            <a:ext cx="5044288" cy="274320"/>
          </a:xfrm>
          <a:prstGeom prst="rect">
            <a:avLst/>
          </a:prstGeom>
          <a:noFill/>
          <a:ln/>
        </p:spPr>
        <p:txBody>
          <a:bodyPr wrap="square" rtlCol="0" anchor="ctr"/>
          <a:lstStyle/>
          <a:p>
            <a:pPr marL="0" indent="0">
              <a:buNone/>
            </a:pPr>
            <a:r>
              <a:rPr lang="en-US" sz="1100" b="1" kern="0" spc="100" dirty="0">
                <a:solidFill>
                  <a:srgbClr val="E8833A"/>
                </a:solidFill>
                <a:latin typeface="Arial" pitchFamily="34" charset="0"/>
                <a:ea typeface="Arial" pitchFamily="34" charset="-122"/>
                <a:cs typeface="Arial" pitchFamily="34" charset="-120"/>
              </a:rPr>
              <a:t>CHALLENGE</a:t>
            </a:r>
            <a:endParaRPr lang="en-US" sz="1100" dirty="0"/>
          </a:p>
        </p:txBody>
      </p:sp>
      <p:sp>
        <p:nvSpPr>
          <p:cNvPr id="23" name="Text 20"/>
          <p:cNvSpPr/>
          <p:nvPr/>
        </p:nvSpPr>
        <p:spPr>
          <a:xfrm>
            <a:off x="749808" y="4741164"/>
            <a:ext cx="5007712" cy="1184148"/>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Redesign it to be colour-blind-safe, correctly localised for Arabic (RTL, numerals, glyphs), and still on-brand — without changing the underlying message.</a:t>
            </a:r>
            <a:endParaRPr lang="en-US" sz="1100" dirty="0"/>
          </a:p>
        </p:txBody>
      </p:sp>
      <p:sp>
        <p:nvSpPr>
          <p:cNvPr id="24" name="Shape 21"/>
          <p:cNvSpPr/>
          <p:nvPr/>
        </p:nvSpPr>
        <p:spPr>
          <a:xfrm>
            <a:off x="6233008" y="4283964"/>
            <a:ext cx="5410048" cy="1751076"/>
          </a:xfrm>
          <a:prstGeom prst="roundRect">
            <a:avLst>
              <a:gd name="adj" fmla="val 4178"/>
            </a:avLst>
          </a:prstGeom>
          <a:solidFill>
            <a:srgbClr val="EFEBF6"/>
          </a:solidFill>
          <a:ln w="12700">
            <a:solidFill>
              <a:srgbClr val="6C4FA1"/>
            </a:solidFill>
            <a:prstDash val="solid"/>
          </a:ln>
        </p:spPr>
      </p:sp>
      <p:sp>
        <p:nvSpPr>
          <p:cNvPr id="25" name="Text 22"/>
          <p:cNvSpPr/>
          <p:nvPr/>
        </p:nvSpPr>
        <p:spPr>
          <a:xfrm>
            <a:off x="6434176" y="4411980"/>
            <a:ext cx="5044288" cy="274320"/>
          </a:xfrm>
          <a:prstGeom prst="rect">
            <a:avLst/>
          </a:prstGeom>
          <a:noFill/>
          <a:ln/>
        </p:spPr>
        <p:txBody>
          <a:bodyPr wrap="square" rtlCol="0" anchor="ctr"/>
          <a:lstStyle/>
          <a:p>
            <a:pPr marL="0" indent="0">
              <a:buNone/>
            </a:pPr>
            <a:r>
              <a:rPr lang="en-US" sz="1100" b="1" kern="0" spc="100" dirty="0">
                <a:solidFill>
                  <a:srgbClr val="6C4FA1"/>
                </a:solidFill>
                <a:latin typeface="Arial" pitchFamily="34" charset="0"/>
                <a:ea typeface="Arial" pitchFamily="34" charset="-122"/>
                <a:cs typeface="Arial" pitchFamily="34" charset="-120"/>
              </a:rPr>
              <a:t>APPROACH</a:t>
            </a:r>
            <a:endParaRPr lang="en-US" sz="1100" dirty="0"/>
          </a:p>
        </p:txBody>
      </p:sp>
      <p:sp>
        <p:nvSpPr>
          <p:cNvPr id="26" name="Text 23"/>
          <p:cNvSpPr/>
          <p:nvPr/>
        </p:nvSpPr>
        <p:spPr>
          <a:xfrm>
            <a:off x="6434176" y="4741164"/>
            <a:ext cx="5007712" cy="1184148"/>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Replace red-green with a colour-blind-safe palette plus a redundant cue; build a true RTL Arabic version (mirror the axis, reshape/bidi); reserve the brand accent for the national trend and grey the context; annotate crossing 65%; verify both editions on the simulator.</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Targets to reach after Module 3</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96</a:t>
            </a:r>
            <a:endParaRPr lang="en-US" sz="8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2798064"/>
        </p:xfrm>
        <a:graphic>
          <a:graphicData uri="http://schemas.openxmlformats.org/drawingml/2006/table">
            <a:tbl>
              <a:tblPr/>
              <a:tblGrid>
                <a:gridCol w="4389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How measured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Correct palette type for data</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Lab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Colour-blind simulator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cvd_sim.py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Data-ink improvement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 2× fewer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Element count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Argument-carrying annotations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Instructor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Arabic RTL + glyph correctness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Correct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Native-reader check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Before / After — the worked redesign</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97</a:t>
            </a:r>
            <a:endParaRPr lang="en-US" sz="800" dirty="0"/>
          </a:p>
        </p:txBody>
      </p:sp>
      <p:sp>
        <p:nvSpPr>
          <p:cNvPr id="14" name="Shape 11"/>
          <p:cNvSpPr/>
          <p:nvPr/>
        </p:nvSpPr>
        <p:spPr>
          <a:xfrm>
            <a:off x="548640" y="2295144"/>
            <a:ext cx="2567864" cy="2286000"/>
          </a:xfrm>
          <a:prstGeom prst="roundRect">
            <a:avLst>
              <a:gd name="adj" fmla="val 4000"/>
            </a:avLst>
          </a:prstGeom>
          <a:solidFill>
            <a:srgbClr val="EAF0FA"/>
          </a:solidFill>
          <a:ln w="15240">
            <a:solidFill>
              <a:srgbClr val="2E5AAC"/>
            </a:solidFill>
            <a:prstDash val="solid"/>
          </a:ln>
        </p:spPr>
      </p:sp>
      <p:sp>
        <p:nvSpPr>
          <p:cNvPr id="15" name="Text 12"/>
          <p:cNvSpPr/>
          <p:nvPr/>
        </p:nvSpPr>
        <p:spPr>
          <a:xfrm>
            <a:off x="640080" y="2569464"/>
            <a:ext cx="2384984" cy="914400"/>
          </a:xfrm>
          <a:prstGeom prst="rect">
            <a:avLst/>
          </a:prstGeom>
          <a:noFill/>
          <a:ln/>
        </p:spPr>
        <p:txBody>
          <a:bodyPr wrap="square" rtlCol="0" anchor="ctr"/>
          <a:lstStyle/>
          <a:p>
            <a:pPr marL="0" indent="0" algn="ctr">
              <a:buNone/>
            </a:pPr>
            <a:r>
              <a:rPr lang="en-US" sz="3400" b="1" dirty="0">
                <a:solidFill>
                  <a:srgbClr val="2E5AAC"/>
                </a:solidFill>
                <a:latin typeface="Arial" pitchFamily="34" charset="0"/>
                <a:ea typeface="Arial" pitchFamily="34" charset="-122"/>
                <a:cs typeface="Arial" pitchFamily="34" charset="-120"/>
              </a:rPr>
              <a:t>16 → 3</a:t>
            </a:r>
            <a:endParaRPr lang="en-US" sz="3400" dirty="0"/>
          </a:p>
        </p:txBody>
      </p:sp>
      <p:sp>
        <p:nvSpPr>
          <p:cNvPr id="16" name="Text 13"/>
          <p:cNvSpPr/>
          <p:nvPr/>
        </p:nvSpPr>
        <p:spPr>
          <a:xfrm>
            <a:off x="658368" y="3502152"/>
            <a:ext cx="2348408"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Non-data ink</a:t>
            </a:r>
            <a:endParaRPr lang="en-US" sz="1250" dirty="0"/>
          </a:p>
        </p:txBody>
      </p:sp>
      <p:sp>
        <p:nvSpPr>
          <p:cNvPr id="17" name="Text 14"/>
          <p:cNvSpPr/>
          <p:nvPr/>
        </p:nvSpPr>
        <p:spPr>
          <a:xfrm>
            <a:off x="676656" y="3867912"/>
            <a:ext cx="2311832"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Non-data ink elements cut over 5×.</a:t>
            </a:r>
            <a:endParaRPr lang="en-US" sz="1000" dirty="0"/>
          </a:p>
        </p:txBody>
      </p:sp>
      <p:sp>
        <p:nvSpPr>
          <p:cNvPr id="18" name="Shape 15"/>
          <p:cNvSpPr/>
          <p:nvPr/>
        </p:nvSpPr>
        <p:spPr>
          <a:xfrm>
            <a:off x="3390824" y="2295144"/>
            <a:ext cx="2567864" cy="2286000"/>
          </a:xfrm>
          <a:prstGeom prst="roundRect">
            <a:avLst>
              <a:gd name="adj" fmla="val 4000"/>
            </a:avLst>
          </a:prstGeom>
          <a:solidFill>
            <a:srgbClr val="E6F5F4"/>
          </a:solidFill>
          <a:ln w="15240">
            <a:solidFill>
              <a:srgbClr val="00A79D"/>
            </a:solidFill>
            <a:prstDash val="solid"/>
          </a:ln>
        </p:spPr>
      </p:sp>
      <p:sp>
        <p:nvSpPr>
          <p:cNvPr id="19" name="Text 16"/>
          <p:cNvSpPr/>
          <p:nvPr/>
        </p:nvSpPr>
        <p:spPr>
          <a:xfrm>
            <a:off x="3482264" y="2569464"/>
            <a:ext cx="2384984" cy="914400"/>
          </a:xfrm>
          <a:prstGeom prst="rect">
            <a:avLst/>
          </a:prstGeom>
          <a:noFill/>
          <a:ln/>
        </p:spPr>
        <p:txBody>
          <a:bodyPr wrap="square" rtlCol="0" anchor="ctr"/>
          <a:lstStyle/>
          <a:p>
            <a:pPr marL="0" indent="0" algn="ctr">
              <a:buNone/>
            </a:pPr>
            <a:r>
              <a:rPr lang="en-US" sz="4400" b="1" dirty="0">
                <a:solidFill>
                  <a:srgbClr val="00A79D"/>
                </a:solidFill>
                <a:latin typeface="Arial" pitchFamily="34" charset="0"/>
                <a:ea typeface="Arial" pitchFamily="34" charset="-122"/>
                <a:cs typeface="Arial" pitchFamily="34" charset="-120"/>
              </a:rPr>
              <a:t>0 → 1</a:t>
            </a:r>
            <a:endParaRPr lang="en-US" sz="4400" dirty="0"/>
          </a:p>
        </p:txBody>
      </p:sp>
      <p:sp>
        <p:nvSpPr>
          <p:cNvPr id="20" name="Text 17"/>
          <p:cNvSpPr/>
          <p:nvPr/>
        </p:nvSpPr>
        <p:spPr>
          <a:xfrm>
            <a:off x="3500552" y="3502152"/>
            <a:ext cx="2348408"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Annotations</a:t>
            </a:r>
            <a:endParaRPr lang="en-US" sz="1250" dirty="0"/>
          </a:p>
        </p:txBody>
      </p:sp>
      <p:sp>
        <p:nvSpPr>
          <p:cNvPr id="21" name="Text 18"/>
          <p:cNvSpPr/>
          <p:nvPr/>
        </p:nvSpPr>
        <p:spPr>
          <a:xfrm>
            <a:off x="3518840" y="3867912"/>
            <a:ext cx="2311832"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From none to one callout plus a takeaway title.</a:t>
            </a:r>
            <a:endParaRPr lang="en-US" sz="1000" dirty="0"/>
          </a:p>
        </p:txBody>
      </p:sp>
      <p:sp>
        <p:nvSpPr>
          <p:cNvPr id="22" name="Shape 19"/>
          <p:cNvSpPr/>
          <p:nvPr/>
        </p:nvSpPr>
        <p:spPr>
          <a:xfrm>
            <a:off x="6233008" y="2295144"/>
            <a:ext cx="2567864" cy="2286000"/>
          </a:xfrm>
          <a:prstGeom prst="roundRect">
            <a:avLst>
              <a:gd name="adj" fmla="val 4000"/>
            </a:avLst>
          </a:prstGeom>
          <a:solidFill>
            <a:srgbClr val="FCF0E6"/>
          </a:solidFill>
          <a:ln w="15240">
            <a:solidFill>
              <a:srgbClr val="E8833A"/>
            </a:solidFill>
            <a:prstDash val="solid"/>
          </a:ln>
        </p:spPr>
      </p:sp>
      <p:sp>
        <p:nvSpPr>
          <p:cNvPr id="23" name="Text 20"/>
          <p:cNvSpPr/>
          <p:nvPr/>
        </p:nvSpPr>
        <p:spPr>
          <a:xfrm>
            <a:off x="6324448" y="2569464"/>
            <a:ext cx="2384984" cy="914400"/>
          </a:xfrm>
          <a:prstGeom prst="rect">
            <a:avLst/>
          </a:prstGeom>
          <a:noFill/>
          <a:ln/>
        </p:spPr>
        <p:txBody>
          <a:bodyPr wrap="square" rtlCol="0" anchor="ctr"/>
          <a:lstStyle/>
          <a:p>
            <a:pPr marL="0" indent="0" algn="ctr">
              <a:buNone/>
            </a:pPr>
            <a:r>
              <a:rPr lang="en-US" sz="2700" b="1" dirty="0">
                <a:solidFill>
                  <a:srgbClr val="E8833A"/>
                </a:solidFill>
                <a:latin typeface="Arial" pitchFamily="34" charset="0"/>
                <a:ea typeface="Arial" pitchFamily="34" charset="-122"/>
                <a:cs typeface="Arial" pitchFamily="34" charset="-120"/>
              </a:rPr>
              <a:t>14 → 4 s</a:t>
            </a:r>
            <a:endParaRPr lang="en-US" sz="2700" dirty="0"/>
          </a:p>
        </p:txBody>
      </p:sp>
      <p:sp>
        <p:nvSpPr>
          <p:cNvPr id="24" name="Text 21"/>
          <p:cNvSpPr/>
          <p:nvPr/>
        </p:nvSpPr>
        <p:spPr>
          <a:xfrm>
            <a:off x="6342736" y="3502152"/>
            <a:ext cx="2348408"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Time-to-takeaway</a:t>
            </a:r>
            <a:endParaRPr lang="en-US" sz="1250" dirty="0"/>
          </a:p>
        </p:txBody>
      </p:sp>
      <p:sp>
        <p:nvSpPr>
          <p:cNvPr id="25" name="Text 22"/>
          <p:cNvSpPr/>
          <p:nvPr/>
        </p:nvSpPr>
        <p:spPr>
          <a:xfrm>
            <a:off x="6361024" y="3867912"/>
            <a:ext cx="2311832"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Peer time to read the takeaway.</a:t>
            </a:r>
            <a:endParaRPr lang="en-US" sz="1000" dirty="0"/>
          </a:p>
        </p:txBody>
      </p:sp>
      <p:sp>
        <p:nvSpPr>
          <p:cNvPr id="26" name="Shape 23"/>
          <p:cNvSpPr/>
          <p:nvPr/>
        </p:nvSpPr>
        <p:spPr>
          <a:xfrm>
            <a:off x="9075191" y="2295144"/>
            <a:ext cx="2567864" cy="2286000"/>
          </a:xfrm>
          <a:prstGeom prst="roundRect">
            <a:avLst>
              <a:gd name="adj" fmla="val 4000"/>
            </a:avLst>
          </a:prstGeom>
          <a:solidFill>
            <a:srgbClr val="EFEBF6"/>
          </a:solidFill>
          <a:ln w="15240">
            <a:solidFill>
              <a:srgbClr val="6C4FA1"/>
            </a:solidFill>
            <a:prstDash val="solid"/>
          </a:ln>
        </p:spPr>
      </p:sp>
      <p:sp>
        <p:nvSpPr>
          <p:cNvPr id="27" name="Text 24"/>
          <p:cNvSpPr/>
          <p:nvPr/>
        </p:nvSpPr>
        <p:spPr>
          <a:xfrm>
            <a:off x="9166631" y="2569464"/>
            <a:ext cx="2384984" cy="914400"/>
          </a:xfrm>
          <a:prstGeom prst="rect">
            <a:avLst/>
          </a:prstGeom>
          <a:noFill/>
          <a:ln/>
        </p:spPr>
        <p:txBody>
          <a:bodyPr wrap="square" rtlCol="0" anchor="ctr"/>
          <a:lstStyle/>
          <a:p>
            <a:pPr marL="0" indent="0" algn="ctr">
              <a:buNone/>
            </a:pPr>
            <a:r>
              <a:rPr lang="en-US" sz="2700" b="1" dirty="0">
                <a:solidFill>
                  <a:srgbClr val="6C4FA1"/>
                </a:solidFill>
                <a:latin typeface="Arial" pitchFamily="34" charset="0"/>
                <a:ea typeface="Arial" pitchFamily="34" charset="-122"/>
                <a:cs typeface="Arial" pitchFamily="34" charset="-120"/>
              </a:rPr>
              <a:t>no → yes</a:t>
            </a:r>
            <a:endParaRPr lang="en-US" sz="2700" dirty="0"/>
          </a:p>
        </p:txBody>
      </p:sp>
      <p:sp>
        <p:nvSpPr>
          <p:cNvPr id="28" name="Text 25"/>
          <p:cNvSpPr/>
          <p:nvPr/>
        </p:nvSpPr>
        <p:spPr>
          <a:xfrm>
            <a:off x="9184919" y="3502152"/>
            <a:ext cx="2348408"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Colour-blind safe</a:t>
            </a:r>
            <a:endParaRPr lang="en-US" sz="1250" dirty="0"/>
          </a:p>
        </p:txBody>
      </p:sp>
      <p:sp>
        <p:nvSpPr>
          <p:cNvPr id="29" name="Text 26"/>
          <p:cNvSpPr/>
          <p:nvPr/>
        </p:nvSpPr>
        <p:spPr>
          <a:xfrm>
            <a:off x="9203207" y="3867912"/>
            <a:ext cx="2311832"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Now passes the deuteranopia simulator.</a:t>
            </a:r>
            <a:endParaRPr lang="en-US" sz="1000" dirty="0"/>
          </a:p>
        </p:txBody>
      </p:sp>
      <p:sp>
        <p:nvSpPr>
          <p:cNvPr id="30" name="Text 27"/>
          <p:cNvSpPr/>
          <p:nvPr/>
        </p:nvSpPr>
        <p:spPr>
          <a:xfrm>
            <a:off x="548640" y="4709160"/>
            <a:ext cx="11094415" cy="365760"/>
          </a:xfrm>
          <a:prstGeom prst="rect">
            <a:avLst/>
          </a:prstGeom>
          <a:noFill/>
          <a:ln/>
        </p:spPr>
        <p:txBody>
          <a:bodyPr wrap="square" rtlCol="0" anchor="ctr"/>
          <a:lstStyle/>
          <a:p>
            <a:pPr marL="0" indent="0" algn="ctr">
              <a:buNone/>
            </a:pPr>
            <a:r>
              <a:rPr lang="en-US" sz="1100" i="1" dirty="0">
                <a:solidFill>
                  <a:srgbClr val="6B7280"/>
                </a:solidFill>
                <a:latin typeface="Arial" pitchFamily="34" charset="0"/>
                <a:ea typeface="Arial" pitchFamily="34" charset="-122"/>
                <a:cs typeface="Arial" pitchFamily="34" charset="-120"/>
              </a:rPr>
              <a:t>Palette: rainbow on ordered data → sequential Blues.</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TRAINING ASSETS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Required Visuals &amp; Training Assets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الأصول التدريبية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98</a:t>
            </a:r>
            <a:endParaRPr lang="en-US" sz="800" dirty="0"/>
          </a:p>
        </p:txBody>
      </p:sp>
      <p:sp>
        <p:nvSpPr>
          <p:cNvPr id="15" name="Shape 12"/>
          <p:cNvSpPr/>
          <p:nvPr/>
        </p:nvSpPr>
        <p:spPr>
          <a:xfrm>
            <a:off x="548640" y="2377440"/>
            <a:ext cx="3515258" cy="3657600"/>
          </a:xfrm>
          <a:prstGeom prst="roundRect">
            <a:avLst>
              <a:gd name="adj" fmla="val 2341"/>
            </a:avLst>
          </a:prstGeom>
          <a:solidFill>
            <a:srgbClr val="FFFFFF"/>
          </a:solidFill>
          <a:ln w="12700">
            <a:solidFill>
              <a:srgbClr val="D9DEE8"/>
            </a:solidFill>
            <a:prstDash val="solid"/>
          </a:ln>
        </p:spPr>
      </p:sp>
      <p:sp>
        <p:nvSpPr>
          <p:cNvPr id="16" name="Shape 13"/>
          <p:cNvSpPr/>
          <p:nvPr/>
        </p:nvSpPr>
        <p:spPr>
          <a:xfrm>
            <a:off x="548640" y="2377440"/>
            <a:ext cx="3515258" cy="457200"/>
          </a:xfrm>
          <a:prstGeom prst="roundRect">
            <a:avLst>
              <a:gd name="adj" fmla="val 18000"/>
            </a:avLst>
          </a:prstGeom>
          <a:solidFill>
            <a:srgbClr val="2E5AAC"/>
          </a:solidFill>
          <a:ln/>
        </p:spPr>
      </p:sp>
      <p:sp>
        <p:nvSpPr>
          <p:cNvPr id="17" name="Shape 14"/>
          <p:cNvSpPr/>
          <p:nvPr/>
        </p:nvSpPr>
        <p:spPr>
          <a:xfrm>
            <a:off x="548640" y="2606040"/>
            <a:ext cx="3515258" cy="228600"/>
          </a:xfrm>
          <a:prstGeom prst="rect">
            <a:avLst/>
          </a:prstGeom>
          <a:solidFill>
            <a:srgbClr val="2E5AAC"/>
          </a:solidFill>
          <a:ln/>
        </p:spPr>
      </p:sp>
      <p:sp>
        <p:nvSpPr>
          <p:cNvPr id="18" name="Text 15"/>
          <p:cNvSpPr/>
          <p:nvPr/>
        </p:nvSpPr>
        <p:spPr>
          <a:xfrm>
            <a:off x="640080"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Diagrams</a:t>
            </a:r>
            <a:endParaRPr lang="en-US" sz="1250" dirty="0"/>
          </a:p>
        </p:txBody>
      </p:sp>
      <p:sp>
        <p:nvSpPr>
          <p:cNvPr id="19" name="Text 16"/>
          <p:cNvSpPr/>
          <p:nvPr/>
        </p:nvSpPr>
        <p:spPr>
          <a:xfrm>
            <a:off x="713232" y="2971800"/>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Palette decision chart (Arabic + English)</a:t>
            </a:r>
            <a:endParaRPr lang="en-US" sz="1050" dirty="0"/>
          </a:p>
        </p:txBody>
      </p:sp>
      <p:sp>
        <p:nvSpPr>
          <p:cNvPr id="20" name="Text 17"/>
          <p:cNvSpPr/>
          <p:nvPr/>
        </p:nvSpPr>
        <p:spPr>
          <a:xfrm>
            <a:off x="713232" y="3392424"/>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Decluttering ladder poster (six rungs)</a:t>
            </a:r>
            <a:endParaRPr lang="en-US" sz="1050" dirty="0"/>
          </a:p>
        </p:txBody>
      </p:sp>
      <p:sp>
        <p:nvSpPr>
          <p:cNvPr id="21" name="Text 18"/>
          <p:cNvSpPr/>
          <p:nvPr/>
        </p:nvSpPr>
        <p:spPr>
          <a:xfrm>
            <a:off x="713232" y="3813048"/>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Annotation anatomy exemplar</a:t>
            </a:r>
            <a:endParaRPr lang="en-US" sz="1050" dirty="0"/>
          </a:p>
        </p:txBody>
      </p:sp>
      <p:sp>
        <p:nvSpPr>
          <p:cNvPr id="22" name="Text 19"/>
          <p:cNvSpPr/>
          <p:nvPr/>
        </p:nvSpPr>
        <p:spPr>
          <a:xfrm>
            <a:off x="713232" y="4233672"/>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RTL/Arabic layout guide (LTR vs RTL)</a:t>
            </a:r>
            <a:endParaRPr lang="en-US" sz="1050" dirty="0"/>
          </a:p>
        </p:txBody>
      </p:sp>
      <p:sp>
        <p:nvSpPr>
          <p:cNvPr id="23" name="Shape 20"/>
          <p:cNvSpPr/>
          <p:nvPr/>
        </p:nvSpPr>
        <p:spPr>
          <a:xfrm>
            <a:off x="4338218" y="2377440"/>
            <a:ext cx="3515258" cy="3657600"/>
          </a:xfrm>
          <a:prstGeom prst="roundRect">
            <a:avLst>
              <a:gd name="adj" fmla="val 2341"/>
            </a:avLst>
          </a:prstGeom>
          <a:solidFill>
            <a:srgbClr val="FFFFFF"/>
          </a:solidFill>
          <a:ln w="12700">
            <a:solidFill>
              <a:srgbClr val="D9DEE8"/>
            </a:solidFill>
            <a:prstDash val="solid"/>
          </a:ln>
        </p:spPr>
      </p:sp>
      <p:sp>
        <p:nvSpPr>
          <p:cNvPr id="24" name="Shape 21"/>
          <p:cNvSpPr/>
          <p:nvPr/>
        </p:nvSpPr>
        <p:spPr>
          <a:xfrm>
            <a:off x="4338218" y="2377440"/>
            <a:ext cx="3515258" cy="457200"/>
          </a:xfrm>
          <a:prstGeom prst="roundRect">
            <a:avLst>
              <a:gd name="adj" fmla="val 18000"/>
            </a:avLst>
          </a:prstGeom>
          <a:solidFill>
            <a:srgbClr val="00A79D"/>
          </a:solidFill>
          <a:ln/>
        </p:spPr>
      </p:sp>
      <p:sp>
        <p:nvSpPr>
          <p:cNvPr id="25" name="Shape 22"/>
          <p:cNvSpPr/>
          <p:nvPr/>
        </p:nvSpPr>
        <p:spPr>
          <a:xfrm>
            <a:off x="4338218" y="2606040"/>
            <a:ext cx="3515258" cy="228600"/>
          </a:xfrm>
          <a:prstGeom prst="rect">
            <a:avLst/>
          </a:prstGeom>
          <a:solidFill>
            <a:srgbClr val="00A79D"/>
          </a:solidFill>
          <a:ln/>
        </p:spPr>
      </p:sp>
      <p:sp>
        <p:nvSpPr>
          <p:cNvPr id="26" name="Text 23"/>
          <p:cNvSpPr/>
          <p:nvPr/>
        </p:nvSpPr>
        <p:spPr>
          <a:xfrm>
            <a:off x="4429658"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Images</a:t>
            </a:r>
            <a:endParaRPr lang="en-US" sz="1250" dirty="0"/>
          </a:p>
        </p:txBody>
      </p:sp>
      <p:sp>
        <p:nvSpPr>
          <p:cNvPr id="27" name="Text 24"/>
          <p:cNvSpPr/>
          <p:nvPr/>
        </p:nvSpPr>
        <p:spPr>
          <a:xfrm>
            <a:off x="4502810" y="2971800"/>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m3_diverging_cost.png (target-centred)</a:t>
            </a:r>
            <a:endParaRPr lang="en-US" sz="1050" dirty="0"/>
          </a:p>
        </p:txBody>
      </p:sp>
      <p:sp>
        <p:nvSpPr>
          <p:cNvPr id="28" name="Text 25"/>
          <p:cNvSpPr/>
          <p:nvPr/>
        </p:nvSpPr>
        <p:spPr>
          <a:xfrm>
            <a:off x="4502810" y="3392424"/>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cluttered_m3.png (the 'before')</a:t>
            </a:r>
            <a:endParaRPr lang="en-US" sz="1050" dirty="0"/>
          </a:p>
        </p:txBody>
      </p:sp>
      <p:sp>
        <p:nvSpPr>
          <p:cNvPr id="29" name="Text 26"/>
          <p:cNvSpPr/>
          <p:nvPr/>
        </p:nvSpPr>
        <p:spPr>
          <a:xfrm>
            <a:off x="4502810" y="3813048"/>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m3_after_annotated.png (the 'after')</a:t>
            </a:r>
            <a:endParaRPr lang="en-US" sz="1050" dirty="0"/>
          </a:p>
        </p:txBody>
      </p:sp>
      <p:sp>
        <p:nvSpPr>
          <p:cNvPr id="30" name="Text 27"/>
          <p:cNvSpPr/>
          <p:nvPr/>
        </p:nvSpPr>
        <p:spPr>
          <a:xfrm>
            <a:off x="4502810" y="4233672"/>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Colour-blind simulator output</a:t>
            </a:r>
            <a:endParaRPr lang="en-US" sz="1050" dirty="0"/>
          </a:p>
        </p:txBody>
      </p:sp>
      <p:sp>
        <p:nvSpPr>
          <p:cNvPr id="31" name="Shape 28"/>
          <p:cNvSpPr/>
          <p:nvPr/>
        </p:nvSpPr>
        <p:spPr>
          <a:xfrm>
            <a:off x="8127797" y="2377440"/>
            <a:ext cx="3515258" cy="3657600"/>
          </a:xfrm>
          <a:prstGeom prst="roundRect">
            <a:avLst>
              <a:gd name="adj" fmla="val 2341"/>
            </a:avLst>
          </a:prstGeom>
          <a:solidFill>
            <a:srgbClr val="FFFFFF"/>
          </a:solidFill>
          <a:ln w="12700">
            <a:solidFill>
              <a:srgbClr val="D9DEE8"/>
            </a:solidFill>
            <a:prstDash val="solid"/>
          </a:ln>
        </p:spPr>
      </p:sp>
      <p:sp>
        <p:nvSpPr>
          <p:cNvPr id="32" name="Shape 29"/>
          <p:cNvSpPr/>
          <p:nvPr/>
        </p:nvSpPr>
        <p:spPr>
          <a:xfrm>
            <a:off x="8127797" y="2377440"/>
            <a:ext cx="3515258" cy="457200"/>
          </a:xfrm>
          <a:prstGeom prst="roundRect">
            <a:avLst>
              <a:gd name="adj" fmla="val 18000"/>
            </a:avLst>
          </a:prstGeom>
          <a:solidFill>
            <a:srgbClr val="E8833A"/>
          </a:solidFill>
          <a:ln/>
        </p:spPr>
      </p:sp>
      <p:sp>
        <p:nvSpPr>
          <p:cNvPr id="33" name="Shape 30"/>
          <p:cNvSpPr/>
          <p:nvPr/>
        </p:nvSpPr>
        <p:spPr>
          <a:xfrm>
            <a:off x="8127797" y="2606040"/>
            <a:ext cx="3515258" cy="228600"/>
          </a:xfrm>
          <a:prstGeom prst="rect">
            <a:avLst/>
          </a:prstGeom>
          <a:solidFill>
            <a:srgbClr val="E8833A"/>
          </a:solidFill>
          <a:ln/>
        </p:spPr>
      </p:sp>
      <p:sp>
        <p:nvSpPr>
          <p:cNvPr id="34" name="Text 31"/>
          <p:cNvSpPr/>
          <p:nvPr/>
        </p:nvSpPr>
        <p:spPr>
          <a:xfrm>
            <a:off x="8219237"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Datasets</a:t>
            </a:r>
            <a:endParaRPr lang="en-US" sz="1250" dirty="0"/>
          </a:p>
        </p:txBody>
      </p:sp>
      <p:sp>
        <p:nvSpPr>
          <p:cNvPr id="35" name="Text 32"/>
          <p:cNvSpPr/>
          <p:nvPr/>
        </p:nvSpPr>
        <p:spPr>
          <a:xfrm>
            <a:off x="8292389" y="2971800"/>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tayseer_services.csv (~28k rows)</a:t>
            </a:r>
            <a:endParaRPr lang="en-US" sz="1050" dirty="0"/>
          </a:p>
        </p:txBody>
      </p:sp>
      <p:sp>
        <p:nvSpPr>
          <p:cNvPr id="36" name="Text 33"/>
          <p:cNvSpPr/>
          <p:nvPr/>
        </p:nvSpPr>
        <p:spPr>
          <a:xfrm>
            <a:off x="8292389" y="3392424"/>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cluttered_m3.png + source (redesign target)</a:t>
            </a:r>
            <a:endParaRPr lang="en-US" sz="1050" dirty="0"/>
          </a:p>
        </p:txBody>
      </p:sp>
      <p:sp>
        <p:nvSpPr>
          <p:cNvPr id="37" name="Text 34"/>
          <p:cNvSpPr/>
          <p:nvPr/>
        </p:nvSpPr>
        <p:spPr>
          <a:xfrm>
            <a:off x="8292389" y="3813048"/>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brand_palette.json (mock national brand)</a:t>
            </a:r>
            <a:endParaRPr lang="en-US" sz="1050" dirty="0"/>
          </a:p>
        </p:txBody>
      </p:sp>
      <p:sp>
        <p:nvSpPr>
          <p:cNvPr id="38" name="Text 35"/>
          <p:cNvSpPr/>
          <p:nvPr/>
        </p:nvSpPr>
        <p:spPr>
          <a:xfrm>
            <a:off x="8292389" y="4233672"/>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Arabic-capable font bundle (TTF)</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marL="0" indent="0" algn="l">
              <a:buNone/>
            </a:pPr>
            <a:r>
              <a:rPr lang="en-US" sz="15000" b="1" dirty="0">
                <a:solidFill>
                  <a:srgbClr val="27345F"/>
                </a:solidFill>
                <a:latin typeface="Arial" pitchFamily="34" charset="0"/>
                <a:ea typeface="Arial" pitchFamily="34" charset="-122"/>
                <a:cs typeface="Arial" pitchFamily="34" charset="-120"/>
              </a:rPr>
              <a:t>04</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marL="0" indent="0">
              <a:buNone/>
            </a:pPr>
            <a:r>
              <a:rPr lang="en-US" sz="1400" b="1" kern="0" spc="300" dirty="0">
                <a:solidFill>
                  <a:srgbClr val="00A79D"/>
                </a:solidFill>
                <a:latin typeface="Arial" pitchFamily="34" charset="0"/>
                <a:ea typeface="Arial" pitchFamily="34" charset="-122"/>
                <a:cs typeface="Arial" pitchFamily="34" charset="-120"/>
              </a:rPr>
              <a:t>MODULE 4</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marL="0" indent="0">
              <a:buNone/>
            </a:pPr>
            <a:r>
              <a:rPr lang="en-US" sz="3400" b="1" dirty="0">
                <a:solidFill>
                  <a:srgbClr val="FFFFFF"/>
                </a:solidFill>
                <a:latin typeface="Arial" pitchFamily="34" charset="0"/>
                <a:ea typeface="Arial" pitchFamily="34" charset="-122"/>
                <a:cs typeface="Arial" pitchFamily="34" charset="-120"/>
              </a:rPr>
              <a:t>Interactive Dashboards and BI Tools</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marL="0" indent="0">
              <a:buNone/>
            </a:pPr>
            <a:r>
              <a:rPr lang="en-US" sz="1800" dirty="0">
                <a:solidFill>
                  <a:srgbClr val="C9D3EA"/>
                </a:solidFill>
                <a:latin typeface="Arial" pitchFamily="34" charset="0"/>
                <a:ea typeface="Arial" pitchFamily="34" charset="-122"/>
                <a:cs typeface="Arial" pitchFamily="34" charset="-120"/>
              </a:rPr>
              <a:t>لوحات المعلومات التفاعلية</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marL="0" indent="0">
              <a:buNone/>
            </a:pPr>
            <a:r>
              <a:rPr lang="en-US" sz="1250" dirty="0">
                <a:solidFill>
                  <a:srgbClr val="AEB8D0"/>
                </a:solidFill>
                <a:latin typeface="Arial" pitchFamily="34" charset="0"/>
                <a:ea typeface="Arial" pitchFamily="34" charset="-122"/>
                <a:cs typeface="Arial" pitchFamily="34" charset="-120"/>
              </a:rPr>
              <a:t>Turn a set of honest charts into a system — a dashboard with a job, an audience, and a failure mode.</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MODULE OVERVIEW</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A dashboard is an argument with controls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الغرض</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100</a:t>
            </a:r>
            <a:endParaRPr lang="en-US" sz="800" dirty="0"/>
          </a:p>
        </p:txBody>
      </p:sp>
      <p:sp>
        <p:nvSpPr>
          <p:cNvPr id="15" name="Text 12"/>
          <p:cNvSpPr/>
          <p:nvPr/>
        </p:nvSpPr>
        <p:spPr>
          <a:xfrm>
            <a:off x="548640" y="2377440"/>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The craft shifts from 'compose one view' to 'compose a layout, choose interaction patterns, and design for self-service'.</a:t>
            </a:r>
            <a:endParaRPr lang="en-US" sz="1300" dirty="0"/>
          </a:p>
        </p:txBody>
      </p:sp>
      <p:sp>
        <p:nvSpPr>
          <p:cNvPr id="16" name="Shape 13"/>
          <p:cNvSpPr/>
          <p:nvPr/>
        </p:nvSpPr>
        <p:spPr>
          <a:xfrm>
            <a:off x="548640" y="3209544"/>
            <a:ext cx="100584" cy="420624"/>
          </a:xfrm>
          <a:prstGeom prst="rect">
            <a:avLst/>
          </a:prstGeom>
          <a:solidFill>
            <a:srgbClr val="2E5AAC"/>
          </a:solidFill>
          <a:ln/>
        </p:spPr>
      </p:sp>
      <p:sp>
        <p:nvSpPr>
          <p:cNvPr id="17" name="Text 14"/>
          <p:cNvSpPr/>
          <p:nvPr/>
        </p:nvSpPr>
        <p:spPr>
          <a:xfrm>
            <a:off x="804672" y="315468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From view to system:  </a:t>
            </a:r>
            <a:r>
              <a:rPr lang="en-US" sz="1250" dirty="0">
                <a:solidFill>
                  <a:srgbClr val="343A4E"/>
                </a:solidFill>
                <a:latin typeface="Arial" pitchFamily="34" charset="0"/>
                <a:ea typeface="Arial" pitchFamily="34" charset="-122"/>
                <a:cs typeface="Arial" pitchFamily="34" charset="-120"/>
              </a:rPr>
              <a:t>A set of charts becomes software that lets a user explore Tayseer with no analyst in the room.</a:t>
            </a:r>
            <a:endParaRPr lang="en-US" sz="1250" dirty="0"/>
          </a:p>
        </p:txBody>
      </p:sp>
      <p:sp>
        <p:nvSpPr>
          <p:cNvPr id="18" name="Shape 15"/>
          <p:cNvSpPr/>
          <p:nvPr/>
        </p:nvSpPr>
        <p:spPr>
          <a:xfrm>
            <a:off x="548640" y="3776472"/>
            <a:ext cx="100584" cy="420624"/>
          </a:xfrm>
          <a:prstGeom prst="rect">
            <a:avLst/>
          </a:prstGeom>
          <a:solidFill>
            <a:srgbClr val="00A79D"/>
          </a:solidFill>
          <a:ln/>
        </p:spPr>
      </p:sp>
      <p:sp>
        <p:nvSpPr>
          <p:cNvPr id="19" name="Text 16"/>
          <p:cNvSpPr/>
          <p:nvPr/>
        </p:nvSpPr>
        <p:spPr>
          <a:xfrm>
            <a:off x="804672" y="372160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It has a job:  </a:t>
            </a:r>
            <a:r>
              <a:rPr lang="en-US" sz="1250" dirty="0">
                <a:solidFill>
                  <a:srgbClr val="343A4E"/>
                </a:solidFill>
                <a:latin typeface="Arial" pitchFamily="34" charset="0"/>
                <a:ea typeface="Arial" pitchFamily="34" charset="-122"/>
                <a:cs typeface="Arial" pitchFamily="34" charset="-120"/>
              </a:rPr>
              <a:t>One audience, one recurring decision, one cadence — everything else is clutter with a refresh button.</a:t>
            </a:r>
            <a:endParaRPr lang="en-US" sz="1250" dirty="0"/>
          </a:p>
        </p:txBody>
      </p:sp>
      <p:sp>
        <p:nvSpPr>
          <p:cNvPr id="20" name="Shape 17"/>
          <p:cNvSpPr/>
          <p:nvPr/>
        </p:nvSpPr>
        <p:spPr>
          <a:xfrm>
            <a:off x="548640" y="4343400"/>
            <a:ext cx="100584" cy="420624"/>
          </a:xfrm>
          <a:prstGeom prst="rect">
            <a:avLst/>
          </a:prstGeom>
          <a:solidFill>
            <a:srgbClr val="E8833A"/>
          </a:solidFill>
          <a:ln/>
        </p:spPr>
      </p:sp>
      <p:sp>
        <p:nvSpPr>
          <p:cNvPr id="21" name="Text 18"/>
          <p:cNvSpPr/>
          <p:nvPr/>
        </p:nvSpPr>
        <p:spPr>
          <a:xfrm>
            <a:off x="804672" y="4288536"/>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Two homes:  </a:t>
            </a:r>
            <a:r>
              <a:rPr lang="en-US" sz="1250" dirty="0">
                <a:solidFill>
                  <a:srgbClr val="343A4E"/>
                </a:solidFill>
                <a:latin typeface="Arial" pitchFamily="34" charset="0"/>
                <a:ea typeface="Arial" pitchFamily="34" charset="-122"/>
                <a:cs typeface="Arial" pitchFamily="34" charset="-120"/>
              </a:rPr>
              <a:t>Plotly for programmatic control; a BI tool for the self-service reality of most Saudi organisations.</a:t>
            </a:r>
            <a:endParaRPr lang="en-US" sz="1250" dirty="0"/>
          </a:p>
        </p:txBody>
      </p:sp>
      <p:sp>
        <p:nvSpPr>
          <p:cNvPr id="22" name="Shape 19"/>
          <p:cNvSpPr/>
          <p:nvPr/>
        </p:nvSpPr>
        <p:spPr>
          <a:xfrm>
            <a:off x="548640" y="4910328"/>
            <a:ext cx="100584" cy="420624"/>
          </a:xfrm>
          <a:prstGeom prst="rect">
            <a:avLst/>
          </a:prstGeom>
          <a:solidFill>
            <a:srgbClr val="6C4FA1"/>
          </a:solidFill>
          <a:ln/>
        </p:spPr>
      </p:sp>
      <p:sp>
        <p:nvSpPr>
          <p:cNvPr id="23" name="Text 20"/>
          <p:cNvSpPr/>
          <p:nvPr/>
        </p:nvSpPr>
        <p:spPr>
          <a:xfrm>
            <a:off x="804672" y="485546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Not a data dump:  </a:t>
            </a:r>
            <a:r>
              <a:rPr lang="en-US" sz="1250" dirty="0">
                <a:solidFill>
                  <a:srgbClr val="343A4E"/>
                </a:solidFill>
                <a:latin typeface="Arial" pitchFamily="34" charset="0"/>
                <a:ea typeface="Arial" pitchFamily="34" charset="-122"/>
                <a:cs typeface="Arial" pitchFamily="34" charset="-120"/>
              </a:rPr>
              <a:t>The wall of gauges answers no question; a good dashboard is an argument with controls.</a:t>
            </a:r>
            <a:endParaRPr lang="en-US" sz="12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BUSINESS RELEVANCE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A live dashboard, not a monthly PDF</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101</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Executives and operations directorates increasingly expect a live view they can query themselves at 8am — that is the value of business intelligence.</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Self-service:  </a:t>
            </a:r>
            <a:r>
              <a:rPr lang="en-US" sz="1250" dirty="0">
                <a:solidFill>
                  <a:srgbClr val="343A4E"/>
                </a:solidFill>
                <a:latin typeface="Arial" pitchFamily="34" charset="0"/>
                <a:ea typeface="Arial" pitchFamily="34" charset="-122"/>
                <a:cs typeface="Arial" pitchFamily="34" charset="-120"/>
              </a:rPr>
              <a:t>Ops answers 'which region needs an intervention this week?' without waiting for the analytics team.</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Shelfware risk:  </a:t>
            </a:r>
            <a:r>
              <a:rPr lang="en-US" sz="1250" dirty="0">
                <a:solidFill>
                  <a:srgbClr val="343A4E"/>
                </a:solidFill>
                <a:latin typeface="Arial" pitchFamily="34" charset="0"/>
                <a:ea typeface="Arial" pitchFamily="34" charset="-122"/>
                <a:cs typeface="Arial" pitchFamily="34" charset="-120"/>
              </a:rPr>
              <a:t>A bad dashboard shows twenty KPIs, answers none, and is opened once in a fortnight.</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Vision 2030:  </a:t>
            </a:r>
            <a:r>
              <a:rPr lang="en-US" sz="1250" dirty="0">
                <a:solidFill>
                  <a:srgbClr val="343A4E"/>
                </a:solidFill>
                <a:latin typeface="Arial" pitchFamily="34" charset="0"/>
                <a:ea typeface="Arial" pitchFamily="34" charset="-122"/>
                <a:cs typeface="Arial" pitchFamily="34" charset="-120"/>
              </a:rPr>
              <a:t>Every ministry is standing up performance dashboards; the difference is design, not data.</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Weekly decisions:  </a:t>
            </a:r>
            <a:r>
              <a:rPr lang="en-US" sz="1250" dirty="0">
                <a:solidFill>
                  <a:srgbClr val="343A4E"/>
                </a:solidFill>
                <a:latin typeface="Arial" pitchFamily="34" charset="0"/>
                <a:ea typeface="Arial" pitchFamily="34" charset="-122"/>
                <a:cs typeface="Arial" pitchFamily="34" charset="-120"/>
              </a:rPr>
              <a:t>The gap between a dashboard that drives decisions and one that is ignored is almost all design.</a:t>
            </a:r>
            <a:endParaRPr lang="en-US" sz="12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INDUSTRY USE CASES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Where a dashboard earns its keep</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102</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marL="0" indent="0" algn="ctr">
              <a:buNone/>
            </a:pPr>
            <a:r>
              <a:rPr lang="en-US" sz="1000" b="1" dirty="0">
                <a:solidFill>
                  <a:srgbClr val="2E5AAC"/>
                </a:solidFill>
                <a:latin typeface="Arial" pitchFamily="34" charset="0"/>
                <a:ea typeface="Arial" pitchFamily="34" charset="-122"/>
                <a:cs typeface="Arial" pitchFamily="34" charset="-120"/>
              </a:rPr>
              <a:t>Gov</a:t>
            </a:r>
            <a:endParaRPr lang="en-US" sz="1000" dirty="0"/>
          </a:p>
        </p:txBody>
      </p:sp>
      <p:sp>
        <p:nvSpPr>
          <p:cNvPr id="18" name="Text 15"/>
          <p:cNvSpPr/>
          <p:nvPr/>
        </p:nvSpPr>
        <p:spPr>
          <a:xfrm>
            <a:off x="731520"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Deputy Minister's morning screen</a:t>
            </a:r>
            <a:endParaRPr lang="en-US" sz="1300" dirty="0"/>
          </a:p>
        </p:txBody>
      </p:sp>
      <p:sp>
        <p:nvSpPr>
          <p:cNvPr id="19" name="Text 16"/>
          <p:cNvSpPr/>
          <p:nvPr/>
        </p:nvSpPr>
        <p:spPr>
          <a:xfrm>
            <a:off x="731520" y="3200400"/>
            <a:ext cx="3149498" cy="768096"/>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One headline KPI, the trend, and the three regions needing attention — nothing else above the fold.</a:t>
            </a:r>
            <a:endParaRPr lang="en-US" sz="1050" dirty="0"/>
          </a:p>
        </p:txBody>
      </p:sp>
      <p:sp>
        <p:nvSpPr>
          <p:cNvPr id="20" name="Shape 17"/>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21" name="Shape 18"/>
          <p:cNvSpPr/>
          <p:nvPr/>
        </p:nvSpPr>
        <p:spPr>
          <a:xfrm>
            <a:off x="4338218" y="2066544"/>
            <a:ext cx="3515258" cy="82296"/>
          </a:xfrm>
          <a:prstGeom prst="rect">
            <a:avLst/>
          </a:prstGeom>
          <a:solidFill>
            <a:srgbClr val="00A79D"/>
          </a:solidFill>
          <a:ln/>
        </p:spPr>
      </p:sp>
      <p:sp>
        <p:nvSpPr>
          <p:cNvPr id="22" name="Shape 19"/>
          <p:cNvSpPr/>
          <p:nvPr/>
        </p:nvSpPr>
        <p:spPr>
          <a:xfrm>
            <a:off x="4521098" y="2249424"/>
            <a:ext cx="822960" cy="292608"/>
          </a:xfrm>
          <a:prstGeom prst="roundRect">
            <a:avLst>
              <a:gd name="adj" fmla="val 18750"/>
            </a:avLst>
          </a:prstGeom>
          <a:solidFill>
            <a:srgbClr val="E6F5F4"/>
          </a:solidFill>
          <a:ln/>
        </p:spPr>
      </p:sp>
      <p:sp>
        <p:nvSpPr>
          <p:cNvPr id="23" name="Text 20"/>
          <p:cNvSpPr/>
          <p:nvPr/>
        </p:nvSpPr>
        <p:spPr>
          <a:xfrm>
            <a:off x="4521098" y="2249424"/>
            <a:ext cx="822960" cy="292608"/>
          </a:xfrm>
          <a:prstGeom prst="rect">
            <a:avLst/>
          </a:prstGeom>
          <a:noFill/>
          <a:ln/>
        </p:spPr>
        <p:txBody>
          <a:bodyPr wrap="square" rtlCol="0" anchor="ctr"/>
          <a:lstStyle/>
          <a:p>
            <a:pPr marL="0" indent="0" algn="ctr">
              <a:buNone/>
            </a:pPr>
            <a:r>
              <a:rPr lang="en-US" sz="1000" b="1" dirty="0">
                <a:solidFill>
                  <a:srgbClr val="00A79D"/>
                </a:solidFill>
                <a:latin typeface="Arial" pitchFamily="34" charset="0"/>
                <a:ea typeface="Arial" pitchFamily="34" charset="-122"/>
                <a:cs typeface="Arial" pitchFamily="34" charset="-120"/>
              </a:rPr>
              <a:t>Ops</a:t>
            </a:r>
            <a:endParaRPr lang="en-US" sz="1000" dirty="0"/>
          </a:p>
        </p:txBody>
      </p:sp>
      <p:sp>
        <p:nvSpPr>
          <p:cNvPr id="24" name="Text 21"/>
          <p:cNvSpPr/>
          <p:nvPr/>
        </p:nvSpPr>
        <p:spPr>
          <a:xfrm>
            <a:off x="4521098"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Self-service exploration</a:t>
            </a:r>
            <a:endParaRPr lang="en-US" sz="1300" dirty="0"/>
          </a:p>
        </p:txBody>
      </p:sp>
      <p:sp>
        <p:nvSpPr>
          <p:cNvPr id="25" name="Text 22"/>
          <p:cNvSpPr/>
          <p:nvPr/>
        </p:nvSpPr>
        <p:spPr>
          <a:xfrm>
            <a:off x="4521098"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Filter the same view by service category and channel, drill national → region → service, with no code.</a:t>
            </a:r>
            <a:endParaRPr lang="en-US" sz="1050" dirty="0"/>
          </a:p>
        </p:txBody>
      </p:sp>
      <p:sp>
        <p:nvSpPr>
          <p:cNvPr id="26" name="Shape 23"/>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7" name="Shape 24"/>
          <p:cNvSpPr/>
          <p:nvPr/>
        </p:nvSpPr>
        <p:spPr>
          <a:xfrm>
            <a:off x="8127797" y="2066544"/>
            <a:ext cx="3515258" cy="82296"/>
          </a:xfrm>
          <a:prstGeom prst="rect">
            <a:avLst/>
          </a:prstGeom>
          <a:solidFill>
            <a:srgbClr val="E8833A"/>
          </a:solidFill>
          <a:ln/>
        </p:spPr>
      </p:sp>
      <p:sp>
        <p:nvSpPr>
          <p:cNvPr id="28" name="Shape 25"/>
          <p:cNvSpPr/>
          <p:nvPr/>
        </p:nvSpPr>
        <p:spPr>
          <a:xfrm>
            <a:off x="8310677" y="2249424"/>
            <a:ext cx="822960" cy="292608"/>
          </a:xfrm>
          <a:prstGeom prst="roundRect">
            <a:avLst>
              <a:gd name="adj" fmla="val 18750"/>
            </a:avLst>
          </a:prstGeom>
          <a:solidFill>
            <a:srgbClr val="FCF0E6"/>
          </a:solidFill>
          <a:ln/>
        </p:spPr>
      </p:sp>
      <p:sp>
        <p:nvSpPr>
          <p:cNvPr id="29" name="Text 26"/>
          <p:cNvSpPr/>
          <p:nvPr/>
        </p:nvSpPr>
        <p:spPr>
          <a:xfrm>
            <a:off x="8310677" y="2249424"/>
            <a:ext cx="822960" cy="292608"/>
          </a:xfrm>
          <a:prstGeom prst="rect">
            <a:avLst/>
          </a:prstGeom>
          <a:noFill/>
          <a:ln/>
        </p:spPr>
        <p:txBody>
          <a:bodyPr wrap="square" rtlCol="0" anchor="ctr"/>
          <a:lstStyle/>
          <a:p>
            <a:pPr marL="0" indent="0" algn="ctr">
              <a:buNone/>
            </a:pPr>
            <a:r>
              <a:rPr lang="en-US" sz="1000" b="1" dirty="0">
                <a:solidFill>
                  <a:srgbClr val="E8833A"/>
                </a:solidFill>
                <a:latin typeface="Arial" pitchFamily="34" charset="0"/>
                <a:ea typeface="Arial" pitchFamily="34" charset="-122"/>
                <a:cs typeface="Arial" pitchFamily="34" charset="-120"/>
              </a:rPr>
              <a:t>Portal</a:t>
            </a:r>
            <a:endParaRPr lang="en-US" sz="1000" dirty="0"/>
          </a:p>
        </p:txBody>
      </p:sp>
      <p:sp>
        <p:nvSpPr>
          <p:cNvPr id="30" name="Text 27"/>
          <p:cNvSpPr/>
          <p:nvPr/>
        </p:nvSpPr>
        <p:spPr>
          <a:xfrm>
            <a:off x="8310677"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Embedded leadership view</a:t>
            </a:r>
            <a:endParaRPr lang="en-US" sz="1300" dirty="0"/>
          </a:p>
        </p:txBody>
      </p:sp>
      <p:sp>
        <p:nvSpPr>
          <p:cNvPr id="31" name="Text 28"/>
          <p:cNvSpPr/>
          <p:nvPr/>
        </p:nvSpPr>
        <p:spPr>
          <a:xfrm>
            <a:off x="8310677"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Mobile-legible, published to a portal with row-level security so each region director sees their own region.</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EXPECTED COMPETENCIES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What a participant can do after Module 4</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103</a:t>
            </a:r>
            <a:endParaRPr lang="en-US" sz="800" dirty="0"/>
          </a:p>
        </p:txBody>
      </p:sp>
      <p:sp>
        <p:nvSpPr>
          <p:cNvPr id="14" name="Shape 11"/>
          <p:cNvSpPr/>
          <p:nvPr/>
        </p:nvSpPr>
        <p:spPr>
          <a:xfrm>
            <a:off x="548640" y="2295144"/>
            <a:ext cx="2567864" cy="2286000"/>
          </a:xfrm>
          <a:prstGeom prst="roundRect">
            <a:avLst>
              <a:gd name="adj" fmla="val 4000"/>
            </a:avLst>
          </a:prstGeom>
          <a:solidFill>
            <a:srgbClr val="EAF0FA"/>
          </a:solidFill>
          <a:ln w="15240">
            <a:solidFill>
              <a:srgbClr val="2E5AAC"/>
            </a:solidFill>
            <a:prstDash val="solid"/>
          </a:ln>
        </p:spPr>
      </p:sp>
      <p:sp>
        <p:nvSpPr>
          <p:cNvPr id="15" name="Text 12"/>
          <p:cNvSpPr/>
          <p:nvPr/>
        </p:nvSpPr>
        <p:spPr>
          <a:xfrm>
            <a:off x="640080" y="2569464"/>
            <a:ext cx="2384984" cy="914400"/>
          </a:xfrm>
          <a:prstGeom prst="rect">
            <a:avLst/>
          </a:prstGeom>
          <a:noFill/>
          <a:ln/>
        </p:spPr>
        <p:txBody>
          <a:bodyPr wrap="square" rtlCol="0" anchor="ctr"/>
          <a:lstStyle/>
          <a:p>
            <a:pPr marL="0" indent="0" algn="ctr">
              <a:buNone/>
            </a:pPr>
            <a:r>
              <a:rPr lang="en-US" sz="3400" b="1" dirty="0">
                <a:solidFill>
                  <a:srgbClr val="2E5AAC"/>
                </a:solidFill>
                <a:latin typeface="Arial" pitchFamily="34" charset="0"/>
                <a:ea typeface="Arial" pitchFamily="34" charset="-122"/>
                <a:cs typeface="Arial" pitchFamily="34" charset="-120"/>
              </a:rPr>
              <a:t>Layout</a:t>
            </a:r>
            <a:endParaRPr lang="en-US" sz="3400" dirty="0"/>
          </a:p>
        </p:txBody>
      </p:sp>
      <p:sp>
        <p:nvSpPr>
          <p:cNvPr id="16" name="Text 13"/>
          <p:cNvSpPr/>
          <p:nvPr/>
        </p:nvSpPr>
        <p:spPr>
          <a:xfrm>
            <a:off x="658368" y="3502152"/>
            <a:ext cx="2348408"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Design for a question</a:t>
            </a:r>
            <a:endParaRPr lang="en-US" sz="1250" dirty="0"/>
          </a:p>
        </p:txBody>
      </p:sp>
      <p:sp>
        <p:nvSpPr>
          <p:cNvPr id="17" name="Text 14"/>
          <p:cNvSpPr/>
          <p:nvPr/>
        </p:nvSpPr>
        <p:spPr>
          <a:xfrm>
            <a:off x="676656" y="3867912"/>
            <a:ext cx="2311832"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Inverted-pyramid hierarchy built on the primary question.</a:t>
            </a:r>
            <a:endParaRPr lang="en-US" sz="1000" dirty="0"/>
          </a:p>
        </p:txBody>
      </p:sp>
      <p:sp>
        <p:nvSpPr>
          <p:cNvPr id="18" name="Shape 15"/>
          <p:cNvSpPr/>
          <p:nvPr/>
        </p:nvSpPr>
        <p:spPr>
          <a:xfrm>
            <a:off x="3390824" y="2295144"/>
            <a:ext cx="2567864" cy="2286000"/>
          </a:xfrm>
          <a:prstGeom prst="roundRect">
            <a:avLst>
              <a:gd name="adj" fmla="val 4000"/>
            </a:avLst>
          </a:prstGeom>
          <a:solidFill>
            <a:srgbClr val="E6F5F4"/>
          </a:solidFill>
          <a:ln w="15240">
            <a:solidFill>
              <a:srgbClr val="00A79D"/>
            </a:solidFill>
            <a:prstDash val="solid"/>
          </a:ln>
        </p:spPr>
      </p:sp>
      <p:sp>
        <p:nvSpPr>
          <p:cNvPr id="19" name="Text 16"/>
          <p:cNvSpPr/>
          <p:nvPr/>
        </p:nvSpPr>
        <p:spPr>
          <a:xfrm>
            <a:off x="3482264" y="2569464"/>
            <a:ext cx="2384984" cy="914400"/>
          </a:xfrm>
          <a:prstGeom prst="rect">
            <a:avLst/>
          </a:prstGeom>
          <a:noFill/>
          <a:ln/>
        </p:spPr>
        <p:txBody>
          <a:bodyPr wrap="square" rtlCol="0" anchor="ctr"/>
          <a:lstStyle/>
          <a:p>
            <a:pPr marL="0" indent="0" algn="ctr">
              <a:buNone/>
            </a:pPr>
            <a:r>
              <a:rPr lang="en-US" sz="3400" b="1" dirty="0">
                <a:solidFill>
                  <a:srgbClr val="00A79D"/>
                </a:solidFill>
                <a:latin typeface="Arial" pitchFamily="34" charset="0"/>
                <a:ea typeface="Arial" pitchFamily="34" charset="-122"/>
                <a:cs typeface="Arial" pitchFamily="34" charset="-120"/>
              </a:rPr>
              <a:t>Pattern</a:t>
            </a:r>
            <a:endParaRPr lang="en-US" sz="3400" dirty="0"/>
          </a:p>
        </p:txBody>
      </p:sp>
      <p:sp>
        <p:nvSpPr>
          <p:cNvPr id="20" name="Text 17"/>
          <p:cNvSpPr/>
          <p:nvPr/>
        </p:nvSpPr>
        <p:spPr>
          <a:xfrm>
            <a:off x="3500552" y="3502152"/>
            <a:ext cx="2348408"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Pick the interaction</a:t>
            </a:r>
            <a:endParaRPr lang="en-US" sz="1250" dirty="0"/>
          </a:p>
        </p:txBody>
      </p:sp>
      <p:sp>
        <p:nvSpPr>
          <p:cNvPr id="21" name="Text 18"/>
          <p:cNvSpPr/>
          <p:nvPr/>
        </p:nvSpPr>
        <p:spPr>
          <a:xfrm>
            <a:off x="3518840" y="3867912"/>
            <a:ext cx="2311832"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Filter, cross-filter, drill or toggle — chosen by task.</a:t>
            </a:r>
            <a:endParaRPr lang="en-US" sz="1000" dirty="0"/>
          </a:p>
        </p:txBody>
      </p:sp>
      <p:sp>
        <p:nvSpPr>
          <p:cNvPr id="22" name="Shape 19"/>
          <p:cNvSpPr/>
          <p:nvPr/>
        </p:nvSpPr>
        <p:spPr>
          <a:xfrm>
            <a:off x="6233008" y="2295144"/>
            <a:ext cx="2567864" cy="2286000"/>
          </a:xfrm>
          <a:prstGeom prst="roundRect">
            <a:avLst>
              <a:gd name="adj" fmla="val 4000"/>
            </a:avLst>
          </a:prstGeom>
          <a:solidFill>
            <a:srgbClr val="FCF0E6"/>
          </a:solidFill>
          <a:ln w="15240">
            <a:solidFill>
              <a:srgbClr val="E8833A"/>
            </a:solidFill>
            <a:prstDash val="solid"/>
          </a:ln>
        </p:spPr>
      </p:sp>
      <p:sp>
        <p:nvSpPr>
          <p:cNvPr id="23" name="Text 20"/>
          <p:cNvSpPr/>
          <p:nvPr/>
        </p:nvSpPr>
        <p:spPr>
          <a:xfrm>
            <a:off x="6324448" y="2569464"/>
            <a:ext cx="2384984" cy="914400"/>
          </a:xfrm>
          <a:prstGeom prst="rect">
            <a:avLst/>
          </a:prstGeom>
          <a:noFill/>
          <a:ln/>
        </p:spPr>
        <p:txBody>
          <a:bodyPr wrap="square" rtlCol="0" anchor="ctr"/>
          <a:lstStyle/>
          <a:p>
            <a:pPr marL="0" indent="0" algn="ctr">
              <a:buNone/>
            </a:pPr>
            <a:r>
              <a:rPr lang="en-US" sz="4400" b="1" dirty="0">
                <a:solidFill>
                  <a:srgbClr val="E8833A"/>
                </a:solidFill>
                <a:latin typeface="Arial" pitchFamily="34" charset="0"/>
                <a:ea typeface="Arial" pitchFamily="34" charset="-122"/>
                <a:cs typeface="Arial" pitchFamily="34" charset="-120"/>
              </a:rPr>
              <a:t>Build</a:t>
            </a:r>
            <a:endParaRPr lang="en-US" sz="4400" dirty="0"/>
          </a:p>
        </p:txBody>
      </p:sp>
      <p:sp>
        <p:nvSpPr>
          <p:cNvPr id="24" name="Text 21"/>
          <p:cNvSpPr/>
          <p:nvPr/>
        </p:nvSpPr>
        <p:spPr>
          <a:xfrm>
            <a:off x="6342736" y="3502152"/>
            <a:ext cx="2348408"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Plotly + BI</a:t>
            </a:r>
            <a:endParaRPr lang="en-US" sz="1250" dirty="0"/>
          </a:p>
        </p:txBody>
      </p:sp>
      <p:sp>
        <p:nvSpPr>
          <p:cNvPr id="25" name="Text 22"/>
          <p:cNvSpPr/>
          <p:nvPr/>
        </p:nvSpPr>
        <p:spPr>
          <a:xfrm>
            <a:off x="6361024" y="3867912"/>
            <a:ext cx="2311832"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Multi-view Plotly dashboard, reproduced in a BI tool.</a:t>
            </a:r>
            <a:endParaRPr lang="en-US" sz="1000" dirty="0"/>
          </a:p>
        </p:txBody>
      </p:sp>
      <p:sp>
        <p:nvSpPr>
          <p:cNvPr id="26" name="Shape 23"/>
          <p:cNvSpPr/>
          <p:nvPr/>
        </p:nvSpPr>
        <p:spPr>
          <a:xfrm>
            <a:off x="9075191" y="2295144"/>
            <a:ext cx="2567864" cy="2286000"/>
          </a:xfrm>
          <a:prstGeom prst="roundRect">
            <a:avLst>
              <a:gd name="adj" fmla="val 4000"/>
            </a:avLst>
          </a:prstGeom>
          <a:solidFill>
            <a:srgbClr val="EFEBF6"/>
          </a:solidFill>
          <a:ln w="15240">
            <a:solidFill>
              <a:srgbClr val="6C4FA1"/>
            </a:solidFill>
            <a:prstDash val="solid"/>
          </a:ln>
        </p:spPr>
      </p:sp>
      <p:sp>
        <p:nvSpPr>
          <p:cNvPr id="27" name="Text 24"/>
          <p:cNvSpPr/>
          <p:nvPr/>
        </p:nvSpPr>
        <p:spPr>
          <a:xfrm>
            <a:off x="9166631" y="2569464"/>
            <a:ext cx="2384984" cy="914400"/>
          </a:xfrm>
          <a:prstGeom prst="rect">
            <a:avLst/>
          </a:prstGeom>
          <a:noFill/>
          <a:ln/>
        </p:spPr>
        <p:txBody>
          <a:bodyPr wrap="square" rtlCol="0" anchor="ctr"/>
          <a:lstStyle/>
          <a:p>
            <a:pPr marL="0" indent="0" algn="ctr">
              <a:buNone/>
            </a:pPr>
            <a:r>
              <a:rPr lang="en-US" sz="4400" b="1" dirty="0">
                <a:solidFill>
                  <a:srgbClr val="6C4FA1"/>
                </a:solidFill>
                <a:latin typeface="Arial" pitchFamily="34" charset="0"/>
                <a:ea typeface="Arial" pitchFamily="34" charset="-122"/>
                <a:cs typeface="Arial" pitchFamily="34" charset="-120"/>
              </a:rPr>
              <a:t>Prove</a:t>
            </a:r>
            <a:endParaRPr lang="en-US" sz="4400" dirty="0"/>
          </a:p>
        </p:txBody>
      </p:sp>
      <p:sp>
        <p:nvSpPr>
          <p:cNvPr id="28" name="Text 25"/>
          <p:cNvSpPr/>
          <p:nvPr/>
        </p:nvSpPr>
        <p:spPr>
          <a:xfrm>
            <a:off x="9184919" y="3502152"/>
            <a:ext cx="2348408"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Usability-test</a:t>
            </a:r>
            <a:endParaRPr lang="en-US" sz="1250" dirty="0"/>
          </a:p>
        </p:txBody>
      </p:sp>
      <p:sp>
        <p:nvSpPr>
          <p:cNvPr id="29" name="Text 26"/>
          <p:cNvSpPr/>
          <p:nvPr/>
        </p:nvSpPr>
        <p:spPr>
          <a:xfrm>
            <a:off x="9203207" y="3867912"/>
            <a:ext cx="2311832"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A non-analyst answers the target question unaided.</a:t>
            </a:r>
            <a:endParaRPr lang="en-US" sz="1000" dirty="0"/>
          </a:p>
        </p:txBody>
      </p:sp>
      <p:sp>
        <p:nvSpPr>
          <p:cNvPr id="30" name="Text 27"/>
          <p:cNvSpPr/>
          <p:nvPr/>
        </p:nvSpPr>
        <p:spPr>
          <a:xfrm>
            <a:off x="548640" y="4709160"/>
            <a:ext cx="11094415" cy="365760"/>
          </a:xfrm>
          <a:prstGeom prst="rect">
            <a:avLst/>
          </a:prstGeom>
          <a:noFill/>
          <a:ln/>
        </p:spPr>
        <p:txBody>
          <a:bodyPr wrap="square" rtlCol="0" anchor="ctr"/>
          <a:lstStyle/>
          <a:p>
            <a:pPr marL="0" indent="0" algn="ctr">
              <a:buNone/>
            </a:pPr>
            <a:r>
              <a:rPr lang="en-US" sz="1100" i="1" dirty="0">
                <a:solidFill>
                  <a:srgbClr val="6B7280"/>
                </a:solidFill>
                <a:latin typeface="Arial" pitchFamily="34" charset="0"/>
                <a:ea typeface="Arial" pitchFamily="34" charset="-122"/>
                <a:cs typeface="Arial" pitchFamily="34" charset="-120"/>
              </a:rPr>
              <a:t>Each competency maps to a lab task and a benchmark measured in the room.</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LEARNING OBJECTIVES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Objectives mapped to course outcomes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104</a:t>
            </a:r>
            <a:endParaRPr lang="en-US" sz="800" dirty="0"/>
          </a:p>
        </p:txBody>
      </p:sp>
      <p:sp>
        <p:nvSpPr>
          <p:cNvPr id="14" name="Shape 11"/>
          <p:cNvSpPr/>
          <p:nvPr/>
        </p:nvSpPr>
        <p:spPr>
          <a:xfrm>
            <a:off x="548640" y="2103120"/>
            <a:ext cx="11094415" cy="551688"/>
          </a:xfrm>
          <a:prstGeom prst="roundRect">
            <a:avLst>
              <a:gd name="adj" fmla="val 9945"/>
            </a:avLst>
          </a:prstGeom>
          <a:solidFill>
            <a:srgbClr val="FFFFFF"/>
          </a:solidFill>
          <a:ln w="9525">
            <a:solidFill>
              <a:srgbClr val="D9DEE8"/>
            </a:solidFill>
            <a:prstDash val="solid"/>
          </a:ln>
        </p:spPr>
      </p:sp>
      <p:sp>
        <p:nvSpPr>
          <p:cNvPr id="15" name="Shape 12"/>
          <p:cNvSpPr/>
          <p:nvPr/>
        </p:nvSpPr>
        <p:spPr>
          <a:xfrm>
            <a:off x="658368" y="2194560"/>
            <a:ext cx="658368" cy="368808"/>
          </a:xfrm>
          <a:prstGeom prst="roundRect">
            <a:avLst>
              <a:gd name="adj" fmla="val 12397"/>
            </a:avLst>
          </a:prstGeom>
          <a:solidFill>
            <a:srgbClr val="2E5AAC"/>
          </a:solidFill>
          <a:ln/>
        </p:spPr>
      </p:sp>
      <p:sp>
        <p:nvSpPr>
          <p:cNvPr id="16" name="Text 13"/>
          <p:cNvSpPr/>
          <p:nvPr/>
        </p:nvSpPr>
        <p:spPr>
          <a:xfrm>
            <a:off x="658368" y="2194560"/>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4.1</a:t>
            </a:r>
            <a:endParaRPr lang="en-US" sz="1200" dirty="0"/>
          </a:p>
        </p:txBody>
      </p:sp>
      <p:sp>
        <p:nvSpPr>
          <p:cNvPr id="17" name="Text 14"/>
          <p:cNvSpPr/>
          <p:nvPr/>
        </p:nvSpPr>
        <p:spPr>
          <a:xfrm>
            <a:off x="1463040" y="2066544"/>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Design a dashboard layout around a primary question and information hierarchy</a:t>
            </a:r>
            <a:endParaRPr lang="en-US" sz="1200" dirty="0"/>
          </a:p>
        </p:txBody>
      </p:sp>
      <p:sp>
        <p:nvSpPr>
          <p:cNvPr id="18" name="Shape 15"/>
          <p:cNvSpPr/>
          <p:nvPr/>
        </p:nvSpPr>
        <p:spPr>
          <a:xfrm>
            <a:off x="10317175" y="2232660"/>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32660"/>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LO3</a:t>
            </a:r>
            <a:endParaRPr lang="en-US" sz="950" dirty="0"/>
          </a:p>
        </p:txBody>
      </p:sp>
      <p:sp>
        <p:nvSpPr>
          <p:cNvPr id="20" name="Shape 17"/>
          <p:cNvSpPr/>
          <p:nvPr/>
        </p:nvSpPr>
        <p:spPr>
          <a:xfrm>
            <a:off x="548640" y="2764536"/>
            <a:ext cx="11094415" cy="551688"/>
          </a:xfrm>
          <a:prstGeom prst="roundRect">
            <a:avLst>
              <a:gd name="adj" fmla="val 9945"/>
            </a:avLst>
          </a:prstGeom>
          <a:solidFill>
            <a:srgbClr val="F4F6FB"/>
          </a:solidFill>
          <a:ln w="9525">
            <a:solidFill>
              <a:srgbClr val="D9DEE8"/>
            </a:solidFill>
            <a:prstDash val="solid"/>
          </a:ln>
        </p:spPr>
      </p:sp>
      <p:sp>
        <p:nvSpPr>
          <p:cNvPr id="21" name="Shape 18"/>
          <p:cNvSpPr/>
          <p:nvPr/>
        </p:nvSpPr>
        <p:spPr>
          <a:xfrm>
            <a:off x="658368" y="2855976"/>
            <a:ext cx="658368" cy="368808"/>
          </a:xfrm>
          <a:prstGeom prst="roundRect">
            <a:avLst>
              <a:gd name="adj" fmla="val 12397"/>
            </a:avLst>
          </a:prstGeom>
          <a:solidFill>
            <a:srgbClr val="00A79D"/>
          </a:solidFill>
          <a:ln/>
        </p:spPr>
      </p:sp>
      <p:sp>
        <p:nvSpPr>
          <p:cNvPr id="22" name="Text 19"/>
          <p:cNvSpPr/>
          <p:nvPr/>
        </p:nvSpPr>
        <p:spPr>
          <a:xfrm>
            <a:off x="658368" y="2855976"/>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4.2</a:t>
            </a:r>
            <a:endParaRPr lang="en-US" sz="1200" dirty="0"/>
          </a:p>
        </p:txBody>
      </p:sp>
      <p:sp>
        <p:nvSpPr>
          <p:cNvPr id="23" name="Text 20"/>
          <p:cNvSpPr/>
          <p:nvPr/>
        </p:nvSpPr>
        <p:spPr>
          <a:xfrm>
            <a:off x="1463040" y="2727960"/>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Select the correct interaction pattern (filter, cross-filter, drill, toggle) for a task</a:t>
            </a:r>
            <a:endParaRPr lang="en-US" sz="1200" dirty="0"/>
          </a:p>
        </p:txBody>
      </p:sp>
      <p:sp>
        <p:nvSpPr>
          <p:cNvPr id="24" name="Shape 21"/>
          <p:cNvSpPr/>
          <p:nvPr/>
        </p:nvSpPr>
        <p:spPr>
          <a:xfrm>
            <a:off x="10317175" y="2894076"/>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2894076"/>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LO3</a:t>
            </a:r>
            <a:endParaRPr lang="en-US" sz="950" dirty="0"/>
          </a:p>
        </p:txBody>
      </p:sp>
      <p:sp>
        <p:nvSpPr>
          <p:cNvPr id="26" name="Shape 23"/>
          <p:cNvSpPr/>
          <p:nvPr/>
        </p:nvSpPr>
        <p:spPr>
          <a:xfrm>
            <a:off x="548640" y="3425952"/>
            <a:ext cx="11094415" cy="551688"/>
          </a:xfrm>
          <a:prstGeom prst="roundRect">
            <a:avLst>
              <a:gd name="adj" fmla="val 9945"/>
            </a:avLst>
          </a:prstGeom>
          <a:solidFill>
            <a:srgbClr val="FFFFFF"/>
          </a:solidFill>
          <a:ln w="9525">
            <a:solidFill>
              <a:srgbClr val="D9DEE8"/>
            </a:solidFill>
            <a:prstDash val="solid"/>
          </a:ln>
        </p:spPr>
      </p:sp>
      <p:sp>
        <p:nvSpPr>
          <p:cNvPr id="27" name="Shape 24"/>
          <p:cNvSpPr/>
          <p:nvPr/>
        </p:nvSpPr>
        <p:spPr>
          <a:xfrm>
            <a:off x="658368" y="3517392"/>
            <a:ext cx="658368" cy="368808"/>
          </a:xfrm>
          <a:prstGeom prst="roundRect">
            <a:avLst>
              <a:gd name="adj" fmla="val 12397"/>
            </a:avLst>
          </a:prstGeom>
          <a:solidFill>
            <a:srgbClr val="E8833A"/>
          </a:solidFill>
          <a:ln/>
        </p:spPr>
      </p:sp>
      <p:sp>
        <p:nvSpPr>
          <p:cNvPr id="28" name="Text 25"/>
          <p:cNvSpPr/>
          <p:nvPr/>
        </p:nvSpPr>
        <p:spPr>
          <a:xfrm>
            <a:off x="658368" y="3517392"/>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4.3</a:t>
            </a:r>
            <a:endParaRPr lang="en-US" sz="1200" dirty="0"/>
          </a:p>
        </p:txBody>
      </p:sp>
      <p:sp>
        <p:nvSpPr>
          <p:cNvPr id="29" name="Text 26"/>
          <p:cNvSpPr/>
          <p:nvPr/>
        </p:nvSpPr>
        <p:spPr>
          <a:xfrm>
            <a:off x="1463040" y="3389376"/>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Build a multi-view interactive dashboard in Plotly with linked views</a:t>
            </a:r>
            <a:endParaRPr lang="en-US" sz="1200" dirty="0"/>
          </a:p>
        </p:txBody>
      </p:sp>
      <p:sp>
        <p:nvSpPr>
          <p:cNvPr id="30" name="Shape 27"/>
          <p:cNvSpPr/>
          <p:nvPr/>
        </p:nvSpPr>
        <p:spPr>
          <a:xfrm>
            <a:off x="10317175" y="355549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555492"/>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LO3, LO2</a:t>
            </a:r>
            <a:endParaRPr lang="en-US" sz="950" dirty="0"/>
          </a:p>
        </p:txBody>
      </p:sp>
      <p:sp>
        <p:nvSpPr>
          <p:cNvPr id="32" name="Shape 29"/>
          <p:cNvSpPr/>
          <p:nvPr/>
        </p:nvSpPr>
        <p:spPr>
          <a:xfrm>
            <a:off x="548640" y="4087368"/>
            <a:ext cx="11094415" cy="551688"/>
          </a:xfrm>
          <a:prstGeom prst="roundRect">
            <a:avLst>
              <a:gd name="adj" fmla="val 9945"/>
            </a:avLst>
          </a:prstGeom>
          <a:solidFill>
            <a:srgbClr val="F4F6FB"/>
          </a:solidFill>
          <a:ln w="9525">
            <a:solidFill>
              <a:srgbClr val="D9DEE8"/>
            </a:solidFill>
            <a:prstDash val="solid"/>
          </a:ln>
        </p:spPr>
      </p:sp>
      <p:sp>
        <p:nvSpPr>
          <p:cNvPr id="33" name="Shape 30"/>
          <p:cNvSpPr/>
          <p:nvPr/>
        </p:nvSpPr>
        <p:spPr>
          <a:xfrm>
            <a:off x="658368" y="4178808"/>
            <a:ext cx="658368" cy="368808"/>
          </a:xfrm>
          <a:prstGeom prst="roundRect">
            <a:avLst>
              <a:gd name="adj" fmla="val 12397"/>
            </a:avLst>
          </a:prstGeom>
          <a:solidFill>
            <a:srgbClr val="6C4FA1"/>
          </a:solidFill>
          <a:ln/>
        </p:spPr>
      </p:sp>
      <p:sp>
        <p:nvSpPr>
          <p:cNvPr id="34" name="Text 31"/>
          <p:cNvSpPr/>
          <p:nvPr/>
        </p:nvSpPr>
        <p:spPr>
          <a:xfrm>
            <a:off x="658368" y="4178808"/>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4.4</a:t>
            </a:r>
            <a:endParaRPr lang="en-US" sz="1200" dirty="0"/>
          </a:p>
        </p:txBody>
      </p:sp>
      <p:sp>
        <p:nvSpPr>
          <p:cNvPr id="35" name="Text 32"/>
          <p:cNvSpPr/>
          <p:nvPr/>
        </p:nvSpPr>
        <p:spPr>
          <a:xfrm>
            <a:off x="1463040" y="4050792"/>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Reproduce a dashboard in a BI tool using a measures / calculated-field layer</a:t>
            </a:r>
            <a:endParaRPr lang="en-US" sz="1200" dirty="0"/>
          </a:p>
        </p:txBody>
      </p:sp>
      <p:sp>
        <p:nvSpPr>
          <p:cNvPr id="36" name="Shape 33"/>
          <p:cNvSpPr/>
          <p:nvPr/>
        </p:nvSpPr>
        <p:spPr>
          <a:xfrm>
            <a:off x="10317175" y="4216908"/>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216908"/>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LO3</a:t>
            </a:r>
            <a:endParaRPr lang="en-US" sz="950" dirty="0"/>
          </a:p>
        </p:txBody>
      </p:sp>
      <p:sp>
        <p:nvSpPr>
          <p:cNvPr id="38" name="Shape 35"/>
          <p:cNvSpPr/>
          <p:nvPr/>
        </p:nvSpPr>
        <p:spPr>
          <a:xfrm>
            <a:off x="548640" y="4748784"/>
            <a:ext cx="11094415" cy="551688"/>
          </a:xfrm>
          <a:prstGeom prst="roundRect">
            <a:avLst>
              <a:gd name="adj" fmla="val 9945"/>
            </a:avLst>
          </a:prstGeom>
          <a:solidFill>
            <a:srgbClr val="FFFFFF"/>
          </a:solidFill>
          <a:ln w="9525">
            <a:solidFill>
              <a:srgbClr val="D9DEE8"/>
            </a:solidFill>
            <a:prstDash val="solid"/>
          </a:ln>
        </p:spPr>
      </p:sp>
      <p:sp>
        <p:nvSpPr>
          <p:cNvPr id="39" name="Shape 36"/>
          <p:cNvSpPr/>
          <p:nvPr/>
        </p:nvSpPr>
        <p:spPr>
          <a:xfrm>
            <a:off x="658368" y="4840224"/>
            <a:ext cx="658368" cy="368808"/>
          </a:xfrm>
          <a:prstGeom prst="roundRect">
            <a:avLst>
              <a:gd name="adj" fmla="val 12397"/>
            </a:avLst>
          </a:prstGeom>
          <a:solidFill>
            <a:srgbClr val="3FAE5A"/>
          </a:solidFill>
          <a:ln/>
        </p:spPr>
      </p:sp>
      <p:sp>
        <p:nvSpPr>
          <p:cNvPr id="40" name="Text 37"/>
          <p:cNvSpPr/>
          <p:nvPr/>
        </p:nvSpPr>
        <p:spPr>
          <a:xfrm>
            <a:off x="658368" y="4840224"/>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4.5</a:t>
            </a:r>
            <a:endParaRPr lang="en-US" sz="1200" dirty="0"/>
          </a:p>
        </p:txBody>
      </p:sp>
      <p:sp>
        <p:nvSpPr>
          <p:cNvPr id="41" name="Text 38"/>
          <p:cNvSpPr/>
          <p:nvPr/>
        </p:nvSpPr>
        <p:spPr>
          <a:xfrm>
            <a:off x="1463040" y="4712208"/>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Apply self-service and accessibility principles (RLS, mobile, performance)</a:t>
            </a:r>
            <a:endParaRPr lang="en-US" sz="1200" dirty="0"/>
          </a:p>
        </p:txBody>
      </p:sp>
      <p:sp>
        <p:nvSpPr>
          <p:cNvPr id="42" name="Shape 39"/>
          <p:cNvSpPr/>
          <p:nvPr/>
        </p:nvSpPr>
        <p:spPr>
          <a:xfrm>
            <a:off x="10317175" y="4878324"/>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4878324"/>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LO3</a:t>
            </a:r>
            <a:endParaRPr lang="en-US" sz="950" dirty="0"/>
          </a:p>
        </p:txBody>
      </p:sp>
      <p:sp>
        <p:nvSpPr>
          <p:cNvPr id="44" name="Shape 41"/>
          <p:cNvSpPr/>
          <p:nvPr/>
        </p:nvSpPr>
        <p:spPr>
          <a:xfrm>
            <a:off x="548640" y="5410200"/>
            <a:ext cx="11094415" cy="551688"/>
          </a:xfrm>
          <a:prstGeom prst="roundRect">
            <a:avLst>
              <a:gd name="adj" fmla="val 9945"/>
            </a:avLst>
          </a:prstGeom>
          <a:solidFill>
            <a:srgbClr val="F4F6FB"/>
          </a:solidFill>
          <a:ln w="9525">
            <a:solidFill>
              <a:srgbClr val="D9DEE8"/>
            </a:solidFill>
            <a:prstDash val="solid"/>
          </a:ln>
        </p:spPr>
      </p:sp>
      <p:sp>
        <p:nvSpPr>
          <p:cNvPr id="45" name="Shape 42"/>
          <p:cNvSpPr/>
          <p:nvPr/>
        </p:nvSpPr>
        <p:spPr>
          <a:xfrm>
            <a:off x="658368" y="5501640"/>
            <a:ext cx="658368" cy="368808"/>
          </a:xfrm>
          <a:prstGeom prst="roundRect">
            <a:avLst>
              <a:gd name="adj" fmla="val 12397"/>
            </a:avLst>
          </a:prstGeom>
          <a:solidFill>
            <a:srgbClr val="29ABE2"/>
          </a:solidFill>
          <a:ln/>
        </p:spPr>
      </p:sp>
      <p:sp>
        <p:nvSpPr>
          <p:cNvPr id="46" name="Text 43"/>
          <p:cNvSpPr/>
          <p:nvPr/>
        </p:nvSpPr>
        <p:spPr>
          <a:xfrm>
            <a:off x="658368" y="5501640"/>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4.6</a:t>
            </a:r>
            <a:endParaRPr lang="en-US" sz="1200" dirty="0"/>
          </a:p>
        </p:txBody>
      </p:sp>
      <p:sp>
        <p:nvSpPr>
          <p:cNvPr id="47" name="Text 44"/>
          <p:cNvSpPr/>
          <p:nvPr/>
        </p:nvSpPr>
        <p:spPr>
          <a:xfrm>
            <a:off x="1463040" y="5373624"/>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Usability-test a dashboard against a target question and iterate</a:t>
            </a:r>
            <a:endParaRPr lang="en-US" sz="1200" dirty="0"/>
          </a:p>
        </p:txBody>
      </p:sp>
      <p:sp>
        <p:nvSpPr>
          <p:cNvPr id="48" name="Shape 45"/>
          <p:cNvSpPr/>
          <p:nvPr/>
        </p:nvSpPr>
        <p:spPr>
          <a:xfrm>
            <a:off x="10317175" y="5539740"/>
            <a:ext cx="1170432" cy="329184"/>
          </a:xfrm>
          <a:prstGeom prst="roundRect">
            <a:avLst>
              <a:gd name="adj" fmla="val 16667"/>
            </a:avLst>
          </a:prstGeom>
          <a:solidFill>
            <a:srgbClr val="E6F5F4"/>
          </a:solidFill>
          <a:ln w="9525">
            <a:solidFill>
              <a:srgbClr val="00A79D"/>
            </a:solidFill>
            <a:prstDash val="solid"/>
          </a:ln>
        </p:spPr>
      </p:sp>
      <p:sp>
        <p:nvSpPr>
          <p:cNvPr id="49" name="Text 46"/>
          <p:cNvSpPr/>
          <p:nvPr/>
        </p:nvSpPr>
        <p:spPr>
          <a:xfrm>
            <a:off x="10317175" y="5539740"/>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LO3, LO5</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THE JOB OF A DASHBOARD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One job — and the wall-of-gauges failure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105</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A dashboard's only job is to let its audience answer a recurring question fast enough to act. Name who opens it, what decision it feeds, and how often.</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One sentence:  </a:t>
            </a:r>
            <a:r>
              <a:rPr lang="en-US" sz="1250" dirty="0">
                <a:solidFill>
                  <a:srgbClr val="343A4E"/>
                </a:solidFill>
                <a:latin typeface="Arial" pitchFamily="34" charset="0"/>
                <a:ea typeface="Arial" pitchFamily="34" charset="-122"/>
                <a:cs typeface="Arial" pitchFamily="34" charset="-120"/>
              </a:rPr>
              <a:t>Tayseer answers 'is the program on track, and where is it not?' for a Deputy Minister, weekly.</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It dictates all:  </a:t>
            </a:r>
            <a:r>
              <a:rPr lang="en-US" sz="1250" dirty="0">
                <a:solidFill>
                  <a:srgbClr val="343A4E"/>
                </a:solidFill>
                <a:latin typeface="Arial" pitchFamily="34" charset="0"/>
                <a:ea typeface="Arial" pitchFamily="34" charset="-122"/>
                <a:cs typeface="Arial" pitchFamily="34" charset="-120"/>
              </a:rPr>
              <a:t>One headline number (adoption vs 65%), one trend, one 'where' ranking, and a filter set.</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Wall of gauges:  </a:t>
            </a:r>
            <a:r>
              <a:rPr lang="en-US" sz="1250" dirty="0">
                <a:solidFill>
                  <a:srgbClr val="343A4E"/>
                </a:solidFill>
                <a:latin typeface="Arial" pitchFamily="34" charset="0"/>
                <a:ea typeface="Arial" pitchFamily="34" charset="-122"/>
                <a:cs typeface="Arial" pitchFamily="34" charset="-120"/>
              </a:rPr>
              <a:t>Twenty speedometers because twenty metrics exist, none prioritised — the classic failure.</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Why it fails:  </a:t>
            </a:r>
            <a:r>
              <a:rPr lang="en-US" sz="1250" dirty="0">
                <a:solidFill>
                  <a:srgbClr val="343A4E"/>
                </a:solidFill>
                <a:latin typeface="Arial" pitchFamily="34" charset="0"/>
                <a:ea typeface="Arial" pitchFamily="34" charset="-122"/>
                <a:cs typeface="Arial" pitchFamily="34" charset="-120"/>
              </a:rPr>
              <a:t>No pre-attentive hierarchy (Module 1), so the eye has no entry point; interaction is never learnt.</a:t>
            </a:r>
            <a:endParaRPr lang="en-US" sz="12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LAYOUT &amp; HIERARCHY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inverted pyramid: top answers, bottom explains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106</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Dashboards are read in a Z/F pattern — top-left first for LTR, top-right for Arabic RTL; the Module 3 mirroring discipline applies to whole layouts.</a:t>
            </a:r>
            <a:endParaRPr lang="en-US" sz="1250" dirty="0"/>
          </a:p>
        </p:txBody>
      </p:sp>
      <p:sp>
        <p:nvSpPr>
          <p:cNvPr id="15" name="Shape 12"/>
          <p:cNvSpPr/>
          <p:nvPr/>
        </p:nvSpPr>
        <p:spPr>
          <a:xfrm>
            <a:off x="2628843" y="2542032"/>
            <a:ext cx="6934010" cy="777240"/>
          </a:xfrm>
          <a:prstGeom prst="roundRect">
            <a:avLst>
              <a:gd name="adj" fmla="val 8235"/>
            </a:avLst>
          </a:prstGeom>
          <a:solidFill>
            <a:srgbClr val="EAF0FA"/>
          </a:solidFill>
          <a:ln w="15240">
            <a:solidFill>
              <a:srgbClr val="2E5AAC"/>
            </a:solidFill>
            <a:prstDash val="solid"/>
          </a:ln>
        </p:spPr>
      </p:sp>
      <p:sp>
        <p:nvSpPr>
          <p:cNvPr id="16" name="Shape 13"/>
          <p:cNvSpPr/>
          <p:nvPr/>
        </p:nvSpPr>
        <p:spPr>
          <a:xfrm>
            <a:off x="2775147" y="2747772"/>
            <a:ext cx="365760" cy="365760"/>
          </a:xfrm>
          <a:prstGeom prst="ellipse">
            <a:avLst/>
          </a:prstGeom>
          <a:solidFill>
            <a:srgbClr val="2E5AAC"/>
          </a:solidFill>
          <a:ln/>
        </p:spPr>
      </p:sp>
      <p:sp>
        <p:nvSpPr>
          <p:cNvPr id="17" name="Text 14"/>
          <p:cNvSpPr/>
          <p:nvPr/>
        </p:nvSpPr>
        <p:spPr>
          <a:xfrm>
            <a:off x="2775147" y="2747772"/>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8" name="Text 15"/>
          <p:cNvSpPr/>
          <p:nvPr/>
        </p:nvSpPr>
        <p:spPr>
          <a:xfrm>
            <a:off x="3268923" y="2542032"/>
            <a:ext cx="6111050" cy="777240"/>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Headline band (top)  </a:t>
            </a:r>
            <a:r>
              <a:rPr lang="en-US" sz="1150" dirty="0">
                <a:solidFill>
                  <a:srgbClr val="343A4E"/>
                </a:solidFill>
                <a:latin typeface="Arial" pitchFamily="34" charset="0"/>
                <a:ea typeface="Arial" pitchFamily="34" charset="-122"/>
                <a:cs typeface="Arial" pitchFamily="34" charset="-120"/>
              </a:rPr>
              <a:t>One to four big-number KPIs with a target/delta and a sparkline — 'am I on track?' in a glance.</a:t>
            </a:r>
            <a:endParaRPr lang="en-US" sz="1300" dirty="0"/>
          </a:p>
        </p:txBody>
      </p:sp>
      <p:sp>
        <p:nvSpPr>
          <p:cNvPr id="19" name="Shape 16"/>
          <p:cNvSpPr/>
          <p:nvPr/>
        </p:nvSpPr>
        <p:spPr>
          <a:xfrm>
            <a:off x="1935442" y="3447288"/>
            <a:ext cx="8320811" cy="777240"/>
          </a:xfrm>
          <a:prstGeom prst="roundRect">
            <a:avLst>
              <a:gd name="adj" fmla="val 8235"/>
            </a:avLst>
          </a:prstGeom>
          <a:solidFill>
            <a:srgbClr val="E6F5F4"/>
          </a:solidFill>
          <a:ln w="15240">
            <a:solidFill>
              <a:srgbClr val="00A79D"/>
            </a:solidFill>
            <a:prstDash val="solid"/>
          </a:ln>
        </p:spPr>
      </p:sp>
      <p:sp>
        <p:nvSpPr>
          <p:cNvPr id="20" name="Shape 17"/>
          <p:cNvSpPr/>
          <p:nvPr/>
        </p:nvSpPr>
        <p:spPr>
          <a:xfrm>
            <a:off x="2081746" y="3653028"/>
            <a:ext cx="365760" cy="365760"/>
          </a:xfrm>
          <a:prstGeom prst="ellipse">
            <a:avLst/>
          </a:prstGeom>
          <a:solidFill>
            <a:srgbClr val="00A79D"/>
          </a:solidFill>
          <a:ln/>
        </p:spPr>
      </p:sp>
      <p:sp>
        <p:nvSpPr>
          <p:cNvPr id="21" name="Text 18"/>
          <p:cNvSpPr/>
          <p:nvPr/>
        </p:nvSpPr>
        <p:spPr>
          <a:xfrm>
            <a:off x="2081746" y="365302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Text 19"/>
          <p:cNvSpPr/>
          <p:nvPr/>
        </p:nvSpPr>
        <p:spPr>
          <a:xfrm>
            <a:off x="2575522" y="3447288"/>
            <a:ext cx="7497851" cy="777240"/>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Primary view (centre)  </a:t>
            </a:r>
            <a:r>
              <a:rPr lang="en-US" sz="1150" dirty="0">
                <a:solidFill>
                  <a:srgbClr val="343A4E"/>
                </a:solidFill>
                <a:latin typeface="Arial" pitchFamily="34" charset="0"/>
                <a:ea typeface="Arial" pitchFamily="34" charset="-122"/>
                <a:cs typeface="Arial" pitchFamily="34" charset="-120"/>
              </a:rPr>
              <a:t>The single most important chart: national adoption trend against the 65% target line.</a:t>
            </a:r>
            <a:endParaRPr lang="en-US" sz="1300" dirty="0"/>
          </a:p>
        </p:txBody>
      </p:sp>
      <p:sp>
        <p:nvSpPr>
          <p:cNvPr id="23" name="Shape 20"/>
          <p:cNvSpPr/>
          <p:nvPr/>
        </p:nvSpPr>
        <p:spPr>
          <a:xfrm>
            <a:off x="1242041" y="4352544"/>
            <a:ext cx="9707613" cy="777240"/>
          </a:xfrm>
          <a:prstGeom prst="roundRect">
            <a:avLst>
              <a:gd name="adj" fmla="val 8235"/>
            </a:avLst>
          </a:prstGeom>
          <a:solidFill>
            <a:srgbClr val="FCF0E6"/>
          </a:solidFill>
          <a:ln w="15240">
            <a:solidFill>
              <a:srgbClr val="E8833A"/>
            </a:solidFill>
            <a:prstDash val="solid"/>
          </a:ln>
        </p:spPr>
      </p:sp>
      <p:sp>
        <p:nvSpPr>
          <p:cNvPr id="24" name="Shape 21"/>
          <p:cNvSpPr/>
          <p:nvPr/>
        </p:nvSpPr>
        <p:spPr>
          <a:xfrm>
            <a:off x="1388345" y="4558284"/>
            <a:ext cx="365760" cy="365760"/>
          </a:xfrm>
          <a:prstGeom prst="ellipse">
            <a:avLst/>
          </a:prstGeom>
          <a:solidFill>
            <a:srgbClr val="E8833A"/>
          </a:solidFill>
          <a:ln/>
        </p:spPr>
      </p:sp>
      <p:sp>
        <p:nvSpPr>
          <p:cNvPr id="25" name="Text 22"/>
          <p:cNvSpPr/>
          <p:nvPr/>
        </p:nvSpPr>
        <p:spPr>
          <a:xfrm>
            <a:off x="1388345" y="4558284"/>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3"/>
          <p:cNvSpPr/>
          <p:nvPr/>
        </p:nvSpPr>
        <p:spPr>
          <a:xfrm>
            <a:off x="1882121" y="4352544"/>
            <a:ext cx="8884653" cy="777240"/>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Breakdown band  </a:t>
            </a:r>
            <a:r>
              <a:rPr lang="en-US" sz="1150" dirty="0">
                <a:solidFill>
                  <a:srgbClr val="343A4E"/>
                </a:solidFill>
                <a:latin typeface="Arial" pitchFamily="34" charset="0"/>
                <a:ea typeface="Arial" pitchFamily="34" charset="-122"/>
                <a:cs typeface="Arial" pitchFamily="34" charset="-120"/>
              </a:rPr>
              <a:t>The 'where?' — a sorted regional bar or dot plot, the operative comparison from Module 2.</a:t>
            </a:r>
            <a:endParaRPr lang="en-US" sz="1300" dirty="0"/>
          </a:p>
        </p:txBody>
      </p:sp>
      <p:sp>
        <p:nvSpPr>
          <p:cNvPr id="27" name="Shape 24"/>
          <p:cNvSpPr/>
          <p:nvPr/>
        </p:nvSpPr>
        <p:spPr>
          <a:xfrm>
            <a:off x="548640" y="5257800"/>
            <a:ext cx="11094415" cy="777240"/>
          </a:xfrm>
          <a:prstGeom prst="roundRect">
            <a:avLst>
              <a:gd name="adj" fmla="val 8235"/>
            </a:avLst>
          </a:prstGeom>
          <a:solidFill>
            <a:srgbClr val="EFEBF6"/>
          </a:solidFill>
          <a:ln w="15240">
            <a:solidFill>
              <a:srgbClr val="6C4FA1"/>
            </a:solidFill>
            <a:prstDash val="solid"/>
          </a:ln>
        </p:spPr>
      </p:sp>
      <p:sp>
        <p:nvSpPr>
          <p:cNvPr id="28" name="Shape 25"/>
          <p:cNvSpPr/>
          <p:nvPr/>
        </p:nvSpPr>
        <p:spPr>
          <a:xfrm>
            <a:off x="694944" y="5463540"/>
            <a:ext cx="365760" cy="365760"/>
          </a:xfrm>
          <a:prstGeom prst="ellipse">
            <a:avLst/>
          </a:prstGeom>
          <a:solidFill>
            <a:srgbClr val="6C4FA1"/>
          </a:solidFill>
          <a:ln/>
        </p:spPr>
      </p:sp>
      <p:sp>
        <p:nvSpPr>
          <p:cNvPr id="29" name="Text 26"/>
          <p:cNvSpPr/>
          <p:nvPr/>
        </p:nvSpPr>
        <p:spPr>
          <a:xfrm>
            <a:off x="694944" y="5463540"/>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7"/>
          <p:cNvSpPr/>
          <p:nvPr/>
        </p:nvSpPr>
        <p:spPr>
          <a:xfrm>
            <a:off x="1188720" y="5257800"/>
            <a:ext cx="10271455" cy="777240"/>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Detail / drill (bottom)  </a:t>
            </a:r>
            <a:r>
              <a:rPr lang="en-US" sz="1150" dirty="0">
                <a:solidFill>
                  <a:srgbClr val="343A4E"/>
                </a:solidFill>
                <a:latin typeface="Arial" pitchFamily="34" charset="0"/>
                <a:ea typeface="Arial" pitchFamily="34" charset="-122"/>
                <a:cs typeface="Arial" pitchFamily="34" charset="-120"/>
              </a:rPr>
              <a:t>Service-category and channel splits, revealed on interaction, not shown by default.</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INTERACTION PATTERNS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Four patterns — chosen by task, like encoding</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107</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00" dirty="0">
                <a:solidFill>
                  <a:srgbClr val="343A4E"/>
                </a:solidFill>
                <a:latin typeface="Arial" pitchFamily="34" charset="0"/>
                <a:ea typeface="Arial" pitchFamily="34" charset="-122"/>
                <a:cs typeface="Arial" pitchFamily="34" charset="-120"/>
              </a:rPr>
              <a:t>Interaction is chosen by the user's task, exactly like an encoding channel. Name each pattern and its right use.</a:t>
            </a:r>
            <a:endParaRPr lang="en-US" sz="12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11064240" cy="2322576"/>
        </p:xfrm>
        <a:graphic>
          <a:graphicData uri="http://schemas.openxmlformats.org/drawingml/2006/table">
            <a:tbl>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Pattern</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User task</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Tayseer example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Watch-out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Filter / slicer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Show only this subset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One service category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Silent exclusion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Cross-filter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Click here, update all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Region bar → trend re-scopes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Loops; unclear state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Drill-down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Summary to detail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National → region → service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No breadcrumb / no way back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Toggle / parameter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Switch the measure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Adoption ↔ cost ↔ CSAT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Meaning changes, no relabel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bl>
          </a:graphicData>
        </a:graphic>
      </p:graphicFrame>
      <p:sp>
        <p:nvSpPr>
          <p:cNvPr id="16" name="Text 12"/>
          <p:cNvSpPr/>
          <p:nvPr/>
        </p:nvSpPr>
        <p:spPr>
          <a:xfrm>
            <a:off x="548640" y="4956048"/>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Discipline: make the current state legible — active filter, drill level, and selection all visible.</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CHOOSING THE TOOL</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Plotly vs Power BI vs Tableau</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110</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Both code and BI live in the course because both live in the workplace; the design principles are identical, only the mechanics differ.</a:t>
            </a:r>
            <a:endParaRPr lang="en-US" sz="1250" dirty="0"/>
          </a:p>
        </p:txBody>
      </p:sp>
      <p:sp>
        <p:nvSpPr>
          <p:cNvPr id="15" name="Shape 12"/>
          <p:cNvSpPr/>
          <p:nvPr/>
        </p:nvSpPr>
        <p:spPr>
          <a:xfrm>
            <a:off x="548640" y="2569464"/>
            <a:ext cx="3490874" cy="3465576"/>
          </a:xfrm>
          <a:prstGeom prst="roundRect">
            <a:avLst>
              <a:gd name="adj" fmla="val 2639"/>
            </a:avLst>
          </a:prstGeom>
          <a:solidFill>
            <a:srgbClr val="FFFFFF"/>
          </a:solidFill>
          <a:ln w="17780">
            <a:solidFill>
              <a:srgbClr val="2E5AAC"/>
            </a:solidFill>
            <a:prstDash val="solid"/>
          </a:ln>
        </p:spPr>
      </p:sp>
      <p:sp>
        <p:nvSpPr>
          <p:cNvPr id="16" name="Shape 13"/>
          <p:cNvSpPr/>
          <p:nvPr/>
        </p:nvSpPr>
        <p:spPr>
          <a:xfrm>
            <a:off x="548640" y="2569464"/>
            <a:ext cx="3490874" cy="566928"/>
          </a:xfrm>
          <a:prstGeom prst="roundRect">
            <a:avLst>
              <a:gd name="adj" fmla="val 16129"/>
            </a:avLst>
          </a:prstGeom>
          <a:solidFill>
            <a:srgbClr val="2E5AAC"/>
          </a:solidFill>
          <a:ln/>
        </p:spPr>
      </p:sp>
      <p:sp>
        <p:nvSpPr>
          <p:cNvPr id="17" name="Shape 14"/>
          <p:cNvSpPr/>
          <p:nvPr/>
        </p:nvSpPr>
        <p:spPr>
          <a:xfrm>
            <a:off x="548640" y="2852928"/>
            <a:ext cx="3490874" cy="283464"/>
          </a:xfrm>
          <a:prstGeom prst="rect">
            <a:avLst/>
          </a:prstGeom>
          <a:solidFill>
            <a:srgbClr val="2E5AAC"/>
          </a:solidFill>
          <a:ln/>
        </p:spPr>
      </p:sp>
      <p:sp>
        <p:nvSpPr>
          <p:cNvPr id="18" name="Text 15"/>
          <p:cNvSpPr/>
          <p:nvPr/>
        </p:nvSpPr>
        <p:spPr>
          <a:xfrm>
            <a:off x="640080" y="2569464"/>
            <a:ext cx="3307994"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Plotly (+ Dash)</a:t>
            </a:r>
            <a:endParaRPr lang="en-US" sz="1400" dirty="0"/>
          </a:p>
        </p:txBody>
      </p:sp>
      <p:sp>
        <p:nvSpPr>
          <p:cNvPr id="19" name="Text 16"/>
          <p:cNvSpPr/>
          <p:nvPr/>
        </p:nvSpPr>
        <p:spPr>
          <a:xfrm>
            <a:off x="749808" y="3300984"/>
            <a:ext cx="3106826"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Programmatic </a:t>
            </a:r>
            <a:r>
              <a:rPr lang="en-US" sz="1100" dirty="0">
                <a:solidFill>
                  <a:srgbClr val="343A4E"/>
                </a:solidFill>
                <a:latin typeface="Arial" pitchFamily="34" charset="0"/>
                <a:ea typeface="Arial" pitchFamily="34" charset="-122"/>
                <a:cs typeface="Arial" pitchFamily="34" charset="-120"/>
              </a:rPr>
              <a:t>Version-controlled, reproducible, embeddable in Python apps.</a:t>
            </a:r>
            <a:endParaRPr lang="en-US" sz="1100" dirty="0"/>
          </a:p>
        </p:txBody>
      </p:sp>
      <p:sp>
        <p:nvSpPr>
          <p:cNvPr id="20" name="Text 17"/>
          <p:cNvSpPr/>
          <p:nvPr/>
        </p:nvSpPr>
        <p:spPr>
          <a:xfrm>
            <a:off x="749808" y="3977640"/>
            <a:ext cx="3106826"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Use when </a:t>
            </a:r>
            <a:r>
              <a:rPr lang="en-US" sz="1100" dirty="0">
                <a:solidFill>
                  <a:srgbClr val="343A4E"/>
                </a:solidFill>
                <a:latin typeface="Arial" pitchFamily="34" charset="0"/>
                <a:ea typeface="Arial" pitchFamily="34" charset="-122"/>
                <a:cs typeface="Arial" pitchFamily="34" charset="-120"/>
              </a:rPr>
              <a:t>The dashboard is part of a data product or needs custom logic.</a:t>
            </a:r>
            <a:endParaRPr lang="en-US" sz="1100" dirty="0"/>
          </a:p>
        </p:txBody>
      </p:sp>
      <p:sp>
        <p:nvSpPr>
          <p:cNvPr id="21" name="Text 18"/>
          <p:cNvSpPr/>
          <p:nvPr/>
        </p:nvSpPr>
        <p:spPr>
          <a:xfrm>
            <a:off x="749808" y="4654296"/>
            <a:ext cx="3106826"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Cost </a:t>
            </a:r>
            <a:r>
              <a:rPr lang="en-US" sz="1100" dirty="0">
                <a:solidFill>
                  <a:srgbClr val="343A4E"/>
                </a:solidFill>
                <a:latin typeface="Arial" pitchFamily="34" charset="0"/>
                <a:ea typeface="Arial" pitchFamily="34" charset="-122"/>
                <a:cs typeface="Arial" pitchFamily="34" charset="-120"/>
              </a:rPr>
              <a:t>You write and host the code yourself.</a:t>
            </a:r>
            <a:endParaRPr lang="en-US" sz="1100" dirty="0"/>
          </a:p>
        </p:txBody>
      </p:sp>
      <p:sp>
        <p:nvSpPr>
          <p:cNvPr id="22" name="Shape 19"/>
          <p:cNvSpPr/>
          <p:nvPr/>
        </p:nvSpPr>
        <p:spPr>
          <a:xfrm>
            <a:off x="4350410" y="2569464"/>
            <a:ext cx="3490874" cy="3465576"/>
          </a:xfrm>
          <a:prstGeom prst="roundRect">
            <a:avLst>
              <a:gd name="adj" fmla="val 2639"/>
            </a:avLst>
          </a:prstGeom>
          <a:solidFill>
            <a:srgbClr val="FFFFFF"/>
          </a:solidFill>
          <a:ln w="17780">
            <a:solidFill>
              <a:srgbClr val="00A79D"/>
            </a:solidFill>
            <a:prstDash val="solid"/>
          </a:ln>
        </p:spPr>
      </p:sp>
      <p:sp>
        <p:nvSpPr>
          <p:cNvPr id="23" name="Shape 20"/>
          <p:cNvSpPr/>
          <p:nvPr/>
        </p:nvSpPr>
        <p:spPr>
          <a:xfrm>
            <a:off x="4350410" y="2569464"/>
            <a:ext cx="3490874" cy="566928"/>
          </a:xfrm>
          <a:prstGeom prst="roundRect">
            <a:avLst>
              <a:gd name="adj" fmla="val 16129"/>
            </a:avLst>
          </a:prstGeom>
          <a:solidFill>
            <a:srgbClr val="00A79D"/>
          </a:solidFill>
          <a:ln/>
        </p:spPr>
      </p:sp>
      <p:sp>
        <p:nvSpPr>
          <p:cNvPr id="24" name="Shape 21"/>
          <p:cNvSpPr/>
          <p:nvPr/>
        </p:nvSpPr>
        <p:spPr>
          <a:xfrm>
            <a:off x="4350410" y="2852928"/>
            <a:ext cx="3490874" cy="283464"/>
          </a:xfrm>
          <a:prstGeom prst="rect">
            <a:avLst/>
          </a:prstGeom>
          <a:solidFill>
            <a:srgbClr val="00A79D"/>
          </a:solidFill>
          <a:ln/>
        </p:spPr>
      </p:sp>
      <p:sp>
        <p:nvSpPr>
          <p:cNvPr id="25" name="Text 22"/>
          <p:cNvSpPr/>
          <p:nvPr/>
        </p:nvSpPr>
        <p:spPr>
          <a:xfrm>
            <a:off x="4441850" y="2569464"/>
            <a:ext cx="3307994"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Power BI</a:t>
            </a:r>
            <a:endParaRPr lang="en-US" sz="1400" dirty="0"/>
          </a:p>
        </p:txBody>
      </p:sp>
      <p:sp>
        <p:nvSpPr>
          <p:cNvPr id="26" name="Text 23"/>
          <p:cNvSpPr/>
          <p:nvPr/>
        </p:nvSpPr>
        <p:spPr>
          <a:xfrm>
            <a:off x="4551578" y="3300984"/>
            <a:ext cx="3106826"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Enterprise </a:t>
            </a:r>
            <a:r>
              <a:rPr lang="en-US" sz="1100" dirty="0">
                <a:solidFill>
                  <a:srgbClr val="343A4E"/>
                </a:solidFill>
                <a:latin typeface="Arial" pitchFamily="34" charset="0"/>
                <a:ea typeface="Arial" pitchFamily="34" charset="-122"/>
                <a:cs typeface="Arial" pitchFamily="34" charset="-120"/>
              </a:rPr>
              <a:t>Dominant in Microsoft-centric Saudi government and enterprise.</a:t>
            </a:r>
            <a:endParaRPr lang="en-US" sz="1100" dirty="0"/>
          </a:p>
        </p:txBody>
      </p:sp>
      <p:sp>
        <p:nvSpPr>
          <p:cNvPr id="27" name="Text 24"/>
          <p:cNvSpPr/>
          <p:nvPr/>
        </p:nvSpPr>
        <p:spPr>
          <a:xfrm>
            <a:off x="4551578" y="3977640"/>
            <a:ext cx="3106826"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Strengths </a:t>
            </a:r>
            <a:r>
              <a:rPr lang="en-US" sz="1100" dirty="0">
                <a:solidFill>
                  <a:srgbClr val="343A4E"/>
                </a:solidFill>
                <a:latin typeface="Arial" pitchFamily="34" charset="0"/>
                <a:ea typeface="Arial" pitchFamily="34" charset="-122"/>
                <a:cs typeface="Arial" pitchFamily="34" charset="-120"/>
              </a:rPr>
              <a:t>Star schema + DAX, row-level security, self-service authoring.</a:t>
            </a:r>
            <a:endParaRPr lang="en-US" sz="1100" dirty="0"/>
          </a:p>
        </p:txBody>
      </p:sp>
      <p:sp>
        <p:nvSpPr>
          <p:cNvPr id="28" name="Text 25"/>
          <p:cNvSpPr/>
          <p:nvPr/>
        </p:nvSpPr>
        <p:spPr>
          <a:xfrm>
            <a:off x="4551578" y="4654296"/>
            <a:ext cx="3106826"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Cost </a:t>
            </a:r>
            <a:r>
              <a:rPr lang="en-US" sz="1100" dirty="0">
                <a:solidFill>
                  <a:srgbClr val="343A4E"/>
                </a:solidFill>
                <a:latin typeface="Arial" pitchFamily="34" charset="0"/>
                <a:ea typeface="Arial" pitchFamily="34" charset="-122"/>
                <a:cs typeface="Arial" pitchFamily="34" charset="-120"/>
              </a:rPr>
              <a:t>Licensing; Windows-centric authoring.</a:t>
            </a:r>
            <a:endParaRPr lang="en-US" sz="1100" dirty="0"/>
          </a:p>
        </p:txBody>
      </p:sp>
      <p:sp>
        <p:nvSpPr>
          <p:cNvPr id="29" name="Shape 26"/>
          <p:cNvSpPr/>
          <p:nvPr/>
        </p:nvSpPr>
        <p:spPr>
          <a:xfrm>
            <a:off x="8152181" y="2569464"/>
            <a:ext cx="3490874" cy="3465576"/>
          </a:xfrm>
          <a:prstGeom prst="roundRect">
            <a:avLst>
              <a:gd name="adj" fmla="val 2639"/>
            </a:avLst>
          </a:prstGeom>
          <a:solidFill>
            <a:srgbClr val="FFFFFF"/>
          </a:solidFill>
          <a:ln w="17780">
            <a:solidFill>
              <a:srgbClr val="E8833A"/>
            </a:solidFill>
            <a:prstDash val="solid"/>
          </a:ln>
        </p:spPr>
      </p:sp>
      <p:sp>
        <p:nvSpPr>
          <p:cNvPr id="30" name="Shape 27"/>
          <p:cNvSpPr/>
          <p:nvPr/>
        </p:nvSpPr>
        <p:spPr>
          <a:xfrm>
            <a:off x="8152181" y="2569464"/>
            <a:ext cx="3490874" cy="566928"/>
          </a:xfrm>
          <a:prstGeom prst="roundRect">
            <a:avLst>
              <a:gd name="adj" fmla="val 16129"/>
            </a:avLst>
          </a:prstGeom>
          <a:solidFill>
            <a:srgbClr val="E8833A"/>
          </a:solidFill>
          <a:ln/>
        </p:spPr>
      </p:sp>
      <p:sp>
        <p:nvSpPr>
          <p:cNvPr id="31" name="Shape 28"/>
          <p:cNvSpPr/>
          <p:nvPr/>
        </p:nvSpPr>
        <p:spPr>
          <a:xfrm>
            <a:off x="8152181" y="2852928"/>
            <a:ext cx="3490874" cy="283464"/>
          </a:xfrm>
          <a:prstGeom prst="rect">
            <a:avLst/>
          </a:prstGeom>
          <a:solidFill>
            <a:srgbClr val="E8833A"/>
          </a:solidFill>
          <a:ln/>
        </p:spPr>
      </p:sp>
      <p:sp>
        <p:nvSpPr>
          <p:cNvPr id="32" name="Text 29"/>
          <p:cNvSpPr/>
          <p:nvPr/>
        </p:nvSpPr>
        <p:spPr>
          <a:xfrm>
            <a:off x="8243621" y="2569464"/>
            <a:ext cx="3307994"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Tableau</a:t>
            </a:r>
            <a:endParaRPr lang="en-US" sz="1400" dirty="0"/>
          </a:p>
        </p:txBody>
      </p:sp>
      <p:sp>
        <p:nvSpPr>
          <p:cNvPr id="33" name="Text 30"/>
          <p:cNvSpPr/>
          <p:nvPr/>
        </p:nvSpPr>
        <p:spPr>
          <a:xfrm>
            <a:off x="8353349" y="3300984"/>
            <a:ext cx="3106826" cy="640080"/>
          </a:xfrm>
          <a:prstGeom prst="rect">
            <a:avLst/>
          </a:prstGeom>
          <a:noFill/>
          <a:ln/>
        </p:spPr>
        <p:txBody>
          <a:bodyPr wrap="square" rtlCol="0" anchor="t"/>
          <a:lstStyle/>
          <a:p>
            <a:pPr marL="0" indent="0">
              <a:lnSpc>
                <a:spcPct val="100000"/>
              </a:lnSpc>
              <a:buNone/>
            </a:pPr>
            <a:r>
              <a:rPr lang="en-US" sz="1100" b="1" dirty="0">
                <a:solidFill>
                  <a:srgbClr val="E8833A"/>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Exploratory </a:t>
            </a:r>
            <a:r>
              <a:rPr lang="en-US" sz="1100" dirty="0">
                <a:solidFill>
                  <a:srgbClr val="343A4E"/>
                </a:solidFill>
                <a:latin typeface="Arial" pitchFamily="34" charset="0"/>
                <a:ea typeface="Arial" pitchFamily="34" charset="-122"/>
                <a:cs typeface="Arial" pitchFamily="34" charset="-120"/>
              </a:rPr>
              <a:t>Best-in-class exploratory authoring and visual polish.</a:t>
            </a:r>
            <a:endParaRPr lang="en-US" sz="1100" dirty="0"/>
          </a:p>
        </p:txBody>
      </p:sp>
      <p:sp>
        <p:nvSpPr>
          <p:cNvPr id="34" name="Text 31"/>
          <p:cNvSpPr/>
          <p:nvPr/>
        </p:nvSpPr>
        <p:spPr>
          <a:xfrm>
            <a:off x="8353349" y="3977640"/>
            <a:ext cx="3106826" cy="640080"/>
          </a:xfrm>
          <a:prstGeom prst="rect">
            <a:avLst/>
          </a:prstGeom>
          <a:noFill/>
          <a:ln/>
        </p:spPr>
        <p:txBody>
          <a:bodyPr wrap="square" rtlCol="0" anchor="t"/>
          <a:lstStyle/>
          <a:p>
            <a:pPr marL="0" indent="0">
              <a:lnSpc>
                <a:spcPct val="100000"/>
              </a:lnSpc>
              <a:buNone/>
            </a:pPr>
            <a:r>
              <a:rPr lang="en-US" sz="1100" b="1" dirty="0">
                <a:solidFill>
                  <a:srgbClr val="E8833A"/>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Free tier </a:t>
            </a:r>
            <a:r>
              <a:rPr lang="en-US" sz="1100" dirty="0">
                <a:solidFill>
                  <a:srgbClr val="343A4E"/>
                </a:solidFill>
                <a:latin typeface="Arial" pitchFamily="34" charset="0"/>
                <a:ea typeface="Arial" pitchFamily="34" charset="-122"/>
                <a:cs typeface="Arial" pitchFamily="34" charset="-120"/>
              </a:rPr>
              <a:t>Tableau Public is a cross-platform, licence-free teaching fallback.</a:t>
            </a:r>
            <a:endParaRPr lang="en-US" sz="1100" dirty="0"/>
          </a:p>
        </p:txBody>
      </p:sp>
      <p:sp>
        <p:nvSpPr>
          <p:cNvPr id="35" name="Text 32"/>
          <p:cNvSpPr/>
          <p:nvPr/>
        </p:nvSpPr>
        <p:spPr>
          <a:xfrm>
            <a:off x="8353349" y="4654296"/>
            <a:ext cx="3106826" cy="640080"/>
          </a:xfrm>
          <a:prstGeom prst="rect">
            <a:avLst/>
          </a:prstGeom>
          <a:noFill/>
          <a:ln/>
        </p:spPr>
        <p:txBody>
          <a:bodyPr wrap="square" rtlCol="0" anchor="t"/>
          <a:lstStyle/>
          <a:p>
            <a:pPr marL="0" indent="0">
              <a:lnSpc>
                <a:spcPct val="100000"/>
              </a:lnSpc>
              <a:buNone/>
            </a:pPr>
            <a:r>
              <a:rPr lang="en-US" sz="1100" b="1" dirty="0">
                <a:solidFill>
                  <a:srgbClr val="E8833A"/>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Cost </a:t>
            </a:r>
            <a:r>
              <a:rPr lang="en-US" sz="1100" dirty="0">
                <a:solidFill>
                  <a:srgbClr val="343A4E"/>
                </a:solidFill>
                <a:latin typeface="Arial" pitchFamily="34" charset="0"/>
                <a:ea typeface="Arial" pitchFamily="34" charset="-122"/>
                <a:cs typeface="Arial" pitchFamily="34" charset="-120"/>
              </a:rPr>
              <a:t>Licensing for server / governed features.</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DATA MODELLING</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semantic layer: model, not chart</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111</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Interactive dashboards break when the data model is wrong, not when the chart is wrong. Teach the minimum modelling discipline.</a:t>
            </a:r>
            <a:endParaRPr lang="en-US" sz="1250" dirty="0"/>
          </a:p>
        </p:txBody>
      </p:sp>
      <p:sp>
        <p:nvSpPr>
          <p:cNvPr id="15" name="Shape 12"/>
          <p:cNvSpPr/>
          <p:nvPr/>
        </p:nvSpPr>
        <p:spPr>
          <a:xfrm>
            <a:off x="548640" y="2569464"/>
            <a:ext cx="3515258" cy="2011680"/>
          </a:xfrm>
          <a:prstGeom prst="roundRect">
            <a:avLst>
              <a:gd name="adj" fmla="val 3636"/>
            </a:avLst>
          </a:prstGeom>
          <a:solidFill>
            <a:srgbClr val="FFFFFF"/>
          </a:solidFill>
          <a:ln w="12700">
            <a:solidFill>
              <a:srgbClr val="D9DEE8"/>
            </a:solidFill>
            <a:prstDash val="solid"/>
          </a:ln>
        </p:spPr>
      </p:sp>
      <p:sp>
        <p:nvSpPr>
          <p:cNvPr id="16" name="Shape 13"/>
          <p:cNvSpPr/>
          <p:nvPr/>
        </p:nvSpPr>
        <p:spPr>
          <a:xfrm>
            <a:off x="548640" y="2569464"/>
            <a:ext cx="3515258" cy="82296"/>
          </a:xfrm>
          <a:prstGeom prst="rect">
            <a:avLst/>
          </a:prstGeom>
          <a:solidFill>
            <a:srgbClr val="2E5AAC"/>
          </a:solidFill>
          <a:ln/>
        </p:spPr>
      </p:sp>
      <p:sp>
        <p:nvSpPr>
          <p:cNvPr id="17" name="Shape 14"/>
          <p:cNvSpPr/>
          <p:nvPr/>
        </p:nvSpPr>
        <p:spPr>
          <a:xfrm>
            <a:off x="731520" y="2752344"/>
            <a:ext cx="822960" cy="292608"/>
          </a:xfrm>
          <a:prstGeom prst="roundRect">
            <a:avLst>
              <a:gd name="adj" fmla="val 18750"/>
            </a:avLst>
          </a:prstGeom>
          <a:solidFill>
            <a:srgbClr val="EAF0FA"/>
          </a:solidFill>
          <a:ln/>
        </p:spPr>
      </p:sp>
      <p:sp>
        <p:nvSpPr>
          <p:cNvPr id="18" name="Text 15"/>
          <p:cNvSpPr/>
          <p:nvPr/>
        </p:nvSpPr>
        <p:spPr>
          <a:xfrm>
            <a:off x="731520" y="2752344"/>
            <a:ext cx="822960" cy="292608"/>
          </a:xfrm>
          <a:prstGeom prst="rect">
            <a:avLst/>
          </a:prstGeom>
          <a:noFill/>
          <a:ln/>
        </p:spPr>
        <p:txBody>
          <a:bodyPr wrap="square" rtlCol="0" anchor="ctr"/>
          <a:lstStyle/>
          <a:p>
            <a:pPr marL="0" indent="0" algn="ctr">
              <a:buNone/>
            </a:pPr>
            <a:r>
              <a:rPr lang="en-US" sz="1000" b="1" dirty="0">
                <a:solidFill>
                  <a:srgbClr val="2E5AAC"/>
                </a:solidFill>
                <a:latin typeface="Arial" pitchFamily="34" charset="0"/>
                <a:ea typeface="Arial" pitchFamily="34" charset="-122"/>
                <a:cs typeface="Arial" pitchFamily="34" charset="-120"/>
              </a:rPr>
              <a:t>Shape</a:t>
            </a:r>
            <a:endParaRPr lang="en-US" sz="1000" dirty="0"/>
          </a:p>
        </p:txBody>
      </p:sp>
      <p:sp>
        <p:nvSpPr>
          <p:cNvPr id="19" name="Text 16"/>
          <p:cNvSpPr/>
          <p:nvPr/>
        </p:nvSpPr>
        <p:spPr>
          <a:xfrm>
            <a:off x="731520" y="313639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Tidy / star schema</a:t>
            </a:r>
            <a:endParaRPr lang="en-US" sz="1300" dirty="0"/>
          </a:p>
        </p:txBody>
      </p:sp>
      <p:sp>
        <p:nvSpPr>
          <p:cNvPr id="20" name="Text 17"/>
          <p:cNvSpPr/>
          <p:nvPr/>
        </p:nvSpPr>
        <p:spPr>
          <a:xfrm>
            <a:off x="731520" y="350215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Fact table tayseer_services at month × region × category × channel, plus small dimension tables — what makes slicers and drill-downs cheap.</a:t>
            </a:r>
            <a:endParaRPr lang="en-US" sz="1050" dirty="0"/>
          </a:p>
        </p:txBody>
      </p:sp>
      <p:sp>
        <p:nvSpPr>
          <p:cNvPr id="21" name="Shape 18"/>
          <p:cNvSpPr/>
          <p:nvPr/>
        </p:nvSpPr>
        <p:spPr>
          <a:xfrm>
            <a:off x="4338218" y="2569464"/>
            <a:ext cx="3515258" cy="2011680"/>
          </a:xfrm>
          <a:prstGeom prst="roundRect">
            <a:avLst>
              <a:gd name="adj" fmla="val 3636"/>
            </a:avLst>
          </a:prstGeom>
          <a:solidFill>
            <a:srgbClr val="FFFFFF"/>
          </a:solidFill>
          <a:ln w="12700">
            <a:solidFill>
              <a:srgbClr val="D9DEE8"/>
            </a:solidFill>
            <a:prstDash val="solid"/>
          </a:ln>
        </p:spPr>
      </p:sp>
      <p:sp>
        <p:nvSpPr>
          <p:cNvPr id="22" name="Shape 19"/>
          <p:cNvSpPr/>
          <p:nvPr/>
        </p:nvSpPr>
        <p:spPr>
          <a:xfrm>
            <a:off x="4338218" y="2569464"/>
            <a:ext cx="3515258" cy="82296"/>
          </a:xfrm>
          <a:prstGeom prst="rect">
            <a:avLst/>
          </a:prstGeom>
          <a:solidFill>
            <a:srgbClr val="00A79D"/>
          </a:solidFill>
          <a:ln/>
        </p:spPr>
      </p:sp>
      <p:sp>
        <p:nvSpPr>
          <p:cNvPr id="23" name="Shape 20"/>
          <p:cNvSpPr/>
          <p:nvPr/>
        </p:nvSpPr>
        <p:spPr>
          <a:xfrm>
            <a:off x="4521098" y="2752344"/>
            <a:ext cx="822960" cy="292608"/>
          </a:xfrm>
          <a:prstGeom prst="roundRect">
            <a:avLst>
              <a:gd name="adj" fmla="val 18750"/>
            </a:avLst>
          </a:prstGeom>
          <a:solidFill>
            <a:srgbClr val="E6F5F4"/>
          </a:solidFill>
          <a:ln/>
        </p:spPr>
      </p:sp>
      <p:sp>
        <p:nvSpPr>
          <p:cNvPr id="24" name="Text 21"/>
          <p:cNvSpPr/>
          <p:nvPr/>
        </p:nvSpPr>
        <p:spPr>
          <a:xfrm>
            <a:off x="4521098" y="2752344"/>
            <a:ext cx="822960" cy="292608"/>
          </a:xfrm>
          <a:prstGeom prst="rect">
            <a:avLst/>
          </a:prstGeom>
          <a:noFill/>
          <a:ln/>
        </p:spPr>
        <p:txBody>
          <a:bodyPr wrap="square" rtlCol="0" anchor="ctr"/>
          <a:lstStyle/>
          <a:p>
            <a:pPr marL="0" indent="0" algn="ctr">
              <a:buNone/>
            </a:pPr>
            <a:r>
              <a:rPr lang="en-US" sz="1000" b="1" dirty="0">
                <a:solidFill>
                  <a:srgbClr val="00A79D"/>
                </a:solidFill>
                <a:latin typeface="Arial" pitchFamily="34" charset="0"/>
                <a:ea typeface="Arial" pitchFamily="34" charset="-122"/>
                <a:cs typeface="Arial" pitchFamily="34" charset="-120"/>
              </a:rPr>
              <a:t>Value</a:t>
            </a:r>
            <a:endParaRPr lang="en-US" sz="1000" dirty="0"/>
          </a:p>
        </p:txBody>
      </p:sp>
      <p:sp>
        <p:nvSpPr>
          <p:cNvPr id="25" name="Text 22"/>
          <p:cNvSpPr/>
          <p:nvPr/>
        </p:nvSpPr>
        <p:spPr>
          <a:xfrm>
            <a:off x="4521098" y="313639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Measures, not baked numbers</a:t>
            </a:r>
            <a:endParaRPr lang="en-US" sz="1300" dirty="0"/>
          </a:p>
        </p:txBody>
      </p:sp>
      <p:sp>
        <p:nvSpPr>
          <p:cNvPr id="26" name="Text 23"/>
          <p:cNvSpPr/>
          <p:nvPr/>
        </p:nvSpPr>
        <p:spPr>
          <a:xfrm>
            <a:off x="4521098" y="3703320"/>
            <a:ext cx="3149498" cy="768096"/>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Define Digital Adoption %, Cost per Txn, Δ vs target at query time so they respond correctly to every filter.</a:t>
            </a:r>
            <a:endParaRPr lang="en-US" sz="1050" dirty="0"/>
          </a:p>
        </p:txBody>
      </p:sp>
      <p:sp>
        <p:nvSpPr>
          <p:cNvPr id="27" name="Shape 24"/>
          <p:cNvSpPr/>
          <p:nvPr/>
        </p:nvSpPr>
        <p:spPr>
          <a:xfrm>
            <a:off x="8127797" y="2569464"/>
            <a:ext cx="3515258" cy="2011680"/>
          </a:xfrm>
          <a:prstGeom prst="roundRect">
            <a:avLst>
              <a:gd name="adj" fmla="val 3636"/>
            </a:avLst>
          </a:prstGeom>
          <a:solidFill>
            <a:srgbClr val="FFFFFF"/>
          </a:solidFill>
          <a:ln w="12700">
            <a:solidFill>
              <a:srgbClr val="D9DEE8"/>
            </a:solidFill>
            <a:prstDash val="solid"/>
          </a:ln>
        </p:spPr>
      </p:sp>
      <p:sp>
        <p:nvSpPr>
          <p:cNvPr id="28" name="Shape 25"/>
          <p:cNvSpPr/>
          <p:nvPr/>
        </p:nvSpPr>
        <p:spPr>
          <a:xfrm>
            <a:off x="8127797" y="2569464"/>
            <a:ext cx="3515258" cy="82296"/>
          </a:xfrm>
          <a:prstGeom prst="rect">
            <a:avLst/>
          </a:prstGeom>
          <a:solidFill>
            <a:srgbClr val="E8833A"/>
          </a:solidFill>
          <a:ln/>
        </p:spPr>
      </p:sp>
      <p:sp>
        <p:nvSpPr>
          <p:cNvPr id="29" name="Shape 26"/>
          <p:cNvSpPr/>
          <p:nvPr/>
        </p:nvSpPr>
        <p:spPr>
          <a:xfrm>
            <a:off x="8310677" y="2752344"/>
            <a:ext cx="822960" cy="292608"/>
          </a:xfrm>
          <a:prstGeom prst="roundRect">
            <a:avLst>
              <a:gd name="adj" fmla="val 18750"/>
            </a:avLst>
          </a:prstGeom>
          <a:solidFill>
            <a:srgbClr val="FCF0E6"/>
          </a:solidFill>
          <a:ln/>
        </p:spPr>
      </p:sp>
      <p:sp>
        <p:nvSpPr>
          <p:cNvPr id="30" name="Text 27"/>
          <p:cNvSpPr/>
          <p:nvPr/>
        </p:nvSpPr>
        <p:spPr>
          <a:xfrm>
            <a:off x="8310677" y="2752344"/>
            <a:ext cx="822960" cy="292608"/>
          </a:xfrm>
          <a:prstGeom prst="rect">
            <a:avLst/>
          </a:prstGeom>
          <a:noFill/>
          <a:ln/>
        </p:spPr>
        <p:txBody>
          <a:bodyPr wrap="square" rtlCol="0" anchor="ctr"/>
          <a:lstStyle/>
          <a:p>
            <a:pPr marL="0" indent="0" algn="ctr">
              <a:buNone/>
            </a:pPr>
            <a:r>
              <a:rPr lang="en-US" sz="1000" b="1" dirty="0">
                <a:solidFill>
                  <a:srgbClr val="E8833A"/>
                </a:solidFill>
                <a:latin typeface="Arial" pitchFamily="34" charset="0"/>
                <a:ea typeface="Arial" pitchFamily="34" charset="-122"/>
                <a:cs typeface="Arial" pitchFamily="34" charset="-120"/>
              </a:rPr>
              <a:t>Rule</a:t>
            </a:r>
            <a:endParaRPr lang="en-US" sz="1000" dirty="0"/>
          </a:p>
        </p:txBody>
      </p:sp>
      <p:sp>
        <p:nvSpPr>
          <p:cNvPr id="31" name="Text 28"/>
          <p:cNvSpPr/>
          <p:nvPr/>
        </p:nvSpPr>
        <p:spPr>
          <a:xfrm>
            <a:off x="8310677" y="313639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Know what is additive</a:t>
            </a:r>
            <a:endParaRPr lang="en-US" sz="1300" dirty="0"/>
          </a:p>
        </p:txBody>
      </p:sp>
      <p:sp>
        <p:nvSpPr>
          <p:cNvPr id="32" name="Text 29"/>
          <p:cNvSpPr/>
          <p:nvPr/>
        </p:nvSpPr>
        <p:spPr>
          <a:xfrm>
            <a:off x="8310677" y="350215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Transactions add; percentages and ratios do not — re-aggregate from components, never average-of-averages.</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PRODUCTION REALITIES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Performance, security, mobile, common mistakes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112</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Production considerations decide whether a dashboard is used. It must answer its question in the default, unfiltered state — interaction only refines.</a:t>
            </a:r>
            <a:endParaRPr lang="en-US" sz="1250" dirty="0"/>
          </a:p>
        </p:txBody>
      </p:sp>
      <p:sp>
        <p:nvSpPr>
          <p:cNvPr id="15" name="Shape 12"/>
          <p:cNvSpPr/>
          <p:nvPr/>
        </p:nvSpPr>
        <p:spPr>
          <a:xfrm>
            <a:off x="548640" y="2569464"/>
            <a:ext cx="541004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5410048" cy="82296"/>
          </a:xfrm>
          <a:prstGeom prst="rect">
            <a:avLst/>
          </a:prstGeom>
          <a:solidFill>
            <a:srgbClr val="2E5AAC"/>
          </a:solidFill>
          <a:ln/>
        </p:spPr>
      </p:sp>
      <p:sp>
        <p:nvSpPr>
          <p:cNvPr id="17" name="Shape 14"/>
          <p:cNvSpPr/>
          <p:nvPr/>
        </p:nvSpPr>
        <p:spPr>
          <a:xfrm>
            <a:off x="731520" y="2752344"/>
            <a:ext cx="822960" cy="292608"/>
          </a:xfrm>
          <a:prstGeom prst="roundRect">
            <a:avLst>
              <a:gd name="adj" fmla="val 18750"/>
            </a:avLst>
          </a:prstGeom>
          <a:solidFill>
            <a:srgbClr val="EAF0FA"/>
          </a:solidFill>
          <a:ln/>
        </p:spPr>
      </p:sp>
      <p:sp>
        <p:nvSpPr>
          <p:cNvPr id="18" name="Text 15"/>
          <p:cNvSpPr/>
          <p:nvPr/>
        </p:nvSpPr>
        <p:spPr>
          <a:xfrm>
            <a:off x="731520" y="2752344"/>
            <a:ext cx="822960" cy="292608"/>
          </a:xfrm>
          <a:prstGeom prst="rect">
            <a:avLst/>
          </a:prstGeom>
          <a:noFill/>
          <a:ln/>
        </p:spPr>
        <p:txBody>
          <a:bodyPr wrap="square" rtlCol="0" anchor="ctr"/>
          <a:lstStyle/>
          <a:p>
            <a:pPr marL="0" indent="0" algn="ctr">
              <a:buNone/>
            </a:pPr>
            <a:r>
              <a:rPr lang="en-US" sz="1000" b="1" dirty="0">
                <a:solidFill>
                  <a:srgbClr val="2E5AAC"/>
                </a:solidFill>
                <a:latin typeface="Arial" pitchFamily="34" charset="0"/>
                <a:ea typeface="Arial" pitchFamily="34" charset="-122"/>
                <a:cs typeface="Arial" pitchFamily="34" charset="-120"/>
              </a:rPr>
              <a:t>Speed</a:t>
            </a:r>
            <a:endParaRPr lang="en-US" sz="1000" dirty="0"/>
          </a:p>
        </p:txBody>
      </p:sp>
      <p:sp>
        <p:nvSpPr>
          <p:cNvPr id="19" name="Text 16"/>
          <p:cNvSpPr/>
          <p:nvPr/>
        </p:nvSpPr>
        <p:spPr>
          <a:xfrm>
            <a:off x="731520" y="3136392"/>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Performance</a:t>
            </a:r>
            <a:endParaRPr lang="en-US" sz="1300" dirty="0"/>
          </a:p>
        </p:txBody>
      </p:sp>
      <p:sp>
        <p:nvSpPr>
          <p:cNvPr id="20" name="Text 17"/>
          <p:cNvSpPr/>
          <p:nvPr/>
        </p:nvSpPr>
        <p:spPr>
          <a:xfrm>
            <a:off x="731520" y="3502152"/>
            <a:ext cx="5044288" cy="571500"/>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Eight seconds per click and it is abandoned. Pre-aggregate and cache monthly rollups; do not scan 28,000 rows per interaction.</a:t>
            </a:r>
            <a:endParaRPr lang="en-US" sz="1050" dirty="0"/>
          </a:p>
        </p:txBody>
      </p:sp>
      <p:sp>
        <p:nvSpPr>
          <p:cNvPr id="21" name="Shape 18"/>
          <p:cNvSpPr/>
          <p:nvPr/>
        </p:nvSpPr>
        <p:spPr>
          <a:xfrm>
            <a:off x="6233008" y="2569464"/>
            <a:ext cx="5410048" cy="1613916"/>
          </a:xfrm>
          <a:prstGeom prst="roundRect">
            <a:avLst>
              <a:gd name="adj" fmla="val 4533"/>
            </a:avLst>
          </a:prstGeom>
          <a:solidFill>
            <a:srgbClr val="FFFFFF"/>
          </a:solidFill>
          <a:ln w="12700">
            <a:solidFill>
              <a:srgbClr val="D9DEE8"/>
            </a:solidFill>
            <a:prstDash val="solid"/>
          </a:ln>
        </p:spPr>
      </p:sp>
      <p:sp>
        <p:nvSpPr>
          <p:cNvPr id="22" name="Shape 19"/>
          <p:cNvSpPr/>
          <p:nvPr/>
        </p:nvSpPr>
        <p:spPr>
          <a:xfrm>
            <a:off x="6233008" y="2569464"/>
            <a:ext cx="5410048" cy="82296"/>
          </a:xfrm>
          <a:prstGeom prst="rect">
            <a:avLst/>
          </a:prstGeom>
          <a:solidFill>
            <a:srgbClr val="00A79D"/>
          </a:solidFill>
          <a:ln/>
        </p:spPr>
      </p:sp>
      <p:sp>
        <p:nvSpPr>
          <p:cNvPr id="23" name="Shape 20"/>
          <p:cNvSpPr/>
          <p:nvPr/>
        </p:nvSpPr>
        <p:spPr>
          <a:xfrm>
            <a:off x="6415888" y="2752344"/>
            <a:ext cx="822960" cy="292608"/>
          </a:xfrm>
          <a:prstGeom prst="roundRect">
            <a:avLst>
              <a:gd name="adj" fmla="val 18750"/>
            </a:avLst>
          </a:prstGeom>
          <a:solidFill>
            <a:srgbClr val="E6F5F4"/>
          </a:solidFill>
          <a:ln/>
        </p:spPr>
      </p:sp>
      <p:sp>
        <p:nvSpPr>
          <p:cNvPr id="24" name="Text 21"/>
          <p:cNvSpPr/>
          <p:nvPr/>
        </p:nvSpPr>
        <p:spPr>
          <a:xfrm>
            <a:off x="6415888" y="2752344"/>
            <a:ext cx="822960" cy="292608"/>
          </a:xfrm>
          <a:prstGeom prst="rect">
            <a:avLst/>
          </a:prstGeom>
          <a:noFill/>
          <a:ln/>
        </p:spPr>
        <p:txBody>
          <a:bodyPr wrap="square" rtlCol="0" anchor="ctr"/>
          <a:lstStyle/>
          <a:p>
            <a:pPr marL="0" indent="0" algn="ctr">
              <a:buNone/>
            </a:pPr>
            <a:r>
              <a:rPr lang="en-US" sz="1000" b="1" dirty="0">
                <a:solidFill>
                  <a:srgbClr val="00A79D"/>
                </a:solidFill>
                <a:latin typeface="Arial" pitchFamily="34" charset="0"/>
                <a:ea typeface="Arial" pitchFamily="34" charset="-122"/>
                <a:cs typeface="Arial" pitchFamily="34" charset="-120"/>
              </a:rPr>
              <a:t>RLS</a:t>
            </a:r>
            <a:endParaRPr lang="en-US" sz="1000" dirty="0"/>
          </a:p>
        </p:txBody>
      </p:sp>
      <p:sp>
        <p:nvSpPr>
          <p:cNvPr id="25" name="Text 22"/>
          <p:cNvSpPr/>
          <p:nvPr/>
        </p:nvSpPr>
        <p:spPr>
          <a:xfrm>
            <a:off x="6415888" y="3136392"/>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Row-level security</a:t>
            </a:r>
            <a:endParaRPr lang="en-US" sz="1300" dirty="0"/>
          </a:p>
        </p:txBody>
      </p:sp>
      <p:sp>
        <p:nvSpPr>
          <p:cNvPr id="26" name="Text 23"/>
          <p:cNvSpPr/>
          <p:nvPr/>
        </p:nvSpPr>
        <p:spPr>
          <a:xfrm>
            <a:off x="6415888" y="3502152"/>
            <a:ext cx="5044288" cy="571500"/>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Each director sees their region by default (RLS in Power BI, user filters in Tableau). Without it, the view often cannot be shared in government.</a:t>
            </a:r>
            <a:endParaRPr lang="en-US" sz="1050" dirty="0"/>
          </a:p>
        </p:txBody>
      </p:sp>
      <p:sp>
        <p:nvSpPr>
          <p:cNvPr id="27" name="Shape 24"/>
          <p:cNvSpPr/>
          <p:nvPr/>
        </p:nvSpPr>
        <p:spPr>
          <a:xfrm>
            <a:off x="548640" y="4421124"/>
            <a:ext cx="541004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548640" y="4421124"/>
            <a:ext cx="5410048" cy="82296"/>
          </a:xfrm>
          <a:prstGeom prst="rect">
            <a:avLst/>
          </a:prstGeom>
          <a:solidFill>
            <a:srgbClr val="E8833A"/>
          </a:solidFill>
          <a:ln/>
        </p:spPr>
      </p:sp>
      <p:sp>
        <p:nvSpPr>
          <p:cNvPr id="29" name="Shape 26"/>
          <p:cNvSpPr/>
          <p:nvPr/>
        </p:nvSpPr>
        <p:spPr>
          <a:xfrm>
            <a:off x="731520" y="4604004"/>
            <a:ext cx="822960" cy="292608"/>
          </a:xfrm>
          <a:prstGeom prst="roundRect">
            <a:avLst>
              <a:gd name="adj" fmla="val 18750"/>
            </a:avLst>
          </a:prstGeom>
          <a:solidFill>
            <a:srgbClr val="FCF0E6"/>
          </a:solidFill>
          <a:ln/>
        </p:spPr>
      </p:sp>
      <p:sp>
        <p:nvSpPr>
          <p:cNvPr id="30" name="Text 27"/>
          <p:cNvSpPr/>
          <p:nvPr/>
        </p:nvSpPr>
        <p:spPr>
          <a:xfrm>
            <a:off x="731520" y="4604004"/>
            <a:ext cx="822960" cy="292608"/>
          </a:xfrm>
          <a:prstGeom prst="rect">
            <a:avLst/>
          </a:prstGeom>
          <a:noFill/>
          <a:ln/>
        </p:spPr>
        <p:txBody>
          <a:bodyPr wrap="square" rtlCol="0" anchor="ctr"/>
          <a:lstStyle/>
          <a:p>
            <a:pPr marL="0" indent="0" algn="ctr">
              <a:buNone/>
            </a:pPr>
            <a:r>
              <a:rPr lang="en-US" sz="1000" b="1" dirty="0">
                <a:solidFill>
                  <a:srgbClr val="E8833A"/>
                </a:solidFill>
                <a:latin typeface="Arial" pitchFamily="34" charset="0"/>
                <a:ea typeface="Arial" pitchFamily="34" charset="-122"/>
                <a:cs typeface="Arial" pitchFamily="34" charset="-120"/>
              </a:rPr>
              <a:t>Mobile</a:t>
            </a:r>
            <a:endParaRPr lang="en-US" sz="1000" dirty="0"/>
          </a:p>
        </p:txBody>
      </p:sp>
      <p:sp>
        <p:nvSpPr>
          <p:cNvPr id="31" name="Text 28"/>
          <p:cNvSpPr/>
          <p:nvPr/>
        </p:nvSpPr>
        <p:spPr>
          <a:xfrm>
            <a:off x="731520" y="4988052"/>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Mobile &amp; accessibility</a:t>
            </a:r>
            <a:endParaRPr lang="en-US" sz="1300" dirty="0"/>
          </a:p>
        </p:txBody>
      </p:sp>
      <p:sp>
        <p:nvSpPr>
          <p:cNvPr id="32" name="Text 29"/>
          <p:cNvSpPr/>
          <p:nvPr/>
        </p:nvSpPr>
        <p:spPr>
          <a:xfrm>
            <a:off x="731520" y="5353812"/>
            <a:ext cx="5044288" cy="571500"/>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Executives open dashboards on phones — design a stacked, headline-first layout and keep the Module 3 rules (colour-blind-safe, redundant cues, RTL).</a:t>
            </a:r>
            <a:endParaRPr lang="en-US" sz="1050" dirty="0"/>
          </a:p>
        </p:txBody>
      </p:sp>
      <p:sp>
        <p:nvSpPr>
          <p:cNvPr id="33" name="Shape 30"/>
          <p:cNvSpPr/>
          <p:nvPr/>
        </p:nvSpPr>
        <p:spPr>
          <a:xfrm>
            <a:off x="6233008" y="4421124"/>
            <a:ext cx="5410048" cy="1613916"/>
          </a:xfrm>
          <a:prstGeom prst="roundRect">
            <a:avLst>
              <a:gd name="adj" fmla="val 4533"/>
            </a:avLst>
          </a:prstGeom>
          <a:solidFill>
            <a:srgbClr val="FFFFFF"/>
          </a:solidFill>
          <a:ln w="12700">
            <a:solidFill>
              <a:srgbClr val="D9DEE8"/>
            </a:solidFill>
            <a:prstDash val="solid"/>
          </a:ln>
        </p:spPr>
      </p:sp>
      <p:sp>
        <p:nvSpPr>
          <p:cNvPr id="34" name="Shape 31"/>
          <p:cNvSpPr/>
          <p:nvPr/>
        </p:nvSpPr>
        <p:spPr>
          <a:xfrm>
            <a:off x="6233008" y="4421124"/>
            <a:ext cx="5410048" cy="82296"/>
          </a:xfrm>
          <a:prstGeom prst="rect">
            <a:avLst/>
          </a:prstGeom>
          <a:solidFill>
            <a:srgbClr val="6C4FA1"/>
          </a:solidFill>
          <a:ln/>
        </p:spPr>
      </p:sp>
      <p:sp>
        <p:nvSpPr>
          <p:cNvPr id="35" name="Shape 32"/>
          <p:cNvSpPr/>
          <p:nvPr/>
        </p:nvSpPr>
        <p:spPr>
          <a:xfrm>
            <a:off x="6415888" y="4604004"/>
            <a:ext cx="822960" cy="292608"/>
          </a:xfrm>
          <a:prstGeom prst="roundRect">
            <a:avLst>
              <a:gd name="adj" fmla="val 18750"/>
            </a:avLst>
          </a:prstGeom>
          <a:solidFill>
            <a:srgbClr val="EFEBF6"/>
          </a:solidFill>
          <a:ln/>
        </p:spPr>
      </p:sp>
      <p:sp>
        <p:nvSpPr>
          <p:cNvPr id="36" name="Text 33"/>
          <p:cNvSpPr/>
          <p:nvPr/>
        </p:nvSpPr>
        <p:spPr>
          <a:xfrm>
            <a:off x="6415888" y="4604004"/>
            <a:ext cx="822960" cy="292608"/>
          </a:xfrm>
          <a:prstGeom prst="rect">
            <a:avLst/>
          </a:prstGeom>
          <a:noFill/>
          <a:ln/>
        </p:spPr>
        <p:txBody>
          <a:bodyPr wrap="square" rtlCol="0" anchor="ctr"/>
          <a:lstStyle/>
          <a:p>
            <a:pPr marL="0" indent="0" algn="ctr">
              <a:buNone/>
            </a:pPr>
            <a:r>
              <a:rPr lang="en-US" sz="1000" b="1" dirty="0">
                <a:solidFill>
                  <a:srgbClr val="6C4FA1"/>
                </a:solidFill>
                <a:latin typeface="Arial" pitchFamily="34" charset="0"/>
                <a:ea typeface="Arial" pitchFamily="34" charset="-122"/>
                <a:cs typeface="Arial" pitchFamily="34" charset="-120"/>
              </a:rPr>
              <a:t>Traps</a:t>
            </a:r>
            <a:endParaRPr lang="en-US" sz="1000" dirty="0"/>
          </a:p>
        </p:txBody>
      </p:sp>
      <p:sp>
        <p:nvSpPr>
          <p:cNvPr id="37" name="Text 34"/>
          <p:cNvSpPr/>
          <p:nvPr/>
        </p:nvSpPr>
        <p:spPr>
          <a:xfrm>
            <a:off x="6415888" y="4988052"/>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Common mistakes</a:t>
            </a:r>
            <a:endParaRPr lang="en-US" sz="1300" dirty="0"/>
          </a:p>
        </p:txBody>
      </p:sp>
      <p:sp>
        <p:nvSpPr>
          <p:cNvPr id="38" name="Text 35"/>
          <p:cNvSpPr/>
          <p:nvPr/>
        </p:nvSpPr>
        <p:spPr>
          <a:xfrm>
            <a:off x="6415888" y="5353812"/>
            <a:ext cx="5044288" cy="571500"/>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Gauge wall; averages-of-averages; invisible filters; drill with no breadcrumb; 3D/donut tiles; no default state that answers the question.</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PLOTLY DASHBOARD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Linked KPI + trend + regional bar</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113</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notebooks/m4_dashboard.ipynb</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df = pd.read_csv("data/tayseer_services.csv",</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parse_dates=["month"])</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TARGET = 65.0   # national digital-adoption target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def national_adoption(frame):</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 Percentages are NON-additive: recompute</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 from unique_users, never average regions.</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return frame.groupby('month').apply(lambda x:</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100 * (x.digital_adoption_pct/100</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 x.unique_users).sum() / x.unique_users.sum())</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nat = national_adoption(df)</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delta = nat.iloc[-1] - TARGET   # am I on track?</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fig = make_subplots(rows=2, cols=2,</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row_heights=[0.45, 0.55],</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specs=[[{'type':'indicator'}, {'type':'xy'}],</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[{'type':'xy','colspan':2}, None]])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fig.add_trace(go.Indicator(mode='number+delta',</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value=round(nat.iloc[-1], 1),</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delta={'reference':TARGET}), row=1, col=1)</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fig.write_html("out/m4_dashboard.html")  # share</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The default state answers the question with zero clicks — the inverted pyramid in code.</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DASH INTERACTIVITY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Cross-filter on click + a measure toggle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114</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app/dashboard.py</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MEASURES = {'digital_adoption_pct': 'Adoption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'cost_per_txn_sar': 'Cost per txn',</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'csat': 'CSAT (1-5)'}</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app = dash.Dash(__name__)</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app.layout = html.Div([</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dcc.Dropdown(id='measure',   # toggle pattern</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value='digital_adoption_pct',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options=[{'label':v,'value':k}</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for k,v in MEASURES.items()]),</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html.Div(id='filter-state'),  # state, shown</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dcc.Graph(id='region-bar'),   # click to filter</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dcc.Graph(id='trend')])</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@app.callback(Output('trend','figure'),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Input('region-bar','clickData'),</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Input('measure','value'))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def trend(click, measure):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frame = df if not click else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df[df.region == click['points'][0]['y']]</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m = frame.groupby('month')[measure].mean()</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return px.line(m.reset_index(), x='month',</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y=measure)  # scope made legible in title</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Cross-filter re-scopes every view; the active measure and region are always echoed as state.</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BI MEASURES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same logic as DAX and Tableau fields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115</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bi/tayseer_measures.md</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Grain: month x region x category x channel.</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 Power BI (DAX) ----</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Non-additive %: recompute, never AVERAGE.</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Digital Adoption % :=</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DIVIDE(</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SUMX(tayseer,</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tayseer[digital_adoption_pct]/100</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 tayseer[unique_users]),</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SUM(tayseer[unique_users])) * 100</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Delta vs Target := [Digital Adoption %] - 65</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Regions Below Target :=</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CALCULATE(DISTINCTCOUNT(tayseer[region]),</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FILTER(VALUES(tayseer[region]),</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[Digital Adoption %] &lt; 65))</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RLS 'RegionDirector': [region] =</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LOOKUPVALUE(UserRegion[region],</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UserRegion[email], USERPRINCIPALNAME())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 Tableau (calculated fields) ----</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Adoption %: SUM([digital_adoption_pct]/100</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 [unique_users]) / SUM([unique_users]) *100</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A star schema and a DAX measure is the same idea as a tidy dataframe and an aggregation.</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HANDS-ON LAB</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Lab 4 — Build the Interactive Tayseer Dashboard</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بناء لوحة تفاعلية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116</a:t>
            </a:r>
            <a:endParaRPr lang="en-US" sz="800" dirty="0"/>
          </a:p>
        </p:txBody>
      </p:sp>
      <p:sp>
        <p:nvSpPr>
          <p:cNvPr id="15" name="Shape 12"/>
          <p:cNvSpPr/>
          <p:nvPr/>
        </p:nvSpPr>
        <p:spPr>
          <a:xfrm>
            <a:off x="548640" y="2331720"/>
            <a:ext cx="11094415" cy="1234440"/>
          </a:xfrm>
          <a:prstGeom prst="roundRect">
            <a:avLst>
              <a:gd name="adj" fmla="val 5926"/>
            </a:avLst>
          </a:prstGeom>
          <a:solidFill>
            <a:srgbClr val="EAF0FA"/>
          </a:solidFill>
          <a:ln w="12700">
            <a:solidFill>
              <a:srgbClr val="2E5AAC"/>
            </a:solidFill>
            <a:prstDash val="solid"/>
          </a:ln>
        </p:spPr>
      </p:sp>
      <p:sp>
        <p:nvSpPr>
          <p:cNvPr id="16" name="Text 13"/>
          <p:cNvSpPr/>
          <p:nvPr/>
        </p:nvSpPr>
        <p:spPr>
          <a:xfrm>
            <a:off x="777240" y="2450592"/>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OBJECTIVE  </a:t>
            </a:r>
            <a:r>
              <a:rPr lang="en-US" sz="1100" dirty="0">
                <a:solidFill>
                  <a:srgbClr val="343A4E"/>
                </a:solidFill>
                <a:latin typeface="Arial" pitchFamily="34" charset="0"/>
                <a:ea typeface="Arial" pitchFamily="34" charset="-122"/>
                <a:cs typeface="Arial" pitchFamily="34" charset="-120"/>
              </a:rPr>
              <a:t>Compose a multi-view Tayseer dashboard in Plotly/Dash, add cross-filter, drill and a measure toggle, reproduce its core in a BI tool, and usability-test it.</a:t>
            </a:r>
            <a:endParaRPr lang="en-US" sz="1100" dirty="0"/>
          </a:p>
        </p:txBody>
      </p:sp>
      <p:sp>
        <p:nvSpPr>
          <p:cNvPr id="17" name="Text 14"/>
          <p:cNvSpPr/>
          <p:nvPr/>
        </p:nvSpPr>
        <p:spPr>
          <a:xfrm>
            <a:off x="777240" y="2907792"/>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DURATION  </a:t>
            </a:r>
            <a:r>
              <a:rPr lang="en-US" sz="1100" dirty="0">
                <a:solidFill>
                  <a:srgbClr val="343A4E"/>
                </a:solidFill>
                <a:latin typeface="Arial" pitchFamily="34" charset="0"/>
                <a:ea typeface="Arial" pitchFamily="34" charset="-122"/>
                <a:cs typeface="Arial" pitchFamily="34" charset="-120"/>
              </a:rPr>
              <a:t>100 minutes (Lab 4a build + Lab 4b interactivity)</a:t>
            </a:r>
            <a:endParaRPr lang="en-US" sz="1100" dirty="0"/>
          </a:p>
        </p:txBody>
      </p:sp>
      <p:sp>
        <p:nvSpPr>
          <p:cNvPr id="18" name="Text 15"/>
          <p:cNvSpPr/>
          <p:nvPr/>
        </p:nvSpPr>
        <p:spPr>
          <a:xfrm>
            <a:off x="777240" y="3255264"/>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SETUP  </a:t>
            </a:r>
            <a:r>
              <a:rPr lang="en-US" sz="1100" dirty="0">
                <a:solidFill>
                  <a:srgbClr val="343A4E"/>
                </a:solidFill>
                <a:latin typeface="Arial" pitchFamily="34" charset="0"/>
                <a:ea typeface="Arial" pitchFamily="34" charset="-122"/>
                <a:cs typeface="Arial" pitchFamily="34" charset="-120"/>
              </a:rPr>
              <a:t>pip install pandas plotly dash; Power BI Desktop or Tableau Public; data/tayseer_services.csv; git checkout lab4_start.</a:t>
            </a:r>
            <a:endParaRPr lang="en-US" sz="1100" dirty="0"/>
          </a:p>
        </p:txBody>
      </p:sp>
      <p:sp>
        <p:nvSpPr>
          <p:cNvPr id="19" name="Text 16"/>
          <p:cNvSpPr/>
          <p:nvPr/>
        </p:nvSpPr>
        <p:spPr>
          <a:xfrm>
            <a:off x="548640" y="3703320"/>
            <a:ext cx="4572000" cy="274320"/>
          </a:xfrm>
          <a:prstGeom prst="rect">
            <a:avLst/>
          </a:prstGeom>
          <a:noFill/>
          <a:ln/>
        </p:spPr>
        <p:txBody>
          <a:bodyPr wrap="square" rtlCol="0" anchor="ctr"/>
          <a:lstStyle/>
          <a:p>
            <a:pPr marL="0" indent="0">
              <a:buNone/>
            </a:pPr>
            <a:r>
              <a:rPr lang="en-US" sz="1200" b="1" kern="0" spc="100" dirty="0">
                <a:solidFill>
                  <a:srgbClr val="1D2A5C"/>
                </a:solidFill>
                <a:latin typeface="Arial" pitchFamily="34" charset="0"/>
                <a:ea typeface="Arial" pitchFamily="34" charset="-122"/>
                <a:cs typeface="Arial" pitchFamily="34" charset="-120"/>
              </a:rPr>
              <a:t>TASKS</a:t>
            </a:r>
            <a:endParaRPr lang="en-US" sz="1200" dirty="0"/>
          </a:p>
        </p:txBody>
      </p:sp>
      <p:sp>
        <p:nvSpPr>
          <p:cNvPr id="20" name="Shape 17"/>
          <p:cNvSpPr/>
          <p:nvPr/>
        </p:nvSpPr>
        <p:spPr>
          <a:xfrm>
            <a:off x="548640" y="4087368"/>
            <a:ext cx="292608" cy="292608"/>
          </a:xfrm>
          <a:prstGeom prst="ellipse">
            <a:avLst/>
          </a:prstGeom>
          <a:solidFill>
            <a:srgbClr val="2E5AAC"/>
          </a:solidFill>
          <a:ln/>
        </p:spPr>
      </p:sp>
      <p:sp>
        <p:nvSpPr>
          <p:cNvPr id="21" name="Text 18"/>
          <p:cNvSpPr/>
          <p:nvPr/>
        </p:nvSpPr>
        <p:spPr>
          <a:xfrm>
            <a:off x="548640" y="408736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19"/>
          <p:cNvSpPr/>
          <p:nvPr/>
        </p:nvSpPr>
        <p:spPr>
          <a:xfrm>
            <a:off x="960120" y="4069080"/>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4a — Write the one-sentence brief: audience, decision, cadence. Confirm the primary question.</a:t>
            </a:r>
            <a:endParaRPr lang="en-US" sz="1100" dirty="0"/>
          </a:p>
        </p:txBody>
      </p:sp>
      <p:sp>
        <p:nvSpPr>
          <p:cNvPr id="23" name="Shape 20"/>
          <p:cNvSpPr/>
          <p:nvPr/>
        </p:nvSpPr>
        <p:spPr>
          <a:xfrm>
            <a:off x="548640" y="4368219"/>
            <a:ext cx="292608" cy="292608"/>
          </a:xfrm>
          <a:prstGeom prst="ellipse">
            <a:avLst/>
          </a:prstGeom>
          <a:solidFill>
            <a:srgbClr val="00A79D"/>
          </a:solidFill>
          <a:ln/>
        </p:spPr>
      </p:sp>
      <p:sp>
        <p:nvSpPr>
          <p:cNvPr id="24" name="Text 21"/>
          <p:cNvSpPr/>
          <p:nvPr/>
        </p:nvSpPr>
        <p:spPr>
          <a:xfrm>
            <a:off x="548640" y="4368219"/>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2"/>
          <p:cNvSpPr/>
          <p:nvPr/>
        </p:nvSpPr>
        <p:spPr>
          <a:xfrm>
            <a:off x="960120" y="4349931"/>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(15 min) </a:t>
            </a:r>
            <a:r>
              <a:rPr lang="en-US" sz="1100" dirty="0">
                <a:solidFill>
                  <a:srgbClr val="343A4E"/>
                </a:solidFill>
                <a:latin typeface="Arial" pitchFamily="34" charset="0"/>
                <a:ea typeface="Arial" pitchFamily="34" charset="-122"/>
                <a:cs typeface="Arial" pitchFamily="34" charset="-120"/>
              </a:rPr>
              <a:t>4a — Build the inverted-pyramid layout in make_subplots: KPI, trend vs 65%, sorted regional bar.</a:t>
            </a:r>
            <a:endParaRPr lang="en-US" sz="1100" dirty="0"/>
          </a:p>
        </p:txBody>
      </p:sp>
      <p:sp>
        <p:nvSpPr>
          <p:cNvPr id="26" name="Shape 23"/>
          <p:cNvSpPr/>
          <p:nvPr/>
        </p:nvSpPr>
        <p:spPr>
          <a:xfrm>
            <a:off x="548640" y="4649071"/>
            <a:ext cx="292608" cy="292608"/>
          </a:xfrm>
          <a:prstGeom prst="ellipse">
            <a:avLst/>
          </a:prstGeom>
          <a:solidFill>
            <a:srgbClr val="E8833A"/>
          </a:solidFill>
          <a:ln/>
        </p:spPr>
      </p:sp>
      <p:sp>
        <p:nvSpPr>
          <p:cNvPr id="27" name="Text 24"/>
          <p:cNvSpPr/>
          <p:nvPr/>
        </p:nvSpPr>
        <p:spPr>
          <a:xfrm>
            <a:off x="548640" y="4649071"/>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5"/>
          <p:cNvSpPr/>
          <p:nvPr/>
        </p:nvSpPr>
        <p:spPr>
          <a:xfrm>
            <a:off x="960120" y="4630783"/>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4a — Implement national_adoption() from unique_users; prove it differs from a naive mean().</a:t>
            </a:r>
            <a:endParaRPr lang="en-US" sz="1100" dirty="0"/>
          </a:p>
        </p:txBody>
      </p:sp>
      <p:sp>
        <p:nvSpPr>
          <p:cNvPr id="29" name="Shape 26"/>
          <p:cNvSpPr/>
          <p:nvPr/>
        </p:nvSpPr>
        <p:spPr>
          <a:xfrm>
            <a:off x="548640" y="4929922"/>
            <a:ext cx="292608" cy="292608"/>
          </a:xfrm>
          <a:prstGeom prst="ellipse">
            <a:avLst/>
          </a:prstGeom>
          <a:solidFill>
            <a:srgbClr val="6C4FA1"/>
          </a:solidFill>
          <a:ln/>
        </p:spPr>
      </p:sp>
      <p:sp>
        <p:nvSpPr>
          <p:cNvPr id="30" name="Text 27"/>
          <p:cNvSpPr/>
          <p:nvPr/>
        </p:nvSpPr>
        <p:spPr>
          <a:xfrm>
            <a:off x="548640" y="4929922"/>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1" name="Text 28"/>
          <p:cNvSpPr/>
          <p:nvPr/>
        </p:nvSpPr>
        <p:spPr>
          <a:xfrm>
            <a:off x="960120" y="4911634"/>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4a — Add target reference lines and a takeaway title; export a self-contained m4_dashboard.html.</a:t>
            </a:r>
            <a:endParaRPr lang="en-US" sz="1100" dirty="0"/>
          </a:p>
        </p:txBody>
      </p:sp>
      <p:sp>
        <p:nvSpPr>
          <p:cNvPr id="32" name="Shape 29"/>
          <p:cNvSpPr/>
          <p:nvPr/>
        </p:nvSpPr>
        <p:spPr>
          <a:xfrm>
            <a:off x="548640" y="5210774"/>
            <a:ext cx="292608" cy="292608"/>
          </a:xfrm>
          <a:prstGeom prst="ellipse">
            <a:avLst/>
          </a:prstGeom>
          <a:solidFill>
            <a:srgbClr val="3FAE5A"/>
          </a:solidFill>
          <a:ln/>
        </p:spPr>
      </p:sp>
      <p:sp>
        <p:nvSpPr>
          <p:cNvPr id="33" name="Text 30"/>
          <p:cNvSpPr/>
          <p:nvPr/>
        </p:nvSpPr>
        <p:spPr>
          <a:xfrm>
            <a:off x="548640" y="5210774"/>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p:nvPr/>
        </p:nvSpPr>
        <p:spPr>
          <a:xfrm>
            <a:off x="960120" y="5192486"/>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(15 min) </a:t>
            </a:r>
            <a:r>
              <a:rPr lang="en-US" sz="1100" dirty="0">
                <a:solidFill>
                  <a:srgbClr val="343A4E"/>
                </a:solidFill>
                <a:latin typeface="Arial" pitchFamily="34" charset="0"/>
                <a:ea typeface="Arial" pitchFamily="34" charset="-122"/>
                <a:cs typeface="Arial" pitchFamily="34" charset="-120"/>
              </a:rPr>
              <a:t>4b — Convert to Dash: measure toggle + click-to-cross-filter bar → trend; make state legible.</a:t>
            </a:r>
            <a:endParaRPr lang="en-US" sz="1100" dirty="0"/>
          </a:p>
        </p:txBody>
      </p:sp>
      <p:sp>
        <p:nvSpPr>
          <p:cNvPr id="35" name="Shape 32"/>
          <p:cNvSpPr/>
          <p:nvPr/>
        </p:nvSpPr>
        <p:spPr>
          <a:xfrm>
            <a:off x="548640" y="5491625"/>
            <a:ext cx="292608" cy="292608"/>
          </a:xfrm>
          <a:prstGeom prst="ellipse">
            <a:avLst/>
          </a:prstGeom>
          <a:solidFill>
            <a:srgbClr val="29ABE2"/>
          </a:solidFill>
          <a:ln/>
        </p:spPr>
      </p:sp>
      <p:sp>
        <p:nvSpPr>
          <p:cNvPr id="36" name="Text 33"/>
          <p:cNvSpPr/>
          <p:nvPr/>
        </p:nvSpPr>
        <p:spPr>
          <a:xfrm>
            <a:off x="548640" y="5491625"/>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p:nvPr/>
        </p:nvSpPr>
        <p:spPr>
          <a:xfrm>
            <a:off x="960120" y="5473337"/>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4b — Add a drill path (national → region → service) with a breadcrumb and a reset affordance.</a:t>
            </a:r>
            <a:endParaRPr lang="en-US" sz="1100" dirty="0"/>
          </a:p>
        </p:txBody>
      </p:sp>
      <p:sp>
        <p:nvSpPr>
          <p:cNvPr id="38" name="Shape 35"/>
          <p:cNvSpPr/>
          <p:nvPr/>
        </p:nvSpPr>
        <p:spPr>
          <a:xfrm>
            <a:off x="548640" y="5772477"/>
            <a:ext cx="292608" cy="292608"/>
          </a:xfrm>
          <a:prstGeom prst="ellipse">
            <a:avLst/>
          </a:prstGeom>
          <a:solidFill>
            <a:srgbClr val="D9534F"/>
          </a:solidFill>
          <a:ln/>
        </p:spPr>
      </p:sp>
      <p:sp>
        <p:nvSpPr>
          <p:cNvPr id="39" name="Text 36"/>
          <p:cNvSpPr/>
          <p:nvPr/>
        </p:nvSpPr>
        <p:spPr>
          <a:xfrm>
            <a:off x="548640" y="5772477"/>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40" name="Text 37"/>
          <p:cNvSpPr/>
          <p:nvPr/>
        </p:nvSpPr>
        <p:spPr>
          <a:xfrm>
            <a:off x="960120" y="5754189"/>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4b — Reproduce KPI + bar in Power BI/Tableau with RLS; usability-test with a naive peer.</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KNOWLEDGE CHECK</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Mini Exercises — Quick Check</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تمارين قصيرة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117</a:t>
            </a:r>
            <a:endParaRPr lang="en-US" sz="800" dirty="0"/>
          </a:p>
        </p:txBody>
      </p:sp>
      <p:sp>
        <p:nvSpPr>
          <p:cNvPr id="15" name="Shape 12"/>
          <p:cNvSpPr/>
          <p:nvPr/>
        </p:nvSpPr>
        <p:spPr>
          <a:xfrm>
            <a:off x="548640" y="2377440"/>
            <a:ext cx="11094415" cy="614477"/>
          </a:xfrm>
          <a:prstGeom prst="roundRect">
            <a:avLst>
              <a:gd name="adj" fmla="val 10417"/>
            </a:avLst>
          </a:prstGeom>
          <a:solidFill>
            <a:srgbClr val="FFFFFF"/>
          </a:solidFill>
          <a:ln w="12700">
            <a:solidFill>
              <a:srgbClr val="D9DEE8"/>
            </a:solidFill>
            <a:prstDash val="solid"/>
          </a:ln>
        </p:spPr>
      </p:sp>
      <p:sp>
        <p:nvSpPr>
          <p:cNvPr id="16" name="Shape 13"/>
          <p:cNvSpPr/>
          <p:nvPr/>
        </p:nvSpPr>
        <p:spPr>
          <a:xfrm>
            <a:off x="548640" y="2377440"/>
            <a:ext cx="91440" cy="614477"/>
          </a:xfrm>
          <a:prstGeom prst="rect">
            <a:avLst/>
          </a:prstGeom>
          <a:solidFill>
            <a:srgbClr val="2E5AAC"/>
          </a:solidFill>
          <a:ln/>
        </p:spPr>
      </p:sp>
      <p:sp>
        <p:nvSpPr>
          <p:cNvPr id="17" name="Text 14"/>
          <p:cNvSpPr/>
          <p:nvPr/>
        </p:nvSpPr>
        <p:spPr>
          <a:xfrm>
            <a:off x="804672" y="2450592"/>
            <a:ext cx="10637215" cy="307238"/>
          </a:xfrm>
          <a:prstGeom prst="rect">
            <a:avLst/>
          </a:prstGeom>
          <a:noFill/>
          <a:ln/>
        </p:spPr>
        <p:txBody>
          <a:bodyPr wrap="square" rtlCol="0" anchor="t"/>
          <a:lstStyle/>
          <a:p>
            <a:pPr marL="0" indent="0">
              <a:lnSpc>
                <a:spcPct val="98000"/>
              </a:lnSpc>
              <a:buNone/>
            </a:pPr>
            <a:r>
              <a:rPr lang="en-US" sz="1150" b="1" dirty="0">
                <a:solidFill>
                  <a:srgbClr val="2E5AAC"/>
                </a:solidFill>
                <a:latin typeface="Arial" pitchFamily="34" charset="0"/>
                <a:ea typeface="Arial" pitchFamily="34" charset="-122"/>
                <a:cs typeface="Arial" pitchFamily="34" charset="-120"/>
              </a:rPr>
              <a:t>Q1  </a:t>
            </a:r>
            <a:r>
              <a:rPr lang="en-US" sz="1150" b="1" dirty="0">
                <a:solidFill>
                  <a:srgbClr val="1D2A5C"/>
                </a:solidFill>
                <a:latin typeface="Arial" pitchFamily="34" charset="0"/>
                <a:ea typeface="Arial" pitchFamily="34" charset="-122"/>
                <a:cs typeface="Arial" pitchFamily="34" charset="-120"/>
              </a:rPr>
              <a:t>A dashboard shows 20 gauges. Name the core failure and the fix.</a:t>
            </a:r>
            <a:endParaRPr lang="en-US" sz="1150" dirty="0"/>
          </a:p>
        </p:txBody>
      </p:sp>
      <p:sp>
        <p:nvSpPr>
          <p:cNvPr id="18" name="Text 15"/>
          <p:cNvSpPr/>
          <p:nvPr/>
        </p:nvSpPr>
        <p:spPr>
          <a:xfrm>
            <a:off x="804672" y="2666390"/>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No hierarchy / no primary question; restructure as an inverted pyramid around one question.</a:t>
            </a:r>
            <a:endParaRPr lang="en-US" sz="1100" dirty="0"/>
          </a:p>
        </p:txBody>
      </p:sp>
      <p:sp>
        <p:nvSpPr>
          <p:cNvPr id="19" name="Shape 16"/>
          <p:cNvSpPr/>
          <p:nvPr/>
        </p:nvSpPr>
        <p:spPr>
          <a:xfrm>
            <a:off x="548640" y="3138221"/>
            <a:ext cx="11094415" cy="614477"/>
          </a:xfrm>
          <a:prstGeom prst="roundRect">
            <a:avLst>
              <a:gd name="adj" fmla="val 10417"/>
            </a:avLst>
          </a:prstGeom>
          <a:solidFill>
            <a:srgbClr val="FFFFFF"/>
          </a:solidFill>
          <a:ln w="12700">
            <a:solidFill>
              <a:srgbClr val="D9DEE8"/>
            </a:solidFill>
            <a:prstDash val="solid"/>
          </a:ln>
        </p:spPr>
      </p:sp>
      <p:sp>
        <p:nvSpPr>
          <p:cNvPr id="20" name="Shape 17"/>
          <p:cNvSpPr/>
          <p:nvPr/>
        </p:nvSpPr>
        <p:spPr>
          <a:xfrm>
            <a:off x="548640" y="3138221"/>
            <a:ext cx="91440" cy="614477"/>
          </a:xfrm>
          <a:prstGeom prst="rect">
            <a:avLst/>
          </a:prstGeom>
          <a:solidFill>
            <a:srgbClr val="00A79D"/>
          </a:solidFill>
          <a:ln/>
        </p:spPr>
      </p:sp>
      <p:sp>
        <p:nvSpPr>
          <p:cNvPr id="21" name="Text 18"/>
          <p:cNvSpPr/>
          <p:nvPr/>
        </p:nvSpPr>
        <p:spPr>
          <a:xfrm>
            <a:off x="804672" y="3211373"/>
            <a:ext cx="10637215" cy="307238"/>
          </a:xfrm>
          <a:prstGeom prst="rect">
            <a:avLst/>
          </a:prstGeom>
          <a:noFill/>
          <a:ln/>
        </p:spPr>
        <p:txBody>
          <a:bodyPr wrap="square" rtlCol="0" anchor="t"/>
          <a:lstStyle/>
          <a:p>
            <a:pPr marL="0" indent="0">
              <a:lnSpc>
                <a:spcPct val="98000"/>
              </a:lnSpc>
              <a:buNone/>
            </a:pPr>
            <a:r>
              <a:rPr lang="en-US" sz="1150" b="1" dirty="0">
                <a:solidFill>
                  <a:srgbClr val="00A79D"/>
                </a:solidFill>
                <a:latin typeface="Arial" pitchFamily="34" charset="0"/>
                <a:ea typeface="Arial" pitchFamily="34" charset="-122"/>
                <a:cs typeface="Arial" pitchFamily="34" charset="-120"/>
              </a:rPr>
              <a:t>Q2  </a:t>
            </a:r>
            <a:r>
              <a:rPr lang="en-US" sz="1150" b="1" dirty="0">
                <a:solidFill>
                  <a:srgbClr val="1D2A5C"/>
                </a:solidFill>
                <a:latin typeface="Arial" pitchFamily="34" charset="0"/>
                <a:ea typeface="Arial" pitchFamily="34" charset="-122"/>
                <a:cs typeface="Arial" pitchFamily="34" charset="-120"/>
              </a:rPr>
              <a:t>Which interaction pattern for 'click a region, update every view'?</a:t>
            </a:r>
            <a:endParaRPr lang="en-US" sz="1150" dirty="0"/>
          </a:p>
        </p:txBody>
      </p:sp>
      <p:sp>
        <p:nvSpPr>
          <p:cNvPr id="22" name="Text 19"/>
          <p:cNvSpPr/>
          <p:nvPr/>
        </p:nvSpPr>
        <p:spPr>
          <a:xfrm>
            <a:off x="804672" y="3427171"/>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Cross-filter (linked views).</a:t>
            </a:r>
            <a:endParaRPr lang="en-US" sz="1100" dirty="0"/>
          </a:p>
        </p:txBody>
      </p:sp>
      <p:sp>
        <p:nvSpPr>
          <p:cNvPr id="23" name="Shape 20"/>
          <p:cNvSpPr/>
          <p:nvPr/>
        </p:nvSpPr>
        <p:spPr>
          <a:xfrm>
            <a:off x="548640" y="3899002"/>
            <a:ext cx="11094415" cy="614477"/>
          </a:xfrm>
          <a:prstGeom prst="roundRect">
            <a:avLst>
              <a:gd name="adj" fmla="val 10417"/>
            </a:avLst>
          </a:prstGeom>
          <a:solidFill>
            <a:srgbClr val="FFFFFF"/>
          </a:solidFill>
          <a:ln w="12700">
            <a:solidFill>
              <a:srgbClr val="D9DEE8"/>
            </a:solidFill>
            <a:prstDash val="solid"/>
          </a:ln>
        </p:spPr>
      </p:sp>
      <p:sp>
        <p:nvSpPr>
          <p:cNvPr id="24" name="Shape 21"/>
          <p:cNvSpPr/>
          <p:nvPr/>
        </p:nvSpPr>
        <p:spPr>
          <a:xfrm>
            <a:off x="548640" y="3899002"/>
            <a:ext cx="91440" cy="614477"/>
          </a:xfrm>
          <a:prstGeom prst="rect">
            <a:avLst/>
          </a:prstGeom>
          <a:solidFill>
            <a:srgbClr val="E8833A"/>
          </a:solidFill>
          <a:ln/>
        </p:spPr>
      </p:sp>
      <p:sp>
        <p:nvSpPr>
          <p:cNvPr id="25" name="Text 22"/>
          <p:cNvSpPr/>
          <p:nvPr/>
        </p:nvSpPr>
        <p:spPr>
          <a:xfrm>
            <a:off x="804672" y="3972154"/>
            <a:ext cx="10637215" cy="307238"/>
          </a:xfrm>
          <a:prstGeom prst="rect">
            <a:avLst/>
          </a:prstGeom>
          <a:noFill/>
          <a:ln/>
        </p:spPr>
        <p:txBody>
          <a:bodyPr wrap="square" rtlCol="0" anchor="t"/>
          <a:lstStyle/>
          <a:p>
            <a:pPr marL="0" indent="0">
              <a:lnSpc>
                <a:spcPct val="98000"/>
              </a:lnSpc>
              <a:buNone/>
            </a:pPr>
            <a:r>
              <a:rPr lang="en-US" sz="1150" b="1" dirty="0">
                <a:solidFill>
                  <a:srgbClr val="E8833A"/>
                </a:solidFill>
                <a:latin typeface="Arial" pitchFamily="34" charset="0"/>
                <a:ea typeface="Arial" pitchFamily="34" charset="-122"/>
                <a:cs typeface="Arial" pitchFamily="34" charset="-120"/>
              </a:rPr>
              <a:t>Q3  </a:t>
            </a:r>
            <a:r>
              <a:rPr lang="en-US" sz="1150" b="1" dirty="0">
                <a:solidFill>
                  <a:srgbClr val="1D2A5C"/>
                </a:solidFill>
                <a:latin typeface="Arial" pitchFamily="34" charset="0"/>
                <a:ea typeface="Arial" pitchFamily="34" charset="-122"/>
                <a:cs typeface="Arial" pitchFamily="34" charset="-120"/>
              </a:rPr>
              <a:t>Why can you not AVERAGE digital_adoption_pct across regions?</a:t>
            </a:r>
            <a:endParaRPr lang="en-US" sz="1150" dirty="0"/>
          </a:p>
        </p:txBody>
      </p:sp>
      <p:sp>
        <p:nvSpPr>
          <p:cNvPr id="26" name="Text 23"/>
          <p:cNvSpPr/>
          <p:nvPr/>
        </p:nvSpPr>
        <p:spPr>
          <a:xfrm>
            <a:off x="804672" y="4187952"/>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It is non-additive; recompute from the unique_users components.</a:t>
            </a:r>
            <a:endParaRPr lang="en-US" sz="1100" dirty="0"/>
          </a:p>
        </p:txBody>
      </p:sp>
      <p:sp>
        <p:nvSpPr>
          <p:cNvPr id="27" name="Shape 24"/>
          <p:cNvSpPr/>
          <p:nvPr/>
        </p:nvSpPr>
        <p:spPr>
          <a:xfrm>
            <a:off x="548640" y="4659782"/>
            <a:ext cx="11094415" cy="614477"/>
          </a:xfrm>
          <a:prstGeom prst="roundRect">
            <a:avLst>
              <a:gd name="adj" fmla="val 10417"/>
            </a:avLst>
          </a:prstGeom>
          <a:solidFill>
            <a:srgbClr val="FFFFFF"/>
          </a:solidFill>
          <a:ln w="12700">
            <a:solidFill>
              <a:srgbClr val="D9DEE8"/>
            </a:solidFill>
            <a:prstDash val="solid"/>
          </a:ln>
        </p:spPr>
      </p:sp>
      <p:sp>
        <p:nvSpPr>
          <p:cNvPr id="28" name="Shape 25"/>
          <p:cNvSpPr/>
          <p:nvPr/>
        </p:nvSpPr>
        <p:spPr>
          <a:xfrm>
            <a:off x="548640" y="4659782"/>
            <a:ext cx="91440" cy="614477"/>
          </a:xfrm>
          <a:prstGeom prst="rect">
            <a:avLst/>
          </a:prstGeom>
          <a:solidFill>
            <a:srgbClr val="6C4FA1"/>
          </a:solidFill>
          <a:ln/>
        </p:spPr>
      </p:sp>
      <p:sp>
        <p:nvSpPr>
          <p:cNvPr id="29" name="Text 26"/>
          <p:cNvSpPr/>
          <p:nvPr/>
        </p:nvSpPr>
        <p:spPr>
          <a:xfrm>
            <a:off x="804672" y="4732934"/>
            <a:ext cx="10637215" cy="307238"/>
          </a:xfrm>
          <a:prstGeom prst="rect">
            <a:avLst/>
          </a:prstGeom>
          <a:noFill/>
          <a:ln/>
        </p:spPr>
        <p:txBody>
          <a:bodyPr wrap="square" rtlCol="0" anchor="t"/>
          <a:lstStyle/>
          <a:p>
            <a:pPr marL="0" indent="0">
              <a:lnSpc>
                <a:spcPct val="98000"/>
              </a:lnSpc>
              <a:buNone/>
            </a:pPr>
            <a:r>
              <a:rPr lang="en-US" sz="1150" b="1" dirty="0">
                <a:solidFill>
                  <a:srgbClr val="6C4FA1"/>
                </a:solidFill>
                <a:latin typeface="Arial" pitchFamily="34" charset="0"/>
                <a:ea typeface="Arial" pitchFamily="34" charset="-122"/>
                <a:cs typeface="Arial" pitchFamily="34" charset="-120"/>
              </a:rPr>
              <a:t>Q4  </a:t>
            </a:r>
            <a:r>
              <a:rPr lang="en-US" sz="1150" b="1" dirty="0">
                <a:solidFill>
                  <a:srgbClr val="1D2A5C"/>
                </a:solidFill>
                <a:latin typeface="Arial" pitchFamily="34" charset="0"/>
                <a:ea typeface="Arial" pitchFamily="34" charset="-122"/>
                <a:cs typeface="Arial" pitchFamily="34" charset="-120"/>
              </a:rPr>
              <a:t>What must a dashboard answer with zero clicks?</a:t>
            </a:r>
            <a:endParaRPr lang="en-US" sz="1150" dirty="0"/>
          </a:p>
        </p:txBody>
      </p:sp>
      <p:sp>
        <p:nvSpPr>
          <p:cNvPr id="30" name="Text 27"/>
          <p:cNvSpPr/>
          <p:nvPr/>
        </p:nvSpPr>
        <p:spPr>
          <a:xfrm>
            <a:off x="804672" y="4948733"/>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Its primary question, in the default state; interaction only refines the answer.</a:t>
            </a:r>
            <a:endParaRPr lang="en-US" sz="1100" dirty="0"/>
          </a:p>
        </p:txBody>
      </p:sp>
      <p:sp>
        <p:nvSpPr>
          <p:cNvPr id="31" name="Shape 28"/>
          <p:cNvSpPr/>
          <p:nvPr/>
        </p:nvSpPr>
        <p:spPr>
          <a:xfrm>
            <a:off x="548640" y="5420563"/>
            <a:ext cx="11094415" cy="614477"/>
          </a:xfrm>
          <a:prstGeom prst="roundRect">
            <a:avLst>
              <a:gd name="adj" fmla="val 10417"/>
            </a:avLst>
          </a:prstGeom>
          <a:solidFill>
            <a:srgbClr val="FFFFFF"/>
          </a:solidFill>
          <a:ln w="12700">
            <a:solidFill>
              <a:srgbClr val="D9DEE8"/>
            </a:solidFill>
            <a:prstDash val="solid"/>
          </a:ln>
        </p:spPr>
      </p:sp>
      <p:sp>
        <p:nvSpPr>
          <p:cNvPr id="32" name="Shape 29"/>
          <p:cNvSpPr/>
          <p:nvPr/>
        </p:nvSpPr>
        <p:spPr>
          <a:xfrm>
            <a:off x="548640" y="5420563"/>
            <a:ext cx="91440" cy="614477"/>
          </a:xfrm>
          <a:prstGeom prst="rect">
            <a:avLst/>
          </a:prstGeom>
          <a:solidFill>
            <a:srgbClr val="3FAE5A"/>
          </a:solidFill>
          <a:ln/>
        </p:spPr>
      </p:sp>
      <p:sp>
        <p:nvSpPr>
          <p:cNvPr id="33" name="Text 30"/>
          <p:cNvSpPr/>
          <p:nvPr/>
        </p:nvSpPr>
        <p:spPr>
          <a:xfrm>
            <a:off x="804672" y="5493715"/>
            <a:ext cx="10637215" cy="307238"/>
          </a:xfrm>
          <a:prstGeom prst="rect">
            <a:avLst/>
          </a:prstGeom>
          <a:noFill/>
          <a:ln/>
        </p:spPr>
        <p:txBody>
          <a:bodyPr wrap="square" rtlCol="0" anchor="t"/>
          <a:lstStyle/>
          <a:p>
            <a:pPr marL="0" indent="0">
              <a:lnSpc>
                <a:spcPct val="98000"/>
              </a:lnSpc>
              <a:buNone/>
            </a:pPr>
            <a:r>
              <a:rPr lang="en-US" sz="1150" b="1" dirty="0">
                <a:solidFill>
                  <a:srgbClr val="3FAE5A"/>
                </a:solidFill>
                <a:latin typeface="Arial" pitchFamily="34" charset="0"/>
                <a:ea typeface="Arial" pitchFamily="34" charset="-122"/>
                <a:cs typeface="Arial" pitchFamily="34" charset="-120"/>
              </a:rPr>
              <a:t>Q5  </a:t>
            </a:r>
            <a:r>
              <a:rPr lang="en-US" sz="1150" b="1" dirty="0">
                <a:solidFill>
                  <a:srgbClr val="1D2A5C"/>
                </a:solidFill>
                <a:latin typeface="Arial" pitchFamily="34" charset="0"/>
                <a:ea typeface="Arial" pitchFamily="34" charset="-122"/>
                <a:cs typeface="Arial" pitchFamily="34" charset="-120"/>
              </a:rPr>
              <a:t>What does RLS give a national dashboard?</a:t>
            </a:r>
            <a:endParaRPr lang="en-US" sz="1150" dirty="0"/>
          </a:p>
        </p:txBody>
      </p:sp>
      <p:sp>
        <p:nvSpPr>
          <p:cNvPr id="34" name="Text 31"/>
          <p:cNvSpPr/>
          <p:nvPr/>
        </p:nvSpPr>
        <p:spPr>
          <a:xfrm>
            <a:off x="804672" y="5709514"/>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Each viewer sees only permitted rows (e.g. a region director sees their region), enabling safe sharing.</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CASE STUDY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Case Study — From Monthly PDF to Weekly Self-Service</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من تقرير شهري إلى لوحة أسبوعية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118</a:t>
            </a:r>
            <a:endParaRPr lang="en-US" sz="800" dirty="0"/>
          </a:p>
        </p:txBody>
      </p:sp>
      <p:sp>
        <p:nvSpPr>
          <p:cNvPr id="15" name="Shape 12"/>
          <p:cNvSpPr/>
          <p:nvPr/>
        </p:nvSpPr>
        <p:spPr>
          <a:xfrm>
            <a:off x="548640" y="2331720"/>
            <a:ext cx="5410048" cy="1100328"/>
          </a:xfrm>
          <a:prstGeom prst="roundRect">
            <a:avLst>
              <a:gd name="adj" fmla="val 6648"/>
            </a:avLst>
          </a:prstGeom>
          <a:solidFill>
            <a:srgbClr val="EAF0FA"/>
          </a:solidFill>
          <a:ln w="12700">
            <a:solidFill>
              <a:srgbClr val="2E5AAC"/>
            </a:solidFill>
            <a:prstDash val="solid"/>
          </a:ln>
        </p:spPr>
      </p:sp>
      <p:sp>
        <p:nvSpPr>
          <p:cNvPr id="16" name="Text 13"/>
          <p:cNvSpPr/>
          <p:nvPr/>
        </p:nvSpPr>
        <p:spPr>
          <a:xfrm>
            <a:off x="749808" y="2459736"/>
            <a:ext cx="5044288" cy="274320"/>
          </a:xfrm>
          <a:prstGeom prst="rect">
            <a:avLst/>
          </a:prstGeom>
          <a:noFill/>
          <a:ln/>
        </p:spPr>
        <p:txBody>
          <a:bodyPr wrap="square" rtlCol="0" anchor="ctr"/>
          <a:lstStyle/>
          <a:p>
            <a:pPr marL="0" indent="0">
              <a:buNone/>
            </a:pPr>
            <a:r>
              <a:rPr lang="en-US" sz="1100" b="1" kern="0" spc="100" dirty="0">
                <a:solidFill>
                  <a:srgbClr val="2E5AAC"/>
                </a:solidFill>
                <a:latin typeface="Arial" pitchFamily="34" charset="0"/>
                <a:ea typeface="Arial" pitchFamily="34" charset="-122"/>
                <a:cs typeface="Arial" pitchFamily="34" charset="-120"/>
              </a:rPr>
              <a:t>SCENARIO</a:t>
            </a:r>
            <a:endParaRPr lang="en-US" sz="1100" dirty="0"/>
          </a:p>
        </p:txBody>
      </p:sp>
      <p:sp>
        <p:nvSpPr>
          <p:cNvPr id="17" name="Text 14"/>
          <p:cNvSpPr/>
          <p:nvPr/>
        </p:nvSpPr>
        <p:spPr>
          <a:xfrm>
            <a:off x="749808" y="2788920"/>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The Tayseer ops directorate gets a 30-page monthly PDF built by two analysts over three days; decisions lag the data by up to five weeks. Leadership wants a live weekly view — but the vendor's first prototype is a wall of 18 gauges.</a:t>
            </a:r>
            <a:endParaRPr lang="en-US" sz="1100" dirty="0"/>
          </a:p>
        </p:txBody>
      </p:sp>
      <p:sp>
        <p:nvSpPr>
          <p:cNvPr id="18" name="Shape 15"/>
          <p:cNvSpPr/>
          <p:nvPr/>
        </p:nvSpPr>
        <p:spPr>
          <a:xfrm>
            <a:off x="6233008" y="2331720"/>
            <a:ext cx="5410048" cy="1100328"/>
          </a:xfrm>
          <a:prstGeom prst="roundRect">
            <a:avLst>
              <a:gd name="adj" fmla="val 6648"/>
            </a:avLst>
          </a:prstGeom>
          <a:solidFill>
            <a:srgbClr val="E6F5F4"/>
          </a:solidFill>
          <a:ln w="12700">
            <a:solidFill>
              <a:srgbClr val="00A79D"/>
            </a:solidFill>
            <a:prstDash val="solid"/>
          </a:ln>
        </p:spPr>
      </p:sp>
      <p:sp>
        <p:nvSpPr>
          <p:cNvPr id="19" name="Text 16"/>
          <p:cNvSpPr/>
          <p:nvPr/>
        </p:nvSpPr>
        <p:spPr>
          <a:xfrm>
            <a:off x="6434176" y="2459736"/>
            <a:ext cx="5044288" cy="274320"/>
          </a:xfrm>
          <a:prstGeom prst="rect">
            <a:avLst/>
          </a:prstGeom>
          <a:noFill/>
          <a:ln/>
        </p:spPr>
        <p:txBody>
          <a:bodyPr wrap="square" rtlCol="0" anchor="ctr"/>
          <a:lstStyle/>
          <a:p>
            <a:pPr marL="0" indent="0">
              <a:buNone/>
            </a:pPr>
            <a:r>
              <a:rPr lang="en-US" sz="1100" b="1" kern="0" spc="100" dirty="0">
                <a:solidFill>
                  <a:srgbClr val="00A79D"/>
                </a:solidFill>
                <a:latin typeface="Arial" pitchFamily="34" charset="0"/>
                <a:ea typeface="Arial" pitchFamily="34" charset="-122"/>
                <a:cs typeface="Arial" pitchFamily="34" charset="-120"/>
              </a:rPr>
              <a:t>BUSINESS CONTEXT</a:t>
            </a:r>
            <a:endParaRPr lang="en-US" sz="1100" dirty="0"/>
          </a:p>
        </p:txBody>
      </p:sp>
      <p:sp>
        <p:nvSpPr>
          <p:cNvPr id="20" name="Text 17"/>
          <p:cNvSpPr/>
          <p:nvPr/>
        </p:nvSpPr>
        <p:spPr>
          <a:xfrm>
            <a:off x="6434176" y="2788920"/>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The directorate dispatches improvement teams to regions. A five-week lag means teams are sent on last month's problems, sometimes already resolved. A weekly self-service view shortens the loop — real money, real service outcomes.</a:t>
            </a:r>
            <a:endParaRPr lang="en-US" sz="1100" dirty="0"/>
          </a:p>
        </p:txBody>
      </p:sp>
      <p:sp>
        <p:nvSpPr>
          <p:cNvPr id="21" name="Shape 18"/>
          <p:cNvSpPr/>
          <p:nvPr/>
        </p:nvSpPr>
        <p:spPr>
          <a:xfrm>
            <a:off x="548640" y="3633216"/>
            <a:ext cx="5410048" cy="1100328"/>
          </a:xfrm>
          <a:prstGeom prst="roundRect">
            <a:avLst>
              <a:gd name="adj" fmla="val 6648"/>
            </a:avLst>
          </a:prstGeom>
          <a:solidFill>
            <a:srgbClr val="FCF0E6"/>
          </a:solidFill>
          <a:ln w="12700">
            <a:solidFill>
              <a:srgbClr val="E8833A"/>
            </a:solidFill>
            <a:prstDash val="solid"/>
          </a:ln>
        </p:spPr>
      </p:sp>
      <p:sp>
        <p:nvSpPr>
          <p:cNvPr id="22" name="Text 19"/>
          <p:cNvSpPr/>
          <p:nvPr/>
        </p:nvSpPr>
        <p:spPr>
          <a:xfrm>
            <a:off x="749808" y="3761232"/>
            <a:ext cx="5044288" cy="274320"/>
          </a:xfrm>
          <a:prstGeom prst="rect">
            <a:avLst/>
          </a:prstGeom>
          <a:noFill/>
          <a:ln/>
        </p:spPr>
        <p:txBody>
          <a:bodyPr wrap="square" rtlCol="0" anchor="ctr"/>
          <a:lstStyle/>
          <a:p>
            <a:pPr marL="0" indent="0">
              <a:buNone/>
            </a:pPr>
            <a:r>
              <a:rPr lang="en-US" sz="1100" b="1" kern="0" spc="100" dirty="0">
                <a:solidFill>
                  <a:srgbClr val="E8833A"/>
                </a:solidFill>
                <a:latin typeface="Arial" pitchFamily="34" charset="0"/>
                <a:ea typeface="Arial" pitchFamily="34" charset="-122"/>
                <a:cs typeface="Arial" pitchFamily="34" charset="-120"/>
              </a:rPr>
              <a:t>CHALLENGE</a:t>
            </a:r>
            <a:endParaRPr lang="en-US" sz="1100" dirty="0"/>
          </a:p>
        </p:txBody>
      </p:sp>
      <p:sp>
        <p:nvSpPr>
          <p:cNvPr id="23" name="Text 20"/>
          <p:cNvSpPr/>
          <p:nvPr/>
        </p:nvSpPr>
        <p:spPr>
          <a:xfrm>
            <a:off x="749808" y="4090416"/>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Replace the static PDF and the failed gauge-wall with a dashboard that answers 'which regions need intervention this week?' in its default state, lets a non-analyst filter and drill, and is fast and secure enough to share.</a:t>
            </a:r>
            <a:endParaRPr lang="en-US" sz="1100" dirty="0"/>
          </a:p>
        </p:txBody>
      </p:sp>
      <p:sp>
        <p:nvSpPr>
          <p:cNvPr id="24" name="Shape 21"/>
          <p:cNvSpPr/>
          <p:nvPr/>
        </p:nvSpPr>
        <p:spPr>
          <a:xfrm>
            <a:off x="6233008" y="3633216"/>
            <a:ext cx="5410048" cy="1100328"/>
          </a:xfrm>
          <a:prstGeom prst="roundRect">
            <a:avLst>
              <a:gd name="adj" fmla="val 6648"/>
            </a:avLst>
          </a:prstGeom>
          <a:solidFill>
            <a:srgbClr val="EFEBF6"/>
          </a:solidFill>
          <a:ln w="12700">
            <a:solidFill>
              <a:srgbClr val="6C4FA1"/>
            </a:solidFill>
            <a:prstDash val="solid"/>
          </a:ln>
        </p:spPr>
      </p:sp>
      <p:sp>
        <p:nvSpPr>
          <p:cNvPr id="25" name="Text 22"/>
          <p:cNvSpPr/>
          <p:nvPr/>
        </p:nvSpPr>
        <p:spPr>
          <a:xfrm>
            <a:off x="6434176" y="3761232"/>
            <a:ext cx="5044288" cy="274320"/>
          </a:xfrm>
          <a:prstGeom prst="rect">
            <a:avLst/>
          </a:prstGeom>
          <a:noFill/>
          <a:ln/>
        </p:spPr>
        <p:txBody>
          <a:bodyPr wrap="square" rtlCol="0" anchor="ctr"/>
          <a:lstStyle/>
          <a:p>
            <a:pPr marL="0" indent="0">
              <a:buNone/>
            </a:pPr>
            <a:r>
              <a:rPr lang="en-US" sz="1100" b="1" kern="0" spc="100" dirty="0">
                <a:solidFill>
                  <a:srgbClr val="6C4FA1"/>
                </a:solidFill>
                <a:latin typeface="Arial" pitchFamily="34" charset="0"/>
                <a:ea typeface="Arial" pitchFamily="34" charset="-122"/>
                <a:cs typeface="Arial" pitchFamily="34" charset="-120"/>
              </a:rPr>
              <a:t>CONSTRAINTS</a:t>
            </a:r>
            <a:endParaRPr lang="en-US" sz="1100" dirty="0"/>
          </a:p>
        </p:txBody>
      </p:sp>
      <p:sp>
        <p:nvSpPr>
          <p:cNvPr id="26" name="Text 23"/>
          <p:cNvSpPr/>
          <p:nvPr/>
        </p:nvSpPr>
        <p:spPr>
          <a:xfrm>
            <a:off x="6434176" y="4090416"/>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Non-analyst users; weekly cadence; the ministry's Power BI estate with RLS; mobile-legible for field managers; bilingual Arabic RTL; no per-click wait over ~2 seconds.</a:t>
            </a:r>
            <a:endParaRPr lang="en-US" sz="1100" dirty="0"/>
          </a:p>
        </p:txBody>
      </p:sp>
      <p:sp>
        <p:nvSpPr>
          <p:cNvPr id="27" name="Shape 24"/>
          <p:cNvSpPr/>
          <p:nvPr/>
        </p:nvSpPr>
        <p:spPr>
          <a:xfrm>
            <a:off x="548640" y="4934712"/>
            <a:ext cx="5410048" cy="1100328"/>
          </a:xfrm>
          <a:prstGeom prst="roundRect">
            <a:avLst>
              <a:gd name="adj" fmla="val 6648"/>
            </a:avLst>
          </a:prstGeom>
          <a:solidFill>
            <a:srgbClr val="E9F5EC"/>
          </a:solidFill>
          <a:ln w="12700">
            <a:solidFill>
              <a:srgbClr val="3FAE5A"/>
            </a:solidFill>
            <a:prstDash val="solid"/>
          </a:ln>
        </p:spPr>
      </p:sp>
      <p:sp>
        <p:nvSpPr>
          <p:cNvPr id="28" name="Text 25"/>
          <p:cNvSpPr/>
          <p:nvPr/>
        </p:nvSpPr>
        <p:spPr>
          <a:xfrm>
            <a:off x="749808" y="5062728"/>
            <a:ext cx="5044288" cy="274320"/>
          </a:xfrm>
          <a:prstGeom prst="rect">
            <a:avLst/>
          </a:prstGeom>
          <a:noFill/>
          <a:ln/>
        </p:spPr>
        <p:txBody>
          <a:bodyPr wrap="square" rtlCol="0" anchor="ctr"/>
          <a:lstStyle/>
          <a:p>
            <a:pPr marL="0" indent="0">
              <a:buNone/>
            </a:pPr>
            <a:r>
              <a:rPr lang="en-US" sz="1100" b="1" kern="0" spc="100" dirty="0">
                <a:solidFill>
                  <a:srgbClr val="3FAE5A"/>
                </a:solidFill>
                <a:latin typeface="Arial" pitchFamily="34" charset="0"/>
                <a:ea typeface="Arial" pitchFamily="34" charset="-122"/>
                <a:cs typeface="Arial" pitchFamily="34" charset="-120"/>
              </a:rPr>
              <a:t>APPROACH</a:t>
            </a:r>
            <a:endParaRPr lang="en-US" sz="1100" dirty="0"/>
          </a:p>
        </p:txBody>
      </p:sp>
      <p:sp>
        <p:nvSpPr>
          <p:cNvPr id="29" name="Text 26"/>
          <p:cNvSpPr/>
          <p:nvPr/>
        </p:nvSpPr>
        <p:spPr>
          <a:xfrm>
            <a:off x="749808" y="5391912"/>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Write the one-sentence brief and kill the gauge wall. Inverted-pyramid layout with a sorted 'regions below target' bar as the operative view. Visible slicers, drill, correct non-additive measures, pre-aggregated model.</a:t>
            </a:r>
            <a:endParaRPr lang="en-US" sz="1100" dirty="0"/>
          </a:p>
        </p:txBody>
      </p:sp>
      <p:sp>
        <p:nvSpPr>
          <p:cNvPr id="30" name="Shape 27"/>
          <p:cNvSpPr/>
          <p:nvPr/>
        </p:nvSpPr>
        <p:spPr>
          <a:xfrm>
            <a:off x="6233008" y="4934712"/>
            <a:ext cx="5410048" cy="1100328"/>
          </a:xfrm>
          <a:prstGeom prst="roundRect">
            <a:avLst>
              <a:gd name="adj" fmla="val 6648"/>
            </a:avLst>
          </a:prstGeom>
          <a:solidFill>
            <a:srgbClr val="E7F5FC"/>
          </a:solidFill>
          <a:ln w="12700">
            <a:solidFill>
              <a:srgbClr val="29ABE2"/>
            </a:solidFill>
            <a:prstDash val="solid"/>
          </a:ln>
        </p:spPr>
      </p:sp>
      <p:sp>
        <p:nvSpPr>
          <p:cNvPr id="31" name="Text 28"/>
          <p:cNvSpPr/>
          <p:nvPr/>
        </p:nvSpPr>
        <p:spPr>
          <a:xfrm>
            <a:off x="6434176" y="5062728"/>
            <a:ext cx="5044288" cy="274320"/>
          </a:xfrm>
          <a:prstGeom prst="rect">
            <a:avLst/>
          </a:prstGeom>
          <a:noFill/>
          <a:ln/>
        </p:spPr>
        <p:txBody>
          <a:bodyPr wrap="square" rtlCol="0" anchor="ctr"/>
          <a:lstStyle/>
          <a:p>
            <a:pPr marL="0" indent="0">
              <a:buNone/>
            </a:pPr>
            <a:r>
              <a:rPr lang="en-US" sz="1100" b="1" kern="0" spc="100" dirty="0">
                <a:solidFill>
                  <a:srgbClr val="29ABE2"/>
                </a:solidFill>
                <a:latin typeface="Arial" pitchFamily="34" charset="0"/>
                <a:ea typeface="Arial" pitchFamily="34" charset="-122"/>
                <a:cs typeface="Arial" pitchFamily="34" charset="-120"/>
              </a:rPr>
              <a:t>SELF-SERVICE TEST</a:t>
            </a:r>
            <a:endParaRPr lang="en-US" sz="1100" dirty="0"/>
          </a:p>
        </p:txBody>
      </p:sp>
      <p:sp>
        <p:nvSpPr>
          <p:cNvPr id="32" name="Text 29"/>
          <p:cNvSpPr/>
          <p:nvPr/>
        </p:nvSpPr>
        <p:spPr>
          <a:xfrm>
            <a:off x="6434176" y="5391912"/>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RLS so each director defaults to their region; usability-test with a real field manager and iterate the top band. The default state must answer the question before any filter is touched.</a:t>
            </a:r>
            <a:endParaRPr lang="en-US" sz="11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Targets to reach after Module 4</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119</a:t>
            </a:r>
            <a:endParaRPr lang="en-US" sz="800" dirty="0"/>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3273552"/>
        </p:xfrm>
        <a:graphic>
          <a:graphicData uri="http://schemas.openxmlformats.org/drawingml/2006/table">
            <a:tbl>
              <a:tblPr/>
              <a:tblGrid>
                <a:gridCol w="4937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How measured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Default state answers the question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Yes (0 clicks)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Instructor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Naive-user time to answer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&lt; 15 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Peer stopwatch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Non-additive measures correct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Compare vs naive mean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Filter / drill state legibility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Always visible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Heuristic check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Per-interaction latency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&lt; 2 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Timed clicks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Accessibility + RTL retained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Simulator + native check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Gauge-wall prototype vs redesigned dashboard</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120</a:t>
            </a:r>
            <a:endParaRPr lang="en-US" sz="8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2798064"/>
        </p:xfrm>
        <a:graphic>
          <a:graphicData uri="http://schemas.openxmlformats.org/drawingml/2006/table">
            <a:tbl>
              <a:tblPr/>
              <a:tblGrid>
                <a:gridCol w="39319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Aspect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Gauge-wall prototype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Redesigned dashboard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Primary question in default state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yes (KPI + laggard bar)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Interaction patterns used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none meaningful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cross-filter + drill + toggle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National % correctness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avg-of-avgs (61.2%)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recomputed (63.8%)</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Naive-user time to answer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&gt; 60 s (gave up)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9 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Shareable with RLS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Text 11"/>
          <p:cNvSpPr/>
          <p:nvPr/>
        </p:nvSpPr>
        <p:spPr>
          <a:xfrm>
            <a:off x="548640" y="4956048"/>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Same data, two designs — the redesign wins on every row without new data.</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TRAINING ASSETS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Required Visuals &amp; Training Assets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الأصول التدريبية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121</a:t>
            </a:r>
            <a:endParaRPr lang="en-US" sz="800" dirty="0"/>
          </a:p>
        </p:txBody>
      </p:sp>
      <p:sp>
        <p:nvSpPr>
          <p:cNvPr id="15" name="Shape 12"/>
          <p:cNvSpPr/>
          <p:nvPr/>
        </p:nvSpPr>
        <p:spPr>
          <a:xfrm>
            <a:off x="548640" y="2377440"/>
            <a:ext cx="3515258" cy="3657600"/>
          </a:xfrm>
          <a:prstGeom prst="roundRect">
            <a:avLst>
              <a:gd name="adj" fmla="val 2341"/>
            </a:avLst>
          </a:prstGeom>
          <a:solidFill>
            <a:srgbClr val="FFFFFF"/>
          </a:solidFill>
          <a:ln w="12700">
            <a:solidFill>
              <a:srgbClr val="D9DEE8"/>
            </a:solidFill>
            <a:prstDash val="solid"/>
          </a:ln>
        </p:spPr>
      </p:sp>
      <p:sp>
        <p:nvSpPr>
          <p:cNvPr id="16" name="Shape 13"/>
          <p:cNvSpPr/>
          <p:nvPr/>
        </p:nvSpPr>
        <p:spPr>
          <a:xfrm>
            <a:off x="548640" y="2377440"/>
            <a:ext cx="3515258" cy="457200"/>
          </a:xfrm>
          <a:prstGeom prst="roundRect">
            <a:avLst>
              <a:gd name="adj" fmla="val 18000"/>
            </a:avLst>
          </a:prstGeom>
          <a:solidFill>
            <a:srgbClr val="2E5AAC"/>
          </a:solidFill>
          <a:ln/>
        </p:spPr>
      </p:sp>
      <p:sp>
        <p:nvSpPr>
          <p:cNvPr id="17" name="Shape 14"/>
          <p:cNvSpPr/>
          <p:nvPr/>
        </p:nvSpPr>
        <p:spPr>
          <a:xfrm>
            <a:off x="548640" y="2606040"/>
            <a:ext cx="3515258" cy="228600"/>
          </a:xfrm>
          <a:prstGeom prst="rect">
            <a:avLst/>
          </a:prstGeom>
          <a:solidFill>
            <a:srgbClr val="2E5AAC"/>
          </a:solidFill>
          <a:ln/>
        </p:spPr>
      </p:sp>
      <p:sp>
        <p:nvSpPr>
          <p:cNvPr id="18" name="Text 15"/>
          <p:cNvSpPr/>
          <p:nvPr/>
        </p:nvSpPr>
        <p:spPr>
          <a:xfrm>
            <a:off x="640080"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Diagrams</a:t>
            </a:r>
            <a:endParaRPr lang="en-US" sz="1250" dirty="0"/>
          </a:p>
        </p:txBody>
      </p:sp>
      <p:sp>
        <p:nvSpPr>
          <p:cNvPr id="19" name="Text 16"/>
          <p:cNvSpPr/>
          <p:nvPr/>
        </p:nvSpPr>
        <p:spPr>
          <a:xfrm>
            <a:off x="713232" y="2971800"/>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Inverted-pyramid layout (spine + RTL mirror)</a:t>
            </a:r>
            <a:endParaRPr lang="en-US" sz="1050" dirty="0"/>
          </a:p>
        </p:txBody>
      </p:sp>
      <p:sp>
        <p:nvSpPr>
          <p:cNvPr id="20" name="Text 17"/>
          <p:cNvSpPr/>
          <p:nvPr/>
        </p:nvSpPr>
        <p:spPr>
          <a:xfrm>
            <a:off x="713232" y="3392424"/>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Four interaction patterns matrix (2×2)</a:t>
            </a:r>
            <a:endParaRPr lang="en-US" sz="1050" dirty="0"/>
          </a:p>
        </p:txBody>
      </p:sp>
      <p:sp>
        <p:nvSpPr>
          <p:cNvPr id="21" name="Text 18"/>
          <p:cNvSpPr/>
          <p:nvPr/>
        </p:nvSpPr>
        <p:spPr>
          <a:xfrm>
            <a:off x="713232" y="3813048"/>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Semantic layer / star schema diagram</a:t>
            </a:r>
            <a:endParaRPr lang="en-US" sz="1050" dirty="0"/>
          </a:p>
        </p:txBody>
      </p:sp>
      <p:sp>
        <p:nvSpPr>
          <p:cNvPr id="22" name="Text 19"/>
          <p:cNvSpPr/>
          <p:nvPr/>
        </p:nvSpPr>
        <p:spPr>
          <a:xfrm>
            <a:off x="713232" y="4233672"/>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Tool decision strip: Plotly vs Power BI vs Tableau</a:t>
            </a:r>
            <a:endParaRPr lang="en-US" sz="1050" dirty="0"/>
          </a:p>
        </p:txBody>
      </p:sp>
      <p:sp>
        <p:nvSpPr>
          <p:cNvPr id="23" name="Shape 20"/>
          <p:cNvSpPr/>
          <p:nvPr/>
        </p:nvSpPr>
        <p:spPr>
          <a:xfrm>
            <a:off x="4338218" y="2377440"/>
            <a:ext cx="3515258" cy="3657600"/>
          </a:xfrm>
          <a:prstGeom prst="roundRect">
            <a:avLst>
              <a:gd name="adj" fmla="val 2341"/>
            </a:avLst>
          </a:prstGeom>
          <a:solidFill>
            <a:srgbClr val="FFFFFF"/>
          </a:solidFill>
          <a:ln w="12700">
            <a:solidFill>
              <a:srgbClr val="D9DEE8"/>
            </a:solidFill>
            <a:prstDash val="solid"/>
          </a:ln>
        </p:spPr>
      </p:sp>
      <p:sp>
        <p:nvSpPr>
          <p:cNvPr id="24" name="Shape 21"/>
          <p:cNvSpPr/>
          <p:nvPr/>
        </p:nvSpPr>
        <p:spPr>
          <a:xfrm>
            <a:off x="4338218" y="2377440"/>
            <a:ext cx="3515258" cy="457200"/>
          </a:xfrm>
          <a:prstGeom prst="roundRect">
            <a:avLst>
              <a:gd name="adj" fmla="val 18000"/>
            </a:avLst>
          </a:prstGeom>
          <a:solidFill>
            <a:srgbClr val="00A79D"/>
          </a:solidFill>
          <a:ln/>
        </p:spPr>
      </p:sp>
      <p:sp>
        <p:nvSpPr>
          <p:cNvPr id="25" name="Shape 22"/>
          <p:cNvSpPr/>
          <p:nvPr/>
        </p:nvSpPr>
        <p:spPr>
          <a:xfrm>
            <a:off x="4338218" y="2606040"/>
            <a:ext cx="3515258" cy="228600"/>
          </a:xfrm>
          <a:prstGeom prst="rect">
            <a:avLst/>
          </a:prstGeom>
          <a:solidFill>
            <a:srgbClr val="00A79D"/>
          </a:solidFill>
          <a:ln/>
        </p:spPr>
      </p:sp>
      <p:sp>
        <p:nvSpPr>
          <p:cNvPr id="26" name="Text 23"/>
          <p:cNvSpPr/>
          <p:nvPr/>
        </p:nvSpPr>
        <p:spPr>
          <a:xfrm>
            <a:off x="4429658"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Images &amp; Screens</a:t>
            </a:r>
            <a:endParaRPr lang="en-US" sz="1250" dirty="0"/>
          </a:p>
        </p:txBody>
      </p:sp>
      <p:sp>
        <p:nvSpPr>
          <p:cNvPr id="27" name="Text 24"/>
          <p:cNvSpPr/>
          <p:nvPr/>
        </p:nvSpPr>
        <p:spPr>
          <a:xfrm>
            <a:off x="4502810" y="2971800"/>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m4_dashboard.html output (Lab 4a reference)</a:t>
            </a:r>
            <a:endParaRPr lang="en-US" sz="1050" dirty="0"/>
          </a:p>
        </p:txBody>
      </p:sp>
      <p:sp>
        <p:nvSpPr>
          <p:cNvPr id="28" name="Text 25"/>
          <p:cNvSpPr/>
          <p:nvPr/>
        </p:nvSpPr>
        <p:spPr>
          <a:xfrm>
            <a:off x="4502810" y="3392424"/>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Dash cross-filter in action (region re-scoped)</a:t>
            </a:r>
            <a:endParaRPr lang="en-US" sz="1050" dirty="0"/>
          </a:p>
        </p:txBody>
      </p:sp>
      <p:sp>
        <p:nvSpPr>
          <p:cNvPr id="29" name="Text 26"/>
          <p:cNvSpPr/>
          <p:nvPr/>
        </p:nvSpPr>
        <p:spPr>
          <a:xfrm>
            <a:off x="4502810" y="3813048"/>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Power BI reproduction with RLS role</a:t>
            </a:r>
            <a:endParaRPr lang="en-US" sz="1050" dirty="0"/>
          </a:p>
        </p:txBody>
      </p:sp>
      <p:sp>
        <p:nvSpPr>
          <p:cNvPr id="30" name="Text 27"/>
          <p:cNvSpPr/>
          <p:nvPr/>
        </p:nvSpPr>
        <p:spPr>
          <a:xfrm>
            <a:off x="4502810" y="4233672"/>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critique_m4.png — 18-donut anti-example</a:t>
            </a:r>
            <a:endParaRPr lang="en-US" sz="1050" dirty="0"/>
          </a:p>
        </p:txBody>
      </p:sp>
      <p:sp>
        <p:nvSpPr>
          <p:cNvPr id="31" name="Shape 28"/>
          <p:cNvSpPr/>
          <p:nvPr/>
        </p:nvSpPr>
        <p:spPr>
          <a:xfrm>
            <a:off x="8127797" y="2377440"/>
            <a:ext cx="3515258" cy="3657600"/>
          </a:xfrm>
          <a:prstGeom prst="roundRect">
            <a:avLst>
              <a:gd name="adj" fmla="val 2341"/>
            </a:avLst>
          </a:prstGeom>
          <a:solidFill>
            <a:srgbClr val="FFFFFF"/>
          </a:solidFill>
          <a:ln w="12700">
            <a:solidFill>
              <a:srgbClr val="D9DEE8"/>
            </a:solidFill>
            <a:prstDash val="solid"/>
          </a:ln>
        </p:spPr>
      </p:sp>
      <p:sp>
        <p:nvSpPr>
          <p:cNvPr id="32" name="Shape 29"/>
          <p:cNvSpPr/>
          <p:nvPr/>
        </p:nvSpPr>
        <p:spPr>
          <a:xfrm>
            <a:off x="8127797" y="2377440"/>
            <a:ext cx="3515258" cy="457200"/>
          </a:xfrm>
          <a:prstGeom prst="roundRect">
            <a:avLst>
              <a:gd name="adj" fmla="val 18000"/>
            </a:avLst>
          </a:prstGeom>
          <a:solidFill>
            <a:srgbClr val="E8833A"/>
          </a:solidFill>
          <a:ln/>
        </p:spPr>
      </p:sp>
      <p:sp>
        <p:nvSpPr>
          <p:cNvPr id="33" name="Shape 30"/>
          <p:cNvSpPr/>
          <p:nvPr/>
        </p:nvSpPr>
        <p:spPr>
          <a:xfrm>
            <a:off x="8127797" y="2606040"/>
            <a:ext cx="3515258" cy="228600"/>
          </a:xfrm>
          <a:prstGeom prst="rect">
            <a:avLst/>
          </a:prstGeom>
          <a:solidFill>
            <a:srgbClr val="E8833A"/>
          </a:solidFill>
          <a:ln/>
        </p:spPr>
      </p:sp>
      <p:sp>
        <p:nvSpPr>
          <p:cNvPr id="34" name="Text 31"/>
          <p:cNvSpPr/>
          <p:nvPr/>
        </p:nvSpPr>
        <p:spPr>
          <a:xfrm>
            <a:off x="8219237"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Datasets</a:t>
            </a:r>
            <a:endParaRPr lang="en-US" sz="1250" dirty="0"/>
          </a:p>
        </p:txBody>
      </p:sp>
      <p:sp>
        <p:nvSpPr>
          <p:cNvPr id="35" name="Text 32"/>
          <p:cNvSpPr/>
          <p:nvPr/>
        </p:nvSpPr>
        <p:spPr>
          <a:xfrm>
            <a:off x="8292389" y="2971800"/>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tayseer_services.csv (~28k rows × 12 cols)</a:t>
            </a:r>
            <a:endParaRPr lang="en-US" sz="1050" dirty="0"/>
          </a:p>
        </p:txBody>
      </p:sp>
      <p:sp>
        <p:nvSpPr>
          <p:cNvPr id="36" name="Text 33"/>
          <p:cNvSpPr/>
          <p:nvPr/>
        </p:nvSpPr>
        <p:spPr>
          <a:xfrm>
            <a:off x="8292389" y="3392424"/>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tayseer_model.pbix / .twbx starter</a:t>
            </a:r>
            <a:endParaRPr lang="en-US" sz="1050" dirty="0"/>
          </a:p>
        </p:txBody>
      </p:sp>
      <p:sp>
        <p:nvSpPr>
          <p:cNvPr id="37" name="Text 34"/>
          <p:cNvSpPr/>
          <p:nvPr/>
        </p:nvSpPr>
        <p:spPr>
          <a:xfrm>
            <a:off x="8292389" y="3813048"/>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region_directors.csv (13-row RLS lookup)</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marL="0" indent="0" algn="l">
              <a:buNone/>
            </a:pPr>
            <a:r>
              <a:rPr lang="en-US" sz="15000" b="1" dirty="0">
                <a:solidFill>
                  <a:srgbClr val="27345F"/>
                </a:solidFill>
                <a:latin typeface="Arial" pitchFamily="34" charset="0"/>
                <a:ea typeface="Arial" pitchFamily="34" charset="-122"/>
                <a:cs typeface="Arial" pitchFamily="34" charset="-120"/>
              </a:rPr>
              <a:t>05</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marL="0" indent="0">
              <a:buNone/>
            </a:pPr>
            <a:r>
              <a:rPr lang="en-US" sz="1400" b="1" kern="0" spc="300" dirty="0">
                <a:solidFill>
                  <a:srgbClr val="00A79D"/>
                </a:solidFill>
                <a:latin typeface="Arial" pitchFamily="34" charset="0"/>
                <a:ea typeface="Arial" pitchFamily="34" charset="-122"/>
                <a:cs typeface="Arial" pitchFamily="34" charset="-120"/>
              </a:rPr>
              <a:t>MODULE 5</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marL="0" indent="0">
              <a:buNone/>
            </a:pPr>
            <a:r>
              <a:rPr lang="en-US" sz="3400" b="1" dirty="0">
                <a:solidFill>
                  <a:srgbClr val="FFFFFF"/>
                </a:solidFill>
                <a:latin typeface="Arial" pitchFamily="34" charset="0"/>
                <a:ea typeface="Arial" pitchFamily="34" charset="-122"/>
                <a:cs typeface="Arial" pitchFamily="34" charset="-120"/>
              </a:rPr>
              <a:t>Data Storytelling Structure and Flow</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marL="0" indent="0">
              <a:buNone/>
            </a:pPr>
            <a:r>
              <a:rPr lang="en-US" sz="1800" dirty="0">
                <a:solidFill>
                  <a:srgbClr val="C9D3EA"/>
                </a:solidFill>
                <a:latin typeface="Arial" pitchFamily="34" charset="0"/>
                <a:ea typeface="Arial" pitchFamily="34" charset="-122"/>
                <a:cs typeface="Arial" pitchFamily="34" charset="-120"/>
              </a:rPr>
              <a:t>بنية السرد القصصي</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marL="0" indent="0">
              <a:buNone/>
            </a:pPr>
            <a:r>
              <a:rPr lang="en-US" sz="1250" dirty="0">
                <a:solidFill>
                  <a:srgbClr val="AEB8D0"/>
                </a:solidFill>
                <a:latin typeface="Arial" pitchFamily="34" charset="0"/>
                <a:ea typeface="Arial" pitchFamily="34" charset="-122"/>
                <a:cs typeface="Arial" pitchFamily="34" charset="-120"/>
              </a:rPr>
              <a:t>A dashboard lets someone explore; a story makes someone decide. Sequence evidence around one Big Idea toward one ask.</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MODULE OVERVIEW</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From 'here is a chart' to 'therefore we act'</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من العرض إلى القرار</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123</a:t>
            </a:r>
            <a:endParaRPr lang="en-US" sz="800" dirty="0"/>
          </a:p>
        </p:txBody>
      </p:sp>
      <p:sp>
        <p:nvSpPr>
          <p:cNvPr id="15" name="Text 12"/>
          <p:cNvSpPr/>
          <p:nvPr/>
        </p:nvSpPr>
        <p:spPr>
          <a:xfrm>
            <a:off x="548640" y="2377440"/>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Modules 1–4 built the visual craft and the interactive system; this module supplies the missing structure — the narrative that carries a specific audience to one decision.</a:t>
            </a:r>
            <a:endParaRPr lang="en-US" sz="1300" dirty="0"/>
          </a:p>
        </p:txBody>
      </p:sp>
      <p:sp>
        <p:nvSpPr>
          <p:cNvPr id="16" name="Shape 13"/>
          <p:cNvSpPr/>
          <p:nvPr/>
        </p:nvSpPr>
        <p:spPr>
          <a:xfrm>
            <a:off x="548640" y="3209544"/>
            <a:ext cx="100584" cy="420624"/>
          </a:xfrm>
          <a:prstGeom prst="rect">
            <a:avLst/>
          </a:prstGeom>
          <a:solidFill>
            <a:srgbClr val="2E5AAC"/>
          </a:solidFill>
          <a:ln/>
        </p:spPr>
      </p:sp>
      <p:sp>
        <p:nvSpPr>
          <p:cNvPr id="17" name="Text 14"/>
          <p:cNvSpPr/>
          <p:nvPr/>
        </p:nvSpPr>
        <p:spPr>
          <a:xfrm>
            <a:off x="804672" y="315468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Author-driven:  </a:t>
            </a:r>
            <a:r>
              <a:rPr lang="en-US" sz="1250" dirty="0">
                <a:solidFill>
                  <a:srgbClr val="343A4E"/>
                </a:solidFill>
                <a:latin typeface="Arial" pitchFamily="34" charset="0"/>
                <a:ea typeface="Arial" pitchFamily="34" charset="-122"/>
                <a:cs typeface="Arial" pitchFamily="34" charset="-120"/>
              </a:rPr>
              <a:t>Exploration is open and analyst-driven; a story is linear, author-controlled, and aimed at one decision.</a:t>
            </a:r>
            <a:endParaRPr lang="en-US" sz="1250" dirty="0"/>
          </a:p>
        </p:txBody>
      </p:sp>
      <p:sp>
        <p:nvSpPr>
          <p:cNvPr id="18" name="Shape 15"/>
          <p:cNvSpPr/>
          <p:nvPr/>
        </p:nvSpPr>
        <p:spPr>
          <a:xfrm>
            <a:off x="548640" y="3776472"/>
            <a:ext cx="100584" cy="420624"/>
          </a:xfrm>
          <a:prstGeom prst="rect">
            <a:avLst/>
          </a:prstGeom>
          <a:solidFill>
            <a:srgbClr val="00A79D"/>
          </a:solidFill>
          <a:ln/>
        </p:spPr>
      </p:sp>
      <p:sp>
        <p:nvSpPr>
          <p:cNvPr id="19" name="Text 16"/>
          <p:cNvSpPr/>
          <p:nvPr/>
        </p:nvSpPr>
        <p:spPr>
          <a:xfrm>
            <a:off x="804672" y="372160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Not decoration:  </a:t>
            </a:r>
            <a:r>
              <a:rPr lang="en-US" sz="1250" dirty="0">
                <a:solidFill>
                  <a:srgbClr val="343A4E"/>
                </a:solidFill>
                <a:latin typeface="Arial" pitchFamily="34" charset="0"/>
                <a:ea typeface="Arial" pitchFamily="34" charset="-122"/>
                <a:cs typeface="Arial" pitchFamily="34" charset="-120"/>
              </a:rPr>
              <a:t>Storytelling is deliberate sequencing of evidence around a single Big Idea, not polish bolted onto charts.</a:t>
            </a:r>
            <a:endParaRPr lang="en-US" sz="1250" dirty="0"/>
          </a:p>
        </p:txBody>
      </p:sp>
      <p:sp>
        <p:nvSpPr>
          <p:cNvPr id="20" name="Shape 17"/>
          <p:cNvSpPr/>
          <p:nvPr/>
        </p:nvSpPr>
        <p:spPr>
          <a:xfrm>
            <a:off x="548640" y="4343400"/>
            <a:ext cx="100584" cy="420624"/>
          </a:xfrm>
          <a:prstGeom prst="rect">
            <a:avLst/>
          </a:prstGeom>
          <a:solidFill>
            <a:srgbClr val="E8833A"/>
          </a:solidFill>
          <a:ln/>
        </p:spPr>
      </p:sp>
      <p:sp>
        <p:nvSpPr>
          <p:cNvPr id="21" name="Text 18"/>
          <p:cNvSpPr/>
          <p:nvPr/>
        </p:nvSpPr>
        <p:spPr>
          <a:xfrm>
            <a:off x="804672" y="4288536"/>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Inevitable ask:  </a:t>
            </a:r>
            <a:r>
              <a:rPr lang="en-US" sz="1250" dirty="0">
                <a:solidFill>
                  <a:srgbClr val="343A4E"/>
                </a:solidFill>
                <a:latin typeface="Arial" pitchFamily="34" charset="0"/>
                <a:ea typeface="Arial" pitchFamily="34" charset="-122"/>
                <a:cs typeface="Arial" pitchFamily="34" charset="-120"/>
              </a:rPr>
              <a:t>By the last slide the recommendation feels inevitable; the Tayseer dashboard becomes a seven-slide case.</a:t>
            </a:r>
            <a:endParaRPr lang="en-US" sz="1250" dirty="0"/>
          </a:p>
        </p:txBody>
      </p:sp>
      <p:sp>
        <p:nvSpPr>
          <p:cNvPr id="22" name="Shape 19"/>
          <p:cNvSpPr/>
          <p:nvPr/>
        </p:nvSpPr>
        <p:spPr>
          <a:xfrm>
            <a:off x="548640" y="4910328"/>
            <a:ext cx="100584" cy="420624"/>
          </a:xfrm>
          <a:prstGeom prst="rect">
            <a:avLst/>
          </a:prstGeom>
          <a:solidFill>
            <a:srgbClr val="6C4FA1"/>
          </a:solidFill>
          <a:ln/>
        </p:spPr>
      </p:sp>
      <p:sp>
        <p:nvSpPr>
          <p:cNvPr id="23" name="Text 20"/>
          <p:cNvSpPr/>
          <p:nvPr/>
        </p:nvSpPr>
        <p:spPr>
          <a:xfrm>
            <a:off x="804672" y="485546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The stake:  </a:t>
            </a:r>
            <a:r>
              <a:rPr lang="en-US" sz="1250" dirty="0">
                <a:solidFill>
                  <a:srgbClr val="343A4E"/>
                </a:solidFill>
                <a:latin typeface="Arial" pitchFamily="34" charset="0"/>
                <a:ea typeface="Arial" pitchFamily="34" charset="-122"/>
                <a:cs typeface="Arial" pitchFamily="34" charset="-120"/>
              </a:rPr>
              <a:t>Where Tayseer should invest its next SAR 40 million.</a:t>
            </a:r>
            <a:endParaRPr lang="en-US" sz="12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BUSINESS RELEVANCE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Narrative is how analysis becomes policy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124</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In a Saudi executive context, analytical work is judged not by its rigour but by the decision it changes; Vision 2030 governance runs on steering committees and decision memos.</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In the room:  </a:t>
            </a:r>
            <a:r>
              <a:rPr lang="en-US" sz="1250" dirty="0">
                <a:solidFill>
                  <a:srgbClr val="343A4E"/>
                </a:solidFill>
                <a:latin typeface="Arial" pitchFamily="34" charset="0"/>
                <a:ea typeface="Arial" pitchFamily="34" charset="-122"/>
                <a:cs typeface="Arial" pitchFamily="34" charset="-120"/>
              </a:rPr>
              <a:t>The gap between 'the person who makes the charts' and one in the room is almost entirely narrative structure.</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Story moves budget:  </a:t>
            </a:r>
            <a:r>
              <a:rPr lang="en-US" sz="1250" dirty="0">
                <a:solidFill>
                  <a:srgbClr val="343A4E"/>
                </a:solidFill>
                <a:latin typeface="Arial" pitchFamily="34" charset="0"/>
                <a:ea typeface="Arial" pitchFamily="34" charset="-122"/>
                <a:cs typeface="Arial" pitchFamily="34" charset="-120"/>
              </a:rPr>
              <a:t>A correct analysis with no narrative dies in a slide nobody follows; a well-structured story moves budget.</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Punishes dumps:  </a:t>
            </a:r>
            <a:r>
              <a:rPr lang="en-US" sz="1250" dirty="0">
                <a:solidFill>
                  <a:srgbClr val="343A4E"/>
                </a:solidFill>
                <a:latin typeface="Arial" pitchFamily="34" charset="0"/>
                <a:ea typeface="Arial" pitchFamily="34" charset="-122"/>
                <a:cs typeface="Arial" pitchFamily="34" charset="-120"/>
              </a:rPr>
              <a:t>These venues reward a clear Big Idea and punish a data dump.</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Not a soft skill:  </a:t>
            </a:r>
            <a:r>
              <a:rPr lang="en-US" sz="1250" dirty="0">
                <a:solidFill>
                  <a:srgbClr val="343A4E"/>
                </a:solidFill>
                <a:latin typeface="Arial" pitchFamily="34" charset="0"/>
                <a:ea typeface="Arial" pitchFamily="34" charset="-122"/>
                <a:cs typeface="Arial" pitchFamily="34" charset="-120"/>
              </a:rPr>
              <a:t>Storytelling is the mechanism by which analysis becomes policy.</a:t>
            </a:r>
            <a:endParaRPr lang="en-US" sz="12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INDUSTRY USE CASES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Where narrative structure decides the outcome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125</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marL="0" indent="0" algn="ctr">
              <a:buNone/>
            </a:pPr>
            <a:r>
              <a:rPr lang="en-US" sz="1000" b="1" dirty="0">
                <a:solidFill>
                  <a:srgbClr val="2E5AAC"/>
                </a:solidFill>
                <a:latin typeface="Arial" pitchFamily="34" charset="0"/>
                <a:ea typeface="Arial" pitchFamily="34" charset="-122"/>
                <a:cs typeface="Arial" pitchFamily="34" charset="-120"/>
              </a:rPr>
              <a:t>Gov</a:t>
            </a:r>
            <a:endParaRPr lang="en-US" sz="1000" dirty="0"/>
          </a:p>
        </p:txBody>
      </p:sp>
      <p:sp>
        <p:nvSpPr>
          <p:cNvPr id="18" name="Text 15"/>
          <p:cNvSpPr/>
          <p:nvPr/>
        </p:nvSpPr>
        <p:spPr>
          <a:xfrm>
            <a:off x="731520"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Budget reallocation case</a:t>
            </a:r>
            <a:endParaRPr lang="en-US" sz="1300" dirty="0"/>
          </a:p>
        </p:txBody>
      </p:sp>
      <p:sp>
        <p:nvSpPr>
          <p:cNvPr id="19" name="Text 16"/>
          <p:cNvSpPr/>
          <p:nvPr/>
        </p:nvSpPr>
        <p:spPr>
          <a:xfrm>
            <a:off x="731520"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 program office turns a quarter of dashboard data into a seven-minute case to reallocate budget to three lagging regions — one Big Idea, one ask.</a:t>
            </a:r>
            <a:endParaRPr lang="en-US" sz="1050" dirty="0"/>
          </a:p>
        </p:txBody>
      </p:sp>
      <p:sp>
        <p:nvSpPr>
          <p:cNvPr id="20" name="Shape 17"/>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21" name="Shape 18"/>
          <p:cNvSpPr/>
          <p:nvPr/>
        </p:nvSpPr>
        <p:spPr>
          <a:xfrm>
            <a:off x="4338218" y="2066544"/>
            <a:ext cx="3515258" cy="82296"/>
          </a:xfrm>
          <a:prstGeom prst="rect">
            <a:avLst/>
          </a:prstGeom>
          <a:solidFill>
            <a:srgbClr val="00A79D"/>
          </a:solidFill>
          <a:ln/>
        </p:spPr>
      </p:sp>
      <p:sp>
        <p:nvSpPr>
          <p:cNvPr id="22" name="Shape 19"/>
          <p:cNvSpPr/>
          <p:nvPr/>
        </p:nvSpPr>
        <p:spPr>
          <a:xfrm>
            <a:off x="4521098" y="2249424"/>
            <a:ext cx="822960" cy="292608"/>
          </a:xfrm>
          <a:prstGeom prst="roundRect">
            <a:avLst>
              <a:gd name="adj" fmla="val 18750"/>
            </a:avLst>
          </a:prstGeom>
          <a:solidFill>
            <a:srgbClr val="E6F5F4"/>
          </a:solidFill>
          <a:ln/>
        </p:spPr>
      </p:sp>
      <p:sp>
        <p:nvSpPr>
          <p:cNvPr id="23" name="Text 20"/>
          <p:cNvSpPr/>
          <p:nvPr/>
        </p:nvSpPr>
        <p:spPr>
          <a:xfrm>
            <a:off x="4521098" y="2249424"/>
            <a:ext cx="822960" cy="292608"/>
          </a:xfrm>
          <a:prstGeom prst="rect">
            <a:avLst/>
          </a:prstGeom>
          <a:noFill/>
          <a:ln/>
        </p:spPr>
        <p:txBody>
          <a:bodyPr wrap="square" rtlCol="0" anchor="ctr"/>
          <a:lstStyle/>
          <a:p>
            <a:pPr marL="0" indent="0" algn="ctr">
              <a:buNone/>
            </a:pPr>
            <a:r>
              <a:rPr lang="en-US" sz="1000" b="1" dirty="0">
                <a:solidFill>
                  <a:srgbClr val="00A79D"/>
                </a:solidFill>
                <a:latin typeface="Arial" pitchFamily="34" charset="0"/>
                <a:ea typeface="Arial" pitchFamily="34" charset="-122"/>
                <a:cs typeface="Arial" pitchFamily="34" charset="-120"/>
              </a:rPr>
              <a:t>Gov</a:t>
            </a:r>
            <a:endParaRPr lang="en-US" sz="1000" dirty="0"/>
          </a:p>
        </p:txBody>
      </p:sp>
      <p:sp>
        <p:nvSpPr>
          <p:cNvPr id="24" name="Text 21"/>
          <p:cNvSpPr/>
          <p:nvPr/>
        </p:nvSpPr>
        <p:spPr>
          <a:xfrm>
            <a:off x="4521098"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One-page decision memo</a:t>
            </a:r>
            <a:endParaRPr lang="en-US" sz="1300" dirty="0"/>
          </a:p>
        </p:txBody>
      </p:sp>
      <p:sp>
        <p:nvSpPr>
          <p:cNvPr id="25" name="Text 22"/>
          <p:cNvSpPr/>
          <p:nvPr/>
        </p:nvSpPr>
        <p:spPr>
          <a:xfrm>
            <a:off x="4521098"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An analytics team writes a BLUF-first one-page memo a Deputy Minister reads in ninety seconds and acts on without the deck.</a:t>
            </a:r>
            <a:endParaRPr lang="en-US" sz="1050" dirty="0"/>
          </a:p>
        </p:txBody>
      </p:sp>
      <p:sp>
        <p:nvSpPr>
          <p:cNvPr id="26" name="Shape 23"/>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7" name="Shape 24"/>
          <p:cNvSpPr/>
          <p:nvPr/>
        </p:nvSpPr>
        <p:spPr>
          <a:xfrm>
            <a:off x="8127797" y="2066544"/>
            <a:ext cx="3515258" cy="82296"/>
          </a:xfrm>
          <a:prstGeom prst="rect">
            <a:avLst/>
          </a:prstGeom>
          <a:solidFill>
            <a:srgbClr val="E8833A"/>
          </a:solidFill>
          <a:ln/>
        </p:spPr>
      </p:sp>
      <p:sp>
        <p:nvSpPr>
          <p:cNvPr id="28" name="Shape 25"/>
          <p:cNvSpPr/>
          <p:nvPr/>
        </p:nvSpPr>
        <p:spPr>
          <a:xfrm>
            <a:off x="8310677" y="2249424"/>
            <a:ext cx="822960" cy="292608"/>
          </a:xfrm>
          <a:prstGeom prst="roundRect">
            <a:avLst>
              <a:gd name="adj" fmla="val 18750"/>
            </a:avLst>
          </a:prstGeom>
          <a:solidFill>
            <a:srgbClr val="FCF0E6"/>
          </a:solidFill>
          <a:ln/>
        </p:spPr>
      </p:sp>
      <p:sp>
        <p:nvSpPr>
          <p:cNvPr id="29" name="Text 26"/>
          <p:cNvSpPr/>
          <p:nvPr/>
        </p:nvSpPr>
        <p:spPr>
          <a:xfrm>
            <a:off x="8310677" y="2249424"/>
            <a:ext cx="822960" cy="292608"/>
          </a:xfrm>
          <a:prstGeom prst="rect">
            <a:avLst/>
          </a:prstGeom>
          <a:noFill/>
          <a:ln/>
        </p:spPr>
        <p:txBody>
          <a:bodyPr wrap="square" rtlCol="0" anchor="ctr"/>
          <a:lstStyle/>
          <a:p>
            <a:pPr marL="0" indent="0" algn="ctr">
              <a:buNone/>
            </a:pPr>
            <a:r>
              <a:rPr lang="en-US" sz="1000" b="1" dirty="0">
                <a:solidFill>
                  <a:srgbClr val="E8833A"/>
                </a:solidFill>
                <a:latin typeface="Arial" pitchFamily="34" charset="0"/>
                <a:ea typeface="Arial" pitchFamily="34" charset="-122"/>
                <a:cs typeface="Arial" pitchFamily="34" charset="-120"/>
              </a:rPr>
              <a:t>Health</a:t>
            </a:r>
            <a:endParaRPr lang="en-US" sz="1000" dirty="0"/>
          </a:p>
        </p:txBody>
      </p:sp>
      <p:sp>
        <p:nvSpPr>
          <p:cNvPr id="30" name="Text 27"/>
          <p:cNvSpPr/>
          <p:nvPr/>
        </p:nvSpPr>
        <p:spPr>
          <a:xfrm>
            <a:off x="8310677"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Rising wait-times story</a:t>
            </a:r>
            <a:endParaRPr lang="en-US" sz="1300" dirty="0"/>
          </a:p>
        </p:txBody>
      </p:sp>
      <p:sp>
        <p:nvSpPr>
          <p:cNvPr id="31" name="Text 28"/>
          <p:cNvSpPr/>
          <p:nvPr/>
        </p:nvSpPr>
        <p:spPr>
          <a:xfrm>
            <a:off x="8310677"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 public-health team sequences the story so the 'so what' and the recommended intervention land before any methodology.</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EXPECTED COMPETENCIES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What a participant can do after Module 5</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126</a:t>
            </a:r>
            <a:endParaRPr lang="en-US" sz="800" dirty="0"/>
          </a:p>
        </p:txBody>
      </p:sp>
      <p:sp>
        <p:nvSpPr>
          <p:cNvPr id="14" name="Shape 11"/>
          <p:cNvSpPr/>
          <p:nvPr/>
        </p:nvSpPr>
        <p:spPr>
          <a:xfrm>
            <a:off x="548640" y="2121408"/>
            <a:ext cx="100584" cy="420624"/>
          </a:xfrm>
          <a:prstGeom prst="rect">
            <a:avLst/>
          </a:prstGeom>
          <a:solidFill>
            <a:srgbClr val="2E5AAC"/>
          </a:solidFill>
          <a:ln/>
        </p:spPr>
      </p:sp>
      <p:sp>
        <p:nvSpPr>
          <p:cNvPr id="15" name="Text 12"/>
          <p:cNvSpPr/>
          <p:nvPr/>
        </p:nvSpPr>
        <p:spPr>
          <a:xfrm>
            <a:off x="804672" y="206654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Frame:  </a:t>
            </a:r>
            <a:r>
              <a:rPr lang="en-US" sz="1250" dirty="0">
                <a:solidFill>
                  <a:srgbClr val="343A4E"/>
                </a:solidFill>
                <a:latin typeface="Arial" pitchFamily="34" charset="0"/>
                <a:ea typeface="Arial" pitchFamily="34" charset="-122"/>
                <a:cs typeface="Arial" pitchFamily="34" charset="-120"/>
              </a:rPr>
              <a:t>Frame a narrative around a specific audience and decision.</a:t>
            </a:r>
            <a:endParaRPr lang="en-US" sz="1250" dirty="0"/>
          </a:p>
        </p:txBody>
      </p:sp>
      <p:sp>
        <p:nvSpPr>
          <p:cNvPr id="16" name="Shape 13"/>
          <p:cNvSpPr/>
          <p:nvPr/>
        </p:nvSpPr>
        <p:spPr>
          <a:xfrm>
            <a:off x="548640" y="2688336"/>
            <a:ext cx="100584" cy="420624"/>
          </a:xfrm>
          <a:prstGeom prst="rect">
            <a:avLst/>
          </a:prstGeom>
          <a:solidFill>
            <a:srgbClr val="00A79D"/>
          </a:solidFill>
          <a:ln/>
        </p:spPr>
      </p:sp>
      <p:sp>
        <p:nvSpPr>
          <p:cNvPr id="17" name="Text 14"/>
          <p:cNvSpPr/>
          <p:nvPr/>
        </p:nvSpPr>
        <p:spPr>
          <a:xfrm>
            <a:off x="804672" y="263347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Distil:  </a:t>
            </a:r>
            <a:r>
              <a:rPr lang="en-US" sz="1250" dirty="0">
                <a:solidFill>
                  <a:srgbClr val="343A4E"/>
                </a:solidFill>
                <a:latin typeface="Arial" pitchFamily="34" charset="0"/>
                <a:ea typeface="Arial" pitchFamily="34" charset="-122"/>
                <a:cs typeface="Arial" pitchFamily="34" charset="-120"/>
              </a:rPr>
              <a:t>Distil an analysis into a single Big Idea sentence.</a:t>
            </a:r>
            <a:endParaRPr lang="en-US" sz="1250" dirty="0"/>
          </a:p>
        </p:txBody>
      </p:sp>
      <p:sp>
        <p:nvSpPr>
          <p:cNvPr id="18" name="Shape 15"/>
          <p:cNvSpPr/>
          <p:nvPr/>
        </p:nvSpPr>
        <p:spPr>
          <a:xfrm>
            <a:off x="548640" y="3255264"/>
            <a:ext cx="100584" cy="420624"/>
          </a:xfrm>
          <a:prstGeom prst="rect">
            <a:avLst/>
          </a:prstGeom>
          <a:solidFill>
            <a:srgbClr val="E8833A"/>
          </a:solidFill>
          <a:ln/>
        </p:spPr>
      </p:sp>
      <p:sp>
        <p:nvSpPr>
          <p:cNvPr id="19" name="Text 16"/>
          <p:cNvSpPr/>
          <p:nvPr/>
        </p:nvSpPr>
        <p:spPr>
          <a:xfrm>
            <a:off x="804672" y="320040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Sequence:  </a:t>
            </a:r>
            <a:r>
              <a:rPr lang="en-US" sz="1250" dirty="0">
                <a:solidFill>
                  <a:srgbClr val="343A4E"/>
                </a:solidFill>
                <a:latin typeface="Arial" pitchFamily="34" charset="0"/>
                <a:ea typeface="Arial" pitchFamily="34" charset="-122"/>
                <a:cs typeface="Arial" pitchFamily="34" charset="-120"/>
              </a:rPr>
              <a:t>Choose a narrative arc and sequence charts as annotated 'scenes'.</a:t>
            </a:r>
            <a:endParaRPr lang="en-US" sz="1250" dirty="0"/>
          </a:p>
        </p:txBody>
      </p:sp>
      <p:sp>
        <p:nvSpPr>
          <p:cNvPr id="20" name="Shape 17"/>
          <p:cNvSpPr/>
          <p:nvPr/>
        </p:nvSpPr>
        <p:spPr>
          <a:xfrm>
            <a:off x="548640" y="3822192"/>
            <a:ext cx="100584" cy="420624"/>
          </a:xfrm>
          <a:prstGeom prst="rect">
            <a:avLst/>
          </a:prstGeom>
          <a:solidFill>
            <a:srgbClr val="6C4FA1"/>
          </a:solidFill>
          <a:ln/>
        </p:spPr>
      </p:sp>
      <p:sp>
        <p:nvSpPr>
          <p:cNvPr id="21" name="Text 18"/>
          <p:cNvSpPr/>
          <p:nvPr/>
        </p:nvSpPr>
        <p:spPr>
          <a:xfrm>
            <a:off x="804672" y="376732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Lead with it:  </a:t>
            </a:r>
            <a:r>
              <a:rPr lang="en-US" sz="1250" dirty="0">
                <a:solidFill>
                  <a:srgbClr val="343A4E"/>
                </a:solidFill>
                <a:latin typeface="Arial" pitchFamily="34" charset="0"/>
                <a:ea typeface="Arial" pitchFamily="34" charset="-122"/>
                <a:cs typeface="Arial" pitchFamily="34" charset="-120"/>
              </a:rPr>
              <a:t>Write a BLUF/top-line that states the recommendation first.</a:t>
            </a:r>
            <a:endParaRPr lang="en-US" sz="1250" dirty="0"/>
          </a:p>
        </p:txBody>
      </p:sp>
      <p:sp>
        <p:nvSpPr>
          <p:cNvPr id="22" name="Shape 19"/>
          <p:cNvSpPr/>
          <p:nvPr/>
        </p:nvSpPr>
        <p:spPr>
          <a:xfrm>
            <a:off x="548640" y="4389120"/>
            <a:ext cx="100584" cy="420624"/>
          </a:xfrm>
          <a:prstGeom prst="rect">
            <a:avLst/>
          </a:prstGeom>
          <a:solidFill>
            <a:srgbClr val="3FAE5A"/>
          </a:solidFill>
          <a:ln/>
        </p:spPr>
      </p:sp>
      <p:sp>
        <p:nvSpPr>
          <p:cNvPr id="23" name="Text 20"/>
          <p:cNvSpPr/>
          <p:nvPr/>
        </p:nvSpPr>
        <p:spPr>
          <a:xfrm>
            <a:off x="804672" y="4334256"/>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Storyboard:  </a:t>
            </a:r>
            <a:r>
              <a:rPr lang="en-US" sz="1250" dirty="0">
                <a:solidFill>
                  <a:srgbClr val="343A4E"/>
                </a:solidFill>
                <a:latin typeface="Arial" pitchFamily="34" charset="0"/>
                <a:ea typeface="Arial" pitchFamily="34" charset="-122"/>
                <a:cs typeface="Arial" pitchFamily="34" charset="-120"/>
              </a:rPr>
              <a:t>Storyboard a seven-slide executive arc.</a:t>
            </a:r>
            <a:endParaRPr lang="en-US" sz="1250" dirty="0"/>
          </a:p>
        </p:txBody>
      </p:sp>
      <p:sp>
        <p:nvSpPr>
          <p:cNvPr id="24" name="Shape 21"/>
          <p:cNvSpPr/>
          <p:nvPr/>
        </p:nvSpPr>
        <p:spPr>
          <a:xfrm>
            <a:off x="548640" y="4956048"/>
            <a:ext cx="100584" cy="420624"/>
          </a:xfrm>
          <a:prstGeom prst="rect">
            <a:avLst/>
          </a:prstGeom>
          <a:solidFill>
            <a:srgbClr val="29ABE2"/>
          </a:solidFill>
          <a:ln/>
        </p:spPr>
      </p:sp>
      <p:sp>
        <p:nvSpPr>
          <p:cNvPr id="25" name="Text 22"/>
          <p:cNvSpPr/>
          <p:nvPr/>
        </p:nvSpPr>
        <p:spPr>
          <a:xfrm>
            <a:off x="804672" y="49011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Self-edit:  </a:t>
            </a:r>
            <a:r>
              <a:rPr lang="en-US" sz="1250" dirty="0">
                <a:solidFill>
                  <a:srgbClr val="343A4E"/>
                </a:solidFill>
                <a:latin typeface="Arial" pitchFamily="34" charset="0"/>
                <a:ea typeface="Arial" pitchFamily="34" charset="-122"/>
                <a:cs typeface="Arial" pitchFamily="34" charset="-120"/>
              </a:rPr>
              <a:t>Edit ruthlessly against 'does this slide advance the decision?'</a:t>
            </a:r>
            <a:endParaRPr lang="en-US" sz="12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LEARNING OBJECTIVES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Objectives mapped to course outcomes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127</a:t>
            </a:r>
            <a:endParaRPr lang="en-US" sz="800" dirty="0"/>
          </a:p>
        </p:txBody>
      </p:sp>
      <p:sp>
        <p:nvSpPr>
          <p:cNvPr id="14" name="Shape 11"/>
          <p:cNvSpPr/>
          <p:nvPr/>
        </p:nvSpPr>
        <p:spPr>
          <a:xfrm>
            <a:off x="548640" y="2103120"/>
            <a:ext cx="11094415" cy="551688"/>
          </a:xfrm>
          <a:prstGeom prst="roundRect">
            <a:avLst>
              <a:gd name="adj" fmla="val 9945"/>
            </a:avLst>
          </a:prstGeom>
          <a:solidFill>
            <a:srgbClr val="FFFFFF"/>
          </a:solidFill>
          <a:ln w="9525">
            <a:solidFill>
              <a:srgbClr val="D9DEE8"/>
            </a:solidFill>
            <a:prstDash val="solid"/>
          </a:ln>
        </p:spPr>
      </p:sp>
      <p:sp>
        <p:nvSpPr>
          <p:cNvPr id="15" name="Shape 12"/>
          <p:cNvSpPr/>
          <p:nvPr/>
        </p:nvSpPr>
        <p:spPr>
          <a:xfrm>
            <a:off x="658368" y="2194560"/>
            <a:ext cx="658368" cy="368808"/>
          </a:xfrm>
          <a:prstGeom prst="roundRect">
            <a:avLst>
              <a:gd name="adj" fmla="val 12397"/>
            </a:avLst>
          </a:prstGeom>
          <a:solidFill>
            <a:srgbClr val="2E5AAC"/>
          </a:solidFill>
          <a:ln/>
        </p:spPr>
      </p:sp>
      <p:sp>
        <p:nvSpPr>
          <p:cNvPr id="16" name="Text 13"/>
          <p:cNvSpPr/>
          <p:nvPr/>
        </p:nvSpPr>
        <p:spPr>
          <a:xfrm>
            <a:off x="658368" y="2194560"/>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5.1</a:t>
            </a:r>
            <a:endParaRPr lang="en-US" sz="1200" dirty="0"/>
          </a:p>
        </p:txBody>
      </p:sp>
      <p:sp>
        <p:nvSpPr>
          <p:cNvPr id="17" name="Text 14"/>
          <p:cNvSpPr/>
          <p:nvPr/>
        </p:nvSpPr>
        <p:spPr>
          <a:xfrm>
            <a:off x="1463040" y="2066544"/>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Frame a data narrative around a specific audience and decision</a:t>
            </a:r>
            <a:endParaRPr lang="en-US" sz="1200" dirty="0"/>
          </a:p>
        </p:txBody>
      </p:sp>
      <p:sp>
        <p:nvSpPr>
          <p:cNvPr id="18" name="Shape 15"/>
          <p:cNvSpPr/>
          <p:nvPr/>
        </p:nvSpPr>
        <p:spPr>
          <a:xfrm>
            <a:off x="10317175" y="2232660"/>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32660"/>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LO4</a:t>
            </a:r>
            <a:endParaRPr lang="en-US" sz="950" dirty="0"/>
          </a:p>
        </p:txBody>
      </p:sp>
      <p:sp>
        <p:nvSpPr>
          <p:cNvPr id="20" name="Shape 17"/>
          <p:cNvSpPr/>
          <p:nvPr/>
        </p:nvSpPr>
        <p:spPr>
          <a:xfrm>
            <a:off x="548640" y="2764536"/>
            <a:ext cx="11094415" cy="551688"/>
          </a:xfrm>
          <a:prstGeom prst="roundRect">
            <a:avLst>
              <a:gd name="adj" fmla="val 9945"/>
            </a:avLst>
          </a:prstGeom>
          <a:solidFill>
            <a:srgbClr val="F4F6FB"/>
          </a:solidFill>
          <a:ln w="9525">
            <a:solidFill>
              <a:srgbClr val="D9DEE8"/>
            </a:solidFill>
            <a:prstDash val="solid"/>
          </a:ln>
        </p:spPr>
      </p:sp>
      <p:sp>
        <p:nvSpPr>
          <p:cNvPr id="21" name="Shape 18"/>
          <p:cNvSpPr/>
          <p:nvPr/>
        </p:nvSpPr>
        <p:spPr>
          <a:xfrm>
            <a:off x="658368" y="2855976"/>
            <a:ext cx="658368" cy="368808"/>
          </a:xfrm>
          <a:prstGeom prst="roundRect">
            <a:avLst>
              <a:gd name="adj" fmla="val 12397"/>
            </a:avLst>
          </a:prstGeom>
          <a:solidFill>
            <a:srgbClr val="00A79D"/>
          </a:solidFill>
          <a:ln/>
        </p:spPr>
      </p:sp>
      <p:sp>
        <p:nvSpPr>
          <p:cNvPr id="22" name="Text 19"/>
          <p:cNvSpPr/>
          <p:nvPr/>
        </p:nvSpPr>
        <p:spPr>
          <a:xfrm>
            <a:off x="658368" y="2855976"/>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5.2</a:t>
            </a:r>
            <a:endParaRPr lang="en-US" sz="1200" dirty="0"/>
          </a:p>
        </p:txBody>
      </p:sp>
      <p:sp>
        <p:nvSpPr>
          <p:cNvPr id="23" name="Text 20"/>
          <p:cNvSpPr/>
          <p:nvPr/>
        </p:nvSpPr>
        <p:spPr>
          <a:xfrm>
            <a:off x="1463040" y="2727960"/>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Distil an analysis into a single Big Idea sentence</a:t>
            </a:r>
            <a:endParaRPr lang="en-US" sz="1200" dirty="0"/>
          </a:p>
        </p:txBody>
      </p:sp>
      <p:sp>
        <p:nvSpPr>
          <p:cNvPr id="24" name="Shape 21"/>
          <p:cNvSpPr/>
          <p:nvPr/>
        </p:nvSpPr>
        <p:spPr>
          <a:xfrm>
            <a:off x="10317175" y="2894076"/>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2894076"/>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LO4</a:t>
            </a:r>
            <a:endParaRPr lang="en-US" sz="950" dirty="0"/>
          </a:p>
        </p:txBody>
      </p:sp>
      <p:sp>
        <p:nvSpPr>
          <p:cNvPr id="26" name="Shape 23"/>
          <p:cNvSpPr/>
          <p:nvPr/>
        </p:nvSpPr>
        <p:spPr>
          <a:xfrm>
            <a:off x="548640" y="3425952"/>
            <a:ext cx="11094415" cy="551688"/>
          </a:xfrm>
          <a:prstGeom prst="roundRect">
            <a:avLst>
              <a:gd name="adj" fmla="val 9945"/>
            </a:avLst>
          </a:prstGeom>
          <a:solidFill>
            <a:srgbClr val="FFFFFF"/>
          </a:solidFill>
          <a:ln w="9525">
            <a:solidFill>
              <a:srgbClr val="D9DEE8"/>
            </a:solidFill>
            <a:prstDash val="solid"/>
          </a:ln>
        </p:spPr>
      </p:sp>
      <p:sp>
        <p:nvSpPr>
          <p:cNvPr id="27" name="Shape 24"/>
          <p:cNvSpPr/>
          <p:nvPr/>
        </p:nvSpPr>
        <p:spPr>
          <a:xfrm>
            <a:off x="658368" y="3517392"/>
            <a:ext cx="658368" cy="368808"/>
          </a:xfrm>
          <a:prstGeom prst="roundRect">
            <a:avLst>
              <a:gd name="adj" fmla="val 12397"/>
            </a:avLst>
          </a:prstGeom>
          <a:solidFill>
            <a:srgbClr val="E8833A"/>
          </a:solidFill>
          <a:ln/>
        </p:spPr>
      </p:sp>
      <p:sp>
        <p:nvSpPr>
          <p:cNvPr id="28" name="Text 25"/>
          <p:cNvSpPr/>
          <p:nvPr/>
        </p:nvSpPr>
        <p:spPr>
          <a:xfrm>
            <a:off x="658368" y="3517392"/>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5.3</a:t>
            </a:r>
            <a:endParaRPr lang="en-US" sz="1200" dirty="0"/>
          </a:p>
        </p:txBody>
      </p:sp>
      <p:sp>
        <p:nvSpPr>
          <p:cNvPr id="29" name="Text 26"/>
          <p:cNvSpPr/>
          <p:nvPr/>
        </p:nvSpPr>
        <p:spPr>
          <a:xfrm>
            <a:off x="1463040" y="3389376"/>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Select and apply a narrative arc to sequence evidence</a:t>
            </a:r>
            <a:endParaRPr lang="en-US" sz="1200" dirty="0"/>
          </a:p>
        </p:txBody>
      </p:sp>
      <p:sp>
        <p:nvSpPr>
          <p:cNvPr id="30" name="Shape 27"/>
          <p:cNvSpPr/>
          <p:nvPr/>
        </p:nvSpPr>
        <p:spPr>
          <a:xfrm>
            <a:off x="10317175" y="355549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555492"/>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LO4</a:t>
            </a:r>
            <a:endParaRPr lang="en-US" sz="950" dirty="0"/>
          </a:p>
        </p:txBody>
      </p:sp>
      <p:sp>
        <p:nvSpPr>
          <p:cNvPr id="32" name="Shape 29"/>
          <p:cNvSpPr/>
          <p:nvPr/>
        </p:nvSpPr>
        <p:spPr>
          <a:xfrm>
            <a:off x="548640" y="4087368"/>
            <a:ext cx="11094415" cy="551688"/>
          </a:xfrm>
          <a:prstGeom prst="roundRect">
            <a:avLst>
              <a:gd name="adj" fmla="val 9945"/>
            </a:avLst>
          </a:prstGeom>
          <a:solidFill>
            <a:srgbClr val="F4F6FB"/>
          </a:solidFill>
          <a:ln w="9525">
            <a:solidFill>
              <a:srgbClr val="D9DEE8"/>
            </a:solidFill>
            <a:prstDash val="solid"/>
          </a:ln>
        </p:spPr>
      </p:sp>
      <p:sp>
        <p:nvSpPr>
          <p:cNvPr id="33" name="Shape 30"/>
          <p:cNvSpPr/>
          <p:nvPr/>
        </p:nvSpPr>
        <p:spPr>
          <a:xfrm>
            <a:off x="658368" y="4178808"/>
            <a:ext cx="658368" cy="368808"/>
          </a:xfrm>
          <a:prstGeom prst="roundRect">
            <a:avLst>
              <a:gd name="adj" fmla="val 12397"/>
            </a:avLst>
          </a:prstGeom>
          <a:solidFill>
            <a:srgbClr val="6C4FA1"/>
          </a:solidFill>
          <a:ln/>
        </p:spPr>
      </p:sp>
      <p:sp>
        <p:nvSpPr>
          <p:cNvPr id="34" name="Text 31"/>
          <p:cNvSpPr/>
          <p:nvPr/>
        </p:nvSpPr>
        <p:spPr>
          <a:xfrm>
            <a:off x="658368" y="4178808"/>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5.4</a:t>
            </a:r>
            <a:endParaRPr lang="en-US" sz="1200" dirty="0"/>
          </a:p>
        </p:txBody>
      </p:sp>
      <p:sp>
        <p:nvSpPr>
          <p:cNvPr id="35" name="Text 32"/>
          <p:cNvSpPr/>
          <p:nvPr/>
        </p:nvSpPr>
        <p:spPr>
          <a:xfrm>
            <a:off x="1463040" y="4050792"/>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Convert charts into annotation-led narrative scenes</a:t>
            </a:r>
            <a:endParaRPr lang="en-US" sz="1200" dirty="0"/>
          </a:p>
        </p:txBody>
      </p:sp>
      <p:sp>
        <p:nvSpPr>
          <p:cNvPr id="36" name="Shape 33"/>
          <p:cNvSpPr/>
          <p:nvPr/>
        </p:nvSpPr>
        <p:spPr>
          <a:xfrm>
            <a:off x="10317175" y="4216908"/>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216908"/>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LO4, LO2</a:t>
            </a:r>
            <a:endParaRPr lang="en-US" sz="950" dirty="0"/>
          </a:p>
        </p:txBody>
      </p:sp>
      <p:sp>
        <p:nvSpPr>
          <p:cNvPr id="38" name="Shape 35"/>
          <p:cNvSpPr/>
          <p:nvPr/>
        </p:nvSpPr>
        <p:spPr>
          <a:xfrm>
            <a:off x="548640" y="4748784"/>
            <a:ext cx="11094415" cy="551688"/>
          </a:xfrm>
          <a:prstGeom prst="roundRect">
            <a:avLst>
              <a:gd name="adj" fmla="val 9945"/>
            </a:avLst>
          </a:prstGeom>
          <a:solidFill>
            <a:srgbClr val="FFFFFF"/>
          </a:solidFill>
          <a:ln w="9525">
            <a:solidFill>
              <a:srgbClr val="D9DEE8"/>
            </a:solidFill>
            <a:prstDash val="solid"/>
          </a:ln>
        </p:spPr>
      </p:sp>
      <p:sp>
        <p:nvSpPr>
          <p:cNvPr id="39" name="Shape 36"/>
          <p:cNvSpPr/>
          <p:nvPr/>
        </p:nvSpPr>
        <p:spPr>
          <a:xfrm>
            <a:off x="658368" y="4840224"/>
            <a:ext cx="658368" cy="368808"/>
          </a:xfrm>
          <a:prstGeom prst="roundRect">
            <a:avLst>
              <a:gd name="adj" fmla="val 12397"/>
            </a:avLst>
          </a:prstGeom>
          <a:solidFill>
            <a:srgbClr val="3FAE5A"/>
          </a:solidFill>
          <a:ln/>
        </p:spPr>
      </p:sp>
      <p:sp>
        <p:nvSpPr>
          <p:cNvPr id="40" name="Text 37"/>
          <p:cNvSpPr/>
          <p:nvPr/>
        </p:nvSpPr>
        <p:spPr>
          <a:xfrm>
            <a:off x="658368" y="4840224"/>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5.5</a:t>
            </a:r>
            <a:endParaRPr lang="en-US" sz="1200" dirty="0"/>
          </a:p>
        </p:txBody>
      </p:sp>
      <p:sp>
        <p:nvSpPr>
          <p:cNvPr id="41" name="Text 38"/>
          <p:cNvSpPr/>
          <p:nvPr/>
        </p:nvSpPr>
        <p:spPr>
          <a:xfrm>
            <a:off x="1463040" y="4712208"/>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Write a BLUF/top-line that states the recommendation first</a:t>
            </a:r>
            <a:endParaRPr lang="en-US" sz="1200" dirty="0"/>
          </a:p>
        </p:txBody>
      </p:sp>
      <p:sp>
        <p:nvSpPr>
          <p:cNvPr id="42" name="Shape 39"/>
          <p:cNvSpPr/>
          <p:nvPr/>
        </p:nvSpPr>
        <p:spPr>
          <a:xfrm>
            <a:off x="10317175" y="4878324"/>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4878324"/>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LO4, LO6</a:t>
            </a:r>
            <a:endParaRPr lang="en-US" sz="950" dirty="0"/>
          </a:p>
        </p:txBody>
      </p:sp>
      <p:sp>
        <p:nvSpPr>
          <p:cNvPr id="44" name="Shape 41"/>
          <p:cNvSpPr/>
          <p:nvPr/>
        </p:nvSpPr>
        <p:spPr>
          <a:xfrm>
            <a:off x="548640" y="5410200"/>
            <a:ext cx="11094415" cy="551688"/>
          </a:xfrm>
          <a:prstGeom prst="roundRect">
            <a:avLst>
              <a:gd name="adj" fmla="val 9945"/>
            </a:avLst>
          </a:prstGeom>
          <a:solidFill>
            <a:srgbClr val="F4F6FB"/>
          </a:solidFill>
          <a:ln w="9525">
            <a:solidFill>
              <a:srgbClr val="D9DEE8"/>
            </a:solidFill>
            <a:prstDash val="solid"/>
          </a:ln>
        </p:spPr>
      </p:sp>
      <p:sp>
        <p:nvSpPr>
          <p:cNvPr id="45" name="Shape 42"/>
          <p:cNvSpPr/>
          <p:nvPr/>
        </p:nvSpPr>
        <p:spPr>
          <a:xfrm>
            <a:off x="658368" y="5501640"/>
            <a:ext cx="658368" cy="368808"/>
          </a:xfrm>
          <a:prstGeom prst="roundRect">
            <a:avLst>
              <a:gd name="adj" fmla="val 12397"/>
            </a:avLst>
          </a:prstGeom>
          <a:solidFill>
            <a:srgbClr val="29ABE2"/>
          </a:solidFill>
          <a:ln/>
        </p:spPr>
      </p:sp>
      <p:sp>
        <p:nvSpPr>
          <p:cNvPr id="46" name="Text 43"/>
          <p:cNvSpPr/>
          <p:nvPr/>
        </p:nvSpPr>
        <p:spPr>
          <a:xfrm>
            <a:off x="658368" y="5501640"/>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5.6</a:t>
            </a:r>
            <a:endParaRPr lang="en-US" sz="1200" dirty="0"/>
          </a:p>
        </p:txBody>
      </p:sp>
      <p:sp>
        <p:nvSpPr>
          <p:cNvPr id="47" name="Text 44"/>
          <p:cNvSpPr/>
          <p:nvPr/>
        </p:nvSpPr>
        <p:spPr>
          <a:xfrm>
            <a:off x="1463040" y="5373624"/>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Storyboard a seven-slide executive arc and self-edit against the decision</a:t>
            </a:r>
            <a:endParaRPr lang="en-US" sz="1200" dirty="0"/>
          </a:p>
        </p:txBody>
      </p:sp>
      <p:sp>
        <p:nvSpPr>
          <p:cNvPr id="48" name="Shape 45"/>
          <p:cNvSpPr/>
          <p:nvPr/>
        </p:nvSpPr>
        <p:spPr>
          <a:xfrm>
            <a:off x="10317175" y="5539740"/>
            <a:ext cx="1170432" cy="329184"/>
          </a:xfrm>
          <a:prstGeom prst="roundRect">
            <a:avLst>
              <a:gd name="adj" fmla="val 16667"/>
            </a:avLst>
          </a:prstGeom>
          <a:solidFill>
            <a:srgbClr val="E6F5F4"/>
          </a:solidFill>
          <a:ln w="9525">
            <a:solidFill>
              <a:srgbClr val="00A79D"/>
            </a:solidFill>
            <a:prstDash val="solid"/>
          </a:ln>
        </p:spPr>
      </p:sp>
      <p:sp>
        <p:nvSpPr>
          <p:cNvPr id="49" name="Text 46"/>
          <p:cNvSpPr/>
          <p:nvPr/>
        </p:nvSpPr>
        <p:spPr>
          <a:xfrm>
            <a:off x="10317175" y="5539740"/>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LO4, LO5</a:t>
            </a:r>
            <a:endParaRPr lang="en-US" sz="9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TWO DIFFERENT JOBS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Exploration vs explanation</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128</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The commonest failure of technical people is presenting the exploratory artefact as the explanation — dumping the dashboard and narrating every filter.</a:t>
            </a:r>
            <a:endParaRPr lang="en-US" sz="1250" dirty="0"/>
          </a:p>
        </p:txBody>
      </p:sp>
      <p:sp>
        <p:nvSpPr>
          <p:cNvPr id="15" name="Shape 12"/>
          <p:cNvSpPr/>
          <p:nvPr/>
        </p:nvSpPr>
        <p:spPr>
          <a:xfrm>
            <a:off x="548640" y="2569464"/>
            <a:ext cx="5391760" cy="3465576"/>
          </a:xfrm>
          <a:prstGeom prst="roundRect">
            <a:avLst>
              <a:gd name="adj" fmla="val 2639"/>
            </a:avLst>
          </a:prstGeom>
          <a:solidFill>
            <a:srgbClr val="FFFFFF"/>
          </a:solidFill>
          <a:ln w="17780">
            <a:solidFill>
              <a:srgbClr val="2E5AAC"/>
            </a:solidFill>
            <a:prstDash val="solid"/>
          </a:ln>
        </p:spPr>
      </p:sp>
      <p:sp>
        <p:nvSpPr>
          <p:cNvPr id="16" name="Shape 13"/>
          <p:cNvSpPr/>
          <p:nvPr/>
        </p:nvSpPr>
        <p:spPr>
          <a:xfrm>
            <a:off x="548640" y="2569464"/>
            <a:ext cx="5391760" cy="566928"/>
          </a:xfrm>
          <a:prstGeom prst="roundRect">
            <a:avLst>
              <a:gd name="adj" fmla="val 16129"/>
            </a:avLst>
          </a:prstGeom>
          <a:solidFill>
            <a:srgbClr val="2E5AAC"/>
          </a:solidFill>
          <a:ln/>
        </p:spPr>
      </p:sp>
      <p:sp>
        <p:nvSpPr>
          <p:cNvPr id="17" name="Shape 14"/>
          <p:cNvSpPr/>
          <p:nvPr/>
        </p:nvSpPr>
        <p:spPr>
          <a:xfrm>
            <a:off x="548640" y="2852928"/>
            <a:ext cx="5391760" cy="283464"/>
          </a:xfrm>
          <a:prstGeom prst="rect">
            <a:avLst/>
          </a:prstGeom>
          <a:solidFill>
            <a:srgbClr val="2E5AAC"/>
          </a:solidFill>
          <a:ln/>
        </p:spPr>
      </p:sp>
      <p:sp>
        <p:nvSpPr>
          <p:cNvPr id="18" name="Text 15"/>
          <p:cNvSpPr/>
          <p:nvPr/>
        </p:nvSpPr>
        <p:spPr>
          <a:xfrm>
            <a:off x="640080" y="2569464"/>
            <a:ext cx="5208880"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Exploratory (Module 4)</a:t>
            </a:r>
            <a:endParaRPr lang="en-US" sz="1400" dirty="0"/>
          </a:p>
        </p:txBody>
      </p:sp>
      <p:sp>
        <p:nvSpPr>
          <p:cNvPr id="19" name="Text 16"/>
          <p:cNvSpPr/>
          <p:nvPr/>
        </p:nvSpPr>
        <p:spPr>
          <a:xfrm>
            <a:off x="749808" y="3300984"/>
            <a:ext cx="5007712"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For finding </a:t>
            </a:r>
            <a:r>
              <a:rPr lang="en-US" sz="1100" dirty="0">
                <a:solidFill>
                  <a:srgbClr val="343A4E"/>
                </a:solidFill>
                <a:latin typeface="Arial" pitchFamily="34" charset="0"/>
                <a:ea typeface="Arial" pitchFamily="34" charset="-122"/>
                <a:cs typeface="Arial" pitchFamily="34" charset="-120"/>
              </a:rPr>
              <a:t>Built for the analyst to find the story and a user to interrogate it.</a:t>
            </a:r>
            <a:endParaRPr lang="en-US" sz="1100" dirty="0"/>
          </a:p>
        </p:txBody>
      </p:sp>
      <p:sp>
        <p:nvSpPr>
          <p:cNvPr id="20" name="Text 17"/>
          <p:cNvSpPr/>
          <p:nvPr/>
        </p:nvSpPr>
        <p:spPr>
          <a:xfrm>
            <a:off x="749808" y="3977640"/>
            <a:ext cx="5007712"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Open &amp; non-linear </a:t>
            </a:r>
            <a:r>
              <a:rPr lang="en-US" sz="1100" dirty="0">
                <a:solidFill>
                  <a:srgbClr val="343A4E"/>
                </a:solidFill>
                <a:latin typeface="Arial" pitchFamily="34" charset="0"/>
                <a:ea typeface="Arial" pitchFamily="34" charset="-122"/>
                <a:cs typeface="Arial" pitchFamily="34" charset="-120"/>
              </a:rPr>
              <a:t>Interactive, open-ended, and user-driven.</a:t>
            </a:r>
            <a:endParaRPr lang="en-US" sz="1100" dirty="0"/>
          </a:p>
        </p:txBody>
      </p:sp>
      <p:sp>
        <p:nvSpPr>
          <p:cNvPr id="21" name="Text 18"/>
          <p:cNvSpPr/>
          <p:nvPr/>
        </p:nvSpPr>
        <p:spPr>
          <a:xfrm>
            <a:off x="749808" y="4453128"/>
            <a:ext cx="5007712"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The dashboard </a:t>
            </a:r>
            <a:r>
              <a:rPr lang="en-US" sz="1100" dirty="0">
                <a:solidFill>
                  <a:srgbClr val="343A4E"/>
                </a:solidFill>
                <a:latin typeface="Arial" pitchFamily="34" charset="0"/>
                <a:ea typeface="Arial" pitchFamily="34" charset="-122"/>
                <a:cs typeface="Arial" pitchFamily="34" charset="-120"/>
              </a:rPr>
              <a:t>The Module 4 deliverable itself.</a:t>
            </a:r>
            <a:endParaRPr lang="en-US" sz="1100" dirty="0"/>
          </a:p>
        </p:txBody>
      </p:sp>
      <p:sp>
        <p:nvSpPr>
          <p:cNvPr id="22" name="Shape 19"/>
          <p:cNvSpPr/>
          <p:nvPr/>
        </p:nvSpPr>
        <p:spPr>
          <a:xfrm>
            <a:off x="6251296" y="2569464"/>
            <a:ext cx="5391760" cy="3465576"/>
          </a:xfrm>
          <a:prstGeom prst="roundRect">
            <a:avLst>
              <a:gd name="adj" fmla="val 2639"/>
            </a:avLst>
          </a:prstGeom>
          <a:solidFill>
            <a:srgbClr val="FFFFFF"/>
          </a:solidFill>
          <a:ln w="17780">
            <a:solidFill>
              <a:srgbClr val="00A79D"/>
            </a:solidFill>
            <a:prstDash val="solid"/>
          </a:ln>
        </p:spPr>
      </p:sp>
      <p:sp>
        <p:nvSpPr>
          <p:cNvPr id="23" name="Shape 20"/>
          <p:cNvSpPr/>
          <p:nvPr/>
        </p:nvSpPr>
        <p:spPr>
          <a:xfrm>
            <a:off x="6251296" y="2569464"/>
            <a:ext cx="5391760" cy="566928"/>
          </a:xfrm>
          <a:prstGeom prst="roundRect">
            <a:avLst>
              <a:gd name="adj" fmla="val 16129"/>
            </a:avLst>
          </a:prstGeom>
          <a:solidFill>
            <a:srgbClr val="00A79D"/>
          </a:solidFill>
          <a:ln/>
        </p:spPr>
      </p:sp>
      <p:sp>
        <p:nvSpPr>
          <p:cNvPr id="24" name="Shape 21"/>
          <p:cNvSpPr/>
          <p:nvPr/>
        </p:nvSpPr>
        <p:spPr>
          <a:xfrm>
            <a:off x="6251296" y="2852928"/>
            <a:ext cx="5391760" cy="283464"/>
          </a:xfrm>
          <a:prstGeom prst="rect">
            <a:avLst/>
          </a:prstGeom>
          <a:solidFill>
            <a:srgbClr val="00A79D"/>
          </a:solidFill>
          <a:ln/>
        </p:spPr>
      </p:sp>
      <p:sp>
        <p:nvSpPr>
          <p:cNvPr id="25" name="Text 22"/>
          <p:cNvSpPr/>
          <p:nvPr/>
        </p:nvSpPr>
        <p:spPr>
          <a:xfrm>
            <a:off x="6342736" y="2569464"/>
            <a:ext cx="5208880"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Explanatory (this module)</a:t>
            </a:r>
            <a:endParaRPr lang="en-US" sz="1400" dirty="0"/>
          </a:p>
        </p:txBody>
      </p:sp>
      <p:sp>
        <p:nvSpPr>
          <p:cNvPr id="26" name="Text 23"/>
          <p:cNvSpPr/>
          <p:nvPr/>
        </p:nvSpPr>
        <p:spPr>
          <a:xfrm>
            <a:off x="6452464" y="3300984"/>
            <a:ext cx="5007712"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For receiving </a:t>
            </a:r>
            <a:r>
              <a:rPr lang="en-US" sz="1100" dirty="0">
                <a:solidFill>
                  <a:srgbClr val="343A4E"/>
                </a:solidFill>
                <a:latin typeface="Arial" pitchFamily="34" charset="0"/>
                <a:ea typeface="Arial" pitchFamily="34" charset="-122"/>
                <a:cs typeface="Arial" pitchFamily="34" charset="-120"/>
              </a:rPr>
              <a:t>Built for a decision-maker to receive a specific conclusion.</a:t>
            </a:r>
            <a:endParaRPr lang="en-US" sz="1100" dirty="0"/>
          </a:p>
        </p:txBody>
      </p:sp>
      <p:sp>
        <p:nvSpPr>
          <p:cNvPr id="27" name="Text 24"/>
          <p:cNvSpPr/>
          <p:nvPr/>
        </p:nvSpPr>
        <p:spPr>
          <a:xfrm>
            <a:off x="6452464" y="3977640"/>
            <a:ext cx="5007712"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Closed &amp; linear </a:t>
            </a:r>
            <a:r>
              <a:rPr lang="en-US" sz="1100" dirty="0">
                <a:solidFill>
                  <a:srgbClr val="343A4E"/>
                </a:solidFill>
                <a:latin typeface="Arial" pitchFamily="34" charset="0"/>
                <a:ea typeface="Arial" pitchFamily="34" charset="-122"/>
                <a:cs typeface="Arial" pitchFamily="34" charset="-120"/>
              </a:rPr>
              <a:t>Author-controlled; the two or three findings that matter.</a:t>
            </a:r>
            <a:endParaRPr lang="en-US" sz="1100" dirty="0"/>
          </a:p>
        </p:txBody>
      </p:sp>
      <p:sp>
        <p:nvSpPr>
          <p:cNvPr id="28" name="Text 25"/>
          <p:cNvSpPr/>
          <p:nvPr/>
        </p:nvSpPr>
        <p:spPr>
          <a:xfrm>
            <a:off x="6452464" y="4654296"/>
            <a:ext cx="5007712"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Throw most away </a:t>
            </a:r>
            <a:r>
              <a:rPr lang="en-US" sz="1100" dirty="0">
                <a:solidFill>
                  <a:srgbClr val="343A4E"/>
                </a:solidFill>
                <a:latin typeface="Arial" pitchFamily="34" charset="0"/>
                <a:ea typeface="Arial" pitchFamily="34" charset="-122"/>
                <a:cs typeface="Arial" pitchFamily="34" charset="-120"/>
              </a:rPr>
              <a:t>Explore privately, then discard almost all of it; if shown, it must advance the decision.</a:t>
            </a:r>
            <a:endParaRPr lang="en-US" sz="11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FRAMING</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Four pre-narrative questions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129</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Answer these before a single slide. Framing is the highest-leverage step; a perfect deck aimed at the wrong belief or decision fails completely.</a:t>
            </a:r>
            <a:endParaRPr lang="en-US" sz="1250" dirty="0"/>
          </a:p>
        </p:txBody>
      </p:sp>
      <p:sp>
        <p:nvSpPr>
          <p:cNvPr id="15" name="Shape 12"/>
          <p:cNvSpPr/>
          <p:nvPr/>
        </p:nvSpPr>
        <p:spPr>
          <a:xfrm>
            <a:off x="548640" y="2615184"/>
            <a:ext cx="2540432" cy="2926080"/>
          </a:xfrm>
          <a:prstGeom prst="roundRect">
            <a:avLst>
              <a:gd name="adj" fmla="val 3599"/>
            </a:avLst>
          </a:prstGeom>
          <a:solidFill>
            <a:srgbClr val="EAF0FA"/>
          </a:solidFill>
          <a:ln w="15875">
            <a:solidFill>
              <a:srgbClr val="2E5AAC"/>
            </a:solidFill>
            <a:prstDash val="solid"/>
          </a:ln>
        </p:spPr>
      </p:sp>
      <p:sp>
        <p:nvSpPr>
          <p:cNvPr id="16" name="Shape 13"/>
          <p:cNvSpPr/>
          <p:nvPr/>
        </p:nvSpPr>
        <p:spPr>
          <a:xfrm>
            <a:off x="1562824" y="2816352"/>
            <a:ext cx="512064" cy="512064"/>
          </a:xfrm>
          <a:prstGeom prst="ellipse">
            <a:avLst/>
          </a:prstGeom>
          <a:solidFill>
            <a:srgbClr val="2E5AAC"/>
          </a:solidFill>
          <a:ln/>
        </p:spPr>
      </p:sp>
      <p:sp>
        <p:nvSpPr>
          <p:cNvPr id="17" name="Text 14"/>
          <p:cNvSpPr/>
          <p:nvPr/>
        </p:nvSpPr>
        <p:spPr>
          <a:xfrm>
            <a:off x="1562824"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658368" y="3456432"/>
            <a:ext cx="2320976"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Who &amp; belief?</a:t>
            </a:r>
            <a:endParaRPr lang="en-US" sz="1300" dirty="0"/>
          </a:p>
        </p:txBody>
      </p:sp>
      <p:sp>
        <p:nvSpPr>
          <p:cNvPr id="19" name="Text 16"/>
          <p:cNvSpPr/>
          <p:nvPr/>
        </p:nvSpPr>
        <p:spPr>
          <a:xfrm>
            <a:off x="676656" y="3986784"/>
            <a:ext cx="2284400"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Who is the audience, and what do they already believe? On-track versus failing needs a different opening.</a:t>
            </a:r>
            <a:endParaRPr lang="en-US" sz="1050" dirty="0"/>
          </a:p>
        </p:txBody>
      </p:sp>
      <p:sp>
        <p:nvSpPr>
          <p:cNvPr id="20" name="Text 17"/>
          <p:cNvSpPr/>
          <p:nvPr/>
        </p:nvSpPr>
        <p:spPr>
          <a:xfrm>
            <a:off x="3107360"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1" name="Shape 18"/>
          <p:cNvSpPr/>
          <p:nvPr/>
        </p:nvSpPr>
        <p:spPr>
          <a:xfrm>
            <a:off x="3399968" y="2615184"/>
            <a:ext cx="2540432" cy="2926080"/>
          </a:xfrm>
          <a:prstGeom prst="roundRect">
            <a:avLst>
              <a:gd name="adj" fmla="val 3599"/>
            </a:avLst>
          </a:prstGeom>
          <a:solidFill>
            <a:srgbClr val="E6F5F4"/>
          </a:solidFill>
          <a:ln w="15875">
            <a:solidFill>
              <a:srgbClr val="00A79D"/>
            </a:solidFill>
            <a:prstDash val="solid"/>
          </a:ln>
        </p:spPr>
      </p:sp>
      <p:sp>
        <p:nvSpPr>
          <p:cNvPr id="22" name="Shape 19"/>
          <p:cNvSpPr/>
          <p:nvPr/>
        </p:nvSpPr>
        <p:spPr>
          <a:xfrm>
            <a:off x="4414152" y="2816352"/>
            <a:ext cx="512064" cy="512064"/>
          </a:xfrm>
          <a:prstGeom prst="ellipse">
            <a:avLst/>
          </a:prstGeom>
          <a:solidFill>
            <a:srgbClr val="00A79D"/>
          </a:solidFill>
          <a:ln/>
        </p:spPr>
      </p:sp>
      <p:sp>
        <p:nvSpPr>
          <p:cNvPr id="23" name="Text 20"/>
          <p:cNvSpPr/>
          <p:nvPr/>
        </p:nvSpPr>
        <p:spPr>
          <a:xfrm>
            <a:off x="4414152"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4" name="Text 21"/>
          <p:cNvSpPr/>
          <p:nvPr/>
        </p:nvSpPr>
        <p:spPr>
          <a:xfrm>
            <a:off x="3509696" y="3456432"/>
            <a:ext cx="2320976"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What decision?</a:t>
            </a:r>
            <a:endParaRPr lang="en-US" sz="1300" dirty="0"/>
          </a:p>
        </p:txBody>
      </p:sp>
      <p:sp>
        <p:nvSpPr>
          <p:cNvPr id="25" name="Text 22"/>
          <p:cNvSpPr/>
          <p:nvPr/>
        </p:nvSpPr>
        <p:spPr>
          <a:xfrm>
            <a:off x="3527984" y="3986784"/>
            <a:ext cx="2284400"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What decision does this feed, and the options? For Tayseer: regions, channel infrastructure, or high-volume services.</a:t>
            </a:r>
            <a:endParaRPr lang="en-US" sz="1050" dirty="0"/>
          </a:p>
        </p:txBody>
      </p:sp>
      <p:sp>
        <p:nvSpPr>
          <p:cNvPr id="26" name="Text 23"/>
          <p:cNvSpPr/>
          <p:nvPr/>
        </p:nvSpPr>
        <p:spPr>
          <a:xfrm>
            <a:off x="5958688"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7" name="Shape 24"/>
          <p:cNvSpPr/>
          <p:nvPr/>
        </p:nvSpPr>
        <p:spPr>
          <a:xfrm>
            <a:off x="6251296" y="2615184"/>
            <a:ext cx="2540432" cy="2926080"/>
          </a:xfrm>
          <a:prstGeom prst="roundRect">
            <a:avLst>
              <a:gd name="adj" fmla="val 3599"/>
            </a:avLst>
          </a:prstGeom>
          <a:solidFill>
            <a:srgbClr val="FCF0E6"/>
          </a:solidFill>
          <a:ln w="15875">
            <a:solidFill>
              <a:srgbClr val="E8833A"/>
            </a:solidFill>
            <a:prstDash val="solid"/>
          </a:ln>
        </p:spPr>
      </p:sp>
      <p:sp>
        <p:nvSpPr>
          <p:cNvPr id="28" name="Shape 25"/>
          <p:cNvSpPr/>
          <p:nvPr/>
        </p:nvSpPr>
        <p:spPr>
          <a:xfrm>
            <a:off x="7265480" y="2816352"/>
            <a:ext cx="512064" cy="512064"/>
          </a:xfrm>
          <a:prstGeom prst="ellipse">
            <a:avLst/>
          </a:prstGeom>
          <a:solidFill>
            <a:srgbClr val="E8833A"/>
          </a:solidFill>
          <a:ln/>
        </p:spPr>
      </p:sp>
      <p:sp>
        <p:nvSpPr>
          <p:cNvPr id="29" name="Text 26"/>
          <p:cNvSpPr/>
          <p:nvPr/>
        </p:nvSpPr>
        <p:spPr>
          <a:xfrm>
            <a:off x="7265480"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0" name="Text 27"/>
          <p:cNvSpPr/>
          <p:nvPr/>
        </p:nvSpPr>
        <p:spPr>
          <a:xfrm>
            <a:off x="6361024" y="3456432"/>
            <a:ext cx="2320976"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One thing?</a:t>
            </a:r>
            <a:endParaRPr lang="en-US" sz="1300" dirty="0"/>
          </a:p>
        </p:txBody>
      </p:sp>
      <p:sp>
        <p:nvSpPr>
          <p:cNvPr id="31" name="Text 28"/>
          <p:cNvSpPr/>
          <p:nvPr/>
        </p:nvSpPr>
        <p:spPr>
          <a:xfrm>
            <a:off x="6379312" y="3986784"/>
            <a:ext cx="2284400"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What is the one thing they must remember? That is the Big Idea.</a:t>
            </a:r>
            <a:endParaRPr lang="en-US" sz="1050" dirty="0"/>
          </a:p>
        </p:txBody>
      </p:sp>
      <p:sp>
        <p:nvSpPr>
          <p:cNvPr id="32" name="Text 29"/>
          <p:cNvSpPr/>
          <p:nvPr/>
        </p:nvSpPr>
        <p:spPr>
          <a:xfrm>
            <a:off x="8810015"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3" name="Shape 30"/>
          <p:cNvSpPr/>
          <p:nvPr/>
        </p:nvSpPr>
        <p:spPr>
          <a:xfrm>
            <a:off x="9102623" y="2615184"/>
            <a:ext cx="2540432" cy="2926080"/>
          </a:xfrm>
          <a:prstGeom prst="roundRect">
            <a:avLst>
              <a:gd name="adj" fmla="val 3599"/>
            </a:avLst>
          </a:prstGeom>
          <a:solidFill>
            <a:srgbClr val="EFEBF6"/>
          </a:solidFill>
          <a:ln w="15875">
            <a:solidFill>
              <a:srgbClr val="6C4FA1"/>
            </a:solidFill>
            <a:prstDash val="solid"/>
          </a:ln>
        </p:spPr>
      </p:sp>
      <p:sp>
        <p:nvSpPr>
          <p:cNvPr id="34" name="Shape 31"/>
          <p:cNvSpPr/>
          <p:nvPr/>
        </p:nvSpPr>
        <p:spPr>
          <a:xfrm>
            <a:off x="10116807" y="2816352"/>
            <a:ext cx="512064" cy="512064"/>
          </a:xfrm>
          <a:prstGeom prst="ellipse">
            <a:avLst/>
          </a:prstGeom>
          <a:solidFill>
            <a:srgbClr val="6C4FA1"/>
          </a:solidFill>
          <a:ln/>
        </p:spPr>
      </p:sp>
      <p:sp>
        <p:nvSpPr>
          <p:cNvPr id="35" name="Text 32"/>
          <p:cNvSpPr/>
          <p:nvPr/>
        </p:nvSpPr>
        <p:spPr>
          <a:xfrm>
            <a:off x="10116807"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6" name="Text 33"/>
          <p:cNvSpPr/>
          <p:nvPr/>
        </p:nvSpPr>
        <p:spPr>
          <a:xfrm>
            <a:off x="9212351" y="3456432"/>
            <a:ext cx="2320976"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What says no?</a:t>
            </a:r>
            <a:endParaRPr lang="en-US" sz="1300" dirty="0"/>
          </a:p>
        </p:txBody>
      </p:sp>
      <p:sp>
        <p:nvSpPr>
          <p:cNvPr id="37" name="Text 34"/>
          <p:cNvSpPr/>
          <p:nvPr/>
        </p:nvSpPr>
        <p:spPr>
          <a:xfrm>
            <a:off x="9230639" y="3986784"/>
            <a:ext cx="2284400"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What will make them say no, and what evidence pre-empts it? Seat the rebuttal in the arc.</a:t>
            </a:r>
            <a:endParaRPr lang="en-US" sz="1050" dirty="0"/>
          </a:p>
        </p:txBody>
      </p:sp>
      <p:sp>
        <p:nvSpPr>
          <p:cNvPr id="38" name="Text 35"/>
          <p:cNvSpPr/>
          <p:nvPr/>
        </p:nvSpPr>
        <p:spPr>
          <a:xfrm>
            <a:off x="548640" y="5650992"/>
            <a:ext cx="11094415" cy="365760"/>
          </a:xfrm>
          <a:prstGeom prst="rect">
            <a:avLst/>
          </a:prstGeom>
          <a:noFill/>
          <a:ln/>
        </p:spPr>
        <p:txBody>
          <a:bodyPr wrap="square" rtlCol="0" anchor="t"/>
          <a:lstStyle/>
          <a:p>
            <a:pPr marL="0" indent="0" algn="l">
              <a:buNone/>
            </a:pPr>
            <a:r>
              <a:rPr lang="en-US" sz="1100" i="1" dirty="0">
                <a:solidFill>
                  <a:srgbClr val="6B7280"/>
                </a:solidFill>
                <a:latin typeface="Arial" pitchFamily="34" charset="0"/>
                <a:ea typeface="Arial" pitchFamily="34" charset="-122"/>
                <a:cs typeface="Arial" pitchFamily="34" charset="-120"/>
              </a:rPr>
              <a:t>Time spent framing here saves ten slides later.</a:t>
            </a:r>
            <a:endParaRPr lang="en-US" sz="11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B"/>
          </a:solidFill>
          <a:ln/>
        </p:spPr>
      </p:sp>
      <p:sp>
        <p:nvSpPr>
          <p:cNvPr id="3" name="Shape 1"/>
          <p:cNvSpPr/>
          <p:nvPr/>
        </p:nvSpPr>
        <p:spPr>
          <a:xfrm>
            <a:off x="0" y="0"/>
            <a:ext cx="12191695" cy="146304"/>
          </a:xfrm>
          <a:prstGeom prst="rect">
            <a:avLst/>
          </a:prstGeom>
          <a:solidFill>
            <a:srgbClr val="00A79D"/>
          </a:solidFill>
          <a:ln/>
        </p:spPr>
      </p:sp>
      <p:pic>
        <p:nvPicPr>
          <p:cNvPr id="4"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5" name="Shape 2"/>
          <p:cNvSpPr/>
          <p:nvPr/>
        </p:nvSpPr>
        <p:spPr>
          <a:xfrm>
            <a:off x="548640" y="6382512"/>
            <a:ext cx="11094415" cy="0"/>
          </a:xfrm>
          <a:prstGeom prst="line">
            <a:avLst/>
          </a:prstGeom>
          <a:noFill/>
          <a:ln w="12700">
            <a:solidFill>
              <a:srgbClr val="D9DEE8"/>
            </a:solidFill>
            <a:prstDash val="solid"/>
          </a:ln>
        </p:spPr>
      </p:sp>
      <p:sp>
        <p:nvSpPr>
          <p:cNvPr id="6" name="Text 3"/>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7" name="Text 4"/>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130</a:t>
            </a:r>
            <a:endParaRPr lang="en-US" sz="800" dirty="0"/>
          </a:p>
        </p:txBody>
      </p:sp>
      <p:sp>
        <p:nvSpPr>
          <p:cNvPr id="8" name="Text 5"/>
          <p:cNvSpPr/>
          <p:nvPr/>
        </p:nvSpPr>
        <p:spPr>
          <a:xfrm>
            <a:off x="548640" y="1188720"/>
            <a:ext cx="1828800" cy="1463040"/>
          </a:xfrm>
          <a:prstGeom prst="rect">
            <a:avLst/>
          </a:prstGeom>
          <a:noFill/>
          <a:ln/>
        </p:spPr>
        <p:txBody>
          <a:bodyPr wrap="square" rtlCol="0" anchor="t"/>
          <a:lstStyle/>
          <a:p>
            <a:pPr marL="0" indent="0" algn="l">
              <a:buNone/>
            </a:pPr>
            <a:r>
              <a:rPr lang="en-US" sz="12000" b="1" dirty="0">
                <a:solidFill>
                  <a:srgbClr val="00A79D"/>
                </a:solidFill>
                <a:latin typeface="Georgia" pitchFamily="34" charset="0"/>
                <a:ea typeface="Georgia" pitchFamily="34" charset="-122"/>
                <a:cs typeface="Georgia" pitchFamily="34" charset="-120"/>
              </a:rPr>
              <a:t>“</a:t>
            </a:r>
            <a:endParaRPr lang="en-US" sz="12000" dirty="0"/>
          </a:p>
        </p:txBody>
      </p:sp>
      <p:sp>
        <p:nvSpPr>
          <p:cNvPr id="9" name="Text 6"/>
          <p:cNvSpPr/>
          <p:nvPr/>
        </p:nvSpPr>
        <p:spPr>
          <a:xfrm>
            <a:off x="1371600" y="2468880"/>
            <a:ext cx="9448495" cy="2194560"/>
          </a:xfrm>
          <a:prstGeom prst="rect">
            <a:avLst/>
          </a:prstGeom>
          <a:noFill/>
          <a:ln/>
        </p:spPr>
        <p:txBody>
          <a:bodyPr wrap="square" rtlCol="0" anchor="ctr"/>
          <a:lstStyle/>
          <a:p>
            <a:pPr marL="0" indent="0" algn="ctr">
              <a:lnSpc>
                <a:spcPct val="110000"/>
              </a:lnSpc>
              <a:buNone/>
            </a:pPr>
            <a:r>
              <a:rPr lang="en-US" sz="2600" b="1" dirty="0">
                <a:solidFill>
                  <a:srgbClr val="1D2A5C"/>
                </a:solidFill>
                <a:latin typeface="Arial" pitchFamily="34" charset="0"/>
                <a:ea typeface="Arial" pitchFamily="34" charset="-122"/>
                <a:cs typeface="Arial" pitchFamily="34" charset="-120"/>
              </a:rPr>
              <a:t>Three regions are dragging national adoption below the 65% target; directing the next SAR 40M there — not to channel infrastructure — is the fastest way to close the gap.</a:t>
            </a:r>
            <a:endParaRPr lang="en-US" sz="2600" dirty="0"/>
          </a:p>
        </p:txBody>
      </p:sp>
      <p:sp>
        <p:nvSpPr>
          <p:cNvPr id="10" name="Text 7"/>
          <p:cNvSpPr/>
          <p:nvPr/>
        </p:nvSpPr>
        <p:spPr>
          <a:xfrm>
            <a:off x="1371600" y="4846320"/>
            <a:ext cx="9448495" cy="457200"/>
          </a:xfrm>
          <a:prstGeom prst="rect">
            <a:avLst/>
          </a:prstGeom>
          <a:noFill/>
          <a:ln/>
        </p:spPr>
        <p:txBody>
          <a:bodyPr wrap="square" rtlCol="0" anchor="ctr"/>
          <a:lstStyle/>
          <a:p>
            <a:pPr marL="0" indent="0" algn="ctr">
              <a:buNone/>
            </a:pPr>
            <a:r>
              <a:rPr lang="en-US" sz="1400" dirty="0">
                <a:solidFill>
                  <a:srgbClr val="6B7280"/>
                </a:solidFill>
                <a:latin typeface="Arial" pitchFamily="34" charset="0"/>
                <a:ea typeface="Arial" pitchFamily="34" charset="-122"/>
                <a:cs typeface="Arial" pitchFamily="34" charset="-120"/>
              </a:rPr>
              <a:t>— The Big Idea — point of view + what's at stake + implied action</a:t>
            </a:r>
            <a:endParaRPr lang="en-US" sz="14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THE BIG IDEA</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One sentence: POV + stakes + action</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131</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Borrowed from Nancy Duarte and Cole Nussbaumer Knaflic, the Big Idea states your unique point of view, what is at stake, and implies the action.</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Idea, not topic:  </a:t>
            </a:r>
            <a:r>
              <a:rPr lang="en-US" sz="1250" dirty="0">
                <a:solidFill>
                  <a:srgbClr val="343A4E"/>
                </a:solidFill>
                <a:latin typeface="Arial" pitchFamily="34" charset="0"/>
                <a:ea typeface="Arial" pitchFamily="34" charset="-122"/>
                <a:cs typeface="Arial" pitchFamily="34" charset="-120"/>
              </a:rPr>
              <a:t>Not 'here is our Q3 adoption data' (topic) but a sentence carrying idea, stakes, and action.</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Earns its place:  </a:t>
            </a:r>
            <a:r>
              <a:rPr lang="en-US" sz="1250" dirty="0">
                <a:solidFill>
                  <a:srgbClr val="343A4E"/>
                </a:solidFill>
                <a:latin typeface="Arial" pitchFamily="34" charset="0"/>
                <a:ea typeface="Arial" pitchFamily="34" charset="-122"/>
                <a:cs typeface="Arial" pitchFamily="34" charset="-120"/>
              </a:rPr>
              <a:t>Every slide must be defensible as 'this builds toward that sentence' — if not, it is cut.</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One sentence:  </a:t>
            </a:r>
            <a:r>
              <a:rPr lang="en-US" sz="1250" dirty="0">
                <a:solidFill>
                  <a:srgbClr val="343A4E"/>
                </a:solidFill>
                <a:latin typeface="Arial" pitchFamily="34" charset="0"/>
                <a:ea typeface="Arial" pitchFamily="34" charset="-122"/>
                <a:cs typeface="Arial" pitchFamily="34" charset="-120"/>
              </a:rPr>
              <a:t>The answer to 'if they remember only one sentence, what is it?'.</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Becomes the BLUF:  </a:t>
            </a:r>
            <a:r>
              <a:rPr lang="en-US" sz="1250" dirty="0">
                <a:solidFill>
                  <a:srgbClr val="343A4E"/>
                </a:solidFill>
                <a:latin typeface="Arial" pitchFamily="34" charset="0"/>
                <a:ea typeface="Arial" pitchFamily="34" charset="-122"/>
                <a:cs typeface="Arial" pitchFamily="34" charset="-120"/>
              </a:rPr>
              <a:t>It becomes the BLUF and the presentation's opening line.</a:t>
            </a:r>
            <a:endParaRPr lang="en-US" sz="12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NARRATIVE ARCS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Three arcs that carry evidence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132</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00" dirty="0">
                <a:solidFill>
                  <a:srgbClr val="343A4E"/>
                </a:solidFill>
                <a:latin typeface="Arial" pitchFamily="34" charset="0"/>
                <a:ea typeface="Arial" pitchFamily="34" charset="-122"/>
                <a:cs typeface="Arial" pitchFamily="34" charset="-120"/>
              </a:rPr>
              <a:t>Stories have shape. Teach three arcs and when each fits; the default for an executive investment decision is SCR.</a:t>
            </a:r>
            <a:endParaRPr lang="en-US" sz="1200" dirty="0"/>
          </a:p>
        </p:txBody>
      </p:sp>
      <p:graphicFrame>
        <p:nvGraphicFramePr>
          <p:cNvPr id="109"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11064240" cy="1847088"/>
        </p:xfrm>
        <a:graphic>
          <a:graphicData uri="http://schemas.openxmlformats.org/drawingml/2006/table">
            <a:tbl>
              <a:tblPr/>
              <a:tblGrid>
                <a:gridCol w="32004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Arc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Shape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Best when</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SCR (Minto)</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context → tension → answer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Recommending an action to a committee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What is / could be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current ↔ better future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Motivating change or investment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Chronological</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beginning → middle → now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Explaining how a situation arose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Text 12"/>
          <p:cNvSpPr/>
          <p:nvPr/>
        </p:nvSpPr>
        <p:spPr>
          <a:xfrm>
            <a:off x="548640" y="4480560"/>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SCR front-loads shared context, one complication, and resolves to the ask — matching how committees decide.</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CHARTS AS SCENES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Annotation-led sequencing</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133</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In a story a chart is a scene making one point, not a reference exhibit — this reuses Module 3's annotation discipline at the deck level.</a:t>
            </a:r>
            <a:endParaRPr lang="en-US" sz="1250" dirty="0"/>
          </a:p>
        </p:txBody>
      </p:sp>
      <p:sp>
        <p:nvSpPr>
          <p:cNvPr id="15" name="Shape 12"/>
          <p:cNvSpPr/>
          <p:nvPr/>
        </p:nvSpPr>
        <p:spPr>
          <a:xfrm>
            <a:off x="548640" y="2569464"/>
            <a:ext cx="5410048" cy="996696"/>
          </a:xfrm>
          <a:prstGeom prst="roundRect">
            <a:avLst>
              <a:gd name="adj" fmla="val 7339"/>
            </a:avLst>
          </a:prstGeom>
          <a:solidFill>
            <a:srgbClr val="FFFFFF"/>
          </a:solidFill>
          <a:ln w="12700">
            <a:solidFill>
              <a:srgbClr val="D9DEE8"/>
            </a:solidFill>
            <a:prstDash val="solid"/>
          </a:ln>
        </p:spPr>
      </p:sp>
      <p:sp>
        <p:nvSpPr>
          <p:cNvPr id="16" name="Shape 13"/>
          <p:cNvSpPr/>
          <p:nvPr/>
        </p:nvSpPr>
        <p:spPr>
          <a:xfrm>
            <a:off x="548640" y="2569464"/>
            <a:ext cx="5410048" cy="82296"/>
          </a:xfrm>
          <a:prstGeom prst="rect">
            <a:avLst/>
          </a:prstGeom>
          <a:solidFill>
            <a:srgbClr val="2E5AAC"/>
          </a:solidFill>
          <a:ln/>
        </p:spPr>
      </p:sp>
      <p:sp>
        <p:nvSpPr>
          <p:cNvPr id="17" name="Text 14"/>
          <p:cNvSpPr/>
          <p:nvPr/>
        </p:nvSpPr>
        <p:spPr>
          <a:xfrm>
            <a:off x="731520" y="27523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One chart, one message</a:t>
            </a:r>
            <a:endParaRPr lang="en-US" sz="1300" dirty="0"/>
          </a:p>
        </p:txBody>
      </p:sp>
      <p:sp>
        <p:nvSpPr>
          <p:cNvPr id="18" name="Text 15"/>
          <p:cNvSpPr/>
          <p:nvPr/>
        </p:nvSpPr>
        <p:spPr>
          <a:xfrm>
            <a:off x="731520" y="3118104"/>
            <a:ext cx="504428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The takeaway title is the sentence the audience should think; the chart is the evidence.</a:t>
            </a:r>
            <a:endParaRPr lang="en-US" sz="1050" dirty="0"/>
          </a:p>
        </p:txBody>
      </p:sp>
      <p:sp>
        <p:nvSpPr>
          <p:cNvPr id="19" name="Shape 16"/>
          <p:cNvSpPr/>
          <p:nvPr/>
        </p:nvSpPr>
        <p:spPr>
          <a:xfrm>
            <a:off x="6233008" y="2569464"/>
            <a:ext cx="5410048" cy="996696"/>
          </a:xfrm>
          <a:prstGeom prst="roundRect">
            <a:avLst>
              <a:gd name="adj" fmla="val 7339"/>
            </a:avLst>
          </a:prstGeom>
          <a:solidFill>
            <a:srgbClr val="FFFFFF"/>
          </a:solidFill>
          <a:ln w="12700">
            <a:solidFill>
              <a:srgbClr val="D9DEE8"/>
            </a:solidFill>
            <a:prstDash val="solid"/>
          </a:ln>
        </p:spPr>
      </p:sp>
      <p:sp>
        <p:nvSpPr>
          <p:cNvPr id="20" name="Shape 17"/>
          <p:cNvSpPr/>
          <p:nvPr/>
        </p:nvSpPr>
        <p:spPr>
          <a:xfrm>
            <a:off x="6233008" y="2569464"/>
            <a:ext cx="5410048" cy="82296"/>
          </a:xfrm>
          <a:prstGeom prst="rect">
            <a:avLst/>
          </a:prstGeom>
          <a:solidFill>
            <a:srgbClr val="00A79D"/>
          </a:solidFill>
          <a:ln/>
        </p:spPr>
      </p:sp>
      <p:sp>
        <p:nvSpPr>
          <p:cNvPr id="21" name="Text 18"/>
          <p:cNvSpPr/>
          <p:nvPr/>
        </p:nvSpPr>
        <p:spPr>
          <a:xfrm>
            <a:off x="6415888" y="27523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Progressive reveal / build</a:t>
            </a:r>
            <a:endParaRPr lang="en-US" sz="1300" dirty="0"/>
          </a:p>
        </p:txBody>
      </p:sp>
      <p:sp>
        <p:nvSpPr>
          <p:cNvPr id="22" name="Text 19"/>
          <p:cNvSpPr/>
          <p:nvPr/>
        </p:nvSpPr>
        <p:spPr>
          <a:xfrm>
            <a:off x="6415888" y="3118104"/>
            <a:ext cx="504428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Introduce a complex chart in layers — trend, then the target line, then the laggards — one thought at a time.</a:t>
            </a:r>
            <a:endParaRPr lang="en-US" sz="1050" dirty="0"/>
          </a:p>
        </p:txBody>
      </p:sp>
      <p:sp>
        <p:nvSpPr>
          <p:cNvPr id="23" name="Shape 20"/>
          <p:cNvSpPr/>
          <p:nvPr/>
        </p:nvSpPr>
        <p:spPr>
          <a:xfrm>
            <a:off x="548640" y="3803904"/>
            <a:ext cx="5410048" cy="996696"/>
          </a:xfrm>
          <a:prstGeom prst="roundRect">
            <a:avLst>
              <a:gd name="adj" fmla="val 7339"/>
            </a:avLst>
          </a:prstGeom>
          <a:solidFill>
            <a:srgbClr val="FFFFFF"/>
          </a:solidFill>
          <a:ln w="12700">
            <a:solidFill>
              <a:srgbClr val="D9DEE8"/>
            </a:solidFill>
            <a:prstDash val="solid"/>
          </a:ln>
        </p:spPr>
      </p:sp>
      <p:sp>
        <p:nvSpPr>
          <p:cNvPr id="24" name="Shape 21"/>
          <p:cNvSpPr/>
          <p:nvPr/>
        </p:nvSpPr>
        <p:spPr>
          <a:xfrm>
            <a:off x="548640" y="3803904"/>
            <a:ext cx="5410048" cy="82296"/>
          </a:xfrm>
          <a:prstGeom prst="rect">
            <a:avLst/>
          </a:prstGeom>
          <a:solidFill>
            <a:srgbClr val="E8833A"/>
          </a:solidFill>
          <a:ln/>
        </p:spPr>
      </p:sp>
      <p:sp>
        <p:nvSpPr>
          <p:cNvPr id="25" name="Text 22"/>
          <p:cNvSpPr/>
          <p:nvPr/>
        </p:nvSpPr>
        <p:spPr>
          <a:xfrm>
            <a:off x="731520" y="398678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Highlight and mute</a:t>
            </a:r>
            <a:endParaRPr lang="en-US" sz="1300" dirty="0"/>
          </a:p>
        </p:txBody>
      </p:sp>
      <p:sp>
        <p:nvSpPr>
          <p:cNvPr id="26" name="Text 23"/>
          <p:cNvSpPr/>
          <p:nvPr/>
        </p:nvSpPr>
        <p:spPr>
          <a:xfrm>
            <a:off x="731520" y="4352544"/>
            <a:ext cx="504428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The same regional bar becomes a new scene each time by highlighting a different region.</a:t>
            </a:r>
            <a:endParaRPr lang="en-US" sz="1050" dirty="0"/>
          </a:p>
        </p:txBody>
      </p:sp>
      <p:sp>
        <p:nvSpPr>
          <p:cNvPr id="27" name="Shape 24"/>
          <p:cNvSpPr/>
          <p:nvPr/>
        </p:nvSpPr>
        <p:spPr>
          <a:xfrm>
            <a:off x="6233008" y="3803904"/>
            <a:ext cx="5410048" cy="996696"/>
          </a:xfrm>
          <a:prstGeom prst="roundRect">
            <a:avLst>
              <a:gd name="adj" fmla="val 7339"/>
            </a:avLst>
          </a:prstGeom>
          <a:solidFill>
            <a:srgbClr val="FFFFFF"/>
          </a:solidFill>
          <a:ln w="12700">
            <a:solidFill>
              <a:srgbClr val="D9DEE8"/>
            </a:solidFill>
            <a:prstDash val="solid"/>
          </a:ln>
        </p:spPr>
      </p:sp>
      <p:sp>
        <p:nvSpPr>
          <p:cNvPr id="28" name="Shape 25"/>
          <p:cNvSpPr/>
          <p:nvPr/>
        </p:nvSpPr>
        <p:spPr>
          <a:xfrm>
            <a:off x="6233008" y="3803904"/>
            <a:ext cx="5410048" cy="82296"/>
          </a:xfrm>
          <a:prstGeom prst="rect">
            <a:avLst/>
          </a:prstGeom>
          <a:solidFill>
            <a:srgbClr val="6C4FA1"/>
          </a:solidFill>
          <a:ln/>
        </p:spPr>
      </p:sp>
      <p:sp>
        <p:nvSpPr>
          <p:cNvPr id="29" name="Text 26"/>
          <p:cNvSpPr/>
          <p:nvPr/>
        </p:nvSpPr>
        <p:spPr>
          <a:xfrm>
            <a:off x="6415888" y="398678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Callouts carry the argument</a:t>
            </a:r>
            <a:endParaRPr lang="en-US" sz="1300" dirty="0"/>
          </a:p>
        </p:txBody>
      </p:sp>
      <p:sp>
        <p:nvSpPr>
          <p:cNvPr id="30" name="Text 27"/>
          <p:cNvSpPr/>
          <p:nvPr/>
        </p:nvSpPr>
        <p:spPr>
          <a:xfrm>
            <a:off x="6415888" y="4553712"/>
            <a:ext cx="5044288" cy="137160"/>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'Najran plateaued after the March outage' annotated on the point, so the slide survives being forwarded.</a:t>
            </a:r>
            <a:endParaRPr lang="en-US" sz="1050" dirty="0"/>
          </a:p>
        </p:txBody>
      </p:sp>
      <p:sp>
        <p:nvSpPr>
          <p:cNvPr id="31" name="Shape 28"/>
          <p:cNvSpPr/>
          <p:nvPr/>
        </p:nvSpPr>
        <p:spPr>
          <a:xfrm>
            <a:off x="548640" y="5038344"/>
            <a:ext cx="5410048" cy="996696"/>
          </a:xfrm>
          <a:prstGeom prst="roundRect">
            <a:avLst>
              <a:gd name="adj" fmla="val 7339"/>
            </a:avLst>
          </a:prstGeom>
          <a:solidFill>
            <a:srgbClr val="FFFFFF"/>
          </a:solidFill>
          <a:ln w="12700">
            <a:solidFill>
              <a:srgbClr val="D9DEE8"/>
            </a:solidFill>
            <a:prstDash val="solid"/>
          </a:ln>
        </p:spPr>
      </p:sp>
      <p:sp>
        <p:nvSpPr>
          <p:cNvPr id="32" name="Shape 29"/>
          <p:cNvSpPr/>
          <p:nvPr/>
        </p:nvSpPr>
        <p:spPr>
          <a:xfrm>
            <a:off x="548640" y="5038344"/>
            <a:ext cx="5410048" cy="82296"/>
          </a:xfrm>
          <a:prstGeom prst="rect">
            <a:avLst/>
          </a:prstGeom>
          <a:solidFill>
            <a:srgbClr val="3FAE5A"/>
          </a:solidFill>
          <a:ln/>
        </p:spPr>
      </p:sp>
      <p:sp>
        <p:nvSpPr>
          <p:cNvPr id="33" name="Text 30"/>
          <p:cNvSpPr/>
          <p:nvPr/>
        </p:nvSpPr>
        <p:spPr>
          <a:xfrm>
            <a:off x="731520" y="522122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Sequence is argument</a:t>
            </a:r>
            <a:endParaRPr lang="en-US" sz="1300" dirty="0"/>
          </a:p>
        </p:txBody>
      </p:sp>
      <p:sp>
        <p:nvSpPr>
          <p:cNvPr id="34" name="Text 31"/>
          <p:cNvSpPr/>
          <p:nvPr/>
        </p:nvSpPr>
        <p:spPr>
          <a:xfrm>
            <a:off x="731520" y="5586984"/>
            <a:ext cx="5044288" cy="33832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Each scene sets up the next: the trend creates the question the breakdown answers, which creates the recommendation.</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BLUF &amp; THE ARC</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seven-slide executive arc</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136</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BLUF — executives may not reach slide seven, so put the recommendation first, then support it. The single test: does this advance the decision?</a:t>
            </a:r>
            <a:endParaRPr lang="en-US" sz="1250" dirty="0"/>
          </a:p>
        </p:txBody>
      </p:sp>
      <p:sp>
        <p:nvSpPr>
          <p:cNvPr id="15" name="Shape 12"/>
          <p:cNvSpPr/>
          <p:nvPr/>
        </p:nvSpPr>
        <p:spPr>
          <a:xfrm>
            <a:off x="548640" y="2542032"/>
            <a:ext cx="11094415" cy="389273"/>
          </a:xfrm>
          <a:prstGeom prst="roundRect">
            <a:avLst>
              <a:gd name="adj" fmla="val 16443"/>
            </a:avLst>
          </a:prstGeom>
          <a:solidFill>
            <a:srgbClr val="EAF0FA"/>
          </a:solidFill>
          <a:ln w="15240">
            <a:solidFill>
              <a:srgbClr val="2E5AAC"/>
            </a:solidFill>
            <a:prstDash val="solid"/>
          </a:ln>
        </p:spPr>
      </p:sp>
      <p:sp>
        <p:nvSpPr>
          <p:cNvPr id="16" name="Shape 13"/>
          <p:cNvSpPr/>
          <p:nvPr/>
        </p:nvSpPr>
        <p:spPr>
          <a:xfrm>
            <a:off x="694944" y="2553789"/>
            <a:ext cx="365760" cy="365760"/>
          </a:xfrm>
          <a:prstGeom prst="ellipse">
            <a:avLst/>
          </a:prstGeom>
          <a:solidFill>
            <a:srgbClr val="2E5AAC"/>
          </a:solidFill>
          <a:ln/>
        </p:spPr>
      </p:sp>
      <p:sp>
        <p:nvSpPr>
          <p:cNvPr id="17" name="Text 14"/>
          <p:cNvSpPr/>
          <p:nvPr/>
        </p:nvSpPr>
        <p:spPr>
          <a:xfrm>
            <a:off x="694944" y="2553789"/>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8" name="Text 15"/>
          <p:cNvSpPr/>
          <p:nvPr/>
        </p:nvSpPr>
        <p:spPr>
          <a:xfrm>
            <a:off x="1188720" y="2542032"/>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BLUF / the ask  </a:t>
            </a:r>
            <a:r>
              <a:rPr lang="en-US" sz="1150" dirty="0">
                <a:solidFill>
                  <a:srgbClr val="343A4E"/>
                </a:solidFill>
                <a:latin typeface="Arial" pitchFamily="34" charset="0"/>
                <a:ea typeface="Arial" pitchFamily="34" charset="-122"/>
                <a:cs typeface="Arial" pitchFamily="34" charset="-120"/>
              </a:rPr>
              <a:t>The recommendation stated up front.</a:t>
            </a:r>
            <a:endParaRPr lang="en-US" sz="1300" dirty="0"/>
          </a:p>
        </p:txBody>
      </p:sp>
      <p:sp>
        <p:nvSpPr>
          <p:cNvPr id="19" name="Shape 16"/>
          <p:cNvSpPr/>
          <p:nvPr/>
        </p:nvSpPr>
        <p:spPr>
          <a:xfrm>
            <a:off x="548640" y="3059321"/>
            <a:ext cx="11094415" cy="389273"/>
          </a:xfrm>
          <a:prstGeom prst="roundRect">
            <a:avLst>
              <a:gd name="adj" fmla="val 16443"/>
            </a:avLst>
          </a:prstGeom>
          <a:solidFill>
            <a:srgbClr val="E6F5F4"/>
          </a:solidFill>
          <a:ln w="15240">
            <a:solidFill>
              <a:srgbClr val="00A79D"/>
            </a:solidFill>
            <a:prstDash val="solid"/>
          </a:ln>
        </p:spPr>
      </p:sp>
      <p:sp>
        <p:nvSpPr>
          <p:cNvPr id="20" name="Shape 17"/>
          <p:cNvSpPr/>
          <p:nvPr/>
        </p:nvSpPr>
        <p:spPr>
          <a:xfrm>
            <a:off x="694944" y="3071078"/>
            <a:ext cx="365760" cy="365760"/>
          </a:xfrm>
          <a:prstGeom prst="ellipse">
            <a:avLst/>
          </a:prstGeom>
          <a:solidFill>
            <a:srgbClr val="00A79D"/>
          </a:solidFill>
          <a:ln/>
        </p:spPr>
      </p:sp>
      <p:sp>
        <p:nvSpPr>
          <p:cNvPr id="21" name="Text 18"/>
          <p:cNvSpPr/>
          <p:nvPr/>
        </p:nvSpPr>
        <p:spPr>
          <a:xfrm>
            <a:off x="694944" y="307107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Text 19"/>
          <p:cNvSpPr/>
          <p:nvPr/>
        </p:nvSpPr>
        <p:spPr>
          <a:xfrm>
            <a:off x="1188720" y="3059321"/>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Situation  </a:t>
            </a:r>
            <a:r>
              <a:rPr lang="en-US" sz="1150" dirty="0">
                <a:solidFill>
                  <a:srgbClr val="343A4E"/>
                </a:solidFill>
                <a:latin typeface="Arial" pitchFamily="34" charset="0"/>
                <a:ea typeface="Arial" pitchFamily="34" charset="-122"/>
                <a:cs typeface="Arial" pitchFamily="34" charset="-120"/>
              </a:rPr>
              <a:t>Where the program stands.</a:t>
            </a:r>
            <a:endParaRPr lang="en-US" sz="1300" dirty="0"/>
          </a:p>
        </p:txBody>
      </p:sp>
      <p:sp>
        <p:nvSpPr>
          <p:cNvPr id="23" name="Shape 20"/>
          <p:cNvSpPr/>
          <p:nvPr/>
        </p:nvSpPr>
        <p:spPr>
          <a:xfrm>
            <a:off x="548640" y="3576610"/>
            <a:ext cx="11094415" cy="389273"/>
          </a:xfrm>
          <a:prstGeom prst="roundRect">
            <a:avLst>
              <a:gd name="adj" fmla="val 16443"/>
            </a:avLst>
          </a:prstGeom>
          <a:solidFill>
            <a:srgbClr val="FCF0E6"/>
          </a:solidFill>
          <a:ln w="15240">
            <a:solidFill>
              <a:srgbClr val="E8833A"/>
            </a:solidFill>
            <a:prstDash val="solid"/>
          </a:ln>
        </p:spPr>
      </p:sp>
      <p:sp>
        <p:nvSpPr>
          <p:cNvPr id="24" name="Shape 21"/>
          <p:cNvSpPr/>
          <p:nvPr/>
        </p:nvSpPr>
        <p:spPr>
          <a:xfrm>
            <a:off x="694944" y="3588367"/>
            <a:ext cx="365760" cy="365760"/>
          </a:xfrm>
          <a:prstGeom prst="ellipse">
            <a:avLst/>
          </a:prstGeom>
          <a:solidFill>
            <a:srgbClr val="E8833A"/>
          </a:solidFill>
          <a:ln/>
        </p:spPr>
      </p:sp>
      <p:sp>
        <p:nvSpPr>
          <p:cNvPr id="25" name="Text 22"/>
          <p:cNvSpPr/>
          <p:nvPr/>
        </p:nvSpPr>
        <p:spPr>
          <a:xfrm>
            <a:off x="694944" y="3588367"/>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3"/>
          <p:cNvSpPr/>
          <p:nvPr/>
        </p:nvSpPr>
        <p:spPr>
          <a:xfrm>
            <a:off x="1188720" y="3576610"/>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Complication  </a:t>
            </a:r>
            <a:r>
              <a:rPr lang="en-US" sz="1150" dirty="0">
                <a:solidFill>
                  <a:srgbClr val="343A4E"/>
                </a:solidFill>
                <a:latin typeface="Arial" pitchFamily="34" charset="0"/>
                <a:ea typeface="Arial" pitchFamily="34" charset="-122"/>
                <a:cs typeface="Arial" pitchFamily="34" charset="-120"/>
              </a:rPr>
              <a:t>The three lagging regions.</a:t>
            </a:r>
            <a:endParaRPr lang="en-US" sz="1300" dirty="0"/>
          </a:p>
        </p:txBody>
      </p:sp>
      <p:sp>
        <p:nvSpPr>
          <p:cNvPr id="27" name="Shape 24"/>
          <p:cNvSpPr/>
          <p:nvPr/>
        </p:nvSpPr>
        <p:spPr>
          <a:xfrm>
            <a:off x="548640" y="4093899"/>
            <a:ext cx="11094415" cy="389273"/>
          </a:xfrm>
          <a:prstGeom prst="roundRect">
            <a:avLst>
              <a:gd name="adj" fmla="val 16443"/>
            </a:avLst>
          </a:prstGeom>
          <a:solidFill>
            <a:srgbClr val="EFEBF6"/>
          </a:solidFill>
          <a:ln w="15240">
            <a:solidFill>
              <a:srgbClr val="6C4FA1"/>
            </a:solidFill>
            <a:prstDash val="solid"/>
          </a:ln>
        </p:spPr>
      </p:sp>
      <p:sp>
        <p:nvSpPr>
          <p:cNvPr id="28" name="Shape 25"/>
          <p:cNvSpPr/>
          <p:nvPr/>
        </p:nvSpPr>
        <p:spPr>
          <a:xfrm>
            <a:off x="694944" y="4105656"/>
            <a:ext cx="365760" cy="365760"/>
          </a:xfrm>
          <a:prstGeom prst="ellipse">
            <a:avLst/>
          </a:prstGeom>
          <a:solidFill>
            <a:srgbClr val="6C4FA1"/>
          </a:solidFill>
          <a:ln/>
        </p:spPr>
      </p:sp>
      <p:sp>
        <p:nvSpPr>
          <p:cNvPr id="29" name="Text 26"/>
          <p:cNvSpPr/>
          <p:nvPr/>
        </p:nvSpPr>
        <p:spPr>
          <a:xfrm>
            <a:off x="694944" y="4105656"/>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7"/>
          <p:cNvSpPr/>
          <p:nvPr/>
        </p:nvSpPr>
        <p:spPr>
          <a:xfrm>
            <a:off x="1188720" y="4093899"/>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Evidence  </a:t>
            </a:r>
            <a:r>
              <a:rPr lang="en-US" sz="1150" dirty="0">
                <a:solidFill>
                  <a:srgbClr val="343A4E"/>
                </a:solidFill>
                <a:latin typeface="Arial" pitchFamily="34" charset="0"/>
                <a:ea typeface="Arial" pitchFamily="34" charset="-122"/>
                <a:cs typeface="Arial" pitchFamily="34" charset="-120"/>
              </a:rPr>
              <a:t>Why they lag — the outage, the channel gap.</a:t>
            </a:r>
            <a:endParaRPr lang="en-US" sz="1300" dirty="0"/>
          </a:p>
        </p:txBody>
      </p:sp>
      <p:sp>
        <p:nvSpPr>
          <p:cNvPr id="31" name="Shape 28"/>
          <p:cNvSpPr/>
          <p:nvPr/>
        </p:nvSpPr>
        <p:spPr>
          <a:xfrm>
            <a:off x="548640" y="4611189"/>
            <a:ext cx="11094415" cy="389273"/>
          </a:xfrm>
          <a:prstGeom prst="roundRect">
            <a:avLst>
              <a:gd name="adj" fmla="val 16443"/>
            </a:avLst>
          </a:prstGeom>
          <a:solidFill>
            <a:srgbClr val="E9F5EC"/>
          </a:solidFill>
          <a:ln w="15240">
            <a:solidFill>
              <a:srgbClr val="3FAE5A"/>
            </a:solidFill>
            <a:prstDash val="solid"/>
          </a:ln>
        </p:spPr>
      </p:sp>
      <p:sp>
        <p:nvSpPr>
          <p:cNvPr id="32" name="Shape 29"/>
          <p:cNvSpPr/>
          <p:nvPr/>
        </p:nvSpPr>
        <p:spPr>
          <a:xfrm>
            <a:off x="694944" y="4622945"/>
            <a:ext cx="365760" cy="365760"/>
          </a:xfrm>
          <a:prstGeom prst="ellipse">
            <a:avLst/>
          </a:prstGeom>
          <a:solidFill>
            <a:srgbClr val="3FAE5A"/>
          </a:solidFill>
          <a:ln/>
        </p:spPr>
      </p:sp>
      <p:sp>
        <p:nvSpPr>
          <p:cNvPr id="33" name="Text 30"/>
          <p:cNvSpPr/>
          <p:nvPr/>
        </p:nvSpPr>
        <p:spPr>
          <a:xfrm>
            <a:off x="694944" y="4622945"/>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4" name="Text 31"/>
          <p:cNvSpPr/>
          <p:nvPr/>
        </p:nvSpPr>
        <p:spPr>
          <a:xfrm>
            <a:off x="1188720" y="4611189"/>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Options  </a:t>
            </a:r>
            <a:r>
              <a:rPr lang="en-US" sz="1150" dirty="0">
                <a:solidFill>
                  <a:srgbClr val="343A4E"/>
                </a:solidFill>
                <a:latin typeface="Arial" pitchFamily="34" charset="0"/>
                <a:ea typeface="Arial" pitchFamily="34" charset="-122"/>
                <a:cs typeface="Arial" pitchFamily="34" charset="-120"/>
              </a:rPr>
              <a:t>The three uses of SAR 40M, compared.</a:t>
            </a:r>
            <a:endParaRPr lang="en-US" sz="1300" dirty="0"/>
          </a:p>
        </p:txBody>
      </p:sp>
      <p:sp>
        <p:nvSpPr>
          <p:cNvPr id="35" name="Shape 32"/>
          <p:cNvSpPr/>
          <p:nvPr/>
        </p:nvSpPr>
        <p:spPr>
          <a:xfrm>
            <a:off x="548640" y="5128478"/>
            <a:ext cx="11094415" cy="389273"/>
          </a:xfrm>
          <a:prstGeom prst="roundRect">
            <a:avLst>
              <a:gd name="adj" fmla="val 16443"/>
            </a:avLst>
          </a:prstGeom>
          <a:solidFill>
            <a:srgbClr val="E7F5FC"/>
          </a:solidFill>
          <a:ln w="15240">
            <a:solidFill>
              <a:srgbClr val="29ABE2"/>
            </a:solidFill>
            <a:prstDash val="solid"/>
          </a:ln>
        </p:spPr>
      </p:sp>
      <p:sp>
        <p:nvSpPr>
          <p:cNvPr id="36" name="Shape 33"/>
          <p:cNvSpPr/>
          <p:nvPr/>
        </p:nvSpPr>
        <p:spPr>
          <a:xfrm>
            <a:off x="694944" y="5140234"/>
            <a:ext cx="365760" cy="365760"/>
          </a:xfrm>
          <a:prstGeom prst="ellipse">
            <a:avLst/>
          </a:prstGeom>
          <a:solidFill>
            <a:srgbClr val="29ABE2"/>
          </a:solidFill>
          <a:ln/>
        </p:spPr>
      </p:sp>
      <p:sp>
        <p:nvSpPr>
          <p:cNvPr id="37" name="Text 34"/>
          <p:cNvSpPr/>
          <p:nvPr/>
        </p:nvSpPr>
        <p:spPr>
          <a:xfrm>
            <a:off x="694944" y="5140234"/>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8" name="Text 35"/>
          <p:cNvSpPr/>
          <p:nvPr/>
        </p:nvSpPr>
        <p:spPr>
          <a:xfrm>
            <a:off x="1188720" y="5128478"/>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Recommendation  </a:t>
            </a:r>
            <a:r>
              <a:rPr lang="en-US" sz="1150" dirty="0">
                <a:solidFill>
                  <a:srgbClr val="343A4E"/>
                </a:solidFill>
                <a:latin typeface="Arial" pitchFamily="34" charset="0"/>
                <a:ea typeface="Arial" pitchFamily="34" charset="-122"/>
                <a:cs typeface="Arial" pitchFamily="34" charset="-120"/>
              </a:rPr>
              <a:t>The chosen option and its expected effect.</a:t>
            </a:r>
            <a:endParaRPr lang="en-US" sz="1300" dirty="0"/>
          </a:p>
        </p:txBody>
      </p:sp>
      <p:sp>
        <p:nvSpPr>
          <p:cNvPr id="39" name="Shape 36"/>
          <p:cNvSpPr/>
          <p:nvPr/>
        </p:nvSpPr>
        <p:spPr>
          <a:xfrm>
            <a:off x="548640" y="5645767"/>
            <a:ext cx="11094415" cy="389273"/>
          </a:xfrm>
          <a:prstGeom prst="roundRect">
            <a:avLst>
              <a:gd name="adj" fmla="val 16443"/>
            </a:avLst>
          </a:prstGeom>
          <a:solidFill>
            <a:srgbClr val="FBECEC"/>
          </a:solidFill>
          <a:ln w="15240">
            <a:solidFill>
              <a:srgbClr val="D9534F"/>
            </a:solidFill>
            <a:prstDash val="solid"/>
          </a:ln>
        </p:spPr>
      </p:sp>
      <p:sp>
        <p:nvSpPr>
          <p:cNvPr id="40" name="Shape 37"/>
          <p:cNvSpPr/>
          <p:nvPr/>
        </p:nvSpPr>
        <p:spPr>
          <a:xfrm>
            <a:off x="694944" y="5657523"/>
            <a:ext cx="365760" cy="365760"/>
          </a:xfrm>
          <a:prstGeom prst="ellipse">
            <a:avLst/>
          </a:prstGeom>
          <a:solidFill>
            <a:srgbClr val="D9534F"/>
          </a:solidFill>
          <a:ln/>
        </p:spPr>
      </p:sp>
      <p:sp>
        <p:nvSpPr>
          <p:cNvPr id="41" name="Text 38"/>
          <p:cNvSpPr/>
          <p:nvPr/>
        </p:nvSpPr>
        <p:spPr>
          <a:xfrm>
            <a:off x="694944" y="5657523"/>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2" name="Text 39"/>
          <p:cNvSpPr/>
          <p:nvPr/>
        </p:nvSpPr>
        <p:spPr>
          <a:xfrm>
            <a:off x="1188720" y="5645767"/>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The ask + next step  </a:t>
            </a:r>
            <a:r>
              <a:rPr lang="en-US" sz="1150" dirty="0">
                <a:solidFill>
                  <a:srgbClr val="343A4E"/>
                </a:solidFill>
                <a:latin typeface="Arial" pitchFamily="34" charset="0"/>
                <a:ea typeface="Arial" pitchFamily="34" charset="-122"/>
                <a:cs typeface="Arial" pitchFamily="34" charset="-120"/>
              </a:rPr>
              <a:t>Appendix holds dashboard and methodology for Q&amp;A.</a:t>
            </a:r>
            <a:endParaRPr lang="en-US" sz="13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NARRATIVE SCENES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Turn one chart into a sequence of scenes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137</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notebooks/m5_story_scenes.ipynb</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TARGET = 65.0</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reg = latest_adoption_by_region(df)   # sorted, one/region</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laggards = reg[reg.adoption &lt; TARGET]["region"].tolist()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def scene(highlight, title, fname):</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"""Highlight this point's regions, grey the rest."""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colors = [ACCENT if r in highlight else GREY</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for r in reg["region"]]</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fig, ax = plt.subplots(figsize=(8, 5))</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ax.barh(reg["region"], reg["adoption"], color=colors)</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ax.axvline(TARGET, color="#333", ls="--", lw=1)</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ax.set_title(title, fontsize=13)  # takeaway=thought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fig.savefig(f"out/{fname}", dpi=150)</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Scene 2 (situation): nothing highlighted.</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scene([], "Most regions clear the 65% target",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"m5_scene_situation.png")</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Scene 3 (complication): highlight the laggards.</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scene(laggards, "But three regions sit below target",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"m5_scene_complication.png")</a:t>
            </a:r>
            <a:endParaRPr lang="en-US" sz="900" dirty="0"/>
          </a:p>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Scene 4 (evidence): highlight just Najran.</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scene(["Najran"], "Najran plateaued after the outage",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"m5_scene_evidence.png")</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One builder, three scenes: same chart, different highlight and title.</a:t>
            </a:r>
            <a:endParaRPr lang="en-US" sz="11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STORYBOARD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seven-slide arc as a checkable spec</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138</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story/tayseer_storyboard.py</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from dataclasses import dataclass</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@dataclass</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class Scene: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n: int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arc_role: str          # SCR role or 'BLUF'/'ask'</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message: str           # the ONE sentence = the title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advances_decision: bool</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STORYBOARD =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Scene(1, "BLUF", "Invest SAR 40M in 3 regions", True),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Scene(2, "situation", "Most clear 65%", True),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Scene(3, "complication", "Three below target", True),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Scene(4, "evidence", "Najran: March outage", True),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Scene(5, "options", "SAR 40M: three uses", True),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Scene(6, "resolution", "Regions close gap fastest", True),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Scene(7, "ask", "Approve; review in 90 days", True),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def audit(sb):</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assert sb[0].arc_role == "BLUF", "Recommendation leads."</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weak = [s.n for s in sb if not s.advances_decision]</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assert not weak, f"Not advancing -&gt; appendix: {weak}"</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assert len(sb) &lt;= 7, "Arc is 7 scenes; rest appendix."</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audit() fails if the recommendation isn't first or a slide doesn't advance.</a:t>
            </a:r>
            <a:endParaRPr lang="en-US" sz="11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HANDS-ON LAB</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Lab 5 — Storyboard the Tayseer Narrative</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لوحة السرد</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139</a:t>
            </a:r>
            <a:endParaRPr lang="en-US" sz="800" dirty="0"/>
          </a:p>
        </p:txBody>
      </p:sp>
      <p:sp>
        <p:nvSpPr>
          <p:cNvPr id="15" name="Shape 12"/>
          <p:cNvSpPr/>
          <p:nvPr/>
        </p:nvSpPr>
        <p:spPr>
          <a:xfrm>
            <a:off x="548640" y="2331720"/>
            <a:ext cx="11094415" cy="1234440"/>
          </a:xfrm>
          <a:prstGeom prst="roundRect">
            <a:avLst>
              <a:gd name="adj" fmla="val 5926"/>
            </a:avLst>
          </a:prstGeom>
          <a:solidFill>
            <a:srgbClr val="EAF0FA"/>
          </a:solidFill>
          <a:ln w="12700">
            <a:solidFill>
              <a:srgbClr val="2E5AAC"/>
            </a:solidFill>
            <a:prstDash val="solid"/>
          </a:ln>
        </p:spPr>
      </p:sp>
      <p:sp>
        <p:nvSpPr>
          <p:cNvPr id="16" name="Text 13"/>
          <p:cNvSpPr/>
          <p:nvPr/>
        </p:nvSpPr>
        <p:spPr>
          <a:xfrm>
            <a:off x="777240" y="2450592"/>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OBJECTIVE  </a:t>
            </a:r>
            <a:r>
              <a:rPr lang="en-US" sz="1100" dirty="0">
                <a:solidFill>
                  <a:srgbClr val="343A4E"/>
                </a:solidFill>
                <a:latin typeface="Arial" pitchFamily="34" charset="0"/>
                <a:ea typeface="Arial" pitchFamily="34" charset="-122"/>
                <a:cs typeface="Arial" pitchFamily="34" charset="-120"/>
              </a:rPr>
              <a:t>Turn Module 4 findings into a storyboarded seven-slide executive arc on one Big Idea — each chart an annotation-led scene, plus a BLUF memo.</a:t>
            </a:r>
            <a:endParaRPr lang="en-US" sz="1100" dirty="0"/>
          </a:p>
        </p:txBody>
      </p:sp>
      <p:sp>
        <p:nvSpPr>
          <p:cNvPr id="17" name="Text 14"/>
          <p:cNvSpPr/>
          <p:nvPr/>
        </p:nvSpPr>
        <p:spPr>
          <a:xfrm>
            <a:off x="777240" y="2907792"/>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DURATION  </a:t>
            </a:r>
            <a:r>
              <a:rPr lang="en-US" sz="1100" dirty="0">
                <a:solidFill>
                  <a:srgbClr val="343A4E"/>
                </a:solidFill>
                <a:latin typeface="Arial" pitchFamily="34" charset="0"/>
                <a:ea typeface="Arial" pitchFamily="34" charset="-122"/>
                <a:cs typeface="Arial" pitchFamily="34" charset="-120"/>
              </a:rPr>
              <a:t>50 minutes</a:t>
            </a:r>
            <a:endParaRPr lang="en-US" sz="1100" dirty="0"/>
          </a:p>
        </p:txBody>
      </p:sp>
      <p:sp>
        <p:nvSpPr>
          <p:cNvPr id="18" name="Text 15"/>
          <p:cNvSpPr/>
          <p:nvPr/>
        </p:nvSpPr>
        <p:spPr>
          <a:xfrm>
            <a:off x="777240" y="3255264"/>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SETUP  </a:t>
            </a:r>
            <a:r>
              <a:rPr lang="en-US" sz="1100" dirty="0">
                <a:solidFill>
                  <a:srgbClr val="343A4E"/>
                </a:solidFill>
                <a:latin typeface="Arial" pitchFamily="34" charset="0"/>
                <a:ea typeface="Arial" pitchFamily="34" charset="-122"/>
                <a:cs typeface="Arial" pitchFamily="34" charset="-120"/>
              </a:rPr>
              <a:t>tayseer_services.csv, the Module 4 dashboard/findings, src/viz/theme.py and story/ starter; git checkout lab5_start.</a:t>
            </a:r>
            <a:endParaRPr lang="en-US" sz="1100" dirty="0"/>
          </a:p>
        </p:txBody>
      </p:sp>
      <p:sp>
        <p:nvSpPr>
          <p:cNvPr id="19" name="Text 16"/>
          <p:cNvSpPr/>
          <p:nvPr/>
        </p:nvSpPr>
        <p:spPr>
          <a:xfrm>
            <a:off x="548640" y="3703320"/>
            <a:ext cx="4572000" cy="274320"/>
          </a:xfrm>
          <a:prstGeom prst="rect">
            <a:avLst/>
          </a:prstGeom>
          <a:noFill/>
          <a:ln/>
        </p:spPr>
        <p:txBody>
          <a:bodyPr wrap="square" rtlCol="0" anchor="ctr"/>
          <a:lstStyle/>
          <a:p>
            <a:pPr marL="0" indent="0">
              <a:buNone/>
            </a:pPr>
            <a:r>
              <a:rPr lang="en-US" sz="1200" b="1" kern="0" spc="100" dirty="0">
                <a:solidFill>
                  <a:srgbClr val="1D2A5C"/>
                </a:solidFill>
                <a:latin typeface="Arial" pitchFamily="34" charset="0"/>
                <a:ea typeface="Arial" pitchFamily="34" charset="-122"/>
                <a:cs typeface="Arial" pitchFamily="34" charset="-120"/>
              </a:rPr>
              <a:t>TASKS</a:t>
            </a:r>
            <a:endParaRPr lang="en-US" sz="1200" dirty="0"/>
          </a:p>
        </p:txBody>
      </p:sp>
      <p:sp>
        <p:nvSpPr>
          <p:cNvPr id="20" name="Shape 17"/>
          <p:cNvSpPr/>
          <p:nvPr/>
        </p:nvSpPr>
        <p:spPr>
          <a:xfrm>
            <a:off x="548640" y="4087368"/>
            <a:ext cx="292608" cy="292608"/>
          </a:xfrm>
          <a:prstGeom prst="ellipse">
            <a:avLst/>
          </a:prstGeom>
          <a:solidFill>
            <a:srgbClr val="2E5AAC"/>
          </a:solidFill>
          <a:ln/>
        </p:spPr>
      </p:sp>
      <p:sp>
        <p:nvSpPr>
          <p:cNvPr id="21" name="Text 18"/>
          <p:cNvSpPr/>
          <p:nvPr/>
        </p:nvSpPr>
        <p:spPr>
          <a:xfrm>
            <a:off x="548640" y="408736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19"/>
          <p:cNvSpPr/>
          <p:nvPr/>
        </p:nvSpPr>
        <p:spPr>
          <a:xfrm>
            <a:off x="960120" y="4069080"/>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Answer the four framing questions in framing.md: audience, decision, Big Idea, and the anticipated objection.</a:t>
            </a:r>
            <a:endParaRPr lang="en-US" sz="1100" dirty="0"/>
          </a:p>
        </p:txBody>
      </p:sp>
      <p:sp>
        <p:nvSpPr>
          <p:cNvPr id="23" name="Shape 20"/>
          <p:cNvSpPr/>
          <p:nvPr/>
        </p:nvSpPr>
        <p:spPr>
          <a:xfrm>
            <a:off x="548640" y="4368219"/>
            <a:ext cx="292608" cy="292608"/>
          </a:xfrm>
          <a:prstGeom prst="ellipse">
            <a:avLst/>
          </a:prstGeom>
          <a:solidFill>
            <a:srgbClr val="00A79D"/>
          </a:solidFill>
          <a:ln/>
        </p:spPr>
      </p:sp>
      <p:sp>
        <p:nvSpPr>
          <p:cNvPr id="24" name="Text 21"/>
          <p:cNvSpPr/>
          <p:nvPr/>
        </p:nvSpPr>
        <p:spPr>
          <a:xfrm>
            <a:off x="548640" y="4368219"/>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2"/>
          <p:cNvSpPr/>
          <p:nvPr/>
        </p:nvSpPr>
        <p:spPr>
          <a:xfrm>
            <a:off x="960120" y="4349931"/>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Write your Big Idea as one sentence (POV + stakes + action); peer-check a neighbour can restate the recommendation.</a:t>
            </a:r>
            <a:endParaRPr lang="en-US" sz="1100" dirty="0"/>
          </a:p>
        </p:txBody>
      </p:sp>
      <p:sp>
        <p:nvSpPr>
          <p:cNvPr id="26" name="Shape 23"/>
          <p:cNvSpPr/>
          <p:nvPr/>
        </p:nvSpPr>
        <p:spPr>
          <a:xfrm>
            <a:off x="548640" y="4649071"/>
            <a:ext cx="292608" cy="292608"/>
          </a:xfrm>
          <a:prstGeom prst="ellipse">
            <a:avLst/>
          </a:prstGeom>
          <a:solidFill>
            <a:srgbClr val="E8833A"/>
          </a:solidFill>
          <a:ln/>
        </p:spPr>
      </p:sp>
      <p:sp>
        <p:nvSpPr>
          <p:cNvPr id="27" name="Text 24"/>
          <p:cNvSpPr/>
          <p:nvPr/>
        </p:nvSpPr>
        <p:spPr>
          <a:xfrm>
            <a:off x="548640" y="4649071"/>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5"/>
          <p:cNvSpPr/>
          <p:nvPr/>
        </p:nvSpPr>
        <p:spPr>
          <a:xfrm>
            <a:off x="960120" y="4630783"/>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Choose an arc (default SCR), fill the seven-scene storyboard, and run audit() until it passes.</a:t>
            </a:r>
            <a:endParaRPr lang="en-US" sz="1100" dirty="0"/>
          </a:p>
        </p:txBody>
      </p:sp>
      <p:sp>
        <p:nvSpPr>
          <p:cNvPr id="29" name="Shape 26"/>
          <p:cNvSpPr/>
          <p:nvPr/>
        </p:nvSpPr>
        <p:spPr>
          <a:xfrm>
            <a:off x="548640" y="4929922"/>
            <a:ext cx="292608" cy="292608"/>
          </a:xfrm>
          <a:prstGeom prst="ellipse">
            <a:avLst/>
          </a:prstGeom>
          <a:solidFill>
            <a:srgbClr val="6C4FA1"/>
          </a:solidFill>
          <a:ln/>
        </p:spPr>
      </p:sp>
      <p:sp>
        <p:nvSpPr>
          <p:cNvPr id="30" name="Text 27"/>
          <p:cNvSpPr/>
          <p:nvPr/>
        </p:nvSpPr>
        <p:spPr>
          <a:xfrm>
            <a:off x="548640" y="4929922"/>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1" name="Text 28"/>
          <p:cNvSpPr/>
          <p:nvPr/>
        </p:nvSpPr>
        <p:spPr>
          <a:xfrm>
            <a:off x="960120" y="4911634"/>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(15 min) </a:t>
            </a:r>
            <a:r>
              <a:rPr lang="en-US" sz="1100" dirty="0">
                <a:solidFill>
                  <a:srgbClr val="343A4E"/>
                </a:solidFill>
                <a:latin typeface="Arial" pitchFamily="34" charset="0"/>
                <a:ea typeface="Arial" pitchFamily="34" charset="-122"/>
                <a:cs typeface="Arial" pitchFamily="34" charset="-120"/>
              </a:rPr>
              <a:t>Render three scenes — situation, complication, evidence — each with a takeaway title and one highlight.</a:t>
            </a:r>
            <a:endParaRPr lang="en-US" sz="1100" dirty="0"/>
          </a:p>
        </p:txBody>
      </p:sp>
      <p:sp>
        <p:nvSpPr>
          <p:cNvPr id="32" name="Shape 29"/>
          <p:cNvSpPr/>
          <p:nvPr/>
        </p:nvSpPr>
        <p:spPr>
          <a:xfrm>
            <a:off x="548640" y="5210774"/>
            <a:ext cx="292608" cy="292608"/>
          </a:xfrm>
          <a:prstGeom prst="ellipse">
            <a:avLst/>
          </a:prstGeom>
          <a:solidFill>
            <a:srgbClr val="3FAE5A"/>
          </a:solidFill>
          <a:ln/>
        </p:spPr>
      </p:sp>
      <p:sp>
        <p:nvSpPr>
          <p:cNvPr id="33" name="Text 30"/>
          <p:cNvSpPr/>
          <p:nvPr/>
        </p:nvSpPr>
        <p:spPr>
          <a:xfrm>
            <a:off x="548640" y="5210774"/>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p:nvPr/>
        </p:nvSpPr>
        <p:spPr>
          <a:xfrm>
            <a:off x="960120" y="5192486"/>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Write the BLUF memo with bluf.py; confirm a peer can act on it in 90 seconds without the deck.</a:t>
            </a:r>
            <a:endParaRPr lang="en-US" sz="1100" dirty="0"/>
          </a:p>
        </p:txBody>
      </p:sp>
      <p:sp>
        <p:nvSpPr>
          <p:cNvPr id="35" name="Shape 32"/>
          <p:cNvSpPr/>
          <p:nvPr/>
        </p:nvSpPr>
        <p:spPr>
          <a:xfrm>
            <a:off x="548640" y="5491625"/>
            <a:ext cx="292608" cy="292608"/>
          </a:xfrm>
          <a:prstGeom prst="ellipse">
            <a:avLst/>
          </a:prstGeom>
          <a:solidFill>
            <a:srgbClr val="29ABE2"/>
          </a:solidFill>
          <a:ln/>
        </p:spPr>
      </p:sp>
      <p:sp>
        <p:nvSpPr>
          <p:cNvPr id="36" name="Text 33"/>
          <p:cNvSpPr/>
          <p:nvPr/>
        </p:nvSpPr>
        <p:spPr>
          <a:xfrm>
            <a:off x="548640" y="5491625"/>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p:nvPr/>
        </p:nvSpPr>
        <p:spPr>
          <a:xfrm>
            <a:off x="960120" y="5473337"/>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Self-edit: move every non-advancing slide to an appendix list, justifying each cut in one line.</a:t>
            </a:r>
            <a:endParaRPr lang="en-US" sz="1100" dirty="0"/>
          </a:p>
        </p:txBody>
      </p:sp>
      <p:sp>
        <p:nvSpPr>
          <p:cNvPr id="38" name="Shape 35"/>
          <p:cNvSpPr/>
          <p:nvPr/>
        </p:nvSpPr>
        <p:spPr>
          <a:xfrm>
            <a:off x="548640" y="5772477"/>
            <a:ext cx="292608" cy="292608"/>
          </a:xfrm>
          <a:prstGeom prst="ellipse">
            <a:avLst/>
          </a:prstGeom>
          <a:solidFill>
            <a:srgbClr val="D9534F"/>
          </a:solidFill>
          <a:ln/>
        </p:spPr>
      </p:sp>
      <p:sp>
        <p:nvSpPr>
          <p:cNvPr id="39" name="Text 36"/>
          <p:cNvSpPr/>
          <p:nvPr/>
        </p:nvSpPr>
        <p:spPr>
          <a:xfrm>
            <a:off x="548640" y="5772477"/>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40" name="Text 37"/>
          <p:cNvSpPr/>
          <p:nvPr/>
        </p:nvSpPr>
        <p:spPr>
          <a:xfrm>
            <a:off x="960120" y="5754189"/>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Save the storyboard, rendered scenes, and BLUF as lab5_solution.</a:t>
            </a:r>
            <a:endParaRPr lang="en-US" sz="11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KNOWLEDGE CHECK</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Mini Exercises — Quick Check</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تمارين قصيرة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140</a:t>
            </a:r>
            <a:endParaRPr lang="en-US" sz="800" dirty="0"/>
          </a:p>
        </p:txBody>
      </p:sp>
      <p:sp>
        <p:nvSpPr>
          <p:cNvPr id="15" name="Shape 12"/>
          <p:cNvSpPr/>
          <p:nvPr/>
        </p:nvSpPr>
        <p:spPr>
          <a:xfrm>
            <a:off x="548640" y="2377440"/>
            <a:ext cx="11094415" cy="614477"/>
          </a:xfrm>
          <a:prstGeom prst="roundRect">
            <a:avLst>
              <a:gd name="adj" fmla="val 10417"/>
            </a:avLst>
          </a:prstGeom>
          <a:solidFill>
            <a:srgbClr val="FFFFFF"/>
          </a:solidFill>
          <a:ln w="12700">
            <a:solidFill>
              <a:srgbClr val="D9DEE8"/>
            </a:solidFill>
            <a:prstDash val="solid"/>
          </a:ln>
        </p:spPr>
      </p:sp>
      <p:sp>
        <p:nvSpPr>
          <p:cNvPr id="16" name="Shape 13"/>
          <p:cNvSpPr/>
          <p:nvPr/>
        </p:nvSpPr>
        <p:spPr>
          <a:xfrm>
            <a:off x="548640" y="2377440"/>
            <a:ext cx="91440" cy="614477"/>
          </a:xfrm>
          <a:prstGeom prst="rect">
            <a:avLst/>
          </a:prstGeom>
          <a:solidFill>
            <a:srgbClr val="2E5AAC"/>
          </a:solidFill>
          <a:ln/>
        </p:spPr>
      </p:sp>
      <p:sp>
        <p:nvSpPr>
          <p:cNvPr id="17" name="Text 14"/>
          <p:cNvSpPr/>
          <p:nvPr/>
        </p:nvSpPr>
        <p:spPr>
          <a:xfrm>
            <a:off x="804672" y="2450592"/>
            <a:ext cx="10637215" cy="307238"/>
          </a:xfrm>
          <a:prstGeom prst="rect">
            <a:avLst/>
          </a:prstGeom>
          <a:noFill/>
          <a:ln/>
        </p:spPr>
        <p:txBody>
          <a:bodyPr wrap="square" rtlCol="0" anchor="t"/>
          <a:lstStyle/>
          <a:p>
            <a:pPr marL="0" indent="0">
              <a:lnSpc>
                <a:spcPct val="98000"/>
              </a:lnSpc>
              <a:buNone/>
            </a:pPr>
            <a:r>
              <a:rPr lang="en-US" sz="1150" b="1" dirty="0">
                <a:solidFill>
                  <a:srgbClr val="2E5AAC"/>
                </a:solidFill>
                <a:latin typeface="Arial" pitchFamily="34" charset="0"/>
                <a:ea typeface="Arial" pitchFamily="34" charset="-122"/>
                <a:cs typeface="Arial" pitchFamily="34" charset="-120"/>
              </a:rPr>
              <a:t>Q1  </a:t>
            </a:r>
            <a:r>
              <a:rPr lang="en-US" sz="1150" b="1" dirty="0">
                <a:solidFill>
                  <a:srgbClr val="1D2A5C"/>
                </a:solidFill>
                <a:latin typeface="Arial" pitchFamily="34" charset="0"/>
                <a:ea typeface="Arial" pitchFamily="34" charset="-122"/>
                <a:cs typeface="Arial" pitchFamily="34" charset="-120"/>
              </a:rPr>
              <a:t>Exploratory vs explanatory — which is linear and author-controlled?</a:t>
            </a:r>
            <a:endParaRPr lang="en-US" sz="1150" dirty="0"/>
          </a:p>
        </p:txBody>
      </p:sp>
      <p:sp>
        <p:nvSpPr>
          <p:cNvPr id="18" name="Text 15"/>
          <p:cNvSpPr/>
          <p:nvPr/>
        </p:nvSpPr>
        <p:spPr>
          <a:xfrm>
            <a:off x="804672" y="2666390"/>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Explanatory; exploration is open and user-driven.</a:t>
            </a:r>
            <a:endParaRPr lang="en-US" sz="1100" dirty="0"/>
          </a:p>
        </p:txBody>
      </p:sp>
      <p:sp>
        <p:nvSpPr>
          <p:cNvPr id="19" name="Shape 16"/>
          <p:cNvSpPr/>
          <p:nvPr/>
        </p:nvSpPr>
        <p:spPr>
          <a:xfrm>
            <a:off x="548640" y="3138221"/>
            <a:ext cx="11094415" cy="614477"/>
          </a:xfrm>
          <a:prstGeom prst="roundRect">
            <a:avLst>
              <a:gd name="adj" fmla="val 10417"/>
            </a:avLst>
          </a:prstGeom>
          <a:solidFill>
            <a:srgbClr val="FFFFFF"/>
          </a:solidFill>
          <a:ln w="12700">
            <a:solidFill>
              <a:srgbClr val="D9DEE8"/>
            </a:solidFill>
            <a:prstDash val="solid"/>
          </a:ln>
        </p:spPr>
      </p:sp>
      <p:sp>
        <p:nvSpPr>
          <p:cNvPr id="20" name="Shape 17"/>
          <p:cNvSpPr/>
          <p:nvPr/>
        </p:nvSpPr>
        <p:spPr>
          <a:xfrm>
            <a:off x="548640" y="3138221"/>
            <a:ext cx="91440" cy="614477"/>
          </a:xfrm>
          <a:prstGeom prst="rect">
            <a:avLst/>
          </a:prstGeom>
          <a:solidFill>
            <a:srgbClr val="00A79D"/>
          </a:solidFill>
          <a:ln/>
        </p:spPr>
      </p:sp>
      <p:sp>
        <p:nvSpPr>
          <p:cNvPr id="21" name="Text 18"/>
          <p:cNvSpPr/>
          <p:nvPr/>
        </p:nvSpPr>
        <p:spPr>
          <a:xfrm>
            <a:off x="804672" y="3211373"/>
            <a:ext cx="10637215" cy="307238"/>
          </a:xfrm>
          <a:prstGeom prst="rect">
            <a:avLst/>
          </a:prstGeom>
          <a:noFill/>
          <a:ln/>
        </p:spPr>
        <p:txBody>
          <a:bodyPr wrap="square" rtlCol="0" anchor="t"/>
          <a:lstStyle/>
          <a:p>
            <a:pPr marL="0" indent="0">
              <a:lnSpc>
                <a:spcPct val="98000"/>
              </a:lnSpc>
              <a:buNone/>
            </a:pPr>
            <a:r>
              <a:rPr lang="en-US" sz="1150" b="1" dirty="0">
                <a:solidFill>
                  <a:srgbClr val="00A79D"/>
                </a:solidFill>
                <a:latin typeface="Arial" pitchFamily="34" charset="0"/>
                <a:ea typeface="Arial" pitchFamily="34" charset="-122"/>
                <a:cs typeface="Arial" pitchFamily="34" charset="-120"/>
              </a:rPr>
              <a:t>Q2  </a:t>
            </a:r>
            <a:r>
              <a:rPr lang="en-US" sz="1150" b="1" dirty="0">
                <a:solidFill>
                  <a:srgbClr val="1D2A5C"/>
                </a:solidFill>
                <a:latin typeface="Arial" pitchFamily="34" charset="0"/>
                <a:ea typeface="Arial" pitchFamily="34" charset="-122"/>
                <a:cs typeface="Arial" pitchFamily="34" charset="-120"/>
              </a:rPr>
              <a:t>Name the three parts of a Big Idea.</a:t>
            </a:r>
            <a:endParaRPr lang="en-US" sz="1150" dirty="0"/>
          </a:p>
        </p:txBody>
      </p:sp>
      <p:sp>
        <p:nvSpPr>
          <p:cNvPr id="22" name="Text 19"/>
          <p:cNvSpPr/>
          <p:nvPr/>
        </p:nvSpPr>
        <p:spPr>
          <a:xfrm>
            <a:off x="804672" y="3427171"/>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Point of view, what's at stake, and the implied action.</a:t>
            </a:r>
            <a:endParaRPr lang="en-US" sz="1100" dirty="0"/>
          </a:p>
        </p:txBody>
      </p:sp>
      <p:sp>
        <p:nvSpPr>
          <p:cNvPr id="23" name="Shape 20"/>
          <p:cNvSpPr/>
          <p:nvPr/>
        </p:nvSpPr>
        <p:spPr>
          <a:xfrm>
            <a:off x="548640" y="3899002"/>
            <a:ext cx="11094415" cy="614477"/>
          </a:xfrm>
          <a:prstGeom prst="roundRect">
            <a:avLst>
              <a:gd name="adj" fmla="val 10417"/>
            </a:avLst>
          </a:prstGeom>
          <a:solidFill>
            <a:srgbClr val="FFFFFF"/>
          </a:solidFill>
          <a:ln w="12700">
            <a:solidFill>
              <a:srgbClr val="D9DEE8"/>
            </a:solidFill>
            <a:prstDash val="solid"/>
          </a:ln>
        </p:spPr>
      </p:sp>
      <p:sp>
        <p:nvSpPr>
          <p:cNvPr id="24" name="Shape 21"/>
          <p:cNvSpPr/>
          <p:nvPr/>
        </p:nvSpPr>
        <p:spPr>
          <a:xfrm>
            <a:off x="548640" y="3899002"/>
            <a:ext cx="91440" cy="614477"/>
          </a:xfrm>
          <a:prstGeom prst="rect">
            <a:avLst/>
          </a:prstGeom>
          <a:solidFill>
            <a:srgbClr val="E8833A"/>
          </a:solidFill>
          <a:ln/>
        </p:spPr>
      </p:sp>
      <p:sp>
        <p:nvSpPr>
          <p:cNvPr id="25" name="Text 22"/>
          <p:cNvSpPr/>
          <p:nvPr/>
        </p:nvSpPr>
        <p:spPr>
          <a:xfrm>
            <a:off x="804672" y="3972154"/>
            <a:ext cx="10637215" cy="307238"/>
          </a:xfrm>
          <a:prstGeom prst="rect">
            <a:avLst/>
          </a:prstGeom>
          <a:noFill/>
          <a:ln/>
        </p:spPr>
        <p:txBody>
          <a:bodyPr wrap="square" rtlCol="0" anchor="t"/>
          <a:lstStyle/>
          <a:p>
            <a:pPr marL="0" indent="0">
              <a:lnSpc>
                <a:spcPct val="98000"/>
              </a:lnSpc>
              <a:buNone/>
            </a:pPr>
            <a:r>
              <a:rPr lang="en-US" sz="1150" b="1" dirty="0">
                <a:solidFill>
                  <a:srgbClr val="E8833A"/>
                </a:solidFill>
                <a:latin typeface="Arial" pitchFamily="34" charset="0"/>
                <a:ea typeface="Arial" pitchFamily="34" charset="-122"/>
                <a:cs typeface="Arial" pitchFamily="34" charset="-120"/>
              </a:rPr>
              <a:t>Q3  </a:t>
            </a:r>
            <a:r>
              <a:rPr lang="en-US" sz="1150" b="1" dirty="0">
                <a:solidFill>
                  <a:srgbClr val="1D2A5C"/>
                </a:solidFill>
                <a:latin typeface="Arial" pitchFamily="34" charset="0"/>
                <a:ea typeface="Arial" pitchFamily="34" charset="-122"/>
                <a:cs typeface="Arial" pitchFamily="34" charset="-120"/>
              </a:rPr>
              <a:t>Which arc best fits recommending an investment to a committee?</a:t>
            </a:r>
            <a:endParaRPr lang="en-US" sz="1150" dirty="0"/>
          </a:p>
        </p:txBody>
      </p:sp>
      <p:sp>
        <p:nvSpPr>
          <p:cNvPr id="26" name="Text 23"/>
          <p:cNvSpPr/>
          <p:nvPr/>
        </p:nvSpPr>
        <p:spPr>
          <a:xfrm>
            <a:off x="804672" y="4187952"/>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Situation–Complication–Resolution (SCR).</a:t>
            </a:r>
            <a:endParaRPr lang="en-US" sz="1100" dirty="0"/>
          </a:p>
        </p:txBody>
      </p:sp>
      <p:sp>
        <p:nvSpPr>
          <p:cNvPr id="27" name="Shape 24"/>
          <p:cNvSpPr/>
          <p:nvPr/>
        </p:nvSpPr>
        <p:spPr>
          <a:xfrm>
            <a:off x="548640" y="4659782"/>
            <a:ext cx="11094415" cy="614477"/>
          </a:xfrm>
          <a:prstGeom prst="roundRect">
            <a:avLst>
              <a:gd name="adj" fmla="val 10417"/>
            </a:avLst>
          </a:prstGeom>
          <a:solidFill>
            <a:srgbClr val="FFFFFF"/>
          </a:solidFill>
          <a:ln w="12700">
            <a:solidFill>
              <a:srgbClr val="D9DEE8"/>
            </a:solidFill>
            <a:prstDash val="solid"/>
          </a:ln>
        </p:spPr>
      </p:sp>
      <p:sp>
        <p:nvSpPr>
          <p:cNvPr id="28" name="Shape 25"/>
          <p:cNvSpPr/>
          <p:nvPr/>
        </p:nvSpPr>
        <p:spPr>
          <a:xfrm>
            <a:off x="548640" y="4659782"/>
            <a:ext cx="91440" cy="614477"/>
          </a:xfrm>
          <a:prstGeom prst="rect">
            <a:avLst/>
          </a:prstGeom>
          <a:solidFill>
            <a:srgbClr val="6C4FA1"/>
          </a:solidFill>
          <a:ln/>
        </p:spPr>
      </p:sp>
      <p:sp>
        <p:nvSpPr>
          <p:cNvPr id="29" name="Text 26"/>
          <p:cNvSpPr/>
          <p:nvPr/>
        </p:nvSpPr>
        <p:spPr>
          <a:xfrm>
            <a:off x="804672" y="4732934"/>
            <a:ext cx="10637215" cy="307238"/>
          </a:xfrm>
          <a:prstGeom prst="rect">
            <a:avLst/>
          </a:prstGeom>
          <a:noFill/>
          <a:ln/>
        </p:spPr>
        <p:txBody>
          <a:bodyPr wrap="square" rtlCol="0" anchor="t"/>
          <a:lstStyle/>
          <a:p>
            <a:pPr marL="0" indent="0">
              <a:lnSpc>
                <a:spcPct val="98000"/>
              </a:lnSpc>
              <a:buNone/>
            </a:pPr>
            <a:r>
              <a:rPr lang="en-US" sz="1150" b="1" dirty="0">
                <a:solidFill>
                  <a:srgbClr val="6C4FA1"/>
                </a:solidFill>
                <a:latin typeface="Arial" pitchFamily="34" charset="0"/>
                <a:ea typeface="Arial" pitchFamily="34" charset="-122"/>
                <a:cs typeface="Arial" pitchFamily="34" charset="-120"/>
              </a:rPr>
              <a:t>Q4  </a:t>
            </a:r>
            <a:r>
              <a:rPr lang="en-US" sz="1150" b="1" dirty="0">
                <a:solidFill>
                  <a:srgbClr val="1D2A5C"/>
                </a:solidFill>
                <a:latin typeface="Arial" pitchFamily="34" charset="0"/>
                <a:ea typeface="Arial" pitchFamily="34" charset="-122"/>
                <a:cs typeface="Arial" pitchFamily="34" charset="-120"/>
              </a:rPr>
              <a:t>What does BLUF invert, and why?</a:t>
            </a:r>
            <a:endParaRPr lang="en-US" sz="1150" dirty="0"/>
          </a:p>
        </p:txBody>
      </p:sp>
      <p:sp>
        <p:nvSpPr>
          <p:cNvPr id="30" name="Text 27"/>
          <p:cNvSpPr/>
          <p:nvPr/>
        </p:nvSpPr>
        <p:spPr>
          <a:xfrm>
            <a:off x="804672" y="4948733"/>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Methodology-first to conclusion-first; execs may not reach the last slide.</a:t>
            </a:r>
            <a:endParaRPr lang="en-US" sz="1100" dirty="0"/>
          </a:p>
        </p:txBody>
      </p:sp>
      <p:sp>
        <p:nvSpPr>
          <p:cNvPr id="31" name="Shape 28"/>
          <p:cNvSpPr/>
          <p:nvPr/>
        </p:nvSpPr>
        <p:spPr>
          <a:xfrm>
            <a:off x="548640" y="5420563"/>
            <a:ext cx="11094415" cy="614477"/>
          </a:xfrm>
          <a:prstGeom prst="roundRect">
            <a:avLst>
              <a:gd name="adj" fmla="val 10417"/>
            </a:avLst>
          </a:prstGeom>
          <a:solidFill>
            <a:srgbClr val="FFFFFF"/>
          </a:solidFill>
          <a:ln w="12700">
            <a:solidFill>
              <a:srgbClr val="D9DEE8"/>
            </a:solidFill>
            <a:prstDash val="solid"/>
          </a:ln>
        </p:spPr>
      </p:sp>
      <p:sp>
        <p:nvSpPr>
          <p:cNvPr id="32" name="Shape 29"/>
          <p:cNvSpPr/>
          <p:nvPr/>
        </p:nvSpPr>
        <p:spPr>
          <a:xfrm>
            <a:off x="548640" y="5420563"/>
            <a:ext cx="91440" cy="614477"/>
          </a:xfrm>
          <a:prstGeom prst="rect">
            <a:avLst/>
          </a:prstGeom>
          <a:solidFill>
            <a:srgbClr val="3FAE5A"/>
          </a:solidFill>
          <a:ln/>
        </p:spPr>
      </p:sp>
      <p:sp>
        <p:nvSpPr>
          <p:cNvPr id="33" name="Text 30"/>
          <p:cNvSpPr/>
          <p:nvPr/>
        </p:nvSpPr>
        <p:spPr>
          <a:xfrm>
            <a:off x="804672" y="5493715"/>
            <a:ext cx="10637215" cy="307238"/>
          </a:xfrm>
          <a:prstGeom prst="rect">
            <a:avLst/>
          </a:prstGeom>
          <a:noFill/>
          <a:ln/>
        </p:spPr>
        <p:txBody>
          <a:bodyPr wrap="square" rtlCol="0" anchor="t"/>
          <a:lstStyle/>
          <a:p>
            <a:pPr marL="0" indent="0">
              <a:lnSpc>
                <a:spcPct val="98000"/>
              </a:lnSpc>
              <a:buNone/>
            </a:pPr>
            <a:r>
              <a:rPr lang="en-US" sz="1150" b="1" dirty="0">
                <a:solidFill>
                  <a:srgbClr val="3FAE5A"/>
                </a:solidFill>
                <a:latin typeface="Arial" pitchFamily="34" charset="0"/>
                <a:ea typeface="Arial" pitchFamily="34" charset="-122"/>
                <a:cs typeface="Arial" pitchFamily="34" charset="-120"/>
              </a:rPr>
              <a:t>Q5  </a:t>
            </a:r>
            <a:r>
              <a:rPr lang="en-US" sz="1150" b="1" dirty="0">
                <a:solidFill>
                  <a:srgbClr val="1D2A5C"/>
                </a:solidFill>
                <a:latin typeface="Arial" pitchFamily="34" charset="0"/>
                <a:ea typeface="Arial" pitchFamily="34" charset="-122"/>
                <a:cs typeface="Arial" pitchFamily="34" charset="-120"/>
              </a:rPr>
              <a:t>The single test for keeping a slide?</a:t>
            </a:r>
            <a:endParaRPr lang="en-US" sz="1150" dirty="0"/>
          </a:p>
        </p:txBody>
      </p:sp>
      <p:sp>
        <p:nvSpPr>
          <p:cNvPr id="34" name="Text 31"/>
          <p:cNvSpPr/>
          <p:nvPr/>
        </p:nvSpPr>
        <p:spPr>
          <a:xfrm>
            <a:off x="804672" y="5709514"/>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Does it advance the decision? If not, appendix.</a:t>
            </a:r>
            <a:endParaRPr lang="en-US" sz="11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CASE STUDY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Case Study — A Quarter of Data into a SAR 40M Case</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قضية بأربعين مليوناً</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141</a:t>
            </a:r>
            <a:endParaRPr lang="en-US" sz="800" dirty="0"/>
          </a:p>
        </p:txBody>
      </p:sp>
      <p:sp>
        <p:nvSpPr>
          <p:cNvPr id="15" name="Shape 12"/>
          <p:cNvSpPr/>
          <p:nvPr/>
        </p:nvSpPr>
        <p:spPr>
          <a:xfrm>
            <a:off x="548640" y="2331720"/>
            <a:ext cx="5410048" cy="1100328"/>
          </a:xfrm>
          <a:prstGeom prst="roundRect">
            <a:avLst>
              <a:gd name="adj" fmla="val 6648"/>
            </a:avLst>
          </a:prstGeom>
          <a:solidFill>
            <a:srgbClr val="EAF0FA"/>
          </a:solidFill>
          <a:ln w="12700">
            <a:solidFill>
              <a:srgbClr val="2E5AAC"/>
            </a:solidFill>
            <a:prstDash val="solid"/>
          </a:ln>
        </p:spPr>
      </p:sp>
      <p:sp>
        <p:nvSpPr>
          <p:cNvPr id="16" name="Text 13"/>
          <p:cNvSpPr/>
          <p:nvPr/>
        </p:nvSpPr>
        <p:spPr>
          <a:xfrm>
            <a:off x="749808" y="2459736"/>
            <a:ext cx="5044288" cy="274320"/>
          </a:xfrm>
          <a:prstGeom prst="rect">
            <a:avLst/>
          </a:prstGeom>
          <a:noFill/>
          <a:ln/>
        </p:spPr>
        <p:txBody>
          <a:bodyPr wrap="square" rtlCol="0" anchor="ctr"/>
          <a:lstStyle/>
          <a:p>
            <a:pPr marL="0" indent="0">
              <a:buNone/>
            </a:pPr>
            <a:r>
              <a:rPr lang="en-US" sz="1100" b="1" kern="0" spc="100" dirty="0">
                <a:solidFill>
                  <a:srgbClr val="2E5AAC"/>
                </a:solidFill>
                <a:latin typeface="Arial" pitchFamily="34" charset="0"/>
                <a:ea typeface="Arial" pitchFamily="34" charset="-122"/>
                <a:cs typeface="Arial" pitchFamily="34" charset="-120"/>
              </a:rPr>
              <a:t>SCENARIO</a:t>
            </a:r>
            <a:endParaRPr lang="en-US" sz="1100" dirty="0"/>
          </a:p>
        </p:txBody>
      </p:sp>
      <p:sp>
        <p:nvSpPr>
          <p:cNvPr id="17" name="Text 14"/>
          <p:cNvSpPr/>
          <p:nvPr/>
        </p:nvSpPr>
        <p:spPr>
          <a:xfrm>
            <a:off x="749808" y="2788920"/>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The Tayseer team has a rich Module 4 dashboard and a Steering Committee slot to recommend how to spend the next SAR 40 million. The first draft is the dashboard exported to 22 slides, one per view, ending with 'questions?'.</a:t>
            </a:r>
            <a:endParaRPr lang="en-US" sz="1100" dirty="0"/>
          </a:p>
        </p:txBody>
      </p:sp>
      <p:sp>
        <p:nvSpPr>
          <p:cNvPr id="18" name="Shape 15"/>
          <p:cNvSpPr/>
          <p:nvPr/>
        </p:nvSpPr>
        <p:spPr>
          <a:xfrm>
            <a:off x="6233008" y="2331720"/>
            <a:ext cx="5410048" cy="1100328"/>
          </a:xfrm>
          <a:prstGeom prst="roundRect">
            <a:avLst>
              <a:gd name="adj" fmla="val 6648"/>
            </a:avLst>
          </a:prstGeom>
          <a:solidFill>
            <a:srgbClr val="E6F5F4"/>
          </a:solidFill>
          <a:ln w="12700">
            <a:solidFill>
              <a:srgbClr val="00A79D"/>
            </a:solidFill>
            <a:prstDash val="solid"/>
          </a:ln>
        </p:spPr>
      </p:sp>
      <p:sp>
        <p:nvSpPr>
          <p:cNvPr id="19" name="Text 16"/>
          <p:cNvSpPr/>
          <p:nvPr/>
        </p:nvSpPr>
        <p:spPr>
          <a:xfrm>
            <a:off x="6434176" y="2459736"/>
            <a:ext cx="5044288" cy="274320"/>
          </a:xfrm>
          <a:prstGeom prst="rect">
            <a:avLst/>
          </a:prstGeom>
          <a:noFill/>
          <a:ln/>
        </p:spPr>
        <p:txBody>
          <a:bodyPr wrap="square" rtlCol="0" anchor="ctr"/>
          <a:lstStyle/>
          <a:p>
            <a:pPr marL="0" indent="0">
              <a:buNone/>
            </a:pPr>
            <a:r>
              <a:rPr lang="en-US" sz="1100" b="1" kern="0" spc="100" dirty="0">
                <a:solidFill>
                  <a:srgbClr val="00A79D"/>
                </a:solidFill>
                <a:latin typeface="Arial" pitchFamily="34" charset="0"/>
                <a:ea typeface="Arial" pitchFamily="34" charset="-122"/>
                <a:cs typeface="Arial" pitchFamily="34" charset="-120"/>
              </a:rPr>
              <a:t>BUSINESS CONTEXT</a:t>
            </a:r>
            <a:endParaRPr lang="en-US" sz="1100" dirty="0"/>
          </a:p>
        </p:txBody>
      </p:sp>
      <p:sp>
        <p:nvSpPr>
          <p:cNvPr id="20" name="Text 17"/>
          <p:cNvSpPr/>
          <p:nvPr/>
        </p:nvSpPr>
        <p:spPr>
          <a:xfrm>
            <a:off x="6434176" y="2788920"/>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The SAR 40M goes to one of three uses; the decision is effectively made by whoever frames it most clearly. The team's credibility — and its seat in future decisions — rides on whether this lands.</a:t>
            </a:r>
            <a:endParaRPr lang="en-US" sz="1100" dirty="0"/>
          </a:p>
        </p:txBody>
      </p:sp>
      <p:sp>
        <p:nvSpPr>
          <p:cNvPr id="21" name="Shape 18"/>
          <p:cNvSpPr/>
          <p:nvPr/>
        </p:nvSpPr>
        <p:spPr>
          <a:xfrm>
            <a:off x="548640" y="3633216"/>
            <a:ext cx="5410048" cy="1100328"/>
          </a:xfrm>
          <a:prstGeom prst="roundRect">
            <a:avLst>
              <a:gd name="adj" fmla="val 6648"/>
            </a:avLst>
          </a:prstGeom>
          <a:solidFill>
            <a:srgbClr val="FCF0E6"/>
          </a:solidFill>
          <a:ln w="12700">
            <a:solidFill>
              <a:srgbClr val="E8833A"/>
            </a:solidFill>
            <a:prstDash val="solid"/>
          </a:ln>
        </p:spPr>
      </p:sp>
      <p:sp>
        <p:nvSpPr>
          <p:cNvPr id="22" name="Text 19"/>
          <p:cNvSpPr/>
          <p:nvPr/>
        </p:nvSpPr>
        <p:spPr>
          <a:xfrm>
            <a:off x="749808" y="3761232"/>
            <a:ext cx="5044288" cy="274320"/>
          </a:xfrm>
          <a:prstGeom prst="rect">
            <a:avLst/>
          </a:prstGeom>
          <a:noFill/>
          <a:ln/>
        </p:spPr>
        <p:txBody>
          <a:bodyPr wrap="square" rtlCol="0" anchor="ctr"/>
          <a:lstStyle/>
          <a:p>
            <a:pPr marL="0" indent="0">
              <a:buNone/>
            </a:pPr>
            <a:r>
              <a:rPr lang="en-US" sz="1100" b="1" kern="0" spc="100" dirty="0">
                <a:solidFill>
                  <a:srgbClr val="E8833A"/>
                </a:solidFill>
                <a:latin typeface="Arial" pitchFamily="34" charset="0"/>
                <a:ea typeface="Arial" pitchFamily="34" charset="-122"/>
                <a:cs typeface="Arial" pitchFamily="34" charset="-120"/>
              </a:rPr>
              <a:t>CHALLENGE</a:t>
            </a:r>
            <a:endParaRPr lang="en-US" sz="1100" dirty="0"/>
          </a:p>
        </p:txBody>
      </p:sp>
      <p:sp>
        <p:nvSpPr>
          <p:cNvPr id="23" name="Text 20"/>
          <p:cNvSpPr/>
          <p:nvPr/>
        </p:nvSpPr>
        <p:spPr>
          <a:xfrm>
            <a:off x="749808" y="4090416"/>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Compress a quarter of exploratory analysis into a seven-slide, BLUF-first arc that makes one recommendation feel inevitable, survives a three-minute attention span, and pre-empts the 'those regions are just small' objection.</a:t>
            </a:r>
            <a:endParaRPr lang="en-US" sz="1100" dirty="0"/>
          </a:p>
        </p:txBody>
      </p:sp>
      <p:sp>
        <p:nvSpPr>
          <p:cNvPr id="24" name="Shape 21"/>
          <p:cNvSpPr/>
          <p:nvPr/>
        </p:nvSpPr>
        <p:spPr>
          <a:xfrm>
            <a:off x="6233008" y="3633216"/>
            <a:ext cx="5410048" cy="1100328"/>
          </a:xfrm>
          <a:prstGeom prst="roundRect">
            <a:avLst>
              <a:gd name="adj" fmla="val 6648"/>
            </a:avLst>
          </a:prstGeom>
          <a:solidFill>
            <a:srgbClr val="EFEBF6"/>
          </a:solidFill>
          <a:ln w="12700">
            <a:solidFill>
              <a:srgbClr val="6C4FA1"/>
            </a:solidFill>
            <a:prstDash val="solid"/>
          </a:ln>
        </p:spPr>
      </p:sp>
      <p:sp>
        <p:nvSpPr>
          <p:cNvPr id="25" name="Text 22"/>
          <p:cNvSpPr/>
          <p:nvPr/>
        </p:nvSpPr>
        <p:spPr>
          <a:xfrm>
            <a:off x="6434176" y="3761232"/>
            <a:ext cx="5044288" cy="274320"/>
          </a:xfrm>
          <a:prstGeom prst="rect">
            <a:avLst/>
          </a:prstGeom>
          <a:noFill/>
          <a:ln/>
        </p:spPr>
        <p:txBody>
          <a:bodyPr wrap="square" rtlCol="0" anchor="ctr"/>
          <a:lstStyle/>
          <a:p>
            <a:pPr marL="0" indent="0">
              <a:buNone/>
            </a:pPr>
            <a:r>
              <a:rPr lang="en-US" sz="1100" b="1" kern="0" spc="100" dirty="0">
                <a:solidFill>
                  <a:srgbClr val="6C4FA1"/>
                </a:solidFill>
                <a:latin typeface="Arial" pitchFamily="34" charset="0"/>
                <a:ea typeface="Arial" pitchFamily="34" charset="-122"/>
                <a:cs typeface="Arial" pitchFamily="34" charset="-120"/>
              </a:rPr>
              <a:t>CONSTRAINTS</a:t>
            </a:r>
            <a:endParaRPr lang="en-US" sz="1100" dirty="0"/>
          </a:p>
        </p:txBody>
      </p:sp>
      <p:sp>
        <p:nvSpPr>
          <p:cNvPr id="26" name="Text 23"/>
          <p:cNvSpPr/>
          <p:nvPr/>
        </p:nvSpPr>
        <p:spPr>
          <a:xfrm>
            <a:off x="6434176" y="4090416"/>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Fifteen-minute slot (assume three); bilingual deck; static slides — the live dashboard is the appendix; a numerate, impatient chair; the recommendation must be defensible to an auditor.</a:t>
            </a:r>
            <a:endParaRPr lang="en-US" sz="1100" dirty="0"/>
          </a:p>
        </p:txBody>
      </p:sp>
      <p:sp>
        <p:nvSpPr>
          <p:cNvPr id="27" name="Shape 24"/>
          <p:cNvSpPr/>
          <p:nvPr/>
        </p:nvSpPr>
        <p:spPr>
          <a:xfrm>
            <a:off x="548640" y="4934712"/>
            <a:ext cx="5410048" cy="1100328"/>
          </a:xfrm>
          <a:prstGeom prst="roundRect">
            <a:avLst>
              <a:gd name="adj" fmla="val 6648"/>
            </a:avLst>
          </a:prstGeom>
          <a:solidFill>
            <a:srgbClr val="E9F5EC"/>
          </a:solidFill>
          <a:ln w="12700">
            <a:solidFill>
              <a:srgbClr val="3FAE5A"/>
            </a:solidFill>
            <a:prstDash val="solid"/>
          </a:ln>
        </p:spPr>
      </p:sp>
      <p:sp>
        <p:nvSpPr>
          <p:cNvPr id="28" name="Text 25"/>
          <p:cNvSpPr/>
          <p:nvPr/>
        </p:nvSpPr>
        <p:spPr>
          <a:xfrm>
            <a:off x="749808" y="5062728"/>
            <a:ext cx="5044288" cy="274320"/>
          </a:xfrm>
          <a:prstGeom prst="rect">
            <a:avLst/>
          </a:prstGeom>
          <a:noFill/>
          <a:ln/>
        </p:spPr>
        <p:txBody>
          <a:bodyPr wrap="square" rtlCol="0" anchor="ctr"/>
          <a:lstStyle/>
          <a:p>
            <a:pPr marL="0" indent="0">
              <a:buNone/>
            </a:pPr>
            <a:r>
              <a:rPr lang="en-US" sz="1100" b="1" kern="0" spc="100" dirty="0">
                <a:solidFill>
                  <a:srgbClr val="3FAE5A"/>
                </a:solidFill>
                <a:latin typeface="Arial" pitchFamily="34" charset="0"/>
                <a:ea typeface="Arial" pitchFamily="34" charset="-122"/>
                <a:cs typeface="Arial" pitchFamily="34" charset="-120"/>
              </a:rPr>
              <a:t>APPROACH</a:t>
            </a:r>
            <a:endParaRPr lang="en-US" sz="1100" dirty="0"/>
          </a:p>
        </p:txBody>
      </p:sp>
      <p:sp>
        <p:nvSpPr>
          <p:cNvPr id="29" name="Text 26"/>
          <p:cNvSpPr/>
          <p:nvPr/>
        </p:nvSpPr>
        <p:spPr>
          <a:xfrm>
            <a:off x="749808" y="5391912"/>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Framing, then SCR arc with BLUF on slide one; each of seven slides a single annotated scene with a takeaway title; seat the 'just small' rebuttal as a per-capita evidence scene; options compared on gap-closed-per-riyal.</a:t>
            </a:r>
            <a:endParaRPr lang="en-US" sz="1100" dirty="0"/>
          </a:p>
        </p:txBody>
      </p:sp>
      <p:sp>
        <p:nvSpPr>
          <p:cNvPr id="30" name="Shape 27"/>
          <p:cNvSpPr/>
          <p:nvPr/>
        </p:nvSpPr>
        <p:spPr>
          <a:xfrm>
            <a:off x="6233008" y="4934712"/>
            <a:ext cx="5410048" cy="1100328"/>
          </a:xfrm>
          <a:prstGeom prst="roundRect">
            <a:avLst>
              <a:gd name="adj" fmla="val 6648"/>
            </a:avLst>
          </a:prstGeom>
          <a:solidFill>
            <a:srgbClr val="E7F5FC"/>
          </a:solidFill>
          <a:ln w="12700">
            <a:solidFill>
              <a:srgbClr val="29ABE2"/>
            </a:solidFill>
            <a:prstDash val="solid"/>
          </a:ln>
        </p:spPr>
      </p:sp>
      <p:sp>
        <p:nvSpPr>
          <p:cNvPr id="31" name="Text 28"/>
          <p:cNvSpPr/>
          <p:nvPr/>
        </p:nvSpPr>
        <p:spPr>
          <a:xfrm>
            <a:off x="6434176" y="5062728"/>
            <a:ext cx="5044288" cy="274320"/>
          </a:xfrm>
          <a:prstGeom prst="rect">
            <a:avLst/>
          </a:prstGeom>
          <a:noFill/>
          <a:ln/>
        </p:spPr>
        <p:txBody>
          <a:bodyPr wrap="square" rtlCol="0" anchor="ctr"/>
          <a:lstStyle/>
          <a:p>
            <a:pPr marL="0" indent="0">
              <a:buNone/>
            </a:pPr>
            <a:r>
              <a:rPr lang="en-US" sz="1100" b="1" kern="0" spc="100" dirty="0">
                <a:solidFill>
                  <a:srgbClr val="29ABE2"/>
                </a:solidFill>
                <a:latin typeface="Arial" pitchFamily="34" charset="0"/>
                <a:ea typeface="Arial" pitchFamily="34" charset="-122"/>
                <a:cs typeface="Arial" pitchFamily="34" charset="-120"/>
              </a:rPr>
              <a:t>APPENDIX &amp; DRY-RUN</a:t>
            </a:r>
            <a:endParaRPr lang="en-US" sz="1100" dirty="0"/>
          </a:p>
        </p:txBody>
      </p:sp>
      <p:sp>
        <p:nvSpPr>
          <p:cNvPr id="32" name="Text 29"/>
          <p:cNvSpPr/>
          <p:nvPr/>
        </p:nvSpPr>
        <p:spPr>
          <a:xfrm>
            <a:off x="6434176" y="5391912"/>
            <a:ext cx="5007712" cy="533400"/>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The appendix holds the dashboard and methodology for Q&amp;A; dry-run the deck against the three-minute attention test.</a:t>
            </a:r>
            <a:endParaRPr lang="en-US" sz="11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First draft vs storyboarded arc</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142</a:t>
            </a:r>
            <a:endParaRPr lang="en-US" sz="80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2798064"/>
        </p:xfrm>
        <a:graphic>
          <a:graphicData uri="http://schemas.openxmlformats.org/drawingml/2006/table">
            <a:tbl>
              <a:tblPr/>
              <a:tblGrid>
                <a:gridCol w="37490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Aspect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First draft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Storyboarded arc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Slides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22 (dashboard export)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7 + appendix</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Recommendation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slide 22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slide 1 (BLUF)</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Big Idea</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absent (topic deck)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one sentence, peer-restated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Objection handling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none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per-capita rebuttal seated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Peer time to grasp ask</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did not finish</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70 s from BLUF alone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Text 11"/>
          <p:cNvSpPr/>
          <p:nvPr/>
        </p:nvSpPr>
        <p:spPr>
          <a:xfrm>
            <a:off x="548640" y="4956048"/>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Targets after M5: Big Idea passes peer-restatement, deck ≤ 7 scenes, 100% of slides advance the decision.</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TRAINING ASSETS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Required Visuals &amp; Training Assets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الأصول التدريبية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143</a:t>
            </a:r>
            <a:endParaRPr lang="en-US" sz="800" dirty="0"/>
          </a:p>
        </p:txBody>
      </p:sp>
      <p:sp>
        <p:nvSpPr>
          <p:cNvPr id="15" name="Shape 12"/>
          <p:cNvSpPr/>
          <p:nvPr/>
        </p:nvSpPr>
        <p:spPr>
          <a:xfrm>
            <a:off x="548640" y="2377440"/>
            <a:ext cx="3515258" cy="3657600"/>
          </a:xfrm>
          <a:prstGeom prst="roundRect">
            <a:avLst>
              <a:gd name="adj" fmla="val 2341"/>
            </a:avLst>
          </a:prstGeom>
          <a:solidFill>
            <a:srgbClr val="FFFFFF"/>
          </a:solidFill>
          <a:ln w="12700">
            <a:solidFill>
              <a:srgbClr val="D9DEE8"/>
            </a:solidFill>
            <a:prstDash val="solid"/>
          </a:ln>
        </p:spPr>
      </p:sp>
      <p:sp>
        <p:nvSpPr>
          <p:cNvPr id="16" name="Shape 13"/>
          <p:cNvSpPr/>
          <p:nvPr/>
        </p:nvSpPr>
        <p:spPr>
          <a:xfrm>
            <a:off x="548640" y="2377440"/>
            <a:ext cx="3515258" cy="457200"/>
          </a:xfrm>
          <a:prstGeom prst="roundRect">
            <a:avLst>
              <a:gd name="adj" fmla="val 18000"/>
            </a:avLst>
          </a:prstGeom>
          <a:solidFill>
            <a:srgbClr val="2E5AAC"/>
          </a:solidFill>
          <a:ln/>
        </p:spPr>
      </p:sp>
      <p:sp>
        <p:nvSpPr>
          <p:cNvPr id="17" name="Shape 14"/>
          <p:cNvSpPr/>
          <p:nvPr/>
        </p:nvSpPr>
        <p:spPr>
          <a:xfrm>
            <a:off x="548640" y="2606040"/>
            <a:ext cx="3515258" cy="228600"/>
          </a:xfrm>
          <a:prstGeom prst="rect">
            <a:avLst/>
          </a:prstGeom>
          <a:solidFill>
            <a:srgbClr val="2E5AAC"/>
          </a:solidFill>
          <a:ln/>
        </p:spPr>
      </p:sp>
      <p:sp>
        <p:nvSpPr>
          <p:cNvPr id="18" name="Text 15"/>
          <p:cNvSpPr/>
          <p:nvPr/>
        </p:nvSpPr>
        <p:spPr>
          <a:xfrm>
            <a:off x="640080"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Diagrams</a:t>
            </a:r>
            <a:endParaRPr lang="en-US" sz="1250" dirty="0"/>
          </a:p>
        </p:txBody>
      </p:sp>
      <p:sp>
        <p:nvSpPr>
          <p:cNvPr id="19" name="Text 16"/>
          <p:cNvSpPr/>
          <p:nvPr/>
        </p:nvSpPr>
        <p:spPr>
          <a:xfrm>
            <a:off x="713232" y="2971800"/>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Exploration → explanation funnel</a:t>
            </a:r>
            <a:endParaRPr lang="en-US" sz="1050" dirty="0"/>
          </a:p>
        </p:txBody>
      </p:sp>
      <p:sp>
        <p:nvSpPr>
          <p:cNvPr id="20" name="Text 17"/>
          <p:cNvSpPr/>
          <p:nvPr/>
        </p:nvSpPr>
        <p:spPr>
          <a:xfrm>
            <a:off x="713232" y="3392424"/>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Big Idea anatomy (POV / stakes / action)</a:t>
            </a:r>
            <a:endParaRPr lang="en-US" sz="1050" dirty="0"/>
          </a:p>
        </p:txBody>
      </p:sp>
      <p:sp>
        <p:nvSpPr>
          <p:cNvPr id="21" name="Text 18"/>
          <p:cNvSpPr/>
          <p:nvPr/>
        </p:nvSpPr>
        <p:spPr>
          <a:xfrm>
            <a:off x="713232" y="3813048"/>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Three narrative arcs, side by side</a:t>
            </a:r>
            <a:endParaRPr lang="en-US" sz="1050" dirty="0"/>
          </a:p>
        </p:txBody>
      </p:sp>
      <p:sp>
        <p:nvSpPr>
          <p:cNvPr id="22" name="Text 19"/>
          <p:cNvSpPr/>
          <p:nvPr/>
        </p:nvSpPr>
        <p:spPr>
          <a:xfrm>
            <a:off x="713232" y="4233672"/>
            <a:ext cx="3204362"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The seven-slide executive arc strip</a:t>
            </a:r>
            <a:endParaRPr lang="en-US" sz="1050" dirty="0"/>
          </a:p>
        </p:txBody>
      </p:sp>
      <p:sp>
        <p:nvSpPr>
          <p:cNvPr id="23" name="Shape 20"/>
          <p:cNvSpPr/>
          <p:nvPr/>
        </p:nvSpPr>
        <p:spPr>
          <a:xfrm>
            <a:off x="4338218" y="2377440"/>
            <a:ext cx="3515258" cy="3657600"/>
          </a:xfrm>
          <a:prstGeom prst="roundRect">
            <a:avLst>
              <a:gd name="adj" fmla="val 2341"/>
            </a:avLst>
          </a:prstGeom>
          <a:solidFill>
            <a:srgbClr val="FFFFFF"/>
          </a:solidFill>
          <a:ln w="12700">
            <a:solidFill>
              <a:srgbClr val="D9DEE8"/>
            </a:solidFill>
            <a:prstDash val="solid"/>
          </a:ln>
        </p:spPr>
      </p:sp>
      <p:sp>
        <p:nvSpPr>
          <p:cNvPr id="24" name="Shape 21"/>
          <p:cNvSpPr/>
          <p:nvPr/>
        </p:nvSpPr>
        <p:spPr>
          <a:xfrm>
            <a:off x="4338218" y="2377440"/>
            <a:ext cx="3515258" cy="457200"/>
          </a:xfrm>
          <a:prstGeom prst="roundRect">
            <a:avLst>
              <a:gd name="adj" fmla="val 18000"/>
            </a:avLst>
          </a:prstGeom>
          <a:solidFill>
            <a:srgbClr val="00A79D"/>
          </a:solidFill>
          <a:ln/>
        </p:spPr>
      </p:sp>
      <p:sp>
        <p:nvSpPr>
          <p:cNvPr id="25" name="Shape 22"/>
          <p:cNvSpPr/>
          <p:nvPr/>
        </p:nvSpPr>
        <p:spPr>
          <a:xfrm>
            <a:off x="4338218" y="2606040"/>
            <a:ext cx="3515258" cy="228600"/>
          </a:xfrm>
          <a:prstGeom prst="rect">
            <a:avLst/>
          </a:prstGeom>
          <a:solidFill>
            <a:srgbClr val="00A79D"/>
          </a:solidFill>
          <a:ln/>
        </p:spPr>
      </p:sp>
      <p:sp>
        <p:nvSpPr>
          <p:cNvPr id="26" name="Text 23"/>
          <p:cNvSpPr/>
          <p:nvPr/>
        </p:nvSpPr>
        <p:spPr>
          <a:xfrm>
            <a:off x="4429658"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Images</a:t>
            </a:r>
            <a:endParaRPr lang="en-US" sz="1250" dirty="0"/>
          </a:p>
        </p:txBody>
      </p:sp>
      <p:sp>
        <p:nvSpPr>
          <p:cNvPr id="27" name="Text 24"/>
          <p:cNvSpPr/>
          <p:nvPr/>
        </p:nvSpPr>
        <p:spPr>
          <a:xfrm>
            <a:off x="4502810" y="2971800"/>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Three rendered scenes (m5_scene_*.png)</a:t>
            </a:r>
            <a:endParaRPr lang="en-US" sz="1050" dirty="0"/>
          </a:p>
        </p:txBody>
      </p:sp>
      <p:sp>
        <p:nvSpPr>
          <p:cNvPr id="28" name="Text 25"/>
          <p:cNvSpPr/>
          <p:nvPr/>
        </p:nvSpPr>
        <p:spPr>
          <a:xfrm>
            <a:off x="4502810" y="3392424"/>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Progressive-reveal build in three layers</a:t>
            </a:r>
            <a:endParaRPr lang="en-US" sz="1050" dirty="0"/>
          </a:p>
        </p:txBody>
      </p:sp>
      <p:sp>
        <p:nvSpPr>
          <p:cNvPr id="29" name="Text 26"/>
          <p:cNvSpPr/>
          <p:nvPr/>
        </p:nvSpPr>
        <p:spPr>
          <a:xfrm>
            <a:off x="4502810" y="3813048"/>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BLUF memo output (90-second top-line)</a:t>
            </a:r>
            <a:endParaRPr lang="en-US" sz="1050" dirty="0"/>
          </a:p>
        </p:txBody>
      </p:sp>
      <p:sp>
        <p:nvSpPr>
          <p:cNvPr id="30" name="Text 27"/>
          <p:cNvSpPr/>
          <p:nvPr/>
        </p:nvSpPr>
        <p:spPr>
          <a:xfrm>
            <a:off x="4502810" y="4233672"/>
            <a:ext cx="3204362"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Before/after deck: 22 vs 7 slides</a:t>
            </a:r>
            <a:endParaRPr lang="en-US" sz="1050" dirty="0"/>
          </a:p>
        </p:txBody>
      </p:sp>
      <p:sp>
        <p:nvSpPr>
          <p:cNvPr id="31" name="Shape 28"/>
          <p:cNvSpPr/>
          <p:nvPr/>
        </p:nvSpPr>
        <p:spPr>
          <a:xfrm>
            <a:off x="8127797" y="2377440"/>
            <a:ext cx="3515258" cy="3657600"/>
          </a:xfrm>
          <a:prstGeom prst="roundRect">
            <a:avLst>
              <a:gd name="adj" fmla="val 2341"/>
            </a:avLst>
          </a:prstGeom>
          <a:solidFill>
            <a:srgbClr val="FFFFFF"/>
          </a:solidFill>
          <a:ln w="12700">
            <a:solidFill>
              <a:srgbClr val="D9DEE8"/>
            </a:solidFill>
            <a:prstDash val="solid"/>
          </a:ln>
        </p:spPr>
      </p:sp>
      <p:sp>
        <p:nvSpPr>
          <p:cNvPr id="32" name="Shape 29"/>
          <p:cNvSpPr/>
          <p:nvPr/>
        </p:nvSpPr>
        <p:spPr>
          <a:xfrm>
            <a:off x="8127797" y="2377440"/>
            <a:ext cx="3515258" cy="457200"/>
          </a:xfrm>
          <a:prstGeom prst="roundRect">
            <a:avLst>
              <a:gd name="adj" fmla="val 18000"/>
            </a:avLst>
          </a:prstGeom>
          <a:solidFill>
            <a:srgbClr val="E8833A"/>
          </a:solidFill>
          <a:ln/>
        </p:spPr>
      </p:sp>
      <p:sp>
        <p:nvSpPr>
          <p:cNvPr id="33" name="Shape 30"/>
          <p:cNvSpPr/>
          <p:nvPr/>
        </p:nvSpPr>
        <p:spPr>
          <a:xfrm>
            <a:off x="8127797" y="2606040"/>
            <a:ext cx="3515258" cy="228600"/>
          </a:xfrm>
          <a:prstGeom prst="rect">
            <a:avLst/>
          </a:prstGeom>
          <a:solidFill>
            <a:srgbClr val="E8833A"/>
          </a:solidFill>
          <a:ln/>
        </p:spPr>
      </p:sp>
      <p:sp>
        <p:nvSpPr>
          <p:cNvPr id="34" name="Text 31"/>
          <p:cNvSpPr/>
          <p:nvPr/>
        </p:nvSpPr>
        <p:spPr>
          <a:xfrm>
            <a:off x="8219237" y="2377440"/>
            <a:ext cx="3332378"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Datasets</a:t>
            </a:r>
            <a:endParaRPr lang="en-US" sz="1250" dirty="0"/>
          </a:p>
        </p:txBody>
      </p:sp>
      <p:sp>
        <p:nvSpPr>
          <p:cNvPr id="35" name="Text 32"/>
          <p:cNvSpPr/>
          <p:nvPr/>
        </p:nvSpPr>
        <p:spPr>
          <a:xfrm>
            <a:off x="8292389" y="2971800"/>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tayseer_services.csv (~28,000 rows)</a:t>
            </a:r>
            <a:endParaRPr lang="en-US" sz="1050" dirty="0"/>
          </a:p>
        </p:txBody>
      </p:sp>
      <p:sp>
        <p:nvSpPr>
          <p:cNvPr id="36" name="Text 33"/>
          <p:cNvSpPr/>
          <p:nvPr/>
        </p:nvSpPr>
        <p:spPr>
          <a:xfrm>
            <a:off x="8292389" y="3392424"/>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dashboard_findings.md (1 page, from M4)</a:t>
            </a:r>
            <a:endParaRPr lang="en-US" sz="1050" dirty="0"/>
          </a:p>
        </p:txBody>
      </p:sp>
      <p:sp>
        <p:nvSpPr>
          <p:cNvPr id="37" name="Text 34"/>
          <p:cNvSpPr/>
          <p:nvPr/>
        </p:nvSpPr>
        <p:spPr>
          <a:xfrm>
            <a:off x="8292389" y="3813048"/>
            <a:ext cx="3204362"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story/ starter: storyboard.py, bluf.py</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marL="0" indent="0" algn="l">
              <a:buNone/>
            </a:pPr>
            <a:r>
              <a:rPr lang="en-US" sz="15000" b="1" dirty="0">
                <a:solidFill>
                  <a:srgbClr val="27345F"/>
                </a:solidFill>
                <a:latin typeface="Arial" pitchFamily="34" charset="0"/>
                <a:ea typeface="Arial" pitchFamily="34" charset="-122"/>
                <a:cs typeface="Arial" pitchFamily="34" charset="-120"/>
              </a:rPr>
              <a:t>06</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marL="0" indent="0">
              <a:buNone/>
            </a:pPr>
            <a:r>
              <a:rPr lang="en-US" sz="1400" b="1" kern="0" spc="300" dirty="0">
                <a:solidFill>
                  <a:srgbClr val="00A79D"/>
                </a:solidFill>
                <a:latin typeface="Arial" pitchFamily="34" charset="0"/>
                <a:ea typeface="Arial" pitchFamily="34" charset="-122"/>
                <a:cs typeface="Arial" pitchFamily="34" charset="-120"/>
              </a:rPr>
              <a:t>MODULE 6</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marL="0" indent="0">
              <a:buNone/>
            </a:pPr>
            <a:r>
              <a:rPr lang="en-US" sz="3400" b="1" dirty="0">
                <a:solidFill>
                  <a:srgbClr val="FFFFFF"/>
                </a:solidFill>
                <a:latin typeface="Arial" pitchFamily="34" charset="0"/>
                <a:ea typeface="Arial" pitchFamily="34" charset="-122"/>
                <a:cs typeface="Arial" pitchFamily="34" charset="-120"/>
              </a:rPr>
              <a:t>Executive Communication &amp; Presentation</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marL="0" indent="0">
              <a:buNone/>
            </a:pPr>
            <a:r>
              <a:rPr lang="en-US" sz="1800" dirty="0">
                <a:solidFill>
                  <a:srgbClr val="C9D3EA"/>
                </a:solidFill>
                <a:latin typeface="Arial" pitchFamily="34" charset="0"/>
                <a:ea typeface="Arial" pitchFamily="34" charset="-122"/>
                <a:cs typeface="Arial" pitchFamily="34" charset="-120"/>
              </a:rPr>
              <a:t>التواصل التنفيذي والعرض</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marL="0" indent="0">
              <a:buNone/>
            </a:pPr>
            <a:r>
              <a:rPr lang="en-US" sz="1250" dirty="0">
                <a:solidFill>
                  <a:srgbClr val="AEB8D0"/>
                </a:solidFill>
                <a:latin typeface="Arial" pitchFamily="34" charset="0"/>
                <a:ea typeface="Arial" pitchFamily="34" charset="-122"/>
                <a:cs typeface="Arial" pitchFamily="34" charset="-120"/>
              </a:rPr>
              <a:t>The final mile: delivering the storyboard live to a Steering Committee — open with the ask, hold attention, survive Q&amp;A.</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MODULE OVERVIEW</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storyboard is a plan; this is delivery</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من التخطيط إلى الأداء</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145</a:t>
            </a:r>
            <a:endParaRPr lang="en-US" sz="800" dirty="0"/>
          </a:p>
        </p:txBody>
      </p:sp>
      <p:sp>
        <p:nvSpPr>
          <p:cNvPr id="15" name="Text 12"/>
          <p:cNvSpPr/>
          <p:nvPr/>
        </p:nvSpPr>
        <p:spPr>
          <a:xfrm>
            <a:off x="548640" y="2377440"/>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The moment a data scientist stands before a Steering Committee, has three minutes of attention, and either changes a decision or does not.</a:t>
            </a:r>
            <a:endParaRPr lang="en-US" sz="1300" dirty="0"/>
          </a:p>
        </p:txBody>
      </p:sp>
      <p:sp>
        <p:nvSpPr>
          <p:cNvPr id="16" name="Shape 13"/>
          <p:cNvSpPr/>
          <p:nvPr/>
        </p:nvSpPr>
        <p:spPr>
          <a:xfrm>
            <a:off x="548640" y="3209544"/>
            <a:ext cx="100584" cy="420624"/>
          </a:xfrm>
          <a:prstGeom prst="rect">
            <a:avLst/>
          </a:prstGeom>
          <a:solidFill>
            <a:srgbClr val="2E5AAC"/>
          </a:solidFill>
          <a:ln/>
        </p:spPr>
      </p:sp>
      <p:sp>
        <p:nvSpPr>
          <p:cNvPr id="17" name="Text 14"/>
          <p:cNvSpPr/>
          <p:nvPr/>
        </p:nvSpPr>
        <p:spPr>
          <a:xfrm>
            <a:off x="804672" y="315468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Delivery, not design:  </a:t>
            </a:r>
            <a:r>
              <a:rPr lang="en-US" sz="1250" dirty="0">
                <a:solidFill>
                  <a:srgbClr val="343A4E"/>
                </a:solidFill>
                <a:latin typeface="Arial" pitchFamily="34" charset="0"/>
                <a:ea typeface="Arial" pitchFamily="34" charset="-122"/>
                <a:cs typeface="Arial" pitchFamily="34" charset="-120"/>
              </a:rPr>
              <a:t>Open with the ask, control a slide's reveal while speaking, field a hostile question without losing the thread.</a:t>
            </a:r>
            <a:endParaRPr lang="en-US" sz="1250" dirty="0"/>
          </a:p>
        </p:txBody>
      </p:sp>
      <p:sp>
        <p:nvSpPr>
          <p:cNvPr id="18" name="Shape 15"/>
          <p:cNvSpPr/>
          <p:nvPr/>
        </p:nvSpPr>
        <p:spPr>
          <a:xfrm>
            <a:off x="548640" y="3776472"/>
            <a:ext cx="100584" cy="420624"/>
          </a:xfrm>
          <a:prstGeom prst="rect">
            <a:avLst/>
          </a:prstGeom>
          <a:solidFill>
            <a:srgbClr val="00A79D"/>
          </a:solidFill>
          <a:ln/>
        </p:spPr>
      </p:sp>
      <p:sp>
        <p:nvSpPr>
          <p:cNvPr id="19" name="Text 16"/>
          <p:cNvSpPr/>
          <p:nvPr/>
        </p:nvSpPr>
        <p:spPr>
          <a:xfrm>
            <a:off x="804672" y="372160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Senior-audience craft:  </a:t>
            </a:r>
            <a:r>
              <a:rPr lang="en-US" sz="1250" dirty="0">
                <a:solidFill>
                  <a:srgbClr val="343A4E"/>
                </a:solidFill>
                <a:latin typeface="Arial" pitchFamily="34" charset="0"/>
                <a:ea typeface="Arial" pitchFamily="34" charset="-122"/>
                <a:cs typeface="Arial" pitchFamily="34" charset="-120"/>
              </a:rPr>
              <a:t>Handle the specific dynamics of a senior Saudi government audience — protocol, hierarchy, bilingual delivery.</a:t>
            </a:r>
            <a:endParaRPr lang="en-US" sz="1250" dirty="0"/>
          </a:p>
        </p:txBody>
      </p:sp>
      <p:sp>
        <p:nvSpPr>
          <p:cNvPr id="20" name="Shape 17"/>
          <p:cNvSpPr/>
          <p:nvPr/>
        </p:nvSpPr>
        <p:spPr>
          <a:xfrm>
            <a:off x="548640" y="4343400"/>
            <a:ext cx="100584" cy="420624"/>
          </a:xfrm>
          <a:prstGeom prst="rect">
            <a:avLst/>
          </a:prstGeom>
          <a:solidFill>
            <a:srgbClr val="E8833A"/>
          </a:solidFill>
          <a:ln/>
        </p:spPr>
      </p:sp>
      <p:sp>
        <p:nvSpPr>
          <p:cNvPr id="21" name="Text 18"/>
          <p:cNvSpPr/>
          <p:nvPr/>
        </p:nvSpPr>
        <p:spPr>
          <a:xfrm>
            <a:off x="804672" y="4288536"/>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A lab, not a lecture:  </a:t>
            </a:r>
            <a:r>
              <a:rPr lang="en-US" sz="1250" dirty="0">
                <a:solidFill>
                  <a:srgbClr val="343A4E"/>
                </a:solidFill>
                <a:latin typeface="Arial" pitchFamily="34" charset="0"/>
                <a:ea typeface="Arial" pitchFamily="34" charset="-122"/>
                <a:cs typeface="Arial" pitchFamily="34" charset="-120"/>
              </a:rPr>
              <a:t>Participants rehearse, are recorded, receive critique, and iterate — improvement comes only from reps and feedback.</a:t>
            </a:r>
            <a:endParaRPr lang="en-US" sz="12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BUSINESS RELEVANCE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whole value chain converges on one event</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146</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Perception, chart choice, colour, dashboards, narrative — all of it converges on the executive briefing. A brilliant analysis delivered badly produces the same outcome as no analysis.</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Delivered nervously:  </a:t>
            </a:r>
            <a:r>
              <a:rPr lang="en-US" sz="1250" dirty="0">
                <a:solidFill>
                  <a:srgbClr val="343A4E"/>
                </a:solidFill>
                <a:latin typeface="Arial" pitchFamily="34" charset="0"/>
                <a:ea typeface="Arial" pitchFamily="34" charset="-122"/>
                <a:cs typeface="Arial" pitchFamily="34" charset="-120"/>
              </a:rPr>
              <a:t>Buried in setup, or derailed by the first tough question — the analysis may as well not exist.</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Delivered well:  </a:t>
            </a:r>
            <a:r>
              <a:rPr lang="en-US" sz="1250" dirty="0">
                <a:solidFill>
                  <a:srgbClr val="343A4E"/>
                </a:solidFill>
                <a:latin typeface="Arial" pitchFamily="34" charset="0"/>
                <a:ea typeface="Arial" pitchFamily="34" charset="-122"/>
                <a:cs typeface="Arial" pitchFamily="34" charset="-120"/>
              </a:rPr>
              <a:t>Open with the recommendation, hold the committee, answer a Deputy Minister calmly — you become the trusted advisor.</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Vision 2030:  </a:t>
            </a:r>
            <a:r>
              <a:rPr lang="en-US" sz="1250" dirty="0">
                <a:solidFill>
                  <a:srgbClr val="343A4E"/>
                </a:solidFill>
                <a:latin typeface="Arial" pitchFamily="34" charset="0"/>
                <a:ea typeface="Arial" pitchFamily="34" charset="-122"/>
                <a:cs typeface="Arial" pitchFamily="34" charset="-120"/>
              </a:rPr>
              <a:t>In delivery units this skill separates analytics that informs decisions from analytics that decorates them.</a:t>
            </a:r>
            <a:endParaRPr lang="en-US" sz="12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INDUSTRY USE CASES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Where delivery decides the outcome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147</a:t>
            </a:r>
            <a:endParaRPr lang="en-US" sz="800" dirty="0"/>
          </a:p>
        </p:txBody>
      </p:sp>
      <p:sp>
        <p:nvSpPr>
          <p:cNvPr id="14" name="Shape 11"/>
          <p:cNvSpPr/>
          <p:nvPr/>
        </p:nvSpPr>
        <p:spPr>
          <a:xfrm>
            <a:off x="548640" y="2066544"/>
            <a:ext cx="3515258" cy="2011680"/>
          </a:xfrm>
          <a:prstGeom prst="roundRect">
            <a:avLst>
              <a:gd name="adj" fmla="val 3636"/>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Shape 13"/>
          <p:cNvSpPr/>
          <p:nvPr/>
        </p:nvSpPr>
        <p:spPr>
          <a:xfrm>
            <a:off x="731520" y="2249424"/>
            <a:ext cx="822960" cy="292608"/>
          </a:xfrm>
          <a:prstGeom prst="roundRect">
            <a:avLst>
              <a:gd name="adj" fmla="val 18750"/>
            </a:avLst>
          </a:prstGeom>
          <a:solidFill>
            <a:srgbClr val="EAF0FA"/>
          </a:solidFill>
          <a:ln/>
        </p:spPr>
      </p:sp>
      <p:sp>
        <p:nvSpPr>
          <p:cNvPr id="17" name="Text 14"/>
          <p:cNvSpPr/>
          <p:nvPr/>
        </p:nvSpPr>
        <p:spPr>
          <a:xfrm>
            <a:off x="731520" y="2249424"/>
            <a:ext cx="822960" cy="292608"/>
          </a:xfrm>
          <a:prstGeom prst="rect">
            <a:avLst/>
          </a:prstGeom>
          <a:noFill/>
          <a:ln/>
        </p:spPr>
        <p:txBody>
          <a:bodyPr wrap="square" rtlCol="0" anchor="ctr"/>
          <a:lstStyle/>
          <a:p>
            <a:pPr marL="0" indent="0" algn="ctr">
              <a:buNone/>
            </a:pPr>
            <a:r>
              <a:rPr lang="en-US" sz="1000" b="1" dirty="0">
                <a:solidFill>
                  <a:srgbClr val="2E5AAC"/>
                </a:solidFill>
                <a:latin typeface="Arial" pitchFamily="34" charset="0"/>
                <a:ea typeface="Arial" pitchFamily="34" charset="-122"/>
                <a:cs typeface="Arial" pitchFamily="34" charset="-120"/>
              </a:rPr>
              <a:t>Gov</a:t>
            </a:r>
            <a:endParaRPr lang="en-US" sz="1000" dirty="0"/>
          </a:p>
        </p:txBody>
      </p:sp>
      <p:sp>
        <p:nvSpPr>
          <p:cNvPr id="18" name="Text 15"/>
          <p:cNvSpPr/>
          <p:nvPr/>
        </p:nvSpPr>
        <p:spPr>
          <a:xfrm>
            <a:off x="731520"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The SAR 40m recommendation</a:t>
            </a:r>
            <a:endParaRPr lang="en-US" sz="1300" dirty="0"/>
          </a:p>
        </p:txBody>
      </p:sp>
      <p:sp>
        <p:nvSpPr>
          <p:cNvPr id="19" name="Text 16"/>
          <p:cNvSpPr/>
          <p:nvPr/>
        </p:nvSpPr>
        <p:spPr>
          <a:xfrm>
            <a:off x="731520"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 data scientist presents to a Deputy Minister-chaired committee, opens with the ask, and defends it under challenge in a 15-minute slot.</a:t>
            </a:r>
            <a:endParaRPr lang="en-US" sz="1050" dirty="0"/>
          </a:p>
        </p:txBody>
      </p:sp>
      <p:sp>
        <p:nvSpPr>
          <p:cNvPr id="20" name="Shape 17"/>
          <p:cNvSpPr/>
          <p:nvPr/>
        </p:nvSpPr>
        <p:spPr>
          <a:xfrm>
            <a:off x="4338218" y="2066544"/>
            <a:ext cx="3515258" cy="2011680"/>
          </a:xfrm>
          <a:prstGeom prst="roundRect">
            <a:avLst>
              <a:gd name="adj" fmla="val 3636"/>
            </a:avLst>
          </a:prstGeom>
          <a:solidFill>
            <a:srgbClr val="FFFFFF"/>
          </a:solidFill>
          <a:ln w="12700">
            <a:solidFill>
              <a:srgbClr val="D9DEE8"/>
            </a:solidFill>
            <a:prstDash val="solid"/>
          </a:ln>
        </p:spPr>
      </p:sp>
      <p:sp>
        <p:nvSpPr>
          <p:cNvPr id="21" name="Shape 18"/>
          <p:cNvSpPr/>
          <p:nvPr/>
        </p:nvSpPr>
        <p:spPr>
          <a:xfrm>
            <a:off x="4338218" y="2066544"/>
            <a:ext cx="3515258" cy="82296"/>
          </a:xfrm>
          <a:prstGeom prst="rect">
            <a:avLst/>
          </a:prstGeom>
          <a:solidFill>
            <a:srgbClr val="00A79D"/>
          </a:solidFill>
          <a:ln/>
        </p:spPr>
      </p:sp>
      <p:sp>
        <p:nvSpPr>
          <p:cNvPr id="22" name="Shape 19"/>
          <p:cNvSpPr/>
          <p:nvPr/>
        </p:nvSpPr>
        <p:spPr>
          <a:xfrm>
            <a:off x="4521098" y="2249424"/>
            <a:ext cx="822960" cy="292608"/>
          </a:xfrm>
          <a:prstGeom prst="roundRect">
            <a:avLst>
              <a:gd name="adj" fmla="val 18750"/>
            </a:avLst>
          </a:prstGeom>
          <a:solidFill>
            <a:srgbClr val="E6F5F4"/>
          </a:solidFill>
          <a:ln/>
        </p:spPr>
      </p:sp>
      <p:sp>
        <p:nvSpPr>
          <p:cNvPr id="23" name="Text 20"/>
          <p:cNvSpPr/>
          <p:nvPr/>
        </p:nvSpPr>
        <p:spPr>
          <a:xfrm>
            <a:off x="4521098" y="2249424"/>
            <a:ext cx="822960" cy="292608"/>
          </a:xfrm>
          <a:prstGeom prst="rect">
            <a:avLst/>
          </a:prstGeom>
          <a:noFill/>
          <a:ln/>
        </p:spPr>
        <p:txBody>
          <a:bodyPr wrap="square" rtlCol="0" anchor="ctr"/>
          <a:lstStyle/>
          <a:p>
            <a:pPr marL="0" indent="0" algn="ctr">
              <a:buNone/>
            </a:pPr>
            <a:r>
              <a:rPr lang="en-US" sz="1000" b="1" dirty="0">
                <a:solidFill>
                  <a:srgbClr val="00A79D"/>
                </a:solidFill>
                <a:latin typeface="Arial" pitchFamily="34" charset="0"/>
                <a:ea typeface="Arial" pitchFamily="34" charset="-122"/>
                <a:cs typeface="Arial" pitchFamily="34" charset="-120"/>
              </a:rPr>
              <a:t>Lead</a:t>
            </a:r>
            <a:endParaRPr lang="en-US" sz="1000" dirty="0"/>
          </a:p>
        </p:txBody>
      </p:sp>
      <p:sp>
        <p:nvSpPr>
          <p:cNvPr id="24" name="Text 21"/>
          <p:cNvSpPr/>
          <p:nvPr/>
        </p:nvSpPr>
        <p:spPr>
          <a:xfrm>
            <a:off x="4521098"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The two-minute stand-up</a:t>
            </a:r>
            <a:endParaRPr lang="en-US" sz="1300" dirty="0"/>
          </a:p>
        </p:txBody>
      </p:sp>
      <p:sp>
        <p:nvSpPr>
          <p:cNvPr id="25" name="Text 22"/>
          <p:cNvSpPr/>
          <p:nvPr/>
        </p:nvSpPr>
        <p:spPr>
          <a:xfrm>
            <a:off x="4521098"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An analytics lead delivers a top-line to a program director between meetings — recommendation, one reason, one number.</a:t>
            </a:r>
            <a:endParaRPr lang="en-US" sz="1050" dirty="0"/>
          </a:p>
        </p:txBody>
      </p:sp>
      <p:sp>
        <p:nvSpPr>
          <p:cNvPr id="26" name="Shape 23"/>
          <p:cNvSpPr/>
          <p:nvPr/>
        </p:nvSpPr>
        <p:spPr>
          <a:xfrm>
            <a:off x="8127797" y="2066544"/>
            <a:ext cx="3515258" cy="2011680"/>
          </a:xfrm>
          <a:prstGeom prst="roundRect">
            <a:avLst>
              <a:gd name="adj" fmla="val 3636"/>
            </a:avLst>
          </a:prstGeom>
          <a:solidFill>
            <a:srgbClr val="FFFFFF"/>
          </a:solidFill>
          <a:ln w="12700">
            <a:solidFill>
              <a:srgbClr val="D9DEE8"/>
            </a:solidFill>
            <a:prstDash val="solid"/>
          </a:ln>
        </p:spPr>
      </p:sp>
      <p:sp>
        <p:nvSpPr>
          <p:cNvPr id="27" name="Shape 24"/>
          <p:cNvSpPr/>
          <p:nvPr/>
        </p:nvSpPr>
        <p:spPr>
          <a:xfrm>
            <a:off x="8127797" y="2066544"/>
            <a:ext cx="3515258" cy="82296"/>
          </a:xfrm>
          <a:prstGeom prst="rect">
            <a:avLst/>
          </a:prstGeom>
          <a:solidFill>
            <a:srgbClr val="E8833A"/>
          </a:solidFill>
          <a:ln/>
        </p:spPr>
      </p:sp>
      <p:sp>
        <p:nvSpPr>
          <p:cNvPr id="28" name="Shape 25"/>
          <p:cNvSpPr/>
          <p:nvPr/>
        </p:nvSpPr>
        <p:spPr>
          <a:xfrm>
            <a:off x="8310677" y="2249424"/>
            <a:ext cx="822960" cy="292608"/>
          </a:xfrm>
          <a:prstGeom prst="roundRect">
            <a:avLst>
              <a:gd name="adj" fmla="val 18750"/>
            </a:avLst>
          </a:prstGeom>
          <a:solidFill>
            <a:srgbClr val="FCF0E6"/>
          </a:solidFill>
          <a:ln/>
        </p:spPr>
      </p:sp>
      <p:sp>
        <p:nvSpPr>
          <p:cNvPr id="29" name="Text 26"/>
          <p:cNvSpPr/>
          <p:nvPr/>
        </p:nvSpPr>
        <p:spPr>
          <a:xfrm>
            <a:off x="8310677" y="2249424"/>
            <a:ext cx="822960" cy="292608"/>
          </a:xfrm>
          <a:prstGeom prst="rect">
            <a:avLst/>
          </a:prstGeom>
          <a:noFill/>
          <a:ln/>
        </p:spPr>
        <p:txBody>
          <a:bodyPr wrap="square" rtlCol="0" anchor="ctr"/>
          <a:lstStyle/>
          <a:p>
            <a:pPr marL="0" indent="0" algn="ctr">
              <a:buNone/>
            </a:pPr>
            <a:r>
              <a:rPr lang="en-US" sz="1000" b="1" dirty="0">
                <a:solidFill>
                  <a:srgbClr val="E8833A"/>
                </a:solidFill>
                <a:latin typeface="Arial" pitchFamily="34" charset="0"/>
                <a:ea typeface="Arial" pitchFamily="34" charset="-122"/>
                <a:cs typeface="Arial" pitchFamily="34" charset="-120"/>
              </a:rPr>
              <a:t>Review</a:t>
            </a:r>
            <a:endParaRPr lang="en-US" sz="1000" dirty="0"/>
          </a:p>
        </p:txBody>
      </p:sp>
      <p:sp>
        <p:nvSpPr>
          <p:cNvPr id="30" name="Text 27"/>
          <p:cNvSpPr/>
          <p:nvPr/>
        </p:nvSpPr>
        <p:spPr>
          <a:xfrm>
            <a:off x="8310677" y="2633472"/>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'Your numbers are wrong'</a:t>
            </a:r>
            <a:endParaRPr lang="en-US" sz="1300" dirty="0"/>
          </a:p>
        </p:txBody>
      </p:sp>
      <p:sp>
        <p:nvSpPr>
          <p:cNvPr id="31" name="Text 28"/>
          <p:cNvSpPr/>
          <p:nvPr/>
        </p:nvSpPr>
        <p:spPr>
          <a:xfrm>
            <a:off x="8310677" y="2999232"/>
            <a:ext cx="3149498" cy="96926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 team fields the objection by separating the challenged number from the recommendation and routing detail to the appendix.</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EXPECTED COMPETENCIES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What a participant can do after Module 6</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148</a:t>
            </a:r>
            <a:endParaRPr lang="en-US" sz="800" dirty="0"/>
          </a:p>
        </p:txBody>
      </p:sp>
      <p:sp>
        <p:nvSpPr>
          <p:cNvPr id="14" name="Shape 11"/>
          <p:cNvSpPr/>
          <p:nvPr/>
        </p:nvSpPr>
        <p:spPr>
          <a:xfrm>
            <a:off x="548640" y="2121408"/>
            <a:ext cx="100584" cy="420624"/>
          </a:xfrm>
          <a:prstGeom prst="rect">
            <a:avLst/>
          </a:prstGeom>
          <a:solidFill>
            <a:srgbClr val="2E5AAC"/>
          </a:solidFill>
          <a:ln/>
        </p:spPr>
      </p:sp>
      <p:sp>
        <p:nvSpPr>
          <p:cNvPr id="15" name="Text 12"/>
          <p:cNvSpPr/>
          <p:nvPr/>
        </p:nvSpPr>
        <p:spPr>
          <a:xfrm>
            <a:off x="804672" y="206654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Open with the BLUF:  </a:t>
            </a:r>
            <a:r>
              <a:rPr lang="en-US" sz="1250" dirty="0">
                <a:solidFill>
                  <a:srgbClr val="343A4E"/>
                </a:solidFill>
                <a:latin typeface="Arial" pitchFamily="34" charset="0"/>
                <a:ea typeface="Arial" pitchFamily="34" charset="-122"/>
                <a:cs typeface="Arial" pitchFamily="34" charset="-120"/>
              </a:rPr>
              <a:t>Begin a briefing with the recommendation and a clear, decidable ask.</a:t>
            </a:r>
            <a:endParaRPr lang="en-US" sz="1250" dirty="0"/>
          </a:p>
        </p:txBody>
      </p:sp>
      <p:sp>
        <p:nvSpPr>
          <p:cNvPr id="16" name="Shape 13"/>
          <p:cNvSpPr/>
          <p:nvPr/>
        </p:nvSpPr>
        <p:spPr>
          <a:xfrm>
            <a:off x="548640" y="2688336"/>
            <a:ext cx="100584" cy="420624"/>
          </a:xfrm>
          <a:prstGeom prst="rect">
            <a:avLst/>
          </a:prstGeom>
          <a:solidFill>
            <a:srgbClr val="00A79D"/>
          </a:solidFill>
          <a:ln/>
        </p:spPr>
      </p:sp>
      <p:sp>
        <p:nvSpPr>
          <p:cNvPr id="17" name="Text 14"/>
          <p:cNvSpPr/>
          <p:nvPr/>
        </p:nvSpPr>
        <p:spPr>
          <a:xfrm>
            <a:off x="804672" y="263347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Manage attention:  </a:t>
            </a:r>
            <a:r>
              <a:rPr lang="en-US" sz="1250" dirty="0">
                <a:solidFill>
                  <a:srgbClr val="343A4E"/>
                </a:solidFill>
                <a:latin typeface="Arial" pitchFamily="34" charset="0"/>
                <a:ea typeface="Arial" pitchFamily="34" charset="-122"/>
                <a:cs typeface="Arial" pitchFamily="34" charset="-120"/>
              </a:rPr>
              <a:t>Control executive pacing and time discipline within a fixed slot.</a:t>
            </a:r>
            <a:endParaRPr lang="en-US" sz="1250" dirty="0"/>
          </a:p>
        </p:txBody>
      </p:sp>
      <p:sp>
        <p:nvSpPr>
          <p:cNvPr id="18" name="Shape 15"/>
          <p:cNvSpPr/>
          <p:nvPr/>
        </p:nvSpPr>
        <p:spPr>
          <a:xfrm>
            <a:off x="548640" y="3255264"/>
            <a:ext cx="100584" cy="420624"/>
          </a:xfrm>
          <a:prstGeom prst="rect">
            <a:avLst/>
          </a:prstGeom>
          <a:solidFill>
            <a:srgbClr val="E8833A"/>
          </a:solidFill>
          <a:ln/>
        </p:spPr>
      </p:sp>
      <p:sp>
        <p:nvSpPr>
          <p:cNvPr id="19" name="Text 16"/>
          <p:cNvSpPr/>
          <p:nvPr/>
        </p:nvSpPr>
        <p:spPr>
          <a:xfrm>
            <a:off x="804672" y="320040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Deliver a chart:  </a:t>
            </a:r>
            <a:r>
              <a:rPr lang="en-US" sz="1250" dirty="0">
                <a:solidFill>
                  <a:srgbClr val="343A4E"/>
                </a:solidFill>
                <a:latin typeface="Arial" pitchFamily="34" charset="0"/>
                <a:ea typeface="Arial" pitchFamily="34" charset="-122"/>
                <a:cs typeface="Arial" pitchFamily="34" charset="-120"/>
              </a:rPr>
              <a:t>Present a chart while controlling its reveal and narration.</a:t>
            </a:r>
            <a:endParaRPr lang="en-US" sz="1250" dirty="0"/>
          </a:p>
        </p:txBody>
      </p:sp>
      <p:sp>
        <p:nvSpPr>
          <p:cNvPr id="20" name="Shape 17"/>
          <p:cNvSpPr/>
          <p:nvPr/>
        </p:nvSpPr>
        <p:spPr>
          <a:xfrm>
            <a:off x="548640" y="3822192"/>
            <a:ext cx="100584" cy="420624"/>
          </a:xfrm>
          <a:prstGeom prst="rect">
            <a:avLst/>
          </a:prstGeom>
          <a:solidFill>
            <a:srgbClr val="6C4FA1"/>
          </a:solidFill>
          <a:ln/>
        </p:spPr>
      </p:sp>
      <p:sp>
        <p:nvSpPr>
          <p:cNvPr id="21" name="Text 18"/>
          <p:cNvSpPr/>
          <p:nvPr/>
        </p:nvSpPr>
        <p:spPr>
          <a:xfrm>
            <a:off x="804672" y="376732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Handle Q&amp;A:  </a:t>
            </a:r>
            <a:r>
              <a:rPr lang="en-US" sz="1250" dirty="0">
                <a:solidFill>
                  <a:srgbClr val="343A4E"/>
                </a:solidFill>
                <a:latin typeface="Arial" pitchFamily="34" charset="0"/>
                <a:ea typeface="Arial" pitchFamily="34" charset="-122"/>
                <a:cs typeface="Arial" pitchFamily="34" charset="-120"/>
              </a:rPr>
              <a:t>Field hostile, off-topic, and 'your data is wrong' questions without losing the thread.</a:t>
            </a:r>
            <a:endParaRPr lang="en-US" sz="1250" dirty="0"/>
          </a:p>
        </p:txBody>
      </p:sp>
      <p:sp>
        <p:nvSpPr>
          <p:cNvPr id="22" name="Shape 19"/>
          <p:cNvSpPr/>
          <p:nvPr/>
        </p:nvSpPr>
        <p:spPr>
          <a:xfrm>
            <a:off x="548640" y="4389120"/>
            <a:ext cx="100584" cy="420624"/>
          </a:xfrm>
          <a:prstGeom prst="rect">
            <a:avLst/>
          </a:prstGeom>
          <a:solidFill>
            <a:srgbClr val="3FAE5A"/>
          </a:solidFill>
          <a:ln/>
        </p:spPr>
      </p:sp>
      <p:sp>
        <p:nvSpPr>
          <p:cNvPr id="23" name="Text 20"/>
          <p:cNvSpPr/>
          <p:nvPr/>
        </p:nvSpPr>
        <p:spPr>
          <a:xfrm>
            <a:off x="804672" y="4334256"/>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Navigate the room:  </a:t>
            </a:r>
            <a:r>
              <a:rPr lang="en-US" sz="1250" dirty="0">
                <a:solidFill>
                  <a:srgbClr val="343A4E"/>
                </a:solidFill>
                <a:latin typeface="Arial" pitchFamily="34" charset="0"/>
                <a:ea typeface="Arial" pitchFamily="34" charset="-122"/>
                <a:cs typeface="Arial" pitchFamily="34" charset="-120"/>
              </a:rPr>
              <a:t>Work senior Saudi government dynamics — protocol, bilingual delivery, hierarchy.</a:t>
            </a:r>
            <a:endParaRPr lang="en-US" sz="1250" dirty="0"/>
          </a:p>
        </p:txBody>
      </p:sp>
      <p:sp>
        <p:nvSpPr>
          <p:cNvPr id="24" name="Shape 21"/>
          <p:cNvSpPr/>
          <p:nvPr/>
        </p:nvSpPr>
        <p:spPr>
          <a:xfrm>
            <a:off x="548640" y="4956048"/>
            <a:ext cx="100584" cy="420624"/>
          </a:xfrm>
          <a:prstGeom prst="rect">
            <a:avLst/>
          </a:prstGeom>
          <a:solidFill>
            <a:srgbClr val="29ABE2"/>
          </a:solidFill>
          <a:ln/>
        </p:spPr>
      </p:sp>
      <p:sp>
        <p:nvSpPr>
          <p:cNvPr id="25" name="Text 22"/>
          <p:cNvSpPr/>
          <p:nvPr/>
        </p:nvSpPr>
        <p:spPr>
          <a:xfrm>
            <a:off x="804672" y="49011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Improve measurably:  </a:t>
            </a:r>
            <a:r>
              <a:rPr lang="en-US" sz="1250" dirty="0">
                <a:solidFill>
                  <a:srgbClr val="343A4E"/>
                </a:solidFill>
                <a:latin typeface="Arial" pitchFamily="34" charset="0"/>
                <a:ea typeface="Arial" pitchFamily="34" charset="-122"/>
                <a:cs typeface="Arial" pitchFamily="34" charset="-120"/>
              </a:rPr>
              <a:t>Iterate delivery across recorded rehearsal rounds.</a:t>
            </a:r>
            <a:endParaRPr lang="en-US" sz="12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LEARNING OBJECTIVES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Objectives mapped to course outcomes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149</a:t>
            </a:r>
            <a:endParaRPr lang="en-US" sz="800" dirty="0"/>
          </a:p>
        </p:txBody>
      </p:sp>
      <p:sp>
        <p:nvSpPr>
          <p:cNvPr id="14" name="Shape 11"/>
          <p:cNvSpPr/>
          <p:nvPr/>
        </p:nvSpPr>
        <p:spPr>
          <a:xfrm>
            <a:off x="548640" y="2103120"/>
            <a:ext cx="11094415" cy="551688"/>
          </a:xfrm>
          <a:prstGeom prst="roundRect">
            <a:avLst>
              <a:gd name="adj" fmla="val 9945"/>
            </a:avLst>
          </a:prstGeom>
          <a:solidFill>
            <a:srgbClr val="FFFFFF"/>
          </a:solidFill>
          <a:ln w="9525">
            <a:solidFill>
              <a:srgbClr val="D9DEE8"/>
            </a:solidFill>
            <a:prstDash val="solid"/>
          </a:ln>
        </p:spPr>
      </p:sp>
      <p:sp>
        <p:nvSpPr>
          <p:cNvPr id="15" name="Shape 12"/>
          <p:cNvSpPr/>
          <p:nvPr/>
        </p:nvSpPr>
        <p:spPr>
          <a:xfrm>
            <a:off x="658368" y="2194560"/>
            <a:ext cx="658368" cy="368808"/>
          </a:xfrm>
          <a:prstGeom prst="roundRect">
            <a:avLst>
              <a:gd name="adj" fmla="val 12397"/>
            </a:avLst>
          </a:prstGeom>
          <a:solidFill>
            <a:srgbClr val="2E5AAC"/>
          </a:solidFill>
          <a:ln/>
        </p:spPr>
      </p:sp>
      <p:sp>
        <p:nvSpPr>
          <p:cNvPr id="16" name="Text 13"/>
          <p:cNvSpPr/>
          <p:nvPr/>
        </p:nvSpPr>
        <p:spPr>
          <a:xfrm>
            <a:off x="658368" y="2194560"/>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6.1</a:t>
            </a:r>
            <a:endParaRPr lang="en-US" sz="1200" dirty="0"/>
          </a:p>
        </p:txBody>
      </p:sp>
      <p:sp>
        <p:nvSpPr>
          <p:cNvPr id="17" name="Text 14"/>
          <p:cNvSpPr/>
          <p:nvPr/>
        </p:nvSpPr>
        <p:spPr>
          <a:xfrm>
            <a:off x="1463040" y="2066544"/>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Open a briefing with a BLUF and a clear ask</a:t>
            </a:r>
            <a:endParaRPr lang="en-US" sz="1200" dirty="0"/>
          </a:p>
        </p:txBody>
      </p:sp>
      <p:sp>
        <p:nvSpPr>
          <p:cNvPr id="18" name="Shape 15"/>
          <p:cNvSpPr/>
          <p:nvPr/>
        </p:nvSpPr>
        <p:spPr>
          <a:xfrm>
            <a:off x="10317175" y="2232660"/>
            <a:ext cx="1170432" cy="329184"/>
          </a:xfrm>
          <a:prstGeom prst="roundRect">
            <a:avLst>
              <a:gd name="adj" fmla="val 16667"/>
            </a:avLst>
          </a:prstGeom>
          <a:solidFill>
            <a:srgbClr val="E6F5F4"/>
          </a:solidFill>
          <a:ln w="9525">
            <a:solidFill>
              <a:srgbClr val="00A79D"/>
            </a:solidFill>
            <a:prstDash val="solid"/>
          </a:ln>
        </p:spPr>
      </p:sp>
      <p:sp>
        <p:nvSpPr>
          <p:cNvPr id="19" name="Text 16"/>
          <p:cNvSpPr/>
          <p:nvPr/>
        </p:nvSpPr>
        <p:spPr>
          <a:xfrm>
            <a:off x="10317175" y="2232660"/>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LO6</a:t>
            </a:r>
            <a:endParaRPr lang="en-US" sz="950" dirty="0"/>
          </a:p>
        </p:txBody>
      </p:sp>
      <p:sp>
        <p:nvSpPr>
          <p:cNvPr id="20" name="Shape 17"/>
          <p:cNvSpPr/>
          <p:nvPr/>
        </p:nvSpPr>
        <p:spPr>
          <a:xfrm>
            <a:off x="548640" y="2764536"/>
            <a:ext cx="11094415" cy="551688"/>
          </a:xfrm>
          <a:prstGeom prst="roundRect">
            <a:avLst>
              <a:gd name="adj" fmla="val 9945"/>
            </a:avLst>
          </a:prstGeom>
          <a:solidFill>
            <a:srgbClr val="F4F6FB"/>
          </a:solidFill>
          <a:ln w="9525">
            <a:solidFill>
              <a:srgbClr val="D9DEE8"/>
            </a:solidFill>
            <a:prstDash val="solid"/>
          </a:ln>
        </p:spPr>
      </p:sp>
      <p:sp>
        <p:nvSpPr>
          <p:cNvPr id="21" name="Shape 18"/>
          <p:cNvSpPr/>
          <p:nvPr/>
        </p:nvSpPr>
        <p:spPr>
          <a:xfrm>
            <a:off x="658368" y="2855976"/>
            <a:ext cx="658368" cy="368808"/>
          </a:xfrm>
          <a:prstGeom prst="roundRect">
            <a:avLst>
              <a:gd name="adj" fmla="val 12397"/>
            </a:avLst>
          </a:prstGeom>
          <a:solidFill>
            <a:srgbClr val="00A79D"/>
          </a:solidFill>
          <a:ln/>
        </p:spPr>
      </p:sp>
      <p:sp>
        <p:nvSpPr>
          <p:cNvPr id="22" name="Text 19"/>
          <p:cNvSpPr/>
          <p:nvPr/>
        </p:nvSpPr>
        <p:spPr>
          <a:xfrm>
            <a:off x="658368" y="2855976"/>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6.2</a:t>
            </a:r>
            <a:endParaRPr lang="en-US" sz="1200" dirty="0"/>
          </a:p>
        </p:txBody>
      </p:sp>
      <p:sp>
        <p:nvSpPr>
          <p:cNvPr id="23" name="Text 20"/>
          <p:cNvSpPr/>
          <p:nvPr/>
        </p:nvSpPr>
        <p:spPr>
          <a:xfrm>
            <a:off x="1463040" y="2727960"/>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Manage executive attention, pacing, and time discipline</a:t>
            </a:r>
            <a:endParaRPr lang="en-US" sz="1200" dirty="0"/>
          </a:p>
        </p:txBody>
      </p:sp>
      <p:sp>
        <p:nvSpPr>
          <p:cNvPr id="24" name="Shape 21"/>
          <p:cNvSpPr/>
          <p:nvPr/>
        </p:nvSpPr>
        <p:spPr>
          <a:xfrm>
            <a:off x="10317175" y="2894076"/>
            <a:ext cx="1170432" cy="329184"/>
          </a:xfrm>
          <a:prstGeom prst="roundRect">
            <a:avLst>
              <a:gd name="adj" fmla="val 16667"/>
            </a:avLst>
          </a:prstGeom>
          <a:solidFill>
            <a:srgbClr val="E6F5F4"/>
          </a:solidFill>
          <a:ln w="9525">
            <a:solidFill>
              <a:srgbClr val="00A79D"/>
            </a:solidFill>
            <a:prstDash val="solid"/>
          </a:ln>
        </p:spPr>
      </p:sp>
      <p:sp>
        <p:nvSpPr>
          <p:cNvPr id="25" name="Text 22"/>
          <p:cNvSpPr/>
          <p:nvPr/>
        </p:nvSpPr>
        <p:spPr>
          <a:xfrm>
            <a:off x="10317175" y="2894076"/>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LO6</a:t>
            </a:r>
            <a:endParaRPr lang="en-US" sz="950" dirty="0"/>
          </a:p>
        </p:txBody>
      </p:sp>
      <p:sp>
        <p:nvSpPr>
          <p:cNvPr id="26" name="Shape 23"/>
          <p:cNvSpPr/>
          <p:nvPr/>
        </p:nvSpPr>
        <p:spPr>
          <a:xfrm>
            <a:off x="548640" y="3425952"/>
            <a:ext cx="11094415" cy="551688"/>
          </a:xfrm>
          <a:prstGeom prst="roundRect">
            <a:avLst>
              <a:gd name="adj" fmla="val 9945"/>
            </a:avLst>
          </a:prstGeom>
          <a:solidFill>
            <a:srgbClr val="FFFFFF"/>
          </a:solidFill>
          <a:ln w="9525">
            <a:solidFill>
              <a:srgbClr val="D9DEE8"/>
            </a:solidFill>
            <a:prstDash val="solid"/>
          </a:ln>
        </p:spPr>
      </p:sp>
      <p:sp>
        <p:nvSpPr>
          <p:cNvPr id="27" name="Shape 24"/>
          <p:cNvSpPr/>
          <p:nvPr/>
        </p:nvSpPr>
        <p:spPr>
          <a:xfrm>
            <a:off x="658368" y="3517392"/>
            <a:ext cx="658368" cy="368808"/>
          </a:xfrm>
          <a:prstGeom prst="roundRect">
            <a:avLst>
              <a:gd name="adj" fmla="val 12397"/>
            </a:avLst>
          </a:prstGeom>
          <a:solidFill>
            <a:srgbClr val="E8833A"/>
          </a:solidFill>
          <a:ln/>
        </p:spPr>
      </p:sp>
      <p:sp>
        <p:nvSpPr>
          <p:cNvPr id="28" name="Text 25"/>
          <p:cNvSpPr/>
          <p:nvPr/>
        </p:nvSpPr>
        <p:spPr>
          <a:xfrm>
            <a:off x="658368" y="3517392"/>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6.3</a:t>
            </a:r>
            <a:endParaRPr lang="en-US" sz="1200" dirty="0"/>
          </a:p>
        </p:txBody>
      </p:sp>
      <p:sp>
        <p:nvSpPr>
          <p:cNvPr id="29" name="Text 26"/>
          <p:cNvSpPr/>
          <p:nvPr/>
        </p:nvSpPr>
        <p:spPr>
          <a:xfrm>
            <a:off x="1463040" y="3389376"/>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Deliver a chart while controlling its reveal and narration</a:t>
            </a:r>
            <a:endParaRPr lang="en-US" sz="1200" dirty="0"/>
          </a:p>
        </p:txBody>
      </p:sp>
      <p:sp>
        <p:nvSpPr>
          <p:cNvPr id="30" name="Shape 27"/>
          <p:cNvSpPr/>
          <p:nvPr/>
        </p:nvSpPr>
        <p:spPr>
          <a:xfrm>
            <a:off x="10317175" y="3555492"/>
            <a:ext cx="1170432" cy="329184"/>
          </a:xfrm>
          <a:prstGeom prst="roundRect">
            <a:avLst>
              <a:gd name="adj" fmla="val 16667"/>
            </a:avLst>
          </a:prstGeom>
          <a:solidFill>
            <a:srgbClr val="E6F5F4"/>
          </a:solidFill>
          <a:ln w="9525">
            <a:solidFill>
              <a:srgbClr val="00A79D"/>
            </a:solidFill>
            <a:prstDash val="solid"/>
          </a:ln>
        </p:spPr>
      </p:sp>
      <p:sp>
        <p:nvSpPr>
          <p:cNvPr id="31" name="Text 28"/>
          <p:cNvSpPr/>
          <p:nvPr/>
        </p:nvSpPr>
        <p:spPr>
          <a:xfrm>
            <a:off x="10317175" y="3555492"/>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LO6, LO4</a:t>
            </a:r>
            <a:endParaRPr lang="en-US" sz="950" dirty="0"/>
          </a:p>
        </p:txBody>
      </p:sp>
      <p:sp>
        <p:nvSpPr>
          <p:cNvPr id="32" name="Shape 29"/>
          <p:cNvSpPr/>
          <p:nvPr/>
        </p:nvSpPr>
        <p:spPr>
          <a:xfrm>
            <a:off x="548640" y="4087368"/>
            <a:ext cx="11094415" cy="551688"/>
          </a:xfrm>
          <a:prstGeom prst="roundRect">
            <a:avLst>
              <a:gd name="adj" fmla="val 9945"/>
            </a:avLst>
          </a:prstGeom>
          <a:solidFill>
            <a:srgbClr val="F4F6FB"/>
          </a:solidFill>
          <a:ln w="9525">
            <a:solidFill>
              <a:srgbClr val="D9DEE8"/>
            </a:solidFill>
            <a:prstDash val="solid"/>
          </a:ln>
        </p:spPr>
      </p:sp>
      <p:sp>
        <p:nvSpPr>
          <p:cNvPr id="33" name="Shape 30"/>
          <p:cNvSpPr/>
          <p:nvPr/>
        </p:nvSpPr>
        <p:spPr>
          <a:xfrm>
            <a:off x="658368" y="4178808"/>
            <a:ext cx="658368" cy="368808"/>
          </a:xfrm>
          <a:prstGeom prst="roundRect">
            <a:avLst>
              <a:gd name="adj" fmla="val 12397"/>
            </a:avLst>
          </a:prstGeom>
          <a:solidFill>
            <a:srgbClr val="6C4FA1"/>
          </a:solidFill>
          <a:ln/>
        </p:spPr>
      </p:sp>
      <p:sp>
        <p:nvSpPr>
          <p:cNvPr id="34" name="Text 31"/>
          <p:cNvSpPr/>
          <p:nvPr/>
        </p:nvSpPr>
        <p:spPr>
          <a:xfrm>
            <a:off x="658368" y="4178808"/>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6.4</a:t>
            </a:r>
            <a:endParaRPr lang="en-US" sz="1200" dirty="0"/>
          </a:p>
        </p:txBody>
      </p:sp>
      <p:sp>
        <p:nvSpPr>
          <p:cNvPr id="35" name="Text 32"/>
          <p:cNvSpPr/>
          <p:nvPr/>
        </p:nvSpPr>
        <p:spPr>
          <a:xfrm>
            <a:off x="1463040" y="4050792"/>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Handle Q&amp;A, including hostile, off-topic, and 'data is wrong' questions</a:t>
            </a:r>
            <a:endParaRPr lang="en-US" sz="1200" dirty="0"/>
          </a:p>
        </p:txBody>
      </p:sp>
      <p:sp>
        <p:nvSpPr>
          <p:cNvPr id="36" name="Shape 33"/>
          <p:cNvSpPr/>
          <p:nvPr/>
        </p:nvSpPr>
        <p:spPr>
          <a:xfrm>
            <a:off x="10317175" y="4216908"/>
            <a:ext cx="1170432" cy="329184"/>
          </a:xfrm>
          <a:prstGeom prst="roundRect">
            <a:avLst>
              <a:gd name="adj" fmla="val 16667"/>
            </a:avLst>
          </a:prstGeom>
          <a:solidFill>
            <a:srgbClr val="E6F5F4"/>
          </a:solidFill>
          <a:ln w="9525">
            <a:solidFill>
              <a:srgbClr val="00A79D"/>
            </a:solidFill>
            <a:prstDash val="solid"/>
          </a:ln>
        </p:spPr>
      </p:sp>
      <p:sp>
        <p:nvSpPr>
          <p:cNvPr id="37" name="Text 34"/>
          <p:cNvSpPr/>
          <p:nvPr/>
        </p:nvSpPr>
        <p:spPr>
          <a:xfrm>
            <a:off x="10317175" y="4216908"/>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LO6</a:t>
            </a:r>
            <a:endParaRPr lang="en-US" sz="950" dirty="0"/>
          </a:p>
        </p:txBody>
      </p:sp>
      <p:sp>
        <p:nvSpPr>
          <p:cNvPr id="38" name="Shape 35"/>
          <p:cNvSpPr/>
          <p:nvPr/>
        </p:nvSpPr>
        <p:spPr>
          <a:xfrm>
            <a:off x="548640" y="4748784"/>
            <a:ext cx="11094415" cy="551688"/>
          </a:xfrm>
          <a:prstGeom prst="roundRect">
            <a:avLst>
              <a:gd name="adj" fmla="val 9945"/>
            </a:avLst>
          </a:prstGeom>
          <a:solidFill>
            <a:srgbClr val="FFFFFF"/>
          </a:solidFill>
          <a:ln w="9525">
            <a:solidFill>
              <a:srgbClr val="D9DEE8"/>
            </a:solidFill>
            <a:prstDash val="solid"/>
          </a:ln>
        </p:spPr>
      </p:sp>
      <p:sp>
        <p:nvSpPr>
          <p:cNvPr id="39" name="Shape 36"/>
          <p:cNvSpPr/>
          <p:nvPr/>
        </p:nvSpPr>
        <p:spPr>
          <a:xfrm>
            <a:off x="658368" y="4840224"/>
            <a:ext cx="658368" cy="368808"/>
          </a:xfrm>
          <a:prstGeom prst="roundRect">
            <a:avLst>
              <a:gd name="adj" fmla="val 12397"/>
            </a:avLst>
          </a:prstGeom>
          <a:solidFill>
            <a:srgbClr val="3FAE5A"/>
          </a:solidFill>
          <a:ln/>
        </p:spPr>
      </p:sp>
      <p:sp>
        <p:nvSpPr>
          <p:cNvPr id="40" name="Text 37"/>
          <p:cNvSpPr/>
          <p:nvPr/>
        </p:nvSpPr>
        <p:spPr>
          <a:xfrm>
            <a:off x="658368" y="4840224"/>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6.5</a:t>
            </a:r>
            <a:endParaRPr lang="en-US" sz="1200" dirty="0"/>
          </a:p>
        </p:txBody>
      </p:sp>
      <p:sp>
        <p:nvSpPr>
          <p:cNvPr id="41" name="Text 38"/>
          <p:cNvSpPr/>
          <p:nvPr/>
        </p:nvSpPr>
        <p:spPr>
          <a:xfrm>
            <a:off x="1463040" y="4712208"/>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Navigate senior-audience dynamics and bilingual delivery appropriately</a:t>
            </a:r>
            <a:endParaRPr lang="en-US" sz="1200" dirty="0"/>
          </a:p>
        </p:txBody>
      </p:sp>
      <p:sp>
        <p:nvSpPr>
          <p:cNvPr id="42" name="Shape 39"/>
          <p:cNvSpPr/>
          <p:nvPr/>
        </p:nvSpPr>
        <p:spPr>
          <a:xfrm>
            <a:off x="10317175" y="4878324"/>
            <a:ext cx="1170432" cy="329184"/>
          </a:xfrm>
          <a:prstGeom prst="roundRect">
            <a:avLst>
              <a:gd name="adj" fmla="val 16667"/>
            </a:avLst>
          </a:prstGeom>
          <a:solidFill>
            <a:srgbClr val="E6F5F4"/>
          </a:solidFill>
          <a:ln w="9525">
            <a:solidFill>
              <a:srgbClr val="00A79D"/>
            </a:solidFill>
            <a:prstDash val="solid"/>
          </a:ln>
        </p:spPr>
      </p:sp>
      <p:sp>
        <p:nvSpPr>
          <p:cNvPr id="43" name="Text 40"/>
          <p:cNvSpPr/>
          <p:nvPr/>
        </p:nvSpPr>
        <p:spPr>
          <a:xfrm>
            <a:off x="10317175" y="4878324"/>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LO6</a:t>
            </a:r>
            <a:endParaRPr lang="en-US" sz="950" dirty="0"/>
          </a:p>
        </p:txBody>
      </p:sp>
      <p:sp>
        <p:nvSpPr>
          <p:cNvPr id="44" name="Shape 41"/>
          <p:cNvSpPr/>
          <p:nvPr/>
        </p:nvSpPr>
        <p:spPr>
          <a:xfrm>
            <a:off x="548640" y="5410200"/>
            <a:ext cx="11094415" cy="551688"/>
          </a:xfrm>
          <a:prstGeom prst="roundRect">
            <a:avLst>
              <a:gd name="adj" fmla="val 9945"/>
            </a:avLst>
          </a:prstGeom>
          <a:solidFill>
            <a:srgbClr val="F4F6FB"/>
          </a:solidFill>
          <a:ln w="9525">
            <a:solidFill>
              <a:srgbClr val="D9DEE8"/>
            </a:solidFill>
            <a:prstDash val="solid"/>
          </a:ln>
        </p:spPr>
      </p:sp>
      <p:sp>
        <p:nvSpPr>
          <p:cNvPr id="45" name="Shape 42"/>
          <p:cNvSpPr/>
          <p:nvPr/>
        </p:nvSpPr>
        <p:spPr>
          <a:xfrm>
            <a:off x="658368" y="5501640"/>
            <a:ext cx="658368" cy="368808"/>
          </a:xfrm>
          <a:prstGeom prst="roundRect">
            <a:avLst>
              <a:gd name="adj" fmla="val 12397"/>
            </a:avLst>
          </a:prstGeom>
          <a:solidFill>
            <a:srgbClr val="29ABE2"/>
          </a:solidFill>
          <a:ln/>
        </p:spPr>
      </p:sp>
      <p:sp>
        <p:nvSpPr>
          <p:cNvPr id="46" name="Text 43"/>
          <p:cNvSpPr/>
          <p:nvPr/>
        </p:nvSpPr>
        <p:spPr>
          <a:xfrm>
            <a:off x="658368" y="5501640"/>
            <a:ext cx="658368" cy="3688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6.6</a:t>
            </a:r>
            <a:endParaRPr lang="en-US" sz="1200" dirty="0"/>
          </a:p>
        </p:txBody>
      </p:sp>
      <p:sp>
        <p:nvSpPr>
          <p:cNvPr id="47" name="Text 44"/>
          <p:cNvSpPr/>
          <p:nvPr/>
        </p:nvSpPr>
        <p:spPr>
          <a:xfrm>
            <a:off x="1463040" y="5373624"/>
            <a:ext cx="8716975" cy="661416"/>
          </a:xfrm>
          <a:prstGeom prst="rect">
            <a:avLst/>
          </a:prstGeom>
          <a:noFill/>
          <a:ln/>
        </p:spPr>
        <p:txBody>
          <a:bodyPr wrap="square" rtlCol="0" anchor="ctr"/>
          <a:lstStyle/>
          <a:p>
            <a:pPr marL="0" indent="0">
              <a:lnSpc>
                <a:spcPct val="100000"/>
              </a:lnSpc>
              <a:buNone/>
            </a:pPr>
            <a:r>
              <a:rPr lang="en-US" sz="1200" dirty="0">
                <a:solidFill>
                  <a:srgbClr val="343A4E"/>
                </a:solidFill>
                <a:latin typeface="Arial" pitchFamily="34" charset="0"/>
                <a:ea typeface="Arial" pitchFamily="34" charset="-122"/>
                <a:cs typeface="Arial" pitchFamily="34" charset="-120"/>
              </a:rPr>
              <a:t>Iterate delivery measurably using recorded self-review and critique</a:t>
            </a:r>
            <a:endParaRPr lang="en-US" sz="1200" dirty="0"/>
          </a:p>
        </p:txBody>
      </p:sp>
      <p:sp>
        <p:nvSpPr>
          <p:cNvPr id="48" name="Shape 45"/>
          <p:cNvSpPr/>
          <p:nvPr/>
        </p:nvSpPr>
        <p:spPr>
          <a:xfrm>
            <a:off x="10317175" y="5539740"/>
            <a:ext cx="1170432" cy="329184"/>
          </a:xfrm>
          <a:prstGeom prst="roundRect">
            <a:avLst>
              <a:gd name="adj" fmla="val 16667"/>
            </a:avLst>
          </a:prstGeom>
          <a:solidFill>
            <a:srgbClr val="E6F5F4"/>
          </a:solidFill>
          <a:ln w="9525">
            <a:solidFill>
              <a:srgbClr val="00A79D"/>
            </a:solidFill>
            <a:prstDash val="solid"/>
          </a:ln>
        </p:spPr>
      </p:sp>
      <p:sp>
        <p:nvSpPr>
          <p:cNvPr id="49" name="Text 46"/>
          <p:cNvSpPr/>
          <p:nvPr/>
        </p:nvSpPr>
        <p:spPr>
          <a:xfrm>
            <a:off x="10317175" y="5539740"/>
            <a:ext cx="1170432" cy="329184"/>
          </a:xfrm>
          <a:prstGeom prst="rect">
            <a:avLst/>
          </a:prstGeom>
          <a:noFill/>
          <a:ln/>
        </p:spPr>
        <p:txBody>
          <a:bodyPr wrap="square" rtlCol="0" anchor="ctr"/>
          <a:lstStyle/>
          <a:p>
            <a:pPr marL="0" indent="0" algn="ctr">
              <a:buNone/>
            </a:pPr>
            <a:r>
              <a:rPr lang="en-US" sz="950" b="1" dirty="0">
                <a:solidFill>
                  <a:srgbClr val="00A79D"/>
                </a:solidFill>
                <a:latin typeface="Arial" pitchFamily="34" charset="0"/>
                <a:ea typeface="Arial" pitchFamily="34" charset="-122"/>
                <a:cs typeface="Arial" pitchFamily="34" charset="-120"/>
              </a:rPr>
              <a:t>LO6, LO5</a:t>
            </a:r>
            <a:endParaRPr lang="en-US" sz="9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TECHNICAL CONTENT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Executive attention economics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150</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An executive audience is not hostile but it is scarce: senior decision-makers arrive with partial attention, competing priorities, and a habit of deciding early.</a:t>
            </a:r>
            <a:endParaRPr lang="en-US" sz="1250" dirty="0"/>
          </a:p>
        </p:txBody>
      </p:sp>
      <p:sp>
        <p:nvSpPr>
          <p:cNvPr id="15" name="Shape 12"/>
          <p:cNvSpPr/>
          <p:nvPr/>
        </p:nvSpPr>
        <p:spPr>
          <a:xfrm>
            <a:off x="548640" y="2569464"/>
            <a:ext cx="3515258" cy="2011680"/>
          </a:xfrm>
          <a:prstGeom prst="roundRect">
            <a:avLst>
              <a:gd name="adj" fmla="val 3636"/>
            </a:avLst>
          </a:prstGeom>
          <a:solidFill>
            <a:srgbClr val="FFFFFF"/>
          </a:solidFill>
          <a:ln w="12700">
            <a:solidFill>
              <a:srgbClr val="D9DEE8"/>
            </a:solidFill>
            <a:prstDash val="solid"/>
          </a:ln>
        </p:spPr>
      </p:sp>
      <p:sp>
        <p:nvSpPr>
          <p:cNvPr id="16" name="Shape 13"/>
          <p:cNvSpPr/>
          <p:nvPr/>
        </p:nvSpPr>
        <p:spPr>
          <a:xfrm>
            <a:off x="548640" y="2569464"/>
            <a:ext cx="3515258" cy="82296"/>
          </a:xfrm>
          <a:prstGeom prst="rect">
            <a:avLst/>
          </a:prstGeom>
          <a:solidFill>
            <a:srgbClr val="2E5AAC"/>
          </a:solidFill>
          <a:ln/>
        </p:spPr>
      </p:sp>
      <p:sp>
        <p:nvSpPr>
          <p:cNvPr id="17" name="Text 14"/>
          <p:cNvSpPr/>
          <p:nvPr/>
        </p:nvSpPr>
        <p:spPr>
          <a:xfrm>
            <a:off x="731520" y="275234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First 30 seconds decide the frame</a:t>
            </a:r>
            <a:endParaRPr lang="en-US" sz="1300" dirty="0"/>
          </a:p>
        </p:txBody>
      </p:sp>
      <p:sp>
        <p:nvSpPr>
          <p:cNvPr id="18" name="Text 15"/>
          <p:cNvSpPr/>
          <p:nvPr/>
        </p:nvSpPr>
        <p:spPr>
          <a:xfrm>
            <a:off x="731520" y="3319272"/>
            <a:ext cx="3149498" cy="115214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Open with the recommendation and the ask (BLUF), not 'thank you, let me give some background.' Background before the ask is attention spent before the point.</a:t>
            </a:r>
            <a:endParaRPr lang="en-US" sz="1050" dirty="0"/>
          </a:p>
        </p:txBody>
      </p:sp>
      <p:sp>
        <p:nvSpPr>
          <p:cNvPr id="19" name="Shape 16"/>
          <p:cNvSpPr/>
          <p:nvPr/>
        </p:nvSpPr>
        <p:spPr>
          <a:xfrm>
            <a:off x="4338218" y="2569464"/>
            <a:ext cx="3515258" cy="2011680"/>
          </a:xfrm>
          <a:prstGeom prst="roundRect">
            <a:avLst>
              <a:gd name="adj" fmla="val 3636"/>
            </a:avLst>
          </a:prstGeom>
          <a:solidFill>
            <a:srgbClr val="FFFFFF"/>
          </a:solidFill>
          <a:ln w="12700">
            <a:solidFill>
              <a:srgbClr val="D9DEE8"/>
            </a:solidFill>
            <a:prstDash val="solid"/>
          </a:ln>
        </p:spPr>
      </p:sp>
      <p:sp>
        <p:nvSpPr>
          <p:cNvPr id="20" name="Shape 17"/>
          <p:cNvSpPr/>
          <p:nvPr/>
        </p:nvSpPr>
        <p:spPr>
          <a:xfrm>
            <a:off x="4338218" y="2569464"/>
            <a:ext cx="3515258" cy="82296"/>
          </a:xfrm>
          <a:prstGeom prst="rect">
            <a:avLst/>
          </a:prstGeom>
          <a:solidFill>
            <a:srgbClr val="00A79D"/>
          </a:solidFill>
          <a:ln/>
        </p:spPr>
      </p:sp>
      <p:sp>
        <p:nvSpPr>
          <p:cNvPr id="21" name="Text 18"/>
          <p:cNvSpPr/>
          <p:nvPr/>
        </p:nvSpPr>
        <p:spPr>
          <a:xfrm>
            <a:off x="4521098" y="275234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Attention decays — front-load</a:t>
            </a:r>
            <a:endParaRPr lang="en-US" sz="1300" dirty="0"/>
          </a:p>
        </p:txBody>
      </p:sp>
      <p:sp>
        <p:nvSpPr>
          <p:cNvPr id="22" name="Text 19"/>
          <p:cNvSpPr/>
          <p:nvPr/>
        </p:nvSpPr>
        <p:spPr>
          <a:xfrm>
            <a:off x="4521098" y="3319272"/>
            <a:ext cx="3149498" cy="115214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Put the most decision-relevant slide first, not last. Assume they may be called away at minute three — the recommendation must already have landed.</a:t>
            </a:r>
            <a:endParaRPr lang="en-US" sz="1050" dirty="0"/>
          </a:p>
        </p:txBody>
      </p:sp>
      <p:sp>
        <p:nvSpPr>
          <p:cNvPr id="23" name="Shape 20"/>
          <p:cNvSpPr/>
          <p:nvPr/>
        </p:nvSpPr>
        <p:spPr>
          <a:xfrm>
            <a:off x="8127797" y="2569464"/>
            <a:ext cx="3515258" cy="2011680"/>
          </a:xfrm>
          <a:prstGeom prst="roundRect">
            <a:avLst>
              <a:gd name="adj" fmla="val 3636"/>
            </a:avLst>
          </a:prstGeom>
          <a:solidFill>
            <a:srgbClr val="FFFFFF"/>
          </a:solidFill>
          <a:ln w="12700">
            <a:solidFill>
              <a:srgbClr val="D9DEE8"/>
            </a:solidFill>
            <a:prstDash val="solid"/>
          </a:ln>
        </p:spPr>
      </p:sp>
      <p:sp>
        <p:nvSpPr>
          <p:cNvPr id="24" name="Shape 21"/>
          <p:cNvSpPr/>
          <p:nvPr/>
        </p:nvSpPr>
        <p:spPr>
          <a:xfrm>
            <a:off x="8127797" y="2569464"/>
            <a:ext cx="3515258" cy="82296"/>
          </a:xfrm>
          <a:prstGeom prst="rect">
            <a:avLst/>
          </a:prstGeom>
          <a:solidFill>
            <a:srgbClr val="E8833A"/>
          </a:solidFill>
          <a:ln/>
        </p:spPr>
      </p:sp>
      <p:sp>
        <p:nvSpPr>
          <p:cNvPr id="25" name="Text 22"/>
          <p:cNvSpPr/>
          <p:nvPr/>
        </p:nvSpPr>
        <p:spPr>
          <a:xfrm>
            <a:off x="8310677" y="275234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They decide with less than you gave</a:t>
            </a:r>
            <a:endParaRPr lang="en-US" sz="1300" dirty="0"/>
          </a:p>
        </p:txBody>
      </p:sp>
      <p:sp>
        <p:nvSpPr>
          <p:cNvPr id="26" name="Text 23"/>
          <p:cNvSpPr/>
          <p:nvPr/>
        </p:nvSpPr>
        <p:spPr>
          <a:xfrm>
            <a:off x="8310677" y="3319272"/>
            <a:ext cx="3149498" cy="1152144"/>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Design for the executive who acts on the top-line alone; the deck's depth exists to survive scrutiny, not to be fully traversed.</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TECHNICAL CONTENT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Structuring the spoken briefing</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151</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The spoken briefing has its own structure, time-boxed and layered on the seven-slide arc.</a:t>
            </a:r>
            <a:endParaRPr lang="en-US" sz="1250" dirty="0"/>
          </a:p>
        </p:txBody>
      </p:sp>
      <p:sp>
        <p:nvSpPr>
          <p:cNvPr id="15" name="Shape 12"/>
          <p:cNvSpPr/>
          <p:nvPr/>
        </p:nvSpPr>
        <p:spPr>
          <a:xfrm>
            <a:off x="548640" y="2615184"/>
            <a:ext cx="2540432" cy="2926080"/>
          </a:xfrm>
          <a:prstGeom prst="roundRect">
            <a:avLst>
              <a:gd name="adj" fmla="val 3599"/>
            </a:avLst>
          </a:prstGeom>
          <a:solidFill>
            <a:srgbClr val="EAF0FA"/>
          </a:solidFill>
          <a:ln w="15875">
            <a:solidFill>
              <a:srgbClr val="2E5AAC"/>
            </a:solidFill>
            <a:prstDash val="solid"/>
          </a:ln>
        </p:spPr>
      </p:sp>
      <p:sp>
        <p:nvSpPr>
          <p:cNvPr id="16" name="Shape 13"/>
          <p:cNvSpPr/>
          <p:nvPr/>
        </p:nvSpPr>
        <p:spPr>
          <a:xfrm>
            <a:off x="1562824" y="2816352"/>
            <a:ext cx="512064" cy="512064"/>
          </a:xfrm>
          <a:prstGeom prst="ellipse">
            <a:avLst/>
          </a:prstGeom>
          <a:solidFill>
            <a:srgbClr val="2E5AAC"/>
          </a:solidFill>
          <a:ln/>
        </p:spPr>
      </p:sp>
      <p:sp>
        <p:nvSpPr>
          <p:cNvPr id="17" name="Text 14"/>
          <p:cNvSpPr/>
          <p:nvPr/>
        </p:nvSpPr>
        <p:spPr>
          <a:xfrm>
            <a:off x="1562824"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658368" y="3456432"/>
            <a:ext cx="2320976"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Top-line (0:00–0:30)</a:t>
            </a:r>
            <a:endParaRPr lang="en-US" sz="1300" dirty="0"/>
          </a:p>
        </p:txBody>
      </p:sp>
      <p:sp>
        <p:nvSpPr>
          <p:cNvPr id="19" name="Text 16"/>
          <p:cNvSpPr/>
          <p:nvPr/>
        </p:nvSpPr>
        <p:spPr>
          <a:xfrm>
            <a:off x="676656" y="3986784"/>
            <a:ext cx="2284400"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'I'm recommending we direct the next SAR 40m to three lagging regions to hit 65% by December. Here's why in three points.'</a:t>
            </a:r>
            <a:endParaRPr lang="en-US" sz="1050" dirty="0"/>
          </a:p>
        </p:txBody>
      </p:sp>
      <p:sp>
        <p:nvSpPr>
          <p:cNvPr id="20" name="Text 17"/>
          <p:cNvSpPr/>
          <p:nvPr/>
        </p:nvSpPr>
        <p:spPr>
          <a:xfrm>
            <a:off x="3107360"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1" name="Shape 18"/>
          <p:cNvSpPr/>
          <p:nvPr/>
        </p:nvSpPr>
        <p:spPr>
          <a:xfrm>
            <a:off x="3399968" y="2615184"/>
            <a:ext cx="2540432" cy="2926080"/>
          </a:xfrm>
          <a:prstGeom prst="roundRect">
            <a:avLst>
              <a:gd name="adj" fmla="val 3599"/>
            </a:avLst>
          </a:prstGeom>
          <a:solidFill>
            <a:srgbClr val="E6F5F4"/>
          </a:solidFill>
          <a:ln w="15875">
            <a:solidFill>
              <a:srgbClr val="00A79D"/>
            </a:solidFill>
            <a:prstDash val="solid"/>
          </a:ln>
        </p:spPr>
      </p:sp>
      <p:sp>
        <p:nvSpPr>
          <p:cNvPr id="22" name="Shape 19"/>
          <p:cNvSpPr/>
          <p:nvPr/>
        </p:nvSpPr>
        <p:spPr>
          <a:xfrm>
            <a:off x="4414152" y="2816352"/>
            <a:ext cx="512064" cy="512064"/>
          </a:xfrm>
          <a:prstGeom prst="ellipse">
            <a:avLst/>
          </a:prstGeom>
          <a:solidFill>
            <a:srgbClr val="00A79D"/>
          </a:solidFill>
          <a:ln/>
        </p:spPr>
      </p:sp>
      <p:sp>
        <p:nvSpPr>
          <p:cNvPr id="23" name="Text 20"/>
          <p:cNvSpPr/>
          <p:nvPr/>
        </p:nvSpPr>
        <p:spPr>
          <a:xfrm>
            <a:off x="4414152"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4" name="Text 21"/>
          <p:cNvSpPr/>
          <p:nvPr/>
        </p:nvSpPr>
        <p:spPr>
          <a:xfrm>
            <a:off x="3509696" y="3456432"/>
            <a:ext cx="2320976"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Three beats (0:30–5:00)</a:t>
            </a:r>
            <a:endParaRPr lang="en-US" sz="1300" dirty="0"/>
          </a:p>
        </p:txBody>
      </p:sp>
      <p:sp>
        <p:nvSpPr>
          <p:cNvPr id="25" name="Text 22"/>
          <p:cNvSpPr/>
          <p:nvPr/>
        </p:nvSpPr>
        <p:spPr>
          <a:xfrm>
            <a:off x="3527984" y="3986784"/>
            <a:ext cx="2284400"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Situation, complication, evidence — one chart each, one message each, narrated as scenes.</a:t>
            </a:r>
            <a:endParaRPr lang="en-US" sz="1050" dirty="0"/>
          </a:p>
        </p:txBody>
      </p:sp>
      <p:sp>
        <p:nvSpPr>
          <p:cNvPr id="26" name="Text 23"/>
          <p:cNvSpPr/>
          <p:nvPr/>
        </p:nvSpPr>
        <p:spPr>
          <a:xfrm>
            <a:off x="5958688"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7" name="Shape 24"/>
          <p:cNvSpPr/>
          <p:nvPr/>
        </p:nvSpPr>
        <p:spPr>
          <a:xfrm>
            <a:off x="6251296" y="2615184"/>
            <a:ext cx="2540432" cy="2926080"/>
          </a:xfrm>
          <a:prstGeom prst="roundRect">
            <a:avLst>
              <a:gd name="adj" fmla="val 3599"/>
            </a:avLst>
          </a:prstGeom>
          <a:solidFill>
            <a:srgbClr val="FCF0E6"/>
          </a:solidFill>
          <a:ln w="15875">
            <a:solidFill>
              <a:srgbClr val="E8833A"/>
            </a:solidFill>
            <a:prstDash val="solid"/>
          </a:ln>
        </p:spPr>
      </p:sp>
      <p:sp>
        <p:nvSpPr>
          <p:cNvPr id="28" name="Shape 25"/>
          <p:cNvSpPr/>
          <p:nvPr/>
        </p:nvSpPr>
        <p:spPr>
          <a:xfrm>
            <a:off x="7265480" y="2816352"/>
            <a:ext cx="512064" cy="512064"/>
          </a:xfrm>
          <a:prstGeom prst="ellipse">
            <a:avLst/>
          </a:prstGeom>
          <a:solidFill>
            <a:srgbClr val="E8833A"/>
          </a:solidFill>
          <a:ln/>
        </p:spPr>
      </p:sp>
      <p:sp>
        <p:nvSpPr>
          <p:cNvPr id="29" name="Text 26"/>
          <p:cNvSpPr/>
          <p:nvPr/>
        </p:nvSpPr>
        <p:spPr>
          <a:xfrm>
            <a:off x="7265480"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0" name="Text 27"/>
          <p:cNvSpPr/>
          <p:nvPr/>
        </p:nvSpPr>
        <p:spPr>
          <a:xfrm>
            <a:off x="6361024" y="3456432"/>
            <a:ext cx="2320976"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Options &amp; recommendation (5:00–6:30)</a:t>
            </a:r>
            <a:endParaRPr lang="en-US" sz="1300" dirty="0"/>
          </a:p>
        </p:txBody>
      </p:sp>
      <p:sp>
        <p:nvSpPr>
          <p:cNvPr id="31" name="Text 28"/>
          <p:cNvSpPr/>
          <p:nvPr/>
        </p:nvSpPr>
        <p:spPr>
          <a:xfrm>
            <a:off x="6379312" y="3986784"/>
            <a:ext cx="2284400"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The three uses compared, the choice, and the expected effect.</a:t>
            </a:r>
            <a:endParaRPr lang="en-US" sz="1050" dirty="0"/>
          </a:p>
        </p:txBody>
      </p:sp>
      <p:sp>
        <p:nvSpPr>
          <p:cNvPr id="32" name="Text 29"/>
          <p:cNvSpPr/>
          <p:nvPr/>
        </p:nvSpPr>
        <p:spPr>
          <a:xfrm>
            <a:off x="8810015"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3" name="Shape 30"/>
          <p:cNvSpPr/>
          <p:nvPr/>
        </p:nvSpPr>
        <p:spPr>
          <a:xfrm>
            <a:off x="9102623" y="2615184"/>
            <a:ext cx="2540432" cy="2926080"/>
          </a:xfrm>
          <a:prstGeom prst="roundRect">
            <a:avLst>
              <a:gd name="adj" fmla="val 3599"/>
            </a:avLst>
          </a:prstGeom>
          <a:solidFill>
            <a:srgbClr val="EFEBF6"/>
          </a:solidFill>
          <a:ln w="15875">
            <a:solidFill>
              <a:srgbClr val="6C4FA1"/>
            </a:solidFill>
            <a:prstDash val="solid"/>
          </a:ln>
        </p:spPr>
      </p:sp>
      <p:sp>
        <p:nvSpPr>
          <p:cNvPr id="34" name="Shape 31"/>
          <p:cNvSpPr/>
          <p:nvPr/>
        </p:nvSpPr>
        <p:spPr>
          <a:xfrm>
            <a:off x="10116807" y="2816352"/>
            <a:ext cx="512064" cy="512064"/>
          </a:xfrm>
          <a:prstGeom prst="ellipse">
            <a:avLst/>
          </a:prstGeom>
          <a:solidFill>
            <a:srgbClr val="6C4FA1"/>
          </a:solidFill>
          <a:ln/>
        </p:spPr>
      </p:sp>
      <p:sp>
        <p:nvSpPr>
          <p:cNvPr id="35" name="Text 32"/>
          <p:cNvSpPr/>
          <p:nvPr/>
        </p:nvSpPr>
        <p:spPr>
          <a:xfrm>
            <a:off x="10116807"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6" name="Text 33"/>
          <p:cNvSpPr/>
          <p:nvPr/>
        </p:nvSpPr>
        <p:spPr>
          <a:xfrm>
            <a:off x="9212351" y="3456432"/>
            <a:ext cx="2320976"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The ask &amp; next step (6:30–7:00)</a:t>
            </a:r>
            <a:endParaRPr lang="en-US" sz="1300" dirty="0"/>
          </a:p>
        </p:txBody>
      </p:sp>
      <p:sp>
        <p:nvSpPr>
          <p:cNvPr id="37" name="Text 34"/>
          <p:cNvSpPr/>
          <p:nvPr/>
        </p:nvSpPr>
        <p:spPr>
          <a:xfrm>
            <a:off x="9230639" y="3986784"/>
            <a:ext cx="2284400"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'I'm asking the committee to approve the reallocation, with a checkpoint in 90 days.'</a:t>
            </a:r>
            <a:endParaRPr lang="en-US" sz="1050" dirty="0"/>
          </a:p>
        </p:txBody>
      </p:sp>
      <p:sp>
        <p:nvSpPr>
          <p:cNvPr id="38" name="Text 35"/>
          <p:cNvSpPr/>
          <p:nvPr/>
        </p:nvSpPr>
        <p:spPr>
          <a:xfrm>
            <a:off x="548640" y="5650992"/>
            <a:ext cx="11094415" cy="365760"/>
          </a:xfrm>
          <a:prstGeom prst="rect">
            <a:avLst/>
          </a:prstGeom>
          <a:noFill/>
          <a:ln/>
        </p:spPr>
        <p:txBody>
          <a:bodyPr wrap="square" rtlCol="0" anchor="t"/>
          <a:lstStyle/>
          <a:p>
            <a:pPr marL="0" indent="0" algn="l">
              <a:buNone/>
            </a:pPr>
            <a:r>
              <a:rPr lang="en-US" sz="1100" i="1" dirty="0">
                <a:solidFill>
                  <a:srgbClr val="6B7280"/>
                </a:solidFill>
                <a:latin typeface="Arial" pitchFamily="34" charset="0"/>
                <a:ea typeface="Arial" pitchFamily="34" charset="-122"/>
                <a:cs typeface="Arial" pitchFamily="34" charset="-120"/>
              </a:rPr>
              <a:t>The rule: say the ask twice — once at the top (BLUF), once at the close. Everything between earns the second ask.</a:t>
            </a:r>
            <a:endParaRPr lang="en-US" sz="11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TECHNICAL CONTENT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Delivering a chart out loud</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152</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A chart on a screen is not self-explanatory when you are talking over it — presenting a chart is a distinct skill.</a:t>
            </a:r>
            <a:endParaRPr lang="en-US" sz="1250" dirty="0"/>
          </a:p>
        </p:txBody>
      </p:sp>
      <p:sp>
        <p:nvSpPr>
          <p:cNvPr id="15" name="Shape 12"/>
          <p:cNvSpPr/>
          <p:nvPr/>
        </p:nvSpPr>
        <p:spPr>
          <a:xfrm>
            <a:off x="548640" y="2569464"/>
            <a:ext cx="541004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5410048" cy="82296"/>
          </a:xfrm>
          <a:prstGeom prst="rect">
            <a:avLst/>
          </a:prstGeom>
          <a:solidFill>
            <a:srgbClr val="2E5AAC"/>
          </a:solidFill>
          <a:ln/>
        </p:spPr>
      </p:sp>
      <p:sp>
        <p:nvSpPr>
          <p:cNvPr id="17" name="Text 14"/>
          <p:cNvSpPr/>
          <p:nvPr/>
        </p:nvSpPr>
        <p:spPr>
          <a:xfrm>
            <a:off x="731520" y="27523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Orient before you assert</a:t>
            </a:r>
            <a:endParaRPr lang="en-US" sz="1300" dirty="0"/>
          </a:p>
        </p:txBody>
      </p:sp>
      <p:sp>
        <p:nvSpPr>
          <p:cNvPr id="18" name="Text 15"/>
          <p:cNvSpPr/>
          <p:nvPr/>
        </p:nvSpPr>
        <p:spPr>
          <a:xfrm>
            <a:off x="731520" y="311810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One sentence on the axes first — 'each bar is a region, longer is higher adoption' — then the takeaway. People still decoding axes do not hear the conclusion.</a:t>
            </a:r>
            <a:endParaRPr lang="en-US" sz="1050" dirty="0"/>
          </a:p>
        </p:txBody>
      </p:sp>
      <p:sp>
        <p:nvSpPr>
          <p:cNvPr id="19" name="Shape 16"/>
          <p:cNvSpPr/>
          <p:nvPr/>
        </p:nvSpPr>
        <p:spPr>
          <a:xfrm>
            <a:off x="6233008" y="2569464"/>
            <a:ext cx="5410048" cy="1613916"/>
          </a:xfrm>
          <a:prstGeom prst="roundRect">
            <a:avLst>
              <a:gd name="adj" fmla="val 4533"/>
            </a:avLst>
          </a:prstGeom>
          <a:solidFill>
            <a:srgbClr val="FFFFFF"/>
          </a:solidFill>
          <a:ln w="12700">
            <a:solidFill>
              <a:srgbClr val="D9DEE8"/>
            </a:solidFill>
            <a:prstDash val="solid"/>
          </a:ln>
        </p:spPr>
      </p:sp>
      <p:sp>
        <p:nvSpPr>
          <p:cNvPr id="20" name="Shape 17"/>
          <p:cNvSpPr/>
          <p:nvPr/>
        </p:nvSpPr>
        <p:spPr>
          <a:xfrm>
            <a:off x="6233008" y="2569464"/>
            <a:ext cx="5410048" cy="82296"/>
          </a:xfrm>
          <a:prstGeom prst="rect">
            <a:avLst/>
          </a:prstGeom>
          <a:solidFill>
            <a:srgbClr val="00A79D"/>
          </a:solidFill>
          <a:ln/>
        </p:spPr>
      </p:sp>
      <p:sp>
        <p:nvSpPr>
          <p:cNvPr id="21" name="Text 18"/>
          <p:cNvSpPr/>
          <p:nvPr/>
        </p:nvSpPr>
        <p:spPr>
          <a:xfrm>
            <a:off x="6415888" y="27523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Control the reveal</a:t>
            </a:r>
            <a:endParaRPr lang="en-US" sz="1300" dirty="0"/>
          </a:p>
        </p:txBody>
      </p:sp>
      <p:sp>
        <p:nvSpPr>
          <p:cNvPr id="22" name="Text 19"/>
          <p:cNvSpPr/>
          <p:nvPr/>
        </p:nvSpPr>
        <p:spPr>
          <a:xfrm>
            <a:off x="6415888" y="311810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Use progressive build so the audience looks where you are speaking; a fully-rendered dense chart invites them to read ahead and stop listening.</a:t>
            </a:r>
            <a:endParaRPr lang="en-US" sz="1050" dirty="0"/>
          </a:p>
        </p:txBody>
      </p:sp>
      <p:sp>
        <p:nvSpPr>
          <p:cNvPr id="23" name="Shape 20"/>
          <p:cNvSpPr/>
          <p:nvPr/>
        </p:nvSpPr>
        <p:spPr>
          <a:xfrm>
            <a:off x="548640" y="4421124"/>
            <a:ext cx="5410048" cy="1613916"/>
          </a:xfrm>
          <a:prstGeom prst="roundRect">
            <a:avLst>
              <a:gd name="adj" fmla="val 4533"/>
            </a:avLst>
          </a:prstGeom>
          <a:solidFill>
            <a:srgbClr val="FFFFFF"/>
          </a:solidFill>
          <a:ln w="12700">
            <a:solidFill>
              <a:srgbClr val="D9DEE8"/>
            </a:solidFill>
            <a:prstDash val="solid"/>
          </a:ln>
        </p:spPr>
      </p:sp>
      <p:sp>
        <p:nvSpPr>
          <p:cNvPr id="24" name="Shape 21"/>
          <p:cNvSpPr/>
          <p:nvPr/>
        </p:nvSpPr>
        <p:spPr>
          <a:xfrm>
            <a:off x="548640" y="4421124"/>
            <a:ext cx="5410048" cy="82296"/>
          </a:xfrm>
          <a:prstGeom prst="rect">
            <a:avLst/>
          </a:prstGeom>
          <a:solidFill>
            <a:srgbClr val="E8833A"/>
          </a:solidFill>
          <a:ln/>
        </p:spPr>
      </p:sp>
      <p:sp>
        <p:nvSpPr>
          <p:cNvPr id="25" name="Text 22"/>
          <p:cNvSpPr/>
          <p:nvPr/>
        </p:nvSpPr>
        <p:spPr>
          <a:xfrm>
            <a:off x="731520" y="460400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Point at the evidence</a:t>
            </a:r>
            <a:endParaRPr lang="en-US" sz="1300" dirty="0"/>
          </a:p>
        </p:txBody>
      </p:sp>
      <p:sp>
        <p:nvSpPr>
          <p:cNvPr id="26" name="Text 23"/>
          <p:cNvSpPr/>
          <p:nvPr/>
        </p:nvSpPr>
        <p:spPr>
          <a:xfrm>
            <a:off x="731520" y="496976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Name and gesture to the specific mark that carries the argument — the annotated laggard — consistent with the slide's one callout.</a:t>
            </a:r>
            <a:endParaRPr lang="en-US" sz="1050" dirty="0"/>
          </a:p>
        </p:txBody>
      </p:sp>
      <p:sp>
        <p:nvSpPr>
          <p:cNvPr id="27" name="Shape 24"/>
          <p:cNvSpPr/>
          <p:nvPr/>
        </p:nvSpPr>
        <p:spPr>
          <a:xfrm>
            <a:off x="6233008" y="4421124"/>
            <a:ext cx="541004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6233008" y="4421124"/>
            <a:ext cx="5410048" cy="82296"/>
          </a:xfrm>
          <a:prstGeom prst="rect">
            <a:avLst/>
          </a:prstGeom>
          <a:solidFill>
            <a:srgbClr val="6C4FA1"/>
          </a:solidFill>
          <a:ln/>
        </p:spPr>
      </p:sp>
      <p:sp>
        <p:nvSpPr>
          <p:cNvPr id="29" name="Text 26"/>
          <p:cNvSpPr/>
          <p:nvPr/>
        </p:nvSpPr>
        <p:spPr>
          <a:xfrm>
            <a:off x="6415888" y="460400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Never read the chart aloud</a:t>
            </a:r>
            <a:endParaRPr lang="en-US" sz="1300" dirty="0"/>
          </a:p>
        </p:txBody>
      </p:sp>
      <p:sp>
        <p:nvSpPr>
          <p:cNvPr id="30" name="Text 27"/>
          <p:cNvSpPr/>
          <p:nvPr/>
        </p:nvSpPr>
        <p:spPr>
          <a:xfrm>
            <a:off x="6415888" y="496976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The title states the takeaway; you add the why and the so-what. You do not narrate every bar.</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TECHNICAL CONTENT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Handling Q&amp;A — five question types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153</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00" dirty="0">
                <a:solidFill>
                  <a:srgbClr val="343A4E"/>
                </a:solidFill>
                <a:latin typeface="Arial" pitchFamily="34" charset="0"/>
                <a:ea typeface="Arial" pitchFamily="34" charset="-122"/>
                <a:cs typeface="Arial" pitchFamily="34" charset="-120"/>
              </a:rPr>
              <a:t>Q&amp;A is where credibility is won or lost, and it is coachable.</a:t>
            </a:r>
            <a:endParaRPr lang="en-US" sz="1200" dirty="0"/>
          </a:p>
        </p:txBody>
      </p:sp>
      <p:graphicFrame>
        <p:nvGraphicFramePr>
          <p:cNvPr id="128"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11064240" cy="2798064"/>
        </p:xfrm>
        <a:graphic>
          <a:graphicData uri="http://schemas.openxmlformats.org/drawingml/2006/table">
            <a:tbl>
              <a:tblPr/>
              <a:tblGrid>
                <a:gridCol w="24688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Question type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Technique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Tayseer example</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Clarifying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Answer briefly, return to the arc</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'Yes, latest month is June.'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Hostile / data-wrong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Separate number from recommendation; route to appendix; hold the thread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'Source is in the appendix — the recommendation holds even at the lower estimate.'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Off-topic / rabbit hole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Acknowledge, park, redirect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'Let's take channel costs offline and stay on the allocation.'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The un-known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Say so, commit to follow up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'I don't have that to hand; I'll send it Thursday.'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The leading question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Answer the question, not the trap</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Restate assumptions before agreeing.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6" name="Text 12"/>
          <p:cNvSpPr/>
          <p:nvPr/>
        </p:nvSpPr>
        <p:spPr>
          <a:xfrm>
            <a:off x="548640" y="5431536"/>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Two master rules: bridge back to the Big Idea after every answer, and never bluff a number — a fabricated figure that unravels destroys the whole briefing.</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TECHNICAL CONTENT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Senior Saudi government-audience dynamics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157</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Delivering to a Deputy Minister-chaired committee has specific, teachable norms.</a:t>
            </a:r>
            <a:endParaRPr lang="en-US" sz="1250" dirty="0"/>
          </a:p>
        </p:txBody>
      </p:sp>
      <p:sp>
        <p:nvSpPr>
          <p:cNvPr id="15" name="Shape 12"/>
          <p:cNvSpPr/>
          <p:nvPr/>
        </p:nvSpPr>
        <p:spPr>
          <a:xfrm>
            <a:off x="548640" y="2569464"/>
            <a:ext cx="5410048" cy="1613916"/>
          </a:xfrm>
          <a:prstGeom prst="roundRect">
            <a:avLst>
              <a:gd name="adj" fmla="val 4533"/>
            </a:avLst>
          </a:prstGeom>
          <a:solidFill>
            <a:srgbClr val="FFFFFF"/>
          </a:solidFill>
          <a:ln w="12700">
            <a:solidFill>
              <a:srgbClr val="D9DEE8"/>
            </a:solidFill>
            <a:prstDash val="solid"/>
          </a:ln>
        </p:spPr>
      </p:sp>
      <p:sp>
        <p:nvSpPr>
          <p:cNvPr id="16" name="Shape 13"/>
          <p:cNvSpPr/>
          <p:nvPr/>
        </p:nvSpPr>
        <p:spPr>
          <a:xfrm>
            <a:off x="548640" y="2569464"/>
            <a:ext cx="5410048" cy="82296"/>
          </a:xfrm>
          <a:prstGeom prst="rect">
            <a:avLst/>
          </a:prstGeom>
          <a:solidFill>
            <a:srgbClr val="2E5AAC"/>
          </a:solidFill>
          <a:ln/>
        </p:spPr>
      </p:sp>
      <p:sp>
        <p:nvSpPr>
          <p:cNvPr id="17" name="Text 14"/>
          <p:cNvSpPr/>
          <p:nvPr/>
        </p:nvSpPr>
        <p:spPr>
          <a:xfrm>
            <a:off x="731520" y="27523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Protocol and hierarchy</a:t>
            </a:r>
            <a:endParaRPr lang="en-US" sz="1300" dirty="0"/>
          </a:p>
        </p:txBody>
      </p:sp>
      <p:sp>
        <p:nvSpPr>
          <p:cNvPr id="18" name="Text 15"/>
          <p:cNvSpPr/>
          <p:nvPr/>
        </p:nvSpPr>
        <p:spPr>
          <a:xfrm>
            <a:off x="731520" y="311810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Address the chair; be aware of seniority order; senior figures may question through aides — read the room's actual decision flow.</a:t>
            </a:r>
            <a:endParaRPr lang="en-US" sz="1050" dirty="0"/>
          </a:p>
        </p:txBody>
      </p:sp>
      <p:sp>
        <p:nvSpPr>
          <p:cNvPr id="19" name="Shape 16"/>
          <p:cNvSpPr/>
          <p:nvPr/>
        </p:nvSpPr>
        <p:spPr>
          <a:xfrm>
            <a:off x="6233008" y="2569464"/>
            <a:ext cx="5410048" cy="1613916"/>
          </a:xfrm>
          <a:prstGeom prst="roundRect">
            <a:avLst>
              <a:gd name="adj" fmla="val 4533"/>
            </a:avLst>
          </a:prstGeom>
          <a:solidFill>
            <a:srgbClr val="FFFFFF"/>
          </a:solidFill>
          <a:ln w="12700">
            <a:solidFill>
              <a:srgbClr val="D9DEE8"/>
            </a:solidFill>
            <a:prstDash val="solid"/>
          </a:ln>
        </p:spPr>
      </p:sp>
      <p:sp>
        <p:nvSpPr>
          <p:cNvPr id="20" name="Shape 17"/>
          <p:cNvSpPr/>
          <p:nvPr/>
        </p:nvSpPr>
        <p:spPr>
          <a:xfrm>
            <a:off x="6233008" y="2569464"/>
            <a:ext cx="5410048" cy="82296"/>
          </a:xfrm>
          <a:prstGeom prst="rect">
            <a:avLst/>
          </a:prstGeom>
          <a:solidFill>
            <a:srgbClr val="00A79D"/>
          </a:solidFill>
          <a:ln/>
        </p:spPr>
      </p:sp>
      <p:sp>
        <p:nvSpPr>
          <p:cNvPr id="21" name="Text 18"/>
          <p:cNvSpPr/>
          <p:nvPr/>
        </p:nvSpPr>
        <p:spPr>
          <a:xfrm>
            <a:off x="6415888" y="27523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Bilingual delivery</a:t>
            </a:r>
            <a:endParaRPr lang="en-US" sz="1300" dirty="0"/>
          </a:p>
        </p:txBody>
      </p:sp>
      <p:sp>
        <p:nvSpPr>
          <p:cNvPr id="22" name="Text 19"/>
          <p:cNvSpPr/>
          <p:nvPr/>
        </p:nvSpPr>
        <p:spPr>
          <a:xfrm>
            <a:off x="6415888" y="311810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Be ready to deliver or answer in Arabic or English; keep the deck's RTL discipline; do not code-switch mid-sentence unless the room does.</a:t>
            </a:r>
            <a:endParaRPr lang="en-US" sz="1050" dirty="0"/>
          </a:p>
        </p:txBody>
      </p:sp>
      <p:sp>
        <p:nvSpPr>
          <p:cNvPr id="23" name="Shape 20"/>
          <p:cNvSpPr/>
          <p:nvPr/>
        </p:nvSpPr>
        <p:spPr>
          <a:xfrm>
            <a:off x="548640" y="4421124"/>
            <a:ext cx="5410048" cy="1613916"/>
          </a:xfrm>
          <a:prstGeom prst="roundRect">
            <a:avLst>
              <a:gd name="adj" fmla="val 4533"/>
            </a:avLst>
          </a:prstGeom>
          <a:solidFill>
            <a:srgbClr val="FFFFFF"/>
          </a:solidFill>
          <a:ln w="12700">
            <a:solidFill>
              <a:srgbClr val="D9DEE8"/>
            </a:solidFill>
            <a:prstDash val="solid"/>
          </a:ln>
        </p:spPr>
      </p:sp>
      <p:sp>
        <p:nvSpPr>
          <p:cNvPr id="24" name="Shape 21"/>
          <p:cNvSpPr/>
          <p:nvPr/>
        </p:nvSpPr>
        <p:spPr>
          <a:xfrm>
            <a:off x="548640" y="4421124"/>
            <a:ext cx="5410048" cy="82296"/>
          </a:xfrm>
          <a:prstGeom prst="rect">
            <a:avLst/>
          </a:prstGeom>
          <a:solidFill>
            <a:srgbClr val="E8833A"/>
          </a:solidFill>
          <a:ln/>
        </p:spPr>
      </p:sp>
      <p:sp>
        <p:nvSpPr>
          <p:cNvPr id="25" name="Text 22"/>
          <p:cNvSpPr/>
          <p:nvPr/>
        </p:nvSpPr>
        <p:spPr>
          <a:xfrm>
            <a:off x="731520" y="460400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Formality and brevity</a:t>
            </a:r>
            <a:endParaRPr lang="en-US" sz="1300" dirty="0"/>
          </a:p>
        </p:txBody>
      </p:sp>
      <p:sp>
        <p:nvSpPr>
          <p:cNvPr id="26" name="Text 23"/>
          <p:cNvSpPr/>
          <p:nvPr/>
        </p:nvSpPr>
        <p:spPr>
          <a:xfrm>
            <a:off x="731520" y="496976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Senior audiences reward concision and respect for their time; over-familiarity or padding reads poorly. The BLUF is also a courtesy.</a:t>
            </a:r>
            <a:endParaRPr lang="en-US" sz="1050" dirty="0"/>
          </a:p>
        </p:txBody>
      </p:sp>
      <p:sp>
        <p:nvSpPr>
          <p:cNvPr id="27" name="Shape 24"/>
          <p:cNvSpPr/>
          <p:nvPr/>
        </p:nvSpPr>
        <p:spPr>
          <a:xfrm>
            <a:off x="6233008" y="4421124"/>
            <a:ext cx="5410048" cy="1613916"/>
          </a:xfrm>
          <a:prstGeom prst="roundRect">
            <a:avLst>
              <a:gd name="adj" fmla="val 4533"/>
            </a:avLst>
          </a:prstGeom>
          <a:solidFill>
            <a:srgbClr val="FFFFFF"/>
          </a:solidFill>
          <a:ln w="12700">
            <a:solidFill>
              <a:srgbClr val="D9DEE8"/>
            </a:solidFill>
            <a:prstDash val="solid"/>
          </a:ln>
        </p:spPr>
      </p:sp>
      <p:sp>
        <p:nvSpPr>
          <p:cNvPr id="28" name="Shape 25"/>
          <p:cNvSpPr/>
          <p:nvPr/>
        </p:nvSpPr>
        <p:spPr>
          <a:xfrm>
            <a:off x="6233008" y="4421124"/>
            <a:ext cx="5410048" cy="82296"/>
          </a:xfrm>
          <a:prstGeom prst="rect">
            <a:avLst/>
          </a:prstGeom>
          <a:solidFill>
            <a:srgbClr val="6C4FA1"/>
          </a:solidFill>
          <a:ln/>
        </p:spPr>
      </p:sp>
      <p:sp>
        <p:nvSpPr>
          <p:cNvPr id="29" name="Text 26"/>
          <p:cNvSpPr/>
          <p:nvPr/>
        </p:nvSpPr>
        <p:spPr>
          <a:xfrm>
            <a:off x="6415888" y="460400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Decision culture</a:t>
            </a:r>
            <a:endParaRPr lang="en-US" sz="1300" dirty="0"/>
          </a:p>
        </p:txBody>
      </p:sp>
      <p:sp>
        <p:nvSpPr>
          <p:cNvPr id="30" name="Text 27"/>
          <p:cNvSpPr/>
          <p:nvPr/>
        </p:nvSpPr>
        <p:spPr>
          <a:xfrm>
            <a:off x="6415888" y="4969764"/>
            <a:ext cx="5044288" cy="95554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The visible decision may be deferred to private consultation; make the recommendation unambiguous enough to survive a conversation you are not in.</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TECHNICAL CONTENT</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Rehearsal, recording, and iteration</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158</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Delivery is improved by reps, not advice. This is the lab method.</a:t>
            </a:r>
            <a:endParaRPr lang="en-US" sz="1250" dirty="0"/>
          </a:p>
        </p:txBody>
      </p:sp>
      <p:sp>
        <p:nvSpPr>
          <p:cNvPr id="15" name="Shape 12"/>
          <p:cNvSpPr/>
          <p:nvPr/>
        </p:nvSpPr>
        <p:spPr>
          <a:xfrm>
            <a:off x="548640" y="2615184"/>
            <a:ext cx="2540432" cy="2926080"/>
          </a:xfrm>
          <a:prstGeom prst="roundRect">
            <a:avLst>
              <a:gd name="adj" fmla="val 3599"/>
            </a:avLst>
          </a:prstGeom>
          <a:solidFill>
            <a:srgbClr val="EAF0FA"/>
          </a:solidFill>
          <a:ln w="15875">
            <a:solidFill>
              <a:srgbClr val="2E5AAC"/>
            </a:solidFill>
            <a:prstDash val="solid"/>
          </a:ln>
        </p:spPr>
      </p:sp>
      <p:sp>
        <p:nvSpPr>
          <p:cNvPr id="16" name="Shape 13"/>
          <p:cNvSpPr/>
          <p:nvPr/>
        </p:nvSpPr>
        <p:spPr>
          <a:xfrm>
            <a:off x="1562824" y="2816352"/>
            <a:ext cx="512064" cy="512064"/>
          </a:xfrm>
          <a:prstGeom prst="ellipse">
            <a:avLst/>
          </a:prstGeom>
          <a:solidFill>
            <a:srgbClr val="2E5AAC"/>
          </a:solidFill>
          <a:ln/>
        </p:spPr>
      </p:sp>
      <p:sp>
        <p:nvSpPr>
          <p:cNvPr id="17" name="Text 14"/>
          <p:cNvSpPr/>
          <p:nvPr/>
        </p:nvSpPr>
        <p:spPr>
          <a:xfrm>
            <a:off x="1562824"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658368" y="3456432"/>
            <a:ext cx="2320976"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Record every rehearsal</a:t>
            </a:r>
            <a:endParaRPr lang="en-US" sz="1300" dirty="0"/>
          </a:p>
        </p:txBody>
      </p:sp>
      <p:sp>
        <p:nvSpPr>
          <p:cNvPr id="19" name="Text 16"/>
          <p:cNvSpPr/>
          <p:nvPr/>
        </p:nvSpPr>
        <p:spPr>
          <a:xfrm>
            <a:off x="676656" y="3986784"/>
            <a:ext cx="2284400"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Watching your own delivery is the most effective feedback in the course — filler, pace, and eye contact are undeniable on video.</a:t>
            </a:r>
            <a:endParaRPr lang="en-US" sz="1050" dirty="0"/>
          </a:p>
        </p:txBody>
      </p:sp>
      <p:sp>
        <p:nvSpPr>
          <p:cNvPr id="20" name="Text 17"/>
          <p:cNvSpPr/>
          <p:nvPr/>
        </p:nvSpPr>
        <p:spPr>
          <a:xfrm>
            <a:off x="3107360"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1" name="Shape 18"/>
          <p:cNvSpPr/>
          <p:nvPr/>
        </p:nvSpPr>
        <p:spPr>
          <a:xfrm>
            <a:off x="3399968" y="2615184"/>
            <a:ext cx="2540432" cy="2926080"/>
          </a:xfrm>
          <a:prstGeom prst="roundRect">
            <a:avLst>
              <a:gd name="adj" fmla="val 3599"/>
            </a:avLst>
          </a:prstGeom>
          <a:solidFill>
            <a:srgbClr val="E6F5F4"/>
          </a:solidFill>
          <a:ln w="15875">
            <a:solidFill>
              <a:srgbClr val="00A79D"/>
            </a:solidFill>
            <a:prstDash val="solid"/>
          </a:ln>
        </p:spPr>
      </p:sp>
      <p:sp>
        <p:nvSpPr>
          <p:cNvPr id="22" name="Shape 19"/>
          <p:cNvSpPr/>
          <p:nvPr/>
        </p:nvSpPr>
        <p:spPr>
          <a:xfrm>
            <a:off x="4414152" y="2816352"/>
            <a:ext cx="512064" cy="512064"/>
          </a:xfrm>
          <a:prstGeom prst="ellipse">
            <a:avLst/>
          </a:prstGeom>
          <a:solidFill>
            <a:srgbClr val="00A79D"/>
          </a:solidFill>
          <a:ln/>
        </p:spPr>
      </p:sp>
      <p:sp>
        <p:nvSpPr>
          <p:cNvPr id="23" name="Text 20"/>
          <p:cNvSpPr/>
          <p:nvPr/>
        </p:nvSpPr>
        <p:spPr>
          <a:xfrm>
            <a:off x="4414152"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4" name="Text 21"/>
          <p:cNvSpPr/>
          <p:nvPr/>
        </p:nvSpPr>
        <p:spPr>
          <a:xfrm>
            <a:off x="3509696" y="3456432"/>
            <a:ext cx="2320976"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Time discipline</a:t>
            </a:r>
            <a:endParaRPr lang="en-US" sz="1300" dirty="0"/>
          </a:p>
        </p:txBody>
      </p:sp>
      <p:sp>
        <p:nvSpPr>
          <p:cNvPr id="25" name="Text 22"/>
          <p:cNvSpPr/>
          <p:nvPr/>
        </p:nvSpPr>
        <p:spPr>
          <a:xfrm>
            <a:off x="3527984" y="3986784"/>
            <a:ext cx="2284400"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Rehearse to the slot with a visible timer; overrunning a Deputy Minister's slot is itself a failure. Practise the 'cut to the ask' move.</a:t>
            </a:r>
            <a:endParaRPr lang="en-US" sz="1050" dirty="0"/>
          </a:p>
        </p:txBody>
      </p:sp>
      <p:sp>
        <p:nvSpPr>
          <p:cNvPr id="26" name="Text 23"/>
          <p:cNvSpPr/>
          <p:nvPr/>
        </p:nvSpPr>
        <p:spPr>
          <a:xfrm>
            <a:off x="5958688"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7" name="Shape 24"/>
          <p:cNvSpPr/>
          <p:nvPr/>
        </p:nvSpPr>
        <p:spPr>
          <a:xfrm>
            <a:off x="6251296" y="2615184"/>
            <a:ext cx="2540432" cy="2926080"/>
          </a:xfrm>
          <a:prstGeom prst="roundRect">
            <a:avLst>
              <a:gd name="adj" fmla="val 3599"/>
            </a:avLst>
          </a:prstGeom>
          <a:solidFill>
            <a:srgbClr val="FCF0E6"/>
          </a:solidFill>
          <a:ln w="15875">
            <a:solidFill>
              <a:srgbClr val="E8833A"/>
            </a:solidFill>
            <a:prstDash val="solid"/>
          </a:ln>
        </p:spPr>
      </p:sp>
      <p:sp>
        <p:nvSpPr>
          <p:cNvPr id="28" name="Shape 25"/>
          <p:cNvSpPr/>
          <p:nvPr/>
        </p:nvSpPr>
        <p:spPr>
          <a:xfrm>
            <a:off x="7265480" y="2816352"/>
            <a:ext cx="512064" cy="512064"/>
          </a:xfrm>
          <a:prstGeom prst="ellipse">
            <a:avLst/>
          </a:prstGeom>
          <a:solidFill>
            <a:srgbClr val="E8833A"/>
          </a:solidFill>
          <a:ln/>
        </p:spPr>
      </p:sp>
      <p:sp>
        <p:nvSpPr>
          <p:cNvPr id="29" name="Text 26"/>
          <p:cNvSpPr/>
          <p:nvPr/>
        </p:nvSpPr>
        <p:spPr>
          <a:xfrm>
            <a:off x="7265480"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30" name="Text 27"/>
          <p:cNvSpPr/>
          <p:nvPr/>
        </p:nvSpPr>
        <p:spPr>
          <a:xfrm>
            <a:off x="6361024" y="3456432"/>
            <a:ext cx="2320976"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Structured critique</a:t>
            </a:r>
            <a:endParaRPr lang="en-US" sz="1300" dirty="0"/>
          </a:p>
        </p:txBody>
      </p:sp>
      <p:sp>
        <p:nvSpPr>
          <p:cNvPr id="31" name="Text 28"/>
          <p:cNvSpPr/>
          <p:nvPr/>
        </p:nvSpPr>
        <p:spPr>
          <a:xfrm>
            <a:off x="6379312" y="3986784"/>
            <a:ext cx="2284400"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Use a fixed rubric (BLUF, one message per slide, chart delivery, Q&amp;A, time, presence) so feedback is specific and kind.</a:t>
            </a:r>
            <a:endParaRPr lang="en-US" sz="1050" dirty="0"/>
          </a:p>
        </p:txBody>
      </p:sp>
      <p:sp>
        <p:nvSpPr>
          <p:cNvPr id="32" name="Text 29"/>
          <p:cNvSpPr/>
          <p:nvPr/>
        </p:nvSpPr>
        <p:spPr>
          <a:xfrm>
            <a:off x="8810015" y="375818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33" name="Shape 30"/>
          <p:cNvSpPr/>
          <p:nvPr/>
        </p:nvSpPr>
        <p:spPr>
          <a:xfrm>
            <a:off x="9102623" y="2615184"/>
            <a:ext cx="2540432" cy="2926080"/>
          </a:xfrm>
          <a:prstGeom prst="roundRect">
            <a:avLst>
              <a:gd name="adj" fmla="val 3599"/>
            </a:avLst>
          </a:prstGeom>
          <a:solidFill>
            <a:srgbClr val="EFEBF6"/>
          </a:solidFill>
          <a:ln w="15875">
            <a:solidFill>
              <a:srgbClr val="6C4FA1"/>
            </a:solidFill>
            <a:prstDash val="solid"/>
          </a:ln>
        </p:spPr>
      </p:sp>
      <p:sp>
        <p:nvSpPr>
          <p:cNvPr id="34" name="Shape 31"/>
          <p:cNvSpPr/>
          <p:nvPr/>
        </p:nvSpPr>
        <p:spPr>
          <a:xfrm>
            <a:off x="10116807" y="2816352"/>
            <a:ext cx="512064" cy="512064"/>
          </a:xfrm>
          <a:prstGeom prst="ellipse">
            <a:avLst/>
          </a:prstGeom>
          <a:solidFill>
            <a:srgbClr val="6C4FA1"/>
          </a:solidFill>
          <a:ln/>
        </p:spPr>
      </p:sp>
      <p:sp>
        <p:nvSpPr>
          <p:cNvPr id="35" name="Text 32"/>
          <p:cNvSpPr/>
          <p:nvPr/>
        </p:nvSpPr>
        <p:spPr>
          <a:xfrm>
            <a:off x="10116807" y="281635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6" name="Text 33"/>
          <p:cNvSpPr/>
          <p:nvPr/>
        </p:nvSpPr>
        <p:spPr>
          <a:xfrm>
            <a:off x="9212351" y="3456432"/>
            <a:ext cx="2320976"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Iterate across rounds</a:t>
            </a:r>
            <a:endParaRPr lang="en-US" sz="1300" dirty="0"/>
          </a:p>
        </p:txBody>
      </p:sp>
      <p:sp>
        <p:nvSpPr>
          <p:cNvPr id="37" name="Text 34"/>
          <p:cNvSpPr/>
          <p:nvPr/>
        </p:nvSpPr>
        <p:spPr>
          <a:xfrm>
            <a:off x="9230639" y="3986784"/>
            <a:ext cx="2284400"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Two recorded rounds with critique between produce visible improvement; the benchmark is the delta, not the first attempt.</a:t>
            </a:r>
            <a:endParaRPr lang="en-US" sz="1050" dirty="0"/>
          </a:p>
        </p:txBody>
      </p:sp>
      <p:sp>
        <p:nvSpPr>
          <p:cNvPr id="38" name="Text 35"/>
          <p:cNvSpPr/>
          <p:nvPr/>
        </p:nvSpPr>
        <p:spPr>
          <a:xfrm>
            <a:off x="548640" y="5650992"/>
            <a:ext cx="11094415" cy="365760"/>
          </a:xfrm>
          <a:prstGeom prst="rect">
            <a:avLst/>
          </a:prstGeom>
          <a:noFill/>
          <a:ln/>
        </p:spPr>
        <p:txBody>
          <a:bodyPr wrap="square" rtlCol="0" anchor="t"/>
          <a:lstStyle/>
          <a:p>
            <a:pPr marL="0" indent="0" algn="l">
              <a:buNone/>
            </a:pPr>
            <a:r>
              <a:rPr lang="en-US" sz="1100" i="1" dirty="0">
                <a:solidFill>
                  <a:srgbClr val="6B7280"/>
                </a:solidFill>
                <a:latin typeface="Arial" pitchFamily="34" charset="0"/>
                <a:ea typeface="Arial" pitchFamily="34" charset="-122"/>
                <a:cs typeface="Arial" pitchFamily="34" charset="-120"/>
              </a:rPr>
              <a:t>Critique the delivery, not the person — the Day 1 norm. The delta is the grade.</a:t>
            </a:r>
            <a:endParaRPr lang="en-US" sz="11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TIMED SPEAKER NOTES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Generate timed notes and the twice-stated ask</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159</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story/speaker_notes.py</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story/speaker_notes.py — timed notes + the ask</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from story.tayseer_storyboard import STORYBOARD, BIG_IDEA</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TIME_BOX = {"BLUF": 30, "situation": 45,</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"complication": 60, "evidence": 75,</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"options": 90, "resolution": 60,</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"ask": 30}   # seconds, sums to 7 min</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def build_notes(storyboard):</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total = 0</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print(f"OPEN (say the ask): {BIG_IDEA}\n")</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for s in storyboard:</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secs = TIME_BOX.get(s.arc_role, 45)</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total += secs</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print(f"[{total//60}:{total%60:02d}] {s.arc_role}")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print(f"   Orient axes, then: {s.message}")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print("   Point at one mark; do NOT read it.")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assert total &lt;= 7*60, f"Over by {total-420}s — cut."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print("CLOSE (ask AGAIN): approve; 90-day check.")</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build_notes(STORYBOARD)</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Delivery is a plan too: every scene gets a time box and a one-line narration cue.</a:t>
            </a:r>
            <a:endParaRPr lang="en-US" sz="11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CODE — Q&amp;A PREP MATRIX</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Pre-build answers that bridge to the Big Idea</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160</a:t>
            </a:r>
            <a:endParaRPr lang="en-US" sz="800" dirty="0"/>
          </a:p>
        </p:txBody>
      </p:sp>
      <p:sp>
        <p:nvSpPr>
          <p:cNvPr id="14" name="Shape 11"/>
          <p:cNvSpPr/>
          <p:nvPr/>
        </p:nvSpPr>
        <p:spPr>
          <a:xfrm>
            <a:off x="548640" y="2020824"/>
            <a:ext cx="11094415" cy="3557016"/>
          </a:xfrm>
          <a:prstGeom prst="roundRect">
            <a:avLst>
              <a:gd name="adj" fmla="val 1542"/>
            </a:avLst>
          </a:prstGeom>
          <a:solidFill>
            <a:srgbClr val="1B2233"/>
          </a:solidFill>
          <a:ln/>
        </p:spPr>
      </p:sp>
      <p:sp>
        <p:nvSpPr>
          <p:cNvPr id="15" name="Shape 12"/>
          <p:cNvSpPr/>
          <p:nvPr/>
        </p:nvSpPr>
        <p:spPr>
          <a:xfrm>
            <a:off x="749808" y="2167128"/>
            <a:ext cx="109728" cy="109728"/>
          </a:xfrm>
          <a:prstGeom prst="ellipse">
            <a:avLst/>
          </a:prstGeom>
          <a:solidFill>
            <a:srgbClr val="D9534F"/>
          </a:solidFill>
          <a:ln/>
        </p:spPr>
      </p:sp>
      <p:sp>
        <p:nvSpPr>
          <p:cNvPr id="16" name="Shape 13"/>
          <p:cNvSpPr/>
          <p:nvPr/>
        </p:nvSpPr>
        <p:spPr>
          <a:xfrm>
            <a:off x="950976" y="2167128"/>
            <a:ext cx="109728" cy="109728"/>
          </a:xfrm>
          <a:prstGeom prst="ellipse">
            <a:avLst/>
          </a:prstGeom>
          <a:solidFill>
            <a:srgbClr val="E6B325"/>
          </a:solidFill>
          <a:ln/>
        </p:spPr>
      </p:sp>
      <p:sp>
        <p:nvSpPr>
          <p:cNvPr id="17" name="Shape 14"/>
          <p:cNvSpPr/>
          <p:nvPr/>
        </p:nvSpPr>
        <p:spPr>
          <a:xfrm>
            <a:off x="1152144" y="2167128"/>
            <a:ext cx="109728" cy="109728"/>
          </a:xfrm>
          <a:prstGeom prst="ellipse">
            <a:avLst/>
          </a:prstGeom>
          <a:solidFill>
            <a:srgbClr val="3FAE5A"/>
          </a:solidFill>
          <a:ln/>
        </p:spPr>
      </p:sp>
      <p:sp>
        <p:nvSpPr>
          <p:cNvPr id="18" name="Text 15"/>
          <p:cNvSpPr/>
          <p:nvPr/>
        </p:nvSpPr>
        <p:spPr>
          <a:xfrm>
            <a:off x="1463040" y="2093976"/>
            <a:ext cx="9997135" cy="256032"/>
          </a:xfrm>
          <a:prstGeom prst="rect">
            <a:avLst/>
          </a:prstGeom>
          <a:noFill/>
          <a:ln/>
        </p:spPr>
        <p:txBody>
          <a:bodyPr wrap="square" rtlCol="0" anchor="ctr"/>
          <a:lstStyle/>
          <a:p>
            <a:pPr marL="0" indent="0" algn="l">
              <a:buNone/>
            </a:pPr>
            <a:r>
              <a:rPr lang="en-US" sz="950" dirty="0">
                <a:solidFill>
                  <a:srgbClr val="8FA0BF"/>
                </a:solidFill>
                <a:latin typeface="Courier New" pitchFamily="34" charset="0"/>
                <a:ea typeface="Courier New" pitchFamily="34" charset="-122"/>
                <a:cs typeface="Courier New" pitchFamily="34" charset="-120"/>
              </a:rPr>
              <a:t>story/qa_prep.py</a:t>
            </a:r>
            <a:endParaRPr lang="en-US" sz="950" dirty="0"/>
          </a:p>
        </p:txBody>
      </p:sp>
      <p:sp>
        <p:nvSpPr>
          <p:cNvPr id="19" name="Text 16"/>
          <p:cNvSpPr/>
          <p:nvPr/>
        </p:nvSpPr>
        <p:spPr>
          <a:xfrm>
            <a:off x="804672" y="2423160"/>
            <a:ext cx="10637215" cy="3054096"/>
          </a:xfrm>
          <a:prstGeom prst="rect">
            <a:avLst/>
          </a:prstGeom>
          <a:noFill/>
          <a:ln/>
        </p:spPr>
        <p:txBody>
          <a:bodyPr wrap="square" rtlCol="0" anchor="t"/>
          <a:lstStyle/>
          <a:p>
            <a:pPr marL="0" indent="0">
              <a:lnSpc>
                <a:spcPct val="102000"/>
              </a:lnSpc>
              <a:buNone/>
            </a:pPr>
            <a:r>
              <a:rPr lang="en-US" sz="900" dirty="0">
                <a:solidFill>
                  <a:srgbClr val="7F9CC4"/>
                </a:solidFill>
                <a:latin typeface="Courier New" pitchFamily="34" charset="0"/>
                <a:ea typeface="Courier New" pitchFamily="34" charset="-122"/>
                <a:cs typeface="Courier New" pitchFamily="34" charset="-120"/>
              </a:rPr>
              <a:t># story/qa_prep.py — acknowledge -&gt; answer -&gt; BRIDGE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QA =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{"q": "Aren't those regions just small? (hostile)",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"answer": "Per-capita, not absolute (appx A2).",</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"bridge": "so targeted spend closes the real gap."},</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{"q": "Adoption looks high vs finance (data-wrong)",</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"answer": "Unique users, not a column avg (A5).",</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"bridge": "it holds at finance's lower figure."},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{"q": "Why not spend it on the app? (off-topic)",</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"answer": "Channel infra is option 2; slower.",</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"bridge": "region-targeting is fastest to 65%."},</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def drill(qa):</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for i, item in enumerate(qa, 1):</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print(f"Q{i}: {item['q']}")</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print(f"  A: {item['answer']}")</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print(f"  -&gt;bridge: ...{item['bridge']}")</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 </a:t>
            </a:r>
            <a:endParaRPr lang="en-US" sz="900" dirty="0"/>
          </a:p>
          <a:p>
            <a:pPr marL="0" indent="0">
              <a:lnSpc>
                <a:spcPct val="102000"/>
              </a:lnSpc>
              <a:buNone/>
            </a:pPr>
            <a:r>
              <a:rPr lang="en-US" sz="900" dirty="0">
                <a:solidFill>
                  <a:srgbClr val="E8ECF5"/>
                </a:solidFill>
                <a:latin typeface="Courier New" pitchFamily="34" charset="0"/>
                <a:ea typeface="Courier New" pitchFamily="34" charset="-122"/>
                <a:cs typeface="Courier New" pitchFamily="34" charset="-120"/>
              </a:rPr>
              <a:t>drill(QA)</a:t>
            </a:r>
            <a:endParaRPr lang="en-US" sz="900" dirty="0"/>
          </a:p>
        </p:txBody>
      </p:sp>
      <p:sp>
        <p:nvSpPr>
          <p:cNvPr id="20" name="Text 17"/>
          <p:cNvSpPr/>
          <p:nvPr/>
        </p:nvSpPr>
        <p:spPr>
          <a:xfrm>
            <a:off x="548640" y="5650992"/>
            <a:ext cx="11094415" cy="365760"/>
          </a:xfrm>
          <a:prstGeom prst="rect">
            <a:avLst/>
          </a:prstGeom>
          <a:noFill/>
          <a:ln/>
        </p:spPr>
        <p:txBody>
          <a:bodyPr wrap="square" rtlCol="0" anchor="t"/>
          <a:lstStyle/>
          <a:p>
            <a:pPr marL="0" indent="0">
              <a:buNone/>
            </a:pPr>
            <a:r>
              <a:rPr lang="en-US" sz="1100" i="1" dirty="0">
                <a:solidFill>
                  <a:srgbClr val="6B7280"/>
                </a:solidFill>
                <a:latin typeface="Arial" pitchFamily="34" charset="0"/>
                <a:ea typeface="Arial" pitchFamily="34" charset="-122"/>
                <a:cs typeface="Arial" pitchFamily="34" charset="-120"/>
              </a:rPr>
              <a:t>Each answer: acknowledge, respond briefly, then bridge back to the Big Idea.</a:t>
            </a:r>
            <a:endParaRPr lang="en-US" sz="11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HANDS-ON LAB</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Lab 6 — The Executive Delivery Clinic</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عيادة العرض التنفيذي</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161</a:t>
            </a:r>
            <a:endParaRPr lang="en-US" sz="800" dirty="0"/>
          </a:p>
        </p:txBody>
      </p:sp>
      <p:sp>
        <p:nvSpPr>
          <p:cNvPr id="15" name="Shape 12"/>
          <p:cNvSpPr/>
          <p:nvPr/>
        </p:nvSpPr>
        <p:spPr>
          <a:xfrm>
            <a:off x="548640" y="2331720"/>
            <a:ext cx="11094415" cy="1234440"/>
          </a:xfrm>
          <a:prstGeom prst="roundRect">
            <a:avLst>
              <a:gd name="adj" fmla="val 5926"/>
            </a:avLst>
          </a:prstGeom>
          <a:solidFill>
            <a:srgbClr val="EAF0FA"/>
          </a:solidFill>
          <a:ln w="12700">
            <a:solidFill>
              <a:srgbClr val="2E5AAC"/>
            </a:solidFill>
            <a:prstDash val="solid"/>
          </a:ln>
        </p:spPr>
      </p:sp>
      <p:sp>
        <p:nvSpPr>
          <p:cNvPr id="16" name="Text 13"/>
          <p:cNvSpPr/>
          <p:nvPr/>
        </p:nvSpPr>
        <p:spPr>
          <a:xfrm>
            <a:off x="777240" y="2450592"/>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OBJECTIVE  </a:t>
            </a:r>
            <a:r>
              <a:rPr lang="en-US" sz="1100" dirty="0">
                <a:solidFill>
                  <a:srgbClr val="343A4E"/>
                </a:solidFill>
                <a:latin typeface="Arial" pitchFamily="34" charset="0"/>
                <a:ea typeface="Arial" pitchFamily="34" charset="-122"/>
                <a:cs typeface="Arial" pitchFamily="34" charset="-120"/>
              </a:rPr>
              <a:t>Deliver the Module 5 seven-slide narrative to a simulated Steering Committee in a 7-minute slot, handle a Q&amp;A round, and improve measurably across two recorded rounds.</a:t>
            </a:r>
            <a:endParaRPr lang="en-US" sz="1100" dirty="0"/>
          </a:p>
        </p:txBody>
      </p:sp>
      <p:sp>
        <p:nvSpPr>
          <p:cNvPr id="17" name="Text 14"/>
          <p:cNvSpPr/>
          <p:nvPr/>
        </p:nvSpPr>
        <p:spPr>
          <a:xfrm>
            <a:off x="777240" y="2907792"/>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DURATION  </a:t>
            </a:r>
            <a:r>
              <a:rPr lang="en-US" sz="1100" dirty="0">
                <a:solidFill>
                  <a:srgbClr val="343A4E"/>
                </a:solidFill>
                <a:latin typeface="Arial" pitchFamily="34" charset="0"/>
                <a:ea typeface="Arial" pitchFamily="34" charset="-122"/>
                <a:cs typeface="Arial" pitchFamily="34" charset="-120"/>
              </a:rPr>
              <a:t>50 minutes</a:t>
            </a:r>
            <a:endParaRPr lang="en-US" sz="1100" dirty="0"/>
          </a:p>
        </p:txBody>
      </p:sp>
      <p:sp>
        <p:nvSpPr>
          <p:cNvPr id="18" name="Text 15"/>
          <p:cNvSpPr/>
          <p:nvPr/>
        </p:nvSpPr>
        <p:spPr>
          <a:xfrm>
            <a:off x="777240" y="3255264"/>
            <a:ext cx="10637215" cy="365760"/>
          </a:xfrm>
          <a:prstGeom prst="rect">
            <a:avLst/>
          </a:prstGeom>
          <a:noFill/>
          <a:ln/>
        </p:spPr>
        <p:txBody>
          <a:bodyPr wrap="square" rtlCol="0" anchor="t"/>
          <a:lstStyle/>
          <a:p>
            <a:pPr marL="0" indent="0">
              <a:lnSpc>
                <a:spcPct val="98000"/>
              </a:lnSpc>
              <a:buNone/>
            </a:pPr>
            <a:r>
              <a:rPr lang="en-US" sz="1100" b="1" dirty="0">
                <a:solidFill>
                  <a:srgbClr val="2E5AAC"/>
                </a:solidFill>
                <a:latin typeface="Arial" pitchFamily="34" charset="0"/>
                <a:ea typeface="Arial" pitchFamily="34" charset="-122"/>
                <a:cs typeface="Arial" pitchFamily="34" charset="-120"/>
              </a:rPr>
              <a:t>SETUP  </a:t>
            </a:r>
            <a:r>
              <a:rPr lang="en-US" sz="1100" dirty="0">
                <a:solidFill>
                  <a:srgbClr val="343A4E"/>
                </a:solidFill>
                <a:latin typeface="Arial" pitchFamily="34" charset="0"/>
                <a:ea typeface="Arial" pitchFamily="34" charset="-122"/>
                <a:cs typeface="Arial" pitchFamily="34" charset="-120"/>
              </a:rPr>
              <a:t>M5 storyboard + scenes; speaker_notes.py, qa_prep.py, rehearsal_score.py; a recording device per pair; a visible timer; recording-consent forms.</a:t>
            </a:r>
            <a:endParaRPr lang="en-US" sz="1100" dirty="0"/>
          </a:p>
        </p:txBody>
      </p:sp>
      <p:sp>
        <p:nvSpPr>
          <p:cNvPr id="19" name="Text 16"/>
          <p:cNvSpPr/>
          <p:nvPr/>
        </p:nvSpPr>
        <p:spPr>
          <a:xfrm>
            <a:off x="548640" y="3703320"/>
            <a:ext cx="4572000" cy="274320"/>
          </a:xfrm>
          <a:prstGeom prst="rect">
            <a:avLst/>
          </a:prstGeom>
          <a:noFill/>
          <a:ln/>
        </p:spPr>
        <p:txBody>
          <a:bodyPr wrap="square" rtlCol="0" anchor="ctr"/>
          <a:lstStyle/>
          <a:p>
            <a:pPr marL="0" indent="0">
              <a:buNone/>
            </a:pPr>
            <a:r>
              <a:rPr lang="en-US" sz="1200" b="1" kern="0" spc="100" dirty="0">
                <a:solidFill>
                  <a:srgbClr val="1D2A5C"/>
                </a:solidFill>
                <a:latin typeface="Arial" pitchFamily="34" charset="0"/>
                <a:ea typeface="Arial" pitchFamily="34" charset="-122"/>
                <a:cs typeface="Arial" pitchFamily="34" charset="-120"/>
              </a:rPr>
              <a:t>TASKS</a:t>
            </a:r>
            <a:endParaRPr lang="en-US" sz="1200" dirty="0"/>
          </a:p>
        </p:txBody>
      </p:sp>
      <p:sp>
        <p:nvSpPr>
          <p:cNvPr id="20" name="Shape 17"/>
          <p:cNvSpPr/>
          <p:nvPr/>
        </p:nvSpPr>
        <p:spPr>
          <a:xfrm>
            <a:off x="548640" y="4087368"/>
            <a:ext cx="292608" cy="292608"/>
          </a:xfrm>
          <a:prstGeom prst="ellipse">
            <a:avLst/>
          </a:prstGeom>
          <a:solidFill>
            <a:srgbClr val="2E5AAC"/>
          </a:solidFill>
          <a:ln/>
        </p:spPr>
      </p:sp>
      <p:sp>
        <p:nvSpPr>
          <p:cNvPr id="21" name="Text 18"/>
          <p:cNvSpPr/>
          <p:nvPr/>
        </p:nvSpPr>
        <p:spPr>
          <a:xfrm>
            <a:off x="548640" y="4087368"/>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2" name="Text 19"/>
          <p:cNvSpPr/>
          <p:nvPr/>
        </p:nvSpPr>
        <p:spPr>
          <a:xfrm>
            <a:off x="960120" y="4069080"/>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Generate timed speaker notes; confirm the ask is stated at open and close and total is ≤ 7:00.</a:t>
            </a:r>
            <a:endParaRPr lang="en-US" sz="1100" dirty="0"/>
          </a:p>
        </p:txBody>
      </p:sp>
      <p:sp>
        <p:nvSpPr>
          <p:cNvPr id="23" name="Shape 20"/>
          <p:cNvSpPr/>
          <p:nvPr/>
        </p:nvSpPr>
        <p:spPr>
          <a:xfrm>
            <a:off x="548640" y="4368219"/>
            <a:ext cx="292608" cy="292608"/>
          </a:xfrm>
          <a:prstGeom prst="ellipse">
            <a:avLst/>
          </a:prstGeom>
          <a:solidFill>
            <a:srgbClr val="00A79D"/>
          </a:solidFill>
          <a:ln/>
        </p:spPr>
      </p:sp>
      <p:sp>
        <p:nvSpPr>
          <p:cNvPr id="24" name="Text 21"/>
          <p:cNvSpPr/>
          <p:nvPr/>
        </p:nvSpPr>
        <p:spPr>
          <a:xfrm>
            <a:off x="548640" y="4368219"/>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5" name="Text 22"/>
          <p:cNvSpPr/>
          <p:nvPr/>
        </p:nvSpPr>
        <p:spPr>
          <a:xfrm>
            <a:off x="960120" y="4349931"/>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Build the Q&amp;A matrix: 4+ questions incl. one hostile and one 'data is wrong', each with an answer and a bridge.</a:t>
            </a:r>
            <a:endParaRPr lang="en-US" sz="1100" dirty="0"/>
          </a:p>
        </p:txBody>
      </p:sp>
      <p:sp>
        <p:nvSpPr>
          <p:cNvPr id="26" name="Shape 23"/>
          <p:cNvSpPr/>
          <p:nvPr/>
        </p:nvSpPr>
        <p:spPr>
          <a:xfrm>
            <a:off x="548640" y="4649071"/>
            <a:ext cx="292608" cy="292608"/>
          </a:xfrm>
          <a:prstGeom prst="ellipse">
            <a:avLst/>
          </a:prstGeom>
          <a:solidFill>
            <a:srgbClr val="E8833A"/>
          </a:solidFill>
          <a:ln/>
        </p:spPr>
      </p:sp>
      <p:sp>
        <p:nvSpPr>
          <p:cNvPr id="27" name="Text 24"/>
          <p:cNvSpPr/>
          <p:nvPr/>
        </p:nvSpPr>
        <p:spPr>
          <a:xfrm>
            <a:off x="548640" y="4649071"/>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5"/>
          <p:cNvSpPr/>
          <p:nvPr/>
        </p:nvSpPr>
        <p:spPr>
          <a:xfrm>
            <a:off x="960120" y="4630783"/>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Round 1: deliver the 7-minute briefing to your pair (the committee), recorded; they ask two prepared questions.</a:t>
            </a:r>
            <a:endParaRPr lang="en-US" sz="1100" dirty="0"/>
          </a:p>
        </p:txBody>
      </p:sp>
      <p:sp>
        <p:nvSpPr>
          <p:cNvPr id="29" name="Shape 26"/>
          <p:cNvSpPr/>
          <p:nvPr/>
        </p:nvSpPr>
        <p:spPr>
          <a:xfrm>
            <a:off x="548640" y="4929922"/>
            <a:ext cx="292608" cy="292608"/>
          </a:xfrm>
          <a:prstGeom prst="ellipse">
            <a:avLst/>
          </a:prstGeom>
          <a:solidFill>
            <a:srgbClr val="6C4FA1"/>
          </a:solidFill>
          <a:ln/>
        </p:spPr>
      </p:sp>
      <p:sp>
        <p:nvSpPr>
          <p:cNvPr id="30" name="Text 27"/>
          <p:cNvSpPr/>
          <p:nvPr/>
        </p:nvSpPr>
        <p:spPr>
          <a:xfrm>
            <a:off x="548640" y="4929922"/>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1" name="Text 28"/>
          <p:cNvSpPr/>
          <p:nvPr/>
        </p:nvSpPr>
        <p:spPr>
          <a:xfrm>
            <a:off x="960120" y="4911634"/>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Self-review the recording against the rubric; note the two highest-leverage fixes (usually ask and time).</a:t>
            </a:r>
            <a:endParaRPr lang="en-US" sz="1100" dirty="0"/>
          </a:p>
        </p:txBody>
      </p:sp>
      <p:sp>
        <p:nvSpPr>
          <p:cNvPr id="32" name="Shape 29"/>
          <p:cNvSpPr/>
          <p:nvPr/>
        </p:nvSpPr>
        <p:spPr>
          <a:xfrm>
            <a:off x="548640" y="5210774"/>
            <a:ext cx="292608" cy="292608"/>
          </a:xfrm>
          <a:prstGeom prst="ellipse">
            <a:avLst/>
          </a:prstGeom>
          <a:solidFill>
            <a:srgbClr val="3FAE5A"/>
          </a:solidFill>
          <a:ln/>
        </p:spPr>
      </p:sp>
      <p:sp>
        <p:nvSpPr>
          <p:cNvPr id="33" name="Text 30"/>
          <p:cNvSpPr/>
          <p:nvPr/>
        </p:nvSpPr>
        <p:spPr>
          <a:xfrm>
            <a:off x="548640" y="5210774"/>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p:nvPr/>
        </p:nvSpPr>
        <p:spPr>
          <a:xfrm>
            <a:off x="960120" y="5192486"/>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Structured peer critique: committee scores the same rubric; critique the delivery, not the person.</a:t>
            </a:r>
            <a:endParaRPr lang="en-US" sz="1100" dirty="0"/>
          </a:p>
        </p:txBody>
      </p:sp>
      <p:sp>
        <p:nvSpPr>
          <p:cNvPr id="35" name="Shape 32"/>
          <p:cNvSpPr/>
          <p:nvPr/>
        </p:nvSpPr>
        <p:spPr>
          <a:xfrm>
            <a:off x="548640" y="5491625"/>
            <a:ext cx="292608" cy="292608"/>
          </a:xfrm>
          <a:prstGeom prst="ellipse">
            <a:avLst/>
          </a:prstGeom>
          <a:solidFill>
            <a:srgbClr val="29ABE2"/>
          </a:solidFill>
          <a:ln/>
        </p:spPr>
      </p:sp>
      <p:sp>
        <p:nvSpPr>
          <p:cNvPr id="36" name="Text 33"/>
          <p:cNvSpPr/>
          <p:nvPr/>
        </p:nvSpPr>
        <p:spPr>
          <a:xfrm>
            <a:off x="548640" y="5491625"/>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p:nvPr/>
        </p:nvSpPr>
        <p:spPr>
          <a:xfrm>
            <a:off x="960120" y="5473337"/>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(10 min) </a:t>
            </a:r>
            <a:r>
              <a:rPr lang="en-US" sz="1100" dirty="0">
                <a:solidFill>
                  <a:srgbClr val="343A4E"/>
                </a:solidFill>
                <a:latin typeface="Arial" pitchFamily="34" charset="0"/>
                <a:ea typeface="Arial" pitchFamily="34" charset="-122"/>
                <a:cs typeface="Arial" pitchFamily="34" charset="-120"/>
              </a:rPr>
              <a:t>Round 2: re-deliver with fixes, recorded; committee asks one new, unprepared question to test bridging.</a:t>
            </a:r>
            <a:endParaRPr lang="en-US" sz="1100" dirty="0"/>
          </a:p>
        </p:txBody>
      </p:sp>
      <p:sp>
        <p:nvSpPr>
          <p:cNvPr id="38" name="Shape 35"/>
          <p:cNvSpPr/>
          <p:nvPr/>
        </p:nvSpPr>
        <p:spPr>
          <a:xfrm>
            <a:off x="548640" y="5772477"/>
            <a:ext cx="292608" cy="292608"/>
          </a:xfrm>
          <a:prstGeom prst="ellipse">
            <a:avLst/>
          </a:prstGeom>
          <a:solidFill>
            <a:srgbClr val="D9534F"/>
          </a:solidFill>
          <a:ln/>
        </p:spPr>
      </p:sp>
      <p:sp>
        <p:nvSpPr>
          <p:cNvPr id="39" name="Text 36"/>
          <p:cNvSpPr/>
          <p:nvPr/>
        </p:nvSpPr>
        <p:spPr>
          <a:xfrm>
            <a:off x="548640" y="5772477"/>
            <a:ext cx="292608" cy="292608"/>
          </a:xfrm>
          <a:prstGeom prst="rect">
            <a:avLst/>
          </a:prstGeom>
          <a:noFill/>
          <a:ln/>
        </p:spPr>
        <p:txBody>
          <a:bodyPr wrap="square"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40" name="Text 37"/>
          <p:cNvSpPr/>
          <p:nvPr/>
        </p:nvSpPr>
        <p:spPr>
          <a:xfrm>
            <a:off x="960120" y="5754189"/>
            <a:ext cx="10637215" cy="280851"/>
          </a:xfrm>
          <a:prstGeom prst="rect">
            <a:avLst/>
          </a:prstGeom>
          <a:noFill/>
          <a:ln/>
        </p:spPr>
        <p:txBody>
          <a:bodyPr wrap="square" rtlCol="0" anchor="ctr"/>
          <a:lstStyle/>
          <a:p>
            <a:pPr marL="0" indent="0">
              <a:lnSpc>
                <a:spcPct val="98000"/>
              </a:lnSpc>
              <a:buNone/>
            </a:pPr>
            <a:r>
              <a:rPr lang="en-US" sz="1100" b="1" dirty="0">
                <a:solidFill>
                  <a:srgbClr val="00A79D"/>
                </a:solidFill>
                <a:latin typeface="Arial" pitchFamily="34" charset="0"/>
                <a:ea typeface="Arial" pitchFamily="34" charset="-122"/>
                <a:cs typeface="Arial" pitchFamily="34" charset="-120"/>
              </a:rPr>
              <a:t>(5 min) </a:t>
            </a:r>
            <a:r>
              <a:rPr lang="en-US" sz="1100" dirty="0">
                <a:solidFill>
                  <a:srgbClr val="343A4E"/>
                </a:solidFill>
                <a:latin typeface="Arial" pitchFamily="34" charset="0"/>
                <a:ea typeface="Arial" pitchFamily="34" charset="-122"/>
                <a:cs typeface="Arial" pitchFamily="34" charset="-120"/>
              </a:rPr>
              <a:t>Score Round 2; compute the delta; save both recordings + scores as lab6_solution.</a:t>
            </a:r>
            <a:endParaRPr lang="en-US" sz="11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KNOWLEDGE CHECK</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Mini Exercises — Quick Check</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تمارين قصيرة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162</a:t>
            </a:r>
            <a:endParaRPr lang="en-US" sz="800" dirty="0"/>
          </a:p>
        </p:txBody>
      </p:sp>
      <p:sp>
        <p:nvSpPr>
          <p:cNvPr id="15" name="Shape 12"/>
          <p:cNvSpPr/>
          <p:nvPr/>
        </p:nvSpPr>
        <p:spPr>
          <a:xfrm>
            <a:off x="548640" y="2377440"/>
            <a:ext cx="11094415" cy="614477"/>
          </a:xfrm>
          <a:prstGeom prst="roundRect">
            <a:avLst>
              <a:gd name="adj" fmla="val 10417"/>
            </a:avLst>
          </a:prstGeom>
          <a:solidFill>
            <a:srgbClr val="FFFFFF"/>
          </a:solidFill>
          <a:ln w="12700">
            <a:solidFill>
              <a:srgbClr val="D9DEE8"/>
            </a:solidFill>
            <a:prstDash val="solid"/>
          </a:ln>
        </p:spPr>
      </p:sp>
      <p:sp>
        <p:nvSpPr>
          <p:cNvPr id="16" name="Shape 13"/>
          <p:cNvSpPr/>
          <p:nvPr/>
        </p:nvSpPr>
        <p:spPr>
          <a:xfrm>
            <a:off x="548640" y="2377440"/>
            <a:ext cx="91440" cy="614477"/>
          </a:xfrm>
          <a:prstGeom prst="rect">
            <a:avLst/>
          </a:prstGeom>
          <a:solidFill>
            <a:srgbClr val="2E5AAC"/>
          </a:solidFill>
          <a:ln/>
        </p:spPr>
      </p:sp>
      <p:sp>
        <p:nvSpPr>
          <p:cNvPr id="17" name="Text 14"/>
          <p:cNvSpPr/>
          <p:nvPr/>
        </p:nvSpPr>
        <p:spPr>
          <a:xfrm>
            <a:off x="804672" y="2450592"/>
            <a:ext cx="10637215" cy="307238"/>
          </a:xfrm>
          <a:prstGeom prst="rect">
            <a:avLst/>
          </a:prstGeom>
          <a:noFill/>
          <a:ln/>
        </p:spPr>
        <p:txBody>
          <a:bodyPr wrap="square" rtlCol="0" anchor="t"/>
          <a:lstStyle/>
          <a:p>
            <a:pPr marL="0" indent="0">
              <a:lnSpc>
                <a:spcPct val="98000"/>
              </a:lnSpc>
              <a:buNone/>
            </a:pPr>
            <a:r>
              <a:rPr lang="en-US" sz="1150" b="1" dirty="0">
                <a:solidFill>
                  <a:srgbClr val="2E5AAC"/>
                </a:solidFill>
                <a:latin typeface="Arial" pitchFamily="34" charset="0"/>
                <a:ea typeface="Arial" pitchFamily="34" charset="-122"/>
                <a:cs typeface="Arial" pitchFamily="34" charset="-120"/>
              </a:rPr>
              <a:t>Q1  </a:t>
            </a:r>
            <a:r>
              <a:rPr lang="en-US" sz="1150" b="1" dirty="0">
                <a:solidFill>
                  <a:srgbClr val="1D2A5C"/>
                </a:solidFill>
                <a:latin typeface="Arial" pitchFamily="34" charset="0"/>
                <a:ea typeface="Arial" pitchFamily="34" charset="-122"/>
                <a:cs typeface="Arial" pitchFamily="34" charset="-120"/>
              </a:rPr>
              <a:t>When must the ask be stated?</a:t>
            </a:r>
            <a:endParaRPr lang="en-US" sz="1150" dirty="0"/>
          </a:p>
        </p:txBody>
      </p:sp>
      <p:sp>
        <p:nvSpPr>
          <p:cNvPr id="18" name="Text 15"/>
          <p:cNvSpPr/>
          <p:nvPr/>
        </p:nvSpPr>
        <p:spPr>
          <a:xfrm>
            <a:off x="804672" y="2666390"/>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In the first 30 seconds (BLUF) and again at the close.</a:t>
            </a:r>
            <a:endParaRPr lang="en-US" sz="1100" dirty="0"/>
          </a:p>
        </p:txBody>
      </p:sp>
      <p:sp>
        <p:nvSpPr>
          <p:cNvPr id="19" name="Shape 16"/>
          <p:cNvSpPr/>
          <p:nvPr/>
        </p:nvSpPr>
        <p:spPr>
          <a:xfrm>
            <a:off x="548640" y="3138221"/>
            <a:ext cx="11094415" cy="614477"/>
          </a:xfrm>
          <a:prstGeom prst="roundRect">
            <a:avLst>
              <a:gd name="adj" fmla="val 10417"/>
            </a:avLst>
          </a:prstGeom>
          <a:solidFill>
            <a:srgbClr val="FFFFFF"/>
          </a:solidFill>
          <a:ln w="12700">
            <a:solidFill>
              <a:srgbClr val="D9DEE8"/>
            </a:solidFill>
            <a:prstDash val="solid"/>
          </a:ln>
        </p:spPr>
      </p:sp>
      <p:sp>
        <p:nvSpPr>
          <p:cNvPr id="20" name="Shape 17"/>
          <p:cNvSpPr/>
          <p:nvPr/>
        </p:nvSpPr>
        <p:spPr>
          <a:xfrm>
            <a:off x="548640" y="3138221"/>
            <a:ext cx="91440" cy="614477"/>
          </a:xfrm>
          <a:prstGeom prst="rect">
            <a:avLst/>
          </a:prstGeom>
          <a:solidFill>
            <a:srgbClr val="00A79D"/>
          </a:solidFill>
          <a:ln/>
        </p:spPr>
      </p:sp>
      <p:sp>
        <p:nvSpPr>
          <p:cNvPr id="21" name="Text 18"/>
          <p:cNvSpPr/>
          <p:nvPr/>
        </p:nvSpPr>
        <p:spPr>
          <a:xfrm>
            <a:off x="804672" y="3211373"/>
            <a:ext cx="10637215" cy="307238"/>
          </a:xfrm>
          <a:prstGeom prst="rect">
            <a:avLst/>
          </a:prstGeom>
          <a:noFill/>
          <a:ln/>
        </p:spPr>
        <p:txBody>
          <a:bodyPr wrap="square" rtlCol="0" anchor="t"/>
          <a:lstStyle/>
          <a:p>
            <a:pPr marL="0" indent="0">
              <a:lnSpc>
                <a:spcPct val="98000"/>
              </a:lnSpc>
              <a:buNone/>
            </a:pPr>
            <a:r>
              <a:rPr lang="en-US" sz="1150" b="1" dirty="0">
                <a:solidFill>
                  <a:srgbClr val="00A79D"/>
                </a:solidFill>
                <a:latin typeface="Arial" pitchFamily="34" charset="0"/>
                <a:ea typeface="Arial" pitchFamily="34" charset="-122"/>
                <a:cs typeface="Arial" pitchFamily="34" charset="-120"/>
              </a:rPr>
              <a:t>Q2  </a:t>
            </a:r>
            <a:r>
              <a:rPr lang="en-US" sz="1150" b="1" dirty="0">
                <a:solidFill>
                  <a:srgbClr val="1D2A5C"/>
                </a:solidFill>
                <a:latin typeface="Arial" pitchFamily="34" charset="0"/>
                <a:ea typeface="Arial" pitchFamily="34" charset="-122"/>
                <a:cs typeface="Arial" pitchFamily="34" charset="-120"/>
              </a:rPr>
              <a:t>Before asserting a chart's point, what must you do?</a:t>
            </a:r>
            <a:endParaRPr lang="en-US" sz="1150" dirty="0"/>
          </a:p>
        </p:txBody>
      </p:sp>
      <p:sp>
        <p:nvSpPr>
          <p:cNvPr id="22" name="Text 19"/>
          <p:cNvSpPr/>
          <p:nvPr/>
        </p:nvSpPr>
        <p:spPr>
          <a:xfrm>
            <a:off x="804672" y="3427171"/>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Orient the audience to the axes in one sentence.</a:t>
            </a:r>
            <a:endParaRPr lang="en-US" sz="1100" dirty="0"/>
          </a:p>
        </p:txBody>
      </p:sp>
      <p:sp>
        <p:nvSpPr>
          <p:cNvPr id="23" name="Shape 20"/>
          <p:cNvSpPr/>
          <p:nvPr/>
        </p:nvSpPr>
        <p:spPr>
          <a:xfrm>
            <a:off x="548640" y="3899002"/>
            <a:ext cx="11094415" cy="614477"/>
          </a:xfrm>
          <a:prstGeom prst="roundRect">
            <a:avLst>
              <a:gd name="adj" fmla="val 10417"/>
            </a:avLst>
          </a:prstGeom>
          <a:solidFill>
            <a:srgbClr val="FFFFFF"/>
          </a:solidFill>
          <a:ln w="12700">
            <a:solidFill>
              <a:srgbClr val="D9DEE8"/>
            </a:solidFill>
            <a:prstDash val="solid"/>
          </a:ln>
        </p:spPr>
      </p:sp>
      <p:sp>
        <p:nvSpPr>
          <p:cNvPr id="24" name="Shape 21"/>
          <p:cNvSpPr/>
          <p:nvPr/>
        </p:nvSpPr>
        <p:spPr>
          <a:xfrm>
            <a:off x="548640" y="3899002"/>
            <a:ext cx="91440" cy="614477"/>
          </a:xfrm>
          <a:prstGeom prst="rect">
            <a:avLst/>
          </a:prstGeom>
          <a:solidFill>
            <a:srgbClr val="E8833A"/>
          </a:solidFill>
          <a:ln/>
        </p:spPr>
      </p:sp>
      <p:sp>
        <p:nvSpPr>
          <p:cNvPr id="25" name="Text 22"/>
          <p:cNvSpPr/>
          <p:nvPr/>
        </p:nvSpPr>
        <p:spPr>
          <a:xfrm>
            <a:off x="804672" y="3972154"/>
            <a:ext cx="10637215" cy="307238"/>
          </a:xfrm>
          <a:prstGeom prst="rect">
            <a:avLst/>
          </a:prstGeom>
          <a:noFill/>
          <a:ln/>
        </p:spPr>
        <p:txBody>
          <a:bodyPr wrap="square" rtlCol="0" anchor="t"/>
          <a:lstStyle/>
          <a:p>
            <a:pPr marL="0" indent="0">
              <a:lnSpc>
                <a:spcPct val="98000"/>
              </a:lnSpc>
              <a:buNone/>
            </a:pPr>
            <a:r>
              <a:rPr lang="en-US" sz="1150" b="1" dirty="0">
                <a:solidFill>
                  <a:srgbClr val="E8833A"/>
                </a:solidFill>
                <a:latin typeface="Arial" pitchFamily="34" charset="0"/>
                <a:ea typeface="Arial" pitchFamily="34" charset="-122"/>
                <a:cs typeface="Arial" pitchFamily="34" charset="-120"/>
              </a:rPr>
              <a:t>Q3  </a:t>
            </a:r>
            <a:r>
              <a:rPr lang="en-US" sz="1150" b="1" dirty="0">
                <a:solidFill>
                  <a:srgbClr val="1D2A5C"/>
                </a:solidFill>
                <a:latin typeface="Arial" pitchFamily="34" charset="0"/>
                <a:ea typeface="Arial" pitchFamily="34" charset="-122"/>
                <a:cs typeface="Arial" pitchFamily="34" charset="-120"/>
              </a:rPr>
              <a:t>A committee member says 'your data is wrong.' First move?</a:t>
            </a:r>
            <a:endParaRPr lang="en-US" sz="1150" dirty="0"/>
          </a:p>
        </p:txBody>
      </p:sp>
      <p:sp>
        <p:nvSpPr>
          <p:cNvPr id="26" name="Text 23"/>
          <p:cNvSpPr/>
          <p:nvPr/>
        </p:nvSpPr>
        <p:spPr>
          <a:xfrm>
            <a:off x="804672" y="4187952"/>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Separate the number from the recommendation; route to appendix; show the recommendation holds.</a:t>
            </a:r>
            <a:endParaRPr lang="en-US" sz="1100" dirty="0"/>
          </a:p>
        </p:txBody>
      </p:sp>
      <p:sp>
        <p:nvSpPr>
          <p:cNvPr id="27" name="Shape 24"/>
          <p:cNvSpPr/>
          <p:nvPr/>
        </p:nvSpPr>
        <p:spPr>
          <a:xfrm>
            <a:off x="548640" y="4659782"/>
            <a:ext cx="11094415" cy="614477"/>
          </a:xfrm>
          <a:prstGeom prst="roundRect">
            <a:avLst>
              <a:gd name="adj" fmla="val 10417"/>
            </a:avLst>
          </a:prstGeom>
          <a:solidFill>
            <a:srgbClr val="FFFFFF"/>
          </a:solidFill>
          <a:ln w="12700">
            <a:solidFill>
              <a:srgbClr val="D9DEE8"/>
            </a:solidFill>
            <a:prstDash val="solid"/>
          </a:ln>
        </p:spPr>
      </p:sp>
      <p:sp>
        <p:nvSpPr>
          <p:cNvPr id="28" name="Shape 25"/>
          <p:cNvSpPr/>
          <p:nvPr/>
        </p:nvSpPr>
        <p:spPr>
          <a:xfrm>
            <a:off x="548640" y="4659782"/>
            <a:ext cx="91440" cy="614477"/>
          </a:xfrm>
          <a:prstGeom prst="rect">
            <a:avLst/>
          </a:prstGeom>
          <a:solidFill>
            <a:srgbClr val="6C4FA1"/>
          </a:solidFill>
          <a:ln/>
        </p:spPr>
      </p:sp>
      <p:sp>
        <p:nvSpPr>
          <p:cNvPr id="29" name="Text 26"/>
          <p:cNvSpPr/>
          <p:nvPr/>
        </p:nvSpPr>
        <p:spPr>
          <a:xfrm>
            <a:off x="804672" y="4732934"/>
            <a:ext cx="10637215" cy="307238"/>
          </a:xfrm>
          <a:prstGeom prst="rect">
            <a:avLst/>
          </a:prstGeom>
          <a:noFill/>
          <a:ln/>
        </p:spPr>
        <p:txBody>
          <a:bodyPr wrap="square" rtlCol="0" anchor="t"/>
          <a:lstStyle/>
          <a:p>
            <a:pPr marL="0" indent="0">
              <a:lnSpc>
                <a:spcPct val="98000"/>
              </a:lnSpc>
              <a:buNone/>
            </a:pPr>
            <a:r>
              <a:rPr lang="en-US" sz="1150" b="1" dirty="0">
                <a:solidFill>
                  <a:srgbClr val="6C4FA1"/>
                </a:solidFill>
                <a:latin typeface="Arial" pitchFamily="34" charset="0"/>
                <a:ea typeface="Arial" pitchFamily="34" charset="-122"/>
                <a:cs typeface="Arial" pitchFamily="34" charset="-120"/>
              </a:rPr>
              <a:t>Q4  </a:t>
            </a:r>
            <a:r>
              <a:rPr lang="en-US" sz="1150" b="1" dirty="0">
                <a:solidFill>
                  <a:srgbClr val="1D2A5C"/>
                </a:solidFill>
                <a:latin typeface="Arial" pitchFamily="34" charset="0"/>
                <a:ea typeface="Arial" pitchFamily="34" charset="-122"/>
                <a:cs typeface="Arial" pitchFamily="34" charset="-120"/>
              </a:rPr>
              <a:t>After any Q&amp;A answer, where do you return?</a:t>
            </a:r>
            <a:endParaRPr lang="en-US" sz="1150" dirty="0"/>
          </a:p>
        </p:txBody>
      </p:sp>
      <p:sp>
        <p:nvSpPr>
          <p:cNvPr id="30" name="Text 27"/>
          <p:cNvSpPr/>
          <p:nvPr/>
        </p:nvSpPr>
        <p:spPr>
          <a:xfrm>
            <a:off x="804672" y="4948733"/>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The Big Idea — bridge back.</a:t>
            </a:r>
            <a:endParaRPr lang="en-US" sz="1100" dirty="0"/>
          </a:p>
        </p:txBody>
      </p:sp>
      <p:sp>
        <p:nvSpPr>
          <p:cNvPr id="31" name="Shape 28"/>
          <p:cNvSpPr/>
          <p:nvPr/>
        </p:nvSpPr>
        <p:spPr>
          <a:xfrm>
            <a:off x="548640" y="5420563"/>
            <a:ext cx="11094415" cy="614477"/>
          </a:xfrm>
          <a:prstGeom prst="roundRect">
            <a:avLst>
              <a:gd name="adj" fmla="val 10417"/>
            </a:avLst>
          </a:prstGeom>
          <a:solidFill>
            <a:srgbClr val="FFFFFF"/>
          </a:solidFill>
          <a:ln w="12700">
            <a:solidFill>
              <a:srgbClr val="D9DEE8"/>
            </a:solidFill>
            <a:prstDash val="solid"/>
          </a:ln>
        </p:spPr>
      </p:sp>
      <p:sp>
        <p:nvSpPr>
          <p:cNvPr id="32" name="Shape 29"/>
          <p:cNvSpPr/>
          <p:nvPr/>
        </p:nvSpPr>
        <p:spPr>
          <a:xfrm>
            <a:off x="548640" y="5420563"/>
            <a:ext cx="91440" cy="614477"/>
          </a:xfrm>
          <a:prstGeom prst="rect">
            <a:avLst/>
          </a:prstGeom>
          <a:solidFill>
            <a:srgbClr val="3FAE5A"/>
          </a:solidFill>
          <a:ln/>
        </p:spPr>
      </p:sp>
      <p:sp>
        <p:nvSpPr>
          <p:cNvPr id="33" name="Text 30"/>
          <p:cNvSpPr/>
          <p:nvPr/>
        </p:nvSpPr>
        <p:spPr>
          <a:xfrm>
            <a:off x="804672" y="5493715"/>
            <a:ext cx="10637215" cy="307238"/>
          </a:xfrm>
          <a:prstGeom prst="rect">
            <a:avLst/>
          </a:prstGeom>
          <a:noFill/>
          <a:ln/>
        </p:spPr>
        <p:txBody>
          <a:bodyPr wrap="square" rtlCol="0" anchor="t"/>
          <a:lstStyle/>
          <a:p>
            <a:pPr marL="0" indent="0">
              <a:lnSpc>
                <a:spcPct val="98000"/>
              </a:lnSpc>
              <a:buNone/>
            </a:pPr>
            <a:r>
              <a:rPr lang="en-US" sz="1150" b="1" dirty="0">
                <a:solidFill>
                  <a:srgbClr val="3FAE5A"/>
                </a:solidFill>
                <a:latin typeface="Arial" pitchFamily="34" charset="0"/>
                <a:ea typeface="Arial" pitchFamily="34" charset="-122"/>
                <a:cs typeface="Arial" pitchFamily="34" charset="-120"/>
              </a:rPr>
              <a:t>Q5  </a:t>
            </a:r>
            <a:r>
              <a:rPr lang="en-US" sz="1150" b="1" dirty="0">
                <a:solidFill>
                  <a:srgbClr val="1D2A5C"/>
                </a:solidFill>
                <a:latin typeface="Arial" pitchFamily="34" charset="0"/>
                <a:ea typeface="Arial" pitchFamily="34" charset="-122"/>
                <a:cs typeface="Arial" pitchFamily="34" charset="-120"/>
              </a:rPr>
              <a:t>Why record rehearsals?</a:t>
            </a:r>
            <a:endParaRPr lang="en-US" sz="1150" dirty="0"/>
          </a:p>
        </p:txBody>
      </p:sp>
      <p:sp>
        <p:nvSpPr>
          <p:cNvPr id="34" name="Text 31"/>
          <p:cNvSpPr/>
          <p:nvPr/>
        </p:nvSpPr>
        <p:spPr>
          <a:xfrm>
            <a:off x="804672" y="5709514"/>
            <a:ext cx="10637215" cy="307238"/>
          </a:xfrm>
          <a:prstGeom prst="rect">
            <a:avLst/>
          </a:prstGeom>
          <a:noFill/>
          <a:ln/>
        </p:spPr>
        <p:txBody>
          <a:bodyPr wrap="square" rtlCol="0" anchor="t"/>
          <a:lstStyle/>
          <a:p>
            <a:pPr marL="0" indent="0">
              <a:lnSpc>
                <a:spcPct val="98000"/>
              </a:lnSpc>
              <a:buNone/>
            </a:pPr>
            <a:r>
              <a:rPr lang="en-US" sz="1100" b="1" dirty="0">
                <a:solidFill>
                  <a:srgbClr val="3FAE5A"/>
                </a:solidFill>
                <a:latin typeface="Arial" pitchFamily="34" charset="0"/>
                <a:ea typeface="Arial" pitchFamily="34" charset="-122"/>
                <a:cs typeface="Arial" pitchFamily="34" charset="-120"/>
              </a:rPr>
              <a:t>✓  </a:t>
            </a:r>
            <a:r>
              <a:rPr lang="en-US" sz="1100" i="1" dirty="0">
                <a:solidFill>
                  <a:srgbClr val="343A4E"/>
                </a:solidFill>
                <a:latin typeface="Arial" pitchFamily="34" charset="0"/>
                <a:ea typeface="Arial" pitchFamily="34" charset="-122"/>
                <a:cs typeface="Arial" pitchFamily="34" charset="-120"/>
              </a:rPr>
              <a:t>Self-review of delivery is the most effective feedback; the round-to-round delta is the learning signal.</a:t>
            </a:r>
            <a:endParaRPr lang="en-US" sz="11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CASE STUDY</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Briefing That Won the Reallocation</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الإحاطة التي كسبت إعادة التخصيص</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163</a:t>
            </a:r>
            <a:endParaRPr lang="en-US" sz="800" dirty="0"/>
          </a:p>
        </p:txBody>
      </p:sp>
      <p:sp>
        <p:nvSpPr>
          <p:cNvPr id="15" name="Shape 12"/>
          <p:cNvSpPr/>
          <p:nvPr/>
        </p:nvSpPr>
        <p:spPr>
          <a:xfrm>
            <a:off x="548640" y="2331720"/>
            <a:ext cx="5410048" cy="1751076"/>
          </a:xfrm>
          <a:prstGeom prst="roundRect">
            <a:avLst>
              <a:gd name="adj" fmla="val 4178"/>
            </a:avLst>
          </a:prstGeom>
          <a:solidFill>
            <a:srgbClr val="EAF0FA"/>
          </a:solidFill>
          <a:ln w="12700">
            <a:solidFill>
              <a:srgbClr val="2E5AAC"/>
            </a:solidFill>
            <a:prstDash val="solid"/>
          </a:ln>
        </p:spPr>
      </p:sp>
      <p:sp>
        <p:nvSpPr>
          <p:cNvPr id="16" name="Text 13"/>
          <p:cNvSpPr/>
          <p:nvPr/>
        </p:nvSpPr>
        <p:spPr>
          <a:xfrm>
            <a:off x="749808" y="2459736"/>
            <a:ext cx="5044288" cy="274320"/>
          </a:xfrm>
          <a:prstGeom prst="rect">
            <a:avLst/>
          </a:prstGeom>
          <a:noFill/>
          <a:ln/>
        </p:spPr>
        <p:txBody>
          <a:bodyPr wrap="square" rtlCol="0" anchor="ctr"/>
          <a:lstStyle/>
          <a:p>
            <a:pPr marL="0" indent="0">
              <a:buNone/>
            </a:pPr>
            <a:r>
              <a:rPr lang="en-US" sz="1100" b="1" kern="0" spc="100" dirty="0">
                <a:solidFill>
                  <a:srgbClr val="2E5AAC"/>
                </a:solidFill>
                <a:latin typeface="Arial" pitchFamily="34" charset="0"/>
                <a:ea typeface="Arial" pitchFamily="34" charset="-122"/>
                <a:cs typeface="Arial" pitchFamily="34" charset="-120"/>
              </a:rPr>
              <a:t>SCENARIO</a:t>
            </a:r>
            <a:endParaRPr lang="en-US" sz="1100" dirty="0"/>
          </a:p>
        </p:txBody>
      </p:sp>
      <p:sp>
        <p:nvSpPr>
          <p:cNvPr id="17" name="Text 14"/>
          <p:cNvSpPr/>
          <p:nvPr/>
        </p:nvSpPr>
        <p:spPr>
          <a:xfrm>
            <a:off x="749808" y="2788920"/>
            <a:ext cx="5007712" cy="1184148"/>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The Tayseer lead has one 7-minute slot before a Deputy Minister-chaired committee to secure SAR 40m. In rehearsal: opened with three minutes of history, put the recommendation on the last slide, and burned two minutes defending a challenged figure.</a:t>
            </a:r>
            <a:endParaRPr lang="en-US" sz="1100" dirty="0"/>
          </a:p>
        </p:txBody>
      </p:sp>
      <p:sp>
        <p:nvSpPr>
          <p:cNvPr id="18" name="Shape 15"/>
          <p:cNvSpPr/>
          <p:nvPr/>
        </p:nvSpPr>
        <p:spPr>
          <a:xfrm>
            <a:off x="6233008" y="2331720"/>
            <a:ext cx="5410048" cy="1751076"/>
          </a:xfrm>
          <a:prstGeom prst="roundRect">
            <a:avLst>
              <a:gd name="adj" fmla="val 4178"/>
            </a:avLst>
          </a:prstGeom>
          <a:solidFill>
            <a:srgbClr val="E6F5F4"/>
          </a:solidFill>
          <a:ln w="12700">
            <a:solidFill>
              <a:srgbClr val="00A79D"/>
            </a:solidFill>
            <a:prstDash val="solid"/>
          </a:ln>
        </p:spPr>
      </p:sp>
      <p:sp>
        <p:nvSpPr>
          <p:cNvPr id="19" name="Text 16"/>
          <p:cNvSpPr/>
          <p:nvPr/>
        </p:nvSpPr>
        <p:spPr>
          <a:xfrm>
            <a:off x="6434176" y="2459736"/>
            <a:ext cx="5044288" cy="274320"/>
          </a:xfrm>
          <a:prstGeom prst="rect">
            <a:avLst/>
          </a:prstGeom>
          <a:noFill/>
          <a:ln/>
        </p:spPr>
        <p:txBody>
          <a:bodyPr wrap="square" rtlCol="0" anchor="ctr"/>
          <a:lstStyle/>
          <a:p>
            <a:pPr marL="0" indent="0">
              <a:buNone/>
            </a:pPr>
            <a:r>
              <a:rPr lang="en-US" sz="1100" b="1" kern="0" spc="100" dirty="0">
                <a:solidFill>
                  <a:srgbClr val="00A79D"/>
                </a:solidFill>
                <a:latin typeface="Arial" pitchFamily="34" charset="0"/>
                <a:ea typeface="Arial" pitchFamily="34" charset="-122"/>
                <a:cs typeface="Arial" pitchFamily="34" charset="-120"/>
              </a:rPr>
              <a:t>BUSINESS CONTEXT</a:t>
            </a:r>
            <a:endParaRPr lang="en-US" sz="1100" dirty="0"/>
          </a:p>
        </p:txBody>
      </p:sp>
      <p:sp>
        <p:nvSpPr>
          <p:cNvPr id="20" name="Text 17"/>
          <p:cNvSpPr/>
          <p:nvPr/>
        </p:nvSpPr>
        <p:spPr>
          <a:xfrm>
            <a:off x="6434176" y="2788920"/>
            <a:ext cx="5007712" cy="1184148"/>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The culminating decision the whole course exists to influence. Lose the room and a quarter of work and the team's credibility are wasted; win it and three regions are funded and analytics becomes a decision partner.</a:t>
            </a:r>
            <a:endParaRPr lang="en-US" sz="1100" dirty="0"/>
          </a:p>
        </p:txBody>
      </p:sp>
      <p:sp>
        <p:nvSpPr>
          <p:cNvPr id="21" name="Shape 18"/>
          <p:cNvSpPr/>
          <p:nvPr/>
        </p:nvSpPr>
        <p:spPr>
          <a:xfrm>
            <a:off x="548640" y="4283964"/>
            <a:ext cx="5410048" cy="1751076"/>
          </a:xfrm>
          <a:prstGeom prst="roundRect">
            <a:avLst>
              <a:gd name="adj" fmla="val 4178"/>
            </a:avLst>
          </a:prstGeom>
          <a:solidFill>
            <a:srgbClr val="FCF0E6"/>
          </a:solidFill>
          <a:ln w="12700">
            <a:solidFill>
              <a:srgbClr val="E8833A"/>
            </a:solidFill>
            <a:prstDash val="solid"/>
          </a:ln>
        </p:spPr>
      </p:sp>
      <p:sp>
        <p:nvSpPr>
          <p:cNvPr id="22" name="Text 19"/>
          <p:cNvSpPr/>
          <p:nvPr/>
        </p:nvSpPr>
        <p:spPr>
          <a:xfrm>
            <a:off x="749808" y="4411980"/>
            <a:ext cx="5044288" cy="274320"/>
          </a:xfrm>
          <a:prstGeom prst="rect">
            <a:avLst/>
          </a:prstGeom>
          <a:noFill/>
          <a:ln/>
        </p:spPr>
        <p:txBody>
          <a:bodyPr wrap="square" rtlCol="0" anchor="ctr"/>
          <a:lstStyle/>
          <a:p>
            <a:pPr marL="0" indent="0">
              <a:buNone/>
            </a:pPr>
            <a:r>
              <a:rPr lang="en-US" sz="1100" b="1" kern="0" spc="100" dirty="0">
                <a:solidFill>
                  <a:srgbClr val="E8833A"/>
                </a:solidFill>
                <a:latin typeface="Arial" pitchFamily="34" charset="0"/>
                <a:ea typeface="Arial" pitchFamily="34" charset="-122"/>
                <a:cs typeface="Arial" pitchFamily="34" charset="-120"/>
              </a:rPr>
              <a:t>CHALLENGE</a:t>
            </a:r>
            <a:endParaRPr lang="en-US" sz="1100" dirty="0"/>
          </a:p>
        </p:txBody>
      </p:sp>
      <p:sp>
        <p:nvSpPr>
          <p:cNvPr id="23" name="Text 20"/>
          <p:cNvSpPr/>
          <p:nvPr/>
        </p:nvSpPr>
        <p:spPr>
          <a:xfrm>
            <a:off x="749808" y="4741164"/>
            <a:ext cx="5007712" cy="1184148"/>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Rebuild the delivery — not the deck — so the ask lands in 30 seconds, the seven scenes fit the slot, and the 'your number is wrong' and 'aren't those regions just small' challenges are handled without losing the thread.</a:t>
            </a:r>
            <a:endParaRPr lang="en-US" sz="1100" dirty="0"/>
          </a:p>
        </p:txBody>
      </p:sp>
      <p:sp>
        <p:nvSpPr>
          <p:cNvPr id="24" name="Shape 21"/>
          <p:cNvSpPr/>
          <p:nvPr/>
        </p:nvSpPr>
        <p:spPr>
          <a:xfrm>
            <a:off x="6233008" y="4283964"/>
            <a:ext cx="5410048" cy="1751076"/>
          </a:xfrm>
          <a:prstGeom prst="roundRect">
            <a:avLst>
              <a:gd name="adj" fmla="val 4178"/>
            </a:avLst>
          </a:prstGeom>
          <a:solidFill>
            <a:srgbClr val="EFEBF6"/>
          </a:solidFill>
          <a:ln w="12700">
            <a:solidFill>
              <a:srgbClr val="6C4FA1"/>
            </a:solidFill>
            <a:prstDash val="solid"/>
          </a:ln>
        </p:spPr>
      </p:sp>
      <p:sp>
        <p:nvSpPr>
          <p:cNvPr id="25" name="Text 22"/>
          <p:cNvSpPr/>
          <p:nvPr/>
        </p:nvSpPr>
        <p:spPr>
          <a:xfrm>
            <a:off x="6434176" y="4411980"/>
            <a:ext cx="5044288" cy="274320"/>
          </a:xfrm>
          <a:prstGeom prst="rect">
            <a:avLst/>
          </a:prstGeom>
          <a:noFill/>
          <a:ln/>
        </p:spPr>
        <p:txBody>
          <a:bodyPr wrap="square" rtlCol="0" anchor="ctr"/>
          <a:lstStyle/>
          <a:p>
            <a:pPr marL="0" indent="0">
              <a:buNone/>
            </a:pPr>
            <a:r>
              <a:rPr lang="en-US" sz="1100" b="1" kern="0" spc="100" dirty="0">
                <a:solidFill>
                  <a:srgbClr val="6C4FA1"/>
                </a:solidFill>
                <a:latin typeface="Arial" pitchFamily="34" charset="0"/>
                <a:ea typeface="Arial" pitchFamily="34" charset="-122"/>
                <a:cs typeface="Arial" pitchFamily="34" charset="-120"/>
              </a:rPr>
              <a:t>APPROACH</a:t>
            </a:r>
            <a:endParaRPr lang="en-US" sz="1100" dirty="0"/>
          </a:p>
        </p:txBody>
      </p:sp>
      <p:sp>
        <p:nvSpPr>
          <p:cNvPr id="26" name="Text 23"/>
          <p:cNvSpPr/>
          <p:nvPr/>
        </p:nvSpPr>
        <p:spPr>
          <a:xfrm>
            <a:off x="6434176" y="4741164"/>
            <a:ext cx="5007712" cy="1184148"/>
          </a:xfrm>
          <a:prstGeom prst="rect">
            <a:avLst/>
          </a:prstGeom>
          <a:noFill/>
          <a:ln/>
        </p:spPr>
        <p:txBody>
          <a:bodyPr wrap="square" rtlCol="0" anchor="t"/>
          <a:lstStyle/>
          <a:p>
            <a:pPr marL="0" indent="0">
              <a:lnSpc>
                <a:spcPct val="100000"/>
              </a:lnSpc>
              <a:buNone/>
            </a:pPr>
            <a:r>
              <a:rPr lang="en-US" sz="1100" dirty="0">
                <a:solidFill>
                  <a:srgbClr val="343A4E"/>
                </a:solidFill>
                <a:latin typeface="Arial" pitchFamily="34" charset="0"/>
                <a:ea typeface="Arial" pitchFamily="34" charset="-122"/>
                <a:cs typeface="Arial" pitchFamily="34" charset="-120"/>
              </a:rPr>
              <a:t>Re-open with the BLUF; move history to one situation slide. Time-box the scenes; rehearse the halved-slot cut. Pre-build the Q&amp;A matrix; separate figure from recommendation and reconcile honestly. Rehearse recorded, twice, scoring the delta. Respect protocol; close by restating the ask.</a:t>
            </a:r>
            <a:endParaRPr lang="en-US" sz="11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Targets to reach after Module 6</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164</a:t>
            </a:r>
            <a:endParaRPr lang="en-US" sz="800" dirty="0"/>
          </a:p>
        </p:txBody>
      </p:sp>
      <p:graphicFrame>
        <p:nvGraphicFramePr>
          <p:cNvPr id="136"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3273552"/>
        </p:xfrm>
        <a:graphic>
          <a:graphicData uri="http://schemas.openxmlformats.org/drawingml/2006/table">
            <a:tbl>
              <a:tblPr/>
              <a:tblGrid>
                <a:gridCol w="51206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Metric</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How measured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Ask stated in first 30 seconds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Recording review</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Delivery within the slot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 7:00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Timer</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Q&amp;A answers bridged to the Big Idea</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Rubric</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Charts oriented before asserted</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100%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Rubric</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Round-1 → Round-2 improvement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 +15 pts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rehearsal_score.py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Hostile/off-topic handled cleanly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Yes</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Committee note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bl>
          </a:graphicData>
        </a:graphic>
      </p:graphicFrame>
      <p:sp>
        <p:nvSpPr>
          <p:cNvPr id="15" name="Text 11"/>
          <p:cNvSpPr/>
          <p:nvPr/>
        </p:nvSpPr>
        <p:spPr>
          <a:xfrm>
            <a:off x="548640" y="5431536"/>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The single non-negotiable: the ask lands in the first 30 seconds, on a recording anyone can check.</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BENCHMARKS &amp; EVALUATION</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Rubric filled during the lab — Round 1 vs Round 2</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165</a:t>
            </a:r>
            <a:endParaRPr lang="en-US" sz="800" dirty="0"/>
          </a:p>
        </p:txBody>
      </p:sp>
      <p:graphicFrame>
        <p:nvGraphicFramePr>
          <p:cNvPr id="137"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3749040"/>
        </p:xfrm>
        <a:graphic>
          <a:graphicData uri="http://schemas.openxmlformats.org/drawingml/2006/table">
            <a:tbl>
              <a:tblPr/>
              <a:tblGrid>
                <a:gridCol w="5577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Criterion (0–5)</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Round 1</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Round 2</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Opening / BLUF</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One message per slide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Chart delivery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Q&amp;A handling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Time discipline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Presence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Total (%)</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50%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87%</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5" name="Text 11"/>
          <p:cNvSpPr/>
          <p:nvPr/>
        </p:nvSpPr>
        <p:spPr>
          <a:xfrm>
            <a:off x="548640" y="5907024"/>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Delta +37 points. Biggest mover: opening with the BLUF (2 → 5) — led with the ask, on time, bridged an unprepared question.</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TRAINING ASSETS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Required Visuals &amp; Training Assets</a:t>
            </a:r>
            <a:endParaRPr lang="en-US" sz="2500" dirty="0"/>
          </a:p>
        </p:txBody>
      </p:sp>
      <p:sp>
        <p:nvSpPr>
          <p:cNvPr id="10" name="Text 7"/>
          <p:cNvSpPr/>
          <p:nvPr/>
        </p:nvSpPr>
        <p:spPr>
          <a:xfrm>
            <a:off x="548640" y="1755648"/>
            <a:ext cx="11094415" cy="310896"/>
          </a:xfrm>
          <a:prstGeom prst="rect">
            <a:avLst/>
          </a:prstGeom>
          <a:noFill/>
          <a:ln/>
        </p:spPr>
        <p:txBody>
          <a:bodyPr wrap="square" rtlCol="0" anchor="ctr"/>
          <a:lstStyle/>
          <a:p>
            <a:pPr marL="0" indent="0" algn="l">
              <a:buNone/>
            </a:pPr>
            <a:r>
              <a:rPr lang="en-US" sz="1300" dirty="0">
                <a:solidFill>
                  <a:srgbClr val="6B7280"/>
                </a:solidFill>
                <a:latin typeface="Arial" pitchFamily="34" charset="0"/>
                <a:ea typeface="Arial" pitchFamily="34" charset="-122"/>
                <a:cs typeface="Arial" pitchFamily="34" charset="-120"/>
              </a:rPr>
              <a:t>الأصول التدريبية</a:t>
            </a:r>
            <a:endParaRPr lang="en-US" sz="1300" dirty="0"/>
          </a:p>
        </p:txBody>
      </p:sp>
      <p:sp>
        <p:nvSpPr>
          <p:cNvPr id="11" name="Shape 8"/>
          <p:cNvSpPr/>
          <p:nvPr/>
        </p:nvSpPr>
        <p:spPr>
          <a:xfrm>
            <a:off x="548640" y="2103120"/>
            <a:ext cx="777240" cy="41148"/>
          </a:xfrm>
          <a:prstGeom prst="rect">
            <a:avLst/>
          </a:prstGeom>
          <a:solidFill>
            <a:srgbClr val="E8833A"/>
          </a:solidFill>
          <a:ln/>
        </p:spPr>
      </p:sp>
      <p:sp>
        <p:nvSpPr>
          <p:cNvPr id="12" name="Shape 9"/>
          <p:cNvSpPr/>
          <p:nvPr/>
        </p:nvSpPr>
        <p:spPr>
          <a:xfrm>
            <a:off x="548640" y="6382512"/>
            <a:ext cx="11094415" cy="0"/>
          </a:xfrm>
          <a:prstGeom prst="line">
            <a:avLst/>
          </a:prstGeom>
          <a:noFill/>
          <a:ln w="12700">
            <a:solidFill>
              <a:srgbClr val="D9DEE8"/>
            </a:solidFill>
            <a:prstDash val="solid"/>
          </a:ln>
        </p:spPr>
      </p:sp>
      <p:sp>
        <p:nvSpPr>
          <p:cNvPr id="13" name="Text 10"/>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4" name="Text 11"/>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166</a:t>
            </a:r>
            <a:endParaRPr lang="en-US" sz="800" dirty="0"/>
          </a:p>
        </p:txBody>
      </p:sp>
      <p:sp>
        <p:nvSpPr>
          <p:cNvPr id="15" name="Shape 12"/>
          <p:cNvSpPr/>
          <p:nvPr/>
        </p:nvSpPr>
        <p:spPr>
          <a:xfrm>
            <a:off x="548640" y="2377440"/>
            <a:ext cx="2567864" cy="3657600"/>
          </a:xfrm>
          <a:prstGeom prst="roundRect">
            <a:avLst>
              <a:gd name="adj" fmla="val 3205"/>
            </a:avLst>
          </a:prstGeom>
          <a:solidFill>
            <a:srgbClr val="FFFFFF"/>
          </a:solidFill>
          <a:ln w="12700">
            <a:solidFill>
              <a:srgbClr val="D9DEE8"/>
            </a:solidFill>
            <a:prstDash val="solid"/>
          </a:ln>
        </p:spPr>
      </p:sp>
      <p:sp>
        <p:nvSpPr>
          <p:cNvPr id="16" name="Shape 13"/>
          <p:cNvSpPr/>
          <p:nvPr/>
        </p:nvSpPr>
        <p:spPr>
          <a:xfrm>
            <a:off x="548640" y="2377440"/>
            <a:ext cx="2567864" cy="457200"/>
          </a:xfrm>
          <a:prstGeom prst="roundRect">
            <a:avLst>
              <a:gd name="adj" fmla="val 18000"/>
            </a:avLst>
          </a:prstGeom>
          <a:solidFill>
            <a:srgbClr val="2E5AAC"/>
          </a:solidFill>
          <a:ln/>
        </p:spPr>
      </p:sp>
      <p:sp>
        <p:nvSpPr>
          <p:cNvPr id="17" name="Shape 14"/>
          <p:cNvSpPr/>
          <p:nvPr/>
        </p:nvSpPr>
        <p:spPr>
          <a:xfrm>
            <a:off x="548640" y="2606040"/>
            <a:ext cx="2567864" cy="228600"/>
          </a:xfrm>
          <a:prstGeom prst="rect">
            <a:avLst/>
          </a:prstGeom>
          <a:solidFill>
            <a:srgbClr val="2E5AAC"/>
          </a:solidFill>
          <a:ln/>
        </p:spPr>
      </p:sp>
      <p:sp>
        <p:nvSpPr>
          <p:cNvPr id="18" name="Text 15"/>
          <p:cNvSpPr/>
          <p:nvPr/>
        </p:nvSpPr>
        <p:spPr>
          <a:xfrm>
            <a:off x="640080" y="2377440"/>
            <a:ext cx="2384984"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Diagrams</a:t>
            </a:r>
            <a:endParaRPr lang="en-US" sz="1250" dirty="0"/>
          </a:p>
        </p:txBody>
      </p:sp>
      <p:sp>
        <p:nvSpPr>
          <p:cNvPr id="19" name="Text 16"/>
          <p:cNvSpPr/>
          <p:nvPr/>
        </p:nvSpPr>
        <p:spPr>
          <a:xfrm>
            <a:off x="713232" y="2971800"/>
            <a:ext cx="2256968"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Attention-decay curve (BLUF at 0:30)</a:t>
            </a:r>
            <a:endParaRPr lang="en-US" sz="1050" dirty="0"/>
          </a:p>
        </p:txBody>
      </p:sp>
      <p:sp>
        <p:nvSpPr>
          <p:cNvPr id="20" name="Text 17"/>
          <p:cNvSpPr/>
          <p:nvPr/>
        </p:nvSpPr>
        <p:spPr>
          <a:xfrm>
            <a:off x="713232" y="3392424"/>
            <a:ext cx="2256968"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Spoken-briefing structure timeline strip</a:t>
            </a:r>
            <a:endParaRPr lang="en-US" sz="1050" dirty="0"/>
          </a:p>
        </p:txBody>
      </p:sp>
      <p:sp>
        <p:nvSpPr>
          <p:cNvPr id="21" name="Text 18"/>
          <p:cNvSpPr/>
          <p:nvPr/>
        </p:nvSpPr>
        <p:spPr>
          <a:xfrm>
            <a:off x="713232" y="3813048"/>
            <a:ext cx="2256968"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Q&amp;A handling matrix poster</a:t>
            </a:r>
            <a:endParaRPr lang="en-US" sz="1050" dirty="0"/>
          </a:p>
        </p:txBody>
      </p:sp>
      <p:sp>
        <p:nvSpPr>
          <p:cNvPr id="22" name="Text 19"/>
          <p:cNvSpPr/>
          <p:nvPr/>
        </p:nvSpPr>
        <p:spPr>
          <a:xfrm>
            <a:off x="713232" y="4105656"/>
            <a:ext cx="2256968" cy="640080"/>
          </a:xfrm>
          <a:prstGeom prst="rect">
            <a:avLst/>
          </a:prstGeom>
          <a:noFill/>
          <a:ln/>
        </p:spPr>
        <p:txBody>
          <a:bodyPr wrap="square" rtlCol="0" anchor="t"/>
          <a:lstStyle/>
          <a:p>
            <a:pPr marL="0" indent="0">
              <a:lnSpc>
                <a:spcPct val="100000"/>
              </a:lnSpc>
              <a:buNone/>
            </a:pPr>
            <a:r>
              <a:rPr lang="en-US" sz="1050" b="1" dirty="0">
                <a:solidFill>
                  <a:srgbClr val="2E5AAC"/>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Rehearsal feedback-loop diagram</a:t>
            </a:r>
            <a:endParaRPr lang="en-US" sz="1050" dirty="0"/>
          </a:p>
        </p:txBody>
      </p:sp>
      <p:sp>
        <p:nvSpPr>
          <p:cNvPr id="23" name="Shape 20"/>
          <p:cNvSpPr/>
          <p:nvPr/>
        </p:nvSpPr>
        <p:spPr>
          <a:xfrm>
            <a:off x="3390824" y="2377440"/>
            <a:ext cx="2567864" cy="3657600"/>
          </a:xfrm>
          <a:prstGeom prst="roundRect">
            <a:avLst>
              <a:gd name="adj" fmla="val 3205"/>
            </a:avLst>
          </a:prstGeom>
          <a:solidFill>
            <a:srgbClr val="FFFFFF"/>
          </a:solidFill>
          <a:ln w="12700">
            <a:solidFill>
              <a:srgbClr val="D9DEE8"/>
            </a:solidFill>
            <a:prstDash val="solid"/>
          </a:ln>
        </p:spPr>
      </p:sp>
      <p:sp>
        <p:nvSpPr>
          <p:cNvPr id="24" name="Shape 21"/>
          <p:cNvSpPr/>
          <p:nvPr/>
        </p:nvSpPr>
        <p:spPr>
          <a:xfrm>
            <a:off x="3390824" y="2377440"/>
            <a:ext cx="2567864" cy="457200"/>
          </a:xfrm>
          <a:prstGeom prst="roundRect">
            <a:avLst>
              <a:gd name="adj" fmla="val 18000"/>
            </a:avLst>
          </a:prstGeom>
          <a:solidFill>
            <a:srgbClr val="00A79D"/>
          </a:solidFill>
          <a:ln/>
        </p:spPr>
      </p:sp>
      <p:sp>
        <p:nvSpPr>
          <p:cNvPr id="25" name="Shape 22"/>
          <p:cNvSpPr/>
          <p:nvPr/>
        </p:nvSpPr>
        <p:spPr>
          <a:xfrm>
            <a:off x="3390824" y="2606040"/>
            <a:ext cx="2567864" cy="228600"/>
          </a:xfrm>
          <a:prstGeom prst="rect">
            <a:avLst/>
          </a:prstGeom>
          <a:solidFill>
            <a:srgbClr val="00A79D"/>
          </a:solidFill>
          <a:ln/>
        </p:spPr>
      </p:sp>
      <p:sp>
        <p:nvSpPr>
          <p:cNvPr id="26" name="Text 23"/>
          <p:cNvSpPr/>
          <p:nvPr/>
        </p:nvSpPr>
        <p:spPr>
          <a:xfrm>
            <a:off x="3482264" y="2377440"/>
            <a:ext cx="2384984"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Images</a:t>
            </a:r>
            <a:endParaRPr lang="en-US" sz="1250" dirty="0"/>
          </a:p>
        </p:txBody>
      </p:sp>
      <p:sp>
        <p:nvSpPr>
          <p:cNvPr id="27" name="Text 24"/>
          <p:cNvSpPr/>
          <p:nvPr/>
        </p:nvSpPr>
        <p:spPr>
          <a:xfrm>
            <a:off x="3555416" y="2971800"/>
            <a:ext cx="2256968"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Speaker-notes output (ask at open + close)</a:t>
            </a:r>
            <a:endParaRPr lang="en-US" sz="1050" dirty="0"/>
          </a:p>
        </p:txBody>
      </p:sp>
      <p:sp>
        <p:nvSpPr>
          <p:cNvPr id="28" name="Text 25"/>
          <p:cNvSpPr/>
          <p:nvPr/>
        </p:nvSpPr>
        <p:spPr>
          <a:xfrm>
            <a:off x="3555416" y="3392424"/>
            <a:ext cx="2256968"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Q&amp;A matrix output (4 bridged answers)</a:t>
            </a:r>
            <a:endParaRPr lang="en-US" sz="1050" dirty="0"/>
          </a:p>
        </p:txBody>
      </p:sp>
      <p:sp>
        <p:nvSpPr>
          <p:cNvPr id="29" name="Text 26"/>
          <p:cNvSpPr/>
          <p:nvPr/>
        </p:nvSpPr>
        <p:spPr>
          <a:xfrm>
            <a:off x="3555416" y="3813048"/>
            <a:ext cx="2256968"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Rubric score card (Round 1 vs 2)</a:t>
            </a:r>
            <a:endParaRPr lang="en-US" sz="1050" dirty="0"/>
          </a:p>
        </p:txBody>
      </p:sp>
      <p:sp>
        <p:nvSpPr>
          <p:cNvPr id="30" name="Text 27"/>
          <p:cNvSpPr/>
          <p:nvPr/>
        </p:nvSpPr>
        <p:spPr>
          <a:xfrm>
            <a:off x="3555416" y="4233672"/>
            <a:ext cx="2256968" cy="640080"/>
          </a:xfrm>
          <a:prstGeom prst="rect">
            <a:avLst/>
          </a:prstGeom>
          <a:noFill/>
          <a:ln/>
        </p:spPr>
        <p:txBody>
          <a:bodyPr wrap="square" rtlCol="0" anchor="t"/>
          <a:lstStyle/>
          <a:p>
            <a:pPr marL="0" indent="0">
              <a:lnSpc>
                <a:spcPct val="100000"/>
              </a:lnSpc>
              <a:buNone/>
            </a:pPr>
            <a:r>
              <a:rPr lang="en-US" sz="1050" b="1" dirty="0">
                <a:solidFill>
                  <a:srgbClr val="00A79D"/>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Simulated committee-room setup</a:t>
            </a:r>
            <a:endParaRPr lang="en-US" sz="1050" dirty="0"/>
          </a:p>
        </p:txBody>
      </p:sp>
      <p:sp>
        <p:nvSpPr>
          <p:cNvPr id="31" name="Shape 28"/>
          <p:cNvSpPr/>
          <p:nvPr/>
        </p:nvSpPr>
        <p:spPr>
          <a:xfrm>
            <a:off x="6233008" y="2377440"/>
            <a:ext cx="2567864" cy="3657600"/>
          </a:xfrm>
          <a:prstGeom prst="roundRect">
            <a:avLst>
              <a:gd name="adj" fmla="val 3205"/>
            </a:avLst>
          </a:prstGeom>
          <a:solidFill>
            <a:srgbClr val="FFFFFF"/>
          </a:solidFill>
          <a:ln w="12700">
            <a:solidFill>
              <a:srgbClr val="D9DEE8"/>
            </a:solidFill>
            <a:prstDash val="solid"/>
          </a:ln>
        </p:spPr>
      </p:sp>
      <p:sp>
        <p:nvSpPr>
          <p:cNvPr id="32" name="Shape 29"/>
          <p:cNvSpPr/>
          <p:nvPr/>
        </p:nvSpPr>
        <p:spPr>
          <a:xfrm>
            <a:off x="6233008" y="2377440"/>
            <a:ext cx="2567864" cy="457200"/>
          </a:xfrm>
          <a:prstGeom prst="roundRect">
            <a:avLst>
              <a:gd name="adj" fmla="val 18000"/>
            </a:avLst>
          </a:prstGeom>
          <a:solidFill>
            <a:srgbClr val="E8833A"/>
          </a:solidFill>
          <a:ln/>
        </p:spPr>
      </p:sp>
      <p:sp>
        <p:nvSpPr>
          <p:cNvPr id="33" name="Shape 30"/>
          <p:cNvSpPr/>
          <p:nvPr/>
        </p:nvSpPr>
        <p:spPr>
          <a:xfrm>
            <a:off x="6233008" y="2606040"/>
            <a:ext cx="2567864" cy="228600"/>
          </a:xfrm>
          <a:prstGeom prst="rect">
            <a:avLst/>
          </a:prstGeom>
          <a:solidFill>
            <a:srgbClr val="E8833A"/>
          </a:solidFill>
          <a:ln/>
        </p:spPr>
      </p:sp>
      <p:sp>
        <p:nvSpPr>
          <p:cNvPr id="34" name="Text 31"/>
          <p:cNvSpPr/>
          <p:nvPr/>
        </p:nvSpPr>
        <p:spPr>
          <a:xfrm>
            <a:off x="6324448" y="2377440"/>
            <a:ext cx="2384984"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Simulations</a:t>
            </a:r>
            <a:endParaRPr lang="en-US" sz="1250" dirty="0"/>
          </a:p>
        </p:txBody>
      </p:sp>
      <p:sp>
        <p:nvSpPr>
          <p:cNvPr id="35" name="Text 32"/>
          <p:cNvSpPr/>
          <p:nvPr/>
        </p:nvSpPr>
        <p:spPr>
          <a:xfrm>
            <a:off x="6397600" y="2971800"/>
            <a:ext cx="2256968"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Hostile-committee bot (challenge questions)</a:t>
            </a:r>
            <a:endParaRPr lang="en-US" sz="1050" dirty="0"/>
          </a:p>
        </p:txBody>
      </p:sp>
      <p:sp>
        <p:nvSpPr>
          <p:cNvPr id="36" name="Text 33"/>
          <p:cNvSpPr/>
          <p:nvPr/>
        </p:nvSpPr>
        <p:spPr>
          <a:xfrm>
            <a:off x="6397600" y="3392424"/>
            <a:ext cx="2256968"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The halved-slot drill (timer cut to 3 min)</a:t>
            </a:r>
            <a:endParaRPr lang="en-US" sz="1050" dirty="0"/>
          </a:p>
        </p:txBody>
      </p:sp>
      <p:sp>
        <p:nvSpPr>
          <p:cNvPr id="37" name="Text 34"/>
          <p:cNvSpPr/>
          <p:nvPr/>
        </p:nvSpPr>
        <p:spPr>
          <a:xfrm>
            <a:off x="6397600" y="3813048"/>
            <a:ext cx="2256968"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Cold-open round (30-second BLUF)</a:t>
            </a:r>
            <a:endParaRPr lang="en-US" sz="1050" dirty="0"/>
          </a:p>
        </p:txBody>
      </p:sp>
      <p:sp>
        <p:nvSpPr>
          <p:cNvPr id="38" name="Text 35"/>
          <p:cNvSpPr/>
          <p:nvPr/>
        </p:nvSpPr>
        <p:spPr>
          <a:xfrm>
            <a:off x="6397600" y="4233672"/>
            <a:ext cx="2256968" cy="640080"/>
          </a:xfrm>
          <a:prstGeom prst="rect">
            <a:avLst/>
          </a:prstGeom>
          <a:noFill/>
          <a:ln/>
        </p:spPr>
        <p:txBody>
          <a:bodyPr wrap="square" rtlCol="0" anchor="t"/>
          <a:lstStyle/>
          <a:p>
            <a:pPr marL="0" indent="0">
              <a:lnSpc>
                <a:spcPct val="100000"/>
              </a:lnSpc>
              <a:buNone/>
            </a:pPr>
            <a:r>
              <a:rPr lang="en-US" sz="1050" b="1" dirty="0">
                <a:solidFill>
                  <a:srgbClr val="E8833A"/>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Bridge relay (rapid-fire questions)</a:t>
            </a:r>
            <a:endParaRPr lang="en-US" sz="1050" dirty="0"/>
          </a:p>
        </p:txBody>
      </p:sp>
      <p:sp>
        <p:nvSpPr>
          <p:cNvPr id="39" name="Shape 36"/>
          <p:cNvSpPr/>
          <p:nvPr/>
        </p:nvSpPr>
        <p:spPr>
          <a:xfrm>
            <a:off x="9075191" y="2377440"/>
            <a:ext cx="2567864" cy="3657600"/>
          </a:xfrm>
          <a:prstGeom prst="roundRect">
            <a:avLst>
              <a:gd name="adj" fmla="val 3205"/>
            </a:avLst>
          </a:prstGeom>
          <a:solidFill>
            <a:srgbClr val="FFFFFF"/>
          </a:solidFill>
          <a:ln w="12700">
            <a:solidFill>
              <a:srgbClr val="D9DEE8"/>
            </a:solidFill>
            <a:prstDash val="solid"/>
          </a:ln>
        </p:spPr>
      </p:sp>
      <p:sp>
        <p:nvSpPr>
          <p:cNvPr id="40" name="Shape 37"/>
          <p:cNvSpPr/>
          <p:nvPr/>
        </p:nvSpPr>
        <p:spPr>
          <a:xfrm>
            <a:off x="9075191" y="2377440"/>
            <a:ext cx="2567864" cy="457200"/>
          </a:xfrm>
          <a:prstGeom prst="roundRect">
            <a:avLst>
              <a:gd name="adj" fmla="val 18000"/>
            </a:avLst>
          </a:prstGeom>
          <a:solidFill>
            <a:srgbClr val="6C4FA1"/>
          </a:solidFill>
          <a:ln/>
        </p:spPr>
      </p:sp>
      <p:sp>
        <p:nvSpPr>
          <p:cNvPr id="41" name="Shape 38"/>
          <p:cNvSpPr/>
          <p:nvPr/>
        </p:nvSpPr>
        <p:spPr>
          <a:xfrm>
            <a:off x="9075191" y="2606040"/>
            <a:ext cx="2567864" cy="228600"/>
          </a:xfrm>
          <a:prstGeom prst="rect">
            <a:avLst/>
          </a:prstGeom>
          <a:solidFill>
            <a:srgbClr val="6C4FA1"/>
          </a:solidFill>
          <a:ln/>
        </p:spPr>
      </p:sp>
      <p:sp>
        <p:nvSpPr>
          <p:cNvPr id="42" name="Text 39"/>
          <p:cNvSpPr/>
          <p:nvPr/>
        </p:nvSpPr>
        <p:spPr>
          <a:xfrm>
            <a:off x="9166631" y="2377440"/>
            <a:ext cx="2384984" cy="45720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Datasets</a:t>
            </a:r>
            <a:endParaRPr lang="en-US" sz="1250" dirty="0"/>
          </a:p>
        </p:txBody>
      </p:sp>
      <p:sp>
        <p:nvSpPr>
          <p:cNvPr id="43" name="Text 40"/>
          <p:cNvSpPr/>
          <p:nvPr/>
        </p:nvSpPr>
        <p:spPr>
          <a:xfrm>
            <a:off x="9239783" y="2971800"/>
            <a:ext cx="2256968" cy="640080"/>
          </a:xfrm>
          <a:prstGeom prst="rect">
            <a:avLst/>
          </a:prstGeom>
          <a:noFill/>
          <a:ln/>
        </p:spPr>
        <p:txBody>
          <a:bodyPr wrap="square" rtlCol="0" anchor="t"/>
          <a:lstStyle/>
          <a:p>
            <a:pPr marL="0" indent="0">
              <a:lnSpc>
                <a:spcPct val="100000"/>
              </a:lnSpc>
              <a:buNone/>
            </a:pPr>
            <a:r>
              <a:rPr lang="en-US" sz="1050" b="1" dirty="0">
                <a:solidFill>
                  <a:srgbClr val="6C4FA1"/>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tayseer_services.csv (~28k rows)</a:t>
            </a:r>
            <a:endParaRPr lang="en-US" sz="1050" dirty="0"/>
          </a:p>
        </p:txBody>
      </p:sp>
      <p:sp>
        <p:nvSpPr>
          <p:cNvPr id="44" name="Text 41"/>
          <p:cNvSpPr/>
          <p:nvPr/>
        </p:nvSpPr>
        <p:spPr>
          <a:xfrm>
            <a:off x="9239783" y="3392424"/>
            <a:ext cx="2256968" cy="640080"/>
          </a:xfrm>
          <a:prstGeom prst="rect">
            <a:avLst/>
          </a:prstGeom>
          <a:noFill/>
          <a:ln/>
        </p:spPr>
        <p:txBody>
          <a:bodyPr wrap="square" rtlCol="0" anchor="t"/>
          <a:lstStyle/>
          <a:p>
            <a:pPr marL="0" indent="0">
              <a:lnSpc>
                <a:spcPct val="100000"/>
              </a:lnSpc>
              <a:buNone/>
            </a:pPr>
            <a:r>
              <a:rPr lang="en-US" sz="1050" b="1" dirty="0">
                <a:solidFill>
                  <a:srgbClr val="6C4FA1"/>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M5 storyboard + scenes (py + png)</a:t>
            </a:r>
            <a:endParaRPr lang="en-US" sz="1050" dirty="0"/>
          </a:p>
        </p:txBody>
      </p:sp>
      <p:sp>
        <p:nvSpPr>
          <p:cNvPr id="45" name="Text 42"/>
          <p:cNvSpPr/>
          <p:nvPr/>
        </p:nvSpPr>
        <p:spPr>
          <a:xfrm>
            <a:off x="9239783" y="3813048"/>
            <a:ext cx="2256968" cy="640080"/>
          </a:xfrm>
          <a:prstGeom prst="rect">
            <a:avLst/>
          </a:prstGeom>
          <a:noFill/>
          <a:ln/>
        </p:spPr>
        <p:txBody>
          <a:bodyPr wrap="square" rtlCol="0" anchor="t"/>
          <a:lstStyle/>
          <a:p>
            <a:pPr marL="0" indent="0">
              <a:lnSpc>
                <a:spcPct val="100000"/>
              </a:lnSpc>
              <a:buNone/>
            </a:pPr>
            <a:r>
              <a:rPr lang="en-US" sz="1050" b="1" dirty="0">
                <a:solidFill>
                  <a:srgbClr val="6C4FA1"/>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qa_bank.md (committee questions)</a:t>
            </a:r>
            <a:endParaRPr lang="en-US" sz="1050" dirty="0"/>
          </a:p>
        </p:txBody>
      </p:sp>
      <p:sp>
        <p:nvSpPr>
          <p:cNvPr id="46" name="Text 43"/>
          <p:cNvSpPr/>
          <p:nvPr/>
        </p:nvSpPr>
        <p:spPr>
          <a:xfrm>
            <a:off x="9239783" y="4233672"/>
            <a:ext cx="2256968" cy="640080"/>
          </a:xfrm>
          <a:prstGeom prst="rect">
            <a:avLst/>
          </a:prstGeom>
          <a:noFill/>
          <a:ln/>
        </p:spPr>
        <p:txBody>
          <a:bodyPr wrap="square" rtlCol="0" anchor="t"/>
          <a:lstStyle/>
          <a:p>
            <a:pPr marL="0" indent="0">
              <a:lnSpc>
                <a:spcPct val="100000"/>
              </a:lnSpc>
              <a:buNone/>
            </a:pPr>
            <a:r>
              <a:rPr lang="en-US" sz="1050" b="1" dirty="0">
                <a:solidFill>
                  <a:srgbClr val="6C4FA1"/>
                </a:solidFill>
                <a:latin typeface="Arial" pitchFamily="34" charset="0"/>
                <a:ea typeface="Arial" pitchFamily="34" charset="-122"/>
                <a:cs typeface="Arial" pitchFamily="34" charset="-120"/>
              </a:rPr>
              <a:t>•  </a:t>
            </a:r>
            <a:r>
              <a:rPr lang="en-US" sz="1050" dirty="0">
                <a:solidFill>
                  <a:srgbClr val="343A4E"/>
                </a:solidFill>
                <a:latin typeface="Arial" pitchFamily="34" charset="0"/>
                <a:ea typeface="Arial" pitchFamily="34" charset="-122"/>
                <a:cs typeface="Arial" pitchFamily="34" charset="-120"/>
              </a:rPr>
              <a:t>Recording-consent form (PDF)</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256032" cy="6858000"/>
          </a:xfrm>
          <a:prstGeom prst="rect">
            <a:avLst/>
          </a:prstGeom>
          <a:solidFill>
            <a:srgbClr val="00A79D"/>
          </a:solidFill>
          <a:ln/>
        </p:spPr>
      </p:sp>
      <p:pic>
        <p:nvPicPr>
          <p:cNvPr id="4"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5" name="Text 2"/>
          <p:cNvSpPr/>
          <p:nvPr/>
        </p:nvSpPr>
        <p:spPr>
          <a:xfrm>
            <a:off x="731520" y="1371600"/>
            <a:ext cx="3840480" cy="2377440"/>
          </a:xfrm>
          <a:prstGeom prst="rect">
            <a:avLst/>
          </a:prstGeom>
          <a:noFill/>
          <a:ln/>
        </p:spPr>
        <p:txBody>
          <a:bodyPr wrap="square" rtlCol="0" anchor="ctr"/>
          <a:lstStyle/>
          <a:p>
            <a:pPr marL="0" indent="0" algn="l">
              <a:buNone/>
            </a:pPr>
            <a:r>
              <a:rPr lang="en-US" sz="15000" b="1" dirty="0">
                <a:solidFill>
                  <a:srgbClr val="27345F"/>
                </a:solidFill>
                <a:latin typeface="Arial" pitchFamily="34" charset="0"/>
                <a:ea typeface="Arial" pitchFamily="34" charset="-122"/>
                <a:cs typeface="Arial" pitchFamily="34" charset="-120"/>
              </a:rPr>
              <a:t>07</a:t>
            </a:r>
            <a:endParaRPr lang="en-US" sz="15000" dirty="0"/>
          </a:p>
        </p:txBody>
      </p:sp>
      <p:sp>
        <p:nvSpPr>
          <p:cNvPr id="6" name="Text 3"/>
          <p:cNvSpPr/>
          <p:nvPr/>
        </p:nvSpPr>
        <p:spPr>
          <a:xfrm>
            <a:off x="868680" y="3566160"/>
            <a:ext cx="8229600" cy="365760"/>
          </a:xfrm>
          <a:prstGeom prst="rect">
            <a:avLst/>
          </a:prstGeom>
          <a:noFill/>
          <a:ln/>
        </p:spPr>
        <p:txBody>
          <a:bodyPr wrap="square" rtlCol="0" anchor="ctr"/>
          <a:lstStyle/>
          <a:p>
            <a:pPr marL="0" indent="0">
              <a:buNone/>
            </a:pPr>
            <a:r>
              <a:rPr lang="en-US" sz="1400" b="1" kern="0" spc="300" dirty="0">
                <a:solidFill>
                  <a:srgbClr val="00A79D"/>
                </a:solidFill>
                <a:latin typeface="Arial" pitchFamily="34" charset="0"/>
                <a:ea typeface="Arial" pitchFamily="34" charset="-122"/>
                <a:cs typeface="Arial" pitchFamily="34" charset="-120"/>
              </a:rPr>
              <a:t>CAPSTONE &amp; CLOSE</a:t>
            </a:r>
            <a:endParaRPr lang="en-US" sz="1400" dirty="0"/>
          </a:p>
        </p:txBody>
      </p:sp>
      <p:sp>
        <p:nvSpPr>
          <p:cNvPr id="7" name="Text 4"/>
          <p:cNvSpPr/>
          <p:nvPr/>
        </p:nvSpPr>
        <p:spPr>
          <a:xfrm>
            <a:off x="850392" y="3931920"/>
            <a:ext cx="10241280" cy="1097280"/>
          </a:xfrm>
          <a:prstGeom prst="rect">
            <a:avLst/>
          </a:prstGeom>
          <a:noFill/>
          <a:ln/>
        </p:spPr>
        <p:txBody>
          <a:bodyPr wrap="square" rtlCol="0" anchor="t"/>
          <a:lstStyle/>
          <a:p>
            <a:pPr marL="0" indent="0">
              <a:buNone/>
            </a:pPr>
            <a:r>
              <a:rPr lang="en-US" sz="3400" b="1" dirty="0">
                <a:solidFill>
                  <a:srgbClr val="FFFFFF"/>
                </a:solidFill>
                <a:latin typeface="Arial" pitchFamily="34" charset="0"/>
                <a:ea typeface="Arial" pitchFamily="34" charset="-122"/>
                <a:cs typeface="Arial" pitchFamily="34" charset="-120"/>
              </a:rPr>
              <a:t>Capstone, Assessment &amp; Delivery</a:t>
            </a:r>
            <a:endParaRPr lang="en-US" sz="3400" dirty="0"/>
          </a:p>
        </p:txBody>
      </p:sp>
      <p:sp>
        <p:nvSpPr>
          <p:cNvPr id="8" name="Text 5"/>
          <p:cNvSpPr/>
          <p:nvPr/>
        </p:nvSpPr>
        <p:spPr>
          <a:xfrm>
            <a:off x="868680" y="4892040"/>
            <a:ext cx="10058400" cy="457200"/>
          </a:xfrm>
          <a:prstGeom prst="rect">
            <a:avLst/>
          </a:prstGeom>
          <a:noFill/>
          <a:ln/>
        </p:spPr>
        <p:txBody>
          <a:bodyPr wrap="square" rtlCol="0" anchor="ctr"/>
          <a:lstStyle/>
          <a:p>
            <a:pPr marL="0" indent="0">
              <a:buNone/>
            </a:pPr>
            <a:r>
              <a:rPr lang="en-US" sz="1800" dirty="0">
                <a:solidFill>
                  <a:srgbClr val="C9D3EA"/>
                </a:solidFill>
                <a:latin typeface="Arial" pitchFamily="34" charset="0"/>
                <a:ea typeface="Arial" pitchFamily="34" charset="-122"/>
                <a:cs typeface="Arial" pitchFamily="34" charset="-120"/>
              </a:rPr>
              <a:t>المشروع الختامي والتقييم</a:t>
            </a:r>
            <a:endParaRPr lang="en-US" sz="1800" dirty="0"/>
          </a:p>
        </p:txBody>
      </p:sp>
      <p:sp>
        <p:nvSpPr>
          <p:cNvPr id="9" name="Text 6"/>
          <p:cNvSpPr/>
          <p:nvPr/>
        </p:nvSpPr>
        <p:spPr>
          <a:xfrm>
            <a:off x="868680" y="5440680"/>
            <a:ext cx="9875520" cy="822960"/>
          </a:xfrm>
          <a:prstGeom prst="rect">
            <a:avLst/>
          </a:prstGeom>
          <a:noFill/>
          <a:ln/>
        </p:spPr>
        <p:txBody>
          <a:bodyPr wrap="square" rtlCol="0" anchor="t"/>
          <a:lstStyle/>
          <a:p>
            <a:pPr marL="0" indent="0">
              <a:buNone/>
            </a:pPr>
            <a:r>
              <a:rPr lang="en-US" sz="1250" dirty="0">
                <a:solidFill>
                  <a:srgbClr val="AEB8D0"/>
                </a:solidFill>
                <a:latin typeface="Arial" pitchFamily="34" charset="0"/>
                <a:ea typeface="Arial" pitchFamily="34" charset="-122"/>
                <a:cs typeface="Arial" pitchFamily="34" charset="-120"/>
              </a:rPr>
              <a:t>Integrate the dashboard and story, then deliver the seven-minute Tayseer briefing to a simulated Steering Committee.</a:t>
            </a:r>
            <a:endParaRPr lang="en-US" sz="1250" dirty="0"/>
          </a:p>
        </p:txBody>
      </p:sp>
      <p:sp>
        <p:nvSpPr>
          <p:cNvPr id="10" name="Shape 7"/>
          <p:cNvSpPr/>
          <p:nvPr/>
        </p:nvSpPr>
        <p:spPr>
          <a:xfrm>
            <a:off x="9448495" y="5806440"/>
            <a:ext cx="457200" cy="731520"/>
          </a:xfrm>
          <a:prstGeom prst="triangle">
            <a:avLst/>
          </a:prstGeom>
          <a:solidFill>
            <a:srgbClr val="2E5AAC"/>
          </a:solidFill>
          <a:ln/>
        </p:spPr>
      </p:sp>
      <p:sp>
        <p:nvSpPr>
          <p:cNvPr id="11" name="Shape 8"/>
          <p:cNvSpPr/>
          <p:nvPr/>
        </p:nvSpPr>
        <p:spPr>
          <a:xfrm rot="10800000">
            <a:off x="9850831" y="5806440"/>
            <a:ext cx="457200" cy="731520"/>
          </a:xfrm>
          <a:prstGeom prst="triangle">
            <a:avLst/>
          </a:prstGeom>
          <a:solidFill>
            <a:srgbClr val="E8833A"/>
          </a:solidFill>
          <a:ln/>
        </p:spPr>
      </p:sp>
      <p:sp>
        <p:nvSpPr>
          <p:cNvPr id="12" name="Shape 9"/>
          <p:cNvSpPr/>
          <p:nvPr/>
        </p:nvSpPr>
        <p:spPr>
          <a:xfrm>
            <a:off x="10253167" y="5806440"/>
            <a:ext cx="457200" cy="731520"/>
          </a:xfrm>
          <a:prstGeom prst="triangle">
            <a:avLst/>
          </a:prstGeom>
          <a:solidFill>
            <a:srgbClr val="3FAE5A"/>
          </a:solidFill>
          <a:ln/>
        </p:spPr>
      </p:sp>
      <p:sp>
        <p:nvSpPr>
          <p:cNvPr id="13" name="Shape 10"/>
          <p:cNvSpPr/>
          <p:nvPr/>
        </p:nvSpPr>
        <p:spPr>
          <a:xfrm rot="10800000">
            <a:off x="10655503" y="5806440"/>
            <a:ext cx="457200" cy="731520"/>
          </a:xfrm>
          <a:prstGeom prst="triangle">
            <a:avLst/>
          </a:prstGeom>
          <a:solidFill>
            <a:srgbClr val="6C4FA1"/>
          </a:solidFill>
          <a:ln/>
        </p:spPr>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CAPSTONE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Integrate the dashboard and the executive story</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168</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By the end of Day 3 each participant owns a decision-ready executive dashboard and a seven-minute data story recommending where the Tayseer program should invest its next SAR 40 million.</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Analysis is done:  </a:t>
            </a:r>
            <a:r>
              <a:rPr lang="en-US" sz="1250" dirty="0">
                <a:solidFill>
                  <a:srgbClr val="343A4E"/>
                </a:solidFill>
                <a:latin typeface="Arial" pitchFamily="34" charset="0"/>
                <a:ea typeface="Arial" pitchFamily="34" charset="-122"/>
                <a:cs typeface="Arial" pitchFamily="34" charset="-120"/>
              </a:rPr>
              <a:t>The Tayseer work is complete across five modules — only the communication is assembled and graded here.</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One artefact:  </a:t>
            </a:r>
            <a:r>
              <a:rPr lang="en-US" sz="1250" dirty="0">
                <a:solidFill>
                  <a:srgbClr val="343A4E"/>
                </a:solidFill>
                <a:latin typeface="Arial" pitchFamily="34" charset="0"/>
                <a:ea typeface="Arial" pitchFamily="34" charset="-122"/>
                <a:cs typeface="Arial" pitchFamily="34" charset="-120"/>
              </a:rPr>
              <a:t>Integrate the Module 4 dashboard with the Module 5 storyboard into a single decision-ready package.</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The ask:  </a:t>
            </a:r>
            <a:r>
              <a:rPr lang="en-US" sz="1250" dirty="0">
                <a:solidFill>
                  <a:srgbClr val="343A4E"/>
                </a:solidFill>
                <a:latin typeface="Arial" pitchFamily="34" charset="0"/>
                <a:ea typeface="Arial" pitchFamily="34" charset="-122"/>
                <a:cs typeface="Arial" pitchFamily="34" charset="-120"/>
              </a:rPr>
              <a:t>Recommend where to direct the next SAR 40 million to lift the lagging regions to 65% adoption by December.</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Rehearse it:  </a:t>
            </a:r>
            <a:r>
              <a:rPr lang="en-US" sz="1250" dirty="0">
                <a:solidFill>
                  <a:srgbClr val="343A4E"/>
                </a:solidFill>
                <a:latin typeface="Arial" pitchFamily="34" charset="0"/>
                <a:ea typeface="Arial" pitchFamily="34" charset="-122"/>
                <a:cs typeface="Arial" pitchFamily="34" charset="-120"/>
              </a:rPr>
              <a:t>Assemble, rehearse the 7-minute briefing, and run a peer-critique round before the live session.</a:t>
            </a:r>
            <a:endParaRPr lang="en-US" sz="12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CAPSTONE DELIVERABLES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What each participant submits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169</a:t>
            </a:r>
            <a:endParaRPr lang="en-US" sz="800" dirty="0"/>
          </a:p>
        </p:txBody>
      </p:sp>
      <p:sp>
        <p:nvSpPr>
          <p:cNvPr id="14" name="Shape 11"/>
          <p:cNvSpPr/>
          <p:nvPr/>
        </p:nvSpPr>
        <p:spPr>
          <a:xfrm>
            <a:off x="548640" y="2066544"/>
            <a:ext cx="5410048" cy="1865376"/>
          </a:xfrm>
          <a:prstGeom prst="roundRect">
            <a:avLst>
              <a:gd name="adj" fmla="val 3922"/>
            </a:avLst>
          </a:prstGeom>
          <a:solidFill>
            <a:srgbClr val="FFFFFF"/>
          </a:solidFill>
          <a:ln w="12700">
            <a:solidFill>
              <a:srgbClr val="D9DEE8"/>
            </a:solidFill>
            <a:prstDash val="solid"/>
          </a:ln>
        </p:spPr>
      </p:sp>
      <p:sp>
        <p:nvSpPr>
          <p:cNvPr id="15" name="Shape 12"/>
          <p:cNvSpPr/>
          <p:nvPr/>
        </p:nvSpPr>
        <p:spPr>
          <a:xfrm>
            <a:off x="548640" y="2066544"/>
            <a:ext cx="5410048" cy="82296"/>
          </a:xfrm>
          <a:prstGeom prst="rect">
            <a:avLst/>
          </a:prstGeom>
          <a:solidFill>
            <a:srgbClr val="2E5AAC"/>
          </a:solidFill>
          <a:ln/>
        </p:spPr>
      </p:sp>
      <p:sp>
        <p:nvSpPr>
          <p:cNvPr id="16" name="Text 13"/>
          <p:cNvSpPr/>
          <p:nvPr/>
        </p:nvSpPr>
        <p:spPr>
          <a:xfrm>
            <a:off x="731520" y="224942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Decision-ready dashboard</a:t>
            </a:r>
            <a:endParaRPr lang="en-US" sz="1300" dirty="0"/>
          </a:p>
        </p:txBody>
      </p:sp>
      <p:sp>
        <p:nvSpPr>
          <p:cNvPr id="17" name="Text 14"/>
          <p:cNvSpPr/>
          <p:nvPr/>
        </p:nvSpPr>
        <p:spPr>
          <a:xfrm>
            <a:off x="731520" y="261518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An interactive Tayseer dashboard with KPI headline, trend, and regional breakdown, ready for executive use.</a:t>
            </a:r>
            <a:endParaRPr lang="en-US" sz="1050" dirty="0"/>
          </a:p>
        </p:txBody>
      </p:sp>
      <p:sp>
        <p:nvSpPr>
          <p:cNvPr id="18" name="Shape 15"/>
          <p:cNvSpPr/>
          <p:nvPr/>
        </p:nvSpPr>
        <p:spPr>
          <a:xfrm>
            <a:off x="6233008" y="2066544"/>
            <a:ext cx="5410048" cy="1865376"/>
          </a:xfrm>
          <a:prstGeom prst="roundRect">
            <a:avLst>
              <a:gd name="adj" fmla="val 3922"/>
            </a:avLst>
          </a:prstGeom>
          <a:solidFill>
            <a:srgbClr val="FFFFFF"/>
          </a:solidFill>
          <a:ln w="12700">
            <a:solidFill>
              <a:srgbClr val="D9DEE8"/>
            </a:solidFill>
            <a:prstDash val="solid"/>
          </a:ln>
        </p:spPr>
      </p:sp>
      <p:sp>
        <p:nvSpPr>
          <p:cNvPr id="19" name="Shape 16"/>
          <p:cNvSpPr/>
          <p:nvPr/>
        </p:nvSpPr>
        <p:spPr>
          <a:xfrm>
            <a:off x="6233008" y="2066544"/>
            <a:ext cx="5410048" cy="82296"/>
          </a:xfrm>
          <a:prstGeom prst="rect">
            <a:avLst/>
          </a:prstGeom>
          <a:solidFill>
            <a:srgbClr val="00A79D"/>
          </a:solidFill>
          <a:ln/>
        </p:spPr>
      </p:sp>
      <p:sp>
        <p:nvSpPr>
          <p:cNvPr id="20" name="Text 17"/>
          <p:cNvSpPr/>
          <p:nvPr/>
        </p:nvSpPr>
        <p:spPr>
          <a:xfrm>
            <a:off x="6415888" y="224942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Rehearsed 7-minute presentation</a:t>
            </a:r>
            <a:endParaRPr lang="en-US" sz="1300" dirty="0"/>
          </a:p>
        </p:txBody>
      </p:sp>
      <p:sp>
        <p:nvSpPr>
          <p:cNvPr id="21" name="Text 18"/>
          <p:cNvSpPr/>
          <p:nvPr/>
        </p:nvSpPr>
        <p:spPr>
          <a:xfrm>
            <a:off x="6415888" y="2816352"/>
            <a:ext cx="5044288" cy="1005840"/>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An executive briefing delivered to a simulated Steering Committee within the seven-minute slot.</a:t>
            </a:r>
            <a:endParaRPr lang="en-US" sz="1050" dirty="0"/>
          </a:p>
        </p:txBody>
      </p:sp>
      <p:sp>
        <p:nvSpPr>
          <p:cNvPr id="22" name="Shape 19"/>
          <p:cNvSpPr/>
          <p:nvPr/>
        </p:nvSpPr>
        <p:spPr>
          <a:xfrm>
            <a:off x="548640" y="4169664"/>
            <a:ext cx="5410048" cy="1865376"/>
          </a:xfrm>
          <a:prstGeom prst="roundRect">
            <a:avLst>
              <a:gd name="adj" fmla="val 3922"/>
            </a:avLst>
          </a:prstGeom>
          <a:solidFill>
            <a:srgbClr val="FFFFFF"/>
          </a:solidFill>
          <a:ln w="12700">
            <a:solidFill>
              <a:srgbClr val="D9DEE8"/>
            </a:solidFill>
            <a:prstDash val="solid"/>
          </a:ln>
        </p:spPr>
      </p:sp>
      <p:sp>
        <p:nvSpPr>
          <p:cNvPr id="23" name="Shape 20"/>
          <p:cNvSpPr/>
          <p:nvPr/>
        </p:nvSpPr>
        <p:spPr>
          <a:xfrm>
            <a:off x="548640" y="4169664"/>
            <a:ext cx="5410048" cy="82296"/>
          </a:xfrm>
          <a:prstGeom prst="rect">
            <a:avLst/>
          </a:prstGeom>
          <a:solidFill>
            <a:srgbClr val="E8833A"/>
          </a:solidFill>
          <a:ln/>
        </p:spPr>
      </p:sp>
      <p:sp>
        <p:nvSpPr>
          <p:cNvPr id="24" name="Text 21"/>
          <p:cNvSpPr/>
          <p:nvPr/>
        </p:nvSpPr>
        <p:spPr>
          <a:xfrm>
            <a:off x="731520" y="43525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Storyboarded narrative</a:t>
            </a:r>
            <a:endParaRPr lang="en-US" sz="1300" dirty="0"/>
          </a:p>
        </p:txBody>
      </p:sp>
      <p:sp>
        <p:nvSpPr>
          <p:cNvPr id="25" name="Text 22"/>
          <p:cNvSpPr/>
          <p:nvPr/>
        </p:nvSpPr>
        <p:spPr>
          <a:xfrm>
            <a:off x="731520" y="471830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A seven-slide arc built on one Big Idea, wrapping the dashboard findings into a story.</a:t>
            </a:r>
            <a:endParaRPr lang="en-US" sz="1050" dirty="0"/>
          </a:p>
        </p:txBody>
      </p:sp>
      <p:sp>
        <p:nvSpPr>
          <p:cNvPr id="26" name="Shape 23"/>
          <p:cNvSpPr/>
          <p:nvPr/>
        </p:nvSpPr>
        <p:spPr>
          <a:xfrm>
            <a:off x="6233008" y="4169664"/>
            <a:ext cx="5410048" cy="1865376"/>
          </a:xfrm>
          <a:prstGeom prst="roundRect">
            <a:avLst>
              <a:gd name="adj" fmla="val 3922"/>
            </a:avLst>
          </a:prstGeom>
          <a:solidFill>
            <a:srgbClr val="FFFFFF"/>
          </a:solidFill>
          <a:ln w="12700">
            <a:solidFill>
              <a:srgbClr val="D9DEE8"/>
            </a:solidFill>
            <a:prstDash val="solid"/>
          </a:ln>
        </p:spPr>
      </p:sp>
      <p:sp>
        <p:nvSpPr>
          <p:cNvPr id="27" name="Shape 24"/>
          <p:cNvSpPr/>
          <p:nvPr/>
        </p:nvSpPr>
        <p:spPr>
          <a:xfrm>
            <a:off x="6233008" y="4169664"/>
            <a:ext cx="5410048" cy="82296"/>
          </a:xfrm>
          <a:prstGeom prst="rect">
            <a:avLst/>
          </a:prstGeom>
          <a:solidFill>
            <a:srgbClr val="6C4FA1"/>
          </a:solidFill>
          <a:ln/>
        </p:spPr>
      </p:sp>
      <p:sp>
        <p:nvSpPr>
          <p:cNvPr id="28" name="Text 25"/>
          <p:cNvSpPr/>
          <p:nvPr/>
        </p:nvSpPr>
        <p:spPr>
          <a:xfrm>
            <a:off x="6415888" y="4352544"/>
            <a:ext cx="504428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Capstone submission</a:t>
            </a:r>
            <a:endParaRPr lang="en-US" sz="1300" dirty="0"/>
          </a:p>
        </p:txBody>
      </p:sp>
      <p:sp>
        <p:nvSpPr>
          <p:cNvPr id="29" name="Text 26"/>
          <p:cNvSpPr/>
          <p:nvPr/>
        </p:nvSpPr>
        <p:spPr>
          <a:xfrm>
            <a:off x="6415888" y="4718304"/>
            <a:ext cx="504428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Dashboard files and slide deck collected at end of Day 3 Hour 4 for live rubric scoring in Hour 5.</a:t>
            </a:r>
            <a:endParaRPr lang="en-US" sz="10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THE EXECUTIVE ARC</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Seven scenes, one Big Idea</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170</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The spoken briefing is layered on the seven-slide arc — say the ask twice, once at the top and once at the close.</a:t>
            </a:r>
            <a:endParaRPr lang="en-US" sz="1250" dirty="0"/>
          </a:p>
        </p:txBody>
      </p:sp>
      <p:sp>
        <p:nvSpPr>
          <p:cNvPr id="15" name="Shape 12"/>
          <p:cNvSpPr/>
          <p:nvPr/>
        </p:nvSpPr>
        <p:spPr>
          <a:xfrm>
            <a:off x="548640" y="2542032"/>
            <a:ext cx="11094415" cy="389273"/>
          </a:xfrm>
          <a:prstGeom prst="roundRect">
            <a:avLst>
              <a:gd name="adj" fmla="val 16443"/>
            </a:avLst>
          </a:prstGeom>
          <a:solidFill>
            <a:srgbClr val="EAF0FA"/>
          </a:solidFill>
          <a:ln w="15240">
            <a:solidFill>
              <a:srgbClr val="2E5AAC"/>
            </a:solidFill>
            <a:prstDash val="solid"/>
          </a:ln>
        </p:spPr>
      </p:sp>
      <p:sp>
        <p:nvSpPr>
          <p:cNvPr id="16" name="Shape 13"/>
          <p:cNvSpPr/>
          <p:nvPr/>
        </p:nvSpPr>
        <p:spPr>
          <a:xfrm>
            <a:off x="694944" y="2553789"/>
            <a:ext cx="365760" cy="365760"/>
          </a:xfrm>
          <a:prstGeom prst="ellipse">
            <a:avLst/>
          </a:prstGeom>
          <a:solidFill>
            <a:srgbClr val="2E5AAC"/>
          </a:solidFill>
          <a:ln/>
        </p:spPr>
      </p:sp>
      <p:sp>
        <p:nvSpPr>
          <p:cNvPr id="17" name="Text 14"/>
          <p:cNvSpPr/>
          <p:nvPr/>
        </p:nvSpPr>
        <p:spPr>
          <a:xfrm>
            <a:off x="694944" y="2553789"/>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8" name="Text 15"/>
          <p:cNvSpPr/>
          <p:nvPr/>
        </p:nvSpPr>
        <p:spPr>
          <a:xfrm>
            <a:off x="1188720" y="2542032"/>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BLUF  </a:t>
            </a:r>
            <a:r>
              <a:rPr lang="en-US" sz="1150" dirty="0">
                <a:solidFill>
                  <a:srgbClr val="343A4E"/>
                </a:solidFill>
                <a:latin typeface="Arial" pitchFamily="34" charset="0"/>
                <a:ea typeface="Arial" pitchFamily="34" charset="-122"/>
                <a:cs typeface="Arial" pitchFamily="34" charset="-120"/>
              </a:rPr>
              <a:t>Open with the recommendation and the ask in the first thirty seconds.</a:t>
            </a:r>
            <a:endParaRPr lang="en-US" sz="1300" dirty="0"/>
          </a:p>
        </p:txBody>
      </p:sp>
      <p:sp>
        <p:nvSpPr>
          <p:cNvPr id="19" name="Shape 16"/>
          <p:cNvSpPr/>
          <p:nvPr/>
        </p:nvSpPr>
        <p:spPr>
          <a:xfrm>
            <a:off x="548640" y="3059321"/>
            <a:ext cx="11094415" cy="389273"/>
          </a:xfrm>
          <a:prstGeom prst="roundRect">
            <a:avLst>
              <a:gd name="adj" fmla="val 16443"/>
            </a:avLst>
          </a:prstGeom>
          <a:solidFill>
            <a:srgbClr val="E6F5F4"/>
          </a:solidFill>
          <a:ln w="15240">
            <a:solidFill>
              <a:srgbClr val="00A79D"/>
            </a:solidFill>
            <a:prstDash val="solid"/>
          </a:ln>
        </p:spPr>
      </p:sp>
      <p:sp>
        <p:nvSpPr>
          <p:cNvPr id="20" name="Shape 17"/>
          <p:cNvSpPr/>
          <p:nvPr/>
        </p:nvSpPr>
        <p:spPr>
          <a:xfrm>
            <a:off x="694944" y="3071078"/>
            <a:ext cx="365760" cy="365760"/>
          </a:xfrm>
          <a:prstGeom prst="ellipse">
            <a:avLst/>
          </a:prstGeom>
          <a:solidFill>
            <a:srgbClr val="00A79D"/>
          </a:solidFill>
          <a:ln/>
        </p:spPr>
      </p:sp>
      <p:sp>
        <p:nvSpPr>
          <p:cNvPr id="21" name="Text 18"/>
          <p:cNvSpPr/>
          <p:nvPr/>
        </p:nvSpPr>
        <p:spPr>
          <a:xfrm>
            <a:off x="694944" y="307107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Text 19"/>
          <p:cNvSpPr/>
          <p:nvPr/>
        </p:nvSpPr>
        <p:spPr>
          <a:xfrm>
            <a:off x="1188720" y="3059321"/>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Situation  </a:t>
            </a:r>
            <a:r>
              <a:rPr lang="en-US" sz="1150" dirty="0">
                <a:solidFill>
                  <a:srgbClr val="343A4E"/>
                </a:solidFill>
                <a:latin typeface="Arial" pitchFamily="34" charset="0"/>
                <a:ea typeface="Arial" pitchFamily="34" charset="-122"/>
                <a:cs typeface="Arial" pitchFamily="34" charset="-120"/>
              </a:rPr>
              <a:t>Set the frame: where Tayseer stands on digital adoption today.</a:t>
            </a:r>
            <a:endParaRPr lang="en-US" sz="1300" dirty="0"/>
          </a:p>
        </p:txBody>
      </p:sp>
      <p:sp>
        <p:nvSpPr>
          <p:cNvPr id="23" name="Shape 20"/>
          <p:cNvSpPr/>
          <p:nvPr/>
        </p:nvSpPr>
        <p:spPr>
          <a:xfrm>
            <a:off x="548640" y="3576610"/>
            <a:ext cx="11094415" cy="389273"/>
          </a:xfrm>
          <a:prstGeom prst="roundRect">
            <a:avLst>
              <a:gd name="adj" fmla="val 16443"/>
            </a:avLst>
          </a:prstGeom>
          <a:solidFill>
            <a:srgbClr val="FCF0E6"/>
          </a:solidFill>
          <a:ln w="15240">
            <a:solidFill>
              <a:srgbClr val="E8833A"/>
            </a:solidFill>
            <a:prstDash val="solid"/>
          </a:ln>
        </p:spPr>
      </p:sp>
      <p:sp>
        <p:nvSpPr>
          <p:cNvPr id="24" name="Shape 21"/>
          <p:cNvSpPr/>
          <p:nvPr/>
        </p:nvSpPr>
        <p:spPr>
          <a:xfrm>
            <a:off x="694944" y="3588367"/>
            <a:ext cx="365760" cy="365760"/>
          </a:xfrm>
          <a:prstGeom prst="ellipse">
            <a:avLst/>
          </a:prstGeom>
          <a:solidFill>
            <a:srgbClr val="E8833A"/>
          </a:solidFill>
          <a:ln/>
        </p:spPr>
      </p:sp>
      <p:sp>
        <p:nvSpPr>
          <p:cNvPr id="25" name="Text 22"/>
          <p:cNvSpPr/>
          <p:nvPr/>
        </p:nvSpPr>
        <p:spPr>
          <a:xfrm>
            <a:off x="694944" y="3588367"/>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3"/>
          <p:cNvSpPr/>
          <p:nvPr/>
        </p:nvSpPr>
        <p:spPr>
          <a:xfrm>
            <a:off x="1188720" y="3576610"/>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Complication  </a:t>
            </a:r>
            <a:r>
              <a:rPr lang="en-US" sz="1150" dirty="0">
                <a:solidFill>
                  <a:srgbClr val="343A4E"/>
                </a:solidFill>
                <a:latin typeface="Arial" pitchFamily="34" charset="0"/>
                <a:ea typeface="Arial" pitchFamily="34" charset="-122"/>
                <a:cs typeface="Arial" pitchFamily="34" charset="-120"/>
              </a:rPr>
              <a:t>Name the problem: three regions lag and threaten the December target.</a:t>
            </a:r>
            <a:endParaRPr lang="en-US" sz="1300" dirty="0"/>
          </a:p>
        </p:txBody>
      </p:sp>
      <p:sp>
        <p:nvSpPr>
          <p:cNvPr id="27" name="Shape 24"/>
          <p:cNvSpPr/>
          <p:nvPr/>
        </p:nvSpPr>
        <p:spPr>
          <a:xfrm>
            <a:off x="548640" y="4093899"/>
            <a:ext cx="11094415" cy="389273"/>
          </a:xfrm>
          <a:prstGeom prst="roundRect">
            <a:avLst>
              <a:gd name="adj" fmla="val 16443"/>
            </a:avLst>
          </a:prstGeom>
          <a:solidFill>
            <a:srgbClr val="EFEBF6"/>
          </a:solidFill>
          <a:ln w="15240">
            <a:solidFill>
              <a:srgbClr val="6C4FA1"/>
            </a:solidFill>
            <a:prstDash val="solid"/>
          </a:ln>
        </p:spPr>
      </p:sp>
      <p:sp>
        <p:nvSpPr>
          <p:cNvPr id="28" name="Shape 25"/>
          <p:cNvSpPr/>
          <p:nvPr/>
        </p:nvSpPr>
        <p:spPr>
          <a:xfrm>
            <a:off x="694944" y="4105656"/>
            <a:ext cx="365760" cy="365760"/>
          </a:xfrm>
          <a:prstGeom prst="ellipse">
            <a:avLst/>
          </a:prstGeom>
          <a:solidFill>
            <a:srgbClr val="6C4FA1"/>
          </a:solidFill>
          <a:ln/>
        </p:spPr>
      </p:sp>
      <p:sp>
        <p:nvSpPr>
          <p:cNvPr id="29" name="Text 26"/>
          <p:cNvSpPr/>
          <p:nvPr/>
        </p:nvSpPr>
        <p:spPr>
          <a:xfrm>
            <a:off x="694944" y="4105656"/>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0" name="Text 27"/>
          <p:cNvSpPr/>
          <p:nvPr/>
        </p:nvSpPr>
        <p:spPr>
          <a:xfrm>
            <a:off x="1188720" y="4093899"/>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Evidence  </a:t>
            </a:r>
            <a:r>
              <a:rPr lang="en-US" sz="1150" dirty="0">
                <a:solidFill>
                  <a:srgbClr val="343A4E"/>
                </a:solidFill>
                <a:latin typeface="Arial" pitchFamily="34" charset="0"/>
                <a:ea typeface="Arial" pitchFamily="34" charset="-122"/>
                <a:cs typeface="Arial" pitchFamily="34" charset="-120"/>
              </a:rPr>
              <a:t>One chart, one message — the annotated laggard carries the argument.</a:t>
            </a:r>
            <a:endParaRPr lang="en-US" sz="1300" dirty="0"/>
          </a:p>
        </p:txBody>
      </p:sp>
      <p:sp>
        <p:nvSpPr>
          <p:cNvPr id="31" name="Shape 28"/>
          <p:cNvSpPr/>
          <p:nvPr/>
        </p:nvSpPr>
        <p:spPr>
          <a:xfrm>
            <a:off x="548640" y="4611189"/>
            <a:ext cx="11094415" cy="389273"/>
          </a:xfrm>
          <a:prstGeom prst="roundRect">
            <a:avLst>
              <a:gd name="adj" fmla="val 16443"/>
            </a:avLst>
          </a:prstGeom>
          <a:solidFill>
            <a:srgbClr val="E9F5EC"/>
          </a:solidFill>
          <a:ln w="15240">
            <a:solidFill>
              <a:srgbClr val="3FAE5A"/>
            </a:solidFill>
            <a:prstDash val="solid"/>
          </a:ln>
        </p:spPr>
      </p:sp>
      <p:sp>
        <p:nvSpPr>
          <p:cNvPr id="32" name="Shape 29"/>
          <p:cNvSpPr/>
          <p:nvPr/>
        </p:nvSpPr>
        <p:spPr>
          <a:xfrm>
            <a:off x="694944" y="4622945"/>
            <a:ext cx="365760" cy="365760"/>
          </a:xfrm>
          <a:prstGeom prst="ellipse">
            <a:avLst/>
          </a:prstGeom>
          <a:solidFill>
            <a:srgbClr val="3FAE5A"/>
          </a:solidFill>
          <a:ln/>
        </p:spPr>
      </p:sp>
      <p:sp>
        <p:nvSpPr>
          <p:cNvPr id="33" name="Text 30"/>
          <p:cNvSpPr/>
          <p:nvPr/>
        </p:nvSpPr>
        <p:spPr>
          <a:xfrm>
            <a:off x="694944" y="4622945"/>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4" name="Text 31"/>
          <p:cNvSpPr/>
          <p:nvPr/>
        </p:nvSpPr>
        <p:spPr>
          <a:xfrm>
            <a:off x="1188720" y="4611189"/>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Options  </a:t>
            </a:r>
            <a:r>
              <a:rPr lang="en-US" sz="1150" dirty="0">
                <a:solidFill>
                  <a:srgbClr val="343A4E"/>
                </a:solidFill>
                <a:latin typeface="Arial" pitchFamily="34" charset="0"/>
                <a:ea typeface="Arial" pitchFamily="34" charset="-122"/>
                <a:cs typeface="Arial" pitchFamily="34" charset="-120"/>
              </a:rPr>
              <a:t>Compare the three uses of the SAR 40 million on gap-close per riyal.</a:t>
            </a:r>
            <a:endParaRPr lang="en-US" sz="1300" dirty="0"/>
          </a:p>
        </p:txBody>
      </p:sp>
      <p:sp>
        <p:nvSpPr>
          <p:cNvPr id="35" name="Shape 32"/>
          <p:cNvSpPr/>
          <p:nvPr/>
        </p:nvSpPr>
        <p:spPr>
          <a:xfrm>
            <a:off x="548640" y="5128478"/>
            <a:ext cx="11094415" cy="389273"/>
          </a:xfrm>
          <a:prstGeom prst="roundRect">
            <a:avLst>
              <a:gd name="adj" fmla="val 16443"/>
            </a:avLst>
          </a:prstGeom>
          <a:solidFill>
            <a:srgbClr val="E7F5FC"/>
          </a:solidFill>
          <a:ln w="15240">
            <a:solidFill>
              <a:srgbClr val="29ABE2"/>
            </a:solidFill>
            <a:prstDash val="solid"/>
          </a:ln>
        </p:spPr>
      </p:sp>
      <p:sp>
        <p:nvSpPr>
          <p:cNvPr id="36" name="Shape 33"/>
          <p:cNvSpPr/>
          <p:nvPr/>
        </p:nvSpPr>
        <p:spPr>
          <a:xfrm>
            <a:off x="694944" y="5140234"/>
            <a:ext cx="365760" cy="365760"/>
          </a:xfrm>
          <a:prstGeom prst="ellipse">
            <a:avLst/>
          </a:prstGeom>
          <a:solidFill>
            <a:srgbClr val="29ABE2"/>
          </a:solidFill>
          <a:ln/>
        </p:spPr>
      </p:sp>
      <p:sp>
        <p:nvSpPr>
          <p:cNvPr id="37" name="Text 34"/>
          <p:cNvSpPr/>
          <p:nvPr/>
        </p:nvSpPr>
        <p:spPr>
          <a:xfrm>
            <a:off x="694944" y="5140234"/>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8" name="Text 35"/>
          <p:cNvSpPr/>
          <p:nvPr/>
        </p:nvSpPr>
        <p:spPr>
          <a:xfrm>
            <a:off x="1188720" y="5128478"/>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Recommendation  </a:t>
            </a:r>
            <a:r>
              <a:rPr lang="en-US" sz="1150" dirty="0">
                <a:solidFill>
                  <a:srgbClr val="343A4E"/>
                </a:solidFill>
                <a:latin typeface="Arial" pitchFamily="34" charset="0"/>
                <a:ea typeface="Arial" pitchFamily="34" charset="-122"/>
                <a:cs typeface="Arial" pitchFamily="34" charset="-120"/>
              </a:rPr>
              <a:t>The choice: direct the spend to the three lagging regions.</a:t>
            </a:r>
            <a:endParaRPr lang="en-US" sz="1300" dirty="0"/>
          </a:p>
        </p:txBody>
      </p:sp>
      <p:sp>
        <p:nvSpPr>
          <p:cNvPr id="39" name="Shape 36"/>
          <p:cNvSpPr/>
          <p:nvPr/>
        </p:nvSpPr>
        <p:spPr>
          <a:xfrm>
            <a:off x="548640" y="5645767"/>
            <a:ext cx="11094415" cy="389273"/>
          </a:xfrm>
          <a:prstGeom prst="roundRect">
            <a:avLst>
              <a:gd name="adj" fmla="val 16443"/>
            </a:avLst>
          </a:prstGeom>
          <a:solidFill>
            <a:srgbClr val="FBECEC"/>
          </a:solidFill>
          <a:ln w="15240">
            <a:solidFill>
              <a:srgbClr val="D9534F"/>
            </a:solidFill>
            <a:prstDash val="solid"/>
          </a:ln>
        </p:spPr>
      </p:sp>
      <p:sp>
        <p:nvSpPr>
          <p:cNvPr id="40" name="Shape 37"/>
          <p:cNvSpPr/>
          <p:nvPr/>
        </p:nvSpPr>
        <p:spPr>
          <a:xfrm>
            <a:off x="694944" y="5657523"/>
            <a:ext cx="365760" cy="365760"/>
          </a:xfrm>
          <a:prstGeom prst="ellipse">
            <a:avLst/>
          </a:prstGeom>
          <a:solidFill>
            <a:srgbClr val="D9534F"/>
          </a:solidFill>
          <a:ln/>
        </p:spPr>
      </p:sp>
      <p:sp>
        <p:nvSpPr>
          <p:cNvPr id="41" name="Text 38"/>
          <p:cNvSpPr/>
          <p:nvPr/>
        </p:nvSpPr>
        <p:spPr>
          <a:xfrm>
            <a:off x="694944" y="5657523"/>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2" name="Text 39"/>
          <p:cNvSpPr/>
          <p:nvPr/>
        </p:nvSpPr>
        <p:spPr>
          <a:xfrm>
            <a:off x="1188720" y="5645767"/>
            <a:ext cx="10271455" cy="389273"/>
          </a:xfrm>
          <a:prstGeom prst="rect">
            <a:avLst/>
          </a:prstGeom>
          <a:noFill/>
          <a:ln/>
        </p:spPr>
        <p:txBody>
          <a:bodyPr wrap="square" rtlCol="0" anchor="ctr"/>
          <a:lstStyle/>
          <a:p>
            <a:pPr marL="0" indent="0">
              <a:lnSpc>
                <a:spcPct val="100000"/>
              </a:lnSpc>
              <a:buNone/>
            </a:pPr>
            <a:r>
              <a:rPr lang="en-US" sz="1300" b="1" dirty="0">
                <a:solidFill>
                  <a:srgbClr val="1D2A5C"/>
                </a:solidFill>
                <a:latin typeface="Arial" pitchFamily="34" charset="0"/>
                <a:ea typeface="Arial" pitchFamily="34" charset="-122"/>
                <a:cs typeface="Arial" pitchFamily="34" charset="-120"/>
              </a:rPr>
              <a:t>Ask  </a:t>
            </a:r>
            <a:r>
              <a:rPr lang="en-US" sz="1150" dirty="0">
                <a:solidFill>
                  <a:srgbClr val="343A4E"/>
                </a:solidFill>
                <a:latin typeface="Arial" pitchFamily="34" charset="0"/>
                <a:ea typeface="Arial" pitchFamily="34" charset="-122"/>
                <a:cs typeface="Arial" pitchFamily="34" charset="-120"/>
              </a:rPr>
              <a:t>Say the ask again — approve the reallocation, with a 90-day checkpoint.</a:t>
            </a:r>
            <a:endParaRPr lang="en-US" sz="13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ASSESSMENT PACKAGE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two graded artefacts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171</a:t>
            </a:r>
            <a:endParaRPr lang="en-US" sz="800" dirty="0"/>
          </a:p>
        </p:txBody>
      </p:sp>
      <p:graphicFrame>
        <p:nvGraphicFramePr>
          <p:cNvPr id="143"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11064240" cy="1371600"/>
        </p:xfrm>
        <a:graphic>
          <a:graphicData uri="http://schemas.openxmlformats.org/drawingml/2006/table">
            <a:tbl>
              <a:tblPr/>
              <a:tblGrid>
                <a:gridCol w="32918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Graded artefact</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What it assesses</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When collected</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Dashboard project</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Interactive, self-service exploration of the Tayseer data (LO3)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End of Day 3, Hour 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Storytelling presentation</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Narrative and persuasive executive delivery (LO4, LO6)</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Live, Day 3 Hour 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bl>
          </a:graphicData>
        </a:graphic>
      </p:graphicFrame>
      <p:sp>
        <p:nvSpPr>
          <p:cNvPr id="15" name="Text 11"/>
          <p:cNvSpPr/>
          <p:nvPr/>
        </p:nvSpPr>
        <p:spPr>
          <a:xfrm>
            <a:off x="548640" y="3529584"/>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Collected at end of Hour 4 so the instructor can pre-load; rubric scoring happens live in Hour 5.</a:t>
            </a:r>
            <a:endParaRPr lang="en-US" sz="10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PRESENTATION RUBRIC</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Six criteria, scored each round</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172</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00" dirty="0">
                <a:solidFill>
                  <a:srgbClr val="343A4E"/>
                </a:solidFill>
                <a:latin typeface="Arial" pitchFamily="34" charset="0"/>
                <a:ea typeface="Arial" pitchFamily="34" charset="-122"/>
                <a:cs typeface="Arial" pitchFamily="34" charset="-120"/>
              </a:rPr>
              <a:t>Score delivery the same way each round so the delta is the learning signal — each criterion is scored 0–5.</a:t>
            </a:r>
            <a:endParaRPr lang="en-US" sz="1200" dirty="0"/>
          </a:p>
        </p:txBody>
      </p:sp>
      <p:graphicFrame>
        <p:nvGraphicFramePr>
          <p:cNvPr id="144"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11064240" cy="3493008"/>
        </p:xfrm>
        <a:graphic>
          <a:graphicData uri="http://schemas.openxmlformats.org/drawingml/2006/table">
            <a:tbl>
              <a:tblPr/>
              <a:tblGrid>
                <a:gridCol w="5577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20624">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Criterion (0–5)</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Round 1</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Round 2</a:t>
                      </a:r>
                      <a:endParaRPr lang="en-US" sz="110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1D2A5C"/>
                    </a:solidFill>
                  </a:tcPr>
                </a:tc>
                <a:extLst>
                  <a:ext uri="{0D108BD9-81ED-4DB2-BD59-A6C34878D82A}">
                    <a16:rowId xmlns:a16="http://schemas.microsoft.com/office/drawing/2014/main" val="10000"/>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Opening / BLUF</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One message per slide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Chart delivery</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Q&amp;A handling</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Time discipline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Presence</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r h="438912">
                <a:tc>
                  <a:txBody>
                    <a:bodyPr/>
                    <a:lstStyle/>
                    <a:p>
                      <a:pPr marL="0" indent="0" algn="l">
                        <a:buNone/>
                      </a:pPr>
                      <a:r>
                        <a:rPr lang="en-US" sz="1050" b="1" dirty="0">
                          <a:solidFill>
                            <a:srgbClr val="1D2A5C"/>
                          </a:solidFill>
                          <a:latin typeface="Arial" pitchFamily="34" charset="0"/>
                          <a:ea typeface="Arial" pitchFamily="34" charset="-122"/>
                          <a:cs typeface="Arial" pitchFamily="34" charset="-120"/>
                        </a:rPr>
                        <a:t>Total (%)</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50%</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43A4E"/>
                          </a:solidFill>
                          <a:latin typeface="Arial" pitchFamily="34" charset="0"/>
                          <a:ea typeface="Arial" pitchFamily="34" charset="-122"/>
                          <a:cs typeface="Arial" pitchFamily="34" charset="-120"/>
                        </a:rPr>
                        <a:t>87%</a:t>
                      </a:r>
                      <a:endParaRPr lang="en-US" sz="1050" dirty="0">
                        <a:latin typeface="Arial" charset="0"/>
                        <a:ea typeface="Arial" charset="0"/>
                        <a:cs typeface="Arial" charset="0"/>
                      </a:endParaRPr>
                    </a:p>
                  </a:txBody>
                  <a:tcPr marL="63500" marR="63500" marT="38100" marB="3810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6" name="Text 12"/>
          <p:cNvSpPr/>
          <p:nvPr/>
        </p:nvSpPr>
        <p:spPr>
          <a:xfrm>
            <a:off x="548640" y="6126480"/>
            <a:ext cx="11094415" cy="365760"/>
          </a:xfrm>
          <a:prstGeom prst="rect">
            <a:avLst/>
          </a:prstGeom>
          <a:noFill/>
          <a:ln/>
        </p:spPr>
        <p:txBody>
          <a:bodyPr wrap="square" rtlCol="0" anchor="t"/>
          <a:lstStyle/>
          <a:p>
            <a:pPr marL="0" indent="0">
              <a:buNone/>
            </a:pPr>
            <a:r>
              <a:rPr lang="en-US" sz="1050" i="1" dirty="0">
                <a:solidFill>
                  <a:srgbClr val="6B7280"/>
                </a:solidFill>
                <a:latin typeface="Arial" pitchFamily="34" charset="0"/>
                <a:ea typeface="Arial" pitchFamily="34" charset="-122"/>
                <a:cs typeface="Arial" pitchFamily="34" charset="-120"/>
              </a:rPr>
              <a:t>The delta is the grade — here +37 points, driven mostly by leading with the ask (2 → 5).</a:t>
            </a:r>
            <a:endParaRPr lang="en-US" sz="10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COURSE BENCHMARKS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Targets across the whole course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173</a:t>
            </a:r>
            <a:endParaRPr lang="en-US" sz="800" dirty="0"/>
          </a:p>
        </p:txBody>
      </p:sp>
      <p:sp>
        <p:nvSpPr>
          <p:cNvPr id="14" name="Shape 11"/>
          <p:cNvSpPr/>
          <p:nvPr/>
        </p:nvSpPr>
        <p:spPr>
          <a:xfrm>
            <a:off x="548640" y="2295144"/>
            <a:ext cx="1999427" cy="2286000"/>
          </a:xfrm>
          <a:prstGeom prst="roundRect">
            <a:avLst>
              <a:gd name="adj" fmla="val 4573"/>
            </a:avLst>
          </a:prstGeom>
          <a:solidFill>
            <a:srgbClr val="EAF0FA"/>
          </a:solidFill>
          <a:ln w="15240">
            <a:solidFill>
              <a:srgbClr val="2E5AAC"/>
            </a:solidFill>
            <a:prstDash val="solid"/>
          </a:ln>
        </p:spPr>
      </p:sp>
      <p:sp>
        <p:nvSpPr>
          <p:cNvPr id="15" name="Text 12"/>
          <p:cNvSpPr/>
          <p:nvPr/>
        </p:nvSpPr>
        <p:spPr>
          <a:xfrm>
            <a:off x="640080" y="2569464"/>
            <a:ext cx="1816547" cy="914400"/>
          </a:xfrm>
          <a:prstGeom prst="rect">
            <a:avLst/>
          </a:prstGeom>
          <a:noFill/>
          <a:ln/>
        </p:spPr>
        <p:txBody>
          <a:bodyPr wrap="square" rtlCol="0" anchor="ctr"/>
          <a:lstStyle/>
          <a:p>
            <a:pPr marL="0" indent="0" algn="ctr">
              <a:buNone/>
            </a:pPr>
            <a:r>
              <a:rPr lang="en-US" sz="4400" b="1" dirty="0">
                <a:solidFill>
                  <a:srgbClr val="2E5AAC"/>
                </a:solidFill>
                <a:latin typeface="Arial" pitchFamily="34" charset="0"/>
                <a:ea typeface="Arial" pitchFamily="34" charset="-122"/>
                <a:cs typeface="Arial" pitchFamily="34" charset="-120"/>
              </a:rPr>
              <a:t>&lt; 5 s</a:t>
            </a:r>
            <a:endParaRPr lang="en-US" sz="4400" dirty="0"/>
          </a:p>
        </p:txBody>
      </p:sp>
      <p:sp>
        <p:nvSpPr>
          <p:cNvPr id="16" name="Text 13"/>
          <p:cNvSpPr/>
          <p:nvPr/>
        </p:nvSpPr>
        <p:spPr>
          <a:xfrm>
            <a:off x="658368" y="3502152"/>
            <a:ext cx="1779971"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Rank laggard regions</a:t>
            </a:r>
            <a:endParaRPr lang="en-US" sz="1250" dirty="0"/>
          </a:p>
        </p:txBody>
      </p:sp>
      <p:sp>
        <p:nvSpPr>
          <p:cNvPr id="17" name="Text 14"/>
          <p:cNvSpPr/>
          <p:nvPr/>
        </p:nvSpPr>
        <p:spPr>
          <a:xfrm>
            <a:off x="676656" y="3867912"/>
            <a:ext cx="1743395"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Peer stopwatch test on the sorted-bar view (M1).</a:t>
            </a:r>
            <a:endParaRPr lang="en-US" sz="1000" dirty="0"/>
          </a:p>
        </p:txBody>
      </p:sp>
      <p:sp>
        <p:nvSpPr>
          <p:cNvPr id="18" name="Shape 15"/>
          <p:cNvSpPr/>
          <p:nvPr/>
        </p:nvSpPr>
        <p:spPr>
          <a:xfrm>
            <a:off x="2822387" y="2295144"/>
            <a:ext cx="1999427" cy="2286000"/>
          </a:xfrm>
          <a:prstGeom prst="roundRect">
            <a:avLst>
              <a:gd name="adj" fmla="val 4573"/>
            </a:avLst>
          </a:prstGeom>
          <a:solidFill>
            <a:srgbClr val="E6F5F4"/>
          </a:solidFill>
          <a:ln w="15240">
            <a:solidFill>
              <a:srgbClr val="00A79D"/>
            </a:solidFill>
            <a:prstDash val="solid"/>
          </a:ln>
        </p:spPr>
      </p:sp>
      <p:sp>
        <p:nvSpPr>
          <p:cNvPr id="19" name="Text 16"/>
          <p:cNvSpPr/>
          <p:nvPr/>
        </p:nvSpPr>
        <p:spPr>
          <a:xfrm>
            <a:off x="2913827" y="2569464"/>
            <a:ext cx="1816547" cy="914400"/>
          </a:xfrm>
          <a:prstGeom prst="rect">
            <a:avLst/>
          </a:prstGeom>
          <a:noFill/>
          <a:ln/>
        </p:spPr>
        <p:txBody>
          <a:bodyPr wrap="square" rtlCol="0" anchor="ctr"/>
          <a:lstStyle/>
          <a:p>
            <a:pPr marL="0" indent="0" algn="ctr">
              <a:buNone/>
            </a:pPr>
            <a:r>
              <a:rPr lang="en-US" sz="4400" b="1" dirty="0">
                <a:solidFill>
                  <a:srgbClr val="00A79D"/>
                </a:solidFill>
                <a:latin typeface="Arial" pitchFamily="34" charset="0"/>
                <a:ea typeface="Arial" pitchFamily="34" charset="-122"/>
                <a:cs typeface="Arial" pitchFamily="34" charset="-120"/>
              </a:rPr>
              <a:t>1.0</a:t>
            </a:r>
            <a:endParaRPr lang="en-US" sz="4400" dirty="0"/>
          </a:p>
        </p:txBody>
      </p:sp>
      <p:sp>
        <p:nvSpPr>
          <p:cNvPr id="20" name="Text 17"/>
          <p:cNvSpPr/>
          <p:nvPr/>
        </p:nvSpPr>
        <p:spPr>
          <a:xfrm>
            <a:off x="2932115" y="3502152"/>
            <a:ext cx="1779971"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Lie factor</a:t>
            </a:r>
            <a:endParaRPr lang="en-US" sz="1250" dirty="0"/>
          </a:p>
        </p:txBody>
      </p:sp>
      <p:sp>
        <p:nvSpPr>
          <p:cNvPr id="21" name="Text 18"/>
          <p:cNvSpPr/>
          <p:nvPr/>
        </p:nvSpPr>
        <p:spPr>
          <a:xfrm>
            <a:off x="2950403" y="3867912"/>
            <a:ext cx="1743395"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Visual effect equals data effect — no distortion (M1).</a:t>
            </a:r>
            <a:endParaRPr lang="en-US" sz="1000" dirty="0"/>
          </a:p>
        </p:txBody>
      </p:sp>
      <p:sp>
        <p:nvSpPr>
          <p:cNvPr id="22" name="Shape 19"/>
          <p:cNvSpPr/>
          <p:nvPr/>
        </p:nvSpPr>
        <p:spPr>
          <a:xfrm>
            <a:off x="5096134" y="2295144"/>
            <a:ext cx="1999427" cy="2286000"/>
          </a:xfrm>
          <a:prstGeom prst="roundRect">
            <a:avLst>
              <a:gd name="adj" fmla="val 4573"/>
            </a:avLst>
          </a:prstGeom>
          <a:solidFill>
            <a:srgbClr val="FCF0E6"/>
          </a:solidFill>
          <a:ln w="15240">
            <a:solidFill>
              <a:srgbClr val="E8833A"/>
            </a:solidFill>
            <a:prstDash val="solid"/>
          </a:ln>
        </p:spPr>
      </p:sp>
      <p:sp>
        <p:nvSpPr>
          <p:cNvPr id="23" name="Text 20"/>
          <p:cNvSpPr/>
          <p:nvPr/>
        </p:nvSpPr>
        <p:spPr>
          <a:xfrm>
            <a:off x="5187574" y="2569464"/>
            <a:ext cx="1816547" cy="914400"/>
          </a:xfrm>
          <a:prstGeom prst="rect">
            <a:avLst/>
          </a:prstGeom>
          <a:noFill/>
          <a:ln/>
        </p:spPr>
        <p:txBody>
          <a:bodyPr wrap="square" rtlCol="0" anchor="ctr"/>
          <a:lstStyle/>
          <a:p>
            <a:pPr marL="0" indent="0" algn="ctr">
              <a:buNone/>
            </a:pPr>
            <a:r>
              <a:rPr lang="en-US" sz="4400" b="1" dirty="0">
                <a:solidFill>
                  <a:srgbClr val="E8833A"/>
                </a:solidFill>
                <a:latin typeface="Arial" pitchFamily="34" charset="0"/>
                <a:ea typeface="Arial" pitchFamily="34" charset="-122"/>
                <a:cs typeface="Arial" pitchFamily="34" charset="-120"/>
              </a:rPr>
              <a:t>0</a:t>
            </a:r>
            <a:endParaRPr lang="en-US" sz="4400" dirty="0"/>
          </a:p>
        </p:txBody>
      </p:sp>
      <p:sp>
        <p:nvSpPr>
          <p:cNvPr id="24" name="Text 21"/>
          <p:cNvSpPr/>
          <p:nvPr/>
        </p:nvSpPr>
        <p:spPr>
          <a:xfrm>
            <a:off x="5205862" y="3502152"/>
            <a:ext cx="1779971"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Wasted channels</a:t>
            </a:r>
            <a:endParaRPr lang="en-US" sz="1250" dirty="0"/>
          </a:p>
        </p:txBody>
      </p:sp>
      <p:sp>
        <p:nvSpPr>
          <p:cNvPr id="25" name="Text 22"/>
          <p:cNvSpPr/>
          <p:nvPr/>
        </p:nvSpPr>
        <p:spPr>
          <a:xfrm>
            <a:off x="5224150" y="3867912"/>
            <a:ext cx="1743395"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No pre-attentive channel spent on chrome (M1/M3).</a:t>
            </a:r>
            <a:endParaRPr lang="en-US" sz="1000" dirty="0"/>
          </a:p>
        </p:txBody>
      </p:sp>
      <p:sp>
        <p:nvSpPr>
          <p:cNvPr id="26" name="Shape 23"/>
          <p:cNvSpPr/>
          <p:nvPr/>
        </p:nvSpPr>
        <p:spPr>
          <a:xfrm>
            <a:off x="7369881" y="2295144"/>
            <a:ext cx="1999427" cy="2286000"/>
          </a:xfrm>
          <a:prstGeom prst="roundRect">
            <a:avLst>
              <a:gd name="adj" fmla="val 4573"/>
            </a:avLst>
          </a:prstGeom>
          <a:solidFill>
            <a:srgbClr val="EFEBF6"/>
          </a:solidFill>
          <a:ln w="15240">
            <a:solidFill>
              <a:srgbClr val="6C4FA1"/>
            </a:solidFill>
            <a:prstDash val="solid"/>
          </a:ln>
        </p:spPr>
      </p:sp>
      <p:sp>
        <p:nvSpPr>
          <p:cNvPr id="27" name="Text 24"/>
          <p:cNvSpPr/>
          <p:nvPr/>
        </p:nvSpPr>
        <p:spPr>
          <a:xfrm>
            <a:off x="7461321" y="2569464"/>
            <a:ext cx="1816547" cy="914400"/>
          </a:xfrm>
          <a:prstGeom prst="rect">
            <a:avLst/>
          </a:prstGeom>
          <a:noFill/>
          <a:ln/>
        </p:spPr>
        <p:txBody>
          <a:bodyPr wrap="square" rtlCol="0" anchor="ctr"/>
          <a:lstStyle/>
          <a:p>
            <a:pPr marL="0" indent="0" algn="ctr">
              <a:buNone/>
            </a:pPr>
            <a:r>
              <a:rPr lang="en-US" sz="4400" b="1" dirty="0">
                <a:solidFill>
                  <a:srgbClr val="6C4FA1"/>
                </a:solidFill>
                <a:latin typeface="Arial" pitchFamily="34" charset="0"/>
                <a:ea typeface="Arial" pitchFamily="34" charset="-122"/>
                <a:cs typeface="Arial" pitchFamily="34" charset="-120"/>
              </a:rPr>
              <a:t>≤ 7</a:t>
            </a:r>
            <a:endParaRPr lang="en-US" sz="4400" dirty="0"/>
          </a:p>
        </p:txBody>
      </p:sp>
      <p:sp>
        <p:nvSpPr>
          <p:cNvPr id="28" name="Text 25"/>
          <p:cNvSpPr/>
          <p:nvPr/>
        </p:nvSpPr>
        <p:spPr>
          <a:xfrm>
            <a:off x="7479609" y="3502152"/>
            <a:ext cx="1779971"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Slides in the arc</a:t>
            </a:r>
            <a:endParaRPr lang="en-US" sz="1250" dirty="0"/>
          </a:p>
        </p:txBody>
      </p:sp>
      <p:sp>
        <p:nvSpPr>
          <p:cNvPr id="29" name="Text 26"/>
          <p:cNvSpPr/>
          <p:nvPr/>
        </p:nvSpPr>
        <p:spPr>
          <a:xfrm>
            <a:off x="7497897" y="3867912"/>
            <a:ext cx="1743395"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One Big Idea told in a seven-scene narrative (M5).</a:t>
            </a:r>
            <a:endParaRPr lang="en-US" sz="1000" dirty="0"/>
          </a:p>
        </p:txBody>
      </p:sp>
      <p:sp>
        <p:nvSpPr>
          <p:cNvPr id="30" name="Shape 27"/>
          <p:cNvSpPr/>
          <p:nvPr/>
        </p:nvSpPr>
        <p:spPr>
          <a:xfrm>
            <a:off x="9643628" y="2295144"/>
            <a:ext cx="1999427" cy="2286000"/>
          </a:xfrm>
          <a:prstGeom prst="roundRect">
            <a:avLst>
              <a:gd name="adj" fmla="val 4573"/>
            </a:avLst>
          </a:prstGeom>
          <a:solidFill>
            <a:srgbClr val="E9F5EC"/>
          </a:solidFill>
          <a:ln w="15240">
            <a:solidFill>
              <a:srgbClr val="3FAE5A"/>
            </a:solidFill>
            <a:prstDash val="solid"/>
          </a:ln>
        </p:spPr>
      </p:sp>
      <p:sp>
        <p:nvSpPr>
          <p:cNvPr id="31" name="Text 28"/>
          <p:cNvSpPr/>
          <p:nvPr/>
        </p:nvSpPr>
        <p:spPr>
          <a:xfrm>
            <a:off x="9735068" y="2569464"/>
            <a:ext cx="1816547" cy="914400"/>
          </a:xfrm>
          <a:prstGeom prst="rect">
            <a:avLst/>
          </a:prstGeom>
          <a:noFill/>
          <a:ln/>
        </p:spPr>
        <p:txBody>
          <a:bodyPr wrap="square" rtlCol="0" anchor="ctr"/>
          <a:lstStyle/>
          <a:p>
            <a:pPr marL="0" indent="0" algn="ctr">
              <a:buNone/>
            </a:pPr>
            <a:r>
              <a:rPr lang="en-US" sz="4400" b="1" dirty="0">
                <a:solidFill>
                  <a:srgbClr val="3FAE5A"/>
                </a:solidFill>
                <a:latin typeface="Arial" pitchFamily="34" charset="0"/>
                <a:ea typeface="Arial" pitchFamily="34" charset="-122"/>
                <a:cs typeface="Arial" pitchFamily="34" charset="-120"/>
              </a:rPr>
              <a:t>0:30</a:t>
            </a:r>
            <a:endParaRPr lang="en-US" sz="4400" dirty="0"/>
          </a:p>
        </p:txBody>
      </p:sp>
      <p:sp>
        <p:nvSpPr>
          <p:cNvPr id="32" name="Text 29"/>
          <p:cNvSpPr/>
          <p:nvPr/>
        </p:nvSpPr>
        <p:spPr>
          <a:xfrm>
            <a:off x="9753356" y="3502152"/>
            <a:ext cx="1779971" cy="365760"/>
          </a:xfrm>
          <a:prstGeom prst="rect">
            <a:avLst/>
          </a:prstGeom>
          <a:noFill/>
          <a:ln/>
        </p:spPr>
        <p:txBody>
          <a:bodyPr wrap="square" rtlCol="0" anchor="t"/>
          <a:lstStyle/>
          <a:p>
            <a:pPr marL="0" indent="0" algn="ctr">
              <a:buNone/>
            </a:pPr>
            <a:r>
              <a:rPr lang="en-US" sz="1250" b="1" dirty="0">
                <a:solidFill>
                  <a:srgbClr val="1D2A5C"/>
                </a:solidFill>
                <a:latin typeface="Arial" pitchFamily="34" charset="0"/>
                <a:ea typeface="Arial" pitchFamily="34" charset="-122"/>
                <a:cs typeface="Arial" pitchFamily="34" charset="-120"/>
              </a:rPr>
              <a:t>Ask lands by</a:t>
            </a:r>
            <a:endParaRPr lang="en-US" sz="1250" dirty="0"/>
          </a:p>
        </p:txBody>
      </p:sp>
      <p:sp>
        <p:nvSpPr>
          <p:cNvPr id="33" name="Text 30"/>
          <p:cNvSpPr/>
          <p:nvPr/>
        </p:nvSpPr>
        <p:spPr>
          <a:xfrm>
            <a:off x="9771644" y="3867912"/>
            <a:ext cx="1743395" cy="640080"/>
          </a:xfrm>
          <a:prstGeom prst="rect">
            <a:avLst/>
          </a:prstGeom>
          <a:noFill/>
          <a:ln/>
        </p:spPr>
        <p:txBody>
          <a:bodyPr wrap="square" rtlCol="0" anchor="t"/>
          <a:lstStyle/>
          <a:p>
            <a:pPr marL="0" indent="0" algn="ctr">
              <a:lnSpc>
                <a:spcPct val="98000"/>
              </a:lnSpc>
              <a:buNone/>
            </a:pPr>
            <a:r>
              <a:rPr lang="en-US" sz="1000" dirty="0">
                <a:solidFill>
                  <a:srgbClr val="6B7280"/>
                </a:solidFill>
                <a:latin typeface="Arial" pitchFamily="34" charset="0"/>
                <a:ea typeface="Arial" pitchFamily="34" charset="-122"/>
                <a:cs typeface="Arial" pitchFamily="34" charset="-120"/>
              </a:rPr>
              <a:t>Recommendation stated in the first thirty seconds (M6).</a:t>
            </a:r>
            <a:endParaRPr lang="en-US" sz="1000" dirty="0"/>
          </a:p>
        </p:txBody>
      </p:sp>
      <p:sp>
        <p:nvSpPr>
          <p:cNvPr id="34" name="Text 31"/>
          <p:cNvSpPr/>
          <p:nvPr/>
        </p:nvSpPr>
        <p:spPr>
          <a:xfrm>
            <a:off x="548640" y="4709160"/>
            <a:ext cx="11094415" cy="365760"/>
          </a:xfrm>
          <a:prstGeom prst="rect">
            <a:avLst/>
          </a:prstGeom>
          <a:noFill/>
          <a:ln/>
        </p:spPr>
        <p:txBody>
          <a:bodyPr wrap="square" rtlCol="0" anchor="ctr"/>
          <a:lstStyle/>
          <a:p>
            <a:pPr marL="0" indent="0" algn="ctr">
              <a:buNone/>
            </a:pPr>
            <a:r>
              <a:rPr lang="en-US" sz="1100" i="1" dirty="0">
                <a:solidFill>
                  <a:srgbClr val="6B7280"/>
                </a:solidFill>
                <a:latin typeface="Arial" pitchFamily="34" charset="0"/>
                <a:ea typeface="Arial" pitchFamily="34" charset="-122"/>
                <a:cs typeface="Arial" pitchFamily="34" charset="-120"/>
              </a:rPr>
              <a:t>Each benchmark is measurable — run the stopwatch and the timer in the room, do not just assert them.</a:t>
            </a:r>
            <a:endParaRPr lang="en-US" sz="11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INSTRUCTOR DELIVERY GUIDE</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Running Day 3 and the labs well</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174</a:t>
            </a:r>
            <a:endParaRPr lang="en-US" sz="800" dirty="0"/>
          </a:p>
        </p:txBody>
      </p:sp>
      <p:sp>
        <p:nvSpPr>
          <p:cNvPr id="14" name="Shape 11"/>
          <p:cNvSpPr/>
          <p:nvPr/>
        </p:nvSpPr>
        <p:spPr>
          <a:xfrm>
            <a:off x="548640" y="2066544"/>
            <a:ext cx="3515258" cy="1865376"/>
          </a:xfrm>
          <a:prstGeom prst="roundRect">
            <a:avLst>
              <a:gd name="adj" fmla="val 3922"/>
            </a:avLst>
          </a:prstGeom>
          <a:solidFill>
            <a:srgbClr val="FFFFFF"/>
          </a:solidFill>
          <a:ln w="12700">
            <a:solidFill>
              <a:srgbClr val="D9DEE8"/>
            </a:solidFill>
            <a:prstDash val="solid"/>
          </a:ln>
        </p:spPr>
      </p:sp>
      <p:sp>
        <p:nvSpPr>
          <p:cNvPr id="15" name="Shape 12"/>
          <p:cNvSpPr/>
          <p:nvPr/>
        </p:nvSpPr>
        <p:spPr>
          <a:xfrm>
            <a:off x="548640" y="2066544"/>
            <a:ext cx="3515258" cy="82296"/>
          </a:xfrm>
          <a:prstGeom prst="rect">
            <a:avLst/>
          </a:prstGeom>
          <a:solidFill>
            <a:srgbClr val="2E5AAC"/>
          </a:solidFill>
          <a:ln/>
        </p:spPr>
      </p:sp>
      <p:sp>
        <p:nvSpPr>
          <p:cNvPr id="16" name="Text 13"/>
          <p:cNvSpPr/>
          <p:nvPr/>
        </p:nvSpPr>
        <p:spPr>
          <a:xfrm>
            <a:off x="731520" y="224942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Pace control</a:t>
            </a:r>
            <a:endParaRPr lang="en-US" sz="1300" dirty="0"/>
          </a:p>
        </p:txBody>
      </p:sp>
      <p:sp>
        <p:nvSpPr>
          <p:cNvPr id="17" name="Text 14"/>
          <p:cNvSpPr/>
          <p:nvPr/>
        </p:nvSpPr>
        <p:spPr>
          <a:xfrm>
            <a:off x="731520" y="2615184"/>
            <a:ext cx="314949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Lab 3 and Lab 4b overrun most — publish starter notebooks and .pbix/.twbx files so stragglers catch up.</a:t>
            </a:r>
            <a:endParaRPr lang="en-US" sz="1050" dirty="0"/>
          </a:p>
        </p:txBody>
      </p:sp>
      <p:sp>
        <p:nvSpPr>
          <p:cNvPr id="18" name="Shape 15"/>
          <p:cNvSpPr/>
          <p:nvPr/>
        </p:nvSpPr>
        <p:spPr>
          <a:xfrm>
            <a:off x="4338218" y="2066544"/>
            <a:ext cx="3515258" cy="1865376"/>
          </a:xfrm>
          <a:prstGeom prst="roundRect">
            <a:avLst>
              <a:gd name="adj" fmla="val 3922"/>
            </a:avLst>
          </a:prstGeom>
          <a:solidFill>
            <a:srgbClr val="FFFFFF"/>
          </a:solidFill>
          <a:ln w="12700">
            <a:solidFill>
              <a:srgbClr val="D9DEE8"/>
            </a:solidFill>
            <a:prstDash val="solid"/>
          </a:ln>
        </p:spPr>
      </p:sp>
      <p:sp>
        <p:nvSpPr>
          <p:cNvPr id="19" name="Shape 16"/>
          <p:cNvSpPr/>
          <p:nvPr/>
        </p:nvSpPr>
        <p:spPr>
          <a:xfrm>
            <a:off x="4338218" y="2066544"/>
            <a:ext cx="3515258" cy="82296"/>
          </a:xfrm>
          <a:prstGeom prst="rect">
            <a:avLst/>
          </a:prstGeom>
          <a:solidFill>
            <a:srgbClr val="00A79D"/>
          </a:solidFill>
          <a:ln/>
        </p:spPr>
      </p:sp>
      <p:sp>
        <p:nvSpPr>
          <p:cNvPr id="20" name="Text 17"/>
          <p:cNvSpPr/>
          <p:nvPr/>
        </p:nvSpPr>
        <p:spPr>
          <a:xfrm>
            <a:off x="4521098" y="224942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Rotate pairs</a:t>
            </a:r>
            <a:endParaRPr lang="en-US" sz="1300" dirty="0"/>
          </a:p>
        </p:txBody>
      </p:sp>
      <p:sp>
        <p:nvSpPr>
          <p:cNvPr id="21" name="Text 18"/>
          <p:cNvSpPr/>
          <p:nvPr/>
        </p:nvSpPr>
        <p:spPr>
          <a:xfrm>
            <a:off x="4521098" y="2615184"/>
            <a:ext cx="314949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Re-pair each day; put a strong coder with a strong design sense so the craft transfers both ways.</a:t>
            </a:r>
            <a:endParaRPr lang="en-US" sz="1050" dirty="0"/>
          </a:p>
        </p:txBody>
      </p:sp>
      <p:sp>
        <p:nvSpPr>
          <p:cNvPr id="22" name="Shape 19"/>
          <p:cNvSpPr/>
          <p:nvPr/>
        </p:nvSpPr>
        <p:spPr>
          <a:xfrm>
            <a:off x="8127797" y="2066544"/>
            <a:ext cx="3515258" cy="1865376"/>
          </a:xfrm>
          <a:prstGeom prst="roundRect">
            <a:avLst>
              <a:gd name="adj" fmla="val 3922"/>
            </a:avLst>
          </a:prstGeom>
          <a:solidFill>
            <a:srgbClr val="FFFFFF"/>
          </a:solidFill>
          <a:ln w="12700">
            <a:solidFill>
              <a:srgbClr val="D9DEE8"/>
            </a:solidFill>
            <a:prstDash val="solid"/>
          </a:ln>
        </p:spPr>
      </p:sp>
      <p:sp>
        <p:nvSpPr>
          <p:cNvPr id="23" name="Shape 20"/>
          <p:cNvSpPr/>
          <p:nvPr/>
        </p:nvSpPr>
        <p:spPr>
          <a:xfrm>
            <a:off x="8127797" y="2066544"/>
            <a:ext cx="3515258" cy="82296"/>
          </a:xfrm>
          <a:prstGeom prst="rect">
            <a:avLst/>
          </a:prstGeom>
          <a:solidFill>
            <a:srgbClr val="E8833A"/>
          </a:solidFill>
          <a:ln/>
        </p:spPr>
      </p:sp>
      <p:sp>
        <p:nvSpPr>
          <p:cNvPr id="24" name="Text 21"/>
          <p:cNvSpPr/>
          <p:nvPr/>
        </p:nvSpPr>
        <p:spPr>
          <a:xfrm>
            <a:off x="8310677" y="224942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Environment</a:t>
            </a:r>
            <a:endParaRPr lang="en-US" sz="1300" dirty="0"/>
          </a:p>
        </p:txBody>
      </p:sp>
      <p:sp>
        <p:nvSpPr>
          <p:cNvPr id="25" name="Text 22"/>
          <p:cNvSpPr/>
          <p:nvPr/>
        </p:nvSpPr>
        <p:spPr>
          <a:xfrm>
            <a:off x="8310677" y="2615184"/>
            <a:ext cx="314949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Primary: local Jupyter + Plotly + a BI tool. Fallback: Colab and Tableau Public. Verify both beforehand.</a:t>
            </a:r>
            <a:endParaRPr lang="en-US" sz="1050" dirty="0"/>
          </a:p>
        </p:txBody>
      </p:sp>
      <p:sp>
        <p:nvSpPr>
          <p:cNvPr id="26" name="Shape 23"/>
          <p:cNvSpPr/>
          <p:nvPr/>
        </p:nvSpPr>
        <p:spPr>
          <a:xfrm>
            <a:off x="548640" y="4169664"/>
            <a:ext cx="3515258" cy="1865376"/>
          </a:xfrm>
          <a:prstGeom prst="roundRect">
            <a:avLst>
              <a:gd name="adj" fmla="val 3922"/>
            </a:avLst>
          </a:prstGeom>
          <a:solidFill>
            <a:srgbClr val="FFFFFF"/>
          </a:solidFill>
          <a:ln w="12700">
            <a:solidFill>
              <a:srgbClr val="D9DEE8"/>
            </a:solidFill>
            <a:prstDash val="solid"/>
          </a:ln>
        </p:spPr>
      </p:sp>
      <p:sp>
        <p:nvSpPr>
          <p:cNvPr id="27" name="Shape 24"/>
          <p:cNvSpPr/>
          <p:nvPr/>
        </p:nvSpPr>
        <p:spPr>
          <a:xfrm>
            <a:off x="548640" y="4169664"/>
            <a:ext cx="3515258" cy="82296"/>
          </a:xfrm>
          <a:prstGeom prst="rect">
            <a:avLst/>
          </a:prstGeom>
          <a:solidFill>
            <a:srgbClr val="6C4FA1"/>
          </a:solidFill>
          <a:ln/>
        </p:spPr>
      </p:sp>
      <p:sp>
        <p:nvSpPr>
          <p:cNvPr id="28" name="Text 25"/>
          <p:cNvSpPr/>
          <p:nvPr/>
        </p:nvSpPr>
        <p:spPr>
          <a:xfrm>
            <a:off x="731520" y="435254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Language &amp; RTL</a:t>
            </a:r>
            <a:endParaRPr lang="en-US" sz="1300" dirty="0"/>
          </a:p>
        </p:txBody>
      </p:sp>
      <p:sp>
        <p:nvSpPr>
          <p:cNvPr id="29" name="Text 26"/>
          <p:cNvSpPr/>
          <p:nvPr/>
        </p:nvSpPr>
        <p:spPr>
          <a:xfrm>
            <a:off x="731520" y="4718304"/>
            <a:ext cx="314949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Deliver in English or Arabic; keep code in English; teach right-to-left axis ordering for Arabic charts.</a:t>
            </a:r>
            <a:endParaRPr lang="en-US" sz="1050" dirty="0"/>
          </a:p>
        </p:txBody>
      </p:sp>
      <p:sp>
        <p:nvSpPr>
          <p:cNvPr id="30" name="Shape 27"/>
          <p:cNvSpPr/>
          <p:nvPr/>
        </p:nvSpPr>
        <p:spPr>
          <a:xfrm>
            <a:off x="4338218" y="4169664"/>
            <a:ext cx="3515258" cy="1865376"/>
          </a:xfrm>
          <a:prstGeom prst="roundRect">
            <a:avLst>
              <a:gd name="adj" fmla="val 3922"/>
            </a:avLst>
          </a:prstGeom>
          <a:solidFill>
            <a:srgbClr val="FFFFFF"/>
          </a:solidFill>
          <a:ln w="12700">
            <a:solidFill>
              <a:srgbClr val="D9DEE8"/>
            </a:solidFill>
            <a:prstDash val="solid"/>
          </a:ln>
        </p:spPr>
      </p:sp>
      <p:sp>
        <p:nvSpPr>
          <p:cNvPr id="31" name="Shape 28"/>
          <p:cNvSpPr/>
          <p:nvPr/>
        </p:nvSpPr>
        <p:spPr>
          <a:xfrm>
            <a:off x="4338218" y="4169664"/>
            <a:ext cx="3515258" cy="82296"/>
          </a:xfrm>
          <a:prstGeom prst="rect">
            <a:avLst/>
          </a:prstGeom>
          <a:solidFill>
            <a:srgbClr val="3FAE5A"/>
          </a:solidFill>
          <a:ln/>
        </p:spPr>
      </p:sp>
      <p:sp>
        <p:nvSpPr>
          <p:cNvPr id="32" name="Text 29"/>
          <p:cNvSpPr/>
          <p:nvPr/>
        </p:nvSpPr>
        <p:spPr>
          <a:xfrm>
            <a:off x="4521098" y="435254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Prayer &amp; breaks</a:t>
            </a:r>
            <a:endParaRPr lang="en-US" sz="1300" dirty="0"/>
          </a:p>
        </p:txBody>
      </p:sp>
      <p:sp>
        <p:nvSpPr>
          <p:cNvPr id="33" name="Text 30"/>
          <p:cNvSpPr/>
          <p:nvPr/>
        </p:nvSpPr>
        <p:spPr>
          <a:xfrm>
            <a:off x="4521098" y="4718304"/>
            <a:ext cx="314949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Each hour is 50 min instruction + 10 min buffer; schedule the long break around Dhuhr.</a:t>
            </a:r>
            <a:endParaRPr lang="en-US" sz="1050" dirty="0"/>
          </a:p>
        </p:txBody>
      </p:sp>
      <p:sp>
        <p:nvSpPr>
          <p:cNvPr id="34" name="Shape 31"/>
          <p:cNvSpPr/>
          <p:nvPr/>
        </p:nvSpPr>
        <p:spPr>
          <a:xfrm>
            <a:off x="8127797" y="4169664"/>
            <a:ext cx="3515258" cy="1865376"/>
          </a:xfrm>
          <a:prstGeom prst="roundRect">
            <a:avLst>
              <a:gd name="adj" fmla="val 3922"/>
            </a:avLst>
          </a:prstGeom>
          <a:solidFill>
            <a:srgbClr val="FFFFFF"/>
          </a:solidFill>
          <a:ln w="12700">
            <a:solidFill>
              <a:srgbClr val="D9DEE8"/>
            </a:solidFill>
            <a:prstDash val="solid"/>
          </a:ln>
        </p:spPr>
      </p:sp>
      <p:sp>
        <p:nvSpPr>
          <p:cNvPr id="35" name="Shape 32"/>
          <p:cNvSpPr/>
          <p:nvPr/>
        </p:nvSpPr>
        <p:spPr>
          <a:xfrm>
            <a:off x="8127797" y="4169664"/>
            <a:ext cx="3515258" cy="82296"/>
          </a:xfrm>
          <a:prstGeom prst="rect">
            <a:avLst/>
          </a:prstGeom>
          <a:solidFill>
            <a:srgbClr val="29ABE2"/>
          </a:solidFill>
          <a:ln/>
        </p:spPr>
      </p:sp>
      <p:sp>
        <p:nvSpPr>
          <p:cNvPr id="36" name="Text 33"/>
          <p:cNvSpPr/>
          <p:nvPr/>
        </p:nvSpPr>
        <p:spPr>
          <a:xfrm>
            <a:off x="8310677" y="4352544"/>
            <a:ext cx="3149498" cy="365760"/>
          </a:xfrm>
          <a:prstGeom prst="rect">
            <a:avLst/>
          </a:prstGeom>
          <a:noFill/>
          <a:ln/>
        </p:spPr>
        <p:txBody>
          <a:bodyPr wrap="square" rtlCol="0" anchor="t"/>
          <a:lstStyle/>
          <a:p>
            <a:pPr marL="0" indent="0">
              <a:buNone/>
            </a:pPr>
            <a:r>
              <a:rPr lang="en-US" sz="1300" b="1" dirty="0">
                <a:solidFill>
                  <a:srgbClr val="1D2A5C"/>
                </a:solidFill>
                <a:latin typeface="Arial" pitchFamily="34" charset="0"/>
                <a:ea typeface="Arial" pitchFamily="34" charset="-122"/>
                <a:cs typeface="Arial" pitchFamily="34" charset="-120"/>
              </a:rPr>
              <a:t>Assessment logistics</a:t>
            </a:r>
            <a:endParaRPr lang="en-US" sz="1300" dirty="0"/>
          </a:p>
        </p:txBody>
      </p:sp>
      <p:sp>
        <p:nvSpPr>
          <p:cNvPr id="37" name="Text 34"/>
          <p:cNvSpPr/>
          <p:nvPr/>
        </p:nvSpPr>
        <p:spPr>
          <a:xfrm>
            <a:off x="8310677" y="4718304"/>
            <a:ext cx="3149498" cy="1207008"/>
          </a:xfrm>
          <a:prstGeom prst="rect">
            <a:avLst/>
          </a:prstGeom>
          <a:noFill/>
          <a:ln/>
        </p:spPr>
        <p:txBody>
          <a:bodyPr wrap="square" rtlCol="0" anchor="t"/>
          <a:lstStyle/>
          <a:p>
            <a:pPr marL="0" indent="0">
              <a:lnSpc>
                <a:spcPct val="100000"/>
              </a:lnSpc>
              <a:buNone/>
            </a:pPr>
            <a:r>
              <a:rPr lang="en-US" sz="1050" dirty="0">
                <a:solidFill>
                  <a:srgbClr val="343A4E"/>
                </a:solidFill>
                <a:latin typeface="Arial" pitchFamily="34" charset="0"/>
                <a:ea typeface="Arial" pitchFamily="34" charset="-122"/>
                <a:cs typeface="Arial" pitchFamily="34" charset="-120"/>
              </a:rPr>
              <a:t>Collect dashboards and decks at end of Hour 4 to pre-load; score live in Hour 5; record with consent.</a:t>
            </a:r>
            <a:endParaRPr lang="en-US" sz="10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ENVIRONMENT &amp; TOOLING</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Three paths, and when to use each</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175</a:t>
            </a:r>
            <a:endParaRPr lang="en-US" sz="800" dirty="0"/>
          </a:p>
        </p:txBody>
      </p:sp>
      <p:sp>
        <p:nvSpPr>
          <p:cNvPr id="14" name="Text 11"/>
          <p:cNvSpPr/>
          <p:nvPr/>
        </p:nvSpPr>
        <p:spPr>
          <a:xfrm>
            <a:off x="548640" y="1975104"/>
            <a:ext cx="11094415" cy="457200"/>
          </a:xfrm>
          <a:prstGeom prst="rect">
            <a:avLst/>
          </a:prstGeom>
          <a:noFill/>
          <a:ln/>
        </p:spPr>
        <p:txBody>
          <a:bodyPr wrap="square" rtlCol="0" anchor="t"/>
          <a:lstStyle/>
          <a:p>
            <a:pPr marL="0" indent="0">
              <a:buNone/>
            </a:pPr>
            <a:r>
              <a:rPr lang="en-US" sz="1250" dirty="0">
                <a:solidFill>
                  <a:srgbClr val="343A4E"/>
                </a:solidFill>
                <a:latin typeface="Arial" pitchFamily="34" charset="0"/>
                <a:ea typeface="Arial" pitchFamily="34" charset="-122"/>
                <a:cs typeface="Arial" pitchFamily="34" charset="-120"/>
              </a:rPr>
              <a:t>Verify licences and both the primary and fallback paths the week before delivery.</a:t>
            </a:r>
            <a:endParaRPr lang="en-US" sz="1250" dirty="0"/>
          </a:p>
        </p:txBody>
      </p:sp>
      <p:sp>
        <p:nvSpPr>
          <p:cNvPr id="15" name="Shape 12"/>
          <p:cNvSpPr/>
          <p:nvPr/>
        </p:nvSpPr>
        <p:spPr>
          <a:xfrm>
            <a:off x="548640" y="2569464"/>
            <a:ext cx="3490874" cy="3465576"/>
          </a:xfrm>
          <a:prstGeom prst="roundRect">
            <a:avLst>
              <a:gd name="adj" fmla="val 2639"/>
            </a:avLst>
          </a:prstGeom>
          <a:solidFill>
            <a:srgbClr val="FFFFFF"/>
          </a:solidFill>
          <a:ln w="17780">
            <a:solidFill>
              <a:srgbClr val="2E5AAC"/>
            </a:solidFill>
            <a:prstDash val="solid"/>
          </a:ln>
        </p:spPr>
      </p:sp>
      <p:sp>
        <p:nvSpPr>
          <p:cNvPr id="16" name="Shape 13"/>
          <p:cNvSpPr/>
          <p:nvPr/>
        </p:nvSpPr>
        <p:spPr>
          <a:xfrm>
            <a:off x="548640" y="2569464"/>
            <a:ext cx="3490874" cy="566928"/>
          </a:xfrm>
          <a:prstGeom prst="roundRect">
            <a:avLst>
              <a:gd name="adj" fmla="val 16129"/>
            </a:avLst>
          </a:prstGeom>
          <a:solidFill>
            <a:srgbClr val="2E5AAC"/>
          </a:solidFill>
          <a:ln/>
        </p:spPr>
      </p:sp>
      <p:sp>
        <p:nvSpPr>
          <p:cNvPr id="17" name="Shape 14"/>
          <p:cNvSpPr/>
          <p:nvPr/>
        </p:nvSpPr>
        <p:spPr>
          <a:xfrm>
            <a:off x="548640" y="2852928"/>
            <a:ext cx="3490874" cy="283464"/>
          </a:xfrm>
          <a:prstGeom prst="rect">
            <a:avLst/>
          </a:prstGeom>
          <a:solidFill>
            <a:srgbClr val="2E5AAC"/>
          </a:solidFill>
          <a:ln/>
        </p:spPr>
      </p:sp>
      <p:sp>
        <p:nvSpPr>
          <p:cNvPr id="18" name="Text 15"/>
          <p:cNvSpPr/>
          <p:nvPr/>
        </p:nvSpPr>
        <p:spPr>
          <a:xfrm>
            <a:off x="640080" y="2569464"/>
            <a:ext cx="3307994"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Plotly + Jupyter</a:t>
            </a:r>
            <a:endParaRPr lang="en-US" sz="1400" dirty="0"/>
          </a:p>
        </p:txBody>
      </p:sp>
      <p:sp>
        <p:nvSpPr>
          <p:cNvPr id="19" name="Text 16"/>
          <p:cNvSpPr/>
          <p:nvPr/>
        </p:nvSpPr>
        <p:spPr>
          <a:xfrm>
            <a:off x="749808" y="3300984"/>
            <a:ext cx="3106826"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Strength </a:t>
            </a:r>
            <a:r>
              <a:rPr lang="en-US" sz="1100" dirty="0">
                <a:solidFill>
                  <a:srgbClr val="343A4E"/>
                </a:solidFill>
                <a:latin typeface="Arial" pitchFamily="34" charset="0"/>
                <a:ea typeface="Arial" pitchFamily="34" charset="-122"/>
                <a:cs typeface="Arial" pitchFamily="34" charset="-120"/>
              </a:rPr>
              <a:t>Python interactive charting; the primary lab tool across every module.</a:t>
            </a:r>
            <a:endParaRPr lang="en-US" sz="1100" dirty="0"/>
          </a:p>
        </p:txBody>
      </p:sp>
      <p:sp>
        <p:nvSpPr>
          <p:cNvPr id="20" name="Text 17"/>
          <p:cNvSpPr/>
          <p:nvPr/>
        </p:nvSpPr>
        <p:spPr>
          <a:xfrm>
            <a:off x="749808" y="3977640"/>
            <a:ext cx="3106826"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Use when </a:t>
            </a:r>
            <a:r>
              <a:rPr lang="en-US" sz="1100" dirty="0">
                <a:solidFill>
                  <a:srgbClr val="343A4E"/>
                </a:solidFill>
                <a:latin typeface="Arial" pitchFamily="34" charset="0"/>
                <a:ea typeface="Arial" pitchFamily="34" charset="-122"/>
                <a:cs typeface="Arial" pitchFamily="34" charset="-120"/>
              </a:rPr>
              <a:t>Building and iterating the Tayseer views in code.</a:t>
            </a:r>
            <a:endParaRPr lang="en-US" sz="1100" dirty="0"/>
          </a:p>
        </p:txBody>
      </p:sp>
      <p:sp>
        <p:nvSpPr>
          <p:cNvPr id="21" name="Text 18"/>
          <p:cNvSpPr/>
          <p:nvPr/>
        </p:nvSpPr>
        <p:spPr>
          <a:xfrm>
            <a:off x="749808" y="4453128"/>
            <a:ext cx="3106826" cy="640080"/>
          </a:xfrm>
          <a:prstGeom prst="rect">
            <a:avLst/>
          </a:prstGeom>
          <a:noFill/>
          <a:ln/>
        </p:spPr>
        <p:txBody>
          <a:bodyPr wrap="square" rtlCol="0" anchor="t"/>
          <a:lstStyle/>
          <a:p>
            <a:pPr marL="0" indent="0">
              <a:lnSpc>
                <a:spcPct val="100000"/>
              </a:lnSpc>
              <a:buNone/>
            </a:pPr>
            <a:r>
              <a:rPr lang="en-US" sz="1100" b="1" dirty="0">
                <a:solidFill>
                  <a:srgbClr val="2E5AAC"/>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Fallback </a:t>
            </a:r>
            <a:r>
              <a:rPr lang="en-US" sz="1100" dirty="0">
                <a:solidFill>
                  <a:srgbClr val="343A4E"/>
                </a:solidFill>
                <a:latin typeface="Arial" pitchFamily="34" charset="0"/>
                <a:ea typeface="Arial" pitchFamily="34" charset="-122"/>
                <a:cs typeface="Arial" pitchFamily="34" charset="-120"/>
              </a:rPr>
              <a:t>Google Colab runs the same notebooks in the browser.</a:t>
            </a:r>
            <a:endParaRPr lang="en-US" sz="1100" dirty="0"/>
          </a:p>
        </p:txBody>
      </p:sp>
      <p:sp>
        <p:nvSpPr>
          <p:cNvPr id="22" name="Shape 19"/>
          <p:cNvSpPr/>
          <p:nvPr/>
        </p:nvSpPr>
        <p:spPr>
          <a:xfrm>
            <a:off x="4350410" y="2569464"/>
            <a:ext cx="3490874" cy="3465576"/>
          </a:xfrm>
          <a:prstGeom prst="roundRect">
            <a:avLst>
              <a:gd name="adj" fmla="val 2639"/>
            </a:avLst>
          </a:prstGeom>
          <a:solidFill>
            <a:srgbClr val="FFFFFF"/>
          </a:solidFill>
          <a:ln w="17780">
            <a:solidFill>
              <a:srgbClr val="00A79D"/>
            </a:solidFill>
            <a:prstDash val="solid"/>
          </a:ln>
        </p:spPr>
      </p:sp>
      <p:sp>
        <p:nvSpPr>
          <p:cNvPr id="23" name="Shape 20"/>
          <p:cNvSpPr/>
          <p:nvPr/>
        </p:nvSpPr>
        <p:spPr>
          <a:xfrm>
            <a:off x="4350410" y="2569464"/>
            <a:ext cx="3490874" cy="566928"/>
          </a:xfrm>
          <a:prstGeom prst="roundRect">
            <a:avLst>
              <a:gd name="adj" fmla="val 16129"/>
            </a:avLst>
          </a:prstGeom>
          <a:solidFill>
            <a:srgbClr val="00A79D"/>
          </a:solidFill>
          <a:ln/>
        </p:spPr>
      </p:sp>
      <p:sp>
        <p:nvSpPr>
          <p:cNvPr id="24" name="Shape 21"/>
          <p:cNvSpPr/>
          <p:nvPr/>
        </p:nvSpPr>
        <p:spPr>
          <a:xfrm>
            <a:off x="4350410" y="2852928"/>
            <a:ext cx="3490874" cy="283464"/>
          </a:xfrm>
          <a:prstGeom prst="rect">
            <a:avLst/>
          </a:prstGeom>
          <a:solidFill>
            <a:srgbClr val="00A79D"/>
          </a:solidFill>
          <a:ln/>
        </p:spPr>
      </p:sp>
      <p:sp>
        <p:nvSpPr>
          <p:cNvPr id="25" name="Text 22"/>
          <p:cNvSpPr/>
          <p:nvPr/>
        </p:nvSpPr>
        <p:spPr>
          <a:xfrm>
            <a:off x="4441850" y="2569464"/>
            <a:ext cx="3307994"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Power BI</a:t>
            </a:r>
            <a:endParaRPr lang="en-US" sz="1400" dirty="0"/>
          </a:p>
        </p:txBody>
      </p:sp>
      <p:sp>
        <p:nvSpPr>
          <p:cNvPr id="26" name="Text 23"/>
          <p:cNvSpPr/>
          <p:nvPr/>
        </p:nvSpPr>
        <p:spPr>
          <a:xfrm>
            <a:off x="4551578" y="3300984"/>
            <a:ext cx="3106826"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Strength </a:t>
            </a:r>
            <a:r>
              <a:rPr lang="en-US" sz="1100" dirty="0">
                <a:solidFill>
                  <a:srgbClr val="343A4E"/>
                </a:solidFill>
                <a:latin typeface="Arial" pitchFamily="34" charset="0"/>
                <a:ea typeface="Arial" pitchFamily="34" charset="-122"/>
                <a:cs typeface="Arial" pitchFamily="34" charset="-120"/>
              </a:rPr>
              <a:t>Self-service BI dashboards with drill-down and cross-filtering.</a:t>
            </a:r>
            <a:endParaRPr lang="en-US" sz="1100" dirty="0"/>
          </a:p>
        </p:txBody>
      </p:sp>
      <p:sp>
        <p:nvSpPr>
          <p:cNvPr id="27" name="Text 24"/>
          <p:cNvSpPr/>
          <p:nvPr/>
        </p:nvSpPr>
        <p:spPr>
          <a:xfrm>
            <a:off x="4551578" y="3977640"/>
            <a:ext cx="3106826"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Use when </a:t>
            </a:r>
            <a:r>
              <a:rPr lang="en-US" sz="1100" dirty="0">
                <a:solidFill>
                  <a:srgbClr val="343A4E"/>
                </a:solidFill>
                <a:latin typeface="Arial" pitchFamily="34" charset="0"/>
                <a:ea typeface="Arial" pitchFamily="34" charset="-122"/>
                <a:cs typeface="Arial" pitchFamily="34" charset="-120"/>
              </a:rPr>
              <a:t>On Windows, for the interactive dashboard labs (M4).</a:t>
            </a:r>
            <a:endParaRPr lang="en-US" sz="1100" dirty="0"/>
          </a:p>
        </p:txBody>
      </p:sp>
      <p:sp>
        <p:nvSpPr>
          <p:cNvPr id="28" name="Text 25"/>
          <p:cNvSpPr/>
          <p:nvPr/>
        </p:nvSpPr>
        <p:spPr>
          <a:xfrm>
            <a:off x="4551578" y="4453128"/>
            <a:ext cx="3106826" cy="640080"/>
          </a:xfrm>
          <a:prstGeom prst="rect">
            <a:avLst/>
          </a:prstGeom>
          <a:noFill/>
          <a:ln/>
        </p:spPr>
        <p:txBody>
          <a:bodyPr wrap="square" rtlCol="0" anchor="t"/>
          <a:lstStyle/>
          <a:p>
            <a:pPr marL="0" indent="0">
              <a:lnSpc>
                <a:spcPct val="100000"/>
              </a:lnSpc>
              <a:buNone/>
            </a:pPr>
            <a:r>
              <a:rPr lang="en-US" sz="1100" b="1" dirty="0">
                <a:solidFill>
                  <a:srgbClr val="00A79D"/>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Note </a:t>
            </a:r>
            <a:r>
              <a:rPr lang="en-US" sz="1100" dirty="0">
                <a:solidFill>
                  <a:srgbClr val="343A4E"/>
                </a:solidFill>
                <a:latin typeface="Arial" pitchFamily="34" charset="0"/>
                <a:ea typeface="Arial" pitchFamily="34" charset="-122"/>
                <a:cs typeface="Arial" pitchFamily="34" charset="-120"/>
              </a:rPr>
              <a:t>Verify licences the week before delivery.</a:t>
            </a:r>
            <a:endParaRPr lang="en-US" sz="1100" dirty="0"/>
          </a:p>
        </p:txBody>
      </p:sp>
      <p:sp>
        <p:nvSpPr>
          <p:cNvPr id="29" name="Shape 26"/>
          <p:cNvSpPr/>
          <p:nvPr/>
        </p:nvSpPr>
        <p:spPr>
          <a:xfrm>
            <a:off x="8152181" y="2569464"/>
            <a:ext cx="3490874" cy="3465576"/>
          </a:xfrm>
          <a:prstGeom prst="roundRect">
            <a:avLst>
              <a:gd name="adj" fmla="val 2639"/>
            </a:avLst>
          </a:prstGeom>
          <a:solidFill>
            <a:srgbClr val="FFFFFF"/>
          </a:solidFill>
          <a:ln w="17780">
            <a:solidFill>
              <a:srgbClr val="E8833A"/>
            </a:solidFill>
            <a:prstDash val="solid"/>
          </a:ln>
        </p:spPr>
      </p:sp>
      <p:sp>
        <p:nvSpPr>
          <p:cNvPr id="30" name="Shape 27"/>
          <p:cNvSpPr/>
          <p:nvPr/>
        </p:nvSpPr>
        <p:spPr>
          <a:xfrm>
            <a:off x="8152181" y="2569464"/>
            <a:ext cx="3490874" cy="566928"/>
          </a:xfrm>
          <a:prstGeom prst="roundRect">
            <a:avLst>
              <a:gd name="adj" fmla="val 16129"/>
            </a:avLst>
          </a:prstGeom>
          <a:solidFill>
            <a:srgbClr val="E8833A"/>
          </a:solidFill>
          <a:ln/>
        </p:spPr>
      </p:sp>
      <p:sp>
        <p:nvSpPr>
          <p:cNvPr id="31" name="Shape 28"/>
          <p:cNvSpPr/>
          <p:nvPr/>
        </p:nvSpPr>
        <p:spPr>
          <a:xfrm>
            <a:off x="8152181" y="2852928"/>
            <a:ext cx="3490874" cy="283464"/>
          </a:xfrm>
          <a:prstGeom prst="rect">
            <a:avLst/>
          </a:prstGeom>
          <a:solidFill>
            <a:srgbClr val="E8833A"/>
          </a:solidFill>
          <a:ln/>
        </p:spPr>
      </p:sp>
      <p:sp>
        <p:nvSpPr>
          <p:cNvPr id="32" name="Text 29"/>
          <p:cNvSpPr/>
          <p:nvPr/>
        </p:nvSpPr>
        <p:spPr>
          <a:xfrm>
            <a:off x="8243621" y="2569464"/>
            <a:ext cx="3307994" cy="566928"/>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Tableau Public</a:t>
            </a:r>
            <a:endParaRPr lang="en-US" sz="1400" dirty="0"/>
          </a:p>
        </p:txBody>
      </p:sp>
      <p:sp>
        <p:nvSpPr>
          <p:cNvPr id="33" name="Text 30"/>
          <p:cNvSpPr/>
          <p:nvPr/>
        </p:nvSpPr>
        <p:spPr>
          <a:xfrm>
            <a:off x="8353349" y="3300984"/>
            <a:ext cx="3106826" cy="640080"/>
          </a:xfrm>
          <a:prstGeom prst="rect">
            <a:avLst/>
          </a:prstGeom>
          <a:noFill/>
          <a:ln/>
        </p:spPr>
        <p:txBody>
          <a:bodyPr wrap="square" rtlCol="0" anchor="t"/>
          <a:lstStyle/>
          <a:p>
            <a:pPr marL="0" indent="0">
              <a:lnSpc>
                <a:spcPct val="100000"/>
              </a:lnSpc>
              <a:buNone/>
            </a:pPr>
            <a:r>
              <a:rPr lang="en-US" sz="1100" b="1" dirty="0">
                <a:solidFill>
                  <a:srgbClr val="E8833A"/>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Strength </a:t>
            </a:r>
            <a:r>
              <a:rPr lang="en-US" sz="1100" dirty="0">
                <a:solidFill>
                  <a:srgbClr val="343A4E"/>
                </a:solidFill>
                <a:latin typeface="Arial" pitchFamily="34" charset="0"/>
                <a:ea typeface="Arial" pitchFamily="34" charset="-122"/>
                <a:cs typeface="Arial" pitchFamily="34" charset="-120"/>
              </a:rPr>
              <a:t>Cross-platform, browser-based BI with no licence needed.</a:t>
            </a:r>
            <a:endParaRPr lang="en-US" sz="1100" dirty="0"/>
          </a:p>
        </p:txBody>
      </p:sp>
      <p:sp>
        <p:nvSpPr>
          <p:cNvPr id="34" name="Text 31"/>
          <p:cNvSpPr/>
          <p:nvPr/>
        </p:nvSpPr>
        <p:spPr>
          <a:xfrm>
            <a:off x="8353349" y="3977640"/>
            <a:ext cx="3106826" cy="640080"/>
          </a:xfrm>
          <a:prstGeom prst="rect">
            <a:avLst/>
          </a:prstGeom>
          <a:noFill/>
          <a:ln/>
        </p:spPr>
        <p:txBody>
          <a:bodyPr wrap="square" rtlCol="0" anchor="t"/>
          <a:lstStyle/>
          <a:p>
            <a:pPr marL="0" indent="0">
              <a:lnSpc>
                <a:spcPct val="100000"/>
              </a:lnSpc>
              <a:buNone/>
            </a:pPr>
            <a:r>
              <a:rPr lang="en-US" sz="1100" b="1" dirty="0">
                <a:solidFill>
                  <a:srgbClr val="E8833A"/>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Use when </a:t>
            </a:r>
            <a:r>
              <a:rPr lang="en-US" sz="1100" dirty="0">
                <a:solidFill>
                  <a:srgbClr val="343A4E"/>
                </a:solidFill>
                <a:latin typeface="Arial" pitchFamily="34" charset="0"/>
                <a:ea typeface="Arial" pitchFamily="34" charset="-122"/>
                <a:cs typeface="Arial" pitchFamily="34" charset="-120"/>
              </a:rPr>
              <a:t>The fallback path for the BI labs on any OS.</a:t>
            </a:r>
            <a:endParaRPr lang="en-US" sz="1100" dirty="0"/>
          </a:p>
        </p:txBody>
      </p:sp>
      <p:sp>
        <p:nvSpPr>
          <p:cNvPr id="35" name="Text 32"/>
          <p:cNvSpPr/>
          <p:nvPr/>
        </p:nvSpPr>
        <p:spPr>
          <a:xfrm>
            <a:off x="8353349" y="4453128"/>
            <a:ext cx="3106826" cy="640080"/>
          </a:xfrm>
          <a:prstGeom prst="rect">
            <a:avLst/>
          </a:prstGeom>
          <a:noFill/>
          <a:ln/>
        </p:spPr>
        <p:txBody>
          <a:bodyPr wrap="square" rtlCol="0" anchor="t"/>
          <a:lstStyle/>
          <a:p>
            <a:pPr marL="0" indent="0">
              <a:lnSpc>
                <a:spcPct val="100000"/>
              </a:lnSpc>
              <a:buNone/>
            </a:pPr>
            <a:r>
              <a:rPr lang="en-US" sz="1100" b="1" dirty="0">
                <a:solidFill>
                  <a:srgbClr val="E8833A"/>
                </a:solidFill>
                <a:latin typeface="Arial" pitchFamily="34" charset="0"/>
                <a:ea typeface="Arial" pitchFamily="34" charset="-122"/>
                <a:cs typeface="Arial" pitchFamily="34" charset="-120"/>
              </a:rPr>
              <a:t>▸  </a:t>
            </a:r>
            <a:r>
              <a:rPr lang="en-US" sz="1100" b="1" dirty="0">
                <a:solidFill>
                  <a:srgbClr val="1D2A5C"/>
                </a:solidFill>
                <a:latin typeface="Arial" pitchFamily="34" charset="0"/>
                <a:ea typeface="Arial" pitchFamily="34" charset="-122"/>
                <a:cs typeface="Arial" pitchFamily="34" charset="-120"/>
              </a:rPr>
              <a:t>Note </a:t>
            </a:r>
            <a:r>
              <a:rPr lang="en-US" sz="1100" dirty="0">
                <a:solidFill>
                  <a:srgbClr val="343A4E"/>
                </a:solidFill>
                <a:latin typeface="Arial" pitchFamily="34" charset="0"/>
                <a:ea typeface="Arial" pitchFamily="34" charset="-122"/>
                <a:cs typeface="Arial" pitchFamily="34" charset="-120"/>
              </a:rPr>
              <a:t>Public saves publicly — mind data sensitivity.</a:t>
            </a:r>
            <a:endParaRPr lang="en-US" sz="11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PATH FORWARD</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Where this course leads</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178</a:t>
            </a:r>
            <a:endParaRPr lang="en-US" sz="800" dirty="0"/>
          </a:p>
        </p:txBody>
      </p:sp>
      <p:sp>
        <p:nvSpPr>
          <p:cNvPr id="14" name="Shape 11"/>
          <p:cNvSpPr/>
          <p:nvPr/>
        </p:nvSpPr>
        <p:spPr>
          <a:xfrm>
            <a:off x="548640" y="2295144"/>
            <a:ext cx="3490874" cy="2926080"/>
          </a:xfrm>
          <a:prstGeom prst="roundRect">
            <a:avLst>
              <a:gd name="adj" fmla="val 3125"/>
            </a:avLst>
          </a:prstGeom>
          <a:solidFill>
            <a:srgbClr val="EAF0FA"/>
          </a:solidFill>
          <a:ln w="15875">
            <a:solidFill>
              <a:srgbClr val="2E5AAC"/>
            </a:solidFill>
            <a:prstDash val="solid"/>
          </a:ln>
        </p:spPr>
      </p:sp>
      <p:sp>
        <p:nvSpPr>
          <p:cNvPr id="15" name="Shape 12"/>
          <p:cNvSpPr/>
          <p:nvPr/>
        </p:nvSpPr>
        <p:spPr>
          <a:xfrm>
            <a:off x="2038045" y="2496312"/>
            <a:ext cx="512064" cy="512064"/>
          </a:xfrm>
          <a:prstGeom prst="ellipse">
            <a:avLst/>
          </a:prstGeom>
          <a:solidFill>
            <a:srgbClr val="2E5AAC"/>
          </a:solidFill>
          <a:ln/>
        </p:spPr>
      </p:sp>
      <p:sp>
        <p:nvSpPr>
          <p:cNvPr id="16" name="Text 13"/>
          <p:cNvSpPr/>
          <p:nvPr/>
        </p:nvSpPr>
        <p:spPr>
          <a:xfrm>
            <a:off x="2038045" y="249631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7" name="Text 14"/>
          <p:cNvSpPr/>
          <p:nvPr/>
        </p:nvSpPr>
        <p:spPr>
          <a:xfrm>
            <a:off x="658368" y="3136392"/>
            <a:ext cx="3271418"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Communication badge</a:t>
            </a:r>
            <a:endParaRPr lang="en-US" sz="1300" dirty="0"/>
          </a:p>
        </p:txBody>
      </p:sp>
      <p:sp>
        <p:nvSpPr>
          <p:cNvPr id="18" name="Text 15"/>
          <p:cNvSpPr/>
          <p:nvPr/>
        </p:nvSpPr>
        <p:spPr>
          <a:xfrm>
            <a:off x="676656" y="3666744"/>
            <a:ext cx="3234842"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Completing SDA-DSC-112 earns the communication badge for the track.</a:t>
            </a:r>
            <a:endParaRPr lang="en-US" sz="1050" dirty="0"/>
          </a:p>
        </p:txBody>
      </p:sp>
      <p:sp>
        <p:nvSpPr>
          <p:cNvPr id="19" name="Text 16"/>
          <p:cNvSpPr/>
          <p:nvPr/>
        </p:nvSpPr>
        <p:spPr>
          <a:xfrm>
            <a:off x="4057802" y="343814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0" name="Shape 17"/>
          <p:cNvSpPr/>
          <p:nvPr/>
        </p:nvSpPr>
        <p:spPr>
          <a:xfrm>
            <a:off x="4350410" y="2295144"/>
            <a:ext cx="3490874" cy="2926080"/>
          </a:xfrm>
          <a:prstGeom prst="roundRect">
            <a:avLst>
              <a:gd name="adj" fmla="val 3125"/>
            </a:avLst>
          </a:prstGeom>
          <a:solidFill>
            <a:srgbClr val="E6F5F4"/>
          </a:solidFill>
          <a:ln w="15875">
            <a:solidFill>
              <a:srgbClr val="00A79D"/>
            </a:solidFill>
            <a:prstDash val="solid"/>
          </a:ln>
        </p:spPr>
      </p:sp>
      <p:sp>
        <p:nvSpPr>
          <p:cNvPr id="21" name="Shape 18"/>
          <p:cNvSpPr/>
          <p:nvPr/>
        </p:nvSpPr>
        <p:spPr>
          <a:xfrm>
            <a:off x="5839816" y="2496312"/>
            <a:ext cx="512064" cy="512064"/>
          </a:xfrm>
          <a:prstGeom prst="ellipse">
            <a:avLst/>
          </a:prstGeom>
          <a:solidFill>
            <a:srgbClr val="00A79D"/>
          </a:solidFill>
          <a:ln/>
        </p:spPr>
      </p:sp>
      <p:sp>
        <p:nvSpPr>
          <p:cNvPr id="22" name="Text 19"/>
          <p:cNvSpPr/>
          <p:nvPr/>
        </p:nvSpPr>
        <p:spPr>
          <a:xfrm>
            <a:off x="5839816" y="249631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3" name="Text 20"/>
          <p:cNvSpPr/>
          <p:nvPr/>
        </p:nvSpPr>
        <p:spPr>
          <a:xfrm>
            <a:off x="4460138" y="3136392"/>
            <a:ext cx="3271418"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Practitioner certificate</a:t>
            </a:r>
            <a:endParaRPr lang="en-US" sz="1300" dirty="0"/>
          </a:p>
        </p:txBody>
      </p:sp>
      <p:sp>
        <p:nvSpPr>
          <p:cNvPr id="24" name="Text 21"/>
          <p:cNvSpPr/>
          <p:nvPr/>
        </p:nvSpPr>
        <p:spPr>
          <a:xfrm>
            <a:off x="4478426" y="3666744"/>
            <a:ext cx="3234842"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This course is required for the Data Scientist Practitioner certificate.</a:t>
            </a:r>
            <a:endParaRPr lang="en-US" sz="1050" dirty="0"/>
          </a:p>
        </p:txBody>
      </p:sp>
      <p:sp>
        <p:nvSpPr>
          <p:cNvPr id="25" name="Text 22"/>
          <p:cNvSpPr/>
          <p:nvPr/>
        </p:nvSpPr>
        <p:spPr>
          <a:xfrm>
            <a:off x="7859573" y="3438144"/>
            <a:ext cx="310896" cy="640080"/>
          </a:xfrm>
          <a:prstGeom prst="rect">
            <a:avLst/>
          </a:prstGeom>
          <a:noFill/>
          <a:ln/>
        </p:spPr>
        <p:txBody>
          <a:bodyPr wrap="square" rtlCol="0" anchor="ctr"/>
          <a:lstStyle/>
          <a:p>
            <a:pPr marL="0" indent="0" algn="ctr">
              <a:buNone/>
            </a:pPr>
            <a:r>
              <a:rPr lang="en-US" sz="2600" b="1" dirty="0">
                <a:solidFill>
                  <a:srgbClr val="9AA3B2"/>
                </a:solidFill>
                <a:latin typeface="Arial" pitchFamily="34" charset="0"/>
                <a:ea typeface="Arial" pitchFamily="34" charset="-122"/>
                <a:cs typeface="Arial" pitchFamily="34" charset="-120"/>
              </a:rPr>
              <a:t>›</a:t>
            </a:r>
            <a:endParaRPr lang="en-US" sz="2600" dirty="0"/>
          </a:p>
        </p:txBody>
      </p:sp>
      <p:sp>
        <p:nvSpPr>
          <p:cNvPr id="26" name="Shape 23"/>
          <p:cNvSpPr/>
          <p:nvPr/>
        </p:nvSpPr>
        <p:spPr>
          <a:xfrm>
            <a:off x="8152181" y="2295144"/>
            <a:ext cx="3490874" cy="2926080"/>
          </a:xfrm>
          <a:prstGeom prst="roundRect">
            <a:avLst>
              <a:gd name="adj" fmla="val 3125"/>
            </a:avLst>
          </a:prstGeom>
          <a:solidFill>
            <a:srgbClr val="FCF0E6"/>
          </a:solidFill>
          <a:ln w="15875">
            <a:solidFill>
              <a:srgbClr val="E8833A"/>
            </a:solidFill>
            <a:prstDash val="solid"/>
          </a:ln>
        </p:spPr>
      </p:sp>
      <p:sp>
        <p:nvSpPr>
          <p:cNvPr id="27" name="Shape 24"/>
          <p:cNvSpPr/>
          <p:nvPr/>
        </p:nvSpPr>
        <p:spPr>
          <a:xfrm>
            <a:off x="9641586" y="2496312"/>
            <a:ext cx="512064" cy="512064"/>
          </a:xfrm>
          <a:prstGeom prst="ellipse">
            <a:avLst/>
          </a:prstGeom>
          <a:solidFill>
            <a:srgbClr val="E8833A"/>
          </a:solidFill>
          <a:ln/>
        </p:spPr>
      </p:sp>
      <p:sp>
        <p:nvSpPr>
          <p:cNvPr id="28" name="Text 25"/>
          <p:cNvSpPr/>
          <p:nvPr/>
        </p:nvSpPr>
        <p:spPr>
          <a:xfrm>
            <a:off x="9641586" y="2496312"/>
            <a:ext cx="512064" cy="512064"/>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9" name="Text 26"/>
          <p:cNvSpPr/>
          <p:nvPr/>
        </p:nvSpPr>
        <p:spPr>
          <a:xfrm>
            <a:off x="8261909" y="3136392"/>
            <a:ext cx="3271418" cy="548640"/>
          </a:xfrm>
          <a:prstGeom prst="rect">
            <a:avLst/>
          </a:prstGeom>
          <a:noFill/>
          <a:ln/>
        </p:spPr>
        <p:txBody>
          <a:bodyPr wrap="square" rtlCol="0" anchor="t"/>
          <a:lstStyle/>
          <a:p>
            <a:pPr marL="0" indent="0" algn="ctr">
              <a:buNone/>
            </a:pPr>
            <a:r>
              <a:rPr lang="en-US" sz="1300" b="1" dirty="0">
                <a:solidFill>
                  <a:srgbClr val="1D2A5C"/>
                </a:solidFill>
                <a:latin typeface="Arial" pitchFamily="34" charset="0"/>
                <a:ea typeface="Arial" pitchFamily="34" charset="-122"/>
                <a:cs typeface="Arial" pitchFamily="34" charset="-120"/>
              </a:rPr>
              <a:t>Next: SDA-DSC-211</a:t>
            </a:r>
            <a:endParaRPr lang="en-US" sz="1300" dirty="0"/>
          </a:p>
        </p:txBody>
      </p:sp>
      <p:sp>
        <p:nvSpPr>
          <p:cNvPr id="30" name="Text 27"/>
          <p:cNvSpPr/>
          <p:nvPr/>
        </p:nvSpPr>
        <p:spPr>
          <a:xfrm>
            <a:off x="8280197" y="3666744"/>
            <a:ext cx="3234842" cy="1463040"/>
          </a:xfrm>
          <a:prstGeom prst="rect">
            <a:avLst/>
          </a:prstGeom>
          <a:noFill/>
          <a:ln/>
        </p:spPr>
        <p:txBody>
          <a:bodyPr wrap="square" rtlCol="0" anchor="t"/>
          <a:lstStyle/>
          <a:p>
            <a:pPr marL="0" indent="0" algn="ctr">
              <a:lnSpc>
                <a:spcPct val="100000"/>
              </a:lnSpc>
              <a:buNone/>
            </a:pPr>
            <a:r>
              <a:rPr lang="en-US" sz="1050" dirty="0">
                <a:solidFill>
                  <a:srgbClr val="343A4E"/>
                </a:solidFill>
                <a:latin typeface="Arial" pitchFamily="34" charset="0"/>
                <a:ea typeface="Arial" pitchFamily="34" charset="-122"/>
                <a:cs typeface="Arial" pitchFamily="34" charset="-120"/>
              </a:rPr>
              <a:t>Continue to the next course in the Data Scientist track.</a:t>
            </a:r>
            <a:endParaRPr lang="en-US" sz="1050" dirty="0"/>
          </a:p>
        </p:txBody>
      </p:sp>
      <p:sp>
        <p:nvSpPr>
          <p:cNvPr id="31" name="Text 28"/>
          <p:cNvSpPr/>
          <p:nvPr/>
        </p:nvSpPr>
        <p:spPr>
          <a:xfrm>
            <a:off x="548640" y="5330952"/>
            <a:ext cx="11094415" cy="365760"/>
          </a:xfrm>
          <a:prstGeom prst="rect">
            <a:avLst/>
          </a:prstGeom>
          <a:noFill/>
          <a:ln/>
        </p:spPr>
        <p:txBody>
          <a:bodyPr wrap="square" rtlCol="0" anchor="t"/>
          <a:lstStyle/>
          <a:p>
            <a:pPr marL="0" indent="0" algn="l">
              <a:buNone/>
            </a:pPr>
            <a:r>
              <a:rPr lang="en-US" sz="1100" i="1" dirty="0">
                <a:solidFill>
                  <a:srgbClr val="6B7280"/>
                </a:solidFill>
                <a:latin typeface="Arial" pitchFamily="34" charset="0"/>
                <a:ea typeface="Arial" pitchFamily="34" charset="-122"/>
                <a:cs typeface="Arial" pitchFamily="34" charset="-120"/>
              </a:rPr>
              <a:t>The skills built here — perception to delivery — carry directly into the next course.</a:t>
            </a:r>
            <a:endParaRPr lang="en-US" sz="11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
            <a:ext cx="155448" cy="274320"/>
          </a:xfrm>
          <a:prstGeom prst="triangle">
            <a:avLst/>
          </a:prstGeom>
          <a:solidFill>
            <a:srgbClr val="2E5AAC"/>
          </a:solidFill>
          <a:ln/>
        </p:spPr>
      </p:sp>
      <p:sp>
        <p:nvSpPr>
          <p:cNvPr id="3" name="Shape 1"/>
          <p:cNvSpPr/>
          <p:nvPr/>
        </p:nvSpPr>
        <p:spPr>
          <a:xfrm rot="10800000">
            <a:off x="672084" y="310896"/>
            <a:ext cx="155448" cy="274320"/>
          </a:xfrm>
          <a:prstGeom prst="triangle">
            <a:avLst/>
          </a:prstGeom>
          <a:solidFill>
            <a:srgbClr val="00A79D"/>
          </a:solidFill>
          <a:ln/>
        </p:spPr>
      </p:sp>
      <p:sp>
        <p:nvSpPr>
          <p:cNvPr id="4" name="Shape 2"/>
          <p:cNvSpPr/>
          <p:nvPr/>
        </p:nvSpPr>
        <p:spPr>
          <a:xfrm>
            <a:off x="795528" y="310896"/>
            <a:ext cx="155448" cy="274320"/>
          </a:xfrm>
          <a:prstGeom prst="triangle">
            <a:avLst/>
          </a:prstGeom>
          <a:solidFill>
            <a:srgbClr val="E8833A"/>
          </a:solidFill>
          <a:ln/>
        </p:spPr>
      </p:sp>
      <p:sp>
        <p:nvSpPr>
          <p:cNvPr id="5" name="Shape 3"/>
          <p:cNvSpPr/>
          <p:nvPr/>
        </p:nvSpPr>
        <p:spPr>
          <a:xfrm rot="10800000">
            <a:off x="918972" y="310896"/>
            <a:ext cx="155448" cy="274320"/>
          </a:xfrm>
          <a:prstGeom prst="triangle">
            <a:avLst/>
          </a:prstGeom>
          <a:solidFill>
            <a:srgbClr val="6C4FA1"/>
          </a:solidFill>
          <a:ln/>
        </p:spPr>
      </p:sp>
      <p:sp>
        <p:nvSpPr>
          <p:cNvPr id="6" name="Shape 4"/>
          <p:cNvSpPr/>
          <p:nvPr/>
        </p:nvSpPr>
        <p:spPr>
          <a:xfrm>
            <a:off x="1042416" y="310896"/>
            <a:ext cx="155448" cy="274320"/>
          </a:xfrm>
          <a:prstGeom prst="triangle">
            <a:avLst/>
          </a:prstGeom>
          <a:solidFill>
            <a:srgbClr val="3FAE5A"/>
          </a:solidFill>
          <a:ln/>
        </p:spPr>
      </p:sp>
      <p:pic>
        <p:nvPicPr>
          <p:cNvPr id="7"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8" name="Text 5"/>
          <p:cNvSpPr/>
          <p:nvPr/>
        </p:nvSpPr>
        <p:spPr>
          <a:xfrm>
            <a:off x="548640" y="841248"/>
            <a:ext cx="8778240" cy="274320"/>
          </a:xfrm>
          <a:prstGeom prst="rect">
            <a:avLst/>
          </a:prstGeom>
          <a:noFill/>
          <a:ln/>
        </p:spPr>
        <p:txBody>
          <a:bodyPr wrap="square" rtlCol="0" anchor="ctr"/>
          <a:lstStyle/>
          <a:p>
            <a:pPr marL="0" indent="0" algn="l">
              <a:buNone/>
            </a:pPr>
            <a:r>
              <a:rPr lang="en-US" sz="1100" b="1" kern="0" spc="200" dirty="0">
                <a:solidFill>
                  <a:srgbClr val="00A79D"/>
                </a:solidFill>
                <a:latin typeface="Arial" pitchFamily="34" charset="0"/>
                <a:ea typeface="Arial" pitchFamily="34" charset="-122"/>
                <a:cs typeface="Arial" pitchFamily="34" charset="-120"/>
              </a:rPr>
              <a:t>KEY TAKEAWAYS</a:t>
            </a:r>
            <a:endParaRPr lang="en-US" sz="1100" dirty="0"/>
          </a:p>
        </p:txBody>
      </p:sp>
      <p:sp>
        <p:nvSpPr>
          <p:cNvPr id="9" name="Text 6"/>
          <p:cNvSpPr/>
          <p:nvPr/>
        </p:nvSpPr>
        <p:spPr>
          <a:xfrm>
            <a:off x="548640" y="1170432"/>
            <a:ext cx="11094415" cy="566928"/>
          </a:xfrm>
          <a:prstGeom prst="rect">
            <a:avLst/>
          </a:prstGeom>
          <a:noFill/>
          <a:ln/>
        </p:spPr>
        <p:txBody>
          <a:bodyPr wrap="square" rtlCol="0" anchor="t"/>
          <a:lstStyle/>
          <a:p>
            <a:pPr marL="0" indent="0" algn="l">
              <a:buNone/>
            </a:pPr>
            <a:r>
              <a:rPr lang="en-US" sz="2500" b="1" dirty="0">
                <a:solidFill>
                  <a:srgbClr val="1D2A5C"/>
                </a:solidFill>
                <a:latin typeface="Arial" pitchFamily="34" charset="0"/>
                <a:ea typeface="Arial" pitchFamily="34" charset="-122"/>
                <a:cs typeface="Arial" pitchFamily="34" charset="-120"/>
              </a:rPr>
              <a:t>The through-line of the course</a:t>
            </a:r>
            <a:endParaRPr lang="en-US" sz="2500" dirty="0"/>
          </a:p>
        </p:txBody>
      </p:sp>
      <p:sp>
        <p:nvSpPr>
          <p:cNvPr id="10" name="Shape 7"/>
          <p:cNvSpPr/>
          <p:nvPr/>
        </p:nvSpPr>
        <p:spPr>
          <a:xfrm>
            <a:off x="548640" y="1792224"/>
            <a:ext cx="777240" cy="41148"/>
          </a:xfrm>
          <a:prstGeom prst="rect">
            <a:avLst/>
          </a:prstGeom>
          <a:solidFill>
            <a:srgbClr val="E8833A"/>
          </a:solidFill>
          <a:ln/>
        </p:spPr>
      </p:sp>
      <p:sp>
        <p:nvSpPr>
          <p:cNvPr id="11" name="Shape 8"/>
          <p:cNvSpPr/>
          <p:nvPr/>
        </p:nvSpPr>
        <p:spPr>
          <a:xfrm>
            <a:off x="548640" y="6382512"/>
            <a:ext cx="11094415" cy="0"/>
          </a:xfrm>
          <a:prstGeom prst="line">
            <a:avLst/>
          </a:prstGeom>
          <a:noFill/>
          <a:ln w="12700">
            <a:solidFill>
              <a:srgbClr val="D9DEE8"/>
            </a:solidFill>
            <a:prstDash val="solid"/>
          </a:ln>
        </p:spPr>
      </p:sp>
      <p:sp>
        <p:nvSpPr>
          <p:cNvPr id="12" name="Text 9"/>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13" name="Text 10"/>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179</a:t>
            </a:r>
            <a:endParaRPr lang="en-US" sz="800" dirty="0"/>
          </a:p>
        </p:txBody>
      </p:sp>
      <p:sp>
        <p:nvSpPr>
          <p:cNvPr id="14" name="Text 11"/>
          <p:cNvSpPr/>
          <p:nvPr/>
        </p:nvSpPr>
        <p:spPr>
          <a:xfrm>
            <a:off x="548640" y="2066544"/>
            <a:ext cx="11094415" cy="640080"/>
          </a:xfrm>
          <a:prstGeom prst="rect">
            <a:avLst/>
          </a:prstGeom>
          <a:noFill/>
          <a:ln/>
        </p:spPr>
        <p:txBody>
          <a:bodyPr wrap="square" rtlCol="0" anchor="t"/>
          <a:lstStyle/>
          <a:p>
            <a:pPr marL="0" indent="0">
              <a:lnSpc>
                <a:spcPct val="105000"/>
              </a:lnSpc>
              <a:buNone/>
            </a:pPr>
            <a:r>
              <a:rPr lang="en-US" sz="1300" dirty="0">
                <a:solidFill>
                  <a:srgbClr val="343A4E"/>
                </a:solidFill>
                <a:latin typeface="Arial" pitchFamily="34" charset="0"/>
                <a:ea typeface="Arial" pitchFamily="34" charset="-122"/>
                <a:cs typeface="Arial" pitchFamily="34" charset="-120"/>
              </a:rPr>
              <a:t>Six modules, one moving idea: close the last mile between a correct analysis and the decision it should change.</a:t>
            </a:r>
            <a:endParaRPr lang="en-US" sz="1300" dirty="0"/>
          </a:p>
        </p:txBody>
      </p:sp>
      <p:sp>
        <p:nvSpPr>
          <p:cNvPr id="15" name="Shape 12"/>
          <p:cNvSpPr/>
          <p:nvPr/>
        </p:nvSpPr>
        <p:spPr>
          <a:xfrm>
            <a:off x="548640" y="2898648"/>
            <a:ext cx="100584" cy="420624"/>
          </a:xfrm>
          <a:prstGeom prst="rect">
            <a:avLst/>
          </a:prstGeom>
          <a:solidFill>
            <a:srgbClr val="2E5AAC"/>
          </a:solidFill>
          <a:ln/>
        </p:spPr>
      </p:sp>
      <p:sp>
        <p:nvSpPr>
          <p:cNvPr id="16" name="Text 13"/>
          <p:cNvSpPr/>
          <p:nvPr/>
        </p:nvSpPr>
        <p:spPr>
          <a:xfrm>
            <a:off x="804672" y="2843784"/>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Encoding accuracy:  </a:t>
            </a:r>
            <a:r>
              <a:rPr lang="en-US" sz="1250" dirty="0">
                <a:solidFill>
                  <a:srgbClr val="343A4E"/>
                </a:solidFill>
                <a:latin typeface="Arial" pitchFamily="34" charset="0"/>
                <a:ea typeface="Arial" pitchFamily="34" charset="-122"/>
                <a:cs typeface="Arial" pitchFamily="34" charset="-120"/>
              </a:rPr>
              <a:t>Match the visual channel to how precisely the eye must read the value (M1).</a:t>
            </a:r>
            <a:endParaRPr lang="en-US" sz="1250" dirty="0"/>
          </a:p>
        </p:txBody>
      </p:sp>
      <p:sp>
        <p:nvSpPr>
          <p:cNvPr id="17" name="Shape 14"/>
          <p:cNvSpPr/>
          <p:nvPr/>
        </p:nvSpPr>
        <p:spPr>
          <a:xfrm>
            <a:off x="548640" y="3465576"/>
            <a:ext cx="100584" cy="420624"/>
          </a:xfrm>
          <a:prstGeom prst="rect">
            <a:avLst/>
          </a:prstGeom>
          <a:solidFill>
            <a:srgbClr val="00A79D"/>
          </a:solidFill>
          <a:ln/>
        </p:spPr>
      </p:sp>
      <p:sp>
        <p:nvSpPr>
          <p:cNvPr id="18" name="Text 15"/>
          <p:cNvSpPr/>
          <p:nvPr/>
        </p:nvSpPr>
        <p:spPr>
          <a:xfrm>
            <a:off x="804672" y="3410712"/>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Honest chart choice:  </a:t>
            </a:r>
            <a:r>
              <a:rPr lang="en-US" sz="1250" dirty="0">
                <a:solidFill>
                  <a:srgbClr val="343A4E"/>
                </a:solidFill>
                <a:latin typeface="Arial" pitchFamily="34" charset="0"/>
                <a:ea typeface="Arial" pitchFamily="34" charset="-122"/>
                <a:cs typeface="Arial" pitchFamily="34" charset="-120"/>
              </a:rPr>
              <a:t>Let the question pick the chart; avoid distortion and clutter (M2–M3).</a:t>
            </a:r>
            <a:endParaRPr lang="en-US" sz="1250" dirty="0"/>
          </a:p>
        </p:txBody>
      </p:sp>
      <p:sp>
        <p:nvSpPr>
          <p:cNvPr id="19" name="Shape 16"/>
          <p:cNvSpPr/>
          <p:nvPr/>
        </p:nvSpPr>
        <p:spPr>
          <a:xfrm>
            <a:off x="548640" y="4032504"/>
            <a:ext cx="100584" cy="420624"/>
          </a:xfrm>
          <a:prstGeom prst="rect">
            <a:avLst/>
          </a:prstGeom>
          <a:solidFill>
            <a:srgbClr val="E8833A"/>
          </a:solidFill>
          <a:ln/>
        </p:spPr>
      </p:sp>
      <p:sp>
        <p:nvSpPr>
          <p:cNvPr id="20" name="Text 17"/>
          <p:cNvSpPr/>
          <p:nvPr/>
        </p:nvSpPr>
        <p:spPr>
          <a:xfrm>
            <a:off x="804672" y="3977640"/>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Declutter &amp; annotate:  </a:t>
            </a:r>
            <a:r>
              <a:rPr lang="en-US" sz="1250" dirty="0">
                <a:solidFill>
                  <a:srgbClr val="343A4E"/>
                </a:solidFill>
                <a:latin typeface="Arial" pitchFamily="34" charset="0"/>
                <a:ea typeface="Arial" pitchFamily="34" charset="-122"/>
                <a:cs typeface="Arial" pitchFamily="34" charset="-120"/>
              </a:rPr>
              <a:t>Spend ink on the signal and make the annotation the argument (M3).</a:t>
            </a:r>
            <a:endParaRPr lang="en-US" sz="1250" dirty="0"/>
          </a:p>
        </p:txBody>
      </p:sp>
      <p:sp>
        <p:nvSpPr>
          <p:cNvPr id="21" name="Shape 18"/>
          <p:cNvSpPr/>
          <p:nvPr/>
        </p:nvSpPr>
        <p:spPr>
          <a:xfrm>
            <a:off x="548640" y="4599432"/>
            <a:ext cx="100584" cy="420624"/>
          </a:xfrm>
          <a:prstGeom prst="rect">
            <a:avLst/>
          </a:prstGeom>
          <a:solidFill>
            <a:srgbClr val="6C4FA1"/>
          </a:solidFill>
          <a:ln/>
        </p:spPr>
      </p:sp>
      <p:sp>
        <p:nvSpPr>
          <p:cNvPr id="22" name="Text 19"/>
          <p:cNvSpPr/>
          <p:nvPr/>
        </p:nvSpPr>
        <p:spPr>
          <a:xfrm>
            <a:off x="804672" y="4544568"/>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Dashboard &amp; narrative:  </a:t>
            </a:r>
            <a:r>
              <a:rPr lang="en-US" sz="1250" dirty="0">
                <a:solidFill>
                  <a:srgbClr val="343A4E"/>
                </a:solidFill>
                <a:latin typeface="Arial" pitchFamily="34" charset="0"/>
                <a:ea typeface="Arial" pitchFamily="34" charset="-122"/>
                <a:cs typeface="Arial" pitchFamily="34" charset="-120"/>
              </a:rPr>
              <a:t>Turn views into a self-service dashboard, then wrap them in a story (M4–M5).</a:t>
            </a:r>
            <a:endParaRPr lang="en-US" sz="1250" dirty="0"/>
          </a:p>
        </p:txBody>
      </p:sp>
      <p:sp>
        <p:nvSpPr>
          <p:cNvPr id="23" name="Shape 20"/>
          <p:cNvSpPr/>
          <p:nvPr/>
        </p:nvSpPr>
        <p:spPr>
          <a:xfrm>
            <a:off x="548640" y="5166360"/>
            <a:ext cx="100584" cy="420624"/>
          </a:xfrm>
          <a:prstGeom prst="rect">
            <a:avLst/>
          </a:prstGeom>
          <a:solidFill>
            <a:srgbClr val="3FAE5A"/>
          </a:solidFill>
          <a:ln/>
        </p:spPr>
      </p:sp>
      <p:sp>
        <p:nvSpPr>
          <p:cNvPr id="24" name="Text 21"/>
          <p:cNvSpPr/>
          <p:nvPr/>
        </p:nvSpPr>
        <p:spPr>
          <a:xfrm>
            <a:off x="804672" y="5111496"/>
            <a:ext cx="10820095" cy="566928"/>
          </a:xfrm>
          <a:prstGeom prst="rect">
            <a:avLst/>
          </a:prstGeom>
          <a:noFill/>
          <a:ln/>
        </p:spPr>
        <p:txBody>
          <a:bodyPr wrap="square" rtlCol="0" anchor="ctr"/>
          <a:lstStyle/>
          <a:p>
            <a:pPr marL="0" indent="0">
              <a:lnSpc>
                <a:spcPct val="102000"/>
              </a:lnSpc>
              <a:buNone/>
            </a:pPr>
            <a:r>
              <a:rPr lang="en-US" sz="1250" b="1" dirty="0">
                <a:solidFill>
                  <a:srgbClr val="1D2A5C"/>
                </a:solidFill>
                <a:latin typeface="Arial" pitchFamily="34" charset="0"/>
                <a:ea typeface="Arial" pitchFamily="34" charset="-122"/>
                <a:cs typeface="Arial" pitchFamily="34" charset="-120"/>
              </a:rPr>
              <a:t>Delivery:  </a:t>
            </a:r>
            <a:r>
              <a:rPr lang="en-US" sz="1250" dirty="0">
                <a:solidFill>
                  <a:srgbClr val="343A4E"/>
                </a:solidFill>
                <a:latin typeface="Arial" pitchFamily="34" charset="0"/>
                <a:ea typeface="Arial" pitchFamily="34" charset="-122"/>
                <a:cs typeface="Arial" pitchFamily="34" charset="-120"/>
              </a:rPr>
              <a:t>Open with the ask and hold the room so the decision actually changes (M6).</a:t>
            </a:r>
            <a:endParaRPr lang="en-US" sz="12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B"/>
          </a:solidFill>
          <a:ln/>
        </p:spPr>
      </p:sp>
      <p:sp>
        <p:nvSpPr>
          <p:cNvPr id="3" name="Shape 1"/>
          <p:cNvSpPr/>
          <p:nvPr/>
        </p:nvSpPr>
        <p:spPr>
          <a:xfrm>
            <a:off x="0" y="0"/>
            <a:ext cx="12191695" cy="146304"/>
          </a:xfrm>
          <a:prstGeom prst="rect">
            <a:avLst/>
          </a:prstGeom>
          <a:solidFill>
            <a:srgbClr val="00A79D"/>
          </a:solidFill>
          <a:ln/>
        </p:spPr>
      </p:sp>
      <p:pic>
        <p:nvPicPr>
          <p:cNvPr id="4" name="Image 0" descr="/sessions/loving-funny-ritchie/mnt/outputs/deckbuild/assets/logo.png"/>
          <p:cNvPicPr>
            <a:picLocks noChangeAspect="1"/>
          </p:cNvPicPr>
          <p:nvPr/>
        </p:nvPicPr>
        <p:blipFill>
          <a:blip r:embed="rId3"/>
          <a:stretch>
            <a:fillRect/>
          </a:stretch>
        </p:blipFill>
        <p:spPr>
          <a:xfrm>
            <a:off x="10042855" y="274320"/>
            <a:ext cx="1627632" cy="397764"/>
          </a:xfrm>
          <a:prstGeom prst="rect">
            <a:avLst/>
          </a:prstGeom>
        </p:spPr>
      </p:pic>
      <p:sp>
        <p:nvSpPr>
          <p:cNvPr id="5" name="Shape 2"/>
          <p:cNvSpPr/>
          <p:nvPr/>
        </p:nvSpPr>
        <p:spPr>
          <a:xfrm>
            <a:off x="548640" y="6382512"/>
            <a:ext cx="11094415" cy="0"/>
          </a:xfrm>
          <a:prstGeom prst="line">
            <a:avLst/>
          </a:prstGeom>
          <a:noFill/>
          <a:ln w="12700">
            <a:solidFill>
              <a:srgbClr val="D9DEE8"/>
            </a:solidFill>
            <a:prstDash val="solid"/>
          </a:ln>
        </p:spPr>
      </p:sp>
      <p:sp>
        <p:nvSpPr>
          <p:cNvPr id="6" name="Text 3"/>
          <p:cNvSpPr/>
          <p:nvPr/>
        </p:nvSpPr>
        <p:spPr>
          <a:xfrm>
            <a:off x="548640" y="6437376"/>
            <a:ext cx="8229600" cy="274320"/>
          </a:xfrm>
          <a:prstGeom prst="rect">
            <a:avLst/>
          </a:prstGeom>
          <a:noFill/>
          <a:ln/>
        </p:spPr>
        <p:txBody>
          <a:bodyPr wrap="square" rtlCol="0" anchor="ctr"/>
          <a:lstStyle/>
          <a:p>
            <a:pPr marL="0" indent="0" algn="l">
              <a:buNone/>
            </a:pPr>
            <a:r>
              <a:rPr lang="en-US" sz="800" b="1" dirty="0">
                <a:solidFill>
                  <a:srgbClr val="1D2A5C"/>
                </a:solidFill>
                <a:latin typeface="Arial" pitchFamily="34" charset="0"/>
                <a:ea typeface="Arial" pitchFamily="34" charset="-122"/>
                <a:cs typeface="Arial" pitchFamily="34" charset="-120"/>
              </a:rPr>
              <a:t>SDAIA Academy</a:t>
            </a:r>
            <a:r>
              <a:rPr lang="en-US" sz="800" dirty="0">
                <a:solidFill>
                  <a:srgbClr val="6B7280"/>
                </a:solidFill>
                <a:latin typeface="Arial" pitchFamily="34" charset="0"/>
                <a:ea typeface="Arial" pitchFamily="34" charset="-122"/>
                <a:cs typeface="Arial" pitchFamily="34" charset="-120"/>
              </a:rPr>
              <a:t>   ·   SDA-DSC-112  ·  Data Visualization &amp; Storytelling</a:t>
            </a:r>
            <a:endParaRPr lang="en-US" sz="800" dirty="0"/>
          </a:p>
        </p:txBody>
      </p:sp>
      <p:sp>
        <p:nvSpPr>
          <p:cNvPr id="7" name="Text 4"/>
          <p:cNvSpPr/>
          <p:nvPr/>
        </p:nvSpPr>
        <p:spPr>
          <a:xfrm>
            <a:off x="10911535" y="6437376"/>
            <a:ext cx="731520" cy="274320"/>
          </a:xfrm>
          <a:prstGeom prst="rect">
            <a:avLst/>
          </a:prstGeom>
          <a:noFill/>
          <a:ln/>
        </p:spPr>
        <p:txBody>
          <a:bodyPr wrap="square" rtlCol="0" anchor="ctr"/>
          <a:lstStyle/>
          <a:p>
            <a:pPr marL="0" indent="0" algn="r">
              <a:buNone/>
            </a:pPr>
            <a:r>
              <a:rPr lang="en-US" sz="800" dirty="0">
                <a:solidFill>
                  <a:srgbClr val="9AA3B2"/>
                </a:solidFill>
                <a:latin typeface="Arial" pitchFamily="34" charset="0"/>
                <a:ea typeface="Arial" pitchFamily="34" charset="-122"/>
                <a:cs typeface="Arial" pitchFamily="34" charset="-120"/>
              </a:rPr>
              <a:t>180</a:t>
            </a:r>
            <a:endParaRPr lang="en-US" sz="800" dirty="0"/>
          </a:p>
        </p:txBody>
      </p:sp>
      <p:sp>
        <p:nvSpPr>
          <p:cNvPr id="8" name="Text 5"/>
          <p:cNvSpPr/>
          <p:nvPr/>
        </p:nvSpPr>
        <p:spPr>
          <a:xfrm>
            <a:off x="548640" y="1188720"/>
            <a:ext cx="1828800" cy="1463040"/>
          </a:xfrm>
          <a:prstGeom prst="rect">
            <a:avLst/>
          </a:prstGeom>
          <a:noFill/>
          <a:ln/>
        </p:spPr>
        <p:txBody>
          <a:bodyPr wrap="square" rtlCol="0" anchor="t"/>
          <a:lstStyle/>
          <a:p>
            <a:pPr marL="0" indent="0" algn="l">
              <a:buNone/>
            </a:pPr>
            <a:r>
              <a:rPr lang="en-US" sz="12000" b="1" dirty="0">
                <a:solidFill>
                  <a:srgbClr val="00A79D"/>
                </a:solidFill>
                <a:latin typeface="Georgia" pitchFamily="34" charset="0"/>
                <a:ea typeface="Georgia" pitchFamily="34" charset="-122"/>
                <a:cs typeface="Georgia" pitchFamily="34" charset="-120"/>
              </a:rPr>
              <a:t>“</a:t>
            </a:r>
            <a:endParaRPr lang="en-US" sz="12000" dirty="0"/>
          </a:p>
        </p:txBody>
      </p:sp>
      <p:sp>
        <p:nvSpPr>
          <p:cNvPr id="9" name="Text 6"/>
          <p:cNvSpPr/>
          <p:nvPr/>
        </p:nvSpPr>
        <p:spPr>
          <a:xfrm>
            <a:off x="1371600" y="2468880"/>
            <a:ext cx="9448495" cy="2194560"/>
          </a:xfrm>
          <a:prstGeom prst="rect">
            <a:avLst/>
          </a:prstGeom>
          <a:noFill/>
          <a:ln/>
        </p:spPr>
        <p:txBody>
          <a:bodyPr wrap="square" rtlCol="0" anchor="ctr"/>
          <a:lstStyle/>
          <a:p>
            <a:pPr marL="0" indent="0" algn="ctr">
              <a:lnSpc>
                <a:spcPct val="110000"/>
              </a:lnSpc>
              <a:buNone/>
            </a:pPr>
            <a:r>
              <a:rPr lang="en-US" sz="2600" b="1" dirty="0">
                <a:solidFill>
                  <a:srgbClr val="1D2A5C"/>
                </a:solidFill>
                <a:latin typeface="Arial" pitchFamily="34" charset="0"/>
                <a:ea typeface="Arial" pitchFamily="34" charset="-122"/>
                <a:cs typeface="Arial" pitchFamily="34" charset="-120"/>
              </a:rPr>
              <a:t>Turning analysis into influence is the last mile: a correct analysis either changes a decision or dies in a slide nobody understood.</a:t>
            </a:r>
            <a:endParaRPr lang="en-US" sz="2600" dirty="0"/>
          </a:p>
        </p:txBody>
      </p:sp>
      <p:sp>
        <p:nvSpPr>
          <p:cNvPr id="10" name="Text 7"/>
          <p:cNvSpPr/>
          <p:nvPr/>
        </p:nvSpPr>
        <p:spPr>
          <a:xfrm>
            <a:off x="1371600" y="4846320"/>
            <a:ext cx="9448495" cy="457200"/>
          </a:xfrm>
          <a:prstGeom prst="rect">
            <a:avLst/>
          </a:prstGeom>
          <a:noFill/>
          <a:ln/>
        </p:spPr>
        <p:txBody>
          <a:bodyPr wrap="square" rtlCol="0" anchor="ctr"/>
          <a:lstStyle/>
          <a:p>
            <a:pPr marL="0" indent="0" algn="ctr">
              <a:buNone/>
            </a:pPr>
            <a:r>
              <a:rPr lang="en-US" sz="1400" dirty="0">
                <a:solidFill>
                  <a:srgbClr val="6B7280"/>
                </a:solidFill>
                <a:latin typeface="Arial" pitchFamily="34" charset="0"/>
                <a:ea typeface="Arial" pitchFamily="34" charset="-122"/>
                <a:cs typeface="Arial" pitchFamily="34" charset="-120"/>
              </a:rPr>
              <a:t>— The course thesis</a:t>
            </a:r>
            <a:endParaRPr lang="en-US" sz="14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D2A5C"/>
          </a:solidFill>
          <a:ln/>
        </p:spPr>
      </p:sp>
      <p:sp>
        <p:nvSpPr>
          <p:cNvPr id="3" name="Shape 1"/>
          <p:cNvSpPr/>
          <p:nvPr/>
        </p:nvSpPr>
        <p:spPr>
          <a:xfrm>
            <a:off x="0" y="0"/>
            <a:ext cx="12191695" cy="146304"/>
          </a:xfrm>
          <a:prstGeom prst="rect">
            <a:avLst/>
          </a:prstGeom>
          <a:solidFill>
            <a:srgbClr val="00A79D"/>
          </a:solidFill>
          <a:ln/>
        </p:spPr>
      </p:sp>
      <p:pic>
        <p:nvPicPr>
          <p:cNvPr id="4" name="Image 0" descr="/sessions/loving-funny-ritchie/mnt/outputs/deckbuild/assets/logo.png"/>
          <p:cNvPicPr>
            <a:picLocks noChangeAspect="1"/>
          </p:cNvPicPr>
          <p:nvPr/>
        </p:nvPicPr>
        <p:blipFill>
          <a:blip r:embed="rId3"/>
          <a:stretch>
            <a:fillRect/>
          </a:stretch>
        </p:blipFill>
        <p:spPr>
          <a:xfrm>
            <a:off x="4861408" y="777240"/>
            <a:ext cx="2468880" cy="603504"/>
          </a:xfrm>
          <a:prstGeom prst="rect">
            <a:avLst/>
          </a:prstGeom>
        </p:spPr>
      </p:pic>
      <p:sp>
        <p:nvSpPr>
          <p:cNvPr id="5" name="Text 2"/>
          <p:cNvSpPr/>
          <p:nvPr/>
        </p:nvSpPr>
        <p:spPr>
          <a:xfrm>
            <a:off x="914400" y="2011680"/>
            <a:ext cx="10362895" cy="914400"/>
          </a:xfrm>
          <a:prstGeom prst="rect">
            <a:avLst/>
          </a:prstGeom>
          <a:noFill/>
          <a:ln/>
        </p:spPr>
        <p:txBody>
          <a:bodyPr wrap="square"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Thank You</a:t>
            </a:r>
            <a:endParaRPr lang="en-US" sz="4000" dirty="0"/>
          </a:p>
        </p:txBody>
      </p:sp>
      <p:sp>
        <p:nvSpPr>
          <p:cNvPr id="6" name="Text 3"/>
          <p:cNvSpPr/>
          <p:nvPr/>
        </p:nvSpPr>
        <p:spPr>
          <a:xfrm>
            <a:off x="914400" y="2926080"/>
            <a:ext cx="10362895" cy="548640"/>
          </a:xfrm>
          <a:prstGeom prst="rect">
            <a:avLst/>
          </a:prstGeom>
          <a:noFill/>
          <a:ln/>
        </p:spPr>
        <p:txBody>
          <a:bodyPr wrap="square" rtlCol="0" anchor="ctr"/>
          <a:lstStyle/>
          <a:p>
            <a:pPr marL="0" indent="0" algn="ctr">
              <a:buNone/>
            </a:pPr>
            <a:r>
              <a:rPr lang="en-US" sz="2200" dirty="0">
                <a:solidFill>
                  <a:srgbClr val="00A79D"/>
                </a:solidFill>
                <a:latin typeface="Arial" pitchFamily="34" charset="0"/>
                <a:ea typeface="Arial" pitchFamily="34" charset="-122"/>
                <a:cs typeface="Arial" pitchFamily="34" charset="-120"/>
              </a:rPr>
              <a:t>شكراً لكم</a:t>
            </a:r>
            <a:endParaRPr lang="en-US" sz="2200" dirty="0"/>
          </a:p>
        </p:txBody>
      </p:sp>
      <p:sp>
        <p:nvSpPr>
          <p:cNvPr id="7" name="Text 4"/>
          <p:cNvSpPr/>
          <p:nvPr/>
        </p:nvSpPr>
        <p:spPr>
          <a:xfrm>
            <a:off x="1371600" y="3657600"/>
            <a:ext cx="9448495" cy="914400"/>
          </a:xfrm>
          <a:prstGeom prst="rect">
            <a:avLst/>
          </a:prstGeom>
          <a:noFill/>
          <a:ln/>
        </p:spPr>
        <p:txBody>
          <a:bodyPr wrap="square" rtlCol="0" anchor="t"/>
          <a:lstStyle/>
          <a:p>
            <a:pPr marL="0" indent="0" algn="ctr">
              <a:lnSpc>
                <a:spcPct val="110000"/>
              </a:lnSpc>
              <a:buNone/>
            </a:pPr>
            <a:r>
              <a:rPr lang="en-US" sz="1400" dirty="0">
                <a:solidFill>
                  <a:srgbClr val="C9D3EA"/>
                </a:solidFill>
                <a:latin typeface="Arial" pitchFamily="34" charset="0"/>
                <a:ea typeface="Arial" pitchFamily="34" charset="-122"/>
                <a:cs typeface="Arial" pitchFamily="34" charset="-120"/>
              </a:rPr>
              <a:t>Data Visualization and Storytelling · SDAIA Academy</a:t>
            </a:r>
            <a:endParaRPr lang="en-US" sz="1400" dirty="0"/>
          </a:p>
        </p:txBody>
      </p:sp>
      <p:sp>
        <p:nvSpPr>
          <p:cNvPr id="8" name="Shape 5"/>
          <p:cNvSpPr/>
          <p:nvPr/>
        </p:nvSpPr>
        <p:spPr>
          <a:xfrm>
            <a:off x="4943704" y="5029200"/>
            <a:ext cx="402336" cy="640080"/>
          </a:xfrm>
          <a:prstGeom prst="triangle">
            <a:avLst/>
          </a:prstGeom>
          <a:solidFill>
            <a:srgbClr val="2E5AAC"/>
          </a:solidFill>
          <a:ln/>
        </p:spPr>
      </p:sp>
      <p:sp>
        <p:nvSpPr>
          <p:cNvPr id="9" name="Shape 6"/>
          <p:cNvSpPr/>
          <p:nvPr/>
        </p:nvSpPr>
        <p:spPr>
          <a:xfrm rot="10800000">
            <a:off x="5327752" y="5029200"/>
            <a:ext cx="402336" cy="640080"/>
          </a:xfrm>
          <a:prstGeom prst="triangle">
            <a:avLst/>
          </a:prstGeom>
          <a:solidFill>
            <a:srgbClr val="00A79D"/>
          </a:solidFill>
          <a:ln/>
        </p:spPr>
      </p:sp>
      <p:sp>
        <p:nvSpPr>
          <p:cNvPr id="10" name="Shape 7"/>
          <p:cNvSpPr/>
          <p:nvPr/>
        </p:nvSpPr>
        <p:spPr>
          <a:xfrm>
            <a:off x="5711800" y="5029200"/>
            <a:ext cx="402336" cy="640080"/>
          </a:xfrm>
          <a:prstGeom prst="triangle">
            <a:avLst/>
          </a:prstGeom>
          <a:solidFill>
            <a:srgbClr val="E8833A"/>
          </a:solidFill>
          <a:ln/>
        </p:spPr>
      </p:sp>
      <p:sp>
        <p:nvSpPr>
          <p:cNvPr id="11" name="Shape 8"/>
          <p:cNvSpPr/>
          <p:nvPr/>
        </p:nvSpPr>
        <p:spPr>
          <a:xfrm rot="10800000">
            <a:off x="6095848" y="5029200"/>
            <a:ext cx="402336" cy="640080"/>
          </a:xfrm>
          <a:prstGeom prst="triangle">
            <a:avLst/>
          </a:prstGeom>
          <a:solidFill>
            <a:srgbClr val="6C4FA1"/>
          </a:solidFill>
          <a:ln/>
        </p:spPr>
      </p:sp>
      <p:sp>
        <p:nvSpPr>
          <p:cNvPr id="12" name="Shape 9"/>
          <p:cNvSpPr/>
          <p:nvPr/>
        </p:nvSpPr>
        <p:spPr>
          <a:xfrm>
            <a:off x="6479896" y="5029200"/>
            <a:ext cx="402336" cy="640080"/>
          </a:xfrm>
          <a:prstGeom prst="triangle">
            <a:avLst/>
          </a:prstGeom>
          <a:solidFill>
            <a:srgbClr val="3FAE5A"/>
          </a:solidFill>
          <a:ln/>
        </p:spPr>
      </p:sp>
      <p:sp>
        <p:nvSpPr>
          <p:cNvPr id="13" name="Shape 10"/>
          <p:cNvSpPr/>
          <p:nvPr/>
        </p:nvSpPr>
        <p:spPr>
          <a:xfrm rot="10800000">
            <a:off x="6863944" y="5029200"/>
            <a:ext cx="402336" cy="640080"/>
          </a:xfrm>
          <a:prstGeom prst="triangle">
            <a:avLst/>
          </a:prstGeom>
          <a:solidFill>
            <a:srgbClr val="29ABE2"/>
          </a:solidFill>
          <a:ln/>
        </p:spPr>
      </p:sp>
      <p:sp>
        <p:nvSpPr>
          <p:cNvPr id="14" name="Text 11"/>
          <p:cNvSpPr/>
          <p:nvPr/>
        </p:nvSpPr>
        <p:spPr>
          <a:xfrm>
            <a:off x="914400" y="6217920"/>
            <a:ext cx="10362895" cy="365760"/>
          </a:xfrm>
          <a:prstGeom prst="rect">
            <a:avLst/>
          </a:prstGeom>
          <a:noFill/>
          <a:ln/>
        </p:spPr>
        <p:txBody>
          <a:bodyPr wrap="square" rtlCol="0" anchor="ctr"/>
          <a:lstStyle/>
          <a:p>
            <a:pPr marL="0" indent="0" algn="ctr">
              <a:buNone/>
            </a:pPr>
            <a:r>
              <a:rPr lang="en-US" sz="1100" b="1" dirty="0">
                <a:solidFill>
                  <a:srgbClr val="8091B5"/>
                </a:solidFill>
                <a:latin typeface="Arial" pitchFamily="34" charset="0"/>
                <a:ea typeface="Arial" pitchFamily="34" charset="-122"/>
                <a:cs typeface="Arial" pitchFamily="34" charset="-120"/>
              </a:rPr>
              <a:t>SDAIA Academy  ·  SDA-DSC-112</a:t>
            </a:r>
            <a:endParaRPr lang="en-US" sz="1100" dirty="0"/>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THE REFERENCE SHELF</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The books and papers this course stands on</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المراجع الأساسية</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16</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Five texts and a handful of papers carry the whole syllabus. Every module cites at least one of them by name — participants should leave knowing what to read next, and instructors should be able to answer 'where does that claim come from?'</a:t>
            </a:r>
          </a:p>
        </p:txBody>
      </p:sp>
      <p:graphicFrame>
        <p:nvGraphicFramePr>
          <p:cNvPr id="16" name="Table 15"/>
          <p:cNvGraphicFramePr>
            <a:graphicFrameLocks noGrp="1"/>
          </p:cNvGraphicFramePr>
          <p:nvPr/>
        </p:nvGraphicFramePr>
        <p:xfrm>
          <a:off x="548640" y="2926079"/>
          <a:ext cx="11091671" cy="3108960"/>
        </p:xfrm>
        <a:graphic>
          <a:graphicData uri="http://schemas.openxmlformats.org/drawingml/2006/table">
            <a:tbl>
              <a:tblPr>
                <a:tableStyleId>{5C22544A-7EE6-4342-B048-85BDC9FD1C3A}</a:tableStyleId>
              </a:tblPr>
              <a:tblGrid>
                <a:gridCol w="3696919"/>
                <a:gridCol w="4896612"/>
                <a:gridCol w="2498140"/>
              </a:tblGrid>
              <a:tr h="518160">
                <a:tc>
                  <a:txBody>
                    <a:bodyPr/>
                    <a:lstStyle/>
                    <a:p>
                      <a:pPr algn="l"/>
                      <a:r>
                        <a:rPr sz="1050" b="1">
                          <a:solidFill>
                            <a:srgbClr val="FFFFFF"/>
                          </a:solidFill>
                          <a:latin typeface="Arial"/>
                        </a:rPr>
                        <a:t>Source</a:t>
                      </a:r>
                    </a:p>
                  </a:txBody>
                  <a:tcPr marL="63500" marR="63500" marT="38100" marB="38100" anchor="ctr">
                    <a:solidFill>
                      <a:srgbClr val="1D2A5C"/>
                    </a:solidFill>
                  </a:tcPr>
                </a:tc>
                <a:tc>
                  <a:txBody>
                    <a:bodyPr/>
                    <a:lstStyle/>
                    <a:p>
                      <a:pPr algn="l"/>
                      <a:r>
                        <a:rPr sz="1050" b="1">
                          <a:solidFill>
                            <a:srgbClr val="FFFFFF"/>
                          </a:solidFill>
                          <a:latin typeface="Arial"/>
                        </a:rPr>
                        <a:t>What it gives the course</a:t>
                      </a:r>
                    </a:p>
                  </a:txBody>
                  <a:tcPr marL="63500" marR="63500" marT="38100" marB="38100" anchor="ctr">
                    <a:solidFill>
                      <a:srgbClr val="1D2A5C"/>
                    </a:solidFill>
                  </a:tcPr>
                </a:tc>
                <a:tc>
                  <a:txBody>
                    <a:bodyPr/>
                    <a:lstStyle/>
                    <a:p>
                      <a:pPr algn="l"/>
                      <a:r>
                        <a:rPr sz="1050" b="1">
                          <a:solidFill>
                            <a:srgbClr val="FFFFFF"/>
                          </a:solidFill>
                          <a:latin typeface="Arial"/>
                        </a:rPr>
                        <a:t>Where it is used</a:t>
                      </a:r>
                    </a:p>
                  </a:txBody>
                  <a:tcPr marL="63500" marR="63500" marT="38100" marB="38100" anchor="ctr">
                    <a:solidFill>
                      <a:srgbClr val="1D2A5C"/>
                    </a:solidFill>
                  </a:tcPr>
                </a:tc>
              </a:tr>
              <a:tr h="518160">
                <a:tc>
                  <a:txBody>
                    <a:bodyPr/>
                    <a:lstStyle/>
                    <a:p>
                      <a:pPr algn="l"/>
                      <a:r>
                        <a:rPr sz="1000" b="1">
                          <a:solidFill>
                            <a:srgbClr val="1D2A5C"/>
                          </a:solidFill>
                          <a:latin typeface="Arial"/>
                        </a:rPr>
                        <a:t>Storytelling with Data
Cole Nussbaumer Knaflic, Wiley 2015 (10th-anniversary ed. 2025)</a:t>
                      </a:r>
                    </a:p>
                  </a:txBody>
                  <a:tcPr marL="63500" marR="63500" marT="38100" marB="38100" anchor="ctr">
                    <a:solidFill>
                      <a:srgbClr val="FFFFFF"/>
                    </a:solidFill>
                  </a:tcPr>
                </a:tc>
                <a:tc>
                  <a:txBody>
                    <a:bodyPr/>
                    <a:lstStyle/>
                    <a:p>
                      <a:pPr algn="l"/>
                      <a:r>
                        <a:rPr sz="1000" b="0">
                          <a:solidFill>
                            <a:srgbClr val="343A4E"/>
                          </a:solidFill>
                          <a:latin typeface="Arial"/>
                        </a:rPr>
                        <a:t>The six lessons: context, chart choice, clutter, attention, design thinking, story</a:t>
                      </a:r>
                    </a:p>
                  </a:txBody>
                  <a:tcPr marL="63500" marR="63500" marT="38100" marB="38100" anchor="ctr">
                    <a:solidFill>
                      <a:srgbClr val="FFFFFF"/>
                    </a:solidFill>
                  </a:tcPr>
                </a:tc>
                <a:tc>
                  <a:txBody>
                    <a:bodyPr/>
                    <a:lstStyle/>
                    <a:p>
                      <a:pPr algn="l"/>
                      <a:r>
                        <a:rPr sz="1000" b="0">
                          <a:solidFill>
                            <a:srgbClr val="343A4E"/>
                          </a:solidFill>
                          <a:latin typeface="Arial"/>
                        </a:rPr>
                        <a:t>The spine of M2, M3, M5</a:t>
                      </a:r>
                    </a:p>
                  </a:txBody>
                  <a:tcPr marL="63500" marR="63500" marT="38100" marB="38100" anchor="ctr">
                    <a:solidFill>
                      <a:srgbClr val="FFFFFF"/>
                    </a:solidFill>
                  </a:tcPr>
                </a:tc>
              </a:tr>
              <a:tr h="518160">
                <a:tc>
                  <a:txBody>
                    <a:bodyPr/>
                    <a:lstStyle/>
                    <a:p>
                      <a:pPr algn="l"/>
                      <a:r>
                        <a:rPr sz="1000" b="1">
                          <a:solidFill>
                            <a:srgbClr val="1D2A5C"/>
                          </a:solidFill>
                          <a:latin typeface="Arial"/>
                        </a:rPr>
                        <a:t>Storytelling with You · Let's Practice! · Before &amp; After
Knaflic, Wiley 2019–2025</a:t>
                      </a:r>
                    </a:p>
                  </a:txBody>
                  <a:tcPr marL="63500" marR="63500" marT="38100" marB="38100" anchor="ctr">
                    <a:solidFill>
                      <a:srgbClr val="F4F6FB"/>
                    </a:solidFill>
                  </a:tcPr>
                </a:tc>
                <a:tc>
                  <a:txBody>
                    <a:bodyPr/>
                    <a:lstStyle/>
                    <a:p>
                      <a:pPr algn="l"/>
                      <a:r>
                        <a:rPr sz="1000" b="0">
                          <a:solidFill>
                            <a:srgbClr val="343A4E"/>
                          </a:solidFill>
                          <a:latin typeface="Arial"/>
                        </a:rPr>
                        <a:t>Exercise sets, 20 worked makeovers, and the delivery companion</a:t>
                      </a:r>
                    </a:p>
                  </a:txBody>
                  <a:tcPr marL="63500" marR="63500" marT="38100" marB="38100" anchor="ctr">
                    <a:solidFill>
                      <a:srgbClr val="F4F6FB"/>
                    </a:solidFill>
                  </a:tcPr>
                </a:tc>
                <a:tc>
                  <a:txBody>
                    <a:bodyPr/>
                    <a:lstStyle/>
                    <a:p>
                      <a:pPr algn="l"/>
                      <a:r>
                        <a:rPr sz="1000" b="0">
                          <a:solidFill>
                            <a:srgbClr val="343A4E"/>
                          </a:solidFill>
                          <a:latin typeface="Arial"/>
                        </a:rPr>
                        <a:t>Lab 3 makeovers, M6 delivery</a:t>
                      </a:r>
                    </a:p>
                  </a:txBody>
                  <a:tcPr marL="63500" marR="63500" marT="38100" marB="38100" anchor="ctr">
                    <a:solidFill>
                      <a:srgbClr val="F4F6FB"/>
                    </a:solidFill>
                  </a:tcPr>
                </a:tc>
              </a:tr>
              <a:tr h="518160">
                <a:tc>
                  <a:txBody>
                    <a:bodyPr/>
                    <a:lstStyle/>
                    <a:p>
                      <a:pPr algn="l"/>
                      <a:r>
                        <a:rPr sz="1000" b="1">
                          <a:solidFill>
                            <a:srgbClr val="1D2A5C"/>
                          </a:solidFill>
                          <a:latin typeface="Arial"/>
                        </a:rPr>
                        <a:t>How Charts Work — Alan Smith, FT Publishing 2022</a:t>
                      </a:r>
                    </a:p>
                  </a:txBody>
                  <a:tcPr marL="63500" marR="63500" marT="38100" marB="38100" anchor="ctr">
                    <a:solidFill>
                      <a:srgbClr val="FFFFFF"/>
                    </a:solidFill>
                  </a:tcPr>
                </a:tc>
                <a:tc>
                  <a:txBody>
                    <a:bodyPr/>
                    <a:lstStyle/>
                    <a:p>
                      <a:pPr algn="l"/>
                      <a:r>
                        <a:rPr sz="1000" b="0">
                          <a:solidFill>
                            <a:srgbClr val="343A4E"/>
                          </a:solidFill>
                          <a:latin typeface="Arial"/>
                        </a:rPr>
                        <a:t>The FT's own account of why a chart reads as it does</a:t>
                      </a:r>
                    </a:p>
                  </a:txBody>
                  <a:tcPr marL="63500" marR="63500" marT="38100" marB="38100" anchor="ctr">
                    <a:solidFill>
                      <a:srgbClr val="FFFFFF"/>
                    </a:solidFill>
                  </a:tcPr>
                </a:tc>
                <a:tc>
                  <a:txBody>
                    <a:bodyPr/>
                    <a:lstStyle/>
                    <a:p>
                      <a:pPr algn="l"/>
                      <a:r>
                        <a:rPr sz="1000" b="0">
                          <a:solidFill>
                            <a:srgbClr val="343A4E"/>
                          </a:solidFill>
                          <a:latin typeface="Arial"/>
                        </a:rPr>
                        <a:t>M1, M2</a:t>
                      </a:r>
                    </a:p>
                  </a:txBody>
                  <a:tcPr marL="63500" marR="63500" marT="38100" marB="38100" anchor="ctr">
                    <a:solidFill>
                      <a:srgbClr val="FFFFFF"/>
                    </a:solidFill>
                  </a:tcPr>
                </a:tc>
              </a:tr>
              <a:tr h="518160">
                <a:tc>
                  <a:txBody>
                    <a:bodyPr/>
                    <a:lstStyle/>
                    <a:p>
                      <a:pPr algn="l"/>
                      <a:r>
                        <a:rPr sz="1000" b="1">
                          <a:solidFill>
                            <a:srgbClr val="1D2A5C"/>
                          </a:solidFill>
                          <a:latin typeface="Arial"/>
                        </a:rPr>
                        <a:t>FT Visual Vocabulary — Financial Times Visual Journalism Team</a:t>
                      </a:r>
                    </a:p>
                  </a:txBody>
                  <a:tcPr marL="63500" marR="63500" marT="38100" marB="38100" anchor="ctr">
                    <a:solidFill>
                      <a:srgbClr val="F4F6FB"/>
                    </a:solidFill>
                  </a:tcPr>
                </a:tc>
                <a:tc>
                  <a:txBody>
                    <a:bodyPr/>
                    <a:lstStyle/>
                    <a:p>
                      <a:pPr algn="l"/>
                      <a:r>
                        <a:rPr sz="1000" b="0">
                          <a:solidFill>
                            <a:srgbClr val="343A4E"/>
                          </a:solidFill>
                          <a:latin typeface="Arial"/>
                        </a:rPr>
                        <a:t>Nine relationship categories mapped to chart forms; the chart-chooser's ancestor</a:t>
                      </a:r>
                    </a:p>
                  </a:txBody>
                  <a:tcPr marL="63500" marR="63500" marT="38100" marB="38100" anchor="ctr">
                    <a:solidFill>
                      <a:srgbClr val="F4F6FB"/>
                    </a:solidFill>
                  </a:tcPr>
                </a:tc>
                <a:tc>
                  <a:txBody>
                    <a:bodyPr/>
                    <a:lstStyle/>
                    <a:p>
                      <a:pPr algn="l"/>
                      <a:r>
                        <a:rPr sz="1000" b="0">
                          <a:solidFill>
                            <a:srgbClr val="343A4E"/>
                          </a:solidFill>
                          <a:latin typeface="Arial"/>
                        </a:rPr>
                        <a:t>M2 chart selection</a:t>
                      </a:r>
                    </a:p>
                  </a:txBody>
                  <a:tcPr marL="63500" marR="63500" marT="38100" marB="38100" anchor="ctr">
                    <a:solidFill>
                      <a:srgbClr val="F4F6FB"/>
                    </a:solidFill>
                  </a:tcPr>
                </a:tc>
              </a:tr>
              <a:tr h="518160">
                <a:tc>
                  <a:txBody>
                    <a:bodyPr/>
                    <a:lstStyle/>
                    <a:p>
                      <a:pPr algn="l"/>
                      <a:r>
                        <a:rPr sz="1000" b="1">
                          <a:solidFill>
                            <a:srgbClr val="1D2A5C"/>
                          </a:solidFill>
                          <a:latin typeface="Arial"/>
                        </a:rPr>
                        <a:t>Cleveland &amp; McGill (1984) · Robertson et al. (TVCG 2008) · Hullman, Resnick &amp; Adar (PLOS ONE 2015) · Kay et al. (CHI 2016) · Romano et al. (Health Economics 2020)</a:t>
                      </a:r>
                    </a:p>
                  </a:txBody>
                  <a:tcPr marL="63500" marR="63500" marT="38100" marB="38100" anchor="ctr">
                    <a:solidFill>
                      <a:srgbClr val="FFFFFF"/>
                    </a:solidFill>
                  </a:tcPr>
                </a:tc>
                <a:tc>
                  <a:txBody>
                    <a:bodyPr/>
                    <a:lstStyle/>
                    <a:p>
                      <a:pPr algn="l"/>
                      <a:r>
                        <a:rPr sz="1000" b="0">
                          <a:solidFill>
                            <a:srgbClr val="343A4E"/>
                          </a:solidFill>
                          <a:latin typeface="Arial"/>
                        </a:rPr>
                        <a:t>The measured evidence behind encoding accuracy, animation, and uncertainty display</a:t>
                      </a:r>
                    </a:p>
                  </a:txBody>
                  <a:tcPr marL="63500" marR="63500" marT="38100" marB="38100" anchor="ctr">
                    <a:solidFill>
                      <a:srgbClr val="FFFFFF"/>
                    </a:solidFill>
                  </a:tcPr>
                </a:tc>
                <a:tc>
                  <a:txBody>
                    <a:bodyPr/>
                    <a:lstStyle/>
                    <a:p>
                      <a:pPr algn="l"/>
                      <a:r>
                        <a:rPr sz="1000" b="0">
                          <a:solidFill>
                            <a:srgbClr val="343A4E"/>
                          </a:solidFill>
                          <a:latin typeface="Arial"/>
                        </a:rPr>
                        <a:t>M1, M4, M6</a:t>
                      </a:r>
                    </a:p>
                  </a:txBody>
                  <a:tcPr marL="63500" marR="63500" marT="38100" marB="38100" anchor="ctr">
                    <a:solidFill>
                      <a:srgbClr val="FFFFFF"/>
                    </a:solidFill>
                  </a:tcPr>
                </a:tc>
              </a:tr>
            </a:tbl>
          </a:graphicData>
        </a:graphic>
      </p:graphicFrame>
      <p:sp>
        <p:nvSpPr>
          <p:cNvPr id="17" name="Rectangle 16"/>
          <p:cNvSpPr/>
          <p:nvPr/>
        </p:nvSpPr>
        <p:spPr>
          <a:xfrm>
            <a:off x="548640" y="6126480"/>
            <a:ext cx="1109167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0">
                <a:solidFill>
                  <a:srgbClr val="6B7280"/>
                </a:solidFill>
                <a:latin typeface="Arial"/>
              </a:rPr>
              <a:t>Licensing note: the FT Visual Vocabulary is © The Financial Times, all rights reserved — link to it, do not reproduce it in handouts without clearance. The EU Publications Office maintains a separately-licensed derivative.</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STORYTELLING WITH DATA</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Knaflic's six lessons, mapped onto the six modules</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الدروس الستة ومقابلها في الوحدات</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17</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The course is not a paraphrase of the book — it adds perception science, dashboards and live delivery — but the six lessons run underneath it. Name the mapping out loud on Day 1; participants who own the book will be looking for it.</a:t>
            </a:r>
          </a:p>
        </p:txBody>
      </p:sp>
      <p:graphicFrame>
        <p:nvGraphicFramePr>
          <p:cNvPr id="16" name="Table 15"/>
          <p:cNvGraphicFramePr>
            <a:graphicFrameLocks noGrp="1"/>
          </p:cNvGraphicFramePr>
          <p:nvPr/>
        </p:nvGraphicFramePr>
        <p:xfrm>
          <a:off x="548640" y="2926079"/>
          <a:ext cx="11091671" cy="3108959"/>
        </p:xfrm>
        <a:graphic>
          <a:graphicData uri="http://schemas.openxmlformats.org/drawingml/2006/table">
            <a:tbl>
              <a:tblPr>
                <a:tableStyleId>{5C22544A-7EE6-4342-B048-85BDC9FD1C3A}</a:tableStyleId>
              </a:tblPr>
              <a:tblGrid>
                <a:gridCol w="2291486"/>
                <a:gridCol w="1924812"/>
                <a:gridCol w="3300069"/>
                <a:gridCol w="3575304"/>
              </a:tblGrid>
              <a:tr h="444137">
                <a:tc>
                  <a:txBody>
                    <a:bodyPr/>
                    <a:lstStyle/>
                    <a:p>
                      <a:pPr algn="l"/>
                      <a:r>
                        <a:rPr sz="1050" b="1">
                          <a:solidFill>
                            <a:srgbClr val="FFFFFF"/>
                          </a:solidFill>
                          <a:latin typeface="Arial"/>
                        </a:rPr>
                        <a:t>SWD lesson</a:t>
                      </a:r>
                    </a:p>
                  </a:txBody>
                  <a:tcPr marL="63500" marR="63500" marT="38100" marB="38100" anchor="ctr">
                    <a:solidFill>
                      <a:srgbClr val="1D2A5C"/>
                    </a:solidFill>
                  </a:tcPr>
                </a:tc>
                <a:tc>
                  <a:txBody>
                    <a:bodyPr/>
                    <a:lstStyle/>
                    <a:p>
                      <a:pPr algn="l"/>
                      <a:r>
                        <a:rPr sz="1050" b="1">
                          <a:solidFill>
                            <a:srgbClr val="FFFFFF"/>
                          </a:solidFill>
                          <a:latin typeface="Arial"/>
                        </a:rPr>
                        <a:t>Book chapter</a:t>
                      </a:r>
                    </a:p>
                  </a:txBody>
                  <a:tcPr marL="63500" marR="63500" marT="38100" marB="38100" anchor="ctr">
                    <a:solidFill>
                      <a:srgbClr val="1D2A5C"/>
                    </a:solidFill>
                  </a:tcPr>
                </a:tc>
                <a:tc>
                  <a:txBody>
                    <a:bodyPr/>
                    <a:lstStyle/>
                    <a:p>
                      <a:pPr algn="l"/>
                      <a:r>
                        <a:rPr sz="1050" b="1">
                          <a:solidFill>
                            <a:srgbClr val="FFFFFF"/>
                          </a:solidFill>
                          <a:latin typeface="Arial"/>
                        </a:rPr>
                        <a:t>Where this course teaches it</a:t>
                      </a:r>
                    </a:p>
                  </a:txBody>
                  <a:tcPr marL="63500" marR="63500" marT="38100" marB="38100" anchor="ctr">
                    <a:solidFill>
                      <a:srgbClr val="1D2A5C"/>
                    </a:solidFill>
                  </a:tcPr>
                </a:tc>
                <a:tc>
                  <a:txBody>
                    <a:bodyPr/>
                    <a:lstStyle/>
                    <a:p>
                      <a:pPr algn="l"/>
                      <a:r>
                        <a:rPr sz="1050" b="1">
                          <a:solidFill>
                            <a:srgbClr val="FFFFFF"/>
                          </a:solidFill>
                          <a:latin typeface="Arial"/>
                        </a:rPr>
                        <a:t>What this course adds</a:t>
                      </a:r>
                    </a:p>
                  </a:txBody>
                  <a:tcPr marL="63500" marR="63500" marT="38100" marB="38100" anchor="ctr">
                    <a:solidFill>
                      <a:srgbClr val="1D2A5C"/>
                    </a:solidFill>
                  </a:tcPr>
                </a:tc>
              </a:tr>
              <a:tr h="444137">
                <a:tc>
                  <a:txBody>
                    <a:bodyPr/>
                    <a:lstStyle/>
                    <a:p>
                      <a:pPr algn="l"/>
                      <a:r>
                        <a:rPr sz="1000" b="1">
                          <a:solidFill>
                            <a:srgbClr val="1D2A5C"/>
                          </a:solidFill>
                          <a:latin typeface="Arial"/>
                        </a:rPr>
                        <a:t>1 · Understand the context</a:t>
                      </a:r>
                    </a:p>
                  </a:txBody>
                  <a:tcPr marL="63500" marR="63500" marT="38100" marB="38100" anchor="ctr">
                    <a:solidFill>
                      <a:srgbClr val="FFFFFF"/>
                    </a:solidFill>
                  </a:tcPr>
                </a:tc>
                <a:tc>
                  <a:txBody>
                    <a:bodyPr/>
                    <a:lstStyle/>
                    <a:p>
                      <a:pPr algn="l"/>
                      <a:r>
                        <a:rPr sz="1000" b="0">
                          <a:solidFill>
                            <a:srgbClr val="343A4E"/>
                          </a:solidFill>
                          <a:latin typeface="Arial"/>
                        </a:rPr>
                        <a:t>Ch. 1</a:t>
                      </a:r>
                    </a:p>
                  </a:txBody>
                  <a:tcPr marL="63500" marR="63500" marT="38100" marB="38100" anchor="ctr">
                    <a:solidFill>
                      <a:srgbClr val="FFFFFF"/>
                    </a:solidFill>
                  </a:tcPr>
                </a:tc>
                <a:tc>
                  <a:txBody>
                    <a:bodyPr/>
                    <a:lstStyle/>
                    <a:p>
                      <a:pPr algn="l"/>
                      <a:r>
                        <a:rPr sz="1000" b="0">
                          <a:solidFill>
                            <a:srgbClr val="343A4E"/>
                          </a:solidFill>
                          <a:latin typeface="Arial"/>
                        </a:rPr>
                        <a:t>M5 — the four pre-narrative questions</a:t>
                      </a:r>
                    </a:p>
                  </a:txBody>
                  <a:tcPr marL="63500" marR="63500" marT="38100" marB="38100" anchor="ctr">
                    <a:solidFill>
                      <a:srgbClr val="FFFFFF"/>
                    </a:solidFill>
                  </a:tcPr>
                </a:tc>
                <a:tc>
                  <a:txBody>
                    <a:bodyPr/>
                    <a:lstStyle/>
                    <a:p>
                      <a:pPr algn="l"/>
                      <a:r>
                        <a:rPr sz="1000" b="0">
                          <a:solidFill>
                            <a:srgbClr val="343A4E"/>
                          </a:solidFill>
                          <a:latin typeface="Arial"/>
                        </a:rPr>
                        <a:t>A named decision and a costed ask, not just an audience</a:t>
                      </a:r>
                    </a:p>
                  </a:txBody>
                  <a:tcPr marL="63500" marR="63500" marT="38100" marB="38100" anchor="ctr">
                    <a:solidFill>
                      <a:srgbClr val="FFFFFF"/>
                    </a:solidFill>
                  </a:tcPr>
                </a:tc>
              </a:tr>
              <a:tr h="444137">
                <a:tc>
                  <a:txBody>
                    <a:bodyPr/>
                    <a:lstStyle/>
                    <a:p>
                      <a:pPr algn="l"/>
                      <a:r>
                        <a:rPr sz="1000" b="1">
                          <a:solidFill>
                            <a:srgbClr val="1D2A5C"/>
                          </a:solidFill>
                          <a:latin typeface="Arial"/>
                        </a:rPr>
                        <a:t>2 · Choose an effective visual</a:t>
                      </a:r>
                    </a:p>
                  </a:txBody>
                  <a:tcPr marL="63500" marR="63500" marT="38100" marB="38100" anchor="ctr">
                    <a:solidFill>
                      <a:srgbClr val="F4F6FB"/>
                    </a:solidFill>
                  </a:tcPr>
                </a:tc>
                <a:tc>
                  <a:txBody>
                    <a:bodyPr/>
                    <a:lstStyle/>
                    <a:p>
                      <a:pPr algn="l"/>
                      <a:r>
                        <a:rPr sz="1000" b="0">
                          <a:solidFill>
                            <a:srgbClr val="343A4E"/>
                          </a:solidFill>
                          <a:latin typeface="Arial"/>
                        </a:rPr>
                        <a:t>Ch. 2</a:t>
                      </a:r>
                    </a:p>
                  </a:txBody>
                  <a:tcPr marL="63500" marR="63500" marT="38100" marB="38100" anchor="ctr">
                    <a:solidFill>
                      <a:srgbClr val="F4F6FB"/>
                    </a:solidFill>
                  </a:tcPr>
                </a:tc>
                <a:tc>
                  <a:txBody>
                    <a:bodyPr/>
                    <a:lstStyle/>
                    <a:p>
                      <a:pPr algn="l"/>
                      <a:r>
                        <a:rPr sz="1000" b="0">
                          <a:solidFill>
                            <a:srgbClr val="343A4E"/>
                          </a:solidFill>
                          <a:latin typeface="Arial"/>
                        </a:rPr>
                        <a:t>M2 — the chart-chooser and the FT categories</a:t>
                      </a:r>
                    </a:p>
                  </a:txBody>
                  <a:tcPr marL="63500" marR="63500" marT="38100" marB="38100" anchor="ctr">
                    <a:solidFill>
                      <a:srgbClr val="F4F6FB"/>
                    </a:solidFill>
                  </a:tcPr>
                </a:tc>
                <a:tc>
                  <a:txBody>
                    <a:bodyPr/>
                    <a:lstStyle/>
                    <a:p>
                      <a:pPr algn="l"/>
                      <a:r>
                        <a:rPr sz="1000" b="0">
                          <a:solidFill>
                            <a:srgbClr val="343A4E"/>
                          </a:solidFill>
                          <a:latin typeface="Arial"/>
                        </a:rPr>
                        <a:t>Cleveland–McGill, so the choice is measured, not stylistic</a:t>
                      </a:r>
                    </a:p>
                  </a:txBody>
                  <a:tcPr marL="63500" marR="63500" marT="38100" marB="38100" anchor="ctr">
                    <a:solidFill>
                      <a:srgbClr val="F4F6FB"/>
                    </a:solidFill>
                  </a:tcPr>
                </a:tc>
              </a:tr>
              <a:tr h="444137">
                <a:tc>
                  <a:txBody>
                    <a:bodyPr/>
                    <a:lstStyle/>
                    <a:p>
                      <a:pPr algn="l"/>
                      <a:r>
                        <a:rPr sz="1000" b="1">
                          <a:solidFill>
                            <a:srgbClr val="1D2A5C"/>
                          </a:solidFill>
                          <a:latin typeface="Arial"/>
                        </a:rPr>
                        <a:t>3 · Eliminate clutter</a:t>
                      </a:r>
                    </a:p>
                  </a:txBody>
                  <a:tcPr marL="63500" marR="63500" marT="38100" marB="38100" anchor="ctr">
                    <a:solidFill>
                      <a:srgbClr val="FFFFFF"/>
                    </a:solidFill>
                  </a:tcPr>
                </a:tc>
                <a:tc>
                  <a:txBody>
                    <a:bodyPr/>
                    <a:lstStyle/>
                    <a:p>
                      <a:pPr algn="l"/>
                      <a:r>
                        <a:rPr sz="1000" b="0">
                          <a:solidFill>
                            <a:srgbClr val="343A4E"/>
                          </a:solidFill>
                          <a:latin typeface="Arial"/>
                        </a:rPr>
                        <a:t>Ch. 3</a:t>
                      </a:r>
                    </a:p>
                  </a:txBody>
                  <a:tcPr marL="63500" marR="63500" marT="38100" marB="38100" anchor="ctr">
                    <a:solidFill>
                      <a:srgbClr val="FFFFFF"/>
                    </a:solidFill>
                  </a:tcPr>
                </a:tc>
                <a:tc>
                  <a:txBody>
                    <a:bodyPr/>
                    <a:lstStyle/>
                    <a:p>
                      <a:pPr algn="l"/>
                      <a:r>
                        <a:rPr sz="1000" b="0">
                          <a:solidFill>
                            <a:srgbClr val="343A4E"/>
                          </a:solidFill>
                          <a:latin typeface="Arial"/>
                        </a:rPr>
                        <a:t>M3 — the decluttering ladder</a:t>
                      </a:r>
                    </a:p>
                  </a:txBody>
                  <a:tcPr marL="63500" marR="63500" marT="38100" marB="38100" anchor="ctr">
                    <a:solidFill>
                      <a:srgbClr val="FFFFFF"/>
                    </a:solidFill>
                  </a:tcPr>
                </a:tc>
                <a:tc>
                  <a:txBody>
                    <a:bodyPr/>
                    <a:lstStyle/>
                    <a:p>
                      <a:pPr algn="l"/>
                      <a:r>
                        <a:rPr sz="1000" b="0">
                          <a:solidFill>
                            <a:srgbClr val="343A4E"/>
                          </a:solidFill>
                          <a:latin typeface="Arial"/>
                        </a:rPr>
                        <a:t>Data-ink as a ratio you can compute, and a before/after benchmark</a:t>
                      </a:r>
                    </a:p>
                  </a:txBody>
                  <a:tcPr marL="63500" marR="63500" marT="38100" marB="38100" anchor="ctr">
                    <a:solidFill>
                      <a:srgbClr val="FFFFFF"/>
                    </a:solidFill>
                  </a:tcPr>
                </a:tc>
              </a:tr>
              <a:tr h="444137">
                <a:tc>
                  <a:txBody>
                    <a:bodyPr/>
                    <a:lstStyle/>
                    <a:p>
                      <a:pPr algn="l"/>
                      <a:r>
                        <a:rPr sz="1000" b="1">
                          <a:solidFill>
                            <a:srgbClr val="1D2A5C"/>
                          </a:solidFill>
                          <a:latin typeface="Arial"/>
                        </a:rPr>
                        <a:t>4 · Focus attention</a:t>
                      </a:r>
                    </a:p>
                  </a:txBody>
                  <a:tcPr marL="63500" marR="63500" marT="38100" marB="38100" anchor="ctr">
                    <a:solidFill>
                      <a:srgbClr val="F4F6FB"/>
                    </a:solidFill>
                  </a:tcPr>
                </a:tc>
                <a:tc>
                  <a:txBody>
                    <a:bodyPr/>
                    <a:lstStyle/>
                    <a:p>
                      <a:pPr algn="l"/>
                      <a:r>
                        <a:rPr sz="1000" b="0">
                          <a:solidFill>
                            <a:srgbClr val="343A4E"/>
                          </a:solidFill>
                          <a:latin typeface="Arial"/>
                        </a:rPr>
                        <a:t>Ch. 4</a:t>
                      </a:r>
                    </a:p>
                  </a:txBody>
                  <a:tcPr marL="63500" marR="63500" marT="38100" marB="38100" anchor="ctr">
                    <a:solidFill>
                      <a:srgbClr val="F4F6FB"/>
                    </a:solidFill>
                  </a:tcPr>
                </a:tc>
                <a:tc>
                  <a:txBody>
                    <a:bodyPr/>
                    <a:lstStyle/>
                    <a:p>
                      <a:pPr algn="l"/>
                      <a:r>
                        <a:rPr sz="1000" b="0">
                          <a:solidFill>
                            <a:srgbClr val="343A4E"/>
                          </a:solidFill>
                          <a:latin typeface="Arial"/>
                        </a:rPr>
                        <a:t>M1 and M3 — pre-attentive channels, annotation</a:t>
                      </a:r>
                    </a:p>
                  </a:txBody>
                  <a:tcPr marL="63500" marR="63500" marT="38100" marB="38100" anchor="ctr">
                    <a:solidFill>
                      <a:srgbClr val="F4F6FB"/>
                    </a:solidFill>
                  </a:tcPr>
                </a:tc>
                <a:tc>
                  <a:txBody>
                    <a:bodyPr/>
                    <a:lstStyle/>
                    <a:p>
                      <a:pPr algn="l"/>
                      <a:r>
                        <a:rPr sz="1000" b="0">
                          <a:solidFill>
                            <a:srgbClr val="343A4E"/>
                          </a:solidFill>
                          <a:latin typeface="Arial"/>
                        </a:rPr>
                        <a:t>Pre-attentive processing as the mechanism, not a metaphor</a:t>
                      </a:r>
                    </a:p>
                  </a:txBody>
                  <a:tcPr marL="63500" marR="63500" marT="38100" marB="38100" anchor="ctr">
                    <a:solidFill>
                      <a:srgbClr val="F4F6FB"/>
                    </a:solidFill>
                  </a:tcPr>
                </a:tc>
              </a:tr>
              <a:tr h="444137">
                <a:tc>
                  <a:txBody>
                    <a:bodyPr/>
                    <a:lstStyle/>
                    <a:p>
                      <a:pPr algn="l"/>
                      <a:r>
                        <a:rPr sz="1000" b="1">
                          <a:solidFill>
                            <a:srgbClr val="1D2A5C"/>
                          </a:solidFill>
                          <a:latin typeface="Arial"/>
                        </a:rPr>
                        <a:t>5 · Think like a designer</a:t>
                      </a:r>
                    </a:p>
                  </a:txBody>
                  <a:tcPr marL="63500" marR="63500" marT="38100" marB="38100" anchor="ctr">
                    <a:solidFill>
                      <a:srgbClr val="FFFFFF"/>
                    </a:solidFill>
                  </a:tcPr>
                </a:tc>
                <a:tc>
                  <a:txBody>
                    <a:bodyPr/>
                    <a:lstStyle/>
                    <a:p>
                      <a:pPr algn="l"/>
                      <a:r>
                        <a:rPr sz="1000" b="0">
                          <a:solidFill>
                            <a:srgbClr val="343A4E"/>
                          </a:solidFill>
                          <a:latin typeface="Arial"/>
                        </a:rPr>
                        <a:t>Ch. 5 (and Ch. 6, model visuals)</a:t>
                      </a:r>
                    </a:p>
                  </a:txBody>
                  <a:tcPr marL="63500" marR="63500" marT="38100" marB="38100" anchor="ctr">
                    <a:solidFill>
                      <a:srgbClr val="FFFFFF"/>
                    </a:solidFill>
                  </a:tcPr>
                </a:tc>
                <a:tc>
                  <a:txBody>
                    <a:bodyPr/>
                    <a:lstStyle/>
                    <a:p>
                      <a:pPr algn="l"/>
                      <a:r>
                        <a:rPr sz="1000" b="0">
                          <a:solidFill>
                            <a:srgbClr val="343A4E"/>
                          </a:solidFill>
                          <a:latin typeface="Arial"/>
                        </a:rPr>
                        <a:t>M2 composition · M4 dashboard layout</a:t>
                      </a:r>
                    </a:p>
                  </a:txBody>
                  <a:tcPr marL="63500" marR="63500" marT="38100" marB="38100" anchor="ctr">
                    <a:solidFill>
                      <a:srgbClr val="FFFFFF"/>
                    </a:solidFill>
                  </a:tcPr>
                </a:tc>
                <a:tc>
                  <a:txBody>
                    <a:bodyPr/>
                    <a:lstStyle/>
                    <a:p>
                      <a:pPr algn="l"/>
                      <a:r>
                        <a:rPr sz="1000" b="0">
                          <a:solidFill>
                            <a:srgbClr val="343A4E"/>
                          </a:solidFill>
                          <a:latin typeface="Arial"/>
                        </a:rPr>
                        <a:t>Accessibility, CVD safety, and Arabic RTL as design constraints</a:t>
                      </a:r>
                    </a:p>
                  </a:txBody>
                  <a:tcPr marL="63500" marR="63500" marT="38100" marB="38100" anchor="ctr">
                    <a:solidFill>
                      <a:srgbClr val="FFFFFF"/>
                    </a:solidFill>
                  </a:tcPr>
                </a:tc>
              </a:tr>
              <a:tr h="444137">
                <a:tc>
                  <a:txBody>
                    <a:bodyPr/>
                    <a:lstStyle/>
                    <a:p>
                      <a:pPr algn="l"/>
                      <a:r>
                        <a:rPr sz="1000" b="1">
                          <a:solidFill>
                            <a:srgbClr val="1D2A5C"/>
                          </a:solidFill>
                          <a:latin typeface="Arial"/>
                        </a:rPr>
                        <a:t>6 · Tell a story</a:t>
                      </a:r>
                    </a:p>
                  </a:txBody>
                  <a:tcPr marL="63500" marR="63500" marT="38100" marB="38100" anchor="ctr">
                    <a:solidFill>
                      <a:srgbClr val="F4F6FB"/>
                    </a:solidFill>
                  </a:tcPr>
                </a:tc>
                <a:tc>
                  <a:txBody>
                    <a:bodyPr/>
                    <a:lstStyle/>
                    <a:p>
                      <a:pPr algn="l"/>
                      <a:r>
                        <a:rPr sz="1000" b="0">
                          <a:solidFill>
                            <a:srgbClr val="343A4E"/>
                          </a:solidFill>
                          <a:latin typeface="Arial"/>
                        </a:rPr>
                        <a:t>Ch. 7 (Ch. 8–10 synthesis)</a:t>
                      </a:r>
                    </a:p>
                  </a:txBody>
                  <a:tcPr marL="63500" marR="63500" marT="38100" marB="38100" anchor="ctr">
                    <a:solidFill>
                      <a:srgbClr val="F4F6FB"/>
                    </a:solidFill>
                  </a:tcPr>
                </a:tc>
                <a:tc>
                  <a:txBody>
                    <a:bodyPr/>
                    <a:lstStyle/>
                    <a:p>
                      <a:pPr algn="l"/>
                      <a:r>
                        <a:rPr sz="1000" b="0">
                          <a:solidFill>
                            <a:srgbClr val="343A4E"/>
                          </a:solidFill>
                          <a:latin typeface="Arial"/>
                        </a:rPr>
                        <a:t>M5 and M6 — arcs, scenes, the room</a:t>
                      </a:r>
                    </a:p>
                  </a:txBody>
                  <a:tcPr marL="63500" marR="63500" marT="38100" marB="38100" anchor="ctr">
                    <a:solidFill>
                      <a:srgbClr val="F4F6FB"/>
                    </a:solidFill>
                  </a:tcPr>
                </a:tc>
                <a:tc>
                  <a:txBody>
                    <a:bodyPr/>
                    <a:lstStyle/>
                    <a:p>
                      <a:pPr algn="l"/>
                      <a:r>
                        <a:rPr sz="1000" b="0">
                          <a:solidFill>
                            <a:srgbClr val="343A4E"/>
                          </a:solidFill>
                          <a:latin typeface="Arial"/>
                        </a:rPr>
                        <a:t>The Big Idea tied to a SAR 40M decision, and a rehearsed delivery</a:t>
                      </a:r>
                    </a:p>
                  </a:txBody>
                  <a:tcPr marL="63500" marR="63500" marT="38100" marB="38100" anchor="ctr">
                    <a:solidFill>
                      <a:srgbClr val="F4F6FB"/>
                    </a:solidFill>
                  </a:tcPr>
                </a:tc>
              </a:tr>
            </a:tbl>
          </a:graphicData>
        </a:graphic>
      </p:graphicFrame>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THE CASES</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Three cases carry the three days</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الحالات الثلاث</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18</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One golden-thread dataset, three questions asked of it. The capstone is the destination; the other two are the detours that make the capstone defensible when a committee pushes back.</a:t>
            </a:r>
          </a:p>
        </p:txBody>
      </p:sp>
      <p:sp>
        <p:nvSpPr>
          <p:cNvPr id="16" name="Rectangle 15"/>
          <p:cNvSpPr/>
          <p:nvPr/>
        </p:nvSpPr>
        <p:spPr>
          <a:xfrm>
            <a:off x="548640" y="2926079"/>
            <a:ext cx="5413248" cy="1755648"/>
          </a:xfrm>
          <a:prstGeom prst="rect">
            <a:avLst/>
          </a:prstGeom>
          <a:solidFill>
            <a:srgbClr val="EAF0FA"/>
          </a:solidFill>
          <a:ln w="12700">
            <a:solidFill>
              <a:srgbClr val="2E5A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8" y="3054096"/>
            <a:ext cx="504748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2E5AAC"/>
                </a:solidFill>
                <a:latin typeface="Arial"/>
              </a:rPr>
              <a:t>CASE A — THE CAPSTONE</a:t>
            </a:r>
          </a:p>
        </p:txBody>
      </p:sp>
      <p:sp>
        <p:nvSpPr>
          <p:cNvPr id="18" name="Rectangle 17"/>
          <p:cNvSpPr/>
          <p:nvPr/>
        </p:nvSpPr>
        <p:spPr>
          <a:xfrm>
            <a:off x="749808" y="3383279"/>
            <a:ext cx="5010912"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0">
                <a:solidFill>
                  <a:srgbClr val="343A4E"/>
                </a:solidFill>
                <a:latin typeface="Arial"/>
              </a:rPr>
              <a:t>Tayseer National Digital Services Programme: where should the next SAR 40 million be invested?
Runs across all six modules and is what each participant defends on Day 3. Three options are costed; only the targeted regional option gets four of the five stalled regions to 65% by December — and Jazan still lands short at 63.9%.</a:t>
            </a:r>
          </a:p>
        </p:txBody>
      </p:sp>
      <p:sp>
        <p:nvSpPr>
          <p:cNvPr id="19" name="Rectangle 18"/>
          <p:cNvSpPr/>
          <p:nvPr/>
        </p:nvSpPr>
        <p:spPr>
          <a:xfrm>
            <a:off x="6236207" y="2926079"/>
            <a:ext cx="5413248" cy="1755648"/>
          </a:xfrm>
          <a:prstGeom prst="rect">
            <a:avLst/>
          </a:prstGeom>
          <a:solidFill>
            <a:srgbClr val="FCF0E6"/>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37375" y="3054096"/>
            <a:ext cx="504748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E8833A"/>
                </a:solidFill>
                <a:latin typeface="Arial"/>
              </a:rPr>
              <a:t>CASE B — THE HONEST DASHBOARD</a:t>
            </a:r>
          </a:p>
        </p:txBody>
      </p:sp>
      <p:sp>
        <p:nvSpPr>
          <p:cNvPr id="21" name="Rectangle 20"/>
          <p:cNvSpPr/>
          <p:nvPr/>
        </p:nvSpPr>
        <p:spPr>
          <a:xfrm>
            <a:off x="6437375" y="3383279"/>
            <a:ext cx="5010912"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0">
                <a:solidFill>
                  <a:srgbClr val="343A4E"/>
                </a:solidFill>
                <a:latin typeface="Arial"/>
              </a:rPr>
              <a:t>Saudi digital government transformation: how do we communicate progress without building a misleading 'success dashboard'?
KPI design, annotation and executive storytelling. Thirteen named spin techniques, each reproducible from the shipped data.</a:t>
            </a:r>
          </a:p>
        </p:txBody>
      </p:sp>
      <p:sp>
        <p:nvSpPr>
          <p:cNvPr id="22" name="Rectangle 21"/>
          <p:cNvSpPr/>
          <p:nvPr/>
        </p:nvSpPr>
        <p:spPr>
          <a:xfrm>
            <a:off x="548640" y="4882896"/>
            <a:ext cx="5413248" cy="1755648"/>
          </a:xfrm>
          <a:prstGeom prst="rect">
            <a:avLst/>
          </a:prstGeom>
          <a:solidFill>
            <a:srgbClr val="E6F5F4"/>
          </a:solidFill>
          <a:ln w="12700">
            <a:solidFill>
              <a:srgbClr val="00A7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9808" y="5010912"/>
            <a:ext cx="504748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CASE C — REGIONAL INEQUALITY</a:t>
            </a:r>
          </a:p>
        </p:txBody>
      </p:sp>
      <p:sp>
        <p:nvSpPr>
          <p:cNvPr id="24" name="Rectangle 23"/>
          <p:cNvSpPr/>
          <p:nvPr/>
        </p:nvSpPr>
        <p:spPr>
          <a:xfrm>
            <a:off x="749808" y="5340096"/>
            <a:ext cx="5010912"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0">
                <a:solidFill>
                  <a:srgbClr val="343A4E"/>
                </a:solidFill>
                <a:latin typeface="Arial"/>
              </a:rPr>
              <a:t>Which regions are underserved once we control for population?
Normalisation, maps and ranking. The ranking inverts when you divide by population — which is the entire lesson, and the rebuttal to the committee's 'those regions are just small'.</a:t>
            </a:r>
          </a:p>
        </p:txBody>
      </p:sp>
      <p:sp>
        <p:nvSpPr>
          <p:cNvPr id="25" name="Rectangle 24"/>
          <p:cNvSpPr/>
          <p:nvPr/>
        </p:nvSpPr>
        <p:spPr>
          <a:xfrm>
            <a:off x="6236207" y="4882896"/>
            <a:ext cx="5413248" cy="1755648"/>
          </a:xfrm>
          <a:prstGeom prst="rect">
            <a:avLst/>
          </a:prstGeom>
          <a:solidFill>
            <a:srgbClr val="EFEBF6"/>
          </a:solidFill>
          <a:ln w="12700">
            <a:solidFill>
              <a:srgbClr val="6C4F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37375" y="5010912"/>
            <a:ext cx="504748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6C4FA1"/>
                </a:solidFill>
                <a:latin typeface="Arial"/>
              </a:rPr>
              <a:t>WHY THREE AND NOT ONE</a:t>
            </a:r>
          </a:p>
        </p:txBody>
      </p:sp>
      <p:sp>
        <p:nvSpPr>
          <p:cNvPr id="27" name="Rectangle 26"/>
          <p:cNvSpPr/>
          <p:nvPr/>
        </p:nvSpPr>
        <p:spPr>
          <a:xfrm>
            <a:off x="6437375" y="5340096"/>
            <a:ext cx="5010912"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0">
                <a:solidFill>
                  <a:srgbClr val="343A4E"/>
                </a:solidFill>
                <a:latin typeface="Arial"/>
              </a:rPr>
              <a:t>Case A teaches persuasion. Case B teaches the ethics that keep persuasion honest. Case C teaches the arithmetic that survives cross-examination. A participant who can only do A will win the room once and lose it the following quarter.</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REAL DATA SOURCES</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Where the real Saudi numbers live</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مصادر البيانات الوطنية</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19</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The Tayseer dataset is synthetic — deliberately, so nothing in the room is sensitive. When participants take this home they will need real sources. These four are the ones a Saudi analyst actually uses. Verified September 2026.</a:t>
            </a:r>
          </a:p>
        </p:txBody>
      </p:sp>
      <p:graphicFrame>
        <p:nvGraphicFramePr>
          <p:cNvPr id="16" name="Table 15"/>
          <p:cNvGraphicFramePr>
            <a:graphicFrameLocks noGrp="1"/>
          </p:cNvGraphicFramePr>
          <p:nvPr/>
        </p:nvGraphicFramePr>
        <p:xfrm>
          <a:off x="548640" y="2926079"/>
          <a:ext cx="11091671" cy="3108960"/>
        </p:xfrm>
        <a:graphic>
          <a:graphicData uri="http://schemas.openxmlformats.org/drawingml/2006/table">
            <a:tbl>
              <a:tblPr>
                <a:tableStyleId>{5C22544A-7EE6-4342-B048-85BDC9FD1C3A}</a:tableStyleId>
              </a:tblPr>
              <a:tblGrid>
                <a:gridCol w="2329891"/>
                <a:gridCol w="3355848"/>
                <a:gridCol w="3076041"/>
                <a:gridCol w="2329891"/>
              </a:tblGrid>
              <a:tr h="518160">
                <a:tc>
                  <a:txBody>
                    <a:bodyPr/>
                    <a:lstStyle/>
                    <a:p>
                      <a:pPr algn="l"/>
                      <a:r>
                        <a:rPr sz="1000" b="1">
                          <a:solidFill>
                            <a:srgbClr val="FFFFFF"/>
                          </a:solidFill>
                          <a:latin typeface="Arial"/>
                        </a:rPr>
                        <a:t>Source</a:t>
                      </a:r>
                    </a:p>
                  </a:txBody>
                  <a:tcPr marL="63500" marR="63500" marT="38100" marB="38100" anchor="ctr">
                    <a:solidFill>
                      <a:srgbClr val="1D2A5C"/>
                    </a:solidFill>
                  </a:tcPr>
                </a:tc>
                <a:tc>
                  <a:txBody>
                    <a:bodyPr/>
                    <a:lstStyle/>
                    <a:p>
                      <a:pPr algn="l"/>
                      <a:r>
                        <a:rPr sz="1000" b="1">
                          <a:solidFill>
                            <a:srgbClr val="FFFFFF"/>
                          </a:solidFill>
                          <a:latin typeface="Arial"/>
                        </a:rPr>
                        <a:t>What it holds</a:t>
                      </a:r>
                    </a:p>
                  </a:txBody>
                  <a:tcPr marL="63500" marR="63500" marT="38100" marB="38100" anchor="ctr">
                    <a:solidFill>
                      <a:srgbClr val="1D2A5C"/>
                    </a:solidFill>
                  </a:tcPr>
                </a:tc>
                <a:tc>
                  <a:txBody>
                    <a:bodyPr/>
                    <a:lstStyle/>
                    <a:p>
                      <a:pPr algn="l"/>
                      <a:r>
                        <a:rPr sz="1000" b="1">
                          <a:solidFill>
                            <a:srgbClr val="FFFFFF"/>
                          </a:solidFill>
                          <a:latin typeface="Arial"/>
                        </a:rPr>
                        <a:t>How you get it</a:t>
                      </a:r>
                    </a:p>
                  </a:txBody>
                  <a:tcPr marL="63500" marR="63500" marT="38100" marB="38100" anchor="ctr">
                    <a:solidFill>
                      <a:srgbClr val="1D2A5C"/>
                    </a:solidFill>
                  </a:tcPr>
                </a:tc>
                <a:tc>
                  <a:txBody>
                    <a:bodyPr/>
                    <a:lstStyle/>
                    <a:p>
                      <a:pPr algn="l"/>
                      <a:r>
                        <a:rPr sz="1000" b="1">
                          <a:solidFill>
                            <a:srgbClr val="FFFFFF"/>
                          </a:solidFill>
                          <a:latin typeface="Arial"/>
                        </a:rPr>
                        <a:t>Licence for reuse</a:t>
                      </a:r>
                    </a:p>
                  </a:txBody>
                  <a:tcPr marL="63500" marR="63500" marT="38100" marB="38100" anchor="ctr">
                    <a:solidFill>
                      <a:srgbClr val="1D2A5C"/>
                    </a:solidFill>
                  </a:tcPr>
                </a:tc>
              </a:tr>
              <a:tr h="518160">
                <a:tc>
                  <a:txBody>
                    <a:bodyPr/>
                    <a:lstStyle/>
                    <a:p>
                      <a:pPr algn="l"/>
                      <a:r>
                        <a:rPr sz="900" b="1">
                          <a:solidFill>
                            <a:srgbClr val="1D2A5C"/>
                          </a:solidFill>
                          <a:latin typeface="Arial"/>
                        </a:rPr>
                        <a:t>GASTAT — الهيئة العامة للإحصاء
stats.gov.sa · database.stats.gov.sa</a:t>
                      </a:r>
                    </a:p>
                  </a:txBody>
                  <a:tcPr marL="63500" marR="63500" marT="38100" marB="38100" anchor="ctr">
                    <a:solidFill>
                      <a:srgbClr val="FFFFFF"/>
                    </a:solidFill>
                  </a:tcPr>
                </a:tc>
                <a:tc>
                  <a:txBody>
                    <a:bodyPr/>
                    <a:lstStyle/>
                    <a:p>
                      <a:pPr algn="l"/>
                      <a:r>
                        <a:rPr sz="900" b="0">
                          <a:solidFill>
                            <a:srgbClr val="343A4E"/>
                          </a:solidFill>
                          <a:latin typeface="Arial"/>
                        </a:rPr>
                        <a:t>Population by region, demographics, households, labour, ICT access &amp; usage; Census 2022</a:t>
                      </a:r>
                    </a:p>
                  </a:txBody>
                  <a:tcPr marL="63500" marR="63500" marT="38100" marB="38100" anchor="ctr">
                    <a:solidFill>
                      <a:srgbClr val="FFFFFF"/>
                    </a:solidFill>
                  </a:tcPr>
                </a:tc>
                <a:tc>
                  <a:txBody>
                    <a:bodyPr/>
                    <a:lstStyle/>
                    <a:p>
                      <a:pPr algn="l"/>
                      <a:r>
                        <a:rPr sz="900" b="0">
                          <a:solidFill>
                            <a:srgbClr val="343A4E"/>
                          </a:solidFill>
                          <a:latin typeface="Arial"/>
                        </a:rPr>
                        <a:t>PDF + XLSX per release; separate statistical database; microdata on request. No public API.</a:t>
                      </a:r>
                    </a:p>
                  </a:txBody>
                  <a:tcPr marL="63500" marR="63500" marT="38100" marB="38100" anchor="ctr">
                    <a:solidFill>
                      <a:srgbClr val="FFFFFF"/>
                    </a:solidFill>
                  </a:tcPr>
                </a:tc>
                <a:tc>
                  <a:txBody>
                    <a:bodyPr/>
                    <a:lstStyle/>
                    <a:p>
                      <a:pPr algn="l"/>
                      <a:r>
                        <a:rPr sz="900" b="0">
                          <a:solidFill>
                            <a:srgbClr val="343A4E"/>
                          </a:solidFill>
                          <a:latin typeface="Arial"/>
                        </a:rPr>
                        <a:t>Reuse permitted, including commercial, with attribution and modifications marked</a:t>
                      </a:r>
                    </a:p>
                  </a:txBody>
                  <a:tcPr marL="63500" marR="63500" marT="38100" marB="38100" anchor="ctr">
                    <a:solidFill>
                      <a:srgbClr val="FFFFFF"/>
                    </a:solidFill>
                  </a:tcPr>
                </a:tc>
              </a:tr>
              <a:tr h="518160">
                <a:tc>
                  <a:txBody>
                    <a:bodyPr/>
                    <a:lstStyle/>
                    <a:p>
                      <a:pPr algn="l"/>
                      <a:r>
                        <a:rPr sz="900" b="1">
                          <a:solidFill>
                            <a:srgbClr val="1D2A5C"/>
                          </a:solidFill>
                          <a:latin typeface="Arial"/>
                        </a:rPr>
                        <a:t>DGA — هيئة الحكومة الرقمية
dga.gov.sa</a:t>
                      </a:r>
                    </a:p>
                  </a:txBody>
                  <a:tcPr marL="63500" marR="63500" marT="38100" marB="38100" anchor="ctr">
                    <a:solidFill>
                      <a:srgbClr val="F4F6FB"/>
                    </a:solidFill>
                  </a:tcPr>
                </a:tc>
                <a:tc>
                  <a:txBody>
                    <a:bodyPr/>
                    <a:lstStyle/>
                    <a:p>
                      <a:pPr algn="l"/>
                      <a:r>
                        <a:rPr sz="900" b="0">
                          <a:solidFill>
                            <a:srgbClr val="343A4E"/>
                          </a:solidFill>
                          <a:latin typeface="Arial"/>
                        </a:rPr>
                        <a:t>Two separate annual indices: Qiyas (Digital Transformation Measurement, entity-level) and DXMI (Digital Experience Maturity, service-level)</a:t>
                      </a:r>
                    </a:p>
                  </a:txBody>
                  <a:tcPr marL="63500" marR="63500" marT="38100" marB="38100" anchor="ctr">
                    <a:solidFill>
                      <a:srgbClr val="F4F6FB"/>
                    </a:solidFill>
                  </a:tcPr>
                </a:tc>
                <a:tc>
                  <a:txBody>
                    <a:bodyPr/>
                    <a:lstStyle/>
                    <a:p>
                      <a:pPr algn="l"/>
                      <a:r>
                        <a:rPr sz="900" b="0">
                          <a:solidFill>
                            <a:srgbClr val="343A4E"/>
                          </a:solidFill>
                          <a:latin typeface="Arial"/>
                        </a:rPr>
                        <a:t>Web pages and PDF reports. The site blocks automated fetching — screenshot by hand.</a:t>
                      </a:r>
                    </a:p>
                  </a:txBody>
                  <a:tcPr marL="63500" marR="63500" marT="38100" marB="38100" anchor="ctr">
                    <a:solidFill>
                      <a:srgbClr val="F4F6FB"/>
                    </a:solidFill>
                  </a:tcPr>
                </a:tc>
                <a:tc>
                  <a:txBody>
                    <a:bodyPr/>
                    <a:lstStyle/>
                    <a:p>
                      <a:pPr algn="l"/>
                      <a:r>
                        <a:rPr sz="900" b="0">
                          <a:solidFill>
                            <a:srgbClr val="343A4E"/>
                          </a:solidFill>
                          <a:latin typeface="Arial"/>
                        </a:rPr>
                        <a:t>Not stated — cite, do not redistribute</a:t>
                      </a:r>
                    </a:p>
                  </a:txBody>
                  <a:tcPr marL="63500" marR="63500" marT="38100" marB="38100" anchor="ctr">
                    <a:solidFill>
                      <a:srgbClr val="F4F6FB"/>
                    </a:solidFill>
                  </a:tcPr>
                </a:tc>
              </a:tr>
              <a:tr h="518160">
                <a:tc>
                  <a:txBody>
                    <a:bodyPr/>
                    <a:lstStyle/>
                    <a:p>
                      <a:pPr algn="l"/>
                      <a:r>
                        <a:rPr sz="900" b="1">
                          <a:solidFill>
                            <a:srgbClr val="1D2A5C"/>
                          </a:solidFill>
                          <a:latin typeface="Arial"/>
                        </a:rPr>
                        <a:t>Saudi Open Data
open.data.gov.sa</a:t>
                      </a:r>
                    </a:p>
                  </a:txBody>
                  <a:tcPr marL="63500" marR="63500" marT="38100" marB="38100" anchor="ctr">
                    <a:solidFill>
                      <a:srgbClr val="FFFFFF"/>
                    </a:solidFill>
                  </a:tcPr>
                </a:tc>
                <a:tc>
                  <a:txBody>
                    <a:bodyPr/>
                    <a:lstStyle/>
                    <a:p>
                      <a:pPr algn="l"/>
                      <a:r>
                        <a:rPr sz="900" b="0">
                          <a:solidFill>
                            <a:srgbClr val="343A4E"/>
                          </a:solidFill>
                          <a:latin typeface="Arial"/>
                        </a:rPr>
                        <a:t>Datasets by publishing entity, theme and keyword, including GIS — per my.gov.sa; the portal itself could not be reached for first-hand checking</a:t>
                      </a:r>
                    </a:p>
                  </a:txBody>
                  <a:tcPr marL="63500" marR="63500" marT="38100" marB="38100" anchor="ctr">
                    <a:solidFill>
                      <a:srgbClr val="FFFFFF"/>
                    </a:solidFill>
                  </a:tcPr>
                </a:tc>
                <a:tc>
                  <a:txBody>
                    <a:bodyPr/>
                    <a:lstStyle/>
                    <a:p>
                      <a:pPr algn="l"/>
                      <a:r>
                        <a:rPr sz="900" b="0">
                          <a:solidFill>
                            <a:srgbClr val="343A4E"/>
                          </a:solidFill>
                          <a:latin typeface="Arial"/>
                        </a:rPr>
                        <a:t>Browse and download; developer APIs advertised. Confirm from a Saudi network before relying on it.</a:t>
                      </a:r>
                    </a:p>
                  </a:txBody>
                  <a:tcPr marL="63500" marR="63500" marT="38100" marB="38100" anchor="ctr">
                    <a:solidFill>
                      <a:srgbClr val="FFFFFF"/>
                    </a:solidFill>
                  </a:tcPr>
                </a:tc>
                <a:tc>
                  <a:txBody>
                    <a:bodyPr/>
                    <a:lstStyle/>
                    <a:p>
                      <a:pPr algn="l"/>
                      <a:r>
                        <a:rPr sz="900" b="0">
                          <a:solidFill>
                            <a:srgbClr val="343A4E"/>
                          </a:solidFill>
                          <a:latin typeface="Arial"/>
                        </a:rPr>
                        <a:t>An Open Data Licence: attribution, and disclose the licence when redistributing</a:t>
                      </a:r>
                    </a:p>
                  </a:txBody>
                  <a:tcPr marL="63500" marR="63500" marT="38100" marB="38100" anchor="ctr">
                    <a:solidFill>
                      <a:srgbClr val="FFFFFF"/>
                    </a:solidFill>
                  </a:tcPr>
                </a:tc>
              </a:tr>
              <a:tr h="518160">
                <a:tc>
                  <a:txBody>
                    <a:bodyPr/>
                    <a:lstStyle/>
                    <a:p>
                      <a:pPr algn="l"/>
                      <a:r>
                        <a:rPr sz="900" b="1">
                          <a:solidFill>
                            <a:srgbClr val="1D2A5C"/>
                          </a:solidFill>
                          <a:latin typeface="Arial"/>
                        </a:rPr>
                        <a:t>DataSaudi
datasaudi.sa (Ministry of Economy &amp; Planning)</a:t>
                      </a:r>
                    </a:p>
                  </a:txBody>
                  <a:tcPr marL="63500" marR="63500" marT="38100" marB="38100" anchor="ctr">
                    <a:solidFill>
                      <a:srgbClr val="F4F6FB"/>
                    </a:solidFill>
                  </a:tcPr>
                </a:tc>
                <a:tc>
                  <a:txBody>
                    <a:bodyPr/>
                    <a:lstStyle/>
                    <a:p>
                      <a:pPr algn="l"/>
                      <a:r>
                        <a:rPr sz="900" b="0">
                          <a:solidFill>
                            <a:srgbClr val="343A4E"/>
                          </a:solidFill>
                          <a:latin typeface="Arial"/>
                        </a:rPr>
                        <a:t>Interactive economic and social visualisations for the Kingdom and all 13 regions, including density maps</a:t>
                      </a:r>
                    </a:p>
                  </a:txBody>
                  <a:tcPr marL="63500" marR="63500" marT="38100" marB="38100" anchor="ctr">
                    <a:solidFill>
                      <a:srgbClr val="F4F6FB"/>
                    </a:solidFill>
                  </a:tcPr>
                </a:tc>
                <a:tc>
                  <a:txBody>
                    <a:bodyPr/>
                    <a:lstStyle/>
                    <a:p>
                      <a:pPr algn="l"/>
                      <a:r>
                        <a:rPr sz="900" b="0">
                          <a:solidFill>
                            <a:srgbClr val="343A4E"/>
                          </a:solidFill>
                          <a:latin typeface="Arial"/>
                        </a:rPr>
                        <a:t>Browser only. No documented bulk download or API.</a:t>
                      </a:r>
                    </a:p>
                  </a:txBody>
                  <a:tcPr marL="63500" marR="63500" marT="38100" marB="38100" anchor="ctr">
                    <a:solidFill>
                      <a:srgbClr val="F4F6FB"/>
                    </a:solidFill>
                  </a:tcPr>
                </a:tc>
                <a:tc>
                  <a:txBody>
                    <a:bodyPr/>
                    <a:lstStyle/>
                    <a:p>
                      <a:pPr algn="l"/>
                      <a:r>
                        <a:rPr sz="900" b="0">
                          <a:solidFill>
                            <a:srgbClr val="343A4E"/>
                          </a:solidFill>
                          <a:latin typeface="Arial"/>
                        </a:rPr>
                        <a:t>NO open licence stated — 'All Rights Reserved'. Demo from it; do not redistribute.</a:t>
                      </a:r>
                    </a:p>
                  </a:txBody>
                  <a:tcPr marL="63500" marR="63500" marT="38100" marB="38100" anchor="ctr">
                    <a:solidFill>
                      <a:srgbClr val="F4F6FB"/>
                    </a:solidFill>
                  </a:tcPr>
                </a:tc>
              </a:tr>
              <a:tr h="518160">
                <a:tc>
                  <a:txBody>
                    <a:bodyPr/>
                    <a:lstStyle/>
                    <a:p>
                      <a:pPr algn="l"/>
                      <a:r>
                        <a:rPr sz="900" b="1">
                          <a:solidFill>
                            <a:srgbClr val="1D2A5C"/>
                          </a:solidFill>
                          <a:latin typeface="Arial"/>
                        </a:rPr>
                        <a:t>Vision 2030
vision2030.gov.sa/en/annual-reports</a:t>
                      </a:r>
                    </a:p>
                  </a:txBody>
                  <a:tcPr marL="63500" marR="63500" marT="38100" marB="38100" anchor="ctr">
                    <a:solidFill>
                      <a:srgbClr val="FFFFFF"/>
                    </a:solidFill>
                  </a:tcPr>
                </a:tc>
                <a:tc>
                  <a:txBody>
                    <a:bodyPr/>
                    <a:lstStyle/>
                    <a:p>
                      <a:pPr algn="l"/>
                      <a:r>
                        <a:rPr sz="900" b="0">
                          <a:solidFill>
                            <a:srgbClr val="343A4E"/>
                          </a:solidFill>
                          <a:latin typeface="Arial"/>
                        </a:rPr>
                        <a:t>The Vision document and annual reports; the national KPI tables live inside the VRP report PDFs, not on the site as data</a:t>
                      </a:r>
                    </a:p>
                  </a:txBody>
                  <a:tcPr marL="63500" marR="63500" marT="38100" marB="38100" anchor="ctr">
                    <a:solidFill>
                      <a:srgbClr val="FFFFFF"/>
                    </a:solidFill>
                  </a:tcPr>
                </a:tc>
                <a:tc>
                  <a:txBody>
                    <a:bodyPr/>
                    <a:lstStyle/>
                    <a:p>
                      <a:pPr algn="l"/>
                      <a:r>
                        <a:rPr sz="900" b="0">
                          <a:solidFill>
                            <a:srgbClr val="343A4E"/>
                          </a:solidFill>
                          <a:latin typeface="Arial"/>
                        </a:rPr>
                        <a:t>PDF only. Example: NTP Annual Report 2025, KPI appendix pp. 79–86 — baseline / target / actual with years.</a:t>
                      </a:r>
                    </a:p>
                  </a:txBody>
                  <a:tcPr marL="63500" marR="63500" marT="38100" marB="38100" anchor="ctr">
                    <a:solidFill>
                      <a:srgbClr val="FFFFFF"/>
                    </a:solidFill>
                  </a:tcPr>
                </a:tc>
                <a:tc>
                  <a:txBody>
                    <a:bodyPr/>
                    <a:lstStyle/>
                    <a:p>
                      <a:pPr algn="l"/>
                      <a:r>
                        <a:rPr sz="900" b="0">
                          <a:solidFill>
                            <a:srgbClr val="343A4E"/>
                          </a:solidFill>
                          <a:latin typeface="Arial"/>
                        </a:rPr>
                        <a:t>Not stated — cite with attribution</a:t>
                      </a:r>
                    </a:p>
                  </a:txBody>
                  <a:tcPr marL="63500" marR="63500" marT="38100" marB="38100" anchor="ctr">
                    <a:solidFill>
                      <a:srgbClr val="FFFFFF"/>
                    </a:solidFill>
                  </a:tcPr>
                </a:tc>
              </a:tr>
            </a:tbl>
          </a:graphicData>
        </a:graphic>
      </p:graphicFrame>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SOURCE GOTCHAS</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Verify before you teach — nine traps in the public sources</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تحذيرات قبل الاستخدام</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20</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Every item below was checked in September 2026 and each one has bitten somebody. Re-verify before each delivery; government URLs in the Kingdom are being consolidated actively.</a:t>
            </a:r>
          </a:p>
        </p:txBody>
      </p:sp>
      <p:sp>
        <p:nvSpPr>
          <p:cNvPr id="16" name="Rectangle 15"/>
          <p:cNvSpPr/>
          <p:nvPr/>
        </p:nvSpPr>
        <p:spPr>
          <a:xfrm>
            <a:off x="548640" y="2926079"/>
            <a:ext cx="11091672"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1">
                <a:solidFill>
                  <a:srgbClr val="2E5AAC"/>
                </a:solidFill>
                <a:latin typeface="Arial"/>
              </a:rPr>
              <a:t>▸  </a:t>
            </a:r>
            <a:r>
              <a:rPr sz="1050" b="1">
                <a:solidFill>
                  <a:srgbClr val="1D2A5C"/>
                </a:solidFill>
                <a:latin typeface="Arial"/>
              </a:rPr>
              <a:t>Dead census portal. </a:t>
            </a:r>
            <a:r>
              <a:rPr sz="1050" b="0">
                <a:solidFill>
                  <a:srgbClr val="343A4E"/>
                </a:solidFill>
                <a:latin typeface="Arial"/>
              </a:rPr>
              <a:t>saudicensus.sa and portal.saudicensus.sa no longer resolve — DNS failure, not a 404. Census 2022 now sits inside stats.gov.sa under 'Saudi Census Statistics 2022'. Old bookmarks and old slides are broken.</a:t>
            </a:r>
          </a:p>
        </p:txBody>
      </p:sp>
      <p:sp>
        <p:nvSpPr>
          <p:cNvPr id="17" name="Rectangle 16"/>
          <p:cNvSpPr/>
          <p:nvPr/>
        </p:nvSpPr>
        <p:spPr>
          <a:xfrm>
            <a:off x="548640" y="3328415"/>
            <a:ext cx="11091672"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1">
                <a:solidFill>
                  <a:srgbClr val="00A79D"/>
                </a:solidFill>
                <a:latin typeface="Arial"/>
              </a:rPr>
              <a:t>▸  </a:t>
            </a:r>
            <a:r>
              <a:rPr sz="1050" b="1">
                <a:solidFill>
                  <a:srgbClr val="1D2A5C"/>
                </a:solidFill>
                <a:latin typeface="Arial"/>
              </a:rPr>
              <a:t>There is no 'Digital Government Maturity Index'. </a:t>
            </a:r>
            <a:r>
              <a:rPr sz="1050" b="0">
                <a:solidFill>
                  <a:srgbClr val="343A4E"/>
                </a:solidFill>
                <a:latin typeface="Arial"/>
              </a:rPr>
              <a:t>DGA runs two separate annual indices — Qiyas (transformation, entity-level) and DXMI (experience, service-level). The World Bank GovTech Maturity Index is a third, non-Saudi index. Conflating them in a SDAIA room is conspicuous.</a:t>
            </a:r>
          </a:p>
        </p:txBody>
      </p:sp>
      <p:sp>
        <p:nvSpPr>
          <p:cNvPr id="18" name="Rectangle 17"/>
          <p:cNvSpPr/>
          <p:nvPr/>
        </p:nvSpPr>
        <p:spPr>
          <a:xfrm>
            <a:off x="548640" y="3730752"/>
            <a:ext cx="11091672"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1">
                <a:solidFill>
                  <a:srgbClr val="E8833A"/>
                </a:solidFill>
                <a:latin typeface="Arial"/>
              </a:rPr>
              <a:t>▸  </a:t>
            </a:r>
            <a:r>
              <a:rPr sz="1050" b="1">
                <a:solidFill>
                  <a:srgbClr val="1D2A5C"/>
                </a:solidFill>
                <a:latin typeface="Arial"/>
              </a:rPr>
              <a:t>No 2026 UN E-Government Survey exists. </a:t>
            </a:r>
            <a:r>
              <a:rPr sz="1050" b="0">
                <a:solidFill>
                  <a:srgbClr val="343A4E"/>
                </a:solidFill>
                <a:latin typeface="Arial"/>
              </a:rPr>
              <a:t>The most recent edition is 2024, in which Saudi Arabia ranked 6th globally with an EGDI of 0.960. Do not cite a '2026 EGDI'.</a:t>
            </a:r>
          </a:p>
        </p:txBody>
      </p:sp>
      <p:sp>
        <p:nvSpPr>
          <p:cNvPr id="19" name="Rectangle 18"/>
          <p:cNvSpPr/>
          <p:nvPr/>
        </p:nvSpPr>
        <p:spPr>
          <a:xfrm>
            <a:off x="548640" y="4133087"/>
            <a:ext cx="11091672"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1">
                <a:solidFill>
                  <a:srgbClr val="6C4FA1"/>
                </a:solidFill>
                <a:latin typeface="Arial"/>
              </a:rPr>
              <a:t>▸  </a:t>
            </a:r>
            <a:r>
              <a:rPr sz="1050" b="1">
                <a:solidFill>
                  <a:srgbClr val="1D2A5C"/>
                </a:solidFill>
                <a:latin typeface="Arial"/>
              </a:rPr>
              <a:t>No 2025 or 2026 population estimate has been published. </a:t>
            </a:r>
            <a:r>
              <a:rPr sz="1050" b="0">
                <a:solidFill>
                  <a:srgbClr val="343A4E"/>
                </a:solidFill>
                <a:latin typeface="Arial"/>
              </a:rPr>
              <a:t>The current official figure is the mid-2024 estimate of 35.3 million. Anything more recent is somebody's projection.</a:t>
            </a:r>
          </a:p>
        </p:txBody>
      </p:sp>
      <p:sp>
        <p:nvSpPr>
          <p:cNvPr id="20" name="Rectangle 19"/>
          <p:cNvSpPr/>
          <p:nvPr/>
        </p:nvSpPr>
        <p:spPr>
          <a:xfrm>
            <a:off x="548640" y="4535424"/>
            <a:ext cx="11091672"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1">
                <a:solidFill>
                  <a:srgbClr val="3FAE5A"/>
                </a:solidFill>
                <a:latin typeface="Arial"/>
              </a:rPr>
              <a:t>▸  </a:t>
            </a:r>
            <a:r>
              <a:rPr sz="1050" b="1">
                <a:solidFill>
                  <a:srgbClr val="1D2A5C"/>
                </a:solidFill>
                <a:latin typeface="Arial"/>
              </a:rPr>
              <a:t>Stale pages outrank current ones. </a:t>
            </a:r>
            <a:r>
              <a:rPr sz="1050" b="0">
                <a:solidFill>
                  <a:srgbClr val="343A4E"/>
                </a:solidFill>
                <a:latin typeface="Arial"/>
              </a:rPr>
              <a:t>A GASTAT internet-usage page from May 2018 still outranks the 2025 ICT release in search. Check the publication date on every page before you quote it.</a:t>
            </a:r>
          </a:p>
        </p:txBody>
      </p:sp>
      <p:sp>
        <p:nvSpPr>
          <p:cNvPr id="21" name="Rectangle 20"/>
          <p:cNvSpPr/>
          <p:nvPr/>
        </p:nvSpPr>
        <p:spPr>
          <a:xfrm>
            <a:off x="548640" y="4937760"/>
            <a:ext cx="11091672"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1">
                <a:solidFill>
                  <a:srgbClr val="29ABE2"/>
                </a:solidFill>
                <a:latin typeface="Arial"/>
              </a:rPr>
              <a:t>▸  </a:t>
            </a:r>
            <a:r>
              <a:rPr sz="1050" b="1">
                <a:solidFill>
                  <a:srgbClr val="1D2A5C"/>
                </a:solidFill>
                <a:latin typeface="Arial"/>
              </a:rPr>
              <a:t>Several government sites block automated access. </a:t>
            </a:r>
            <a:r>
              <a:rPr sz="1050" b="0">
                <a:solidFill>
                  <a:srgbClr val="343A4E"/>
                </a:solidFill>
                <a:latin typeface="Arial"/>
              </a:rPr>
              <a:t>dga.gov.sa, sdaia.gov.sa and parts of my.gov.sa return 403 to scripts while working normally in a browser. A scraping exercise built on them will fail in the room.</a:t>
            </a:r>
          </a:p>
        </p:txBody>
      </p:sp>
      <p:sp>
        <p:nvSpPr>
          <p:cNvPr id="22" name="Rectangle 21"/>
          <p:cNvSpPr/>
          <p:nvPr/>
        </p:nvSpPr>
        <p:spPr>
          <a:xfrm>
            <a:off x="548640" y="5340096"/>
            <a:ext cx="11091672"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1">
                <a:solidFill>
                  <a:srgbClr val="2E5AAC"/>
                </a:solidFill>
                <a:latin typeface="Arial"/>
              </a:rPr>
              <a:t>▸  </a:t>
            </a:r>
            <a:r>
              <a:rPr sz="1050" b="1">
                <a:solidFill>
                  <a:srgbClr val="1D2A5C"/>
                </a:solidFill>
                <a:latin typeface="Arial"/>
              </a:rPr>
              <a:t>Vision 2030 and DataSaudi are JavaScript-rendered. </a:t>
            </a:r>
            <a:r>
              <a:rPr sz="1050" b="0">
                <a:solidFill>
                  <a:srgbClr val="343A4E"/>
                </a:solidFill>
                <a:latin typeface="Arial"/>
              </a:rPr>
              <a:t>A plain HTTP fetch returns metadata only. Any scraping lab needs a headless browser.</a:t>
            </a:r>
          </a:p>
        </p:txBody>
      </p:sp>
      <p:sp>
        <p:nvSpPr>
          <p:cNvPr id="23" name="Rectangle 22"/>
          <p:cNvSpPr/>
          <p:nvPr/>
        </p:nvSpPr>
        <p:spPr>
          <a:xfrm>
            <a:off x="548640" y="5742431"/>
            <a:ext cx="11091672"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1">
                <a:solidFill>
                  <a:srgbClr val="00A79D"/>
                </a:solidFill>
                <a:latin typeface="Arial"/>
              </a:rPr>
              <a:t>▸  </a:t>
            </a:r>
            <a:r>
              <a:rPr sz="1050" b="1">
                <a:solidFill>
                  <a:srgbClr val="1D2A5C"/>
                </a:solidFill>
                <a:latin typeface="Arial"/>
              </a:rPr>
              <a:t>Percentages do not travel. </a:t>
            </a:r>
            <a:r>
              <a:rPr sz="1050" b="0">
                <a:solidFill>
                  <a:srgbClr val="343A4E"/>
                </a:solidFill>
                <a:latin typeface="Arial"/>
              </a:rPr>
              <a:t>Every index above is a composite with its own weighting. Quoting a change in an index score as if it were a change in a quantity is the same error as averaging an average.</a:t>
            </a:r>
          </a:p>
        </p:txBody>
      </p:sp>
      <p:sp>
        <p:nvSpPr>
          <p:cNvPr id="24" name="Rectangle 23"/>
          <p:cNvSpPr/>
          <p:nvPr/>
        </p:nvSpPr>
        <p:spPr>
          <a:xfrm>
            <a:off x="548640" y="6144768"/>
            <a:ext cx="11091672"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1">
                <a:solidFill>
                  <a:srgbClr val="E8833A"/>
                </a:solidFill>
                <a:latin typeface="Arial"/>
              </a:rPr>
              <a:t>▸  </a:t>
            </a:r>
            <a:r>
              <a:rPr sz="1050" b="1">
                <a:solidFill>
                  <a:srgbClr val="1D2A5C"/>
                </a:solidFill>
                <a:latin typeface="Arial"/>
              </a:rPr>
              <a:t>Version-date every link. </a:t>
            </a:r>
            <a:r>
              <a:rPr sz="1050" b="0">
                <a:solidFill>
                  <a:srgbClr val="343A4E"/>
                </a:solidFill>
                <a:latin typeface="Arial"/>
              </a:rPr>
              <a:t>DGA closed 236 government websites in 2024, consolidating toward 581 platforms. Put the date you checked next to every URL on a slide.</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THE CRITIQUE CANON</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Ten visualizations we will take apart over three days</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عشرة أعمال بصرية للنقد</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33</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Teaching only good charts produces students who can copy; taking apart famous ones — flaws included — produces students who can judge. Each is rebuilt in code in figures/scripts/: seven from the real underlying data, three as honest reconstructions of a technique.</a:t>
            </a:r>
          </a:p>
        </p:txBody>
      </p:sp>
      <p:graphicFrame>
        <p:nvGraphicFramePr>
          <p:cNvPr id="16" name="Table 15"/>
          <p:cNvGraphicFramePr>
            <a:graphicFrameLocks noGrp="1"/>
          </p:cNvGraphicFramePr>
          <p:nvPr/>
        </p:nvGraphicFramePr>
        <p:xfrm>
          <a:off x="548640" y="2926079"/>
          <a:ext cx="11090755" cy="3108952"/>
        </p:xfrm>
        <a:graphic>
          <a:graphicData uri="http://schemas.openxmlformats.org/drawingml/2006/table">
            <a:tbl>
              <a:tblPr>
                <a:tableStyleId>{5C22544A-7EE6-4342-B048-85BDC9FD1C3A}</a:tableStyleId>
              </a:tblPr>
              <a:tblGrid>
                <a:gridCol w="458114"/>
                <a:gridCol w="2749600"/>
                <a:gridCol w="824788"/>
                <a:gridCol w="1833372"/>
                <a:gridCol w="5224881"/>
              </a:tblGrid>
              <a:tr h="282632">
                <a:tc>
                  <a:txBody>
                    <a:bodyPr/>
                    <a:lstStyle/>
                    <a:p>
                      <a:pPr algn="l"/>
                      <a:r>
                        <a:rPr sz="1000" b="1">
                          <a:solidFill>
                            <a:srgbClr val="FFFFFF"/>
                          </a:solidFill>
                          <a:latin typeface="Arial"/>
                        </a:rPr>
                        <a:t>#</a:t>
                      </a:r>
                    </a:p>
                  </a:txBody>
                  <a:tcPr marL="63500" marR="63500" marT="38100" marB="38100" anchor="ctr">
                    <a:solidFill>
                      <a:srgbClr val="1D2A5C"/>
                    </a:solidFill>
                  </a:tcPr>
                </a:tc>
                <a:tc>
                  <a:txBody>
                    <a:bodyPr/>
                    <a:lstStyle/>
                    <a:p>
                      <a:pPr algn="l"/>
                      <a:r>
                        <a:rPr sz="1000" b="1">
                          <a:solidFill>
                            <a:srgbClr val="FFFFFF"/>
                          </a:solidFill>
                          <a:latin typeface="Arial"/>
                        </a:rPr>
                        <a:t>The work</a:t>
                      </a:r>
                    </a:p>
                  </a:txBody>
                  <a:tcPr marL="63500" marR="63500" marT="38100" marB="38100" anchor="ctr">
                    <a:solidFill>
                      <a:srgbClr val="1D2A5C"/>
                    </a:solidFill>
                  </a:tcPr>
                </a:tc>
                <a:tc>
                  <a:txBody>
                    <a:bodyPr/>
                    <a:lstStyle/>
                    <a:p>
                      <a:pPr algn="l"/>
                      <a:r>
                        <a:rPr sz="1000" b="1">
                          <a:solidFill>
                            <a:srgbClr val="FFFFFF"/>
                          </a:solidFill>
                          <a:latin typeface="Arial"/>
                        </a:rPr>
                        <a:t>Year</a:t>
                      </a:r>
                    </a:p>
                  </a:txBody>
                  <a:tcPr marL="63500" marR="63500" marT="38100" marB="38100" anchor="ctr">
                    <a:solidFill>
                      <a:srgbClr val="1D2A5C"/>
                    </a:solidFill>
                  </a:tcPr>
                </a:tc>
                <a:tc>
                  <a:txBody>
                    <a:bodyPr/>
                    <a:lstStyle/>
                    <a:p>
                      <a:pPr algn="l"/>
                      <a:r>
                        <a:rPr sz="1000" b="1">
                          <a:solidFill>
                            <a:srgbClr val="FFFFFF"/>
                          </a:solidFill>
                          <a:latin typeface="Arial"/>
                        </a:rPr>
                        <a:t>Where it lands</a:t>
                      </a:r>
                    </a:p>
                  </a:txBody>
                  <a:tcPr marL="63500" marR="63500" marT="38100" marB="38100" anchor="ctr">
                    <a:solidFill>
                      <a:srgbClr val="1D2A5C"/>
                    </a:solidFill>
                  </a:tcPr>
                </a:tc>
                <a:tc>
                  <a:txBody>
                    <a:bodyPr/>
                    <a:lstStyle/>
                    <a:p>
                      <a:pPr algn="l"/>
                      <a:r>
                        <a:rPr sz="1000" b="1">
                          <a:solidFill>
                            <a:srgbClr val="FFFFFF"/>
                          </a:solidFill>
                          <a:latin typeface="Arial"/>
                        </a:rPr>
                        <a:t>The transferable lesson</a:t>
                      </a:r>
                    </a:p>
                  </a:txBody>
                  <a:tcPr marL="63500" marR="63500" marT="38100" marB="38100" anchor="ctr">
                    <a:solidFill>
                      <a:srgbClr val="1D2A5C"/>
                    </a:solidFill>
                  </a:tcPr>
                </a:tc>
              </a:tr>
              <a:tr h="282632">
                <a:tc>
                  <a:txBody>
                    <a:bodyPr/>
                    <a:lstStyle/>
                    <a:p>
                      <a:pPr algn="l"/>
                      <a:r>
                        <a:rPr sz="950" b="1">
                          <a:solidFill>
                            <a:srgbClr val="1D2A5C"/>
                          </a:solidFill>
                          <a:latin typeface="Arial"/>
                        </a:rPr>
                        <a:t>1</a:t>
                      </a:r>
                    </a:p>
                  </a:txBody>
                  <a:tcPr marL="63500" marR="63500" marT="38100" marB="38100" anchor="ctr">
                    <a:solidFill>
                      <a:srgbClr val="FFFFFF"/>
                    </a:solidFill>
                  </a:tcPr>
                </a:tc>
                <a:tc>
                  <a:txBody>
                    <a:bodyPr/>
                    <a:lstStyle/>
                    <a:p>
                      <a:pPr algn="l"/>
                      <a:r>
                        <a:rPr sz="950" b="0">
                          <a:solidFill>
                            <a:srgbClr val="343A4E"/>
                          </a:solidFill>
                          <a:latin typeface="Arial"/>
                        </a:rPr>
                        <a:t>Nightingale's polar-area rose</a:t>
                      </a:r>
                    </a:p>
                  </a:txBody>
                  <a:tcPr marL="63500" marR="63500" marT="38100" marB="38100" anchor="ctr">
                    <a:solidFill>
                      <a:srgbClr val="FFFFFF"/>
                    </a:solidFill>
                  </a:tcPr>
                </a:tc>
                <a:tc>
                  <a:txBody>
                    <a:bodyPr/>
                    <a:lstStyle/>
                    <a:p>
                      <a:pPr algn="l"/>
                      <a:r>
                        <a:rPr sz="950" b="0">
                          <a:solidFill>
                            <a:srgbClr val="343A4E"/>
                          </a:solidFill>
                          <a:latin typeface="Arial"/>
                        </a:rPr>
                        <a:t>1858</a:t>
                      </a:r>
                    </a:p>
                  </a:txBody>
                  <a:tcPr marL="63500" marR="63500" marT="38100" marB="38100" anchor="ctr">
                    <a:solidFill>
                      <a:srgbClr val="FFFFFF"/>
                    </a:solidFill>
                  </a:tcPr>
                </a:tc>
                <a:tc>
                  <a:txBody>
                    <a:bodyPr/>
                    <a:lstStyle/>
                    <a:p>
                      <a:pPr algn="l"/>
                      <a:r>
                        <a:rPr sz="950" b="0">
                          <a:solidFill>
                            <a:srgbClr val="343A4E"/>
                          </a:solidFill>
                          <a:latin typeface="Arial"/>
                        </a:rPr>
                        <a:t>M1 · encoding</a:t>
                      </a:r>
                    </a:p>
                  </a:txBody>
                  <a:tcPr marL="63500" marR="63500" marT="38100" marB="38100" anchor="ctr">
                    <a:solidFill>
                      <a:srgbClr val="FFFFFF"/>
                    </a:solidFill>
                  </a:tcPr>
                </a:tc>
                <a:tc>
                  <a:txBody>
                    <a:bodyPr/>
                    <a:lstStyle/>
                    <a:p>
                      <a:pPr algn="l"/>
                      <a:r>
                        <a:rPr sz="950" b="0">
                          <a:solidFill>
                            <a:srgbClr val="343A4E"/>
                          </a:solidFill>
                          <a:latin typeface="Arial"/>
                        </a:rPr>
                        <a:t>Correct area encoding still sits low on the accuracy ranking</a:t>
                      </a:r>
                    </a:p>
                  </a:txBody>
                  <a:tcPr marL="63500" marR="63500" marT="38100" marB="38100" anchor="ctr">
                    <a:solidFill>
                      <a:srgbClr val="FFFFFF"/>
                    </a:solidFill>
                  </a:tcPr>
                </a:tc>
              </a:tr>
              <a:tr h="282632">
                <a:tc>
                  <a:txBody>
                    <a:bodyPr/>
                    <a:lstStyle/>
                    <a:p>
                      <a:pPr algn="l"/>
                      <a:r>
                        <a:rPr sz="950" b="1">
                          <a:solidFill>
                            <a:srgbClr val="1D2A5C"/>
                          </a:solidFill>
                          <a:latin typeface="Arial"/>
                        </a:rPr>
                        <a:t>2</a:t>
                      </a:r>
                    </a:p>
                  </a:txBody>
                  <a:tcPr marL="63500" marR="63500" marT="38100" marB="38100" anchor="ctr">
                    <a:solidFill>
                      <a:srgbClr val="F4F6FB"/>
                    </a:solidFill>
                  </a:tcPr>
                </a:tc>
                <a:tc>
                  <a:txBody>
                    <a:bodyPr/>
                    <a:lstStyle/>
                    <a:p>
                      <a:pPr algn="l"/>
                      <a:r>
                        <a:rPr sz="950" b="0">
                          <a:solidFill>
                            <a:srgbClr val="343A4E"/>
                          </a:solidFill>
                          <a:latin typeface="Arial"/>
                        </a:rPr>
                        <a:t>Minard's Russian campaign</a:t>
                      </a:r>
                    </a:p>
                  </a:txBody>
                  <a:tcPr marL="63500" marR="63500" marT="38100" marB="38100" anchor="ctr">
                    <a:solidFill>
                      <a:srgbClr val="F4F6FB"/>
                    </a:solidFill>
                  </a:tcPr>
                </a:tc>
                <a:tc>
                  <a:txBody>
                    <a:bodyPr/>
                    <a:lstStyle/>
                    <a:p>
                      <a:pPr algn="l"/>
                      <a:r>
                        <a:rPr sz="950" b="0">
                          <a:solidFill>
                            <a:srgbClr val="343A4E"/>
                          </a:solidFill>
                          <a:latin typeface="Arial"/>
                        </a:rPr>
                        <a:t>1869</a:t>
                      </a:r>
                    </a:p>
                  </a:txBody>
                  <a:tcPr marL="63500" marR="63500" marT="38100" marB="38100" anchor="ctr">
                    <a:solidFill>
                      <a:srgbClr val="F4F6FB"/>
                    </a:solidFill>
                  </a:tcPr>
                </a:tc>
                <a:tc>
                  <a:txBody>
                    <a:bodyPr/>
                    <a:lstStyle/>
                    <a:p>
                      <a:pPr algn="l"/>
                      <a:r>
                        <a:rPr sz="950" b="0">
                          <a:solidFill>
                            <a:srgbClr val="343A4E"/>
                          </a:solidFill>
                          <a:latin typeface="Arial"/>
                        </a:rPr>
                        <a:t>M1 · encoding</a:t>
                      </a:r>
                    </a:p>
                  </a:txBody>
                  <a:tcPr marL="63500" marR="63500" marT="38100" marB="38100" anchor="ctr">
                    <a:solidFill>
                      <a:srgbClr val="F4F6FB"/>
                    </a:solidFill>
                  </a:tcPr>
                </a:tc>
                <a:tc>
                  <a:txBody>
                    <a:bodyPr/>
                    <a:lstStyle/>
                    <a:p>
                      <a:pPr algn="l"/>
                      <a:r>
                        <a:rPr sz="950" b="0">
                          <a:solidFill>
                            <a:srgbClr val="343A4E"/>
                          </a:solidFill>
                          <a:latin typeface="Arial"/>
                        </a:rPr>
                        <a:t>Six variables, no legend — and a units trap that fools textbooks</a:t>
                      </a:r>
                    </a:p>
                  </a:txBody>
                  <a:tcPr marL="63500" marR="63500" marT="38100" marB="38100" anchor="ctr">
                    <a:solidFill>
                      <a:srgbClr val="F4F6FB"/>
                    </a:solidFill>
                  </a:tcPr>
                </a:tc>
              </a:tr>
              <a:tr h="282632">
                <a:tc>
                  <a:txBody>
                    <a:bodyPr/>
                    <a:lstStyle/>
                    <a:p>
                      <a:pPr algn="l"/>
                      <a:r>
                        <a:rPr sz="950" b="1">
                          <a:solidFill>
                            <a:srgbClr val="1D2A5C"/>
                          </a:solidFill>
                          <a:latin typeface="Arial"/>
                        </a:rPr>
                        <a:t>3</a:t>
                      </a:r>
                    </a:p>
                  </a:txBody>
                  <a:tcPr marL="63500" marR="63500" marT="38100" marB="38100" anchor="ctr">
                    <a:solidFill>
                      <a:srgbClr val="FFFFFF"/>
                    </a:solidFill>
                  </a:tcPr>
                </a:tc>
                <a:tc>
                  <a:txBody>
                    <a:bodyPr/>
                    <a:lstStyle/>
                    <a:p>
                      <a:pPr algn="l"/>
                      <a:r>
                        <a:rPr sz="950" b="0">
                          <a:solidFill>
                            <a:srgbClr val="343A4E"/>
                          </a:solidFill>
                          <a:latin typeface="Arial"/>
                        </a:rPr>
                        <a:t>Snow's Broad Street map</a:t>
                      </a:r>
                    </a:p>
                  </a:txBody>
                  <a:tcPr marL="63500" marR="63500" marT="38100" marB="38100" anchor="ctr">
                    <a:solidFill>
                      <a:srgbClr val="FFFFFF"/>
                    </a:solidFill>
                  </a:tcPr>
                </a:tc>
                <a:tc>
                  <a:txBody>
                    <a:bodyPr/>
                    <a:lstStyle/>
                    <a:p>
                      <a:pPr algn="l"/>
                      <a:r>
                        <a:rPr sz="950" b="0">
                          <a:solidFill>
                            <a:srgbClr val="343A4E"/>
                          </a:solidFill>
                          <a:latin typeface="Arial"/>
                        </a:rPr>
                        <a:t>1854</a:t>
                      </a:r>
                    </a:p>
                  </a:txBody>
                  <a:tcPr marL="63500" marR="63500" marT="38100" marB="38100" anchor="ctr">
                    <a:solidFill>
                      <a:srgbClr val="FFFFFF"/>
                    </a:solidFill>
                  </a:tcPr>
                </a:tc>
                <a:tc>
                  <a:txBody>
                    <a:bodyPr/>
                    <a:lstStyle/>
                    <a:p>
                      <a:pPr algn="l"/>
                      <a:r>
                        <a:rPr sz="950" b="0">
                          <a:solidFill>
                            <a:srgbClr val="343A4E"/>
                          </a:solidFill>
                          <a:latin typeface="Arial"/>
                        </a:rPr>
                        <a:t>M2 · chart choice</a:t>
                      </a:r>
                    </a:p>
                  </a:txBody>
                  <a:tcPr marL="63500" marR="63500" marT="38100" marB="38100" anchor="ctr">
                    <a:solidFill>
                      <a:srgbClr val="FFFFFF"/>
                    </a:solidFill>
                  </a:tcPr>
                </a:tc>
                <a:tc>
                  <a:txBody>
                    <a:bodyPr/>
                    <a:lstStyle/>
                    <a:p>
                      <a:pPr algn="l"/>
                      <a:r>
                        <a:rPr sz="950" b="0">
                          <a:solidFill>
                            <a:srgbClr val="343A4E"/>
                          </a:solidFill>
                          <a:latin typeface="Arial"/>
                        </a:rPr>
                        <a:t>A raw-count map with no denominator; the myth outran the evidence</a:t>
                      </a:r>
                    </a:p>
                  </a:txBody>
                  <a:tcPr marL="63500" marR="63500" marT="38100" marB="38100" anchor="ctr">
                    <a:solidFill>
                      <a:srgbClr val="FFFFFF"/>
                    </a:solidFill>
                  </a:tcPr>
                </a:tc>
              </a:tr>
              <a:tr h="282632">
                <a:tc>
                  <a:txBody>
                    <a:bodyPr/>
                    <a:lstStyle/>
                    <a:p>
                      <a:pPr algn="l"/>
                      <a:r>
                        <a:rPr sz="950" b="1">
                          <a:solidFill>
                            <a:srgbClr val="1D2A5C"/>
                          </a:solidFill>
                          <a:latin typeface="Arial"/>
                        </a:rPr>
                        <a:t>4</a:t>
                      </a:r>
                    </a:p>
                  </a:txBody>
                  <a:tcPr marL="63500" marR="63500" marT="38100" marB="38100" anchor="ctr">
                    <a:solidFill>
                      <a:srgbClr val="F4F6FB"/>
                    </a:solidFill>
                  </a:tcPr>
                </a:tc>
                <a:tc>
                  <a:txBody>
                    <a:bodyPr/>
                    <a:lstStyle/>
                    <a:p>
                      <a:pPr algn="l"/>
                      <a:r>
                        <a:rPr sz="950" b="0">
                          <a:solidFill>
                            <a:srgbClr val="343A4E"/>
                          </a:solidFill>
                          <a:latin typeface="Arial"/>
                        </a:rPr>
                        <a:t>FT COVID trajectories</a:t>
                      </a:r>
                    </a:p>
                  </a:txBody>
                  <a:tcPr marL="63500" marR="63500" marT="38100" marB="38100" anchor="ctr">
                    <a:solidFill>
                      <a:srgbClr val="F4F6FB"/>
                    </a:solidFill>
                  </a:tcPr>
                </a:tc>
                <a:tc>
                  <a:txBody>
                    <a:bodyPr/>
                    <a:lstStyle/>
                    <a:p>
                      <a:pPr algn="l"/>
                      <a:r>
                        <a:rPr sz="950" b="0">
                          <a:solidFill>
                            <a:srgbClr val="343A4E"/>
                          </a:solidFill>
                          <a:latin typeface="Arial"/>
                        </a:rPr>
                        <a:t>2020</a:t>
                      </a:r>
                    </a:p>
                  </a:txBody>
                  <a:tcPr marL="63500" marR="63500" marT="38100" marB="38100" anchor="ctr">
                    <a:solidFill>
                      <a:srgbClr val="F4F6FB"/>
                    </a:solidFill>
                  </a:tcPr>
                </a:tc>
                <a:tc>
                  <a:txBody>
                    <a:bodyPr/>
                    <a:lstStyle/>
                    <a:p>
                      <a:pPr algn="l"/>
                      <a:r>
                        <a:rPr sz="950" b="0">
                          <a:solidFill>
                            <a:srgbClr val="343A4E"/>
                          </a:solidFill>
                          <a:latin typeface="Arial"/>
                        </a:rPr>
                        <a:t>M2 · scale choice</a:t>
                      </a:r>
                    </a:p>
                  </a:txBody>
                  <a:tcPr marL="63500" marR="63500" marT="38100" marB="38100" anchor="ctr">
                    <a:solidFill>
                      <a:srgbClr val="F4F6FB"/>
                    </a:solidFill>
                  </a:tcPr>
                </a:tc>
                <a:tc>
                  <a:txBody>
                    <a:bodyPr/>
                    <a:lstStyle/>
                    <a:p>
                      <a:pPr algn="l"/>
                      <a:r>
                        <a:rPr sz="950" b="0">
                          <a:solidFill>
                            <a:srgbClr val="343A4E"/>
                          </a:solidFill>
                          <a:latin typeface="Arial"/>
                        </a:rPr>
                        <a:t>Log or linear depends on the reader's question, not on taste</a:t>
                      </a:r>
                    </a:p>
                  </a:txBody>
                  <a:tcPr marL="63500" marR="63500" marT="38100" marB="38100" anchor="ctr">
                    <a:solidFill>
                      <a:srgbClr val="F4F6FB"/>
                    </a:solidFill>
                  </a:tcPr>
                </a:tc>
              </a:tr>
              <a:tr h="282632">
                <a:tc>
                  <a:txBody>
                    <a:bodyPr/>
                    <a:lstStyle/>
                    <a:p>
                      <a:pPr algn="l"/>
                      <a:r>
                        <a:rPr sz="950" b="1">
                          <a:solidFill>
                            <a:srgbClr val="1D2A5C"/>
                          </a:solidFill>
                          <a:latin typeface="Arial"/>
                        </a:rPr>
                        <a:t>5</a:t>
                      </a:r>
                    </a:p>
                  </a:txBody>
                  <a:tcPr marL="63500" marR="63500" marT="38100" marB="38100" anchor="ctr">
                    <a:solidFill>
                      <a:srgbClr val="FFFFFF"/>
                    </a:solidFill>
                  </a:tcPr>
                </a:tc>
                <a:tc>
                  <a:txBody>
                    <a:bodyPr/>
                    <a:lstStyle/>
                    <a:p>
                      <a:pPr algn="l"/>
                      <a:r>
                        <a:rPr sz="950" b="0">
                          <a:solidFill>
                            <a:srgbClr val="343A4E"/>
                          </a:solidFill>
                          <a:latin typeface="Arial"/>
                        </a:rPr>
                        <a:t>Our World in Data grapher</a:t>
                      </a:r>
                    </a:p>
                  </a:txBody>
                  <a:tcPr marL="63500" marR="63500" marT="38100" marB="38100" anchor="ctr">
                    <a:solidFill>
                      <a:srgbClr val="FFFFFF"/>
                    </a:solidFill>
                  </a:tcPr>
                </a:tc>
                <a:tc>
                  <a:txBody>
                    <a:bodyPr/>
                    <a:lstStyle/>
                    <a:p>
                      <a:pPr algn="l"/>
                      <a:r>
                        <a:rPr sz="950" b="0">
                          <a:solidFill>
                            <a:srgbClr val="343A4E"/>
                          </a:solidFill>
                          <a:latin typeface="Arial"/>
                        </a:rPr>
                        <a:t>2013–</a:t>
                      </a:r>
                    </a:p>
                  </a:txBody>
                  <a:tcPr marL="63500" marR="63500" marT="38100" marB="38100" anchor="ctr">
                    <a:solidFill>
                      <a:srgbClr val="FFFFFF"/>
                    </a:solidFill>
                  </a:tcPr>
                </a:tc>
                <a:tc>
                  <a:txBody>
                    <a:bodyPr/>
                    <a:lstStyle/>
                    <a:p>
                      <a:pPr algn="l"/>
                      <a:r>
                        <a:rPr sz="950" b="0">
                          <a:solidFill>
                            <a:srgbClr val="343A4E"/>
                          </a:solidFill>
                          <a:latin typeface="Arial"/>
                        </a:rPr>
                        <a:t>M3 · annotation</a:t>
                      </a:r>
                    </a:p>
                  </a:txBody>
                  <a:tcPr marL="63500" marR="63500" marT="38100" marB="38100" anchor="ctr">
                    <a:solidFill>
                      <a:srgbClr val="FFFFFF"/>
                    </a:solidFill>
                  </a:tcPr>
                </a:tc>
                <a:tc>
                  <a:txBody>
                    <a:bodyPr/>
                    <a:lstStyle/>
                    <a:p>
                      <a:pPr algn="l"/>
                      <a:r>
                        <a:rPr sz="950" b="0">
                          <a:solidFill>
                            <a:srgbClr val="343A4E"/>
                          </a:solidFill>
                          <a:latin typeface="Arial"/>
                        </a:rPr>
                        <a:t>Direct labels, one accent, the argument written on the chart</a:t>
                      </a:r>
                    </a:p>
                  </a:txBody>
                  <a:tcPr marL="63500" marR="63500" marT="38100" marB="38100" anchor="ctr">
                    <a:solidFill>
                      <a:srgbClr val="FFFFFF"/>
                    </a:solidFill>
                  </a:tcPr>
                </a:tc>
              </a:tr>
              <a:tr h="282632">
                <a:tc>
                  <a:txBody>
                    <a:bodyPr/>
                    <a:lstStyle/>
                    <a:p>
                      <a:pPr algn="l"/>
                      <a:r>
                        <a:rPr sz="950" b="1">
                          <a:solidFill>
                            <a:srgbClr val="1D2A5C"/>
                          </a:solidFill>
                          <a:latin typeface="Arial"/>
                        </a:rPr>
                        <a:t>6</a:t>
                      </a:r>
                    </a:p>
                  </a:txBody>
                  <a:tcPr marL="63500" marR="63500" marT="38100" marB="38100" anchor="ctr">
                    <a:solidFill>
                      <a:srgbClr val="F4F6FB"/>
                    </a:solidFill>
                  </a:tcPr>
                </a:tc>
                <a:tc>
                  <a:txBody>
                    <a:bodyPr/>
                    <a:lstStyle/>
                    <a:p>
                      <a:pPr algn="l"/>
                      <a:r>
                        <a:rPr sz="950" b="0">
                          <a:solidFill>
                            <a:srgbClr val="343A4E"/>
                          </a:solidFill>
                          <a:latin typeface="Arial"/>
                        </a:rPr>
                        <a:t>NYT 'An Incalculable Loss'</a:t>
                      </a:r>
                    </a:p>
                  </a:txBody>
                  <a:tcPr marL="63500" marR="63500" marT="38100" marB="38100" anchor="ctr">
                    <a:solidFill>
                      <a:srgbClr val="F4F6FB"/>
                    </a:solidFill>
                  </a:tcPr>
                </a:tc>
                <a:tc>
                  <a:txBody>
                    <a:bodyPr/>
                    <a:lstStyle/>
                    <a:p>
                      <a:pPr algn="l"/>
                      <a:r>
                        <a:rPr sz="950" b="0">
                          <a:solidFill>
                            <a:srgbClr val="343A4E"/>
                          </a:solidFill>
                          <a:latin typeface="Arial"/>
                        </a:rPr>
                        <a:t>2020</a:t>
                      </a:r>
                    </a:p>
                  </a:txBody>
                  <a:tcPr marL="63500" marR="63500" marT="38100" marB="38100" anchor="ctr">
                    <a:solidFill>
                      <a:srgbClr val="F4F6FB"/>
                    </a:solidFill>
                  </a:tcPr>
                </a:tc>
                <a:tc>
                  <a:txBody>
                    <a:bodyPr/>
                    <a:lstStyle/>
                    <a:p>
                      <a:pPr algn="l"/>
                      <a:r>
                        <a:rPr sz="950" b="0">
                          <a:solidFill>
                            <a:srgbClr val="343A4E"/>
                          </a:solidFill>
                          <a:latin typeface="Arial"/>
                        </a:rPr>
                        <a:t>M3 · restraint</a:t>
                      </a:r>
                    </a:p>
                  </a:txBody>
                  <a:tcPr marL="63500" marR="63500" marT="38100" marB="38100" anchor="ctr">
                    <a:solidFill>
                      <a:srgbClr val="F4F6FB"/>
                    </a:solidFill>
                  </a:tcPr>
                </a:tc>
                <a:tc>
                  <a:txBody>
                    <a:bodyPr/>
                    <a:lstStyle/>
                    <a:p>
                      <a:pPr algn="l"/>
                      <a:r>
                        <a:rPr sz="950" b="0">
                          <a:solidFill>
                            <a:srgbClr val="343A4E"/>
                          </a:solidFill>
                          <a:latin typeface="Arial"/>
                        </a:rPr>
                        <a:t>Knowing when the honest answer is not to make a chart</a:t>
                      </a:r>
                    </a:p>
                  </a:txBody>
                  <a:tcPr marL="63500" marR="63500" marT="38100" marB="38100" anchor="ctr">
                    <a:solidFill>
                      <a:srgbClr val="F4F6FB"/>
                    </a:solidFill>
                  </a:tcPr>
                </a:tc>
              </a:tr>
              <a:tr h="282632">
                <a:tc>
                  <a:txBody>
                    <a:bodyPr/>
                    <a:lstStyle/>
                    <a:p>
                      <a:pPr algn="l"/>
                      <a:r>
                        <a:rPr sz="950" b="1">
                          <a:solidFill>
                            <a:srgbClr val="1D2A5C"/>
                          </a:solidFill>
                          <a:latin typeface="Arial"/>
                        </a:rPr>
                        <a:t>7</a:t>
                      </a:r>
                    </a:p>
                  </a:txBody>
                  <a:tcPr marL="63500" marR="63500" marT="38100" marB="38100" anchor="ctr">
                    <a:solidFill>
                      <a:srgbClr val="FFFFFF"/>
                    </a:solidFill>
                  </a:tcPr>
                </a:tc>
                <a:tc>
                  <a:txBody>
                    <a:bodyPr/>
                    <a:lstStyle/>
                    <a:p>
                      <a:pPr algn="l"/>
                      <a:r>
                        <a:rPr sz="950" b="0">
                          <a:solidFill>
                            <a:srgbClr val="343A4E"/>
                          </a:solidFill>
                          <a:latin typeface="Arial"/>
                        </a:rPr>
                        <a:t>Gapminder animated bubbles</a:t>
                      </a:r>
                    </a:p>
                  </a:txBody>
                  <a:tcPr marL="63500" marR="63500" marT="38100" marB="38100" anchor="ctr">
                    <a:solidFill>
                      <a:srgbClr val="FFFFFF"/>
                    </a:solidFill>
                  </a:tcPr>
                </a:tc>
                <a:tc>
                  <a:txBody>
                    <a:bodyPr/>
                    <a:lstStyle/>
                    <a:p>
                      <a:pPr algn="l"/>
                      <a:r>
                        <a:rPr sz="950" b="0">
                          <a:solidFill>
                            <a:srgbClr val="343A4E"/>
                          </a:solidFill>
                          <a:latin typeface="Arial"/>
                        </a:rPr>
                        <a:t>2006</a:t>
                      </a:r>
                    </a:p>
                  </a:txBody>
                  <a:tcPr marL="63500" marR="63500" marT="38100" marB="38100" anchor="ctr">
                    <a:solidFill>
                      <a:srgbClr val="FFFFFF"/>
                    </a:solidFill>
                  </a:tcPr>
                </a:tc>
                <a:tc>
                  <a:txBody>
                    <a:bodyPr/>
                    <a:lstStyle/>
                    <a:p>
                      <a:pPr algn="l"/>
                      <a:r>
                        <a:rPr sz="950" b="0">
                          <a:solidFill>
                            <a:srgbClr val="343A4E"/>
                          </a:solidFill>
                          <a:latin typeface="Arial"/>
                        </a:rPr>
                        <a:t>M4 · interaction</a:t>
                      </a:r>
                    </a:p>
                  </a:txBody>
                  <a:tcPr marL="63500" marR="63500" marT="38100" marB="38100" anchor="ctr">
                    <a:solidFill>
                      <a:srgbClr val="FFFFFF"/>
                    </a:solidFill>
                  </a:tcPr>
                </a:tc>
                <a:tc>
                  <a:txBody>
                    <a:bodyPr/>
                    <a:lstStyle/>
                    <a:p>
                      <a:pPr algn="l"/>
                      <a:r>
                        <a:rPr sz="950" b="0">
                          <a:solidFill>
                            <a:srgbClr val="343A4E"/>
                          </a:solidFill>
                          <a:latin typeface="Arial"/>
                        </a:rPr>
                        <a:t>Animation wins for presentation and loses for analysis — measured</a:t>
                      </a:r>
                    </a:p>
                  </a:txBody>
                  <a:tcPr marL="63500" marR="63500" marT="38100" marB="38100" anchor="ctr">
                    <a:solidFill>
                      <a:srgbClr val="FFFFFF"/>
                    </a:solidFill>
                  </a:tcPr>
                </a:tc>
              </a:tr>
              <a:tr h="282632">
                <a:tc>
                  <a:txBody>
                    <a:bodyPr/>
                    <a:lstStyle/>
                    <a:p>
                      <a:pPr algn="l"/>
                      <a:r>
                        <a:rPr sz="950" b="1">
                          <a:solidFill>
                            <a:srgbClr val="1D2A5C"/>
                          </a:solidFill>
                          <a:latin typeface="Arial"/>
                        </a:rPr>
                        <a:t>8</a:t>
                      </a:r>
                    </a:p>
                  </a:txBody>
                  <a:tcPr marL="63500" marR="63500" marT="38100" marB="38100" anchor="ctr">
                    <a:solidFill>
                      <a:srgbClr val="F4F6FB"/>
                    </a:solidFill>
                  </a:tcPr>
                </a:tc>
                <a:tc>
                  <a:txBody>
                    <a:bodyPr/>
                    <a:lstStyle/>
                    <a:p>
                      <a:pPr algn="l"/>
                      <a:r>
                        <a:rPr sz="950" b="0">
                          <a:solidFill>
                            <a:srgbClr val="343A4E"/>
                          </a:solidFill>
                          <a:latin typeface="Arial"/>
                        </a:rPr>
                        <a:t>NYT excess deaths</a:t>
                      </a:r>
                    </a:p>
                  </a:txBody>
                  <a:tcPr marL="63500" marR="63500" marT="38100" marB="38100" anchor="ctr">
                    <a:solidFill>
                      <a:srgbClr val="F4F6FB"/>
                    </a:solidFill>
                  </a:tcPr>
                </a:tc>
                <a:tc>
                  <a:txBody>
                    <a:bodyPr/>
                    <a:lstStyle/>
                    <a:p>
                      <a:pPr algn="l"/>
                      <a:r>
                        <a:rPr sz="950" b="0">
                          <a:solidFill>
                            <a:srgbClr val="343A4E"/>
                          </a:solidFill>
                          <a:latin typeface="Arial"/>
                        </a:rPr>
                        <a:t>2020</a:t>
                      </a:r>
                    </a:p>
                  </a:txBody>
                  <a:tcPr marL="63500" marR="63500" marT="38100" marB="38100" anchor="ctr">
                    <a:solidFill>
                      <a:srgbClr val="F4F6FB"/>
                    </a:solidFill>
                  </a:tcPr>
                </a:tc>
                <a:tc>
                  <a:txBody>
                    <a:bodyPr/>
                    <a:lstStyle/>
                    <a:p>
                      <a:pPr algn="l"/>
                      <a:r>
                        <a:rPr sz="950" b="0">
                          <a:solidFill>
                            <a:srgbClr val="343A4E"/>
                          </a:solidFill>
                          <a:latin typeface="Arial"/>
                        </a:rPr>
                        <a:t>M5 · evidence</a:t>
                      </a:r>
                    </a:p>
                  </a:txBody>
                  <a:tcPr marL="63500" marR="63500" marT="38100" marB="38100" anchor="ctr">
                    <a:solidFill>
                      <a:srgbClr val="F4F6FB"/>
                    </a:solidFill>
                  </a:tcPr>
                </a:tc>
                <a:tc>
                  <a:txBody>
                    <a:bodyPr/>
                    <a:lstStyle/>
                    <a:p>
                      <a:pPr algn="l"/>
                      <a:r>
                        <a:rPr sz="950" b="0">
                          <a:solidFill>
                            <a:srgbClr val="343A4E"/>
                          </a:solidFill>
                          <a:latin typeface="Arial"/>
                        </a:rPr>
                        <a:t>The baseline is the argument; the chart is trivial</a:t>
                      </a:r>
                    </a:p>
                  </a:txBody>
                  <a:tcPr marL="63500" marR="63500" marT="38100" marB="38100" anchor="ctr">
                    <a:solidFill>
                      <a:srgbClr val="F4F6FB"/>
                    </a:solidFill>
                  </a:tcPr>
                </a:tc>
              </a:tr>
              <a:tr h="282632">
                <a:tc>
                  <a:txBody>
                    <a:bodyPr/>
                    <a:lstStyle/>
                    <a:p>
                      <a:pPr algn="l"/>
                      <a:r>
                        <a:rPr sz="950" b="1">
                          <a:solidFill>
                            <a:srgbClr val="1D2A5C"/>
                          </a:solidFill>
                          <a:latin typeface="Arial"/>
                        </a:rPr>
                        <a:t>9</a:t>
                      </a:r>
                    </a:p>
                  </a:txBody>
                  <a:tcPr marL="63500" marR="63500" marT="38100" marB="38100" anchor="ctr">
                    <a:solidFill>
                      <a:srgbClr val="FFFFFF"/>
                    </a:solidFill>
                  </a:tcPr>
                </a:tc>
                <a:tc>
                  <a:txBody>
                    <a:bodyPr/>
                    <a:lstStyle/>
                    <a:p>
                      <a:pPr algn="l"/>
                      <a:r>
                        <a:rPr sz="950" b="0">
                          <a:solidFill>
                            <a:srgbClr val="343A4E"/>
                          </a:solidFill>
                          <a:latin typeface="Arial"/>
                        </a:rPr>
                        <a:t>NYT election needle</a:t>
                      </a:r>
                    </a:p>
                  </a:txBody>
                  <a:tcPr marL="63500" marR="63500" marT="38100" marB="38100" anchor="ctr">
                    <a:solidFill>
                      <a:srgbClr val="FFFFFF"/>
                    </a:solidFill>
                  </a:tcPr>
                </a:tc>
                <a:tc>
                  <a:txBody>
                    <a:bodyPr/>
                    <a:lstStyle/>
                    <a:p>
                      <a:pPr algn="l"/>
                      <a:r>
                        <a:rPr sz="950" b="0">
                          <a:solidFill>
                            <a:srgbClr val="343A4E"/>
                          </a:solidFill>
                          <a:latin typeface="Arial"/>
                        </a:rPr>
                        <a:t>2016</a:t>
                      </a:r>
                    </a:p>
                  </a:txBody>
                  <a:tcPr marL="63500" marR="63500" marT="38100" marB="38100" anchor="ctr">
                    <a:solidFill>
                      <a:srgbClr val="FFFFFF"/>
                    </a:solidFill>
                  </a:tcPr>
                </a:tc>
                <a:tc>
                  <a:txBody>
                    <a:bodyPr/>
                    <a:lstStyle/>
                    <a:p>
                      <a:pPr algn="l"/>
                      <a:r>
                        <a:rPr sz="950" b="0">
                          <a:solidFill>
                            <a:srgbClr val="343A4E"/>
                          </a:solidFill>
                          <a:latin typeface="Arial"/>
                        </a:rPr>
                        <a:t>M6 · uncertainty</a:t>
                      </a:r>
                    </a:p>
                  </a:txBody>
                  <a:tcPr marL="63500" marR="63500" marT="38100" marB="38100" anchor="ctr">
                    <a:solidFill>
                      <a:srgbClr val="FFFFFF"/>
                    </a:solidFill>
                  </a:tcPr>
                </a:tc>
                <a:tc>
                  <a:txBody>
                    <a:bodyPr/>
                    <a:lstStyle/>
                    <a:p>
                      <a:pPr algn="l"/>
                      <a:r>
                        <a:rPr sz="950" b="0">
                          <a:solidFill>
                            <a:srgbClr val="343A4E"/>
                          </a:solidFill>
                          <a:latin typeface="Arial"/>
                        </a:rPr>
                        <a:t>A statistically correct encoding defeated by its own metaphor</a:t>
                      </a:r>
                    </a:p>
                  </a:txBody>
                  <a:tcPr marL="63500" marR="63500" marT="38100" marB="38100" anchor="ctr">
                    <a:solidFill>
                      <a:srgbClr val="FFFFFF"/>
                    </a:solidFill>
                  </a:tcPr>
                </a:tc>
              </a:tr>
              <a:tr h="282632">
                <a:tc>
                  <a:txBody>
                    <a:bodyPr/>
                    <a:lstStyle/>
                    <a:p>
                      <a:pPr algn="l"/>
                      <a:r>
                        <a:rPr sz="950" b="1">
                          <a:solidFill>
                            <a:srgbClr val="1D2A5C"/>
                          </a:solidFill>
                          <a:latin typeface="Arial"/>
                        </a:rPr>
                        <a:t>10</a:t>
                      </a:r>
                    </a:p>
                  </a:txBody>
                  <a:tcPr marL="63500" marR="63500" marT="38100" marB="38100" anchor="ctr">
                    <a:solidFill>
                      <a:srgbClr val="F4F6FB"/>
                    </a:solidFill>
                  </a:tcPr>
                </a:tc>
                <a:tc>
                  <a:txBody>
                    <a:bodyPr/>
                    <a:lstStyle/>
                    <a:p>
                      <a:pPr algn="l"/>
                      <a:r>
                        <a:rPr sz="950" b="0">
                          <a:solidFill>
                            <a:srgbClr val="343A4E"/>
                          </a:solidFill>
                          <a:latin typeface="Arial"/>
                        </a:rPr>
                        <a:t>FiveThirtyEight forecasts</a:t>
                      </a:r>
                    </a:p>
                  </a:txBody>
                  <a:tcPr marL="63500" marR="63500" marT="38100" marB="38100" anchor="ctr">
                    <a:solidFill>
                      <a:srgbClr val="F4F6FB"/>
                    </a:solidFill>
                  </a:tcPr>
                </a:tc>
                <a:tc>
                  <a:txBody>
                    <a:bodyPr/>
                    <a:lstStyle/>
                    <a:p>
                      <a:pPr algn="l"/>
                      <a:r>
                        <a:rPr sz="950" b="0">
                          <a:solidFill>
                            <a:srgbClr val="343A4E"/>
                          </a:solidFill>
                          <a:latin typeface="Arial"/>
                        </a:rPr>
                        <a:t>2016–2020</a:t>
                      </a:r>
                    </a:p>
                  </a:txBody>
                  <a:tcPr marL="63500" marR="63500" marT="38100" marB="38100" anchor="ctr">
                    <a:solidFill>
                      <a:srgbClr val="F4F6FB"/>
                    </a:solidFill>
                  </a:tcPr>
                </a:tc>
                <a:tc>
                  <a:txBody>
                    <a:bodyPr/>
                    <a:lstStyle/>
                    <a:p>
                      <a:pPr algn="l"/>
                      <a:r>
                        <a:rPr sz="950" b="0">
                          <a:solidFill>
                            <a:srgbClr val="343A4E"/>
                          </a:solidFill>
                          <a:latin typeface="Arial"/>
                        </a:rPr>
                        <a:t>M6 · uncertainty</a:t>
                      </a:r>
                    </a:p>
                  </a:txBody>
                  <a:tcPr marL="63500" marR="63500" marT="38100" marB="38100" anchor="ctr">
                    <a:solidFill>
                      <a:srgbClr val="F4F6FB"/>
                    </a:solidFill>
                  </a:tcPr>
                </a:tc>
                <a:tc>
                  <a:txBody>
                    <a:bodyPr/>
                    <a:lstStyle/>
                    <a:p>
                      <a:pPr algn="l"/>
                      <a:r>
                        <a:rPr sz="950" b="0">
                          <a:solidFill>
                            <a:srgbClr val="343A4E"/>
                          </a:solidFill>
                          <a:latin typeface="Arial"/>
                        </a:rPr>
                        <a:t>Show the distribution; frame it as a frequency people can count</a:t>
                      </a:r>
                    </a:p>
                  </a:txBody>
                  <a:tcPr marL="63500" marR="63500" marT="38100" marB="38100" anchor="ctr">
                    <a:solidFill>
                      <a:srgbClr val="F4F6FB"/>
                    </a:solidFill>
                  </a:tcPr>
                </a:tc>
              </a:tr>
            </a:tbl>
          </a:graphicData>
        </a:graphic>
      </p:graphicFrame>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HOW TO RUN A CRITIQUE</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Six questions, in this order, every time</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بروتوكول النقد</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34</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Critique fails when it becomes taste. This protocol keeps it evidential: the first three questions are answerable from the chart, the last three require judgement — and only the last one is allowed to mention preference.</a:t>
            </a:r>
          </a:p>
        </p:txBody>
      </p:sp>
      <p:sp>
        <p:nvSpPr>
          <p:cNvPr id="16" name="Rectangle 15"/>
          <p:cNvSpPr/>
          <p:nvPr/>
        </p:nvSpPr>
        <p:spPr>
          <a:xfrm>
            <a:off x="548640" y="3072384"/>
            <a:ext cx="100584" cy="420624"/>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 y="3017520"/>
            <a:ext cx="10817352"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80" b="1">
                <a:solidFill>
                  <a:srgbClr val="1D2A5C"/>
                </a:solidFill>
                <a:latin typeface="Arial"/>
              </a:rPr>
              <a:t>What is the claim:  </a:t>
            </a:r>
            <a:r>
              <a:rPr sz="1080" b="0">
                <a:solidFill>
                  <a:srgbClr val="343A4E"/>
                </a:solidFill>
                <a:latin typeface="Arial"/>
              </a:rPr>
              <a:t>Say the chart's argument in one sentence. If you cannot, that is the finding — the chart has no argument, only data.</a:t>
            </a:r>
          </a:p>
        </p:txBody>
      </p:sp>
      <p:sp>
        <p:nvSpPr>
          <p:cNvPr id="18" name="Rectangle 17"/>
          <p:cNvSpPr/>
          <p:nvPr/>
        </p:nvSpPr>
        <p:spPr>
          <a:xfrm>
            <a:off x="548640" y="3584448"/>
            <a:ext cx="100584" cy="420624"/>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 y="3529584"/>
            <a:ext cx="10817352"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80" b="1">
                <a:solidFill>
                  <a:srgbClr val="1D2A5C"/>
                </a:solidFill>
                <a:latin typeface="Arial"/>
              </a:rPr>
              <a:t>What is encoded, in what channel:  </a:t>
            </a:r>
            <a:r>
              <a:rPr sz="1080" b="0">
                <a:solidFill>
                  <a:srgbClr val="343A4E"/>
                </a:solidFill>
                <a:latin typeface="Arial"/>
              </a:rPr>
              <a:t>List every variable and the channel carrying it. Rank each channel on Cleveland–McGill. The weakest channel carrying the most important variable is usually the defect.</a:t>
            </a:r>
          </a:p>
        </p:txBody>
      </p:sp>
      <p:sp>
        <p:nvSpPr>
          <p:cNvPr id="20" name="Rectangle 19"/>
          <p:cNvSpPr/>
          <p:nvPr/>
        </p:nvSpPr>
        <p:spPr>
          <a:xfrm>
            <a:off x="548640" y="4096512"/>
            <a:ext cx="100584" cy="420624"/>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 y="4041648"/>
            <a:ext cx="10817352"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80" b="1">
                <a:solidFill>
                  <a:srgbClr val="1D2A5C"/>
                </a:solidFill>
                <a:latin typeface="Arial"/>
              </a:rPr>
              <a:t>What is the denominator:  </a:t>
            </a:r>
            <a:r>
              <a:rPr sz="1080" b="0">
                <a:solidFill>
                  <a:srgbClr val="343A4E"/>
                </a:solidFill>
                <a:latin typeface="Arial"/>
              </a:rPr>
              <a:t>Counts or rates? Per what? Snow's map has no denominator at all. Most government dashboards inherit the same flaw.</a:t>
            </a:r>
          </a:p>
        </p:txBody>
      </p:sp>
      <p:sp>
        <p:nvSpPr>
          <p:cNvPr id="22" name="Rectangle 21"/>
          <p:cNvSpPr/>
          <p:nvPr/>
        </p:nvSpPr>
        <p:spPr>
          <a:xfrm>
            <a:off x="548640" y="4608576"/>
            <a:ext cx="100584" cy="420624"/>
          </a:xfrm>
          <a:prstGeom prst="rect">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 y="4553712"/>
            <a:ext cx="10817352"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80" b="1">
                <a:solidFill>
                  <a:srgbClr val="1D2A5C"/>
                </a:solidFill>
                <a:latin typeface="Arial"/>
              </a:rPr>
              <a:t>What would change the reader's mind:  </a:t>
            </a:r>
            <a:r>
              <a:rPr sz="1080" b="0">
                <a:solidFill>
                  <a:srgbClr val="343A4E"/>
                </a:solidFill>
                <a:latin typeface="Arial"/>
              </a:rPr>
              <a:t>If the conclusion survives any plausible alternative encoding, the chart is honest. If it only works on this axis range, it is not.</a:t>
            </a:r>
          </a:p>
        </p:txBody>
      </p:sp>
      <p:sp>
        <p:nvSpPr>
          <p:cNvPr id="24" name="Rectangle 23"/>
          <p:cNvSpPr/>
          <p:nvPr/>
        </p:nvSpPr>
        <p:spPr>
          <a:xfrm>
            <a:off x="548640" y="5120640"/>
            <a:ext cx="100584" cy="420624"/>
          </a:xfrm>
          <a:prstGeom prst="rect">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 y="5065775"/>
            <a:ext cx="10817352"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80" b="1">
                <a:solidFill>
                  <a:srgbClr val="1D2A5C"/>
                </a:solidFill>
                <a:latin typeface="Arial"/>
              </a:rPr>
              <a:t>What does it hide:  </a:t>
            </a:r>
            <a:r>
              <a:rPr sz="1080" b="0">
                <a:solidFill>
                  <a:srgbClr val="343A4E"/>
                </a:solidFill>
                <a:latin typeface="Arial"/>
              </a:rPr>
              <a:t>Aggregation, the baseline, the excluded segment, the cherry-picked window. Name the specific omission, not 'it oversimplifies'.</a:t>
            </a:r>
          </a:p>
        </p:txBody>
      </p:sp>
      <p:sp>
        <p:nvSpPr>
          <p:cNvPr id="26" name="Rectangle 25"/>
          <p:cNvSpPr/>
          <p:nvPr/>
        </p:nvSpPr>
        <p:spPr>
          <a:xfrm>
            <a:off x="548640" y="5632704"/>
            <a:ext cx="100584" cy="420624"/>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 y="5577840"/>
            <a:ext cx="10817352"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80" b="1">
                <a:solidFill>
                  <a:srgbClr val="1D2A5C"/>
                </a:solidFill>
                <a:latin typeface="Arial"/>
              </a:rPr>
              <a:t>What would you steal:  </a:t>
            </a:r>
            <a:r>
              <a:rPr sz="1080" b="0">
                <a:solidFill>
                  <a:srgbClr val="343A4E"/>
                </a:solidFill>
                <a:latin typeface="Arial"/>
              </a:rPr>
              <a:t>End constructively and concretely: one technique you will use on the Tayseer data this week.</a:t>
            </a:r>
          </a:p>
        </p:txBody>
      </p:sp>
      <p:sp>
        <p:nvSpPr>
          <p:cNvPr id="28" name="Rectangle 27"/>
          <p:cNvSpPr/>
          <p:nvPr/>
        </p:nvSpPr>
        <p:spPr>
          <a:xfrm>
            <a:off x="548640" y="6108192"/>
            <a:ext cx="1109167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0">
                <a:solidFill>
                  <a:srgbClr val="6B7280"/>
                </a:solidFill>
                <a:latin typeface="Arial"/>
              </a:rPr>
              <a:t>House rule from Day 1: critique the chart, never the person, and every criticism arrives with a proposed fix.</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CANON 1 — NIGHTINGALE, 1858</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The rose, and the chart that reads better</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وردة نايتنجيل</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35</a:t>
            </a:r>
          </a:p>
        </p:txBody>
      </p:sp>
      <p:pic>
        <p:nvPicPr>
          <p:cNvPr id="15" name="Picture 14" descr="canon_03_nightingale.png"/>
          <p:cNvPicPr>
            <a:picLocks noChangeAspect="1"/>
          </p:cNvPicPr>
          <p:nvPr/>
        </p:nvPicPr>
        <p:blipFill>
          <a:blip r:embed="rId3"/>
          <a:stretch>
            <a:fillRect/>
          </a:stretch>
        </p:blipFill>
        <p:spPr>
          <a:xfrm>
            <a:off x="1361537" y="2258568"/>
            <a:ext cx="9465877" cy="3831336"/>
          </a:xfrm>
          <a:prstGeom prst="rect">
            <a:avLst/>
          </a:prstGeom>
        </p:spPr>
      </p:pic>
      <p:sp>
        <p:nvSpPr>
          <p:cNvPr id="16" name="Rectangle 15"/>
          <p:cNvSpPr/>
          <p:nvPr/>
        </p:nvSpPr>
        <p:spPr>
          <a:xfrm>
            <a:off x="548640" y="6126480"/>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6B7280"/>
                </a:solidFill>
                <a:latin typeface="Arial"/>
              </a:rPr>
              <a:t>Left and centre: the two twelve-month circles, wedges superimposed from the common centre with radius = √rate, so area is proportional to rate. Right: the identical numbers as lines.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CANON 2 — MINARD, 1869</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Six variables, one image, no legend — and a units trap</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خريطة مينارد</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36</a:t>
            </a:r>
          </a:p>
        </p:txBody>
      </p:sp>
      <p:pic>
        <p:nvPicPr>
          <p:cNvPr id="15" name="Picture 14" descr="canon_02_minard.png"/>
          <p:cNvPicPr>
            <a:picLocks noChangeAspect="1"/>
          </p:cNvPicPr>
          <p:nvPr/>
        </p:nvPicPr>
        <p:blipFill>
          <a:blip r:embed="rId3"/>
          <a:stretch>
            <a:fillRect/>
          </a:stretch>
        </p:blipFill>
        <p:spPr>
          <a:xfrm>
            <a:off x="1321938" y="2258568"/>
            <a:ext cx="9545075" cy="3831336"/>
          </a:xfrm>
          <a:prstGeom prst="rect">
            <a:avLst/>
          </a:prstGeom>
        </p:spPr>
      </p:pic>
      <p:sp>
        <p:nvSpPr>
          <p:cNvPr id="16" name="Rectangle 15"/>
          <p:cNvSpPr/>
          <p:nvPr/>
        </p:nvSpPr>
        <p:spPr>
          <a:xfrm>
            <a:off x="548640" y="6126480"/>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6B7280"/>
                </a:solidFill>
                <a:latin typeface="Arial"/>
              </a:rPr>
              <a:t>Band width = men, colour = direction, x and y = longitude and latitude, position relative to dates, and temperature aligned by longitude below.</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ACTIVITY</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Gallery Walk — Chart Crimes</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جولة نقدية</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41</a:t>
            </a:r>
          </a:p>
        </p:txBody>
      </p:sp>
      <p:sp>
        <p:nvSpPr>
          <p:cNvPr id="15" name="Rectangle 14"/>
          <p:cNvSpPr/>
          <p:nvPr/>
        </p:nvSpPr>
        <p:spPr>
          <a:xfrm>
            <a:off x="548640" y="2331720"/>
            <a:ext cx="11091672" cy="1993392"/>
          </a:xfrm>
          <a:prstGeom prst="rect">
            <a:avLst/>
          </a:prstGeom>
          <a:solidFill>
            <a:srgbClr val="EAF0FA"/>
          </a:solidFill>
          <a:ln w="12700">
            <a:solidFill>
              <a:srgbClr val="2E5A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423160"/>
            <a:ext cx="1063447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OBJECTIVE  </a:t>
            </a:r>
            <a:r>
              <a:rPr sz="1100" b="0">
                <a:solidFill>
                  <a:srgbClr val="343A4E"/>
                </a:solidFill>
                <a:latin typeface="Arial"/>
              </a:rPr>
              <a:t>Apply the six-question critique protocol to real charts at speed, in public, with a fix attached to every criticism.</a:t>
            </a:r>
          </a:p>
        </p:txBody>
      </p:sp>
      <p:sp>
        <p:nvSpPr>
          <p:cNvPr id="17" name="Rectangle 16"/>
          <p:cNvSpPr/>
          <p:nvPr/>
        </p:nvSpPr>
        <p:spPr>
          <a:xfrm>
            <a:off x="777240" y="3026664"/>
            <a:ext cx="1063447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DURATION  </a:t>
            </a:r>
            <a:r>
              <a:rPr sz="1100" b="0">
                <a:solidFill>
                  <a:srgbClr val="343A4E"/>
                </a:solidFill>
                <a:latin typeface="Arial"/>
              </a:rPr>
              <a:t>25 minutes  ·  groups of four  ·  on paper, no laptops  ·  follows Lab 1, and it is what establishes the critique culture</a:t>
            </a:r>
          </a:p>
        </p:txBody>
      </p:sp>
      <p:sp>
        <p:nvSpPr>
          <p:cNvPr id="18" name="Rectangle 17"/>
          <p:cNvSpPr/>
          <p:nvPr/>
        </p:nvSpPr>
        <p:spPr>
          <a:xfrm>
            <a:off x="777240" y="3630168"/>
            <a:ext cx="1063447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SETUP  </a:t>
            </a:r>
            <a:r>
              <a:rPr sz="1100" b="0">
                <a:solidFill>
                  <a:srgbClr val="343A4E"/>
                </a:solidFill>
                <a:latin typeface="Arial"/>
              </a:rPr>
              <a:t>Eight charts printed at A3 and pinned around the room: four from the canon, two spun Tayseer tiles, two the instructor brings.</a:t>
            </a:r>
          </a:p>
        </p:txBody>
      </p:sp>
      <p:sp>
        <p:nvSpPr>
          <p:cNvPr id="19" name="Rectangle 18"/>
          <p:cNvSpPr/>
          <p:nvPr/>
        </p:nvSpPr>
        <p:spPr>
          <a:xfrm>
            <a:off x="548640" y="4471416"/>
            <a:ext cx="4572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1">
                <a:solidFill>
                  <a:srgbClr val="1D2A5C"/>
                </a:solidFill>
                <a:latin typeface="Arial"/>
              </a:rPr>
              <a:t>TASKS</a:t>
            </a:r>
          </a:p>
        </p:txBody>
      </p:sp>
      <p:sp>
        <p:nvSpPr>
          <p:cNvPr id="20" name="Rectangle 19"/>
          <p:cNvSpPr/>
          <p:nvPr/>
        </p:nvSpPr>
        <p:spPr>
          <a:xfrm>
            <a:off x="548640" y="4855464"/>
            <a:ext cx="292608" cy="292608"/>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855464"/>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1</a:t>
            </a:r>
          </a:p>
        </p:txBody>
      </p:sp>
      <p:sp>
        <p:nvSpPr>
          <p:cNvPr id="22" name="Rectangle 21"/>
          <p:cNvSpPr/>
          <p:nvPr/>
        </p:nvSpPr>
        <p:spPr>
          <a:xfrm>
            <a:off x="960120" y="4837176"/>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(4 min) </a:t>
            </a:r>
            <a:r>
              <a:rPr sz="1100" b="0">
                <a:solidFill>
                  <a:srgbClr val="343A4E"/>
                </a:solidFill>
                <a:latin typeface="Arial"/>
              </a:rPr>
              <a:t>Each group starts at one chart. Silent looking first, then write the claim in one sentence on the sheet beside it.</a:t>
            </a:r>
          </a:p>
        </p:txBody>
      </p:sp>
      <p:sp>
        <p:nvSpPr>
          <p:cNvPr id="23" name="Rectangle 22"/>
          <p:cNvSpPr/>
          <p:nvPr/>
        </p:nvSpPr>
        <p:spPr>
          <a:xfrm>
            <a:off x="548640" y="5184648"/>
            <a:ext cx="292608" cy="292608"/>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184648"/>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2</a:t>
            </a:r>
          </a:p>
        </p:txBody>
      </p:sp>
      <p:sp>
        <p:nvSpPr>
          <p:cNvPr id="25" name="Rectangle 24"/>
          <p:cNvSpPr/>
          <p:nvPr/>
        </p:nvSpPr>
        <p:spPr>
          <a:xfrm>
            <a:off x="960120" y="5166360"/>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(8 min) </a:t>
            </a:r>
            <a:r>
              <a:rPr sz="1100" b="0">
                <a:solidFill>
                  <a:srgbClr val="343A4E"/>
                </a:solidFill>
                <a:latin typeface="Arial"/>
              </a:rPr>
              <a:t>Rotate twice, three minutes per chart. At each, add ONE new finding naming the channel and ONE proposed fix. Repeating an earlier group's finding scores nothing.</a:t>
            </a:r>
          </a:p>
        </p:txBody>
      </p:sp>
      <p:sp>
        <p:nvSpPr>
          <p:cNvPr id="26" name="Rectangle 25"/>
          <p:cNvSpPr/>
          <p:nvPr/>
        </p:nvSpPr>
        <p:spPr>
          <a:xfrm>
            <a:off x="548640" y="5513832"/>
            <a:ext cx="292608" cy="29260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513832"/>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3</a:t>
            </a:r>
          </a:p>
        </p:txBody>
      </p:sp>
      <p:sp>
        <p:nvSpPr>
          <p:cNvPr id="28" name="Rectangle 27"/>
          <p:cNvSpPr/>
          <p:nvPr/>
        </p:nvSpPr>
        <p:spPr>
          <a:xfrm>
            <a:off x="960120" y="5495544"/>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(5 min) </a:t>
            </a:r>
            <a:r>
              <a:rPr sz="1100" b="0">
                <a:solidFill>
                  <a:srgbClr val="343A4E"/>
                </a:solidFill>
                <a:latin typeface="Arial"/>
              </a:rPr>
              <a:t>Return to your first chart and read everything the room added to it. Rank the findings: which single change would most improve the chart?</a:t>
            </a:r>
          </a:p>
        </p:txBody>
      </p:sp>
      <p:sp>
        <p:nvSpPr>
          <p:cNvPr id="29" name="Rectangle 28"/>
          <p:cNvSpPr/>
          <p:nvPr/>
        </p:nvSpPr>
        <p:spPr>
          <a:xfrm>
            <a:off x="548640" y="5843016"/>
            <a:ext cx="292608" cy="292608"/>
          </a:xfrm>
          <a:prstGeom prst="rect">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843016"/>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4</a:t>
            </a:r>
          </a:p>
        </p:txBody>
      </p:sp>
      <p:sp>
        <p:nvSpPr>
          <p:cNvPr id="31" name="Rectangle 30"/>
          <p:cNvSpPr/>
          <p:nvPr/>
        </p:nvSpPr>
        <p:spPr>
          <a:xfrm>
            <a:off x="960120" y="5824728"/>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(6 min) </a:t>
            </a:r>
            <a:r>
              <a:rPr sz="1100" b="0">
                <a:solidFill>
                  <a:srgbClr val="343A4E"/>
                </a:solidFill>
                <a:latin typeface="Arial"/>
              </a:rPr>
              <a:t>Plenary. One group per chart reports the ranked fix — 45 seconds each, no preamble.</a:t>
            </a:r>
          </a:p>
        </p:txBody>
      </p:sp>
      <p:sp>
        <p:nvSpPr>
          <p:cNvPr id="32" name="Rectangle 31"/>
          <p:cNvSpPr/>
          <p:nvPr/>
        </p:nvSpPr>
        <p:spPr>
          <a:xfrm>
            <a:off x="548640" y="6172200"/>
            <a:ext cx="292608" cy="292608"/>
          </a:xfrm>
          <a:prstGeom prst="rect">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6172200"/>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5</a:t>
            </a:r>
          </a:p>
        </p:txBody>
      </p:sp>
      <p:sp>
        <p:nvSpPr>
          <p:cNvPr id="34" name="Rectangle 33"/>
          <p:cNvSpPr/>
          <p:nvPr/>
        </p:nvSpPr>
        <p:spPr>
          <a:xfrm>
            <a:off x="960120" y="6153912"/>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(2 min) </a:t>
            </a:r>
            <a:r>
              <a:rPr sz="1100" b="0">
                <a:solidFill>
                  <a:srgbClr val="343A4E"/>
                </a:solidFill>
                <a:latin typeface="Arial"/>
              </a:rPr>
              <a:t>Instructor closes with the two spun Tayseer charts and names the technique behind each from kpi_spin_pairs.csv.</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CANON 3 — SNOW, 1854</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The right chart for a spatial question — and what it still gets wrong</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خريطة سنو</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58</a:t>
            </a:r>
          </a:p>
        </p:txBody>
      </p:sp>
      <p:pic>
        <p:nvPicPr>
          <p:cNvPr id="15" name="Picture 14" descr="canon_01_snow.png"/>
          <p:cNvPicPr>
            <a:picLocks noChangeAspect="1"/>
          </p:cNvPicPr>
          <p:nvPr/>
        </p:nvPicPr>
        <p:blipFill>
          <a:blip r:embed="rId3"/>
          <a:stretch>
            <a:fillRect/>
          </a:stretch>
        </p:blipFill>
        <p:spPr>
          <a:xfrm>
            <a:off x="579536" y="2258568"/>
            <a:ext cx="11029879" cy="3831336"/>
          </a:xfrm>
          <a:prstGeom prst="rect">
            <a:avLst/>
          </a:prstGeom>
        </p:spPr>
      </p:pic>
      <p:sp>
        <p:nvSpPr>
          <p:cNvPr id="16" name="Rectangle 15"/>
          <p:cNvSpPr/>
          <p:nvPr/>
        </p:nvSpPr>
        <p:spPr>
          <a:xfrm>
            <a:off x="548640" y="6126480"/>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6B7280"/>
                </a:solidFill>
                <a:latin typeface="Arial"/>
              </a:rPr>
              <a:t>Left: the dot map, recreated from the standard digitisation. Right: Snow's own daily table of attacks and deaths, which is the critique quantified.</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THE FT VISUAL VOCABULARY</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Nine relationships — pick the relationship, then the chart</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المفردات البصرية</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59</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The FT's poster is the chart-chooser's ancestor and the better mental model: you do not choose a chart, you choose the RELATIONSHIP you need to show, and the chart follows. Nine categories cover almost everything a government analyst produces.</a:t>
            </a:r>
          </a:p>
        </p:txBody>
      </p:sp>
      <p:sp>
        <p:nvSpPr>
          <p:cNvPr id="16" name="Rectangle 15"/>
          <p:cNvSpPr/>
          <p:nvPr/>
        </p:nvSpPr>
        <p:spPr>
          <a:xfrm>
            <a:off x="548640" y="2926079"/>
            <a:ext cx="3514344" cy="950976"/>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79"/>
            <a:ext cx="3514344" cy="82296"/>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108960"/>
            <a:ext cx="314858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300" b="1">
                <a:solidFill>
                  <a:srgbClr val="1D2A5C"/>
                </a:solidFill>
                <a:latin typeface="Arial"/>
              </a:rPr>
              <a:t>Deviation</a:t>
            </a:r>
          </a:p>
        </p:txBody>
      </p:sp>
      <p:sp>
        <p:nvSpPr>
          <p:cNvPr id="19" name="Rectangle 18"/>
          <p:cNvSpPr/>
          <p:nvPr/>
        </p:nvSpPr>
        <p:spPr>
          <a:xfrm>
            <a:off x="731520" y="3474720"/>
            <a:ext cx="3148584"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343A4E"/>
                </a:solidFill>
                <a:latin typeface="Arial"/>
              </a:rPr>
              <a:t>Variation from a reference or from zero. The Tayseer gap-to-target by region lives here.</a:t>
            </a:r>
          </a:p>
        </p:txBody>
      </p:sp>
      <p:sp>
        <p:nvSpPr>
          <p:cNvPr id="20" name="Rectangle 19"/>
          <p:cNvSpPr/>
          <p:nvPr/>
        </p:nvSpPr>
        <p:spPr>
          <a:xfrm>
            <a:off x="4337304" y="2926079"/>
            <a:ext cx="3514344" cy="950976"/>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37304" y="2926079"/>
            <a:ext cx="3514344" cy="8229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20184" y="3108960"/>
            <a:ext cx="314858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300" b="1">
                <a:solidFill>
                  <a:srgbClr val="1D2A5C"/>
                </a:solidFill>
                <a:latin typeface="Arial"/>
              </a:rPr>
              <a:t>Correlation</a:t>
            </a:r>
          </a:p>
        </p:txBody>
      </p:sp>
      <p:sp>
        <p:nvSpPr>
          <p:cNvPr id="23" name="Rectangle 22"/>
          <p:cNvSpPr/>
          <p:nvPr/>
        </p:nvSpPr>
        <p:spPr>
          <a:xfrm>
            <a:off x="4520184" y="3474720"/>
            <a:ext cx="3148584"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343A4E"/>
                </a:solidFill>
                <a:latin typeface="Arial"/>
              </a:rPr>
              <a:t>Relationship between two variables. Adoption against digital readiness.</a:t>
            </a:r>
          </a:p>
        </p:txBody>
      </p:sp>
      <p:sp>
        <p:nvSpPr>
          <p:cNvPr id="24" name="Rectangle 23"/>
          <p:cNvSpPr/>
          <p:nvPr/>
        </p:nvSpPr>
        <p:spPr>
          <a:xfrm>
            <a:off x="8125968" y="2926079"/>
            <a:ext cx="3514344" cy="950976"/>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25968" y="2926079"/>
            <a:ext cx="3514344" cy="8229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08847" y="3108960"/>
            <a:ext cx="314858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300" b="1">
                <a:solidFill>
                  <a:srgbClr val="1D2A5C"/>
                </a:solidFill>
                <a:latin typeface="Arial"/>
              </a:rPr>
              <a:t>Ranking</a:t>
            </a:r>
          </a:p>
        </p:txBody>
      </p:sp>
      <p:sp>
        <p:nvSpPr>
          <p:cNvPr id="27" name="Rectangle 26"/>
          <p:cNvSpPr/>
          <p:nvPr/>
        </p:nvSpPr>
        <p:spPr>
          <a:xfrm>
            <a:off x="8308847" y="3474720"/>
            <a:ext cx="3148584"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343A4E"/>
                </a:solidFill>
                <a:latin typeface="Arial"/>
              </a:rPr>
              <a:t>Order and position. Which region is last, and by how much.</a:t>
            </a:r>
          </a:p>
        </p:txBody>
      </p:sp>
      <p:sp>
        <p:nvSpPr>
          <p:cNvPr id="28" name="Rectangle 27"/>
          <p:cNvSpPr/>
          <p:nvPr/>
        </p:nvSpPr>
        <p:spPr>
          <a:xfrm>
            <a:off x="548640" y="3977639"/>
            <a:ext cx="3514344" cy="950976"/>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977639"/>
            <a:ext cx="3514344" cy="82296"/>
          </a:xfrm>
          <a:prstGeom prst="rect">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0" y="4160520"/>
            <a:ext cx="314858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300" b="1">
                <a:solidFill>
                  <a:srgbClr val="1D2A5C"/>
                </a:solidFill>
                <a:latin typeface="Arial"/>
              </a:rPr>
              <a:t>Distribution</a:t>
            </a:r>
          </a:p>
        </p:txBody>
      </p:sp>
      <p:sp>
        <p:nvSpPr>
          <p:cNvPr id="31" name="Rectangle 30"/>
          <p:cNvSpPr/>
          <p:nvPr/>
        </p:nvSpPr>
        <p:spPr>
          <a:xfrm>
            <a:off x="731520" y="4526279"/>
            <a:ext cx="3148584"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343A4E"/>
                </a:solidFill>
                <a:latin typeface="Arial"/>
              </a:rPr>
              <a:t>Frequency and shape. Completion times, where the branch tail hides.</a:t>
            </a:r>
          </a:p>
        </p:txBody>
      </p:sp>
      <p:sp>
        <p:nvSpPr>
          <p:cNvPr id="32" name="Rectangle 31"/>
          <p:cNvSpPr/>
          <p:nvPr/>
        </p:nvSpPr>
        <p:spPr>
          <a:xfrm>
            <a:off x="4337304" y="3977639"/>
            <a:ext cx="3514344" cy="950976"/>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37304" y="3977639"/>
            <a:ext cx="3514344" cy="82296"/>
          </a:xfrm>
          <a:prstGeom prst="rect">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20184" y="4160520"/>
            <a:ext cx="314858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300" b="1">
                <a:solidFill>
                  <a:srgbClr val="1D2A5C"/>
                </a:solidFill>
                <a:latin typeface="Arial"/>
              </a:rPr>
              <a:t>Change over time</a:t>
            </a:r>
          </a:p>
        </p:txBody>
      </p:sp>
      <p:sp>
        <p:nvSpPr>
          <p:cNvPr id="35" name="Rectangle 34"/>
          <p:cNvSpPr/>
          <p:nvPr/>
        </p:nvSpPr>
        <p:spPr>
          <a:xfrm>
            <a:off x="4520184" y="4526279"/>
            <a:ext cx="3148584"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343A4E"/>
                </a:solidFill>
                <a:latin typeface="Arial"/>
              </a:rPr>
              <a:t>Trend. The 60-month adoption series against the target line.</a:t>
            </a:r>
          </a:p>
        </p:txBody>
      </p:sp>
      <p:sp>
        <p:nvSpPr>
          <p:cNvPr id="36" name="Rectangle 35"/>
          <p:cNvSpPr/>
          <p:nvPr/>
        </p:nvSpPr>
        <p:spPr>
          <a:xfrm>
            <a:off x="8125968" y="3977639"/>
            <a:ext cx="3514344" cy="950976"/>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125968" y="3977639"/>
            <a:ext cx="3514344" cy="82296"/>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08847" y="4160520"/>
            <a:ext cx="314858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300" b="1">
                <a:solidFill>
                  <a:srgbClr val="1D2A5C"/>
                </a:solidFill>
                <a:latin typeface="Arial"/>
              </a:rPr>
              <a:t>Part-to-whole</a:t>
            </a:r>
          </a:p>
        </p:txBody>
      </p:sp>
      <p:sp>
        <p:nvSpPr>
          <p:cNvPr id="39" name="Rectangle 38"/>
          <p:cNvSpPr/>
          <p:nvPr/>
        </p:nvSpPr>
        <p:spPr>
          <a:xfrm>
            <a:off x="8308847" y="4526279"/>
            <a:ext cx="3148584"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343A4E"/>
                </a:solidFill>
                <a:latin typeface="Arial"/>
              </a:rPr>
              <a:t>Composition. Channel mix — and the one place a donut can be defended.</a:t>
            </a:r>
          </a:p>
        </p:txBody>
      </p:sp>
      <p:sp>
        <p:nvSpPr>
          <p:cNvPr id="40" name="Rectangle 39"/>
          <p:cNvSpPr/>
          <p:nvPr/>
        </p:nvSpPr>
        <p:spPr>
          <a:xfrm>
            <a:off x="548640" y="5029200"/>
            <a:ext cx="3514344" cy="950976"/>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029200"/>
            <a:ext cx="3514344" cy="82296"/>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1520" y="5212080"/>
            <a:ext cx="314858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300" b="1">
                <a:solidFill>
                  <a:srgbClr val="1D2A5C"/>
                </a:solidFill>
                <a:latin typeface="Arial"/>
              </a:rPr>
              <a:t>Magnitude</a:t>
            </a:r>
          </a:p>
        </p:txBody>
      </p:sp>
      <p:sp>
        <p:nvSpPr>
          <p:cNvPr id="43" name="Rectangle 42"/>
          <p:cNvSpPr/>
          <p:nvPr/>
        </p:nvSpPr>
        <p:spPr>
          <a:xfrm>
            <a:off x="731520" y="5577840"/>
            <a:ext cx="3148584"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343A4E"/>
                </a:solidFill>
                <a:latin typeface="Arial"/>
              </a:rPr>
              <a:t>Size comparison. Monthly transactions by region, absolute.</a:t>
            </a:r>
          </a:p>
        </p:txBody>
      </p:sp>
      <p:sp>
        <p:nvSpPr>
          <p:cNvPr id="44" name="Rectangle 43"/>
          <p:cNvSpPr/>
          <p:nvPr/>
        </p:nvSpPr>
        <p:spPr>
          <a:xfrm>
            <a:off x="4337304" y="5029200"/>
            <a:ext cx="3514344" cy="950976"/>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337304" y="5029200"/>
            <a:ext cx="3514344" cy="82296"/>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20184" y="5212080"/>
            <a:ext cx="314858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300" b="1">
                <a:solidFill>
                  <a:srgbClr val="1D2A5C"/>
                </a:solidFill>
                <a:latin typeface="Arial"/>
              </a:rPr>
              <a:t>Spatial</a:t>
            </a:r>
          </a:p>
        </p:txBody>
      </p:sp>
      <p:sp>
        <p:nvSpPr>
          <p:cNvPr id="47" name="Rectangle 46"/>
          <p:cNvSpPr/>
          <p:nvPr/>
        </p:nvSpPr>
        <p:spPr>
          <a:xfrm>
            <a:off x="4520184" y="5577840"/>
            <a:ext cx="3148584"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343A4E"/>
                </a:solidFill>
                <a:latin typeface="Arial"/>
              </a:rPr>
              <a:t>Geography. Only when location itself is the variable, as in Snow.</a:t>
            </a:r>
          </a:p>
        </p:txBody>
      </p:sp>
      <p:sp>
        <p:nvSpPr>
          <p:cNvPr id="48" name="Rectangle 47"/>
          <p:cNvSpPr/>
          <p:nvPr/>
        </p:nvSpPr>
        <p:spPr>
          <a:xfrm>
            <a:off x="8125968" y="5029200"/>
            <a:ext cx="3514344" cy="950976"/>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125968" y="5029200"/>
            <a:ext cx="3514344" cy="8229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308847" y="5212080"/>
            <a:ext cx="3148584"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300" b="1">
                <a:solidFill>
                  <a:srgbClr val="1D2A5C"/>
                </a:solidFill>
                <a:latin typeface="Arial"/>
              </a:rPr>
              <a:t>Flow</a:t>
            </a:r>
          </a:p>
        </p:txBody>
      </p:sp>
      <p:sp>
        <p:nvSpPr>
          <p:cNvPr id="51" name="Rectangle 50"/>
          <p:cNvSpPr/>
          <p:nvPr/>
        </p:nvSpPr>
        <p:spPr>
          <a:xfrm>
            <a:off x="8308847" y="5577840"/>
            <a:ext cx="3148584"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343A4E"/>
                </a:solidFill>
                <a:latin typeface="Arial"/>
              </a:rPr>
              <a:t>Movement between states. Branch-to-digital channel shift — Minard's form.</a:t>
            </a:r>
          </a:p>
        </p:txBody>
      </p:sp>
      <p:sp>
        <p:nvSpPr>
          <p:cNvPr id="52" name="Rectangle 51"/>
          <p:cNvSpPr/>
          <p:nvPr/>
        </p:nvSpPr>
        <p:spPr>
          <a:xfrm>
            <a:off x="548640" y="6126480"/>
            <a:ext cx="1109167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0">
                <a:solidFill>
                  <a:srgbClr val="6B7280"/>
                </a:solidFill>
                <a:latin typeface="Arial"/>
              </a:rPr>
              <a:t>Get it at github.com/Financial-Times/chart-doctor/tree/main/visual-vocabulary — © The Financial Times, all rights reserved. Link to it, do not reproduce it in handouts. A separately-licensed derivative is published by the EU Publications Office.</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CANON 4 — FINANCIAL TIMES, 2020</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The scale is a chart choice — with a right answer only once you know the reader</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مقياس لوغاريتمي أم خطي</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60</a:t>
            </a:r>
          </a:p>
        </p:txBody>
      </p:sp>
      <p:pic>
        <p:nvPicPr>
          <p:cNvPr id="15" name="Picture 14" descr="canon_08_ft_log.png"/>
          <p:cNvPicPr>
            <a:picLocks noChangeAspect="1"/>
          </p:cNvPicPr>
          <p:nvPr/>
        </p:nvPicPr>
        <p:blipFill>
          <a:blip r:embed="rId3"/>
          <a:stretch>
            <a:fillRect/>
          </a:stretch>
        </p:blipFill>
        <p:spPr>
          <a:xfrm>
            <a:off x="1788477" y="2258568"/>
            <a:ext cx="8611996" cy="3831336"/>
          </a:xfrm>
          <a:prstGeom prst="rect">
            <a:avLst/>
          </a:prstGeom>
        </p:spPr>
      </p:pic>
      <p:sp>
        <p:nvSpPr>
          <p:cNvPr id="16" name="Rectangle 15"/>
          <p:cNvSpPr/>
          <p:nvPr/>
        </p:nvSpPr>
        <p:spPr>
          <a:xfrm>
            <a:off x="548640" y="6126480"/>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6B7280"/>
                </a:solidFill>
                <a:latin typeface="Arial"/>
              </a:rPr>
              <a:t>The same Johns Hopkins series, aligned on each country's 100th case, drawn twice. John Burn-Murdoch's design, first published 11 March 2020 (per his own account).</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CASE STUDY — CASE C</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Regional service inequality: who is actually underserved?</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التفاوت في الخدمة بين المناطق</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67</a:t>
            </a:r>
          </a:p>
        </p:txBody>
      </p:sp>
      <p:sp>
        <p:nvSpPr>
          <p:cNvPr id="15" name="Rectangle 14"/>
          <p:cNvSpPr/>
          <p:nvPr/>
        </p:nvSpPr>
        <p:spPr>
          <a:xfrm>
            <a:off x="548640" y="2331720"/>
            <a:ext cx="5413248" cy="1755648"/>
          </a:xfrm>
          <a:prstGeom prst="rect">
            <a:avLst/>
          </a:prstGeom>
          <a:solidFill>
            <a:srgbClr val="EAF0FA"/>
          </a:solidFill>
          <a:ln w="12700">
            <a:solidFill>
              <a:srgbClr val="2E5A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2459736"/>
            <a:ext cx="504748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2E5AAC"/>
                </a:solidFill>
                <a:latin typeface="Arial"/>
              </a:rPr>
              <a:t>SCENARIO</a:t>
            </a:r>
          </a:p>
        </p:txBody>
      </p:sp>
      <p:sp>
        <p:nvSpPr>
          <p:cNvPr id="17" name="Rectangle 16"/>
          <p:cNvSpPr/>
          <p:nvPr/>
        </p:nvSpPr>
        <p:spPr>
          <a:xfrm>
            <a:off x="749808" y="2788920"/>
            <a:ext cx="5010912"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0">
                <a:solidFill>
                  <a:srgbClr val="343A4E"/>
                </a:solidFill>
                <a:latin typeface="Arial"/>
              </a:rPr>
              <a:t>A regional development committee asks for a map of Tayseer performance. The analyst produces a choropleth of monthly digital transactions by region. Riyadh and Makkah glow; Northern Borders and Al-Baha are almost empty. The committee concludes that the small regions need no attention.</a:t>
            </a:r>
          </a:p>
        </p:txBody>
      </p:sp>
      <p:sp>
        <p:nvSpPr>
          <p:cNvPr id="18" name="Rectangle 17"/>
          <p:cNvSpPr/>
          <p:nvPr/>
        </p:nvSpPr>
        <p:spPr>
          <a:xfrm>
            <a:off x="6236207" y="2331720"/>
            <a:ext cx="5413248" cy="1755648"/>
          </a:xfrm>
          <a:prstGeom prst="rect">
            <a:avLst/>
          </a:prstGeom>
          <a:solidFill>
            <a:srgbClr val="E6F5F4"/>
          </a:solidFill>
          <a:ln w="12700">
            <a:solidFill>
              <a:srgbClr val="00A7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37375" y="2459736"/>
            <a:ext cx="504748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BUSINESS CONTEXT</a:t>
            </a:r>
          </a:p>
        </p:txBody>
      </p:sp>
      <p:sp>
        <p:nvSpPr>
          <p:cNvPr id="20" name="Rectangle 19"/>
          <p:cNvSpPr/>
          <p:nvPr/>
        </p:nvSpPr>
        <p:spPr>
          <a:xfrm>
            <a:off x="6437375" y="2788920"/>
            <a:ext cx="5010912"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0">
                <a:solidFill>
                  <a:srgbClr val="343A4E"/>
                </a:solidFill>
                <a:latin typeface="Arial"/>
              </a:rPr>
              <a:t>The five stalled regions hold 15.8% of the population, run the highest unit cost in the Kingdom, and are the ones whose adoption has not moved in nine months. A map that makes them invisible removes them from the budget conversation.</a:t>
            </a:r>
          </a:p>
        </p:txBody>
      </p:sp>
      <p:sp>
        <p:nvSpPr>
          <p:cNvPr id="21" name="Rectangle 20"/>
          <p:cNvSpPr/>
          <p:nvPr/>
        </p:nvSpPr>
        <p:spPr>
          <a:xfrm>
            <a:off x="548640" y="4288536"/>
            <a:ext cx="5413248" cy="1755648"/>
          </a:xfrm>
          <a:prstGeom prst="rect">
            <a:avLst/>
          </a:prstGeom>
          <a:solidFill>
            <a:srgbClr val="FCF0E6"/>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9808" y="4416551"/>
            <a:ext cx="504748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E8833A"/>
                </a:solidFill>
                <a:latin typeface="Arial"/>
              </a:rPr>
              <a:t>CHALLENGE</a:t>
            </a:r>
          </a:p>
        </p:txBody>
      </p:sp>
      <p:sp>
        <p:nvSpPr>
          <p:cNvPr id="23" name="Rectangle 22"/>
          <p:cNvSpPr/>
          <p:nvPr/>
        </p:nvSpPr>
        <p:spPr>
          <a:xfrm>
            <a:off x="749808" y="4745736"/>
            <a:ext cx="5010912"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0">
                <a:solidFill>
                  <a:srgbClr val="343A4E"/>
                </a:solidFill>
                <a:latin typeface="Arial"/>
              </a:rPr>
              <a:t>Produce the chart that answers the question actually asked — 'who is underserved?' — rather than the question the raw counts answer, which is 'where is the work?'. Then show which regions change rank, and by how much.</a:t>
            </a:r>
          </a:p>
        </p:txBody>
      </p:sp>
      <p:sp>
        <p:nvSpPr>
          <p:cNvPr id="24" name="Rectangle 23"/>
          <p:cNvSpPr/>
          <p:nvPr/>
        </p:nvSpPr>
        <p:spPr>
          <a:xfrm>
            <a:off x="6236207" y="4288536"/>
            <a:ext cx="5413248" cy="1755648"/>
          </a:xfrm>
          <a:prstGeom prst="rect">
            <a:avLst/>
          </a:prstGeom>
          <a:solidFill>
            <a:srgbClr val="EFEBF6"/>
          </a:solidFill>
          <a:ln w="12700">
            <a:solidFill>
              <a:srgbClr val="6C4F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37375" y="4416551"/>
            <a:ext cx="504748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6C4FA1"/>
                </a:solidFill>
                <a:latin typeface="Arial"/>
              </a:rPr>
              <a:t>APPROACH</a:t>
            </a:r>
          </a:p>
        </p:txBody>
      </p:sp>
      <p:sp>
        <p:nvSpPr>
          <p:cNvPr id="26" name="Rectangle 25"/>
          <p:cNvSpPr/>
          <p:nvPr/>
        </p:nvSpPr>
        <p:spPr>
          <a:xfrm>
            <a:off x="6437375" y="4745736"/>
            <a:ext cx="5010912"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0">
                <a:solidFill>
                  <a:srgbClr val="343A4E"/>
                </a:solidFill>
                <a:latin typeface="Arial"/>
              </a:rPr>
              <a:t>Normalise by population. Rank twice and compare the rankings. Test whether a Lorenz curve and Gini add anything here — and be willing to conclude that they do not, which is itself a chart-selection result.</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CASE C — THE RANKING INVERTS</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The same month, the same regions, two denominators</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الترتيب ينقلب عند القسمة على السكان</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68</a:t>
            </a:r>
          </a:p>
        </p:txBody>
      </p:sp>
      <p:pic>
        <p:nvPicPr>
          <p:cNvPr id="15" name="Picture 14" descr="case_c_equity.png"/>
          <p:cNvPicPr>
            <a:picLocks noChangeAspect="1"/>
          </p:cNvPicPr>
          <p:nvPr/>
        </p:nvPicPr>
        <p:blipFill>
          <a:blip r:embed="rId3"/>
          <a:stretch>
            <a:fillRect/>
          </a:stretch>
        </p:blipFill>
        <p:spPr>
          <a:xfrm>
            <a:off x="1033205" y="2258568"/>
            <a:ext cx="10122541" cy="3831336"/>
          </a:xfrm>
          <a:prstGeom prst="rect">
            <a:avLst/>
          </a:prstGeom>
        </p:spPr>
      </p:pic>
      <p:sp>
        <p:nvSpPr>
          <p:cNvPr id="16" name="Rectangle 15"/>
          <p:cNvSpPr/>
          <p:nvPr/>
        </p:nvSpPr>
        <p:spPr>
          <a:xfrm>
            <a:off x="548640" y="6126480"/>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6B7280"/>
                </a:solidFill>
                <a:latin typeface="Arial"/>
              </a:rPr>
              <a:t>Computed from tayseer_services.csv and dim_regions.csv; orange marks the five Tier-1 regions. The full table ships as regional_equity_latest.csv.</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HANDS-ON LAB</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Lab 2b — Normalisation and the per-capita flip</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التطبيع والقسمة على السكان</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69</a:t>
            </a:r>
          </a:p>
        </p:txBody>
      </p:sp>
      <p:sp>
        <p:nvSpPr>
          <p:cNvPr id="15" name="Rectangle 14"/>
          <p:cNvSpPr/>
          <p:nvPr/>
        </p:nvSpPr>
        <p:spPr>
          <a:xfrm>
            <a:off x="548640" y="2331720"/>
            <a:ext cx="11091672" cy="1773936"/>
          </a:xfrm>
          <a:prstGeom prst="rect">
            <a:avLst/>
          </a:prstGeom>
          <a:solidFill>
            <a:srgbClr val="EAF0FA"/>
          </a:solidFill>
          <a:ln w="12700">
            <a:solidFill>
              <a:srgbClr val="2E5A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423160"/>
            <a:ext cx="1063447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OBJECTIVE  </a:t>
            </a:r>
            <a:r>
              <a:rPr sz="1100" b="0">
                <a:solidFill>
                  <a:srgbClr val="343A4E"/>
                </a:solidFill>
                <a:latin typeface="Arial"/>
              </a:rPr>
              <a:t>Build the raw-count and per-capita views of the same month, quantify which regions change rank, and write the one-sentence subtitle that makes the denominator unmistakable.</a:t>
            </a:r>
          </a:p>
        </p:txBody>
      </p:sp>
      <p:sp>
        <p:nvSpPr>
          <p:cNvPr id="17" name="Rectangle 16"/>
          <p:cNvSpPr/>
          <p:nvPr/>
        </p:nvSpPr>
        <p:spPr>
          <a:xfrm>
            <a:off x="777240" y="3026664"/>
            <a:ext cx="10634472"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DURATION  </a:t>
            </a:r>
            <a:r>
              <a:rPr sz="1100" b="0">
                <a:solidFill>
                  <a:srgbClr val="343A4E"/>
                </a:solidFill>
                <a:latin typeface="Arial"/>
              </a:rPr>
              <a:t>35 minutes  ·  pairs  ·  follows Lab 2</a:t>
            </a:r>
          </a:p>
        </p:txBody>
      </p:sp>
      <p:sp>
        <p:nvSpPr>
          <p:cNvPr id="18" name="Rectangle 17"/>
          <p:cNvSpPr/>
          <p:nvPr/>
        </p:nvSpPr>
        <p:spPr>
          <a:xfrm>
            <a:off x="777240" y="3410712"/>
            <a:ext cx="1063447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SETUP  </a:t>
            </a:r>
            <a:r>
              <a:rPr sz="1100" b="0">
                <a:solidFill>
                  <a:srgbClr val="343A4E"/>
                </a:solidFill>
                <a:latin typeface="Arial"/>
              </a:rPr>
              <a:t>notebooks/lab2_chart_selection_starter.ipynb, section 2b. Data: tayseer_services.csv, dim_regions.csv, regional_equity_latest.csv.</a:t>
            </a:r>
          </a:p>
        </p:txBody>
      </p:sp>
      <p:sp>
        <p:nvSpPr>
          <p:cNvPr id="19" name="Rectangle 18"/>
          <p:cNvSpPr/>
          <p:nvPr/>
        </p:nvSpPr>
        <p:spPr>
          <a:xfrm>
            <a:off x="548640" y="4251960"/>
            <a:ext cx="4572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1">
                <a:solidFill>
                  <a:srgbClr val="1D2A5C"/>
                </a:solidFill>
                <a:latin typeface="Arial"/>
              </a:rPr>
              <a:t>TASKS</a:t>
            </a:r>
          </a:p>
        </p:txBody>
      </p:sp>
      <p:sp>
        <p:nvSpPr>
          <p:cNvPr id="20" name="Rectangle 19"/>
          <p:cNvSpPr/>
          <p:nvPr/>
        </p:nvSpPr>
        <p:spPr>
          <a:xfrm>
            <a:off x="548640" y="4636008"/>
            <a:ext cx="292608" cy="292608"/>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636008"/>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1</a:t>
            </a:r>
          </a:p>
        </p:txBody>
      </p:sp>
      <p:sp>
        <p:nvSpPr>
          <p:cNvPr id="22" name="Rectangle 21"/>
          <p:cNvSpPr/>
          <p:nvPr/>
        </p:nvSpPr>
        <p:spPr>
          <a:xfrm>
            <a:off x="960120" y="4617720"/>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(5 min) </a:t>
            </a:r>
            <a:r>
              <a:rPr sz="1100" b="0">
                <a:solidFill>
                  <a:srgbClr val="343A4E"/>
                </a:solidFill>
                <a:latin typeface="Arial"/>
              </a:rPr>
              <a:t>Compute monthly digital transactions by region, then the same divided by population_2025, per 1,000 residents.</a:t>
            </a:r>
          </a:p>
        </p:txBody>
      </p:sp>
      <p:sp>
        <p:nvSpPr>
          <p:cNvPr id="23" name="Rectangle 22"/>
          <p:cNvSpPr/>
          <p:nvPr/>
        </p:nvSpPr>
        <p:spPr>
          <a:xfrm>
            <a:off x="548640" y="4965192"/>
            <a:ext cx="292608" cy="292608"/>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965192"/>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2</a:t>
            </a:r>
          </a:p>
        </p:txBody>
      </p:sp>
      <p:sp>
        <p:nvSpPr>
          <p:cNvPr id="25" name="Rectangle 24"/>
          <p:cNvSpPr/>
          <p:nvPr/>
        </p:nvSpPr>
        <p:spPr>
          <a:xfrm>
            <a:off x="960120" y="4946904"/>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(8 min) </a:t>
            </a:r>
            <a:r>
              <a:rPr sz="1100" b="0">
                <a:solidFill>
                  <a:srgbClr val="343A4E"/>
                </a:solidFill>
                <a:latin typeface="Arial"/>
              </a:rPr>
              <a:t>Draw both as sorted horizontal bars. Rank each. Compute rank_shift and identify the largest mover in each direction.</a:t>
            </a:r>
          </a:p>
        </p:txBody>
      </p:sp>
      <p:sp>
        <p:nvSpPr>
          <p:cNvPr id="26" name="Rectangle 25"/>
          <p:cNvSpPr/>
          <p:nvPr/>
        </p:nvSpPr>
        <p:spPr>
          <a:xfrm>
            <a:off x="548640" y="5294376"/>
            <a:ext cx="292608" cy="29260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294376"/>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3</a:t>
            </a:r>
          </a:p>
        </p:txBody>
      </p:sp>
      <p:sp>
        <p:nvSpPr>
          <p:cNvPr id="28" name="Rectangle 27"/>
          <p:cNvSpPr/>
          <p:nvPr/>
        </p:nvSpPr>
        <p:spPr>
          <a:xfrm>
            <a:off x="960120" y="5276088"/>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(7 min) </a:t>
            </a:r>
            <a:r>
              <a:rPr sz="1100" b="0">
                <a:solidFill>
                  <a:srgbClr val="343A4E"/>
                </a:solidFill>
                <a:latin typeface="Arial"/>
              </a:rPr>
              <a:t>Draw the raw-count choropleth deliberately, then answer in writing: what is this map a map OF? Keep the answer — it is the case's punchline.</a:t>
            </a:r>
          </a:p>
        </p:txBody>
      </p:sp>
      <p:sp>
        <p:nvSpPr>
          <p:cNvPr id="29" name="Rectangle 28"/>
          <p:cNvSpPr/>
          <p:nvPr/>
        </p:nvSpPr>
        <p:spPr>
          <a:xfrm>
            <a:off x="548640" y="5623560"/>
            <a:ext cx="292608" cy="292608"/>
          </a:xfrm>
          <a:prstGeom prst="rect">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623560"/>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4</a:t>
            </a:r>
          </a:p>
        </p:txBody>
      </p:sp>
      <p:sp>
        <p:nvSpPr>
          <p:cNvPr id="31" name="Rectangle 30"/>
          <p:cNvSpPr/>
          <p:nvPr/>
        </p:nvSpPr>
        <p:spPr>
          <a:xfrm>
            <a:off x="960120" y="5605272"/>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(6 min) </a:t>
            </a:r>
            <a:r>
              <a:rPr sz="1100" b="0">
                <a:solidFill>
                  <a:srgbClr val="343A4E"/>
                </a:solidFill>
                <a:latin typeface="Arial"/>
              </a:rPr>
              <a:t>Build the Lorenz curve and compute the Gini. Decide whether it belongs in the deck, and justify the decision in one sentence.</a:t>
            </a:r>
          </a:p>
        </p:txBody>
      </p:sp>
      <p:sp>
        <p:nvSpPr>
          <p:cNvPr id="32" name="Rectangle 31"/>
          <p:cNvSpPr/>
          <p:nvPr/>
        </p:nvSpPr>
        <p:spPr>
          <a:xfrm>
            <a:off x="548640" y="5952744"/>
            <a:ext cx="292608" cy="292608"/>
          </a:xfrm>
          <a:prstGeom prst="rect">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952744"/>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5</a:t>
            </a:r>
          </a:p>
        </p:txBody>
      </p:sp>
      <p:sp>
        <p:nvSpPr>
          <p:cNvPr id="34" name="Rectangle 33"/>
          <p:cNvSpPr/>
          <p:nvPr/>
        </p:nvSpPr>
        <p:spPr>
          <a:xfrm>
            <a:off x="960120" y="5934456"/>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(6 min) </a:t>
            </a:r>
            <a:r>
              <a:rPr sz="1100" b="0">
                <a:solidFill>
                  <a:srgbClr val="343A4E"/>
                </a:solidFill>
                <a:latin typeface="Arial"/>
              </a:rPr>
              <a:t>Write the chart subtitle that states the denominator, the month and the target, in under 15 words.</a:t>
            </a:r>
          </a:p>
        </p:txBody>
      </p:sp>
      <p:sp>
        <p:nvSpPr>
          <p:cNvPr id="35" name="Rectangle 34"/>
          <p:cNvSpPr/>
          <p:nvPr/>
        </p:nvSpPr>
        <p:spPr>
          <a:xfrm>
            <a:off x="548640" y="6281928"/>
            <a:ext cx="292608" cy="292608"/>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6281928"/>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6</a:t>
            </a:r>
          </a:p>
        </p:txBody>
      </p:sp>
      <p:sp>
        <p:nvSpPr>
          <p:cNvPr id="37" name="Rectangle 36"/>
          <p:cNvSpPr/>
          <p:nvPr/>
        </p:nvSpPr>
        <p:spPr>
          <a:xfrm>
            <a:off x="960120" y="6263640"/>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(3 min) </a:t>
            </a:r>
            <a:r>
              <a:rPr sz="1100" b="0">
                <a:solidFill>
                  <a:srgbClr val="343A4E"/>
                </a:solidFill>
                <a:latin typeface="Arial"/>
              </a:rPr>
              <a:t>Pair swap: read your partner's subtitle only, and say what the chart must show. If you are wrong, the subtitle is not done.</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CANON 5 — OUR WORLD IN DATA</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Annotation is the difference between a chart and an argument</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التعليق يصنع الحجة</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84</a:t>
            </a:r>
          </a:p>
        </p:txBody>
      </p:sp>
      <p:pic>
        <p:nvPicPr>
          <p:cNvPr id="15" name="Picture 14" descr="canon_05_owid.png"/>
          <p:cNvPicPr>
            <a:picLocks noChangeAspect="1"/>
          </p:cNvPicPr>
          <p:nvPr/>
        </p:nvPicPr>
        <p:blipFill>
          <a:blip r:embed="rId3"/>
          <a:stretch>
            <a:fillRect/>
          </a:stretch>
        </p:blipFill>
        <p:spPr>
          <a:xfrm>
            <a:off x="1681491" y="2258568"/>
            <a:ext cx="8825968" cy="3831336"/>
          </a:xfrm>
          <a:prstGeom prst="rect">
            <a:avLst/>
          </a:prstGeom>
        </p:spPr>
      </p:pic>
      <p:sp>
        <p:nvSpPr>
          <p:cNvPr id="16" name="Rectangle 15"/>
          <p:cNvSpPr/>
          <p:nvPr/>
        </p:nvSpPr>
        <p:spPr>
          <a:xfrm>
            <a:off x="548640" y="6126480"/>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6B7280"/>
                </a:solidFill>
                <a:latin typeface="Arial"/>
              </a:rPr>
              <a:t>Identical series, identical window, identical source — six countries, weekly, to end-2022. Nothing was added to the data between the panels, only design.</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CANON 6 — NEW YORK TIMES, 2020</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The most disciplined choice is sometimes not to chart at all</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متى لا نرسم</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85</a:t>
            </a:r>
          </a:p>
        </p:txBody>
      </p:sp>
      <p:pic>
        <p:nvPicPr>
          <p:cNvPr id="15" name="Picture 14" descr="canon_10_incalculable_loss.png"/>
          <p:cNvPicPr>
            <a:picLocks noChangeAspect="1"/>
          </p:cNvPicPr>
          <p:nvPr/>
        </p:nvPicPr>
        <p:blipFill>
          <a:blip r:embed="rId3"/>
          <a:stretch>
            <a:fillRect/>
          </a:stretch>
        </p:blipFill>
        <p:spPr>
          <a:xfrm>
            <a:off x="1465266" y="2258568"/>
            <a:ext cx="9258419" cy="3831336"/>
          </a:xfrm>
          <a:prstGeom prst="rect">
            <a:avLst/>
          </a:prstGeom>
        </p:spPr>
      </p:pic>
      <p:sp>
        <p:nvSpPr>
          <p:cNvPr id="16" name="Rectangle 15"/>
          <p:cNvSpPr/>
          <p:nvPr/>
        </p:nvSpPr>
        <p:spPr>
          <a:xfrm>
            <a:off x="548640" y="6126480"/>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6B7280"/>
                </a:solidFill>
                <a:latin typeface="Arial"/>
              </a:rPr>
              <a:t>Right panel is an illustrative mock-up in the spirit of the front page of 24 May 2020 — the phrases are invented and no real person is represented.</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CASE STUDY — CASE B</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Communicating progress without building a 'success dashboard'</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لوحة إنجاز مضللة</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92</a:t>
            </a:r>
          </a:p>
        </p:txBody>
      </p:sp>
      <p:sp>
        <p:nvSpPr>
          <p:cNvPr id="15" name="Rectangle 14"/>
          <p:cNvSpPr/>
          <p:nvPr/>
        </p:nvSpPr>
        <p:spPr>
          <a:xfrm>
            <a:off x="548640" y="2331720"/>
            <a:ext cx="5413248" cy="1755648"/>
          </a:xfrm>
          <a:prstGeom prst="rect">
            <a:avLst/>
          </a:prstGeom>
          <a:solidFill>
            <a:srgbClr val="EAF0FA"/>
          </a:solidFill>
          <a:ln w="12700">
            <a:solidFill>
              <a:srgbClr val="2E5A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 y="2459736"/>
            <a:ext cx="504748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2E5AAC"/>
                </a:solidFill>
                <a:latin typeface="Arial"/>
              </a:rPr>
              <a:t>SCENARIO</a:t>
            </a:r>
          </a:p>
        </p:txBody>
      </p:sp>
      <p:sp>
        <p:nvSpPr>
          <p:cNvPr id="17" name="Rectangle 16"/>
          <p:cNvSpPr/>
          <p:nvPr/>
        </p:nvSpPr>
        <p:spPr>
          <a:xfrm>
            <a:off x="749808" y="2788920"/>
            <a:ext cx="5010912"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0">
                <a:solidFill>
                  <a:srgbClr val="343A4E"/>
                </a:solidFill>
                <a:latin typeface="Arial"/>
              </a:rPr>
              <a:t>The Tayseer programme office must report to a Deputy-Minister-chaired committee every quarter. The previous analyst built a dashboard on which almost every tile reads green. The programme is, in fact, 1.2 points short of its target with nine regions below it.</a:t>
            </a:r>
          </a:p>
        </p:txBody>
      </p:sp>
      <p:sp>
        <p:nvSpPr>
          <p:cNvPr id="18" name="Rectangle 17"/>
          <p:cNvSpPr/>
          <p:nvPr/>
        </p:nvSpPr>
        <p:spPr>
          <a:xfrm>
            <a:off x="6236207" y="2331720"/>
            <a:ext cx="5413248" cy="1755648"/>
          </a:xfrm>
          <a:prstGeom prst="rect">
            <a:avLst/>
          </a:prstGeom>
          <a:solidFill>
            <a:srgbClr val="E6F5F4"/>
          </a:solidFill>
          <a:ln w="12700">
            <a:solidFill>
              <a:srgbClr val="00A7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37375" y="2459736"/>
            <a:ext cx="504748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BUSINESS CONTEXT</a:t>
            </a:r>
          </a:p>
        </p:txBody>
      </p:sp>
      <p:sp>
        <p:nvSpPr>
          <p:cNvPr id="20" name="Rectangle 19"/>
          <p:cNvSpPr/>
          <p:nvPr/>
        </p:nvSpPr>
        <p:spPr>
          <a:xfrm>
            <a:off x="6437375" y="2788920"/>
            <a:ext cx="5010912"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0">
                <a:solidFill>
                  <a:srgbClr val="343A4E"/>
                </a:solidFill>
                <a:latin typeface="Arial"/>
              </a:rPr>
              <a:t>Nothing on that dashboard is a fabrication. Every number can be traced to the source system. The distortion is entirely in method and framing — which is what makes it survivable, and therefore what makes it common.</a:t>
            </a:r>
          </a:p>
        </p:txBody>
      </p:sp>
      <p:sp>
        <p:nvSpPr>
          <p:cNvPr id="21" name="Rectangle 20"/>
          <p:cNvSpPr/>
          <p:nvPr/>
        </p:nvSpPr>
        <p:spPr>
          <a:xfrm>
            <a:off x="548640" y="4288536"/>
            <a:ext cx="5413248" cy="1755648"/>
          </a:xfrm>
          <a:prstGeom prst="rect">
            <a:avLst/>
          </a:prstGeom>
          <a:solidFill>
            <a:srgbClr val="FCF0E6"/>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9808" y="4416551"/>
            <a:ext cx="504748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E8833A"/>
                </a:solidFill>
                <a:latin typeface="Arial"/>
              </a:rPr>
              <a:t>CHALLENGE</a:t>
            </a:r>
          </a:p>
        </p:txBody>
      </p:sp>
      <p:sp>
        <p:nvSpPr>
          <p:cNvPr id="23" name="Rectangle 22"/>
          <p:cNvSpPr/>
          <p:nvPr/>
        </p:nvSpPr>
        <p:spPr>
          <a:xfrm>
            <a:off x="749808" y="4745736"/>
            <a:ext cx="5010912"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0">
                <a:solidFill>
                  <a:srgbClr val="343A4E"/>
                </a:solidFill>
                <a:latin typeface="Arial"/>
              </a:rPr>
              <a:t>Name each technique precisely enough that it can be checked, reproduce the honest figure beside it, and rebuild the dashboard so it is both truthful and still usable by an executive in ninety seconds.</a:t>
            </a:r>
          </a:p>
        </p:txBody>
      </p:sp>
      <p:sp>
        <p:nvSpPr>
          <p:cNvPr id="24" name="Rectangle 23"/>
          <p:cNvSpPr/>
          <p:nvPr/>
        </p:nvSpPr>
        <p:spPr>
          <a:xfrm>
            <a:off x="6236207" y="4288536"/>
            <a:ext cx="5413248" cy="1755648"/>
          </a:xfrm>
          <a:prstGeom prst="rect">
            <a:avLst/>
          </a:prstGeom>
          <a:solidFill>
            <a:srgbClr val="EFEBF6"/>
          </a:solidFill>
          <a:ln w="12700">
            <a:solidFill>
              <a:srgbClr val="6C4F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37375" y="4416551"/>
            <a:ext cx="5047488"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6C4FA1"/>
                </a:solidFill>
                <a:latin typeface="Arial"/>
              </a:rPr>
              <a:t>APPROACH</a:t>
            </a:r>
          </a:p>
        </p:txBody>
      </p:sp>
      <p:sp>
        <p:nvSpPr>
          <p:cNvPr id="26" name="Rectangle 25"/>
          <p:cNvSpPr/>
          <p:nvPr/>
        </p:nvSpPr>
        <p:spPr>
          <a:xfrm>
            <a:off x="6437375" y="4745736"/>
            <a:ext cx="5010912" cy="118871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0">
                <a:solidFill>
                  <a:srgbClr val="343A4E"/>
                </a:solidFill>
                <a:latin typeface="Arial"/>
              </a:rPr>
              <a:t>Work tile by tile against success_dashboard_spec.csv, which carries the spun and honest variants of the same ten tiles. Every spun figure in kpi_spin_pairs.csv is reproducible from the shipped data by a stated operation — so the accusation is always checkable.</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THIRTEEN WAYS TO LOOK BETTER</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Every figure reproducible — and therefore checkable</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أساليب التجميل الثلاثة عشر</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93</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The full table, with the exact pandas operation behind every figure, ships as kpi_spin_pairs.csv. The ones that survive peer review are the ones nobody can detect.</a:t>
            </a:r>
          </a:p>
        </p:txBody>
      </p:sp>
      <p:graphicFrame>
        <p:nvGraphicFramePr>
          <p:cNvPr id="16" name="Table 15"/>
          <p:cNvGraphicFramePr>
            <a:graphicFrameLocks noGrp="1"/>
          </p:cNvGraphicFramePr>
          <p:nvPr/>
        </p:nvGraphicFramePr>
        <p:xfrm>
          <a:off x="548640" y="2926079"/>
          <a:ext cx="11090755" cy="3108952"/>
        </p:xfrm>
        <a:graphic>
          <a:graphicData uri="http://schemas.openxmlformats.org/drawingml/2006/table">
            <a:tbl>
              <a:tblPr>
                <a:tableStyleId>{5C22544A-7EE6-4342-B048-85BDC9FD1C3A}</a:tableStyleId>
              </a:tblPr>
              <a:tblGrid>
                <a:gridCol w="3634740"/>
                <a:gridCol w="931773"/>
                <a:gridCol w="931773"/>
                <a:gridCol w="838504"/>
                <a:gridCol w="4753965"/>
              </a:tblGrid>
              <a:tr h="222068">
                <a:tc>
                  <a:txBody>
                    <a:bodyPr/>
                    <a:lstStyle/>
                    <a:p>
                      <a:pPr algn="l"/>
                      <a:r>
                        <a:rPr sz="950" b="1">
                          <a:solidFill>
                            <a:srgbClr val="FFFFFF"/>
                          </a:solidFill>
                          <a:latin typeface="Arial"/>
                        </a:rPr>
                        <a:t>Technique</a:t>
                      </a:r>
                    </a:p>
                  </a:txBody>
                  <a:tcPr marL="63500" marR="63500" marT="38100" marB="38100" anchor="ctr">
                    <a:solidFill>
                      <a:srgbClr val="1D2A5C"/>
                    </a:solidFill>
                  </a:tcPr>
                </a:tc>
                <a:tc>
                  <a:txBody>
                    <a:bodyPr/>
                    <a:lstStyle/>
                    <a:p>
                      <a:pPr algn="l"/>
                      <a:r>
                        <a:rPr sz="950" b="1">
                          <a:solidFill>
                            <a:srgbClr val="FFFFFF"/>
                          </a:solidFill>
                          <a:latin typeface="Arial"/>
                        </a:rPr>
                        <a:t>Spun</a:t>
                      </a:r>
                    </a:p>
                  </a:txBody>
                  <a:tcPr marL="63500" marR="63500" marT="38100" marB="38100" anchor="ctr">
                    <a:solidFill>
                      <a:srgbClr val="1D2A5C"/>
                    </a:solidFill>
                  </a:tcPr>
                </a:tc>
                <a:tc>
                  <a:txBody>
                    <a:bodyPr/>
                    <a:lstStyle/>
                    <a:p>
                      <a:pPr algn="l"/>
                      <a:r>
                        <a:rPr sz="950" b="1">
                          <a:solidFill>
                            <a:srgbClr val="FFFFFF"/>
                          </a:solidFill>
                          <a:latin typeface="Arial"/>
                        </a:rPr>
                        <a:t>Honest</a:t>
                      </a:r>
                    </a:p>
                  </a:txBody>
                  <a:tcPr marL="63500" marR="63500" marT="38100" marB="38100" anchor="ctr">
                    <a:solidFill>
                      <a:srgbClr val="1D2A5C"/>
                    </a:solidFill>
                  </a:tcPr>
                </a:tc>
                <a:tc>
                  <a:txBody>
                    <a:bodyPr/>
                    <a:lstStyle/>
                    <a:p>
                      <a:pPr algn="l"/>
                      <a:r>
                        <a:rPr sz="950" b="1">
                          <a:solidFill>
                            <a:srgbClr val="FFFFFF"/>
                          </a:solidFill>
                          <a:latin typeface="Arial"/>
                        </a:rPr>
                        <a:t>Detect</a:t>
                      </a:r>
                    </a:p>
                  </a:txBody>
                  <a:tcPr marL="63500" marR="63500" marT="38100" marB="38100" anchor="ctr">
                    <a:solidFill>
                      <a:srgbClr val="1D2A5C"/>
                    </a:solidFill>
                  </a:tcPr>
                </a:tc>
                <a:tc>
                  <a:txBody>
                    <a:bodyPr/>
                    <a:lstStyle/>
                    <a:p>
                      <a:pPr algn="l"/>
                      <a:r>
                        <a:rPr sz="950" b="1">
                          <a:solidFill>
                            <a:srgbClr val="FFFFFF"/>
                          </a:solidFill>
                          <a:latin typeface="Arial"/>
                        </a:rPr>
                        <a:t>The operation that produces it</a:t>
                      </a:r>
                    </a:p>
                  </a:txBody>
                  <a:tcPr marL="63500" marR="63500" marT="38100" marB="38100" anchor="ctr">
                    <a:solidFill>
                      <a:srgbClr val="1D2A5C"/>
                    </a:solidFill>
                  </a:tcPr>
                </a:tc>
              </a:tr>
              <a:tr h="222068">
                <a:tc>
                  <a:txBody>
                    <a:bodyPr/>
                    <a:lstStyle/>
                    <a:p>
                      <a:pPr algn="l"/>
                      <a:r>
                        <a:rPr sz="900" b="1">
                          <a:solidFill>
                            <a:srgbClr val="1D2A5C"/>
                          </a:solidFill>
                          <a:latin typeface="Arial"/>
                        </a:rPr>
                        <a:t>Average of averages on a non-additive rate</a:t>
                      </a:r>
                    </a:p>
                  </a:txBody>
                  <a:tcPr marL="63500" marR="63500" marT="38100" marB="38100" anchor="ctr">
                    <a:solidFill>
                      <a:srgbClr val="FFFFFF"/>
                    </a:solidFill>
                  </a:tcPr>
                </a:tc>
                <a:tc>
                  <a:txBody>
                    <a:bodyPr/>
                    <a:lstStyle/>
                    <a:p>
                      <a:pPr algn="l"/>
                      <a:r>
                        <a:rPr sz="900" b="0">
                          <a:solidFill>
                            <a:srgbClr val="343A4E"/>
                          </a:solidFill>
                          <a:latin typeface="Arial"/>
                        </a:rPr>
                        <a:t>61.2%</a:t>
                      </a:r>
                    </a:p>
                  </a:txBody>
                  <a:tcPr marL="63500" marR="63500" marT="38100" marB="38100" anchor="ctr">
                    <a:solidFill>
                      <a:srgbClr val="FFFFFF"/>
                    </a:solidFill>
                  </a:tcPr>
                </a:tc>
                <a:tc>
                  <a:txBody>
                    <a:bodyPr/>
                    <a:lstStyle/>
                    <a:p>
                      <a:pPr algn="l"/>
                      <a:r>
                        <a:rPr sz="900" b="0">
                          <a:solidFill>
                            <a:srgbClr val="343A4E"/>
                          </a:solidFill>
                          <a:latin typeface="Arial"/>
                        </a:rPr>
                        <a:t>63.8%</a:t>
                      </a:r>
                    </a:p>
                  </a:txBody>
                  <a:tcPr marL="63500" marR="63500" marT="38100" marB="38100" anchor="ctr">
                    <a:solidFill>
                      <a:srgbClr val="FFFFFF"/>
                    </a:solidFill>
                  </a:tcPr>
                </a:tc>
                <a:tc>
                  <a:txBody>
                    <a:bodyPr/>
                    <a:lstStyle/>
                    <a:p>
                      <a:pPr algn="l"/>
                      <a:r>
                        <a:rPr sz="900" b="0">
                          <a:solidFill>
                            <a:srgbClr val="343A4E"/>
                          </a:solidFill>
                          <a:latin typeface="Arial"/>
                        </a:rPr>
                        <a:t>Hard</a:t>
                      </a:r>
                    </a:p>
                  </a:txBody>
                  <a:tcPr marL="63500" marR="63500" marT="38100" marB="38100" anchor="ctr">
                    <a:solidFill>
                      <a:srgbClr val="FFFFFF"/>
                    </a:solidFill>
                  </a:tcPr>
                </a:tc>
                <a:tc>
                  <a:txBody>
                    <a:bodyPr/>
                    <a:lstStyle/>
                    <a:p>
                      <a:pPr algn="l"/>
                      <a:r>
                        <a:rPr sz="900" b="0">
                          <a:solidFill>
                            <a:srgbClr val="343A4E"/>
                          </a:solidFill>
                          <a:latin typeface="Arial"/>
                        </a:rPr>
                        <a:t>AVERAGE(digital_adoption_pct) instead of weighting by unique_users</a:t>
                      </a:r>
                    </a:p>
                  </a:txBody>
                  <a:tcPr marL="63500" marR="63500" marT="38100" marB="38100" anchor="ctr">
                    <a:solidFill>
                      <a:srgbClr val="FFFFFF"/>
                    </a:solidFill>
                  </a:tcPr>
                </a:tc>
              </a:tr>
              <a:tr h="222068">
                <a:tc>
                  <a:txBody>
                    <a:bodyPr/>
                    <a:lstStyle/>
                    <a:p>
                      <a:pPr algn="l"/>
                      <a:r>
                        <a:rPr sz="900" b="1">
                          <a:solidFill>
                            <a:srgbClr val="1D2A5C"/>
                          </a:solidFill>
                          <a:latin typeface="Arial"/>
                        </a:rPr>
                        <a:t>Truncated y-axis on a bar chart</a:t>
                      </a:r>
                    </a:p>
                  </a:txBody>
                  <a:tcPr marL="63500" marR="63500" marT="38100" marB="38100" anchor="ctr">
                    <a:solidFill>
                      <a:srgbClr val="F4F6FB"/>
                    </a:solidFill>
                  </a:tcPr>
                </a:tc>
                <a:tc>
                  <a:txBody>
                    <a:bodyPr/>
                    <a:lstStyle/>
                    <a:p>
                      <a:pPr algn="l"/>
                      <a:r>
                        <a:rPr sz="900" b="0">
                          <a:solidFill>
                            <a:srgbClr val="343A4E"/>
                          </a:solidFill>
                          <a:latin typeface="Arial"/>
                        </a:rPr>
                        <a:t>+128.7%</a:t>
                      </a:r>
                    </a:p>
                  </a:txBody>
                  <a:tcPr marL="63500" marR="63500" marT="38100" marB="38100" anchor="ctr">
                    <a:solidFill>
                      <a:srgbClr val="F4F6FB"/>
                    </a:solidFill>
                  </a:tcPr>
                </a:tc>
                <a:tc>
                  <a:txBody>
                    <a:bodyPr/>
                    <a:lstStyle/>
                    <a:p>
                      <a:pPr algn="l"/>
                      <a:r>
                        <a:rPr sz="900" b="0">
                          <a:solidFill>
                            <a:srgbClr val="343A4E"/>
                          </a:solidFill>
                          <a:latin typeface="Arial"/>
                        </a:rPr>
                        <a:t>+3.5%</a:t>
                      </a:r>
                    </a:p>
                  </a:txBody>
                  <a:tcPr marL="63500" marR="63500" marT="38100" marB="38100" anchor="ctr">
                    <a:solidFill>
                      <a:srgbClr val="F4F6FB"/>
                    </a:solidFill>
                  </a:tcPr>
                </a:tc>
                <a:tc>
                  <a:txBody>
                    <a:bodyPr/>
                    <a:lstStyle/>
                    <a:p>
                      <a:pPr algn="l"/>
                      <a:r>
                        <a:rPr sz="900" b="0">
                          <a:solidFill>
                            <a:srgbClr val="343A4E"/>
                          </a:solidFill>
                          <a:latin typeface="Arial"/>
                        </a:rPr>
                        <a:t>Easy</a:t>
                      </a:r>
                    </a:p>
                  </a:txBody>
                  <a:tcPr marL="63500" marR="63500" marT="38100" marB="38100" anchor="ctr">
                    <a:solidFill>
                      <a:srgbClr val="F4F6FB"/>
                    </a:solidFill>
                  </a:tcPr>
                </a:tc>
                <a:tc>
                  <a:txBody>
                    <a:bodyPr/>
                    <a:lstStyle/>
                    <a:p>
                      <a:pPr algn="l"/>
                      <a:r>
                        <a:rPr sz="900" b="0">
                          <a:solidFill>
                            <a:srgbClr val="343A4E"/>
                          </a:solidFill>
                          <a:latin typeface="Arial"/>
                        </a:rPr>
                        <a:t>Bar baseline at 60 rather than 0 — lie factor 36.8</a:t>
                      </a:r>
                    </a:p>
                  </a:txBody>
                  <a:tcPr marL="63500" marR="63500" marT="38100" marB="38100" anchor="ctr">
                    <a:solidFill>
                      <a:srgbClr val="F4F6FB"/>
                    </a:solidFill>
                  </a:tcPr>
                </a:tc>
              </a:tr>
              <a:tr h="222068">
                <a:tc>
                  <a:txBody>
                    <a:bodyPr/>
                    <a:lstStyle/>
                    <a:p>
                      <a:pPr algn="l"/>
                      <a:r>
                        <a:rPr sz="900" b="1">
                          <a:solidFill>
                            <a:srgbClr val="1D2A5C"/>
                          </a:solidFill>
                          <a:latin typeface="Arial"/>
                        </a:rPr>
                        <a:t>Cherry-picked start month for the trend</a:t>
                      </a:r>
                    </a:p>
                  </a:txBody>
                  <a:tcPr marL="63500" marR="63500" marT="38100" marB="38100" anchor="ctr">
                    <a:solidFill>
                      <a:srgbClr val="FFFFFF"/>
                    </a:solidFill>
                  </a:tcPr>
                </a:tc>
                <a:tc>
                  <a:txBody>
                    <a:bodyPr/>
                    <a:lstStyle/>
                    <a:p>
                      <a:pPr algn="l"/>
                      <a:r>
                        <a:rPr sz="900" b="0">
                          <a:solidFill>
                            <a:srgbClr val="343A4E"/>
                          </a:solidFill>
                          <a:latin typeface="Arial"/>
                        </a:rPr>
                        <a:t>67.0%</a:t>
                      </a:r>
                    </a:p>
                  </a:txBody>
                  <a:tcPr marL="63500" marR="63500" marT="38100" marB="38100" anchor="ctr">
                    <a:solidFill>
                      <a:srgbClr val="FFFFFF"/>
                    </a:solidFill>
                  </a:tcPr>
                </a:tc>
                <a:tc>
                  <a:txBody>
                    <a:bodyPr/>
                    <a:lstStyle/>
                    <a:p>
                      <a:pPr algn="l"/>
                      <a:r>
                        <a:rPr sz="900" b="0">
                          <a:solidFill>
                            <a:srgbClr val="343A4E"/>
                          </a:solidFill>
                          <a:latin typeface="Arial"/>
                        </a:rPr>
                        <a:t>64.6%</a:t>
                      </a:r>
                    </a:p>
                  </a:txBody>
                  <a:tcPr marL="63500" marR="63500" marT="38100" marB="38100" anchor="ctr">
                    <a:solidFill>
                      <a:srgbClr val="FFFFFF"/>
                    </a:solidFill>
                  </a:tcPr>
                </a:tc>
                <a:tc>
                  <a:txBody>
                    <a:bodyPr/>
                    <a:lstStyle/>
                    <a:p>
                      <a:pPr algn="l"/>
                      <a:r>
                        <a:rPr sz="900" b="0">
                          <a:solidFill>
                            <a:srgbClr val="343A4E"/>
                          </a:solidFill>
                          <a:latin typeface="Arial"/>
                        </a:rPr>
                        <a:t>Medium</a:t>
                      </a:r>
                    </a:p>
                  </a:txBody>
                  <a:tcPr marL="63500" marR="63500" marT="38100" marB="38100" anchor="ctr">
                    <a:solidFill>
                      <a:srgbClr val="FFFFFF"/>
                    </a:solidFill>
                  </a:tcPr>
                </a:tc>
                <a:tc>
                  <a:txBody>
                    <a:bodyPr/>
                    <a:lstStyle/>
                    <a:p>
                      <a:pPr algn="l"/>
                      <a:r>
                        <a:rPr sz="900" b="0">
                          <a:solidFill>
                            <a:srgbClr val="343A4E"/>
                          </a:solidFill>
                          <a:latin typeface="Arial"/>
                        </a:rPr>
                        <a:t>Search all 59 start months for the steepest slope, then project December on it</a:t>
                      </a:r>
                    </a:p>
                  </a:txBody>
                  <a:tcPr marL="63500" marR="63500" marT="38100" marB="38100" anchor="ctr">
                    <a:solidFill>
                      <a:srgbClr val="FFFFFF"/>
                    </a:solidFill>
                  </a:tcPr>
                </a:tc>
              </a:tr>
              <a:tr h="222068">
                <a:tc>
                  <a:txBody>
                    <a:bodyPr/>
                    <a:lstStyle/>
                    <a:p>
                      <a:pPr algn="l"/>
                      <a:r>
                        <a:rPr sz="900" b="1">
                          <a:solidFill>
                            <a:srgbClr val="1D2A5C"/>
                          </a:solidFill>
                          <a:latin typeface="Arial"/>
                        </a:rPr>
                        <a:t>National aggregate hides the distribution</a:t>
                      </a:r>
                    </a:p>
                  </a:txBody>
                  <a:tcPr marL="63500" marR="63500" marT="38100" marB="38100" anchor="ctr">
                    <a:solidFill>
                      <a:srgbClr val="F4F6FB"/>
                    </a:solidFill>
                  </a:tcPr>
                </a:tc>
                <a:tc>
                  <a:txBody>
                    <a:bodyPr/>
                    <a:lstStyle/>
                    <a:p>
                      <a:pPr algn="l"/>
                      <a:r>
                        <a:rPr sz="900" b="0">
                          <a:solidFill>
                            <a:srgbClr val="343A4E"/>
                          </a:solidFill>
                          <a:latin typeface="Arial"/>
                        </a:rPr>
                        <a:t>63.8%</a:t>
                      </a:r>
                    </a:p>
                  </a:txBody>
                  <a:tcPr marL="63500" marR="63500" marT="38100" marB="38100" anchor="ctr">
                    <a:solidFill>
                      <a:srgbClr val="F4F6FB"/>
                    </a:solidFill>
                  </a:tcPr>
                </a:tc>
                <a:tc>
                  <a:txBody>
                    <a:bodyPr/>
                    <a:lstStyle/>
                    <a:p>
                      <a:pPr algn="l"/>
                      <a:r>
                        <a:rPr sz="900" b="0">
                          <a:solidFill>
                            <a:srgbClr val="343A4E"/>
                          </a:solidFill>
                          <a:latin typeface="Arial"/>
                        </a:rPr>
                        <a:t>55.7%</a:t>
                      </a:r>
                    </a:p>
                  </a:txBody>
                  <a:tcPr marL="63500" marR="63500" marT="38100" marB="38100" anchor="ctr">
                    <a:solidFill>
                      <a:srgbClr val="F4F6FB"/>
                    </a:solidFill>
                  </a:tcPr>
                </a:tc>
                <a:tc>
                  <a:txBody>
                    <a:bodyPr/>
                    <a:lstStyle/>
                    <a:p>
                      <a:pPr algn="l"/>
                      <a:r>
                        <a:rPr sz="900" b="0">
                          <a:solidFill>
                            <a:srgbClr val="343A4E"/>
                          </a:solidFill>
                          <a:latin typeface="Arial"/>
                        </a:rPr>
                        <a:t>Medium</a:t>
                      </a:r>
                    </a:p>
                  </a:txBody>
                  <a:tcPr marL="63500" marR="63500" marT="38100" marB="38100" anchor="ctr">
                    <a:solidFill>
                      <a:srgbClr val="F4F6FB"/>
                    </a:solidFill>
                  </a:tcPr>
                </a:tc>
                <a:tc>
                  <a:txBody>
                    <a:bodyPr/>
                    <a:lstStyle/>
                    <a:p>
                      <a:pPr algn="l"/>
                      <a:r>
                        <a:rPr sz="900" b="0">
                          <a:solidFill>
                            <a:srgbClr val="343A4E"/>
                          </a:solidFill>
                          <a:latin typeface="Arial"/>
                        </a:rPr>
                        <a:t>Report the national figure; omit the five stalled regions</a:t>
                      </a:r>
                    </a:p>
                  </a:txBody>
                  <a:tcPr marL="63500" marR="63500" marT="38100" marB="38100" anchor="ctr">
                    <a:solidFill>
                      <a:srgbClr val="F4F6FB"/>
                    </a:solidFill>
                  </a:tcPr>
                </a:tc>
              </a:tr>
              <a:tr h="222068">
                <a:tc>
                  <a:txBody>
                    <a:bodyPr/>
                    <a:lstStyle/>
                    <a:p>
                      <a:pPr algn="l"/>
                      <a:r>
                        <a:rPr sz="900" b="1">
                          <a:solidFill>
                            <a:srgbClr val="1D2A5C"/>
                          </a:solidFill>
                          <a:latin typeface="Arial"/>
                        </a:rPr>
                        <a:t>Percentage change of a percentage</a:t>
                      </a:r>
                    </a:p>
                  </a:txBody>
                  <a:tcPr marL="63500" marR="63500" marT="38100" marB="38100" anchor="ctr">
                    <a:solidFill>
                      <a:srgbClr val="FFFFFF"/>
                    </a:solidFill>
                  </a:tcPr>
                </a:tc>
                <a:tc>
                  <a:txBody>
                    <a:bodyPr/>
                    <a:lstStyle/>
                    <a:p>
                      <a:pPr algn="l"/>
                      <a:r>
                        <a:rPr sz="900" b="0">
                          <a:solidFill>
                            <a:srgbClr val="343A4E"/>
                          </a:solidFill>
                          <a:latin typeface="Arial"/>
                        </a:rPr>
                        <a:t>+86.6%</a:t>
                      </a:r>
                    </a:p>
                  </a:txBody>
                  <a:tcPr marL="63500" marR="63500" marT="38100" marB="38100" anchor="ctr">
                    <a:solidFill>
                      <a:srgbClr val="FFFFFF"/>
                    </a:solidFill>
                  </a:tcPr>
                </a:tc>
                <a:tc>
                  <a:txBody>
                    <a:bodyPr/>
                    <a:lstStyle/>
                    <a:p>
                      <a:pPr algn="l"/>
                      <a:r>
                        <a:rPr sz="900" b="0">
                          <a:solidFill>
                            <a:srgbClr val="343A4E"/>
                          </a:solidFill>
                          <a:latin typeface="Arial"/>
                        </a:rPr>
                        <a:t>+29.6 pp</a:t>
                      </a:r>
                    </a:p>
                  </a:txBody>
                  <a:tcPr marL="63500" marR="63500" marT="38100" marB="38100" anchor="ctr">
                    <a:solidFill>
                      <a:srgbClr val="FFFFFF"/>
                    </a:solidFill>
                  </a:tcPr>
                </a:tc>
                <a:tc>
                  <a:txBody>
                    <a:bodyPr/>
                    <a:lstStyle/>
                    <a:p>
                      <a:pPr algn="l"/>
                      <a:r>
                        <a:rPr sz="900" b="0">
                          <a:solidFill>
                            <a:srgbClr val="343A4E"/>
                          </a:solidFill>
                          <a:latin typeface="Arial"/>
                        </a:rPr>
                        <a:t>Medium</a:t>
                      </a:r>
                    </a:p>
                  </a:txBody>
                  <a:tcPr marL="63500" marR="63500" marT="38100" marB="38100" anchor="ctr">
                    <a:solidFill>
                      <a:srgbClr val="FFFFFF"/>
                    </a:solidFill>
                  </a:tcPr>
                </a:tc>
                <a:tc>
                  <a:txBody>
                    <a:bodyPr/>
                    <a:lstStyle/>
                    <a:p>
                      <a:pPr algn="l"/>
                      <a:r>
                        <a:rPr sz="900" b="0">
                          <a:solidFill>
                            <a:srgbClr val="343A4E"/>
                          </a:solidFill>
                          <a:latin typeface="Arial"/>
                        </a:rPr>
                        <a:t>Report a pp movement as if it were a % change</a:t>
                      </a:r>
                    </a:p>
                  </a:txBody>
                  <a:tcPr marL="63500" marR="63500" marT="38100" marB="38100" anchor="ctr">
                    <a:solidFill>
                      <a:srgbClr val="FFFFFF"/>
                    </a:solidFill>
                  </a:tcPr>
                </a:tc>
              </a:tr>
              <a:tr h="222068">
                <a:tc>
                  <a:txBody>
                    <a:bodyPr/>
                    <a:lstStyle/>
                    <a:p>
                      <a:pPr algn="l"/>
                      <a:r>
                        <a:rPr sz="900" b="1">
                          <a:solidFill>
                            <a:srgbClr val="1D2A5C"/>
                          </a:solidFill>
                          <a:latin typeface="Arial"/>
                        </a:rPr>
                        <a:t>Unweighted CSAT average</a:t>
                      </a:r>
                    </a:p>
                  </a:txBody>
                  <a:tcPr marL="63500" marR="63500" marT="38100" marB="38100" anchor="ctr">
                    <a:solidFill>
                      <a:srgbClr val="F4F6FB"/>
                    </a:solidFill>
                  </a:tcPr>
                </a:tc>
                <a:tc>
                  <a:txBody>
                    <a:bodyPr/>
                    <a:lstStyle/>
                    <a:p>
                      <a:pPr algn="l"/>
                      <a:r>
                        <a:rPr sz="900" b="0">
                          <a:solidFill>
                            <a:srgbClr val="343A4E"/>
                          </a:solidFill>
                          <a:latin typeface="Arial"/>
                        </a:rPr>
                        <a:t>4.00</a:t>
                      </a:r>
                    </a:p>
                  </a:txBody>
                  <a:tcPr marL="63500" marR="63500" marT="38100" marB="38100" anchor="ctr">
                    <a:solidFill>
                      <a:srgbClr val="F4F6FB"/>
                    </a:solidFill>
                  </a:tcPr>
                </a:tc>
                <a:tc>
                  <a:txBody>
                    <a:bodyPr/>
                    <a:lstStyle/>
                    <a:p>
                      <a:pPr algn="l"/>
                      <a:r>
                        <a:rPr sz="900" b="0">
                          <a:solidFill>
                            <a:srgbClr val="343A4E"/>
                          </a:solidFill>
                          <a:latin typeface="Arial"/>
                        </a:rPr>
                        <a:t>4.16</a:t>
                      </a:r>
                    </a:p>
                  </a:txBody>
                  <a:tcPr marL="63500" marR="63500" marT="38100" marB="38100" anchor="ctr">
                    <a:solidFill>
                      <a:srgbClr val="F4F6FB"/>
                    </a:solidFill>
                  </a:tcPr>
                </a:tc>
                <a:tc>
                  <a:txBody>
                    <a:bodyPr/>
                    <a:lstStyle/>
                    <a:p>
                      <a:pPr algn="l"/>
                      <a:r>
                        <a:rPr sz="900" b="0">
                          <a:solidFill>
                            <a:srgbClr val="343A4E"/>
                          </a:solidFill>
                          <a:latin typeface="Arial"/>
                        </a:rPr>
                        <a:t>Hard</a:t>
                      </a:r>
                    </a:p>
                  </a:txBody>
                  <a:tcPr marL="63500" marR="63500" marT="38100" marB="38100" anchor="ctr">
                    <a:solidFill>
                      <a:srgbClr val="F4F6FB"/>
                    </a:solidFill>
                  </a:tcPr>
                </a:tc>
                <a:tc>
                  <a:txBody>
                    <a:bodyPr/>
                    <a:lstStyle/>
                    <a:p>
                      <a:pPr algn="l"/>
                      <a:r>
                        <a:rPr sz="900" b="0">
                          <a:solidFill>
                            <a:srgbClr val="343A4E"/>
                          </a:solidFill>
                          <a:latin typeface="Arial"/>
                        </a:rPr>
                        <a:t>Mean of csat instead of weighting by transactions</a:t>
                      </a:r>
                    </a:p>
                  </a:txBody>
                  <a:tcPr marL="63500" marR="63500" marT="38100" marB="38100" anchor="ctr">
                    <a:solidFill>
                      <a:srgbClr val="F4F6FB"/>
                    </a:solidFill>
                  </a:tcPr>
                </a:tc>
              </a:tr>
              <a:tr h="222068">
                <a:tc>
                  <a:txBody>
                    <a:bodyPr/>
                    <a:lstStyle/>
                    <a:p>
                      <a:pPr algn="l"/>
                      <a:r>
                        <a:rPr sz="900" b="1">
                          <a:solidFill>
                            <a:srgbClr val="1D2A5C"/>
                          </a:solidFill>
                          <a:latin typeface="Arial"/>
                        </a:rPr>
                        <a:t>RAG threshold moved so amber reads green</a:t>
                      </a:r>
                    </a:p>
                  </a:txBody>
                  <a:tcPr marL="63500" marR="63500" marT="38100" marB="38100" anchor="ctr">
                    <a:solidFill>
                      <a:srgbClr val="FFFFFF"/>
                    </a:solidFill>
                  </a:tcPr>
                </a:tc>
                <a:tc>
                  <a:txBody>
                    <a:bodyPr/>
                    <a:lstStyle/>
                    <a:p>
                      <a:pPr algn="l"/>
                      <a:r>
                        <a:rPr sz="900" b="0">
                          <a:solidFill>
                            <a:srgbClr val="343A4E"/>
                          </a:solidFill>
                          <a:latin typeface="Arial"/>
                        </a:rPr>
                        <a:t>8 green</a:t>
                      </a:r>
                    </a:p>
                  </a:txBody>
                  <a:tcPr marL="63500" marR="63500" marT="38100" marB="38100" anchor="ctr">
                    <a:solidFill>
                      <a:srgbClr val="FFFFFF"/>
                    </a:solidFill>
                  </a:tcPr>
                </a:tc>
                <a:tc>
                  <a:txBody>
                    <a:bodyPr/>
                    <a:lstStyle/>
                    <a:p>
                      <a:pPr algn="l"/>
                      <a:r>
                        <a:rPr sz="900" b="0">
                          <a:solidFill>
                            <a:srgbClr val="343A4E"/>
                          </a:solidFill>
                          <a:latin typeface="Arial"/>
                        </a:rPr>
                        <a:t>4 green</a:t>
                      </a:r>
                    </a:p>
                  </a:txBody>
                  <a:tcPr marL="63500" marR="63500" marT="38100" marB="38100" anchor="ctr">
                    <a:solidFill>
                      <a:srgbClr val="FFFFFF"/>
                    </a:solidFill>
                  </a:tcPr>
                </a:tc>
                <a:tc>
                  <a:txBody>
                    <a:bodyPr/>
                    <a:lstStyle/>
                    <a:p>
                      <a:pPr algn="l"/>
                      <a:r>
                        <a:rPr sz="900" b="0">
                          <a:solidFill>
                            <a:srgbClr val="343A4E"/>
                          </a:solidFill>
                          <a:latin typeface="Arial"/>
                        </a:rPr>
                        <a:t>Easy</a:t>
                      </a:r>
                    </a:p>
                  </a:txBody>
                  <a:tcPr marL="63500" marR="63500" marT="38100" marB="38100" anchor="ctr">
                    <a:solidFill>
                      <a:srgbClr val="FFFFFF"/>
                    </a:solidFill>
                  </a:tcPr>
                </a:tc>
                <a:tc>
                  <a:txBody>
                    <a:bodyPr/>
                    <a:lstStyle/>
                    <a:p>
                      <a:pPr algn="l"/>
                      <a:r>
                        <a:rPr sz="900" b="0">
                          <a:solidFill>
                            <a:srgbClr val="343A4E"/>
                          </a:solidFill>
                          <a:latin typeface="Arial"/>
                        </a:rPr>
                        <a:t>Set the green line at 62.0 when the target is 65.0</a:t>
                      </a:r>
                    </a:p>
                  </a:txBody>
                  <a:tcPr marL="63500" marR="63500" marT="38100" marB="38100" anchor="ctr">
                    <a:solidFill>
                      <a:srgbClr val="FFFFFF"/>
                    </a:solidFill>
                  </a:tcPr>
                </a:tc>
              </a:tr>
              <a:tr h="222068">
                <a:tc>
                  <a:txBody>
                    <a:bodyPr/>
                    <a:lstStyle/>
                    <a:p>
                      <a:pPr algn="l"/>
                      <a:r>
                        <a:rPr sz="900" b="1">
                          <a:solidFill>
                            <a:srgbClr val="1D2A5C"/>
                          </a:solidFill>
                          <a:latin typeface="Arial"/>
                        </a:rPr>
                        <a:t>Rounding a region across the target line</a:t>
                      </a:r>
                    </a:p>
                  </a:txBody>
                  <a:tcPr marL="63500" marR="63500" marT="38100" marB="38100" anchor="ctr">
                    <a:solidFill>
                      <a:srgbClr val="F4F6FB"/>
                    </a:solidFill>
                  </a:tcPr>
                </a:tc>
                <a:tc>
                  <a:txBody>
                    <a:bodyPr/>
                    <a:lstStyle/>
                    <a:p>
                      <a:pPr algn="l"/>
                      <a:r>
                        <a:rPr sz="900" b="0">
                          <a:solidFill>
                            <a:srgbClr val="343A4E"/>
                          </a:solidFill>
                          <a:latin typeface="Arial"/>
                        </a:rPr>
                        <a:t>8 below</a:t>
                      </a:r>
                    </a:p>
                  </a:txBody>
                  <a:tcPr marL="63500" marR="63500" marT="38100" marB="38100" anchor="ctr">
                    <a:solidFill>
                      <a:srgbClr val="F4F6FB"/>
                    </a:solidFill>
                  </a:tcPr>
                </a:tc>
                <a:tc>
                  <a:txBody>
                    <a:bodyPr/>
                    <a:lstStyle/>
                    <a:p>
                      <a:pPr algn="l"/>
                      <a:r>
                        <a:rPr sz="900" b="0">
                          <a:solidFill>
                            <a:srgbClr val="343A4E"/>
                          </a:solidFill>
                          <a:latin typeface="Arial"/>
                        </a:rPr>
                        <a:t>9 below</a:t>
                      </a:r>
                    </a:p>
                  </a:txBody>
                  <a:tcPr marL="63500" marR="63500" marT="38100" marB="38100" anchor="ctr">
                    <a:solidFill>
                      <a:srgbClr val="F4F6FB"/>
                    </a:solidFill>
                  </a:tcPr>
                </a:tc>
                <a:tc>
                  <a:txBody>
                    <a:bodyPr/>
                    <a:lstStyle/>
                    <a:p>
                      <a:pPr algn="l"/>
                      <a:r>
                        <a:rPr sz="900" b="0">
                          <a:solidFill>
                            <a:srgbClr val="343A4E"/>
                          </a:solidFill>
                          <a:latin typeface="Arial"/>
                        </a:rPr>
                        <a:t>Hard</a:t>
                      </a:r>
                    </a:p>
                  </a:txBody>
                  <a:tcPr marL="63500" marR="63500" marT="38100" marB="38100" anchor="ctr">
                    <a:solidFill>
                      <a:srgbClr val="F4F6FB"/>
                    </a:solidFill>
                  </a:tcPr>
                </a:tc>
                <a:tc>
                  <a:txBody>
                    <a:bodyPr/>
                    <a:lstStyle/>
                    <a:p>
                      <a:pPr algn="l"/>
                      <a:r>
                        <a:rPr sz="900" b="0">
                          <a:solidFill>
                            <a:srgbClr val="343A4E"/>
                          </a:solidFill>
                          <a:latin typeface="Arial"/>
                        </a:rPr>
                        <a:t>Hail at 64.97 displayed as 65</a:t>
                      </a:r>
                    </a:p>
                  </a:txBody>
                  <a:tcPr marL="63500" marR="63500" marT="38100" marB="38100" anchor="ctr">
                    <a:solidFill>
                      <a:srgbClr val="F4F6FB"/>
                    </a:solidFill>
                  </a:tcPr>
                </a:tc>
              </a:tr>
              <a:tr h="222068">
                <a:tc>
                  <a:txBody>
                    <a:bodyPr/>
                    <a:lstStyle/>
                    <a:p>
                      <a:pPr algn="l"/>
                      <a:r>
                        <a:rPr sz="900" b="1">
                          <a:solidFill>
                            <a:srgbClr val="1D2A5C"/>
                          </a:solidFill>
                          <a:latin typeface="Arial"/>
                        </a:rPr>
                        <a:t>Transactions counted as citizens served</a:t>
                      </a:r>
                    </a:p>
                  </a:txBody>
                  <a:tcPr marL="63500" marR="63500" marT="38100" marB="38100" anchor="ctr">
                    <a:solidFill>
                      <a:srgbClr val="FFFFFF"/>
                    </a:solidFill>
                  </a:tcPr>
                </a:tc>
                <a:tc>
                  <a:txBody>
                    <a:bodyPr/>
                    <a:lstStyle/>
                    <a:p>
                      <a:pPr algn="l"/>
                      <a:r>
                        <a:rPr sz="900" b="0">
                          <a:solidFill>
                            <a:srgbClr val="343A4E"/>
                          </a:solidFill>
                          <a:latin typeface="Arial"/>
                        </a:rPr>
                        <a:t>12.5m</a:t>
                      </a:r>
                    </a:p>
                  </a:txBody>
                  <a:tcPr marL="63500" marR="63500" marT="38100" marB="38100" anchor="ctr">
                    <a:solidFill>
                      <a:srgbClr val="FFFFFF"/>
                    </a:solidFill>
                  </a:tcPr>
                </a:tc>
                <a:tc>
                  <a:txBody>
                    <a:bodyPr/>
                    <a:lstStyle/>
                    <a:p>
                      <a:pPr algn="l"/>
                      <a:r>
                        <a:rPr sz="900" b="0">
                          <a:solidFill>
                            <a:srgbClr val="343A4E"/>
                          </a:solidFill>
                          <a:latin typeface="Arial"/>
                        </a:rPr>
                        <a:t>6.7m</a:t>
                      </a:r>
                    </a:p>
                  </a:txBody>
                  <a:tcPr marL="63500" marR="63500" marT="38100" marB="38100" anchor="ctr">
                    <a:solidFill>
                      <a:srgbClr val="FFFFFF"/>
                    </a:solidFill>
                  </a:tcPr>
                </a:tc>
                <a:tc>
                  <a:txBody>
                    <a:bodyPr/>
                    <a:lstStyle/>
                    <a:p>
                      <a:pPr algn="l"/>
                      <a:r>
                        <a:rPr sz="900" b="0">
                          <a:solidFill>
                            <a:srgbClr val="343A4E"/>
                          </a:solidFill>
                          <a:latin typeface="Arial"/>
                        </a:rPr>
                        <a:t>Medium</a:t>
                      </a:r>
                    </a:p>
                  </a:txBody>
                  <a:tcPr marL="63500" marR="63500" marT="38100" marB="38100" anchor="ctr">
                    <a:solidFill>
                      <a:srgbClr val="FFFFFF"/>
                    </a:solidFill>
                  </a:tcPr>
                </a:tc>
                <a:tc>
                  <a:txBody>
                    <a:bodyPr/>
                    <a:lstStyle/>
                    <a:p>
                      <a:pPr algn="l"/>
                      <a:r>
                        <a:rPr sz="900" b="0">
                          <a:solidFill>
                            <a:srgbClr val="343A4E"/>
                          </a:solidFill>
                          <a:latin typeface="Arial"/>
                        </a:rPr>
                        <a:t>SUM(transactions) presented as people, not SUM(unique_users)</a:t>
                      </a:r>
                    </a:p>
                  </a:txBody>
                  <a:tcPr marL="63500" marR="63500" marT="38100" marB="38100" anchor="ctr">
                    <a:solidFill>
                      <a:srgbClr val="FFFFFF"/>
                    </a:solidFill>
                  </a:tcPr>
                </a:tc>
              </a:tr>
              <a:tr h="222068">
                <a:tc>
                  <a:txBody>
                    <a:bodyPr/>
                    <a:lstStyle/>
                    <a:p>
                      <a:pPr algn="l"/>
                      <a:r>
                        <a:rPr sz="900" b="1">
                          <a:solidFill>
                            <a:srgbClr val="1D2A5C"/>
                          </a:solidFill>
                          <a:latin typeface="Arial"/>
                        </a:rPr>
                        <a:t>Rebased index hides the level</a:t>
                      </a:r>
                    </a:p>
                  </a:txBody>
                  <a:tcPr marL="63500" marR="63500" marT="38100" marB="38100" anchor="ctr">
                    <a:solidFill>
                      <a:srgbClr val="F4F6FB"/>
                    </a:solidFill>
                  </a:tcPr>
                </a:tc>
                <a:tc>
                  <a:txBody>
                    <a:bodyPr/>
                    <a:lstStyle/>
                    <a:p>
                      <a:pPr algn="l"/>
                      <a:r>
                        <a:rPr sz="900" b="0">
                          <a:solidFill>
                            <a:srgbClr val="343A4E"/>
                          </a:solidFill>
                          <a:latin typeface="Arial"/>
                        </a:rPr>
                        <a:t>rank 1</a:t>
                      </a:r>
                    </a:p>
                  </a:txBody>
                  <a:tcPr marL="63500" marR="63500" marT="38100" marB="38100" anchor="ctr">
                    <a:solidFill>
                      <a:srgbClr val="F4F6FB"/>
                    </a:solidFill>
                  </a:tcPr>
                </a:tc>
                <a:tc>
                  <a:txBody>
                    <a:bodyPr/>
                    <a:lstStyle/>
                    <a:p>
                      <a:pPr algn="l"/>
                      <a:r>
                        <a:rPr sz="900" b="0">
                          <a:solidFill>
                            <a:srgbClr val="343A4E"/>
                          </a:solidFill>
                          <a:latin typeface="Arial"/>
                        </a:rPr>
                        <a:t>rank 8</a:t>
                      </a:r>
                    </a:p>
                  </a:txBody>
                  <a:tcPr marL="63500" marR="63500" marT="38100" marB="38100" anchor="ctr">
                    <a:solidFill>
                      <a:srgbClr val="F4F6FB"/>
                    </a:solidFill>
                  </a:tcPr>
                </a:tc>
                <a:tc>
                  <a:txBody>
                    <a:bodyPr/>
                    <a:lstStyle/>
                    <a:p>
                      <a:pPr algn="l"/>
                      <a:r>
                        <a:rPr sz="900" b="0">
                          <a:solidFill>
                            <a:srgbClr val="343A4E"/>
                          </a:solidFill>
                          <a:latin typeface="Arial"/>
                        </a:rPr>
                        <a:t>Medium</a:t>
                      </a:r>
                    </a:p>
                  </a:txBody>
                  <a:tcPr marL="63500" marR="63500" marT="38100" marB="38100" anchor="ctr">
                    <a:solidFill>
                      <a:srgbClr val="F4F6FB"/>
                    </a:solidFill>
                  </a:tcPr>
                </a:tc>
                <a:tc>
                  <a:txBody>
                    <a:bodyPr/>
                    <a:lstStyle/>
                    <a:p>
                      <a:pPr algn="l"/>
                      <a:r>
                        <a:rPr sz="900" b="0">
                          <a:solidFill>
                            <a:srgbClr val="343A4E"/>
                          </a:solidFill>
                          <a:latin typeface="Arial"/>
                        </a:rPr>
                        <a:t>Index every region to its own first month = 100</a:t>
                      </a:r>
                    </a:p>
                  </a:txBody>
                  <a:tcPr marL="63500" marR="63500" marT="38100" marB="38100" anchor="ctr">
                    <a:solidFill>
                      <a:srgbClr val="F4F6FB"/>
                    </a:solidFill>
                  </a:tcPr>
                </a:tc>
              </a:tr>
              <a:tr h="222068">
                <a:tc>
                  <a:txBody>
                    <a:bodyPr/>
                    <a:lstStyle/>
                    <a:p>
                      <a:pPr algn="l"/>
                      <a:r>
                        <a:rPr sz="900" b="1">
                          <a:solidFill>
                            <a:srgbClr val="1D2A5C"/>
                          </a:solidFill>
                          <a:latin typeface="Arial"/>
                        </a:rPr>
                        <a:t>Coverage filter — branch channel excluded</a:t>
                      </a:r>
                    </a:p>
                  </a:txBody>
                  <a:tcPr marL="63500" marR="63500" marT="38100" marB="38100" anchor="ctr">
                    <a:solidFill>
                      <a:srgbClr val="FFFFFF"/>
                    </a:solidFill>
                  </a:tcPr>
                </a:tc>
                <a:tc>
                  <a:txBody>
                    <a:bodyPr/>
                    <a:lstStyle/>
                    <a:p>
                      <a:pPr algn="l"/>
                      <a:r>
                        <a:rPr sz="900" b="0">
                          <a:solidFill>
                            <a:srgbClr val="343A4E"/>
                          </a:solidFill>
                          <a:latin typeface="Arial"/>
                        </a:rPr>
                        <a:t>79.8%</a:t>
                      </a:r>
                    </a:p>
                  </a:txBody>
                  <a:tcPr marL="63500" marR="63500" marT="38100" marB="38100" anchor="ctr">
                    <a:solidFill>
                      <a:srgbClr val="FFFFFF"/>
                    </a:solidFill>
                  </a:tcPr>
                </a:tc>
                <a:tc>
                  <a:txBody>
                    <a:bodyPr/>
                    <a:lstStyle/>
                    <a:p>
                      <a:pPr algn="l"/>
                      <a:r>
                        <a:rPr sz="900" b="0">
                          <a:solidFill>
                            <a:srgbClr val="343A4E"/>
                          </a:solidFill>
                          <a:latin typeface="Arial"/>
                        </a:rPr>
                        <a:t>64.0%</a:t>
                      </a:r>
                    </a:p>
                  </a:txBody>
                  <a:tcPr marL="63500" marR="63500" marT="38100" marB="38100" anchor="ctr">
                    <a:solidFill>
                      <a:srgbClr val="FFFFFF"/>
                    </a:solidFill>
                  </a:tcPr>
                </a:tc>
                <a:tc>
                  <a:txBody>
                    <a:bodyPr/>
                    <a:lstStyle/>
                    <a:p>
                      <a:pPr algn="l"/>
                      <a:r>
                        <a:rPr sz="900" b="0">
                          <a:solidFill>
                            <a:srgbClr val="343A4E"/>
                          </a:solidFill>
                          <a:latin typeface="Arial"/>
                        </a:rPr>
                        <a:t>Medium</a:t>
                      </a:r>
                    </a:p>
                  </a:txBody>
                  <a:tcPr marL="63500" marR="63500" marT="38100" marB="38100" anchor="ctr">
                    <a:solidFill>
                      <a:srgbClr val="FFFFFF"/>
                    </a:solidFill>
                  </a:tcPr>
                </a:tc>
                <a:tc>
                  <a:txBody>
                    <a:bodyPr/>
                    <a:lstStyle/>
                    <a:p>
                      <a:pPr algn="l"/>
                      <a:r>
                        <a:rPr sz="900" b="0">
                          <a:solidFill>
                            <a:srgbClr val="343A4E"/>
                          </a:solidFill>
                          <a:latin typeface="Arial"/>
                        </a:rPr>
                        <a:t>Digital transactions over a denominator that drops Branch but keeps Call Center</a:t>
                      </a:r>
                    </a:p>
                  </a:txBody>
                  <a:tcPr marL="63500" marR="63500" marT="38100" marB="38100" anchor="ctr">
                    <a:solidFill>
                      <a:srgbClr val="FFFFFF"/>
                    </a:solidFill>
                  </a:tcPr>
                </a:tc>
              </a:tr>
              <a:tr h="222068">
                <a:tc>
                  <a:txBody>
                    <a:bodyPr/>
                    <a:lstStyle/>
                    <a:p>
                      <a:pPr algn="l"/>
                      <a:r>
                        <a:rPr sz="900" b="1">
                          <a:solidFill>
                            <a:srgbClr val="1D2A5C"/>
                          </a:solidFill>
                          <a:latin typeface="Arial"/>
                        </a:rPr>
                        <a:t>Best segment stands in for the programme</a:t>
                      </a:r>
                    </a:p>
                  </a:txBody>
                  <a:tcPr marL="63500" marR="63500" marT="38100" marB="38100" anchor="ctr">
                    <a:solidFill>
                      <a:srgbClr val="F4F6FB"/>
                    </a:solidFill>
                  </a:tcPr>
                </a:tc>
                <a:tc>
                  <a:txBody>
                    <a:bodyPr/>
                    <a:lstStyle/>
                    <a:p>
                      <a:pPr algn="l"/>
                      <a:r>
                        <a:rPr sz="900" b="0">
                          <a:solidFill>
                            <a:srgbClr val="343A4E"/>
                          </a:solidFill>
                          <a:latin typeface="Arial"/>
                        </a:rPr>
                        <a:t>65.5%</a:t>
                      </a:r>
                    </a:p>
                  </a:txBody>
                  <a:tcPr marL="63500" marR="63500" marT="38100" marB="38100" anchor="ctr">
                    <a:solidFill>
                      <a:srgbClr val="F4F6FB"/>
                    </a:solidFill>
                  </a:tcPr>
                </a:tc>
                <a:tc>
                  <a:txBody>
                    <a:bodyPr/>
                    <a:lstStyle/>
                    <a:p>
                      <a:pPr algn="l"/>
                      <a:r>
                        <a:rPr sz="900" b="0">
                          <a:solidFill>
                            <a:srgbClr val="343A4E"/>
                          </a:solidFill>
                          <a:latin typeface="Arial"/>
                        </a:rPr>
                        <a:t>63.8%</a:t>
                      </a:r>
                    </a:p>
                  </a:txBody>
                  <a:tcPr marL="63500" marR="63500" marT="38100" marB="38100" anchor="ctr">
                    <a:solidFill>
                      <a:srgbClr val="F4F6FB"/>
                    </a:solidFill>
                  </a:tcPr>
                </a:tc>
                <a:tc>
                  <a:txBody>
                    <a:bodyPr/>
                    <a:lstStyle/>
                    <a:p>
                      <a:pPr algn="l"/>
                      <a:r>
                        <a:rPr sz="900" b="0">
                          <a:solidFill>
                            <a:srgbClr val="343A4E"/>
                          </a:solidFill>
                          <a:latin typeface="Arial"/>
                        </a:rPr>
                        <a:t>Easy</a:t>
                      </a:r>
                    </a:p>
                  </a:txBody>
                  <a:tcPr marL="63500" marR="63500" marT="38100" marB="38100" anchor="ctr">
                    <a:solidFill>
                      <a:srgbClr val="F4F6FB"/>
                    </a:solidFill>
                  </a:tcPr>
                </a:tc>
                <a:tc>
                  <a:txBody>
                    <a:bodyPr/>
                    <a:lstStyle/>
                    <a:p>
                      <a:pPr algn="l"/>
                      <a:r>
                        <a:rPr sz="900" b="0">
                          <a:solidFill>
                            <a:srgbClr val="343A4E"/>
                          </a:solidFill>
                          <a:latin typeface="Arial"/>
                        </a:rPr>
                        <a:t>Quote the strongest service category as the headline</a:t>
                      </a:r>
                    </a:p>
                  </a:txBody>
                  <a:tcPr marL="63500" marR="63500" marT="38100" marB="38100" anchor="ctr">
                    <a:solidFill>
                      <a:srgbClr val="F4F6FB"/>
                    </a:solidFill>
                  </a:tcPr>
                </a:tc>
              </a:tr>
              <a:tr h="222068">
                <a:tc>
                  <a:txBody>
                    <a:bodyPr/>
                    <a:lstStyle/>
                    <a:p>
                      <a:pPr algn="l"/>
                      <a:r>
                        <a:rPr sz="900" b="1">
                          <a:solidFill>
                            <a:srgbClr val="1D2A5C"/>
                          </a:solidFill>
                          <a:latin typeface="Arial"/>
                        </a:rPr>
                        <a:t>Unit cost with the expensive channel removed</a:t>
                      </a:r>
                    </a:p>
                  </a:txBody>
                  <a:tcPr marL="63500" marR="63500" marT="38100" marB="38100" anchor="ctr">
                    <a:solidFill>
                      <a:srgbClr val="FFFFFF"/>
                    </a:solidFill>
                  </a:tcPr>
                </a:tc>
                <a:tc>
                  <a:txBody>
                    <a:bodyPr/>
                    <a:lstStyle/>
                    <a:p>
                      <a:pPr algn="l"/>
                      <a:r>
                        <a:rPr sz="900" b="0">
                          <a:solidFill>
                            <a:srgbClr val="343A4E"/>
                          </a:solidFill>
                          <a:latin typeface="Arial"/>
                        </a:rPr>
                        <a:t>8.40 SAR</a:t>
                      </a:r>
                    </a:p>
                  </a:txBody>
                  <a:tcPr marL="63500" marR="63500" marT="38100" marB="38100" anchor="ctr">
                    <a:solidFill>
                      <a:srgbClr val="FFFFFF"/>
                    </a:solidFill>
                  </a:tcPr>
                </a:tc>
                <a:tc>
                  <a:txBody>
                    <a:bodyPr/>
                    <a:lstStyle/>
                    <a:p>
                      <a:pPr algn="l"/>
                      <a:r>
                        <a:rPr sz="900" b="0">
                          <a:solidFill>
                            <a:srgbClr val="343A4E"/>
                          </a:solidFill>
                          <a:latin typeface="Arial"/>
                        </a:rPr>
                        <a:t>16.94 SAR</a:t>
                      </a:r>
                    </a:p>
                  </a:txBody>
                  <a:tcPr marL="63500" marR="63500" marT="38100" marB="38100" anchor="ctr">
                    <a:solidFill>
                      <a:srgbClr val="FFFFFF"/>
                    </a:solidFill>
                  </a:tcPr>
                </a:tc>
                <a:tc>
                  <a:txBody>
                    <a:bodyPr/>
                    <a:lstStyle/>
                    <a:p>
                      <a:pPr algn="l"/>
                      <a:r>
                        <a:rPr sz="900" b="0">
                          <a:solidFill>
                            <a:srgbClr val="343A4E"/>
                          </a:solidFill>
                          <a:latin typeface="Arial"/>
                        </a:rPr>
                        <a:t>Medium</a:t>
                      </a:r>
                    </a:p>
                  </a:txBody>
                  <a:tcPr marL="63500" marR="63500" marT="38100" marB="38100" anchor="ctr">
                    <a:solidFill>
                      <a:srgbClr val="FFFFFF"/>
                    </a:solidFill>
                  </a:tcPr>
                </a:tc>
                <a:tc>
                  <a:txBody>
                    <a:bodyPr/>
                    <a:lstStyle/>
                    <a:p>
                      <a:pPr algn="l"/>
                      <a:r>
                        <a:rPr sz="900" b="0">
                          <a:solidFill>
                            <a:srgbClr val="343A4E"/>
                          </a:solidFill>
                          <a:latin typeface="Arial"/>
                        </a:rPr>
                        <a:t>Drop Branch from the cost-per-transaction denominator</a:t>
                      </a:r>
                    </a:p>
                  </a:txBody>
                  <a:tcPr marL="63500" marR="63500" marT="38100" marB="38100" anchor="ctr">
                    <a:solidFill>
                      <a:srgbClr val="FFFFFF"/>
                    </a:solidFill>
                  </a:tcPr>
                </a:tc>
              </a:tr>
            </a:tbl>
          </a:graphicData>
        </a:graphic>
      </p:graphicFrame>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CASE B — THE SAME TRUTH, TWICE</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One month of data, two dashboards, one distribution</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الحقيقة ذاتها مرتين</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94</a:t>
            </a:r>
          </a:p>
        </p:txBody>
      </p:sp>
      <p:pic>
        <p:nvPicPr>
          <p:cNvPr id="15" name="Picture 14" descr="case_b_spin_vs_honest.png"/>
          <p:cNvPicPr>
            <a:picLocks noChangeAspect="1"/>
          </p:cNvPicPr>
          <p:nvPr/>
        </p:nvPicPr>
        <p:blipFill>
          <a:blip r:embed="rId3"/>
          <a:stretch>
            <a:fillRect/>
          </a:stretch>
        </p:blipFill>
        <p:spPr>
          <a:xfrm>
            <a:off x="1261496" y="2258568"/>
            <a:ext cx="9665958" cy="3831336"/>
          </a:xfrm>
          <a:prstGeom prst="rect">
            <a:avLst/>
          </a:prstGeom>
        </p:spPr>
      </p:pic>
      <p:sp>
        <p:nvSpPr>
          <p:cNvPr id="16" name="Rectangle 15"/>
          <p:cNvSpPr/>
          <p:nvPr/>
        </p:nvSpPr>
        <p:spPr>
          <a:xfrm>
            <a:off x="548640" y="6126480"/>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6B7280"/>
                </a:solidFill>
                <a:latin typeface="Arial"/>
              </a:rPr>
              <a:t>All three panels use the same month of tayseer_services.csv. The tile-by-tile pairing ships as success_dashboard_spec.csv.</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ACTIVITY</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Red Team — break the honest dashboard</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فريق الاختبار</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95</a:t>
            </a:r>
          </a:p>
        </p:txBody>
      </p:sp>
      <p:sp>
        <p:nvSpPr>
          <p:cNvPr id="15" name="Rectangle 14"/>
          <p:cNvSpPr/>
          <p:nvPr/>
        </p:nvSpPr>
        <p:spPr>
          <a:xfrm>
            <a:off x="548640" y="2331720"/>
            <a:ext cx="11091672" cy="1554480"/>
          </a:xfrm>
          <a:prstGeom prst="rect">
            <a:avLst/>
          </a:prstGeom>
          <a:solidFill>
            <a:srgbClr val="EAF0FA"/>
          </a:solidFill>
          <a:ln w="12700">
            <a:solidFill>
              <a:srgbClr val="2E5A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423160"/>
            <a:ext cx="1063447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OBJECTIVE  </a:t>
            </a:r>
            <a:r>
              <a:rPr sz="1100" b="0">
                <a:solidFill>
                  <a:srgbClr val="343A4E"/>
                </a:solidFill>
                <a:latin typeface="Arial"/>
              </a:rPr>
              <a:t>Attack a colleague's honest dashboard with every legitimate-looking technique available, then defend your own against the same attack.</a:t>
            </a:r>
          </a:p>
        </p:txBody>
      </p:sp>
      <p:sp>
        <p:nvSpPr>
          <p:cNvPr id="17" name="Rectangle 16"/>
          <p:cNvSpPr/>
          <p:nvPr/>
        </p:nvSpPr>
        <p:spPr>
          <a:xfrm>
            <a:off x="777240" y="3026664"/>
            <a:ext cx="10634472"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DURATION  </a:t>
            </a:r>
            <a:r>
              <a:rPr sz="1100" b="0">
                <a:solidFill>
                  <a:srgbClr val="343A4E"/>
                </a:solidFill>
                <a:latin typeface="Arial"/>
              </a:rPr>
              <a:t>30 minutes  ·  two teams  ·  late Day 2, after Lab 3 — the strongest predictor of who survives Q&amp;A on Day 3</a:t>
            </a:r>
          </a:p>
        </p:txBody>
      </p:sp>
      <p:sp>
        <p:nvSpPr>
          <p:cNvPr id="18" name="Rectangle 17"/>
          <p:cNvSpPr/>
          <p:nvPr/>
        </p:nvSpPr>
        <p:spPr>
          <a:xfrm>
            <a:off x="777240" y="3410712"/>
            <a:ext cx="10634472"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SETUP  </a:t>
            </a:r>
            <a:r>
              <a:rPr sz="1100" b="0">
                <a:solidFill>
                  <a:srgbClr val="343A4E"/>
                </a:solidFill>
                <a:latin typeface="Arial"/>
              </a:rPr>
              <a:t>Each team brings its Lab 3 'after' chart. The spin bank is available, but invented techniques score double.</a:t>
            </a:r>
          </a:p>
        </p:txBody>
      </p:sp>
      <p:sp>
        <p:nvSpPr>
          <p:cNvPr id="19" name="Rectangle 18"/>
          <p:cNvSpPr/>
          <p:nvPr/>
        </p:nvSpPr>
        <p:spPr>
          <a:xfrm>
            <a:off x="548640" y="4032504"/>
            <a:ext cx="4572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1">
                <a:solidFill>
                  <a:srgbClr val="1D2A5C"/>
                </a:solidFill>
                <a:latin typeface="Arial"/>
              </a:rPr>
              <a:t>TASKS</a:t>
            </a:r>
          </a:p>
        </p:txBody>
      </p:sp>
      <p:sp>
        <p:nvSpPr>
          <p:cNvPr id="20" name="Rectangle 19"/>
          <p:cNvSpPr/>
          <p:nvPr/>
        </p:nvSpPr>
        <p:spPr>
          <a:xfrm>
            <a:off x="548640" y="4416552"/>
            <a:ext cx="292608" cy="292608"/>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416552"/>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1</a:t>
            </a:r>
          </a:p>
        </p:txBody>
      </p:sp>
      <p:sp>
        <p:nvSpPr>
          <p:cNvPr id="22" name="Rectangle 21"/>
          <p:cNvSpPr/>
          <p:nvPr/>
        </p:nvSpPr>
        <p:spPr>
          <a:xfrm>
            <a:off x="960120" y="4398264"/>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(6 min) </a:t>
            </a:r>
            <a:r>
              <a:rPr sz="1100" b="0">
                <a:solidFill>
                  <a:srgbClr val="343A4E"/>
                </a:solidFill>
                <a:latin typeface="Arial"/>
              </a:rPr>
              <a:t>RED: make the other team's chart tell a more flattering story, changing no underlying data. Log every change and why it is defensible.</a:t>
            </a:r>
          </a:p>
        </p:txBody>
      </p:sp>
      <p:sp>
        <p:nvSpPr>
          <p:cNvPr id="23" name="Rectangle 22"/>
          <p:cNvSpPr/>
          <p:nvPr/>
        </p:nvSpPr>
        <p:spPr>
          <a:xfrm>
            <a:off x="548640" y="4745736"/>
            <a:ext cx="292608" cy="292608"/>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745736"/>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2</a:t>
            </a:r>
          </a:p>
        </p:txBody>
      </p:sp>
      <p:sp>
        <p:nvSpPr>
          <p:cNvPr id="25" name="Rectangle 24"/>
          <p:cNvSpPr/>
          <p:nvPr/>
        </p:nvSpPr>
        <p:spPr>
          <a:xfrm>
            <a:off x="960120" y="4727448"/>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(6 min) </a:t>
            </a:r>
            <a:r>
              <a:rPr sz="1100" b="0">
                <a:solidFill>
                  <a:srgbClr val="343A4E"/>
                </a:solidFill>
                <a:latin typeface="Arial"/>
              </a:rPr>
              <a:t>BLUE: independently, list the three changes you would make if you were told 'make this look better for the committee'.</a:t>
            </a:r>
          </a:p>
        </p:txBody>
      </p:sp>
      <p:sp>
        <p:nvSpPr>
          <p:cNvPr id="26" name="Rectangle 25"/>
          <p:cNvSpPr/>
          <p:nvPr/>
        </p:nvSpPr>
        <p:spPr>
          <a:xfrm>
            <a:off x="548640" y="5074920"/>
            <a:ext cx="292608" cy="29260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074920"/>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3</a:t>
            </a:r>
          </a:p>
        </p:txBody>
      </p:sp>
      <p:sp>
        <p:nvSpPr>
          <p:cNvPr id="28" name="Rectangle 27"/>
          <p:cNvSpPr/>
          <p:nvPr/>
        </p:nvSpPr>
        <p:spPr>
          <a:xfrm>
            <a:off x="960120" y="5056632"/>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(8 min) </a:t>
            </a:r>
            <a:r>
              <a:rPr sz="1100" b="0">
                <a:solidFill>
                  <a:srgbClr val="343A4E"/>
                </a:solidFill>
                <a:latin typeface="Arial"/>
              </a:rPr>
              <a:t>Swap and compare. Score one point per technique the other team predicted, two per technique they did not.</a:t>
            </a:r>
          </a:p>
        </p:txBody>
      </p:sp>
      <p:sp>
        <p:nvSpPr>
          <p:cNvPr id="29" name="Rectangle 28"/>
          <p:cNvSpPr/>
          <p:nvPr/>
        </p:nvSpPr>
        <p:spPr>
          <a:xfrm>
            <a:off x="548640" y="5404104"/>
            <a:ext cx="292608" cy="292608"/>
          </a:xfrm>
          <a:prstGeom prst="rect">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04104"/>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4</a:t>
            </a:r>
          </a:p>
        </p:txBody>
      </p:sp>
      <p:sp>
        <p:nvSpPr>
          <p:cNvPr id="31" name="Rectangle 30"/>
          <p:cNvSpPr/>
          <p:nvPr/>
        </p:nvSpPr>
        <p:spPr>
          <a:xfrm>
            <a:off x="960120" y="5385816"/>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(6 min) </a:t>
            </a:r>
            <a:r>
              <a:rPr sz="1100" b="0">
                <a:solidFill>
                  <a:srgbClr val="343A4E"/>
                </a:solidFill>
                <a:latin typeface="Arial"/>
              </a:rPr>
              <a:t>Each team writes the single sentence of annotation that would make its chart immune to its own best attack.</a:t>
            </a:r>
          </a:p>
        </p:txBody>
      </p:sp>
      <p:sp>
        <p:nvSpPr>
          <p:cNvPr id="32" name="Rectangle 31"/>
          <p:cNvSpPr/>
          <p:nvPr/>
        </p:nvSpPr>
        <p:spPr>
          <a:xfrm>
            <a:off x="548640" y="5733288"/>
            <a:ext cx="292608" cy="292608"/>
          </a:xfrm>
          <a:prstGeom prst="rect">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733288"/>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5</a:t>
            </a:r>
          </a:p>
        </p:txBody>
      </p:sp>
      <p:sp>
        <p:nvSpPr>
          <p:cNvPr id="34" name="Rectangle 33"/>
          <p:cNvSpPr/>
          <p:nvPr/>
        </p:nvSpPr>
        <p:spPr>
          <a:xfrm>
            <a:off x="960120" y="5715000"/>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(4 min) </a:t>
            </a:r>
            <a:r>
              <a:rPr sz="1100" b="0">
                <a:solidFill>
                  <a:srgbClr val="343A4E"/>
                </a:solidFill>
                <a:latin typeface="Arial"/>
              </a:rPr>
              <a:t>Plenary: the instructor collects any technique not already in kpi_spin_pairs.csv and adds it to the course bank.</a:t>
            </a:r>
          </a:p>
        </p:txBody>
      </p:sp>
      <p:sp>
        <p:nvSpPr>
          <p:cNvPr id="35" name="Rectangle 34"/>
          <p:cNvSpPr/>
          <p:nvPr/>
        </p:nvSpPr>
        <p:spPr>
          <a:xfrm>
            <a:off x="548640" y="6089904"/>
            <a:ext cx="1109167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0">
                <a:solidFill>
                  <a:srgbClr val="6B7280"/>
                </a:solidFill>
                <a:latin typeface="Arial"/>
              </a:rPr>
              <a:t>Ground rule: this is about method, never about a person or a real report. Nothing from a participant's own organisation enters the exercise.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CANON 7 — GAPMINDER, 2006</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Animation wins for presentation and loses for analysis — measured</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الرسوم المتحركة مقابل المضاعفات الصغيرة</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108</a:t>
            </a:r>
          </a:p>
        </p:txBody>
      </p:sp>
      <p:pic>
        <p:nvPicPr>
          <p:cNvPr id="15" name="Picture 14" descr="canon_04_gapminder.png"/>
          <p:cNvPicPr>
            <a:picLocks noChangeAspect="1"/>
          </p:cNvPicPr>
          <p:nvPr/>
        </p:nvPicPr>
        <p:blipFill>
          <a:blip r:embed="rId3"/>
          <a:stretch>
            <a:fillRect/>
          </a:stretch>
        </p:blipFill>
        <p:spPr>
          <a:xfrm>
            <a:off x="1057996" y="2258568"/>
            <a:ext cx="10072959" cy="3831336"/>
          </a:xfrm>
          <a:prstGeom prst="rect">
            <a:avLst/>
          </a:prstGeom>
        </p:spPr>
      </p:pic>
      <p:sp>
        <p:nvSpPr>
          <p:cNvPr id="16" name="Rectangle 15"/>
          <p:cNvSpPr/>
          <p:nvPr/>
        </p:nvSpPr>
        <p:spPr>
          <a:xfrm>
            <a:off x="548640" y="6126480"/>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6B7280"/>
                </a:solidFill>
                <a:latin typeface="Arial"/>
              </a:rPr>
              <a:t>Left: one frame of the animation, rendered from the Gapminder dataset. Right: the same series as small multiples, each panel against all five in grey.</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ACTIVITY</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Build it both ways — animation versus small multiples</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ابنِها بالطريقتين</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109</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20 minutes inside Lab 4b. Participants build the same Tayseer trend twice and time each other on a real comparison task, reproducing the Robertson design in miniature.</a:t>
            </a:r>
          </a:p>
        </p:txBody>
      </p:sp>
      <p:sp>
        <p:nvSpPr>
          <p:cNvPr id="16" name="Rectangle 15"/>
          <p:cNvSpPr/>
          <p:nvPr/>
        </p:nvSpPr>
        <p:spPr>
          <a:xfrm>
            <a:off x="548640" y="2926079"/>
            <a:ext cx="11091672" cy="1554480"/>
          </a:xfrm>
          <a:prstGeom prst="rect">
            <a:avLst/>
          </a:prstGeom>
          <a:solidFill>
            <a:srgbClr val="EAF0FA"/>
          </a:solidFill>
          <a:ln w="12700">
            <a:solidFill>
              <a:srgbClr val="2E5A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017520"/>
            <a:ext cx="1063447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OBJECTIVE  </a:t>
            </a:r>
            <a:r>
              <a:rPr sz="1100" b="0">
                <a:solidFill>
                  <a:srgbClr val="343A4E"/>
                </a:solidFill>
                <a:latin typeface="Arial"/>
              </a:rPr>
              <a:t>Produce an animated regional trend and a small-multiples grid of the same series, then measure which one answers a comparison question faster.</a:t>
            </a:r>
          </a:p>
        </p:txBody>
      </p:sp>
      <p:sp>
        <p:nvSpPr>
          <p:cNvPr id="18" name="Rectangle 17"/>
          <p:cNvSpPr/>
          <p:nvPr/>
        </p:nvSpPr>
        <p:spPr>
          <a:xfrm>
            <a:off x="777240" y="3621024"/>
            <a:ext cx="10634472"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DURATION  </a:t>
            </a:r>
            <a:r>
              <a:rPr sz="1100" b="0">
                <a:solidFill>
                  <a:srgbClr val="343A4E"/>
                </a:solidFill>
                <a:latin typeface="Arial"/>
              </a:rPr>
              <a:t>20 minutes  ·  pairs  ·  inside Lab 4b</a:t>
            </a:r>
          </a:p>
        </p:txBody>
      </p:sp>
      <p:sp>
        <p:nvSpPr>
          <p:cNvPr id="19" name="Rectangle 18"/>
          <p:cNvSpPr/>
          <p:nvPr/>
        </p:nvSpPr>
        <p:spPr>
          <a:xfrm>
            <a:off x="777240" y="4005072"/>
            <a:ext cx="10634472"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SETUP  </a:t>
            </a:r>
            <a:r>
              <a:rPr sz="1100" b="0">
                <a:solidFill>
                  <a:srgbClr val="343A4E"/>
                </a:solidFill>
                <a:latin typeface="Arial"/>
              </a:rPr>
              <a:t>notebooks/lab4_dashboard_starter.ipynb, section 4b-alt. Data: tayseer_services.csv (60 months × 13 regions).</a:t>
            </a:r>
          </a:p>
        </p:txBody>
      </p:sp>
      <p:sp>
        <p:nvSpPr>
          <p:cNvPr id="20" name="Rectangle 19"/>
          <p:cNvSpPr/>
          <p:nvPr/>
        </p:nvSpPr>
        <p:spPr>
          <a:xfrm>
            <a:off x="548640" y="4626864"/>
            <a:ext cx="4572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1">
                <a:solidFill>
                  <a:srgbClr val="1D2A5C"/>
                </a:solidFill>
                <a:latin typeface="Arial"/>
              </a:rPr>
              <a:t>TASKS</a:t>
            </a:r>
          </a:p>
        </p:txBody>
      </p:sp>
      <p:sp>
        <p:nvSpPr>
          <p:cNvPr id="21" name="Rectangle 20"/>
          <p:cNvSpPr/>
          <p:nvPr/>
        </p:nvSpPr>
        <p:spPr>
          <a:xfrm>
            <a:off x="548640" y="5010912"/>
            <a:ext cx="292608" cy="292608"/>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010912"/>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1</a:t>
            </a:r>
          </a:p>
        </p:txBody>
      </p:sp>
      <p:sp>
        <p:nvSpPr>
          <p:cNvPr id="23" name="Rectangle 22"/>
          <p:cNvSpPr/>
          <p:nvPr/>
        </p:nvSpPr>
        <p:spPr>
          <a:xfrm>
            <a:off x="960120" y="4992624"/>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(6 min) </a:t>
            </a:r>
            <a:r>
              <a:rPr sz="1100" b="0">
                <a:solidFill>
                  <a:srgbClr val="343A4E"/>
                </a:solidFill>
                <a:latin typeface="Arial"/>
              </a:rPr>
              <a:t>Build the animated bubble or line view with a year slider, region colour and a play control.</a:t>
            </a:r>
          </a:p>
        </p:txBody>
      </p:sp>
      <p:sp>
        <p:nvSpPr>
          <p:cNvPr id="24" name="Rectangle 23"/>
          <p:cNvSpPr/>
          <p:nvPr/>
        </p:nvSpPr>
        <p:spPr>
          <a:xfrm>
            <a:off x="548640" y="5340096"/>
            <a:ext cx="292608" cy="292608"/>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340096"/>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2</a:t>
            </a:r>
          </a:p>
        </p:txBody>
      </p:sp>
      <p:sp>
        <p:nvSpPr>
          <p:cNvPr id="26" name="Rectangle 25"/>
          <p:cNvSpPr/>
          <p:nvPr/>
        </p:nvSpPr>
        <p:spPr>
          <a:xfrm>
            <a:off x="960120" y="5321808"/>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(5 min) </a:t>
            </a:r>
            <a:r>
              <a:rPr sz="1100" b="0">
                <a:solidFill>
                  <a:srgbClr val="343A4E"/>
                </a:solidFill>
                <a:latin typeface="Arial"/>
              </a:rPr>
              <a:t>Build the same 13 series as a small-multiples grid, each panel against the other twelve in grey, ordered by latest value.</a:t>
            </a:r>
          </a:p>
        </p:txBody>
      </p:sp>
      <p:sp>
        <p:nvSpPr>
          <p:cNvPr id="27" name="Rectangle 26"/>
          <p:cNvSpPr/>
          <p:nvPr/>
        </p:nvSpPr>
        <p:spPr>
          <a:xfrm>
            <a:off x="548640" y="5669280"/>
            <a:ext cx="292608" cy="292608"/>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669280"/>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3</a:t>
            </a:r>
          </a:p>
        </p:txBody>
      </p:sp>
      <p:sp>
        <p:nvSpPr>
          <p:cNvPr id="29" name="Rectangle 28"/>
          <p:cNvSpPr/>
          <p:nvPr/>
        </p:nvSpPr>
        <p:spPr>
          <a:xfrm>
            <a:off x="960120" y="5650992"/>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(5 min) </a:t>
            </a:r>
            <a:r>
              <a:rPr sz="1100" b="0">
                <a:solidFill>
                  <a:srgbClr val="343A4E"/>
                </a:solidFill>
                <a:latin typeface="Arial"/>
              </a:rPr>
              <a:t>Your partner asks, without warning: 'among the six largest regions, which pair changed places between month 20 and month 44?' Time both views.</a:t>
            </a:r>
          </a:p>
        </p:txBody>
      </p:sp>
      <p:sp>
        <p:nvSpPr>
          <p:cNvPr id="30" name="Rectangle 29"/>
          <p:cNvSpPr/>
          <p:nvPr/>
        </p:nvSpPr>
        <p:spPr>
          <a:xfrm>
            <a:off x="548640" y="5998464"/>
            <a:ext cx="292608" cy="292608"/>
          </a:xfrm>
          <a:prstGeom prst="rect">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998464"/>
            <a:ext cx="292608"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rPr>
              <a:t>4</a:t>
            </a:r>
          </a:p>
        </p:txBody>
      </p:sp>
      <p:sp>
        <p:nvSpPr>
          <p:cNvPr id="32" name="Rectangle 31"/>
          <p:cNvSpPr/>
          <p:nvPr/>
        </p:nvSpPr>
        <p:spPr>
          <a:xfrm>
            <a:off x="960120" y="5980176"/>
            <a:ext cx="10634472"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(4 min) </a:t>
            </a:r>
            <a:r>
              <a:rPr sz="1100" b="0">
                <a:solidFill>
                  <a:srgbClr val="343A4E"/>
                </a:solidFill>
                <a:latin typeface="Arial"/>
              </a:rPr>
              <a:t>Record the two times on the benchmark sheet and write which view you would ship, for which audience, and why.</a:t>
            </a:r>
          </a:p>
        </p:txBody>
      </p:sp>
      <p:sp>
        <p:nvSpPr>
          <p:cNvPr id="33" name="Rectangle 32"/>
          <p:cNvSpPr/>
          <p:nvPr/>
        </p:nvSpPr>
        <p:spPr>
          <a:xfrm>
            <a:off x="548640" y="6089904"/>
            <a:ext cx="1109167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0">
                <a:solidFill>
                  <a:srgbClr val="6B7280"/>
                </a:solidFill>
                <a:latin typeface="Arial"/>
              </a:rPr>
              <a:t>Expect the small-multiples answer in seconds and the animated one in tens of seconds — or not at all. That gap is the teaching point, not the chart.</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CANON 8 — NYT EXCESS DEATHS, 2020</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The chart is trivial. The baseline is the argument.</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خط الأساس هو الحجة</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134</a:t>
            </a:r>
          </a:p>
        </p:txBody>
      </p:sp>
      <p:pic>
        <p:nvPicPr>
          <p:cNvPr id="15" name="Picture 14" descr="canon_07_excess_deaths.png"/>
          <p:cNvPicPr>
            <a:picLocks noChangeAspect="1"/>
          </p:cNvPicPr>
          <p:nvPr/>
        </p:nvPicPr>
        <p:blipFill>
          <a:blip r:embed="rId3"/>
          <a:stretch>
            <a:fillRect/>
          </a:stretch>
        </p:blipFill>
        <p:spPr>
          <a:xfrm>
            <a:off x="1261857" y="2258568"/>
            <a:ext cx="9665236" cy="3831336"/>
          </a:xfrm>
          <a:prstGeom prst="rect">
            <a:avLst/>
          </a:prstGeom>
        </p:spPr>
      </p:pic>
      <p:sp>
        <p:nvSpPr>
          <p:cNvPr id="16" name="Rectangle 15"/>
          <p:cNvSpPr/>
          <p:nvPr/>
        </p:nvSpPr>
        <p:spPr>
          <a:xfrm>
            <a:off x="548640" y="6126480"/>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6B7280"/>
                </a:solidFill>
                <a:latin typeface="Arial"/>
              </a:rPr>
              <a:t>Left: a line, a dashed line, a shaded band. Right: the same window recomputed against five defensible baselines.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SEQUENCING AS ARGUMENT</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Scrollytelling, and why order is a claim</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التسلسل حجة</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135</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'How the Virus Got Out' (NYT, 22 March 2020) is the canonical demonstration that controlling the ORDER in which facts arrive is itself a rhetorical act — the reader reaches the conclusion by construction rather than by assertion.</a:t>
            </a:r>
          </a:p>
        </p:txBody>
      </p:sp>
      <p:sp>
        <p:nvSpPr>
          <p:cNvPr id="16" name="Rectangle 15"/>
          <p:cNvSpPr/>
          <p:nvPr/>
        </p:nvSpPr>
        <p:spPr>
          <a:xfrm>
            <a:off x="548640" y="2926079"/>
            <a:ext cx="5394960" cy="32461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79"/>
            <a:ext cx="5394960" cy="566928"/>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09544"/>
            <a:ext cx="5394960" cy="283464"/>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2926079"/>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rial"/>
              </a:rPr>
              <a:t>HOW IT SEQUENCES</a:t>
            </a:r>
          </a:p>
        </p:txBody>
      </p:sp>
      <p:sp>
        <p:nvSpPr>
          <p:cNvPr id="20" name="Rectangle 19"/>
          <p:cNvSpPr/>
          <p:nvPr/>
        </p:nvSpPr>
        <p:spPr>
          <a:xfrm>
            <a:off x="749808" y="3657600"/>
            <a:ext cx="5010912" cy="6149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  </a:t>
            </a:r>
            <a:r>
              <a:rPr sz="1100" b="1">
                <a:solidFill>
                  <a:srgbClr val="1D2A5C"/>
                </a:solidFill>
                <a:latin typeface="Arial"/>
              </a:rPr>
              <a:t>Fixed dates. </a:t>
            </a:r>
            <a:r>
              <a:rPr sz="1100" b="0">
                <a:solidFill>
                  <a:srgbClr val="343A4E"/>
                </a:solidFill>
                <a:latin typeface="Arial"/>
              </a:rPr>
              <a:t>Animated dot-density maps at eight named moments, so the reader watches the same map change rather than comparing eight maps.</a:t>
            </a:r>
          </a:p>
        </p:txBody>
      </p:sp>
      <p:sp>
        <p:nvSpPr>
          <p:cNvPr id="21" name="Rectangle 20"/>
          <p:cNvSpPr/>
          <p:nvPr/>
        </p:nvSpPr>
        <p:spPr>
          <a:xfrm>
            <a:off x="749808" y="4272533"/>
            <a:ext cx="5010912" cy="6149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  </a:t>
            </a:r>
            <a:r>
              <a:rPr sz="1100" b="1">
                <a:solidFill>
                  <a:srgbClr val="1D2A5C"/>
                </a:solidFill>
                <a:latin typeface="Arial"/>
              </a:rPr>
              <a:t>Mechanism, not aggregate. </a:t>
            </a:r>
            <a:r>
              <a:rPr sz="1100" b="0">
                <a:solidFill>
                  <a:srgbClr val="343A4E"/>
                </a:solidFill>
                <a:latin typeface="Arial"/>
              </a:rPr>
              <a:t>Flow visualisation of individual movements out of Wuhan — the picture shows HOW, which no bar chart of case counts can.</a:t>
            </a:r>
          </a:p>
        </p:txBody>
      </p:sp>
      <p:sp>
        <p:nvSpPr>
          <p:cNvPr id="22" name="Rectangle 21"/>
          <p:cNvSpPr/>
          <p:nvPr/>
        </p:nvSpPr>
        <p:spPr>
          <a:xfrm>
            <a:off x="749808" y="4887468"/>
            <a:ext cx="5010912" cy="6149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  </a:t>
            </a:r>
            <a:r>
              <a:rPr sz="1100" b="1">
                <a:solidFill>
                  <a:srgbClr val="1D2A5C"/>
                </a:solidFill>
                <a:latin typeface="Arial"/>
              </a:rPr>
              <a:t>One fact per scroll. </a:t>
            </a:r>
            <a:r>
              <a:rPr sz="1100" b="0">
                <a:solidFill>
                  <a:srgbClr val="343A4E"/>
                </a:solidFill>
                <a:latin typeface="Arial"/>
              </a:rPr>
              <a:t>Each step introduces exactly one new thing. Nothing arrives before the reader can use it.</a:t>
            </a:r>
          </a:p>
        </p:txBody>
      </p:sp>
      <p:sp>
        <p:nvSpPr>
          <p:cNvPr id="23" name="Rectangle 22"/>
          <p:cNvSpPr/>
          <p:nvPr/>
        </p:nvSpPr>
        <p:spPr>
          <a:xfrm>
            <a:off x="749808" y="5502402"/>
            <a:ext cx="5010912" cy="6149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  </a:t>
            </a:r>
            <a:r>
              <a:rPr sz="1100" b="1">
                <a:solidFill>
                  <a:srgbClr val="1D2A5C"/>
                </a:solidFill>
                <a:latin typeface="Arial"/>
              </a:rPr>
              <a:t>The conclusion last. </a:t>
            </a:r>
            <a:r>
              <a:rPr sz="1100" b="0">
                <a:solidFill>
                  <a:srgbClr val="343A4E"/>
                </a:solidFill>
                <a:latin typeface="Arial"/>
              </a:rPr>
              <a:t>Roughly seven million people left before the cordon. By the time it is stated, the reader has already built it.</a:t>
            </a:r>
          </a:p>
        </p:txBody>
      </p:sp>
      <p:sp>
        <p:nvSpPr>
          <p:cNvPr id="24" name="Rectangle 23"/>
          <p:cNvSpPr/>
          <p:nvPr/>
        </p:nvSpPr>
        <p:spPr>
          <a:xfrm>
            <a:off x="6254496" y="2926079"/>
            <a:ext cx="5394960" cy="32461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54496" y="2926079"/>
            <a:ext cx="5394960" cy="566928"/>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54496" y="3209544"/>
            <a:ext cx="5394960" cy="283464"/>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45936" y="2926079"/>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rial"/>
              </a:rPr>
              <a:t>WHAT TO TAKE INTO A DECK</a:t>
            </a:r>
          </a:p>
        </p:txBody>
      </p:sp>
      <p:sp>
        <p:nvSpPr>
          <p:cNvPr id="28" name="Rectangle 27"/>
          <p:cNvSpPr/>
          <p:nvPr/>
        </p:nvSpPr>
        <p:spPr>
          <a:xfrm>
            <a:off x="6455664" y="3657600"/>
            <a:ext cx="5010912" cy="6149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00A79D"/>
                </a:solidFill>
                <a:latin typeface="Arial"/>
              </a:rPr>
              <a:t>▸  </a:t>
            </a:r>
            <a:r>
              <a:rPr sz="1100" b="1">
                <a:solidFill>
                  <a:srgbClr val="1D2A5C"/>
                </a:solidFill>
                <a:latin typeface="Arial"/>
              </a:rPr>
              <a:t>Build, do not reveal. </a:t>
            </a:r>
            <a:r>
              <a:rPr sz="1100" b="0">
                <a:solidFill>
                  <a:srgbClr val="343A4E"/>
                </a:solidFill>
                <a:latin typeface="Arial"/>
              </a:rPr>
              <a:t>A progressive build is scrollytelling on a projector: same chart, one new mark or annotation per click.</a:t>
            </a:r>
          </a:p>
        </p:txBody>
      </p:sp>
      <p:sp>
        <p:nvSpPr>
          <p:cNvPr id="29" name="Rectangle 28"/>
          <p:cNvSpPr/>
          <p:nvPr/>
        </p:nvSpPr>
        <p:spPr>
          <a:xfrm>
            <a:off x="6455664" y="4272533"/>
            <a:ext cx="5010912" cy="6149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00A79D"/>
                </a:solidFill>
                <a:latin typeface="Arial"/>
              </a:rPr>
              <a:t>▸  </a:t>
            </a:r>
            <a:r>
              <a:rPr sz="1100" b="1">
                <a:solidFill>
                  <a:srgbClr val="1D2A5C"/>
                </a:solidFill>
                <a:latin typeface="Arial"/>
              </a:rPr>
              <a:t>Order is the argument. </a:t>
            </a:r>
            <a:r>
              <a:rPr sz="1100" b="0">
                <a:solidFill>
                  <a:srgbClr val="343A4E"/>
                </a:solidFill>
                <a:latin typeface="Arial"/>
              </a:rPr>
              <a:t>Situation, then complication, then evidence, then options. Moving the options earlier turns a case into a pitch.</a:t>
            </a:r>
          </a:p>
        </p:txBody>
      </p:sp>
      <p:sp>
        <p:nvSpPr>
          <p:cNvPr id="30" name="Rectangle 29"/>
          <p:cNvSpPr/>
          <p:nvPr/>
        </p:nvSpPr>
        <p:spPr>
          <a:xfrm>
            <a:off x="6455664" y="4887468"/>
            <a:ext cx="5010912" cy="6149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00A79D"/>
                </a:solidFill>
                <a:latin typeface="Arial"/>
              </a:rPr>
              <a:t>▸  </a:t>
            </a:r>
            <a:r>
              <a:rPr sz="1100" b="1">
                <a:solidFill>
                  <a:srgbClr val="1D2A5C"/>
                </a:solidFill>
                <a:latin typeface="Arial"/>
              </a:rPr>
              <a:t>Withhold on purpose. </a:t>
            </a:r>
            <a:r>
              <a:rPr sz="1100" b="0">
                <a:solidFill>
                  <a:srgbClr val="343A4E"/>
                </a:solidFill>
                <a:latin typeface="Arial"/>
              </a:rPr>
              <a:t>The laggard regions land harder in scene three than in scene one, because scene two made the reader want them.</a:t>
            </a:r>
          </a:p>
        </p:txBody>
      </p:sp>
      <p:sp>
        <p:nvSpPr>
          <p:cNvPr id="31" name="Rectangle 30"/>
          <p:cNvSpPr/>
          <p:nvPr/>
        </p:nvSpPr>
        <p:spPr>
          <a:xfrm>
            <a:off x="6455664" y="5502402"/>
            <a:ext cx="5010912" cy="6149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00A79D"/>
                </a:solidFill>
                <a:latin typeface="Arial"/>
              </a:rPr>
              <a:t>▸  </a:t>
            </a:r>
            <a:r>
              <a:rPr sz="1100" b="1">
                <a:solidFill>
                  <a:srgbClr val="1D2A5C"/>
                </a:solidFill>
                <a:latin typeface="Arial"/>
              </a:rPr>
              <a:t>Earn the ask. </a:t>
            </a:r>
            <a:r>
              <a:rPr sz="1100" b="0">
                <a:solidFill>
                  <a:srgbClr val="343A4E"/>
                </a:solidFill>
                <a:latin typeface="Arial"/>
              </a:rPr>
              <a:t>If your recommendation would be accepted without the preceding scenes, the scenes were decoration — cut them.</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CANON 9 — THE NYT NEEDLE, 2016</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A statistically correct encoding, defeated by its own metaphor</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مؤشر الانتخابات المهتز</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154</a:t>
            </a:r>
          </a:p>
        </p:txBody>
      </p:sp>
      <p:pic>
        <p:nvPicPr>
          <p:cNvPr id="15" name="Picture 14" descr="canon_06_nyt_needle.png"/>
          <p:cNvPicPr>
            <a:picLocks noChangeAspect="1"/>
          </p:cNvPicPr>
          <p:nvPr/>
        </p:nvPicPr>
        <p:blipFill>
          <a:blip r:embed="rId3"/>
          <a:stretch>
            <a:fillRect/>
          </a:stretch>
        </p:blipFill>
        <p:spPr>
          <a:xfrm>
            <a:off x="1401757" y="2258568"/>
            <a:ext cx="9385436" cy="3831336"/>
          </a:xfrm>
          <a:prstGeom prst="rect">
            <a:avLst/>
          </a:prstGeom>
        </p:spPr>
      </p:pic>
      <p:sp>
        <p:nvSpPr>
          <p:cNvPr id="16" name="Rectangle 15"/>
          <p:cNvSpPr/>
          <p:nvPr/>
        </p:nvSpPr>
        <p:spPr>
          <a:xfrm>
            <a:off x="548640" y="6126480"/>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6B7280"/>
                </a:solidFill>
                <a:latin typeface="Arial"/>
              </a:rPr>
              <a:t>A reconstruction of the mechanic, not of that night's numbers. The needle's travel was bounded by the 25th and 75th percentile of the model's simulations.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CANON 10 — FIVETHIRTYEIGHT</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Show the distribution, then let people count it</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اعرض التوزيع ثم دع الناس يعدّون</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155</a:t>
            </a:r>
          </a:p>
        </p:txBody>
      </p:sp>
      <p:pic>
        <p:nvPicPr>
          <p:cNvPr id="15" name="Picture 14" descr="canon_09_538_uncertainty.png"/>
          <p:cNvPicPr>
            <a:picLocks noChangeAspect="1"/>
          </p:cNvPicPr>
          <p:nvPr/>
        </p:nvPicPr>
        <p:blipFill>
          <a:blip r:embed="rId3"/>
          <a:stretch>
            <a:fillRect/>
          </a:stretch>
        </p:blipFill>
        <p:spPr>
          <a:xfrm>
            <a:off x="1374966" y="2258568"/>
            <a:ext cx="9439018" cy="3831336"/>
          </a:xfrm>
          <a:prstGeom prst="rect">
            <a:avLst/>
          </a:prstGeom>
        </p:spPr>
      </p:pic>
      <p:sp>
        <p:nvSpPr>
          <p:cNvPr id="16" name="Rectangle 15"/>
          <p:cNvSpPr/>
          <p:nvPr/>
        </p:nvSpPr>
        <p:spPr>
          <a:xfrm>
            <a:off x="548640" y="6126480"/>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950" b="0">
                <a:solidFill>
                  <a:srgbClr val="6B7280"/>
                </a:solidFill>
                <a:latin typeface="Arial"/>
              </a:rPr>
              <a:t>A reconstruction of the techniques with simulated numbers. Quantile dotplots: Kay et al. CHI 2016; Fernandes et al. CHI 2018.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UNCERTAINTY IN THE ROOM</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How to say 'we are not sure' to a committee and keep the budget</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التعامل مع عدم اليقين</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156</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Analysts lose credibility in two opposite ways: by projecting a single number they cannot defend, and by hedging until the committee concludes there is nothing to decide. These six moves are the middle path, and each has evidence behind it.</a:t>
            </a:r>
          </a:p>
        </p:txBody>
      </p:sp>
      <p:sp>
        <p:nvSpPr>
          <p:cNvPr id="16" name="Rectangle 15"/>
          <p:cNvSpPr/>
          <p:nvPr/>
        </p:nvSpPr>
        <p:spPr>
          <a:xfrm>
            <a:off x="548640" y="3072384"/>
            <a:ext cx="100584" cy="420624"/>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 y="3017520"/>
            <a:ext cx="1081735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50" b="1">
                <a:solidFill>
                  <a:srgbClr val="1D2A5C"/>
                </a:solidFill>
                <a:latin typeface="Arial"/>
              </a:rPr>
              <a:t>Give the point estimate first:  </a:t>
            </a:r>
            <a:r>
              <a:rPr sz="1150" b="0">
                <a:solidFill>
                  <a:srgbClr val="343A4E"/>
                </a:solidFill>
                <a:latin typeface="Arial"/>
              </a:rPr>
              <a:t>Lead with the number, then qualify it. A committee that has to wait for the number stops listening before it arrives.</a:t>
            </a:r>
          </a:p>
        </p:txBody>
      </p:sp>
      <p:sp>
        <p:nvSpPr>
          <p:cNvPr id="18" name="Rectangle 17"/>
          <p:cNvSpPr/>
          <p:nvPr/>
        </p:nvSpPr>
        <p:spPr>
          <a:xfrm>
            <a:off x="548640" y="3675887"/>
            <a:ext cx="100584" cy="420624"/>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 y="3621024"/>
            <a:ext cx="1081735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50" b="1">
                <a:solidFill>
                  <a:srgbClr val="1D2A5C"/>
                </a:solidFill>
                <a:latin typeface="Arial"/>
              </a:rPr>
              <a:t>Frame as a frequency, not a probability:  </a:t>
            </a:r>
            <a:r>
              <a:rPr sz="1150" b="0">
                <a:solidFill>
                  <a:srgbClr val="343A4E"/>
                </a:solidFill>
                <a:latin typeface="Arial"/>
              </a:rPr>
              <a:t>'In 4 of 5 scenarios we clear 65% by December' beats '80% likely'. People can count; they cannot decode.</a:t>
            </a:r>
          </a:p>
        </p:txBody>
      </p:sp>
      <p:sp>
        <p:nvSpPr>
          <p:cNvPr id="20" name="Rectangle 19"/>
          <p:cNvSpPr/>
          <p:nvPr/>
        </p:nvSpPr>
        <p:spPr>
          <a:xfrm>
            <a:off x="548640" y="4279392"/>
            <a:ext cx="100584" cy="420624"/>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 y="4224527"/>
            <a:ext cx="1081735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50" b="1">
                <a:solidFill>
                  <a:srgbClr val="1D2A5C"/>
                </a:solidFill>
                <a:latin typeface="Arial"/>
              </a:rPr>
              <a:t>Show the range you would bet on:  </a:t>
            </a:r>
            <a:r>
              <a:rPr sz="1150" b="0">
                <a:solidFill>
                  <a:srgbClr val="343A4E"/>
                </a:solidFill>
                <a:latin typeface="Arial"/>
              </a:rPr>
              <a:t>Name the interval and what it is — the middle 50% of scenarios, not a guarantee. An unexplained band is read as sloppiness.</a:t>
            </a:r>
          </a:p>
        </p:txBody>
      </p:sp>
      <p:sp>
        <p:nvSpPr>
          <p:cNvPr id="22" name="Rectangle 21"/>
          <p:cNvSpPr/>
          <p:nvPr/>
        </p:nvSpPr>
        <p:spPr>
          <a:xfrm>
            <a:off x="548640" y="4882896"/>
            <a:ext cx="100584" cy="420624"/>
          </a:xfrm>
          <a:prstGeom prst="rect">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 y="4828031"/>
            <a:ext cx="1081735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50" b="1">
                <a:solidFill>
                  <a:srgbClr val="1D2A5C"/>
                </a:solidFill>
                <a:latin typeface="Arial"/>
              </a:rPr>
              <a:t>Separate the uncertainty you can reduce:  </a:t>
            </a:r>
            <a:r>
              <a:rPr sz="1150" b="0">
                <a:solidFill>
                  <a:srgbClr val="343A4E"/>
                </a:solidFill>
                <a:latin typeface="Arial"/>
              </a:rPr>
              <a:t>'Three more months of regional data narrows this; the vendor delivery date will not narrow at all.' That distinction is what a decision-maker needs.</a:t>
            </a:r>
          </a:p>
        </p:txBody>
      </p:sp>
      <p:sp>
        <p:nvSpPr>
          <p:cNvPr id="24" name="Rectangle 23"/>
          <p:cNvSpPr/>
          <p:nvPr/>
        </p:nvSpPr>
        <p:spPr>
          <a:xfrm>
            <a:off x="548640" y="5486400"/>
            <a:ext cx="100584" cy="420624"/>
          </a:xfrm>
          <a:prstGeom prst="rect">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4672" y="5431536"/>
            <a:ext cx="1081735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50" b="1">
                <a:solidFill>
                  <a:srgbClr val="1D2A5C"/>
                </a:solidFill>
                <a:latin typeface="Arial"/>
              </a:rPr>
              <a:t>Never animate uncertainty without annotating it:  </a:t>
            </a:r>
            <a:r>
              <a:rPr sz="1150" b="0">
                <a:solidFill>
                  <a:srgbClr val="343A4E"/>
                </a:solidFill>
                <a:latin typeface="Arial"/>
              </a:rPr>
              <a:t>The needle's whole failure. If it moves, a static sentence must say why it moves.</a:t>
            </a:r>
          </a:p>
        </p:txBody>
      </p:sp>
      <p:sp>
        <p:nvSpPr>
          <p:cNvPr id="26" name="Rectangle 25"/>
          <p:cNvSpPr/>
          <p:nvPr/>
        </p:nvSpPr>
        <p:spPr>
          <a:xfrm>
            <a:off x="548640" y="6089904"/>
            <a:ext cx="100584" cy="420624"/>
          </a:xfrm>
          <a:prstGeom prst="rect">
            <a:avLst/>
          </a:prstGeom>
          <a:solidFill>
            <a:srgbClr val="29A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 y="6035040"/>
            <a:ext cx="10817352"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50" b="1">
                <a:solidFill>
                  <a:srgbClr val="1D2A5C"/>
                </a:solidFill>
                <a:latin typeface="Arial"/>
              </a:rPr>
              <a:t>State what would change your recommendation:  </a:t>
            </a:r>
            <a:r>
              <a:rPr sz="1150" b="0">
                <a:solidFill>
                  <a:srgbClr val="343A4E"/>
                </a:solidFill>
                <a:latin typeface="Arial"/>
              </a:rPr>
              <a:t>The single most credibility-building sentence available to an analyst, and almost nobody says it.</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WHAT SHIPS WITH THIS COURSE</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Every asset, and where it lives</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الأصول المرفقة</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176</a:t>
            </a:r>
          </a:p>
        </p:txBody>
      </p:sp>
      <p:sp>
        <p:nvSpPr>
          <p:cNvPr id="15" name="Rectangle 14"/>
          <p:cNvSpPr/>
          <p:nvPr/>
        </p:nvSpPr>
        <p:spPr>
          <a:xfrm>
            <a:off x="548640" y="2331720"/>
            <a:ext cx="110916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250" b="0">
                <a:solidFill>
                  <a:srgbClr val="343A4E"/>
                </a:solidFill>
                <a:latin typeface="Arial"/>
              </a:rPr>
              <a:t>Nothing in this deck is a placeholder. Every dataset, notebook and figure referenced on any slide exists in the package, and every number quoted is reproducible from it.</a:t>
            </a:r>
          </a:p>
        </p:txBody>
      </p:sp>
      <p:graphicFrame>
        <p:nvGraphicFramePr>
          <p:cNvPr id="16" name="Table 15"/>
          <p:cNvGraphicFramePr>
            <a:graphicFrameLocks noGrp="1"/>
          </p:cNvGraphicFramePr>
          <p:nvPr/>
        </p:nvGraphicFramePr>
        <p:xfrm>
          <a:off x="548640" y="2926079"/>
          <a:ext cx="11090757" cy="3108960"/>
        </p:xfrm>
        <a:graphic>
          <a:graphicData uri="http://schemas.openxmlformats.org/drawingml/2006/table">
            <a:tbl>
              <a:tblPr>
                <a:tableStyleId>{5C22544A-7EE6-4342-B048-85BDC9FD1C3A}</a:tableStyleId>
              </a:tblPr>
              <a:tblGrid>
                <a:gridCol w="1924812"/>
                <a:gridCol w="6783019"/>
                <a:gridCol w="2382926"/>
              </a:tblGrid>
              <a:tr h="388620">
                <a:tc>
                  <a:txBody>
                    <a:bodyPr/>
                    <a:lstStyle/>
                    <a:p>
                      <a:pPr algn="l"/>
                      <a:r>
                        <a:rPr sz="1050" b="1">
                          <a:solidFill>
                            <a:srgbClr val="FFFFFF"/>
                          </a:solidFill>
                          <a:latin typeface="Arial"/>
                        </a:rPr>
                        <a:t>Folder</a:t>
                      </a:r>
                    </a:p>
                  </a:txBody>
                  <a:tcPr marL="63500" marR="63500" marT="38100" marB="38100" anchor="ctr">
                    <a:solidFill>
                      <a:srgbClr val="1D2A5C"/>
                    </a:solidFill>
                  </a:tcPr>
                </a:tc>
                <a:tc>
                  <a:txBody>
                    <a:bodyPr/>
                    <a:lstStyle/>
                    <a:p>
                      <a:pPr algn="l"/>
                      <a:r>
                        <a:rPr sz="1050" b="1">
                          <a:solidFill>
                            <a:srgbClr val="FFFFFF"/>
                          </a:solidFill>
                          <a:latin typeface="Arial"/>
                        </a:rPr>
                        <a:t>What is in it</a:t>
                      </a:r>
                    </a:p>
                  </a:txBody>
                  <a:tcPr marL="63500" marR="63500" marT="38100" marB="38100" anchor="ctr">
                    <a:solidFill>
                      <a:srgbClr val="1D2A5C"/>
                    </a:solidFill>
                  </a:tcPr>
                </a:tc>
                <a:tc>
                  <a:txBody>
                    <a:bodyPr/>
                    <a:lstStyle/>
                    <a:p>
                      <a:pPr algn="l"/>
                      <a:r>
                        <a:rPr sz="1050" b="1">
                          <a:solidFill>
                            <a:srgbClr val="FFFFFF"/>
                          </a:solidFill>
                          <a:latin typeface="Arial"/>
                        </a:rPr>
                        <a:t>Used by</a:t>
                      </a:r>
                    </a:p>
                  </a:txBody>
                  <a:tcPr marL="63500" marR="63500" marT="38100" marB="38100" anchor="ctr">
                    <a:solidFill>
                      <a:srgbClr val="1D2A5C"/>
                    </a:solidFill>
                  </a:tcPr>
                </a:tc>
              </a:tr>
              <a:tr h="388620">
                <a:tc>
                  <a:txBody>
                    <a:bodyPr/>
                    <a:lstStyle/>
                    <a:p>
                      <a:pPr algn="l"/>
                      <a:r>
                        <a:rPr sz="950" b="1">
                          <a:solidFill>
                            <a:srgbClr val="1D2A5C"/>
                          </a:solidFill>
                          <a:latin typeface="Arial"/>
                        </a:rPr>
                        <a:t>data/core/</a:t>
                      </a:r>
                    </a:p>
                  </a:txBody>
                  <a:tcPr marL="63500" marR="63500" marT="38100" marB="38100" anchor="ctr">
                    <a:solidFill>
                      <a:srgbClr val="FFFFFF"/>
                    </a:solidFill>
                  </a:tcPr>
                </a:tc>
                <a:tc>
                  <a:txBody>
                    <a:bodyPr/>
                    <a:lstStyle/>
                    <a:p>
                      <a:pPr algn="l"/>
                      <a:r>
                        <a:rPr sz="950" b="0">
                          <a:solidFill>
                            <a:srgbClr val="343A4E"/>
                          </a:solidFill>
                          <a:latin typeface="Arial"/>
                        </a:rPr>
                        <a:t>tayseer_services.csv (28,080 rows) · the deliberately dirty raw extract · 20,000 individual transactions</a:t>
                      </a:r>
                    </a:p>
                  </a:txBody>
                  <a:tcPr marL="63500" marR="63500" marT="38100" marB="38100" anchor="ctr">
                    <a:solidFill>
                      <a:srgbClr val="FFFFFF"/>
                    </a:solidFill>
                  </a:tcPr>
                </a:tc>
                <a:tc>
                  <a:txBody>
                    <a:bodyPr/>
                    <a:lstStyle/>
                    <a:p>
                      <a:pPr algn="l"/>
                      <a:r>
                        <a:rPr sz="950" b="0">
                          <a:solidFill>
                            <a:srgbClr val="343A4E"/>
                          </a:solidFill>
                          <a:latin typeface="Arial"/>
                        </a:rPr>
                        <a:t>Every module and every lab</a:t>
                      </a:r>
                    </a:p>
                  </a:txBody>
                  <a:tcPr marL="63500" marR="63500" marT="38100" marB="38100" anchor="ctr">
                    <a:solidFill>
                      <a:srgbClr val="FFFFFF"/>
                    </a:solidFill>
                  </a:tcPr>
                </a:tc>
              </a:tr>
              <a:tr h="388620">
                <a:tc>
                  <a:txBody>
                    <a:bodyPr/>
                    <a:lstStyle/>
                    <a:p>
                      <a:pPr algn="l"/>
                      <a:r>
                        <a:rPr sz="950" b="1">
                          <a:solidFill>
                            <a:srgbClr val="1D2A5C"/>
                          </a:solidFill>
                          <a:latin typeface="Arial"/>
                        </a:rPr>
                        <a:t>data/dimensions/</a:t>
                      </a:r>
                    </a:p>
                  </a:txBody>
                  <a:tcPr marL="63500" marR="63500" marT="38100" marB="38100" anchor="ctr">
                    <a:solidFill>
                      <a:srgbClr val="F4F6FB"/>
                    </a:solidFill>
                  </a:tcPr>
                </a:tc>
                <a:tc>
                  <a:txBody>
                    <a:bodyPr/>
                    <a:lstStyle/>
                    <a:p>
                      <a:pPr algn="l"/>
                      <a:r>
                        <a:rPr sz="950" b="0">
                          <a:solidFill>
                            <a:srgbClr val="343A4E"/>
                          </a:solidFill>
                          <a:latin typeface="Arial"/>
                        </a:rPr>
                        <a:t>regions with population and Arabic names · services · channels · a 60-month calendar with Ramadan and Hajj flags</a:t>
                      </a:r>
                    </a:p>
                  </a:txBody>
                  <a:tcPr marL="63500" marR="63500" marT="38100" marB="38100" anchor="ctr">
                    <a:solidFill>
                      <a:srgbClr val="F4F6FB"/>
                    </a:solidFill>
                  </a:tcPr>
                </a:tc>
                <a:tc>
                  <a:txBody>
                    <a:bodyPr/>
                    <a:lstStyle/>
                    <a:p>
                      <a:pPr algn="l"/>
                      <a:r>
                        <a:rPr sz="950" b="0">
                          <a:solidFill>
                            <a:srgbClr val="343A4E"/>
                          </a:solidFill>
                          <a:latin typeface="Arial"/>
                        </a:rPr>
                        <a:t>Joins, per-capita denominators, RTL labels, seasonality</a:t>
                      </a:r>
                    </a:p>
                  </a:txBody>
                  <a:tcPr marL="63500" marR="63500" marT="38100" marB="38100" anchor="ctr">
                    <a:solidFill>
                      <a:srgbClr val="F4F6FB"/>
                    </a:solidFill>
                  </a:tcPr>
                </a:tc>
              </a:tr>
              <a:tr h="388620">
                <a:tc>
                  <a:txBody>
                    <a:bodyPr/>
                    <a:lstStyle/>
                    <a:p>
                      <a:pPr algn="l"/>
                      <a:r>
                        <a:rPr sz="950" b="1">
                          <a:solidFill>
                            <a:srgbClr val="1D2A5C"/>
                          </a:solidFill>
                          <a:latin typeface="Arial"/>
                        </a:rPr>
                        <a:t>data/supporting/</a:t>
                      </a:r>
                    </a:p>
                  </a:txBody>
                  <a:tcPr marL="63500" marR="63500" marT="38100" marB="38100" anchor="ctr">
                    <a:solidFill>
                      <a:srgbClr val="FFFFFF"/>
                    </a:solidFill>
                  </a:tcPr>
                </a:tc>
                <a:tc>
                  <a:txBody>
                    <a:bodyPr/>
                    <a:lstStyle/>
                    <a:p>
                      <a:pPr algn="l"/>
                      <a:r>
                        <a:rPr sz="950" b="0">
                          <a:solidFill>
                            <a:srgbClr val="343A4E"/>
                          </a:solidFill>
                          <a:latin typeface="Arial"/>
                        </a:rPr>
                        <a:t>regional scorecard · KPI targets with additivity flags · survey verbatims · support tickets · branch costs · the three SAR 40M options · RLS directors · regional_equity_latest + Lorenz</a:t>
                      </a:r>
                    </a:p>
                  </a:txBody>
                  <a:tcPr marL="63500" marR="63500" marT="38100" marB="38100" anchor="ctr">
                    <a:solidFill>
                      <a:srgbClr val="FFFFFF"/>
                    </a:solidFill>
                  </a:tcPr>
                </a:tc>
                <a:tc>
                  <a:txBody>
                    <a:bodyPr/>
                    <a:lstStyle/>
                    <a:p>
                      <a:pPr algn="l"/>
                      <a:r>
                        <a:rPr sz="950" b="0">
                          <a:solidFill>
                            <a:srgbClr val="343A4E"/>
                          </a:solidFill>
                          <a:latin typeface="Arial"/>
                        </a:rPr>
                        <a:t>M2 Case C, M4, M5, the capstone</a:t>
                      </a:r>
                    </a:p>
                  </a:txBody>
                  <a:tcPr marL="63500" marR="63500" marT="38100" marB="38100" anchor="ctr">
                    <a:solidFill>
                      <a:srgbClr val="FFFFFF"/>
                    </a:solidFill>
                  </a:tcPr>
                </a:tc>
              </a:tr>
              <a:tr h="388620">
                <a:tc>
                  <a:txBody>
                    <a:bodyPr/>
                    <a:lstStyle/>
                    <a:p>
                      <a:pPr algn="l"/>
                      <a:r>
                        <a:rPr sz="950" b="1">
                          <a:solidFill>
                            <a:srgbClr val="1D2A5C"/>
                          </a:solidFill>
                          <a:latin typeface="Arial"/>
                        </a:rPr>
                        <a:t>data/instructional/</a:t>
                      </a:r>
                    </a:p>
                  </a:txBody>
                  <a:tcPr marL="63500" marR="63500" marT="38100" marB="38100" anchor="ctr">
                    <a:solidFill>
                      <a:srgbClr val="F4F6FB"/>
                    </a:solidFill>
                  </a:tcPr>
                </a:tc>
                <a:tc>
                  <a:txBody>
                    <a:bodyPr/>
                    <a:lstStyle/>
                    <a:p>
                      <a:pPr algn="l"/>
                      <a:r>
                        <a:rPr sz="950" b="0">
                          <a:solidFill>
                            <a:srgbClr val="343A4E"/>
                          </a:solidFill>
                          <a:latin typeface="Arial"/>
                        </a:rPr>
                        <a:t>encoding hierarchy · chart chooser · lab questions · brand palette · usability tests · knowledge checks · Q&amp;A bank · rubric · rehearsal scores · kpi_spin_pairs · success_dashboard_spec · critique_canon</a:t>
                      </a:r>
                    </a:p>
                  </a:txBody>
                  <a:tcPr marL="63500" marR="63500" marT="38100" marB="38100" anchor="ctr">
                    <a:solidFill>
                      <a:srgbClr val="F4F6FB"/>
                    </a:solidFill>
                  </a:tcPr>
                </a:tc>
                <a:tc>
                  <a:txBody>
                    <a:bodyPr/>
                    <a:lstStyle/>
                    <a:p>
                      <a:pPr algn="l"/>
                      <a:r>
                        <a:rPr sz="950" b="0">
                          <a:solidFill>
                            <a:srgbClr val="343A4E"/>
                          </a:solidFill>
                          <a:latin typeface="Arial"/>
                        </a:rPr>
                        <a:t>Labs, activities, knowledge checks, assessment</a:t>
                      </a:r>
                    </a:p>
                  </a:txBody>
                  <a:tcPr marL="63500" marR="63500" marT="38100" marB="38100" anchor="ctr">
                    <a:solidFill>
                      <a:srgbClr val="F4F6FB"/>
                    </a:solidFill>
                  </a:tcPr>
                </a:tc>
              </a:tr>
              <a:tr h="388620">
                <a:tc>
                  <a:txBody>
                    <a:bodyPr/>
                    <a:lstStyle/>
                    <a:p>
                      <a:pPr algn="l"/>
                      <a:r>
                        <a:rPr sz="950" b="1">
                          <a:solidFill>
                            <a:srgbClr val="1D2A5C"/>
                          </a:solidFill>
                          <a:latin typeface="Arial"/>
                        </a:rPr>
                        <a:t>notebooks/</a:t>
                      </a:r>
                    </a:p>
                  </a:txBody>
                  <a:tcPr marL="63500" marR="63500" marT="38100" marB="38100" anchor="ctr">
                    <a:solidFill>
                      <a:srgbClr val="FFFFFF"/>
                    </a:solidFill>
                  </a:tcPr>
                </a:tc>
                <a:tc>
                  <a:txBody>
                    <a:bodyPr/>
                    <a:lstStyle/>
                    <a:p>
                      <a:pPr algn="l"/>
                      <a:r>
                        <a:rPr sz="950" b="0">
                          <a:solidFill>
                            <a:srgbClr val="343A4E"/>
                          </a:solidFill>
                          <a:latin typeface="Arial"/>
                        </a:rPr>
                        <a:t>Six labs as starter + solution pairs, all executed; a shared tayseer_viz module; the Dash cross-filtering app; story/ generators</a:t>
                      </a:r>
                    </a:p>
                  </a:txBody>
                  <a:tcPr marL="63500" marR="63500" marT="38100" marB="38100" anchor="ctr">
                    <a:solidFill>
                      <a:srgbClr val="FFFFFF"/>
                    </a:solidFill>
                  </a:tcPr>
                </a:tc>
                <a:tc>
                  <a:txBody>
                    <a:bodyPr/>
                    <a:lstStyle/>
                    <a:p>
                      <a:pPr algn="l"/>
                      <a:r>
                        <a:rPr sz="950" b="0">
                          <a:solidFill>
                            <a:srgbClr val="343A4E"/>
                          </a:solidFill>
                          <a:latin typeface="Arial"/>
                        </a:rPr>
                        <a:t>Labs 1–6 and the capstone</a:t>
                      </a:r>
                    </a:p>
                  </a:txBody>
                  <a:tcPr marL="63500" marR="63500" marT="38100" marB="38100" anchor="ctr">
                    <a:solidFill>
                      <a:srgbClr val="FFFFFF"/>
                    </a:solidFill>
                  </a:tcPr>
                </a:tc>
              </a:tr>
              <a:tr h="388620">
                <a:tc>
                  <a:txBody>
                    <a:bodyPr/>
                    <a:lstStyle/>
                    <a:p>
                      <a:pPr algn="l"/>
                      <a:r>
                        <a:rPr sz="950" b="1">
                          <a:solidFill>
                            <a:srgbClr val="1D2A5C"/>
                          </a:solidFill>
                          <a:latin typeface="Arial"/>
                        </a:rPr>
                        <a:t>notebooks/out/</a:t>
                      </a:r>
                    </a:p>
                  </a:txBody>
                  <a:tcPr marL="63500" marR="63500" marT="38100" marB="38100" anchor="ctr">
                    <a:solidFill>
                      <a:srgbClr val="F4F6FB"/>
                    </a:solidFill>
                  </a:tcPr>
                </a:tc>
                <a:tc>
                  <a:txBody>
                    <a:bodyPr/>
                    <a:lstStyle/>
                    <a:p>
                      <a:pPr algn="l"/>
                      <a:r>
                        <a:rPr sz="950" b="0">
                          <a:solidFill>
                            <a:srgbClr val="343A4E"/>
                          </a:solidFill>
                          <a:latin typeface="Arial"/>
                        </a:rPr>
                        <a:t>Every reference figure at 150 dpi, plus the interactive dashboard HTML</a:t>
                      </a:r>
                    </a:p>
                  </a:txBody>
                  <a:tcPr marL="63500" marR="63500" marT="38100" marB="38100" anchor="ctr">
                    <a:solidFill>
                      <a:srgbClr val="F4F6FB"/>
                    </a:solidFill>
                  </a:tcPr>
                </a:tc>
                <a:tc>
                  <a:txBody>
                    <a:bodyPr/>
                    <a:lstStyle/>
                    <a:p>
                      <a:pPr algn="l"/>
                      <a:r>
                        <a:rPr sz="950" b="0">
                          <a:solidFill>
                            <a:srgbClr val="343A4E"/>
                          </a:solidFill>
                          <a:latin typeface="Arial"/>
                        </a:rPr>
                        <a:t>Drop straight into slides or handouts</a:t>
                      </a:r>
                    </a:p>
                  </a:txBody>
                  <a:tcPr marL="63500" marR="63500" marT="38100" marB="38100" anchor="ctr">
                    <a:solidFill>
                      <a:srgbClr val="F4F6FB"/>
                    </a:solidFill>
                  </a:tcPr>
                </a:tc>
              </a:tr>
              <a:tr h="388620">
                <a:tc>
                  <a:txBody>
                    <a:bodyPr/>
                    <a:lstStyle/>
                    <a:p>
                      <a:pPr algn="l"/>
                      <a:r>
                        <a:rPr sz="950" b="1">
                          <a:solidFill>
                            <a:srgbClr val="1D2A5C"/>
                          </a:solidFill>
                          <a:latin typeface="Arial"/>
                        </a:rPr>
                        <a:t>docs/</a:t>
                      </a:r>
                    </a:p>
                  </a:txBody>
                  <a:tcPr marL="63500" marR="63500" marT="38100" marB="38100" anchor="ctr">
                    <a:solidFill>
                      <a:srgbClr val="FFFFFF"/>
                    </a:solidFill>
                  </a:tcPr>
                </a:tc>
                <a:tc>
                  <a:txBody>
                    <a:bodyPr/>
                    <a:lstStyle/>
                    <a:p>
                      <a:pPr algn="l"/>
                      <a:r>
                        <a:rPr sz="950" b="0">
                          <a:solidFill>
                            <a:srgbClr val="343A4E"/>
                          </a:solidFill>
                          <a:latin typeface="Arial"/>
                        </a:rPr>
                        <a:t>Data dictionary · the data-quality answer key · the validation report</a:t>
                      </a:r>
                    </a:p>
                  </a:txBody>
                  <a:tcPr marL="63500" marR="63500" marT="38100" marB="38100" anchor="ctr">
                    <a:solidFill>
                      <a:srgbClr val="FFFFFF"/>
                    </a:solidFill>
                  </a:tcPr>
                </a:tc>
                <a:tc>
                  <a:txBody>
                    <a:bodyPr/>
                    <a:lstStyle/>
                    <a:p>
                      <a:pPr algn="l"/>
                      <a:r>
                        <a:rPr sz="950" b="0">
                          <a:solidFill>
                            <a:srgbClr val="343A4E"/>
                          </a:solidFill>
                          <a:latin typeface="Arial"/>
                        </a:rPr>
                        <a:t>Instructor preparation and lab marking</a:t>
                      </a:r>
                    </a:p>
                  </a:txBody>
                  <a:tcPr marL="63500" marR="63500" marT="38100" marB="38100" anchor="ctr">
                    <a:solidFill>
                      <a:srgbClr val="FFFFFF"/>
                    </a:solidFill>
                  </a:tcPr>
                </a:tc>
              </a:tr>
            </a:tbl>
          </a:graphicData>
        </a:graphic>
      </p:graphicFrame>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sosceles Triangle 1"/>
          <p:cNvSpPr/>
          <p:nvPr/>
        </p:nvSpPr>
        <p:spPr>
          <a:xfrm>
            <a:off x="548640" y="310896"/>
            <a:ext cx="155448" cy="274320"/>
          </a:xfrm>
          <a:prstGeom prst="triangle">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rot="10800000">
            <a:off x="672084" y="310896"/>
            <a:ext cx="155448" cy="274320"/>
          </a:xfrm>
          <a:prstGeom prst="triangle">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795528" y="310896"/>
            <a:ext cx="155448" cy="274320"/>
          </a:xfrm>
          <a:prstGeom prst="triangl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sosceles Triangle 4"/>
          <p:cNvSpPr/>
          <p:nvPr/>
        </p:nvSpPr>
        <p:spPr>
          <a:xfrm rot="10800000">
            <a:off x="918971" y="310896"/>
            <a:ext cx="155448" cy="274320"/>
          </a:xfrm>
          <a:prstGeom prst="triangle">
            <a:avLst/>
          </a:prstGeom>
          <a:solidFill>
            <a:srgbClr val="6C4F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042416" y="310896"/>
            <a:ext cx="155448" cy="274320"/>
          </a:xfrm>
          <a:prstGeom prst="triangle">
            <a:avLst/>
          </a:prstGeom>
          <a:solidFill>
            <a:srgbClr val="3FA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040112" y="274320"/>
            <a:ext cx="1627632" cy="393192"/>
          </a:xfrm>
          <a:prstGeom prst="rect">
            <a:avLst/>
          </a:prstGeom>
        </p:spPr>
      </p:pic>
      <p:sp>
        <p:nvSpPr>
          <p:cNvPr id="8" name="Rectangle 7"/>
          <p:cNvSpPr/>
          <p:nvPr/>
        </p:nvSpPr>
        <p:spPr>
          <a:xfrm>
            <a:off x="548640" y="841248"/>
            <a:ext cx="877824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A79D"/>
                </a:solidFill>
                <a:latin typeface="Arial"/>
              </a:rPr>
              <a:t>DELIVERY PRE-FLIGHT</a:t>
            </a:r>
          </a:p>
        </p:txBody>
      </p:sp>
      <p:sp>
        <p:nvSpPr>
          <p:cNvPr id="9" name="Rectangle 8"/>
          <p:cNvSpPr/>
          <p:nvPr/>
        </p:nvSpPr>
        <p:spPr>
          <a:xfrm>
            <a:off x="548640" y="1170432"/>
            <a:ext cx="110916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2500" b="1">
                <a:solidFill>
                  <a:srgbClr val="1D2A5C"/>
                </a:solidFill>
                <a:latin typeface="Arial"/>
              </a:rPr>
              <a:t>The week before, the night before, the morning of</a:t>
            </a:r>
          </a:p>
        </p:txBody>
      </p:sp>
      <p:sp>
        <p:nvSpPr>
          <p:cNvPr id="10" name="Rectangle 9"/>
          <p:cNvSpPr/>
          <p:nvPr/>
        </p:nvSpPr>
        <p:spPr>
          <a:xfrm>
            <a:off x="548640" y="1755648"/>
            <a:ext cx="110916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0">
                <a:solidFill>
                  <a:srgbClr val="6B7280"/>
                </a:solidFill>
                <a:latin typeface="Arial"/>
              </a:rPr>
              <a:t>قائمة التحقق قبل التنفيذ</a:t>
            </a:r>
          </a:p>
        </p:txBody>
      </p:sp>
      <p:sp>
        <p:nvSpPr>
          <p:cNvPr id="11" name="Rectangle 10"/>
          <p:cNvSpPr/>
          <p:nvPr/>
        </p:nvSpPr>
        <p:spPr>
          <a:xfrm>
            <a:off x="548640" y="2103120"/>
            <a:ext cx="777240" cy="36576"/>
          </a:xfrm>
          <a:prstGeom prst="rect">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6382512"/>
            <a:ext cx="11091672" cy="0"/>
          </a:xfrm>
          <a:prstGeom prst="rect">
            <a:avLst/>
          </a:prstGeom>
          <a:no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6437376"/>
            <a:ext cx="8229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00" b="1">
                <a:solidFill>
                  <a:srgbClr val="1D2A5C"/>
                </a:solidFill>
                <a:latin typeface="Arial"/>
              </a:rPr>
              <a:t>SDAIA Academy</a:t>
            </a:r>
            <a:r>
              <a:rPr sz="800" b="0">
                <a:solidFill>
                  <a:srgbClr val="6B7280"/>
                </a:solidFill>
                <a:latin typeface="Arial"/>
              </a:rPr>
              <a:t>   ·   SDA-DSC-112  ·  Data Visualization &amp; Storytelling</a:t>
            </a:r>
          </a:p>
        </p:txBody>
      </p:sp>
      <p:sp>
        <p:nvSpPr>
          <p:cNvPr id="14" name="Rectangle 13"/>
          <p:cNvSpPr/>
          <p:nvPr/>
        </p:nvSpPr>
        <p:spPr>
          <a:xfrm>
            <a:off x="10908792" y="6437376"/>
            <a:ext cx="731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b="0">
                <a:solidFill>
                  <a:srgbClr val="9AA3B2"/>
                </a:solidFill>
                <a:latin typeface="Arial"/>
              </a:rPr>
              <a:t>177</a:t>
            </a:r>
          </a:p>
        </p:txBody>
      </p:sp>
      <p:sp>
        <p:nvSpPr>
          <p:cNvPr id="15" name="Rectangle 14"/>
          <p:cNvSpPr/>
          <p:nvPr/>
        </p:nvSpPr>
        <p:spPr>
          <a:xfrm>
            <a:off x="548640" y="2331720"/>
            <a:ext cx="5394960" cy="310896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331720"/>
            <a:ext cx="5394960" cy="566928"/>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615184"/>
            <a:ext cx="5394960" cy="283464"/>
          </a:xfrm>
          <a:prstGeom prst="rect">
            <a:avLst/>
          </a:prstGeom>
          <a:solidFill>
            <a:srgbClr val="2E5A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233172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rial"/>
              </a:rPr>
              <a:t>THE WEEK BEFORE</a:t>
            </a:r>
          </a:p>
        </p:txBody>
      </p:sp>
      <p:sp>
        <p:nvSpPr>
          <p:cNvPr id="19" name="Rectangle 18"/>
          <p:cNvSpPr/>
          <p:nvPr/>
        </p:nvSpPr>
        <p:spPr>
          <a:xfrm>
            <a:off x="749808" y="3063240"/>
            <a:ext cx="5010912" cy="5806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  </a:t>
            </a:r>
            <a:r>
              <a:rPr sz="1100" b="1">
                <a:solidFill>
                  <a:srgbClr val="1D2A5C"/>
                </a:solidFill>
                <a:latin typeface="Arial"/>
              </a:rPr>
              <a:t>Environment. </a:t>
            </a:r>
            <a:r>
              <a:rPr sz="1100" b="0">
                <a:solidFill>
                  <a:srgbClr val="343A4E"/>
                </a:solidFill>
                <a:latin typeface="Arial"/>
              </a:rPr>
              <a:t>Run all six solution notebooks end to end on the room's actual machines. Confirm the BI tool licences and the Colab fallback.</a:t>
            </a:r>
          </a:p>
        </p:txBody>
      </p:sp>
      <p:sp>
        <p:nvSpPr>
          <p:cNvPr id="20" name="Rectangle 19"/>
          <p:cNvSpPr/>
          <p:nvPr/>
        </p:nvSpPr>
        <p:spPr>
          <a:xfrm>
            <a:off x="749808" y="3643884"/>
            <a:ext cx="5010912" cy="5806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  </a:t>
            </a:r>
            <a:r>
              <a:rPr sz="1100" b="1">
                <a:solidFill>
                  <a:srgbClr val="1D2A5C"/>
                </a:solidFill>
                <a:latin typeface="Arial"/>
              </a:rPr>
              <a:t>Arabic. </a:t>
            </a:r>
            <a:r>
              <a:rPr sz="1100" b="0">
                <a:solidFill>
                  <a:srgbClr val="343A4E"/>
                </a:solidFill>
                <a:latin typeface="Arial"/>
              </a:rPr>
              <a:t>Check an Arabic-labelled chart renders with joined, right-to-left glyphs on the room's machines — install an Arabic-capable font if not.</a:t>
            </a:r>
          </a:p>
        </p:txBody>
      </p:sp>
      <p:sp>
        <p:nvSpPr>
          <p:cNvPr id="21" name="Rectangle 20"/>
          <p:cNvSpPr/>
          <p:nvPr/>
        </p:nvSpPr>
        <p:spPr>
          <a:xfrm>
            <a:off x="749808" y="4224528"/>
            <a:ext cx="5010912" cy="5806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  </a:t>
            </a:r>
            <a:r>
              <a:rPr sz="1100" b="1">
                <a:solidFill>
                  <a:srgbClr val="1D2A5C"/>
                </a:solidFill>
                <a:latin typeface="Arial"/>
              </a:rPr>
              <a:t>Sources. </a:t>
            </a:r>
            <a:r>
              <a:rPr sz="1100" b="0">
                <a:solidFill>
                  <a:srgbClr val="343A4E"/>
                </a:solidFill>
                <a:latin typeface="Arial"/>
              </a:rPr>
              <a:t>Re-check every public URL on the source slides. They move.</a:t>
            </a:r>
          </a:p>
        </p:txBody>
      </p:sp>
      <p:sp>
        <p:nvSpPr>
          <p:cNvPr id="22" name="Rectangle 21"/>
          <p:cNvSpPr/>
          <p:nvPr/>
        </p:nvSpPr>
        <p:spPr>
          <a:xfrm>
            <a:off x="749808" y="4805172"/>
            <a:ext cx="5010912" cy="5806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2E5AAC"/>
                </a:solidFill>
                <a:latin typeface="Arial"/>
              </a:rPr>
              <a:t>▸  </a:t>
            </a:r>
            <a:r>
              <a:rPr sz="1100" b="1">
                <a:solidFill>
                  <a:srgbClr val="1D2A5C"/>
                </a:solidFill>
                <a:latin typeface="Arial"/>
              </a:rPr>
              <a:t>Print. </a:t>
            </a:r>
            <a:r>
              <a:rPr sz="1100" b="0">
                <a:solidFill>
                  <a:srgbClr val="343A4E"/>
                </a:solidFill>
                <a:latin typeface="Arial"/>
              </a:rPr>
              <a:t>Eight A3 charts for the gallery walk; the rubric; the Q&amp;A bank cards.</a:t>
            </a:r>
          </a:p>
        </p:txBody>
      </p:sp>
      <p:sp>
        <p:nvSpPr>
          <p:cNvPr id="23" name="Rectangle 22"/>
          <p:cNvSpPr/>
          <p:nvPr/>
        </p:nvSpPr>
        <p:spPr>
          <a:xfrm>
            <a:off x="6254496" y="2331720"/>
            <a:ext cx="5394960" cy="310896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54496" y="2331720"/>
            <a:ext cx="5394960" cy="566928"/>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54496" y="2615184"/>
            <a:ext cx="5394960" cy="283464"/>
          </a:xfrm>
          <a:prstGeom prst="rect">
            <a:avLst/>
          </a:prstGeom>
          <a:solidFill>
            <a:srgbClr val="00A7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45936" y="2331720"/>
            <a:ext cx="521208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rial"/>
              </a:rPr>
              <a:t>THE DAY ITSELF</a:t>
            </a:r>
          </a:p>
        </p:txBody>
      </p:sp>
      <p:sp>
        <p:nvSpPr>
          <p:cNvPr id="27" name="Rectangle 26"/>
          <p:cNvSpPr/>
          <p:nvPr/>
        </p:nvSpPr>
        <p:spPr>
          <a:xfrm>
            <a:off x="6455664" y="3063240"/>
            <a:ext cx="5010912" cy="5806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00A79D"/>
                </a:solidFill>
                <a:latin typeface="Arial"/>
              </a:rPr>
              <a:t>▸  </a:t>
            </a:r>
            <a:r>
              <a:rPr sz="1100" b="1">
                <a:solidFill>
                  <a:srgbClr val="1D2A5C"/>
                </a:solidFill>
                <a:latin typeface="Arial"/>
              </a:rPr>
              <a:t>Day 1 H1. </a:t>
            </a:r>
            <a:r>
              <a:rPr sz="1100" b="0">
                <a:solidFill>
                  <a:srgbClr val="343A4E"/>
                </a:solidFill>
                <a:latin typeface="Arial"/>
              </a:rPr>
              <a:t>Establish critique norms before any content. Introduce all three cases. Tour the dataset live, including the dirty extract.</a:t>
            </a:r>
          </a:p>
        </p:txBody>
      </p:sp>
      <p:sp>
        <p:nvSpPr>
          <p:cNvPr id="28" name="Rectangle 27"/>
          <p:cNvSpPr/>
          <p:nvPr/>
        </p:nvSpPr>
        <p:spPr>
          <a:xfrm>
            <a:off x="6455664" y="3643884"/>
            <a:ext cx="5010912" cy="5806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00A79D"/>
                </a:solidFill>
                <a:latin typeface="Arial"/>
              </a:rPr>
              <a:t>▸  </a:t>
            </a:r>
            <a:r>
              <a:rPr sz="1100" b="1">
                <a:solidFill>
                  <a:srgbClr val="1D2A5C"/>
                </a:solidFill>
                <a:latin typeface="Arial"/>
              </a:rPr>
              <a:t>Pace watch. </a:t>
            </a:r>
            <a:r>
              <a:rPr sz="1100" b="0">
                <a:solidFill>
                  <a:srgbClr val="343A4E"/>
                </a:solidFill>
                <a:latin typeface="Arial"/>
              </a:rPr>
              <a:t>Lab 3 and Lab 4b overrun. Have the SOLUTION notebooks open so a struggling pair can copy one cell forward and rejoin the narrative.</a:t>
            </a:r>
          </a:p>
        </p:txBody>
      </p:sp>
      <p:sp>
        <p:nvSpPr>
          <p:cNvPr id="29" name="Rectangle 28"/>
          <p:cNvSpPr/>
          <p:nvPr/>
        </p:nvSpPr>
        <p:spPr>
          <a:xfrm>
            <a:off x="6455664" y="4224528"/>
            <a:ext cx="5010912" cy="5806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00A79D"/>
                </a:solidFill>
                <a:latin typeface="Arial"/>
              </a:rPr>
              <a:t>▸  </a:t>
            </a:r>
            <a:r>
              <a:rPr sz="1100" b="1">
                <a:solidFill>
                  <a:srgbClr val="1D2A5C"/>
                </a:solidFill>
                <a:latin typeface="Arial"/>
              </a:rPr>
              <a:t>Day 3 H4. </a:t>
            </a:r>
            <a:r>
              <a:rPr sz="1100" b="0">
                <a:solidFill>
                  <a:srgbClr val="343A4E"/>
                </a:solidFill>
                <a:latin typeface="Arial"/>
              </a:rPr>
              <a:t>Collect dashboards and decks so they can be pre-loaded. Rubric scoring happens live in Hour 5.</a:t>
            </a:r>
          </a:p>
        </p:txBody>
      </p:sp>
      <p:sp>
        <p:nvSpPr>
          <p:cNvPr id="30" name="Rectangle 29"/>
          <p:cNvSpPr/>
          <p:nvPr/>
        </p:nvSpPr>
        <p:spPr>
          <a:xfrm>
            <a:off x="6455664" y="4805172"/>
            <a:ext cx="5010912" cy="5806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100" b="1">
                <a:solidFill>
                  <a:srgbClr val="00A79D"/>
                </a:solidFill>
                <a:latin typeface="Arial"/>
              </a:rPr>
              <a:t>▸  </a:t>
            </a:r>
            <a:r>
              <a:rPr sz="1100" b="1">
                <a:solidFill>
                  <a:srgbClr val="1D2A5C"/>
                </a:solidFill>
                <a:latin typeface="Arial"/>
              </a:rPr>
              <a:t>Record. </a:t>
            </a:r>
            <a:r>
              <a:rPr sz="1100" b="0">
                <a:solidFill>
                  <a:srgbClr val="343A4E"/>
                </a:solidFill>
                <a:latin typeface="Arial"/>
              </a:rPr>
              <a:t>With consent. Reviewing one's own delivery is the single most effective feedback in this course.</a:t>
            </a:r>
          </a:p>
        </p:txBody>
      </p:sp>
      <p:sp>
        <p:nvSpPr>
          <p:cNvPr id="31" name="Rectangle 30"/>
          <p:cNvSpPr/>
          <p:nvPr/>
        </p:nvSpPr>
        <p:spPr>
          <a:xfrm>
            <a:off x="548640" y="6053328"/>
            <a:ext cx="11091672"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050" b="0">
                <a:solidFill>
                  <a:srgbClr val="6B7280"/>
                </a:solidFill>
                <a:latin typeface="Arial"/>
              </a:rPr>
              <a:t>One instructor-judgement call to make in advance: whether the Red Team activity runs on Day 2, or is dropped to protect Lab 4b. It is the better predictor of Day 3 performance — protect it if you can.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28340</Words>
  <Application>Microsoft Office PowerPoint</Application>
  <PresentationFormat>Widescreen</PresentationFormat>
  <Paragraphs>2797</Paragraphs>
  <Slides>150</Slides>
  <Notes>150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150</vt:i4>
      </vt:variant>
    </vt:vector>
  </HeadingPairs>
  <TitlesOfParts>
    <vt:vector size="154"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SDAIA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Visualization and Storytelling</dc:title>
  <dc:subject>PptxGenJS Presentation</dc:subject>
  <dc:creator>SDAIA Academy</dc:creator>
  <cp:lastModifiedBy>Mamdouh Alenezi</cp:lastModifiedBy>
  <cp:revision>2</cp:revision>
  <dcterms:created xsi:type="dcterms:W3CDTF">2026-07-15T16:02:02Z</dcterms:created>
  <dcterms:modified xsi:type="dcterms:W3CDTF">2026-09-14T10:07:32Z</dcterms:modified>
</cp:coreProperties>
</file>